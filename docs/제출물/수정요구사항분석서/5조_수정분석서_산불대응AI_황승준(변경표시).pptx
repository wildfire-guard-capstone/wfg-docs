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svg" ContentType="image/svg+xml"/>
  <Override PartName="/ppt/media/image10.svg" ContentType="image/svg+xml"/>
  <Override PartName="/ppt/media/image12.svg" ContentType="image/svg+xml"/>
  <Override PartName="/ppt/media/image13.svg" ContentType="image/svg+xml"/>
  <Override PartName="/ppt/media/image14.svg" ContentType="image/svg+xml"/>
  <Override PartName="/ppt/media/image15.svg" ContentType="image/svg+xml"/>
  <Override PartName="/ppt/media/image2.svg" ContentType="image/svg+xml"/>
  <Override PartName="/ppt/media/image29.svg" ContentType="image/svg+xml"/>
  <Override PartName="/ppt/media/image3.svg" ContentType="image/svg+xml"/>
  <Override PartName="/ppt/media/image4.svg" ContentType="image/svg+xml"/>
  <Override PartName="/ppt/media/image5.svg" ContentType="image/svg+xml"/>
  <Override PartName="/ppt/media/image6.svg" ContentType="image/svg+xml"/>
  <Override PartName="/ppt/media/image7.svg" ContentType="image/svg+xml"/>
  <Override PartName="/ppt/media/image8.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18"/>
  </p:notesMasterIdLst>
  <p:sldIdLst>
    <p:sldId id="256" r:id="rId2"/>
    <p:sldId id="257" r:id="rId3"/>
    <p:sldId id="399" r:id="rId4"/>
    <p:sldId id="258" r:id="rId5"/>
    <p:sldId id="259" r:id="rId6"/>
    <p:sldId id="260" r:id="rId7"/>
    <p:sldId id="261" r:id="rId8"/>
    <p:sldId id="268" r:id="rId9"/>
    <p:sldId id="387" r:id="rId10"/>
    <p:sldId id="269" r:id="rId11"/>
    <p:sldId id="270" r:id="rId12"/>
    <p:sldId id="367" r:id="rId13"/>
    <p:sldId id="368" r:id="rId14"/>
    <p:sldId id="369" r:id="rId15"/>
    <p:sldId id="271" r:id="rId16"/>
    <p:sldId id="272" r:id="rId17"/>
    <p:sldId id="273" r:id="rId18"/>
    <p:sldId id="274" r:id="rId19"/>
    <p:sldId id="275" r:id="rId20"/>
    <p:sldId id="276" r:id="rId21"/>
    <p:sldId id="370" r:id="rId22"/>
    <p:sldId id="371" r:id="rId23"/>
    <p:sldId id="372" r:id="rId24"/>
    <p:sldId id="373" r:id="rId25"/>
    <p:sldId id="374" r:id="rId26"/>
    <p:sldId id="375" r:id="rId27"/>
    <p:sldId id="376" r:id="rId28"/>
    <p:sldId id="377" r:id="rId29"/>
    <p:sldId id="378" r:id="rId30"/>
    <p:sldId id="379" r:id="rId31"/>
    <p:sldId id="380" r:id="rId32"/>
    <p:sldId id="381" r:id="rId33"/>
    <p:sldId id="382" r:id="rId34"/>
    <p:sldId id="383" r:id="rId35"/>
    <p:sldId id="295" r:id="rId36"/>
    <p:sldId id="296" r:id="rId37"/>
    <p:sldId id="297" r:id="rId38"/>
    <p:sldId id="298" r:id="rId39"/>
    <p:sldId id="299" r:id="rId40"/>
    <p:sldId id="300" r:id="rId41"/>
    <p:sldId id="301" r:id="rId42"/>
    <p:sldId id="302" r:id="rId43"/>
    <p:sldId id="303" r:id="rId44"/>
    <p:sldId id="304" r:id="rId45"/>
    <p:sldId id="305" r:id="rId46"/>
    <p:sldId id="306" r:id="rId47"/>
    <p:sldId id="307" r:id="rId48"/>
    <p:sldId id="308" r:id="rId49"/>
    <p:sldId id="309" r:id="rId50"/>
    <p:sldId id="310" r:id="rId51"/>
    <p:sldId id="311" r:id="rId52"/>
    <p:sldId id="312" r:id="rId53"/>
    <p:sldId id="313" r:id="rId54"/>
    <p:sldId id="314" r:id="rId55"/>
    <p:sldId id="315" r:id="rId56"/>
    <p:sldId id="316" r:id="rId57"/>
    <p:sldId id="317" r:id="rId58"/>
    <p:sldId id="318" r:id="rId59"/>
    <p:sldId id="319" r:id="rId60"/>
    <p:sldId id="320" r:id="rId61"/>
    <p:sldId id="321" r:id="rId62"/>
    <p:sldId id="322" r:id="rId63"/>
    <p:sldId id="323" r:id="rId64"/>
    <p:sldId id="324" r:id="rId65"/>
    <p:sldId id="325" r:id="rId66"/>
    <p:sldId id="326" r:id="rId67"/>
    <p:sldId id="327" r:id="rId68"/>
    <p:sldId id="328" r:id="rId69"/>
    <p:sldId id="388" r:id="rId70"/>
    <p:sldId id="329" r:id="rId71"/>
    <p:sldId id="330" r:id="rId72"/>
    <p:sldId id="331" r:id="rId73"/>
    <p:sldId id="332" r:id="rId74"/>
    <p:sldId id="333" r:id="rId75"/>
    <p:sldId id="334" r:id="rId76"/>
    <p:sldId id="335" r:id="rId77"/>
    <p:sldId id="336" r:id="rId78"/>
    <p:sldId id="384" r:id="rId79"/>
    <p:sldId id="385" r:id="rId80"/>
    <p:sldId id="386" r:id="rId81"/>
    <p:sldId id="337" r:id="rId82"/>
    <p:sldId id="338" r:id="rId83"/>
    <p:sldId id="339" r:id="rId84"/>
    <p:sldId id="340" r:id="rId85"/>
    <p:sldId id="341" r:id="rId86"/>
    <p:sldId id="342" r:id="rId87"/>
    <p:sldId id="343" r:id="rId88"/>
    <p:sldId id="344" r:id="rId89"/>
    <p:sldId id="345" r:id="rId90"/>
    <p:sldId id="346" r:id="rId91"/>
    <p:sldId id="347" r:id="rId92"/>
    <p:sldId id="348" r:id="rId93"/>
    <p:sldId id="349" r:id="rId94"/>
    <p:sldId id="350" r:id="rId95"/>
    <p:sldId id="351" r:id="rId96"/>
    <p:sldId id="352" r:id="rId97"/>
    <p:sldId id="353" r:id="rId98"/>
    <p:sldId id="354" r:id="rId99"/>
    <p:sldId id="355" r:id="rId100"/>
    <p:sldId id="356" r:id="rId101"/>
    <p:sldId id="357" r:id="rId102"/>
    <p:sldId id="358" r:id="rId103"/>
    <p:sldId id="389" r:id="rId104"/>
    <p:sldId id="398" r:id="rId105"/>
    <p:sldId id="360" r:id="rId106"/>
    <p:sldId id="361" r:id="rId107"/>
    <p:sldId id="362" r:id="rId108"/>
    <p:sldId id="390" r:id="rId109"/>
    <p:sldId id="391" r:id="rId110"/>
    <p:sldId id="392" r:id="rId111"/>
    <p:sldId id="393" r:id="rId112"/>
    <p:sldId id="394" r:id="rId113"/>
    <p:sldId id="395" r:id="rId114"/>
    <p:sldId id="396" r:id="rId115"/>
    <p:sldId id="397" r:id="rId116"/>
    <p:sldId id="400" r:id="rId133"/>
    <p:sldId id="401" r:id="rId134"/>
    <p:sldId id="366" r:id="rId117"/>
    <p:sldId id="402" r:id="rId135"/>
  </p:sldIdLst>
  <p:sldSz cx="18288000" cy="10287000"/>
  <p:notesSz cx="6858000" cy="9144000"/>
  <p:embeddedFontLst>
    <p:embeddedFont>
      <p:font typeface="210 OmniGothic 030" panose="020B0600000101010101" charset="-127"/>
      <p:regular r:id="rId119"/>
    </p:embeddedFont>
    <p:embeddedFont>
      <p:font typeface="210 OmniGothic 040" panose="020B0600000101010101" charset="-127"/>
      <p:regular r:id="rId120"/>
    </p:embeddedFont>
    <p:embeddedFont>
      <p:font typeface="210 OmniGothic 050" panose="020B0600000101010101" charset="-127"/>
      <p:regular r:id="rId121"/>
    </p:embeddedFont>
    <p:embeddedFont>
      <p:font typeface="Pretendard Bold" panose="020B0600000101010101" charset="-127"/>
      <p:bold r:id="rId122"/>
    </p:embeddedFont>
    <p:embeddedFont>
      <p:font typeface="Consolas" panose="020B0609020204030204" pitchFamily="49" charset="0"/>
      <p:regular r:id="rId123"/>
      <p:bold r:id="rId124"/>
      <p:italic r:id="rId125"/>
      <p:boldItalic r:id="rId126"/>
    </p:embeddedFont>
    <p:embeddedFont>
      <p:font typeface="맑은 고딕" panose="020B0503020000020004" pitchFamily="50" charset="-127"/>
      <p:regular r:id="rId127"/>
      <p:bold r:id="rId128"/>
    </p:embeddedFont>
    <p:embeddedFont>
      <p:font typeface="맑은 고딕" panose="020B0503020000020004" pitchFamily="50" charset="-127"/>
      <p:regular r:id="rId127"/>
      <p:bold r:id="rId128"/>
    </p:embeddedFont>
  </p:embeddedFontLst>
  <p:defaultTextStyle>
    <a:defPPr>
      <a:buNone/>
    </a:defPPr>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보통 스타일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스타일 없음, 눈금 없음">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25" d="100"/>
          <a:sy n="125" d="100"/>
        </p:scale>
        <p:origin x="108" y="-15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8.xml"/><Relationship Id="rId118" Type="http://schemas.openxmlformats.org/officeDocument/2006/relationships/notesMaster" Target="notesMasters/notesMaster1.xml"/><Relationship Id="rId119" Type="http://schemas.openxmlformats.org/officeDocument/2006/relationships/font" Target="fonts/font1.fntdata"/><Relationship Id="rId120" Type="http://schemas.openxmlformats.org/officeDocument/2006/relationships/font" Target="fonts/font2.fntdata"/><Relationship Id="rId121" Type="http://schemas.openxmlformats.org/officeDocument/2006/relationships/font" Target="fonts/font3.fntdata"/><Relationship Id="rId122" Type="http://schemas.openxmlformats.org/officeDocument/2006/relationships/font" Target="fonts/font4.fntdata"/><Relationship Id="rId123" Type="http://schemas.openxmlformats.org/officeDocument/2006/relationships/font" Target="fonts/font5.fntdata"/><Relationship Id="rId124" Type="http://schemas.openxmlformats.org/officeDocument/2006/relationships/font" Target="fonts/font6.fntdata"/><Relationship Id="rId125" Type="http://schemas.openxmlformats.org/officeDocument/2006/relationships/font" Target="fonts/font7.fntdata"/><Relationship Id="rId126" Type="http://schemas.openxmlformats.org/officeDocument/2006/relationships/font" Target="fonts/font8.fntdata"/><Relationship Id="rId127" Type="http://schemas.openxmlformats.org/officeDocument/2006/relationships/font" Target="fonts/font9.fntdata"/><Relationship Id="rId128" Type="http://schemas.openxmlformats.org/officeDocument/2006/relationships/font" Target="fonts/font10.fntdata"/><Relationship Id="rId129" Type="http://schemas.openxmlformats.org/officeDocument/2006/relationships/presProps" Target="presProps.xml"/><Relationship Id="rId130" Type="http://schemas.openxmlformats.org/officeDocument/2006/relationships/viewProps" Target="viewProps.xml"/><Relationship Id="rId131" Type="http://schemas.openxmlformats.org/officeDocument/2006/relationships/theme" Target="theme/theme1.xml"/><Relationship Id="rId132" Type="http://schemas.openxmlformats.org/officeDocument/2006/relationships/tableStyles" Target="tableStyles.xml"/><Relationship Id="rId133" Type="http://schemas.openxmlformats.org/officeDocument/2006/relationships/slide" Target="slides/slide116.xml"/><Relationship Id="rId134" Type="http://schemas.openxmlformats.org/officeDocument/2006/relationships/slide" Target="slides/slide117.xml"/><Relationship Id="rId135" Type="http://schemas.openxmlformats.org/officeDocument/2006/relationships/slide" Target="slides/slide1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90781C-36E6-446A-BA4D-6F3546F8AA0F}"/>
              </a:ext>
            </a:extLst>
          </p:cNvPr>
          <p:cNvSpPr>
            <a:spLocks noGrp="1"/>
          </p:cNvSpPr>
          <p:nvPr>
            <p:ph type="ctrTitle"/>
          </p:nvPr>
        </p:nvSpPr>
        <p:spPr>
          <a:xfrm>
            <a:off x="685800" y="2130425"/>
            <a:ext cx="7772400" cy="1470025"/>
          </a:xfrm>
        </p:spPr>
        <p:txBody>
          <a:bodyPr/>
          <a:lstStyle/>
          <a:p>
            <a:r>
              <a:t>Click to edit Master title style</a:t>
            </a:r>
          </a:p>
        </p:txBody>
      </p:sp>
      <p:sp>
        <p:nvSpPr>
          <p:cNvPr id="3" name="Subtitle 2">
            <a:extLst>
              <a:ext uri="{FF2B5EF4-FFF2-40B4-BE49-F238E27FC236}">
                <a16:creationId xmlns:a16="http://schemas.microsoft.com/office/drawing/2014/main" id="{DE3B1B4D-E67A-490D-AAB5-1BA5399C8CAE}"/>
              </a:ext>
            </a:extLst>
          </p:cNvPr>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edit Master subtitle style</a:t>
            </a:r>
          </a:p>
        </p:txBody>
      </p:sp>
      <p:sp>
        <p:nvSpPr>
          <p:cNvPr id="4" name="Date Placeholder 3">
            <a:extLst>
              <a:ext uri="{FF2B5EF4-FFF2-40B4-BE49-F238E27FC236}">
                <a16:creationId xmlns:a16="http://schemas.microsoft.com/office/drawing/2014/main" id="{6F553DC7-E6FD-47B9-89A9-59DBDE85414C}"/>
              </a:ext>
            </a:extLst>
          </p:cNvPr>
          <p:cNvSpPr>
            <a:spLocks noGrp="1"/>
          </p:cNvSpPr>
          <p:nvPr>
            <p:ph type="dt" idx="10"/>
          </p:nvPr>
        </p:nvSpPr>
        <p:spPr/>
        <p:txBody>
          <a:bodyPr/>
          <a:lstStyle/>
          <a:p>
            <a:fld id="{FDF7E13E-C63F-4D0B-BB23-D1F2A91FB568}" type="datetime1">
              <a:t>2026-10-08</a:t>
            </a:fld>
            <a:endParaRPr/>
          </a:p>
        </p:txBody>
      </p:sp>
      <p:sp>
        <p:nvSpPr>
          <p:cNvPr id="5" name="Footer Placeholder 4">
            <a:extLst>
              <a:ext uri="{FF2B5EF4-FFF2-40B4-BE49-F238E27FC236}">
                <a16:creationId xmlns:a16="http://schemas.microsoft.com/office/drawing/2014/main" id="{83AB85B6-844F-48F2-974F-A98ABADB6786}"/>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A4EFA048-3FE8-43B4-90CB-F12249212181}"/>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511C4-4173-4C47-8E47-A78C9E7181A1}"/>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F1ABD424-8DA9-4CC0-BB4F-8C0114EB4B15}"/>
              </a:ext>
            </a:extLst>
          </p:cNvPr>
          <p:cNvSpPr>
            <a:spLocks noGrp="1"/>
          </p:cNvSpPr>
          <p:nvPr>
            <p:ph idx="1"/>
          </p:nvPr>
        </p:nvSpPr>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B0335BD7-E501-4B12-811C-861F4F366E69}"/>
              </a:ext>
            </a:extLst>
          </p:cNvPr>
          <p:cNvSpPr>
            <a:spLocks noGrp="1"/>
          </p:cNvSpPr>
          <p:nvPr>
            <p:ph type="dt" idx="10"/>
          </p:nvPr>
        </p:nvSpPr>
        <p:spPr/>
        <p:txBody>
          <a:bodyPr/>
          <a:lstStyle/>
          <a:p>
            <a:fld id="{825EEC63-120E-4E59-8607-E1749C0E89F9}" type="datetime1">
              <a:t>2026-10-08</a:t>
            </a:fld>
            <a:endParaRPr/>
          </a:p>
        </p:txBody>
      </p:sp>
      <p:sp>
        <p:nvSpPr>
          <p:cNvPr id="5" name="Footer Placeholder 4">
            <a:extLst>
              <a:ext uri="{FF2B5EF4-FFF2-40B4-BE49-F238E27FC236}">
                <a16:creationId xmlns:a16="http://schemas.microsoft.com/office/drawing/2014/main" id="{87EDBAF2-CC93-4184-A58D-89C281A01EAF}"/>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BEC2F54A-5FBD-4A6B-A81C-10F350E58A8F}"/>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F4822-7CB1-450C-86E5-16F89FD822CD}"/>
              </a:ext>
            </a:extLst>
          </p:cNvPr>
          <p:cNvSpPr>
            <a:spLocks noGrp="1"/>
          </p:cNvSpPr>
          <p:nvPr>
            <p:ph type="title"/>
          </p:nvPr>
        </p:nvSpPr>
        <p:spPr>
          <a:xfrm>
            <a:off x="722313" y="4406900"/>
            <a:ext cx="7772400" cy="1362075"/>
          </a:xfrm>
        </p:spPr>
        <p:txBody>
          <a:bodyPr anchor="t"/>
          <a:lstStyle>
            <a:lvl1pPr algn="l">
              <a:buNone/>
              <a:defRPr sz="4000" b="1" cap="all"/>
            </a:lvl1pPr>
          </a:lstStyle>
          <a:p>
            <a:r>
              <a:t>Click to edit Master title style</a:t>
            </a:r>
          </a:p>
        </p:txBody>
      </p:sp>
      <p:sp>
        <p:nvSpPr>
          <p:cNvPr id="3" name="Text Placeholder 2">
            <a:extLst>
              <a:ext uri="{FF2B5EF4-FFF2-40B4-BE49-F238E27FC236}">
                <a16:creationId xmlns:a16="http://schemas.microsoft.com/office/drawing/2014/main" id="{6D7987BF-8FE6-46EE-8862-52C06F78A134}"/>
              </a:ext>
            </a:extLst>
          </p:cNvPr>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buNone/>
            </a:pPr>
            <a:r>
              <a:t>Click to edit Master text styles</a:t>
            </a:r>
          </a:p>
        </p:txBody>
      </p:sp>
      <p:sp>
        <p:nvSpPr>
          <p:cNvPr id="4" name="Date Placeholder 3">
            <a:extLst>
              <a:ext uri="{FF2B5EF4-FFF2-40B4-BE49-F238E27FC236}">
                <a16:creationId xmlns:a16="http://schemas.microsoft.com/office/drawing/2014/main" id="{D3A96285-D177-4913-92C3-1A76E73A7480}"/>
              </a:ext>
            </a:extLst>
          </p:cNvPr>
          <p:cNvSpPr>
            <a:spLocks noGrp="1"/>
          </p:cNvSpPr>
          <p:nvPr>
            <p:ph type="dt" idx="10"/>
          </p:nvPr>
        </p:nvSpPr>
        <p:spPr/>
        <p:txBody>
          <a:bodyPr/>
          <a:lstStyle/>
          <a:p>
            <a:fld id="{924DE3DD-F0A3-4F64-AA99-B4E912018FCA}" type="datetime1">
              <a:t>2026-10-08</a:t>
            </a:fld>
            <a:endParaRPr/>
          </a:p>
        </p:txBody>
      </p:sp>
      <p:sp>
        <p:nvSpPr>
          <p:cNvPr id="5" name="Footer Placeholder 4">
            <a:extLst>
              <a:ext uri="{FF2B5EF4-FFF2-40B4-BE49-F238E27FC236}">
                <a16:creationId xmlns:a16="http://schemas.microsoft.com/office/drawing/2014/main" id="{AF95AAA2-29DD-4D2C-9B78-6387F16C615B}"/>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B2392DCE-617D-441B-B3CC-7262D607C710}"/>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B308A2-DD13-4BAB-AC7D-1ADC373F915F}"/>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66EBEDC8-2845-4DDB-8AA5-C8AFBEC61BCD}"/>
              </a:ext>
            </a:extLst>
          </p:cNvPr>
          <p:cNvSpPr>
            <a:spLocks noGrp="1"/>
          </p:cNvSpPr>
          <p:nvPr>
            <p:ph idx="1"/>
          </p:nvPr>
        </p:nvSpPr>
        <p:spPr>
          <a:xfrm>
            <a:off x="457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1B9F8FE8-5E9C-4033-8908-90BC783F3020}"/>
              </a:ext>
            </a:extLst>
          </p:cNvPr>
          <p:cNvSpPr>
            <a:spLocks noGrp="1"/>
          </p:cNvSpPr>
          <p:nvPr>
            <p:ph idx="2"/>
          </p:nvPr>
        </p:nvSpPr>
        <p:spPr>
          <a:xfrm>
            <a:off x="4648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a:extLst>
              <a:ext uri="{FF2B5EF4-FFF2-40B4-BE49-F238E27FC236}">
                <a16:creationId xmlns:a16="http://schemas.microsoft.com/office/drawing/2014/main" id="{92AC934A-DFFC-4DDA-BF71-D7A96B102D0F}"/>
              </a:ext>
            </a:extLst>
          </p:cNvPr>
          <p:cNvSpPr>
            <a:spLocks noGrp="1"/>
          </p:cNvSpPr>
          <p:nvPr>
            <p:ph type="dt" idx="10"/>
          </p:nvPr>
        </p:nvSpPr>
        <p:spPr/>
        <p:txBody>
          <a:bodyPr/>
          <a:lstStyle/>
          <a:p>
            <a:fld id="{E8B98869-110A-41B2-8B60-C1668D7B64C0}" type="datetime1">
              <a:t>2026-10-08</a:t>
            </a:fld>
            <a:endParaRPr/>
          </a:p>
        </p:txBody>
      </p:sp>
      <p:sp>
        <p:nvSpPr>
          <p:cNvPr id="6" name="Footer Placeholder 5">
            <a:extLst>
              <a:ext uri="{FF2B5EF4-FFF2-40B4-BE49-F238E27FC236}">
                <a16:creationId xmlns:a16="http://schemas.microsoft.com/office/drawing/2014/main" id="{787F85C7-B146-46A9-8E4A-6B25F62F74C2}"/>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1B1E51A1-2F49-4F53-A0EC-BE7853F439AF}"/>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1C15CC-ED16-4E2F-A7BE-A8398C1F7DC6}"/>
              </a:ext>
            </a:extLst>
          </p:cNvPr>
          <p:cNvSpPr>
            <a:spLocks noGrp="1"/>
          </p:cNvSpPr>
          <p:nvPr>
            <p:ph type="title"/>
          </p:nvPr>
        </p:nvSpPr>
        <p:spPr/>
        <p:txBody>
          <a:bodyPr/>
          <a:lstStyle>
            <a:lvl1pPr>
              <a:buNone/>
              <a:defRPr/>
            </a:lvl1pPr>
          </a:lstStyle>
          <a:p>
            <a:r>
              <a:t>Click to edit Master title style</a:t>
            </a:r>
          </a:p>
        </p:txBody>
      </p:sp>
      <p:sp>
        <p:nvSpPr>
          <p:cNvPr id="3" name="Text Placeholder 2">
            <a:extLst>
              <a:ext uri="{FF2B5EF4-FFF2-40B4-BE49-F238E27FC236}">
                <a16:creationId xmlns:a16="http://schemas.microsoft.com/office/drawing/2014/main" id="{1F6D049E-2DEB-44F9-934E-E1976BD9DFE0}"/>
              </a:ext>
            </a:extLst>
          </p:cNvPr>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a:extLst>
              <a:ext uri="{FF2B5EF4-FFF2-40B4-BE49-F238E27FC236}">
                <a16:creationId xmlns:a16="http://schemas.microsoft.com/office/drawing/2014/main" id="{08589948-3C65-4FED-B98D-471CBDC50CF2}"/>
              </a:ext>
            </a:extLst>
          </p:cNvPr>
          <p:cNvSpPr>
            <a:spLocks noGrp="1"/>
          </p:cNvSpPr>
          <p:nvPr>
            <p:ph idx="2"/>
          </p:nvPr>
        </p:nvSpPr>
        <p:spPr>
          <a:xfrm>
            <a:off x="457200" y="2174875"/>
            <a:ext cx="4040188"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a:extLst>
              <a:ext uri="{FF2B5EF4-FFF2-40B4-BE49-F238E27FC236}">
                <a16:creationId xmlns:a16="http://schemas.microsoft.com/office/drawing/2014/main" id="{C812E486-9414-4D64-B5AA-512425C08F52}"/>
              </a:ext>
            </a:extLst>
          </p:cNvPr>
          <p:cNvSpPr>
            <a:spLocks noGrp="1"/>
          </p:cNvSpPr>
          <p:nvPr>
            <p:ph type="body"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a:extLst>
              <a:ext uri="{FF2B5EF4-FFF2-40B4-BE49-F238E27FC236}">
                <a16:creationId xmlns:a16="http://schemas.microsoft.com/office/drawing/2014/main" id="{B12651F4-1835-4738-A412-069ABDAC1C96}"/>
              </a:ext>
            </a:extLst>
          </p:cNvPr>
          <p:cNvSpPr>
            <a:spLocks noGrp="1"/>
          </p:cNvSpPr>
          <p:nvPr>
            <p:ph idx="4"/>
          </p:nvPr>
        </p:nvSpPr>
        <p:spPr>
          <a:xfrm>
            <a:off x="4645025" y="2174875"/>
            <a:ext cx="4041775"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a:extLst>
              <a:ext uri="{FF2B5EF4-FFF2-40B4-BE49-F238E27FC236}">
                <a16:creationId xmlns:a16="http://schemas.microsoft.com/office/drawing/2014/main" id="{36873699-FF0F-493F-B674-0318BEB0F061}"/>
              </a:ext>
            </a:extLst>
          </p:cNvPr>
          <p:cNvSpPr>
            <a:spLocks noGrp="1"/>
          </p:cNvSpPr>
          <p:nvPr>
            <p:ph type="dt" idx="10"/>
          </p:nvPr>
        </p:nvSpPr>
        <p:spPr/>
        <p:txBody>
          <a:bodyPr/>
          <a:lstStyle/>
          <a:p>
            <a:fld id="{BB6E72D2-F99A-4934-9072-4110418249BD}" type="datetime1">
              <a:t>2026-10-08</a:t>
            </a:fld>
            <a:endParaRPr/>
          </a:p>
        </p:txBody>
      </p:sp>
      <p:sp>
        <p:nvSpPr>
          <p:cNvPr id="8" name="Footer Placeholder 7">
            <a:extLst>
              <a:ext uri="{FF2B5EF4-FFF2-40B4-BE49-F238E27FC236}">
                <a16:creationId xmlns:a16="http://schemas.microsoft.com/office/drawing/2014/main" id="{2E12E9F4-04CB-45F5-894B-356B835723B5}"/>
              </a:ext>
            </a:extLst>
          </p:cNvPr>
          <p:cNvSpPr>
            <a:spLocks noGrp="1"/>
          </p:cNvSpPr>
          <p:nvPr>
            <p:ph type="ftr" idx="11"/>
          </p:nvPr>
        </p:nvSpPr>
        <p:spPr/>
        <p:txBody>
          <a:bodyPr/>
          <a:lstStyle/>
          <a:p>
            <a:endParaRPr/>
          </a:p>
        </p:txBody>
      </p:sp>
      <p:sp>
        <p:nvSpPr>
          <p:cNvPr id="9" name="Slide Number Placeholder 8">
            <a:extLst>
              <a:ext uri="{FF2B5EF4-FFF2-40B4-BE49-F238E27FC236}">
                <a16:creationId xmlns:a16="http://schemas.microsoft.com/office/drawing/2014/main" id="{83FA89A7-F12E-47C5-935F-EE6879C04EE8}"/>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376E5-EF73-494B-B47D-06423DCCDC14}"/>
              </a:ext>
            </a:extLst>
          </p:cNvPr>
          <p:cNvSpPr>
            <a:spLocks noGrp="1"/>
          </p:cNvSpPr>
          <p:nvPr>
            <p:ph type="title"/>
          </p:nvPr>
        </p:nvSpPr>
        <p:spPr/>
        <p:txBody>
          <a:bodyPr/>
          <a:lstStyle/>
          <a:p>
            <a:r>
              <a:t>Click to edit Master title style</a:t>
            </a:r>
          </a:p>
        </p:txBody>
      </p:sp>
      <p:sp>
        <p:nvSpPr>
          <p:cNvPr id="3" name="Date Placeholder 2">
            <a:extLst>
              <a:ext uri="{FF2B5EF4-FFF2-40B4-BE49-F238E27FC236}">
                <a16:creationId xmlns:a16="http://schemas.microsoft.com/office/drawing/2014/main" id="{D946BE7D-D259-42C5-9E0C-E81FEABF734D}"/>
              </a:ext>
            </a:extLst>
          </p:cNvPr>
          <p:cNvSpPr>
            <a:spLocks noGrp="1"/>
          </p:cNvSpPr>
          <p:nvPr>
            <p:ph type="dt" idx="10"/>
          </p:nvPr>
        </p:nvSpPr>
        <p:spPr/>
        <p:txBody>
          <a:bodyPr/>
          <a:lstStyle/>
          <a:p>
            <a:fld id="{312C468B-20E3-407E-85A7-522E1433ED6A}" type="datetime1">
              <a:t>2026-10-08</a:t>
            </a:fld>
            <a:endParaRPr/>
          </a:p>
        </p:txBody>
      </p:sp>
      <p:sp>
        <p:nvSpPr>
          <p:cNvPr id="4" name="Footer Placeholder 3">
            <a:extLst>
              <a:ext uri="{FF2B5EF4-FFF2-40B4-BE49-F238E27FC236}">
                <a16:creationId xmlns:a16="http://schemas.microsoft.com/office/drawing/2014/main" id="{E6CB7044-008F-44C1-90F1-26C33D02A131}"/>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22F95A2A-E62D-4A7F-ADDC-E7E152F4BA30}"/>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6102B01-E97B-4A20-B1B0-5191EE524C01}"/>
              </a:ext>
            </a:extLst>
          </p:cNvPr>
          <p:cNvSpPr>
            <a:spLocks noGrp="1"/>
          </p:cNvSpPr>
          <p:nvPr>
            <p:ph type="dt" idx="10"/>
          </p:nvPr>
        </p:nvSpPr>
        <p:spPr/>
        <p:txBody>
          <a:bodyPr/>
          <a:lstStyle/>
          <a:p>
            <a:fld id="{771548AA-889C-443B-A93D-38FE1CFA7516}" type="datetime1">
              <a:t>2026-10-08</a:t>
            </a:fld>
            <a:endParaRPr/>
          </a:p>
        </p:txBody>
      </p:sp>
      <p:sp>
        <p:nvSpPr>
          <p:cNvPr id="3" name="Footer Placeholder 2">
            <a:extLst>
              <a:ext uri="{FF2B5EF4-FFF2-40B4-BE49-F238E27FC236}">
                <a16:creationId xmlns:a16="http://schemas.microsoft.com/office/drawing/2014/main" id="{76C4D336-5E53-43AB-A7BE-60A3636B3C20}"/>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4B8D0046-39CA-4E80-B221-566489DFB157}"/>
              </a:ext>
            </a:extLst>
          </p:cNvPr>
          <p:cNvSpPr>
            <a:spLocks noGrp="1"/>
          </p:cNvSpPr>
          <p:nvPr>
            <p:ph type="sldNum" idx="12"/>
          </p:nvPr>
        </p:nvSpPr>
        <p:spPr/>
        <p:txBody>
          <a:bodyPr/>
          <a:lstStyle>
            <a:lvl1pPr>
              <a:buNone/>
              <a:defRPr>
                <a:solidFill>
                  <a:srgbClr val="363A52"/>
                </a:solidFill>
              </a:defRPr>
            </a:lvl1pPr>
          </a:lstStyle>
          <a:p>
            <a:fld id="{B6F15528-21DE-4FAA-801E-634DDDAF4B2B}" type="slidenum">
              <a:t>‹#›</a:t>
            </a:fld>
            <a:endParaRPr>
              <a:solidFill>
                <a:srgbClr val="363A52"/>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C70EAD-069B-4CE6-B27C-FF2D07C77C51}"/>
              </a:ext>
            </a:extLst>
          </p:cNvPr>
          <p:cNvSpPr>
            <a:spLocks noGrp="1"/>
          </p:cNvSpPr>
          <p:nvPr>
            <p:ph type="title"/>
          </p:nvPr>
        </p:nvSpPr>
        <p:spPr>
          <a:xfrm>
            <a:off x="457200" y="273050"/>
            <a:ext cx="3008313" cy="1162050"/>
          </a:xfrm>
        </p:spPr>
        <p:txBody>
          <a:bodyPr anchor="b"/>
          <a:lstStyle>
            <a:lvl1pPr algn="l">
              <a:buNone/>
              <a:defRPr sz="2000" b="1"/>
            </a:lvl1pPr>
          </a:lstStyle>
          <a:p>
            <a:r>
              <a:t>Click to edit Master title style</a:t>
            </a:r>
          </a:p>
        </p:txBody>
      </p:sp>
      <p:sp>
        <p:nvSpPr>
          <p:cNvPr id="3" name="Content Placeholder 2">
            <a:extLst>
              <a:ext uri="{FF2B5EF4-FFF2-40B4-BE49-F238E27FC236}">
                <a16:creationId xmlns:a16="http://schemas.microsoft.com/office/drawing/2014/main" id="{D3C4826A-B34C-4658-BE34-A1E42CED477E}"/>
              </a:ext>
            </a:extLst>
          </p:cNvPr>
          <p:cNvSpPr>
            <a:spLocks noGrp="1"/>
          </p:cNvSpPr>
          <p:nvPr>
            <p:ph idx="1"/>
          </p:nvPr>
        </p:nvSpPr>
        <p:spPr>
          <a:xfrm>
            <a:off x="3575050" y="273050"/>
            <a:ext cx="5111750" cy="5853113"/>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a:extLst>
              <a:ext uri="{FF2B5EF4-FFF2-40B4-BE49-F238E27FC236}">
                <a16:creationId xmlns:a16="http://schemas.microsoft.com/office/drawing/2014/main" id="{AF3D345E-E058-4A19-9D36-4EF218572C5C}"/>
              </a:ext>
            </a:extLst>
          </p:cNvPr>
          <p:cNvSpPr>
            <a:spLocks noGrp="1"/>
          </p:cNvSpPr>
          <p:nvPr>
            <p:ph type="body"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C416B60E-DC45-44B6-832E-5033C3B67183}"/>
              </a:ext>
            </a:extLst>
          </p:cNvPr>
          <p:cNvSpPr>
            <a:spLocks noGrp="1"/>
          </p:cNvSpPr>
          <p:nvPr>
            <p:ph type="dt" idx="10"/>
          </p:nvPr>
        </p:nvSpPr>
        <p:spPr/>
        <p:txBody>
          <a:bodyPr/>
          <a:lstStyle/>
          <a:p>
            <a:fld id="{8EED5943-17CB-412C-A291-60B219F832C8}" type="datetime1">
              <a:t>2026-10-08</a:t>
            </a:fld>
            <a:endParaRPr/>
          </a:p>
        </p:txBody>
      </p:sp>
      <p:sp>
        <p:nvSpPr>
          <p:cNvPr id="6" name="Footer Placeholder 5">
            <a:extLst>
              <a:ext uri="{FF2B5EF4-FFF2-40B4-BE49-F238E27FC236}">
                <a16:creationId xmlns:a16="http://schemas.microsoft.com/office/drawing/2014/main" id="{AB394005-A743-4FE7-B7E3-2C505CDBFD9F}"/>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34349389-4A71-47FB-B6DD-DDFFD7A7012F}"/>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B01991-0852-4FE1-8305-F94E461D7A3A}"/>
              </a:ext>
            </a:extLst>
          </p:cNvPr>
          <p:cNvSpPr>
            <a:spLocks noGrp="1"/>
          </p:cNvSpPr>
          <p:nvPr>
            <p:ph type="title"/>
          </p:nvPr>
        </p:nvSpPr>
        <p:spPr>
          <a:xfrm>
            <a:off x="1792288" y="4800600"/>
            <a:ext cx="5486400" cy="566738"/>
          </a:xfrm>
        </p:spPr>
        <p:txBody>
          <a:bodyPr anchor="b"/>
          <a:lstStyle>
            <a:lvl1pPr algn="l">
              <a:buNone/>
              <a:defRPr sz="2000" b="1"/>
            </a:lvl1pPr>
          </a:lstStyle>
          <a:p>
            <a:r>
              <a:t>Click to edit Master title style</a:t>
            </a:r>
          </a:p>
        </p:txBody>
      </p:sp>
      <p:sp>
        <p:nvSpPr>
          <p:cNvPr id="3" name="Picture Placeholder 2">
            <a:extLst>
              <a:ext uri="{FF2B5EF4-FFF2-40B4-BE49-F238E27FC236}">
                <a16:creationId xmlns:a16="http://schemas.microsoft.com/office/drawing/2014/main" id="{21CF6FEF-2EA1-4674-91B7-BA61613641B8}"/>
              </a:ext>
            </a:extLst>
          </p:cNvPr>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426E5ADE-1D9B-4946-9DCA-55964FBA2C46}"/>
              </a:ext>
            </a:extLst>
          </p:cNvPr>
          <p:cNvSpPr>
            <a:spLocks noGrp="1"/>
          </p:cNvSpPr>
          <p:nvPr>
            <p:ph type="body"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4E02A1E9-16D8-4C5E-AEA6-7CE155D9D225}"/>
              </a:ext>
            </a:extLst>
          </p:cNvPr>
          <p:cNvSpPr>
            <a:spLocks noGrp="1"/>
          </p:cNvSpPr>
          <p:nvPr>
            <p:ph type="dt" idx="10"/>
          </p:nvPr>
        </p:nvSpPr>
        <p:spPr/>
        <p:txBody>
          <a:bodyPr/>
          <a:lstStyle/>
          <a:p>
            <a:fld id="{BE840CD2-5E56-44C1-A1EF-E4FA14BF99E8}" type="datetime1">
              <a:t>2026-10-08</a:t>
            </a:fld>
            <a:endParaRPr/>
          </a:p>
        </p:txBody>
      </p:sp>
      <p:sp>
        <p:nvSpPr>
          <p:cNvPr id="6" name="Footer Placeholder 5">
            <a:extLst>
              <a:ext uri="{FF2B5EF4-FFF2-40B4-BE49-F238E27FC236}">
                <a16:creationId xmlns:a16="http://schemas.microsoft.com/office/drawing/2014/main" id="{8B8EE1CF-8EFA-4D87-B592-27F4298CAEFF}"/>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A16762B3-ECAA-4354-83E0-1A9496DC23FE}"/>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42F37C-CDA9-4EA8-A11C-9AAE27AEED07}"/>
              </a:ext>
            </a:extLst>
          </p:cNvPr>
          <p:cNvSpPr>
            <a:spLocks noGrp="1"/>
          </p:cNvSpPr>
          <p:nvPr>
            <p:ph type="title"/>
          </p:nvPr>
        </p:nvSpPr>
        <p:spPr/>
        <p:txBody>
          <a:bodyPr/>
          <a:lstStyle/>
          <a:p>
            <a:r>
              <a:t>Click to edit Master title style</a:t>
            </a:r>
          </a:p>
        </p:txBody>
      </p:sp>
      <p:sp>
        <p:nvSpPr>
          <p:cNvPr id="3" name="Vertical Text Placeholder 2">
            <a:extLst>
              <a:ext uri="{FF2B5EF4-FFF2-40B4-BE49-F238E27FC236}">
                <a16:creationId xmlns:a16="http://schemas.microsoft.com/office/drawing/2014/main" id="{2A496858-9A5F-4A0C-B53D-5243A8F72086}"/>
              </a:ext>
            </a:extLst>
          </p:cNvPr>
          <p:cNvSpPr>
            <a:spLocks noGrp="1"/>
          </p:cNvSpPr>
          <p:nvPr>
            <p:ph type="body" idx="1"/>
          </p:nvPr>
        </p:nvSpPr>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0DF0CBD0-2095-4D01-B6BF-B7074F08A97C}"/>
              </a:ext>
            </a:extLst>
          </p:cNvPr>
          <p:cNvSpPr>
            <a:spLocks noGrp="1"/>
          </p:cNvSpPr>
          <p:nvPr>
            <p:ph type="dt" idx="10"/>
          </p:nvPr>
        </p:nvSpPr>
        <p:spPr/>
        <p:txBody>
          <a:bodyPr/>
          <a:lstStyle/>
          <a:p>
            <a:fld id="{0B0541CA-56D6-49C1-9EA6-589A66A6D619}" type="datetime1">
              <a:t>2026-10-08</a:t>
            </a:fld>
            <a:endParaRPr/>
          </a:p>
        </p:txBody>
      </p:sp>
      <p:sp>
        <p:nvSpPr>
          <p:cNvPr id="5" name="Footer Placeholder 4">
            <a:extLst>
              <a:ext uri="{FF2B5EF4-FFF2-40B4-BE49-F238E27FC236}">
                <a16:creationId xmlns:a16="http://schemas.microsoft.com/office/drawing/2014/main" id="{951169DD-D5D7-4552-B6CC-14BE43C94771}"/>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0CCD92DC-822C-4521-823E-EB1350FC209F}"/>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7E48549-09FA-4275-BE61-ABAB710AB7C2}"/>
              </a:ext>
            </a:extLst>
          </p:cNvPr>
          <p:cNvSpPr>
            <a:spLocks noGrp="1"/>
          </p:cNvSpPr>
          <p:nvPr>
            <p:ph type="title"/>
          </p:nvPr>
        </p:nvSpPr>
        <p:spPr>
          <a:xfrm>
            <a:off x="6629400" y="274638"/>
            <a:ext cx="2057400" cy="5851525"/>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1629F079-B194-44DB-A842-58776470F6F9}"/>
              </a:ext>
            </a:extLst>
          </p:cNvPr>
          <p:cNvSpPr>
            <a:spLocks noGrp="1"/>
          </p:cNvSpPr>
          <p:nvPr>
            <p:ph type="body" idx="1"/>
          </p:nvPr>
        </p:nvSpPr>
        <p:spPr>
          <a:xfrm>
            <a:off x="457200" y="274638"/>
            <a:ext cx="6019800" cy="5851525"/>
          </a:xfr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D50B8989-763D-4784-B18E-2FDDDC82A71B}"/>
              </a:ext>
            </a:extLst>
          </p:cNvPr>
          <p:cNvSpPr>
            <a:spLocks noGrp="1"/>
          </p:cNvSpPr>
          <p:nvPr>
            <p:ph type="dt" idx="10"/>
          </p:nvPr>
        </p:nvSpPr>
        <p:spPr/>
        <p:txBody>
          <a:bodyPr/>
          <a:lstStyle/>
          <a:p>
            <a:fld id="{1B158F63-390B-4AA7-B117-B22D9F851814}" type="datetime1">
              <a:t>2026-10-08</a:t>
            </a:fld>
            <a:endParaRPr/>
          </a:p>
        </p:txBody>
      </p:sp>
      <p:sp>
        <p:nvSpPr>
          <p:cNvPr id="5" name="Footer Placeholder 4">
            <a:extLst>
              <a:ext uri="{FF2B5EF4-FFF2-40B4-BE49-F238E27FC236}">
                <a16:creationId xmlns:a16="http://schemas.microsoft.com/office/drawing/2014/main" id="{852710DB-454F-4708-93D5-584EE37425FD}"/>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9E567A04-0E12-4CF5-B83A-EF81D55C94BB}"/>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D7B83D8-1EDF-45EB-9387-03AF7B286E17}"/>
              </a:ext>
            </a:extLst>
          </p:cNvPr>
          <p:cNvSpPr>
            <a:spLocks noGrp="1"/>
          </p:cNvSpPr>
          <p:nvPr>
            <p:ph type="title"/>
          </p:nvPr>
        </p:nvSpPr>
        <p:spPr>
          <a:xfrm>
            <a:off x="457200" y="274638"/>
            <a:ext cx="8229600" cy="1143000"/>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921E5533-203D-4067-B0DB-585AA2DACDA4}"/>
              </a:ext>
            </a:extLst>
          </p:cNvPr>
          <p:cNvSpPr>
            <a:spLocks noGrp="1"/>
          </p:cNvSpPr>
          <p:nvPr>
            <p:ph type="body" idx="1"/>
          </p:nvPr>
        </p:nvSpPr>
        <p:spPr>
          <a:xfrm>
            <a:off x="457200" y="1600200"/>
            <a:ext cx="8229600" cy="4525963"/>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658CC50D-AF01-4040-8961-A75CE77E250E}"/>
              </a:ext>
            </a:extLst>
          </p:cNvPr>
          <p:cNvSpPr>
            <a:spLocks noGrp="1"/>
          </p:cNvSpPr>
          <p:nvPr>
            <p:ph type="dt" idx="2"/>
          </p:nvPr>
        </p:nvSpPr>
        <p:spPr>
          <a:xfrm>
            <a:off x="457200" y="6356350"/>
            <a:ext cx="21336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18525D06-E58F-424F-8E85-775C648B2EFD}" type="datetime1">
              <a:t>2026-10-08</a:t>
            </a:fld>
            <a:endParaRPr/>
          </a:p>
        </p:txBody>
      </p:sp>
      <p:sp>
        <p:nvSpPr>
          <p:cNvPr id="5" name="Footer Placeholder 4">
            <a:extLst>
              <a:ext uri="{FF2B5EF4-FFF2-40B4-BE49-F238E27FC236}">
                <a16:creationId xmlns:a16="http://schemas.microsoft.com/office/drawing/2014/main" id="{4BEBE8BA-7177-4756-A186-AD5C39F7B751}"/>
              </a:ext>
            </a:extLst>
          </p:cNvPr>
          <p:cNvSpPr>
            <a:spLocks noGrp="1"/>
          </p:cNvSpPr>
          <p:nvPr>
            <p:ph type="ftr" idx="3"/>
          </p:nvPr>
        </p:nvSpPr>
        <p:spPr>
          <a:xfrm>
            <a:off x="3124200" y="6356350"/>
            <a:ext cx="28956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Slide Number Placeholder 5">
            <a:extLst>
              <a:ext uri="{FF2B5EF4-FFF2-40B4-BE49-F238E27FC236}">
                <a16:creationId xmlns:a16="http://schemas.microsoft.com/office/drawing/2014/main" id="{25A1DCEE-0A11-47EC-B9BE-7D88590759E5}"/>
              </a:ext>
            </a:extLst>
          </p:cNvPr>
          <p:cNvSpPr>
            <a:spLocks noGrp="1"/>
          </p:cNvSpPr>
          <p:nvPr>
            <p:ph type="sldNum" idx="4"/>
          </p:nvPr>
        </p:nvSpPr>
        <p:spPr>
          <a:xfrm>
            <a:off x="16002000" y="9791700"/>
            <a:ext cx="2133600" cy="365125"/>
          </a:xfrm>
          <a:prstGeom prst="rect">
            <a:avLst/>
          </a:prstGeom>
        </p:spPr>
        <p:txBody>
          <a:bodyPr vert="horz" lIns="91440" tIns="45720" rIns="91440" bIns="45720" anchor="ctr"/>
          <a:lstStyle>
            <a:lvl1pPr algn="r">
              <a:buNone/>
              <a:defRPr sz="1800" b="1">
                <a:solidFill>
                  <a:schemeClr val="bg1"/>
                </a:solidFill>
              </a:defRPr>
            </a:lvl1pPr>
          </a:lstStyle>
          <a:p>
            <a:fld id="{B6F15528-21DE-4FAA-801E-634DDDAF4B2B}" type="slidenum">
              <a:t>‹#›</a:t>
            </a:fld>
            <a:endParaRPr b="1"/>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a:spcBef>
          <a:spcPct val="0"/>
        </a:spcBef>
        <a:buNone/>
        <a:defRPr sz="4400" kern="1200">
          <a:solidFill>
            <a:schemeClr val="tx1"/>
          </a:solidFill>
          <a:latin typeface="+mj-lt"/>
          <a:ea typeface="+mj-lt"/>
          <a:cs typeface="+mj-lt"/>
        </a:defRPr>
      </a:lvl1pPr>
    </p:titleStyle>
    <p:bodyStyle>
      <a:lvl1pPr marL="342900" indent="-342900" algn="l" defTabSz="914400">
        <a:spcBef>
          <a:spcPct val="20000"/>
        </a:spcBef>
        <a:buFont typeface="Arial"/>
        <a:buChar char="•"/>
        <a:defRPr sz="3200" kern="1200">
          <a:solidFill>
            <a:schemeClr val="tx1"/>
          </a:solidFill>
          <a:latin typeface="+mn-lt"/>
          <a:ea typeface="+mn-lt"/>
          <a:cs typeface="+mn-lt"/>
        </a:defRPr>
      </a:lvl1pPr>
      <a:lvl2pPr marL="742950" indent="-285750" algn="l" defTabSz="914400">
        <a:spcBef>
          <a:spcPct val="20000"/>
        </a:spcBef>
        <a:buFont typeface="Arial"/>
        <a:buChar char="–"/>
        <a:defRPr sz="2800" kern="1200">
          <a:solidFill>
            <a:schemeClr val="tx1"/>
          </a:solidFill>
          <a:latin typeface="+mn-lt"/>
          <a:ea typeface="+mn-lt"/>
          <a:cs typeface="+mn-lt"/>
        </a:defRPr>
      </a:lvl2pPr>
      <a:lvl3pPr marL="1143000" indent="-228600" algn="l" defTabSz="914400">
        <a:spcBef>
          <a:spcPct val="20000"/>
        </a:spcBef>
        <a:buFont typeface="Arial"/>
        <a:buChar char="•"/>
        <a:defRPr sz="2400" kern="1200">
          <a:solidFill>
            <a:schemeClr val="tx1"/>
          </a:solidFill>
          <a:latin typeface="+mn-lt"/>
          <a:ea typeface="+mn-lt"/>
          <a:cs typeface="+mn-lt"/>
        </a:defRPr>
      </a:lvl3pPr>
      <a:lvl4pPr marL="1600200" indent="-228600" algn="l" defTabSz="914400">
        <a:spcBef>
          <a:spcPct val="20000"/>
        </a:spcBef>
        <a:buFont typeface="Arial"/>
        <a:buChar char="–"/>
        <a:defRPr sz="2000" kern="1200">
          <a:solidFill>
            <a:schemeClr val="tx1"/>
          </a:solidFill>
          <a:latin typeface="+mn-lt"/>
          <a:ea typeface="+mn-lt"/>
          <a:cs typeface="+mn-lt"/>
        </a:defRPr>
      </a:lvl4pPr>
      <a:lvl5pPr marL="2057400" indent="-228600" algn="l" defTabSz="914400">
        <a:spcBef>
          <a:spcPct val="20000"/>
        </a:spcBef>
        <a:buFont typeface="Arial"/>
        <a:buChar char="»"/>
        <a:defRPr sz="2000" kern="1200">
          <a:solidFill>
            <a:schemeClr val="tx1"/>
          </a:solidFill>
          <a:latin typeface="+mn-lt"/>
          <a:ea typeface="+mn-lt"/>
          <a:cs typeface="+mn-lt"/>
        </a:defRPr>
      </a:lvl5pPr>
      <a:lvl6pPr marL="2514600" indent="-228600" algn="l" defTabSz="914400">
        <a:spcBef>
          <a:spcPct val="20000"/>
        </a:spcBef>
        <a:buFont typeface="Arial"/>
        <a:buChar char="•"/>
        <a:defRPr sz="2000" kern="1200">
          <a:solidFill>
            <a:schemeClr val="tx1"/>
          </a:solidFill>
          <a:latin typeface="+mn-lt"/>
          <a:ea typeface="+mn-lt"/>
          <a:cs typeface="+mn-lt"/>
        </a:defRPr>
      </a:lvl6pPr>
      <a:lvl7pPr marL="2971800" indent="-228600" algn="l" defTabSz="914400">
        <a:spcBef>
          <a:spcPct val="20000"/>
        </a:spcBef>
        <a:buFont typeface="Arial"/>
        <a:buChar char="•"/>
        <a:defRPr sz="2000" kern="1200">
          <a:solidFill>
            <a:schemeClr val="tx1"/>
          </a:solidFill>
          <a:latin typeface="+mn-lt"/>
          <a:ea typeface="+mn-lt"/>
          <a:cs typeface="+mn-lt"/>
        </a:defRPr>
      </a:lvl7pPr>
      <a:lvl8pPr marL="3429000" indent="-228600" algn="l" defTabSz="914400">
        <a:spcBef>
          <a:spcPct val="20000"/>
        </a:spcBef>
        <a:buFont typeface="Arial"/>
        <a:buChar char="•"/>
        <a:defRPr sz="2000" kern="1200">
          <a:solidFill>
            <a:schemeClr val="tx1"/>
          </a:solidFill>
          <a:latin typeface="+mn-lt"/>
          <a:ea typeface="+mn-lt"/>
          <a:cs typeface="+mn-lt"/>
        </a:defRPr>
      </a:lvl8pPr>
      <a:lvl9pPr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svg"/><Relationship Id="rId4" Type="http://schemas.openxmlformats.org/officeDocument/2006/relationships/image" Target="../media/image2.svg"/><Relationship Id="rId5" Type="http://schemas.openxmlformats.org/officeDocument/2006/relationships/image" Target="../media/image3.svg"/><Relationship Id="rId6" Type="http://schemas.openxmlformats.org/officeDocument/2006/relationships/image" Target="../media/image4.svg"/><Relationship Id="rId7" Type="http://schemas.openxmlformats.org/officeDocument/2006/relationships/image" Target="../media/image5.svg"/><Relationship Id="rId8" Type="http://schemas.openxmlformats.org/officeDocument/2006/relationships/image" Target="../media/image6.svg"/><Relationship Id="rId9" Type="http://schemas.openxmlformats.org/officeDocument/2006/relationships/image" Target="../media/image7.svg"/><Relationship Id="rId10" Type="http://schemas.openxmlformats.org/officeDocument/2006/relationships/image" Target="../media/image8.svg"/><Relationship Id="rId11" Type="http://schemas.openxmlformats.org/officeDocument/2006/relationships/image" Target="../media/image9.svg"/><Relationship Id="rId12" Type="http://schemas.openxmlformats.org/officeDocument/2006/relationships/image" Target="../media/image10.svg"/><Relationship Id="rId13" Type="http://schemas.openxmlformats.org/officeDocument/2006/relationships/image" Target="../media/image1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2.svg"/><Relationship Id="rId4" Type="http://schemas.openxmlformats.org/officeDocument/2006/relationships/image" Target="../media/image13.svg"/><Relationship Id="rId5" Type="http://schemas.openxmlformats.org/officeDocument/2006/relationships/image" Target="../media/image14.svg"/><Relationship Id="rId6" Type="http://schemas.openxmlformats.org/officeDocument/2006/relationships/image" Target="../media/image15.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svg"/><Relationship Id="rId3" Type="http://schemas.openxmlformats.org/officeDocument/2006/relationships/image" Target="../media/image13.svg"/><Relationship Id="rId4" Type="http://schemas.openxmlformats.org/officeDocument/2006/relationships/image" Target="../media/image14.svg"/><Relationship Id="rId5" Type="http://schemas.openxmlformats.org/officeDocument/2006/relationships/image" Target="../media/image15.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2.svg"/><Relationship Id="rId4" Type="http://schemas.openxmlformats.org/officeDocument/2006/relationships/image" Target="../media/image13.svg"/><Relationship Id="rId5" Type="http://schemas.openxmlformats.org/officeDocument/2006/relationships/image" Target="../media/image14.svg"/><Relationship Id="rId6" Type="http://schemas.openxmlformats.org/officeDocument/2006/relationships/image" Target="../media/image15.svg"/><Relationship Id="rId7" Type="http://schemas.openxmlformats.org/officeDocument/2006/relationships/image" Target="../media/image16.png"/><Relationship Id="rId8" Type="http://schemas.openxmlformats.org/officeDocument/2006/relationships/image" Target="../media/image17.png"/><Relationship Id="rId9" Type="http://schemas.openxmlformats.org/officeDocument/2006/relationships/image" Target="../media/image1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2.svg"/><Relationship Id="rId4" Type="http://schemas.openxmlformats.org/officeDocument/2006/relationships/image" Target="../media/image13.svg"/><Relationship Id="rId5" Type="http://schemas.openxmlformats.org/officeDocument/2006/relationships/image" Target="../media/image14.svg"/><Relationship Id="rId6" Type="http://schemas.openxmlformats.org/officeDocument/2006/relationships/image" Target="../media/image15.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2.svg"/><Relationship Id="rId4" Type="http://schemas.openxmlformats.org/officeDocument/2006/relationships/image" Target="../media/image13.svg"/><Relationship Id="rId5" Type="http://schemas.openxmlformats.org/officeDocument/2006/relationships/image" Target="../media/image14.svg"/><Relationship Id="rId6" Type="http://schemas.openxmlformats.org/officeDocument/2006/relationships/image" Target="../media/image15.svg"/><Relationship Id="rId7" Type="http://schemas.openxmlformats.org/officeDocument/2006/relationships/image" Target="../media/image19.png"/><Relationship Id="rId8" Type="http://schemas.openxmlformats.org/officeDocument/2006/relationships/image" Target="../media/image20.png"/><Relationship Id="rId9" Type="http://schemas.openxmlformats.org/officeDocument/2006/relationships/image" Target="../media/image21.png"/><Relationship Id="rId10" Type="http://schemas.openxmlformats.org/officeDocument/2006/relationships/image" Target="../media/image2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2.svg"/><Relationship Id="rId4" Type="http://schemas.openxmlformats.org/officeDocument/2006/relationships/image" Target="../media/image13.svg"/><Relationship Id="rId5" Type="http://schemas.openxmlformats.org/officeDocument/2006/relationships/image" Target="../media/image14.svg"/><Relationship Id="rId6" Type="http://schemas.openxmlformats.org/officeDocument/2006/relationships/image" Target="../media/image15.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2.svg"/><Relationship Id="rId4" Type="http://schemas.openxmlformats.org/officeDocument/2006/relationships/image" Target="../media/image13.svg"/><Relationship Id="rId5" Type="http://schemas.openxmlformats.org/officeDocument/2006/relationships/image" Target="../media/image15.svg"/><Relationship Id="rId6" Type="http://schemas.openxmlformats.org/officeDocument/2006/relationships/image" Target="../media/image18.png"/><Relationship Id="rId7" Type="http://schemas.openxmlformats.org/officeDocument/2006/relationships/image" Target="../media/image23.png"/><Relationship Id="rId8" Type="http://schemas.openxmlformats.org/officeDocument/2006/relationships/image" Target="../media/image24.png"/><Relationship Id="rId9" Type="http://schemas.openxmlformats.org/officeDocument/2006/relationships/image" Target="../media/image25.png"/><Relationship Id="rId10" Type="http://schemas.openxmlformats.org/officeDocument/2006/relationships/image" Target="../media/image26.png"/><Relationship Id="rId11" Type="http://schemas.openxmlformats.org/officeDocument/2006/relationships/image" Target="../media/image2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2.sv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2.svg"/><Relationship Id="rId4" Type="http://schemas.openxmlformats.org/officeDocument/2006/relationships/image" Target="../media/image13.svg"/><Relationship Id="rId5" Type="http://schemas.openxmlformats.org/officeDocument/2006/relationships/image" Target="../media/image14.svg"/><Relationship Id="rId6" Type="http://schemas.openxmlformats.org/officeDocument/2006/relationships/image" Target="../media/image15.sv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2.svg"/><Relationship Id="rId4" Type="http://schemas.openxmlformats.org/officeDocument/2006/relationships/image" Target="../media/image13.svg"/><Relationship Id="rId5" Type="http://schemas.openxmlformats.org/officeDocument/2006/relationships/image" Target="../media/image14.svg"/><Relationship Id="rId6" Type="http://schemas.openxmlformats.org/officeDocument/2006/relationships/image" Target="../media/image15.sv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2.svg"/><Relationship Id="rId4" Type="http://schemas.openxmlformats.org/officeDocument/2006/relationships/image" Target="../media/image13.svg"/><Relationship Id="rId5" Type="http://schemas.openxmlformats.org/officeDocument/2006/relationships/image" Target="../media/image14.svg"/><Relationship Id="rId6" Type="http://schemas.openxmlformats.org/officeDocument/2006/relationships/image" Target="../media/image15.sv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2.svg"/><Relationship Id="rId4" Type="http://schemas.openxmlformats.org/officeDocument/2006/relationships/image" Target="../media/image13.svg"/><Relationship Id="rId5" Type="http://schemas.openxmlformats.org/officeDocument/2006/relationships/image" Target="../media/image14.svg"/><Relationship Id="rId6" Type="http://schemas.openxmlformats.org/officeDocument/2006/relationships/image" Target="../media/image15.sv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2.svg"/><Relationship Id="rId4" Type="http://schemas.openxmlformats.org/officeDocument/2006/relationships/image" Target="../media/image13.svg"/><Relationship Id="rId5" Type="http://schemas.openxmlformats.org/officeDocument/2006/relationships/image" Target="../media/image14.svg"/><Relationship Id="rId6" Type="http://schemas.openxmlformats.org/officeDocument/2006/relationships/image" Target="../media/image15.sv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2.svg"/><Relationship Id="rId4" Type="http://schemas.openxmlformats.org/officeDocument/2006/relationships/image" Target="../media/image13.svg"/><Relationship Id="rId5" Type="http://schemas.openxmlformats.org/officeDocument/2006/relationships/image" Target="../media/image14.svg"/><Relationship Id="rId6" Type="http://schemas.openxmlformats.org/officeDocument/2006/relationships/image" Target="../media/image15.sv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2.svg"/><Relationship Id="rId4" Type="http://schemas.openxmlformats.org/officeDocument/2006/relationships/image" Target="../media/image13.svg"/><Relationship Id="rId5" Type="http://schemas.openxmlformats.org/officeDocument/2006/relationships/image" Target="../media/image14.svg"/><Relationship Id="rId6" Type="http://schemas.openxmlformats.org/officeDocument/2006/relationships/image" Target="../media/image15.svg"/><Relationship Id="rId7" Type="http://schemas.openxmlformats.org/officeDocument/2006/relationships/image" Target="../media/image2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2.svg"/><Relationship Id="rId4" Type="http://schemas.openxmlformats.org/officeDocument/2006/relationships/image" Target="../media/image13.svg"/><Relationship Id="rId5" Type="http://schemas.openxmlformats.org/officeDocument/2006/relationships/image" Target="../media/image14.svg"/><Relationship Id="rId6" Type="http://schemas.openxmlformats.org/officeDocument/2006/relationships/image" Target="../media/image15.sv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12.svg"/><Relationship Id="rId4" Type="http://schemas.openxmlformats.org/officeDocument/2006/relationships/image" Target="../media/image13.svg"/><Relationship Id="rId5" Type="http://schemas.openxmlformats.org/officeDocument/2006/relationships/image" Target="../media/image14.svg"/><Relationship Id="rId6" Type="http://schemas.openxmlformats.org/officeDocument/2006/relationships/image" Target="../media/image15.sv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svg"/><Relationship Id="rId3" Type="http://schemas.openxmlformats.org/officeDocument/2006/relationships/image" Target="../media/image13.svg"/><Relationship Id="rId4" Type="http://schemas.openxmlformats.org/officeDocument/2006/relationships/image" Target="../media/image14.svg"/><Relationship Id="rId5" Type="http://schemas.openxmlformats.org/officeDocument/2006/relationships/image" Target="../media/image15.sv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12.svg"/><Relationship Id="rId4" Type="http://schemas.openxmlformats.org/officeDocument/2006/relationships/image" Target="../media/image13.svg"/><Relationship Id="rId5" Type="http://schemas.openxmlformats.org/officeDocument/2006/relationships/image" Target="../media/image14.svg"/><Relationship Id="rId6" Type="http://schemas.openxmlformats.org/officeDocument/2006/relationships/image" Target="../media/image15.sv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svg"/><Relationship Id="rId3" Type="http://schemas.openxmlformats.org/officeDocument/2006/relationships/image" Target="../media/image13.svg"/><Relationship Id="rId4" Type="http://schemas.openxmlformats.org/officeDocument/2006/relationships/image" Target="../media/image14.svg"/><Relationship Id="rId5" Type="http://schemas.openxmlformats.org/officeDocument/2006/relationships/image" Target="../media/image15.sv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svg"/><Relationship Id="rId3" Type="http://schemas.openxmlformats.org/officeDocument/2006/relationships/image" Target="../media/image13.svg"/><Relationship Id="rId4" Type="http://schemas.openxmlformats.org/officeDocument/2006/relationships/image" Target="../media/image14.svg"/><Relationship Id="rId5" Type="http://schemas.openxmlformats.org/officeDocument/2006/relationships/image" Target="../media/image15.sv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svg"/><Relationship Id="rId3" Type="http://schemas.openxmlformats.org/officeDocument/2006/relationships/image" Target="../media/image13.svg"/><Relationship Id="rId4" Type="http://schemas.openxmlformats.org/officeDocument/2006/relationships/image" Target="../media/image14.svg"/><Relationship Id="rId5" Type="http://schemas.openxmlformats.org/officeDocument/2006/relationships/image" Target="../media/image15.sv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12.svg"/><Relationship Id="rId4" Type="http://schemas.openxmlformats.org/officeDocument/2006/relationships/image" Target="../media/image13.svg"/><Relationship Id="rId5" Type="http://schemas.openxmlformats.org/officeDocument/2006/relationships/image" Target="../media/image14.svg"/><Relationship Id="rId6" Type="http://schemas.openxmlformats.org/officeDocument/2006/relationships/image" Target="../media/image15.sv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svg"/><Relationship Id="rId3" Type="http://schemas.openxmlformats.org/officeDocument/2006/relationships/image" Target="../media/image13.svg"/><Relationship Id="rId4" Type="http://schemas.openxmlformats.org/officeDocument/2006/relationships/image" Target="../media/image14.svg"/><Relationship Id="rId5" Type="http://schemas.openxmlformats.org/officeDocument/2006/relationships/image" Target="../media/image15.sv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svg"/><Relationship Id="rId3" Type="http://schemas.openxmlformats.org/officeDocument/2006/relationships/image" Target="../media/image13.svg"/><Relationship Id="rId4" Type="http://schemas.openxmlformats.org/officeDocument/2006/relationships/image" Target="../media/image14.svg"/><Relationship Id="rId5" Type="http://schemas.openxmlformats.org/officeDocument/2006/relationships/image" Target="../media/image15.sv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svg"/><Relationship Id="rId3" Type="http://schemas.openxmlformats.org/officeDocument/2006/relationships/image" Target="../media/image13.svg"/><Relationship Id="rId4" Type="http://schemas.openxmlformats.org/officeDocument/2006/relationships/image" Target="../media/image14.svg"/><Relationship Id="rId5" Type="http://schemas.openxmlformats.org/officeDocument/2006/relationships/image" Target="../media/image15.sv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svg"/><Relationship Id="rId3" Type="http://schemas.openxmlformats.org/officeDocument/2006/relationships/image" Target="../media/image13.svg"/><Relationship Id="rId4" Type="http://schemas.openxmlformats.org/officeDocument/2006/relationships/image" Target="../media/image14.svg"/><Relationship Id="rId5" Type="http://schemas.openxmlformats.org/officeDocument/2006/relationships/image" Target="../media/image15.sv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12.svg"/><Relationship Id="rId4" Type="http://schemas.openxmlformats.org/officeDocument/2006/relationships/image" Target="../media/image13.svg"/><Relationship Id="rId5" Type="http://schemas.openxmlformats.org/officeDocument/2006/relationships/image" Target="../media/image14.svg"/><Relationship Id="rId6" Type="http://schemas.openxmlformats.org/officeDocument/2006/relationships/image" Target="../media/image15.sv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12.svg"/><Relationship Id="rId4" Type="http://schemas.openxmlformats.org/officeDocument/2006/relationships/image" Target="../media/image13.svg"/><Relationship Id="rId5" Type="http://schemas.openxmlformats.org/officeDocument/2006/relationships/image" Target="../media/image14.svg"/><Relationship Id="rId6" Type="http://schemas.openxmlformats.org/officeDocument/2006/relationships/image" Target="../media/image15.sv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svg"/><Relationship Id="rId3" Type="http://schemas.openxmlformats.org/officeDocument/2006/relationships/image" Target="../media/image13.svg"/><Relationship Id="rId4" Type="http://schemas.openxmlformats.org/officeDocument/2006/relationships/image" Target="../media/image14.svg"/><Relationship Id="rId5" Type="http://schemas.openxmlformats.org/officeDocument/2006/relationships/image" Target="../media/image15.sv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svg"/><Relationship Id="rId3" Type="http://schemas.openxmlformats.org/officeDocument/2006/relationships/image" Target="../media/image13.svg"/><Relationship Id="rId4" Type="http://schemas.openxmlformats.org/officeDocument/2006/relationships/image" Target="../media/image14.svg"/><Relationship Id="rId5" Type="http://schemas.openxmlformats.org/officeDocument/2006/relationships/image" Target="../media/image15.sv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12.svg"/><Relationship Id="rId4" Type="http://schemas.openxmlformats.org/officeDocument/2006/relationships/image" Target="../media/image13.svg"/><Relationship Id="rId5" Type="http://schemas.openxmlformats.org/officeDocument/2006/relationships/image" Target="../media/image14.svg"/><Relationship Id="rId6" Type="http://schemas.openxmlformats.org/officeDocument/2006/relationships/image" Target="../media/image15.sv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12.svg"/><Relationship Id="rId4" Type="http://schemas.openxmlformats.org/officeDocument/2006/relationships/image" Target="../media/image13.svg"/><Relationship Id="rId5" Type="http://schemas.openxmlformats.org/officeDocument/2006/relationships/image" Target="../media/image14.svg"/><Relationship Id="rId6" Type="http://schemas.openxmlformats.org/officeDocument/2006/relationships/image" Target="../media/image15.sv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12.svg"/><Relationship Id="rId4" Type="http://schemas.openxmlformats.org/officeDocument/2006/relationships/image" Target="../media/image13.svg"/><Relationship Id="rId5" Type="http://schemas.openxmlformats.org/officeDocument/2006/relationships/image" Target="../media/image14.svg"/><Relationship Id="rId6" Type="http://schemas.openxmlformats.org/officeDocument/2006/relationships/image" Target="../media/image15.sv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12.svg"/><Relationship Id="rId4" Type="http://schemas.openxmlformats.org/officeDocument/2006/relationships/image" Target="../media/image13.svg"/><Relationship Id="rId5" Type="http://schemas.openxmlformats.org/officeDocument/2006/relationships/image" Target="../media/image14.svg"/><Relationship Id="rId6" Type="http://schemas.openxmlformats.org/officeDocument/2006/relationships/image" Target="../media/image15.sv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12.svg"/><Relationship Id="rId4" Type="http://schemas.openxmlformats.org/officeDocument/2006/relationships/image" Target="../media/image13.svg"/><Relationship Id="rId5" Type="http://schemas.openxmlformats.org/officeDocument/2006/relationships/image" Target="../media/image14.svg"/><Relationship Id="rId6" Type="http://schemas.openxmlformats.org/officeDocument/2006/relationships/image" Target="../media/image15.sv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12.svg"/><Relationship Id="rId4" Type="http://schemas.openxmlformats.org/officeDocument/2006/relationships/image" Target="../media/image13.svg"/><Relationship Id="rId5" Type="http://schemas.openxmlformats.org/officeDocument/2006/relationships/image" Target="../media/image14.svg"/><Relationship Id="rId6" Type="http://schemas.openxmlformats.org/officeDocument/2006/relationships/image" Target="../media/image15.sv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12.svg"/><Relationship Id="rId4" Type="http://schemas.openxmlformats.org/officeDocument/2006/relationships/image" Target="../media/image13.svg"/><Relationship Id="rId5" Type="http://schemas.openxmlformats.org/officeDocument/2006/relationships/image" Target="../media/image14.svg"/><Relationship Id="rId6" Type="http://schemas.openxmlformats.org/officeDocument/2006/relationships/image" Target="../media/image15.sv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12.svg"/><Relationship Id="rId4" Type="http://schemas.openxmlformats.org/officeDocument/2006/relationships/image" Target="../media/image13.svg"/><Relationship Id="rId5" Type="http://schemas.openxmlformats.org/officeDocument/2006/relationships/image" Target="../media/image14.svg"/><Relationship Id="rId6" Type="http://schemas.openxmlformats.org/officeDocument/2006/relationships/image" Target="../media/image15.sv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12.svg"/><Relationship Id="rId4" Type="http://schemas.openxmlformats.org/officeDocument/2006/relationships/image" Target="../media/image13.svg"/><Relationship Id="rId5" Type="http://schemas.openxmlformats.org/officeDocument/2006/relationships/image" Target="../media/image14.svg"/><Relationship Id="rId6" Type="http://schemas.openxmlformats.org/officeDocument/2006/relationships/image" Target="../media/image15.sv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12.svg"/><Relationship Id="rId4" Type="http://schemas.openxmlformats.org/officeDocument/2006/relationships/image" Target="../media/image13.svg"/><Relationship Id="rId5" Type="http://schemas.openxmlformats.org/officeDocument/2006/relationships/image" Target="../media/image14.svg"/><Relationship Id="rId6" Type="http://schemas.openxmlformats.org/officeDocument/2006/relationships/image" Target="../media/image15.sv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12.svg"/><Relationship Id="rId4" Type="http://schemas.openxmlformats.org/officeDocument/2006/relationships/image" Target="../media/image13.svg"/><Relationship Id="rId5" Type="http://schemas.openxmlformats.org/officeDocument/2006/relationships/image" Target="../media/image14.svg"/><Relationship Id="rId6" Type="http://schemas.openxmlformats.org/officeDocument/2006/relationships/image" Target="../media/image15.sv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12.svg"/><Relationship Id="rId4" Type="http://schemas.openxmlformats.org/officeDocument/2006/relationships/image" Target="../media/image13.svg"/><Relationship Id="rId5" Type="http://schemas.openxmlformats.org/officeDocument/2006/relationships/image" Target="../media/image14.svg"/><Relationship Id="rId6" Type="http://schemas.openxmlformats.org/officeDocument/2006/relationships/image" Target="../media/image15.sv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12.svg"/><Relationship Id="rId4" Type="http://schemas.openxmlformats.org/officeDocument/2006/relationships/image" Target="../media/image13.svg"/><Relationship Id="rId5" Type="http://schemas.openxmlformats.org/officeDocument/2006/relationships/image" Target="../media/image14.svg"/><Relationship Id="rId6" Type="http://schemas.openxmlformats.org/officeDocument/2006/relationships/image" Target="../media/image15.sv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12.svg"/><Relationship Id="rId4" Type="http://schemas.openxmlformats.org/officeDocument/2006/relationships/image" Target="../media/image13.svg"/><Relationship Id="rId5" Type="http://schemas.openxmlformats.org/officeDocument/2006/relationships/image" Target="../media/image14.svg"/><Relationship Id="rId6" Type="http://schemas.openxmlformats.org/officeDocument/2006/relationships/image" Target="../media/image15.sv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12.svg"/><Relationship Id="rId4" Type="http://schemas.openxmlformats.org/officeDocument/2006/relationships/image" Target="../media/image13.svg"/><Relationship Id="rId5" Type="http://schemas.openxmlformats.org/officeDocument/2006/relationships/image" Target="../media/image14.svg"/><Relationship Id="rId6" Type="http://schemas.openxmlformats.org/officeDocument/2006/relationships/image" Target="../media/image15.sv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image" Target="../media/image12.svg"/><Relationship Id="rId4" Type="http://schemas.openxmlformats.org/officeDocument/2006/relationships/image" Target="../media/image13.svg"/><Relationship Id="rId5" Type="http://schemas.openxmlformats.org/officeDocument/2006/relationships/image" Target="../media/image14.svg"/><Relationship Id="rId6" Type="http://schemas.openxmlformats.org/officeDocument/2006/relationships/image" Target="../media/image29.sv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image" Target="../media/image12.svg"/><Relationship Id="rId4" Type="http://schemas.openxmlformats.org/officeDocument/2006/relationships/image" Target="../media/image13.svg"/><Relationship Id="rId5" Type="http://schemas.openxmlformats.org/officeDocument/2006/relationships/image" Target="../media/image14.svg"/><Relationship Id="rId6" Type="http://schemas.openxmlformats.org/officeDocument/2006/relationships/image" Target="../media/image29.sv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 Id="rId3" Type="http://schemas.openxmlformats.org/officeDocument/2006/relationships/image" Target="../media/image12.svg"/><Relationship Id="rId4" Type="http://schemas.openxmlformats.org/officeDocument/2006/relationships/image" Target="../media/image13.svg"/><Relationship Id="rId5" Type="http://schemas.openxmlformats.org/officeDocument/2006/relationships/image" Target="../media/image14.svg"/><Relationship Id="rId6" Type="http://schemas.openxmlformats.org/officeDocument/2006/relationships/image" Target="../media/image29.sv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 Id="rId3" Type="http://schemas.openxmlformats.org/officeDocument/2006/relationships/image" Target="../media/image12.svg"/><Relationship Id="rId4" Type="http://schemas.openxmlformats.org/officeDocument/2006/relationships/image" Target="../media/image13.svg"/><Relationship Id="rId5" Type="http://schemas.openxmlformats.org/officeDocument/2006/relationships/image" Target="../media/image14.svg"/><Relationship Id="rId6" Type="http://schemas.openxmlformats.org/officeDocument/2006/relationships/image" Target="../media/image29.sv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 Id="rId3" Type="http://schemas.openxmlformats.org/officeDocument/2006/relationships/image" Target="../media/image12.svg"/><Relationship Id="rId4" Type="http://schemas.openxmlformats.org/officeDocument/2006/relationships/image" Target="../media/image13.svg"/><Relationship Id="rId5" Type="http://schemas.openxmlformats.org/officeDocument/2006/relationships/image" Target="../media/image14.svg"/><Relationship Id="rId6" Type="http://schemas.openxmlformats.org/officeDocument/2006/relationships/image" Target="../media/image29.sv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 Id="rId3" Type="http://schemas.openxmlformats.org/officeDocument/2006/relationships/image" Target="../media/image12.svg"/><Relationship Id="rId4" Type="http://schemas.openxmlformats.org/officeDocument/2006/relationships/image" Target="../media/image13.svg"/><Relationship Id="rId5" Type="http://schemas.openxmlformats.org/officeDocument/2006/relationships/image" Target="../media/image14.svg"/><Relationship Id="rId6" Type="http://schemas.openxmlformats.org/officeDocument/2006/relationships/image" Target="../media/image29.sv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 Id="rId3" Type="http://schemas.openxmlformats.org/officeDocument/2006/relationships/image" Target="../media/image12.svg"/><Relationship Id="rId4" Type="http://schemas.openxmlformats.org/officeDocument/2006/relationships/image" Target="../media/image13.svg"/><Relationship Id="rId5" Type="http://schemas.openxmlformats.org/officeDocument/2006/relationships/image" Target="../media/image14.svg"/><Relationship Id="rId6" Type="http://schemas.openxmlformats.org/officeDocument/2006/relationships/image" Target="../media/image29.sv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 Id="rId3" Type="http://schemas.openxmlformats.org/officeDocument/2006/relationships/image" Target="../media/image12.svg"/><Relationship Id="rId4" Type="http://schemas.openxmlformats.org/officeDocument/2006/relationships/image" Target="../media/image13.svg"/><Relationship Id="rId5" Type="http://schemas.openxmlformats.org/officeDocument/2006/relationships/image" Target="../media/image14.svg"/><Relationship Id="rId6" Type="http://schemas.openxmlformats.org/officeDocument/2006/relationships/image" Target="../media/image29.sv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 Id="rId3" Type="http://schemas.openxmlformats.org/officeDocument/2006/relationships/image" Target="../media/image12.svg"/><Relationship Id="rId4" Type="http://schemas.openxmlformats.org/officeDocument/2006/relationships/image" Target="../media/image13.svg"/><Relationship Id="rId5" Type="http://schemas.openxmlformats.org/officeDocument/2006/relationships/image" Target="../media/image14.svg"/><Relationship Id="rId6" Type="http://schemas.openxmlformats.org/officeDocument/2006/relationships/image" Target="../media/image29.sv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 Id="rId3" Type="http://schemas.openxmlformats.org/officeDocument/2006/relationships/image" Target="../media/image12.svg"/><Relationship Id="rId4" Type="http://schemas.openxmlformats.org/officeDocument/2006/relationships/image" Target="../media/image13.svg"/><Relationship Id="rId5" Type="http://schemas.openxmlformats.org/officeDocument/2006/relationships/image" Target="../media/image14.svg"/><Relationship Id="rId6" Type="http://schemas.openxmlformats.org/officeDocument/2006/relationships/image" Target="../media/image29.sv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 Id="rId3" Type="http://schemas.openxmlformats.org/officeDocument/2006/relationships/image" Target="../media/image12.svg"/><Relationship Id="rId4" Type="http://schemas.openxmlformats.org/officeDocument/2006/relationships/image" Target="../media/image13.svg"/><Relationship Id="rId5" Type="http://schemas.openxmlformats.org/officeDocument/2006/relationships/image" Target="../media/image14.svg"/><Relationship Id="rId6" Type="http://schemas.openxmlformats.org/officeDocument/2006/relationships/image" Target="../media/image29.sv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 Id="rId3" Type="http://schemas.openxmlformats.org/officeDocument/2006/relationships/image" Target="../media/image12.svg"/><Relationship Id="rId4" Type="http://schemas.openxmlformats.org/officeDocument/2006/relationships/image" Target="../media/image13.svg"/><Relationship Id="rId5" Type="http://schemas.openxmlformats.org/officeDocument/2006/relationships/image" Target="../media/image14.svg"/><Relationship Id="rId6" Type="http://schemas.openxmlformats.org/officeDocument/2006/relationships/image" Target="../media/image29.sv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 Id="rId3" Type="http://schemas.openxmlformats.org/officeDocument/2006/relationships/image" Target="../media/image12.svg"/><Relationship Id="rId4" Type="http://schemas.openxmlformats.org/officeDocument/2006/relationships/image" Target="../media/image13.svg"/><Relationship Id="rId5" Type="http://schemas.openxmlformats.org/officeDocument/2006/relationships/image" Target="../media/image14.svg"/><Relationship Id="rId6" Type="http://schemas.openxmlformats.org/officeDocument/2006/relationships/image" Target="../media/image29.sv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 Id="rId3" Type="http://schemas.openxmlformats.org/officeDocument/2006/relationships/image" Target="../media/image12.svg"/><Relationship Id="rId4" Type="http://schemas.openxmlformats.org/officeDocument/2006/relationships/image" Target="../media/image13.svg"/><Relationship Id="rId5" Type="http://schemas.openxmlformats.org/officeDocument/2006/relationships/image" Target="../media/image14.svg"/><Relationship Id="rId6" Type="http://schemas.openxmlformats.org/officeDocument/2006/relationships/image" Target="../media/image29.sv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 Id="rId3" Type="http://schemas.openxmlformats.org/officeDocument/2006/relationships/image" Target="../media/image12.svg"/><Relationship Id="rId4" Type="http://schemas.openxmlformats.org/officeDocument/2006/relationships/image" Target="../media/image13.svg"/><Relationship Id="rId5" Type="http://schemas.openxmlformats.org/officeDocument/2006/relationships/image" Target="../media/image14.svg"/><Relationship Id="rId6" Type="http://schemas.openxmlformats.org/officeDocument/2006/relationships/image" Target="../media/image29.sv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 Id="rId3" Type="http://schemas.openxmlformats.org/officeDocument/2006/relationships/image" Target="../media/image12.svg"/><Relationship Id="rId4" Type="http://schemas.openxmlformats.org/officeDocument/2006/relationships/image" Target="../media/image13.svg"/><Relationship Id="rId5" Type="http://schemas.openxmlformats.org/officeDocument/2006/relationships/image" Target="../media/image14.svg"/><Relationship Id="rId6" Type="http://schemas.openxmlformats.org/officeDocument/2006/relationships/image" Target="../media/image29.sv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 Id="rId3" Type="http://schemas.openxmlformats.org/officeDocument/2006/relationships/image" Target="../media/image12.svg"/><Relationship Id="rId4" Type="http://schemas.openxmlformats.org/officeDocument/2006/relationships/image" Target="../media/image13.svg"/><Relationship Id="rId5" Type="http://schemas.openxmlformats.org/officeDocument/2006/relationships/image" Target="../media/image14.svg"/><Relationship Id="rId6" Type="http://schemas.openxmlformats.org/officeDocument/2006/relationships/image" Target="../media/image29.sv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 Id="rId3" Type="http://schemas.openxmlformats.org/officeDocument/2006/relationships/image" Target="../media/image12.svg"/><Relationship Id="rId4" Type="http://schemas.openxmlformats.org/officeDocument/2006/relationships/image" Target="../media/image13.svg"/><Relationship Id="rId5" Type="http://schemas.openxmlformats.org/officeDocument/2006/relationships/image" Target="../media/image14.svg"/><Relationship Id="rId6" Type="http://schemas.openxmlformats.org/officeDocument/2006/relationships/image" Target="../media/image29.svg"/><Relationship Id="rId7" Type="http://schemas.openxmlformats.org/officeDocument/2006/relationships/image" Target="../media/image30.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 Id="rId3" Type="http://schemas.openxmlformats.org/officeDocument/2006/relationships/image" Target="../media/image12.svg"/><Relationship Id="rId4" Type="http://schemas.openxmlformats.org/officeDocument/2006/relationships/image" Target="../media/image13.svg"/><Relationship Id="rId5" Type="http://schemas.openxmlformats.org/officeDocument/2006/relationships/image" Target="../media/image14.svg"/><Relationship Id="rId6" Type="http://schemas.openxmlformats.org/officeDocument/2006/relationships/image" Target="../media/image31.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 Id="rId3" Type="http://schemas.openxmlformats.org/officeDocument/2006/relationships/image" Target="../media/image12.svg"/><Relationship Id="rId4" Type="http://schemas.openxmlformats.org/officeDocument/2006/relationships/image" Target="../media/image13.svg"/><Relationship Id="rId5" Type="http://schemas.openxmlformats.org/officeDocument/2006/relationships/image" Target="../media/image14.svg"/><Relationship Id="rId6" Type="http://schemas.openxmlformats.org/officeDocument/2006/relationships/image" Target="../media/image31.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 Id="rId3" Type="http://schemas.openxmlformats.org/officeDocument/2006/relationships/image" Target="../media/image12.svg"/><Relationship Id="rId4" Type="http://schemas.openxmlformats.org/officeDocument/2006/relationships/image" Target="../media/image13.svg"/><Relationship Id="rId5" Type="http://schemas.openxmlformats.org/officeDocument/2006/relationships/image" Target="../media/image14.svg"/><Relationship Id="rId6" Type="http://schemas.openxmlformats.org/officeDocument/2006/relationships/image" Target="../media/image31.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 Id="rId3" Type="http://schemas.openxmlformats.org/officeDocument/2006/relationships/image" Target="../media/image12.svg"/><Relationship Id="rId4" Type="http://schemas.openxmlformats.org/officeDocument/2006/relationships/image" Target="../media/image13.svg"/><Relationship Id="rId5" Type="http://schemas.openxmlformats.org/officeDocument/2006/relationships/image" Target="../media/image14.svg"/><Relationship Id="rId6" Type="http://schemas.openxmlformats.org/officeDocument/2006/relationships/image" Target="../media/image31.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 Id="rId3" Type="http://schemas.openxmlformats.org/officeDocument/2006/relationships/image" Target="../media/image12.svg"/><Relationship Id="rId4" Type="http://schemas.openxmlformats.org/officeDocument/2006/relationships/image" Target="../media/image13.svg"/><Relationship Id="rId5" Type="http://schemas.openxmlformats.org/officeDocument/2006/relationships/image" Target="../media/image14.svg"/><Relationship Id="rId6" Type="http://schemas.openxmlformats.org/officeDocument/2006/relationships/image" Target="../media/image31.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 Id="rId3" Type="http://schemas.openxmlformats.org/officeDocument/2006/relationships/image" Target="../media/image12.svg"/><Relationship Id="rId4" Type="http://schemas.openxmlformats.org/officeDocument/2006/relationships/image" Target="../media/image13.svg"/><Relationship Id="rId5" Type="http://schemas.openxmlformats.org/officeDocument/2006/relationships/image" Target="../media/image14.svg"/><Relationship Id="rId6" Type="http://schemas.openxmlformats.org/officeDocument/2006/relationships/image" Target="../media/image31.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 Id="rId3" Type="http://schemas.openxmlformats.org/officeDocument/2006/relationships/image" Target="../media/image12.svg"/><Relationship Id="rId4" Type="http://schemas.openxmlformats.org/officeDocument/2006/relationships/image" Target="../media/image13.svg"/><Relationship Id="rId5" Type="http://schemas.openxmlformats.org/officeDocument/2006/relationships/image" Target="../media/image14.svg"/><Relationship Id="rId6" Type="http://schemas.openxmlformats.org/officeDocument/2006/relationships/image" Target="../media/image31.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 Id="rId3" Type="http://schemas.openxmlformats.org/officeDocument/2006/relationships/image" Target="../media/image12.svg"/><Relationship Id="rId4" Type="http://schemas.openxmlformats.org/officeDocument/2006/relationships/image" Target="../media/image13.svg"/><Relationship Id="rId5" Type="http://schemas.openxmlformats.org/officeDocument/2006/relationships/image" Target="../media/image14.svg"/><Relationship Id="rId6" Type="http://schemas.openxmlformats.org/officeDocument/2006/relationships/image" Target="../media/image31.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svg"/><Relationship Id="rId3" Type="http://schemas.openxmlformats.org/officeDocument/2006/relationships/image" Target="../media/image13.svg"/><Relationship Id="rId4" Type="http://schemas.openxmlformats.org/officeDocument/2006/relationships/image" Target="../media/image14.svg"/><Relationship Id="rId5" Type="http://schemas.openxmlformats.org/officeDocument/2006/relationships/image" Target="../media/image15.sv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 Id="rId3" Type="http://schemas.openxmlformats.org/officeDocument/2006/relationships/image" Target="../media/image12.svg"/><Relationship Id="rId4" Type="http://schemas.openxmlformats.org/officeDocument/2006/relationships/image" Target="../media/image13.svg"/><Relationship Id="rId5" Type="http://schemas.openxmlformats.org/officeDocument/2006/relationships/image" Target="../media/image15.svg"/><Relationship Id="rId6" Type="http://schemas.openxmlformats.org/officeDocument/2006/relationships/image" Target="../media/image14.sv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svg"/><Relationship Id="rId3" Type="http://schemas.openxmlformats.org/officeDocument/2006/relationships/image" Target="../media/image13.svg"/><Relationship Id="rId4" Type="http://schemas.openxmlformats.org/officeDocument/2006/relationships/image" Target="../media/image14.svg"/><Relationship Id="rId5" Type="http://schemas.openxmlformats.org/officeDocument/2006/relationships/image" Target="../media/image15.sv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svg"/><Relationship Id="rId3" Type="http://schemas.openxmlformats.org/officeDocument/2006/relationships/image" Target="../media/image13.svg"/><Relationship Id="rId4" Type="http://schemas.openxmlformats.org/officeDocument/2006/relationships/image" Target="../media/image14.svg"/><Relationship Id="rId5" Type="http://schemas.openxmlformats.org/officeDocument/2006/relationships/image" Target="../media/image15.sv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 Id="rId3" Type="http://schemas.openxmlformats.org/officeDocument/2006/relationships/image" Target="../media/image12.svg"/><Relationship Id="rId4" Type="http://schemas.openxmlformats.org/officeDocument/2006/relationships/image" Target="../media/image13.svg"/><Relationship Id="rId5" Type="http://schemas.openxmlformats.org/officeDocument/2006/relationships/image" Target="../media/image14.svg"/><Relationship Id="rId6" Type="http://schemas.openxmlformats.org/officeDocument/2006/relationships/image" Target="../media/image15.sv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 Id="rId3" Type="http://schemas.openxmlformats.org/officeDocument/2006/relationships/image" Target="../media/image12.svg"/><Relationship Id="rId4" Type="http://schemas.openxmlformats.org/officeDocument/2006/relationships/image" Target="../media/image13.svg"/><Relationship Id="rId5" Type="http://schemas.openxmlformats.org/officeDocument/2006/relationships/image" Target="../media/image14.svg"/><Relationship Id="rId6" Type="http://schemas.openxmlformats.org/officeDocument/2006/relationships/image" Target="../media/image15.sv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svg"/><Relationship Id="rId3" Type="http://schemas.openxmlformats.org/officeDocument/2006/relationships/image" Target="../media/image13.svg"/><Relationship Id="rId4" Type="http://schemas.openxmlformats.org/officeDocument/2006/relationships/image" Target="../media/image14.svg"/><Relationship Id="rId5" Type="http://schemas.openxmlformats.org/officeDocument/2006/relationships/image" Target="../media/image15.sv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 Id="rId3" Type="http://schemas.openxmlformats.org/officeDocument/2006/relationships/image" Target="../media/image12.svg"/><Relationship Id="rId4" Type="http://schemas.openxmlformats.org/officeDocument/2006/relationships/image" Target="../media/image13.svg"/><Relationship Id="rId5" Type="http://schemas.openxmlformats.org/officeDocument/2006/relationships/image" Target="../media/image14.svg"/><Relationship Id="rId6" Type="http://schemas.openxmlformats.org/officeDocument/2006/relationships/image" Target="../media/image15.sv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svg"/><Relationship Id="rId3" Type="http://schemas.openxmlformats.org/officeDocument/2006/relationships/image" Target="../media/image13.svg"/><Relationship Id="rId4" Type="http://schemas.openxmlformats.org/officeDocument/2006/relationships/image" Target="../media/image14.svg"/><Relationship Id="rId5" Type="http://schemas.openxmlformats.org/officeDocument/2006/relationships/image" Target="../media/image15.sv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svg"/><Relationship Id="rId3" Type="http://schemas.openxmlformats.org/officeDocument/2006/relationships/image" Target="../media/image13.svg"/><Relationship Id="rId4" Type="http://schemas.openxmlformats.org/officeDocument/2006/relationships/image" Target="../media/image14.svg"/><Relationship Id="rId5" Type="http://schemas.openxmlformats.org/officeDocument/2006/relationships/image" Target="../media/image15.sv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 Id="rId3" Type="http://schemas.openxmlformats.org/officeDocument/2006/relationships/image" Target="../media/image12.svg"/><Relationship Id="rId4" Type="http://schemas.openxmlformats.org/officeDocument/2006/relationships/image" Target="../media/image13.svg"/><Relationship Id="rId5" Type="http://schemas.openxmlformats.org/officeDocument/2006/relationships/image" Target="../media/image14.svg"/><Relationship Id="rId6" Type="http://schemas.openxmlformats.org/officeDocument/2006/relationships/image" Target="../media/image15.sv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 Id="rId3" Type="http://schemas.openxmlformats.org/officeDocument/2006/relationships/image" Target="../media/image12.svg"/><Relationship Id="rId4" Type="http://schemas.openxmlformats.org/officeDocument/2006/relationships/image" Target="../media/image13.svg"/><Relationship Id="rId5" Type="http://schemas.openxmlformats.org/officeDocument/2006/relationships/image" Target="../media/image14.svg"/><Relationship Id="rId6" Type="http://schemas.openxmlformats.org/officeDocument/2006/relationships/image" Target="../media/image15.sv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svg"/><Relationship Id="rId3" Type="http://schemas.openxmlformats.org/officeDocument/2006/relationships/image" Target="../media/image13.svg"/><Relationship Id="rId4" Type="http://schemas.openxmlformats.org/officeDocument/2006/relationships/image" Target="../media/image14.svg"/><Relationship Id="rId5" Type="http://schemas.openxmlformats.org/officeDocument/2006/relationships/image" Target="../media/image15.sv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svg"/><Relationship Id="rId3" Type="http://schemas.openxmlformats.org/officeDocument/2006/relationships/image" Target="../media/image13.svg"/><Relationship Id="rId4" Type="http://schemas.openxmlformats.org/officeDocument/2006/relationships/image" Target="../media/image14.svg"/><Relationship Id="rId5" Type="http://schemas.openxmlformats.org/officeDocument/2006/relationships/image" Target="../media/image15.sv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 Id="rId3" Type="http://schemas.openxmlformats.org/officeDocument/2006/relationships/image" Target="../media/image12.svg"/><Relationship Id="rId4" Type="http://schemas.openxmlformats.org/officeDocument/2006/relationships/image" Target="../media/image13.svg"/><Relationship Id="rId5" Type="http://schemas.openxmlformats.org/officeDocument/2006/relationships/image" Target="../media/image14.svg"/><Relationship Id="rId6" Type="http://schemas.openxmlformats.org/officeDocument/2006/relationships/image" Target="../media/image15.sv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svg"/><Relationship Id="rId3" Type="http://schemas.openxmlformats.org/officeDocument/2006/relationships/image" Target="../media/image13.svg"/><Relationship Id="rId4" Type="http://schemas.openxmlformats.org/officeDocument/2006/relationships/image" Target="../media/image14.svg"/><Relationship Id="rId5" Type="http://schemas.openxmlformats.org/officeDocument/2006/relationships/image" Target="../media/image15.sv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 Id="rId3" Type="http://schemas.openxmlformats.org/officeDocument/2006/relationships/image" Target="../media/image12.svg"/><Relationship Id="rId4" Type="http://schemas.openxmlformats.org/officeDocument/2006/relationships/image" Target="../media/image13.svg"/><Relationship Id="rId5" Type="http://schemas.openxmlformats.org/officeDocument/2006/relationships/image" Target="../media/image14.svg"/><Relationship Id="rId6" Type="http://schemas.openxmlformats.org/officeDocument/2006/relationships/image" Target="../media/image15.sv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 Id="rId3" Type="http://schemas.openxmlformats.org/officeDocument/2006/relationships/image" Target="../media/image12.svg"/><Relationship Id="rId4" Type="http://schemas.openxmlformats.org/officeDocument/2006/relationships/image" Target="../media/image13.svg"/><Relationship Id="rId5" Type="http://schemas.openxmlformats.org/officeDocument/2006/relationships/image" Target="../media/image14.svg"/><Relationship Id="rId6" Type="http://schemas.openxmlformats.org/officeDocument/2006/relationships/image" Target="../media/image15.sv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svg"/><Relationship Id="rId3" Type="http://schemas.openxmlformats.org/officeDocument/2006/relationships/image" Target="../media/image13.svg"/><Relationship Id="rId4" Type="http://schemas.openxmlformats.org/officeDocument/2006/relationships/image" Target="../media/image14.svg"/><Relationship Id="rId5" Type="http://schemas.openxmlformats.org/officeDocument/2006/relationships/image" Target="../media/image15.sv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 Id="rId3" Type="http://schemas.openxmlformats.org/officeDocument/2006/relationships/image" Target="../media/image12.svg"/><Relationship Id="rId4" Type="http://schemas.openxmlformats.org/officeDocument/2006/relationships/image" Target="../media/image13.svg"/><Relationship Id="rId5" Type="http://schemas.openxmlformats.org/officeDocument/2006/relationships/image" Target="../media/image14.svg"/><Relationship Id="rId6" Type="http://schemas.openxmlformats.org/officeDocument/2006/relationships/image" Target="../media/image15.sv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svg"/><Relationship Id="rId3" Type="http://schemas.openxmlformats.org/officeDocument/2006/relationships/image" Target="../media/image13.svg"/><Relationship Id="rId4" Type="http://schemas.openxmlformats.org/officeDocument/2006/relationships/image" Target="../media/image14.svg"/><Relationship Id="rId5" Type="http://schemas.openxmlformats.org/officeDocument/2006/relationships/image" Target="../media/image15.sv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svg"/><Relationship Id="rId3" Type="http://schemas.openxmlformats.org/officeDocument/2006/relationships/image" Target="../media/image13.svg"/><Relationship Id="rId4" Type="http://schemas.openxmlformats.org/officeDocument/2006/relationships/image" Target="../media/image14.svg"/><Relationship Id="rId5" Type="http://schemas.openxmlformats.org/officeDocument/2006/relationships/image" Target="../media/image15.sv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 Id="rId3" Type="http://schemas.openxmlformats.org/officeDocument/2006/relationships/image" Target="../media/image12.svg"/><Relationship Id="rId4" Type="http://schemas.openxmlformats.org/officeDocument/2006/relationships/image" Target="../media/image13.svg"/><Relationship Id="rId5" Type="http://schemas.openxmlformats.org/officeDocument/2006/relationships/image" Target="../media/image14.svg"/><Relationship Id="rId6" Type="http://schemas.openxmlformats.org/officeDocument/2006/relationships/image" Target="../media/image15.sv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svg"/><Relationship Id="rId3" Type="http://schemas.openxmlformats.org/officeDocument/2006/relationships/image" Target="../media/image13.svg"/><Relationship Id="rId4" Type="http://schemas.openxmlformats.org/officeDocument/2006/relationships/image" Target="../media/image14.svg"/><Relationship Id="rId5" Type="http://schemas.openxmlformats.org/officeDocument/2006/relationships/image" Target="../media/image15.sv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svg"/><Relationship Id="rId3" Type="http://schemas.openxmlformats.org/officeDocument/2006/relationships/image" Target="../media/image13.svg"/><Relationship Id="rId4" Type="http://schemas.openxmlformats.org/officeDocument/2006/relationships/image" Target="../media/image14.svg"/><Relationship Id="rId5" Type="http://schemas.openxmlformats.org/officeDocument/2006/relationships/image" Target="../media/image15.sv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svg"/><Relationship Id="rId3" Type="http://schemas.openxmlformats.org/officeDocument/2006/relationships/image" Target="../media/image13.svg"/><Relationship Id="rId4" Type="http://schemas.openxmlformats.org/officeDocument/2006/relationships/image" Target="../media/image14.svg"/><Relationship Id="rId5" Type="http://schemas.openxmlformats.org/officeDocument/2006/relationships/image" Target="../media/image15.sv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 Id="rId3" Type="http://schemas.openxmlformats.org/officeDocument/2006/relationships/image" Target="../media/image12.svg"/><Relationship Id="rId4" Type="http://schemas.openxmlformats.org/officeDocument/2006/relationships/image" Target="../media/image13.svg"/><Relationship Id="rId5" Type="http://schemas.openxmlformats.org/officeDocument/2006/relationships/image" Target="../media/image14.svg"/><Relationship Id="rId6" Type="http://schemas.openxmlformats.org/officeDocument/2006/relationships/image" Target="../media/image15.sv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 Id="rId3" Type="http://schemas.openxmlformats.org/officeDocument/2006/relationships/image" Target="../media/image12.svg"/><Relationship Id="rId4" Type="http://schemas.openxmlformats.org/officeDocument/2006/relationships/image" Target="../media/image13.svg"/><Relationship Id="rId5" Type="http://schemas.openxmlformats.org/officeDocument/2006/relationships/image" Target="../media/image14.svg"/><Relationship Id="rId6" Type="http://schemas.openxmlformats.org/officeDocument/2006/relationships/image" Target="../media/image15.sv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 Id="rId3" Type="http://schemas.openxmlformats.org/officeDocument/2006/relationships/image" Target="../media/image12.svg"/><Relationship Id="rId4" Type="http://schemas.openxmlformats.org/officeDocument/2006/relationships/image" Target="../media/image13.svg"/><Relationship Id="rId5" Type="http://schemas.openxmlformats.org/officeDocument/2006/relationships/image" Target="../media/image14.svg"/><Relationship Id="rId6" Type="http://schemas.openxmlformats.org/officeDocument/2006/relationships/image" Target="../media/image15.sv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svg"/><Relationship Id="rId3" Type="http://schemas.openxmlformats.org/officeDocument/2006/relationships/image" Target="../media/image13.svg"/><Relationship Id="rId4" Type="http://schemas.openxmlformats.org/officeDocument/2006/relationships/image" Target="../media/image14.svg"/><Relationship Id="rId5" Type="http://schemas.openxmlformats.org/officeDocument/2006/relationships/image" Target="../media/image15.sv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svg"/><Relationship Id="rId3" Type="http://schemas.openxmlformats.org/officeDocument/2006/relationships/image" Target="../media/image13.svg"/><Relationship Id="rId4" Type="http://schemas.openxmlformats.org/officeDocument/2006/relationships/image" Target="../media/image14.svg"/><Relationship Id="rId5" Type="http://schemas.openxmlformats.org/officeDocument/2006/relationships/image" Target="../media/image15.sv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svg"/><Relationship Id="rId3" Type="http://schemas.openxmlformats.org/officeDocument/2006/relationships/image" Target="../media/image13.svg"/><Relationship Id="rId4" Type="http://schemas.openxmlformats.org/officeDocument/2006/relationships/image" Target="../media/image14.svg"/><Relationship Id="rId5" Type="http://schemas.openxmlformats.org/officeDocument/2006/relationships/image" Target="../media/image15.sv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svg"/><Relationship Id="rId3" Type="http://schemas.openxmlformats.org/officeDocument/2006/relationships/image" Target="../media/image13.svg"/><Relationship Id="rId4" Type="http://schemas.openxmlformats.org/officeDocument/2006/relationships/image" Target="../media/image14.svg"/><Relationship Id="rId5" Type="http://schemas.openxmlformats.org/officeDocument/2006/relationships/image" Target="../media/image15.sv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svg"/><Relationship Id="rId3" Type="http://schemas.openxmlformats.org/officeDocument/2006/relationships/image" Target="../media/image13.svg"/><Relationship Id="rId4" Type="http://schemas.openxmlformats.org/officeDocument/2006/relationships/image" Target="../media/image14.svg"/><Relationship Id="rId5" Type="http://schemas.openxmlformats.org/officeDocument/2006/relationships/image" Target="../media/image15.sv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svg"/><Relationship Id="rId3" Type="http://schemas.openxmlformats.org/officeDocument/2006/relationships/image" Target="../media/image13.svg"/><Relationship Id="rId4" Type="http://schemas.openxmlformats.org/officeDocument/2006/relationships/image" Target="../media/image14.svg"/><Relationship Id="rId5" Type="http://schemas.openxmlformats.org/officeDocument/2006/relationships/image" Target="../media/image15.sv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svg"/><Relationship Id="rId3" Type="http://schemas.openxmlformats.org/officeDocument/2006/relationships/image" Target="../media/image13.svg"/><Relationship Id="rId4" Type="http://schemas.openxmlformats.org/officeDocument/2006/relationships/image" Target="../media/image14.svg"/><Relationship Id="rId5" Type="http://schemas.openxmlformats.org/officeDocument/2006/relationships/image" Target="../media/image15.sv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svg"/><Relationship Id="rId3" Type="http://schemas.openxmlformats.org/officeDocument/2006/relationships/image" Target="../media/image13.svg"/><Relationship Id="rId4" Type="http://schemas.openxmlformats.org/officeDocument/2006/relationships/image" Target="../media/image14.svg"/><Relationship Id="rId5" Type="http://schemas.openxmlformats.org/officeDocument/2006/relationships/image" Target="../media/image15.sv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svg"/><Relationship Id="rId3" Type="http://schemas.openxmlformats.org/officeDocument/2006/relationships/image" Target="../media/image13.svg"/><Relationship Id="rId4" Type="http://schemas.openxmlformats.org/officeDocument/2006/relationships/image" Target="../media/image14.svg"/><Relationship Id="rId5" Type="http://schemas.openxmlformats.org/officeDocument/2006/relationships/image" Target="../media/image15.sv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 Id="rId3" Type="http://schemas.openxmlformats.org/officeDocument/2006/relationships/image" Target="../media/image1.svg"/><Relationship Id="rId4" Type="http://schemas.openxmlformats.org/officeDocument/2006/relationships/image" Target="../media/image2.svg"/><Relationship Id="rId5" Type="http://schemas.openxmlformats.org/officeDocument/2006/relationships/image" Target="../media/image4.svg"/><Relationship Id="rId6" Type="http://schemas.openxmlformats.org/officeDocument/2006/relationships/image" Target="../media/image3.svg"/><Relationship Id="rId7" Type="http://schemas.openxmlformats.org/officeDocument/2006/relationships/image" Target="../media/image5.sv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svg"/><Relationship Id="rId3" Type="http://schemas.openxmlformats.org/officeDocument/2006/relationships/image" Target="../media/image13.svg"/><Relationship Id="rId4" Type="http://schemas.openxmlformats.org/officeDocument/2006/relationships/image" Target="../media/image14.svg"/><Relationship Id="rId5" Type="http://schemas.openxmlformats.org/officeDocument/2006/relationships/image" Target="../media/image15.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32" name="Picture 2"/>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8100" y="-2324100"/>
            <a:ext cx="18326100" cy="11264900"/>
          </a:xfrm>
          <a:prstGeom prst="rect">
            <a:avLst/>
          </a:prstGeom>
        </p:spPr>
      </p:pic>
      <p:pic>
        <p:nvPicPr>
          <p:cNvPr id="5033" name="Picture 3"/>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700" y="-12700"/>
            <a:ext cx="18313400" cy="215900"/>
          </a:xfrm>
          <a:prstGeom prst="rect">
            <a:avLst/>
          </a:prstGeom>
        </p:spPr>
      </p:pic>
      <p:pic>
        <p:nvPicPr>
          <p:cNvPr id="5034" name="Picture 4"/>
          <p:cNvPicPr>
            <a:picLocks noChangeAspect="1"/>
          </p:cNvPicPr>
          <p:nvPr/>
        </p:nvPicPr>
        <p:blipFill>
          <a:blip>
            <a:alphaModFix amt="15000"/>
            <a:extLst>
              <a:ext uri="{96DAC541-7B7A-43D3-8B79-37D633B846F1}">
                <asvg:svgBlip xmlns:asvg="http://schemas.microsoft.com/office/drawing/2016/SVG/main" r:embed="rId5"/>
              </a:ext>
            </a:extLst>
          </a:blip>
          <a:stretch>
            <a:fillRect/>
          </a:stretch>
        </p:blipFill>
        <p:spPr>
          <a:xfrm>
            <a:off x="7353300" y="7645400"/>
            <a:ext cx="8470900" cy="1358900"/>
          </a:xfrm>
          <a:prstGeom prst="rect">
            <a:avLst/>
          </a:prstGeom>
        </p:spPr>
      </p:pic>
      <p:pic>
        <p:nvPicPr>
          <p:cNvPr id="5035" name="Picture 5"/>
          <p:cNvPicPr>
            <a:picLocks noChangeAspect="1"/>
          </p:cNvPicPr>
          <p:nvPr/>
        </p:nvPicPr>
        <p:blipFill>
          <a:blip>
            <a:alphaModFix amt="15000"/>
            <a:extLst>
              <a:ext uri="{96DAC541-7B7A-43D3-8B79-37D633B846F1}">
                <asvg:svgBlip xmlns:asvg="http://schemas.microsoft.com/office/drawing/2016/SVG/main" r:embed="rId6"/>
              </a:ext>
            </a:extLst>
          </a:blip>
          <a:stretch>
            <a:fillRect/>
          </a:stretch>
        </p:blipFill>
        <p:spPr>
          <a:xfrm>
            <a:off x="165100" y="7645400"/>
            <a:ext cx="8470900" cy="1358900"/>
          </a:xfrm>
          <a:prstGeom prst="rect">
            <a:avLst/>
          </a:prstGeom>
        </p:spPr>
      </p:pic>
      <p:pic>
        <p:nvPicPr>
          <p:cNvPr id="5036" name="Picture 8"/>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2700" y="8940800"/>
            <a:ext cx="18313400" cy="1358900"/>
          </a:xfrm>
          <a:prstGeom prst="rect">
            <a:avLst/>
          </a:prstGeom>
        </p:spPr>
      </p:pic>
      <p:pic>
        <p:nvPicPr>
          <p:cNvPr id="5037" name="Picture 9"/>
          <p:cNvPicPr>
            <a:picLocks noChangeAspect="1"/>
          </p:cNvPicPr>
          <p:nvPr/>
        </p:nvPicPr>
        <p:blipFill>
          <a:blip>
            <a:alphaModFix amt="20000"/>
            <a:extLst>
              <a:ext uri="{96DAC541-7B7A-43D3-8B79-37D633B846F1}">
                <asvg:svgBlip xmlns:asvg="http://schemas.microsoft.com/office/drawing/2016/SVG/main" r:embed="rId8"/>
              </a:ext>
            </a:extLst>
          </a:blip>
          <a:stretch>
            <a:fillRect/>
          </a:stretch>
        </p:blipFill>
        <p:spPr>
          <a:xfrm>
            <a:off x="11049000" y="3759200"/>
            <a:ext cx="304800" cy="304800"/>
          </a:xfrm>
          <a:prstGeom prst="rect">
            <a:avLst/>
          </a:prstGeom>
        </p:spPr>
      </p:pic>
      <p:pic>
        <p:nvPicPr>
          <p:cNvPr id="5038" name="Picture 10"/>
          <p:cNvPicPr>
            <a:picLocks noChangeAspect="1"/>
          </p:cNvPicPr>
          <p:nvPr/>
        </p:nvPicPr>
        <p:blipFill>
          <a:blip>
            <a:alphaModFix amt="20000"/>
            <a:extLst>
              <a:ext uri="{96DAC541-7B7A-43D3-8B79-37D633B846F1}">
                <asvg:svgBlip xmlns:asvg="http://schemas.microsoft.com/office/drawing/2016/SVG/main" r:embed="rId9"/>
              </a:ext>
            </a:extLst>
          </a:blip>
          <a:stretch>
            <a:fillRect/>
          </a:stretch>
        </p:blipFill>
        <p:spPr>
          <a:xfrm>
            <a:off x="16090900" y="3098800"/>
            <a:ext cx="812800" cy="939800"/>
          </a:xfrm>
          <a:prstGeom prst="rect">
            <a:avLst/>
          </a:prstGeom>
        </p:spPr>
      </p:pic>
      <p:pic>
        <p:nvPicPr>
          <p:cNvPr id="5039" name="Picture 11"/>
          <p:cNvPicPr>
            <a:picLocks noChangeAspect="1"/>
          </p:cNvPicPr>
          <p:nvPr/>
        </p:nvPicPr>
        <p:blipFill>
          <a:blip>
            <a:alphaModFix amt="20000"/>
            <a:extLst>
              <a:ext uri="{96DAC541-7B7A-43D3-8B79-37D633B846F1}">
                <asvg:svgBlip xmlns:asvg="http://schemas.microsoft.com/office/drawing/2016/SVG/main" r:embed="rId10"/>
              </a:ext>
            </a:extLst>
          </a:blip>
          <a:stretch>
            <a:fillRect/>
          </a:stretch>
        </p:blipFill>
        <p:spPr>
          <a:xfrm>
            <a:off x="11188700" y="2120900"/>
            <a:ext cx="190500" cy="190500"/>
          </a:xfrm>
          <a:prstGeom prst="rect">
            <a:avLst/>
          </a:prstGeom>
        </p:spPr>
      </p:pic>
      <p:pic>
        <p:nvPicPr>
          <p:cNvPr id="5040" name="Picture 12"/>
          <p:cNvPicPr>
            <a:picLocks noChangeAspect="1"/>
          </p:cNvPicPr>
          <p:nvPr/>
        </p:nvPicPr>
        <p:blipFill>
          <a:blip>
            <a:alphaModFix amt="20000"/>
            <a:extLst>
              <a:ext uri="{96DAC541-7B7A-43D3-8B79-37D633B846F1}">
                <asvg:svgBlip xmlns:asvg="http://schemas.microsoft.com/office/drawing/2016/SVG/main" r:embed="rId11"/>
              </a:ext>
            </a:extLst>
          </a:blip>
          <a:stretch>
            <a:fillRect/>
          </a:stretch>
        </p:blipFill>
        <p:spPr>
          <a:xfrm>
            <a:off x="16014700" y="1917700"/>
            <a:ext cx="228600" cy="228600"/>
          </a:xfrm>
          <a:prstGeom prst="rect">
            <a:avLst/>
          </a:prstGeom>
        </p:spPr>
      </p:pic>
      <p:pic>
        <p:nvPicPr>
          <p:cNvPr id="5041" name="Picture 13"/>
          <p:cNvPicPr>
            <a:picLocks noChangeAspect="1"/>
          </p:cNvPicPr>
          <p:nvPr/>
        </p:nvPicPr>
        <p:blipFill>
          <a:blip>
            <a:alphaModFix amt="20000"/>
            <a:extLst>
              <a:ext uri="{96DAC541-7B7A-43D3-8B79-37D633B846F1}">
                <asvg:svgBlip xmlns:asvg="http://schemas.microsoft.com/office/drawing/2016/SVG/main" r:embed="rId12"/>
              </a:ext>
            </a:extLst>
          </a:blip>
          <a:stretch>
            <a:fillRect/>
          </a:stretch>
        </p:blipFill>
        <p:spPr>
          <a:xfrm rot="2700000">
            <a:off x="13487400" y="1612900"/>
            <a:ext cx="266700" cy="266700"/>
          </a:xfrm>
          <a:prstGeom prst="rect">
            <a:avLst/>
          </a:prstGeom>
        </p:spPr>
      </p:pic>
      <p:pic>
        <p:nvPicPr>
          <p:cNvPr id="5042" name="그림 13"/>
          <p:cNvPicPr>
            <a:picLocks noChangeAspect="1"/>
          </p:cNvPicPr>
          <p:nvPr/>
        </p:nvPicPr>
        <p:blipFill>
          <a:blip r:embed="rId13"/>
          <a:stretch>
            <a:fillRect/>
          </a:stretch>
        </p:blipFill>
        <p:spPr>
          <a:xfrm>
            <a:off x="17068800" y="393647"/>
            <a:ext cx="1016053" cy="1016053"/>
          </a:xfrm>
          <a:prstGeom prst="rect">
            <a:avLst/>
          </a:prstGeom>
        </p:spPr>
      </p:pic>
      <p:sp>
        <p:nvSpPr>
          <p:cNvPr id="5012" name="Text 2">
            <a:extLst>
              <a:ext uri="{FF2B5EF4-FFF2-40B4-BE49-F238E27FC236}">
                <a16:creationId xmlns:a16="http://schemas.microsoft.com/office/drawing/2014/main" id="{248666E2-7712-8001-9DD7-F072F760F5BA}"/>
              </a:ext>
            </a:extLst>
          </p:cNvPr>
          <p:cNvSpPr>
            <a:spLocks noGrp="1"/>
          </p:cNvSpPr>
          <p:nvPr/>
        </p:nvSpPr>
        <p:spPr>
          <a:xfrm>
            <a:off x="11430000" y="779727"/>
            <a:ext cx="5441320" cy="363220"/>
          </a:xfrm>
          <a:prstGeom prst="rect">
            <a:avLst/>
          </a:prstGeom>
          <a:noFill/>
        </p:spPr>
        <p:txBody>
          <a:bodyPr wrap="square" lIns="0" tIns="0" rIns="0" bIns="0" anchor="ctr"/>
          <a:lstStyle/>
          <a:p>
            <a:pPr algn="r">
              <a:buNone/>
            </a:pPr>
            <a:r>
              <a:rPr sz="2200" spc="100">
                <a:solidFill>
                  <a:srgbClr val="6B7280"/>
                </a:solidFill>
                <a:latin typeface="Malgun Gothic"/>
                <a:ea typeface="Malgun Gothic"/>
                <a:cs typeface="Malgun Gothic"/>
              </a:rPr>
              <a:t>WILDFIRE RESPONSE AI</a:t>
            </a:r>
            <a:endParaRPr sz="2200"/>
          </a:p>
        </p:txBody>
      </p:sp>
      <p:sp>
        <p:nvSpPr>
          <p:cNvPr id="5013" name="TextBox 5012">
            <a:extLst>
              <a:ext uri="{FF2B5EF4-FFF2-40B4-BE49-F238E27FC236}">
                <a16:creationId xmlns:a16="http://schemas.microsoft.com/office/drawing/2014/main" id="{2927E57B-BC3B-42D9-A81A-42142CF34D29}"/>
              </a:ext>
            </a:extLst>
          </p:cNvPr>
          <p:cNvSpPr>
            <a:spLocks noGrp="1"/>
          </p:cNvSpPr>
          <p:nvPr/>
        </p:nvSpPr>
        <p:spPr>
          <a:xfrm>
            <a:off x="1892807" y="2057400"/>
            <a:ext cx="8686800" cy="658368"/>
          </a:xfrm>
          <a:prstGeom prst="rect">
            <a:avLst/>
          </a:prstGeom>
          <a:noFill/>
        </p:spPr>
        <p:txBody>
          <a:bodyPr wrap="square" lIns="0" tIns="0" rIns="0" bIns="0" anchor="t">
            <a:spAutoFit/>
          </a:bodyPr>
          <a:lstStyle/>
          <a:p>
            <a:pPr algn="l">
              <a:buNone/>
            </a:pPr>
            <a:r>
              <a:rPr sz="3600" b="0">
                <a:solidFill>
                  <a:srgbClr val="FAA95A"/>
                </a:solidFill>
                <a:latin typeface="210 OmniGothic 040"/>
                <a:ea typeface="210 OmniGothic 040"/>
                <a:cs typeface="210 OmniGothic 040"/>
              </a:rPr>
              <a:t>요구사항 분석서</a:t>
            </a:r>
          </a:p>
        </p:txBody>
      </p:sp>
      <p:sp>
        <p:nvSpPr>
          <p:cNvPr id="5014" name="TextBox 5013">
            <a:extLst>
              <a:ext uri="{FF2B5EF4-FFF2-40B4-BE49-F238E27FC236}">
                <a16:creationId xmlns:a16="http://schemas.microsoft.com/office/drawing/2014/main" id="{C94447D1-CE54-4CB5-8FE4-1C6431530A31}"/>
              </a:ext>
            </a:extLst>
          </p:cNvPr>
          <p:cNvSpPr>
            <a:spLocks noGrp="1"/>
          </p:cNvSpPr>
          <p:nvPr/>
        </p:nvSpPr>
        <p:spPr>
          <a:xfrm>
            <a:off x="1691640" y="2697480"/>
            <a:ext cx="9144000" cy="1554480"/>
          </a:xfrm>
          <a:prstGeom prst="rect">
            <a:avLst/>
          </a:prstGeom>
          <a:noFill/>
        </p:spPr>
        <p:txBody>
          <a:bodyPr wrap="square" lIns="0" tIns="0" rIns="0" bIns="0" anchor="t">
            <a:spAutoFit/>
          </a:bodyPr>
          <a:lstStyle/>
          <a:p>
            <a:pPr algn="l">
              <a:buNone/>
            </a:pPr>
            <a:r>
              <a:rPr sz="9600" b="0">
                <a:solidFill>
                  <a:srgbClr val="363A52"/>
                </a:solidFill>
                <a:latin typeface="210 OmniGothic 050"/>
                <a:ea typeface="210 OmniGothic 050"/>
                <a:cs typeface="210 OmniGothic 050"/>
              </a:rPr>
              <a:t>산불 대응 AI</a:t>
            </a:r>
          </a:p>
        </p:txBody>
      </p:sp>
      <p:sp>
        <p:nvSpPr>
          <p:cNvPr id="5015" name="TextBox 5014">
            <a:extLst>
              <a:ext uri="{FF2B5EF4-FFF2-40B4-BE49-F238E27FC236}">
                <a16:creationId xmlns:a16="http://schemas.microsoft.com/office/drawing/2014/main" id="{88ACEC01-A0EE-4AA8-808E-A5E3E4BB33BC}"/>
              </a:ext>
            </a:extLst>
          </p:cNvPr>
          <p:cNvSpPr>
            <a:spLocks noGrp="1"/>
          </p:cNvSpPr>
          <p:nvPr/>
        </p:nvSpPr>
        <p:spPr>
          <a:xfrm>
            <a:off x="1874519" y="4224528"/>
            <a:ext cx="9601200" cy="548640"/>
          </a:xfrm>
          <a:prstGeom prst="rect">
            <a:avLst/>
          </a:prstGeom>
          <a:noFill/>
        </p:spPr>
        <p:txBody>
          <a:bodyPr wrap="square" lIns="0" tIns="0" rIns="0" bIns="0" anchor="t">
            <a:spAutoFit/>
          </a:bodyPr>
          <a:lstStyle/>
          <a:p>
            <a:pPr algn="l">
              <a:buNone/>
            </a:pPr>
            <a:r>
              <a:rPr sz="3000" b="1">
                <a:solidFill>
                  <a:srgbClr val="363A52"/>
                </a:solidFill>
                <a:latin typeface="210 OmniGothic 040"/>
                <a:ea typeface="210 OmniGothic 040"/>
                <a:cs typeface="210 OmniGothic 040"/>
              </a:rPr>
              <a:t>의사결정 지원 시스템</a:t>
            </a:r>
          </a:p>
        </p:txBody>
      </p:sp>
      <p:sp>
        <p:nvSpPr>
          <p:cNvPr id="5016" name="TextBox 5015">
            <a:extLst>
              <a:ext uri="{FF2B5EF4-FFF2-40B4-BE49-F238E27FC236}">
                <a16:creationId xmlns:a16="http://schemas.microsoft.com/office/drawing/2014/main" id="{0FAAB1E6-72C1-4F8E-B5B7-0B1870A7BEA7}"/>
              </a:ext>
            </a:extLst>
          </p:cNvPr>
          <p:cNvSpPr>
            <a:spLocks noGrp="1"/>
          </p:cNvSpPr>
          <p:nvPr/>
        </p:nvSpPr>
        <p:spPr>
          <a:xfrm>
            <a:off x="1874519" y="4754880"/>
            <a:ext cx="10058400" cy="457200"/>
          </a:xfrm>
          <a:prstGeom prst="rect">
            <a:avLst/>
          </a:prstGeom>
          <a:noFill/>
        </p:spPr>
        <p:txBody>
          <a:bodyPr wrap="square" lIns="0" tIns="0" rIns="0" bIns="0" anchor="t">
            <a:spAutoFit/>
          </a:bodyPr>
          <a:lstStyle/>
          <a:p>
            <a:pPr algn="l">
              <a:buNone/>
            </a:pPr>
            <a:r>
              <a:rPr sz="2000" b="0">
                <a:solidFill>
                  <a:srgbClr val="363A52"/>
                </a:solidFill>
                <a:latin typeface="210 OmniGothic 030"/>
                <a:ea typeface="210 OmniGothic 030"/>
                <a:cs typeface="210 OmniGothic 030"/>
              </a:rPr>
              <a:t>산불 확산 예측과 표준매뉴얼 근거 기반 진화·대피 대응 제안</a:t>
            </a:r>
          </a:p>
        </p:txBody>
      </p:sp>
      <p:sp>
        <p:nvSpPr>
          <p:cNvPr id="5017" name="TextBox 5016">
            <a:extLst>
              <a:ext uri="{FF2B5EF4-FFF2-40B4-BE49-F238E27FC236}">
                <a16:creationId xmlns:a16="http://schemas.microsoft.com/office/drawing/2014/main" id="{1E0F0DCB-F6A3-488C-A63A-C14C23862CA3}"/>
              </a:ext>
            </a:extLst>
          </p:cNvPr>
          <p:cNvSpPr>
            <a:spLocks noGrp="1"/>
          </p:cNvSpPr>
          <p:nvPr/>
        </p:nvSpPr>
        <p:spPr>
          <a:xfrm>
            <a:off x="1865376" y="5596128"/>
            <a:ext cx="8229600" cy="484632"/>
          </a:xfrm>
          <a:prstGeom prst="rect">
            <a:avLst/>
          </a:prstGeom>
          <a:noFill/>
        </p:spPr>
        <p:txBody>
          <a:bodyPr wrap="square" lIns="0" tIns="0" rIns="0" bIns="0" anchor="t">
            <a:spAutoFit/>
          </a:bodyPr>
          <a:lstStyle/>
          <a:p>
            <a:pPr algn="l">
              <a:buNone/>
            </a:pPr>
            <a:r>
              <a:rPr sz="2600" b="0">
                <a:solidFill>
                  <a:srgbClr val="363A52"/>
                </a:solidFill>
                <a:latin typeface="210 OmniGothic 030"/>
                <a:ea typeface="210 OmniGothic 030"/>
                <a:cs typeface="210 OmniGothic 030"/>
              </a:rPr>
              <a:t>5조 산불조심하조</a:t>
            </a:r>
          </a:p>
        </p:txBody>
      </p:sp>
      <p:sp>
        <p:nvSpPr>
          <p:cNvPr id="5018" name="TextBox 5017">
            <a:extLst>
              <a:ext uri="{FF2B5EF4-FFF2-40B4-BE49-F238E27FC236}">
                <a16:creationId xmlns:a16="http://schemas.microsoft.com/office/drawing/2014/main" id="{C3E6116A-3F88-490C-B3DF-8F3EB7963E23}"/>
              </a:ext>
            </a:extLst>
          </p:cNvPr>
          <p:cNvSpPr>
            <a:spLocks noGrp="1"/>
          </p:cNvSpPr>
          <p:nvPr/>
        </p:nvSpPr>
        <p:spPr>
          <a:xfrm>
            <a:off x="1865376" y="6108192"/>
            <a:ext cx="10058400" cy="384048"/>
          </a:xfrm>
          <a:prstGeom prst="rect">
            <a:avLst/>
          </a:prstGeom>
          <a:noFill/>
        </p:spPr>
        <p:txBody>
          <a:bodyPr wrap="square" lIns="0" tIns="0" rIns="0" bIns="0" anchor="t">
            <a:spAutoFit/>
          </a:bodyPr>
          <a:lstStyle/>
          <a:p>
            <a:pPr algn="l">
              <a:buNone/>
            </a:pPr>
            <a:r>
              <a:rPr sz="2000" b="0">
                <a:solidFill>
                  <a:srgbClr val="363A52"/>
                </a:solidFill>
                <a:latin typeface="210 OmniGothic 030"/>
                <a:ea typeface="210 OmniGothic 030"/>
                <a:cs typeface="210 OmniGothic 030"/>
              </a:rPr>
              <a:t>황승준(팀장) 김지오 홍준서 임성민</a:t>
            </a:r>
          </a:p>
        </p:txBody>
      </p:sp>
      <p:sp>
        <p:nvSpPr>
          <p:cNvPr id="5019" name="TextBox 5018">
            <a:extLst>
              <a:ext uri="{FF2B5EF4-FFF2-40B4-BE49-F238E27FC236}">
                <a16:creationId xmlns:a16="http://schemas.microsoft.com/office/drawing/2014/main" id="{96D0C81D-8A5C-46DE-8F0A-1FE0DBCF673D}"/>
              </a:ext>
            </a:extLst>
          </p:cNvPr>
          <p:cNvSpPr>
            <a:spLocks noGrp="1"/>
          </p:cNvSpPr>
          <p:nvPr/>
        </p:nvSpPr>
        <p:spPr>
          <a:xfrm>
            <a:off x="1865376" y="6510528"/>
            <a:ext cx="10972800" cy="384048"/>
          </a:xfrm>
          <a:prstGeom prst="rect">
            <a:avLst/>
          </a:prstGeom>
          <a:noFill/>
        </p:spPr>
        <p:txBody>
          <a:bodyPr wrap="square" lIns="0" tIns="0" rIns="0" bIns="0" anchor="t">
            <a:spAutoFit/>
          </a:bodyPr>
          <a:lstStyle/>
          <a:p>
            <a:pPr algn="l">
              <a:buNone/>
            </a:pPr>
            <a:r>
              <a:rPr sz="1600" b="0">
                <a:solidFill>
                  <a:srgbClr val="6B7080"/>
                </a:solidFill>
                <a:latin typeface="210 OmniGothic 030"/>
                <a:ea typeface="210 OmniGothic 030"/>
                <a:cs typeface="210 OmniGothic 030"/>
              </a:rPr>
              <a:t>세종대학교 컴퓨터공학과 · 2026학년도 2학기 캡스톤디자인 · 지도 교수 권기학 교수, 문현준 교수</a:t>
            </a:r>
          </a:p>
        </p:txBody>
      </p:sp>
      <p:sp>
        <p:nvSpPr>
          <p:cNvPr id="5020" name="TextBox 5019">
            <a:extLst>
              <a:ext uri="{FF2B5EF4-FFF2-40B4-BE49-F238E27FC236}">
                <a16:creationId xmlns:a16="http://schemas.microsoft.com/office/drawing/2014/main" id="{451E863D-3BBA-44E5-980D-3C117B9053DA}"/>
              </a:ext>
            </a:extLst>
          </p:cNvPr>
          <p:cNvSpPr>
            <a:spLocks noGrp="1"/>
          </p:cNvSpPr>
          <p:nvPr/>
        </p:nvSpPr>
        <p:spPr>
          <a:xfrm>
            <a:off x="128016" y="9756648"/>
            <a:ext cx="1828800" cy="215444"/>
          </a:xfrm>
          <a:prstGeom prst="rect">
            <a:avLst/>
          </a:prstGeom>
          <a:noFill/>
        </p:spPr>
        <p:txBody>
          <a:bodyPr wrap="square" lIns="0" tIns="0" rIns="0" bIns="0" anchor="t">
            <a:spAutoFit/>
          </a:bodyPr>
          <a:lstStyle/>
          <a:p>
            <a:pPr algn="l">
              <a:buNone/>
            </a:pPr>
            <a:r>
              <a:rPr sz="1400" b="1" dirty="0">
                <a:solidFill>
                  <a:srgbClr val="FF7B7B"/>
                </a:solidFill>
                <a:latin typeface="210 OmniGothic 040"/>
                <a:ea typeface="210 OmniGothic 040"/>
                <a:cs typeface="210 OmniGothic 040"/>
              </a:rPr>
              <a:t>2026.10.0</a:t>
            </a:r>
            <a:r>
              <a:rPr lang="en-US" sz="1400" b="1" dirty="0">
                <a:solidFill>
                  <a:srgbClr val="FF7B7B"/>
                </a:solidFill>
                <a:latin typeface="210 OmniGothic 040"/>
                <a:ea typeface="210 OmniGothic 040"/>
                <a:cs typeface="210 OmniGothic 040"/>
              </a:rPr>
              <a:t>8</a:t>
            </a:r>
            <a:endParaRPr sz="1400" b="1" dirty="0">
              <a:solidFill>
                <a:srgbClr val="FFFFFF"/>
              </a:solidFill>
              <a:latin typeface="210 OmniGothic 040"/>
              <a:ea typeface="210 OmniGothic 040"/>
              <a:cs typeface="210 OmniGothic 040"/>
            </a:endParaRPr>
          </a:p>
        </p:txBody>
      </p:sp>
    </p:spTree>
    <p:extLst>
      <p:ext uri="{BB962C8B-B14F-4D97-AF65-F5344CB8AC3E}">
        <p14:creationId xmlns:p14="http://schemas.microsoft.com/office/powerpoint/2010/main" val="3768151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43" name="Picture 2"/>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700" y="-12700"/>
            <a:ext cx="18313400" cy="1638300"/>
          </a:xfrm>
          <a:prstGeom prst="rect">
            <a:avLst/>
          </a:prstGeom>
        </p:spPr>
      </p:pic>
      <p:pic>
        <p:nvPicPr>
          <p:cNvPr id="5044" name="Picture 4"/>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28" y="1618343"/>
            <a:ext cx="18313400" cy="8699500"/>
          </a:xfrm>
          <a:prstGeom prst="rect">
            <a:avLst/>
          </a:prstGeom>
        </p:spPr>
      </p:pic>
      <p:pic>
        <p:nvPicPr>
          <p:cNvPr id="5045" name="Picture 5"/>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58800" y="9271000"/>
            <a:ext cx="17170400" cy="50800"/>
          </a:xfrm>
          <a:prstGeom prst="rect">
            <a:avLst/>
          </a:prstGeom>
        </p:spPr>
      </p:pic>
      <p:pic>
        <p:nvPicPr>
          <p:cNvPr id="5046" name="Picture 3"/>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5278100" y="203200"/>
            <a:ext cx="1676400" cy="1409700"/>
          </a:xfrm>
          <a:prstGeom prst="rect">
            <a:avLst/>
          </a:prstGeom>
        </p:spPr>
      </p:pic>
      <p:sp>
        <p:nvSpPr>
          <p:cNvPr id="5017" name="TextBox 5016">
            <a:extLst>
              <a:ext uri="{FF2B5EF4-FFF2-40B4-BE49-F238E27FC236}">
                <a16:creationId xmlns:a16="http://schemas.microsoft.com/office/drawing/2014/main" id="{C85F8ABA-F59C-4AE4-B132-671B0E3B2099}"/>
              </a:ext>
            </a:extLst>
          </p:cNvPr>
          <p:cNvSpPr>
            <a:spLocks noGrp="1"/>
          </p:cNvSpPr>
          <p:nvPr/>
        </p:nvSpPr>
        <p:spPr>
          <a:xfrm>
            <a:off x="822960" y="384048"/>
            <a:ext cx="7315200" cy="877824"/>
          </a:xfrm>
          <a:prstGeom prst="rect">
            <a:avLst/>
          </a:prstGeom>
          <a:noFill/>
        </p:spPr>
        <p:txBody>
          <a:bodyPr wrap="square" lIns="0" tIns="0" rIns="0" bIns="0" anchor="ctr">
            <a:spAutoFit/>
          </a:bodyPr>
          <a:lstStyle/>
          <a:p>
            <a:pPr algn="l">
              <a:buNone/>
            </a:pPr>
            <a:r>
              <a:rPr sz="4800" b="0">
                <a:solidFill>
                  <a:srgbClr val="FAA95A"/>
                </a:solidFill>
                <a:latin typeface="210 OmniGothic 050"/>
                <a:ea typeface="210 OmniGothic 050"/>
                <a:cs typeface="210 OmniGothic 050"/>
              </a:rPr>
              <a:t>목차</a:t>
            </a:r>
          </a:p>
        </p:txBody>
      </p:sp>
      <p:sp>
        <p:nvSpPr>
          <p:cNvPr id="5018" name="TextBox 5017">
            <a:extLst>
              <a:ext uri="{FF2B5EF4-FFF2-40B4-BE49-F238E27FC236}">
                <a16:creationId xmlns:a16="http://schemas.microsoft.com/office/drawing/2014/main" id="{FDD0ED70-7E54-4181-88A1-D292EBFC365D}"/>
              </a:ext>
            </a:extLst>
          </p:cNvPr>
          <p:cNvSpPr>
            <a:spLocks noGrp="1"/>
          </p:cNvSpPr>
          <p:nvPr/>
        </p:nvSpPr>
        <p:spPr>
          <a:xfrm>
            <a:off x="2194560" y="2788920"/>
            <a:ext cx="914400" cy="640080"/>
          </a:xfrm>
          <a:prstGeom prst="rect">
            <a:avLst/>
          </a:prstGeom>
          <a:noFill/>
        </p:spPr>
        <p:txBody>
          <a:bodyPr wrap="square" lIns="0" tIns="0" rIns="0" bIns="0" anchor="ctr">
            <a:spAutoFit/>
          </a:bodyPr>
          <a:lstStyle/>
          <a:p>
            <a:pPr algn="l">
              <a:buNone/>
            </a:pPr>
            <a:r>
              <a:rPr sz="3400" b="0">
                <a:solidFill>
                  <a:srgbClr val="FAA95A"/>
                </a:solidFill>
                <a:latin typeface="Pretendard Bold"/>
                <a:ea typeface="Pretendard Bold"/>
                <a:cs typeface="Pretendard Bold"/>
              </a:rPr>
              <a:t>01</a:t>
            </a:r>
          </a:p>
        </p:txBody>
      </p:sp>
      <p:sp>
        <p:nvSpPr>
          <p:cNvPr id="5019" name="TextBox 5018">
            <a:extLst>
              <a:ext uri="{FF2B5EF4-FFF2-40B4-BE49-F238E27FC236}">
                <a16:creationId xmlns:a16="http://schemas.microsoft.com/office/drawing/2014/main" id="{245A6D84-18F9-4E89-8EC7-4E1987B84879}"/>
              </a:ext>
            </a:extLst>
          </p:cNvPr>
          <p:cNvSpPr>
            <a:spLocks noGrp="1"/>
          </p:cNvSpPr>
          <p:nvPr/>
        </p:nvSpPr>
        <p:spPr>
          <a:xfrm>
            <a:off x="3246120" y="2788920"/>
            <a:ext cx="5943600" cy="640080"/>
          </a:xfrm>
          <a:prstGeom prst="rect">
            <a:avLst/>
          </a:prstGeom>
          <a:noFill/>
        </p:spPr>
        <p:txBody>
          <a:bodyPr wrap="square" lIns="0" tIns="0" rIns="0" bIns="0" anchor="ctr">
            <a:spAutoFit/>
          </a:bodyPr>
          <a:lstStyle/>
          <a:p>
            <a:pPr algn="l">
              <a:buNone/>
            </a:pPr>
            <a:r>
              <a:rPr sz="3000" b="0">
                <a:solidFill>
                  <a:srgbClr val="363A52"/>
                </a:solidFill>
                <a:latin typeface="210 OmniGothic 030"/>
                <a:ea typeface="210 OmniGothic 030"/>
                <a:cs typeface="210 OmniGothic 030"/>
              </a:rPr>
              <a:t>프로젝트 개요</a:t>
            </a:r>
          </a:p>
        </p:txBody>
      </p:sp>
      <p:sp>
        <p:nvSpPr>
          <p:cNvPr id="5020" name="Rectangle 5019">
            <a:extLst>
              <a:ext uri="{FF2B5EF4-FFF2-40B4-BE49-F238E27FC236}">
                <a16:creationId xmlns:a16="http://schemas.microsoft.com/office/drawing/2014/main" id="{CDF006FC-B684-4F46-88EF-201A38BB4E8B}"/>
              </a:ext>
            </a:extLst>
          </p:cNvPr>
          <p:cNvSpPr>
            <a:spLocks noGrp="1"/>
          </p:cNvSpPr>
          <p:nvPr/>
        </p:nvSpPr>
        <p:spPr>
          <a:xfrm>
            <a:off x="2194560" y="3538727"/>
            <a:ext cx="6675120" cy="18288"/>
          </a:xfrm>
          <a:prstGeom prst="rect">
            <a:avLst/>
          </a:prstGeom>
          <a:solidFill>
            <a:srgbClr val="D9DCE5"/>
          </a:solidFill>
          <a:ln>
            <a:no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endParaRPr/>
          </a:p>
        </p:txBody>
      </p:sp>
      <p:sp>
        <p:nvSpPr>
          <p:cNvPr id="5021" name="TextBox 5020">
            <a:extLst>
              <a:ext uri="{FF2B5EF4-FFF2-40B4-BE49-F238E27FC236}">
                <a16:creationId xmlns:a16="http://schemas.microsoft.com/office/drawing/2014/main" id="{C6E3A1CE-9D43-4267-BC27-229F3F5E36E7}"/>
              </a:ext>
            </a:extLst>
          </p:cNvPr>
          <p:cNvSpPr>
            <a:spLocks noGrp="1"/>
          </p:cNvSpPr>
          <p:nvPr/>
        </p:nvSpPr>
        <p:spPr>
          <a:xfrm>
            <a:off x="9692640" y="2788920"/>
            <a:ext cx="914400" cy="640080"/>
          </a:xfrm>
          <a:prstGeom prst="rect">
            <a:avLst/>
          </a:prstGeom>
          <a:noFill/>
        </p:spPr>
        <p:txBody>
          <a:bodyPr wrap="square" lIns="0" tIns="0" rIns="0" bIns="0" anchor="ctr">
            <a:spAutoFit/>
          </a:bodyPr>
          <a:lstStyle/>
          <a:p>
            <a:pPr algn="l">
              <a:buNone/>
            </a:pPr>
            <a:r>
              <a:rPr sz="3400" b="0">
                <a:solidFill>
                  <a:srgbClr val="FAA95A"/>
                </a:solidFill>
                <a:latin typeface="Pretendard Bold"/>
                <a:ea typeface="Pretendard Bold"/>
                <a:cs typeface="Pretendard Bold"/>
              </a:rPr>
              <a:t>02</a:t>
            </a:r>
          </a:p>
        </p:txBody>
      </p:sp>
      <p:sp>
        <p:nvSpPr>
          <p:cNvPr id="5022" name="TextBox 5021">
            <a:extLst>
              <a:ext uri="{FF2B5EF4-FFF2-40B4-BE49-F238E27FC236}">
                <a16:creationId xmlns:a16="http://schemas.microsoft.com/office/drawing/2014/main" id="{AA3227B1-F90E-47FF-BD96-423FFD0BD493}"/>
              </a:ext>
            </a:extLst>
          </p:cNvPr>
          <p:cNvSpPr>
            <a:spLocks noGrp="1"/>
          </p:cNvSpPr>
          <p:nvPr/>
        </p:nvSpPr>
        <p:spPr>
          <a:xfrm>
            <a:off x="10744200" y="2788920"/>
            <a:ext cx="5943600" cy="640080"/>
          </a:xfrm>
          <a:prstGeom prst="rect">
            <a:avLst/>
          </a:prstGeom>
          <a:noFill/>
        </p:spPr>
        <p:txBody>
          <a:bodyPr wrap="square" lIns="0" tIns="0" rIns="0" bIns="0" anchor="ctr">
            <a:spAutoFit/>
          </a:bodyPr>
          <a:lstStyle/>
          <a:p>
            <a:pPr algn="l">
              <a:buNone/>
            </a:pPr>
            <a:r>
              <a:rPr sz="3000" b="0">
                <a:solidFill>
                  <a:srgbClr val="363A52"/>
                </a:solidFill>
                <a:latin typeface="210 OmniGothic 030"/>
                <a:ea typeface="210 OmniGothic 030"/>
                <a:cs typeface="210 OmniGothic 030"/>
              </a:rPr>
              <a:t>시스템 기술서</a:t>
            </a:r>
          </a:p>
        </p:txBody>
      </p:sp>
      <p:sp>
        <p:nvSpPr>
          <p:cNvPr id="5023" name="Rectangle 5022">
            <a:extLst>
              <a:ext uri="{FF2B5EF4-FFF2-40B4-BE49-F238E27FC236}">
                <a16:creationId xmlns:a16="http://schemas.microsoft.com/office/drawing/2014/main" id="{B62EAA4F-3801-43F3-90E8-96D72CFF0C25}"/>
              </a:ext>
            </a:extLst>
          </p:cNvPr>
          <p:cNvSpPr>
            <a:spLocks noGrp="1"/>
          </p:cNvSpPr>
          <p:nvPr/>
        </p:nvSpPr>
        <p:spPr>
          <a:xfrm>
            <a:off x="9692640" y="3538727"/>
            <a:ext cx="6675120" cy="18288"/>
          </a:xfrm>
          <a:prstGeom prst="rect">
            <a:avLst/>
          </a:prstGeom>
          <a:solidFill>
            <a:srgbClr val="D9DCE5"/>
          </a:solidFill>
          <a:ln>
            <a:no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endParaRPr/>
          </a:p>
        </p:txBody>
      </p:sp>
      <p:sp>
        <p:nvSpPr>
          <p:cNvPr id="5024" name="TextBox 5023">
            <a:extLst>
              <a:ext uri="{FF2B5EF4-FFF2-40B4-BE49-F238E27FC236}">
                <a16:creationId xmlns:a16="http://schemas.microsoft.com/office/drawing/2014/main" id="{0DF4FA58-C28D-4EDF-A452-9A4537F51DDA}"/>
              </a:ext>
            </a:extLst>
          </p:cNvPr>
          <p:cNvSpPr>
            <a:spLocks noGrp="1"/>
          </p:cNvSpPr>
          <p:nvPr/>
        </p:nvSpPr>
        <p:spPr>
          <a:xfrm>
            <a:off x="2194560" y="4206240"/>
            <a:ext cx="914400" cy="640080"/>
          </a:xfrm>
          <a:prstGeom prst="rect">
            <a:avLst/>
          </a:prstGeom>
          <a:noFill/>
        </p:spPr>
        <p:txBody>
          <a:bodyPr wrap="square" lIns="0" tIns="0" rIns="0" bIns="0" anchor="ctr">
            <a:spAutoFit/>
          </a:bodyPr>
          <a:lstStyle/>
          <a:p>
            <a:pPr algn="l">
              <a:buNone/>
            </a:pPr>
            <a:r>
              <a:rPr sz="3400" b="0">
                <a:solidFill>
                  <a:srgbClr val="FAA95A"/>
                </a:solidFill>
                <a:latin typeface="Pretendard Bold"/>
                <a:ea typeface="Pretendard Bold"/>
                <a:cs typeface="Pretendard Bold"/>
              </a:rPr>
              <a:t>03</a:t>
            </a:r>
          </a:p>
        </p:txBody>
      </p:sp>
      <p:sp>
        <p:nvSpPr>
          <p:cNvPr id="5025" name="TextBox 5024">
            <a:extLst>
              <a:ext uri="{FF2B5EF4-FFF2-40B4-BE49-F238E27FC236}">
                <a16:creationId xmlns:a16="http://schemas.microsoft.com/office/drawing/2014/main" id="{2AA1F869-38D6-4CE6-B176-6F7A612B735A}"/>
              </a:ext>
            </a:extLst>
          </p:cNvPr>
          <p:cNvSpPr>
            <a:spLocks noGrp="1"/>
          </p:cNvSpPr>
          <p:nvPr/>
        </p:nvSpPr>
        <p:spPr>
          <a:xfrm>
            <a:off x="3246120" y="4206240"/>
            <a:ext cx="5943600" cy="640080"/>
          </a:xfrm>
          <a:prstGeom prst="rect">
            <a:avLst/>
          </a:prstGeom>
          <a:noFill/>
        </p:spPr>
        <p:txBody>
          <a:bodyPr wrap="square" lIns="0" tIns="0" rIns="0" bIns="0" anchor="ctr">
            <a:spAutoFit/>
          </a:bodyPr>
          <a:lstStyle/>
          <a:p>
            <a:pPr algn="l">
              <a:buNone/>
            </a:pPr>
            <a:r>
              <a:rPr sz="3000" b="0">
                <a:solidFill>
                  <a:srgbClr val="363A52"/>
                </a:solidFill>
                <a:latin typeface="210 OmniGothic 030"/>
                <a:ea typeface="210 OmniGothic 030"/>
                <a:cs typeface="210 OmniGothic 030"/>
              </a:rPr>
              <a:t>유스케이스 다이어그램</a:t>
            </a:r>
          </a:p>
        </p:txBody>
      </p:sp>
      <p:sp>
        <p:nvSpPr>
          <p:cNvPr id="5026" name="Rectangle 5025">
            <a:extLst>
              <a:ext uri="{FF2B5EF4-FFF2-40B4-BE49-F238E27FC236}">
                <a16:creationId xmlns:a16="http://schemas.microsoft.com/office/drawing/2014/main" id="{989D7871-9DD0-44DE-ABFF-FA32F506493F}"/>
              </a:ext>
            </a:extLst>
          </p:cNvPr>
          <p:cNvSpPr>
            <a:spLocks noGrp="1"/>
          </p:cNvSpPr>
          <p:nvPr/>
        </p:nvSpPr>
        <p:spPr>
          <a:xfrm>
            <a:off x="2194560" y="4956048"/>
            <a:ext cx="6675120" cy="18288"/>
          </a:xfrm>
          <a:prstGeom prst="rect">
            <a:avLst/>
          </a:prstGeom>
          <a:solidFill>
            <a:srgbClr val="D9DCE5"/>
          </a:solidFill>
          <a:ln>
            <a:no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endParaRPr/>
          </a:p>
        </p:txBody>
      </p:sp>
      <p:sp>
        <p:nvSpPr>
          <p:cNvPr id="5027" name="TextBox 5026">
            <a:extLst>
              <a:ext uri="{FF2B5EF4-FFF2-40B4-BE49-F238E27FC236}">
                <a16:creationId xmlns:a16="http://schemas.microsoft.com/office/drawing/2014/main" id="{9BBE15DC-E1CB-47C5-A443-C6855FFC53B6}"/>
              </a:ext>
            </a:extLst>
          </p:cNvPr>
          <p:cNvSpPr>
            <a:spLocks noGrp="1"/>
          </p:cNvSpPr>
          <p:nvPr/>
        </p:nvSpPr>
        <p:spPr>
          <a:xfrm>
            <a:off x="9692640" y="4206240"/>
            <a:ext cx="914400" cy="640080"/>
          </a:xfrm>
          <a:prstGeom prst="rect">
            <a:avLst/>
          </a:prstGeom>
          <a:noFill/>
        </p:spPr>
        <p:txBody>
          <a:bodyPr wrap="square" lIns="0" tIns="0" rIns="0" bIns="0" anchor="ctr">
            <a:spAutoFit/>
          </a:bodyPr>
          <a:lstStyle/>
          <a:p>
            <a:pPr algn="l">
              <a:buNone/>
            </a:pPr>
            <a:r>
              <a:rPr sz="3400" b="0">
                <a:solidFill>
                  <a:srgbClr val="FAA95A"/>
                </a:solidFill>
                <a:latin typeface="Pretendard Bold"/>
                <a:ea typeface="Pretendard Bold"/>
                <a:cs typeface="Pretendard Bold"/>
              </a:rPr>
              <a:t>04</a:t>
            </a:r>
          </a:p>
        </p:txBody>
      </p:sp>
      <p:sp>
        <p:nvSpPr>
          <p:cNvPr id="5028" name="TextBox 5027">
            <a:extLst>
              <a:ext uri="{FF2B5EF4-FFF2-40B4-BE49-F238E27FC236}">
                <a16:creationId xmlns:a16="http://schemas.microsoft.com/office/drawing/2014/main" id="{26FFB58B-2A54-4805-813E-09D5DB113E5F}"/>
              </a:ext>
            </a:extLst>
          </p:cNvPr>
          <p:cNvSpPr>
            <a:spLocks noGrp="1"/>
          </p:cNvSpPr>
          <p:nvPr/>
        </p:nvSpPr>
        <p:spPr>
          <a:xfrm>
            <a:off x="10744200" y="4206240"/>
            <a:ext cx="5943600" cy="640080"/>
          </a:xfrm>
          <a:prstGeom prst="rect">
            <a:avLst/>
          </a:prstGeom>
          <a:noFill/>
        </p:spPr>
        <p:txBody>
          <a:bodyPr wrap="square" lIns="0" tIns="0" rIns="0" bIns="0" anchor="ctr">
            <a:spAutoFit/>
          </a:bodyPr>
          <a:lstStyle/>
          <a:p>
            <a:pPr algn="l">
              <a:buNone/>
            </a:pPr>
            <a:r>
              <a:rPr sz="3000" b="0">
                <a:solidFill>
                  <a:srgbClr val="363A52"/>
                </a:solidFill>
                <a:latin typeface="210 OmniGothic 030"/>
                <a:ea typeface="210 OmniGothic 030"/>
                <a:cs typeface="210 OmniGothic 030"/>
              </a:rPr>
              <a:t>시퀀스 다이어그램</a:t>
            </a:r>
          </a:p>
        </p:txBody>
      </p:sp>
      <p:sp>
        <p:nvSpPr>
          <p:cNvPr id="5029" name="Rectangle 5028">
            <a:extLst>
              <a:ext uri="{FF2B5EF4-FFF2-40B4-BE49-F238E27FC236}">
                <a16:creationId xmlns:a16="http://schemas.microsoft.com/office/drawing/2014/main" id="{C20208A0-000B-4E30-BC65-FA509282BD46}"/>
              </a:ext>
            </a:extLst>
          </p:cNvPr>
          <p:cNvSpPr>
            <a:spLocks noGrp="1"/>
          </p:cNvSpPr>
          <p:nvPr/>
        </p:nvSpPr>
        <p:spPr>
          <a:xfrm>
            <a:off x="9692640" y="4956048"/>
            <a:ext cx="6675120" cy="18288"/>
          </a:xfrm>
          <a:prstGeom prst="rect">
            <a:avLst/>
          </a:prstGeom>
          <a:solidFill>
            <a:srgbClr val="D9DCE5"/>
          </a:solidFill>
          <a:ln>
            <a:no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endParaRPr/>
          </a:p>
        </p:txBody>
      </p:sp>
      <p:sp>
        <p:nvSpPr>
          <p:cNvPr id="5030" name="TextBox 5029">
            <a:extLst>
              <a:ext uri="{FF2B5EF4-FFF2-40B4-BE49-F238E27FC236}">
                <a16:creationId xmlns:a16="http://schemas.microsoft.com/office/drawing/2014/main" id="{39735E4A-CBB8-459A-84E5-870B038163E5}"/>
              </a:ext>
            </a:extLst>
          </p:cNvPr>
          <p:cNvSpPr>
            <a:spLocks noGrp="1"/>
          </p:cNvSpPr>
          <p:nvPr/>
        </p:nvSpPr>
        <p:spPr>
          <a:xfrm>
            <a:off x="2194560" y="5623560"/>
            <a:ext cx="914400" cy="640080"/>
          </a:xfrm>
          <a:prstGeom prst="rect">
            <a:avLst/>
          </a:prstGeom>
          <a:noFill/>
        </p:spPr>
        <p:txBody>
          <a:bodyPr wrap="square" lIns="0" tIns="0" rIns="0" bIns="0" anchor="ctr">
            <a:spAutoFit/>
          </a:bodyPr>
          <a:lstStyle/>
          <a:p>
            <a:pPr algn="l">
              <a:buNone/>
            </a:pPr>
            <a:r>
              <a:rPr sz="3400" b="0">
                <a:solidFill>
                  <a:srgbClr val="FAA95A"/>
                </a:solidFill>
                <a:latin typeface="Pretendard Bold"/>
                <a:ea typeface="Pretendard Bold"/>
                <a:cs typeface="Pretendard Bold"/>
              </a:rPr>
              <a:t>05</a:t>
            </a:r>
          </a:p>
        </p:txBody>
      </p:sp>
      <p:sp>
        <p:nvSpPr>
          <p:cNvPr id="5031" name="TextBox 5030">
            <a:extLst>
              <a:ext uri="{FF2B5EF4-FFF2-40B4-BE49-F238E27FC236}">
                <a16:creationId xmlns:a16="http://schemas.microsoft.com/office/drawing/2014/main" id="{15407737-5FA6-4D6F-BA3C-03DBE139E02C}"/>
              </a:ext>
            </a:extLst>
          </p:cNvPr>
          <p:cNvSpPr>
            <a:spLocks noGrp="1"/>
          </p:cNvSpPr>
          <p:nvPr/>
        </p:nvSpPr>
        <p:spPr>
          <a:xfrm>
            <a:off x="3246120" y="5623560"/>
            <a:ext cx="5943600" cy="640080"/>
          </a:xfrm>
          <a:prstGeom prst="rect">
            <a:avLst/>
          </a:prstGeom>
          <a:noFill/>
        </p:spPr>
        <p:txBody>
          <a:bodyPr wrap="square" lIns="0" tIns="0" rIns="0" bIns="0" anchor="ctr">
            <a:spAutoFit/>
          </a:bodyPr>
          <a:lstStyle/>
          <a:p>
            <a:pPr algn="l">
              <a:buNone/>
            </a:pPr>
            <a:r>
              <a:rPr sz="3000" b="0">
                <a:solidFill>
                  <a:srgbClr val="363A52"/>
                </a:solidFill>
                <a:latin typeface="210 OmniGothic 030"/>
                <a:ea typeface="210 OmniGothic 030"/>
                <a:cs typeface="210 OmniGothic 030"/>
              </a:rPr>
              <a:t>클래스 다이어그램</a:t>
            </a:r>
          </a:p>
        </p:txBody>
      </p:sp>
      <p:sp>
        <p:nvSpPr>
          <p:cNvPr id="5032" name="Rectangle 5031">
            <a:extLst>
              <a:ext uri="{FF2B5EF4-FFF2-40B4-BE49-F238E27FC236}">
                <a16:creationId xmlns:a16="http://schemas.microsoft.com/office/drawing/2014/main" id="{2D881346-F3C5-4AB9-992E-0C221ED7992E}"/>
              </a:ext>
            </a:extLst>
          </p:cNvPr>
          <p:cNvSpPr>
            <a:spLocks noGrp="1"/>
          </p:cNvSpPr>
          <p:nvPr/>
        </p:nvSpPr>
        <p:spPr>
          <a:xfrm>
            <a:off x="2194560" y="6373368"/>
            <a:ext cx="6675120" cy="18288"/>
          </a:xfrm>
          <a:prstGeom prst="rect">
            <a:avLst/>
          </a:prstGeom>
          <a:solidFill>
            <a:srgbClr val="D9DCE5"/>
          </a:solidFill>
          <a:ln>
            <a:no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endParaRPr/>
          </a:p>
        </p:txBody>
      </p:sp>
      <p:sp>
        <p:nvSpPr>
          <p:cNvPr id="5033" name="TextBox 5032">
            <a:extLst>
              <a:ext uri="{FF2B5EF4-FFF2-40B4-BE49-F238E27FC236}">
                <a16:creationId xmlns:a16="http://schemas.microsoft.com/office/drawing/2014/main" id="{23D4E630-B8AE-41C3-8DFB-A708F7ADF22A}"/>
              </a:ext>
            </a:extLst>
          </p:cNvPr>
          <p:cNvSpPr>
            <a:spLocks noGrp="1"/>
          </p:cNvSpPr>
          <p:nvPr/>
        </p:nvSpPr>
        <p:spPr>
          <a:xfrm>
            <a:off x="9692640" y="5623560"/>
            <a:ext cx="914400" cy="640080"/>
          </a:xfrm>
          <a:prstGeom prst="rect">
            <a:avLst/>
          </a:prstGeom>
          <a:noFill/>
        </p:spPr>
        <p:txBody>
          <a:bodyPr wrap="square" lIns="0" tIns="0" rIns="0" bIns="0" anchor="ctr">
            <a:spAutoFit/>
          </a:bodyPr>
          <a:lstStyle/>
          <a:p>
            <a:pPr algn="l">
              <a:buNone/>
            </a:pPr>
            <a:r>
              <a:rPr sz="3400" b="0">
                <a:solidFill>
                  <a:srgbClr val="FAA95A"/>
                </a:solidFill>
                <a:latin typeface="Pretendard Bold"/>
                <a:ea typeface="Pretendard Bold"/>
                <a:cs typeface="Pretendard Bold"/>
              </a:rPr>
              <a:t>06</a:t>
            </a:r>
          </a:p>
        </p:txBody>
      </p:sp>
      <p:sp>
        <p:nvSpPr>
          <p:cNvPr id="5034" name="TextBox 5033">
            <a:extLst>
              <a:ext uri="{FF2B5EF4-FFF2-40B4-BE49-F238E27FC236}">
                <a16:creationId xmlns:a16="http://schemas.microsoft.com/office/drawing/2014/main" id="{5D7A923B-E714-4E1C-8794-14F4661B18F9}"/>
              </a:ext>
            </a:extLst>
          </p:cNvPr>
          <p:cNvSpPr>
            <a:spLocks noGrp="1"/>
          </p:cNvSpPr>
          <p:nvPr/>
        </p:nvSpPr>
        <p:spPr>
          <a:xfrm>
            <a:off x="10744200" y="5623560"/>
            <a:ext cx="5943600" cy="640080"/>
          </a:xfrm>
          <a:prstGeom prst="rect">
            <a:avLst/>
          </a:prstGeom>
          <a:noFill/>
        </p:spPr>
        <p:txBody>
          <a:bodyPr wrap="square" lIns="0" tIns="0" rIns="0" bIns="0" anchor="ctr">
            <a:spAutoFit/>
          </a:bodyPr>
          <a:lstStyle/>
          <a:p>
            <a:pPr algn="l">
              <a:buNone/>
            </a:pPr>
            <a:r>
              <a:rPr sz="3000" b="0">
                <a:solidFill>
                  <a:srgbClr val="363A52"/>
                </a:solidFill>
                <a:latin typeface="210 OmniGothic 030"/>
                <a:ea typeface="210 OmniGothic 030"/>
                <a:cs typeface="210 OmniGothic 030"/>
              </a:rPr>
              <a:t>관계형 데이터베이스</a:t>
            </a:r>
          </a:p>
        </p:txBody>
      </p:sp>
      <p:sp>
        <p:nvSpPr>
          <p:cNvPr id="5035" name="Rectangle 5034">
            <a:extLst>
              <a:ext uri="{FF2B5EF4-FFF2-40B4-BE49-F238E27FC236}">
                <a16:creationId xmlns:a16="http://schemas.microsoft.com/office/drawing/2014/main" id="{0FC688CC-7773-47C4-86AF-A84FEE07273D}"/>
              </a:ext>
            </a:extLst>
          </p:cNvPr>
          <p:cNvSpPr>
            <a:spLocks noGrp="1"/>
          </p:cNvSpPr>
          <p:nvPr/>
        </p:nvSpPr>
        <p:spPr>
          <a:xfrm>
            <a:off x="9692640" y="6373368"/>
            <a:ext cx="6675120" cy="18288"/>
          </a:xfrm>
          <a:prstGeom prst="rect">
            <a:avLst/>
          </a:prstGeom>
          <a:solidFill>
            <a:srgbClr val="D9DCE5"/>
          </a:solidFill>
          <a:ln>
            <a:no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endParaRPr/>
          </a:p>
        </p:txBody>
      </p:sp>
      <p:sp>
        <p:nvSpPr>
          <p:cNvPr id="5036" name="TextBox 5035">
            <a:extLst>
              <a:ext uri="{FF2B5EF4-FFF2-40B4-BE49-F238E27FC236}">
                <a16:creationId xmlns:a16="http://schemas.microsoft.com/office/drawing/2014/main" id="{AE3A2696-B522-4DD1-B6E6-6E327E29B141}"/>
              </a:ext>
            </a:extLst>
          </p:cNvPr>
          <p:cNvSpPr>
            <a:spLocks noGrp="1"/>
          </p:cNvSpPr>
          <p:nvPr/>
        </p:nvSpPr>
        <p:spPr>
          <a:xfrm>
            <a:off x="2194560" y="7040880"/>
            <a:ext cx="914400" cy="640080"/>
          </a:xfrm>
          <a:prstGeom prst="rect">
            <a:avLst/>
          </a:prstGeom>
          <a:noFill/>
        </p:spPr>
        <p:txBody>
          <a:bodyPr wrap="square" lIns="0" tIns="0" rIns="0" bIns="0" anchor="ctr">
            <a:spAutoFit/>
          </a:bodyPr>
          <a:lstStyle/>
          <a:p>
            <a:pPr algn="l">
              <a:buNone/>
            </a:pPr>
            <a:r>
              <a:rPr sz="3400" b="0">
                <a:solidFill>
                  <a:srgbClr val="FAA95A"/>
                </a:solidFill>
                <a:latin typeface="Pretendard Bold"/>
                <a:ea typeface="Pretendard Bold"/>
                <a:cs typeface="Pretendard Bold"/>
              </a:rPr>
              <a:t>07</a:t>
            </a:r>
          </a:p>
        </p:txBody>
      </p:sp>
      <p:sp>
        <p:nvSpPr>
          <p:cNvPr id="5037" name="TextBox 5036">
            <a:extLst>
              <a:ext uri="{FF2B5EF4-FFF2-40B4-BE49-F238E27FC236}">
                <a16:creationId xmlns:a16="http://schemas.microsoft.com/office/drawing/2014/main" id="{E69B6571-2305-439C-B35F-D3D387F7AF3E}"/>
              </a:ext>
            </a:extLst>
          </p:cNvPr>
          <p:cNvSpPr>
            <a:spLocks noGrp="1"/>
          </p:cNvSpPr>
          <p:nvPr/>
        </p:nvSpPr>
        <p:spPr>
          <a:xfrm>
            <a:off x="3246120" y="7040880"/>
            <a:ext cx="5943600" cy="640080"/>
          </a:xfrm>
          <a:prstGeom prst="rect">
            <a:avLst/>
          </a:prstGeom>
          <a:noFill/>
        </p:spPr>
        <p:txBody>
          <a:bodyPr wrap="square" lIns="0" tIns="0" rIns="0" bIns="0" anchor="ctr">
            <a:spAutoFit/>
          </a:bodyPr>
          <a:lstStyle/>
          <a:p>
            <a:pPr algn="l">
              <a:buNone/>
            </a:pPr>
            <a:r>
              <a:rPr sz="3000" b="0">
                <a:solidFill>
                  <a:srgbClr val="363A52"/>
                </a:solidFill>
                <a:latin typeface="210 OmniGothic 030"/>
                <a:ea typeface="210 OmniGothic 030"/>
                <a:cs typeface="210 OmniGothic 030"/>
              </a:rPr>
              <a:t>비기능 요구사항</a:t>
            </a:r>
          </a:p>
        </p:txBody>
      </p:sp>
      <p:sp>
        <p:nvSpPr>
          <p:cNvPr id="5038" name="Rectangle 5037">
            <a:extLst>
              <a:ext uri="{FF2B5EF4-FFF2-40B4-BE49-F238E27FC236}">
                <a16:creationId xmlns:a16="http://schemas.microsoft.com/office/drawing/2014/main" id="{CB46E9B7-A10E-401F-B788-1F5949E675E4}"/>
              </a:ext>
            </a:extLst>
          </p:cNvPr>
          <p:cNvSpPr>
            <a:spLocks noGrp="1"/>
          </p:cNvSpPr>
          <p:nvPr/>
        </p:nvSpPr>
        <p:spPr>
          <a:xfrm>
            <a:off x="2194560" y="7790688"/>
            <a:ext cx="6675120" cy="18288"/>
          </a:xfrm>
          <a:prstGeom prst="rect">
            <a:avLst/>
          </a:prstGeom>
          <a:solidFill>
            <a:srgbClr val="D9DCE5"/>
          </a:solidFill>
          <a:ln>
            <a:no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endParaRPr/>
          </a:p>
        </p:txBody>
      </p:sp>
      <p:sp>
        <p:nvSpPr>
          <p:cNvPr id="9401" name="TextBox 5035 (08)"/>
          <p:cNvSpPr>
            <a:spLocks noGrp="1"/>
          </p:cNvSpPr>
          <p:nvPr/>
        </p:nvSpPr>
        <p:spPr>
          <a:xfrm>
            <a:off x="9692640" y="7040880"/>
            <a:ext cx="914400" cy="640080"/>
          </a:xfrm>
          <a:prstGeom prst="rect">
            <a:avLst/>
          </a:prstGeom>
          <a:noFill/>
        </p:spPr>
        <p:txBody>
          <a:bodyPr wrap="square" lIns="0" tIns="0" rIns="0" bIns="0" anchor="ctr">
            <a:spAutoFit/>
          </a:bodyPr>
          <a:lstStyle/>
          <a:p>
            <a:pPr algn="l">
              <a:buNone/>
            </a:pPr>
            <a:r>
              <a:rPr sz="3400" b="0">
                <a:solidFill>
                  <a:srgbClr val="FF7B7B"/>
                </a:solidFill>
                <a:latin typeface="Pretendard Bold"/>
                <a:ea typeface="Pretendard Bold"/>
                <a:cs typeface="Pretendard Bold"/>
              </a:rPr>
              <a:t>08</a:t>
            </a:r>
          </a:p>
        </p:txBody>
      </p:sp>
      <p:sp>
        <p:nvSpPr>
          <p:cNvPr id="9402" name="TextBox 5036 (08)"/>
          <p:cNvSpPr>
            <a:spLocks noGrp="1"/>
          </p:cNvSpPr>
          <p:nvPr/>
        </p:nvSpPr>
        <p:spPr>
          <a:xfrm>
            <a:off x="10744200" y="7040880"/>
            <a:ext cx="5943600" cy="640080"/>
          </a:xfrm>
          <a:prstGeom prst="rect">
            <a:avLst/>
          </a:prstGeom>
          <a:noFill/>
        </p:spPr>
        <p:txBody>
          <a:bodyPr wrap="square" lIns="0" tIns="0" rIns="0" bIns="0" anchor="ctr">
            <a:spAutoFit/>
          </a:bodyPr>
          <a:lstStyle/>
          <a:p>
            <a:pPr algn="l">
              <a:buNone/>
            </a:pPr>
            <a:r>
              <a:rPr sz="3000" b="0">
                <a:solidFill>
                  <a:srgbClr val="FF0000"/>
                </a:solidFill>
                <a:latin typeface="210 OmniGothic 030"/>
                <a:ea typeface="210 OmniGothic 030"/>
                <a:cs typeface="210 OmniGothic 030"/>
              </a:rPr>
              <a:t>요구사항 추적표</a:t>
            </a:r>
          </a:p>
        </p:txBody>
      </p:sp>
      <p:sp>
        <p:nvSpPr>
          <p:cNvPr id="9403" name="Rectangle 5037 (08)"/>
          <p:cNvSpPr>
            <a:spLocks noGrp="1"/>
          </p:cNvSpPr>
          <p:nvPr/>
        </p:nvSpPr>
        <p:spPr>
          <a:xfrm>
            <a:off x="9692640" y="7790688"/>
            <a:ext cx="6675120" cy="18288"/>
          </a:xfrm>
          <a:prstGeom prst="rect">
            <a:avLst/>
          </a:prstGeom>
          <a:solidFill>
            <a:srgbClr val="D9DCE5"/>
          </a:solidFill>
          <a:ln>
            <a:no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endParaRP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idx="12"/>
          </p:nvPr>
        </p:nvSpPr>
        <p:spPr/>
        <p:txBody>
          <a:bodyPr/>
          <a:lstStyle/>
          <a:p>
            <a:fld id="{B6F15528-21DE-4FAA-801E-634DDDAF4B2B}" type="slidenum">
              <a:rPr/>
              <a:t>2</a:t>
            </a:fld>
            <a:endParaRPr/>
          </a:p>
        </p:txBody>
      </p:sp>
    </p:spTree>
    <p:extLst>
      <p:ext uri="{BB962C8B-B14F-4D97-AF65-F5344CB8AC3E}">
        <p14:creationId xmlns:p14="http://schemas.microsoft.com/office/powerpoint/2010/main" val="15376102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21"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700" y="-12700"/>
            <a:ext cx="18313400" cy="1638300"/>
          </a:xfrm>
          <a:prstGeom prst="rect">
            <a:avLst/>
          </a:prstGeom>
        </p:spPr>
      </p:pic>
      <p:pic>
        <p:nvPicPr>
          <p:cNvPr id="5522"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28" y="1618343"/>
            <a:ext cx="18313400" cy="8699500"/>
          </a:xfrm>
          <a:prstGeom prst="rect">
            <a:avLst/>
          </a:prstGeom>
        </p:spPr>
      </p:pic>
      <p:pic>
        <p:nvPicPr>
          <p:cNvPr id="5523"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58800" y="9271000"/>
            <a:ext cx="17170400" cy="50800"/>
          </a:xfrm>
          <a:prstGeom prst="rect">
            <a:avLst/>
          </a:prstGeom>
        </p:spPr>
      </p:pic>
      <p:pic>
        <p:nvPicPr>
          <p:cNvPr id="5524" name="Picture 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278100" y="203200"/>
            <a:ext cx="1676400" cy="1409700"/>
          </a:xfrm>
          <a:prstGeom prst="rect">
            <a:avLst/>
          </a:prstGeom>
        </p:spPr>
      </p:pic>
      <p:sp>
        <p:nvSpPr>
          <p:cNvPr id="5525" name="Title"/>
          <p:cNvSpPr txBox="1"/>
          <p:nvPr/>
        </p:nvSpPr>
        <p:spPr>
          <a:xfrm>
            <a:off x="822960" y="384048"/>
            <a:ext cx="13258800" cy="877824"/>
          </a:xfrm>
          <a:prstGeom prst="rect">
            <a:avLst/>
          </a:prstGeom>
          <a:noFill/>
        </p:spPr>
        <p:txBody>
          <a:bodyPr wrap="square" lIns="0" tIns="0" rIns="0" bIns="0" anchor="ctr">
            <a:spAutoFit/>
          </a:bodyPr>
          <a:lstStyle/>
          <a:p>
            <a:pPr algn="l"/>
            <a:r>
              <a:rPr sz="4400" b="0">
                <a:solidFill>
                  <a:srgbClr val="FF7B7B"/>
                </a:solidFill>
                <a:latin typeface="210 OmniGothic 050"/>
                <a:ea typeface="210 OmniGothic 050"/>
                <a:cs typeface="210 OmniGothic 050"/>
              </a:rPr>
              <a:t>주요 수정·보완 사항</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sz="quarter" idx="12"/>
          </p:nvPr>
        </p:nvSpPr>
        <p:spPr/>
        <p:txBody>
          <a:bodyPr/>
          <a:lstStyle/>
          <a:p>
            <a:fld id="{B6F15528-21DE-4FAA-801E-634DDDAF4B2B}" type="slidenum">
              <a:rPr lang="en-US" smtClean="0"/>
              <a:pPr/>
              <a:t>3</a:t>
            </a:fld>
            <a:endParaRPr lang="en-US"/>
          </a:p>
        </p:txBody>
      </p:sp>
      <p:sp>
        <p:nvSpPr>
          <p:cNvPr id="5526" name="Cap T1"/>
          <p:cNvSpPr txBox="1"/>
          <p:nvPr/>
        </p:nvSpPr>
        <p:spPr>
          <a:xfrm>
            <a:off x="822960" y="1792224"/>
            <a:ext cx="16642080" cy="292608"/>
          </a:xfrm>
          <a:prstGeom prst="rect">
            <a:avLst/>
          </a:prstGeom>
          <a:noFill/>
        </p:spPr>
        <p:txBody>
          <a:bodyPr wrap="square" lIns="0" tIns="0" rIns="0" bIns="0" anchor="t">
            <a:spAutoFit/>
          </a:bodyPr>
          <a:lstStyle/>
          <a:p>
            <a:pPr algn="l">
              <a:buNone/>
            </a:pPr>
            <a:r>
              <a:rPr lang="ko-KR" altLang="en-US" sz="1400" b="1">
                <a:solidFill>
                  <a:srgbClr val="FF0000"/>
                </a:solidFill>
                <a:latin typeface="210 OmniGothic 040"/>
                <a:ea typeface="210 OmniGothic 040"/>
                <a:cs typeface="210 OmniGothic 040"/>
              </a:rPr>
              <a:t>1. 교수 피드백 및 주요 수정·보완 사항</a:t>
            </a:r>
            <a:endParaRPr lang="ko-KR" sz="1400"/>
          </a:p>
        </p:txBody>
      </p:sp>
      <p:graphicFrame>
        <p:nvGraphicFramePr>
          <p:cNvPr id="5527" name="Table Fix1"/>
          <p:cNvGraphicFramePr>
            <a:graphicFrameLocks noGrp="1"/>
          </p:cNvGraphicFramePr>
          <p:nvPr/>
        </p:nvGraphicFramePr>
        <p:xfrm>
          <a:off x="822960" y="2103120"/>
          <a:ext cx="16642080" cy="2112264"/>
        </p:xfrm>
        <a:graphic>
          <a:graphicData uri="http://schemas.openxmlformats.org/drawingml/2006/table">
            <a:tbl>
              <a:tblPr>
                <a:tableStyleId>{2D5ABB26-0587-4C30-8999-92F81FD0307C}</a:tableStyleId>
              </a:tblPr>
              <a:tblGrid>
                <a:gridCol w="457200">
                  <a:extLst>
                    <a:ext uri="{9D8B030D-6E8A-4147-A177-3AD203B41FA5}">
                      <a16:colId xmlns:a16="http://schemas.microsoft.com/office/drawing/2014/main" val="20000"/>
                    </a:ext>
                  </a:extLst>
                </a:gridCol>
                <a:gridCol w="3520440">
                  <a:extLst>
                    <a:ext uri="{9D8B030D-6E8A-4147-A177-3AD203B41FA5}">
                      <a16:colId xmlns:a16="http://schemas.microsoft.com/office/drawing/2014/main" val="20001"/>
                    </a:ext>
                  </a:extLst>
                </a:gridCol>
                <a:gridCol w="2880360">
                  <a:extLst>
                    <a:ext uri="{9D8B030D-6E8A-4147-A177-3AD203B41FA5}">
                      <a16:colId xmlns:a16="http://schemas.microsoft.com/office/drawing/2014/main" val="20002"/>
                    </a:ext>
                  </a:extLst>
                </a:gridCol>
                <a:gridCol w="7772400">
                  <a:extLst>
                    <a:ext uri="{9D8B030D-6E8A-4147-A177-3AD203B41FA5}">
                      <a16:colId xmlns:a16="http://schemas.microsoft.com/office/drawing/2014/main" val="20003"/>
                    </a:ext>
                  </a:extLst>
                </a:gridCol>
                <a:gridCol w="2011680">
                  <a:extLst>
                    <a:ext uri="{9D8B030D-6E8A-4147-A177-3AD203B41FA5}">
                      <a16:colId xmlns:a16="http://schemas.microsoft.com/office/drawing/2014/main" val="20004"/>
                    </a:ext>
                  </a:extLst>
                </a:gridCol>
              </a:tblGrid>
              <a:tr h="310896">
                <a:tc>
                  <a:txBody>
                    <a:bodyPr/>
                    <a:lstStyle/>
                    <a:p>
                      <a:pPr algn="ctr">
                        <a:buNone/>
                      </a:pPr>
                      <a:r>
                        <a:rPr lang="ko-KR" altLang="en-US" sz="1100" b="1">
                          <a:solidFill>
                            <a:srgbClr val="FF7B7B"/>
                          </a:solidFill>
                          <a:latin typeface="210 OmniGothic 040"/>
                          <a:ea typeface="210 OmniGothic 040"/>
                          <a:cs typeface="210 OmniGothic 040"/>
                        </a:rPr>
                        <a:t>번호</a:t>
                      </a:r>
                      <a:endParaRPr lang="ko-KR" sz="1100"/>
                    </a:p>
                  </a:txBody>
                  <a:tcPr marL="64008" marR="6400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tc>
                  <a:txBody>
                    <a:bodyPr/>
                    <a:lstStyle/>
                    <a:p>
                      <a:pPr algn="ctr">
                        <a:buNone/>
                      </a:pPr>
                      <a:r>
                        <a:rPr lang="ko-KR" altLang="en-US" sz="1100" b="1">
                          <a:solidFill>
                            <a:srgbClr val="FF7B7B"/>
                          </a:solidFill>
                          <a:latin typeface="210 OmniGothic 040"/>
                          <a:ea typeface="210 OmniGothic 040"/>
                          <a:cs typeface="210 OmniGothic 040"/>
                        </a:rPr>
                        <a:t>교수 피드백</a:t>
                      </a:r>
                      <a:endParaRPr lang="ko-KR" sz="1100"/>
                    </a:p>
                  </a:txBody>
                  <a:tcPr marL="64008" marR="6400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tc>
                  <a:txBody>
                    <a:bodyPr/>
                    <a:lstStyle/>
                    <a:p>
                      <a:pPr algn="ctr">
                        <a:buNone/>
                      </a:pPr>
                      <a:r>
                        <a:rPr lang="ko-KR" altLang="en-US" sz="1100" b="1">
                          <a:solidFill>
                            <a:srgbClr val="FF7B7B"/>
                          </a:solidFill>
                          <a:latin typeface="210 OmniGothic 040"/>
                          <a:ea typeface="210 OmniGothic 040"/>
                          <a:cs typeface="210 OmniGothic 040"/>
                        </a:rPr>
                        <a:t>기존안</a:t>
                      </a:r>
                      <a:endParaRPr lang="ko-KR" sz="1100"/>
                    </a:p>
                  </a:txBody>
                  <a:tcPr marL="64008" marR="6400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tc>
                  <a:txBody>
                    <a:bodyPr/>
                    <a:lstStyle/>
                    <a:p>
                      <a:pPr algn="ctr">
                        <a:buNone/>
                      </a:pPr>
                      <a:r>
                        <a:rPr lang="ko-KR" altLang="en-US" sz="1100" b="1">
                          <a:solidFill>
                            <a:srgbClr val="FF7B7B"/>
                          </a:solidFill>
                          <a:latin typeface="210 OmniGothic 040"/>
                          <a:ea typeface="210 OmniGothic 040"/>
                          <a:cs typeface="210 OmniGothic 040"/>
                        </a:rPr>
                        <a:t>수정·보완 내용</a:t>
                      </a:r>
                      <a:endParaRPr lang="ko-KR" sz="1100"/>
                    </a:p>
                  </a:txBody>
                  <a:tcPr marL="64008" marR="6400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tc>
                  <a:txBody>
                    <a:bodyPr/>
                    <a:lstStyle/>
                    <a:p>
                      <a:pPr algn="ctr">
                        <a:buNone/>
                      </a:pPr>
                      <a:r>
                        <a:rPr lang="ko-KR" altLang="en-US" sz="1100" b="1">
                          <a:solidFill>
                            <a:srgbClr val="FF7B7B"/>
                          </a:solidFill>
                          <a:latin typeface="210 OmniGothic 040"/>
                          <a:ea typeface="210 OmniGothic 040"/>
                          <a:cs typeface="210 OmniGothic 040"/>
                        </a:rPr>
                        <a:t>반영 위치</a:t>
                      </a:r>
                      <a:endParaRPr lang="ko-KR" sz="1100"/>
                    </a:p>
                  </a:txBody>
                  <a:tcPr marL="64008" marR="6400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extLst>
                  <a:ext uri="{0D108BD9-81ED-4DB2-BD59-A6C34878D82A}">
                    <a16:rowId xmlns:a16="http://schemas.microsoft.com/office/drawing/2014/main" val="10000"/>
                  </a:ext>
                </a:extLst>
              </a:tr>
              <a:tr h="274320">
                <a:tc>
                  <a:txBody>
                    <a:bodyPr/>
                    <a:lstStyle/>
                    <a:p>
                      <a:pPr algn="ctr">
                        <a:buNone/>
                      </a:pPr>
                      <a:r>
                        <a:rPr lang="ko-KR" altLang="en-US" sz="1100" b="1">
                          <a:solidFill>
                            <a:srgbClr val="FF0000"/>
                          </a:solidFill>
                          <a:latin typeface="210 OmniGothic 040"/>
                          <a:ea typeface="210 OmniGothic 040"/>
                          <a:cs typeface="210 OmniGothic 040"/>
                        </a:rPr>
                        <a:t>1</a:t>
                      </a:r>
                      <a:endParaRPr lang="ko-KR" sz="1100"/>
                    </a:p>
                  </a:txBody>
                  <a:tcPr marL="64008" marR="6400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lang="ko-KR" altLang="en-US" sz="1100" b="0">
                          <a:solidFill>
                            <a:srgbClr val="FF0000"/>
                          </a:solidFill>
                          <a:latin typeface="210 OmniGothic 040"/>
                          <a:ea typeface="210 OmniGothic 040"/>
                          <a:cs typeface="210 OmniGothic 040"/>
                        </a:rPr>
                        <a:t>IoU 0.5는 매우 낮은 수치이며, 확산 예측 평가에 IoU 외 지표를 한두 가지 보완해야 함</a:t>
                      </a:r>
                      <a:endParaRPr lang="ko-KR" sz="1100"/>
                    </a:p>
                  </a:txBody>
                  <a:tcPr marL="64008" marR="6400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lang="ko-KR" altLang="en-US" sz="1100" b="0">
                          <a:solidFill>
                            <a:srgbClr val="FF0000"/>
                          </a:solidFill>
                          <a:latin typeface="210 OmniGothic 040"/>
                          <a:ea typeface="210 OmniGothic 040"/>
                          <a:cs typeface="210 OmniGothic 040"/>
                        </a:rPr>
                        <a:t>확산 예측 IoU ≥ 0.50 단일 지표, 근거 없이 정한 잠정 목표</a:t>
                      </a:r>
                      <a:endParaRPr lang="ko-KR" sz="1100"/>
                    </a:p>
                  </a:txBody>
                  <a:tcPr marL="64008" marR="6400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marL="118872" indent="-118872" algn="l">
                        <a:buFont typeface="Arial"/>
                        <a:buChar char="•"/>
                      </a:pPr>
                      <a:r>
                        <a:rPr lang="ko-KR" altLang="en-US" sz="1100" b="0">
                          <a:solidFill>
                            <a:srgbClr val="FF0000"/>
                          </a:solidFill>
                          <a:latin typeface="210 OmniGothic 040"/>
                          <a:ea typeface="210 OmniGothic 040"/>
                          <a:cs typeface="210 OmniGothic 040"/>
                        </a:rPr>
                        <a:t>국립산림과학원 설명서 표 10의 5종(IoU·정밀도·재현율·F1·F2)으로 확대, 미탐지를 중시하는 F2를 핵심 지표로 지정</a:t>
                      </a:r>
                      <a:endParaRPr lang="ko-KR" sz="1100"/>
                    </a:p>
                    <a:p>
                      <a:pPr marL="118872" indent="-118872" algn="l">
                        <a:buFont typeface="Arial"/>
                        <a:buChar char="•"/>
                      </a:pPr>
                      <a:r>
                        <a:rPr lang="ko-KR" altLang="en-US" sz="1100" b="0">
                          <a:solidFill>
                            <a:srgbClr val="FF0000"/>
                          </a:solidFill>
                          <a:latin typeface="210 OmniGothic 040"/>
                          <a:ea typeface="210 OmniGothic 040"/>
                          <a:cs typeface="210 OmniGothic 040"/>
                        </a:rPr>
                        <a:t>하한을 </a:t>
                      </a:r>
                      <a:r>
                        <a:rPr lang="ko-KR" altLang="en-US" sz="1100" b="0">
                          <a:solidFill>
                            <a:srgbClr val="FF0000"/>
                          </a:solidFill>
                          <a:latin typeface="210 OmniGothic 040"/>
                          <a:ea typeface="210 OmniGothic 040"/>
                          <a:cs typeface="210 OmniGothic 040"/>
                        </a:rPr>
                        <a:t>국립산림과학원 과정 기반 모형 성능(설명서 표 11)으로 설정: IoU ≥ 0.582, 정밀도 ≥ 0.599, 재현율 ≥ 0.956, F1 ≥ 0.699, F2 ≥ 0.805</a:t>
                      </a:r>
                      <a:endParaRPr lang="ko-KR" sz="1100"/>
                    </a:p>
                  </a:txBody>
                  <a:tcPr marL="64008" marR="6400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lang="ko-KR" altLang="en-US" sz="1100" b="0">
                          <a:solidFill>
                            <a:srgbClr val="FF0000"/>
                          </a:solidFill>
                          <a:latin typeface="210 OmniGothic 040"/>
                          <a:ea typeface="210 OmniGothic 040"/>
                          <a:cs typeface="210 OmniGothic 040"/>
                        </a:rPr>
                        <a:t>103쪽, 9·102·107쪽</a:t>
                      </a:r>
                      <a:endParaRPr lang="ko-KR" sz="1100"/>
                    </a:p>
                  </a:txBody>
                  <a:tcPr marL="64008" marR="6400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1"/>
                  </a:ext>
                </a:extLst>
              </a:tr>
              <a:tr h="274320">
                <a:tc>
                  <a:txBody>
                    <a:bodyPr/>
                    <a:lstStyle/>
                    <a:p>
                      <a:pPr algn="ctr">
                        <a:buNone/>
                      </a:pPr>
                      <a:r>
                        <a:rPr lang="ko-KR" altLang="en-US" sz="1100" b="1">
                          <a:solidFill>
                            <a:srgbClr val="FF0000"/>
                          </a:solidFill>
                          <a:latin typeface="210 OmniGothic 040"/>
                          <a:ea typeface="210 OmniGothic 040"/>
                          <a:cs typeface="210 OmniGothic 040"/>
                        </a:rPr>
                        <a:t>2</a:t>
                      </a:r>
                      <a:endParaRPr lang="ko-KR" sz="1100"/>
                    </a:p>
                  </a:txBody>
                  <a:tcPr marL="64008" marR="6400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F6F7FA"/>
                    </a:solidFill>
                  </a:tcPr>
                </a:tc>
                <a:tc>
                  <a:txBody>
                    <a:bodyPr/>
                    <a:lstStyle/>
                    <a:p>
                      <a:pPr algn="l">
                        <a:buNone/>
                      </a:pPr>
                      <a:r>
                        <a:rPr lang="ko-KR" altLang="en-US" sz="1100" b="0">
                          <a:solidFill>
                            <a:srgbClr val="FF0000"/>
                          </a:solidFill>
                          <a:latin typeface="210 OmniGothic 040"/>
                          <a:ea typeface="210 OmniGothic 040"/>
                          <a:cs typeface="210 OmniGothic 040"/>
                        </a:rPr>
                        <a:t>근거 검색 Recall@5 0.8도 낮은 편이며, 실험 결과로 목표치를 갱신해야 함</a:t>
                      </a:r>
                      <a:endParaRPr lang="ko-KR" sz="1100"/>
                    </a:p>
                  </a:txBody>
                  <a:tcPr marL="64008" marR="6400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F6F7FA"/>
                    </a:solidFill>
                  </a:tcPr>
                </a:tc>
                <a:tc>
                  <a:txBody>
                    <a:bodyPr/>
                    <a:lstStyle/>
                    <a:p>
                      <a:pPr algn="l">
                        <a:buNone/>
                      </a:pPr>
                      <a:r>
                        <a:rPr lang="ko-KR" altLang="en-US" sz="1100" b="0">
                          <a:solidFill>
                            <a:srgbClr val="FF0000"/>
                          </a:solidFill>
                          <a:latin typeface="210 OmniGothic 040"/>
                          <a:ea typeface="210 OmniGothic 040"/>
                          <a:cs typeface="210 OmniGothic 040"/>
                        </a:rPr>
                        <a:t>근거 검색 Recall@5 ≥ 0.80, 제안 충실도 ≥ 0.90, 답변 관련성 ≥ 0.80 (근거 없는 잠정 목표)</a:t>
                      </a:r>
                      <a:endParaRPr lang="ko-KR" sz="1100"/>
                    </a:p>
                  </a:txBody>
                  <a:tcPr marL="64008" marR="6400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F6F7FA"/>
                    </a:solidFill>
                  </a:tcPr>
                </a:tc>
                <a:tc>
                  <a:txBody>
                    <a:bodyPr/>
                    <a:lstStyle/>
                    <a:p>
                      <a:pPr marL="118872" indent="-118872" algn="l">
                        <a:buFont typeface="Arial"/>
                        <a:buChar char="•"/>
                      </a:pPr>
                      <a:r>
                        <a:rPr lang="ko-KR" altLang="en-US" sz="1100" b="0">
                          <a:solidFill>
                            <a:srgbClr val="FF0000"/>
                          </a:solidFill>
                          <a:latin typeface="210 OmniGothic 040"/>
                          <a:ea typeface="210 OmniGothic 040"/>
                          <a:cs typeface="210 OmniGothic 040"/>
                        </a:rPr>
                        <a:t>대응 제안 성능을 RAGAS 4종(근거 충실도·질의 관련도·근거 순위 정밀도@K·필요 근거 확보율@K)으로 재정의</a:t>
                      </a:r>
                      <a:endParaRPr lang="ko-KR" sz="1100"/>
                    </a:p>
                    <a:p>
                      <a:pPr marL="118872" indent="-118872" algn="l">
                        <a:buFont typeface="Arial"/>
                        <a:buChar char="•"/>
                      </a:pPr>
                      <a:r>
                        <a:rPr lang="ko-KR" altLang="en-US" sz="1100" b="0">
                          <a:solidFill>
                            <a:srgbClr val="FF0000"/>
                          </a:solidFill>
                          <a:latin typeface="210 OmniGothic 040"/>
                          <a:ea typeface="210 OmniGothic 040"/>
                          <a:cs typeface="210 OmniGothic 040"/>
                        </a:rPr>
                        <a:t>하한 = 유사 RAG 연구 대표값의 하위 사분위(0.79·0.82·0.82·0.80), K는 3·5·7·10 비교로 선택, 1차 실행 결과로 재확인</a:t>
                      </a:r>
                      <a:endParaRPr lang="ko-KR" sz="1100"/>
                    </a:p>
                  </a:txBody>
                  <a:tcPr marL="64008" marR="6400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F6F7FA"/>
                    </a:solidFill>
                  </a:tcPr>
                </a:tc>
                <a:tc>
                  <a:txBody>
                    <a:bodyPr/>
                    <a:lstStyle/>
                    <a:p>
                      <a:pPr algn="ctr">
                        <a:buNone/>
                      </a:pPr>
                      <a:r>
                        <a:rPr lang="ko-KR" altLang="en-US" sz="1100" b="0">
                          <a:solidFill>
                            <a:srgbClr val="FF0000"/>
                          </a:solidFill>
                          <a:latin typeface="210 OmniGothic 040"/>
                          <a:ea typeface="210 OmniGothic 040"/>
                          <a:cs typeface="210 OmniGothic 040"/>
                        </a:rPr>
                        <a:t>104쪽,</a:t>
                      </a:r>
                      <a:endParaRPr lang="ko-KR" sz="1100"/>
                    </a:p>
                    <a:p>
                      <a:pPr algn="ctr">
                        <a:buNone/>
                      </a:pPr>
                      <a:r>
                        <a:rPr lang="ko-KR" altLang="en-US" sz="1100" b="0">
                          <a:solidFill>
                            <a:srgbClr val="FF0000"/>
                          </a:solidFill>
                          <a:latin typeface="210 OmniGothic 040"/>
                          <a:ea typeface="210 OmniGothic 040"/>
                          <a:cs typeface="210 OmniGothic 040"/>
                        </a:rPr>
                        <a:t>9·42·46·63·102·</a:t>
                      </a:r>
                      <a:endParaRPr lang="ko-KR" sz="1100"/>
                    </a:p>
                    <a:p>
                      <a:pPr algn="ctr">
                        <a:buNone/>
                      </a:pPr>
                      <a:r>
                        <a:rPr lang="ko-KR" altLang="en-US" sz="1100" b="0">
                          <a:solidFill>
                            <a:srgbClr val="FF0000"/>
                          </a:solidFill>
                          <a:latin typeface="210 OmniGothic 040"/>
                          <a:ea typeface="210 OmniGothic 040"/>
                          <a:cs typeface="210 OmniGothic 040"/>
                        </a:rPr>
                        <a:t>105~107쪽</a:t>
                      </a:r>
                      <a:endParaRPr lang="ko-KR" sz="1100"/>
                    </a:p>
                  </a:txBody>
                  <a:tcPr marL="64008" marR="6400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F6F7FA"/>
                    </a:solidFill>
                  </a:tcPr>
                </a:tc>
                <a:extLst>
                  <a:ext uri="{0D108BD9-81ED-4DB2-BD59-A6C34878D82A}">
                    <a16:rowId xmlns:a16="http://schemas.microsoft.com/office/drawing/2014/main" val="10002"/>
                  </a:ext>
                </a:extLst>
              </a:tr>
              <a:tr h="274320">
                <a:tc>
                  <a:txBody>
                    <a:bodyPr/>
                    <a:lstStyle/>
                    <a:p>
                      <a:pPr algn="ctr">
                        <a:buNone/>
                      </a:pPr>
                      <a:r>
                        <a:rPr lang="ko-KR" altLang="en-US" sz="1100" b="1">
                          <a:solidFill>
                            <a:srgbClr val="FF0000"/>
                          </a:solidFill>
                          <a:latin typeface="210 OmniGothic 040"/>
                          <a:ea typeface="210 OmniGothic 040"/>
                          <a:cs typeface="210 OmniGothic 040"/>
                        </a:rPr>
                        <a:t>3</a:t>
                      </a:r>
                      <a:endParaRPr lang="ko-KR" sz="1100"/>
                    </a:p>
                  </a:txBody>
                  <a:tcPr marL="64008" marR="6400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lang="ko-KR" altLang="en-US" sz="1100" b="0">
                          <a:solidFill>
                            <a:srgbClr val="FF0000"/>
                          </a:solidFill>
                          <a:latin typeface="210 OmniGothic 040"/>
                          <a:ea typeface="210 OmniGothic 040"/>
                          <a:cs typeface="210 OmniGothic 040"/>
                        </a:rPr>
                        <a:t>EXAONE으로 채점하는 방식의 선정 근거가 부족함</a:t>
                      </a:r>
                      <a:endParaRPr lang="ko-KR" sz="1100"/>
                    </a:p>
                  </a:txBody>
                  <a:tcPr marL="64008" marR="6400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lang="ko-KR" altLang="en-US" sz="1100" b="0">
                          <a:solidFill>
                            <a:srgbClr val="FF0000"/>
                          </a:solidFill>
                          <a:latin typeface="210 OmniGothic 040"/>
                          <a:ea typeface="210 OmniGothic 040"/>
                          <a:cs typeface="210 OmniGothic 040"/>
                        </a:rPr>
                        <a:t>「생성기와 분리한 EXAONE 채점 프롬프트로 자동 채점」으로만 기술</a:t>
                      </a:r>
                      <a:endParaRPr lang="ko-KR" sz="1100"/>
                    </a:p>
                  </a:txBody>
                  <a:tcPr marL="64008" marR="6400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marL="118872" indent="-118872" algn="l">
                        <a:buFont typeface="Arial"/>
                        <a:buChar char="•"/>
                      </a:pPr>
                      <a:r>
                        <a:rPr lang="ko-KR" altLang="en-US" sz="1100" b="0">
                          <a:solidFill>
                            <a:srgbClr val="FF0000"/>
                          </a:solidFill>
                          <a:latin typeface="210 OmniGothic 040"/>
                          <a:ea typeface="210 OmniGothic 040"/>
                          <a:cs typeface="210 OmniGothic 040"/>
                        </a:rPr>
                        <a:t>매뉴얼을 외부로 보내지 않도록 로컬 EXAONE 4.0 32B로 RAGAS를 채점하고, 로컬 모델 채점 선례를 근거로 제시</a:t>
                      </a:r>
                      <a:endParaRPr lang="ko-KR" sz="1100"/>
                    </a:p>
                    <a:p>
                      <a:pPr marL="118872" indent="-118872" algn="l">
                        <a:buFont typeface="Arial"/>
                        <a:buChar char="•"/>
                      </a:pPr>
                      <a:r>
                        <a:rPr lang="ko-KR" altLang="en-US" sz="1100" b="0">
                          <a:solidFill>
                            <a:srgbClr val="FF0000"/>
                          </a:solidFill>
                          <a:latin typeface="210 OmniGothic 040"/>
                          <a:ea typeface="210 OmniGothic 040"/>
                          <a:cs typeface="210 OmniGothic 040"/>
                        </a:rPr>
                        <a:t>자기 채점 편향은 한계로 밝히고, 채점 실패율·95% 신뢰구간을 함께 보고</a:t>
                      </a:r>
                      <a:endParaRPr lang="ko-KR" sz="1100"/>
                    </a:p>
                  </a:txBody>
                  <a:tcPr marL="64008" marR="6400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lang="ko-KR" altLang="en-US" sz="1100" b="0">
                          <a:solidFill>
                            <a:srgbClr val="FF0000"/>
                          </a:solidFill>
                          <a:latin typeface="210 OmniGothic 040"/>
                          <a:ea typeface="210 OmniGothic 040"/>
                          <a:cs typeface="210 OmniGothic 040"/>
                        </a:rPr>
                        <a:t>104·107쪽</a:t>
                      </a:r>
                      <a:endParaRPr lang="ko-KR" sz="1100"/>
                    </a:p>
                  </a:txBody>
                  <a:tcPr marL="64008" marR="6400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3"/>
                  </a:ext>
                </a:extLst>
              </a:tr>
              <a:tr h="274320">
                <a:tc>
                  <a:txBody>
                    <a:bodyPr/>
                    <a:lstStyle/>
                    <a:p>
                      <a:pPr algn="ctr">
                        <a:buNone/>
                      </a:pPr>
                      <a:r>
                        <a:rPr lang="ko-KR" altLang="en-US" sz="1100" b="1">
                          <a:solidFill>
                            <a:srgbClr val="FF0000"/>
                          </a:solidFill>
                          <a:latin typeface="210 OmniGothic 040"/>
                          <a:ea typeface="210 OmniGothic 040"/>
                          <a:cs typeface="210 OmniGothic 040"/>
                        </a:rPr>
                        <a:t>4</a:t>
                      </a:r>
                      <a:endParaRPr lang="ko-KR" sz="1100"/>
                    </a:p>
                  </a:txBody>
                  <a:tcPr marL="64008" marR="6400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F6F7FA"/>
                    </a:solidFill>
                  </a:tcPr>
                </a:tc>
                <a:tc>
                  <a:txBody>
                    <a:bodyPr/>
                    <a:lstStyle/>
                    <a:p>
                      <a:pPr algn="l">
                        <a:buNone/>
                      </a:pPr>
                      <a:r>
                        <a:rPr lang="ko-KR" altLang="en-US" sz="1100" b="0">
                          <a:solidFill>
                            <a:srgbClr val="FF0000"/>
                          </a:solidFill>
                          <a:latin typeface="210 OmniGothic 040"/>
                          <a:ea typeface="210 OmniGothic 040"/>
                          <a:cs typeface="210 OmniGothic 040"/>
                        </a:rPr>
                        <a:t>유스케이스·기능·비기능 요구사항과 검증 방법을 잇는 요구사항 추적 매트릭스를 갖추는 것이 바람직함</a:t>
                      </a:r>
                      <a:endParaRPr lang="ko-KR" sz="1100"/>
                    </a:p>
                  </a:txBody>
                  <a:tcPr marL="64008" marR="6400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F6F7FA"/>
                    </a:solidFill>
                  </a:tcPr>
                </a:tc>
                <a:tc>
                  <a:txBody>
                    <a:bodyPr/>
                    <a:lstStyle/>
                    <a:p>
                      <a:pPr algn="l">
                        <a:buNone/>
                      </a:pPr>
                      <a:r>
                        <a:rPr lang="ko-KR" altLang="en-US" sz="1100" b="0">
                          <a:solidFill>
                            <a:srgbClr val="FF0000"/>
                          </a:solidFill>
                          <a:latin typeface="210 OmniGothic 040"/>
                          <a:ea typeface="210 OmniGothic 040"/>
                          <a:cs typeface="210 OmniGothic 040"/>
                        </a:rPr>
                        <a:t>요구사항 추적표 없음</a:t>
                      </a:r>
                      <a:endParaRPr lang="ko-KR" sz="1100"/>
                    </a:p>
                  </a:txBody>
                  <a:tcPr marL="64008" marR="6400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F6F7FA"/>
                    </a:solidFill>
                  </a:tcPr>
                </a:tc>
                <a:tc>
                  <a:txBody>
                    <a:bodyPr/>
                    <a:lstStyle/>
                    <a:p>
                      <a:pPr marL="118872" indent="-118872" algn="l">
                        <a:buFont typeface="Arial"/>
                        <a:buChar char="•"/>
                      </a:pPr>
                      <a:r>
                        <a:rPr lang="ko-KR" altLang="en-US" sz="1100" b="0">
                          <a:solidFill>
                            <a:srgbClr val="FF0000"/>
                          </a:solidFill>
                          <a:latin typeface="210 OmniGothic 040"/>
                          <a:ea typeface="210 OmniGothic 040"/>
                          <a:cs typeface="210 OmniGothic 040"/>
                        </a:rPr>
                        <a:t>「08. 요구사항 추적표」 신설: 기능 32개·비기능 23개를 유스케이스·구현 모듈·데이터·검증·테스트 결과·상태와 연결</a:t>
                      </a:r>
                      <a:endParaRPr lang="ko-KR" sz="1100"/>
                    </a:p>
                  </a:txBody>
                  <a:tcPr marL="64008" marR="6400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F6F7FA"/>
                    </a:solidFill>
                  </a:tcPr>
                </a:tc>
                <a:tc>
                  <a:txBody>
                    <a:bodyPr/>
                    <a:lstStyle/>
                    <a:p>
                      <a:pPr algn="ctr">
                        <a:buNone/>
                      </a:pPr>
                      <a:r>
                        <a:rPr lang="ko-KR" altLang="en-US" sz="1100" b="0">
                          <a:solidFill>
                            <a:srgbClr val="FF0000"/>
                          </a:solidFill>
                          <a:latin typeface="210 OmniGothic 040"/>
                          <a:ea typeface="210 OmniGothic 040"/>
                          <a:cs typeface="210 OmniGothic 040"/>
                        </a:rPr>
                        <a:t>108~115쪽, 목차</a:t>
                      </a:r>
                      <a:endParaRPr lang="ko-KR" sz="1100"/>
                    </a:p>
                  </a:txBody>
                  <a:tcPr marL="64008" marR="6400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F6F7FA"/>
                    </a:solidFill>
                  </a:tcPr>
                </a:tc>
                <a:extLst>
                  <a:ext uri="{0D108BD9-81ED-4DB2-BD59-A6C34878D82A}">
                    <a16:rowId xmlns:a16="http://schemas.microsoft.com/office/drawing/2014/main" val="10004"/>
                  </a:ext>
                </a:extLst>
              </a:tr>
            </a:tbl>
          </a:graphicData>
        </a:graphic>
      </p:graphicFrame>
      <p:sp>
        <p:nvSpPr>
          <p:cNvPr id="5528" name="Cap T2"/>
          <p:cNvSpPr txBox="1"/>
          <p:nvPr/>
        </p:nvSpPr>
        <p:spPr>
          <a:xfrm>
            <a:off x="822960" y="4480560"/>
            <a:ext cx="16642080" cy="292608"/>
          </a:xfrm>
          <a:prstGeom prst="rect">
            <a:avLst/>
          </a:prstGeom>
          <a:noFill/>
        </p:spPr>
        <p:txBody>
          <a:bodyPr wrap="square" lIns="0" tIns="0" rIns="0" bIns="0" anchor="t">
            <a:spAutoFit/>
          </a:bodyPr>
          <a:lstStyle/>
          <a:p>
            <a:pPr algn="l">
              <a:buNone/>
            </a:pPr>
            <a:r>
              <a:rPr lang="ko-KR" altLang="en-US" sz="1400" b="1">
                <a:solidFill>
                  <a:srgbClr val="FF0000"/>
                </a:solidFill>
                <a:latin typeface="210 OmniGothic 040"/>
                <a:ea typeface="210 OmniGothic 040"/>
                <a:cs typeface="210 OmniGothic 040"/>
              </a:rPr>
              <a:t>2. 교수 피드백 외 및 추가 주요 수정·보완 사항</a:t>
            </a:r>
            <a:endParaRPr lang="ko-KR" sz="1400"/>
          </a:p>
        </p:txBody>
      </p:sp>
      <p:graphicFrame>
        <p:nvGraphicFramePr>
          <p:cNvPr id="5529" name="Table Fix2"/>
          <p:cNvGraphicFramePr>
            <a:graphicFrameLocks noGrp="1"/>
          </p:cNvGraphicFramePr>
          <p:nvPr/>
        </p:nvGraphicFramePr>
        <p:xfrm>
          <a:off x="822960" y="4791456"/>
          <a:ext cx="16642080" cy="2743200"/>
        </p:xfrm>
        <a:graphic>
          <a:graphicData uri="http://schemas.openxmlformats.org/drawingml/2006/table">
            <a:tbl>
              <a:tblPr>
                <a:tableStyleId>{2D5ABB26-0587-4C30-8999-92F81FD0307C}</a:tableStyleId>
              </a:tblPr>
              <a:tblGrid>
                <a:gridCol w="457200"/>
                <a:gridCol w="1234440"/>
                <a:gridCol w="4526280"/>
                <a:gridCol w="2834640"/>
                <a:gridCol w="5760720"/>
                <a:gridCol w="1828800"/>
              </a:tblGrid>
              <a:tr h="310896">
                <a:tc>
                  <a:txBody>
                    <a:bodyPr/>
                    <a:lstStyle/>
                    <a:p>
                      <a:pPr algn="ctr">
                        <a:buNone/>
                      </a:pPr>
                      <a:r>
                        <a:rPr lang="ko-KR" altLang="en-US" sz="1100" b="1">
                          <a:solidFill>
                            <a:srgbClr val="FF7B7B"/>
                          </a:solidFill>
                          <a:latin typeface="210 OmniGothic 040"/>
                          <a:ea typeface="210 OmniGothic 040"/>
                          <a:cs typeface="210 OmniGothic 040"/>
                        </a:rPr>
                        <a:t>번호</a:t>
                      </a:r>
                      <a:endParaRPr lang="ko-KR" sz="1100"/>
                    </a:p>
                  </a:txBody>
                  <a:tcPr marL="64008" marR="6400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tc>
                  <a:txBody>
                    <a:bodyPr/>
                    <a:lstStyle/>
                    <a:p>
                      <a:pPr algn="ctr">
                        <a:buNone/>
                      </a:pPr>
                      <a:r>
                        <a:rPr lang="ko-KR" altLang="en-US" sz="1100" b="1">
                          <a:solidFill>
                            <a:srgbClr val="FF7B7B"/>
                          </a:solidFill>
                          <a:latin typeface="210 OmniGothic 040"/>
                          <a:ea typeface="210 OmniGothic 040"/>
                          <a:cs typeface="210 OmniGothic 040"/>
                        </a:rPr>
                        <a:t>항목</a:t>
                      </a:r>
                      <a:endParaRPr lang="ko-KR" sz="1100"/>
                    </a:p>
                  </a:txBody>
                  <a:tcPr marL="64008" marR="6400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tc>
                  <a:txBody>
                    <a:bodyPr/>
                    <a:lstStyle/>
                    <a:p>
                      <a:pPr algn="ctr">
                        <a:buNone/>
                      </a:pPr>
                      <a:r>
                        <a:rPr lang="ko-KR" altLang="en-US" sz="1100" b="1">
                          <a:solidFill>
                            <a:srgbClr val="FF7B7B"/>
                          </a:solidFill>
                          <a:latin typeface="210 OmniGothic 040"/>
                          <a:ea typeface="210 OmniGothic 040"/>
                          <a:cs typeface="210 OmniGothic 040"/>
                        </a:rPr>
                        <a:t>수정 사유</a:t>
                      </a:r>
                      <a:endParaRPr lang="ko-KR" sz="1100"/>
                    </a:p>
                  </a:txBody>
                  <a:tcPr marL="64008" marR="6400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tc>
                  <a:txBody>
                    <a:bodyPr/>
                    <a:lstStyle/>
                    <a:p>
                      <a:pPr algn="ctr">
                        <a:buNone/>
                      </a:pPr>
                      <a:r>
                        <a:rPr lang="ko-KR" altLang="en-US" sz="1100" b="1">
                          <a:solidFill>
                            <a:srgbClr val="FF7B7B"/>
                          </a:solidFill>
                          <a:latin typeface="210 OmniGothic 040"/>
                          <a:ea typeface="210 OmniGothic 040"/>
                          <a:cs typeface="210 OmniGothic 040"/>
                        </a:rPr>
                        <a:t>기존안</a:t>
                      </a:r>
                      <a:endParaRPr lang="ko-KR" sz="1100"/>
                    </a:p>
                  </a:txBody>
                  <a:tcPr marL="64008" marR="6400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tc>
                  <a:txBody>
                    <a:bodyPr/>
                    <a:lstStyle/>
                    <a:p>
                      <a:pPr algn="ctr">
                        <a:buNone/>
                      </a:pPr>
                      <a:r>
                        <a:rPr lang="ko-KR" altLang="en-US" sz="1100" b="1">
                          <a:solidFill>
                            <a:srgbClr val="FF7B7B"/>
                          </a:solidFill>
                          <a:latin typeface="210 OmniGothic 040"/>
                          <a:ea typeface="210 OmniGothic 040"/>
                          <a:cs typeface="210 OmniGothic 040"/>
                        </a:rPr>
                        <a:t>수정·보완 내용</a:t>
                      </a:r>
                      <a:endParaRPr lang="ko-KR" sz="1100"/>
                    </a:p>
                  </a:txBody>
                  <a:tcPr marL="64008" marR="6400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tc>
                  <a:txBody>
                    <a:bodyPr/>
                    <a:lstStyle/>
                    <a:p>
                      <a:pPr algn="ctr">
                        <a:buNone/>
                      </a:pPr>
                      <a:r>
                        <a:rPr lang="ko-KR" altLang="en-US" sz="1100" b="1">
                          <a:solidFill>
                            <a:srgbClr val="FF7B7B"/>
                          </a:solidFill>
                          <a:latin typeface="210 OmniGothic 040"/>
                          <a:ea typeface="210 OmniGothic 040"/>
                          <a:cs typeface="210 OmniGothic 040"/>
                        </a:rPr>
                        <a:t>반영 위치</a:t>
                      </a:r>
                      <a:endParaRPr lang="ko-KR" sz="1100"/>
                    </a:p>
                  </a:txBody>
                  <a:tcPr marL="64008" marR="6400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tr>
              <a:tr h="274320">
                <a:tc>
                  <a:txBody>
                    <a:bodyPr/>
                    <a:lstStyle/>
                    <a:p>
                      <a:pPr algn="ctr">
                        <a:buNone/>
                      </a:pPr>
                      <a:r>
                        <a:rPr lang="ko-KR" altLang="en-US" sz="1100" b="1">
                          <a:solidFill>
                            <a:srgbClr val="FF0000"/>
                          </a:solidFill>
                          <a:latin typeface="210 OmniGothic 040"/>
                          <a:ea typeface="210 OmniGothic 040"/>
                          <a:cs typeface="210 OmniGothic 040"/>
                        </a:rPr>
                        <a:t>1</a:t>
                      </a:r>
                      <a:endParaRPr lang="ko-KR" sz="1100"/>
                    </a:p>
                  </a:txBody>
                  <a:tcPr marL="64008" marR="6400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lang="ko-KR" altLang="en-US" sz="1100" b="1">
                          <a:solidFill>
                            <a:srgbClr val="FF0000"/>
                          </a:solidFill>
                          <a:latin typeface="210 OmniGothic 040"/>
                          <a:ea typeface="210 OmniGothic 040"/>
                          <a:cs typeface="210 OmniGothic 040"/>
                        </a:rPr>
                        <a:t>위험도의 정의</a:t>
                      </a:r>
                      <a:endParaRPr lang="ko-KR" sz="1100"/>
                    </a:p>
                  </a:txBody>
                  <a:tcPr marL="64008" marR="6400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lang="ko-KR" altLang="en-US" sz="1100" b="0">
                          <a:solidFill>
                            <a:srgbClr val="FF0000"/>
                          </a:solidFill>
                          <a:latin typeface="210 OmniGothic 040"/>
                          <a:ea typeface="210 OmniGothic 040"/>
                          <a:cs typeface="210 OmniGothic 040"/>
                        </a:rPr>
                        <a:t>AI Hub 1~5 위험도는 LLM 학습용 중간 점수로, 국가 체계와 연결·검증되지 않음(산불 101건 분석: 대응단계와 상관 0.37)</a:t>
                      </a:r>
                      <a:endParaRPr lang="ko-KR" sz="1100"/>
                    </a:p>
                  </a:txBody>
                  <a:tcPr marL="64008" marR="6400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lang="ko-KR" altLang="en-US" sz="1100" b="0">
                          <a:solidFill>
                            <a:srgbClr val="FF0000"/>
                          </a:solidFill>
                          <a:latin typeface="210 OmniGothic 040"/>
                          <a:ea typeface="210 OmniGothic 040"/>
                          <a:cs typeface="210 OmniGothic 040"/>
                        </a:rPr>
                        <a:t>발화 지점 조건을 보는 「조건위험도」</a:t>
                      </a:r>
                      <a:endParaRPr lang="ko-KR" sz="1100"/>
                    </a:p>
                  </a:txBody>
                  <a:tcPr marL="64008" marR="6400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lang="ko-KR" altLang="en-US" sz="1100" b="0">
                          <a:solidFill>
                            <a:srgbClr val="FF0000"/>
                          </a:solidFill>
                          <a:latin typeface="210 OmniGothic 040"/>
                          <a:ea typeface="210 OmniGothic 040"/>
                          <a:cs typeface="210 OmniGothic 040"/>
                        </a:rPr>
                        <a:t>해당 산불의 위험 정도를 나타내는 독립 지표로 정의, 산불위험지수·대응단계 등에 매핑하지 않음</a:t>
                      </a:r>
                      <a:endParaRPr lang="ko-KR" sz="1100"/>
                    </a:p>
                  </a:txBody>
                  <a:tcPr marL="64008" marR="6400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lang="ko-KR" altLang="en-US" sz="1100" b="0">
                          <a:solidFill>
                            <a:srgbClr val="FF0000"/>
                          </a:solidFill>
                          <a:latin typeface="210 OmniGothic 040"/>
                          <a:ea typeface="210 OmniGothic 040"/>
                          <a:cs typeface="210 OmniGothic 040"/>
                        </a:rPr>
                        <a:t>12·18·24쪽</a:t>
                      </a:r>
                      <a:endParaRPr lang="ko-KR" sz="1100"/>
                    </a:p>
                  </a:txBody>
                  <a:tcPr marL="64008" marR="6400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r>
              <a:tr h="274320">
                <a:tc>
                  <a:txBody>
                    <a:bodyPr/>
                    <a:lstStyle/>
                    <a:p>
                      <a:pPr algn="ctr">
                        <a:buNone/>
                      </a:pPr>
                      <a:r>
                        <a:rPr lang="ko-KR" altLang="en-US" sz="1100" b="1">
                          <a:solidFill>
                            <a:srgbClr val="FF0000"/>
                          </a:solidFill>
                          <a:latin typeface="210 OmniGothic 040"/>
                          <a:ea typeface="210 OmniGothic 040"/>
                          <a:cs typeface="210 OmniGothic 040"/>
                        </a:rPr>
                        <a:t>2</a:t>
                      </a:r>
                      <a:endParaRPr lang="ko-KR" sz="1100"/>
                    </a:p>
                  </a:txBody>
                  <a:tcPr marL="64008" marR="6400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F6F7FA"/>
                    </a:solidFill>
                  </a:tcPr>
                </a:tc>
                <a:tc>
                  <a:txBody>
                    <a:bodyPr/>
                    <a:lstStyle/>
                    <a:p>
                      <a:pPr algn="ctr">
                        <a:buNone/>
                      </a:pPr>
                      <a:r>
                        <a:rPr lang="ko-KR" altLang="en-US" sz="1100" b="1">
                          <a:solidFill>
                            <a:srgbClr val="FF0000"/>
                          </a:solidFill>
                          <a:latin typeface="210 OmniGothic 040"/>
                          <a:ea typeface="210 OmniGothic 040"/>
                          <a:cs typeface="210 OmniGothic 040"/>
                        </a:rPr>
                        <a:t>척도·표시</a:t>
                      </a:r>
                      <a:endParaRPr lang="ko-KR" sz="1100"/>
                    </a:p>
                  </a:txBody>
                  <a:tcPr marL="64008" marR="6400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F6F7FA"/>
                    </a:solidFill>
                  </a:tcPr>
                </a:tc>
                <a:tc>
                  <a:txBody>
                    <a:bodyPr/>
                    <a:lstStyle/>
                    <a:p>
                      <a:pPr algn="l">
                        <a:buNone/>
                      </a:pPr>
                      <a:r>
                        <a:rPr lang="ko-KR" altLang="en-US" sz="1100" b="0">
                          <a:solidFill>
                            <a:srgbClr val="FF0000"/>
                          </a:solidFill>
                          <a:latin typeface="210 OmniGothic 040"/>
                          <a:ea typeface="210 OmniGothic 040"/>
                          <a:cs typeface="210 OmniGothic 040"/>
                        </a:rPr>
                        <a:t>0~100 변환은 「위험도 0」·산불위험지수와의 혼동을 낳고, R이 2.25~3.20에 몰려 등급 이름은 대형산불도 「보통」으로 보이게 함</a:t>
                      </a:r>
                      <a:endParaRPr lang="ko-KR" sz="1100"/>
                    </a:p>
                  </a:txBody>
                  <a:tcPr marL="64008" marR="6400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F6F7FA"/>
                    </a:solidFill>
                  </a:tcPr>
                </a:tc>
                <a:tc>
                  <a:txBody>
                    <a:bodyPr/>
                    <a:lstStyle/>
                    <a:p>
                      <a:pPr algn="l">
                        <a:buNone/>
                      </a:pPr>
                      <a:r>
                        <a:rPr lang="ko-KR" altLang="en-US" sz="1100" b="0">
                          <a:solidFill>
                            <a:srgbClr val="FF0000"/>
                          </a:solidFill>
                          <a:latin typeface="210 OmniGothic 040"/>
                          <a:ea typeface="210 OmniGothic 040"/>
                          <a:cs typeface="210 OmniGothic 040"/>
                        </a:rPr>
                        <a:t>25 × (가중평균 − 1)로 0~100 변환, 등급 4개</a:t>
                      </a:r>
                      <a:endParaRPr lang="ko-KR" sz="1100"/>
                    </a:p>
                  </a:txBody>
                  <a:tcPr marL="64008" marR="6400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F6F7FA"/>
                    </a:solidFill>
                  </a:tcPr>
                </a:tc>
                <a:tc>
                  <a:txBody>
                    <a:bodyPr/>
                    <a:lstStyle/>
                    <a:p>
                      <a:pPr algn="l">
                        <a:buNone/>
                      </a:pPr>
                      <a:r>
                        <a:rPr lang="ko-KR" altLang="en-US" sz="1100" b="0">
                          <a:solidFill>
                            <a:srgbClr val="FF0000"/>
                          </a:solidFill>
                          <a:latin typeface="210 OmniGothic 040"/>
                          <a:ea typeface="210 OmniGothic 040"/>
                          <a:cs typeface="210 OmniGothic 040"/>
                        </a:rPr>
                        <a:t>R(1.00~5.00) 숫자와 4축 요인 점수만 표시, 등급 이름 없음, 종료 산불은 「종료」</a:t>
                      </a:r>
                      <a:endParaRPr lang="ko-KR" sz="1100"/>
                    </a:p>
                  </a:txBody>
                  <a:tcPr marL="64008" marR="6400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F6F7FA"/>
                    </a:solidFill>
                  </a:tcPr>
                </a:tc>
                <a:tc>
                  <a:txBody>
                    <a:bodyPr/>
                    <a:lstStyle/>
                    <a:p>
                      <a:pPr algn="ctr">
                        <a:buNone/>
                      </a:pPr>
                      <a:r>
                        <a:rPr lang="ko-KR" altLang="en-US" sz="1100" b="0">
                          <a:solidFill>
                            <a:srgbClr val="FF0000"/>
                          </a:solidFill>
                          <a:latin typeface="210 OmniGothic 040"/>
                          <a:ea typeface="210 OmniGothic 040"/>
                          <a:cs typeface="210 OmniGothic 040"/>
                        </a:rPr>
                        <a:t>12·24·43·54·72·106쪽</a:t>
                      </a:r>
                      <a:endParaRPr lang="ko-KR" sz="1100"/>
                    </a:p>
                  </a:txBody>
                  <a:tcPr marL="64008" marR="6400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F6F7FA"/>
                    </a:solidFill>
                  </a:tcPr>
                </a:tc>
              </a:tr>
              <a:tr h="274320">
                <a:tc>
                  <a:txBody>
                    <a:bodyPr/>
                    <a:lstStyle/>
                    <a:p>
                      <a:pPr algn="ctr">
                        <a:buNone/>
                      </a:pPr>
                      <a:r>
                        <a:rPr lang="ko-KR" altLang="en-US" sz="1100" b="1">
                          <a:solidFill>
                            <a:srgbClr val="FF0000"/>
                          </a:solidFill>
                          <a:latin typeface="210 OmniGothic 040"/>
                          <a:ea typeface="210 OmniGothic 040"/>
                          <a:cs typeface="210 OmniGothic 040"/>
                        </a:rPr>
                        <a:t>3</a:t>
                      </a:r>
                      <a:endParaRPr lang="ko-KR" sz="1100"/>
                    </a:p>
                  </a:txBody>
                  <a:tcPr marL="64008" marR="6400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lang="ko-KR" altLang="en-US" sz="1100" b="1">
                          <a:solidFill>
                            <a:srgbClr val="FF0000"/>
                          </a:solidFill>
                          <a:latin typeface="210 OmniGothic 040"/>
                          <a:ea typeface="210 OmniGothic 040"/>
                          <a:cs typeface="210 OmniGothic 040"/>
                        </a:rPr>
                        <a:t>사용 변수 25 → 23개</a:t>
                      </a:r>
                      <a:endParaRPr lang="ko-KR" sz="1100"/>
                    </a:p>
                  </a:txBody>
                  <a:tcPr marL="64008" marR="6400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lang="ko-KR" altLang="en-US" sz="1100" b="0">
                          <a:solidFill>
                            <a:srgbClr val="FF0000"/>
                          </a:solidFill>
                          <a:latin typeface="210 OmniGothic 040"/>
                          <a:ea typeface="210 OmniGothic 040"/>
                          <a:cs typeface="210 OmniGothic 040"/>
                        </a:rPr>
                        <a:t>경사도_down은 CSV 구간이 겹치고, 도로 접근성은 숫자 기준이 없어 등급을 정할 수 없음</a:t>
                      </a:r>
                      <a:endParaRPr lang="ko-KR" sz="1100"/>
                    </a:p>
                  </a:txBody>
                  <a:tcPr marL="64008" marR="6400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lang="ko-KR" altLang="en-US" sz="1100" b="0">
                          <a:solidFill>
                            <a:srgbClr val="FF0000"/>
                          </a:solidFill>
                          <a:latin typeface="210 OmniGothic 040"/>
                          <a:ea typeface="210 OmniGothic 040"/>
                          <a:cs typeface="210 OmniGothic 040"/>
                        </a:rPr>
                        <a:t>CSV 25개 변수(기상 0.35·지형 0.30·연료 0.25·인프라 0.10)</a:t>
                      </a:r>
                      <a:endParaRPr lang="ko-KR" sz="1100"/>
                    </a:p>
                  </a:txBody>
                  <a:tcPr marL="64008" marR="6400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lang="ko-KR" altLang="en-US" sz="1100" b="0">
                          <a:solidFill>
                            <a:srgbClr val="FF0000"/>
                          </a:solidFill>
                          <a:latin typeface="210 OmniGothic 040"/>
                          <a:ea typeface="210 OmniGothic 040"/>
                          <a:cs typeface="210 OmniGothic 040"/>
                        </a:rPr>
                        <a:t>두 변수를 빼고 가중치 합 0.94로 재조정(0.372·0.287·0.266·0.074)</a:t>
                      </a:r>
                      <a:endParaRPr lang="ko-KR" sz="1100"/>
                    </a:p>
                  </a:txBody>
                  <a:tcPr marL="64008" marR="6400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lang="ko-KR" altLang="en-US" sz="1100" b="0">
                          <a:solidFill>
                            <a:srgbClr val="FF0000"/>
                          </a:solidFill>
                          <a:latin typeface="210 OmniGothic 040"/>
                          <a:ea typeface="210 OmniGothic 040"/>
                          <a:cs typeface="210 OmniGothic 040"/>
                        </a:rPr>
                        <a:t>54·106쪽</a:t>
                      </a:r>
                      <a:endParaRPr lang="ko-KR" sz="1100"/>
                    </a:p>
                  </a:txBody>
                  <a:tcPr marL="64008" marR="6400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r>
              <a:tr h="274320">
                <a:tc>
                  <a:txBody>
                    <a:bodyPr/>
                    <a:lstStyle/>
                    <a:p>
                      <a:pPr algn="ctr">
                        <a:buNone/>
                      </a:pPr>
                      <a:r>
                        <a:rPr lang="ko-KR" altLang="en-US" sz="1100" b="1">
                          <a:solidFill>
                            <a:srgbClr val="FF0000"/>
                          </a:solidFill>
                          <a:latin typeface="210 OmniGothic 040"/>
                          <a:ea typeface="210 OmniGothic 040"/>
                          <a:cs typeface="210 OmniGothic 040"/>
                        </a:rPr>
                        <a:t>4</a:t>
                      </a:r>
                      <a:endParaRPr lang="ko-KR" sz="1100"/>
                    </a:p>
                  </a:txBody>
                  <a:tcPr marL="64008" marR="6400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F6F7FA"/>
                    </a:solidFill>
                  </a:tcPr>
                </a:tc>
                <a:tc>
                  <a:txBody>
                    <a:bodyPr/>
                    <a:lstStyle/>
                    <a:p>
                      <a:pPr algn="ctr">
                        <a:buNone/>
                      </a:pPr>
                      <a:r>
                        <a:rPr lang="ko-KR" altLang="en-US" sz="1100" b="1">
                          <a:solidFill>
                            <a:srgbClr val="FF0000"/>
                          </a:solidFill>
                          <a:latin typeface="210 OmniGothic 040"/>
                          <a:ea typeface="210 OmniGothic 040"/>
                          <a:cs typeface="210 OmniGothic 040"/>
                        </a:rPr>
                        <a:t>계산 범위·시점</a:t>
                      </a:r>
                      <a:endParaRPr lang="ko-KR" sz="1100"/>
                    </a:p>
                  </a:txBody>
                  <a:tcPr marL="64008" marR="6400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F6F7FA"/>
                    </a:solidFill>
                  </a:tcPr>
                </a:tc>
                <a:tc>
                  <a:txBody>
                    <a:bodyPr/>
                    <a:lstStyle/>
                    <a:p>
                      <a:pPr algn="l">
                        <a:buNone/>
                      </a:pPr>
                      <a:r>
                        <a:rPr lang="ko-KR" altLang="en-US" sz="1100" b="0">
                          <a:solidFill>
                            <a:srgbClr val="FF0000"/>
                          </a:solidFill>
                          <a:latin typeface="210 OmniGothic 040"/>
                          <a:ea typeface="210 OmniGothic 040"/>
                          <a:cs typeface="210 OmniGothic 040"/>
                        </a:rPr>
                        <a:t>표준매뉴얼 p.75상 화선 도달 5시간 이내가 전 주민 즉시 대피 기준임</a:t>
                      </a:r>
                      <a:endParaRPr lang="ko-KR" sz="1100"/>
                    </a:p>
                  </a:txBody>
                  <a:tcPr marL="64008" marR="6400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F6F7FA"/>
                    </a:solidFill>
                  </a:tcPr>
                </a:tc>
                <a:tc>
                  <a:txBody>
                    <a:bodyPr/>
                    <a:lstStyle/>
                    <a:p>
                      <a:pPr algn="l">
                        <a:buNone/>
                      </a:pPr>
                      <a:r>
                        <a:rPr lang="ko-KR" altLang="en-US" sz="1100" b="0">
                          <a:solidFill>
                            <a:srgbClr val="FF0000"/>
                          </a:solidFill>
                          <a:latin typeface="210 OmniGothic 040"/>
                          <a:ea typeface="210 OmniGothic 040"/>
                          <a:cs typeface="210 OmniGothic 040"/>
                        </a:rPr>
                        <a:t>「위험도」를 열 때 발화 지점 기준 계산, 산불별 최대 위험도 저장</a:t>
                      </a:r>
                      <a:endParaRPr lang="ko-KR" sz="1100"/>
                    </a:p>
                  </a:txBody>
                  <a:tcPr marL="64008" marR="6400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F6F7FA"/>
                    </a:solidFill>
                  </a:tcPr>
                </a:tc>
                <a:tc>
                  <a:txBody>
                    <a:bodyPr/>
                    <a:lstStyle/>
                    <a:p>
                      <a:pPr algn="l">
                        <a:buNone/>
                      </a:pPr>
                      <a:r>
                        <a:rPr lang="ko-KR" altLang="en-US" sz="1100" b="0">
                          <a:solidFill>
                            <a:srgbClr val="FF0000"/>
                          </a:solidFill>
                          <a:latin typeface="210 OmniGothic 040"/>
                          <a:ea typeface="210 OmniGothic 040"/>
                          <a:cs typeface="210 OmniGothic 040"/>
                        </a:rPr>
                        <a:t>예측마다 P5(5시간 누적 예측 범위) 기준 R 1개를 계산해 새 값으로 교체</a:t>
                      </a:r>
                      <a:endParaRPr lang="ko-KR" sz="1100"/>
                    </a:p>
                  </a:txBody>
                  <a:tcPr marL="64008" marR="6400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F6F7FA"/>
                    </a:solidFill>
                  </a:tcPr>
                </a:tc>
                <a:tc>
                  <a:txBody>
                    <a:bodyPr/>
                    <a:lstStyle/>
                    <a:p>
                      <a:pPr algn="ctr">
                        <a:buNone/>
                      </a:pPr>
                      <a:r>
                        <a:rPr lang="ko-KR" altLang="en-US" sz="1100" b="0">
                          <a:solidFill>
                            <a:srgbClr val="FF0000"/>
                          </a:solidFill>
                          <a:latin typeface="210 OmniGothic 040"/>
                          <a:ea typeface="210 OmniGothic 040"/>
                          <a:cs typeface="210 OmniGothic 040"/>
                        </a:rPr>
                        <a:t>9·11·17·18·24·25·41·</a:t>
                      </a:r>
                      <a:endParaRPr lang="ko-KR" sz="1100"/>
                    </a:p>
                    <a:p>
                      <a:pPr algn="ctr">
                        <a:buNone/>
                      </a:pPr>
                      <a:r>
                        <a:rPr lang="ko-KR" altLang="en-US" sz="1100" b="0">
                          <a:solidFill>
                            <a:srgbClr val="FF0000"/>
                          </a:solidFill>
                          <a:latin typeface="210 OmniGothic 040"/>
                          <a:ea typeface="210 OmniGothic 040"/>
                          <a:cs typeface="210 OmniGothic 040"/>
                        </a:rPr>
                        <a:t>43·62·65~68·70·72쪽</a:t>
                      </a:r>
                      <a:endParaRPr lang="ko-KR" sz="1100"/>
                    </a:p>
                  </a:txBody>
                  <a:tcPr marL="64008" marR="6400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F6F7FA"/>
                    </a:solidFill>
                  </a:tcPr>
                </a:tc>
              </a:tr>
              <a:tr h="274320">
                <a:tc>
                  <a:txBody>
                    <a:bodyPr/>
                    <a:lstStyle/>
                    <a:p>
                      <a:pPr algn="ctr">
                        <a:buNone/>
                      </a:pPr>
                      <a:r>
                        <a:rPr lang="ko-KR" altLang="en-US" sz="1100" b="1">
                          <a:solidFill>
                            <a:srgbClr val="FF0000"/>
                          </a:solidFill>
                          <a:latin typeface="210 OmniGothic 040"/>
                          <a:ea typeface="210 OmniGothic 040"/>
                          <a:cs typeface="210 OmniGothic 040"/>
                        </a:rPr>
                        <a:t>5</a:t>
                      </a:r>
                      <a:endParaRPr lang="ko-KR" sz="1100"/>
                    </a:p>
                  </a:txBody>
                  <a:tcPr marL="64008" marR="6400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lang="ko-KR" altLang="en-US" sz="1100" b="1">
                          <a:solidFill>
                            <a:srgbClr val="FF0000"/>
                          </a:solidFill>
                          <a:latin typeface="210 OmniGothic 040"/>
                          <a:ea typeface="210 OmniGothic 040"/>
                          <a:cs typeface="210 OmniGothic 040"/>
                        </a:rPr>
                        <a:t>인프라·사회 변수</a:t>
                      </a:r>
                      <a:endParaRPr lang="ko-KR" sz="1100"/>
                    </a:p>
                  </a:txBody>
                  <a:tcPr marL="64008" marR="6400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lang="ko-KR" altLang="en-US" sz="1100" b="0">
                          <a:solidFill>
                            <a:srgbClr val="FF0000"/>
                          </a:solidFill>
                          <a:latin typeface="210 OmniGothic 040"/>
                          <a:ea typeface="210 OmniGothic 040"/>
                          <a:cs typeface="210 OmniGothic 040"/>
                        </a:rPr>
                        <a:t>AI Hub 인구는 발화지 읍면동 전체의 고정값이라 예측 범위를 반영하지 못함</a:t>
                      </a:r>
                      <a:endParaRPr lang="ko-KR" sz="1100"/>
                    </a:p>
                  </a:txBody>
                  <a:tcPr marL="64008" marR="6400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lang="ko-KR" altLang="en-US" sz="1100" b="0">
                          <a:solidFill>
                            <a:srgbClr val="FF0000"/>
                          </a:solidFill>
                          <a:latin typeface="210 OmniGothic 040"/>
                          <a:ea typeface="210 OmniGothic 040"/>
                          <a:cs typeface="210 OmniGothic 040"/>
                        </a:rPr>
                        <a:t>AI Hub 인프라 값(인구·취약계층 수) 사용</a:t>
                      </a:r>
                      <a:endParaRPr lang="ko-KR" sz="1100"/>
                    </a:p>
                  </a:txBody>
                  <a:tcPr marL="64008" marR="6400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lang="ko-KR" altLang="en-US" sz="1100" b="0">
                          <a:solidFill>
                            <a:srgbClr val="FF0000"/>
                          </a:solidFill>
                          <a:latin typeface="210 OmniGothic 040"/>
                          <a:ea typeface="210 OmniGothic 040"/>
                          <a:cs typeface="210 OmniGothic 040"/>
                        </a:rPr>
                        <a:t>P5와 겹친 SGIS 인구(65세 이상 + 0~14세)를 면적 비율로 합산, 소방서 거리는 예측마다 측정</a:t>
                      </a:r>
                      <a:endParaRPr lang="ko-KR" sz="1100"/>
                    </a:p>
                  </a:txBody>
                  <a:tcPr marL="64008" marR="6400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lang="ko-KR" altLang="en-US" sz="1100" b="0">
                          <a:solidFill>
                            <a:srgbClr val="FF0000"/>
                          </a:solidFill>
                          <a:latin typeface="210 OmniGothic 040"/>
                          <a:ea typeface="210 OmniGothic 040"/>
                          <a:cs typeface="210 OmniGothic 040"/>
                        </a:rPr>
                        <a:t>24·43·105·106쪽</a:t>
                      </a:r>
                      <a:endParaRPr lang="ko-KR" sz="1100"/>
                    </a:p>
                  </a:txBody>
                  <a:tcPr marL="64008" marR="6400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r>
              <a:tr h="274320">
                <a:tc>
                  <a:txBody>
                    <a:bodyPr/>
                    <a:lstStyle/>
                    <a:p>
                      <a:pPr algn="ctr">
                        <a:buNone/>
                      </a:pPr>
                      <a:r>
                        <a:rPr lang="ko-KR" altLang="en-US" sz="1100" b="1">
                          <a:solidFill>
                            <a:srgbClr val="FF0000"/>
                          </a:solidFill>
                          <a:latin typeface="210 OmniGothic 040"/>
                          <a:ea typeface="210 OmniGothic 040"/>
                          <a:cs typeface="210 OmniGothic 040"/>
                        </a:rPr>
                        <a:t>6</a:t>
                      </a:r>
                      <a:endParaRPr lang="ko-KR" sz="1100"/>
                    </a:p>
                  </a:txBody>
                  <a:tcPr marL="64008" marR="6400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F6F7FA"/>
                    </a:solidFill>
                  </a:tcPr>
                </a:tc>
                <a:tc>
                  <a:txBody>
                    <a:bodyPr/>
                    <a:lstStyle/>
                    <a:p>
                      <a:pPr algn="ctr">
                        <a:buNone/>
                      </a:pPr>
                      <a:r>
                        <a:rPr lang="ko-KR" altLang="en-US" sz="1100" b="1">
                          <a:solidFill>
                            <a:srgbClr val="FF0000"/>
                          </a:solidFill>
                          <a:latin typeface="210 OmniGothic 040"/>
                          <a:ea typeface="210 OmniGothic 040"/>
                          <a:cs typeface="210 OmniGothic 040"/>
                        </a:rPr>
                        <a:t>폴리곤과 여러 격자</a:t>
                      </a:r>
                      <a:endParaRPr lang="ko-KR" sz="1100"/>
                    </a:p>
                  </a:txBody>
                  <a:tcPr marL="64008" marR="6400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F6F7FA"/>
                    </a:solidFill>
                  </a:tcPr>
                </a:tc>
                <a:tc>
                  <a:txBody>
                    <a:bodyPr/>
                    <a:lstStyle/>
                    <a:p>
                      <a:pPr algn="l">
                        <a:buNone/>
                      </a:pPr>
                      <a:r>
                        <a:rPr lang="ko-KR" altLang="en-US" sz="1100" b="0">
                          <a:solidFill>
                            <a:srgbClr val="FF0000"/>
                          </a:solidFill>
                          <a:latin typeface="210 OmniGothic 040"/>
                          <a:ea typeface="210 OmniGothic 040"/>
                          <a:cs typeface="210 OmniGothic 040"/>
                        </a:rPr>
                        <a:t>화선·예측 범위가 여러 격자에 걸쳐 변수 값을 하나로 정할 수 없음</a:t>
                      </a:r>
                      <a:endParaRPr lang="ko-KR" sz="1100"/>
                    </a:p>
                  </a:txBody>
                  <a:tcPr marL="64008" marR="6400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F6F7FA"/>
                    </a:solidFill>
                  </a:tcPr>
                </a:tc>
                <a:tc>
                  <a:txBody>
                    <a:bodyPr/>
                    <a:lstStyle/>
                    <a:p>
                      <a:pPr algn="l">
                        <a:buNone/>
                      </a:pPr>
                      <a:r>
                        <a:rPr lang="ko-KR" altLang="en-US" sz="1100" b="0">
                          <a:solidFill>
                            <a:srgbClr val="FF0000"/>
                          </a:solidFill>
                          <a:latin typeface="210 OmniGothic 040"/>
                          <a:ea typeface="210 OmniGothic 040"/>
                          <a:cs typeface="210 OmniGothic 040"/>
                        </a:rPr>
                        <a:t>발화 지점 한 격자의 값 사용</a:t>
                      </a:r>
                      <a:endParaRPr lang="ko-KR" sz="1100"/>
                    </a:p>
                  </a:txBody>
                  <a:tcPr marL="64008" marR="6400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F6F7FA"/>
                    </a:solidFill>
                  </a:tcPr>
                </a:tc>
                <a:tc>
                  <a:txBody>
                    <a:bodyPr/>
                    <a:lstStyle/>
                    <a:p>
                      <a:pPr algn="l">
                        <a:buNone/>
                      </a:pPr>
                      <a:r>
                        <a:rPr lang="ko-KR" altLang="en-US" sz="1100" b="0">
                          <a:solidFill>
                            <a:srgbClr val="FF0000"/>
                          </a:solidFill>
                          <a:latin typeface="210 OmniGothic 040"/>
                          <a:ea typeface="210 OmniGothic 040"/>
                          <a:cs typeface="210 OmniGothic 040"/>
                        </a:rPr>
                        <a:t>겹침 면적 비율로 가중(범주·각도는 등급으로 바꾼 뒤 평균, 인원은 합산)</a:t>
                      </a:r>
                      <a:endParaRPr lang="ko-KR" sz="1100"/>
                    </a:p>
                  </a:txBody>
                  <a:tcPr marL="64008" marR="6400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F6F7FA"/>
                    </a:solidFill>
                  </a:tcPr>
                </a:tc>
                <a:tc>
                  <a:txBody>
                    <a:bodyPr/>
                    <a:lstStyle/>
                    <a:p>
                      <a:pPr algn="ctr">
                        <a:buNone/>
                      </a:pPr>
                      <a:r>
                        <a:rPr lang="ko-KR" altLang="en-US" sz="1100" b="0">
                          <a:solidFill>
                            <a:srgbClr val="FF0000"/>
                          </a:solidFill>
                          <a:latin typeface="210 OmniGothic 040"/>
                          <a:ea typeface="210 OmniGothic 040"/>
                          <a:cs typeface="210 OmniGothic 040"/>
                        </a:rPr>
                        <a:t>24·106쪽</a:t>
                      </a:r>
                      <a:endParaRPr lang="ko-KR" sz="1100"/>
                    </a:p>
                  </a:txBody>
                  <a:tcPr marL="64008" marR="6400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F6F7FA"/>
                    </a:solidFill>
                  </a:tcPr>
                </a:tc>
              </a:tr>
              <a:tr h="274320">
                <a:tc>
                  <a:txBody>
                    <a:bodyPr/>
                    <a:lstStyle/>
                    <a:p>
                      <a:pPr algn="ctr">
                        <a:buNone/>
                      </a:pPr>
                      <a:r>
                        <a:rPr lang="ko-KR" altLang="en-US" sz="1100" b="1">
                          <a:solidFill>
                            <a:srgbClr val="FF0000"/>
                          </a:solidFill>
                          <a:latin typeface="210 OmniGothic 040"/>
                          <a:ea typeface="210 OmniGothic 040"/>
                          <a:cs typeface="210 OmniGothic 040"/>
                        </a:rPr>
                        <a:t>7</a:t>
                      </a:r>
                      <a:endParaRPr lang="ko-KR" sz="1100"/>
                    </a:p>
                  </a:txBody>
                  <a:tcPr marL="64008" marR="6400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lang="ko-KR" altLang="en-US" sz="1100" b="1">
                          <a:solidFill>
                            <a:srgbClr val="FF0000"/>
                          </a:solidFill>
                          <a:latin typeface="210 OmniGothic 040"/>
                          <a:ea typeface="210 OmniGothic 040"/>
                          <a:cs typeface="210 OmniGothic 040"/>
                        </a:rPr>
                        <a:t>동시다발 산불</a:t>
                      </a:r>
                      <a:endParaRPr lang="ko-KR" sz="1100"/>
                    </a:p>
                  </a:txBody>
                  <a:tcPr marL="64008" marR="6400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lang="ko-KR" altLang="en-US" sz="1100" b="0">
                          <a:solidFill>
                            <a:srgbClr val="FF0000"/>
                          </a:solidFill>
                          <a:latin typeface="210 OmniGothic 040"/>
                          <a:ea typeface="210 OmniGothic 040"/>
                          <a:cs typeface="210 OmniGothic 040"/>
                        </a:rPr>
                        <a:t>산불마다 판단이 필요하고, 범위가 겹친 산불을 따로 계산하면 겹친 구역 인원을 두 번 셈</a:t>
                      </a:r>
                      <a:endParaRPr lang="ko-KR" sz="1100"/>
                    </a:p>
                  </a:txBody>
                  <a:tcPr marL="64008" marR="6400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lang="ko-KR" altLang="en-US" sz="1100" b="0">
                          <a:solidFill>
                            <a:srgbClr val="FF0000"/>
                          </a:solidFill>
                          <a:latin typeface="210 OmniGothic 040"/>
                          <a:ea typeface="210 OmniGothic 040"/>
                          <a:cs typeface="210 OmniGothic 040"/>
                        </a:rPr>
                        <a:t>처리 규칙 없음</a:t>
                      </a:r>
                      <a:endParaRPr lang="ko-KR" sz="1100"/>
                    </a:p>
                  </a:txBody>
                  <a:tcPr marL="64008" marR="6400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lang="ko-KR" altLang="en-US" sz="1100" b="0">
                          <a:solidFill>
                            <a:srgbClr val="FF0000"/>
                          </a:solidFill>
                          <a:latin typeface="210 OmniGothic 040"/>
                          <a:ea typeface="210 OmniGothic 040"/>
                          <a:cs typeface="210 OmniGothic 040"/>
                        </a:rPr>
                        <a:t>산불마다 R 1개, P5가 겹치면 동일 산불로 보고 합집합 폴리곤으로 계산</a:t>
                      </a:r>
                      <a:endParaRPr lang="ko-KR" sz="1100"/>
                    </a:p>
                  </a:txBody>
                  <a:tcPr marL="64008" marR="6400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lang="ko-KR" altLang="en-US" sz="1100" b="0">
                          <a:solidFill>
                            <a:srgbClr val="FF0000"/>
                          </a:solidFill>
                          <a:latin typeface="210 OmniGothic 040"/>
                          <a:ea typeface="210 OmniGothic 040"/>
                          <a:cs typeface="210 OmniGothic 040"/>
                        </a:rPr>
                        <a:t>18·24·43·54쪽</a:t>
                      </a:r>
                      <a:endParaRPr lang="ko-KR" sz="1100"/>
                    </a:p>
                  </a:txBody>
                  <a:tcPr marL="64008" marR="6400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r>
              <a:tr h="274320">
                <a:tc>
                  <a:txBody>
                    <a:bodyPr/>
                    <a:lstStyle/>
                    <a:p>
                      <a:pPr algn="ctr">
                        <a:buNone/>
                      </a:pPr>
                      <a:r>
                        <a:rPr lang="ko-KR" altLang="en-US" sz="1100" b="1">
                          <a:solidFill>
                            <a:srgbClr val="FF0000"/>
                          </a:solidFill>
                          <a:latin typeface="210 OmniGothic 040"/>
                          <a:ea typeface="210 OmniGothic 040"/>
                          <a:cs typeface="210 OmniGothic 040"/>
                        </a:rPr>
                        <a:t>8</a:t>
                      </a:r>
                      <a:endParaRPr lang="ko-KR" sz="1100"/>
                    </a:p>
                  </a:txBody>
                  <a:tcPr marL="64008" marR="6400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F6F7FA"/>
                    </a:solidFill>
                  </a:tcPr>
                </a:tc>
                <a:tc>
                  <a:txBody>
                    <a:bodyPr/>
                    <a:lstStyle/>
                    <a:p>
                      <a:pPr algn="ctr">
                        <a:buNone/>
                      </a:pPr>
                      <a:r>
                        <a:rPr lang="ko-KR" altLang="en-US" sz="1100" b="1">
                          <a:solidFill>
                            <a:srgbClr val="FF0000"/>
                          </a:solidFill>
                          <a:latin typeface="210 OmniGothic 040"/>
                          <a:ea typeface="210 OmniGothic 040"/>
                          <a:cs typeface="210 OmniGothic 040"/>
                        </a:rPr>
                        <a:t>생성형 AI 표기</a:t>
                      </a:r>
                      <a:endParaRPr lang="ko-KR" sz="1100"/>
                    </a:p>
                  </a:txBody>
                  <a:tcPr marL="64008" marR="6400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F6F7FA"/>
                    </a:solidFill>
                  </a:tcPr>
                </a:tc>
                <a:tc>
                  <a:txBody>
                    <a:bodyPr/>
                    <a:lstStyle/>
                    <a:p>
                      <a:pPr algn="l">
                        <a:buNone/>
                      </a:pPr>
                      <a:r>
                        <a:rPr lang="ko-KR" altLang="en-US" sz="1100" b="0">
                          <a:solidFill>
                            <a:srgbClr val="FF0000"/>
                          </a:solidFill>
                          <a:latin typeface="210 OmniGothic 040"/>
                          <a:ea typeface="210 OmniGothic 040"/>
                          <a:cs typeface="210 OmniGothic 040"/>
                        </a:rPr>
                        <a:t>유스케이스 다이어그램을 생성형 AI로 그렸으나 표기가 없었음</a:t>
                      </a:r>
                      <a:endParaRPr lang="ko-KR" sz="1100"/>
                    </a:p>
                  </a:txBody>
                  <a:tcPr marL="64008" marR="6400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F6F7FA"/>
                    </a:solidFill>
                  </a:tcPr>
                </a:tc>
                <a:tc>
                  <a:txBody>
                    <a:bodyPr/>
                    <a:lstStyle/>
                    <a:p>
                      <a:pPr algn="l">
                        <a:buNone/>
                      </a:pPr>
                      <a:r>
                        <a:rPr lang="ko-KR" altLang="en-US" sz="1100" b="0">
                          <a:solidFill>
                            <a:srgbClr val="FF0000"/>
                          </a:solidFill>
                          <a:latin typeface="210 OmniGothic 040"/>
                          <a:ea typeface="210 OmniGothic 040"/>
                          <a:cs typeface="210 OmniGothic 040"/>
                        </a:rPr>
                        <a:t>표기 없음</a:t>
                      </a:r>
                      <a:endParaRPr lang="ko-KR" sz="1100"/>
                    </a:p>
                  </a:txBody>
                  <a:tcPr marL="64008" marR="6400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F6F7FA"/>
                    </a:solidFill>
                  </a:tcPr>
                </a:tc>
                <a:tc>
                  <a:txBody>
                    <a:bodyPr/>
                    <a:lstStyle/>
                    <a:p>
                      <a:pPr algn="l">
                        <a:buNone/>
                      </a:pPr>
                      <a:r>
                        <a:rPr lang="ko-KR" altLang="en-US" sz="1100" b="0">
                          <a:solidFill>
                            <a:srgbClr val="FF0000"/>
                          </a:solidFill>
                          <a:latin typeface="210 OmniGothic 040"/>
                          <a:ea typeface="210 OmniGothic 040"/>
                          <a:cs typeface="210 OmniGothic 040"/>
                        </a:rPr>
                        <a:t>그림 아래에 생성형 AI 활용 문구 추가</a:t>
                      </a:r>
                      <a:endParaRPr lang="ko-KR" sz="1100"/>
                    </a:p>
                  </a:txBody>
                  <a:tcPr marL="64008" marR="6400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F6F7FA"/>
                    </a:solidFill>
                  </a:tcPr>
                </a:tc>
                <a:tc>
                  <a:txBody>
                    <a:bodyPr/>
                    <a:lstStyle/>
                    <a:p>
                      <a:pPr algn="ctr">
                        <a:buNone/>
                      </a:pPr>
                      <a:r>
                        <a:rPr lang="ko-KR" altLang="en-US" sz="1100" b="0">
                          <a:solidFill>
                            <a:srgbClr val="FF0000"/>
                          </a:solidFill>
                          <a:latin typeface="210 OmniGothic 040"/>
                          <a:ea typeface="210 OmniGothic 040"/>
                          <a:cs typeface="210 OmniGothic 040"/>
                        </a:rPr>
                        <a:t>17쪽</a:t>
                      </a:r>
                      <a:endParaRPr lang="ko-KR" sz="1100"/>
                    </a:p>
                  </a:txBody>
                  <a:tcPr marL="64008" marR="6400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F6F7FA"/>
                    </a:solidFill>
                  </a:tcPr>
                </a:tc>
              </a:tr>
              <a:tr h="274320">
                <a:tc>
                  <a:txBody>
                    <a:bodyPr/>
                    <a:lstStyle/>
                    <a:p>
                      <a:pPr algn="ctr">
                        <a:buNone/>
                      </a:pPr>
                      <a:r>
                        <a:rPr lang="ko-KR" altLang="en-US" sz="1100" b="1">
                          <a:solidFill>
                            <a:srgbClr val="FF0000"/>
                          </a:solidFill>
                          <a:latin typeface="210 OmniGothic 040"/>
                          <a:ea typeface="210 OmniGothic 040"/>
                          <a:cs typeface="210 OmniGothic 040"/>
                        </a:rPr>
                        <a:t>9</a:t>
                      </a:r>
                      <a:endParaRPr lang="ko-KR" sz="1100"/>
                    </a:p>
                  </a:txBody>
                  <a:tcPr marL="64008" marR="6400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lang="ko-KR" altLang="en-US" sz="1100" b="1">
                          <a:solidFill>
                            <a:srgbClr val="FF0000"/>
                          </a:solidFill>
                          <a:latin typeface="210 OmniGothic 040"/>
                          <a:ea typeface="210 OmniGothic 040"/>
                          <a:cs typeface="210 OmniGothic 040"/>
                        </a:rPr>
                        <a:t>참고문헌</a:t>
                      </a:r>
                      <a:endParaRPr lang="ko-KR" sz="1100"/>
                    </a:p>
                  </a:txBody>
                  <a:tcPr marL="64008" marR="6400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lang="ko-KR" altLang="en-US" sz="1100" b="0">
                          <a:solidFill>
                            <a:srgbClr val="FF0000"/>
                          </a:solidFill>
                          <a:latin typeface="210 OmniGothic 040"/>
                          <a:ea typeface="210 OmniGothic 040"/>
                          <a:cs typeface="210 OmniGothic 040"/>
                        </a:rPr>
                        <a:t>인용·출처가 쪽마다 흩어져 있어 한곳에서 확인하기 어려웠음</a:t>
                      </a:r>
                      <a:endParaRPr lang="ko-KR" sz="1100"/>
                    </a:p>
                  </a:txBody>
                  <a:tcPr marL="64008" marR="6400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lang="ko-KR" altLang="en-US" sz="1100" b="0">
                          <a:solidFill>
                            <a:srgbClr val="FF0000"/>
                          </a:solidFill>
                          <a:latin typeface="210 OmniGothic 040"/>
                          <a:ea typeface="210 OmniGothic 040"/>
                          <a:cs typeface="210 OmniGothic 040"/>
                        </a:rPr>
                        <a:t>참고문헌 쪽 없음</a:t>
                      </a:r>
                      <a:endParaRPr lang="ko-KR" sz="1100"/>
                    </a:p>
                  </a:txBody>
                  <a:tcPr marL="64008" marR="6400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lang="ko-KR" altLang="en-US" sz="1100" b="0">
                          <a:solidFill>
                            <a:srgbClr val="FF0000"/>
                          </a:solidFill>
                          <a:latin typeface="210 OmniGothic 040"/>
                          <a:ea typeface="210 OmniGothic 040"/>
                          <a:cs typeface="210 OmniGothic 040"/>
                        </a:rPr>
                        <a:t>법령·매뉴얼·통계·데이터·모델·논문 42건을 감사합니다 앞 2쪽에 모아 정리</a:t>
                      </a:r>
                      <a:endParaRPr lang="ko-KR" sz="1100"/>
                    </a:p>
                  </a:txBody>
                  <a:tcPr marL="64008" marR="6400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lang="ko-KR" altLang="en-US" sz="1100" b="0">
                          <a:solidFill>
                            <a:srgbClr val="FF0000"/>
                          </a:solidFill>
                          <a:latin typeface="210 OmniGothic 040"/>
                          <a:ea typeface="210 OmniGothic 040"/>
                          <a:cs typeface="210 OmniGothic 040"/>
                        </a:rPr>
                        <a:t>116·117쪽</a:t>
                      </a:r>
                      <a:endParaRPr lang="ko-KR" sz="1100"/>
                    </a:p>
                  </a:txBody>
                  <a:tcPr marL="64008" marR="6400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8"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2700" y="-12700"/>
            <a:ext cx="18313400" cy="1638300"/>
          </a:xfrm>
          <a:prstGeom prst="rect">
            <a:avLst/>
          </a:prstGeom>
        </p:spPr>
      </p:pic>
      <p:pic>
        <p:nvPicPr>
          <p:cNvPr id="5019"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628" y="1618343"/>
            <a:ext cx="18313400" cy="8699500"/>
          </a:xfrm>
          <a:prstGeom prst="rect">
            <a:avLst/>
          </a:prstGeom>
        </p:spPr>
      </p:pic>
      <p:pic>
        <p:nvPicPr>
          <p:cNvPr id="5020"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58800" y="9271000"/>
            <a:ext cx="17170400" cy="50800"/>
          </a:xfrm>
          <a:prstGeom prst="rect">
            <a:avLst/>
          </a:prstGeom>
        </p:spPr>
      </p:pic>
      <p:pic>
        <p:nvPicPr>
          <p:cNvPr id="5021" name="Picture 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278100" y="203200"/>
            <a:ext cx="1676400" cy="1409700"/>
          </a:xfrm>
          <a:prstGeom prst="rect">
            <a:avLst/>
          </a:prstGeom>
        </p:spPr>
      </p:pic>
      <p:sp>
        <p:nvSpPr>
          <p:cNvPr id="5022" name="Title"/>
          <p:cNvSpPr txBox="1"/>
          <p:nvPr/>
        </p:nvSpPr>
        <p:spPr>
          <a:xfrm>
            <a:off x="822960" y="384048"/>
            <a:ext cx="13258800" cy="877824"/>
          </a:xfrm>
          <a:prstGeom prst="rect">
            <a:avLst/>
          </a:prstGeom>
          <a:noFill/>
        </p:spPr>
        <p:txBody>
          <a:bodyPr wrap="square" lIns="0" tIns="0" rIns="0" bIns="0" anchor="ctr">
            <a:spAutoFit/>
          </a:bodyPr>
          <a:lstStyle/>
          <a:p>
            <a:pPr algn="l"/>
            <a:r>
              <a:rPr sz="4400" b="0">
                <a:solidFill>
                  <a:srgbClr val="FAA95A"/>
                </a:solidFill>
                <a:latin typeface="210 OmniGothic 050"/>
                <a:ea typeface="210 OmniGothic 050"/>
                <a:cs typeface="210 OmniGothic 050"/>
              </a:rPr>
              <a:t>01. 프로젝트 개요</a:t>
            </a:r>
          </a:p>
        </p:txBody>
      </p:sp>
      <p:sp>
        <p:nvSpPr>
          <p:cNvPr id="5023" name="Subtitle"/>
          <p:cNvSpPr txBox="1"/>
          <p:nvPr/>
        </p:nvSpPr>
        <p:spPr>
          <a:xfrm>
            <a:off x="822960" y="1764792"/>
            <a:ext cx="16642080" cy="502920"/>
          </a:xfrm>
          <a:prstGeom prst="rect">
            <a:avLst/>
          </a:prstGeom>
          <a:noFill/>
        </p:spPr>
        <p:txBody>
          <a:bodyPr wrap="square" lIns="0" tIns="0" rIns="0" bIns="0" anchor="ctr">
            <a:spAutoFit/>
          </a:bodyPr>
          <a:lstStyle/>
          <a:p>
            <a:pPr algn="ctr"/>
            <a:r>
              <a:rPr sz="2600" b="1">
                <a:solidFill>
                  <a:srgbClr val="363A52"/>
                </a:solidFill>
                <a:latin typeface="210 OmniGothic 040"/>
                <a:ea typeface="210 OmniGothic 040"/>
                <a:cs typeface="210 OmniGothic 040"/>
              </a:rPr>
              <a:t>프로젝트 설명</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sz="quarter" idx="12"/>
          </p:nvPr>
        </p:nvSpPr>
        <p:spPr/>
        <p:txBody>
          <a:bodyPr/>
          <a:lstStyle/>
          <a:p>
            <a:fld id="{B6F15528-21DE-4FAA-801E-634DDDAF4B2B}" type="slidenum">
              <a:rPr lang="en-US" smtClean="0"/>
              <a:pPr/>
              <a:t>4</a:t>
            </a:fld>
            <a:endParaRPr lang="en-US"/>
          </a:p>
        </p:txBody>
      </p:sp>
      <p:sp>
        <p:nvSpPr>
          <p:cNvPr id="5024" name="Lead"/>
          <p:cNvSpPr txBox="1"/>
          <p:nvPr/>
        </p:nvSpPr>
        <p:spPr>
          <a:xfrm>
            <a:off x="822960" y="2487168"/>
            <a:ext cx="16642080" cy="731520"/>
          </a:xfrm>
          <a:prstGeom prst="rect">
            <a:avLst/>
          </a:prstGeom>
          <a:noFill/>
        </p:spPr>
        <p:txBody>
          <a:bodyPr wrap="square" lIns="0" tIns="0" rIns="0" bIns="0" rtlCol="0" anchor="t">
            <a:noAutofit/>
          </a:bodyPr>
          <a:lstStyle/>
          <a:p>
            <a:pPr algn="ctr" latinLnBrk="0">
              <a:lnSpc>
                <a:spcPct val="135000"/>
              </a:lnSpc>
              <a:spcBef>
                <a:spcPts val="0"/>
              </a:spcBef>
              <a:spcAft>
                <a:spcPts val="0"/>
              </a:spcAft>
              <a:buNone/>
            </a:pPr>
            <a:r>
              <a:rPr lang="ko-KR" altLang="en-US" sz="1900" b="0">
                <a:solidFill>
                  <a:srgbClr val="363A52"/>
                </a:solidFill>
                <a:latin typeface="210 OmniGothic 030"/>
                <a:ea typeface="210 OmniGothic 030"/>
                <a:cs typeface="210 OmniGothic 030"/>
              </a:rPr>
              <a:t>산불 발생 직후부터 진화·대피 판단이 이어지는 8시간 안팎의 대응 과정에서,</a:t>
            </a:r>
          </a:p>
          <a:p>
            <a:pPr algn="ctr" latinLnBrk="0">
              <a:lnSpc>
                <a:spcPct val="135000"/>
              </a:lnSpc>
              <a:spcBef>
                <a:spcPts val="0"/>
              </a:spcBef>
              <a:spcAft>
                <a:spcPts val="0"/>
              </a:spcAft>
              <a:buNone/>
            </a:pPr>
            <a:r>
              <a:rPr lang="ko-KR" altLang="en-US" sz="1900" b="1">
                <a:solidFill>
                  <a:srgbClr val="363A52"/>
                </a:solidFill>
                <a:latin typeface="210 OmniGothic 040"/>
                <a:ea typeface="210 OmniGothic 040"/>
                <a:cs typeface="210 OmniGothic 040"/>
              </a:rPr>
              <a:t>산불현장 통합지휘권자(시장·군수·구청장)</a:t>
            </a:r>
            <a:r>
              <a:rPr lang="ko-KR" altLang="en-US" sz="1900" b="0">
                <a:solidFill>
                  <a:srgbClr val="363A52"/>
                </a:solidFill>
                <a:latin typeface="210 OmniGothic 030"/>
                <a:ea typeface="210 OmniGothic 030"/>
                <a:cs typeface="210 OmniGothic 030"/>
              </a:rPr>
              <a:t>에게 </a:t>
            </a:r>
            <a:r>
              <a:rPr lang="ko-KR" altLang="en-US" sz="1900" b="1">
                <a:solidFill>
                  <a:srgbClr val="E8893A"/>
                </a:solidFill>
                <a:latin typeface="210 OmniGothic 040"/>
                <a:ea typeface="210 OmniGothic 040"/>
                <a:cs typeface="210 OmniGothic 040"/>
              </a:rPr>
              <a:t>통합 상황도</a:t>
            </a:r>
            <a:r>
              <a:rPr lang="ko-KR" altLang="en-US" sz="1900" b="0">
                <a:solidFill>
                  <a:srgbClr val="363A52"/>
                </a:solidFill>
                <a:latin typeface="210 OmniGothic 030"/>
                <a:ea typeface="210 OmniGothic 030"/>
                <a:cs typeface="210 OmniGothic 030"/>
              </a:rPr>
              <a:t>와 </a:t>
            </a:r>
            <a:r>
              <a:rPr lang="ko-KR" altLang="en-US" sz="1900" b="1">
                <a:solidFill>
                  <a:srgbClr val="E8893A"/>
                </a:solidFill>
                <a:latin typeface="210 OmniGothic 040"/>
                <a:ea typeface="210 OmniGothic 040"/>
                <a:cs typeface="210 OmniGothic 040"/>
              </a:rPr>
              <a:t>판단 항목별 대응 제안서</a:t>
            </a:r>
            <a:r>
              <a:rPr lang="ko-KR" altLang="en-US" sz="1900" b="0">
                <a:solidFill>
                  <a:srgbClr val="363A52"/>
                </a:solidFill>
                <a:latin typeface="210 OmniGothic 030"/>
                <a:ea typeface="210 OmniGothic 030"/>
                <a:cs typeface="210 OmniGothic 030"/>
              </a:rPr>
              <a:t>를 </a:t>
            </a:r>
            <a:r>
              <a:rPr lang="ko-KR" altLang="en-US" sz="1900" b="1">
                <a:solidFill>
                  <a:srgbClr val="E8893A"/>
                </a:solidFill>
                <a:latin typeface="210 OmniGothic 040"/>
                <a:ea typeface="210 OmniGothic 040"/>
                <a:cs typeface="210 OmniGothic 040"/>
              </a:rPr>
              <a:t>표준매뉴얼 근거</a:t>
            </a:r>
            <a:r>
              <a:rPr lang="ko-KR" altLang="en-US" sz="1900" b="0">
                <a:solidFill>
                  <a:srgbClr val="363A52"/>
                </a:solidFill>
                <a:latin typeface="210 OmniGothic 030"/>
                <a:ea typeface="210 OmniGothic 030"/>
                <a:cs typeface="210 OmniGothic 030"/>
              </a:rPr>
              <a:t>와 함께 제공하는 웹 대시보드입니다.</a:t>
            </a:r>
          </a:p>
        </p:txBody>
      </p:sp>
      <p:sp>
        <p:nvSpPr>
          <p:cNvPr id="5025" name="Tech card 1"/>
          <p:cNvSpPr/>
          <p:nvPr/>
        </p:nvSpPr>
        <p:spPr>
          <a:xfrm>
            <a:off x="868680" y="3611880"/>
            <a:ext cx="3931920" cy="2377440"/>
          </a:xfrm>
          <a:prstGeom prst="roundRect">
            <a:avLst>
              <a:gd name="adj" fmla="val 8461"/>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latinLnBrk="0">
              <a:lnSpc>
                <a:spcPct val="120000"/>
              </a:lnSpc>
              <a:spcBef>
                <a:spcPts val="0"/>
              </a:spcBef>
              <a:spcAft>
                <a:spcPts val="0"/>
              </a:spcAft>
              <a:buNone/>
            </a:pPr>
            <a:endParaRPr/>
          </a:p>
        </p:txBody>
      </p:sp>
      <p:sp>
        <p:nvSpPr>
          <p:cNvPr id="5026" name="Oval 5025"/>
          <p:cNvSpPr/>
          <p:nvPr/>
        </p:nvSpPr>
        <p:spPr>
          <a:xfrm>
            <a:off x="1161288" y="3904488"/>
            <a:ext cx="786384" cy="78638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latinLnBrk="0">
              <a:lnSpc>
                <a:spcPct val="120000"/>
              </a:lnSpc>
              <a:spcBef>
                <a:spcPts val="0"/>
              </a:spcBef>
              <a:spcAft>
                <a:spcPts val="0"/>
              </a:spcAft>
              <a:buNone/>
            </a:pPr>
            <a:endParaRPr/>
          </a:p>
        </p:txBody>
      </p:sp>
      <p:pic>
        <p:nvPicPr>
          <p:cNvPr id="5027" name="Picture 5026" descr="i39_363A52.png"/>
          <p:cNvPicPr>
            <a:picLocks noChangeAspect="1"/>
          </p:cNvPicPr>
          <p:nvPr/>
        </p:nvPicPr>
        <p:blipFill>
          <a:blip r:embed="rId7"/>
          <a:stretch>
            <a:fillRect/>
          </a:stretch>
        </p:blipFill>
        <p:spPr>
          <a:xfrm>
            <a:off x="1357884" y="4101084"/>
            <a:ext cx="393192" cy="393192"/>
          </a:xfrm>
          <a:prstGeom prst="rect">
            <a:avLst/>
          </a:prstGeom>
        </p:spPr>
      </p:pic>
      <p:sp>
        <p:nvSpPr>
          <p:cNvPr id="5028" name="TextBox 5027"/>
          <p:cNvSpPr txBox="1"/>
          <p:nvPr/>
        </p:nvSpPr>
        <p:spPr>
          <a:xfrm>
            <a:off x="2112264" y="3877056"/>
            <a:ext cx="2468880" cy="256032"/>
          </a:xfrm>
          <a:prstGeom prst="rect">
            <a:avLst/>
          </a:prstGeom>
          <a:noFill/>
        </p:spPr>
        <p:txBody>
          <a:bodyPr wrap="square" lIns="0" tIns="0" rIns="0" bIns="0" rtlCol="0" anchor="t">
            <a:noAutofit/>
          </a:bodyPr>
          <a:lstStyle/>
          <a:p>
            <a:pPr algn="l" latinLnBrk="0">
              <a:lnSpc>
                <a:spcPct val="120000"/>
              </a:lnSpc>
              <a:spcBef>
                <a:spcPts val="0"/>
              </a:spcBef>
              <a:spcAft>
                <a:spcPts val="0"/>
              </a:spcAft>
              <a:buNone/>
            </a:pPr>
            <a:r>
              <a:rPr lang="ko-KR" altLang="en-US" sz="1350" b="1">
                <a:solidFill>
                  <a:srgbClr val="B5601C"/>
                </a:solidFill>
                <a:latin typeface="210 OmniGothic 040"/>
                <a:ea typeface="210 OmniGothic 040"/>
                <a:cs typeface="210 OmniGothic 040"/>
              </a:rPr>
              <a:t>확산 예측</a:t>
            </a:r>
          </a:p>
        </p:txBody>
      </p:sp>
      <p:sp>
        <p:nvSpPr>
          <p:cNvPr id="5029" name="TextBox 5028"/>
          <p:cNvSpPr txBox="1"/>
          <p:nvPr/>
        </p:nvSpPr>
        <p:spPr>
          <a:xfrm>
            <a:off x="2112264" y="4114800"/>
            <a:ext cx="2468880" cy="402336"/>
          </a:xfrm>
          <a:prstGeom prst="rect">
            <a:avLst/>
          </a:prstGeom>
          <a:noFill/>
        </p:spPr>
        <p:txBody>
          <a:bodyPr wrap="square" lIns="0" tIns="0" rIns="0" bIns="0" rtlCol="0" anchor="t">
            <a:noAutofit/>
          </a:bodyPr>
          <a:lstStyle/>
          <a:p>
            <a:pPr algn="l" latinLnBrk="0">
              <a:lnSpc>
                <a:spcPct val="120000"/>
              </a:lnSpc>
              <a:spcBef>
                <a:spcPts val="0"/>
              </a:spcBef>
              <a:spcAft>
                <a:spcPts val="0"/>
              </a:spcAft>
              <a:buNone/>
            </a:pPr>
            <a:r>
              <a:rPr lang="ko-KR" altLang="en-US" sz="2200" b="1">
                <a:solidFill>
                  <a:srgbClr val="363A52"/>
                </a:solidFill>
                <a:latin typeface="210 OmniGothic 040"/>
                <a:ea typeface="210 OmniGothic 040"/>
                <a:cs typeface="210 OmniGothic 040"/>
              </a:rPr>
              <a:t>물리 엔진</a:t>
            </a:r>
          </a:p>
        </p:txBody>
      </p:sp>
      <p:sp>
        <p:nvSpPr>
          <p:cNvPr id="5030" name="TextBox 5029"/>
          <p:cNvSpPr txBox="1"/>
          <p:nvPr/>
        </p:nvSpPr>
        <p:spPr>
          <a:xfrm>
            <a:off x="2112264" y="4526280"/>
            <a:ext cx="2468880" cy="256032"/>
          </a:xfrm>
          <a:prstGeom prst="rect">
            <a:avLst/>
          </a:prstGeom>
          <a:noFill/>
        </p:spPr>
        <p:txBody>
          <a:bodyPr wrap="square" lIns="0" tIns="0" rIns="0" bIns="0" rtlCol="0" anchor="t">
            <a:noAutofit/>
          </a:bodyPr>
          <a:lstStyle/>
          <a:p>
            <a:pPr algn="l" latinLnBrk="0">
              <a:lnSpc>
                <a:spcPct val="120000"/>
              </a:lnSpc>
              <a:spcBef>
                <a:spcPts val="0"/>
              </a:spcBef>
              <a:spcAft>
                <a:spcPts val="0"/>
              </a:spcAft>
              <a:buNone/>
            </a:pPr>
            <a:r>
              <a:rPr lang="ko-KR" altLang="en-US" sz="1300" b="0">
                <a:solidFill>
                  <a:srgbClr val="6B7080"/>
                </a:solidFill>
                <a:latin typeface="210 OmniGothic 040"/>
                <a:ea typeface="210 OmniGothic 040"/>
                <a:cs typeface="210 OmniGothic 040"/>
              </a:rPr>
              <a:t>ELMFIRE</a:t>
            </a:r>
          </a:p>
        </p:txBody>
      </p:sp>
      <p:sp>
        <p:nvSpPr>
          <p:cNvPr id="5031" name="TextBox 5030"/>
          <p:cNvSpPr txBox="1"/>
          <p:nvPr/>
        </p:nvSpPr>
        <p:spPr>
          <a:xfrm>
            <a:off x="1197864" y="5029200"/>
            <a:ext cx="3273552" cy="777240"/>
          </a:xfrm>
          <a:prstGeom prst="rect">
            <a:avLst/>
          </a:prstGeom>
          <a:noFill/>
        </p:spPr>
        <p:txBody>
          <a:bodyPr wrap="square" lIns="0" tIns="0" rIns="0" bIns="0" rtlCol="0" anchor="t">
            <a:noAutofit/>
          </a:bodyPr>
          <a:lstStyle/>
          <a:p>
            <a:pPr algn="l" latinLnBrk="0">
              <a:lnSpc>
                <a:spcPct val="128000"/>
              </a:lnSpc>
              <a:spcBef>
                <a:spcPts val="0"/>
              </a:spcBef>
              <a:spcAft>
                <a:spcPts val="0"/>
              </a:spcAft>
              <a:buNone/>
            </a:pPr>
            <a:r>
              <a:rPr lang="ko-KR" altLang="en-US" sz="1650" b="0">
                <a:solidFill>
                  <a:srgbClr val="363A52"/>
                </a:solidFill>
                <a:latin typeface="210 OmniGothic 030"/>
                <a:ea typeface="210 OmniGothic 030"/>
                <a:cs typeface="210 OmniGothic 030"/>
              </a:rPr>
              <a:t>1시간 간격으로 8시간까지 확산 범위를 산출</a:t>
            </a:r>
          </a:p>
        </p:txBody>
      </p:sp>
      <p:sp>
        <p:nvSpPr>
          <p:cNvPr id="5032" name="Chevron 5031"/>
          <p:cNvSpPr/>
          <p:nvPr/>
        </p:nvSpPr>
        <p:spPr>
          <a:xfrm>
            <a:off x="4937760" y="4636008"/>
            <a:ext cx="182880" cy="329184"/>
          </a:xfrm>
          <a:prstGeom prst="chevron">
            <a:avLst>
              <a:gd name="adj" fmla="val 60000"/>
            </a:avLst>
          </a:prstGeom>
          <a:solidFill>
            <a:srgbClr val="FAA95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latinLnBrk="0">
              <a:lnSpc>
                <a:spcPct val="120000"/>
              </a:lnSpc>
              <a:spcBef>
                <a:spcPts val="0"/>
              </a:spcBef>
              <a:spcAft>
                <a:spcPts val="0"/>
              </a:spcAft>
              <a:buNone/>
            </a:pPr>
            <a:endParaRPr/>
          </a:p>
        </p:txBody>
      </p:sp>
      <p:sp>
        <p:nvSpPr>
          <p:cNvPr id="5033" name="Tech card 2"/>
          <p:cNvSpPr/>
          <p:nvPr/>
        </p:nvSpPr>
        <p:spPr>
          <a:xfrm>
            <a:off x="5257800" y="3611880"/>
            <a:ext cx="3931920" cy="2377440"/>
          </a:xfrm>
          <a:prstGeom prst="roundRect">
            <a:avLst>
              <a:gd name="adj" fmla="val 8461"/>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latinLnBrk="0">
              <a:lnSpc>
                <a:spcPct val="120000"/>
              </a:lnSpc>
              <a:spcBef>
                <a:spcPts val="0"/>
              </a:spcBef>
              <a:spcAft>
                <a:spcPts val="0"/>
              </a:spcAft>
              <a:buNone/>
            </a:pPr>
            <a:endParaRPr/>
          </a:p>
        </p:txBody>
      </p:sp>
      <p:sp>
        <p:nvSpPr>
          <p:cNvPr id="5034" name="Oval 5033"/>
          <p:cNvSpPr/>
          <p:nvPr/>
        </p:nvSpPr>
        <p:spPr>
          <a:xfrm>
            <a:off x="5550408" y="3904488"/>
            <a:ext cx="786384" cy="78638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latinLnBrk="0">
              <a:lnSpc>
                <a:spcPct val="120000"/>
              </a:lnSpc>
              <a:spcBef>
                <a:spcPts val="0"/>
              </a:spcBef>
              <a:spcAft>
                <a:spcPts val="0"/>
              </a:spcAft>
              <a:buNone/>
            </a:pPr>
            <a:endParaRPr/>
          </a:p>
        </p:txBody>
      </p:sp>
      <p:pic>
        <p:nvPicPr>
          <p:cNvPr id="5035" name="Picture 5034" descr="i41_363A52.png"/>
          <p:cNvPicPr>
            <a:picLocks noChangeAspect="1"/>
          </p:cNvPicPr>
          <p:nvPr/>
        </p:nvPicPr>
        <p:blipFill>
          <a:blip r:embed="rId8"/>
          <a:stretch>
            <a:fillRect/>
          </a:stretch>
        </p:blipFill>
        <p:spPr>
          <a:xfrm>
            <a:off x="5747004" y="4101084"/>
            <a:ext cx="393192" cy="393192"/>
          </a:xfrm>
          <a:prstGeom prst="rect">
            <a:avLst/>
          </a:prstGeom>
        </p:spPr>
      </p:pic>
      <p:sp>
        <p:nvSpPr>
          <p:cNvPr id="5036" name="TextBox 5035"/>
          <p:cNvSpPr txBox="1"/>
          <p:nvPr/>
        </p:nvSpPr>
        <p:spPr>
          <a:xfrm>
            <a:off x="6501384" y="3877056"/>
            <a:ext cx="2468880" cy="256032"/>
          </a:xfrm>
          <a:prstGeom prst="rect">
            <a:avLst/>
          </a:prstGeom>
          <a:noFill/>
        </p:spPr>
        <p:txBody>
          <a:bodyPr wrap="square" lIns="0" tIns="0" rIns="0" bIns="0" rtlCol="0" anchor="t">
            <a:noAutofit/>
          </a:bodyPr>
          <a:lstStyle/>
          <a:p>
            <a:pPr algn="l" latinLnBrk="0">
              <a:lnSpc>
                <a:spcPct val="120000"/>
              </a:lnSpc>
              <a:spcBef>
                <a:spcPts val="0"/>
              </a:spcBef>
              <a:spcAft>
                <a:spcPts val="0"/>
              </a:spcAft>
              <a:buNone/>
            </a:pPr>
            <a:r>
              <a:rPr lang="ko-KR" altLang="en-US" sz="1350" b="1">
                <a:solidFill>
                  <a:srgbClr val="B5601C"/>
                </a:solidFill>
                <a:latin typeface="210 OmniGothic 040"/>
                <a:ea typeface="210 OmniGothic 040"/>
                <a:cs typeface="210 OmniGothic 040"/>
              </a:rPr>
              <a:t>판정</a:t>
            </a:r>
          </a:p>
        </p:txBody>
      </p:sp>
      <p:sp>
        <p:nvSpPr>
          <p:cNvPr id="5037" name="TextBox 5036"/>
          <p:cNvSpPr txBox="1"/>
          <p:nvPr/>
        </p:nvSpPr>
        <p:spPr>
          <a:xfrm>
            <a:off x="6501384" y="4114800"/>
            <a:ext cx="2468880" cy="402336"/>
          </a:xfrm>
          <a:prstGeom prst="rect">
            <a:avLst/>
          </a:prstGeom>
          <a:noFill/>
        </p:spPr>
        <p:txBody>
          <a:bodyPr wrap="square" lIns="0" tIns="0" rIns="0" bIns="0" rtlCol="0" anchor="t">
            <a:noAutofit/>
          </a:bodyPr>
          <a:lstStyle/>
          <a:p>
            <a:pPr algn="l" latinLnBrk="0">
              <a:lnSpc>
                <a:spcPct val="120000"/>
              </a:lnSpc>
              <a:spcBef>
                <a:spcPts val="0"/>
              </a:spcBef>
              <a:spcAft>
                <a:spcPts val="0"/>
              </a:spcAft>
              <a:buNone/>
            </a:pPr>
            <a:r>
              <a:rPr lang="ko-KR" altLang="en-US" sz="2200" b="1">
                <a:solidFill>
                  <a:srgbClr val="363A52"/>
                </a:solidFill>
                <a:latin typeface="210 OmniGothic 040"/>
                <a:ea typeface="210 OmniGothic 040"/>
                <a:cs typeface="210 OmniGothic 040"/>
              </a:rPr>
              <a:t>규칙 엔진</a:t>
            </a:r>
          </a:p>
        </p:txBody>
      </p:sp>
      <p:sp>
        <p:nvSpPr>
          <p:cNvPr id="5038" name="TextBox 5037"/>
          <p:cNvSpPr txBox="1"/>
          <p:nvPr/>
        </p:nvSpPr>
        <p:spPr>
          <a:xfrm>
            <a:off x="6501384" y="4526280"/>
            <a:ext cx="2468880" cy="256032"/>
          </a:xfrm>
          <a:prstGeom prst="rect">
            <a:avLst/>
          </a:prstGeom>
          <a:noFill/>
        </p:spPr>
        <p:txBody>
          <a:bodyPr wrap="square" lIns="0" tIns="0" rIns="0" bIns="0" rtlCol="0" anchor="t">
            <a:noAutofit/>
          </a:bodyPr>
          <a:lstStyle/>
          <a:p>
            <a:pPr algn="l" latinLnBrk="0">
              <a:lnSpc>
                <a:spcPct val="120000"/>
              </a:lnSpc>
              <a:spcBef>
                <a:spcPts val="0"/>
              </a:spcBef>
              <a:spcAft>
                <a:spcPts val="0"/>
              </a:spcAft>
              <a:buNone/>
            </a:pPr>
            <a:r>
              <a:rPr lang="ko-KR" altLang="en-US" sz="1300" b="0">
                <a:solidFill>
                  <a:srgbClr val="6B7080"/>
                </a:solidFill>
                <a:latin typeface="210 OmniGothic 040"/>
                <a:ea typeface="210 OmniGothic 040"/>
                <a:cs typeface="210 OmniGothic 040"/>
              </a:rPr>
              <a:t>Rule-Based</a:t>
            </a:r>
          </a:p>
        </p:txBody>
      </p:sp>
      <p:sp>
        <p:nvSpPr>
          <p:cNvPr id="5039" name="TextBox 5038"/>
          <p:cNvSpPr txBox="1"/>
          <p:nvPr/>
        </p:nvSpPr>
        <p:spPr>
          <a:xfrm>
            <a:off x="5586984" y="5029200"/>
            <a:ext cx="3273552" cy="777240"/>
          </a:xfrm>
          <a:prstGeom prst="rect">
            <a:avLst/>
          </a:prstGeom>
          <a:noFill/>
        </p:spPr>
        <p:txBody>
          <a:bodyPr wrap="square" lIns="0" tIns="0" rIns="0" bIns="0" rtlCol="0" anchor="t">
            <a:noAutofit/>
          </a:bodyPr>
          <a:lstStyle/>
          <a:p>
            <a:pPr algn="l" latinLnBrk="0">
              <a:lnSpc>
                <a:spcPct val="128000"/>
              </a:lnSpc>
              <a:spcBef>
                <a:spcPts val="0"/>
              </a:spcBef>
              <a:spcAft>
                <a:spcPts val="0"/>
              </a:spcAft>
              <a:buNone/>
            </a:pPr>
            <a:r>
              <a:rPr lang="ko-KR" altLang="en-US" sz="1650" b="0">
                <a:solidFill>
                  <a:srgbClr val="363A52"/>
                </a:solidFill>
                <a:latin typeface="210 OmniGothic 030"/>
                <a:ea typeface="210 OmniGothic 030"/>
                <a:cs typeface="210 OmniGothic 030"/>
              </a:rPr>
              <a:t>근거 문서에 경계값·수치가 있는 값만 판정(대응단계·위험구역 등)</a:t>
            </a:r>
          </a:p>
        </p:txBody>
      </p:sp>
      <p:sp>
        <p:nvSpPr>
          <p:cNvPr id="5040" name="Chevron 5039"/>
          <p:cNvSpPr/>
          <p:nvPr/>
        </p:nvSpPr>
        <p:spPr>
          <a:xfrm>
            <a:off x="9326880" y="4636008"/>
            <a:ext cx="182880" cy="329184"/>
          </a:xfrm>
          <a:prstGeom prst="chevron">
            <a:avLst>
              <a:gd name="adj" fmla="val 60000"/>
            </a:avLst>
          </a:prstGeom>
          <a:solidFill>
            <a:srgbClr val="FAA95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latinLnBrk="0">
              <a:lnSpc>
                <a:spcPct val="120000"/>
              </a:lnSpc>
              <a:spcBef>
                <a:spcPts val="0"/>
              </a:spcBef>
              <a:spcAft>
                <a:spcPts val="0"/>
              </a:spcAft>
              <a:buNone/>
            </a:pPr>
            <a:endParaRPr/>
          </a:p>
        </p:txBody>
      </p:sp>
      <p:sp>
        <p:nvSpPr>
          <p:cNvPr id="5041" name="Tech card 3"/>
          <p:cNvSpPr/>
          <p:nvPr/>
        </p:nvSpPr>
        <p:spPr>
          <a:xfrm>
            <a:off x="9646920" y="3611880"/>
            <a:ext cx="3931920" cy="2377440"/>
          </a:xfrm>
          <a:prstGeom prst="roundRect">
            <a:avLst>
              <a:gd name="adj" fmla="val 8461"/>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latinLnBrk="0">
              <a:lnSpc>
                <a:spcPct val="120000"/>
              </a:lnSpc>
              <a:spcBef>
                <a:spcPts val="0"/>
              </a:spcBef>
              <a:spcAft>
                <a:spcPts val="0"/>
              </a:spcAft>
              <a:buNone/>
            </a:pPr>
            <a:endParaRPr/>
          </a:p>
        </p:txBody>
      </p:sp>
      <p:sp>
        <p:nvSpPr>
          <p:cNvPr id="5042" name="Oval 5041"/>
          <p:cNvSpPr/>
          <p:nvPr/>
        </p:nvSpPr>
        <p:spPr>
          <a:xfrm>
            <a:off x="9939528" y="3904488"/>
            <a:ext cx="786384" cy="78638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latinLnBrk="0">
              <a:lnSpc>
                <a:spcPct val="120000"/>
              </a:lnSpc>
              <a:spcBef>
                <a:spcPts val="0"/>
              </a:spcBef>
              <a:spcAft>
                <a:spcPts val="0"/>
              </a:spcAft>
              <a:buNone/>
            </a:pPr>
            <a:endParaRPr/>
          </a:p>
        </p:txBody>
      </p:sp>
      <p:pic>
        <p:nvPicPr>
          <p:cNvPr id="5043" name="Picture 5042" descr="image.png"/>
          <p:cNvPicPr>
            <a:picLocks noChangeAspect="1"/>
          </p:cNvPicPr>
          <p:nvPr/>
        </p:nvPicPr>
        <p:blipFill>
          <a:blip r:embed="rId9"/>
          <a:stretch>
            <a:fillRect/>
          </a:stretch>
        </p:blipFill>
        <p:spPr>
          <a:xfrm>
            <a:off x="10112532" y="4077492"/>
            <a:ext cx="440375" cy="440375"/>
          </a:xfrm>
          <a:prstGeom prst="rect">
            <a:avLst/>
          </a:prstGeom>
        </p:spPr>
      </p:pic>
      <p:sp>
        <p:nvSpPr>
          <p:cNvPr id="5044" name="TextBox 5043"/>
          <p:cNvSpPr txBox="1"/>
          <p:nvPr/>
        </p:nvSpPr>
        <p:spPr>
          <a:xfrm>
            <a:off x="10890504" y="3877056"/>
            <a:ext cx="2468880" cy="256032"/>
          </a:xfrm>
          <a:prstGeom prst="rect">
            <a:avLst/>
          </a:prstGeom>
          <a:noFill/>
        </p:spPr>
        <p:txBody>
          <a:bodyPr wrap="square" lIns="0" tIns="0" rIns="0" bIns="0" rtlCol="0" anchor="t">
            <a:noAutofit/>
          </a:bodyPr>
          <a:lstStyle/>
          <a:p>
            <a:pPr algn="l" latinLnBrk="0">
              <a:lnSpc>
                <a:spcPct val="120000"/>
              </a:lnSpc>
              <a:spcBef>
                <a:spcPts val="0"/>
              </a:spcBef>
              <a:spcAft>
                <a:spcPts val="0"/>
              </a:spcAft>
              <a:buNone/>
            </a:pPr>
            <a:r>
              <a:rPr lang="ko-KR" altLang="en-US" sz="1350" b="1">
                <a:solidFill>
                  <a:srgbClr val="B5601C"/>
                </a:solidFill>
                <a:latin typeface="210 OmniGothic 040"/>
                <a:ea typeface="210 OmniGothic 040"/>
                <a:cs typeface="210 OmniGothic 040"/>
              </a:rPr>
              <a:t>제안서·답변 작성</a:t>
            </a:r>
          </a:p>
        </p:txBody>
      </p:sp>
      <p:sp>
        <p:nvSpPr>
          <p:cNvPr id="5045" name="TextBox 5044"/>
          <p:cNvSpPr txBox="1"/>
          <p:nvPr/>
        </p:nvSpPr>
        <p:spPr>
          <a:xfrm>
            <a:off x="10890504" y="4114800"/>
            <a:ext cx="2468880" cy="402336"/>
          </a:xfrm>
          <a:prstGeom prst="rect">
            <a:avLst/>
          </a:prstGeom>
          <a:noFill/>
        </p:spPr>
        <p:txBody>
          <a:bodyPr wrap="square" lIns="0" tIns="0" rIns="0" bIns="0" rtlCol="0" anchor="t">
            <a:noAutofit/>
          </a:bodyPr>
          <a:lstStyle/>
          <a:p>
            <a:pPr algn="l" latinLnBrk="0">
              <a:lnSpc>
                <a:spcPct val="120000"/>
              </a:lnSpc>
              <a:spcBef>
                <a:spcPts val="0"/>
              </a:spcBef>
              <a:spcAft>
                <a:spcPts val="0"/>
              </a:spcAft>
              <a:buNone/>
            </a:pPr>
            <a:r>
              <a:rPr lang="ko-KR" altLang="en-US" sz="2200" b="1">
                <a:solidFill>
                  <a:srgbClr val="363A52"/>
                </a:solidFill>
                <a:latin typeface="210 OmniGothic 040"/>
                <a:ea typeface="210 OmniGothic 040"/>
                <a:cs typeface="210 OmniGothic 040"/>
              </a:rPr>
              <a:t>LLM 에이전트 2개</a:t>
            </a:r>
          </a:p>
        </p:txBody>
      </p:sp>
      <p:sp>
        <p:nvSpPr>
          <p:cNvPr id="5046" name="TextBox 5045"/>
          <p:cNvSpPr txBox="1"/>
          <p:nvPr/>
        </p:nvSpPr>
        <p:spPr>
          <a:xfrm>
            <a:off x="10890504" y="4526280"/>
            <a:ext cx="2468880" cy="256032"/>
          </a:xfrm>
          <a:prstGeom prst="rect">
            <a:avLst/>
          </a:prstGeom>
          <a:noFill/>
        </p:spPr>
        <p:txBody>
          <a:bodyPr wrap="square" lIns="0" tIns="0" rIns="0" bIns="0" rtlCol="0" anchor="t">
            <a:noAutofit/>
          </a:bodyPr>
          <a:lstStyle/>
          <a:p>
            <a:pPr algn="l" latinLnBrk="0">
              <a:lnSpc>
                <a:spcPct val="120000"/>
              </a:lnSpc>
              <a:spcBef>
                <a:spcPts val="0"/>
              </a:spcBef>
              <a:spcAft>
                <a:spcPts val="0"/>
              </a:spcAft>
              <a:buNone/>
            </a:pPr>
            <a:r>
              <a:rPr lang="ko-KR" altLang="en-US" sz="1300" b="0">
                <a:solidFill>
                  <a:srgbClr val="6B7080"/>
                </a:solidFill>
                <a:latin typeface="210 OmniGothic 040"/>
                <a:ea typeface="210 OmniGothic 040"/>
                <a:cs typeface="210 OmniGothic 040"/>
              </a:rPr>
              <a:t>EXAONE 4.0 32B</a:t>
            </a:r>
          </a:p>
        </p:txBody>
      </p:sp>
      <p:sp>
        <p:nvSpPr>
          <p:cNvPr id="5047" name="TextBox 5046"/>
          <p:cNvSpPr txBox="1"/>
          <p:nvPr/>
        </p:nvSpPr>
        <p:spPr>
          <a:xfrm>
            <a:off x="9976104" y="5029200"/>
            <a:ext cx="3273552" cy="777240"/>
          </a:xfrm>
          <a:prstGeom prst="rect">
            <a:avLst/>
          </a:prstGeom>
          <a:noFill/>
        </p:spPr>
        <p:txBody>
          <a:bodyPr wrap="square" lIns="0" tIns="0" rIns="0" bIns="0" rtlCol="0" anchor="t">
            <a:noAutofit/>
          </a:bodyPr>
          <a:lstStyle/>
          <a:p>
            <a:pPr algn="l" latinLnBrk="0">
              <a:lnSpc>
                <a:spcPct val="128000"/>
              </a:lnSpc>
              <a:spcBef>
                <a:spcPts val="0"/>
              </a:spcBef>
              <a:spcAft>
                <a:spcPts val="0"/>
              </a:spcAft>
              <a:buNone/>
            </a:pPr>
            <a:r>
              <a:rPr lang="ko-KR" altLang="en-US" sz="1650" b="0">
                <a:solidFill>
                  <a:srgbClr val="363A52"/>
                </a:solidFill>
                <a:latin typeface="210 OmniGothic 030"/>
                <a:ea typeface="210 OmniGothic 030"/>
                <a:cs typeface="210 OmniGothic 030"/>
              </a:rPr>
              <a:t>판정 값과 검색 근거로 제안을 판단·작성, 조항 인용</a:t>
            </a:r>
          </a:p>
        </p:txBody>
      </p:sp>
      <p:sp>
        <p:nvSpPr>
          <p:cNvPr id="5048" name="Chevron 5047"/>
          <p:cNvSpPr/>
          <p:nvPr/>
        </p:nvSpPr>
        <p:spPr>
          <a:xfrm>
            <a:off x="13716000" y="4636008"/>
            <a:ext cx="182880" cy="329184"/>
          </a:xfrm>
          <a:prstGeom prst="chevron">
            <a:avLst>
              <a:gd name="adj" fmla="val 60000"/>
            </a:avLst>
          </a:prstGeom>
          <a:solidFill>
            <a:srgbClr val="FAA95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latinLnBrk="0">
              <a:lnSpc>
                <a:spcPct val="120000"/>
              </a:lnSpc>
              <a:spcBef>
                <a:spcPts val="0"/>
              </a:spcBef>
              <a:spcAft>
                <a:spcPts val="0"/>
              </a:spcAft>
              <a:buNone/>
            </a:pPr>
            <a:endParaRPr/>
          </a:p>
        </p:txBody>
      </p:sp>
      <p:sp>
        <p:nvSpPr>
          <p:cNvPr id="5049" name="Output A"/>
          <p:cNvSpPr/>
          <p:nvPr/>
        </p:nvSpPr>
        <p:spPr>
          <a:xfrm>
            <a:off x="14036040" y="3611880"/>
            <a:ext cx="3383280" cy="1097280"/>
          </a:xfrm>
          <a:prstGeom prst="roundRect">
            <a:avLst>
              <a:gd name="adj" fmla="val 15000"/>
            </a:avLst>
          </a:prstGeom>
          <a:solidFill>
            <a:srgbClr val="363A5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latinLnBrk="0">
              <a:lnSpc>
                <a:spcPct val="120000"/>
              </a:lnSpc>
              <a:spcBef>
                <a:spcPts val="0"/>
              </a:spcBef>
              <a:spcAft>
                <a:spcPts val="0"/>
              </a:spcAft>
              <a:buNone/>
            </a:pPr>
            <a:endParaRPr/>
          </a:p>
        </p:txBody>
      </p:sp>
      <p:sp>
        <p:nvSpPr>
          <p:cNvPr id="5050" name="Rounded Rectangle 5049"/>
          <p:cNvSpPr/>
          <p:nvPr/>
        </p:nvSpPr>
        <p:spPr>
          <a:xfrm>
            <a:off x="14292072" y="3813048"/>
            <a:ext cx="868680" cy="329184"/>
          </a:xfrm>
          <a:prstGeom prst="roundRect">
            <a:avLst>
              <a:gd name="adj" fmla="val 25000"/>
            </a:avLst>
          </a:prstGeom>
          <a:solidFill>
            <a:srgbClr val="FAA95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latinLnBrk="0">
              <a:lnSpc>
                <a:spcPct val="120000"/>
              </a:lnSpc>
              <a:spcBef>
                <a:spcPts val="0"/>
              </a:spcBef>
              <a:spcAft>
                <a:spcPts val="0"/>
              </a:spcAft>
              <a:buNone/>
            </a:pPr>
            <a:r>
              <a:rPr lang="ko-KR" altLang="en-US" sz="1250" b="1">
                <a:solidFill>
                  <a:srgbClr val="FFFFFF"/>
                </a:solidFill>
                <a:latin typeface="210 OmniGothic 040"/>
                <a:ea typeface="210 OmniGothic 040"/>
                <a:cs typeface="210 OmniGothic 040"/>
              </a:rPr>
              <a:t>출력 A</a:t>
            </a:r>
          </a:p>
        </p:txBody>
      </p:sp>
      <p:sp>
        <p:nvSpPr>
          <p:cNvPr id="5051" name="TextBox 5050"/>
          <p:cNvSpPr txBox="1"/>
          <p:nvPr/>
        </p:nvSpPr>
        <p:spPr>
          <a:xfrm>
            <a:off x="15316200" y="3785616"/>
            <a:ext cx="1920240" cy="384048"/>
          </a:xfrm>
          <a:prstGeom prst="rect">
            <a:avLst/>
          </a:prstGeom>
          <a:noFill/>
        </p:spPr>
        <p:txBody>
          <a:bodyPr wrap="square" lIns="0" tIns="0" rIns="0" bIns="0" rtlCol="0" anchor="ctr">
            <a:noAutofit/>
          </a:bodyPr>
          <a:lstStyle/>
          <a:p>
            <a:pPr algn="l" latinLnBrk="0">
              <a:lnSpc>
                <a:spcPct val="120000"/>
              </a:lnSpc>
              <a:spcBef>
                <a:spcPts val="0"/>
              </a:spcBef>
              <a:spcAft>
                <a:spcPts val="0"/>
              </a:spcAft>
              <a:buNone/>
            </a:pPr>
            <a:r>
              <a:rPr lang="ko-KR" altLang="en-US" sz="1900" b="1">
                <a:solidFill>
                  <a:srgbClr val="FFFFFF"/>
                </a:solidFill>
                <a:latin typeface="210 OmniGothic 040"/>
                <a:ea typeface="210 OmniGothic 040"/>
                <a:cs typeface="210 OmniGothic 040"/>
              </a:rPr>
              <a:t>대응 제안서</a:t>
            </a:r>
          </a:p>
        </p:txBody>
      </p:sp>
      <p:sp>
        <p:nvSpPr>
          <p:cNvPr id="5052" name="TextBox 5051"/>
          <p:cNvSpPr txBox="1"/>
          <p:nvPr/>
        </p:nvSpPr>
        <p:spPr>
          <a:xfrm>
            <a:off x="14292072" y="4288536"/>
            <a:ext cx="2871216" cy="274320"/>
          </a:xfrm>
          <a:prstGeom prst="rect">
            <a:avLst/>
          </a:prstGeom>
          <a:noFill/>
        </p:spPr>
        <p:txBody>
          <a:bodyPr wrap="square" lIns="0" tIns="0" rIns="0" bIns="0" rtlCol="0" anchor="t">
            <a:noAutofit/>
          </a:bodyPr>
          <a:lstStyle/>
          <a:p>
            <a:pPr algn="l" latinLnBrk="0">
              <a:lnSpc>
                <a:spcPct val="120000"/>
              </a:lnSpc>
              <a:spcBef>
                <a:spcPts val="0"/>
              </a:spcBef>
              <a:spcAft>
                <a:spcPts val="0"/>
              </a:spcAft>
              <a:buNone/>
            </a:pPr>
            <a:r>
              <a:rPr lang="ko-KR" altLang="en-US" sz="1300" b="0">
                <a:solidFill>
                  <a:srgbClr val="E6E9F1"/>
                </a:solidFill>
                <a:latin typeface="210 OmniGothic 040"/>
                <a:ea typeface="210 OmniGothic 040"/>
                <a:cs typeface="210 OmniGothic 040"/>
              </a:rPr>
              <a:t>진화 7 · 대피 7 판단 항목별 대응안</a:t>
            </a:r>
          </a:p>
        </p:txBody>
      </p:sp>
      <p:sp>
        <p:nvSpPr>
          <p:cNvPr id="5053" name="Output B"/>
          <p:cNvSpPr/>
          <p:nvPr/>
        </p:nvSpPr>
        <p:spPr>
          <a:xfrm>
            <a:off x="14036040" y="4892040"/>
            <a:ext cx="3383280" cy="1097280"/>
          </a:xfrm>
          <a:prstGeom prst="roundRect">
            <a:avLst>
              <a:gd name="adj" fmla="val 15000"/>
            </a:avLst>
          </a:prstGeom>
          <a:solidFill>
            <a:srgbClr val="363A5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latinLnBrk="0">
              <a:lnSpc>
                <a:spcPct val="120000"/>
              </a:lnSpc>
              <a:spcBef>
                <a:spcPts val="0"/>
              </a:spcBef>
              <a:spcAft>
                <a:spcPts val="0"/>
              </a:spcAft>
              <a:buNone/>
            </a:pPr>
            <a:endParaRPr/>
          </a:p>
        </p:txBody>
      </p:sp>
      <p:sp>
        <p:nvSpPr>
          <p:cNvPr id="5054" name="Rounded Rectangle 5053"/>
          <p:cNvSpPr/>
          <p:nvPr/>
        </p:nvSpPr>
        <p:spPr>
          <a:xfrm>
            <a:off x="14292072" y="5093208"/>
            <a:ext cx="868680" cy="329184"/>
          </a:xfrm>
          <a:prstGeom prst="roundRect">
            <a:avLst>
              <a:gd name="adj" fmla="val 25000"/>
            </a:avLst>
          </a:prstGeom>
          <a:solidFill>
            <a:srgbClr val="FAA95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latinLnBrk="0">
              <a:lnSpc>
                <a:spcPct val="120000"/>
              </a:lnSpc>
              <a:spcBef>
                <a:spcPts val="0"/>
              </a:spcBef>
              <a:spcAft>
                <a:spcPts val="0"/>
              </a:spcAft>
              <a:buNone/>
            </a:pPr>
            <a:r>
              <a:rPr lang="ko-KR" altLang="en-US" sz="1250" b="1">
                <a:solidFill>
                  <a:srgbClr val="FFFFFF"/>
                </a:solidFill>
                <a:latin typeface="210 OmniGothic 040"/>
                <a:ea typeface="210 OmniGothic 040"/>
                <a:cs typeface="210 OmniGothic 040"/>
              </a:rPr>
              <a:t>출력 B</a:t>
            </a:r>
          </a:p>
        </p:txBody>
      </p:sp>
      <p:sp>
        <p:nvSpPr>
          <p:cNvPr id="5055" name="TextBox 5054"/>
          <p:cNvSpPr txBox="1"/>
          <p:nvPr/>
        </p:nvSpPr>
        <p:spPr>
          <a:xfrm>
            <a:off x="15316200" y="5065776"/>
            <a:ext cx="1920240" cy="384048"/>
          </a:xfrm>
          <a:prstGeom prst="rect">
            <a:avLst/>
          </a:prstGeom>
          <a:noFill/>
        </p:spPr>
        <p:txBody>
          <a:bodyPr wrap="square" lIns="0" tIns="0" rIns="0" bIns="0" rtlCol="0" anchor="ctr">
            <a:noAutofit/>
          </a:bodyPr>
          <a:lstStyle/>
          <a:p>
            <a:pPr algn="l" latinLnBrk="0">
              <a:lnSpc>
                <a:spcPct val="120000"/>
              </a:lnSpc>
              <a:spcBef>
                <a:spcPts val="0"/>
              </a:spcBef>
              <a:spcAft>
                <a:spcPts val="0"/>
              </a:spcAft>
              <a:buNone/>
            </a:pPr>
            <a:r>
              <a:rPr lang="ko-KR" altLang="en-US" sz="1900" b="1">
                <a:solidFill>
                  <a:srgbClr val="FFFFFF"/>
                </a:solidFill>
                <a:latin typeface="210 OmniGothic 040"/>
                <a:ea typeface="210 OmniGothic 040"/>
                <a:cs typeface="210 OmniGothic 040"/>
              </a:rPr>
              <a:t>AI 답변</a:t>
            </a:r>
          </a:p>
        </p:txBody>
      </p:sp>
      <p:sp>
        <p:nvSpPr>
          <p:cNvPr id="5056" name="TextBox 5055"/>
          <p:cNvSpPr txBox="1"/>
          <p:nvPr/>
        </p:nvSpPr>
        <p:spPr>
          <a:xfrm>
            <a:off x="14292072" y="5568696"/>
            <a:ext cx="2871216" cy="274320"/>
          </a:xfrm>
          <a:prstGeom prst="rect">
            <a:avLst/>
          </a:prstGeom>
          <a:noFill/>
        </p:spPr>
        <p:txBody>
          <a:bodyPr wrap="square" lIns="0" tIns="0" rIns="0" bIns="0" rtlCol="0" anchor="t">
            <a:noAutofit/>
          </a:bodyPr>
          <a:lstStyle/>
          <a:p>
            <a:pPr algn="l" latinLnBrk="0">
              <a:lnSpc>
                <a:spcPct val="120000"/>
              </a:lnSpc>
              <a:spcBef>
                <a:spcPts val="0"/>
              </a:spcBef>
              <a:spcAft>
                <a:spcPts val="0"/>
              </a:spcAft>
              <a:buNone/>
            </a:pPr>
            <a:r>
              <a:rPr lang="ko-KR" altLang="en-US" sz="1300" b="0">
                <a:solidFill>
                  <a:srgbClr val="E6E9F1"/>
                </a:solidFill>
                <a:latin typeface="210 OmniGothic 040"/>
                <a:ea typeface="210 OmniGothic 040"/>
                <a:cs typeface="210 OmniGothic 040"/>
              </a:rPr>
              <a:t>조항을 인용한 질의응답 · 상황 정정</a:t>
            </a:r>
          </a:p>
        </p:txBody>
      </p:sp>
      <p:sp>
        <p:nvSpPr>
          <p:cNvPr id="5057" name="Definition"/>
          <p:cNvSpPr/>
          <p:nvPr/>
        </p:nvSpPr>
        <p:spPr>
          <a:xfrm>
            <a:off x="868680" y="6355080"/>
            <a:ext cx="5212080" cy="2240280"/>
          </a:xfrm>
          <a:prstGeom prst="roundRect">
            <a:avLst>
              <a:gd name="adj" fmla="val 8979"/>
            </a:avLst>
          </a:prstGeom>
          <a:solidFill>
            <a:srgbClr val="363A5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latinLnBrk="0">
              <a:lnSpc>
                <a:spcPct val="120000"/>
              </a:lnSpc>
              <a:spcBef>
                <a:spcPts val="0"/>
              </a:spcBef>
              <a:spcAft>
                <a:spcPts val="0"/>
              </a:spcAft>
              <a:buNone/>
            </a:pPr>
            <a:endParaRPr/>
          </a:p>
        </p:txBody>
      </p:sp>
      <p:sp>
        <p:nvSpPr>
          <p:cNvPr id="5058" name="Rounded Rectangle 5057"/>
          <p:cNvSpPr/>
          <p:nvPr/>
        </p:nvSpPr>
        <p:spPr>
          <a:xfrm>
            <a:off x="1188720" y="6647688"/>
            <a:ext cx="731520" cy="347472"/>
          </a:xfrm>
          <a:prstGeom prst="roundRect">
            <a:avLst>
              <a:gd name="adj" fmla="val 23684"/>
            </a:avLst>
          </a:prstGeom>
          <a:solidFill>
            <a:srgbClr val="FAA95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latinLnBrk="0">
              <a:lnSpc>
                <a:spcPct val="120000"/>
              </a:lnSpc>
              <a:spcBef>
                <a:spcPts val="0"/>
              </a:spcBef>
              <a:spcAft>
                <a:spcPts val="0"/>
              </a:spcAft>
              <a:buNone/>
            </a:pPr>
            <a:r>
              <a:rPr lang="ko-KR" altLang="en-US" sz="1300" b="1">
                <a:solidFill>
                  <a:srgbClr val="FFFFFF"/>
                </a:solidFill>
                <a:latin typeface="210 OmniGothic 040"/>
                <a:ea typeface="210 OmniGothic 040"/>
                <a:cs typeface="210 OmniGothic 040"/>
              </a:rPr>
              <a:t>정의</a:t>
            </a:r>
          </a:p>
        </p:txBody>
      </p:sp>
      <p:sp>
        <p:nvSpPr>
          <p:cNvPr id="5059" name="TextBox 5058"/>
          <p:cNvSpPr txBox="1"/>
          <p:nvPr/>
        </p:nvSpPr>
        <p:spPr>
          <a:xfrm>
            <a:off x="2075688" y="6620256"/>
            <a:ext cx="3749040" cy="402336"/>
          </a:xfrm>
          <a:prstGeom prst="rect">
            <a:avLst/>
          </a:prstGeom>
          <a:noFill/>
        </p:spPr>
        <p:txBody>
          <a:bodyPr wrap="square" lIns="0" tIns="0" rIns="0" bIns="0" rtlCol="0" anchor="ctr">
            <a:noAutofit/>
          </a:bodyPr>
          <a:lstStyle/>
          <a:p>
            <a:pPr algn="l" latinLnBrk="0">
              <a:lnSpc>
                <a:spcPct val="120000"/>
              </a:lnSpc>
              <a:spcBef>
                <a:spcPts val="0"/>
              </a:spcBef>
              <a:spcAft>
                <a:spcPts val="0"/>
              </a:spcAft>
              <a:buNone/>
            </a:pPr>
            <a:r>
              <a:rPr lang="ko-KR" altLang="en-US" sz="1900" b="1">
                <a:solidFill>
                  <a:srgbClr val="FFFFFF"/>
                </a:solidFill>
                <a:latin typeface="210 OmniGothic 040"/>
                <a:ea typeface="210 OmniGothic 040"/>
                <a:cs typeface="210 OmniGothic 040"/>
              </a:rPr>
              <a:t>산불은 법령상 사회재난</a:t>
            </a:r>
          </a:p>
        </p:txBody>
      </p:sp>
      <p:sp>
        <p:nvSpPr>
          <p:cNvPr id="5060" name="TextBox 5059"/>
          <p:cNvSpPr txBox="1"/>
          <p:nvPr/>
        </p:nvSpPr>
        <p:spPr>
          <a:xfrm>
            <a:off x="1188720" y="7251192"/>
            <a:ext cx="4572000" cy="731520"/>
          </a:xfrm>
          <a:prstGeom prst="rect">
            <a:avLst/>
          </a:prstGeom>
          <a:noFill/>
        </p:spPr>
        <p:txBody>
          <a:bodyPr wrap="square" lIns="0" tIns="0" rIns="0" bIns="0" rtlCol="0" anchor="t">
            <a:noAutofit/>
          </a:bodyPr>
          <a:lstStyle/>
          <a:p>
            <a:pPr algn="l" latinLnBrk="0">
              <a:lnSpc>
                <a:spcPct val="128000"/>
              </a:lnSpc>
              <a:spcBef>
                <a:spcPts val="0"/>
              </a:spcBef>
              <a:spcAft>
                <a:spcPts val="0"/>
              </a:spcAft>
              <a:buNone/>
            </a:pPr>
            <a:r>
              <a:rPr lang="ko-KR" altLang="en-US" sz="1500" b="0">
                <a:solidFill>
                  <a:srgbClr val="E6E9F1"/>
                </a:solidFill>
                <a:latin typeface="210 OmniGothic 040"/>
                <a:ea typeface="210 OmniGothic 040"/>
                <a:cs typeface="210 OmniGothic 040"/>
              </a:rPr>
              <a:t>재난관리주관기관은 산림청, 현장 통합지휘와 주민대피 명령권자는 시장·군수·구청장</a:t>
            </a:r>
          </a:p>
        </p:txBody>
      </p:sp>
      <p:sp>
        <p:nvSpPr>
          <p:cNvPr id="5061" name="TextBox 5060"/>
          <p:cNvSpPr txBox="1"/>
          <p:nvPr/>
        </p:nvSpPr>
        <p:spPr>
          <a:xfrm>
            <a:off x="1188720" y="8138160"/>
            <a:ext cx="4572000" cy="256032"/>
          </a:xfrm>
          <a:prstGeom prst="rect">
            <a:avLst/>
          </a:prstGeom>
          <a:noFill/>
        </p:spPr>
        <p:txBody>
          <a:bodyPr wrap="square" lIns="0" tIns="0" rIns="0" bIns="0" rtlCol="0" anchor="t">
            <a:noAutofit/>
          </a:bodyPr>
          <a:lstStyle/>
          <a:p>
            <a:pPr algn="l" latinLnBrk="0">
              <a:lnSpc>
                <a:spcPct val="120000"/>
              </a:lnSpc>
              <a:spcBef>
                <a:spcPts val="0"/>
              </a:spcBef>
              <a:spcAft>
                <a:spcPts val="0"/>
              </a:spcAft>
              <a:buNone/>
            </a:pPr>
            <a:r>
              <a:rPr lang="ko-KR" altLang="en-US" sz="1100" b="0">
                <a:solidFill>
                  <a:srgbClr val="A3A8B8"/>
                </a:solidFill>
                <a:latin typeface="210 OmniGothic 030"/>
                <a:ea typeface="210 OmniGothic 030"/>
                <a:cs typeface="210 OmniGothic 030"/>
              </a:rPr>
              <a:t>재난안전법 시행령 별표 1의3 · 산림재난방지법 제34조</a:t>
            </a:r>
          </a:p>
        </p:txBody>
      </p:sp>
      <p:sp>
        <p:nvSpPr>
          <p:cNvPr id="5062" name="Scope"/>
          <p:cNvSpPr/>
          <p:nvPr/>
        </p:nvSpPr>
        <p:spPr>
          <a:xfrm>
            <a:off x="6309360" y="6355080"/>
            <a:ext cx="11109960" cy="2240280"/>
          </a:xfrm>
          <a:prstGeom prst="roundRect">
            <a:avLst>
              <a:gd name="adj" fmla="val 8979"/>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latinLnBrk="0">
              <a:lnSpc>
                <a:spcPct val="120000"/>
              </a:lnSpc>
              <a:spcBef>
                <a:spcPts val="0"/>
              </a:spcBef>
              <a:spcAft>
                <a:spcPts val="0"/>
              </a:spcAft>
              <a:buNone/>
            </a:pPr>
            <a:endParaRPr/>
          </a:p>
        </p:txBody>
      </p:sp>
      <p:sp>
        <p:nvSpPr>
          <p:cNvPr id="5063" name="Rounded Rectangle 5062"/>
          <p:cNvSpPr/>
          <p:nvPr/>
        </p:nvSpPr>
        <p:spPr>
          <a:xfrm>
            <a:off x="6629400" y="6647688"/>
            <a:ext cx="731520" cy="347472"/>
          </a:xfrm>
          <a:prstGeom prst="roundRect">
            <a:avLst>
              <a:gd name="adj" fmla="val 23684"/>
            </a:avLst>
          </a:prstGeom>
          <a:solidFill>
            <a:srgbClr val="FAA95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latinLnBrk="0">
              <a:lnSpc>
                <a:spcPct val="120000"/>
              </a:lnSpc>
              <a:spcBef>
                <a:spcPts val="0"/>
              </a:spcBef>
              <a:spcAft>
                <a:spcPts val="0"/>
              </a:spcAft>
              <a:buNone/>
            </a:pPr>
            <a:r>
              <a:rPr lang="ko-KR" altLang="en-US" sz="1300" b="1">
                <a:solidFill>
                  <a:srgbClr val="FFFFFF"/>
                </a:solidFill>
                <a:latin typeface="210 OmniGothic 040"/>
                <a:ea typeface="210 OmniGothic 040"/>
                <a:cs typeface="210 OmniGothic 040"/>
              </a:rPr>
              <a:t>범위</a:t>
            </a:r>
          </a:p>
        </p:txBody>
      </p:sp>
      <p:sp>
        <p:nvSpPr>
          <p:cNvPr id="5064" name="TextBox 5063"/>
          <p:cNvSpPr txBox="1"/>
          <p:nvPr/>
        </p:nvSpPr>
        <p:spPr>
          <a:xfrm>
            <a:off x="7516368" y="6620256"/>
            <a:ext cx="9646920" cy="402336"/>
          </a:xfrm>
          <a:prstGeom prst="rect">
            <a:avLst/>
          </a:prstGeom>
          <a:noFill/>
        </p:spPr>
        <p:txBody>
          <a:bodyPr wrap="square" lIns="0" tIns="0" rIns="0" bIns="0" rtlCol="0" anchor="ctr">
            <a:noAutofit/>
          </a:bodyPr>
          <a:lstStyle/>
          <a:p>
            <a:pPr algn="l" latinLnBrk="0">
              <a:lnSpc>
                <a:spcPct val="120000"/>
              </a:lnSpc>
              <a:spcBef>
                <a:spcPts val="0"/>
              </a:spcBef>
              <a:spcAft>
                <a:spcPts val="0"/>
              </a:spcAft>
              <a:buNone/>
            </a:pPr>
            <a:r>
              <a:rPr lang="ko-KR" altLang="en-US" sz="1900" b="1">
                <a:solidFill>
                  <a:srgbClr val="363A52"/>
                </a:solidFill>
                <a:latin typeface="210 OmniGothic 040"/>
                <a:ea typeface="210 OmniGothic 040"/>
                <a:cs typeface="210 OmniGothic 040"/>
              </a:rPr>
              <a:t>본 과제가 다루는 산불</a:t>
            </a:r>
          </a:p>
        </p:txBody>
      </p:sp>
      <p:sp>
        <p:nvSpPr>
          <p:cNvPr id="5065" name="Rounded Rectangle 5064"/>
          <p:cNvSpPr/>
          <p:nvPr/>
        </p:nvSpPr>
        <p:spPr>
          <a:xfrm>
            <a:off x="6629400" y="7342632"/>
            <a:ext cx="1143000" cy="365760"/>
          </a:xfrm>
          <a:prstGeom prst="roundRect">
            <a:avLst>
              <a:gd name="adj" fmla="val 22499"/>
            </a:avLst>
          </a:prstGeom>
          <a:solidFill>
            <a:srgbClr val="FDEBD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latinLnBrk="0">
              <a:lnSpc>
                <a:spcPct val="120000"/>
              </a:lnSpc>
              <a:spcBef>
                <a:spcPts val="0"/>
              </a:spcBef>
              <a:spcAft>
                <a:spcPts val="0"/>
              </a:spcAft>
              <a:buNone/>
            </a:pPr>
            <a:r>
              <a:rPr lang="ko-KR" altLang="en-US" sz="1350" b="1">
                <a:solidFill>
                  <a:srgbClr val="B5601C"/>
                </a:solidFill>
                <a:latin typeface="210 OmniGothic 040"/>
                <a:ea typeface="210 OmniGothic 040"/>
                <a:cs typeface="210 OmniGothic 040"/>
              </a:rPr>
              <a:t>시간</a:t>
            </a:r>
          </a:p>
        </p:txBody>
      </p:sp>
      <p:sp>
        <p:nvSpPr>
          <p:cNvPr id="5066" name="TextBox 5065"/>
          <p:cNvSpPr txBox="1"/>
          <p:nvPr/>
        </p:nvSpPr>
        <p:spPr>
          <a:xfrm>
            <a:off x="7927848" y="7287768"/>
            <a:ext cx="3799332" cy="475488"/>
          </a:xfrm>
          <a:prstGeom prst="rect">
            <a:avLst/>
          </a:prstGeom>
          <a:noFill/>
        </p:spPr>
        <p:txBody>
          <a:bodyPr wrap="square" lIns="0" tIns="0" rIns="0" bIns="0" rtlCol="0" anchor="ctr">
            <a:noAutofit/>
          </a:bodyPr>
          <a:lstStyle/>
          <a:p>
            <a:pPr algn="l" latinLnBrk="0">
              <a:lnSpc>
                <a:spcPct val="110000"/>
              </a:lnSpc>
              <a:spcBef>
                <a:spcPts val="0"/>
              </a:spcBef>
              <a:spcAft>
                <a:spcPts val="0"/>
              </a:spcAft>
              <a:buNone/>
            </a:pPr>
            <a:r>
              <a:rPr lang="ko-KR" altLang="en-US" sz="1450" b="0">
                <a:solidFill>
                  <a:srgbClr val="2E3142"/>
                </a:solidFill>
                <a:latin typeface="210 OmniGothic 040"/>
                <a:ea typeface="210 OmniGothic 040"/>
                <a:cs typeface="210 OmniGothic 040"/>
              </a:rPr>
              <a:t>초기대응 ~ 확산대응 1·2단계</a:t>
            </a:r>
          </a:p>
        </p:txBody>
      </p:sp>
      <p:sp>
        <p:nvSpPr>
          <p:cNvPr id="5067" name="Rounded Rectangle 5066"/>
          <p:cNvSpPr/>
          <p:nvPr/>
        </p:nvSpPr>
        <p:spPr>
          <a:xfrm>
            <a:off x="12001500" y="7342632"/>
            <a:ext cx="1143000" cy="365760"/>
          </a:xfrm>
          <a:prstGeom prst="roundRect">
            <a:avLst>
              <a:gd name="adj" fmla="val 22499"/>
            </a:avLst>
          </a:prstGeom>
          <a:solidFill>
            <a:srgbClr val="FDEBD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latinLnBrk="0">
              <a:lnSpc>
                <a:spcPct val="120000"/>
              </a:lnSpc>
              <a:spcBef>
                <a:spcPts val="0"/>
              </a:spcBef>
              <a:spcAft>
                <a:spcPts val="0"/>
              </a:spcAft>
              <a:buNone/>
            </a:pPr>
            <a:r>
              <a:rPr lang="ko-KR" altLang="en-US" sz="1350" b="1">
                <a:solidFill>
                  <a:srgbClr val="B5601C"/>
                </a:solidFill>
                <a:latin typeface="210 OmniGothic 040"/>
                <a:ea typeface="210 OmniGothic 040"/>
                <a:cs typeface="210 OmniGothic 040"/>
              </a:rPr>
              <a:t>지역</a:t>
            </a:r>
          </a:p>
        </p:txBody>
      </p:sp>
      <p:sp>
        <p:nvSpPr>
          <p:cNvPr id="5068" name="TextBox 5067"/>
          <p:cNvSpPr txBox="1"/>
          <p:nvPr/>
        </p:nvSpPr>
        <p:spPr>
          <a:xfrm>
            <a:off x="13299948" y="7287768"/>
            <a:ext cx="3799332" cy="475488"/>
          </a:xfrm>
          <a:prstGeom prst="rect">
            <a:avLst/>
          </a:prstGeom>
          <a:noFill/>
        </p:spPr>
        <p:txBody>
          <a:bodyPr wrap="square" lIns="0" tIns="0" rIns="0" bIns="0" rtlCol="0" anchor="ctr">
            <a:noAutofit/>
          </a:bodyPr>
          <a:lstStyle/>
          <a:p>
            <a:pPr algn="l" latinLnBrk="0">
              <a:lnSpc>
                <a:spcPct val="110000"/>
              </a:lnSpc>
              <a:spcBef>
                <a:spcPts val="0"/>
              </a:spcBef>
              <a:spcAft>
                <a:spcPts val="0"/>
              </a:spcAft>
              <a:buNone/>
            </a:pPr>
            <a:r>
              <a:rPr lang="ko-KR" altLang="en-US" sz="1450" b="0">
                <a:solidFill>
                  <a:srgbClr val="2E3142"/>
                </a:solidFill>
                <a:latin typeface="210 OmniGothic 040"/>
                <a:ea typeface="210 OmniGothic 040"/>
                <a:cs typeface="210 OmniGothic 040"/>
              </a:rPr>
              <a:t>경상북도 우선 · 시연은 2025년 의성 산불</a:t>
            </a:r>
          </a:p>
        </p:txBody>
      </p:sp>
      <p:sp>
        <p:nvSpPr>
          <p:cNvPr id="5069" name="Rounded Rectangle 5068"/>
          <p:cNvSpPr/>
          <p:nvPr/>
        </p:nvSpPr>
        <p:spPr>
          <a:xfrm>
            <a:off x="6629400" y="7946136"/>
            <a:ext cx="1143000" cy="365760"/>
          </a:xfrm>
          <a:prstGeom prst="roundRect">
            <a:avLst>
              <a:gd name="adj" fmla="val 22499"/>
            </a:avLst>
          </a:prstGeom>
          <a:solidFill>
            <a:srgbClr val="FDEBD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latinLnBrk="0">
              <a:lnSpc>
                <a:spcPct val="120000"/>
              </a:lnSpc>
              <a:spcBef>
                <a:spcPts val="0"/>
              </a:spcBef>
              <a:spcAft>
                <a:spcPts val="0"/>
              </a:spcAft>
              <a:buNone/>
            </a:pPr>
            <a:r>
              <a:rPr lang="ko-KR" altLang="en-US" sz="1350" b="1">
                <a:solidFill>
                  <a:srgbClr val="B5601C"/>
                </a:solidFill>
                <a:latin typeface="210 OmniGothic 040"/>
                <a:ea typeface="210 OmniGothic 040"/>
                <a:cs typeface="210 OmniGothic 040"/>
              </a:rPr>
              <a:t>공간</a:t>
            </a:r>
          </a:p>
        </p:txBody>
      </p:sp>
      <p:sp>
        <p:nvSpPr>
          <p:cNvPr id="5070" name="TextBox 5069"/>
          <p:cNvSpPr txBox="1"/>
          <p:nvPr/>
        </p:nvSpPr>
        <p:spPr>
          <a:xfrm>
            <a:off x="7927848" y="7891272"/>
            <a:ext cx="3799332" cy="475488"/>
          </a:xfrm>
          <a:prstGeom prst="rect">
            <a:avLst/>
          </a:prstGeom>
          <a:noFill/>
        </p:spPr>
        <p:txBody>
          <a:bodyPr wrap="square" lIns="0" tIns="0" rIns="0" bIns="0" rtlCol="0" anchor="ctr">
            <a:noAutofit/>
          </a:bodyPr>
          <a:lstStyle/>
          <a:p>
            <a:pPr algn="l" latinLnBrk="0">
              <a:lnSpc>
                <a:spcPct val="110000"/>
              </a:lnSpc>
              <a:spcBef>
                <a:spcPts val="0"/>
              </a:spcBef>
              <a:spcAft>
                <a:spcPts val="0"/>
              </a:spcAft>
              <a:buNone/>
            </a:pPr>
            <a:r>
              <a:rPr lang="ko-KR" altLang="en-US" sz="1450" b="0">
                <a:solidFill>
                  <a:srgbClr val="2E3142"/>
                </a:solidFill>
                <a:latin typeface="210 OmniGothic 040"/>
                <a:ea typeface="210 OmniGothic 040"/>
                <a:cs typeface="210 OmniGothic 040"/>
              </a:rPr>
              <a:t>8시간 도달권 안의 마을·시설·도로·대피소</a:t>
            </a:r>
          </a:p>
        </p:txBody>
      </p:sp>
      <p:sp>
        <p:nvSpPr>
          <p:cNvPr id="5071" name="Rounded Rectangle 5070"/>
          <p:cNvSpPr/>
          <p:nvPr/>
        </p:nvSpPr>
        <p:spPr>
          <a:xfrm>
            <a:off x="12001500" y="7946136"/>
            <a:ext cx="1143000" cy="365760"/>
          </a:xfrm>
          <a:prstGeom prst="roundRect">
            <a:avLst>
              <a:gd name="adj" fmla="val 22499"/>
            </a:avLst>
          </a:prstGeom>
          <a:solidFill>
            <a:srgbClr val="FDEBD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latinLnBrk="0">
              <a:lnSpc>
                <a:spcPct val="120000"/>
              </a:lnSpc>
              <a:spcBef>
                <a:spcPts val="0"/>
              </a:spcBef>
              <a:spcAft>
                <a:spcPts val="0"/>
              </a:spcAft>
              <a:buNone/>
            </a:pPr>
            <a:r>
              <a:rPr lang="ko-KR" altLang="en-US" sz="1350" b="1">
                <a:solidFill>
                  <a:srgbClr val="B5601C"/>
                </a:solidFill>
                <a:latin typeface="210 OmniGothic 040"/>
                <a:ea typeface="210 OmniGothic 040"/>
                <a:cs typeface="210 OmniGothic 040"/>
              </a:rPr>
              <a:t>판단 범위</a:t>
            </a:r>
          </a:p>
        </p:txBody>
      </p:sp>
      <p:sp>
        <p:nvSpPr>
          <p:cNvPr id="5072" name="TextBox 5071"/>
          <p:cNvSpPr txBox="1"/>
          <p:nvPr/>
        </p:nvSpPr>
        <p:spPr>
          <a:xfrm>
            <a:off x="13299948" y="7891272"/>
            <a:ext cx="3799332" cy="475488"/>
          </a:xfrm>
          <a:prstGeom prst="rect">
            <a:avLst/>
          </a:prstGeom>
          <a:noFill/>
        </p:spPr>
        <p:txBody>
          <a:bodyPr wrap="square" lIns="0" tIns="0" rIns="0" bIns="0" rtlCol="0" anchor="ctr">
            <a:noAutofit/>
          </a:bodyPr>
          <a:lstStyle/>
          <a:p>
            <a:pPr algn="l" latinLnBrk="0">
              <a:lnSpc>
                <a:spcPct val="110000"/>
              </a:lnSpc>
              <a:spcBef>
                <a:spcPts val="0"/>
              </a:spcBef>
              <a:spcAft>
                <a:spcPts val="0"/>
              </a:spcAft>
              <a:buNone/>
            </a:pPr>
            <a:r>
              <a:rPr lang="ko-KR" altLang="en-US" sz="1450" b="0">
                <a:solidFill>
                  <a:srgbClr val="2E3142"/>
                </a:solidFill>
                <a:latin typeface="210 OmniGothic 040"/>
                <a:ea typeface="210 OmniGothic 040"/>
                <a:cs typeface="210 OmniGothic 040"/>
              </a:rPr>
              <a:t>진화 7개 · 대피 7개 판단 항목</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23"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2700" y="-12700"/>
            <a:ext cx="18313400" cy="1638300"/>
          </a:xfrm>
          <a:prstGeom prst="rect">
            <a:avLst/>
          </a:prstGeom>
        </p:spPr>
      </p:pic>
      <p:pic>
        <p:nvPicPr>
          <p:cNvPr id="5024"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628" y="1618343"/>
            <a:ext cx="18313400" cy="8699500"/>
          </a:xfrm>
          <a:prstGeom prst="rect">
            <a:avLst/>
          </a:prstGeom>
        </p:spPr>
      </p:pic>
      <p:pic>
        <p:nvPicPr>
          <p:cNvPr id="5025"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58800" y="9271000"/>
            <a:ext cx="17170400" cy="50800"/>
          </a:xfrm>
          <a:prstGeom prst="rect">
            <a:avLst/>
          </a:prstGeom>
        </p:spPr>
      </p:pic>
      <p:pic>
        <p:nvPicPr>
          <p:cNvPr id="5026" name="Picture 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278100" y="203200"/>
            <a:ext cx="1676400" cy="1409700"/>
          </a:xfrm>
          <a:prstGeom prst="rect">
            <a:avLst/>
          </a:prstGeom>
        </p:spPr>
      </p:pic>
      <p:sp>
        <p:nvSpPr>
          <p:cNvPr id="5027" name="Title"/>
          <p:cNvSpPr txBox="1"/>
          <p:nvPr/>
        </p:nvSpPr>
        <p:spPr>
          <a:xfrm>
            <a:off x="822960" y="384048"/>
            <a:ext cx="13258800" cy="877824"/>
          </a:xfrm>
          <a:prstGeom prst="rect">
            <a:avLst/>
          </a:prstGeom>
          <a:noFill/>
        </p:spPr>
        <p:txBody>
          <a:bodyPr wrap="square" lIns="0" tIns="0" rIns="0" bIns="0" anchor="ctr">
            <a:spAutoFit/>
          </a:bodyPr>
          <a:lstStyle/>
          <a:p>
            <a:pPr algn="l"/>
            <a:r>
              <a:rPr sz="4400" b="0">
                <a:solidFill>
                  <a:srgbClr val="FAA95A"/>
                </a:solidFill>
                <a:latin typeface="210 OmniGothic 050"/>
                <a:ea typeface="210 OmniGothic 050"/>
                <a:cs typeface="210 OmniGothic 050"/>
              </a:rPr>
              <a:t>01. 프로젝트 개요</a:t>
            </a:r>
          </a:p>
        </p:txBody>
      </p:sp>
      <p:sp>
        <p:nvSpPr>
          <p:cNvPr id="5028" name="Subtitle"/>
          <p:cNvSpPr txBox="1"/>
          <p:nvPr/>
        </p:nvSpPr>
        <p:spPr>
          <a:xfrm>
            <a:off x="822960" y="1764792"/>
            <a:ext cx="16642080" cy="502920"/>
          </a:xfrm>
          <a:prstGeom prst="rect">
            <a:avLst/>
          </a:prstGeom>
          <a:noFill/>
        </p:spPr>
        <p:txBody>
          <a:bodyPr wrap="square" lIns="0" tIns="0" rIns="0" bIns="0" anchor="ctr">
            <a:spAutoFit/>
          </a:bodyPr>
          <a:lstStyle/>
          <a:p>
            <a:pPr algn="ctr"/>
            <a:r>
              <a:rPr sz="2600" b="1">
                <a:solidFill>
                  <a:srgbClr val="363A52"/>
                </a:solidFill>
                <a:latin typeface="210 OmniGothic 040"/>
                <a:ea typeface="210 OmniGothic 040"/>
                <a:cs typeface="210 OmniGothic 040"/>
              </a:rPr>
              <a:t>현재 문제점</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sz="quarter" idx="12"/>
          </p:nvPr>
        </p:nvSpPr>
        <p:spPr/>
        <p:txBody>
          <a:bodyPr/>
          <a:lstStyle/>
          <a:p>
            <a:fld id="{B6F15528-21DE-4FAA-801E-634DDDAF4B2B}" type="slidenum">
              <a:rPr lang="en-US" smtClean="0"/>
              <a:pPr/>
              <a:t>5</a:t>
            </a:fld>
            <a:endParaRPr lang="en-US"/>
          </a:p>
        </p:txBody>
      </p:sp>
      <p:sp>
        <p:nvSpPr>
          <p:cNvPr id="5029" name="TextBox 5028"/>
          <p:cNvSpPr txBox="1"/>
          <p:nvPr/>
        </p:nvSpPr>
        <p:spPr>
          <a:xfrm>
            <a:off x="868680" y="2468880"/>
            <a:ext cx="16550640" cy="347472"/>
          </a:xfrm>
          <a:prstGeom prst="rect">
            <a:avLst/>
          </a:prstGeom>
          <a:noFill/>
        </p:spPr>
        <p:txBody>
          <a:bodyPr wrap="square" lIns="0" tIns="0" rIns="0" bIns="0" rtlCol="0" anchor="ctr">
            <a:noAutofit/>
          </a:bodyPr>
          <a:lstStyle/>
          <a:p>
            <a:pPr algn="l" latinLnBrk="0">
              <a:lnSpc>
                <a:spcPct val="120000"/>
              </a:lnSpc>
              <a:spcBef>
                <a:spcPts val="0"/>
              </a:spcBef>
              <a:spcAft>
                <a:spcPts val="0"/>
              </a:spcAft>
              <a:buNone/>
            </a:pPr>
            <a:r>
              <a:rPr lang="ko-KR" altLang="en-US" sz="1850" b="1">
                <a:solidFill>
                  <a:srgbClr val="363A52"/>
                </a:solidFill>
                <a:latin typeface="210 OmniGothic 040"/>
                <a:ea typeface="210 OmniGothic 040"/>
                <a:cs typeface="210 OmniGothic 040"/>
              </a:rPr>
              <a:t>대형 산불에서는 판단의 속도가 인명 피해를 좌우합니다</a:t>
            </a:r>
          </a:p>
        </p:txBody>
      </p:sp>
      <p:sp>
        <p:nvSpPr>
          <p:cNvPr id="5030" name="Stat 1"/>
          <p:cNvSpPr/>
          <p:nvPr/>
        </p:nvSpPr>
        <p:spPr>
          <a:xfrm>
            <a:off x="868680" y="2944368"/>
            <a:ext cx="5394960" cy="1188720"/>
          </a:xfrm>
          <a:prstGeom prst="roundRect">
            <a:avLst>
              <a:gd name="adj" fmla="val 13846"/>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latinLnBrk="0">
              <a:lnSpc>
                <a:spcPct val="120000"/>
              </a:lnSpc>
              <a:spcBef>
                <a:spcPts val="0"/>
              </a:spcBef>
              <a:spcAft>
                <a:spcPts val="0"/>
              </a:spcAft>
              <a:buNone/>
            </a:pPr>
            <a:endParaRPr/>
          </a:p>
        </p:txBody>
      </p:sp>
      <p:sp>
        <p:nvSpPr>
          <p:cNvPr id="5031" name="TextBox 5030"/>
          <p:cNvSpPr txBox="1"/>
          <p:nvPr/>
        </p:nvSpPr>
        <p:spPr>
          <a:xfrm>
            <a:off x="1197864" y="3127248"/>
            <a:ext cx="4736592" cy="457200"/>
          </a:xfrm>
          <a:prstGeom prst="rect">
            <a:avLst/>
          </a:prstGeom>
          <a:noFill/>
        </p:spPr>
        <p:txBody>
          <a:bodyPr wrap="square" lIns="0" tIns="0" rIns="0" bIns="0" rtlCol="0" anchor="ctr">
            <a:noAutofit/>
          </a:bodyPr>
          <a:lstStyle/>
          <a:p>
            <a:pPr algn="l" latinLnBrk="0">
              <a:lnSpc>
                <a:spcPct val="120000"/>
              </a:lnSpc>
              <a:spcBef>
                <a:spcPts val="0"/>
              </a:spcBef>
              <a:spcAft>
                <a:spcPts val="0"/>
              </a:spcAft>
              <a:buNone/>
            </a:pPr>
            <a:r>
              <a:rPr lang="ko-KR" altLang="en-US" sz="2500" b="1">
                <a:solidFill>
                  <a:srgbClr val="E8893A"/>
                </a:solidFill>
                <a:latin typeface="Pretendard Bold"/>
                <a:ea typeface="Pretendard Bold"/>
                <a:cs typeface="Pretendard Bold"/>
              </a:rPr>
              <a:t>사망 30명 · 부상 43명</a:t>
            </a:r>
          </a:p>
        </p:txBody>
      </p:sp>
      <p:sp>
        <p:nvSpPr>
          <p:cNvPr id="5032" name="TextBox 5031"/>
          <p:cNvSpPr txBox="1"/>
          <p:nvPr/>
        </p:nvSpPr>
        <p:spPr>
          <a:xfrm>
            <a:off x="1197864" y="3675888"/>
            <a:ext cx="4736592" cy="274320"/>
          </a:xfrm>
          <a:prstGeom prst="rect">
            <a:avLst/>
          </a:prstGeom>
          <a:noFill/>
        </p:spPr>
        <p:txBody>
          <a:bodyPr wrap="square" lIns="0" tIns="0" rIns="0" bIns="0" rtlCol="0" anchor="ctr">
            <a:noAutofit/>
          </a:bodyPr>
          <a:lstStyle/>
          <a:p>
            <a:pPr algn="l" latinLnBrk="0">
              <a:lnSpc>
                <a:spcPct val="120000"/>
              </a:lnSpc>
              <a:spcBef>
                <a:spcPts val="0"/>
              </a:spcBef>
              <a:spcAft>
                <a:spcPts val="0"/>
              </a:spcAft>
              <a:buNone/>
            </a:pPr>
            <a:r>
              <a:rPr lang="ko-KR" altLang="en-US" sz="1350" b="0">
                <a:solidFill>
                  <a:srgbClr val="2E3142"/>
                </a:solidFill>
                <a:latin typeface="210 OmniGothic 040"/>
                <a:ea typeface="210 OmniGothic 040"/>
                <a:cs typeface="210 OmniGothic 040"/>
              </a:rPr>
              <a:t>2025년 3월 의성발 영남권 산불</a:t>
            </a:r>
            <a:r>
              <a:rPr lang="ko-KR" altLang="en-US" sz="1200" b="0">
                <a:solidFill>
                  <a:srgbClr val="6B7080"/>
                </a:solidFill>
                <a:latin typeface="210 OmniGothic 040"/>
                <a:ea typeface="210 OmniGothic 040"/>
                <a:cs typeface="210 OmniGothic 040"/>
              </a:rPr>
              <a:t>   2025.3.29 기준</a:t>
            </a:r>
          </a:p>
        </p:txBody>
      </p:sp>
      <p:sp>
        <p:nvSpPr>
          <p:cNvPr id="5033" name="Stat 2"/>
          <p:cNvSpPr/>
          <p:nvPr/>
        </p:nvSpPr>
        <p:spPr>
          <a:xfrm>
            <a:off x="6446520" y="2944368"/>
            <a:ext cx="5394960" cy="1188720"/>
          </a:xfrm>
          <a:prstGeom prst="roundRect">
            <a:avLst>
              <a:gd name="adj" fmla="val 13846"/>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latinLnBrk="0">
              <a:lnSpc>
                <a:spcPct val="120000"/>
              </a:lnSpc>
              <a:spcBef>
                <a:spcPts val="0"/>
              </a:spcBef>
              <a:spcAft>
                <a:spcPts val="0"/>
              </a:spcAft>
              <a:buNone/>
            </a:pPr>
            <a:endParaRPr/>
          </a:p>
        </p:txBody>
      </p:sp>
      <p:sp>
        <p:nvSpPr>
          <p:cNvPr id="5034" name="TextBox 5033"/>
          <p:cNvSpPr txBox="1"/>
          <p:nvPr/>
        </p:nvSpPr>
        <p:spPr>
          <a:xfrm>
            <a:off x="6775704" y="3127248"/>
            <a:ext cx="4736592" cy="457200"/>
          </a:xfrm>
          <a:prstGeom prst="rect">
            <a:avLst/>
          </a:prstGeom>
          <a:noFill/>
        </p:spPr>
        <p:txBody>
          <a:bodyPr wrap="square" lIns="0" tIns="0" rIns="0" bIns="0" rtlCol="0" anchor="ctr">
            <a:noAutofit/>
          </a:bodyPr>
          <a:lstStyle/>
          <a:p>
            <a:pPr algn="l" latinLnBrk="0">
              <a:lnSpc>
                <a:spcPct val="120000"/>
              </a:lnSpc>
              <a:spcBef>
                <a:spcPts val="0"/>
              </a:spcBef>
              <a:spcAft>
                <a:spcPts val="0"/>
              </a:spcAft>
              <a:buNone/>
            </a:pPr>
            <a:r>
              <a:rPr lang="ko-KR" altLang="en-US" sz="2500" b="1">
                <a:solidFill>
                  <a:srgbClr val="E8893A"/>
                </a:solidFill>
                <a:latin typeface="Pretendard Bold"/>
                <a:ea typeface="Pretendard Bold"/>
                <a:cs typeface="Pretendard Bold"/>
              </a:rPr>
              <a:t>28명 중 26명</a:t>
            </a:r>
          </a:p>
        </p:txBody>
      </p:sp>
      <p:sp>
        <p:nvSpPr>
          <p:cNvPr id="5035" name="TextBox 5034"/>
          <p:cNvSpPr txBox="1"/>
          <p:nvPr/>
        </p:nvSpPr>
        <p:spPr>
          <a:xfrm>
            <a:off x="6775704" y="3675888"/>
            <a:ext cx="4736592" cy="274320"/>
          </a:xfrm>
          <a:prstGeom prst="rect">
            <a:avLst/>
          </a:prstGeom>
          <a:noFill/>
        </p:spPr>
        <p:txBody>
          <a:bodyPr wrap="square" lIns="0" tIns="0" rIns="0" bIns="0" rtlCol="0" anchor="ctr">
            <a:noAutofit/>
          </a:bodyPr>
          <a:lstStyle/>
          <a:p>
            <a:pPr algn="l" latinLnBrk="0">
              <a:lnSpc>
                <a:spcPct val="120000"/>
              </a:lnSpc>
              <a:spcBef>
                <a:spcPts val="0"/>
              </a:spcBef>
              <a:spcAft>
                <a:spcPts val="0"/>
              </a:spcAft>
              <a:buNone/>
            </a:pPr>
            <a:r>
              <a:rPr lang="ko-KR" altLang="en-US" sz="1350" b="0">
                <a:solidFill>
                  <a:srgbClr val="2E3142"/>
                </a:solidFill>
                <a:latin typeface="210 OmniGothic 040"/>
                <a:ea typeface="210 OmniGothic 040"/>
                <a:cs typeface="210 OmniGothic 040"/>
              </a:rPr>
              <a:t>사망자 가운데 60대 이상 고령자</a:t>
            </a:r>
            <a:r>
              <a:rPr lang="ko-KR" altLang="en-US" sz="1200" b="0">
                <a:solidFill>
                  <a:srgbClr val="6B7080"/>
                </a:solidFill>
                <a:latin typeface="210 OmniGothic 040"/>
                <a:ea typeface="210 OmniGothic 040"/>
                <a:cs typeface="210 OmniGothic 040"/>
              </a:rPr>
              <a:t>   2025.3.28 기준</a:t>
            </a:r>
          </a:p>
        </p:txBody>
      </p:sp>
      <p:sp>
        <p:nvSpPr>
          <p:cNvPr id="5036" name="Stat 3"/>
          <p:cNvSpPr/>
          <p:nvPr/>
        </p:nvSpPr>
        <p:spPr>
          <a:xfrm>
            <a:off x="12024360" y="2944368"/>
            <a:ext cx="5394960" cy="1188720"/>
          </a:xfrm>
          <a:prstGeom prst="roundRect">
            <a:avLst>
              <a:gd name="adj" fmla="val 13846"/>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latinLnBrk="0">
              <a:lnSpc>
                <a:spcPct val="120000"/>
              </a:lnSpc>
              <a:spcBef>
                <a:spcPts val="0"/>
              </a:spcBef>
              <a:spcAft>
                <a:spcPts val="0"/>
              </a:spcAft>
              <a:buNone/>
            </a:pPr>
            <a:endParaRPr/>
          </a:p>
        </p:txBody>
      </p:sp>
      <p:sp>
        <p:nvSpPr>
          <p:cNvPr id="5037" name="TextBox 5036"/>
          <p:cNvSpPr txBox="1"/>
          <p:nvPr/>
        </p:nvSpPr>
        <p:spPr>
          <a:xfrm>
            <a:off x="12353544" y="3127248"/>
            <a:ext cx="4736592" cy="457200"/>
          </a:xfrm>
          <a:prstGeom prst="rect">
            <a:avLst/>
          </a:prstGeom>
          <a:noFill/>
        </p:spPr>
        <p:txBody>
          <a:bodyPr wrap="square" lIns="0" tIns="0" rIns="0" bIns="0" rtlCol="0" anchor="ctr">
            <a:noAutofit/>
          </a:bodyPr>
          <a:lstStyle/>
          <a:p>
            <a:pPr algn="l" latinLnBrk="0">
              <a:lnSpc>
                <a:spcPct val="120000"/>
              </a:lnSpc>
              <a:spcBef>
                <a:spcPts val="0"/>
              </a:spcBef>
              <a:spcAft>
                <a:spcPts val="0"/>
              </a:spcAft>
              <a:buNone/>
            </a:pPr>
            <a:r>
              <a:rPr lang="ko-KR" altLang="en-US" sz="2500" b="1">
                <a:solidFill>
                  <a:srgbClr val="E8893A"/>
                </a:solidFill>
                <a:latin typeface="Pretendard Bold"/>
                <a:ea typeface="Pretendard Bold"/>
                <a:cs typeface="Pretendard Bold"/>
              </a:rPr>
              <a:t>약 1조 818억 원</a:t>
            </a:r>
          </a:p>
        </p:txBody>
      </p:sp>
      <p:sp>
        <p:nvSpPr>
          <p:cNvPr id="5038" name="TextBox 5037"/>
          <p:cNvSpPr txBox="1"/>
          <p:nvPr/>
        </p:nvSpPr>
        <p:spPr>
          <a:xfrm>
            <a:off x="12353544" y="3675888"/>
            <a:ext cx="4736592" cy="274320"/>
          </a:xfrm>
          <a:prstGeom prst="rect">
            <a:avLst/>
          </a:prstGeom>
          <a:noFill/>
        </p:spPr>
        <p:txBody>
          <a:bodyPr wrap="square" lIns="0" tIns="0" rIns="0" bIns="0" rtlCol="0" anchor="ctr">
            <a:noAutofit/>
          </a:bodyPr>
          <a:lstStyle/>
          <a:p>
            <a:pPr algn="l" latinLnBrk="0">
              <a:lnSpc>
                <a:spcPct val="120000"/>
              </a:lnSpc>
              <a:spcBef>
                <a:spcPts val="0"/>
              </a:spcBef>
              <a:spcAft>
                <a:spcPts val="0"/>
              </a:spcAft>
              <a:buNone/>
            </a:pPr>
            <a:r>
              <a:rPr lang="ko-KR" altLang="en-US" sz="1350" b="0">
                <a:solidFill>
                  <a:srgbClr val="2E3142"/>
                </a:solidFill>
                <a:latin typeface="210 OmniGothic 040"/>
                <a:ea typeface="210 OmniGothic 040"/>
                <a:cs typeface="210 OmniGothic 040"/>
              </a:rPr>
              <a:t>영남권 산불 재산피해</a:t>
            </a:r>
            <a:r>
              <a:rPr lang="ko-KR" altLang="en-US" sz="1200" b="0">
                <a:solidFill>
                  <a:srgbClr val="6B7080"/>
                </a:solidFill>
                <a:latin typeface="210 OmniGothic 040"/>
                <a:ea typeface="210 OmniGothic 040"/>
                <a:cs typeface="210 OmniGothic 040"/>
              </a:rPr>
              <a:t>   피해 확정 집계</a:t>
            </a:r>
          </a:p>
        </p:txBody>
      </p:sp>
      <p:sp>
        <p:nvSpPr>
          <p:cNvPr id="5039" name="Problem 1"/>
          <p:cNvSpPr/>
          <p:nvPr/>
        </p:nvSpPr>
        <p:spPr>
          <a:xfrm>
            <a:off x="868680" y="4389120"/>
            <a:ext cx="8183880" cy="2286000"/>
          </a:xfrm>
          <a:prstGeom prst="roundRect">
            <a:avLst>
              <a:gd name="adj" fmla="val 88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latinLnBrk="0">
              <a:lnSpc>
                <a:spcPct val="120000"/>
              </a:lnSpc>
              <a:spcBef>
                <a:spcPts val="0"/>
              </a:spcBef>
              <a:spcAft>
                <a:spcPts val="0"/>
              </a:spcAft>
              <a:buNone/>
            </a:pPr>
            <a:endParaRPr/>
          </a:p>
        </p:txBody>
      </p:sp>
      <p:sp>
        <p:nvSpPr>
          <p:cNvPr id="5040" name="Rounded Rectangle 5039"/>
          <p:cNvSpPr/>
          <p:nvPr/>
        </p:nvSpPr>
        <p:spPr>
          <a:xfrm>
            <a:off x="1234440" y="4709160"/>
            <a:ext cx="1143000" cy="457200"/>
          </a:xfrm>
          <a:prstGeom prst="roundRect">
            <a:avLst>
              <a:gd name="adj" fmla="val 20000"/>
            </a:avLst>
          </a:prstGeom>
          <a:solidFill>
            <a:srgbClr val="FAA95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latinLnBrk="0">
              <a:lnSpc>
                <a:spcPct val="120000"/>
              </a:lnSpc>
              <a:spcBef>
                <a:spcPts val="0"/>
              </a:spcBef>
              <a:spcAft>
                <a:spcPts val="0"/>
              </a:spcAft>
              <a:buNone/>
            </a:pPr>
            <a:r>
              <a:rPr lang="ko-KR" altLang="en-US" sz="1550" b="1">
                <a:solidFill>
                  <a:srgbClr val="FFFFFF"/>
                </a:solidFill>
                <a:latin typeface="210 OmniGothic 040"/>
                <a:ea typeface="210 OmniGothic 040"/>
                <a:cs typeface="210 OmniGothic 040"/>
              </a:rPr>
              <a:t>문제 ①</a:t>
            </a:r>
          </a:p>
        </p:txBody>
      </p:sp>
      <p:sp>
        <p:nvSpPr>
          <p:cNvPr id="5041" name="TextBox 5040"/>
          <p:cNvSpPr txBox="1"/>
          <p:nvPr/>
        </p:nvSpPr>
        <p:spPr>
          <a:xfrm>
            <a:off x="2587752" y="4690872"/>
            <a:ext cx="6172200" cy="493776"/>
          </a:xfrm>
          <a:prstGeom prst="rect">
            <a:avLst/>
          </a:prstGeom>
          <a:noFill/>
        </p:spPr>
        <p:txBody>
          <a:bodyPr wrap="square" lIns="0" tIns="0" rIns="0" bIns="0" rtlCol="0" anchor="ctr">
            <a:noAutofit/>
          </a:bodyPr>
          <a:lstStyle/>
          <a:p>
            <a:pPr algn="l" latinLnBrk="0">
              <a:lnSpc>
                <a:spcPct val="120000"/>
              </a:lnSpc>
              <a:spcBef>
                <a:spcPts val="0"/>
              </a:spcBef>
              <a:spcAft>
                <a:spcPts val="0"/>
              </a:spcAft>
              <a:buNone/>
            </a:pPr>
            <a:r>
              <a:rPr lang="ko-KR" altLang="en-US" sz="2300" b="1">
                <a:solidFill>
                  <a:srgbClr val="363A52"/>
                </a:solidFill>
                <a:latin typeface="210 OmniGothic 040"/>
                <a:ea typeface="210 OmniGothic 040"/>
                <a:cs typeface="210 OmniGothic 040"/>
              </a:rPr>
              <a:t>기관별로 분산된 자원·상황정보</a:t>
            </a:r>
          </a:p>
        </p:txBody>
      </p:sp>
      <p:sp>
        <p:nvSpPr>
          <p:cNvPr id="5042" name="TextBox 5041"/>
          <p:cNvSpPr txBox="1"/>
          <p:nvPr/>
        </p:nvSpPr>
        <p:spPr>
          <a:xfrm>
            <a:off x="1234440" y="5413248"/>
            <a:ext cx="7452360" cy="822960"/>
          </a:xfrm>
          <a:prstGeom prst="rect">
            <a:avLst/>
          </a:prstGeom>
          <a:noFill/>
        </p:spPr>
        <p:txBody>
          <a:bodyPr wrap="square" lIns="0" tIns="0" rIns="0" bIns="0" rtlCol="0" anchor="t">
            <a:noAutofit/>
          </a:bodyPr>
          <a:lstStyle/>
          <a:p>
            <a:pPr marL="201168" indent="-201168" algn="l" latinLnBrk="0">
              <a:lnSpc>
                <a:spcPct val="120000"/>
              </a:lnSpc>
              <a:spcBef>
                <a:spcPts val="500"/>
              </a:spcBef>
              <a:spcAft>
                <a:spcPts val="0"/>
              </a:spcAft>
              <a:buClr>
                <a:srgbClr val="FAA95A"/>
              </a:buClr>
              <a:buFont typeface="Arial"/>
              <a:buChar char="•"/>
            </a:pPr>
            <a:r>
              <a:rPr lang="ko-KR" altLang="en-US" sz="1550" b="0">
                <a:solidFill>
                  <a:srgbClr val="2E3142"/>
                </a:solidFill>
                <a:latin typeface="210 OmniGothic 040"/>
                <a:ea typeface="210 OmniGothic 040"/>
                <a:cs typeface="210 OmniGothic 040"/>
              </a:rPr>
              <a:t>공중진화와 지상진화, 산림청과 소방청이 따로 움직이는 이원화 체계</a:t>
            </a:r>
          </a:p>
          <a:p>
            <a:pPr marL="201168" indent="-201168" algn="l" latinLnBrk="0">
              <a:lnSpc>
                <a:spcPct val="120000"/>
              </a:lnSpc>
              <a:spcBef>
                <a:spcPts val="500"/>
              </a:spcBef>
              <a:spcAft>
                <a:spcPts val="0"/>
              </a:spcAft>
              <a:buClr>
                <a:srgbClr val="FAA95A"/>
              </a:buClr>
              <a:buFont typeface="Arial"/>
              <a:buChar char="•"/>
            </a:pPr>
            <a:r>
              <a:rPr lang="ko-KR" altLang="en-US" sz="1550" b="0">
                <a:solidFill>
                  <a:srgbClr val="2E3142"/>
                </a:solidFill>
                <a:latin typeface="210 OmniGothic 040"/>
                <a:ea typeface="210 OmniGothic 040"/>
                <a:cs typeface="210 OmniGothic 040"/>
              </a:rPr>
              <a:t>확산 예측은 별도 시스템에서 산출되어 대응 판단 반영이 늦어짐</a:t>
            </a:r>
          </a:p>
        </p:txBody>
      </p:sp>
      <p:sp>
        <p:nvSpPr>
          <p:cNvPr id="5043" name="TextBox 5042"/>
          <p:cNvSpPr txBox="1"/>
          <p:nvPr/>
        </p:nvSpPr>
        <p:spPr>
          <a:xfrm>
            <a:off x="1234440" y="6309360"/>
            <a:ext cx="7452360" cy="219456"/>
          </a:xfrm>
          <a:prstGeom prst="rect">
            <a:avLst/>
          </a:prstGeom>
          <a:noFill/>
        </p:spPr>
        <p:txBody>
          <a:bodyPr wrap="square" lIns="0" tIns="0" rIns="0" bIns="0" rtlCol="0" anchor="t">
            <a:noAutofit/>
          </a:bodyPr>
          <a:lstStyle/>
          <a:p>
            <a:pPr algn="r" latinLnBrk="0">
              <a:lnSpc>
                <a:spcPct val="120000"/>
              </a:lnSpc>
              <a:spcBef>
                <a:spcPts val="0"/>
              </a:spcBef>
              <a:spcAft>
                <a:spcPts val="0"/>
              </a:spcAft>
              <a:buNone/>
            </a:pPr>
            <a:r>
              <a:rPr lang="ko-KR" altLang="en-US" sz="1050" b="0">
                <a:solidFill>
                  <a:srgbClr val="6B7080"/>
                </a:solidFill>
                <a:latin typeface="210 OmniGothic 030"/>
                <a:ea typeface="210 OmniGothic 030"/>
                <a:cs typeface="210 OmniGothic 030"/>
              </a:rPr>
              <a:t>국회입법조사처 산불대응연구TF(2025.6) · YTN(2025.4.9)</a:t>
            </a:r>
          </a:p>
        </p:txBody>
      </p:sp>
      <p:sp>
        <p:nvSpPr>
          <p:cNvPr id="5044" name="Problem 2"/>
          <p:cNvSpPr/>
          <p:nvPr/>
        </p:nvSpPr>
        <p:spPr>
          <a:xfrm>
            <a:off x="9235440" y="4389120"/>
            <a:ext cx="8183880" cy="2286000"/>
          </a:xfrm>
          <a:prstGeom prst="roundRect">
            <a:avLst>
              <a:gd name="adj" fmla="val 88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latinLnBrk="0">
              <a:lnSpc>
                <a:spcPct val="120000"/>
              </a:lnSpc>
              <a:spcBef>
                <a:spcPts val="0"/>
              </a:spcBef>
              <a:spcAft>
                <a:spcPts val="0"/>
              </a:spcAft>
              <a:buNone/>
            </a:pPr>
            <a:endParaRPr/>
          </a:p>
        </p:txBody>
      </p:sp>
      <p:sp>
        <p:nvSpPr>
          <p:cNvPr id="5045" name="Rounded Rectangle 5044"/>
          <p:cNvSpPr/>
          <p:nvPr/>
        </p:nvSpPr>
        <p:spPr>
          <a:xfrm>
            <a:off x="9601200" y="4709160"/>
            <a:ext cx="1143000" cy="457200"/>
          </a:xfrm>
          <a:prstGeom prst="roundRect">
            <a:avLst>
              <a:gd name="adj" fmla="val 20000"/>
            </a:avLst>
          </a:prstGeom>
          <a:solidFill>
            <a:srgbClr val="FAA95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latinLnBrk="0">
              <a:lnSpc>
                <a:spcPct val="120000"/>
              </a:lnSpc>
              <a:spcBef>
                <a:spcPts val="0"/>
              </a:spcBef>
              <a:spcAft>
                <a:spcPts val="0"/>
              </a:spcAft>
              <a:buNone/>
            </a:pPr>
            <a:r>
              <a:rPr lang="ko-KR" altLang="en-US" sz="1550" b="1">
                <a:solidFill>
                  <a:srgbClr val="FFFFFF"/>
                </a:solidFill>
                <a:latin typeface="210 OmniGothic 040"/>
                <a:ea typeface="210 OmniGothic 040"/>
                <a:cs typeface="210 OmniGothic 040"/>
              </a:rPr>
              <a:t>문제 ②</a:t>
            </a:r>
          </a:p>
        </p:txBody>
      </p:sp>
      <p:sp>
        <p:nvSpPr>
          <p:cNvPr id="5046" name="TextBox 5045"/>
          <p:cNvSpPr txBox="1"/>
          <p:nvPr/>
        </p:nvSpPr>
        <p:spPr>
          <a:xfrm>
            <a:off x="10954512" y="4690872"/>
            <a:ext cx="6172200" cy="493776"/>
          </a:xfrm>
          <a:prstGeom prst="rect">
            <a:avLst/>
          </a:prstGeom>
          <a:noFill/>
        </p:spPr>
        <p:txBody>
          <a:bodyPr wrap="square" lIns="0" tIns="0" rIns="0" bIns="0" rtlCol="0" anchor="ctr">
            <a:noAutofit/>
          </a:bodyPr>
          <a:lstStyle/>
          <a:p>
            <a:pPr algn="l" latinLnBrk="0">
              <a:lnSpc>
                <a:spcPct val="120000"/>
              </a:lnSpc>
              <a:spcBef>
                <a:spcPts val="0"/>
              </a:spcBef>
              <a:spcAft>
                <a:spcPts val="0"/>
              </a:spcAft>
              <a:buNone/>
            </a:pPr>
            <a:r>
              <a:rPr lang="ko-KR" altLang="en-US" sz="2300" b="1">
                <a:solidFill>
                  <a:srgbClr val="363A52"/>
                </a:solidFill>
                <a:latin typeface="210 OmniGothic 040"/>
                <a:ea typeface="210 OmniGothic 040"/>
                <a:cs typeface="210 OmniGothic 040"/>
              </a:rPr>
              <a:t>통합지휘권자의 전문성 한계</a:t>
            </a:r>
          </a:p>
        </p:txBody>
      </p:sp>
      <p:sp>
        <p:nvSpPr>
          <p:cNvPr id="5047" name="TextBox 5046"/>
          <p:cNvSpPr txBox="1"/>
          <p:nvPr/>
        </p:nvSpPr>
        <p:spPr>
          <a:xfrm>
            <a:off x="9601200" y="5413248"/>
            <a:ext cx="7452360" cy="822960"/>
          </a:xfrm>
          <a:prstGeom prst="rect">
            <a:avLst/>
          </a:prstGeom>
          <a:noFill/>
        </p:spPr>
        <p:txBody>
          <a:bodyPr wrap="square" lIns="0" tIns="0" rIns="0" bIns="0" rtlCol="0" anchor="t">
            <a:noAutofit/>
          </a:bodyPr>
          <a:lstStyle/>
          <a:p>
            <a:pPr marL="201168" indent="-201168" algn="l" latinLnBrk="0">
              <a:lnSpc>
                <a:spcPct val="120000"/>
              </a:lnSpc>
              <a:spcBef>
                <a:spcPts val="500"/>
              </a:spcBef>
              <a:spcAft>
                <a:spcPts val="0"/>
              </a:spcAft>
              <a:buClr>
                <a:srgbClr val="FAA95A"/>
              </a:buClr>
              <a:buFont typeface="Arial"/>
              <a:buChar char="•"/>
            </a:pPr>
            <a:r>
              <a:rPr lang="ko-KR" altLang="en-US" sz="1550" b="0">
                <a:solidFill>
                  <a:srgbClr val="2E3142"/>
                </a:solidFill>
                <a:latin typeface="210 OmniGothic 040"/>
                <a:ea typeface="210 OmniGothic 040"/>
                <a:cs typeface="210 OmniGothic 040"/>
              </a:rPr>
              <a:t>산불 현장 경험이 거의 없는 지자체장에게 지휘권이 주어짐</a:t>
            </a:r>
          </a:p>
          <a:p>
            <a:pPr marL="201168" indent="-201168" algn="l" latinLnBrk="0">
              <a:lnSpc>
                <a:spcPct val="120000"/>
              </a:lnSpc>
              <a:spcBef>
                <a:spcPts val="500"/>
              </a:spcBef>
              <a:spcAft>
                <a:spcPts val="0"/>
              </a:spcAft>
              <a:buClr>
                <a:srgbClr val="FAA95A"/>
              </a:buClr>
              <a:buFont typeface="Arial"/>
              <a:buChar char="•"/>
            </a:pPr>
            <a:r>
              <a:rPr lang="ko-KR" altLang="en-US" sz="1550" b="0">
                <a:solidFill>
                  <a:srgbClr val="2E3142"/>
                </a:solidFill>
                <a:latin typeface="210 OmniGothic 040"/>
                <a:ea typeface="210 OmniGothic 040"/>
                <a:cs typeface="210 OmniGothic 040"/>
              </a:rPr>
              <a:t>100쪽 넘는 표준매뉴얼에서 맞는 조항을 찾아 적용해야 함</a:t>
            </a:r>
          </a:p>
        </p:txBody>
      </p:sp>
      <p:sp>
        <p:nvSpPr>
          <p:cNvPr id="5048" name="TextBox 5047"/>
          <p:cNvSpPr txBox="1"/>
          <p:nvPr/>
        </p:nvSpPr>
        <p:spPr>
          <a:xfrm>
            <a:off x="9601200" y="6309360"/>
            <a:ext cx="7452360" cy="219456"/>
          </a:xfrm>
          <a:prstGeom prst="rect">
            <a:avLst/>
          </a:prstGeom>
          <a:noFill/>
        </p:spPr>
        <p:txBody>
          <a:bodyPr wrap="square" lIns="0" tIns="0" rIns="0" bIns="0" rtlCol="0" anchor="t">
            <a:noAutofit/>
          </a:bodyPr>
          <a:lstStyle/>
          <a:p>
            <a:pPr algn="r" latinLnBrk="0">
              <a:lnSpc>
                <a:spcPct val="120000"/>
              </a:lnSpc>
              <a:spcBef>
                <a:spcPts val="0"/>
              </a:spcBef>
              <a:spcAft>
                <a:spcPts val="0"/>
              </a:spcAft>
              <a:buNone/>
            </a:pPr>
            <a:r>
              <a:rPr lang="ko-KR" altLang="en-US" sz="1050" b="0">
                <a:solidFill>
                  <a:srgbClr val="6B7080"/>
                </a:solidFill>
                <a:latin typeface="210 OmniGothic 030"/>
                <a:ea typeface="210 OmniGothic 030"/>
                <a:cs typeface="210 OmniGothic 030"/>
              </a:rPr>
              <a:t>국회입법조사처 산불대응연구TF(2025.6) · 「산불 재난」 위기관리 표준매뉴얼</a:t>
            </a:r>
          </a:p>
        </p:txBody>
      </p:sp>
      <p:sp>
        <p:nvSpPr>
          <p:cNvPr id="5049" name="TextBox 5048"/>
          <p:cNvSpPr txBox="1"/>
          <p:nvPr/>
        </p:nvSpPr>
        <p:spPr>
          <a:xfrm>
            <a:off x="868680" y="6949440"/>
            <a:ext cx="2606040" cy="1280160"/>
          </a:xfrm>
          <a:prstGeom prst="rect">
            <a:avLst/>
          </a:prstGeom>
          <a:noFill/>
        </p:spPr>
        <p:txBody>
          <a:bodyPr wrap="square" lIns="0" tIns="0" rIns="0" bIns="0" rtlCol="0" anchor="ctr">
            <a:noAutofit/>
          </a:bodyPr>
          <a:lstStyle/>
          <a:p>
            <a:pPr algn="l" latinLnBrk="0">
              <a:lnSpc>
                <a:spcPct val="125000"/>
              </a:lnSpc>
              <a:spcBef>
                <a:spcPts val="0"/>
              </a:spcBef>
              <a:spcAft>
                <a:spcPts val="0"/>
              </a:spcAft>
              <a:buNone/>
            </a:pPr>
            <a:r>
              <a:rPr lang="ko-KR" altLang="en-US" sz="1750" b="1">
                <a:solidFill>
                  <a:srgbClr val="363A52"/>
                </a:solidFill>
                <a:latin typeface="210 OmniGothic 040"/>
                <a:ea typeface="210 OmniGothic 040"/>
                <a:cs typeface="210 OmniGothic 040"/>
              </a:rPr>
              <a:t>비어 있는 것은</a:t>
            </a:r>
          </a:p>
          <a:p>
            <a:pPr algn="l" latinLnBrk="0">
              <a:lnSpc>
                <a:spcPct val="125000"/>
              </a:lnSpc>
              <a:spcBef>
                <a:spcPts val="0"/>
              </a:spcBef>
              <a:spcAft>
                <a:spcPts val="0"/>
              </a:spcAft>
              <a:buNone/>
            </a:pPr>
            <a:r>
              <a:rPr lang="ko-KR" altLang="en-US" sz="1750" b="1">
                <a:solidFill>
                  <a:srgbClr val="363A52"/>
                </a:solidFill>
                <a:latin typeface="210 OmniGothic 040"/>
                <a:ea typeface="210 OmniGothic 040"/>
                <a:cs typeface="210 OmniGothic 040"/>
              </a:rPr>
              <a:t>예측도 규칙도 아닙니다</a:t>
            </a:r>
          </a:p>
        </p:txBody>
      </p:sp>
      <p:sp>
        <p:nvSpPr>
          <p:cNvPr id="5050" name="Rounded Rectangle 5049"/>
          <p:cNvSpPr/>
          <p:nvPr/>
        </p:nvSpPr>
        <p:spPr>
          <a:xfrm>
            <a:off x="3566160" y="6949440"/>
            <a:ext cx="3657600" cy="1280160"/>
          </a:xfrm>
          <a:prstGeom prst="roundRect">
            <a:avLst>
              <a:gd name="adj" fmla="val 11428"/>
            </a:avLst>
          </a:prstGeom>
          <a:solidFill>
            <a:srgbClr val="FFFFFF"/>
          </a:solidFill>
          <a:ln w="15875">
            <a:solidFill>
              <a:srgbClr val="D9DC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latinLnBrk="0">
              <a:lnSpc>
                <a:spcPct val="120000"/>
              </a:lnSpc>
              <a:spcBef>
                <a:spcPts val="0"/>
              </a:spcBef>
              <a:spcAft>
                <a:spcPts val="0"/>
              </a:spcAft>
              <a:buNone/>
            </a:pPr>
            <a:endParaRPr/>
          </a:p>
        </p:txBody>
      </p:sp>
      <p:sp>
        <p:nvSpPr>
          <p:cNvPr id="5051" name="TextBox 5050"/>
          <p:cNvSpPr txBox="1"/>
          <p:nvPr/>
        </p:nvSpPr>
        <p:spPr>
          <a:xfrm>
            <a:off x="3840480" y="7187184"/>
            <a:ext cx="2194560" cy="329184"/>
          </a:xfrm>
          <a:prstGeom prst="rect">
            <a:avLst/>
          </a:prstGeom>
          <a:noFill/>
        </p:spPr>
        <p:txBody>
          <a:bodyPr wrap="square" lIns="0" tIns="0" rIns="0" bIns="0" rtlCol="0" anchor="ctr">
            <a:noAutofit/>
          </a:bodyPr>
          <a:lstStyle/>
          <a:p>
            <a:pPr algn="l" latinLnBrk="0">
              <a:lnSpc>
                <a:spcPct val="120000"/>
              </a:lnSpc>
              <a:spcBef>
                <a:spcPts val="0"/>
              </a:spcBef>
              <a:spcAft>
                <a:spcPts val="0"/>
              </a:spcAft>
              <a:buNone/>
            </a:pPr>
            <a:r>
              <a:rPr lang="ko-KR" altLang="en-US" sz="1700" b="1">
                <a:solidFill>
                  <a:srgbClr val="363A52"/>
                </a:solidFill>
                <a:latin typeface="210 OmniGothic 040"/>
                <a:ea typeface="210 OmniGothic 040"/>
                <a:cs typeface="210 OmniGothic 040"/>
              </a:rPr>
              <a:t>확산 예측</a:t>
            </a:r>
          </a:p>
        </p:txBody>
      </p:sp>
      <p:sp>
        <p:nvSpPr>
          <p:cNvPr id="5052" name="Rounded Rectangle 5051"/>
          <p:cNvSpPr/>
          <p:nvPr/>
        </p:nvSpPr>
        <p:spPr>
          <a:xfrm>
            <a:off x="6172200" y="7187184"/>
            <a:ext cx="777240" cy="329184"/>
          </a:xfrm>
          <a:prstGeom prst="roundRect">
            <a:avLst>
              <a:gd name="adj" fmla="val 25000"/>
            </a:avLst>
          </a:prstGeom>
          <a:solidFill>
            <a:srgbClr val="E6E9F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latinLnBrk="0">
              <a:lnSpc>
                <a:spcPct val="120000"/>
              </a:lnSpc>
              <a:spcBef>
                <a:spcPts val="0"/>
              </a:spcBef>
              <a:spcAft>
                <a:spcPts val="0"/>
              </a:spcAft>
              <a:buNone/>
            </a:pPr>
            <a:r>
              <a:rPr lang="ko-KR" altLang="en-US" sz="1250" b="1">
                <a:solidFill>
                  <a:srgbClr val="6B7080"/>
                </a:solidFill>
                <a:latin typeface="210 OmniGothic 040"/>
                <a:ea typeface="210 OmniGothic 040"/>
                <a:cs typeface="210 OmniGothic 040"/>
              </a:rPr>
              <a:t>있음</a:t>
            </a:r>
          </a:p>
        </p:txBody>
      </p:sp>
      <p:sp>
        <p:nvSpPr>
          <p:cNvPr id="5053" name="TextBox 5052"/>
          <p:cNvSpPr txBox="1"/>
          <p:nvPr/>
        </p:nvSpPr>
        <p:spPr>
          <a:xfrm>
            <a:off x="3840480" y="7699248"/>
            <a:ext cx="3200400" cy="292608"/>
          </a:xfrm>
          <a:prstGeom prst="rect">
            <a:avLst/>
          </a:prstGeom>
          <a:noFill/>
        </p:spPr>
        <p:txBody>
          <a:bodyPr wrap="square" lIns="0" tIns="0" rIns="0" bIns="0" rtlCol="0" anchor="ctr">
            <a:noAutofit/>
          </a:bodyPr>
          <a:lstStyle/>
          <a:p>
            <a:pPr algn="l" latinLnBrk="0">
              <a:lnSpc>
                <a:spcPct val="120000"/>
              </a:lnSpc>
              <a:spcBef>
                <a:spcPts val="0"/>
              </a:spcBef>
              <a:spcAft>
                <a:spcPts val="0"/>
              </a:spcAft>
              <a:buNone/>
            </a:pPr>
            <a:r>
              <a:rPr lang="ko-KR" altLang="en-US" sz="1300" b="0">
                <a:solidFill>
                  <a:srgbClr val="6B7080"/>
                </a:solidFill>
                <a:latin typeface="210 OmniGothic 040"/>
                <a:ea typeface="210 OmniGothic 040"/>
                <a:cs typeface="210 OmniGothic 040"/>
              </a:rPr>
              <a:t>산불확산예측시스템 등 국가 시스템</a:t>
            </a:r>
          </a:p>
        </p:txBody>
      </p:sp>
      <p:sp>
        <p:nvSpPr>
          <p:cNvPr id="5054" name="Chevron 5053"/>
          <p:cNvSpPr/>
          <p:nvPr/>
        </p:nvSpPr>
        <p:spPr>
          <a:xfrm>
            <a:off x="7324344" y="7443216"/>
            <a:ext cx="164592" cy="292608"/>
          </a:xfrm>
          <a:prstGeom prst="chevron">
            <a:avLst>
              <a:gd name="adj" fmla="val 60000"/>
            </a:avLst>
          </a:prstGeom>
          <a:solidFill>
            <a:srgbClr val="FAA95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latinLnBrk="0">
              <a:lnSpc>
                <a:spcPct val="120000"/>
              </a:lnSpc>
              <a:spcBef>
                <a:spcPts val="0"/>
              </a:spcBef>
              <a:spcAft>
                <a:spcPts val="0"/>
              </a:spcAft>
              <a:buNone/>
            </a:pPr>
            <a:endParaRPr/>
          </a:p>
        </p:txBody>
      </p:sp>
      <p:sp>
        <p:nvSpPr>
          <p:cNvPr id="5055" name="Rounded Rectangle 5054"/>
          <p:cNvSpPr/>
          <p:nvPr/>
        </p:nvSpPr>
        <p:spPr>
          <a:xfrm>
            <a:off x="7589520" y="6949440"/>
            <a:ext cx="3657600" cy="1280160"/>
          </a:xfrm>
          <a:prstGeom prst="roundRect">
            <a:avLst>
              <a:gd name="adj" fmla="val 11428"/>
            </a:avLst>
          </a:prstGeom>
          <a:solidFill>
            <a:srgbClr val="FFFFFF"/>
          </a:solidFill>
          <a:ln w="15875">
            <a:solidFill>
              <a:srgbClr val="D9DC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latinLnBrk="0">
              <a:lnSpc>
                <a:spcPct val="120000"/>
              </a:lnSpc>
              <a:spcBef>
                <a:spcPts val="0"/>
              </a:spcBef>
              <a:spcAft>
                <a:spcPts val="0"/>
              </a:spcAft>
              <a:buNone/>
            </a:pPr>
            <a:endParaRPr/>
          </a:p>
        </p:txBody>
      </p:sp>
      <p:sp>
        <p:nvSpPr>
          <p:cNvPr id="5056" name="TextBox 5055"/>
          <p:cNvSpPr txBox="1"/>
          <p:nvPr/>
        </p:nvSpPr>
        <p:spPr>
          <a:xfrm>
            <a:off x="7863840" y="7187184"/>
            <a:ext cx="2194560" cy="329184"/>
          </a:xfrm>
          <a:prstGeom prst="rect">
            <a:avLst/>
          </a:prstGeom>
          <a:noFill/>
        </p:spPr>
        <p:txBody>
          <a:bodyPr wrap="square" lIns="0" tIns="0" rIns="0" bIns="0" rtlCol="0" anchor="ctr">
            <a:noAutofit/>
          </a:bodyPr>
          <a:lstStyle/>
          <a:p>
            <a:pPr algn="l" latinLnBrk="0">
              <a:lnSpc>
                <a:spcPct val="120000"/>
              </a:lnSpc>
              <a:spcBef>
                <a:spcPts val="0"/>
              </a:spcBef>
              <a:spcAft>
                <a:spcPts val="0"/>
              </a:spcAft>
              <a:buNone/>
            </a:pPr>
            <a:r>
              <a:rPr lang="ko-KR" altLang="en-US" sz="1700" b="1">
                <a:solidFill>
                  <a:srgbClr val="363A52"/>
                </a:solidFill>
                <a:latin typeface="210 OmniGothic 040"/>
                <a:ea typeface="210 OmniGothic 040"/>
                <a:cs typeface="210 OmniGothic 040"/>
              </a:rPr>
              <a:t>대응 규칙</a:t>
            </a:r>
          </a:p>
        </p:txBody>
      </p:sp>
      <p:sp>
        <p:nvSpPr>
          <p:cNvPr id="5057" name="Rounded Rectangle 5056"/>
          <p:cNvSpPr/>
          <p:nvPr/>
        </p:nvSpPr>
        <p:spPr>
          <a:xfrm>
            <a:off x="10195560" y="7187184"/>
            <a:ext cx="777240" cy="329184"/>
          </a:xfrm>
          <a:prstGeom prst="roundRect">
            <a:avLst>
              <a:gd name="adj" fmla="val 25000"/>
            </a:avLst>
          </a:prstGeom>
          <a:solidFill>
            <a:srgbClr val="E6E9F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latinLnBrk="0">
              <a:lnSpc>
                <a:spcPct val="120000"/>
              </a:lnSpc>
              <a:spcBef>
                <a:spcPts val="0"/>
              </a:spcBef>
              <a:spcAft>
                <a:spcPts val="0"/>
              </a:spcAft>
              <a:buNone/>
            </a:pPr>
            <a:r>
              <a:rPr lang="ko-KR" altLang="en-US" sz="1250" b="1">
                <a:solidFill>
                  <a:srgbClr val="6B7080"/>
                </a:solidFill>
                <a:latin typeface="210 OmniGothic 040"/>
                <a:ea typeface="210 OmniGothic 040"/>
                <a:cs typeface="210 OmniGothic 040"/>
              </a:rPr>
              <a:t>있음</a:t>
            </a:r>
          </a:p>
        </p:txBody>
      </p:sp>
      <p:sp>
        <p:nvSpPr>
          <p:cNvPr id="5058" name="TextBox 5057"/>
          <p:cNvSpPr txBox="1"/>
          <p:nvPr/>
        </p:nvSpPr>
        <p:spPr>
          <a:xfrm>
            <a:off x="7863840" y="7699248"/>
            <a:ext cx="3200400" cy="292608"/>
          </a:xfrm>
          <a:prstGeom prst="rect">
            <a:avLst/>
          </a:prstGeom>
          <a:noFill/>
        </p:spPr>
        <p:txBody>
          <a:bodyPr wrap="square" lIns="0" tIns="0" rIns="0" bIns="0" rtlCol="0" anchor="ctr">
            <a:noAutofit/>
          </a:bodyPr>
          <a:lstStyle/>
          <a:p>
            <a:pPr algn="l" latinLnBrk="0">
              <a:lnSpc>
                <a:spcPct val="120000"/>
              </a:lnSpc>
              <a:spcBef>
                <a:spcPts val="0"/>
              </a:spcBef>
              <a:spcAft>
                <a:spcPts val="0"/>
              </a:spcAft>
              <a:buNone/>
            </a:pPr>
            <a:r>
              <a:rPr lang="ko-KR" altLang="en-US" sz="1300" b="0">
                <a:solidFill>
                  <a:srgbClr val="6B7080"/>
                </a:solidFill>
                <a:latin typeface="210 OmniGothic 040"/>
                <a:ea typeface="210 OmniGothic 040"/>
                <a:cs typeface="210 OmniGothic 040"/>
              </a:rPr>
              <a:t>산림재난방지법 시행령 · 표준매뉴얼</a:t>
            </a:r>
          </a:p>
        </p:txBody>
      </p:sp>
      <p:sp>
        <p:nvSpPr>
          <p:cNvPr id="5059" name="Chevron 5058"/>
          <p:cNvSpPr/>
          <p:nvPr/>
        </p:nvSpPr>
        <p:spPr>
          <a:xfrm>
            <a:off x="11347704" y="7443216"/>
            <a:ext cx="164592" cy="292608"/>
          </a:xfrm>
          <a:prstGeom prst="chevron">
            <a:avLst>
              <a:gd name="adj" fmla="val 60000"/>
            </a:avLst>
          </a:prstGeom>
          <a:solidFill>
            <a:srgbClr val="FAA95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latinLnBrk="0">
              <a:lnSpc>
                <a:spcPct val="120000"/>
              </a:lnSpc>
              <a:spcBef>
                <a:spcPts val="0"/>
              </a:spcBef>
              <a:spcAft>
                <a:spcPts val="0"/>
              </a:spcAft>
              <a:buNone/>
            </a:pPr>
            <a:endParaRPr/>
          </a:p>
        </p:txBody>
      </p:sp>
      <p:sp>
        <p:nvSpPr>
          <p:cNvPr id="5060" name="Gap"/>
          <p:cNvSpPr/>
          <p:nvPr/>
        </p:nvSpPr>
        <p:spPr>
          <a:xfrm>
            <a:off x="11612880" y="6949440"/>
            <a:ext cx="5806440" cy="1280160"/>
          </a:xfrm>
          <a:prstGeom prst="roundRect">
            <a:avLst>
              <a:gd name="adj" fmla="val 11428"/>
            </a:avLst>
          </a:prstGeom>
          <a:solidFill>
            <a:srgbClr val="363A5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latinLnBrk="0">
              <a:lnSpc>
                <a:spcPct val="120000"/>
              </a:lnSpc>
              <a:spcBef>
                <a:spcPts val="0"/>
              </a:spcBef>
              <a:spcAft>
                <a:spcPts val="0"/>
              </a:spcAft>
              <a:buNone/>
            </a:pPr>
            <a:endParaRPr/>
          </a:p>
        </p:txBody>
      </p:sp>
      <p:sp>
        <p:nvSpPr>
          <p:cNvPr id="5061" name="TextBox 5060"/>
          <p:cNvSpPr txBox="1"/>
          <p:nvPr/>
        </p:nvSpPr>
        <p:spPr>
          <a:xfrm>
            <a:off x="11905488" y="7187184"/>
            <a:ext cx="3063240" cy="329184"/>
          </a:xfrm>
          <a:prstGeom prst="rect">
            <a:avLst/>
          </a:prstGeom>
          <a:noFill/>
        </p:spPr>
        <p:txBody>
          <a:bodyPr wrap="square" lIns="0" tIns="0" rIns="0" bIns="0" rtlCol="0" anchor="ctr">
            <a:noAutofit/>
          </a:bodyPr>
          <a:lstStyle/>
          <a:p>
            <a:pPr algn="l" latinLnBrk="0">
              <a:lnSpc>
                <a:spcPct val="120000"/>
              </a:lnSpc>
              <a:spcBef>
                <a:spcPts val="0"/>
              </a:spcBef>
              <a:spcAft>
                <a:spcPts val="0"/>
              </a:spcAft>
              <a:buNone/>
            </a:pPr>
            <a:r>
              <a:rPr lang="ko-KR" altLang="en-US" sz="1700" b="1">
                <a:solidFill>
                  <a:srgbClr val="FFFFFF"/>
                </a:solidFill>
                <a:latin typeface="210 OmniGothic 040"/>
                <a:ea typeface="210 OmniGothic 040"/>
                <a:cs typeface="210 OmniGothic 040"/>
              </a:rPr>
              <a:t>판단 항목별 대응안 + 근거</a:t>
            </a:r>
          </a:p>
        </p:txBody>
      </p:sp>
      <p:sp>
        <p:nvSpPr>
          <p:cNvPr id="5062" name="Rounded Rectangle 5061"/>
          <p:cNvSpPr/>
          <p:nvPr/>
        </p:nvSpPr>
        <p:spPr>
          <a:xfrm>
            <a:off x="15023592" y="7187184"/>
            <a:ext cx="2103120" cy="329184"/>
          </a:xfrm>
          <a:prstGeom prst="roundRect">
            <a:avLst>
              <a:gd name="adj" fmla="val 25000"/>
            </a:avLst>
          </a:prstGeom>
          <a:solidFill>
            <a:srgbClr val="FAA95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latinLnBrk="0">
              <a:lnSpc>
                <a:spcPct val="120000"/>
              </a:lnSpc>
              <a:spcBef>
                <a:spcPts val="0"/>
              </a:spcBef>
              <a:spcAft>
                <a:spcPts val="0"/>
              </a:spcAft>
              <a:buNone/>
            </a:pPr>
            <a:r>
              <a:rPr lang="ko-KR" altLang="en-US" sz="1250" b="1">
                <a:solidFill>
                  <a:srgbClr val="FFFFFF"/>
                </a:solidFill>
                <a:latin typeface="210 OmniGothic 040"/>
                <a:ea typeface="210 OmniGothic 040"/>
                <a:cs typeface="210 OmniGothic 040"/>
              </a:rPr>
              <a:t>비어 있음 → 본 과제</a:t>
            </a:r>
          </a:p>
        </p:txBody>
      </p:sp>
      <p:sp>
        <p:nvSpPr>
          <p:cNvPr id="5063" name="TextBox 5062"/>
          <p:cNvSpPr txBox="1"/>
          <p:nvPr/>
        </p:nvSpPr>
        <p:spPr>
          <a:xfrm>
            <a:off x="11905488" y="7699248"/>
            <a:ext cx="5257800" cy="292608"/>
          </a:xfrm>
          <a:prstGeom prst="rect">
            <a:avLst/>
          </a:prstGeom>
          <a:noFill/>
        </p:spPr>
        <p:txBody>
          <a:bodyPr wrap="square" lIns="0" tIns="0" rIns="0" bIns="0" rtlCol="0" anchor="ctr">
            <a:noAutofit/>
          </a:bodyPr>
          <a:lstStyle/>
          <a:p>
            <a:pPr algn="l" latinLnBrk="0">
              <a:lnSpc>
                <a:spcPct val="120000"/>
              </a:lnSpc>
              <a:spcBef>
                <a:spcPts val="0"/>
              </a:spcBef>
              <a:spcAft>
                <a:spcPts val="0"/>
              </a:spcAft>
              <a:buNone/>
            </a:pPr>
            <a:r>
              <a:rPr lang="ko-KR" altLang="en-US" sz="1350" b="0">
                <a:solidFill>
                  <a:srgbClr val="E6E9F1"/>
                </a:solidFill>
                <a:latin typeface="210 OmniGothic 040"/>
                <a:ea typeface="210 OmniGothic 040"/>
                <a:cs typeface="210 OmniGothic 040"/>
              </a:rPr>
              <a:t>「지금 무엇을 결정해야 하는가」를 근거와 함께 제시하는 단계</a:t>
            </a:r>
          </a:p>
        </p:txBody>
      </p:sp>
      <p:sp>
        <p:nvSpPr>
          <p:cNvPr id="5064" name="TextBox 5063"/>
          <p:cNvSpPr txBox="1"/>
          <p:nvPr/>
        </p:nvSpPr>
        <p:spPr>
          <a:xfrm>
            <a:off x="868680" y="8595360"/>
            <a:ext cx="16550640" cy="274320"/>
          </a:xfrm>
          <a:prstGeom prst="rect">
            <a:avLst/>
          </a:prstGeom>
          <a:noFill/>
        </p:spPr>
        <p:txBody>
          <a:bodyPr wrap="square" lIns="0" tIns="0" rIns="0" bIns="0" rtlCol="0" anchor="t">
            <a:noAutofit/>
          </a:bodyPr>
          <a:lstStyle/>
          <a:p>
            <a:pPr algn="l" latinLnBrk="0">
              <a:lnSpc>
                <a:spcPct val="120000"/>
              </a:lnSpc>
              <a:spcBef>
                <a:spcPts val="0"/>
              </a:spcBef>
              <a:spcAft>
                <a:spcPts val="0"/>
              </a:spcAft>
              <a:buNone/>
            </a:pPr>
            <a:r>
              <a:rPr lang="ko-KR" altLang="en-US" sz="1050" b="0">
                <a:solidFill>
                  <a:srgbClr val="7B8094"/>
                </a:solidFill>
                <a:latin typeface="210 OmniGothic 030"/>
                <a:ea typeface="210 OmniGothic 030"/>
                <a:cs typeface="210 OmniGothic 030"/>
              </a:rPr>
              <a:t>출처: 중앙재난안전대책본부 집계(경향신문 2025.3.29, 매일신문 2025.6.29) · 경상북도 등 지자체 집계(한국경제 2025.3.28)</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28"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2700" y="-12700"/>
            <a:ext cx="18313400" cy="1638300"/>
          </a:xfrm>
          <a:prstGeom prst="rect">
            <a:avLst/>
          </a:prstGeom>
        </p:spPr>
      </p:pic>
      <p:pic>
        <p:nvPicPr>
          <p:cNvPr id="5029"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628" y="1618343"/>
            <a:ext cx="18313400" cy="8699500"/>
          </a:xfrm>
          <a:prstGeom prst="rect">
            <a:avLst/>
          </a:prstGeom>
        </p:spPr>
      </p:pic>
      <p:pic>
        <p:nvPicPr>
          <p:cNvPr id="5030"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58800" y="9271000"/>
            <a:ext cx="17170400" cy="50800"/>
          </a:xfrm>
          <a:prstGeom prst="rect">
            <a:avLst/>
          </a:prstGeom>
        </p:spPr>
      </p:pic>
      <p:pic>
        <p:nvPicPr>
          <p:cNvPr id="5031" name="Picture 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278100" y="203200"/>
            <a:ext cx="1676400" cy="1409700"/>
          </a:xfrm>
          <a:prstGeom prst="rect">
            <a:avLst/>
          </a:prstGeom>
        </p:spPr>
      </p:pic>
      <p:sp>
        <p:nvSpPr>
          <p:cNvPr id="5032" name="Title"/>
          <p:cNvSpPr txBox="1"/>
          <p:nvPr/>
        </p:nvSpPr>
        <p:spPr>
          <a:xfrm>
            <a:off x="822960" y="384048"/>
            <a:ext cx="13258800" cy="877824"/>
          </a:xfrm>
          <a:prstGeom prst="rect">
            <a:avLst/>
          </a:prstGeom>
          <a:noFill/>
        </p:spPr>
        <p:txBody>
          <a:bodyPr wrap="square" lIns="0" tIns="0" rIns="0" bIns="0" anchor="ctr">
            <a:spAutoFit/>
          </a:bodyPr>
          <a:lstStyle/>
          <a:p>
            <a:pPr algn="l"/>
            <a:r>
              <a:rPr sz="4400" b="0">
                <a:solidFill>
                  <a:srgbClr val="FAA95A"/>
                </a:solidFill>
                <a:latin typeface="210 OmniGothic 050"/>
                <a:ea typeface="210 OmniGothic 050"/>
                <a:cs typeface="210 OmniGothic 050"/>
              </a:rPr>
              <a:t>01. 프로젝트 개요</a:t>
            </a:r>
          </a:p>
        </p:txBody>
      </p:sp>
      <p:sp>
        <p:nvSpPr>
          <p:cNvPr id="5033" name="Subtitle"/>
          <p:cNvSpPr txBox="1"/>
          <p:nvPr/>
        </p:nvSpPr>
        <p:spPr>
          <a:xfrm>
            <a:off x="822960" y="1764792"/>
            <a:ext cx="16642080" cy="502920"/>
          </a:xfrm>
          <a:prstGeom prst="rect">
            <a:avLst/>
          </a:prstGeom>
          <a:noFill/>
        </p:spPr>
        <p:txBody>
          <a:bodyPr wrap="square" lIns="0" tIns="0" rIns="0" bIns="0" anchor="ctr">
            <a:spAutoFit/>
          </a:bodyPr>
          <a:lstStyle/>
          <a:p>
            <a:pPr algn="ctr"/>
            <a:r>
              <a:rPr sz="2600" b="1">
                <a:solidFill>
                  <a:srgbClr val="363A52"/>
                </a:solidFill>
                <a:latin typeface="210 OmniGothic 040"/>
                <a:ea typeface="210 OmniGothic 040"/>
                <a:cs typeface="210 OmniGothic 040"/>
              </a:rPr>
              <a:t>주요 기능</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sz="quarter" idx="12"/>
          </p:nvPr>
        </p:nvSpPr>
        <p:spPr/>
        <p:txBody>
          <a:bodyPr/>
          <a:lstStyle/>
          <a:p>
            <a:fld id="{B6F15528-21DE-4FAA-801E-634DDDAF4B2B}" type="slidenum">
              <a:rPr lang="en-US" smtClean="0"/>
              <a:pPr/>
              <a:t>6</a:t>
            </a:fld>
            <a:endParaRPr lang="en-US"/>
          </a:p>
        </p:txBody>
      </p:sp>
      <p:sp>
        <p:nvSpPr>
          <p:cNvPr id="5034" name="Pillar 01"/>
          <p:cNvSpPr/>
          <p:nvPr/>
        </p:nvSpPr>
        <p:spPr>
          <a:xfrm>
            <a:off x="868680" y="2487168"/>
            <a:ext cx="4343400" cy="2377440"/>
          </a:xfrm>
          <a:prstGeom prst="roundRect">
            <a:avLst>
              <a:gd name="adj" fmla="val 8461"/>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latinLnBrk="0">
              <a:lnSpc>
                <a:spcPct val="120000"/>
              </a:lnSpc>
              <a:spcBef>
                <a:spcPts val="0"/>
              </a:spcBef>
              <a:spcAft>
                <a:spcPts val="0"/>
              </a:spcAft>
              <a:buNone/>
            </a:pPr>
            <a:endParaRPr/>
          </a:p>
        </p:txBody>
      </p:sp>
      <p:sp>
        <p:nvSpPr>
          <p:cNvPr id="5035" name="Rounded Rectangle 5034"/>
          <p:cNvSpPr/>
          <p:nvPr/>
        </p:nvSpPr>
        <p:spPr>
          <a:xfrm>
            <a:off x="1216152" y="2852928"/>
            <a:ext cx="822960" cy="502920"/>
          </a:xfrm>
          <a:prstGeom prst="roundRect">
            <a:avLst>
              <a:gd name="adj" fmla="val 18181"/>
            </a:avLst>
          </a:prstGeom>
          <a:solidFill>
            <a:srgbClr val="FAA95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latinLnBrk="0">
              <a:lnSpc>
                <a:spcPct val="120000"/>
              </a:lnSpc>
              <a:spcBef>
                <a:spcPts val="0"/>
              </a:spcBef>
              <a:spcAft>
                <a:spcPts val="0"/>
              </a:spcAft>
              <a:buNone/>
            </a:pPr>
            <a:r>
              <a:rPr lang="ko-KR" altLang="en-US" sz="1850" b="1">
                <a:solidFill>
                  <a:srgbClr val="FFFFFF"/>
                </a:solidFill>
                <a:latin typeface="Pretendard Bold"/>
                <a:ea typeface="Pretendard Bold"/>
                <a:cs typeface="Pretendard Bold"/>
              </a:rPr>
              <a:t>01</a:t>
            </a:r>
          </a:p>
        </p:txBody>
      </p:sp>
      <p:sp>
        <p:nvSpPr>
          <p:cNvPr id="5036" name="TextBox 5035"/>
          <p:cNvSpPr txBox="1"/>
          <p:nvPr/>
        </p:nvSpPr>
        <p:spPr>
          <a:xfrm>
            <a:off x="2240280" y="2770632"/>
            <a:ext cx="1874520" cy="256032"/>
          </a:xfrm>
          <a:prstGeom prst="rect">
            <a:avLst/>
          </a:prstGeom>
          <a:noFill/>
        </p:spPr>
        <p:txBody>
          <a:bodyPr wrap="square" lIns="0" tIns="0" rIns="0" bIns="0" rtlCol="0" anchor="t">
            <a:noAutofit/>
          </a:bodyPr>
          <a:lstStyle/>
          <a:p>
            <a:pPr algn="l" latinLnBrk="0">
              <a:lnSpc>
                <a:spcPct val="120000"/>
              </a:lnSpc>
              <a:spcBef>
                <a:spcPts val="0"/>
              </a:spcBef>
              <a:spcAft>
                <a:spcPts val="0"/>
              </a:spcAft>
              <a:buNone/>
            </a:pPr>
            <a:r>
              <a:rPr lang="ko-KR" altLang="en-US" sz="1350" b="1">
                <a:solidFill>
                  <a:srgbClr val="B5601C"/>
                </a:solidFill>
                <a:latin typeface="210 OmniGothic 040"/>
                <a:ea typeface="210 OmniGothic 040"/>
                <a:cs typeface="210 OmniGothic 040"/>
              </a:rPr>
              <a:t>정보 확인</a:t>
            </a:r>
          </a:p>
        </p:txBody>
      </p:sp>
      <p:sp>
        <p:nvSpPr>
          <p:cNvPr id="5037" name="TextBox 5036"/>
          <p:cNvSpPr txBox="1"/>
          <p:nvPr/>
        </p:nvSpPr>
        <p:spPr>
          <a:xfrm>
            <a:off x="2240280" y="3017520"/>
            <a:ext cx="1874520" cy="402336"/>
          </a:xfrm>
          <a:prstGeom prst="rect">
            <a:avLst/>
          </a:prstGeom>
          <a:noFill/>
        </p:spPr>
        <p:txBody>
          <a:bodyPr wrap="square" lIns="0" tIns="0" rIns="0" bIns="0" rtlCol="0" anchor="t">
            <a:noAutofit/>
          </a:bodyPr>
          <a:lstStyle/>
          <a:p>
            <a:pPr algn="l" latinLnBrk="0">
              <a:lnSpc>
                <a:spcPct val="120000"/>
              </a:lnSpc>
              <a:spcBef>
                <a:spcPts val="0"/>
              </a:spcBef>
              <a:spcAft>
                <a:spcPts val="0"/>
              </a:spcAft>
              <a:buNone/>
            </a:pPr>
            <a:r>
              <a:rPr lang="ko-KR" altLang="en-US" sz="2200" b="1">
                <a:solidFill>
                  <a:srgbClr val="363A52"/>
                </a:solidFill>
                <a:latin typeface="210 OmniGothic 040"/>
                <a:ea typeface="210 OmniGothic 040"/>
                <a:cs typeface="210 OmniGothic 040"/>
              </a:rPr>
              <a:t>통합 상황도</a:t>
            </a:r>
          </a:p>
        </p:txBody>
      </p:sp>
      <p:sp>
        <p:nvSpPr>
          <p:cNvPr id="5038" name="Oval 5037"/>
          <p:cNvSpPr/>
          <p:nvPr/>
        </p:nvSpPr>
        <p:spPr>
          <a:xfrm>
            <a:off x="4133088" y="2761488"/>
            <a:ext cx="731520" cy="73152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latinLnBrk="0">
              <a:lnSpc>
                <a:spcPct val="120000"/>
              </a:lnSpc>
              <a:spcBef>
                <a:spcPts val="0"/>
              </a:spcBef>
              <a:spcAft>
                <a:spcPts val="0"/>
              </a:spcAft>
              <a:buNone/>
            </a:pPr>
            <a:endParaRPr/>
          </a:p>
        </p:txBody>
      </p:sp>
      <p:pic>
        <p:nvPicPr>
          <p:cNvPr id="5039" name="Picture 5038" descr="i37_363A52.png"/>
          <p:cNvPicPr>
            <a:picLocks noChangeAspect="1"/>
          </p:cNvPicPr>
          <p:nvPr/>
        </p:nvPicPr>
        <p:blipFill>
          <a:blip r:embed="rId7"/>
          <a:stretch>
            <a:fillRect/>
          </a:stretch>
        </p:blipFill>
        <p:spPr>
          <a:xfrm>
            <a:off x="4315968" y="2944368"/>
            <a:ext cx="365760" cy="365760"/>
          </a:xfrm>
          <a:prstGeom prst="rect">
            <a:avLst/>
          </a:prstGeom>
        </p:spPr>
      </p:pic>
      <p:sp>
        <p:nvSpPr>
          <p:cNvPr id="5040" name="TextBox 5039"/>
          <p:cNvSpPr txBox="1"/>
          <p:nvPr/>
        </p:nvSpPr>
        <p:spPr>
          <a:xfrm>
            <a:off x="1216152" y="3767328"/>
            <a:ext cx="3721608" cy="1097280"/>
          </a:xfrm>
          <a:prstGeom prst="rect">
            <a:avLst/>
          </a:prstGeom>
          <a:noFill/>
        </p:spPr>
        <p:txBody>
          <a:bodyPr wrap="square" lIns="0" tIns="0" rIns="0" bIns="0" rtlCol="0" anchor="t">
            <a:noAutofit/>
          </a:bodyPr>
          <a:lstStyle/>
          <a:p>
            <a:pPr marL="201168" indent="-201168" algn="l" latinLnBrk="0">
              <a:lnSpc>
                <a:spcPct val="120000"/>
              </a:lnSpc>
              <a:spcBef>
                <a:spcPts val="800"/>
              </a:spcBef>
              <a:spcAft>
                <a:spcPts val="0"/>
              </a:spcAft>
              <a:buClr>
                <a:srgbClr val="FAA95A"/>
              </a:buClr>
              <a:buFont typeface="Arial"/>
              <a:buChar char="•"/>
            </a:pPr>
            <a:r>
              <a:rPr lang="ko-KR" altLang="en-US" sz="1600" b="0">
                <a:solidFill>
                  <a:srgbClr val="2E3142"/>
                </a:solidFill>
                <a:latin typeface="210 OmniGothic 040"/>
                <a:ea typeface="210 OmniGothic 040"/>
                <a:cs typeface="210 OmniGothic 040"/>
              </a:rPr>
              <a:t>실측 화선·확산 예측을 한 지도에 표시</a:t>
            </a:r>
          </a:p>
          <a:p>
            <a:pPr marL="201168" indent="-201168" algn="l" latinLnBrk="0">
              <a:lnSpc>
                <a:spcPct val="120000"/>
              </a:lnSpc>
              <a:spcBef>
                <a:spcPts val="800"/>
              </a:spcBef>
              <a:spcAft>
                <a:spcPts val="0"/>
              </a:spcAft>
              <a:buClr>
                <a:srgbClr val="FAA95A"/>
              </a:buClr>
              <a:buFont typeface="Arial"/>
              <a:buChar char="•"/>
            </a:pPr>
            <a:r>
              <a:rPr lang="ko-KR" altLang="en-US" sz="1600" b="0">
                <a:solidFill>
                  <a:srgbClr val="2E3142"/>
                </a:solidFill>
                <a:latin typeface="210 OmniGothic 040"/>
                <a:ea typeface="210 OmniGothic 040"/>
                <a:cs typeface="210 OmniGothic 040"/>
              </a:rPr>
              <a:t>마을·시설·기상·진화자원을 함께 확인</a:t>
            </a:r>
          </a:p>
        </p:txBody>
      </p:sp>
      <p:sp>
        <p:nvSpPr>
          <p:cNvPr id="5041" name="Chevron 5040"/>
          <p:cNvSpPr/>
          <p:nvPr/>
        </p:nvSpPr>
        <p:spPr>
          <a:xfrm>
            <a:off x="5326380" y="3511296"/>
            <a:ext cx="182880" cy="329184"/>
          </a:xfrm>
          <a:prstGeom prst="chevron">
            <a:avLst>
              <a:gd name="adj" fmla="val 60000"/>
            </a:avLst>
          </a:prstGeom>
          <a:solidFill>
            <a:srgbClr val="FAA95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latinLnBrk="0">
              <a:lnSpc>
                <a:spcPct val="120000"/>
              </a:lnSpc>
              <a:spcBef>
                <a:spcPts val="0"/>
              </a:spcBef>
              <a:spcAft>
                <a:spcPts val="0"/>
              </a:spcAft>
              <a:buNone/>
            </a:pPr>
            <a:endParaRPr/>
          </a:p>
        </p:txBody>
      </p:sp>
      <p:sp>
        <p:nvSpPr>
          <p:cNvPr id="5042" name="Pillar 02"/>
          <p:cNvSpPr/>
          <p:nvPr/>
        </p:nvSpPr>
        <p:spPr>
          <a:xfrm>
            <a:off x="5623560" y="2487168"/>
            <a:ext cx="4343400" cy="2377440"/>
          </a:xfrm>
          <a:prstGeom prst="roundRect">
            <a:avLst>
              <a:gd name="adj" fmla="val 8461"/>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latinLnBrk="0">
              <a:lnSpc>
                <a:spcPct val="120000"/>
              </a:lnSpc>
              <a:spcBef>
                <a:spcPts val="0"/>
              </a:spcBef>
              <a:spcAft>
                <a:spcPts val="0"/>
              </a:spcAft>
              <a:buNone/>
            </a:pPr>
            <a:endParaRPr/>
          </a:p>
        </p:txBody>
      </p:sp>
      <p:sp>
        <p:nvSpPr>
          <p:cNvPr id="5043" name="Rounded Rectangle 5042"/>
          <p:cNvSpPr/>
          <p:nvPr/>
        </p:nvSpPr>
        <p:spPr>
          <a:xfrm>
            <a:off x="5971032" y="2852928"/>
            <a:ext cx="822960" cy="502920"/>
          </a:xfrm>
          <a:prstGeom prst="roundRect">
            <a:avLst>
              <a:gd name="adj" fmla="val 18181"/>
            </a:avLst>
          </a:prstGeom>
          <a:solidFill>
            <a:srgbClr val="FAA95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latinLnBrk="0">
              <a:lnSpc>
                <a:spcPct val="120000"/>
              </a:lnSpc>
              <a:spcBef>
                <a:spcPts val="0"/>
              </a:spcBef>
              <a:spcAft>
                <a:spcPts val="0"/>
              </a:spcAft>
              <a:buNone/>
            </a:pPr>
            <a:r>
              <a:rPr lang="ko-KR" altLang="en-US" sz="1850" b="1">
                <a:solidFill>
                  <a:srgbClr val="FFFFFF"/>
                </a:solidFill>
                <a:latin typeface="Pretendard Bold"/>
                <a:ea typeface="Pretendard Bold"/>
                <a:cs typeface="Pretendard Bold"/>
              </a:rPr>
              <a:t>02</a:t>
            </a:r>
          </a:p>
        </p:txBody>
      </p:sp>
      <p:sp>
        <p:nvSpPr>
          <p:cNvPr id="5044" name="TextBox 5043"/>
          <p:cNvSpPr txBox="1"/>
          <p:nvPr/>
        </p:nvSpPr>
        <p:spPr>
          <a:xfrm>
            <a:off x="6995160" y="2770632"/>
            <a:ext cx="1874520" cy="256032"/>
          </a:xfrm>
          <a:prstGeom prst="rect">
            <a:avLst/>
          </a:prstGeom>
          <a:noFill/>
        </p:spPr>
        <p:txBody>
          <a:bodyPr wrap="square" lIns="0" tIns="0" rIns="0" bIns="0" rtlCol="0" anchor="t">
            <a:noAutofit/>
          </a:bodyPr>
          <a:lstStyle/>
          <a:p>
            <a:pPr algn="l" latinLnBrk="0">
              <a:lnSpc>
                <a:spcPct val="120000"/>
              </a:lnSpc>
              <a:spcBef>
                <a:spcPts val="0"/>
              </a:spcBef>
              <a:spcAft>
                <a:spcPts val="0"/>
              </a:spcAft>
              <a:buNone/>
            </a:pPr>
            <a:r>
              <a:rPr lang="ko-KR" altLang="en-US" sz="1350" b="1">
                <a:solidFill>
                  <a:srgbClr val="B5601C"/>
                </a:solidFill>
                <a:latin typeface="210 OmniGothic 040"/>
                <a:ea typeface="210 OmniGothic 040"/>
                <a:cs typeface="210 OmniGothic 040"/>
              </a:rPr>
              <a:t>대응안 검토</a:t>
            </a:r>
          </a:p>
        </p:txBody>
      </p:sp>
      <p:sp>
        <p:nvSpPr>
          <p:cNvPr id="5045" name="TextBox 5044"/>
          <p:cNvSpPr txBox="1"/>
          <p:nvPr/>
        </p:nvSpPr>
        <p:spPr>
          <a:xfrm>
            <a:off x="6995160" y="3017520"/>
            <a:ext cx="1874520" cy="402336"/>
          </a:xfrm>
          <a:prstGeom prst="rect">
            <a:avLst/>
          </a:prstGeom>
          <a:noFill/>
        </p:spPr>
        <p:txBody>
          <a:bodyPr wrap="square" lIns="0" tIns="0" rIns="0" bIns="0" rtlCol="0" anchor="t">
            <a:noAutofit/>
          </a:bodyPr>
          <a:lstStyle/>
          <a:p>
            <a:pPr algn="l" latinLnBrk="0">
              <a:lnSpc>
                <a:spcPct val="120000"/>
              </a:lnSpc>
              <a:spcBef>
                <a:spcPts val="0"/>
              </a:spcBef>
              <a:spcAft>
                <a:spcPts val="0"/>
              </a:spcAft>
              <a:buNone/>
            </a:pPr>
            <a:r>
              <a:rPr lang="ko-KR" altLang="en-US" sz="2200" b="1">
                <a:solidFill>
                  <a:srgbClr val="363A52"/>
                </a:solidFill>
                <a:latin typeface="210 OmniGothic 040"/>
                <a:ea typeface="210 OmniGothic 040"/>
                <a:cs typeface="210 OmniGothic 040"/>
              </a:rPr>
              <a:t>AI 대응 제안</a:t>
            </a:r>
          </a:p>
        </p:txBody>
      </p:sp>
      <p:sp>
        <p:nvSpPr>
          <p:cNvPr id="5046" name="Oval 5045"/>
          <p:cNvSpPr/>
          <p:nvPr/>
        </p:nvSpPr>
        <p:spPr>
          <a:xfrm>
            <a:off x="8887968" y="2761488"/>
            <a:ext cx="731520" cy="73152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latinLnBrk="0">
              <a:lnSpc>
                <a:spcPct val="120000"/>
              </a:lnSpc>
              <a:spcBef>
                <a:spcPts val="0"/>
              </a:spcBef>
              <a:spcAft>
                <a:spcPts val="0"/>
              </a:spcAft>
              <a:buNone/>
            </a:pPr>
            <a:endParaRPr/>
          </a:p>
        </p:txBody>
      </p:sp>
      <p:pic>
        <p:nvPicPr>
          <p:cNvPr id="5047" name="Picture 5046" descr="i36_363A52.png"/>
          <p:cNvPicPr>
            <a:picLocks noChangeAspect="1"/>
          </p:cNvPicPr>
          <p:nvPr/>
        </p:nvPicPr>
        <p:blipFill>
          <a:blip r:embed="rId8"/>
          <a:stretch>
            <a:fillRect/>
          </a:stretch>
        </p:blipFill>
        <p:spPr>
          <a:xfrm>
            <a:off x="9070848" y="2944368"/>
            <a:ext cx="365760" cy="365760"/>
          </a:xfrm>
          <a:prstGeom prst="rect">
            <a:avLst/>
          </a:prstGeom>
        </p:spPr>
      </p:pic>
      <p:sp>
        <p:nvSpPr>
          <p:cNvPr id="5048" name="TextBox 5047"/>
          <p:cNvSpPr txBox="1"/>
          <p:nvPr/>
        </p:nvSpPr>
        <p:spPr>
          <a:xfrm>
            <a:off x="5971032" y="3767328"/>
            <a:ext cx="3721608" cy="1097280"/>
          </a:xfrm>
          <a:prstGeom prst="rect">
            <a:avLst/>
          </a:prstGeom>
          <a:noFill/>
        </p:spPr>
        <p:txBody>
          <a:bodyPr wrap="square" lIns="0" tIns="0" rIns="0" bIns="0" rtlCol="0" anchor="t">
            <a:noAutofit/>
          </a:bodyPr>
          <a:lstStyle/>
          <a:p>
            <a:pPr marL="201168" indent="-201168" algn="l" latinLnBrk="0">
              <a:lnSpc>
                <a:spcPct val="120000"/>
              </a:lnSpc>
              <a:spcBef>
                <a:spcPts val="800"/>
              </a:spcBef>
              <a:spcAft>
                <a:spcPts val="0"/>
              </a:spcAft>
              <a:buClr>
                <a:srgbClr val="FAA95A"/>
              </a:buClr>
              <a:buFont typeface="Arial"/>
              <a:buChar char="•"/>
            </a:pPr>
            <a:r>
              <a:rPr lang="ko-KR" altLang="en-US" sz="1600" b="0">
                <a:solidFill>
                  <a:srgbClr val="2E3142"/>
                </a:solidFill>
                <a:latin typeface="210 OmniGothic 040"/>
                <a:ea typeface="210 OmniGothic 040"/>
                <a:cs typeface="210 OmniGothic 040"/>
              </a:rPr>
              <a:t>진화 7 · 대피 7 판단 항목별 대응안</a:t>
            </a:r>
          </a:p>
          <a:p>
            <a:pPr marL="201168" indent="-201168" algn="l" latinLnBrk="0">
              <a:lnSpc>
                <a:spcPct val="120000"/>
              </a:lnSpc>
              <a:spcBef>
                <a:spcPts val="800"/>
              </a:spcBef>
              <a:spcAft>
                <a:spcPts val="0"/>
              </a:spcAft>
              <a:buClr>
                <a:srgbClr val="FAA95A"/>
              </a:buClr>
              <a:buFont typeface="Arial"/>
              <a:buChar char="•"/>
            </a:pPr>
            <a:r>
              <a:rPr lang="ko-KR" altLang="en-US" sz="1600" b="0">
                <a:solidFill>
                  <a:srgbClr val="2E3142"/>
                </a:solidFill>
                <a:latin typeface="210 OmniGothic 040"/>
                <a:ea typeface="210 OmniGothic 040"/>
                <a:cs typeface="210 OmniGothic 040"/>
              </a:rPr>
              <a:t>상황이 바뀌면 새 버전 자동 생성</a:t>
            </a:r>
          </a:p>
        </p:txBody>
      </p:sp>
      <p:sp>
        <p:nvSpPr>
          <p:cNvPr id="5049" name="Chevron 5048"/>
          <p:cNvSpPr/>
          <p:nvPr/>
        </p:nvSpPr>
        <p:spPr>
          <a:xfrm>
            <a:off x="10081260" y="3511296"/>
            <a:ext cx="182880" cy="329184"/>
          </a:xfrm>
          <a:prstGeom prst="chevron">
            <a:avLst>
              <a:gd name="adj" fmla="val 60000"/>
            </a:avLst>
          </a:prstGeom>
          <a:solidFill>
            <a:srgbClr val="FAA95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latinLnBrk="0">
              <a:lnSpc>
                <a:spcPct val="120000"/>
              </a:lnSpc>
              <a:spcBef>
                <a:spcPts val="0"/>
              </a:spcBef>
              <a:spcAft>
                <a:spcPts val="0"/>
              </a:spcAft>
              <a:buNone/>
            </a:pPr>
            <a:endParaRPr/>
          </a:p>
        </p:txBody>
      </p:sp>
      <p:sp>
        <p:nvSpPr>
          <p:cNvPr id="5050" name="Pillar 03"/>
          <p:cNvSpPr/>
          <p:nvPr/>
        </p:nvSpPr>
        <p:spPr>
          <a:xfrm>
            <a:off x="10378440" y="2487168"/>
            <a:ext cx="4343400" cy="2377440"/>
          </a:xfrm>
          <a:prstGeom prst="roundRect">
            <a:avLst>
              <a:gd name="adj" fmla="val 8461"/>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latinLnBrk="0">
              <a:lnSpc>
                <a:spcPct val="120000"/>
              </a:lnSpc>
              <a:spcBef>
                <a:spcPts val="0"/>
              </a:spcBef>
              <a:spcAft>
                <a:spcPts val="0"/>
              </a:spcAft>
              <a:buNone/>
            </a:pPr>
            <a:endParaRPr/>
          </a:p>
        </p:txBody>
      </p:sp>
      <p:sp>
        <p:nvSpPr>
          <p:cNvPr id="5051" name="Rounded Rectangle 5050"/>
          <p:cNvSpPr/>
          <p:nvPr/>
        </p:nvSpPr>
        <p:spPr>
          <a:xfrm>
            <a:off x="10725912" y="2852928"/>
            <a:ext cx="822960" cy="502920"/>
          </a:xfrm>
          <a:prstGeom prst="roundRect">
            <a:avLst>
              <a:gd name="adj" fmla="val 18181"/>
            </a:avLst>
          </a:prstGeom>
          <a:solidFill>
            <a:srgbClr val="FAA95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latinLnBrk="0">
              <a:lnSpc>
                <a:spcPct val="120000"/>
              </a:lnSpc>
              <a:spcBef>
                <a:spcPts val="0"/>
              </a:spcBef>
              <a:spcAft>
                <a:spcPts val="0"/>
              </a:spcAft>
              <a:buNone/>
            </a:pPr>
            <a:r>
              <a:rPr lang="ko-KR" altLang="en-US" sz="1850" b="1">
                <a:solidFill>
                  <a:srgbClr val="FFFFFF"/>
                </a:solidFill>
                <a:latin typeface="Pretendard Bold"/>
                <a:ea typeface="Pretendard Bold"/>
                <a:cs typeface="Pretendard Bold"/>
              </a:rPr>
              <a:t>03</a:t>
            </a:r>
          </a:p>
        </p:txBody>
      </p:sp>
      <p:sp>
        <p:nvSpPr>
          <p:cNvPr id="5052" name="TextBox 5051"/>
          <p:cNvSpPr txBox="1"/>
          <p:nvPr/>
        </p:nvSpPr>
        <p:spPr>
          <a:xfrm>
            <a:off x="11750040" y="2770632"/>
            <a:ext cx="1874520" cy="256032"/>
          </a:xfrm>
          <a:prstGeom prst="rect">
            <a:avLst/>
          </a:prstGeom>
          <a:noFill/>
        </p:spPr>
        <p:txBody>
          <a:bodyPr wrap="square" lIns="0" tIns="0" rIns="0" bIns="0" rtlCol="0" anchor="t">
            <a:noAutofit/>
          </a:bodyPr>
          <a:lstStyle/>
          <a:p>
            <a:pPr algn="l" latinLnBrk="0">
              <a:lnSpc>
                <a:spcPct val="120000"/>
              </a:lnSpc>
              <a:spcBef>
                <a:spcPts val="0"/>
              </a:spcBef>
              <a:spcAft>
                <a:spcPts val="0"/>
              </a:spcAft>
              <a:buNone/>
            </a:pPr>
            <a:r>
              <a:rPr lang="ko-KR" altLang="en-US" sz="1350" b="1">
                <a:solidFill>
                  <a:srgbClr val="B5601C"/>
                </a:solidFill>
                <a:latin typeface="210 OmniGothic 040"/>
                <a:ea typeface="210 OmniGothic 040"/>
                <a:cs typeface="210 OmniGothic 040"/>
              </a:rPr>
              <a:t>근거 확인</a:t>
            </a:r>
          </a:p>
        </p:txBody>
      </p:sp>
      <p:sp>
        <p:nvSpPr>
          <p:cNvPr id="5053" name="TextBox 5052"/>
          <p:cNvSpPr txBox="1"/>
          <p:nvPr/>
        </p:nvSpPr>
        <p:spPr>
          <a:xfrm>
            <a:off x="11750040" y="3017520"/>
            <a:ext cx="1874520" cy="402336"/>
          </a:xfrm>
          <a:prstGeom prst="rect">
            <a:avLst/>
          </a:prstGeom>
          <a:noFill/>
        </p:spPr>
        <p:txBody>
          <a:bodyPr wrap="square" lIns="0" tIns="0" rIns="0" bIns="0" rtlCol="0" anchor="t">
            <a:noAutofit/>
          </a:bodyPr>
          <a:lstStyle/>
          <a:p>
            <a:pPr algn="l" latinLnBrk="0">
              <a:lnSpc>
                <a:spcPct val="120000"/>
              </a:lnSpc>
              <a:spcBef>
                <a:spcPts val="0"/>
              </a:spcBef>
              <a:spcAft>
                <a:spcPts val="0"/>
              </a:spcAft>
              <a:buNone/>
            </a:pPr>
            <a:r>
              <a:rPr lang="ko-KR" altLang="en-US" sz="2200" b="1">
                <a:solidFill>
                  <a:srgbClr val="363A52"/>
                </a:solidFill>
                <a:latin typeface="210 OmniGothic 040"/>
                <a:ea typeface="210 OmniGothic 040"/>
                <a:cs typeface="210 OmniGothic 040"/>
              </a:rPr>
              <a:t>근거 기반 AI</a:t>
            </a:r>
          </a:p>
        </p:txBody>
      </p:sp>
      <p:sp>
        <p:nvSpPr>
          <p:cNvPr id="5054" name="Oval 5053"/>
          <p:cNvSpPr/>
          <p:nvPr/>
        </p:nvSpPr>
        <p:spPr>
          <a:xfrm>
            <a:off x="13642848" y="2761488"/>
            <a:ext cx="731520" cy="73152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latinLnBrk="0">
              <a:lnSpc>
                <a:spcPct val="120000"/>
              </a:lnSpc>
              <a:spcBef>
                <a:spcPts val="0"/>
              </a:spcBef>
              <a:spcAft>
                <a:spcPts val="0"/>
              </a:spcAft>
              <a:buNone/>
            </a:pPr>
            <a:endParaRPr/>
          </a:p>
        </p:txBody>
      </p:sp>
      <p:pic>
        <p:nvPicPr>
          <p:cNvPr id="5055" name="Picture 5054" descr="i42_363A52.png"/>
          <p:cNvPicPr>
            <a:picLocks noChangeAspect="1"/>
          </p:cNvPicPr>
          <p:nvPr/>
        </p:nvPicPr>
        <p:blipFill>
          <a:blip r:embed="rId9"/>
          <a:stretch>
            <a:fillRect/>
          </a:stretch>
        </p:blipFill>
        <p:spPr>
          <a:xfrm>
            <a:off x="13825728" y="2944368"/>
            <a:ext cx="365760" cy="365760"/>
          </a:xfrm>
          <a:prstGeom prst="rect">
            <a:avLst/>
          </a:prstGeom>
        </p:spPr>
      </p:pic>
      <p:sp>
        <p:nvSpPr>
          <p:cNvPr id="5056" name="TextBox 5055"/>
          <p:cNvSpPr txBox="1"/>
          <p:nvPr/>
        </p:nvSpPr>
        <p:spPr>
          <a:xfrm>
            <a:off x="10725912" y="3767328"/>
            <a:ext cx="3721608" cy="1097280"/>
          </a:xfrm>
          <a:prstGeom prst="rect">
            <a:avLst/>
          </a:prstGeom>
          <a:noFill/>
        </p:spPr>
        <p:txBody>
          <a:bodyPr wrap="square" lIns="0" tIns="0" rIns="0" bIns="0" rtlCol="0" anchor="t">
            <a:noAutofit/>
          </a:bodyPr>
          <a:lstStyle/>
          <a:p>
            <a:pPr marL="201168" indent="-201168" algn="l" latinLnBrk="0">
              <a:lnSpc>
                <a:spcPct val="120000"/>
              </a:lnSpc>
              <a:spcBef>
                <a:spcPts val="800"/>
              </a:spcBef>
              <a:spcAft>
                <a:spcPts val="0"/>
              </a:spcAft>
              <a:buClr>
                <a:srgbClr val="FAA95A"/>
              </a:buClr>
              <a:buFont typeface="Arial"/>
              <a:buChar char="•"/>
            </a:pPr>
            <a:r>
              <a:rPr lang="ko-KR" altLang="en-US" sz="1600" b="0">
                <a:solidFill>
                  <a:srgbClr val="2E3142"/>
                </a:solidFill>
                <a:latin typeface="210 OmniGothic 040"/>
                <a:ea typeface="210 OmniGothic 040"/>
                <a:cs typeface="210 OmniGothic 040"/>
              </a:rPr>
              <a:t>문장마다 문서·쪽수·조항 근거 부기</a:t>
            </a:r>
          </a:p>
          <a:p>
            <a:pPr marL="201168" indent="-201168" algn="l" latinLnBrk="0">
              <a:lnSpc>
                <a:spcPct val="120000"/>
              </a:lnSpc>
              <a:spcBef>
                <a:spcPts val="800"/>
              </a:spcBef>
              <a:spcAft>
                <a:spcPts val="0"/>
              </a:spcAft>
              <a:buClr>
                <a:srgbClr val="FAA95A"/>
              </a:buClr>
              <a:buFont typeface="Arial"/>
              <a:buChar char="•"/>
            </a:pPr>
            <a:r>
              <a:rPr lang="ko-KR" altLang="en-US" sz="1600" b="0">
                <a:solidFill>
                  <a:srgbClr val="2E3142"/>
                </a:solidFill>
                <a:latin typeface="210 OmniGothic 040"/>
                <a:ea typeface="210 OmniGothic 040"/>
                <a:cs typeface="210 OmniGothic 040"/>
              </a:rPr>
              <a:t>AI 질의응답 · 대화 기반 상황 정정</a:t>
            </a:r>
          </a:p>
        </p:txBody>
      </p:sp>
      <p:sp>
        <p:nvSpPr>
          <p:cNvPr id="5057" name="Chevron 5056"/>
          <p:cNvSpPr/>
          <p:nvPr/>
        </p:nvSpPr>
        <p:spPr>
          <a:xfrm>
            <a:off x="14836140" y="3511296"/>
            <a:ext cx="182880" cy="329184"/>
          </a:xfrm>
          <a:prstGeom prst="chevron">
            <a:avLst>
              <a:gd name="adj" fmla="val 60000"/>
            </a:avLst>
          </a:prstGeom>
          <a:solidFill>
            <a:srgbClr val="FAA95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latinLnBrk="0">
              <a:lnSpc>
                <a:spcPct val="120000"/>
              </a:lnSpc>
              <a:spcBef>
                <a:spcPts val="0"/>
              </a:spcBef>
              <a:spcAft>
                <a:spcPts val="0"/>
              </a:spcAft>
              <a:buNone/>
            </a:pPr>
            <a:endParaRPr/>
          </a:p>
        </p:txBody>
      </p:sp>
      <p:sp>
        <p:nvSpPr>
          <p:cNvPr id="5058" name="Final decision"/>
          <p:cNvSpPr/>
          <p:nvPr/>
        </p:nvSpPr>
        <p:spPr>
          <a:xfrm>
            <a:off x="15133320" y="2487168"/>
            <a:ext cx="2286000" cy="2377440"/>
          </a:xfrm>
          <a:prstGeom prst="roundRect">
            <a:avLst>
              <a:gd name="adj" fmla="val 8800"/>
            </a:avLst>
          </a:prstGeom>
          <a:solidFill>
            <a:srgbClr val="363A5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latinLnBrk="0">
              <a:lnSpc>
                <a:spcPct val="120000"/>
              </a:lnSpc>
              <a:spcBef>
                <a:spcPts val="0"/>
              </a:spcBef>
              <a:spcAft>
                <a:spcPts val="0"/>
              </a:spcAft>
              <a:buNone/>
            </a:pPr>
            <a:endParaRPr/>
          </a:p>
        </p:txBody>
      </p:sp>
      <p:sp>
        <p:nvSpPr>
          <p:cNvPr id="5059" name="Oval 5058"/>
          <p:cNvSpPr/>
          <p:nvPr/>
        </p:nvSpPr>
        <p:spPr>
          <a:xfrm>
            <a:off x="15883128" y="2852928"/>
            <a:ext cx="786384" cy="786384"/>
          </a:xfrm>
          <a:prstGeom prst="ellipse">
            <a:avLst/>
          </a:prstGeom>
          <a:solidFill>
            <a:srgbClr val="4A4F6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latinLnBrk="0">
              <a:lnSpc>
                <a:spcPct val="120000"/>
              </a:lnSpc>
              <a:spcBef>
                <a:spcPts val="0"/>
              </a:spcBef>
              <a:spcAft>
                <a:spcPts val="0"/>
              </a:spcAft>
              <a:buNone/>
            </a:pPr>
            <a:endParaRPr/>
          </a:p>
        </p:txBody>
      </p:sp>
      <p:pic>
        <p:nvPicPr>
          <p:cNvPr id="5060" name="Picture 5059" descr="i34_FFFFFF.png"/>
          <p:cNvPicPr>
            <a:picLocks noChangeAspect="1"/>
          </p:cNvPicPr>
          <p:nvPr/>
        </p:nvPicPr>
        <p:blipFill>
          <a:blip r:embed="rId10"/>
          <a:stretch>
            <a:fillRect/>
          </a:stretch>
        </p:blipFill>
        <p:spPr>
          <a:xfrm>
            <a:off x="16079724" y="3049524"/>
            <a:ext cx="393192" cy="393192"/>
          </a:xfrm>
          <a:prstGeom prst="rect">
            <a:avLst/>
          </a:prstGeom>
        </p:spPr>
      </p:pic>
      <p:sp>
        <p:nvSpPr>
          <p:cNvPr id="5061" name="TextBox 5060"/>
          <p:cNvSpPr txBox="1"/>
          <p:nvPr/>
        </p:nvSpPr>
        <p:spPr>
          <a:xfrm>
            <a:off x="15316200" y="3730752"/>
            <a:ext cx="1920240" cy="256032"/>
          </a:xfrm>
          <a:prstGeom prst="rect">
            <a:avLst/>
          </a:prstGeom>
          <a:noFill/>
        </p:spPr>
        <p:txBody>
          <a:bodyPr wrap="square" lIns="0" tIns="0" rIns="0" bIns="0" rtlCol="0" anchor="t">
            <a:noAutofit/>
          </a:bodyPr>
          <a:lstStyle/>
          <a:p>
            <a:pPr algn="ctr" latinLnBrk="0">
              <a:lnSpc>
                <a:spcPct val="120000"/>
              </a:lnSpc>
              <a:spcBef>
                <a:spcPts val="0"/>
              </a:spcBef>
              <a:spcAft>
                <a:spcPts val="0"/>
              </a:spcAft>
              <a:buNone/>
            </a:pPr>
            <a:r>
              <a:rPr lang="ko-KR" altLang="en-US" sz="1350" b="1">
                <a:solidFill>
                  <a:srgbClr val="FAA95A"/>
                </a:solidFill>
                <a:latin typeface="210 OmniGothic 040"/>
                <a:ea typeface="210 OmniGothic 040"/>
                <a:cs typeface="210 OmniGothic 040"/>
              </a:rPr>
              <a:t>최종 판단</a:t>
            </a:r>
          </a:p>
        </p:txBody>
      </p:sp>
      <p:sp>
        <p:nvSpPr>
          <p:cNvPr id="5062" name="TextBox 5061"/>
          <p:cNvSpPr txBox="1"/>
          <p:nvPr/>
        </p:nvSpPr>
        <p:spPr>
          <a:xfrm>
            <a:off x="15316200" y="3995928"/>
            <a:ext cx="1920240" cy="365760"/>
          </a:xfrm>
          <a:prstGeom prst="rect">
            <a:avLst/>
          </a:prstGeom>
          <a:noFill/>
        </p:spPr>
        <p:txBody>
          <a:bodyPr wrap="square" lIns="0" tIns="0" rIns="0" bIns="0" rtlCol="0" anchor="t">
            <a:noAutofit/>
          </a:bodyPr>
          <a:lstStyle/>
          <a:p>
            <a:pPr algn="ctr" latinLnBrk="0">
              <a:lnSpc>
                <a:spcPct val="120000"/>
              </a:lnSpc>
              <a:spcBef>
                <a:spcPts val="0"/>
              </a:spcBef>
              <a:spcAft>
                <a:spcPts val="0"/>
              </a:spcAft>
              <a:buNone/>
            </a:pPr>
            <a:r>
              <a:rPr lang="ko-KR" altLang="en-US" sz="1900" b="1">
                <a:solidFill>
                  <a:srgbClr val="FFFFFF"/>
                </a:solidFill>
                <a:latin typeface="210 OmniGothic 040"/>
                <a:ea typeface="210 OmniGothic 040"/>
                <a:cs typeface="210 OmniGothic 040"/>
              </a:rPr>
              <a:t>통합지휘권자</a:t>
            </a:r>
          </a:p>
        </p:txBody>
      </p:sp>
      <p:sp>
        <p:nvSpPr>
          <p:cNvPr id="5063" name="TextBox 5062"/>
          <p:cNvSpPr txBox="1"/>
          <p:nvPr/>
        </p:nvSpPr>
        <p:spPr>
          <a:xfrm>
            <a:off x="15316200" y="4407408"/>
            <a:ext cx="1920240" cy="329184"/>
          </a:xfrm>
          <a:prstGeom prst="rect">
            <a:avLst/>
          </a:prstGeom>
          <a:noFill/>
        </p:spPr>
        <p:txBody>
          <a:bodyPr wrap="square" lIns="0" tIns="0" rIns="0" bIns="0" rtlCol="0" anchor="t">
            <a:noAutofit/>
          </a:bodyPr>
          <a:lstStyle/>
          <a:p>
            <a:pPr algn="ctr" latinLnBrk="0">
              <a:lnSpc>
                <a:spcPct val="120000"/>
              </a:lnSpc>
              <a:spcBef>
                <a:spcPts val="0"/>
              </a:spcBef>
              <a:spcAft>
                <a:spcPts val="0"/>
              </a:spcAft>
              <a:buNone/>
            </a:pPr>
            <a:r>
              <a:rPr lang="ko-KR" altLang="en-US" sz="1350" b="0">
                <a:solidFill>
                  <a:srgbClr val="E6E9F1"/>
                </a:solidFill>
                <a:latin typeface="210 OmniGothic 040"/>
                <a:ea typeface="210 OmniGothic 040"/>
                <a:cs typeface="210 OmniGothic 040"/>
              </a:rPr>
              <a:t>AI는 초안, 결정은 사람</a:t>
            </a:r>
          </a:p>
        </p:txBody>
      </p:sp>
      <p:sp>
        <p:nvSpPr>
          <p:cNvPr id="5064" name="Roles strip"/>
          <p:cNvSpPr/>
          <p:nvPr/>
        </p:nvSpPr>
        <p:spPr>
          <a:xfrm>
            <a:off x="868680" y="5138928"/>
            <a:ext cx="16550640" cy="566928"/>
          </a:xfrm>
          <a:prstGeom prst="roundRect">
            <a:avLst>
              <a:gd name="adj" fmla="val 22580"/>
            </a:avLst>
          </a:prstGeom>
          <a:solidFill>
            <a:srgbClr val="FFFFFF"/>
          </a:solidFill>
          <a:ln w="15875">
            <a:solidFill>
              <a:srgbClr val="D9DC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latinLnBrk="0">
              <a:lnSpc>
                <a:spcPct val="120000"/>
              </a:lnSpc>
              <a:spcBef>
                <a:spcPts val="0"/>
              </a:spcBef>
              <a:spcAft>
                <a:spcPts val="0"/>
              </a:spcAft>
              <a:buNone/>
            </a:pPr>
            <a:endParaRPr/>
          </a:p>
        </p:txBody>
      </p:sp>
      <p:sp>
        <p:nvSpPr>
          <p:cNvPr id="5065" name="Rounded Rectangle 5064"/>
          <p:cNvSpPr/>
          <p:nvPr/>
        </p:nvSpPr>
        <p:spPr>
          <a:xfrm>
            <a:off x="996696" y="5248656"/>
            <a:ext cx="1600200" cy="347472"/>
          </a:xfrm>
          <a:prstGeom prst="roundRect">
            <a:avLst>
              <a:gd name="adj" fmla="val 23684"/>
            </a:avLst>
          </a:prstGeom>
          <a:solidFill>
            <a:srgbClr val="363A5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latinLnBrk="0">
              <a:lnSpc>
                <a:spcPct val="120000"/>
              </a:lnSpc>
              <a:spcBef>
                <a:spcPts val="0"/>
              </a:spcBef>
              <a:spcAft>
                <a:spcPts val="0"/>
              </a:spcAft>
              <a:buNone/>
            </a:pPr>
            <a:r>
              <a:rPr lang="ko-KR" altLang="en-US" sz="1300" b="1">
                <a:solidFill>
                  <a:srgbClr val="FFFFFF"/>
                </a:solidFill>
                <a:latin typeface="210 OmniGothic 040"/>
                <a:ea typeface="210 OmniGothic 040"/>
                <a:cs typeface="210 OmniGothic 040"/>
              </a:rPr>
              <a:t>권한별 화면</a:t>
            </a:r>
          </a:p>
        </p:txBody>
      </p:sp>
      <p:sp>
        <p:nvSpPr>
          <p:cNvPr id="5066" name="TextBox 5065"/>
          <p:cNvSpPr txBox="1"/>
          <p:nvPr/>
        </p:nvSpPr>
        <p:spPr>
          <a:xfrm>
            <a:off x="2880360" y="5138928"/>
            <a:ext cx="14356080" cy="566928"/>
          </a:xfrm>
          <a:prstGeom prst="rect">
            <a:avLst/>
          </a:prstGeom>
          <a:noFill/>
        </p:spPr>
        <p:txBody>
          <a:bodyPr wrap="square" lIns="0" tIns="0" rIns="0" bIns="0" rtlCol="0" anchor="ctr">
            <a:noAutofit/>
          </a:bodyPr>
          <a:lstStyle/>
          <a:p>
            <a:pPr algn="l" latinLnBrk="0">
              <a:lnSpc>
                <a:spcPct val="120000"/>
              </a:lnSpc>
              <a:spcBef>
                <a:spcPts val="0"/>
              </a:spcBef>
              <a:spcAft>
                <a:spcPts val="0"/>
              </a:spcAft>
              <a:buNone/>
            </a:pPr>
            <a:r>
              <a:rPr lang="ko-KR" altLang="en-US" sz="1450" b="1">
                <a:solidFill>
                  <a:srgbClr val="2E3142"/>
                </a:solidFill>
                <a:latin typeface="210 OmniGothic 040"/>
                <a:ea typeface="210 OmniGothic 040"/>
                <a:cs typeface="210 OmniGothic 040"/>
              </a:rPr>
              <a:t>상황 보고자</a:t>
            </a:r>
            <a:r>
              <a:rPr lang="ko-KR" altLang="en-US" sz="1450" b="0">
                <a:solidFill>
                  <a:srgbClr val="2E3142"/>
                </a:solidFill>
                <a:latin typeface="210 OmniGothic 040"/>
                <a:ea typeface="210 OmniGothic 040"/>
                <a:cs typeface="210 OmniGothic 040"/>
              </a:rPr>
              <a:t>  산불 정보 입력</a:t>
            </a:r>
            <a:r>
              <a:rPr lang="ko-KR" altLang="en-US" sz="1450" b="0">
                <a:solidFill>
                  <a:srgbClr val="A3A8B8"/>
                </a:solidFill>
                <a:latin typeface="210 OmniGothic 040"/>
                <a:ea typeface="210 OmniGothic 040"/>
                <a:cs typeface="210 OmniGothic 040"/>
              </a:rPr>
              <a:t>      |      </a:t>
            </a:r>
            <a:r>
              <a:rPr lang="ko-KR" altLang="en-US" sz="1450" b="1">
                <a:solidFill>
                  <a:srgbClr val="2E3142"/>
                </a:solidFill>
                <a:latin typeface="210 OmniGothic 040"/>
                <a:ea typeface="210 OmniGothic 040"/>
                <a:cs typeface="210 OmniGothic 040"/>
              </a:rPr>
              <a:t>전산 관리자</a:t>
            </a:r>
            <a:r>
              <a:rPr lang="ko-KR" altLang="en-US" sz="1450" b="0">
                <a:solidFill>
                  <a:srgbClr val="2E3142"/>
                </a:solidFill>
                <a:latin typeface="210 OmniGothic 040"/>
                <a:ea typeface="210 OmniGothic 040"/>
                <a:cs typeface="210 OmniGothic 040"/>
              </a:rPr>
              <a:t>  진화자원 데이터 · 계정 관리</a:t>
            </a:r>
            <a:r>
              <a:rPr lang="ko-KR" altLang="en-US" sz="1450" b="0">
                <a:solidFill>
                  <a:srgbClr val="A3A8B8"/>
                </a:solidFill>
                <a:latin typeface="210 OmniGothic 040"/>
                <a:ea typeface="210 OmniGothic 040"/>
                <a:cs typeface="210 OmniGothic 040"/>
              </a:rPr>
              <a:t>      |      </a:t>
            </a:r>
            <a:r>
              <a:rPr lang="ko-KR" altLang="en-US" sz="1450" b="1">
                <a:solidFill>
                  <a:srgbClr val="2E3142"/>
                </a:solidFill>
                <a:latin typeface="210 OmniGothic 040"/>
                <a:ea typeface="210 OmniGothic 040"/>
                <a:cs typeface="210 OmniGothic 040"/>
              </a:rPr>
              <a:t>열람자</a:t>
            </a:r>
            <a:r>
              <a:rPr lang="ko-KR" altLang="en-US" sz="1450" b="0">
                <a:solidFill>
                  <a:srgbClr val="2E3142"/>
                </a:solidFill>
                <a:latin typeface="210 OmniGothic 040"/>
                <a:ea typeface="210 OmniGothic 040"/>
                <a:cs typeface="210 OmniGothic 040"/>
              </a:rPr>
              <a:t>  읽기 전용 열람</a:t>
            </a:r>
          </a:p>
        </p:txBody>
      </p:sp>
      <p:graphicFrame>
        <p:nvGraphicFramePr>
          <p:cNvPr id="5067" name="Differentiation"/>
          <p:cNvGraphicFramePr>
            <a:graphicFrameLocks noGrp="1"/>
          </p:cNvGraphicFramePr>
          <p:nvPr/>
        </p:nvGraphicFramePr>
        <p:xfrm>
          <a:off x="868680" y="5998464"/>
          <a:ext cx="16550640" cy="2697480"/>
        </p:xfrm>
        <a:graphic>
          <a:graphicData uri="http://schemas.openxmlformats.org/drawingml/2006/table">
            <a:tbl>
              <a:tblPr>
                <a:tableStyleId>{2D5ABB26-0587-4C30-8999-92F81FD0307C}</a:tableStyleId>
              </a:tblPr>
              <a:tblGrid>
                <a:gridCol w="2286000">
                  <a:extLst>
                    <a:ext uri="{9D8B030D-6E8A-4147-A177-3AD203B41FA5}">
                      <a16:colId xmlns:a16="http://schemas.microsoft.com/office/drawing/2014/main" val="20000"/>
                    </a:ext>
                  </a:extLst>
                </a:gridCol>
                <a:gridCol w="3566160">
                  <a:extLst>
                    <a:ext uri="{9D8B030D-6E8A-4147-A177-3AD203B41FA5}">
                      <a16:colId xmlns:a16="http://schemas.microsoft.com/office/drawing/2014/main" val="20001"/>
                    </a:ext>
                  </a:extLst>
                </a:gridCol>
                <a:gridCol w="3383280">
                  <a:extLst>
                    <a:ext uri="{9D8B030D-6E8A-4147-A177-3AD203B41FA5}">
                      <a16:colId xmlns:a16="http://schemas.microsoft.com/office/drawing/2014/main" val="20002"/>
                    </a:ext>
                  </a:extLst>
                </a:gridCol>
                <a:gridCol w="7315200">
                  <a:extLst>
                    <a:ext uri="{9D8B030D-6E8A-4147-A177-3AD203B41FA5}">
                      <a16:colId xmlns:a16="http://schemas.microsoft.com/office/drawing/2014/main" val="20003"/>
                    </a:ext>
                  </a:extLst>
                </a:gridCol>
              </a:tblGrid>
              <a:tr h="457200">
                <a:tc>
                  <a:txBody>
                    <a:bodyPr/>
                    <a:lstStyle/>
                    <a:p>
                      <a:pPr algn="ctr" latinLnBrk="0">
                        <a:lnSpc>
                          <a:spcPct val="112000"/>
                        </a:lnSpc>
                        <a:spcBef>
                          <a:spcPts val="0"/>
                        </a:spcBef>
                        <a:spcAft>
                          <a:spcPts val="0"/>
                        </a:spcAft>
                        <a:buNone/>
                      </a:pPr>
                      <a:r>
                        <a:rPr lang="ko-KR" altLang="en-US" sz="1450" b="1">
                          <a:solidFill>
                            <a:srgbClr val="FFFFFF"/>
                          </a:solidFill>
                          <a:latin typeface="210 OmniGothic 040"/>
                          <a:ea typeface="210 OmniGothic 040"/>
                          <a:cs typeface="210 OmniGothic 040"/>
                        </a:rPr>
                        <a:t>차별점</a:t>
                      </a:r>
                    </a:p>
                  </a:txBody>
                  <a:tcPr marL="109728" marR="109728"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tc>
                  <a:txBody>
                    <a:bodyPr/>
                    <a:lstStyle/>
                    <a:p>
                      <a:pPr algn="ctr" latinLnBrk="0">
                        <a:lnSpc>
                          <a:spcPct val="112000"/>
                        </a:lnSpc>
                        <a:spcBef>
                          <a:spcPts val="0"/>
                        </a:spcBef>
                        <a:spcAft>
                          <a:spcPts val="0"/>
                        </a:spcAft>
                        <a:buNone/>
                      </a:pPr>
                      <a:r>
                        <a:rPr lang="ko-KR" altLang="en-US" sz="1450" b="1">
                          <a:solidFill>
                            <a:srgbClr val="FFFFFF"/>
                          </a:solidFill>
                          <a:latin typeface="210 OmniGothic 040"/>
                          <a:ea typeface="210 OmniGothic 040"/>
                          <a:cs typeface="210 OmniGothic 040"/>
                        </a:rPr>
                        <a:t>기존 국가 시스템</a:t>
                      </a:r>
                    </a:p>
                  </a:txBody>
                  <a:tcPr marL="109728" marR="109728"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tc>
                  <a:txBody>
                    <a:bodyPr/>
                    <a:lstStyle/>
                    <a:p>
                      <a:pPr algn="ctr" latinLnBrk="0">
                        <a:lnSpc>
                          <a:spcPct val="112000"/>
                        </a:lnSpc>
                        <a:spcBef>
                          <a:spcPts val="0"/>
                        </a:spcBef>
                        <a:spcAft>
                          <a:spcPts val="0"/>
                        </a:spcAft>
                        <a:buNone/>
                      </a:pPr>
                      <a:r>
                        <a:rPr lang="ko-KR" altLang="en-US" sz="1450" b="1">
                          <a:solidFill>
                            <a:srgbClr val="FFFFFF"/>
                          </a:solidFill>
                          <a:latin typeface="210 OmniGothic 040"/>
                          <a:ea typeface="210 OmniGothic 040"/>
                          <a:cs typeface="210 OmniGothic 040"/>
                        </a:rPr>
                        <a:t>범용 LLM 질의응답</a:t>
                      </a:r>
                    </a:p>
                  </a:txBody>
                  <a:tcPr marL="109728" marR="109728"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tc>
                  <a:txBody>
                    <a:bodyPr/>
                    <a:lstStyle/>
                    <a:p>
                      <a:pPr algn="ctr" latinLnBrk="0">
                        <a:lnSpc>
                          <a:spcPct val="112000"/>
                        </a:lnSpc>
                        <a:spcBef>
                          <a:spcPts val="0"/>
                        </a:spcBef>
                        <a:spcAft>
                          <a:spcPts val="0"/>
                        </a:spcAft>
                        <a:buNone/>
                      </a:pPr>
                      <a:r>
                        <a:rPr lang="ko-KR" altLang="en-US" sz="1450" b="1">
                          <a:solidFill>
                            <a:srgbClr val="FFFFFF"/>
                          </a:solidFill>
                          <a:latin typeface="210 OmniGothic 040"/>
                          <a:ea typeface="210 OmniGothic 040"/>
                          <a:cs typeface="210 OmniGothic 040"/>
                        </a:rPr>
                        <a:t>본 과제</a:t>
                      </a:r>
                    </a:p>
                  </a:txBody>
                  <a:tcPr marL="109728" marR="109728" anchor="ctr">
                    <a:lnL w="9525">
                      <a:solidFill>
                        <a:srgbClr val="D9DCE5"/>
                      </a:solidFill>
                    </a:lnL>
                    <a:lnR w="9525">
                      <a:solidFill>
                        <a:srgbClr val="D9DCE5"/>
                      </a:solidFill>
                    </a:lnR>
                    <a:lnT w="9525">
                      <a:solidFill>
                        <a:srgbClr val="D9DCE5"/>
                      </a:solidFill>
                    </a:lnT>
                    <a:lnB w="9525">
                      <a:solidFill>
                        <a:srgbClr val="D9DCE5"/>
                      </a:solidFill>
                    </a:lnB>
                    <a:solidFill>
                      <a:srgbClr val="E8893A"/>
                    </a:solidFill>
                  </a:tcPr>
                </a:tc>
                <a:extLst>
                  <a:ext uri="{0D108BD9-81ED-4DB2-BD59-A6C34878D82A}">
                    <a16:rowId xmlns:a16="http://schemas.microsoft.com/office/drawing/2014/main" val="10000"/>
                  </a:ext>
                </a:extLst>
              </a:tr>
              <a:tr h="448056">
                <a:tc>
                  <a:txBody>
                    <a:bodyPr/>
                    <a:lstStyle/>
                    <a:p>
                      <a:pPr algn="ctr" latinLnBrk="0">
                        <a:lnSpc>
                          <a:spcPct val="112000"/>
                        </a:lnSpc>
                        <a:spcBef>
                          <a:spcPts val="0"/>
                        </a:spcBef>
                        <a:spcAft>
                          <a:spcPts val="0"/>
                        </a:spcAft>
                        <a:buNone/>
                      </a:pPr>
                      <a:r>
                        <a:rPr lang="ko-KR" altLang="en-US" sz="1450" b="1">
                          <a:solidFill>
                            <a:srgbClr val="363A52"/>
                          </a:solidFill>
                          <a:latin typeface="210 OmniGothic 040"/>
                          <a:ea typeface="210 OmniGothic 040"/>
                          <a:cs typeface="210 OmniGothic 040"/>
                        </a:rPr>
                        <a:t>상황 통합</a:t>
                      </a:r>
                    </a:p>
                  </a:txBody>
                  <a:tcPr marL="109728" marR="10972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ctr" latinLnBrk="0">
                        <a:lnSpc>
                          <a:spcPct val="112000"/>
                        </a:lnSpc>
                        <a:spcBef>
                          <a:spcPts val="0"/>
                        </a:spcBef>
                        <a:spcAft>
                          <a:spcPts val="0"/>
                        </a:spcAft>
                        <a:buNone/>
                      </a:pPr>
                      <a:r>
                        <a:rPr lang="ko-KR" altLang="en-US" sz="1450" b="0">
                          <a:solidFill>
                            <a:srgbClr val="6B7080"/>
                          </a:solidFill>
                          <a:latin typeface="210 OmniGothic 030"/>
                          <a:ea typeface="210 OmniGothic 030"/>
                          <a:cs typeface="210 OmniGothic 030"/>
                        </a:rPr>
                        <a:t>시스템·기관별 분산</a:t>
                      </a:r>
                    </a:p>
                  </a:txBody>
                  <a:tcPr marL="109728" marR="10972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latinLnBrk="0">
                        <a:lnSpc>
                          <a:spcPct val="112000"/>
                        </a:lnSpc>
                        <a:spcBef>
                          <a:spcPts val="0"/>
                        </a:spcBef>
                        <a:spcAft>
                          <a:spcPts val="0"/>
                        </a:spcAft>
                        <a:buNone/>
                      </a:pPr>
                      <a:r>
                        <a:rPr lang="ko-KR" altLang="en-US" sz="1450" b="0">
                          <a:solidFill>
                            <a:srgbClr val="6B7080"/>
                          </a:solidFill>
                          <a:latin typeface="210 OmniGothic 030"/>
                          <a:ea typeface="210 OmniGothic 030"/>
                          <a:cs typeface="210 OmniGothic 030"/>
                        </a:rPr>
                        <a:t>없음</a:t>
                      </a:r>
                    </a:p>
                  </a:txBody>
                  <a:tcPr marL="109728" marR="10972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latinLnBrk="0">
                        <a:lnSpc>
                          <a:spcPct val="112000"/>
                        </a:lnSpc>
                        <a:spcBef>
                          <a:spcPts val="0"/>
                        </a:spcBef>
                        <a:spcAft>
                          <a:spcPts val="0"/>
                        </a:spcAft>
                        <a:buNone/>
                      </a:pPr>
                      <a:r>
                        <a:rPr lang="ko-KR" altLang="en-US" sz="1450" b="1">
                          <a:solidFill>
                            <a:srgbClr val="2E3142"/>
                          </a:solidFill>
                          <a:latin typeface="210 OmniGothic 040"/>
                          <a:ea typeface="210 OmniGothic 040"/>
                          <a:cs typeface="210 OmniGothic 040"/>
                        </a:rPr>
                        <a:t>통합 상황도 (예측·시설·진화자원)</a:t>
                      </a:r>
                    </a:p>
                  </a:txBody>
                  <a:tcPr marL="274320" marR="10972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FDEBD9"/>
                    </a:solidFill>
                  </a:tcPr>
                </a:tc>
                <a:extLst>
                  <a:ext uri="{0D108BD9-81ED-4DB2-BD59-A6C34878D82A}">
                    <a16:rowId xmlns:a16="http://schemas.microsoft.com/office/drawing/2014/main" val="10001"/>
                  </a:ext>
                </a:extLst>
              </a:tr>
              <a:tr h="448056">
                <a:tc>
                  <a:txBody>
                    <a:bodyPr/>
                    <a:lstStyle/>
                    <a:p>
                      <a:pPr algn="ctr" latinLnBrk="0">
                        <a:lnSpc>
                          <a:spcPct val="112000"/>
                        </a:lnSpc>
                        <a:spcBef>
                          <a:spcPts val="0"/>
                        </a:spcBef>
                        <a:spcAft>
                          <a:spcPts val="0"/>
                        </a:spcAft>
                        <a:buNone/>
                      </a:pPr>
                      <a:r>
                        <a:rPr lang="ko-KR" altLang="en-US" sz="1450" b="1">
                          <a:solidFill>
                            <a:srgbClr val="363A52"/>
                          </a:solidFill>
                          <a:latin typeface="210 OmniGothic 040"/>
                          <a:ea typeface="210 OmniGothic 040"/>
                          <a:cs typeface="210 OmniGothic 040"/>
                        </a:rPr>
                        <a:t>대응안 생성</a:t>
                      </a:r>
                    </a:p>
                  </a:txBody>
                  <a:tcPr marL="109728" marR="10972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ctr" latinLnBrk="0">
                        <a:lnSpc>
                          <a:spcPct val="112000"/>
                        </a:lnSpc>
                        <a:spcBef>
                          <a:spcPts val="0"/>
                        </a:spcBef>
                        <a:spcAft>
                          <a:spcPts val="0"/>
                        </a:spcAft>
                        <a:buNone/>
                      </a:pPr>
                      <a:r>
                        <a:rPr lang="ko-KR" altLang="en-US" sz="1450" b="0">
                          <a:solidFill>
                            <a:srgbClr val="6B7080"/>
                          </a:solidFill>
                          <a:latin typeface="210 OmniGothic 030"/>
                          <a:ea typeface="210 OmniGothic 030"/>
                          <a:cs typeface="210 OmniGothic 030"/>
                        </a:rPr>
                        <a:t>회차별 발행 (수작업)</a:t>
                      </a:r>
                    </a:p>
                  </a:txBody>
                  <a:tcPr marL="109728" marR="10972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latinLnBrk="0">
                        <a:lnSpc>
                          <a:spcPct val="112000"/>
                        </a:lnSpc>
                        <a:spcBef>
                          <a:spcPts val="0"/>
                        </a:spcBef>
                        <a:spcAft>
                          <a:spcPts val="0"/>
                        </a:spcAft>
                        <a:buNone/>
                      </a:pPr>
                      <a:r>
                        <a:rPr lang="ko-KR" altLang="en-US" sz="1450" b="0">
                          <a:solidFill>
                            <a:srgbClr val="6B7080"/>
                          </a:solidFill>
                          <a:latin typeface="210 OmniGothic 030"/>
                          <a:ea typeface="210 OmniGothic 030"/>
                          <a:cs typeface="210 OmniGothic 030"/>
                        </a:rPr>
                        <a:t>자동 · 근거 없음</a:t>
                      </a:r>
                    </a:p>
                  </a:txBody>
                  <a:tcPr marL="109728" marR="10972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latinLnBrk="0">
                        <a:lnSpc>
                          <a:spcPct val="112000"/>
                        </a:lnSpc>
                        <a:spcBef>
                          <a:spcPts val="0"/>
                        </a:spcBef>
                        <a:spcAft>
                          <a:spcPts val="0"/>
                        </a:spcAft>
                        <a:buNone/>
                      </a:pPr>
                      <a:r>
                        <a:rPr lang="ko-KR" altLang="en-US" sz="1450" b="1">
                          <a:solidFill>
                            <a:srgbClr val="2E3142"/>
                          </a:solidFill>
                          <a:latin typeface="210 OmniGothic 040"/>
                          <a:ea typeface="210 OmniGothic 040"/>
                          <a:cs typeface="210 OmniGothic 040"/>
                        </a:rPr>
                        <a:t>자동 · 규칙 판정 + 근거 인용</a:t>
                      </a:r>
                    </a:p>
                  </a:txBody>
                  <a:tcPr marL="274320" marR="10972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FDEBD9"/>
                    </a:solidFill>
                  </a:tcPr>
                </a:tc>
                <a:extLst>
                  <a:ext uri="{0D108BD9-81ED-4DB2-BD59-A6C34878D82A}">
                    <a16:rowId xmlns:a16="http://schemas.microsoft.com/office/drawing/2014/main" val="10002"/>
                  </a:ext>
                </a:extLst>
              </a:tr>
              <a:tr h="448056">
                <a:tc>
                  <a:txBody>
                    <a:bodyPr/>
                    <a:lstStyle/>
                    <a:p>
                      <a:pPr algn="ctr" latinLnBrk="0">
                        <a:lnSpc>
                          <a:spcPct val="112000"/>
                        </a:lnSpc>
                        <a:spcBef>
                          <a:spcPts val="0"/>
                        </a:spcBef>
                        <a:spcAft>
                          <a:spcPts val="0"/>
                        </a:spcAft>
                        <a:buNone/>
                      </a:pPr>
                      <a:r>
                        <a:rPr lang="ko-KR" altLang="en-US" sz="1450" b="1">
                          <a:solidFill>
                            <a:srgbClr val="363A52"/>
                          </a:solidFill>
                          <a:latin typeface="210 OmniGothic 040"/>
                          <a:ea typeface="210 OmniGothic 040"/>
                          <a:cs typeface="210 OmniGothic 040"/>
                        </a:rPr>
                        <a:t>근거 추적</a:t>
                      </a:r>
                    </a:p>
                  </a:txBody>
                  <a:tcPr marL="109728" marR="10972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ctr" latinLnBrk="0">
                        <a:lnSpc>
                          <a:spcPct val="112000"/>
                        </a:lnSpc>
                        <a:spcBef>
                          <a:spcPts val="0"/>
                        </a:spcBef>
                        <a:spcAft>
                          <a:spcPts val="0"/>
                        </a:spcAft>
                        <a:buNone/>
                      </a:pPr>
                      <a:r>
                        <a:rPr lang="ko-KR" altLang="en-US" sz="1450" b="0">
                          <a:solidFill>
                            <a:srgbClr val="6B7080"/>
                          </a:solidFill>
                          <a:latin typeface="210 OmniGothic 030"/>
                          <a:ea typeface="210 OmniGothic 030"/>
                          <a:cs typeface="210 OmniGothic 030"/>
                        </a:rPr>
                        <a:t>조항 표기 없음</a:t>
                      </a:r>
                    </a:p>
                  </a:txBody>
                  <a:tcPr marL="109728" marR="10972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latinLnBrk="0">
                        <a:lnSpc>
                          <a:spcPct val="112000"/>
                        </a:lnSpc>
                        <a:spcBef>
                          <a:spcPts val="0"/>
                        </a:spcBef>
                        <a:spcAft>
                          <a:spcPts val="0"/>
                        </a:spcAft>
                        <a:buNone/>
                      </a:pPr>
                      <a:r>
                        <a:rPr lang="ko-KR" altLang="en-US" sz="1450" b="0">
                          <a:solidFill>
                            <a:srgbClr val="6B7080"/>
                          </a:solidFill>
                          <a:latin typeface="210 OmniGothic 030"/>
                          <a:ea typeface="210 OmniGothic 030"/>
                          <a:cs typeface="210 OmniGothic 030"/>
                        </a:rPr>
                        <a:t>불가</a:t>
                      </a:r>
                    </a:p>
                  </a:txBody>
                  <a:tcPr marL="109728" marR="10972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latinLnBrk="0">
                        <a:lnSpc>
                          <a:spcPct val="112000"/>
                        </a:lnSpc>
                        <a:spcBef>
                          <a:spcPts val="0"/>
                        </a:spcBef>
                        <a:spcAft>
                          <a:spcPts val="0"/>
                        </a:spcAft>
                        <a:buNone/>
                      </a:pPr>
                      <a:r>
                        <a:rPr lang="ko-KR" altLang="en-US" sz="1450" b="1">
                          <a:solidFill>
                            <a:srgbClr val="2E3142"/>
                          </a:solidFill>
                          <a:latin typeface="210 OmniGothic 040"/>
                          <a:ea typeface="210 OmniGothic 040"/>
                          <a:cs typeface="210 OmniGothic 040"/>
                        </a:rPr>
                        <a:t>문서·쪽수·조항 + 요약</a:t>
                      </a:r>
                    </a:p>
                  </a:txBody>
                  <a:tcPr marL="274320" marR="10972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FDEBD9"/>
                    </a:solidFill>
                  </a:tcPr>
                </a:tc>
                <a:extLst>
                  <a:ext uri="{0D108BD9-81ED-4DB2-BD59-A6C34878D82A}">
                    <a16:rowId xmlns:a16="http://schemas.microsoft.com/office/drawing/2014/main" val="10003"/>
                  </a:ext>
                </a:extLst>
              </a:tr>
              <a:tr h="448056">
                <a:tc>
                  <a:txBody>
                    <a:bodyPr/>
                    <a:lstStyle/>
                    <a:p>
                      <a:pPr algn="ctr" latinLnBrk="0">
                        <a:lnSpc>
                          <a:spcPct val="112000"/>
                        </a:lnSpc>
                        <a:spcBef>
                          <a:spcPts val="0"/>
                        </a:spcBef>
                        <a:spcAft>
                          <a:spcPts val="0"/>
                        </a:spcAft>
                        <a:buNone/>
                      </a:pPr>
                      <a:r>
                        <a:rPr lang="ko-KR" altLang="en-US" sz="1450" b="1">
                          <a:solidFill>
                            <a:srgbClr val="363A52"/>
                          </a:solidFill>
                          <a:latin typeface="210 OmniGothic 040"/>
                          <a:ea typeface="210 OmniGothic 040"/>
                          <a:cs typeface="210 OmniGothic 040"/>
                        </a:rPr>
                        <a:t>환각 방지</a:t>
                      </a:r>
                    </a:p>
                  </a:txBody>
                  <a:tcPr marL="109728" marR="10972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ctr" latinLnBrk="0">
                        <a:lnSpc>
                          <a:spcPct val="112000"/>
                        </a:lnSpc>
                        <a:spcBef>
                          <a:spcPts val="0"/>
                        </a:spcBef>
                        <a:spcAft>
                          <a:spcPts val="0"/>
                        </a:spcAft>
                        <a:buNone/>
                      </a:pPr>
                      <a:r>
                        <a:rPr lang="ko-KR" altLang="en-US" sz="1450" b="0">
                          <a:solidFill>
                            <a:srgbClr val="6B7080"/>
                          </a:solidFill>
                          <a:latin typeface="210 OmniGothic 030"/>
                          <a:ea typeface="210 OmniGothic 030"/>
                          <a:cs typeface="210 OmniGothic 030"/>
                        </a:rPr>
                        <a:t>표기 없음</a:t>
                      </a:r>
                    </a:p>
                  </a:txBody>
                  <a:tcPr marL="109728" marR="10972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latinLnBrk="0">
                        <a:lnSpc>
                          <a:spcPct val="112000"/>
                        </a:lnSpc>
                        <a:spcBef>
                          <a:spcPts val="0"/>
                        </a:spcBef>
                        <a:spcAft>
                          <a:spcPts val="0"/>
                        </a:spcAft>
                        <a:buNone/>
                      </a:pPr>
                      <a:r>
                        <a:rPr lang="ko-KR" altLang="en-US" sz="1450" b="0">
                          <a:solidFill>
                            <a:srgbClr val="6B7080"/>
                          </a:solidFill>
                          <a:latin typeface="210 OmniGothic 030"/>
                          <a:ea typeface="210 OmniGothic 030"/>
                          <a:cs typeface="210 OmniGothic 030"/>
                        </a:rPr>
                        <a:t>없음</a:t>
                      </a:r>
                    </a:p>
                  </a:txBody>
                  <a:tcPr marL="109728" marR="10972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latinLnBrk="0">
                        <a:lnSpc>
                          <a:spcPct val="112000"/>
                        </a:lnSpc>
                        <a:spcBef>
                          <a:spcPts val="0"/>
                        </a:spcBef>
                        <a:spcAft>
                          <a:spcPts val="0"/>
                        </a:spcAft>
                        <a:buNone/>
                      </a:pPr>
                      <a:r>
                        <a:rPr lang="ko-KR" altLang="en-US" sz="1450" b="1">
                          <a:solidFill>
                            <a:srgbClr val="2E3142"/>
                          </a:solidFill>
                          <a:latin typeface="210 OmniGothic 040"/>
                          <a:ea typeface="210 OmniGothic 040"/>
                          <a:cs typeface="210 OmniGothic 040"/>
                        </a:rPr>
                        <a:t>판정 값은 규칙 엔진이 산출 · 근거 없는 내용은 미출력</a:t>
                      </a:r>
                    </a:p>
                  </a:txBody>
                  <a:tcPr marL="274320" marR="10972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FDEBD9"/>
                    </a:solidFill>
                  </a:tcPr>
                </a:tc>
                <a:extLst>
                  <a:ext uri="{0D108BD9-81ED-4DB2-BD59-A6C34878D82A}">
                    <a16:rowId xmlns:a16="http://schemas.microsoft.com/office/drawing/2014/main" val="10004"/>
                  </a:ext>
                </a:extLst>
              </a:tr>
              <a:tr h="448056">
                <a:tc>
                  <a:txBody>
                    <a:bodyPr/>
                    <a:lstStyle/>
                    <a:p>
                      <a:pPr algn="ctr" latinLnBrk="0">
                        <a:lnSpc>
                          <a:spcPct val="112000"/>
                        </a:lnSpc>
                        <a:spcBef>
                          <a:spcPts val="0"/>
                        </a:spcBef>
                        <a:spcAft>
                          <a:spcPts val="0"/>
                        </a:spcAft>
                        <a:buNone/>
                      </a:pPr>
                      <a:r>
                        <a:rPr lang="ko-KR" altLang="en-US" sz="1450" b="1">
                          <a:solidFill>
                            <a:srgbClr val="363A52"/>
                          </a:solidFill>
                          <a:latin typeface="210 OmniGothic 040"/>
                          <a:ea typeface="210 OmniGothic 040"/>
                          <a:cs typeface="210 OmniGothic 040"/>
                        </a:rPr>
                        <a:t>상황 변화 반영</a:t>
                      </a:r>
                    </a:p>
                  </a:txBody>
                  <a:tcPr marL="109728" marR="10972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ctr" latinLnBrk="0">
                        <a:lnSpc>
                          <a:spcPct val="112000"/>
                        </a:lnSpc>
                        <a:spcBef>
                          <a:spcPts val="0"/>
                        </a:spcBef>
                        <a:spcAft>
                          <a:spcPts val="0"/>
                        </a:spcAft>
                        <a:buNone/>
                      </a:pPr>
                      <a:r>
                        <a:rPr lang="ko-KR" altLang="en-US" sz="1450" b="0">
                          <a:solidFill>
                            <a:srgbClr val="6B7080"/>
                          </a:solidFill>
                          <a:latin typeface="210 OmniGothic 030"/>
                          <a:ea typeface="210 OmniGothic 030"/>
                          <a:cs typeface="210 OmniGothic 030"/>
                        </a:rPr>
                        <a:t>다음 회차 발행</a:t>
                      </a:r>
                    </a:p>
                  </a:txBody>
                  <a:tcPr marL="109728" marR="10972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latinLnBrk="0">
                        <a:lnSpc>
                          <a:spcPct val="112000"/>
                        </a:lnSpc>
                        <a:spcBef>
                          <a:spcPts val="0"/>
                        </a:spcBef>
                        <a:spcAft>
                          <a:spcPts val="0"/>
                        </a:spcAft>
                        <a:buNone/>
                      </a:pPr>
                      <a:r>
                        <a:rPr lang="ko-KR" altLang="en-US" sz="1450" b="0">
                          <a:solidFill>
                            <a:srgbClr val="6B7080"/>
                          </a:solidFill>
                          <a:latin typeface="210 OmniGothic 030"/>
                          <a:ea typeface="210 OmniGothic 030"/>
                          <a:cs typeface="210 OmniGothic 030"/>
                        </a:rPr>
                        <a:t>대화 문맥 한정</a:t>
                      </a:r>
                    </a:p>
                  </a:txBody>
                  <a:tcPr marL="109728" marR="10972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latinLnBrk="0">
                        <a:lnSpc>
                          <a:spcPct val="112000"/>
                        </a:lnSpc>
                        <a:spcBef>
                          <a:spcPts val="0"/>
                        </a:spcBef>
                        <a:spcAft>
                          <a:spcPts val="0"/>
                        </a:spcAft>
                        <a:buNone/>
                      </a:pPr>
                      <a:r>
                        <a:rPr lang="ko-KR" altLang="en-US" sz="1450" b="1">
                          <a:solidFill>
                            <a:srgbClr val="2E3142"/>
                          </a:solidFill>
                          <a:latin typeface="210 OmniGothic 040"/>
                          <a:ea typeface="210 OmniGothic 040"/>
                          <a:cs typeface="210 OmniGothic 040"/>
                        </a:rPr>
                        <a:t>예측 갱신·상황 정정 시 새 버전 생성</a:t>
                      </a:r>
                    </a:p>
                  </a:txBody>
                  <a:tcPr marL="274320" marR="10972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FDEBD9"/>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33"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2700" y="-12700"/>
            <a:ext cx="18313400" cy="1638300"/>
          </a:xfrm>
          <a:prstGeom prst="rect">
            <a:avLst/>
          </a:prstGeom>
        </p:spPr>
      </p:pic>
      <p:pic>
        <p:nvPicPr>
          <p:cNvPr id="5034"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628" y="1618343"/>
            <a:ext cx="18313400" cy="8699500"/>
          </a:xfrm>
          <a:prstGeom prst="rect">
            <a:avLst/>
          </a:prstGeom>
        </p:spPr>
      </p:pic>
      <p:pic>
        <p:nvPicPr>
          <p:cNvPr id="5035"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58800" y="9271000"/>
            <a:ext cx="17170400" cy="50800"/>
          </a:xfrm>
          <a:prstGeom prst="rect">
            <a:avLst/>
          </a:prstGeom>
        </p:spPr>
      </p:pic>
      <p:pic>
        <p:nvPicPr>
          <p:cNvPr id="5036" name="Picture 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278100" y="203200"/>
            <a:ext cx="1676400" cy="1409700"/>
          </a:xfrm>
          <a:prstGeom prst="rect">
            <a:avLst/>
          </a:prstGeom>
        </p:spPr>
      </p:pic>
      <p:sp>
        <p:nvSpPr>
          <p:cNvPr id="5037" name="Title"/>
          <p:cNvSpPr txBox="1"/>
          <p:nvPr/>
        </p:nvSpPr>
        <p:spPr>
          <a:xfrm>
            <a:off x="822960" y="384048"/>
            <a:ext cx="13258800" cy="877824"/>
          </a:xfrm>
          <a:prstGeom prst="rect">
            <a:avLst/>
          </a:prstGeom>
          <a:noFill/>
        </p:spPr>
        <p:txBody>
          <a:bodyPr wrap="square" lIns="0" tIns="0" rIns="0" bIns="0" anchor="ctr">
            <a:spAutoFit/>
          </a:bodyPr>
          <a:lstStyle/>
          <a:p>
            <a:pPr algn="l"/>
            <a:r>
              <a:rPr sz="4400" b="0">
                <a:solidFill>
                  <a:srgbClr val="FAA95A"/>
                </a:solidFill>
                <a:latin typeface="210 OmniGothic 050"/>
                <a:ea typeface="210 OmniGothic 050"/>
                <a:cs typeface="210 OmniGothic 050"/>
              </a:rPr>
              <a:t>01. 프로젝트 개요</a:t>
            </a:r>
          </a:p>
        </p:txBody>
      </p:sp>
      <p:sp>
        <p:nvSpPr>
          <p:cNvPr id="5038" name="Subtitle"/>
          <p:cNvSpPr txBox="1"/>
          <p:nvPr/>
        </p:nvSpPr>
        <p:spPr>
          <a:xfrm>
            <a:off x="822960" y="1764792"/>
            <a:ext cx="16642080" cy="502920"/>
          </a:xfrm>
          <a:prstGeom prst="rect">
            <a:avLst/>
          </a:prstGeom>
          <a:noFill/>
        </p:spPr>
        <p:txBody>
          <a:bodyPr wrap="square" lIns="0" tIns="0" rIns="0" bIns="0" anchor="ctr">
            <a:spAutoFit/>
          </a:bodyPr>
          <a:lstStyle/>
          <a:p>
            <a:pPr algn="ctr"/>
            <a:r>
              <a:rPr sz="2600" b="1">
                <a:solidFill>
                  <a:srgbClr val="363A52"/>
                </a:solidFill>
                <a:latin typeface="210 OmniGothic 040"/>
                <a:ea typeface="210 OmniGothic 040"/>
                <a:cs typeface="210 OmniGothic 040"/>
              </a:rPr>
              <a:t>목표 및 기대 효과</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sz="quarter" idx="12"/>
          </p:nvPr>
        </p:nvSpPr>
        <p:spPr/>
        <p:txBody>
          <a:bodyPr/>
          <a:lstStyle/>
          <a:p>
            <a:fld id="{B6F15528-21DE-4FAA-801E-634DDDAF4B2B}" type="slidenum">
              <a:rPr lang="en-US" smtClean="0"/>
              <a:pPr/>
              <a:t>7</a:t>
            </a:fld>
            <a:endParaRPr lang="en-US"/>
          </a:p>
        </p:txBody>
      </p:sp>
      <p:sp>
        <p:nvSpPr>
          <p:cNvPr id="5039" name="목표 ①"/>
          <p:cNvSpPr/>
          <p:nvPr/>
        </p:nvSpPr>
        <p:spPr>
          <a:xfrm>
            <a:off x="868680" y="2487168"/>
            <a:ext cx="5303520" cy="2240280"/>
          </a:xfrm>
          <a:prstGeom prst="roundRect">
            <a:avLst>
              <a:gd name="adj" fmla="val 8979"/>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latinLnBrk="0">
              <a:lnSpc>
                <a:spcPct val="120000"/>
              </a:lnSpc>
              <a:spcBef>
                <a:spcPts val="0"/>
              </a:spcBef>
              <a:spcAft>
                <a:spcPts val="0"/>
              </a:spcAft>
              <a:buNone/>
            </a:pPr>
            <a:endParaRPr/>
          </a:p>
        </p:txBody>
      </p:sp>
      <p:sp>
        <p:nvSpPr>
          <p:cNvPr id="5040" name="Rounded Rectangle 5039"/>
          <p:cNvSpPr/>
          <p:nvPr/>
        </p:nvSpPr>
        <p:spPr>
          <a:xfrm>
            <a:off x="1216152" y="2807208"/>
            <a:ext cx="1143000" cy="457200"/>
          </a:xfrm>
          <a:prstGeom prst="roundRect">
            <a:avLst>
              <a:gd name="adj" fmla="val 20000"/>
            </a:avLst>
          </a:prstGeom>
          <a:solidFill>
            <a:srgbClr val="FAA95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latinLnBrk="0">
              <a:lnSpc>
                <a:spcPct val="120000"/>
              </a:lnSpc>
              <a:spcBef>
                <a:spcPts val="0"/>
              </a:spcBef>
              <a:spcAft>
                <a:spcPts val="0"/>
              </a:spcAft>
              <a:buNone/>
            </a:pPr>
            <a:r>
              <a:rPr lang="ko-KR" altLang="en-US" sz="1550" b="1">
                <a:solidFill>
                  <a:srgbClr val="FFFFFF"/>
                </a:solidFill>
                <a:latin typeface="210 OmniGothic 040"/>
                <a:ea typeface="210 OmniGothic 040"/>
                <a:cs typeface="210 OmniGothic 040"/>
              </a:rPr>
              <a:t>목표 ①</a:t>
            </a:r>
          </a:p>
        </p:txBody>
      </p:sp>
      <p:sp>
        <p:nvSpPr>
          <p:cNvPr id="5041" name="Rounded Rectangle 5040"/>
          <p:cNvSpPr/>
          <p:nvPr/>
        </p:nvSpPr>
        <p:spPr>
          <a:xfrm>
            <a:off x="4453128" y="2871216"/>
            <a:ext cx="1371600" cy="329184"/>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latinLnBrk="0">
              <a:lnSpc>
                <a:spcPct val="120000"/>
              </a:lnSpc>
              <a:spcBef>
                <a:spcPts val="0"/>
              </a:spcBef>
              <a:spcAft>
                <a:spcPts val="0"/>
              </a:spcAft>
              <a:buNone/>
            </a:pPr>
            <a:r>
              <a:rPr lang="ko-KR" altLang="en-US" sz="1200" b="1">
                <a:solidFill>
                  <a:srgbClr val="B5601C"/>
                </a:solidFill>
                <a:latin typeface="210 OmniGothic 040"/>
                <a:ea typeface="210 OmniGothic 040"/>
                <a:cs typeface="210 OmniGothic 040"/>
              </a:rPr>
              <a:t>문제 ① 대응</a:t>
            </a:r>
          </a:p>
        </p:txBody>
      </p:sp>
      <p:sp>
        <p:nvSpPr>
          <p:cNvPr id="5042" name="TextBox 5041"/>
          <p:cNvSpPr txBox="1"/>
          <p:nvPr/>
        </p:nvSpPr>
        <p:spPr>
          <a:xfrm>
            <a:off x="1216152" y="3419856"/>
            <a:ext cx="4608576" cy="402336"/>
          </a:xfrm>
          <a:prstGeom prst="rect">
            <a:avLst/>
          </a:prstGeom>
          <a:noFill/>
        </p:spPr>
        <p:txBody>
          <a:bodyPr wrap="square" lIns="0" tIns="0" rIns="0" bIns="0" rtlCol="0" anchor="ctr">
            <a:noAutofit/>
          </a:bodyPr>
          <a:lstStyle/>
          <a:p>
            <a:pPr algn="l" latinLnBrk="0">
              <a:lnSpc>
                <a:spcPct val="120000"/>
              </a:lnSpc>
              <a:spcBef>
                <a:spcPts val="0"/>
              </a:spcBef>
              <a:spcAft>
                <a:spcPts val="0"/>
              </a:spcAft>
              <a:buNone/>
            </a:pPr>
            <a:r>
              <a:rPr lang="ko-KR" altLang="en-US" sz="2200" b="1">
                <a:solidFill>
                  <a:srgbClr val="363A52"/>
                </a:solidFill>
                <a:latin typeface="210 OmniGothic 040"/>
                <a:ea typeface="210 OmniGothic 040"/>
                <a:cs typeface="210 OmniGothic 040"/>
              </a:rPr>
              <a:t>통합 상황 인식</a:t>
            </a:r>
          </a:p>
        </p:txBody>
      </p:sp>
      <p:sp>
        <p:nvSpPr>
          <p:cNvPr id="5043" name="TextBox 5042"/>
          <p:cNvSpPr txBox="1"/>
          <p:nvPr/>
        </p:nvSpPr>
        <p:spPr>
          <a:xfrm>
            <a:off x="1216152" y="3931920"/>
            <a:ext cx="4608576" cy="685800"/>
          </a:xfrm>
          <a:prstGeom prst="rect">
            <a:avLst/>
          </a:prstGeom>
          <a:noFill/>
        </p:spPr>
        <p:txBody>
          <a:bodyPr wrap="square" lIns="0" tIns="0" rIns="0" bIns="0" rtlCol="0" anchor="t">
            <a:noAutofit/>
          </a:bodyPr>
          <a:lstStyle/>
          <a:p>
            <a:pPr algn="l" latinLnBrk="0">
              <a:lnSpc>
                <a:spcPct val="125000"/>
              </a:lnSpc>
              <a:spcBef>
                <a:spcPts val="0"/>
              </a:spcBef>
              <a:spcAft>
                <a:spcPts val="0"/>
              </a:spcAft>
              <a:buNone/>
            </a:pPr>
            <a:r>
              <a:rPr lang="ko-KR" altLang="en-US" sz="1500" b="0">
                <a:solidFill>
                  <a:srgbClr val="2E3142"/>
                </a:solidFill>
                <a:latin typeface="210 OmniGothic 040"/>
                <a:ea typeface="210 OmniGothic 040"/>
                <a:cs typeface="210 OmniGothic 040"/>
              </a:rPr>
              <a:t>산불 위치·확산 예측·주변 시설·기상·진화자원을 하나의 지도에서 확인</a:t>
            </a:r>
          </a:p>
        </p:txBody>
      </p:sp>
      <p:sp>
        <p:nvSpPr>
          <p:cNvPr id="5044" name="목표 ②"/>
          <p:cNvSpPr/>
          <p:nvPr/>
        </p:nvSpPr>
        <p:spPr>
          <a:xfrm>
            <a:off x="868680" y="4910328"/>
            <a:ext cx="5303520" cy="2240280"/>
          </a:xfrm>
          <a:prstGeom prst="roundRect">
            <a:avLst>
              <a:gd name="adj" fmla="val 8979"/>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latinLnBrk="0">
              <a:lnSpc>
                <a:spcPct val="120000"/>
              </a:lnSpc>
              <a:spcBef>
                <a:spcPts val="0"/>
              </a:spcBef>
              <a:spcAft>
                <a:spcPts val="0"/>
              </a:spcAft>
              <a:buNone/>
            </a:pPr>
            <a:endParaRPr/>
          </a:p>
        </p:txBody>
      </p:sp>
      <p:sp>
        <p:nvSpPr>
          <p:cNvPr id="5045" name="Rounded Rectangle 5044"/>
          <p:cNvSpPr/>
          <p:nvPr/>
        </p:nvSpPr>
        <p:spPr>
          <a:xfrm>
            <a:off x="1216152" y="5230368"/>
            <a:ext cx="1143000" cy="457200"/>
          </a:xfrm>
          <a:prstGeom prst="roundRect">
            <a:avLst>
              <a:gd name="adj" fmla="val 20000"/>
            </a:avLst>
          </a:prstGeom>
          <a:solidFill>
            <a:srgbClr val="FAA95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latinLnBrk="0">
              <a:lnSpc>
                <a:spcPct val="120000"/>
              </a:lnSpc>
              <a:spcBef>
                <a:spcPts val="0"/>
              </a:spcBef>
              <a:spcAft>
                <a:spcPts val="0"/>
              </a:spcAft>
              <a:buNone/>
            </a:pPr>
            <a:r>
              <a:rPr lang="ko-KR" altLang="en-US" sz="1550" b="1">
                <a:solidFill>
                  <a:srgbClr val="FFFFFF"/>
                </a:solidFill>
                <a:latin typeface="210 OmniGothic 040"/>
                <a:ea typeface="210 OmniGothic 040"/>
                <a:cs typeface="210 OmniGothic 040"/>
              </a:rPr>
              <a:t>목표 ②</a:t>
            </a:r>
          </a:p>
        </p:txBody>
      </p:sp>
      <p:sp>
        <p:nvSpPr>
          <p:cNvPr id="5046" name="Rounded Rectangle 5045"/>
          <p:cNvSpPr/>
          <p:nvPr/>
        </p:nvSpPr>
        <p:spPr>
          <a:xfrm>
            <a:off x="4453128" y="5294376"/>
            <a:ext cx="1371600" cy="329184"/>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latinLnBrk="0">
              <a:lnSpc>
                <a:spcPct val="120000"/>
              </a:lnSpc>
              <a:spcBef>
                <a:spcPts val="0"/>
              </a:spcBef>
              <a:spcAft>
                <a:spcPts val="0"/>
              </a:spcAft>
              <a:buNone/>
            </a:pPr>
            <a:r>
              <a:rPr lang="ko-KR" altLang="en-US" sz="1200" b="1">
                <a:solidFill>
                  <a:srgbClr val="B5601C"/>
                </a:solidFill>
                <a:latin typeface="210 OmniGothic 040"/>
                <a:ea typeface="210 OmniGothic 040"/>
                <a:cs typeface="210 OmniGothic 040"/>
              </a:rPr>
              <a:t>문제 ② 대응</a:t>
            </a:r>
          </a:p>
        </p:txBody>
      </p:sp>
      <p:sp>
        <p:nvSpPr>
          <p:cNvPr id="5047" name="TextBox 5046"/>
          <p:cNvSpPr txBox="1"/>
          <p:nvPr/>
        </p:nvSpPr>
        <p:spPr>
          <a:xfrm>
            <a:off x="1216152" y="5843016"/>
            <a:ext cx="4608576" cy="402336"/>
          </a:xfrm>
          <a:prstGeom prst="rect">
            <a:avLst/>
          </a:prstGeom>
          <a:noFill/>
        </p:spPr>
        <p:txBody>
          <a:bodyPr wrap="square" lIns="0" tIns="0" rIns="0" bIns="0" rtlCol="0" anchor="ctr">
            <a:noAutofit/>
          </a:bodyPr>
          <a:lstStyle/>
          <a:p>
            <a:pPr algn="l" latinLnBrk="0">
              <a:lnSpc>
                <a:spcPct val="120000"/>
              </a:lnSpc>
              <a:spcBef>
                <a:spcPts val="0"/>
              </a:spcBef>
              <a:spcAft>
                <a:spcPts val="0"/>
              </a:spcAft>
              <a:buNone/>
            </a:pPr>
            <a:r>
              <a:rPr lang="ko-KR" altLang="en-US" sz="2200" b="1">
                <a:solidFill>
                  <a:srgbClr val="363A52"/>
                </a:solidFill>
                <a:latin typeface="210 OmniGothic 040"/>
                <a:ea typeface="210 OmniGothic 040"/>
                <a:cs typeface="210 OmniGothic 040"/>
              </a:rPr>
              <a:t>전문적 의사결정 지원</a:t>
            </a:r>
          </a:p>
        </p:txBody>
      </p:sp>
      <p:sp>
        <p:nvSpPr>
          <p:cNvPr id="5048" name="TextBox 5047"/>
          <p:cNvSpPr txBox="1"/>
          <p:nvPr/>
        </p:nvSpPr>
        <p:spPr>
          <a:xfrm>
            <a:off x="1216152" y="6355080"/>
            <a:ext cx="4608576" cy="685800"/>
          </a:xfrm>
          <a:prstGeom prst="rect">
            <a:avLst/>
          </a:prstGeom>
          <a:noFill/>
        </p:spPr>
        <p:txBody>
          <a:bodyPr wrap="square" lIns="0" tIns="0" rIns="0" bIns="0" rtlCol="0" anchor="t">
            <a:noAutofit/>
          </a:bodyPr>
          <a:lstStyle/>
          <a:p>
            <a:pPr algn="l" latinLnBrk="0">
              <a:lnSpc>
                <a:spcPct val="125000"/>
              </a:lnSpc>
              <a:spcBef>
                <a:spcPts val="0"/>
              </a:spcBef>
              <a:spcAft>
                <a:spcPts val="0"/>
              </a:spcAft>
              <a:buNone/>
            </a:pPr>
            <a:r>
              <a:rPr lang="ko-KR" altLang="en-US" sz="1500" b="0">
                <a:solidFill>
                  <a:srgbClr val="2E3142"/>
                </a:solidFill>
                <a:latin typeface="210 OmniGothic 040"/>
                <a:ea typeface="210 OmniGothic 040"/>
                <a:cs typeface="210 OmniGothic 040"/>
              </a:rPr>
              <a:t>예측과 현재 상황을 표준매뉴얼 판단 항목에 대입해 대응안을 근거와 함께 제안</a:t>
            </a:r>
          </a:p>
        </p:txBody>
      </p:sp>
      <p:sp>
        <p:nvSpPr>
          <p:cNvPr id="5049" name="Principle"/>
          <p:cNvSpPr/>
          <p:nvPr/>
        </p:nvSpPr>
        <p:spPr>
          <a:xfrm>
            <a:off x="868680" y="7333488"/>
            <a:ext cx="5303520" cy="1417320"/>
          </a:xfrm>
          <a:prstGeom prst="roundRect">
            <a:avLst>
              <a:gd name="adj" fmla="val 14193"/>
            </a:avLst>
          </a:prstGeom>
          <a:solidFill>
            <a:srgbClr val="363A5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latinLnBrk="0">
              <a:lnSpc>
                <a:spcPct val="120000"/>
              </a:lnSpc>
              <a:spcBef>
                <a:spcPts val="0"/>
              </a:spcBef>
              <a:spcAft>
                <a:spcPts val="0"/>
              </a:spcAft>
              <a:buNone/>
            </a:pPr>
            <a:endParaRPr/>
          </a:p>
        </p:txBody>
      </p:sp>
      <p:sp>
        <p:nvSpPr>
          <p:cNvPr id="5050" name="TextBox 5049"/>
          <p:cNvSpPr txBox="1"/>
          <p:nvPr/>
        </p:nvSpPr>
        <p:spPr>
          <a:xfrm>
            <a:off x="1216152" y="7552944"/>
            <a:ext cx="4608576" cy="256032"/>
          </a:xfrm>
          <a:prstGeom prst="rect">
            <a:avLst/>
          </a:prstGeom>
          <a:noFill/>
        </p:spPr>
        <p:txBody>
          <a:bodyPr wrap="square" lIns="0" tIns="0" rIns="0" bIns="0" rtlCol="0" anchor="t">
            <a:noAutofit/>
          </a:bodyPr>
          <a:lstStyle/>
          <a:p>
            <a:pPr algn="l" latinLnBrk="0">
              <a:lnSpc>
                <a:spcPct val="120000"/>
              </a:lnSpc>
              <a:spcBef>
                <a:spcPts val="0"/>
              </a:spcBef>
              <a:spcAft>
                <a:spcPts val="0"/>
              </a:spcAft>
              <a:buNone/>
            </a:pPr>
            <a:r>
              <a:rPr lang="ko-KR" altLang="en-US" sz="1350" b="1">
                <a:solidFill>
                  <a:srgbClr val="FAA95A"/>
                </a:solidFill>
                <a:latin typeface="210 OmniGothic 040"/>
                <a:ea typeface="210 OmniGothic 040"/>
                <a:cs typeface="210 OmniGothic 040"/>
              </a:rPr>
              <a:t>운영 원칙</a:t>
            </a:r>
          </a:p>
        </p:txBody>
      </p:sp>
      <p:sp>
        <p:nvSpPr>
          <p:cNvPr id="5051" name="TextBox 5050"/>
          <p:cNvSpPr txBox="1"/>
          <p:nvPr/>
        </p:nvSpPr>
        <p:spPr>
          <a:xfrm>
            <a:off x="1216152" y="7882128"/>
            <a:ext cx="4608576" cy="731520"/>
          </a:xfrm>
          <a:prstGeom prst="rect">
            <a:avLst/>
          </a:prstGeom>
          <a:noFill/>
        </p:spPr>
        <p:txBody>
          <a:bodyPr wrap="square" lIns="0" tIns="0" rIns="0" bIns="0" rtlCol="0" anchor="t">
            <a:noAutofit/>
          </a:bodyPr>
          <a:lstStyle/>
          <a:p>
            <a:pPr algn="l" latinLnBrk="0">
              <a:lnSpc>
                <a:spcPct val="125000"/>
              </a:lnSpc>
              <a:spcBef>
                <a:spcPts val="0"/>
              </a:spcBef>
              <a:spcAft>
                <a:spcPts val="0"/>
              </a:spcAft>
              <a:buNone/>
            </a:pPr>
            <a:r>
              <a:rPr lang="ko-KR" altLang="en-US" sz="1550" b="1">
                <a:solidFill>
                  <a:srgbClr val="FFFFFF"/>
                </a:solidFill>
                <a:latin typeface="210 OmniGothic 040"/>
                <a:ea typeface="210 OmniGothic 040"/>
                <a:cs typeface="210 OmniGothic 040"/>
              </a:rPr>
              <a:t>AI는 근거 있는 초안을 제시하고, 최종 결정은 통합지휘권자이 내립니다</a:t>
            </a:r>
          </a:p>
        </p:txBody>
      </p:sp>
      <p:graphicFrame>
        <p:nvGraphicFramePr>
          <p:cNvPr id="5052" name="AsIs ToBe"/>
          <p:cNvGraphicFramePr>
            <a:graphicFrameLocks noGrp="1"/>
          </p:cNvGraphicFramePr>
          <p:nvPr/>
        </p:nvGraphicFramePr>
        <p:xfrm>
          <a:off x="6446520" y="2487168"/>
          <a:ext cx="10972800" cy="3291840"/>
        </p:xfrm>
        <a:graphic>
          <a:graphicData uri="http://schemas.openxmlformats.org/drawingml/2006/table">
            <a:tbl>
              <a:tblPr>
                <a:tableStyleId>{2D5ABB26-0587-4C30-8999-92F81FD0307C}</a:tableStyleId>
              </a:tblPr>
              <a:tblGrid>
                <a:gridCol w="155448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gridCol w="5394960">
                  <a:extLst>
                    <a:ext uri="{9D8B030D-6E8A-4147-A177-3AD203B41FA5}">
                      <a16:colId xmlns:a16="http://schemas.microsoft.com/office/drawing/2014/main" val="20002"/>
                    </a:ext>
                  </a:extLst>
                </a:gridCol>
              </a:tblGrid>
              <a:tr h="457200">
                <a:tc>
                  <a:txBody>
                    <a:bodyPr/>
                    <a:lstStyle/>
                    <a:p>
                      <a:pPr algn="ctr" latinLnBrk="0">
                        <a:lnSpc>
                          <a:spcPct val="112000"/>
                        </a:lnSpc>
                        <a:spcBef>
                          <a:spcPts val="0"/>
                        </a:spcBef>
                        <a:spcAft>
                          <a:spcPts val="0"/>
                        </a:spcAft>
                        <a:buNone/>
                      </a:pPr>
                      <a:r>
                        <a:rPr lang="ko-KR" altLang="en-US" sz="1450" b="1">
                          <a:solidFill>
                            <a:srgbClr val="FFFFFF"/>
                          </a:solidFill>
                          <a:latin typeface="210 OmniGothic 040"/>
                          <a:ea typeface="210 OmniGothic 040"/>
                          <a:cs typeface="210 OmniGothic 040"/>
                        </a:rPr>
                        <a:t>구분</a:t>
                      </a:r>
                    </a:p>
                  </a:txBody>
                  <a:tcPr marL="109728" marR="109728"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tc>
                  <a:txBody>
                    <a:bodyPr/>
                    <a:lstStyle/>
                    <a:p>
                      <a:pPr algn="ctr" latinLnBrk="0">
                        <a:lnSpc>
                          <a:spcPct val="112000"/>
                        </a:lnSpc>
                        <a:spcBef>
                          <a:spcPts val="0"/>
                        </a:spcBef>
                        <a:spcAft>
                          <a:spcPts val="0"/>
                        </a:spcAft>
                        <a:buNone/>
                      </a:pPr>
                      <a:r>
                        <a:rPr lang="ko-KR" altLang="en-US" sz="1450" b="1">
                          <a:solidFill>
                            <a:srgbClr val="FFFFFF"/>
                          </a:solidFill>
                          <a:latin typeface="210 OmniGothic 040"/>
                          <a:ea typeface="210 OmniGothic 040"/>
                          <a:cs typeface="210 OmniGothic 040"/>
                        </a:rPr>
                        <a:t>As-Is (현행)</a:t>
                      </a:r>
                    </a:p>
                  </a:txBody>
                  <a:tcPr marL="109728" marR="109728"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tc>
                  <a:txBody>
                    <a:bodyPr/>
                    <a:lstStyle/>
                    <a:p>
                      <a:pPr algn="ctr" latinLnBrk="0">
                        <a:lnSpc>
                          <a:spcPct val="112000"/>
                        </a:lnSpc>
                        <a:spcBef>
                          <a:spcPts val="0"/>
                        </a:spcBef>
                        <a:spcAft>
                          <a:spcPts val="0"/>
                        </a:spcAft>
                        <a:buNone/>
                      </a:pPr>
                      <a:r>
                        <a:rPr lang="ko-KR" altLang="en-US" sz="1450" b="1">
                          <a:solidFill>
                            <a:srgbClr val="FFFFFF"/>
                          </a:solidFill>
                          <a:latin typeface="210 OmniGothic 040"/>
                          <a:ea typeface="210 OmniGothic 040"/>
                          <a:cs typeface="210 OmniGothic 040"/>
                        </a:rPr>
                        <a:t>To-Be (본 서비스)</a:t>
                      </a:r>
                    </a:p>
                  </a:txBody>
                  <a:tcPr marL="109728" marR="109728" anchor="ctr">
                    <a:lnL w="9525">
                      <a:solidFill>
                        <a:srgbClr val="D9DCE5"/>
                      </a:solidFill>
                    </a:lnL>
                    <a:lnR w="9525">
                      <a:solidFill>
                        <a:srgbClr val="D9DCE5"/>
                      </a:solidFill>
                    </a:lnR>
                    <a:lnT w="9525">
                      <a:solidFill>
                        <a:srgbClr val="D9DCE5"/>
                      </a:solidFill>
                    </a:lnT>
                    <a:lnB w="9525">
                      <a:solidFill>
                        <a:srgbClr val="D9DCE5"/>
                      </a:solidFill>
                    </a:lnB>
                    <a:solidFill>
                      <a:srgbClr val="E8893A"/>
                    </a:solidFill>
                  </a:tcPr>
                </a:tc>
                <a:extLst>
                  <a:ext uri="{0D108BD9-81ED-4DB2-BD59-A6C34878D82A}">
                    <a16:rowId xmlns:a16="http://schemas.microsoft.com/office/drawing/2014/main" val="10000"/>
                  </a:ext>
                </a:extLst>
              </a:tr>
              <a:tr h="566928">
                <a:tc>
                  <a:txBody>
                    <a:bodyPr/>
                    <a:lstStyle/>
                    <a:p>
                      <a:pPr algn="ctr" latinLnBrk="0">
                        <a:lnSpc>
                          <a:spcPct val="112000"/>
                        </a:lnSpc>
                        <a:spcBef>
                          <a:spcPts val="0"/>
                        </a:spcBef>
                        <a:spcAft>
                          <a:spcPts val="0"/>
                        </a:spcAft>
                        <a:buNone/>
                      </a:pPr>
                      <a:r>
                        <a:rPr lang="ko-KR" altLang="en-US" sz="1450" b="1">
                          <a:solidFill>
                            <a:srgbClr val="363A52"/>
                          </a:solidFill>
                          <a:latin typeface="210 OmniGothic 040"/>
                          <a:ea typeface="210 OmniGothic 040"/>
                          <a:cs typeface="210 OmniGothic 040"/>
                        </a:rPr>
                        <a:t>상황 파악</a:t>
                      </a:r>
                    </a:p>
                  </a:txBody>
                  <a:tcPr marL="109728" marR="10972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latinLnBrk="0">
                        <a:lnSpc>
                          <a:spcPct val="112000"/>
                        </a:lnSpc>
                        <a:spcBef>
                          <a:spcPts val="0"/>
                        </a:spcBef>
                        <a:spcAft>
                          <a:spcPts val="0"/>
                        </a:spcAft>
                        <a:buNone/>
                      </a:pPr>
                      <a:r>
                        <a:rPr lang="ko-KR" altLang="en-US" sz="1400" b="0">
                          <a:solidFill>
                            <a:srgbClr val="6B7080"/>
                          </a:solidFill>
                          <a:latin typeface="210 OmniGothic 030"/>
                          <a:ea typeface="210 OmniGothic 030"/>
                          <a:cs typeface="210 OmniGothic 030"/>
                        </a:rPr>
                        <a:t>정보가 시스템·기관별로 분산</a:t>
                      </a:r>
                    </a:p>
                  </a:txBody>
                  <a:tcPr marL="228600" marR="10972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latinLnBrk="0">
                        <a:lnSpc>
                          <a:spcPct val="112000"/>
                        </a:lnSpc>
                        <a:spcBef>
                          <a:spcPts val="0"/>
                        </a:spcBef>
                        <a:spcAft>
                          <a:spcPts val="0"/>
                        </a:spcAft>
                        <a:buNone/>
                      </a:pPr>
                      <a:r>
                        <a:rPr lang="ko-KR" altLang="en-US" sz="1400" b="1">
                          <a:solidFill>
                            <a:srgbClr val="2E3142"/>
                          </a:solidFill>
                          <a:latin typeface="210 OmniGothic 040"/>
                          <a:ea typeface="210 OmniGothic 040"/>
                          <a:cs typeface="210 OmniGothic 040"/>
                        </a:rPr>
                        <a:t>통합 상황도 한 지도에서 확인, 보고·재예측 때마다 갱신</a:t>
                      </a:r>
                    </a:p>
                  </a:txBody>
                  <a:tcPr marL="228600" marR="109728" anchor="ctr">
                    <a:lnL w="9525">
                      <a:solidFill>
                        <a:srgbClr val="D9DCE5"/>
                      </a:solidFill>
                    </a:lnL>
                    <a:lnR w="9525">
                      <a:solidFill>
                        <a:srgbClr val="D9DCE5"/>
                      </a:solidFill>
                    </a:lnR>
                    <a:lnT w="9525">
                      <a:solidFill>
                        <a:srgbClr val="D9DCE5"/>
                      </a:solidFill>
                    </a:lnT>
                    <a:lnB w="9525">
                      <a:solidFill>
                        <a:srgbClr val="D9DCE5"/>
                      </a:solidFill>
                    </a:lnB>
                    <a:solidFill>
                      <a:srgbClr val="FDEBD9"/>
                    </a:solidFill>
                  </a:tcPr>
                </a:tc>
                <a:extLst>
                  <a:ext uri="{0D108BD9-81ED-4DB2-BD59-A6C34878D82A}">
                    <a16:rowId xmlns:a16="http://schemas.microsoft.com/office/drawing/2014/main" val="10001"/>
                  </a:ext>
                </a:extLst>
              </a:tr>
              <a:tr h="566928">
                <a:tc>
                  <a:txBody>
                    <a:bodyPr/>
                    <a:lstStyle/>
                    <a:p>
                      <a:pPr algn="ctr" latinLnBrk="0">
                        <a:lnSpc>
                          <a:spcPct val="112000"/>
                        </a:lnSpc>
                        <a:spcBef>
                          <a:spcPts val="0"/>
                        </a:spcBef>
                        <a:spcAft>
                          <a:spcPts val="0"/>
                        </a:spcAft>
                        <a:buNone/>
                      </a:pPr>
                      <a:r>
                        <a:rPr lang="ko-KR" altLang="en-US" sz="1450" b="1">
                          <a:solidFill>
                            <a:srgbClr val="363A52"/>
                          </a:solidFill>
                          <a:latin typeface="210 OmniGothic 040"/>
                          <a:ea typeface="210 OmniGothic 040"/>
                          <a:cs typeface="210 OmniGothic 040"/>
                        </a:rPr>
                        <a:t>판단 근거</a:t>
                      </a:r>
                    </a:p>
                  </a:txBody>
                  <a:tcPr marL="109728" marR="10972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latinLnBrk="0">
                        <a:lnSpc>
                          <a:spcPct val="112000"/>
                        </a:lnSpc>
                        <a:spcBef>
                          <a:spcPts val="0"/>
                        </a:spcBef>
                        <a:spcAft>
                          <a:spcPts val="0"/>
                        </a:spcAft>
                        <a:buNone/>
                      </a:pPr>
                      <a:r>
                        <a:rPr lang="ko-KR" altLang="en-US" sz="1400" b="0">
                          <a:solidFill>
                            <a:srgbClr val="6B7080"/>
                          </a:solidFill>
                          <a:latin typeface="210 OmniGothic 030"/>
                          <a:ea typeface="210 OmniGothic 030"/>
                          <a:cs typeface="210 OmniGothic 030"/>
                        </a:rPr>
                        <a:t>100쪽 넘는 매뉴얼을 직접 찾아 확인</a:t>
                      </a:r>
                    </a:p>
                  </a:txBody>
                  <a:tcPr marL="228600" marR="10972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latinLnBrk="0">
                        <a:lnSpc>
                          <a:spcPct val="112000"/>
                        </a:lnSpc>
                        <a:spcBef>
                          <a:spcPts val="0"/>
                        </a:spcBef>
                        <a:spcAft>
                          <a:spcPts val="0"/>
                        </a:spcAft>
                        <a:buNone/>
                      </a:pPr>
                      <a:r>
                        <a:rPr lang="ko-KR" altLang="en-US" sz="1400" b="1">
                          <a:solidFill>
                            <a:srgbClr val="2E3142"/>
                          </a:solidFill>
                          <a:latin typeface="210 OmniGothic 040"/>
                          <a:ea typeface="210 OmniGothic 040"/>
                          <a:cs typeface="210 OmniGothic 040"/>
                        </a:rPr>
                        <a:t>판단 항목 14개별 제안과 근거를 자동 제시</a:t>
                      </a:r>
                    </a:p>
                  </a:txBody>
                  <a:tcPr marL="228600" marR="109728" anchor="ctr">
                    <a:lnL w="9525">
                      <a:solidFill>
                        <a:srgbClr val="D9DCE5"/>
                      </a:solidFill>
                    </a:lnL>
                    <a:lnR w="9525">
                      <a:solidFill>
                        <a:srgbClr val="D9DCE5"/>
                      </a:solidFill>
                    </a:lnR>
                    <a:lnT w="9525">
                      <a:solidFill>
                        <a:srgbClr val="D9DCE5"/>
                      </a:solidFill>
                    </a:lnT>
                    <a:lnB w="9525">
                      <a:solidFill>
                        <a:srgbClr val="D9DCE5"/>
                      </a:solidFill>
                    </a:lnB>
                    <a:solidFill>
                      <a:srgbClr val="FDEBD9"/>
                    </a:solidFill>
                  </a:tcPr>
                </a:tc>
                <a:extLst>
                  <a:ext uri="{0D108BD9-81ED-4DB2-BD59-A6C34878D82A}">
                    <a16:rowId xmlns:a16="http://schemas.microsoft.com/office/drawing/2014/main" val="10002"/>
                  </a:ext>
                </a:extLst>
              </a:tr>
              <a:tr h="566928">
                <a:tc>
                  <a:txBody>
                    <a:bodyPr/>
                    <a:lstStyle/>
                    <a:p>
                      <a:pPr algn="ctr" latinLnBrk="0">
                        <a:lnSpc>
                          <a:spcPct val="112000"/>
                        </a:lnSpc>
                        <a:spcBef>
                          <a:spcPts val="0"/>
                        </a:spcBef>
                        <a:spcAft>
                          <a:spcPts val="0"/>
                        </a:spcAft>
                        <a:buNone/>
                      </a:pPr>
                      <a:r>
                        <a:rPr lang="ko-KR" altLang="en-US" sz="1450" b="1">
                          <a:solidFill>
                            <a:srgbClr val="363A52"/>
                          </a:solidFill>
                          <a:latin typeface="210 OmniGothic 040"/>
                          <a:ea typeface="210 OmniGothic 040"/>
                          <a:cs typeface="210 OmniGothic 040"/>
                        </a:rPr>
                        <a:t>대응안 작성</a:t>
                      </a:r>
                    </a:p>
                  </a:txBody>
                  <a:tcPr marL="109728" marR="10972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latinLnBrk="0">
                        <a:lnSpc>
                          <a:spcPct val="112000"/>
                        </a:lnSpc>
                        <a:spcBef>
                          <a:spcPts val="0"/>
                        </a:spcBef>
                        <a:spcAft>
                          <a:spcPts val="0"/>
                        </a:spcAft>
                        <a:buNone/>
                      </a:pPr>
                      <a:r>
                        <a:rPr lang="ko-KR" altLang="en-US" sz="1400" b="0">
                          <a:solidFill>
                            <a:srgbClr val="6B7080"/>
                          </a:solidFill>
                          <a:latin typeface="210 OmniGothic 030"/>
                          <a:ea typeface="210 OmniGothic 030"/>
                          <a:cs typeface="210 OmniGothic 030"/>
                        </a:rPr>
                        <a:t>회차별 수작업 발행, 조항 표기 없음</a:t>
                      </a:r>
                    </a:p>
                  </a:txBody>
                  <a:tcPr marL="228600" marR="10972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latinLnBrk="0">
                        <a:lnSpc>
                          <a:spcPct val="112000"/>
                        </a:lnSpc>
                        <a:spcBef>
                          <a:spcPts val="0"/>
                        </a:spcBef>
                        <a:spcAft>
                          <a:spcPts val="0"/>
                        </a:spcAft>
                        <a:buNone/>
                      </a:pPr>
                      <a:r>
                        <a:rPr lang="ko-KR" altLang="en-US" sz="1400" b="1">
                          <a:solidFill>
                            <a:srgbClr val="2E3142"/>
                          </a:solidFill>
                          <a:latin typeface="210 OmniGothic 040"/>
                          <a:ea typeface="210 OmniGothic 040"/>
                          <a:cs typeface="210 OmniGothic 040"/>
                        </a:rPr>
                        <a:t>예측 갱신·상황 정정마다 새 버전 자동 생성</a:t>
                      </a:r>
                    </a:p>
                  </a:txBody>
                  <a:tcPr marL="228600" marR="109728" anchor="ctr">
                    <a:lnL w="9525">
                      <a:solidFill>
                        <a:srgbClr val="D9DCE5"/>
                      </a:solidFill>
                    </a:lnL>
                    <a:lnR w="9525">
                      <a:solidFill>
                        <a:srgbClr val="D9DCE5"/>
                      </a:solidFill>
                    </a:lnR>
                    <a:lnT w="9525">
                      <a:solidFill>
                        <a:srgbClr val="D9DCE5"/>
                      </a:solidFill>
                    </a:lnT>
                    <a:lnB w="9525">
                      <a:solidFill>
                        <a:srgbClr val="D9DCE5"/>
                      </a:solidFill>
                    </a:lnB>
                    <a:solidFill>
                      <a:srgbClr val="FDEBD9"/>
                    </a:solidFill>
                  </a:tcPr>
                </a:tc>
                <a:extLst>
                  <a:ext uri="{0D108BD9-81ED-4DB2-BD59-A6C34878D82A}">
                    <a16:rowId xmlns:a16="http://schemas.microsoft.com/office/drawing/2014/main" val="10003"/>
                  </a:ext>
                </a:extLst>
              </a:tr>
              <a:tr h="566928">
                <a:tc>
                  <a:txBody>
                    <a:bodyPr/>
                    <a:lstStyle/>
                    <a:p>
                      <a:pPr algn="ctr" latinLnBrk="0">
                        <a:lnSpc>
                          <a:spcPct val="112000"/>
                        </a:lnSpc>
                        <a:spcBef>
                          <a:spcPts val="0"/>
                        </a:spcBef>
                        <a:spcAft>
                          <a:spcPts val="0"/>
                        </a:spcAft>
                        <a:buNone/>
                      </a:pPr>
                      <a:r>
                        <a:rPr lang="ko-KR" altLang="en-US" sz="1450" b="1">
                          <a:solidFill>
                            <a:srgbClr val="363A52"/>
                          </a:solidFill>
                          <a:latin typeface="210 OmniGothic 040"/>
                          <a:ea typeface="210 OmniGothic 040"/>
                          <a:cs typeface="210 OmniGothic 040"/>
                        </a:rPr>
                        <a:t>AI 활용</a:t>
                      </a:r>
                    </a:p>
                  </a:txBody>
                  <a:tcPr marL="109728" marR="10972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latinLnBrk="0">
                        <a:lnSpc>
                          <a:spcPct val="112000"/>
                        </a:lnSpc>
                        <a:spcBef>
                          <a:spcPts val="0"/>
                        </a:spcBef>
                        <a:spcAft>
                          <a:spcPts val="0"/>
                        </a:spcAft>
                        <a:buNone/>
                      </a:pPr>
                      <a:r>
                        <a:rPr lang="ko-KR" altLang="en-US" sz="1400" b="0">
                          <a:solidFill>
                            <a:srgbClr val="6B7080"/>
                          </a:solidFill>
                          <a:latin typeface="210 OmniGothic 030"/>
                          <a:ea typeface="210 OmniGothic 030"/>
                          <a:cs typeface="210 OmniGothic 030"/>
                        </a:rPr>
                        <a:t>범용 LLM은 근거 없이 생성</a:t>
                      </a:r>
                    </a:p>
                  </a:txBody>
                  <a:tcPr marL="228600" marR="10972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latinLnBrk="0">
                        <a:lnSpc>
                          <a:spcPct val="112000"/>
                        </a:lnSpc>
                        <a:spcBef>
                          <a:spcPts val="0"/>
                        </a:spcBef>
                        <a:spcAft>
                          <a:spcPts val="0"/>
                        </a:spcAft>
                        <a:buNone/>
                      </a:pPr>
                      <a:r>
                        <a:rPr lang="ko-KR" altLang="en-US" sz="1400" b="1">
                          <a:solidFill>
                            <a:srgbClr val="2E3142"/>
                          </a:solidFill>
                          <a:latin typeface="210 OmniGothic 040"/>
                          <a:ea typeface="210 OmniGothic 040"/>
                          <a:cs typeface="210 OmniGothic 040"/>
                        </a:rPr>
                        <a:t>조항을 인용해 답변, 판정 값은 규칙 엔진이 고정</a:t>
                      </a:r>
                    </a:p>
                  </a:txBody>
                  <a:tcPr marL="228600" marR="109728" anchor="ctr">
                    <a:lnL w="9525">
                      <a:solidFill>
                        <a:srgbClr val="D9DCE5"/>
                      </a:solidFill>
                    </a:lnL>
                    <a:lnR w="9525">
                      <a:solidFill>
                        <a:srgbClr val="D9DCE5"/>
                      </a:solidFill>
                    </a:lnR>
                    <a:lnT w="9525">
                      <a:solidFill>
                        <a:srgbClr val="D9DCE5"/>
                      </a:solidFill>
                    </a:lnT>
                    <a:lnB w="9525">
                      <a:solidFill>
                        <a:srgbClr val="D9DCE5"/>
                      </a:solidFill>
                    </a:lnB>
                    <a:solidFill>
                      <a:srgbClr val="FDEBD9"/>
                    </a:solidFill>
                  </a:tcPr>
                </a:tc>
                <a:extLst>
                  <a:ext uri="{0D108BD9-81ED-4DB2-BD59-A6C34878D82A}">
                    <a16:rowId xmlns:a16="http://schemas.microsoft.com/office/drawing/2014/main" val="10004"/>
                  </a:ext>
                </a:extLst>
              </a:tr>
              <a:tr h="566928">
                <a:tc>
                  <a:txBody>
                    <a:bodyPr/>
                    <a:lstStyle/>
                    <a:p>
                      <a:pPr algn="ctr" latinLnBrk="0">
                        <a:lnSpc>
                          <a:spcPct val="112000"/>
                        </a:lnSpc>
                        <a:spcBef>
                          <a:spcPts val="0"/>
                        </a:spcBef>
                        <a:spcAft>
                          <a:spcPts val="0"/>
                        </a:spcAft>
                        <a:buNone/>
                      </a:pPr>
                      <a:r>
                        <a:rPr lang="ko-KR" altLang="en-US" sz="1450" b="1">
                          <a:solidFill>
                            <a:srgbClr val="363A52"/>
                          </a:solidFill>
                          <a:latin typeface="210 OmniGothic 040"/>
                          <a:ea typeface="210 OmniGothic 040"/>
                          <a:cs typeface="210 OmniGothic 040"/>
                        </a:rPr>
                        <a:t>보안·운용</a:t>
                      </a:r>
                    </a:p>
                  </a:txBody>
                  <a:tcPr marL="109728" marR="10972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latinLnBrk="0">
                        <a:lnSpc>
                          <a:spcPct val="112000"/>
                        </a:lnSpc>
                        <a:spcBef>
                          <a:spcPts val="0"/>
                        </a:spcBef>
                        <a:spcAft>
                          <a:spcPts val="0"/>
                        </a:spcAft>
                        <a:buNone/>
                      </a:pPr>
                      <a:r>
                        <a:rPr lang="ko-KR" altLang="en-US" sz="1400" b="0">
                          <a:solidFill>
                            <a:srgbClr val="6B7080"/>
                          </a:solidFill>
                          <a:latin typeface="210 OmniGothic 030"/>
                          <a:ea typeface="210 OmniGothic 030"/>
                          <a:cs typeface="210 OmniGothic 030"/>
                        </a:rPr>
                        <a:t>상용 API는 자료 유출 우려</a:t>
                      </a:r>
                    </a:p>
                  </a:txBody>
                  <a:tcPr marL="228600" marR="10972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latinLnBrk="0">
                        <a:lnSpc>
                          <a:spcPct val="112000"/>
                        </a:lnSpc>
                        <a:spcBef>
                          <a:spcPts val="0"/>
                        </a:spcBef>
                        <a:spcAft>
                          <a:spcPts val="0"/>
                        </a:spcAft>
                        <a:buNone/>
                      </a:pPr>
                      <a:r>
                        <a:rPr lang="ko-KR" altLang="en-US" sz="1400" b="1">
                          <a:solidFill>
                            <a:srgbClr val="2E3142"/>
                          </a:solidFill>
                          <a:latin typeface="210 OmniGothic 040"/>
                          <a:ea typeface="210 OmniGothic 040"/>
                          <a:cs typeface="210 OmniGothic 040"/>
                        </a:rPr>
                        <a:t>국내 공개 모델을 내부 서버에서 운용</a:t>
                      </a:r>
                    </a:p>
                  </a:txBody>
                  <a:tcPr marL="228600" marR="109728" anchor="ctr">
                    <a:lnL w="9525">
                      <a:solidFill>
                        <a:srgbClr val="D9DCE5"/>
                      </a:solidFill>
                    </a:lnL>
                    <a:lnR w="9525">
                      <a:solidFill>
                        <a:srgbClr val="D9DCE5"/>
                      </a:solidFill>
                    </a:lnR>
                    <a:lnT w="9525">
                      <a:solidFill>
                        <a:srgbClr val="D9DCE5"/>
                      </a:solidFill>
                    </a:lnT>
                    <a:lnB w="9525">
                      <a:solidFill>
                        <a:srgbClr val="D9DCE5"/>
                      </a:solidFill>
                    </a:lnB>
                    <a:solidFill>
                      <a:srgbClr val="FDEBD9"/>
                    </a:solidFill>
                  </a:tcPr>
                </a:tc>
                <a:extLst>
                  <a:ext uri="{0D108BD9-81ED-4DB2-BD59-A6C34878D82A}">
                    <a16:rowId xmlns:a16="http://schemas.microsoft.com/office/drawing/2014/main" val="10005"/>
                  </a:ext>
                </a:extLst>
              </a:tr>
            </a:tbl>
          </a:graphicData>
        </a:graphic>
      </p:graphicFrame>
      <p:sp>
        <p:nvSpPr>
          <p:cNvPr id="5053" name="TextBox 5052"/>
          <p:cNvSpPr txBox="1"/>
          <p:nvPr/>
        </p:nvSpPr>
        <p:spPr>
          <a:xfrm>
            <a:off x="6446520" y="6053328"/>
            <a:ext cx="3657600" cy="329184"/>
          </a:xfrm>
          <a:prstGeom prst="rect">
            <a:avLst/>
          </a:prstGeom>
          <a:noFill/>
        </p:spPr>
        <p:txBody>
          <a:bodyPr wrap="square" lIns="0" tIns="0" rIns="0" bIns="0" rtlCol="0" anchor="ctr">
            <a:noAutofit/>
          </a:bodyPr>
          <a:lstStyle/>
          <a:p>
            <a:pPr algn="l" latinLnBrk="0">
              <a:lnSpc>
                <a:spcPct val="120000"/>
              </a:lnSpc>
              <a:spcBef>
                <a:spcPts val="0"/>
              </a:spcBef>
              <a:spcAft>
                <a:spcPts val="0"/>
              </a:spcAft>
              <a:buNone/>
            </a:pPr>
            <a:r>
              <a:rPr lang="ko-KR" altLang="en-US" sz="1800" b="1">
                <a:solidFill>
                  <a:srgbClr val="363A52"/>
                </a:solidFill>
                <a:latin typeface="210 OmniGothic 040"/>
                <a:ea typeface="210 OmniGothic 040"/>
                <a:cs typeface="210 OmniGothic 040"/>
              </a:rPr>
              <a:t>주체별 기대 효과</a:t>
            </a:r>
          </a:p>
        </p:txBody>
      </p:sp>
      <p:sp>
        <p:nvSpPr>
          <p:cNvPr id="5054" name="TextBox 5053"/>
          <p:cNvSpPr txBox="1"/>
          <p:nvPr/>
        </p:nvSpPr>
        <p:spPr>
          <a:xfrm>
            <a:off x="10104120" y="6053328"/>
            <a:ext cx="7315200" cy="329184"/>
          </a:xfrm>
          <a:prstGeom prst="rect">
            <a:avLst/>
          </a:prstGeom>
          <a:noFill/>
        </p:spPr>
        <p:txBody>
          <a:bodyPr wrap="square" lIns="0" tIns="0" rIns="0" bIns="0" rtlCol="0" anchor="ctr">
            <a:noAutofit/>
          </a:bodyPr>
          <a:lstStyle/>
          <a:p>
            <a:pPr algn="r" latinLnBrk="0">
              <a:lnSpc>
                <a:spcPct val="120000"/>
              </a:lnSpc>
              <a:spcBef>
                <a:spcPts val="0"/>
              </a:spcBef>
              <a:spcAft>
                <a:spcPts val="0"/>
              </a:spcAft>
              <a:buNone/>
            </a:pPr>
            <a:r>
              <a:rPr lang="ko-KR" altLang="en-US" sz="1150" b="0">
                <a:solidFill>
                  <a:srgbClr val="7B8094"/>
                </a:solidFill>
                <a:latin typeface="210 OmniGothic 030"/>
                <a:ea typeface="210 OmniGothic 030"/>
                <a:cs typeface="210 OmniGothic 030"/>
              </a:rPr>
              <a:t>※ 측정한 수치가 아니라 시나리오 비교로 확인할 대상입니다</a:t>
            </a:r>
          </a:p>
        </p:txBody>
      </p:sp>
      <p:sp>
        <p:nvSpPr>
          <p:cNvPr id="5055" name="Effect 1"/>
          <p:cNvSpPr/>
          <p:nvPr/>
        </p:nvSpPr>
        <p:spPr>
          <a:xfrm>
            <a:off x="6446520" y="6519672"/>
            <a:ext cx="5394960" cy="1042416"/>
          </a:xfrm>
          <a:prstGeom prst="roundRect">
            <a:avLst>
              <a:gd name="adj" fmla="val 14035"/>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latinLnBrk="0">
              <a:lnSpc>
                <a:spcPct val="120000"/>
              </a:lnSpc>
              <a:spcBef>
                <a:spcPts val="0"/>
              </a:spcBef>
              <a:spcAft>
                <a:spcPts val="0"/>
              </a:spcAft>
              <a:buNone/>
            </a:pPr>
            <a:endParaRPr/>
          </a:p>
        </p:txBody>
      </p:sp>
      <p:sp>
        <p:nvSpPr>
          <p:cNvPr id="5056" name="TextBox 5055"/>
          <p:cNvSpPr txBox="1"/>
          <p:nvPr/>
        </p:nvSpPr>
        <p:spPr>
          <a:xfrm>
            <a:off x="6720840" y="6702552"/>
            <a:ext cx="4846320" cy="292608"/>
          </a:xfrm>
          <a:prstGeom prst="rect">
            <a:avLst/>
          </a:prstGeom>
          <a:noFill/>
        </p:spPr>
        <p:txBody>
          <a:bodyPr wrap="square" lIns="0" tIns="0" rIns="0" bIns="0" rtlCol="0" anchor="ctr">
            <a:noAutofit/>
          </a:bodyPr>
          <a:lstStyle/>
          <a:p>
            <a:pPr algn="l" latinLnBrk="0">
              <a:lnSpc>
                <a:spcPct val="120000"/>
              </a:lnSpc>
              <a:spcBef>
                <a:spcPts val="0"/>
              </a:spcBef>
              <a:spcAft>
                <a:spcPts val="0"/>
              </a:spcAft>
              <a:buNone/>
            </a:pPr>
            <a:r>
              <a:rPr lang="ko-KR" altLang="en-US" sz="1550" b="1">
                <a:solidFill>
                  <a:srgbClr val="363A52"/>
                </a:solidFill>
                <a:latin typeface="210 OmniGothic 040"/>
                <a:ea typeface="210 OmniGothic 040"/>
                <a:cs typeface="210 OmniGothic 040"/>
              </a:rPr>
              <a:t>통합지휘권자</a:t>
            </a:r>
            <a:r>
              <a:rPr lang="ko-KR" altLang="en-US" sz="1200" b="0">
                <a:solidFill>
                  <a:srgbClr val="6B7080"/>
                </a:solidFill>
                <a:latin typeface="210 OmniGothic 040"/>
                <a:ea typeface="210 OmniGothic 040"/>
                <a:cs typeface="210 OmniGothic 040"/>
              </a:rPr>
              <a:t>   시장·군수·구청장</a:t>
            </a:r>
          </a:p>
        </p:txBody>
      </p:sp>
      <p:sp>
        <p:nvSpPr>
          <p:cNvPr id="5057" name="TextBox 5056"/>
          <p:cNvSpPr txBox="1"/>
          <p:nvPr/>
        </p:nvSpPr>
        <p:spPr>
          <a:xfrm>
            <a:off x="6720840" y="7086600"/>
            <a:ext cx="4846320" cy="310896"/>
          </a:xfrm>
          <a:prstGeom prst="rect">
            <a:avLst/>
          </a:prstGeom>
          <a:noFill/>
        </p:spPr>
        <p:txBody>
          <a:bodyPr wrap="square" lIns="0" tIns="0" rIns="0" bIns="0" rtlCol="0" anchor="ctr">
            <a:noAutofit/>
          </a:bodyPr>
          <a:lstStyle/>
          <a:p>
            <a:pPr algn="l" latinLnBrk="0">
              <a:lnSpc>
                <a:spcPct val="120000"/>
              </a:lnSpc>
              <a:spcBef>
                <a:spcPts val="0"/>
              </a:spcBef>
              <a:spcAft>
                <a:spcPts val="0"/>
              </a:spcAft>
              <a:buNone/>
            </a:pPr>
            <a:r>
              <a:rPr lang="ko-KR" altLang="en-US" sz="1350" b="0">
                <a:solidFill>
                  <a:srgbClr val="2E3142"/>
                </a:solidFill>
                <a:latin typeface="210 OmniGothic 040"/>
                <a:ea typeface="210 OmniGothic 040"/>
                <a:cs typeface="210 OmniGothic 040"/>
              </a:rPr>
              <a:t>근거와 함께 검토해 신속한 결정에 도움이 될 수 있음</a:t>
            </a:r>
          </a:p>
        </p:txBody>
      </p:sp>
      <p:sp>
        <p:nvSpPr>
          <p:cNvPr id="5058" name="Effect 2"/>
          <p:cNvSpPr/>
          <p:nvPr/>
        </p:nvSpPr>
        <p:spPr>
          <a:xfrm>
            <a:off x="12024360" y="6519672"/>
            <a:ext cx="5394960" cy="1042416"/>
          </a:xfrm>
          <a:prstGeom prst="roundRect">
            <a:avLst>
              <a:gd name="adj" fmla="val 14035"/>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latinLnBrk="0">
              <a:lnSpc>
                <a:spcPct val="120000"/>
              </a:lnSpc>
              <a:spcBef>
                <a:spcPts val="0"/>
              </a:spcBef>
              <a:spcAft>
                <a:spcPts val="0"/>
              </a:spcAft>
              <a:buNone/>
            </a:pPr>
            <a:endParaRPr/>
          </a:p>
        </p:txBody>
      </p:sp>
      <p:sp>
        <p:nvSpPr>
          <p:cNvPr id="5059" name="TextBox 5058"/>
          <p:cNvSpPr txBox="1"/>
          <p:nvPr/>
        </p:nvSpPr>
        <p:spPr>
          <a:xfrm>
            <a:off x="12298680" y="6702552"/>
            <a:ext cx="4846320" cy="292608"/>
          </a:xfrm>
          <a:prstGeom prst="rect">
            <a:avLst/>
          </a:prstGeom>
          <a:noFill/>
        </p:spPr>
        <p:txBody>
          <a:bodyPr wrap="square" lIns="0" tIns="0" rIns="0" bIns="0" rtlCol="0" anchor="ctr">
            <a:noAutofit/>
          </a:bodyPr>
          <a:lstStyle/>
          <a:p>
            <a:pPr algn="l" latinLnBrk="0">
              <a:lnSpc>
                <a:spcPct val="120000"/>
              </a:lnSpc>
              <a:spcBef>
                <a:spcPts val="0"/>
              </a:spcBef>
              <a:spcAft>
                <a:spcPts val="0"/>
              </a:spcAft>
              <a:buNone/>
            </a:pPr>
            <a:r>
              <a:rPr lang="ko-KR" altLang="en-US" sz="1550" b="1">
                <a:solidFill>
                  <a:srgbClr val="363A52"/>
                </a:solidFill>
                <a:latin typeface="210 OmniGothic 040"/>
                <a:ea typeface="210 OmniGothic 040"/>
                <a:cs typeface="210 OmniGothic 040"/>
              </a:rPr>
              <a:t>지자체 실무자</a:t>
            </a:r>
            <a:r>
              <a:rPr lang="ko-KR" altLang="en-US" sz="1200" b="0">
                <a:solidFill>
                  <a:srgbClr val="6B7080"/>
                </a:solidFill>
                <a:latin typeface="210 OmniGothic 040"/>
                <a:ea typeface="210 OmniGothic 040"/>
                <a:cs typeface="210 OmniGothic 040"/>
              </a:rPr>
              <a:t>   상황 보고자·전산 관리자</a:t>
            </a:r>
          </a:p>
        </p:txBody>
      </p:sp>
      <p:sp>
        <p:nvSpPr>
          <p:cNvPr id="5060" name="TextBox 5059"/>
          <p:cNvSpPr txBox="1"/>
          <p:nvPr/>
        </p:nvSpPr>
        <p:spPr>
          <a:xfrm>
            <a:off x="12298680" y="7086600"/>
            <a:ext cx="4846320" cy="310896"/>
          </a:xfrm>
          <a:prstGeom prst="rect">
            <a:avLst/>
          </a:prstGeom>
          <a:noFill/>
        </p:spPr>
        <p:txBody>
          <a:bodyPr wrap="square" lIns="0" tIns="0" rIns="0" bIns="0" rtlCol="0" anchor="ctr">
            <a:noAutofit/>
          </a:bodyPr>
          <a:lstStyle/>
          <a:p>
            <a:pPr algn="l" latinLnBrk="0">
              <a:lnSpc>
                <a:spcPct val="120000"/>
              </a:lnSpc>
              <a:spcBef>
                <a:spcPts val="0"/>
              </a:spcBef>
              <a:spcAft>
                <a:spcPts val="0"/>
              </a:spcAft>
              <a:buNone/>
            </a:pPr>
            <a:r>
              <a:rPr lang="ko-KR" altLang="en-US" sz="1350" b="0">
                <a:solidFill>
                  <a:srgbClr val="2E3142"/>
                </a:solidFill>
                <a:latin typeface="210 OmniGothic 040"/>
                <a:ea typeface="210 OmniGothic 040"/>
                <a:cs typeface="210 OmniGothic 040"/>
              </a:rPr>
              <a:t>보고한 화선으로 재예측·제안이 이어져 보고 부담이 줄 수 있음</a:t>
            </a:r>
          </a:p>
        </p:txBody>
      </p:sp>
      <p:sp>
        <p:nvSpPr>
          <p:cNvPr id="5061" name="Effect 3"/>
          <p:cNvSpPr/>
          <p:nvPr/>
        </p:nvSpPr>
        <p:spPr>
          <a:xfrm>
            <a:off x="6446520" y="7708392"/>
            <a:ext cx="5394960" cy="1042416"/>
          </a:xfrm>
          <a:prstGeom prst="roundRect">
            <a:avLst>
              <a:gd name="adj" fmla="val 14035"/>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latinLnBrk="0">
              <a:lnSpc>
                <a:spcPct val="120000"/>
              </a:lnSpc>
              <a:spcBef>
                <a:spcPts val="0"/>
              </a:spcBef>
              <a:spcAft>
                <a:spcPts val="0"/>
              </a:spcAft>
              <a:buNone/>
            </a:pPr>
            <a:endParaRPr/>
          </a:p>
        </p:txBody>
      </p:sp>
      <p:sp>
        <p:nvSpPr>
          <p:cNvPr id="5062" name="TextBox 5061"/>
          <p:cNvSpPr txBox="1"/>
          <p:nvPr/>
        </p:nvSpPr>
        <p:spPr>
          <a:xfrm>
            <a:off x="6720840" y="7891272"/>
            <a:ext cx="4846320" cy="292608"/>
          </a:xfrm>
          <a:prstGeom prst="rect">
            <a:avLst/>
          </a:prstGeom>
          <a:noFill/>
        </p:spPr>
        <p:txBody>
          <a:bodyPr wrap="square" lIns="0" tIns="0" rIns="0" bIns="0" rtlCol="0" anchor="ctr">
            <a:noAutofit/>
          </a:bodyPr>
          <a:lstStyle/>
          <a:p>
            <a:pPr algn="l" latinLnBrk="0">
              <a:lnSpc>
                <a:spcPct val="120000"/>
              </a:lnSpc>
              <a:spcBef>
                <a:spcPts val="0"/>
              </a:spcBef>
              <a:spcAft>
                <a:spcPts val="0"/>
              </a:spcAft>
              <a:buNone/>
            </a:pPr>
            <a:r>
              <a:rPr lang="ko-KR" altLang="en-US" sz="1550" b="1">
                <a:solidFill>
                  <a:srgbClr val="363A52"/>
                </a:solidFill>
                <a:latin typeface="210 OmniGothic 040"/>
                <a:ea typeface="210 OmniGothic 040"/>
                <a:cs typeface="210 OmniGothic 040"/>
              </a:rPr>
              <a:t>산림청·유관기관</a:t>
            </a:r>
            <a:r>
              <a:rPr lang="ko-KR" altLang="en-US" sz="1200" b="0">
                <a:solidFill>
                  <a:srgbClr val="6B7080"/>
                </a:solidFill>
                <a:latin typeface="210 OmniGothic 040"/>
                <a:ea typeface="210 OmniGothic 040"/>
                <a:cs typeface="210 OmniGothic 040"/>
              </a:rPr>
              <a:t>   소방·경찰·군 등</a:t>
            </a:r>
          </a:p>
        </p:txBody>
      </p:sp>
      <p:sp>
        <p:nvSpPr>
          <p:cNvPr id="5063" name="TextBox 5062"/>
          <p:cNvSpPr txBox="1"/>
          <p:nvPr/>
        </p:nvSpPr>
        <p:spPr>
          <a:xfrm>
            <a:off x="6720840" y="8275320"/>
            <a:ext cx="4846320" cy="310896"/>
          </a:xfrm>
          <a:prstGeom prst="rect">
            <a:avLst/>
          </a:prstGeom>
          <a:noFill/>
        </p:spPr>
        <p:txBody>
          <a:bodyPr wrap="square" lIns="0" tIns="0" rIns="0" bIns="0" rtlCol="0" anchor="ctr">
            <a:noAutofit/>
          </a:bodyPr>
          <a:lstStyle/>
          <a:p>
            <a:pPr algn="l" latinLnBrk="0">
              <a:lnSpc>
                <a:spcPct val="120000"/>
              </a:lnSpc>
              <a:spcBef>
                <a:spcPts val="0"/>
              </a:spcBef>
              <a:spcAft>
                <a:spcPts val="0"/>
              </a:spcAft>
              <a:buNone/>
            </a:pPr>
            <a:r>
              <a:rPr lang="ko-KR" altLang="en-US" sz="1350" b="0">
                <a:solidFill>
                  <a:srgbClr val="2E3142"/>
                </a:solidFill>
                <a:latin typeface="210 OmniGothic 040"/>
                <a:ea typeface="210 OmniGothic 040"/>
                <a:cs typeface="210 OmniGothic 040"/>
              </a:rPr>
              <a:t>같은 상황도를 보며 지원 여부를 판단할 수 있음</a:t>
            </a:r>
          </a:p>
        </p:txBody>
      </p:sp>
      <p:sp>
        <p:nvSpPr>
          <p:cNvPr id="5064" name="Effect 4"/>
          <p:cNvSpPr/>
          <p:nvPr/>
        </p:nvSpPr>
        <p:spPr>
          <a:xfrm>
            <a:off x="12024360" y="7708392"/>
            <a:ext cx="5394960" cy="1042416"/>
          </a:xfrm>
          <a:prstGeom prst="roundRect">
            <a:avLst>
              <a:gd name="adj" fmla="val 14035"/>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latinLnBrk="0">
              <a:lnSpc>
                <a:spcPct val="120000"/>
              </a:lnSpc>
              <a:spcBef>
                <a:spcPts val="0"/>
              </a:spcBef>
              <a:spcAft>
                <a:spcPts val="0"/>
              </a:spcAft>
              <a:buNone/>
            </a:pPr>
            <a:endParaRPr/>
          </a:p>
        </p:txBody>
      </p:sp>
      <p:sp>
        <p:nvSpPr>
          <p:cNvPr id="5065" name="TextBox 5064"/>
          <p:cNvSpPr txBox="1"/>
          <p:nvPr/>
        </p:nvSpPr>
        <p:spPr>
          <a:xfrm>
            <a:off x="12298680" y="7891272"/>
            <a:ext cx="4846320" cy="292608"/>
          </a:xfrm>
          <a:prstGeom prst="rect">
            <a:avLst/>
          </a:prstGeom>
          <a:noFill/>
        </p:spPr>
        <p:txBody>
          <a:bodyPr wrap="square" lIns="0" tIns="0" rIns="0" bIns="0" rtlCol="0" anchor="ctr">
            <a:noAutofit/>
          </a:bodyPr>
          <a:lstStyle/>
          <a:p>
            <a:pPr algn="l" latinLnBrk="0">
              <a:lnSpc>
                <a:spcPct val="120000"/>
              </a:lnSpc>
              <a:spcBef>
                <a:spcPts val="0"/>
              </a:spcBef>
              <a:spcAft>
                <a:spcPts val="0"/>
              </a:spcAft>
              <a:buNone/>
            </a:pPr>
            <a:r>
              <a:rPr lang="ko-KR" altLang="en-US" sz="1550" b="1">
                <a:solidFill>
                  <a:srgbClr val="363A52"/>
                </a:solidFill>
                <a:latin typeface="210 OmniGothic 040"/>
                <a:ea typeface="210 OmniGothic 040"/>
                <a:cs typeface="210 OmniGothic 040"/>
              </a:rPr>
              <a:t>지역 주민</a:t>
            </a:r>
            <a:r>
              <a:rPr lang="ko-KR" altLang="en-US" sz="1200" b="0">
                <a:solidFill>
                  <a:srgbClr val="6B7080"/>
                </a:solidFill>
                <a:latin typeface="210 OmniGothic 040"/>
                <a:ea typeface="210 OmniGothic 040"/>
                <a:cs typeface="210 OmniGothic 040"/>
              </a:rPr>
              <a:t>   간접 효과</a:t>
            </a:r>
          </a:p>
        </p:txBody>
      </p:sp>
      <p:sp>
        <p:nvSpPr>
          <p:cNvPr id="5066" name="TextBox 5065"/>
          <p:cNvSpPr txBox="1"/>
          <p:nvPr/>
        </p:nvSpPr>
        <p:spPr>
          <a:xfrm>
            <a:off x="12298680" y="8275320"/>
            <a:ext cx="4846320" cy="310896"/>
          </a:xfrm>
          <a:prstGeom prst="rect">
            <a:avLst/>
          </a:prstGeom>
          <a:noFill/>
        </p:spPr>
        <p:txBody>
          <a:bodyPr wrap="square" lIns="0" tIns="0" rIns="0" bIns="0" rtlCol="0" anchor="ctr">
            <a:noAutofit/>
          </a:bodyPr>
          <a:lstStyle/>
          <a:p>
            <a:pPr algn="l" latinLnBrk="0">
              <a:lnSpc>
                <a:spcPct val="120000"/>
              </a:lnSpc>
              <a:spcBef>
                <a:spcPts val="0"/>
              </a:spcBef>
              <a:spcAft>
                <a:spcPts val="0"/>
              </a:spcAft>
              <a:buNone/>
            </a:pPr>
            <a:r>
              <a:rPr lang="ko-KR" altLang="en-US" sz="1350" b="0">
                <a:solidFill>
                  <a:srgbClr val="2E3142"/>
                </a:solidFill>
                <a:latin typeface="210 OmniGothic 040"/>
                <a:ea typeface="210 OmniGothic 040"/>
                <a:cs typeface="210 OmniGothic 040"/>
              </a:rPr>
              <a:t>대피 판단이 앞당겨지면 대피 지연 위험을 줄일 수 있음</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70" name="Picture 2"/>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700" y="-12700"/>
            <a:ext cx="18313400" cy="1638300"/>
          </a:xfrm>
          <a:prstGeom prst="rect">
            <a:avLst/>
          </a:prstGeom>
        </p:spPr>
      </p:pic>
      <p:pic>
        <p:nvPicPr>
          <p:cNvPr id="5271" name="Picture 4"/>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28" y="1618343"/>
            <a:ext cx="18313400" cy="8699500"/>
          </a:xfrm>
          <a:prstGeom prst="rect">
            <a:avLst/>
          </a:prstGeom>
        </p:spPr>
      </p:pic>
      <p:pic>
        <p:nvPicPr>
          <p:cNvPr id="5273" name="Picture 3"/>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5278100" y="203200"/>
            <a:ext cx="1676400" cy="1409700"/>
          </a:xfrm>
          <a:prstGeom prst="rect">
            <a:avLst/>
          </a:prstGeom>
        </p:spPr>
      </p:pic>
      <p:sp>
        <p:nvSpPr>
          <p:cNvPr id="5072" name="Title">
            <a:extLst>
              <a:ext uri="{FF2B5EF4-FFF2-40B4-BE49-F238E27FC236}">
                <a16:creationId xmlns:a16="http://schemas.microsoft.com/office/drawing/2014/main" id="{DEFA40C4-C8A5-41B8-8C2E-9F089E9B82B2}"/>
              </a:ext>
            </a:extLst>
          </p:cNvPr>
          <p:cNvSpPr>
            <a:spLocks noGrp="1"/>
          </p:cNvSpPr>
          <p:nvPr/>
        </p:nvSpPr>
        <p:spPr>
          <a:xfrm>
            <a:off x="822960" y="384048"/>
            <a:ext cx="13258800" cy="877824"/>
          </a:xfrm>
          <a:prstGeom prst="rect">
            <a:avLst/>
          </a:prstGeom>
          <a:noFill/>
        </p:spPr>
        <p:txBody>
          <a:bodyPr wrap="square" lIns="0" tIns="0" rIns="0" bIns="0" anchor="ctr">
            <a:spAutoFit/>
          </a:bodyPr>
          <a:lstStyle/>
          <a:p>
            <a:pPr algn="l">
              <a:buNone/>
            </a:pPr>
            <a:r>
              <a:rPr sz="4400" b="0" dirty="0">
                <a:solidFill>
                  <a:srgbClr val="FAA95A"/>
                </a:solidFill>
                <a:latin typeface="210 OmniGothic 050"/>
                <a:ea typeface="210 OmniGothic 050"/>
                <a:cs typeface="210 OmniGothic 050"/>
              </a:rPr>
              <a:t>01. </a:t>
            </a:r>
            <a:r>
              <a:rPr sz="4400" b="0" dirty="0" err="1">
                <a:solidFill>
                  <a:srgbClr val="FAA95A"/>
                </a:solidFill>
                <a:latin typeface="210 OmniGothic 050"/>
                <a:ea typeface="210 OmniGothic 050"/>
                <a:cs typeface="210 OmniGothic 050"/>
              </a:rPr>
              <a:t>프로젝트</a:t>
            </a:r>
            <a:r>
              <a:rPr sz="4400" b="0" dirty="0">
                <a:solidFill>
                  <a:srgbClr val="FAA95A"/>
                </a:solidFill>
                <a:latin typeface="210 OmniGothic 050"/>
                <a:ea typeface="210 OmniGothic 050"/>
                <a:cs typeface="210 OmniGothic 050"/>
              </a:rPr>
              <a:t> </a:t>
            </a:r>
            <a:r>
              <a:rPr sz="4400" b="0" dirty="0" err="1">
                <a:solidFill>
                  <a:srgbClr val="FAA95A"/>
                </a:solidFill>
                <a:latin typeface="210 OmniGothic 050"/>
                <a:ea typeface="210 OmniGothic 050"/>
                <a:cs typeface="210 OmniGothic 050"/>
              </a:rPr>
              <a:t>개요</a:t>
            </a:r>
            <a:endParaRPr sz="4400" b="0" dirty="0">
              <a:solidFill>
                <a:srgbClr val="FAA95A"/>
              </a:solidFill>
              <a:latin typeface="210 OmniGothic 050"/>
              <a:ea typeface="210 OmniGothic 050"/>
              <a:cs typeface="210 OmniGothic 050"/>
            </a:endParaRPr>
          </a:p>
        </p:txBody>
      </p:sp>
      <p:sp>
        <p:nvSpPr>
          <p:cNvPr id="5073" name="Subtitle">
            <a:extLst>
              <a:ext uri="{FF2B5EF4-FFF2-40B4-BE49-F238E27FC236}">
                <a16:creationId xmlns:a16="http://schemas.microsoft.com/office/drawing/2014/main" id="{7F034385-646B-4F28-98D5-5C2C9CD07C37}"/>
              </a:ext>
            </a:extLst>
          </p:cNvPr>
          <p:cNvSpPr>
            <a:spLocks noGrp="1"/>
          </p:cNvSpPr>
          <p:nvPr/>
        </p:nvSpPr>
        <p:spPr>
          <a:xfrm>
            <a:off x="822960" y="1764792"/>
            <a:ext cx="16642080" cy="502920"/>
          </a:xfrm>
          <a:prstGeom prst="rect">
            <a:avLst/>
          </a:prstGeom>
          <a:noFill/>
        </p:spPr>
        <p:txBody>
          <a:bodyPr wrap="square" lIns="0" tIns="0" rIns="0" bIns="0" anchor="ctr">
            <a:spAutoFit/>
          </a:bodyPr>
          <a:lstStyle/>
          <a:p>
            <a:pPr algn="ctr">
              <a:buNone/>
            </a:pPr>
            <a:r>
              <a:rPr sz="2600" b="1">
                <a:solidFill>
                  <a:srgbClr val="363A52"/>
                </a:solidFill>
                <a:latin typeface="210 OmniGothic 040"/>
                <a:ea typeface="210 OmniGothic 040"/>
                <a:cs typeface="210 OmniGothic 040"/>
              </a:rPr>
              <a:t>시스템 구성도 — 물리 엔진 · 규칙 엔진 · LLM 에이전트 2개, 인터페이스 / 서버 / 데이터 3계층</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idx="12"/>
          </p:nvPr>
        </p:nvSpPr>
        <p:spPr/>
        <p:txBody>
          <a:bodyPr/>
          <a:lstStyle/>
          <a:p>
            <a:fld id="{B6F15528-21DE-4FAA-801E-634DDDAF4B2B}" type="slidenum">
              <a:rPr/>
              <a:t>8</a:t>
            </a:fld>
            <a:endParaRPr/>
          </a:p>
        </p:txBody>
      </p:sp>
      <p:sp>
        <p:nvSpPr>
          <p:cNvPr id="6002" name="직사각형 121">
            <a:extLst>
              <a:ext uri="{FF2B5EF4-FFF2-40B4-BE49-F238E27FC236}">
                <a16:creationId xmlns:a16="http://schemas.microsoft.com/office/drawing/2014/main" id="{0A0E4BE2-D4F8-3041-5A39-29E3672A534D}"/>
              </a:ext>
            </a:extLst>
          </p:cNvPr>
          <p:cNvSpPr/>
          <p:nvPr/>
        </p:nvSpPr>
        <p:spPr>
          <a:xfrm>
            <a:off x="2887998" y="7182958"/>
            <a:ext cx="12509297" cy="1623502"/>
          </a:xfrm>
          <a:prstGeom prst="rect">
            <a:avLst/>
          </a:prstGeom>
          <a:solidFill>
            <a:schemeClr val="accent1">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ko-KR" altLang="en-US"/>
          </a:p>
        </p:txBody>
      </p:sp>
      <p:sp>
        <p:nvSpPr>
          <p:cNvPr id="6003" name="직사각형 119">
            <a:extLst>
              <a:ext uri="{FF2B5EF4-FFF2-40B4-BE49-F238E27FC236}">
                <a16:creationId xmlns:a16="http://schemas.microsoft.com/office/drawing/2014/main" id="{D7352F98-9233-911B-FFAC-BFE6C6C9301D}"/>
              </a:ext>
            </a:extLst>
          </p:cNvPr>
          <p:cNvSpPr/>
          <p:nvPr/>
        </p:nvSpPr>
        <p:spPr>
          <a:xfrm>
            <a:off x="2887998" y="4399444"/>
            <a:ext cx="12509297" cy="2602583"/>
          </a:xfrm>
          <a:prstGeom prst="rect">
            <a:avLst/>
          </a:prstGeom>
          <a:solidFill>
            <a:schemeClr val="accent1">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ko-KR" altLang="en-US"/>
          </a:p>
        </p:txBody>
      </p:sp>
      <p:sp>
        <p:nvSpPr>
          <p:cNvPr id="6004" name="직사각형 117">
            <a:extLst>
              <a:ext uri="{FF2B5EF4-FFF2-40B4-BE49-F238E27FC236}">
                <a16:creationId xmlns:a16="http://schemas.microsoft.com/office/drawing/2014/main" id="{2541B13E-CB90-AF34-5C16-6698380B6599}"/>
              </a:ext>
            </a:extLst>
          </p:cNvPr>
          <p:cNvSpPr/>
          <p:nvPr/>
        </p:nvSpPr>
        <p:spPr>
          <a:xfrm>
            <a:off x="2887998" y="2377440"/>
            <a:ext cx="12509297" cy="1774045"/>
          </a:xfrm>
          <a:prstGeom prst="rect">
            <a:avLst/>
          </a:prstGeom>
          <a:solidFill>
            <a:schemeClr val="accent1">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ko-KR" altLang="en-US"/>
          </a:p>
        </p:txBody>
      </p:sp>
      <p:sp>
        <p:nvSpPr>
          <p:cNvPr id="6005" name="TextBox 2"/>
          <p:cNvSpPr txBox="1"/>
          <p:nvPr/>
        </p:nvSpPr>
        <p:spPr>
          <a:xfrm>
            <a:off x="2978704" y="2611380"/>
            <a:ext cx="1364651" cy="779800"/>
          </a:xfrm>
          <a:prstGeom prst="rect">
            <a:avLst/>
          </a:prstGeom>
          <a:noFill/>
        </p:spPr>
        <p:txBody>
          <a:bodyPr wrap="square" lIns="0" tIns="0" rIns="0" bIns="0" anchor="t">
            <a:noAutofit/>
          </a:bodyPr>
          <a:lstStyle/>
          <a:p>
            <a:pPr algn="l">
              <a:lnSpc>
                <a:spcPts val="1710"/>
              </a:lnSpc>
              <a:spcBef>
                <a:spcPts val="0"/>
              </a:spcBef>
              <a:spcAft>
                <a:spcPts val="0"/>
              </a:spcAft>
            </a:pPr>
            <a:r>
              <a:rPr lang="ko-KR" altLang="en-US" sz="1500" b="1">
                <a:solidFill>
                  <a:srgbClr val="1F2937"/>
                </a:solidFill>
                <a:latin typeface="Arial"/>
                <a:ea typeface="맑은 고딕"/>
                <a:cs typeface="Arial"/>
              </a:rPr>
              <a:t>인터페이스</a:t>
            </a:r>
          </a:p>
          <a:p>
            <a:pPr algn="l">
              <a:lnSpc>
                <a:spcPts val="1160"/>
              </a:lnSpc>
              <a:spcBef>
                <a:spcPts val="200"/>
              </a:spcBef>
              <a:spcAft>
                <a:spcPts val="0"/>
              </a:spcAft>
            </a:pPr>
            <a:r>
              <a:rPr lang="ko-KR" altLang="en-US" sz="1000" b="0">
                <a:solidFill>
                  <a:srgbClr val="1F2937"/>
                </a:solidFill>
                <a:latin typeface="Arial"/>
                <a:ea typeface="맑은 고딕"/>
                <a:cs typeface="Arial"/>
              </a:rPr>
              <a:t>Client UI</a:t>
            </a:r>
          </a:p>
        </p:txBody>
      </p:sp>
      <p:sp>
        <p:nvSpPr>
          <p:cNvPr id="6006" name="Rectangle 3"/>
          <p:cNvSpPr/>
          <p:nvPr/>
        </p:nvSpPr>
        <p:spPr>
          <a:xfrm>
            <a:off x="4343354" y="2611380"/>
            <a:ext cx="1900763" cy="1218438"/>
          </a:xfrm>
          <a:prstGeom prst="rect">
            <a:avLst/>
          </a:prstGeom>
          <a:solidFill>
            <a:srgbClr val="FFFFFF"/>
          </a:solidFill>
          <a:ln w="15875">
            <a:solidFill>
              <a:srgbClr val="1F2937"/>
            </a:solidFill>
          </a:ln>
        </p:spPr>
        <p:txBody>
          <a:bodyPr rtlCol="0" anchor="ctr"/>
          <a:lstStyle/>
          <a:p>
            <a:pPr algn="ctr"/>
            <a:endParaRPr/>
          </a:p>
        </p:txBody>
      </p:sp>
      <p:sp>
        <p:nvSpPr>
          <p:cNvPr id="6007" name="TextBox 4"/>
          <p:cNvSpPr txBox="1"/>
          <p:nvPr/>
        </p:nvSpPr>
        <p:spPr>
          <a:xfrm>
            <a:off x="4343354" y="2611380"/>
            <a:ext cx="1900763" cy="555608"/>
          </a:xfrm>
          <a:prstGeom prst="rect">
            <a:avLst/>
          </a:prstGeom>
          <a:noFill/>
        </p:spPr>
        <p:txBody>
          <a:bodyPr wrap="square" lIns="0" tIns="0" rIns="0" bIns="0" anchor="ctr">
            <a:noAutofit/>
          </a:bodyPr>
          <a:lstStyle/>
          <a:p>
            <a:pPr algn="ctr">
              <a:lnSpc>
                <a:spcPts val="1460"/>
              </a:lnSpc>
              <a:spcBef>
                <a:spcPts val="0"/>
              </a:spcBef>
              <a:spcAft>
                <a:spcPts val="0"/>
              </a:spcAft>
            </a:pPr>
            <a:r>
              <a:rPr lang="ko-KR" altLang="en-US" sz="1300" b="1">
                <a:solidFill>
                  <a:srgbClr val="1F2937"/>
                </a:solidFill>
                <a:latin typeface="Arial"/>
                <a:ea typeface="맑은 고딕"/>
                <a:cs typeface="Arial"/>
              </a:rPr>
              <a:t>사용자 (4 역할)</a:t>
            </a:r>
          </a:p>
        </p:txBody>
      </p:sp>
      <p:sp>
        <p:nvSpPr>
          <p:cNvPr id="6008" name="Rectangle 5"/>
          <p:cNvSpPr/>
          <p:nvPr/>
        </p:nvSpPr>
        <p:spPr>
          <a:xfrm>
            <a:off x="4343354" y="3166988"/>
            <a:ext cx="950382" cy="331415"/>
          </a:xfrm>
          <a:prstGeom prst="rect">
            <a:avLst/>
          </a:prstGeom>
          <a:solidFill>
            <a:srgbClr val="FFFFFF"/>
          </a:solidFill>
          <a:ln w="15875">
            <a:solidFill>
              <a:srgbClr val="1F2937"/>
            </a:solidFill>
          </a:ln>
        </p:spPr>
        <p:txBody>
          <a:bodyPr wrap="square" lIns="18288" tIns="0" rIns="18288" bIns="0" rtlCol="0" anchor="ctr">
            <a:noAutofit/>
          </a:bodyPr>
          <a:lstStyle/>
          <a:p>
            <a:pPr algn="ctr">
              <a:lnSpc>
                <a:spcPts val="1040"/>
              </a:lnSpc>
              <a:spcBef>
                <a:spcPts val="0"/>
              </a:spcBef>
              <a:spcAft>
                <a:spcPts val="0"/>
              </a:spcAft>
            </a:pPr>
            <a:r>
              <a:rPr lang="ko-KR" altLang="en-US" sz="900" b="0">
                <a:solidFill>
                  <a:srgbClr val="1F2937"/>
                </a:solidFill>
                <a:latin typeface="Arial"/>
                <a:ea typeface="맑은 고딕"/>
                <a:cs typeface="Arial"/>
              </a:rPr>
              <a:t>통합지휘권자</a:t>
            </a:r>
          </a:p>
        </p:txBody>
      </p:sp>
      <p:sp>
        <p:nvSpPr>
          <p:cNvPr id="6009" name="Rectangle 6"/>
          <p:cNvSpPr/>
          <p:nvPr/>
        </p:nvSpPr>
        <p:spPr>
          <a:xfrm>
            <a:off x="5293736" y="3166988"/>
            <a:ext cx="950382" cy="331415"/>
          </a:xfrm>
          <a:prstGeom prst="rect">
            <a:avLst/>
          </a:prstGeom>
          <a:solidFill>
            <a:srgbClr val="FFFFFF"/>
          </a:solidFill>
          <a:ln w="15875">
            <a:solidFill>
              <a:srgbClr val="1F2937"/>
            </a:solidFill>
          </a:ln>
        </p:spPr>
        <p:txBody>
          <a:bodyPr wrap="square" lIns="18288" tIns="0" rIns="18288" bIns="0" rtlCol="0" anchor="ctr">
            <a:noAutofit/>
          </a:bodyPr>
          <a:lstStyle/>
          <a:p>
            <a:pPr algn="ctr">
              <a:lnSpc>
                <a:spcPts val="1040"/>
              </a:lnSpc>
              <a:spcBef>
                <a:spcPts val="0"/>
              </a:spcBef>
              <a:spcAft>
                <a:spcPts val="0"/>
              </a:spcAft>
            </a:pPr>
            <a:r>
              <a:rPr lang="ko-KR" altLang="en-US" sz="900" b="0">
                <a:solidFill>
                  <a:srgbClr val="1F2937"/>
                </a:solidFill>
                <a:latin typeface="Arial"/>
                <a:ea typeface="맑은 고딕"/>
                <a:cs typeface="Arial"/>
              </a:rPr>
              <a:t>상황 보고자</a:t>
            </a:r>
          </a:p>
        </p:txBody>
      </p:sp>
      <p:sp>
        <p:nvSpPr>
          <p:cNvPr id="6010" name="Rectangle 7"/>
          <p:cNvSpPr/>
          <p:nvPr/>
        </p:nvSpPr>
        <p:spPr>
          <a:xfrm>
            <a:off x="4343354" y="3498403"/>
            <a:ext cx="950382" cy="331415"/>
          </a:xfrm>
          <a:prstGeom prst="rect">
            <a:avLst/>
          </a:prstGeom>
          <a:solidFill>
            <a:srgbClr val="FFFFFF"/>
          </a:solidFill>
          <a:ln w="15875">
            <a:solidFill>
              <a:srgbClr val="1F2937"/>
            </a:solidFill>
          </a:ln>
        </p:spPr>
        <p:txBody>
          <a:bodyPr wrap="square" lIns="18288" tIns="0" rIns="18288" bIns="0" rtlCol="0" anchor="ctr">
            <a:noAutofit/>
          </a:bodyPr>
          <a:lstStyle/>
          <a:p>
            <a:pPr algn="ctr">
              <a:lnSpc>
                <a:spcPts val="1040"/>
              </a:lnSpc>
              <a:spcBef>
                <a:spcPts val="0"/>
              </a:spcBef>
              <a:spcAft>
                <a:spcPts val="0"/>
              </a:spcAft>
            </a:pPr>
            <a:r>
              <a:rPr lang="ko-KR" altLang="en-US" sz="900" b="0">
                <a:solidFill>
                  <a:srgbClr val="1F2937"/>
                </a:solidFill>
                <a:latin typeface="Arial"/>
                <a:ea typeface="맑은 고딕"/>
                <a:cs typeface="Arial"/>
              </a:rPr>
              <a:t>전산 관리자</a:t>
            </a:r>
          </a:p>
        </p:txBody>
      </p:sp>
      <p:sp>
        <p:nvSpPr>
          <p:cNvPr id="6011" name="Rectangle 8"/>
          <p:cNvSpPr/>
          <p:nvPr/>
        </p:nvSpPr>
        <p:spPr>
          <a:xfrm>
            <a:off x="5293736" y="3498403"/>
            <a:ext cx="950382" cy="331415"/>
          </a:xfrm>
          <a:prstGeom prst="rect">
            <a:avLst/>
          </a:prstGeom>
          <a:solidFill>
            <a:srgbClr val="FFFFFF"/>
          </a:solidFill>
          <a:ln w="15875">
            <a:solidFill>
              <a:srgbClr val="1F2937"/>
            </a:solidFill>
          </a:ln>
        </p:spPr>
        <p:txBody>
          <a:bodyPr wrap="square" lIns="18288" tIns="0" rIns="18288" bIns="0" rtlCol="0" anchor="ctr">
            <a:noAutofit/>
          </a:bodyPr>
          <a:lstStyle/>
          <a:p>
            <a:pPr algn="ctr">
              <a:lnSpc>
                <a:spcPts val="1040"/>
              </a:lnSpc>
              <a:spcBef>
                <a:spcPts val="0"/>
              </a:spcBef>
              <a:spcAft>
                <a:spcPts val="0"/>
              </a:spcAft>
            </a:pPr>
            <a:r>
              <a:rPr lang="ko-KR" altLang="en-US" sz="900" b="0">
                <a:solidFill>
                  <a:srgbClr val="1F2937"/>
                </a:solidFill>
                <a:latin typeface="Arial"/>
                <a:ea typeface="맑은 고딕"/>
                <a:cs typeface="Arial"/>
              </a:rPr>
              <a:t>열람자</a:t>
            </a:r>
          </a:p>
        </p:txBody>
      </p:sp>
      <p:sp>
        <p:nvSpPr>
          <p:cNvPr id="6012" name="Rectangle 9"/>
          <p:cNvSpPr/>
          <p:nvPr/>
        </p:nvSpPr>
        <p:spPr>
          <a:xfrm>
            <a:off x="6634018" y="2611380"/>
            <a:ext cx="3177686" cy="1218438"/>
          </a:xfrm>
          <a:prstGeom prst="rect">
            <a:avLst/>
          </a:prstGeom>
          <a:solidFill>
            <a:srgbClr val="FFFFFF"/>
          </a:solidFill>
          <a:ln w="15875">
            <a:solidFill>
              <a:srgbClr val="1F2937"/>
            </a:solidFill>
          </a:ln>
        </p:spPr>
        <p:txBody>
          <a:bodyPr rtlCol="0" anchor="ctr"/>
          <a:lstStyle/>
          <a:p>
            <a:pPr algn="ctr"/>
            <a:endParaRPr/>
          </a:p>
        </p:txBody>
      </p:sp>
      <p:sp>
        <p:nvSpPr>
          <p:cNvPr id="6013" name="TextBox 10"/>
          <p:cNvSpPr txBox="1"/>
          <p:nvPr/>
        </p:nvSpPr>
        <p:spPr>
          <a:xfrm>
            <a:off x="6634018" y="2611380"/>
            <a:ext cx="3177686" cy="887023"/>
          </a:xfrm>
          <a:prstGeom prst="rect">
            <a:avLst/>
          </a:prstGeom>
          <a:noFill/>
        </p:spPr>
        <p:txBody>
          <a:bodyPr wrap="square" lIns="0" tIns="0" rIns="0" bIns="0" anchor="ctr">
            <a:noAutofit/>
          </a:bodyPr>
          <a:lstStyle/>
          <a:p>
            <a:pPr algn="ctr">
              <a:lnSpc>
                <a:spcPts val="1460"/>
              </a:lnSpc>
              <a:spcBef>
                <a:spcPts val="0"/>
              </a:spcBef>
              <a:spcAft>
                <a:spcPts val="0"/>
              </a:spcAft>
            </a:pPr>
            <a:r>
              <a:rPr lang="ko-KR" altLang="en-US" sz="1300" b="1">
                <a:solidFill>
                  <a:srgbClr val="1F2937"/>
                </a:solidFill>
                <a:latin typeface="Arial"/>
                <a:ea typeface="맑은 고딕"/>
                <a:cs typeface="Arial"/>
              </a:rPr>
              <a:t>웹 대시보드</a:t>
            </a:r>
            <a:r>
              <a:rPr lang="ko-KR" altLang="en-US" sz="1050" b="0">
                <a:solidFill>
                  <a:srgbClr val="1F2937"/>
                </a:solidFill>
                <a:latin typeface="Arial"/>
                <a:ea typeface="맑은 고딕"/>
                <a:cs typeface="Arial"/>
              </a:rPr>
              <a:t>   React · MapLibre GL</a:t>
            </a:r>
          </a:p>
        </p:txBody>
      </p:sp>
      <p:sp>
        <p:nvSpPr>
          <p:cNvPr id="6014" name="Rectangle 11"/>
          <p:cNvSpPr/>
          <p:nvPr/>
        </p:nvSpPr>
        <p:spPr>
          <a:xfrm>
            <a:off x="6634018" y="3498403"/>
            <a:ext cx="779800" cy="331415"/>
          </a:xfrm>
          <a:prstGeom prst="rect">
            <a:avLst/>
          </a:prstGeom>
          <a:solidFill>
            <a:srgbClr val="FFFFFF"/>
          </a:solidFill>
          <a:ln w="15875">
            <a:solidFill>
              <a:srgbClr val="1F2937"/>
            </a:solidFill>
          </a:ln>
        </p:spPr>
        <p:txBody>
          <a:bodyPr wrap="square" lIns="18288" tIns="0" rIns="18288" bIns="0" rtlCol="0" anchor="ctr">
            <a:noAutofit/>
          </a:bodyPr>
          <a:lstStyle/>
          <a:p>
            <a:pPr algn="ctr">
              <a:lnSpc>
                <a:spcPts val="1040"/>
              </a:lnSpc>
              <a:spcBef>
                <a:spcPts val="0"/>
              </a:spcBef>
              <a:spcAft>
                <a:spcPts val="0"/>
              </a:spcAft>
            </a:pPr>
            <a:r>
              <a:rPr lang="ko-KR" altLang="en-US" sz="900" b="0">
                <a:solidFill>
                  <a:srgbClr val="1F2937"/>
                </a:solidFill>
                <a:latin typeface="Arial"/>
                <a:ea typeface="맑은 고딕"/>
                <a:cs typeface="Arial"/>
              </a:rPr>
              <a:t>통합 상황도</a:t>
            </a:r>
          </a:p>
        </p:txBody>
      </p:sp>
      <p:sp>
        <p:nvSpPr>
          <p:cNvPr id="6015" name="Rectangle 12"/>
          <p:cNvSpPr/>
          <p:nvPr/>
        </p:nvSpPr>
        <p:spPr>
          <a:xfrm>
            <a:off x="7413818" y="3498403"/>
            <a:ext cx="740810" cy="331415"/>
          </a:xfrm>
          <a:prstGeom prst="rect">
            <a:avLst/>
          </a:prstGeom>
          <a:solidFill>
            <a:srgbClr val="FFFFFF"/>
          </a:solidFill>
          <a:ln w="15875">
            <a:solidFill>
              <a:srgbClr val="1F2937"/>
            </a:solidFill>
          </a:ln>
        </p:spPr>
        <p:txBody>
          <a:bodyPr wrap="square" lIns="18288" tIns="0" rIns="18288" bIns="0" rtlCol="0" anchor="ctr">
            <a:noAutofit/>
          </a:bodyPr>
          <a:lstStyle/>
          <a:p>
            <a:pPr algn="ctr">
              <a:lnSpc>
                <a:spcPts val="1040"/>
              </a:lnSpc>
              <a:spcBef>
                <a:spcPts val="0"/>
              </a:spcBef>
              <a:spcAft>
                <a:spcPts val="0"/>
              </a:spcAft>
            </a:pPr>
            <a:r>
              <a:rPr lang="ko-KR" altLang="en-US" sz="900" b="0">
                <a:solidFill>
                  <a:srgbClr val="1F2937"/>
                </a:solidFill>
                <a:latin typeface="Arial"/>
                <a:ea typeface="맑은 고딕"/>
                <a:cs typeface="Arial"/>
              </a:rPr>
              <a:t>대응 제안서</a:t>
            </a:r>
          </a:p>
        </p:txBody>
      </p:sp>
      <p:sp>
        <p:nvSpPr>
          <p:cNvPr id="6016" name="Rectangle 13"/>
          <p:cNvSpPr/>
          <p:nvPr/>
        </p:nvSpPr>
        <p:spPr>
          <a:xfrm>
            <a:off x="8154628" y="3498403"/>
            <a:ext cx="643335" cy="331415"/>
          </a:xfrm>
          <a:prstGeom prst="rect">
            <a:avLst/>
          </a:prstGeom>
          <a:solidFill>
            <a:srgbClr val="FFFFFF"/>
          </a:solidFill>
          <a:ln w="15875">
            <a:solidFill>
              <a:srgbClr val="1F2937"/>
            </a:solidFill>
          </a:ln>
        </p:spPr>
        <p:txBody>
          <a:bodyPr wrap="square" lIns="18288" tIns="0" rIns="18288" bIns="0" rtlCol="0" anchor="ctr">
            <a:noAutofit/>
          </a:bodyPr>
          <a:lstStyle/>
          <a:p>
            <a:pPr algn="ctr">
              <a:lnSpc>
                <a:spcPts val="1040"/>
              </a:lnSpc>
              <a:spcBef>
                <a:spcPts val="0"/>
              </a:spcBef>
              <a:spcAft>
                <a:spcPts val="0"/>
              </a:spcAft>
            </a:pPr>
            <a:r>
              <a:rPr lang="ko-KR" altLang="en-US" sz="900" b="0">
                <a:solidFill>
                  <a:srgbClr val="1F2937"/>
                </a:solidFill>
                <a:latin typeface="Arial"/>
                <a:ea typeface="맑은 고딕"/>
                <a:cs typeface="Arial"/>
              </a:rPr>
              <a:t>근거 패널</a:t>
            </a:r>
          </a:p>
        </p:txBody>
      </p:sp>
      <p:sp>
        <p:nvSpPr>
          <p:cNvPr id="6017" name="Rectangle 14"/>
          <p:cNvSpPr/>
          <p:nvPr/>
        </p:nvSpPr>
        <p:spPr>
          <a:xfrm>
            <a:off x="8797964" y="3498403"/>
            <a:ext cx="1013740" cy="331415"/>
          </a:xfrm>
          <a:prstGeom prst="rect">
            <a:avLst/>
          </a:prstGeom>
          <a:solidFill>
            <a:srgbClr val="FFFFFF"/>
          </a:solidFill>
          <a:ln w="15875">
            <a:solidFill>
              <a:srgbClr val="1F2937"/>
            </a:solidFill>
          </a:ln>
        </p:spPr>
        <p:txBody>
          <a:bodyPr wrap="square" lIns="18288" tIns="0" rIns="18288" bIns="0" rtlCol="0" anchor="ctr">
            <a:noAutofit/>
          </a:bodyPr>
          <a:lstStyle/>
          <a:p>
            <a:pPr algn="ctr">
              <a:lnSpc>
                <a:spcPts val="1040"/>
              </a:lnSpc>
              <a:spcBef>
                <a:spcPts val="0"/>
              </a:spcBef>
              <a:spcAft>
                <a:spcPts val="0"/>
              </a:spcAft>
            </a:pPr>
            <a:r>
              <a:rPr lang="ko-KR" altLang="en-US" sz="900" b="0">
                <a:solidFill>
                  <a:srgbClr val="1F2937"/>
                </a:solidFill>
                <a:latin typeface="Arial"/>
                <a:ea typeface="맑은 고딕"/>
                <a:cs typeface="Arial"/>
              </a:rPr>
              <a:t>어시스턴트 대화</a:t>
            </a:r>
          </a:p>
        </p:txBody>
      </p:sp>
      <p:cxnSp>
        <p:nvCxnSpPr>
          <p:cNvPr id="6018" name="Connector 15"/>
          <p:cNvCxnSpPr/>
          <p:nvPr/>
        </p:nvCxnSpPr>
        <p:spPr>
          <a:xfrm>
            <a:off x="6244118" y="3220599"/>
            <a:ext cx="389900" cy="0"/>
          </a:xfrm>
          <a:prstGeom prst="line">
            <a:avLst/>
          </a:prstGeom>
          <a:ln w="22225">
            <a:solidFill>
              <a:srgbClr val="1F2937"/>
            </a:solidFill>
            <a:tailEnd type="triangle" w="med" len="med"/>
          </a:ln>
        </p:spPr>
      </p:cxnSp>
      <p:sp>
        <p:nvSpPr>
          <p:cNvPr id="6019" name="Rectangle 16"/>
          <p:cNvSpPr/>
          <p:nvPr/>
        </p:nvSpPr>
        <p:spPr>
          <a:xfrm>
            <a:off x="10201604" y="2611380"/>
            <a:ext cx="4912742" cy="1218438"/>
          </a:xfrm>
          <a:prstGeom prst="rect">
            <a:avLst/>
          </a:prstGeom>
          <a:noFill/>
          <a:ln w="12700">
            <a:solidFill>
              <a:srgbClr val="9CA3AF"/>
            </a:solidFill>
          </a:ln>
        </p:spPr>
        <p:txBody>
          <a:bodyPr rtlCol="0" anchor="ctr"/>
          <a:lstStyle/>
          <a:p>
            <a:pPr algn="ctr"/>
            <a:endParaRPr/>
          </a:p>
        </p:txBody>
      </p:sp>
      <p:sp>
        <p:nvSpPr>
          <p:cNvPr id="6020" name="TextBox 17"/>
          <p:cNvSpPr txBox="1"/>
          <p:nvPr/>
        </p:nvSpPr>
        <p:spPr>
          <a:xfrm>
            <a:off x="10279584" y="2650370"/>
            <a:ext cx="4756782" cy="194950"/>
          </a:xfrm>
          <a:prstGeom prst="rect">
            <a:avLst/>
          </a:prstGeom>
          <a:noFill/>
        </p:spPr>
        <p:txBody>
          <a:bodyPr wrap="square" lIns="0" tIns="0" rIns="0" bIns="0" anchor="ctr">
            <a:noAutofit/>
          </a:bodyPr>
          <a:lstStyle/>
          <a:p>
            <a:pPr algn="l">
              <a:lnSpc>
                <a:spcPts val="1160"/>
              </a:lnSpc>
              <a:spcBef>
                <a:spcPts val="0"/>
              </a:spcBef>
              <a:spcAft>
                <a:spcPts val="0"/>
              </a:spcAft>
            </a:pPr>
            <a:r>
              <a:rPr lang="ko-KR" altLang="en-US" sz="1000" b="0">
                <a:solidFill>
                  <a:srgbClr val="1F2937"/>
                </a:solidFill>
                <a:latin typeface="Arial"/>
                <a:ea typeface="맑은 고딕"/>
                <a:cs typeface="Arial"/>
              </a:rPr>
              <a:t>응답</a:t>
            </a:r>
          </a:p>
        </p:txBody>
      </p:sp>
      <p:cxnSp>
        <p:nvCxnSpPr>
          <p:cNvPr id="6021" name="Connector 25"/>
          <p:cNvCxnSpPr/>
          <p:nvPr/>
        </p:nvCxnSpPr>
        <p:spPr>
          <a:xfrm flipH="1">
            <a:off x="9811704" y="3220599"/>
            <a:ext cx="389900" cy="0"/>
          </a:xfrm>
          <a:prstGeom prst="line">
            <a:avLst/>
          </a:prstGeom>
          <a:ln w="22225">
            <a:solidFill>
              <a:srgbClr val="1F2937"/>
            </a:solidFill>
            <a:tailEnd type="triangle" w="med" len="med"/>
          </a:ln>
        </p:spPr>
      </p:cxnSp>
      <p:sp>
        <p:nvSpPr>
          <p:cNvPr id="6022" name="Oval 26"/>
          <p:cNvSpPr/>
          <p:nvPr/>
        </p:nvSpPr>
        <p:spPr>
          <a:xfrm>
            <a:off x="9899432" y="2869689"/>
            <a:ext cx="214445" cy="214445"/>
          </a:xfrm>
          <a:prstGeom prst="ellipse">
            <a:avLst/>
          </a:prstGeom>
          <a:solidFill>
            <a:srgbClr val="1F2937"/>
          </a:solidFill>
          <a:ln>
            <a:noFill/>
          </a:ln>
        </p:spPr>
        <p:txBody>
          <a:bodyPr wrap="square" lIns="0" tIns="0" rIns="0" bIns="0" rtlCol="0" anchor="ctr">
            <a:noAutofit/>
          </a:bodyPr>
          <a:lstStyle/>
          <a:p>
            <a:pPr algn="ctr">
              <a:lnSpc>
                <a:spcPts val="1100"/>
              </a:lnSpc>
              <a:spcBef>
                <a:spcPts val="0"/>
              </a:spcBef>
              <a:spcAft>
                <a:spcPts val="0"/>
              </a:spcAft>
            </a:pPr>
            <a:r>
              <a:rPr lang="ko-KR" altLang="en-US" sz="950" b="1">
                <a:solidFill>
                  <a:srgbClr val="FFFFFF"/>
                </a:solidFill>
                <a:latin typeface="Arial"/>
                <a:ea typeface="맑은 고딕"/>
                <a:cs typeface="Arial"/>
              </a:rPr>
              <a:t>7</a:t>
            </a:r>
          </a:p>
        </p:txBody>
      </p:sp>
      <p:sp>
        <p:nvSpPr>
          <p:cNvPr id="6023" name="TextBox 27"/>
          <p:cNvSpPr txBox="1"/>
          <p:nvPr/>
        </p:nvSpPr>
        <p:spPr>
          <a:xfrm>
            <a:off x="2978704" y="4519454"/>
            <a:ext cx="1364651" cy="779800"/>
          </a:xfrm>
          <a:prstGeom prst="rect">
            <a:avLst/>
          </a:prstGeom>
          <a:noFill/>
        </p:spPr>
        <p:txBody>
          <a:bodyPr wrap="square" lIns="0" tIns="0" rIns="0" bIns="0" anchor="t">
            <a:noAutofit/>
          </a:bodyPr>
          <a:lstStyle/>
          <a:p>
            <a:pPr algn="l">
              <a:lnSpc>
                <a:spcPts val="1710"/>
              </a:lnSpc>
              <a:spcBef>
                <a:spcPts val="0"/>
              </a:spcBef>
              <a:spcAft>
                <a:spcPts val="0"/>
              </a:spcAft>
            </a:pPr>
            <a:r>
              <a:rPr lang="ko-KR" altLang="en-US" sz="1500" b="1" dirty="0">
                <a:solidFill>
                  <a:srgbClr val="1F2937"/>
                </a:solidFill>
                <a:latin typeface="Arial"/>
                <a:ea typeface="맑은 고딕"/>
                <a:cs typeface="Arial"/>
              </a:rPr>
              <a:t>서버</a:t>
            </a:r>
          </a:p>
          <a:p>
            <a:pPr algn="l">
              <a:lnSpc>
                <a:spcPts val="1160"/>
              </a:lnSpc>
              <a:spcBef>
                <a:spcPts val="200"/>
              </a:spcBef>
              <a:spcAft>
                <a:spcPts val="0"/>
              </a:spcAft>
            </a:pPr>
            <a:r>
              <a:rPr lang="ko-KR" altLang="en-US" sz="1000" b="0" dirty="0" err="1">
                <a:solidFill>
                  <a:srgbClr val="1F2937"/>
                </a:solidFill>
                <a:latin typeface="Arial"/>
                <a:ea typeface="맑은 고딕"/>
                <a:cs typeface="Arial"/>
              </a:rPr>
              <a:t>Application</a:t>
            </a:r>
            <a:r>
              <a:rPr lang="ko-KR" altLang="en-US" sz="1000" b="0" dirty="0">
                <a:solidFill>
                  <a:srgbClr val="1F2937"/>
                </a:solidFill>
                <a:latin typeface="Arial"/>
                <a:ea typeface="맑은 고딕"/>
                <a:cs typeface="Arial"/>
              </a:rPr>
              <a:t> Server</a:t>
            </a:r>
          </a:p>
        </p:txBody>
      </p:sp>
      <p:sp>
        <p:nvSpPr>
          <p:cNvPr id="6024" name="Rectangle 28"/>
          <p:cNvSpPr/>
          <p:nvPr/>
        </p:nvSpPr>
        <p:spPr>
          <a:xfrm>
            <a:off x="6517048" y="4519454"/>
            <a:ext cx="1891016" cy="1364651"/>
          </a:xfrm>
          <a:prstGeom prst="rect">
            <a:avLst/>
          </a:prstGeom>
          <a:noFill/>
          <a:ln w="12700">
            <a:solidFill>
              <a:srgbClr val="9CA3AF"/>
            </a:solidFill>
          </a:ln>
        </p:spPr>
        <p:txBody>
          <a:bodyPr rtlCol="0" anchor="ctr"/>
          <a:lstStyle/>
          <a:p>
            <a:pPr algn="ctr"/>
            <a:endParaRPr/>
          </a:p>
        </p:txBody>
      </p:sp>
      <p:sp>
        <p:nvSpPr>
          <p:cNvPr id="6025" name="TextBox 29"/>
          <p:cNvSpPr txBox="1"/>
          <p:nvPr/>
        </p:nvSpPr>
        <p:spPr>
          <a:xfrm>
            <a:off x="6595028" y="4558444"/>
            <a:ext cx="1735056" cy="194950"/>
          </a:xfrm>
          <a:prstGeom prst="rect">
            <a:avLst/>
          </a:prstGeom>
          <a:noFill/>
        </p:spPr>
        <p:txBody>
          <a:bodyPr wrap="square" lIns="0" tIns="0" rIns="0" bIns="0" anchor="ctr">
            <a:noAutofit/>
          </a:bodyPr>
          <a:lstStyle/>
          <a:p>
            <a:pPr algn="l">
              <a:lnSpc>
                <a:spcPts val="1160"/>
              </a:lnSpc>
              <a:spcBef>
                <a:spcPts val="0"/>
              </a:spcBef>
              <a:spcAft>
                <a:spcPts val="0"/>
              </a:spcAft>
            </a:pPr>
            <a:r>
              <a:rPr lang="ko-KR" altLang="en-US" sz="1000" b="0">
                <a:solidFill>
                  <a:srgbClr val="1F2937"/>
                </a:solidFill>
                <a:latin typeface="맑은 고딕"/>
                <a:ea typeface="맑은 고딕"/>
                <a:cs typeface="Arial"/>
              </a:rPr>
              <a:t>① 산불 예측 모델 (물리 엔진)</a:t>
            </a:r>
          </a:p>
        </p:txBody>
      </p:sp>
      <p:sp>
        <p:nvSpPr>
          <p:cNvPr id="6026" name="Rectangle 30"/>
          <p:cNvSpPr/>
          <p:nvPr/>
        </p:nvSpPr>
        <p:spPr>
          <a:xfrm>
            <a:off x="8632256" y="4519454"/>
            <a:ext cx="4093952" cy="2397886"/>
          </a:xfrm>
          <a:prstGeom prst="rect">
            <a:avLst/>
          </a:prstGeom>
          <a:noFill/>
          <a:ln w="12700">
            <a:solidFill>
              <a:srgbClr val="9CA3AF"/>
            </a:solidFill>
          </a:ln>
        </p:spPr>
        <p:txBody>
          <a:bodyPr rtlCol="0" anchor="ctr"/>
          <a:lstStyle/>
          <a:p>
            <a:pPr algn="ctr"/>
            <a:endParaRPr/>
          </a:p>
        </p:txBody>
      </p:sp>
      <p:sp>
        <p:nvSpPr>
          <p:cNvPr id="6027" name="TextBox 31"/>
          <p:cNvSpPr txBox="1"/>
          <p:nvPr/>
        </p:nvSpPr>
        <p:spPr>
          <a:xfrm>
            <a:off x="8710236" y="4558444"/>
            <a:ext cx="3937992" cy="194950"/>
          </a:xfrm>
          <a:prstGeom prst="rect">
            <a:avLst/>
          </a:prstGeom>
          <a:noFill/>
        </p:spPr>
        <p:txBody>
          <a:bodyPr wrap="square" lIns="0" tIns="0" rIns="0" bIns="0" anchor="ctr">
            <a:noAutofit/>
          </a:bodyPr>
          <a:lstStyle/>
          <a:p>
            <a:pPr algn="l">
              <a:lnSpc>
                <a:spcPts val="1160"/>
              </a:lnSpc>
              <a:spcBef>
                <a:spcPts val="0"/>
              </a:spcBef>
              <a:spcAft>
                <a:spcPts val="0"/>
              </a:spcAft>
            </a:pPr>
            <a:r>
              <a:rPr lang="ko-KR" altLang="en-US" sz="1000" b="0">
                <a:solidFill>
                  <a:srgbClr val="1F2937"/>
                </a:solidFill>
                <a:latin typeface="맑은 고딕"/>
                <a:ea typeface="맑은 고딕"/>
                <a:cs typeface="Arial"/>
              </a:rPr>
              <a:t>② 대응 제안 생성 모델 (규칙 엔진 + LLM 에이전트 2개)</a:t>
            </a:r>
          </a:p>
        </p:txBody>
      </p:sp>
      <p:sp>
        <p:nvSpPr>
          <p:cNvPr id="6028" name="Rectangle 32"/>
          <p:cNvSpPr/>
          <p:nvPr/>
        </p:nvSpPr>
        <p:spPr>
          <a:xfrm>
            <a:off x="4343354" y="4841122"/>
            <a:ext cx="1900763" cy="926013"/>
          </a:xfrm>
          <a:prstGeom prst="rect">
            <a:avLst/>
          </a:prstGeom>
          <a:solidFill>
            <a:srgbClr val="FFFFFF"/>
          </a:solidFill>
          <a:ln w="15875">
            <a:solidFill>
              <a:srgbClr val="1F2937"/>
            </a:solidFill>
          </a:ln>
        </p:spPr>
        <p:txBody>
          <a:bodyPr rtlCol="0" anchor="ctr"/>
          <a:lstStyle/>
          <a:p>
            <a:pPr algn="ctr"/>
            <a:endParaRPr/>
          </a:p>
        </p:txBody>
      </p:sp>
      <p:sp>
        <p:nvSpPr>
          <p:cNvPr id="6029" name="TextBox 33"/>
          <p:cNvSpPr txBox="1"/>
          <p:nvPr/>
        </p:nvSpPr>
        <p:spPr>
          <a:xfrm>
            <a:off x="4343354" y="4841122"/>
            <a:ext cx="1900763" cy="926013"/>
          </a:xfrm>
          <a:prstGeom prst="rect">
            <a:avLst/>
          </a:prstGeom>
          <a:noFill/>
        </p:spPr>
        <p:txBody>
          <a:bodyPr wrap="square" lIns="36576" tIns="0" rIns="36576" bIns="0" anchor="ctr">
            <a:noAutofit/>
          </a:bodyPr>
          <a:lstStyle/>
          <a:p>
            <a:pPr algn="ctr">
              <a:lnSpc>
                <a:spcPts val="1460"/>
              </a:lnSpc>
              <a:spcBef>
                <a:spcPts val="0"/>
              </a:spcBef>
              <a:spcAft>
                <a:spcPts val="0"/>
              </a:spcAft>
            </a:pPr>
            <a:r>
              <a:rPr lang="ko-KR" altLang="en-US" sz="1300" b="1">
                <a:solidFill>
                  <a:srgbClr val="1F2937"/>
                </a:solidFill>
                <a:latin typeface="Arial"/>
                <a:ea typeface="맑은 고딕"/>
                <a:cs typeface="Arial"/>
              </a:rPr>
              <a:t>API 서버 · 상황 구성</a:t>
            </a:r>
          </a:p>
          <a:p>
            <a:pPr algn="ctr">
              <a:lnSpc>
                <a:spcPts val="1220"/>
              </a:lnSpc>
              <a:spcBef>
                <a:spcPts val="100"/>
              </a:spcBef>
              <a:spcAft>
                <a:spcPts val="0"/>
              </a:spcAft>
            </a:pPr>
            <a:r>
              <a:rPr lang="ko-KR" altLang="en-US" sz="1050" b="0">
                <a:solidFill>
                  <a:srgbClr val="1F2937"/>
                </a:solidFill>
                <a:latin typeface="Arial"/>
                <a:ea typeface="맑은 고딕"/>
                <a:cs typeface="Arial"/>
              </a:rPr>
              <a:t>FastAPI</a:t>
            </a:r>
          </a:p>
        </p:txBody>
      </p:sp>
      <p:sp>
        <p:nvSpPr>
          <p:cNvPr id="6030" name="Rectangle 34"/>
          <p:cNvSpPr/>
          <p:nvPr/>
        </p:nvSpPr>
        <p:spPr>
          <a:xfrm>
            <a:off x="6634018" y="4841122"/>
            <a:ext cx="1657076" cy="926013"/>
          </a:xfrm>
          <a:prstGeom prst="rect">
            <a:avLst/>
          </a:prstGeom>
          <a:solidFill>
            <a:srgbClr val="FFFFFF"/>
          </a:solidFill>
          <a:ln w="15875">
            <a:solidFill>
              <a:srgbClr val="1F2937"/>
            </a:solidFill>
          </a:ln>
        </p:spPr>
        <p:txBody>
          <a:bodyPr rtlCol="0" anchor="ctr"/>
          <a:lstStyle/>
          <a:p>
            <a:pPr algn="ctr"/>
            <a:endParaRPr/>
          </a:p>
        </p:txBody>
      </p:sp>
      <p:sp>
        <p:nvSpPr>
          <p:cNvPr id="6031" name="TextBox 35"/>
          <p:cNvSpPr txBox="1"/>
          <p:nvPr/>
        </p:nvSpPr>
        <p:spPr>
          <a:xfrm>
            <a:off x="6634018" y="4841122"/>
            <a:ext cx="1657076" cy="926013"/>
          </a:xfrm>
          <a:prstGeom prst="rect">
            <a:avLst/>
          </a:prstGeom>
          <a:noFill/>
        </p:spPr>
        <p:txBody>
          <a:bodyPr wrap="square" lIns="36576" tIns="0" rIns="36576" bIns="0" anchor="ctr">
            <a:noAutofit/>
          </a:bodyPr>
          <a:lstStyle/>
          <a:p>
            <a:pPr algn="ctr">
              <a:lnSpc>
                <a:spcPts val="1460"/>
              </a:lnSpc>
              <a:spcBef>
                <a:spcPts val="0"/>
              </a:spcBef>
              <a:spcAft>
                <a:spcPts val="0"/>
              </a:spcAft>
            </a:pPr>
            <a:r>
              <a:rPr lang="ko-KR" altLang="en-US" sz="1300" b="1">
                <a:solidFill>
                  <a:srgbClr val="1F2937"/>
                </a:solidFill>
                <a:latin typeface="Arial"/>
                <a:ea typeface="맑은 고딕"/>
                <a:cs typeface="Arial"/>
              </a:rPr>
              <a:t>확산 예측</a:t>
            </a:r>
          </a:p>
          <a:p>
            <a:pPr algn="ctr">
              <a:lnSpc>
                <a:spcPts val="1220"/>
              </a:lnSpc>
              <a:spcBef>
                <a:spcPts val="100"/>
              </a:spcBef>
              <a:spcAft>
                <a:spcPts val="0"/>
              </a:spcAft>
            </a:pPr>
            <a:r>
              <a:rPr lang="ko-KR" altLang="en-US" sz="1050" b="0">
                <a:solidFill>
                  <a:srgbClr val="1F2937"/>
                </a:solidFill>
                <a:latin typeface="Arial"/>
                <a:ea typeface="맑은 고딕"/>
                <a:cs typeface="Arial"/>
              </a:rPr>
              <a:t>ELMFIRE</a:t>
            </a:r>
          </a:p>
        </p:txBody>
      </p:sp>
      <p:sp>
        <p:nvSpPr>
          <p:cNvPr id="6032" name="Rectangle 36"/>
          <p:cNvSpPr/>
          <p:nvPr/>
        </p:nvSpPr>
        <p:spPr>
          <a:xfrm>
            <a:off x="8729731" y="4841122"/>
            <a:ext cx="1413388" cy="926013"/>
          </a:xfrm>
          <a:prstGeom prst="rect">
            <a:avLst/>
          </a:prstGeom>
          <a:solidFill>
            <a:srgbClr val="FFFFFF"/>
          </a:solidFill>
          <a:ln w="15875">
            <a:solidFill>
              <a:srgbClr val="1F2937"/>
            </a:solidFill>
          </a:ln>
        </p:spPr>
        <p:txBody>
          <a:bodyPr rtlCol="0" anchor="ctr"/>
          <a:lstStyle/>
          <a:p>
            <a:pPr algn="ctr"/>
            <a:endParaRPr/>
          </a:p>
        </p:txBody>
      </p:sp>
      <p:sp>
        <p:nvSpPr>
          <p:cNvPr id="6033" name="TextBox 37"/>
          <p:cNvSpPr txBox="1"/>
          <p:nvPr/>
        </p:nvSpPr>
        <p:spPr>
          <a:xfrm>
            <a:off x="8729731" y="4841122"/>
            <a:ext cx="1413388" cy="926013"/>
          </a:xfrm>
          <a:prstGeom prst="rect">
            <a:avLst/>
          </a:prstGeom>
          <a:noFill/>
        </p:spPr>
        <p:txBody>
          <a:bodyPr wrap="square" lIns="36576" tIns="0" rIns="36576" bIns="0" anchor="ctr">
            <a:noAutofit/>
          </a:bodyPr>
          <a:lstStyle/>
          <a:p>
            <a:pPr algn="ctr">
              <a:lnSpc>
                <a:spcPts val="1460"/>
              </a:lnSpc>
              <a:spcBef>
                <a:spcPts val="0"/>
              </a:spcBef>
              <a:spcAft>
                <a:spcPts val="0"/>
              </a:spcAft>
            </a:pPr>
            <a:r>
              <a:rPr lang="ko-KR" altLang="en-US" sz="1300" b="1">
                <a:solidFill>
                  <a:srgbClr val="1F2937"/>
                </a:solidFill>
                <a:latin typeface="Arial"/>
                <a:ea typeface="맑은 고딕"/>
                <a:cs typeface="Arial"/>
              </a:rPr>
              <a:t>규칙 판정</a:t>
            </a:r>
          </a:p>
          <a:p>
            <a:pPr algn="ctr">
              <a:lnSpc>
                <a:spcPts val="1220"/>
              </a:lnSpc>
              <a:spcBef>
                <a:spcPts val="100"/>
              </a:spcBef>
              <a:spcAft>
                <a:spcPts val="0"/>
              </a:spcAft>
            </a:pPr>
            <a:r>
              <a:rPr lang="ko-KR" altLang="en-US" sz="1050" b="0">
                <a:solidFill>
                  <a:srgbClr val="1F2937"/>
                </a:solidFill>
                <a:latin typeface="Arial"/>
                <a:ea typeface="맑은 고딕"/>
                <a:cs typeface="Arial"/>
              </a:rPr>
              <a:t>Rule-Based</a:t>
            </a:r>
          </a:p>
        </p:txBody>
      </p:sp>
      <p:sp>
        <p:nvSpPr>
          <p:cNvPr id="6034" name="Rectangle 38"/>
          <p:cNvSpPr/>
          <p:nvPr/>
        </p:nvSpPr>
        <p:spPr>
          <a:xfrm>
            <a:off x="10533019" y="4841122"/>
            <a:ext cx="2095713" cy="926013"/>
          </a:xfrm>
          <a:prstGeom prst="rect">
            <a:avLst/>
          </a:prstGeom>
          <a:solidFill>
            <a:srgbClr val="FFFFFF"/>
          </a:solidFill>
          <a:ln w="15875">
            <a:solidFill>
              <a:srgbClr val="2563EB"/>
            </a:solidFill>
          </a:ln>
        </p:spPr>
        <p:txBody>
          <a:bodyPr rtlCol="0" anchor="ctr"/>
          <a:lstStyle/>
          <a:p>
            <a:pPr algn="ctr"/>
            <a:endParaRPr/>
          </a:p>
        </p:txBody>
      </p:sp>
      <p:pic>
        <p:nvPicPr>
          <p:cNvPr id="6035" name="Picture 39" descr="image.png"/>
          <p:cNvPicPr>
            <a:picLocks noChangeAspect="1"/>
          </p:cNvPicPr>
          <p:nvPr/>
        </p:nvPicPr>
        <p:blipFill>
          <a:blip r:embed="rId6"/>
          <a:stretch>
            <a:fillRect/>
          </a:stretch>
        </p:blipFill>
        <p:spPr>
          <a:xfrm>
            <a:off x="10649989" y="5148168"/>
            <a:ext cx="311920" cy="311920"/>
          </a:xfrm>
          <a:prstGeom prst="rect">
            <a:avLst/>
          </a:prstGeom>
        </p:spPr>
      </p:pic>
      <p:sp>
        <p:nvSpPr>
          <p:cNvPr id="3" name="TextBox 40"/>
          <p:cNvSpPr txBox="1"/>
          <p:nvPr/>
        </p:nvSpPr>
        <p:spPr>
          <a:xfrm>
            <a:off x="10961909" y="4841122"/>
            <a:ext cx="1666823" cy="926013"/>
          </a:xfrm>
          <a:prstGeom prst="rect">
            <a:avLst/>
          </a:prstGeom>
          <a:noFill/>
        </p:spPr>
        <p:txBody>
          <a:bodyPr wrap="square" lIns="36576" tIns="0" rIns="36576" bIns="0" anchor="ctr">
            <a:noAutofit/>
          </a:bodyPr>
          <a:lstStyle/>
          <a:p>
            <a:pPr algn="ctr">
              <a:lnSpc>
                <a:spcPts val="1460"/>
              </a:lnSpc>
              <a:spcBef>
                <a:spcPts val="0"/>
              </a:spcBef>
              <a:spcAft>
                <a:spcPts val="0"/>
              </a:spcAft>
            </a:pPr>
            <a:r>
              <a:rPr lang="ko-KR" altLang="en-US" sz="1300" b="1" dirty="0">
                <a:solidFill>
                  <a:srgbClr val="2563EB"/>
                </a:solidFill>
                <a:latin typeface="Arial"/>
                <a:ea typeface="맑은 고딕"/>
                <a:cs typeface="Arial"/>
              </a:rPr>
              <a:t>상황판단 에이전트</a:t>
            </a:r>
          </a:p>
          <a:p>
            <a:pPr algn="ctr">
              <a:lnSpc>
                <a:spcPts val="1220"/>
              </a:lnSpc>
              <a:spcBef>
                <a:spcPts val="100"/>
              </a:spcBef>
              <a:spcAft>
                <a:spcPts val="0"/>
              </a:spcAft>
            </a:pPr>
            <a:r>
              <a:rPr lang="ko-KR" altLang="en-US" sz="1050" b="0" dirty="0">
                <a:solidFill>
                  <a:srgbClr val="1F2937"/>
                </a:solidFill>
                <a:latin typeface="Arial"/>
                <a:ea typeface="맑은 고딕"/>
                <a:cs typeface="Arial"/>
              </a:rPr>
              <a:t>EXAONE 4.0 32B</a:t>
            </a:r>
          </a:p>
        </p:txBody>
      </p:sp>
      <p:sp>
        <p:nvSpPr>
          <p:cNvPr id="6036" name="Rectangle 41"/>
          <p:cNvSpPr/>
          <p:nvPr/>
        </p:nvSpPr>
        <p:spPr>
          <a:xfrm>
            <a:off x="13116108" y="4841122"/>
            <a:ext cx="1998238" cy="926013"/>
          </a:xfrm>
          <a:prstGeom prst="rect">
            <a:avLst/>
          </a:prstGeom>
          <a:solidFill>
            <a:srgbClr val="FFFFFF"/>
          </a:solidFill>
          <a:ln w="15875">
            <a:solidFill>
              <a:srgbClr val="1F2937"/>
            </a:solidFill>
          </a:ln>
        </p:spPr>
        <p:txBody>
          <a:bodyPr rtlCol="0" anchor="ctr"/>
          <a:lstStyle/>
          <a:p>
            <a:pPr algn="ctr"/>
            <a:endParaRPr/>
          </a:p>
        </p:txBody>
      </p:sp>
      <p:sp>
        <p:nvSpPr>
          <p:cNvPr id="6037" name="TextBox 42"/>
          <p:cNvSpPr txBox="1"/>
          <p:nvPr/>
        </p:nvSpPr>
        <p:spPr>
          <a:xfrm>
            <a:off x="13116108" y="4841122"/>
            <a:ext cx="1998238" cy="926013"/>
          </a:xfrm>
          <a:prstGeom prst="rect">
            <a:avLst/>
          </a:prstGeom>
          <a:noFill/>
        </p:spPr>
        <p:txBody>
          <a:bodyPr wrap="square" lIns="36576" tIns="0" rIns="36576" bIns="0" anchor="ctr">
            <a:noAutofit/>
          </a:bodyPr>
          <a:lstStyle/>
          <a:p>
            <a:pPr algn="ctr">
              <a:lnSpc>
                <a:spcPts val="1460"/>
              </a:lnSpc>
              <a:spcBef>
                <a:spcPts val="0"/>
              </a:spcBef>
              <a:spcAft>
                <a:spcPts val="0"/>
              </a:spcAft>
            </a:pPr>
            <a:r>
              <a:rPr lang="ko-KR" altLang="en-US" sz="1300" b="1">
                <a:solidFill>
                  <a:srgbClr val="1F2937"/>
                </a:solidFill>
                <a:latin typeface="Arial"/>
                <a:ea typeface="맑은 고딕"/>
                <a:cs typeface="Arial"/>
              </a:rPr>
              <a:t>응답 조립</a:t>
            </a:r>
          </a:p>
          <a:p>
            <a:pPr algn="ctr">
              <a:lnSpc>
                <a:spcPts val="1220"/>
              </a:lnSpc>
              <a:spcBef>
                <a:spcPts val="100"/>
              </a:spcBef>
              <a:spcAft>
                <a:spcPts val="0"/>
              </a:spcAft>
            </a:pPr>
            <a:r>
              <a:rPr lang="ko-KR" altLang="en-US" sz="1050" b="0">
                <a:solidFill>
                  <a:srgbClr val="1F2937"/>
                </a:solidFill>
                <a:latin typeface="Arial"/>
                <a:ea typeface="맑은 고딕"/>
                <a:cs typeface="Arial"/>
              </a:rPr>
              <a:t>REST API</a:t>
            </a:r>
          </a:p>
        </p:txBody>
      </p:sp>
      <p:sp>
        <p:nvSpPr>
          <p:cNvPr id="6038" name="Rectangle 43"/>
          <p:cNvSpPr/>
          <p:nvPr/>
        </p:nvSpPr>
        <p:spPr>
          <a:xfrm>
            <a:off x="13116108" y="5981580"/>
            <a:ext cx="1998238" cy="838285"/>
          </a:xfrm>
          <a:prstGeom prst="rect">
            <a:avLst/>
          </a:prstGeom>
          <a:solidFill>
            <a:srgbClr val="FFFFFF"/>
          </a:solidFill>
          <a:ln w="15875">
            <a:solidFill>
              <a:srgbClr val="2563EB"/>
            </a:solidFill>
          </a:ln>
        </p:spPr>
        <p:txBody>
          <a:bodyPr rtlCol="0" anchor="ctr"/>
          <a:lstStyle/>
          <a:p>
            <a:pPr algn="ctr"/>
            <a:endParaRPr/>
          </a:p>
        </p:txBody>
      </p:sp>
      <p:pic>
        <p:nvPicPr>
          <p:cNvPr id="6039" name="Picture 44" descr="image.png"/>
          <p:cNvPicPr>
            <a:picLocks noChangeAspect="1"/>
          </p:cNvPicPr>
          <p:nvPr/>
        </p:nvPicPr>
        <p:blipFill>
          <a:blip r:embed="rId6"/>
          <a:stretch>
            <a:fillRect/>
          </a:stretch>
        </p:blipFill>
        <p:spPr>
          <a:xfrm>
            <a:off x="13203835" y="6127792"/>
            <a:ext cx="272930" cy="272930"/>
          </a:xfrm>
          <a:prstGeom prst="rect">
            <a:avLst/>
          </a:prstGeom>
        </p:spPr>
      </p:pic>
      <p:sp>
        <p:nvSpPr>
          <p:cNvPr id="4" name="TextBox 45"/>
          <p:cNvSpPr txBox="1"/>
          <p:nvPr/>
        </p:nvSpPr>
        <p:spPr>
          <a:xfrm>
            <a:off x="13515756" y="5981580"/>
            <a:ext cx="1579096" cy="565355"/>
          </a:xfrm>
          <a:prstGeom prst="rect">
            <a:avLst/>
          </a:prstGeom>
          <a:noFill/>
        </p:spPr>
        <p:txBody>
          <a:bodyPr wrap="none" lIns="0" tIns="0" rIns="0" bIns="0" anchor="ctr">
            <a:noAutofit/>
          </a:bodyPr>
          <a:lstStyle/>
          <a:p>
            <a:pPr algn="l">
              <a:lnSpc>
                <a:spcPts val="1460"/>
              </a:lnSpc>
              <a:spcBef>
                <a:spcPts val="0"/>
              </a:spcBef>
              <a:spcAft>
                <a:spcPts val="0"/>
              </a:spcAft>
            </a:pPr>
            <a:r>
              <a:rPr lang="ko-KR" altLang="en-US" sz="1300" b="1" dirty="0">
                <a:solidFill>
                  <a:srgbClr val="2563EB"/>
                </a:solidFill>
                <a:latin typeface="Arial"/>
                <a:ea typeface="맑은 고딕"/>
                <a:cs typeface="Arial"/>
              </a:rPr>
              <a:t>어시스턴트 에이전트</a:t>
            </a:r>
          </a:p>
          <a:p>
            <a:pPr algn="ctr">
              <a:lnSpc>
                <a:spcPts val="1220"/>
              </a:lnSpc>
              <a:spcBef>
                <a:spcPts val="100"/>
              </a:spcBef>
              <a:spcAft>
                <a:spcPts val="0"/>
              </a:spcAft>
            </a:pPr>
            <a:r>
              <a:rPr lang="ko-KR" altLang="en-US" sz="1050" dirty="0">
                <a:solidFill>
                  <a:srgbClr val="1F2937"/>
                </a:solidFill>
                <a:latin typeface="Arial"/>
                <a:ea typeface="맑은 고딕"/>
                <a:cs typeface="Arial"/>
              </a:rPr>
              <a:t>EXAONE 4.0 32B</a:t>
            </a:r>
          </a:p>
        </p:txBody>
      </p:sp>
      <p:sp>
        <p:nvSpPr>
          <p:cNvPr id="6040" name="Rectangle 46"/>
          <p:cNvSpPr/>
          <p:nvPr/>
        </p:nvSpPr>
        <p:spPr>
          <a:xfrm>
            <a:off x="13116108" y="6546935"/>
            <a:ext cx="999119" cy="272930"/>
          </a:xfrm>
          <a:prstGeom prst="rect">
            <a:avLst/>
          </a:prstGeom>
          <a:solidFill>
            <a:srgbClr val="FFFFFF"/>
          </a:solidFill>
          <a:ln w="15875">
            <a:solidFill>
              <a:srgbClr val="2563EB"/>
            </a:solidFill>
          </a:ln>
        </p:spPr>
        <p:txBody>
          <a:bodyPr wrap="square" lIns="18288" tIns="0" rIns="18288" bIns="0" rtlCol="0" anchor="ctr">
            <a:noAutofit/>
          </a:bodyPr>
          <a:lstStyle/>
          <a:p>
            <a:pPr algn="ctr">
              <a:lnSpc>
                <a:spcPts val="1040"/>
              </a:lnSpc>
              <a:spcBef>
                <a:spcPts val="0"/>
              </a:spcBef>
              <a:spcAft>
                <a:spcPts val="0"/>
              </a:spcAft>
            </a:pPr>
            <a:r>
              <a:rPr lang="ko-KR" altLang="en-US" sz="900" b="1" dirty="0">
                <a:solidFill>
                  <a:srgbClr val="1F2937"/>
                </a:solidFill>
                <a:latin typeface="Arial"/>
                <a:ea typeface="맑은 고딕"/>
                <a:cs typeface="Arial"/>
              </a:rPr>
              <a:t>상황 정정</a:t>
            </a:r>
          </a:p>
        </p:txBody>
      </p:sp>
      <p:sp>
        <p:nvSpPr>
          <p:cNvPr id="6041" name="Rectangle 47"/>
          <p:cNvSpPr/>
          <p:nvPr/>
        </p:nvSpPr>
        <p:spPr>
          <a:xfrm>
            <a:off x="14115227" y="6546935"/>
            <a:ext cx="999119" cy="272930"/>
          </a:xfrm>
          <a:prstGeom prst="rect">
            <a:avLst/>
          </a:prstGeom>
          <a:solidFill>
            <a:srgbClr val="FFFFFF"/>
          </a:solidFill>
          <a:ln w="15875">
            <a:solidFill>
              <a:srgbClr val="2563EB"/>
            </a:solidFill>
          </a:ln>
        </p:spPr>
        <p:txBody>
          <a:bodyPr wrap="square" lIns="18288" tIns="0" rIns="18288" bIns="0" rtlCol="0" anchor="ctr">
            <a:noAutofit/>
          </a:bodyPr>
          <a:lstStyle/>
          <a:p>
            <a:pPr algn="ctr">
              <a:lnSpc>
                <a:spcPts val="1040"/>
              </a:lnSpc>
              <a:spcBef>
                <a:spcPts val="0"/>
              </a:spcBef>
              <a:spcAft>
                <a:spcPts val="0"/>
              </a:spcAft>
            </a:pPr>
            <a:r>
              <a:rPr lang="ko-KR" altLang="en-US" sz="900" b="1" dirty="0">
                <a:solidFill>
                  <a:srgbClr val="1F2937"/>
                </a:solidFill>
                <a:latin typeface="Arial"/>
                <a:ea typeface="맑은 고딕"/>
                <a:cs typeface="Arial"/>
              </a:rPr>
              <a:t>질의응답</a:t>
            </a:r>
          </a:p>
        </p:txBody>
      </p:sp>
      <p:cxnSp>
        <p:nvCxnSpPr>
          <p:cNvPr id="6042" name="Connector 48"/>
          <p:cNvCxnSpPr/>
          <p:nvPr/>
        </p:nvCxnSpPr>
        <p:spPr>
          <a:xfrm>
            <a:off x="5293736" y="3829818"/>
            <a:ext cx="0" cy="1072225"/>
          </a:xfrm>
          <a:prstGeom prst="line">
            <a:avLst/>
          </a:prstGeom>
          <a:ln w="22225">
            <a:solidFill>
              <a:srgbClr val="1F2937"/>
            </a:solidFill>
            <a:tailEnd type="triangle" w="med" len="med"/>
          </a:ln>
        </p:spPr>
      </p:cxnSp>
      <p:sp>
        <p:nvSpPr>
          <p:cNvPr id="6043" name="Oval 49"/>
          <p:cNvSpPr/>
          <p:nvPr/>
        </p:nvSpPr>
        <p:spPr>
          <a:xfrm>
            <a:off x="5186513" y="4219718"/>
            <a:ext cx="214445" cy="214445"/>
          </a:xfrm>
          <a:prstGeom prst="ellipse">
            <a:avLst/>
          </a:prstGeom>
          <a:solidFill>
            <a:srgbClr val="1F2937"/>
          </a:solidFill>
          <a:ln>
            <a:noFill/>
          </a:ln>
        </p:spPr>
        <p:txBody>
          <a:bodyPr wrap="square" lIns="0" tIns="0" rIns="0" bIns="0" rtlCol="0" anchor="ctr">
            <a:noAutofit/>
          </a:bodyPr>
          <a:lstStyle/>
          <a:p>
            <a:pPr algn="ctr">
              <a:lnSpc>
                <a:spcPts val="1100"/>
              </a:lnSpc>
              <a:spcBef>
                <a:spcPts val="0"/>
              </a:spcBef>
              <a:spcAft>
                <a:spcPts val="0"/>
              </a:spcAft>
            </a:pPr>
            <a:r>
              <a:rPr lang="ko-KR" altLang="en-US" sz="950" b="1">
                <a:solidFill>
                  <a:srgbClr val="FFFFFF"/>
                </a:solidFill>
                <a:latin typeface="Arial"/>
                <a:ea typeface="맑은 고딕"/>
                <a:cs typeface="Arial"/>
              </a:rPr>
              <a:t>1</a:t>
            </a:r>
          </a:p>
        </p:txBody>
      </p:sp>
      <p:sp>
        <p:nvSpPr>
          <p:cNvPr id="6044" name="TextBox 50"/>
          <p:cNvSpPr txBox="1"/>
          <p:nvPr/>
        </p:nvSpPr>
        <p:spPr>
          <a:xfrm>
            <a:off x="4318986" y="4178291"/>
            <a:ext cx="799295" cy="175455"/>
          </a:xfrm>
          <a:prstGeom prst="rect">
            <a:avLst/>
          </a:prstGeom>
          <a:noFill/>
        </p:spPr>
        <p:txBody>
          <a:bodyPr wrap="square" lIns="0" tIns="0" rIns="0" bIns="0" anchor="ctr">
            <a:noAutofit/>
          </a:bodyPr>
          <a:lstStyle/>
          <a:p>
            <a:pPr algn="r">
              <a:lnSpc>
                <a:spcPts val="1100"/>
              </a:lnSpc>
              <a:spcBef>
                <a:spcPts val="0"/>
              </a:spcBef>
              <a:spcAft>
                <a:spcPts val="0"/>
              </a:spcAft>
            </a:pPr>
            <a:r>
              <a:rPr lang="ko-KR" altLang="en-US" sz="950" b="0">
                <a:solidFill>
                  <a:srgbClr val="1F2937"/>
                </a:solidFill>
                <a:latin typeface="Arial"/>
                <a:ea typeface="맑은 고딕"/>
                <a:cs typeface="Arial"/>
              </a:rPr>
              <a:t>요청 · 대화</a:t>
            </a:r>
          </a:p>
        </p:txBody>
      </p:sp>
      <p:cxnSp>
        <p:nvCxnSpPr>
          <p:cNvPr id="6045" name="Connector 51"/>
          <p:cNvCxnSpPr/>
          <p:nvPr/>
        </p:nvCxnSpPr>
        <p:spPr>
          <a:xfrm>
            <a:off x="6244118" y="5304128"/>
            <a:ext cx="389900" cy="0"/>
          </a:xfrm>
          <a:prstGeom prst="line">
            <a:avLst/>
          </a:prstGeom>
          <a:ln w="22225">
            <a:solidFill>
              <a:srgbClr val="1F2937"/>
            </a:solidFill>
            <a:tailEnd type="triangle" w="med" len="med"/>
          </a:ln>
        </p:spPr>
      </p:cxnSp>
      <p:sp>
        <p:nvSpPr>
          <p:cNvPr id="6046" name="Oval 52"/>
          <p:cNvSpPr/>
          <p:nvPr/>
        </p:nvSpPr>
        <p:spPr>
          <a:xfrm>
            <a:off x="6331845" y="4953218"/>
            <a:ext cx="214445" cy="214445"/>
          </a:xfrm>
          <a:prstGeom prst="ellipse">
            <a:avLst/>
          </a:prstGeom>
          <a:solidFill>
            <a:srgbClr val="1F2937"/>
          </a:solidFill>
          <a:ln>
            <a:noFill/>
          </a:ln>
        </p:spPr>
        <p:txBody>
          <a:bodyPr wrap="square" lIns="0" tIns="0" rIns="0" bIns="0" rtlCol="0" anchor="ctr">
            <a:noAutofit/>
          </a:bodyPr>
          <a:lstStyle/>
          <a:p>
            <a:pPr algn="ctr">
              <a:lnSpc>
                <a:spcPts val="1100"/>
              </a:lnSpc>
              <a:spcBef>
                <a:spcPts val="0"/>
              </a:spcBef>
              <a:spcAft>
                <a:spcPts val="0"/>
              </a:spcAft>
            </a:pPr>
            <a:r>
              <a:rPr lang="ko-KR" altLang="en-US" sz="950" b="1">
                <a:solidFill>
                  <a:srgbClr val="FFFFFF"/>
                </a:solidFill>
                <a:latin typeface="Arial"/>
                <a:ea typeface="맑은 고딕"/>
                <a:cs typeface="Arial"/>
              </a:rPr>
              <a:t>2</a:t>
            </a:r>
          </a:p>
        </p:txBody>
      </p:sp>
      <p:cxnSp>
        <p:nvCxnSpPr>
          <p:cNvPr id="6047" name="Connector 53"/>
          <p:cNvCxnSpPr/>
          <p:nvPr/>
        </p:nvCxnSpPr>
        <p:spPr>
          <a:xfrm>
            <a:off x="8291093" y="5304128"/>
            <a:ext cx="438638" cy="0"/>
          </a:xfrm>
          <a:prstGeom prst="line">
            <a:avLst/>
          </a:prstGeom>
          <a:ln w="22225">
            <a:solidFill>
              <a:srgbClr val="1F2937"/>
            </a:solidFill>
            <a:tailEnd type="triangle" w="med" len="med"/>
          </a:ln>
        </p:spPr>
      </p:cxnSp>
      <p:sp>
        <p:nvSpPr>
          <p:cNvPr id="6048" name="Oval 54"/>
          <p:cNvSpPr/>
          <p:nvPr/>
        </p:nvSpPr>
        <p:spPr>
          <a:xfrm>
            <a:off x="8403190" y="4953218"/>
            <a:ext cx="214445" cy="214445"/>
          </a:xfrm>
          <a:prstGeom prst="ellipse">
            <a:avLst/>
          </a:prstGeom>
          <a:solidFill>
            <a:srgbClr val="1F2937"/>
          </a:solidFill>
          <a:ln>
            <a:noFill/>
          </a:ln>
        </p:spPr>
        <p:txBody>
          <a:bodyPr wrap="square" lIns="0" tIns="0" rIns="0" bIns="0" rtlCol="0" anchor="ctr">
            <a:noAutofit/>
          </a:bodyPr>
          <a:lstStyle/>
          <a:p>
            <a:pPr algn="ctr">
              <a:lnSpc>
                <a:spcPts val="1100"/>
              </a:lnSpc>
              <a:spcBef>
                <a:spcPts val="0"/>
              </a:spcBef>
              <a:spcAft>
                <a:spcPts val="0"/>
              </a:spcAft>
            </a:pPr>
            <a:r>
              <a:rPr lang="ko-KR" altLang="en-US" sz="950" b="1">
                <a:solidFill>
                  <a:srgbClr val="FFFFFF"/>
                </a:solidFill>
                <a:latin typeface="Arial"/>
                <a:ea typeface="맑은 고딕"/>
                <a:cs typeface="Arial"/>
              </a:rPr>
              <a:t>3</a:t>
            </a:r>
          </a:p>
        </p:txBody>
      </p:sp>
      <p:cxnSp>
        <p:nvCxnSpPr>
          <p:cNvPr id="6049" name="Connector 55"/>
          <p:cNvCxnSpPr/>
          <p:nvPr/>
        </p:nvCxnSpPr>
        <p:spPr>
          <a:xfrm>
            <a:off x="10143119" y="5304128"/>
            <a:ext cx="389900" cy="0"/>
          </a:xfrm>
          <a:prstGeom prst="line">
            <a:avLst/>
          </a:prstGeom>
          <a:ln w="22225">
            <a:solidFill>
              <a:srgbClr val="1F2937"/>
            </a:solidFill>
            <a:tailEnd type="triangle" w="med" len="med"/>
          </a:ln>
        </p:spPr>
      </p:cxnSp>
      <p:sp>
        <p:nvSpPr>
          <p:cNvPr id="6050" name="Oval 56"/>
          <p:cNvSpPr/>
          <p:nvPr/>
        </p:nvSpPr>
        <p:spPr>
          <a:xfrm>
            <a:off x="10230847" y="4953218"/>
            <a:ext cx="214445" cy="214445"/>
          </a:xfrm>
          <a:prstGeom prst="ellipse">
            <a:avLst/>
          </a:prstGeom>
          <a:solidFill>
            <a:srgbClr val="1F2937"/>
          </a:solidFill>
          <a:ln>
            <a:noFill/>
          </a:ln>
        </p:spPr>
        <p:txBody>
          <a:bodyPr wrap="square" lIns="0" tIns="0" rIns="0" bIns="0" rtlCol="0" anchor="ctr">
            <a:noAutofit/>
          </a:bodyPr>
          <a:lstStyle/>
          <a:p>
            <a:pPr algn="ctr">
              <a:lnSpc>
                <a:spcPts val="1100"/>
              </a:lnSpc>
              <a:spcBef>
                <a:spcPts val="0"/>
              </a:spcBef>
              <a:spcAft>
                <a:spcPts val="0"/>
              </a:spcAft>
            </a:pPr>
            <a:r>
              <a:rPr lang="ko-KR" altLang="en-US" sz="950" b="1">
                <a:solidFill>
                  <a:srgbClr val="FFFFFF"/>
                </a:solidFill>
                <a:latin typeface="Arial"/>
                <a:ea typeface="맑은 고딕"/>
                <a:cs typeface="Arial"/>
              </a:rPr>
              <a:t>4</a:t>
            </a:r>
          </a:p>
        </p:txBody>
      </p:sp>
      <p:cxnSp>
        <p:nvCxnSpPr>
          <p:cNvPr id="6051" name="Connector 57"/>
          <p:cNvCxnSpPr/>
          <p:nvPr/>
        </p:nvCxnSpPr>
        <p:spPr>
          <a:xfrm>
            <a:off x="12628733" y="5304128"/>
            <a:ext cx="487375" cy="0"/>
          </a:xfrm>
          <a:prstGeom prst="line">
            <a:avLst/>
          </a:prstGeom>
          <a:ln w="22225">
            <a:solidFill>
              <a:srgbClr val="1F2937"/>
            </a:solidFill>
            <a:tailEnd type="triangle" w="med" len="med"/>
          </a:ln>
        </p:spPr>
      </p:cxnSp>
      <p:sp>
        <p:nvSpPr>
          <p:cNvPr id="6052" name="Oval 58"/>
          <p:cNvSpPr/>
          <p:nvPr/>
        </p:nvSpPr>
        <p:spPr>
          <a:xfrm>
            <a:off x="12765198" y="4953218"/>
            <a:ext cx="214445" cy="214445"/>
          </a:xfrm>
          <a:prstGeom prst="ellipse">
            <a:avLst/>
          </a:prstGeom>
          <a:solidFill>
            <a:srgbClr val="1F2937"/>
          </a:solidFill>
          <a:ln>
            <a:noFill/>
          </a:ln>
        </p:spPr>
        <p:txBody>
          <a:bodyPr wrap="square" lIns="0" tIns="0" rIns="0" bIns="0" rtlCol="0" anchor="ctr">
            <a:noAutofit/>
          </a:bodyPr>
          <a:lstStyle/>
          <a:p>
            <a:pPr algn="ctr">
              <a:lnSpc>
                <a:spcPts val="1100"/>
              </a:lnSpc>
              <a:spcBef>
                <a:spcPts val="0"/>
              </a:spcBef>
              <a:spcAft>
                <a:spcPts val="0"/>
              </a:spcAft>
            </a:pPr>
            <a:r>
              <a:rPr lang="ko-KR" altLang="en-US" sz="950" b="1">
                <a:solidFill>
                  <a:srgbClr val="FFFFFF"/>
                </a:solidFill>
                <a:latin typeface="Arial"/>
                <a:ea typeface="맑은 고딕"/>
                <a:cs typeface="Arial"/>
              </a:rPr>
              <a:t>5</a:t>
            </a:r>
          </a:p>
        </p:txBody>
      </p:sp>
      <p:cxnSp>
        <p:nvCxnSpPr>
          <p:cNvPr id="6053" name="Connector 59"/>
          <p:cNvCxnSpPr/>
          <p:nvPr/>
        </p:nvCxnSpPr>
        <p:spPr>
          <a:xfrm flipV="1">
            <a:off x="14115227" y="3829818"/>
            <a:ext cx="0" cy="1072225"/>
          </a:xfrm>
          <a:prstGeom prst="line">
            <a:avLst/>
          </a:prstGeom>
          <a:ln w="22225">
            <a:solidFill>
              <a:srgbClr val="1F2937"/>
            </a:solidFill>
            <a:tailEnd type="triangle" w="med" len="med"/>
          </a:ln>
        </p:spPr>
      </p:cxnSp>
      <p:sp>
        <p:nvSpPr>
          <p:cNvPr id="6054" name="Oval 60"/>
          <p:cNvSpPr/>
          <p:nvPr/>
        </p:nvSpPr>
        <p:spPr>
          <a:xfrm>
            <a:off x="14008004" y="4219718"/>
            <a:ext cx="214445" cy="214445"/>
          </a:xfrm>
          <a:prstGeom prst="ellipse">
            <a:avLst/>
          </a:prstGeom>
          <a:solidFill>
            <a:srgbClr val="1F2937"/>
          </a:solidFill>
          <a:ln>
            <a:noFill/>
          </a:ln>
        </p:spPr>
        <p:txBody>
          <a:bodyPr wrap="square" lIns="0" tIns="0" rIns="0" bIns="0" rtlCol="0" anchor="ctr">
            <a:noAutofit/>
          </a:bodyPr>
          <a:lstStyle/>
          <a:p>
            <a:pPr algn="ctr">
              <a:lnSpc>
                <a:spcPts val="1100"/>
              </a:lnSpc>
              <a:spcBef>
                <a:spcPts val="0"/>
              </a:spcBef>
              <a:spcAft>
                <a:spcPts val="0"/>
              </a:spcAft>
            </a:pPr>
            <a:r>
              <a:rPr lang="ko-KR" altLang="en-US" sz="950" b="1">
                <a:solidFill>
                  <a:srgbClr val="FFFFFF"/>
                </a:solidFill>
                <a:latin typeface="Arial"/>
                <a:ea typeface="맑은 고딕"/>
                <a:cs typeface="Arial"/>
              </a:rPr>
              <a:t>6</a:t>
            </a:r>
          </a:p>
        </p:txBody>
      </p:sp>
      <p:sp>
        <p:nvSpPr>
          <p:cNvPr id="6055" name="TextBox 61"/>
          <p:cNvSpPr txBox="1"/>
          <p:nvPr/>
        </p:nvSpPr>
        <p:spPr>
          <a:xfrm>
            <a:off x="14290682" y="4178291"/>
            <a:ext cx="584850" cy="175455"/>
          </a:xfrm>
          <a:prstGeom prst="rect">
            <a:avLst/>
          </a:prstGeom>
          <a:noFill/>
        </p:spPr>
        <p:txBody>
          <a:bodyPr wrap="square" lIns="0" tIns="0" rIns="0" bIns="0" anchor="ctr">
            <a:noAutofit/>
          </a:bodyPr>
          <a:lstStyle/>
          <a:p>
            <a:pPr algn="l">
              <a:lnSpc>
                <a:spcPts val="1100"/>
              </a:lnSpc>
              <a:spcBef>
                <a:spcPts val="0"/>
              </a:spcBef>
              <a:spcAft>
                <a:spcPts val="0"/>
              </a:spcAft>
            </a:pPr>
            <a:r>
              <a:rPr lang="ko-KR" altLang="en-US" sz="950" b="0">
                <a:solidFill>
                  <a:srgbClr val="1F2937"/>
                </a:solidFill>
                <a:latin typeface="Arial"/>
                <a:ea typeface="맑은 고딕"/>
                <a:cs typeface="Arial"/>
              </a:rPr>
              <a:t>응답</a:t>
            </a:r>
          </a:p>
        </p:txBody>
      </p:sp>
      <p:cxnSp>
        <p:nvCxnSpPr>
          <p:cNvPr id="6056" name="Connector 62"/>
          <p:cNvCxnSpPr/>
          <p:nvPr/>
        </p:nvCxnSpPr>
        <p:spPr>
          <a:xfrm flipV="1">
            <a:off x="14614787" y="5767135"/>
            <a:ext cx="0" cy="214445"/>
          </a:xfrm>
          <a:prstGeom prst="line">
            <a:avLst/>
          </a:prstGeom>
          <a:ln w="12700">
            <a:solidFill>
              <a:srgbClr val="1F2937"/>
            </a:solidFill>
            <a:tailEnd type="triangle" w="med" len="med"/>
          </a:ln>
        </p:spPr>
      </p:cxnSp>
      <p:sp>
        <p:nvSpPr>
          <p:cNvPr id="6057" name="TextBox 63"/>
          <p:cNvSpPr txBox="1"/>
          <p:nvPr/>
        </p:nvSpPr>
        <p:spPr>
          <a:xfrm>
            <a:off x="14010441" y="5786630"/>
            <a:ext cx="536113" cy="175455"/>
          </a:xfrm>
          <a:prstGeom prst="rect">
            <a:avLst/>
          </a:prstGeom>
          <a:noFill/>
        </p:spPr>
        <p:txBody>
          <a:bodyPr wrap="square" lIns="0" tIns="0" rIns="0" bIns="0" anchor="ctr">
            <a:noAutofit/>
          </a:bodyPr>
          <a:lstStyle/>
          <a:p>
            <a:pPr algn="r">
              <a:lnSpc>
                <a:spcPts val="1100"/>
              </a:lnSpc>
              <a:spcBef>
                <a:spcPts val="0"/>
              </a:spcBef>
              <a:spcAft>
                <a:spcPts val="0"/>
              </a:spcAft>
            </a:pPr>
            <a:r>
              <a:rPr lang="ko-KR" altLang="en-US" sz="950" b="0">
                <a:solidFill>
                  <a:srgbClr val="1F2937"/>
                </a:solidFill>
                <a:latin typeface="Arial"/>
                <a:ea typeface="맑은 고딕"/>
                <a:cs typeface="Arial"/>
              </a:rPr>
              <a:t>답변</a:t>
            </a:r>
          </a:p>
        </p:txBody>
      </p:sp>
      <p:sp>
        <p:nvSpPr>
          <p:cNvPr id="6058" name="Freeform 64"/>
          <p:cNvSpPr/>
          <p:nvPr/>
        </p:nvSpPr>
        <p:spPr>
          <a:xfrm>
            <a:off x="10143119" y="5601427"/>
            <a:ext cx="2972989" cy="1081973"/>
          </a:xfrm>
          <a:custGeom>
            <a:avLst/>
            <a:gdLst/>
            <a:ahLst/>
            <a:cxnLst/>
            <a:rect l="l" t="t" r="r" b="b"/>
            <a:pathLst>
              <a:path w="2788920" h="1014984">
                <a:moveTo>
                  <a:pt x="2788920" y="1014984"/>
                </a:moveTo>
                <a:lnTo>
                  <a:pt x="182880" y="1014984"/>
                </a:lnTo>
                <a:lnTo>
                  <a:pt x="182880" y="0"/>
                </a:lnTo>
                <a:lnTo>
                  <a:pt x="0" y="0"/>
                </a:lnTo>
              </a:path>
            </a:pathLst>
          </a:custGeom>
          <a:noFill/>
          <a:ln w="12700">
            <a:solidFill>
              <a:srgbClr val="1F2937"/>
            </a:solidFill>
            <a:tailEnd type="triangle" w="med" len="med"/>
          </a:ln>
        </p:spPr>
        <p:txBody>
          <a:bodyPr rtlCol="0" anchor="ctr"/>
          <a:lstStyle/>
          <a:p>
            <a:pPr algn="ctr"/>
            <a:endParaRPr/>
          </a:p>
        </p:txBody>
      </p:sp>
      <p:sp>
        <p:nvSpPr>
          <p:cNvPr id="6059" name="TextBox 65"/>
          <p:cNvSpPr txBox="1"/>
          <p:nvPr/>
        </p:nvSpPr>
        <p:spPr>
          <a:xfrm>
            <a:off x="10455039" y="6478702"/>
            <a:ext cx="2729301" cy="175455"/>
          </a:xfrm>
          <a:prstGeom prst="rect">
            <a:avLst/>
          </a:prstGeom>
          <a:noFill/>
        </p:spPr>
        <p:txBody>
          <a:bodyPr wrap="square" lIns="0" tIns="0" rIns="0" bIns="0" anchor="ctr">
            <a:noAutofit/>
          </a:bodyPr>
          <a:lstStyle/>
          <a:p>
            <a:pPr algn="l">
              <a:lnSpc>
                <a:spcPts val="1100"/>
              </a:lnSpc>
              <a:spcBef>
                <a:spcPts val="0"/>
              </a:spcBef>
              <a:spcAft>
                <a:spcPts val="0"/>
              </a:spcAft>
            </a:pPr>
            <a:r>
              <a:rPr lang="ko-KR" altLang="en-US" sz="950" b="0">
                <a:solidFill>
                  <a:srgbClr val="1F2937"/>
                </a:solidFill>
                <a:latin typeface="Arial"/>
                <a:ea typeface="맑은 고딕"/>
                <a:cs typeface="Arial"/>
              </a:rPr>
              <a:t>확인된 정정 → 재판정 (상황 정정)</a:t>
            </a:r>
          </a:p>
        </p:txBody>
      </p:sp>
      <p:sp>
        <p:nvSpPr>
          <p:cNvPr id="6060" name="TextBox 66"/>
          <p:cNvSpPr txBox="1"/>
          <p:nvPr/>
        </p:nvSpPr>
        <p:spPr>
          <a:xfrm>
            <a:off x="2978704" y="7285850"/>
            <a:ext cx="1364651" cy="779800"/>
          </a:xfrm>
          <a:prstGeom prst="rect">
            <a:avLst/>
          </a:prstGeom>
          <a:noFill/>
        </p:spPr>
        <p:txBody>
          <a:bodyPr wrap="square" lIns="0" tIns="0" rIns="0" bIns="0" anchor="t">
            <a:noAutofit/>
          </a:bodyPr>
          <a:lstStyle/>
          <a:p>
            <a:pPr algn="l">
              <a:lnSpc>
                <a:spcPts val="1710"/>
              </a:lnSpc>
              <a:spcBef>
                <a:spcPts val="0"/>
              </a:spcBef>
              <a:spcAft>
                <a:spcPts val="0"/>
              </a:spcAft>
            </a:pPr>
            <a:r>
              <a:rPr lang="ko-KR" altLang="en-US" sz="1500" b="1" dirty="0">
                <a:solidFill>
                  <a:srgbClr val="1F2937"/>
                </a:solidFill>
                <a:latin typeface="Arial"/>
                <a:ea typeface="맑은 고딕"/>
                <a:cs typeface="Arial"/>
              </a:rPr>
              <a:t>데이터 </a:t>
            </a:r>
            <a:r>
              <a:rPr lang="ko-KR" altLang="en-US" sz="1000" b="0" dirty="0">
                <a:solidFill>
                  <a:srgbClr val="1F2937"/>
                </a:solidFill>
                <a:latin typeface="Arial"/>
                <a:ea typeface="맑은 고딕"/>
                <a:cs typeface="Arial"/>
              </a:rPr>
              <a:t>Data </a:t>
            </a:r>
            <a:br>
              <a:rPr lang="en-US" altLang="ko-KR" sz="1000" dirty="0">
                <a:solidFill>
                  <a:srgbClr val="1F2937"/>
                </a:solidFill>
                <a:latin typeface="Arial"/>
                <a:ea typeface="맑은 고딕"/>
                <a:cs typeface="Arial"/>
              </a:rPr>
            </a:br>
            <a:r>
              <a:rPr lang="ko-KR" altLang="en-US" sz="900" b="0" dirty="0">
                <a:solidFill>
                  <a:srgbClr val="1F2937"/>
                </a:solidFill>
                <a:latin typeface="Arial"/>
                <a:ea typeface="맑은 고딕"/>
                <a:cs typeface="Arial"/>
              </a:rPr>
              <a:t>실시간 수집 + 사전 구축</a:t>
            </a:r>
          </a:p>
        </p:txBody>
      </p:sp>
      <p:sp>
        <p:nvSpPr>
          <p:cNvPr id="6061" name="Rectangle 67"/>
          <p:cNvSpPr/>
          <p:nvPr/>
        </p:nvSpPr>
        <p:spPr>
          <a:xfrm>
            <a:off x="4343354" y="7285850"/>
            <a:ext cx="1608338" cy="1393893"/>
          </a:xfrm>
          <a:prstGeom prst="rect">
            <a:avLst/>
          </a:prstGeom>
          <a:noFill/>
          <a:ln w="12700">
            <a:solidFill>
              <a:srgbClr val="9CA3AF"/>
            </a:solidFill>
          </a:ln>
        </p:spPr>
        <p:txBody>
          <a:bodyPr rtlCol="0" anchor="ctr"/>
          <a:lstStyle/>
          <a:p>
            <a:pPr algn="ctr"/>
            <a:endParaRPr/>
          </a:p>
        </p:txBody>
      </p:sp>
      <p:sp>
        <p:nvSpPr>
          <p:cNvPr id="6062" name="TextBox 68"/>
          <p:cNvSpPr txBox="1"/>
          <p:nvPr/>
        </p:nvSpPr>
        <p:spPr>
          <a:xfrm>
            <a:off x="4421334" y="7324840"/>
            <a:ext cx="1744803" cy="194950"/>
          </a:xfrm>
          <a:prstGeom prst="rect">
            <a:avLst/>
          </a:prstGeom>
          <a:noFill/>
        </p:spPr>
        <p:txBody>
          <a:bodyPr wrap="square" lIns="0" tIns="0" rIns="0" bIns="0" anchor="ctr">
            <a:noAutofit/>
          </a:bodyPr>
          <a:lstStyle/>
          <a:p>
            <a:pPr algn="l">
              <a:lnSpc>
                <a:spcPts val="1160"/>
              </a:lnSpc>
              <a:spcBef>
                <a:spcPts val="0"/>
              </a:spcBef>
              <a:spcAft>
                <a:spcPts val="0"/>
              </a:spcAft>
            </a:pPr>
            <a:r>
              <a:rPr lang="ko-KR" altLang="en-US" sz="1000" b="1" dirty="0">
                <a:solidFill>
                  <a:srgbClr val="1F2937"/>
                </a:solidFill>
                <a:latin typeface="Arial"/>
                <a:ea typeface="맑은 고딕"/>
                <a:cs typeface="Arial"/>
              </a:rPr>
              <a:t>실시간 수집</a:t>
            </a:r>
          </a:p>
        </p:txBody>
      </p:sp>
      <p:sp>
        <p:nvSpPr>
          <p:cNvPr id="6063" name="Rectangle 69"/>
          <p:cNvSpPr/>
          <p:nvPr/>
        </p:nvSpPr>
        <p:spPr>
          <a:xfrm>
            <a:off x="6097905" y="7285850"/>
            <a:ext cx="8918966" cy="1393893"/>
          </a:xfrm>
          <a:prstGeom prst="rect">
            <a:avLst/>
          </a:prstGeom>
          <a:noFill/>
          <a:ln w="12700">
            <a:solidFill>
              <a:srgbClr val="9CA3AF"/>
            </a:solidFill>
          </a:ln>
        </p:spPr>
        <p:txBody>
          <a:bodyPr rtlCol="0" anchor="ctr"/>
          <a:lstStyle/>
          <a:p>
            <a:pPr algn="ctr"/>
            <a:endParaRPr/>
          </a:p>
        </p:txBody>
      </p:sp>
      <p:sp>
        <p:nvSpPr>
          <p:cNvPr id="6064" name="TextBox 70"/>
          <p:cNvSpPr txBox="1"/>
          <p:nvPr/>
        </p:nvSpPr>
        <p:spPr>
          <a:xfrm>
            <a:off x="6175885" y="7324840"/>
            <a:ext cx="8343863" cy="194950"/>
          </a:xfrm>
          <a:prstGeom prst="rect">
            <a:avLst/>
          </a:prstGeom>
          <a:noFill/>
        </p:spPr>
        <p:txBody>
          <a:bodyPr wrap="square" lIns="0" tIns="0" rIns="0" bIns="0" anchor="ctr">
            <a:noAutofit/>
          </a:bodyPr>
          <a:lstStyle/>
          <a:p>
            <a:pPr algn="l">
              <a:lnSpc>
                <a:spcPts val="1160"/>
              </a:lnSpc>
              <a:spcBef>
                <a:spcPts val="0"/>
              </a:spcBef>
              <a:spcAft>
                <a:spcPts val="0"/>
              </a:spcAft>
            </a:pPr>
            <a:r>
              <a:rPr lang="ko-KR" altLang="en-US" sz="1000" b="1" dirty="0">
                <a:solidFill>
                  <a:srgbClr val="1F2937"/>
                </a:solidFill>
                <a:latin typeface="Arial"/>
                <a:ea typeface="맑은 고딕"/>
                <a:cs typeface="Arial"/>
              </a:rPr>
              <a:t>사전 구축</a:t>
            </a:r>
          </a:p>
        </p:txBody>
      </p:sp>
      <p:sp>
        <p:nvSpPr>
          <p:cNvPr id="6065" name="TextBox 71"/>
          <p:cNvSpPr txBox="1"/>
          <p:nvPr/>
        </p:nvSpPr>
        <p:spPr>
          <a:xfrm>
            <a:off x="7121393" y="7324840"/>
            <a:ext cx="2924251" cy="194950"/>
          </a:xfrm>
          <a:prstGeom prst="rect">
            <a:avLst/>
          </a:prstGeom>
          <a:noFill/>
        </p:spPr>
        <p:txBody>
          <a:bodyPr wrap="square" lIns="0" tIns="0" rIns="0" bIns="0" anchor="ctr">
            <a:noAutofit/>
          </a:bodyPr>
          <a:lstStyle/>
          <a:p>
            <a:pPr algn="l">
              <a:lnSpc>
                <a:spcPts val="1160"/>
              </a:lnSpc>
              <a:spcBef>
                <a:spcPts val="0"/>
              </a:spcBef>
              <a:spcAft>
                <a:spcPts val="0"/>
              </a:spcAft>
            </a:pPr>
            <a:r>
              <a:rPr lang="ko-KR" altLang="en-US" sz="1000" b="0">
                <a:solidFill>
                  <a:srgbClr val="1F2937"/>
                </a:solidFill>
                <a:latin typeface="Arial"/>
                <a:ea typeface="맑은 고딕"/>
                <a:cs typeface="Arial"/>
              </a:rPr>
              <a:t>(운영 전 1회 + 주기 갱신)</a:t>
            </a:r>
          </a:p>
        </p:txBody>
      </p:sp>
      <p:sp>
        <p:nvSpPr>
          <p:cNvPr id="6066" name="Rectangle 72"/>
          <p:cNvSpPr/>
          <p:nvPr/>
        </p:nvSpPr>
        <p:spPr>
          <a:xfrm>
            <a:off x="4421334" y="7539285"/>
            <a:ext cx="1452378" cy="409395"/>
          </a:xfrm>
          <a:prstGeom prst="rect">
            <a:avLst/>
          </a:prstGeom>
          <a:solidFill>
            <a:srgbClr val="FFFFFF"/>
          </a:solidFill>
          <a:ln w="15875">
            <a:solidFill>
              <a:srgbClr val="1F2937"/>
            </a:solidFill>
          </a:ln>
        </p:spPr>
        <p:txBody>
          <a:bodyPr wrap="square" lIns="45720" tIns="27432" rIns="45720" bIns="27432" rtlCol="0" anchor="ctr">
            <a:noAutofit/>
          </a:bodyPr>
          <a:lstStyle/>
          <a:p>
            <a:pPr algn="ctr">
              <a:lnSpc>
                <a:spcPts val="1220"/>
              </a:lnSpc>
              <a:spcBef>
                <a:spcPts val="0"/>
              </a:spcBef>
              <a:spcAft>
                <a:spcPts val="0"/>
              </a:spcAft>
            </a:pPr>
            <a:r>
              <a:rPr lang="ko-KR" altLang="en-US" sz="1050" b="1">
                <a:solidFill>
                  <a:srgbClr val="1F2937"/>
                </a:solidFill>
                <a:latin typeface="Arial"/>
                <a:ea typeface="맑은 고딕"/>
                <a:cs typeface="Arial"/>
              </a:rPr>
              <a:t>기상 캐시</a:t>
            </a:r>
          </a:p>
        </p:txBody>
      </p:sp>
      <p:sp>
        <p:nvSpPr>
          <p:cNvPr id="6067" name="Rectangle 73"/>
          <p:cNvSpPr/>
          <p:nvPr/>
        </p:nvSpPr>
        <p:spPr>
          <a:xfrm>
            <a:off x="4421334" y="8182620"/>
            <a:ext cx="1452378" cy="409395"/>
          </a:xfrm>
          <a:prstGeom prst="rect">
            <a:avLst/>
          </a:prstGeom>
          <a:solidFill>
            <a:srgbClr val="FFFFFF"/>
          </a:solidFill>
          <a:ln w="15875">
            <a:solidFill>
              <a:srgbClr val="9CA3AF"/>
            </a:solidFill>
            <a:prstDash val="dash"/>
          </a:ln>
        </p:spPr>
        <p:txBody>
          <a:bodyPr rtlCol="0" anchor="ctr"/>
          <a:lstStyle/>
          <a:p>
            <a:pPr algn="ctr"/>
            <a:endParaRPr/>
          </a:p>
        </p:txBody>
      </p:sp>
      <p:pic>
        <p:nvPicPr>
          <p:cNvPr id="6068" name="Picture 74" descr="image.png"/>
          <p:cNvPicPr>
            <a:picLocks noChangeAspect="1"/>
          </p:cNvPicPr>
          <p:nvPr/>
        </p:nvPicPr>
        <p:blipFill>
          <a:blip r:embed="rId7"/>
          <a:stretch>
            <a:fillRect/>
          </a:stretch>
        </p:blipFill>
        <p:spPr>
          <a:xfrm>
            <a:off x="4509061" y="8260600"/>
            <a:ext cx="253435" cy="253435"/>
          </a:xfrm>
          <a:prstGeom prst="rect">
            <a:avLst/>
          </a:prstGeom>
        </p:spPr>
      </p:pic>
      <p:sp>
        <p:nvSpPr>
          <p:cNvPr id="5" name="TextBox 75"/>
          <p:cNvSpPr txBox="1"/>
          <p:nvPr/>
        </p:nvSpPr>
        <p:spPr>
          <a:xfrm>
            <a:off x="4811234" y="8182620"/>
            <a:ext cx="1042983" cy="409395"/>
          </a:xfrm>
          <a:prstGeom prst="rect">
            <a:avLst/>
          </a:prstGeom>
          <a:noFill/>
        </p:spPr>
        <p:txBody>
          <a:bodyPr wrap="none" lIns="0" tIns="0" rIns="0" bIns="0" anchor="ctr">
            <a:noAutofit/>
          </a:bodyPr>
          <a:lstStyle/>
          <a:p>
            <a:pPr algn="l">
              <a:lnSpc>
                <a:spcPts val="1220"/>
              </a:lnSpc>
              <a:spcBef>
                <a:spcPts val="0"/>
              </a:spcBef>
              <a:spcAft>
                <a:spcPts val="0"/>
              </a:spcAft>
            </a:pPr>
            <a:r>
              <a:rPr lang="ko-KR" altLang="en-US" sz="1050" b="1">
                <a:solidFill>
                  <a:srgbClr val="1F2937"/>
                </a:solidFill>
                <a:latin typeface="Arial"/>
                <a:ea typeface="맑은 고딕"/>
                <a:cs typeface="Arial"/>
              </a:rPr>
              <a:t>기상청 API</a:t>
            </a:r>
          </a:p>
        </p:txBody>
      </p:sp>
      <p:cxnSp>
        <p:nvCxnSpPr>
          <p:cNvPr id="6069" name="Connector 76"/>
          <p:cNvCxnSpPr/>
          <p:nvPr/>
        </p:nvCxnSpPr>
        <p:spPr>
          <a:xfrm flipV="1">
            <a:off x="5152397" y="7948680"/>
            <a:ext cx="0" cy="233940"/>
          </a:xfrm>
          <a:prstGeom prst="line">
            <a:avLst/>
          </a:prstGeom>
          <a:ln w="12700">
            <a:solidFill>
              <a:srgbClr val="9CA3AF"/>
            </a:solidFill>
            <a:prstDash val="dash"/>
            <a:tailEnd type="triangle" w="med" len="med"/>
          </a:ln>
        </p:spPr>
      </p:cxnSp>
      <p:sp>
        <p:nvSpPr>
          <p:cNvPr id="6070" name="Rectangle 77"/>
          <p:cNvSpPr/>
          <p:nvPr/>
        </p:nvSpPr>
        <p:spPr>
          <a:xfrm>
            <a:off x="6214875" y="7539285"/>
            <a:ext cx="2856019" cy="409395"/>
          </a:xfrm>
          <a:prstGeom prst="rect">
            <a:avLst/>
          </a:prstGeom>
          <a:solidFill>
            <a:srgbClr val="FFFFFF"/>
          </a:solidFill>
          <a:ln w="15875">
            <a:solidFill>
              <a:srgbClr val="1F2937"/>
            </a:solidFill>
          </a:ln>
        </p:spPr>
        <p:txBody>
          <a:bodyPr wrap="square" lIns="45720" tIns="27432" rIns="45720" bIns="27432" rtlCol="0" anchor="ctr">
            <a:noAutofit/>
          </a:bodyPr>
          <a:lstStyle/>
          <a:p>
            <a:pPr algn="ctr">
              <a:lnSpc>
                <a:spcPts val="1220"/>
              </a:lnSpc>
              <a:spcBef>
                <a:spcPts val="0"/>
              </a:spcBef>
              <a:spcAft>
                <a:spcPts val="0"/>
              </a:spcAft>
            </a:pPr>
            <a:r>
              <a:rPr lang="ko-KR" altLang="en-US" sz="1050" b="1">
                <a:solidFill>
                  <a:srgbClr val="1F2937"/>
                </a:solidFill>
                <a:latin typeface="Arial"/>
                <a:ea typeface="맑은 고딕"/>
                <a:cs typeface="Arial"/>
              </a:rPr>
              <a:t>공간 DB · 파라미터</a:t>
            </a:r>
          </a:p>
        </p:txBody>
      </p:sp>
      <p:sp>
        <p:nvSpPr>
          <p:cNvPr id="6071" name="Rectangle 78"/>
          <p:cNvSpPr/>
          <p:nvPr/>
        </p:nvSpPr>
        <p:spPr>
          <a:xfrm>
            <a:off x="6214875" y="8182620"/>
            <a:ext cx="1413388" cy="409395"/>
          </a:xfrm>
          <a:prstGeom prst="rect">
            <a:avLst/>
          </a:prstGeom>
          <a:solidFill>
            <a:srgbClr val="FFFFFF"/>
          </a:solidFill>
          <a:ln w="15875">
            <a:solidFill>
              <a:srgbClr val="9CA3AF"/>
            </a:solidFill>
            <a:prstDash val="dash"/>
          </a:ln>
        </p:spPr>
        <p:txBody>
          <a:bodyPr rtlCol="0" anchor="ctr"/>
          <a:lstStyle/>
          <a:p>
            <a:pPr algn="ctr"/>
            <a:endParaRPr/>
          </a:p>
        </p:txBody>
      </p:sp>
      <p:pic>
        <p:nvPicPr>
          <p:cNvPr id="6072" name="Picture 79" descr="v5_Picture_153.png"/>
          <p:cNvPicPr>
            <a:picLocks noChangeAspect="1"/>
          </p:cNvPicPr>
          <p:nvPr/>
        </p:nvPicPr>
        <p:blipFill>
          <a:blip r:embed="rId8"/>
          <a:stretch>
            <a:fillRect/>
          </a:stretch>
        </p:blipFill>
        <p:spPr>
          <a:xfrm>
            <a:off x="6302602" y="8260600"/>
            <a:ext cx="253435" cy="253435"/>
          </a:xfrm>
          <a:prstGeom prst="rect">
            <a:avLst/>
          </a:prstGeom>
        </p:spPr>
      </p:pic>
      <p:sp>
        <p:nvSpPr>
          <p:cNvPr id="6" name="TextBox 80"/>
          <p:cNvSpPr txBox="1"/>
          <p:nvPr/>
        </p:nvSpPr>
        <p:spPr>
          <a:xfrm>
            <a:off x="6604775" y="8182620"/>
            <a:ext cx="1003993" cy="409395"/>
          </a:xfrm>
          <a:prstGeom prst="rect">
            <a:avLst/>
          </a:prstGeom>
          <a:noFill/>
        </p:spPr>
        <p:txBody>
          <a:bodyPr wrap="none" lIns="0" tIns="0" rIns="0" bIns="0" anchor="ctr">
            <a:noAutofit/>
          </a:bodyPr>
          <a:lstStyle/>
          <a:p>
            <a:pPr algn="l">
              <a:lnSpc>
                <a:spcPts val="1220"/>
              </a:lnSpc>
              <a:spcBef>
                <a:spcPts val="0"/>
              </a:spcBef>
              <a:spcAft>
                <a:spcPts val="0"/>
              </a:spcAft>
            </a:pPr>
            <a:r>
              <a:rPr lang="ko-KR" altLang="en-US" sz="1050" b="1">
                <a:solidFill>
                  <a:srgbClr val="1F2937"/>
                </a:solidFill>
                <a:latin typeface="Arial"/>
                <a:ea typeface="맑은 고딕"/>
                <a:cs typeface="Arial"/>
              </a:rPr>
              <a:t>공공데이터포털</a:t>
            </a:r>
          </a:p>
        </p:txBody>
      </p:sp>
      <p:cxnSp>
        <p:nvCxnSpPr>
          <p:cNvPr id="6073" name="Connector 81"/>
          <p:cNvCxnSpPr/>
          <p:nvPr/>
        </p:nvCxnSpPr>
        <p:spPr>
          <a:xfrm flipV="1">
            <a:off x="6926443" y="7948680"/>
            <a:ext cx="0" cy="233940"/>
          </a:xfrm>
          <a:prstGeom prst="line">
            <a:avLst/>
          </a:prstGeom>
          <a:ln w="12700">
            <a:solidFill>
              <a:srgbClr val="9CA3AF"/>
            </a:solidFill>
            <a:prstDash val="dash"/>
            <a:tailEnd type="triangle" w="med" len="med"/>
          </a:ln>
        </p:spPr>
      </p:cxnSp>
      <p:sp>
        <p:nvSpPr>
          <p:cNvPr id="6074" name="TextBox 82"/>
          <p:cNvSpPr txBox="1"/>
          <p:nvPr/>
        </p:nvSpPr>
        <p:spPr>
          <a:xfrm>
            <a:off x="6984928" y="7987670"/>
            <a:ext cx="604345" cy="155960"/>
          </a:xfrm>
          <a:prstGeom prst="rect">
            <a:avLst/>
          </a:prstGeom>
          <a:noFill/>
        </p:spPr>
        <p:txBody>
          <a:bodyPr wrap="square" lIns="0" tIns="0" rIns="0" bIns="0" anchor="ctr">
            <a:noAutofit/>
          </a:bodyPr>
          <a:lstStyle/>
          <a:p>
            <a:pPr algn="l">
              <a:lnSpc>
                <a:spcPts val="1100"/>
              </a:lnSpc>
              <a:spcBef>
                <a:spcPts val="0"/>
              </a:spcBef>
              <a:spcAft>
                <a:spcPts val="0"/>
              </a:spcAft>
            </a:pPr>
            <a:r>
              <a:rPr lang="ko-KR" altLang="en-US" sz="950" b="0">
                <a:solidFill>
                  <a:srgbClr val="1F2937"/>
                </a:solidFill>
                <a:latin typeface="Arial"/>
                <a:ea typeface="맑은 고딕"/>
                <a:cs typeface="Arial"/>
              </a:rPr>
              <a:t>격자 정합</a:t>
            </a:r>
          </a:p>
        </p:txBody>
      </p:sp>
      <p:sp>
        <p:nvSpPr>
          <p:cNvPr id="6075" name="Rectangle 83"/>
          <p:cNvSpPr/>
          <p:nvPr/>
        </p:nvSpPr>
        <p:spPr>
          <a:xfrm>
            <a:off x="9314581" y="7539285"/>
            <a:ext cx="1364651" cy="409395"/>
          </a:xfrm>
          <a:prstGeom prst="rect">
            <a:avLst/>
          </a:prstGeom>
          <a:solidFill>
            <a:srgbClr val="FFFFFF"/>
          </a:solidFill>
          <a:ln w="15875">
            <a:solidFill>
              <a:srgbClr val="1F2937"/>
            </a:solidFill>
          </a:ln>
        </p:spPr>
        <p:txBody>
          <a:bodyPr wrap="square" lIns="45720" tIns="27432" rIns="45720" bIns="27432" rtlCol="0" anchor="ctr">
            <a:noAutofit/>
          </a:bodyPr>
          <a:lstStyle/>
          <a:p>
            <a:pPr algn="ctr">
              <a:lnSpc>
                <a:spcPts val="1220"/>
              </a:lnSpc>
              <a:spcBef>
                <a:spcPts val="0"/>
              </a:spcBef>
              <a:spcAft>
                <a:spcPts val="0"/>
              </a:spcAft>
            </a:pPr>
            <a:r>
              <a:rPr lang="ko-KR" altLang="en-US" sz="1050" b="1">
                <a:solidFill>
                  <a:srgbClr val="1F2937"/>
                </a:solidFill>
                <a:latin typeface="Arial"/>
                <a:ea typeface="맑은 고딕"/>
                <a:cs typeface="Arial"/>
              </a:rPr>
              <a:t>진화자원 데이터</a:t>
            </a:r>
          </a:p>
        </p:txBody>
      </p:sp>
      <p:sp>
        <p:nvSpPr>
          <p:cNvPr id="6076" name="TextBox 84"/>
          <p:cNvSpPr txBox="1"/>
          <p:nvPr/>
        </p:nvSpPr>
        <p:spPr>
          <a:xfrm>
            <a:off x="9168369" y="7987670"/>
            <a:ext cx="1657076" cy="155960"/>
          </a:xfrm>
          <a:prstGeom prst="rect">
            <a:avLst/>
          </a:prstGeom>
          <a:noFill/>
        </p:spPr>
        <p:txBody>
          <a:bodyPr wrap="square" lIns="0" tIns="0" rIns="0" bIns="0" anchor="ctr">
            <a:noAutofit/>
          </a:bodyPr>
          <a:lstStyle/>
          <a:p>
            <a:pPr algn="ctr">
              <a:lnSpc>
                <a:spcPts val="1100"/>
              </a:lnSpc>
              <a:spcBef>
                <a:spcPts val="0"/>
              </a:spcBef>
              <a:spcAft>
                <a:spcPts val="0"/>
              </a:spcAft>
            </a:pPr>
            <a:r>
              <a:rPr lang="ko-KR" altLang="en-US" sz="950" b="0">
                <a:solidFill>
                  <a:srgbClr val="1F2937"/>
                </a:solidFill>
                <a:latin typeface="Arial"/>
                <a:ea typeface="맑은 고딕"/>
                <a:cs typeface="Arial"/>
              </a:rPr>
              <a:t>전산 관리자 갱신</a:t>
            </a:r>
          </a:p>
        </p:txBody>
      </p:sp>
      <p:sp>
        <p:nvSpPr>
          <p:cNvPr id="6077" name="Rectangle 85"/>
          <p:cNvSpPr/>
          <p:nvPr/>
        </p:nvSpPr>
        <p:spPr>
          <a:xfrm>
            <a:off x="10922919" y="7539285"/>
            <a:ext cx="2046976" cy="409395"/>
          </a:xfrm>
          <a:prstGeom prst="rect">
            <a:avLst/>
          </a:prstGeom>
          <a:solidFill>
            <a:srgbClr val="FFFFFF"/>
          </a:solidFill>
          <a:ln w="15875">
            <a:solidFill>
              <a:srgbClr val="1F2937"/>
            </a:solidFill>
          </a:ln>
        </p:spPr>
        <p:txBody>
          <a:bodyPr wrap="square" lIns="45720" tIns="27432" rIns="45720" bIns="27432" rtlCol="0" anchor="ctr">
            <a:noAutofit/>
          </a:bodyPr>
          <a:lstStyle/>
          <a:p>
            <a:pPr algn="ctr">
              <a:lnSpc>
                <a:spcPts val="1220"/>
              </a:lnSpc>
              <a:spcBef>
                <a:spcPts val="0"/>
              </a:spcBef>
              <a:spcAft>
                <a:spcPts val="0"/>
              </a:spcAft>
            </a:pPr>
            <a:r>
              <a:rPr lang="ko-KR" altLang="en-US" sz="1050" b="1">
                <a:solidFill>
                  <a:srgbClr val="1F2937"/>
                </a:solidFill>
                <a:latin typeface="Arial"/>
                <a:ea typeface="맑은 고딕"/>
                <a:cs typeface="Arial"/>
              </a:rPr>
              <a:t>근거 색인 (KURE-v1 · FAISS)</a:t>
            </a:r>
          </a:p>
        </p:txBody>
      </p:sp>
      <p:sp>
        <p:nvSpPr>
          <p:cNvPr id="6078" name="Rectangle 86"/>
          <p:cNvSpPr/>
          <p:nvPr/>
        </p:nvSpPr>
        <p:spPr>
          <a:xfrm>
            <a:off x="10922919" y="8182620"/>
            <a:ext cx="2046976" cy="409395"/>
          </a:xfrm>
          <a:prstGeom prst="rect">
            <a:avLst/>
          </a:prstGeom>
          <a:solidFill>
            <a:srgbClr val="FFFFFF"/>
          </a:solidFill>
          <a:ln w="15875">
            <a:solidFill>
              <a:srgbClr val="9CA3AF"/>
            </a:solidFill>
            <a:prstDash val="dash"/>
          </a:ln>
        </p:spPr>
        <p:txBody>
          <a:bodyPr rtlCol="0" anchor="ctr"/>
          <a:lstStyle/>
          <a:p>
            <a:pPr algn="ctr"/>
            <a:endParaRPr/>
          </a:p>
        </p:txBody>
      </p:sp>
      <p:pic>
        <p:nvPicPr>
          <p:cNvPr id="6079" name="Picture 87" descr="image.png"/>
          <p:cNvPicPr>
            <a:picLocks noChangeAspect="1"/>
          </p:cNvPicPr>
          <p:nvPr/>
        </p:nvPicPr>
        <p:blipFill>
          <a:blip r:embed="rId7"/>
          <a:stretch>
            <a:fillRect/>
          </a:stretch>
        </p:blipFill>
        <p:spPr>
          <a:xfrm>
            <a:off x="11010647" y="8260600"/>
            <a:ext cx="253435" cy="253435"/>
          </a:xfrm>
          <a:prstGeom prst="rect">
            <a:avLst/>
          </a:prstGeom>
        </p:spPr>
      </p:pic>
      <p:sp>
        <p:nvSpPr>
          <p:cNvPr id="7" name="TextBox 88"/>
          <p:cNvSpPr txBox="1"/>
          <p:nvPr/>
        </p:nvSpPr>
        <p:spPr>
          <a:xfrm>
            <a:off x="11312820" y="8182620"/>
            <a:ext cx="1637581" cy="409395"/>
          </a:xfrm>
          <a:prstGeom prst="rect">
            <a:avLst/>
          </a:prstGeom>
          <a:noFill/>
        </p:spPr>
        <p:txBody>
          <a:bodyPr wrap="none" lIns="0" tIns="0" rIns="0" bIns="0" anchor="ctr">
            <a:noAutofit/>
          </a:bodyPr>
          <a:lstStyle/>
          <a:p>
            <a:pPr algn="l">
              <a:lnSpc>
                <a:spcPts val="1220"/>
              </a:lnSpc>
              <a:spcBef>
                <a:spcPts val="0"/>
              </a:spcBef>
              <a:spcAft>
                <a:spcPts val="0"/>
              </a:spcAft>
            </a:pPr>
            <a:r>
              <a:rPr lang="ko-KR" altLang="en-US" sz="1050" b="1">
                <a:solidFill>
                  <a:srgbClr val="1F2937"/>
                </a:solidFill>
                <a:latin typeface="Arial"/>
                <a:ea typeface="맑은 고딕"/>
                <a:cs typeface="Arial"/>
              </a:rPr>
              <a:t>법령 · 표준매뉴얼 · 예규</a:t>
            </a:r>
          </a:p>
        </p:txBody>
      </p:sp>
      <p:cxnSp>
        <p:nvCxnSpPr>
          <p:cNvPr id="6080" name="Connector 89"/>
          <p:cNvCxnSpPr/>
          <p:nvPr/>
        </p:nvCxnSpPr>
        <p:spPr>
          <a:xfrm flipV="1">
            <a:off x="11946407" y="7948680"/>
            <a:ext cx="0" cy="233940"/>
          </a:xfrm>
          <a:prstGeom prst="line">
            <a:avLst/>
          </a:prstGeom>
          <a:ln w="12700">
            <a:solidFill>
              <a:srgbClr val="9CA3AF"/>
            </a:solidFill>
            <a:prstDash val="dash"/>
            <a:tailEnd type="triangle" w="med" len="med"/>
          </a:ln>
        </p:spPr>
      </p:cxnSp>
      <p:sp>
        <p:nvSpPr>
          <p:cNvPr id="6081" name="TextBox 90"/>
          <p:cNvSpPr txBox="1"/>
          <p:nvPr/>
        </p:nvSpPr>
        <p:spPr>
          <a:xfrm>
            <a:off x="12024387" y="7987670"/>
            <a:ext cx="1169700" cy="155960"/>
          </a:xfrm>
          <a:prstGeom prst="rect">
            <a:avLst/>
          </a:prstGeom>
          <a:noFill/>
        </p:spPr>
        <p:txBody>
          <a:bodyPr wrap="square" lIns="0" tIns="0" rIns="0" bIns="0" anchor="ctr">
            <a:noAutofit/>
          </a:bodyPr>
          <a:lstStyle/>
          <a:p>
            <a:pPr algn="l">
              <a:lnSpc>
                <a:spcPts val="1100"/>
              </a:lnSpc>
              <a:spcBef>
                <a:spcPts val="0"/>
              </a:spcBef>
              <a:spcAft>
                <a:spcPts val="0"/>
              </a:spcAft>
            </a:pPr>
            <a:r>
              <a:rPr lang="ko-KR" altLang="en-US" sz="950" b="0">
                <a:solidFill>
                  <a:srgbClr val="1F2937"/>
                </a:solidFill>
                <a:latin typeface="Arial"/>
                <a:ea typeface="맑은 고딕"/>
                <a:cs typeface="Arial"/>
              </a:rPr>
              <a:t>청킹 · 임베딩</a:t>
            </a:r>
          </a:p>
        </p:txBody>
      </p:sp>
      <p:sp>
        <p:nvSpPr>
          <p:cNvPr id="6082" name="Rectangle 91"/>
          <p:cNvSpPr/>
          <p:nvPr/>
        </p:nvSpPr>
        <p:spPr>
          <a:xfrm>
            <a:off x="13311058" y="7539285"/>
            <a:ext cx="1608338" cy="409395"/>
          </a:xfrm>
          <a:prstGeom prst="rect">
            <a:avLst/>
          </a:prstGeom>
          <a:solidFill>
            <a:srgbClr val="FFFFFF"/>
          </a:solidFill>
          <a:ln w="15875">
            <a:solidFill>
              <a:srgbClr val="1F2937"/>
            </a:solidFill>
          </a:ln>
        </p:spPr>
        <p:txBody>
          <a:bodyPr wrap="square" lIns="45720" tIns="27432" rIns="45720" bIns="27432" rtlCol="0" anchor="ctr">
            <a:noAutofit/>
          </a:bodyPr>
          <a:lstStyle/>
          <a:p>
            <a:pPr algn="ctr">
              <a:lnSpc>
                <a:spcPts val="1220"/>
              </a:lnSpc>
              <a:spcBef>
                <a:spcPts val="0"/>
              </a:spcBef>
              <a:spcAft>
                <a:spcPts val="0"/>
              </a:spcAft>
            </a:pPr>
            <a:r>
              <a:rPr lang="ko-KR" altLang="en-US" sz="1050" b="1">
                <a:solidFill>
                  <a:srgbClr val="1F2937"/>
                </a:solidFill>
                <a:latin typeface="Arial"/>
                <a:ea typeface="맑은 고딕"/>
                <a:cs typeface="Arial"/>
              </a:rPr>
              <a:t>이벤트 로그</a:t>
            </a:r>
          </a:p>
        </p:txBody>
      </p:sp>
      <p:cxnSp>
        <p:nvCxnSpPr>
          <p:cNvPr id="6083" name="Connector 92"/>
          <p:cNvCxnSpPr>
            <a:cxnSpLocks/>
          </p:cNvCxnSpPr>
          <p:nvPr/>
        </p:nvCxnSpPr>
        <p:spPr>
          <a:xfrm flipV="1">
            <a:off x="5152397" y="5828056"/>
            <a:ext cx="0" cy="1711228"/>
          </a:xfrm>
          <a:prstGeom prst="line">
            <a:avLst/>
          </a:prstGeom>
          <a:ln w="12700">
            <a:solidFill>
              <a:srgbClr val="1F2937"/>
            </a:solidFill>
            <a:prstDash val="dash"/>
            <a:tailEnd type="triangle" w="med" len="med"/>
          </a:ln>
        </p:spPr>
      </p:cxnSp>
      <p:sp>
        <p:nvSpPr>
          <p:cNvPr id="6084" name="TextBox 93"/>
          <p:cNvSpPr txBox="1"/>
          <p:nvPr/>
        </p:nvSpPr>
        <p:spPr>
          <a:xfrm>
            <a:off x="5230377" y="7071405"/>
            <a:ext cx="1949501" cy="175455"/>
          </a:xfrm>
          <a:prstGeom prst="rect">
            <a:avLst/>
          </a:prstGeom>
          <a:noFill/>
        </p:spPr>
        <p:txBody>
          <a:bodyPr wrap="square" lIns="0" tIns="0" rIns="0" bIns="0" anchor="ctr">
            <a:noAutofit/>
          </a:bodyPr>
          <a:lstStyle/>
          <a:p>
            <a:pPr algn="l">
              <a:lnSpc>
                <a:spcPts val="1100"/>
              </a:lnSpc>
              <a:spcBef>
                <a:spcPts val="0"/>
              </a:spcBef>
              <a:spcAft>
                <a:spcPts val="0"/>
              </a:spcAft>
            </a:pPr>
            <a:r>
              <a:rPr lang="ko-KR" altLang="en-US" sz="950" dirty="0">
                <a:solidFill>
                  <a:srgbClr val="1F2937"/>
                </a:solidFill>
                <a:latin typeface="Arial"/>
                <a:ea typeface="맑은 고딕"/>
                <a:cs typeface="Arial"/>
              </a:rPr>
              <a:t>기상(단기예보)</a:t>
            </a:r>
          </a:p>
        </p:txBody>
      </p:sp>
      <p:cxnSp>
        <p:nvCxnSpPr>
          <p:cNvPr id="6085" name="Connector 94"/>
          <p:cNvCxnSpPr>
            <a:cxnSpLocks/>
          </p:cNvCxnSpPr>
          <p:nvPr/>
        </p:nvCxnSpPr>
        <p:spPr>
          <a:xfrm flipV="1">
            <a:off x="7462556" y="5828056"/>
            <a:ext cx="0" cy="1711228"/>
          </a:xfrm>
          <a:prstGeom prst="line">
            <a:avLst/>
          </a:prstGeom>
          <a:ln w="12700">
            <a:solidFill>
              <a:srgbClr val="1F2937"/>
            </a:solidFill>
            <a:prstDash val="dash"/>
            <a:tailEnd type="triangle" w="med" len="med"/>
          </a:ln>
        </p:spPr>
      </p:cxnSp>
      <p:sp>
        <p:nvSpPr>
          <p:cNvPr id="6086" name="TextBox 95"/>
          <p:cNvSpPr txBox="1"/>
          <p:nvPr/>
        </p:nvSpPr>
        <p:spPr>
          <a:xfrm>
            <a:off x="7540536" y="7071405"/>
            <a:ext cx="1949501" cy="175455"/>
          </a:xfrm>
          <a:prstGeom prst="rect">
            <a:avLst/>
          </a:prstGeom>
          <a:noFill/>
        </p:spPr>
        <p:txBody>
          <a:bodyPr wrap="square" lIns="0" tIns="0" rIns="0" bIns="0" anchor="ctr">
            <a:noAutofit/>
          </a:bodyPr>
          <a:lstStyle/>
          <a:p>
            <a:pPr algn="l">
              <a:lnSpc>
                <a:spcPts val="1100"/>
              </a:lnSpc>
              <a:spcBef>
                <a:spcPts val="0"/>
              </a:spcBef>
              <a:spcAft>
                <a:spcPts val="0"/>
              </a:spcAft>
            </a:pPr>
            <a:r>
              <a:rPr lang="ko-KR" altLang="en-US" sz="950">
                <a:solidFill>
                  <a:srgbClr val="1F2937"/>
                </a:solidFill>
                <a:latin typeface="Arial"/>
                <a:ea typeface="맑은 고딕"/>
                <a:cs typeface="Arial"/>
              </a:rPr>
              <a:t>격자 · 연료 계수</a:t>
            </a:r>
          </a:p>
        </p:txBody>
      </p:sp>
      <p:cxnSp>
        <p:nvCxnSpPr>
          <p:cNvPr id="6087" name="Connector 96"/>
          <p:cNvCxnSpPr>
            <a:cxnSpLocks/>
          </p:cNvCxnSpPr>
          <p:nvPr/>
        </p:nvCxnSpPr>
        <p:spPr>
          <a:xfrm flipV="1">
            <a:off x="9996907" y="5828056"/>
            <a:ext cx="0" cy="1711228"/>
          </a:xfrm>
          <a:prstGeom prst="line">
            <a:avLst/>
          </a:prstGeom>
          <a:ln w="12700">
            <a:solidFill>
              <a:srgbClr val="1F2937"/>
            </a:solidFill>
            <a:prstDash val="dash"/>
            <a:tailEnd type="triangle" w="med" len="med"/>
          </a:ln>
        </p:spPr>
      </p:cxnSp>
      <p:sp>
        <p:nvSpPr>
          <p:cNvPr id="6088" name="TextBox 97"/>
          <p:cNvSpPr txBox="1"/>
          <p:nvPr/>
        </p:nvSpPr>
        <p:spPr>
          <a:xfrm>
            <a:off x="10074887" y="7071405"/>
            <a:ext cx="1803288" cy="175455"/>
          </a:xfrm>
          <a:prstGeom prst="rect">
            <a:avLst/>
          </a:prstGeom>
          <a:noFill/>
        </p:spPr>
        <p:txBody>
          <a:bodyPr wrap="square" lIns="0" tIns="0" rIns="0" bIns="0" anchor="ctr">
            <a:noAutofit/>
          </a:bodyPr>
          <a:lstStyle/>
          <a:p>
            <a:pPr algn="l">
              <a:lnSpc>
                <a:spcPts val="1100"/>
              </a:lnSpc>
              <a:spcBef>
                <a:spcPts val="0"/>
              </a:spcBef>
              <a:spcAft>
                <a:spcPts val="0"/>
              </a:spcAft>
            </a:pPr>
            <a:r>
              <a:rPr lang="ko-KR" altLang="en-US" sz="950">
                <a:solidFill>
                  <a:srgbClr val="1F2937"/>
                </a:solidFill>
                <a:latin typeface="Arial"/>
                <a:ea typeface="맑은 고딕"/>
                <a:cs typeface="Arial"/>
              </a:rPr>
              <a:t>시설 · 행정경계 · 자원</a:t>
            </a:r>
          </a:p>
        </p:txBody>
      </p:sp>
      <p:cxnSp>
        <p:nvCxnSpPr>
          <p:cNvPr id="6089" name="Connector 98"/>
          <p:cNvCxnSpPr>
            <a:cxnSpLocks/>
          </p:cNvCxnSpPr>
          <p:nvPr/>
        </p:nvCxnSpPr>
        <p:spPr>
          <a:xfrm flipV="1">
            <a:off x="11946407" y="6934940"/>
            <a:ext cx="0" cy="604345"/>
          </a:xfrm>
          <a:prstGeom prst="line">
            <a:avLst/>
          </a:prstGeom>
          <a:ln w="12700">
            <a:solidFill>
              <a:srgbClr val="1F2937"/>
            </a:solidFill>
            <a:prstDash val="dash"/>
            <a:tailEnd type="triangle" w="med" len="med"/>
          </a:ln>
        </p:spPr>
      </p:cxnSp>
      <p:sp>
        <p:nvSpPr>
          <p:cNvPr id="6090" name="TextBox 99"/>
          <p:cNvSpPr txBox="1"/>
          <p:nvPr/>
        </p:nvSpPr>
        <p:spPr>
          <a:xfrm>
            <a:off x="12024387" y="7071405"/>
            <a:ext cx="1949501" cy="175455"/>
          </a:xfrm>
          <a:prstGeom prst="rect">
            <a:avLst/>
          </a:prstGeom>
          <a:noFill/>
        </p:spPr>
        <p:txBody>
          <a:bodyPr wrap="square" lIns="0" tIns="0" rIns="0" bIns="0" anchor="ctr">
            <a:noAutofit/>
          </a:bodyPr>
          <a:lstStyle/>
          <a:p>
            <a:pPr algn="l">
              <a:lnSpc>
                <a:spcPts val="1100"/>
              </a:lnSpc>
              <a:spcBef>
                <a:spcPts val="0"/>
              </a:spcBef>
              <a:spcAft>
                <a:spcPts val="0"/>
              </a:spcAft>
            </a:pPr>
            <a:r>
              <a:rPr lang="ko-KR" altLang="en-US" sz="950">
                <a:solidFill>
                  <a:srgbClr val="1F2937"/>
                </a:solidFill>
                <a:latin typeface="Arial"/>
                <a:ea typeface="맑은 고딕"/>
                <a:cs typeface="Arial"/>
              </a:rPr>
              <a:t>근거 청크 → 에이전트 2개</a:t>
            </a:r>
          </a:p>
        </p:txBody>
      </p:sp>
      <p:cxnSp>
        <p:nvCxnSpPr>
          <p:cNvPr id="6091" name="Connector 100"/>
          <p:cNvCxnSpPr>
            <a:cxnSpLocks/>
          </p:cNvCxnSpPr>
          <p:nvPr/>
        </p:nvCxnSpPr>
        <p:spPr>
          <a:xfrm>
            <a:off x="13615667" y="6819865"/>
            <a:ext cx="0" cy="719420"/>
          </a:xfrm>
          <a:prstGeom prst="line">
            <a:avLst/>
          </a:prstGeom>
          <a:ln w="12700">
            <a:solidFill>
              <a:srgbClr val="1F2937"/>
            </a:solidFill>
            <a:prstDash val="dash"/>
            <a:tailEnd type="triangle" w="med" len="med"/>
          </a:ln>
        </p:spPr>
      </p:cxnSp>
      <p:sp>
        <p:nvSpPr>
          <p:cNvPr id="6092" name="TextBox 101"/>
          <p:cNvSpPr txBox="1"/>
          <p:nvPr/>
        </p:nvSpPr>
        <p:spPr>
          <a:xfrm>
            <a:off x="13693647" y="7071405"/>
            <a:ext cx="779800" cy="175455"/>
          </a:xfrm>
          <a:prstGeom prst="rect">
            <a:avLst/>
          </a:prstGeom>
          <a:noFill/>
        </p:spPr>
        <p:txBody>
          <a:bodyPr wrap="square" lIns="0" tIns="0" rIns="0" bIns="0" anchor="ctr">
            <a:noAutofit/>
          </a:bodyPr>
          <a:lstStyle/>
          <a:p>
            <a:pPr algn="l">
              <a:lnSpc>
                <a:spcPts val="1100"/>
              </a:lnSpc>
              <a:spcBef>
                <a:spcPts val="0"/>
              </a:spcBef>
              <a:spcAft>
                <a:spcPts val="0"/>
              </a:spcAft>
            </a:pPr>
            <a:r>
              <a:rPr lang="ko-KR" altLang="en-US" sz="950">
                <a:solidFill>
                  <a:srgbClr val="1F2937"/>
                </a:solidFill>
                <a:latin typeface="Arial"/>
                <a:ea typeface="맑은 고딕"/>
                <a:cs typeface="Arial"/>
              </a:rPr>
              <a:t>정정 저장</a:t>
            </a:r>
          </a:p>
        </p:txBody>
      </p:sp>
      <p:sp>
        <p:nvSpPr>
          <p:cNvPr id="6093" name="Freeform 102"/>
          <p:cNvSpPr/>
          <p:nvPr/>
        </p:nvSpPr>
        <p:spPr>
          <a:xfrm>
            <a:off x="14919396" y="5365050"/>
            <a:ext cx="370405" cy="2324780"/>
          </a:xfrm>
          <a:custGeom>
            <a:avLst/>
            <a:gdLst/>
            <a:ahLst/>
            <a:cxnLst/>
            <a:rect l="l" t="t" r="r" b="b"/>
            <a:pathLst>
              <a:path w="347472" h="2180844">
                <a:moveTo>
                  <a:pt x="182880" y="0"/>
                </a:moveTo>
                <a:lnTo>
                  <a:pt x="347472" y="0"/>
                </a:lnTo>
                <a:lnTo>
                  <a:pt x="347472" y="2180844"/>
                </a:lnTo>
                <a:lnTo>
                  <a:pt x="0" y="2180844"/>
                </a:lnTo>
              </a:path>
            </a:pathLst>
          </a:custGeom>
          <a:noFill/>
          <a:ln w="12700">
            <a:solidFill>
              <a:srgbClr val="1F2937"/>
            </a:solidFill>
            <a:prstDash val="dash"/>
            <a:headEnd type="triangle" w="med" len="med"/>
            <a:tailEnd type="triangle" w="med" len="med"/>
          </a:ln>
        </p:spPr>
        <p:txBody>
          <a:bodyPr rtlCol="0" anchor="ctr"/>
          <a:lstStyle/>
          <a:p>
            <a:pPr algn="ctr"/>
            <a:endParaRPr/>
          </a:p>
        </p:txBody>
      </p:sp>
      <p:sp>
        <p:nvSpPr>
          <p:cNvPr id="6094" name="TextBox 103"/>
          <p:cNvSpPr txBox="1"/>
          <p:nvPr/>
        </p:nvSpPr>
        <p:spPr>
          <a:xfrm>
            <a:off x="14587981" y="7071405"/>
            <a:ext cx="643335" cy="175455"/>
          </a:xfrm>
          <a:prstGeom prst="rect">
            <a:avLst/>
          </a:prstGeom>
          <a:noFill/>
        </p:spPr>
        <p:txBody>
          <a:bodyPr wrap="square" lIns="0" tIns="0" rIns="0" bIns="0" anchor="ctr">
            <a:noAutofit/>
          </a:bodyPr>
          <a:lstStyle/>
          <a:p>
            <a:pPr algn="r">
              <a:lnSpc>
                <a:spcPts val="1100"/>
              </a:lnSpc>
              <a:spcBef>
                <a:spcPts val="0"/>
              </a:spcBef>
              <a:spcAft>
                <a:spcPts val="0"/>
              </a:spcAft>
            </a:pPr>
            <a:r>
              <a:rPr lang="ko-KR" altLang="en-US" sz="950">
                <a:solidFill>
                  <a:srgbClr val="1F2937"/>
                </a:solidFill>
                <a:latin typeface="Arial"/>
                <a:ea typeface="맑은 고딕"/>
                <a:cs typeface="Arial"/>
              </a:rPr>
              <a:t>이력 기록</a:t>
            </a:r>
          </a:p>
        </p:txBody>
      </p:sp>
      <p:sp>
        <p:nvSpPr>
          <p:cNvPr id="6095" name="TextBox 104"/>
          <p:cNvSpPr txBox="1"/>
          <p:nvPr/>
        </p:nvSpPr>
        <p:spPr>
          <a:xfrm>
            <a:off x="4343354" y="8874151"/>
            <a:ext cx="487375" cy="194950"/>
          </a:xfrm>
          <a:prstGeom prst="rect">
            <a:avLst/>
          </a:prstGeom>
          <a:noFill/>
        </p:spPr>
        <p:txBody>
          <a:bodyPr wrap="square" lIns="0" tIns="0" rIns="0" bIns="0" anchor="ctr">
            <a:noAutofit/>
          </a:bodyPr>
          <a:lstStyle/>
          <a:p>
            <a:pPr algn="l">
              <a:lnSpc>
                <a:spcPts val="1220"/>
              </a:lnSpc>
              <a:spcBef>
                <a:spcPts val="0"/>
              </a:spcBef>
              <a:spcAft>
                <a:spcPts val="0"/>
              </a:spcAft>
            </a:pPr>
            <a:r>
              <a:rPr lang="ko-KR" altLang="en-US" sz="1050" b="1">
                <a:solidFill>
                  <a:srgbClr val="1F2937"/>
                </a:solidFill>
                <a:latin typeface="Arial"/>
                <a:ea typeface="맑은 고딕"/>
                <a:cs typeface="Arial"/>
              </a:rPr>
              <a:t>범례</a:t>
            </a:r>
          </a:p>
        </p:txBody>
      </p:sp>
      <p:cxnSp>
        <p:nvCxnSpPr>
          <p:cNvPr id="6096" name="Connector 105"/>
          <p:cNvCxnSpPr/>
          <p:nvPr/>
        </p:nvCxnSpPr>
        <p:spPr>
          <a:xfrm>
            <a:off x="4879467" y="8971626"/>
            <a:ext cx="487375" cy="0"/>
          </a:xfrm>
          <a:prstGeom prst="line">
            <a:avLst/>
          </a:prstGeom>
          <a:ln w="22225">
            <a:solidFill>
              <a:srgbClr val="1F2937"/>
            </a:solidFill>
            <a:tailEnd type="triangle" w="med" len="med"/>
          </a:ln>
        </p:spPr>
      </p:cxnSp>
      <p:sp>
        <p:nvSpPr>
          <p:cNvPr id="6097" name="Oval 106"/>
          <p:cNvSpPr/>
          <p:nvPr/>
        </p:nvSpPr>
        <p:spPr>
          <a:xfrm>
            <a:off x="4976942" y="8874151"/>
            <a:ext cx="194950" cy="194950"/>
          </a:xfrm>
          <a:prstGeom prst="ellipse">
            <a:avLst/>
          </a:prstGeom>
          <a:solidFill>
            <a:srgbClr val="1F2937"/>
          </a:solidFill>
          <a:ln>
            <a:noFill/>
          </a:ln>
        </p:spPr>
        <p:txBody>
          <a:bodyPr wrap="square" lIns="0" tIns="0" rIns="0" bIns="0" rtlCol="0" anchor="ctr">
            <a:noAutofit/>
          </a:bodyPr>
          <a:lstStyle/>
          <a:p>
            <a:pPr algn="ctr">
              <a:lnSpc>
                <a:spcPts val="980"/>
              </a:lnSpc>
              <a:spcBef>
                <a:spcPts val="0"/>
              </a:spcBef>
              <a:spcAft>
                <a:spcPts val="0"/>
              </a:spcAft>
            </a:pPr>
            <a:r>
              <a:rPr lang="ko-KR" altLang="en-US" sz="850" b="1">
                <a:solidFill>
                  <a:srgbClr val="FFFFFF"/>
                </a:solidFill>
                <a:latin typeface="Arial"/>
                <a:ea typeface="맑은 고딕"/>
                <a:cs typeface="Arial"/>
              </a:rPr>
              <a:t>n</a:t>
            </a:r>
          </a:p>
        </p:txBody>
      </p:sp>
      <p:sp>
        <p:nvSpPr>
          <p:cNvPr id="6098" name="TextBox 107"/>
          <p:cNvSpPr txBox="1"/>
          <p:nvPr/>
        </p:nvSpPr>
        <p:spPr>
          <a:xfrm>
            <a:off x="5444822" y="8874151"/>
            <a:ext cx="877275" cy="194950"/>
          </a:xfrm>
          <a:prstGeom prst="rect">
            <a:avLst/>
          </a:prstGeom>
          <a:noFill/>
        </p:spPr>
        <p:txBody>
          <a:bodyPr wrap="square" lIns="0" tIns="0" rIns="0" bIns="0" anchor="ctr">
            <a:noAutofit/>
          </a:bodyPr>
          <a:lstStyle/>
          <a:p>
            <a:pPr algn="l">
              <a:lnSpc>
                <a:spcPts val="1100"/>
              </a:lnSpc>
              <a:spcBef>
                <a:spcPts val="0"/>
              </a:spcBef>
              <a:spcAft>
                <a:spcPts val="0"/>
              </a:spcAft>
            </a:pPr>
            <a:r>
              <a:rPr lang="ko-KR" altLang="en-US" sz="950" b="0">
                <a:solidFill>
                  <a:srgbClr val="1F2937"/>
                </a:solidFill>
                <a:latin typeface="Arial"/>
                <a:ea typeface="맑은 고딕"/>
                <a:cs typeface="Arial"/>
              </a:rPr>
              <a:t>요청·응답</a:t>
            </a:r>
          </a:p>
        </p:txBody>
      </p:sp>
      <p:cxnSp>
        <p:nvCxnSpPr>
          <p:cNvPr id="6099" name="Connector 108"/>
          <p:cNvCxnSpPr/>
          <p:nvPr/>
        </p:nvCxnSpPr>
        <p:spPr>
          <a:xfrm>
            <a:off x="6341593" y="8971626"/>
            <a:ext cx="487375" cy="0"/>
          </a:xfrm>
          <a:prstGeom prst="line">
            <a:avLst/>
          </a:prstGeom>
          <a:ln w="12700">
            <a:solidFill>
              <a:srgbClr val="1F2937"/>
            </a:solidFill>
            <a:prstDash val="dash"/>
            <a:tailEnd type="triangle" w="med" len="med"/>
          </a:ln>
        </p:spPr>
      </p:cxnSp>
      <p:sp>
        <p:nvSpPr>
          <p:cNvPr id="6100" name="TextBox 109"/>
          <p:cNvSpPr txBox="1"/>
          <p:nvPr/>
        </p:nvSpPr>
        <p:spPr>
          <a:xfrm>
            <a:off x="6906948" y="8874151"/>
            <a:ext cx="877275" cy="194950"/>
          </a:xfrm>
          <a:prstGeom prst="rect">
            <a:avLst/>
          </a:prstGeom>
          <a:noFill/>
        </p:spPr>
        <p:txBody>
          <a:bodyPr wrap="square" lIns="0" tIns="0" rIns="0" bIns="0" anchor="ctr">
            <a:noAutofit/>
          </a:bodyPr>
          <a:lstStyle/>
          <a:p>
            <a:pPr algn="l">
              <a:lnSpc>
                <a:spcPts val="1100"/>
              </a:lnSpc>
              <a:spcBef>
                <a:spcPts val="0"/>
              </a:spcBef>
              <a:spcAft>
                <a:spcPts val="0"/>
              </a:spcAft>
            </a:pPr>
            <a:r>
              <a:rPr lang="ko-KR" altLang="en-US" sz="950" b="0">
                <a:solidFill>
                  <a:srgbClr val="1F2937"/>
                </a:solidFill>
                <a:latin typeface="Arial"/>
                <a:ea typeface="맑은 고딕"/>
                <a:cs typeface="Arial"/>
              </a:rPr>
              <a:t>데이터 조회</a:t>
            </a:r>
          </a:p>
        </p:txBody>
      </p:sp>
      <p:cxnSp>
        <p:nvCxnSpPr>
          <p:cNvPr id="6101" name="Connector 110"/>
          <p:cNvCxnSpPr/>
          <p:nvPr/>
        </p:nvCxnSpPr>
        <p:spPr>
          <a:xfrm>
            <a:off x="7852456" y="8971626"/>
            <a:ext cx="487375" cy="0"/>
          </a:xfrm>
          <a:prstGeom prst="line">
            <a:avLst/>
          </a:prstGeom>
          <a:ln w="12700">
            <a:solidFill>
              <a:srgbClr val="9CA3AF"/>
            </a:solidFill>
            <a:prstDash val="dash"/>
            <a:tailEnd type="triangle" w="med" len="med"/>
          </a:ln>
        </p:spPr>
      </p:cxnSp>
      <p:sp>
        <p:nvSpPr>
          <p:cNvPr id="6102" name="TextBox 111"/>
          <p:cNvSpPr txBox="1"/>
          <p:nvPr/>
        </p:nvSpPr>
        <p:spPr>
          <a:xfrm>
            <a:off x="8417811" y="8874151"/>
            <a:ext cx="877275" cy="194950"/>
          </a:xfrm>
          <a:prstGeom prst="rect">
            <a:avLst/>
          </a:prstGeom>
          <a:noFill/>
        </p:spPr>
        <p:txBody>
          <a:bodyPr wrap="square" lIns="0" tIns="0" rIns="0" bIns="0" anchor="ctr">
            <a:noAutofit/>
          </a:bodyPr>
          <a:lstStyle/>
          <a:p>
            <a:pPr algn="l">
              <a:lnSpc>
                <a:spcPts val="1100"/>
              </a:lnSpc>
              <a:spcBef>
                <a:spcPts val="0"/>
              </a:spcBef>
              <a:spcAft>
                <a:spcPts val="0"/>
              </a:spcAft>
            </a:pPr>
            <a:r>
              <a:rPr lang="ko-KR" altLang="en-US" sz="950" b="0">
                <a:solidFill>
                  <a:srgbClr val="1F2937"/>
                </a:solidFill>
                <a:latin typeface="Arial"/>
                <a:ea typeface="맑은 고딕"/>
                <a:cs typeface="Arial"/>
              </a:rPr>
              <a:t>수집·구축</a:t>
            </a:r>
          </a:p>
        </p:txBody>
      </p:sp>
      <p:sp>
        <p:nvSpPr>
          <p:cNvPr id="6103" name="Rectangle 112"/>
          <p:cNvSpPr/>
          <p:nvPr/>
        </p:nvSpPr>
        <p:spPr>
          <a:xfrm>
            <a:off x="9265844" y="8893646"/>
            <a:ext cx="487375" cy="155960"/>
          </a:xfrm>
          <a:prstGeom prst="rect">
            <a:avLst/>
          </a:prstGeom>
          <a:solidFill>
            <a:srgbClr val="FFFFFF"/>
          </a:solidFill>
          <a:ln w="15875">
            <a:solidFill>
              <a:srgbClr val="9CA3AF"/>
            </a:solidFill>
            <a:prstDash val="dash"/>
          </a:ln>
        </p:spPr>
        <p:txBody>
          <a:bodyPr rtlCol="0" anchor="ctr"/>
          <a:lstStyle/>
          <a:p>
            <a:pPr algn="ctr"/>
            <a:endParaRPr/>
          </a:p>
        </p:txBody>
      </p:sp>
      <p:sp>
        <p:nvSpPr>
          <p:cNvPr id="6104" name="TextBox 113"/>
          <p:cNvSpPr txBox="1"/>
          <p:nvPr/>
        </p:nvSpPr>
        <p:spPr>
          <a:xfrm>
            <a:off x="9831199" y="8874151"/>
            <a:ext cx="877275" cy="194950"/>
          </a:xfrm>
          <a:prstGeom prst="rect">
            <a:avLst/>
          </a:prstGeom>
          <a:noFill/>
        </p:spPr>
        <p:txBody>
          <a:bodyPr wrap="square" lIns="0" tIns="0" rIns="0" bIns="0" anchor="ctr">
            <a:noAutofit/>
          </a:bodyPr>
          <a:lstStyle/>
          <a:p>
            <a:pPr algn="l">
              <a:lnSpc>
                <a:spcPts val="1100"/>
              </a:lnSpc>
              <a:spcBef>
                <a:spcPts val="0"/>
              </a:spcBef>
              <a:spcAft>
                <a:spcPts val="0"/>
              </a:spcAft>
            </a:pPr>
            <a:r>
              <a:rPr lang="ko-KR" altLang="en-US" sz="950" b="0">
                <a:solidFill>
                  <a:srgbClr val="1F2937"/>
                </a:solidFill>
                <a:latin typeface="Arial"/>
                <a:ea typeface="맑은 고딕"/>
                <a:cs typeface="Arial"/>
              </a:rPr>
              <a:t>외부 원천</a:t>
            </a:r>
          </a:p>
        </p:txBody>
      </p:sp>
      <p:sp>
        <p:nvSpPr>
          <p:cNvPr id="6105" name="TextBox 114"/>
          <p:cNvSpPr txBox="1"/>
          <p:nvPr/>
        </p:nvSpPr>
        <p:spPr>
          <a:xfrm>
            <a:off x="10679232" y="8874151"/>
            <a:ext cx="1754551" cy="194950"/>
          </a:xfrm>
          <a:prstGeom prst="rect">
            <a:avLst/>
          </a:prstGeom>
          <a:noFill/>
        </p:spPr>
        <p:txBody>
          <a:bodyPr wrap="square" lIns="0" tIns="0" rIns="0" bIns="0" anchor="ctr">
            <a:noAutofit/>
          </a:bodyPr>
          <a:lstStyle/>
          <a:p>
            <a:pPr algn="l">
              <a:lnSpc>
                <a:spcPts val="1100"/>
              </a:lnSpc>
              <a:spcBef>
                <a:spcPts val="0"/>
              </a:spcBef>
              <a:spcAft>
                <a:spcPts val="0"/>
              </a:spcAft>
            </a:pPr>
            <a:r>
              <a:rPr lang="ko-KR" altLang="en-US" sz="950" b="0">
                <a:solidFill>
                  <a:srgbClr val="1F2937"/>
                </a:solidFill>
                <a:latin typeface="Arial"/>
                <a:ea typeface="맑은 고딕"/>
                <a:cs typeface="Arial"/>
              </a:rPr>
              <a:t>굵은 선 제안서 흐름</a:t>
            </a:r>
          </a:p>
        </p:txBody>
      </p:sp>
      <p:pic>
        <p:nvPicPr>
          <p:cNvPr id="6106" name="Picture 115" descr="image.png"/>
          <p:cNvPicPr>
            <a:picLocks noChangeAspect="1"/>
          </p:cNvPicPr>
          <p:nvPr/>
        </p:nvPicPr>
        <p:blipFill>
          <a:blip r:embed="rId9"/>
          <a:stretch>
            <a:fillRect/>
          </a:stretch>
        </p:blipFill>
        <p:spPr>
          <a:xfrm>
            <a:off x="14685456" y="8757181"/>
            <a:ext cx="428890" cy="428890"/>
          </a:xfrm>
          <a:prstGeom prst="rect">
            <a:avLst/>
          </a:prstGeom>
        </p:spPr>
      </p:pic>
      <p:sp>
        <p:nvSpPr>
          <p:cNvPr id="8" name="TextBox 116"/>
          <p:cNvSpPr txBox="1"/>
          <p:nvPr/>
        </p:nvSpPr>
        <p:spPr>
          <a:xfrm>
            <a:off x="12677470" y="8874151"/>
            <a:ext cx="1949501" cy="194950"/>
          </a:xfrm>
          <a:prstGeom prst="rect">
            <a:avLst/>
          </a:prstGeom>
          <a:noFill/>
        </p:spPr>
        <p:txBody>
          <a:bodyPr wrap="square" lIns="0" tIns="0" rIns="0" bIns="0" anchor="ctr">
            <a:noAutofit/>
          </a:bodyPr>
          <a:lstStyle/>
          <a:p>
            <a:pPr algn="r">
              <a:lnSpc>
                <a:spcPts val="980"/>
              </a:lnSpc>
              <a:spcBef>
                <a:spcPts val="0"/>
              </a:spcBef>
              <a:spcAft>
                <a:spcPts val="0"/>
              </a:spcAft>
            </a:pPr>
            <a:r>
              <a:rPr lang="ko-KR" altLang="en-US" sz="850" b="0">
                <a:solidFill>
                  <a:srgbClr val="1F2937"/>
                </a:solidFill>
                <a:latin typeface="Arial"/>
                <a:ea typeface="맑은 고딕"/>
                <a:cs typeface="Arial"/>
              </a:rPr>
              <a:t>WILDFIRE RESPONSE AI</a:t>
            </a:r>
          </a:p>
        </p:txBody>
      </p:sp>
      <p:sp>
        <p:nvSpPr>
          <p:cNvPr id="6107" name="Rectangle 20">
            <a:extLst>
              <a:ext uri="{FF2B5EF4-FFF2-40B4-BE49-F238E27FC236}">
                <a16:creationId xmlns:a16="http://schemas.microsoft.com/office/drawing/2014/main" id="{DCF286CC-37EB-24FE-7005-F0CB3FAC0EE2}"/>
              </a:ext>
            </a:extLst>
          </p:cNvPr>
          <p:cNvSpPr/>
          <p:nvPr/>
        </p:nvSpPr>
        <p:spPr>
          <a:xfrm>
            <a:off x="10248717" y="3009403"/>
            <a:ext cx="1544167" cy="740810"/>
          </a:xfrm>
          <a:prstGeom prst="rect">
            <a:avLst/>
          </a:prstGeom>
          <a:solidFill>
            <a:srgbClr val="FFFFFF"/>
          </a:solidFill>
          <a:ln w="15875">
            <a:solidFill>
              <a:srgbClr val="1F2937"/>
            </a:solidFill>
          </a:ln>
        </p:spPr>
        <p:txBody>
          <a:bodyPr rtlCol="0" anchor="ctr"/>
          <a:lstStyle/>
          <a:p>
            <a:pPr algn="ctr"/>
            <a:endParaRPr/>
          </a:p>
        </p:txBody>
      </p:sp>
      <p:sp>
        <p:nvSpPr>
          <p:cNvPr id="6108" name="Rectangle 20">
            <a:extLst>
              <a:ext uri="{FF2B5EF4-FFF2-40B4-BE49-F238E27FC236}">
                <a16:creationId xmlns:a16="http://schemas.microsoft.com/office/drawing/2014/main" id="{4E81619E-0F0F-A5CA-9994-A1C28F9CDC6A}"/>
              </a:ext>
            </a:extLst>
          </p:cNvPr>
          <p:cNvSpPr/>
          <p:nvPr/>
        </p:nvSpPr>
        <p:spPr>
          <a:xfrm>
            <a:off x="11886298" y="3003717"/>
            <a:ext cx="1544167" cy="740810"/>
          </a:xfrm>
          <a:prstGeom prst="rect">
            <a:avLst/>
          </a:prstGeom>
          <a:solidFill>
            <a:srgbClr val="FFFFFF"/>
          </a:solidFill>
          <a:ln w="15875">
            <a:solidFill>
              <a:srgbClr val="1F2937"/>
            </a:solidFill>
          </a:ln>
        </p:spPr>
        <p:txBody>
          <a:bodyPr rtlCol="0" anchor="ctr"/>
          <a:lstStyle/>
          <a:p>
            <a:pPr algn="ctr"/>
            <a:endParaRPr/>
          </a:p>
        </p:txBody>
      </p:sp>
      <p:sp>
        <p:nvSpPr>
          <p:cNvPr id="6109" name="Rectangle 20">
            <a:extLst>
              <a:ext uri="{FF2B5EF4-FFF2-40B4-BE49-F238E27FC236}">
                <a16:creationId xmlns:a16="http://schemas.microsoft.com/office/drawing/2014/main" id="{DC64922A-3AE5-FDB9-59E6-DBD13F65A87E}"/>
              </a:ext>
            </a:extLst>
          </p:cNvPr>
          <p:cNvSpPr/>
          <p:nvPr/>
        </p:nvSpPr>
        <p:spPr>
          <a:xfrm>
            <a:off x="13519275" y="3004529"/>
            <a:ext cx="1544167" cy="740810"/>
          </a:xfrm>
          <a:prstGeom prst="rect">
            <a:avLst/>
          </a:prstGeom>
          <a:solidFill>
            <a:srgbClr val="FFFFFF"/>
          </a:solidFill>
          <a:ln w="15875">
            <a:solidFill>
              <a:srgbClr val="1F2937"/>
            </a:solidFill>
          </a:ln>
        </p:spPr>
        <p:txBody>
          <a:bodyPr rtlCol="0" anchor="ctr"/>
          <a:lstStyle/>
          <a:p>
            <a:pPr algn="ctr"/>
            <a:endParaRPr/>
          </a:p>
        </p:txBody>
      </p:sp>
      <p:sp>
        <p:nvSpPr>
          <p:cNvPr id="6110" name="TextBox 19"/>
          <p:cNvSpPr txBox="1"/>
          <p:nvPr/>
        </p:nvSpPr>
        <p:spPr>
          <a:xfrm>
            <a:off x="10237345" y="3015631"/>
            <a:ext cx="1559601" cy="740810"/>
          </a:xfrm>
          <a:prstGeom prst="rect">
            <a:avLst/>
          </a:prstGeom>
          <a:noFill/>
        </p:spPr>
        <p:txBody>
          <a:bodyPr wrap="square" lIns="36576" tIns="0" rIns="36576" bIns="0" anchor="ctr">
            <a:noAutofit/>
          </a:bodyPr>
          <a:lstStyle/>
          <a:p>
            <a:pPr algn="ctr">
              <a:lnSpc>
                <a:spcPts val="1340"/>
              </a:lnSpc>
              <a:spcBef>
                <a:spcPts val="0"/>
              </a:spcBef>
              <a:spcAft>
                <a:spcPts val="0"/>
              </a:spcAft>
            </a:pPr>
            <a:r>
              <a:rPr lang="ko-KR" altLang="en-US" sz="1150" b="1" dirty="0">
                <a:solidFill>
                  <a:srgbClr val="1F2937"/>
                </a:solidFill>
                <a:latin typeface="Arial"/>
                <a:ea typeface="맑은 고딕"/>
                <a:cs typeface="Arial"/>
              </a:rPr>
              <a:t>확산 </a:t>
            </a:r>
            <a:r>
              <a:rPr lang="ko-KR" altLang="en-US" sz="1150" b="1" dirty="0" err="1">
                <a:solidFill>
                  <a:srgbClr val="1F2937"/>
                </a:solidFill>
                <a:latin typeface="Arial"/>
                <a:ea typeface="맑은 고딕"/>
                <a:cs typeface="Arial"/>
              </a:rPr>
              <a:t>폴리곤</a:t>
            </a:r>
            <a:r>
              <a:rPr lang="ko-KR" altLang="en-US" sz="1150" b="1" dirty="0">
                <a:solidFill>
                  <a:srgbClr val="1F2937"/>
                </a:solidFill>
                <a:latin typeface="Arial"/>
                <a:ea typeface="맑은 고딕"/>
                <a:cs typeface="Arial"/>
              </a:rPr>
              <a:t> · 위험도</a:t>
            </a:r>
          </a:p>
        </p:txBody>
      </p:sp>
      <p:sp>
        <p:nvSpPr>
          <p:cNvPr id="6111" name="TextBox 21"/>
          <p:cNvSpPr txBox="1"/>
          <p:nvPr/>
        </p:nvSpPr>
        <p:spPr>
          <a:xfrm>
            <a:off x="11886298" y="3009403"/>
            <a:ext cx="1544167" cy="740810"/>
          </a:xfrm>
          <a:prstGeom prst="rect">
            <a:avLst/>
          </a:prstGeom>
          <a:noFill/>
        </p:spPr>
        <p:txBody>
          <a:bodyPr wrap="square" lIns="36576" tIns="0" rIns="36576" bIns="0" anchor="ctr">
            <a:noAutofit/>
          </a:bodyPr>
          <a:lstStyle/>
          <a:p>
            <a:pPr algn="ctr">
              <a:lnSpc>
                <a:spcPts val="1340"/>
              </a:lnSpc>
              <a:spcBef>
                <a:spcPts val="0"/>
              </a:spcBef>
              <a:spcAft>
                <a:spcPts val="0"/>
              </a:spcAft>
            </a:pPr>
            <a:r>
              <a:rPr lang="ko-KR" altLang="en-US" sz="1150" b="1" dirty="0">
                <a:solidFill>
                  <a:srgbClr val="1F2937"/>
                </a:solidFill>
                <a:latin typeface="Arial"/>
                <a:ea typeface="맑은 고딕"/>
                <a:cs typeface="Arial"/>
              </a:rPr>
              <a:t>출력 </a:t>
            </a:r>
            <a:r>
              <a:rPr lang="ko-KR" altLang="en-US" sz="1150" b="1" dirty="0" err="1">
                <a:solidFill>
                  <a:srgbClr val="1F2937"/>
                </a:solidFill>
                <a:latin typeface="Arial"/>
                <a:ea typeface="맑은 고딕"/>
                <a:cs typeface="Arial"/>
              </a:rPr>
              <a:t>A</a:t>
            </a:r>
            <a:r>
              <a:rPr lang="ko-KR" altLang="en-US" sz="1150" b="1" dirty="0">
                <a:solidFill>
                  <a:srgbClr val="1F2937"/>
                </a:solidFill>
                <a:latin typeface="Arial"/>
                <a:ea typeface="맑은 고딕"/>
                <a:cs typeface="Arial"/>
              </a:rPr>
              <a:t>  대응 제안서</a:t>
            </a:r>
          </a:p>
        </p:txBody>
      </p:sp>
      <p:sp>
        <p:nvSpPr>
          <p:cNvPr id="6112" name="TextBox 24"/>
          <p:cNvSpPr txBox="1"/>
          <p:nvPr/>
        </p:nvSpPr>
        <p:spPr>
          <a:xfrm>
            <a:off x="13543644" y="3014548"/>
            <a:ext cx="1519798" cy="740810"/>
          </a:xfrm>
          <a:prstGeom prst="rect">
            <a:avLst/>
          </a:prstGeom>
          <a:noFill/>
        </p:spPr>
        <p:txBody>
          <a:bodyPr wrap="square" lIns="36576" tIns="0" rIns="36576" bIns="0" anchor="ctr">
            <a:noAutofit/>
          </a:bodyPr>
          <a:lstStyle/>
          <a:p>
            <a:pPr algn="ctr">
              <a:lnSpc>
                <a:spcPts val="1340"/>
              </a:lnSpc>
              <a:spcBef>
                <a:spcPts val="0"/>
              </a:spcBef>
              <a:spcAft>
                <a:spcPts val="0"/>
              </a:spcAft>
            </a:pPr>
            <a:r>
              <a:rPr lang="ko-KR" altLang="en-US" sz="1150" b="1" dirty="0">
                <a:solidFill>
                  <a:srgbClr val="1F2937"/>
                </a:solidFill>
                <a:latin typeface="Arial"/>
                <a:ea typeface="맑은 고딕"/>
                <a:cs typeface="Arial"/>
              </a:rPr>
              <a:t>출력 </a:t>
            </a:r>
            <a:r>
              <a:rPr lang="ko-KR" altLang="en-US" sz="1150" b="1" dirty="0" err="1">
                <a:solidFill>
                  <a:srgbClr val="1F2937"/>
                </a:solidFill>
                <a:latin typeface="Arial"/>
                <a:ea typeface="맑은 고딕"/>
                <a:cs typeface="Arial"/>
              </a:rPr>
              <a:t>B</a:t>
            </a:r>
            <a:r>
              <a:rPr lang="ko-KR" altLang="en-US" sz="1150" b="1" dirty="0">
                <a:solidFill>
                  <a:srgbClr val="1F2937"/>
                </a:solidFill>
                <a:latin typeface="Arial"/>
                <a:ea typeface="맑은 고딕"/>
                <a:cs typeface="Arial"/>
              </a:rPr>
              <a:t>  AI 답변</a:t>
            </a:r>
          </a:p>
        </p:txBody>
      </p:sp>
      <p:sp>
        <p:nvSpPr>
          <p:cNvPr id="6113" name="Rectangle AIHub"/>
          <p:cNvSpPr/>
          <p:nvPr/>
        </p:nvSpPr>
        <p:spPr>
          <a:xfrm>
            <a:off x="7725738" y="8186952"/>
            <a:ext cx="1345156" cy="409395"/>
          </a:xfrm>
          <a:prstGeom prst="rect">
            <a:avLst/>
          </a:prstGeom>
          <a:solidFill>
            <a:srgbClr val="FFFFFF"/>
          </a:solidFill>
          <a:ln w="15875">
            <a:solidFill>
              <a:srgbClr val="9CA3AF"/>
            </a:solidFill>
            <a:prstDash val="dash"/>
          </a:ln>
        </p:spPr>
        <p:txBody>
          <a:bodyPr rtlCol="0" anchor="ctr"/>
          <a:lstStyle/>
          <a:p>
            <a:pPr algn="ctr"/>
            <a:endParaRPr/>
          </a:p>
        </p:txBody>
      </p:sp>
      <p:pic>
        <p:nvPicPr>
          <p:cNvPr id="6114" name="Picture AIHub" descr="aihub_crop.png"/>
          <p:cNvPicPr>
            <a:picLocks noChangeAspect="1"/>
          </p:cNvPicPr>
          <p:nvPr/>
        </p:nvPicPr>
        <p:blipFill>
          <a:blip r:embed="rId10"/>
          <a:stretch>
            <a:fillRect/>
          </a:stretch>
        </p:blipFill>
        <p:spPr>
          <a:xfrm>
            <a:off x="7803718" y="8321792"/>
            <a:ext cx="487375" cy="139714"/>
          </a:xfrm>
          <a:prstGeom prst="rect">
            <a:avLst/>
          </a:prstGeom>
        </p:spPr>
      </p:pic>
      <p:sp>
        <p:nvSpPr>
          <p:cNvPr id="9" name="TextBox AIHub"/>
          <p:cNvSpPr txBox="1"/>
          <p:nvPr/>
        </p:nvSpPr>
        <p:spPr>
          <a:xfrm>
            <a:off x="8310588" y="8186952"/>
            <a:ext cx="740810" cy="409395"/>
          </a:xfrm>
          <a:prstGeom prst="rect">
            <a:avLst/>
          </a:prstGeom>
          <a:noFill/>
        </p:spPr>
        <p:txBody>
          <a:bodyPr wrap="none" lIns="0" tIns="0" rIns="0" bIns="0" anchor="ctr">
            <a:noAutofit/>
          </a:bodyPr>
          <a:lstStyle/>
          <a:p>
            <a:pPr algn="l">
              <a:lnSpc>
                <a:spcPts val="1220"/>
              </a:lnSpc>
              <a:spcBef>
                <a:spcPts val="0"/>
              </a:spcBef>
              <a:spcAft>
                <a:spcPts val="0"/>
              </a:spcAft>
            </a:pPr>
            <a:r>
              <a:rPr lang="ko-KR" altLang="en-US" sz="1050" b="1">
                <a:solidFill>
                  <a:srgbClr val="1F2937"/>
                </a:solidFill>
                <a:latin typeface="Arial"/>
                <a:ea typeface="맑은 고딕"/>
                <a:cs typeface="Arial"/>
              </a:rPr>
              <a:t>소실 경계</a:t>
            </a:r>
          </a:p>
        </p:txBody>
      </p:sp>
      <p:cxnSp>
        <p:nvCxnSpPr>
          <p:cNvPr id="6115" name="Connector AIHub"/>
          <p:cNvCxnSpPr/>
          <p:nvPr/>
        </p:nvCxnSpPr>
        <p:spPr>
          <a:xfrm flipV="1">
            <a:off x="8398316" y="7953012"/>
            <a:ext cx="0" cy="233940"/>
          </a:xfrm>
          <a:prstGeom prst="line">
            <a:avLst/>
          </a:prstGeom>
          <a:ln w="12700">
            <a:solidFill>
              <a:srgbClr val="9CA3AF"/>
            </a:solidFill>
            <a:prstDash val="dash"/>
            <a:tailEnd type="triangle" w="med" len="med"/>
          </a:ln>
        </p:spPr>
      </p:cxnSp>
      <p:sp>
        <p:nvSpPr>
          <p:cNvPr id="6116" name="TextBox AIHub2"/>
          <p:cNvSpPr txBox="1"/>
          <p:nvPr/>
        </p:nvSpPr>
        <p:spPr>
          <a:xfrm>
            <a:off x="8456801" y="7992002"/>
            <a:ext cx="604345" cy="155960"/>
          </a:xfrm>
          <a:prstGeom prst="rect">
            <a:avLst/>
          </a:prstGeom>
          <a:noFill/>
        </p:spPr>
        <p:txBody>
          <a:bodyPr wrap="square" lIns="0" tIns="0" rIns="0" bIns="0" anchor="ctr">
            <a:noAutofit/>
          </a:bodyPr>
          <a:lstStyle/>
          <a:p>
            <a:pPr algn="l">
              <a:lnSpc>
                <a:spcPts val="1100"/>
              </a:lnSpc>
              <a:spcBef>
                <a:spcPts val="0"/>
              </a:spcBef>
              <a:spcAft>
                <a:spcPts val="0"/>
              </a:spcAft>
            </a:pPr>
            <a:r>
              <a:rPr lang="ko-KR" altLang="en-US" sz="950" b="0">
                <a:solidFill>
                  <a:srgbClr val="1F2937"/>
                </a:solidFill>
                <a:latin typeface="Arial"/>
                <a:ea typeface="맑은 고딕"/>
                <a:cs typeface="Arial"/>
              </a:rPr>
              <a:t>IoU 보정</a:t>
            </a:r>
          </a:p>
        </p:txBody>
      </p:sp>
      <p:pic>
        <p:nvPicPr>
          <p:cNvPr id="13" name="그림 12">
            <a:extLst>
              <a:ext uri="{FF2B5EF4-FFF2-40B4-BE49-F238E27FC236}">
                <a16:creationId xmlns:a16="http://schemas.microsoft.com/office/drawing/2014/main" id="{8DB222FD-1315-24B2-68EC-C9AFAD908B1B}"/>
              </a:ext>
            </a:extLst>
          </p:cNvPr>
          <p:cNvPicPr>
            <a:picLocks noChangeAspect="1"/>
          </p:cNvPicPr>
          <p:nvPr/>
        </p:nvPicPr>
        <p:blipFill>
          <a:blip r:embed="rId11"/>
          <a:srcRect b="469"/>
          <a:stretch>
            <a:fillRect/>
          </a:stretch>
        </p:blipFill>
        <p:spPr>
          <a:xfrm>
            <a:off x="1847850" y="2197876"/>
            <a:ext cx="15009656" cy="8089124"/>
          </a:xfrm>
          <a:prstGeom prst="rect">
            <a:avLst/>
          </a:prstGeom>
        </p:spPr>
      </p:pic>
    </p:spTree>
    <p:extLst>
      <p:ext uri="{BB962C8B-B14F-4D97-AF65-F5344CB8AC3E}">
        <p14:creationId xmlns:p14="http://schemas.microsoft.com/office/powerpoint/2010/main" val="6648475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DFDDF7-E2E6-8448-6EB4-0F8BF6CCD22C}"/>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E1BC13C5-81A0-578C-DEB9-9D9E7C0EBA0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2700" y="-12700"/>
            <a:ext cx="18313400" cy="1638300"/>
          </a:xfrm>
          <a:prstGeom prst="rect">
            <a:avLst/>
          </a:prstGeom>
        </p:spPr>
      </p:pic>
      <p:graphicFrame>
        <p:nvGraphicFramePr>
          <p:cNvPr id="950" name="표 949">
            <a:extLst>
              <a:ext uri="{FF2B5EF4-FFF2-40B4-BE49-F238E27FC236}">
                <a16:creationId xmlns:a16="http://schemas.microsoft.com/office/drawing/2014/main" id="{1A117E05-4164-5A7E-69A8-C6E558CCB2C0}"/>
              </a:ext>
            </a:extLst>
          </p:cNvPr>
          <p:cNvGraphicFramePr>
            <a:graphicFrameLocks noGrp="1"/>
          </p:cNvGraphicFramePr>
          <p:nvPr>
            <p:extLst>
              <p:ext uri="{D42A27DB-BD31-4B8C-83A1-F6EECF244321}">
                <p14:modId xmlns:p14="http://schemas.microsoft.com/office/powerpoint/2010/main" val="1997251191"/>
              </p:ext>
            </p:extLst>
          </p:nvPr>
        </p:nvGraphicFramePr>
        <p:xfrm>
          <a:off x="746764" y="2331720"/>
          <a:ext cx="16628595" cy="7246620"/>
        </p:xfrm>
        <a:graphic>
          <a:graphicData uri="http://schemas.openxmlformats.org/drawingml/2006/table">
            <a:tbl>
              <a:tblPr firstRow="1" bandRow="1">
                <a:tableStyleId>{5C22544A-7EE6-4342-B048-85BDC9FD1C3A}</a:tableStyleId>
              </a:tblPr>
              <a:tblGrid>
                <a:gridCol w="4224528">
                  <a:extLst>
                    <a:ext uri="{9D8B030D-6E8A-4147-A177-3AD203B41FA5}">
                      <a16:colId xmlns:a16="http://schemas.microsoft.com/office/drawing/2014/main" val="1674909047"/>
                    </a:ext>
                  </a:extLst>
                </a:gridCol>
                <a:gridCol w="756371">
                  <a:extLst>
                    <a:ext uri="{9D8B030D-6E8A-4147-A177-3AD203B41FA5}">
                      <a16:colId xmlns:a16="http://schemas.microsoft.com/office/drawing/2014/main" val="599859663"/>
                    </a:ext>
                  </a:extLst>
                </a:gridCol>
                <a:gridCol w="651606">
                  <a:extLst>
                    <a:ext uri="{9D8B030D-6E8A-4147-A177-3AD203B41FA5}">
                      <a16:colId xmlns:a16="http://schemas.microsoft.com/office/drawing/2014/main" val="2314067092"/>
                    </a:ext>
                  </a:extLst>
                </a:gridCol>
                <a:gridCol w="651606">
                  <a:extLst>
                    <a:ext uri="{9D8B030D-6E8A-4147-A177-3AD203B41FA5}">
                      <a16:colId xmlns:a16="http://schemas.microsoft.com/office/drawing/2014/main" val="1230032074"/>
                    </a:ext>
                  </a:extLst>
                </a:gridCol>
                <a:gridCol w="651606">
                  <a:extLst>
                    <a:ext uri="{9D8B030D-6E8A-4147-A177-3AD203B41FA5}">
                      <a16:colId xmlns:a16="http://schemas.microsoft.com/office/drawing/2014/main" val="1419676675"/>
                    </a:ext>
                  </a:extLst>
                </a:gridCol>
                <a:gridCol w="651606">
                  <a:extLst>
                    <a:ext uri="{9D8B030D-6E8A-4147-A177-3AD203B41FA5}">
                      <a16:colId xmlns:a16="http://schemas.microsoft.com/office/drawing/2014/main" val="188012159"/>
                    </a:ext>
                  </a:extLst>
                </a:gridCol>
                <a:gridCol w="651606">
                  <a:extLst>
                    <a:ext uri="{9D8B030D-6E8A-4147-A177-3AD203B41FA5}">
                      <a16:colId xmlns:a16="http://schemas.microsoft.com/office/drawing/2014/main" val="1118859367"/>
                    </a:ext>
                  </a:extLst>
                </a:gridCol>
                <a:gridCol w="724006">
                  <a:extLst>
                    <a:ext uri="{9D8B030D-6E8A-4147-A177-3AD203B41FA5}">
                      <a16:colId xmlns:a16="http://schemas.microsoft.com/office/drawing/2014/main" val="4214397482"/>
                    </a:ext>
                  </a:extLst>
                </a:gridCol>
                <a:gridCol w="772575">
                  <a:extLst>
                    <a:ext uri="{9D8B030D-6E8A-4147-A177-3AD203B41FA5}">
                      <a16:colId xmlns:a16="http://schemas.microsoft.com/office/drawing/2014/main" val="327376728"/>
                    </a:ext>
                  </a:extLst>
                </a:gridCol>
                <a:gridCol w="724006">
                  <a:extLst>
                    <a:ext uri="{9D8B030D-6E8A-4147-A177-3AD203B41FA5}">
                      <a16:colId xmlns:a16="http://schemas.microsoft.com/office/drawing/2014/main" val="4097105941"/>
                    </a:ext>
                  </a:extLst>
                </a:gridCol>
                <a:gridCol w="724006">
                  <a:extLst>
                    <a:ext uri="{9D8B030D-6E8A-4147-A177-3AD203B41FA5}">
                      <a16:colId xmlns:a16="http://schemas.microsoft.com/office/drawing/2014/main" val="1402595917"/>
                    </a:ext>
                  </a:extLst>
                </a:gridCol>
                <a:gridCol w="796407">
                  <a:extLst>
                    <a:ext uri="{9D8B030D-6E8A-4147-A177-3AD203B41FA5}">
                      <a16:colId xmlns:a16="http://schemas.microsoft.com/office/drawing/2014/main" val="78640459"/>
                    </a:ext>
                  </a:extLst>
                </a:gridCol>
                <a:gridCol w="724006">
                  <a:extLst>
                    <a:ext uri="{9D8B030D-6E8A-4147-A177-3AD203B41FA5}">
                      <a16:colId xmlns:a16="http://schemas.microsoft.com/office/drawing/2014/main" val="2553558577"/>
                    </a:ext>
                  </a:extLst>
                </a:gridCol>
                <a:gridCol w="724006">
                  <a:extLst>
                    <a:ext uri="{9D8B030D-6E8A-4147-A177-3AD203B41FA5}">
                      <a16:colId xmlns:a16="http://schemas.microsoft.com/office/drawing/2014/main" val="340484870"/>
                    </a:ext>
                  </a:extLst>
                </a:gridCol>
                <a:gridCol w="868807">
                  <a:extLst>
                    <a:ext uri="{9D8B030D-6E8A-4147-A177-3AD203B41FA5}">
                      <a16:colId xmlns:a16="http://schemas.microsoft.com/office/drawing/2014/main" val="2480588412"/>
                    </a:ext>
                  </a:extLst>
                </a:gridCol>
                <a:gridCol w="868807">
                  <a:extLst>
                    <a:ext uri="{9D8B030D-6E8A-4147-A177-3AD203B41FA5}">
                      <a16:colId xmlns:a16="http://schemas.microsoft.com/office/drawing/2014/main" val="3623890791"/>
                    </a:ext>
                  </a:extLst>
                </a:gridCol>
                <a:gridCol w="1463040">
                  <a:extLst>
                    <a:ext uri="{9D8B030D-6E8A-4147-A177-3AD203B41FA5}">
                      <a16:colId xmlns:a16="http://schemas.microsoft.com/office/drawing/2014/main" val="17893452"/>
                    </a:ext>
                  </a:extLst>
                </a:gridCol>
              </a:tblGrid>
              <a:tr h="301752">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800" b="0" i="0" u="none" strike="noStrike" spc="-100" dirty="0">
                          <a:solidFill>
                            <a:srgbClr val="FFFFFF"/>
                          </a:solidFill>
                          <a:latin typeface="210 OmniGothic 040"/>
                          <a:ea typeface="210 OmniGothic 040"/>
                          <a:cs typeface="210 OmniGothic 040"/>
                        </a:rPr>
                        <a:t>개발 내용</a:t>
                      </a:r>
                      <a:endParaRPr lang="en-US" altLang="ko-KR" sz="1800" b="0" i="0" u="none" strike="noStrike" spc="-100" dirty="0">
                        <a:solidFill>
                          <a:srgbClr val="FFFFFF"/>
                        </a:solidFill>
                        <a:latin typeface="210 OmniGothic 040"/>
                        <a:ea typeface="210 OmniGothic 040"/>
                        <a:cs typeface="210 OmniGothic 040"/>
                      </a:endParaRPr>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3A52"/>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800" b="0" i="0" u="none" strike="noStrike" spc="-100" dirty="0">
                          <a:solidFill>
                            <a:srgbClr val="FFFFFF"/>
                          </a:solidFill>
                          <a:latin typeface="210 OmniGothic 040"/>
                          <a:ea typeface="210 OmniGothic 040"/>
                          <a:cs typeface="210 OmniGothic 040"/>
                        </a:rPr>
                        <a:t>2</a:t>
                      </a:r>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3A52"/>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800" b="0" i="0" u="none" strike="noStrike" spc="-100" dirty="0">
                          <a:solidFill>
                            <a:srgbClr val="FFFFFF"/>
                          </a:solidFill>
                          <a:latin typeface="210 OmniGothic 040"/>
                          <a:ea typeface="210 OmniGothic 040"/>
                          <a:cs typeface="210 OmniGothic 040"/>
                        </a:rPr>
                        <a:t>3</a:t>
                      </a:r>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3A52"/>
                    </a:solidFill>
                  </a:tcPr>
                </a:tc>
                <a:tc>
                  <a:txBody>
                    <a:bodyPr/>
                    <a:lstStyle/>
                    <a:p>
                      <a:pPr algn="ctr" latinLnBrk="1"/>
                      <a:r>
                        <a:rPr lang="en-US" altLang="ko-KR" sz="1800" b="0" i="0" u="none" strike="noStrike" spc="-100" dirty="0">
                          <a:solidFill>
                            <a:srgbClr val="FFFFFF"/>
                          </a:solidFill>
                          <a:latin typeface="210 OmniGothic 040"/>
                          <a:ea typeface="210 OmniGothic 040"/>
                        </a:rPr>
                        <a:t>4</a:t>
                      </a:r>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3A52"/>
                    </a:solidFill>
                  </a:tcPr>
                </a:tc>
                <a:tc>
                  <a:txBody>
                    <a:bodyPr/>
                    <a:lstStyle/>
                    <a:p>
                      <a:pPr algn="ctr" latinLnBrk="1"/>
                      <a:r>
                        <a:rPr lang="en-US" altLang="ko-KR" sz="1800" b="0" i="0" u="none" strike="noStrike" spc="-100" dirty="0">
                          <a:solidFill>
                            <a:srgbClr val="FFFFFF"/>
                          </a:solidFill>
                          <a:latin typeface="210 OmniGothic 040"/>
                          <a:ea typeface="210 OmniGothic 040"/>
                        </a:rPr>
                        <a:t>5</a:t>
                      </a:r>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3A52"/>
                    </a:solidFill>
                  </a:tcPr>
                </a:tc>
                <a:tc>
                  <a:txBody>
                    <a:bodyPr/>
                    <a:lstStyle/>
                    <a:p>
                      <a:pPr algn="ctr" latinLnBrk="1"/>
                      <a:r>
                        <a:rPr lang="en-US" altLang="ko-KR" sz="1800" b="0" i="0" u="none" strike="noStrike" spc="-100" dirty="0">
                          <a:solidFill>
                            <a:srgbClr val="FFFFFF"/>
                          </a:solidFill>
                          <a:latin typeface="210 OmniGothic 040"/>
                          <a:ea typeface="210 OmniGothic 040"/>
                        </a:rPr>
                        <a:t>6</a:t>
                      </a:r>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3A52"/>
                    </a:solidFill>
                  </a:tcPr>
                </a:tc>
                <a:tc>
                  <a:txBody>
                    <a:bodyPr/>
                    <a:lstStyle/>
                    <a:p>
                      <a:pPr algn="ctr" latinLnBrk="1"/>
                      <a:r>
                        <a:rPr lang="en-US" altLang="ko-KR" sz="1800" b="0" i="0" u="none" strike="noStrike" spc="-100" dirty="0">
                          <a:solidFill>
                            <a:srgbClr val="FFFFFF"/>
                          </a:solidFill>
                          <a:latin typeface="210 OmniGothic 040"/>
                          <a:ea typeface="210 OmniGothic 040"/>
                        </a:rPr>
                        <a:t>7</a:t>
                      </a:r>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3A52"/>
                    </a:solidFill>
                  </a:tcPr>
                </a:tc>
                <a:tc>
                  <a:txBody>
                    <a:bodyPr/>
                    <a:lstStyle/>
                    <a:p>
                      <a:pPr algn="ctr" latinLnBrk="1"/>
                      <a:r>
                        <a:rPr lang="en-US" altLang="ko-KR" sz="1800" b="0" i="0" u="none" strike="noStrike" spc="-100" dirty="0">
                          <a:solidFill>
                            <a:srgbClr val="FFFFFF"/>
                          </a:solidFill>
                          <a:latin typeface="210 OmniGothic 040"/>
                          <a:ea typeface="210 OmniGothic 040"/>
                        </a:rPr>
                        <a:t>8</a:t>
                      </a:r>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3A52"/>
                    </a:solidFill>
                  </a:tcPr>
                </a:tc>
                <a:tc>
                  <a:txBody>
                    <a:bodyPr/>
                    <a:lstStyle/>
                    <a:p>
                      <a:pPr algn="ctr" latinLnBrk="1"/>
                      <a:r>
                        <a:rPr lang="en-US" altLang="ko-KR" sz="1800" b="0" i="0" u="none" strike="noStrike" spc="-100" dirty="0">
                          <a:solidFill>
                            <a:srgbClr val="FFFFFF"/>
                          </a:solidFill>
                          <a:latin typeface="210 OmniGothic 040"/>
                          <a:ea typeface="210 OmniGothic 040"/>
                        </a:rPr>
                        <a:t>9</a:t>
                      </a:r>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3A52"/>
                    </a:solidFill>
                  </a:tcPr>
                </a:tc>
                <a:tc>
                  <a:txBody>
                    <a:bodyPr/>
                    <a:lstStyle/>
                    <a:p>
                      <a:pPr algn="ctr" latinLnBrk="1"/>
                      <a:r>
                        <a:rPr lang="en-US" altLang="ko-KR" sz="1800" b="0" i="0" u="none" strike="noStrike" spc="-100" dirty="0">
                          <a:solidFill>
                            <a:srgbClr val="FFFFFF"/>
                          </a:solidFill>
                          <a:latin typeface="210 OmniGothic 040"/>
                          <a:ea typeface="210 OmniGothic 040"/>
                        </a:rPr>
                        <a:t>10</a:t>
                      </a:r>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3A52"/>
                    </a:solidFill>
                  </a:tcPr>
                </a:tc>
                <a:tc>
                  <a:txBody>
                    <a:bodyPr/>
                    <a:lstStyle/>
                    <a:p>
                      <a:pPr algn="ctr" latinLnBrk="1"/>
                      <a:r>
                        <a:rPr lang="en-US" altLang="ko-KR" sz="1800" b="0" i="0" u="none" strike="noStrike" spc="-100" dirty="0">
                          <a:solidFill>
                            <a:srgbClr val="FFFFFF"/>
                          </a:solidFill>
                          <a:latin typeface="210 OmniGothic 040"/>
                          <a:ea typeface="210 OmniGothic 040"/>
                        </a:rPr>
                        <a:t>11</a:t>
                      </a:r>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3A52"/>
                    </a:solidFill>
                  </a:tcPr>
                </a:tc>
                <a:tc>
                  <a:txBody>
                    <a:bodyPr/>
                    <a:lstStyle/>
                    <a:p>
                      <a:pPr algn="ctr" latinLnBrk="1"/>
                      <a:r>
                        <a:rPr lang="en-US" altLang="ko-KR" sz="1800" b="0" i="0" u="none" strike="noStrike" spc="-100" dirty="0">
                          <a:solidFill>
                            <a:srgbClr val="FFFFFF"/>
                          </a:solidFill>
                          <a:latin typeface="210 OmniGothic 040"/>
                          <a:ea typeface="210 OmniGothic 040"/>
                        </a:rPr>
                        <a:t>12</a:t>
                      </a:r>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3A52"/>
                    </a:solidFill>
                  </a:tcPr>
                </a:tc>
                <a:tc>
                  <a:txBody>
                    <a:bodyPr/>
                    <a:lstStyle/>
                    <a:p>
                      <a:pPr algn="ctr" latinLnBrk="1"/>
                      <a:r>
                        <a:rPr lang="en-US" altLang="ko-KR" sz="1800" b="0" i="0" u="none" strike="noStrike" spc="-100" dirty="0">
                          <a:solidFill>
                            <a:srgbClr val="FFFFFF"/>
                          </a:solidFill>
                          <a:latin typeface="210 OmniGothic 040"/>
                          <a:ea typeface="210 OmniGothic 040"/>
                        </a:rPr>
                        <a:t>13</a:t>
                      </a:r>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3A52"/>
                    </a:solidFill>
                  </a:tcPr>
                </a:tc>
                <a:tc>
                  <a:txBody>
                    <a:bodyPr/>
                    <a:lstStyle/>
                    <a:p>
                      <a:pPr algn="ctr" latinLnBrk="1"/>
                      <a:r>
                        <a:rPr lang="en-US" altLang="ko-KR" sz="1800" b="0" i="0" u="none" strike="noStrike" spc="-100" dirty="0">
                          <a:solidFill>
                            <a:srgbClr val="FFFFFF"/>
                          </a:solidFill>
                          <a:latin typeface="210 OmniGothic 040"/>
                          <a:ea typeface="210 OmniGothic 040"/>
                        </a:rPr>
                        <a:t>14</a:t>
                      </a:r>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3A52"/>
                    </a:solidFill>
                  </a:tcPr>
                </a:tc>
                <a:tc>
                  <a:txBody>
                    <a:bodyPr/>
                    <a:lstStyle/>
                    <a:p>
                      <a:pPr algn="ctr" latinLnBrk="1"/>
                      <a:r>
                        <a:rPr lang="en-US" altLang="ko-KR" sz="1800" b="0" i="0" u="none" strike="noStrike" spc="-100" dirty="0">
                          <a:solidFill>
                            <a:srgbClr val="FFFFFF"/>
                          </a:solidFill>
                          <a:latin typeface="210 OmniGothic 040"/>
                          <a:ea typeface="210 OmniGothic 040"/>
                        </a:rPr>
                        <a:t>15</a:t>
                      </a:r>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3A52"/>
                    </a:solidFill>
                  </a:tcPr>
                </a:tc>
                <a:tc>
                  <a:txBody>
                    <a:bodyPr/>
                    <a:lstStyle/>
                    <a:p>
                      <a:pPr algn="ctr" latinLnBrk="1"/>
                      <a:r>
                        <a:rPr lang="en-US" altLang="ko-KR" sz="1800" b="0" i="0" u="none" strike="noStrike" spc="-100" dirty="0">
                          <a:solidFill>
                            <a:srgbClr val="FFFFFF"/>
                          </a:solidFill>
                          <a:latin typeface="210 OmniGothic 040"/>
                          <a:ea typeface="210 OmniGothic 040"/>
                        </a:rPr>
                        <a:t>16</a:t>
                      </a:r>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3A52"/>
                    </a:solidFill>
                  </a:tcPr>
                </a:tc>
                <a:tc>
                  <a:txBody>
                    <a:bodyPr/>
                    <a:lstStyle/>
                    <a:p>
                      <a:pPr algn="ctr" latinLnBrk="1"/>
                      <a:r>
                        <a:rPr lang="ko-KR" altLang="en-US" sz="1800" b="0">
                          <a:solidFill>
                            <a:srgbClr val="FFFFFF"/>
                          </a:solidFill>
                          <a:latin typeface="210 OmniGothic 040" panose="020B0600000101010101" charset="-127"/>
                          <a:ea typeface="210 OmniGothic 040" panose="020B0600000101010101" charset="-127"/>
                        </a:rPr>
                        <a:t>담당</a:t>
                      </a:r>
                      <a:endParaRPr lang="ko-KR" altLang="en-US" sz="1800" b="0" dirty="0">
                        <a:solidFill>
                          <a:srgbClr val="FFFFFF"/>
                        </a:solidFill>
                        <a:latin typeface="210 OmniGothic 040" panose="020B0600000101010101" charset="-127"/>
                        <a:ea typeface="210 OmniGothic 040" panose="020B0600000101010101" charset="-127"/>
                      </a:endParaRPr>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3A52"/>
                    </a:solidFill>
                  </a:tcPr>
                </a:tc>
                <a:extLst>
                  <a:ext uri="{0D108BD9-81ED-4DB2-BD59-A6C34878D82A}">
                    <a16:rowId xmlns:a16="http://schemas.microsoft.com/office/drawing/2014/main" val="251349729"/>
                  </a:ext>
                </a:extLst>
              </a:tr>
              <a:tr h="301752">
                <a:tc>
                  <a:txBody>
                    <a:bodyPr/>
                    <a:lstStyle/>
                    <a:p>
                      <a:pPr latinLnBrk="1"/>
                      <a:r>
                        <a:rPr lang="en-US" altLang="ko-KR" sz="1100" b="0" i="0" u="none" strike="noStrike" spc="-100" dirty="0">
                          <a:solidFill>
                            <a:srgbClr val="363A52"/>
                          </a:solidFill>
                          <a:latin typeface="210 OmniGothic 030"/>
                          <a:ea typeface="210 OmniGothic 030"/>
                          <a:cs typeface="210 OmniGothic 030"/>
                        </a:rPr>
                        <a:t>1. </a:t>
                      </a:r>
                      <a:r>
                        <a:rPr lang="ko-KR" altLang="en-US" sz="1100" b="0" i="0" u="none" strike="noStrike" spc="-100" dirty="0">
                          <a:solidFill>
                            <a:srgbClr val="363A52"/>
                          </a:solidFill>
                          <a:latin typeface="210 OmniGothic 030"/>
                          <a:ea typeface="210 OmniGothic 030"/>
                          <a:cs typeface="210 OmniGothic 030"/>
                        </a:rPr>
                        <a:t>과제계획서 작성</a:t>
                      </a:r>
                      <a:endParaRPr lang="ko-KR" altLang="en-US" sz="1100"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FBFBF"/>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ko-KR"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ko-KR" altLang="en-US" sz="1200" b="0">
                          <a:solidFill>
                            <a:srgbClr val="000000"/>
                          </a:solidFill>
                          <a:latin typeface="210 OmniGothic 030" panose="020B0600000101010101" charset="-127"/>
                          <a:ea typeface="210 OmniGothic 030" panose="020B0600000101010101" charset="-127"/>
                        </a:rPr>
                        <a:t>전원</a:t>
                      </a:r>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94626196"/>
                  </a:ext>
                </a:extLst>
              </a:tr>
              <a:tr h="301752">
                <a:tc>
                  <a:txBody>
                    <a:bodyPr/>
                    <a:lstStyle/>
                    <a:p>
                      <a:pPr latinLnBrk="1"/>
                      <a:r>
                        <a:rPr lang="en-US" altLang="ko-KR" sz="1100" b="0" i="0" u="none" strike="noStrike" spc="-100" dirty="0">
                          <a:solidFill>
                            <a:srgbClr val="363A52"/>
                          </a:solidFill>
                          <a:latin typeface="210 OmniGothic 030"/>
                          <a:ea typeface="210 OmniGothic 030"/>
                          <a:cs typeface="210 OmniGothic 030"/>
                        </a:rPr>
                        <a:t>2. 수정 과제계획서 작성</a:t>
                      </a:r>
                      <a:endParaRPr lang="ko-KR" altLang="en-US" sz="1100"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FBFBF"/>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ko-KR"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ko-KR" altLang="en-US" sz="1200" b="0">
                          <a:solidFill>
                            <a:srgbClr val="000000"/>
                          </a:solidFill>
                          <a:latin typeface="210 OmniGothic 030" panose="020B0600000101010101" charset="-127"/>
                          <a:ea typeface="210 OmniGothic 030" panose="020B0600000101010101" charset="-127"/>
                        </a:rPr>
                        <a:t>전원</a:t>
                      </a:r>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01752">
                <a:tc>
                  <a:txBody>
                    <a:bodyPr/>
                    <a:lstStyle/>
                    <a:p>
                      <a:pPr latinLnBrk="1"/>
                      <a:r>
                        <a:rPr lang="en-US" altLang="ko-KR" sz="1100" b="0" i="0" u="none" strike="noStrike" spc="-100" dirty="0">
                          <a:solidFill>
                            <a:srgbClr val="363A52"/>
                          </a:solidFill>
                          <a:latin typeface="210 OmniGothic 030"/>
                          <a:ea typeface="210 OmniGothic 030"/>
                          <a:cs typeface="210 OmniGothic 030"/>
                        </a:rPr>
                        <a:t>3. 요구사항분석서 작성</a:t>
                      </a:r>
                      <a:endParaRPr lang="ko-KR" altLang="en-US" sz="1100"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ko-KR"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FBFBF"/>
                    </a:solid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FBFBF"/>
                    </a:solid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ko-KR" altLang="en-US" sz="1200" b="0">
                          <a:solidFill>
                            <a:srgbClr val="000000"/>
                          </a:solidFill>
                          <a:latin typeface="210 OmniGothic 030" panose="020B0600000101010101" charset="-127"/>
                          <a:ea typeface="210 OmniGothic 030" panose="020B0600000101010101" charset="-127"/>
                        </a:rPr>
                        <a:t>전원</a:t>
                      </a:r>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301752">
                <a:tc>
                  <a:txBody>
                    <a:bodyPr/>
                    <a:lstStyle/>
                    <a:p>
                      <a:pPr latinLnBrk="1"/>
                      <a:r>
                        <a:rPr lang="en-US" altLang="ko-KR" sz="1100" b="0" i="0" u="none" strike="noStrike" spc="-100" dirty="0">
                          <a:solidFill>
                            <a:srgbClr val="363A52"/>
                          </a:solidFill>
                          <a:latin typeface="210 OmniGothic 030"/>
                          <a:ea typeface="210 OmniGothic 030"/>
                          <a:cs typeface="210 OmniGothic 030"/>
                        </a:rPr>
                        <a:t>4. 상세설계서·설계사양서·프로토타입 계획서 작성</a:t>
                      </a:r>
                      <a:endParaRPr lang="ko-KR" altLang="en-US" sz="1100"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ko-KR"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FBFBF"/>
                    </a:solid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ko-KR" altLang="en-US" sz="1200" b="0">
                          <a:solidFill>
                            <a:srgbClr val="000000"/>
                          </a:solidFill>
                          <a:latin typeface="210 OmniGothic 030" panose="020B0600000101010101" charset="-127"/>
                          <a:ea typeface="210 OmniGothic 030" panose="020B0600000101010101" charset="-127"/>
                        </a:rPr>
                        <a:t>전원</a:t>
                      </a:r>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301752">
                <a:tc>
                  <a:txBody>
                    <a:bodyPr/>
                    <a:lstStyle/>
                    <a:p>
                      <a:pPr latinLnBrk="1"/>
                      <a:r>
                        <a:rPr lang="en-US" altLang="ko-KR" sz="1100" b="0" i="0" u="none" strike="noStrike" spc="-100" dirty="0">
                          <a:solidFill>
                            <a:srgbClr val="363A52"/>
                          </a:solidFill>
                          <a:latin typeface="210 OmniGothic 030"/>
                          <a:ea typeface="210 OmniGothic 030"/>
                          <a:cs typeface="210 OmniGothic 030"/>
                        </a:rPr>
                        <a:t>5. 테스트 사양서 작성 및 1차 프로토타입 구현</a:t>
                      </a:r>
                      <a:endParaRPr lang="ko-KR" altLang="en-US" sz="1100"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ko-KR"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FBFBF"/>
                    </a:solid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FBFBF"/>
                    </a:solid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ko-KR" altLang="en-US" sz="1200" b="0">
                          <a:solidFill>
                            <a:srgbClr val="000000"/>
                          </a:solidFill>
                          <a:latin typeface="210 OmniGothic 030" panose="020B0600000101010101" charset="-127"/>
                          <a:ea typeface="210 OmniGothic 030" panose="020B0600000101010101" charset="-127"/>
                        </a:rPr>
                        <a:t>전원</a:t>
                      </a:r>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301752">
                <a:tc>
                  <a:txBody>
                    <a:bodyPr/>
                    <a:lstStyle/>
                    <a:p>
                      <a:pPr latinLnBrk="1"/>
                      <a:r>
                        <a:rPr lang="en-US" altLang="ko-KR" sz="1100" b="0" i="0" u="none" strike="noStrike" spc="-100" dirty="0">
                          <a:solidFill>
                            <a:srgbClr val="363A52"/>
                          </a:solidFill>
                          <a:latin typeface="210 OmniGothic 030"/>
                          <a:ea typeface="210 OmniGothic 030"/>
                          <a:cs typeface="210 OmniGothic 030"/>
                        </a:rPr>
                        <a:t>6. </a:t>
                      </a:r>
                      <a:r>
                        <a:rPr lang="ko-KR" altLang="en-US" sz="1100" b="0" i="0" u="none" strike="noStrike" spc="-100" dirty="0">
                          <a:solidFill>
                            <a:srgbClr val="363A52"/>
                          </a:solidFill>
                          <a:latin typeface="210 OmniGothic 030"/>
                          <a:ea typeface="210 OmniGothic 030"/>
                          <a:cs typeface="210 OmniGothic 030"/>
                        </a:rPr>
                        <a:t>공간 격자 구축</a:t>
                      </a:r>
                      <a:r>
                        <a:rPr lang="en-US" altLang="ko-KR" sz="1100" b="0" i="0" u="none" strike="noStrike" spc="-100" dirty="0">
                          <a:solidFill>
                            <a:srgbClr val="363A52"/>
                          </a:solidFill>
                          <a:latin typeface="210 OmniGothic 030"/>
                          <a:ea typeface="210 OmniGothic 030"/>
                          <a:cs typeface="210 OmniGothic 030"/>
                        </a:rPr>
                        <a:t>(DEM·</a:t>
                      </a:r>
                      <a:r>
                        <a:rPr lang="ko-KR" altLang="en-US" sz="1100" b="0" i="0" u="none" strike="noStrike" spc="-100" dirty="0">
                          <a:solidFill>
                            <a:srgbClr val="363A52"/>
                          </a:solidFill>
                          <a:latin typeface="210 OmniGothic 030"/>
                          <a:ea typeface="210 OmniGothic 030"/>
                          <a:cs typeface="210 OmniGothic 030"/>
                        </a:rPr>
                        <a:t>임상도→</a:t>
                      </a:r>
                      <a:r>
                        <a:rPr lang="en-US" altLang="ko-KR" sz="1100" b="0" i="0" u="none" strike="noStrike" spc="-100" dirty="0">
                          <a:solidFill>
                            <a:srgbClr val="363A52"/>
                          </a:solidFill>
                          <a:latin typeface="210 OmniGothic 030"/>
                          <a:ea typeface="210 OmniGothic 030"/>
                          <a:cs typeface="210 OmniGothic 030"/>
                        </a:rPr>
                        <a:t>Anderson-13 </a:t>
                      </a:r>
                      <a:r>
                        <a:rPr lang="ko-KR" altLang="en-US" sz="1100" b="0" i="0" u="none" strike="noStrike" spc="-100" dirty="0">
                          <a:solidFill>
                            <a:srgbClr val="363A52"/>
                          </a:solidFill>
                          <a:latin typeface="210 OmniGothic 030"/>
                          <a:ea typeface="210 OmniGothic 030"/>
                          <a:cs typeface="210 OmniGothic 030"/>
                        </a:rPr>
                        <a:t>연료 코드</a:t>
                      </a:r>
                      <a:r>
                        <a:rPr lang="en-US" altLang="ko-KR" sz="1100" b="0" i="0" u="none" strike="noStrike" spc="-100" dirty="0">
                          <a:solidFill>
                            <a:srgbClr val="363A52"/>
                          </a:solidFill>
                          <a:latin typeface="210 OmniGothic 030"/>
                          <a:ea typeface="210 OmniGothic 030"/>
                          <a:cs typeface="210 OmniGothic 030"/>
                        </a:rPr>
                        <a:t>, 30m </a:t>
                      </a:r>
                      <a:r>
                        <a:rPr lang="ko-KR" altLang="en-US" sz="1100" b="0" i="0" u="none" strike="noStrike" spc="-100" dirty="0">
                          <a:solidFill>
                            <a:srgbClr val="363A52"/>
                          </a:solidFill>
                          <a:latin typeface="210 OmniGothic 030"/>
                          <a:ea typeface="210 OmniGothic 030"/>
                          <a:cs typeface="210 OmniGothic 030"/>
                        </a:rPr>
                        <a:t>정합</a:t>
                      </a:r>
                      <a:r>
                        <a:rPr lang="en-US" altLang="ko-KR" sz="1100" b="0" i="0" u="none" strike="noStrike" spc="-100" dirty="0">
                          <a:solidFill>
                            <a:srgbClr val="363A52"/>
                          </a:solidFill>
                          <a:latin typeface="210 OmniGothic 030"/>
                          <a:ea typeface="210 OmniGothic 030"/>
                          <a:cs typeface="210 OmniGothic 030"/>
                        </a:rPr>
                        <a:t>) </a:t>
                      </a:r>
                      <a:endParaRPr lang="ko-KR" altLang="en-US" sz="1100"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FBFBF"/>
                    </a:solid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FBFBF"/>
                    </a:solid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ko-KR" altLang="en-US" sz="1200" b="0">
                          <a:solidFill>
                            <a:srgbClr val="000000"/>
                          </a:solidFill>
                          <a:latin typeface="210 OmniGothic 030" panose="020B0600000101010101" charset="-127"/>
                          <a:ea typeface="210 OmniGothic 030" panose="020B0600000101010101" charset="-127"/>
                        </a:rPr>
                        <a:t>홍준서</a:t>
                      </a:r>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06056591"/>
                  </a:ext>
                </a:extLst>
              </a:tr>
              <a:tr h="301752">
                <a:tc>
                  <a:txBody>
                    <a:bodyPr/>
                    <a:lstStyle/>
                    <a:p>
                      <a:pPr latinLnBrk="1"/>
                      <a:r>
                        <a:rPr lang="en-US" altLang="ko-KR" sz="1100" b="0" i="0" u="none" strike="noStrike" spc="-100" dirty="0">
                          <a:solidFill>
                            <a:srgbClr val="363A52"/>
                          </a:solidFill>
                          <a:latin typeface="210 OmniGothic 030"/>
                          <a:ea typeface="210 OmniGothic 030"/>
                          <a:cs typeface="210 OmniGothic 030"/>
                        </a:rPr>
                        <a:t>7. </a:t>
                      </a:r>
                      <a:r>
                        <a:rPr lang="en-US" altLang="ko-KR" sz="1100" b="0" i="0" u="none" strike="noStrike" spc="-100" dirty="0" err="1">
                          <a:solidFill>
                            <a:srgbClr val="363A52"/>
                          </a:solidFill>
                          <a:latin typeface="210 OmniGothic 030"/>
                          <a:ea typeface="210 OmniGothic 030"/>
                          <a:cs typeface="210 OmniGothic 030"/>
                        </a:rPr>
                        <a:t>PostGIS</a:t>
                      </a:r>
                      <a:r>
                        <a:rPr lang="en-US" altLang="ko-KR" sz="1100" b="0" i="0" u="none" strike="noStrike" spc="-100" dirty="0">
                          <a:solidFill>
                            <a:srgbClr val="363A52"/>
                          </a:solidFill>
                          <a:latin typeface="210 OmniGothic 030"/>
                          <a:ea typeface="210 OmniGothic 030"/>
                          <a:cs typeface="210 OmniGothic 030"/>
                        </a:rPr>
                        <a:t> </a:t>
                      </a:r>
                      <a:r>
                        <a:rPr lang="ko-KR" altLang="en-US" sz="1100" b="0" i="0" u="none" strike="noStrike" spc="-100" dirty="0">
                          <a:solidFill>
                            <a:srgbClr val="363A52"/>
                          </a:solidFill>
                          <a:latin typeface="210 OmniGothic 030"/>
                          <a:ea typeface="210 OmniGothic 030"/>
                          <a:cs typeface="210 OmniGothic 030"/>
                        </a:rPr>
                        <a:t>스키마</a:t>
                      </a:r>
                      <a:r>
                        <a:rPr lang="en-US" altLang="ko-KR" sz="1100" b="0" i="0" u="none" strike="noStrike" spc="-100" dirty="0">
                          <a:solidFill>
                            <a:srgbClr val="363A52"/>
                          </a:solidFill>
                          <a:latin typeface="210 OmniGothic 030"/>
                          <a:ea typeface="210 OmniGothic 030"/>
                          <a:cs typeface="210 OmniGothic 030"/>
                        </a:rPr>
                        <a:t>·</a:t>
                      </a:r>
                      <a:r>
                        <a:rPr lang="ko-KR" altLang="en-US" sz="1100" b="0" i="0" u="none" strike="noStrike" spc="-100" dirty="0">
                          <a:solidFill>
                            <a:srgbClr val="363A52"/>
                          </a:solidFill>
                          <a:latin typeface="210 OmniGothic 030"/>
                          <a:ea typeface="210 OmniGothic 030"/>
                          <a:cs typeface="210 OmniGothic 030"/>
                        </a:rPr>
                        <a:t>기상청 </a:t>
                      </a:r>
                      <a:r>
                        <a:rPr lang="en-US" altLang="ko-KR" sz="1100" b="0" i="0" u="none" strike="noStrike" spc="-100" dirty="0">
                          <a:solidFill>
                            <a:srgbClr val="363A52"/>
                          </a:solidFill>
                          <a:latin typeface="210 OmniGothic 030"/>
                          <a:ea typeface="210 OmniGothic 030"/>
                          <a:cs typeface="210 OmniGothic 030"/>
                        </a:rPr>
                        <a:t>API </a:t>
                      </a:r>
                      <a:r>
                        <a:rPr lang="ko-KR" altLang="en-US" sz="1100" b="0" i="0" u="none" strike="noStrike" spc="-100" dirty="0">
                          <a:solidFill>
                            <a:srgbClr val="363A52"/>
                          </a:solidFill>
                          <a:latin typeface="210 OmniGothic 030"/>
                          <a:ea typeface="210 OmniGothic 030"/>
                          <a:cs typeface="210 OmniGothic 030"/>
                        </a:rPr>
                        <a:t>어댑터</a:t>
                      </a:r>
                      <a:r>
                        <a:rPr lang="en-US" altLang="ko-KR" sz="1100" b="0" i="0" u="none" strike="noStrike" spc="-100" dirty="0">
                          <a:solidFill>
                            <a:srgbClr val="363A52"/>
                          </a:solidFill>
                          <a:latin typeface="210 OmniGothic 030"/>
                          <a:ea typeface="210 OmniGothic 030"/>
                          <a:cs typeface="210 OmniGothic 030"/>
                        </a:rPr>
                        <a:t>·</a:t>
                      </a:r>
                      <a:r>
                        <a:rPr lang="ko-KR" altLang="en-US" sz="1100" b="0" i="0" u="none" strike="noStrike" spc="-100" dirty="0">
                          <a:solidFill>
                            <a:srgbClr val="363A52"/>
                          </a:solidFill>
                          <a:latin typeface="210 OmniGothic 030"/>
                          <a:ea typeface="210 OmniGothic 030"/>
                          <a:cs typeface="210 OmniGothic 030"/>
                        </a:rPr>
                        <a:t>기상 캐시</a:t>
                      </a:r>
                      <a:endParaRPr lang="ko-KR" altLang="en-US" sz="1100"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FBFBF"/>
                    </a:solid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FBFBF"/>
                    </a:solid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ko-KR" altLang="en-US" sz="1200" b="0">
                          <a:solidFill>
                            <a:srgbClr val="000000"/>
                          </a:solidFill>
                          <a:latin typeface="210 OmniGothic 030" panose="020B0600000101010101" charset="-127"/>
                          <a:ea typeface="210 OmniGothic 030" panose="020B0600000101010101" charset="-127"/>
                        </a:rPr>
                        <a:t>황승준</a:t>
                      </a:r>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92595052"/>
                  </a:ext>
                </a:extLst>
              </a:tr>
              <a:tr h="301752">
                <a:tc>
                  <a:txBody>
                    <a:bodyPr/>
                    <a:lstStyle/>
                    <a:p>
                      <a:pPr latinLnBrk="1"/>
                      <a:r>
                        <a:rPr lang="en-US" altLang="ko-KR" sz="1100" b="0" i="0" u="none" strike="noStrike" spc="-100" dirty="0">
                          <a:solidFill>
                            <a:srgbClr val="363A52"/>
                          </a:solidFill>
                          <a:latin typeface="210 OmniGothic 030"/>
                          <a:ea typeface="210 OmniGothic 030"/>
                          <a:cs typeface="210 OmniGothic 030"/>
                        </a:rPr>
                        <a:t>8. </a:t>
                      </a:r>
                      <a:r>
                        <a:rPr lang="ko-KR" altLang="en-US" sz="1100" b="0" i="0" u="none" strike="noStrike" spc="-100" dirty="0">
                          <a:solidFill>
                            <a:srgbClr val="363A52"/>
                          </a:solidFill>
                          <a:latin typeface="210 OmniGothic 030"/>
                          <a:ea typeface="210 OmniGothic 030"/>
                          <a:cs typeface="210 OmniGothic 030"/>
                        </a:rPr>
                        <a:t>근거 코퍼스 구축</a:t>
                      </a:r>
                      <a:r>
                        <a:rPr lang="en-US" altLang="ko-KR" sz="1100" b="0" i="0" u="none" strike="noStrike" spc="-100" dirty="0">
                          <a:solidFill>
                            <a:srgbClr val="363A52"/>
                          </a:solidFill>
                          <a:latin typeface="210 OmniGothic 030"/>
                          <a:ea typeface="210 OmniGothic 030"/>
                          <a:cs typeface="210 OmniGothic 030"/>
                        </a:rPr>
                        <a:t>(</a:t>
                      </a:r>
                      <a:r>
                        <a:rPr lang="ko-KR" altLang="en-US" sz="1100" b="0" i="0" u="none" strike="noStrike" spc="-100" dirty="0">
                          <a:solidFill>
                            <a:srgbClr val="363A52"/>
                          </a:solidFill>
                          <a:latin typeface="210 OmniGothic 030"/>
                          <a:ea typeface="210 OmniGothic 030"/>
                          <a:cs typeface="210 OmniGothic 030"/>
                        </a:rPr>
                        <a:t>조항 단위 </a:t>
                      </a:r>
                      <a:r>
                        <a:rPr lang="ko-KR" altLang="en-US" sz="1100" b="0" i="0" u="none" strike="noStrike" spc="-100" dirty="0" err="1">
                          <a:solidFill>
                            <a:srgbClr val="363A52"/>
                          </a:solidFill>
                          <a:latin typeface="210 OmniGothic 030"/>
                          <a:ea typeface="210 OmniGothic 030"/>
                          <a:cs typeface="210 OmniGothic 030"/>
                        </a:rPr>
                        <a:t>청킹</a:t>
                      </a:r>
                      <a:r>
                        <a:rPr lang="en-US" altLang="ko-KR" sz="1100" b="0" i="0" u="none" strike="noStrike" spc="-100" dirty="0">
                          <a:solidFill>
                            <a:srgbClr val="363A52"/>
                          </a:solidFill>
                          <a:latin typeface="210 OmniGothic 030"/>
                          <a:ea typeface="210 OmniGothic 030"/>
                          <a:cs typeface="210 OmniGothic 030"/>
                        </a:rPr>
                        <a:t>·</a:t>
                      </a:r>
                      <a:r>
                        <a:rPr lang="ko-KR" altLang="en-US" sz="1100" b="0" i="0" u="none" strike="noStrike" spc="-100" dirty="0">
                          <a:solidFill>
                            <a:srgbClr val="363A52"/>
                          </a:solidFill>
                          <a:latin typeface="210 OmniGothic 030"/>
                          <a:ea typeface="210 OmniGothic 030"/>
                          <a:cs typeface="210 OmniGothic 030"/>
                        </a:rPr>
                        <a:t>메타데이터 </a:t>
                      </a:r>
                      <a:r>
                        <a:rPr lang="ko-KR" altLang="en-US" sz="1100" b="0" i="0" u="none" strike="noStrike" spc="-100" dirty="0" err="1">
                          <a:solidFill>
                            <a:srgbClr val="363A52"/>
                          </a:solidFill>
                          <a:latin typeface="210 OmniGothic 030"/>
                          <a:ea typeface="210 OmniGothic 030"/>
                          <a:cs typeface="210 OmniGothic 030"/>
                        </a:rPr>
                        <a:t>태깅</a:t>
                      </a:r>
                      <a:r>
                        <a:rPr lang="en-US" altLang="ko-KR" sz="1100" b="0" i="0" u="none" strike="noStrike" spc="-100" dirty="0">
                          <a:solidFill>
                            <a:srgbClr val="363A52"/>
                          </a:solidFill>
                          <a:latin typeface="210 OmniGothic 030"/>
                          <a:ea typeface="210 OmniGothic 030"/>
                          <a:cs typeface="210 OmniGothic 030"/>
                        </a:rPr>
                        <a:t>) </a:t>
                      </a:r>
                      <a:endParaRPr lang="ko-KR" altLang="en-US" sz="1100"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FBFBF"/>
                    </a:solid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FBFBF"/>
                    </a:solid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ko-KR" altLang="en-US" sz="1200" b="0">
                          <a:solidFill>
                            <a:srgbClr val="000000"/>
                          </a:solidFill>
                          <a:latin typeface="210 OmniGothic 030" panose="020B0600000101010101" charset="-127"/>
                          <a:ea typeface="210 OmniGothic 030" panose="020B0600000101010101" charset="-127"/>
                        </a:rPr>
                        <a:t>김지오</a:t>
                      </a:r>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86009529"/>
                  </a:ext>
                </a:extLst>
              </a:tr>
              <a:tr h="301752">
                <a:tc>
                  <a:txBody>
                    <a:bodyPr/>
                    <a:lstStyle/>
                    <a:p>
                      <a:pPr latinLnBrk="1"/>
                      <a:r>
                        <a:rPr lang="en-US" altLang="ko-KR" sz="1100" b="0" i="0" u="none" strike="noStrike" spc="-100" dirty="0">
                          <a:solidFill>
                            <a:srgbClr val="363A52"/>
                          </a:solidFill>
                          <a:latin typeface="210 OmniGothic 030"/>
                          <a:ea typeface="210 OmniGothic 030"/>
                          <a:cs typeface="210 OmniGothic 030"/>
                        </a:rPr>
                        <a:t>9. ELMFIRE </a:t>
                      </a:r>
                      <a:r>
                        <a:rPr lang="ko-KR" altLang="en-US" sz="1100" b="0" i="0" u="none" strike="noStrike" spc="-100" dirty="0">
                          <a:solidFill>
                            <a:srgbClr val="363A52"/>
                          </a:solidFill>
                          <a:latin typeface="210 OmniGothic 030"/>
                          <a:ea typeface="210 OmniGothic 030"/>
                          <a:cs typeface="210 OmniGothic 030"/>
                        </a:rPr>
                        <a:t>실행 환경</a:t>
                      </a:r>
                      <a:r>
                        <a:rPr lang="en-US" altLang="ko-KR" sz="1100" b="0" i="0" u="none" strike="noStrike" spc="-100" dirty="0">
                          <a:solidFill>
                            <a:srgbClr val="363A52"/>
                          </a:solidFill>
                          <a:latin typeface="210 OmniGothic 030"/>
                          <a:ea typeface="210 OmniGothic 030"/>
                          <a:cs typeface="210 OmniGothic 030"/>
                        </a:rPr>
                        <a:t>(Docker) </a:t>
                      </a:r>
                      <a:r>
                        <a:rPr lang="ko-KR" altLang="en-US" sz="1100" b="0" i="0" u="none" strike="noStrike" spc="-100" dirty="0">
                          <a:solidFill>
                            <a:srgbClr val="363A52"/>
                          </a:solidFill>
                          <a:latin typeface="210 OmniGothic 030"/>
                          <a:ea typeface="210 OmniGothic 030"/>
                          <a:cs typeface="210 OmniGothic 030"/>
                        </a:rPr>
                        <a:t>구축 및 시범 실행</a:t>
                      </a:r>
                      <a:endParaRPr lang="ko-KR" altLang="en-US" sz="1100"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FBFBF"/>
                    </a:solid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FBFBF"/>
                    </a:solid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FBFBF"/>
                    </a:solid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ko-KR" altLang="en-US" sz="1200" b="0">
                          <a:solidFill>
                            <a:srgbClr val="000000"/>
                          </a:solidFill>
                          <a:latin typeface="210 OmniGothic 030" panose="020B0600000101010101" charset="-127"/>
                          <a:ea typeface="210 OmniGothic 030" panose="020B0600000101010101" charset="-127"/>
                        </a:rPr>
                        <a:t>홍준서</a:t>
                      </a:r>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36892403"/>
                  </a:ext>
                </a:extLst>
              </a:tr>
              <a:tr h="301752">
                <a:tc>
                  <a:txBody>
                    <a:bodyPr/>
                    <a:lstStyle/>
                    <a:p>
                      <a:pPr latinLnBrk="1"/>
                      <a:r>
                        <a:rPr lang="en-US" altLang="ko-KR" sz="1100" b="0" i="0" u="none" strike="noStrike" spc="-100" dirty="0">
                          <a:solidFill>
                            <a:srgbClr val="FF0000"/>
                          </a:solidFill>
                          <a:latin typeface="210 OmniGothic 030"/>
                          <a:ea typeface="210 OmniGothic 030"/>
                          <a:cs typeface="210 OmniGothic 030"/>
                        </a:rPr>
                        <a:t>10. </a:t>
                      </a:r>
                      <a:r>
                        <a:rPr lang="ko-KR" altLang="en-US" sz="1100" b="0" i="0" u="none" strike="noStrike" spc="-100" dirty="0">
                          <a:solidFill>
                            <a:srgbClr val="FF0000"/>
                          </a:solidFill>
                          <a:latin typeface="210 OmniGothic 030"/>
                          <a:ea typeface="210 OmniGothic 030"/>
                          <a:cs typeface="210 OmniGothic 030"/>
                        </a:rPr>
                        <a:t>위험도 계산(P5 기준 23변수 가중평균·인구 겹침</a:t>
                      </a:r>
                      <a:r>
                        <a:rPr lang="en-US" altLang="ko-KR" sz="1100" b="0" i="0" u="none" strike="noStrike" spc="-100" dirty="0">
                          <a:solidFill>
                            <a:srgbClr val="FF0000"/>
                          </a:solidFill>
                          <a:latin typeface="210 OmniGothic 030"/>
                          <a:ea typeface="210 OmniGothic 030"/>
                          <a:cs typeface="210 OmniGothic 030"/>
                        </a:rPr>
                        <a:t>)</a:t>
                      </a:r>
                      <a:endParaRPr lang="ko-KR" altLang="en-US" sz="1100"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FBFBF"/>
                    </a:solid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FBFBF"/>
                    </a:solid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ko-KR" altLang="en-US" sz="1200" b="0">
                          <a:solidFill>
                            <a:srgbClr val="000000"/>
                          </a:solidFill>
                          <a:latin typeface="210 OmniGothic 030" panose="020B0600000101010101" charset="-127"/>
                          <a:ea typeface="210 OmniGothic 030" panose="020B0600000101010101" charset="-127"/>
                        </a:rPr>
                        <a:t>황승준</a:t>
                      </a:r>
                      <a:r>
                        <a:rPr lang="en-US" altLang="ko-KR" sz="1200" b="0">
                          <a:solidFill>
                            <a:srgbClr val="000000"/>
                          </a:solidFill>
                          <a:latin typeface="210 OmniGothic 030" panose="020B0600000101010101" charset="-127"/>
                          <a:ea typeface="210 OmniGothic 030" panose="020B0600000101010101" charset="-127"/>
                        </a:rPr>
                        <a:t>·</a:t>
                      </a:r>
                      <a:r>
                        <a:rPr lang="ko-KR" altLang="en-US" sz="1200" b="0">
                          <a:solidFill>
                            <a:srgbClr val="000000"/>
                          </a:solidFill>
                          <a:latin typeface="210 OmniGothic 030" panose="020B0600000101010101" charset="-127"/>
                          <a:ea typeface="210 OmniGothic 030" panose="020B0600000101010101" charset="-127"/>
                        </a:rPr>
                        <a:t>김지오</a:t>
                      </a:r>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19780047"/>
                  </a:ext>
                </a:extLst>
              </a:tr>
              <a:tr h="301752">
                <a:tc>
                  <a:txBody>
                    <a:bodyPr/>
                    <a:lstStyle/>
                    <a:p>
                      <a:pPr latinLnBrk="1"/>
                      <a:r>
                        <a:rPr lang="en-US" altLang="ko-KR" sz="1100" b="0" i="0" u="none" strike="noStrike" spc="-100" dirty="0">
                          <a:solidFill>
                            <a:srgbClr val="363A52"/>
                          </a:solidFill>
                          <a:latin typeface="210 OmniGothic 030"/>
                          <a:ea typeface="210 OmniGothic 030"/>
                          <a:cs typeface="210 OmniGothic 030"/>
                        </a:rPr>
                        <a:t>11. </a:t>
                      </a:r>
                      <a:r>
                        <a:rPr lang="ko-KR" altLang="en-US" sz="1100" b="0" i="0" u="none" strike="noStrike" spc="-100" dirty="0">
                          <a:solidFill>
                            <a:srgbClr val="363A52"/>
                          </a:solidFill>
                          <a:latin typeface="210 OmniGothic 030"/>
                          <a:ea typeface="210 OmniGothic 030"/>
                          <a:cs typeface="210 OmniGothic 030"/>
                        </a:rPr>
                        <a:t>근거 색인</a:t>
                      </a:r>
                      <a:r>
                        <a:rPr lang="en-US" altLang="ko-KR" sz="1100" b="0" i="0" u="none" strike="noStrike" spc="-100" dirty="0">
                          <a:solidFill>
                            <a:srgbClr val="363A52"/>
                          </a:solidFill>
                          <a:latin typeface="210 OmniGothic 030"/>
                          <a:ea typeface="210 OmniGothic 030"/>
                          <a:cs typeface="210 OmniGothic 030"/>
                        </a:rPr>
                        <a:t>·</a:t>
                      </a:r>
                      <a:r>
                        <a:rPr lang="ko-KR" altLang="en-US" sz="1100" b="0" i="0" u="none" strike="noStrike" spc="-100" dirty="0">
                          <a:solidFill>
                            <a:srgbClr val="363A52"/>
                          </a:solidFill>
                          <a:latin typeface="210 OmniGothic 030"/>
                          <a:ea typeface="210 OmniGothic 030"/>
                          <a:cs typeface="210 OmniGothic 030"/>
                        </a:rPr>
                        <a:t>검색(KURE-v1 + FAISS, 단계·항목 필터)</a:t>
                      </a:r>
                      <a:endParaRPr lang="ko-KR" altLang="en-US" sz="1100"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FBFBF"/>
                    </a:solid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FBFBF"/>
                    </a:solid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ko-KR" altLang="en-US" sz="1200" b="0">
                          <a:solidFill>
                            <a:srgbClr val="000000"/>
                          </a:solidFill>
                          <a:latin typeface="210 OmniGothic 030" panose="020B0600000101010101" charset="-127"/>
                          <a:ea typeface="210 OmniGothic 030" panose="020B0600000101010101" charset="-127"/>
                        </a:rPr>
                        <a:t>김지오</a:t>
                      </a:r>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82928465"/>
                  </a:ext>
                </a:extLst>
              </a:tr>
              <a:tr h="301752">
                <a:tc>
                  <a:txBody>
                    <a:bodyPr/>
                    <a:lstStyle/>
                    <a:p>
                      <a:pPr latinLnBrk="1"/>
                      <a:r>
                        <a:rPr lang="en-US" altLang="ko-KR" sz="1100" b="0" i="0" u="none" strike="noStrike" spc="-100" dirty="0">
                          <a:solidFill>
                            <a:srgbClr val="363A52"/>
                          </a:solidFill>
                          <a:latin typeface="210 OmniGothic 030"/>
                          <a:ea typeface="210 OmniGothic 030"/>
                          <a:cs typeface="210 OmniGothic 030"/>
                        </a:rPr>
                        <a:t>12. EXAONE 4.0 32B </a:t>
                      </a:r>
                      <a:r>
                        <a:rPr lang="en-US" altLang="ko-KR" sz="1100" b="0" i="0" u="none" strike="noStrike" spc="-100" dirty="0" err="1">
                          <a:solidFill>
                            <a:srgbClr val="363A52"/>
                          </a:solidFill>
                          <a:latin typeface="210 OmniGothic 030"/>
                          <a:ea typeface="210 OmniGothic 030"/>
                          <a:cs typeface="210 OmniGothic 030"/>
                        </a:rPr>
                        <a:t>vLLM</a:t>
                      </a:r>
                      <a:r>
                        <a:rPr lang="en-US" altLang="ko-KR" sz="1100" b="0" i="0" u="none" strike="noStrike" spc="-100" dirty="0">
                          <a:solidFill>
                            <a:srgbClr val="363A52"/>
                          </a:solidFill>
                          <a:latin typeface="210 OmniGothic 030"/>
                          <a:ea typeface="210 OmniGothic 030"/>
                          <a:cs typeface="210 OmniGothic 030"/>
                        </a:rPr>
                        <a:t> </a:t>
                      </a:r>
                      <a:r>
                        <a:rPr lang="ko-KR" altLang="en-US" sz="1100" b="0" i="0" u="none" strike="noStrike" spc="-100" dirty="0">
                          <a:solidFill>
                            <a:srgbClr val="363A52"/>
                          </a:solidFill>
                          <a:latin typeface="210 OmniGothic 030"/>
                          <a:ea typeface="210 OmniGothic 030"/>
                          <a:cs typeface="210 OmniGothic 030"/>
                        </a:rPr>
                        <a:t>서빙</a:t>
                      </a:r>
                      <a:r>
                        <a:rPr lang="en-US" altLang="ko-KR" sz="1100" b="0" i="0" u="none" strike="noStrike" spc="-100" dirty="0">
                          <a:solidFill>
                            <a:srgbClr val="363A52"/>
                          </a:solidFill>
                          <a:latin typeface="210 OmniGothic 030"/>
                          <a:ea typeface="210 OmniGothic 030"/>
                          <a:cs typeface="210 OmniGothic 030"/>
                        </a:rPr>
                        <a:t>·</a:t>
                      </a:r>
                      <a:r>
                        <a:rPr lang="ko-KR" altLang="en-US" sz="1100" b="0" i="0" u="none" strike="noStrike" spc="-100" dirty="0">
                          <a:solidFill>
                            <a:srgbClr val="363A52"/>
                          </a:solidFill>
                          <a:latin typeface="210 OmniGothic 030"/>
                          <a:ea typeface="210 OmniGothic 030"/>
                          <a:cs typeface="210 OmniGothic 030"/>
                        </a:rPr>
                        <a:t>프롬프트</a:t>
                      </a:r>
                      <a:r>
                        <a:rPr lang="en-US" altLang="ko-KR" sz="1100" b="0" i="0" u="none" strike="noStrike" spc="-100" dirty="0">
                          <a:solidFill>
                            <a:srgbClr val="363A52"/>
                          </a:solidFill>
                          <a:latin typeface="210 OmniGothic 030"/>
                          <a:ea typeface="210 OmniGothic 030"/>
                          <a:cs typeface="210 OmniGothic 030"/>
                        </a:rPr>
                        <a:t>·</a:t>
                      </a:r>
                      <a:r>
                        <a:rPr lang="ko-KR" altLang="en-US" sz="1100" b="0" i="0" u="none" strike="noStrike" spc="-100" dirty="0">
                          <a:solidFill>
                            <a:srgbClr val="363A52"/>
                          </a:solidFill>
                          <a:latin typeface="210 OmniGothic 030"/>
                          <a:ea typeface="210 OmniGothic 030"/>
                          <a:cs typeface="210 OmniGothic 030"/>
                        </a:rPr>
                        <a:t>인용 형식 </a:t>
                      </a:r>
                      <a:endParaRPr lang="ko-KR" altLang="en-US" sz="1100"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FBFBF"/>
                    </a:solid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FBFBF"/>
                    </a:solid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ko-KR" altLang="en-US" sz="1200" b="0">
                          <a:solidFill>
                            <a:srgbClr val="000000"/>
                          </a:solidFill>
                          <a:latin typeface="210 OmniGothic 030" panose="020B0600000101010101" charset="-127"/>
                          <a:ea typeface="210 OmniGothic 030" panose="020B0600000101010101" charset="-127"/>
                        </a:rPr>
                        <a:t>김지오</a:t>
                      </a:r>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7971925"/>
                  </a:ext>
                </a:extLst>
              </a:tr>
              <a:tr h="301752">
                <a:tc>
                  <a:txBody>
                    <a:bodyPr/>
                    <a:lstStyle/>
                    <a:p>
                      <a:pPr latinLnBrk="1"/>
                      <a:r>
                        <a:rPr lang="en-US" altLang="ko-KR" sz="1100" b="0" i="0" u="none" strike="noStrike" spc="-100" dirty="0">
                          <a:solidFill>
                            <a:srgbClr val="363A52"/>
                          </a:solidFill>
                          <a:latin typeface="210 OmniGothic 030"/>
                          <a:ea typeface="210 OmniGothic 030"/>
                          <a:cs typeface="210 OmniGothic 030"/>
                        </a:rPr>
                        <a:t>13. </a:t>
                      </a:r>
                      <a:r>
                        <a:rPr lang="ko-KR" altLang="en-US" sz="1100" b="0" i="0" u="none" strike="noStrike" spc="-100" dirty="0">
                          <a:solidFill>
                            <a:srgbClr val="363A52"/>
                          </a:solidFill>
                          <a:latin typeface="210 OmniGothic 030"/>
                          <a:ea typeface="210 OmniGothic 030"/>
                          <a:cs typeface="210 OmniGothic 030"/>
                        </a:rPr>
                        <a:t>규칙 엔진 판정(대응단계·위험구역 등 경계값이 있는 값)</a:t>
                      </a:r>
                      <a:endParaRPr lang="ko-KR" altLang="en-US" sz="1100"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FBFBF"/>
                    </a:solid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FBFBF"/>
                    </a:solid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ko-KR" altLang="en-US" sz="1200" b="0">
                          <a:solidFill>
                            <a:srgbClr val="000000"/>
                          </a:solidFill>
                          <a:latin typeface="210 OmniGothic 030" panose="020B0600000101010101" charset="-127"/>
                          <a:ea typeface="210 OmniGothic 030" panose="020B0600000101010101" charset="-127"/>
                        </a:rPr>
                        <a:t>황승준</a:t>
                      </a:r>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55694143"/>
                  </a:ext>
                </a:extLst>
              </a:tr>
              <a:tr h="301752">
                <a:tc>
                  <a:txBody>
                    <a:bodyPr/>
                    <a:lstStyle/>
                    <a:p>
                      <a:pPr latinLnBrk="1"/>
                      <a:r>
                        <a:rPr lang="en-US" altLang="ko-KR" sz="1100" b="0" i="0" u="none" strike="noStrike" spc="-100" dirty="0">
                          <a:solidFill>
                            <a:srgbClr val="363A52"/>
                          </a:solidFill>
                          <a:latin typeface="210 OmniGothic 030"/>
                          <a:ea typeface="210 OmniGothic 030"/>
                          <a:cs typeface="210 OmniGothic 030"/>
                        </a:rPr>
                        <a:t>14. </a:t>
                      </a:r>
                      <a:r>
                        <a:rPr lang="en-US" altLang="ko-KR" sz="1100" b="0" i="0" u="none" strike="noStrike" spc="-100" dirty="0" err="1">
                          <a:solidFill>
                            <a:srgbClr val="363A52"/>
                          </a:solidFill>
                          <a:latin typeface="210 OmniGothic 030"/>
                          <a:ea typeface="210 OmniGothic 030"/>
                          <a:cs typeface="210 OmniGothic 030"/>
                        </a:rPr>
                        <a:t>FastAPI</a:t>
                      </a:r>
                      <a:r>
                        <a:rPr lang="en-US" altLang="ko-KR" sz="1100" b="0" i="0" u="none" strike="noStrike" spc="-100" dirty="0">
                          <a:solidFill>
                            <a:srgbClr val="363A52"/>
                          </a:solidFill>
                          <a:latin typeface="210 OmniGothic 030"/>
                          <a:ea typeface="210 OmniGothic 030"/>
                          <a:cs typeface="210 OmniGothic 030"/>
                        </a:rPr>
                        <a:t> </a:t>
                      </a:r>
                      <a:r>
                        <a:rPr lang="ko-KR" altLang="en-US" sz="1100" b="0" i="0" u="none" strike="noStrike" spc="-100" dirty="0">
                          <a:solidFill>
                            <a:srgbClr val="363A52"/>
                          </a:solidFill>
                          <a:latin typeface="210 OmniGothic 030"/>
                          <a:ea typeface="210 OmniGothic 030"/>
                          <a:cs typeface="210 OmniGothic 030"/>
                        </a:rPr>
                        <a:t>서버</a:t>
                      </a:r>
                      <a:r>
                        <a:rPr lang="en-US" altLang="ko-KR" sz="1100" b="0" i="0" u="none" strike="noStrike" spc="-100" dirty="0">
                          <a:solidFill>
                            <a:srgbClr val="363A52"/>
                          </a:solidFill>
                          <a:latin typeface="210 OmniGothic 030"/>
                          <a:ea typeface="210 OmniGothic 030"/>
                          <a:cs typeface="210 OmniGothic 030"/>
                        </a:rPr>
                        <a:t>·</a:t>
                      </a:r>
                      <a:r>
                        <a:rPr lang="ko-KR" altLang="en-US" sz="1100" b="0" i="0" u="none" strike="noStrike" spc="-100" dirty="0">
                          <a:solidFill>
                            <a:srgbClr val="363A52"/>
                          </a:solidFill>
                          <a:latin typeface="210 OmniGothic 030"/>
                          <a:ea typeface="210 OmniGothic 030"/>
                          <a:cs typeface="210 OmniGothic 030"/>
                        </a:rPr>
                        <a:t>상황 구성</a:t>
                      </a:r>
                      <a:r>
                        <a:rPr lang="en-US" altLang="ko-KR" sz="1100" b="0" i="0" u="none" strike="noStrike" spc="-100" dirty="0">
                          <a:solidFill>
                            <a:srgbClr val="363A52"/>
                          </a:solidFill>
                          <a:latin typeface="210 OmniGothic 030"/>
                          <a:ea typeface="210 OmniGothic 030"/>
                          <a:cs typeface="210 OmniGothic 030"/>
                        </a:rPr>
                        <a:t>·</a:t>
                      </a:r>
                      <a:r>
                        <a:rPr lang="ko-KR" altLang="en-US" sz="1100" b="0" i="0" u="none" strike="noStrike" spc="-100" dirty="0">
                          <a:solidFill>
                            <a:srgbClr val="363A52"/>
                          </a:solidFill>
                          <a:latin typeface="210 OmniGothic 030"/>
                          <a:ea typeface="210 OmniGothic 030"/>
                          <a:cs typeface="210 OmniGothic 030"/>
                        </a:rPr>
                        <a:t>응답 조립 </a:t>
                      </a:r>
                      <a:endParaRPr lang="ko-KR" altLang="en-US" sz="1100"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FBFBF"/>
                    </a:solid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FBFBF"/>
                    </a:solid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ko-KR" altLang="en-US" sz="1200" b="0">
                          <a:solidFill>
                            <a:srgbClr val="000000"/>
                          </a:solidFill>
                          <a:latin typeface="210 OmniGothic 030" panose="020B0600000101010101" charset="-127"/>
                          <a:ea typeface="210 OmniGothic 030" panose="020B0600000101010101" charset="-127"/>
                        </a:rPr>
                        <a:t>황승준</a:t>
                      </a:r>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87120040"/>
                  </a:ext>
                </a:extLst>
              </a:tr>
              <a:tr h="301752">
                <a:tc>
                  <a:txBody>
                    <a:bodyPr/>
                    <a:lstStyle/>
                    <a:p>
                      <a:pPr latinLnBrk="1"/>
                      <a:r>
                        <a:rPr lang="en-US" altLang="ko-KR" sz="1100" b="0" i="0" u="none" strike="noStrike" spc="-100" dirty="0">
                          <a:solidFill>
                            <a:srgbClr val="363A52"/>
                          </a:solidFill>
                          <a:latin typeface="210 OmniGothic 030"/>
                          <a:ea typeface="210 OmniGothic 030"/>
                          <a:cs typeface="210 OmniGothic 030"/>
                        </a:rPr>
                        <a:t>15. </a:t>
                      </a:r>
                      <a:r>
                        <a:rPr lang="ko-KR" altLang="en-US" sz="1100" b="0" i="0" u="none" strike="noStrike" spc="-100" dirty="0">
                          <a:solidFill>
                            <a:srgbClr val="363A52"/>
                          </a:solidFill>
                          <a:latin typeface="210 OmniGothic 030"/>
                          <a:ea typeface="210 OmniGothic 030"/>
                          <a:cs typeface="210 OmniGothic 030"/>
                        </a:rPr>
                        <a:t>웹 대시보드</a:t>
                      </a:r>
                      <a:r>
                        <a:rPr lang="en-US" altLang="ko-KR" sz="1100" b="0" i="0" u="none" strike="noStrike" spc="-100" dirty="0">
                          <a:solidFill>
                            <a:srgbClr val="363A52"/>
                          </a:solidFill>
                          <a:latin typeface="210 OmniGothic 030"/>
                          <a:ea typeface="210 OmniGothic 030"/>
                          <a:cs typeface="210 OmniGothic 030"/>
                        </a:rPr>
                        <a:t>(</a:t>
                      </a:r>
                      <a:r>
                        <a:rPr lang="en-US" altLang="ko-KR" sz="1100" b="0" i="0" u="none" strike="noStrike" spc="-100" dirty="0" err="1">
                          <a:solidFill>
                            <a:srgbClr val="363A52"/>
                          </a:solidFill>
                          <a:latin typeface="210 OmniGothic 030"/>
                          <a:ea typeface="210 OmniGothic 030"/>
                          <a:cs typeface="210 OmniGothic 030"/>
                        </a:rPr>
                        <a:t>React·MapLibre</a:t>
                      </a:r>
                      <a:r>
                        <a:rPr lang="en-US" altLang="ko-KR" sz="1100" b="0" i="0" u="none" strike="noStrike" spc="-100" dirty="0">
                          <a:solidFill>
                            <a:srgbClr val="363A52"/>
                          </a:solidFill>
                          <a:latin typeface="210 OmniGothic 030"/>
                          <a:ea typeface="210 OmniGothic 030"/>
                          <a:cs typeface="210 OmniGothic 030"/>
                        </a:rPr>
                        <a:t> GL, </a:t>
                      </a:r>
                      <a:r>
                        <a:rPr lang="ko-KR" altLang="en-US" sz="1100" b="0" i="0" u="none" strike="noStrike" spc="-100" dirty="0">
                          <a:solidFill>
                            <a:srgbClr val="363A52"/>
                          </a:solidFill>
                          <a:latin typeface="210 OmniGothic 030"/>
                          <a:ea typeface="210 OmniGothic 030"/>
                          <a:cs typeface="210 OmniGothic 030"/>
                        </a:rPr>
                        <a:t>통합 상황도·위험도·대응 제안·AI 어시스턴트)</a:t>
                      </a:r>
                      <a:endParaRPr lang="ko-KR" altLang="en-US" sz="1100"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FBFBF"/>
                    </a:solid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FBFBF"/>
                    </a:solid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FBFBF"/>
                    </a:solid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FBFBF"/>
                    </a:solid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ko-KR" altLang="en-US" sz="1200" b="0">
                          <a:solidFill>
                            <a:srgbClr val="000000"/>
                          </a:solidFill>
                          <a:latin typeface="210 OmniGothic 030" panose="020B0600000101010101" charset="-127"/>
                          <a:ea typeface="210 OmniGothic 030" panose="020B0600000101010101" charset="-127"/>
                        </a:rPr>
                        <a:t>임성민</a:t>
                      </a:r>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77243123"/>
                  </a:ext>
                </a:extLst>
              </a:tr>
              <a:tr h="301752">
                <a:tc>
                  <a:txBody>
                    <a:bodyPr/>
                    <a:lstStyle/>
                    <a:p>
                      <a:pPr latinLnBrk="1"/>
                      <a:r>
                        <a:rPr lang="en-US" altLang="ko-KR" sz="1100" b="0" i="0" u="none" strike="noStrike" spc="-100" dirty="0">
                          <a:solidFill>
                            <a:srgbClr val="363A52"/>
                          </a:solidFill>
                          <a:latin typeface="210 OmniGothic 030"/>
                          <a:ea typeface="210 OmniGothic 030"/>
                          <a:cs typeface="210 OmniGothic 030"/>
                        </a:rPr>
                        <a:t>16. </a:t>
                      </a:r>
                      <a:r>
                        <a:rPr lang="ko-KR" altLang="en-US" sz="1100" b="0" i="0" u="none" strike="noStrike" spc="-100" dirty="0">
                          <a:solidFill>
                            <a:srgbClr val="363A52"/>
                          </a:solidFill>
                          <a:latin typeface="210 OmniGothic 030"/>
                          <a:ea typeface="210 OmniGothic 030"/>
                          <a:cs typeface="210 OmniGothic 030"/>
                        </a:rPr>
                        <a:t>확산 파라미터 보정</a:t>
                      </a:r>
                      <a:r>
                        <a:rPr lang="en-US" altLang="ko-KR" sz="1100" b="0" i="0" u="none" strike="noStrike" spc="-100" dirty="0">
                          <a:solidFill>
                            <a:srgbClr val="363A52"/>
                          </a:solidFill>
                          <a:latin typeface="210 OmniGothic 030"/>
                          <a:ea typeface="210 OmniGothic 030"/>
                          <a:cs typeface="210 OmniGothic 030"/>
                        </a:rPr>
                        <a:t>(fuel_models.csv, </a:t>
                      </a:r>
                      <a:r>
                        <a:rPr lang="en-US" altLang="ko-KR" sz="1100" b="0" i="0" u="none" strike="noStrike" spc="-100" dirty="0" err="1">
                          <a:solidFill>
                            <a:srgbClr val="363A52"/>
                          </a:solidFill>
                          <a:latin typeface="210 OmniGothic 030"/>
                          <a:ea typeface="210 OmniGothic 030"/>
                          <a:cs typeface="210 OmniGothic 030"/>
                        </a:rPr>
                        <a:t>IoU</a:t>
                      </a:r>
                      <a:r>
                        <a:rPr lang="en-US" altLang="ko-KR" sz="1100" b="0" i="0" u="none" strike="noStrike" spc="-100" dirty="0">
                          <a:solidFill>
                            <a:srgbClr val="363A52"/>
                          </a:solidFill>
                          <a:latin typeface="210 OmniGothic 030"/>
                          <a:ea typeface="210 OmniGothic 030"/>
                          <a:cs typeface="210 OmniGothic 030"/>
                        </a:rPr>
                        <a:t> </a:t>
                      </a:r>
                      <a:r>
                        <a:rPr lang="ko-KR" altLang="en-US" sz="1100" b="0" i="0" u="none" strike="noStrike" spc="-100" dirty="0">
                          <a:solidFill>
                            <a:srgbClr val="363A52"/>
                          </a:solidFill>
                          <a:latin typeface="210 OmniGothic 030"/>
                          <a:ea typeface="210 OmniGothic 030"/>
                          <a:cs typeface="210 OmniGothic 030"/>
                        </a:rPr>
                        <a:t>베이지안 최적화</a:t>
                      </a:r>
                      <a:r>
                        <a:rPr lang="en-US" altLang="ko-KR" sz="1100" b="0" i="0" u="none" strike="noStrike" spc="-100" dirty="0">
                          <a:solidFill>
                            <a:srgbClr val="363A52"/>
                          </a:solidFill>
                          <a:latin typeface="210 OmniGothic 030"/>
                          <a:ea typeface="210 OmniGothic 030"/>
                          <a:cs typeface="210 OmniGothic 030"/>
                        </a:rPr>
                        <a:t>) </a:t>
                      </a:r>
                      <a:endParaRPr lang="ko-KR" altLang="en-US" sz="1100"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FBFBF"/>
                    </a:solid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FBFBF"/>
                    </a:solid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FBFBF"/>
                    </a:solid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ko-KR" altLang="en-US" sz="1200" b="0">
                          <a:solidFill>
                            <a:srgbClr val="000000"/>
                          </a:solidFill>
                          <a:latin typeface="210 OmniGothic 030" panose="020B0600000101010101" charset="-127"/>
                          <a:ea typeface="210 OmniGothic 030" panose="020B0600000101010101" charset="-127"/>
                        </a:rPr>
                        <a:t>홍준서</a:t>
                      </a:r>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05871509"/>
                  </a:ext>
                </a:extLst>
              </a:tr>
              <a:tr h="301752">
                <a:tc>
                  <a:txBody>
                    <a:bodyPr/>
                    <a:lstStyle/>
                    <a:p>
                      <a:pPr latinLnBrk="1"/>
                      <a:r>
                        <a:rPr lang="en-US" altLang="ko-KR" sz="1100" b="0" i="0" u="none" strike="noStrike" spc="-100" dirty="0">
                          <a:solidFill>
                            <a:srgbClr val="363A52"/>
                          </a:solidFill>
                          <a:latin typeface="210 OmniGothic 030"/>
                          <a:ea typeface="210 OmniGothic 030"/>
                          <a:cs typeface="210 OmniGothic 030"/>
                        </a:rPr>
                        <a:t>17. </a:t>
                      </a:r>
                      <a:r>
                        <a:rPr lang="ko-KR" altLang="en-US" sz="1100" b="0" i="0" u="none" strike="noStrike" spc="-100" dirty="0">
                          <a:solidFill>
                            <a:srgbClr val="363A52"/>
                          </a:solidFill>
                          <a:latin typeface="210 OmniGothic 030"/>
                          <a:ea typeface="210 OmniGothic 030"/>
                          <a:cs typeface="210 OmniGothic 030"/>
                        </a:rPr>
                        <a:t>모듈 </a:t>
                      </a:r>
                      <a:r>
                        <a:rPr lang="en-US" altLang="ko-KR" sz="1100" b="0" i="0" u="none" strike="noStrike" spc="-100" dirty="0">
                          <a:solidFill>
                            <a:srgbClr val="363A52"/>
                          </a:solidFill>
                          <a:latin typeface="210 OmniGothic 030"/>
                          <a:ea typeface="210 OmniGothic 030"/>
                          <a:cs typeface="210 OmniGothic 030"/>
                        </a:rPr>
                        <a:t>1</a:t>
                      </a:r>
                      <a:r>
                        <a:rPr lang="ko-KR" altLang="en-US" sz="1100" b="0" i="0" u="none" strike="noStrike" spc="-100" dirty="0">
                          <a:solidFill>
                            <a:srgbClr val="363A52"/>
                          </a:solidFill>
                          <a:latin typeface="210 OmniGothic 030"/>
                          <a:ea typeface="210 OmniGothic 030"/>
                          <a:cs typeface="210 OmniGothic 030"/>
                        </a:rPr>
                        <a:t>차 통합 및 프로토타입 발표</a:t>
                      </a:r>
                      <a:endParaRPr lang="ko-KR" altLang="en-US" sz="1100"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FBFBF"/>
                    </a:solid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ko-KR" altLang="en-US" sz="1200" b="0">
                          <a:solidFill>
                            <a:srgbClr val="000000"/>
                          </a:solidFill>
                          <a:latin typeface="210 OmniGothic 030" panose="020B0600000101010101" charset="-127"/>
                          <a:ea typeface="210 OmniGothic 030" panose="020B0600000101010101" charset="-127"/>
                        </a:rPr>
                        <a:t>전원</a:t>
                      </a:r>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04013515"/>
                  </a:ext>
                </a:extLst>
              </a:tr>
              <a:tr h="301752">
                <a:tc>
                  <a:txBody>
                    <a:bodyPr/>
                    <a:lstStyle/>
                    <a:p>
                      <a:pPr latinLnBrk="1"/>
                      <a:r>
                        <a:rPr lang="en-US" altLang="ko-KR" sz="1100" b="0" i="0" u="none" strike="noStrike" spc="-100" dirty="0">
                          <a:solidFill>
                            <a:srgbClr val="363A52"/>
                          </a:solidFill>
                          <a:latin typeface="210 OmniGothic 030"/>
                          <a:ea typeface="210 OmniGothic 030"/>
                          <a:cs typeface="210 OmniGothic 030"/>
                        </a:rPr>
                        <a:t>18. </a:t>
                      </a:r>
                      <a:r>
                        <a:rPr lang="ko-KR" altLang="en-US" sz="1100" b="0" i="0" u="none" strike="noStrike" spc="-100" dirty="0">
                          <a:solidFill>
                            <a:srgbClr val="363A52"/>
                          </a:solidFill>
                          <a:latin typeface="210 OmniGothic 030"/>
                          <a:ea typeface="210 OmniGothic 030"/>
                          <a:cs typeface="210 OmniGothic 030"/>
                        </a:rPr>
                        <a:t>대응 제안 생성 파이프라인 완성(항목별 질문·근거 인용·충돌 검사·종합)</a:t>
                      </a:r>
                      <a:endParaRPr lang="ko-KR" altLang="en-US" sz="1100"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FBFBF"/>
                    </a:solid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FBFBF"/>
                    </a:solid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ko-KR" altLang="en-US" sz="1200" b="0">
                          <a:solidFill>
                            <a:srgbClr val="000000"/>
                          </a:solidFill>
                          <a:latin typeface="210 OmniGothic 030" panose="020B0600000101010101" charset="-127"/>
                          <a:ea typeface="210 OmniGothic 030" panose="020B0600000101010101" charset="-127"/>
                        </a:rPr>
                        <a:t>황승준</a:t>
                      </a:r>
                      <a:r>
                        <a:rPr lang="en-US" altLang="ko-KR" sz="1200" b="0">
                          <a:solidFill>
                            <a:srgbClr val="000000"/>
                          </a:solidFill>
                          <a:latin typeface="210 OmniGothic 030" panose="020B0600000101010101" charset="-127"/>
                          <a:ea typeface="210 OmniGothic 030" panose="020B0600000101010101" charset="-127"/>
                        </a:rPr>
                        <a:t>·</a:t>
                      </a:r>
                      <a:r>
                        <a:rPr lang="ko-KR" altLang="en-US" sz="1200" b="0">
                          <a:solidFill>
                            <a:srgbClr val="000000"/>
                          </a:solidFill>
                          <a:latin typeface="210 OmniGothic 030" panose="020B0600000101010101" charset="-127"/>
                          <a:ea typeface="210 OmniGothic 030" panose="020B0600000101010101" charset="-127"/>
                        </a:rPr>
                        <a:t>김지오</a:t>
                      </a:r>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10583387"/>
                  </a:ext>
                </a:extLst>
              </a:tr>
              <a:tr h="30175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100" b="0" i="0" u="none" strike="noStrike" spc="-100" dirty="0">
                          <a:solidFill>
                            <a:srgbClr val="363A52"/>
                          </a:solidFill>
                          <a:latin typeface="210 OmniGothic 030"/>
                          <a:ea typeface="210 OmniGothic 030"/>
                          <a:cs typeface="210 OmniGothic 030"/>
                        </a:rPr>
                        <a:t>19. </a:t>
                      </a:r>
                      <a:r>
                        <a:rPr lang="ko-KR" altLang="en-US" sz="1100" b="0" i="0" u="none" strike="noStrike" spc="-100" dirty="0">
                          <a:solidFill>
                            <a:srgbClr val="363A52"/>
                          </a:solidFill>
                          <a:latin typeface="210 OmniGothic 030"/>
                          <a:ea typeface="210 OmniGothic 030"/>
                          <a:cs typeface="210 OmniGothic 030"/>
                        </a:rPr>
                        <a:t>평가 파이프라인</a:t>
                      </a:r>
                      <a:r>
                        <a:rPr lang="en-US" altLang="ko-KR" sz="1100" b="0" i="0" u="none" strike="noStrike" spc="-100" dirty="0">
                          <a:solidFill>
                            <a:srgbClr val="363A52"/>
                          </a:solidFill>
                          <a:latin typeface="210 OmniGothic 030"/>
                          <a:ea typeface="210 OmniGothic 030"/>
                          <a:cs typeface="210 OmniGothic 030"/>
                        </a:rPr>
                        <a:t>(</a:t>
                      </a:r>
                      <a:r>
                        <a:rPr lang="en-US" altLang="ko-KR" sz="1100" b="0" i="0" u="none" strike="noStrike" spc="-100" dirty="0">
                          <a:solidFill>
                            <a:srgbClr val="FF0000"/>
                          </a:solidFill>
                          <a:latin typeface="210 OmniGothic 030"/>
                          <a:ea typeface="210 OmniGothic 030"/>
                          <a:cs typeface="210 OmniGothic 030"/>
                        </a:rPr>
                        <a:t>확산 5종</a:t>
                      </a:r>
                      <a:r>
                        <a:rPr lang="en-US" altLang="ko-KR" sz="1100" b="0" i="0" u="none" strike="noStrike" spc="-100" dirty="0">
                          <a:solidFill>
                            <a:srgbClr val="FF0000"/>
                          </a:solidFill>
                          <a:latin typeface="210 OmniGothic 030"/>
                          <a:ea typeface="210 OmniGothic 030"/>
                          <a:cs typeface="210 OmniGothic 030"/>
                        </a:rPr>
                        <a:t>·</a:t>
                      </a:r>
                      <a:r>
                        <a:rPr lang="en-US" altLang="ko-KR" sz="1100" b="0" i="0" u="none" strike="noStrike" spc="-100" dirty="0">
                          <a:solidFill>
                            <a:srgbClr val="FF0000"/>
                          </a:solidFill>
                          <a:latin typeface="210 OmniGothic 030"/>
                          <a:ea typeface="210 OmniGothic 030"/>
                          <a:cs typeface="210 OmniGothic 030"/>
                        </a:rPr>
                        <a:t>대응 제안 4종</a:t>
                      </a:r>
                      <a:r>
                        <a:rPr lang="en-US" altLang="ko-KR" sz="1100" b="0" i="0" u="none" strike="noStrike" spc="-100" dirty="0">
                          <a:solidFill>
                            <a:srgbClr val="363A52"/>
                          </a:solidFill>
                          <a:latin typeface="210 OmniGothic 030"/>
                          <a:ea typeface="210 OmniGothic 030"/>
                          <a:cs typeface="210 OmniGothic 030"/>
                        </a:rPr>
                        <a:t>) </a:t>
                      </a:r>
                      <a:r>
                        <a:rPr lang="ko-KR" altLang="en-US" sz="1100" b="0" i="0" u="none" strike="noStrike" spc="-100" dirty="0">
                          <a:solidFill>
                            <a:srgbClr val="363A52"/>
                          </a:solidFill>
                          <a:latin typeface="210 OmniGothic 030"/>
                          <a:ea typeface="210 OmniGothic 030"/>
                          <a:cs typeface="210 OmniGothic 030"/>
                        </a:rPr>
                        <a:t>및 </a:t>
                      </a:r>
                      <a:r>
                        <a:rPr lang="en-US" altLang="ko-KR" sz="1100" b="0" i="0" u="none" strike="noStrike" spc="-100" dirty="0">
                          <a:solidFill>
                            <a:srgbClr val="363A52"/>
                          </a:solidFill>
                          <a:latin typeface="210 OmniGothic 030"/>
                          <a:ea typeface="210 OmniGothic 030"/>
                          <a:cs typeface="210 OmniGothic 030"/>
                        </a:rPr>
                        <a:t>hold-out </a:t>
                      </a:r>
                      <a:r>
                        <a:rPr lang="ko-KR" altLang="en-US" sz="1100" b="0" i="0" u="none" strike="noStrike" spc="-100" dirty="0">
                          <a:solidFill>
                            <a:srgbClr val="363A52"/>
                          </a:solidFill>
                          <a:latin typeface="210 OmniGothic 030"/>
                          <a:ea typeface="210 OmniGothic 030"/>
                          <a:cs typeface="210 OmniGothic 030"/>
                        </a:rPr>
                        <a:t>검증 </a:t>
                      </a:r>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FBFBF"/>
                    </a:solid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FBFBF"/>
                    </a:solid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ko-KR" altLang="en-US" sz="1200" b="0">
                          <a:solidFill>
                            <a:srgbClr val="000000"/>
                          </a:solidFill>
                          <a:latin typeface="210 OmniGothic 030" panose="020B0600000101010101" charset="-127"/>
                          <a:ea typeface="210 OmniGothic 030" panose="020B0600000101010101" charset="-127"/>
                        </a:rPr>
                        <a:t>전원</a:t>
                      </a:r>
                      <a:endParaRPr lang="ko-KR" altLang="en-US" sz="1200" b="0" dirty="0">
                        <a:solidFill>
                          <a:srgbClr val="000000"/>
                        </a:solidFill>
                        <a:latin typeface="210 OmniGothic 030" panose="020B0600000101010101" charset="-127"/>
                        <a:ea typeface="210 OmniGothic 030" panose="020B0600000101010101" charset="-127"/>
                      </a:endParaRPr>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21598170"/>
                  </a:ext>
                </a:extLst>
              </a:tr>
              <a:tr h="301752">
                <a:tc>
                  <a:txBody>
                    <a:bodyPr/>
                    <a:lstStyle/>
                    <a:p>
                      <a:pPr latinLnBrk="1"/>
                      <a:r>
                        <a:rPr lang="en-US" altLang="ko-KR" sz="1100" b="0" i="0" u="none" strike="noStrike" spc="-100" dirty="0">
                          <a:solidFill>
                            <a:srgbClr val="363A52"/>
                          </a:solidFill>
                          <a:latin typeface="210 OmniGothic 030"/>
                          <a:ea typeface="210 OmniGothic 030"/>
                          <a:cs typeface="210 OmniGothic 030"/>
                        </a:rPr>
                        <a:t>20. RAG </a:t>
                      </a:r>
                      <a:r>
                        <a:rPr lang="ko-KR" altLang="en-US" sz="1100" b="0" i="0" u="none" strike="noStrike" spc="-100" dirty="0">
                          <a:solidFill>
                            <a:srgbClr val="363A52"/>
                          </a:solidFill>
                          <a:latin typeface="210 OmniGothic 030"/>
                          <a:ea typeface="210 OmniGothic 030"/>
                          <a:cs typeface="210 OmniGothic 030"/>
                        </a:rPr>
                        <a:t>유무 </a:t>
                      </a:r>
                      <a:r>
                        <a:rPr lang="ko-KR" altLang="en-US" sz="1100" b="0" i="0" u="none" strike="noStrike" spc="-100" dirty="0">
                          <a:solidFill>
                            <a:srgbClr val="FF0000"/>
                          </a:solidFill>
                          <a:latin typeface="210 OmniGothic 030"/>
                          <a:ea typeface="210 OmniGothic 030"/>
                          <a:cs typeface="210 OmniGothic 030"/>
                        </a:rPr>
                        <a:t>Ablation</a:t>
                      </a:r>
                      <a:r>
                        <a:rPr lang="ko-KR" altLang="en-US" sz="1100" b="0" i="0" u="none" strike="noStrike" spc="-100" dirty="0">
                          <a:solidFill>
                            <a:srgbClr val="363A52"/>
                          </a:solidFill>
                          <a:latin typeface="210 OmniGothic 030"/>
                          <a:ea typeface="210 OmniGothic 030"/>
                          <a:cs typeface="210 OmniGothic 030"/>
                        </a:rPr>
                        <a:t> 실험</a:t>
                      </a:r>
                      <a:r>
                        <a:rPr lang="en-US" altLang="ko-KR" sz="1100" b="0" i="0" u="none" strike="noStrike" spc="-100" dirty="0">
                          <a:solidFill>
                            <a:srgbClr val="363A52"/>
                          </a:solidFill>
                          <a:latin typeface="210 OmniGothic 030"/>
                          <a:ea typeface="210 OmniGothic 030"/>
                          <a:cs typeface="210 OmniGothic 030"/>
                        </a:rPr>
                        <a:t>, </a:t>
                      </a:r>
                      <a:r>
                        <a:rPr lang="ko-KR" altLang="en-US" sz="1100" b="0" i="0" u="none" strike="noStrike" spc="-100" dirty="0">
                          <a:solidFill>
                            <a:srgbClr val="363A52"/>
                          </a:solidFill>
                          <a:latin typeface="210 OmniGothic 030"/>
                          <a:ea typeface="210 OmniGothic 030"/>
                          <a:cs typeface="210 OmniGothic 030"/>
                        </a:rPr>
                        <a:t>최종 통합 및 경진대회 준비 </a:t>
                      </a:r>
                      <a:endParaRPr lang="ko-KR" altLang="en-US" sz="1100"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FBFBF"/>
                    </a:solid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FBFBF"/>
                    </a:solid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ko-KR" altLang="en-US" sz="1200" b="0">
                          <a:solidFill>
                            <a:srgbClr val="000000"/>
                          </a:solidFill>
                          <a:latin typeface="210 OmniGothic 030" panose="020B0600000101010101" charset="-127"/>
                          <a:ea typeface="210 OmniGothic 030" panose="020B0600000101010101" charset="-127"/>
                        </a:rPr>
                        <a:t>전원</a:t>
                      </a:r>
                      <a:endParaRPr lang="ko-KR" altLang="en-US" sz="1200" b="0" dirty="0">
                        <a:solidFill>
                          <a:srgbClr val="000000"/>
                        </a:solidFill>
                        <a:latin typeface="210 OmniGothic 030" panose="020B0600000101010101" charset="-127"/>
                        <a:ea typeface="210 OmniGothic 030" panose="020B0600000101010101" charset="-127"/>
                      </a:endParaRPr>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84579277"/>
                  </a:ext>
                </a:extLst>
              </a:tr>
              <a:tr h="301752">
                <a:tc>
                  <a:txBody>
                    <a:bodyPr/>
                    <a:lstStyle/>
                    <a:p>
                      <a:pPr latinLnBrk="1"/>
                      <a:r>
                        <a:rPr lang="en-US" altLang="ko-KR" sz="1100" b="0" i="0" u="none" strike="noStrike" spc="-100" dirty="0">
                          <a:solidFill>
                            <a:srgbClr val="363A52"/>
                          </a:solidFill>
                          <a:latin typeface="210 OmniGothic 030"/>
                          <a:ea typeface="210 OmniGothic 030"/>
                          <a:cs typeface="210 OmniGothic 030"/>
                        </a:rPr>
                        <a:t>21. SW </a:t>
                      </a:r>
                      <a:r>
                        <a:rPr lang="ko-KR" altLang="en-US" sz="1100" b="0" i="0" u="none" strike="noStrike" spc="-100" dirty="0">
                          <a:solidFill>
                            <a:srgbClr val="363A52"/>
                          </a:solidFill>
                          <a:latin typeface="210 OmniGothic 030"/>
                          <a:ea typeface="210 OmniGothic 030"/>
                          <a:cs typeface="210 OmniGothic 030"/>
                        </a:rPr>
                        <a:t>프로그램 등록 및 최종보고서 작성 </a:t>
                      </a:r>
                      <a:endParaRPr lang="ko-KR" altLang="en-US" sz="1100"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FBFBF"/>
                    </a:solid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FBFBF"/>
                    </a:solidFill>
                  </a:tcPr>
                </a:tc>
                <a:tc>
                  <a:txBody>
                    <a:bodyPr/>
                    <a:lstStyle/>
                    <a:p>
                      <a:pPr algn="ctr" latinLnBrk="1"/>
                      <a:r>
                        <a:rPr lang="ko-KR" altLang="en-US" sz="1200" b="0">
                          <a:solidFill>
                            <a:srgbClr val="000000"/>
                          </a:solidFill>
                          <a:latin typeface="210 OmniGothic 030" panose="020B0600000101010101" charset="-127"/>
                          <a:ea typeface="210 OmniGothic 030" panose="020B0600000101010101" charset="-127"/>
                        </a:rPr>
                        <a:t>전원</a:t>
                      </a:r>
                      <a:endParaRPr lang="ko-KR" altLang="en-US" sz="1200" b="0" dirty="0">
                        <a:solidFill>
                          <a:srgbClr val="000000"/>
                        </a:solidFill>
                        <a:latin typeface="210 OmniGothic 030" panose="020B0600000101010101" charset="-127"/>
                        <a:ea typeface="210 OmniGothic 030" panose="020B0600000101010101" charset="-127"/>
                      </a:endParaRPr>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14182678"/>
                  </a:ext>
                </a:extLst>
              </a:tr>
              <a:tr h="301752">
                <a:tc>
                  <a:txBody>
                    <a:bodyPr/>
                    <a:lstStyle/>
                    <a:p>
                      <a:pPr latinLnBrk="1"/>
                      <a:r>
                        <a:rPr lang="en-US" altLang="ko-KR" sz="1100" b="0" i="0" u="none" strike="noStrike" spc="-100" dirty="0">
                          <a:solidFill>
                            <a:srgbClr val="363A52"/>
                          </a:solidFill>
                          <a:latin typeface="210 OmniGothic 030"/>
                          <a:ea typeface="210 OmniGothic 030"/>
                          <a:cs typeface="210 OmniGothic 030"/>
                        </a:rPr>
                        <a:t>22. </a:t>
                      </a:r>
                      <a:r>
                        <a:rPr lang="ko-KR" altLang="en-US" sz="1100" b="0" i="0" u="none" strike="noStrike" spc="-100" dirty="0">
                          <a:solidFill>
                            <a:srgbClr val="363A52"/>
                          </a:solidFill>
                          <a:latin typeface="210 OmniGothic 030"/>
                          <a:ea typeface="210 OmniGothic 030"/>
                          <a:cs typeface="210 OmniGothic 030"/>
                        </a:rPr>
                        <a:t>주간 보고서 작성 및 제출 </a:t>
                      </a:r>
                      <a:endParaRPr lang="ko-KR" altLang="en-US" sz="1100"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FBFBF"/>
                    </a:solid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FBFBF"/>
                    </a:solid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FBFBF"/>
                    </a:solidFill>
                  </a:tcPr>
                </a:tc>
                <a:tc>
                  <a:txBody>
                    <a:bodyPr/>
                    <a:lstStyle/>
                    <a:p>
                      <a:pPr latinLnBrk="1"/>
                      <a:endParaRPr lang="ko-KR" altLang="en-US"/>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FBFBF"/>
                    </a:solid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FBFBF"/>
                    </a:solid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FBFBF"/>
                    </a:solid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FBFBF"/>
                    </a:solid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FBFBF"/>
                    </a:solid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FBFBF"/>
                    </a:solid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FBFBF"/>
                    </a:solid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FBFBF"/>
                    </a:solid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FBFBF"/>
                    </a:solid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FBFBF"/>
                    </a:solid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FBFBF"/>
                    </a:solidFill>
                  </a:tcPr>
                </a:tc>
                <a:tc>
                  <a:txBody>
                    <a:bodyPr/>
                    <a:lstStyle/>
                    <a:p>
                      <a:pPr latinLnBrk="1"/>
                      <a:endParaRPr lang="ko-KR" altLang="en-US"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FBFBF"/>
                    </a:solidFill>
                  </a:tcPr>
                </a:tc>
                <a:tc>
                  <a:txBody>
                    <a:bodyPr/>
                    <a:lstStyle/>
                    <a:p>
                      <a:pPr algn="ctr" latinLnBrk="1"/>
                      <a:r>
                        <a:rPr lang="ko-KR" altLang="en-US" sz="1200" b="0" dirty="0">
                          <a:solidFill>
                            <a:srgbClr val="000000"/>
                          </a:solidFill>
                          <a:latin typeface="210 OmniGothic 030" panose="020B0600000101010101" charset="-127"/>
                          <a:ea typeface="210 OmniGothic 030" panose="020B0600000101010101" charset="-127"/>
                        </a:rPr>
                        <a:t>전원</a:t>
                      </a:r>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16864908"/>
                  </a:ext>
                </a:extLst>
              </a:tr>
            </a:tbl>
          </a:graphicData>
        </a:graphic>
      </p:graphicFrame>
      <p:sp>
        <p:nvSpPr>
          <p:cNvPr id="5" name="슬라이드 번호 개체 틀 4">
            <a:extLst>
              <a:ext uri="{FF2B5EF4-FFF2-40B4-BE49-F238E27FC236}">
                <a16:creationId xmlns:a16="http://schemas.microsoft.com/office/drawing/2014/main" id="{49496E1E-A839-6AAA-E8BF-72E00D940688}"/>
              </a:ext>
            </a:extLst>
          </p:cNvPr>
          <p:cNvSpPr>
            <a:spLocks noGrp="1"/>
          </p:cNvSpPr>
          <p:nvPr>
            <p:ph type="sldNum" sz="quarter" idx="12"/>
          </p:nvPr>
        </p:nvSpPr>
        <p:spPr/>
        <p:txBody>
          <a:bodyPr/>
          <a:lstStyle/>
          <a:p>
            <a:fld id="{B6F15528-21DE-4FAA-801E-634DDDAF4B2B}" type="slidenum">
              <a:rPr lang="en-US" smtClean="0"/>
              <a:pPr/>
              <a:t>9</a:t>
            </a:fld>
            <a:endParaRPr lang="en-US"/>
          </a:p>
        </p:txBody>
      </p:sp>
      <p:sp>
        <p:nvSpPr>
          <p:cNvPr id="9001" name="TextBox 9001"/>
          <p:cNvSpPr txBox="1"/>
          <p:nvPr/>
        </p:nvSpPr>
        <p:spPr>
          <a:xfrm>
            <a:off x="746764" y="9629140"/>
            <a:ext cx="16632937" cy="338554"/>
          </a:xfrm>
          <a:prstGeom prst="rect">
            <a:avLst/>
          </a:prstGeom>
        </p:spPr>
        <p:txBody>
          <a:bodyPr wrap="square" lIns="0" tIns="0" rIns="0" bIns="0" anchor="t">
            <a:spAutoFit/>
          </a:bodyPr>
          <a:lstStyle/>
          <a:p>
            <a:r>
              <a:rPr lang="ko-KR" altLang="en-US" sz="1100" b="0" dirty="0">
                <a:solidFill>
                  <a:srgbClr val="363A52"/>
                </a:solidFill>
                <a:latin typeface="210 OmniGothic 030"/>
                <a:ea typeface="210 OmniGothic 030"/>
              </a:rPr>
              <a:t>※ 점선 화살표 = 계획, 실선 화살표 = 실제 수행(5주차까지 문서 작업 완료, 개발은 TOPCIT 이후 배치)</a:t>
            </a:r>
            <a:r>
              <a:rPr lang="ko-KR" altLang="en-US" sz="1100" dirty="0">
                <a:solidFill>
                  <a:srgbClr val="363A52"/>
                </a:solidFill>
                <a:latin typeface="210 OmniGothic 030"/>
                <a:ea typeface="210 OmniGothic 030"/>
              </a:rPr>
              <a:t> </a:t>
            </a:r>
            <a:br>
              <a:rPr lang="en-US" altLang="ko-KR" sz="1100" dirty="0">
                <a:solidFill>
                  <a:srgbClr val="363A52"/>
                </a:solidFill>
                <a:latin typeface="210 OmniGothic 030"/>
                <a:ea typeface="210 OmniGothic 030"/>
              </a:rPr>
            </a:br>
            <a:r>
              <a:rPr lang="ko-KR" altLang="en-US" sz="1100" dirty="0">
                <a:solidFill>
                  <a:srgbClr val="363A52"/>
                </a:solidFill>
                <a:latin typeface="210 OmniGothic 030"/>
                <a:ea typeface="210 OmniGothic 030"/>
              </a:rPr>
              <a:t>※ </a:t>
            </a:r>
            <a:r>
              <a:rPr lang="ko-KR" altLang="en-US" sz="1100" b="0" dirty="0">
                <a:solidFill>
                  <a:srgbClr val="363A52"/>
                </a:solidFill>
                <a:latin typeface="210 OmniGothic 030"/>
                <a:ea typeface="210 OmniGothic 030"/>
              </a:rPr>
              <a:t>주요 마일스톤: 6~8주차 1차 프로토타입(계획서·테스트 사양서·구현) · 8주차 TOPCIT(10/10) · 12주차 1차 통합·프로토타입 · 14주차 창의설계경진대회(12/4) · 16주차 최종보고서(12/18)</a:t>
            </a:r>
          </a:p>
        </p:txBody>
      </p:sp>
      <p:sp>
        <p:nvSpPr>
          <p:cNvPr id="4" name="Title">
            <a:extLst>
              <a:ext uri="{FF2B5EF4-FFF2-40B4-BE49-F238E27FC236}">
                <a16:creationId xmlns:a16="http://schemas.microsoft.com/office/drawing/2014/main" id="{186D1F1F-7F50-2C1A-59EC-DB2714C7B1E5}"/>
              </a:ext>
            </a:extLst>
          </p:cNvPr>
          <p:cNvSpPr>
            <a:spLocks noGrp="1"/>
          </p:cNvSpPr>
          <p:nvPr/>
        </p:nvSpPr>
        <p:spPr>
          <a:xfrm>
            <a:off x="822960" y="384048"/>
            <a:ext cx="13258800" cy="877824"/>
          </a:xfrm>
          <a:prstGeom prst="rect">
            <a:avLst/>
          </a:prstGeom>
          <a:noFill/>
        </p:spPr>
        <p:txBody>
          <a:bodyPr wrap="square" lIns="0" tIns="0" rIns="0" bIns="0" anchor="ctr">
            <a:spAutoFit/>
          </a:bodyPr>
          <a:lstStyle/>
          <a:p>
            <a:pPr algn="l">
              <a:buNone/>
            </a:pPr>
            <a:r>
              <a:rPr sz="4400" b="0" dirty="0">
                <a:solidFill>
                  <a:srgbClr val="FAA95A"/>
                </a:solidFill>
                <a:latin typeface="210 OmniGothic 050"/>
                <a:ea typeface="210 OmniGothic 050"/>
                <a:cs typeface="210 OmniGothic 050"/>
              </a:rPr>
              <a:t>01. </a:t>
            </a:r>
            <a:r>
              <a:rPr sz="4400" b="0" dirty="0" err="1">
                <a:solidFill>
                  <a:srgbClr val="FAA95A"/>
                </a:solidFill>
                <a:latin typeface="210 OmniGothic 050"/>
                <a:ea typeface="210 OmniGothic 050"/>
                <a:cs typeface="210 OmniGothic 050"/>
              </a:rPr>
              <a:t>프로젝트</a:t>
            </a:r>
            <a:r>
              <a:rPr sz="4400" b="0" dirty="0">
                <a:solidFill>
                  <a:srgbClr val="FAA95A"/>
                </a:solidFill>
                <a:latin typeface="210 OmniGothic 050"/>
                <a:ea typeface="210 OmniGothic 050"/>
                <a:cs typeface="210 OmniGothic 050"/>
              </a:rPr>
              <a:t> </a:t>
            </a:r>
            <a:r>
              <a:rPr sz="4400" b="0" dirty="0" err="1">
                <a:solidFill>
                  <a:srgbClr val="FAA95A"/>
                </a:solidFill>
                <a:latin typeface="210 OmniGothic 050"/>
                <a:ea typeface="210 OmniGothic 050"/>
                <a:cs typeface="210 OmniGothic 050"/>
              </a:rPr>
              <a:t>개요</a:t>
            </a:r>
            <a:endParaRPr sz="4400" b="0" dirty="0">
              <a:solidFill>
                <a:srgbClr val="FAA95A"/>
              </a:solidFill>
              <a:latin typeface="210 OmniGothic 050"/>
              <a:ea typeface="210 OmniGothic 050"/>
              <a:cs typeface="210 OmniGothic 050"/>
            </a:endParaRPr>
          </a:p>
        </p:txBody>
      </p:sp>
      <p:sp>
        <p:nvSpPr>
          <p:cNvPr id="3" name="Subtitle">
            <a:extLst>
              <a:ext uri="{FF2B5EF4-FFF2-40B4-BE49-F238E27FC236}">
                <a16:creationId xmlns:a16="http://schemas.microsoft.com/office/drawing/2014/main" id="{FE75D791-51C2-D9C9-43FC-4986B50F31C9}"/>
              </a:ext>
            </a:extLst>
          </p:cNvPr>
          <p:cNvSpPr>
            <a:spLocks noGrp="1"/>
          </p:cNvSpPr>
          <p:nvPr/>
        </p:nvSpPr>
        <p:spPr>
          <a:xfrm>
            <a:off x="822960" y="1816197"/>
            <a:ext cx="16642080" cy="400110"/>
          </a:xfrm>
          <a:prstGeom prst="rect">
            <a:avLst/>
          </a:prstGeom>
          <a:noFill/>
        </p:spPr>
        <p:txBody>
          <a:bodyPr wrap="square" lIns="0" tIns="0" rIns="0" bIns="0" anchor="ctr">
            <a:spAutoFit/>
          </a:bodyPr>
          <a:lstStyle/>
          <a:p>
            <a:pPr algn="ctr">
              <a:buNone/>
            </a:pPr>
            <a:r>
              <a:rPr lang="ko-KR" altLang="en-US" sz="2600" b="1">
                <a:solidFill>
                  <a:srgbClr val="363A52"/>
                </a:solidFill>
                <a:latin typeface="210 OmniGothic 040"/>
                <a:ea typeface="210 OmniGothic 040"/>
                <a:cs typeface="210 OmniGothic 040"/>
              </a:rPr>
              <a:t>개발 일정 및 진행 현황</a:t>
            </a:r>
            <a:endParaRPr sz="2600" b="1">
              <a:solidFill>
                <a:srgbClr val="363A52"/>
              </a:solidFill>
              <a:latin typeface="210 OmniGothic 040"/>
              <a:ea typeface="210 OmniGothic 040"/>
              <a:cs typeface="210 OmniGothic 040"/>
            </a:endParaRPr>
          </a:p>
        </p:txBody>
      </p:sp>
      <p:cxnSp>
        <p:nvCxnSpPr>
          <p:cNvPr id="22" name="plan-arrow-1">
            <a:extLst>
              <a:ext uri="{FF2B5EF4-FFF2-40B4-BE49-F238E27FC236}">
                <a16:creationId xmlns:a16="http://schemas.microsoft.com/office/drawing/2014/main" id="{93BA42D3-27C7-7737-952A-AF311BC8CD1B}"/>
              </a:ext>
            </a:extLst>
          </p:cNvPr>
          <p:cNvCxnSpPr/>
          <p:nvPr/>
        </p:nvCxnSpPr>
        <p:spPr>
          <a:xfrm>
            <a:off x="5009392" y="2769108"/>
            <a:ext cx="680171" cy="0"/>
          </a:xfrm>
          <a:prstGeom prst="straightConnector1">
            <a:avLst/>
          </a:prstGeom>
          <a:ln w="22225" cap="rnd">
            <a:solidFill>
              <a:srgbClr val="000000"/>
            </a:solidFill>
            <a:prstDash val="sysDot"/>
            <a:tailEnd type="triangle" w="med" len="lg"/>
          </a:ln>
        </p:spPr>
        <p:style>
          <a:lnRef idx="1">
            <a:schemeClr val="accent1"/>
          </a:lnRef>
          <a:fillRef idx="0">
            <a:schemeClr val="accent1"/>
          </a:fillRef>
          <a:effectRef idx="0">
            <a:schemeClr val="accent1"/>
          </a:effectRef>
          <a:fontRef idx="minor">
            <a:schemeClr val="tx1"/>
          </a:fontRef>
        </p:style>
      </p:cxnSp>
      <p:cxnSp>
        <p:nvCxnSpPr>
          <p:cNvPr id="24" name="actual-arrow-1">
            <a:extLst>
              <a:ext uri="{FF2B5EF4-FFF2-40B4-BE49-F238E27FC236}">
                <a16:creationId xmlns:a16="http://schemas.microsoft.com/office/drawing/2014/main" id="{C2B3E5CC-DCF4-E094-0724-91A580DA5300}"/>
              </a:ext>
            </a:extLst>
          </p:cNvPr>
          <p:cNvCxnSpPr>
            <a:cxnSpLocks/>
          </p:cNvCxnSpPr>
          <p:nvPr/>
        </p:nvCxnSpPr>
        <p:spPr>
          <a:xfrm>
            <a:off x="4978912" y="2869082"/>
            <a:ext cx="752757" cy="0"/>
          </a:xfrm>
          <a:prstGeom prst="straightConnector1">
            <a:avLst/>
          </a:prstGeom>
          <a:ln w="28575">
            <a:solidFill>
              <a:srgbClr val="363A52"/>
            </a:solidFill>
            <a:prstDash val="solid"/>
            <a:tailEnd type="triangle" w="med" len="lg"/>
          </a:ln>
        </p:spPr>
        <p:style>
          <a:lnRef idx="1">
            <a:schemeClr val="accent1"/>
          </a:lnRef>
          <a:fillRef idx="0">
            <a:schemeClr val="accent1"/>
          </a:fillRef>
          <a:effectRef idx="0">
            <a:schemeClr val="accent1"/>
          </a:effectRef>
          <a:fontRef idx="minor">
            <a:schemeClr val="tx1"/>
          </a:fontRef>
        </p:style>
      </p:cxnSp>
      <p:cxnSp>
        <p:nvCxnSpPr>
          <p:cNvPr id="25" name="plan-arrow-2">
            <a:extLst>
              <a:ext uri="{FF2B5EF4-FFF2-40B4-BE49-F238E27FC236}">
                <a16:creationId xmlns:a16="http://schemas.microsoft.com/office/drawing/2014/main" id="{4886932C-8C45-72EE-EB91-C8B327FA5144}"/>
              </a:ext>
            </a:extLst>
          </p:cNvPr>
          <p:cNvCxnSpPr/>
          <p:nvPr/>
        </p:nvCxnSpPr>
        <p:spPr>
          <a:xfrm>
            <a:off x="5765763" y="3081528"/>
            <a:ext cx="575406" cy="0"/>
          </a:xfrm>
          <a:prstGeom prst="straightConnector1">
            <a:avLst/>
          </a:prstGeom>
          <a:ln w="22225" cap="rnd">
            <a:solidFill>
              <a:srgbClr val="000000"/>
            </a:solidFill>
            <a:prstDash val="sysDot"/>
            <a:tailEnd type="triangle" w="med" len="lg"/>
          </a:ln>
        </p:spPr>
        <p:style>
          <a:lnRef idx="1">
            <a:schemeClr val="accent1"/>
          </a:lnRef>
          <a:fillRef idx="0">
            <a:schemeClr val="accent1"/>
          </a:fillRef>
          <a:effectRef idx="0">
            <a:schemeClr val="accent1"/>
          </a:effectRef>
          <a:fontRef idx="minor">
            <a:schemeClr val="tx1"/>
          </a:fontRef>
        </p:style>
      </p:cxnSp>
      <p:cxnSp>
        <p:nvCxnSpPr>
          <p:cNvPr id="26" name="actual-arrow-2">
            <a:extLst>
              <a:ext uri="{FF2B5EF4-FFF2-40B4-BE49-F238E27FC236}">
                <a16:creationId xmlns:a16="http://schemas.microsoft.com/office/drawing/2014/main" id="{425633E6-7083-5BC9-9BF1-2963BABBD514}"/>
              </a:ext>
            </a:extLst>
          </p:cNvPr>
          <p:cNvCxnSpPr>
            <a:cxnSpLocks/>
          </p:cNvCxnSpPr>
          <p:nvPr/>
        </p:nvCxnSpPr>
        <p:spPr>
          <a:xfrm>
            <a:off x="5735283" y="3181503"/>
            <a:ext cx="631286" cy="0"/>
          </a:xfrm>
          <a:prstGeom prst="straightConnector1">
            <a:avLst/>
          </a:prstGeom>
          <a:ln w="28575">
            <a:solidFill>
              <a:srgbClr val="363A52"/>
            </a:solidFill>
            <a:prstDash val="solid"/>
            <a:tailEnd type="triangle" w="med" len="lg"/>
          </a:ln>
        </p:spPr>
        <p:style>
          <a:lnRef idx="1">
            <a:schemeClr val="accent1"/>
          </a:lnRef>
          <a:fillRef idx="0">
            <a:schemeClr val="accent1"/>
          </a:fillRef>
          <a:effectRef idx="0">
            <a:schemeClr val="accent1"/>
          </a:effectRef>
          <a:fontRef idx="minor">
            <a:schemeClr val="tx1"/>
          </a:fontRef>
        </p:style>
      </p:cxnSp>
      <p:cxnSp>
        <p:nvCxnSpPr>
          <p:cNvPr id="27" name="plan-arrow-3">
            <a:extLst>
              <a:ext uri="{FF2B5EF4-FFF2-40B4-BE49-F238E27FC236}">
                <a16:creationId xmlns:a16="http://schemas.microsoft.com/office/drawing/2014/main" id="{4DE96A2A-DEBE-4A35-C1DE-35D1DCC84F7C}"/>
              </a:ext>
            </a:extLst>
          </p:cNvPr>
          <p:cNvCxnSpPr/>
          <p:nvPr/>
        </p:nvCxnSpPr>
        <p:spPr>
          <a:xfrm>
            <a:off x="6417369" y="3393948"/>
            <a:ext cx="1227012" cy="0"/>
          </a:xfrm>
          <a:prstGeom prst="straightConnector1">
            <a:avLst/>
          </a:prstGeom>
          <a:ln w="22225" cap="rnd">
            <a:solidFill>
              <a:srgbClr val="000000"/>
            </a:solidFill>
            <a:prstDash val="sysDot"/>
            <a:tailEnd type="triangle" w="med" len="lg"/>
          </a:ln>
        </p:spPr>
        <p:style>
          <a:lnRef idx="1">
            <a:schemeClr val="accent1"/>
          </a:lnRef>
          <a:fillRef idx="0">
            <a:schemeClr val="accent1"/>
          </a:fillRef>
          <a:effectRef idx="0">
            <a:schemeClr val="accent1"/>
          </a:effectRef>
          <a:fontRef idx="minor">
            <a:schemeClr val="tx1"/>
          </a:fontRef>
        </p:style>
      </p:cxnSp>
      <p:cxnSp>
        <p:nvCxnSpPr>
          <p:cNvPr id="28" name="actual-arrow-3">
            <a:extLst>
              <a:ext uri="{FF2B5EF4-FFF2-40B4-BE49-F238E27FC236}">
                <a16:creationId xmlns:a16="http://schemas.microsoft.com/office/drawing/2014/main" id="{8B5AB5BB-AC9D-CC73-C606-F2D19E0931A2}"/>
              </a:ext>
            </a:extLst>
          </p:cNvPr>
          <p:cNvCxnSpPr>
            <a:cxnSpLocks/>
          </p:cNvCxnSpPr>
          <p:nvPr/>
        </p:nvCxnSpPr>
        <p:spPr>
          <a:xfrm>
            <a:off x="6366569" y="3493922"/>
            <a:ext cx="1320106" cy="0"/>
          </a:xfrm>
          <a:prstGeom prst="straightConnector1">
            <a:avLst/>
          </a:prstGeom>
          <a:ln w="28575">
            <a:solidFill>
              <a:srgbClr val="363A52"/>
            </a:solidFill>
            <a:prstDash val="solid"/>
            <a:tailEnd type="triangle" w="med" len="lg"/>
          </a:ln>
        </p:spPr>
        <p:style>
          <a:lnRef idx="1">
            <a:schemeClr val="accent1"/>
          </a:lnRef>
          <a:fillRef idx="0">
            <a:schemeClr val="accent1"/>
          </a:fillRef>
          <a:effectRef idx="0">
            <a:schemeClr val="accent1"/>
          </a:effectRef>
          <a:fontRef idx="minor">
            <a:schemeClr val="tx1"/>
          </a:fontRef>
        </p:style>
      </p:cxnSp>
      <p:cxnSp>
        <p:nvCxnSpPr>
          <p:cNvPr id="29" name="plan-arrow-4">
            <a:extLst>
              <a:ext uri="{FF2B5EF4-FFF2-40B4-BE49-F238E27FC236}">
                <a16:creationId xmlns:a16="http://schemas.microsoft.com/office/drawing/2014/main" id="{67D5A805-2E9A-5AB7-04D0-B3E020C6C55C}"/>
              </a:ext>
            </a:extLst>
          </p:cNvPr>
          <p:cNvCxnSpPr/>
          <p:nvPr/>
        </p:nvCxnSpPr>
        <p:spPr>
          <a:xfrm>
            <a:off x="7720581" y="3737610"/>
            <a:ext cx="575406" cy="0"/>
          </a:xfrm>
          <a:prstGeom prst="straightConnector1">
            <a:avLst/>
          </a:prstGeom>
          <a:ln w="22225" cap="rnd">
            <a:solidFill>
              <a:srgbClr val="000000"/>
            </a:solidFill>
            <a:prstDash val="sysDot"/>
            <a:tailEnd type="triangle" w="med" len="lg"/>
          </a:ln>
        </p:spPr>
        <p:style>
          <a:lnRef idx="1">
            <a:schemeClr val="accent1"/>
          </a:lnRef>
          <a:fillRef idx="0">
            <a:schemeClr val="accent1"/>
          </a:fillRef>
          <a:effectRef idx="0">
            <a:schemeClr val="accent1"/>
          </a:effectRef>
          <a:fontRef idx="minor">
            <a:schemeClr val="tx1"/>
          </a:fontRef>
        </p:style>
      </p:cxnSp>
      <p:cxnSp>
        <p:nvCxnSpPr>
          <p:cNvPr id="30" name="plan-arrow-5">
            <a:extLst>
              <a:ext uri="{FF2B5EF4-FFF2-40B4-BE49-F238E27FC236}">
                <a16:creationId xmlns:a16="http://schemas.microsoft.com/office/drawing/2014/main" id="{33796498-3DD9-DB6E-D5C3-968025EAD6C8}"/>
              </a:ext>
            </a:extLst>
          </p:cNvPr>
          <p:cNvCxnSpPr/>
          <p:nvPr/>
        </p:nvCxnSpPr>
        <p:spPr>
          <a:xfrm>
            <a:off x="8372187" y="4050030"/>
            <a:ext cx="1299413" cy="0"/>
          </a:xfrm>
          <a:prstGeom prst="straightConnector1">
            <a:avLst/>
          </a:prstGeom>
          <a:ln w="22225" cap="rnd">
            <a:solidFill>
              <a:srgbClr val="000000"/>
            </a:solidFill>
            <a:prstDash val="sysDot"/>
            <a:tailEnd type="triangle" w="med" len="lg"/>
          </a:ln>
        </p:spPr>
        <p:style>
          <a:lnRef idx="1">
            <a:schemeClr val="accent1"/>
          </a:lnRef>
          <a:fillRef idx="0">
            <a:schemeClr val="accent1"/>
          </a:fillRef>
          <a:effectRef idx="0">
            <a:schemeClr val="accent1"/>
          </a:effectRef>
          <a:fontRef idx="minor">
            <a:schemeClr val="tx1"/>
          </a:fontRef>
        </p:style>
      </p:cxnSp>
      <p:cxnSp>
        <p:nvCxnSpPr>
          <p:cNvPr id="31" name="plan-arrow-6">
            <a:extLst>
              <a:ext uri="{FF2B5EF4-FFF2-40B4-BE49-F238E27FC236}">
                <a16:creationId xmlns:a16="http://schemas.microsoft.com/office/drawing/2014/main" id="{E1CEFBF0-9238-C6E3-2842-41CB72DEDB97}"/>
              </a:ext>
            </a:extLst>
          </p:cNvPr>
          <p:cNvCxnSpPr/>
          <p:nvPr/>
        </p:nvCxnSpPr>
        <p:spPr>
          <a:xfrm>
            <a:off x="9747800" y="4362450"/>
            <a:ext cx="1420380" cy="0"/>
          </a:xfrm>
          <a:prstGeom prst="straightConnector1">
            <a:avLst/>
          </a:prstGeom>
          <a:ln w="22225" cap="rnd">
            <a:solidFill>
              <a:srgbClr val="000000"/>
            </a:solidFill>
            <a:prstDash val="sysDot"/>
            <a:tailEnd type="triangle" w="med" len="lg"/>
          </a:ln>
        </p:spPr>
        <p:style>
          <a:lnRef idx="1">
            <a:schemeClr val="accent1"/>
          </a:lnRef>
          <a:fillRef idx="0">
            <a:schemeClr val="accent1"/>
          </a:fillRef>
          <a:effectRef idx="0">
            <a:schemeClr val="accent1"/>
          </a:effectRef>
          <a:fontRef idx="minor">
            <a:schemeClr val="tx1"/>
          </a:fontRef>
        </p:style>
      </p:cxnSp>
      <p:cxnSp>
        <p:nvCxnSpPr>
          <p:cNvPr id="32" name="plan-arrow-7">
            <a:extLst>
              <a:ext uri="{FF2B5EF4-FFF2-40B4-BE49-F238E27FC236}">
                <a16:creationId xmlns:a16="http://schemas.microsoft.com/office/drawing/2014/main" id="{21F5E4AD-FE6A-01A5-757F-771B7C02A687}"/>
              </a:ext>
            </a:extLst>
          </p:cNvPr>
          <p:cNvCxnSpPr/>
          <p:nvPr/>
        </p:nvCxnSpPr>
        <p:spPr>
          <a:xfrm>
            <a:off x="9747800" y="4674870"/>
            <a:ext cx="1420380" cy="0"/>
          </a:xfrm>
          <a:prstGeom prst="straightConnector1">
            <a:avLst/>
          </a:prstGeom>
          <a:ln w="22225" cap="rnd">
            <a:solidFill>
              <a:srgbClr val="000000"/>
            </a:solidFill>
            <a:prstDash val="sysDot"/>
            <a:tailEnd type="triangle" w="med" len="lg"/>
          </a:ln>
        </p:spPr>
        <p:style>
          <a:lnRef idx="1">
            <a:schemeClr val="accent1"/>
          </a:lnRef>
          <a:fillRef idx="0">
            <a:schemeClr val="accent1"/>
          </a:fillRef>
          <a:effectRef idx="0">
            <a:schemeClr val="accent1"/>
          </a:effectRef>
          <a:fontRef idx="minor">
            <a:schemeClr val="tx1"/>
          </a:fontRef>
        </p:style>
      </p:cxnSp>
      <p:cxnSp>
        <p:nvCxnSpPr>
          <p:cNvPr id="33" name="plan-arrow-8">
            <a:extLst>
              <a:ext uri="{FF2B5EF4-FFF2-40B4-BE49-F238E27FC236}">
                <a16:creationId xmlns:a16="http://schemas.microsoft.com/office/drawing/2014/main" id="{C9BC3C89-5043-6145-1696-F33A3F868FBA}"/>
              </a:ext>
            </a:extLst>
          </p:cNvPr>
          <p:cNvCxnSpPr/>
          <p:nvPr/>
        </p:nvCxnSpPr>
        <p:spPr>
          <a:xfrm>
            <a:off x="9747800" y="4987290"/>
            <a:ext cx="1420380" cy="0"/>
          </a:xfrm>
          <a:prstGeom prst="straightConnector1">
            <a:avLst/>
          </a:prstGeom>
          <a:ln w="22225" cap="rnd">
            <a:solidFill>
              <a:srgbClr val="000000"/>
            </a:solidFill>
            <a:prstDash val="sysDot"/>
            <a:tailEnd type="triangle" w="med" len="lg"/>
          </a:ln>
        </p:spPr>
        <p:style>
          <a:lnRef idx="1">
            <a:schemeClr val="accent1"/>
          </a:lnRef>
          <a:fillRef idx="0">
            <a:schemeClr val="accent1"/>
          </a:fillRef>
          <a:effectRef idx="0">
            <a:schemeClr val="accent1"/>
          </a:effectRef>
          <a:fontRef idx="minor">
            <a:schemeClr val="tx1"/>
          </a:fontRef>
        </p:style>
      </p:cxnSp>
      <p:cxnSp>
        <p:nvCxnSpPr>
          <p:cNvPr id="34" name="plan-arrow-9">
            <a:extLst>
              <a:ext uri="{FF2B5EF4-FFF2-40B4-BE49-F238E27FC236}">
                <a16:creationId xmlns:a16="http://schemas.microsoft.com/office/drawing/2014/main" id="{E6C96679-659E-B045-A8F7-5736307B65F8}"/>
              </a:ext>
            </a:extLst>
          </p:cNvPr>
          <p:cNvCxnSpPr/>
          <p:nvPr/>
        </p:nvCxnSpPr>
        <p:spPr>
          <a:xfrm>
            <a:off x="9747800" y="5299710"/>
            <a:ext cx="2144387" cy="0"/>
          </a:xfrm>
          <a:prstGeom prst="straightConnector1">
            <a:avLst/>
          </a:prstGeom>
          <a:ln w="22225" cap="rnd">
            <a:solidFill>
              <a:srgbClr val="000000"/>
            </a:solidFill>
            <a:prstDash val="sysDot"/>
            <a:tailEnd type="triangle" w="med" len="lg"/>
          </a:ln>
        </p:spPr>
        <p:style>
          <a:lnRef idx="1">
            <a:schemeClr val="accent1"/>
          </a:lnRef>
          <a:fillRef idx="0">
            <a:schemeClr val="accent1"/>
          </a:fillRef>
          <a:effectRef idx="0">
            <a:schemeClr val="accent1"/>
          </a:effectRef>
          <a:fontRef idx="minor">
            <a:schemeClr val="tx1"/>
          </a:fontRef>
        </p:style>
      </p:cxnSp>
      <p:cxnSp>
        <p:nvCxnSpPr>
          <p:cNvPr id="35" name="plan-arrow-10">
            <a:extLst>
              <a:ext uri="{FF2B5EF4-FFF2-40B4-BE49-F238E27FC236}">
                <a16:creationId xmlns:a16="http://schemas.microsoft.com/office/drawing/2014/main" id="{69B2629E-AC55-8759-F607-A19308EBF2F9}"/>
              </a:ext>
            </a:extLst>
          </p:cNvPr>
          <p:cNvCxnSpPr/>
          <p:nvPr/>
        </p:nvCxnSpPr>
        <p:spPr>
          <a:xfrm>
            <a:off x="10520374" y="5612130"/>
            <a:ext cx="1371813" cy="0"/>
          </a:xfrm>
          <a:prstGeom prst="straightConnector1">
            <a:avLst/>
          </a:prstGeom>
          <a:ln w="22225" cap="rnd">
            <a:solidFill>
              <a:srgbClr val="000000"/>
            </a:solidFill>
            <a:prstDash val="sysDot"/>
            <a:tailEnd type="triangle" w="med" len="lg"/>
          </a:ln>
        </p:spPr>
        <p:style>
          <a:lnRef idx="1">
            <a:schemeClr val="accent1"/>
          </a:lnRef>
          <a:fillRef idx="0">
            <a:schemeClr val="accent1"/>
          </a:fillRef>
          <a:effectRef idx="0">
            <a:schemeClr val="accent1"/>
          </a:effectRef>
          <a:fontRef idx="minor">
            <a:schemeClr val="tx1"/>
          </a:fontRef>
        </p:style>
      </p:cxnSp>
      <p:cxnSp>
        <p:nvCxnSpPr>
          <p:cNvPr id="36" name="plan-arrow-11">
            <a:extLst>
              <a:ext uri="{FF2B5EF4-FFF2-40B4-BE49-F238E27FC236}">
                <a16:creationId xmlns:a16="http://schemas.microsoft.com/office/drawing/2014/main" id="{E8763066-E93E-73F8-58EA-981D3D58FBBC}"/>
              </a:ext>
            </a:extLst>
          </p:cNvPr>
          <p:cNvCxnSpPr/>
          <p:nvPr/>
        </p:nvCxnSpPr>
        <p:spPr>
          <a:xfrm>
            <a:off x="10520374" y="5924550"/>
            <a:ext cx="1371813" cy="0"/>
          </a:xfrm>
          <a:prstGeom prst="straightConnector1">
            <a:avLst/>
          </a:prstGeom>
          <a:ln w="22225" cap="rnd">
            <a:solidFill>
              <a:srgbClr val="000000"/>
            </a:solidFill>
            <a:prstDash val="sysDot"/>
            <a:tailEnd type="triangle" w="med" len="lg"/>
          </a:ln>
        </p:spPr>
        <p:style>
          <a:lnRef idx="1">
            <a:schemeClr val="accent1"/>
          </a:lnRef>
          <a:fillRef idx="0">
            <a:schemeClr val="accent1"/>
          </a:fillRef>
          <a:effectRef idx="0">
            <a:schemeClr val="accent1"/>
          </a:effectRef>
          <a:fontRef idx="minor">
            <a:schemeClr val="tx1"/>
          </a:fontRef>
        </p:style>
      </p:cxnSp>
      <p:cxnSp>
        <p:nvCxnSpPr>
          <p:cNvPr id="37" name="plan-arrow-12">
            <a:extLst>
              <a:ext uri="{FF2B5EF4-FFF2-40B4-BE49-F238E27FC236}">
                <a16:creationId xmlns:a16="http://schemas.microsoft.com/office/drawing/2014/main" id="{77027A64-05E8-C114-0C3B-8629F06DA334}"/>
              </a:ext>
            </a:extLst>
          </p:cNvPr>
          <p:cNvCxnSpPr/>
          <p:nvPr/>
        </p:nvCxnSpPr>
        <p:spPr>
          <a:xfrm>
            <a:off x="10520374" y="6236970"/>
            <a:ext cx="1371813" cy="0"/>
          </a:xfrm>
          <a:prstGeom prst="straightConnector1">
            <a:avLst/>
          </a:prstGeom>
          <a:ln w="22225" cap="rnd">
            <a:solidFill>
              <a:srgbClr val="000000"/>
            </a:solidFill>
            <a:prstDash val="sysDot"/>
            <a:tailEnd type="triangle" w="med" len="lg"/>
          </a:ln>
        </p:spPr>
        <p:style>
          <a:lnRef idx="1">
            <a:schemeClr val="accent1"/>
          </a:lnRef>
          <a:fillRef idx="0">
            <a:schemeClr val="accent1"/>
          </a:fillRef>
          <a:effectRef idx="0">
            <a:schemeClr val="accent1"/>
          </a:effectRef>
          <a:fontRef idx="minor">
            <a:schemeClr val="tx1"/>
          </a:fontRef>
        </p:style>
      </p:cxnSp>
      <p:cxnSp>
        <p:nvCxnSpPr>
          <p:cNvPr id="38" name="plan-arrow-13">
            <a:extLst>
              <a:ext uri="{FF2B5EF4-FFF2-40B4-BE49-F238E27FC236}">
                <a16:creationId xmlns:a16="http://schemas.microsoft.com/office/drawing/2014/main" id="{18A3894F-8591-C921-BF08-04CAEB6447B5}"/>
              </a:ext>
            </a:extLst>
          </p:cNvPr>
          <p:cNvCxnSpPr/>
          <p:nvPr/>
        </p:nvCxnSpPr>
        <p:spPr>
          <a:xfrm>
            <a:off x="11244380" y="6549390"/>
            <a:ext cx="1444213" cy="0"/>
          </a:xfrm>
          <a:prstGeom prst="straightConnector1">
            <a:avLst/>
          </a:prstGeom>
          <a:ln w="22225" cap="rnd">
            <a:solidFill>
              <a:srgbClr val="000000"/>
            </a:solidFill>
            <a:prstDash val="sysDot"/>
            <a:tailEnd type="triangle" w="med" len="lg"/>
          </a:ln>
        </p:spPr>
        <p:style>
          <a:lnRef idx="1">
            <a:schemeClr val="accent1"/>
          </a:lnRef>
          <a:fillRef idx="0">
            <a:schemeClr val="accent1"/>
          </a:fillRef>
          <a:effectRef idx="0">
            <a:schemeClr val="accent1"/>
          </a:effectRef>
          <a:fontRef idx="minor">
            <a:schemeClr val="tx1"/>
          </a:fontRef>
        </p:style>
      </p:cxnSp>
      <p:cxnSp>
        <p:nvCxnSpPr>
          <p:cNvPr id="39" name="plan-arrow-14">
            <a:extLst>
              <a:ext uri="{FF2B5EF4-FFF2-40B4-BE49-F238E27FC236}">
                <a16:creationId xmlns:a16="http://schemas.microsoft.com/office/drawing/2014/main" id="{AC452BB4-893B-7876-F1FE-1595897FBF58}"/>
              </a:ext>
            </a:extLst>
          </p:cNvPr>
          <p:cNvCxnSpPr/>
          <p:nvPr/>
        </p:nvCxnSpPr>
        <p:spPr>
          <a:xfrm>
            <a:off x="11244380" y="6861810"/>
            <a:ext cx="1444213" cy="0"/>
          </a:xfrm>
          <a:prstGeom prst="straightConnector1">
            <a:avLst/>
          </a:prstGeom>
          <a:ln w="22225" cap="rnd">
            <a:solidFill>
              <a:srgbClr val="000000"/>
            </a:solidFill>
            <a:prstDash val="sysDot"/>
            <a:tailEnd type="triangle" w="med" len="lg"/>
          </a:ln>
        </p:spPr>
        <p:style>
          <a:lnRef idx="1">
            <a:schemeClr val="accent1"/>
          </a:lnRef>
          <a:fillRef idx="0">
            <a:schemeClr val="accent1"/>
          </a:fillRef>
          <a:effectRef idx="0">
            <a:schemeClr val="accent1"/>
          </a:effectRef>
          <a:fontRef idx="minor">
            <a:schemeClr val="tx1"/>
          </a:fontRef>
        </p:style>
      </p:cxnSp>
      <p:cxnSp>
        <p:nvCxnSpPr>
          <p:cNvPr id="40" name="plan-arrow-15">
            <a:extLst>
              <a:ext uri="{FF2B5EF4-FFF2-40B4-BE49-F238E27FC236}">
                <a16:creationId xmlns:a16="http://schemas.microsoft.com/office/drawing/2014/main" id="{1021F9D4-AB93-D498-11F4-770BB9E8E67B}"/>
              </a:ext>
            </a:extLst>
          </p:cNvPr>
          <p:cNvCxnSpPr/>
          <p:nvPr/>
        </p:nvCxnSpPr>
        <p:spPr>
          <a:xfrm>
            <a:off x="10520374" y="7204710"/>
            <a:ext cx="2892226" cy="0"/>
          </a:xfrm>
          <a:prstGeom prst="straightConnector1">
            <a:avLst/>
          </a:prstGeom>
          <a:ln w="22225" cap="rnd">
            <a:solidFill>
              <a:srgbClr val="000000"/>
            </a:solidFill>
            <a:prstDash val="sysDot"/>
            <a:tailEnd type="triangle" w="med" len="lg"/>
          </a:ln>
        </p:spPr>
        <p:style>
          <a:lnRef idx="1">
            <a:schemeClr val="accent1"/>
          </a:lnRef>
          <a:fillRef idx="0">
            <a:schemeClr val="accent1"/>
          </a:fillRef>
          <a:effectRef idx="0">
            <a:schemeClr val="accent1"/>
          </a:effectRef>
          <a:fontRef idx="minor">
            <a:schemeClr val="tx1"/>
          </a:fontRef>
        </p:style>
      </p:cxnSp>
      <p:cxnSp>
        <p:nvCxnSpPr>
          <p:cNvPr id="44" name="plan-arrow-16">
            <a:extLst>
              <a:ext uri="{FF2B5EF4-FFF2-40B4-BE49-F238E27FC236}">
                <a16:creationId xmlns:a16="http://schemas.microsoft.com/office/drawing/2014/main" id="{F18B322D-EDB1-86FE-71F0-E6EA23DE5EA1}"/>
              </a:ext>
            </a:extLst>
          </p:cNvPr>
          <p:cNvCxnSpPr/>
          <p:nvPr/>
        </p:nvCxnSpPr>
        <p:spPr>
          <a:xfrm>
            <a:off x="11968387" y="7547610"/>
            <a:ext cx="2168218" cy="0"/>
          </a:xfrm>
          <a:prstGeom prst="straightConnector1">
            <a:avLst/>
          </a:prstGeom>
          <a:ln w="22225" cap="rnd">
            <a:solidFill>
              <a:srgbClr val="000000"/>
            </a:solidFill>
            <a:prstDash val="sysDot"/>
            <a:tailEnd type="triangle" w="med" len="lg"/>
          </a:ln>
        </p:spPr>
        <p:style>
          <a:lnRef idx="1">
            <a:schemeClr val="accent1"/>
          </a:lnRef>
          <a:fillRef idx="0">
            <a:schemeClr val="accent1"/>
          </a:fillRef>
          <a:effectRef idx="0">
            <a:schemeClr val="accent1"/>
          </a:effectRef>
          <a:fontRef idx="minor">
            <a:schemeClr val="tx1"/>
          </a:fontRef>
        </p:style>
      </p:cxnSp>
      <p:cxnSp>
        <p:nvCxnSpPr>
          <p:cNvPr id="45" name="plan-arrow-17">
            <a:extLst>
              <a:ext uri="{FF2B5EF4-FFF2-40B4-BE49-F238E27FC236}">
                <a16:creationId xmlns:a16="http://schemas.microsoft.com/office/drawing/2014/main" id="{C6703A69-AB23-BC86-8386-DD945A32B7CA}"/>
              </a:ext>
            </a:extLst>
          </p:cNvPr>
          <p:cNvCxnSpPr/>
          <p:nvPr/>
        </p:nvCxnSpPr>
        <p:spPr>
          <a:xfrm>
            <a:off x="11968387" y="7860030"/>
            <a:ext cx="720206" cy="0"/>
          </a:xfrm>
          <a:prstGeom prst="straightConnector1">
            <a:avLst/>
          </a:prstGeom>
          <a:ln w="22225" cap="rnd">
            <a:solidFill>
              <a:srgbClr val="000000"/>
            </a:solidFill>
            <a:prstDash val="sysDot"/>
            <a:tailEnd type="triangle" w="med" len="lg"/>
          </a:ln>
        </p:spPr>
        <p:style>
          <a:lnRef idx="1">
            <a:schemeClr val="accent1"/>
          </a:lnRef>
          <a:fillRef idx="0">
            <a:schemeClr val="accent1"/>
          </a:fillRef>
          <a:effectRef idx="0">
            <a:schemeClr val="accent1"/>
          </a:effectRef>
          <a:fontRef idx="minor">
            <a:schemeClr val="tx1"/>
          </a:fontRef>
        </p:style>
      </p:cxnSp>
      <p:cxnSp>
        <p:nvCxnSpPr>
          <p:cNvPr id="46" name="plan-arrow-18">
            <a:extLst>
              <a:ext uri="{FF2B5EF4-FFF2-40B4-BE49-F238E27FC236}">
                <a16:creationId xmlns:a16="http://schemas.microsoft.com/office/drawing/2014/main" id="{10F5EE80-5092-7309-7580-4E2A74A2744A}"/>
              </a:ext>
            </a:extLst>
          </p:cNvPr>
          <p:cNvCxnSpPr/>
          <p:nvPr/>
        </p:nvCxnSpPr>
        <p:spPr>
          <a:xfrm>
            <a:off x="11968387" y="8172450"/>
            <a:ext cx="1444213" cy="0"/>
          </a:xfrm>
          <a:prstGeom prst="straightConnector1">
            <a:avLst/>
          </a:prstGeom>
          <a:ln w="22225" cap="rnd">
            <a:solidFill>
              <a:srgbClr val="000000"/>
            </a:solidFill>
            <a:prstDash val="sysDot"/>
            <a:tailEnd type="triangle" w="med" len="lg"/>
          </a:ln>
        </p:spPr>
        <p:style>
          <a:lnRef idx="1">
            <a:schemeClr val="accent1"/>
          </a:lnRef>
          <a:fillRef idx="0">
            <a:schemeClr val="accent1"/>
          </a:fillRef>
          <a:effectRef idx="0">
            <a:schemeClr val="accent1"/>
          </a:effectRef>
          <a:fontRef idx="minor">
            <a:schemeClr val="tx1"/>
          </a:fontRef>
        </p:style>
      </p:cxnSp>
      <p:cxnSp>
        <p:nvCxnSpPr>
          <p:cNvPr id="47" name="plan-arrow-19">
            <a:extLst>
              <a:ext uri="{FF2B5EF4-FFF2-40B4-BE49-F238E27FC236}">
                <a16:creationId xmlns:a16="http://schemas.microsoft.com/office/drawing/2014/main" id="{7037AA76-0320-59A7-B7F1-CFD4FF69FE3E}"/>
              </a:ext>
            </a:extLst>
          </p:cNvPr>
          <p:cNvCxnSpPr/>
          <p:nvPr/>
        </p:nvCxnSpPr>
        <p:spPr>
          <a:xfrm>
            <a:off x="12764793" y="8484870"/>
            <a:ext cx="1371812" cy="0"/>
          </a:xfrm>
          <a:prstGeom prst="straightConnector1">
            <a:avLst/>
          </a:prstGeom>
          <a:ln w="22225" cap="rnd">
            <a:solidFill>
              <a:srgbClr val="000000"/>
            </a:solidFill>
            <a:prstDash val="sysDot"/>
            <a:tailEnd type="triangle" w="med" len="lg"/>
          </a:ln>
        </p:spPr>
        <p:style>
          <a:lnRef idx="1">
            <a:schemeClr val="accent1"/>
          </a:lnRef>
          <a:fillRef idx="0">
            <a:schemeClr val="accent1"/>
          </a:fillRef>
          <a:effectRef idx="0">
            <a:schemeClr val="accent1"/>
          </a:effectRef>
          <a:fontRef idx="minor">
            <a:schemeClr val="tx1"/>
          </a:fontRef>
        </p:style>
      </p:cxnSp>
      <p:cxnSp>
        <p:nvCxnSpPr>
          <p:cNvPr id="48" name="plan-arrow-20">
            <a:extLst>
              <a:ext uri="{FF2B5EF4-FFF2-40B4-BE49-F238E27FC236}">
                <a16:creationId xmlns:a16="http://schemas.microsoft.com/office/drawing/2014/main" id="{10F2E02C-3EE2-6701-3246-E5E9E681642D}"/>
              </a:ext>
            </a:extLst>
          </p:cNvPr>
          <p:cNvCxnSpPr/>
          <p:nvPr/>
        </p:nvCxnSpPr>
        <p:spPr>
          <a:xfrm>
            <a:off x="12764793" y="8797290"/>
            <a:ext cx="1371812" cy="0"/>
          </a:xfrm>
          <a:prstGeom prst="straightConnector1">
            <a:avLst/>
          </a:prstGeom>
          <a:ln w="22225" cap="rnd">
            <a:solidFill>
              <a:srgbClr val="000000"/>
            </a:solidFill>
            <a:prstDash val="sysDot"/>
            <a:tailEnd type="triangle" w="med" len="lg"/>
          </a:ln>
        </p:spPr>
        <p:style>
          <a:lnRef idx="1">
            <a:schemeClr val="accent1"/>
          </a:lnRef>
          <a:fillRef idx="0">
            <a:schemeClr val="accent1"/>
          </a:fillRef>
          <a:effectRef idx="0">
            <a:schemeClr val="accent1"/>
          </a:effectRef>
          <a:fontRef idx="minor">
            <a:schemeClr val="tx1"/>
          </a:fontRef>
        </p:style>
      </p:cxnSp>
      <p:cxnSp>
        <p:nvCxnSpPr>
          <p:cNvPr id="49" name="plan-arrow-21">
            <a:extLst>
              <a:ext uri="{FF2B5EF4-FFF2-40B4-BE49-F238E27FC236}">
                <a16:creationId xmlns:a16="http://schemas.microsoft.com/office/drawing/2014/main" id="{EB17920D-490A-F3BD-3D84-46A4CD54DA34}"/>
              </a:ext>
            </a:extLst>
          </p:cNvPr>
          <p:cNvCxnSpPr/>
          <p:nvPr/>
        </p:nvCxnSpPr>
        <p:spPr>
          <a:xfrm>
            <a:off x="14212805" y="9109710"/>
            <a:ext cx="1661414" cy="0"/>
          </a:xfrm>
          <a:prstGeom prst="straightConnector1">
            <a:avLst/>
          </a:prstGeom>
          <a:ln w="22225" cap="rnd">
            <a:solidFill>
              <a:srgbClr val="000000"/>
            </a:solidFill>
            <a:prstDash val="sysDot"/>
            <a:tailEnd type="triangle" w="med" len="lg"/>
          </a:ln>
        </p:spPr>
        <p:style>
          <a:lnRef idx="1">
            <a:schemeClr val="accent1"/>
          </a:lnRef>
          <a:fillRef idx="0">
            <a:schemeClr val="accent1"/>
          </a:fillRef>
          <a:effectRef idx="0">
            <a:schemeClr val="accent1"/>
          </a:effectRef>
          <a:fontRef idx="minor">
            <a:schemeClr val="tx1"/>
          </a:fontRef>
        </p:style>
      </p:cxnSp>
      <p:cxnSp>
        <p:nvCxnSpPr>
          <p:cNvPr id="54" name="plan-arrow-22">
            <a:extLst>
              <a:ext uri="{FF2B5EF4-FFF2-40B4-BE49-F238E27FC236}">
                <a16:creationId xmlns:a16="http://schemas.microsoft.com/office/drawing/2014/main" id="{A41BE061-8619-4A7B-23DA-7D7DA3F3E895}"/>
              </a:ext>
            </a:extLst>
          </p:cNvPr>
          <p:cNvCxnSpPr/>
          <p:nvPr/>
        </p:nvCxnSpPr>
        <p:spPr>
          <a:xfrm>
            <a:off x="5009392" y="9390888"/>
            <a:ext cx="10864827" cy="0"/>
          </a:xfrm>
          <a:prstGeom prst="straightConnector1">
            <a:avLst/>
          </a:prstGeom>
          <a:ln w="22225" cap="rnd">
            <a:solidFill>
              <a:srgbClr val="000000"/>
            </a:solidFill>
            <a:prstDash val="sysDot"/>
            <a:tailEnd type="triangle" w="med" len="lg"/>
          </a:ln>
        </p:spPr>
        <p:style>
          <a:lnRef idx="1">
            <a:schemeClr val="accent1"/>
          </a:lnRef>
          <a:fillRef idx="0">
            <a:schemeClr val="accent1"/>
          </a:fillRef>
          <a:effectRef idx="0">
            <a:schemeClr val="accent1"/>
          </a:effectRef>
          <a:fontRef idx="minor">
            <a:schemeClr val="tx1"/>
          </a:fontRef>
        </p:style>
      </p:cxnSp>
      <p:cxnSp>
        <p:nvCxnSpPr>
          <p:cNvPr id="55" name="actual-arrow-22">
            <a:extLst>
              <a:ext uri="{FF2B5EF4-FFF2-40B4-BE49-F238E27FC236}">
                <a16:creationId xmlns:a16="http://schemas.microsoft.com/office/drawing/2014/main" id="{EB194E3A-0C0E-1FF7-FA7C-5EAC08144C46}"/>
              </a:ext>
            </a:extLst>
          </p:cNvPr>
          <p:cNvCxnSpPr>
            <a:cxnSpLocks/>
          </p:cNvCxnSpPr>
          <p:nvPr/>
        </p:nvCxnSpPr>
        <p:spPr>
          <a:xfrm>
            <a:off x="4971292" y="9490863"/>
            <a:ext cx="2715383" cy="0"/>
          </a:xfrm>
          <a:prstGeom prst="straightConnector1">
            <a:avLst/>
          </a:prstGeom>
          <a:ln w="31750">
            <a:solidFill>
              <a:srgbClr val="363A52"/>
            </a:solidFill>
            <a:prstDash val="solid"/>
            <a:tailEnd type="triangle" w="med"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593494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84" name="Picture 2"/>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700" y="-12700"/>
            <a:ext cx="18313400" cy="1638300"/>
          </a:xfrm>
          <a:prstGeom prst="rect">
            <a:avLst/>
          </a:prstGeom>
        </p:spPr>
      </p:pic>
      <p:pic>
        <p:nvPicPr>
          <p:cNvPr id="5085" name="Picture 4"/>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28" y="1618343"/>
            <a:ext cx="18313400" cy="8699500"/>
          </a:xfrm>
          <a:prstGeom prst="rect">
            <a:avLst/>
          </a:prstGeom>
        </p:spPr>
      </p:pic>
      <p:pic>
        <p:nvPicPr>
          <p:cNvPr id="5086" name="Picture 5"/>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58800" y="9271000"/>
            <a:ext cx="17170400" cy="50800"/>
          </a:xfrm>
          <a:prstGeom prst="rect">
            <a:avLst/>
          </a:prstGeom>
        </p:spPr>
      </p:pic>
      <p:pic>
        <p:nvPicPr>
          <p:cNvPr id="5087" name="Picture 3"/>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5278100" y="203200"/>
            <a:ext cx="1676400" cy="1409700"/>
          </a:xfrm>
          <a:prstGeom prst="rect">
            <a:avLst/>
          </a:prstGeom>
        </p:spPr>
      </p:pic>
      <p:sp>
        <p:nvSpPr>
          <p:cNvPr id="5077" name="Title">
            <a:extLst>
              <a:ext uri="{FF2B5EF4-FFF2-40B4-BE49-F238E27FC236}">
                <a16:creationId xmlns:a16="http://schemas.microsoft.com/office/drawing/2014/main" id="{2ABF8791-8379-4FAC-BB1A-7EA32566828F}"/>
              </a:ext>
            </a:extLst>
          </p:cNvPr>
          <p:cNvSpPr>
            <a:spLocks noGrp="1"/>
          </p:cNvSpPr>
          <p:nvPr/>
        </p:nvSpPr>
        <p:spPr>
          <a:xfrm>
            <a:off x="822960" y="384048"/>
            <a:ext cx="13258800" cy="877824"/>
          </a:xfrm>
          <a:prstGeom prst="rect">
            <a:avLst/>
          </a:prstGeom>
          <a:noFill/>
        </p:spPr>
        <p:txBody>
          <a:bodyPr wrap="square" lIns="0" tIns="0" rIns="0" bIns="0" anchor="ctr">
            <a:spAutoFit/>
          </a:bodyPr>
          <a:lstStyle/>
          <a:p>
            <a:pPr algn="l">
              <a:buNone/>
            </a:pPr>
            <a:r>
              <a:rPr sz="4400" b="0">
                <a:solidFill>
                  <a:srgbClr val="FAA95A"/>
                </a:solidFill>
                <a:latin typeface="210 OmniGothic 050"/>
                <a:ea typeface="210 OmniGothic 050"/>
                <a:cs typeface="210 OmniGothic 050"/>
              </a:rPr>
              <a:t>02. 시스템 기술서</a:t>
            </a:r>
          </a:p>
        </p:txBody>
      </p:sp>
      <p:sp>
        <p:nvSpPr>
          <p:cNvPr id="5078" name="Subtitle">
            <a:extLst>
              <a:ext uri="{FF2B5EF4-FFF2-40B4-BE49-F238E27FC236}">
                <a16:creationId xmlns:a16="http://schemas.microsoft.com/office/drawing/2014/main" id="{E69BECA1-FED7-44C7-B939-6E122779D648}"/>
              </a:ext>
            </a:extLst>
          </p:cNvPr>
          <p:cNvSpPr>
            <a:spLocks noGrp="1"/>
          </p:cNvSpPr>
          <p:nvPr/>
        </p:nvSpPr>
        <p:spPr>
          <a:xfrm>
            <a:off x="822960" y="1764792"/>
            <a:ext cx="16642080" cy="502920"/>
          </a:xfrm>
          <a:prstGeom prst="rect">
            <a:avLst/>
          </a:prstGeom>
          <a:noFill/>
        </p:spPr>
        <p:txBody>
          <a:bodyPr wrap="square" lIns="0" tIns="0" rIns="0" bIns="0" anchor="ctr">
            <a:spAutoFit/>
          </a:bodyPr>
          <a:lstStyle/>
          <a:p>
            <a:pPr algn="ctr">
              <a:buNone/>
            </a:pPr>
            <a:r>
              <a:rPr sz="2600" b="1">
                <a:solidFill>
                  <a:srgbClr val="363A52"/>
                </a:solidFill>
                <a:latin typeface="210 OmniGothic 040"/>
                <a:ea typeface="210 OmniGothic 040"/>
                <a:cs typeface="210 OmniGothic 040"/>
              </a:rPr>
              <a:t>절차 기술</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idx="12"/>
          </p:nvPr>
        </p:nvSpPr>
        <p:spPr/>
        <p:txBody>
          <a:bodyPr/>
          <a:lstStyle/>
          <a:p>
            <a:fld id="{B6F15528-21DE-4FAA-801E-634DDDAF4B2B}" type="slidenum">
              <a:rPr/>
              <a:t>10</a:t>
            </a:fld>
            <a:endParaRPr/>
          </a:p>
        </p:txBody>
      </p:sp>
      <p:sp>
        <p:nvSpPr>
          <p:cNvPr id="5079" name="TextBox 5078">
            <a:extLst>
              <a:ext uri="{FF2B5EF4-FFF2-40B4-BE49-F238E27FC236}">
                <a16:creationId xmlns:a16="http://schemas.microsoft.com/office/drawing/2014/main" id="{8F487A9A-FEB6-4851-9D13-D156EE753887}"/>
              </a:ext>
            </a:extLst>
          </p:cNvPr>
          <p:cNvSpPr>
            <a:spLocks noGrp="1"/>
          </p:cNvSpPr>
          <p:nvPr/>
        </p:nvSpPr>
        <p:spPr>
          <a:xfrm>
            <a:off x="902969" y="2395728"/>
            <a:ext cx="16344900" cy="6789420"/>
          </a:xfrm>
          <a:prstGeom prst="rect">
            <a:avLst/>
          </a:prstGeom>
          <a:noFill/>
        </p:spPr>
        <p:txBody>
          <a:bodyPr wrap="square" lIns="0" tIns="0" rIns="0" bIns="0" anchor="t">
            <a:spAutoFit/>
          </a:bodyPr>
          <a:lstStyle/>
          <a:p>
            <a:pPr algn="l">
              <a:lnSpc>
                <a:spcPct val="120000"/>
              </a:lnSpc>
              <a:spcAft>
                <a:spcPts val="919"/>
              </a:spcAft>
              <a:buNone/>
            </a:pPr>
            <a:r>
              <a:rPr sz="1550" b="0" dirty="0">
                <a:solidFill>
                  <a:srgbClr val="363A52"/>
                </a:solidFill>
                <a:latin typeface="210 OmniGothic 030"/>
                <a:ea typeface="210 OmniGothic 030"/>
                <a:cs typeface="210 OmniGothic 030"/>
              </a:rPr>
              <a:t>본 </a:t>
            </a:r>
            <a:r>
              <a:rPr sz="1550" b="0" dirty="0" err="1">
                <a:solidFill>
                  <a:srgbClr val="363A52"/>
                </a:solidFill>
                <a:latin typeface="210 OmniGothic 030"/>
                <a:ea typeface="210 OmniGothic 030"/>
                <a:cs typeface="210 OmniGothic 030"/>
              </a:rPr>
              <a:t>시스템은</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산불</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확산</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예측</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결과를</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산불</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재난</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위기관리</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표준매뉴얼</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근거와</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연결해</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산불현장</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통합지휘권자에게</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지금</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해야</a:t>
            </a:r>
            <a:r>
              <a:rPr sz="1550" b="0" dirty="0">
                <a:solidFill>
                  <a:srgbClr val="363A52"/>
                </a:solidFill>
                <a:latin typeface="210 OmniGothic 030"/>
                <a:ea typeface="210 OmniGothic 030"/>
                <a:cs typeface="210 OmniGothic 030"/>
              </a:rPr>
              <a:t> 할 </a:t>
            </a:r>
            <a:r>
              <a:rPr sz="1550" b="0" dirty="0" err="1">
                <a:solidFill>
                  <a:srgbClr val="363A52"/>
                </a:solidFill>
                <a:latin typeface="210 OmniGothic 030"/>
                <a:ea typeface="210 OmniGothic 030"/>
                <a:cs typeface="210 OmniGothic 030"/>
              </a:rPr>
              <a:t>진화·대피</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조치를</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제안하는</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의사결정</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지원</a:t>
            </a:r>
            <a:r>
              <a:rPr sz="1550" b="0" dirty="0">
                <a:solidFill>
                  <a:srgbClr val="363A52"/>
                </a:solidFill>
                <a:latin typeface="210 OmniGothic 030"/>
                <a:ea typeface="210 OmniGothic 030"/>
                <a:cs typeface="210 OmniGothic 030"/>
              </a:rPr>
              <a:t> 웹 </a:t>
            </a:r>
            <a:r>
              <a:rPr sz="1550" b="0" dirty="0" err="1">
                <a:solidFill>
                  <a:srgbClr val="363A52"/>
                </a:solidFill>
                <a:latin typeface="210 OmniGothic 030"/>
                <a:ea typeface="210 OmniGothic 030"/>
                <a:cs typeface="210 OmniGothic 030"/>
              </a:rPr>
              <a:t>시스템이다</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최근</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산불은</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발생</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건수가</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줄어도</a:t>
            </a:r>
            <a:r>
              <a:rPr sz="1550" b="0" dirty="0">
                <a:solidFill>
                  <a:srgbClr val="363A52"/>
                </a:solidFill>
                <a:latin typeface="210 OmniGothic 030"/>
                <a:ea typeface="210 OmniGothic 030"/>
                <a:cs typeface="210 OmniGothic 030"/>
              </a:rPr>
              <a:t> 한 </a:t>
            </a:r>
            <a:r>
              <a:rPr sz="1550" b="0" dirty="0" err="1">
                <a:solidFill>
                  <a:srgbClr val="363A52"/>
                </a:solidFill>
                <a:latin typeface="210 OmniGothic 030"/>
                <a:ea typeface="210 OmniGothic 030"/>
                <a:cs typeface="210 OmniGothic 030"/>
              </a:rPr>
              <a:t>번의</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피해가</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커지고</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있으나</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기존</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국가</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시스템은</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확산</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예측과</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위험도를</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제공할</a:t>
            </a:r>
            <a:r>
              <a:rPr sz="1550" b="0" dirty="0">
                <a:solidFill>
                  <a:srgbClr val="363A52"/>
                </a:solidFill>
                <a:latin typeface="210 OmniGothic 030"/>
                <a:ea typeface="210 OmniGothic 030"/>
                <a:cs typeface="210 OmniGothic 030"/>
              </a:rPr>
              <a:t> 뿐 그 </a:t>
            </a:r>
            <a:r>
              <a:rPr sz="1550" b="0" dirty="0" err="1">
                <a:solidFill>
                  <a:srgbClr val="363A52"/>
                </a:solidFill>
                <a:latin typeface="210 OmniGothic 030"/>
                <a:ea typeface="210 OmniGothic 030"/>
                <a:cs typeface="210 OmniGothic 030"/>
              </a:rPr>
              <a:t>결과를</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어떤</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대응</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행동으로</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옮길지는</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소수</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인력이</a:t>
            </a:r>
            <a:r>
              <a:rPr sz="1550" b="0" dirty="0">
                <a:solidFill>
                  <a:srgbClr val="363A52"/>
                </a:solidFill>
                <a:latin typeface="210 OmniGothic 030"/>
                <a:ea typeface="210 OmniGothic 030"/>
                <a:cs typeface="210 OmniGothic 030"/>
              </a:rPr>
              <a:t> 119쪽 </a:t>
            </a:r>
            <a:r>
              <a:rPr sz="1550" b="0" dirty="0" err="1">
                <a:solidFill>
                  <a:srgbClr val="363A52"/>
                </a:solidFill>
                <a:latin typeface="210 OmniGothic 030"/>
                <a:ea typeface="210 OmniGothic 030"/>
                <a:cs typeface="210 OmniGothic 030"/>
              </a:rPr>
              <a:t>분량의</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매뉴얼을</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찾아</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가며</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수작업으로</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판단하고</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있다</a:t>
            </a:r>
            <a:r>
              <a:rPr sz="1550" b="0" dirty="0">
                <a:solidFill>
                  <a:srgbClr val="363A52"/>
                </a:solidFill>
                <a:latin typeface="210 OmniGothic 030"/>
                <a:ea typeface="210 OmniGothic 030"/>
                <a:cs typeface="210 OmniGothic 030"/>
              </a:rPr>
              <a:t>.</a:t>
            </a:r>
          </a:p>
          <a:p>
            <a:pPr algn="l">
              <a:lnSpc>
                <a:spcPct val="120000"/>
              </a:lnSpc>
              <a:spcAft>
                <a:spcPts val="919"/>
              </a:spcAft>
              <a:buNone/>
            </a:pPr>
            <a:r>
              <a:rPr sz="1550" b="0" dirty="0" err="1">
                <a:solidFill>
                  <a:srgbClr val="363A52"/>
                </a:solidFill>
                <a:latin typeface="210 OmniGothic 030"/>
                <a:ea typeface="210 OmniGothic 030"/>
                <a:cs typeface="210 OmniGothic 030"/>
              </a:rPr>
              <a:t>이를</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해결하기</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위해</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시스템은</a:t>
            </a:r>
            <a:r>
              <a:rPr sz="1550" b="0" dirty="0">
                <a:solidFill>
                  <a:srgbClr val="363A52"/>
                </a:solidFill>
                <a:latin typeface="210 OmniGothic 030"/>
                <a:ea typeface="210 OmniGothic 030"/>
                <a:cs typeface="210 OmniGothic 030"/>
              </a:rPr>
              <a:t> ① </a:t>
            </a:r>
            <a:r>
              <a:rPr sz="1550" b="0" dirty="0" err="1">
                <a:solidFill>
                  <a:srgbClr val="363A52"/>
                </a:solidFill>
                <a:latin typeface="210 OmniGothic 030"/>
                <a:ea typeface="210 OmniGothic 030"/>
                <a:cs typeface="210 OmniGothic 030"/>
              </a:rPr>
              <a:t>현장에서</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입력된</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발화</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정보·실측</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화선과</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기상으로</a:t>
            </a:r>
            <a:r>
              <a:rPr sz="1550" b="0" dirty="0">
                <a:solidFill>
                  <a:srgbClr val="363A52"/>
                </a:solidFill>
                <a:latin typeface="210 OmniGothic 030"/>
                <a:ea typeface="210 OmniGothic 030"/>
                <a:cs typeface="210 OmniGothic 030"/>
              </a:rPr>
              <a:t> 1시간 </a:t>
            </a:r>
            <a:r>
              <a:rPr sz="1550" b="0" dirty="0" err="1">
                <a:solidFill>
                  <a:srgbClr val="363A52"/>
                </a:solidFill>
                <a:latin typeface="210 OmniGothic 030"/>
                <a:ea typeface="210 OmniGothic 030"/>
                <a:cs typeface="210 OmniGothic 030"/>
              </a:rPr>
              <a:t>간격</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확산</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범위를</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예측하고</a:t>
            </a:r>
            <a:r>
              <a:rPr sz="1550" b="0" dirty="0">
                <a:solidFill>
                  <a:srgbClr val="363A52"/>
                </a:solidFill>
                <a:latin typeface="210 OmniGothic 030"/>
                <a:ea typeface="210 OmniGothic 030"/>
                <a:cs typeface="210 OmniGothic 030"/>
              </a:rPr>
              <a:t>, ② </a:t>
            </a:r>
            <a:r>
              <a:rPr sz="1550" b="0" dirty="0" err="1">
                <a:solidFill>
                  <a:srgbClr val="363A52"/>
                </a:solidFill>
                <a:latin typeface="210 OmniGothic 030"/>
                <a:ea typeface="210 OmniGothic 030"/>
                <a:cs typeface="210 OmniGothic 030"/>
              </a:rPr>
              <a:t>규칙</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엔진이</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예측</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결과로</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대응단계·위험구역·대피소</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배정</a:t>
            </a:r>
            <a:r>
              <a:rPr sz="1550" b="0" dirty="0">
                <a:solidFill>
                  <a:srgbClr val="363A52"/>
                </a:solidFill>
                <a:latin typeface="210 OmniGothic 030"/>
                <a:ea typeface="210 OmniGothic 030"/>
                <a:cs typeface="210 OmniGothic 030"/>
              </a:rPr>
              <a:t>처럼 근거 문서에 경계값·수치가 있는 판정 값을 계산한 뒤, ③ 국내 LLM(EXAONE 4.0 32B)이 그 판정 값과 상황 데이터를 넘겨받아 진화 7개(S1~S7)·대피 7개(E1~E7) 항목의 대응을 판단해 제안 문장을 만들고 RAG로 검색한 매뉴얼 근거를 인용하며, ④ 통합지휘권</a:t>
            </a:r>
            <a:r>
              <a:rPr sz="1550" b="0" dirty="0" err="1">
                <a:solidFill>
                  <a:srgbClr val="363A52"/>
                </a:solidFill>
                <a:latin typeface="210 OmniGothic 030"/>
                <a:ea typeface="210 OmniGothic 030"/>
                <a:cs typeface="210 OmniGothic 030"/>
              </a:rPr>
              <a:t>자가</a:t>
            </a:r>
            <a:r>
              <a:rPr sz="1550" b="0" dirty="0">
                <a:solidFill>
                  <a:srgbClr val="363A52"/>
                </a:solidFill>
                <a:latin typeface="210 OmniGothic 030"/>
                <a:ea typeface="210 OmniGothic 030"/>
                <a:cs typeface="210 OmniGothic 030"/>
              </a:rPr>
              <a:t> AI </a:t>
            </a:r>
            <a:r>
              <a:rPr sz="1550" b="0" dirty="0" err="1">
                <a:solidFill>
                  <a:srgbClr val="363A52"/>
                </a:solidFill>
                <a:latin typeface="210 OmniGothic 030"/>
                <a:ea typeface="210 OmniGothic 030"/>
                <a:cs typeface="210 OmniGothic 030"/>
              </a:rPr>
              <a:t>어시스턴트로</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제안</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이유와</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근거를</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묻거나</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대피</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완료</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같은</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상황</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변화를</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알려</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제안을</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다시</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받게</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한다</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경계값이 있는 수치 판정은 규칙이 맡고 LLM은 그 값을 바꾸지 못하며, 제안 문장마다 근거를 붙여 근거 없는 판단을</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만들지</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않도록</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한다</a:t>
            </a:r>
            <a:r>
              <a:rPr sz="1550" b="0" dirty="0">
                <a:solidFill>
                  <a:srgbClr val="363A52"/>
                </a:solidFill>
                <a:latin typeface="210 OmniGothic 030"/>
                <a:ea typeface="210 OmniGothic 030"/>
                <a:cs typeface="210 OmniGothic 030"/>
              </a:rPr>
              <a:t>.</a:t>
            </a:r>
          </a:p>
          <a:p>
            <a:pPr algn="l">
              <a:lnSpc>
                <a:spcPct val="120000"/>
              </a:lnSpc>
              <a:spcAft>
                <a:spcPts val="919"/>
              </a:spcAft>
              <a:buNone/>
            </a:pPr>
            <a:r>
              <a:rPr sz="1550" b="0" dirty="0" err="1">
                <a:solidFill>
                  <a:srgbClr val="363A52"/>
                </a:solidFill>
                <a:latin typeface="210 OmniGothic 030"/>
                <a:ea typeface="210 OmniGothic 030"/>
                <a:cs typeface="210 OmniGothic 030"/>
              </a:rPr>
              <a:t>사용자는</a:t>
            </a:r>
            <a:r>
              <a:rPr sz="1550" b="0" dirty="0">
                <a:solidFill>
                  <a:srgbClr val="363A52"/>
                </a:solidFill>
                <a:latin typeface="210 OmniGothic 030"/>
                <a:ea typeface="210 OmniGothic 030"/>
                <a:cs typeface="210 OmniGothic 030"/>
              </a:rPr>
              <a:t> 네 </a:t>
            </a:r>
            <a:r>
              <a:rPr sz="1550" b="0" dirty="0" err="1">
                <a:solidFill>
                  <a:srgbClr val="363A52"/>
                </a:solidFill>
                <a:latin typeface="210 OmniGothic 030"/>
                <a:ea typeface="210 OmniGothic 030"/>
                <a:cs typeface="210 OmniGothic 030"/>
              </a:rPr>
              <a:t>가지</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권한으로</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나뉜다</a:t>
            </a:r>
            <a:r>
              <a:rPr sz="1550" b="0" dirty="0">
                <a:solidFill>
                  <a:srgbClr val="363A52"/>
                </a:solidFill>
                <a:latin typeface="210 OmniGothic 030"/>
                <a:ea typeface="210 OmniGothic 030"/>
                <a:cs typeface="210 OmniGothic 030"/>
              </a:rPr>
              <a:t>. </a:t>
            </a:r>
            <a:r>
              <a:rPr sz="1550" b="1" dirty="0" err="1">
                <a:solidFill>
                  <a:srgbClr val="FAA95A"/>
                </a:solidFill>
                <a:latin typeface="210 OmniGothic 030"/>
                <a:ea typeface="210 OmniGothic 030"/>
                <a:cs typeface="210 OmniGothic 030"/>
              </a:rPr>
              <a:t>통합지휘권자</a:t>
            </a:r>
            <a:r>
              <a:rPr sz="1550" b="0" dirty="0" err="1">
                <a:solidFill>
                  <a:srgbClr val="363A52"/>
                </a:solidFill>
                <a:latin typeface="210 OmniGothic 030"/>
                <a:ea typeface="210 OmniGothic 030"/>
                <a:cs typeface="210 OmniGothic 030"/>
              </a:rPr>
              <a:t>는</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초기대응·확산대응</a:t>
            </a:r>
            <a:r>
              <a:rPr sz="1550" b="0" dirty="0">
                <a:solidFill>
                  <a:srgbClr val="363A52"/>
                </a:solidFill>
                <a:latin typeface="210 OmniGothic 030"/>
                <a:ea typeface="210 OmniGothic 030"/>
                <a:cs typeface="210 OmniGothic 030"/>
              </a:rPr>
              <a:t> 1단계에서 </a:t>
            </a:r>
            <a:r>
              <a:rPr sz="1550" b="0" dirty="0" err="1">
                <a:solidFill>
                  <a:srgbClr val="363A52"/>
                </a:solidFill>
                <a:latin typeface="210 OmniGothic 030"/>
                <a:ea typeface="210 OmniGothic 030"/>
                <a:cs typeface="210 OmniGothic 030"/>
              </a:rPr>
              <a:t>통합지휘본부장이자</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주민대피</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명령권자인</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시장·군수·구청장이다</a:t>
            </a:r>
            <a:r>
              <a:rPr sz="1550" b="0" dirty="0">
                <a:solidFill>
                  <a:srgbClr val="363A52"/>
                </a:solidFill>
                <a:latin typeface="210 OmniGothic 030"/>
                <a:ea typeface="210 OmniGothic 030"/>
                <a:cs typeface="210 OmniGothic 030"/>
              </a:rPr>
              <a:t>(p.72, p.84). </a:t>
            </a:r>
            <a:r>
              <a:rPr sz="1550" b="0" dirty="0" err="1">
                <a:solidFill>
                  <a:srgbClr val="363A52"/>
                </a:solidFill>
                <a:latin typeface="210 OmniGothic 030"/>
                <a:ea typeface="210 OmniGothic 030"/>
                <a:cs typeface="210 OmniGothic 030"/>
              </a:rPr>
              <a:t>확산</a:t>
            </a:r>
            <a:r>
              <a:rPr sz="1550" b="0" dirty="0">
                <a:solidFill>
                  <a:srgbClr val="363A52"/>
                </a:solidFill>
                <a:latin typeface="210 OmniGothic 030"/>
                <a:ea typeface="210 OmniGothic 030"/>
                <a:cs typeface="210 OmniGothic 030"/>
              </a:rPr>
              <a:t>대응 2단계로 격상되면 지휘권 인계를 안내한다(S6). 확산 </a:t>
            </a:r>
            <a:r>
              <a:rPr sz="1550" b="0" dirty="0" err="1">
                <a:solidFill>
                  <a:srgbClr val="363A52"/>
                </a:solidFill>
                <a:latin typeface="210 OmniGothic 030"/>
                <a:ea typeface="210 OmniGothic 030"/>
                <a:cs typeface="210 OmniGothic 030"/>
              </a:rPr>
              <a:t>예측을</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실행해</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대응</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제안을</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만들고</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위험도와</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제안·근거를</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검토하며</a:t>
            </a:r>
            <a:r>
              <a:rPr sz="1550" b="0" dirty="0">
                <a:solidFill>
                  <a:srgbClr val="363A52"/>
                </a:solidFill>
                <a:latin typeface="210 OmniGothic 030"/>
                <a:ea typeface="210 OmniGothic 030"/>
                <a:cs typeface="210 OmniGothic 030"/>
              </a:rPr>
              <a:t>, AI </a:t>
            </a:r>
            <a:r>
              <a:rPr sz="1550" b="0" dirty="0" err="1">
                <a:solidFill>
                  <a:srgbClr val="363A52"/>
                </a:solidFill>
                <a:latin typeface="210 OmniGothic 030"/>
                <a:ea typeface="210 OmniGothic 030"/>
                <a:cs typeface="210 OmniGothic 030"/>
              </a:rPr>
              <a:t>어시스턴트에</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질문하거나</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상황을</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정정하고</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진화가</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끝나면</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발화</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종료</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처리를</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한다</a:t>
            </a:r>
            <a:r>
              <a:rPr sz="1550" b="0" dirty="0">
                <a:solidFill>
                  <a:srgbClr val="363A52"/>
                </a:solidFill>
                <a:latin typeface="210 OmniGothic 030"/>
                <a:ea typeface="210 OmniGothic 030"/>
                <a:cs typeface="210 OmniGothic 030"/>
              </a:rPr>
              <a:t>. </a:t>
            </a:r>
            <a:r>
              <a:rPr sz="1550" b="1" dirty="0" err="1">
                <a:solidFill>
                  <a:srgbClr val="FAA95A"/>
                </a:solidFill>
                <a:latin typeface="210 OmniGothic 030"/>
                <a:ea typeface="210 OmniGothic 030"/>
                <a:cs typeface="210 OmniGothic 030"/>
              </a:rPr>
              <a:t>열람자</a:t>
            </a:r>
            <a:r>
              <a:rPr sz="1550" b="0" dirty="0" err="1">
                <a:solidFill>
                  <a:srgbClr val="363A52"/>
                </a:solidFill>
                <a:latin typeface="210 OmniGothic 030"/>
                <a:ea typeface="210 OmniGothic 030"/>
                <a:cs typeface="210 OmniGothic 030"/>
              </a:rPr>
              <a:t>는</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유관기관·상급</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본부</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담당자로</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통합</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상황도와</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발생·접수 정보를</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보기만</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한다</a:t>
            </a:r>
            <a:r>
              <a:rPr sz="1550" b="0" dirty="0">
                <a:solidFill>
                  <a:srgbClr val="363A52"/>
                </a:solidFill>
                <a:latin typeface="210 OmniGothic 030"/>
                <a:ea typeface="210 OmniGothic 030"/>
                <a:cs typeface="210 OmniGothic 030"/>
              </a:rPr>
              <a:t>. </a:t>
            </a:r>
            <a:r>
              <a:rPr sz="1550" b="1" dirty="0" err="1">
                <a:solidFill>
                  <a:srgbClr val="FAA95A"/>
                </a:solidFill>
                <a:latin typeface="210 OmniGothic 030"/>
                <a:ea typeface="210 OmniGothic 030"/>
                <a:cs typeface="210 OmniGothic 030"/>
              </a:rPr>
              <a:t>상황</a:t>
            </a:r>
            <a:r>
              <a:rPr sz="1550" b="1" dirty="0">
                <a:solidFill>
                  <a:srgbClr val="FAA95A"/>
                </a:solidFill>
                <a:latin typeface="210 OmniGothic 030"/>
                <a:ea typeface="210 OmniGothic 030"/>
                <a:cs typeface="210 OmniGothic 030"/>
              </a:rPr>
              <a:t> </a:t>
            </a:r>
            <a:r>
              <a:rPr sz="1550" b="1" dirty="0" err="1">
                <a:solidFill>
                  <a:srgbClr val="FAA95A"/>
                </a:solidFill>
                <a:latin typeface="210 OmniGothic 030"/>
                <a:ea typeface="210 OmniGothic 030"/>
                <a:cs typeface="210 OmniGothic 030"/>
              </a:rPr>
              <a:t>보고자</a:t>
            </a:r>
            <a:r>
              <a:rPr sz="1550" b="0" dirty="0" err="1">
                <a:solidFill>
                  <a:srgbClr val="363A52"/>
                </a:solidFill>
                <a:latin typeface="210 OmniGothic 030"/>
                <a:ea typeface="210 OmniGothic 030"/>
                <a:cs typeface="210 OmniGothic 030"/>
              </a:rPr>
              <a:t>는</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초기</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발화</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위치·일시와</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진행</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중인</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실측</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화선을</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폴리곤으로</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입력하고</a:t>
            </a:r>
            <a:r>
              <a:rPr sz="1550" b="0" dirty="0">
                <a:solidFill>
                  <a:srgbClr val="363A52"/>
                </a:solidFill>
                <a:latin typeface="210 OmniGothic 030"/>
                <a:ea typeface="210 OmniGothic 030"/>
                <a:cs typeface="210 OmniGothic 030"/>
              </a:rPr>
              <a:t>, </a:t>
            </a:r>
            <a:r>
              <a:rPr sz="1550" b="1" dirty="0" err="1">
                <a:solidFill>
                  <a:srgbClr val="FAA95A"/>
                </a:solidFill>
                <a:latin typeface="210 OmniGothic 030"/>
                <a:ea typeface="210 OmniGothic 030"/>
                <a:cs typeface="210 OmniGothic 030"/>
              </a:rPr>
              <a:t>전산</a:t>
            </a:r>
            <a:r>
              <a:rPr sz="1550" b="1" dirty="0">
                <a:solidFill>
                  <a:srgbClr val="FAA95A"/>
                </a:solidFill>
                <a:latin typeface="210 OmniGothic 030"/>
                <a:ea typeface="210 OmniGothic 030"/>
                <a:cs typeface="210 OmniGothic 030"/>
              </a:rPr>
              <a:t> </a:t>
            </a:r>
            <a:r>
              <a:rPr sz="1550" b="1" dirty="0" err="1">
                <a:solidFill>
                  <a:srgbClr val="FAA95A"/>
                </a:solidFill>
                <a:latin typeface="210 OmniGothic 030"/>
                <a:ea typeface="210 OmniGothic 030"/>
                <a:cs typeface="210 OmniGothic 030"/>
              </a:rPr>
              <a:t>관리자는</a:t>
            </a:r>
            <a:r>
              <a:rPr sz="1550" b="1" dirty="0">
                <a:solidFill>
                  <a:srgbClr val="FAA95A"/>
                </a:solidFill>
                <a:latin typeface="210 OmniGothic 030"/>
                <a:ea typeface="210 OmniGothic 030"/>
                <a:cs typeface="210 OmniGothic 030"/>
              </a:rPr>
              <a:t> </a:t>
            </a:r>
            <a:r>
              <a:rPr sz="1550" b="1" dirty="0" err="1">
                <a:solidFill>
                  <a:srgbClr val="FAA95A"/>
                </a:solidFill>
                <a:latin typeface="210 OmniGothic 030"/>
                <a:ea typeface="210 OmniGothic 030"/>
                <a:cs typeface="210 OmniGothic 030"/>
              </a:rPr>
              <a:t>평시에</a:t>
            </a:r>
            <a:r>
              <a:rPr sz="1550" b="1" dirty="0">
                <a:solidFill>
                  <a:srgbClr val="FAA95A"/>
                </a:solidFill>
                <a:latin typeface="210 OmniGothic 030"/>
                <a:ea typeface="210 OmniGothic 030"/>
                <a:cs typeface="210 OmniGothic 030"/>
              </a:rPr>
              <a:t> </a:t>
            </a:r>
            <a:r>
              <a:rPr sz="1550" b="1" dirty="0" err="1">
                <a:solidFill>
                  <a:srgbClr val="FAA95A"/>
                </a:solidFill>
                <a:latin typeface="210 OmniGothic 030"/>
                <a:ea typeface="210 OmniGothic 030"/>
                <a:cs typeface="210 OmniGothic 030"/>
              </a:rPr>
              <a:t>계정·권한과</a:t>
            </a:r>
            <a:r>
              <a:rPr sz="1550" b="1" dirty="0">
                <a:solidFill>
                  <a:srgbClr val="FAA95A"/>
                </a:solidFill>
                <a:latin typeface="210 OmniGothic 030"/>
                <a:ea typeface="210 OmniGothic 030"/>
                <a:cs typeface="210 OmniGothic 030"/>
              </a:rPr>
              <a:t> </a:t>
            </a:r>
            <a:r>
              <a:rPr sz="1550" b="1" dirty="0" err="1">
                <a:solidFill>
                  <a:srgbClr val="FAA95A"/>
                </a:solidFill>
                <a:latin typeface="210 OmniGothic 030"/>
                <a:ea typeface="210 OmniGothic 030"/>
                <a:cs typeface="210 OmniGothic 030"/>
              </a:rPr>
              <a:t>진화자원</a:t>
            </a:r>
            <a:r>
              <a:rPr sz="1550" b="1" dirty="0">
                <a:solidFill>
                  <a:srgbClr val="FAA95A"/>
                </a:solidFill>
                <a:latin typeface="210 OmniGothic 030"/>
                <a:ea typeface="210 OmniGothic 030"/>
                <a:cs typeface="210 OmniGothic 030"/>
              </a:rPr>
              <a:t> </a:t>
            </a:r>
            <a:r>
              <a:rPr sz="1550" b="1" dirty="0" err="1">
                <a:solidFill>
                  <a:srgbClr val="FAA95A"/>
                </a:solidFill>
                <a:latin typeface="210 OmniGothic 030"/>
                <a:ea typeface="210 OmniGothic 030"/>
                <a:cs typeface="210 OmniGothic 030"/>
              </a:rPr>
              <a:t>데이터를</a:t>
            </a:r>
            <a:r>
              <a:rPr sz="1550" b="1" dirty="0">
                <a:solidFill>
                  <a:srgbClr val="FAA95A"/>
                </a:solidFill>
                <a:latin typeface="210 OmniGothic 030"/>
                <a:ea typeface="210 OmniGothic 030"/>
                <a:cs typeface="210 OmniGothic 030"/>
              </a:rPr>
              <a:t> </a:t>
            </a:r>
            <a:r>
              <a:rPr sz="1550" b="1" dirty="0" err="1">
                <a:solidFill>
                  <a:srgbClr val="FAA95A"/>
                </a:solidFill>
                <a:latin typeface="210 OmniGothic 030"/>
                <a:ea typeface="210 OmniGothic 030"/>
                <a:cs typeface="210 OmniGothic 030"/>
              </a:rPr>
              <a:t>관리한다</a:t>
            </a:r>
            <a:r>
              <a:rPr sz="1550" b="1" dirty="0">
                <a:solidFill>
                  <a:srgbClr val="FAA95A"/>
                </a:solidFill>
                <a:latin typeface="210 OmniGothic 030"/>
                <a:ea typeface="210 OmniGothic 030"/>
                <a:cs typeface="210 OmniGothic 030"/>
              </a:rPr>
              <a:t>. </a:t>
            </a:r>
            <a:r>
              <a:rPr sz="1550" b="1" dirty="0" err="1">
                <a:solidFill>
                  <a:srgbClr val="FAA95A"/>
                </a:solidFill>
                <a:latin typeface="210 OmniGothic 030"/>
                <a:ea typeface="210 OmniGothic 030"/>
                <a:cs typeface="210 OmniGothic 030"/>
              </a:rPr>
              <a:t>로그인에</a:t>
            </a:r>
            <a:r>
              <a:rPr sz="1550" b="1" dirty="0">
                <a:solidFill>
                  <a:srgbClr val="FAA95A"/>
                </a:solidFill>
                <a:latin typeface="210 OmniGothic 030"/>
                <a:ea typeface="210 OmniGothic 030"/>
                <a:cs typeface="210 OmniGothic 030"/>
              </a:rPr>
              <a:t> 5회 </a:t>
            </a:r>
            <a:r>
              <a:rPr sz="1550" b="1" dirty="0" err="1">
                <a:solidFill>
                  <a:srgbClr val="FAA95A"/>
                </a:solidFill>
                <a:latin typeface="210 OmniGothic 030"/>
                <a:ea typeface="210 OmniGothic 030"/>
                <a:cs typeface="210 OmniGothic 030"/>
              </a:rPr>
              <a:t>연속</a:t>
            </a:r>
            <a:r>
              <a:rPr sz="1550" b="1" dirty="0">
                <a:solidFill>
                  <a:srgbClr val="FAA95A"/>
                </a:solidFill>
                <a:latin typeface="210 OmniGothic 030"/>
                <a:ea typeface="210 OmniGothic 030"/>
                <a:cs typeface="210 OmniGothic 030"/>
              </a:rPr>
              <a:t> </a:t>
            </a:r>
            <a:r>
              <a:rPr sz="1550" b="1" dirty="0" err="1">
                <a:solidFill>
                  <a:srgbClr val="FAA95A"/>
                </a:solidFill>
                <a:latin typeface="210 OmniGothic 030"/>
                <a:ea typeface="210 OmniGothic 030"/>
                <a:cs typeface="210 OmniGothic 030"/>
              </a:rPr>
              <a:t>실패해</a:t>
            </a:r>
            <a:r>
              <a:rPr sz="1550" b="1" dirty="0">
                <a:solidFill>
                  <a:srgbClr val="FAA95A"/>
                </a:solidFill>
                <a:latin typeface="210 OmniGothic 030"/>
                <a:ea typeface="210 OmniGothic 030"/>
                <a:cs typeface="210 OmniGothic 030"/>
              </a:rPr>
              <a:t> </a:t>
            </a:r>
            <a:r>
              <a:rPr sz="1550" b="1" dirty="0" err="1">
                <a:solidFill>
                  <a:srgbClr val="FAA95A"/>
                </a:solidFill>
                <a:latin typeface="210 OmniGothic 030"/>
                <a:ea typeface="210 OmniGothic 030"/>
                <a:cs typeface="210 OmniGothic 030"/>
              </a:rPr>
              <a:t>잠긴</a:t>
            </a:r>
            <a:r>
              <a:rPr sz="1550" b="1" dirty="0">
                <a:solidFill>
                  <a:srgbClr val="FAA95A"/>
                </a:solidFill>
                <a:latin typeface="210 OmniGothic 030"/>
                <a:ea typeface="210 OmniGothic 030"/>
                <a:cs typeface="210 OmniGothic 030"/>
              </a:rPr>
              <a:t> </a:t>
            </a:r>
            <a:r>
              <a:rPr sz="1550" b="1" dirty="0" err="1">
                <a:solidFill>
                  <a:srgbClr val="FAA95A"/>
                </a:solidFill>
                <a:latin typeface="210 OmniGothic 030"/>
                <a:ea typeface="210 OmniGothic 030"/>
                <a:cs typeface="210 OmniGothic 030"/>
              </a:rPr>
              <a:t>계정은</a:t>
            </a:r>
            <a:r>
              <a:rPr sz="1550" b="1" dirty="0">
                <a:solidFill>
                  <a:srgbClr val="FAA95A"/>
                </a:solidFill>
                <a:latin typeface="210 OmniGothic 030"/>
                <a:ea typeface="210 OmniGothic 030"/>
                <a:cs typeface="210 OmniGothic 030"/>
              </a:rPr>
              <a:t> </a:t>
            </a:r>
            <a:r>
              <a:rPr sz="1550" b="1" dirty="0" err="1">
                <a:solidFill>
                  <a:srgbClr val="FAA95A"/>
                </a:solidFill>
                <a:latin typeface="210 OmniGothic 030"/>
                <a:ea typeface="210 OmniGothic 030"/>
                <a:cs typeface="210 OmniGothic 030"/>
              </a:rPr>
              <a:t>전산</a:t>
            </a:r>
            <a:r>
              <a:rPr sz="1550" b="1" dirty="0">
                <a:solidFill>
                  <a:srgbClr val="FAA95A"/>
                </a:solidFill>
                <a:latin typeface="210 OmniGothic 030"/>
                <a:ea typeface="210 OmniGothic 030"/>
                <a:cs typeface="210 OmniGothic 030"/>
              </a:rPr>
              <a:t> </a:t>
            </a:r>
            <a:r>
              <a:rPr sz="1550" b="1" dirty="0" err="1">
                <a:solidFill>
                  <a:srgbClr val="FAA95A"/>
                </a:solidFill>
                <a:latin typeface="210 OmniGothic 030"/>
                <a:ea typeface="210 OmniGothic 030"/>
                <a:cs typeface="210 OmniGothic 030"/>
              </a:rPr>
              <a:t>관리자만</a:t>
            </a:r>
            <a:r>
              <a:rPr sz="1550" b="1" dirty="0">
                <a:solidFill>
                  <a:srgbClr val="FAA95A"/>
                </a:solidFill>
                <a:latin typeface="210 OmniGothic 030"/>
                <a:ea typeface="210 OmniGothic 030"/>
                <a:cs typeface="210 OmniGothic 030"/>
              </a:rPr>
              <a:t> </a:t>
            </a:r>
            <a:r>
              <a:rPr sz="1550" b="1" dirty="0" err="1">
                <a:solidFill>
                  <a:srgbClr val="FAA95A"/>
                </a:solidFill>
                <a:latin typeface="210 OmniGothic 030"/>
                <a:ea typeface="210 OmniGothic 030"/>
                <a:cs typeface="210 OmniGothic 030"/>
              </a:rPr>
              <a:t>잠금</a:t>
            </a:r>
            <a:r>
              <a:rPr sz="1550" b="1" dirty="0">
                <a:solidFill>
                  <a:srgbClr val="FAA95A"/>
                </a:solidFill>
                <a:latin typeface="210 OmniGothic 030"/>
                <a:ea typeface="210 OmniGothic 030"/>
                <a:cs typeface="210 OmniGothic 030"/>
              </a:rPr>
              <a:t> </a:t>
            </a:r>
            <a:r>
              <a:rPr sz="1550" b="1" dirty="0" err="1">
                <a:solidFill>
                  <a:srgbClr val="FAA95A"/>
                </a:solidFill>
                <a:latin typeface="210 OmniGothic 030"/>
                <a:ea typeface="210 OmniGothic 030"/>
                <a:cs typeface="210 OmniGothic 030"/>
              </a:rPr>
              <a:t>해제하며</a:t>
            </a:r>
            <a:r>
              <a:rPr sz="1550" b="1" dirty="0">
                <a:solidFill>
                  <a:srgbClr val="FAA95A"/>
                </a:solidFill>
                <a:latin typeface="210 OmniGothic 030"/>
                <a:ea typeface="210 OmniGothic 030"/>
                <a:cs typeface="210 OmniGothic 030"/>
              </a:rPr>
              <a:t>, </a:t>
            </a:r>
            <a:r>
              <a:rPr sz="1550" b="1" dirty="0" err="1">
                <a:solidFill>
                  <a:srgbClr val="FAA95A"/>
                </a:solidFill>
                <a:latin typeface="210 OmniGothic 030"/>
                <a:ea typeface="210 OmniGothic 030"/>
                <a:cs typeface="210 OmniGothic 030"/>
              </a:rPr>
              <a:t>해제</a:t>
            </a:r>
            <a:r>
              <a:rPr sz="1550" b="1" dirty="0">
                <a:solidFill>
                  <a:srgbClr val="FAA95A"/>
                </a:solidFill>
                <a:latin typeface="210 OmniGothic 030"/>
                <a:ea typeface="210 OmniGothic 030"/>
                <a:cs typeface="210 OmniGothic 030"/>
              </a:rPr>
              <a:t> 시 </a:t>
            </a:r>
            <a:r>
              <a:rPr sz="1550" b="1" dirty="0" err="1">
                <a:solidFill>
                  <a:srgbClr val="FAA95A"/>
                </a:solidFill>
                <a:latin typeface="210 OmniGothic 030"/>
                <a:ea typeface="210 OmniGothic 030"/>
                <a:cs typeface="210 OmniGothic 030"/>
              </a:rPr>
              <a:t>실패</a:t>
            </a:r>
            <a:r>
              <a:rPr sz="1550" b="1" dirty="0">
                <a:solidFill>
                  <a:srgbClr val="FAA95A"/>
                </a:solidFill>
                <a:latin typeface="210 OmniGothic 030"/>
                <a:ea typeface="210 OmniGothic 030"/>
                <a:cs typeface="210 OmniGothic 030"/>
              </a:rPr>
              <a:t> </a:t>
            </a:r>
            <a:r>
              <a:rPr sz="1550" b="1" dirty="0" err="1">
                <a:solidFill>
                  <a:srgbClr val="FAA95A"/>
                </a:solidFill>
                <a:latin typeface="210 OmniGothic 030"/>
                <a:ea typeface="210 OmniGothic 030"/>
                <a:cs typeface="210 OmniGothic 030"/>
              </a:rPr>
              <a:t>횟수를</a:t>
            </a:r>
            <a:r>
              <a:rPr sz="1550" b="1" dirty="0">
                <a:solidFill>
                  <a:srgbClr val="FAA95A"/>
                </a:solidFill>
                <a:latin typeface="210 OmniGothic 030"/>
                <a:ea typeface="210 OmniGothic 030"/>
                <a:cs typeface="210 OmniGothic 030"/>
              </a:rPr>
              <a:t> 0으로 </a:t>
            </a:r>
            <a:r>
              <a:rPr sz="1550" b="1" dirty="0" err="1">
                <a:solidFill>
                  <a:srgbClr val="FAA95A"/>
                </a:solidFill>
                <a:latin typeface="210 OmniGothic 030"/>
                <a:ea typeface="210 OmniGothic 030"/>
                <a:cs typeface="210 OmniGothic 030"/>
              </a:rPr>
              <a:t>초기화한다</a:t>
            </a:r>
            <a:r>
              <a:rPr sz="1550" b="1" dirty="0">
                <a:solidFill>
                  <a:srgbClr val="FAA95A"/>
                </a:solidFill>
                <a:latin typeface="210 OmniGothic 030"/>
                <a:ea typeface="210 OmniGothic 030"/>
                <a:cs typeface="210 OmniGothic 030"/>
              </a:rPr>
              <a:t>.</a:t>
            </a:r>
          </a:p>
          <a:p>
            <a:pPr algn="l">
              <a:lnSpc>
                <a:spcPct val="120000"/>
              </a:lnSpc>
              <a:spcAft>
                <a:spcPts val="919"/>
              </a:spcAft>
              <a:buNone/>
            </a:pPr>
            <a:r>
              <a:rPr sz="1550" b="0" dirty="0" err="1">
                <a:solidFill>
                  <a:srgbClr val="363A52"/>
                </a:solidFill>
                <a:latin typeface="210 OmniGothic 030"/>
                <a:ea typeface="210 OmniGothic 030"/>
                <a:cs typeface="210 OmniGothic 030"/>
              </a:rPr>
              <a:t>시스템</a:t>
            </a:r>
            <a:r>
              <a:rPr sz="1550" b="0" dirty="0">
                <a:solidFill>
                  <a:srgbClr val="363A52"/>
                </a:solidFill>
                <a:latin typeface="210 OmniGothic 030"/>
                <a:ea typeface="210 OmniGothic 030"/>
                <a:cs typeface="210 OmniGothic 030"/>
              </a:rPr>
              <a:t> 측 </a:t>
            </a:r>
            <a:r>
              <a:rPr sz="1550" b="0" dirty="0" err="1">
                <a:solidFill>
                  <a:srgbClr val="363A52"/>
                </a:solidFill>
                <a:latin typeface="210 OmniGothic 030"/>
                <a:ea typeface="210 OmniGothic 030"/>
                <a:cs typeface="210 OmniGothic 030"/>
              </a:rPr>
              <a:t>참여자는</a:t>
            </a:r>
            <a:r>
              <a:rPr sz="1550" b="0" dirty="0">
                <a:solidFill>
                  <a:srgbClr val="363A52"/>
                </a:solidFill>
                <a:latin typeface="210 OmniGothic 030"/>
                <a:ea typeface="210 OmniGothic 030"/>
                <a:cs typeface="210 OmniGothic 030"/>
              </a:rPr>
              <a:t> </a:t>
            </a:r>
            <a:r>
              <a:rPr sz="1550" b="1" dirty="0" err="1">
                <a:solidFill>
                  <a:srgbClr val="FAA95A"/>
                </a:solidFill>
                <a:latin typeface="210 OmniGothic 030"/>
                <a:ea typeface="210 OmniGothic 030"/>
                <a:cs typeface="210 OmniGothic 030"/>
              </a:rPr>
              <a:t>확산예측</a:t>
            </a:r>
            <a:r>
              <a:rPr sz="1550" b="1" dirty="0">
                <a:solidFill>
                  <a:srgbClr val="FAA95A"/>
                </a:solidFill>
                <a:latin typeface="210 OmniGothic 030"/>
                <a:ea typeface="210 OmniGothic 030"/>
                <a:cs typeface="210 OmniGothic 030"/>
              </a:rPr>
              <a:t> </a:t>
            </a:r>
            <a:r>
              <a:rPr sz="1550" b="1" dirty="0" err="1">
                <a:solidFill>
                  <a:srgbClr val="FAA95A"/>
                </a:solidFill>
                <a:latin typeface="210 OmniGothic 030"/>
                <a:ea typeface="210 OmniGothic 030"/>
                <a:cs typeface="210 OmniGothic 030"/>
              </a:rPr>
              <a:t>모듈</a:t>
            </a:r>
            <a:r>
              <a:rPr sz="1550" b="0" dirty="0">
                <a:solidFill>
                  <a:srgbClr val="363A52"/>
                </a:solidFill>
                <a:latin typeface="210 OmniGothic 030"/>
                <a:ea typeface="210 OmniGothic 030"/>
                <a:cs typeface="210 OmniGothic 030"/>
              </a:rPr>
              <a:t>(ELMFIRE), </a:t>
            </a:r>
            <a:r>
              <a:rPr sz="1550" b="1" dirty="0">
                <a:solidFill>
                  <a:srgbClr val="FAA95A"/>
                </a:solidFill>
                <a:latin typeface="210 OmniGothic 030"/>
                <a:ea typeface="210 OmniGothic 030"/>
                <a:cs typeface="210 OmniGothic 030"/>
              </a:rPr>
              <a:t>AI </a:t>
            </a:r>
            <a:r>
              <a:rPr sz="1550" b="1" dirty="0" err="1">
                <a:solidFill>
                  <a:srgbClr val="FAA95A"/>
                </a:solidFill>
                <a:latin typeface="210 OmniGothic 030"/>
                <a:ea typeface="210 OmniGothic 030"/>
                <a:cs typeface="210 OmniGothic 030"/>
              </a:rPr>
              <a:t>모델</a:t>
            </a:r>
            <a:r>
              <a:rPr sz="1550" b="0" dirty="0">
                <a:solidFill>
                  <a:srgbClr val="363A52"/>
                </a:solidFill>
                <a:latin typeface="210 OmniGothic 030"/>
                <a:ea typeface="210 OmniGothic 030"/>
                <a:cs typeface="210 OmniGothic 030"/>
              </a:rPr>
              <a:t>(EXAONE + KURE-v1 </a:t>
            </a:r>
            <a:r>
              <a:rPr sz="1550" b="0" dirty="0" err="1">
                <a:solidFill>
                  <a:srgbClr val="363A52"/>
                </a:solidFill>
                <a:latin typeface="210 OmniGothic 030"/>
                <a:ea typeface="210 OmniGothic 030"/>
                <a:cs typeface="210 OmniGothic 030"/>
              </a:rPr>
              <a:t>근거</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검색</a:t>
            </a:r>
            <a:r>
              <a:rPr sz="1550" b="0" dirty="0">
                <a:solidFill>
                  <a:srgbClr val="363A52"/>
                </a:solidFill>
                <a:latin typeface="210 OmniGothic 030"/>
                <a:ea typeface="210 OmniGothic 030"/>
                <a:cs typeface="210 OmniGothic 030"/>
              </a:rPr>
              <a:t>), </a:t>
            </a:r>
            <a:r>
              <a:rPr sz="1550" b="1" dirty="0" err="1">
                <a:solidFill>
                  <a:srgbClr val="FAA95A"/>
                </a:solidFill>
                <a:latin typeface="210 OmniGothic 030"/>
                <a:ea typeface="210 OmniGothic 030"/>
                <a:cs typeface="210 OmniGothic 030"/>
              </a:rPr>
              <a:t>기상청</a:t>
            </a:r>
            <a:r>
              <a:rPr sz="1550" b="1" dirty="0">
                <a:solidFill>
                  <a:srgbClr val="FAA95A"/>
                </a:solidFill>
                <a:latin typeface="210 OmniGothic 030"/>
                <a:ea typeface="210 OmniGothic 030"/>
                <a:cs typeface="210 OmniGothic 030"/>
              </a:rPr>
              <a:t> </a:t>
            </a:r>
            <a:r>
              <a:rPr sz="1550" b="1" dirty="0" err="1">
                <a:solidFill>
                  <a:srgbClr val="FAA95A"/>
                </a:solidFill>
                <a:latin typeface="210 OmniGothic 030"/>
                <a:ea typeface="210 OmniGothic 030"/>
                <a:cs typeface="210 OmniGothic 030"/>
              </a:rPr>
              <a:t>API·공공데이터</a:t>
            </a:r>
            <a:r>
              <a:rPr sz="1550" b="0" dirty="0">
                <a:solidFill>
                  <a:srgbClr val="363A52"/>
                </a:solidFill>
                <a:latin typeface="210 OmniGothic 030"/>
                <a:ea typeface="210 OmniGothic 030"/>
                <a:cs typeface="210 OmniGothic 030"/>
              </a:rPr>
              <a:t>(</a:t>
            </a:r>
            <a:r>
              <a:rPr sz="1550" b="0" dirty="0" err="1">
                <a:solidFill>
                  <a:srgbClr val="363A52"/>
                </a:solidFill>
                <a:latin typeface="210 OmniGothic 030"/>
                <a:ea typeface="210 OmniGothic 030"/>
                <a:cs typeface="210 OmniGothic 030"/>
              </a:rPr>
              <a:t>단기예보</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위성영상·지도</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타일</a:t>
            </a:r>
            <a:r>
              <a:rPr sz="1550" b="0" dirty="0">
                <a:solidFill>
                  <a:srgbClr val="363A52"/>
                </a:solidFill>
                <a:latin typeface="210 OmniGothic 030"/>
                <a:ea typeface="210 OmniGothic 030"/>
                <a:cs typeface="210 OmniGothic 030"/>
              </a:rPr>
              <a:t>, SGIS </a:t>
            </a:r>
            <a:r>
              <a:rPr sz="1550" b="0" dirty="0" err="1">
                <a:solidFill>
                  <a:srgbClr val="363A52"/>
                </a:solidFill>
                <a:latin typeface="210 OmniGothic 030"/>
                <a:ea typeface="210 OmniGothic 030"/>
                <a:cs typeface="210 OmniGothic 030"/>
              </a:rPr>
              <a:t>경계</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마을·시설·대피소·도로</a:t>
            </a:r>
            <a:r>
              <a:rPr sz="1550" b="0" dirty="0">
                <a:solidFill>
                  <a:srgbClr val="363A52"/>
                </a:solidFill>
                <a:latin typeface="210 OmniGothic 030"/>
                <a:ea typeface="210 OmniGothic 030"/>
                <a:cs typeface="210 OmniGothic 030"/>
              </a:rPr>
              <a:t>)다. </a:t>
            </a:r>
            <a:r>
              <a:rPr sz="1550" b="1" dirty="0" err="1">
                <a:solidFill>
                  <a:srgbClr val="FAA95A"/>
                </a:solidFill>
                <a:latin typeface="210 OmniGothic 030"/>
                <a:ea typeface="210 OmniGothic 030"/>
                <a:cs typeface="210 OmniGothic 030"/>
              </a:rPr>
              <a:t>확산예측</a:t>
            </a:r>
            <a:r>
              <a:rPr sz="1550" b="1" dirty="0">
                <a:solidFill>
                  <a:srgbClr val="FAA95A"/>
                </a:solidFill>
                <a:latin typeface="210 OmniGothic 030"/>
                <a:ea typeface="210 OmniGothic 030"/>
                <a:cs typeface="210 OmniGothic 030"/>
              </a:rPr>
              <a:t> </a:t>
            </a:r>
            <a:r>
              <a:rPr sz="1550" b="1" dirty="0" err="1">
                <a:solidFill>
                  <a:srgbClr val="FAA95A"/>
                </a:solidFill>
                <a:latin typeface="210 OmniGothic 030"/>
                <a:ea typeface="210 OmniGothic 030"/>
                <a:cs typeface="210 OmniGothic 030"/>
              </a:rPr>
              <a:t>모듈</a:t>
            </a:r>
            <a:r>
              <a:rPr sz="1550" b="0" dirty="0" err="1">
                <a:solidFill>
                  <a:srgbClr val="363A52"/>
                </a:solidFill>
                <a:latin typeface="210 OmniGothic 030"/>
                <a:ea typeface="210 OmniGothic 030"/>
                <a:cs typeface="210 OmniGothic 030"/>
              </a:rPr>
              <a:t>이</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최신</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실측</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화선</a:t>
            </a:r>
            <a:r>
              <a:rPr sz="1550" b="0" dirty="0">
                <a:solidFill>
                  <a:srgbClr val="363A52"/>
                </a:solidFill>
                <a:latin typeface="210 OmniGothic 030"/>
                <a:ea typeface="210 OmniGothic 030"/>
                <a:cs typeface="210 OmniGothic 030"/>
              </a:rPr>
              <a:t>(</a:t>
            </a:r>
            <a:r>
              <a:rPr sz="1550" b="0" dirty="0" err="1">
                <a:solidFill>
                  <a:srgbClr val="363A52"/>
                </a:solidFill>
                <a:latin typeface="210 OmniGothic 030"/>
                <a:ea typeface="210 OmniGothic 030"/>
                <a:cs typeface="210 OmniGothic 030"/>
              </a:rPr>
              <a:t>없으면</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발화점</a:t>
            </a:r>
            <a:r>
              <a:rPr sz="1550" b="0" dirty="0">
                <a:solidFill>
                  <a:srgbClr val="363A52"/>
                </a:solidFill>
                <a:latin typeface="210 OmniGothic 030"/>
                <a:ea typeface="210 OmniGothic 030"/>
                <a:cs typeface="210 OmniGothic 030"/>
              </a:rPr>
              <a:t>)</a:t>
            </a:r>
            <a:r>
              <a:rPr sz="1550" b="0" dirty="0" err="1">
                <a:solidFill>
                  <a:srgbClr val="363A52"/>
                </a:solidFill>
                <a:latin typeface="210 OmniGothic 030"/>
                <a:ea typeface="210 OmniGothic 030"/>
                <a:cs typeface="210 OmniGothic 030"/>
              </a:rPr>
              <a:t>에서</a:t>
            </a:r>
            <a:r>
              <a:rPr sz="1550" b="0" dirty="0">
                <a:solidFill>
                  <a:srgbClr val="363A52"/>
                </a:solidFill>
                <a:latin typeface="210 OmniGothic 030"/>
                <a:ea typeface="210 OmniGothic 030"/>
                <a:cs typeface="210 OmniGothic 030"/>
              </a:rPr>
              <a:t> 30 m </a:t>
            </a:r>
            <a:r>
              <a:rPr sz="1550" b="0" dirty="0" err="1">
                <a:solidFill>
                  <a:srgbClr val="363A52"/>
                </a:solidFill>
                <a:latin typeface="210 OmniGothic 030"/>
                <a:ea typeface="210 OmniGothic 030"/>
                <a:cs typeface="210 OmniGothic 030"/>
              </a:rPr>
              <a:t>격자의</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지형·연료와</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기상으로</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누적</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확산</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범위</a:t>
            </a:r>
            <a:r>
              <a:rPr sz="1550" b="0" dirty="0">
                <a:solidFill>
                  <a:srgbClr val="363A52"/>
                </a:solidFill>
                <a:latin typeface="210 OmniGothic 030"/>
                <a:ea typeface="210 OmniGothic 030"/>
                <a:cs typeface="210 OmniGothic 030"/>
              </a:rPr>
              <a:t> P1~P8을 </a:t>
            </a:r>
            <a:r>
              <a:rPr sz="1550" b="0" dirty="0" err="1">
                <a:solidFill>
                  <a:srgbClr val="363A52"/>
                </a:solidFill>
                <a:latin typeface="210 OmniGothic 030"/>
                <a:ea typeface="210 OmniGothic 030"/>
                <a:cs typeface="210 OmniGothic 030"/>
              </a:rPr>
              <a:t>만들면</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시스템은</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이를</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공간</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DB에</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저장해</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지도</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표시·</a:t>
            </a:r>
            <a:r>
              <a:rPr sz="1550" b="0" dirty="0" err="1">
                <a:solidFill>
                  <a:srgbClr val="FF0000"/>
                </a:solidFill>
                <a:latin typeface="210 OmniGothic 030"/>
                <a:ea typeface="210 OmniGothic 030"/>
                <a:cs typeface="210 OmniGothic 030"/>
              </a:rPr>
              <a:t>위험도 계산·</a:t>
            </a:r>
            <a:r>
              <a:rPr sz="1550" b="0" dirty="0" err="1">
                <a:solidFill>
                  <a:srgbClr val="363A52"/>
                </a:solidFill>
                <a:latin typeface="210 OmniGothic 030"/>
                <a:ea typeface="210 OmniGothic 030"/>
                <a:cs typeface="210 OmniGothic 030"/>
              </a:rPr>
              <a:t>규칙</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판정·제안</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생성에</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함께</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쓴다</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로그인·로그아웃·입력·예측·제안·정정·종료·계정</a:t>
            </a:r>
            <a:r>
              <a:rPr sz="1550" b="0" dirty="0">
                <a:solidFill>
                  <a:srgbClr val="363A52"/>
                </a:solidFill>
                <a:latin typeface="210 OmniGothic 030"/>
                <a:ea typeface="210 OmniGothic 030"/>
                <a:cs typeface="210 OmniGothic 030"/>
              </a:rPr>
              <a:t> 및 </a:t>
            </a:r>
            <a:r>
              <a:rPr sz="1550" b="0" dirty="0" err="1">
                <a:solidFill>
                  <a:srgbClr val="363A52"/>
                </a:solidFill>
                <a:latin typeface="210 OmniGothic 030"/>
                <a:ea typeface="210 OmniGothic 030"/>
                <a:cs typeface="210 OmniGothic 030"/>
              </a:rPr>
              <a:t>자원</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변경</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이벤트는</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추가</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전용</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이벤트</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로그에</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기록되고</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제안</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이력</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화면에서</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시각·구분·내용·사용자</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기준으로</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읽기</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전용</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열람한다</a:t>
            </a:r>
            <a:r>
              <a:rPr sz="1550" b="0" dirty="0">
                <a:solidFill>
                  <a:srgbClr val="363A52"/>
                </a:solidFill>
                <a:latin typeface="210 OmniGothic 030"/>
                <a:ea typeface="210 OmniGothic 030"/>
                <a:cs typeface="210 OmniGothic 030"/>
              </a:rPr>
              <a:t>.</a:t>
            </a:r>
          </a:p>
          <a:p>
            <a:pPr algn="l">
              <a:lnSpc>
                <a:spcPct val="120000"/>
              </a:lnSpc>
              <a:spcAft>
                <a:spcPts val="919"/>
              </a:spcAft>
              <a:buNone/>
            </a:pPr>
            <a:r>
              <a:rPr sz="1550" b="0" dirty="0" err="1">
                <a:solidFill>
                  <a:srgbClr val="363A52"/>
                </a:solidFill>
                <a:latin typeface="210 OmniGothic 030"/>
                <a:ea typeface="210 OmniGothic 030"/>
                <a:cs typeface="210 OmniGothic 030"/>
              </a:rPr>
              <a:t>업무</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절차는</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다음과</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같다</a:t>
            </a:r>
            <a:r>
              <a:rPr sz="1550" b="0" dirty="0">
                <a:solidFill>
                  <a:srgbClr val="363A52"/>
                </a:solidFill>
                <a:latin typeface="210 OmniGothic 030"/>
                <a:ea typeface="210 OmniGothic 030"/>
                <a:cs typeface="210 OmniGothic 030"/>
              </a:rPr>
              <a:t>. </a:t>
            </a:r>
            <a:r>
              <a:rPr sz="1550" b="1" dirty="0" err="1">
                <a:solidFill>
                  <a:srgbClr val="FAA95A"/>
                </a:solidFill>
                <a:latin typeface="210 OmniGothic 030"/>
                <a:ea typeface="210 OmniGothic 030"/>
                <a:cs typeface="210 OmniGothic 030"/>
              </a:rPr>
              <a:t>상황</a:t>
            </a:r>
            <a:r>
              <a:rPr sz="1550" b="1" dirty="0">
                <a:solidFill>
                  <a:srgbClr val="FAA95A"/>
                </a:solidFill>
                <a:latin typeface="210 OmniGothic 030"/>
                <a:ea typeface="210 OmniGothic 030"/>
                <a:cs typeface="210 OmniGothic 030"/>
              </a:rPr>
              <a:t> </a:t>
            </a:r>
            <a:r>
              <a:rPr sz="1550" b="1" dirty="0" err="1">
                <a:solidFill>
                  <a:srgbClr val="FAA95A"/>
                </a:solidFill>
                <a:latin typeface="210 OmniGothic 030"/>
                <a:ea typeface="210 OmniGothic 030"/>
                <a:cs typeface="210 OmniGothic 030"/>
              </a:rPr>
              <a:t>보고자</a:t>
            </a:r>
            <a:r>
              <a:rPr sz="1550" b="0" dirty="0" err="1">
                <a:solidFill>
                  <a:srgbClr val="363A52"/>
                </a:solidFill>
                <a:latin typeface="210 OmniGothic 030"/>
                <a:ea typeface="210 OmniGothic 030"/>
                <a:cs typeface="210 OmniGothic 030"/>
              </a:rPr>
              <a:t>가</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발화</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정보와</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실측</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화선을</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입력하면</a:t>
            </a:r>
            <a:r>
              <a:rPr sz="1550" b="0" dirty="0">
                <a:solidFill>
                  <a:srgbClr val="363A52"/>
                </a:solidFill>
                <a:latin typeface="210 OmniGothic 030"/>
                <a:ea typeface="210 OmniGothic 030"/>
                <a:cs typeface="210 OmniGothic 030"/>
              </a:rPr>
              <a:t> </a:t>
            </a:r>
            <a:r>
              <a:rPr sz="1550" b="1" dirty="0" err="1">
                <a:solidFill>
                  <a:srgbClr val="FAA95A"/>
                </a:solidFill>
                <a:latin typeface="210 OmniGothic 030"/>
                <a:ea typeface="210 OmniGothic 030"/>
                <a:cs typeface="210 OmniGothic 030"/>
              </a:rPr>
              <a:t>통합지휘권자</a:t>
            </a:r>
            <a:r>
              <a:rPr sz="1550" b="0" dirty="0" err="1">
                <a:solidFill>
                  <a:srgbClr val="363A52"/>
                </a:solidFill>
                <a:latin typeface="210 OmniGothic 030"/>
                <a:ea typeface="210 OmniGothic 030"/>
                <a:cs typeface="210 OmniGothic 030"/>
              </a:rPr>
              <a:t>와</a:t>
            </a:r>
            <a:r>
              <a:rPr sz="1550" b="0" dirty="0">
                <a:solidFill>
                  <a:srgbClr val="363A52"/>
                </a:solidFill>
                <a:latin typeface="210 OmniGothic 030"/>
                <a:ea typeface="210 OmniGothic 030"/>
                <a:cs typeface="210 OmniGothic 030"/>
              </a:rPr>
              <a:t> </a:t>
            </a:r>
            <a:r>
              <a:rPr sz="1550" b="1" dirty="0" err="1">
                <a:solidFill>
                  <a:srgbClr val="FAA95A"/>
                </a:solidFill>
                <a:latin typeface="210 OmniGothic 030"/>
                <a:ea typeface="210 OmniGothic 030"/>
                <a:cs typeface="210 OmniGothic 030"/>
              </a:rPr>
              <a:t>열람자</a:t>
            </a:r>
            <a:r>
              <a:rPr sz="1550" b="0" dirty="0" err="1">
                <a:solidFill>
                  <a:srgbClr val="363A52"/>
                </a:solidFill>
                <a:latin typeface="210 OmniGothic 030"/>
                <a:ea typeface="210 OmniGothic 030"/>
                <a:cs typeface="210 OmniGothic 030"/>
              </a:rPr>
              <a:t>는</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통합</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상황도에서</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확산</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범위</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주요</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시설의</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위치</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진화자원을</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확인한다</a:t>
            </a:r>
            <a:r>
              <a:rPr sz="1550" b="0" dirty="0">
                <a:solidFill>
                  <a:srgbClr val="363A52"/>
                </a:solidFill>
                <a:latin typeface="210 OmniGothic 030"/>
                <a:ea typeface="210 OmniGothic 030"/>
                <a:cs typeface="210 OmniGothic 030"/>
              </a:rPr>
              <a:t>. </a:t>
            </a:r>
            <a:r>
              <a:rPr sz="1550" b="1" dirty="0" err="1">
                <a:solidFill>
                  <a:srgbClr val="FAA95A"/>
                </a:solidFill>
                <a:latin typeface="210 OmniGothic 030"/>
                <a:ea typeface="210 OmniGothic 030"/>
                <a:cs typeface="210 OmniGothic 030"/>
              </a:rPr>
              <a:t>통합지휘권자</a:t>
            </a:r>
            <a:r>
              <a:rPr sz="1550" b="0" dirty="0" err="1">
                <a:solidFill>
                  <a:srgbClr val="363A52"/>
                </a:solidFill>
                <a:latin typeface="210 OmniGothic 030"/>
                <a:ea typeface="210 OmniGothic 030"/>
                <a:cs typeface="210 OmniGothic 030"/>
              </a:rPr>
              <a:t>가</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확산</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예측을</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실행하면</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시스템은</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예측을</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저장한</a:t>
            </a:r>
            <a:r>
              <a:rPr sz="1550" b="0" dirty="0">
                <a:solidFill>
                  <a:srgbClr val="363A52"/>
                </a:solidFill>
                <a:latin typeface="210 OmniGothic 030"/>
                <a:ea typeface="210 OmniGothic 030"/>
                <a:cs typeface="210 OmniGothic 030"/>
              </a:rPr>
              <a:t> 뒤 </a:t>
            </a:r>
            <a:r>
              <a:rPr sz="1550" b="0" dirty="0" err="1">
                <a:solidFill>
                  <a:srgbClr val="363A52"/>
                </a:solidFill>
                <a:latin typeface="210 OmniGothic 030"/>
                <a:ea typeface="210 OmniGothic 030"/>
                <a:cs typeface="210 OmniGothic 030"/>
              </a:rPr>
              <a:t>곧바로</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진화·대피</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제안서를</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만든다</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제안은</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즉시·대기·협의·요청으로</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구분되며</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모든</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문장</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끝에</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근거</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번호가</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붙는다</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예측이</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갱신되거나</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상황</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정정이</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확정되면</a:t>
            </a:r>
            <a:r>
              <a:rPr sz="1550" b="0" dirty="0">
                <a:solidFill>
                  <a:srgbClr val="363A52"/>
                </a:solidFill>
                <a:latin typeface="210 OmniGothic 030"/>
                <a:ea typeface="210 OmniGothic 030"/>
                <a:cs typeface="210 OmniGothic 030"/>
              </a:rPr>
              <a:t> 새 </a:t>
            </a:r>
            <a:r>
              <a:rPr sz="1550" b="0" dirty="0" err="1">
                <a:solidFill>
                  <a:srgbClr val="363A52"/>
                </a:solidFill>
                <a:latin typeface="210 OmniGothic 030"/>
                <a:ea typeface="210 OmniGothic 030"/>
                <a:cs typeface="210 OmniGothic 030"/>
              </a:rPr>
              <a:t>버전이</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생기고</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바뀐</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항목이</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표시되며</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진화가</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끝나면</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통합지휘권자가</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발화</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종료</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처리를</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한다</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종료</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후에는</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발화</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정보</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수정</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예측</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실행</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상황</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정정</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제안</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재생성을</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차단하고</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기존</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제안은</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이력으로만</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열람한다</a:t>
            </a:r>
            <a:r>
              <a:rPr sz="1550" b="0" dirty="0">
                <a:solidFill>
                  <a:srgbClr val="363A52"/>
                </a:solidFill>
                <a:latin typeface="210 OmniGothic 030"/>
                <a:ea typeface="210 OmniGothic 030"/>
                <a:cs typeface="210 OmniGothic 030"/>
              </a:rPr>
              <a:t>.</a:t>
            </a:r>
          </a:p>
          <a:p>
            <a:pPr algn="l">
              <a:lnSpc>
                <a:spcPct val="120000"/>
              </a:lnSpc>
              <a:spcAft>
                <a:spcPts val="919"/>
              </a:spcAft>
              <a:buNone/>
            </a:pPr>
            <a:r>
              <a:rPr sz="1550" b="0" dirty="0" err="1">
                <a:solidFill>
                  <a:srgbClr val="363A52"/>
                </a:solidFill>
                <a:latin typeface="210 OmniGothic 030"/>
                <a:ea typeface="210 OmniGothic 030"/>
                <a:cs typeface="210 OmniGothic 030"/>
              </a:rPr>
              <a:t>이로써</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예측과</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대응</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사이의</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수작업</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공백을</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줄이고</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판단</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근거를</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조항</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단위로</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추적할</a:t>
            </a:r>
            <a:r>
              <a:rPr sz="1550" b="0" dirty="0">
                <a:solidFill>
                  <a:srgbClr val="363A52"/>
                </a:solidFill>
                <a:latin typeface="210 OmniGothic 030"/>
                <a:ea typeface="210 OmniGothic 030"/>
                <a:cs typeface="210 OmniGothic 030"/>
              </a:rPr>
              <a:t> 수 </a:t>
            </a:r>
            <a:r>
              <a:rPr sz="1550" b="0" dirty="0" err="1">
                <a:solidFill>
                  <a:srgbClr val="363A52"/>
                </a:solidFill>
                <a:latin typeface="210 OmniGothic 030"/>
                <a:ea typeface="210 OmniGothic 030"/>
                <a:cs typeface="210 OmniGothic 030"/>
              </a:rPr>
              <a:t>있는</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투명한</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의사결정</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환경을</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제공한다</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시스템은</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권고만</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하며</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대응단계</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발령과</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대피명령</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같은</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최종</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결정은</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통합지휘권자가</a:t>
            </a:r>
            <a:r>
              <a:rPr sz="1550" b="0" dirty="0">
                <a:solidFill>
                  <a:srgbClr val="363A52"/>
                </a:solidFill>
                <a:latin typeface="210 OmniGothic 030"/>
                <a:ea typeface="210 OmniGothic 030"/>
                <a:cs typeface="210 OmniGothic 030"/>
              </a:rPr>
              <a:t> </a:t>
            </a:r>
            <a:r>
              <a:rPr sz="1550" b="0" dirty="0" err="1">
                <a:solidFill>
                  <a:srgbClr val="363A52"/>
                </a:solidFill>
                <a:latin typeface="210 OmniGothic 030"/>
                <a:ea typeface="210 OmniGothic 030"/>
                <a:cs typeface="210 OmniGothic 030"/>
              </a:rPr>
              <a:t>내린다</a:t>
            </a:r>
            <a:r>
              <a:rPr sz="1550" b="0" dirty="0">
                <a:solidFill>
                  <a:srgbClr val="363A52"/>
                </a:solidFill>
                <a:latin typeface="210 OmniGothic 030"/>
                <a:ea typeface="210 OmniGothic 030"/>
                <a:cs typeface="210 OmniGothic 030"/>
              </a:rPr>
              <a:t>.</a:t>
            </a:r>
          </a:p>
        </p:txBody>
      </p:sp>
    </p:spTree>
    <p:extLst>
      <p:ext uri="{BB962C8B-B14F-4D97-AF65-F5344CB8AC3E}">
        <p14:creationId xmlns:p14="http://schemas.microsoft.com/office/powerpoint/2010/main" val="20946021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63" name="Picture 2"/>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700" y="-12700"/>
            <a:ext cx="18313400" cy="1638300"/>
          </a:xfrm>
          <a:prstGeom prst="rect">
            <a:avLst/>
          </a:prstGeom>
        </p:spPr>
      </p:pic>
      <p:pic>
        <p:nvPicPr>
          <p:cNvPr id="5164" name="Picture 4"/>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28" y="1618343"/>
            <a:ext cx="18313400" cy="8699500"/>
          </a:xfrm>
          <a:prstGeom prst="rect">
            <a:avLst/>
          </a:prstGeom>
        </p:spPr>
      </p:pic>
      <p:pic>
        <p:nvPicPr>
          <p:cNvPr id="5165" name="Picture 5"/>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58800" y="9271000"/>
            <a:ext cx="17170400" cy="50800"/>
          </a:xfrm>
          <a:prstGeom prst="rect">
            <a:avLst/>
          </a:prstGeom>
        </p:spPr>
      </p:pic>
      <p:pic>
        <p:nvPicPr>
          <p:cNvPr id="5166" name="Picture 3"/>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5278100" y="203200"/>
            <a:ext cx="1676400" cy="1409700"/>
          </a:xfrm>
          <a:prstGeom prst="rect">
            <a:avLst/>
          </a:prstGeom>
        </p:spPr>
      </p:pic>
      <p:sp>
        <p:nvSpPr>
          <p:cNvPr id="5082" name="Title">
            <a:extLst>
              <a:ext uri="{FF2B5EF4-FFF2-40B4-BE49-F238E27FC236}">
                <a16:creationId xmlns:a16="http://schemas.microsoft.com/office/drawing/2014/main" id="{8F63756B-60A2-4ECD-994A-D91036BD5709}"/>
              </a:ext>
            </a:extLst>
          </p:cNvPr>
          <p:cNvSpPr>
            <a:spLocks noGrp="1"/>
          </p:cNvSpPr>
          <p:nvPr/>
        </p:nvSpPr>
        <p:spPr>
          <a:xfrm>
            <a:off x="822960" y="384048"/>
            <a:ext cx="13258800" cy="877824"/>
          </a:xfrm>
          <a:prstGeom prst="rect">
            <a:avLst/>
          </a:prstGeom>
          <a:noFill/>
        </p:spPr>
        <p:txBody>
          <a:bodyPr wrap="square" lIns="0" tIns="0" rIns="0" bIns="0" anchor="ctr">
            <a:spAutoFit/>
          </a:bodyPr>
          <a:lstStyle/>
          <a:p>
            <a:pPr algn="l">
              <a:buNone/>
            </a:pPr>
            <a:r>
              <a:rPr sz="4400" b="0">
                <a:solidFill>
                  <a:srgbClr val="FAA95A"/>
                </a:solidFill>
                <a:latin typeface="210 OmniGothic 050"/>
                <a:ea typeface="210 OmniGothic 050"/>
                <a:cs typeface="210 OmniGothic 050"/>
              </a:rPr>
              <a:t>02. 시스템 기술서</a:t>
            </a:r>
          </a:p>
        </p:txBody>
      </p:sp>
      <p:sp>
        <p:nvSpPr>
          <p:cNvPr id="5083" name="Subtitle">
            <a:extLst>
              <a:ext uri="{FF2B5EF4-FFF2-40B4-BE49-F238E27FC236}">
                <a16:creationId xmlns:a16="http://schemas.microsoft.com/office/drawing/2014/main" id="{2EB428F3-54C5-4E65-8A81-A3BE531CFD57}"/>
              </a:ext>
            </a:extLst>
          </p:cNvPr>
          <p:cNvSpPr>
            <a:spLocks noGrp="1"/>
          </p:cNvSpPr>
          <p:nvPr/>
        </p:nvSpPr>
        <p:spPr>
          <a:xfrm>
            <a:off x="822960" y="1764792"/>
            <a:ext cx="16642080" cy="502920"/>
          </a:xfrm>
          <a:prstGeom prst="rect">
            <a:avLst/>
          </a:prstGeom>
          <a:noFill/>
        </p:spPr>
        <p:txBody>
          <a:bodyPr wrap="square" lIns="0" tIns="0" rIns="0" bIns="0" anchor="ctr">
            <a:spAutoFit/>
          </a:bodyPr>
          <a:lstStyle/>
          <a:p>
            <a:pPr algn="ctr">
              <a:buNone/>
            </a:pPr>
            <a:r>
              <a:rPr sz="2600" b="1">
                <a:solidFill>
                  <a:srgbClr val="363A52"/>
                </a:solidFill>
                <a:latin typeface="210 OmniGothic 040"/>
                <a:ea typeface="210 OmniGothic 040"/>
                <a:cs typeface="210 OmniGothic 040"/>
              </a:rPr>
              <a:t>업무 절차 흐름</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idx="12"/>
          </p:nvPr>
        </p:nvSpPr>
        <p:spPr/>
        <p:txBody>
          <a:bodyPr/>
          <a:lstStyle/>
          <a:p>
            <a:fld id="{B6F15528-21DE-4FAA-801E-634DDDAF4B2B}" type="slidenum">
              <a:rPr/>
              <a:t>11</a:t>
            </a:fld>
            <a:endParaRPr/>
          </a:p>
        </p:txBody>
      </p:sp>
      <p:sp>
        <p:nvSpPr>
          <p:cNvPr id="5084" name="Rectangle 5083">
            <a:extLst>
              <a:ext uri="{FF2B5EF4-FFF2-40B4-BE49-F238E27FC236}">
                <a16:creationId xmlns:a16="http://schemas.microsoft.com/office/drawing/2014/main" id="{F51F9E07-BFEB-4E10-9F93-44F08461CDF4}"/>
              </a:ext>
            </a:extLst>
          </p:cNvPr>
          <p:cNvSpPr>
            <a:spLocks noGrp="1"/>
          </p:cNvSpPr>
          <p:nvPr/>
        </p:nvSpPr>
        <p:spPr>
          <a:xfrm>
            <a:off x="822960" y="2446020"/>
            <a:ext cx="16459200" cy="2031796"/>
          </a:xfrm>
          <a:prstGeom prst="rect">
            <a:avLst/>
          </a:prstGeom>
          <a:solidFill>
            <a:srgbClr val="FFF8F2"/>
          </a:solidFill>
          <a:ln w="10160">
            <a:solidFill>
              <a:srgbClr val="C3C8D4"/>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endParaRPr/>
          </a:p>
        </p:txBody>
      </p:sp>
      <p:sp>
        <p:nvSpPr>
          <p:cNvPr id="5085" name="Rectangle 5084">
            <a:extLst>
              <a:ext uri="{FF2B5EF4-FFF2-40B4-BE49-F238E27FC236}">
                <a16:creationId xmlns:a16="http://schemas.microsoft.com/office/drawing/2014/main" id="{E8047996-2E3A-40BC-8776-8956BA0A1631}"/>
              </a:ext>
            </a:extLst>
          </p:cNvPr>
          <p:cNvSpPr>
            <a:spLocks noGrp="1"/>
          </p:cNvSpPr>
          <p:nvPr/>
        </p:nvSpPr>
        <p:spPr>
          <a:xfrm>
            <a:off x="822960" y="2446020"/>
            <a:ext cx="1257300" cy="2031796"/>
          </a:xfrm>
          <a:prstGeom prst="rect">
            <a:avLst/>
          </a:prstGeom>
          <a:solidFill>
            <a:srgbClr val="FDEBD9"/>
          </a:solidFill>
          <a:ln w="10160">
            <a:solidFill>
              <a:srgbClr val="C3C8D4"/>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r>
              <a:rPr sz="1250" b="1">
                <a:solidFill>
                  <a:srgbClr val="363A52"/>
                </a:solidFill>
                <a:latin typeface="210 OmniGothic 040"/>
                <a:ea typeface="210 OmniGothic 040"/>
                <a:cs typeface="210 OmniGothic 040"/>
              </a:rPr>
              <a:t>사용자</a:t>
            </a:r>
          </a:p>
          <a:p>
            <a:pPr algn="ctr">
              <a:buNone/>
            </a:pPr>
            <a:r>
              <a:rPr sz="1250" b="1">
                <a:solidFill>
                  <a:srgbClr val="363A52"/>
                </a:solidFill>
                <a:latin typeface="210 OmniGothic 040"/>
                <a:ea typeface="210 OmniGothic 040"/>
                <a:cs typeface="210 OmniGothic 040"/>
              </a:rPr>
              <a:t>(권한별)</a:t>
            </a:r>
          </a:p>
        </p:txBody>
      </p:sp>
      <p:sp>
        <p:nvSpPr>
          <p:cNvPr id="5086" name="Rectangle 5085">
            <a:extLst>
              <a:ext uri="{FF2B5EF4-FFF2-40B4-BE49-F238E27FC236}">
                <a16:creationId xmlns:a16="http://schemas.microsoft.com/office/drawing/2014/main" id="{7DAB4E53-3F86-4F7F-8E6A-6271310CBBE3}"/>
              </a:ext>
            </a:extLst>
          </p:cNvPr>
          <p:cNvSpPr>
            <a:spLocks noGrp="1"/>
          </p:cNvSpPr>
          <p:nvPr/>
        </p:nvSpPr>
        <p:spPr>
          <a:xfrm>
            <a:off x="822960" y="4477816"/>
            <a:ext cx="16459200" cy="2031796"/>
          </a:xfrm>
          <a:prstGeom prst="rect">
            <a:avLst/>
          </a:prstGeom>
          <a:solidFill>
            <a:srgbClr val="F6F7FA"/>
          </a:solidFill>
          <a:ln w="10160">
            <a:solidFill>
              <a:srgbClr val="C3C8D4"/>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endParaRPr/>
          </a:p>
        </p:txBody>
      </p:sp>
      <p:sp>
        <p:nvSpPr>
          <p:cNvPr id="5087" name="Rectangle 5086">
            <a:extLst>
              <a:ext uri="{FF2B5EF4-FFF2-40B4-BE49-F238E27FC236}">
                <a16:creationId xmlns:a16="http://schemas.microsoft.com/office/drawing/2014/main" id="{BC0DF840-4A43-4319-AB98-489DF71798C4}"/>
              </a:ext>
            </a:extLst>
          </p:cNvPr>
          <p:cNvSpPr>
            <a:spLocks noGrp="1"/>
          </p:cNvSpPr>
          <p:nvPr/>
        </p:nvSpPr>
        <p:spPr>
          <a:xfrm>
            <a:off x="822960" y="4477816"/>
            <a:ext cx="1257300" cy="2031796"/>
          </a:xfrm>
          <a:prstGeom prst="rect">
            <a:avLst/>
          </a:prstGeom>
          <a:solidFill>
            <a:srgbClr val="FDEBD9"/>
          </a:solidFill>
          <a:ln w="10160">
            <a:solidFill>
              <a:srgbClr val="C3C8D4"/>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r>
              <a:rPr sz="1250" b="1">
                <a:solidFill>
                  <a:srgbClr val="363A52"/>
                </a:solidFill>
                <a:latin typeface="210 OmniGothic 040"/>
                <a:ea typeface="210 OmniGothic 040"/>
                <a:cs typeface="210 OmniGothic 040"/>
              </a:rPr>
              <a:t>시스템</a:t>
            </a:r>
          </a:p>
          <a:p>
            <a:pPr algn="ctr">
              <a:buNone/>
            </a:pPr>
            <a:r>
              <a:rPr sz="1250" b="1">
                <a:solidFill>
                  <a:srgbClr val="363A52"/>
                </a:solidFill>
                <a:latin typeface="210 OmniGothic 040"/>
                <a:ea typeface="210 OmniGothic 040"/>
                <a:cs typeface="210 OmniGothic 040"/>
              </a:rPr>
              <a:t>(웹 · API 서버)</a:t>
            </a:r>
          </a:p>
        </p:txBody>
      </p:sp>
      <p:sp>
        <p:nvSpPr>
          <p:cNvPr id="5088" name="Rectangle 5087">
            <a:extLst>
              <a:ext uri="{FF2B5EF4-FFF2-40B4-BE49-F238E27FC236}">
                <a16:creationId xmlns:a16="http://schemas.microsoft.com/office/drawing/2014/main" id="{9B0B8B72-3514-47C9-AC35-87F5171F7707}"/>
              </a:ext>
            </a:extLst>
          </p:cNvPr>
          <p:cNvSpPr>
            <a:spLocks noGrp="1"/>
          </p:cNvSpPr>
          <p:nvPr/>
        </p:nvSpPr>
        <p:spPr>
          <a:xfrm>
            <a:off x="822960" y="6509613"/>
            <a:ext cx="16459200" cy="2031796"/>
          </a:xfrm>
          <a:prstGeom prst="rect">
            <a:avLst/>
          </a:prstGeom>
          <a:solidFill>
            <a:srgbClr val="EEF1F7"/>
          </a:solidFill>
          <a:ln w="10160">
            <a:solidFill>
              <a:srgbClr val="C3C8D4"/>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endParaRPr/>
          </a:p>
        </p:txBody>
      </p:sp>
      <p:sp>
        <p:nvSpPr>
          <p:cNvPr id="5089" name="Rectangle 5088">
            <a:extLst>
              <a:ext uri="{FF2B5EF4-FFF2-40B4-BE49-F238E27FC236}">
                <a16:creationId xmlns:a16="http://schemas.microsoft.com/office/drawing/2014/main" id="{920A4647-ECD5-4310-AC49-5D5E8B7AE256}"/>
              </a:ext>
            </a:extLst>
          </p:cNvPr>
          <p:cNvSpPr>
            <a:spLocks noGrp="1"/>
          </p:cNvSpPr>
          <p:nvPr/>
        </p:nvSpPr>
        <p:spPr>
          <a:xfrm>
            <a:off x="822960" y="6509613"/>
            <a:ext cx="1257300" cy="2031796"/>
          </a:xfrm>
          <a:prstGeom prst="rect">
            <a:avLst/>
          </a:prstGeom>
          <a:solidFill>
            <a:srgbClr val="FDEBD9"/>
          </a:solidFill>
          <a:ln w="10160">
            <a:solidFill>
              <a:srgbClr val="C3C8D4"/>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r>
              <a:rPr sz="1250" b="1">
                <a:solidFill>
                  <a:srgbClr val="363A52"/>
                </a:solidFill>
                <a:latin typeface="210 OmniGothic 040"/>
                <a:ea typeface="210 OmniGothic 040"/>
                <a:cs typeface="210 OmniGothic 040"/>
              </a:rPr>
              <a:t>외부 · AI 모듈</a:t>
            </a:r>
          </a:p>
        </p:txBody>
      </p:sp>
      <p:sp>
        <p:nvSpPr>
          <p:cNvPr id="5090" name="Rounded Rectangle 5089">
            <a:extLst>
              <a:ext uri="{FF2B5EF4-FFF2-40B4-BE49-F238E27FC236}">
                <a16:creationId xmlns:a16="http://schemas.microsoft.com/office/drawing/2014/main" id="{748E786E-A1BB-4201-9B2A-18E955EA00BE}"/>
              </a:ext>
            </a:extLst>
          </p:cNvPr>
          <p:cNvSpPr>
            <a:spLocks noGrp="1"/>
          </p:cNvSpPr>
          <p:nvPr/>
        </p:nvSpPr>
        <p:spPr>
          <a:xfrm>
            <a:off x="2217420" y="2808122"/>
            <a:ext cx="1714500" cy="1307592"/>
          </a:xfrm>
          <a:prstGeom prst="roundRect">
            <a:avLst>
              <a:gd name="adj" fmla="val 8000"/>
            </a:avLst>
          </a:prstGeom>
          <a:solidFill>
            <a:srgbClr val="FFFFFF"/>
          </a:solidFill>
          <a:ln w="11430">
            <a:solidFill>
              <a:srgbClr val="B6BCCB"/>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endParaRPr/>
          </a:p>
        </p:txBody>
      </p:sp>
      <p:sp>
        <p:nvSpPr>
          <p:cNvPr id="5091" name="TextBox 5090">
            <a:extLst>
              <a:ext uri="{FF2B5EF4-FFF2-40B4-BE49-F238E27FC236}">
                <a16:creationId xmlns:a16="http://schemas.microsoft.com/office/drawing/2014/main" id="{8BF51D12-3694-49E0-BFDA-6E1ED8296DBE}"/>
              </a:ext>
            </a:extLst>
          </p:cNvPr>
          <p:cNvSpPr>
            <a:spLocks noGrp="1"/>
          </p:cNvSpPr>
          <p:nvPr/>
        </p:nvSpPr>
        <p:spPr>
          <a:xfrm>
            <a:off x="2274570" y="2888589"/>
            <a:ext cx="1600200" cy="1186891"/>
          </a:xfrm>
          <a:prstGeom prst="rect">
            <a:avLst/>
          </a:prstGeom>
          <a:noFill/>
        </p:spPr>
        <p:txBody>
          <a:bodyPr wrap="square" lIns="0" tIns="0" rIns="0" bIns="0" anchor="ctr">
            <a:spAutoFit/>
          </a:bodyPr>
          <a:lstStyle/>
          <a:p>
            <a:pPr algn="ctr">
              <a:lnSpc>
                <a:spcPct val="105000"/>
              </a:lnSpc>
              <a:buNone/>
            </a:pPr>
            <a:r>
              <a:rPr sz="1250" b="1">
                <a:solidFill>
                  <a:srgbClr val="2E3142"/>
                </a:solidFill>
                <a:latin typeface="210 OmniGothic 040"/>
                <a:ea typeface="210 OmniGothic 040"/>
                <a:cs typeface="210 OmniGothic 040"/>
              </a:rPr>
              <a:t>로그인</a:t>
            </a:r>
          </a:p>
          <a:p>
            <a:pPr algn="ctr">
              <a:lnSpc>
                <a:spcPct val="105000"/>
              </a:lnSpc>
              <a:buNone/>
            </a:pPr>
            <a:r>
              <a:rPr sz="1250" b="1">
                <a:solidFill>
                  <a:srgbClr val="2E3142"/>
                </a:solidFill>
                <a:latin typeface="210 OmniGothic 040"/>
                <a:ea typeface="210 OmniGothic 040"/>
                <a:cs typeface="210 OmniGothic 040"/>
              </a:rPr>
              <a:t>5회 실패 시 잠금</a:t>
            </a:r>
          </a:p>
          <a:p>
            <a:pPr algn="ctr">
              <a:lnSpc>
                <a:spcPct val="105000"/>
              </a:lnSpc>
              <a:buNone/>
            </a:pPr>
            <a:r>
              <a:rPr sz="1250" b="1">
                <a:solidFill>
                  <a:srgbClr val="2E3142"/>
                </a:solidFill>
                <a:latin typeface="210 OmniGothic 040"/>
                <a:ea typeface="210 OmniGothic 040"/>
                <a:cs typeface="210 OmniGothic 040"/>
              </a:rPr>
              <a:t>관리자 잠금 해제</a:t>
            </a:r>
          </a:p>
        </p:txBody>
      </p:sp>
      <p:sp>
        <p:nvSpPr>
          <p:cNvPr id="5092" name="Oval 5091">
            <a:extLst>
              <a:ext uri="{FF2B5EF4-FFF2-40B4-BE49-F238E27FC236}">
                <a16:creationId xmlns:a16="http://schemas.microsoft.com/office/drawing/2014/main" id="{0CC34AFF-8327-40CA-AE8B-B0B9D6F8D51E}"/>
              </a:ext>
            </a:extLst>
          </p:cNvPr>
          <p:cNvSpPr>
            <a:spLocks noGrp="1"/>
          </p:cNvSpPr>
          <p:nvPr/>
        </p:nvSpPr>
        <p:spPr>
          <a:xfrm>
            <a:off x="2089404" y="2677363"/>
            <a:ext cx="301752" cy="301752"/>
          </a:xfrm>
          <a:prstGeom prst="ellipse">
            <a:avLst/>
          </a:prstGeom>
          <a:solidFill>
            <a:srgbClr val="FAA95A"/>
          </a:solidFill>
          <a:ln>
            <a:noFill/>
          </a:ln>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algn="ctr">
              <a:buNone/>
            </a:pPr>
            <a:r>
              <a:rPr sz="1150" b="1">
                <a:solidFill>
                  <a:srgbClr val="FFFFFF"/>
                </a:solidFill>
                <a:latin typeface="210 OmniGothic 040"/>
                <a:ea typeface="210 OmniGothic 040"/>
                <a:cs typeface="210 OmniGothic 040"/>
              </a:rPr>
              <a:t>1</a:t>
            </a:r>
          </a:p>
        </p:txBody>
      </p:sp>
      <p:sp>
        <p:nvSpPr>
          <p:cNvPr id="5093" name="Rounded Rectangle 5092">
            <a:extLst>
              <a:ext uri="{FF2B5EF4-FFF2-40B4-BE49-F238E27FC236}">
                <a16:creationId xmlns:a16="http://schemas.microsoft.com/office/drawing/2014/main" id="{1AC10288-D8E4-4B5A-9A98-CABE27411F69}"/>
              </a:ext>
            </a:extLst>
          </p:cNvPr>
          <p:cNvSpPr>
            <a:spLocks noGrp="1"/>
          </p:cNvSpPr>
          <p:nvPr/>
        </p:nvSpPr>
        <p:spPr>
          <a:xfrm>
            <a:off x="2217420" y="4839919"/>
            <a:ext cx="1714500" cy="1307592"/>
          </a:xfrm>
          <a:prstGeom prst="roundRect">
            <a:avLst>
              <a:gd name="adj" fmla="val 8000"/>
            </a:avLst>
          </a:prstGeom>
          <a:solidFill>
            <a:srgbClr val="FFFFFF"/>
          </a:solidFill>
          <a:ln w="11430">
            <a:solidFill>
              <a:srgbClr val="B6BCCB"/>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endParaRPr/>
          </a:p>
        </p:txBody>
      </p:sp>
      <p:sp>
        <p:nvSpPr>
          <p:cNvPr id="5094" name="TextBox 5093">
            <a:extLst>
              <a:ext uri="{FF2B5EF4-FFF2-40B4-BE49-F238E27FC236}">
                <a16:creationId xmlns:a16="http://schemas.microsoft.com/office/drawing/2014/main" id="{9F2E5775-9C08-4C2C-8398-136E965AC6A7}"/>
              </a:ext>
            </a:extLst>
          </p:cNvPr>
          <p:cNvSpPr>
            <a:spLocks noGrp="1"/>
          </p:cNvSpPr>
          <p:nvPr/>
        </p:nvSpPr>
        <p:spPr>
          <a:xfrm>
            <a:off x="2274570" y="4920386"/>
            <a:ext cx="1600200" cy="1186891"/>
          </a:xfrm>
          <a:prstGeom prst="rect">
            <a:avLst/>
          </a:prstGeom>
          <a:noFill/>
        </p:spPr>
        <p:txBody>
          <a:bodyPr wrap="square" lIns="0" tIns="0" rIns="0" bIns="0" anchor="ctr">
            <a:spAutoFit/>
          </a:bodyPr>
          <a:lstStyle/>
          <a:p>
            <a:pPr algn="ctr">
              <a:lnSpc>
                <a:spcPct val="105000"/>
              </a:lnSpc>
              <a:buNone/>
            </a:pPr>
            <a:r>
              <a:rPr sz="1250" b="1">
                <a:solidFill>
                  <a:srgbClr val="2E3142"/>
                </a:solidFill>
                <a:latin typeface="210 OmniGothic 040"/>
                <a:ea typeface="210 OmniGothic 040"/>
                <a:cs typeface="210 OmniGothic 040"/>
              </a:rPr>
              <a:t>잠금 여부 확인</a:t>
            </a:r>
          </a:p>
          <a:p>
            <a:pPr algn="ctr">
              <a:lnSpc>
                <a:spcPct val="105000"/>
              </a:lnSpc>
              <a:buNone/>
            </a:pPr>
            <a:r>
              <a:rPr sz="1250" b="1">
                <a:solidFill>
                  <a:srgbClr val="2E3142"/>
                </a:solidFill>
                <a:latin typeface="210 OmniGothic 040"/>
                <a:ea typeface="210 OmniGothic 040"/>
                <a:cs typeface="210 OmniGothic 040"/>
              </a:rPr>
              <a:t>JWT · 권한 적용</a:t>
            </a:r>
          </a:p>
          <a:p>
            <a:pPr algn="ctr">
              <a:lnSpc>
                <a:spcPct val="105000"/>
              </a:lnSpc>
              <a:buNone/>
            </a:pPr>
            <a:r>
              <a:rPr sz="1250" b="1">
                <a:solidFill>
                  <a:srgbClr val="2E3142"/>
                </a:solidFill>
                <a:latin typeface="210 OmniGothic 040"/>
                <a:ea typeface="210 OmniGothic 040"/>
                <a:cs typeface="210 OmniGothic 040"/>
              </a:rPr>
              <a:t>실패 횟수 관리</a:t>
            </a:r>
          </a:p>
        </p:txBody>
      </p:sp>
      <p:sp>
        <p:nvSpPr>
          <p:cNvPr id="5095" name="Rounded Rectangle 5094">
            <a:extLst>
              <a:ext uri="{FF2B5EF4-FFF2-40B4-BE49-F238E27FC236}">
                <a16:creationId xmlns:a16="http://schemas.microsoft.com/office/drawing/2014/main" id="{8A2C5D3D-4991-46F5-A4D7-BC649C841535}"/>
              </a:ext>
            </a:extLst>
          </p:cNvPr>
          <p:cNvSpPr>
            <a:spLocks noGrp="1"/>
          </p:cNvSpPr>
          <p:nvPr/>
        </p:nvSpPr>
        <p:spPr>
          <a:xfrm>
            <a:off x="4097655" y="2808122"/>
            <a:ext cx="1714500" cy="1307592"/>
          </a:xfrm>
          <a:prstGeom prst="roundRect">
            <a:avLst>
              <a:gd name="adj" fmla="val 8000"/>
            </a:avLst>
          </a:prstGeom>
          <a:solidFill>
            <a:srgbClr val="FFFFFF"/>
          </a:solidFill>
          <a:ln w="11430">
            <a:solidFill>
              <a:srgbClr val="B6BCCB"/>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endParaRPr/>
          </a:p>
        </p:txBody>
      </p:sp>
      <p:sp>
        <p:nvSpPr>
          <p:cNvPr id="5096" name="TextBox 5095">
            <a:extLst>
              <a:ext uri="{FF2B5EF4-FFF2-40B4-BE49-F238E27FC236}">
                <a16:creationId xmlns:a16="http://schemas.microsoft.com/office/drawing/2014/main" id="{C548DDEE-8507-4864-B076-F77CD38A231D}"/>
              </a:ext>
            </a:extLst>
          </p:cNvPr>
          <p:cNvSpPr>
            <a:spLocks noGrp="1"/>
          </p:cNvSpPr>
          <p:nvPr/>
        </p:nvSpPr>
        <p:spPr>
          <a:xfrm>
            <a:off x="4154805" y="2888589"/>
            <a:ext cx="1600200" cy="1186891"/>
          </a:xfrm>
          <a:prstGeom prst="rect">
            <a:avLst/>
          </a:prstGeom>
          <a:noFill/>
        </p:spPr>
        <p:txBody>
          <a:bodyPr wrap="square" lIns="0" tIns="0" rIns="0" bIns="0" anchor="ctr">
            <a:spAutoFit/>
          </a:bodyPr>
          <a:lstStyle/>
          <a:p>
            <a:pPr algn="ctr">
              <a:lnSpc>
                <a:spcPct val="105000"/>
              </a:lnSpc>
              <a:buNone/>
            </a:pPr>
            <a:r>
              <a:rPr sz="1250" b="1">
                <a:solidFill>
                  <a:srgbClr val="2E3142"/>
                </a:solidFill>
                <a:latin typeface="210 OmniGothic 040"/>
                <a:ea typeface="210 OmniGothic 040"/>
                <a:cs typeface="210 OmniGothic 040"/>
              </a:rPr>
              <a:t>산불 정보 입력</a:t>
            </a:r>
          </a:p>
          <a:p>
            <a:pPr algn="ctr">
              <a:lnSpc>
                <a:spcPct val="105000"/>
              </a:lnSpc>
              <a:buNone/>
            </a:pPr>
            <a:r>
              <a:rPr sz="1050" b="0">
                <a:solidFill>
                  <a:srgbClr val="6B7080"/>
                </a:solidFill>
                <a:latin typeface="210 OmniGothic 040"/>
                <a:ea typeface="210 OmniGothic 040"/>
                <a:cs typeface="210 OmniGothic 040"/>
              </a:rPr>
              <a:t>상황 보고자발화점·일시·실측 화선</a:t>
            </a:r>
            <a:br>
              <a:rPr sz="1050" b="0">
                <a:solidFill>
                  <a:srgbClr val="6B7080"/>
                </a:solidFill>
                <a:latin typeface="210 OmniGothic 040"/>
                <a:ea typeface="210 OmniGothic 040"/>
                <a:cs typeface="210 OmniGothic 040"/>
              </a:rPr>
            </a:br>
            <a:endParaRPr sz="1050" b="0">
              <a:solidFill>
                <a:srgbClr val="6B7080"/>
              </a:solidFill>
              <a:latin typeface="210 OmniGothic 040"/>
              <a:ea typeface="210 OmniGothic 040"/>
              <a:cs typeface="210 OmniGothic 040"/>
            </a:endParaRPr>
          </a:p>
        </p:txBody>
      </p:sp>
      <p:sp>
        <p:nvSpPr>
          <p:cNvPr id="5097" name="Oval 5096">
            <a:extLst>
              <a:ext uri="{FF2B5EF4-FFF2-40B4-BE49-F238E27FC236}">
                <a16:creationId xmlns:a16="http://schemas.microsoft.com/office/drawing/2014/main" id="{752BD9BA-8124-4FF0-BD9B-E07F9B117F1C}"/>
              </a:ext>
            </a:extLst>
          </p:cNvPr>
          <p:cNvSpPr>
            <a:spLocks noGrp="1"/>
          </p:cNvSpPr>
          <p:nvPr/>
        </p:nvSpPr>
        <p:spPr>
          <a:xfrm>
            <a:off x="3969639" y="2677363"/>
            <a:ext cx="301752" cy="301752"/>
          </a:xfrm>
          <a:prstGeom prst="ellipse">
            <a:avLst/>
          </a:prstGeom>
          <a:solidFill>
            <a:srgbClr val="FAA95A"/>
          </a:solidFill>
          <a:ln>
            <a:noFill/>
          </a:ln>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algn="ctr">
              <a:buNone/>
            </a:pPr>
            <a:r>
              <a:rPr sz="1150" b="1">
                <a:solidFill>
                  <a:srgbClr val="FFFFFF"/>
                </a:solidFill>
                <a:latin typeface="210 OmniGothic 040"/>
                <a:ea typeface="210 OmniGothic 040"/>
                <a:cs typeface="210 OmniGothic 040"/>
              </a:rPr>
              <a:t>2</a:t>
            </a:r>
          </a:p>
        </p:txBody>
      </p:sp>
      <p:sp>
        <p:nvSpPr>
          <p:cNvPr id="5098" name="Rounded Rectangle 5097">
            <a:extLst>
              <a:ext uri="{FF2B5EF4-FFF2-40B4-BE49-F238E27FC236}">
                <a16:creationId xmlns:a16="http://schemas.microsoft.com/office/drawing/2014/main" id="{5B3D8B38-A29E-4970-9111-E40167CA7275}"/>
              </a:ext>
            </a:extLst>
          </p:cNvPr>
          <p:cNvSpPr>
            <a:spLocks noGrp="1"/>
          </p:cNvSpPr>
          <p:nvPr/>
        </p:nvSpPr>
        <p:spPr>
          <a:xfrm>
            <a:off x="4097655" y="4839919"/>
            <a:ext cx="1714500" cy="1307592"/>
          </a:xfrm>
          <a:prstGeom prst="roundRect">
            <a:avLst>
              <a:gd name="adj" fmla="val 8000"/>
            </a:avLst>
          </a:prstGeom>
          <a:solidFill>
            <a:srgbClr val="FFFFFF"/>
          </a:solidFill>
          <a:ln w="11430">
            <a:solidFill>
              <a:srgbClr val="B6BCCB"/>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endParaRPr/>
          </a:p>
        </p:txBody>
      </p:sp>
      <p:sp>
        <p:nvSpPr>
          <p:cNvPr id="5099" name="TextBox 5098">
            <a:extLst>
              <a:ext uri="{FF2B5EF4-FFF2-40B4-BE49-F238E27FC236}">
                <a16:creationId xmlns:a16="http://schemas.microsoft.com/office/drawing/2014/main" id="{BFAD2DB0-BA9C-41E5-BC87-03B678B71A5B}"/>
              </a:ext>
            </a:extLst>
          </p:cNvPr>
          <p:cNvSpPr>
            <a:spLocks noGrp="1"/>
          </p:cNvSpPr>
          <p:nvPr/>
        </p:nvSpPr>
        <p:spPr>
          <a:xfrm>
            <a:off x="4154805" y="4920386"/>
            <a:ext cx="1600200" cy="1186891"/>
          </a:xfrm>
          <a:prstGeom prst="rect">
            <a:avLst/>
          </a:prstGeom>
          <a:noFill/>
        </p:spPr>
        <p:txBody>
          <a:bodyPr wrap="square" lIns="0" tIns="0" rIns="0" bIns="0" anchor="ctr">
            <a:spAutoFit/>
          </a:bodyPr>
          <a:lstStyle/>
          <a:p>
            <a:pPr algn="ctr">
              <a:lnSpc>
                <a:spcPct val="105000"/>
              </a:lnSpc>
              <a:buNone/>
            </a:pPr>
            <a:r>
              <a:rPr sz="1250" b="1">
                <a:solidFill>
                  <a:srgbClr val="2E3142"/>
                </a:solidFill>
                <a:latin typeface="210 OmniGothic 040"/>
                <a:ea typeface="210 OmniGothic 040"/>
                <a:cs typeface="210 OmniGothic 040"/>
              </a:rPr>
              <a:t>종료 여부 · 입력 검증</a:t>
            </a:r>
          </a:p>
          <a:p>
            <a:pPr algn="ctr">
              <a:lnSpc>
                <a:spcPct val="105000"/>
              </a:lnSpc>
              <a:buNone/>
            </a:pPr>
            <a:r>
              <a:rPr sz="1250" b="1">
                <a:solidFill>
                  <a:srgbClr val="2E3142"/>
                </a:solidFill>
                <a:latin typeface="210 OmniGothic 040"/>
                <a:ea typeface="210 OmniGothic 040"/>
                <a:cs typeface="210 OmniGothic 040"/>
              </a:rPr>
              <a:t>종료 사건 수정 차단</a:t>
            </a:r>
          </a:p>
          <a:p>
            <a:pPr algn="ctr">
              <a:lnSpc>
                <a:spcPct val="105000"/>
              </a:lnSpc>
              <a:buNone/>
            </a:pPr>
            <a:r>
              <a:rPr sz="1250" b="1">
                <a:solidFill>
                  <a:srgbClr val="2E3142"/>
                </a:solidFill>
                <a:latin typeface="210 OmniGothic 040"/>
                <a:ea typeface="210 OmniGothic 040"/>
                <a:cs typeface="210 OmniGothic 040"/>
              </a:rPr>
              <a:t>저장 · 로그 기록</a:t>
            </a:r>
          </a:p>
        </p:txBody>
      </p:sp>
      <p:sp>
        <p:nvSpPr>
          <p:cNvPr id="5100" name="Rounded Rectangle 5099">
            <a:extLst>
              <a:ext uri="{FF2B5EF4-FFF2-40B4-BE49-F238E27FC236}">
                <a16:creationId xmlns:a16="http://schemas.microsoft.com/office/drawing/2014/main" id="{87991827-7ACD-4255-90A0-026EEB7EAA5A}"/>
              </a:ext>
            </a:extLst>
          </p:cNvPr>
          <p:cNvSpPr>
            <a:spLocks noGrp="1"/>
          </p:cNvSpPr>
          <p:nvPr/>
        </p:nvSpPr>
        <p:spPr>
          <a:xfrm>
            <a:off x="5977890" y="2808122"/>
            <a:ext cx="1714500" cy="1307592"/>
          </a:xfrm>
          <a:prstGeom prst="roundRect">
            <a:avLst>
              <a:gd name="adj" fmla="val 8000"/>
            </a:avLst>
          </a:prstGeom>
          <a:solidFill>
            <a:srgbClr val="FFFFFF"/>
          </a:solidFill>
          <a:ln w="11430">
            <a:solidFill>
              <a:srgbClr val="B6BCCB"/>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endParaRPr/>
          </a:p>
        </p:txBody>
      </p:sp>
      <p:sp>
        <p:nvSpPr>
          <p:cNvPr id="5101" name="TextBox 5100">
            <a:extLst>
              <a:ext uri="{FF2B5EF4-FFF2-40B4-BE49-F238E27FC236}">
                <a16:creationId xmlns:a16="http://schemas.microsoft.com/office/drawing/2014/main" id="{95FC87AB-5B94-4304-9AFC-30EDFEDC123A}"/>
              </a:ext>
            </a:extLst>
          </p:cNvPr>
          <p:cNvSpPr>
            <a:spLocks noGrp="1"/>
          </p:cNvSpPr>
          <p:nvPr/>
        </p:nvSpPr>
        <p:spPr>
          <a:xfrm>
            <a:off x="6035040" y="2888589"/>
            <a:ext cx="1600200" cy="1186891"/>
          </a:xfrm>
          <a:prstGeom prst="rect">
            <a:avLst/>
          </a:prstGeom>
          <a:noFill/>
        </p:spPr>
        <p:txBody>
          <a:bodyPr wrap="square" lIns="0" tIns="0" rIns="0" bIns="0" anchor="ctr">
            <a:spAutoFit/>
          </a:bodyPr>
          <a:lstStyle/>
          <a:p>
            <a:pPr algn="ctr">
              <a:lnSpc>
                <a:spcPct val="105000"/>
              </a:lnSpc>
              <a:buNone/>
            </a:pPr>
            <a:r>
              <a:rPr sz="1250" b="1">
                <a:solidFill>
                  <a:srgbClr val="2E3142"/>
                </a:solidFill>
                <a:latin typeface="210 OmniGothic 040"/>
                <a:ea typeface="210 OmniGothic 040"/>
                <a:cs typeface="210 OmniGothic 040"/>
              </a:rPr>
              <a:t>상황 확인</a:t>
            </a:r>
          </a:p>
          <a:p>
            <a:pPr algn="ctr">
              <a:lnSpc>
                <a:spcPct val="105000"/>
              </a:lnSpc>
              <a:buNone/>
            </a:pPr>
            <a:r>
              <a:rPr sz="1050" b="0">
                <a:solidFill>
                  <a:srgbClr val="6B7080"/>
                </a:solidFill>
                <a:latin typeface="210 OmniGothic 040"/>
                <a:ea typeface="210 OmniGothic 040"/>
                <a:cs typeface="210 OmniGothic 040"/>
              </a:rPr>
              <a:t>통합 상황도 · 접수</a:t>
            </a:r>
            <a:br>
              <a:rPr sz="1050" b="0">
                <a:solidFill>
                  <a:srgbClr val="6B7080"/>
                </a:solidFill>
                <a:latin typeface="210 OmniGothic 040"/>
                <a:ea typeface="210 OmniGothic 040"/>
                <a:cs typeface="210 OmniGothic 040"/>
              </a:rPr>
            </a:br>
            <a:r>
              <a:rPr sz="1050" b="0">
                <a:solidFill>
                  <a:srgbClr val="6B7080"/>
                </a:solidFill>
                <a:latin typeface="210 OmniGothic 040"/>
                <a:ea typeface="210 OmniGothic 040"/>
                <a:cs typeface="210 OmniGothic 040"/>
              </a:rPr>
              <a:t>자원 · 위험도</a:t>
            </a:r>
          </a:p>
        </p:txBody>
      </p:sp>
      <p:sp>
        <p:nvSpPr>
          <p:cNvPr id="5102" name="Oval 5101">
            <a:extLst>
              <a:ext uri="{FF2B5EF4-FFF2-40B4-BE49-F238E27FC236}">
                <a16:creationId xmlns:a16="http://schemas.microsoft.com/office/drawing/2014/main" id="{478B2D84-274F-48E8-8360-CB1DE28F9E9C}"/>
              </a:ext>
            </a:extLst>
          </p:cNvPr>
          <p:cNvSpPr>
            <a:spLocks noGrp="1"/>
          </p:cNvSpPr>
          <p:nvPr/>
        </p:nvSpPr>
        <p:spPr>
          <a:xfrm>
            <a:off x="5849874" y="2677363"/>
            <a:ext cx="301752" cy="301752"/>
          </a:xfrm>
          <a:prstGeom prst="ellipse">
            <a:avLst/>
          </a:prstGeom>
          <a:solidFill>
            <a:srgbClr val="FAA95A"/>
          </a:solidFill>
          <a:ln>
            <a:noFill/>
          </a:ln>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algn="ctr">
              <a:buNone/>
            </a:pPr>
            <a:r>
              <a:rPr sz="1150" b="1">
                <a:solidFill>
                  <a:srgbClr val="FFFFFF"/>
                </a:solidFill>
                <a:latin typeface="210 OmniGothic 040"/>
                <a:ea typeface="210 OmniGothic 040"/>
                <a:cs typeface="210 OmniGothic 040"/>
              </a:rPr>
              <a:t>3</a:t>
            </a:r>
          </a:p>
        </p:txBody>
      </p:sp>
      <p:sp>
        <p:nvSpPr>
          <p:cNvPr id="5103" name="Rounded Rectangle 5102">
            <a:extLst>
              <a:ext uri="{FF2B5EF4-FFF2-40B4-BE49-F238E27FC236}">
                <a16:creationId xmlns:a16="http://schemas.microsoft.com/office/drawing/2014/main" id="{293BE0A2-4395-4C3A-8AF5-9FB727EE767E}"/>
              </a:ext>
            </a:extLst>
          </p:cNvPr>
          <p:cNvSpPr>
            <a:spLocks noGrp="1"/>
          </p:cNvSpPr>
          <p:nvPr/>
        </p:nvSpPr>
        <p:spPr>
          <a:xfrm>
            <a:off x="5977890" y="4839919"/>
            <a:ext cx="1714500" cy="1307592"/>
          </a:xfrm>
          <a:prstGeom prst="roundRect">
            <a:avLst>
              <a:gd name="adj" fmla="val 8000"/>
            </a:avLst>
          </a:prstGeom>
          <a:solidFill>
            <a:srgbClr val="FFFFFF"/>
          </a:solidFill>
          <a:ln w="11430">
            <a:solidFill>
              <a:srgbClr val="B6BCCB"/>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endParaRPr/>
          </a:p>
        </p:txBody>
      </p:sp>
      <p:sp>
        <p:nvSpPr>
          <p:cNvPr id="5104" name="TextBox 5103">
            <a:extLst>
              <a:ext uri="{FF2B5EF4-FFF2-40B4-BE49-F238E27FC236}">
                <a16:creationId xmlns:a16="http://schemas.microsoft.com/office/drawing/2014/main" id="{B4C39432-011F-43E0-96A5-F12359D593CF}"/>
              </a:ext>
            </a:extLst>
          </p:cNvPr>
          <p:cNvSpPr>
            <a:spLocks noGrp="1"/>
          </p:cNvSpPr>
          <p:nvPr/>
        </p:nvSpPr>
        <p:spPr>
          <a:xfrm>
            <a:off x="6035040" y="5158349"/>
            <a:ext cx="1600200" cy="710964"/>
          </a:xfrm>
          <a:prstGeom prst="rect">
            <a:avLst/>
          </a:prstGeom>
          <a:noFill/>
        </p:spPr>
        <p:txBody>
          <a:bodyPr wrap="square" lIns="0" tIns="0" rIns="0" bIns="0" anchor="ctr">
            <a:spAutoFit/>
          </a:bodyPr>
          <a:lstStyle/>
          <a:p>
            <a:pPr algn="ctr">
              <a:lnSpc>
                <a:spcPct val="105000"/>
              </a:lnSpc>
              <a:buNone/>
            </a:pPr>
            <a:r>
              <a:rPr sz="1250" b="1" dirty="0" err="1">
                <a:solidFill>
                  <a:srgbClr val="2E3142"/>
                </a:solidFill>
                <a:latin typeface="210 OmniGothic 040"/>
                <a:ea typeface="210 OmniGothic 040"/>
                <a:cs typeface="210 OmniGothic 040"/>
              </a:rPr>
              <a:t>지도</a:t>
            </a:r>
            <a:r>
              <a:rPr sz="1250" b="1" dirty="0">
                <a:solidFill>
                  <a:srgbClr val="2E3142"/>
                </a:solidFill>
                <a:latin typeface="210 OmniGothic 040"/>
                <a:ea typeface="210 OmniGothic 040"/>
                <a:cs typeface="210 OmniGothic 040"/>
              </a:rPr>
              <a:t> · </a:t>
            </a:r>
            <a:r>
              <a:rPr sz="1250" b="1" dirty="0" err="1">
                <a:solidFill>
                  <a:srgbClr val="2E3142"/>
                </a:solidFill>
                <a:latin typeface="210 OmniGothic 040"/>
                <a:ea typeface="210 OmniGothic 040"/>
                <a:cs typeface="210 OmniGothic 040"/>
              </a:rPr>
              <a:t>위험도</a:t>
            </a:r>
            <a:r>
              <a:rPr sz="1250" b="1" dirty="0">
                <a:solidFill>
                  <a:srgbClr val="2E3142"/>
                </a:solidFill>
                <a:latin typeface="210 OmniGothic 040"/>
                <a:ea typeface="210 OmniGothic 040"/>
                <a:cs typeface="210 OmniGothic 040"/>
              </a:rPr>
              <a:t> </a:t>
            </a:r>
            <a:r>
              <a:rPr sz="1250" b="1" dirty="0" err="1">
                <a:solidFill>
                  <a:srgbClr val="2E3142"/>
                </a:solidFill>
                <a:latin typeface="210 OmniGothic 040"/>
                <a:ea typeface="210 OmniGothic 040"/>
                <a:cs typeface="210 OmniGothic 040"/>
              </a:rPr>
              <a:t>조회</a:t>
            </a:r>
            <a:endParaRPr sz="1250" b="1" dirty="0">
              <a:solidFill>
                <a:srgbClr val="2E3142"/>
              </a:solidFill>
              <a:latin typeface="210 OmniGothic 040"/>
              <a:ea typeface="210 OmniGothic 040"/>
              <a:cs typeface="210 OmniGothic 040"/>
            </a:endParaRPr>
          </a:p>
          <a:p>
            <a:pPr algn="ctr">
              <a:lnSpc>
                <a:spcPct val="105000"/>
              </a:lnSpc>
              <a:buNone/>
            </a:pPr>
            <a:r>
              <a:rPr sz="1050" b="0" dirty="0" err="1">
                <a:solidFill>
                  <a:srgbClr val="6B7080"/>
                </a:solidFill>
                <a:latin typeface="210 OmniGothic 040"/>
                <a:ea typeface="210 OmniGothic 040"/>
                <a:cs typeface="210 OmniGothic 040"/>
              </a:rPr>
              <a:t>시설</a:t>
            </a:r>
            <a:r>
              <a:rPr sz="1050" b="0" dirty="0">
                <a:solidFill>
                  <a:srgbClr val="6B7080"/>
                </a:solidFill>
                <a:latin typeface="210 OmniGothic 040"/>
                <a:ea typeface="210 OmniGothic 040"/>
                <a:cs typeface="210 OmniGothic 040"/>
              </a:rPr>
              <a:t> </a:t>
            </a:r>
            <a:r>
              <a:rPr sz="1050" b="0" dirty="0" err="1">
                <a:solidFill>
                  <a:srgbClr val="6B7080"/>
                </a:solidFill>
                <a:latin typeface="210 OmniGothic 040"/>
                <a:ea typeface="210 OmniGothic 040"/>
                <a:cs typeface="210 OmniGothic 040"/>
              </a:rPr>
              <a:t>위치</a:t>
            </a:r>
            <a:r>
              <a:rPr sz="1050" b="0" dirty="0">
                <a:solidFill>
                  <a:srgbClr val="6B7080"/>
                </a:solidFill>
                <a:latin typeface="210 OmniGothic 040"/>
                <a:ea typeface="210 OmniGothic 040"/>
                <a:cs typeface="210 OmniGothic 040"/>
              </a:rPr>
              <a:t> · </a:t>
            </a:r>
            <a:r>
              <a:rPr sz="1050" b="0" dirty="0" err="1">
                <a:solidFill>
                  <a:srgbClr val="6B7080"/>
                </a:solidFill>
                <a:latin typeface="210 OmniGothic 040"/>
                <a:ea typeface="210 OmniGothic 040"/>
                <a:cs typeface="210 OmniGothic 040"/>
              </a:rPr>
              <a:t>자원</a:t>
            </a:r>
            <a:r>
              <a:rPr sz="1050" b="0" dirty="0">
                <a:solidFill>
                  <a:srgbClr val="6B7080"/>
                </a:solidFill>
                <a:latin typeface="210 OmniGothic 040"/>
                <a:ea typeface="210 OmniGothic 040"/>
                <a:cs typeface="210 OmniGothic 040"/>
              </a:rPr>
              <a:t> 합계</a:t>
            </a:r>
            <a:r>
              <a:rPr sz="1050" b="0" dirty="0">
                <a:solidFill>
                  <a:srgbClr val="FF0000"/>
                </a:solidFill>
                <a:latin typeface="210 OmniGothic 040"/>
                <a:ea typeface="210 OmniGothic 040"/>
                <a:cs typeface="210 OmniGothic 040"/>
              </a:rPr>
              <a:t>P</a:t>
            </a:r>
            <a:r>
              <a:rPr sz="1050" b="0" dirty="0">
                <a:solidFill>
                  <a:srgbClr val="FF0000"/>
                </a:solidFill>
                <a:latin typeface="210 OmniGothic 040"/>
                <a:ea typeface="210 OmniGothic 040"/>
                <a:cs typeface="210 OmniGothic 040"/>
              </a:rPr>
              <a:t>5</a:t>
            </a:r>
            <a:r>
              <a:rPr sz="1050" b="0" dirty="0">
                <a:solidFill>
                  <a:srgbClr val="6B7080"/>
                </a:solidFill>
                <a:latin typeface="210 OmniGothic 040"/>
                <a:ea typeface="210 OmniGothic 040"/>
                <a:cs typeface="210 OmniGothic 040"/>
              </a:rPr>
              <a:t> </a:t>
            </a:r>
            <a:br>
              <a:rPr lang="en-US" sz="1050" b="0" dirty="0">
                <a:solidFill>
                  <a:srgbClr val="6B7080"/>
                </a:solidFill>
                <a:latin typeface="210 OmniGothic 040"/>
                <a:ea typeface="210 OmniGothic 040"/>
                <a:cs typeface="210 OmniGothic 040"/>
              </a:rPr>
            </a:br>
            <a:r>
              <a:rPr sz="1050" b="0" dirty="0" err="1">
                <a:solidFill>
                  <a:srgbClr val="FF0000"/>
                </a:solidFill>
                <a:latin typeface="210 OmniGothic 040"/>
                <a:ea typeface="210 OmniGothic 040"/>
                <a:cs typeface="210 OmniGothic 040"/>
              </a:rPr>
              <a:t>위험도</a:t>
            </a:r>
            <a:r>
              <a:rPr sz="1050" b="0" dirty="0">
                <a:solidFill>
                  <a:srgbClr val="6B7080"/>
                </a:solidFill>
                <a:latin typeface="210 OmniGothic 040"/>
                <a:ea typeface="210 OmniGothic 040"/>
                <a:cs typeface="210 OmniGothic 040"/>
              </a:rPr>
              <a:t> </a:t>
            </a:r>
            <a:r>
              <a:rPr sz="1050" b="0" dirty="0">
                <a:solidFill>
                  <a:srgbClr val="FF0000"/>
                </a:solidFill>
                <a:latin typeface="210 OmniGothic 040"/>
                <a:ea typeface="210 OmniGothic 040"/>
                <a:cs typeface="210 OmniGothic 040"/>
              </a:rPr>
              <a:t>R(1</a:t>
            </a:r>
            <a:r>
              <a:rPr sz="1050" b="0" dirty="0">
                <a:solidFill>
                  <a:srgbClr val="FF0000"/>
                </a:solidFill>
                <a:latin typeface="210 OmniGothic 040"/>
                <a:ea typeface="210 OmniGothic 040"/>
                <a:cs typeface="210 OmniGothic 040"/>
              </a:rPr>
              <a:t>~</a:t>
            </a:r>
            <a:r>
              <a:rPr sz="1050" b="0" dirty="0">
                <a:solidFill>
                  <a:srgbClr val="FF0000"/>
                </a:solidFill>
                <a:latin typeface="210 OmniGothic 040"/>
                <a:ea typeface="210 OmniGothic 040"/>
                <a:cs typeface="210 OmniGothic 040"/>
              </a:rPr>
              <a:t>5)</a:t>
            </a:r>
            <a:br>
              <a:rPr sz="1050" b="0" dirty="0">
                <a:solidFill>
                  <a:srgbClr val="6B7080"/>
                </a:solidFill>
                <a:latin typeface="210 OmniGothic 040"/>
                <a:ea typeface="210 OmniGothic 040"/>
                <a:cs typeface="210 OmniGothic 040"/>
              </a:rPr>
            </a:br>
            <a:endParaRPr sz="1050" b="0" dirty="0">
              <a:solidFill>
                <a:srgbClr val="6B7080"/>
              </a:solidFill>
              <a:latin typeface="210 OmniGothic 040"/>
              <a:ea typeface="210 OmniGothic 040"/>
              <a:cs typeface="210 OmniGothic 040"/>
            </a:endParaRPr>
          </a:p>
        </p:txBody>
      </p:sp>
      <p:sp>
        <p:nvSpPr>
          <p:cNvPr id="5105" name="Rounded Rectangle 5104">
            <a:extLst>
              <a:ext uri="{FF2B5EF4-FFF2-40B4-BE49-F238E27FC236}">
                <a16:creationId xmlns:a16="http://schemas.microsoft.com/office/drawing/2014/main" id="{E7C61568-321E-4C0E-98AB-CA4A58ED0433}"/>
              </a:ext>
            </a:extLst>
          </p:cNvPr>
          <p:cNvSpPr>
            <a:spLocks noGrp="1"/>
          </p:cNvSpPr>
          <p:nvPr/>
        </p:nvSpPr>
        <p:spPr>
          <a:xfrm>
            <a:off x="5977890" y="6871716"/>
            <a:ext cx="1714500" cy="1307592"/>
          </a:xfrm>
          <a:prstGeom prst="roundRect">
            <a:avLst>
              <a:gd name="adj" fmla="val 8000"/>
            </a:avLst>
          </a:prstGeom>
          <a:solidFill>
            <a:srgbClr val="FFFFFF"/>
          </a:solidFill>
          <a:ln w="11430">
            <a:solidFill>
              <a:srgbClr val="B6BCCB"/>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endParaRPr/>
          </a:p>
        </p:txBody>
      </p:sp>
      <p:sp>
        <p:nvSpPr>
          <p:cNvPr id="5106" name="TextBox 5105">
            <a:extLst>
              <a:ext uri="{FF2B5EF4-FFF2-40B4-BE49-F238E27FC236}">
                <a16:creationId xmlns:a16="http://schemas.microsoft.com/office/drawing/2014/main" id="{13C03EED-751D-4A31-90AB-3A8F7DF730CE}"/>
              </a:ext>
            </a:extLst>
          </p:cNvPr>
          <p:cNvSpPr>
            <a:spLocks noGrp="1"/>
          </p:cNvSpPr>
          <p:nvPr/>
        </p:nvSpPr>
        <p:spPr>
          <a:xfrm>
            <a:off x="6035040" y="6952183"/>
            <a:ext cx="1600200" cy="1186891"/>
          </a:xfrm>
          <a:prstGeom prst="rect">
            <a:avLst/>
          </a:prstGeom>
          <a:noFill/>
        </p:spPr>
        <p:txBody>
          <a:bodyPr wrap="square" lIns="0" tIns="0" rIns="0" bIns="0" anchor="ctr">
            <a:spAutoFit/>
          </a:bodyPr>
          <a:lstStyle/>
          <a:p>
            <a:pPr algn="ctr">
              <a:lnSpc>
                <a:spcPct val="105000"/>
              </a:lnSpc>
              <a:buNone/>
            </a:pPr>
            <a:r>
              <a:rPr sz="1250" b="1">
                <a:solidFill>
                  <a:srgbClr val="2E3142"/>
                </a:solidFill>
                <a:latin typeface="210 OmniGothic 040"/>
                <a:ea typeface="210 OmniGothic 040"/>
                <a:cs typeface="210 OmniGothic 040"/>
              </a:rPr>
              <a:t>지도 타일 · 기상청</a:t>
            </a:r>
          </a:p>
          <a:p>
            <a:pPr algn="ctr">
              <a:lnSpc>
                <a:spcPct val="105000"/>
              </a:lnSpc>
              <a:buNone/>
            </a:pPr>
            <a:r>
              <a:rPr sz="1050" b="0">
                <a:solidFill>
                  <a:srgbClr val="6B7080"/>
                </a:solidFill>
                <a:latin typeface="210 OmniGothic 040"/>
                <a:ea typeface="210 OmniGothic 040"/>
                <a:cs typeface="210 OmniGothic 040"/>
              </a:rPr>
              <a:t>위성영상 · 공공데이터</a:t>
            </a:r>
            <a:br>
              <a:rPr sz="1050" b="0">
                <a:solidFill>
                  <a:srgbClr val="6B7080"/>
                </a:solidFill>
                <a:latin typeface="210 OmniGothic 040"/>
                <a:ea typeface="210 OmniGothic 040"/>
                <a:cs typeface="210 OmniGothic 040"/>
              </a:rPr>
            </a:br>
            <a:r>
              <a:rPr sz="1050" b="0">
                <a:solidFill>
                  <a:srgbClr val="6B7080"/>
                </a:solidFill>
                <a:latin typeface="210 OmniGothic 040"/>
                <a:ea typeface="210 OmniGothic 040"/>
                <a:cs typeface="210 OmniGothic 040"/>
              </a:rPr>
              <a:t>단기예보</a:t>
            </a:r>
          </a:p>
        </p:txBody>
      </p:sp>
      <p:sp>
        <p:nvSpPr>
          <p:cNvPr id="5107" name="Rounded Rectangle 5106">
            <a:extLst>
              <a:ext uri="{FF2B5EF4-FFF2-40B4-BE49-F238E27FC236}">
                <a16:creationId xmlns:a16="http://schemas.microsoft.com/office/drawing/2014/main" id="{065CC321-340F-45D3-B615-C36C6B023D35}"/>
              </a:ext>
            </a:extLst>
          </p:cNvPr>
          <p:cNvSpPr>
            <a:spLocks noGrp="1"/>
          </p:cNvSpPr>
          <p:nvPr/>
        </p:nvSpPr>
        <p:spPr>
          <a:xfrm>
            <a:off x="7858125" y="2808122"/>
            <a:ext cx="1714500" cy="1307592"/>
          </a:xfrm>
          <a:prstGeom prst="roundRect">
            <a:avLst>
              <a:gd name="adj" fmla="val 8000"/>
            </a:avLst>
          </a:prstGeom>
          <a:solidFill>
            <a:srgbClr val="FFFFFF"/>
          </a:solidFill>
          <a:ln w="11430">
            <a:solidFill>
              <a:srgbClr val="B6BCCB"/>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endParaRPr/>
          </a:p>
        </p:txBody>
      </p:sp>
      <p:sp>
        <p:nvSpPr>
          <p:cNvPr id="5108" name="TextBox 5107">
            <a:extLst>
              <a:ext uri="{FF2B5EF4-FFF2-40B4-BE49-F238E27FC236}">
                <a16:creationId xmlns:a16="http://schemas.microsoft.com/office/drawing/2014/main" id="{EBAE2E83-81D0-49D5-8433-6915ABDF24C0}"/>
              </a:ext>
            </a:extLst>
          </p:cNvPr>
          <p:cNvSpPr>
            <a:spLocks noGrp="1"/>
          </p:cNvSpPr>
          <p:nvPr/>
        </p:nvSpPr>
        <p:spPr>
          <a:xfrm>
            <a:off x="7915275" y="2888589"/>
            <a:ext cx="1600200" cy="1186891"/>
          </a:xfrm>
          <a:prstGeom prst="rect">
            <a:avLst/>
          </a:prstGeom>
          <a:noFill/>
        </p:spPr>
        <p:txBody>
          <a:bodyPr wrap="square" lIns="0" tIns="0" rIns="0" bIns="0" anchor="ctr">
            <a:spAutoFit/>
          </a:bodyPr>
          <a:lstStyle/>
          <a:p>
            <a:pPr algn="ctr">
              <a:lnSpc>
                <a:spcPct val="105000"/>
              </a:lnSpc>
              <a:buNone/>
            </a:pPr>
            <a:r>
              <a:rPr sz="1250" b="1">
                <a:solidFill>
                  <a:srgbClr val="2E3142"/>
                </a:solidFill>
                <a:latin typeface="210 OmniGothic 040"/>
                <a:ea typeface="210 OmniGothic 040"/>
                <a:cs typeface="210 OmniGothic 040"/>
              </a:rPr>
              <a:t>확산 예측 실행</a:t>
            </a:r>
          </a:p>
          <a:p>
            <a:pPr algn="ctr">
              <a:lnSpc>
                <a:spcPct val="105000"/>
              </a:lnSpc>
              <a:buNone/>
            </a:pPr>
            <a:r>
              <a:rPr sz="1050" b="0">
                <a:solidFill>
                  <a:srgbClr val="6B7080"/>
                </a:solidFill>
                <a:latin typeface="210 OmniGothic 040"/>
                <a:ea typeface="210 OmniGothic 040"/>
                <a:cs typeface="210 OmniGothic 040"/>
              </a:rPr>
              <a:t>통합지휘권자</a:t>
            </a:r>
          </a:p>
        </p:txBody>
      </p:sp>
      <p:sp>
        <p:nvSpPr>
          <p:cNvPr id="5109" name="Oval 5108">
            <a:extLst>
              <a:ext uri="{FF2B5EF4-FFF2-40B4-BE49-F238E27FC236}">
                <a16:creationId xmlns:a16="http://schemas.microsoft.com/office/drawing/2014/main" id="{41109E80-BAE6-48B7-9E10-EA59D308C7B1}"/>
              </a:ext>
            </a:extLst>
          </p:cNvPr>
          <p:cNvSpPr>
            <a:spLocks noGrp="1"/>
          </p:cNvSpPr>
          <p:nvPr/>
        </p:nvSpPr>
        <p:spPr>
          <a:xfrm>
            <a:off x="7730109" y="2677363"/>
            <a:ext cx="301752" cy="301752"/>
          </a:xfrm>
          <a:prstGeom prst="ellipse">
            <a:avLst/>
          </a:prstGeom>
          <a:solidFill>
            <a:srgbClr val="FAA95A"/>
          </a:solidFill>
          <a:ln>
            <a:noFill/>
          </a:ln>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algn="ctr">
              <a:buNone/>
            </a:pPr>
            <a:r>
              <a:rPr sz="1150" b="1">
                <a:solidFill>
                  <a:srgbClr val="FFFFFF"/>
                </a:solidFill>
                <a:latin typeface="210 OmniGothic 040"/>
                <a:ea typeface="210 OmniGothic 040"/>
                <a:cs typeface="210 OmniGothic 040"/>
              </a:rPr>
              <a:t>4</a:t>
            </a:r>
          </a:p>
        </p:txBody>
      </p:sp>
      <p:sp>
        <p:nvSpPr>
          <p:cNvPr id="5110" name="Rounded Rectangle 5109">
            <a:extLst>
              <a:ext uri="{FF2B5EF4-FFF2-40B4-BE49-F238E27FC236}">
                <a16:creationId xmlns:a16="http://schemas.microsoft.com/office/drawing/2014/main" id="{DFF4A30B-836E-4E15-88DD-497504673B2B}"/>
              </a:ext>
            </a:extLst>
          </p:cNvPr>
          <p:cNvSpPr>
            <a:spLocks noGrp="1"/>
          </p:cNvSpPr>
          <p:nvPr/>
        </p:nvSpPr>
        <p:spPr>
          <a:xfrm>
            <a:off x="7858125" y="4839919"/>
            <a:ext cx="1714500" cy="1307592"/>
          </a:xfrm>
          <a:prstGeom prst="roundRect">
            <a:avLst>
              <a:gd name="adj" fmla="val 8000"/>
            </a:avLst>
          </a:prstGeom>
          <a:solidFill>
            <a:srgbClr val="FFFFFF"/>
          </a:solidFill>
          <a:ln w="11430">
            <a:solidFill>
              <a:srgbClr val="B6BCCB"/>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endParaRPr/>
          </a:p>
        </p:txBody>
      </p:sp>
      <p:sp>
        <p:nvSpPr>
          <p:cNvPr id="5111" name="TextBox 5110">
            <a:extLst>
              <a:ext uri="{FF2B5EF4-FFF2-40B4-BE49-F238E27FC236}">
                <a16:creationId xmlns:a16="http://schemas.microsoft.com/office/drawing/2014/main" id="{EAAD32BB-92B3-480E-B506-AB03D5110FB2}"/>
              </a:ext>
            </a:extLst>
          </p:cNvPr>
          <p:cNvSpPr>
            <a:spLocks noGrp="1"/>
          </p:cNvSpPr>
          <p:nvPr/>
        </p:nvSpPr>
        <p:spPr>
          <a:xfrm>
            <a:off x="7915275" y="5243180"/>
            <a:ext cx="1600200" cy="541302"/>
          </a:xfrm>
          <a:prstGeom prst="rect">
            <a:avLst/>
          </a:prstGeom>
          <a:noFill/>
        </p:spPr>
        <p:txBody>
          <a:bodyPr wrap="square" lIns="0" tIns="0" rIns="0" bIns="0" anchor="ctr">
            <a:spAutoFit/>
          </a:bodyPr>
          <a:lstStyle/>
          <a:p>
            <a:pPr algn="ctr">
              <a:lnSpc>
                <a:spcPct val="105000"/>
              </a:lnSpc>
              <a:buNone/>
            </a:pPr>
            <a:r>
              <a:rPr sz="1250" b="1" dirty="0" err="1">
                <a:solidFill>
                  <a:srgbClr val="2E3142"/>
                </a:solidFill>
                <a:latin typeface="210 OmniGothic 040"/>
                <a:ea typeface="210 OmniGothic 040"/>
                <a:cs typeface="210 OmniGothic 040"/>
              </a:rPr>
              <a:t>예측</a:t>
            </a:r>
            <a:r>
              <a:rPr sz="1250" b="1" dirty="0">
                <a:solidFill>
                  <a:srgbClr val="2E3142"/>
                </a:solidFill>
                <a:latin typeface="210 OmniGothic 040"/>
                <a:ea typeface="210 OmniGothic 040"/>
                <a:cs typeface="210 OmniGothic 040"/>
              </a:rPr>
              <a:t> </a:t>
            </a:r>
            <a:r>
              <a:rPr sz="1250" b="1" dirty="0" err="1">
                <a:solidFill>
                  <a:srgbClr val="2E3142"/>
                </a:solidFill>
                <a:latin typeface="210 OmniGothic 040"/>
                <a:ea typeface="210 OmniGothic 040"/>
                <a:cs typeface="210 OmniGothic 040"/>
              </a:rPr>
              <a:t>저장</a:t>
            </a:r>
            <a:endParaRPr sz="1250" b="1" dirty="0">
              <a:solidFill>
                <a:srgbClr val="2E3142"/>
              </a:solidFill>
              <a:latin typeface="210 OmniGothic 040"/>
              <a:ea typeface="210 OmniGothic 040"/>
              <a:cs typeface="210 OmniGothic 040"/>
            </a:endParaRPr>
          </a:p>
          <a:p>
            <a:pPr algn="ctr">
              <a:lnSpc>
                <a:spcPct val="105000"/>
              </a:lnSpc>
              <a:buNone/>
            </a:pPr>
            <a:r>
              <a:rPr sz="1050" b="0" dirty="0">
                <a:solidFill>
                  <a:srgbClr val="6B7080"/>
                </a:solidFill>
                <a:latin typeface="210 OmniGothic 040"/>
                <a:ea typeface="210 OmniGothic 040"/>
                <a:cs typeface="210 OmniGothic 040"/>
              </a:rPr>
              <a:t>P1~P8 · </a:t>
            </a:r>
            <a:r>
              <a:rPr sz="1050" b="0" dirty="0" err="1">
                <a:solidFill>
                  <a:srgbClr val="6B7080"/>
                </a:solidFill>
                <a:latin typeface="210 OmniGothic 040"/>
                <a:ea typeface="210 OmniGothic 040"/>
                <a:cs typeface="210 OmniGothic 040"/>
              </a:rPr>
              <a:t>누적성</a:t>
            </a:r>
            <a:r>
              <a:rPr sz="1050" b="0" dirty="0">
                <a:solidFill>
                  <a:srgbClr val="6B7080"/>
                </a:solidFill>
                <a:latin typeface="210 OmniGothic 040"/>
                <a:ea typeface="210 OmniGothic 040"/>
                <a:cs typeface="210 OmniGothic 040"/>
              </a:rPr>
              <a:t> </a:t>
            </a:r>
            <a:r>
              <a:rPr sz="1050" b="0" dirty="0" err="1">
                <a:solidFill>
                  <a:srgbClr val="6B7080"/>
                </a:solidFill>
                <a:latin typeface="210 OmniGothic 040"/>
                <a:ea typeface="210 OmniGothic 040"/>
                <a:cs typeface="210 OmniGothic 040"/>
              </a:rPr>
              <a:t>검증</a:t>
            </a:r>
            <a:r>
              <a:rPr sz="1050" b="0" dirty="0">
                <a:solidFill>
                  <a:srgbClr val="FF0000"/>
                </a:solidFill>
                <a:latin typeface="210 OmniGothic 040"/>
                <a:ea typeface="210 OmniGothic 040"/>
                <a:cs typeface="210 OmniGothic 040"/>
              </a:rPr>
              <a:t> · </a:t>
            </a:r>
            <a:br>
              <a:rPr lang="en-US" sz="1050" b="0" dirty="0">
                <a:solidFill>
                  <a:srgbClr val="6B7080"/>
                </a:solidFill>
                <a:latin typeface="210 OmniGothic 040"/>
                <a:ea typeface="210 OmniGothic 040"/>
                <a:cs typeface="210 OmniGothic 040"/>
              </a:rPr>
            </a:br>
            <a:r>
              <a:rPr sz="1050" b="0" dirty="0">
                <a:solidFill>
                  <a:srgbClr val="FF0000"/>
                </a:solidFill>
                <a:latin typeface="210 OmniGothic 040"/>
                <a:ea typeface="210 OmniGothic 040"/>
                <a:cs typeface="210 OmniGothic 040"/>
              </a:rPr>
              <a:t>P5 </a:t>
            </a:r>
            <a:r>
              <a:rPr sz="1050" b="0" dirty="0" err="1">
                <a:solidFill>
                  <a:srgbClr val="FF0000"/>
                </a:solidFill>
                <a:latin typeface="210 OmniGothic 040"/>
                <a:ea typeface="210 OmniGothic 040"/>
                <a:cs typeface="210 OmniGothic 040"/>
              </a:rPr>
              <a:t>위험도</a:t>
            </a:r>
            <a:r>
              <a:rPr sz="1050" b="0" dirty="0">
                <a:solidFill>
                  <a:srgbClr val="FF0000"/>
                </a:solidFill>
                <a:latin typeface="210 OmniGothic 040"/>
                <a:ea typeface="210 OmniGothic 040"/>
                <a:cs typeface="210 OmniGothic 040"/>
              </a:rPr>
              <a:t> </a:t>
            </a:r>
            <a:r>
              <a:rPr sz="1050" b="0" dirty="0" err="1">
                <a:solidFill>
                  <a:srgbClr val="FF0000"/>
                </a:solidFill>
                <a:latin typeface="210 OmniGothic 040"/>
                <a:ea typeface="210 OmniGothic 040"/>
                <a:cs typeface="210 OmniGothic 040"/>
              </a:rPr>
              <a:t>계산</a:t>
            </a:r>
            <a:endParaRPr sz="1050" b="0" dirty="0">
              <a:solidFill>
                <a:srgbClr val="6B7080"/>
              </a:solidFill>
              <a:latin typeface="210 OmniGothic 040"/>
              <a:ea typeface="210 OmniGothic 040"/>
              <a:cs typeface="210 OmniGothic 040"/>
            </a:endParaRPr>
          </a:p>
        </p:txBody>
      </p:sp>
      <p:sp>
        <p:nvSpPr>
          <p:cNvPr id="5112" name="Rounded Rectangle 5111">
            <a:extLst>
              <a:ext uri="{FF2B5EF4-FFF2-40B4-BE49-F238E27FC236}">
                <a16:creationId xmlns:a16="http://schemas.microsoft.com/office/drawing/2014/main" id="{1329F2AB-506B-4725-BD3F-236E22B37958}"/>
              </a:ext>
            </a:extLst>
          </p:cNvPr>
          <p:cNvSpPr>
            <a:spLocks noGrp="1"/>
          </p:cNvSpPr>
          <p:nvPr/>
        </p:nvSpPr>
        <p:spPr>
          <a:xfrm>
            <a:off x="7858125" y="6871716"/>
            <a:ext cx="1714500" cy="1307592"/>
          </a:xfrm>
          <a:prstGeom prst="roundRect">
            <a:avLst>
              <a:gd name="adj" fmla="val 8000"/>
            </a:avLst>
          </a:prstGeom>
          <a:solidFill>
            <a:srgbClr val="363A52"/>
          </a:solidFill>
          <a:ln w="11430">
            <a:solidFill>
              <a:srgbClr val="B6BCCB"/>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endParaRPr/>
          </a:p>
        </p:txBody>
      </p:sp>
      <p:sp>
        <p:nvSpPr>
          <p:cNvPr id="5113" name="TextBox 5112">
            <a:extLst>
              <a:ext uri="{FF2B5EF4-FFF2-40B4-BE49-F238E27FC236}">
                <a16:creationId xmlns:a16="http://schemas.microsoft.com/office/drawing/2014/main" id="{E6DC5BE2-06FB-4A8B-B375-11AD89B8F4CD}"/>
              </a:ext>
            </a:extLst>
          </p:cNvPr>
          <p:cNvSpPr>
            <a:spLocks noGrp="1"/>
          </p:cNvSpPr>
          <p:nvPr/>
        </p:nvSpPr>
        <p:spPr>
          <a:xfrm>
            <a:off x="7915275" y="6952183"/>
            <a:ext cx="1600200" cy="1186891"/>
          </a:xfrm>
          <a:prstGeom prst="rect">
            <a:avLst/>
          </a:prstGeom>
          <a:noFill/>
        </p:spPr>
        <p:txBody>
          <a:bodyPr wrap="square" lIns="0" tIns="0" rIns="0" bIns="0" anchor="ctr">
            <a:spAutoFit/>
          </a:bodyPr>
          <a:lstStyle/>
          <a:p>
            <a:pPr algn="ctr">
              <a:lnSpc>
                <a:spcPct val="105000"/>
              </a:lnSpc>
              <a:buNone/>
            </a:pPr>
            <a:r>
              <a:rPr sz="1250" b="1">
                <a:solidFill>
                  <a:srgbClr val="FFFFFF"/>
                </a:solidFill>
                <a:latin typeface="210 OmniGothic 040"/>
                <a:ea typeface="210 OmniGothic 040"/>
                <a:cs typeface="210 OmniGothic 040"/>
              </a:rPr>
              <a:t>ELMFIRE</a:t>
            </a:r>
          </a:p>
          <a:p>
            <a:pPr algn="ctr">
              <a:lnSpc>
                <a:spcPct val="105000"/>
              </a:lnSpc>
              <a:buNone/>
            </a:pPr>
            <a:r>
              <a:rPr sz="1050" b="0">
                <a:solidFill>
                  <a:srgbClr val="D8D8D8"/>
                </a:solidFill>
                <a:latin typeface="210 OmniGothic 040"/>
                <a:ea typeface="210 OmniGothic 040"/>
                <a:cs typeface="210 OmniGothic 040"/>
              </a:rPr>
              <a:t>실측 화선 → P1~P8</a:t>
            </a:r>
          </a:p>
        </p:txBody>
      </p:sp>
      <p:sp>
        <p:nvSpPr>
          <p:cNvPr id="5114" name="Rounded Rectangle 5113">
            <a:extLst>
              <a:ext uri="{FF2B5EF4-FFF2-40B4-BE49-F238E27FC236}">
                <a16:creationId xmlns:a16="http://schemas.microsoft.com/office/drawing/2014/main" id="{280CA83C-3A6A-437E-9C01-7F9DD4178C5B}"/>
              </a:ext>
            </a:extLst>
          </p:cNvPr>
          <p:cNvSpPr>
            <a:spLocks noGrp="1"/>
          </p:cNvSpPr>
          <p:nvPr/>
        </p:nvSpPr>
        <p:spPr>
          <a:xfrm>
            <a:off x="9738360" y="4839919"/>
            <a:ext cx="1714500" cy="1307592"/>
          </a:xfrm>
          <a:prstGeom prst="roundRect">
            <a:avLst>
              <a:gd name="adj" fmla="val 8000"/>
            </a:avLst>
          </a:prstGeom>
          <a:solidFill>
            <a:srgbClr val="FFFFFF"/>
          </a:solidFill>
          <a:ln w="11430">
            <a:solidFill>
              <a:srgbClr val="B6BCCB"/>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endParaRPr/>
          </a:p>
        </p:txBody>
      </p:sp>
      <p:sp>
        <p:nvSpPr>
          <p:cNvPr id="5115" name="TextBox 5114">
            <a:extLst>
              <a:ext uri="{FF2B5EF4-FFF2-40B4-BE49-F238E27FC236}">
                <a16:creationId xmlns:a16="http://schemas.microsoft.com/office/drawing/2014/main" id="{81B1A0A1-3B43-4202-991C-640C1AB3DD0E}"/>
              </a:ext>
            </a:extLst>
          </p:cNvPr>
          <p:cNvSpPr>
            <a:spLocks noGrp="1"/>
          </p:cNvSpPr>
          <p:nvPr/>
        </p:nvSpPr>
        <p:spPr>
          <a:xfrm>
            <a:off x="9795510" y="4920386"/>
            <a:ext cx="1600200" cy="1186891"/>
          </a:xfrm>
          <a:prstGeom prst="rect">
            <a:avLst/>
          </a:prstGeom>
          <a:noFill/>
        </p:spPr>
        <p:txBody>
          <a:bodyPr wrap="square" lIns="0" tIns="0" rIns="0" bIns="0" anchor="ctr">
            <a:spAutoFit/>
          </a:bodyPr>
          <a:lstStyle/>
          <a:p>
            <a:pPr algn="ctr">
              <a:lnSpc>
                <a:spcPct val="105000"/>
              </a:lnSpc>
              <a:buNone/>
            </a:pPr>
            <a:r>
              <a:rPr sz="1250" b="1">
                <a:solidFill>
                  <a:srgbClr val="2E3142"/>
                </a:solidFill>
                <a:latin typeface="210 OmniGothic 040"/>
                <a:ea typeface="210 OmniGothic 040"/>
                <a:cs typeface="210 OmniGothic 040"/>
              </a:rPr>
              <a:t>규칙 판정</a:t>
            </a:r>
          </a:p>
          <a:p>
            <a:pPr algn="ctr">
              <a:lnSpc>
                <a:spcPct val="105000"/>
              </a:lnSpc>
              <a:buNone/>
            </a:pPr>
            <a:r>
              <a:rPr sz="1050" b="0">
                <a:solidFill>
                  <a:srgbClr val="6B7080"/>
                </a:solidFill>
                <a:latin typeface="210 OmniGothic 040"/>
                <a:ea typeface="210 OmniGothic 040"/>
                <a:cs typeface="210 OmniGothic 040"/>
              </a:rPr>
              <a:t>진화 7 · 대피 7 발동</a:t>
            </a:r>
          </a:p>
        </p:txBody>
      </p:sp>
      <p:sp>
        <p:nvSpPr>
          <p:cNvPr id="5116" name="Oval 5115">
            <a:extLst>
              <a:ext uri="{FF2B5EF4-FFF2-40B4-BE49-F238E27FC236}">
                <a16:creationId xmlns:a16="http://schemas.microsoft.com/office/drawing/2014/main" id="{7234A965-DFDA-4319-B1C3-8174F506AF9D}"/>
              </a:ext>
            </a:extLst>
          </p:cNvPr>
          <p:cNvSpPr>
            <a:spLocks noGrp="1"/>
          </p:cNvSpPr>
          <p:nvPr/>
        </p:nvSpPr>
        <p:spPr>
          <a:xfrm>
            <a:off x="9610344" y="4709160"/>
            <a:ext cx="301752" cy="301752"/>
          </a:xfrm>
          <a:prstGeom prst="ellipse">
            <a:avLst/>
          </a:prstGeom>
          <a:solidFill>
            <a:srgbClr val="FAA95A"/>
          </a:solidFill>
          <a:ln>
            <a:noFill/>
          </a:ln>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algn="ctr">
              <a:buNone/>
            </a:pPr>
            <a:r>
              <a:rPr sz="1150" b="1">
                <a:solidFill>
                  <a:srgbClr val="FFFFFF"/>
                </a:solidFill>
                <a:latin typeface="210 OmniGothic 040"/>
                <a:ea typeface="210 OmniGothic 040"/>
                <a:cs typeface="210 OmniGothic 040"/>
              </a:rPr>
              <a:t>5</a:t>
            </a:r>
          </a:p>
        </p:txBody>
      </p:sp>
      <p:sp>
        <p:nvSpPr>
          <p:cNvPr id="5117" name="Rounded Rectangle 5116">
            <a:extLst>
              <a:ext uri="{FF2B5EF4-FFF2-40B4-BE49-F238E27FC236}">
                <a16:creationId xmlns:a16="http://schemas.microsoft.com/office/drawing/2014/main" id="{36BA8F14-5D74-404E-973C-CA526C0477CF}"/>
              </a:ext>
            </a:extLst>
          </p:cNvPr>
          <p:cNvSpPr>
            <a:spLocks noGrp="1"/>
          </p:cNvSpPr>
          <p:nvPr/>
        </p:nvSpPr>
        <p:spPr>
          <a:xfrm>
            <a:off x="9738360" y="6871716"/>
            <a:ext cx="1714500" cy="1307592"/>
          </a:xfrm>
          <a:prstGeom prst="roundRect">
            <a:avLst>
              <a:gd name="adj" fmla="val 8000"/>
            </a:avLst>
          </a:prstGeom>
          <a:solidFill>
            <a:srgbClr val="363A52"/>
          </a:solidFill>
          <a:ln w="11430">
            <a:solidFill>
              <a:srgbClr val="B6BCCB"/>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endParaRPr/>
          </a:p>
        </p:txBody>
      </p:sp>
      <p:sp>
        <p:nvSpPr>
          <p:cNvPr id="5118" name="TextBox 5117">
            <a:extLst>
              <a:ext uri="{FF2B5EF4-FFF2-40B4-BE49-F238E27FC236}">
                <a16:creationId xmlns:a16="http://schemas.microsoft.com/office/drawing/2014/main" id="{EDEB9238-27EA-408E-85CD-6A5FC4AF0157}"/>
              </a:ext>
            </a:extLst>
          </p:cNvPr>
          <p:cNvSpPr>
            <a:spLocks noGrp="1"/>
          </p:cNvSpPr>
          <p:nvPr/>
        </p:nvSpPr>
        <p:spPr>
          <a:xfrm>
            <a:off x="9795510" y="6952183"/>
            <a:ext cx="1600200" cy="1186891"/>
          </a:xfrm>
          <a:prstGeom prst="rect">
            <a:avLst/>
          </a:prstGeom>
          <a:noFill/>
        </p:spPr>
        <p:txBody>
          <a:bodyPr wrap="square" lIns="0" tIns="0" rIns="0" bIns="0" anchor="ctr">
            <a:spAutoFit/>
          </a:bodyPr>
          <a:lstStyle/>
          <a:p>
            <a:pPr algn="ctr">
              <a:lnSpc>
                <a:spcPct val="105000"/>
              </a:lnSpc>
              <a:buNone/>
            </a:pPr>
            <a:r>
              <a:rPr sz="1250" b="1">
                <a:solidFill>
                  <a:srgbClr val="FFFFFF"/>
                </a:solidFill>
                <a:latin typeface="210 OmniGothic 040"/>
                <a:ea typeface="210 OmniGothic 040"/>
                <a:cs typeface="210 OmniGothic 040"/>
              </a:rPr>
              <a:t>근거 검색 + EXAONE</a:t>
            </a:r>
          </a:p>
          <a:p>
            <a:pPr algn="ctr">
              <a:lnSpc>
                <a:spcPct val="105000"/>
              </a:lnSpc>
              <a:buNone/>
            </a:pPr>
            <a:r>
              <a:rPr sz="1050" b="0">
                <a:solidFill>
                  <a:srgbClr val="D8D8D8"/>
                </a:solidFill>
                <a:latin typeface="210 OmniGothic 040"/>
                <a:ea typeface="210 OmniGothic 040"/>
                <a:cs typeface="210 OmniGothic 040"/>
              </a:rPr>
              <a:t>근거 인용 제안 문장</a:t>
            </a:r>
          </a:p>
        </p:txBody>
      </p:sp>
      <p:sp>
        <p:nvSpPr>
          <p:cNvPr id="5119" name="Rounded Rectangle 5118">
            <a:extLst>
              <a:ext uri="{FF2B5EF4-FFF2-40B4-BE49-F238E27FC236}">
                <a16:creationId xmlns:a16="http://schemas.microsoft.com/office/drawing/2014/main" id="{8AC45B09-EB00-4D29-A9FD-1B0BFD30C099}"/>
              </a:ext>
            </a:extLst>
          </p:cNvPr>
          <p:cNvSpPr>
            <a:spLocks noGrp="1"/>
          </p:cNvSpPr>
          <p:nvPr/>
        </p:nvSpPr>
        <p:spPr>
          <a:xfrm>
            <a:off x="11618594" y="4839919"/>
            <a:ext cx="1714500" cy="1307592"/>
          </a:xfrm>
          <a:prstGeom prst="roundRect">
            <a:avLst>
              <a:gd name="adj" fmla="val 8000"/>
            </a:avLst>
          </a:prstGeom>
          <a:solidFill>
            <a:srgbClr val="FFFFFF"/>
          </a:solidFill>
          <a:ln w="11430">
            <a:solidFill>
              <a:srgbClr val="B6BCCB"/>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endParaRPr/>
          </a:p>
        </p:txBody>
      </p:sp>
      <p:sp>
        <p:nvSpPr>
          <p:cNvPr id="5120" name="TextBox 5119">
            <a:extLst>
              <a:ext uri="{FF2B5EF4-FFF2-40B4-BE49-F238E27FC236}">
                <a16:creationId xmlns:a16="http://schemas.microsoft.com/office/drawing/2014/main" id="{E394BE2A-61A9-442A-8DBF-50A86616F1FD}"/>
              </a:ext>
            </a:extLst>
          </p:cNvPr>
          <p:cNvSpPr>
            <a:spLocks noGrp="1"/>
          </p:cNvSpPr>
          <p:nvPr/>
        </p:nvSpPr>
        <p:spPr>
          <a:xfrm>
            <a:off x="11675744" y="4920386"/>
            <a:ext cx="1600200" cy="1186891"/>
          </a:xfrm>
          <a:prstGeom prst="rect">
            <a:avLst/>
          </a:prstGeom>
          <a:noFill/>
        </p:spPr>
        <p:txBody>
          <a:bodyPr wrap="square" lIns="0" tIns="0" rIns="0" bIns="0" anchor="ctr">
            <a:spAutoFit/>
          </a:bodyPr>
          <a:lstStyle/>
          <a:p>
            <a:pPr algn="ctr">
              <a:lnSpc>
                <a:spcPct val="105000"/>
              </a:lnSpc>
              <a:buNone/>
            </a:pPr>
            <a:r>
              <a:rPr sz="1250" b="1">
                <a:solidFill>
                  <a:srgbClr val="2E3142"/>
                </a:solidFill>
                <a:latin typeface="210 OmniGothic 040"/>
                <a:ea typeface="210 OmniGothic 040"/>
                <a:cs typeface="210 OmniGothic 040"/>
              </a:rPr>
              <a:t>새 버전 저장</a:t>
            </a:r>
          </a:p>
          <a:p>
            <a:pPr algn="ctr">
              <a:lnSpc>
                <a:spcPct val="105000"/>
              </a:lnSpc>
              <a:buNone/>
            </a:pPr>
            <a:r>
              <a:rPr sz="1050" b="0">
                <a:solidFill>
                  <a:srgbClr val="6B7080"/>
                </a:solidFill>
                <a:latin typeface="210 OmniGothic 040"/>
                <a:ea typeface="210 OmniGothic 040"/>
                <a:cs typeface="210 OmniGothic 040"/>
              </a:rPr>
              <a:t>변경 항목 · 이력</a:t>
            </a:r>
            <a:br>
              <a:rPr sz="1050" b="0">
                <a:solidFill>
                  <a:srgbClr val="6B7080"/>
                </a:solidFill>
                <a:latin typeface="210 OmniGothic 040"/>
                <a:ea typeface="210 OmniGothic 040"/>
                <a:cs typeface="210 OmniGothic 040"/>
              </a:rPr>
            </a:br>
            <a:r>
              <a:rPr sz="1050" b="0">
                <a:solidFill>
                  <a:srgbClr val="6B7080"/>
                </a:solidFill>
                <a:latin typeface="210 OmniGothic 040"/>
                <a:ea typeface="210 OmniGothic 040"/>
                <a:cs typeface="210 OmniGothic 040"/>
              </a:rPr>
              <a:t>이벤트 로그</a:t>
            </a:r>
          </a:p>
        </p:txBody>
      </p:sp>
      <p:sp>
        <p:nvSpPr>
          <p:cNvPr id="5121" name="Rounded Rectangle 5120">
            <a:extLst>
              <a:ext uri="{FF2B5EF4-FFF2-40B4-BE49-F238E27FC236}">
                <a16:creationId xmlns:a16="http://schemas.microsoft.com/office/drawing/2014/main" id="{1F719A12-A6F5-4106-965A-9619264F5CBA}"/>
              </a:ext>
            </a:extLst>
          </p:cNvPr>
          <p:cNvSpPr>
            <a:spLocks noGrp="1"/>
          </p:cNvSpPr>
          <p:nvPr/>
        </p:nvSpPr>
        <p:spPr>
          <a:xfrm>
            <a:off x="11618594" y="2808122"/>
            <a:ext cx="1714500" cy="1307592"/>
          </a:xfrm>
          <a:prstGeom prst="roundRect">
            <a:avLst>
              <a:gd name="adj" fmla="val 8000"/>
            </a:avLst>
          </a:prstGeom>
          <a:solidFill>
            <a:srgbClr val="FFFFFF"/>
          </a:solidFill>
          <a:ln w="11430">
            <a:solidFill>
              <a:srgbClr val="B6BCCB"/>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endParaRPr/>
          </a:p>
        </p:txBody>
      </p:sp>
      <p:sp>
        <p:nvSpPr>
          <p:cNvPr id="5122" name="TextBox 5121">
            <a:extLst>
              <a:ext uri="{FF2B5EF4-FFF2-40B4-BE49-F238E27FC236}">
                <a16:creationId xmlns:a16="http://schemas.microsoft.com/office/drawing/2014/main" id="{8AF262E3-1914-4774-B4F8-3B51CA063D55}"/>
              </a:ext>
            </a:extLst>
          </p:cNvPr>
          <p:cNvSpPr>
            <a:spLocks noGrp="1"/>
          </p:cNvSpPr>
          <p:nvPr/>
        </p:nvSpPr>
        <p:spPr>
          <a:xfrm>
            <a:off x="11675744" y="2888589"/>
            <a:ext cx="1600200" cy="1186891"/>
          </a:xfrm>
          <a:prstGeom prst="rect">
            <a:avLst/>
          </a:prstGeom>
          <a:noFill/>
        </p:spPr>
        <p:txBody>
          <a:bodyPr wrap="square" lIns="0" tIns="0" rIns="0" bIns="0" anchor="ctr">
            <a:spAutoFit/>
          </a:bodyPr>
          <a:lstStyle/>
          <a:p>
            <a:pPr algn="ctr">
              <a:lnSpc>
                <a:spcPct val="105000"/>
              </a:lnSpc>
              <a:buNone/>
            </a:pPr>
            <a:r>
              <a:rPr sz="1250" b="1">
                <a:solidFill>
                  <a:srgbClr val="2E3142"/>
                </a:solidFill>
                <a:latin typeface="210 OmniGothic 040"/>
                <a:ea typeface="210 OmniGothic 040"/>
                <a:cs typeface="210 OmniGothic 040"/>
              </a:rPr>
              <a:t>제안 검토</a:t>
            </a:r>
          </a:p>
          <a:p>
            <a:pPr algn="ctr">
              <a:lnSpc>
                <a:spcPct val="105000"/>
              </a:lnSpc>
              <a:buNone/>
            </a:pPr>
            <a:r>
              <a:rPr sz="1050" b="0">
                <a:solidFill>
                  <a:srgbClr val="6B7080"/>
                </a:solidFill>
                <a:latin typeface="210 OmniGothic 040"/>
                <a:ea typeface="210 OmniGothic 040"/>
                <a:cs typeface="210 OmniGothic 040"/>
              </a:rPr>
              <a:t>진화 · 대피 열람</a:t>
            </a:r>
            <a:br>
              <a:rPr sz="1050" b="0">
                <a:solidFill>
                  <a:srgbClr val="6B7080"/>
                </a:solidFill>
                <a:latin typeface="210 OmniGothic 040"/>
                <a:ea typeface="210 OmniGothic 040"/>
                <a:cs typeface="210 OmniGothic 040"/>
              </a:rPr>
            </a:br>
            <a:r>
              <a:rPr sz="1050" b="0">
                <a:solidFill>
                  <a:srgbClr val="6B7080"/>
                </a:solidFill>
                <a:latin typeface="210 OmniGothic 040"/>
                <a:ea typeface="210 OmniGothic 040"/>
                <a:cs typeface="210 OmniGothic 040"/>
              </a:rPr>
              <a:t>근거 · 이력·변경</a:t>
            </a:r>
          </a:p>
        </p:txBody>
      </p:sp>
      <p:sp>
        <p:nvSpPr>
          <p:cNvPr id="5123" name="Oval 5122">
            <a:extLst>
              <a:ext uri="{FF2B5EF4-FFF2-40B4-BE49-F238E27FC236}">
                <a16:creationId xmlns:a16="http://schemas.microsoft.com/office/drawing/2014/main" id="{EF43A692-B5EF-410E-BA9D-9A2104D9180D}"/>
              </a:ext>
            </a:extLst>
          </p:cNvPr>
          <p:cNvSpPr>
            <a:spLocks noGrp="1"/>
          </p:cNvSpPr>
          <p:nvPr/>
        </p:nvSpPr>
        <p:spPr>
          <a:xfrm>
            <a:off x="11490578" y="2677363"/>
            <a:ext cx="301752" cy="301752"/>
          </a:xfrm>
          <a:prstGeom prst="ellipse">
            <a:avLst/>
          </a:prstGeom>
          <a:solidFill>
            <a:srgbClr val="FAA95A"/>
          </a:solidFill>
          <a:ln>
            <a:noFill/>
          </a:ln>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algn="ctr">
              <a:buNone/>
            </a:pPr>
            <a:r>
              <a:rPr sz="1150" b="1">
                <a:solidFill>
                  <a:srgbClr val="FFFFFF"/>
                </a:solidFill>
                <a:latin typeface="210 OmniGothic 040"/>
                <a:ea typeface="210 OmniGothic 040"/>
                <a:cs typeface="210 OmniGothic 040"/>
              </a:rPr>
              <a:t>6</a:t>
            </a:r>
          </a:p>
        </p:txBody>
      </p:sp>
      <p:sp>
        <p:nvSpPr>
          <p:cNvPr id="5124" name="Rounded Rectangle 5123">
            <a:extLst>
              <a:ext uri="{FF2B5EF4-FFF2-40B4-BE49-F238E27FC236}">
                <a16:creationId xmlns:a16="http://schemas.microsoft.com/office/drawing/2014/main" id="{C37A7525-F26B-4F3F-89F8-55F6E1F85195}"/>
              </a:ext>
            </a:extLst>
          </p:cNvPr>
          <p:cNvSpPr>
            <a:spLocks noGrp="1"/>
          </p:cNvSpPr>
          <p:nvPr/>
        </p:nvSpPr>
        <p:spPr>
          <a:xfrm>
            <a:off x="13498830" y="2808122"/>
            <a:ext cx="1714500" cy="1307592"/>
          </a:xfrm>
          <a:prstGeom prst="roundRect">
            <a:avLst>
              <a:gd name="adj" fmla="val 8000"/>
            </a:avLst>
          </a:prstGeom>
          <a:solidFill>
            <a:srgbClr val="FFFFFF"/>
          </a:solidFill>
          <a:ln w="11430">
            <a:solidFill>
              <a:srgbClr val="B6BCCB"/>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endParaRPr/>
          </a:p>
        </p:txBody>
      </p:sp>
      <p:sp>
        <p:nvSpPr>
          <p:cNvPr id="5125" name="TextBox 5124">
            <a:extLst>
              <a:ext uri="{FF2B5EF4-FFF2-40B4-BE49-F238E27FC236}">
                <a16:creationId xmlns:a16="http://schemas.microsoft.com/office/drawing/2014/main" id="{1D052B5D-FA0E-4432-9558-FF563A62D1D2}"/>
              </a:ext>
            </a:extLst>
          </p:cNvPr>
          <p:cNvSpPr>
            <a:spLocks noGrp="1"/>
          </p:cNvSpPr>
          <p:nvPr/>
        </p:nvSpPr>
        <p:spPr>
          <a:xfrm>
            <a:off x="13555980" y="2888589"/>
            <a:ext cx="1600200" cy="1186891"/>
          </a:xfrm>
          <a:prstGeom prst="rect">
            <a:avLst/>
          </a:prstGeom>
          <a:noFill/>
        </p:spPr>
        <p:txBody>
          <a:bodyPr wrap="square" lIns="0" tIns="0" rIns="0" bIns="0" anchor="ctr">
            <a:spAutoFit/>
          </a:bodyPr>
          <a:lstStyle/>
          <a:p>
            <a:pPr algn="ctr">
              <a:lnSpc>
                <a:spcPct val="105000"/>
              </a:lnSpc>
              <a:buNone/>
            </a:pPr>
            <a:r>
              <a:rPr sz="1250" b="1">
                <a:solidFill>
                  <a:srgbClr val="2E3142"/>
                </a:solidFill>
                <a:latin typeface="210 OmniGothic 040"/>
                <a:ea typeface="210 OmniGothic 040"/>
                <a:cs typeface="210 OmniGothic 040"/>
              </a:rPr>
              <a:t>AI 질의 · 정정</a:t>
            </a:r>
          </a:p>
          <a:p>
            <a:pPr algn="ctr">
              <a:lnSpc>
                <a:spcPct val="105000"/>
              </a:lnSpc>
              <a:buNone/>
            </a:pPr>
            <a:r>
              <a:rPr sz="1050" b="0">
                <a:solidFill>
                  <a:srgbClr val="6B7080"/>
                </a:solidFill>
                <a:latin typeface="210 OmniGothic 040"/>
                <a:ea typeface="210 OmniGothic 040"/>
                <a:cs typeface="210 OmniGothic 040"/>
              </a:rPr>
              <a:t>질문 · 상황 변화 입력</a:t>
            </a:r>
            <a:br>
              <a:rPr sz="1050" b="0">
                <a:solidFill>
                  <a:srgbClr val="6B7080"/>
                </a:solidFill>
                <a:latin typeface="210 OmniGothic 040"/>
                <a:ea typeface="210 OmniGothic 040"/>
                <a:cs typeface="210 OmniGothic 040"/>
              </a:rPr>
            </a:br>
            <a:r>
              <a:rPr sz="1050" b="0">
                <a:solidFill>
                  <a:srgbClr val="6B7080"/>
                </a:solidFill>
                <a:latin typeface="210 OmniGothic 040"/>
                <a:ea typeface="210 OmniGothic 040"/>
                <a:cs typeface="210 OmniGothic 040"/>
              </a:rPr>
              <a:t>(통합지휘권자)</a:t>
            </a:r>
          </a:p>
        </p:txBody>
      </p:sp>
      <p:sp>
        <p:nvSpPr>
          <p:cNvPr id="5126" name="Oval 5125">
            <a:extLst>
              <a:ext uri="{FF2B5EF4-FFF2-40B4-BE49-F238E27FC236}">
                <a16:creationId xmlns:a16="http://schemas.microsoft.com/office/drawing/2014/main" id="{FB332E18-FE12-4BCB-984A-ACA34A4B119F}"/>
              </a:ext>
            </a:extLst>
          </p:cNvPr>
          <p:cNvSpPr>
            <a:spLocks noGrp="1"/>
          </p:cNvSpPr>
          <p:nvPr/>
        </p:nvSpPr>
        <p:spPr>
          <a:xfrm>
            <a:off x="13370814" y="2677363"/>
            <a:ext cx="301752" cy="301752"/>
          </a:xfrm>
          <a:prstGeom prst="ellipse">
            <a:avLst/>
          </a:prstGeom>
          <a:solidFill>
            <a:srgbClr val="FAA95A"/>
          </a:solidFill>
          <a:ln>
            <a:noFill/>
          </a:ln>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algn="ctr">
              <a:buNone/>
            </a:pPr>
            <a:r>
              <a:rPr sz="1150" b="1">
                <a:solidFill>
                  <a:srgbClr val="FFFFFF"/>
                </a:solidFill>
                <a:latin typeface="210 OmniGothic 040"/>
                <a:ea typeface="210 OmniGothic 040"/>
                <a:cs typeface="210 OmniGothic 040"/>
              </a:rPr>
              <a:t>7</a:t>
            </a:r>
          </a:p>
        </p:txBody>
      </p:sp>
      <p:sp>
        <p:nvSpPr>
          <p:cNvPr id="5127" name="Rounded Rectangle 5126">
            <a:extLst>
              <a:ext uri="{FF2B5EF4-FFF2-40B4-BE49-F238E27FC236}">
                <a16:creationId xmlns:a16="http://schemas.microsoft.com/office/drawing/2014/main" id="{651711E0-F081-44E3-A763-F07FD7857E85}"/>
              </a:ext>
            </a:extLst>
          </p:cNvPr>
          <p:cNvSpPr>
            <a:spLocks noGrp="1"/>
          </p:cNvSpPr>
          <p:nvPr/>
        </p:nvSpPr>
        <p:spPr>
          <a:xfrm>
            <a:off x="13498830" y="4839919"/>
            <a:ext cx="1714500" cy="1307592"/>
          </a:xfrm>
          <a:prstGeom prst="roundRect">
            <a:avLst>
              <a:gd name="adj" fmla="val 8000"/>
            </a:avLst>
          </a:prstGeom>
          <a:solidFill>
            <a:srgbClr val="FFFFFF"/>
          </a:solidFill>
          <a:ln w="11430">
            <a:solidFill>
              <a:srgbClr val="B6BCCB"/>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endParaRPr/>
          </a:p>
        </p:txBody>
      </p:sp>
      <p:sp>
        <p:nvSpPr>
          <p:cNvPr id="5128" name="TextBox 5127">
            <a:extLst>
              <a:ext uri="{FF2B5EF4-FFF2-40B4-BE49-F238E27FC236}">
                <a16:creationId xmlns:a16="http://schemas.microsoft.com/office/drawing/2014/main" id="{E98EDEAB-41AA-4629-BF98-581729A3161E}"/>
              </a:ext>
            </a:extLst>
          </p:cNvPr>
          <p:cNvSpPr>
            <a:spLocks noGrp="1"/>
          </p:cNvSpPr>
          <p:nvPr/>
        </p:nvSpPr>
        <p:spPr>
          <a:xfrm>
            <a:off x="13555980" y="4920386"/>
            <a:ext cx="1600200" cy="1186891"/>
          </a:xfrm>
          <a:prstGeom prst="rect">
            <a:avLst/>
          </a:prstGeom>
          <a:noFill/>
        </p:spPr>
        <p:txBody>
          <a:bodyPr wrap="square" lIns="0" tIns="0" rIns="0" bIns="0" anchor="ctr">
            <a:spAutoFit/>
          </a:bodyPr>
          <a:lstStyle/>
          <a:p>
            <a:pPr algn="ctr">
              <a:lnSpc>
                <a:spcPct val="105000"/>
              </a:lnSpc>
              <a:buNone/>
            </a:pPr>
            <a:r>
              <a:rPr sz="1250" b="1">
                <a:solidFill>
                  <a:srgbClr val="2E3142"/>
                </a:solidFill>
                <a:latin typeface="210 OmniGothic 040"/>
                <a:ea typeface="210 OmniGothic 040"/>
                <a:cs typeface="210 OmniGothic 040"/>
              </a:rPr>
              <a:t>정정 확인 · 저장</a:t>
            </a:r>
          </a:p>
          <a:p>
            <a:pPr algn="ctr">
              <a:lnSpc>
                <a:spcPct val="105000"/>
              </a:lnSpc>
              <a:buNone/>
            </a:pPr>
            <a:r>
              <a:rPr sz="1250" b="1">
                <a:solidFill>
                  <a:srgbClr val="2E3142"/>
                </a:solidFill>
                <a:latin typeface="210 OmniGothic 040"/>
                <a:ea typeface="210 OmniGothic 040"/>
                <a:cs typeface="210 OmniGothic 040"/>
              </a:rPr>
              <a:t>예측 유지</a:t>
            </a:r>
          </a:p>
          <a:p>
            <a:pPr algn="ctr">
              <a:lnSpc>
                <a:spcPct val="105000"/>
              </a:lnSpc>
              <a:buNone/>
            </a:pPr>
            <a:r>
              <a:rPr sz="1250" b="1">
                <a:solidFill>
                  <a:srgbClr val="2E3142"/>
                </a:solidFill>
                <a:latin typeface="210 OmniGothic 040"/>
                <a:ea typeface="210 OmniGothic 040"/>
                <a:cs typeface="210 OmniGothic 040"/>
              </a:rPr>
              <a:t>제안 재생성 · 로그</a:t>
            </a:r>
          </a:p>
        </p:txBody>
      </p:sp>
      <p:sp>
        <p:nvSpPr>
          <p:cNvPr id="5129" name="Rounded Rectangle 5128">
            <a:extLst>
              <a:ext uri="{FF2B5EF4-FFF2-40B4-BE49-F238E27FC236}">
                <a16:creationId xmlns:a16="http://schemas.microsoft.com/office/drawing/2014/main" id="{73AE9440-2F8A-4119-B6EB-B582AA18F7B6}"/>
              </a:ext>
            </a:extLst>
          </p:cNvPr>
          <p:cNvSpPr>
            <a:spLocks noGrp="1"/>
          </p:cNvSpPr>
          <p:nvPr/>
        </p:nvSpPr>
        <p:spPr>
          <a:xfrm>
            <a:off x="13498830" y="6871716"/>
            <a:ext cx="1714500" cy="1307592"/>
          </a:xfrm>
          <a:prstGeom prst="roundRect">
            <a:avLst>
              <a:gd name="adj" fmla="val 8000"/>
            </a:avLst>
          </a:prstGeom>
          <a:solidFill>
            <a:srgbClr val="363A52"/>
          </a:solidFill>
          <a:ln w="11430">
            <a:solidFill>
              <a:srgbClr val="B6BCCB"/>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endParaRPr/>
          </a:p>
        </p:txBody>
      </p:sp>
      <p:sp>
        <p:nvSpPr>
          <p:cNvPr id="5130" name="TextBox 5129">
            <a:extLst>
              <a:ext uri="{FF2B5EF4-FFF2-40B4-BE49-F238E27FC236}">
                <a16:creationId xmlns:a16="http://schemas.microsoft.com/office/drawing/2014/main" id="{F67307A7-4FF7-426B-9691-B84F43E429B3}"/>
              </a:ext>
            </a:extLst>
          </p:cNvPr>
          <p:cNvSpPr>
            <a:spLocks noGrp="1"/>
          </p:cNvSpPr>
          <p:nvPr/>
        </p:nvSpPr>
        <p:spPr>
          <a:xfrm>
            <a:off x="13555980" y="6952183"/>
            <a:ext cx="1600200" cy="1186891"/>
          </a:xfrm>
          <a:prstGeom prst="rect">
            <a:avLst/>
          </a:prstGeom>
          <a:noFill/>
        </p:spPr>
        <p:txBody>
          <a:bodyPr wrap="square" lIns="0" tIns="0" rIns="0" bIns="0" anchor="ctr">
            <a:spAutoFit/>
          </a:bodyPr>
          <a:lstStyle/>
          <a:p>
            <a:pPr algn="ctr">
              <a:lnSpc>
                <a:spcPct val="105000"/>
              </a:lnSpc>
              <a:buNone/>
            </a:pPr>
            <a:r>
              <a:rPr sz="1250" b="1">
                <a:solidFill>
                  <a:srgbClr val="FFFFFF"/>
                </a:solidFill>
                <a:latin typeface="210 OmniGothic 040"/>
                <a:ea typeface="210 OmniGothic 040"/>
                <a:cs typeface="210 OmniGothic 040"/>
              </a:rPr>
              <a:t>EXAONE</a:t>
            </a:r>
          </a:p>
          <a:p>
            <a:pPr algn="ctr">
              <a:lnSpc>
                <a:spcPct val="105000"/>
              </a:lnSpc>
              <a:buNone/>
            </a:pPr>
            <a:r>
              <a:rPr sz="1050" b="0">
                <a:solidFill>
                  <a:srgbClr val="D8D8D8"/>
                </a:solidFill>
                <a:latin typeface="210 OmniGothic 040"/>
                <a:ea typeface="210 OmniGothic 040"/>
                <a:cs typeface="210 OmniGothic 040"/>
              </a:rPr>
              <a:t>답변 · 정정 해석</a:t>
            </a:r>
          </a:p>
        </p:txBody>
      </p:sp>
      <p:sp>
        <p:nvSpPr>
          <p:cNvPr id="5131" name="Rounded Rectangle 5130">
            <a:extLst>
              <a:ext uri="{FF2B5EF4-FFF2-40B4-BE49-F238E27FC236}">
                <a16:creationId xmlns:a16="http://schemas.microsoft.com/office/drawing/2014/main" id="{31B5B6B3-C0EC-495C-BB69-0D8AFC4958ED}"/>
              </a:ext>
            </a:extLst>
          </p:cNvPr>
          <p:cNvSpPr>
            <a:spLocks noGrp="1"/>
          </p:cNvSpPr>
          <p:nvPr/>
        </p:nvSpPr>
        <p:spPr>
          <a:xfrm>
            <a:off x="15379064" y="2808122"/>
            <a:ext cx="1714500" cy="1307592"/>
          </a:xfrm>
          <a:prstGeom prst="roundRect">
            <a:avLst>
              <a:gd name="adj" fmla="val 8000"/>
            </a:avLst>
          </a:prstGeom>
          <a:solidFill>
            <a:srgbClr val="FFFFFF"/>
          </a:solidFill>
          <a:ln w="11430">
            <a:solidFill>
              <a:srgbClr val="B6BCCB"/>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endParaRPr/>
          </a:p>
        </p:txBody>
      </p:sp>
      <p:sp>
        <p:nvSpPr>
          <p:cNvPr id="5132" name="TextBox 5131">
            <a:extLst>
              <a:ext uri="{FF2B5EF4-FFF2-40B4-BE49-F238E27FC236}">
                <a16:creationId xmlns:a16="http://schemas.microsoft.com/office/drawing/2014/main" id="{8CED6BF5-8181-49D4-915D-BD2DD0F51046}"/>
              </a:ext>
            </a:extLst>
          </p:cNvPr>
          <p:cNvSpPr>
            <a:spLocks noGrp="1"/>
          </p:cNvSpPr>
          <p:nvPr/>
        </p:nvSpPr>
        <p:spPr>
          <a:xfrm>
            <a:off x="15436214" y="2888589"/>
            <a:ext cx="1600200" cy="1186891"/>
          </a:xfrm>
          <a:prstGeom prst="rect">
            <a:avLst/>
          </a:prstGeom>
          <a:noFill/>
        </p:spPr>
        <p:txBody>
          <a:bodyPr wrap="square" lIns="0" tIns="0" rIns="0" bIns="0" anchor="ctr">
            <a:spAutoFit/>
          </a:bodyPr>
          <a:lstStyle/>
          <a:p>
            <a:pPr algn="ctr">
              <a:lnSpc>
                <a:spcPct val="105000"/>
              </a:lnSpc>
              <a:buNone/>
            </a:pPr>
            <a:r>
              <a:rPr sz="1250" b="1">
                <a:solidFill>
                  <a:srgbClr val="2E3142"/>
                </a:solidFill>
                <a:latin typeface="210 OmniGothic 040"/>
                <a:ea typeface="210 OmniGothic 040"/>
                <a:cs typeface="210 OmniGothic 040"/>
              </a:rPr>
              <a:t>발화 종료 처리</a:t>
            </a:r>
          </a:p>
          <a:p>
            <a:pPr algn="ctr">
              <a:lnSpc>
                <a:spcPct val="105000"/>
              </a:lnSpc>
              <a:buNone/>
            </a:pPr>
            <a:r>
              <a:rPr sz="1050" b="0">
                <a:solidFill>
                  <a:srgbClr val="6B7080"/>
                </a:solidFill>
                <a:latin typeface="210 OmniGothic 040"/>
                <a:ea typeface="210 OmniGothic 040"/>
                <a:cs typeface="210 OmniGothic 040"/>
              </a:rPr>
              <a:t>통합지휘권자</a:t>
            </a:r>
          </a:p>
        </p:txBody>
      </p:sp>
      <p:sp>
        <p:nvSpPr>
          <p:cNvPr id="5133" name="Oval 5132">
            <a:extLst>
              <a:ext uri="{FF2B5EF4-FFF2-40B4-BE49-F238E27FC236}">
                <a16:creationId xmlns:a16="http://schemas.microsoft.com/office/drawing/2014/main" id="{FC4E089B-C501-4D50-97DD-A609C3ED4009}"/>
              </a:ext>
            </a:extLst>
          </p:cNvPr>
          <p:cNvSpPr>
            <a:spLocks noGrp="1"/>
          </p:cNvSpPr>
          <p:nvPr/>
        </p:nvSpPr>
        <p:spPr>
          <a:xfrm>
            <a:off x="15251048" y="2677363"/>
            <a:ext cx="301752" cy="301752"/>
          </a:xfrm>
          <a:prstGeom prst="ellipse">
            <a:avLst/>
          </a:prstGeom>
          <a:solidFill>
            <a:srgbClr val="FAA95A"/>
          </a:solidFill>
          <a:ln>
            <a:noFill/>
          </a:ln>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algn="ctr">
              <a:buNone/>
            </a:pPr>
            <a:r>
              <a:rPr sz="1150" b="1">
                <a:solidFill>
                  <a:srgbClr val="FFFFFF"/>
                </a:solidFill>
                <a:latin typeface="210 OmniGothic 040"/>
                <a:ea typeface="210 OmniGothic 040"/>
                <a:cs typeface="210 OmniGothic 040"/>
              </a:rPr>
              <a:t>8</a:t>
            </a:r>
          </a:p>
        </p:txBody>
      </p:sp>
      <p:sp>
        <p:nvSpPr>
          <p:cNvPr id="5134" name="Rounded Rectangle 5133">
            <a:extLst>
              <a:ext uri="{FF2B5EF4-FFF2-40B4-BE49-F238E27FC236}">
                <a16:creationId xmlns:a16="http://schemas.microsoft.com/office/drawing/2014/main" id="{37DF55D4-8C75-4BEA-BB64-78F5F70F27B0}"/>
              </a:ext>
            </a:extLst>
          </p:cNvPr>
          <p:cNvSpPr>
            <a:spLocks noGrp="1"/>
          </p:cNvSpPr>
          <p:nvPr/>
        </p:nvSpPr>
        <p:spPr>
          <a:xfrm>
            <a:off x="15379064" y="4839919"/>
            <a:ext cx="1714500" cy="1307592"/>
          </a:xfrm>
          <a:prstGeom prst="roundRect">
            <a:avLst>
              <a:gd name="adj" fmla="val 8000"/>
            </a:avLst>
          </a:prstGeom>
          <a:solidFill>
            <a:srgbClr val="FFFFFF"/>
          </a:solidFill>
          <a:ln w="11430">
            <a:solidFill>
              <a:srgbClr val="B6BCCB"/>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endParaRPr/>
          </a:p>
        </p:txBody>
      </p:sp>
      <p:sp>
        <p:nvSpPr>
          <p:cNvPr id="5135" name="TextBox 5134">
            <a:extLst>
              <a:ext uri="{FF2B5EF4-FFF2-40B4-BE49-F238E27FC236}">
                <a16:creationId xmlns:a16="http://schemas.microsoft.com/office/drawing/2014/main" id="{89FE960B-EE2C-4F11-B133-182194DA928B}"/>
              </a:ext>
            </a:extLst>
          </p:cNvPr>
          <p:cNvSpPr>
            <a:spLocks noGrp="1"/>
          </p:cNvSpPr>
          <p:nvPr/>
        </p:nvSpPr>
        <p:spPr>
          <a:xfrm>
            <a:off x="15436214" y="4920386"/>
            <a:ext cx="1600200" cy="1186891"/>
          </a:xfrm>
          <a:prstGeom prst="rect">
            <a:avLst/>
          </a:prstGeom>
          <a:noFill/>
        </p:spPr>
        <p:txBody>
          <a:bodyPr wrap="square" lIns="0" tIns="0" rIns="0" bIns="0" anchor="ctr">
            <a:spAutoFit/>
          </a:bodyPr>
          <a:lstStyle/>
          <a:p>
            <a:pPr algn="ctr">
              <a:lnSpc>
                <a:spcPct val="105000"/>
              </a:lnSpc>
              <a:buNone/>
            </a:pPr>
            <a:r>
              <a:rPr sz="1250" b="1">
                <a:solidFill>
                  <a:srgbClr val="2E3142"/>
                </a:solidFill>
                <a:latin typeface="210 OmniGothic 040"/>
                <a:ea typeface="210 OmniGothic 040"/>
                <a:cs typeface="210 OmniGothic 040"/>
              </a:rPr>
              <a:t>종료 · 처리자 저장</a:t>
            </a:r>
          </a:p>
          <a:p>
            <a:pPr algn="ctr">
              <a:lnSpc>
                <a:spcPct val="105000"/>
              </a:lnSpc>
              <a:buNone/>
            </a:pPr>
            <a:r>
              <a:rPr sz="1250" b="1">
                <a:solidFill>
                  <a:srgbClr val="2E3142"/>
                </a:solidFill>
                <a:latin typeface="210 OmniGothic 040"/>
                <a:ea typeface="210 OmniGothic 040"/>
                <a:cs typeface="210 OmniGothic 040"/>
              </a:rPr>
              <a:t>변경 작업 차단</a:t>
            </a:r>
          </a:p>
          <a:p>
            <a:pPr algn="ctr">
              <a:lnSpc>
                <a:spcPct val="105000"/>
              </a:lnSpc>
              <a:buNone/>
            </a:pPr>
            <a:r>
              <a:rPr sz="1250" b="1">
                <a:solidFill>
                  <a:srgbClr val="2E3142"/>
                </a:solidFill>
                <a:latin typeface="210 OmniGothic 040"/>
                <a:ea typeface="210 OmniGothic 040"/>
                <a:cs typeface="210 OmniGothic 040"/>
              </a:rPr>
              <a:t>제안 이력만 열람</a:t>
            </a:r>
          </a:p>
        </p:txBody>
      </p:sp>
      <p:sp>
        <p:nvSpPr>
          <p:cNvPr id="5136" name="Connector 5135">
            <a:extLst>
              <a:ext uri="{FF2B5EF4-FFF2-40B4-BE49-F238E27FC236}">
                <a16:creationId xmlns:a16="http://schemas.microsoft.com/office/drawing/2014/main" id="{8100A54E-0934-4E44-802D-6214EDED71C6}"/>
              </a:ext>
            </a:extLst>
          </p:cNvPr>
          <p:cNvSpPr>
            <a:spLocks noGrp="1"/>
          </p:cNvSpPr>
          <p:nvPr/>
        </p:nvSpPr>
        <p:spPr>
          <a:xfrm>
            <a:off x="3074670" y="4115714"/>
            <a:ext cx="0" cy="724205"/>
          </a:xfrm>
          <a:prstGeom prst="line">
            <a:avLst/>
          </a:prstGeom>
          <a:ln w="1651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5137" name="Connector 5136">
            <a:extLst>
              <a:ext uri="{FF2B5EF4-FFF2-40B4-BE49-F238E27FC236}">
                <a16:creationId xmlns:a16="http://schemas.microsoft.com/office/drawing/2014/main" id="{373DE3D0-7AC8-4317-B709-F393FF43A489}"/>
              </a:ext>
            </a:extLst>
          </p:cNvPr>
          <p:cNvSpPr>
            <a:spLocks noGrp="1"/>
          </p:cNvSpPr>
          <p:nvPr/>
        </p:nvSpPr>
        <p:spPr>
          <a:xfrm>
            <a:off x="3931920" y="5493715"/>
            <a:ext cx="165735" cy="0"/>
          </a:xfrm>
          <a:prstGeom prst="line">
            <a:avLst/>
          </a:prstGeom>
          <a:ln w="1651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5138" name="Connector 5137">
            <a:extLst>
              <a:ext uri="{FF2B5EF4-FFF2-40B4-BE49-F238E27FC236}">
                <a16:creationId xmlns:a16="http://schemas.microsoft.com/office/drawing/2014/main" id="{CB39E090-543B-4786-AD97-ED5EC0C9CDEA}"/>
              </a:ext>
            </a:extLst>
          </p:cNvPr>
          <p:cNvSpPr>
            <a:spLocks noGrp="1"/>
          </p:cNvSpPr>
          <p:nvPr/>
        </p:nvSpPr>
        <p:spPr>
          <a:xfrm>
            <a:off x="4954905" y="4115714"/>
            <a:ext cx="0" cy="724205"/>
          </a:xfrm>
          <a:prstGeom prst="line">
            <a:avLst/>
          </a:prstGeom>
          <a:ln w="1651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5139" name="Connector 5138">
            <a:extLst>
              <a:ext uri="{FF2B5EF4-FFF2-40B4-BE49-F238E27FC236}">
                <a16:creationId xmlns:a16="http://schemas.microsoft.com/office/drawing/2014/main" id="{80092074-1C99-41D5-8875-903F1A256A74}"/>
              </a:ext>
            </a:extLst>
          </p:cNvPr>
          <p:cNvSpPr>
            <a:spLocks noGrp="1"/>
          </p:cNvSpPr>
          <p:nvPr/>
        </p:nvSpPr>
        <p:spPr>
          <a:xfrm>
            <a:off x="5812155" y="5493715"/>
            <a:ext cx="165735" cy="0"/>
          </a:xfrm>
          <a:prstGeom prst="line">
            <a:avLst/>
          </a:prstGeom>
          <a:ln w="1651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5140" name="Connector 5139">
            <a:extLst>
              <a:ext uri="{FF2B5EF4-FFF2-40B4-BE49-F238E27FC236}">
                <a16:creationId xmlns:a16="http://schemas.microsoft.com/office/drawing/2014/main" id="{D9EA285C-F56E-4040-96A3-593907C23B90}"/>
              </a:ext>
            </a:extLst>
          </p:cNvPr>
          <p:cNvSpPr>
            <a:spLocks noGrp="1"/>
          </p:cNvSpPr>
          <p:nvPr/>
        </p:nvSpPr>
        <p:spPr>
          <a:xfrm flipV="1">
            <a:off x="6835140" y="4115714"/>
            <a:ext cx="0" cy="724205"/>
          </a:xfrm>
          <a:prstGeom prst="line">
            <a:avLst/>
          </a:prstGeom>
          <a:ln w="1651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5141" name="Connector 5140">
            <a:extLst>
              <a:ext uri="{FF2B5EF4-FFF2-40B4-BE49-F238E27FC236}">
                <a16:creationId xmlns:a16="http://schemas.microsoft.com/office/drawing/2014/main" id="{E8293D22-2FF9-41CD-AE19-5AC86CDAF940}"/>
              </a:ext>
            </a:extLst>
          </p:cNvPr>
          <p:cNvSpPr>
            <a:spLocks noGrp="1"/>
          </p:cNvSpPr>
          <p:nvPr/>
        </p:nvSpPr>
        <p:spPr>
          <a:xfrm>
            <a:off x="6835140" y="6147511"/>
            <a:ext cx="0" cy="724205"/>
          </a:xfrm>
          <a:prstGeom prst="line">
            <a:avLst/>
          </a:prstGeom>
          <a:ln w="1651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5142" name="Connector 5141">
            <a:extLst>
              <a:ext uri="{FF2B5EF4-FFF2-40B4-BE49-F238E27FC236}">
                <a16:creationId xmlns:a16="http://schemas.microsoft.com/office/drawing/2014/main" id="{F07CC773-435C-4681-A03A-EE0DA7543FFB}"/>
              </a:ext>
            </a:extLst>
          </p:cNvPr>
          <p:cNvSpPr>
            <a:spLocks noGrp="1"/>
          </p:cNvSpPr>
          <p:nvPr/>
        </p:nvSpPr>
        <p:spPr>
          <a:xfrm>
            <a:off x="7692390" y="3461918"/>
            <a:ext cx="165735" cy="0"/>
          </a:xfrm>
          <a:prstGeom prst="line">
            <a:avLst/>
          </a:prstGeom>
          <a:ln w="1651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5143" name="Connector 5142">
            <a:extLst>
              <a:ext uri="{FF2B5EF4-FFF2-40B4-BE49-F238E27FC236}">
                <a16:creationId xmlns:a16="http://schemas.microsoft.com/office/drawing/2014/main" id="{15CC2D92-C9CC-4AFD-85F7-D9F896A1B6C5}"/>
              </a:ext>
            </a:extLst>
          </p:cNvPr>
          <p:cNvSpPr>
            <a:spLocks noGrp="1"/>
          </p:cNvSpPr>
          <p:nvPr/>
        </p:nvSpPr>
        <p:spPr>
          <a:xfrm>
            <a:off x="8715375" y="4115714"/>
            <a:ext cx="0" cy="724205"/>
          </a:xfrm>
          <a:prstGeom prst="line">
            <a:avLst/>
          </a:prstGeom>
          <a:ln w="1651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5144" name="Connector 5143">
            <a:extLst>
              <a:ext uri="{FF2B5EF4-FFF2-40B4-BE49-F238E27FC236}">
                <a16:creationId xmlns:a16="http://schemas.microsoft.com/office/drawing/2014/main" id="{F6950D8F-C214-42BD-A001-5381B83C1816}"/>
              </a:ext>
            </a:extLst>
          </p:cNvPr>
          <p:cNvSpPr>
            <a:spLocks noGrp="1"/>
          </p:cNvSpPr>
          <p:nvPr/>
        </p:nvSpPr>
        <p:spPr>
          <a:xfrm>
            <a:off x="8715375" y="6147511"/>
            <a:ext cx="0" cy="724205"/>
          </a:xfrm>
          <a:prstGeom prst="line">
            <a:avLst/>
          </a:prstGeom>
          <a:ln w="1651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5145" name="Connector 5144">
            <a:extLst>
              <a:ext uri="{FF2B5EF4-FFF2-40B4-BE49-F238E27FC236}">
                <a16:creationId xmlns:a16="http://schemas.microsoft.com/office/drawing/2014/main" id="{C5C60447-9DD1-4619-9510-1046D3AB6025}"/>
              </a:ext>
            </a:extLst>
          </p:cNvPr>
          <p:cNvSpPr>
            <a:spLocks noGrp="1"/>
          </p:cNvSpPr>
          <p:nvPr/>
        </p:nvSpPr>
        <p:spPr>
          <a:xfrm>
            <a:off x="9572625" y="7525512"/>
            <a:ext cx="165735" cy="0"/>
          </a:xfrm>
          <a:prstGeom prst="line">
            <a:avLst/>
          </a:prstGeom>
          <a:ln w="1651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5146" name="Connector 5145">
            <a:extLst>
              <a:ext uri="{FF2B5EF4-FFF2-40B4-BE49-F238E27FC236}">
                <a16:creationId xmlns:a16="http://schemas.microsoft.com/office/drawing/2014/main" id="{8E88DFBB-49A2-4503-BA2A-7D5B1C3DC781}"/>
              </a:ext>
            </a:extLst>
          </p:cNvPr>
          <p:cNvSpPr>
            <a:spLocks noGrp="1"/>
          </p:cNvSpPr>
          <p:nvPr/>
        </p:nvSpPr>
        <p:spPr>
          <a:xfrm>
            <a:off x="9572625" y="5493715"/>
            <a:ext cx="165735" cy="0"/>
          </a:xfrm>
          <a:prstGeom prst="line">
            <a:avLst/>
          </a:prstGeom>
          <a:ln w="1651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5147" name="Connector 5146">
            <a:extLst>
              <a:ext uri="{FF2B5EF4-FFF2-40B4-BE49-F238E27FC236}">
                <a16:creationId xmlns:a16="http://schemas.microsoft.com/office/drawing/2014/main" id="{65A9BA24-8303-44F3-BA67-9D173844C85D}"/>
              </a:ext>
            </a:extLst>
          </p:cNvPr>
          <p:cNvSpPr>
            <a:spLocks noGrp="1"/>
          </p:cNvSpPr>
          <p:nvPr/>
        </p:nvSpPr>
        <p:spPr>
          <a:xfrm>
            <a:off x="10595609" y="6147511"/>
            <a:ext cx="0" cy="724205"/>
          </a:xfrm>
          <a:prstGeom prst="line">
            <a:avLst/>
          </a:prstGeom>
          <a:ln w="1651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5148" name="Connector 5147">
            <a:extLst>
              <a:ext uri="{FF2B5EF4-FFF2-40B4-BE49-F238E27FC236}">
                <a16:creationId xmlns:a16="http://schemas.microsoft.com/office/drawing/2014/main" id="{9B27632B-79F8-4FC7-AB1C-271722ECB8C7}"/>
              </a:ext>
            </a:extLst>
          </p:cNvPr>
          <p:cNvSpPr>
            <a:spLocks noGrp="1"/>
          </p:cNvSpPr>
          <p:nvPr/>
        </p:nvSpPr>
        <p:spPr>
          <a:xfrm flipV="1">
            <a:off x="11452859" y="5493715"/>
            <a:ext cx="165735" cy="2031797"/>
          </a:xfrm>
          <a:prstGeom prst="line">
            <a:avLst/>
          </a:prstGeom>
          <a:ln w="1651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5149" name="Connector 5148">
            <a:extLst>
              <a:ext uri="{FF2B5EF4-FFF2-40B4-BE49-F238E27FC236}">
                <a16:creationId xmlns:a16="http://schemas.microsoft.com/office/drawing/2014/main" id="{8C5BC145-976D-48E9-B0E8-0011772C3625}"/>
              </a:ext>
            </a:extLst>
          </p:cNvPr>
          <p:cNvSpPr>
            <a:spLocks noGrp="1"/>
          </p:cNvSpPr>
          <p:nvPr/>
        </p:nvSpPr>
        <p:spPr>
          <a:xfrm flipV="1">
            <a:off x="12475844" y="4115714"/>
            <a:ext cx="0" cy="724205"/>
          </a:xfrm>
          <a:prstGeom prst="line">
            <a:avLst/>
          </a:prstGeom>
          <a:ln w="1651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5150" name="Connector 5149">
            <a:extLst>
              <a:ext uri="{FF2B5EF4-FFF2-40B4-BE49-F238E27FC236}">
                <a16:creationId xmlns:a16="http://schemas.microsoft.com/office/drawing/2014/main" id="{60927617-E85C-405D-8783-492FB9CC04D7}"/>
              </a:ext>
            </a:extLst>
          </p:cNvPr>
          <p:cNvSpPr>
            <a:spLocks noGrp="1"/>
          </p:cNvSpPr>
          <p:nvPr/>
        </p:nvSpPr>
        <p:spPr>
          <a:xfrm>
            <a:off x="13333094" y="3461918"/>
            <a:ext cx="165736" cy="0"/>
          </a:xfrm>
          <a:prstGeom prst="line">
            <a:avLst/>
          </a:prstGeom>
          <a:ln w="1651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5151" name="Connector 5150">
            <a:extLst>
              <a:ext uri="{FF2B5EF4-FFF2-40B4-BE49-F238E27FC236}">
                <a16:creationId xmlns:a16="http://schemas.microsoft.com/office/drawing/2014/main" id="{67FFB246-BA03-4BC0-B4CA-6FB96863E354}"/>
              </a:ext>
            </a:extLst>
          </p:cNvPr>
          <p:cNvSpPr>
            <a:spLocks noGrp="1"/>
          </p:cNvSpPr>
          <p:nvPr/>
        </p:nvSpPr>
        <p:spPr>
          <a:xfrm>
            <a:off x="14356080" y="4115714"/>
            <a:ext cx="0" cy="724205"/>
          </a:xfrm>
          <a:prstGeom prst="line">
            <a:avLst/>
          </a:prstGeom>
          <a:ln w="1651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5152" name="Connector 5151">
            <a:extLst>
              <a:ext uri="{FF2B5EF4-FFF2-40B4-BE49-F238E27FC236}">
                <a16:creationId xmlns:a16="http://schemas.microsoft.com/office/drawing/2014/main" id="{2DEC0E36-0679-4D40-9A2A-345BCD1D87E9}"/>
              </a:ext>
            </a:extLst>
          </p:cNvPr>
          <p:cNvSpPr>
            <a:spLocks noGrp="1"/>
          </p:cNvSpPr>
          <p:nvPr/>
        </p:nvSpPr>
        <p:spPr>
          <a:xfrm>
            <a:off x="14356080" y="6147511"/>
            <a:ext cx="0" cy="724205"/>
          </a:xfrm>
          <a:prstGeom prst="line">
            <a:avLst/>
          </a:prstGeom>
          <a:ln w="1651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5153" name="Connector 5152">
            <a:extLst>
              <a:ext uri="{FF2B5EF4-FFF2-40B4-BE49-F238E27FC236}">
                <a16:creationId xmlns:a16="http://schemas.microsoft.com/office/drawing/2014/main" id="{5CEF7050-9C53-4D95-9626-C5D2818DFF01}"/>
              </a:ext>
            </a:extLst>
          </p:cNvPr>
          <p:cNvSpPr>
            <a:spLocks noGrp="1"/>
          </p:cNvSpPr>
          <p:nvPr/>
        </p:nvSpPr>
        <p:spPr>
          <a:xfrm>
            <a:off x="13898880" y="6147511"/>
            <a:ext cx="0" cy="160934"/>
          </a:xfrm>
          <a:prstGeom prst="line">
            <a:avLst/>
          </a:prstGeom>
          <a:ln w="16510">
            <a:solidFill>
              <a:srgbClr val="363A52"/>
            </a:solidFill>
            <a:prstDash val="dash"/>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5154" name="Connector 5153">
            <a:extLst>
              <a:ext uri="{FF2B5EF4-FFF2-40B4-BE49-F238E27FC236}">
                <a16:creationId xmlns:a16="http://schemas.microsoft.com/office/drawing/2014/main" id="{5545000E-904F-41E4-B807-F6B679BFD770}"/>
              </a:ext>
            </a:extLst>
          </p:cNvPr>
          <p:cNvSpPr>
            <a:spLocks noGrp="1"/>
          </p:cNvSpPr>
          <p:nvPr/>
        </p:nvSpPr>
        <p:spPr>
          <a:xfrm flipH="1">
            <a:off x="12933044" y="6308445"/>
            <a:ext cx="965836" cy="0"/>
          </a:xfrm>
          <a:prstGeom prst="line">
            <a:avLst/>
          </a:prstGeom>
          <a:ln w="16510">
            <a:solidFill>
              <a:srgbClr val="363A52"/>
            </a:solidFill>
            <a:prstDash val="dash"/>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5155" name="Connector 5154">
            <a:extLst>
              <a:ext uri="{FF2B5EF4-FFF2-40B4-BE49-F238E27FC236}">
                <a16:creationId xmlns:a16="http://schemas.microsoft.com/office/drawing/2014/main" id="{CF0CF319-7A1C-4490-B9FD-6EFA274FFD33}"/>
              </a:ext>
            </a:extLst>
          </p:cNvPr>
          <p:cNvSpPr>
            <a:spLocks noGrp="1"/>
          </p:cNvSpPr>
          <p:nvPr/>
        </p:nvSpPr>
        <p:spPr>
          <a:xfrm flipV="1">
            <a:off x="12933044" y="6147511"/>
            <a:ext cx="0" cy="160934"/>
          </a:xfrm>
          <a:prstGeom prst="line">
            <a:avLst/>
          </a:prstGeom>
          <a:ln w="16510">
            <a:solidFill>
              <a:srgbClr val="363A52"/>
            </a:solidFill>
            <a:prstDash val="dash"/>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5156" name="Connector 5155">
            <a:extLst>
              <a:ext uri="{FF2B5EF4-FFF2-40B4-BE49-F238E27FC236}">
                <a16:creationId xmlns:a16="http://schemas.microsoft.com/office/drawing/2014/main" id="{5FFA5488-D343-4C98-A9BC-8A141106D94C}"/>
              </a:ext>
            </a:extLst>
          </p:cNvPr>
          <p:cNvSpPr>
            <a:spLocks noGrp="1"/>
          </p:cNvSpPr>
          <p:nvPr/>
        </p:nvSpPr>
        <p:spPr>
          <a:xfrm>
            <a:off x="15213330" y="3461918"/>
            <a:ext cx="165734" cy="0"/>
          </a:xfrm>
          <a:prstGeom prst="line">
            <a:avLst/>
          </a:prstGeom>
          <a:ln w="1651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5157" name="Connector 5156">
            <a:extLst>
              <a:ext uri="{FF2B5EF4-FFF2-40B4-BE49-F238E27FC236}">
                <a16:creationId xmlns:a16="http://schemas.microsoft.com/office/drawing/2014/main" id="{C1735012-3C70-4BA6-A98C-C75BF1833BC7}"/>
              </a:ext>
            </a:extLst>
          </p:cNvPr>
          <p:cNvSpPr>
            <a:spLocks noGrp="1"/>
          </p:cNvSpPr>
          <p:nvPr/>
        </p:nvSpPr>
        <p:spPr>
          <a:xfrm>
            <a:off x="16236314" y="4115714"/>
            <a:ext cx="0" cy="724205"/>
          </a:xfrm>
          <a:prstGeom prst="line">
            <a:avLst/>
          </a:prstGeom>
          <a:ln w="1651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5158" name="TextBox 5157">
            <a:extLst>
              <a:ext uri="{FF2B5EF4-FFF2-40B4-BE49-F238E27FC236}">
                <a16:creationId xmlns:a16="http://schemas.microsoft.com/office/drawing/2014/main" id="{7D49C784-4E89-410B-99B4-C9370C79A160}"/>
              </a:ext>
            </a:extLst>
          </p:cNvPr>
          <p:cNvSpPr>
            <a:spLocks noGrp="1"/>
          </p:cNvSpPr>
          <p:nvPr/>
        </p:nvSpPr>
        <p:spPr>
          <a:xfrm>
            <a:off x="822960" y="8682228"/>
            <a:ext cx="16459200" cy="449580"/>
          </a:xfrm>
          <a:prstGeom prst="rect">
            <a:avLst/>
          </a:prstGeom>
          <a:noFill/>
        </p:spPr>
        <p:txBody>
          <a:bodyPr wrap="square" lIns="0" tIns="0" rIns="0" bIns="0" anchor="t">
            <a:spAutoFit/>
          </a:bodyPr>
          <a:lstStyle/>
          <a:p>
            <a:pPr algn="l">
              <a:buNone/>
            </a:pPr>
            <a:r>
              <a:rPr sz="1150" b="0">
                <a:solidFill>
                  <a:srgbClr val="7B8094"/>
                </a:solidFill>
                <a:latin typeface="210 OmniGothic 030"/>
                <a:ea typeface="210 OmniGothic 030"/>
                <a:cs typeface="210 OmniGothic 030"/>
              </a:rPr>
              <a:t>※ 정정 확정 시 예측은 유지하고 규칙 판정·제안 생성만 재실행해 새 버전을 만든다. 종료 사건은 발화 정보 수정·예측·정정·제안 재생성을 차단한다.</a:t>
            </a:r>
          </a:p>
          <a:p>
            <a:pPr algn="l">
              <a:buNone/>
            </a:pPr>
            <a:r>
              <a:rPr sz="1150" b="0">
                <a:solidFill>
                  <a:srgbClr val="7B8094"/>
                </a:solidFill>
                <a:latin typeface="210 OmniGothic 030"/>
                <a:ea typeface="210 OmniGothic 030"/>
                <a:cs typeface="210 OmniGothic 030"/>
              </a:rPr>
              <a:t>※ 이벤트 로그는 로그인·로그아웃·입력·예측·제안·정정·종료·계정 및 자원 변경을 추가 전용으로 기록하고, 이력 탭에서 읽기 전용 열람한다.</a:t>
            </a:r>
          </a:p>
        </p:txBody>
      </p:sp>
    </p:spTree>
    <p:extLst>
      <p:ext uri="{BB962C8B-B14F-4D97-AF65-F5344CB8AC3E}">
        <p14:creationId xmlns:p14="http://schemas.microsoft.com/office/powerpoint/2010/main" val="20086334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73"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2700" y="-12700"/>
            <a:ext cx="18313400" cy="1638300"/>
          </a:xfrm>
          <a:prstGeom prst="rect">
            <a:avLst/>
          </a:prstGeom>
        </p:spPr>
      </p:pic>
      <p:pic>
        <p:nvPicPr>
          <p:cNvPr id="5074"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628" y="1618343"/>
            <a:ext cx="18313400" cy="8699500"/>
          </a:xfrm>
          <a:prstGeom prst="rect">
            <a:avLst/>
          </a:prstGeom>
        </p:spPr>
      </p:pic>
      <p:pic>
        <p:nvPicPr>
          <p:cNvPr id="5075"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58800" y="9271000"/>
            <a:ext cx="17170400" cy="50800"/>
          </a:xfrm>
          <a:prstGeom prst="rect">
            <a:avLst/>
          </a:prstGeom>
        </p:spPr>
      </p:pic>
      <p:pic>
        <p:nvPicPr>
          <p:cNvPr id="5076" name="Picture 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278100" y="203200"/>
            <a:ext cx="1676400" cy="1409700"/>
          </a:xfrm>
          <a:prstGeom prst="rect">
            <a:avLst/>
          </a:prstGeom>
        </p:spPr>
      </p:pic>
      <p:sp>
        <p:nvSpPr>
          <p:cNvPr id="5077" name="Title"/>
          <p:cNvSpPr txBox="1"/>
          <p:nvPr/>
        </p:nvSpPr>
        <p:spPr>
          <a:xfrm>
            <a:off x="822960" y="384048"/>
            <a:ext cx="13258800" cy="877824"/>
          </a:xfrm>
          <a:prstGeom prst="rect">
            <a:avLst/>
          </a:prstGeom>
          <a:noFill/>
        </p:spPr>
        <p:txBody>
          <a:bodyPr wrap="square" lIns="0" tIns="0" rIns="0" bIns="0" anchor="ctr">
            <a:spAutoFit/>
          </a:bodyPr>
          <a:lstStyle/>
          <a:p>
            <a:pPr algn="l"/>
            <a:r>
              <a:rPr sz="4400" b="0">
                <a:solidFill>
                  <a:srgbClr val="FAA95A"/>
                </a:solidFill>
                <a:latin typeface="210 OmniGothic 050"/>
                <a:ea typeface="210 OmniGothic 050"/>
                <a:cs typeface="210 OmniGothic 050"/>
              </a:rPr>
              <a:t>02. 시스템 기술서</a:t>
            </a:r>
          </a:p>
        </p:txBody>
      </p:sp>
      <p:sp>
        <p:nvSpPr>
          <p:cNvPr id="5078" name="Subtitle"/>
          <p:cNvSpPr txBox="1"/>
          <p:nvPr/>
        </p:nvSpPr>
        <p:spPr>
          <a:xfrm>
            <a:off x="822960" y="1764792"/>
            <a:ext cx="16642080" cy="502920"/>
          </a:xfrm>
          <a:prstGeom prst="rect">
            <a:avLst/>
          </a:prstGeom>
          <a:noFill/>
        </p:spPr>
        <p:txBody>
          <a:bodyPr wrap="square" lIns="0" tIns="0" rIns="0" bIns="0" anchor="ctr">
            <a:spAutoFit/>
          </a:bodyPr>
          <a:lstStyle/>
          <a:p>
            <a:pPr algn="ctr"/>
            <a:r>
              <a:rPr sz="2600" b="1">
                <a:solidFill>
                  <a:srgbClr val="363A52"/>
                </a:solidFill>
                <a:latin typeface="210 OmniGothic 040"/>
                <a:ea typeface="210 OmniGothic 040"/>
                <a:cs typeface="210 OmniGothic 040"/>
              </a:rPr>
              <a:t>기능 목록 (1/3) — 인증 · 상황 보고 · 상황 파악 · 확산 예측</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sz="quarter" idx="12"/>
          </p:nvPr>
        </p:nvSpPr>
        <p:spPr/>
        <p:txBody>
          <a:bodyPr/>
          <a:lstStyle/>
          <a:p>
            <a:fld id="{B6F15528-21DE-4FAA-801E-634DDDAF4B2B}" type="slidenum">
              <a:rPr lang="en-US" smtClean="0"/>
              <a:pPr/>
              <a:t>12</a:t>
            </a:fld>
            <a:endParaRPr lang="en-US"/>
          </a:p>
        </p:txBody>
      </p:sp>
      <p:graphicFrame>
        <p:nvGraphicFramePr>
          <p:cNvPr id="5079" name="Table 5078"/>
          <p:cNvGraphicFramePr>
            <a:graphicFrameLocks noGrp="1"/>
          </p:cNvGraphicFramePr>
          <p:nvPr/>
        </p:nvGraphicFramePr>
        <p:xfrm>
          <a:off x="822960" y="2446020"/>
          <a:ext cx="16459199" cy="6695590"/>
        </p:xfrm>
        <a:graphic>
          <a:graphicData uri="http://schemas.openxmlformats.org/drawingml/2006/table">
            <a:tbl>
              <a:tblPr>
                <a:tableStyleId>{2D5ABB26-0587-4C30-8999-92F81FD0307C}</a:tableStyleId>
              </a:tblPr>
              <a:tblGrid>
                <a:gridCol w="777240">
                  <a:extLst>
                    <a:ext uri="{9D8B030D-6E8A-4147-A177-3AD203B41FA5}">
                      <a16:colId xmlns:a16="http://schemas.microsoft.com/office/drawing/2014/main" val="20000"/>
                    </a:ext>
                  </a:extLst>
                </a:gridCol>
                <a:gridCol w="3154680">
                  <a:extLst>
                    <a:ext uri="{9D8B030D-6E8A-4147-A177-3AD203B41FA5}">
                      <a16:colId xmlns:a16="http://schemas.microsoft.com/office/drawing/2014/main" val="20001"/>
                    </a:ext>
                  </a:extLst>
                </a:gridCol>
                <a:gridCol w="7498079">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gridCol w="2743200">
                  <a:extLst>
                    <a:ext uri="{9D8B030D-6E8A-4147-A177-3AD203B41FA5}">
                      <a16:colId xmlns:a16="http://schemas.microsoft.com/office/drawing/2014/main" val="20004"/>
                    </a:ext>
                  </a:extLst>
                </a:gridCol>
              </a:tblGrid>
              <a:tr h="342646">
                <a:tc>
                  <a:txBody>
                    <a:bodyPr/>
                    <a:lstStyle/>
                    <a:p>
                      <a:pPr algn="ctr"/>
                      <a:r>
                        <a:rPr sz="1300" b="1">
                          <a:solidFill>
                            <a:srgbClr val="FFFFFF"/>
                          </a:solidFill>
                          <a:latin typeface="210 OmniGothic 040"/>
                          <a:ea typeface="210 OmniGothic 040"/>
                          <a:cs typeface="210 OmniGothic 040"/>
                        </a:rPr>
                        <a:t>번호</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tc>
                  <a:txBody>
                    <a:bodyPr/>
                    <a:lstStyle/>
                    <a:p>
                      <a:pPr algn="ctr"/>
                      <a:r>
                        <a:rPr sz="1300" b="1">
                          <a:solidFill>
                            <a:srgbClr val="FFFFFF"/>
                          </a:solidFill>
                          <a:latin typeface="210 OmniGothic 040"/>
                          <a:ea typeface="210 OmniGothic 040"/>
                          <a:cs typeface="210 OmniGothic 040"/>
                        </a:rPr>
                        <a:t>기능</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tc>
                  <a:txBody>
                    <a:bodyPr/>
                    <a:lstStyle/>
                    <a:p>
                      <a:pPr algn="ctr"/>
                      <a:r>
                        <a:rPr sz="1300" b="1">
                          <a:solidFill>
                            <a:srgbClr val="FFFFFF"/>
                          </a:solidFill>
                          <a:latin typeface="210 OmniGothic 040"/>
                          <a:ea typeface="210 OmniGothic 040"/>
                          <a:cs typeface="210 OmniGothic 040"/>
                        </a:rPr>
                        <a:t>설명</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tc>
                  <a:txBody>
                    <a:bodyPr/>
                    <a:lstStyle/>
                    <a:p>
                      <a:pPr algn="ctr"/>
                      <a:r>
                        <a:rPr sz="1300" b="1">
                          <a:solidFill>
                            <a:srgbClr val="FFFFFF"/>
                          </a:solidFill>
                          <a:latin typeface="210 OmniGothic 040"/>
                          <a:ea typeface="210 OmniGothic 040"/>
                          <a:cs typeface="210 OmniGothic 040"/>
                        </a:rPr>
                        <a:t>사용자</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tc>
                  <a:txBody>
                    <a:bodyPr/>
                    <a:lstStyle/>
                    <a:p>
                      <a:pPr algn="ctr"/>
                      <a:r>
                        <a:rPr sz="1300" b="1">
                          <a:solidFill>
                            <a:srgbClr val="FFFFFF"/>
                          </a:solidFill>
                          <a:latin typeface="210 OmniGothic 040"/>
                          <a:ea typeface="210 OmniGothic 040"/>
                          <a:cs typeface="210 OmniGothic 040"/>
                        </a:rPr>
                        <a:t>관련 UC</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extLst>
                  <a:ext uri="{0D108BD9-81ED-4DB2-BD59-A6C34878D82A}">
                    <a16:rowId xmlns:a16="http://schemas.microsoft.com/office/drawing/2014/main" val="10000"/>
                  </a:ext>
                </a:extLst>
              </a:tr>
              <a:tr h="342646">
                <a:tc gridSpan="5">
                  <a:txBody>
                    <a:bodyPr/>
                    <a:lstStyle/>
                    <a:p>
                      <a:pPr algn="l"/>
                      <a:r>
                        <a:rPr sz="1300" b="1">
                          <a:solidFill>
                            <a:srgbClr val="2E3142"/>
                          </a:solidFill>
                          <a:latin typeface="210 OmniGothic 040"/>
                          <a:ea typeface="210 OmniGothic 040"/>
                          <a:cs typeface="210 OmniGothic 040"/>
                        </a:rPr>
                        <a:t>인증·권한 (1개)</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EF5EE"/>
                    </a:solid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10001"/>
                  </a:ext>
                </a:extLst>
              </a:tr>
              <a:tr h="557276">
                <a:tc>
                  <a:txBody>
                    <a:bodyPr/>
                    <a:lstStyle/>
                    <a:p>
                      <a:pPr algn="ctr"/>
                      <a:r>
                        <a:rPr sz="1300" b="0">
                          <a:solidFill>
                            <a:srgbClr val="2E3142"/>
                          </a:solidFill>
                          <a:latin typeface="210 OmniGothic 040"/>
                          <a:ea typeface="210 OmniGothic 040"/>
                          <a:cs typeface="210 OmniGothic 040"/>
                        </a:rPr>
                        <a:t>F-01</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sz="1300" b="0">
                          <a:solidFill>
                            <a:srgbClr val="2E3142"/>
                          </a:solidFill>
                          <a:latin typeface="210 OmniGothic 040"/>
                          <a:ea typeface="210 OmniGothic 040"/>
                          <a:cs typeface="210 OmniGothic 040"/>
                        </a:rPr>
                        <a:t>로그인·계정·권한 관리</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300" b="1">
                          <a:solidFill>
                            <a:srgbClr val="2E3142"/>
                          </a:solidFill>
                          <a:latin typeface="210 OmniGothic 040"/>
                          <a:ea typeface="210 OmniGothic 040"/>
                          <a:cs typeface="210 OmniGothic 040"/>
                        </a:rPr>
                        <a:t>발급받은 계정으로 로그인해 권한에 맞는 화면에 진입하고, 전산 관리자가 계정을 발급·회수하며 조작(통합지휘권자)·열람(열람자)·보고(상황 보고자) 권한을 구분한다(전산 관리자 계정은 사전 발급)</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300" b="0">
                          <a:solidFill>
                            <a:srgbClr val="2E3142"/>
                          </a:solidFill>
                          <a:latin typeface="210 OmniGothic 040"/>
                          <a:ea typeface="210 OmniGothic 040"/>
                          <a:cs typeface="210 OmniGothic 040"/>
                        </a:rPr>
                        <a:t>통합지휘권자·열람자·상황 보고자 ·전산 관리자</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sz="1300" b="0">
                          <a:solidFill>
                            <a:srgbClr val="2E3142"/>
                          </a:solidFill>
                          <a:latin typeface="210 OmniGothic 040"/>
                          <a:ea typeface="210 OmniGothic 040"/>
                          <a:cs typeface="210 OmniGothic 040"/>
                        </a:rPr>
                        <a:t>UC-AUTH-01, UC-ADMIN-01</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930549608"/>
                  </a:ext>
                </a:extLst>
              </a:tr>
              <a:tr h="342646">
                <a:tc gridSpan="5">
                  <a:txBody>
                    <a:bodyPr/>
                    <a:lstStyle/>
                    <a:p>
                      <a:pPr algn="l"/>
                      <a:r>
                        <a:rPr sz="1300" b="1">
                          <a:solidFill>
                            <a:srgbClr val="2E3142"/>
                          </a:solidFill>
                          <a:latin typeface="210 OmniGothic 040"/>
                          <a:ea typeface="210 OmniGothic 040"/>
                          <a:cs typeface="210 OmniGothic 040"/>
                        </a:rPr>
                        <a:t>상황 보고 (1개)</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EF5EE"/>
                    </a:solid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2574866568"/>
                  </a:ext>
                </a:extLst>
              </a:tr>
              <a:tr h="557276">
                <a:tc>
                  <a:txBody>
                    <a:bodyPr/>
                    <a:lstStyle/>
                    <a:p>
                      <a:pPr algn="ctr"/>
                      <a:r>
                        <a:rPr sz="1300" b="0">
                          <a:solidFill>
                            <a:srgbClr val="2E3142"/>
                          </a:solidFill>
                          <a:latin typeface="210 OmniGothic 040"/>
                          <a:ea typeface="210 OmniGothic 040"/>
                          <a:cs typeface="210 OmniGothic 040"/>
                        </a:rPr>
                        <a:t>F-02</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sz="1300" b="0">
                          <a:solidFill>
                            <a:srgbClr val="2E3142"/>
                          </a:solidFill>
                          <a:latin typeface="210 OmniGothic 040"/>
                          <a:ea typeface="210 OmniGothic 040"/>
                          <a:cs typeface="210 OmniGothic 040"/>
                        </a:rPr>
                        <a:t>산불 상황 보고(발화 정보·실측 화선)</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300" b="1">
                          <a:solidFill>
                            <a:srgbClr val="2E3142"/>
                          </a:solidFill>
                          <a:latin typeface="210 OmniGothic 040"/>
                          <a:ea typeface="210 OmniGothic 040"/>
                          <a:cs typeface="210 OmniGothic 040"/>
                        </a:rPr>
                        <a:t>초기 산불의 발화 위치와 발생 날짜·시각, 신고 내용·접수 시각·접수 기관을 입력하고, 실측 화선(지금 타고 있는 범위를 그린 폴리곤)을 입력한다. 초기대응에서는 실측 화선을 생략할 수 있다</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300" b="0">
                          <a:solidFill>
                            <a:srgbClr val="2E3142"/>
                          </a:solidFill>
                          <a:latin typeface="210 OmniGothic 040"/>
                          <a:ea typeface="210 OmniGothic 040"/>
                          <a:cs typeface="210 OmniGothic 040"/>
                        </a:rPr>
                        <a:t>상황 보고자</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sz="1300" b="0">
                          <a:solidFill>
                            <a:srgbClr val="2E3142"/>
                          </a:solidFill>
                          <a:latin typeface="210 OmniGothic 040"/>
                          <a:ea typeface="210 OmniGothic 040"/>
                          <a:cs typeface="210 OmniGothic 040"/>
                        </a:rPr>
                        <a:t>UC-REPORT-01</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2850478790"/>
                  </a:ext>
                </a:extLst>
              </a:tr>
              <a:tr h="342646">
                <a:tc gridSpan="5">
                  <a:txBody>
                    <a:bodyPr/>
                    <a:lstStyle/>
                    <a:p>
                      <a:pPr algn="l"/>
                      <a:r>
                        <a:rPr sz="1300" b="1">
                          <a:solidFill>
                            <a:srgbClr val="2E3142"/>
                          </a:solidFill>
                          <a:latin typeface="210 OmniGothic 040"/>
                          <a:ea typeface="210 OmniGothic 040"/>
                          <a:cs typeface="210 OmniGothic 040"/>
                        </a:rPr>
                        <a:t>상황 파악 (6개)</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EF5EE"/>
                    </a:solid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3330795126"/>
                  </a:ext>
                </a:extLst>
              </a:tr>
              <a:tr h="342646">
                <a:tc>
                  <a:txBody>
                    <a:bodyPr/>
                    <a:lstStyle/>
                    <a:p>
                      <a:pPr algn="ctr"/>
                      <a:r>
                        <a:rPr sz="1300" b="0">
                          <a:solidFill>
                            <a:srgbClr val="2E3142"/>
                          </a:solidFill>
                          <a:latin typeface="210 OmniGothic 040"/>
                          <a:ea typeface="210 OmniGothic 040"/>
                          <a:cs typeface="210 OmniGothic 040"/>
                        </a:rPr>
                        <a:t>F-03</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sz="1300" b="0">
                          <a:solidFill>
                            <a:srgbClr val="2E3142"/>
                          </a:solidFill>
                          <a:latin typeface="210 OmniGothic 040"/>
                          <a:ea typeface="210 OmniGothic 040"/>
                          <a:cs typeface="210 OmniGothic 040"/>
                        </a:rPr>
                        <a:t>발화 종료 처리</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300" b="1">
                          <a:solidFill>
                            <a:srgbClr val="2E3142"/>
                          </a:solidFill>
                          <a:latin typeface="210 OmniGothic 040"/>
                          <a:ea typeface="210 OmniGothic 040"/>
                          <a:cs typeface="210 OmniGothic 040"/>
                        </a:rPr>
                        <a:t>진화가 끝나면 산불을 종료 상태로 전환한다. 종료 후 보고·예측·정정을 막는다</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300" b="0">
                          <a:solidFill>
                            <a:srgbClr val="2E3142"/>
                          </a:solidFill>
                          <a:latin typeface="210 OmniGothic 040"/>
                          <a:ea typeface="210 OmniGothic 040"/>
                          <a:cs typeface="210 OmniGothic 040"/>
                        </a:rPr>
                        <a:t>통합지휘권자</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sz="1300" b="0">
                          <a:solidFill>
                            <a:srgbClr val="2E3142"/>
                          </a:solidFill>
                          <a:latin typeface="210 OmniGothic 040"/>
                          <a:ea typeface="210 OmniGothic 040"/>
                          <a:cs typeface="210 OmniGothic 040"/>
                        </a:rPr>
                        <a:t>UC-SIT-01</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2265831099"/>
                  </a:ext>
                </a:extLst>
              </a:tr>
              <a:tr h="557276">
                <a:tc>
                  <a:txBody>
                    <a:bodyPr/>
                    <a:lstStyle/>
                    <a:p>
                      <a:pPr algn="ctr"/>
                      <a:r>
                        <a:rPr sz="1300" b="0">
                          <a:solidFill>
                            <a:srgbClr val="2E3142"/>
                          </a:solidFill>
                          <a:latin typeface="210 OmniGothic 040"/>
                          <a:ea typeface="210 OmniGothic 040"/>
                          <a:cs typeface="210 OmniGothic 040"/>
                        </a:rPr>
                        <a:t>F-04</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sz="1300" b="0">
                          <a:solidFill>
                            <a:srgbClr val="2E3142"/>
                          </a:solidFill>
                          <a:latin typeface="210 OmniGothic 040"/>
                          <a:ea typeface="210 OmniGothic 040"/>
                          <a:cs typeface="210 OmniGothic 040"/>
                        </a:rPr>
                        <a:t>산불 발생·접수 정보 조회</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300" b="1">
                          <a:solidFill>
                            <a:srgbClr val="2E3142"/>
                          </a:solidFill>
                          <a:latin typeface="210 OmniGothic 040"/>
                          <a:ea typeface="210 OmniGothic 040"/>
                          <a:cs typeface="210 OmniGothic 040"/>
                        </a:rPr>
                        <a:t>발생 장소·신고 내용·접수 시각·진행 상태를 확인한다</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300" b="0">
                          <a:solidFill>
                            <a:srgbClr val="2E3142"/>
                          </a:solidFill>
                          <a:latin typeface="210 OmniGothic 040"/>
                          <a:ea typeface="210 OmniGothic 040"/>
                          <a:cs typeface="210 OmniGothic 040"/>
                        </a:rPr>
                        <a:t>통합지휘권자·열람자 ·상황 보고자</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sz="1300" b="0">
                          <a:solidFill>
                            <a:srgbClr val="2E3142"/>
                          </a:solidFill>
                          <a:latin typeface="210 OmniGothic 040"/>
                          <a:ea typeface="210 OmniGothic 040"/>
                          <a:cs typeface="210 OmniGothic 040"/>
                        </a:rPr>
                        <a:t>UC-SIT-02</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648635639"/>
                  </a:ext>
                </a:extLst>
              </a:tr>
              <a:tr h="342646">
                <a:tc>
                  <a:txBody>
                    <a:bodyPr/>
                    <a:lstStyle/>
                    <a:p>
                      <a:pPr algn="ctr"/>
                      <a:r>
                        <a:rPr sz="1300" b="0">
                          <a:solidFill>
                            <a:srgbClr val="2E3142"/>
                          </a:solidFill>
                          <a:latin typeface="210 OmniGothic 040"/>
                          <a:ea typeface="210 OmniGothic 040"/>
                          <a:cs typeface="210 OmniGothic 040"/>
                        </a:rPr>
                        <a:t>F-05</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sz="1300" b="0">
                          <a:solidFill>
                            <a:srgbClr val="2E3142"/>
                          </a:solidFill>
                          <a:latin typeface="210 OmniGothic 040"/>
                          <a:ea typeface="210 OmniGothic 040"/>
                          <a:cs typeface="210 OmniGothic 040"/>
                        </a:rPr>
                        <a:t>통합 상황도</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300" b="1">
                          <a:solidFill>
                            <a:srgbClr val="2E3142"/>
                          </a:solidFill>
                          <a:latin typeface="210 OmniGothic 040"/>
                          <a:ea typeface="210 OmniGothic 040"/>
                          <a:cs typeface="210 OmniGothic 040"/>
                        </a:rPr>
                        <a:t>발화점·실측 화선·1시간 간격 확산 예측(P1~P8, 시간 재생)·주변 대상을 지도에서 함께 확인한다. 위험구역(P5)·잠재 위험구역(P8)을 강조한다</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300" b="0">
                          <a:solidFill>
                            <a:srgbClr val="2E3142"/>
                          </a:solidFill>
                          <a:latin typeface="210 OmniGothic 040"/>
                          <a:ea typeface="210 OmniGothic 040"/>
                          <a:cs typeface="210 OmniGothic 040"/>
                        </a:rPr>
                        <a:t>통합지휘권자·열람자</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sz="1300" b="0">
                          <a:solidFill>
                            <a:srgbClr val="2E3142"/>
                          </a:solidFill>
                          <a:latin typeface="210 OmniGothic 040"/>
                          <a:ea typeface="210 OmniGothic 040"/>
                          <a:cs typeface="210 OmniGothic 040"/>
                        </a:rPr>
                        <a:t>UC-SIT-03</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3257935528"/>
                  </a:ext>
                </a:extLst>
              </a:tr>
              <a:tr h="342646">
                <a:tc>
                  <a:txBody>
                    <a:bodyPr/>
                    <a:lstStyle/>
                    <a:p>
                      <a:pPr algn="ctr"/>
                      <a:r>
                        <a:rPr sz="1300" b="0">
                          <a:solidFill>
                            <a:srgbClr val="2E3142"/>
                          </a:solidFill>
                          <a:latin typeface="210 OmniGothic 040"/>
                          <a:ea typeface="210 OmniGothic 040"/>
                          <a:cs typeface="210 OmniGothic 040"/>
                        </a:rPr>
                        <a:t>F-06</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sz="1300" b="0">
                          <a:solidFill>
                            <a:srgbClr val="2E3142"/>
                          </a:solidFill>
                          <a:latin typeface="210 OmniGothic 040"/>
                          <a:ea typeface="210 OmniGothic 040"/>
                          <a:cs typeface="210 OmniGothic 040"/>
                        </a:rPr>
                        <a:t>지도 레이어 선택</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300" b="1">
                          <a:solidFill>
                            <a:srgbClr val="2E3142"/>
                          </a:solidFill>
                          <a:latin typeface="210 OmniGothic 040"/>
                          <a:ea typeface="210 OmniGothic 040"/>
                          <a:cs typeface="210 OmniGothic 040"/>
                        </a:rPr>
                        <a:t>인구·시설·도로·기관 등의 표시를 켜거나 끈다</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300" b="0">
                          <a:solidFill>
                            <a:srgbClr val="2E3142"/>
                          </a:solidFill>
                          <a:latin typeface="210 OmniGothic 040"/>
                          <a:ea typeface="210 OmniGothic 040"/>
                          <a:cs typeface="210 OmniGothic 040"/>
                        </a:rPr>
                        <a:t>통합지휘권자·열람자</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sz="1300" b="0">
                          <a:solidFill>
                            <a:srgbClr val="2E3142"/>
                          </a:solidFill>
                          <a:latin typeface="210 OmniGothic 040"/>
                          <a:ea typeface="210 OmniGothic 040"/>
                          <a:cs typeface="210 OmniGothic 040"/>
                        </a:rPr>
                        <a:t>UC-SIT-03</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769244146"/>
                  </a:ext>
                </a:extLst>
              </a:tr>
              <a:tr h="557276">
                <a:tc>
                  <a:txBody>
                    <a:bodyPr/>
                    <a:lstStyle/>
                    <a:p>
                      <a:pPr algn="ctr"/>
                      <a:r>
                        <a:rPr sz="1300" b="0">
                          <a:solidFill>
                            <a:srgbClr val="2E3142"/>
                          </a:solidFill>
                          <a:latin typeface="210 OmniGothic 040"/>
                          <a:ea typeface="210 OmniGothic 040"/>
                          <a:cs typeface="210 OmniGothic 040"/>
                        </a:rPr>
                        <a:t>F-07</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sz="1300" b="0">
                          <a:solidFill>
                            <a:srgbClr val="2E3142"/>
                          </a:solidFill>
                          <a:latin typeface="210 OmniGothic 040"/>
                          <a:ea typeface="210 OmniGothic 040"/>
                          <a:cs typeface="210 OmniGothic 040"/>
                        </a:rPr>
                        <a:t>주요 시설 지도 표시</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300" b="1">
                          <a:solidFill>
                            <a:srgbClr val="2E3142"/>
                          </a:solidFill>
                          <a:latin typeface="210 OmniGothic 040"/>
                          <a:ea typeface="210 OmniGothic 040"/>
                          <a:cs typeface="210 OmniGothic 040"/>
                        </a:rPr>
                        <a:t>마을·담수지·유관기관 등 우선순위 요소의 위치를 지도에 표시한다 (발화점 거리는 표시하지 않음)</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300" b="0">
                          <a:solidFill>
                            <a:srgbClr val="2E3142"/>
                          </a:solidFill>
                          <a:latin typeface="210 OmniGothic 040"/>
                          <a:ea typeface="210 OmniGothic 040"/>
                          <a:cs typeface="210 OmniGothic 040"/>
                        </a:rPr>
                        <a:t>통합지휘권자·열람자</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sz="1300" b="0">
                          <a:solidFill>
                            <a:srgbClr val="2E3142"/>
                          </a:solidFill>
                          <a:latin typeface="210 OmniGothic 040"/>
                          <a:ea typeface="210 OmniGothic 040"/>
                          <a:cs typeface="210 OmniGothic 040"/>
                        </a:rPr>
                        <a:t>UC-SIT-03</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303629144"/>
                  </a:ext>
                </a:extLst>
              </a:tr>
              <a:tr h="342646">
                <a:tc>
                  <a:txBody>
                    <a:bodyPr/>
                    <a:lstStyle/>
                    <a:p>
                      <a:pPr algn="ctr"/>
                      <a:r>
                        <a:rPr sz="1300" b="0">
                          <a:solidFill>
                            <a:srgbClr val="2E3142"/>
                          </a:solidFill>
                          <a:latin typeface="210 OmniGothic 040"/>
                          <a:ea typeface="210 OmniGothic 040"/>
                          <a:cs typeface="210 OmniGothic 040"/>
                        </a:rPr>
                        <a:t>F-08</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sz="1300" b="0">
                          <a:solidFill>
                            <a:srgbClr val="2E3142"/>
                          </a:solidFill>
                          <a:latin typeface="210 OmniGothic 040"/>
                          <a:ea typeface="210 OmniGothic 040"/>
                          <a:cs typeface="210 OmniGothic 040"/>
                        </a:rPr>
                        <a:t>가용 현황 확인</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300" b="1">
                          <a:solidFill>
                            <a:srgbClr val="2E3142"/>
                          </a:solidFill>
                          <a:latin typeface="210 OmniGothic 040"/>
                          <a:ea typeface="210 OmniGothic 040"/>
                          <a:cs typeface="210 OmniGothic 040"/>
                        </a:rPr>
                        <a:t>헬기·인력·차량의 가용 현황을 확인한다. 기본은 「가용만 보기」 필터이며, 필터를 끄면 보유·투입·대기까지 모두 표시한다</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300" b="0">
                          <a:solidFill>
                            <a:srgbClr val="2E3142"/>
                          </a:solidFill>
                          <a:latin typeface="210 OmniGothic 040"/>
                          <a:ea typeface="210 OmniGothic 040"/>
                          <a:cs typeface="210 OmniGothic 040"/>
                        </a:rPr>
                        <a:t>통합지휘권자·열람자</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sz="1300" b="0">
                          <a:solidFill>
                            <a:srgbClr val="2E3142"/>
                          </a:solidFill>
                          <a:latin typeface="210 OmniGothic 040"/>
                          <a:ea typeface="210 OmniGothic 040"/>
                          <a:cs typeface="210 OmniGothic 040"/>
                        </a:rPr>
                        <a:t>UC-SIT-03</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3437206936"/>
                  </a:ext>
                </a:extLst>
              </a:tr>
              <a:tr h="342646">
                <a:tc gridSpan="5">
                  <a:txBody>
                    <a:bodyPr/>
                    <a:lstStyle/>
                    <a:p>
                      <a:pPr algn="l"/>
                      <a:r>
                        <a:rPr sz="1300" b="1">
                          <a:solidFill>
                            <a:srgbClr val="2E3142"/>
                          </a:solidFill>
                          <a:latin typeface="210 OmniGothic 040"/>
                          <a:ea typeface="210 OmniGothic 040"/>
                          <a:cs typeface="210 OmniGothic 040"/>
                        </a:rPr>
                        <a:t>확산 예측 (2개)</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EF5EE"/>
                    </a:solid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936714992"/>
                  </a:ext>
                </a:extLst>
              </a:tr>
              <a:tr h="557276">
                <a:tc>
                  <a:txBody>
                    <a:bodyPr/>
                    <a:lstStyle/>
                    <a:p>
                      <a:pPr algn="ctr"/>
                      <a:r>
                        <a:rPr sz="1300" b="0">
                          <a:solidFill>
                            <a:srgbClr val="2E3142"/>
                          </a:solidFill>
                          <a:latin typeface="210 OmniGothic 040"/>
                          <a:ea typeface="210 OmniGothic 040"/>
                          <a:cs typeface="210 OmniGothic 040"/>
                        </a:rPr>
                        <a:t>F-09</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sz="1300" b="0">
                          <a:solidFill>
                            <a:srgbClr val="2E3142"/>
                          </a:solidFill>
                          <a:latin typeface="210 OmniGothic 040"/>
                          <a:ea typeface="210 OmniGothic 040"/>
                          <a:cs typeface="210 OmniGothic 040"/>
                        </a:rPr>
                        <a:t>확산 예측 실행·갱신</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300" b="1">
                          <a:solidFill>
                            <a:srgbClr val="2E3142"/>
                          </a:solidFill>
                          <a:latin typeface="210 OmniGothic 040"/>
                          <a:ea typeface="210 OmniGothic 040"/>
                          <a:cs typeface="210 OmniGothic 040"/>
                        </a:rPr>
                        <a:t>통합지휘권자가 실행할 때 최신 실측 화선(없으면 발화점) 기준으로 확산 예측을 실행하고, 그 결과로 진화·대피 대응 제안을 생성한다</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300" b="0">
                          <a:solidFill>
                            <a:srgbClr val="2E3142"/>
                          </a:solidFill>
                          <a:latin typeface="210 OmniGothic 040"/>
                          <a:ea typeface="210 OmniGothic 040"/>
                          <a:cs typeface="210 OmniGothic 040"/>
                        </a:rPr>
                        <a:t>통합지휘권자</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sz="1300" b="0">
                          <a:solidFill>
                            <a:srgbClr val="2E3142"/>
                          </a:solidFill>
                          <a:latin typeface="210 OmniGothic 040"/>
                          <a:ea typeface="210 OmniGothic 040"/>
                          <a:cs typeface="210 OmniGothic 040"/>
                        </a:rPr>
                        <a:t>UC-PRED-01</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921660727"/>
                  </a:ext>
                </a:extLst>
              </a:tr>
              <a:tr h="557276">
                <a:tc>
                  <a:txBody>
                    <a:bodyPr/>
                    <a:lstStyle/>
                    <a:p>
                      <a:pPr algn="ctr"/>
                      <a:r>
                        <a:rPr sz="1300" b="0">
                          <a:solidFill>
                            <a:srgbClr val="2E3142"/>
                          </a:solidFill>
                          <a:latin typeface="210 OmniGothic 040"/>
                          <a:ea typeface="210 OmniGothic 040"/>
                          <a:cs typeface="210 OmniGothic 040"/>
                        </a:rPr>
                        <a:t>F-10</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sz="1300" b="0">
                          <a:solidFill>
                            <a:srgbClr val="2E3142"/>
                          </a:solidFill>
                          <a:latin typeface="210 OmniGothic 040"/>
                          <a:ea typeface="210 OmniGothic 040"/>
                          <a:cs typeface="210 OmniGothic 040"/>
                        </a:rPr>
                        <a:t>산불 위험도 조회</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300" b="1">
                          <a:solidFill>
                            <a:srgbClr val="FF0000"/>
                          </a:solidFill>
                          <a:latin typeface="210 OmniGothic 040"/>
                          <a:ea typeface="210 OmniGothic 040"/>
                          <a:cs typeface="210 OmniGothic 040"/>
                        </a:rPr>
                        <a:t>예측마다 P5(5시간 누적 예측 범위) 기준 위험도 R(1.00~5.00)과 요인 점수를 산불별로 확인한다. 종료된 산불은 「종료」로 표시한다</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300" b="0">
                          <a:solidFill>
                            <a:srgbClr val="2E3142"/>
                          </a:solidFill>
                          <a:latin typeface="210 OmniGothic 040"/>
                          <a:ea typeface="210 OmniGothic 040"/>
                          <a:cs typeface="210 OmniGothic 040"/>
                        </a:rPr>
                        <a:t>통합지휘권자</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sz="1300" b="0">
                          <a:solidFill>
                            <a:srgbClr val="2E3142"/>
                          </a:solidFill>
                          <a:latin typeface="210 OmniGothic 040"/>
                          <a:ea typeface="210 OmniGothic 040"/>
                          <a:cs typeface="210 OmniGothic 040"/>
                        </a:rPr>
                        <a:t>UC-PRED-02</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9327837"/>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78"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2700" y="-12700"/>
            <a:ext cx="18313400" cy="1638300"/>
          </a:xfrm>
          <a:prstGeom prst="rect">
            <a:avLst/>
          </a:prstGeom>
        </p:spPr>
      </p:pic>
      <p:pic>
        <p:nvPicPr>
          <p:cNvPr id="5079"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628" y="1618343"/>
            <a:ext cx="18313400" cy="8699500"/>
          </a:xfrm>
          <a:prstGeom prst="rect">
            <a:avLst/>
          </a:prstGeom>
        </p:spPr>
      </p:pic>
      <p:pic>
        <p:nvPicPr>
          <p:cNvPr id="5080"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58800" y="9271000"/>
            <a:ext cx="17170400" cy="50800"/>
          </a:xfrm>
          <a:prstGeom prst="rect">
            <a:avLst/>
          </a:prstGeom>
        </p:spPr>
      </p:pic>
      <p:pic>
        <p:nvPicPr>
          <p:cNvPr id="5081" name="Picture 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278100" y="203200"/>
            <a:ext cx="1676400" cy="1409700"/>
          </a:xfrm>
          <a:prstGeom prst="rect">
            <a:avLst/>
          </a:prstGeom>
        </p:spPr>
      </p:pic>
      <p:sp>
        <p:nvSpPr>
          <p:cNvPr id="5082" name="Title"/>
          <p:cNvSpPr txBox="1"/>
          <p:nvPr/>
        </p:nvSpPr>
        <p:spPr>
          <a:xfrm>
            <a:off x="822960" y="384048"/>
            <a:ext cx="13258800" cy="877824"/>
          </a:xfrm>
          <a:prstGeom prst="rect">
            <a:avLst/>
          </a:prstGeom>
          <a:noFill/>
        </p:spPr>
        <p:txBody>
          <a:bodyPr wrap="square" lIns="0" tIns="0" rIns="0" bIns="0" anchor="ctr">
            <a:spAutoFit/>
          </a:bodyPr>
          <a:lstStyle/>
          <a:p>
            <a:pPr algn="l"/>
            <a:r>
              <a:rPr sz="4400" b="0">
                <a:solidFill>
                  <a:srgbClr val="FAA95A"/>
                </a:solidFill>
                <a:latin typeface="210 OmniGothic 050"/>
                <a:ea typeface="210 OmniGothic 050"/>
                <a:cs typeface="210 OmniGothic 050"/>
              </a:rPr>
              <a:t>02. 시스템 기술서</a:t>
            </a:r>
          </a:p>
        </p:txBody>
      </p:sp>
      <p:sp>
        <p:nvSpPr>
          <p:cNvPr id="5083" name="Subtitle"/>
          <p:cNvSpPr txBox="1"/>
          <p:nvPr/>
        </p:nvSpPr>
        <p:spPr>
          <a:xfrm>
            <a:off x="822960" y="1764792"/>
            <a:ext cx="16642080" cy="502920"/>
          </a:xfrm>
          <a:prstGeom prst="rect">
            <a:avLst/>
          </a:prstGeom>
          <a:noFill/>
        </p:spPr>
        <p:txBody>
          <a:bodyPr wrap="square" lIns="0" tIns="0" rIns="0" bIns="0" anchor="ctr">
            <a:spAutoFit/>
          </a:bodyPr>
          <a:lstStyle/>
          <a:p>
            <a:pPr algn="ctr"/>
            <a:r>
              <a:rPr sz="2600" b="1">
                <a:solidFill>
                  <a:srgbClr val="363A52"/>
                </a:solidFill>
                <a:latin typeface="210 OmniGothic 040"/>
                <a:ea typeface="210 OmniGothic 040"/>
                <a:cs typeface="210 OmniGothic 040"/>
              </a:rPr>
              <a:t>기능 목록 (2/3) — 대응 제안 (공통 · 진화)</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sz="quarter" idx="12"/>
          </p:nvPr>
        </p:nvSpPr>
        <p:spPr/>
        <p:txBody>
          <a:bodyPr/>
          <a:lstStyle/>
          <a:p>
            <a:fld id="{B6F15528-21DE-4FAA-801E-634DDDAF4B2B}" type="slidenum">
              <a:rPr lang="en-US" smtClean="0"/>
              <a:pPr/>
              <a:t>13</a:t>
            </a:fld>
            <a:endParaRPr lang="en-US"/>
          </a:p>
        </p:txBody>
      </p:sp>
      <p:graphicFrame>
        <p:nvGraphicFramePr>
          <p:cNvPr id="5084" name="Table 5083"/>
          <p:cNvGraphicFramePr>
            <a:graphicFrameLocks noGrp="1"/>
          </p:cNvGraphicFramePr>
          <p:nvPr/>
        </p:nvGraphicFramePr>
        <p:xfrm>
          <a:off x="822960" y="2446020"/>
          <a:ext cx="16459199" cy="5952744"/>
        </p:xfrm>
        <a:graphic>
          <a:graphicData uri="http://schemas.openxmlformats.org/drawingml/2006/table">
            <a:tbl>
              <a:tblPr>
                <a:tableStyleId>{2D5ABB26-0587-4C30-8999-92F81FD0307C}</a:tableStyleId>
              </a:tblPr>
              <a:tblGrid>
                <a:gridCol w="777240">
                  <a:extLst>
                    <a:ext uri="{9D8B030D-6E8A-4147-A177-3AD203B41FA5}">
                      <a16:colId xmlns:a16="http://schemas.microsoft.com/office/drawing/2014/main" val="20000"/>
                    </a:ext>
                  </a:extLst>
                </a:gridCol>
                <a:gridCol w="3154680">
                  <a:extLst>
                    <a:ext uri="{9D8B030D-6E8A-4147-A177-3AD203B41FA5}">
                      <a16:colId xmlns:a16="http://schemas.microsoft.com/office/drawing/2014/main" val="20001"/>
                    </a:ext>
                  </a:extLst>
                </a:gridCol>
                <a:gridCol w="7498079">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gridCol w="2743200">
                  <a:extLst>
                    <a:ext uri="{9D8B030D-6E8A-4147-A177-3AD203B41FA5}">
                      <a16:colId xmlns:a16="http://schemas.microsoft.com/office/drawing/2014/main" val="20004"/>
                    </a:ext>
                  </a:extLst>
                </a:gridCol>
              </a:tblGrid>
              <a:tr h="359156">
                <a:tc>
                  <a:txBody>
                    <a:bodyPr/>
                    <a:lstStyle/>
                    <a:p>
                      <a:pPr algn="ctr"/>
                      <a:r>
                        <a:rPr sz="1400" b="1">
                          <a:solidFill>
                            <a:srgbClr val="FFFFFF"/>
                          </a:solidFill>
                          <a:latin typeface="210 OmniGothic 040"/>
                          <a:ea typeface="210 OmniGothic 040"/>
                          <a:cs typeface="210 OmniGothic 040"/>
                        </a:rPr>
                        <a:t>번호</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tc>
                  <a:txBody>
                    <a:bodyPr/>
                    <a:lstStyle/>
                    <a:p>
                      <a:pPr algn="ctr"/>
                      <a:r>
                        <a:rPr sz="1400" b="1">
                          <a:solidFill>
                            <a:srgbClr val="FFFFFF"/>
                          </a:solidFill>
                          <a:latin typeface="210 OmniGothic 040"/>
                          <a:ea typeface="210 OmniGothic 040"/>
                          <a:cs typeface="210 OmniGothic 040"/>
                        </a:rPr>
                        <a:t>기능</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tc>
                  <a:txBody>
                    <a:bodyPr/>
                    <a:lstStyle/>
                    <a:p>
                      <a:pPr algn="ctr"/>
                      <a:r>
                        <a:rPr sz="1400" b="1">
                          <a:solidFill>
                            <a:srgbClr val="FFFFFF"/>
                          </a:solidFill>
                          <a:latin typeface="210 OmniGothic 040"/>
                          <a:ea typeface="210 OmniGothic 040"/>
                          <a:cs typeface="210 OmniGothic 040"/>
                        </a:rPr>
                        <a:t>설명</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tc>
                  <a:txBody>
                    <a:bodyPr/>
                    <a:lstStyle/>
                    <a:p>
                      <a:pPr algn="ctr"/>
                      <a:r>
                        <a:rPr sz="1400" b="1">
                          <a:solidFill>
                            <a:srgbClr val="FFFFFF"/>
                          </a:solidFill>
                          <a:latin typeface="210 OmniGothic 040"/>
                          <a:ea typeface="210 OmniGothic 040"/>
                          <a:cs typeface="210 OmniGothic 040"/>
                        </a:rPr>
                        <a:t>사용자</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tc>
                  <a:txBody>
                    <a:bodyPr/>
                    <a:lstStyle/>
                    <a:p>
                      <a:pPr algn="ctr"/>
                      <a:r>
                        <a:rPr sz="1400" b="1">
                          <a:solidFill>
                            <a:srgbClr val="FFFFFF"/>
                          </a:solidFill>
                          <a:latin typeface="210 OmniGothic 040"/>
                          <a:ea typeface="210 OmniGothic 040"/>
                          <a:cs typeface="210 OmniGothic 040"/>
                        </a:rPr>
                        <a:t>관련 UC</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extLst>
                  <a:ext uri="{0D108BD9-81ED-4DB2-BD59-A6C34878D82A}">
                    <a16:rowId xmlns:a16="http://schemas.microsoft.com/office/drawing/2014/main" val="10000"/>
                  </a:ext>
                </a:extLst>
              </a:tr>
              <a:tr h="359156">
                <a:tc gridSpan="5">
                  <a:txBody>
                    <a:bodyPr/>
                    <a:lstStyle/>
                    <a:p>
                      <a:pPr algn="l"/>
                      <a:r>
                        <a:rPr sz="1400" b="1">
                          <a:solidFill>
                            <a:srgbClr val="2E3142"/>
                          </a:solidFill>
                          <a:latin typeface="210 OmniGothic 040"/>
                          <a:ea typeface="210 OmniGothic 040"/>
                          <a:cs typeface="210 OmniGothic 040"/>
                        </a:rPr>
                        <a:t>대응 제안 — 공통 (4개)</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EF5EE"/>
                    </a:solid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10001"/>
                  </a:ext>
                </a:extLst>
              </a:tr>
              <a:tr h="590296">
                <a:tc>
                  <a:txBody>
                    <a:bodyPr/>
                    <a:lstStyle/>
                    <a:p>
                      <a:pPr algn="ctr"/>
                      <a:r>
                        <a:rPr sz="1400" b="0">
                          <a:solidFill>
                            <a:srgbClr val="2E3142"/>
                          </a:solidFill>
                          <a:latin typeface="210 OmniGothic 040"/>
                          <a:ea typeface="210 OmniGothic 040"/>
                          <a:cs typeface="210 OmniGothic 040"/>
                        </a:rPr>
                        <a:t>F-11</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sz="1400" b="0">
                          <a:solidFill>
                            <a:srgbClr val="2E3142"/>
                          </a:solidFill>
                          <a:latin typeface="210 OmniGothic 040"/>
                          <a:ea typeface="210 OmniGothic 040"/>
                          <a:cs typeface="210 OmniGothic 040"/>
                        </a:rPr>
                        <a:t>대응 제안 생성·갱신·상세 조회</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400" b="1">
                          <a:solidFill>
                            <a:srgbClr val="2E3142"/>
                          </a:solidFill>
                          <a:latin typeface="210 OmniGothic 040"/>
                          <a:ea typeface="210 OmniGothic 040"/>
                          <a:cs typeface="210 OmniGothic 040"/>
                        </a:rPr>
                        <a:t>현재 상황에 맞는 제안을 생성하고, 판정 이유·대상·권한을 확인한다. 매뉴얼 근거가 없는 제안은 넣지 않는다</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400" b="0">
                          <a:solidFill>
                            <a:srgbClr val="2E3142"/>
                          </a:solidFill>
                          <a:latin typeface="210 OmniGothic 040"/>
                          <a:ea typeface="210 OmniGothic 040"/>
                          <a:cs typeface="210 OmniGothic 040"/>
                        </a:rPr>
                        <a:t>통합지휘권자</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sz="1400" b="0">
                          <a:solidFill>
                            <a:srgbClr val="2E3142"/>
                          </a:solidFill>
                          <a:latin typeface="210 OmniGothic 040"/>
                          <a:ea typeface="210 OmniGothic 040"/>
                          <a:cs typeface="210 OmniGothic 040"/>
                        </a:rPr>
                        <a:t>UC-PRED-01, UC-PROP-01, UC-PROP-02</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2100683512"/>
                  </a:ext>
                </a:extLst>
              </a:tr>
              <a:tr h="359156">
                <a:tc>
                  <a:txBody>
                    <a:bodyPr/>
                    <a:lstStyle/>
                    <a:p>
                      <a:pPr algn="ctr"/>
                      <a:r>
                        <a:rPr sz="1400" b="0">
                          <a:solidFill>
                            <a:srgbClr val="2E3142"/>
                          </a:solidFill>
                          <a:latin typeface="210 OmniGothic 040"/>
                          <a:ea typeface="210 OmniGothic 040"/>
                          <a:cs typeface="210 OmniGothic 040"/>
                        </a:rPr>
                        <a:t>F-12</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sz="1400" b="0">
                          <a:solidFill>
                            <a:srgbClr val="2E3142"/>
                          </a:solidFill>
                          <a:latin typeface="210 OmniGothic 040"/>
                          <a:ea typeface="210 OmniGothic 040"/>
                          <a:cs typeface="210 OmniGothic 040"/>
                        </a:rPr>
                        <a:t>제안 분류</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400" b="1">
                          <a:solidFill>
                            <a:srgbClr val="2E3142"/>
                          </a:solidFill>
                          <a:latin typeface="210 OmniGothic 040"/>
                          <a:ea typeface="210 OmniGothic 040"/>
                          <a:cs typeface="210 OmniGothic 040"/>
                        </a:rPr>
                        <a:t>진화·대피, 그리고 즉시·대기·협의·요청별로 제안을 정리해 보여준다</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400" b="0">
                          <a:solidFill>
                            <a:srgbClr val="2E3142"/>
                          </a:solidFill>
                          <a:latin typeface="210 OmniGothic 040"/>
                          <a:ea typeface="210 OmniGothic 040"/>
                          <a:cs typeface="210 OmniGothic 040"/>
                        </a:rPr>
                        <a:t>통합지휘권자</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sz="1400" b="0">
                          <a:solidFill>
                            <a:srgbClr val="2E3142"/>
                          </a:solidFill>
                          <a:latin typeface="210 OmniGothic 040"/>
                          <a:ea typeface="210 OmniGothic 040"/>
                          <a:cs typeface="210 OmniGothic 040"/>
                        </a:rPr>
                        <a:t>UC-PROP-01, UC-PROP-02</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4135410473"/>
                  </a:ext>
                </a:extLst>
              </a:tr>
              <a:tr h="359156">
                <a:tc>
                  <a:txBody>
                    <a:bodyPr/>
                    <a:lstStyle/>
                    <a:p>
                      <a:pPr algn="ctr"/>
                      <a:r>
                        <a:rPr sz="1400" b="0">
                          <a:solidFill>
                            <a:srgbClr val="2E3142"/>
                          </a:solidFill>
                          <a:latin typeface="210 OmniGothic 040"/>
                          <a:ea typeface="210 OmniGothic 040"/>
                          <a:cs typeface="210 OmniGothic 040"/>
                        </a:rPr>
                        <a:t>F-13</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sz="1400" b="0">
                          <a:solidFill>
                            <a:srgbClr val="2E3142"/>
                          </a:solidFill>
                          <a:latin typeface="210 OmniGothic 040"/>
                          <a:ea typeface="210 OmniGothic 040"/>
                          <a:cs typeface="210 OmniGothic 040"/>
                        </a:rPr>
                        <a:t>대응 근거 조회</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400" b="1">
                          <a:solidFill>
                            <a:srgbClr val="2E3142"/>
                          </a:solidFill>
                          <a:latin typeface="210 OmniGothic 040"/>
                          <a:ea typeface="210 OmniGothic 040"/>
                          <a:cs typeface="210 OmniGothic 040"/>
                        </a:rPr>
                        <a:t>제안·답변에 연결된 매뉴얼의 문서·쪽수·조항·요약을 확인한다</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400" b="0">
                          <a:solidFill>
                            <a:srgbClr val="2E3142"/>
                          </a:solidFill>
                          <a:latin typeface="210 OmniGothic 040"/>
                          <a:ea typeface="210 OmniGothic 040"/>
                          <a:cs typeface="210 OmniGothic 040"/>
                        </a:rPr>
                        <a:t>통합지휘권자</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sz="1400" b="0">
                          <a:solidFill>
                            <a:srgbClr val="2E3142"/>
                          </a:solidFill>
                          <a:latin typeface="210 OmniGothic 040"/>
                          <a:ea typeface="210 OmniGothic 040"/>
                          <a:cs typeface="210 OmniGothic 040"/>
                        </a:rPr>
                        <a:t>UC-PROP-03</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496938159"/>
                  </a:ext>
                </a:extLst>
              </a:tr>
              <a:tr h="590296">
                <a:tc>
                  <a:txBody>
                    <a:bodyPr/>
                    <a:lstStyle/>
                    <a:p>
                      <a:pPr algn="ctr"/>
                      <a:r>
                        <a:rPr sz="1400" b="0">
                          <a:solidFill>
                            <a:srgbClr val="2E3142"/>
                          </a:solidFill>
                          <a:latin typeface="210 OmniGothic 040"/>
                          <a:ea typeface="210 OmniGothic 040"/>
                          <a:cs typeface="210 OmniGothic 040"/>
                        </a:rPr>
                        <a:t>F-14</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sz="1400" b="0">
                          <a:solidFill>
                            <a:srgbClr val="2E3142"/>
                          </a:solidFill>
                          <a:latin typeface="210 OmniGothic 040"/>
                          <a:ea typeface="210 OmniGothic 040"/>
                          <a:cs typeface="210 OmniGothic 040"/>
                        </a:rPr>
                        <a:t>제안 이력·변경사항 조회</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400" b="1">
                          <a:solidFill>
                            <a:srgbClr val="2E3142"/>
                          </a:solidFill>
                          <a:latin typeface="210 OmniGothic 040"/>
                          <a:ea typeface="210 OmniGothic 040"/>
                          <a:cs typeface="210 OmniGothic 040"/>
                        </a:rPr>
                        <a:t>제안 생성 이력과 이전 제안에서 달라진 내용을 '변경' 태그와 팝업으로 확인한다</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400" b="0">
                          <a:solidFill>
                            <a:srgbClr val="2E3142"/>
                          </a:solidFill>
                          <a:latin typeface="210 OmniGothic 040"/>
                          <a:ea typeface="210 OmniGothic 040"/>
                          <a:cs typeface="210 OmniGothic 040"/>
                        </a:rPr>
                        <a:t>통합지휘권자</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sz="1400" b="0">
                          <a:solidFill>
                            <a:srgbClr val="2E3142"/>
                          </a:solidFill>
                          <a:latin typeface="210 OmniGothic 040"/>
                          <a:ea typeface="210 OmniGothic 040"/>
                          <a:cs typeface="210 OmniGothic 040"/>
                        </a:rPr>
                        <a:t>UC-PROP-04</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131718445"/>
                  </a:ext>
                </a:extLst>
              </a:tr>
              <a:tr h="359156">
                <a:tc gridSpan="5">
                  <a:txBody>
                    <a:bodyPr/>
                    <a:lstStyle/>
                    <a:p>
                      <a:pPr algn="l"/>
                      <a:r>
                        <a:rPr sz="1400" b="1">
                          <a:solidFill>
                            <a:srgbClr val="2E3142"/>
                          </a:solidFill>
                          <a:latin typeface="210 OmniGothic 040"/>
                          <a:ea typeface="210 OmniGothic 040"/>
                          <a:cs typeface="210 OmniGothic 040"/>
                        </a:rPr>
                        <a:t>대응 제안 — 진화 S1~S7 (7개)</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EF5EE"/>
                    </a:solid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2154842264"/>
                  </a:ext>
                </a:extLst>
              </a:tr>
              <a:tr h="359156">
                <a:tc>
                  <a:txBody>
                    <a:bodyPr/>
                    <a:lstStyle/>
                    <a:p>
                      <a:pPr algn="ctr"/>
                      <a:r>
                        <a:rPr sz="1400" b="0">
                          <a:solidFill>
                            <a:srgbClr val="2E3142"/>
                          </a:solidFill>
                          <a:latin typeface="210 OmniGothic 040"/>
                          <a:ea typeface="210 OmniGothic 040"/>
                          <a:cs typeface="210 OmniGothic 040"/>
                        </a:rPr>
                        <a:t>F-15</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sz="1400" b="0">
                          <a:solidFill>
                            <a:srgbClr val="2E3142"/>
                          </a:solidFill>
                          <a:latin typeface="210 OmniGothic 040"/>
                          <a:ea typeface="210 OmniGothic 040"/>
                          <a:cs typeface="210 OmniGothic 040"/>
                        </a:rPr>
                        <a:t>대응단계 판단·격상 검토 (S1)</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400" b="1">
                          <a:solidFill>
                            <a:srgbClr val="2E3142"/>
                          </a:solidFill>
                          <a:latin typeface="210 OmniGothic 040"/>
                          <a:ea typeface="210 OmniGothic 040"/>
                          <a:cs typeface="210 OmniGothic 040"/>
                        </a:rPr>
                        <a:t>현재 위험에 맞는 대응단계와 격상 필요성을 제안한다</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400" b="0">
                          <a:solidFill>
                            <a:srgbClr val="2E3142"/>
                          </a:solidFill>
                          <a:latin typeface="210 OmniGothic 040"/>
                          <a:ea typeface="210 OmniGothic 040"/>
                          <a:cs typeface="210 OmniGothic 040"/>
                        </a:rPr>
                        <a:t>통합지휘권자</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sz="1400" b="0">
                          <a:solidFill>
                            <a:srgbClr val="2E3142"/>
                          </a:solidFill>
                          <a:latin typeface="210 OmniGothic 040"/>
                          <a:ea typeface="210 OmniGothic 040"/>
                          <a:cs typeface="210 OmniGothic 040"/>
                        </a:rPr>
                        <a:t>UC-PRED-01, UC-PROP-01</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401045375"/>
                  </a:ext>
                </a:extLst>
              </a:tr>
              <a:tr h="590296">
                <a:tc>
                  <a:txBody>
                    <a:bodyPr/>
                    <a:lstStyle/>
                    <a:p>
                      <a:pPr algn="ctr"/>
                      <a:r>
                        <a:rPr sz="1400" b="0">
                          <a:solidFill>
                            <a:srgbClr val="2E3142"/>
                          </a:solidFill>
                          <a:latin typeface="210 OmniGothic 040"/>
                          <a:ea typeface="210 OmniGothic 040"/>
                          <a:cs typeface="210 OmniGothic 040"/>
                        </a:rPr>
                        <a:t>F-16</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sz="1400" b="0">
                          <a:solidFill>
                            <a:srgbClr val="2E3142"/>
                          </a:solidFill>
                          <a:latin typeface="210 OmniGothic 040"/>
                          <a:ea typeface="210 OmniGothic 040"/>
                          <a:cs typeface="210 OmniGothic 040"/>
                        </a:rPr>
                        <a:t>진화 우선지역·보호대상 선정 (S2)</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400" b="1">
                          <a:solidFill>
                            <a:srgbClr val="2E3142"/>
                          </a:solidFill>
                          <a:latin typeface="210 OmniGothic 040"/>
                          <a:ea typeface="210 OmniGothic 040"/>
                          <a:cs typeface="210 OmniGothic 040"/>
                        </a:rPr>
                        <a:t>인명·주요시설·재산 등의 보호 우선순위를 제안한다</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400" b="0">
                          <a:solidFill>
                            <a:srgbClr val="2E3142"/>
                          </a:solidFill>
                          <a:latin typeface="210 OmniGothic 040"/>
                          <a:ea typeface="210 OmniGothic 040"/>
                          <a:cs typeface="210 OmniGothic 040"/>
                        </a:rPr>
                        <a:t>통합지휘권자</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sz="1400" b="0">
                          <a:solidFill>
                            <a:srgbClr val="2E3142"/>
                          </a:solidFill>
                          <a:latin typeface="210 OmniGothic 040"/>
                          <a:ea typeface="210 OmniGothic 040"/>
                          <a:cs typeface="210 OmniGothic 040"/>
                        </a:rPr>
                        <a:t>UC-PRED-01, UC-PROP-01</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2735862861"/>
                  </a:ext>
                </a:extLst>
              </a:tr>
              <a:tr h="590296">
                <a:tc>
                  <a:txBody>
                    <a:bodyPr/>
                    <a:lstStyle/>
                    <a:p>
                      <a:pPr algn="ctr"/>
                      <a:r>
                        <a:rPr sz="1400" b="0">
                          <a:solidFill>
                            <a:srgbClr val="2E3142"/>
                          </a:solidFill>
                          <a:latin typeface="210 OmniGothic 040"/>
                          <a:ea typeface="210 OmniGothic 040"/>
                          <a:cs typeface="210 OmniGothic 040"/>
                        </a:rPr>
                        <a:t>F-17</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sz="1400" b="0">
                          <a:solidFill>
                            <a:srgbClr val="2E3142"/>
                          </a:solidFill>
                          <a:latin typeface="210 OmniGothic 040"/>
                          <a:ea typeface="210 OmniGothic 040"/>
                          <a:cs typeface="210 OmniGothic 040"/>
                        </a:rPr>
                        <a:t>진화자원 투입·배분·재배치 (S3)</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400" b="1">
                          <a:solidFill>
                            <a:srgbClr val="2E3142"/>
                          </a:solidFill>
                          <a:latin typeface="210 OmniGothic 040"/>
                          <a:ea typeface="210 OmniGothic 040"/>
                          <a:cs typeface="210 OmniGothic 040"/>
                        </a:rPr>
                        <a:t>헬기·인력·차량을 우선 투입할 구역과 재배치 방향을 제안한다</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400" b="0">
                          <a:solidFill>
                            <a:srgbClr val="2E3142"/>
                          </a:solidFill>
                          <a:latin typeface="210 OmniGothic 040"/>
                          <a:ea typeface="210 OmniGothic 040"/>
                          <a:cs typeface="210 OmniGothic 040"/>
                        </a:rPr>
                        <a:t>통합지휘권자</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sz="1400" b="0">
                          <a:solidFill>
                            <a:srgbClr val="2E3142"/>
                          </a:solidFill>
                          <a:latin typeface="210 OmniGothic 040"/>
                          <a:ea typeface="210 OmniGothic 040"/>
                          <a:cs typeface="210 OmniGothic 040"/>
                        </a:rPr>
                        <a:t>UC-PRED-01, UC-PROP-01</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705364989"/>
                  </a:ext>
                </a:extLst>
              </a:tr>
              <a:tr h="359156">
                <a:tc>
                  <a:txBody>
                    <a:bodyPr/>
                    <a:lstStyle/>
                    <a:p>
                      <a:pPr algn="ctr"/>
                      <a:r>
                        <a:rPr sz="1400" b="0">
                          <a:solidFill>
                            <a:srgbClr val="2E3142"/>
                          </a:solidFill>
                          <a:latin typeface="210 OmniGothic 040"/>
                          <a:ea typeface="210 OmniGothic 040"/>
                          <a:cs typeface="210 OmniGothic 040"/>
                        </a:rPr>
                        <a:t>F-18</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sz="1400" b="0">
                          <a:solidFill>
                            <a:srgbClr val="2E3142"/>
                          </a:solidFill>
                          <a:latin typeface="210 OmniGothic 040"/>
                          <a:ea typeface="210 OmniGothic 040"/>
                          <a:cs typeface="210 OmniGothic 040"/>
                        </a:rPr>
                        <a:t>진화 방식·시간대 전략 (S4)</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400" b="1">
                          <a:solidFill>
                            <a:srgbClr val="2E3142"/>
                          </a:solidFill>
                          <a:latin typeface="210 OmniGothic 040"/>
                          <a:ea typeface="210 OmniGothic 040"/>
                          <a:cs typeface="210 OmniGothic 040"/>
                        </a:rPr>
                        <a:t>기상과 주야간에 맞는 지상·항공 진화 전략을 제안한다</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400" b="0">
                          <a:solidFill>
                            <a:srgbClr val="2E3142"/>
                          </a:solidFill>
                          <a:latin typeface="210 OmniGothic 040"/>
                          <a:ea typeface="210 OmniGothic 040"/>
                          <a:cs typeface="210 OmniGothic 040"/>
                        </a:rPr>
                        <a:t>통합지휘권자</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sz="1400" b="0">
                          <a:solidFill>
                            <a:srgbClr val="2E3142"/>
                          </a:solidFill>
                          <a:latin typeface="210 OmniGothic 040"/>
                          <a:ea typeface="210 OmniGothic 040"/>
                          <a:cs typeface="210 OmniGothic 040"/>
                        </a:rPr>
                        <a:t>UC-PRED-01, UC-PROP-01</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3058491442"/>
                  </a:ext>
                </a:extLst>
              </a:tr>
              <a:tr h="359156">
                <a:tc>
                  <a:txBody>
                    <a:bodyPr/>
                    <a:lstStyle/>
                    <a:p>
                      <a:pPr algn="ctr"/>
                      <a:r>
                        <a:rPr sz="1400" b="0">
                          <a:solidFill>
                            <a:srgbClr val="2E3142"/>
                          </a:solidFill>
                          <a:latin typeface="210 OmniGothic 040"/>
                          <a:ea typeface="210 OmniGothic 040"/>
                          <a:cs typeface="210 OmniGothic 040"/>
                        </a:rPr>
                        <a:t>F-19</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sz="1400" b="0">
                          <a:solidFill>
                            <a:srgbClr val="2E3142"/>
                          </a:solidFill>
                          <a:latin typeface="210 OmniGothic 040"/>
                          <a:ea typeface="210 OmniGothic 040"/>
                          <a:cs typeface="210 OmniGothic 040"/>
                        </a:rPr>
                        <a:t>시설 보호 조치 (S5)</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400" b="1">
                          <a:solidFill>
                            <a:srgbClr val="2E3142"/>
                          </a:solidFill>
                          <a:latin typeface="210 OmniGothic 040"/>
                          <a:ea typeface="210 OmniGothic 040"/>
                          <a:cs typeface="210 OmniGothic 040"/>
                        </a:rPr>
                        <a:t>주택·국가유산·전력시설 등에 필요한 보호 조치를 제안한다</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400" b="0">
                          <a:solidFill>
                            <a:srgbClr val="2E3142"/>
                          </a:solidFill>
                          <a:latin typeface="210 OmniGothic 040"/>
                          <a:ea typeface="210 OmniGothic 040"/>
                          <a:cs typeface="210 OmniGothic 040"/>
                        </a:rPr>
                        <a:t>통합지휘권자</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sz="1400" b="0">
                          <a:solidFill>
                            <a:srgbClr val="2E3142"/>
                          </a:solidFill>
                          <a:latin typeface="210 OmniGothic 040"/>
                          <a:ea typeface="210 OmniGothic 040"/>
                          <a:cs typeface="210 OmniGothic 040"/>
                        </a:rPr>
                        <a:t>UC-PRED-01, UC-PROP-01</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2066336012"/>
                  </a:ext>
                </a:extLst>
              </a:tr>
              <a:tr h="359156">
                <a:tc>
                  <a:txBody>
                    <a:bodyPr/>
                    <a:lstStyle/>
                    <a:p>
                      <a:pPr algn="ctr"/>
                      <a:r>
                        <a:rPr sz="1400" b="0">
                          <a:solidFill>
                            <a:srgbClr val="2E3142"/>
                          </a:solidFill>
                          <a:latin typeface="210 OmniGothic 040"/>
                          <a:ea typeface="210 OmniGothic 040"/>
                          <a:cs typeface="210 OmniGothic 040"/>
                        </a:rPr>
                        <a:t>F-20</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sz="1400" b="0">
                          <a:solidFill>
                            <a:srgbClr val="2E3142"/>
                          </a:solidFill>
                          <a:latin typeface="210 OmniGothic 040"/>
                          <a:ea typeface="210 OmniGothic 040"/>
                          <a:cs typeface="210 OmniGothic 040"/>
                        </a:rPr>
                        <a:t>유관기관 동원·협조 요청 (S6)</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400" b="1">
                          <a:solidFill>
                            <a:srgbClr val="2E3142"/>
                          </a:solidFill>
                          <a:latin typeface="210 OmniGothic 040"/>
                          <a:ea typeface="210 OmniGothic 040"/>
                          <a:cs typeface="210 OmniGothic 040"/>
                        </a:rPr>
                        <a:t>지원이 필요한 기관·자원과 지휘권 인계 필요성을 안내한다</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400" b="0">
                          <a:solidFill>
                            <a:srgbClr val="2E3142"/>
                          </a:solidFill>
                          <a:latin typeface="210 OmniGothic 040"/>
                          <a:ea typeface="210 OmniGothic 040"/>
                          <a:cs typeface="210 OmniGothic 040"/>
                        </a:rPr>
                        <a:t>통합지휘권자</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sz="1400" b="0">
                          <a:solidFill>
                            <a:srgbClr val="2E3142"/>
                          </a:solidFill>
                          <a:latin typeface="210 OmniGothic 040"/>
                          <a:ea typeface="210 OmniGothic 040"/>
                          <a:cs typeface="210 OmniGothic 040"/>
                        </a:rPr>
                        <a:t>UC-PRED-01, UC-PROP-01</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462119164"/>
                  </a:ext>
                </a:extLst>
              </a:tr>
              <a:tr h="359156">
                <a:tc>
                  <a:txBody>
                    <a:bodyPr/>
                    <a:lstStyle/>
                    <a:p>
                      <a:pPr algn="ctr"/>
                      <a:r>
                        <a:rPr sz="1400" b="0">
                          <a:solidFill>
                            <a:srgbClr val="2E3142"/>
                          </a:solidFill>
                          <a:latin typeface="210 OmniGothic 040"/>
                          <a:ea typeface="210 OmniGothic 040"/>
                          <a:cs typeface="210 OmniGothic 040"/>
                        </a:rPr>
                        <a:t>F-21</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sz="1400" b="0">
                          <a:solidFill>
                            <a:srgbClr val="2E3142"/>
                          </a:solidFill>
                          <a:latin typeface="210 OmniGothic 040"/>
                          <a:ea typeface="210 OmniGothic 040"/>
                          <a:cs typeface="210 OmniGothic 040"/>
                        </a:rPr>
                        <a:t>진화인력 안전·투입 관리 (S7)</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400" b="1">
                          <a:solidFill>
                            <a:srgbClr val="2E3142"/>
                          </a:solidFill>
                          <a:latin typeface="210 OmniGothic 040"/>
                          <a:ea typeface="210 OmniGothic 040"/>
                          <a:cs typeface="210 OmniGothic 040"/>
                        </a:rPr>
                        <a:t>인력 위치·퇴로·위험 조건에 따른 안전 확인과 철수를 제안한다</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400" b="0">
                          <a:solidFill>
                            <a:srgbClr val="2E3142"/>
                          </a:solidFill>
                          <a:latin typeface="210 OmniGothic 040"/>
                          <a:ea typeface="210 OmniGothic 040"/>
                          <a:cs typeface="210 OmniGothic 040"/>
                        </a:rPr>
                        <a:t>통합지휘권자</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sz="1400" b="0">
                          <a:solidFill>
                            <a:srgbClr val="2E3142"/>
                          </a:solidFill>
                          <a:latin typeface="210 OmniGothic 040"/>
                          <a:ea typeface="210 OmniGothic 040"/>
                          <a:cs typeface="210 OmniGothic 040"/>
                        </a:rPr>
                        <a:t>UC-PRED-01, UC-PROP-01</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4047550180"/>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73"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2700" y="-12700"/>
            <a:ext cx="18313400" cy="1638300"/>
          </a:xfrm>
          <a:prstGeom prst="rect">
            <a:avLst/>
          </a:prstGeom>
        </p:spPr>
      </p:pic>
      <p:pic>
        <p:nvPicPr>
          <p:cNvPr id="5074"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628" y="1618343"/>
            <a:ext cx="18313400" cy="8699500"/>
          </a:xfrm>
          <a:prstGeom prst="rect">
            <a:avLst/>
          </a:prstGeom>
        </p:spPr>
      </p:pic>
      <p:pic>
        <p:nvPicPr>
          <p:cNvPr id="5075"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58800" y="9271000"/>
            <a:ext cx="17170400" cy="50800"/>
          </a:xfrm>
          <a:prstGeom prst="rect">
            <a:avLst/>
          </a:prstGeom>
        </p:spPr>
      </p:pic>
      <p:pic>
        <p:nvPicPr>
          <p:cNvPr id="5076" name="Picture 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278100" y="203200"/>
            <a:ext cx="1676400" cy="1409700"/>
          </a:xfrm>
          <a:prstGeom prst="rect">
            <a:avLst/>
          </a:prstGeom>
        </p:spPr>
      </p:pic>
      <p:sp>
        <p:nvSpPr>
          <p:cNvPr id="5077" name="Title"/>
          <p:cNvSpPr txBox="1"/>
          <p:nvPr/>
        </p:nvSpPr>
        <p:spPr>
          <a:xfrm>
            <a:off x="822960" y="384048"/>
            <a:ext cx="13258800" cy="877824"/>
          </a:xfrm>
          <a:prstGeom prst="rect">
            <a:avLst/>
          </a:prstGeom>
          <a:noFill/>
        </p:spPr>
        <p:txBody>
          <a:bodyPr wrap="square" lIns="0" tIns="0" rIns="0" bIns="0" anchor="ctr">
            <a:spAutoFit/>
          </a:bodyPr>
          <a:lstStyle/>
          <a:p>
            <a:pPr algn="l"/>
            <a:r>
              <a:rPr sz="4400" b="0">
                <a:solidFill>
                  <a:srgbClr val="FAA95A"/>
                </a:solidFill>
                <a:latin typeface="210 OmniGothic 050"/>
                <a:ea typeface="210 OmniGothic 050"/>
                <a:cs typeface="210 OmniGothic 050"/>
              </a:rPr>
              <a:t>02. 시스템 기술서</a:t>
            </a:r>
          </a:p>
        </p:txBody>
      </p:sp>
      <p:sp>
        <p:nvSpPr>
          <p:cNvPr id="5078" name="Subtitle"/>
          <p:cNvSpPr txBox="1"/>
          <p:nvPr/>
        </p:nvSpPr>
        <p:spPr>
          <a:xfrm>
            <a:off x="822960" y="1764792"/>
            <a:ext cx="16642080" cy="502920"/>
          </a:xfrm>
          <a:prstGeom prst="rect">
            <a:avLst/>
          </a:prstGeom>
          <a:noFill/>
        </p:spPr>
        <p:txBody>
          <a:bodyPr wrap="square" lIns="0" tIns="0" rIns="0" bIns="0" anchor="ctr">
            <a:spAutoFit/>
          </a:bodyPr>
          <a:lstStyle/>
          <a:p>
            <a:pPr algn="ctr"/>
            <a:r>
              <a:rPr sz="2600" b="1">
                <a:solidFill>
                  <a:srgbClr val="363A52"/>
                </a:solidFill>
                <a:latin typeface="210 OmniGothic 040"/>
                <a:ea typeface="210 OmniGothic 040"/>
                <a:cs typeface="210 OmniGothic 040"/>
              </a:rPr>
              <a:t>기능 목록 (3/3) — 대응 제안 (대피) · 질의응답 · 평시 관리 · 시스템</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sz="quarter" idx="12"/>
          </p:nvPr>
        </p:nvSpPr>
        <p:spPr/>
        <p:txBody>
          <a:bodyPr/>
          <a:lstStyle/>
          <a:p>
            <a:fld id="{B6F15528-21DE-4FAA-801E-634DDDAF4B2B}" type="slidenum">
              <a:rPr lang="en-US" smtClean="0"/>
              <a:pPr/>
              <a:t>14</a:t>
            </a:fld>
            <a:endParaRPr lang="en-US"/>
          </a:p>
        </p:txBody>
      </p:sp>
      <p:graphicFrame>
        <p:nvGraphicFramePr>
          <p:cNvPr id="5079" name="Table 5078"/>
          <p:cNvGraphicFramePr>
            <a:graphicFrameLocks noGrp="1"/>
          </p:cNvGraphicFramePr>
          <p:nvPr/>
        </p:nvGraphicFramePr>
        <p:xfrm>
          <a:off x="822960" y="2446020"/>
          <a:ext cx="16459199" cy="6587946"/>
        </p:xfrm>
        <a:graphic>
          <a:graphicData uri="http://schemas.openxmlformats.org/drawingml/2006/table">
            <a:tbl>
              <a:tblPr>
                <a:tableStyleId>{2D5ABB26-0587-4C30-8999-92F81FD0307C}</a:tableStyleId>
              </a:tblPr>
              <a:tblGrid>
                <a:gridCol w="777240">
                  <a:extLst>
                    <a:ext uri="{9D8B030D-6E8A-4147-A177-3AD203B41FA5}">
                      <a16:colId xmlns:a16="http://schemas.microsoft.com/office/drawing/2014/main" val="20000"/>
                    </a:ext>
                  </a:extLst>
                </a:gridCol>
                <a:gridCol w="3154680">
                  <a:extLst>
                    <a:ext uri="{9D8B030D-6E8A-4147-A177-3AD203B41FA5}">
                      <a16:colId xmlns:a16="http://schemas.microsoft.com/office/drawing/2014/main" val="20001"/>
                    </a:ext>
                  </a:extLst>
                </a:gridCol>
                <a:gridCol w="7498079">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gridCol w="2743200">
                  <a:extLst>
                    <a:ext uri="{9D8B030D-6E8A-4147-A177-3AD203B41FA5}">
                      <a16:colId xmlns:a16="http://schemas.microsoft.com/office/drawing/2014/main" val="20004"/>
                    </a:ext>
                  </a:extLst>
                </a:gridCol>
              </a:tblGrid>
              <a:tr h="359156">
                <a:tc>
                  <a:txBody>
                    <a:bodyPr/>
                    <a:lstStyle/>
                    <a:p>
                      <a:pPr algn="ctr"/>
                      <a:r>
                        <a:rPr sz="1400" b="1">
                          <a:solidFill>
                            <a:srgbClr val="FFFFFF"/>
                          </a:solidFill>
                          <a:latin typeface="210 OmniGothic 040"/>
                          <a:ea typeface="210 OmniGothic 040"/>
                          <a:cs typeface="210 OmniGothic 040"/>
                        </a:rPr>
                        <a:t>번호</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tc>
                  <a:txBody>
                    <a:bodyPr/>
                    <a:lstStyle/>
                    <a:p>
                      <a:pPr algn="ctr"/>
                      <a:r>
                        <a:rPr sz="1400" b="1">
                          <a:solidFill>
                            <a:srgbClr val="FFFFFF"/>
                          </a:solidFill>
                          <a:latin typeface="210 OmniGothic 040"/>
                          <a:ea typeface="210 OmniGothic 040"/>
                          <a:cs typeface="210 OmniGothic 040"/>
                        </a:rPr>
                        <a:t>기능</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tc>
                  <a:txBody>
                    <a:bodyPr/>
                    <a:lstStyle/>
                    <a:p>
                      <a:pPr algn="ctr"/>
                      <a:r>
                        <a:rPr sz="1400" b="1">
                          <a:solidFill>
                            <a:srgbClr val="FFFFFF"/>
                          </a:solidFill>
                          <a:latin typeface="210 OmniGothic 040"/>
                          <a:ea typeface="210 OmniGothic 040"/>
                          <a:cs typeface="210 OmniGothic 040"/>
                        </a:rPr>
                        <a:t>설명</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tc>
                  <a:txBody>
                    <a:bodyPr/>
                    <a:lstStyle/>
                    <a:p>
                      <a:pPr algn="ctr"/>
                      <a:r>
                        <a:rPr sz="1400" b="1">
                          <a:solidFill>
                            <a:srgbClr val="FFFFFF"/>
                          </a:solidFill>
                          <a:latin typeface="210 OmniGothic 040"/>
                          <a:ea typeface="210 OmniGothic 040"/>
                          <a:cs typeface="210 OmniGothic 040"/>
                        </a:rPr>
                        <a:t>사용자</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tc>
                  <a:txBody>
                    <a:bodyPr/>
                    <a:lstStyle/>
                    <a:p>
                      <a:pPr algn="ctr"/>
                      <a:r>
                        <a:rPr sz="1400" b="1">
                          <a:solidFill>
                            <a:srgbClr val="FFFFFF"/>
                          </a:solidFill>
                          <a:latin typeface="210 OmniGothic 040"/>
                          <a:ea typeface="210 OmniGothic 040"/>
                          <a:cs typeface="210 OmniGothic 040"/>
                        </a:rPr>
                        <a:t>관련 UC</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extLst>
                  <a:ext uri="{0D108BD9-81ED-4DB2-BD59-A6C34878D82A}">
                    <a16:rowId xmlns:a16="http://schemas.microsoft.com/office/drawing/2014/main" val="10000"/>
                  </a:ext>
                </a:extLst>
              </a:tr>
              <a:tr h="359156">
                <a:tc gridSpan="5">
                  <a:txBody>
                    <a:bodyPr/>
                    <a:lstStyle/>
                    <a:p>
                      <a:pPr algn="l"/>
                      <a:r>
                        <a:rPr sz="1400" b="1">
                          <a:solidFill>
                            <a:srgbClr val="2E3142"/>
                          </a:solidFill>
                          <a:latin typeface="210 OmniGothic 040"/>
                          <a:ea typeface="210 OmniGothic 040"/>
                          <a:cs typeface="210 OmniGothic 040"/>
                        </a:rPr>
                        <a:t>대응 제안 — 대피 E1~E7 (7개)</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EF5EE"/>
                    </a:solid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10001"/>
                  </a:ext>
                </a:extLst>
              </a:tr>
              <a:tr h="359156">
                <a:tc>
                  <a:txBody>
                    <a:bodyPr/>
                    <a:lstStyle/>
                    <a:p>
                      <a:pPr algn="ctr"/>
                      <a:r>
                        <a:rPr sz="1400" b="0">
                          <a:solidFill>
                            <a:srgbClr val="2E3142"/>
                          </a:solidFill>
                          <a:latin typeface="210 OmniGothic 040"/>
                          <a:ea typeface="210 OmniGothic 040"/>
                          <a:cs typeface="210 OmniGothic 040"/>
                        </a:rPr>
                        <a:t>F-22</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sz="1400" b="0">
                          <a:solidFill>
                            <a:srgbClr val="2E3142"/>
                          </a:solidFill>
                          <a:latin typeface="210 OmniGothic 040"/>
                          <a:ea typeface="210 OmniGothic 040"/>
                          <a:cs typeface="210 OmniGothic 040"/>
                        </a:rPr>
                        <a:t>위험구역 설정 (E1)</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400" b="1">
                          <a:solidFill>
                            <a:srgbClr val="2E3142"/>
                          </a:solidFill>
                          <a:latin typeface="210 OmniGothic 040"/>
                          <a:ea typeface="210 OmniGothic 040"/>
                          <a:cs typeface="210 OmniGothic 040"/>
                        </a:rPr>
                        <a:t>위험구역과 잠재 위험구역에 포함되는 마을을 구분한다</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400" b="0">
                          <a:solidFill>
                            <a:srgbClr val="2E3142"/>
                          </a:solidFill>
                          <a:latin typeface="210 OmniGothic 040"/>
                          <a:ea typeface="210 OmniGothic 040"/>
                          <a:cs typeface="210 OmniGothic 040"/>
                        </a:rPr>
                        <a:t>통합지휘권자</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sz="1400" b="0">
                          <a:solidFill>
                            <a:srgbClr val="2E3142"/>
                          </a:solidFill>
                          <a:latin typeface="210 OmniGothic 040"/>
                          <a:ea typeface="210 OmniGothic 040"/>
                          <a:cs typeface="210 OmniGothic 040"/>
                        </a:rPr>
                        <a:t>UC-PRED-01, UC-PROP-02</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4219974350"/>
                  </a:ext>
                </a:extLst>
              </a:tr>
              <a:tr h="359156">
                <a:tc>
                  <a:txBody>
                    <a:bodyPr/>
                    <a:lstStyle/>
                    <a:p>
                      <a:pPr algn="ctr"/>
                      <a:r>
                        <a:rPr sz="1400" b="0">
                          <a:solidFill>
                            <a:srgbClr val="2E3142"/>
                          </a:solidFill>
                          <a:latin typeface="210 OmniGothic 040"/>
                          <a:ea typeface="210 OmniGothic 040"/>
                          <a:cs typeface="210 OmniGothic 040"/>
                        </a:rPr>
                        <a:t>F-23</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sz="1400" b="0">
                          <a:solidFill>
                            <a:srgbClr val="2E3142"/>
                          </a:solidFill>
                          <a:latin typeface="210 OmniGothic 040"/>
                          <a:ea typeface="210 OmniGothic 040"/>
                          <a:cs typeface="210 OmniGothic 040"/>
                        </a:rPr>
                        <a:t>대피 대상·순서·시점 결정 (E2)</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400" b="1">
                          <a:solidFill>
                            <a:srgbClr val="2E3142"/>
                          </a:solidFill>
                          <a:latin typeface="210 OmniGothic 040"/>
                          <a:ea typeface="210 OmniGothic 040"/>
                          <a:cs typeface="210 OmniGothic 040"/>
                        </a:rPr>
                        <a:t>위험도와 취약계층을 고려한 대피 대상·순서·시점을 제안한다</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400" b="0">
                          <a:solidFill>
                            <a:srgbClr val="2E3142"/>
                          </a:solidFill>
                          <a:latin typeface="210 OmniGothic 040"/>
                          <a:ea typeface="210 OmniGothic 040"/>
                          <a:cs typeface="210 OmniGothic 040"/>
                        </a:rPr>
                        <a:t>통합지휘권자</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sz="1400" b="0">
                          <a:solidFill>
                            <a:srgbClr val="2E3142"/>
                          </a:solidFill>
                          <a:latin typeface="210 OmniGothic 040"/>
                          <a:ea typeface="210 OmniGothic 040"/>
                          <a:cs typeface="210 OmniGothic 040"/>
                        </a:rPr>
                        <a:t>UC-PRED-01, UC-PROP-02</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80190107"/>
                  </a:ext>
                </a:extLst>
              </a:tr>
              <a:tr h="590296">
                <a:tc>
                  <a:txBody>
                    <a:bodyPr/>
                    <a:lstStyle/>
                    <a:p>
                      <a:pPr algn="ctr"/>
                      <a:r>
                        <a:rPr sz="1400" b="0">
                          <a:solidFill>
                            <a:srgbClr val="2E3142"/>
                          </a:solidFill>
                          <a:latin typeface="210 OmniGothic 040"/>
                          <a:ea typeface="210 OmniGothic 040"/>
                          <a:cs typeface="210 OmniGothic 040"/>
                        </a:rPr>
                        <a:t>F-24</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sz="1400" b="0">
                          <a:solidFill>
                            <a:srgbClr val="2E3142"/>
                          </a:solidFill>
                          <a:latin typeface="210 OmniGothic 040"/>
                          <a:ea typeface="210 OmniGothic 040"/>
                          <a:cs typeface="210 OmniGothic 040"/>
                        </a:rPr>
                        <a:t>취약시설·미대피 주민 조치 (E3)</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400" b="1">
                          <a:solidFill>
                            <a:srgbClr val="2E3142"/>
                          </a:solidFill>
                          <a:latin typeface="210 OmniGothic 040"/>
                          <a:ea typeface="210 OmniGothic 040"/>
                          <a:cs typeface="210 OmniGothic 040"/>
                        </a:rPr>
                        <a:t>취약시설 이송과 미대피 주민에 대한 추가 조치를 제안한다</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400" b="0">
                          <a:solidFill>
                            <a:srgbClr val="2E3142"/>
                          </a:solidFill>
                          <a:latin typeface="210 OmniGothic 040"/>
                          <a:ea typeface="210 OmniGothic 040"/>
                          <a:cs typeface="210 OmniGothic 040"/>
                        </a:rPr>
                        <a:t>통합지휘권자</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sz="1400" b="0">
                          <a:solidFill>
                            <a:srgbClr val="2E3142"/>
                          </a:solidFill>
                          <a:latin typeface="210 OmniGothic 040"/>
                          <a:ea typeface="210 OmniGothic 040"/>
                          <a:cs typeface="210 OmniGothic 040"/>
                        </a:rPr>
                        <a:t>UC-PRED-01, UC-PROP-02</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3374664478"/>
                  </a:ext>
                </a:extLst>
              </a:tr>
              <a:tr h="359156">
                <a:tc>
                  <a:txBody>
                    <a:bodyPr/>
                    <a:lstStyle/>
                    <a:p>
                      <a:pPr algn="ctr"/>
                      <a:r>
                        <a:rPr sz="1400" b="0">
                          <a:solidFill>
                            <a:srgbClr val="2E3142"/>
                          </a:solidFill>
                          <a:latin typeface="210 OmniGothic 040"/>
                          <a:ea typeface="210 OmniGothic 040"/>
                          <a:cs typeface="210 OmniGothic 040"/>
                        </a:rPr>
                        <a:t>F-25</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sz="1400" b="0">
                          <a:solidFill>
                            <a:srgbClr val="2E3142"/>
                          </a:solidFill>
                          <a:latin typeface="210 OmniGothic 040"/>
                          <a:ea typeface="210 OmniGothic 040"/>
                          <a:cs typeface="210 OmniGothic 040"/>
                        </a:rPr>
                        <a:t>대피소 배정·분산 (E4)</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400" b="1">
                          <a:solidFill>
                            <a:srgbClr val="2E3142"/>
                          </a:solidFill>
                          <a:latin typeface="210 OmniGothic 040"/>
                          <a:ea typeface="210 OmniGothic 040"/>
                          <a:cs typeface="210 OmniGothic 040"/>
                        </a:rPr>
                        <a:t>주민에게 적합한 대피소를 배정하고 수용 초과 시 분산을 제안한다</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400" b="0">
                          <a:solidFill>
                            <a:srgbClr val="2E3142"/>
                          </a:solidFill>
                          <a:latin typeface="210 OmniGothic 040"/>
                          <a:ea typeface="210 OmniGothic 040"/>
                          <a:cs typeface="210 OmniGothic 040"/>
                        </a:rPr>
                        <a:t>통합지휘권자</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sz="1400" b="0">
                          <a:solidFill>
                            <a:srgbClr val="2E3142"/>
                          </a:solidFill>
                          <a:latin typeface="210 OmniGothic 040"/>
                          <a:ea typeface="210 OmniGothic 040"/>
                          <a:cs typeface="210 OmniGothic 040"/>
                        </a:rPr>
                        <a:t>UC-PRED-01, UC-PROP-02</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2623974656"/>
                  </a:ext>
                </a:extLst>
              </a:tr>
              <a:tr h="359156">
                <a:tc>
                  <a:txBody>
                    <a:bodyPr/>
                    <a:lstStyle/>
                    <a:p>
                      <a:pPr algn="ctr"/>
                      <a:r>
                        <a:rPr sz="1400" b="0">
                          <a:solidFill>
                            <a:srgbClr val="2E3142"/>
                          </a:solidFill>
                          <a:latin typeface="210 OmniGothic 040"/>
                          <a:ea typeface="210 OmniGothic 040"/>
                          <a:cs typeface="210 OmniGothic 040"/>
                        </a:rPr>
                        <a:t>F-26</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sz="1400" b="0">
                          <a:solidFill>
                            <a:srgbClr val="2E3142"/>
                          </a:solidFill>
                          <a:latin typeface="210 OmniGothic 040"/>
                          <a:ea typeface="210 OmniGothic 040"/>
                          <a:cs typeface="210 OmniGothic 040"/>
                        </a:rPr>
                        <a:t>대피 경로·교통통제 (E5)</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400" b="1">
                          <a:solidFill>
                            <a:srgbClr val="2E3142"/>
                          </a:solidFill>
                          <a:latin typeface="210 OmniGothic 040"/>
                          <a:ea typeface="210 OmniGothic 040"/>
                          <a:cs typeface="210 OmniGothic 040"/>
                        </a:rPr>
                        <a:t>위험 경로와 진화차량 진입로의 충돌을 확인하고 통제를 제안한다</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400" b="0">
                          <a:solidFill>
                            <a:srgbClr val="2E3142"/>
                          </a:solidFill>
                          <a:latin typeface="210 OmniGothic 040"/>
                          <a:ea typeface="210 OmniGothic 040"/>
                          <a:cs typeface="210 OmniGothic 040"/>
                        </a:rPr>
                        <a:t>통합지휘권자</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sz="1400" b="0">
                          <a:solidFill>
                            <a:srgbClr val="2E3142"/>
                          </a:solidFill>
                          <a:latin typeface="210 OmniGothic 040"/>
                          <a:ea typeface="210 OmniGothic 040"/>
                          <a:cs typeface="210 OmniGothic 040"/>
                        </a:rPr>
                        <a:t>UC-PRED-01, UC-PROP-02</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916616281"/>
                  </a:ext>
                </a:extLst>
              </a:tr>
              <a:tr h="359156">
                <a:tc>
                  <a:txBody>
                    <a:bodyPr/>
                    <a:lstStyle/>
                    <a:p>
                      <a:pPr algn="ctr"/>
                      <a:r>
                        <a:rPr sz="1400" b="0">
                          <a:solidFill>
                            <a:srgbClr val="2E3142"/>
                          </a:solidFill>
                          <a:latin typeface="210 OmniGothic 040"/>
                          <a:ea typeface="210 OmniGothic 040"/>
                          <a:cs typeface="210 OmniGothic 040"/>
                        </a:rPr>
                        <a:t>F-27</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sz="1400" b="0">
                          <a:solidFill>
                            <a:srgbClr val="2E3142"/>
                          </a:solidFill>
                          <a:latin typeface="210 OmniGothic 040"/>
                          <a:ea typeface="210 OmniGothic 040"/>
                          <a:cs typeface="210 OmniGothic 040"/>
                        </a:rPr>
                        <a:t>재난문자·방송 전파 제안 (E6)</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400" b="1">
                          <a:solidFill>
                            <a:srgbClr val="2E3142"/>
                          </a:solidFill>
                          <a:latin typeface="210 OmniGothic 040"/>
                          <a:ea typeface="210 OmniGothic 040"/>
                          <a:cs typeface="210 OmniGothic 040"/>
                        </a:rPr>
                        <a:t>대피 단계에 맞는 안내 지역과 문자·방송 송출을 제안한다</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400" b="0">
                          <a:solidFill>
                            <a:srgbClr val="2E3142"/>
                          </a:solidFill>
                          <a:latin typeface="210 OmniGothic 040"/>
                          <a:ea typeface="210 OmniGothic 040"/>
                          <a:cs typeface="210 OmniGothic 040"/>
                        </a:rPr>
                        <a:t>통합지휘권자</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sz="1400" b="0">
                          <a:solidFill>
                            <a:srgbClr val="2E3142"/>
                          </a:solidFill>
                          <a:latin typeface="210 OmniGothic 040"/>
                          <a:ea typeface="210 OmniGothic 040"/>
                          <a:cs typeface="210 OmniGothic 040"/>
                        </a:rPr>
                        <a:t>UC-PRED-01, UC-PROP-02</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76200234"/>
                  </a:ext>
                </a:extLst>
              </a:tr>
              <a:tr h="359156">
                <a:tc>
                  <a:txBody>
                    <a:bodyPr/>
                    <a:lstStyle/>
                    <a:p>
                      <a:pPr algn="ctr"/>
                      <a:r>
                        <a:rPr sz="1400" b="0">
                          <a:solidFill>
                            <a:srgbClr val="2E3142"/>
                          </a:solidFill>
                          <a:latin typeface="210 OmniGothic 040"/>
                          <a:ea typeface="210 OmniGothic 040"/>
                          <a:cs typeface="210 OmniGothic 040"/>
                        </a:rPr>
                        <a:t>F-28</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sz="1400" b="0">
                          <a:solidFill>
                            <a:srgbClr val="2E3142"/>
                          </a:solidFill>
                          <a:latin typeface="210 OmniGothic 040"/>
                          <a:ea typeface="210 OmniGothic 040"/>
                          <a:cs typeface="210 OmniGothic 040"/>
                        </a:rPr>
                        <a:t>인명구조·긴급구조 요청 (E7)</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400" b="1">
                          <a:solidFill>
                            <a:srgbClr val="2E3142"/>
                          </a:solidFill>
                          <a:latin typeface="210 OmniGothic 040"/>
                          <a:ea typeface="210 OmniGothic 040"/>
                          <a:cs typeface="210 OmniGothic 040"/>
                        </a:rPr>
                        <a:t>고립·부상·미대피 상황에 필요한 구조 대상과 요청 기관을 제안한다</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400" b="0">
                          <a:solidFill>
                            <a:srgbClr val="2E3142"/>
                          </a:solidFill>
                          <a:latin typeface="210 OmniGothic 040"/>
                          <a:ea typeface="210 OmniGothic 040"/>
                          <a:cs typeface="210 OmniGothic 040"/>
                        </a:rPr>
                        <a:t>통합지휘권자</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sz="1400" b="0">
                          <a:solidFill>
                            <a:srgbClr val="2E3142"/>
                          </a:solidFill>
                          <a:latin typeface="210 OmniGothic 040"/>
                          <a:ea typeface="210 OmniGothic 040"/>
                          <a:cs typeface="210 OmniGothic 040"/>
                        </a:rPr>
                        <a:t>UC-PRED-01, UC-PROP-02</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155943290"/>
                  </a:ext>
                </a:extLst>
              </a:tr>
              <a:tr h="359156">
                <a:tc gridSpan="5">
                  <a:txBody>
                    <a:bodyPr/>
                    <a:lstStyle/>
                    <a:p>
                      <a:pPr algn="l"/>
                      <a:r>
                        <a:rPr sz="1400" b="1">
                          <a:solidFill>
                            <a:srgbClr val="2E3142"/>
                          </a:solidFill>
                          <a:latin typeface="210 OmniGothic 040"/>
                          <a:ea typeface="210 OmniGothic 040"/>
                          <a:cs typeface="210 OmniGothic 040"/>
                        </a:rPr>
                        <a:t>질의응답 (2개)</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EF5EE"/>
                    </a:solid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1010039608"/>
                  </a:ext>
                </a:extLst>
              </a:tr>
              <a:tr h="590296">
                <a:tc>
                  <a:txBody>
                    <a:bodyPr/>
                    <a:lstStyle/>
                    <a:p>
                      <a:pPr algn="ctr"/>
                      <a:r>
                        <a:rPr sz="1400" b="0">
                          <a:solidFill>
                            <a:srgbClr val="2E3142"/>
                          </a:solidFill>
                          <a:latin typeface="210 OmniGothic 040"/>
                          <a:ea typeface="210 OmniGothic 040"/>
                          <a:cs typeface="210 OmniGothic 040"/>
                        </a:rPr>
                        <a:t>F-29</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sz="1400" b="0">
                          <a:solidFill>
                            <a:srgbClr val="2E3142"/>
                          </a:solidFill>
                          <a:latin typeface="210 OmniGothic 040"/>
                          <a:ea typeface="210 OmniGothic 040"/>
                          <a:cs typeface="210 OmniGothic 040"/>
                        </a:rPr>
                        <a:t>AI 질의응답</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400" b="1">
                          <a:solidFill>
                            <a:srgbClr val="2E3142"/>
                          </a:solidFill>
                          <a:latin typeface="210 OmniGothic 040"/>
                          <a:ea typeface="210 OmniGothic 040"/>
                          <a:cs typeface="210 OmniGothic 040"/>
                        </a:rPr>
                        <a:t>현재 상황·대응 제안·근거를 질문하고 빠른 질문으로 필요한 답을 확인한다 (상황·제안은 바뀌지 않음). 상황 변화 입력은 바로 반영하지 않고 정정 확인 카드로 넘긴다(UC-QA-02)</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400" b="0">
                          <a:solidFill>
                            <a:srgbClr val="2E3142"/>
                          </a:solidFill>
                          <a:latin typeface="210 OmniGothic 040"/>
                          <a:ea typeface="210 OmniGothic 040"/>
                          <a:cs typeface="210 OmniGothic 040"/>
                        </a:rPr>
                        <a:t>통합지휘권자</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sz="1400" b="0">
                          <a:solidFill>
                            <a:srgbClr val="2E3142"/>
                          </a:solidFill>
                          <a:latin typeface="210 OmniGothic 040"/>
                          <a:ea typeface="210 OmniGothic 040"/>
                          <a:cs typeface="210 OmniGothic 040"/>
                        </a:rPr>
                        <a:t>UC-QA-01</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79214871"/>
                  </a:ext>
                </a:extLst>
              </a:tr>
              <a:tr h="590296">
                <a:tc>
                  <a:txBody>
                    <a:bodyPr/>
                    <a:lstStyle/>
                    <a:p>
                      <a:pPr algn="ctr"/>
                      <a:r>
                        <a:rPr sz="1400" b="0">
                          <a:solidFill>
                            <a:srgbClr val="2E3142"/>
                          </a:solidFill>
                          <a:latin typeface="210 OmniGothic 040"/>
                          <a:ea typeface="210 OmniGothic 040"/>
                          <a:cs typeface="210 OmniGothic 040"/>
                        </a:rPr>
                        <a:t>F-30</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sz="1400" b="0">
                          <a:solidFill>
                            <a:srgbClr val="2E3142"/>
                          </a:solidFill>
                          <a:latin typeface="210 OmniGothic 040"/>
                          <a:ea typeface="210 OmniGothic 040"/>
                          <a:cs typeface="210 OmniGothic 040"/>
                        </a:rPr>
                        <a:t>AI 상황 정정 요청</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400" b="1">
                          <a:solidFill>
                            <a:srgbClr val="2E3142"/>
                          </a:solidFill>
                          <a:latin typeface="210 OmniGothic 040"/>
                          <a:ea typeface="210 OmniGothic 040"/>
                          <a:cs typeface="210 OmniGothic 040"/>
                        </a:rPr>
                        <a:t>AI 어시스턴트에 상황 변화(대피 완료·자원 투입 등)를 입력해 확인 후 저장하고, 대응 제안을 다시 생성한다</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400" b="0">
                          <a:solidFill>
                            <a:srgbClr val="2E3142"/>
                          </a:solidFill>
                          <a:latin typeface="210 OmniGothic 040"/>
                          <a:ea typeface="210 OmniGothic 040"/>
                          <a:cs typeface="210 OmniGothic 040"/>
                        </a:rPr>
                        <a:t>통합지휘권자</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sz="1400" b="0">
                          <a:solidFill>
                            <a:srgbClr val="2E3142"/>
                          </a:solidFill>
                          <a:latin typeface="210 OmniGothic 040"/>
                          <a:ea typeface="210 OmniGothic 040"/>
                          <a:cs typeface="210 OmniGothic 040"/>
                        </a:rPr>
                        <a:t>UC-QA-02</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3228809346"/>
                  </a:ext>
                </a:extLst>
              </a:tr>
              <a:tr h="359156">
                <a:tc gridSpan="5">
                  <a:txBody>
                    <a:bodyPr/>
                    <a:lstStyle/>
                    <a:p>
                      <a:pPr algn="l"/>
                      <a:r>
                        <a:rPr sz="1400" b="1">
                          <a:solidFill>
                            <a:srgbClr val="2E3142"/>
                          </a:solidFill>
                          <a:latin typeface="210 OmniGothic 040"/>
                          <a:ea typeface="210 OmniGothic 040"/>
                          <a:cs typeface="210 OmniGothic 040"/>
                        </a:rPr>
                        <a:t>평시 관리 (1개)</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EF5EE"/>
                    </a:solid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824174545"/>
                  </a:ext>
                </a:extLst>
              </a:tr>
              <a:tr h="359156">
                <a:tc>
                  <a:txBody>
                    <a:bodyPr/>
                    <a:lstStyle/>
                    <a:p>
                      <a:pPr algn="ctr"/>
                      <a:r>
                        <a:rPr sz="1400" b="0">
                          <a:solidFill>
                            <a:srgbClr val="2E3142"/>
                          </a:solidFill>
                          <a:latin typeface="210 OmniGothic 040"/>
                          <a:ea typeface="210 OmniGothic 040"/>
                          <a:cs typeface="210 OmniGothic 040"/>
                        </a:rPr>
                        <a:t>F-31</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sz="1400" b="0">
                          <a:solidFill>
                            <a:srgbClr val="2E3142"/>
                          </a:solidFill>
                          <a:latin typeface="210 OmniGothic 040"/>
                          <a:ea typeface="210 OmniGothic 040"/>
                          <a:cs typeface="210 OmniGothic 040"/>
                        </a:rPr>
                        <a:t>진화자원 데이터 관리</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400" b="1">
                          <a:solidFill>
                            <a:srgbClr val="2E3142"/>
                          </a:solidFill>
                          <a:latin typeface="210 OmniGothic 040"/>
                          <a:ea typeface="210 OmniGothic 040"/>
                          <a:cs typeface="210 OmniGothic 040"/>
                        </a:rPr>
                        <a:t>전산 관리자가 보유 헬기·차량·인력 등 진화자원 데이터를 등록·수정·삭제한다</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400" b="0">
                          <a:solidFill>
                            <a:srgbClr val="2E3142"/>
                          </a:solidFill>
                          <a:latin typeface="210 OmniGothic 040"/>
                          <a:ea typeface="210 OmniGothic 040"/>
                          <a:cs typeface="210 OmniGothic 040"/>
                        </a:rPr>
                        <a:t>전산 관리자</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sz="1400" b="0">
                          <a:solidFill>
                            <a:srgbClr val="2E3142"/>
                          </a:solidFill>
                          <a:latin typeface="210 OmniGothic 040"/>
                          <a:ea typeface="210 OmniGothic 040"/>
                          <a:cs typeface="210 OmniGothic 040"/>
                        </a:rPr>
                        <a:t>UC-ADMIN-02</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3291419947"/>
                  </a:ext>
                </a:extLst>
              </a:tr>
              <a:tr h="359156">
                <a:tc gridSpan="5">
                  <a:txBody>
                    <a:bodyPr/>
                    <a:lstStyle/>
                    <a:p>
                      <a:pPr algn="l"/>
                      <a:r>
                        <a:rPr sz="1400" b="1">
                          <a:solidFill>
                            <a:srgbClr val="2E3142"/>
                          </a:solidFill>
                          <a:latin typeface="210 OmniGothic 040"/>
                          <a:ea typeface="210 OmniGothic 040"/>
                          <a:cs typeface="210 OmniGothic 040"/>
                        </a:rPr>
                        <a:t>시스템 (1개)</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EF5EE"/>
                    </a:solid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998323103"/>
                  </a:ext>
                </a:extLst>
              </a:tr>
              <a:tr h="359156">
                <a:tc>
                  <a:txBody>
                    <a:bodyPr/>
                    <a:lstStyle/>
                    <a:p>
                      <a:pPr algn="ctr"/>
                      <a:r>
                        <a:rPr sz="1400" b="0">
                          <a:solidFill>
                            <a:srgbClr val="2E3142"/>
                          </a:solidFill>
                          <a:latin typeface="210 OmniGothic 040"/>
                          <a:ea typeface="210 OmniGothic 040"/>
                          <a:cs typeface="210 OmniGothic 040"/>
                        </a:rPr>
                        <a:t>F-32</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sz="1400" b="0">
                          <a:solidFill>
                            <a:srgbClr val="2E3142"/>
                          </a:solidFill>
                          <a:latin typeface="210 OmniGothic 040"/>
                          <a:ea typeface="210 OmniGothic 040"/>
                          <a:cs typeface="210 OmniGothic 040"/>
                        </a:rPr>
                        <a:t>이벤트 로그</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400" b="1">
                          <a:solidFill>
                            <a:srgbClr val="2E3142"/>
                          </a:solidFill>
                          <a:latin typeface="210 OmniGothic 040"/>
                          <a:ea typeface="210 OmniGothic 040"/>
                          <a:cs typeface="210 OmniGothic 040"/>
                        </a:rPr>
                        <a:t>로그인·로그아웃·입력·예측·제안·정정·종료·계정 및 자원 변경·근거 부족 이벤트를 추가 전용으로 기록하고, 이력 탭에서 읽기 전용으로 열람한다</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400" b="0">
                          <a:solidFill>
                            <a:srgbClr val="2E3142"/>
                          </a:solidFill>
                          <a:latin typeface="210 OmniGothic 040"/>
                          <a:ea typeface="210 OmniGothic 040"/>
                          <a:cs typeface="210 OmniGothic 040"/>
                        </a:rPr>
                        <a:t>시스템 (열람: 통합지휘권자)</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sz="1400" b="0">
                          <a:solidFill>
                            <a:srgbClr val="2E3142"/>
                          </a:solidFill>
                          <a:latin typeface="210 OmniGothic 040"/>
                          <a:ea typeface="210 OmniGothic 040"/>
                          <a:cs typeface="210 OmniGothic 040"/>
                        </a:rPr>
                        <a:t>UC-PROP-04</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4048863566"/>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83" name="Picture 2">
            <a:extLst>
              <a:ext uri="{FF2B5EF4-FFF2-40B4-BE49-F238E27FC236}">
                <a16:creationId xmlns:a16="http://schemas.microsoft.com/office/drawing/2014/main" id="{F116F513-628E-CD59-0365-83BA34700620}"/>
              </a:ext>
            </a:extLst>
          </p:cNvPr>
          <p:cNvSpPr/>
          <p:nvPr/>
        </p:nvSpPr>
        <p:spPr>
          <a:xfrm>
            <a:off x="-12700" y="-12700"/>
            <a:ext cx="18300700" cy="10299700"/>
          </a:xfrm>
          <a:custGeom>
            <a:avLst/>
            <a:gdLst>
              <a:gd name="csX0" fmla="*/ 0 w 18281422"/>
              <a:gd name="csY0" fmla="*/ 10197723 h 10197722"/>
              <a:gd name="csX1" fmla="*/ 0 w 18281422"/>
              <a:gd name="csY1" fmla="*/ 0 h 10197722"/>
              <a:gd name="csX2" fmla="*/ 18281422 w 18281422"/>
              <a:gd name="csY2" fmla="*/ 0 h 10197722"/>
              <a:gd name="csX3" fmla="*/ 18281422 w 18281422"/>
              <a:gd name="csY3" fmla="*/ 10197723 h 10197722"/>
            </a:gdLst>
            <a:ahLst/>
            <a:cxnLst>
              <a:cxn ang="0">
                <a:pos x="csX0" y="csY0"/>
              </a:cxn>
              <a:cxn ang="0">
                <a:pos x="csX1" y="csY1"/>
              </a:cxn>
              <a:cxn ang="0">
                <a:pos x="csX2" y="csY2"/>
              </a:cxn>
              <a:cxn ang="0">
                <a:pos x="csX3" y="csY3"/>
              </a:cxn>
            </a:cxnLst>
            <a:rect l="l" t="t" r="r" b="b"/>
            <a:pathLst>
              <a:path w="18281422" h="10197722">
                <a:moveTo>
                  <a:pt x="0" y="10197723"/>
                </a:moveTo>
                <a:lnTo>
                  <a:pt x="0" y="0"/>
                </a:lnTo>
                <a:lnTo>
                  <a:pt x="18281422" y="0"/>
                </a:lnTo>
                <a:lnTo>
                  <a:pt x="18281422" y="10197723"/>
                </a:lnTo>
                <a:close/>
              </a:path>
            </a:pathLst>
          </a:custGeom>
          <a:solidFill>
            <a:srgbClr val="363A52"/>
          </a:solidFill>
          <a:ln w="16144" cap="flat">
            <a:noFill/>
            <a:prstDash val="solid"/>
            <a:miter/>
          </a:ln>
        </p:spPr>
        <p:txBody>
          <a:bodyPr/>
          <a:lstStyle/>
          <a:p>
            <a:endParaRPr lang="ko-KR" altLang="en-US"/>
          </a:p>
        </p:txBody>
      </p:sp>
      <p:sp>
        <p:nvSpPr>
          <p:cNvPr id="5084" name="TextBox 5083"/>
          <p:cNvSpPr txBox="1"/>
          <p:nvPr/>
        </p:nvSpPr>
        <p:spPr>
          <a:xfrm>
            <a:off x="914400" y="4572000"/>
            <a:ext cx="16459200" cy="1005840"/>
          </a:xfrm>
          <a:prstGeom prst="rect">
            <a:avLst/>
          </a:prstGeom>
          <a:noFill/>
        </p:spPr>
        <p:txBody>
          <a:bodyPr wrap="square" lIns="0" tIns="0" rIns="0" bIns="0" anchor="ctr">
            <a:spAutoFit/>
          </a:bodyPr>
          <a:lstStyle/>
          <a:p>
            <a:pPr algn="ctr"/>
            <a:r>
              <a:rPr sz="4800" b="0">
                <a:solidFill>
                  <a:srgbClr val="FAA95A"/>
                </a:solidFill>
                <a:latin typeface="210 OmniGothic 050"/>
                <a:ea typeface="210 OmniGothic 050"/>
                <a:cs typeface="210 OmniGothic 050"/>
              </a:rPr>
              <a:t>03. 유스케이스 다이어그램</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sz="quarter" idx="12"/>
          </p:nvPr>
        </p:nvSpPr>
        <p:spPr/>
        <p:txBody>
          <a:bodyPr/>
          <a:lstStyle/>
          <a:p>
            <a:fld id="{B6F15528-21DE-4FAA-801E-634DDDAF4B2B}" type="slidenum">
              <a:rPr lang="en-US" smtClean="0"/>
              <a:pPr/>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85"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2700" y="-12700"/>
            <a:ext cx="18313400" cy="1638300"/>
          </a:xfrm>
          <a:prstGeom prst="rect">
            <a:avLst/>
          </a:prstGeom>
        </p:spPr>
      </p:pic>
      <p:pic>
        <p:nvPicPr>
          <p:cNvPr id="5086"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628" y="1618343"/>
            <a:ext cx="18313400" cy="8699500"/>
          </a:xfrm>
          <a:prstGeom prst="rect">
            <a:avLst/>
          </a:prstGeom>
        </p:spPr>
      </p:pic>
      <p:pic>
        <p:nvPicPr>
          <p:cNvPr id="5087"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58800" y="9271000"/>
            <a:ext cx="17170400" cy="50800"/>
          </a:xfrm>
          <a:prstGeom prst="rect">
            <a:avLst/>
          </a:prstGeom>
        </p:spPr>
      </p:pic>
      <p:pic>
        <p:nvPicPr>
          <p:cNvPr id="5088" name="Picture 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278100" y="203200"/>
            <a:ext cx="1676400" cy="1409700"/>
          </a:xfrm>
          <a:prstGeom prst="rect">
            <a:avLst/>
          </a:prstGeom>
        </p:spPr>
      </p:pic>
      <p:sp>
        <p:nvSpPr>
          <p:cNvPr id="5089" name="Title"/>
          <p:cNvSpPr txBox="1"/>
          <p:nvPr/>
        </p:nvSpPr>
        <p:spPr>
          <a:xfrm>
            <a:off x="822960" y="384048"/>
            <a:ext cx="13258800" cy="877824"/>
          </a:xfrm>
          <a:prstGeom prst="rect">
            <a:avLst/>
          </a:prstGeom>
          <a:noFill/>
        </p:spPr>
        <p:txBody>
          <a:bodyPr wrap="square" lIns="0" tIns="0" rIns="0" bIns="0" anchor="ctr">
            <a:spAutoFit/>
          </a:bodyPr>
          <a:lstStyle/>
          <a:p>
            <a:pPr algn="l"/>
            <a:r>
              <a:rPr sz="4400" b="0">
                <a:solidFill>
                  <a:srgbClr val="FAA95A"/>
                </a:solidFill>
                <a:latin typeface="210 OmniGothic 050"/>
                <a:ea typeface="210 OmniGothic 050"/>
                <a:cs typeface="210 OmniGothic 050"/>
              </a:rPr>
              <a:t>03. 유스케이스 다이어그램</a:t>
            </a:r>
          </a:p>
        </p:txBody>
      </p:sp>
      <p:sp>
        <p:nvSpPr>
          <p:cNvPr id="5090" name="Subtitle"/>
          <p:cNvSpPr txBox="1"/>
          <p:nvPr/>
        </p:nvSpPr>
        <p:spPr>
          <a:xfrm>
            <a:off x="822960" y="1764792"/>
            <a:ext cx="16642080" cy="502920"/>
          </a:xfrm>
          <a:prstGeom prst="rect">
            <a:avLst/>
          </a:prstGeom>
          <a:noFill/>
        </p:spPr>
        <p:txBody>
          <a:bodyPr wrap="square" lIns="0" tIns="0" rIns="0" bIns="0" anchor="ctr">
            <a:spAutoFit/>
          </a:bodyPr>
          <a:lstStyle/>
          <a:p>
            <a:pPr algn="ctr"/>
            <a:r>
              <a:rPr sz="2600" b="1">
                <a:solidFill>
                  <a:srgbClr val="363A52"/>
                </a:solidFill>
                <a:latin typeface="210 OmniGothic 040"/>
                <a:ea typeface="210 OmniGothic 040"/>
                <a:cs typeface="210 OmniGothic 040"/>
              </a:rPr>
              <a:t>1. 액터 정의</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sz="quarter" idx="12"/>
          </p:nvPr>
        </p:nvSpPr>
        <p:spPr/>
        <p:txBody>
          <a:bodyPr/>
          <a:lstStyle/>
          <a:p>
            <a:fld id="{B6F15528-21DE-4FAA-801E-634DDDAF4B2B}" type="slidenum">
              <a:rPr lang="en-US" smtClean="0"/>
              <a:pPr/>
              <a:t>16</a:t>
            </a:fld>
            <a:endParaRPr lang="en-US"/>
          </a:p>
        </p:txBody>
      </p:sp>
      <p:graphicFrame>
        <p:nvGraphicFramePr>
          <p:cNvPr id="5091" name="Table 5090"/>
          <p:cNvGraphicFramePr>
            <a:graphicFrameLocks noGrp="1"/>
          </p:cNvGraphicFramePr>
          <p:nvPr/>
        </p:nvGraphicFramePr>
        <p:xfrm>
          <a:off x="822960" y="2496312"/>
          <a:ext cx="16459200" cy="5485127"/>
        </p:xfrm>
        <a:graphic>
          <a:graphicData uri="http://schemas.openxmlformats.org/drawingml/2006/table">
            <a:tbl>
              <a:tblPr>
                <a:tableStyleId>{2D5ABB26-0587-4C30-8999-92F81FD0307C}</a:tableStyleId>
              </a:tblPr>
              <a:tblGrid>
                <a:gridCol w="24003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6972300">
                  <a:extLst>
                    <a:ext uri="{9D8B030D-6E8A-4147-A177-3AD203B41FA5}">
                      <a16:colId xmlns:a16="http://schemas.microsoft.com/office/drawing/2014/main" val="20002"/>
                    </a:ext>
                  </a:extLst>
                </a:gridCol>
                <a:gridCol w="5257800">
                  <a:extLst>
                    <a:ext uri="{9D8B030D-6E8A-4147-A177-3AD203B41FA5}">
                      <a16:colId xmlns:a16="http://schemas.microsoft.com/office/drawing/2014/main" val="20003"/>
                    </a:ext>
                  </a:extLst>
                </a:gridCol>
              </a:tblGrid>
              <a:tr h="365760">
                <a:tc>
                  <a:txBody>
                    <a:bodyPr/>
                    <a:lstStyle/>
                    <a:p>
                      <a:pPr algn="ctr"/>
                      <a:r>
                        <a:rPr sz="1300" b="1">
                          <a:solidFill>
                            <a:srgbClr val="FFFFFF"/>
                          </a:solidFill>
                          <a:latin typeface="210 OmniGothic 040"/>
                          <a:ea typeface="210 OmniGothic 040"/>
                          <a:cs typeface="210 OmniGothic 040"/>
                        </a:rPr>
                        <a:t>액터</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tc>
                  <a:txBody>
                    <a:bodyPr/>
                    <a:lstStyle/>
                    <a:p>
                      <a:pPr algn="ctr"/>
                      <a:r>
                        <a:rPr sz="1300" b="1">
                          <a:solidFill>
                            <a:srgbClr val="FFFFFF"/>
                          </a:solidFill>
                          <a:latin typeface="210 OmniGothic 040"/>
                          <a:ea typeface="210 OmniGothic 040"/>
                          <a:cs typeface="210 OmniGothic 040"/>
                        </a:rPr>
                        <a:t>종류</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tc>
                  <a:txBody>
                    <a:bodyPr/>
                    <a:lstStyle/>
                    <a:p>
                      <a:pPr algn="ctr"/>
                      <a:r>
                        <a:rPr sz="1300" b="1">
                          <a:solidFill>
                            <a:srgbClr val="FFFFFF"/>
                          </a:solidFill>
                          <a:latin typeface="210 OmniGothic 040"/>
                          <a:ea typeface="210 OmniGothic 040"/>
                          <a:cs typeface="210 OmniGothic 040"/>
                        </a:rPr>
                        <a:t>설명</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tc>
                  <a:txBody>
                    <a:bodyPr/>
                    <a:lstStyle/>
                    <a:p>
                      <a:pPr algn="ctr"/>
                      <a:r>
                        <a:rPr sz="1300" b="1">
                          <a:solidFill>
                            <a:srgbClr val="FFFFFF"/>
                          </a:solidFill>
                          <a:latin typeface="210 OmniGothic 040"/>
                          <a:ea typeface="210 OmniGothic 040"/>
                          <a:cs typeface="210 OmniGothic 040"/>
                        </a:rPr>
                        <a:t>사용하는 유스케이스</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extLst>
                  <a:ext uri="{0D108BD9-81ED-4DB2-BD59-A6C34878D82A}">
                    <a16:rowId xmlns:a16="http://schemas.microsoft.com/office/drawing/2014/main" val="10000"/>
                  </a:ext>
                </a:extLst>
              </a:tr>
              <a:tr h="831341">
                <a:tc>
                  <a:txBody>
                    <a:bodyPr/>
                    <a:lstStyle/>
                    <a:p>
                      <a:pPr algn="ctr"/>
                      <a:r>
                        <a:rPr sz="1300" b="1">
                          <a:solidFill>
                            <a:srgbClr val="2E3142"/>
                          </a:solidFill>
                          <a:latin typeface="210 OmniGothic 040"/>
                          <a:ea typeface="210 OmniGothic 040"/>
                          <a:cs typeface="210 OmniGothic 040"/>
                        </a:rPr>
                        <a:t>통합지휘권자</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3F4F8"/>
                    </a:solidFill>
                  </a:tcPr>
                </a:tc>
                <a:tc>
                  <a:txBody>
                    <a:bodyPr/>
                    <a:lstStyle/>
                    <a:p>
                      <a:pPr algn="ctr"/>
                      <a:r>
                        <a:rPr sz="1300" b="0">
                          <a:solidFill>
                            <a:srgbClr val="2E3142"/>
                          </a:solidFill>
                          <a:latin typeface="210 OmniGothic 040"/>
                          <a:ea typeface="210 OmniGothic 040"/>
                          <a:cs typeface="210 OmniGothic 040"/>
                        </a:rPr>
                        <a:t>사람 (주 액터)</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300" b="0">
                          <a:solidFill>
                            <a:srgbClr val="2E3142"/>
                          </a:solidFill>
                          <a:latin typeface="210 OmniGothic 040"/>
                          <a:ea typeface="210 OmniGothic 040"/>
                          <a:cs typeface="210 OmniGothic 040"/>
                        </a:rPr>
                        <a:t>산불 현장의 지휘권을 가진 시장·군수·구청장. 예측을 돌리고, 제안을 검토하고, AI에 묻고 상황을 정정하고, 산불을 종료한다. 발화 정보를 직접 입력하지 않는다(상황 보고자 담당)</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300" b="0">
                          <a:solidFill>
                            <a:srgbClr val="2E3142"/>
                          </a:solidFill>
                          <a:latin typeface="210 OmniGothic 040"/>
                          <a:ea typeface="210 OmniGothic 040"/>
                          <a:cs typeface="210 OmniGothic 040"/>
                        </a:rPr>
                        <a:t>AUTH-01, SIT-01, SIT-02, SIT-03, PRED-01, PRED-02, PROP-01~04, QA-01, QA-02</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1"/>
                  </a:ext>
                </a:extLst>
              </a:tr>
              <a:tr h="596900">
                <a:tc>
                  <a:txBody>
                    <a:bodyPr/>
                    <a:lstStyle/>
                    <a:p>
                      <a:pPr algn="ctr"/>
                      <a:r>
                        <a:rPr sz="1300" b="1">
                          <a:solidFill>
                            <a:srgbClr val="2E3142"/>
                          </a:solidFill>
                          <a:latin typeface="210 OmniGothic 040"/>
                          <a:ea typeface="210 OmniGothic 040"/>
                          <a:cs typeface="210 OmniGothic 040"/>
                        </a:rPr>
                        <a:t>열람자</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3F4F8"/>
                    </a:solidFill>
                  </a:tcPr>
                </a:tc>
                <a:tc>
                  <a:txBody>
                    <a:bodyPr/>
                    <a:lstStyle/>
                    <a:p>
                      <a:pPr algn="ctr"/>
                      <a:r>
                        <a:rPr sz="1300" b="0">
                          <a:solidFill>
                            <a:srgbClr val="2E3142"/>
                          </a:solidFill>
                          <a:latin typeface="210 OmniGothic 040"/>
                          <a:ea typeface="210 OmniGothic 040"/>
                          <a:cs typeface="210 OmniGothic 040"/>
                        </a:rPr>
                        <a:t>사람</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300" b="0">
                          <a:solidFill>
                            <a:srgbClr val="2E3142"/>
                          </a:solidFill>
                          <a:latin typeface="210 OmniGothic 040"/>
                          <a:ea typeface="210 OmniGothic 040"/>
                          <a:cs typeface="210 OmniGothic 040"/>
                        </a:rPr>
                        <a:t>유관기관·상급 본부 담당자. 통합지휘권자와 같은 발생·접수 정보와 통합 상황도를 보기만 한다.</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300" b="0">
                          <a:solidFill>
                            <a:srgbClr val="2E3142"/>
                          </a:solidFill>
                          <a:latin typeface="210 OmniGothic 040"/>
                          <a:ea typeface="210 OmniGothic 040"/>
                          <a:cs typeface="210 OmniGothic 040"/>
                        </a:rPr>
                        <a:t>AUTH-01, SIT-02, SIT-03</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219001538"/>
                  </a:ext>
                </a:extLst>
              </a:tr>
              <a:tr h="1300225">
                <a:tc>
                  <a:txBody>
                    <a:bodyPr/>
                    <a:lstStyle/>
                    <a:p>
                      <a:pPr algn="ctr"/>
                      <a:r>
                        <a:rPr sz="1300" b="1">
                          <a:solidFill>
                            <a:srgbClr val="2E3142"/>
                          </a:solidFill>
                          <a:latin typeface="210 OmniGothic 040"/>
                          <a:ea typeface="210 OmniGothic 040"/>
                          <a:cs typeface="210 OmniGothic 040"/>
                        </a:rPr>
                        <a:t>상황 보고자</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3F4F8"/>
                    </a:solidFill>
                  </a:tcPr>
                </a:tc>
                <a:tc>
                  <a:txBody>
                    <a:bodyPr/>
                    <a:lstStyle/>
                    <a:p>
                      <a:pPr algn="ctr"/>
                      <a:r>
                        <a:rPr sz="1300" b="0">
                          <a:solidFill>
                            <a:srgbClr val="2E3142"/>
                          </a:solidFill>
                          <a:latin typeface="210 OmniGothic 040"/>
                          <a:ea typeface="210 OmniGothic 040"/>
                          <a:cs typeface="210 OmniGothic 040"/>
                        </a:rPr>
                        <a:t>사람 (입력 전담)</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300" b="0">
                          <a:solidFill>
                            <a:srgbClr val="2E3142"/>
                          </a:solidFill>
                          <a:latin typeface="210 OmniGothic 040"/>
                          <a:ea typeface="210 OmniGothic 040"/>
                          <a:cs typeface="210 OmniGothic 040"/>
                        </a:rPr>
                        <a:t>현장 상황을 시스템에 보고하는 단 하나의 역할을 맡은 사람. ① 산불 최초 보고: 발화 위치·발생 날짜·시각·신고 내용·접수 시각 ② 1시간마다 실측 화선(지금 타고 있는 범위를 그린 폴리곤) 보고, 초기대응에서는 생략 가능. 예측 실행·제안 열람·정정은 하지 않는다. 전용 화면(지도 + 상황 입력 판)을 쓰며, 계정 권한은 보고</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300" b="0">
                          <a:solidFill>
                            <a:srgbClr val="2E3142"/>
                          </a:solidFill>
                          <a:latin typeface="210 OmniGothic 040"/>
                          <a:ea typeface="210 OmniGothic 040"/>
                          <a:cs typeface="210 OmniGothic 040"/>
                        </a:rPr>
                        <a:t>REPORT-01, AUTH-01, SIT-02</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3444534192"/>
                  </a:ext>
                </a:extLst>
              </a:tr>
              <a:tr h="596900">
                <a:tc>
                  <a:txBody>
                    <a:bodyPr/>
                    <a:lstStyle/>
                    <a:p>
                      <a:pPr algn="ctr"/>
                      <a:r>
                        <a:rPr sz="1300" b="1">
                          <a:solidFill>
                            <a:srgbClr val="2E3142"/>
                          </a:solidFill>
                          <a:latin typeface="210 OmniGothic 040"/>
                          <a:ea typeface="210 OmniGothic 040"/>
                          <a:cs typeface="210 OmniGothic 040"/>
                        </a:rPr>
                        <a:t>전산 관리자</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3F4F8"/>
                    </a:solidFill>
                  </a:tcPr>
                </a:tc>
                <a:tc>
                  <a:txBody>
                    <a:bodyPr/>
                    <a:lstStyle/>
                    <a:p>
                      <a:pPr algn="ctr"/>
                      <a:r>
                        <a:rPr sz="1300" b="0">
                          <a:solidFill>
                            <a:srgbClr val="2E3142"/>
                          </a:solidFill>
                          <a:latin typeface="210 OmniGothic 040"/>
                          <a:ea typeface="210 OmniGothic 040"/>
                          <a:cs typeface="210 OmniGothic 040"/>
                        </a:rPr>
                        <a:t>사람 (평시)</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300" b="0">
                          <a:solidFill>
                            <a:srgbClr val="2E3142"/>
                          </a:solidFill>
                          <a:latin typeface="210 OmniGothic 040"/>
                          <a:ea typeface="210 OmniGothic 040"/>
                          <a:cs typeface="210 OmniGothic 040"/>
                        </a:rPr>
                        <a:t>개발자가 아니라 전산 시스템을 관리하는 사람. 계정 발급·회수와 진화자원 데이터 관리</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300" b="0">
                          <a:solidFill>
                            <a:srgbClr val="2E3142"/>
                          </a:solidFill>
                          <a:latin typeface="210 OmniGothic 040"/>
                          <a:ea typeface="210 OmniGothic 040"/>
                          <a:cs typeface="210 OmniGothic 040"/>
                        </a:rPr>
                        <a:t>AUTH-01, ADMIN-01, ADMIN-02</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18128582"/>
                  </a:ext>
                </a:extLst>
              </a:tr>
              <a:tr h="365760">
                <a:tc>
                  <a:txBody>
                    <a:bodyPr/>
                    <a:lstStyle/>
                    <a:p>
                      <a:pPr algn="ctr"/>
                      <a:r>
                        <a:rPr sz="1300" b="1">
                          <a:solidFill>
                            <a:srgbClr val="2E3142"/>
                          </a:solidFill>
                          <a:latin typeface="210 OmniGothic 040"/>
                          <a:ea typeface="210 OmniGothic 040"/>
                          <a:cs typeface="210 OmniGothic 040"/>
                        </a:rPr>
                        <a:t>확산예측 모듈</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3F4F8"/>
                    </a:solidFill>
                  </a:tcPr>
                </a:tc>
                <a:tc>
                  <a:txBody>
                    <a:bodyPr/>
                    <a:lstStyle/>
                    <a:p>
                      <a:pPr algn="ctr"/>
                      <a:r>
                        <a:rPr sz="1300" b="0">
                          <a:solidFill>
                            <a:srgbClr val="2E3142"/>
                          </a:solidFill>
                          <a:latin typeface="210 OmniGothic 040"/>
                          <a:ea typeface="210 OmniGothic 040"/>
                          <a:cs typeface="210 OmniGothic 040"/>
                        </a:rPr>
                        <a:t>시스템</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300" b="0">
                          <a:solidFill>
                            <a:srgbClr val="2E3142"/>
                          </a:solidFill>
                          <a:latin typeface="210 OmniGothic 040"/>
                          <a:ea typeface="210 OmniGothic 040"/>
                          <a:cs typeface="210 OmniGothic 040"/>
                        </a:rPr>
                        <a:t>실측 화선(없으면 발화점)·기상·지형·연료로 1시간 간격 누적 확산 범위 P1~P8을 계산</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300" b="0">
                          <a:solidFill>
                            <a:srgbClr val="2E3142"/>
                          </a:solidFill>
                          <a:latin typeface="210 OmniGothic 040"/>
                          <a:ea typeface="210 OmniGothic 040"/>
                          <a:cs typeface="210 OmniGothic 040"/>
                        </a:rPr>
                        <a:t>PRED-01</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2371393976"/>
                  </a:ext>
                </a:extLst>
              </a:tr>
              <a:tr h="831341">
                <a:tc>
                  <a:txBody>
                    <a:bodyPr/>
                    <a:lstStyle/>
                    <a:p>
                      <a:pPr algn="ctr"/>
                      <a:r>
                        <a:rPr sz="1300" b="1">
                          <a:solidFill>
                            <a:srgbClr val="2E3142"/>
                          </a:solidFill>
                          <a:latin typeface="210 OmniGothic 040"/>
                          <a:ea typeface="210 OmniGothic 040"/>
                          <a:cs typeface="210 OmniGothic 040"/>
                        </a:rPr>
                        <a:t>AI 모델</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3F4F8"/>
                    </a:solidFill>
                  </a:tcPr>
                </a:tc>
                <a:tc>
                  <a:txBody>
                    <a:bodyPr/>
                    <a:lstStyle/>
                    <a:p>
                      <a:pPr algn="ctr"/>
                      <a:r>
                        <a:rPr sz="1300" b="0">
                          <a:solidFill>
                            <a:srgbClr val="2E3142"/>
                          </a:solidFill>
                          <a:latin typeface="210 OmniGothic 040"/>
                          <a:ea typeface="210 OmniGothic 040"/>
                          <a:cs typeface="210 OmniGothic 040"/>
                        </a:rPr>
                        <a:t>시스템</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300" b="0">
                          <a:solidFill>
                            <a:srgbClr val="2E3142"/>
                          </a:solidFill>
                          <a:latin typeface="210 OmniGothic 040"/>
                          <a:ea typeface="210 OmniGothic 040"/>
                          <a:cs typeface="210 OmniGothic 040"/>
                        </a:rPr>
                        <a:t>시스템이 넘겨준 규칙 엔진 판정 값과 확산 범위 안 마을·시설·자원 데이터, 검색한 표준매뉴얼 근거로 진화·대피를 판단해 제안 문장·답변을 쓰고(판정 값은 바꾸지 않음), 정정 입력을 해석.</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300" b="0">
                          <a:solidFill>
                            <a:srgbClr val="2E3142"/>
                          </a:solidFill>
                          <a:latin typeface="210 OmniGothic 040"/>
                          <a:ea typeface="210 OmniGothic 040"/>
                          <a:cs typeface="210 OmniGothic 040"/>
                        </a:rPr>
                        <a:t>PRED-01, QA-01, QA-02</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452793712"/>
                  </a:ext>
                </a:extLst>
              </a:tr>
              <a:tr h="596900">
                <a:tc>
                  <a:txBody>
                    <a:bodyPr/>
                    <a:lstStyle/>
                    <a:p>
                      <a:pPr algn="ctr"/>
                      <a:r>
                        <a:rPr sz="1300" b="1">
                          <a:solidFill>
                            <a:srgbClr val="2E3142"/>
                          </a:solidFill>
                          <a:latin typeface="210 OmniGothic 040"/>
                          <a:ea typeface="210 OmniGothic 040"/>
                          <a:cs typeface="210 OmniGothic 040"/>
                        </a:rPr>
                        <a:t>기상청 API·공공데이터</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3F4F8"/>
                    </a:solidFill>
                  </a:tcPr>
                </a:tc>
                <a:tc>
                  <a:txBody>
                    <a:bodyPr/>
                    <a:lstStyle/>
                    <a:p>
                      <a:pPr algn="ctr"/>
                      <a:r>
                        <a:rPr sz="1300" b="0">
                          <a:solidFill>
                            <a:srgbClr val="2E3142"/>
                          </a:solidFill>
                          <a:latin typeface="210 OmniGothic 040"/>
                          <a:ea typeface="210 OmniGothic 040"/>
                          <a:cs typeface="210 OmniGothic 040"/>
                        </a:rPr>
                        <a:t>시스템</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300" b="0">
                          <a:solidFill>
                            <a:srgbClr val="2E3142"/>
                          </a:solidFill>
                          <a:latin typeface="210 OmniGothic 040"/>
                          <a:ea typeface="210 OmniGothic 040"/>
                          <a:cs typeface="210 OmniGothic 040"/>
                        </a:rPr>
                        <a:t>풍향·풍속·습도 등 기상과 마을·시설·도로·지형 공간 데이터 제공</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300" b="0">
                          <a:solidFill>
                            <a:srgbClr val="2E3142"/>
                          </a:solidFill>
                          <a:latin typeface="210 OmniGothic 040"/>
                          <a:ea typeface="210 OmniGothic 040"/>
                          <a:cs typeface="210 OmniGothic 040"/>
                        </a:rPr>
                        <a:t>SIT-03, PRED-02 (PRED-01에서도 기상 사용)</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802680747"/>
                  </a:ext>
                </a:extLst>
              </a:tr>
            </a:tbl>
          </a:graphicData>
        </a:graphic>
      </p:graphicFrame>
      <p:sp>
        <p:nvSpPr>
          <p:cNvPr id="5092" name="TextBox 5091"/>
          <p:cNvSpPr txBox="1"/>
          <p:nvPr/>
        </p:nvSpPr>
        <p:spPr>
          <a:xfrm>
            <a:off x="822960" y="8210042"/>
            <a:ext cx="16459200" cy="301752"/>
          </a:xfrm>
          <a:prstGeom prst="rect">
            <a:avLst/>
          </a:prstGeom>
          <a:noFill/>
        </p:spPr>
        <p:txBody>
          <a:bodyPr wrap="square" lIns="0" tIns="0" rIns="0" bIns="0" anchor="t">
            <a:spAutoFit/>
          </a:bodyPr>
          <a:lstStyle/>
          <a:p>
            <a:pPr algn="l"/>
            <a:r>
              <a:rPr sz="1150" b="0">
                <a:solidFill>
                  <a:srgbClr val="7B8094"/>
                </a:solidFill>
                <a:latin typeface="210 OmniGothic 030"/>
                <a:ea typeface="210 OmniGothic 030"/>
                <a:cs typeface="210 OmniGothic 030"/>
              </a:rPr>
              <a:t>※ 사람 액터 4 · 시스템 액터 3. 계정은 전산 관리자가 발급하며, 권한은 조작(통합지휘권자) · 열람(열람자) · 보고(상황 보고자) · 관리(전산 관리자)로 구분한다.</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90"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2700" y="-12700"/>
            <a:ext cx="18313400" cy="1638300"/>
          </a:xfrm>
          <a:prstGeom prst="rect">
            <a:avLst/>
          </a:prstGeom>
        </p:spPr>
      </p:pic>
      <p:pic>
        <p:nvPicPr>
          <p:cNvPr id="5091"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628" y="1618343"/>
            <a:ext cx="18313400" cy="8699500"/>
          </a:xfrm>
          <a:prstGeom prst="rect">
            <a:avLst/>
          </a:prstGeom>
        </p:spPr>
      </p:pic>
      <p:pic>
        <p:nvPicPr>
          <p:cNvPr id="5092"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58800" y="9271000"/>
            <a:ext cx="17170400" cy="50800"/>
          </a:xfrm>
          <a:prstGeom prst="rect">
            <a:avLst/>
          </a:prstGeom>
        </p:spPr>
      </p:pic>
      <p:pic>
        <p:nvPicPr>
          <p:cNvPr id="5093" name="Picture 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278100" y="203200"/>
            <a:ext cx="1676400" cy="1409700"/>
          </a:xfrm>
          <a:prstGeom prst="rect">
            <a:avLst/>
          </a:prstGeom>
        </p:spPr>
      </p:pic>
      <p:sp>
        <p:nvSpPr>
          <p:cNvPr id="5094" name="Title"/>
          <p:cNvSpPr txBox="1"/>
          <p:nvPr/>
        </p:nvSpPr>
        <p:spPr>
          <a:xfrm>
            <a:off x="822960" y="384048"/>
            <a:ext cx="13258800" cy="877824"/>
          </a:xfrm>
          <a:prstGeom prst="rect">
            <a:avLst/>
          </a:prstGeom>
          <a:noFill/>
        </p:spPr>
        <p:txBody>
          <a:bodyPr wrap="square" lIns="0" tIns="0" rIns="0" bIns="0" anchor="ctr">
            <a:spAutoFit/>
          </a:bodyPr>
          <a:lstStyle/>
          <a:p>
            <a:pPr algn="l"/>
            <a:r>
              <a:rPr sz="4400" b="0">
                <a:solidFill>
                  <a:srgbClr val="FAA95A"/>
                </a:solidFill>
                <a:latin typeface="210 OmniGothic 050"/>
                <a:ea typeface="210 OmniGothic 050"/>
                <a:cs typeface="210 OmniGothic 050"/>
              </a:rPr>
              <a:t>03. 유스케이스 다이어그램</a:t>
            </a:r>
          </a:p>
        </p:txBody>
      </p:sp>
      <p:sp>
        <p:nvSpPr>
          <p:cNvPr id="5095" name="Subtitle"/>
          <p:cNvSpPr txBox="1"/>
          <p:nvPr/>
        </p:nvSpPr>
        <p:spPr>
          <a:xfrm>
            <a:off x="822960" y="1764792"/>
            <a:ext cx="16642080" cy="502920"/>
          </a:xfrm>
          <a:prstGeom prst="rect">
            <a:avLst/>
          </a:prstGeom>
          <a:noFill/>
        </p:spPr>
        <p:txBody>
          <a:bodyPr wrap="square" lIns="0" tIns="0" rIns="0" bIns="0" anchor="ctr">
            <a:spAutoFit/>
          </a:bodyPr>
          <a:lstStyle/>
          <a:p>
            <a:pPr algn="ctr"/>
            <a:r>
              <a:rPr sz="2600" b="1">
                <a:solidFill>
                  <a:srgbClr val="363A52"/>
                </a:solidFill>
                <a:latin typeface="210 OmniGothic 040"/>
                <a:ea typeface="210 OmniGothic 040"/>
                <a:cs typeface="210 OmniGothic 040"/>
              </a:rPr>
              <a:t>2. 다이어그램</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sz="quarter" idx="12"/>
          </p:nvPr>
        </p:nvSpPr>
        <p:spPr/>
        <p:txBody>
          <a:bodyPr/>
          <a:lstStyle/>
          <a:p>
            <a:fld id="{B6F15528-21DE-4FAA-801E-634DDDAF4B2B}" type="slidenum">
              <a:rPr lang="en-US" smtClean="0"/>
              <a:pPr/>
              <a:t>17</a:t>
            </a:fld>
            <a:endParaRPr lang="en-US"/>
          </a:p>
        </p:txBody>
      </p:sp>
      <p:sp>
        <p:nvSpPr>
          <p:cNvPr id="5097" name="TextBox 5096"/>
          <p:cNvSpPr txBox="1"/>
          <p:nvPr/>
        </p:nvSpPr>
        <p:spPr>
          <a:xfrm>
            <a:off x="11932920" y="2377440"/>
            <a:ext cx="5715000" cy="6766560"/>
          </a:xfrm>
          <a:prstGeom prst="rect">
            <a:avLst/>
          </a:prstGeom>
          <a:noFill/>
        </p:spPr>
        <p:txBody>
          <a:bodyPr wrap="square">
            <a:spAutoFit/>
          </a:bodyPr>
          <a:lstStyle/>
          <a:p>
            <a:pPr>
              <a:spcBef>
                <a:spcPts val="0"/>
              </a:spcBef>
            </a:pPr>
            <a:r>
              <a:rPr sz="2000" b="1" dirty="0" err="1">
                <a:solidFill>
                  <a:srgbClr val="363A52"/>
                </a:solidFill>
                <a:latin typeface="210 OmniGothic 040"/>
                <a:ea typeface="210 OmniGothic 040"/>
                <a:cs typeface="210 OmniGothic 040"/>
              </a:rPr>
              <a:t>주요</a:t>
            </a:r>
            <a:r>
              <a:rPr sz="2000" b="1" dirty="0">
                <a:solidFill>
                  <a:srgbClr val="363A52"/>
                </a:solidFill>
                <a:latin typeface="210 OmniGothic 040"/>
                <a:ea typeface="210 OmniGothic 040"/>
                <a:cs typeface="210 OmniGothic 040"/>
              </a:rPr>
              <a:t> </a:t>
            </a:r>
            <a:r>
              <a:rPr sz="2000" b="1" dirty="0" err="1">
                <a:solidFill>
                  <a:srgbClr val="363A52"/>
                </a:solidFill>
                <a:latin typeface="210 OmniGothic 040"/>
                <a:ea typeface="210 OmniGothic 040"/>
                <a:cs typeface="210 OmniGothic 040"/>
              </a:rPr>
              <a:t>흐름</a:t>
            </a:r>
            <a:endParaRPr sz="2000" b="1" dirty="0">
              <a:solidFill>
                <a:srgbClr val="363A52"/>
              </a:solidFill>
              <a:latin typeface="210 OmniGothic 040"/>
              <a:ea typeface="210 OmniGothic 040"/>
              <a:cs typeface="210 OmniGothic 040"/>
            </a:endParaRPr>
          </a:p>
          <a:p>
            <a:pPr>
              <a:spcBef>
                <a:spcPts val="1000"/>
              </a:spcBef>
            </a:pPr>
            <a:r>
              <a:rPr sz="1600" b="1" dirty="0">
                <a:solidFill>
                  <a:srgbClr val="E87A1E"/>
                </a:solidFill>
                <a:latin typeface="210 OmniGothic 040"/>
                <a:ea typeface="210 OmniGothic 040"/>
                <a:cs typeface="210 OmniGothic 040"/>
              </a:rPr>
              <a:t>① </a:t>
            </a:r>
            <a:r>
              <a:rPr sz="1600" b="1" dirty="0" err="1">
                <a:solidFill>
                  <a:srgbClr val="E87A1E"/>
                </a:solidFill>
                <a:latin typeface="210 OmniGothic 040"/>
                <a:ea typeface="210 OmniGothic 040"/>
                <a:cs typeface="210 OmniGothic 040"/>
              </a:rPr>
              <a:t>평시</a:t>
            </a:r>
            <a:r>
              <a:rPr sz="1600" b="1" dirty="0">
                <a:solidFill>
                  <a:srgbClr val="E87A1E"/>
                </a:solidFill>
                <a:latin typeface="210 OmniGothic 040"/>
                <a:ea typeface="210 OmniGothic 040"/>
                <a:cs typeface="210 OmniGothic 040"/>
              </a:rPr>
              <a:t> </a:t>
            </a:r>
            <a:r>
              <a:rPr sz="1600" b="1" dirty="0" err="1">
                <a:solidFill>
                  <a:srgbClr val="E87A1E"/>
                </a:solidFill>
                <a:latin typeface="210 OmniGothic 040"/>
                <a:ea typeface="210 OmniGothic 040"/>
                <a:cs typeface="210 OmniGothic 040"/>
              </a:rPr>
              <a:t>준비</a:t>
            </a:r>
            <a:endParaRPr sz="1600" b="1" dirty="0">
              <a:solidFill>
                <a:srgbClr val="E87A1E"/>
              </a:solidFill>
              <a:latin typeface="210 OmniGothic 040"/>
              <a:ea typeface="210 OmniGothic 040"/>
              <a:cs typeface="210 OmniGothic 040"/>
            </a:endParaRPr>
          </a:p>
          <a:p>
            <a:pPr>
              <a:lnSpc>
                <a:spcPct val="115000"/>
              </a:lnSpc>
            </a:pPr>
            <a:r>
              <a:rPr sz="1400" dirty="0" err="1">
                <a:solidFill>
                  <a:srgbClr val="363A52"/>
                </a:solidFill>
                <a:latin typeface="210 OmniGothic 040"/>
                <a:ea typeface="210 OmniGothic 040"/>
                <a:cs typeface="210 OmniGothic 040"/>
              </a:rPr>
              <a:t>전산</a:t>
            </a:r>
            <a:r>
              <a:rPr sz="1400" dirty="0">
                <a:solidFill>
                  <a:srgbClr val="363A52"/>
                </a:solidFill>
                <a:latin typeface="210 OmniGothic 040"/>
                <a:ea typeface="210 OmniGothic 040"/>
                <a:cs typeface="210 OmniGothic 040"/>
              </a:rPr>
              <a:t> </a:t>
            </a:r>
            <a:r>
              <a:rPr sz="1400" dirty="0" err="1">
                <a:solidFill>
                  <a:srgbClr val="363A52"/>
                </a:solidFill>
                <a:latin typeface="210 OmniGothic 040"/>
                <a:ea typeface="210 OmniGothic 040"/>
                <a:cs typeface="210 OmniGothic 040"/>
              </a:rPr>
              <a:t>관리자가</a:t>
            </a:r>
            <a:r>
              <a:rPr sz="1400" dirty="0">
                <a:solidFill>
                  <a:srgbClr val="363A52"/>
                </a:solidFill>
                <a:latin typeface="210 OmniGothic 040"/>
                <a:ea typeface="210 OmniGothic 040"/>
                <a:cs typeface="210 OmniGothic 040"/>
              </a:rPr>
              <a:t> </a:t>
            </a:r>
            <a:r>
              <a:rPr sz="1400" dirty="0" err="1">
                <a:solidFill>
                  <a:srgbClr val="363A52"/>
                </a:solidFill>
                <a:latin typeface="210 OmniGothic 040"/>
                <a:ea typeface="210 OmniGothic 040"/>
                <a:cs typeface="210 OmniGothic 040"/>
              </a:rPr>
              <a:t>계정을</a:t>
            </a:r>
            <a:r>
              <a:rPr sz="1400" dirty="0">
                <a:solidFill>
                  <a:srgbClr val="363A52"/>
                </a:solidFill>
                <a:latin typeface="210 OmniGothic 040"/>
                <a:ea typeface="210 OmniGothic 040"/>
                <a:cs typeface="210 OmniGothic 040"/>
              </a:rPr>
              <a:t> </a:t>
            </a:r>
            <a:r>
              <a:rPr sz="1400" dirty="0" err="1">
                <a:solidFill>
                  <a:srgbClr val="363A52"/>
                </a:solidFill>
                <a:latin typeface="210 OmniGothic 040"/>
                <a:ea typeface="210 OmniGothic 040"/>
                <a:cs typeface="210 OmniGothic 040"/>
              </a:rPr>
              <a:t>발급하고</a:t>
            </a:r>
            <a:r>
              <a:rPr sz="1400" dirty="0">
                <a:solidFill>
                  <a:srgbClr val="363A52"/>
                </a:solidFill>
                <a:latin typeface="210 OmniGothic 040"/>
                <a:ea typeface="210 OmniGothic 040"/>
                <a:cs typeface="210 OmniGothic 040"/>
              </a:rPr>
              <a:t>(ADMIN-01) </a:t>
            </a:r>
            <a:r>
              <a:rPr sz="1400" dirty="0" err="1">
                <a:solidFill>
                  <a:srgbClr val="363A52"/>
                </a:solidFill>
                <a:latin typeface="210 OmniGothic 040"/>
                <a:ea typeface="210 OmniGothic 040"/>
                <a:cs typeface="210 OmniGothic 040"/>
              </a:rPr>
              <a:t>진화자원</a:t>
            </a:r>
            <a:r>
              <a:rPr sz="1400" dirty="0">
                <a:solidFill>
                  <a:srgbClr val="363A52"/>
                </a:solidFill>
                <a:latin typeface="210 OmniGothic 040"/>
                <a:ea typeface="210 OmniGothic 040"/>
                <a:cs typeface="210 OmniGothic 040"/>
              </a:rPr>
              <a:t> </a:t>
            </a:r>
            <a:r>
              <a:rPr sz="1400" dirty="0" err="1">
                <a:solidFill>
                  <a:srgbClr val="363A52"/>
                </a:solidFill>
                <a:latin typeface="210 OmniGothic 040"/>
                <a:ea typeface="210 OmniGothic 040"/>
                <a:cs typeface="210 OmniGothic 040"/>
              </a:rPr>
              <a:t>데이터를</a:t>
            </a:r>
            <a:r>
              <a:rPr sz="1400" dirty="0">
                <a:solidFill>
                  <a:srgbClr val="363A52"/>
                </a:solidFill>
                <a:latin typeface="210 OmniGothic 040"/>
                <a:ea typeface="210 OmniGothic 040"/>
                <a:cs typeface="210 OmniGothic 040"/>
              </a:rPr>
              <a:t> </a:t>
            </a:r>
            <a:r>
              <a:rPr sz="1400" dirty="0" err="1">
                <a:solidFill>
                  <a:srgbClr val="363A52"/>
                </a:solidFill>
                <a:latin typeface="210 OmniGothic 040"/>
                <a:ea typeface="210 OmniGothic 040"/>
                <a:cs typeface="210 OmniGothic 040"/>
              </a:rPr>
              <a:t>등록한다</a:t>
            </a:r>
            <a:r>
              <a:rPr sz="1400" dirty="0">
                <a:solidFill>
                  <a:srgbClr val="363A52"/>
                </a:solidFill>
                <a:latin typeface="210 OmniGothic 040"/>
                <a:ea typeface="210 OmniGothic 040"/>
                <a:cs typeface="210 OmniGothic 040"/>
              </a:rPr>
              <a:t>(ADMIN-02)</a:t>
            </a:r>
          </a:p>
          <a:p>
            <a:pPr>
              <a:spcBef>
                <a:spcPts val="1000"/>
              </a:spcBef>
            </a:pPr>
            <a:r>
              <a:rPr sz="1600" b="1" dirty="0">
                <a:solidFill>
                  <a:srgbClr val="E87A1E"/>
                </a:solidFill>
                <a:latin typeface="210 OmniGothic 040"/>
                <a:ea typeface="210 OmniGothic 040"/>
                <a:cs typeface="210 OmniGothic 040"/>
              </a:rPr>
              <a:t>② </a:t>
            </a:r>
            <a:r>
              <a:rPr sz="1600" b="1" dirty="0" err="1">
                <a:solidFill>
                  <a:srgbClr val="E87A1E"/>
                </a:solidFill>
                <a:latin typeface="210 OmniGothic 040"/>
                <a:ea typeface="210 OmniGothic 040"/>
                <a:cs typeface="210 OmniGothic 040"/>
              </a:rPr>
              <a:t>상황</a:t>
            </a:r>
            <a:r>
              <a:rPr sz="1600" b="1" dirty="0">
                <a:solidFill>
                  <a:srgbClr val="E87A1E"/>
                </a:solidFill>
                <a:latin typeface="210 OmniGothic 040"/>
                <a:ea typeface="210 OmniGothic 040"/>
                <a:cs typeface="210 OmniGothic 040"/>
              </a:rPr>
              <a:t> </a:t>
            </a:r>
            <a:r>
              <a:rPr sz="1600" b="1" dirty="0" err="1">
                <a:solidFill>
                  <a:srgbClr val="E87A1E"/>
                </a:solidFill>
                <a:latin typeface="210 OmniGothic 040"/>
                <a:ea typeface="210 OmniGothic 040"/>
                <a:cs typeface="210 OmniGothic 040"/>
              </a:rPr>
              <a:t>개시</a:t>
            </a:r>
            <a:endParaRPr sz="1600" b="1" dirty="0">
              <a:solidFill>
                <a:srgbClr val="E87A1E"/>
              </a:solidFill>
              <a:latin typeface="210 OmniGothic 040"/>
              <a:ea typeface="210 OmniGothic 040"/>
              <a:cs typeface="210 OmniGothic 040"/>
            </a:endParaRPr>
          </a:p>
          <a:p>
            <a:pPr>
              <a:lnSpc>
                <a:spcPct val="115000"/>
              </a:lnSpc>
            </a:pPr>
            <a:r>
              <a:rPr sz="1400" dirty="0" err="1">
                <a:solidFill>
                  <a:srgbClr val="363A52"/>
                </a:solidFill>
                <a:latin typeface="210 OmniGothic 040"/>
                <a:ea typeface="210 OmniGothic 040"/>
                <a:cs typeface="210 OmniGothic 040"/>
              </a:rPr>
              <a:t>상황</a:t>
            </a:r>
            <a:r>
              <a:rPr sz="1400" dirty="0">
                <a:solidFill>
                  <a:srgbClr val="363A52"/>
                </a:solidFill>
                <a:latin typeface="210 OmniGothic 040"/>
                <a:ea typeface="210 OmniGothic 040"/>
                <a:cs typeface="210 OmniGothic 040"/>
              </a:rPr>
              <a:t> </a:t>
            </a:r>
            <a:r>
              <a:rPr sz="1400" dirty="0" err="1">
                <a:solidFill>
                  <a:srgbClr val="363A52"/>
                </a:solidFill>
                <a:latin typeface="210 OmniGothic 040"/>
                <a:ea typeface="210 OmniGothic 040"/>
                <a:cs typeface="210 OmniGothic 040"/>
              </a:rPr>
              <a:t>보고자가</a:t>
            </a:r>
            <a:r>
              <a:rPr sz="1400" dirty="0">
                <a:solidFill>
                  <a:srgbClr val="363A52"/>
                </a:solidFill>
                <a:latin typeface="210 OmniGothic 040"/>
                <a:ea typeface="210 OmniGothic 040"/>
                <a:cs typeface="210 OmniGothic 040"/>
              </a:rPr>
              <a:t> </a:t>
            </a:r>
            <a:r>
              <a:rPr sz="1400" dirty="0" err="1">
                <a:solidFill>
                  <a:srgbClr val="363A52"/>
                </a:solidFill>
                <a:latin typeface="210 OmniGothic 040"/>
                <a:ea typeface="210 OmniGothic 040"/>
                <a:cs typeface="210 OmniGothic 040"/>
              </a:rPr>
              <a:t>로그인해</a:t>
            </a:r>
            <a:r>
              <a:rPr sz="1400" dirty="0">
                <a:solidFill>
                  <a:srgbClr val="363A52"/>
                </a:solidFill>
                <a:latin typeface="210 OmniGothic 040"/>
                <a:ea typeface="210 OmniGothic 040"/>
                <a:cs typeface="210 OmniGothic 040"/>
              </a:rPr>
              <a:t>(AUTH-01) </a:t>
            </a:r>
            <a:r>
              <a:rPr sz="1400" dirty="0" err="1">
                <a:solidFill>
                  <a:srgbClr val="363A52"/>
                </a:solidFill>
                <a:latin typeface="210 OmniGothic 040"/>
                <a:ea typeface="210 OmniGothic 040"/>
                <a:cs typeface="210 OmniGothic 040"/>
              </a:rPr>
              <a:t>발화</a:t>
            </a:r>
            <a:r>
              <a:rPr sz="1400" dirty="0">
                <a:solidFill>
                  <a:srgbClr val="363A52"/>
                </a:solidFill>
                <a:latin typeface="210 OmniGothic 040"/>
                <a:ea typeface="210 OmniGothic 040"/>
                <a:cs typeface="210 OmniGothic 040"/>
              </a:rPr>
              <a:t> </a:t>
            </a:r>
            <a:r>
              <a:rPr sz="1400" dirty="0" err="1">
                <a:solidFill>
                  <a:srgbClr val="363A52"/>
                </a:solidFill>
                <a:latin typeface="210 OmniGothic 040"/>
                <a:ea typeface="210 OmniGothic 040"/>
                <a:cs typeface="210 OmniGothic 040"/>
              </a:rPr>
              <a:t>정보와</a:t>
            </a:r>
            <a:r>
              <a:rPr sz="1400" dirty="0">
                <a:solidFill>
                  <a:srgbClr val="363A52"/>
                </a:solidFill>
                <a:latin typeface="210 OmniGothic 040"/>
                <a:ea typeface="210 OmniGothic 040"/>
                <a:cs typeface="210 OmniGothic 040"/>
              </a:rPr>
              <a:t> </a:t>
            </a:r>
            <a:r>
              <a:rPr sz="1400" dirty="0" err="1">
                <a:solidFill>
                  <a:srgbClr val="363A52"/>
                </a:solidFill>
                <a:latin typeface="210 OmniGothic 040"/>
                <a:ea typeface="210 OmniGothic 040"/>
                <a:cs typeface="210 OmniGothic 040"/>
              </a:rPr>
              <a:t>실측</a:t>
            </a:r>
            <a:r>
              <a:rPr sz="1400" dirty="0">
                <a:solidFill>
                  <a:srgbClr val="363A52"/>
                </a:solidFill>
                <a:latin typeface="210 OmniGothic 040"/>
                <a:ea typeface="210 OmniGothic 040"/>
                <a:cs typeface="210 OmniGothic 040"/>
              </a:rPr>
              <a:t> </a:t>
            </a:r>
            <a:r>
              <a:rPr sz="1400" dirty="0" err="1">
                <a:solidFill>
                  <a:srgbClr val="363A52"/>
                </a:solidFill>
                <a:latin typeface="210 OmniGothic 040"/>
                <a:ea typeface="210 OmniGothic 040"/>
                <a:cs typeface="210 OmniGothic 040"/>
              </a:rPr>
              <a:t>화선을</a:t>
            </a:r>
            <a:r>
              <a:rPr sz="1400" dirty="0">
                <a:solidFill>
                  <a:srgbClr val="363A52"/>
                </a:solidFill>
                <a:latin typeface="210 OmniGothic 040"/>
                <a:ea typeface="210 OmniGothic 040"/>
                <a:cs typeface="210 OmniGothic 040"/>
              </a:rPr>
              <a:t> </a:t>
            </a:r>
            <a:r>
              <a:rPr sz="1400" dirty="0" err="1">
                <a:solidFill>
                  <a:srgbClr val="363A52"/>
                </a:solidFill>
                <a:latin typeface="210 OmniGothic 040"/>
                <a:ea typeface="210 OmniGothic 040"/>
                <a:cs typeface="210 OmniGothic 040"/>
              </a:rPr>
              <a:t>보고하고</a:t>
            </a:r>
            <a:r>
              <a:rPr sz="1400" dirty="0">
                <a:solidFill>
                  <a:srgbClr val="363A52"/>
                </a:solidFill>
                <a:latin typeface="210 OmniGothic 040"/>
                <a:ea typeface="210 OmniGothic 040"/>
                <a:cs typeface="210 OmniGothic 040"/>
              </a:rPr>
              <a:t>(REPORT-01), </a:t>
            </a:r>
            <a:r>
              <a:rPr sz="1400" dirty="0" err="1">
                <a:solidFill>
                  <a:srgbClr val="363A52"/>
                </a:solidFill>
                <a:latin typeface="210 OmniGothic 040"/>
                <a:ea typeface="210 OmniGothic 040"/>
                <a:cs typeface="210 OmniGothic 040"/>
              </a:rPr>
              <a:t>통합지휘권자가</a:t>
            </a:r>
            <a:r>
              <a:rPr sz="1400" dirty="0">
                <a:solidFill>
                  <a:srgbClr val="363A52"/>
                </a:solidFill>
                <a:latin typeface="210 OmniGothic 040"/>
                <a:ea typeface="210 OmniGothic 040"/>
                <a:cs typeface="210 OmniGothic 040"/>
              </a:rPr>
              <a:t> </a:t>
            </a:r>
            <a:r>
              <a:rPr sz="1400" dirty="0" err="1">
                <a:solidFill>
                  <a:srgbClr val="363A52"/>
                </a:solidFill>
                <a:latin typeface="210 OmniGothic 040"/>
                <a:ea typeface="210 OmniGothic 040"/>
                <a:cs typeface="210 OmniGothic 040"/>
              </a:rPr>
              <a:t>발생·접수</a:t>
            </a:r>
            <a:r>
              <a:rPr sz="1400" dirty="0">
                <a:solidFill>
                  <a:srgbClr val="363A52"/>
                </a:solidFill>
                <a:latin typeface="210 OmniGothic 040"/>
                <a:ea typeface="210 OmniGothic 040"/>
                <a:cs typeface="210 OmniGothic 040"/>
              </a:rPr>
              <a:t> </a:t>
            </a:r>
            <a:r>
              <a:rPr sz="1400" dirty="0" err="1">
                <a:solidFill>
                  <a:srgbClr val="363A52"/>
                </a:solidFill>
                <a:latin typeface="210 OmniGothic 040"/>
                <a:ea typeface="210 OmniGothic 040"/>
                <a:cs typeface="210 OmniGothic 040"/>
              </a:rPr>
              <a:t>정보</a:t>
            </a:r>
            <a:r>
              <a:rPr sz="1400" dirty="0">
                <a:solidFill>
                  <a:srgbClr val="363A52"/>
                </a:solidFill>
                <a:latin typeface="210 OmniGothic 040"/>
                <a:ea typeface="210 OmniGothic 040"/>
                <a:cs typeface="210 OmniGothic 040"/>
              </a:rPr>
              <a:t>(SIT-02)와 </a:t>
            </a:r>
            <a:r>
              <a:rPr sz="1400" dirty="0" err="1">
                <a:solidFill>
                  <a:srgbClr val="363A52"/>
                </a:solidFill>
                <a:latin typeface="210 OmniGothic 040"/>
                <a:ea typeface="210 OmniGothic 040"/>
                <a:cs typeface="210 OmniGothic 040"/>
              </a:rPr>
              <a:t>통합</a:t>
            </a:r>
            <a:r>
              <a:rPr sz="1400" dirty="0">
                <a:solidFill>
                  <a:srgbClr val="363A52"/>
                </a:solidFill>
                <a:latin typeface="210 OmniGothic 040"/>
                <a:ea typeface="210 OmniGothic 040"/>
                <a:cs typeface="210 OmniGothic 040"/>
              </a:rPr>
              <a:t> </a:t>
            </a:r>
            <a:r>
              <a:rPr sz="1400" dirty="0" err="1">
                <a:solidFill>
                  <a:srgbClr val="363A52"/>
                </a:solidFill>
                <a:latin typeface="210 OmniGothic 040"/>
                <a:ea typeface="210 OmniGothic 040"/>
                <a:cs typeface="210 OmniGothic 040"/>
              </a:rPr>
              <a:t>상황도</a:t>
            </a:r>
            <a:r>
              <a:rPr sz="1400" dirty="0">
                <a:solidFill>
                  <a:srgbClr val="363A52"/>
                </a:solidFill>
                <a:latin typeface="210 OmniGothic 040"/>
                <a:ea typeface="210 OmniGothic 040"/>
                <a:cs typeface="210 OmniGothic 040"/>
              </a:rPr>
              <a:t>(SIT-03)를 </a:t>
            </a:r>
            <a:r>
              <a:rPr sz="1400" dirty="0" err="1">
                <a:solidFill>
                  <a:srgbClr val="363A52"/>
                </a:solidFill>
                <a:latin typeface="210 OmniGothic 040"/>
                <a:ea typeface="210 OmniGothic 040"/>
                <a:cs typeface="210 OmniGothic 040"/>
              </a:rPr>
              <a:t>확인한다</a:t>
            </a:r>
            <a:endParaRPr sz="1400" dirty="0">
              <a:solidFill>
                <a:srgbClr val="363A52"/>
              </a:solidFill>
              <a:latin typeface="210 OmniGothic 040"/>
              <a:ea typeface="210 OmniGothic 040"/>
              <a:cs typeface="210 OmniGothic 040"/>
            </a:endParaRPr>
          </a:p>
          <a:p>
            <a:pPr>
              <a:spcBef>
                <a:spcPts val="1000"/>
              </a:spcBef>
            </a:pPr>
            <a:r>
              <a:rPr sz="1600" b="1" dirty="0">
                <a:solidFill>
                  <a:srgbClr val="E87A1E"/>
                </a:solidFill>
                <a:latin typeface="210 OmniGothic 040"/>
                <a:ea typeface="210 OmniGothic 040"/>
                <a:cs typeface="210 OmniGothic 040"/>
              </a:rPr>
              <a:t>③ </a:t>
            </a:r>
            <a:r>
              <a:rPr sz="1600" b="1" dirty="0" err="1">
                <a:solidFill>
                  <a:srgbClr val="E87A1E"/>
                </a:solidFill>
                <a:latin typeface="210 OmniGothic 040"/>
                <a:ea typeface="210 OmniGothic 040"/>
                <a:cs typeface="210 OmniGothic 040"/>
              </a:rPr>
              <a:t>예측</a:t>
            </a:r>
            <a:r>
              <a:rPr sz="1600" b="1" dirty="0">
                <a:solidFill>
                  <a:srgbClr val="E87A1E"/>
                </a:solidFill>
                <a:latin typeface="210 OmniGothic 040"/>
                <a:ea typeface="210 OmniGothic 040"/>
                <a:cs typeface="210 OmniGothic 040"/>
              </a:rPr>
              <a:t> → </a:t>
            </a:r>
            <a:r>
              <a:rPr sz="1600" b="1" dirty="0" err="1">
                <a:solidFill>
                  <a:srgbClr val="E87A1E"/>
                </a:solidFill>
                <a:latin typeface="210 OmniGothic 040"/>
                <a:ea typeface="210 OmniGothic 040"/>
                <a:cs typeface="210 OmniGothic 040"/>
              </a:rPr>
              <a:t>제안</a:t>
            </a:r>
            <a:endParaRPr sz="1600" b="1" dirty="0">
              <a:solidFill>
                <a:srgbClr val="E87A1E"/>
              </a:solidFill>
              <a:latin typeface="210 OmniGothic 040"/>
              <a:ea typeface="210 OmniGothic 040"/>
              <a:cs typeface="210 OmniGothic 040"/>
            </a:endParaRPr>
          </a:p>
          <a:p>
            <a:pPr>
              <a:lnSpc>
                <a:spcPct val="115000"/>
              </a:lnSpc>
            </a:pPr>
            <a:r>
              <a:rPr sz="1400" dirty="0" err="1">
                <a:solidFill>
                  <a:srgbClr val="363A52"/>
                </a:solidFill>
                <a:latin typeface="210 OmniGothic 040"/>
                <a:ea typeface="210 OmniGothic 040"/>
                <a:cs typeface="210 OmniGothic 040"/>
              </a:rPr>
              <a:t>확산 예측을 실행하면</a:t>
            </a:r>
            <a:r>
              <a:rPr sz="1400" dirty="0" err="1">
                <a:solidFill>
                  <a:srgbClr val="FF0000"/>
                </a:solidFill>
                <a:latin typeface="210 OmniGothic 040"/>
                <a:ea typeface="210 OmniGothic 040"/>
                <a:cs typeface="210 OmniGothic 040"/>
              </a:rPr>
              <a:t> P5 위험도와</a:t>
            </a:r>
            <a:r>
              <a:rPr sz="1400" dirty="0" err="1">
                <a:solidFill>
                  <a:srgbClr val="363A52"/>
                </a:solidFill>
                <a:latin typeface="210 OmniGothic 040"/>
                <a:ea typeface="210 OmniGothic 040"/>
                <a:cs typeface="210 OmniGothic 040"/>
              </a:rPr>
              <a:t> 제안서가 생성된다(PRED-01). </a:t>
            </a:r>
            <a:r>
              <a:rPr sz="1400" dirty="0" err="1">
                <a:solidFill>
                  <a:srgbClr val="FF0000"/>
                </a:solidFill>
                <a:latin typeface="210 OmniGothic 040"/>
                <a:ea typeface="210 OmniGothic 040"/>
                <a:cs typeface="210 OmniGothic 040"/>
              </a:rPr>
              <a:t>위험도를 확인하고(PRED-02) </a:t>
            </a:r>
            <a:r>
              <a:rPr sz="1400" dirty="0" err="1">
                <a:solidFill>
                  <a:srgbClr val="363A52"/>
                </a:solidFill>
                <a:latin typeface="210 OmniGothic 040"/>
                <a:ea typeface="210 OmniGothic 040"/>
                <a:cs typeface="210 OmniGothic 040"/>
              </a:rPr>
              <a:t>진화·대피 제안을 열람하</a:t>
            </a:r>
            <a:r>
              <a:rPr sz="1400" dirty="0" err="1">
                <a:solidFill>
                  <a:srgbClr val="FF0000"/>
                </a:solidFill>
                <a:latin typeface="210 OmniGothic 040"/>
                <a:ea typeface="210 OmniGothic 040"/>
                <a:cs typeface="210 OmniGothic 040"/>
              </a:rPr>
              <a:t>며</a:t>
            </a:r>
            <a:r>
              <a:rPr sz="1400" dirty="0">
                <a:solidFill>
                  <a:srgbClr val="363A52"/>
                </a:solidFill>
                <a:latin typeface="210 OmniGothic 040"/>
                <a:ea typeface="210 OmniGothic 040"/>
                <a:cs typeface="210 OmniGothic 040"/>
              </a:rPr>
              <a:t>(PROP-01·02) </a:t>
            </a:r>
            <a:r>
              <a:rPr sz="1400" dirty="0" err="1">
                <a:solidFill>
                  <a:srgbClr val="363A52"/>
                </a:solidFill>
                <a:latin typeface="210 OmniGothic 040"/>
                <a:ea typeface="210 OmniGothic 040"/>
                <a:cs typeface="210 OmniGothic 040"/>
              </a:rPr>
              <a:t>근거를</a:t>
            </a:r>
            <a:r>
              <a:rPr sz="1400" dirty="0">
                <a:solidFill>
                  <a:srgbClr val="363A52"/>
                </a:solidFill>
                <a:latin typeface="210 OmniGothic 040"/>
                <a:ea typeface="210 OmniGothic 040"/>
                <a:cs typeface="210 OmniGothic 040"/>
              </a:rPr>
              <a:t> </a:t>
            </a:r>
            <a:r>
              <a:rPr sz="1400" dirty="0" err="1">
                <a:solidFill>
                  <a:srgbClr val="363A52"/>
                </a:solidFill>
                <a:latin typeface="210 OmniGothic 040"/>
                <a:ea typeface="210 OmniGothic 040"/>
                <a:cs typeface="210 OmniGothic 040"/>
              </a:rPr>
              <a:t>조회한다</a:t>
            </a:r>
            <a:r>
              <a:rPr sz="1400" dirty="0">
                <a:solidFill>
                  <a:srgbClr val="363A52"/>
                </a:solidFill>
                <a:latin typeface="210 OmniGothic 040"/>
                <a:ea typeface="210 OmniGothic 040"/>
                <a:cs typeface="210 OmniGothic 040"/>
              </a:rPr>
              <a:t>(PROP-03 «extend»)</a:t>
            </a:r>
          </a:p>
          <a:p>
            <a:pPr>
              <a:spcBef>
                <a:spcPts val="1000"/>
              </a:spcBef>
            </a:pPr>
            <a:r>
              <a:rPr sz="1600" b="1" dirty="0">
                <a:solidFill>
                  <a:srgbClr val="E87A1E"/>
                </a:solidFill>
                <a:latin typeface="210 OmniGothic 040"/>
                <a:ea typeface="210 OmniGothic 040"/>
                <a:cs typeface="210 OmniGothic 040"/>
              </a:rPr>
              <a:t>④ </a:t>
            </a:r>
            <a:r>
              <a:rPr sz="1600" b="1" dirty="0" err="1">
                <a:solidFill>
                  <a:srgbClr val="E87A1E"/>
                </a:solidFill>
                <a:latin typeface="210 OmniGothic 040"/>
                <a:ea typeface="210 OmniGothic 040"/>
                <a:cs typeface="210 OmniGothic 040"/>
              </a:rPr>
              <a:t>질의</a:t>
            </a:r>
            <a:r>
              <a:rPr sz="1600" b="1" dirty="0">
                <a:solidFill>
                  <a:srgbClr val="E87A1E"/>
                </a:solidFill>
                <a:latin typeface="210 OmniGothic 040"/>
                <a:ea typeface="210 OmniGothic 040"/>
                <a:cs typeface="210 OmniGothic 040"/>
              </a:rPr>
              <a:t> → </a:t>
            </a:r>
            <a:r>
              <a:rPr sz="1600" b="1" dirty="0" err="1">
                <a:solidFill>
                  <a:srgbClr val="E87A1E"/>
                </a:solidFill>
                <a:latin typeface="210 OmniGothic 040"/>
                <a:ea typeface="210 OmniGothic 040"/>
                <a:cs typeface="210 OmniGothic 040"/>
              </a:rPr>
              <a:t>정정</a:t>
            </a:r>
            <a:endParaRPr sz="1600" b="1" dirty="0">
              <a:solidFill>
                <a:srgbClr val="E87A1E"/>
              </a:solidFill>
              <a:latin typeface="210 OmniGothic 040"/>
              <a:ea typeface="210 OmniGothic 040"/>
              <a:cs typeface="210 OmniGothic 040"/>
            </a:endParaRPr>
          </a:p>
          <a:p>
            <a:pPr>
              <a:lnSpc>
                <a:spcPct val="115000"/>
              </a:lnSpc>
            </a:pPr>
            <a:r>
              <a:rPr sz="1400" dirty="0">
                <a:solidFill>
                  <a:srgbClr val="363A52"/>
                </a:solidFill>
                <a:latin typeface="210 OmniGothic 040"/>
                <a:ea typeface="210 OmniGothic 040"/>
                <a:cs typeface="210 OmniGothic 040"/>
              </a:rPr>
              <a:t>AI </a:t>
            </a:r>
            <a:r>
              <a:rPr sz="1400" dirty="0" err="1">
                <a:solidFill>
                  <a:srgbClr val="363A52"/>
                </a:solidFill>
                <a:latin typeface="210 OmniGothic 040"/>
                <a:ea typeface="210 OmniGothic 040"/>
                <a:cs typeface="210 OmniGothic 040"/>
              </a:rPr>
              <a:t>어시스턴트에</a:t>
            </a:r>
            <a:r>
              <a:rPr sz="1400" dirty="0">
                <a:solidFill>
                  <a:srgbClr val="363A52"/>
                </a:solidFill>
                <a:latin typeface="210 OmniGothic 040"/>
                <a:ea typeface="210 OmniGothic 040"/>
                <a:cs typeface="210 OmniGothic 040"/>
              </a:rPr>
              <a:t> </a:t>
            </a:r>
            <a:r>
              <a:rPr sz="1400" dirty="0" err="1">
                <a:solidFill>
                  <a:srgbClr val="363A52"/>
                </a:solidFill>
                <a:latin typeface="210 OmniGothic 040"/>
                <a:ea typeface="210 OmniGothic 040"/>
                <a:cs typeface="210 OmniGothic 040"/>
              </a:rPr>
              <a:t>묻고</a:t>
            </a:r>
            <a:r>
              <a:rPr sz="1400" dirty="0">
                <a:solidFill>
                  <a:srgbClr val="363A52"/>
                </a:solidFill>
                <a:latin typeface="210 OmniGothic 040"/>
                <a:ea typeface="210 OmniGothic 040"/>
                <a:cs typeface="210 OmniGothic 040"/>
              </a:rPr>
              <a:t>(QA-01), </a:t>
            </a:r>
            <a:r>
              <a:rPr sz="1400" dirty="0" err="1">
                <a:solidFill>
                  <a:srgbClr val="363A52"/>
                </a:solidFill>
                <a:latin typeface="210 OmniGothic 040"/>
                <a:ea typeface="210 OmniGothic 040"/>
                <a:cs typeface="210 OmniGothic 040"/>
              </a:rPr>
              <a:t>상황</a:t>
            </a:r>
            <a:r>
              <a:rPr sz="1400" dirty="0">
                <a:solidFill>
                  <a:srgbClr val="363A52"/>
                </a:solidFill>
                <a:latin typeface="210 OmniGothic 040"/>
                <a:ea typeface="210 OmniGothic 040"/>
                <a:cs typeface="210 OmniGothic 040"/>
              </a:rPr>
              <a:t> </a:t>
            </a:r>
            <a:r>
              <a:rPr sz="1400" dirty="0" err="1">
                <a:solidFill>
                  <a:srgbClr val="363A52"/>
                </a:solidFill>
                <a:latin typeface="210 OmniGothic 040"/>
                <a:ea typeface="210 OmniGothic 040"/>
                <a:cs typeface="210 OmniGothic 040"/>
              </a:rPr>
              <a:t>변화를</a:t>
            </a:r>
            <a:r>
              <a:rPr sz="1400" dirty="0">
                <a:solidFill>
                  <a:srgbClr val="363A52"/>
                </a:solidFill>
                <a:latin typeface="210 OmniGothic 040"/>
                <a:ea typeface="210 OmniGothic 040"/>
                <a:cs typeface="210 OmniGothic 040"/>
              </a:rPr>
              <a:t> </a:t>
            </a:r>
            <a:r>
              <a:rPr sz="1400" dirty="0" err="1">
                <a:solidFill>
                  <a:srgbClr val="363A52"/>
                </a:solidFill>
                <a:latin typeface="210 OmniGothic 040"/>
                <a:ea typeface="210 OmniGothic 040"/>
                <a:cs typeface="210 OmniGothic 040"/>
              </a:rPr>
              <a:t>정정하면</a:t>
            </a:r>
            <a:r>
              <a:rPr sz="1400" dirty="0">
                <a:solidFill>
                  <a:srgbClr val="363A52"/>
                </a:solidFill>
                <a:latin typeface="210 OmniGothic 040"/>
                <a:ea typeface="210 OmniGothic 040"/>
                <a:cs typeface="210 OmniGothic 040"/>
              </a:rPr>
              <a:t> </a:t>
            </a:r>
            <a:r>
              <a:rPr sz="1400" dirty="0" err="1">
                <a:solidFill>
                  <a:srgbClr val="363A52"/>
                </a:solidFill>
                <a:latin typeface="210 OmniGothic 040"/>
                <a:ea typeface="210 OmniGothic 040"/>
                <a:cs typeface="210 OmniGothic 040"/>
              </a:rPr>
              <a:t>제안서가</a:t>
            </a:r>
            <a:r>
              <a:rPr sz="1400" dirty="0">
                <a:solidFill>
                  <a:srgbClr val="363A52"/>
                </a:solidFill>
                <a:latin typeface="210 OmniGothic 040"/>
                <a:ea typeface="210 OmniGothic 040"/>
                <a:cs typeface="210 OmniGothic 040"/>
              </a:rPr>
              <a:t> </a:t>
            </a:r>
            <a:r>
              <a:rPr sz="1400" dirty="0" err="1">
                <a:solidFill>
                  <a:srgbClr val="363A52"/>
                </a:solidFill>
                <a:latin typeface="210 OmniGothic 040"/>
                <a:ea typeface="210 OmniGothic 040"/>
                <a:cs typeface="210 OmniGothic 040"/>
              </a:rPr>
              <a:t>다시</a:t>
            </a:r>
            <a:r>
              <a:rPr sz="1400" dirty="0">
                <a:solidFill>
                  <a:srgbClr val="363A52"/>
                </a:solidFill>
                <a:latin typeface="210 OmniGothic 040"/>
                <a:ea typeface="210 OmniGothic 040"/>
                <a:cs typeface="210 OmniGothic 040"/>
              </a:rPr>
              <a:t> </a:t>
            </a:r>
            <a:r>
              <a:rPr sz="1400" dirty="0" err="1">
                <a:solidFill>
                  <a:srgbClr val="363A52"/>
                </a:solidFill>
                <a:latin typeface="210 OmniGothic 040"/>
                <a:ea typeface="210 OmniGothic 040"/>
                <a:cs typeface="210 OmniGothic 040"/>
              </a:rPr>
              <a:t>생성된다</a:t>
            </a:r>
            <a:r>
              <a:rPr sz="1400" dirty="0">
                <a:solidFill>
                  <a:srgbClr val="363A52"/>
                </a:solidFill>
                <a:latin typeface="210 OmniGothic 040"/>
                <a:ea typeface="210 OmniGothic 040"/>
                <a:cs typeface="210 OmniGothic 040"/>
              </a:rPr>
              <a:t>(QA-02). </a:t>
            </a:r>
            <a:r>
              <a:rPr sz="1400" dirty="0" err="1">
                <a:solidFill>
                  <a:srgbClr val="363A52"/>
                </a:solidFill>
                <a:latin typeface="210 OmniGothic 040"/>
                <a:ea typeface="210 OmniGothic 040"/>
                <a:cs typeface="210 OmniGothic 040"/>
              </a:rPr>
              <a:t>변경</a:t>
            </a:r>
            <a:r>
              <a:rPr sz="1400" dirty="0">
                <a:solidFill>
                  <a:srgbClr val="363A52"/>
                </a:solidFill>
                <a:latin typeface="210 OmniGothic 040"/>
                <a:ea typeface="210 OmniGothic 040"/>
                <a:cs typeface="210 OmniGothic 040"/>
              </a:rPr>
              <a:t> </a:t>
            </a:r>
            <a:r>
              <a:rPr sz="1400" dirty="0" err="1">
                <a:solidFill>
                  <a:srgbClr val="363A52"/>
                </a:solidFill>
                <a:latin typeface="210 OmniGothic 040"/>
                <a:ea typeface="210 OmniGothic 040"/>
                <a:cs typeface="210 OmniGothic 040"/>
              </a:rPr>
              <a:t>내용은</a:t>
            </a:r>
            <a:r>
              <a:rPr sz="1400" dirty="0">
                <a:solidFill>
                  <a:srgbClr val="363A52"/>
                </a:solidFill>
                <a:latin typeface="210 OmniGothic 040"/>
                <a:ea typeface="210 OmniGothic 040"/>
                <a:cs typeface="210 OmniGothic 040"/>
              </a:rPr>
              <a:t> </a:t>
            </a:r>
            <a:r>
              <a:rPr sz="1400" dirty="0" err="1">
                <a:solidFill>
                  <a:srgbClr val="363A52"/>
                </a:solidFill>
                <a:latin typeface="210 OmniGothic 040"/>
                <a:ea typeface="210 OmniGothic 040"/>
                <a:cs typeface="210 OmniGothic 040"/>
              </a:rPr>
              <a:t>이력에서</a:t>
            </a:r>
            <a:r>
              <a:rPr sz="1400" dirty="0">
                <a:solidFill>
                  <a:srgbClr val="363A52"/>
                </a:solidFill>
                <a:latin typeface="210 OmniGothic 040"/>
                <a:ea typeface="210 OmniGothic 040"/>
                <a:cs typeface="210 OmniGothic 040"/>
              </a:rPr>
              <a:t> </a:t>
            </a:r>
            <a:r>
              <a:rPr sz="1400" dirty="0" err="1">
                <a:solidFill>
                  <a:srgbClr val="363A52"/>
                </a:solidFill>
                <a:latin typeface="210 OmniGothic 040"/>
                <a:ea typeface="210 OmniGothic 040"/>
                <a:cs typeface="210 OmniGothic 040"/>
              </a:rPr>
              <a:t>확인한다</a:t>
            </a:r>
            <a:r>
              <a:rPr sz="1400" dirty="0">
                <a:solidFill>
                  <a:srgbClr val="363A52"/>
                </a:solidFill>
                <a:latin typeface="210 OmniGothic 040"/>
                <a:ea typeface="210 OmniGothic 040"/>
                <a:cs typeface="210 OmniGothic 040"/>
              </a:rPr>
              <a:t>(PROP-04 «extend»)</a:t>
            </a:r>
          </a:p>
          <a:p>
            <a:pPr>
              <a:spcBef>
                <a:spcPts val="1000"/>
              </a:spcBef>
            </a:pPr>
            <a:r>
              <a:rPr sz="1600" b="1" dirty="0">
                <a:solidFill>
                  <a:srgbClr val="E87A1E"/>
                </a:solidFill>
                <a:latin typeface="210 OmniGothic 040"/>
                <a:ea typeface="210 OmniGothic 040"/>
                <a:cs typeface="210 OmniGothic 040"/>
              </a:rPr>
              <a:t>⑤ 1시간 </a:t>
            </a:r>
            <a:r>
              <a:rPr sz="1600" b="1" dirty="0" err="1">
                <a:solidFill>
                  <a:srgbClr val="E87A1E"/>
                </a:solidFill>
                <a:latin typeface="210 OmniGothic 040"/>
                <a:ea typeface="210 OmniGothic 040"/>
                <a:cs typeface="210 OmniGothic 040"/>
              </a:rPr>
              <a:t>갱신</a:t>
            </a:r>
            <a:endParaRPr sz="1600" b="1" dirty="0">
              <a:solidFill>
                <a:srgbClr val="E87A1E"/>
              </a:solidFill>
              <a:latin typeface="210 OmniGothic 040"/>
              <a:ea typeface="210 OmniGothic 040"/>
              <a:cs typeface="210 OmniGothic 040"/>
            </a:endParaRPr>
          </a:p>
          <a:p>
            <a:pPr>
              <a:lnSpc>
                <a:spcPct val="115000"/>
              </a:lnSpc>
            </a:pPr>
            <a:r>
              <a:rPr sz="1400" dirty="0">
                <a:solidFill>
                  <a:srgbClr val="363A52"/>
                </a:solidFill>
                <a:latin typeface="210 OmniGothic 040"/>
                <a:ea typeface="210 OmniGothic 040"/>
                <a:cs typeface="210 OmniGothic 040"/>
              </a:rPr>
              <a:t>새 </a:t>
            </a:r>
            <a:r>
              <a:rPr sz="1400" dirty="0" err="1">
                <a:solidFill>
                  <a:srgbClr val="363A52"/>
                </a:solidFill>
                <a:latin typeface="210 OmniGothic 040"/>
                <a:ea typeface="210 OmniGothic 040"/>
                <a:cs typeface="210 OmniGothic 040"/>
              </a:rPr>
              <a:t>실측</a:t>
            </a:r>
            <a:r>
              <a:rPr sz="1400" dirty="0">
                <a:solidFill>
                  <a:srgbClr val="363A52"/>
                </a:solidFill>
                <a:latin typeface="210 OmniGothic 040"/>
                <a:ea typeface="210 OmniGothic 040"/>
                <a:cs typeface="210 OmniGothic 040"/>
              </a:rPr>
              <a:t> </a:t>
            </a:r>
            <a:r>
              <a:rPr sz="1400" dirty="0" err="1">
                <a:solidFill>
                  <a:srgbClr val="363A52"/>
                </a:solidFill>
                <a:latin typeface="210 OmniGothic 040"/>
                <a:ea typeface="210 OmniGothic 040"/>
                <a:cs typeface="210 OmniGothic 040"/>
              </a:rPr>
              <a:t>화선이</a:t>
            </a:r>
            <a:r>
              <a:rPr sz="1400" dirty="0">
                <a:solidFill>
                  <a:srgbClr val="363A52"/>
                </a:solidFill>
                <a:latin typeface="210 OmniGothic 040"/>
                <a:ea typeface="210 OmniGothic 040"/>
                <a:cs typeface="210 OmniGothic 040"/>
              </a:rPr>
              <a:t> </a:t>
            </a:r>
            <a:r>
              <a:rPr sz="1400" dirty="0" err="1">
                <a:solidFill>
                  <a:srgbClr val="363A52"/>
                </a:solidFill>
                <a:latin typeface="210 OmniGothic 040"/>
                <a:ea typeface="210 OmniGothic 040"/>
                <a:cs typeface="210 OmniGothic 040"/>
              </a:rPr>
              <a:t>보고되면</a:t>
            </a:r>
            <a:r>
              <a:rPr sz="1400" dirty="0">
                <a:solidFill>
                  <a:srgbClr val="363A52"/>
                </a:solidFill>
                <a:latin typeface="210 OmniGothic 040"/>
                <a:ea typeface="210 OmniGothic 040"/>
                <a:cs typeface="210 OmniGothic 040"/>
              </a:rPr>
              <a:t>(REPORT-01) 「</a:t>
            </a:r>
            <a:r>
              <a:rPr sz="1400" dirty="0" err="1">
                <a:solidFill>
                  <a:srgbClr val="363A52"/>
                </a:solidFill>
                <a:latin typeface="210 OmniGothic 040"/>
                <a:ea typeface="210 OmniGothic 040"/>
                <a:cs typeface="210 OmniGothic 040"/>
              </a:rPr>
              <a:t>다시</a:t>
            </a:r>
            <a:r>
              <a:rPr sz="1400" dirty="0">
                <a:solidFill>
                  <a:srgbClr val="363A52"/>
                </a:solidFill>
                <a:latin typeface="210 OmniGothic 040"/>
                <a:ea typeface="210 OmniGothic 040"/>
                <a:cs typeface="210 OmniGothic 040"/>
              </a:rPr>
              <a:t> </a:t>
            </a:r>
            <a:r>
              <a:rPr sz="1400" dirty="0" err="1">
                <a:solidFill>
                  <a:srgbClr val="363A52"/>
                </a:solidFill>
                <a:latin typeface="210 OmniGothic 040"/>
                <a:ea typeface="210 OmniGothic 040"/>
                <a:cs typeface="210 OmniGothic 040"/>
              </a:rPr>
              <a:t>예측」으로</a:t>
            </a:r>
            <a:r>
              <a:rPr sz="1400" dirty="0">
                <a:solidFill>
                  <a:srgbClr val="363A52"/>
                </a:solidFill>
                <a:latin typeface="210 OmniGothic 040"/>
                <a:ea typeface="210 OmniGothic 040"/>
                <a:cs typeface="210 OmniGothic 040"/>
              </a:rPr>
              <a:t> 새 </a:t>
            </a:r>
            <a:r>
              <a:rPr sz="1400" dirty="0" err="1">
                <a:solidFill>
                  <a:srgbClr val="363A52"/>
                </a:solidFill>
                <a:latin typeface="210 OmniGothic 040"/>
                <a:ea typeface="210 OmniGothic 040"/>
                <a:cs typeface="210 OmniGothic 040"/>
              </a:rPr>
              <a:t>버전을</a:t>
            </a:r>
            <a:r>
              <a:rPr sz="1400" dirty="0">
                <a:solidFill>
                  <a:srgbClr val="363A52"/>
                </a:solidFill>
                <a:latin typeface="210 OmniGothic 040"/>
                <a:ea typeface="210 OmniGothic 040"/>
                <a:cs typeface="210 OmniGothic 040"/>
              </a:rPr>
              <a:t> </a:t>
            </a:r>
            <a:r>
              <a:rPr sz="1400" dirty="0" err="1">
                <a:solidFill>
                  <a:srgbClr val="363A52"/>
                </a:solidFill>
                <a:latin typeface="210 OmniGothic 040"/>
                <a:ea typeface="210 OmniGothic 040"/>
                <a:cs typeface="210 OmniGothic 040"/>
              </a:rPr>
              <a:t>만든다</a:t>
            </a:r>
            <a:r>
              <a:rPr sz="1400" dirty="0">
                <a:solidFill>
                  <a:srgbClr val="363A52"/>
                </a:solidFill>
                <a:latin typeface="210 OmniGothic 040"/>
                <a:ea typeface="210 OmniGothic 040"/>
                <a:cs typeface="210 OmniGothic 040"/>
              </a:rPr>
              <a:t>(PRED-01) — </a:t>
            </a:r>
            <a:r>
              <a:rPr sz="1400" dirty="0" err="1">
                <a:solidFill>
                  <a:srgbClr val="363A52"/>
                </a:solidFill>
                <a:latin typeface="210 OmniGothic 040"/>
                <a:ea typeface="210 OmniGothic 040"/>
                <a:cs typeface="210 OmniGothic 040"/>
              </a:rPr>
              <a:t>진화</a:t>
            </a:r>
            <a:r>
              <a:rPr sz="1400" dirty="0">
                <a:solidFill>
                  <a:srgbClr val="363A52"/>
                </a:solidFill>
                <a:latin typeface="210 OmniGothic 040"/>
                <a:ea typeface="210 OmniGothic 040"/>
                <a:cs typeface="210 OmniGothic 040"/>
              </a:rPr>
              <a:t> </a:t>
            </a:r>
            <a:r>
              <a:rPr sz="1400" dirty="0" err="1">
                <a:solidFill>
                  <a:srgbClr val="363A52"/>
                </a:solidFill>
                <a:latin typeface="210 OmniGothic 040"/>
                <a:ea typeface="210 OmniGothic 040"/>
                <a:cs typeface="210 OmniGothic 040"/>
              </a:rPr>
              <a:t>완료까지</a:t>
            </a:r>
            <a:r>
              <a:rPr sz="1400" dirty="0">
                <a:solidFill>
                  <a:srgbClr val="363A52"/>
                </a:solidFill>
                <a:latin typeface="210 OmniGothic 040"/>
                <a:ea typeface="210 OmniGothic 040"/>
                <a:cs typeface="210 OmniGothic 040"/>
              </a:rPr>
              <a:t> </a:t>
            </a:r>
            <a:r>
              <a:rPr sz="1400" dirty="0" err="1">
                <a:solidFill>
                  <a:srgbClr val="363A52"/>
                </a:solidFill>
                <a:latin typeface="210 OmniGothic 040"/>
                <a:ea typeface="210 OmniGothic 040"/>
                <a:cs typeface="210 OmniGothic 040"/>
              </a:rPr>
              <a:t>반복</a:t>
            </a:r>
            <a:endParaRPr sz="1400" dirty="0">
              <a:solidFill>
                <a:srgbClr val="363A52"/>
              </a:solidFill>
              <a:latin typeface="210 OmniGothic 040"/>
              <a:ea typeface="210 OmniGothic 040"/>
              <a:cs typeface="210 OmniGothic 040"/>
            </a:endParaRPr>
          </a:p>
          <a:p>
            <a:pPr>
              <a:spcBef>
                <a:spcPts val="1000"/>
              </a:spcBef>
            </a:pPr>
            <a:r>
              <a:rPr sz="1600" b="1" dirty="0">
                <a:solidFill>
                  <a:srgbClr val="E87A1E"/>
                </a:solidFill>
                <a:latin typeface="210 OmniGothic 040"/>
                <a:ea typeface="210 OmniGothic 040"/>
                <a:cs typeface="210 OmniGothic 040"/>
              </a:rPr>
              <a:t>⑥ </a:t>
            </a:r>
            <a:r>
              <a:rPr sz="1600" b="1" dirty="0" err="1">
                <a:solidFill>
                  <a:srgbClr val="E87A1E"/>
                </a:solidFill>
                <a:latin typeface="210 OmniGothic 040"/>
                <a:ea typeface="210 OmniGothic 040"/>
                <a:cs typeface="210 OmniGothic 040"/>
              </a:rPr>
              <a:t>종료</a:t>
            </a:r>
            <a:endParaRPr sz="1600" b="1" dirty="0">
              <a:solidFill>
                <a:srgbClr val="E87A1E"/>
              </a:solidFill>
              <a:latin typeface="210 OmniGothic 040"/>
              <a:ea typeface="210 OmniGothic 040"/>
              <a:cs typeface="210 OmniGothic 040"/>
            </a:endParaRPr>
          </a:p>
          <a:p>
            <a:pPr>
              <a:lnSpc>
                <a:spcPct val="115000"/>
              </a:lnSpc>
            </a:pPr>
            <a:r>
              <a:rPr sz="1400" dirty="0" err="1">
                <a:solidFill>
                  <a:srgbClr val="363A52"/>
                </a:solidFill>
                <a:latin typeface="210 OmniGothic 040"/>
                <a:ea typeface="210 OmniGothic 040"/>
                <a:cs typeface="210 OmniGothic 040"/>
              </a:rPr>
              <a:t>진화가</a:t>
            </a:r>
            <a:r>
              <a:rPr sz="1400" dirty="0">
                <a:solidFill>
                  <a:srgbClr val="363A52"/>
                </a:solidFill>
                <a:latin typeface="210 OmniGothic 040"/>
                <a:ea typeface="210 OmniGothic 040"/>
                <a:cs typeface="210 OmniGothic 040"/>
              </a:rPr>
              <a:t> </a:t>
            </a:r>
            <a:r>
              <a:rPr sz="1400" dirty="0" err="1">
                <a:solidFill>
                  <a:srgbClr val="363A52"/>
                </a:solidFill>
                <a:latin typeface="210 OmniGothic 040"/>
                <a:ea typeface="210 OmniGothic 040"/>
                <a:cs typeface="210 OmniGothic 040"/>
              </a:rPr>
              <a:t>끝나면</a:t>
            </a:r>
            <a:r>
              <a:rPr sz="1400" dirty="0">
                <a:solidFill>
                  <a:srgbClr val="363A52"/>
                </a:solidFill>
                <a:latin typeface="210 OmniGothic 040"/>
                <a:ea typeface="210 OmniGothic 040"/>
                <a:cs typeface="210 OmniGothic 040"/>
              </a:rPr>
              <a:t> </a:t>
            </a:r>
            <a:r>
              <a:rPr sz="1400" dirty="0" err="1">
                <a:solidFill>
                  <a:srgbClr val="363A52"/>
                </a:solidFill>
                <a:latin typeface="210 OmniGothic 040"/>
                <a:ea typeface="210 OmniGothic 040"/>
                <a:cs typeface="210 OmniGothic 040"/>
              </a:rPr>
              <a:t>산불을</a:t>
            </a:r>
            <a:r>
              <a:rPr sz="1400" dirty="0">
                <a:solidFill>
                  <a:srgbClr val="363A52"/>
                </a:solidFill>
                <a:latin typeface="210 OmniGothic 040"/>
                <a:ea typeface="210 OmniGothic 040"/>
                <a:cs typeface="210 OmniGothic 040"/>
              </a:rPr>
              <a:t> </a:t>
            </a:r>
            <a:r>
              <a:rPr sz="1400" dirty="0" err="1">
                <a:solidFill>
                  <a:srgbClr val="363A52"/>
                </a:solidFill>
                <a:latin typeface="210 OmniGothic 040"/>
                <a:ea typeface="210 OmniGothic 040"/>
                <a:cs typeface="210 OmniGothic 040"/>
              </a:rPr>
              <a:t>종료</a:t>
            </a:r>
            <a:r>
              <a:rPr sz="1400" dirty="0">
                <a:solidFill>
                  <a:srgbClr val="363A52"/>
                </a:solidFill>
                <a:latin typeface="210 OmniGothic 040"/>
                <a:ea typeface="210 OmniGothic 040"/>
                <a:cs typeface="210 OmniGothic 040"/>
              </a:rPr>
              <a:t> </a:t>
            </a:r>
            <a:r>
              <a:rPr sz="1400" dirty="0" err="1">
                <a:solidFill>
                  <a:srgbClr val="363A52"/>
                </a:solidFill>
                <a:latin typeface="210 OmniGothic 040"/>
                <a:ea typeface="210 OmniGothic 040"/>
                <a:cs typeface="210 OmniGothic 040"/>
              </a:rPr>
              <a:t>상태로</a:t>
            </a:r>
            <a:r>
              <a:rPr sz="1400" dirty="0">
                <a:solidFill>
                  <a:srgbClr val="363A52"/>
                </a:solidFill>
                <a:latin typeface="210 OmniGothic 040"/>
                <a:ea typeface="210 OmniGothic 040"/>
                <a:cs typeface="210 OmniGothic 040"/>
              </a:rPr>
              <a:t> </a:t>
            </a:r>
            <a:r>
              <a:rPr sz="1400" dirty="0" err="1">
                <a:solidFill>
                  <a:srgbClr val="363A52"/>
                </a:solidFill>
                <a:latin typeface="210 OmniGothic 040"/>
                <a:ea typeface="210 OmniGothic 040"/>
                <a:cs typeface="210 OmniGothic 040"/>
              </a:rPr>
              <a:t>바꾼다</a:t>
            </a:r>
            <a:r>
              <a:rPr sz="1400" dirty="0">
                <a:solidFill>
                  <a:srgbClr val="363A52"/>
                </a:solidFill>
                <a:latin typeface="210 OmniGothic 040"/>
                <a:ea typeface="210 OmniGothic 040"/>
                <a:cs typeface="210 OmniGothic 040"/>
              </a:rPr>
              <a:t>(SIT-01)</a:t>
            </a:r>
          </a:p>
        </p:txBody>
      </p:sp>
      <p:pic>
        <p:nvPicPr>
          <p:cNvPr id="4" name="그림 3">
            <a:extLst>
              <a:ext uri="{FF2B5EF4-FFF2-40B4-BE49-F238E27FC236}">
                <a16:creationId xmlns:a16="http://schemas.microsoft.com/office/drawing/2014/main" id="{6FB05F35-C8E7-CFCA-D990-2CD539463D9C}"/>
              </a:ext>
            </a:extLst>
          </p:cNvPr>
          <p:cNvPicPr>
            <a:picLocks noChangeAspect="1"/>
          </p:cNvPicPr>
          <p:nvPr/>
        </p:nvPicPr>
        <p:blipFill>
          <a:blip r:embed="rId7">
            <a:extLst>
              <a:ext uri="{28A0092B-C50C-407E-A947-70E740481C1C}">
                <a14:useLocalDpi xmlns:a14="http://schemas.microsoft.com/office/drawing/2010/main" val="0"/>
              </a:ext>
            </a:extLst>
          </a:blip>
          <a:srcRect l="3983" t="2985" r="1143" b="401"/>
          <a:stretch>
            <a:fillRect/>
          </a:stretch>
        </p:blipFill>
        <p:spPr>
          <a:xfrm>
            <a:off x="640080" y="2391253"/>
            <a:ext cx="10849375" cy="6492240"/>
          </a:xfrm>
          <a:prstGeom prst="rect">
            <a:avLst/>
          </a:prstGeom>
        </p:spPr>
      </p:pic>
      <p:sp>
        <p:nvSpPr>
          <p:cNvPr id="5098" name="Note GenAI"/>
          <p:cNvSpPr txBox="1"/>
          <p:nvPr/>
        </p:nvSpPr>
        <p:spPr>
          <a:xfrm>
            <a:off x="640080" y="8961120"/>
            <a:ext cx="10972800" cy="176972"/>
          </a:xfrm>
          <a:prstGeom prst="rect">
            <a:avLst/>
          </a:prstGeom>
          <a:noFill/>
        </p:spPr>
        <p:txBody>
          <a:bodyPr wrap="square" lIns="0" tIns="0" rIns="0" bIns="0" anchor="t">
            <a:spAutoFit/>
          </a:bodyPr>
          <a:lstStyle/>
          <a:p>
            <a:pPr algn="l">
              <a:buNone/>
            </a:pPr>
            <a:r>
              <a:rPr lang="ko-KR" altLang="en-US" sz="1150" b="0" dirty="0">
                <a:solidFill>
                  <a:srgbClr val="FF0000"/>
                </a:solidFill>
                <a:latin typeface="210 OmniGothic 030"/>
                <a:ea typeface="210 OmniGothic 030"/>
                <a:cs typeface="210 OmniGothic 030"/>
              </a:rPr>
              <a:t>※ </a:t>
            </a:r>
            <a:r>
              <a:rPr lang="ko-KR" altLang="en-US" sz="1150" b="0" dirty="0" err="1">
                <a:solidFill>
                  <a:srgbClr val="FF0000"/>
                </a:solidFill>
                <a:latin typeface="210 OmniGothic 030"/>
                <a:ea typeface="210 OmniGothic 030"/>
                <a:cs typeface="210 OmniGothic 030"/>
              </a:rPr>
              <a:t>유스케이스</a:t>
            </a:r>
            <a:r>
              <a:rPr lang="ko-KR" altLang="en-US" sz="1150" b="0" dirty="0">
                <a:solidFill>
                  <a:srgbClr val="FF0000"/>
                </a:solidFill>
                <a:latin typeface="210 OmniGothic 030"/>
                <a:ea typeface="210 OmniGothic 030"/>
                <a:cs typeface="210 OmniGothic 030"/>
              </a:rPr>
              <a:t> 다이어그램 그림은 생성형 </a:t>
            </a:r>
            <a:r>
              <a:rPr lang="ko-KR" altLang="en-US" sz="1150" b="0" dirty="0" err="1">
                <a:solidFill>
                  <a:srgbClr val="FF0000"/>
                </a:solidFill>
                <a:latin typeface="210 OmniGothic 030"/>
                <a:ea typeface="210 OmniGothic 030"/>
                <a:cs typeface="210 OmniGothic 030"/>
              </a:rPr>
              <a:t>AI를</a:t>
            </a:r>
            <a:r>
              <a:rPr lang="ko-KR" altLang="en-US" sz="1150" b="0" dirty="0">
                <a:solidFill>
                  <a:srgbClr val="FF0000"/>
                </a:solidFill>
                <a:latin typeface="210 OmniGothic 030"/>
                <a:ea typeface="210 OmniGothic 030"/>
                <a:cs typeface="210 OmniGothic 030"/>
              </a:rPr>
              <a:t> 활용하여 제작하였습니다.</a:t>
            </a:r>
            <a:endParaRPr lang="ko-KR"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95"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2700" y="-12700"/>
            <a:ext cx="18313400" cy="1638300"/>
          </a:xfrm>
          <a:prstGeom prst="rect">
            <a:avLst/>
          </a:prstGeom>
        </p:spPr>
      </p:pic>
      <p:pic>
        <p:nvPicPr>
          <p:cNvPr id="5096"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628" y="1618343"/>
            <a:ext cx="18313400" cy="8699500"/>
          </a:xfrm>
          <a:prstGeom prst="rect">
            <a:avLst/>
          </a:prstGeom>
        </p:spPr>
      </p:pic>
      <p:pic>
        <p:nvPicPr>
          <p:cNvPr id="5097"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58800" y="9271000"/>
            <a:ext cx="17170400" cy="50800"/>
          </a:xfrm>
          <a:prstGeom prst="rect">
            <a:avLst/>
          </a:prstGeom>
        </p:spPr>
      </p:pic>
      <p:pic>
        <p:nvPicPr>
          <p:cNvPr id="5098" name="Picture 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278100" y="203200"/>
            <a:ext cx="1676400" cy="1409700"/>
          </a:xfrm>
          <a:prstGeom prst="rect">
            <a:avLst/>
          </a:prstGeom>
        </p:spPr>
      </p:pic>
      <p:sp>
        <p:nvSpPr>
          <p:cNvPr id="5099" name="Title"/>
          <p:cNvSpPr txBox="1"/>
          <p:nvPr/>
        </p:nvSpPr>
        <p:spPr>
          <a:xfrm>
            <a:off x="822960" y="384048"/>
            <a:ext cx="13258800" cy="877824"/>
          </a:xfrm>
          <a:prstGeom prst="rect">
            <a:avLst/>
          </a:prstGeom>
          <a:noFill/>
        </p:spPr>
        <p:txBody>
          <a:bodyPr wrap="square" lIns="0" tIns="0" rIns="0" bIns="0" anchor="ctr">
            <a:spAutoFit/>
          </a:bodyPr>
          <a:lstStyle/>
          <a:p>
            <a:pPr algn="l"/>
            <a:r>
              <a:rPr sz="4400" b="0">
                <a:solidFill>
                  <a:srgbClr val="FAA95A"/>
                </a:solidFill>
                <a:latin typeface="210 OmniGothic 050"/>
                <a:ea typeface="210 OmniGothic 050"/>
                <a:cs typeface="210 OmniGothic 050"/>
              </a:rPr>
              <a:t>03. 유스케이스 다이어그램</a:t>
            </a:r>
          </a:p>
        </p:txBody>
      </p:sp>
      <p:sp>
        <p:nvSpPr>
          <p:cNvPr id="5100" name="Subtitle"/>
          <p:cNvSpPr txBox="1"/>
          <p:nvPr/>
        </p:nvSpPr>
        <p:spPr>
          <a:xfrm>
            <a:off x="822960" y="1764792"/>
            <a:ext cx="16642080" cy="502920"/>
          </a:xfrm>
          <a:prstGeom prst="rect">
            <a:avLst/>
          </a:prstGeom>
          <a:noFill/>
        </p:spPr>
        <p:txBody>
          <a:bodyPr wrap="square" lIns="0" tIns="0" rIns="0" bIns="0" anchor="ctr">
            <a:spAutoFit/>
          </a:bodyPr>
          <a:lstStyle/>
          <a:p>
            <a:pPr algn="ctr"/>
            <a:r>
              <a:rPr sz="2600" b="1">
                <a:solidFill>
                  <a:srgbClr val="363A52"/>
                </a:solidFill>
                <a:latin typeface="210 OmniGothic 040"/>
                <a:ea typeface="210 OmniGothic 040"/>
                <a:cs typeface="210 OmniGothic 040"/>
              </a:rPr>
              <a:t>3. 식별자 목록 (1/2)</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sz="quarter" idx="12"/>
          </p:nvPr>
        </p:nvSpPr>
        <p:spPr/>
        <p:txBody>
          <a:bodyPr/>
          <a:lstStyle/>
          <a:p>
            <a:fld id="{B6F15528-21DE-4FAA-801E-634DDDAF4B2B}" type="slidenum">
              <a:rPr lang="en-US" smtClean="0"/>
              <a:pPr/>
              <a:t>18</a:t>
            </a:fld>
            <a:endParaRPr lang="en-US"/>
          </a:p>
        </p:txBody>
      </p:sp>
      <p:graphicFrame>
        <p:nvGraphicFramePr>
          <p:cNvPr id="5101" name="Table 5100"/>
          <p:cNvGraphicFramePr>
            <a:graphicFrameLocks noGrp="1"/>
          </p:cNvGraphicFramePr>
          <p:nvPr/>
        </p:nvGraphicFramePr>
        <p:xfrm>
          <a:off x="822960" y="2446020"/>
          <a:ext cx="16459200" cy="6241542"/>
        </p:xfrm>
        <a:graphic>
          <a:graphicData uri="http://schemas.openxmlformats.org/drawingml/2006/table">
            <a:tbl>
              <a:tblPr>
                <a:tableStyleId>{2D5ABB26-0587-4C30-8999-92F81FD0307C}</a:tableStyleId>
              </a:tblPr>
              <a:tblGrid>
                <a:gridCol w="1920240">
                  <a:extLst>
                    <a:ext uri="{9D8B030D-6E8A-4147-A177-3AD203B41FA5}">
                      <a16:colId xmlns:a16="http://schemas.microsoft.com/office/drawing/2014/main" val="20000"/>
                    </a:ext>
                  </a:extLst>
                </a:gridCol>
                <a:gridCol w="2834640">
                  <a:extLst>
                    <a:ext uri="{9D8B030D-6E8A-4147-A177-3AD203B41FA5}">
                      <a16:colId xmlns:a16="http://schemas.microsoft.com/office/drawing/2014/main" val="20001"/>
                    </a:ext>
                  </a:extLst>
                </a:gridCol>
                <a:gridCol w="3474720">
                  <a:extLst>
                    <a:ext uri="{9D8B030D-6E8A-4147-A177-3AD203B41FA5}">
                      <a16:colId xmlns:a16="http://schemas.microsoft.com/office/drawing/2014/main" val="20002"/>
                    </a:ext>
                  </a:extLst>
                </a:gridCol>
                <a:gridCol w="5852160">
                  <a:extLst>
                    <a:ext uri="{9D8B030D-6E8A-4147-A177-3AD203B41FA5}">
                      <a16:colId xmlns:a16="http://schemas.microsoft.com/office/drawing/2014/main" val="20003"/>
                    </a:ext>
                  </a:extLst>
                </a:gridCol>
                <a:gridCol w="2377440">
                  <a:extLst>
                    <a:ext uri="{9D8B030D-6E8A-4147-A177-3AD203B41FA5}">
                      <a16:colId xmlns:a16="http://schemas.microsoft.com/office/drawing/2014/main" val="20004"/>
                    </a:ext>
                  </a:extLst>
                </a:gridCol>
              </a:tblGrid>
              <a:tr h="375666">
                <a:tc>
                  <a:txBody>
                    <a:bodyPr/>
                    <a:lstStyle/>
                    <a:p>
                      <a:pPr algn="ctr"/>
                      <a:r>
                        <a:rPr sz="1500" b="1">
                          <a:solidFill>
                            <a:srgbClr val="FFFFFF"/>
                          </a:solidFill>
                          <a:latin typeface="210 OmniGothic 040"/>
                          <a:ea typeface="210 OmniGothic 040"/>
                          <a:cs typeface="210 OmniGothic 040"/>
                        </a:rPr>
                        <a:t>식별자</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tc>
                  <a:txBody>
                    <a:bodyPr/>
                    <a:lstStyle/>
                    <a:p>
                      <a:pPr algn="ctr"/>
                      <a:r>
                        <a:rPr sz="1500" b="1">
                          <a:solidFill>
                            <a:srgbClr val="FFFFFF"/>
                          </a:solidFill>
                          <a:latin typeface="210 OmniGothic 040"/>
                          <a:ea typeface="210 OmniGothic 040"/>
                          <a:cs typeface="210 OmniGothic 040"/>
                        </a:rPr>
                        <a:t>유스케이스 명</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tc>
                  <a:txBody>
                    <a:bodyPr/>
                    <a:lstStyle/>
                    <a:p>
                      <a:pPr algn="ctr"/>
                      <a:r>
                        <a:rPr sz="1500" b="1">
                          <a:solidFill>
                            <a:srgbClr val="FFFFFF"/>
                          </a:solidFill>
                          <a:latin typeface="210 OmniGothic 040"/>
                          <a:ea typeface="210 OmniGothic 040"/>
                          <a:cs typeface="210 OmniGothic 040"/>
                        </a:rPr>
                        <a:t>주요 액터(or 시스템)</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tc>
                  <a:txBody>
                    <a:bodyPr/>
                    <a:lstStyle/>
                    <a:p>
                      <a:pPr algn="ctr"/>
                      <a:r>
                        <a:rPr sz="1500" b="1">
                          <a:solidFill>
                            <a:srgbClr val="FFFFFF"/>
                          </a:solidFill>
                          <a:latin typeface="210 OmniGothic 040"/>
                          <a:ea typeface="210 OmniGothic 040"/>
                          <a:cs typeface="210 OmniGothic 040"/>
                        </a:rPr>
                        <a:t>설명</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tc>
                  <a:txBody>
                    <a:bodyPr/>
                    <a:lstStyle/>
                    <a:p>
                      <a:pPr algn="ctr"/>
                      <a:r>
                        <a:rPr sz="1500" b="1">
                          <a:solidFill>
                            <a:srgbClr val="FFFFFF"/>
                          </a:solidFill>
                          <a:latin typeface="210 OmniGothic 040"/>
                          <a:ea typeface="210 OmniGothic 040"/>
                          <a:cs typeface="210 OmniGothic 040"/>
                        </a:rPr>
                        <a:t>관계</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extLst>
                  <a:ext uri="{0D108BD9-81ED-4DB2-BD59-A6C34878D82A}">
                    <a16:rowId xmlns:a16="http://schemas.microsoft.com/office/drawing/2014/main" val="10000"/>
                  </a:ext>
                </a:extLst>
              </a:tr>
              <a:tr h="375666">
                <a:tc gridSpan="5">
                  <a:txBody>
                    <a:bodyPr/>
                    <a:lstStyle/>
                    <a:p>
                      <a:pPr algn="l"/>
                      <a:r>
                        <a:rPr sz="1500" b="1" dirty="0">
                          <a:solidFill>
                            <a:srgbClr val="2E3142"/>
                          </a:solidFill>
                          <a:latin typeface="210 OmniGothic 040"/>
                          <a:ea typeface="210 OmniGothic 040"/>
                          <a:cs typeface="210 OmniGothic 040"/>
                        </a:rPr>
                        <a:t>UC-AUTH — </a:t>
                      </a:r>
                      <a:r>
                        <a:rPr sz="1500" b="1" dirty="0" err="1">
                          <a:solidFill>
                            <a:srgbClr val="2E3142"/>
                          </a:solidFill>
                          <a:latin typeface="210 OmniGothic 040"/>
                          <a:ea typeface="210 OmniGothic 040"/>
                          <a:cs typeface="210 OmniGothic 040"/>
                        </a:rPr>
                        <a:t>인증</a:t>
                      </a:r>
                      <a:r>
                        <a:rPr sz="1500" b="1" dirty="0">
                          <a:solidFill>
                            <a:srgbClr val="2E3142"/>
                          </a:solidFill>
                          <a:latin typeface="210 OmniGothic 040"/>
                          <a:ea typeface="210 OmniGothic 040"/>
                          <a:cs typeface="210 OmniGothic 040"/>
                        </a:rPr>
                        <a:t> (1개)</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8E1"/>
                    </a:solid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10001"/>
                  </a:ext>
                </a:extLst>
              </a:tr>
              <a:tr h="623316">
                <a:tc>
                  <a:txBody>
                    <a:bodyPr/>
                    <a:lstStyle/>
                    <a:p>
                      <a:pPr algn="ctr"/>
                      <a:r>
                        <a:rPr sz="1500" b="1">
                          <a:solidFill>
                            <a:srgbClr val="2E3142"/>
                          </a:solidFill>
                          <a:latin typeface="210 OmniGothic 040"/>
                          <a:ea typeface="210 OmniGothic 040"/>
                          <a:cs typeface="210 OmniGothic 040"/>
                        </a:rPr>
                        <a:t>UC-AUTH-01</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500" b="0">
                          <a:solidFill>
                            <a:srgbClr val="2E3142"/>
                          </a:solidFill>
                          <a:latin typeface="210 OmniGothic 040"/>
                          <a:ea typeface="210 OmniGothic 040"/>
                          <a:cs typeface="210 OmniGothic 040"/>
                        </a:rPr>
                        <a:t>로그인</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500" b="0">
                          <a:solidFill>
                            <a:srgbClr val="2E3142"/>
                          </a:solidFill>
                          <a:latin typeface="210 OmniGothic 040"/>
                          <a:ea typeface="210 OmniGothic 040"/>
                          <a:cs typeface="210 OmniGothic 040"/>
                        </a:rPr>
                        <a:t>통합지휘권자, 열람자, 상황 보고자, 전산 관리자</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500" b="0">
                          <a:solidFill>
                            <a:srgbClr val="2E3142"/>
                          </a:solidFill>
                          <a:latin typeface="210 OmniGothic 040"/>
                          <a:ea typeface="210 OmniGothic 040"/>
                          <a:cs typeface="210 OmniGothic 040"/>
                        </a:rPr>
                        <a:t>발급받은 아이디·비밀번호 입력 후 JWT 발급 및 권한별 첫 화면 이동</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500" b="0">
                          <a:solidFill>
                            <a:srgbClr val="2E3142"/>
                          </a:solidFill>
                          <a:latin typeface="210 OmniGothic 040"/>
                          <a:ea typeface="210 OmniGothic 040"/>
                          <a:cs typeface="210 OmniGothic 040"/>
                        </a:rPr>
                        <a:t>—</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2"/>
                  </a:ext>
                </a:extLst>
              </a:tr>
              <a:tr h="375666">
                <a:tc gridSpan="5">
                  <a:txBody>
                    <a:bodyPr/>
                    <a:lstStyle/>
                    <a:p>
                      <a:pPr algn="l"/>
                      <a:r>
                        <a:rPr sz="1500" b="1">
                          <a:solidFill>
                            <a:srgbClr val="2E3142"/>
                          </a:solidFill>
                          <a:latin typeface="210 OmniGothic 040"/>
                          <a:ea typeface="210 OmniGothic 040"/>
                          <a:cs typeface="210 OmniGothic 040"/>
                        </a:rPr>
                        <a:t>UC-REPORT — 상황 보고 (1개)</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EF5EE"/>
                    </a:solid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4276742028"/>
                  </a:ext>
                </a:extLst>
              </a:tr>
              <a:tr h="623316">
                <a:tc>
                  <a:txBody>
                    <a:bodyPr/>
                    <a:lstStyle/>
                    <a:p>
                      <a:pPr algn="ctr"/>
                      <a:r>
                        <a:rPr sz="1500" b="1">
                          <a:solidFill>
                            <a:srgbClr val="2E3142"/>
                          </a:solidFill>
                          <a:latin typeface="210 OmniGothic 040"/>
                          <a:ea typeface="210 OmniGothic 040"/>
                          <a:cs typeface="210 OmniGothic 040"/>
                        </a:rPr>
                        <a:t>UC-REPORT-01</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500" b="0">
                          <a:solidFill>
                            <a:srgbClr val="2E3142"/>
                          </a:solidFill>
                          <a:latin typeface="210 OmniGothic 040"/>
                          <a:ea typeface="210 OmniGothic 040"/>
                          <a:cs typeface="210 OmniGothic 040"/>
                        </a:rPr>
                        <a:t>산불 상황 보고</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500" b="0">
                          <a:solidFill>
                            <a:srgbClr val="2E3142"/>
                          </a:solidFill>
                          <a:latin typeface="210 OmniGothic 040"/>
                          <a:ea typeface="210 OmniGothic 040"/>
                          <a:cs typeface="210 OmniGothic 040"/>
                        </a:rPr>
                        <a:t>상황 보고자</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500" b="0">
                          <a:solidFill>
                            <a:srgbClr val="2E3142"/>
                          </a:solidFill>
                          <a:latin typeface="210 OmniGothic 040"/>
                          <a:ea typeface="210 OmniGothic 040"/>
                          <a:cs typeface="210 OmniGothic 040"/>
                        </a:rPr>
                        <a:t>발화 위치·일시·신고 내용·접수 기관 입력 후 실측 화선을 폴리곤으로 제출 (1시간마다 새 버전, 초기대응에서는 생략 가능)</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500" b="0">
                          <a:solidFill>
                            <a:srgbClr val="2E3142"/>
                          </a:solidFill>
                          <a:latin typeface="210 OmniGothic 040"/>
                          <a:ea typeface="210 OmniGothic 040"/>
                          <a:cs typeface="210 OmniGothic 040"/>
                        </a:rPr>
                        <a:t>—</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511246393"/>
                  </a:ext>
                </a:extLst>
              </a:tr>
              <a:tr h="375666">
                <a:tc gridSpan="5">
                  <a:txBody>
                    <a:bodyPr/>
                    <a:lstStyle/>
                    <a:p>
                      <a:pPr algn="l"/>
                      <a:r>
                        <a:rPr sz="1500" b="1" dirty="0">
                          <a:solidFill>
                            <a:srgbClr val="2E3142"/>
                          </a:solidFill>
                          <a:latin typeface="210 OmniGothic 040"/>
                          <a:ea typeface="210 OmniGothic 040"/>
                          <a:cs typeface="210 OmniGothic 040"/>
                        </a:rPr>
                        <a:t>UC-SIT — </a:t>
                      </a:r>
                      <a:r>
                        <a:rPr sz="1500" b="1" dirty="0" err="1">
                          <a:solidFill>
                            <a:srgbClr val="2E3142"/>
                          </a:solidFill>
                          <a:latin typeface="210 OmniGothic 040"/>
                          <a:ea typeface="210 OmniGothic 040"/>
                          <a:cs typeface="210 OmniGothic 040"/>
                        </a:rPr>
                        <a:t>상황</a:t>
                      </a:r>
                      <a:r>
                        <a:rPr sz="1500" b="1" dirty="0">
                          <a:solidFill>
                            <a:srgbClr val="2E3142"/>
                          </a:solidFill>
                          <a:latin typeface="210 OmniGothic 040"/>
                          <a:ea typeface="210 OmniGothic 040"/>
                          <a:cs typeface="210 OmniGothic 040"/>
                        </a:rPr>
                        <a:t> </a:t>
                      </a:r>
                      <a:r>
                        <a:rPr sz="1500" b="1" dirty="0" err="1">
                          <a:solidFill>
                            <a:srgbClr val="2E3142"/>
                          </a:solidFill>
                          <a:latin typeface="210 OmniGothic 040"/>
                          <a:ea typeface="210 OmniGothic 040"/>
                          <a:cs typeface="210 OmniGothic 040"/>
                        </a:rPr>
                        <a:t>파악</a:t>
                      </a:r>
                      <a:r>
                        <a:rPr sz="1500" b="1" dirty="0">
                          <a:solidFill>
                            <a:srgbClr val="2E3142"/>
                          </a:solidFill>
                          <a:latin typeface="210 OmniGothic 040"/>
                          <a:ea typeface="210 OmniGothic 040"/>
                          <a:cs typeface="210 OmniGothic 040"/>
                        </a:rPr>
                        <a:t> (3개)</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EEF9F1"/>
                    </a:solid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3419661971"/>
                  </a:ext>
                </a:extLst>
              </a:tr>
              <a:tr h="623316">
                <a:tc>
                  <a:txBody>
                    <a:bodyPr/>
                    <a:lstStyle/>
                    <a:p>
                      <a:pPr algn="ctr"/>
                      <a:r>
                        <a:rPr sz="1500" b="1">
                          <a:solidFill>
                            <a:srgbClr val="2E3142"/>
                          </a:solidFill>
                          <a:latin typeface="210 OmniGothic 040"/>
                          <a:ea typeface="210 OmniGothic 040"/>
                          <a:cs typeface="210 OmniGothic 040"/>
                        </a:rPr>
                        <a:t>UC-SIT-01</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500" b="0">
                          <a:solidFill>
                            <a:srgbClr val="2E3142"/>
                          </a:solidFill>
                          <a:latin typeface="210 OmniGothic 040"/>
                          <a:ea typeface="210 OmniGothic 040"/>
                          <a:cs typeface="210 OmniGothic 040"/>
                        </a:rPr>
                        <a:t>발화 종료 처리</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500" b="0">
                          <a:solidFill>
                            <a:srgbClr val="2E3142"/>
                          </a:solidFill>
                          <a:latin typeface="210 OmniGothic 040"/>
                          <a:ea typeface="210 OmniGothic 040"/>
                          <a:cs typeface="210 OmniGothic 040"/>
                        </a:rPr>
                        <a:t>통합지휘권자</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500" b="0">
                          <a:solidFill>
                            <a:srgbClr val="2E3142"/>
                          </a:solidFill>
                          <a:latin typeface="210 OmniGothic 040"/>
                          <a:ea typeface="210 OmniGothic 040"/>
                          <a:cs typeface="210 OmniGothic 040"/>
                        </a:rPr>
                        <a:t>진화가 끝난 산불을 종료 상태로 전환하고 보고·예측·정정 입력 차단</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500" b="0">
                          <a:solidFill>
                            <a:srgbClr val="2E3142"/>
                          </a:solidFill>
                          <a:latin typeface="210 OmniGothic 040"/>
                          <a:ea typeface="210 OmniGothic 040"/>
                          <a:cs typeface="210 OmniGothic 040"/>
                        </a:rPr>
                        <a:t>—</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528830364"/>
                  </a:ext>
                </a:extLst>
              </a:tr>
              <a:tr h="623316">
                <a:tc>
                  <a:txBody>
                    <a:bodyPr/>
                    <a:lstStyle/>
                    <a:p>
                      <a:pPr algn="ctr"/>
                      <a:r>
                        <a:rPr sz="1500" b="1">
                          <a:solidFill>
                            <a:srgbClr val="2E3142"/>
                          </a:solidFill>
                          <a:latin typeface="210 OmniGothic 040"/>
                          <a:ea typeface="210 OmniGothic 040"/>
                          <a:cs typeface="210 OmniGothic 040"/>
                        </a:rPr>
                        <a:t>UC-SIT-02</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500" b="0">
                          <a:solidFill>
                            <a:srgbClr val="2E3142"/>
                          </a:solidFill>
                          <a:latin typeface="210 OmniGothic 040"/>
                          <a:ea typeface="210 OmniGothic 040"/>
                          <a:cs typeface="210 OmniGothic 040"/>
                        </a:rPr>
                        <a:t>산불 발생·접수 정보 조회</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500" b="0">
                          <a:solidFill>
                            <a:srgbClr val="2E3142"/>
                          </a:solidFill>
                          <a:latin typeface="210 OmniGothic 040"/>
                          <a:ea typeface="210 OmniGothic 040"/>
                          <a:cs typeface="210 OmniGothic 040"/>
                        </a:rPr>
                        <a:t>통합지휘권자, 열람자, 상황 보고자</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500" b="0">
                          <a:solidFill>
                            <a:srgbClr val="2E3142"/>
                          </a:solidFill>
                          <a:latin typeface="210 OmniGothic 040"/>
                          <a:ea typeface="210 OmniGothic 040"/>
                          <a:cs typeface="210 OmniGothic 040"/>
                        </a:rPr>
                        <a:t>산불 목록에서 선택해 발생 장소·신고 내용·접수 시각·진행 상태 확인</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500" b="0">
                          <a:solidFill>
                            <a:srgbClr val="2E3142"/>
                          </a:solidFill>
                          <a:latin typeface="210 OmniGothic 040"/>
                          <a:ea typeface="210 OmniGothic 040"/>
                          <a:cs typeface="210 OmniGothic 040"/>
                        </a:rPr>
                        <a:t>—</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2052878148"/>
                  </a:ext>
                </a:extLst>
              </a:tr>
              <a:tr h="623316">
                <a:tc>
                  <a:txBody>
                    <a:bodyPr/>
                    <a:lstStyle/>
                    <a:p>
                      <a:pPr algn="ctr"/>
                      <a:r>
                        <a:rPr sz="1500" b="1">
                          <a:solidFill>
                            <a:srgbClr val="2E3142"/>
                          </a:solidFill>
                          <a:latin typeface="210 OmniGothic 040"/>
                          <a:ea typeface="210 OmniGothic 040"/>
                          <a:cs typeface="210 OmniGothic 040"/>
                        </a:rPr>
                        <a:t>UC-SIT-03</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500" b="0">
                          <a:solidFill>
                            <a:srgbClr val="2E3142"/>
                          </a:solidFill>
                          <a:latin typeface="210 OmniGothic 040"/>
                          <a:ea typeface="210 OmniGothic 040"/>
                          <a:cs typeface="210 OmniGothic 040"/>
                        </a:rPr>
                        <a:t>통합 상황도 조회</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500" b="0">
                          <a:solidFill>
                            <a:srgbClr val="2E3142"/>
                          </a:solidFill>
                          <a:latin typeface="210 OmniGothic 040"/>
                          <a:ea typeface="210 OmniGothic 040"/>
                          <a:cs typeface="210 OmniGothic 040"/>
                        </a:rPr>
                        <a:t>통합지휘권자, 열람자 / 기상청 API·공공데이터</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500" b="0">
                          <a:solidFill>
                            <a:srgbClr val="2E3142"/>
                          </a:solidFill>
                          <a:latin typeface="210 OmniGothic 040"/>
                          <a:ea typeface="210 OmniGothic 040"/>
                          <a:cs typeface="210 OmniGothic 040"/>
                        </a:rPr>
                        <a:t>발화점·실측 화선·확산 예측 P1~P8(시간 재생, P5·P8 강조) 위에 시설·레이어·진화자원 현황(가용만 보기 필터)을 겹쳐 조회</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500" b="0">
                          <a:solidFill>
                            <a:srgbClr val="2E3142"/>
                          </a:solidFill>
                          <a:latin typeface="210 OmniGothic 040"/>
                          <a:ea typeface="210 OmniGothic 040"/>
                          <a:cs typeface="210 OmniGothic 040"/>
                        </a:rPr>
                        <a:t>—</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970780392"/>
                  </a:ext>
                </a:extLst>
              </a:tr>
              <a:tr h="375666">
                <a:tc gridSpan="5">
                  <a:txBody>
                    <a:bodyPr/>
                    <a:lstStyle/>
                    <a:p>
                      <a:pPr algn="l"/>
                      <a:r>
                        <a:rPr sz="1500" b="1" dirty="0">
                          <a:solidFill>
                            <a:srgbClr val="2E3142"/>
                          </a:solidFill>
                          <a:latin typeface="210 OmniGothic 040"/>
                          <a:ea typeface="210 OmniGothic 040"/>
                          <a:cs typeface="210 OmniGothic 040"/>
                        </a:rPr>
                        <a:t>UC-PRED — </a:t>
                      </a:r>
                      <a:r>
                        <a:rPr sz="1500" b="1" dirty="0" err="1">
                          <a:solidFill>
                            <a:srgbClr val="2E3142"/>
                          </a:solidFill>
                          <a:latin typeface="210 OmniGothic 040"/>
                          <a:ea typeface="210 OmniGothic 040"/>
                          <a:cs typeface="210 OmniGothic 040"/>
                        </a:rPr>
                        <a:t>확산</a:t>
                      </a:r>
                      <a:r>
                        <a:rPr sz="1500" b="1" dirty="0">
                          <a:solidFill>
                            <a:srgbClr val="2E3142"/>
                          </a:solidFill>
                          <a:latin typeface="210 OmniGothic 040"/>
                          <a:ea typeface="210 OmniGothic 040"/>
                          <a:cs typeface="210 OmniGothic 040"/>
                        </a:rPr>
                        <a:t> </a:t>
                      </a:r>
                      <a:r>
                        <a:rPr sz="1500" b="1" dirty="0" err="1">
                          <a:solidFill>
                            <a:srgbClr val="2E3142"/>
                          </a:solidFill>
                          <a:latin typeface="210 OmniGothic 040"/>
                          <a:ea typeface="210 OmniGothic 040"/>
                          <a:cs typeface="210 OmniGothic 040"/>
                        </a:rPr>
                        <a:t>예측</a:t>
                      </a:r>
                      <a:r>
                        <a:rPr sz="1500" b="1" dirty="0">
                          <a:solidFill>
                            <a:srgbClr val="2E3142"/>
                          </a:solidFill>
                          <a:latin typeface="210 OmniGothic 040"/>
                          <a:ea typeface="210 OmniGothic 040"/>
                          <a:cs typeface="210 OmniGothic 040"/>
                        </a:rPr>
                        <a:t> (2개)</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EAF3FD"/>
                    </a:solid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2377724006"/>
                  </a:ext>
                </a:extLst>
              </a:tr>
              <a:tr h="623316">
                <a:tc>
                  <a:txBody>
                    <a:bodyPr/>
                    <a:lstStyle/>
                    <a:p>
                      <a:pPr algn="ctr"/>
                      <a:r>
                        <a:rPr sz="1500" b="1">
                          <a:solidFill>
                            <a:srgbClr val="2E3142"/>
                          </a:solidFill>
                          <a:latin typeface="210 OmniGothic 040"/>
                          <a:ea typeface="210 OmniGothic 040"/>
                          <a:cs typeface="210 OmniGothic 040"/>
                        </a:rPr>
                        <a:t>UC-PRED-01</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500" b="0">
                          <a:solidFill>
                            <a:srgbClr val="2E3142"/>
                          </a:solidFill>
                          <a:latin typeface="210 OmniGothic 040"/>
                          <a:ea typeface="210 OmniGothic 040"/>
                          <a:cs typeface="210 OmniGothic 040"/>
                        </a:rPr>
                        <a:t>확산 예측 실행·갱신 → 대응 제안 생성</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500" b="0">
                          <a:solidFill>
                            <a:srgbClr val="2E3142"/>
                          </a:solidFill>
                          <a:latin typeface="210 OmniGothic 040"/>
                          <a:ea typeface="210 OmniGothic 040"/>
                          <a:cs typeface="210 OmniGothic 040"/>
                        </a:rPr>
                        <a:t>통합지휘권자 / 확산예측 모듈, AI 모델</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500" b="0">
                          <a:solidFill>
                            <a:srgbClr val="2E3142"/>
                          </a:solidFill>
                          <a:latin typeface="210 OmniGothic 040"/>
                          <a:ea typeface="210 OmniGothic 040"/>
                          <a:cs typeface="210 OmniGothic 040"/>
                        </a:rPr>
                        <a:t>최신 실측 화선(없으면 발화점) 기준으로 P1~P8을 예측</a:t>
                      </a:r>
                      <a:r>
                        <a:rPr sz="1500" b="0">
                          <a:solidFill>
                            <a:srgbClr val="FF0000"/>
                          </a:solidFill>
                          <a:latin typeface="210 OmniGothic 040"/>
                          <a:ea typeface="210 OmniGothic 040"/>
                          <a:cs typeface="210 OmniGothic 040"/>
                        </a:rPr>
                        <a:t>하고 P5 위험도를 계산</a:t>
                      </a:r>
                      <a:r>
                        <a:rPr sz="1500" b="0">
                          <a:solidFill>
                            <a:srgbClr val="2E3142"/>
                          </a:solidFill>
                          <a:latin typeface="210 OmniGothic 040"/>
                          <a:ea typeface="210 OmniGothic 040"/>
                          <a:cs typeface="210 OmniGothic 040"/>
                        </a:rPr>
                        <a:t>한 뒤 진화 7·대피 7 제안서를 새 버전으로 생성</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500" b="0">
                          <a:solidFill>
                            <a:srgbClr val="2E3142"/>
                          </a:solidFill>
                          <a:latin typeface="210 OmniGothic 040"/>
                          <a:ea typeface="210 OmniGothic 040"/>
                          <a:cs typeface="210 OmniGothic 040"/>
                        </a:rPr>
                        <a:t>—</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297085390"/>
                  </a:ext>
                </a:extLst>
              </a:tr>
              <a:tr h="623316">
                <a:tc>
                  <a:txBody>
                    <a:bodyPr/>
                    <a:lstStyle/>
                    <a:p>
                      <a:pPr algn="ctr"/>
                      <a:r>
                        <a:rPr sz="1500" b="1">
                          <a:solidFill>
                            <a:srgbClr val="2E3142"/>
                          </a:solidFill>
                          <a:latin typeface="210 OmniGothic 040"/>
                          <a:ea typeface="210 OmniGothic 040"/>
                          <a:cs typeface="210 OmniGothic 040"/>
                        </a:rPr>
                        <a:t>UC-PRED-02</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500" b="0">
                          <a:solidFill>
                            <a:srgbClr val="2E3142"/>
                          </a:solidFill>
                          <a:latin typeface="210 OmniGothic 040"/>
                          <a:ea typeface="210 OmniGothic 040"/>
                          <a:cs typeface="210 OmniGothic 040"/>
                        </a:rPr>
                        <a:t>산불 위험도 확인</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500" b="0">
                          <a:solidFill>
                            <a:srgbClr val="2E3142"/>
                          </a:solidFill>
                          <a:latin typeface="210 OmniGothic 040"/>
                          <a:ea typeface="210 OmniGothic 040"/>
                          <a:cs typeface="210 OmniGothic 040"/>
                        </a:rPr>
                        <a:t>통합지휘권자 / 기상청 API·공공데이터</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500" b="0">
                          <a:solidFill>
                            <a:srgbClr val="FF0000"/>
                          </a:solidFill>
                          <a:latin typeface="210 OmniGothic 040"/>
                          <a:ea typeface="210 OmniGothic 040"/>
                          <a:cs typeface="210 OmniGothic 040"/>
                        </a:rPr>
                        <a:t>예측마다 P5 범위로 계산한 위험도 R(1.00~5.00)·요인 점수를 산불별로 확인, P5가 겹친 산불은 묶어 계산</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500" b="0" dirty="0">
                          <a:solidFill>
                            <a:srgbClr val="2E3142"/>
                          </a:solidFill>
                          <a:latin typeface="210 OmniGothic 040"/>
                          <a:ea typeface="210 OmniGothic 040"/>
                          <a:cs typeface="210 OmniGothic 040"/>
                        </a:rPr>
                        <a:t>—</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2866761485"/>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00"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2700" y="-12700"/>
            <a:ext cx="18313400" cy="1638300"/>
          </a:xfrm>
          <a:prstGeom prst="rect">
            <a:avLst/>
          </a:prstGeom>
        </p:spPr>
      </p:pic>
      <p:pic>
        <p:nvPicPr>
          <p:cNvPr id="5101"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628" y="1618343"/>
            <a:ext cx="18313400" cy="8699500"/>
          </a:xfrm>
          <a:prstGeom prst="rect">
            <a:avLst/>
          </a:prstGeom>
        </p:spPr>
      </p:pic>
      <p:pic>
        <p:nvPicPr>
          <p:cNvPr id="5102"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58800" y="9271000"/>
            <a:ext cx="17170400" cy="50800"/>
          </a:xfrm>
          <a:prstGeom prst="rect">
            <a:avLst/>
          </a:prstGeom>
        </p:spPr>
      </p:pic>
      <p:pic>
        <p:nvPicPr>
          <p:cNvPr id="5103" name="Picture 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278100" y="203200"/>
            <a:ext cx="1676400" cy="1409700"/>
          </a:xfrm>
          <a:prstGeom prst="rect">
            <a:avLst/>
          </a:prstGeom>
        </p:spPr>
      </p:pic>
      <p:sp>
        <p:nvSpPr>
          <p:cNvPr id="5104" name="Title"/>
          <p:cNvSpPr txBox="1"/>
          <p:nvPr/>
        </p:nvSpPr>
        <p:spPr>
          <a:xfrm>
            <a:off x="822960" y="384048"/>
            <a:ext cx="13258800" cy="877824"/>
          </a:xfrm>
          <a:prstGeom prst="rect">
            <a:avLst/>
          </a:prstGeom>
          <a:noFill/>
        </p:spPr>
        <p:txBody>
          <a:bodyPr wrap="square" lIns="0" tIns="0" rIns="0" bIns="0" anchor="ctr">
            <a:spAutoFit/>
          </a:bodyPr>
          <a:lstStyle/>
          <a:p>
            <a:pPr algn="l"/>
            <a:r>
              <a:rPr sz="4400" b="0">
                <a:solidFill>
                  <a:srgbClr val="FAA95A"/>
                </a:solidFill>
                <a:latin typeface="210 OmniGothic 050"/>
                <a:ea typeface="210 OmniGothic 050"/>
                <a:cs typeface="210 OmniGothic 050"/>
              </a:rPr>
              <a:t>03. 유스케이스 다이어그램</a:t>
            </a:r>
          </a:p>
        </p:txBody>
      </p:sp>
      <p:sp>
        <p:nvSpPr>
          <p:cNvPr id="5105" name="Subtitle"/>
          <p:cNvSpPr txBox="1"/>
          <p:nvPr/>
        </p:nvSpPr>
        <p:spPr>
          <a:xfrm>
            <a:off x="822960" y="1764792"/>
            <a:ext cx="16642080" cy="502920"/>
          </a:xfrm>
          <a:prstGeom prst="rect">
            <a:avLst/>
          </a:prstGeom>
          <a:noFill/>
        </p:spPr>
        <p:txBody>
          <a:bodyPr wrap="square" lIns="0" tIns="0" rIns="0" bIns="0" anchor="ctr">
            <a:spAutoFit/>
          </a:bodyPr>
          <a:lstStyle/>
          <a:p>
            <a:pPr algn="ctr"/>
            <a:r>
              <a:rPr sz="2600" b="1">
                <a:solidFill>
                  <a:srgbClr val="363A52"/>
                </a:solidFill>
                <a:latin typeface="210 OmniGothic 040"/>
                <a:ea typeface="210 OmniGothic 040"/>
                <a:cs typeface="210 OmniGothic 040"/>
              </a:rPr>
              <a:t>3. 식별자 목록 (2/2)</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sz="quarter" idx="12"/>
          </p:nvPr>
        </p:nvSpPr>
        <p:spPr/>
        <p:txBody>
          <a:bodyPr/>
          <a:lstStyle/>
          <a:p>
            <a:fld id="{B6F15528-21DE-4FAA-801E-634DDDAF4B2B}" type="slidenum">
              <a:rPr lang="en-US" smtClean="0"/>
              <a:pPr/>
              <a:t>19</a:t>
            </a:fld>
            <a:endParaRPr lang="en-US"/>
          </a:p>
        </p:txBody>
      </p:sp>
      <p:graphicFrame>
        <p:nvGraphicFramePr>
          <p:cNvPr id="5106" name="Table 5105"/>
          <p:cNvGraphicFramePr>
            <a:graphicFrameLocks noGrp="1"/>
          </p:cNvGraphicFramePr>
          <p:nvPr/>
        </p:nvGraphicFramePr>
        <p:xfrm>
          <a:off x="822960" y="2446020"/>
          <a:ext cx="16459200" cy="6241542"/>
        </p:xfrm>
        <a:graphic>
          <a:graphicData uri="http://schemas.openxmlformats.org/drawingml/2006/table">
            <a:tbl>
              <a:tblPr>
                <a:tableStyleId>{2D5ABB26-0587-4C30-8999-92F81FD0307C}</a:tableStyleId>
              </a:tblPr>
              <a:tblGrid>
                <a:gridCol w="1920240">
                  <a:extLst>
                    <a:ext uri="{9D8B030D-6E8A-4147-A177-3AD203B41FA5}">
                      <a16:colId xmlns:a16="http://schemas.microsoft.com/office/drawing/2014/main" val="20000"/>
                    </a:ext>
                  </a:extLst>
                </a:gridCol>
                <a:gridCol w="2834640">
                  <a:extLst>
                    <a:ext uri="{9D8B030D-6E8A-4147-A177-3AD203B41FA5}">
                      <a16:colId xmlns:a16="http://schemas.microsoft.com/office/drawing/2014/main" val="20001"/>
                    </a:ext>
                  </a:extLst>
                </a:gridCol>
                <a:gridCol w="3474720">
                  <a:extLst>
                    <a:ext uri="{9D8B030D-6E8A-4147-A177-3AD203B41FA5}">
                      <a16:colId xmlns:a16="http://schemas.microsoft.com/office/drawing/2014/main" val="20002"/>
                    </a:ext>
                  </a:extLst>
                </a:gridCol>
                <a:gridCol w="5852160">
                  <a:extLst>
                    <a:ext uri="{9D8B030D-6E8A-4147-A177-3AD203B41FA5}">
                      <a16:colId xmlns:a16="http://schemas.microsoft.com/office/drawing/2014/main" val="20003"/>
                    </a:ext>
                  </a:extLst>
                </a:gridCol>
                <a:gridCol w="2377440">
                  <a:extLst>
                    <a:ext uri="{9D8B030D-6E8A-4147-A177-3AD203B41FA5}">
                      <a16:colId xmlns:a16="http://schemas.microsoft.com/office/drawing/2014/main" val="20004"/>
                    </a:ext>
                  </a:extLst>
                </a:gridCol>
              </a:tblGrid>
              <a:tr h="375666">
                <a:tc>
                  <a:txBody>
                    <a:bodyPr/>
                    <a:lstStyle/>
                    <a:p>
                      <a:pPr algn="ctr"/>
                      <a:r>
                        <a:rPr sz="1500" b="1">
                          <a:solidFill>
                            <a:srgbClr val="FFFFFF"/>
                          </a:solidFill>
                          <a:latin typeface="210 OmniGothic 040"/>
                          <a:ea typeface="210 OmniGothic 040"/>
                          <a:cs typeface="210 OmniGothic 040"/>
                        </a:rPr>
                        <a:t>식별자</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tc>
                  <a:txBody>
                    <a:bodyPr/>
                    <a:lstStyle/>
                    <a:p>
                      <a:pPr algn="ctr"/>
                      <a:r>
                        <a:rPr sz="1500" b="1">
                          <a:solidFill>
                            <a:srgbClr val="FFFFFF"/>
                          </a:solidFill>
                          <a:latin typeface="210 OmniGothic 040"/>
                          <a:ea typeface="210 OmniGothic 040"/>
                          <a:cs typeface="210 OmniGothic 040"/>
                        </a:rPr>
                        <a:t>유스케이스 명</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tc>
                  <a:txBody>
                    <a:bodyPr/>
                    <a:lstStyle/>
                    <a:p>
                      <a:pPr algn="ctr"/>
                      <a:r>
                        <a:rPr sz="1500" b="1">
                          <a:solidFill>
                            <a:srgbClr val="FFFFFF"/>
                          </a:solidFill>
                          <a:latin typeface="210 OmniGothic 040"/>
                          <a:ea typeface="210 OmniGothic 040"/>
                          <a:cs typeface="210 OmniGothic 040"/>
                        </a:rPr>
                        <a:t>주요 액터(or 시스템)</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tc>
                  <a:txBody>
                    <a:bodyPr/>
                    <a:lstStyle/>
                    <a:p>
                      <a:pPr algn="ctr"/>
                      <a:r>
                        <a:rPr sz="1500" b="1">
                          <a:solidFill>
                            <a:srgbClr val="FFFFFF"/>
                          </a:solidFill>
                          <a:latin typeface="210 OmniGothic 040"/>
                          <a:ea typeface="210 OmniGothic 040"/>
                          <a:cs typeface="210 OmniGothic 040"/>
                        </a:rPr>
                        <a:t>설명</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tc>
                  <a:txBody>
                    <a:bodyPr/>
                    <a:lstStyle/>
                    <a:p>
                      <a:pPr algn="ctr"/>
                      <a:r>
                        <a:rPr sz="1500" b="1">
                          <a:solidFill>
                            <a:srgbClr val="FFFFFF"/>
                          </a:solidFill>
                          <a:latin typeface="210 OmniGothic 040"/>
                          <a:ea typeface="210 OmniGothic 040"/>
                          <a:cs typeface="210 OmniGothic 040"/>
                        </a:rPr>
                        <a:t>관계</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extLst>
                  <a:ext uri="{0D108BD9-81ED-4DB2-BD59-A6C34878D82A}">
                    <a16:rowId xmlns:a16="http://schemas.microsoft.com/office/drawing/2014/main" val="10000"/>
                  </a:ext>
                </a:extLst>
              </a:tr>
              <a:tr h="375666">
                <a:tc gridSpan="5">
                  <a:txBody>
                    <a:bodyPr/>
                    <a:lstStyle/>
                    <a:p>
                      <a:pPr algn="l"/>
                      <a:r>
                        <a:rPr sz="1500" b="1" dirty="0">
                          <a:solidFill>
                            <a:srgbClr val="2E3142"/>
                          </a:solidFill>
                          <a:latin typeface="210 OmniGothic 040"/>
                          <a:ea typeface="210 OmniGothic 040"/>
                          <a:cs typeface="210 OmniGothic 040"/>
                        </a:rPr>
                        <a:t>UC-PROP — </a:t>
                      </a:r>
                      <a:r>
                        <a:rPr sz="1500" b="1" dirty="0" err="1">
                          <a:solidFill>
                            <a:srgbClr val="2E3142"/>
                          </a:solidFill>
                          <a:latin typeface="210 OmniGothic 040"/>
                          <a:ea typeface="210 OmniGothic 040"/>
                          <a:cs typeface="210 OmniGothic 040"/>
                        </a:rPr>
                        <a:t>대응</a:t>
                      </a:r>
                      <a:r>
                        <a:rPr sz="1500" b="1" dirty="0">
                          <a:solidFill>
                            <a:srgbClr val="2E3142"/>
                          </a:solidFill>
                          <a:latin typeface="210 OmniGothic 040"/>
                          <a:ea typeface="210 OmniGothic 040"/>
                          <a:cs typeface="210 OmniGothic 040"/>
                        </a:rPr>
                        <a:t> </a:t>
                      </a:r>
                      <a:r>
                        <a:rPr sz="1500" b="1" dirty="0" err="1">
                          <a:solidFill>
                            <a:srgbClr val="2E3142"/>
                          </a:solidFill>
                          <a:latin typeface="210 OmniGothic 040"/>
                          <a:ea typeface="210 OmniGothic 040"/>
                          <a:cs typeface="210 OmniGothic 040"/>
                        </a:rPr>
                        <a:t>제안</a:t>
                      </a:r>
                      <a:r>
                        <a:rPr sz="1500" b="1" dirty="0">
                          <a:solidFill>
                            <a:srgbClr val="2E3142"/>
                          </a:solidFill>
                          <a:latin typeface="210 OmniGothic 040"/>
                          <a:ea typeface="210 OmniGothic 040"/>
                          <a:cs typeface="210 OmniGothic 040"/>
                        </a:rPr>
                        <a:t> (4개)</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5ECFC"/>
                    </a:solid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10001"/>
                  </a:ext>
                </a:extLst>
              </a:tr>
              <a:tr h="623316">
                <a:tc>
                  <a:txBody>
                    <a:bodyPr/>
                    <a:lstStyle/>
                    <a:p>
                      <a:pPr algn="ctr"/>
                      <a:r>
                        <a:rPr sz="1500" b="1">
                          <a:solidFill>
                            <a:srgbClr val="2E3142"/>
                          </a:solidFill>
                          <a:latin typeface="210 OmniGothic 040"/>
                          <a:ea typeface="210 OmniGothic 040"/>
                          <a:cs typeface="210 OmniGothic 040"/>
                        </a:rPr>
                        <a:t>UC-PROP-01</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500" b="0">
                          <a:solidFill>
                            <a:srgbClr val="2E3142"/>
                          </a:solidFill>
                          <a:latin typeface="210 OmniGothic 040"/>
                          <a:ea typeface="210 OmniGothic 040"/>
                          <a:cs typeface="210 OmniGothic 040"/>
                        </a:rPr>
                        <a:t>진화 제안 열람 (S1~S7)</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500" b="0">
                          <a:solidFill>
                            <a:srgbClr val="2E3142"/>
                          </a:solidFill>
                          <a:latin typeface="210 OmniGothic 040"/>
                          <a:ea typeface="210 OmniGothic 040"/>
                          <a:cs typeface="210 OmniGothic 040"/>
                        </a:rPr>
                        <a:t>통합지휘권자</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500" b="0">
                          <a:solidFill>
                            <a:srgbClr val="2E3142"/>
                          </a:solidFill>
                          <a:latin typeface="210 OmniGothic 040"/>
                          <a:ea typeface="210 OmniGothic 040"/>
                          <a:cs typeface="210 OmniGothic 040"/>
                        </a:rPr>
                        <a:t>진화 7항목을 즉시·대기·협의·요청별로 나열하고, 항목을 클릭해 판정 이유·대상·권한을 펼쳐 열람</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500" b="0">
                          <a:solidFill>
                            <a:srgbClr val="2E3142"/>
                          </a:solidFill>
                          <a:latin typeface="210 OmniGothic 040"/>
                          <a:ea typeface="210 OmniGothic 040"/>
                          <a:cs typeface="210 OmniGothic 040"/>
                        </a:rPr>
                        <a:t>—</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2"/>
                  </a:ext>
                </a:extLst>
              </a:tr>
              <a:tr h="623316">
                <a:tc>
                  <a:txBody>
                    <a:bodyPr/>
                    <a:lstStyle/>
                    <a:p>
                      <a:pPr algn="ctr"/>
                      <a:r>
                        <a:rPr sz="1500" b="1">
                          <a:solidFill>
                            <a:srgbClr val="2E3142"/>
                          </a:solidFill>
                          <a:latin typeface="210 OmniGothic 040"/>
                          <a:ea typeface="210 OmniGothic 040"/>
                          <a:cs typeface="210 OmniGothic 040"/>
                        </a:rPr>
                        <a:t>UC-PROP-02</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500" b="0">
                          <a:solidFill>
                            <a:srgbClr val="2E3142"/>
                          </a:solidFill>
                          <a:latin typeface="210 OmniGothic 040"/>
                          <a:ea typeface="210 OmniGothic 040"/>
                          <a:cs typeface="210 OmniGothic 040"/>
                        </a:rPr>
                        <a:t>대피 제안 열람 (E1~E7)</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500" b="0">
                          <a:solidFill>
                            <a:srgbClr val="2E3142"/>
                          </a:solidFill>
                          <a:latin typeface="210 OmniGothic 040"/>
                          <a:ea typeface="210 OmniGothic 040"/>
                          <a:cs typeface="210 OmniGothic 040"/>
                        </a:rPr>
                        <a:t>통합지휘권자</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500" b="0">
                          <a:solidFill>
                            <a:srgbClr val="2E3142"/>
                          </a:solidFill>
                          <a:latin typeface="210 OmniGothic 040"/>
                          <a:ea typeface="210 OmniGothic 040"/>
                          <a:cs typeface="210 OmniGothic 040"/>
                        </a:rPr>
                        <a:t>대피 7항목을 즉시·대기·협의·요청별로 나열하고, 항목을 클릭해 판정 이유·대상·권한을 펼쳐 열람</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500" b="0">
                          <a:solidFill>
                            <a:srgbClr val="2E3142"/>
                          </a:solidFill>
                          <a:latin typeface="210 OmniGothic 040"/>
                          <a:ea typeface="210 OmniGothic 040"/>
                          <a:cs typeface="210 OmniGothic 040"/>
                        </a:rPr>
                        <a:t>—</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414976076"/>
                  </a:ext>
                </a:extLst>
              </a:tr>
              <a:tr h="870966">
                <a:tc>
                  <a:txBody>
                    <a:bodyPr/>
                    <a:lstStyle/>
                    <a:p>
                      <a:pPr algn="ctr"/>
                      <a:r>
                        <a:rPr sz="1500" b="1">
                          <a:solidFill>
                            <a:srgbClr val="2E3142"/>
                          </a:solidFill>
                          <a:latin typeface="210 OmniGothic 040"/>
                          <a:ea typeface="210 OmniGothic 040"/>
                          <a:cs typeface="210 OmniGothic 040"/>
                        </a:rPr>
                        <a:t>UC-PROP-03</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500" b="0">
                          <a:solidFill>
                            <a:srgbClr val="2E3142"/>
                          </a:solidFill>
                          <a:latin typeface="210 OmniGothic 040"/>
                          <a:ea typeface="210 OmniGothic 040"/>
                          <a:cs typeface="210 OmniGothic 040"/>
                        </a:rPr>
                        <a:t>근거 조회</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500" b="0">
                          <a:solidFill>
                            <a:srgbClr val="2E3142"/>
                          </a:solidFill>
                          <a:latin typeface="210 OmniGothic 040"/>
                          <a:ea typeface="210 OmniGothic 040"/>
                          <a:cs typeface="210 OmniGothic 040"/>
                        </a:rPr>
                        <a:t>통합지휘권자</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500" b="0">
                          <a:solidFill>
                            <a:srgbClr val="2E3142"/>
                          </a:solidFill>
                          <a:latin typeface="210 OmniGothic 040"/>
                          <a:ea typeface="210 OmniGothic 040"/>
                          <a:cs typeface="210 OmniGothic 040"/>
                        </a:rPr>
                        <a:t>제안 문장·AI 답변의 근거 번호 [k]를 눌러 표준매뉴얼 문서·쪽수·조항·요약 확인</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500" b="0">
                          <a:solidFill>
                            <a:srgbClr val="2E3142"/>
                          </a:solidFill>
                          <a:latin typeface="210 OmniGothic 040"/>
                          <a:ea typeface="210 OmniGothic 040"/>
                          <a:cs typeface="210 OmniGothic 040"/>
                        </a:rPr>
                        <a:t>Extend UC-PROP-01, UC-PROP-02, UC-QA-01</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975703745"/>
                  </a:ext>
                </a:extLst>
              </a:tr>
              <a:tr h="623316">
                <a:tc>
                  <a:txBody>
                    <a:bodyPr/>
                    <a:lstStyle/>
                    <a:p>
                      <a:pPr algn="ctr"/>
                      <a:r>
                        <a:rPr sz="1500" b="1">
                          <a:solidFill>
                            <a:srgbClr val="2E3142"/>
                          </a:solidFill>
                          <a:latin typeface="210 OmniGothic 040"/>
                          <a:ea typeface="210 OmniGothic 040"/>
                          <a:cs typeface="210 OmniGothic 040"/>
                        </a:rPr>
                        <a:t>UC-PROP-04</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500" b="0">
                          <a:solidFill>
                            <a:srgbClr val="2E3142"/>
                          </a:solidFill>
                          <a:latin typeface="210 OmniGothic 040"/>
                          <a:ea typeface="210 OmniGothic 040"/>
                          <a:cs typeface="210 OmniGothic 040"/>
                        </a:rPr>
                        <a:t>제안 이력·변경사항 조회</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500" b="0">
                          <a:solidFill>
                            <a:srgbClr val="2E3142"/>
                          </a:solidFill>
                          <a:latin typeface="210 OmniGothic 040"/>
                          <a:ea typeface="210 OmniGothic 040"/>
                          <a:cs typeface="210 OmniGothic 040"/>
                        </a:rPr>
                        <a:t>통합지휘권자</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500" b="0">
                          <a:solidFill>
                            <a:srgbClr val="2E3142"/>
                          </a:solidFill>
                          <a:latin typeface="210 OmniGothic 040"/>
                          <a:ea typeface="210 OmniGothic 040"/>
                          <a:cs typeface="210 OmniGothic 040"/>
                        </a:rPr>
                        <a:t>제안서 버전별 이력 조회 및 '변경' 태그 항목의 직전 버전 대비 변경 내용 팝업 확인, 이벤트 로그 읽기 전용 열람</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500" b="0">
                          <a:solidFill>
                            <a:srgbClr val="2E3142"/>
                          </a:solidFill>
                          <a:latin typeface="210 OmniGothic 040"/>
                          <a:ea typeface="210 OmniGothic 040"/>
                          <a:cs typeface="210 OmniGothic 040"/>
                        </a:rPr>
                        <a:t>Extend UC-PROP-01, UC-PROP-02</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293778524"/>
                  </a:ext>
                </a:extLst>
              </a:tr>
              <a:tr h="375666">
                <a:tc gridSpan="5">
                  <a:txBody>
                    <a:bodyPr/>
                    <a:lstStyle/>
                    <a:p>
                      <a:pPr algn="l"/>
                      <a:r>
                        <a:rPr sz="1500" b="1" dirty="0">
                          <a:solidFill>
                            <a:srgbClr val="2E3142"/>
                          </a:solidFill>
                          <a:latin typeface="210 OmniGothic 040"/>
                          <a:ea typeface="210 OmniGothic 040"/>
                          <a:cs typeface="210 OmniGothic 040"/>
                        </a:rPr>
                        <a:t>UC-QA — </a:t>
                      </a:r>
                      <a:r>
                        <a:rPr sz="1500" b="1" dirty="0" err="1">
                          <a:solidFill>
                            <a:srgbClr val="2E3142"/>
                          </a:solidFill>
                          <a:latin typeface="210 OmniGothic 040"/>
                          <a:ea typeface="210 OmniGothic 040"/>
                          <a:cs typeface="210 OmniGothic 040"/>
                        </a:rPr>
                        <a:t>질의응답</a:t>
                      </a:r>
                      <a:r>
                        <a:rPr sz="1500" b="1" dirty="0">
                          <a:solidFill>
                            <a:srgbClr val="2E3142"/>
                          </a:solidFill>
                          <a:latin typeface="210 OmniGothic 040"/>
                          <a:ea typeface="210 OmniGothic 040"/>
                          <a:cs typeface="210 OmniGothic 040"/>
                        </a:rPr>
                        <a:t> (2개)</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E6F7F5"/>
                    </a:solid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715313082"/>
                  </a:ext>
                </a:extLst>
              </a:tr>
              <a:tr h="623316">
                <a:tc>
                  <a:txBody>
                    <a:bodyPr/>
                    <a:lstStyle/>
                    <a:p>
                      <a:pPr algn="ctr"/>
                      <a:r>
                        <a:rPr sz="1500" b="1">
                          <a:solidFill>
                            <a:srgbClr val="2E3142"/>
                          </a:solidFill>
                          <a:latin typeface="210 OmniGothic 040"/>
                          <a:ea typeface="210 OmniGothic 040"/>
                          <a:cs typeface="210 OmniGothic 040"/>
                        </a:rPr>
                        <a:t>UC-QA-01</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500" b="0">
                          <a:solidFill>
                            <a:srgbClr val="2E3142"/>
                          </a:solidFill>
                          <a:latin typeface="210 OmniGothic 040"/>
                          <a:ea typeface="210 OmniGothic 040"/>
                          <a:cs typeface="210 OmniGothic 040"/>
                        </a:rPr>
                        <a:t>AI 질의응답</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500" b="0">
                          <a:solidFill>
                            <a:srgbClr val="2E3142"/>
                          </a:solidFill>
                          <a:latin typeface="210 OmniGothic 040"/>
                          <a:ea typeface="210 OmniGothic 040"/>
                          <a:cs typeface="210 OmniGothic 040"/>
                        </a:rPr>
                        <a:t>통합지휘권자 / AI 모델</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500" b="0">
                          <a:solidFill>
                            <a:srgbClr val="2E3142"/>
                          </a:solidFill>
                          <a:latin typeface="210 OmniGothic 040"/>
                          <a:ea typeface="210 OmniGothic 040"/>
                          <a:cs typeface="210 OmniGothic 040"/>
                        </a:rPr>
                        <a:t>상황·제안·근거를 자연어나 빠른 질문으로 묻고 근거 번호가 붙은 답 확인 (상황·제안 불변)</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500" b="0">
                          <a:solidFill>
                            <a:srgbClr val="2E3142"/>
                          </a:solidFill>
                          <a:latin typeface="210 OmniGothic 040"/>
                          <a:ea typeface="210 OmniGothic 040"/>
                          <a:cs typeface="210 OmniGothic 040"/>
                        </a:rPr>
                        <a:t>—</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633087343"/>
                  </a:ext>
                </a:extLst>
              </a:tr>
              <a:tr h="623316">
                <a:tc>
                  <a:txBody>
                    <a:bodyPr/>
                    <a:lstStyle/>
                    <a:p>
                      <a:pPr algn="ctr"/>
                      <a:r>
                        <a:rPr sz="1500" b="1">
                          <a:solidFill>
                            <a:srgbClr val="2E3142"/>
                          </a:solidFill>
                          <a:latin typeface="210 OmniGothic 040"/>
                          <a:ea typeface="210 OmniGothic 040"/>
                          <a:cs typeface="210 OmniGothic 040"/>
                        </a:rPr>
                        <a:t>UC-QA-02</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500" b="0">
                          <a:solidFill>
                            <a:srgbClr val="2E3142"/>
                          </a:solidFill>
                          <a:latin typeface="210 OmniGothic 040"/>
                          <a:ea typeface="210 OmniGothic 040"/>
                          <a:cs typeface="210 OmniGothic 040"/>
                        </a:rPr>
                        <a:t>AI 상황 정정 요청</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500" b="0">
                          <a:solidFill>
                            <a:srgbClr val="2E3142"/>
                          </a:solidFill>
                          <a:latin typeface="210 OmniGothic 040"/>
                          <a:ea typeface="210 OmniGothic 040"/>
                          <a:cs typeface="210 OmniGothic 040"/>
                        </a:rPr>
                        <a:t>통합지휘권자 / AI 모델</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500" b="0">
                          <a:solidFill>
                            <a:srgbClr val="2E3142"/>
                          </a:solidFill>
                          <a:latin typeface="210 OmniGothic 040"/>
                          <a:ea typeface="210 OmniGothic 040"/>
                          <a:cs typeface="210 OmniGothic 040"/>
                        </a:rPr>
                        <a:t>대피 완료·자원 투입 등 상황 변화를 확인 후 저장하고, 예측은 유지한 채 제안서 재생성</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500" b="0">
                          <a:solidFill>
                            <a:srgbClr val="2E3142"/>
                          </a:solidFill>
                          <a:latin typeface="210 OmniGothic 040"/>
                          <a:ea typeface="210 OmniGothic 040"/>
                          <a:cs typeface="210 OmniGothic 040"/>
                        </a:rPr>
                        <a:t>Extend UC-QA-01 (상황 변화 입력 시)</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3037204945"/>
                  </a:ext>
                </a:extLst>
              </a:tr>
              <a:tr h="375666">
                <a:tc gridSpan="5">
                  <a:txBody>
                    <a:bodyPr/>
                    <a:lstStyle/>
                    <a:p>
                      <a:pPr algn="l"/>
                      <a:r>
                        <a:rPr sz="1500" b="1" dirty="0">
                          <a:solidFill>
                            <a:srgbClr val="2E3142"/>
                          </a:solidFill>
                          <a:latin typeface="210 OmniGothic 040"/>
                          <a:ea typeface="210 OmniGothic 040"/>
                          <a:cs typeface="210 OmniGothic 040"/>
                        </a:rPr>
                        <a:t>UC-ADMIN — </a:t>
                      </a:r>
                      <a:r>
                        <a:rPr sz="1500" b="1" dirty="0" err="1">
                          <a:solidFill>
                            <a:srgbClr val="2E3142"/>
                          </a:solidFill>
                          <a:latin typeface="210 OmniGothic 040"/>
                          <a:ea typeface="210 OmniGothic 040"/>
                          <a:cs typeface="210 OmniGothic 040"/>
                        </a:rPr>
                        <a:t>평시</a:t>
                      </a:r>
                      <a:r>
                        <a:rPr sz="1500" b="1" dirty="0">
                          <a:solidFill>
                            <a:srgbClr val="2E3142"/>
                          </a:solidFill>
                          <a:latin typeface="210 OmniGothic 040"/>
                          <a:ea typeface="210 OmniGothic 040"/>
                          <a:cs typeface="210 OmniGothic 040"/>
                        </a:rPr>
                        <a:t> </a:t>
                      </a:r>
                      <a:r>
                        <a:rPr sz="1500" b="1" dirty="0" err="1">
                          <a:solidFill>
                            <a:srgbClr val="2E3142"/>
                          </a:solidFill>
                          <a:latin typeface="210 OmniGothic 040"/>
                          <a:ea typeface="210 OmniGothic 040"/>
                          <a:cs typeface="210 OmniGothic 040"/>
                        </a:rPr>
                        <a:t>관리</a:t>
                      </a:r>
                      <a:r>
                        <a:rPr sz="1500" b="1" dirty="0">
                          <a:solidFill>
                            <a:srgbClr val="2E3142"/>
                          </a:solidFill>
                          <a:latin typeface="210 OmniGothic 040"/>
                          <a:ea typeface="210 OmniGothic 040"/>
                          <a:cs typeface="210 OmniGothic 040"/>
                        </a:rPr>
                        <a:t> (2개)</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DECEC"/>
                    </a:solid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2110027826"/>
                  </a:ext>
                </a:extLst>
              </a:tr>
              <a:tr h="375666">
                <a:tc>
                  <a:txBody>
                    <a:bodyPr/>
                    <a:lstStyle/>
                    <a:p>
                      <a:pPr algn="ctr"/>
                      <a:r>
                        <a:rPr sz="1500" b="1">
                          <a:solidFill>
                            <a:srgbClr val="2E3142"/>
                          </a:solidFill>
                          <a:latin typeface="210 OmniGothic 040"/>
                          <a:ea typeface="210 OmniGothic 040"/>
                          <a:cs typeface="210 OmniGothic 040"/>
                        </a:rPr>
                        <a:t>UC-ADMIN-01</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500" b="0">
                          <a:solidFill>
                            <a:srgbClr val="2E3142"/>
                          </a:solidFill>
                          <a:latin typeface="210 OmniGothic 040"/>
                          <a:ea typeface="210 OmniGothic 040"/>
                          <a:cs typeface="210 OmniGothic 040"/>
                        </a:rPr>
                        <a:t>계정·권한 관리</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500" b="0">
                          <a:solidFill>
                            <a:srgbClr val="2E3142"/>
                          </a:solidFill>
                          <a:latin typeface="210 OmniGothic 040"/>
                          <a:ea typeface="210 OmniGothic 040"/>
                          <a:cs typeface="210 OmniGothic 040"/>
                        </a:rPr>
                        <a:t>전산 관리자</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500" b="0">
                          <a:solidFill>
                            <a:srgbClr val="2E3142"/>
                          </a:solidFill>
                          <a:latin typeface="210 OmniGothic 040"/>
                          <a:ea typeface="210 OmniGothic 040"/>
                          <a:cs typeface="210 OmniGothic 040"/>
                        </a:rPr>
                        <a:t>사용자 계정 발급·회수 및 조작·열람·보고 권한 지정</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500" b="0">
                          <a:solidFill>
                            <a:srgbClr val="2E3142"/>
                          </a:solidFill>
                          <a:latin typeface="210 OmniGothic 040"/>
                          <a:ea typeface="210 OmniGothic 040"/>
                          <a:cs typeface="210 OmniGothic 040"/>
                        </a:rPr>
                        <a:t>—</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70982166"/>
                  </a:ext>
                </a:extLst>
              </a:tr>
              <a:tr h="375666">
                <a:tc>
                  <a:txBody>
                    <a:bodyPr/>
                    <a:lstStyle/>
                    <a:p>
                      <a:pPr algn="ctr"/>
                      <a:r>
                        <a:rPr sz="1500" b="1">
                          <a:solidFill>
                            <a:srgbClr val="2E3142"/>
                          </a:solidFill>
                          <a:latin typeface="210 OmniGothic 040"/>
                          <a:ea typeface="210 OmniGothic 040"/>
                          <a:cs typeface="210 OmniGothic 040"/>
                        </a:rPr>
                        <a:t>UC-ADMIN-02</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500" b="0">
                          <a:solidFill>
                            <a:srgbClr val="2E3142"/>
                          </a:solidFill>
                          <a:latin typeface="210 OmniGothic 040"/>
                          <a:ea typeface="210 OmniGothic 040"/>
                          <a:cs typeface="210 OmniGothic 040"/>
                        </a:rPr>
                        <a:t>진화자원 데이터 관리</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500" b="0">
                          <a:solidFill>
                            <a:srgbClr val="2E3142"/>
                          </a:solidFill>
                          <a:latin typeface="210 OmniGothic 040"/>
                          <a:ea typeface="210 OmniGothic 040"/>
                          <a:cs typeface="210 OmniGothic 040"/>
                        </a:rPr>
                        <a:t>전산 관리자</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500" b="0">
                          <a:solidFill>
                            <a:srgbClr val="2E3142"/>
                          </a:solidFill>
                          <a:latin typeface="210 OmniGothic 040"/>
                          <a:ea typeface="210 OmniGothic 040"/>
                          <a:cs typeface="210 OmniGothic 040"/>
                        </a:rPr>
                        <a:t>보유 헬기·차량·인력 데이터 등록·수정·삭제</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500" b="0" dirty="0">
                          <a:solidFill>
                            <a:srgbClr val="2E3142"/>
                          </a:solidFill>
                          <a:latin typeface="210 OmniGothic 040"/>
                          <a:ea typeface="210 OmniGothic 040"/>
                          <a:cs typeface="210 OmniGothic 040"/>
                        </a:rPr>
                        <a:t>—</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2855190266"/>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05"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700" y="-12700"/>
            <a:ext cx="18313400" cy="1638300"/>
          </a:xfrm>
          <a:prstGeom prst="rect">
            <a:avLst/>
          </a:prstGeom>
        </p:spPr>
      </p:pic>
      <p:pic>
        <p:nvPicPr>
          <p:cNvPr id="5106"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28" y="1618343"/>
            <a:ext cx="18313400" cy="8699500"/>
          </a:xfrm>
          <a:prstGeom prst="rect">
            <a:avLst/>
          </a:prstGeom>
        </p:spPr>
      </p:pic>
      <p:pic>
        <p:nvPicPr>
          <p:cNvPr id="5107"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58800" y="9271000"/>
            <a:ext cx="17170400" cy="50800"/>
          </a:xfrm>
          <a:prstGeom prst="rect">
            <a:avLst/>
          </a:prstGeom>
        </p:spPr>
      </p:pic>
      <p:pic>
        <p:nvPicPr>
          <p:cNvPr id="5108" name="Picture 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278100" y="203200"/>
            <a:ext cx="1676400" cy="1409700"/>
          </a:xfrm>
          <a:prstGeom prst="rect">
            <a:avLst/>
          </a:prstGeom>
        </p:spPr>
      </p:pic>
      <p:sp>
        <p:nvSpPr>
          <p:cNvPr id="5109" name="Title"/>
          <p:cNvSpPr txBox="1"/>
          <p:nvPr/>
        </p:nvSpPr>
        <p:spPr>
          <a:xfrm>
            <a:off x="822960" y="384048"/>
            <a:ext cx="13258800" cy="877824"/>
          </a:xfrm>
          <a:prstGeom prst="rect">
            <a:avLst/>
          </a:prstGeom>
          <a:noFill/>
        </p:spPr>
        <p:txBody>
          <a:bodyPr wrap="square" lIns="0" tIns="0" rIns="0" bIns="0" anchor="ctr">
            <a:spAutoFit/>
          </a:bodyPr>
          <a:lstStyle/>
          <a:p>
            <a:pPr algn="l"/>
            <a:r>
              <a:rPr sz="4400" b="0">
                <a:solidFill>
                  <a:srgbClr val="FAA95A"/>
                </a:solidFill>
                <a:latin typeface="210 OmniGothic 050"/>
                <a:ea typeface="210 OmniGothic 050"/>
                <a:cs typeface="210 OmniGothic 050"/>
              </a:rPr>
              <a:t>03. 유스케이스 다이어그램</a:t>
            </a:r>
          </a:p>
        </p:txBody>
      </p:sp>
      <p:sp>
        <p:nvSpPr>
          <p:cNvPr id="5110" name="Subtitle"/>
          <p:cNvSpPr txBox="1"/>
          <p:nvPr/>
        </p:nvSpPr>
        <p:spPr>
          <a:xfrm>
            <a:off x="822960" y="1764792"/>
            <a:ext cx="16642080" cy="502920"/>
          </a:xfrm>
          <a:prstGeom prst="rect">
            <a:avLst/>
          </a:prstGeom>
          <a:noFill/>
        </p:spPr>
        <p:txBody>
          <a:bodyPr wrap="square" lIns="0" tIns="0" rIns="0" bIns="0" anchor="ctr">
            <a:spAutoFit/>
          </a:bodyPr>
          <a:lstStyle/>
          <a:p>
            <a:pPr algn="ctr"/>
            <a:r>
              <a:rPr sz="2600" b="1">
                <a:solidFill>
                  <a:srgbClr val="363A52"/>
                </a:solidFill>
                <a:latin typeface="210 OmniGothic 040"/>
                <a:ea typeface="210 OmniGothic 040"/>
                <a:cs typeface="210 OmniGothic 040"/>
              </a:rPr>
              <a:t>4. 시나리오 – 로그인</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sz="quarter" idx="12"/>
          </p:nvPr>
        </p:nvSpPr>
        <p:spPr/>
        <p:txBody>
          <a:bodyPr/>
          <a:lstStyle/>
          <a:p>
            <a:fld id="{B6F15528-21DE-4FAA-801E-634DDDAF4B2B}" type="slidenum">
              <a:rPr lang="en-US" smtClean="0"/>
              <a:pPr/>
              <a:t>20</a:t>
            </a:fld>
            <a:endParaRPr lang="en-US"/>
          </a:p>
        </p:txBody>
      </p:sp>
      <p:graphicFrame>
        <p:nvGraphicFramePr>
          <p:cNvPr id="5111" name="Table 5110"/>
          <p:cNvGraphicFramePr>
            <a:graphicFrameLocks noGrp="1"/>
          </p:cNvGraphicFramePr>
          <p:nvPr/>
        </p:nvGraphicFramePr>
        <p:xfrm>
          <a:off x="1337310" y="2395728"/>
          <a:ext cx="15430500" cy="5496560"/>
        </p:xfrm>
        <a:graphic>
          <a:graphicData uri="http://schemas.openxmlformats.org/drawingml/2006/table">
            <a:tbl>
              <a:tblPr>
                <a:tableStyleId>{2D5ABB26-0587-4C30-8999-92F81FD0307C}</a:tableStyleId>
              </a:tblPr>
              <a:tblGrid>
                <a:gridCol w="1943100">
                  <a:extLst>
                    <a:ext uri="{9D8B030D-6E8A-4147-A177-3AD203B41FA5}">
                      <a16:colId xmlns:a16="http://schemas.microsoft.com/office/drawing/2014/main" val="20000"/>
                    </a:ext>
                  </a:extLst>
                </a:gridCol>
                <a:gridCol w="1657350">
                  <a:extLst>
                    <a:ext uri="{9D8B030D-6E8A-4147-A177-3AD203B41FA5}">
                      <a16:colId xmlns:a16="http://schemas.microsoft.com/office/drawing/2014/main" val="20001"/>
                    </a:ext>
                  </a:extLst>
                </a:gridCol>
                <a:gridCol w="11830050">
                  <a:extLst>
                    <a:ext uri="{9D8B030D-6E8A-4147-A177-3AD203B41FA5}">
                      <a16:colId xmlns:a16="http://schemas.microsoft.com/office/drawing/2014/main" val="20002"/>
                    </a:ext>
                  </a:extLst>
                </a:gridCol>
              </a:tblGrid>
              <a:tr h="407543">
                <a:tc rowSpan="8">
                  <a:txBody>
                    <a:bodyPr/>
                    <a:lstStyle/>
                    <a:p>
                      <a:pPr algn="ctr"/>
                      <a:r>
                        <a:rPr sz="1550" b="1">
                          <a:solidFill>
                            <a:srgbClr val="FFFFFF"/>
                          </a:solidFill>
                          <a:latin typeface="210 OmniGothic 040"/>
                          <a:ea typeface="210 OmniGothic 040"/>
                          <a:cs typeface="210 OmniGothic 040"/>
                        </a:rPr>
                        <a:t>UC-AUTH-01</a:t>
                      </a:r>
                    </a:p>
                  </a:txBody>
                  <a:tcPr marT="40233" marB="40233" anchor="ctr">
                    <a:lnL w="9525">
                      <a:solidFill>
                        <a:srgbClr val="FFFFFF"/>
                      </a:solidFill>
                    </a:lnL>
                    <a:lnR w="9525">
                      <a:solidFill>
                        <a:srgbClr val="FFFFFF"/>
                      </a:solidFill>
                    </a:lnR>
                    <a:lnT w="9525">
                      <a:solidFill>
                        <a:srgbClr val="FFFFFF"/>
                      </a:solidFill>
                    </a:lnT>
                    <a:lnB w="9525">
                      <a:solidFill>
                        <a:srgbClr val="FFFFFF"/>
                      </a:solidFill>
                    </a:lnB>
                    <a:solidFill>
                      <a:srgbClr val="FAA95A"/>
                    </a:solidFill>
                  </a:tcPr>
                </a:tc>
                <a:tc gridSpan="2">
                  <a:txBody>
                    <a:bodyPr/>
                    <a:lstStyle/>
                    <a:p>
                      <a:pPr algn="ctr"/>
                      <a:r>
                        <a:rPr sz="1550" b="1">
                          <a:solidFill>
                            <a:srgbClr val="FFFFFF"/>
                          </a:solidFill>
                          <a:latin typeface="210 OmniGothic 040"/>
                          <a:ea typeface="210 OmniGothic 040"/>
                          <a:cs typeface="210 OmniGothic 040"/>
                        </a:rPr>
                        <a:t>로그인</a:t>
                      </a:r>
                    </a:p>
                  </a:txBody>
                  <a:tcPr marT="40233" marB="40233" anchor="ctr">
                    <a:lnL w="9525">
                      <a:solidFill>
                        <a:srgbClr val="FFFFFF"/>
                      </a:solidFill>
                    </a:lnL>
                    <a:lnR w="9525">
                      <a:solidFill>
                        <a:srgbClr val="FFFFFF"/>
                      </a:solidFill>
                    </a:lnR>
                    <a:lnT w="9525">
                      <a:solidFill>
                        <a:srgbClr val="FFFFFF"/>
                      </a:solidFill>
                    </a:lnT>
                    <a:lnB w="9525">
                      <a:solidFill>
                        <a:srgbClr val="FFFFFF"/>
                      </a:solidFill>
                    </a:lnB>
                    <a:solidFill>
                      <a:srgbClr val="363A52"/>
                    </a:solidFill>
                  </a:tcPr>
                </a:tc>
                <a:tc hMerge="1">
                  <a:txBody>
                    <a:bodyPr/>
                    <a:lstStyle/>
                    <a:p>
                      <a:endParaRPr/>
                    </a:p>
                  </a:txBody>
                  <a:tcPr/>
                </a:tc>
                <a:extLst>
                  <a:ext uri="{0D108BD9-81ED-4DB2-BD59-A6C34878D82A}">
                    <a16:rowId xmlns:a16="http://schemas.microsoft.com/office/drawing/2014/main" val="10000"/>
                  </a:ext>
                </a:extLst>
              </a:tr>
              <a:tr h="687070">
                <a:tc vMerge="1">
                  <a:txBody>
                    <a:bodyPr/>
                    <a:lstStyle/>
                    <a:p>
                      <a:endParaRPr/>
                    </a:p>
                  </a:txBody>
                  <a:tcPr/>
                </a:tc>
                <a:tc>
                  <a:txBody>
                    <a:bodyPr/>
                    <a:lstStyle/>
                    <a:p>
                      <a:pPr algn="l"/>
                      <a:r>
                        <a:rPr sz="1550" b="1">
                          <a:solidFill>
                            <a:srgbClr val="363A52"/>
                          </a:solidFill>
                          <a:latin typeface="210 OmniGothic 040"/>
                          <a:ea typeface="210 OmniGothic 040"/>
                          <a:cs typeface="210 OmniGothic 040"/>
                        </a:rPr>
                        <a:t>개요</a:t>
                      </a:r>
                    </a:p>
                  </a:txBody>
                  <a:tcPr marL="137160" marR="137160" marT="60350" marB="60350" anchor="ctr">
                    <a:lnL w="9525">
                      <a:solidFill>
                        <a:srgbClr val="D9DCE5"/>
                      </a:solidFill>
                    </a:lnL>
                    <a:lnR w="9525">
                      <a:solidFill>
                        <a:srgbClr val="D9DCE5"/>
                      </a:solidFill>
                    </a:lnR>
                    <a:lnT w="9525" cap="flat" cmpd="sng" algn="ctr">
                      <a:solidFill>
                        <a:srgbClr val="FFFFFF"/>
                      </a:solidFill>
                      <a:prstDash val="solid"/>
                      <a:round/>
                      <a:headEnd type="none" w="med" len="med"/>
                      <a:tailEnd type="none" w="med" len="med"/>
                    </a:lnT>
                    <a:lnB w="9525">
                      <a:solidFill>
                        <a:srgbClr val="D9DCE5"/>
                      </a:solidFill>
                    </a:lnB>
                    <a:solidFill>
                      <a:srgbClr val="F3F4F8"/>
                    </a:solidFill>
                  </a:tcPr>
                </a:tc>
                <a:tc>
                  <a:txBody>
                    <a:bodyPr/>
                    <a:lstStyle/>
                    <a:p>
                      <a:pPr algn="l">
                        <a:lnSpc>
                          <a:spcPct val="110000"/>
                        </a:lnSpc>
                      </a:pPr>
                      <a:r>
                        <a:rPr sz="1550" b="0">
                          <a:solidFill>
                            <a:srgbClr val="363A52"/>
                          </a:solidFill>
                          <a:latin typeface="210 OmniGothic 040"/>
                          <a:ea typeface="210 OmniGothic 040"/>
                          <a:cs typeface="210 OmniGothic 040"/>
                        </a:rPr>
                        <a:t>사용자가 전산 관리자에게 발급받은 계정으로 인증하고, 권한(조작·열람·보고·관리)에 맞는 첫 화면으로 들어간다. 회원가입은 없다</a:t>
                      </a:r>
                    </a:p>
                  </a:txBody>
                  <a:tcPr marL="137160" marR="137160" marT="50292" marB="5029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1"/>
                  </a:ext>
                </a:extLst>
              </a:tr>
              <a:tr h="407543">
                <a:tc vMerge="1">
                  <a:txBody>
                    <a:bodyPr/>
                    <a:lstStyle/>
                    <a:p>
                      <a:endParaRPr/>
                    </a:p>
                  </a:txBody>
                  <a:tcPr/>
                </a:tc>
                <a:tc>
                  <a:txBody>
                    <a:bodyPr/>
                    <a:lstStyle/>
                    <a:p>
                      <a:pPr algn="l"/>
                      <a:r>
                        <a:rPr sz="1550" b="1">
                          <a:solidFill>
                            <a:srgbClr val="363A52"/>
                          </a:solidFill>
                          <a:latin typeface="210 OmniGothic 040"/>
                          <a:ea typeface="210 OmniGothic 040"/>
                          <a:cs typeface="210 OmniGothic 040"/>
                        </a:rPr>
                        <a:t>액터</a:t>
                      </a:r>
                    </a:p>
                  </a:txBody>
                  <a:tcPr marL="137160" marR="137160" marT="60350" marB="60350" anchor="ctr">
                    <a:lnL w="9525">
                      <a:solidFill>
                        <a:srgbClr val="D9DCE5"/>
                      </a:solidFill>
                    </a:lnL>
                    <a:lnR w="9525">
                      <a:solidFill>
                        <a:srgbClr val="D9DCE5"/>
                      </a:solidFill>
                    </a:lnR>
                    <a:lnT w="9525">
                      <a:solidFill>
                        <a:srgbClr val="D9DCE5"/>
                      </a:solidFill>
                    </a:lnT>
                    <a:lnB w="9525">
                      <a:solidFill>
                        <a:srgbClr val="D9DCE5"/>
                      </a:solidFill>
                    </a:lnB>
                    <a:solidFill>
                      <a:srgbClr val="F3F4F8"/>
                    </a:solidFill>
                  </a:tcPr>
                </a:tc>
                <a:tc>
                  <a:txBody>
                    <a:bodyPr/>
                    <a:lstStyle/>
                    <a:p>
                      <a:pPr algn="l">
                        <a:lnSpc>
                          <a:spcPct val="110000"/>
                        </a:lnSpc>
                      </a:pPr>
                      <a:r>
                        <a:rPr sz="1550" b="0">
                          <a:solidFill>
                            <a:srgbClr val="363A52"/>
                          </a:solidFill>
                          <a:latin typeface="210 OmniGothic 040"/>
                          <a:ea typeface="210 OmniGothic 040"/>
                          <a:cs typeface="210 OmniGothic 040"/>
                        </a:rPr>
                        <a:t>통합지휘권자, 열람자, 상황 보고자, 전산 관리자</a:t>
                      </a:r>
                    </a:p>
                  </a:txBody>
                  <a:tcPr marL="137160" marR="137160" marT="50292" marB="5029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2"/>
                  </a:ext>
                </a:extLst>
              </a:tr>
              <a:tr h="407543">
                <a:tc vMerge="1">
                  <a:txBody>
                    <a:bodyPr/>
                    <a:lstStyle/>
                    <a:p>
                      <a:endParaRPr/>
                    </a:p>
                  </a:txBody>
                  <a:tcPr/>
                </a:tc>
                <a:tc>
                  <a:txBody>
                    <a:bodyPr/>
                    <a:lstStyle/>
                    <a:p>
                      <a:pPr algn="l"/>
                      <a:r>
                        <a:rPr sz="1550" b="1">
                          <a:solidFill>
                            <a:srgbClr val="363A52"/>
                          </a:solidFill>
                          <a:latin typeface="210 OmniGothic 040"/>
                          <a:ea typeface="210 OmniGothic 040"/>
                          <a:cs typeface="210 OmniGothic 040"/>
                        </a:rPr>
                        <a:t>시작 조건</a:t>
                      </a:r>
                    </a:p>
                  </a:txBody>
                  <a:tcPr marL="137160" marR="137160" marT="60350" marB="60350" anchor="ctr">
                    <a:lnL w="9525">
                      <a:solidFill>
                        <a:srgbClr val="D9DCE5"/>
                      </a:solidFill>
                    </a:lnL>
                    <a:lnR w="9525">
                      <a:solidFill>
                        <a:srgbClr val="D9DCE5"/>
                      </a:solidFill>
                    </a:lnR>
                    <a:lnT w="9525">
                      <a:solidFill>
                        <a:srgbClr val="D9DCE5"/>
                      </a:solidFill>
                    </a:lnT>
                    <a:lnB w="9525">
                      <a:solidFill>
                        <a:srgbClr val="D9DCE5"/>
                      </a:solidFill>
                    </a:lnB>
                    <a:solidFill>
                      <a:srgbClr val="F3F4F8"/>
                    </a:solidFill>
                  </a:tcPr>
                </a:tc>
                <a:tc>
                  <a:txBody>
                    <a:bodyPr/>
                    <a:lstStyle/>
                    <a:p>
                      <a:pPr algn="l">
                        <a:lnSpc>
                          <a:spcPct val="110000"/>
                        </a:lnSpc>
                      </a:pPr>
                      <a:r>
                        <a:rPr sz="1550" b="0">
                          <a:solidFill>
                            <a:srgbClr val="363A52"/>
                          </a:solidFill>
                          <a:latin typeface="210 OmniGothic 040"/>
                          <a:ea typeface="210 OmniGothic 040"/>
                          <a:cs typeface="210 OmniGothic 040"/>
                        </a:rPr>
                        <a:t>전산 관리자가 계정과 권한을 미리 발급해 두었다 (UC-ADMIN-01)</a:t>
                      </a:r>
                    </a:p>
                  </a:txBody>
                  <a:tcPr marL="137160" marR="137160" marT="50292" marB="5029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3"/>
                  </a:ext>
                </a:extLst>
              </a:tr>
              <a:tr h="1805178">
                <a:tc vMerge="1">
                  <a:txBody>
                    <a:bodyPr/>
                    <a:lstStyle/>
                    <a:p>
                      <a:endParaRPr/>
                    </a:p>
                  </a:txBody>
                  <a:tcPr/>
                </a:tc>
                <a:tc>
                  <a:txBody>
                    <a:bodyPr/>
                    <a:lstStyle/>
                    <a:p>
                      <a:pPr algn="l"/>
                      <a:r>
                        <a:rPr sz="1550" b="1">
                          <a:solidFill>
                            <a:srgbClr val="363A52"/>
                          </a:solidFill>
                          <a:latin typeface="210 OmniGothic 040"/>
                          <a:ea typeface="210 OmniGothic 040"/>
                          <a:cs typeface="210 OmniGothic 040"/>
                        </a:rPr>
                        <a:t>기본 흐름</a:t>
                      </a:r>
                    </a:p>
                  </a:txBody>
                  <a:tcPr marL="137160" marR="137160" marT="60350" marB="60350" anchor="ctr">
                    <a:lnL w="9525">
                      <a:solidFill>
                        <a:srgbClr val="D9DCE5"/>
                      </a:solidFill>
                    </a:lnL>
                    <a:lnR w="9525">
                      <a:solidFill>
                        <a:srgbClr val="D9DCE5"/>
                      </a:solidFill>
                    </a:lnR>
                    <a:lnT w="9525">
                      <a:solidFill>
                        <a:srgbClr val="D9DCE5"/>
                      </a:solidFill>
                    </a:lnT>
                    <a:lnB w="9525">
                      <a:solidFill>
                        <a:srgbClr val="D9DCE5"/>
                      </a:solidFill>
                    </a:lnB>
                    <a:solidFill>
                      <a:srgbClr val="F3F4F8"/>
                    </a:solidFill>
                  </a:tcPr>
                </a:tc>
                <a:tc>
                  <a:txBody>
                    <a:bodyPr/>
                    <a:lstStyle/>
                    <a:p>
                      <a:pPr algn="l">
                        <a:lnSpc>
                          <a:spcPct val="110000"/>
                        </a:lnSpc>
                      </a:pPr>
                      <a:r>
                        <a:rPr sz="1550" b="0">
                          <a:solidFill>
                            <a:srgbClr val="363A52"/>
                          </a:solidFill>
                          <a:latin typeface="210 OmniGothic 040"/>
                          <a:ea typeface="210 OmniGothic 040"/>
                          <a:cs typeface="210 OmniGothic 040"/>
                        </a:rPr>
                        <a:t>1. 사용자가 로그인 화면에서 사용자 구분(통합지휘권자·열람자·상황 보고자·전산 관리자)을 고르고 발급받은 아이디·비밀번호를 입력한 뒤 「로그인」을 누른다.</a:t>
                      </a:r>
                    </a:p>
                    <a:p>
                      <a:pPr algn="l">
                        <a:lnSpc>
                          <a:spcPct val="110000"/>
                        </a:lnSpc>
                      </a:pPr>
                      <a:r>
                        <a:rPr sz="1550" b="0">
                          <a:solidFill>
                            <a:srgbClr val="363A52"/>
                          </a:solidFill>
                          <a:latin typeface="210 OmniGothic 040"/>
                          <a:ea typeface="210 OmniGothic 040"/>
                          <a:cs typeface="210 OmniGothic 040"/>
                        </a:rPr>
                        <a:t>2. 시스템이 계정의 잠금 여부를 먼저 확인하고, 계정 정보와 비밀번호를 대조해 인증하며, 선택한 구분이 계정 권한과 일치하는지와 계정이 회수되지 않았는지 확인한다.</a:t>
                      </a:r>
                    </a:p>
                    <a:p>
                      <a:pPr algn="l">
                        <a:lnSpc>
                          <a:spcPct val="110000"/>
                        </a:lnSpc>
                      </a:pPr>
                      <a:r>
                        <a:rPr sz="1550" b="0">
                          <a:solidFill>
                            <a:srgbClr val="363A52"/>
                          </a:solidFill>
                          <a:latin typeface="210 OmniGothic 040"/>
                          <a:ea typeface="210 OmniGothic 040"/>
                          <a:cs typeface="210 OmniGothic 040"/>
                        </a:rPr>
                        <a:t>3. 시스템이 계정에 지정된 권한을 담은 JWT(로그인 상태와 권한을 증명하는 서명된 토큰)를 발급해 세션에 적용한다.</a:t>
                      </a:r>
                    </a:p>
                    <a:p>
                      <a:pPr algn="l">
                        <a:lnSpc>
                          <a:spcPct val="110000"/>
                        </a:lnSpc>
                      </a:pPr>
                      <a:r>
                        <a:rPr sz="1550" b="0">
                          <a:solidFill>
                            <a:srgbClr val="363A52"/>
                          </a:solidFill>
                          <a:latin typeface="210 OmniGothic 040"/>
                          <a:ea typeface="210 OmniGothic 040"/>
                          <a:cs typeface="210 OmniGothic 040"/>
                        </a:rPr>
                        <a:t>4. 시스템이 권한별 첫 화면을 띄운다 — 통합지휘권자·열람자는 진행 중 산불의 통합 상황도, 상황 보고자는 상황 입력 화면(지도 + 상황 입력 판), 전산 관리자는 계정·진화자원 데이터 관리 화면.</a:t>
                      </a:r>
                    </a:p>
                  </a:txBody>
                  <a:tcPr marL="137160" marR="137160" marT="50292" marB="5029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4"/>
                  </a:ext>
                </a:extLst>
              </a:tr>
              <a:tr h="407543">
                <a:tc vMerge="1">
                  <a:txBody>
                    <a:bodyPr/>
                    <a:lstStyle/>
                    <a:p>
                      <a:endParaRPr/>
                    </a:p>
                  </a:txBody>
                  <a:tcPr/>
                </a:tc>
                <a:tc>
                  <a:txBody>
                    <a:bodyPr/>
                    <a:lstStyle/>
                    <a:p>
                      <a:pPr algn="l"/>
                      <a:r>
                        <a:rPr sz="1550" b="1">
                          <a:solidFill>
                            <a:srgbClr val="363A52"/>
                          </a:solidFill>
                          <a:latin typeface="210 OmniGothic 040"/>
                          <a:ea typeface="210 OmniGothic 040"/>
                          <a:cs typeface="210 OmniGothic 040"/>
                        </a:rPr>
                        <a:t>대안 흐름</a:t>
                      </a:r>
                    </a:p>
                  </a:txBody>
                  <a:tcPr marL="137160" marR="137160" marT="60350" marB="60350" anchor="ctr">
                    <a:lnL w="9525">
                      <a:solidFill>
                        <a:srgbClr val="D9DCE5"/>
                      </a:solidFill>
                    </a:lnL>
                    <a:lnR w="9525">
                      <a:solidFill>
                        <a:srgbClr val="D9DCE5"/>
                      </a:solidFill>
                    </a:lnR>
                    <a:lnT w="9525">
                      <a:solidFill>
                        <a:srgbClr val="D9DCE5"/>
                      </a:solidFill>
                    </a:lnT>
                    <a:lnB w="9525">
                      <a:solidFill>
                        <a:srgbClr val="D9DCE5"/>
                      </a:solidFill>
                    </a:lnB>
                    <a:solidFill>
                      <a:srgbClr val="F3F4F8"/>
                    </a:solidFill>
                  </a:tcPr>
                </a:tc>
                <a:tc>
                  <a:txBody>
                    <a:bodyPr/>
                    <a:lstStyle/>
                    <a:p>
                      <a:pPr algn="l">
                        <a:lnSpc>
                          <a:spcPct val="110000"/>
                        </a:lnSpc>
                      </a:pPr>
                      <a:r>
                        <a:rPr sz="1550" b="0">
                          <a:solidFill>
                            <a:srgbClr val="363A52"/>
                          </a:solidFill>
                          <a:latin typeface="210 OmniGothic 040"/>
                          <a:ea typeface="210 OmniGothic 040"/>
                          <a:cs typeface="210 OmniGothic 040"/>
                        </a:rPr>
                        <a:t>A1. 유효한 토큰이 남아 있을 시 → 로그인 없이 권한별 첫 화면으로 바로 진입</a:t>
                      </a:r>
                    </a:p>
                    <a:p>
                      <a:pPr algn="l">
                        <a:lnSpc>
                          <a:spcPct val="110000"/>
                        </a:lnSpc>
                      </a:pPr>
                      <a:r>
                        <a:rPr sz="1550" b="0">
                          <a:solidFill>
                            <a:srgbClr val="363A52"/>
                          </a:solidFill>
                          <a:latin typeface="210 OmniGothic 040"/>
                          <a:ea typeface="210 OmniGothic 040"/>
                          <a:cs typeface="210 OmniGothic 040"/>
                        </a:rPr>
                        <a:t>A2. 「로그아웃」을 누를 시 → 세션 토큰을 폐기하고 로그인 화면으로 돌아감</a:t>
                      </a:r>
                    </a:p>
                  </a:txBody>
                  <a:tcPr marL="137160" marR="137160" marT="50292" marB="5029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5"/>
                  </a:ext>
                </a:extLst>
              </a:tr>
              <a:tr h="966597">
                <a:tc vMerge="1">
                  <a:txBody>
                    <a:bodyPr/>
                    <a:lstStyle/>
                    <a:p>
                      <a:endParaRPr/>
                    </a:p>
                  </a:txBody>
                  <a:tcPr/>
                </a:tc>
                <a:tc>
                  <a:txBody>
                    <a:bodyPr/>
                    <a:lstStyle/>
                    <a:p>
                      <a:pPr algn="l"/>
                      <a:r>
                        <a:rPr sz="1550" b="1">
                          <a:solidFill>
                            <a:srgbClr val="363A52"/>
                          </a:solidFill>
                          <a:latin typeface="210 OmniGothic 040"/>
                          <a:ea typeface="210 OmniGothic 040"/>
                          <a:cs typeface="210 OmniGothic 040"/>
                        </a:rPr>
                        <a:t>예외 흐름</a:t>
                      </a:r>
                    </a:p>
                  </a:txBody>
                  <a:tcPr marL="137160" marR="137160" marT="60350" marB="60350" anchor="ctr">
                    <a:lnL w="9525">
                      <a:solidFill>
                        <a:srgbClr val="D9DCE5"/>
                      </a:solidFill>
                    </a:lnL>
                    <a:lnR w="9525">
                      <a:solidFill>
                        <a:srgbClr val="D9DCE5"/>
                      </a:solidFill>
                    </a:lnR>
                    <a:lnT w="9525">
                      <a:solidFill>
                        <a:srgbClr val="D9DCE5"/>
                      </a:solidFill>
                    </a:lnT>
                    <a:lnB w="9525">
                      <a:solidFill>
                        <a:srgbClr val="D9DCE5"/>
                      </a:solidFill>
                    </a:lnB>
                    <a:solidFill>
                      <a:srgbClr val="F3F4F8"/>
                    </a:solidFill>
                  </a:tcPr>
                </a:tc>
                <a:tc>
                  <a:txBody>
                    <a:bodyPr/>
                    <a:lstStyle/>
                    <a:p>
                      <a:pPr algn="l">
                        <a:lnSpc>
                          <a:spcPct val="110000"/>
                        </a:lnSpc>
                      </a:pPr>
                      <a:r>
                        <a:rPr sz="1550" b="0">
                          <a:solidFill>
                            <a:srgbClr val="363A52"/>
                          </a:solidFill>
                          <a:latin typeface="210 OmniGothic 040"/>
                          <a:ea typeface="210 OmniGothic 040"/>
                          <a:cs typeface="210 OmniGothic 040"/>
                        </a:rPr>
                        <a:t>E1. 아이디·비밀번호가 맞지 않거나 선택한 구분이 계정 권한과 다르면 시스템이 "아이디 또는 비밀번호가 올바르지 않습니다"를 표시하고 실패 횟수를 1 올린 뒤 다시 입력받는다.</a:t>
                      </a:r>
                    </a:p>
                    <a:p>
                      <a:pPr algn="l">
                        <a:lnSpc>
                          <a:spcPct val="110000"/>
                        </a:lnSpc>
                      </a:pPr>
                      <a:r>
                        <a:rPr sz="1550" b="0">
                          <a:solidFill>
                            <a:srgbClr val="363A52"/>
                          </a:solidFill>
                          <a:latin typeface="210 OmniGothic 040"/>
                          <a:ea typeface="210 OmniGothic 040"/>
                          <a:cs typeface="210 OmniGothic 040"/>
                        </a:rPr>
                        <a:t>E2. 회수된 계정이면 시스템이 로그인을 막고 전산 관리자에게 문의하라고 안내한다.</a:t>
                      </a:r>
                    </a:p>
                    <a:p>
                      <a:pPr algn="l">
                        <a:lnSpc>
                          <a:spcPct val="110000"/>
                        </a:lnSpc>
                      </a:pPr>
                      <a:r>
                        <a:rPr sz="1550" b="0">
                          <a:solidFill>
                            <a:srgbClr val="363A52"/>
                          </a:solidFill>
                          <a:latin typeface="210 OmniGothic 040"/>
                          <a:ea typeface="210 OmniGothic 040"/>
                          <a:cs typeface="210 OmniGothic 040"/>
                        </a:rPr>
                        <a:t>E3. 5회 연속 실패하면 시스템이 계정을 잠그고 "계정이 잠겼습니다. 전산 관리자에게 문의하세요"를 표시한다. 잠긴 계정은 전산 관리자가 잠금 해제한다(UC-ADMIN-01).</a:t>
                      </a:r>
                    </a:p>
                  </a:txBody>
                  <a:tcPr marL="137160" marR="137160" marT="50292" marB="5029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6"/>
                  </a:ext>
                </a:extLst>
              </a:tr>
              <a:tr h="407543">
                <a:tc vMerge="1">
                  <a:txBody>
                    <a:bodyPr/>
                    <a:lstStyle/>
                    <a:p>
                      <a:endParaRPr/>
                    </a:p>
                  </a:txBody>
                  <a:tcPr/>
                </a:tc>
                <a:tc>
                  <a:txBody>
                    <a:bodyPr/>
                    <a:lstStyle/>
                    <a:p>
                      <a:pPr algn="l"/>
                      <a:r>
                        <a:rPr sz="1550" b="1">
                          <a:solidFill>
                            <a:srgbClr val="363A52"/>
                          </a:solidFill>
                          <a:latin typeface="210 OmniGothic 040"/>
                          <a:ea typeface="210 OmniGothic 040"/>
                          <a:cs typeface="210 OmniGothic 040"/>
                        </a:rPr>
                        <a:t>종료 조건</a:t>
                      </a:r>
                    </a:p>
                  </a:txBody>
                  <a:tcPr marL="137160" marR="137160" marT="60350" marB="60350" anchor="ctr">
                    <a:lnL w="9525">
                      <a:solidFill>
                        <a:srgbClr val="D9DCE5"/>
                      </a:solidFill>
                    </a:lnL>
                    <a:lnR w="9525">
                      <a:solidFill>
                        <a:srgbClr val="D9DCE5"/>
                      </a:solidFill>
                    </a:lnR>
                    <a:lnT w="9525">
                      <a:solidFill>
                        <a:srgbClr val="D9DCE5"/>
                      </a:solidFill>
                    </a:lnT>
                    <a:lnB w="9525">
                      <a:solidFill>
                        <a:srgbClr val="D9DCE5"/>
                      </a:solidFill>
                    </a:lnB>
                    <a:solidFill>
                      <a:srgbClr val="F3F4F8"/>
                    </a:solidFill>
                  </a:tcPr>
                </a:tc>
                <a:tc>
                  <a:txBody>
                    <a:bodyPr/>
                    <a:lstStyle/>
                    <a:p>
                      <a:pPr algn="l">
                        <a:lnSpc>
                          <a:spcPct val="110000"/>
                        </a:lnSpc>
                      </a:pPr>
                      <a:r>
                        <a:rPr sz="1550" b="0">
                          <a:solidFill>
                            <a:srgbClr val="363A52"/>
                          </a:solidFill>
                          <a:latin typeface="210 OmniGothic 040"/>
                          <a:ea typeface="210 OmniGothic 040"/>
                          <a:cs typeface="210 OmniGothic 040"/>
                        </a:rPr>
                        <a:t>JWT가 발급되어 권한이 적용된 세션이 만들어지고, 권한에 맞는 첫 화면이 표시된다</a:t>
                      </a:r>
                    </a:p>
                  </a:txBody>
                  <a:tcPr marL="137160" marR="137160" marT="50292" marB="5029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05"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2700" y="-12700"/>
            <a:ext cx="18313400" cy="1638300"/>
          </a:xfrm>
          <a:prstGeom prst="rect">
            <a:avLst/>
          </a:prstGeom>
        </p:spPr>
      </p:pic>
      <p:pic>
        <p:nvPicPr>
          <p:cNvPr id="5106"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628" y="1618343"/>
            <a:ext cx="18313400" cy="8699500"/>
          </a:xfrm>
          <a:prstGeom prst="rect">
            <a:avLst/>
          </a:prstGeom>
        </p:spPr>
      </p:pic>
      <p:pic>
        <p:nvPicPr>
          <p:cNvPr id="5107"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58800" y="9271000"/>
            <a:ext cx="17170400" cy="50800"/>
          </a:xfrm>
          <a:prstGeom prst="rect">
            <a:avLst/>
          </a:prstGeom>
        </p:spPr>
      </p:pic>
      <p:pic>
        <p:nvPicPr>
          <p:cNvPr id="5108" name="Picture 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278100" y="203200"/>
            <a:ext cx="1676400" cy="1409700"/>
          </a:xfrm>
          <a:prstGeom prst="rect">
            <a:avLst/>
          </a:prstGeom>
        </p:spPr>
      </p:pic>
      <p:sp>
        <p:nvSpPr>
          <p:cNvPr id="5109" name="Title"/>
          <p:cNvSpPr txBox="1"/>
          <p:nvPr/>
        </p:nvSpPr>
        <p:spPr>
          <a:xfrm>
            <a:off x="822960" y="384048"/>
            <a:ext cx="13258800" cy="877824"/>
          </a:xfrm>
          <a:prstGeom prst="rect">
            <a:avLst/>
          </a:prstGeom>
          <a:noFill/>
        </p:spPr>
        <p:txBody>
          <a:bodyPr wrap="square" lIns="0" tIns="0" rIns="0" bIns="0" anchor="ctr">
            <a:spAutoFit/>
          </a:bodyPr>
          <a:lstStyle/>
          <a:p>
            <a:pPr algn="l"/>
            <a:r>
              <a:rPr sz="4400" b="0">
                <a:solidFill>
                  <a:srgbClr val="FAA95A"/>
                </a:solidFill>
                <a:latin typeface="210 OmniGothic 050"/>
                <a:ea typeface="210 OmniGothic 050"/>
                <a:cs typeface="210 OmniGothic 050"/>
              </a:rPr>
              <a:t>03. 유스케이스 다이어그램</a:t>
            </a:r>
          </a:p>
        </p:txBody>
      </p:sp>
      <p:sp>
        <p:nvSpPr>
          <p:cNvPr id="5110" name="Subtitle"/>
          <p:cNvSpPr txBox="1"/>
          <p:nvPr/>
        </p:nvSpPr>
        <p:spPr>
          <a:xfrm>
            <a:off x="822960" y="1764792"/>
            <a:ext cx="16642080" cy="502920"/>
          </a:xfrm>
          <a:prstGeom prst="rect">
            <a:avLst/>
          </a:prstGeom>
          <a:noFill/>
        </p:spPr>
        <p:txBody>
          <a:bodyPr wrap="square" lIns="0" tIns="0" rIns="0" bIns="0" anchor="ctr">
            <a:spAutoFit/>
          </a:bodyPr>
          <a:lstStyle/>
          <a:p>
            <a:pPr algn="ctr"/>
            <a:r>
              <a:rPr sz="2600" b="1">
                <a:solidFill>
                  <a:srgbClr val="363A52"/>
                </a:solidFill>
                <a:latin typeface="210 OmniGothic 040"/>
                <a:ea typeface="210 OmniGothic 040"/>
                <a:cs typeface="210 OmniGothic 040"/>
              </a:rPr>
              <a:t>4. 시나리오 – 산불 상황 보고</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sz="quarter" idx="12"/>
          </p:nvPr>
        </p:nvSpPr>
        <p:spPr/>
        <p:txBody>
          <a:bodyPr/>
          <a:lstStyle/>
          <a:p>
            <a:fld id="{B6F15528-21DE-4FAA-801E-634DDDAF4B2B}" type="slidenum">
              <a:rPr lang="en-US" smtClean="0"/>
              <a:pPr/>
              <a:t>21</a:t>
            </a:fld>
            <a:endParaRPr lang="en-US"/>
          </a:p>
        </p:txBody>
      </p:sp>
      <p:graphicFrame>
        <p:nvGraphicFramePr>
          <p:cNvPr id="5111" name="Table 5110"/>
          <p:cNvGraphicFramePr>
            <a:graphicFrameLocks noGrp="1"/>
          </p:cNvGraphicFramePr>
          <p:nvPr/>
        </p:nvGraphicFramePr>
        <p:xfrm>
          <a:off x="1337310" y="2395728"/>
          <a:ext cx="15430500" cy="6614668"/>
        </p:xfrm>
        <a:graphic>
          <a:graphicData uri="http://schemas.openxmlformats.org/drawingml/2006/table">
            <a:tbl>
              <a:tblPr>
                <a:tableStyleId>{2D5ABB26-0587-4C30-8999-92F81FD0307C}</a:tableStyleId>
              </a:tblPr>
              <a:tblGrid>
                <a:gridCol w="1943100">
                  <a:extLst>
                    <a:ext uri="{9D8B030D-6E8A-4147-A177-3AD203B41FA5}">
                      <a16:colId xmlns:a16="http://schemas.microsoft.com/office/drawing/2014/main" val="20000"/>
                    </a:ext>
                  </a:extLst>
                </a:gridCol>
                <a:gridCol w="1657350">
                  <a:extLst>
                    <a:ext uri="{9D8B030D-6E8A-4147-A177-3AD203B41FA5}">
                      <a16:colId xmlns:a16="http://schemas.microsoft.com/office/drawing/2014/main" val="20001"/>
                    </a:ext>
                  </a:extLst>
                </a:gridCol>
                <a:gridCol w="11830050">
                  <a:extLst>
                    <a:ext uri="{9D8B030D-6E8A-4147-A177-3AD203B41FA5}">
                      <a16:colId xmlns:a16="http://schemas.microsoft.com/office/drawing/2014/main" val="20002"/>
                    </a:ext>
                  </a:extLst>
                </a:gridCol>
              </a:tblGrid>
              <a:tr h="407543">
                <a:tc rowSpan="8">
                  <a:txBody>
                    <a:bodyPr/>
                    <a:lstStyle/>
                    <a:p>
                      <a:pPr algn="ctr"/>
                      <a:r>
                        <a:rPr sz="1550" b="1">
                          <a:solidFill>
                            <a:srgbClr val="FFFFFF"/>
                          </a:solidFill>
                          <a:latin typeface="210 OmniGothic 040"/>
                          <a:ea typeface="210 OmniGothic 040"/>
                          <a:cs typeface="210 OmniGothic 040"/>
                        </a:rPr>
                        <a:t>UC-REPORT-01</a:t>
                      </a:r>
                    </a:p>
                  </a:txBody>
                  <a:tcPr marT="40233" marB="40233" anchor="ctr">
                    <a:lnL w="9525">
                      <a:solidFill>
                        <a:srgbClr val="FFFFFF"/>
                      </a:solidFill>
                    </a:lnL>
                    <a:lnR w="9525">
                      <a:solidFill>
                        <a:srgbClr val="FFFFFF"/>
                      </a:solidFill>
                    </a:lnR>
                    <a:lnT w="9525">
                      <a:solidFill>
                        <a:srgbClr val="FFFFFF"/>
                      </a:solidFill>
                    </a:lnT>
                    <a:lnB w="9525">
                      <a:solidFill>
                        <a:srgbClr val="FFFFFF"/>
                      </a:solidFill>
                    </a:lnB>
                    <a:solidFill>
                      <a:srgbClr val="FAA95A"/>
                    </a:solidFill>
                  </a:tcPr>
                </a:tc>
                <a:tc gridSpan="2">
                  <a:txBody>
                    <a:bodyPr/>
                    <a:lstStyle/>
                    <a:p>
                      <a:pPr algn="ctr"/>
                      <a:r>
                        <a:rPr sz="1550" b="1">
                          <a:solidFill>
                            <a:srgbClr val="FFFFFF"/>
                          </a:solidFill>
                          <a:latin typeface="210 OmniGothic 040"/>
                          <a:ea typeface="210 OmniGothic 040"/>
                          <a:cs typeface="210 OmniGothic 040"/>
                        </a:rPr>
                        <a:t>산불 상황 보고</a:t>
                      </a:r>
                    </a:p>
                  </a:txBody>
                  <a:tcPr marT="40233" marB="40233" anchor="ctr">
                    <a:lnL w="9525">
                      <a:solidFill>
                        <a:srgbClr val="FFFFFF"/>
                      </a:solidFill>
                    </a:lnL>
                    <a:lnR w="9525">
                      <a:solidFill>
                        <a:srgbClr val="FFFFFF"/>
                      </a:solidFill>
                    </a:lnR>
                    <a:lnT w="9525">
                      <a:solidFill>
                        <a:srgbClr val="FFFFFF"/>
                      </a:solidFill>
                    </a:lnT>
                    <a:lnB w="9525">
                      <a:solidFill>
                        <a:srgbClr val="FFFFFF"/>
                      </a:solidFill>
                    </a:lnB>
                    <a:solidFill>
                      <a:srgbClr val="363A52"/>
                    </a:solidFill>
                  </a:tcPr>
                </a:tc>
                <a:tc hMerge="1">
                  <a:txBody>
                    <a:bodyPr/>
                    <a:lstStyle/>
                    <a:p>
                      <a:endParaRPr/>
                    </a:p>
                  </a:txBody>
                  <a:tcPr/>
                </a:tc>
                <a:extLst>
                  <a:ext uri="{0D108BD9-81ED-4DB2-BD59-A6C34878D82A}">
                    <a16:rowId xmlns:a16="http://schemas.microsoft.com/office/drawing/2014/main" val="10000"/>
                  </a:ext>
                </a:extLst>
              </a:tr>
              <a:tr h="966597">
                <a:tc vMerge="1">
                  <a:txBody>
                    <a:bodyPr/>
                    <a:lstStyle/>
                    <a:p>
                      <a:endParaRPr/>
                    </a:p>
                  </a:txBody>
                  <a:tcPr/>
                </a:tc>
                <a:tc>
                  <a:txBody>
                    <a:bodyPr/>
                    <a:lstStyle/>
                    <a:p>
                      <a:pPr algn="l"/>
                      <a:r>
                        <a:rPr sz="1550" b="1">
                          <a:solidFill>
                            <a:srgbClr val="363A52"/>
                          </a:solidFill>
                          <a:latin typeface="210 OmniGothic 040"/>
                          <a:ea typeface="210 OmniGothic 040"/>
                          <a:cs typeface="210 OmniGothic 040"/>
                        </a:rPr>
                        <a:t>개요</a:t>
                      </a:r>
                    </a:p>
                  </a:txBody>
                  <a:tcPr marL="137160" marR="137160" marT="60350" marB="60350" anchor="ctr">
                    <a:lnL w="9525">
                      <a:solidFill>
                        <a:srgbClr val="D9DCE5"/>
                      </a:solidFill>
                    </a:lnL>
                    <a:lnR w="9525">
                      <a:solidFill>
                        <a:srgbClr val="D9DCE5"/>
                      </a:solidFill>
                    </a:lnR>
                    <a:lnT w="9525" cap="flat" cmpd="sng" algn="ctr">
                      <a:solidFill>
                        <a:srgbClr val="FFFFFF"/>
                      </a:solidFill>
                      <a:prstDash val="solid"/>
                      <a:round/>
                      <a:headEnd type="none" w="med" len="med"/>
                      <a:tailEnd type="none" w="med" len="med"/>
                    </a:lnT>
                    <a:lnB w="9525">
                      <a:solidFill>
                        <a:srgbClr val="D9DCE5"/>
                      </a:solidFill>
                    </a:lnB>
                    <a:solidFill>
                      <a:srgbClr val="F3F4F8"/>
                    </a:solidFill>
                  </a:tcPr>
                </a:tc>
                <a:tc>
                  <a:txBody>
                    <a:bodyPr/>
                    <a:lstStyle/>
                    <a:p>
                      <a:pPr algn="l">
                        <a:lnSpc>
                          <a:spcPct val="110000"/>
                        </a:lnSpc>
                      </a:pPr>
                      <a:r>
                        <a:rPr sz="1550" b="0">
                          <a:solidFill>
                            <a:srgbClr val="363A52"/>
                          </a:solidFill>
                          <a:latin typeface="210 OmniGothic 040"/>
                          <a:ea typeface="210 OmniGothic 040"/>
                          <a:cs typeface="210 OmniGothic 040"/>
                        </a:rPr>
                        <a:t>상황 보고자가 산불을 처음 보고할 때 발화 위치·발생 날짜·시각·신고 내용·접수 시각·접수 기관을 입력해 산불 사건을 시작하고, 이후 1시간마다 실측 화선(지금 타고 있는 범위를 그린 폴리곤)을 보고한다. 이 실측 화선이 재예측·제안 재생성의 출발점이며, 초기대응처럼 아직 화선이 없으면 발화점에서 예측한다.</a:t>
                      </a:r>
                    </a:p>
                  </a:txBody>
                  <a:tcPr marL="137160" marR="137160" marT="50292" marB="5029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1"/>
                  </a:ext>
                </a:extLst>
              </a:tr>
              <a:tr h="407543">
                <a:tc vMerge="1">
                  <a:txBody>
                    <a:bodyPr/>
                    <a:lstStyle/>
                    <a:p>
                      <a:endParaRPr/>
                    </a:p>
                  </a:txBody>
                  <a:tcPr/>
                </a:tc>
                <a:tc>
                  <a:txBody>
                    <a:bodyPr/>
                    <a:lstStyle/>
                    <a:p>
                      <a:pPr algn="l"/>
                      <a:r>
                        <a:rPr sz="1550" b="1">
                          <a:solidFill>
                            <a:srgbClr val="363A52"/>
                          </a:solidFill>
                          <a:latin typeface="210 OmniGothic 040"/>
                          <a:ea typeface="210 OmniGothic 040"/>
                          <a:cs typeface="210 OmniGothic 040"/>
                        </a:rPr>
                        <a:t>액터</a:t>
                      </a:r>
                    </a:p>
                  </a:txBody>
                  <a:tcPr marL="137160" marR="137160" marT="60350" marB="60350" anchor="ctr">
                    <a:lnL w="9525">
                      <a:solidFill>
                        <a:srgbClr val="D9DCE5"/>
                      </a:solidFill>
                    </a:lnL>
                    <a:lnR w="9525">
                      <a:solidFill>
                        <a:srgbClr val="D9DCE5"/>
                      </a:solidFill>
                    </a:lnR>
                    <a:lnT w="9525">
                      <a:solidFill>
                        <a:srgbClr val="D9DCE5"/>
                      </a:solidFill>
                    </a:lnT>
                    <a:lnB w="9525">
                      <a:solidFill>
                        <a:srgbClr val="D9DCE5"/>
                      </a:solidFill>
                    </a:lnB>
                    <a:solidFill>
                      <a:srgbClr val="F3F4F8"/>
                    </a:solidFill>
                  </a:tcPr>
                </a:tc>
                <a:tc>
                  <a:txBody>
                    <a:bodyPr/>
                    <a:lstStyle/>
                    <a:p>
                      <a:pPr algn="l">
                        <a:lnSpc>
                          <a:spcPct val="110000"/>
                        </a:lnSpc>
                      </a:pPr>
                      <a:r>
                        <a:rPr sz="1550" b="0">
                          <a:solidFill>
                            <a:srgbClr val="363A52"/>
                          </a:solidFill>
                          <a:latin typeface="210 OmniGothic 040"/>
                          <a:ea typeface="210 OmniGothic 040"/>
                          <a:cs typeface="210 OmniGothic 040"/>
                        </a:rPr>
                        <a:t>상황 보고자</a:t>
                      </a:r>
                    </a:p>
                  </a:txBody>
                  <a:tcPr marL="137160" marR="137160" marT="50292" marB="5029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2"/>
                  </a:ext>
                </a:extLst>
              </a:tr>
              <a:tr h="407543">
                <a:tc vMerge="1">
                  <a:txBody>
                    <a:bodyPr/>
                    <a:lstStyle/>
                    <a:p>
                      <a:endParaRPr/>
                    </a:p>
                  </a:txBody>
                  <a:tcPr/>
                </a:tc>
                <a:tc>
                  <a:txBody>
                    <a:bodyPr/>
                    <a:lstStyle/>
                    <a:p>
                      <a:pPr algn="l"/>
                      <a:r>
                        <a:rPr sz="1550" b="1">
                          <a:solidFill>
                            <a:srgbClr val="363A52"/>
                          </a:solidFill>
                          <a:latin typeface="210 OmniGothic 040"/>
                          <a:ea typeface="210 OmniGothic 040"/>
                          <a:cs typeface="210 OmniGothic 040"/>
                        </a:rPr>
                        <a:t>시작 조건</a:t>
                      </a:r>
                    </a:p>
                  </a:txBody>
                  <a:tcPr marL="137160" marR="137160" marT="60350" marB="60350" anchor="ctr">
                    <a:lnL w="9525">
                      <a:solidFill>
                        <a:srgbClr val="D9DCE5"/>
                      </a:solidFill>
                    </a:lnL>
                    <a:lnR w="9525">
                      <a:solidFill>
                        <a:srgbClr val="D9DCE5"/>
                      </a:solidFill>
                    </a:lnR>
                    <a:lnT w="9525">
                      <a:solidFill>
                        <a:srgbClr val="D9DCE5"/>
                      </a:solidFill>
                    </a:lnT>
                    <a:lnB w="9525">
                      <a:solidFill>
                        <a:srgbClr val="D9DCE5"/>
                      </a:solidFill>
                    </a:lnB>
                    <a:solidFill>
                      <a:srgbClr val="F3F4F8"/>
                    </a:solidFill>
                  </a:tcPr>
                </a:tc>
                <a:tc>
                  <a:txBody>
                    <a:bodyPr/>
                    <a:lstStyle/>
                    <a:p>
                      <a:pPr algn="l">
                        <a:lnSpc>
                          <a:spcPct val="110000"/>
                        </a:lnSpc>
                      </a:pPr>
                      <a:r>
                        <a:rPr sz="1550" b="0">
                          <a:solidFill>
                            <a:srgbClr val="363A52"/>
                          </a:solidFill>
                          <a:latin typeface="210 OmniGothic 040"/>
                          <a:ea typeface="210 OmniGothic 040"/>
                          <a:cs typeface="210 OmniGothic 040"/>
                        </a:rPr>
                        <a:t>상황 보고자가 '보고' 권한 계정으로 로그인한 상태 (UC-AUTH-01)</a:t>
                      </a:r>
                    </a:p>
                  </a:txBody>
                  <a:tcPr marL="137160" marR="137160" marT="50292" marB="5029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3"/>
                  </a:ext>
                </a:extLst>
              </a:tr>
              <a:tr h="2084705">
                <a:tc vMerge="1">
                  <a:txBody>
                    <a:bodyPr/>
                    <a:lstStyle/>
                    <a:p>
                      <a:endParaRPr/>
                    </a:p>
                  </a:txBody>
                  <a:tcPr/>
                </a:tc>
                <a:tc>
                  <a:txBody>
                    <a:bodyPr/>
                    <a:lstStyle/>
                    <a:p>
                      <a:pPr algn="l"/>
                      <a:r>
                        <a:rPr sz="1550" b="1">
                          <a:solidFill>
                            <a:srgbClr val="363A52"/>
                          </a:solidFill>
                          <a:latin typeface="210 OmniGothic 040"/>
                          <a:ea typeface="210 OmniGothic 040"/>
                          <a:cs typeface="210 OmniGothic 040"/>
                        </a:rPr>
                        <a:t>기본 흐름</a:t>
                      </a:r>
                    </a:p>
                  </a:txBody>
                  <a:tcPr marL="137160" marR="137160" marT="60350" marB="60350" anchor="ctr">
                    <a:lnL w="9525">
                      <a:solidFill>
                        <a:srgbClr val="D9DCE5"/>
                      </a:solidFill>
                    </a:lnL>
                    <a:lnR w="9525">
                      <a:solidFill>
                        <a:srgbClr val="D9DCE5"/>
                      </a:solidFill>
                    </a:lnR>
                    <a:lnT w="9525">
                      <a:solidFill>
                        <a:srgbClr val="D9DCE5"/>
                      </a:solidFill>
                    </a:lnT>
                    <a:lnB w="9525">
                      <a:solidFill>
                        <a:srgbClr val="D9DCE5"/>
                      </a:solidFill>
                    </a:lnB>
                    <a:solidFill>
                      <a:srgbClr val="F3F4F8"/>
                    </a:solidFill>
                  </a:tcPr>
                </a:tc>
                <a:tc>
                  <a:txBody>
                    <a:bodyPr/>
                    <a:lstStyle/>
                    <a:p>
                      <a:pPr algn="l">
                        <a:lnSpc>
                          <a:spcPct val="110000"/>
                        </a:lnSpc>
                      </a:pPr>
                      <a:r>
                        <a:rPr sz="1550" b="0">
                          <a:solidFill>
                            <a:srgbClr val="363A52"/>
                          </a:solidFill>
                          <a:latin typeface="210 OmniGothic 040"/>
                          <a:ea typeface="210 OmniGothic 040"/>
                          <a:cs typeface="210 OmniGothic 040"/>
                        </a:rPr>
                        <a:t>1. 상황 보고자가 상황 입력 화면(지도 + 상황 입력 판)에서 「새 산불 보고」를 누른다.</a:t>
                      </a:r>
                    </a:p>
                    <a:p>
                      <a:pPr algn="l">
                        <a:lnSpc>
                          <a:spcPct val="110000"/>
                        </a:lnSpc>
                      </a:pPr>
                      <a:r>
                        <a:rPr sz="1550" b="0">
                          <a:solidFill>
                            <a:srgbClr val="363A52"/>
                          </a:solidFill>
                          <a:latin typeface="210 OmniGothic 040"/>
                          <a:ea typeface="210 OmniGothic 040"/>
                          <a:cs typeface="210 OmniGothic 040"/>
                        </a:rPr>
                        <a:t>2. 상황 보고자가 지도에 발화 지점을 찍고 발생 일시·신고 내용·접수 시각을 입력하고, 기관별 접수 기록(접수 기관·접수 시각·접수 경로)을 추가한다.</a:t>
                      </a:r>
                    </a:p>
                    <a:p>
                      <a:pPr algn="l">
                        <a:lnSpc>
                          <a:spcPct val="110000"/>
                        </a:lnSpc>
                      </a:pPr>
                      <a:r>
                        <a:rPr sz="1550" b="0">
                          <a:solidFill>
                            <a:srgbClr val="363A52"/>
                          </a:solidFill>
                          <a:latin typeface="210 OmniGothic 040"/>
                          <a:ea typeface="210 OmniGothic 040"/>
                          <a:cs typeface="210 OmniGothic 040"/>
                        </a:rPr>
                        <a:t>3. 상황 보고자가 지금 타고 있는 범위를 실측 화선 폴리곤으로 그려 제출한다(초기대응에서 화선이 없으면 생략 가능).</a:t>
                      </a:r>
                    </a:p>
                    <a:p>
                      <a:pPr algn="l">
                        <a:lnSpc>
                          <a:spcPct val="110000"/>
                        </a:lnSpc>
                      </a:pPr>
                      <a:r>
                        <a:rPr sz="1550" b="0">
                          <a:solidFill>
                            <a:srgbClr val="363A52"/>
                          </a:solidFill>
                          <a:latin typeface="210 OmniGothic 040"/>
                          <a:ea typeface="210 OmniGothic 040"/>
                          <a:cs typeface="210 OmniGothic 040"/>
                        </a:rPr>
                        <a:t>4. 시스템이 입력값을 검증하고 산불을 '접수' 상태로 생성해 발화 정보를 저장한다. 실측 화선이 함께 제출되면 화선 버전 1을 저장하고, 실측 화선이 처음 저장되는 시점에 상태를 '진행 중'으로 바꾼다.</a:t>
                      </a:r>
                    </a:p>
                    <a:p>
                      <a:pPr algn="l">
                        <a:lnSpc>
                          <a:spcPct val="110000"/>
                        </a:lnSpc>
                      </a:pPr>
                      <a:r>
                        <a:rPr sz="1550" b="0">
                          <a:solidFill>
                            <a:srgbClr val="363A52"/>
                          </a:solidFill>
                          <a:latin typeface="210 OmniGothic 040"/>
                          <a:ea typeface="210 OmniGothic 040"/>
                          <a:cs typeface="210 OmniGothic 040"/>
                        </a:rPr>
                        <a:t>5. 시스템이 발생·접수 정보(UC-SIT-02)와 통합 상황도(UC-SIT-03)에 새 산불의 발화점과 실측 화선을 표시한다.</a:t>
                      </a:r>
                    </a:p>
                  </a:txBody>
                  <a:tcPr marL="137160" marR="137160" marT="50292" marB="5029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4"/>
                  </a:ext>
                </a:extLst>
              </a:tr>
              <a:tr h="687070">
                <a:tc vMerge="1">
                  <a:txBody>
                    <a:bodyPr/>
                    <a:lstStyle/>
                    <a:p>
                      <a:endParaRPr/>
                    </a:p>
                  </a:txBody>
                  <a:tcPr/>
                </a:tc>
                <a:tc>
                  <a:txBody>
                    <a:bodyPr/>
                    <a:lstStyle/>
                    <a:p>
                      <a:pPr algn="l"/>
                      <a:r>
                        <a:rPr sz="1550" b="1">
                          <a:solidFill>
                            <a:srgbClr val="363A52"/>
                          </a:solidFill>
                          <a:latin typeface="210 OmniGothic 040"/>
                          <a:ea typeface="210 OmniGothic 040"/>
                          <a:cs typeface="210 OmniGothic 040"/>
                        </a:rPr>
                        <a:t>대안 흐름</a:t>
                      </a:r>
                    </a:p>
                  </a:txBody>
                  <a:tcPr marL="137160" marR="137160" marT="60350" marB="60350" anchor="ctr">
                    <a:lnL w="9525">
                      <a:solidFill>
                        <a:srgbClr val="D9DCE5"/>
                      </a:solidFill>
                    </a:lnL>
                    <a:lnR w="9525">
                      <a:solidFill>
                        <a:srgbClr val="D9DCE5"/>
                      </a:solidFill>
                    </a:lnR>
                    <a:lnT w="9525">
                      <a:solidFill>
                        <a:srgbClr val="D9DCE5"/>
                      </a:solidFill>
                    </a:lnT>
                    <a:lnB w="9525">
                      <a:solidFill>
                        <a:srgbClr val="D9DCE5"/>
                      </a:solidFill>
                    </a:lnB>
                    <a:solidFill>
                      <a:srgbClr val="F3F4F8"/>
                    </a:solidFill>
                  </a:tcPr>
                </a:tc>
                <a:tc>
                  <a:txBody>
                    <a:bodyPr/>
                    <a:lstStyle/>
                    <a:p>
                      <a:pPr algn="l">
                        <a:lnSpc>
                          <a:spcPct val="110000"/>
                        </a:lnSpc>
                      </a:pPr>
                      <a:r>
                        <a:rPr sz="1550" b="0">
                          <a:solidFill>
                            <a:srgbClr val="363A52"/>
                          </a:solidFill>
                          <a:latin typeface="210 OmniGothic 040"/>
                          <a:ea typeface="210 OmniGothic 040"/>
                          <a:cs typeface="210 OmniGothic 040"/>
                        </a:rPr>
                        <a:t>A1. 1시간 주기 보고 시 → 직전 실측 화선을 불러와 수정 후 새 버전(v2, v3…)으로 제출</a:t>
                      </a:r>
                    </a:p>
                    <a:p>
                      <a:pPr algn="l">
                        <a:lnSpc>
                          <a:spcPct val="110000"/>
                        </a:lnSpc>
                      </a:pPr>
                      <a:r>
                        <a:rPr sz="1550" b="0">
                          <a:solidFill>
                            <a:srgbClr val="363A52"/>
                          </a:solidFill>
                          <a:latin typeface="210 OmniGothic 040"/>
                          <a:ea typeface="210 OmniGothic 040"/>
                          <a:cs typeface="210 OmniGothic 040"/>
                        </a:rPr>
                        <a:t>A2. 잘못 보고한 실측 화선 정정 시 → 수정본을 다시 제출, 이전 버전은 '정정됨'으로 보존</a:t>
                      </a:r>
                    </a:p>
                  </a:txBody>
                  <a:tcPr marL="137160" marR="137160" marT="50292" marB="5029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5"/>
                  </a:ext>
                </a:extLst>
              </a:tr>
              <a:tr h="966597">
                <a:tc vMerge="1">
                  <a:txBody>
                    <a:bodyPr/>
                    <a:lstStyle/>
                    <a:p>
                      <a:endParaRPr/>
                    </a:p>
                  </a:txBody>
                  <a:tcPr/>
                </a:tc>
                <a:tc>
                  <a:txBody>
                    <a:bodyPr/>
                    <a:lstStyle/>
                    <a:p>
                      <a:pPr algn="l"/>
                      <a:r>
                        <a:rPr sz="1550" b="1">
                          <a:solidFill>
                            <a:srgbClr val="363A52"/>
                          </a:solidFill>
                          <a:latin typeface="210 OmniGothic 040"/>
                          <a:ea typeface="210 OmniGothic 040"/>
                          <a:cs typeface="210 OmniGothic 040"/>
                        </a:rPr>
                        <a:t>예외 흐름</a:t>
                      </a:r>
                    </a:p>
                  </a:txBody>
                  <a:tcPr marL="137160" marR="137160" marT="60350" marB="60350" anchor="ctr">
                    <a:lnL w="9525">
                      <a:solidFill>
                        <a:srgbClr val="D9DCE5"/>
                      </a:solidFill>
                    </a:lnL>
                    <a:lnR w="9525">
                      <a:solidFill>
                        <a:srgbClr val="D9DCE5"/>
                      </a:solidFill>
                    </a:lnR>
                    <a:lnT w="9525">
                      <a:solidFill>
                        <a:srgbClr val="D9DCE5"/>
                      </a:solidFill>
                    </a:lnT>
                    <a:lnB w="9525">
                      <a:solidFill>
                        <a:srgbClr val="D9DCE5"/>
                      </a:solidFill>
                    </a:lnB>
                    <a:solidFill>
                      <a:srgbClr val="F3F4F8"/>
                    </a:solidFill>
                  </a:tcPr>
                </a:tc>
                <a:tc>
                  <a:txBody>
                    <a:bodyPr/>
                    <a:lstStyle/>
                    <a:p>
                      <a:pPr algn="l">
                        <a:lnSpc>
                          <a:spcPct val="110000"/>
                        </a:lnSpc>
                      </a:pPr>
                      <a:r>
                        <a:rPr sz="1550" b="0">
                          <a:solidFill>
                            <a:srgbClr val="363A52"/>
                          </a:solidFill>
                          <a:latin typeface="210 OmniGothic 040"/>
                          <a:ea typeface="210 OmniGothic 040"/>
                          <a:cs typeface="210 OmniGothic 040"/>
                        </a:rPr>
                        <a:t>E1. 입력한 산불 정보(발화 지점·시각·실측 화선)가 올바르지 않으면 시스템이 제출을 막고 잘못된 항목을 표시한다.</a:t>
                      </a:r>
                    </a:p>
                    <a:p>
                      <a:pPr algn="l">
                        <a:lnSpc>
                          <a:spcPct val="110000"/>
                        </a:lnSpc>
                      </a:pPr>
                      <a:r>
                        <a:rPr sz="1550" b="0">
                          <a:solidFill>
                            <a:srgbClr val="363A52"/>
                          </a:solidFill>
                          <a:latin typeface="210 OmniGothic 040"/>
                          <a:ea typeface="210 OmniGothic 040"/>
                          <a:cs typeface="210 OmniGothic 040"/>
                        </a:rPr>
                        <a:t>E2. 종료 처리된 산불에는 시스템이 보고를 받지 않는다(UC-SIT-01).</a:t>
                      </a:r>
                    </a:p>
                  </a:txBody>
                  <a:tcPr marL="137160" marR="137160" marT="50292" marB="5029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6"/>
                  </a:ext>
                </a:extLst>
              </a:tr>
              <a:tr h="687070">
                <a:tc vMerge="1">
                  <a:txBody>
                    <a:bodyPr/>
                    <a:lstStyle/>
                    <a:p>
                      <a:endParaRPr/>
                    </a:p>
                  </a:txBody>
                  <a:tcPr/>
                </a:tc>
                <a:tc>
                  <a:txBody>
                    <a:bodyPr/>
                    <a:lstStyle/>
                    <a:p>
                      <a:pPr algn="l"/>
                      <a:r>
                        <a:rPr sz="1550" b="1">
                          <a:solidFill>
                            <a:srgbClr val="363A52"/>
                          </a:solidFill>
                          <a:latin typeface="210 OmniGothic 040"/>
                          <a:ea typeface="210 OmniGothic 040"/>
                          <a:cs typeface="210 OmniGothic 040"/>
                        </a:rPr>
                        <a:t>종료 조건</a:t>
                      </a:r>
                    </a:p>
                  </a:txBody>
                  <a:tcPr marL="137160" marR="137160" marT="60350" marB="60350" anchor="ctr">
                    <a:lnL w="9525">
                      <a:solidFill>
                        <a:srgbClr val="D9DCE5"/>
                      </a:solidFill>
                    </a:lnL>
                    <a:lnR w="9525">
                      <a:solidFill>
                        <a:srgbClr val="D9DCE5"/>
                      </a:solidFill>
                    </a:lnR>
                    <a:lnT w="9525">
                      <a:solidFill>
                        <a:srgbClr val="D9DCE5"/>
                      </a:solidFill>
                    </a:lnT>
                    <a:lnB w="9525">
                      <a:solidFill>
                        <a:srgbClr val="D9DCE5"/>
                      </a:solidFill>
                    </a:lnB>
                    <a:solidFill>
                      <a:srgbClr val="F3F4F8"/>
                    </a:solidFill>
                  </a:tcPr>
                </a:tc>
                <a:tc>
                  <a:txBody>
                    <a:bodyPr/>
                    <a:lstStyle/>
                    <a:p>
                      <a:pPr algn="l">
                        <a:lnSpc>
                          <a:spcPct val="110000"/>
                        </a:lnSpc>
                      </a:pPr>
                      <a:r>
                        <a:rPr sz="1550" b="0">
                          <a:solidFill>
                            <a:srgbClr val="363A52"/>
                          </a:solidFill>
                          <a:latin typeface="210 OmniGothic 040"/>
                          <a:ea typeface="210 OmniGothic 040"/>
                          <a:cs typeface="210 OmniGothic 040"/>
                        </a:rPr>
                        <a:t>산불 사건이 '접수' 또는 '진행 중'(실측 화선이 처음 저장되면 진행 중)으로 존재하고, 발화 정보와 최신 실측 화선(버전 포함)이 저장되어 상황판·예측의 입력으로 쓰인다</a:t>
                      </a:r>
                    </a:p>
                  </a:txBody>
                  <a:tcPr marL="137160" marR="137160" marT="50292" marB="5029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05"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700" y="-12700"/>
            <a:ext cx="18313400" cy="1638300"/>
          </a:xfrm>
          <a:prstGeom prst="rect">
            <a:avLst/>
          </a:prstGeom>
        </p:spPr>
      </p:pic>
      <p:pic>
        <p:nvPicPr>
          <p:cNvPr id="5106"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28" y="1618343"/>
            <a:ext cx="18313400" cy="8699500"/>
          </a:xfrm>
          <a:prstGeom prst="rect">
            <a:avLst/>
          </a:prstGeom>
        </p:spPr>
      </p:pic>
      <p:pic>
        <p:nvPicPr>
          <p:cNvPr id="5107"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58800" y="9271000"/>
            <a:ext cx="17170400" cy="50800"/>
          </a:xfrm>
          <a:prstGeom prst="rect">
            <a:avLst/>
          </a:prstGeom>
        </p:spPr>
      </p:pic>
      <p:pic>
        <p:nvPicPr>
          <p:cNvPr id="5108" name="Picture 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278100" y="203200"/>
            <a:ext cx="1676400" cy="1409700"/>
          </a:xfrm>
          <a:prstGeom prst="rect">
            <a:avLst/>
          </a:prstGeom>
        </p:spPr>
      </p:pic>
      <p:sp>
        <p:nvSpPr>
          <p:cNvPr id="5109" name="Title"/>
          <p:cNvSpPr txBox="1"/>
          <p:nvPr/>
        </p:nvSpPr>
        <p:spPr>
          <a:xfrm>
            <a:off x="822960" y="384048"/>
            <a:ext cx="13258800" cy="877824"/>
          </a:xfrm>
          <a:prstGeom prst="rect">
            <a:avLst/>
          </a:prstGeom>
          <a:noFill/>
        </p:spPr>
        <p:txBody>
          <a:bodyPr wrap="square" lIns="0" tIns="0" rIns="0" bIns="0" anchor="ctr">
            <a:spAutoFit/>
          </a:bodyPr>
          <a:lstStyle/>
          <a:p>
            <a:pPr algn="l"/>
            <a:r>
              <a:rPr sz="4400" b="0">
                <a:solidFill>
                  <a:srgbClr val="FAA95A"/>
                </a:solidFill>
                <a:latin typeface="210 OmniGothic 050"/>
                <a:ea typeface="210 OmniGothic 050"/>
                <a:cs typeface="210 OmniGothic 050"/>
              </a:rPr>
              <a:t>03. 유스케이스 다이어그램</a:t>
            </a:r>
          </a:p>
        </p:txBody>
      </p:sp>
      <p:sp>
        <p:nvSpPr>
          <p:cNvPr id="5110" name="Subtitle"/>
          <p:cNvSpPr txBox="1"/>
          <p:nvPr/>
        </p:nvSpPr>
        <p:spPr>
          <a:xfrm>
            <a:off x="822960" y="1764792"/>
            <a:ext cx="16642080" cy="502920"/>
          </a:xfrm>
          <a:prstGeom prst="rect">
            <a:avLst/>
          </a:prstGeom>
          <a:noFill/>
        </p:spPr>
        <p:txBody>
          <a:bodyPr wrap="square" lIns="0" tIns="0" rIns="0" bIns="0" anchor="ctr">
            <a:spAutoFit/>
          </a:bodyPr>
          <a:lstStyle/>
          <a:p>
            <a:pPr algn="ctr"/>
            <a:r>
              <a:rPr sz="2600" b="1">
                <a:solidFill>
                  <a:srgbClr val="363A52"/>
                </a:solidFill>
                <a:latin typeface="210 OmniGothic 040"/>
                <a:ea typeface="210 OmniGothic 040"/>
                <a:cs typeface="210 OmniGothic 040"/>
              </a:rPr>
              <a:t>4. 시나리오 – 산불 발생·접수 정보 조회</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sz="quarter" idx="12"/>
          </p:nvPr>
        </p:nvSpPr>
        <p:spPr/>
        <p:txBody>
          <a:bodyPr/>
          <a:lstStyle/>
          <a:p>
            <a:fld id="{B6F15528-21DE-4FAA-801E-634DDDAF4B2B}" type="slidenum">
              <a:rPr lang="en-US" smtClean="0"/>
              <a:pPr/>
              <a:t>22</a:t>
            </a:fld>
            <a:endParaRPr lang="en-US"/>
          </a:p>
        </p:txBody>
      </p:sp>
      <p:graphicFrame>
        <p:nvGraphicFramePr>
          <p:cNvPr id="5111" name="Table 5110"/>
          <p:cNvGraphicFramePr>
            <a:graphicFrameLocks noGrp="1"/>
          </p:cNvGraphicFramePr>
          <p:nvPr/>
        </p:nvGraphicFramePr>
        <p:xfrm>
          <a:off x="1337310" y="2395728"/>
          <a:ext cx="15430500" cy="4937506"/>
        </p:xfrm>
        <a:graphic>
          <a:graphicData uri="http://schemas.openxmlformats.org/drawingml/2006/table">
            <a:tbl>
              <a:tblPr>
                <a:tableStyleId>{2D5ABB26-0587-4C30-8999-92F81FD0307C}</a:tableStyleId>
              </a:tblPr>
              <a:tblGrid>
                <a:gridCol w="1943100">
                  <a:extLst>
                    <a:ext uri="{9D8B030D-6E8A-4147-A177-3AD203B41FA5}">
                      <a16:colId xmlns:a16="http://schemas.microsoft.com/office/drawing/2014/main" val="20000"/>
                    </a:ext>
                  </a:extLst>
                </a:gridCol>
                <a:gridCol w="1657350">
                  <a:extLst>
                    <a:ext uri="{9D8B030D-6E8A-4147-A177-3AD203B41FA5}">
                      <a16:colId xmlns:a16="http://schemas.microsoft.com/office/drawing/2014/main" val="20001"/>
                    </a:ext>
                  </a:extLst>
                </a:gridCol>
                <a:gridCol w="11830050">
                  <a:extLst>
                    <a:ext uri="{9D8B030D-6E8A-4147-A177-3AD203B41FA5}">
                      <a16:colId xmlns:a16="http://schemas.microsoft.com/office/drawing/2014/main" val="20002"/>
                    </a:ext>
                  </a:extLst>
                </a:gridCol>
              </a:tblGrid>
              <a:tr h="407543">
                <a:tc rowSpan="8">
                  <a:txBody>
                    <a:bodyPr/>
                    <a:lstStyle/>
                    <a:p>
                      <a:pPr algn="ctr"/>
                      <a:r>
                        <a:rPr sz="1550" b="1">
                          <a:solidFill>
                            <a:srgbClr val="FFFFFF"/>
                          </a:solidFill>
                          <a:latin typeface="210 OmniGothic 040"/>
                          <a:ea typeface="210 OmniGothic 040"/>
                          <a:cs typeface="210 OmniGothic 040"/>
                        </a:rPr>
                        <a:t>UC-SIT-02</a:t>
                      </a:r>
                    </a:p>
                  </a:txBody>
                  <a:tcPr marT="40233" marB="40233" anchor="ctr">
                    <a:lnL w="9525">
                      <a:solidFill>
                        <a:srgbClr val="FFFFFF"/>
                      </a:solidFill>
                    </a:lnL>
                    <a:lnR w="9525">
                      <a:solidFill>
                        <a:srgbClr val="FFFFFF"/>
                      </a:solidFill>
                    </a:lnR>
                    <a:lnT w="9525">
                      <a:solidFill>
                        <a:srgbClr val="FFFFFF"/>
                      </a:solidFill>
                    </a:lnT>
                    <a:lnB w="9525">
                      <a:solidFill>
                        <a:srgbClr val="FFFFFF"/>
                      </a:solidFill>
                    </a:lnB>
                    <a:solidFill>
                      <a:srgbClr val="FAA95A"/>
                    </a:solidFill>
                  </a:tcPr>
                </a:tc>
                <a:tc gridSpan="2">
                  <a:txBody>
                    <a:bodyPr/>
                    <a:lstStyle/>
                    <a:p>
                      <a:pPr algn="ctr"/>
                      <a:r>
                        <a:rPr sz="1550" b="1">
                          <a:solidFill>
                            <a:srgbClr val="FFFFFF"/>
                          </a:solidFill>
                          <a:latin typeface="210 OmniGothic 040"/>
                          <a:ea typeface="210 OmniGothic 040"/>
                          <a:cs typeface="210 OmniGothic 040"/>
                        </a:rPr>
                        <a:t>산불 발생·접수 정보 조회</a:t>
                      </a:r>
                    </a:p>
                  </a:txBody>
                  <a:tcPr marT="40233" marB="40233" anchor="ctr">
                    <a:lnL w="9525">
                      <a:solidFill>
                        <a:srgbClr val="FFFFFF"/>
                      </a:solidFill>
                    </a:lnL>
                    <a:lnR w="9525">
                      <a:solidFill>
                        <a:srgbClr val="FFFFFF"/>
                      </a:solidFill>
                    </a:lnR>
                    <a:lnT w="9525">
                      <a:solidFill>
                        <a:srgbClr val="FFFFFF"/>
                      </a:solidFill>
                    </a:lnT>
                    <a:lnB w="9525">
                      <a:solidFill>
                        <a:srgbClr val="FFFFFF"/>
                      </a:solidFill>
                    </a:lnB>
                    <a:solidFill>
                      <a:srgbClr val="363A52"/>
                    </a:solidFill>
                  </a:tcPr>
                </a:tc>
                <a:tc hMerge="1">
                  <a:txBody>
                    <a:bodyPr/>
                    <a:lstStyle/>
                    <a:p>
                      <a:endParaRPr/>
                    </a:p>
                  </a:txBody>
                  <a:tcPr/>
                </a:tc>
                <a:extLst>
                  <a:ext uri="{0D108BD9-81ED-4DB2-BD59-A6C34878D82A}">
                    <a16:rowId xmlns:a16="http://schemas.microsoft.com/office/drawing/2014/main" val="10000"/>
                  </a:ext>
                </a:extLst>
              </a:tr>
              <a:tr h="687070">
                <a:tc vMerge="1">
                  <a:txBody>
                    <a:bodyPr/>
                    <a:lstStyle/>
                    <a:p>
                      <a:endParaRPr/>
                    </a:p>
                  </a:txBody>
                  <a:tcPr/>
                </a:tc>
                <a:tc>
                  <a:txBody>
                    <a:bodyPr/>
                    <a:lstStyle/>
                    <a:p>
                      <a:pPr algn="l"/>
                      <a:r>
                        <a:rPr sz="1550" b="1">
                          <a:solidFill>
                            <a:srgbClr val="363A52"/>
                          </a:solidFill>
                          <a:latin typeface="210 OmniGothic 040"/>
                          <a:ea typeface="210 OmniGothic 040"/>
                          <a:cs typeface="210 OmniGothic 040"/>
                        </a:rPr>
                        <a:t>개요</a:t>
                      </a:r>
                    </a:p>
                  </a:txBody>
                  <a:tcPr marL="137160" marR="137160" marT="60350" marB="60350" anchor="ctr">
                    <a:lnL w="9525">
                      <a:solidFill>
                        <a:srgbClr val="D9DCE5"/>
                      </a:solidFill>
                    </a:lnL>
                    <a:lnR w="9525">
                      <a:solidFill>
                        <a:srgbClr val="D9DCE5"/>
                      </a:solidFill>
                    </a:lnR>
                    <a:lnT w="9525" cap="flat" cmpd="sng" algn="ctr">
                      <a:solidFill>
                        <a:srgbClr val="FFFFFF"/>
                      </a:solidFill>
                      <a:prstDash val="solid"/>
                      <a:round/>
                      <a:headEnd type="none" w="med" len="med"/>
                      <a:tailEnd type="none" w="med" len="med"/>
                    </a:lnT>
                    <a:lnB w="9525">
                      <a:solidFill>
                        <a:srgbClr val="D9DCE5"/>
                      </a:solidFill>
                    </a:lnB>
                    <a:solidFill>
                      <a:srgbClr val="F3F4F8"/>
                    </a:solidFill>
                  </a:tcPr>
                </a:tc>
                <a:tc>
                  <a:txBody>
                    <a:bodyPr/>
                    <a:lstStyle/>
                    <a:p>
                      <a:pPr algn="l">
                        <a:lnSpc>
                          <a:spcPct val="110000"/>
                        </a:lnSpc>
                      </a:pPr>
                      <a:r>
                        <a:rPr sz="1550" b="0">
                          <a:solidFill>
                            <a:srgbClr val="363A52"/>
                          </a:solidFill>
                          <a:latin typeface="210 OmniGothic 040"/>
                          <a:ea typeface="210 OmniGothic 040"/>
                          <a:cs typeface="210 OmniGothic 040"/>
                        </a:rPr>
                        <a:t>사용자가 예측이 아닌 지금 상황 — 어디서 났고, 누가 언제 신고했고, 지금 어떤 상태인지 — 를 확인한다</a:t>
                      </a:r>
                    </a:p>
                  </a:txBody>
                  <a:tcPr marL="137160" marR="137160" marT="50292" marB="5029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1"/>
                  </a:ext>
                </a:extLst>
              </a:tr>
              <a:tr h="407543">
                <a:tc vMerge="1">
                  <a:txBody>
                    <a:bodyPr/>
                    <a:lstStyle/>
                    <a:p>
                      <a:endParaRPr/>
                    </a:p>
                  </a:txBody>
                  <a:tcPr/>
                </a:tc>
                <a:tc>
                  <a:txBody>
                    <a:bodyPr/>
                    <a:lstStyle/>
                    <a:p>
                      <a:pPr algn="l"/>
                      <a:r>
                        <a:rPr sz="1550" b="1">
                          <a:solidFill>
                            <a:srgbClr val="363A52"/>
                          </a:solidFill>
                          <a:latin typeface="210 OmniGothic 040"/>
                          <a:ea typeface="210 OmniGothic 040"/>
                          <a:cs typeface="210 OmniGothic 040"/>
                        </a:rPr>
                        <a:t>액터</a:t>
                      </a:r>
                    </a:p>
                  </a:txBody>
                  <a:tcPr marL="137160" marR="137160" marT="60350" marB="60350" anchor="ctr">
                    <a:lnL w="9525">
                      <a:solidFill>
                        <a:srgbClr val="D9DCE5"/>
                      </a:solidFill>
                    </a:lnL>
                    <a:lnR w="9525">
                      <a:solidFill>
                        <a:srgbClr val="D9DCE5"/>
                      </a:solidFill>
                    </a:lnR>
                    <a:lnT w="9525">
                      <a:solidFill>
                        <a:srgbClr val="D9DCE5"/>
                      </a:solidFill>
                    </a:lnT>
                    <a:lnB w="9525">
                      <a:solidFill>
                        <a:srgbClr val="D9DCE5"/>
                      </a:solidFill>
                    </a:lnB>
                    <a:solidFill>
                      <a:srgbClr val="F3F4F8"/>
                    </a:solidFill>
                  </a:tcPr>
                </a:tc>
                <a:tc>
                  <a:txBody>
                    <a:bodyPr/>
                    <a:lstStyle/>
                    <a:p>
                      <a:pPr algn="l">
                        <a:lnSpc>
                          <a:spcPct val="110000"/>
                        </a:lnSpc>
                      </a:pPr>
                      <a:r>
                        <a:rPr sz="1550" b="0">
                          <a:solidFill>
                            <a:srgbClr val="363A52"/>
                          </a:solidFill>
                          <a:latin typeface="210 OmniGothic 040"/>
                          <a:ea typeface="210 OmniGothic 040"/>
                          <a:cs typeface="210 OmniGothic 040"/>
                        </a:rPr>
                        <a:t>통합지휘권자, 열람자, 상황 보고자</a:t>
                      </a:r>
                    </a:p>
                  </a:txBody>
                  <a:tcPr marL="137160" marR="137160" marT="50292" marB="5029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2"/>
                  </a:ext>
                </a:extLst>
              </a:tr>
              <a:tr h="407543">
                <a:tc vMerge="1">
                  <a:txBody>
                    <a:bodyPr/>
                    <a:lstStyle/>
                    <a:p>
                      <a:endParaRPr/>
                    </a:p>
                  </a:txBody>
                  <a:tcPr/>
                </a:tc>
                <a:tc>
                  <a:txBody>
                    <a:bodyPr/>
                    <a:lstStyle/>
                    <a:p>
                      <a:pPr algn="l"/>
                      <a:r>
                        <a:rPr sz="1550" b="1">
                          <a:solidFill>
                            <a:srgbClr val="363A52"/>
                          </a:solidFill>
                          <a:latin typeface="210 OmniGothic 040"/>
                          <a:ea typeface="210 OmniGothic 040"/>
                          <a:cs typeface="210 OmniGothic 040"/>
                        </a:rPr>
                        <a:t>시작 조건</a:t>
                      </a:r>
                    </a:p>
                  </a:txBody>
                  <a:tcPr marL="137160" marR="137160" marT="60350" marB="60350" anchor="ctr">
                    <a:lnL w="9525">
                      <a:solidFill>
                        <a:srgbClr val="D9DCE5"/>
                      </a:solidFill>
                    </a:lnL>
                    <a:lnR w="9525">
                      <a:solidFill>
                        <a:srgbClr val="D9DCE5"/>
                      </a:solidFill>
                    </a:lnR>
                    <a:lnT w="9525">
                      <a:solidFill>
                        <a:srgbClr val="D9DCE5"/>
                      </a:solidFill>
                    </a:lnT>
                    <a:lnB w="9525">
                      <a:solidFill>
                        <a:srgbClr val="D9DCE5"/>
                      </a:solidFill>
                    </a:lnB>
                    <a:solidFill>
                      <a:srgbClr val="F3F4F8"/>
                    </a:solidFill>
                  </a:tcPr>
                </a:tc>
                <a:tc>
                  <a:txBody>
                    <a:bodyPr/>
                    <a:lstStyle/>
                    <a:p>
                      <a:pPr algn="l">
                        <a:lnSpc>
                          <a:spcPct val="110000"/>
                        </a:lnSpc>
                      </a:pPr>
                      <a:r>
                        <a:rPr sz="1550" b="0">
                          <a:solidFill>
                            <a:srgbClr val="363A52"/>
                          </a:solidFill>
                          <a:latin typeface="210 OmniGothic 040"/>
                          <a:ea typeface="210 OmniGothic 040"/>
                          <a:cs typeface="210 OmniGothic 040"/>
                        </a:rPr>
                        <a:t>로그인 상태, 상황 보고자가 산불을 1건 이상 보고함 (UC-REPORT-01)</a:t>
                      </a:r>
                    </a:p>
                  </a:txBody>
                  <a:tcPr marL="137160" marR="137160" marT="50292" marB="5029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3"/>
                  </a:ext>
                </a:extLst>
              </a:tr>
              <a:tr h="1525651">
                <a:tc vMerge="1">
                  <a:txBody>
                    <a:bodyPr/>
                    <a:lstStyle/>
                    <a:p>
                      <a:endParaRPr/>
                    </a:p>
                  </a:txBody>
                  <a:tcPr/>
                </a:tc>
                <a:tc>
                  <a:txBody>
                    <a:bodyPr/>
                    <a:lstStyle/>
                    <a:p>
                      <a:pPr algn="l"/>
                      <a:r>
                        <a:rPr sz="1550" b="1">
                          <a:solidFill>
                            <a:srgbClr val="363A52"/>
                          </a:solidFill>
                          <a:latin typeface="210 OmniGothic 040"/>
                          <a:ea typeface="210 OmniGothic 040"/>
                          <a:cs typeface="210 OmniGothic 040"/>
                        </a:rPr>
                        <a:t>기본 흐름</a:t>
                      </a:r>
                    </a:p>
                  </a:txBody>
                  <a:tcPr marL="137160" marR="137160" marT="60350" marB="60350" anchor="ctr">
                    <a:lnL w="9525">
                      <a:solidFill>
                        <a:srgbClr val="D9DCE5"/>
                      </a:solidFill>
                    </a:lnL>
                    <a:lnR w="9525">
                      <a:solidFill>
                        <a:srgbClr val="D9DCE5"/>
                      </a:solidFill>
                    </a:lnR>
                    <a:lnT w="9525">
                      <a:solidFill>
                        <a:srgbClr val="D9DCE5"/>
                      </a:solidFill>
                    </a:lnT>
                    <a:lnB w="9525">
                      <a:solidFill>
                        <a:srgbClr val="D9DCE5"/>
                      </a:solidFill>
                    </a:lnB>
                    <a:solidFill>
                      <a:srgbClr val="F3F4F8"/>
                    </a:solidFill>
                  </a:tcPr>
                </a:tc>
                <a:tc>
                  <a:txBody>
                    <a:bodyPr/>
                    <a:lstStyle/>
                    <a:p>
                      <a:pPr algn="l">
                        <a:lnSpc>
                          <a:spcPct val="110000"/>
                        </a:lnSpc>
                      </a:pPr>
                      <a:r>
                        <a:rPr sz="1550" b="0">
                          <a:solidFill>
                            <a:srgbClr val="363A52"/>
                          </a:solidFill>
                          <a:latin typeface="210 OmniGothic 040"/>
                          <a:ea typeface="210 OmniGothic 040"/>
                          <a:cs typeface="210 OmniGothic 040"/>
                        </a:rPr>
                        <a:t>1. 사용자가 상단 「산불 현황」을 누른다.</a:t>
                      </a:r>
                    </a:p>
                    <a:p>
                      <a:pPr algn="l">
                        <a:lnSpc>
                          <a:spcPct val="110000"/>
                        </a:lnSpc>
                      </a:pPr>
                      <a:r>
                        <a:rPr sz="1550" b="0">
                          <a:solidFill>
                            <a:srgbClr val="363A52"/>
                          </a:solidFill>
                          <a:latin typeface="210 OmniGothic 040"/>
                          <a:ea typeface="210 OmniGothic 040"/>
                          <a:cs typeface="210 OmniGothic 040"/>
                        </a:rPr>
                        <a:t>2. 시스템이 접수·진행 중인 산불 목록(발생 장소·발생 시각·진행 상태)을 보여준다.</a:t>
                      </a:r>
                    </a:p>
                    <a:p>
                      <a:pPr algn="l">
                        <a:lnSpc>
                          <a:spcPct val="110000"/>
                        </a:lnSpc>
                      </a:pPr>
                      <a:r>
                        <a:rPr sz="1550" b="0">
                          <a:solidFill>
                            <a:srgbClr val="363A52"/>
                          </a:solidFill>
                          <a:latin typeface="210 OmniGothic 040"/>
                          <a:ea typeface="210 OmniGothic 040"/>
                          <a:cs typeface="210 OmniGothic 040"/>
                        </a:rPr>
                        <a:t>3. 사용자가 목록에서 산불을 고른다.</a:t>
                      </a:r>
                    </a:p>
                    <a:p>
                      <a:pPr algn="l">
                        <a:lnSpc>
                          <a:spcPct val="110000"/>
                        </a:lnSpc>
                      </a:pPr>
                      <a:r>
                        <a:rPr sz="1550" b="0">
                          <a:solidFill>
                            <a:srgbClr val="363A52"/>
                          </a:solidFill>
                          <a:latin typeface="210 OmniGothic 040"/>
                          <a:ea typeface="210 OmniGothic 040"/>
                          <a:cs typeface="210 OmniGothic 040"/>
                        </a:rPr>
                        <a:t>4. 시스템이 발생 장소·신고 내용·접수 시각과 진행 상태(접수 / 진행 중, 최신 실측 화선 버전·입력 시각)를 표시하고, 지도를 해당 산불 위치로 이동해 보여준다.</a:t>
                      </a:r>
                    </a:p>
                  </a:txBody>
                  <a:tcPr marL="137160" marR="137160" marT="50292" marB="5029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4"/>
                  </a:ext>
                </a:extLst>
              </a:tr>
              <a:tr h="687070">
                <a:tc vMerge="1">
                  <a:txBody>
                    <a:bodyPr/>
                    <a:lstStyle/>
                    <a:p>
                      <a:endParaRPr/>
                    </a:p>
                  </a:txBody>
                  <a:tcPr/>
                </a:tc>
                <a:tc>
                  <a:txBody>
                    <a:bodyPr/>
                    <a:lstStyle/>
                    <a:p>
                      <a:pPr algn="l"/>
                      <a:r>
                        <a:rPr sz="1550" b="1">
                          <a:solidFill>
                            <a:srgbClr val="363A52"/>
                          </a:solidFill>
                          <a:latin typeface="210 OmniGothic 040"/>
                          <a:ea typeface="210 OmniGothic 040"/>
                          <a:cs typeface="210 OmniGothic 040"/>
                        </a:rPr>
                        <a:t>대안 흐름</a:t>
                      </a:r>
                    </a:p>
                  </a:txBody>
                  <a:tcPr marL="137160" marR="137160" marT="60350" marB="60350" anchor="ctr">
                    <a:lnL w="9525">
                      <a:solidFill>
                        <a:srgbClr val="D9DCE5"/>
                      </a:solidFill>
                    </a:lnL>
                    <a:lnR w="9525">
                      <a:solidFill>
                        <a:srgbClr val="D9DCE5"/>
                      </a:solidFill>
                    </a:lnR>
                    <a:lnT w="9525">
                      <a:solidFill>
                        <a:srgbClr val="D9DCE5"/>
                      </a:solidFill>
                    </a:lnT>
                    <a:lnB w="9525">
                      <a:solidFill>
                        <a:srgbClr val="D9DCE5"/>
                      </a:solidFill>
                    </a:lnB>
                    <a:solidFill>
                      <a:srgbClr val="F3F4F8"/>
                    </a:solidFill>
                  </a:tcPr>
                </a:tc>
                <a:tc>
                  <a:txBody>
                    <a:bodyPr/>
                    <a:lstStyle/>
                    <a:p>
                      <a:pPr algn="l">
                        <a:lnSpc>
                          <a:spcPct val="110000"/>
                        </a:lnSpc>
                      </a:pPr>
                      <a:r>
                        <a:rPr sz="1550" b="0">
                          <a:solidFill>
                            <a:srgbClr val="363A52"/>
                          </a:solidFill>
                          <a:latin typeface="210 OmniGothic 040"/>
                          <a:ea typeface="210 OmniGothic 040"/>
                          <a:cs typeface="210 OmniGothic 040"/>
                        </a:rPr>
                        <a:t>A1. 목록 보기를 「종료」로 바꿀 시 → 종료 처리된 산불 목록 표시</a:t>
                      </a:r>
                    </a:p>
                    <a:p>
                      <a:pPr algn="l">
                        <a:lnSpc>
                          <a:spcPct val="110000"/>
                        </a:lnSpc>
                      </a:pPr>
                      <a:r>
                        <a:rPr sz="1550" b="0">
                          <a:solidFill>
                            <a:srgbClr val="363A52"/>
                          </a:solidFill>
                          <a:latin typeface="210 OmniGothic 040"/>
                          <a:ea typeface="210 OmniGothic 040"/>
                          <a:cs typeface="210 OmniGothic 040"/>
                        </a:rPr>
                        <a:t>A2. 상황 보고자일 시 → 「실측 화선 보고」 버튼으로 UC-REPORT-01(A1) 진행</a:t>
                      </a:r>
                    </a:p>
                  </a:txBody>
                  <a:tcPr marL="137160" marR="137160" marT="50292" marB="5029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5"/>
                  </a:ext>
                </a:extLst>
              </a:tr>
              <a:tr h="407543">
                <a:tc vMerge="1">
                  <a:txBody>
                    <a:bodyPr/>
                    <a:lstStyle/>
                    <a:p>
                      <a:endParaRPr/>
                    </a:p>
                  </a:txBody>
                  <a:tcPr/>
                </a:tc>
                <a:tc>
                  <a:txBody>
                    <a:bodyPr/>
                    <a:lstStyle/>
                    <a:p>
                      <a:pPr algn="l"/>
                      <a:r>
                        <a:rPr sz="1550" b="1">
                          <a:solidFill>
                            <a:srgbClr val="363A52"/>
                          </a:solidFill>
                          <a:latin typeface="210 OmniGothic 040"/>
                          <a:ea typeface="210 OmniGothic 040"/>
                          <a:cs typeface="210 OmniGothic 040"/>
                        </a:rPr>
                        <a:t>예외 흐름</a:t>
                      </a:r>
                    </a:p>
                  </a:txBody>
                  <a:tcPr marL="137160" marR="137160" marT="60350" marB="60350" anchor="ctr">
                    <a:lnL w="9525">
                      <a:solidFill>
                        <a:srgbClr val="D9DCE5"/>
                      </a:solidFill>
                    </a:lnL>
                    <a:lnR w="9525">
                      <a:solidFill>
                        <a:srgbClr val="D9DCE5"/>
                      </a:solidFill>
                    </a:lnR>
                    <a:lnT w="9525">
                      <a:solidFill>
                        <a:srgbClr val="D9DCE5"/>
                      </a:solidFill>
                    </a:lnT>
                    <a:lnB w="9525">
                      <a:solidFill>
                        <a:srgbClr val="D9DCE5"/>
                      </a:solidFill>
                    </a:lnB>
                    <a:solidFill>
                      <a:srgbClr val="F3F4F8"/>
                    </a:solidFill>
                  </a:tcPr>
                </a:tc>
                <a:tc>
                  <a:txBody>
                    <a:bodyPr/>
                    <a:lstStyle/>
                    <a:p>
                      <a:pPr algn="l">
                        <a:lnSpc>
                          <a:spcPct val="110000"/>
                        </a:lnSpc>
                      </a:pPr>
                      <a:r>
                        <a:rPr sz="1550" b="0">
                          <a:solidFill>
                            <a:srgbClr val="363A52"/>
                          </a:solidFill>
                          <a:latin typeface="210 OmniGothic 040"/>
                          <a:ea typeface="210 OmniGothic 040"/>
                          <a:cs typeface="210 OmniGothic 040"/>
                        </a:rPr>
                        <a:t>E1. 접수·진행 중인 산불이 없으면 시스템이 "진행 중인 산불이 없습니다"를 표시한다.</a:t>
                      </a:r>
                    </a:p>
                  </a:txBody>
                  <a:tcPr marL="137160" marR="137160" marT="50292" marB="5029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6"/>
                  </a:ext>
                </a:extLst>
              </a:tr>
              <a:tr h="407543">
                <a:tc vMerge="1">
                  <a:txBody>
                    <a:bodyPr/>
                    <a:lstStyle/>
                    <a:p>
                      <a:endParaRPr/>
                    </a:p>
                  </a:txBody>
                  <a:tcPr/>
                </a:tc>
                <a:tc>
                  <a:txBody>
                    <a:bodyPr/>
                    <a:lstStyle/>
                    <a:p>
                      <a:pPr algn="l"/>
                      <a:r>
                        <a:rPr sz="1550" b="1">
                          <a:solidFill>
                            <a:srgbClr val="363A52"/>
                          </a:solidFill>
                          <a:latin typeface="210 OmniGothic 040"/>
                          <a:ea typeface="210 OmniGothic 040"/>
                          <a:cs typeface="210 OmniGothic 040"/>
                        </a:rPr>
                        <a:t>종료 조건</a:t>
                      </a:r>
                    </a:p>
                  </a:txBody>
                  <a:tcPr marL="137160" marR="137160" marT="60350" marB="60350" anchor="ctr">
                    <a:lnL w="9525">
                      <a:solidFill>
                        <a:srgbClr val="D9DCE5"/>
                      </a:solidFill>
                    </a:lnL>
                    <a:lnR w="9525">
                      <a:solidFill>
                        <a:srgbClr val="D9DCE5"/>
                      </a:solidFill>
                    </a:lnR>
                    <a:lnT w="9525">
                      <a:solidFill>
                        <a:srgbClr val="D9DCE5"/>
                      </a:solidFill>
                    </a:lnT>
                    <a:lnB w="9525">
                      <a:solidFill>
                        <a:srgbClr val="D9DCE5"/>
                      </a:solidFill>
                    </a:lnB>
                    <a:solidFill>
                      <a:srgbClr val="F3F4F8"/>
                    </a:solidFill>
                  </a:tcPr>
                </a:tc>
                <a:tc>
                  <a:txBody>
                    <a:bodyPr/>
                    <a:lstStyle/>
                    <a:p>
                      <a:pPr algn="l">
                        <a:lnSpc>
                          <a:spcPct val="110000"/>
                        </a:lnSpc>
                      </a:pPr>
                      <a:r>
                        <a:rPr sz="1550" b="0">
                          <a:solidFill>
                            <a:srgbClr val="363A52"/>
                          </a:solidFill>
                          <a:latin typeface="210 OmniGothic 040"/>
                          <a:ea typeface="210 OmniGothic 040"/>
                          <a:cs typeface="210 OmniGothic 040"/>
                        </a:rPr>
                        <a:t>선택한 산불의 발생·접수 정보와 진행 상태가 표시된다</a:t>
                      </a:r>
                    </a:p>
                  </a:txBody>
                  <a:tcPr marL="137160" marR="137160" marT="50292" marB="5029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05"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700" y="-12700"/>
            <a:ext cx="18313400" cy="1638300"/>
          </a:xfrm>
          <a:prstGeom prst="rect">
            <a:avLst/>
          </a:prstGeom>
        </p:spPr>
      </p:pic>
      <p:pic>
        <p:nvPicPr>
          <p:cNvPr id="5106"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28" y="1618343"/>
            <a:ext cx="18313400" cy="8699500"/>
          </a:xfrm>
          <a:prstGeom prst="rect">
            <a:avLst/>
          </a:prstGeom>
        </p:spPr>
      </p:pic>
      <p:pic>
        <p:nvPicPr>
          <p:cNvPr id="5107"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58800" y="9271000"/>
            <a:ext cx="17170400" cy="50800"/>
          </a:xfrm>
          <a:prstGeom prst="rect">
            <a:avLst/>
          </a:prstGeom>
        </p:spPr>
      </p:pic>
      <p:pic>
        <p:nvPicPr>
          <p:cNvPr id="5108" name="Picture 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278100" y="203200"/>
            <a:ext cx="1676400" cy="1409700"/>
          </a:xfrm>
          <a:prstGeom prst="rect">
            <a:avLst/>
          </a:prstGeom>
        </p:spPr>
      </p:pic>
      <p:sp>
        <p:nvSpPr>
          <p:cNvPr id="5109" name="Title"/>
          <p:cNvSpPr txBox="1"/>
          <p:nvPr/>
        </p:nvSpPr>
        <p:spPr>
          <a:xfrm>
            <a:off x="822960" y="384048"/>
            <a:ext cx="13258800" cy="877824"/>
          </a:xfrm>
          <a:prstGeom prst="rect">
            <a:avLst/>
          </a:prstGeom>
          <a:noFill/>
        </p:spPr>
        <p:txBody>
          <a:bodyPr wrap="square" lIns="0" tIns="0" rIns="0" bIns="0" anchor="ctr">
            <a:spAutoFit/>
          </a:bodyPr>
          <a:lstStyle/>
          <a:p>
            <a:pPr algn="l"/>
            <a:r>
              <a:rPr sz="4400" b="0">
                <a:solidFill>
                  <a:srgbClr val="FAA95A"/>
                </a:solidFill>
                <a:latin typeface="210 OmniGothic 050"/>
                <a:ea typeface="210 OmniGothic 050"/>
                <a:cs typeface="210 OmniGothic 050"/>
              </a:rPr>
              <a:t>03. 유스케이스 다이어그램</a:t>
            </a:r>
          </a:p>
        </p:txBody>
      </p:sp>
      <p:sp>
        <p:nvSpPr>
          <p:cNvPr id="5110" name="Subtitle"/>
          <p:cNvSpPr txBox="1"/>
          <p:nvPr/>
        </p:nvSpPr>
        <p:spPr>
          <a:xfrm>
            <a:off x="822960" y="1764792"/>
            <a:ext cx="16642080" cy="502920"/>
          </a:xfrm>
          <a:prstGeom prst="rect">
            <a:avLst/>
          </a:prstGeom>
          <a:noFill/>
        </p:spPr>
        <p:txBody>
          <a:bodyPr wrap="square" lIns="0" tIns="0" rIns="0" bIns="0" anchor="ctr">
            <a:spAutoFit/>
          </a:bodyPr>
          <a:lstStyle/>
          <a:p>
            <a:pPr algn="ctr"/>
            <a:r>
              <a:rPr sz="2600" b="1">
                <a:solidFill>
                  <a:srgbClr val="363A52"/>
                </a:solidFill>
                <a:latin typeface="210 OmniGothic 040"/>
                <a:ea typeface="210 OmniGothic 040"/>
                <a:cs typeface="210 OmniGothic 040"/>
              </a:rPr>
              <a:t>4. 시나리오 – 통합 상황도 조회</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sz="quarter" idx="12"/>
          </p:nvPr>
        </p:nvSpPr>
        <p:spPr/>
        <p:txBody>
          <a:bodyPr/>
          <a:lstStyle/>
          <a:p>
            <a:fld id="{B6F15528-21DE-4FAA-801E-634DDDAF4B2B}" type="slidenum">
              <a:rPr lang="en-US" smtClean="0"/>
              <a:pPr/>
              <a:t>23</a:t>
            </a:fld>
            <a:endParaRPr lang="en-US"/>
          </a:p>
        </p:txBody>
      </p:sp>
      <p:graphicFrame>
        <p:nvGraphicFramePr>
          <p:cNvPr id="5111" name="Table 5110"/>
          <p:cNvGraphicFramePr>
            <a:graphicFrameLocks noGrp="1"/>
          </p:cNvGraphicFramePr>
          <p:nvPr/>
        </p:nvGraphicFramePr>
        <p:xfrm>
          <a:off x="1337310" y="2395728"/>
          <a:ext cx="15430500" cy="6614668"/>
        </p:xfrm>
        <a:graphic>
          <a:graphicData uri="http://schemas.openxmlformats.org/drawingml/2006/table">
            <a:tbl>
              <a:tblPr>
                <a:tableStyleId>{2D5ABB26-0587-4C30-8999-92F81FD0307C}</a:tableStyleId>
              </a:tblPr>
              <a:tblGrid>
                <a:gridCol w="1943100">
                  <a:extLst>
                    <a:ext uri="{9D8B030D-6E8A-4147-A177-3AD203B41FA5}">
                      <a16:colId xmlns:a16="http://schemas.microsoft.com/office/drawing/2014/main" val="20000"/>
                    </a:ext>
                  </a:extLst>
                </a:gridCol>
                <a:gridCol w="1657350">
                  <a:extLst>
                    <a:ext uri="{9D8B030D-6E8A-4147-A177-3AD203B41FA5}">
                      <a16:colId xmlns:a16="http://schemas.microsoft.com/office/drawing/2014/main" val="20001"/>
                    </a:ext>
                  </a:extLst>
                </a:gridCol>
                <a:gridCol w="11830050">
                  <a:extLst>
                    <a:ext uri="{9D8B030D-6E8A-4147-A177-3AD203B41FA5}">
                      <a16:colId xmlns:a16="http://schemas.microsoft.com/office/drawing/2014/main" val="20002"/>
                    </a:ext>
                  </a:extLst>
                </a:gridCol>
              </a:tblGrid>
              <a:tr h="407543">
                <a:tc rowSpan="8">
                  <a:txBody>
                    <a:bodyPr/>
                    <a:lstStyle/>
                    <a:p>
                      <a:pPr algn="ctr"/>
                      <a:r>
                        <a:rPr sz="1550" b="1">
                          <a:solidFill>
                            <a:srgbClr val="FFFFFF"/>
                          </a:solidFill>
                          <a:latin typeface="210 OmniGothic 040"/>
                          <a:ea typeface="210 OmniGothic 040"/>
                          <a:cs typeface="210 OmniGothic 040"/>
                        </a:rPr>
                        <a:t>UC-SIT-03</a:t>
                      </a:r>
                    </a:p>
                  </a:txBody>
                  <a:tcPr marT="40233" marB="40233" anchor="ctr">
                    <a:lnL w="9525">
                      <a:solidFill>
                        <a:srgbClr val="FFFFFF"/>
                      </a:solidFill>
                    </a:lnL>
                    <a:lnR w="9525">
                      <a:solidFill>
                        <a:srgbClr val="FFFFFF"/>
                      </a:solidFill>
                    </a:lnR>
                    <a:lnT w="9525">
                      <a:solidFill>
                        <a:srgbClr val="FFFFFF"/>
                      </a:solidFill>
                    </a:lnT>
                    <a:lnB w="9525">
                      <a:solidFill>
                        <a:srgbClr val="FFFFFF"/>
                      </a:solidFill>
                    </a:lnB>
                    <a:solidFill>
                      <a:srgbClr val="FAA95A"/>
                    </a:solidFill>
                  </a:tcPr>
                </a:tc>
                <a:tc gridSpan="2">
                  <a:txBody>
                    <a:bodyPr/>
                    <a:lstStyle/>
                    <a:p>
                      <a:pPr algn="ctr"/>
                      <a:r>
                        <a:rPr sz="1550" b="1">
                          <a:solidFill>
                            <a:srgbClr val="FFFFFF"/>
                          </a:solidFill>
                          <a:latin typeface="210 OmniGothic 040"/>
                          <a:ea typeface="210 OmniGothic 040"/>
                          <a:cs typeface="210 OmniGothic 040"/>
                        </a:rPr>
                        <a:t>통합 상황도 조회</a:t>
                      </a:r>
                    </a:p>
                  </a:txBody>
                  <a:tcPr marT="40233" marB="40233" anchor="ctr">
                    <a:lnL w="9525">
                      <a:solidFill>
                        <a:srgbClr val="FFFFFF"/>
                      </a:solidFill>
                    </a:lnL>
                    <a:lnR w="9525">
                      <a:solidFill>
                        <a:srgbClr val="FFFFFF"/>
                      </a:solidFill>
                    </a:lnR>
                    <a:lnT w="9525">
                      <a:solidFill>
                        <a:srgbClr val="FFFFFF"/>
                      </a:solidFill>
                    </a:lnT>
                    <a:lnB w="9525">
                      <a:solidFill>
                        <a:srgbClr val="FFFFFF"/>
                      </a:solidFill>
                    </a:lnB>
                    <a:solidFill>
                      <a:srgbClr val="363A52"/>
                    </a:solidFill>
                  </a:tcPr>
                </a:tc>
                <a:tc hMerge="1">
                  <a:txBody>
                    <a:bodyPr/>
                    <a:lstStyle/>
                    <a:p>
                      <a:endParaRPr/>
                    </a:p>
                  </a:txBody>
                  <a:tcPr/>
                </a:tc>
                <a:extLst>
                  <a:ext uri="{0D108BD9-81ED-4DB2-BD59-A6C34878D82A}">
                    <a16:rowId xmlns:a16="http://schemas.microsoft.com/office/drawing/2014/main" val="10000"/>
                  </a:ext>
                </a:extLst>
              </a:tr>
              <a:tr h="687070">
                <a:tc vMerge="1">
                  <a:txBody>
                    <a:bodyPr/>
                    <a:lstStyle/>
                    <a:p>
                      <a:endParaRPr/>
                    </a:p>
                  </a:txBody>
                  <a:tcPr/>
                </a:tc>
                <a:tc>
                  <a:txBody>
                    <a:bodyPr/>
                    <a:lstStyle/>
                    <a:p>
                      <a:pPr algn="l"/>
                      <a:r>
                        <a:rPr sz="1550" b="1">
                          <a:solidFill>
                            <a:srgbClr val="363A52"/>
                          </a:solidFill>
                          <a:latin typeface="210 OmniGothic 040"/>
                          <a:ea typeface="210 OmniGothic 040"/>
                          <a:cs typeface="210 OmniGothic 040"/>
                        </a:rPr>
                        <a:t>개요</a:t>
                      </a:r>
                    </a:p>
                  </a:txBody>
                  <a:tcPr marL="137160" marR="137160" marT="60350" marB="60350" anchor="ctr">
                    <a:lnL w="9525">
                      <a:solidFill>
                        <a:srgbClr val="D9DCE5"/>
                      </a:solidFill>
                    </a:lnL>
                    <a:lnR w="9525">
                      <a:solidFill>
                        <a:srgbClr val="D9DCE5"/>
                      </a:solidFill>
                    </a:lnR>
                    <a:lnT w="9525" cap="flat" cmpd="sng" algn="ctr">
                      <a:solidFill>
                        <a:srgbClr val="FFFFFF"/>
                      </a:solidFill>
                      <a:prstDash val="solid"/>
                      <a:round/>
                      <a:headEnd type="none" w="med" len="med"/>
                      <a:tailEnd type="none" w="med" len="med"/>
                    </a:lnT>
                    <a:lnB w="9525">
                      <a:solidFill>
                        <a:srgbClr val="D9DCE5"/>
                      </a:solidFill>
                    </a:lnB>
                    <a:solidFill>
                      <a:srgbClr val="F3F4F8"/>
                    </a:solidFill>
                  </a:tcPr>
                </a:tc>
                <a:tc>
                  <a:txBody>
                    <a:bodyPr/>
                    <a:lstStyle/>
                    <a:p>
                      <a:pPr algn="l">
                        <a:lnSpc>
                          <a:spcPct val="110000"/>
                        </a:lnSpc>
                      </a:pPr>
                      <a:r>
                        <a:rPr sz="1550" b="0">
                          <a:solidFill>
                            <a:srgbClr val="363A52"/>
                          </a:solidFill>
                          <a:latin typeface="210 OmniGothic 040"/>
                          <a:ea typeface="210 OmniGothic 040"/>
                          <a:cs typeface="210 OmniGothic 040"/>
                        </a:rPr>
                        <a:t>지도 한 장 위에 발화점·실측 화선·확산 폴리곤(예상 확산 범위 도형)과 마을·시설·진화자원을 겹쳐, "불이 어디까지 오고 그 안에 무엇이 있는지"를 본다.</a:t>
                      </a:r>
                    </a:p>
                  </a:txBody>
                  <a:tcPr marL="137160" marR="137160" marT="50292" marB="5029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1"/>
                  </a:ext>
                </a:extLst>
              </a:tr>
              <a:tr h="407543">
                <a:tc vMerge="1">
                  <a:txBody>
                    <a:bodyPr/>
                    <a:lstStyle/>
                    <a:p>
                      <a:endParaRPr/>
                    </a:p>
                  </a:txBody>
                  <a:tcPr/>
                </a:tc>
                <a:tc>
                  <a:txBody>
                    <a:bodyPr/>
                    <a:lstStyle/>
                    <a:p>
                      <a:pPr algn="l"/>
                      <a:r>
                        <a:rPr sz="1550" b="1">
                          <a:solidFill>
                            <a:srgbClr val="363A52"/>
                          </a:solidFill>
                          <a:latin typeface="210 OmniGothic 040"/>
                          <a:ea typeface="210 OmniGothic 040"/>
                          <a:cs typeface="210 OmniGothic 040"/>
                        </a:rPr>
                        <a:t>액터</a:t>
                      </a:r>
                    </a:p>
                  </a:txBody>
                  <a:tcPr marL="137160" marR="137160" marT="60350" marB="60350" anchor="ctr">
                    <a:lnL w="9525">
                      <a:solidFill>
                        <a:srgbClr val="D9DCE5"/>
                      </a:solidFill>
                    </a:lnL>
                    <a:lnR w="9525">
                      <a:solidFill>
                        <a:srgbClr val="D9DCE5"/>
                      </a:solidFill>
                    </a:lnR>
                    <a:lnT w="9525">
                      <a:solidFill>
                        <a:srgbClr val="D9DCE5"/>
                      </a:solidFill>
                    </a:lnT>
                    <a:lnB w="9525">
                      <a:solidFill>
                        <a:srgbClr val="D9DCE5"/>
                      </a:solidFill>
                    </a:lnB>
                    <a:solidFill>
                      <a:srgbClr val="F3F4F8"/>
                    </a:solidFill>
                  </a:tcPr>
                </a:tc>
                <a:tc>
                  <a:txBody>
                    <a:bodyPr/>
                    <a:lstStyle/>
                    <a:p>
                      <a:pPr algn="l">
                        <a:lnSpc>
                          <a:spcPct val="110000"/>
                        </a:lnSpc>
                      </a:pPr>
                      <a:r>
                        <a:rPr sz="1550" b="0">
                          <a:solidFill>
                            <a:srgbClr val="363A52"/>
                          </a:solidFill>
                          <a:latin typeface="210 OmniGothic 040"/>
                          <a:ea typeface="210 OmniGothic 040"/>
                          <a:cs typeface="210 OmniGothic 040"/>
                        </a:rPr>
                        <a:t>통합지휘권자, 열람자 / 기상청 API·공공데이터</a:t>
                      </a:r>
                    </a:p>
                  </a:txBody>
                  <a:tcPr marL="137160" marR="137160" marT="50292" marB="5029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2"/>
                  </a:ext>
                </a:extLst>
              </a:tr>
              <a:tr h="407543">
                <a:tc vMerge="1">
                  <a:txBody>
                    <a:bodyPr/>
                    <a:lstStyle/>
                    <a:p>
                      <a:endParaRPr/>
                    </a:p>
                  </a:txBody>
                  <a:tcPr/>
                </a:tc>
                <a:tc>
                  <a:txBody>
                    <a:bodyPr/>
                    <a:lstStyle/>
                    <a:p>
                      <a:pPr algn="l"/>
                      <a:r>
                        <a:rPr sz="1550" b="1">
                          <a:solidFill>
                            <a:srgbClr val="363A52"/>
                          </a:solidFill>
                          <a:latin typeface="210 OmniGothic 040"/>
                          <a:ea typeface="210 OmniGothic 040"/>
                          <a:cs typeface="210 OmniGothic 040"/>
                        </a:rPr>
                        <a:t>시작 조건</a:t>
                      </a:r>
                    </a:p>
                  </a:txBody>
                  <a:tcPr marL="137160" marR="137160" marT="60350" marB="60350" anchor="ctr">
                    <a:lnL w="9525">
                      <a:solidFill>
                        <a:srgbClr val="D9DCE5"/>
                      </a:solidFill>
                    </a:lnL>
                    <a:lnR w="9525">
                      <a:solidFill>
                        <a:srgbClr val="D9DCE5"/>
                      </a:solidFill>
                    </a:lnR>
                    <a:lnT w="9525">
                      <a:solidFill>
                        <a:srgbClr val="D9DCE5"/>
                      </a:solidFill>
                    </a:lnT>
                    <a:lnB w="9525">
                      <a:solidFill>
                        <a:srgbClr val="D9DCE5"/>
                      </a:solidFill>
                    </a:lnB>
                    <a:solidFill>
                      <a:srgbClr val="F3F4F8"/>
                    </a:solidFill>
                  </a:tcPr>
                </a:tc>
                <a:tc>
                  <a:txBody>
                    <a:bodyPr/>
                    <a:lstStyle/>
                    <a:p>
                      <a:pPr algn="l">
                        <a:lnSpc>
                          <a:spcPct val="110000"/>
                        </a:lnSpc>
                      </a:pPr>
                      <a:r>
                        <a:rPr sz="1550" b="0">
                          <a:solidFill>
                            <a:srgbClr val="363A52"/>
                          </a:solidFill>
                          <a:latin typeface="210 OmniGothic 040"/>
                          <a:ea typeface="210 OmniGothic 040"/>
                          <a:cs typeface="210 OmniGothic 040"/>
                        </a:rPr>
                        <a:t>로그인 상태, 등록된 산불 1건 이상</a:t>
                      </a:r>
                    </a:p>
                  </a:txBody>
                  <a:tcPr marL="137160" marR="137160" marT="50292" marB="5029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3"/>
                  </a:ext>
                </a:extLst>
              </a:tr>
              <a:tr h="2923286">
                <a:tc vMerge="1">
                  <a:txBody>
                    <a:bodyPr/>
                    <a:lstStyle/>
                    <a:p>
                      <a:endParaRPr/>
                    </a:p>
                  </a:txBody>
                  <a:tcPr/>
                </a:tc>
                <a:tc>
                  <a:txBody>
                    <a:bodyPr/>
                    <a:lstStyle/>
                    <a:p>
                      <a:pPr algn="l"/>
                      <a:r>
                        <a:rPr sz="1550" b="1">
                          <a:solidFill>
                            <a:srgbClr val="363A52"/>
                          </a:solidFill>
                          <a:latin typeface="210 OmniGothic 040"/>
                          <a:ea typeface="210 OmniGothic 040"/>
                          <a:cs typeface="210 OmniGothic 040"/>
                        </a:rPr>
                        <a:t>기본 흐름</a:t>
                      </a:r>
                    </a:p>
                  </a:txBody>
                  <a:tcPr marL="137160" marR="137160" marT="60350" marB="60350" anchor="ctr">
                    <a:lnL w="9525">
                      <a:solidFill>
                        <a:srgbClr val="D9DCE5"/>
                      </a:solidFill>
                    </a:lnL>
                    <a:lnR w="9525">
                      <a:solidFill>
                        <a:srgbClr val="D9DCE5"/>
                      </a:solidFill>
                    </a:lnR>
                    <a:lnT w="9525">
                      <a:solidFill>
                        <a:srgbClr val="D9DCE5"/>
                      </a:solidFill>
                    </a:lnT>
                    <a:lnB w="9525">
                      <a:solidFill>
                        <a:srgbClr val="D9DCE5"/>
                      </a:solidFill>
                    </a:lnB>
                    <a:solidFill>
                      <a:srgbClr val="F3F4F8"/>
                    </a:solidFill>
                  </a:tcPr>
                </a:tc>
                <a:tc>
                  <a:txBody>
                    <a:bodyPr/>
                    <a:lstStyle/>
                    <a:p>
                      <a:pPr algn="l">
                        <a:lnSpc>
                          <a:spcPct val="110000"/>
                        </a:lnSpc>
                      </a:pPr>
                      <a:r>
                        <a:rPr sz="1550" b="0">
                          <a:solidFill>
                            <a:srgbClr val="363A52"/>
                          </a:solidFill>
                          <a:latin typeface="210 OmniGothic 040"/>
                          <a:ea typeface="210 OmniGothic 040"/>
                          <a:cs typeface="210 OmniGothic 040"/>
                        </a:rPr>
                        <a:t>1. 사용자가 통합 상황도를 연다(로그인 후 첫 화면 또는 UC-SIT-02에서 산불 선택).</a:t>
                      </a:r>
                    </a:p>
                    <a:p>
                      <a:pPr algn="l">
                        <a:lnSpc>
                          <a:spcPct val="110000"/>
                        </a:lnSpc>
                      </a:pPr>
                      <a:r>
                        <a:rPr sz="1550" b="0">
                          <a:solidFill>
                            <a:srgbClr val="363A52"/>
                          </a:solidFill>
                          <a:latin typeface="210 OmniGothic 040"/>
                          <a:ea typeface="210 OmniGothic 040"/>
                          <a:cs typeface="210 OmniGothic 040"/>
                        </a:rPr>
                        <a:t>2. 시스템이 공공데이터 기반 지도 위에 발화점과 상황 보고자가 입력한 실측 화선을 그린다. 예측 결과가 있으면 1시간 간격 확산 범위 P1~P8을 겹치고, 위험구역(P5, 5시간 내 도달 범위)과 잠재 위험구역(P8, 8시간 내)을 색을 달리해 강조한다.</a:t>
                      </a:r>
                    </a:p>
                    <a:p>
                      <a:pPr algn="l">
                        <a:lnSpc>
                          <a:spcPct val="110000"/>
                        </a:lnSpc>
                      </a:pPr>
                      <a:r>
                        <a:rPr sz="1550" b="0">
                          <a:solidFill>
                            <a:srgbClr val="363A52"/>
                          </a:solidFill>
                          <a:latin typeface="210 OmniGothic 040"/>
                          <a:ea typeface="210 OmniGothic 040"/>
                          <a:cs typeface="210 OmniGothic 040"/>
                        </a:rPr>
                        <a:t>3. 시스템이 마을·담수지·유관기관 등 주요 시설 위치를 아이콘으로 표시한다(발화점과의 거리는 표시하지 않음).</a:t>
                      </a:r>
                    </a:p>
                    <a:p>
                      <a:pPr algn="l">
                        <a:lnSpc>
                          <a:spcPct val="110000"/>
                        </a:lnSpc>
                      </a:pPr>
                      <a:r>
                        <a:rPr sz="1550" b="0">
                          <a:solidFill>
                            <a:srgbClr val="363A52"/>
                          </a:solidFill>
                          <a:latin typeface="210 OmniGothic 040"/>
                          <a:ea typeface="210 OmniGothic 040"/>
                          <a:cs typeface="210 OmniGothic 040"/>
                        </a:rPr>
                        <a:t>4. 사용자가 레이어 패널에서 인구·시설·도로·기관 레이어를 켜고 끄면 시스템이 즉시 지도에 반영한다.</a:t>
                      </a:r>
                    </a:p>
                    <a:p>
                      <a:pPr algn="l">
                        <a:lnSpc>
                          <a:spcPct val="110000"/>
                        </a:lnSpc>
                      </a:pPr>
                      <a:r>
                        <a:rPr sz="1550" b="0">
                          <a:solidFill>
                            <a:srgbClr val="363A52"/>
                          </a:solidFill>
                          <a:latin typeface="210 OmniGothic 040"/>
                          <a:ea typeface="210 OmniGothic 040"/>
                          <a:cs typeface="210 OmniGothic 040"/>
                        </a:rPr>
                        <a:t>5. 사용자가 시간 재생(t = 1 … 8)을 누르면 시스템이 해당 시점의 확산 범위 P(t)를 채우고 도달한 마을을 강조한다.</a:t>
                      </a:r>
                    </a:p>
                    <a:p>
                      <a:pPr algn="l">
                        <a:lnSpc>
                          <a:spcPct val="110000"/>
                        </a:lnSpc>
                      </a:pPr>
                      <a:r>
                        <a:rPr sz="1550" b="0">
                          <a:solidFill>
                            <a:srgbClr val="363A52"/>
                          </a:solidFill>
                          <a:latin typeface="210 OmniGothic 040"/>
                          <a:ea typeface="210 OmniGothic 040"/>
                          <a:cs typeface="210 OmniGothic 040"/>
                        </a:rPr>
                        <a:t>6. 사용자가 「진화자원」 패널을 열면 시스템이 진화자원 데이터(UC-ADMIN-02)를 바탕으로 헬기·인력·차량 현황을 표시한다. 기본은 「가용만 보기」 필터이며, 필터를 끄면 보유·투입·대기까지 모두 표시한다.</a:t>
                      </a:r>
                    </a:p>
                  </a:txBody>
                  <a:tcPr marL="137160" marR="137160" marT="50292" marB="5029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4"/>
                  </a:ext>
                </a:extLst>
              </a:tr>
              <a:tr h="687070">
                <a:tc vMerge="1">
                  <a:txBody>
                    <a:bodyPr/>
                    <a:lstStyle/>
                    <a:p>
                      <a:endParaRPr/>
                    </a:p>
                  </a:txBody>
                  <a:tcPr/>
                </a:tc>
                <a:tc>
                  <a:txBody>
                    <a:bodyPr/>
                    <a:lstStyle/>
                    <a:p>
                      <a:pPr algn="l"/>
                      <a:r>
                        <a:rPr sz="1550" b="1">
                          <a:solidFill>
                            <a:srgbClr val="363A52"/>
                          </a:solidFill>
                          <a:latin typeface="210 OmniGothic 040"/>
                          <a:ea typeface="210 OmniGothic 040"/>
                          <a:cs typeface="210 OmniGothic 040"/>
                        </a:rPr>
                        <a:t>대안 흐름</a:t>
                      </a:r>
                    </a:p>
                  </a:txBody>
                  <a:tcPr marL="137160" marR="137160" marT="60350" marB="60350" anchor="ctr">
                    <a:lnL w="9525">
                      <a:solidFill>
                        <a:srgbClr val="D9DCE5"/>
                      </a:solidFill>
                    </a:lnL>
                    <a:lnR w="9525">
                      <a:solidFill>
                        <a:srgbClr val="D9DCE5"/>
                      </a:solidFill>
                    </a:lnR>
                    <a:lnT w="9525">
                      <a:solidFill>
                        <a:srgbClr val="D9DCE5"/>
                      </a:solidFill>
                    </a:lnT>
                    <a:lnB w="9525">
                      <a:solidFill>
                        <a:srgbClr val="D9DCE5"/>
                      </a:solidFill>
                    </a:lnB>
                    <a:solidFill>
                      <a:srgbClr val="F3F4F8"/>
                    </a:solidFill>
                  </a:tcPr>
                </a:tc>
                <a:tc>
                  <a:txBody>
                    <a:bodyPr/>
                    <a:lstStyle/>
                    <a:p>
                      <a:pPr algn="l">
                        <a:lnSpc>
                          <a:spcPct val="110000"/>
                        </a:lnSpc>
                      </a:pPr>
                      <a:r>
                        <a:rPr sz="1550" b="0">
                          <a:solidFill>
                            <a:srgbClr val="363A52"/>
                          </a:solidFill>
                          <a:latin typeface="210 OmniGothic 040"/>
                          <a:ea typeface="210 OmniGothic 040"/>
                          <a:cs typeface="210 OmniGothic 040"/>
                        </a:rPr>
                        <a:t>A1. 예측 전일 시 → 발화점·실측 화선·시설만 표시 (P1~P8 없음)</a:t>
                      </a:r>
                    </a:p>
                    <a:p>
                      <a:pPr algn="l">
                        <a:lnSpc>
                          <a:spcPct val="110000"/>
                        </a:lnSpc>
                      </a:pPr>
                      <a:r>
                        <a:rPr sz="1550" b="0">
                          <a:solidFill>
                            <a:srgbClr val="363A52"/>
                          </a:solidFill>
                          <a:latin typeface="210 OmniGothic 040"/>
                          <a:ea typeface="210 OmniGothic 040"/>
                          <a:cs typeface="210 OmniGothic 040"/>
                        </a:rPr>
                        <a:t>A2. 종료된 산불일 시 → 예측 범위(P1~P8) 없이 발화점과 보고된 실측 화선만 표시</a:t>
                      </a:r>
                    </a:p>
                  </a:txBody>
                  <a:tcPr marL="137160" marR="137160" marT="50292" marB="5029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5"/>
                  </a:ext>
                </a:extLst>
              </a:tr>
              <a:tr h="687070">
                <a:tc vMerge="1">
                  <a:txBody>
                    <a:bodyPr/>
                    <a:lstStyle/>
                    <a:p>
                      <a:endParaRPr/>
                    </a:p>
                  </a:txBody>
                  <a:tcPr/>
                </a:tc>
                <a:tc>
                  <a:txBody>
                    <a:bodyPr/>
                    <a:lstStyle/>
                    <a:p>
                      <a:pPr algn="l"/>
                      <a:r>
                        <a:rPr sz="1550" b="1">
                          <a:solidFill>
                            <a:srgbClr val="363A52"/>
                          </a:solidFill>
                          <a:latin typeface="210 OmniGothic 040"/>
                          <a:ea typeface="210 OmniGothic 040"/>
                          <a:cs typeface="210 OmniGothic 040"/>
                        </a:rPr>
                        <a:t>예외 흐름</a:t>
                      </a:r>
                    </a:p>
                  </a:txBody>
                  <a:tcPr marL="137160" marR="137160" marT="60350" marB="60350" anchor="ctr">
                    <a:lnL w="9525">
                      <a:solidFill>
                        <a:srgbClr val="D9DCE5"/>
                      </a:solidFill>
                    </a:lnL>
                    <a:lnR w="9525">
                      <a:solidFill>
                        <a:srgbClr val="D9DCE5"/>
                      </a:solidFill>
                    </a:lnR>
                    <a:lnT w="9525">
                      <a:solidFill>
                        <a:srgbClr val="D9DCE5"/>
                      </a:solidFill>
                    </a:lnT>
                    <a:lnB w="9525">
                      <a:solidFill>
                        <a:srgbClr val="D9DCE5"/>
                      </a:solidFill>
                    </a:lnB>
                    <a:solidFill>
                      <a:srgbClr val="F3F4F8"/>
                    </a:solidFill>
                  </a:tcPr>
                </a:tc>
                <a:tc>
                  <a:txBody>
                    <a:bodyPr/>
                    <a:lstStyle/>
                    <a:p>
                      <a:pPr algn="l">
                        <a:lnSpc>
                          <a:spcPct val="110000"/>
                        </a:lnSpc>
                      </a:pPr>
                      <a:r>
                        <a:rPr sz="1550" b="0">
                          <a:solidFill>
                            <a:srgbClr val="363A52"/>
                          </a:solidFill>
                          <a:latin typeface="210 OmniGothic 040"/>
                          <a:ea typeface="210 OmniGothic 040"/>
                          <a:cs typeface="210 OmniGothic 040"/>
                        </a:rPr>
                        <a:t>E1. 공공데이터·기상 데이터 호출에 실패하면 시스템이 마지막으로 받은 값과 수신 시각을 함께 표시한다.</a:t>
                      </a:r>
                    </a:p>
                  </a:txBody>
                  <a:tcPr marL="137160" marR="137160" marT="50292" marB="5029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6"/>
                  </a:ext>
                </a:extLst>
              </a:tr>
              <a:tr h="407543">
                <a:tc vMerge="1">
                  <a:txBody>
                    <a:bodyPr/>
                    <a:lstStyle/>
                    <a:p>
                      <a:endParaRPr/>
                    </a:p>
                  </a:txBody>
                  <a:tcPr/>
                </a:tc>
                <a:tc>
                  <a:txBody>
                    <a:bodyPr/>
                    <a:lstStyle/>
                    <a:p>
                      <a:pPr algn="l"/>
                      <a:r>
                        <a:rPr sz="1550" b="1">
                          <a:solidFill>
                            <a:srgbClr val="363A52"/>
                          </a:solidFill>
                          <a:latin typeface="210 OmniGothic 040"/>
                          <a:ea typeface="210 OmniGothic 040"/>
                          <a:cs typeface="210 OmniGothic 040"/>
                        </a:rPr>
                        <a:t>종료 조건</a:t>
                      </a:r>
                    </a:p>
                  </a:txBody>
                  <a:tcPr marL="137160" marR="137160" marT="60350" marB="60350" anchor="ctr">
                    <a:lnL w="9525">
                      <a:solidFill>
                        <a:srgbClr val="D9DCE5"/>
                      </a:solidFill>
                    </a:lnL>
                    <a:lnR w="9525">
                      <a:solidFill>
                        <a:srgbClr val="D9DCE5"/>
                      </a:solidFill>
                    </a:lnR>
                    <a:lnT w="9525">
                      <a:solidFill>
                        <a:srgbClr val="D9DCE5"/>
                      </a:solidFill>
                    </a:lnT>
                    <a:lnB w="9525">
                      <a:solidFill>
                        <a:srgbClr val="D9DCE5"/>
                      </a:solidFill>
                    </a:lnB>
                    <a:solidFill>
                      <a:srgbClr val="F3F4F8"/>
                    </a:solidFill>
                  </a:tcPr>
                </a:tc>
                <a:tc>
                  <a:txBody>
                    <a:bodyPr/>
                    <a:lstStyle/>
                    <a:p>
                      <a:pPr algn="l">
                        <a:lnSpc>
                          <a:spcPct val="110000"/>
                        </a:lnSpc>
                      </a:pPr>
                      <a:r>
                        <a:rPr sz="1550" b="0">
                          <a:solidFill>
                            <a:srgbClr val="363A52"/>
                          </a:solidFill>
                          <a:latin typeface="210 OmniGothic 040"/>
                          <a:ea typeface="210 OmniGothic 040"/>
                          <a:cs typeface="210 OmniGothic 040"/>
                        </a:rPr>
                        <a:t>실측 화선·예측 범위(P1~P8), 주요 시설, 진화자원 현황(가용만 보기 필터)이 겹쳐진 상황도가 표시된다</a:t>
                      </a:r>
                    </a:p>
                  </a:txBody>
                  <a:tcPr marL="137160" marR="137160" marT="50292" marB="5029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05"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700" y="-12700"/>
            <a:ext cx="18313400" cy="1638300"/>
          </a:xfrm>
          <a:prstGeom prst="rect">
            <a:avLst/>
          </a:prstGeom>
        </p:spPr>
      </p:pic>
      <p:pic>
        <p:nvPicPr>
          <p:cNvPr id="5106"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28" y="1618343"/>
            <a:ext cx="18313400" cy="8699500"/>
          </a:xfrm>
          <a:prstGeom prst="rect">
            <a:avLst/>
          </a:prstGeom>
        </p:spPr>
      </p:pic>
      <p:pic>
        <p:nvPicPr>
          <p:cNvPr id="5107"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58800" y="9271000"/>
            <a:ext cx="17170400" cy="50800"/>
          </a:xfrm>
          <a:prstGeom prst="rect">
            <a:avLst/>
          </a:prstGeom>
        </p:spPr>
      </p:pic>
      <p:pic>
        <p:nvPicPr>
          <p:cNvPr id="5108" name="Picture 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278100" y="203200"/>
            <a:ext cx="1676400" cy="1409700"/>
          </a:xfrm>
          <a:prstGeom prst="rect">
            <a:avLst/>
          </a:prstGeom>
        </p:spPr>
      </p:pic>
      <p:sp>
        <p:nvSpPr>
          <p:cNvPr id="5109" name="Title"/>
          <p:cNvSpPr txBox="1"/>
          <p:nvPr/>
        </p:nvSpPr>
        <p:spPr>
          <a:xfrm>
            <a:off x="822960" y="384048"/>
            <a:ext cx="13258800" cy="877824"/>
          </a:xfrm>
          <a:prstGeom prst="rect">
            <a:avLst/>
          </a:prstGeom>
          <a:noFill/>
        </p:spPr>
        <p:txBody>
          <a:bodyPr wrap="square" lIns="0" tIns="0" rIns="0" bIns="0" anchor="ctr">
            <a:spAutoFit/>
          </a:bodyPr>
          <a:lstStyle/>
          <a:p>
            <a:pPr algn="l"/>
            <a:r>
              <a:rPr sz="4400" b="0">
                <a:solidFill>
                  <a:srgbClr val="FAA95A"/>
                </a:solidFill>
                <a:latin typeface="210 OmniGothic 050"/>
                <a:ea typeface="210 OmniGothic 050"/>
                <a:cs typeface="210 OmniGothic 050"/>
              </a:rPr>
              <a:t>03. 유스케이스 다이어그램</a:t>
            </a:r>
          </a:p>
        </p:txBody>
      </p:sp>
      <p:sp>
        <p:nvSpPr>
          <p:cNvPr id="5110" name="Subtitle"/>
          <p:cNvSpPr txBox="1"/>
          <p:nvPr/>
        </p:nvSpPr>
        <p:spPr>
          <a:xfrm>
            <a:off x="822960" y="1764792"/>
            <a:ext cx="16642080" cy="502920"/>
          </a:xfrm>
          <a:prstGeom prst="rect">
            <a:avLst/>
          </a:prstGeom>
          <a:noFill/>
        </p:spPr>
        <p:txBody>
          <a:bodyPr wrap="square" lIns="0" tIns="0" rIns="0" bIns="0" anchor="ctr">
            <a:spAutoFit/>
          </a:bodyPr>
          <a:lstStyle/>
          <a:p>
            <a:pPr algn="ctr"/>
            <a:r>
              <a:rPr sz="2600" b="1">
                <a:solidFill>
                  <a:srgbClr val="363A52"/>
                </a:solidFill>
                <a:latin typeface="210 OmniGothic 040"/>
                <a:ea typeface="210 OmniGothic 040"/>
                <a:cs typeface="210 OmniGothic 040"/>
              </a:rPr>
              <a:t>4. 시나리오 – 산불 위험도 확인</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sz="quarter" idx="12"/>
          </p:nvPr>
        </p:nvSpPr>
        <p:spPr/>
        <p:txBody>
          <a:bodyPr/>
          <a:lstStyle/>
          <a:p>
            <a:fld id="{B6F15528-21DE-4FAA-801E-634DDDAF4B2B}" type="slidenum">
              <a:rPr lang="en-US" smtClean="0"/>
              <a:pPr/>
              <a:t>24</a:t>
            </a:fld>
            <a:endParaRPr lang="en-US"/>
          </a:p>
        </p:txBody>
      </p:sp>
      <p:graphicFrame>
        <p:nvGraphicFramePr>
          <p:cNvPr id="5111" name="Table 5110"/>
          <p:cNvGraphicFramePr>
            <a:graphicFrameLocks noGrp="1"/>
          </p:cNvGraphicFramePr>
          <p:nvPr/>
        </p:nvGraphicFramePr>
        <p:xfrm>
          <a:off x="1337310" y="2395728"/>
          <a:ext cx="15430500" cy="5689600"/>
        </p:xfrm>
        <a:graphic>
          <a:graphicData uri="http://schemas.openxmlformats.org/drawingml/2006/table">
            <a:tbl>
              <a:tblPr>
                <a:tableStyleId>{2D5ABB26-0587-4C30-8999-92F81FD0307C}</a:tableStyleId>
              </a:tblPr>
              <a:tblGrid>
                <a:gridCol w="1943100">
                  <a:extLst>
                    <a:ext uri="{9D8B030D-6E8A-4147-A177-3AD203B41FA5}">
                      <a16:colId xmlns:a16="http://schemas.microsoft.com/office/drawing/2014/main" val="20000"/>
                    </a:ext>
                  </a:extLst>
                </a:gridCol>
                <a:gridCol w="1657350">
                  <a:extLst>
                    <a:ext uri="{9D8B030D-6E8A-4147-A177-3AD203B41FA5}">
                      <a16:colId xmlns:a16="http://schemas.microsoft.com/office/drawing/2014/main" val="20001"/>
                    </a:ext>
                  </a:extLst>
                </a:gridCol>
                <a:gridCol w="11830050">
                  <a:extLst>
                    <a:ext uri="{9D8B030D-6E8A-4147-A177-3AD203B41FA5}">
                      <a16:colId xmlns:a16="http://schemas.microsoft.com/office/drawing/2014/main" val="20002"/>
                    </a:ext>
                  </a:extLst>
                </a:gridCol>
              </a:tblGrid>
              <a:tr h="407543">
                <a:tc rowSpan="8">
                  <a:txBody>
                    <a:bodyPr/>
                    <a:lstStyle/>
                    <a:p>
                      <a:pPr algn="ctr"/>
                      <a:r>
                        <a:rPr sz="1550" b="1">
                          <a:solidFill>
                            <a:srgbClr val="FFFFFF"/>
                          </a:solidFill>
                          <a:latin typeface="210 OmniGothic 040"/>
                          <a:ea typeface="210 OmniGothic 040"/>
                          <a:cs typeface="210 OmniGothic 040"/>
                        </a:rPr>
                        <a:t>UC-PRED-02</a:t>
                      </a:r>
                    </a:p>
                  </a:txBody>
                  <a:tcPr marT="40233" marB="40233" anchor="ctr">
                    <a:lnL w="9525">
                      <a:solidFill>
                        <a:srgbClr val="FFFFFF"/>
                      </a:solidFill>
                    </a:lnL>
                    <a:lnR w="9525">
                      <a:solidFill>
                        <a:srgbClr val="FFFFFF"/>
                      </a:solidFill>
                    </a:lnR>
                    <a:lnT w="9525">
                      <a:solidFill>
                        <a:srgbClr val="FFFFFF"/>
                      </a:solidFill>
                    </a:lnT>
                    <a:lnB w="9525">
                      <a:solidFill>
                        <a:srgbClr val="FFFFFF"/>
                      </a:solidFill>
                    </a:lnB>
                    <a:solidFill>
                      <a:srgbClr val="FAA95A"/>
                    </a:solidFill>
                  </a:tcPr>
                </a:tc>
                <a:tc gridSpan="2">
                  <a:txBody>
                    <a:bodyPr/>
                    <a:lstStyle/>
                    <a:p>
                      <a:pPr algn="ctr"/>
                      <a:r>
                        <a:rPr sz="1550" b="1">
                          <a:solidFill>
                            <a:srgbClr val="FFFFFF"/>
                          </a:solidFill>
                          <a:latin typeface="210 OmniGothic 040"/>
                          <a:ea typeface="210 OmniGothic 040"/>
                          <a:cs typeface="210 OmniGothic 040"/>
                        </a:rPr>
                        <a:t>산불 위험도 확인</a:t>
                      </a:r>
                    </a:p>
                  </a:txBody>
                  <a:tcPr marT="40233" marB="40233" anchor="ctr">
                    <a:lnL w="9525">
                      <a:solidFill>
                        <a:srgbClr val="FFFFFF"/>
                      </a:solidFill>
                    </a:lnL>
                    <a:lnR w="9525">
                      <a:solidFill>
                        <a:srgbClr val="FFFFFF"/>
                      </a:solidFill>
                    </a:lnR>
                    <a:lnT w="9525">
                      <a:solidFill>
                        <a:srgbClr val="FFFFFF"/>
                      </a:solidFill>
                    </a:lnT>
                    <a:lnB w="9525">
                      <a:solidFill>
                        <a:srgbClr val="FFFFFF"/>
                      </a:solidFill>
                    </a:lnB>
                    <a:solidFill>
                      <a:srgbClr val="363A52"/>
                    </a:solidFill>
                  </a:tcPr>
                </a:tc>
                <a:tc hMerge="1">
                  <a:txBody>
                    <a:bodyPr/>
                    <a:lstStyle/>
                    <a:p>
                      <a:endParaRPr/>
                    </a:p>
                  </a:txBody>
                  <a:tcPr/>
                </a:tc>
                <a:extLst>
                  <a:ext uri="{0D108BD9-81ED-4DB2-BD59-A6C34878D82A}">
                    <a16:rowId xmlns:a16="http://schemas.microsoft.com/office/drawing/2014/main" val="10000"/>
                  </a:ext>
                </a:extLst>
              </a:tr>
              <a:tr h="687070">
                <a:tc vMerge="1">
                  <a:txBody>
                    <a:bodyPr/>
                    <a:lstStyle/>
                    <a:p>
                      <a:endParaRPr/>
                    </a:p>
                  </a:txBody>
                  <a:tcPr/>
                </a:tc>
                <a:tc>
                  <a:txBody>
                    <a:bodyPr/>
                    <a:lstStyle/>
                    <a:p>
                      <a:pPr algn="l"/>
                      <a:r>
                        <a:rPr sz="1550" b="1">
                          <a:solidFill>
                            <a:srgbClr val="363A52"/>
                          </a:solidFill>
                          <a:latin typeface="210 OmniGothic 040"/>
                          <a:ea typeface="210 OmniGothic 040"/>
                          <a:cs typeface="210 OmniGothic 040"/>
                        </a:rPr>
                        <a:t>개요</a:t>
                      </a:r>
                    </a:p>
                  </a:txBody>
                  <a:tcPr marL="137160" marR="137160" marT="60350" marB="60350" anchor="ctr">
                    <a:lnL w="9525">
                      <a:solidFill>
                        <a:srgbClr val="D9DCE5"/>
                      </a:solidFill>
                    </a:lnL>
                    <a:lnR w="9525">
                      <a:solidFill>
                        <a:srgbClr val="D9DCE5"/>
                      </a:solidFill>
                    </a:lnR>
                    <a:lnT w="9525" cap="flat" cmpd="sng" algn="ctr">
                      <a:solidFill>
                        <a:srgbClr val="FFFFFF"/>
                      </a:solidFill>
                      <a:prstDash val="solid"/>
                      <a:round/>
                      <a:headEnd type="none" w="med" len="med"/>
                      <a:tailEnd type="none" w="med" len="med"/>
                    </a:lnT>
                    <a:lnB w="9525">
                      <a:solidFill>
                        <a:srgbClr val="D9DCE5"/>
                      </a:solidFill>
                    </a:lnB>
                    <a:solidFill>
                      <a:srgbClr val="F3F4F8"/>
                    </a:solidFill>
                  </a:tcPr>
                </a:tc>
                <a:tc>
                  <a:txBody>
                    <a:bodyPr/>
                    <a:lstStyle/>
                    <a:p>
                      <a:pPr algn="l">
                        <a:lnSpc>
                          <a:spcPct val="110000"/>
                        </a:lnSpc>
                      </a:pPr>
                      <a:r>
                        <a:rPr sz="1550" b="0">
                          <a:solidFill>
                            <a:srgbClr val="FF0000"/>
                          </a:solidFill>
                          <a:latin typeface="210 OmniGothic 040"/>
                          <a:ea typeface="210 OmniGothic 040"/>
                          <a:cs typeface="210 OmniGothic 040"/>
                        </a:rPr>
                        <a:t>통합지휘권자가 해당 산불이 얼마나 위험한지(위험도 R, 1.00~5.00)를 확인해 예측과 함께 판단 재료로 쓴다. R은 확산 예측 1회마다 P5(5시간 누적 예측 범위) 안의 23개 변수를 가중평균한 독립 지표이며, 산불위험지수·대응단계 등 다른 체계에 매핑하지 않는다</a:t>
                      </a:r>
                    </a:p>
                  </a:txBody>
                  <a:tcPr marL="137160" marR="137160" marT="50292" marB="5029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1"/>
                  </a:ext>
                </a:extLst>
              </a:tr>
              <a:tr h="407543">
                <a:tc vMerge="1">
                  <a:txBody>
                    <a:bodyPr/>
                    <a:lstStyle/>
                    <a:p>
                      <a:endParaRPr/>
                    </a:p>
                  </a:txBody>
                  <a:tcPr/>
                </a:tc>
                <a:tc>
                  <a:txBody>
                    <a:bodyPr/>
                    <a:lstStyle/>
                    <a:p>
                      <a:pPr algn="l"/>
                      <a:r>
                        <a:rPr sz="1550" b="1">
                          <a:solidFill>
                            <a:srgbClr val="363A52"/>
                          </a:solidFill>
                          <a:latin typeface="210 OmniGothic 040"/>
                          <a:ea typeface="210 OmniGothic 040"/>
                          <a:cs typeface="210 OmniGothic 040"/>
                        </a:rPr>
                        <a:t>액터</a:t>
                      </a:r>
                    </a:p>
                  </a:txBody>
                  <a:tcPr marL="137160" marR="137160" marT="60350" marB="60350" anchor="ctr">
                    <a:lnL w="9525">
                      <a:solidFill>
                        <a:srgbClr val="D9DCE5"/>
                      </a:solidFill>
                    </a:lnL>
                    <a:lnR w="9525">
                      <a:solidFill>
                        <a:srgbClr val="D9DCE5"/>
                      </a:solidFill>
                    </a:lnR>
                    <a:lnT w="9525">
                      <a:solidFill>
                        <a:srgbClr val="D9DCE5"/>
                      </a:solidFill>
                    </a:lnT>
                    <a:lnB w="9525">
                      <a:solidFill>
                        <a:srgbClr val="D9DCE5"/>
                      </a:solidFill>
                    </a:lnB>
                    <a:solidFill>
                      <a:srgbClr val="F3F4F8"/>
                    </a:solidFill>
                  </a:tcPr>
                </a:tc>
                <a:tc>
                  <a:txBody>
                    <a:bodyPr/>
                    <a:lstStyle/>
                    <a:p>
                      <a:pPr algn="l">
                        <a:lnSpc>
                          <a:spcPct val="110000"/>
                        </a:lnSpc>
                      </a:pPr>
                      <a:r>
                        <a:rPr sz="1550" b="0">
                          <a:solidFill>
                            <a:srgbClr val="363A52"/>
                          </a:solidFill>
                          <a:latin typeface="210 OmniGothic 040"/>
                          <a:ea typeface="210 OmniGothic 040"/>
                          <a:cs typeface="210 OmniGothic 040"/>
                        </a:rPr>
                        <a:t>통합지휘권자 / 기상청 API·공공데이터</a:t>
                      </a:r>
                    </a:p>
                  </a:txBody>
                  <a:tcPr marL="137160" marR="137160" marT="50292" marB="5029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2"/>
                  </a:ext>
                </a:extLst>
              </a:tr>
              <a:tr h="407543">
                <a:tc vMerge="1">
                  <a:txBody>
                    <a:bodyPr/>
                    <a:lstStyle/>
                    <a:p>
                      <a:endParaRPr/>
                    </a:p>
                  </a:txBody>
                  <a:tcPr/>
                </a:tc>
                <a:tc>
                  <a:txBody>
                    <a:bodyPr/>
                    <a:lstStyle/>
                    <a:p>
                      <a:pPr algn="l"/>
                      <a:r>
                        <a:rPr sz="1550" b="1">
                          <a:solidFill>
                            <a:srgbClr val="363A52"/>
                          </a:solidFill>
                          <a:latin typeface="210 OmniGothic 040"/>
                          <a:ea typeface="210 OmniGothic 040"/>
                          <a:cs typeface="210 OmniGothic 040"/>
                        </a:rPr>
                        <a:t>시작 조건</a:t>
                      </a:r>
                    </a:p>
                  </a:txBody>
                  <a:tcPr marL="137160" marR="137160" marT="60350" marB="60350" anchor="ctr">
                    <a:lnL w="9525">
                      <a:solidFill>
                        <a:srgbClr val="D9DCE5"/>
                      </a:solidFill>
                    </a:lnL>
                    <a:lnR w="9525">
                      <a:solidFill>
                        <a:srgbClr val="D9DCE5"/>
                      </a:solidFill>
                    </a:lnR>
                    <a:lnT w="9525">
                      <a:solidFill>
                        <a:srgbClr val="D9DCE5"/>
                      </a:solidFill>
                    </a:lnT>
                    <a:lnB w="9525">
                      <a:solidFill>
                        <a:srgbClr val="D9DCE5"/>
                      </a:solidFill>
                    </a:lnB>
                    <a:solidFill>
                      <a:srgbClr val="F3F4F8"/>
                    </a:solidFill>
                  </a:tcPr>
                </a:tc>
                <a:tc>
                  <a:txBody>
                    <a:bodyPr/>
                    <a:lstStyle/>
                    <a:p>
                      <a:pPr algn="l">
                        <a:lnSpc>
                          <a:spcPct val="110000"/>
                        </a:lnSpc>
                      </a:pPr>
                      <a:r>
                        <a:rPr sz="1550" b="0">
                          <a:solidFill>
                            <a:srgbClr val="363A52"/>
                          </a:solidFill>
                          <a:latin typeface="210 OmniGothic 040"/>
                          <a:ea typeface="210 OmniGothic 040"/>
                          <a:cs typeface="210 OmniGothic 040"/>
                        </a:rPr>
                        <a:t>통합지휘권자로 로그인, </a:t>
                      </a:r>
                      <a:r>
                        <a:rPr sz="1550" b="0">
                          <a:solidFill>
                            <a:srgbClr val="FF0000"/>
                          </a:solidFill>
                          <a:latin typeface="210 OmniGothic 040"/>
                          <a:ea typeface="210 OmniGothic 040"/>
                          <a:cs typeface="210 OmniGothic 040"/>
                        </a:rPr>
                        <a:t>확산</a:t>
                      </a:r>
                      <a:r>
                        <a:rPr sz="1550" b="0">
                          <a:solidFill>
                            <a:srgbClr val="363A52"/>
                          </a:solidFill>
                          <a:latin typeface="210 OmniGothic 040"/>
                          <a:ea typeface="210 OmniGothic 040"/>
                          <a:cs typeface="210 OmniGothic 040"/>
                        </a:rPr>
                        <a:t> </a:t>
                      </a:r>
                      <a:r>
                        <a:rPr sz="1550" b="0">
                          <a:solidFill>
                            <a:srgbClr val="FF0000"/>
                          </a:solidFill>
                          <a:latin typeface="210 OmniGothic 040"/>
                          <a:ea typeface="210 OmniGothic 040"/>
                          <a:cs typeface="210 OmniGothic 040"/>
                        </a:rPr>
                        <a:t>예측이</a:t>
                      </a:r>
                      <a:r>
                        <a:rPr sz="1550" b="0">
                          <a:solidFill>
                            <a:srgbClr val="363A52"/>
                          </a:solidFill>
                          <a:latin typeface="210 OmniGothic 040"/>
                          <a:ea typeface="210 OmniGothic 040"/>
                          <a:cs typeface="210 OmniGothic 040"/>
                        </a:rPr>
                        <a:t> </a:t>
                      </a:r>
                      <a:r>
                        <a:rPr sz="1550" b="0">
                          <a:solidFill>
                            <a:srgbClr val="FF0000"/>
                          </a:solidFill>
                          <a:latin typeface="210 OmniGothic 040"/>
                          <a:ea typeface="210 OmniGothic 040"/>
                          <a:cs typeface="210 OmniGothic 040"/>
                        </a:rPr>
                        <a:t>1회 이상 실행</a:t>
                      </a:r>
                      <a:r>
                        <a:rPr sz="1550" b="0">
                          <a:solidFill>
                            <a:srgbClr val="363A52"/>
                          </a:solidFill>
                          <a:latin typeface="210 OmniGothic 040"/>
                          <a:ea typeface="210 OmniGothic 040"/>
                          <a:cs typeface="210 OmniGothic 040"/>
                        </a:rPr>
                        <a:t>된 상태 (UC-</a:t>
                      </a:r>
                      <a:r>
                        <a:rPr sz="1550" b="0">
                          <a:solidFill>
                            <a:srgbClr val="FF0000"/>
                          </a:solidFill>
                          <a:latin typeface="210 OmniGothic 040"/>
                          <a:ea typeface="210 OmniGothic 040"/>
                          <a:cs typeface="210 OmniGothic 040"/>
                        </a:rPr>
                        <a:t>P</a:t>
                      </a:r>
                      <a:r>
                        <a:rPr sz="1550" b="0">
                          <a:solidFill>
                            <a:srgbClr val="FF0000"/>
                          </a:solidFill>
                          <a:latin typeface="210 OmniGothic 040"/>
                          <a:ea typeface="210 OmniGothic 040"/>
                          <a:cs typeface="210 OmniGothic 040"/>
                        </a:rPr>
                        <a:t>RE</a:t>
                      </a:r>
                      <a:r>
                        <a:rPr sz="1550" b="0">
                          <a:solidFill>
                            <a:srgbClr val="FF0000"/>
                          </a:solidFill>
                          <a:latin typeface="210 OmniGothic 040"/>
                          <a:ea typeface="210 OmniGothic 040"/>
                          <a:cs typeface="210 OmniGothic 040"/>
                        </a:rPr>
                        <a:t>D</a:t>
                      </a:r>
                      <a:r>
                        <a:rPr sz="1550" b="0">
                          <a:solidFill>
                            <a:srgbClr val="363A52"/>
                          </a:solidFill>
                          <a:latin typeface="210 OmniGothic 040"/>
                          <a:ea typeface="210 OmniGothic 040"/>
                          <a:cs typeface="210 OmniGothic 040"/>
                        </a:rPr>
                        <a:t>-01)</a:t>
                      </a:r>
                    </a:p>
                  </a:txBody>
                  <a:tcPr marL="137160" marR="137160" marT="50292" marB="5029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3"/>
                  </a:ext>
                </a:extLst>
              </a:tr>
              <a:tr h="1805178">
                <a:tc vMerge="1">
                  <a:txBody>
                    <a:bodyPr/>
                    <a:lstStyle/>
                    <a:p>
                      <a:endParaRPr/>
                    </a:p>
                  </a:txBody>
                  <a:tcPr/>
                </a:tc>
                <a:tc>
                  <a:txBody>
                    <a:bodyPr/>
                    <a:lstStyle/>
                    <a:p>
                      <a:pPr algn="l"/>
                      <a:r>
                        <a:rPr sz="1550" b="1">
                          <a:solidFill>
                            <a:srgbClr val="363A52"/>
                          </a:solidFill>
                          <a:latin typeface="210 OmniGothic 040"/>
                          <a:ea typeface="210 OmniGothic 040"/>
                          <a:cs typeface="210 OmniGothic 040"/>
                        </a:rPr>
                        <a:t>기본 흐름</a:t>
                      </a:r>
                    </a:p>
                  </a:txBody>
                  <a:tcPr marL="137160" marR="137160" marT="60350" marB="60350" anchor="ctr">
                    <a:lnL w="9525">
                      <a:solidFill>
                        <a:srgbClr val="D9DCE5"/>
                      </a:solidFill>
                    </a:lnL>
                    <a:lnR w="9525">
                      <a:solidFill>
                        <a:srgbClr val="D9DCE5"/>
                      </a:solidFill>
                    </a:lnR>
                    <a:lnT w="9525">
                      <a:solidFill>
                        <a:srgbClr val="D9DCE5"/>
                      </a:solidFill>
                    </a:lnT>
                    <a:lnB w="9525">
                      <a:solidFill>
                        <a:srgbClr val="D9DCE5"/>
                      </a:solidFill>
                    </a:lnB>
                    <a:solidFill>
                      <a:srgbClr val="F3F4F8"/>
                    </a:solidFill>
                  </a:tcPr>
                </a:tc>
                <a:tc>
                  <a:txBody>
                    <a:bodyPr/>
                    <a:lstStyle/>
                    <a:p>
                      <a:pPr algn="l">
                        <a:lnSpc>
                          <a:spcPct val="110000"/>
                        </a:lnSpc>
                      </a:pPr>
                      <a:r>
                        <a:rPr sz="1550" b="0">
                          <a:solidFill>
                            <a:srgbClr val="FF0000"/>
                          </a:solidFill>
                          <a:latin typeface="210 OmniGothic 040"/>
                          <a:ea typeface="210 OmniGothic 040"/>
                          <a:cs typeface="210 OmniGothic 040"/>
                        </a:rPr>
                        <a:t>1. 확산 예측이 저장되면(UC-PRED-01) 시스템이 산불마다 P5 폴리곤을 꺼내고, 다른 산불의 P5와 겹치면 동일 산불로 묶어 합집합 폴리곤을 만든다.</a:t>
                      </a:r>
                    </a:p>
                    <a:p>
                      <a:pPr algn="l">
                        <a:lnSpc>
                          <a:spcPct val="110000"/>
                        </a:lnSpc>
                      </a:pPr>
                      <a:r>
                        <a:rPr sz="1550" b="0">
                          <a:solidFill>
                            <a:srgbClr val="FF0000"/>
                          </a:solidFill>
                          <a:latin typeface="210 OmniGothic 040"/>
                          <a:ea typeface="210 OmniGothic 040"/>
                          <a:cs typeface="210 OmniGothic 040"/>
                        </a:rPr>
                        <a:t>2. 시스템이 P5와 겹친 격자의 기상·지형·연료 값을 겹침 면적 비율로 가중해 1~5 등급으로 바꾸고, 겹친 행정동의 65세 이상·0~14세 인구(SGIS)를 합산해 취약계층 수를, 최근 화선에서 가장 가까운 소방서까지 거리를 구한다.</a:t>
                      </a:r>
                    </a:p>
                    <a:p>
                      <a:pPr algn="l">
                        <a:lnSpc>
                          <a:spcPct val="110000"/>
                        </a:lnSpc>
                      </a:pPr>
                      <a:r>
                        <a:rPr sz="1550" b="0">
                          <a:solidFill>
                            <a:srgbClr val="FF0000"/>
                          </a:solidFill>
                          <a:latin typeface="210 OmniGothic 040"/>
                          <a:ea typeface="210 OmniGothic 040"/>
                          <a:cs typeface="210 OmniGothic 040"/>
                        </a:rPr>
                        <a:t>3. 시스템이 23개 변수의 가중평균으로 R과 기상·지형·연료·인프라 요인 점수를 계산하고, 이전 예측의 값을 새 값으로 바꿔 저장한다.</a:t>
                      </a:r>
                    </a:p>
                    <a:p>
                      <a:pPr algn="l">
                        <a:lnSpc>
                          <a:spcPct val="110000"/>
                        </a:lnSpc>
                      </a:pPr>
                      <a:r>
                        <a:rPr sz="1550" b="0">
                          <a:solidFill>
                            <a:srgbClr val="FF0000"/>
                          </a:solidFill>
                          <a:latin typeface="210 OmniGothic 040"/>
                          <a:ea typeface="210 OmniGothic 040"/>
                          <a:cs typeface="210 OmniGothic 040"/>
                        </a:rPr>
                        <a:t>4. 통합지휘권자가 상황도의 「위험도」를 열면 시스템이 산불(폴리곤)마다 R을 소수 둘째 자리 숫자로 요인 점수와 함께 표시한다(등급 이름 없음).</a:t>
                      </a:r>
                    </a:p>
                  </a:txBody>
                  <a:tcPr marL="137160" marR="137160" marT="50292" marB="5029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4"/>
                  </a:ext>
                </a:extLst>
              </a:tr>
              <a:tr h="687070">
                <a:tc vMerge="1">
                  <a:txBody>
                    <a:bodyPr/>
                    <a:lstStyle/>
                    <a:p>
                      <a:endParaRPr/>
                    </a:p>
                  </a:txBody>
                  <a:tcPr/>
                </a:tc>
                <a:tc>
                  <a:txBody>
                    <a:bodyPr/>
                    <a:lstStyle/>
                    <a:p>
                      <a:pPr algn="l"/>
                      <a:r>
                        <a:rPr sz="1550" b="1">
                          <a:solidFill>
                            <a:srgbClr val="363A52"/>
                          </a:solidFill>
                          <a:latin typeface="210 OmniGothic 040"/>
                          <a:ea typeface="210 OmniGothic 040"/>
                          <a:cs typeface="210 OmniGothic 040"/>
                        </a:rPr>
                        <a:t>대안 흐름</a:t>
                      </a:r>
                    </a:p>
                  </a:txBody>
                  <a:tcPr marL="137160" marR="137160" marT="60350" marB="60350" anchor="ctr">
                    <a:lnL w="9525">
                      <a:solidFill>
                        <a:srgbClr val="D9DCE5"/>
                      </a:solidFill>
                    </a:lnL>
                    <a:lnR w="9525">
                      <a:solidFill>
                        <a:srgbClr val="D9DCE5"/>
                      </a:solidFill>
                    </a:lnR>
                    <a:lnT w="9525">
                      <a:solidFill>
                        <a:srgbClr val="D9DCE5"/>
                      </a:solidFill>
                    </a:lnT>
                    <a:lnB w="9525">
                      <a:solidFill>
                        <a:srgbClr val="D9DCE5"/>
                      </a:solidFill>
                    </a:lnB>
                    <a:solidFill>
                      <a:srgbClr val="F3F4F8"/>
                    </a:solidFill>
                  </a:tcPr>
                </a:tc>
                <a:tc>
                  <a:txBody>
                    <a:bodyPr/>
                    <a:lstStyle/>
                    <a:p>
                      <a:pPr algn="l">
                        <a:lnSpc>
                          <a:spcPct val="110000"/>
                        </a:lnSpc>
                      </a:pPr>
                      <a:r>
                        <a:rPr sz="1550" b="0">
                          <a:solidFill>
                            <a:srgbClr val="FF0000"/>
                          </a:solidFill>
                          <a:latin typeface="210 OmniGothic 040"/>
                          <a:ea typeface="210 OmniGothic 040"/>
                          <a:cs typeface="210 OmniGothic 040"/>
                        </a:rPr>
                        <a:t>A1. 예측 전일 시 → 위험도 대신 「예측 실행 후 표시」 안내</a:t>
                      </a:r>
                    </a:p>
                    <a:p>
                      <a:pPr algn="l">
                        <a:lnSpc>
                          <a:spcPct val="110000"/>
                        </a:lnSpc>
                      </a:pPr>
                      <a:r>
                        <a:rPr sz="1550" b="0">
                          <a:solidFill>
                            <a:srgbClr val="FF0000"/>
                          </a:solidFill>
                          <a:latin typeface="210 OmniGothic 040"/>
                          <a:ea typeface="210 OmniGothic 040"/>
                          <a:cs typeface="210 OmniGothic 040"/>
                        </a:rPr>
                        <a:t>A2. P5가 겹쳐 묶인 산불일 시 → 묶인 산불 모두에 같은 R과 「병합 계산」 표시</a:t>
                      </a:r>
                    </a:p>
                    <a:p>
                      <a:pPr algn="l">
                        <a:lnSpc>
                          <a:spcPct val="110000"/>
                        </a:lnSpc>
                      </a:pPr>
                      <a:r>
                        <a:rPr sz="1550" b="0">
                          <a:solidFill>
                            <a:srgbClr val="FF0000"/>
                          </a:solidFill>
                          <a:latin typeface="210 OmniGothic 040"/>
                          <a:ea typeface="210 OmniGothic 040"/>
                          <a:cs typeface="210 OmniGothic 040"/>
                        </a:rPr>
                        <a:t>A</a:t>
                      </a:r>
                      <a:r>
                        <a:rPr sz="1550" b="0">
                          <a:solidFill>
                            <a:srgbClr val="FF0000"/>
                          </a:solidFill>
                          <a:latin typeface="210 OmniGothic 040"/>
                          <a:ea typeface="210 OmniGothic 040"/>
                          <a:cs typeface="210 OmniGothic 040"/>
                        </a:rPr>
                        <a:t>3</a:t>
                      </a:r>
                      <a:r>
                        <a:rPr sz="1550" b="0">
                          <a:solidFill>
                            <a:srgbClr val="363A52"/>
                          </a:solidFill>
                          <a:latin typeface="210 OmniGothic 040"/>
                          <a:ea typeface="210 OmniGothic 040"/>
                          <a:cs typeface="210 OmniGothic 040"/>
                        </a:rPr>
                        <a:t>. 종료된 산불일 시 → </a:t>
                      </a:r>
                      <a:r>
                        <a:rPr sz="1550" b="0">
                          <a:solidFill>
                            <a:srgbClr val="FF0000"/>
                          </a:solidFill>
                          <a:latin typeface="210 OmniGothic 040"/>
                          <a:ea typeface="210 OmniGothic 040"/>
                          <a:cs typeface="210 OmniGothic 040"/>
                        </a:rPr>
                        <a:t>숫자</a:t>
                      </a:r>
                      <a:r>
                        <a:rPr sz="1550" b="0">
                          <a:solidFill>
                            <a:srgbClr val="363A52"/>
                          </a:solidFill>
                          <a:latin typeface="210 OmniGothic 040"/>
                          <a:ea typeface="210 OmniGothic 040"/>
                          <a:cs typeface="210 OmniGothic 040"/>
                        </a:rPr>
                        <a:t> </a:t>
                      </a:r>
                      <a:r>
                        <a:rPr sz="1550" b="0">
                          <a:solidFill>
                            <a:srgbClr val="FF0000"/>
                          </a:solidFill>
                          <a:latin typeface="210 OmniGothic 040"/>
                          <a:ea typeface="210 OmniGothic 040"/>
                          <a:cs typeface="210 OmniGothic 040"/>
                        </a:rPr>
                        <a:t>대</a:t>
                      </a:r>
                      <a:r>
                        <a:rPr sz="1550" b="0">
                          <a:solidFill>
                            <a:srgbClr val="FF0000"/>
                          </a:solidFill>
                          <a:latin typeface="210 OmniGothic 040"/>
                          <a:ea typeface="210 OmniGothic 040"/>
                          <a:cs typeface="210 OmniGothic 040"/>
                        </a:rPr>
                        <a:t>신</a:t>
                      </a:r>
                      <a:r>
                        <a:rPr sz="1550" b="0">
                          <a:solidFill>
                            <a:srgbClr val="363A52"/>
                          </a:solidFill>
                          <a:latin typeface="210 OmniGothic 040"/>
                          <a:ea typeface="210 OmniGothic 040"/>
                          <a:cs typeface="210 OmniGothic 040"/>
                        </a:rPr>
                        <a:t> </a:t>
                      </a:r>
                      <a:r>
                        <a:rPr sz="1550" b="0">
                          <a:solidFill>
                            <a:srgbClr val="FF0000"/>
                          </a:solidFill>
                          <a:latin typeface="210 OmniGothic 040"/>
                          <a:ea typeface="210 OmniGothic 040"/>
                          <a:cs typeface="210 OmniGothic 040"/>
                        </a:rPr>
                        <a:t>「종료」</a:t>
                      </a:r>
                      <a:r>
                        <a:rPr sz="1550" b="0">
                          <a:solidFill>
                            <a:srgbClr val="363A52"/>
                          </a:solidFill>
                          <a:latin typeface="210 OmniGothic 040"/>
                          <a:ea typeface="210 OmniGothic 040"/>
                          <a:cs typeface="210 OmniGothic 040"/>
                        </a:rPr>
                        <a:t> 표시</a:t>
                      </a:r>
                    </a:p>
                  </a:txBody>
                  <a:tcPr marL="137160" marR="137160" marT="50292" marB="5029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5"/>
                  </a:ext>
                </a:extLst>
              </a:tr>
              <a:tr h="687070">
                <a:tc vMerge="1">
                  <a:txBody>
                    <a:bodyPr/>
                    <a:lstStyle/>
                    <a:p>
                      <a:endParaRPr/>
                    </a:p>
                  </a:txBody>
                  <a:tcPr/>
                </a:tc>
                <a:tc>
                  <a:txBody>
                    <a:bodyPr/>
                    <a:lstStyle/>
                    <a:p>
                      <a:pPr algn="l"/>
                      <a:r>
                        <a:rPr sz="1550" b="1">
                          <a:solidFill>
                            <a:srgbClr val="363A52"/>
                          </a:solidFill>
                          <a:latin typeface="210 OmniGothic 040"/>
                          <a:ea typeface="210 OmniGothic 040"/>
                          <a:cs typeface="210 OmniGothic 040"/>
                        </a:rPr>
                        <a:t>예외 흐름</a:t>
                      </a:r>
                    </a:p>
                  </a:txBody>
                  <a:tcPr marL="137160" marR="137160" marT="60350" marB="60350" anchor="ctr">
                    <a:lnL w="9525">
                      <a:solidFill>
                        <a:srgbClr val="D9DCE5"/>
                      </a:solidFill>
                    </a:lnL>
                    <a:lnR w="9525">
                      <a:solidFill>
                        <a:srgbClr val="D9DCE5"/>
                      </a:solidFill>
                    </a:lnR>
                    <a:lnT w="9525">
                      <a:solidFill>
                        <a:srgbClr val="D9DCE5"/>
                      </a:solidFill>
                    </a:lnT>
                    <a:lnB w="9525">
                      <a:solidFill>
                        <a:srgbClr val="D9DCE5"/>
                      </a:solidFill>
                    </a:lnB>
                    <a:solidFill>
                      <a:srgbClr val="F3F4F8"/>
                    </a:solidFill>
                  </a:tcPr>
                </a:tc>
                <a:tc>
                  <a:txBody>
                    <a:bodyPr/>
                    <a:lstStyle/>
                    <a:p>
                      <a:pPr algn="l">
                        <a:lnSpc>
                          <a:spcPct val="110000"/>
                        </a:lnSpc>
                      </a:pPr>
                      <a:r>
                        <a:rPr sz="1550" b="0">
                          <a:solidFill>
                            <a:srgbClr val="363A52"/>
                          </a:solidFill>
                          <a:latin typeface="210 OmniGothic 040"/>
                          <a:ea typeface="210 OmniGothic 040"/>
                          <a:cs typeface="210 OmniGothic 040"/>
                        </a:rPr>
                        <a:t>E1.</a:t>
                      </a:r>
                      <a:r>
                        <a:rPr sz="1550" b="0">
                          <a:solidFill>
                            <a:srgbClr val="FF0000"/>
                          </a:solidFill>
                          <a:latin typeface="210 OmniGothic 040"/>
                          <a:ea typeface="210 OmniGothic 040"/>
                          <a:cs typeface="210 OmniGothic 040"/>
                        </a:rPr>
                        <a:t> P5 폴리곤이나</a:t>
                      </a:r>
                      <a:r>
                        <a:rPr sz="1550" b="0">
                          <a:solidFill>
                            <a:srgbClr val="363A52"/>
                          </a:solidFill>
                          <a:latin typeface="210 OmniGothic 040"/>
                          <a:ea typeface="210 OmniGothic 040"/>
                          <a:cs typeface="210 OmniGothic 040"/>
                        </a:rPr>
                        <a:t> 필수 변수</a:t>
                      </a:r>
                      <a:r>
                        <a:rPr sz="1550" b="0">
                          <a:solidFill>
                            <a:srgbClr val="FF0000"/>
                          </a:solidFill>
                          <a:latin typeface="210 OmniGothic 040"/>
                          <a:ea typeface="210 OmniGothic 040"/>
                          <a:cs typeface="210 OmniGothic 040"/>
                        </a:rPr>
                        <a:t>를</a:t>
                      </a:r>
                      <a:r>
                        <a:rPr sz="1550" b="0">
                          <a:solidFill>
                            <a:srgbClr val="363A52"/>
                          </a:solidFill>
                          <a:latin typeface="210 OmniGothic 040"/>
                          <a:ea typeface="210 OmniGothic 040"/>
                          <a:cs typeface="210 OmniGothic 040"/>
                        </a:rPr>
                        <a:t> </a:t>
                      </a:r>
                      <a:r>
                        <a:rPr sz="1550" b="0">
                          <a:solidFill>
                            <a:srgbClr val="FF0000"/>
                          </a:solidFill>
                          <a:latin typeface="210 OmniGothic 040"/>
                          <a:ea typeface="210 OmniGothic 040"/>
                          <a:cs typeface="210 OmniGothic 040"/>
                        </a:rPr>
                        <a:t>구하지 못하</a:t>
                      </a:r>
                      <a:r>
                        <a:rPr sz="1550" b="0">
                          <a:solidFill>
                            <a:srgbClr val="363A52"/>
                          </a:solidFill>
                          <a:latin typeface="210 OmniGothic 040"/>
                          <a:ea typeface="210 OmniGothic 040"/>
                          <a:cs typeface="210 OmniGothic 040"/>
                        </a:rPr>
                        <a:t>면 시스템이 "위험도 계산 실패"를 안내하고 </a:t>
                      </a:r>
                      <a:r>
                        <a:rPr sz="1550" b="0">
                          <a:solidFill>
                            <a:srgbClr val="FF0000"/>
                          </a:solidFill>
                          <a:latin typeface="210 OmniGothic 040"/>
                          <a:ea typeface="210 OmniGothic 040"/>
                          <a:cs typeface="210 OmniGothic 040"/>
                        </a:rPr>
                        <a:t>다음 예측 때 다</a:t>
                      </a:r>
                      <a:r>
                        <a:rPr sz="1550" b="0">
                          <a:solidFill>
                            <a:srgbClr val="FF0000"/>
                          </a:solidFill>
                          <a:latin typeface="210 OmniGothic 040"/>
                          <a:ea typeface="210 OmniGothic 040"/>
                          <a:cs typeface="210 OmniGothic 040"/>
                        </a:rPr>
                        <a:t>시</a:t>
                      </a:r>
                      <a:r>
                        <a:rPr sz="1550" b="0">
                          <a:solidFill>
                            <a:srgbClr val="363A52"/>
                          </a:solidFill>
                          <a:latin typeface="210 OmniGothic 040"/>
                          <a:ea typeface="210 OmniGothic 040"/>
                          <a:cs typeface="210 OmniGothic 040"/>
                        </a:rPr>
                        <a:t> </a:t>
                      </a:r>
                      <a:r>
                        <a:rPr sz="1550" b="0">
                          <a:solidFill>
                            <a:srgbClr val="FF0000"/>
                          </a:solidFill>
                          <a:latin typeface="210 OmniGothic 040"/>
                          <a:ea typeface="210 OmniGothic 040"/>
                          <a:cs typeface="210 OmniGothic 040"/>
                        </a:rPr>
                        <a:t>계산한</a:t>
                      </a:r>
                      <a:r>
                        <a:rPr sz="1550" b="0">
                          <a:solidFill>
                            <a:srgbClr val="FF0000"/>
                          </a:solidFill>
                          <a:latin typeface="210 OmniGothic 040"/>
                          <a:ea typeface="210 OmniGothic 040"/>
                          <a:cs typeface="210 OmniGothic 040"/>
                        </a:rPr>
                        <a:t>다.</a:t>
                      </a:r>
                    </a:p>
                    <a:p>
                      <a:pPr algn="l">
                        <a:lnSpc>
                          <a:spcPct val="110000"/>
                        </a:lnSpc>
                      </a:pPr>
                      <a:r>
                        <a:rPr sz="1550" b="0">
                          <a:solidFill>
                            <a:srgbClr val="363A52"/>
                          </a:solidFill>
                          <a:latin typeface="210 OmniGothic 040"/>
                          <a:ea typeface="210 OmniGothic 040"/>
                          <a:cs typeface="210 OmniGothic 040"/>
                        </a:rPr>
                        <a:t>E2. 일부 변수만 결측이면 시스템이 결측 변수를 빼고 </a:t>
                      </a:r>
                      <a:r>
                        <a:rPr sz="1550" b="0">
                          <a:solidFill>
                            <a:srgbClr val="FF0000"/>
                          </a:solidFill>
                          <a:latin typeface="210 OmniGothic 040"/>
                          <a:ea typeface="210 OmniGothic 040"/>
                          <a:cs typeface="210 OmniGothic 040"/>
                        </a:rPr>
                        <a:t>남은 가중치로 나눠 </a:t>
                      </a:r>
                      <a:r>
                        <a:rPr sz="1550" b="0">
                          <a:solidFill>
                            <a:srgbClr val="363A52"/>
                          </a:solidFill>
                          <a:latin typeface="210 OmniGothic 040"/>
                          <a:ea typeface="210 OmniGothic 040"/>
                          <a:cs typeface="210 OmniGothic 040"/>
                        </a:rPr>
                        <a:t>계산하고</a:t>
                      </a:r>
                      <a:r>
                        <a:rPr sz="1550" b="0">
                          <a:solidFill>
                            <a:srgbClr val="FF0000"/>
                          </a:solidFill>
                          <a:latin typeface="210 OmniGothic 040"/>
                          <a:ea typeface="210 OmniGothic 040"/>
                          <a:cs typeface="210 OmniGothic 040"/>
                        </a:rPr>
                        <a:t>,</a:t>
                      </a:r>
                      <a:r>
                        <a:rPr sz="1550" b="0">
                          <a:solidFill>
                            <a:srgbClr val="363A52"/>
                          </a:solidFill>
                          <a:latin typeface="210 OmniGothic 040"/>
                          <a:ea typeface="210 OmniGothic 040"/>
                          <a:cs typeface="210 OmniGothic 040"/>
                        </a:rPr>
                        <a:t> 결측 목록을 함께 표시한다.</a:t>
                      </a:r>
                    </a:p>
                    <a:p>
                      <a:pPr algn="l">
                        <a:lnSpc>
                          <a:spcPct val="110000"/>
                        </a:lnSpc>
                      </a:pPr>
                      <a:r>
                        <a:rPr sz="1550" b="0">
                          <a:solidFill>
                            <a:srgbClr val="363A52"/>
                          </a:solidFill>
                          <a:latin typeface="210 OmniGothic 040"/>
                          <a:ea typeface="210 OmniGothic 040"/>
                          <a:cs typeface="210 OmniGothic 040"/>
                        </a:rPr>
                        <a:t>E3. </a:t>
                      </a:r>
                      <a:r>
                        <a:rPr sz="1550" b="0">
                          <a:solidFill>
                            <a:srgbClr val="FF0000"/>
                          </a:solidFill>
                          <a:latin typeface="210 OmniGothic 040"/>
                          <a:ea typeface="210 OmniGothic 040"/>
                          <a:cs typeface="210 OmniGothic 040"/>
                        </a:rPr>
                        <a:t>예측에 쓴 </a:t>
                      </a:r>
                      <a:r>
                        <a:rPr sz="1550" b="0">
                          <a:solidFill>
                            <a:srgbClr val="FF0000"/>
                          </a:solidFill>
                          <a:latin typeface="210 OmniGothic 040"/>
                          <a:ea typeface="210 OmniGothic 040"/>
                          <a:cs typeface="210 OmniGothic 040"/>
                        </a:rPr>
                        <a:t>기상</a:t>
                      </a:r>
                      <a:r>
                        <a:rPr sz="1550" b="0">
                          <a:solidFill>
                            <a:srgbClr val="363A52"/>
                          </a:solidFill>
                          <a:latin typeface="210 OmniGothic 040"/>
                          <a:ea typeface="210 OmniGothic 040"/>
                          <a:cs typeface="210 OmniGothic 040"/>
                        </a:rPr>
                        <a:t> </a:t>
                      </a:r>
                      <a:r>
                        <a:rPr sz="1550" b="0">
                          <a:solidFill>
                            <a:srgbClr val="FF0000"/>
                          </a:solidFill>
                          <a:latin typeface="210 OmniGothic 040"/>
                          <a:ea typeface="210 OmniGothic 040"/>
                          <a:cs typeface="210 OmniGothic 040"/>
                        </a:rPr>
                        <a:t>값이</a:t>
                      </a:r>
                      <a:r>
                        <a:rPr sz="1550" b="0">
                          <a:solidFill>
                            <a:srgbClr val="363A52"/>
                          </a:solidFill>
                          <a:latin typeface="210 OmniGothic 040"/>
                          <a:ea typeface="210 OmniGothic 040"/>
                          <a:cs typeface="210 OmniGothic 040"/>
                        </a:rPr>
                        <a:t> </a:t>
                      </a:r>
                      <a:r>
                        <a:rPr sz="1550" b="0">
                          <a:solidFill>
                            <a:srgbClr val="FF0000"/>
                          </a:solidFill>
                          <a:latin typeface="210 OmniGothic 040"/>
                          <a:ea typeface="210 OmniGothic 040"/>
                          <a:cs typeface="210 OmniGothic 040"/>
                        </a:rPr>
                        <a:t>최신이</a:t>
                      </a:r>
                      <a:r>
                        <a:rPr sz="1550" b="0">
                          <a:solidFill>
                            <a:srgbClr val="363A52"/>
                          </a:solidFill>
                          <a:latin typeface="210 OmniGothic 040"/>
                          <a:ea typeface="210 OmniGothic 040"/>
                          <a:cs typeface="210 OmniGothic 040"/>
                        </a:rPr>
                        <a:t> </a:t>
                      </a:r>
                      <a:r>
                        <a:rPr sz="1550" b="0">
                          <a:solidFill>
                            <a:srgbClr val="FF0000"/>
                          </a:solidFill>
                          <a:latin typeface="210 OmniGothic 040"/>
                          <a:ea typeface="210 OmniGothic 040"/>
                          <a:cs typeface="210 OmniGothic 040"/>
                        </a:rPr>
                        <a:t>아니</a:t>
                      </a:r>
                      <a:r>
                        <a:rPr sz="1550" b="0">
                          <a:solidFill>
                            <a:srgbClr val="363A52"/>
                          </a:solidFill>
                          <a:latin typeface="210 OmniGothic 040"/>
                          <a:ea typeface="210 OmniGothic 040"/>
                          <a:cs typeface="210 OmniGothic 040"/>
                        </a:rPr>
                        <a:t>면 시스템이 </a:t>
                      </a:r>
                      <a:r>
                        <a:rPr sz="1550" b="0">
                          <a:solidFill>
                            <a:srgbClr val="FF0000"/>
                          </a:solidFill>
                          <a:latin typeface="210 OmniGothic 040"/>
                          <a:ea typeface="210 OmniGothic 040"/>
                          <a:cs typeface="210 OmniGothic 040"/>
                        </a:rPr>
                        <a:t>기상</a:t>
                      </a:r>
                      <a:r>
                        <a:rPr sz="1550" b="0">
                          <a:solidFill>
                            <a:srgbClr val="363A52"/>
                          </a:solidFill>
                          <a:latin typeface="210 OmniGothic 040"/>
                          <a:ea typeface="210 OmniGothic 040"/>
                          <a:cs typeface="210 OmniGothic 040"/>
                        </a:rPr>
                        <a:t> 수신 시각을 </a:t>
                      </a:r>
                      <a:r>
                        <a:rPr sz="1550" b="0">
                          <a:solidFill>
                            <a:srgbClr val="FF0000"/>
                          </a:solidFill>
                          <a:latin typeface="210 OmniGothic 040"/>
                          <a:ea typeface="210 OmniGothic 040"/>
                          <a:cs typeface="210 OmniGothic 040"/>
                        </a:rPr>
                        <a:t>함께 </a:t>
                      </a:r>
                      <a:r>
                        <a:rPr sz="1550" b="0">
                          <a:solidFill>
                            <a:srgbClr val="363A52"/>
                          </a:solidFill>
                          <a:latin typeface="210 OmniGothic 040"/>
                          <a:ea typeface="210 OmniGothic 040"/>
                          <a:cs typeface="210 OmniGothic 040"/>
                        </a:rPr>
                        <a:t>표시한다.</a:t>
                      </a:r>
                    </a:p>
                  </a:txBody>
                  <a:tcPr marL="137160" marR="137160" marT="50292" marB="5029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6"/>
                  </a:ext>
                </a:extLst>
              </a:tr>
              <a:tr h="407543">
                <a:tc vMerge="1">
                  <a:txBody>
                    <a:bodyPr/>
                    <a:lstStyle/>
                    <a:p>
                      <a:endParaRPr/>
                    </a:p>
                  </a:txBody>
                  <a:tcPr/>
                </a:tc>
                <a:tc>
                  <a:txBody>
                    <a:bodyPr/>
                    <a:lstStyle/>
                    <a:p>
                      <a:pPr algn="l"/>
                      <a:r>
                        <a:rPr sz="1550" b="1">
                          <a:solidFill>
                            <a:srgbClr val="363A52"/>
                          </a:solidFill>
                          <a:latin typeface="210 OmniGothic 040"/>
                          <a:ea typeface="210 OmniGothic 040"/>
                          <a:cs typeface="210 OmniGothic 040"/>
                        </a:rPr>
                        <a:t>종료 조건</a:t>
                      </a:r>
                    </a:p>
                  </a:txBody>
                  <a:tcPr marL="137160" marR="137160" marT="60350" marB="60350" anchor="ctr">
                    <a:lnL w="9525">
                      <a:solidFill>
                        <a:srgbClr val="D9DCE5"/>
                      </a:solidFill>
                    </a:lnL>
                    <a:lnR w="9525">
                      <a:solidFill>
                        <a:srgbClr val="D9DCE5"/>
                      </a:solidFill>
                    </a:lnR>
                    <a:lnT w="9525">
                      <a:solidFill>
                        <a:srgbClr val="D9DCE5"/>
                      </a:solidFill>
                    </a:lnT>
                    <a:lnB w="9525">
                      <a:solidFill>
                        <a:srgbClr val="D9DCE5"/>
                      </a:solidFill>
                    </a:lnB>
                    <a:solidFill>
                      <a:srgbClr val="F3F4F8"/>
                    </a:solidFill>
                  </a:tcPr>
                </a:tc>
                <a:tc>
                  <a:txBody>
                    <a:bodyPr/>
                    <a:lstStyle/>
                    <a:p>
                      <a:pPr algn="l">
                        <a:lnSpc>
                          <a:spcPct val="110000"/>
                        </a:lnSpc>
                      </a:pPr>
                      <a:r>
                        <a:rPr sz="1550" b="0">
                          <a:solidFill>
                            <a:srgbClr val="FF0000"/>
                          </a:solidFill>
                          <a:latin typeface="210 OmniGothic 040"/>
                          <a:ea typeface="210 OmniGothic 040"/>
                          <a:cs typeface="210 OmniGothic 040"/>
                        </a:rPr>
                        <a:t>산불(폴리곤)마다 최신 예측의 P5 위험도 R과 요인 점수가 저장·표시된다</a:t>
                      </a:r>
                    </a:p>
                  </a:txBody>
                  <a:tcPr marL="137160" marR="137160" marT="50292" marB="5029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05"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2700" y="-12700"/>
            <a:ext cx="18313400" cy="1638300"/>
          </a:xfrm>
          <a:prstGeom prst="rect">
            <a:avLst/>
          </a:prstGeom>
        </p:spPr>
      </p:pic>
      <p:pic>
        <p:nvPicPr>
          <p:cNvPr id="5106"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628" y="1618343"/>
            <a:ext cx="18313400" cy="8699500"/>
          </a:xfrm>
          <a:prstGeom prst="rect">
            <a:avLst/>
          </a:prstGeom>
        </p:spPr>
      </p:pic>
      <p:pic>
        <p:nvPicPr>
          <p:cNvPr id="5107"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58800" y="9271000"/>
            <a:ext cx="17170400" cy="50800"/>
          </a:xfrm>
          <a:prstGeom prst="rect">
            <a:avLst/>
          </a:prstGeom>
        </p:spPr>
      </p:pic>
      <p:pic>
        <p:nvPicPr>
          <p:cNvPr id="5108" name="Picture 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278100" y="203200"/>
            <a:ext cx="1676400" cy="1409700"/>
          </a:xfrm>
          <a:prstGeom prst="rect">
            <a:avLst/>
          </a:prstGeom>
        </p:spPr>
      </p:pic>
      <p:sp>
        <p:nvSpPr>
          <p:cNvPr id="5109" name="Title"/>
          <p:cNvSpPr txBox="1"/>
          <p:nvPr/>
        </p:nvSpPr>
        <p:spPr>
          <a:xfrm>
            <a:off x="822960" y="384048"/>
            <a:ext cx="13258800" cy="877824"/>
          </a:xfrm>
          <a:prstGeom prst="rect">
            <a:avLst/>
          </a:prstGeom>
          <a:noFill/>
        </p:spPr>
        <p:txBody>
          <a:bodyPr wrap="square" lIns="0" tIns="0" rIns="0" bIns="0" anchor="ctr">
            <a:spAutoFit/>
          </a:bodyPr>
          <a:lstStyle/>
          <a:p>
            <a:pPr algn="l"/>
            <a:r>
              <a:rPr sz="4400" b="0">
                <a:solidFill>
                  <a:srgbClr val="FAA95A"/>
                </a:solidFill>
                <a:latin typeface="210 OmniGothic 050"/>
                <a:ea typeface="210 OmniGothic 050"/>
                <a:cs typeface="210 OmniGothic 050"/>
              </a:rPr>
              <a:t>03. 유스케이스 다이어그램</a:t>
            </a:r>
          </a:p>
        </p:txBody>
      </p:sp>
      <p:sp>
        <p:nvSpPr>
          <p:cNvPr id="5110" name="Subtitle"/>
          <p:cNvSpPr txBox="1"/>
          <p:nvPr/>
        </p:nvSpPr>
        <p:spPr>
          <a:xfrm>
            <a:off x="822960" y="1764792"/>
            <a:ext cx="16642080" cy="502920"/>
          </a:xfrm>
          <a:prstGeom prst="rect">
            <a:avLst/>
          </a:prstGeom>
          <a:noFill/>
        </p:spPr>
        <p:txBody>
          <a:bodyPr wrap="square" lIns="0" tIns="0" rIns="0" bIns="0" anchor="ctr">
            <a:spAutoFit/>
          </a:bodyPr>
          <a:lstStyle/>
          <a:p>
            <a:pPr algn="ctr"/>
            <a:r>
              <a:rPr sz="2600" b="1">
                <a:solidFill>
                  <a:srgbClr val="363A52"/>
                </a:solidFill>
                <a:latin typeface="210 OmniGothic 040"/>
                <a:ea typeface="210 OmniGothic 040"/>
                <a:cs typeface="210 OmniGothic 040"/>
              </a:rPr>
              <a:t>4. 시나리오 – 확산 예측 실행·갱신 → 대응 제안(진화, 대피) 생성</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sz="quarter" idx="12"/>
          </p:nvPr>
        </p:nvSpPr>
        <p:spPr/>
        <p:txBody>
          <a:bodyPr/>
          <a:lstStyle/>
          <a:p>
            <a:fld id="{B6F15528-21DE-4FAA-801E-634DDDAF4B2B}" type="slidenum">
              <a:rPr lang="en-US" smtClean="0"/>
              <a:pPr/>
              <a:t>25</a:t>
            </a:fld>
            <a:endParaRPr lang="en-US"/>
          </a:p>
        </p:txBody>
      </p:sp>
      <p:graphicFrame>
        <p:nvGraphicFramePr>
          <p:cNvPr id="5111" name="Table 5110"/>
          <p:cNvGraphicFramePr>
            <a:graphicFrameLocks noGrp="1"/>
          </p:cNvGraphicFramePr>
          <p:nvPr/>
        </p:nvGraphicFramePr>
        <p:xfrm>
          <a:off x="1337310" y="2395728"/>
          <a:ext cx="15430500" cy="6208903"/>
        </p:xfrm>
        <a:graphic>
          <a:graphicData uri="http://schemas.openxmlformats.org/drawingml/2006/table">
            <a:tbl>
              <a:tblPr>
                <a:tableStyleId>{2D5ABB26-0587-4C30-8999-92F81FD0307C}</a:tableStyleId>
              </a:tblPr>
              <a:tblGrid>
                <a:gridCol w="1943100">
                  <a:extLst>
                    <a:ext uri="{9D8B030D-6E8A-4147-A177-3AD203B41FA5}">
                      <a16:colId xmlns:a16="http://schemas.microsoft.com/office/drawing/2014/main" val="20000"/>
                    </a:ext>
                  </a:extLst>
                </a:gridCol>
                <a:gridCol w="1657350">
                  <a:extLst>
                    <a:ext uri="{9D8B030D-6E8A-4147-A177-3AD203B41FA5}">
                      <a16:colId xmlns:a16="http://schemas.microsoft.com/office/drawing/2014/main" val="20001"/>
                    </a:ext>
                  </a:extLst>
                </a:gridCol>
                <a:gridCol w="11830050">
                  <a:extLst>
                    <a:ext uri="{9D8B030D-6E8A-4147-A177-3AD203B41FA5}">
                      <a16:colId xmlns:a16="http://schemas.microsoft.com/office/drawing/2014/main" val="20002"/>
                    </a:ext>
                  </a:extLst>
                </a:gridCol>
              </a:tblGrid>
              <a:tr h="353441">
                <a:tc rowSpan="8">
                  <a:txBody>
                    <a:bodyPr/>
                    <a:lstStyle/>
                    <a:p>
                      <a:pPr algn="ctr"/>
                      <a:r>
                        <a:rPr sz="1250" b="1">
                          <a:solidFill>
                            <a:srgbClr val="FFFFFF"/>
                          </a:solidFill>
                          <a:latin typeface="210 OmniGothic 040"/>
                          <a:ea typeface="210 OmniGothic 040"/>
                          <a:cs typeface="210 OmniGothic 040"/>
                        </a:rPr>
                        <a:t>UC-PRED-01</a:t>
                      </a:r>
                    </a:p>
                  </a:txBody>
                  <a:tcPr marT="40233" marB="40233" anchor="ctr">
                    <a:lnL w="9525">
                      <a:solidFill>
                        <a:srgbClr val="FFFFFF"/>
                      </a:solidFill>
                    </a:lnL>
                    <a:lnR w="9525">
                      <a:solidFill>
                        <a:srgbClr val="FFFFFF"/>
                      </a:solidFill>
                    </a:lnR>
                    <a:lnT w="9525">
                      <a:solidFill>
                        <a:srgbClr val="FFFFFF"/>
                      </a:solidFill>
                    </a:lnT>
                    <a:lnB w="9525">
                      <a:solidFill>
                        <a:srgbClr val="FFFFFF"/>
                      </a:solidFill>
                    </a:lnB>
                    <a:solidFill>
                      <a:srgbClr val="FAA95A"/>
                    </a:solidFill>
                  </a:tcPr>
                </a:tc>
                <a:tc gridSpan="2">
                  <a:txBody>
                    <a:bodyPr/>
                    <a:lstStyle/>
                    <a:p>
                      <a:pPr algn="ctr"/>
                      <a:r>
                        <a:rPr sz="1250" b="1">
                          <a:solidFill>
                            <a:srgbClr val="FFFFFF"/>
                          </a:solidFill>
                          <a:latin typeface="210 OmniGothic 040"/>
                          <a:ea typeface="210 OmniGothic 040"/>
                          <a:cs typeface="210 OmniGothic 040"/>
                        </a:rPr>
                        <a:t>확산 예측 실행·갱신 → 대응 제안(진화, 대피) 생성</a:t>
                      </a:r>
                    </a:p>
                  </a:txBody>
                  <a:tcPr marT="40233" marB="40233" anchor="ctr">
                    <a:lnL w="9525">
                      <a:solidFill>
                        <a:srgbClr val="FFFFFF"/>
                      </a:solidFill>
                    </a:lnL>
                    <a:lnR w="9525">
                      <a:solidFill>
                        <a:srgbClr val="FFFFFF"/>
                      </a:solidFill>
                    </a:lnR>
                    <a:lnT w="9525">
                      <a:solidFill>
                        <a:srgbClr val="FFFFFF"/>
                      </a:solidFill>
                    </a:lnT>
                    <a:lnB w="9525">
                      <a:solidFill>
                        <a:srgbClr val="FFFFFF"/>
                      </a:solidFill>
                    </a:lnB>
                    <a:solidFill>
                      <a:srgbClr val="363A52"/>
                    </a:solidFill>
                  </a:tcPr>
                </a:tc>
                <a:tc hMerge="1">
                  <a:txBody>
                    <a:bodyPr/>
                    <a:lstStyle/>
                    <a:p>
                      <a:endParaRPr/>
                    </a:p>
                  </a:txBody>
                  <a:tcPr/>
                </a:tc>
                <a:extLst>
                  <a:ext uri="{0D108BD9-81ED-4DB2-BD59-A6C34878D82A}">
                    <a16:rowId xmlns:a16="http://schemas.microsoft.com/office/drawing/2014/main" val="10000"/>
                  </a:ext>
                </a:extLst>
              </a:tr>
              <a:tr h="804291">
                <a:tc vMerge="1">
                  <a:txBody>
                    <a:bodyPr/>
                    <a:lstStyle/>
                    <a:p>
                      <a:endParaRPr/>
                    </a:p>
                  </a:txBody>
                  <a:tcPr/>
                </a:tc>
                <a:tc>
                  <a:txBody>
                    <a:bodyPr/>
                    <a:lstStyle/>
                    <a:p>
                      <a:pPr algn="l"/>
                      <a:r>
                        <a:rPr sz="1250" b="1">
                          <a:solidFill>
                            <a:srgbClr val="363A52"/>
                          </a:solidFill>
                          <a:latin typeface="210 OmniGothic 040"/>
                          <a:ea typeface="210 OmniGothic 040"/>
                          <a:cs typeface="210 OmniGothic 040"/>
                        </a:rPr>
                        <a:t>개요</a:t>
                      </a:r>
                    </a:p>
                  </a:txBody>
                  <a:tcPr marL="137160" marR="137160" marT="60350" marB="60350" anchor="ctr">
                    <a:lnL w="9525">
                      <a:solidFill>
                        <a:srgbClr val="D9DCE5"/>
                      </a:solidFill>
                    </a:lnL>
                    <a:lnR w="9525">
                      <a:solidFill>
                        <a:srgbClr val="D9DCE5"/>
                      </a:solidFill>
                    </a:lnR>
                    <a:lnT w="9525" cap="flat" cmpd="sng" algn="ctr">
                      <a:solidFill>
                        <a:srgbClr val="FFFFFF"/>
                      </a:solidFill>
                      <a:prstDash val="solid"/>
                      <a:round/>
                      <a:headEnd type="none" w="med" len="med"/>
                      <a:tailEnd type="none" w="med" len="med"/>
                    </a:lnT>
                    <a:lnB w="9525">
                      <a:solidFill>
                        <a:srgbClr val="D9DCE5"/>
                      </a:solidFill>
                    </a:lnB>
                    <a:solidFill>
                      <a:srgbClr val="F3F4F8"/>
                    </a:solidFill>
                  </a:tcPr>
                </a:tc>
                <a:tc>
                  <a:txBody>
                    <a:bodyPr/>
                    <a:lstStyle/>
                    <a:p>
                      <a:pPr algn="l">
                        <a:lnSpc>
                          <a:spcPct val="110000"/>
                        </a:lnSpc>
                      </a:pPr>
                      <a:r>
                        <a:rPr sz="1250" b="0">
                          <a:solidFill>
                            <a:srgbClr val="363A52"/>
                          </a:solidFill>
                          <a:latin typeface="210 OmniGothic 040"/>
                          <a:ea typeface="210 OmniGothic 040"/>
                          <a:cs typeface="210 OmniGothic 040"/>
                        </a:rPr>
                        <a:t>최신 실측 화선(없으면 발화점)을 시작점으로 1시간 간격 누적 확산 범위 P1~P8을 예측하고, 그 결과로 진화 7항목·대피 7항목 대응 제안서를 새 버전으로 만든다. 재예측은 통합지휘권자가 버튼을 누를 때만 실행되며, 누른 시점의 최신 실측 화선·기상·자원 상태를 기준으로 한다(자동 실행 없음)</a:t>
                      </a:r>
                    </a:p>
                  </a:txBody>
                  <a:tcPr marL="137160" marR="137160" marT="50292" marB="5029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1"/>
                  </a:ext>
                </a:extLst>
              </a:tr>
              <a:tr h="353441">
                <a:tc vMerge="1">
                  <a:txBody>
                    <a:bodyPr/>
                    <a:lstStyle/>
                    <a:p>
                      <a:endParaRPr/>
                    </a:p>
                  </a:txBody>
                  <a:tcPr/>
                </a:tc>
                <a:tc>
                  <a:txBody>
                    <a:bodyPr/>
                    <a:lstStyle/>
                    <a:p>
                      <a:pPr algn="l"/>
                      <a:r>
                        <a:rPr sz="1250" b="1">
                          <a:solidFill>
                            <a:srgbClr val="363A52"/>
                          </a:solidFill>
                          <a:latin typeface="210 OmniGothic 040"/>
                          <a:ea typeface="210 OmniGothic 040"/>
                          <a:cs typeface="210 OmniGothic 040"/>
                        </a:rPr>
                        <a:t>액터</a:t>
                      </a:r>
                    </a:p>
                  </a:txBody>
                  <a:tcPr marL="137160" marR="137160" marT="60350" marB="60350" anchor="ctr">
                    <a:lnL w="9525">
                      <a:solidFill>
                        <a:srgbClr val="D9DCE5"/>
                      </a:solidFill>
                    </a:lnL>
                    <a:lnR w="9525">
                      <a:solidFill>
                        <a:srgbClr val="D9DCE5"/>
                      </a:solidFill>
                    </a:lnR>
                    <a:lnT w="9525">
                      <a:solidFill>
                        <a:srgbClr val="D9DCE5"/>
                      </a:solidFill>
                    </a:lnT>
                    <a:lnB w="9525">
                      <a:solidFill>
                        <a:srgbClr val="D9DCE5"/>
                      </a:solidFill>
                    </a:lnB>
                    <a:solidFill>
                      <a:srgbClr val="F3F4F8"/>
                    </a:solidFill>
                  </a:tcPr>
                </a:tc>
                <a:tc>
                  <a:txBody>
                    <a:bodyPr/>
                    <a:lstStyle/>
                    <a:p>
                      <a:pPr algn="l">
                        <a:lnSpc>
                          <a:spcPct val="110000"/>
                        </a:lnSpc>
                      </a:pPr>
                      <a:r>
                        <a:rPr sz="1250" b="0">
                          <a:solidFill>
                            <a:srgbClr val="363A52"/>
                          </a:solidFill>
                          <a:latin typeface="210 OmniGothic 040"/>
                          <a:ea typeface="210 OmniGothic 040"/>
                          <a:cs typeface="210 OmniGothic 040"/>
                        </a:rPr>
                        <a:t>통합지휘권자 / 확산예측 모듈, AI 모델 (기상은 기상청 API)</a:t>
                      </a:r>
                    </a:p>
                  </a:txBody>
                  <a:tcPr marL="137160" marR="137160" marT="50292" marB="5029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2"/>
                  </a:ext>
                </a:extLst>
              </a:tr>
              <a:tr h="353441">
                <a:tc vMerge="1">
                  <a:txBody>
                    <a:bodyPr/>
                    <a:lstStyle/>
                    <a:p>
                      <a:endParaRPr/>
                    </a:p>
                  </a:txBody>
                  <a:tcPr/>
                </a:tc>
                <a:tc>
                  <a:txBody>
                    <a:bodyPr/>
                    <a:lstStyle/>
                    <a:p>
                      <a:pPr algn="l"/>
                      <a:r>
                        <a:rPr sz="1250" b="1">
                          <a:solidFill>
                            <a:srgbClr val="363A52"/>
                          </a:solidFill>
                          <a:latin typeface="210 OmniGothic 040"/>
                          <a:ea typeface="210 OmniGothic 040"/>
                          <a:cs typeface="210 OmniGothic 040"/>
                        </a:rPr>
                        <a:t>시작 조건</a:t>
                      </a:r>
                    </a:p>
                  </a:txBody>
                  <a:tcPr marL="137160" marR="137160" marT="60350" marB="60350" anchor="ctr">
                    <a:lnL w="9525">
                      <a:solidFill>
                        <a:srgbClr val="D9DCE5"/>
                      </a:solidFill>
                    </a:lnL>
                    <a:lnR w="9525">
                      <a:solidFill>
                        <a:srgbClr val="D9DCE5"/>
                      </a:solidFill>
                    </a:lnR>
                    <a:lnT w="9525">
                      <a:solidFill>
                        <a:srgbClr val="D9DCE5"/>
                      </a:solidFill>
                    </a:lnT>
                    <a:lnB w="9525">
                      <a:solidFill>
                        <a:srgbClr val="D9DCE5"/>
                      </a:solidFill>
                    </a:lnB>
                    <a:solidFill>
                      <a:srgbClr val="F3F4F8"/>
                    </a:solidFill>
                  </a:tcPr>
                </a:tc>
                <a:tc>
                  <a:txBody>
                    <a:bodyPr/>
                    <a:lstStyle/>
                    <a:p>
                      <a:pPr algn="l">
                        <a:lnSpc>
                          <a:spcPct val="110000"/>
                        </a:lnSpc>
                      </a:pPr>
                      <a:r>
                        <a:rPr sz="1250" b="0">
                          <a:solidFill>
                            <a:srgbClr val="363A52"/>
                          </a:solidFill>
                          <a:latin typeface="210 OmniGothic 040"/>
                          <a:ea typeface="210 OmniGothic 040"/>
                          <a:cs typeface="210 OmniGothic 040"/>
                        </a:rPr>
                        <a:t>통합지휘권자로 로그인, 상황 보고자가 발화 정보를 입력함(실측 화선은 없어도 됨) (UC-REPORT-01)</a:t>
                      </a:r>
                    </a:p>
                  </a:txBody>
                  <a:tcPr marL="137160" marR="137160" marT="50292" marB="5029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3"/>
                  </a:ext>
                </a:extLst>
              </a:tr>
              <a:tr h="2833116">
                <a:tc vMerge="1">
                  <a:txBody>
                    <a:bodyPr/>
                    <a:lstStyle/>
                    <a:p>
                      <a:endParaRPr/>
                    </a:p>
                  </a:txBody>
                  <a:tcPr/>
                </a:tc>
                <a:tc>
                  <a:txBody>
                    <a:bodyPr/>
                    <a:lstStyle/>
                    <a:p>
                      <a:pPr algn="l"/>
                      <a:r>
                        <a:rPr sz="1250" b="1">
                          <a:solidFill>
                            <a:srgbClr val="363A52"/>
                          </a:solidFill>
                          <a:latin typeface="210 OmniGothic 040"/>
                          <a:ea typeface="210 OmniGothic 040"/>
                          <a:cs typeface="210 OmniGothic 040"/>
                        </a:rPr>
                        <a:t>기본 흐름</a:t>
                      </a:r>
                    </a:p>
                  </a:txBody>
                  <a:tcPr marL="137160" marR="137160" marT="60350" marB="60350" anchor="ctr">
                    <a:lnL w="9525">
                      <a:solidFill>
                        <a:srgbClr val="D9DCE5"/>
                      </a:solidFill>
                    </a:lnL>
                    <a:lnR w="9525">
                      <a:solidFill>
                        <a:srgbClr val="D9DCE5"/>
                      </a:solidFill>
                    </a:lnR>
                    <a:lnT w="9525">
                      <a:solidFill>
                        <a:srgbClr val="D9DCE5"/>
                      </a:solidFill>
                    </a:lnT>
                    <a:lnB w="9525">
                      <a:solidFill>
                        <a:srgbClr val="D9DCE5"/>
                      </a:solidFill>
                    </a:lnB>
                    <a:solidFill>
                      <a:srgbClr val="F3F4F8"/>
                    </a:solidFill>
                  </a:tcPr>
                </a:tc>
                <a:tc>
                  <a:txBody>
                    <a:bodyPr/>
                    <a:lstStyle/>
                    <a:p>
                      <a:pPr algn="l">
                        <a:lnSpc>
                          <a:spcPct val="110000"/>
                        </a:lnSpc>
                      </a:pPr>
                      <a:r>
                        <a:rPr sz="1250" b="0">
                          <a:solidFill>
                            <a:srgbClr val="363A52"/>
                          </a:solidFill>
                          <a:latin typeface="210 OmniGothic 040"/>
                          <a:ea typeface="210 OmniGothic 040"/>
                          <a:cs typeface="210 OmniGothic 040"/>
                        </a:rPr>
                        <a:t>1. 통합지휘권자가 상황도에서 최신 실측 화선을 확인하고 「확산 예측 실행」을 누른다. 결과가 이미 있으면 버튼은 「다시 예측」으로 표시된다.</a:t>
                      </a:r>
                    </a:p>
                    <a:p>
                      <a:pPr algn="l">
                        <a:lnSpc>
                          <a:spcPct val="110000"/>
                        </a:lnSpc>
                      </a:pPr>
                      <a:r>
                        <a:rPr sz="1250" b="0">
                          <a:solidFill>
                            <a:srgbClr val="363A52"/>
                          </a:solidFill>
                          <a:latin typeface="210 OmniGothic 040"/>
                          <a:ea typeface="210 OmniGothic 040"/>
                          <a:cs typeface="210 OmniGothic 040"/>
                        </a:rPr>
                        <a:t>2. 시스템이 최신 실측 화선·발화 정보, 기상청 API의 풍향·풍속·습도, 진화자원 가용 현황을 모아 입력을 검증한다.</a:t>
                      </a:r>
                    </a:p>
                    <a:p>
                      <a:pPr algn="l">
                        <a:lnSpc>
                          <a:spcPct val="110000"/>
                        </a:lnSpc>
                      </a:pPr>
                      <a:r>
                        <a:rPr sz="1250" b="0">
                          <a:solidFill>
                            <a:srgbClr val="363A52"/>
                          </a:solidFill>
                          <a:latin typeface="210 OmniGothic 040"/>
                          <a:ea typeface="210 OmniGothic 040"/>
                          <a:cs typeface="210 OmniGothic 040"/>
                        </a:rPr>
                        <a:t>3. 확산예측 모듈이 최신 실측 화선(없으면 발화점)을 기준으로 확산 범위를 예측하고, 시스템이 1시간 간격 누적 범위 P1~P8을 저장해 상황도에 그리며 위험구역(P5)·잠재 위험구역(P8)을 강조</a:t>
                      </a:r>
                      <a:r>
                        <a:rPr sz="1250" b="0">
                          <a:solidFill>
                            <a:srgbClr val="FF0000"/>
                          </a:solidFill>
                          <a:latin typeface="210 OmniGothic 040"/>
                          <a:ea typeface="210 OmniGothic 040"/>
                          <a:cs typeface="210 OmniGothic 040"/>
                        </a:rPr>
                        <a:t>하고, P5 범위로 위험도 R을 계산해 저장</a:t>
                      </a:r>
                      <a:r>
                        <a:rPr sz="1250" b="0">
                          <a:solidFill>
                            <a:srgbClr val="FF0000"/>
                          </a:solidFill>
                          <a:latin typeface="210 OmniGothic 040"/>
                          <a:ea typeface="210 OmniGothic 040"/>
                          <a:cs typeface="210 OmniGothic 040"/>
                        </a:rPr>
                        <a:t>한다</a:t>
                      </a:r>
                      <a:r>
                        <a:rPr sz="1250" b="0">
                          <a:solidFill>
                            <a:srgbClr val="FF0000"/>
                          </a:solidFill>
                          <a:latin typeface="210 OmniGothic 040"/>
                          <a:ea typeface="210 OmniGothic 040"/>
                          <a:cs typeface="210 OmniGothic 040"/>
                        </a:rPr>
                        <a:t>(UC-PRED-02)</a:t>
                      </a:r>
                      <a:r>
                        <a:rPr sz="1250" b="0">
                          <a:solidFill>
                            <a:srgbClr val="FF0000"/>
                          </a:solidFill>
                          <a:latin typeface="210 OmniGothic 040"/>
                          <a:ea typeface="210 OmniGothic 040"/>
                          <a:cs typeface="210 OmniGothic 040"/>
                        </a:rPr>
                        <a:t>.</a:t>
                      </a:r>
                    </a:p>
                    <a:p>
                      <a:pPr algn="l">
                        <a:lnSpc>
                          <a:spcPct val="110000"/>
                        </a:lnSpc>
                      </a:pPr>
                      <a:r>
                        <a:rPr sz="1250" b="0">
                          <a:solidFill>
                            <a:srgbClr val="363A52"/>
                          </a:solidFill>
                          <a:latin typeface="210 OmniGothic 040"/>
                          <a:ea typeface="210 OmniGothic 040"/>
                          <a:cs typeface="210 OmniGothic 040"/>
                        </a:rPr>
                        <a:t>4. 규칙 엔진이 근거 문서에 경계값·수치가 있는 값(대응단계·위험구역·대피소 배정 등)을 판정하고, 시스템이 그 판정 값과 P5·P8 안에 드는 마을·시설·대피소·도로 목록, 진화자원 가용 현황을 모아 AI 모델에 넘긴다.</a:t>
                      </a:r>
                    </a:p>
                    <a:p>
                      <a:pPr algn="l">
                        <a:lnSpc>
                          <a:spcPct val="110000"/>
                        </a:lnSpc>
                      </a:pPr>
                      <a:r>
                        <a:rPr sz="1250" b="0">
                          <a:solidFill>
                            <a:srgbClr val="363A52"/>
                          </a:solidFill>
                          <a:latin typeface="210 OmniGothic 040"/>
                          <a:ea typeface="210 OmniGothic 040"/>
                          <a:cs typeface="210 OmniGothic 040"/>
                        </a:rPr>
                        <a:t>5. AI 모델이 넘겨받은 판정 값(바꾸지 않음)과 데이터, 검색한 표준매뉴얼 근거로 진화 S1~S7(불을 끄는 데 필요한 7가지 제안)·대피 E1~E7(주민 대피에 필요한 7가지 제안)을 판단해 제안 문장을 쓰고, 문장 끝에 근거 번호 [k]를 붙인다. 매뉴얼 근거를 찾지 못한 제안은 제안서에 넣지 않는다.</a:t>
                      </a:r>
                    </a:p>
                    <a:p>
                      <a:pPr algn="l">
                        <a:lnSpc>
                          <a:spcPct val="110000"/>
                        </a:lnSpc>
                      </a:pPr>
                      <a:r>
                        <a:rPr sz="1250" b="0">
                          <a:solidFill>
                            <a:srgbClr val="363A52"/>
                          </a:solidFill>
                          <a:latin typeface="210 OmniGothic 040"/>
                          <a:ea typeface="210 OmniGothic 040"/>
                          <a:cs typeface="210 OmniGothic 040"/>
                        </a:rPr>
                        <a:t>6. 시스템이 제안을 즉시·대기·협의·요청으로 분류해 새 버전(버전 n)으로 저장하고, 직전 버전과 달라진 항목에 '변경' 태그를 붙이며, 이벤트 로그에 "제안서 버전 n 생성"을 기록한다.</a:t>
                      </a:r>
                    </a:p>
                    <a:p>
                      <a:pPr algn="l">
                        <a:lnSpc>
                          <a:spcPct val="110000"/>
                        </a:lnSpc>
                      </a:pPr>
                      <a:r>
                        <a:rPr sz="1250" b="0">
                          <a:solidFill>
                            <a:srgbClr val="363A52"/>
                          </a:solidFill>
                          <a:latin typeface="210 OmniGothic 040"/>
                          <a:ea typeface="210 OmniGothic 040"/>
                          <a:cs typeface="210 OmniGothic 040"/>
                        </a:rPr>
                        <a:t>7. 시스템이 제안 생성 완료를 알리고 대응 제안 화면을 새 버전으로 갱신한다.</a:t>
                      </a:r>
                    </a:p>
                  </a:txBody>
                  <a:tcPr marL="137160" marR="137160" marT="50292" marB="5029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4"/>
                  </a:ext>
                </a:extLst>
              </a:tr>
              <a:tr h="578866">
                <a:tc vMerge="1">
                  <a:txBody>
                    <a:bodyPr/>
                    <a:lstStyle/>
                    <a:p>
                      <a:endParaRPr/>
                    </a:p>
                  </a:txBody>
                  <a:tcPr/>
                </a:tc>
                <a:tc>
                  <a:txBody>
                    <a:bodyPr/>
                    <a:lstStyle/>
                    <a:p>
                      <a:pPr algn="l"/>
                      <a:r>
                        <a:rPr sz="1250" b="1">
                          <a:solidFill>
                            <a:srgbClr val="363A52"/>
                          </a:solidFill>
                          <a:latin typeface="210 OmniGothic 040"/>
                          <a:ea typeface="210 OmniGothic 040"/>
                          <a:cs typeface="210 OmniGothic 040"/>
                        </a:rPr>
                        <a:t>대안 흐름</a:t>
                      </a:r>
                    </a:p>
                  </a:txBody>
                  <a:tcPr marL="137160" marR="137160" marT="60350" marB="60350" anchor="ctr">
                    <a:lnL w="9525">
                      <a:solidFill>
                        <a:srgbClr val="D9DCE5"/>
                      </a:solidFill>
                    </a:lnL>
                    <a:lnR w="9525">
                      <a:solidFill>
                        <a:srgbClr val="D9DCE5"/>
                      </a:solidFill>
                    </a:lnR>
                    <a:lnT w="9525">
                      <a:solidFill>
                        <a:srgbClr val="D9DCE5"/>
                      </a:solidFill>
                    </a:lnT>
                    <a:lnB w="9525">
                      <a:solidFill>
                        <a:srgbClr val="D9DCE5"/>
                      </a:solidFill>
                    </a:lnB>
                    <a:solidFill>
                      <a:srgbClr val="F3F4F8"/>
                    </a:solidFill>
                  </a:tcPr>
                </a:tc>
                <a:tc>
                  <a:txBody>
                    <a:bodyPr/>
                    <a:lstStyle/>
                    <a:p>
                      <a:pPr algn="l">
                        <a:lnSpc>
                          <a:spcPct val="110000"/>
                        </a:lnSpc>
                      </a:pPr>
                      <a:r>
                        <a:rPr sz="1250" b="0">
                          <a:solidFill>
                            <a:srgbClr val="363A52"/>
                          </a:solidFill>
                          <a:latin typeface="210 OmniGothic 040"/>
                          <a:ea typeface="210 OmniGothic 040"/>
                          <a:cs typeface="210 OmniGothic 040"/>
                        </a:rPr>
                        <a:t>A1. 첫 실행 시 → '변경' 태그 없이 버전 1로 저장</a:t>
                      </a:r>
                    </a:p>
                    <a:p>
                      <a:pPr algn="l">
                        <a:lnSpc>
                          <a:spcPct val="110000"/>
                        </a:lnSpc>
                      </a:pPr>
                      <a:r>
                        <a:rPr sz="1250" b="0">
                          <a:solidFill>
                            <a:srgbClr val="363A52"/>
                          </a:solidFill>
                          <a:latin typeface="210 OmniGothic 040"/>
                          <a:ea typeface="210 OmniGothic 040"/>
                          <a:cs typeface="210 OmniGothic 040"/>
                        </a:rPr>
                        <a:t>A2. 기상·자원 조건만 바뀐 경우 → 「다시 예측」으로 새 버전 생성</a:t>
                      </a:r>
                    </a:p>
                  </a:txBody>
                  <a:tcPr marL="137160" marR="137160" marT="50292" marB="5029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5"/>
                  </a:ext>
                </a:extLst>
              </a:tr>
              <a:tr h="578866">
                <a:tc vMerge="1">
                  <a:txBody>
                    <a:bodyPr/>
                    <a:lstStyle/>
                    <a:p>
                      <a:endParaRPr/>
                    </a:p>
                  </a:txBody>
                  <a:tcPr/>
                </a:tc>
                <a:tc>
                  <a:txBody>
                    <a:bodyPr/>
                    <a:lstStyle/>
                    <a:p>
                      <a:pPr algn="l"/>
                      <a:r>
                        <a:rPr sz="1250" b="1">
                          <a:solidFill>
                            <a:srgbClr val="363A52"/>
                          </a:solidFill>
                          <a:latin typeface="210 OmniGothic 040"/>
                          <a:ea typeface="210 OmniGothic 040"/>
                          <a:cs typeface="210 OmniGothic 040"/>
                        </a:rPr>
                        <a:t>예외 흐름</a:t>
                      </a:r>
                    </a:p>
                  </a:txBody>
                  <a:tcPr marL="137160" marR="137160" marT="60350" marB="60350" anchor="ctr">
                    <a:lnL w="9525">
                      <a:solidFill>
                        <a:srgbClr val="D9DCE5"/>
                      </a:solidFill>
                    </a:lnL>
                    <a:lnR w="9525">
                      <a:solidFill>
                        <a:srgbClr val="D9DCE5"/>
                      </a:solidFill>
                    </a:lnR>
                    <a:lnT w="9525">
                      <a:solidFill>
                        <a:srgbClr val="D9DCE5"/>
                      </a:solidFill>
                    </a:lnT>
                    <a:lnB w="9525">
                      <a:solidFill>
                        <a:srgbClr val="D9DCE5"/>
                      </a:solidFill>
                    </a:lnB>
                    <a:solidFill>
                      <a:srgbClr val="F3F4F8"/>
                    </a:solidFill>
                  </a:tcPr>
                </a:tc>
                <a:tc>
                  <a:txBody>
                    <a:bodyPr/>
                    <a:lstStyle/>
                    <a:p>
                      <a:pPr algn="l">
                        <a:lnSpc>
                          <a:spcPct val="110000"/>
                        </a:lnSpc>
                      </a:pPr>
                      <a:r>
                        <a:rPr sz="1250" b="0">
                          <a:solidFill>
                            <a:srgbClr val="363A52"/>
                          </a:solidFill>
                          <a:latin typeface="210 OmniGothic 040"/>
                          <a:ea typeface="210 OmniGothic 040"/>
                          <a:cs typeface="210 OmniGothic 040"/>
                        </a:rPr>
                        <a:t>E1. 예측 실행 중 다시 누르면 시스템이 버튼을 비활성화해 중복 실행을 막는다.</a:t>
                      </a:r>
                    </a:p>
                    <a:p>
                      <a:pPr algn="l">
                        <a:lnSpc>
                          <a:spcPct val="110000"/>
                        </a:lnSpc>
                      </a:pPr>
                      <a:r>
                        <a:rPr sz="1250" b="0">
                          <a:solidFill>
                            <a:srgbClr val="363A52"/>
                          </a:solidFill>
                          <a:latin typeface="210 OmniGothic 040"/>
                          <a:ea typeface="210 OmniGothic 040"/>
                          <a:cs typeface="210 OmniGothic 040"/>
                        </a:rPr>
                        <a:t>E2. 확산예측 모듈이 실패하면 시스템이 "예측에 실패했습니다"를 안내하고 직전 예측·제안서를 그대로 유지한다.</a:t>
                      </a:r>
                    </a:p>
                    <a:p>
                      <a:pPr algn="l">
                        <a:lnSpc>
                          <a:spcPct val="110000"/>
                        </a:lnSpc>
                      </a:pPr>
                      <a:r>
                        <a:rPr sz="1250" b="0">
                          <a:solidFill>
                            <a:srgbClr val="363A52"/>
                          </a:solidFill>
                          <a:latin typeface="210 OmniGothic 040"/>
                          <a:ea typeface="210 OmniGothic 040"/>
                          <a:cs typeface="210 OmniGothic 040"/>
                        </a:rPr>
                        <a:t>E3. 예측은 성공했으나 제안 생성에 실패하면 시스템이 새 예측을 확정하지 않고 직전 예측·제안서 묶음을 그대로 유지하며 실패를 안내한다.</a:t>
                      </a:r>
                    </a:p>
                  </a:txBody>
                  <a:tcPr marL="137160" marR="137160" marT="50292" marB="5029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6"/>
                  </a:ext>
                </a:extLst>
              </a:tr>
              <a:tr h="353441">
                <a:tc vMerge="1">
                  <a:txBody>
                    <a:bodyPr/>
                    <a:lstStyle/>
                    <a:p>
                      <a:endParaRPr/>
                    </a:p>
                  </a:txBody>
                  <a:tcPr/>
                </a:tc>
                <a:tc>
                  <a:txBody>
                    <a:bodyPr/>
                    <a:lstStyle/>
                    <a:p>
                      <a:pPr algn="l"/>
                      <a:r>
                        <a:rPr sz="1250" b="1">
                          <a:solidFill>
                            <a:srgbClr val="363A52"/>
                          </a:solidFill>
                          <a:latin typeface="210 OmniGothic 040"/>
                          <a:ea typeface="210 OmniGothic 040"/>
                          <a:cs typeface="210 OmniGothic 040"/>
                        </a:rPr>
                        <a:t>종료 조건</a:t>
                      </a:r>
                    </a:p>
                  </a:txBody>
                  <a:tcPr marL="137160" marR="137160" marT="60350" marB="60350" anchor="ctr">
                    <a:lnL w="9525">
                      <a:solidFill>
                        <a:srgbClr val="D9DCE5"/>
                      </a:solidFill>
                    </a:lnL>
                    <a:lnR w="9525">
                      <a:solidFill>
                        <a:srgbClr val="D9DCE5"/>
                      </a:solidFill>
                    </a:lnR>
                    <a:lnT w="9525">
                      <a:solidFill>
                        <a:srgbClr val="D9DCE5"/>
                      </a:solidFill>
                    </a:lnT>
                    <a:lnB w="9525">
                      <a:solidFill>
                        <a:srgbClr val="D9DCE5"/>
                      </a:solidFill>
                    </a:lnB>
                    <a:solidFill>
                      <a:srgbClr val="F3F4F8"/>
                    </a:solidFill>
                  </a:tcPr>
                </a:tc>
                <a:tc>
                  <a:txBody>
                    <a:bodyPr/>
                    <a:lstStyle/>
                    <a:p>
                      <a:pPr algn="l">
                        <a:lnSpc>
                          <a:spcPct val="110000"/>
                        </a:lnSpc>
                      </a:pPr>
                      <a:r>
                        <a:rPr sz="1250" b="0">
                          <a:solidFill>
                            <a:srgbClr val="363A52"/>
                          </a:solidFill>
                          <a:latin typeface="210 OmniGothic 040"/>
                          <a:ea typeface="210 OmniGothic 040"/>
                          <a:cs typeface="210 OmniGothic 040"/>
                        </a:rPr>
                        <a:t>새 예측(P1~P8)</a:t>
                      </a:r>
                      <a:r>
                        <a:rPr sz="1250" b="0">
                          <a:solidFill>
                            <a:srgbClr val="FF0000"/>
                          </a:solidFill>
                          <a:latin typeface="210 OmniGothic 040"/>
                          <a:ea typeface="210 OmniGothic 040"/>
                          <a:cs typeface="210 OmniGothic 040"/>
                        </a:rPr>
                        <a:t>·P5 위험도와</a:t>
                      </a:r>
                      <a:r>
                        <a:rPr sz="1250" b="0">
                          <a:solidFill>
                            <a:srgbClr val="363A52"/>
                          </a:solidFill>
                          <a:latin typeface="210 OmniGothic 040"/>
                          <a:ea typeface="210 OmniGothic 040"/>
                          <a:cs typeface="210 OmniGothic 040"/>
                        </a:rPr>
                        <a:t> 새 버전의 대응 제안서가 저장·표시된다</a:t>
                      </a:r>
                    </a:p>
                  </a:txBody>
                  <a:tcPr marL="137160" marR="137160" marT="50292" marB="5029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05"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700" y="-12700"/>
            <a:ext cx="18313400" cy="1638300"/>
          </a:xfrm>
          <a:prstGeom prst="rect">
            <a:avLst/>
          </a:prstGeom>
        </p:spPr>
      </p:pic>
      <p:pic>
        <p:nvPicPr>
          <p:cNvPr id="5106"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28" y="1618343"/>
            <a:ext cx="18313400" cy="8699500"/>
          </a:xfrm>
          <a:prstGeom prst="rect">
            <a:avLst/>
          </a:prstGeom>
        </p:spPr>
      </p:pic>
      <p:pic>
        <p:nvPicPr>
          <p:cNvPr id="5107"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58800" y="9271000"/>
            <a:ext cx="17170400" cy="50800"/>
          </a:xfrm>
          <a:prstGeom prst="rect">
            <a:avLst/>
          </a:prstGeom>
        </p:spPr>
      </p:pic>
      <p:pic>
        <p:nvPicPr>
          <p:cNvPr id="5108" name="Picture 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278100" y="203200"/>
            <a:ext cx="1676400" cy="1409700"/>
          </a:xfrm>
          <a:prstGeom prst="rect">
            <a:avLst/>
          </a:prstGeom>
        </p:spPr>
      </p:pic>
      <p:sp>
        <p:nvSpPr>
          <p:cNvPr id="5109" name="Title"/>
          <p:cNvSpPr txBox="1"/>
          <p:nvPr/>
        </p:nvSpPr>
        <p:spPr>
          <a:xfrm>
            <a:off x="822960" y="384048"/>
            <a:ext cx="13258800" cy="877824"/>
          </a:xfrm>
          <a:prstGeom prst="rect">
            <a:avLst/>
          </a:prstGeom>
          <a:noFill/>
        </p:spPr>
        <p:txBody>
          <a:bodyPr wrap="square" lIns="0" tIns="0" rIns="0" bIns="0" anchor="ctr">
            <a:spAutoFit/>
          </a:bodyPr>
          <a:lstStyle/>
          <a:p>
            <a:pPr algn="l"/>
            <a:r>
              <a:rPr sz="4400" b="0">
                <a:solidFill>
                  <a:srgbClr val="FAA95A"/>
                </a:solidFill>
                <a:latin typeface="210 OmniGothic 050"/>
                <a:ea typeface="210 OmniGothic 050"/>
                <a:cs typeface="210 OmniGothic 050"/>
              </a:rPr>
              <a:t>03. 유스케이스 다이어그램</a:t>
            </a:r>
          </a:p>
        </p:txBody>
      </p:sp>
      <p:sp>
        <p:nvSpPr>
          <p:cNvPr id="5110" name="Subtitle"/>
          <p:cNvSpPr txBox="1"/>
          <p:nvPr/>
        </p:nvSpPr>
        <p:spPr>
          <a:xfrm>
            <a:off x="822960" y="1764792"/>
            <a:ext cx="16642080" cy="502920"/>
          </a:xfrm>
          <a:prstGeom prst="rect">
            <a:avLst/>
          </a:prstGeom>
          <a:noFill/>
        </p:spPr>
        <p:txBody>
          <a:bodyPr wrap="square" lIns="0" tIns="0" rIns="0" bIns="0" anchor="ctr">
            <a:spAutoFit/>
          </a:bodyPr>
          <a:lstStyle/>
          <a:p>
            <a:pPr algn="ctr"/>
            <a:r>
              <a:rPr sz="2600" b="1">
                <a:solidFill>
                  <a:srgbClr val="363A52"/>
                </a:solidFill>
                <a:latin typeface="210 OmniGothic 040"/>
                <a:ea typeface="210 OmniGothic 040"/>
                <a:cs typeface="210 OmniGothic 040"/>
              </a:rPr>
              <a:t>4. 시나리오 – 진화 제안 열람 (S1~S7)</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sz="quarter" idx="12"/>
          </p:nvPr>
        </p:nvSpPr>
        <p:spPr/>
        <p:txBody>
          <a:bodyPr/>
          <a:lstStyle/>
          <a:p>
            <a:fld id="{B6F15528-21DE-4FAA-801E-634DDDAF4B2B}" type="slidenum">
              <a:rPr lang="en-US" smtClean="0"/>
              <a:pPr/>
              <a:t>26</a:t>
            </a:fld>
            <a:endParaRPr lang="en-US"/>
          </a:p>
        </p:txBody>
      </p:sp>
      <p:graphicFrame>
        <p:nvGraphicFramePr>
          <p:cNvPr id="5111" name="Table 5110"/>
          <p:cNvGraphicFramePr>
            <a:graphicFrameLocks noGrp="1"/>
          </p:cNvGraphicFramePr>
          <p:nvPr/>
        </p:nvGraphicFramePr>
        <p:xfrm>
          <a:off x="1337310" y="2395728"/>
          <a:ext cx="15430500" cy="4937506"/>
        </p:xfrm>
        <a:graphic>
          <a:graphicData uri="http://schemas.openxmlformats.org/drawingml/2006/table">
            <a:tbl>
              <a:tblPr>
                <a:tableStyleId>{2D5ABB26-0587-4C30-8999-92F81FD0307C}</a:tableStyleId>
              </a:tblPr>
              <a:tblGrid>
                <a:gridCol w="1943100">
                  <a:extLst>
                    <a:ext uri="{9D8B030D-6E8A-4147-A177-3AD203B41FA5}">
                      <a16:colId xmlns:a16="http://schemas.microsoft.com/office/drawing/2014/main" val="20000"/>
                    </a:ext>
                  </a:extLst>
                </a:gridCol>
                <a:gridCol w="1657350">
                  <a:extLst>
                    <a:ext uri="{9D8B030D-6E8A-4147-A177-3AD203B41FA5}">
                      <a16:colId xmlns:a16="http://schemas.microsoft.com/office/drawing/2014/main" val="20001"/>
                    </a:ext>
                  </a:extLst>
                </a:gridCol>
                <a:gridCol w="11830050">
                  <a:extLst>
                    <a:ext uri="{9D8B030D-6E8A-4147-A177-3AD203B41FA5}">
                      <a16:colId xmlns:a16="http://schemas.microsoft.com/office/drawing/2014/main" val="20002"/>
                    </a:ext>
                  </a:extLst>
                </a:gridCol>
              </a:tblGrid>
              <a:tr h="407543">
                <a:tc rowSpan="8">
                  <a:txBody>
                    <a:bodyPr/>
                    <a:lstStyle/>
                    <a:p>
                      <a:pPr algn="ctr"/>
                      <a:r>
                        <a:rPr sz="1550" b="1">
                          <a:solidFill>
                            <a:srgbClr val="FFFFFF"/>
                          </a:solidFill>
                          <a:latin typeface="210 OmniGothic 040"/>
                          <a:ea typeface="210 OmniGothic 040"/>
                          <a:cs typeface="210 OmniGothic 040"/>
                        </a:rPr>
                        <a:t>UC-PROP-01</a:t>
                      </a:r>
                    </a:p>
                  </a:txBody>
                  <a:tcPr marT="40233" marB="40233" anchor="ctr">
                    <a:lnL w="9525">
                      <a:solidFill>
                        <a:srgbClr val="FFFFFF"/>
                      </a:solidFill>
                    </a:lnL>
                    <a:lnR w="9525">
                      <a:solidFill>
                        <a:srgbClr val="FFFFFF"/>
                      </a:solidFill>
                    </a:lnR>
                    <a:lnT w="9525">
                      <a:solidFill>
                        <a:srgbClr val="FFFFFF"/>
                      </a:solidFill>
                    </a:lnT>
                    <a:lnB w="9525">
                      <a:solidFill>
                        <a:srgbClr val="FFFFFF"/>
                      </a:solidFill>
                    </a:lnB>
                    <a:solidFill>
                      <a:srgbClr val="FAA95A"/>
                    </a:solidFill>
                  </a:tcPr>
                </a:tc>
                <a:tc gridSpan="2">
                  <a:txBody>
                    <a:bodyPr/>
                    <a:lstStyle/>
                    <a:p>
                      <a:pPr algn="ctr"/>
                      <a:r>
                        <a:rPr sz="1550" b="1">
                          <a:solidFill>
                            <a:srgbClr val="FFFFFF"/>
                          </a:solidFill>
                          <a:latin typeface="210 OmniGothic 040"/>
                          <a:ea typeface="210 OmniGothic 040"/>
                          <a:cs typeface="210 OmniGothic 040"/>
                        </a:rPr>
                        <a:t>진화 제안 열람 (S1~S7)</a:t>
                      </a:r>
                    </a:p>
                  </a:txBody>
                  <a:tcPr marT="40233" marB="40233" anchor="ctr">
                    <a:lnL w="9525">
                      <a:solidFill>
                        <a:srgbClr val="FFFFFF"/>
                      </a:solidFill>
                    </a:lnL>
                    <a:lnR w="9525">
                      <a:solidFill>
                        <a:srgbClr val="FFFFFF"/>
                      </a:solidFill>
                    </a:lnR>
                    <a:lnT w="9525">
                      <a:solidFill>
                        <a:srgbClr val="FFFFFF"/>
                      </a:solidFill>
                    </a:lnT>
                    <a:lnB w="9525">
                      <a:solidFill>
                        <a:srgbClr val="FFFFFF"/>
                      </a:solidFill>
                    </a:lnB>
                    <a:solidFill>
                      <a:srgbClr val="363A52"/>
                    </a:solidFill>
                  </a:tcPr>
                </a:tc>
                <a:tc hMerge="1">
                  <a:txBody>
                    <a:bodyPr/>
                    <a:lstStyle/>
                    <a:p>
                      <a:endParaRPr/>
                    </a:p>
                  </a:txBody>
                  <a:tcPr/>
                </a:tc>
                <a:extLst>
                  <a:ext uri="{0D108BD9-81ED-4DB2-BD59-A6C34878D82A}">
                    <a16:rowId xmlns:a16="http://schemas.microsoft.com/office/drawing/2014/main" val="10000"/>
                  </a:ext>
                </a:extLst>
              </a:tr>
              <a:tr h="687070">
                <a:tc vMerge="1">
                  <a:txBody>
                    <a:bodyPr/>
                    <a:lstStyle/>
                    <a:p>
                      <a:endParaRPr/>
                    </a:p>
                  </a:txBody>
                  <a:tcPr/>
                </a:tc>
                <a:tc>
                  <a:txBody>
                    <a:bodyPr/>
                    <a:lstStyle/>
                    <a:p>
                      <a:pPr algn="l"/>
                      <a:r>
                        <a:rPr sz="1550" b="1">
                          <a:solidFill>
                            <a:srgbClr val="363A52"/>
                          </a:solidFill>
                          <a:latin typeface="210 OmniGothic 040"/>
                          <a:ea typeface="210 OmniGothic 040"/>
                          <a:cs typeface="210 OmniGothic 040"/>
                        </a:rPr>
                        <a:t>개요</a:t>
                      </a:r>
                    </a:p>
                  </a:txBody>
                  <a:tcPr marL="137160" marR="137160" marT="60350" marB="60350" anchor="ctr">
                    <a:lnL w="9525">
                      <a:solidFill>
                        <a:srgbClr val="D9DCE5"/>
                      </a:solidFill>
                    </a:lnL>
                    <a:lnR w="9525">
                      <a:solidFill>
                        <a:srgbClr val="D9DCE5"/>
                      </a:solidFill>
                    </a:lnR>
                    <a:lnT w="9525" cap="flat" cmpd="sng" algn="ctr">
                      <a:solidFill>
                        <a:srgbClr val="FFFFFF"/>
                      </a:solidFill>
                      <a:prstDash val="solid"/>
                      <a:round/>
                      <a:headEnd type="none" w="med" len="med"/>
                      <a:tailEnd type="none" w="med" len="med"/>
                    </a:lnT>
                    <a:lnB w="9525">
                      <a:solidFill>
                        <a:srgbClr val="D9DCE5"/>
                      </a:solidFill>
                    </a:lnB>
                    <a:solidFill>
                      <a:srgbClr val="F3F4F8"/>
                    </a:solidFill>
                  </a:tcPr>
                </a:tc>
                <a:tc>
                  <a:txBody>
                    <a:bodyPr/>
                    <a:lstStyle/>
                    <a:p>
                      <a:pPr algn="l">
                        <a:lnSpc>
                          <a:spcPct val="110000"/>
                        </a:lnSpc>
                      </a:pPr>
                      <a:r>
                        <a:rPr sz="1550" b="0">
                          <a:solidFill>
                            <a:srgbClr val="363A52"/>
                          </a:solidFill>
                          <a:latin typeface="210 OmniGothic 040"/>
                          <a:ea typeface="210 OmniGothic 040"/>
                          <a:cs typeface="210 OmniGothic 040"/>
                        </a:rPr>
                        <a:t>"불을 어떻게 끌 것인가" — 대응단계(S1)·보호대상(S2)·자원 배분(S3)·진화 전략(S4)·시설 보호(S5)·유관기관(S6)·인력 안전(S7) 7항목을 분류별로 항목 상세와 함께 확인한다</a:t>
                      </a:r>
                    </a:p>
                  </a:txBody>
                  <a:tcPr marL="137160" marR="137160" marT="50292" marB="5029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1"/>
                  </a:ext>
                </a:extLst>
              </a:tr>
              <a:tr h="407543">
                <a:tc vMerge="1">
                  <a:txBody>
                    <a:bodyPr/>
                    <a:lstStyle/>
                    <a:p>
                      <a:endParaRPr/>
                    </a:p>
                  </a:txBody>
                  <a:tcPr/>
                </a:tc>
                <a:tc>
                  <a:txBody>
                    <a:bodyPr/>
                    <a:lstStyle/>
                    <a:p>
                      <a:pPr algn="l"/>
                      <a:r>
                        <a:rPr sz="1550" b="1">
                          <a:solidFill>
                            <a:srgbClr val="363A52"/>
                          </a:solidFill>
                          <a:latin typeface="210 OmniGothic 040"/>
                          <a:ea typeface="210 OmniGothic 040"/>
                          <a:cs typeface="210 OmniGothic 040"/>
                        </a:rPr>
                        <a:t>액터</a:t>
                      </a:r>
                    </a:p>
                  </a:txBody>
                  <a:tcPr marL="137160" marR="137160" marT="60350" marB="60350" anchor="ctr">
                    <a:lnL w="9525">
                      <a:solidFill>
                        <a:srgbClr val="D9DCE5"/>
                      </a:solidFill>
                    </a:lnL>
                    <a:lnR w="9525">
                      <a:solidFill>
                        <a:srgbClr val="D9DCE5"/>
                      </a:solidFill>
                    </a:lnR>
                    <a:lnT w="9525">
                      <a:solidFill>
                        <a:srgbClr val="D9DCE5"/>
                      </a:solidFill>
                    </a:lnT>
                    <a:lnB w="9525">
                      <a:solidFill>
                        <a:srgbClr val="D9DCE5"/>
                      </a:solidFill>
                    </a:lnB>
                    <a:solidFill>
                      <a:srgbClr val="F3F4F8"/>
                    </a:solidFill>
                  </a:tcPr>
                </a:tc>
                <a:tc>
                  <a:txBody>
                    <a:bodyPr/>
                    <a:lstStyle/>
                    <a:p>
                      <a:pPr algn="l">
                        <a:lnSpc>
                          <a:spcPct val="110000"/>
                        </a:lnSpc>
                      </a:pPr>
                      <a:r>
                        <a:rPr sz="1550" b="0">
                          <a:solidFill>
                            <a:srgbClr val="363A52"/>
                          </a:solidFill>
                          <a:latin typeface="210 OmniGothic 040"/>
                          <a:ea typeface="210 OmniGothic 040"/>
                          <a:cs typeface="210 OmniGothic 040"/>
                        </a:rPr>
                        <a:t>통합지휘권자</a:t>
                      </a:r>
                    </a:p>
                  </a:txBody>
                  <a:tcPr marL="137160" marR="137160" marT="50292" marB="5029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2"/>
                  </a:ext>
                </a:extLst>
              </a:tr>
              <a:tr h="407543">
                <a:tc vMerge="1">
                  <a:txBody>
                    <a:bodyPr/>
                    <a:lstStyle/>
                    <a:p>
                      <a:endParaRPr/>
                    </a:p>
                  </a:txBody>
                  <a:tcPr/>
                </a:tc>
                <a:tc>
                  <a:txBody>
                    <a:bodyPr/>
                    <a:lstStyle/>
                    <a:p>
                      <a:pPr algn="l"/>
                      <a:r>
                        <a:rPr sz="1550" b="1">
                          <a:solidFill>
                            <a:srgbClr val="363A52"/>
                          </a:solidFill>
                          <a:latin typeface="210 OmniGothic 040"/>
                          <a:ea typeface="210 OmniGothic 040"/>
                          <a:cs typeface="210 OmniGothic 040"/>
                        </a:rPr>
                        <a:t>시작 조건</a:t>
                      </a:r>
                    </a:p>
                  </a:txBody>
                  <a:tcPr marL="137160" marR="137160" marT="60350" marB="60350" anchor="ctr">
                    <a:lnL w="9525">
                      <a:solidFill>
                        <a:srgbClr val="D9DCE5"/>
                      </a:solidFill>
                    </a:lnL>
                    <a:lnR w="9525">
                      <a:solidFill>
                        <a:srgbClr val="D9DCE5"/>
                      </a:solidFill>
                    </a:lnR>
                    <a:lnT w="9525">
                      <a:solidFill>
                        <a:srgbClr val="D9DCE5"/>
                      </a:solidFill>
                    </a:lnT>
                    <a:lnB w="9525">
                      <a:solidFill>
                        <a:srgbClr val="D9DCE5"/>
                      </a:solidFill>
                    </a:lnB>
                    <a:solidFill>
                      <a:srgbClr val="F3F4F8"/>
                    </a:solidFill>
                  </a:tcPr>
                </a:tc>
                <a:tc>
                  <a:txBody>
                    <a:bodyPr/>
                    <a:lstStyle/>
                    <a:p>
                      <a:pPr algn="l">
                        <a:lnSpc>
                          <a:spcPct val="110000"/>
                        </a:lnSpc>
                      </a:pPr>
                      <a:r>
                        <a:rPr sz="1550" b="0">
                          <a:solidFill>
                            <a:srgbClr val="363A52"/>
                          </a:solidFill>
                          <a:latin typeface="210 OmniGothic 040"/>
                          <a:ea typeface="210 OmniGothic 040"/>
                          <a:cs typeface="210 OmniGothic 040"/>
                        </a:rPr>
                        <a:t>통합지휘권자로 로그인, 대응 제안서 버전이 1개 이상 있음 (UC-PRED-01)</a:t>
                      </a:r>
                    </a:p>
                  </a:txBody>
                  <a:tcPr marL="137160" marR="137160" marT="50292" marB="5029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3"/>
                  </a:ext>
                </a:extLst>
              </a:tr>
              <a:tr h="1805178">
                <a:tc vMerge="1">
                  <a:txBody>
                    <a:bodyPr/>
                    <a:lstStyle/>
                    <a:p>
                      <a:endParaRPr/>
                    </a:p>
                  </a:txBody>
                  <a:tcPr/>
                </a:tc>
                <a:tc>
                  <a:txBody>
                    <a:bodyPr/>
                    <a:lstStyle/>
                    <a:p>
                      <a:pPr algn="l"/>
                      <a:r>
                        <a:rPr sz="1550" b="1">
                          <a:solidFill>
                            <a:srgbClr val="363A52"/>
                          </a:solidFill>
                          <a:latin typeface="210 OmniGothic 040"/>
                          <a:ea typeface="210 OmniGothic 040"/>
                          <a:cs typeface="210 OmniGothic 040"/>
                        </a:rPr>
                        <a:t>기본 흐름</a:t>
                      </a:r>
                    </a:p>
                  </a:txBody>
                  <a:tcPr marL="137160" marR="137160" marT="60350" marB="60350" anchor="ctr">
                    <a:lnL w="9525">
                      <a:solidFill>
                        <a:srgbClr val="D9DCE5"/>
                      </a:solidFill>
                    </a:lnL>
                    <a:lnR w="9525">
                      <a:solidFill>
                        <a:srgbClr val="D9DCE5"/>
                      </a:solidFill>
                    </a:lnR>
                    <a:lnT w="9525">
                      <a:solidFill>
                        <a:srgbClr val="D9DCE5"/>
                      </a:solidFill>
                    </a:lnT>
                    <a:lnB w="9525">
                      <a:solidFill>
                        <a:srgbClr val="D9DCE5"/>
                      </a:solidFill>
                    </a:lnB>
                    <a:solidFill>
                      <a:srgbClr val="F3F4F8"/>
                    </a:solidFill>
                  </a:tcPr>
                </a:tc>
                <a:tc>
                  <a:txBody>
                    <a:bodyPr/>
                    <a:lstStyle/>
                    <a:p>
                      <a:pPr algn="l">
                        <a:lnSpc>
                          <a:spcPct val="110000"/>
                        </a:lnSpc>
                      </a:pPr>
                      <a:r>
                        <a:rPr sz="1550" b="0">
                          <a:solidFill>
                            <a:srgbClr val="363A52"/>
                          </a:solidFill>
                          <a:latin typeface="210 OmniGothic 040"/>
                          <a:ea typeface="210 OmniGothic 040"/>
                          <a:cs typeface="210 OmniGothic 040"/>
                        </a:rPr>
                        <a:t>1. 사용자가 「대응 제안」 탭에서 「진화」를 고른다.</a:t>
                      </a:r>
                    </a:p>
                    <a:p>
                      <a:pPr algn="l">
                        <a:lnSpc>
                          <a:spcPct val="110000"/>
                        </a:lnSpc>
                      </a:pPr>
                      <a:r>
                        <a:rPr sz="1550" b="0">
                          <a:solidFill>
                            <a:srgbClr val="363A52"/>
                          </a:solidFill>
                          <a:latin typeface="210 OmniGothic 040"/>
                          <a:ea typeface="210 OmniGothic 040"/>
                          <a:cs typeface="210 OmniGothic 040"/>
                        </a:rPr>
                        <a:t>2. 시스템이 버전 번호·생성 시각·기준 실측 화선 버전을 표시한다.</a:t>
                      </a:r>
                    </a:p>
                    <a:p>
                      <a:pPr algn="l">
                        <a:lnSpc>
                          <a:spcPct val="110000"/>
                        </a:lnSpc>
                      </a:pPr>
                      <a:r>
                        <a:rPr sz="1550" b="0">
                          <a:solidFill>
                            <a:srgbClr val="363A52"/>
                          </a:solidFill>
                          <a:latin typeface="210 OmniGothic 040"/>
                          <a:ea typeface="210 OmniGothic 040"/>
                          <a:cs typeface="210 OmniGothic 040"/>
                        </a:rPr>
                        <a:t>3. 시스템이 S1~S7 항목을 즉시·대기·협의·요청 분류로 묶어 나열하고, 항목마다 제안 문장을 보여주고, 항목을 클릭하면 판정 이유·대상·권한을 펼쳐 보여준다.</a:t>
                      </a:r>
                    </a:p>
                    <a:p>
                      <a:pPr algn="l">
                        <a:lnSpc>
                          <a:spcPct val="110000"/>
                        </a:lnSpc>
                      </a:pPr>
                      <a:r>
                        <a:rPr sz="1550" b="0">
                          <a:solidFill>
                            <a:srgbClr val="363A52"/>
                          </a:solidFill>
                          <a:latin typeface="210 OmniGothic 040"/>
                          <a:ea typeface="210 OmniGothic 040"/>
                          <a:cs typeface="210 OmniGothic 040"/>
                        </a:rPr>
                        <a:t>4. 사용자가 문장 끝 [k]를 누르면 근거 조회(UC-PROP-03)로, '변경' 태그를 누르면 변경 내용 조회(UC-PROP-04)로 넘어간다.</a:t>
                      </a:r>
                    </a:p>
                  </a:txBody>
                  <a:tcPr marL="137160" marR="137160" marT="50292" marB="5029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4"/>
                  </a:ext>
                </a:extLst>
              </a:tr>
              <a:tr h="407543">
                <a:tc vMerge="1">
                  <a:txBody>
                    <a:bodyPr/>
                    <a:lstStyle/>
                    <a:p>
                      <a:endParaRPr/>
                    </a:p>
                  </a:txBody>
                  <a:tcPr/>
                </a:tc>
                <a:tc>
                  <a:txBody>
                    <a:bodyPr/>
                    <a:lstStyle/>
                    <a:p>
                      <a:pPr algn="l"/>
                      <a:r>
                        <a:rPr sz="1550" b="1">
                          <a:solidFill>
                            <a:srgbClr val="363A52"/>
                          </a:solidFill>
                          <a:latin typeface="210 OmniGothic 040"/>
                          <a:ea typeface="210 OmniGothic 040"/>
                          <a:cs typeface="210 OmniGothic 040"/>
                        </a:rPr>
                        <a:t>대안 흐름</a:t>
                      </a:r>
                    </a:p>
                  </a:txBody>
                  <a:tcPr marL="137160" marR="137160" marT="60350" marB="60350" anchor="ctr">
                    <a:lnL w="9525">
                      <a:solidFill>
                        <a:srgbClr val="D9DCE5"/>
                      </a:solidFill>
                    </a:lnL>
                    <a:lnR w="9525">
                      <a:solidFill>
                        <a:srgbClr val="D9DCE5"/>
                      </a:solidFill>
                    </a:lnR>
                    <a:lnT w="9525">
                      <a:solidFill>
                        <a:srgbClr val="D9DCE5"/>
                      </a:solidFill>
                    </a:lnT>
                    <a:lnB w="9525">
                      <a:solidFill>
                        <a:srgbClr val="D9DCE5"/>
                      </a:solidFill>
                    </a:lnB>
                    <a:solidFill>
                      <a:srgbClr val="F3F4F8"/>
                    </a:solidFill>
                  </a:tcPr>
                </a:tc>
                <a:tc>
                  <a:txBody>
                    <a:bodyPr/>
                    <a:lstStyle/>
                    <a:p>
                      <a:pPr algn="l">
                        <a:lnSpc>
                          <a:spcPct val="110000"/>
                        </a:lnSpc>
                      </a:pPr>
                      <a:r>
                        <a:rPr sz="1550" b="0">
                          <a:solidFill>
                            <a:srgbClr val="363A52"/>
                          </a:solidFill>
                          <a:latin typeface="210 OmniGothic 040"/>
                          <a:ea typeface="210 OmniGothic 040"/>
                          <a:cs typeface="210 OmniGothic 040"/>
                        </a:rPr>
                        <a:t>A1. 종료된 산불일 시 → 마지막 버전 제안서를 조회 전용으로 표시</a:t>
                      </a:r>
                    </a:p>
                  </a:txBody>
                  <a:tcPr marL="137160" marR="137160" marT="50292" marB="5029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5"/>
                  </a:ext>
                </a:extLst>
              </a:tr>
              <a:tr h="407543">
                <a:tc vMerge="1">
                  <a:txBody>
                    <a:bodyPr/>
                    <a:lstStyle/>
                    <a:p>
                      <a:endParaRPr/>
                    </a:p>
                  </a:txBody>
                  <a:tcPr/>
                </a:tc>
                <a:tc>
                  <a:txBody>
                    <a:bodyPr/>
                    <a:lstStyle/>
                    <a:p>
                      <a:pPr algn="l"/>
                      <a:r>
                        <a:rPr sz="1550" b="1">
                          <a:solidFill>
                            <a:srgbClr val="363A52"/>
                          </a:solidFill>
                          <a:latin typeface="210 OmniGothic 040"/>
                          <a:ea typeface="210 OmniGothic 040"/>
                          <a:cs typeface="210 OmniGothic 040"/>
                        </a:rPr>
                        <a:t>예외 흐름</a:t>
                      </a:r>
                    </a:p>
                  </a:txBody>
                  <a:tcPr marL="137160" marR="137160" marT="60350" marB="60350" anchor="ctr">
                    <a:lnL w="9525">
                      <a:solidFill>
                        <a:srgbClr val="D9DCE5"/>
                      </a:solidFill>
                    </a:lnL>
                    <a:lnR w="9525">
                      <a:solidFill>
                        <a:srgbClr val="D9DCE5"/>
                      </a:solidFill>
                    </a:lnR>
                    <a:lnT w="9525">
                      <a:solidFill>
                        <a:srgbClr val="D9DCE5"/>
                      </a:solidFill>
                    </a:lnT>
                    <a:lnB w="9525">
                      <a:solidFill>
                        <a:srgbClr val="D9DCE5"/>
                      </a:solidFill>
                    </a:lnB>
                    <a:solidFill>
                      <a:srgbClr val="F3F4F8"/>
                    </a:solidFill>
                  </a:tcPr>
                </a:tc>
                <a:tc>
                  <a:txBody>
                    <a:bodyPr/>
                    <a:lstStyle/>
                    <a:p>
                      <a:pPr algn="l">
                        <a:lnSpc>
                          <a:spcPct val="110000"/>
                        </a:lnSpc>
                      </a:pPr>
                      <a:r>
                        <a:rPr sz="1550" b="0">
                          <a:solidFill>
                            <a:srgbClr val="363A52"/>
                          </a:solidFill>
                          <a:latin typeface="210 OmniGothic 040"/>
                          <a:ea typeface="210 OmniGothic 040"/>
                          <a:cs typeface="210 OmniGothic 040"/>
                        </a:rPr>
                        <a:t>E1. 제안서가 없으면 시스템이 "확산 예측을 실행하면 제안이 생성됩니다"를 안내한다.</a:t>
                      </a:r>
                    </a:p>
                  </a:txBody>
                  <a:tcPr marL="137160" marR="137160" marT="50292" marB="5029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6"/>
                  </a:ext>
                </a:extLst>
              </a:tr>
              <a:tr h="407543">
                <a:tc vMerge="1">
                  <a:txBody>
                    <a:bodyPr/>
                    <a:lstStyle/>
                    <a:p>
                      <a:endParaRPr/>
                    </a:p>
                  </a:txBody>
                  <a:tcPr/>
                </a:tc>
                <a:tc>
                  <a:txBody>
                    <a:bodyPr/>
                    <a:lstStyle/>
                    <a:p>
                      <a:pPr algn="l"/>
                      <a:r>
                        <a:rPr sz="1550" b="1">
                          <a:solidFill>
                            <a:srgbClr val="363A52"/>
                          </a:solidFill>
                          <a:latin typeface="210 OmniGothic 040"/>
                          <a:ea typeface="210 OmniGothic 040"/>
                          <a:cs typeface="210 OmniGothic 040"/>
                        </a:rPr>
                        <a:t>종료 조건</a:t>
                      </a:r>
                    </a:p>
                  </a:txBody>
                  <a:tcPr marL="137160" marR="137160" marT="60350" marB="60350" anchor="ctr">
                    <a:lnL w="9525">
                      <a:solidFill>
                        <a:srgbClr val="D9DCE5"/>
                      </a:solidFill>
                    </a:lnL>
                    <a:lnR w="9525">
                      <a:solidFill>
                        <a:srgbClr val="D9DCE5"/>
                      </a:solidFill>
                    </a:lnR>
                    <a:lnT w="9525">
                      <a:solidFill>
                        <a:srgbClr val="D9DCE5"/>
                      </a:solidFill>
                    </a:lnT>
                    <a:lnB w="9525">
                      <a:solidFill>
                        <a:srgbClr val="D9DCE5"/>
                      </a:solidFill>
                    </a:lnB>
                    <a:solidFill>
                      <a:srgbClr val="F3F4F8"/>
                    </a:solidFill>
                  </a:tcPr>
                </a:tc>
                <a:tc>
                  <a:txBody>
                    <a:bodyPr/>
                    <a:lstStyle/>
                    <a:p>
                      <a:pPr algn="l">
                        <a:lnSpc>
                          <a:spcPct val="110000"/>
                        </a:lnSpc>
                      </a:pPr>
                      <a:r>
                        <a:rPr sz="1550" b="0">
                          <a:solidFill>
                            <a:srgbClr val="363A52"/>
                          </a:solidFill>
                          <a:latin typeface="210 OmniGothic 040"/>
                          <a:ea typeface="210 OmniGothic 040"/>
                          <a:cs typeface="210 OmniGothic 040"/>
                        </a:rPr>
                        <a:t>진화 제안서가 항목 상세와 함께 표시된다</a:t>
                      </a:r>
                    </a:p>
                  </a:txBody>
                  <a:tcPr marL="137160" marR="137160" marT="50292" marB="5029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05"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700" y="-12700"/>
            <a:ext cx="18313400" cy="1638300"/>
          </a:xfrm>
          <a:prstGeom prst="rect">
            <a:avLst/>
          </a:prstGeom>
        </p:spPr>
      </p:pic>
      <p:pic>
        <p:nvPicPr>
          <p:cNvPr id="5106"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28" y="1618343"/>
            <a:ext cx="18313400" cy="8699500"/>
          </a:xfrm>
          <a:prstGeom prst="rect">
            <a:avLst/>
          </a:prstGeom>
        </p:spPr>
      </p:pic>
      <p:pic>
        <p:nvPicPr>
          <p:cNvPr id="5107"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58800" y="9271000"/>
            <a:ext cx="17170400" cy="50800"/>
          </a:xfrm>
          <a:prstGeom prst="rect">
            <a:avLst/>
          </a:prstGeom>
        </p:spPr>
      </p:pic>
      <p:pic>
        <p:nvPicPr>
          <p:cNvPr id="5108" name="Picture 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278100" y="203200"/>
            <a:ext cx="1676400" cy="1409700"/>
          </a:xfrm>
          <a:prstGeom prst="rect">
            <a:avLst/>
          </a:prstGeom>
        </p:spPr>
      </p:pic>
      <p:sp>
        <p:nvSpPr>
          <p:cNvPr id="5109" name="Title"/>
          <p:cNvSpPr txBox="1"/>
          <p:nvPr/>
        </p:nvSpPr>
        <p:spPr>
          <a:xfrm>
            <a:off x="822960" y="384048"/>
            <a:ext cx="13258800" cy="877824"/>
          </a:xfrm>
          <a:prstGeom prst="rect">
            <a:avLst/>
          </a:prstGeom>
          <a:noFill/>
        </p:spPr>
        <p:txBody>
          <a:bodyPr wrap="square" lIns="0" tIns="0" rIns="0" bIns="0" anchor="ctr">
            <a:spAutoFit/>
          </a:bodyPr>
          <a:lstStyle/>
          <a:p>
            <a:pPr algn="l"/>
            <a:r>
              <a:rPr sz="4400" b="0">
                <a:solidFill>
                  <a:srgbClr val="FAA95A"/>
                </a:solidFill>
                <a:latin typeface="210 OmniGothic 050"/>
                <a:ea typeface="210 OmniGothic 050"/>
                <a:cs typeface="210 OmniGothic 050"/>
              </a:rPr>
              <a:t>03. 유스케이스 다이어그램</a:t>
            </a:r>
          </a:p>
        </p:txBody>
      </p:sp>
      <p:sp>
        <p:nvSpPr>
          <p:cNvPr id="5110" name="Subtitle"/>
          <p:cNvSpPr txBox="1"/>
          <p:nvPr/>
        </p:nvSpPr>
        <p:spPr>
          <a:xfrm>
            <a:off x="822960" y="1764792"/>
            <a:ext cx="16642080" cy="502920"/>
          </a:xfrm>
          <a:prstGeom prst="rect">
            <a:avLst/>
          </a:prstGeom>
          <a:noFill/>
        </p:spPr>
        <p:txBody>
          <a:bodyPr wrap="square" lIns="0" tIns="0" rIns="0" bIns="0" anchor="ctr">
            <a:spAutoFit/>
          </a:bodyPr>
          <a:lstStyle/>
          <a:p>
            <a:pPr algn="ctr"/>
            <a:r>
              <a:rPr sz="2600" b="1">
                <a:solidFill>
                  <a:srgbClr val="363A52"/>
                </a:solidFill>
                <a:latin typeface="210 OmniGothic 040"/>
                <a:ea typeface="210 OmniGothic 040"/>
                <a:cs typeface="210 OmniGothic 040"/>
              </a:rPr>
              <a:t>4. 시나리오 – 대피 제안 열람 (E1~E7)</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sz="quarter" idx="12"/>
          </p:nvPr>
        </p:nvSpPr>
        <p:spPr/>
        <p:txBody>
          <a:bodyPr/>
          <a:lstStyle/>
          <a:p>
            <a:fld id="{B6F15528-21DE-4FAA-801E-634DDDAF4B2B}" type="slidenum">
              <a:rPr lang="en-US" smtClean="0"/>
              <a:pPr/>
              <a:t>27</a:t>
            </a:fld>
            <a:endParaRPr lang="en-US"/>
          </a:p>
        </p:txBody>
      </p:sp>
      <p:graphicFrame>
        <p:nvGraphicFramePr>
          <p:cNvPr id="5111" name="Table 5110"/>
          <p:cNvGraphicFramePr>
            <a:graphicFrameLocks noGrp="1"/>
          </p:cNvGraphicFramePr>
          <p:nvPr/>
        </p:nvGraphicFramePr>
        <p:xfrm>
          <a:off x="1337310" y="2395728"/>
          <a:ext cx="15430500" cy="4937506"/>
        </p:xfrm>
        <a:graphic>
          <a:graphicData uri="http://schemas.openxmlformats.org/drawingml/2006/table">
            <a:tbl>
              <a:tblPr>
                <a:tableStyleId>{2D5ABB26-0587-4C30-8999-92F81FD0307C}</a:tableStyleId>
              </a:tblPr>
              <a:tblGrid>
                <a:gridCol w="1943100">
                  <a:extLst>
                    <a:ext uri="{9D8B030D-6E8A-4147-A177-3AD203B41FA5}">
                      <a16:colId xmlns:a16="http://schemas.microsoft.com/office/drawing/2014/main" val="20000"/>
                    </a:ext>
                  </a:extLst>
                </a:gridCol>
                <a:gridCol w="1657350">
                  <a:extLst>
                    <a:ext uri="{9D8B030D-6E8A-4147-A177-3AD203B41FA5}">
                      <a16:colId xmlns:a16="http://schemas.microsoft.com/office/drawing/2014/main" val="20001"/>
                    </a:ext>
                  </a:extLst>
                </a:gridCol>
                <a:gridCol w="11830050">
                  <a:extLst>
                    <a:ext uri="{9D8B030D-6E8A-4147-A177-3AD203B41FA5}">
                      <a16:colId xmlns:a16="http://schemas.microsoft.com/office/drawing/2014/main" val="20002"/>
                    </a:ext>
                  </a:extLst>
                </a:gridCol>
              </a:tblGrid>
              <a:tr h="407543">
                <a:tc rowSpan="8">
                  <a:txBody>
                    <a:bodyPr/>
                    <a:lstStyle/>
                    <a:p>
                      <a:pPr algn="ctr"/>
                      <a:r>
                        <a:rPr sz="1550" b="1">
                          <a:solidFill>
                            <a:srgbClr val="FFFFFF"/>
                          </a:solidFill>
                          <a:latin typeface="210 OmniGothic 040"/>
                          <a:ea typeface="210 OmniGothic 040"/>
                          <a:cs typeface="210 OmniGothic 040"/>
                        </a:rPr>
                        <a:t>UC-PROP-02</a:t>
                      </a:r>
                    </a:p>
                  </a:txBody>
                  <a:tcPr marT="40233" marB="40233" anchor="ctr">
                    <a:lnL w="9525">
                      <a:solidFill>
                        <a:srgbClr val="FFFFFF"/>
                      </a:solidFill>
                    </a:lnL>
                    <a:lnR w="9525">
                      <a:solidFill>
                        <a:srgbClr val="FFFFFF"/>
                      </a:solidFill>
                    </a:lnR>
                    <a:lnT w="9525">
                      <a:solidFill>
                        <a:srgbClr val="FFFFFF"/>
                      </a:solidFill>
                    </a:lnT>
                    <a:lnB w="9525">
                      <a:solidFill>
                        <a:srgbClr val="FFFFFF"/>
                      </a:solidFill>
                    </a:lnB>
                    <a:solidFill>
                      <a:srgbClr val="FAA95A"/>
                    </a:solidFill>
                  </a:tcPr>
                </a:tc>
                <a:tc gridSpan="2">
                  <a:txBody>
                    <a:bodyPr/>
                    <a:lstStyle/>
                    <a:p>
                      <a:pPr algn="ctr"/>
                      <a:r>
                        <a:rPr sz="1550" b="1">
                          <a:solidFill>
                            <a:srgbClr val="FFFFFF"/>
                          </a:solidFill>
                          <a:latin typeface="210 OmniGothic 040"/>
                          <a:ea typeface="210 OmniGothic 040"/>
                          <a:cs typeface="210 OmniGothic 040"/>
                        </a:rPr>
                        <a:t>대피 제안 열람 (E1~E7)</a:t>
                      </a:r>
                    </a:p>
                  </a:txBody>
                  <a:tcPr marT="40233" marB="40233" anchor="ctr">
                    <a:lnL w="9525">
                      <a:solidFill>
                        <a:srgbClr val="FFFFFF"/>
                      </a:solidFill>
                    </a:lnL>
                    <a:lnR w="9525">
                      <a:solidFill>
                        <a:srgbClr val="FFFFFF"/>
                      </a:solidFill>
                    </a:lnR>
                    <a:lnT w="9525">
                      <a:solidFill>
                        <a:srgbClr val="FFFFFF"/>
                      </a:solidFill>
                    </a:lnT>
                    <a:lnB w="9525">
                      <a:solidFill>
                        <a:srgbClr val="FFFFFF"/>
                      </a:solidFill>
                    </a:lnB>
                    <a:solidFill>
                      <a:srgbClr val="363A52"/>
                    </a:solidFill>
                  </a:tcPr>
                </a:tc>
                <a:tc hMerge="1">
                  <a:txBody>
                    <a:bodyPr/>
                    <a:lstStyle/>
                    <a:p>
                      <a:endParaRPr/>
                    </a:p>
                  </a:txBody>
                  <a:tcPr/>
                </a:tc>
                <a:extLst>
                  <a:ext uri="{0D108BD9-81ED-4DB2-BD59-A6C34878D82A}">
                    <a16:rowId xmlns:a16="http://schemas.microsoft.com/office/drawing/2014/main" val="10000"/>
                  </a:ext>
                </a:extLst>
              </a:tr>
              <a:tr h="687070">
                <a:tc vMerge="1">
                  <a:txBody>
                    <a:bodyPr/>
                    <a:lstStyle/>
                    <a:p>
                      <a:endParaRPr/>
                    </a:p>
                  </a:txBody>
                  <a:tcPr/>
                </a:tc>
                <a:tc>
                  <a:txBody>
                    <a:bodyPr/>
                    <a:lstStyle/>
                    <a:p>
                      <a:pPr algn="l"/>
                      <a:r>
                        <a:rPr sz="1550" b="1">
                          <a:solidFill>
                            <a:srgbClr val="363A52"/>
                          </a:solidFill>
                          <a:latin typeface="210 OmniGothic 040"/>
                          <a:ea typeface="210 OmniGothic 040"/>
                          <a:cs typeface="210 OmniGothic 040"/>
                        </a:rPr>
                        <a:t>개요</a:t>
                      </a:r>
                    </a:p>
                  </a:txBody>
                  <a:tcPr marL="137160" marR="137160" marT="60350" marB="60350" anchor="ctr">
                    <a:lnL w="9525">
                      <a:solidFill>
                        <a:srgbClr val="D9DCE5"/>
                      </a:solidFill>
                    </a:lnL>
                    <a:lnR w="9525">
                      <a:solidFill>
                        <a:srgbClr val="D9DCE5"/>
                      </a:solidFill>
                    </a:lnR>
                    <a:lnT w="9525" cap="flat" cmpd="sng" algn="ctr">
                      <a:solidFill>
                        <a:srgbClr val="FFFFFF"/>
                      </a:solidFill>
                      <a:prstDash val="solid"/>
                      <a:round/>
                      <a:headEnd type="none" w="med" len="med"/>
                      <a:tailEnd type="none" w="med" len="med"/>
                    </a:lnT>
                    <a:lnB w="9525">
                      <a:solidFill>
                        <a:srgbClr val="D9DCE5"/>
                      </a:solidFill>
                    </a:lnB>
                    <a:solidFill>
                      <a:srgbClr val="F3F4F8"/>
                    </a:solidFill>
                  </a:tcPr>
                </a:tc>
                <a:tc>
                  <a:txBody>
                    <a:bodyPr/>
                    <a:lstStyle/>
                    <a:p>
                      <a:pPr algn="l">
                        <a:lnSpc>
                          <a:spcPct val="110000"/>
                        </a:lnSpc>
                      </a:pPr>
                      <a:r>
                        <a:rPr sz="1550" b="0">
                          <a:solidFill>
                            <a:srgbClr val="363A52"/>
                          </a:solidFill>
                          <a:latin typeface="210 OmniGothic 040"/>
                          <a:ea typeface="210 OmniGothic 040"/>
                          <a:cs typeface="210 OmniGothic 040"/>
                        </a:rPr>
                        <a:t>"주민을 어떻게 피신시킬 것인가" — 위험구역 마을(E1)·대피 순서·시점(E2)·취약시설(E3)·대피소(E4)·대피 경로(E5)·재난문자(E6)·인명구조(E7) 7항목을 분류별로 항목 상세와 함께 확인한다</a:t>
                      </a:r>
                    </a:p>
                  </a:txBody>
                  <a:tcPr marL="137160" marR="137160" marT="50292" marB="5029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1"/>
                  </a:ext>
                </a:extLst>
              </a:tr>
              <a:tr h="407543">
                <a:tc vMerge="1">
                  <a:txBody>
                    <a:bodyPr/>
                    <a:lstStyle/>
                    <a:p>
                      <a:endParaRPr/>
                    </a:p>
                  </a:txBody>
                  <a:tcPr/>
                </a:tc>
                <a:tc>
                  <a:txBody>
                    <a:bodyPr/>
                    <a:lstStyle/>
                    <a:p>
                      <a:pPr algn="l"/>
                      <a:r>
                        <a:rPr sz="1550" b="1">
                          <a:solidFill>
                            <a:srgbClr val="363A52"/>
                          </a:solidFill>
                          <a:latin typeface="210 OmniGothic 040"/>
                          <a:ea typeface="210 OmniGothic 040"/>
                          <a:cs typeface="210 OmniGothic 040"/>
                        </a:rPr>
                        <a:t>액터</a:t>
                      </a:r>
                    </a:p>
                  </a:txBody>
                  <a:tcPr marL="137160" marR="137160" marT="60350" marB="60350" anchor="ctr">
                    <a:lnL w="9525">
                      <a:solidFill>
                        <a:srgbClr val="D9DCE5"/>
                      </a:solidFill>
                    </a:lnL>
                    <a:lnR w="9525">
                      <a:solidFill>
                        <a:srgbClr val="D9DCE5"/>
                      </a:solidFill>
                    </a:lnR>
                    <a:lnT w="9525">
                      <a:solidFill>
                        <a:srgbClr val="D9DCE5"/>
                      </a:solidFill>
                    </a:lnT>
                    <a:lnB w="9525">
                      <a:solidFill>
                        <a:srgbClr val="D9DCE5"/>
                      </a:solidFill>
                    </a:lnB>
                    <a:solidFill>
                      <a:srgbClr val="F3F4F8"/>
                    </a:solidFill>
                  </a:tcPr>
                </a:tc>
                <a:tc>
                  <a:txBody>
                    <a:bodyPr/>
                    <a:lstStyle/>
                    <a:p>
                      <a:pPr algn="l">
                        <a:lnSpc>
                          <a:spcPct val="110000"/>
                        </a:lnSpc>
                      </a:pPr>
                      <a:r>
                        <a:rPr sz="1550" b="0">
                          <a:solidFill>
                            <a:srgbClr val="363A52"/>
                          </a:solidFill>
                          <a:latin typeface="210 OmniGothic 040"/>
                          <a:ea typeface="210 OmniGothic 040"/>
                          <a:cs typeface="210 OmniGothic 040"/>
                        </a:rPr>
                        <a:t>통합지휘권자</a:t>
                      </a:r>
                    </a:p>
                  </a:txBody>
                  <a:tcPr marL="137160" marR="137160" marT="50292" marB="5029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2"/>
                  </a:ext>
                </a:extLst>
              </a:tr>
              <a:tr h="407543">
                <a:tc vMerge="1">
                  <a:txBody>
                    <a:bodyPr/>
                    <a:lstStyle/>
                    <a:p>
                      <a:endParaRPr/>
                    </a:p>
                  </a:txBody>
                  <a:tcPr/>
                </a:tc>
                <a:tc>
                  <a:txBody>
                    <a:bodyPr/>
                    <a:lstStyle/>
                    <a:p>
                      <a:pPr algn="l"/>
                      <a:r>
                        <a:rPr sz="1550" b="1">
                          <a:solidFill>
                            <a:srgbClr val="363A52"/>
                          </a:solidFill>
                          <a:latin typeface="210 OmniGothic 040"/>
                          <a:ea typeface="210 OmniGothic 040"/>
                          <a:cs typeface="210 OmniGothic 040"/>
                        </a:rPr>
                        <a:t>시작 조건</a:t>
                      </a:r>
                    </a:p>
                  </a:txBody>
                  <a:tcPr marL="137160" marR="137160" marT="60350" marB="60350" anchor="ctr">
                    <a:lnL w="9525">
                      <a:solidFill>
                        <a:srgbClr val="D9DCE5"/>
                      </a:solidFill>
                    </a:lnL>
                    <a:lnR w="9525">
                      <a:solidFill>
                        <a:srgbClr val="D9DCE5"/>
                      </a:solidFill>
                    </a:lnR>
                    <a:lnT w="9525">
                      <a:solidFill>
                        <a:srgbClr val="D9DCE5"/>
                      </a:solidFill>
                    </a:lnT>
                    <a:lnB w="9525">
                      <a:solidFill>
                        <a:srgbClr val="D9DCE5"/>
                      </a:solidFill>
                    </a:lnB>
                    <a:solidFill>
                      <a:srgbClr val="F3F4F8"/>
                    </a:solidFill>
                  </a:tcPr>
                </a:tc>
                <a:tc>
                  <a:txBody>
                    <a:bodyPr/>
                    <a:lstStyle/>
                    <a:p>
                      <a:pPr algn="l">
                        <a:lnSpc>
                          <a:spcPct val="110000"/>
                        </a:lnSpc>
                      </a:pPr>
                      <a:r>
                        <a:rPr sz="1550" b="0">
                          <a:solidFill>
                            <a:srgbClr val="363A52"/>
                          </a:solidFill>
                          <a:latin typeface="210 OmniGothic 040"/>
                          <a:ea typeface="210 OmniGothic 040"/>
                          <a:cs typeface="210 OmniGothic 040"/>
                        </a:rPr>
                        <a:t>통합지휘권자로 로그인, 대응 제안서 버전이 1개 이상 있음 (UC-PRED-01)</a:t>
                      </a:r>
                    </a:p>
                  </a:txBody>
                  <a:tcPr marL="137160" marR="137160" marT="50292" marB="5029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3"/>
                  </a:ext>
                </a:extLst>
              </a:tr>
              <a:tr h="1805178">
                <a:tc vMerge="1">
                  <a:txBody>
                    <a:bodyPr/>
                    <a:lstStyle/>
                    <a:p>
                      <a:endParaRPr/>
                    </a:p>
                  </a:txBody>
                  <a:tcPr/>
                </a:tc>
                <a:tc>
                  <a:txBody>
                    <a:bodyPr/>
                    <a:lstStyle/>
                    <a:p>
                      <a:pPr algn="l"/>
                      <a:r>
                        <a:rPr sz="1550" b="1">
                          <a:solidFill>
                            <a:srgbClr val="363A52"/>
                          </a:solidFill>
                          <a:latin typeface="210 OmniGothic 040"/>
                          <a:ea typeface="210 OmniGothic 040"/>
                          <a:cs typeface="210 OmniGothic 040"/>
                        </a:rPr>
                        <a:t>기본 흐름</a:t>
                      </a:r>
                    </a:p>
                  </a:txBody>
                  <a:tcPr marL="137160" marR="137160" marT="60350" marB="60350" anchor="ctr">
                    <a:lnL w="9525">
                      <a:solidFill>
                        <a:srgbClr val="D9DCE5"/>
                      </a:solidFill>
                    </a:lnL>
                    <a:lnR w="9525">
                      <a:solidFill>
                        <a:srgbClr val="D9DCE5"/>
                      </a:solidFill>
                    </a:lnR>
                    <a:lnT w="9525">
                      <a:solidFill>
                        <a:srgbClr val="D9DCE5"/>
                      </a:solidFill>
                    </a:lnT>
                    <a:lnB w="9525">
                      <a:solidFill>
                        <a:srgbClr val="D9DCE5"/>
                      </a:solidFill>
                    </a:lnB>
                    <a:solidFill>
                      <a:srgbClr val="F3F4F8"/>
                    </a:solidFill>
                  </a:tcPr>
                </a:tc>
                <a:tc>
                  <a:txBody>
                    <a:bodyPr/>
                    <a:lstStyle/>
                    <a:p>
                      <a:pPr algn="l">
                        <a:lnSpc>
                          <a:spcPct val="110000"/>
                        </a:lnSpc>
                      </a:pPr>
                      <a:r>
                        <a:rPr sz="1550" b="0">
                          <a:solidFill>
                            <a:srgbClr val="363A52"/>
                          </a:solidFill>
                          <a:latin typeface="210 OmniGothic 040"/>
                          <a:ea typeface="210 OmniGothic 040"/>
                          <a:cs typeface="210 OmniGothic 040"/>
                        </a:rPr>
                        <a:t>1. 사용자가 「대응 제안」 탭에서 「대피」를 고른다.</a:t>
                      </a:r>
                    </a:p>
                    <a:p>
                      <a:pPr algn="l">
                        <a:lnSpc>
                          <a:spcPct val="110000"/>
                        </a:lnSpc>
                      </a:pPr>
                      <a:r>
                        <a:rPr sz="1550" b="0">
                          <a:solidFill>
                            <a:srgbClr val="363A52"/>
                          </a:solidFill>
                          <a:latin typeface="210 OmniGothic 040"/>
                          <a:ea typeface="210 OmniGothic 040"/>
                          <a:cs typeface="210 OmniGothic 040"/>
                        </a:rPr>
                        <a:t>2. 시스템이 버전 번호·생성 시각·기준 실측 화선 버전을 표시한다.</a:t>
                      </a:r>
                    </a:p>
                    <a:p>
                      <a:pPr algn="l">
                        <a:lnSpc>
                          <a:spcPct val="110000"/>
                        </a:lnSpc>
                      </a:pPr>
                      <a:r>
                        <a:rPr sz="1550" b="0">
                          <a:solidFill>
                            <a:srgbClr val="363A52"/>
                          </a:solidFill>
                          <a:latin typeface="210 OmniGothic 040"/>
                          <a:ea typeface="210 OmniGothic 040"/>
                          <a:cs typeface="210 OmniGothic 040"/>
                        </a:rPr>
                        <a:t>3. 시스템이 E1~E7 항목을 즉시·대기·협의·요청 분류로 묶어 나열하고, 항목마다 제안 문장을 보여주고, 항목을 클릭하면 판정 이유·대상·권한을 펼쳐 보여준다.</a:t>
                      </a:r>
                    </a:p>
                    <a:p>
                      <a:pPr algn="l">
                        <a:lnSpc>
                          <a:spcPct val="110000"/>
                        </a:lnSpc>
                      </a:pPr>
                      <a:r>
                        <a:rPr sz="1550" b="0">
                          <a:solidFill>
                            <a:srgbClr val="363A52"/>
                          </a:solidFill>
                          <a:latin typeface="210 OmniGothic 040"/>
                          <a:ea typeface="210 OmniGothic 040"/>
                          <a:cs typeface="210 OmniGothic 040"/>
                        </a:rPr>
                        <a:t>4. 사용자가 문장 끝 [k]를 누르면 근거 조회(UC-PROP-03)로, '변경' 태그를 누르면 변경 내용 조회(UC-PROP-04)로 넘어간다.</a:t>
                      </a:r>
                    </a:p>
                  </a:txBody>
                  <a:tcPr marL="137160" marR="137160" marT="50292" marB="5029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4"/>
                  </a:ext>
                </a:extLst>
              </a:tr>
              <a:tr h="407543">
                <a:tc vMerge="1">
                  <a:txBody>
                    <a:bodyPr/>
                    <a:lstStyle/>
                    <a:p>
                      <a:endParaRPr/>
                    </a:p>
                  </a:txBody>
                  <a:tcPr/>
                </a:tc>
                <a:tc>
                  <a:txBody>
                    <a:bodyPr/>
                    <a:lstStyle/>
                    <a:p>
                      <a:pPr algn="l"/>
                      <a:r>
                        <a:rPr sz="1550" b="1">
                          <a:solidFill>
                            <a:srgbClr val="363A52"/>
                          </a:solidFill>
                          <a:latin typeface="210 OmniGothic 040"/>
                          <a:ea typeface="210 OmniGothic 040"/>
                          <a:cs typeface="210 OmniGothic 040"/>
                        </a:rPr>
                        <a:t>대안 흐름</a:t>
                      </a:r>
                    </a:p>
                  </a:txBody>
                  <a:tcPr marL="137160" marR="137160" marT="60350" marB="60350" anchor="ctr">
                    <a:lnL w="9525">
                      <a:solidFill>
                        <a:srgbClr val="D9DCE5"/>
                      </a:solidFill>
                    </a:lnL>
                    <a:lnR w="9525">
                      <a:solidFill>
                        <a:srgbClr val="D9DCE5"/>
                      </a:solidFill>
                    </a:lnR>
                    <a:lnT w="9525">
                      <a:solidFill>
                        <a:srgbClr val="D9DCE5"/>
                      </a:solidFill>
                    </a:lnT>
                    <a:lnB w="9525">
                      <a:solidFill>
                        <a:srgbClr val="D9DCE5"/>
                      </a:solidFill>
                    </a:lnB>
                    <a:solidFill>
                      <a:srgbClr val="F3F4F8"/>
                    </a:solidFill>
                  </a:tcPr>
                </a:tc>
                <a:tc>
                  <a:txBody>
                    <a:bodyPr/>
                    <a:lstStyle/>
                    <a:p>
                      <a:pPr algn="l">
                        <a:lnSpc>
                          <a:spcPct val="110000"/>
                        </a:lnSpc>
                      </a:pPr>
                      <a:r>
                        <a:rPr sz="1550" b="0">
                          <a:solidFill>
                            <a:srgbClr val="363A52"/>
                          </a:solidFill>
                          <a:latin typeface="210 OmniGothic 040"/>
                          <a:ea typeface="210 OmniGothic 040"/>
                          <a:cs typeface="210 OmniGothic 040"/>
                        </a:rPr>
                        <a:t>A1. 종료된 산불일 시 → 마지막 버전 제안서를 조회 전용으로 표시</a:t>
                      </a:r>
                    </a:p>
                  </a:txBody>
                  <a:tcPr marL="137160" marR="137160" marT="50292" marB="5029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5"/>
                  </a:ext>
                </a:extLst>
              </a:tr>
              <a:tr h="407543">
                <a:tc vMerge="1">
                  <a:txBody>
                    <a:bodyPr/>
                    <a:lstStyle/>
                    <a:p>
                      <a:endParaRPr/>
                    </a:p>
                  </a:txBody>
                  <a:tcPr/>
                </a:tc>
                <a:tc>
                  <a:txBody>
                    <a:bodyPr/>
                    <a:lstStyle/>
                    <a:p>
                      <a:pPr algn="l"/>
                      <a:r>
                        <a:rPr sz="1550" b="1">
                          <a:solidFill>
                            <a:srgbClr val="363A52"/>
                          </a:solidFill>
                          <a:latin typeface="210 OmniGothic 040"/>
                          <a:ea typeface="210 OmniGothic 040"/>
                          <a:cs typeface="210 OmniGothic 040"/>
                        </a:rPr>
                        <a:t>예외 흐름</a:t>
                      </a:r>
                    </a:p>
                  </a:txBody>
                  <a:tcPr marL="137160" marR="137160" marT="60350" marB="60350" anchor="ctr">
                    <a:lnL w="9525">
                      <a:solidFill>
                        <a:srgbClr val="D9DCE5"/>
                      </a:solidFill>
                    </a:lnL>
                    <a:lnR w="9525">
                      <a:solidFill>
                        <a:srgbClr val="D9DCE5"/>
                      </a:solidFill>
                    </a:lnR>
                    <a:lnT w="9525">
                      <a:solidFill>
                        <a:srgbClr val="D9DCE5"/>
                      </a:solidFill>
                    </a:lnT>
                    <a:lnB w="9525">
                      <a:solidFill>
                        <a:srgbClr val="D9DCE5"/>
                      </a:solidFill>
                    </a:lnB>
                    <a:solidFill>
                      <a:srgbClr val="F3F4F8"/>
                    </a:solidFill>
                  </a:tcPr>
                </a:tc>
                <a:tc>
                  <a:txBody>
                    <a:bodyPr/>
                    <a:lstStyle/>
                    <a:p>
                      <a:pPr algn="l">
                        <a:lnSpc>
                          <a:spcPct val="110000"/>
                        </a:lnSpc>
                      </a:pPr>
                      <a:r>
                        <a:rPr sz="1550" b="0">
                          <a:solidFill>
                            <a:srgbClr val="363A52"/>
                          </a:solidFill>
                          <a:latin typeface="210 OmniGothic 040"/>
                          <a:ea typeface="210 OmniGothic 040"/>
                          <a:cs typeface="210 OmniGothic 040"/>
                        </a:rPr>
                        <a:t>E1. 제안서가 없으면 시스템이 "확산 예측을 실행하면 제안이 생성됩니다"를 안내한다.</a:t>
                      </a:r>
                    </a:p>
                  </a:txBody>
                  <a:tcPr marL="137160" marR="137160" marT="50292" marB="5029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6"/>
                  </a:ext>
                </a:extLst>
              </a:tr>
              <a:tr h="407543">
                <a:tc vMerge="1">
                  <a:txBody>
                    <a:bodyPr/>
                    <a:lstStyle/>
                    <a:p>
                      <a:endParaRPr/>
                    </a:p>
                  </a:txBody>
                  <a:tcPr/>
                </a:tc>
                <a:tc>
                  <a:txBody>
                    <a:bodyPr/>
                    <a:lstStyle/>
                    <a:p>
                      <a:pPr algn="l"/>
                      <a:r>
                        <a:rPr sz="1550" b="1">
                          <a:solidFill>
                            <a:srgbClr val="363A52"/>
                          </a:solidFill>
                          <a:latin typeface="210 OmniGothic 040"/>
                          <a:ea typeface="210 OmniGothic 040"/>
                          <a:cs typeface="210 OmniGothic 040"/>
                        </a:rPr>
                        <a:t>종료 조건</a:t>
                      </a:r>
                    </a:p>
                  </a:txBody>
                  <a:tcPr marL="137160" marR="137160" marT="60350" marB="60350" anchor="ctr">
                    <a:lnL w="9525">
                      <a:solidFill>
                        <a:srgbClr val="D9DCE5"/>
                      </a:solidFill>
                    </a:lnL>
                    <a:lnR w="9525">
                      <a:solidFill>
                        <a:srgbClr val="D9DCE5"/>
                      </a:solidFill>
                    </a:lnR>
                    <a:lnT w="9525">
                      <a:solidFill>
                        <a:srgbClr val="D9DCE5"/>
                      </a:solidFill>
                    </a:lnT>
                    <a:lnB w="9525">
                      <a:solidFill>
                        <a:srgbClr val="D9DCE5"/>
                      </a:solidFill>
                    </a:lnB>
                    <a:solidFill>
                      <a:srgbClr val="F3F4F8"/>
                    </a:solidFill>
                  </a:tcPr>
                </a:tc>
                <a:tc>
                  <a:txBody>
                    <a:bodyPr/>
                    <a:lstStyle/>
                    <a:p>
                      <a:pPr algn="l">
                        <a:lnSpc>
                          <a:spcPct val="110000"/>
                        </a:lnSpc>
                      </a:pPr>
                      <a:r>
                        <a:rPr sz="1550" b="0">
                          <a:solidFill>
                            <a:srgbClr val="363A52"/>
                          </a:solidFill>
                          <a:latin typeface="210 OmniGothic 040"/>
                          <a:ea typeface="210 OmniGothic 040"/>
                          <a:cs typeface="210 OmniGothic 040"/>
                        </a:rPr>
                        <a:t>대피 제안서가 항목 상세와 함께 표시된다</a:t>
                      </a:r>
                    </a:p>
                  </a:txBody>
                  <a:tcPr marL="137160" marR="137160" marT="50292" marB="5029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05"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700" y="-12700"/>
            <a:ext cx="18313400" cy="1638300"/>
          </a:xfrm>
          <a:prstGeom prst="rect">
            <a:avLst/>
          </a:prstGeom>
        </p:spPr>
      </p:pic>
      <p:pic>
        <p:nvPicPr>
          <p:cNvPr id="5106"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28" y="1618343"/>
            <a:ext cx="18313400" cy="8699500"/>
          </a:xfrm>
          <a:prstGeom prst="rect">
            <a:avLst/>
          </a:prstGeom>
        </p:spPr>
      </p:pic>
      <p:pic>
        <p:nvPicPr>
          <p:cNvPr id="5107"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58800" y="9271000"/>
            <a:ext cx="17170400" cy="50800"/>
          </a:xfrm>
          <a:prstGeom prst="rect">
            <a:avLst/>
          </a:prstGeom>
        </p:spPr>
      </p:pic>
      <p:pic>
        <p:nvPicPr>
          <p:cNvPr id="5108" name="Picture 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278100" y="203200"/>
            <a:ext cx="1676400" cy="1409700"/>
          </a:xfrm>
          <a:prstGeom prst="rect">
            <a:avLst/>
          </a:prstGeom>
        </p:spPr>
      </p:pic>
      <p:sp>
        <p:nvSpPr>
          <p:cNvPr id="5109" name="Title"/>
          <p:cNvSpPr txBox="1"/>
          <p:nvPr/>
        </p:nvSpPr>
        <p:spPr>
          <a:xfrm>
            <a:off x="822960" y="384048"/>
            <a:ext cx="13258800" cy="877824"/>
          </a:xfrm>
          <a:prstGeom prst="rect">
            <a:avLst/>
          </a:prstGeom>
          <a:noFill/>
        </p:spPr>
        <p:txBody>
          <a:bodyPr wrap="square" lIns="0" tIns="0" rIns="0" bIns="0" anchor="ctr">
            <a:spAutoFit/>
          </a:bodyPr>
          <a:lstStyle/>
          <a:p>
            <a:pPr algn="l"/>
            <a:r>
              <a:rPr sz="4400" b="0">
                <a:solidFill>
                  <a:srgbClr val="FAA95A"/>
                </a:solidFill>
                <a:latin typeface="210 OmniGothic 050"/>
                <a:ea typeface="210 OmniGothic 050"/>
                <a:cs typeface="210 OmniGothic 050"/>
              </a:rPr>
              <a:t>03. 유스케이스 다이어그램</a:t>
            </a:r>
          </a:p>
        </p:txBody>
      </p:sp>
      <p:sp>
        <p:nvSpPr>
          <p:cNvPr id="5110" name="Subtitle"/>
          <p:cNvSpPr txBox="1"/>
          <p:nvPr/>
        </p:nvSpPr>
        <p:spPr>
          <a:xfrm>
            <a:off x="822960" y="1764792"/>
            <a:ext cx="16642080" cy="502920"/>
          </a:xfrm>
          <a:prstGeom prst="rect">
            <a:avLst/>
          </a:prstGeom>
          <a:noFill/>
        </p:spPr>
        <p:txBody>
          <a:bodyPr wrap="square" lIns="0" tIns="0" rIns="0" bIns="0" anchor="ctr">
            <a:spAutoFit/>
          </a:bodyPr>
          <a:lstStyle/>
          <a:p>
            <a:pPr algn="ctr"/>
            <a:r>
              <a:rPr sz="2600" b="1">
                <a:solidFill>
                  <a:srgbClr val="363A52"/>
                </a:solidFill>
                <a:latin typeface="210 OmniGothic 040"/>
                <a:ea typeface="210 OmniGothic 040"/>
                <a:cs typeface="210 OmniGothic 040"/>
              </a:rPr>
              <a:t>4. 시나리오 – 근거 조회</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sz="quarter" idx="12"/>
          </p:nvPr>
        </p:nvSpPr>
        <p:spPr/>
        <p:txBody>
          <a:bodyPr/>
          <a:lstStyle/>
          <a:p>
            <a:fld id="{B6F15528-21DE-4FAA-801E-634DDDAF4B2B}" type="slidenum">
              <a:rPr lang="en-US" smtClean="0"/>
              <a:pPr/>
              <a:t>28</a:t>
            </a:fld>
            <a:endParaRPr lang="en-US"/>
          </a:p>
        </p:txBody>
      </p:sp>
      <p:graphicFrame>
        <p:nvGraphicFramePr>
          <p:cNvPr id="5111" name="Table 5110"/>
          <p:cNvGraphicFramePr>
            <a:graphicFrameLocks noGrp="1"/>
          </p:cNvGraphicFramePr>
          <p:nvPr/>
        </p:nvGraphicFramePr>
        <p:xfrm>
          <a:off x="1337310" y="2395728"/>
          <a:ext cx="15430500" cy="4378451"/>
        </p:xfrm>
        <a:graphic>
          <a:graphicData uri="http://schemas.openxmlformats.org/drawingml/2006/table">
            <a:tbl>
              <a:tblPr>
                <a:tableStyleId>{2D5ABB26-0587-4C30-8999-92F81FD0307C}</a:tableStyleId>
              </a:tblPr>
              <a:tblGrid>
                <a:gridCol w="1943100">
                  <a:extLst>
                    <a:ext uri="{9D8B030D-6E8A-4147-A177-3AD203B41FA5}">
                      <a16:colId xmlns:a16="http://schemas.microsoft.com/office/drawing/2014/main" val="20000"/>
                    </a:ext>
                  </a:extLst>
                </a:gridCol>
                <a:gridCol w="1657350">
                  <a:extLst>
                    <a:ext uri="{9D8B030D-6E8A-4147-A177-3AD203B41FA5}">
                      <a16:colId xmlns:a16="http://schemas.microsoft.com/office/drawing/2014/main" val="20001"/>
                    </a:ext>
                  </a:extLst>
                </a:gridCol>
                <a:gridCol w="11830050">
                  <a:extLst>
                    <a:ext uri="{9D8B030D-6E8A-4147-A177-3AD203B41FA5}">
                      <a16:colId xmlns:a16="http://schemas.microsoft.com/office/drawing/2014/main" val="20002"/>
                    </a:ext>
                  </a:extLst>
                </a:gridCol>
              </a:tblGrid>
              <a:tr h="407543">
                <a:tc rowSpan="8">
                  <a:txBody>
                    <a:bodyPr/>
                    <a:lstStyle/>
                    <a:p>
                      <a:pPr algn="ctr"/>
                      <a:r>
                        <a:rPr sz="1550" b="1">
                          <a:solidFill>
                            <a:srgbClr val="FFFFFF"/>
                          </a:solidFill>
                          <a:latin typeface="210 OmniGothic 040"/>
                          <a:ea typeface="210 OmniGothic 040"/>
                          <a:cs typeface="210 OmniGothic 040"/>
                        </a:rPr>
                        <a:t>UC-PROP-03</a:t>
                      </a:r>
                    </a:p>
                  </a:txBody>
                  <a:tcPr marT="40233" marB="40233" anchor="ctr">
                    <a:lnL w="9525">
                      <a:solidFill>
                        <a:srgbClr val="FFFFFF"/>
                      </a:solidFill>
                    </a:lnL>
                    <a:lnR w="9525">
                      <a:solidFill>
                        <a:srgbClr val="FFFFFF"/>
                      </a:solidFill>
                    </a:lnR>
                    <a:lnT w="9525">
                      <a:solidFill>
                        <a:srgbClr val="FFFFFF"/>
                      </a:solidFill>
                    </a:lnT>
                    <a:lnB w="9525">
                      <a:solidFill>
                        <a:srgbClr val="FFFFFF"/>
                      </a:solidFill>
                    </a:lnB>
                    <a:solidFill>
                      <a:srgbClr val="FAA95A"/>
                    </a:solidFill>
                  </a:tcPr>
                </a:tc>
                <a:tc gridSpan="2">
                  <a:txBody>
                    <a:bodyPr/>
                    <a:lstStyle/>
                    <a:p>
                      <a:pPr algn="ctr"/>
                      <a:r>
                        <a:rPr sz="1550" b="1">
                          <a:solidFill>
                            <a:srgbClr val="FFFFFF"/>
                          </a:solidFill>
                          <a:latin typeface="210 OmniGothic 040"/>
                          <a:ea typeface="210 OmniGothic 040"/>
                          <a:cs typeface="210 OmniGothic 040"/>
                        </a:rPr>
                        <a:t>근거 조회</a:t>
                      </a:r>
                    </a:p>
                  </a:txBody>
                  <a:tcPr marT="40233" marB="40233" anchor="ctr">
                    <a:lnL w="9525">
                      <a:solidFill>
                        <a:srgbClr val="FFFFFF"/>
                      </a:solidFill>
                    </a:lnL>
                    <a:lnR w="9525">
                      <a:solidFill>
                        <a:srgbClr val="FFFFFF"/>
                      </a:solidFill>
                    </a:lnR>
                    <a:lnT w="9525">
                      <a:solidFill>
                        <a:srgbClr val="FFFFFF"/>
                      </a:solidFill>
                    </a:lnT>
                    <a:lnB w="9525">
                      <a:solidFill>
                        <a:srgbClr val="FFFFFF"/>
                      </a:solidFill>
                    </a:lnB>
                    <a:solidFill>
                      <a:srgbClr val="363A52"/>
                    </a:solidFill>
                  </a:tcPr>
                </a:tc>
                <a:tc hMerge="1">
                  <a:txBody>
                    <a:bodyPr/>
                    <a:lstStyle/>
                    <a:p>
                      <a:endParaRPr/>
                    </a:p>
                  </a:txBody>
                  <a:tcPr/>
                </a:tc>
                <a:extLst>
                  <a:ext uri="{0D108BD9-81ED-4DB2-BD59-A6C34878D82A}">
                    <a16:rowId xmlns:a16="http://schemas.microsoft.com/office/drawing/2014/main" val="10000"/>
                  </a:ext>
                </a:extLst>
              </a:tr>
              <a:tr h="687070">
                <a:tc vMerge="1">
                  <a:txBody>
                    <a:bodyPr/>
                    <a:lstStyle/>
                    <a:p>
                      <a:endParaRPr/>
                    </a:p>
                  </a:txBody>
                  <a:tcPr/>
                </a:tc>
                <a:tc>
                  <a:txBody>
                    <a:bodyPr/>
                    <a:lstStyle/>
                    <a:p>
                      <a:pPr algn="l"/>
                      <a:r>
                        <a:rPr sz="1550" b="1">
                          <a:solidFill>
                            <a:srgbClr val="363A52"/>
                          </a:solidFill>
                          <a:latin typeface="210 OmniGothic 040"/>
                          <a:ea typeface="210 OmniGothic 040"/>
                          <a:cs typeface="210 OmniGothic 040"/>
                        </a:rPr>
                        <a:t>개요</a:t>
                      </a:r>
                    </a:p>
                  </a:txBody>
                  <a:tcPr marL="137160" marR="137160" marT="60350" marB="60350" anchor="ctr">
                    <a:lnL w="9525">
                      <a:solidFill>
                        <a:srgbClr val="D9DCE5"/>
                      </a:solidFill>
                    </a:lnL>
                    <a:lnR w="9525">
                      <a:solidFill>
                        <a:srgbClr val="D9DCE5"/>
                      </a:solidFill>
                    </a:lnR>
                    <a:lnT w="9525" cap="flat" cmpd="sng" algn="ctr">
                      <a:solidFill>
                        <a:srgbClr val="FFFFFF"/>
                      </a:solidFill>
                      <a:prstDash val="solid"/>
                      <a:round/>
                      <a:headEnd type="none" w="med" len="med"/>
                      <a:tailEnd type="none" w="med" len="med"/>
                    </a:lnT>
                    <a:lnB w="9525">
                      <a:solidFill>
                        <a:srgbClr val="D9DCE5"/>
                      </a:solidFill>
                    </a:lnB>
                    <a:solidFill>
                      <a:srgbClr val="F3F4F8"/>
                    </a:solidFill>
                  </a:tcPr>
                </a:tc>
                <a:tc>
                  <a:txBody>
                    <a:bodyPr/>
                    <a:lstStyle/>
                    <a:p>
                      <a:pPr algn="l">
                        <a:lnSpc>
                          <a:spcPct val="110000"/>
                        </a:lnSpc>
                      </a:pPr>
                      <a:r>
                        <a:rPr sz="1550" b="0">
                          <a:solidFill>
                            <a:srgbClr val="363A52"/>
                          </a:solidFill>
                          <a:latin typeface="210 OmniGothic 040"/>
                          <a:ea typeface="210 OmniGothic 040"/>
                          <a:cs typeface="210 OmniGothic 040"/>
                        </a:rPr>
                        <a:t>제안 문장이나 AI 답변 끝의 [k]를 눌러, 그 문장이 표준매뉴얼의 어느 문서·쪽수·조항에 근거했는지 확인한다. «extend»: UC-PROP-01·02·QA-01에서 [k]를 누른 경우에만 동작</a:t>
                      </a:r>
                    </a:p>
                  </a:txBody>
                  <a:tcPr marL="137160" marR="137160" marT="50292" marB="5029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1"/>
                  </a:ext>
                </a:extLst>
              </a:tr>
              <a:tr h="407543">
                <a:tc vMerge="1">
                  <a:txBody>
                    <a:bodyPr/>
                    <a:lstStyle/>
                    <a:p>
                      <a:endParaRPr/>
                    </a:p>
                  </a:txBody>
                  <a:tcPr/>
                </a:tc>
                <a:tc>
                  <a:txBody>
                    <a:bodyPr/>
                    <a:lstStyle/>
                    <a:p>
                      <a:pPr algn="l"/>
                      <a:r>
                        <a:rPr sz="1550" b="1">
                          <a:solidFill>
                            <a:srgbClr val="363A52"/>
                          </a:solidFill>
                          <a:latin typeface="210 OmniGothic 040"/>
                          <a:ea typeface="210 OmniGothic 040"/>
                          <a:cs typeface="210 OmniGothic 040"/>
                        </a:rPr>
                        <a:t>액터</a:t>
                      </a:r>
                    </a:p>
                  </a:txBody>
                  <a:tcPr marL="137160" marR="137160" marT="60350" marB="60350" anchor="ctr">
                    <a:lnL w="9525">
                      <a:solidFill>
                        <a:srgbClr val="D9DCE5"/>
                      </a:solidFill>
                    </a:lnL>
                    <a:lnR w="9525">
                      <a:solidFill>
                        <a:srgbClr val="D9DCE5"/>
                      </a:solidFill>
                    </a:lnR>
                    <a:lnT w="9525">
                      <a:solidFill>
                        <a:srgbClr val="D9DCE5"/>
                      </a:solidFill>
                    </a:lnT>
                    <a:lnB w="9525">
                      <a:solidFill>
                        <a:srgbClr val="D9DCE5"/>
                      </a:solidFill>
                    </a:lnB>
                    <a:solidFill>
                      <a:srgbClr val="F3F4F8"/>
                    </a:solidFill>
                  </a:tcPr>
                </a:tc>
                <a:tc>
                  <a:txBody>
                    <a:bodyPr/>
                    <a:lstStyle/>
                    <a:p>
                      <a:pPr algn="l">
                        <a:lnSpc>
                          <a:spcPct val="110000"/>
                        </a:lnSpc>
                      </a:pPr>
                      <a:r>
                        <a:rPr sz="1550" b="0">
                          <a:solidFill>
                            <a:srgbClr val="363A52"/>
                          </a:solidFill>
                          <a:latin typeface="210 OmniGothic 040"/>
                          <a:ea typeface="210 OmniGothic 040"/>
                          <a:cs typeface="210 OmniGothic 040"/>
                        </a:rPr>
                        <a:t>통합지휘권자</a:t>
                      </a:r>
                    </a:p>
                  </a:txBody>
                  <a:tcPr marL="137160" marR="137160" marT="50292" marB="5029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2"/>
                  </a:ext>
                </a:extLst>
              </a:tr>
              <a:tr h="407543">
                <a:tc vMerge="1">
                  <a:txBody>
                    <a:bodyPr/>
                    <a:lstStyle/>
                    <a:p>
                      <a:endParaRPr/>
                    </a:p>
                  </a:txBody>
                  <a:tcPr/>
                </a:tc>
                <a:tc>
                  <a:txBody>
                    <a:bodyPr/>
                    <a:lstStyle/>
                    <a:p>
                      <a:pPr algn="l"/>
                      <a:r>
                        <a:rPr sz="1550" b="1">
                          <a:solidFill>
                            <a:srgbClr val="363A52"/>
                          </a:solidFill>
                          <a:latin typeface="210 OmniGothic 040"/>
                          <a:ea typeface="210 OmniGothic 040"/>
                          <a:cs typeface="210 OmniGothic 040"/>
                        </a:rPr>
                        <a:t>시작 조건</a:t>
                      </a:r>
                    </a:p>
                  </a:txBody>
                  <a:tcPr marL="137160" marR="137160" marT="60350" marB="60350" anchor="ctr">
                    <a:lnL w="9525">
                      <a:solidFill>
                        <a:srgbClr val="D9DCE5"/>
                      </a:solidFill>
                    </a:lnL>
                    <a:lnR w="9525">
                      <a:solidFill>
                        <a:srgbClr val="D9DCE5"/>
                      </a:solidFill>
                    </a:lnR>
                    <a:lnT w="9525">
                      <a:solidFill>
                        <a:srgbClr val="D9DCE5"/>
                      </a:solidFill>
                    </a:lnT>
                    <a:lnB w="9525">
                      <a:solidFill>
                        <a:srgbClr val="D9DCE5"/>
                      </a:solidFill>
                    </a:lnB>
                    <a:solidFill>
                      <a:srgbClr val="F3F4F8"/>
                    </a:solidFill>
                  </a:tcPr>
                </a:tc>
                <a:tc>
                  <a:txBody>
                    <a:bodyPr/>
                    <a:lstStyle/>
                    <a:p>
                      <a:pPr algn="l">
                        <a:lnSpc>
                          <a:spcPct val="110000"/>
                        </a:lnSpc>
                      </a:pPr>
                      <a:r>
                        <a:rPr sz="1550" b="0">
                          <a:solidFill>
                            <a:srgbClr val="363A52"/>
                          </a:solidFill>
                          <a:latin typeface="210 OmniGothic 040"/>
                          <a:ea typeface="210 OmniGothic 040"/>
                          <a:cs typeface="210 OmniGothic 040"/>
                        </a:rPr>
                        <a:t>[k]가 붙은 제안 문장 또는 AI 답변이 화면에 있음</a:t>
                      </a:r>
                    </a:p>
                  </a:txBody>
                  <a:tcPr marL="137160" marR="137160" marT="50292" marB="5029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3"/>
                  </a:ext>
                </a:extLst>
              </a:tr>
              <a:tr h="1246123">
                <a:tc vMerge="1">
                  <a:txBody>
                    <a:bodyPr/>
                    <a:lstStyle/>
                    <a:p>
                      <a:endParaRPr/>
                    </a:p>
                  </a:txBody>
                  <a:tcPr/>
                </a:tc>
                <a:tc>
                  <a:txBody>
                    <a:bodyPr/>
                    <a:lstStyle/>
                    <a:p>
                      <a:pPr algn="l"/>
                      <a:r>
                        <a:rPr sz="1550" b="1">
                          <a:solidFill>
                            <a:srgbClr val="363A52"/>
                          </a:solidFill>
                          <a:latin typeface="210 OmniGothic 040"/>
                          <a:ea typeface="210 OmniGothic 040"/>
                          <a:cs typeface="210 OmniGothic 040"/>
                        </a:rPr>
                        <a:t>기본 흐름</a:t>
                      </a:r>
                    </a:p>
                  </a:txBody>
                  <a:tcPr marL="137160" marR="137160" marT="60350" marB="60350" anchor="ctr">
                    <a:lnL w="9525">
                      <a:solidFill>
                        <a:srgbClr val="D9DCE5"/>
                      </a:solidFill>
                    </a:lnL>
                    <a:lnR w="9525">
                      <a:solidFill>
                        <a:srgbClr val="D9DCE5"/>
                      </a:solidFill>
                    </a:lnR>
                    <a:lnT w="9525">
                      <a:solidFill>
                        <a:srgbClr val="D9DCE5"/>
                      </a:solidFill>
                    </a:lnT>
                    <a:lnB w="9525">
                      <a:solidFill>
                        <a:srgbClr val="D9DCE5"/>
                      </a:solidFill>
                    </a:lnB>
                    <a:solidFill>
                      <a:srgbClr val="F3F4F8"/>
                    </a:solidFill>
                  </a:tcPr>
                </a:tc>
                <a:tc>
                  <a:txBody>
                    <a:bodyPr/>
                    <a:lstStyle/>
                    <a:p>
                      <a:pPr algn="l">
                        <a:lnSpc>
                          <a:spcPct val="110000"/>
                        </a:lnSpc>
                      </a:pPr>
                      <a:r>
                        <a:rPr sz="1550" b="0">
                          <a:solidFill>
                            <a:srgbClr val="363A52"/>
                          </a:solidFill>
                          <a:latin typeface="210 OmniGothic 040"/>
                          <a:ea typeface="210 OmniGothic 040"/>
                          <a:cs typeface="210 OmniGothic 040"/>
                        </a:rPr>
                        <a:t>1. 사용자가 제안 문장(또는 AI 답변) 끝의 [k]를 누른다.</a:t>
                      </a:r>
                    </a:p>
                    <a:p>
                      <a:pPr algn="l">
                        <a:lnSpc>
                          <a:spcPct val="110000"/>
                        </a:lnSpc>
                      </a:pPr>
                      <a:r>
                        <a:rPr sz="1550" b="0">
                          <a:solidFill>
                            <a:srgbClr val="363A52"/>
                          </a:solidFill>
                          <a:latin typeface="210 OmniGothic 040"/>
                          <a:ea typeface="210 OmniGothic 040"/>
                          <a:cs typeface="210 OmniGothic 040"/>
                        </a:rPr>
                        <a:t>2. 시스템이 근거 창을 열고 맨 위에 해당 문장을 다시 보여준다.</a:t>
                      </a:r>
                    </a:p>
                    <a:p>
                      <a:pPr algn="l">
                        <a:lnSpc>
                          <a:spcPct val="110000"/>
                        </a:lnSpc>
                      </a:pPr>
                      <a:r>
                        <a:rPr sz="1550" b="0">
                          <a:solidFill>
                            <a:srgbClr val="363A52"/>
                          </a:solidFill>
                          <a:latin typeface="210 OmniGothic 040"/>
                          <a:ea typeface="210 OmniGothic 040"/>
                          <a:cs typeface="210 OmniGothic 040"/>
                        </a:rPr>
                        <a:t>3. 시스템이 그 문장에 연결된 근거 목록(문서명·쪽수·조항·요약 설명)을 나열하고, 누른 번호를 강조한다.</a:t>
                      </a:r>
                    </a:p>
                    <a:p>
                      <a:pPr algn="l">
                        <a:lnSpc>
                          <a:spcPct val="110000"/>
                        </a:lnSpc>
                      </a:pPr>
                      <a:r>
                        <a:rPr sz="1550" b="0">
                          <a:solidFill>
                            <a:srgbClr val="363A52"/>
                          </a:solidFill>
                          <a:latin typeface="210 OmniGothic 040"/>
                          <a:ea typeface="210 OmniGothic 040"/>
                          <a:cs typeface="210 OmniGothic 040"/>
                        </a:rPr>
                        <a:t>4. 시스템은 표준매뉴얼 원문 파일 대신 해당 부분의 요약을 표시한다.</a:t>
                      </a:r>
                    </a:p>
                  </a:txBody>
                  <a:tcPr marL="137160" marR="137160" marT="50292" marB="5029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4"/>
                  </a:ext>
                </a:extLst>
              </a:tr>
              <a:tr h="407543">
                <a:tc vMerge="1">
                  <a:txBody>
                    <a:bodyPr/>
                    <a:lstStyle/>
                    <a:p>
                      <a:endParaRPr/>
                    </a:p>
                  </a:txBody>
                  <a:tcPr/>
                </a:tc>
                <a:tc>
                  <a:txBody>
                    <a:bodyPr/>
                    <a:lstStyle/>
                    <a:p>
                      <a:pPr algn="l"/>
                      <a:r>
                        <a:rPr sz="1550" b="1">
                          <a:solidFill>
                            <a:srgbClr val="363A52"/>
                          </a:solidFill>
                          <a:latin typeface="210 OmniGothic 040"/>
                          <a:ea typeface="210 OmniGothic 040"/>
                          <a:cs typeface="210 OmniGothic 040"/>
                        </a:rPr>
                        <a:t>대안 흐름</a:t>
                      </a:r>
                    </a:p>
                  </a:txBody>
                  <a:tcPr marL="137160" marR="137160" marT="60350" marB="60350" anchor="ctr">
                    <a:lnL w="9525">
                      <a:solidFill>
                        <a:srgbClr val="D9DCE5"/>
                      </a:solidFill>
                    </a:lnL>
                    <a:lnR w="9525">
                      <a:solidFill>
                        <a:srgbClr val="D9DCE5"/>
                      </a:solidFill>
                    </a:lnR>
                    <a:lnT w="9525">
                      <a:solidFill>
                        <a:srgbClr val="D9DCE5"/>
                      </a:solidFill>
                    </a:lnT>
                    <a:lnB w="9525">
                      <a:solidFill>
                        <a:srgbClr val="D9DCE5"/>
                      </a:solidFill>
                    </a:lnB>
                    <a:solidFill>
                      <a:srgbClr val="F3F4F8"/>
                    </a:solidFill>
                  </a:tcPr>
                </a:tc>
                <a:tc>
                  <a:txBody>
                    <a:bodyPr/>
                    <a:lstStyle/>
                    <a:p>
                      <a:pPr algn="l">
                        <a:lnSpc>
                          <a:spcPct val="110000"/>
                        </a:lnSpc>
                      </a:pPr>
                      <a:r>
                        <a:rPr sz="1550" b="0">
                          <a:solidFill>
                            <a:srgbClr val="363A52"/>
                          </a:solidFill>
                          <a:latin typeface="210 OmniGothic 040"/>
                          <a:ea typeface="210 OmniGothic 040"/>
                          <a:cs typeface="210 OmniGothic 040"/>
                        </a:rPr>
                        <a:t>—</a:t>
                      </a:r>
                    </a:p>
                  </a:txBody>
                  <a:tcPr marL="137160" marR="137160" marT="50292" marB="5029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5"/>
                  </a:ext>
                </a:extLst>
              </a:tr>
              <a:tr h="407543">
                <a:tc vMerge="1">
                  <a:txBody>
                    <a:bodyPr/>
                    <a:lstStyle/>
                    <a:p>
                      <a:endParaRPr/>
                    </a:p>
                  </a:txBody>
                  <a:tcPr/>
                </a:tc>
                <a:tc>
                  <a:txBody>
                    <a:bodyPr/>
                    <a:lstStyle/>
                    <a:p>
                      <a:pPr algn="l"/>
                      <a:r>
                        <a:rPr sz="1550" b="1">
                          <a:solidFill>
                            <a:srgbClr val="363A52"/>
                          </a:solidFill>
                          <a:latin typeface="210 OmniGothic 040"/>
                          <a:ea typeface="210 OmniGothic 040"/>
                          <a:cs typeface="210 OmniGothic 040"/>
                        </a:rPr>
                        <a:t>예외 흐름</a:t>
                      </a:r>
                    </a:p>
                  </a:txBody>
                  <a:tcPr marL="137160" marR="137160" marT="60350" marB="60350" anchor="ctr">
                    <a:lnL w="9525">
                      <a:solidFill>
                        <a:srgbClr val="D9DCE5"/>
                      </a:solidFill>
                    </a:lnL>
                    <a:lnR w="9525">
                      <a:solidFill>
                        <a:srgbClr val="D9DCE5"/>
                      </a:solidFill>
                    </a:lnR>
                    <a:lnT w="9525">
                      <a:solidFill>
                        <a:srgbClr val="D9DCE5"/>
                      </a:solidFill>
                    </a:lnT>
                    <a:lnB w="9525">
                      <a:solidFill>
                        <a:srgbClr val="D9DCE5"/>
                      </a:solidFill>
                    </a:lnB>
                    <a:solidFill>
                      <a:srgbClr val="F3F4F8"/>
                    </a:solidFill>
                  </a:tcPr>
                </a:tc>
                <a:tc>
                  <a:txBody>
                    <a:bodyPr/>
                    <a:lstStyle/>
                    <a:p>
                      <a:pPr algn="l">
                        <a:lnSpc>
                          <a:spcPct val="110000"/>
                        </a:lnSpc>
                      </a:pPr>
                      <a:r>
                        <a:rPr sz="1550" b="0">
                          <a:solidFill>
                            <a:srgbClr val="363A52"/>
                          </a:solidFill>
                          <a:latin typeface="210 OmniGothic 040"/>
                          <a:ea typeface="210 OmniGothic 040"/>
                          <a:cs typeface="210 OmniGothic 040"/>
                        </a:rPr>
                        <a:t>E1. 근거 청크를 불러오지 못하면 시스템이 "근거를 불러올 수 없습니다"를 안내하고 근거 창을 닫는다.</a:t>
                      </a:r>
                    </a:p>
                  </a:txBody>
                  <a:tcPr marL="137160" marR="137160" marT="50292" marB="5029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6"/>
                  </a:ext>
                </a:extLst>
              </a:tr>
              <a:tr h="407543">
                <a:tc vMerge="1">
                  <a:txBody>
                    <a:bodyPr/>
                    <a:lstStyle/>
                    <a:p>
                      <a:endParaRPr/>
                    </a:p>
                  </a:txBody>
                  <a:tcPr/>
                </a:tc>
                <a:tc>
                  <a:txBody>
                    <a:bodyPr/>
                    <a:lstStyle/>
                    <a:p>
                      <a:pPr algn="l"/>
                      <a:r>
                        <a:rPr sz="1550" b="1">
                          <a:solidFill>
                            <a:srgbClr val="363A52"/>
                          </a:solidFill>
                          <a:latin typeface="210 OmniGothic 040"/>
                          <a:ea typeface="210 OmniGothic 040"/>
                          <a:cs typeface="210 OmniGothic 040"/>
                        </a:rPr>
                        <a:t>종료 조건</a:t>
                      </a:r>
                    </a:p>
                  </a:txBody>
                  <a:tcPr marL="137160" marR="137160" marT="60350" marB="60350" anchor="ctr">
                    <a:lnL w="9525">
                      <a:solidFill>
                        <a:srgbClr val="D9DCE5"/>
                      </a:solidFill>
                    </a:lnL>
                    <a:lnR w="9525">
                      <a:solidFill>
                        <a:srgbClr val="D9DCE5"/>
                      </a:solidFill>
                    </a:lnR>
                    <a:lnT w="9525">
                      <a:solidFill>
                        <a:srgbClr val="D9DCE5"/>
                      </a:solidFill>
                    </a:lnT>
                    <a:lnB w="9525">
                      <a:solidFill>
                        <a:srgbClr val="D9DCE5"/>
                      </a:solidFill>
                    </a:lnB>
                    <a:solidFill>
                      <a:srgbClr val="F3F4F8"/>
                    </a:solidFill>
                  </a:tcPr>
                </a:tc>
                <a:tc>
                  <a:txBody>
                    <a:bodyPr/>
                    <a:lstStyle/>
                    <a:p>
                      <a:pPr algn="l">
                        <a:lnSpc>
                          <a:spcPct val="110000"/>
                        </a:lnSpc>
                      </a:pPr>
                      <a:r>
                        <a:rPr sz="1550" b="0">
                          <a:solidFill>
                            <a:srgbClr val="363A52"/>
                          </a:solidFill>
                          <a:latin typeface="210 OmniGothic 040"/>
                          <a:ea typeface="210 OmniGothic 040"/>
                          <a:cs typeface="210 OmniGothic 040"/>
                        </a:rPr>
                        <a:t>선택한 문장의 매뉴얼 근거(문서·쪽수·조항·요약)가 확인된다</a:t>
                      </a:r>
                    </a:p>
                  </a:txBody>
                  <a:tcPr marL="137160" marR="137160" marT="50292" marB="5029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05"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700" y="-12700"/>
            <a:ext cx="18313400" cy="1638300"/>
          </a:xfrm>
          <a:prstGeom prst="rect">
            <a:avLst/>
          </a:prstGeom>
        </p:spPr>
      </p:pic>
      <p:pic>
        <p:nvPicPr>
          <p:cNvPr id="5106"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28" y="1618343"/>
            <a:ext cx="18313400" cy="8699500"/>
          </a:xfrm>
          <a:prstGeom prst="rect">
            <a:avLst/>
          </a:prstGeom>
        </p:spPr>
      </p:pic>
      <p:pic>
        <p:nvPicPr>
          <p:cNvPr id="5107"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58800" y="9271000"/>
            <a:ext cx="17170400" cy="50800"/>
          </a:xfrm>
          <a:prstGeom prst="rect">
            <a:avLst/>
          </a:prstGeom>
        </p:spPr>
      </p:pic>
      <p:pic>
        <p:nvPicPr>
          <p:cNvPr id="5108" name="Picture 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278100" y="203200"/>
            <a:ext cx="1676400" cy="1409700"/>
          </a:xfrm>
          <a:prstGeom prst="rect">
            <a:avLst/>
          </a:prstGeom>
        </p:spPr>
      </p:pic>
      <p:sp>
        <p:nvSpPr>
          <p:cNvPr id="5109" name="Title"/>
          <p:cNvSpPr txBox="1"/>
          <p:nvPr/>
        </p:nvSpPr>
        <p:spPr>
          <a:xfrm>
            <a:off x="822960" y="384048"/>
            <a:ext cx="13258800" cy="877824"/>
          </a:xfrm>
          <a:prstGeom prst="rect">
            <a:avLst/>
          </a:prstGeom>
          <a:noFill/>
        </p:spPr>
        <p:txBody>
          <a:bodyPr wrap="square" lIns="0" tIns="0" rIns="0" bIns="0" anchor="ctr">
            <a:spAutoFit/>
          </a:bodyPr>
          <a:lstStyle/>
          <a:p>
            <a:pPr algn="l"/>
            <a:r>
              <a:rPr sz="4400" b="0">
                <a:solidFill>
                  <a:srgbClr val="FAA95A"/>
                </a:solidFill>
                <a:latin typeface="210 OmniGothic 050"/>
                <a:ea typeface="210 OmniGothic 050"/>
                <a:cs typeface="210 OmniGothic 050"/>
              </a:rPr>
              <a:t>03. 유스케이스 다이어그램</a:t>
            </a:r>
          </a:p>
        </p:txBody>
      </p:sp>
      <p:sp>
        <p:nvSpPr>
          <p:cNvPr id="5110" name="Subtitle"/>
          <p:cNvSpPr txBox="1"/>
          <p:nvPr/>
        </p:nvSpPr>
        <p:spPr>
          <a:xfrm>
            <a:off x="822960" y="1764792"/>
            <a:ext cx="16642080" cy="502920"/>
          </a:xfrm>
          <a:prstGeom prst="rect">
            <a:avLst/>
          </a:prstGeom>
          <a:noFill/>
        </p:spPr>
        <p:txBody>
          <a:bodyPr wrap="square" lIns="0" tIns="0" rIns="0" bIns="0" anchor="ctr">
            <a:spAutoFit/>
          </a:bodyPr>
          <a:lstStyle/>
          <a:p>
            <a:pPr algn="ctr"/>
            <a:r>
              <a:rPr sz="2600" b="1">
                <a:solidFill>
                  <a:srgbClr val="363A52"/>
                </a:solidFill>
                <a:latin typeface="210 OmniGothic 040"/>
                <a:ea typeface="210 OmniGothic 040"/>
                <a:cs typeface="210 OmniGothic 040"/>
              </a:rPr>
              <a:t>4. 시나리오 – AI 질의응답</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sz="quarter" idx="12"/>
          </p:nvPr>
        </p:nvSpPr>
        <p:spPr/>
        <p:txBody>
          <a:bodyPr/>
          <a:lstStyle/>
          <a:p>
            <a:fld id="{B6F15528-21DE-4FAA-801E-634DDDAF4B2B}" type="slidenum">
              <a:rPr lang="en-US" smtClean="0"/>
              <a:pPr/>
              <a:t>29</a:t>
            </a:fld>
            <a:endParaRPr lang="en-US"/>
          </a:p>
        </p:txBody>
      </p:sp>
      <p:graphicFrame>
        <p:nvGraphicFramePr>
          <p:cNvPr id="5111" name="Table 5110"/>
          <p:cNvGraphicFramePr>
            <a:graphicFrameLocks noGrp="1"/>
          </p:cNvGraphicFramePr>
          <p:nvPr/>
        </p:nvGraphicFramePr>
        <p:xfrm>
          <a:off x="1337310" y="2395728"/>
          <a:ext cx="15430500" cy="6335141"/>
        </p:xfrm>
        <a:graphic>
          <a:graphicData uri="http://schemas.openxmlformats.org/drawingml/2006/table">
            <a:tbl>
              <a:tblPr>
                <a:tableStyleId>{2D5ABB26-0587-4C30-8999-92F81FD0307C}</a:tableStyleId>
              </a:tblPr>
              <a:tblGrid>
                <a:gridCol w="1943100">
                  <a:extLst>
                    <a:ext uri="{9D8B030D-6E8A-4147-A177-3AD203B41FA5}">
                      <a16:colId xmlns:a16="http://schemas.microsoft.com/office/drawing/2014/main" val="20000"/>
                    </a:ext>
                  </a:extLst>
                </a:gridCol>
                <a:gridCol w="1657350">
                  <a:extLst>
                    <a:ext uri="{9D8B030D-6E8A-4147-A177-3AD203B41FA5}">
                      <a16:colId xmlns:a16="http://schemas.microsoft.com/office/drawing/2014/main" val="20001"/>
                    </a:ext>
                  </a:extLst>
                </a:gridCol>
                <a:gridCol w="11830050">
                  <a:extLst>
                    <a:ext uri="{9D8B030D-6E8A-4147-A177-3AD203B41FA5}">
                      <a16:colId xmlns:a16="http://schemas.microsoft.com/office/drawing/2014/main" val="20002"/>
                    </a:ext>
                  </a:extLst>
                </a:gridCol>
              </a:tblGrid>
              <a:tr h="407543">
                <a:tc rowSpan="8">
                  <a:txBody>
                    <a:bodyPr/>
                    <a:lstStyle/>
                    <a:p>
                      <a:pPr algn="ctr"/>
                      <a:r>
                        <a:rPr sz="1550" b="1">
                          <a:solidFill>
                            <a:srgbClr val="FFFFFF"/>
                          </a:solidFill>
                          <a:latin typeface="210 OmniGothic 040"/>
                          <a:ea typeface="210 OmniGothic 040"/>
                          <a:cs typeface="210 OmniGothic 040"/>
                        </a:rPr>
                        <a:t>UC-QA-01</a:t>
                      </a:r>
                    </a:p>
                  </a:txBody>
                  <a:tcPr marT="40233" marB="40233" anchor="ctr">
                    <a:lnL w="9525">
                      <a:solidFill>
                        <a:srgbClr val="FFFFFF"/>
                      </a:solidFill>
                    </a:lnL>
                    <a:lnR w="9525">
                      <a:solidFill>
                        <a:srgbClr val="FFFFFF"/>
                      </a:solidFill>
                    </a:lnR>
                    <a:lnT w="9525">
                      <a:solidFill>
                        <a:srgbClr val="FFFFFF"/>
                      </a:solidFill>
                    </a:lnT>
                    <a:lnB w="9525">
                      <a:solidFill>
                        <a:srgbClr val="FFFFFF"/>
                      </a:solidFill>
                    </a:lnB>
                    <a:solidFill>
                      <a:srgbClr val="FAA95A"/>
                    </a:solidFill>
                  </a:tcPr>
                </a:tc>
                <a:tc gridSpan="2">
                  <a:txBody>
                    <a:bodyPr/>
                    <a:lstStyle/>
                    <a:p>
                      <a:pPr algn="ctr"/>
                      <a:r>
                        <a:rPr sz="1550" b="1">
                          <a:solidFill>
                            <a:srgbClr val="FFFFFF"/>
                          </a:solidFill>
                          <a:latin typeface="210 OmniGothic 040"/>
                          <a:ea typeface="210 OmniGothic 040"/>
                          <a:cs typeface="210 OmniGothic 040"/>
                        </a:rPr>
                        <a:t>AI 질의응답</a:t>
                      </a:r>
                    </a:p>
                  </a:txBody>
                  <a:tcPr marT="40233" marB="40233" anchor="ctr">
                    <a:lnL w="9525">
                      <a:solidFill>
                        <a:srgbClr val="FFFFFF"/>
                      </a:solidFill>
                    </a:lnL>
                    <a:lnR w="9525">
                      <a:solidFill>
                        <a:srgbClr val="FFFFFF"/>
                      </a:solidFill>
                    </a:lnR>
                    <a:lnT w="9525">
                      <a:solidFill>
                        <a:srgbClr val="FFFFFF"/>
                      </a:solidFill>
                    </a:lnT>
                    <a:lnB w="9525">
                      <a:solidFill>
                        <a:srgbClr val="FFFFFF"/>
                      </a:solidFill>
                    </a:lnB>
                    <a:solidFill>
                      <a:srgbClr val="363A52"/>
                    </a:solidFill>
                  </a:tcPr>
                </a:tc>
                <a:tc hMerge="1">
                  <a:txBody>
                    <a:bodyPr/>
                    <a:lstStyle/>
                    <a:p>
                      <a:endParaRPr/>
                    </a:p>
                  </a:txBody>
                  <a:tcPr/>
                </a:tc>
                <a:extLst>
                  <a:ext uri="{0D108BD9-81ED-4DB2-BD59-A6C34878D82A}">
                    <a16:rowId xmlns:a16="http://schemas.microsoft.com/office/drawing/2014/main" val="10000"/>
                  </a:ext>
                </a:extLst>
              </a:tr>
              <a:tr h="687070">
                <a:tc vMerge="1">
                  <a:txBody>
                    <a:bodyPr/>
                    <a:lstStyle/>
                    <a:p>
                      <a:endParaRPr/>
                    </a:p>
                  </a:txBody>
                  <a:tcPr/>
                </a:tc>
                <a:tc>
                  <a:txBody>
                    <a:bodyPr/>
                    <a:lstStyle/>
                    <a:p>
                      <a:pPr algn="l"/>
                      <a:r>
                        <a:rPr sz="1550" b="1">
                          <a:solidFill>
                            <a:srgbClr val="363A52"/>
                          </a:solidFill>
                          <a:latin typeface="210 OmniGothic 040"/>
                          <a:ea typeface="210 OmniGothic 040"/>
                          <a:cs typeface="210 OmniGothic 040"/>
                        </a:rPr>
                        <a:t>개요</a:t>
                      </a:r>
                    </a:p>
                  </a:txBody>
                  <a:tcPr marL="137160" marR="137160" marT="60350" marB="60350" anchor="ctr">
                    <a:lnL w="9525">
                      <a:solidFill>
                        <a:srgbClr val="D9DCE5"/>
                      </a:solidFill>
                    </a:lnL>
                    <a:lnR w="9525">
                      <a:solidFill>
                        <a:srgbClr val="D9DCE5"/>
                      </a:solidFill>
                    </a:lnR>
                    <a:lnT w="9525" cap="flat" cmpd="sng" algn="ctr">
                      <a:solidFill>
                        <a:srgbClr val="FFFFFF"/>
                      </a:solidFill>
                      <a:prstDash val="solid"/>
                      <a:round/>
                      <a:headEnd type="none" w="med" len="med"/>
                      <a:tailEnd type="none" w="med" len="med"/>
                    </a:lnT>
                    <a:lnB w="9525">
                      <a:solidFill>
                        <a:srgbClr val="D9DCE5"/>
                      </a:solidFill>
                    </a:lnB>
                    <a:solidFill>
                      <a:srgbClr val="F3F4F8"/>
                    </a:solidFill>
                  </a:tcPr>
                </a:tc>
                <a:tc>
                  <a:txBody>
                    <a:bodyPr/>
                    <a:lstStyle/>
                    <a:p>
                      <a:pPr algn="l">
                        <a:lnSpc>
                          <a:spcPct val="110000"/>
                        </a:lnSpc>
                      </a:pPr>
                      <a:r>
                        <a:rPr sz="1550" b="0">
                          <a:solidFill>
                            <a:srgbClr val="363A52"/>
                          </a:solidFill>
                          <a:latin typeface="210 OmniGothic 040"/>
                          <a:ea typeface="210 OmniGothic 040"/>
                          <a:cs typeface="210 OmniGothic 040"/>
                        </a:rPr>
                        <a:t>통합지휘권자가 현재 상황·대응 제안·근거를 자연어나 빠른 질문으로 묻고 근거 번호가 붙은 답을 받는다.</a:t>
                      </a:r>
                    </a:p>
                  </a:txBody>
                  <a:tcPr marL="137160" marR="137160" marT="50292" marB="5029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1"/>
                  </a:ext>
                </a:extLst>
              </a:tr>
              <a:tr h="407543">
                <a:tc vMerge="1">
                  <a:txBody>
                    <a:bodyPr/>
                    <a:lstStyle/>
                    <a:p>
                      <a:endParaRPr/>
                    </a:p>
                  </a:txBody>
                  <a:tcPr/>
                </a:tc>
                <a:tc>
                  <a:txBody>
                    <a:bodyPr/>
                    <a:lstStyle/>
                    <a:p>
                      <a:pPr algn="l"/>
                      <a:r>
                        <a:rPr sz="1550" b="1">
                          <a:solidFill>
                            <a:srgbClr val="363A52"/>
                          </a:solidFill>
                          <a:latin typeface="210 OmniGothic 040"/>
                          <a:ea typeface="210 OmniGothic 040"/>
                          <a:cs typeface="210 OmniGothic 040"/>
                        </a:rPr>
                        <a:t>액터</a:t>
                      </a:r>
                    </a:p>
                  </a:txBody>
                  <a:tcPr marL="137160" marR="137160" marT="60350" marB="60350" anchor="ctr">
                    <a:lnL w="9525">
                      <a:solidFill>
                        <a:srgbClr val="D9DCE5"/>
                      </a:solidFill>
                    </a:lnL>
                    <a:lnR w="9525">
                      <a:solidFill>
                        <a:srgbClr val="D9DCE5"/>
                      </a:solidFill>
                    </a:lnR>
                    <a:lnT w="9525">
                      <a:solidFill>
                        <a:srgbClr val="D9DCE5"/>
                      </a:solidFill>
                    </a:lnT>
                    <a:lnB w="9525">
                      <a:solidFill>
                        <a:srgbClr val="D9DCE5"/>
                      </a:solidFill>
                    </a:lnB>
                    <a:solidFill>
                      <a:srgbClr val="F3F4F8"/>
                    </a:solidFill>
                  </a:tcPr>
                </a:tc>
                <a:tc>
                  <a:txBody>
                    <a:bodyPr/>
                    <a:lstStyle/>
                    <a:p>
                      <a:pPr algn="l">
                        <a:lnSpc>
                          <a:spcPct val="110000"/>
                        </a:lnSpc>
                      </a:pPr>
                      <a:r>
                        <a:rPr sz="1550" b="0">
                          <a:solidFill>
                            <a:srgbClr val="363A52"/>
                          </a:solidFill>
                          <a:latin typeface="210 OmniGothic 040"/>
                          <a:ea typeface="210 OmniGothic 040"/>
                          <a:cs typeface="210 OmniGothic 040"/>
                        </a:rPr>
                        <a:t>통합지휘권자 / AI 모델</a:t>
                      </a:r>
                    </a:p>
                  </a:txBody>
                  <a:tcPr marL="137160" marR="137160" marT="50292" marB="5029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2"/>
                  </a:ext>
                </a:extLst>
              </a:tr>
              <a:tr h="407543">
                <a:tc vMerge="1">
                  <a:txBody>
                    <a:bodyPr/>
                    <a:lstStyle/>
                    <a:p>
                      <a:endParaRPr/>
                    </a:p>
                  </a:txBody>
                  <a:tcPr/>
                </a:tc>
                <a:tc>
                  <a:txBody>
                    <a:bodyPr/>
                    <a:lstStyle/>
                    <a:p>
                      <a:pPr algn="l"/>
                      <a:r>
                        <a:rPr sz="1550" b="1">
                          <a:solidFill>
                            <a:srgbClr val="363A52"/>
                          </a:solidFill>
                          <a:latin typeface="210 OmniGothic 040"/>
                          <a:ea typeface="210 OmniGothic 040"/>
                          <a:cs typeface="210 OmniGothic 040"/>
                        </a:rPr>
                        <a:t>시작 조건</a:t>
                      </a:r>
                    </a:p>
                  </a:txBody>
                  <a:tcPr marL="137160" marR="137160" marT="60350" marB="60350" anchor="ctr">
                    <a:lnL w="9525">
                      <a:solidFill>
                        <a:srgbClr val="D9DCE5"/>
                      </a:solidFill>
                    </a:lnL>
                    <a:lnR w="9525">
                      <a:solidFill>
                        <a:srgbClr val="D9DCE5"/>
                      </a:solidFill>
                    </a:lnR>
                    <a:lnT w="9525">
                      <a:solidFill>
                        <a:srgbClr val="D9DCE5"/>
                      </a:solidFill>
                    </a:lnT>
                    <a:lnB w="9525">
                      <a:solidFill>
                        <a:srgbClr val="D9DCE5"/>
                      </a:solidFill>
                    </a:lnB>
                    <a:solidFill>
                      <a:srgbClr val="F3F4F8"/>
                    </a:solidFill>
                  </a:tcPr>
                </a:tc>
                <a:tc>
                  <a:txBody>
                    <a:bodyPr/>
                    <a:lstStyle/>
                    <a:p>
                      <a:pPr algn="l">
                        <a:lnSpc>
                          <a:spcPct val="110000"/>
                        </a:lnSpc>
                      </a:pPr>
                      <a:r>
                        <a:rPr sz="1550" b="0">
                          <a:solidFill>
                            <a:srgbClr val="363A52"/>
                          </a:solidFill>
                          <a:latin typeface="210 OmniGothic 040"/>
                          <a:ea typeface="210 OmniGothic 040"/>
                          <a:cs typeface="210 OmniGothic 040"/>
                        </a:rPr>
                        <a:t>통합지휘권자로 로그인, 등록된 산불 1건 이상</a:t>
                      </a:r>
                    </a:p>
                  </a:txBody>
                  <a:tcPr marL="137160" marR="137160" marT="50292" marB="5029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3"/>
                  </a:ext>
                </a:extLst>
              </a:tr>
              <a:tr h="2364232">
                <a:tc vMerge="1">
                  <a:txBody>
                    <a:bodyPr/>
                    <a:lstStyle/>
                    <a:p>
                      <a:endParaRPr/>
                    </a:p>
                  </a:txBody>
                  <a:tcPr/>
                </a:tc>
                <a:tc>
                  <a:txBody>
                    <a:bodyPr/>
                    <a:lstStyle/>
                    <a:p>
                      <a:pPr algn="l"/>
                      <a:r>
                        <a:rPr sz="1550" b="1">
                          <a:solidFill>
                            <a:srgbClr val="363A52"/>
                          </a:solidFill>
                          <a:latin typeface="210 OmniGothic 040"/>
                          <a:ea typeface="210 OmniGothic 040"/>
                          <a:cs typeface="210 OmniGothic 040"/>
                        </a:rPr>
                        <a:t>기본 흐름</a:t>
                      </a:r>
                    </a:p>
                  </a:txBody>
                  <a:tcPr marL="137160" marR="137160" marT="60350" marB="60350" anchor="ctr">
                    <a:lnL w="9525">
                      <a:solidFill>
                        <a:srgbClr val="D9DCE5"/>
                      </a:solidFill>
                    </a:lnL>
                    <a:lnR w="9525">
                      <a:solidFill>
                        <a:srgbClr val="D9DCE5"/>
                      </a:solidFill>
                    </a:lnR>
                    <a:lnT w="9525">
                      <a:solidFill>
                        <a:srgbClr val="D9DCE5"/>
                      </a:solidFill>
                    </a:lnT>
                    <a:lnB w="9525">
                      <a:solidFill>
                        <a:srgbClr val="D9DCE5"/>
                      </a:solidFill>
                    </a:lnB>
                    <a:solidFill>
                      <a:srgbClr val="F3F4F8"/>
                    </a:solidFill>
                  </a:tcPr>
                </a:tc>
                <a:tc>
                  <a:txBody>
                    <a:bodyPr/>
                    <a:lstStyle/>
                    <a:p>
                      <a:pPr algn="l">
                        <a:lnSpc>
                          <a:spcPct val="110000"/>
                        </a:lnSpc>
                      </a:pPr>
                      <a:r>
                        <a:rPr sz="1550" b="0">
                          <a:solidFill>
                            <a:srgbClr val="363A52"/>
                          </a:solidFill>
                          <a:latin typeface="210 OmniGothic 040"/>
                          <a:ea typeface="210 OmniGothic 040"/>
                          <a:cs typeface="210 OmniGothic 040"/>
                        </a:rPr>
                        <a:t>1. 통합지휘권자가 화면 우측 하단의 「AI 어시스턴트」를 연다.</a:t>
                      </a:r>
                    </a:p>
                    <a:p>
                      <a:pPr algn="l">
                        <a:lnSpc>
                          <a:spcPct val="110000"/>
                        </a:lnSpc>
                      </a:pPr>
                      <a:r>
                        <a:rPr sz="1550" b="0">
                          <a:solidFill>
                            <a:srgbClr val="363A52"/>
                          </a:solidFill>
                          <a:latin typeface="210 OmniGothic 040"/>
                          <a:ea typeface="210 OmniGothic 040"/>
                          <a:cs typeface="210 OmniGothic 040"/>
                        </a:rPr>
                        <a:t>2. 시스템이 빠른 질문 버튼(예: "대피 순서 이유", "헬기 운용 가능 여부", "격상 기준")을 보여준다.</a:t>
                      </a:r>
                    </a:p>
                    <a:p>
                      <a:pPr algn="l">
                        <a:lnSpc>
                          <a:spcPct val="110000"/>
                        </a:lnSpc>
                      </a:pPr>
                      <a:r>
                        <a:rPr sz="1550" b="0">
                          <a:solidFill>
                            <a:srgbClr val="363A52"/>
                          </a:solidFill>
                          <a:latin typeface="210 OmniGothic 040"/>
                          <a:ea typeface="210 OmniGothic 040"/>
                          <a:cs typeface="210 OmniGothic 040"/>
                        </a:rPr>
                        <a:t>3. 통합지휘권자가 질문을 입력하거나 빠른 질문을 누른다.</a:t>
                      </a:r>
                    </a:p>
                    <a:p>
                      <a:pPr algn="l">
                        <a:lnSpc>
                          <a:spcPct val="110000"/>
                        </a:lnSpc>
                      </a:pPr>
                      <a:r>
                        <a:rPr sz="1550" b="0">
                          <a:solidFill>
                            <a:srgbClr val="363A52"/>
                          </a:solidFill>
                          <a:latin typeface="210 OmniGothic 040"/>
                          <a:ea typeface="210 OmniGothic 040"/>
                          <a:cs typeface="210 OmniGothic 040"/>
                        </a:rPr>
                        <a:t>4. 시스템이 최신 실측 화선·P5·P8 안의 마을·시설 목록·최신 버전 제안과, 질문과 관련된 표준매뉴얼 근거를 검색해 AI 모델에 넘긴다.</a:t>
                      </a:r>
                    </a:p>
                    <a:p>
                      <a:pPr algn="l">
                        <a:lnSpc>
                          <a:spcPct val="110000"/>
                        </a:lnSpc>
                      </a:pPr>
                      <a:r>
                        <a:rPr sz="1550" b="0">
                          <a:solidFill>
                            <a:srgbClr val="363A52"/>
                          </a:solidFill>
                          <a:latin typeface="210 OmniGothic 040"/>
                          <a:ea typeface="210 OmniGothic 040"/>
                          <a:cs typeface="210 OmniGothic 040"/>
                        </a:rPr>
                        <a:t>5. AI 모델이 검색된 근거 범위 안에서 답을 쓰고 문장 끝에 [k]를 붙인다.</a:t>
                      </a:r>
                    </a:p>
                    <a:p>
                      <a:pPr algn="l">
                        <a:lnSpc>
                          <a:spcPct val="110000"/>
                        </a:lnSpc>
                      </a:pPr>
                      <a:r>
                        <a:rPr sz="1550" b="0">
                          <a:solidFill>
                            <a:srgbClr val="363A52"/>
                          </a:solidFill>
                          <a:latin typeface="210 OmniGothic 040"/>
                          <a:ea typeface="210 OmniGothic 040"/>
                          <a:cs typeface="210 OmniGothic 040"/>
                        </a:rPr>
                        <a:t>6. 시스템이 답을 대화 창에 표시한다. 상황 값과 제안서는 그대로다.</a:t>
                      </a:r>
                    </a:p>
                  </a:txBody>
                  <a:tcPr marL="137160" marR="137160" marT="50292" marB="5029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4"/>
                  </a:ext>
                </a:extLst>
              </a:tr>
              <a:tr h="407543">
                <a:tc vMerge="1">
                  <a:txBody>
                    <a:bodyPr/>
                    <a:lstStyle/>
                    <a:p>
                      <a:endParaRPr/>
                    </a:p>
                  </a:txBody>
                  <a:tcPr/>
                </a:tc>
                <a:tc>
                  <a:txBody>
                    <a:bodyPr/>
                    <a:lstStyle/>
                    <a:p>
                      <a:pPr algn="l"/>
                      <a:r>
                        <a:rPr sz="1550" b="1">
                          <a:solidFill>
                            <a:srgbClr val="363A52"/>
                          </a:solidFill>
                          <a:latin typeface="210 OmniGothic 040"/>
                          <a:ea typeface="210 OmniGothic 040"/>
                          <a:cs typeface="210 OmniGothic 040"/>
                        </a:rPr>
                        <a:t>대안 흐름</a:t>
                      </a:r>
                    </a:p>
                  </a:txBody>
                  <a:tcPr marL="137160" marR="137160" marT="60350" marB="60350" anchor="ctr">
                    <a:lnL w="9525">
                      <a:solidFill>
                        <a:srgbClr val="D9DCE5"/>
                      </a:solidFill>
                    </a:lnL>
                    <a:lnR w="9525">
                      <a:solidFill>
                        <a:srgbClr val="D9DCE5"/>
                      </a:solidFill>
                    </a:lnR>
                    <a:lnT w="9525">
                      <a:solidFill>
                        <a:srgbClr val="D9DCE5"/>
                      </a:solidFill>
                    </a:lnT>
                    <a:lnB w="9525">
                      <a:solidFill>
                        <a:srgbClr val="D9DCE5"/>
                      </a:solidFill>
                    </a:lnB>
                    <a:solidFill>
                      <a:srgbClr val="F3F4F8"/>
                    </a:solidFill>
                  </a:tcPr>
                </a:tc>
                <a:tc>
                  <a:txBody>
                    <a:bodyPr/>
                    <a:lstStyle/>
                    <a:p>
                      <a:pPr algn="l">
                        <a:lnSpc>
                          <a:spcPct val="110000"/>
                        </a:lnSpc>
                      </a:pPr>
                      <a:r>
                        <a:rPr sz="1550" b="0">
                          <a:solidFill>
                            <a:srgbClr val="363A52"/>
                          </a:solidFill>
                          <a:latin typeface="210 OmniGothic 040"/>
                          <a:ea typeface="210 OmniGothic 040"/>
                          <a:cs typeface="210 OmniGothic 040"/>
                        </a:rPr>
                        <a:t>A1. 답의 [k]를 누를 시 → 근거 조회(UC-PROP-03)로 확장</a:t>
                      </a:r>
                    </a:p>
                  </a:txBody>
                  <a:tcPr marL="137160" marR="137160" marT="50292" marB="5029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5"/>
                  </a:ext>
                </a:extLst>
              </a:tr>
              <a:tr h="1246123">
                <a:tc vMerge="1">
                  <a:txBody>
                    <a:bodyPr/>
                    <a:lstStyle/>
                    <a:p>
                      <a:endParaRPr/>
                    </a:p>
                  </a:txBody>
                  <a:tcPr/>
                </a:tc>
                <a:tc>
                  <a:txBody>
                    <a:bodyPr/>
                    <a:lstStyle/>
                    <a:p>
                      <a:pPr algn="l"/>
                      <a:r>
                        <a:rPr sz="1550" b="1">
                          <a:solidFill>
                            <a:srgbClr val="363A52"/>
                          </a:solidFill>
                          <a:latin typeface="210 OmniGothic 040"/>
                          <a:ea typeface="210 OmniGothic 040"/>
                          <a:cs typeface="210 OmniGothic 040"/>
                        </a:rPr>
                        <a:t>예외 흐름</a:t>
                      </a:r>
                    </a:p>
                  </a:txBody>
                  <a:tcPr marL="137160" marR="137160" marT="60350" marB="60350" anchor="ctr">
                    <a:lnL w="9525">
                      <a:solidFill>
                        <a:srgbClr val="D9DCE5"/>
                      </a:solidFill>
                    </a:lnL>
                    <a:lnR w="9525">
                      <a:solidFill>
                        <a:srgbClr val="D9DCE5"/>
                      </a:solidFill>
                    </a:lnR>
                    <a:lnT w="9525">
                      <a:solidFill>
                        <a:srgbClr val="D9DCE5"/>
                      </a:solidFill>
                    </a:lnT>
                    <a:lnB w="9525">
                      <a:solidFill>
                        <a:srgbClr val="D9DCE5"/>
                      </a:solidFill>
                    </a:lnB>
                    <a:solidFill>
                      <a:srgbClr val="F3F4F8"/>
                    </a:solidFill>
                  </a:tcPr>
                </a:tc>
                <a:tc>
                  <a:txBody>
                    <a:bodyPr/>
                    <a:lstStyle/>
                    <a:p>
                      <a:pPr algn="l">
                        <a:lnSpc>
                          <a:spcPct val="110000"/>
                        </a:lnSpc>
                      </a:pPr>
                      <a:r>
                        <a:rPr sz="1550" b="0">
                          <a:solidFill>
                            <a:srgbClr val="363A52"/>
                          </a:solidFill>
                          <a:latin typeface="210 OmniGothic 040"/>
                          <a:ea typeface="210 OmniGothic 040"/>
                          <a:cs typeface="210 OmniGothic 040"/>
                        </a:rPr>
                        <a:t>E1. 질문과 관련된 매뉴얼 근거를 찾지 못하면 AI 모델이 근거를 찾지 못했다고 답하고 추측으로 답하지 않는다.</a:t>
                      </a:r>
                    </a:p>
                    <a:p>
                      <a:pPr algn="l">
                        <a:lnSpc>
                          <a:spcPct val="110000"/>
                        </a:lnSpc>
                      </a:pPr>
                      <a:r>
                        <a:rPr sz="1550" b="0">
                          <a:solidFill>
                            <a:srgbClr val="363A52"/>
                          </a:solidFill>
                          <a:latin typeface="210 OmniGothic 040"/>
                          <a:ea typeface="210 OmniGothic 040"/>
                          <a:cs typeface="210 OmniGothic 040"/>
                        </a:rPr>
                        <a:t>E2. 입력이 질문이 아니라 상황 변화 보고로 판별되면 시스템이 바로 반영하지 않고 입력 내용을 정정 확인 카드로 넘긴다(UC-QA-02 «extend», 확인 전에는 저장하지 않음).</a:t>
                      </a:r>
                    </a:p>
                  </a:txBody>
                  <a:tcPr marL="137160" marR="137160" marT="50292" marB="5029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6"/>
                  </a:ext>
                </a:extLst>
              </a:tr>
              <a:tr h="407543">
                <a:tc vMerge="1">
                  <a:txBody>
                    <a:bodyPr/>
                    <a:lstStyle/>
                    <a:p>
                      <a:endParaRPr/>
                    </a:p>
                  </a:txBody>
                  <a:tcPr/>
                </a:tc>
                <a:tc>
                  <a:txBody>
                    <a:bodyPr/>
                    <a:lstStyle/>
                    <a:p>
                      <a:pPr algn="l"/>
                      <a:r>
                        <a:rPr sz="1550" b="1">
                          <a:solidFill>
                            <a:srgbClr val="363A52"/>
                          </a:solidFill>
                          <a:latin typeface="210 OmniGothic 040"/>
                          <a:ea typeface="210 OmniGothic 040"/>
                          <a:cs typeface="210 OmniGothic 040"/>
                        </a:rPr>
                        <a:t>종료 조건</a:t>
                      </a:r>
                    </a:p>
                  </a:txBody>
                  <a:tcPr marL="137160" marR="137160" marT="60350" marB="60350" anchor="ctr">
                    <a:lnL w="9525">
                      <a:solidFill>
                        <a:srgbClr val="D9DCE5"/>
                      </a:solidFill>
                    </a:lnL>
                    <a:lnR w="9525">
                      <a:solidFill>
                        <a:srgbClr val="D9DCE5"/>
                      </a:solidFill>
                    </a:lnR>
                    <a:lnT w="9525">
                      <a:solidFill>
                        <a:srgbClr val="D9DCE5"/>
                      </a:solidFill>
                    </a:lnT>
                    <a:lnB w="9525">
                      <a:solidFill>
                        <a:srgbClr val="D9DCE5"/>
                      </a:solidFill>
                    </a:lnB>
                    <a:solidFill>
                      <a:srgbClr val="F3F4F8"/>
                    </a:solidFill>
                  </a:tcPr>
                </a:tc>
                <a:tc>
                  <a:txBody>
                    <a:bodyPr/>
                    <a:lstStyle/>
                    <a:p>
                      <a:pPr algn="l">
                        <a:lnSpc>
                          <a:spcPct val="110000"/>
                        </a:lnSpc>
                      </a:pPr>
                      <a:r>
                        <a:rPr sz="1550" b="0">
                          <a:solidFill>
                            <a:srgbClr val="363A52"/>
                          </a:solidFill>
                          <a:latin typeface="210 OmniGothic 040"/>
                          <a:ea typeface="210 OmniGothic 040"/>
                          <a:cs typeface="210 OmniGothic 040"/>
                        </a:rPr>
                        <a:t>질문과 답이 대화 창에 남는다. 상황·제안은 바뀌지 않는다</a:t>
                      </a:r>
                    </a:p>
                  </a:txBody>
                  <a:tcPr marL="137160" marR="137160" marT="50292" marB="5029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05"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2700" y="-12700"/>
            <a:ext cx="18313400" cy="1638300"/>
          </a:xfrm>
          <a:prstGeom prst="rect">
            <a:avLst/>
          </a:prstGeom>
        </p:spPr>
      </p:pic>
      <p:pic>
        <p:nvPicPr>
          <p:cNvPr id="5106"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628" y="1618343"/>
            <a:ext cx="18313400" cy="8699500"/>
          </a:xfrm>
          <a:prstGeom prst="rect">
            <a:avLst/>
          </a:prstGeom>
        </p:spPr>
      </p:pic>
      <p:pic>
        <p:nvPicPr>
          <p:cNvPr id="5107"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58800" y="9271000"/>
            <a:ext cx="17170400" cy="50800"/>
          </a:xfrm>
          <a:prstGeom prst="rect">
            <a:avLst/>
          </a:prstGeom>
        </p:spPr>
      </p:pic>
      <p:pic>
        <p:nvPicPr>
          <p:cNvPr id="5108" name="Picture 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278100" y="203200"/>
            <a:ext cx="1676400" cy="1409700"/>
          </a:xfrm>
          <a:prstGeom prst="rect">
            <a:avLst/>
          </a:prstGeom>
        </p:spPr>
      </p:pic>
      <p:sp>
        <p:nvSpPr>
          <p:cNvPr id="5109" name="Title"/>
          <p:cNvSpPr txBox="1"/>
          <p:nvPr/>
        </p:nvSpPr>
        <p:spPr>
          <a:xfrm>
            <a:off x="822960" y="384048"/>
            <a:ext cx="13258800" cy="877824"/>
          </a:xfrm>
          <a:prstGeom prst="rect">
            <a:avLst/>
          </a:prstGeom>
          <a:noFill/>
        </p:spPr>
        <p:txBody>
          <a:bodyPr wrap="square" lIns="0" tIns="0" rIns="0" bIns="0" anchor="ctr">
            <a:spAutoFit/>
          </a:bodyPr>
          <a:lstStyle/>
          <a:p>
            <a:pPr algn="l"/>
            <a:r>
              <a:rPr sz="4400" b="0">
                <a:solidFill>
                  <a:srgbClr val="FAA95A"/>
                </a:solidFill>
                <a:latin typeface="210 OmniGothic 050"/>
                <a:ea typeface="210 OmniGothic 050"/>
                <a:cs typeface="210 OmniGothic 050"/>
              </a:rPr>
              <a:t>03. 유스케이스 다이어그램</a:t>
            </a:r>
          </a:p>
        </p:txBody>
      </p:sp>
      <p:sp>
        <p:nvSpPr>
          <p:cNvPr id="5110" name="Subtitle"/>
          <p:cNvSpPr txBox="1"/>
          <p:nvPr/>
        </p:nvSpPr>
        <p:spPr>
          <a:xfrm>
            <a:off x="822960" y="1764792"/>
            <a:ext cx="16642080" cy="502920"/>
          </a:xfrm>
          <a:prstGeom prst="rect">
            <a:avLst/>
          </a:prstGeom>
          <a:noFill/>
        </p:spPr>
        <p:txBody>
          <a:bodyPr wrap="square" lIns="0" tIns="0" rIns="0" bIns="0" anchor="ctr">
            <a:spAutoFit/>
          </a:bodyPr>
          <a:lstStyle/>
          <a:p>
            <a:pPr algn="ctr"/>
            <a:r>
              <a:rPr sz="2600" b="1">
                <a:solidFill>
                  <a:srgbClr val="363A52"/>
                </a:solidFill>
                <a:latin typeface="210 OmniGothic 040"/>
                <a:ea typeface="210 OmniGothic 040"/>
                <a:cs typeface="210 OmniGothic 040"/>
              </a:rPr>
              <a:t>4. 시나리오 – AI 상황 정정 요청</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sz="quarter" idx="12"/>
          </p:nvPr>
        </p:nvSpPr>
        <p:spPr/>
        <p:txBody>
          <a:bodyPr/>
          <a:lstStyle/>
          <a:p>
            <a:fld id="{B6F15528-21DE-4FAA-801E-634DDDAF4B2B}" type="slidenum">
              <a:rPr lang="en-US" smtClean="0"/>
              <a:pPr/>
              <a:t>30</a:t>
            </a:fld>
            <a:endParaRPr lang="en-US"/>
          </a:p>
        </p:txBody>
      </p:sp>
      <p:graphicFrame>
        <p:nvGraphicFramePr>
          <p:cNvPr id="5111" name="Table 5110"/>
          <p:cNvGraphicFramePr>
            <a:graphicFrameLocks noGrp="1"/>
          </p:cNvGraphicFramePr>
          <p:nvPr/>
        </p:nvGraphicFramePr>
        <p:xfrm>
          <a:off x="1337310" y="2395728"/>
          <a:ext cx="15430500" cy="5893308"/>
        </p:xfrm>
        <a:graphic>
          <a:graphicData uri="http://schemas.openxmlformats.org/drawingml/2006/table">
            <a:tbl>
              <a:tblPr>
                <a:tableStyleId>{2D5ABB26-0587-4C30-8999-92F81FD0307C}</a:tableStyleId>
              </a:tblPr>
              <a:tblGrid>
                <a:gridCol w="1943100">
                  <a:extLst>
                    <a:ext uri="{9D8B030D-6E8A-4147-A177-3AD203B41FA5}">
                      <a16:colId xmlns:a16="http://schemas.microsoft.com/office/drawing/2014/main" val="20000"/>
                    </a:ext>
                  </a:extLst>
                </a:gridCol>
                <a:gridCol w="1657350">
                  <a:extLst>
                    <a:ext uri="{9D8B030D-6E8A-4147-A177-3AD203B41FA5}">
                      <a16:colId xmlns:a16="http://schemas.microsoft.com/office/drawing/2014/main" val="20001"/>
                    </a:ext>
                  </a:extLst>
                </a:gridCol>
                <a:gridCol w="11830050">
                  <a:extLst>
                    <a:ext uri="{9D8B030D-6E8A-4147-A177-3AD203B41FA5}">
                      <a16:colId xmlns:a16="http://schemas.microsoft.com/office/drawing/2014/main" val="20002"/>
                    </a:ext>
                  </a:extLst>
                </a:gridCol>
              </a:tblGrid>
              <a:tr h="371475">
                <a:tc rowSpan="8">
                  <a:txBody>
                    <a:bodyPr/>
                    <a:lstStyle/>
                    <a:p>
                      <a:pPr algn="ctr"/>
                      <a:r>
                        <a:rPr sz="1350" b="1">
                          <a:solidFill>
                            <a:srgbClr val="FFFFFF"/>
                          </a:solidFill>
                          <a:latin typeface="210 OmniGothic 040"/>
                          <a:ea typeface="210 OmniGothic 040"/>
                          <a:cs typeface="210 OmniGothic 040"/>
                        </a:rPr>
                        <a:t>UC-QA-02</a:t>
                      </a:r>
                    </a:p>
                  </a:txBody>
                  <a:tcPr marT="40233" marB="40233" anchor="ctr">
                    <a:lnL w="9525">
                      <a:solidFill>
                        <a:srgbClr val="FFFFFF"/>
                      </a:solidFill>
                    </a:lnL>
                    <a:lnR w="9525">
                      <a:solidFill>
                        <a:srgbClr val="FFFFFF"/>
                      </a:solidFill>
                    </a:lnR>
                    <a:lnT w="9525">
                      <a:solidFill>
                        <a:srgbClr val="FFFFFF"/>
                      </a:solidFill>
                    </a:lnT>
                    <a:lnB w="9525">
                      <a:solidFill>
                        <a:srgbClr val="FFFFFF"/>
                      </a:solidFill>
                    </a:lnB>
                    <a:solidFill>
                      <a:srgbClr val="FAA95A"/>
                    </a:solidFill>
                  </a:tcPr>
                </a:tc>
                <a:tc gridSpan="2">
                  <a:txBody>
                    <a:bodyPr/>
                    <a:lstStyle/>
                    <a:p>
                      <a:pPr algn="ctr"/>
                      <a:r>
                        <a:rPr sz="1350" b="1">
                          <a:solidFill>
                            <a:srgbClr val="FFFFFF"/>
                          </a:solidFill>
                          <a:latin typeface="210 OmniGothic 040"/>
                          <a:ea typeface="210 OmniGothic 040"/>
                          <a:cs typeface="210 OmniGothic 040"/>
                        </a:rPr>
                        <a:t>AI 상황 정정 요청</a:t>
                      </a:r>
                    </a:p>
                  </a:txBody>
                  <a:tcPr marT="40233" marB="40233" anchor="ctr">
                    <a:lnL w="9525">
                      <a:solidFill>
                        <a:srgbClr val="FFFFFF"/>
                      </a:solidFill>
                    </a:lnL>
                    <a:lnR w="9525">
                      <a:solidFill>
                        <a:srgbClr val="FFFFFF"/>
                      </a:solidFill>
                    </a:lnR>
                    <a:lnT w="9525">
                      <a:solidFill>
                        <a:srgbClr val="FFFFFF"/>
                      </a:solidFill>
                    </a:lnT>
                    <a:lnB w="9525">
                      <a:solidFill>
                        <a:srgbClr val="FFFFFF"/>
                      </a:solidFill>
                    </a:lnB>
                    <a:solidFill>
                      <a:srgbClr val="363A52"/>
                    </a:solidFill>
                  </a:tcPr>
                </a:tc>
                <a:tc hMerge="1">
                  <a:txBody>
                    <a:bodyPr/>
                    <a:lstStyle/>
                    <a:p>
                      <a:endParaRPr/>
                    </a:p>
                  </a:txBody>
                  <a:tcPr/>
                </a:tc>
                <a:extLst>
                  <a:ext uri="{0D108BD9-81ED-4DB2-BD59-A6C34878D82A}">
                    <a16:rowId xmlns:a16="http://schemas.microsoft.com/office/drawing/2014/main" val="10000"/>
                  </a:ext>
                </a:extLst>
              </a:tr>
              <a:tr h="614934">
                <a:tc vMerge="1">
                  <a:txBody>
                    <a:bodyPr/>
                    <a:lstStyle/>
                    <a:p>
                      <a:endParaRPr/>
                    </a:p>
                  </a:txBody>
                  <a:tcPr/>
                </a:tc>
                <a:tc>
                  <a:txBody>
                    <a:bodyPr/>
                    <a:lstStyle/>
                    <a:p>
                      <a:pPr algn="l"/>
                      <a:r>
                        <a:rPr sz="1350" b="1">
                          <a:solidFill>
                            <a:srgbClr val="363A52"/>
                          </a:solidFill>
                          <a:latin typeface="210 OmniGothic 040"/>
                          <a:ea typeface="210 OmniGothic 040"/>
                          <a:cs typeface="210 OmniGothic 040"/>
                        </a:rPr>
                        <a:t>개요</a:t>
                      </a:r>
                    </a:p>
                  </a:txBody>
                  <a:tcPr marL="137160" marR="137160" marT="60350" marB="60350" anchor="ctr">
                    <a:lnL w="9525">
                      <a:solidFill>
                        <a:srgbClr val="D9DCE5"/>
                      </a:solidFill>
                    </a:lnL>
                    <a:lnR w="9525">
                      <a:solidFill>
                        <a:srgbClr val="D9DCE5"/>
                      </a:solidFill>
                    </a:lnR>
                    <a:lnT w="9525" cap="flat" cmpd="sng" algn="ctr">
                      <a:solidFill>
                        <a:srgbClr val="FFFFFF"/>
                      </a:solidFill>
                      <a:prstDash val="solid"/>
                      <a:round/>
                      <a:headEnd type="none" w="med" len="med"/>
                      <a:tailEnd type="none" w="med" len="med"/>
                    </a:lnT>
                    <a:lnB w="9525">
                      <a:solidFill>
                        <a:srgbClr val="D9DCE5"/>
                      </a:solidFill>
                    </a:lnB>
                    <a:solidFill>
                      <a:srgbClr val="F3F4F8"/>
                    </a:solidFill>
                  </a:tcPr>
                </a:tc>
                <a:tc>
                  <a:txBody>
                    <a:bodyPr/>
                    <a:lstStyle/>
                    <a:p>
                      <a:pPr algn="l">
                        <a:lnSpc>
                          <a:spcPct val="110000"/>
                        </a:lnSpc>
                      </a:pPr>
                      <a:r>
                        <a:rPr sz="1350" b="0">
                          <a:solidFill>
                            <a:srgbClr val="363A52"/>
                          </a:solidFill>
                          <a:latin typeface="210 OmniGothic 040"/>
                          <a:ea typeface="210 OmniGothic 040"/>
                          <a:cs typeface="210 OmniGothic 040"/>
                        </a:rPr>
                        <a:t>통합지휘권자가 현장에서 바뀐 사실(대피 완료·자원 투입 등)을 AI 어시스턴트에 말로 입력하면, 시스템이 변경안을 확인받아 저장하고, 예측은 그대로 둔 채 대응 제안만 다시 만들어 달라진 항목을 보여준다.</a:t>
                      </a:r>
                    </a:p>
                  </a:txBody>
                  <a:tcPr marL="137160" marR="137160" marT="50292" marB="5029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1"/>
                  </a:ext>
                </a:extLst>
              </a:tr>
              <a:tr h="371475">
                <a:tc vMerge="1">
                  <a:txBody>
                    <a:bodyPr/>
                    <a:lstStyle/>
                    <a:p>
                      <a:endParaRPr/>
                    </a:p>
                  </a:txBody>
                  <a:tcPr/>
                </a:tc>
                <a:tc>
                  <a:txBody>
                    <a:bodyPr/>
                    <a:lstStyle/>
                    <a:p>
                      <a:pPr algn="l"/>
                      <a:r>
                        <a:rPr sz="1350" b="1">
                          <a:solidFill>
                            <a:srgbClr val="363A52"/>
                          </a:solidFill>
                          <a:latin typeface="210 OmniGothic 040"/>
                          <a:ea typeface="210 OmniGothic 040"/>
                          <a:cs typeface="210 OmniGothic 040"/>
                        </a:rPr>
                        <a:t>액터</a:t>
                      </a:r>
                    </a:p>
                  </a:txBody>
                  <a:tcPr marL="137160" marR="137160" marT="60350" marB="60350" anchor="ctr">
                    <a:lnL w="9525">
                      <a:solidFill>
                        <a:srgbClr val="D9DCE5"/>
                      </a:solidFill>
                    </a:lnL>
                    <a:lnR w="9525">
                      <a:solidFill>
                        <a:srgbClr val="D9DCE5"/>
                      </a:solidFill>
                    </a:lnR>
                    <a:lnT w="9525">
                      <a:solidFill>
                        <a:srgbClr val="D9DCE5"/>
                      </a:solidFill>
                    </a:lnT>
                    <a:lnB w="9525">
                      <a:solidFill>
                        <a:srgbClr val="D9DCE5"/>
                      </a:solidFill>
                    </a:lnB>
                    <a:solidFill>
                      <a:srgbClr val="F3F4F8"/>
                    </a:solidFill>
                  </a:tcPr>
                </a:tc>
                <a:tc>
                  <a:txBody>
                    <a:bodyPr/>
                    <a:lstStyle/>
                    <a:p>
                      <a:pPr algn="l">
                        <a:lnSpc>
                          <a:spcPct val="110000"/>
                        </a:lnSpc>
                      </a:pPr>
                      <a:r>
                        <a:rPr sz="1350" b="0">
                          <a:solidFill>
                            <a:srgbClr val="363A52"/>
                          </a:solidFill>
                          <a:latin typeface="210 OmniGothic 040"/>
                          <a:ea typeface="210 OmniGothic 040"/>
                          <a:cs typeface="210 OmniGothic 040"/>
                        </a:rPr>
                        <a:t>통합지휘권자 / AI 모델</a:t>
                      </a:r>
                    </a:p>
                  </a:txBody>
                  <a:tcPr marL="137160" marR="137160" marT="50292" marB="5029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2"/>
                  </a:ext>
                </a:extLst>
              </a:tr>
              <a:tr h="371475">
                <a:tc vMerge="1">
                  <a:txBody>
                    <a:bodyPr/>
                    <a:lstStyle/>
                    <a:p>
                      <a:endParaRPr/>
                    </a:p>
                  </a:txBody>
                  <a:tcPr/>
                </a:tc>
                <a:tc>
                  <a:txBody>
                    <a:bodyPr/>
                    <a:lstStyle/>
                    <a:p>
                      <a:pPr algn="l"/>
                      <a:r>
                        <a:rPr sz="1350" b="1">
                          <a:solidFill>
                            <a:srgbClr val="363A52"/>
                          </a:solidFill>
                          <a:latin typeface="210 OmniGothic 040"/>
                          <a:ea typeface="210 OmniGothic 040"/>
                          <a:cs typeface="210 OmniGothic 040"/>
                        </a:rPr>
                        <a:t>시작 조건</a:t>
                      </a:r>
                    </a:p>
                  </a:txBody>
                  <a:tcPr marL="137160" marR="137160" marT="60350" marB="60350" anchor="ctr">
                    <a:lnL w="9525">
                      <a:solidFill>
                        <a:srgbClr val="D9DCE5"/>
                      </a:solidFill>
                    </a:lnL>
                    <a:lnR w="9525">
                      <a:solidFill>
                        <a:srgbClr val="D9DCE5"/>
                      </a:solidFill>
                    </a:lnR>
                    <a:lnT w="9525">
                      <a:solidFill>
                        <a:srgbClr val="D9DCE5"/>
                      </a:solidFill>
                    </a:lnT>
                    <a:lnB w="9525">
                      <a:solidFill>
                        <a:srgbClr val="D9DCE5"/>
                      </a:solidFill>
                    </a:lnB>
                    <a:solidFill>
                      <a:srgbClr val="F3F4F8"/>
                    </a:solidFill>
                  </a:tcPr>
                </a:tc>
                <a:tc>
                  <a:txBody>
                    <a:bodyPr/>
                    <a:lstStyle/>
                    <a:p>
                      <a:pPr algn="l">
                        <a:lnSpc>
                          <a:spcPct val="110000"/>
                        </a:lnSpc>
                      </a:pPr>
                      <a:r>
                        <a:rPr sz="1350" b="0">
                          <a:solidFill>
                            <a:srgbClr val="363A52"/>
                          </a:solidFill>
                          <a:latin typeface="210 OmniGothic 040"/>
                          <a:ea typeface="210 OmniGothic 040"/>
                          <a:cs typeface="210 OmniGothic 040"/>
                        </a:rPr>
                        <a:t>통합지휘권자로 로그인, 대응 제안서 버전이 1개 이상 있음</a:t>
                      </a:r>
                    </a:p>
                  </a:txBody>
                  <a:tcPr marL="137160" marR="137160" marT="50292" marB="5029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3"/>
                  </a:ext>
                </a:extLst>
              </a:tr>
              <a:tr h="2562606">
                <a:tc vMerge="1">
                  <a:txBody>
                    <a:bodyPr/>
                    <a:lstStyle/>
                    <a:p>
                      <a:endParaRPr/>
                    </a:p>
                  </a:txBody>
                  <a:tcPr/>
                </a:tc>
                <a:tc>
                  <a:txBody>
                    <a:bodyPr/>
                    <a:lstStyle/>
                    <a:p>
                      <a:pPr algn="l"/>
                      <a:r>
                        <a:rPr sz="1350" b="1">
                          <a:solidFill>
                            <a:srgbClr val="363A52"/>
                          </a:solidFill>
                          <a:latin typeface="210 OmniGothic 040"/>
                          <a:ea typeface="210 OmniGothic 040"/>
                          <a:cs typeface="210 OmniGothic 040"/>
                        </a:rPr>
                        <a:t>기본 흐름</a:t>
                      </a:r>
                    </a:p>
                  </a:txBody>
                  <a:tcPr marL="137160" marR="137160" marT="60350" marB="60350" anchor="ctr">
                    <a:lnL w="9525">
                      <a:solidFill>
                        <a:srgbClr val="D9DCE5"/>
                      </a:solidFill>
                    </a:lnL>
                    <a:lnR w="9525">
                      <a:solidFill>
                        <a:srgbClr val="D9DCE5"/>
                      </a:solidFill>
                    </a:lnR>
                    <a:lnT w="9525">
                      <a:solidFill>
                        <a:srgbClr val="D9DCE5"/>
                      </a:solidFill>
                    </a:lnT>
                    <a:lnB w="9525">
                      <a:solidFill>
                        <a:srgbClr val="D9DCE5"/>
                      </a:solidFill>
                    </a:lnB>
                    <a:solidFill>
                      <a:srgbClr val="F3F4F8"/>
                    </a:solidFill>
                  </a:tcPr>
                </a:tc>
                <a:tc>
                  <a:txBody>
                    <a:bodyPr/>
                    <a:lstStyle/>
                    <a:p>
                      <a:pPr algn="l">
                        <a:lnSpc>
                          <a:spcPct val="110000"/>
                        </a:lnSpc>
                      </a:pPr>
                      <a:r>
                        <a:rPr sz="1350" b="0">
                          <a:solidFill>
                            <a:srgbClr val="363A52"/>
                          </a:solidFill>
                          <a:latin typeface="210 OmniGothic 040"/>
                          <a:ea typeface="210 OmniGothic 040"/>
                          <a:cs typeface="210 OmniGothic 040"/>
                        </a:rPr>
                        <a:t>1. 통합지휘권자가 AI 어시스턴트의 「상황 정정」에서 상황 변화를 입력한다 — 예: "○○리 대피 완료".</a:t>
                      </a:r>
                    </a:p>
                    <a:p>
                      <a:pPr algn="l">
                        <a:lnSpc>
                          <a:spcPct val="110000"/>
                        </a:lnSpc>
                      </a:pPr>
                      <a:r>
                        <a:rPr sz="1350" b="0">
                          <a:solidFill>
                            <a:srgbClr val="363A52"/>
                          </a:solidFill>
                          <a:latin typeface="210 OmniGothic 040"/>
                          <a:ea typeface="210 OmniGothic 040"/>
                          <a:cs typeface="210 OmniGothic 040"/>
                        </a:rPr>
                        <a:t>2. AI 모델이 입력을 해석해 변경안(대상: ○○리 / 항목: 대피 상태 / 이전: 대피 중 → 이후: 대피 완료)으로 정리한다.</a:t>
                      </a:r>
                    </a:p>
                    <a:p>
                      <a:pPr algn="l">
                        <a:lnSpc>
                          <a:spcPct val="110000"/>
                        </a:lnSpc>
                      </a:pPr>
                      <a:r>
                        <a:rPr sz="1350" b="0">
                          <a:solidFill>
                            <a:srgbClr val="363A52"/>
                          </a:solidFill>
                          <a:latin typeface="210 OmniGothic 040"/>
                          <a:ea typeface="210 OmniGothic 040"/>
                          <a:cs typeface="210 OmniGothic 040"/>
                        </a:rPr>
                        <a:t>3. 시스템이 변경안을 확인 카드로 보여준다.</a:t>
                      </a:r>
                    </a:p>
                    <a:p>
                      <a:pPr algn="l">
                        <a:lnSpc>
                          <a:spcPct val="110000"/>
                        </a:lnSpc>
                      </a:pPr>
                      <a:r>
                        <a:rPr sz="1350" b="0">
                          <a:solidFill>
                            <a:srgbClr val="363A52"/>
                          </a:solidFill>
                          <a:latin typeface="210 OmniGothic 040"/>
                          <a:ea typeface="210 OmniGothic 040"/>
                          <a:cs typeface="210 OmniGothic 040"/>
                        </a:rPr>
                        <a:t>4. 통합지휘권자가 「확인」을 누르면 시스템이 바뀐 상황 값을 저장하고 이벤트 로그에 "상황 정정: ○○리 대피 완료"를 기록한다.</a:t>
                      </a:r>
                    </a:p>
                    <a:p>
                      <a:pPr algn="l">
                        <a:lnSpc>
                          <a:spcPct val="110000"/>
                        </a:lnSpc>
                      </a:pPr>
                      <a:r>
                        <a:rPr sz="1350" b="0">
                          <a:solidFill>
                            <a:srgbClr val="363A52"/>
                          </a:solidFill>
                          <a:latin typeface="210 OmniGothic 040"/>
                          <a:ea typeface="210 OmniGothic 040"/>
                          <a:cs typeface="210 OmniGothic 040"/>
                        </a:rPr>
                        <a:t>5. 시스템이 기존 예측(P1~P8)은 그대로 두고, 규칙 엔진이 정정 값을 반영해 판정 값을 다시 계산하며, 시스템이 그 판정 값과 상황 데이터를 AI 모델에 다시 넘기고, AI 모델이 판단·제안 문장을 다시 써서 새 버전을 저장한다.</a:t>
                      </a:r>
                    </a:p>
                    <a:p>
                      <a:pPr algn="l">
                        <a:lnSpc>
                          <a:spcPct val="110000"/>
                        </a:lnSpc>
                      </a:pPr>
                      <a:r>
                        <a:rPr sz="1350" b="0">
                          <a:solidFill>
                            <a:srgbClr val="363A52"/>
                          </a:solidFill>
                          <a:latin typeface="210 OmniGothic 040"/>
                          <a:ea typeface="210 OmniGothic 040"/>
                          <a:cs typeface="210 OmniGothic 040"/>
                        </a:rPr>
                        <a:t>6. 시스템이 대화 창에 "제안서 버전 n 생성"을 알리고, 대응 제안 화면에서 달라진 항목(예: E2 대피 대상에서 ○○리 제외)에 '변경' 태그를 붙인다.</a:t>
                      </a:r>
                    </a:p>
                  </a:txBody>
                  <a:tcPr marL="137160" marR="137160" marT="50292" marB="5029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4"/>
                  </a:ext>
                </a:extLst>
              </a:tr>
              <a:tr h="371475">
                <a:tc vMerge="1">
                  <a:txBody>
                    <a:bodyPr/>
                    <a:lstStyle/>
                    <a:p>
                      <a:endParaRPr/>
                    </a:p>
                  </a:txBody>
                  <a:tcPr/>
                </a:tc>
                <a:tc>
                  <a:txBody>
                    <a:bodyPr/>
                    <a:lstStyle/>
                    <a:p>
                      <a:pPr algn="l"/>
                      <a:r>
                        <a:rPr sz="1350" b="1">
                          <a:solidFill>
                            <a:srgbClr val="363A52"/>
                          </a:solidFill>
                          <a:latin typeface="210 OmniGothic 040"/>
                          <a:ea typeface="210 OmniGothic 040"/>
                          <a:cs typeface="210 OmniGothic 040"/>
                        </a:rPr>
                        <a:t>대안 흐름</a:t>
                      </a:r>
                    </a:p>
                  </a:txBody>
                  <a:tcPr marL="137160" marR="137160" marT="60350" marB="60350" anchor="ctr">
                    <a:lnL w="9525">
                      <a:solidFill>
                        <a:srgbClr val="D9DCE5"/>
                      </a:solidFill>
                    </a:lnL>
                    <a:lnR w="9525">
                      <a:solidFill>
                        <a:srgbClr val="D9DCE5"/>
                      </a:solidFill>
                    </a:lnR>
                    <a:lnT w="9525">
                      <a:solidFill>
                        <a:srgbClr val="D9DCE5"/>
                      </a:solidFill>
                    </a:lnT>
                    <a:lnB w="9525">
                      <a:solidFill>
                        <a:srgbClr val="D9DCE5"/>
                      </a:solidFill>
                    </a:lnB>
                    <a:solidFill>
                      <a:srgbClr val="F3F4F8"/>
                    </a:solidFill>
                  </a:tcPr>
                </a:tc>
                <a:tc>
                  <a:txBody>
                    <a:bodyPr/>
                    <a:lstStyle/>
                    <a:p>
                      <a:pPr algn="l">
                        <a:lnSpc>
                          <a:spcPct val="110000"/>
                        </a:lnSpc>
                      </a:pPr>
                      <a:r>
                        <a:rPr sz="1350" b="0">
                          <a:solidFill>
                            <a:srgbClr val="363A52"/>
                          </a:solidFill>
                          <a:latin typeface="210 OmniGothic 040"/>
                          <a:ea typeface="210 OmniGothic 040"/>
                          <a:cs typeface="210 OmniGothic 040"/>
                        </a:rPr>
                        <a:t>A1. 「취소」를 누를 시 → 아무것도 저장하지 않음</a:t>
                      </a:r>
                    </a:p>
                  </a:txBody>
                  <a:tcPr marL="137160" marR="137160" marT="50292" marB="5029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5"/>
                  </a:ext>
                </a:extLst>
              </a:tr>
              <a:tr h="858393">
                <a:tc vMerge="1">
                  <a:txBody>
                    <a:bodyPr/>
                    <a:lstStyle/>
                    <a:p>
                      <a:endParaRPr/>
                    </a:p>
                  </a:txBody>
                  <a:tcPr/>
                </a:tc>
                <a:tc>
                  <a:txBody>
                    <a:bodyPr/>
                    <a:lstStyle/>
                    <a:p>
                      <a:pPr algn="l"/>
                      <a:r>
                        <a:rPr sz="1350" b="1">
                          <a:solidFill>
                            <a:srgbClr val="363A52"/>
                          </a:solidFill>
                          <a:latin typeface="210 OmniGothic 040"/>
                          <a:ea typeface="210 OmniGothic 040"/>
                          <a:cs typeface="210 OmniGothic 040"/>
                        </a:rPr>
                        <a:t>예외 흐름</a:t>
                      </a:r>
                    </a:p>
                  </a:txBody>
                  <a:tcPr marL="137160" marR="137160" marT="60350" marB="60350" anchor="ctr">
                    <a:lnL w="9525">
                      <a:solidFill>
                        <a:srgbClr val="D9DCE5"/>
                      </a:solidFill>
                    </a:lnL>
                    <a:lnR w="9525">
                      <a:solidFill>
                        <a:srgbClr val="D9DCE5"/>
                      </a:solidFill>
                    </a:lnR>
                    <a:lnT w="9525">
                      <a:solidFill>
                        <a:srgbClr val="D9DCE5"/>
                      </a:solidFill>
                    </a:lnT>
                    <a:lnB w="9525">
                      <a:solidFill>
                        <a:srgbClr val="D9DCE5"/>
                      </a:solidFill>
                    </a:lnB>
                    <a:solidFill>
                      <a:srgbClr val="F3F4F8"/>
                    </a:solidFill>
                  </a:tcPr>
                </a:tc>
                <a:tc>
                  <a:txBody>
                    <a:bodyPr/>
                    <a:lstStyle/>
                    <a:p>
                      <a:pPr algn="l">
                        <a:lnSpc>
                          <a:spcPct val="110000"/>
                        </a:lnSpc>
                      </a:pPr>
                      <a:r>
                        <a:rPr sz="1350" b="0">
                          <a:solidFill>
                            <a:srgbClr val="363A52"/>
                          </a:solidFill>
                          <a:latin typeface="210 OmniGothic 040"/>
                          <a:ea typeface="210 OmniGothic 040"/>
                          <a:cs typeface="210 OmniGothic 040"/>
                        </a:rPr>
                        <a:t>E1. 입력한 대상(마을명 등)이 데이터에 없거나 해석할 수 없으면 시스템이 대상을 다시 입력해 달라고 안내한다.</a:t>
                      </a:r>
                    </a:p>
                    <a:p>
                      <a:pPr algn="l">
                        <a:lnSpc>
                          <a:spcPct val="110000"/>
                        </a:lnSpc>
                      </a:pPr>
                      <a:r>
                        <a:rPr sz="1350" b="0">
                          <a:solidFill>
                            <a:srgbClr val="363A52"/>
                          </a:solidFill>
                          <a:latin typeface="210 OmniGothic 040"/>
                          <a:ea typeface="210 OmniGothic 040"/>
                          <a:cs typeface="210 OmniGothic 040"/>
                        </a:rPr>
                        <a:t>E2. 제안 재생성에 실패하면 시스템이 저장된 상황 값은 유지하고 직전 버전을 그대로 보여주며 실패를 안내한다.</a:t>
                      </a:r>
                    </a:p>
                    <a:p>
                      <a:pPr algn="l">
                        <a:lnSpc>
                          <a:spcPct val="110000"/>
                        </a:lnSpc>
                      </a:pPr>
                      <a:r>
                        <a:rPr sz="1350" b="0">
                          <a:solidFill>
                            <a:srgbClr val="363A52"/>
                          </a:solidFill>
                          <a:latin typeface="210 OmniGothic 040"/>
                          <a:ea typeface="210 OmniGothic 040"/>
                          <a:cs typeface="210 OmniGothic 040"/>
                        </a:rPr>
                        <a:t>E3. 입력한 값이 가용 범위를 넘으면(예: 보유 수량보다 많은 투입) 시스템이 "가용 범위 초과, 기록 불가"로 거부하고 아무것도 저장하지 않는다.</a:t>
                      </a:r>
                    </a:p>
                  </a:txBody>
                  <a:tcPr marL="137160" marR="137160" marT="50292" marB="5029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6"/>
                  </a:ext>
                </a:extLst>
              </a:tr>
              <a:tr h="371475">
                <a:tc vMerge="1">
                  <a:txBody>
                    <a:bodyPr/>
                    <a:lstStyle/>
                    <a:p>
                      <a:endParaRPr/>
                    </a:p>
                  </a:txBody>
                  <a:tcPr/>
                </a:tc>
                <a:tc>
                  <a:txBody>
                    <a:bodyPr/>
                    <a:lstStyle/>
                    <a:p>
                      <a:pPr algn="l"/>
                      <a:r>
                        <a:rPr sz="1350" b="1">
                          <a:solidFill>
                            <a:srgbClr val="363A52"/>
                          </a:solidFill>
                          <a:latin typeface="210 OmniGothic 040"/>
                          <a:ea typeface="210 OmniGothic 040"/>
                          <a:cs typeface="210 OmniGothic 040"/>
                        </a:rPr>
                        <a:t>종료 조건</a:t>
                      </a:r>
                    </a:p>
                  </a:txBody>
                  <a:tcPr marL="137160" marR="137160" marT="60350" marB="60350" anchor="ctr">
                    <a:lnL w="9525">
                      <a:solidFill>
                        <a:srgbClr val="D9DCE5"/>
                      </a:solidFill>
                    </a:lnL>
                    <a:lnR w="9525">
                      <a:solidFill>
                        <a:srgbClr val="D9DCE5"/>
                      </a:solidFill>
                    </a:lnR>
                    <a:lnT w="9525">
                      <a:solidFill>
                        <a:srgbClr val="D9DCE5"/>
                      </a:solidFill>
                    </a:lnT>
                    <a:lnB w="9525">
                      <a:solidFill>
                        <a:srgbClr val="D9DCE5"/>
                      </a:solidFill>
                    </a:lnB>
                    <a:solidFill>
                      <a:srgbClr val="F3F4F8"/>
                    </a:solidFill>
                  </a:tcPr>
                </a:tc>
                <a:tc>
                  <a:txBody>
                    <a:bodyPr/>
                    <a:lstStyle/>
                    <a:p>
                      <a:pPr algn="l">
                        <a:lnSpc>
                          <a:spcPct val="110000"/>
                        </a:lnSpc>
                      </a:pPr>
                      <a:r>
                        <a:rPr sz="1350" b="0">
                          <a:solidFill>
                            <a:srgbClr val="363A52"/>
                          </a:solidFill>
                          <a:latin typeface="210 OmniGothic 040"/>
                          <a:ea typeface="210 OmniGothic 040"/>
                          <a:cs typeface="210 OmniGothic 040"/>
                        </a:rPr>
                        <a:t>정정된 상황 값과 새 버전의 대응 제안서가 저장된다. 예측 폴리곤은 바뀌지 않는다</a:t>
                      </a:r>
                    </a:p>
                  </a:txBody>
                  <a:tcPr marL="137160" marR="137160" marT="50292" marB="5029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05"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2700" y="-12700"/>
            <a:ext cx="18313400" cy="1638300"/>
          </a:xfrm>
          <a:prstGeom prst="rect">
            <a:avLst/>
          </a:prstGeom>
        </p:spPr>
      </p:pic>
      <p:pic>
        <p:nvPicPr>
          <p:cNvPr id="5106"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628" y="1618343"/>
            <a:ext cx="18313400" cy="8699500"/>
          </a:xfrm>
          <a:prstGeom prst="rect">
            <a:avLst/>
          </a:prstGeom>
        </p:spPr>
      </p:pic>
      <p:pic>
        <p:nvPicPr>
          <p:cNvPr id="5107"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58800" y="9271000"/>
            <a:ext cx="17170400" cy="50800"/>
          </a:xfrm>
          <a:prstGeom prst="rect">
            <a:avLst/>
          </a:prstGeom>
        </p:spPr>
      </p:pic>
      <p:pic>
        <p:nvPicPr>
          <p:cNvPr id="5108" name="Picture 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278100" y="203200"/>
            <a:ext cx="1676400" cy="1409700"/>
          </a:xfrm>
          <a:prstGeom prst="rect">
            <a:avLst/>
          </a:prstGeom>
        </p:spPr>
      </p:pic>
      <p:sp>
        <p:nvSpPr>
          <p:cNvPr id="5109" name="Title"/>
          <p:cNvSpPr txBox="1"/>
          <p:nvPr/>
        </p:nvSpPr>
        <p:spPr>
          <a:xfrm>
            <a:off x="822960" y="384048"/>
            <a:ext cx="13258800" cy="877824"/>
          </a:xfrm>
          <a:prstGeom prst="rect">
            <a:avLst/>
          </a:prstGeom>
          <a:noFill/>
        </p:spPr>
        <p:txBody>
          <a:bodyPr wrap="square" lIns="0" tIns="0" rIns="0" bIns="0" anchor="ctr">
            <a:spAutoFit/>
          </a:bodyPr>
          <a:lstStyle/>
          <a:p>
            <a:pPr algn="l"/>
            <a:r>
              <a:rPr sz="4400" b="0">
                <a:solidFill>
                  <a:srgbClr val="FAA95A"/>
                </a:solidFill>
                <a:latin typeface="210 OmniGothic 050"/>
                <a:ea typeface="210 OmniGothic 050"/>
                <a:cs typeface="210 OmniGothic 050"/>
              </a:rPr>
              <a:t>03. 유스케이스 다이어그램</a:t>
            </a:r>
          </a:p>
        </p:txBody>
      </p:sp>
      <p:sp>
        <p:nvSpPr>
          <p:cNvPr id="5110" name="Subtitle"/>
          <p:cNvSpPr txBox="1"/>
          <p:nvPr/>
        </p:nvSpPr>
        <p:spPr>
          <a:xfrm>
            <a:off x="822960" y="1764792"/>
            <a:ext cx="16642080" cy="502920"/>
          </a:xfrm>
          <a:prstGeom prst="rect">
            <a:avLst/>
          </a:prstGeom>
          <a:noFill/>
        </p:spPr>
        <p:txBody>
          <a:bodyPr wrap="square" lIns="0" tIns="0" rIns="0" bIns="0" anchor="ctr">
            <a:spAutoFit/>
          </a:bodyPr>
          <a:lstStyle/>
          <a:p>
            <a:pPr algn="ctr"/>
            <a:r>
              <a:rPr sz="2600" b="1">
                <a:solidFill>
                  <a:srgbClr val="363A52"/>
                </a:solidFill>
                <a:latin typeface="210 OmniGothic 040"/>
                <a:ea typeface="210 OmniGothic 040"/>
                <a:cs typeface="210 OmniGothic 040"/>
              </a:rPr>
              <a:t>4. 시나리오 – 제안 이력·변경사항 조회</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sz="quarter" idx="12"/>
          </p:nvPr>
        </p:nvSpPr>
        <p:spPr/>
        <p:txBody>
          <a:bodyPr/>
          <a:lstStyle/>
          <a:p>
            <a:fld id="{B6F15528-21DE-4FAA-801E-634DDDAF4B2B}" type="slidenum">
              <a:rPr lang="en-US" smtClean="0"/>
              <a:pPr/>
              <a:t>31</a:t>
            </a:fld>
            <a:endParaRPr lang="en-US"/>
          </a:p>
        </p:txBody>
      </p:sp>
      <p:graphicFrame>
        <p:nvGraphicFramePr>
          <p:cNvPr id="5111" name="Table 5110"/>
          <p:cNvGraphicFramePr>
            <a:graphicFrameLocks noGrp="1"/>
          </p:cNvGraphicFramePr>
          <p:nvPr/>
        </p:nvGraphicFramePr>
        <p:xfrm>
          <a:off x="1337310" y="2395728"/>
          <a:ext cx="15430500" cy="5311648"/>
        </p:xfrm>
        <a:graphic>
          <a:graphicData uri="http://schemas.openxmlformats.org/drawingml/2006/table">
            <a:tbl>
              <a:tblPr>
                <a:tableStyleId>{2D5ABB26-0587-4C30-8999-92F81FD0307C}</a:tableStyleId>
              </a:tblPr>
              <a:tblGrid>
                <a:gridCol w="1943100">
                  <a:extLst>
                    <a:ext uri="{9D8B030D-6E8A-4147-A177-3AD203B41FA5}">
                      <a16:colId xmlns:a16="http://schemas.microsoft.com/office/drawing/2014/main" val="20000"/>
                    </a:ext>
                  </a:extLst>
                </a:gridCol>
                <a:gridCol w="1657350">
                  <a:extLst>
                    <a:ext uri="{9D8B030D-6E8A-4147-A177-3AD203B41FA5}">
                      <a16:colId xmlns:a16="http://schemas.microsoft.com/office/drawing/2014/main" val="20001"/>
                    </a:ext>
                  </a:extLst>
                </a:gridCol>
                <a:gridCol w="11830050">
                  <a:extLst>
                    <a:ext uri="{9D8B030D-6E8A-4147-A177-3AD203B41FA5}">
                      <a16:colId xmlns:a16="http://schemas.microsoft.com/office/drawing/2014/main" val="20002"/>
                    </a:ext>
                  </a:extLst>
                </a:gridCol>
              </a:tblGrid>
              <a:tr h="407543">
                <a:tc rowSpan="8">
                  <a:txBody>
                    <a:bodyPr/>
                    <a:lstStyle/>
                    <a:p>
                      <a:pPr algn="ctr"/>
                      <a:r>
                        <a:rPr sz="1550" b="1">
                          <a:solidFill>
                            <a:srgbClr val="FFFFFF"/>
                          </a:solidFill>
                          <a:latin typeface="210 OmniGothic 040"/>
                          <a:ea typeface="210 OmniGothic 040"/>
                          <a:cs typeface="210 OmniGothic 040"/>
                        </a:rPr>
                        <a:t>UC-PROP-04</a:t>
                      </a:r>
                    </a:p>
                  </a:txBody>
                  <a:tcPr marT="40233" marB="40233" anchor="ctr">
                    <a:lnL w="9525">
                      <a:solidFill>
                        <a:srgbClr val="FFFFFF"/>
                      </a:solidFill>
                    </a:lnL>
                    <a:lnR w="9525">
                      <a:solidFill>
                        <a:srgbClr val="FFFFFF"/>
                      </a:solidFill>
                    </a:lnR>
                    <a:lnT w="9525">
                      <a:solidFill>
                        <a:srgbClr val="FFFFFF"/>
                      </a:solidFill>
                    </a:lnT>
                    <a:lnB w="9525">
                      <a:solidFill>
                        <a:srgbClr val="FFFFFF"/>
                      </a:solidFill>
                    </a:lnB>
                    <a:solidFill>
                      <a:srgbClr val="FAA95A"/>
                    </a:solidFill>
                  </a:tcPr>
                </a:tc>
                <a:tc gridSpan="2">
                  <a:txBody>
                    <a:bodyPr/>
                    <a:lstStyle/>
                    <a:p>
                      <a:pPr algn="ctr"/>
                      <a:r>
                        <a:rPr sz="1550" b="1">
                          <a:solidFill>
                            <a:srgbClr val="FFFFFF"/>
                          </a:solidFill>
                          <a:latin typeface="210 OmniGothic 040"/>
                          <a:ea typeface="210 OmniGothic 040"/>
                          <a:cs typeface="210 OmniGothic 040"/>
                        </a:rPr>
                        <a:t>제안 이력·변경사항 조회</a:t>
                      </a:r>
                    </a:p>
                  </a:txBody>
                  <a:tcPr marT="40233" marB="40233" anchor="ctr">
                    <a:lnL w="9525">
                      <a:solidFill>
                        <a:srgbClr val="FFFFFF"/>
                      </a:solidFill>
                    </a:lnL>
                    <a:lnR w="9525">
                      <a:solidFill>
                        <a:srgbClr val="FFFFFF"/>
                      </a:solidFill>
                    </a:lnR>
                    <a:lnT w="9525">
                      <a:solidFill>
                        <a:srgbClr val="FFFFFF"/>
                      </a:solidFill>
                    </a:lnT>
                    <a:lnB w="9525">
                      <a:solidFill>
                        <a:srgbClr val="FFFFFF"/>
                      </a:solidFill>
                    </a:lnB>
                    <a:solidFill>
                      <a:srgbClr val="363A52"/>
                    </a:solidFill>
                  </a:tcPr>
                </a:tc>
                <a:tc hMerge="1">
                  <a:txBody>
                    <a:bodyPr/>
                    <a:lstStyle/>
                    <a:p>
                      <a:endParaRPr/>
                    </a:p>
                  </a:txBody>
                  <a:tcPr/>
                </a:tc>
                <a:extLst>
                  <a:ext uri="{0D108BD9-81ED-4DB2-BD59-A6C34878D82A}">
                    <a16:rowId xmlns:a16="http://schemas.microsoft.com/office/drawing/2014/main" val="10000"/>
                  </a:ext>
                </a:extLst>
              </a:tr>
              <a:tr h="687070">
                <a:tc vMerge="1">
                  <a:txBody>
                    <a:bodyPr/>
                    <a:lstStyle/>
                    <a:p>
                      <a:endParaRPr/>
                    </a:p>
                  </a:txBody>
                  <a:tcPr/>
                </a:tc>
                <a:tc>
                  <a:txBody>
                    <a:bodyPr/>
                    <a:lstStyle/>
                    <a:p>
                      <a:pPr algn="l"/>
                      <a:r>
                        <a:rPr sz="1550" b="1">
                          <a:solidFill>
                            <a:srgbClr val="363A52"/>
                          </a:solidFill>
                          <a:latin typeface="210 OmniGothic 040"/>
                          <a:ea typeface="210 OmniGothic 040"/>
                          <a:cs typeface="210 OmniGothic 040"/>
                        </a:rPr>
                        <a:t>개요</a:t>
                      </a:r>
                    </a:p>
                  </a:txBody>
                  <a:tcPr marL="137160" marR="137160" marT="60350" marB="60350" anchor="ctr">
                    <a:lnL w="9525">
                      <a:solidFill>
                        <a:srgbClr val="D9DCE5"/>
                      </a:solidFill>
                    </a:lnL>
                    <a:lnR w="9525">
                      <a:solidFill>
                        <a:srgbClr val="D9DCE5"/>
                      </a:solidFill>
                    </a:lnR>
                    <a:lnT w="9525" cap="flat" cmpd="sng" algn="ctr">
                      <a:solidFill>
                        <a:srgbClr val="FFFFFF"/>
                      </a:solidFill>
                      <a:prstDash val="solid"/>
                      <a:round/>
                      <a:headEnd type="none" w="med" len="med"/>
                      <a:tailEnd type="none" w="med" len="med"/>
                    </a:lnT>
                    <a:lnB w="9525">
                      <a:solidFill>
                        <a:srgbClr val="D9DCE5"/>
                      </a:solidFill>
                    </a:lnB>
                    <a:solidFill>
                      <a:srgbClr val="F3F4F8"/>
                    </a:solidFill>
                  </a:tcPr>
                </a:tc>
                <a:tc>
                  <a:txBody>
                    <a:bodyPr/>
                    <a:lstStyle/>
                    <a:p>
                      <a:pPr algn="l">
                        <a:lnSpc>
                          <a:spcPct val="110000"/>
                        </a:lnSpc>
                      </a:pPr>
                      <a:r>
                        <a:rPr sz="1550" b="0">
                          <a:solidFill>
                            <a:srgbClr val="363A52"/>
                          </a:solidFill>
                          <a:latin typeface="210 OmniGothic 040"/>
                          <a:ea typeface="210 OmniGothic 040"/>
                          <a:cs typeface="210 OmniGothic 040"/>
                        </a:rPr>
                        <a:t>제안서가 버전별로 쌓인 이력을 보고, 직전 버전에서 무엇이 달라졌는지 확인한다. 변경은 서술형 비교가 아니라 새 문서 + '변경' 태그 + 팝업 방식이다.</a:t>
                      </a:r>
                    </a:p>
                  </a:txBody>
                  <a:tcPr marL="137160" marR="137160" marT="50292" marB="5029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1"/>
                  </a:ext>
                </a:extLst>
              </a:tr>
              <a:tr h="407543">
                <a:tc vMerge="1">
                  <a:txBody>
                    <a:bodyPr/>
                    <a:lstStyle/>
                    <a:p>
                      <a:endParaRPr/>
                    </a:p>
                  </a:txBody>
                  <a:tcPr/>
                </a:tc>
                <a:tc>
                  <a:txBody>
                    <a:bodyPr/>
                    <a:lstStyle/>
                    <a:p>
                      <a:pPr algn="l"/>
                      <a:r>
                        <a:rPr sz="1550" b="1">
                          <a:solidFill>
                            <a:srgbClr val="363A52"/>
                          </a:solidFill>
                          <a:latin typeface="210 OmniGothic 040"/>
                          <a:ea typeface="210 OmniGothic 040"/>
                          <a:cs typeface="210 OmniGothic 040"/>
                        </a:rPr>
                        <a:t>액터</a:t>
                      </a:r>
                    </a:p>
                  </a:txBody>
                  <a:tcPr marL="137160" marR="137160" marT="60350" marB="60350" anchor="ctr">
                    <a:lnL w="9525">
                      <a:solidFill>
                        <a:srgbClr val="D9DCE5"/>
                      </a:solidFill>
                    </a:lnL>
                    <a:lnR w="9525">
                      <a:solidFill>
                        <a:srgbClr val="D9DCE5"/>
                      </a:solidFill>
                    </a:lnR>
                    <a:lnT w="9525">
                      <a:solidFill>
                        <a:srgbClr val="D9DCE5"/>
                      </a:solidFill>
                    </a:lnT>
                    <a:lnB w="9525">
                      <a:solidFill>
                        <a:srgbClr val="D9DCE5"/>
                      </a:solidFill>
                    </a:lnB>
                    <a:solidFill>
                      <a:srgbClr val="F3F4F8"/>
                    </a:solidFill>
                  </a:tcPr>
                </a:tc>
                <a:tc>
                  <a:txBody>
                    <a:bodyPr/>
                    <a:lstStyle/>
                    <a:p>
                      <a:pPr algn="l">
                        <a:lnSpc>
                          <a:spcPct val="110000"/>
                        </a:lnSpc>
                      </a:pPr>
                      <a:r>
                        <a:rPr sz="1550" b="0">
                          <a:solidFill>
                            <a:srgbClr val="363A52"/>
                          </a:solidFill>
                          <a:latin typeface="210 OmniGothic 040"/>
                          <a:ea typeface="210 OmniGothic 040"/>
                          <a:cs typeface="210 OmniGothic 040"/>
                        </a:rPr>
                        <a:t>통합지휘권자</a:t>
                      </a:r>
                    </a:p>
                  </a:txBody>
                  <a:tcPr marL="137160" marR="137160" marT="50292" marB="5029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2"/>
                  </a:ext>
                </a:extLst>
              </a:tr>
              <a:tr h="407543">
                <a:tc vMerge="1">
                  <a:txBody>
                    <a:bodyPr/>
                    <a:lstStyle/>
                    <a:p>
                      <a:endParaRPr/>
                    </a:p>
                  </a:txBody>
                  <a:tcPr/>
                </a:tc>
                <a:tc>
                  <a:txBody>
                    <a:bodyPr/>
                    <a:lstStyle/>
                    <a:p>
                      <a:pPr algn="l"/>
                      <a:r>
                        <a:rPr sz="1550" b="1">
                          <a:solidFill>
                            <a:srgbClr val="363A52"/>
                          </a:solidFill>
                          <a:latin typeface="210 OmniGothic 040"/>
                          <a:ea typeface="210 OmniGothic 040"/>
                          <a:cs typeface="210 OmniGothic 040"/>
                        </a:rPr>
                        <a:t>시작 조건</a:t>
                      </a:r>
                    </a:p>
                  </a:txBody>
                  <a:tcPr marL="137160" marR="137160" marT="60350" marB="60350" anchor="ctr">
                    <a:lnL w="9525">
                      <a:solidFill>
                        <a:srgbClr val="D9DCE5"/>
                      </a:solidFill>
                    </a:lnL>
                    <a:lnR w="9525">
                      <a:solidFill>
                        <a:srgbClr val="D9DCE5"/>
                      </a:solidFill>
                    </a:lnR>
                    <a:lnT w="9525">
                      <a:solidFill>
                        <a:srgbClr val="D9DCE5"/>
                      </a:solidFill>
                    </a:lnT>
                    <a:lnB w="9525">
                      <a:solidFill>
                        <a:srgbClr val="D9DCE5"/>
                      </a:solidFill>
                    </a:lnB>
                    <a:solidFill>
                      <a:srgbClr val="F3F4F8"/>
                    </a:solidFill>
                  </a:tcPr>
                </a:tc>
                <a:tc>
                  <a:txBody>
                    <a:bodyPr/>
                    <a:lstStyle/>
                    <a:p>
                      <a:pPr algn="l">
                        <a:lnSpc>
                          <a:spcPct val="110000"/>
                        </a:lnSpc>
                      </a:pPr>
                      <a:r>
                        <a:rPr sz="1550" b="0">
                          <a:solidFill>
                            <a:srgbClr val="363A52"/>
                          </a:solidFill>
                          <a:latin typeface="210 OmniGothic 040"/>
                          <a:ea typeface="210 OmniGothic 040"/>
                          <a:cs typeface="210 OmniGothic 040"/>
                        </a:rPr>
                        <a:t>통합지휘권자로 로그인, 제안서 버전이 2개 이상 있음</a:t>
                      </a:r>
                    </a:p>
                  </a:txBody>
                  <a:tcPr marL="137160" marR="137160" marT="50292" marB="5029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3"/>
                  </a:ext>
                </a:extLst>
              </a:tr>
              <a:tr h="2084705">
                <a:tc vMerge="1">
                  <a:txBody>
                    <a:bodyPr/>
                    <a:lstStyle/>
                    <a:p>
                      <a:endParaRPr/>
                    </a:p>
                  </a:txBody>
                  <a:tcPr/>
                </a:tc>
                <a:tc>
                  <a:txBody>
                    <a:bodyPr/>
                    <a:lstStyle/>
                    <a:p>
                      <a:pPr algn="l"/>
                      <a:r>
                        <a:rPr sz="1550" b="1">
                          <a:solidFill>
                            <a:srgbClr val="363A52"/>
                          </a:solidFill>
                          <a:latin typeface="210 OmniGothic 040"/>
                          <a:ea typeface="210 OmniGothic 040"/>
                          <a:cs typeface="210 OmniGothic 040"/>
                        </a:rPr>
                        <a:t>기본 흐름</a:t>
                      </a:r>
                    </a:p>
                  </a:txBody>
                  <a:tcPr marL="137160" marR="137160" marT="60350" marB="60350" anchor="ctr">
                    <a:lnL w="9525">
                      <a:solidFill>
                        <a:srgbClr val="D9DCE5"/>
                      </a:solidFill>
                    </a:lnL>
                    <a:lnR w="9525">
                      <a:solidFill>
                        <a:srgbClr val="D9DCE5"/>
                      </a:solidFill>
                    </a:lnR>
                    <a:lnT w="9525">
                      <a:solidFill>
                        <a:srgbClr val="D9DCE5"/>
                      </a:solidFill>
                    </a:lnT>
                    <a:lnB w="9525">
                      <a:solidFill>
                        <a:srgbClr val="D9DCE5"/>
                      </a:solidFill>
                    </a:lnB>
                    <a:solidFill>
                      <a:srgbClr val="F3F4F8"/>
                    </a:solidFill>
                  </a:tcPr>
                </a:tc>
                <a:tc>
                  <a:txBody>
                    <a:bodyPr/>
                    <a:lstStyle/>
                    <a:p>
                      <a:pPr algn="l">
                        <a:lnSpc>
                          <a:spcPct val="110000"/>
                        </a:lnSpc>
                      </a:pPr>
                      <a:r>
                        <a:rPr sz="1550" b="0">
                          <a:solidFill>
                            <a:srgbClr val="363A52"/>
                          </a:solidFill>
                          <a:latin typeface="210 OmniGothic 040"/>
                          <a:ea typeface="210 OmniGothic 040"/>
                          <a:cs typeface="210 OmniGothic 040"/>
                        </a:rPr>
                        <a:t>1. 사용자가 대응 제안 화면에서 「이력」을 연다.</a:t>
                      </a:r>
                    </a:p>
                    <a:p>
                      <a:pPr algn="l">
                        <a:lnSpc>
                          <a:spcPct val="110000"/>
                        </a:lnSpc>
                      </a:pPr>
                      <a:r>
                        <a:rPr sz="1550" b="0">
                          <a:solidFill>
                            <a:srgbClr val="363A52"/>
                          </a:solidFill>
                          <a:latin typeface="210 OmniGothic 040"/>
                          <a:ea typeface="210 OmniGothic 040"/>
                          <a:cs typeface="210 OmniGothic 040"/>
                        </a:rPr>
                        <a:t>2. 시스템이 버전 목록(버전 번호·생성 시각·기준 실측 화선 버전·생성 계기[폴리곤 갱신에 따른 재예측 / AI 상황 정정])을 최신순으로 보여준다.</a:t>
                      </a:r>
                    </a:p>
                    <a:p>
                      <a:pPr algn="l">
                        <a:lnSpc>
                          <a:spcPct val="110000"/>
                        </a:lnSpc>
                      </a:pPr>
                      <a:r>
                        <a:rPr sz="1550" b="0">
                          <a:solidFill>
                            <a:srgbClr val="363A52"/>
                          </a:solidFill>
                          <a:latin typeface="210 OmniGothic 040"/>
                          <a:ea typeface="210 OmniGothic 040"/>
                          <a:cs typeface="210 OmniGothic 040"/>
                        </a:rPr>
                        <a:t>3. 사용자가 이전 버전을 고르면 시스템이 그 버전의 제안서 전체를 "이전 버전" 표시와 함께 보여준다.</a:t>
                      </a:r>
                    </a:p>
                    <a:p>
                      <a:pPr algn="l">
                        <a:lnSpc>
                          <a:spcPct val="110000"/>
                        </a:lnSpc>
                      </a:pPr>
                      <a:r>
                        <a:rPr sz="1550" b="0">
                          <a:solidFill>
                            <a:srgbClr val="363A52"/>
                          </a:solidFill>
                          <a:latin typeface="210 OmniGothic 040"/>
                          <a:ea typeface="210 OmniGothic 040"/>
                          <a:cs typeface="210 OmniGothic 040"/>
                        </a:rPr>
                        <a:t>4. 사용자가 최신 버전으로 돌아와 '변경' 태그가 붙은 항목을 누른다.</a:t>
                      </a:r>
                    </a:p>
                    <a:p>
                      <a:pPr algn="l">
                        <a:lnSpc>
                          <a:spcPct val="110000"/>
                        </a:lnSpc>
                      </a:pPr>
                      <a:r>
                        <a:rPr sz="1550" b="0">
                          <a:solidFill>
                            <a:srgbClr val="363A52"/>
                          </a:solidFill>
                          <a:latin typeface="210 OmniGothic 040"/>
                          <a:ea typeface="210 OmniGothic 040"/>
                          <a:cs typeface="210 OmniGothic 040"/>
                        </a:rPr>
                        <a:t>5. 시스템이 팝업으로 직전 버전 대비 바뀐 내용(이전 문장 → 이후 문장)을 보여준다. 바뀌지 않은 항목에는 아무 표시도 하지 않는다.</a:t>
                      </a:r>
                    </a:p>
                    <a:p>
                      <a:pPr algn="l">
                        <a:lnSpc>
                          <a:spcPct val="110000"/>
                        </a:lnSpc>
                      </a:pPr>
                      <a:r>
                        <a:rPr sz="1550" b="0">
                          <a:solidFill>
                            <a:srgbClr val="363A52"/>
                          </a:solidFill>
                          <a:latin typeface="210 OmniGothic 040"/>
                          <a:ea typeface="210 OmniGothic 040"/>
                          <a:cs typeface="210 OmniGothic 040"/>
                        </a:rPr>
                        <a:t>6. 사용자가 「이벤트 로그」를 열면 시스템이 로그인·입력·예측·제안·정정·종료·관리·근거 부족 이벤트를 시각·구분·내용·사용자 기준으로 읽기 전용으로 보여준다.</a:t>
                      </a:r>
                    </a:p>
                  </a:txBody>
                  <a:tcPr marL="137160" marR="137160" marT="50292" marB="5029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4"/>
                  </a:ext>
                </a:extLst>
              </a:tr>
              <a:tr h="407543">
                <a:tc vMerge="1">
                  <a:txBody>
                    <a:bodyPr/>
                    <a:lstStyle/>
                    <a:p>
                      <a:endParaRPr/>
                    </a:p>
                  </a:txBody>
                  <a:tcPr/>
                </a:tc>
                <a:tc>
                  <a:txBody>
                    <a:bodyPr/>
                    <a:lstStyle/>
                    <a:p>
                      <a:pPr algn="l"/>
                      <a:r>
                        <a:rPr sz="1550" b="1">
                          <a:solidFill>
                            <a:srgbClr val="363A52"/>
                          </a:solidFill>
                          <a:latin typeface="210 OmniGothic 040"/>
                          <a:ea typeface="210 OmniGothic 040"/>
                          <a:cs typeface="210 OmniGothic 040"/>
                        </a:rPr>
                        <a:t>대안 흐름</a:t>
                      </a:r>
                    </a:p>
                  </a:txBody>
                  <a:tcPr marL="137160" marR="137160" marT="60350" marB="60350" anchor="ctr">
                    <a:lnL w="9525">
                      <a:solidFill>
                        <a:srgbClr val="D9DCE5"/>
                      </a:solidFill>
                    </a:lnL>
                    <a:lnR w="9525">
                      <a:solidFill>
                        <a:srgbClr val="D9DCE5"/>
                      </a:solidFill>
                    </a:lnR>
                    <a:lnT w="9525">
                      <a:solidFill>
                        <a:srgbClr val="D9DCE5"/>
                      </a:solidFill>
                    </a:lnT>
                    <a:lnB w="9525">
                      <a:solidFill>
                        <a:srgbClr val="D9DCE5"/>
                      </a:solidFill>
                    </a:lnB>
                    <a:solidFill>
                      <a:srgbClr val="F3F4F8"/>
                    </a:solidFill>
                  </a:tcPr>
                </a:tc>
                <a:tc>
                  <a:txBody>
                    <a:bodyPr/>
                    <a:lstStyle/>
                    <a:p>
                      <a:pPr algn="l">
                        <a:lnSpc>
                          <a:spcPct val="110000"/>
                        </a:lnSpc>
                      </a:pPr>
                      <a:r>
                        <a:rPr sz="1550" b="0">
                          <a:solidFill>
                            <a:srgbClr val="363A52"/>
                          </a:solidFill>
                          <a:latin typeface="210 OmniGothic 040"/>
                          <a:ea typeface="210 OmniGothic 040"/>
                          <a:cs typeface="210 OmniGothic 040"/>
                        </a:rPr>
                        <a:t>—</a:t>
                      </a:r>
                    </a:p>
                  </a:txBody>
                  <a:tcPr marL="137160" marR="137160" marT="50292" marB="5029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5"/>
                  </a:ext>
                </a:extLst>
              </a:tr>
              <a:tr h="407543">
                <a:tc vMerge="1">
                  <a:txBody>
                    <a:bodyPr/>
                    <a:lstStyle/>
                    <a:p>
                      <a:endParaRPr/>
                    </a:p>
                  </a:txBody>
                  <a:tcPr/>
                </a:tc>
                <a:tc>
                  <a:txBody>
                    <a:bodyPr/>
                    <a:lstStyle/>
                    <a:p>
                      <a:pPr algn="l"/>
                      <a:r>
                        <a:rPr sz="1550" b="1">
                          <a:solidFill>
                            <a:srgbClr val="363A52"/>
                          </a:solidFill>
                          <a:latin typeface="210 OmniGothic 040"/>
                          <a:ea typeface="210 OmniGothic 040"/>
                          <a:cs typeface="210 OmniGothic 040"/>
                        </a:rPr>
                        <a:t>예외 흐름</a:t>
                      </a:r>
                    </a:p>
                  </a:txBody>
                  <a:tcPr marL="137160" marR="137160" marT="60350" marB="60350" anchor="ctr">
                    <a:lnL w="9525">
                      <a:solidFill>
                        <a:srgbClr val="D9DCE5"/>
                      </a:solidFill>
                    </a:lnL>
                    <a:lnR w="9525">
                      <a:solidFill>
                        <a:srgbClr val="D9DCE5"/>
                      </a:solidFill>
                    </a:lnR>
                    <a:lnT w="9525">
                      <a:solidFill>
                        <a:srgbClr val="D9DCE5"/>
                      </a:solidFill>
                    </a:lnT>
                    <a:lnB w="9525">
                      <a:solidFill>
                        <a:srgbClr val="D9DCE5"/>
                      </a:solidFill>
                    </a:lnB>
                    <a:solidFill>
                      <a:srgbClr val="F3F4F8"/>
                    </a:solidFill>
                  </a:tcPr>
                </a:tc>
                <a:tc>
                  <a:txBody>
                    <a:bodyPr/>
                    <a:lstStyle/>
                    <a:p>
                      <a:pPr algn="l">
                        <a:lnSpc>
                          <a:spcPct val="110000"/>
                        </a:lnSpc>
                      </a:pPr>
                      <a:r>
                        <a:rPr sz="1550" b="0">
                          <a:solidFill>
                            <a:srgbClr val="363A52"/>
                          </a:solidFill>
                          <a:latin typeface="210 OmniGothic 040"/>
                          <a:ea typeface="210 OmniGothic 040"/>
                          <a:cs typeface="210 OmniGothic 040"/>
                        </a:rPr>
                        <a:t>E1. 버전이 하나뿐이면 시스템이 "비교할 이전 버전이 없습니다"를 안내한다.</a:t>
                      </a:r>
                    </a:p>
                  </a:txBody>
                  <a:tcPr marL="137160" marR="137160" marT="50292" marB="5029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6"/>
                  </a:ext>
                </a:extLst>
              </a:tr>
              <a:tr h="407543">
                <a:tc vMerge="1">
                  <a:txBody>
                    <a:bodyPr/>
                    <a:lstStyle/>
                    <a:p>
                      <a:endParaRPr/>
                    </a:p>
                  </a:txBody>
                  <a:tcPr/>
                </a:tc>
                <a:tc>
                  <a:txBody>
                    <a:bodyPr/>
                    <a:lstStyle/>
                    <a:p>
                      <a:pPr algn="l"/>
                      <a:r>
                        <a:rPr sz="1550" b="1">
                          <a:solidFill>
                            <a:srgbClr val="363A52"/>
                          </a:solidFill>
                          <a:latin typeface="210 OmniGothic 040"/>
                          <a:ea typeface="210 OmniGothic 040"/>
                          <a:cs typeface="210 OmniGothic 040"/>
                        </a:rPr>
                        <a:t>종료 조건</a:t>
                      </a:r>
                    </a:p>
                  </a:txBody>
                  <a:tcPr marL="137160" marR="137160" marT="60350" marB="60350" anchor="ctr">
                    <a:lnL w="9525">
                      <a:solidFill>
                        <a:srgbClr val="D9DCE5"/>
                      </a:solidFill>
                    </a:lnL>
                    <a:lnR w="9525">
                      <a:solidFill>
                        <a:srgbClr val="D9DCE5"/>
                      </a:solidFill>
                    </a:lnR>
                    <a:lnT w="9525">
                      <a:solidFill>
                        <a:srgbClr val="D9DCE5"/>
                      </a:solidFill>
                    </a:lnT>
                    <a:lnB w="9525">
                      <a:solidFill>
                        <a:srgbClr val="D9DCE5"/>
                      </a:solidFill>
                    </a:lnB>
                    <a:solidFill>
                      <a:srgbClr val="F3F4F8"/>
                    </a:solidFill>
                  </a:tcPr>
                </a:tc>
                <a:tc>
                  <a:txBody>
                    <a:bodyPr/>
                    <a:lstStyle/>
                    <a:p>
                      <a:pPr algn="l">
                        <a:lnSpc>
                          <a:spcPct val="110000"/>
                        </a:lnSpc>
                      </a:pPr>
                      <a:r>
                        <a:rPr sz="1550" b="0">
                          <a:solidFill>
                            <a:srgbClr val="363A52"/>
                          </a:solidFill>
                          <a:latin typeface="210 OmniGothic 040"/>
                          <a:ea typeface="210 OmniGothic 040"/>
                          <a:cs typeface="210 OmniGothic 040"/>
                        </a:rPr>
                        <a:t>선택한 버전과 변경 내용, 이벤트 로그가 표시된다</a:t>
                      </a:r>
                    </a:p>
                  </a:txBody>
                  <a:tcPr marL="137160" marR="137160" marT="50292" marB="5029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05"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700" y="-12700"/>
            <a:ext cx="18313400" cy="1638300"/>
          </a:xfrm>
          <a:prstGeom prst="rect">
            <a:avLst/>
          </a:prstGeom>
        </p:spPr>
      </p:pic>
      <p:pic>
        <p:nvPicPr>
          <p:cNvPr id="5106"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28" y="1618343"/>
            <a:ext cx="18313400" cy="8699500"/>
          </a:xfrm>
          <a:prstGeom prst="rect">
            <a:avLst/>
          </a:prstGeom>
        </p:spPr>
      </p:pic>
      <p:pic>
        <p:nvPicPr>
          <p:cNvPr id="5107"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58800" y="9271000"/>
            <a:ext cx="17170400" cy="50800"/>
          </a:xfrm>
          <a:prstGeom prst="rect">
            <a:avLst/>
          </a:prstGeom>
        </p:spPr>
      </p:pic>
      <p:pic>
        <p:nvPicPr>
          <p:cNvPr id="5108" name="Picture 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278100" y="203200"/>
            <a:ext cx="1676400" cy="1409700"/>
          </a:xfrm>
          <a:prstGeom prst="rect">
            <a:avLst/>
          </a:prstGeom>
        </p:spPr>
      </p:pic>
      <p:sp>
        <p:nvSpPr>
          <p:cNvPr id="5109" name="Title"/>
          <p:cNvSpPr txBox="1"/>
          <p:nvPr/>
        </p:nvSpPr>
        <p:spPr>
          <a:xfrm>
            <a:off x="822960" y="384048"/>
            <a:ext cx="13258800" cy="877824"/>
          </a:xfrm>
          <a:prstGeom prst="rect">
            <a:avLst/>
          </a:prstGeom>
          <a:noFill/>
        </p:spPr>
        <p:txBody>
          <a:bodyPr wrap="square" lIns="0" tIns="0" rIns="0" bIns="0" anchor="ctr">
            <a:spAutoFit/>
          </a:bodyPr>
          <a:lstStyle/>
          <a:p>
            <a:pPr algn="l"/>
            <a:r>
              <a:rPr sz="4400" b="0">
                <a:solidFill>
                  <a:srgbClr val="FAA95A"/>
                </a:solidFill>
                <a:latin typeface="210 OmniGothic 050"/>
                <a:ea typeface="210 OmniGothic 050"/>
                <a:cs typeface="210 OmniGothic 050"/>
              </a:rPr>
              <a:t>03. 유스케이스 다이어그램</a:t>
            </a:r>
          </a:p>
        </p:txBody>
      </p:sp>
      <p:sp>
        <p:nvSpPr>
          <p:cNvPr id="5110" name="Subtitle"/>
          <p:cNvSpPr txBox="1"/>
          <p:nvPr/>
        </p:nvSpPr>
        <p:spPr>
          <a:xfrm>
            <a:off x="822960" y="1764792"/>
            <a:ext cx="16642080" cy="502920"/>
          </a:xfrm>
          <a:prstGeom prst="rect">
            <a:avLst/>
          </a:prstGeom>
          <a:noFill/>
        </p:spPr>
        <p:txBody>
          <a:bodyPr wrap="square" lIns="0" tIns="0" rIns="0" bIns="0" anchor="ctr">
            <a:spAutoFit/>
          </a:bodyPr>
          <a:lstStyle/>
          <a:p>
            <a:pPr algn="ctr"/>
            <a:r>
              <a:rPr sz="2600" b="1">
                <a:solidFill>
                  <a:srgbClr val="363A52"/>
                </a:solidFill>
                <a:latin typeface="210 OmniGothic 040"/>
                <a:ea typeface="210 OmniGothic 040"/>
                <a:cs typeface="210 OmniGothic 040"/>
              </a:rPr>
              <a:t>4. 시나리오 – 발화 종료 처리</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sz="quarter" idx="12"/>
          </p:nvPr>
        </p:nvSpPr>
        <p:spPr/>
        <p:txBody>
          <a:bodyPr/>
          <a:lstStyle/>
          <a:p>
            <a:fld id="{B6F15528-21DE-4FAA-801E-634DDDAF4B2B}" type="slidenum">
              <a:rPr lang="en-US" smtClean="0"/>
              <a:pPr/>
              <a:t>32</a:t>
            </a:fld>
            <a:endParaRPr lang="en-US"/>
          </a:p>
        </p:txBody>
      </p:sp>
      <p:graphicFrame>
        <p:nvGraphicFramePr>
          <p:cNvPr id="5111" name="Table 5110"/>
          <p:cNvGraphicFramePr>
            <a:graphicFrameLocks noGrp="1"/>
          </p:cNvGraphicFramePr>
          <p:nvPr/>
        </p:nvGraphicFramePr>
        <p:xfrm>
          <a:off x="1337310" y="2395728"/>
          <a:ext cx="15430500" cy="5217033"/>
        </p:xfrm>
        <a:graphic>
          <a:graphicData uri="http://schemas.openxmlformats.org/drawingml/2006/table">
            <a:tbl>
              <a:tblPr>
                <a:tableStyleId>{2D5ABB26-0587-4C30-8999-92F81FD0307C}</a:tableStyleId>
              </a:tblPr>
              <a:tblGrid>
                <a:gridCol w="1943100">
                  <a:extLst>
                    <a:ext uri="{9D8B030D-6E8A-4147-A177-3AD203B41FA5}">
                      <a16:colId xmlns:a16="http://schemas.microsoft.com/office/drawing/2014/main" val="20000"/>
                    </a:ext>
                  </a:extLst>
                </a:gridCol>
                <a:gridCol w="1657350">
                  <a:extLst>
                    <a:ext uri="{9D8B030D-6E8A-4147-A177-3AD203B41FA5}">
                      <a16:colId xmlns:a16="http://schemas.microsoft.com/office/drawing/2014/main" val="20001"/>
                    </a:ext>
                  </a:extLst>
                </a:gridCol>
                <a:gridCol w="11830050">
                  <a:extLst>
                    <a:ext uri="{9D8B030D-6E8A-4147-A177-3AD203B41FA5}">
                      <a16:colId xmlns:a16="http://schemas.microsoft.com/office/drawing/2014/main" val="20002"/>
                    </a:ext>
                  </a:extLst>
                </a:gridCol>
              </a:tblGrid>
              <a:tr h="407543">
                <a:tc rowSpan="8">
                  <a:txBody>
                    <a:bodyPr/>
                    <a:lstStyle/>
                    <a:p>
                      <a:pPr algn="ctr"/>
                      <a:r>
                        <a:rPr sz="1550" b="1">
                          <a:solidFill>
                            <a:srgbClr val="FFFFFF"/>
                          </a:solidFill>
                          <a:latin typeface="210 OmniGothic 040"/>
                          <a:ea typeface="210 OmniGothic 040"/>
                          <a:cs typeface="210 OmniGothic 040"/>
                        </a:rPr>
                        <a:t>UC-SIT-01</a:t>
                      </a:r>
                    </a:p>
                  </a:txBody>
                  <a:tcPr marT="40233" marB="40233" anchor="ctr">
                    <a:lnL w="9525">
                      <a:solidFill>
                        <a:srgbClr val="FFFFFF"/>
                      </a:solidFill>
                    </a:lnL>
                    <a:lnR w="9525">
                      <a:solidFill>
                        <a:srgbClr val="FFFFFF"/>
                      </a:solidFill>
                    </a:lnR>
                    <a:lnT w="9525">
                      <a:solidFill>
                        <a:srgbClr val="FFFFFF"/>
                      </a:solidFill>
                    </a:lnT>
                    <a:lnB w="9525">
                      <a:solidFill>
                        <a:srgbClr val="FFFFFF"/>
                      </a:solidFill>
                    </a:lnB>
                    <a:solidFill>
                      <a:srgbClr val="FAA95A"/>
                    </a:solidFill>
                  </a:tcPr>
                </a:tc>
                <a:tc gridSpan="2">
                  <a:txBody>
                    <a:bodyPr/>
                    <a:lstStyle/>
                    <a:p>
                      <a:pPr algn="ctr"/>
                      <a:r>
                        <a:rPr sz="1550" b="1">
                          <a:solidFill>
                            <a:srgbClr val="FFFFFF"/>
                          </a:solidFill>
                          <a:latin typeface="210 OmniGothic 040"/>
                          <a:ea typeface="210 OmniGothic 040"/>
                          <a:cs typeface="210 OmniGothic 040"/>
                        </a:rPr>
                        <a:t>발화 종료 처리</a:t>
                      </a:r>
                    </a:p>
                  </a:txBody>
                  <a:tcPr marT="40233" marB="40233" anchor="ctr">
                    <a:lnL w="9525">
                      <a:solidFill>
                        <a:srgbClr val="FFFFFF"/>
                      </a:solidFill>
                    </a:lnL>
                    <a:lnR w="9525">
                      <a:solidFill>
                        <a:srgbClr val="FFFFFF"/>
                      </a:solidFill>
                    </a:lnR>
                    <a:lnT w="9525">
                      <a:solidFill>
                        <a:srgbClr val="FFFFFF"/>
                      </a:solidFill>
                    </a:lnT>
                    <a:lnB w="9525">
                      <a:solidFill>
                        <a:srgbClr val="FFFFFF"/>
                      </a:solidFill>
                    </a:lnB>
                    <a:solidFill>
                      <a:srgbClr val="363A52"/>
                    </a:solidFill>
                  </a:tcPr>
                </a:tc>
                <a:tc hMerge="1">
                  <a:txBody>
                    <a:bodyPr/>
                    <a:lstStyle/>
                    <a:p>
                      <a:endParaRPr/>
                    </a:p>
                  </a:txBody>
                  <a:tcPr/>
                </a:tc>
                <a:extLst>
                  <a:ext uri="{0D108BD9-81ED-4DB2-BD59-A6C34878D82A}">
                    <a16:rowId xmlns:a16="http://schemas.microsoft.com/office/drawing/2014/main" val="10000"/>
                  </a:ext>
                </a:extLst>
              </a:tr>
              <a:tr h="407543">
                <a:tc vMerge="1">
                  <a:txBody>
                    <a:bodyPr/>
                    <a:lstStyle/>
                    <a:p>
                      <a:endParaRPr/>
                    </a:p>
                  </a:txBody>
                  <a:tcPr/>
                </a:tc>
                <a:tc>
                  <a:txBody>
                    <a:bodyPr/>
                    <a:lstStyle/>
                    <a:p>
                      <a:pPr algn="l"/>
                      <a:r>
                        <a:rPr sz="1550" b="1">
                          <a:solidFill>
                            <a:srgbClr val="363A52"/>
                          </a:solidFill>
                          <a:latin typeface="210 OmniGothic 040"/>
                          <a:ea typeface="210 OmniGothic 040"/>
                          <a:cs typeface="210 OmniGothic 040"/>
                        </a:rPr>
                        <a:t>개요</a:t>
                      </a:r>
                    </a:p>
                  </a:txBody>
                  <a:tcPr marL="137160" marR="137160" marT="60350" marB="60350" anchor="ctr">
                    <a:lnL w="9525">
                      <a:solidFill>
                        <a:srgbClr val="D9DCE5"/>
                      </a:solidFill>
                    </a:lnL>
                    <a:lnR w="9525">
                      <a:solidFill>
                        <a:srgbClr val="D9DCE5"/>
                      </a:solidFill>
                    </a:lnR>
                    <a:lnT w="9525" cap="flat" cmpd="sng" algn="ctr">
                      <a:solidFill>
                        <a:srgbClr val="FFFFFF"/>
                      </a:solidFill>
                      <a:prstDash val="solid"/>
                      <a:round/>
                      <a:headEnd type="none" w="med" len="med"/>
                      <a:tailEnd type="none" w="med" len="med"/>
                    </a:lnT>
                    <a:lnB w="9525">
                      <a:solidFill>
                        <a:srgbClr val="D9DCE5"/>
                      </a:solidFill>
                    </a:lnB>
                    <a:solidFill>
                      <a:srgbClr val="F3F4F8"/>
                    </a:solidFill>
                  </a:tcPr>
                </a:tc>
                <a:tc>
                  <a:txBody>
                    <a:bodyPr/>
                    <a:lstStyle/>
                    <a:p>
                      <a:pPr algn="l">
                        <a:lnSpc>
                          <a:spcPct val="110000"/>
                        </a:lnSpc>
                      </a:pPr>
                      <a:r>
                        <a:rPr sz="1550" b="0">
                          <a:solidFill>
                            <a:srgbClr val="363A52"/>
                          </a:solidFill>
                          <a:latin typeface="210 OmniGothic 040"/>
                          <a:ea typeface="210 OmniGothic 040"/>
                          <a:cs typeface="210 OmniGothic 040"/>
                        </a:rPr>
                        <a:t>진화가 끝난 산불을 통합지휘권자가 종료 상태로 바꿔 사건을 닫는다</a:t>
                      </a:r>
                    </a:p>
                  </a:txBody>
                  <a:tcPr marL="137160" marR="137160" marT="50292" marB="5029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1"/>
                  </a:ext>
                </a:extLst>
              </a:tr>
              <a:tr h="407543">
                <a:tc vMerge="1">
                  <a:txBody>
                    <a:bodyPr/>
                    <a:lstStyle/>
                    <a:p>
                      <a:endParaRPr/>
                    </a:p>
                  </a:txBody>
                  <a:tcPr/>
                </a:tc>
                <a:tc>
                  <a:txBody>
                    <a:bodyPr/>
                    <a:lstStyle/>
                    <a:p>
                      <a:pPr algn="l"/>
                      <a:r>
                        <a:rPr sz="1550" b="1">
                          <a:solidFill>
                            <a:srgbClr val="363A52"/>
                          </a:solidFill>
                          <a:latin typeface="210 OmniGothic 040"/>
                          <a:ea typeface="210 OmniGothic 040"/>
                          <a:cs typeface="210 OmniGothic 040"/>
                        </a:rPr>
                        <a:t>액터</a:t>
                      </a:r>
                    </a:p>
                  </a:txBody>
                  <a:tcPr marL="137160" marR="137160" marT="60350" marB="60350" anchor="ctr">
                    <a:lnL w="9525">
                      <a:solidFill>
                        <a:srgbClr val="D9DCE5"/>
                      </a:solidFill>
                    </a:lnL>
                    <a:lnR w="9525">
                      <a:solidFill>
                        <a:srgbClr val="D9DCE5"/>
                      </a:solidFill>
                    </a:lnR>
                    <a:lnT w="9525">
                      <a:solidFill>
                        <a:srgbClr val="D9DCE5"/>
                      </a:solidFill>
                    </a:lnT>
                    <a:lnB w="9525">
                      <a:solidFill>
                        <a:srgbClr val="D9DCE5"/>
                      </a:solidFill>
                    </a:lnB>
                    <a:solidFill>
                      <a:srgbClr val="F3F4F8"/>
                    </a:solidFill>
                  </a:tcPr>
                </a:tc>
                <a:tc>
                  <a:txBody>
                    <a:bodyPr/>
                    <a:lstStyle/>
                    <a:p>
                      <a:pPr algn="l">
                        <a:lnSpc>
                          <a:spcPct val="110000"/>
                        </a:lnSpc>
                      </a:pPr>
                      <a:r>
                        <a:rPr sz="1550" b="0">
                          <a:solidFill>
                            <a:srgbClr val="363A52"/>
                          </a:solidFill>
                          <a:latin typeface="210 OmniGothic 040"/>
                          <a:ea typeface="210 OmniGothic 040"/>
                          <a:cs typeface="210 OmniGothic 040"/>
                        </a:rPr>
                        <a:t>통합지휘권자</a:t>
                      </a:r>
                    </a:p>
                  </a:txBody>
                  <a:tcPr marL="137160" marR="137160" marT="50292" marB="5029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2"/>
                  </a:ext>
                </a:extLst>
              </a:tr>
              <a:tr h="407543">
                <a:tc vMerge="1">
                  <a:txBody>
                    <a:bodyPr/>
                    <a:lstStyle/>
                    <a:p>
                      <a:endParaRPr/>
                    </a:p>
                  </a:txBody>
                  <a:tcPr/>
                </a:tc>
                <a:tc>
                  <a:txBody>
                    <a:bodyPr/>
                    <a:lstStyle/>
                    <a:p>
                      <a:pPr algn="l"/>
                      <a:r>
                        <a:rPr sz="1550" b="1">
                          <a:solidFill>
                            <a:srgbClr val="363A52"/>
                          </a:solidFill>
                          <a:latin typeface="210 OmniGothic 040"/>
                          <a:ea typeface="210 OmniGothic 040"/>
                          <a:cs typeface="210 OmniGothic 040"/>
                        </a:rPr>
                        <a:t>시작 조건</a:t>
                      </a:r>
                    </a:p>
                  </a:txBody>
                  <a:tcPr marL="137160" marR="137160" marT="60350" marB="60350" anchor="ctr">
                    <a:lnL w="9525">
                      <a:solidFill>
                        <a:srgbClr val="D9DCE5"/>
                      </a:solidFill>
                    </a:lnL>
                    <a:lnR w="9525">
                      <a:solidFill>
                        <a:srgbClr val="D9DCE5"/>
                      </a:solidFill>
                    </a:lnR>
                    <a:lnT w="9525">
                      <a:solidFill>
                        <a:srgbClr val="D9DCE5"/>
                      </a:solidFill>
                    </a:lnT>
                    <a:lnB w="9525">
                      <a:solidFill>
                        <a:srgbClr val="D9DCE5"/>
                      </a:solidFill>
                    </a:lnB>
                    <a:solidFill>
                      <a:srgbClr val="F3F4F8"/>
                    </a:solidFill>
                  </a:tcPr>
                </a:tc>
                <a:tc>
                  <a:txBody>
                    <a:bodyPr/>
                    <a:lstStyle/>
                    <a:p>
                      <a:pPr algn="l">
                        <a:lnSpc>
                          <a:spcPct val="110000"/>
                        </a:lnSpc>
                      </a:pPr>
                      <a:r>
                        <a:rPr sz="1550" b="0">
                          <a:solidFill>
                            <a:srgbClr val="363A52"/>
                          </a:solidFill>
                          <a:latin typeface="210 OmniGothic 040"/>
                          <a:ea typeface="210 OmniGothic 040"/>
                          <a:cs typeface="210 OmniGothic 040"/>
                        </a:rPr>
                        <a:t>통합지휘권자로 로그인, 종료할 산불이 '진행 중' 상태</a:t>
                      </a:r>
                    </a:p>
                  </a:txBody>
                  <a:tcPr marL="137160" marR="137160" marT="50292" marB="5029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3"/>
                  </a:ext>
                </a:extLst>
              </a:tr>
              <a:tr h="2364232">
                <a:tc vMerge="1">
                  <a:txBody>
                    <a:bodyPr/>
                    <a:lstStyle/>
                    <a:p>
                      <a:endParaRPr/>
                    </a:p>
                  </a:txBody>
                  <a:tcPr/>
                </a:tc>
                <a:tc>
                  <a:txBody>
                    <a:bodyPr/>
                    <a:lstStyle/>
                    <a:p>
                      <a:pPr algn="l"/>
                      <a:r>
                        <a:rPr sz="1550" b="1">
                          <a:solidFill>
                            <a:srgbClr val="363A52"/>
                          </a:solidFill>
                          <a:latin typeface="210 OmniGothic 040"/>
                          <a:ea typeface="210 OmniGothic 040"/>
                          <a:cs typeface="210 OmniGothic 040"/>
                        </a:rPr>
                        <a:t>기본 흐름</a:t>
                      </a:r>
                    </a:p>
                  </a:txBody>
                  <a:tcPr marL="137160" marR="137160" marT="60350" marB="60350" anchor="ctr">
                    <a:lnL w="9525">
                      <a:solidFill>
                        <a:srgbClr val="D9DCE5"/>
                      </a:solidFill>
                    </a:lnL>
                    <a:lnR w="9525">
                      <a:solidFill>
                        <a:srgbClr val="D9DCE5"/>
                      </a:solidFill>
                    </a:lnR>
                    <a:lnT w="9525">
                      <a:solidFill>
                        <a:srgbClr val="D9DCE5"/>
                      </a:solidFill>
                    </a:lnT>
                    <a:lnB w="9525">
                      <a:solidFill>
                        <a:srgbClr val="D9DCE5"/>
                      </a:solidFill>
                    </a:lnB>
                    <a:solidFill>
                      <a:srgbClr val="F3F4F8"/>
                    </a:solidFill>
                  </a:tcPr>
                </a:tc>
                <a:tc>
                  <a:txBody>
                    <a:bodyPr/>
                    <a:lstStyle/>
                    <a:p>
                      <a:pPr algn="l">
                        <a:lnSpc>
                          <a:spcPct val="110000"/>
                        </a:lnSpc>
                      </a:pPr>
                      <a:r>
                        <a:rPr sz="1550" b="0">
                          <a:solidFill>
                            <a:srgbClr val="363A52"/>
                          </a:solidFill>
                          <a:latin typeface="210 OmniGothic 040"/>
                          <a:ea typeface="210 OmniGothic 040"/>
                          <a:cs typeface="210 OmniGothic 040"/>
                        </a:rPr>
                        <a:t>1. 진화가 끝나면 통합지휘권자가 발생·접수 정보(UC-SIT-02) 화면에서 해당 산불을 고른다.</a:t>
                      </a:r>
                    </a:p>
                    <a:p>
                      <a:pPr algn="l">
                        <a:lnSpc>
                          <a:spcPct val="110000"/>
                        </a:lnSpc>
                      </a:pPr>
                      <a:r>
                        <a:rPr sz="1550" b="0">
                          <a:solidFill>
                            <a:srgbClr val="363A52"/>
                          </a:solidFill>
                          <a:latin typeface="210 OmniGothic 040"/>
                          <a:ea typeface="210 OmniGothic 040"/>
                          <a:cs typeface="210 OmniGothic 040"/>
                        </a:rPr>
                        <a:t>2. 통합지휘권자가 「종료 처리」를 누른다.</a:t>
                      </a:r>
                    </a:p>
                    <a:p>
                      <a:pPr algn="l">
                        <a:lnSpc>
                          <a:spcPct val="110000"/>
                        </a:lnSpc>
                      </a:pPr>
                      <a:r>
                        <a:rPr sz="1550" b="0">
                          <a:solidFill>
                            <a:srgbClr val="363A52"/>
                          </a:solidFill>
                          <a:latin typeface="210 OmniGothic 040"/>
                          <a:ea typeface="210 OmniGothic 040"/>
                          <a:cs typeface="210 OmniGothic 040"/>
                        </a:rPr>
                        <a:t>3. 시스템이 "종료하면 상황 보고·예측 실행·상황 정정이 막힙니다" 확인 창을 띄우고, 통합지휘권자가 「확인」을 누른다.</a:t>
                      </a:r>
                    </a:p>
                    <a:p>
                      <a:pPr algn="l">
                        <a:lnSpc>
                          <a:spcPct val="110000"/>
                        </a:lnSpc>
                      </a:pPr>
                      <a:r>
                        <a:rPr sz="1550" b="0">
                          <a:solidFill>
                            <a:srgbClr val="363A52"/>
                          </a:solidFill>
                          <a:latin typeface="210 OmniGothic 040"/>
                          <a:ea typeface="210 OmniGothic 040"/>
                          <a:cs typeface="210 OmniGothic 040"/>
                        </a:rPr>
                        <a:t>4. 시스템이 산불 상태를 "종료"로 바꾸고 종료 시각을 저장하며 이벤트 로그에 "산불 종료"를 기록한다.</a:t>
                      </a:r>
                    </a:p>
                    <a:p>
                      <a:pPr algn="l">
                        <a:lnSpc>
                          <a:spcPct val="110000"/>
                        </a:lnSpc>
                      </a:pPr>
                      <a:r>
                        <a:rPr sz="1550" b="0">
                          <a:solidFill>
                            <a:srgbClr val="363A52"/>
                          </a:solidFill>
                          <a:latin typeface="210 OmniGothic 040"/>
                          <a:ea typeface="210 OmniGothic 040"/>
                          <a:cs typeface="210 OmniGothic 040"/>
                        </a:rPr>
                        <a:t>5. 시스템이 해당 산불을 진행 중 목록에서 빼 종료 목록으로 옮기고, 이후 상황 보고(UC-REPORT-01)·예측 실행·상황 정정을 비활성화한다.</a:t>
                      </a:r>
                    </a:p>
                  </a:txBody>
                  <a:tcPr marL="137160" marR="137160" marT="50292" marB="5029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4"/>
                  </a:ext>
                </a:extLst>
              </a:tr>
              <a:tr h="407543">
                <a:tc vMerge="1">
                  <a:txBody>
                    <a:bodyPr/>
                    <a:lstStyle/>
                    <a:p>
                      <a:endParaRPr/>
                    </a:p>
                  </a:txBody>
                  <a:tcPr/>
                </a:tc>
                <a:tc>
                  <a:txBody>
                    <a:bodyPr/>
                    <a:lstStyle/>
                    <a:p>
                      <a:pPr algn="l"/>
                      <a:r>
                        <a:rPr sz="1550" b="1">
                          <a:solidFill>
                            <a:srgbClr val="363A52"/>
                          </a:solidFill>
                          <a:latin typeface="210 OmniGothic 040"/>
                          <a:ea typeface="210 OmniGothic 040"/>
                          <a:cs typeface="210 OmniGothic 040"/>
                        </a:rPr>
                        <a:t>대안 흐름</a:t>
                      </a:r>
                    </a:p>
                  </a:txBody>
                  <a:tcPr marL="137160" marR="137160" marT="60350" marB="60350" anchor="ctr">
                    <a:lnL w="9525">
                      <a:solidFill>
                        <a:srgbClr val="D9DCE5"/>
                      </a:solidFill>
                    </a:lnL>
                    <a:lnR w="9525">
                      <a:solidFill>
                        <a:srgbClr val="D9DCE5"/>
                      </a:solidFill>
                    </a:lnR>
                    <a:lnT w="9525">
                      <a:solidFill>
                        <a:srgbClr val="D9DCE5"/>
                      </a:solidFill>
                    </a:lnT>
                    <a:lnB w="9525">
                      <a:solidFill>
                        <a:srgbClr val="D9DCE5"/>
                      </a:solidFill>
                    </a:lnB>
                    <a:solidFill>
                      <a:srgbClr val="F3F4F8"/>
                    </a:solidFill>
                  </a:tcPr>
                </a:tc>
                <a:tc>
                  <a:txBody>
                    <a:bodyPr/>
                    <a:lstStyle/>
                    <a:p>
                      <a:pPr algn="l">
                        <a:lnSpc>
                          <a:spcPct val="110000"/>
                        </a:lnSpc>
                      </a:pPr>
                      <a:r>
                        <a:rPr sz="1550" b="0">
                          <a:solidFill>
                            <a:srgbClr val="363A52"/>
                          </a:solidFill>
                          <a:latin typeface="210 OmniGothic 040"/>
                          <a:ea typeface="210 OmniGothic 040"/>
                          <a:cs typeface="210 OmniGothic 040"/>
                        </a:rPr>
                        <a:t>A1. 확인 창에서 「취소」를 누를 시 → "진행 중" 상태 유지</a:t>
                      </a:r>
                    </a:p>
                  </a:txBody>
                  <a:tcPr marL="137160" marR="137160" marT="50292" marB="5029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5"/>
                  </a:ext>
                </a:extLst>
              </a:tr>
              <a:tr h="407543">
                <a:tc vMerge="1">
                  <a:txBody>
                    <a:bodyPr/>
                    <a:lstStyle/>
                    <a:p>
                      <a:endParaRPr/>
                    </a:p>
                  </a:txBody>
                  <a:tcPr/>
                </a:tc>
                <a:tc>
                  <a:txBody>
                    <a:bodyPr/>
                    <a:lstStyle/>
                    <a:p>
                      <a:pPr algn="l"/>
                      <a:r>
                        <a:rPr sz="1550" b="1">
                          <a:solidFill>
                            <a:srgbClr val="363A52"/>
                          </a:solidFill>
                          <a:latin typeface="210 OmniGothic 040"/>
                          <a:ea typeface="210 OmniGothic 040"/>
                          <a:cs typeface="210 OmniGothic 040"/>
                        </a:rPr>
                        <a:t>예외 흐름</a:t>
                      </a:r>
                    </a:p>
                  </a:txBody>
                  <a:tcPr marL="137160" marR="137160" marT="60350" marB="60350" anchor="ctr">
                    <a:lnL w="9525">
                      <a:solidFill>
                        <a:srgbClr val="D9DCE5"/>
                      </a:solidFill>
                    </a:lnL>
                    <a:lnR w="9525">
                      <a:solidFill>
                        <a:srgbClr val="D9DCE5"/>
                      </a:solidFill>
                    </a:lnR>
                    <a:lnT w="9525">
                      <a:solidFill>
                        <a:srgbClr val="D9DCE5"/>
                      </a:solidFill>
                    </a:lnT>
                    <a:lnB w="9525">
                      <a:solidFill>
                        <a:srgbClr val="D9DCE5"/>
                      </a:solidFill>
                    </a:lnB>
                    <a:solidFill>
                      <a:srgbClr val="F3F4F8"/>
                    </a:solidFill>
                  </a:tcPr>
                </a:tc>
                <a:tc>
                  <a:txBody>
                    <a:bodyPr/>
                    <a:lstStyle/>
                    <a:p>
                      <a:pPr algn="l">
                        <a:lnSpc>
                          <a:spcPct val="110000"/>
                        </a:lnSpc>
                      </a:pPr>
                      <a:r>
                        <a:rPr sz="1550" b="0">
                          <a:solidFill>
                            <a:srgbClr val="363A52"/>
                          </a:solidFill>
                          <a:latin typeface="210 OmniGothic 040"/>
                          <a:ea typeface="210 OmniGothic 040"/>
                          <a:cs typeface="210 OmniGothic 040"/>
                        </a:rPr>
                        <a:t>E1. 이미 종료된 산불이면 시스템이 「종료 처리」 버튼을 표시하지 않는다.</a:t>
                      </a:r>
                    </a:p>
                  </a:txBody>
                  <a:tcPr marL="137160" marR="137160" marT="50292" marB="5029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6"/>
                  </a:ext>
                </a:extLst>
              </a:tr>
              <a:tr h="407543">
                <a:tc vMerge="1">
                  <a:txBody>
                    <a:bodyPr/>
                    <a:lstStyle/>
                    <a:p>
                      <a:endParaRPr/>
                    </a:p>
                  </a:txBody>
                  <a:tcPr/>
                </a:tc>
                <a:tc>
                  <a:txBody>
                    <a:bodyPr/>
                    <a:lstStyle/>
                    <a:p>
                      <a:pPr algn="l"/>
                      <a:r>
                        <a:rPr sz="1550" b="1">
                          <a:solidFill>
                            <a:srgbClr val="363A52"/>
                          </a:solidFill>
                          <a:latin typeface="210 OmniGothic 040"/>
                          <a:ea typeface="210 OmniGothic 040"/>
                          <a:cs typeface="210 OmniGothic 040"/>
                        </a:rPr>
                        <a:t>종료 조건</a:t>
                      </a:r>
                    </a:p>
                  </a:txBody>
                  <a:tcPr marL="137160" marR="137160" marT="60350" marB="60350" anchor="ctr">
                    <a:lnL w="9525">
                      <a:solidFill>
                        <a:srgbClr val="D9DCE5"/>
                      </a:solidFill>
                    </a:lnL>
                    <a:lnR w="9525">
                      <a:solidFill>
                        <a:srgbClr val="D9DCE5"/>
                      </a:solidFill>
                    </a:lnR>
                    <a:lnT w="9525">
                      <a:solidFill>
                        <a:srgbClr val="D9DCE5"/>
                      </a:solidFill>
                    </a:lnT>
                    <a:lnB w="9525">
                      <a:solidFill>
                        <a:srgbClr val="D9DCE5"/>
                      </a:solidFill>
                    </a:lnB>
                    <a:solidFill>
                      <a:srgbClr val="F3F4F8"/>
                    </a:solidFill>
                  </a:tcPr>
                </a:tc>
                <a:tc>
                  <a:txBody>
                    <a:bodyPr/>
                    <a:lstStyle/>
                    <a:p>
                      <a:pPr algn="l">
                        <a:lnSpc>
                          <a:spcPct val="110000"/>
                        </a:lnSpc>
                      </a:pPr>
                      <a:r>
                        <a:rPr sz="1550" b="0">
                          <a:solidFill>
                            <a:srgbClr val="363A52"/>
                          </a:solidFill>
                          <a:latin typeface="210 OmniGothic 040"/>
                          <a:ea typeface="210 OmniGothic 040"/>
                          <a:cs typeface="210 OmniGothic 040"/>
                        </a:rPr>
                        <a:t>"종료" 상태와 종료 시각이 저장되고, 제안서·이력은 조회만 가능하다</a:t>
                      </a:r>
                    </a:p>
                  </a:txBody>
                  <a:tcPr marL="137160" marR="137160" marT="50292" marB="5029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05"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700" y="-12700"/>
            <a:ext cx="18313400" cy="1638300"/>
          </a:xfrm>
          <a:prstGeom prst="rect">
            <a:avLst/>
          </a:prstGeom>
        </p:spPr>
      </p:pic>
      <p:pic>
        <p:nvPicPr>
          <p:cNvPr id="5106"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28" y="1618343"/>
            <a:ext cx="18313400" cy="8699500"/>
          </a:xfrm>
          <a:prstGeom prst="rect">
            <a:avLst/>
          </a:prstGeom>
        </p:spPr>
      </p:pic>
      <p:pic>
        <p:nvPicPr>
          <p:cNvPr id="5107"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58800" y="9271000"/>
            <a:ext cx="17170400" cy="50800"/>
          </a:xfrm>
          <a:prstGeom prst="rect">
            <a:avLst/>
          </a:prstGeom>
        </p:spPr>
      </p:pic>
      <p:pic>
        <p:nvPicPr>
          <p:cNvPr id="5108" name="Picture 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278100" y="203200"/>
            <a:ext cx="1676400" cy="1409700"/>
          </a:xfrm>
          <a:prstGeom prst="rect">
            <a:avLst/>
          </a:prstGeom>
        </p:spPr>
      </p:pic>
      <p:sp>
        <p:nvSpPr>
          <p:cNvPr id="5109" name="Title"/>
          <p:cNvSpPr txBox="1"/>
          <p:nvPr/>
        </p:nvSpPr>
        <p:spPr>
          <a:xfrm>
            <a:off x="822960" y="384048"/>
            <a:ext cx="13258800" cy="877824"/>
          </a:xfrm>
          <a:prstGeom prst="rect">
            <a:avLst/>
          </a:prstGeom>
          <a:noFill/>
        </p:spPr>
        <p:txBody>
          <a:bodyPr wrap="square" lIns="0" tIns="0" rIns="0" bIns="0" anchor="ctr">
            <a:spAutoFit/>
          </a:bodyPr>
          <a:lstStyle/>
          <a:p>
            <a:pPr algn="l"/>
            <a:r>
              <a:rPr sz="4400" b="0">
                <a:solidFill>
                  <a:srgbClr val="FAA95A"/>
                </a:solidFill>
                <a:latin typeface="210 OmniGothic 050"/>
                <a:ea typeface="210 OmniGothic 050"/>
                <a:cs typeface="210 OmniGothic 050"/>
              </a:rPr>
              <a:t>03. 유스케이스 다이어그램</a:t>
            </a:r>
          </a:p>
        </p:txBody>
      </p:sp>
      <p:sp>
        <p:nvSpPr>
          <p:cNvPr id="5110" name="Subtitle"/>
          <p:cNvSpPr txBox="1"/>
          <p:nvPr/>
        </p:nvSpPr>
        <p:spPr>
          <a:xfrm>
            <a:off x="822960" y="1764792"/>
            <a:ext cx="16642080" cy="502920"/>
          </a:xfrm>
          <a:prstGeom prst="rect">
            <a:avLst/>
          </a:prstGeom>
          <a:noFill/>
        </p:spPr>
        <p:txBody>
          <a:bodyPr wrap="square" lIns="0" tIns="0" rIns="0" bIns="0" anchor="ctr">
            <a:spAutoFit/>
          </a:bodyPr>
          <a:lstStyle/>
          <a:p>
            <a:pPr algn="ctr"/>
            <a:r>
              <a:rPr sz="2600" b="1">
                <a:solidFill>
                  <a:srgbClr val="363A52"/>
                </a:solidFill>
                <a:latin typeface="210 OmniGothic 040"/>
                <a:ea typeface="210 OmniGothic 040"/>
                <a:cs typeface="210 OmniGothic 040"/>
              </a:rPr>
              <a:t>4. 시나리오 – 계정·권한 관리</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sz="quarter" idx="12"/>
          </p:nvPr>
        </p:nvSpPr>
        <p:spPr/>
        <p:txBody>
          <a:bodyPr/>
          <a:lstStyle/>
          <a:p>
            <a:fld id="{B6F15528-21DE-4FAA-801E-634DDDAF4B2B}" type="slidenum">
              <a:rPr lang="en-US" smtClean="0"/>
              <a:pPr/>
              <a:t>33</a:t>
            </a:fld>
            <a:endParaRPr lang="en-US"/>
          </a:p>
        </p:txBody>
      </p:sp>
      <p:graphicFrame>
        <p:nvGraphicFramePr>
          <p:cNvPr id="5111" name="Table 5110"/>
          <p:cNvGraphicFramePr>
            <a:graphicFrameLocks noGrp="1"/>
          </p:cNvGraphicFramePr>
          <p:nvPr/>
        </p:nvGraphicFramePr>
        <p:xfrm>
          <a:off x="1337310" y="2395728"/>
          <a:ext cx="15430500" cy="5669915"/>
        </p:xfrm>
        <a:graphic>
          <a:graphicData uri="http://schemas.openxmlformats.org/drawingml/2006/table">
            <a:tbl>
              <a:tblPr>
                <a:tableStyleId>{2D5ABB26-0587-4C30-8999-92F81FD0307C}</a:tableStyleId>
              </a:tblPr>
              <a:tblGrid>
                <a:gridCol w="1943100">
                  <a:extLst>
                    <a:ext uri="{9D8B030D-6E8A-4147-A177-3AD203B41FA5}">
                      <a16:colId xmlns:a16="http://schemas.microsoft.com/office/drawing/2014/main" val="20000"/>
                    </a:ext>
                  </a:extLst>
                </a:gridCol>
                <a:gridCol w="1657350">
                  <a:extLst>
                    <a:ext uri="{9D8B030D-6E8A-4147-A177-3AD203B41FA5}">
                      <a16:colId xmlns:a16="http://schemas.microsoft.com/office/drawing/2014/main" val="20001"/>
                    </a:ext>
                  </a:extLst>
                </a:gridCol>
                <a:gridCol w="11830050">
                  <a:extLst>
                    <a:ext uri="{9D8B030D-6E8A-4147-A177-3AD203B41FA5}">
                      <a16:colId xmlns:a16="http://schemas.microsoft.com/office/drawing/2014/main" val="20002"/>
                    </a:ext>
                  </a:extLst>
                </a:gridCol>
              </a:tblGrid>
              <a:tr h="407543">
                <a:tc rowSpan="8">
                  <a:txBody>
                    <a:bodyPr/>
                    <a:lstStyle/>
                    <a:p>
                      <a:pPr algn="ctr"/>
                      <a:r>
                        <a:rPr sz="1550" b="1">
                          <a:solidFill>
                            <a:srgbClr val="FFFFFF"/>
                          </a:solidFill>
                          <a:latin typeface="210 OmniGothic 040"/>
                          <a:ea typeface="210 OmniGothic 040"/>
                          <a:cs typeface="210 OmniGothic 040"/>
                        </a:rPr>
                        <a:t>UC-ADMIN-01</a:t>
                      </a:r>
                    </a:p>
                  </a:txBody>
                  <a:tcPr marT="40233" marB="40233" anchor="ctr">
                    <a:lnL w="9525">
                      <a:solidFill>
                        <a:srgbClr val="FFFFFF"/>
                      </a:solidFill>
                    </a:lnL>
                    <a:lnR w="9525">
                      <a:solidFill>
                        <a:srgbClr val="FFFFFF"/>
                      </a:solidFill>
                    </a:lnR>
                    <a:lnT w="9525">
                      <a:solidFill>
                        <a:srgbClr val="FFFFFF"/>
                      </a:solidFill>
                    </a:lnT>
                    <a:lnB w="9525">
                      <a:solidFill>
                        <a:srgbClr val="FFFFFF"/>
                      </a:solidFill>
                    </a:lnB>
                    <a:solidFill>
                      <a:srgbClr val="FAA95A"/>
                    </a:solidFill>
                  </a:tcPr>
                </a:tc>
                <a:tc gridSpan="2">
                  <a:txBody>
                    <a:bodyPr/>
                    <a:lstStyle/>
                    <a:p>
                      <a:pPr algn="ctr"/>
                      <a:r>
                        <a:rPr sz="1550" b="1">
                          <a:solidFill>
                            <a:srgbClr val="FFFFFF"/>
                          </a:solidFill>
                          <a:latin typeface="210 OmniGothic 040"/>
                          <a:ea typeface="210 OmniGothic 040"/>
                          <a:cs typeface="210 OmniGothic 040"/>
                        </a:rPr>
                        <a:t>계정·권한 관리</a:t>
                      </a:r>
                    </a:p>
                  </a:txBody>
                  <a:tcPr marT="40233" marB="40233" anchor="ctr">
                    <a:lnL w="9525">
                      <a:solidFill>
                        <a:srgbClr val="FFFFFF"/>
                      </a:solidFill>
                    </a:lnL>
                    <a:lnR w="9525">
                      <a:solidFill>
                        <a:srgbClr val="FFFFFF"/>
                      </a:solidFill>
                    </a:lnR>
                    <a:lnT w="9525">
                      <a:solidFill>
                        <a:srgbClr val="FFFFFF"/>
                      </a:solidFill>
                    </a:lnT>
                    <a:lnB w="9525">
                      <a:solidFill>
                        <a:srgbClr val="FFFFFF"/>
                      </a:solidFill>
                    </a:lnB>
                    <a:solidFill>
                      <a:srgbClr val="363A52"/>
                    </a:solidFill>
                  </a:tcPr>
                </a:tc>
                <a:tc hMerge="1">
                  <a:txBody>
                    <a:bodyPr/>
                    <a:lstStyle/>
                    <a:p>
                      <a:endParaRPr/>
                    </a:p>
                  </a:txBody>
                  <a:tcPr/>
                </a:tc>
                <a:extLst>
                  <a:ext uri="{0D108BD9-81ED-4DB2-BD59-A6C34878D82A}">
                    <a16:rowId xmlns:a16="http://schemas.microsoft.com/office/drawing/2014/main" val="10000"/>
                  </a:ext>
                </a:extLst>
              </a:tr>
              <a:tr h="687070">
                <a:tc vMerge="1">
                  <a:txBody>
                    <a:bodyPr/>
                    <a:lstStyle/>
                    <a:p>
                      <a:endParaRPr/>
                    </a:p>
                  </a:txBody>
                  <a:tcPr/>
                </a:tc>
                <a:tc>
                  <a:txBody>
                    <a:bodyPr/>
                    <a:lstStyle/>
                    <a:p>
                      <a:pPr algn="l"/>
                      <a:r>
                        <a:rPr sz="1550" b="1">
                          <a:solidFill>
                            <a:srgbClr val="363A52"/>
                          </a:solidFill>
                          <a:latin typeface="210 OmniGothic 040"/>
                          <a:ea typeface="210 OmniGothic 040"/>
                          <a:cs typeface="210 OmniGothic 040"/>
                        </a:rPr>
                        <a:t>개요</a:t>
                      </a:r>
                    </a:p>
                  </a:txBody>
                  <a:tcPr marL="137160" marR="137160" marT="60350" marB="60350" anchor="ctr">
                    <a:lnL w="9525">
                      <a:solidFill>
                        <a:srgbClr val="D9DCE5"/>
                      </a:solidFill>
                    </a:lnL>
                    <a:lnR w="9525">
                      <a:solidFill>
                        <a:srgbClr val="D9DCE5"/>
                      </a:solidFill>
                    </a:lnR>
                    <a:lnT w="9525" cap="flat" cmpd="sng" algn="ctr">
                      <a:solidFill>
                        <a:srgbClr val="FFFFFF"/>
                      </a:solidFill>
                      <a:prstDash val="solid"/>
                      <a:round/>
                      <a:headEnd type="none" w="med" len="med"/>
                      <a:tailEnd type="none" w="med" len="med"/>
                    </a:lnT>
                    <a:lnB w="9525">
                      <a:solidFill>
                        <a:srgbClr val="D9DCE5"/>
                      </a:solidFill>
                    </a:lnB>
                    <a:solidFill>
                      <a:srgbClr val="F3F4F8"/>
                    </a:solidFill>
                  </a:tcPr>
                </a:tc>
                <a:tc>
                  <a:txBody>
                    <a:bodyPr/>
                    <a:lstStyle/>
                    <a:p>
                      <a:pPr algn="l">
                        <a:lnSpc>
                          <a:spcPct val="110000"/>
                        </a:lnSpc>
                      </a:pPr>
                      <a:r>
                        <a:rPr sz="1550" b="0">
                          <a:solidFill>
                            <a:srgbClr val="363A52"/>
                          </a:solidFill>
                          <a:latin typeface="210 OmniGothic 040"/>
                          <a:ea typeface="210 OmniGothic 040"/>
                          <a:cs typeface="210 OmniGothic 040"/>
                        </a:rPr>
                        <a:t>전산 관리자가 평시에 사용자 계정을 발급·회수하고, 조작(통합지휘권자)·열람(열람자)·보고(상황 보고자) 권한을 나눈다. 회원가입이 없으므로 모든 계정은 여기서만 생기며, 전산 관리자 계정(관리 권한)은 시스템 설치 시 사전 발급한다</a:t>
                      </a:r>
                    </a:p>
                  </a:txBody>
                  <a:tcPr marL="137160" marR="137160" marT="50292" marB="5029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1"/>
                  </a:ext>
                </a:extLst>
              </a:tr>
              <a:tr h="407543">
                <a:tc vMerge="1">
                  <a:txBody>
                    <a:bodyPr/>
                    <a:lstStyle/>
                    <a:p>
                      <a:endParaRPr/>
                    </a:p>
                  </a:txBody>
                  <a:tcPr/>
                </a:tc>
                <a:tc>
                  <a:txBody>
                    <a:bodyPr/>
                    <a:lstStyle/>
                    <a:p>
                      <a:pPr algn="l"/>
                      <a:r>
                        <a:rPr sz="1550" b="1">
                          <a:solidFill>
                            <a:srgbClr val="363A52"/>
                          </a:solidFill>
                          <a:latin typeface="210 OmniGothic 040"/>
                          <a:ea typeface="210 OmniGothic 040"/>
                          <a:cs typeface="210 OmniGothic 040"/>
                        </a:rPr>
                        <a:t>액터</a:t>
                      </a:r>
                    </a:p>
                  </a:txBody>
                  <a:tcPr marL="137160" marR="137160" marT="60350" marB="60350" anchor="ctr">
                    <a:lnL w="9525">
                      <a:solidFill>
                        <a:srgbClr val="D9DCE5"/>
                      </a:solidFill>
                    </a:lnL>
                    <a:lnR w="9525">
                      <a:solidFill>
                        <a:srgbClr val="D9DCE5"/>
                      </a:solidFill>
                    </a:lnR>
                    <a:lnT w="9525">
                      <a:solidFill>
                        <a:srgbClr val="D9DCE5"/>
                      </a:solidFill>
                    </a:lnT>
                    <a:lnB w="9525">
                      <a:solidFill>
                        <a:srgbClr val="D9DCE5"/>
                      </a:solidFill>
                    </a:lnB>
                    <a:solidFill>
                      <a:srgbClr val="F3F4F8"/>
                    </a:solidFill>
                  </a:tcPr>
                </a:tc>
                <a:tc>
                  <a:txBody>
                    <a:bodyPr/>
                    <a:lstStyle/>
                    <a:p>
                      <a:pPr algn="l">
                        <a:lnSpc>
                          <a:spcPct val="110000"/>
                        </a:lnSpc>
                      </a:pPr>
                      <a:r>
                        <a:rPr sz="1550" b="0">
                          <a:solidFill>
                            <a:srgbClr val="363A52"/>
                          </a:solidFill>
                          <a:latin typeface="210 OmniGothic 040"/>
                          <a:ea typeface="210 OmniGothic 040"/>
                          <a:cs typeface="210 OmniGothic 040"/>
                        </a:rPr>
                        <a:t>전산 관리자</a:t>
                      </a:r>
                    </a:p>
                  </a:txBody>
                  <a:tcPr marL="137160" marR="137160" marT="50292" marB="5029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2"/>
                  </a:ext>
                </a:extLst>
              </a:tr>
              <a:tr h="407543">
                <a:tc vMerge="1">
                  <a:txBody>
                    <a:bodyPr/>
                    <a:lstStyle/>
                    <a:p>
                      <a:endParaRPr/>
                    </a:p>
                  </a:txBody>
                  <a:tcPr/>
                </a:tc>
                <a:tc>
                  <a:txBody>
                    <a:bodyPr/>
                    <a:lstStyle/>
                    <a:p>
                      <a:pPr algn="l"/>
                      <a:r>
                        <a:rPr sz="1550" b="1">
                          <a:solidFill>
                            <a:srgbClr val="363A52"/>
                          </a:solidFill>
                          <a:latin typeface="210 OmniGothic 040"/>
                          <a:ea typeface="210 OmniGothic 040"/>
                          <a:cs typeface="210 OmniGothic 040"/>
                        </a:rPr>
                        <a:t>시작 조건</a:t>
                      </a:r>
                    </a:p>
                  </a:txBody>
                  <a:tcPr marL="137160" marR="137160" marT="60350" marB="60350" anchor="ctr">
                    <a:lnL w="9525">
                      <a:solidFill>
                        <a:srgbClr val="D9DCE5"/>
                      </a:solidFill>
                    </a:lnL>
                    <a:lnR w="9525">
                      <a:solidFill>
                        <a:srgbClr val="D9DCE5"/>
                      </a:solidFill>
                    </a:lnR>
                    <a:lnT w="9525">
                      <a:solidFill>
                        <a:srgbClr val="D9DCE5"/>
                      </a:solidFill>
                    </a:lnT>
                    <a:lnB w="9525">
                      <a:solidFill>
                        <a:srgbClr val="D9DCE5"/>
                      </a:solidFill>
                    </a:lnB>
                    <a:solidFill>
                      <a:srgbClr val="F3F4F8"/>
                    </a:solidFill>
                  </a:tcPr>
                </a:tc>
                <a:tc>
                  <a:txBody>
                    <a:bodyPr/>
                    <a:lstStyle/>
                    <a:p>
                      <a:pPr algn="l">
                        <a:lnSpc>
                          <a:spcPct val="110000"/>
                        </a:lnSpc>
                      </a:pPr>
                      <a:r>
                        <a:rPr sz="1550" b="0">
                          <a:solidFill>
                            <a:srgbClr val="363A52"/>
                          </a:solidFill>
                          <a:latin typeface="210 OmniGothic 040"/>
                          <a:ea typeface="210 OmniGothic 040"/>
                          <a:cs typeface="210 OmniGothic 040"/>
                        </a:rPr>
                        <a:t>전산 관리자로 로그인</a:t>
                      </a:r>
                    </a:p>
                  </a:txBody>
                  <a:tcPr marL="137160" marR="137160" marT="50292" marB="5029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3"/>
                  </a:ext>
                </a:extLst>
              </a:tr>
              <a:tr h="1805178">
                <a:tc vMerge="1">
                  <a:txBody>
                    <a:bodyPr/>
                    <a:lstStyle/>
                    <a:p>
                      <a:endParaRPr/>
                    </a:p>
                  </a:txBody>
                  <a:tcPr/>
                </a:tc>
                <a:tc>
                  <a:txBody>
                    <a:bodyPr/>
                    <a:lstStyle/>
                    <a:p>
                      <a:pPr algn="l"/>
                      <a:r>
                        <a:rPr sz="1550" b="1">
                          <a:solidFill>
                            <a:srgbClr val="363A52"/>
                          </a:solidFill>
                          <a:latin typeface="210 OmniGothic 040"/>
                          <a:ea typeface="210 OmniGothic 040"/>
                          <a:cs typeface="210 OmniGothic 040"/>
                        </a:rPr>
                        <a:t>기본 흐름</a:t>
                      </a:r>
                    </a:p>
                  </a:txBody>
                  <a:tcPr marL="137160" marR="137160" marT="60350" marB="60350" anchor="ctr">
                    <a:lnL w="9525">
                      <a:solidFill>
                        <a:srgbClr val="D9DCE5"/>
                      </a:solidFill>
                    </a:lnL>
                    <a:lnR w="9525">
                      <a:solidFill>
                        <a:srgbClr val="D9DCE5"/>
                      </a:solidFill>
                    </a:lnR>
                    <a:lnT w="9525">
                      <a:solidFill>
                        <a:srgbClr val="D9DCE5"/>
                      </a:solidFill>
                    </a:lnT>
                    <a:lnB w="9525">
                      <a:solidFill>
                        <a:srgbClr val="D9DCE5"/>
                      </a:solidFill>
                    </a:lnB>
                    <a:solidFill>
                      <a:srgbClr val="F3F4F8"/>
                    </a:solidFill>
                  </a:tcPr>
                </a:tc>
                <a:tc>
                  <a:txBody>
                    <a:bodyPr/>
                    <a:lstStyle/>
                    <a:p>
                      <a:pPr algn="l">
                        <a:lnSpc>
                          <a:spcPct val="110000"/>
                        </a:lnSpc>
                      </a:pPr>
                      <a:r>
                        <a:rPr sz="1550" b="0">
                          <a:solidFill>
                            <a:srgbClr val="363A52"/>
                          </a:solidFill>
                          <a:latin typeface="210 OmniGothic 040"/>
                          <a:ea typeface="210 OmniGothic 040"/>
                          <a:cs typeface="210 OmniGothic 040"/>
                        </a:rPr>
                        <a:t>1. 전산 관리자가 「계정 관리」 화면을 연다.</a:t>
                      </a:r>
                    </a:p>
                    <a:p>
                      <a:pPr algn="l">
                        <a:lnSpc>
                          <a:spcPct val="110000"/>
                        </a:lnSpc>
                      </a:pPr>
                      <a:r>
                        <a:rPr sz="1550" b="0">
                          <a:solidFill>
                            <a:srgbClr val="363A52"/>
                          </a:solidFill>
                          <a:latin typeface="210 OmniGothic 040"/>
                          <a:ea typeface="210 OmniGothic 040"/>
                          <a:cs typeface="210 OmniGothic 040"/>
                        </a:rPr>
                        <a:t>2. 시스템이 발급된 계정 목록(아이디·이름·소속·권한·상태)을 보여준다.</a:t>
                      </a:r>
                    </a:p>
                    <a:p>
                      <a:pPr algn="l">
                        <a:lnSpc>
                          <a:spcPct val="110000"/>
                        </a:lnSpc>
                      </a:pPr>
                      <a:r>
                        <a:rPr sz="1550" b="0">
                          <a:solidFill>
                            <a:srgbClr val="363A52"/>
                          </a:solidFill>
                          <a:latin typeface="210 OmniGothic 040"/>
                          <a:ea typeface="210 OmniGothic 040"/>
                          <a:cs typeface="210 OmniGothic 040"/>
                        </a:rPr>
                        <a:t>3. 전산 관리자가 「계정 발급」을 누르고 이름·소속·권한을 입력한다.</a:t>
                      </a:r>
                    </a:p>
                    <a:p>
                      <a:pPr algn="l">
                        <a:lnSpc>
                          <a:spcPct val="110000"/>
                        </a:lnSpc>
                      </a:pPr>
                      <a:r>
                        <a:rPr sz="1550" b="0">
                          <a:solidFill>
                            <a:srgbClr val="363A52"/>
                          </a:solidFill>
                          <a:latin typeface="210 OmniGothic 040"/>
                          <a:ea typeface="210 OmniGothic 040"/>
                          <a:cs typeface="210 OmniGothic 040"/>
                        </a:rPr>
                        <a:t>4. 시스템이 아이디를 자동 생성해 중복을 검사하고 계정을 저장한 뒤 초기 비밀번호를 발급한다(시연용 프로토타입의 편의 방식).</a:t>
                      </a:r>
                    </a:p>
                    <a:p>
                      <a:pPr algn="l">
                        <a:lnSpc>
                          <a:spcPct val="110000"/>
                        </a:lnSpc>
                      </a:pPr>
                      <a:r>
                        <a:rPr sz="1550" b="0">
                          <a:solidFill>
                            <a:srgbClr val="363A52"/>
                          </a:solidFill>
                          <a:latin typeface="210 OmniGothic 040"/>
                          <a:ea typeface="210 OmniGothic 040"/>
                          <a:cs typeface="210 OmniGothic 040"/>
                        </a:rPr>
                        <a:t>5. 계정을 거둘 때 전산 관리자가 대상 계정의 「회수」를 누르면 시스템이 계정을 비활성화하고, 이후 그 계정의 로그인을 막는다(UC-AUTH-01 E2).</a:t>
                      </a:r>
                    </a:p>
                  </a:txBody>
                  <a:tcPr marL="137160" marR="137160" marT="50292" marB="5029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4"/>
                  </a:ext>
                </a:extLst>
              </a:tr>
              <a:tr h="407543">
                <a:tc vMerge="1">
                  <a:txBody>
                    <a:bodyPr/>
                    <a:lstStyle/>
                    <a:p>
                      <a:endParaRPr/>
                    </a:p>
                  </a:txBody>
                  <a:tcPr/>
                </a:tc>
                <a:tc>
                  <a:txBody>
                    <a:bodyPr/>
                    <a:lstStyle/>
                    <a:p>
                      <a:pPr algn="l"/>
                      <a:r>
                        <a:rPr sz="1550" b="1">
                          <a:solidFill>
                            <a:srgbClr val="363A52"/>
                          </a:solidFill>
                          <a:latin typeface="210 OmniGothic 040"/>
                          <a:ea typeface="210 OmniGothic 040"/>
                          <a:cs typeface="210 OmniGothic 040"/>
                        </a:rPr>
                        <a:t>대안 흐름</a:t>
                      </a:r>
                    </a:p>
                  </a:txBody>
                  <a:tcPr marL="137160" marR="137160" marT="60350" marB="60350" anchor="ctr">
                    <a:lnL w="9525">
                      <a:solidFill>
                        <a:srgbClr val="D9DCE5"/>
                      </a:solidFill>
                    </a:lnL>
                    <a:lnR w="9525">
                      <a:solidFill>
                        <a:srgbClr val="D9DCE5"/>
                      </a:solidFill>
                    </a:lnR>
                    <a:lnT w="9525">
                      <a:solidFill>
                        <a:srgbClr val="D9DCE5"/>
                      </a:solidFill>
                    </a:lnT>
                    <a:lnB w="9525">
                      <a:solidFill>
                        <a:srgbClr val="D9DCE5"/>
                      </a:solidFill>
                    </a:lnB>
                    <a:solidFill>
                      <a:srgbClr val="F3F4F8"/>
                    </a:solidFill>
                  </a:tcPr>
                </a:tc>
                <a:tc>
                  <a:txBody>
                    <a:bodyPr/>
                    <a:lstStyle/>
                    <a:p>
                      <a:pPr algn="l">
                        <a:lnSpc>
                          <a:spcPct val="110000"/>
                        </a:lnSpc>
                      </a:pPr>
                      <a:r>
                        <a:rPr sz="1550" b="0">
                          <a:solidFill>
                            <a:srgbClr val="363A52"/>
                          </a:solidFill>
                          <a:latin typeface="210 OmniGothic 040"/>
                          <a:ea typeface="210 OmniGothic 040"/>
                          <a:cs typeface="210 OmniGothic 040"/>
                        </a:rPr>
                        <a:t>A1. 기존 계정의 권한을 바꿀 시 → 저장 즉시 새 권한 적용(로그인 중인 세션 포함)</a:t>
                      </a:r>
                    </a:p>
                    <a:p>
                      <a:pPr algn="l">
                        <a:lnSpc>
                          <a:spcPct val="110000"/>
                        </a:lnSpc>
                      </a:pPr>
                      <a:r>
                        <a:rPr sz="1550" b="0">
                          <a:solidFill>
                            <a:srgbClr val="363A52"/>
                          </a:solidFill>
                          <a:latin typeface="210 OmniGothic 040"/>
                          <a:ea typeface="210 OmniGothic 040"/>
                          <a:cs typeface="210 OmniGothic 040"/>
                        </a:rPr>
                        <a:t>A2. 비밀번호를 잊은 계정 → 「재발급」으로 초기 비밀번호를 다시 발급</a:t>
                      </a:r>
                    </a:p>
                    <a:p>
                      <a:pPr algn="l">
                        <a:lnSpc>
                          <a:spcPct val="110000"/>
                        </a:lnSpc>
                      </a:pPr>
                      <a:r>
                        <a:rPr sz="1550" b="0">
                          <a:solidFill>
                            <a:srgbClr val="363A52"/>
                          </a:solidFill>
                          <a:latin typeface="210 OmniGothic 040"/>
                          <a:ea typeface="210 OmniGothic 040"/>
                          <a:cs typeface="210 OmniGothic 040"/>
                        </a:rPr>
                        <a:t>A3. 잠긴 계정 → 「잠금 해제」로 잠금을 풀고 실패 횟수를 0으로 초기화(UC-AUTH-01 E3)</a:t>
                      </a:r>
                    </a:p>
                    <a:p>
                      <a:pPr algn="l">
                        <a:lnSpc>
                          <a:spcPct val="110000"/>
                        </a:lnSpc>
                      </a:pPr>
                      <a:r>
                        <a:rPr sz="1550" b="0">
                          <a:solidFill>
                            <a:srgbClr val="363A52"/>
                          </a:solidFill>
                          <a:latin typeface="210 OmniGothic 040"/>
                          <a:ea typeface="210 OmniGothic 040"/>
                          <a:cs typeface="210 OmniGothic 040"/>
                        </a:rPr>
                        <a:t>A4. 더 쓰지 않는 계정 → 「삭제」(로그인 중인 자기 계정은 삭제 불가)</a:t>
                      </a:r>
                    </a:p>
                  </a:txBody>
                  <a:tcPr marL="137160" marR="137160" marT="50292" marB="5029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5"/>
                  </a:ext>
                </a:extLst>
              </a:tr>
              <a:tr h="407543">
                <a:tc vMerge="1">
                  <a:txBody>
                    <a:bodyPr/>
                    <a:lstStyle/>
                    <a:p>
                      <a:endParaRPr/>
                    </a:p>
                  </a:txBody>
                  <a:tcPr/>
                </a:tc>
                <a:tc>
                  <a:txBody>
                    <a:bodyPr/>
                    <a:lstStyle/>
                    <a:p>
                      <a:pPr algn="l"/>
                      <a:r>
                        <a:rPr sz="1550" b="1">
                          <a:solidFill>
                            <a:srgbClr val="363A52"/>
                          </a:solidFill>
                          <a:latin typeface="210 OmniGothic 040"/>
                          <a:ea typeface="210 OmniGothic 040"/>
                          <a:cs typeface="210 OmniGothic 040"/>
                        </a:rPr>
                        <a:t>예외 흐름</a:t>
                      </a:r>
                    </a:p>
                  </a:txBody>
                  <a:tcPr marL="137160" marR="137160" marT="60350" marB="60350" anchor="ctr">
                    <a:lnL w="9525">
                      <a:solidFill>
                        <a:srgbClr val="D9DCE5"/>
                      </a:solidFill>
                    </a:lnL>
                    <a:lnR w="9525">
                      <a:solidFill>
                        <a:srgbClr val="D9DCE5"/>
                      </a:solidFill>
                    </a:lnR>
                    <a:lnT w="9525">
                      <a:solidFill>
                        <a:srgbClr val="D9DCE5"/>
                      </a:solidFill>
                    </a:lnT>
                    <a:lnB w="9525">
                      <a:solidFill>
                        <a:srgbClr val="D9DCE5"/>
                      </a:solidFill>
                    </a:lnB>
                    <a:solidFill>
                      <a:srgbClr val="F3F4F8"/>
                    </a:solidFill>
                  </a:tcPr>
                </a:tc>
                <a:tc>
                  <a:txBody>
                    <a:bodyPr/>
                    <a:lstStyle/>
                    <a:p>
                      <a:pPr algn="l">
                        <a:lnSpc>
                          <a:spcPct val="110000"/>
                        </a:lnSpc>
                      </a:pPr>
                      <a:r>
                        <a:rPr sz="1550" b="0">
                          <a:solidFill>
                            <a:srgbClr val="363A52"/>
                          </a:solidFill>
                          <a:latin typeface="210 OmniGothic 040"/>
                          <a:ea typeface="210 OmniGothic 040"/>
                          <a:cs typeface="210 OmniGothic 040"/>
                        </a:rPr>
                        <a:t>E1. 이름·소속·권한 중 빈 값이 있으면 시스템이 발급을 막고 빠진 칸을 표시한다.</a:t>
                      </a:r>
                    </a:p>
                  </a:txBody>
                  <a:tcPr marL="137160" marR="137160" marT="50292" marB="5029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6"/>
                  </a:ext>
                </a:extLst>
              </a:tr>
              <a:tr h="407543">
                <a:tc vMerge="1">
                  <a:txBody>
                    <a:bodyPr/>
                    <a:lstStyle/>
                    <a:p>
                      <a:endParaRPr/>
                    </a:p>
                  </a:txBody>
                  <a:tcPr/>
                </a:tc>
                <a:tc>
                  <a:txBody>
                    <a:bodyPr/>
                    <a:lstStyle/>
                    <a:p>
                      <a:pPr algn="l"/>
                      <a:r>
                        <a:rPr sz="1550" b="1">
                          <a:solidFill>
                            <a:srgbClr val="363A52"/>
                          </a:solidFill>
                          <a:latin typeface="210 OmniGothic 040"/>
                          <a:ea typeface="210 OmniGothic 040"/>
                          <a:cs typeface="210 OmniGothic 040"/>
                        </a:rPr>
                        <a:t>종료 조건</a:t>
                      </a:r>
                    </a:p>
                  </a:txBody>
                  <a:tcPr marL="137160" marR="137160" marT="60350" marB="60350" anchor="ctr">
                    <a:lnL w="9525">
                      <a:solidFill>
                        <a:srgbClr val="D9DCE5"/>
                      </a:solidFill>
                    </a:lnL>
                    <a:lnR w="9525">
                      <a:solidFill>
                        <a:srgbClr val="D9DCE5"/>
                      </a:solidFill>
                    </a:lnR>
                    <a:lnT w="9525">
                      <a:solidFill>
                        <a:srgbClr val="D9DCE5"/>
                      </a:solidFill>
                    </a:lnT>
                    <a:lnB w="9525">
                      <a:solidFill>
                        <a:srgbClr val="D9DCE5"/>
                      </a:solidFill>
                    </a:lnB>
                    <a:solidFill>
                      <a:srgbClr val="F3F4F8"/>
                    </a:solidFill>
                  </a:tcPr>
                </a:tc>
                <a:tc>
                  <a:txBody>
                    <a:bodyPr/>
                    <a:lstStyle/>
                    <a:p>
                      <a:pPr algn="l">
                        <a:lnSpc>
                          <a:spcPct val="110000"/>
                        </a:lnSpc>
                      </a:pPr>
                      <a:r>
                        <a:rPr sz="1550" b="0">
                          <a:solidFill>
                            <a:srgbClr val="363A52"/>
                          </a:solidFill>
                          <a:latin typeface="210 OmniGothic 040"/>
                          <a:ea typeface="210 OmniGothic 040"/>
                          <a:cs typeface="210 OmniGothic 040"/>
                        </a:rPr>
                        <a:t>계정·권한이 저장되어 로그인에 쓰인다</a:t>
                      </a:r>
                    </a:p>
                  </a:txBody>
                  <a:tcPr marL="137160" marR="137160" marT="50292" marB="5029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05"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2700" y="-12700"/>
            <a:ext cx="18313400" cy="1638300"/>
          </a:xfrm>
          <a:prstGeom prst="rect">
            <a:avLst/>
          </a:prstGeom>
        </p:spPr>
      </p:pic>
      <p:pic>
        <p:nvPicPr>
          <p:cNvPr id="5106"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628" y="1618343"/>
            <a:ext cx="18313400" cy="8699500"/>
          </a:xfrm>
          <a:prstGeom prst="rect">
            <a:avLst/>
          </a:prstGeom>
        </p:spPr>
      </p:pic>
      <p:pic>
        <p:nvPicPr>
          <p:cNvPr id="5107"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58800" y="9271000"/>
            <a:ext cx="17170400" cy="50800"/>
          </a:xfrm>
          <a:prstGeom prst="rect">
            <a:avLst/>
          </a:prstGeom>
        </p:spPr>
      </p:pic>
      <p:pic>
        <p:nvPicPr>
          <p:cNvPr id="5108" name="Picture 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278100" y="203200"/>
            <a:ext cx="1676400" cy="1409700"/>
          </a:xfrm>
          <a:prstGeom prst="rect">
            <a:avLst/>
          </a:prstGeom>
        </p:spPr>
      </p:pic>
      <p:sp>
        <p:nvSpPr>
          <p:cNvPr id="5109" name="Title"/>
          <p:cNvSpPr txBox="1"/>
          <p:nvPr/>
        </p:nvSpPr>
        <p:spPr>
          <a:xfrm>
            <a:off x="822960" y="384048"/>
            <a:ext cx="13258800" cy="877824"/>
          </a:xfrm>
          <a:prstGeom prst="rect">
            <a:avLst/>
          </a:prstGeom>
          <a:noFill/>
        </p:spPr>
        <p:txBody>
          <a:bodyPr wrap="square" lIns="0" tIns="0" rIns="0" bIns="0" anchor="ctr">
            <a:spAutoFit/>
          </a:bodyPr>
          <a:lstStyle/>
          <a:p>
            <a:pPr algn="l"/>
            <a:r>
              <a:rPr sz="4400" b="0">
                <a:solidFill>
                  <a:srgbClr val="FAA95A"/>
                </a:solidFill>
                <a:latin typeface="210 OmniGothic 050"/>
                <a:ea typeface="210 OmniGothic 050"/>
                <a:cs typeface="210 OmniGothic 050"/>
              </a:rPr>
              <a:t>03. 유스케이스 다이어그램</a:t>
            </a:r>
          </a:p>
        </p:txBody>
      </p:sp>
      <p:sp>
        <p:nvSpPr>
          <p:cNvPr id="5110" name="Subtitle"/>
          <p:cNvSpPr txBox="1"/>
          <p:nvPr/>
        </p:nvSpPr>
        <p:spPr>
          <a:xfrm>
            <a:off x="822960" y="1764792"/>
            <a:ext cx="16642080" cy="502920"/>
          </a:xfrm>
          <a:prstGeom prst="rect">
            <a:avLst/>
          </a:prstGeom>
          <a:noFill/>
        </p:spPr>
        <p:txBody>
          <a:bodyPr wrap="square" lIns="0" tIns="0" rIns="0" bIns="0" anchor="ctr">
            <a:spAutoFit/>
          </a:bodyPr>
          <a:lstStyle/>
          <a:p>
            <a:pPr algn="ctr"/>
            <a:r>
              <a:rPr sz="2600" b="1">
                <a:solidFill>
                  <a:srgbClr val="363A52"/>
                </a:solidFill>
                <a:latin typeface="210 OmniGothic 040"/>
                <a:ea typeface="210 OmniGothic 040"/>
                <a:cs typeface="210 OmniGothic 040"/>
              </a:rPr>
              <a:t>4. 시나리오 – 진화자원 데이터 관리</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sz="quarter" idx="12"/>
          </p:nvPr>
        </p:nvSpPr>
        <p:spPr/>
        <p:txBody>
          <a:bodyPr/>
          <a:lstStyle/>
          <a:p>
            <a:fld id="{B6F15528-21DE-4FAA-801E-634DDDAF4B2B}" type="slidenum">
              <a:rPr lang="en-US" smtClean="0"/>
              <a:pPr/>
              <a:t>34</a:t>
            </a:fld>
            <a:endParaRPr lang="en-US"/>
          </a:p>
        </p:txBody>
      </p:sp>
      <p:graphicFrame>
        <p:nvGraphicFramePr>
          <p:cNvPr id="5111" name="Table 5110"/>
          <p:cNvGraphicFramePr>
            <a:graphicFrameLocks noGrp="1"/>
          </p:cNvGraphicFramePr>
          <p:nvPr/>
        </p:nvGraphicFramePr>
        <p:xfrm>
          <a:off x="1337310" y="2395728"/>
          <a:ext cx="15430500" cy="4937506"/>
        </p:xfrm>
        <a:graphic>
          <a:graphicData uri="http://schemas.openxmlformats.org/drawingml/2006/table">
            <a:tbl>
              <a:tblPr>
                <a:tableStyleId>{2D5ABB26-0587-4C30-8999-92F81FD0307C}</a:tableStyleId>
              </a:tblPr>
              <a:tblGrid>
                <a:gridCol w="1943100">
                  <a:extLst>
                    <a:ext uri="{9D8B030D-6E8A-4147-A177-3AD203B41FA5}">
                      <a16:colId xmlns:a16="http://schemas.microsoft.com/office/drawing/2014/main" val="20000"/>
                    </a:ext>
                  </a:extLst>
                </a:gridCol>
                <a:gridCol w="1657350">
                  <a:extLst>
                    <a:ext uri="{9D8B030D-6E8A-4147-A177-3AD203B41FA5}">
                      <a16:colId xmlns:a16="http://schemas.microsoft.com/office/drawing/2014/main" val="20001"/>
                    </a:ext>
                  </a:extLst>
                </a:gridCol>
                <a:gridCol w="11830050">
                  <a:extLst>
                    <a:ext uri="{9D8B030D-6E8A-4147-A177-3AD203B41FA5}">
                      <a16:colId xmlns:a16="http://schemas.microsoft.com/office/drawing/2014/main" val="20002"/>
                    </a:ext>
                  </a:extLst>
                </a:gridCol>
              </a:tblGrid>
              <a:tr h="407543">
                <a:tc rowSpan="8">
                  <a:txBody>
                    <a:bodyPr/>
                    <a:lstStyle/>
                    <a:p>
                      <a:pPr algn="ctr"/>
                      <a:r>
                        <a:rPr sz="1550" b="1">
                          <a:solidFill>
                            <a:srgbClr val="FFFFFF"/>
                          </a:solidFill>
                          <a:latin typeface="210 OmniGothic 040"/>
                          <a:ea typeface="210 OmniGothic 040"/>
                          <a:cs typeface="210 OmniGothic 040"/>
                        </a:rPr>
                        <a:t>UC-ADMIN-02</a:t>
                      </a:r>
                    </a:p>
                  </a:txBody>
                  <a:tcPr marT="40233" marB="40233" anchor="ctr">
                    <a:lnL w="9525">
                      <a:solidFill>
                        <a:srgbClr val="FFFFFF"/>
                      </a:solidFill>
                    </a:lnL>
                    <a:lnR w="9525">
                      <a:solidFill>
                        <a:srgbClr val="FFFFFF"/>
                      </a:solidFill>
                    </a:lnR>
                    <a:lnT w="9525">
                      <a:solidFill>
                        <a:srgbClr val="FFFFFF"/>
                      </a:solidFill>
                    </a:lnT>
                    <a:lnB w="9525">
                      <a:solidFill>
                        <a:srgbClr val="FFFFFF"/>
                      </a:solidFill>
                    </a:lnB>
                    <a:solidFill>
                      <a:srgbClr val="FAA95A"/>
                    </a:solidFill>
                  </a:tcPr>
                </a:tc>
                <a:tc gridSpan="2">
                  <a:txBody>
                    <a:bodyPr/>
                    <a:lstStyle/>
                    <a:p>
                      <a:pPr algn="ctr"/>
                      <a:r>
                        <a:rPr sz="1550" b="1">
                          <a:solidFill>
                            <a:srgbClr val="FFFFFF"/>
                          </a:solidFill>
                          <a:latin typeface="210 OmniGothic 040"/>
                          <a:ea typeface="210 OmniGothic 040"/>
                          <a:cs typeface="210 OmniGothic 040"/>
                        </a:rPr>
                        <a:t>진화자원 데이터 관리</a:t>
                      </a:r>
                    </a:p>
                  </a:txBody>
                  <a:tcPr marT="40233" marB="40233" anchor="ctr">
                    <a:lnL w="9525">
                      <a:solidFill>
                        <a:srgbClr val="FFFFFF"/>
                      </a:solidFill>
                    </a:lnL>
                    <a:lnR w="9525">
                      <a:solidFill>
                        <a:srgbClr val="FFFFFF"/>
                      </a:solidFill>
                    </a:lnR>
                    <a:lnT w="9525">
                      <a:solidFill>
                        <a:srgbClr val="FFFFFF"/>
                      </a:solidFill>
                    </a:lnT>
                    <a:lnB w="9525">
                      <a:solidFill>
                        <a:srgbClr val="FFFFFF"/>
                      </a:solidFill>
                    </a:lnB>
                    <a:solidFill>
                      <a:srgbClr val="363A52"/>
                    </a:solidFill>
                  </a:tcPr>
                </a:tc>
                <a:tc hMerge="1">
                  <a:txBody>
                    <a:bodyPr/>
                    <a:lstStyle/>
                    <a:p>
                      <a:endParaRPr/>
                    </a:p>
                  </a:txBody>
                  <a:tcPr/>
                </a:tc>
                <a:extLst>
                  <a:ext uri="{0D108BD9-81ED-4DB2-BD59-A6C34878D82A}">
                    <a16:rowId xmlns:a16="http://schemas.microsoft.com/office/drawing/2014/main" val="10000"/>
                  </a:ext>
                </a:extLst>
              </a:tr>
              <a:tr h="407543">
                <a:tc vMerge="1">
                  <a:txBody>
                    <a:bodyPr/>
                    <a:lstStyle/>
                    <a:p>
                      <a:endParaRPr/>
                    </a:p>
                  </a:txBody>
                  <a:tcPr/>
                </a:tc>
                <a:tc>
                  <a:txBody>
                    <a:bodyPr/>
                    <a:lstStyle/>
                    <a:p>
                      <a:pPr algn="l"/>
                      <a:r>
                        <a:rPr sz="1550" b="1">
                          <a:solidFill>
                            <a:srgbClr val="363A52"/>
                          </a:solidFill>
                          <a:latin typeface="210 OmniGothic 040"/>
                          <a:ea typeface="210 OmniGothic 040"/>
                          <a:cs typeface="210 OmniGothic 040"/>
                        </a:rPr>
                        <a:t>개요</a:t>
                      </a:r>
                    </a:p>
                  </a:txBody>
                  <a:tcPr marL="137160" marR="137160" marT="60350" marB="60350" anchor="ctr">
                    <a:lnL w="9525">
                      <a:solidFill>
                        <a:srgbClr val="D9DCE5"/>
                      </a:solidFill>
                    </a:lnL>
                    <a:lnR w="9525">
                      <a:solidFill>
                        <a:srgbClr val="D9DCE5"/>
                      </a:solidFill>
                    </a:lnR>
                    <a:lnT w="9525" cap="flat" cmpd="sng" algn="ctr">
                      <a:solidFill>
                        <a:srgbClr val="FFFFFF"/>
                      </a:solidFill>
                      <a:prstDash val="solid"/>
                      <a:round/>
                      <a:headEnd type="none" w="med" len="med"/>
                      <a:tailEnd type="none" w="med" len="med"/>
                    </a:lnT>
                    <a:lnB w="9525">
                      <a:solidFill>
                        <a:srgbClr val="D9DCE5"/>
                      </a:solidFill>
                    </a:lnB>
                    <a:solidFill>
                      <a:srgbClr val="F3F4F8"/>
                    </a:solidFill>
                  </a:tcPr>
                </a:tc>
                <a:tc>
                  <a:txBody>
                    <a:bodyPr/>
                    <a:lstStyle/>
                    <a:p>
                      <a:pPr algn="l">
                        <a:lnSpc>
                          <a:spcPct val="110000"/>
                        </a:lnSpc>
                      </a:pPr>
                      <a:r>
                        <a:rPr sz="1550" b="0">
                          <a:solidFill>
                            <a:srgbClr val="363A52"/>
                          </a:solidFill>
                          <a:latin typeface="210 OmniGothic 040"/>
                          <a:ea typeface="210 OmniGothic 040"/>
                          <a:cs typeface="210 OmniGothic 040"/>
                        </a:rPr>
                        <a:t>전산 관리자가 보유 헬기·차량·인력 데이터를 등록·수정·삭제한다.</a:t>
                      </a:r>
                    </a:p>
                  </a:txBody>
                  <a:tcPr marL="137160" marR="137160" marT="50292" marB="5029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1"/>
                  </a:ext>
                </a:extLst>
              </a:tr>
              <a:tr h="407543">
                <a:tc vMerge="1">
                  <a:txBody>
                    <a:bodyPr/>
                    <a:lstStyle/>
                    <a:p>
                      <a:endParaRPr/>
                    </a:p>
                  </a:txBody>
                  <a:tcPr/>
                </a:tc>
                <a:tc>
                  <a:txBody>
                    <a:bodyPr/>
                    <a:lstStyle/>
                    <a:p>
                      <a:pPr algn="l"/>
                      <a:r>
                        <a:rPr sz="1550" b="1">
                          <a:solidFill>
                            <a:srgbClr val="363A52"/>
                          </a:solidFill>
                          <a:latin typeface="210 OmniGothic 040"/>
                          <a:ea typeface="210 OmniGothic 040"/>
                          <a:cs typeface="210 OmniGothic 040"/>
                        </a:rPr>
                        <a:t>액터</a:t>
                      </a:r>
                    </a:p>
                  </a:txBody>
                  <a:tcPr marL="137160" marR="137160" marT="60350" marB="60350" anchor="ctr">
                    <a:lnL w="9525">
                      <a:solidFill>
                        <a:srgbClr val="D9DCE5"/>
                      </a:solidFill>
                    </a:lnL>
                    <a:lnR w="9525">
                      <a:solidFill>
                        <a:srgbClr val="D9DCE5"/>
                      </a:solidFill>
                    </a:lnR>
                    <a:lnT w="9525">
                      <a:solidFill>
                        <a:srgbClr val="D9DCE5"/>
                      </a:solidFill>
                    </a:lnT>
                    <a:lnB w="9525">
                      <a:solidFill>
                        <a:srgbClr val="D9DCE5"/>
                      </a:solidFill>
                    </a:lnB>
                    <a:solidFill>
                      <a:srgbClr val="F3F4F8"/>
                    </a:solidFill>
                  </a:tcPr>
                </a:tc>
                <a:tc>
                  <a:txBody>
                    <a:bodyPr/>
                    <a:lstStyle/>
                    <a:p>
                      <a:pPr algn="l">
                        <a:lnSpc>
                          <a:spcPct val="110000"/>
                        </a:lnSpc>
                      </a:pPr>
                      <a:r>
                        <a:rPr sz="1550" b="0">
                          <a:solidFill>
                            <a:srgbClr val="363A52"/>
                          </a:solidFill>
                          <a:latin typeface="210 OmniGothic 040"/>
                          <a:ea typeface="210 OmniGothic 040"/>
                          <a:cs typeface="210 OmniGothic 040"/>
                        </a:rPr>
                        <a:t>전산 관리자</a:t>
                      </a:r>
                    </a:p>
                  </a:txBody>
                  <a:tcPr marL="137160" marR="137160" marT="50292" marB="5029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2"/>
                  </a:ext>
                </a:extLst>
              </a:tr>
              <a:tr h="407543">
                <a:tc vMerge="1">
                  <a:txBody>
                    <a:bodyPr/>
                    <a:lstStyle/>
                    <a:p>
                      <a:endParaRPr/>
                    </a:p>
                  </a:txBody>
                  <a:tcPr/>
                </a:tc>
                <a:tc>
                  <a:txBody>
                    <a:bodyPr/>
                    <a:lstStyle/>
                    <a:p>
                      <a:pPr algn="l"/>
                      <a:r>
                        <a:rPr sz="1550" b="1">
                          <a:solidFill>
                            <a:srgbClr val="363A52"/>
                          </a:solidFill>
                          <a:latin typeface="210 OmniGothic 040"/>
                          <a:ea typeface="210 OmniGothic 040"/>
                          <a:cs typeface="210 OmniGothic 040"/>
                        </a:rPr>
                        <a:t>시작 조건</a:t>
                      </a:r>
                    </a:p>
                  </a:txBody>
                  <a:tcPr marL="137160" marR="137160" marT="60350" marB="60350" anchor="ctr">
                    <a:lnL w="9525">
                      <a:solidFill>
                        <a:srgbClr val="D9DCE5"/>
                      </a:solidFill>
                    </a:lnL>
                    <a:lnR w="9525">
                      <a:solidFill>
                        <a:srgbClr val="D9DCE5"/>
                      </a:solidFill>
                    </a:lnR>
                    <a:lnT w="9525">
                      <a:solidFill>
                        <a:srgbClr val="D9DCE5"/>
                      </a:solidFill>
                    </a:lnT>
                    <a:lnB w="9525">
                      <a:solidFill>
                        <a:srgbClr val="D9DCE5"/>
                      </a:solidFill>
                    </a:lnB>
                    <a:solidFill>
                      <a:srgbClr val="F3F4F8"/>
                    </a:solidFill>
                  </a:tcPr>
                </a:tc>
                <a:tc>
                  <a:txBody>
                    <a:bodyPr/>
                    <a:lstStyle/>
                    <a:p>
                      <a:pPr algn="l">
                        <a:lnSpc>
                          <a:spcPct val="110000"/>
                        </a:lnSpc>
                      </a:pPr>
                      <a:r>
                        <a:rPr sz="1550" b="0">
                          <a:solidFill>
                            <a:srgbClr val="363A52"/>
                          </a:solidFill>
                          <a:latin typeface="210 OmniGothic 040"/>
                          <a:ea typeface="210 OmniGothic 040"/>
                          <a:cs typeface="210 OmniGothic 040"/>
                        </a:rPr>
                        <a:t>전산 관리자로 로그인</a:t>
                      </a:r>
                    </a:p>
                  </a:txBody>
                  <a:tcPr marL="137160" marR="137160" marT="50292" marB="5029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3"/>
                  </a:ext>
                </a:extLst>
              </a:tr>
              <a:tr h="2084705">
                <a:tc vMerge="1">
                  <a:txBody>
                    <a:bodyPr/>
                    <a:lstStyle/>
                    <a:p>
                      <a:endParaRPr/>
                    </a:p>
                  </a:txBody>
                  <a:tcPr/>
                </a:tc>
                <a:tc>
                  <a:txBody>
                    <a:bodyPr/>
                    <a:lstStyle/>
                    <a:p>
                      <a:pPr algn="l"/>
                      <a:r>
                        <a:rPr sz="1550" b="1">
                          <a:solidFill>
                            <a:srgbClr val="363A52"/>
                          </a:solidFill>
                          <a:latin typeface="210 OmniGothic 040"/>
                          <a:ea typeface="210 OmniGothic 040"/>
                          <a:cs typeface="210 OmniGothic 040"/>
                        </a:rPr>
                        <a:t>기본 흐름</a:t>
                      </a:r>
                    </a:p>
                  </a:txBody>
                  <a:tcPr marL="137160" marR="137160" marT="60350" marB="60350" anchor="ctr">
                    <a:lnL w="9525">
                      <a:solidFill>
                        <a:srgbClr val="D9DCE5"/>
                      </a:solidFill>
                    </a:lnL>
                    <a:lnR w="9525">
                      <a:solidFill>
                        <a:srgbClr val="D9DCE5"/>
                      </a:solidFill>
                    </a:lnR>
                    <a:lnT w="9525">
                      <a:solidFill>
                        <a:srgbClr val="D9DCE5"/>
                      </a:solidFill>
                    </a:lnT>
                    <a:lnB w="9525">
                      <a:solidFill>
                        <a:srgbClr val="D9DCE5"/>
                      </a:solidFill>
                    </a:lnB>
                    <a:solidFill>
                      <a:srgbClr val="F3F4F8"/>
                    </a:solidFill>
                  </a:tcPr>
                </a:tc>
                <a:tc>
                  <a:txBody>
                    <a:bodyPr/>
                    <a:lstStyle/>
                    <a:p>
                      <a:pPr algn="l">
                        <a:lnSpc>
                          <a:spcPct val="110000"/>
                        </a:lnSpc>
                      </a:pPr>
                      <a:r>
                        <a:rPr sz="1550" b="0">
                          <a:solidFill>
                            <a:srgbClr val="363A52"/>
                          </a:solidFill>
                          <a:latin typeface="210 OmniGothic 040"/>
                          <a:ea typeface="210 OmniGothic 040"/>
                          <a:cs typeface="210 OmniGothic 040"/>
                        </a:rPr>
                        <a:t>1. 전산 관리자가 「진화자원 데이터 관리」 화면을 연다.</a:t>
                      </a:r>
                    </a:p>
                    <a:p>
                      <a:pPr algn="l">
                        <a:lnSpc>
                          <a:spcPct val="110000"/>
                        </a:lnSpc>
                      </a:pPr>
                      <a:r>
                        <a:rPr sz="1550" b="0">
                          <a:solidFill>
                            <a:srgbClr val="363A52"/>
                          </a:solidFill>
                          <a:latin typeface="210 OmniGothic 040"/>
                          <a:ea typeface="210 OmniGothic 040"/>
                          <a:cs typeface="210 OmniGothic 040"/>
                        </a:rPr>
                        <a:t>2. 시스템이 자원 목록(구분[헬기·차량·인력]·소속·수량·호출부호[자원별 무전 식별명, 예: 산림 101호]·배치 위치[평소 대기 장소, 예: ○○ 산림항공관리소])을 보여준다.</a:t>
                      </a:r>
                    </a:p>
                    <a:p>
                      <a:pPr algn="l">
                        <a:lnSpc>
                          <a:spcPct val="110000"/>
                        </a:lnSpc>
                      </a:pPr>
                      <a:r>
                        <a:rPr sz="1550" b="0">
                          <a:solidFill>
                            <a:srgbClr val="363A52"/>
                          </a:solidFill>
                          <a:latin typeface="210 OmniGothic 040"/>
                          <a:ea typeface="210 OmniGothic 040"/>
                          <a:cs typeface="210 OmniGothic 040"/>
                        </a:rPr>
                        <a:t>3. 전산 관리자가 새 자원을 등록하거나 기존 자원의 값을 고치거나 삭제한다.</a:t>
                      </a:r>
                    </a:p>
                    <a:p>
                      <a:pPr algn="l">
                        <a:lnSpc>
                          <a:spcPct val="110000"/>
                        </a:lnSpc>
                      </a:pPr>
                      <a:r>
                        <a:rPr sz="1550" b="0">
                          <a:solidFill>
                            <a:srgbClr val="363A52"/>
                          </a:solidFill>
                          <a:latin typeface="210 OmniGothic 040"/>
                          <a:ea typeface="210 OmniGothic 040"/>
                          <a:cs typeface="210 OmniGothic 040"/>
                        </a:rPr>
                        <a:t>4. 시스템이 필수 값(구분·명칭(호출부호)·소속·수량)을 검사하고 저장한다.</a:t>
                      </a:r>
                    </a:p>
                    <a:p>
                      <a:pPr algn="l">
                        <a:lnSpc>
                          <a:spcPct val="110000"/>
                        </a:lnSpc>
                      </a:pPr>
                      <a:r>
                        <a:rPr sz="1550" b="0">
                          <a:solidFill>
                            <a:srgbClr val="363A52"/>
                          </a:solidFill>
                          <a:latin typeface="210 OmniGothic 040"/>
                          <a:ea typeface="210 OmniGothic 040"/>
                          <a:cs typeface="210 OmniGothic 040"/>
                        </a:rPr>
                        <a:t>5. 시스템이 저장된 값을 이후 통합 상황도의 진화자원 현황과 다음 대응 제안 생성(S3·S6)의 입력으로 쓴다.</a:t>
                      </a:r>
                    </a:p>
                  </a:txBody>
                  <a:tcPr marL="137160" marR="137160" marT="50292" marB="5029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4"/>
                  </a:ext>
                </a:extLst>
              </a:tr>
              <a:tr h="407543">
                <a:tc vMerge="1">
                  <a:txBody>
                    <a:bodyPr/>
                    <a:lstStyle/>
                    <a:p>
                      <a:endParaRPr/>
                    </a:p>
                  </a:txBody>
                  <a:tcPr/>
                </a:tc>
                <a:tc>
                  <a:txBody>
                    <a:bodyPr/>
                    <a:lstStyle/>
                    <a:p>
                      <a:pPr algn="l"/>
                      <a:r>
                        <a:rPr sz="1550" b="1">
                          <a:solidFill>
                            <a:srgbClr val="363A52"/>
                          </a:solidFill>
                          <a:latin typeface="210 OmniGothic 040"/>
                          <a:ea typeface="210 OmniGothic 040"/>
                          <a:cs typeface="210 OmniGothic 040"/>
                        </a:rPr>
                        <a:t>대안 흐름</a:t>
                      </a:r>
                    </a:p>
                  </a:txBody>
                  <a:tcPr marL="137160" marR="137160" marT="60350" marB="60350" anchor="ctr">
                    <a:lnL w="9525">
                      <a:solidFill>
                        <a:srgbClr val="D9DCE5"/>
                      </a:solidFill>
                    </a:lnL>
                    <a:lnR w="9525">
                      <a:solidFill>
                        <a:srgbClr val="D9DCE5"/>
                      </a:solidFill>
                    </a:lnR>
                    <a:lnT w="9525">
                      <a:solidFill>
                        <a:srgbClr val="D9DCE5"/>
                      </a:solidFill>
                    </a:lnT>
                    <a:lnB w="9525">
                      <a:solidFill>
                        <a:srgbClr val="D9DCE5"/>
                      </a:solidFill>
                    </a:lnB>
                    <a:solidFill>
                      <a:srgbClr val="F3F4F8"/>
                    </a:solidFill>
                  </a:tcPr>
                </a:tc>
                <a:tc>
                  <a:txBody>
                    <a:bodyPr/>
                    <a:lstStyle/>
                    <a:p>
                      <a:pPr algn="l">
                        <a:lnSpc>
                          <a:spcPct val="110000"/>
                        </a:lnSpc>
                      </a:pPr>
                      <a:r>
                        <a:rPr sz="1550" b="0">
                          <a:solidFill>
                            <a:srgbClr val="363A52"/>
                          </a:solidFill>
                          <a:latin typeface="210 OmniGothic 040"/>
                          <a:ea typeface="210 OmniGothic 040"/>
                          <a:cs typeface="210 OmniGothic 040"/>
                        </a:rPr>
                        <a:t>—</a:t>
                      </a:r>
                    </a:p>
                  </a:txBody>
                  <a:tcPr marL="137160" marR="137160" marT="50292" marB="5029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5"/>
                  </a:ext>
                </a:extLst>
              </a:tr>
              <a:tr h="407543">
                <a:tc vMerge="1">
                  <a:txBody>
                    <a:bodyPr/>
                    <a:lstStyle/>
                    <a:p>
                      <a:endParaRPr/>
                    </a:p>
                  </a:txBody>
                  <a:tcPr/>
                </a:tc>
                <a:tc>
                  <a:txBody>
                    <a:bodyPr/>
                    <a:lstStyle/>
                    <a:p>
                      <a:pPr algn="l"/>
                      <a:r>
                        <a:rPr sz="1550" b="1">
                          <a:solidFill>
                            <a:srgbClr val="363A52"/>
                          </a:solidFill>
                          <a:latin typeface="210 OmniGothic 040"/>
                          <a:ea typeface="210 OmniGothic 040"/>
                          <a:cs typeface="210 OmniGothic 040"/>
                        </a:rPr>
                        <a:t>예외 흐름</a:t>
                      </a:r>
                    </a:p>
                  </a:txBody>
                  <a:tcPr marL="137160" marR="137160" marT="60350" marB="60350" anchor="ctr">
                    <a:lnL w="9525">
                      <a:solidFill>
                        <a:srgbClr val="D9DCE5"/>
                      </a:solidFill>
                    </a:lnL>
                    <a:lnR w="9525">
                      <a:solidFill>
                        <a:srgbClr val="D9DCE5"/>
                      </a:solidFill>
                    </a:lnR>
                    <a:lnT w="9525">
                      <a:solidFill>
                        <a:srgbClr val="D9DCE5"/>
                      </a:solidFill>
                    </a:lnT>
                    <a:lnB w="9525">
                      <a:solidFill>
                        <a:srgbClr val="D9DCE5"/>
                      </a:solidFill>
                    </a:lnB>
                    <a:solidFill>
                      <a:srgbClr val="F3F4F8"/>
                    </a:solidFill>
                  </a:tcPr>
                </a:tc>
                <a:tc>
                  <a:txBody>
                    <a:bodyPr/>
                    <a:lstStyle/>
                    <a:p>
                      <a:pPr algn="l">
                        <a:lnSpc>
                          <a:spcPct val="110000"/>
                        </a:lnSpc>
                      </a:pPr>
                      <a:r>
                        <a:rPr sz="1550" b="0">
                          <a:solidFill>
                            <a:srgbClr val="363A52"/>
                          </a:solidFill>
                          <a:latin typeface="210 OmniGothic 040"/>
                          <a:ea typeface="210 OmniGothic 040"/>
                          <a:cs typeface="210 OmniGothic 040"/>
                        </a:rPr>
                        <a:t>E1. 필수 값이 빠지면 시스템이 저장을 막고 빠진 칸을 표시한다.</a:t>
                      </a:r>
                    </a:p>
                  </a:txBody>
                  <a:tcPr marL="137160" marR="137160" marT="50292" marB="5029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6"/>
                  </a:ext>
                </a:extLst>
              </a:tr>
              <a:tr h="407543">
                <a:tc vMerge="1">
                  <a:txBody>
                    <a:bodyPr/>
                    <a:lstStyle/>
                    <a:p>
                      <a:endParaRPr/>
                    </a:p>
                  </a:txBody>
                  <a:tcPr/>
                </a:tc>
                <a:tc>
                  <a:txBody>
                    <a:bodyPr/>
                    <a:lstStyle/>
                    <a:p>
                      <a:pPr algn="l"/>
                      <a:r>
                        <a:rPr sz="1550" b="1">
                          <a:solidFill>
                            <a:srgbClr val="363A52"/>
                          </a:solidFill>
                          <a:latin typeface="210 OmniGothic 040"/>
                          <a:ea typeface="210 OmniGothic 040"/>
                          <a:cs typeface="210 OmniGothic 040"/>
                        </a:rPr>
                        <a:t>종료 조건</a:t>
                      </a:r>
                    </a:p>
                  </a:txBody>
                  <a:tcPr marL="137160" marR="137160" marT="60350" marB="60350" anchor="ctr">
                    <a:lnL w="9525">
                      <a:solidFill>
                        <a:srgbClr val="D9DCE5"/>
                      </a:solidFill>
                    </a:lnL>
                    <a:lnR w="9525">
                      <a:solidFill>
                        <a:srgbClr val="D9DCE5"/>
                      </a:solidFill>
                    </a:lnR>
                    <a:lnT w="9525">
                      <a:solidFill>
                        <a:srgbClr val="D9DCE5"/>
                      </a:solidFill>
                    </a:lnT>
                    <a:lnB w="9525">
                      <a:solidFill>
                        <a:srgbClr val="D9DCE5"/>
                      </a:solidFill>
                    </a:lnB>
                    <a:solidFill>
                      <a:srgbClr val="F3F4F8"/>
                    </a:solidFill>
                  </a:tcPr>
                </a:tc>
                <a:tc>
                  <a:txBody>
                    <a:bodyPr/>
                    <a:lstStyle/>
                    <a:p>
                      <a:pPr algn="l">
                        <a:lnSpc>
                          <a:spcPct val="110000"/>
                        </a:lnSpc>
                      </a:pPr>
                      <a:r>
                        <a:rPr sz="1550" b="0">
                          <a:solidFill>
                            <a:srgbClr val="363A52"/>
                          </a:solidFill>
                          <a:latin typeface="210 OmniGothic 040"/>
                          <a:ea typeface="210 OmniGothic 040"/>
                          <a:cs typeface="210 OmniGothic 040"/>
                        </a:rPr>
                        <a:t>진화자원 데이터가 저장되어 재난 시 조회·제안에 쓰인다</a:t>
                      </a:r>
                    </a:p>
                  </a:txBody>
                  <a:tcPr marL="137160" marR="137160" marT="50292" marB="5029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00" name="Picture 2">
            <a:extLst>
              <a:ext uri="{FF2B5EF4-FFF2-40B4-BE49-F238E27FC236}">
                <a16:creationId xmlns:a16="http://schemas.microsoft.com/office/drawing/2014/main" id="{F116F513-628E-CD59-0365-83BA34700620}"/>
              </a:ext>
            </a:extLst>
          </p:cNvPr>
          <p:cNvSpPr>
            <a:spLocks noGrp="1"/>
          </p:cNvSpPr>
          <p:nvPr/>
        </p:nvSpPr>
        <p:spPr>
          <a:xfrm>
            <a:off x="-12700" y="-12700"/>
            <a:ext cx="18300700" cy="10299700"/>
          </a:xfrm>
          <a:custGeom>
            <a:avLst/>
            <a:gdLst>
              <a:gd name="csX0" fmla="*/ 0 w 18281422"/>
              <a:gd name="csY0" fmla="*/ 10197723 h 10197722"/>
              <a:gd name="csX1" fmla="*/ 0 w 18281422"/>
              <a:gd name="csY1" fmla="*/ 0 h 10197722"/>
              <a:gd name="csX2" fmla="*/ 18281422 w 18281422"/>
              <a:gd name="csY2" fmla="*/ 0 h 10197722"/>
              <a:gd name="csX3" fmla="*/ 18281422 w 18281422"/>
              <a:gd name="csY3" fmla="*/ 10197723 h 10197722"/>
            </a:gdLst>
            <a:ahLst/>
            <a:cxnLst/>
            <a:rect l="l" t="t" r="r" b="b"/>
            <a:pathLst>
              <a:path w="18281422" h="10197722">
                <a:moveTo>
                  <a:pt x="0" y="10197723"/>
                </a:moveTo>
                <a:lnTo>
                  <a:pt x="0" y="0"/>
                </a:lnTo>
                <a:lnTo>
                  <a:pt x="18281422" y="0"/>
                </a:lnTo>
                <a:lnTo>
                  <a:pt x="18281422" y="10197723"/>
                </a:lnTo>
                <a:close/>
              </a:path>
            </a:pathLst>
          </a:custGeom>
          <a:solidFill>
            <a:srgbClr val="363A52"/>
          </a:solidFill>
          <a:ln w="16144">
            <a:noFill/>
            <a:prstDash val="solid"/>
          </a:ln>
        </p:spPr>
        <p:txBody>
          <a:bodyPr/>
          <a:lstStyle/>
          <a:p>
            <a:endParaRPr/>
          </a:p>
        </p:txBody>
      </p:sp>
      <p:sp>
        <p:nvSpPr>
          <p:cNvPr id="5201" name="TextBox 5200">
            <a:extLst>
              <a:ext uri="{FF2B5EF4-FFF2-40B4-BE49-F238E27FC236}">
                <a16:creationId xmlns:a16="http://schemas.microsoft.com/office/drawing/2014/main" id="{26DE0F2F-F061-4344-8C84-916560A5DAB2}"/>
              </a:ext>
            </a:extLst>
          </p:cNvPr>
          <p:cNvSpPr>
            <a:spLocks noGrp="1"/>
          </p:cNvSpPr>
          <p:nvPr/>
        </p:nvSpPr>
        <p:spPr>
          <a:xfrm>
            <a:off x="914400" y="4572000"/>
            <a:ext cx="16459200" cy="1005840"/>
          </a:xfrm>
          <a:prstGeom prst="rect">
            <a:avLst/>
          </a:prstGeom>
          <a:noFill/>
        </p:spPr>
        <p:txBody>
          <a:bodyPr wrap="square" lIns="0" tIns="0" rIns="0" bIns="0" anchor="ctr">
            <a:spAutoFit/>
          </a:bodyPr>
          <a:lstStyle/>
          <a:p>
            <a:pPr algn="ctr">
              <a:buNone/>
            </a:pPr>
            <a:r>
              <a:rPr sz="4800" b="0">
                <a:solidFill>
                  <a:srgbClr val="FAA95A"/>
                </a:solidFill>
                <a:latin typeface="210 OmniGothic 050"/>
                <a:ea typeface="210 OmniGothic 050"/>
                <a:cs typeface="210 OmniGothic 050"/>
              </a:rPr>
              <a:t>04. 시퀀스 다이어그램</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idx="12"/>
          </p:nvPr>
        </p:nvSpPr>
        <p:spPr/>
        <p:txBody>
          <a:bodyPr/>
          <a:lstStyle/>
          <a:p>
            <a:fld id="{B6F15528-21DE-4FAA-801E-634DDDAF4B2B}" type="slidenum">
              <a:t>35</a:t>
            </a:fld>
            <a:endParaRPr/>
          </a:p>
        </p:txBody>
      </p:sp>
    </p:spTree>
    <p:extLst>
      <p:ext uri="{BB962C8B-B14F-4D97-AF65-F5344CB8AC3E}">
        <p14:creationId xmlns:p14="http://schemas.microsoft.com/office/powerpoint/2010/main" val="143358541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60" name="Picture 2"/>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700" y="-12700"/>
            <a:ext cx="18313400" cy="1638300"/>
          </a:xfrm>
          <a:prstGeom prst="rect">
            <a:avLst/>
          </a:prstGeom>
        </p:spPr>
      </p:pic>
      <p:pic>
        <p:nvPicPr>
          <p:cNvPr id="6161" name="Picture 4"/>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28" y="1618343"/>
            <a:ext cx="18313400" cy="8699500"/>
          </a:xfrm>
          <a:prstGeom prst="rect">
            <a:avLst/>
          </a:prstGeom>
        </p:spPr>
      </p:pic>
      <p:pic>
        <p:nvPicPr>
          <p:cNvPr id="6162" name="Picture 5"/>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58800" y="9271000"/>
            <a:ext cx="17170400" cy="50800"/>
          </a:xfrm>
          <a:prstGeom prst="rect">
            <a:avLst/>
          </a:prstGeom>
        </p:spPr>
      </p:pic>
      <p:pic>
        <p:nvPicPr>
          <p:cNvPr id="6163" name="Picture 3"/>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5278100" y="203200"/>
            <a:ext cx="1676400" cy="1409700"/>
          </a:xfrm>
          <a:prstGeom prst="rect">
            <a:avLst/>
          </a:prstGeom>
        </p:spPr>
      </p:pic>
      <p:sp>
        <p:nvSpPr>
          <p:cNvPr id="5221" name="Title">
            <a:extLst>
              <a:ext uri="{FF2B5EF4-FFF2-40B4-BE49-F238E27FC236}">
                <a16:creationId xmlns:a16="http://schemas.microsoft.com/office/drawing/2014/main" id="{9E7D9B26-9723-4F99-9492-28D4B2296CC0}"/>
              </a:ext>
            </a:extLst>
          </p:cNvPr>
          <p:cNvSpPr>
            <a:spLocks noGrp="1"/>
          </p:cNvSpPr>
          <p:nvPr/>
        </p:nvSpPr>
        <p:spPr>
          <a:xfrm>
            <a:off x="822960" y="384048"/>
            <a:ext cx="13258800" cy="877824"/>
          </a:xfrm>
          <a:prstGeom prst="rect">
            <a:avLst/>
          </a:prstGeom>
          <a:noFill/>
        </p:spPr>
        <p:txBody>
          <a:bodyPr wrap="square" lIns="0" tIns="0" rIns="0" bIns="0" anchor="ctr">
            <a:spAutoFit/>
          </a:bodyPr>
          <a:lstStyle/>
          <a:p>
            <a:pPr algn="l">
              <a:buNone/>
            </a:pPr>
            <a:r>
              <a:rPr sz="4400" b="0">
                <a:solidFill>
                  <a:srgbClr val="FAA95A"/>
                </a:solidFill>
                <a:latin typeface="210 OmniGothic 050"/>
                <a:ea typeface="210 OmniGothic 050"/>
                <a:cs typeface="210 OmniGothic 050"/>
              </a:rPr>
              <a:t>04. 시퀀스 다이어그램</a:t>
            </a:r>
          </a:p>
        </p:txBody>
      </p:sp>
      <p:sp>
        <p:nvSpPr>
          <p:cNvPr id="5222" name="Subtitle">
            <a:extLst>
              <a:ext uri="{FF2B5EF4-FFF2-40B4-BE49-F238E27FC236}">
                <a16:creationId xmlns:a16="http://schemas.microsoft.com/office/drawing/2014/main" id="{2EBF6211-BB10-4DE6-BD7B-15C4D3B29B94}"/>
              </a:ext>
            </a:extLst>
          </p:cNvPr>
          <p:cNvSpPr>
            <a:spLocks noGrp="1"/>
          </p:cNvSpPr>
          <p:nvPr/>
        </p:nvSpPr>
        <p:spPr>
          <a:xfrm>
            <a:off x="822960" y="1764792"/>
            <a:ext cx="16642080" cy="502920"/>
          </a:xfrm>
          <a:prstGeom prst="rect">
            <a:avLst/>
          </a:prstGeom>
          <a:noFill/>
        </p:spPr>
        <p:txBody>
          <a:bodyPr wrap="square" lIns="0" tIns="0" rIns="0" bIns="0" anchor="ctr">
            <a:spAutoFit/>
          </a:bodyPr>
          <a:lstStyle/>
          <a:p>
            <a:pPr algn="ctr">
              <a:buNone/>
            </a:pPr>
            <a:r>
              <a:rPr sz="2600" b="1">
                <a:solidFill>
                  <a:srgbClr val="363A52"/>
                </a:solidFill>
                <a:latin typeface="210 OmniGothic 040"/>
                <a:ea typeface="210 OmniGothic 040"/>
                <a:cs typeface="210 OmniGothic 040"/>
              </a:rPr>
              <a:t>로그인  (UC-AUTH-01)</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idx="12"/>
          </p:nvPr>
        </p:nvSpPr>
        <p:spPr/>
        <p:txBody>
          <a:bodyPr/>
          <a:lstStyle/>
          <a:p>
            <a:fld id="{B6F15528-21DE-4FAA-801E-634DDDAF4B2B}" type="slidenum">
              <a:t>36</a:t>
            </a:fld>
            <a:endParaRPr/>
          </a:p>
        </p:txBody>
      </p:sp>
      <p:sp>
        <p:nvSpPr>
          <p:cNvPr id="6133" name="Rounded Rectangle 6134">
            <a:extLst>
              <a:ext uri="{FF2B5EF4-FFF2-40B4-BE49-F238E27FC236}">
                <a16:creationId xmlns:a16="http://schemas.microsoft.com/office/drawing/2014/main" id="{E4F25CE0-5658-465D-A181-6A58BB2D89BF}"/>
              </a:ext>
            </a:extLst>
          </p:cNvPr>
          <p:cNvSpPr>
            <a:spLocks noGrp="1"/>
          </p:cNvSpPr>
          <p:nvPr/>
        </p:nvSpPr>
        <p:spPr>
          <a:xfrm>
            <a:off x="1194435" y="2446020"/>
            <a:ext cx="2286000" cy="462686"/>
          </a:xfrm>
          <a:prstGeom prst="roundRect">
            <a:avLst>
              <a:gd name="adj" fmla="val 10000"/>
            </a:avLst>
          </a:prstGeom>
          <a:solidFill>
            <a:srgbClr val="E6E9F1"/>
          </a:solidFill>
          <a:ln w="12700">
            <a:solidFill>
              <a:srgbClr val="B6BCCB"/>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r>
              <a:rPr sz="1250" b="1">
                <a:solidFill>
                  <a:srgbClr val="2E3142"/>
                </a:solidFill>
                <a:latin typeface="210 OmniGothic 040"/>
                <a:ea typeface="210 OmniGothic 040"/>
                <a:cs typeface="210 OmniGothic 040"/>
              </a:rPr>
              <a:t>사용자</a:t>
            </a:r>
          </a:p>
        </p:txBody>
      </p:sp>
      <p:sp>
        <p:nvSpPr>
          <p:cNvPr id="6135" name="Connector 6136">
            <a:extLst>
              <a:ext uri="{FF2B5EF4-FFF2-40B4-BE49-F238E27FC236}">
                <a16:creationId xmlns:a16="http://schemas.microsoft.com/office/drawing/2014/main" id="{7FD432D8-E6F7-4F04-977F-5C1D40C3C6E2}"/>
              </a:ext>
            </a:extLst>
          </p:cNvPr>
          <p:cNvSpPr>
            <a:spLocks noGrp="1"/>
          </p:cNvSpPr>
          <p:nvPr/>
        </p:nvSpPr>
        <p:spPr>
          <a:xfrm>
            <a:off x="2337435" y="2908706"/>
            <a:ext cx="0" cy="6333568"/>
          </a:xfrm>
          <a:prstGeom prst="line">
            <a:avLst/>
          </a:prstGeom>
          <a:ln w="11430">
            <a:solidFill>
              <a:srgbClr val="A3A8B8"/>
            </a:solidFill>
            <a:prstDash val="dash"/>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137" name="Rounded Rectangle 6138">
            <a:extLst>
              <a:ext uri="{FF2B5EF4-FFF2-40B4-BE49-F238E27FC236}">
                <a16:creationId xmlns:a16="http://schemas.microsoft.com/office/drawing/2014/main" id="{384B60FC-5B3C-48E9-9FB2-9B56EBC9D907}"/>
              </a:ext>
            </a:extLst>
          </p:cNvPr>
          <p:cNvSpPr>
            <a:spLocks noGrp="1"/>
          </p:cNvSpPr>
          <p:nvPr/>
        </p:nvSpPr>
        <p:spPr>
          <a:xfrm>
            <a:off x="3880485" y="2446020"/>
            <a:ext cx="2286000" cy="462686"/>
          </a:xfrm>
          <a:prstGeom prst="roundRect">
            <a:avLst>
              <a:gd name="adj" fmla="val 10000"/>
            </a:avLst>
          </a:prstGeom>
          <a:solidFill>
            <a:srgbClr val="E6E9F1"/>
          </a:solidFill>
          <a:ln w="12700">
            <a:solidFill>
              <a:srgbClr val="B6BCCB"/>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r>
              <a:rPr sz="1250" b="1">
                <a:solidFill>
                  <a:srgbClr val="2E3142"/>
                </a:solidFill>
                <a:latin typeface="210 OmniGothic 040"/>
                <a:ea typeface="210 OmniGothic 040"/>
                <a:cs typeface="210 OmniGothic 040"/>
              </a:rPr>
              <a:t>프론트엔드</a:t>
            </a:r>
          </a:p>
        </p:txBody>
      </p:sp>
      <p:sp>
        <p:nvSpPr>
          <p:cNvPr id="6139" name="Connector 6140">
            <a:extLst>
              <a:ext uri="{FF2B5EF4-FFF2-40B4-BE49-F238E27FC236}">
                <a16:creationId xmlns:a16="http://schemas.microsoft.com/office/drawing/2014/main" id="{4939E15C-2A4A-4CBD-B469-2CDBB72346F7}"/>
              </a:ext>
            </a:extLst>
          </p:cNvPr>
          <p:cNvSpPr>
            <a:spLocks noGrp="1"/>
          </p:cNvSpPr>
          <p:nvPr/>
        </p:nvSpPr>
        <p:spPr>
          <a:xfrm>
            <a:off x="5023485" y="2908706"/>
            <a:ext cx="0" cy="6333568"/>
          </a:xfrm>
          <a:prstGeom prst="line">
            <a:avLst/>
          </a:prstGeom>
          <a:ln w="11430">
            <a:solidFill>
              <a:srgbClr val="A3A8B8"/>
            </a:solidFill>
            <a:prstDash val="dash"/>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141" name="Rounded Rectangle 6142">
            <a:extLst>
              <a:ext uri="{FF2B5EF4-FFF2-40B4-BE49-F238E27FC236}">
                <a16:creationId xmlns:a16="http://schemas.microsoft.com/office/drawing/2014/main" id="{CE4DC66E-FE22-48C5-B5C0-3CD434F3EADF}"/>
              </a:ext>
            </a:extLst>
          </p:cNvPr>
          <p:cNvSpPr>
            <a:spLocks noGrp="1"/>
          </p:cNvSpPr>
          <p:nvPr/>
        </p:nvSpPr>
        <p:spPr>
          <a:xfrm>
            <a:off x="6566535" y="2446020"/>
            <a:ext cx="2286000" cy="462686"/>
          </a:xfrm>
          <a:prstGeom prst="roundRect">
            <a:avLst>
              <a:gd name="adj" fmla="val 10000"/>
            </a:avLst>
          </a:prstGeom>
          <a:solidFill>
            <a:srgbClr val="E6E9F1"/>
          </a:solidFill>
          <a:ln w="12700">
            <a:solidFill>
              <a:srgbClr val="B6BCCB"/>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r>
              <a:rPr sz="1250" b="1">
                <a:solidFill>
                  <a:srgbClr val="2E3142"/>
                </a:solidFill>
                <a:latin typeface="210 OmniGothic 040"/>
                <a:ea typeface="210 OmniGothic 040"/>
                <a:cs typeface="210 OmniGothic 040"/>
              </a:rPr>
              <a:t>AuthRouter</a:t>
            </a:r>
          </a:p>
        </p:txBody>
      </p:sp>
      <p:sp>
        <p:nvSpPr>
          <p:cNvPr id="6143" name="Connector 6144">
            <a:extLst>
              <a:ext uri="{FF2B5EF4-FFF2-40B4-BE49-F238E27FC236}">
                <a16:creationId xmlns:a16="http://schemas.microsoft.com/office/drawing/2014/main" id="{F5C5C1E0-1183-478D-A2DC-473074EF365F}"/>
              </a:ext>
            </a:extLst>
          </p:cNvPr>
          <p:cNvSpPr>
            <a:spLocks noGrp="1"/>
          </p:cNvSpPr>
          <p:nvPr/>
        </p:nvSpPr>
        <p:spPr>
          <a:xfrm>
            <a:off x="7709535" y="2908706"/>
            <a:ext cx="0" cy="6333568"/>
          </a:xfrm>
          <a:prstGeom prst="line">
            <a:avLst/>
          </a:prstGeom>
          <a:ln w="11430">
            <a:solidFill>
              <a:srgbClr val="A3A8B8"/>
            </a:solidFill>
            <a:prstDash val="dash"/>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145" name="Rounded Rectangle 6146">
            <a:extLst>
              <a:ext uri="{FF2B5EF4-FFF2-40B4-BE49-F238E27FC236}">
                <a16:creationId xmlns:a16="http://schemas.microsoft.com/office/drawing/2014/main" id="{DB0BAD14-8533-4255-84EC-B0693D2B9F78}"/>
              </a:ext>
            </a:extLst>
          </p:cNvPr>
          <p:cNvSpPr>
            <a:spLocks noGrp="1"/>
          </p:cNvSpPr>
          <p:nvPr/>
        </p:nvSpPr>
        <p:spPr>
          <a:xfrm>
            <a:off x="9252585" y="2446020"/>
            <a:ext cx="2286000" cy="462686"/>
          </a:xfrm>
          <a:prstGeom prst="roundRect">
            <a:avLst>
              <a:gd name="adj" fmla="val 10000"/>
            </a:avLst>
          </a:prstGeom>
          <a:solidFill>
            <a:srgbClr val="E6E9F1"/>
          </a:solidFill>
          <a:ln w="12700">
            <a:solidFill>
              <a:srgbClr val="B6BCCB"/>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r>
              <a:rPr sz="1250" b="1">
                <a:solidFill>
                  <a:srgbClr val="2E3142"/>
                </a:solidFill>
                <a:latin typeface="210 OmniGothic 040"/>
                <a:ea typeface="210 OmniGothic 040"/>
                <a:cs typeface="210 OmniGothic 040"/>
              </a:rPr>
              <a:t>SecurityService</a:t>
            </a:r>
          </a:p>
        </p:txBody>
      </p:sp>
      <p:sp>
        <p:nvSpPr>
          <p:cNvPr id="6147" name="Connector 6148">
            <a:extLst>
              <a:ext uri="{FF2B5EF4-FFF2-40B4-BE49-F238E27FC236}">
                <a16:creationId xmlns:a16="http://schemas.microsoft.com/office/drawing/2014/main" id="{1AEF4D92-717A-4C4F-B6CB-D80CADE3BB44}"/>
              </a:ext>
            </a:extLst>
          </p:cNvPr>
          <p:cNvSpPr>
            <a:spLocks noGrp="1"/>
          </p:cNvSpPr>
          <p:nvPr/>
        </p:nvSpPr>
        <p:spPr>
          <a:xfrm>
            <a:off x="10395585" y="2908706"/>
            <a:ext cx="0" cy="6333568"/>
          </a:xfrm>
          <a:prstGeom prst="line">
            <a:avLst/>
          </a:prstGeom>
          <a:ln w="11430">
            <a:solidFill>
              <a:srgbClr val="A3A8B8"/>
            </a:solidFill>
            <a:prstDash val="dash"/>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149" name="Rounded Rectangle 6150">
            <a:extLst>
              <a:ext uri="{FF2B5EF4-FFF2-40B4-BE49-F238E27FC236}">
                <a16:creationId xmlns:a16="http://schemas.microsoft.com/office/drawing/2014/main" id="{2E223D5D-E624-403C-B3EF-6C9ABA45070C}"/>
              </a:ext>
            </a:extLst>
          </p:cNvPr>
          <p:cNvSpPr>
            <a:spLocks noGrp="1"/>
          </p:cNvSpPr>
          <p:nvPr/>
        </p:nvSpPr>
        <p:spPr>
          <a:xfrm>
            <a:off x="11938635" y="2446020"/>
            <a:ext cx="2286000" cy="462686"/>
          </a:xfrm>
          <a:prstGeom prst="roundRect">
            <a:avLst>
              <a:gd name="adj" fmla="val 10000"/>
            </a:avLst>
          </a:prstGeom>
          <a:solidFill>
            <a:srgbClr val="E6E9F1"/>
          </a:solidFill>
          <a:ln w="12700">
            <a:solidFill>
              <a:srgbClr val="B6BCCB"/>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r>
              <a:rPr sz="1250" b="1">
                <a:solidFill>
                  <a:srgbClr val="2E3142"/>
                </a:solidFill>
                <a:latin typeface="210 OmniGothic 040"/>
                <a:ea typeface="210 OmniGothic 040"/>
                <a:cs typeface="210 OmniGothic 040"/>
              </a:rPr>
              <a:t>DB</a:t>
            </a:r>
          </a:p>
        </p:txBody>
      </p:sp>
      <p:sp>
        <p:nvSpPr>
          <p:cNvPr id="6151" name="Connector 6152">
            <a:extLst>
              <a:ext uri="{FF2B5EF4-FFF2-40B4-BE49-F238E27FC236}">
                <a16:creationId xmlns:a16="http://schemas.microsoft.com/office/drawing/2014/main" id="{1E13721B-6D30-4E66-8DA7-A961FFD7C08A}"/>
              </a:ext>
            </a:extLst>
          </p:cNvPr>
          <p:cNvSpPr>
            <a:spLocks noGrp="1"/>
          </p:cNvSpPr>
          <p:nvPr/>
        </p:nvSpPr>
        <p:spPr>
          <a:xfrm>
            <a:off x="13081635" y="2908706"/>
            <a:ext cx="0" cy="6333568"/>
          </a:xfrm>
          <a:prstGeom prst="line">
            <a:avLst/>
          </a:prstGeom>
          <a:ln w="11430">
            <a:solidFill>
              <a:srgbClr val="A3A8B8"/>
            </a:solidFill>
            <a:prstDash val="dash"/>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153" name="Rounded Rectangle 6154">
            <a:extLst>
              <a:ext uri="{FF2B5EF4-FFF2-40B4-BE49-F238E27FC236}">
                <a16:creationId xmlns:a16="http://schemas.microsoft.com/office/drawing/2014/main" id="{D5880B6E-8400-45F9-8B7A-B119C631EBE7}"/>
              </a:ext>
            </a:extLst>
          </p:cNvPr>
          <p:cNvSpPr>
            <a:spLocks noGrp="1"/>
          </p:cNvSpPr>
          <p:nvPr/>
        </p:nvSpPr>
        <p:spPr>
          <a:xfrm>
            <a:off x="14624685" y="2446020"/>
            <a:ext cx="2286000" cy="462686"/>
          </a:xfrm>
          <a:prstGeom prst="roundRect">
            <a:avLst>
              <a:gd name="adj" fmla="val 10000"/>
            </a:avLst>
          </a:prstGeom>
          <a:solidFill>
            <a:srgbClr val="E6E9F1"/>
          </a:solidFill>
          <a:ln w="12700">
            <a:solidFill>
              <a:srgbClr val="B6BCCB"/>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r>
              <a:rPr sz="1250" b="1">
                <a:solidFill>
                  <a:srgbClr val="2E3142"/>
                </a:solidFill>
                <a:latin typeface="210 OmniGothic 040"/>
                <a:ea typeface="210 OmniGothic 040"/>
                <a:cs typeface="210 OmniGothic 040"/>
              </a:rPr>
              <a:t>EventLogger</a:t>
            </a:r>
          </a:p>
        </p:txBody>
      </p:sp>
      <p:sp>
        <p:nvSpPr>
          <p:cNvPr id="6155" name="Connector 6156">
            <a:extLst>
              <a:ext uri="{FF2B5EF4-FFF2-40B4-BE49-F238E27FC236}">
                <a16:creationId xmlns:a16="http://schemas.microsoft.com/office/drawing/2014/main" id="{B39B4466-D74E-4BA4-963D-23F5BD2E1AFF}"/>
              </a:ext>
            </a:extLst>
          </p:cNvPr>
          <p:cNvSpPr>
            <a:spLocks noGrp="1"/>
          </p:cNvSpPr>
          <p:nvPr/>
        </p:nvSpPr>
        <p:spPr>
          <a:xfrm>
            <a:off x="15767685" y="2908706"/>
            <a:ext cx="0" cy="6333568"/>
          </a:xfrm>
          <a:prstGeom prst="line">
            <a:avLst/>
          </a:prstGeom>
          <a:ln w="11430">
            <a:solidFill>
              <a:srgbClr val="A3A8B8"/>
            </a:solidFill>
            <a:prstDash val="dash"/>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019" name="Rectangle 6020">
            <a:extLst>
              <a:ext uri="{FF2B5EF4-FFF2-40B4-BE49-F238E27FC236}">
                <a16:creationId xmlns:a16="http://schemas.microsoft.com/office/drawing/2014/main" id="{208535EF-379C-49EC-950F-679CCF4FA6E7}"/>
              </a:ext>
            </a:extLst>
          </p:cNvPr>
          <p:cNvSpPr>
            <a:spLocks noGrp="1"/>
          </p:cNvSpPr>
          <p:nvPr/>
        </p:nvSpPr>
        <p:spPr>
          <a:xfrm>
            <a:off x="13011635" y="3882274"/>
            <a:ext cx="140000" cy="250000"/>
          </a:xfrm>
          <a:prstGeom prst="rect">
            <a:avLst/>
          </a:prstGeom>
          <a:solidFill>
            <a:srgbClr val="FFFFFF"/>
          </a:solidFill>
          <a:ln w="9525">
            <a:solidFill>
              <a:srgbClr val="363A52"/>
            </a:solidFill>
          </a:ln>
        </p:spPr>
        <p:style>
          <a:lnRef idx="1">
            <a:schemeClr val="accent1"/>
          </a:lnRef>
          <a:fillRef idx="3">
            <a:schemeClr val="accent1"/>
          </a:fillRef>
          <a:effectRef idx="2">
            <a:schemeClr val="accent1"/>
          </a:effectRef>
          <a:fontRef idx="minor">
            <a:schemeClr val="lt1"/>
          </a:fontRef>
        </p:style>
        <p:txBody>
          <a:bodyPr wrap="square" lIns="0" rIns="0" anchor="ctr"/>
          <a:lstStyle/>
          <a:p>
            <a:pPr algn="ctr">
              <a:buNone/>
            </a:pPr>
            <a:endParaRPr/>
          </a:p>
        </p:txBody>
      </p:sp>
      <p:sp>
        <p:nvSpPr>
          <p:cNvPr id="6021" name="Rectangle 6022">
            <a:extLst>
              <a:ext uri="{FF2B5EF4-FFF2-40B4-BE49-F238E27FC236}">
                <a16:creationId xmlns:a16="http://schemas.microsoft.com/office/drawing/2014/main" id="{F2C06343-C6D7-48DE-A446-51DA9C5E02D5}"/>
              </a:ext>
            </a:extLst>
          </p:cNvPr>
          <p:cNvSpPr>
            <a:spLocks noGrp="1"/>
          </p:cNvSpPr>
          <p:nvPr/>
        </p:nvSpPr>
        <p:spPr>
          <a:xfrm>
            <a:off x="10325585" y="4827274"/>
            <a:ext cx="140000" cy="250000"/>
          </a:xfrm>
          <a:prstGeom prst="rect">
            <a:avLst/>
          </a:prstGeom>
          <a:solidFill>
            <a:srgbClr val="FFFFFF"/>
          </a:solidFill>
          <a:ln w="9525">
            <a:solidFill>
              <a:srgbClr val="363A52"/>
            </a:solidFill>
          </a:ln>
        </p:spPr>
        <p:style>
          <a:lnRef idx="1">
            <a:schemeClr val="accent1"/>
          </a:lnRef>
          <a:fillRef idx="3">
            <a:schemeClr val="accent1"/>
          </a:fillRef>
          <a:effectRef idx="2">
            <a:schemeClr val="accent1"/>
          </a:effectRef>
          <a:fontRef idx="minor">
            <a:schemeClr val="lt1"/>
          </a:fontRef>
        </p:style>
        <p:txBody>
          <a:bodyPr wrap="square" lIns="0" rIns="0" anchor="ctr"/>
          <a:lstStyle/>
          <a:p>
            <a:pPr algn="ctr">
              <a:buNone/>
            </a:pPr>
            <a:endParaRPr/>
          </a:p>
        </p:txBody>
      </p:sp>
      <p:sp>
        <p:nvSpPr>
          <p:cNvPr id="6023" name="Rectangle 6024">
            <a:extLst>
              <a:ext uri="{FF2B5EF4-FFF2-40B4-BE49-F238E27FC236}">
                <a16:creationId xmlns:a16="http://schemas.microsoft.com/office/drawing/2014/main" id="{F1649544-784F-45E2-ABF9-07894EA33EA3}"/>
              </a:ext>
            </a:extLst>
          </p:cNvPr>
          <p:cNvSpPr>
            <a:spLocks noGrp="1"/>
          </p:cNvSpPr>
          <p:nvPr/>
        </p:nvSpPr>
        <p:spPr>
          <a:xfrm>
            <a:off x="7639535" y="3632274"/>
            <a:ext cx="140000" cy="1915000"/>
          </a:xfrm>
          <a:prstGeom prst="rect">
            <a:avLst/>
          </a:prstGeom>
          <a:solidFill>
            <a:srgbClr val="FFFFFF"/>
          </a:solidFill>
          <a:ln w="9525">
            <a:solidFill>
              <a:srgbClr val="363A52"/>
            </a:solidFill>
          </a:ln>
        </p:spPr>
        <p:style>
          <a:lnRef idx="1">
            <a:schemeClr val="accent1"/>
          </a:lnRef>
          <a:fillRef idx="3">
            <a:schemeClr val="accent1"/>
          </a:fillRef>
          <a:effectRef idx="2">
            <a:schemeClr val="accent1"/>
          </a:effectRef>
          <a:fontRef idx="minor">
            <a:schemeClr val="lt1"/>
          </a:fontRef>
        </p:style>
        <p:txBody>
          <a:bodyPr wrap="square" lIns="0" rIns="0" anchor="ctr"/>
          <a:lstStyle/>
          <a:p>
            <a:pPr algn="ctr">
              <a:buNone/>
            </a:pPr>
            <a:endParaRPr/>
          </a:p>
        </p:txBody>
      </p:sp>
      <p:sp>
        <p:nvSpPr>
          <p:cNvPr id="6025" name="Rectangle 6026">
            <a:extLst>
              <a:ext uri="{FF2B5EF4-FFF2-40B4-BE49-F238E27FC236}">
                <a16:creationId xmlns:a16="http://schemas.microsoft.com/office/drawing/2014/main" id="{1AAD8C58-A6BB-4F1D-B67C-9D0594615727}"/>
              </a:ext>
            </a:extLst>
          </p:cNvPr>
          <p:cNvSpPr>
            <a:spLocks noGrp="1"/>
          </p:cNvSpPr>
          <p:nvPr/>
        </p:nvSpPr>
        <p:spPr>
          <a:xfrm>
            <a:off x="4953485" y="3382274"/>
            <a:ext cx="140000" cy="2415000"/>
          </a:xfrm>
          <a:prstGeom prst="rect">
            <a:avLst/>
          </a:prstGeom>
          <a:solidFill>
            <a:srgbClr val="FFFFFF"/>
          </a:solidFill>
          <a:ln w="9525">
            <a:solidFill>
              <a:srgbClr val="363A52"/>
            </a:solidFill>
          </a:ln>
        </p:spPr>
        <p:style>
          <a:lnRef idx="1">
            <a:schemeClr val="accent1"/>
          </a:lnRef>
          <a:fillRef idx="3">
            <a:schemeClr val="accent1"/>
          </a:fillRef>
          <a:effectRef idx="2">
            <a:schemeClr val="accent1"/>
          </a:effectRef>
          <a:fontRef idx="minor">
            <a:schemeClr val="lt1"/>
          </a:fontRef>
        </p:style>
        <p:txBody>
          <a:bodyPr wrap="square" lIns="0" rIns="0" anchor="ctr"/>
          <a:lstStyle/>
          <a:p>
            <a:pPr algn="ctr">
              <a:buNone/>
            </a:pPr>
            <a:endParaRPr/>
          </a:p>
        </p:txBody>
      </p:sp>
      <p:sp>
        <p:nvSpPr>
          <p:cNvPr id="6027" name="Rectangle 6028">
            <a:extLst>
              <a:ext uri="{FF2B5EF4-FFF2-40B4-BE49-F238E27FC236}">
                <a16:creationId xmlns:a16="http://schemas.microsoft.com/office/drawing/2014/main" id="{38B2CB11-0CE4-4FEB-B5E0-6655FB1749BF}"/>
              </a:ext>
            </a:extLst>
          </p:cNvPr>
          <p:cNvSpPr>
            <a:spLocks noGrp="1"/>
          </p:cNvSpPr>
          <p:nvPr/>
        </p:nvSpPr>
        <p:spPr>
          <a:xfrm>
            <a:off x="7639535" y="3632274"/>
            <a:ext cx="140000" cy="2775000"/>
          </a:xfrm>
          <a:prstGeom prst="rect">
            <a:avLst/>
          </a:prstGeom>
          <a:solidFill>
            <a:srgbClr val="FFFFFF"/>
          </a:solidFill>
          <a:ln w="9525">
            <a:solidFill>
              <a:srgbClr val="363A52"/>
            </a:solidFill>
          </a:ln>
        </p:spPr>
        <p:style>
          <a:lnRef idx="1">
            <a:schemeClr val="accent1"/>
          </a:lnRef>
          <a:fillRef idx="3">
            <a:schemeClr val="accent1"/>
          </a:fillRef>
          <a:effectRef idx="2">
            <a:schemeClr val="accent1"/>
          </a:effectRef>
          <a:fontRef idx="minor">
            <a:schemeClr val="lt1"/>
          </a:fontRef>
        </p:style>
        <p:txBody>
          <a:bodyPr wrap="square" lIns="0" rIns="0" anchor="ctr"/>
          <a:lstStyle/>
          <a:p>
            <a:pPr algn="ctr">
              <a:buNone/>
            </a:pPr>
            <a:endParaRPr/>
          </a:p>
        </p:txBody>
      </p:sp>
      <p:sp>
        <p:nvSpPr>
          <p:cNvPr id="6029" name="Rectangle 6030">
            <a:extLst>
              <a:ext uri="{FF2B5EF4-FFF2-40B4-BE49-F238E27FC236}">
                <a16:creationId xmlns:a16="http://schemas.microsoft.com/office/drawing/2014/main" id="{39A3E999-3788-4E37-B008-9AA91BE27E8B}"/>
              </a:ext>
            </a:extLst>
          </p:cNvPr>
          <p:cNvSpPr>
            <a:spLocks noGrp="1"/>
          </p:cNvSpPr>
          <p:nvPr/>
        </p:nvSpPr>
        <p:spPr>
          <a:xfrm>
            <a:off x="4953485" y="3382274"/>
            <a:ext cx="140000" cy="3275000"/>
          </a:xfrm>
          <a:prstGeom prst="rect">
            <a:avLst/>
          </a:prstGeom>
          <a:solidFill>
            <a:srgbClr val="FFFFFF"/>
          </a:solidFill>
          <a:ln w="9525">
            <a:solidFill>
              <a:srgbClr val="363A52"/>
            </a:solidFill>
          </a:ln>
        </p:spPr>
        <p:style>
          <a:lnRef idx="1">
            <a:schemeClr val="accent1"/>
          </a:lnRef>
          <a:fillRef idx="3">
            <a:schemeClr val="accent1"/>
          </a:fillRef>
          <a:effectRef idx="2">
            <a:schemeClr val="accent1"/>
          </a:effectRef>
          <a:fontRef idx="minor">
            <a:schemeClr val="lt1"/>
          </a:fontRef>
        </p:style>
        <p:txBody>
          <a:bodyPr wrap="square" lIns="0" rIns="0" anchor="ctr"/>
          <a:lstStyle/>
          <a:p>
            <a:pPr algn="ctr">
              <a:buNone/>
            </a:pPr>
            <a:endParaRPr/>
          </a:p>
        </p:txBody>
      </p:sp>
      <p:sp>
        <p:nvSpPr>
          <p:cNvPr id="6031" name="Rectangle 6032">
            <a:extLst>
              <a:ext uri="{FF2B5EF4-FFF2-40B4-BE49-F238E27FC236}">
                <a16:creationId xmlns:a16="http://schemas.microsoft.com/office/drawing/2014/main" id="{9AAD028C-85B2-4822-A842-6A8F2E55A4EB}"/>
              </a:ext>
            </a:extLst>
          </p:cNvPr>
          <p:cNvSpPr>
            <a:spLocks noGrp="1"/>
          </p:cNvSpPr>
          <p:nvPr/>
        </p:nvSpPr>
        <p:spPr>
          <a:xfrm>
            <a:off x="13011635" y="6157274"/>
            <a:ext cx="140000" cy="570000"/>
          </a:xfrm>
          <a:prstGeom prst="rect">
            <a:avLst/>
          </a:prstGeom>
          <a:solidFill>
            <a:srgbClr val="FFFFFF"/>
          </a:solidFill>
          <a:ln w="9525">
            <a:solidFill>
              <a:srgbClr val="363A52"/>
            </a:solidFill>
          </a:ln>
        </p:spPr>
        <p:style>
          <a:lnRef idx="1">
            <a:schemeClr val="accent1"/>
          </a:lnRef>
          <a:fillRef idx="3">
            <a:schemeClr val="accent1"/>
          </a:fillRef>
          <a:effectRef idx="2">
            <a:schemeClr val="accent1"/>
          </a:effectRef>
          <a:fontRef idx="minor">
            <a:schemeClr val="lt1"/>
          </a:fontRef>
        </p:style>
        <p:txBody>
          <a:bodyPr wrap="square" lIns="0" rIns="0" anchor="ctr"/>
          <a:lstStyle/>
          <a:p>
            <a:pPr algn="ctr">
              <a:buNone/>
            </a:pPr>
            <a:endParaRPr/>
          </a:p>
        </p:txBody>
      </p:sp>
      <p:sp>
        <p:nvSpPr>
          <p:cNvPr id="6033" name="Rectangle 6034">
            <a:extLst>
              <a:ext uri="{FF2B5EF4-FFF2-40B4-BE49-F238E27FC236}">
                <a16:creationId xmlns:a16="http://schemas.microsoft.com/office/drawing/2014/main" id="{A06E8B17-CE34-4602-B86B-3C0EACC416BF}"/>
              </a:ext>
            </a:extLst>
          </p:cNvPr>
          <p:cNvSpPr>
            <a:spLocks noGrp="1"/>
          </p:cNvSpPr>
          <p:nvPr/>
        </p:nvSpPr>
        <p:spPr>
          <a:xfrm>
            <a:off x="7639535" y="3632274"/>
            <a:ext cx="140000" cy="3385000"/>
          </a:xfrm>
          <a:prstGeom prst="rect">
            <a:avLst/>
          </a:prstGeom>
          <a:solidFill>
            <a:srgbClr val="FFFFFF"/>
          </a:solidFill>
          <a:ln w="9525">
            <a:solidFill>
              <a:srgbClr val="363A52"/>
            </a:solidFill>
          </a:ln>
        </p:spPr>
        <p:style>
          <a:lnRef idx="1">
            <a:schemeClr val="accent1"/>
          </a:lnRef>
          <a:fillRef idx="3">
            <a:schemeClr val="accent1"/>
          </a:fillRef>
          <a:effectRef idx="2">
            <a:schemeClr val="accent1"/>
          </a:effectRef>
          <a:fontRef idx="minor">
            <a:schemeClr val="lt1"/>
          </a:fontRef>
        </p:style>
        <p:txBody>
          <a:bodyPr wrap="square" lIns="0" rIns="0" anchor="ctr"/>
          <a:lstStyle/>
          <a:p>
            <a:pPr algn="ctr">
              <a:buNone/>
            </a:pPr>
            <a:endParaRPr/>
          </a:p>
        </p:txBody>
      </p:sp>
      <p:sp>
        <p:nvSpPr>
          <p:cNvPr id="6035" name="Rectangle 6036">
            <a:extLst>
              <a:ext uri="{FF2B5EF4-FFF2-40B4-BE49-F238E27FC236}">
                <a16:creationId xmlns:a16="http://schemas.microsoft.com/office/drawing/2014/main" id="{DC61AFC1-7206-4F8B-ABCC-7EBA78220AD6}"/>
              </a:ext>
            </a:extLst>
          </p:cNvPr>
          <p:cNvSpPr>
            <a:spLocks noGrp="1"/>
          </p:cNvSpPr>
          <p:nvPr/>
        </p:nvSpPr>
        <p:spPr>
          <a:xfrm>
            <a:off x="4953485" y="3382274"/>
            <a:ext cx="140000" cy="3885000"/>
          </a:xfrm>
          <a:prstGeom prst="rect">
            <a:avLst/>
          </a:prstGeom>
          <a:solidFill>
            <a:srgbClr val="FFFFFF"/>
          </a:solidFill>
          <a:ln w="9525">
            <a:solidFill>
              <a:srgbClr val="363A52"/>
            </a:solidFill>
          </a:ln>
        </p:spPr>
        <p:style>
          <a:lnRef idx="1">
            <a:schemeClr val="accent1"/>
          </a:lnRef>
          <a:fillRef idx="3">
            <a:schemeClr val="accent1"/>
          </a:fillRef>
          <a:effectRef idx="2">
            <a:schemeClr val="accent1"/>
          </a:effectRef>
          <a:fontRef idx="minor">
            <a:schemeClr val="lt1"/>
          </a:fontRef>
        </p:style>
        <p:txBody>
          <a:bodyPr wrap="square" lIns="0" rIns="0" anchor="ctr"/>
          <a:lstStyle/>
          <a:p>
            <a:pPr algn="ctr">
              <a:buNone/>
            </a:pPr>
            <a:endParaRPr/>
          </a:p>
        </p:txBody>
      </p:sp>
      <p:sp>
        <p:nvSpPr>
          <p:cNvPr id="6037" name="Rectangle 6038">
            <a:extLst>
              <a:ext uri="{FF2B5EF4-FFF2-40B4-BE49-F238E27FC236}">
                <a16:creationId xmlns:a16="http://schemas.microsoft.com/office/drawing/2014/main" id="{CAA588D4-B560-428C-B8CA-18B75DA07340}"/>
              </a:ext>
            </a:extLst>
          </p:cNvPr>
          <p:cNvSpPr>
            <a:spLocks noGrp="1"/>
          </p:cNvSpPr>
          <p:nvPr/>
        </p:nvSpPr>
        <p:spPr>
          <a:xfrm>
            <a:off x="10325585" y="7627274"/>
            <a:ext cx="140000" cy="250000"/>
          </a:xfrm>
          <a:prstGeom prst="rect">
            <a:avLst/>
          </a:prstGeom>
          <a:solidFill>
            <a:srgbClr val="FFFFFF"/>
          </a:solidFill>
          <a:ln w="9525">
            <a:solidFill>
              <a:srgbClr val="363A52"/>
            </a:solidFill>
          </a:ln>
        </p:spPr>
        <p:style>
          <a:lnRef idx="1">
            <a:schemeClr val="accent1"/>
          </a:lnRef>
          <a:fillRef idx="3">
            <a:schemeClr val="accent1"/>
          </a:fillRef>
          <a:effectRef idx="2">
            <a:schemeClr val="accent1"/>
          </a:effectRef>
          <a:fontRef idx="minor">
            <a:schemeClr val="lt1"/>
          </a:fontRef>
        </p:style>
        <p:txBody>
          <a:bodyPr wrap="square" lIns="0" rIns="0" anchor="ctr"/>
          <a:lstStyle/>
          <a:p>
            <a:pPr algn="ctr">
              <a:buNone/>
            </a:pPr>
            <a:endParaRPr/>
          </a:p>
        </p:txBody>
      </p:sp>
      <p:sp>
        <p:nvSpPr>
          <p:cNvPr id="6039" name="Rectangle 6040">
            <a:extLst>
              <a:ext uri="{FF2B5EF4-FFF2-40B4-BE49-F238E27FC236}">
                <a16:creationId xmlns:a16="http://schemas.microsoft.com/office/drawing/2014/main" id="{CD5374D0-8E0B-411B-A220-44DCB6B364B9}"/>
              </a:ext>
            </a:extLst>
          </p:cNvPr>
          <p:cNvSpPr>
            <a:spLocks noGrp="1"/>
          </p:cNvSpPr>
          <p:nvPr/>
        </p:nvSpPr>
        <p:spPr>
          <a:xfrm>
            <a:off x="15697685" y="8127274"/>
            <a:ext cx="140000" cy="15000"/>
          </a:xfrm>
          <a:prstGeom prst="rect">
            <a:avLst/>
          </a:prstGeom>
          <a:solidFill>
            <a:srgbClr val="FFFFFF"/>
          </a:solidFill>
          <a:ln w="9525">
            <a:solidFill>
              <a:srgbClr val="363A52"/>
            </a:solidFill>
          </a:ln>
        </p:spPr>
        <p:style>
          <a:lnRef idx="1">
            <a:schemeClr val="accent1"/>
          </a:lnRef>
          <a:fillRef idx="3">
            <a:schemeClr val="accent1"/>
          </a:fillRef>
          <a:effectRef idx="2">
            <a:schemeClr val="accent1"/>
          </a:effectRef>
          <a:fontRef idx="minor">
            <a:schemeClr val="lt1"/>
          </a:fontRef>
        </p:style>
        <p:txBody>
          <a:bodyPr wrap="square" lIns="0" rIns="0" anchor="ctr"/>
          <a:lstStyle/>
          <a:p>
            <a:pPr algn="ctr">
              <a:buNone/>
            </a:pPr>
            <a:endParaRPr/>
          </a:p>
        </p:txBody>
      </p:sp>
      <p:sp>
        <p:nvSpPr>
          <p:cNvPr id="6041" name="Rectangle 6042">
            <a:extLst>
              <a:ext uri="{FF2B5EF4-FFF2-40B4-BE49-F238E27FC236}">
                <a16:creationId xmlns:a16="http://schemas.microsoft.com/office/drawing/2014/main" id="{D88D903D-869B-404A-83FC-4E6D435D4C08}"/>
              </a:ext>
            </a:extLst>
          </p:cNvPr>
          <p:cNvSpPr>
            <a:spLocks noGrp="1"/>
          </p:cNvSpPr>
          <p:nvPr/>
        </p:nvSpPr>
        <p:spPr>
          <a:xfrm>
            <a:off x="7639535" y="3632274"/>
            <a:ext cx="140000" cy="4745000"/>
          </a:xfrm>
          <a:prstGeom prst="rect">
            <a:avLst/>
          </a:prstGeom>
          <a:solidFill>
            <a:srgbClr val="FFFFFF"/>
          </a:solidFill>
          <a:ln w="9525">
            <a:solidFill>
              <a:srgbClr val="363A52"/>
            </a:solidFill>
          </a:ln>
        </p:spPr>
        <p:style>
          <a:lnRef idx="1">
            <a:schemeClr val="accent1"/>
          </a:lnRef>
          <a:fillRef idx="3">
            <a:schemeClr val="accent1"/>
          </a:fillRef>
          <a:effectRef idx="2">
            <a:schemeClr val="accent1"/>
          </a:effectRef>
          <a:fontRef idx="minor">
            <a:schemeClr val="lt1"/>
          </a:fontRef>
        </p:style>
        <p:txBody>
          <a:bodyPr wrap="square" lIns="0" rIns="0" anchor="ctr"/>
          <a:lstStyle/>
          <a:p>
            <a:pPr algn="ctr">
              <a:buNone/>
            </a:pPr>
            <a:endParaRPr/>
          </a:p>
        </p:txBody>
      </p:sp>
      <p:sp>
        <p:nvSpPr>
          <p:cNvPr id="6043" name="Rectangle 6044">
            <a:extLst>
              <a:ext uri="{FF2B5EF4-FFF2-40B4-BE49-F238E27FC236}">
                <a16:creationId xmlns:a16="http://schemas.microsoft.com/office/drawing/2014/main" id="{0B5E8DD9-E5F3-4383-B85D-2A7617B8126C}"/>
              </a:ext>
            </a:extLst>
          </p:cNvPr>
          <p:cNvSpPr>
            <a:spLocks noGrp="1"/>
          </p:cNvSpPr>
          <p:nvPr/>
        </p:nvSpPr>
        <p:spPr>
          <a:xfrm>
            <a:off x="4953485" y="3382274"/>
            <a:ext cx="140000" cy="5835000"/>
          </a:xfrm>
          <a:prstGeom prst="rect">
            <a:avLst/>
          </a:prstGeom>
          <a:solidFill>
            <a:srgbClr val="FFFFFF"/>
          </a:solidFill>
          <a:ln w="9525">
            <a:solidFill>
              <a:srgbClr val="363A52"/>
            </a:solidFill>
          </a:ln>
        </p:spPr>
        <p:style>
          <a:lnRef idx="1">
            <a:schemeClr val="accent1"/>
          </a:lnRef>
          <a:fillRef idx="3">
            <a:schemeClr val="accent1"/>
          </a:fillRef>
          <a:effectRef idx="2">
            <a:schemeClr val="accent1"/>
          </a:effectRef>
          <a:fontRef idx="minor">
            <a:schemeClr val="lt1"/>
          </a:fontRef>
        </p:style>
        <p:txBody>
          <a:bodyPr wrap="square" lIns="0" rIns="0" anchor="ctr"/>
          <a:lstStyle/>
          <a:p>
            <a:pPr algn="ctr">
              <a:buNone/>
            </a:pPr>
            <a:endParaRPr/>
          </a:p>
        </p:txBody>
      </p:sp>
      <p:sp>
        <p:nvSpPr>
          <p:cNvPr id="6045" name="TextBox 6046">
            <a:extLst>
              <a:ext uri="{FF2B5EF4-FFF2-40B4-BE49-F238E27FC236}">
                <a16:creationId xmlns:a16="http://schemas.microsoft.com/office/drawing/2014/main" id="{06847C67-6012-4106-A0AD-E1C0D9B59200}"/>
              </a:ext>
            </a:extLst>
          </p:cNvPr>
          <p:cNvSpPr>
            <a:spLocks noGrp="1"/>
          </p:cNvSpPr>
          <p:nvPr/>
        </p:nvSpPr>
        <p:spPr>
          <a:xfrm>
            <a:off x="2337435" y="3157274"/>
            <a:ext cx="268605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아이디·비밀번호 입력, 사용자 구분 선택, 로그인</a:t>
            </a:r>
          </a:p>
        </p:txBody>
      </p:sp>
      <p:sp>
        <p:nvSpPr>
          <p:cNvPr id="6047" name="Connector 6048">
            <a:extLst>
              <a:ext uri="{FF2B5EF4-FFF2-40B4-BE49-F238E27FC236}">
                <a16:creationId xmlns:a16="http://schemas.microsoft.com/office/drawing/2014/main" id="{991E102E-D242-4404-9EF8-00B3D073792E}"/>
              </a:ext>
            </a:extLst>
          </p:cNvPr>
          <p:cNvSpPr>
            <a:spLocks noGrp="1"/>
          </p:cNvSpPr>
          <p:nvPr/>
        </p:nvSpPr>
        <p:spPr>
          <a:xfrm>
            <a:off x="2337435" y="3382274"/>
            <a:ext cx="2616050" cy="0"/>
          </a:xfrm>
          <a:prstGeom prst="line">
            <a:avLst/>
          </a:prstGeom>
          <a:ln w="1397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049" name="TextBox 6050">
            <a:extLst>
              <a:ext uri="{FF2B5EF4-FFF2-40B4-BE49-F238E27FC236}">
                <a16:creationId xmlns:a16="http://schemas.microsoft.com/office/drawing/2014/main" id="{D63E2E28-8844-49A6-807C-0C72E7DB2CEA}"/>
              </a:ext>
            </a:extLst>
          </p:cNvPr>
          <p:cNvSpPr>
            <a:spLocks noGrp="1"/>
          </p:cNvSpPr>
          <p:nvPr/>
        </p:nvSpPr>
        <p:spPr>
          <a:xfrm>
            <a:off x="5023485" y="3407274"/>
            <a:ext cx="268605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POST /auth/login (id, pw, 구분)</a:t>
            </a:r>
          </a:p>
        </p:txBody>
      </p:sp>
      <p:sp>
        <p:nvSpPr>
          <p:cNvPr id="6051" name="Connector 6052">
            <a:extLst>
              <a:ext uri="{FF2B5EF4-FFF2-40B4-BE49-F238E27FC236}">
                <a16:creationId xmlns:a16="http://schemas.microsoft.com/office/drawing/2014/main" id="{43B5FA80-D64D-41D9-85DA-0BB551E2FA8B}"/>
              </a:ext>
            </a:extLst>
          </p:cNvPr>
          <p:cNvSpPr>
            <a:spLocks noGrp="1"/>
          </p:cNvSpPr>
          <p:nvPr/>
        </p:nvSpPr>
        <p:spPr>
          <a:xfrm>
            <a:off x="5093485" y="3632274"/>
            <a:ext cx="2546050" cy="0"/>
          </a:xfrm>
          <a:prstGeom prst="line">
            <a:avLst/>
          </a:prstGeom>
          <a:ln w="1397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053" name="TextBox 6054">
            <a:extLst>
              <a:ext uri="{FF2B5EF4-FFF2-40B4-BE49-F238E27FC236}">
                <a16:creationId xmlns:a16="http://schemas.microsoft.com/office/drawing/2014/main" id="{EA2CDB94-D79C-4FF0-85C7-2DC9924A925A}"/>
              </a:ext>
            </a:extLst>
          </p:cNvPr>
          <p:cNvSpPr>
            <a:spLocks noGrp="1"/>
          </p:cNvSpPr>
          <p:nvPr/>
        </p:nvSpPr>
        <p:spPr>
          <a:xfrm>
            <a:off x="7709535" y="3657274"/>
            <a:ext cx="537210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계정 조회(login_id)</a:t>
            </a:r>
          </a:p>
        </p:txBody>
      </p:sp>
      <p:sp>
        <p:nvSpPr>
          <p:cNvPr id="6055" name="Connector 6056">
            <a:extLst>
              <a:ext uri="{FF2B5EF4-FFF2-40B4-BE49-F238E27FC236}">
                <a16:creationId xmlns:a16="http://schemas.microsoft.com/office/drawing/2014/main" id="{387E379A-0724-4590-A987-94F07BAF38B3}"/>
              </a:ext>
            </a:extLst>
          </p:cNvPr>
          <p:cNvSpPr>
            <a:spLocks noGrp="1"/>
          </p:cNvSpPr>
          <p:nvPr/>
        </p:nvSpPr>
        <p:spPr>
          <a:xfrm>
            <a:off x="7779535" y="3882274"/>
            <a:ext cx="5232100" cy="0"/>
          </a:xfrm>
          <a:prstGeom prst="line">
            <a:avLst/>
          </a:prstGeom>
          <a:ln w="1397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057" name="TextBox 6058">
            <a:extLst>
              <a:ext uri="{FF2B5EF4-FFF2-40B4-BE49-F238E27FC236}">
                <a16:creationId xmlns:a16="http://schemas.microsoft.com/office/drawing/2014/main" id="{17101698-5797-466B-9E18-DD0BD5064FCB}"/>
              </a:ext>
            </a:extLst>
          </p:cNvPr>
          <p:cNvSpPr>
            <a:spLocks noGrp="1"/>
          </p:cNvSpPr>
          <p:nvPr/>
        </p:nvSpPr>
        <p:spPr>
          <a:xfrm>
            <a:off x="7709535" y="3907274"/>
            <a:ext cx="537210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해시·role·상태·잠금여부(발급/회수)</a:t>
            </a:r>
          </a:p>
        </p:txBody>
      </p:sp>
      <p:sp>
        <p:nvSpPr>
          <p:cNvPr id="6059" name="Connector 6060">
            <a:extLst>
              <a:ext uri="{FF2B5EF4-FFF2-40B4-BE49-F238E27FC236}">
                <a16:creationId xmlns:a16="http://schemas.microsoft.com/office/drawing/2014/main" id="{E9759DA3-64D3-466E-BAD0-B9104A2522FD}"/>
              </a:ext>
            </a:extLst>
          </p:cNvPr>
          <p:cNvSpPr>
            <a:spLocks noGrp="1"/>
          </p:cNvSpPr>
          <p:nvPr/>
        </p:nvSpPr>
        <p:spPr>
          <a:xfrm flipH="1">
            <a:off x="7779535" y="4132274"/>
            <a:ext cx="5232100" cy="0"/>
          </a:xfrm>
          <a:prstGeom prst="line">
            <a:avLst/>
          </a:prstGeom>
          <a:ln w="13970">
            <a:solidFill>
              <a:srgbClr val="6B7080"/>
            </a:solidFill>
            <a:prstDash val="dash"/>
            <a:tailEnd type="arrow"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061" name="Connector 6062">
            <a:extLst>
              <a:ext uri="{FF2B5EF4-FFF2-40B4-BE49-F238E27FC236}">
                <a16:creationId xmlns:a16="http://schemas.microsoft.com/office/drawing/2014/main" id="{87F797A9-C2B8-4396-B4AD-21A2E8C5F176}"/>
              </a:ext>
            </a:extLst>
          </p:cNvPr>
          <p:cNvSpPr>
            <a:spLocks noGrp="1"/>
          </p:cNvSpPr>
          <p:nvPr/>
        </p:nvSpPr>
        <p:spPr>
          <a:xfrm>
            <a:off x="7779535" y="4382274"/>
            <a:ext cx="365760" cy="0"/>
          </a:xfrm>
          <a:prstGeom prst="line">
            <a:avLst/>
          </a:prstGeom>
          <a:ln w="13970">
            <a:solidFill>
              <a:srgbClr val="363A52"/>
            </a:solidFill>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063" name="Connector 6064">
            <a:extLst>
              <a:ext uri="{FF2B5EF4-FFF2-40B4-BE49-F238E27FC236}">
                <a16:creationId xmlns:a16="http://schemas.microsoft.com/office/drawing/2014/main" id="{A7FD9FC9-97E4-4105-80A7-03386F6D07AD}"/>
              </a:ext>
            </a:extLst>
          </p:cNvPr>
          <p:cNvSpPr>
            <a:spLocks noGrp="1"/>
          </p:cNvSpPr>
          <p:nvPr/>
        </p:nvSpPr>
        <p:spPr>
          <a:xfrm>
            <a:off x="8145295" y="4382274"/>
            <a:ext cx="0" cy="180251"/>
          </a:xfrm>
          <a:prstGeom prst="line">
            <a:avLst/>
          </a:prstGeom>
          <a:ln w="13970">
            <a:solidFill>
              <a:srgbClr val="363A52"/>
            </a:solidFill>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065" name="Connector 6066">
            <a:extLst>
              <a:ext uri="{FF2B5EF4-FFF2-40B4-BE49-F238E27FC236}">
                <a16:creationId xmlns:a16="http://schemas.microsoft.com/office/drawing/2014/main" id="{704FA401-4FFA-4E1E-9729-2515DF78CF86}"/>
              </a:ext>
            </a:extLst>
          </p:cNvPr>
          <p:cNvSpPr>
            <a:spLocks noGrp="1"/>
          </p:cNvSpPr>
          <p:nvPr/>
        </p:nvSpPr>
        <p:spPr>
          <a:xfrm flipH="1">
            <a:off x="7813825" y="4562525"/>
            <a:ext cx="331470" cy="0"/>
          </a:xfrm>
          <a:prstGeom prst="line">
            <a:avLst/>
          </a:prstGeom>
          <a:ln w="1397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067" name="TextBox 6068">
            <a:extLst>
              <a:ext uri="{FF2B5EF4-FFF2-40B4-BE49-F238E27FC236}">
                <a16:creationId xmlns:a16="http://schemas.microsoft.com/office/drawing/2014/main" id="{F80331F2-B242-4771-B1A6-93778892FAFC}"/>
              </a:ext>
            </a:extLst>
          </p:cNvPr>
          <p:cNvSpPr>
            <a:spLocks noGrp="1"/>
          </p:cNvSpPr>
          <p:nvPr/>
        </p:nvSpPr>
        <p:spPr>
          <a:xfrm>
            <a:off x="8236735" y="4157274"/>
            <a:ext cx="4562951" cy="221284"/>
          </a:xfrm>
          <a:prstGeom prst="rect">
            <a:avLst/>
          </a:prstGeom>
          <a:noFill/>
        </p:spPr>
        <p:txBody>
          <a:bodyPr wrap="square" lIns="0" tIns="0" rIns="0" bIns="0" anchor="t">
            <a:spAutoFit/>
          </a:bodyPr>
          <a:lstStyle/>
          <a:p>
            <a:pPr algn="l">
              <a:buNone/>
            </a:pPr>
            <a:r>
              <a:rPr sz="1100" b="0">
                <a:solidFill>
                  <a:srgbClr val="2E3142"/>
                </a:solidFill>
                <a:latin typeface="210 OmniGothic 040"/>
                <a:ea typeface="210 OmniGothic 040"/>
                <a:cs typeface="210 OmniGothic 040"/>
              </a:rPr>
              <a:t>잠금 여부 우선 확인</a:t>
            </a:r>
          </a:p>
        </p:txBody>
      </p:sp>
      <p:sp>
        <p:nvSpPr>
          <p:cNvPr id="6069" name="TextBox 6070">
            <a:extLst>
              <a:ext uri="{FF2B5EF4-FFF2-40B4-BE49-F238E27FC236}">
                <a16:creationId xmlns:a16="http://schemas.microsoft.com/office/drawing/2014/main" id="{D3A1E60F-93A8-4F5D-97A6-B3D837AF0835}"/>
              </a:ext>
            </a:extLst>
          </p:cNvPr>
          <p:cNvSpPr>
            <a:spLocks noGrp="1"/>
          </p:cNvSpPr>
          <p:nvPr/>
        </p:nvSpPr>
        <p:spPr>
          <a:xfrm>
            <a:off x="7709535" y="4602274"/>
            <a:ext cx="268605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verify_password() · 구분 일치 확인</a:t>
            </a:r>
          </a:p>
        </p:txBody>
      </p:sp>
      <p:sp>
        <p:nvSpPr>
          <p:cNvPr id="6071" name="Connector 6072">
            <a:extLst>
              <a:ext uri="{FF2B5EF4-FFF2-40B4-BE49-F238E27FC236}">
                <a16:creationId xmlns:a16="http://schemas.microsoft.com/office/drawing/2014/main" id="{A9F62429-7CC6-429C-A5E8-89669BC4F21D}"/>
              </a:ext>
            </a:extLst>
          </p:cNvPr>
          <p:cNvSpPr>
            <a:spLocks noGrp="1"/>
          </p:cNvSpPr>
          <p:nvPr/>
        </p:nvSpPr>
        <p:spPr>
          <a:xfrm>
            <a:off x="7779535" y="4827274"/>
            <a:ext cx="2546050" cy="0"/>
          </a:xfrm>
          <a:prstGeom prst="line">
            <a:avLst/>
          </a:prstGeom>
          <a:ln w="1397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073" name="TextBox 6074">
            <a:extLst>
              <a:ext uri="{FF2B5EF4-FFF2-40B4-BE49-F238E27FC236}">
                <a16:creationId xmlns:a16="http://schemas.microsoft.com/office/drawing/2014/main" id="{7CDBE85B-EF71-49B6-94CD-80FE41986FC0}"/>
              </a:ext>
            </a:extLst>
          </p:cNvPr>
          <p:cNvSpPr>
            <a:spLocks noGrp="1"/>
          </p:cNvSpPr>
          <p:nvPr/>
        </p:nvSpPr>
        <p:spPr>
          <a:xfrm>
            <a:off x="7709535" y="4852274"/>
            <a:ext cx="268605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검증 결과</a:t>
            </a:r>
          </a:p>
        </p:txBody>
      </p:sp>
      <p:sp>
        <p:nvSpPr>
          <p:cNvPr id="6075" name="Connector 6076">
            <a:extLst>
              <a:ext uri="{FF2B5EF4-FFF2-40B4-BE49-F238E27FC236}">
                <a16:creationId xmlns:a16="http://schemas.microsoft.com/office/drawing/2014/main" id="{70AABA50-1DD4-4019-AC27-68CB1AA6FE06}"/>
              </a:ext>
            </a:extLst>
          </p:cNvPr>
          <p:cNvSpPr>
            <a:spLocks noGrp="1"/>
          </p:cNvSpPr>
          <p:nvPr/>
        </p:nvSpPr>
        <p:spPr>
          <a:xfrm flipH="1">
            <a:off x="7779535" y="5077274"/>
            <a:ext cx="2546050" cy="0"/>
          </a:xfrm>
          <a:prstGeom prst="line">
            <a:avLst/>
          </a:prstGeom>
          <a:ln w="13970">
            <a:solidFill>
              <a:srgbClr val="6B7080"/>
            </a:solidFill>
            <a:prstDash val="dash"/>
            <a:tailEnd type="arrow"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077" name="TextBox 6078">
            <a:extLst>
              <a:ext uri="{FF2B5EF4-FFF2-40B4-BE49-F238E27FC236}">
                <a16:creationId xmlns:a16="http://schemas.microsoft.com/office/drawing/2014/main" id="{650CF3A2-0F70-43AC-BD71-268374DC21E6}"/>
              </a:ext>
            </a:extLst>
          </p:cNvPr>
          <p:cNvSpPr>
            <a:spLocks noGrp="1"/>
          </p:cNvSpPr>
          <p:nvPr/>
        </p:nvSpPr>
        <p:spPr>
          <a:xfrm>
            <a:off x="5023485" y="5322274"/>
            <a:ext cx="268605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423 「계정이 잠겼습니다」</a:t>
            </a:r>
          </a:p>
        </p:txBody>
      </p:sp>
      <p:sp>
        <p:nvSpPr>
          <p:cNvPr id="6079" name="Connector 6080">
            <a:extLst>
              <a:ext uri="{FF2B5EF4-FFF2-40B4-BE49-F238E27FC236}">
                <a16:creationId xmlns:a16="http://schemas.microsoft.com/office/drawing/2014/main" id="{A926DF52-0638-47E5-9C31-A5A8B4934976}"/>
              </a:ext>
            </a:extLst>
          </p:cNvPr>
          <p:cNvSpPr>
            <a:spLocks noGrp="1"/>
          </p:cNvSpPr>
          <p:nvPr/>
        </p:nvSpPr>
        <p:spPr>
          <a:xfrm flipH="1">
            <a:off x="5093485" y="5547274"/>
            <a:ext cx="2546050" cy="0"/>
          </a:xfrm>
          <a:prstGeom prst="line">
            <a:avLst/>
          </a:prstGeom>
          <a:ln w="13970">
            <a:solidFill>
              <a:srgbClr val="6B7080"/>
            </a:solidFill>
            <a:prstDash val="dash"/>
            <a:tailEnd type="arrow"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081" name="TextBox 6082">
            <a:extLst>
              <a:ext uri="{FF2B5EF4-FFF2-40B4-BE49-F238E27FC236}">
                <a16:creationId xmlns:a16="http://schemas.microsoft.com/office/drawing/2014/main" id="{CB304B0F-ED1D-47C2-BC1A-CE14E88E51E0}"/>
              </a:ext>
            </a:extLst>
          </p:cNvPr>
          <p:cNvSpPr>
            <a:spLocks noGrp="1"/>
          </p:cNvSpPr>
          <p:nvPr/>
        </p:nvSpPr>
        <p:spPr>
          <a:xfrm>
            <a:off x="2337435" y="5572274"/>
            <a:ext cx="268605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잠금 안내 표시(전산 관리자 문의)</a:t>
            </a:r>
          </a:p>
        </p:txBody>
      </p:sp>
      <p:sp>
        <p:nvSpPr>
          <p:cNvPr id="6083" name="Connector 6084">
            <a:extLst>
              <a:ext uri="{FF2B5EF4-FFF2-40B4-BE49-F238E27FC236}">
                <a16:creationId xmlns:a16="http://schemas.microsoft.com/office/drawing/2014/main" id="{8279E770-909D-4EEA-BD7B-2B0005A69BF4}"/>
              </a:ext>
            </a:extLst>
          </p:cNvPr>
          <p:cNvSpPr>
            <a:spLocks noGrp="1"/>
          </p:cNvSpPr>
          <p:nvPr/>
        </p:nvSpPr>
        <p:spPr>
          <a:xfrm flipH="1">
            <a:off x="2337435" y="5797274"/>
            <a:ext cx="2616050" cy="0"/>
          </a:xfrm>
          <a:prstGeom prst="line">
            <a:avLst/>
          </a:prstGeom>
          <a:ln w="13970">
            <a:solidFill>
              <a:srgbClr val="6B7080"/>
            </a:solidFill>
            <a:prstDash val="dash"/>
            <a:tailEnd type="arrow"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085" name="TextBox 6086">
            <a:extLst>
              <a:ext uri="{FF2B5EF4-FFF2-40B4-BE49-F238E27FC236}">
                <a16:creationId xmlns:a16="http://schemas.microsoft.com/office/drawing/2014/main" id="{82BEBE7F-10D5-4BF6-8E2E-952AD12B0047}"/>
              </a:ext>
            </a:extLst>
          </p:cNvPr>
          <p:cNvSpPr>
            <a:spLocks noGrp="1"/>
          </p:cNvSpPr>
          <p:nvPr/>
        </p:nvSpPr>
        <p:spPr>
          <a:xfrm>
            <a:off x="7709535" y="5932274"/>
            <a:ext cx="537210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실패 횟수 +1(5회 도달 시 계정 잠금) · 상태 저장</a:t>
            </a:r>
          </a:p>
        </p:txBody>
      </p:sp>
      <p:sp>
        <p:nvSpPr>
          <p:cNvPr id="6087" name="Connector 6088">
            <a:extLst>
              <a:ext uri="{FF2B5EF4-FFF2-40B4-BE49-F238E27FC236}">
                <a16:creationId xmlns:a16="http://schemas.microsoft.com/office/drawing/2014/main" id="{8A825BA8-74C7-4A07-BC4C-D20CEACE233E}"/>
              </a:ext>
            </a:extLst>
          </p:cNvPr>
          <p:cNvSpPr>
            <a:spLocks noGrp="1"/>
          </p:cNvSpPr>
          <p:nvPr/>
        </p:nvSpPr>
        <p:spPr>
          <a:xfrm>
            <a:off x="7779535" y="6157274"/>
            <a:ext cx="5232100" cy="0"/>
          </a:xfrm>
          <a:prstGeom prst="line">
            <a:avLst/>
          </a:prstGeom>
          <a:ln w="1397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089" name="TextBox 6090">
            <a:extLst>
              <a:ext uri="{FF2B5EF4-FFF2-40B4-BE49-F238E27FC236}">
                <a16:creationId xmlns:a16="http://schemas.microsoft.com/office/drawing/2014/main" id="{E2A0D0F4-1D69-40E9-B903-337EFA3FE9E7}"/>
              </a:ext>
            </a:extLst>
          </p:cNvPr>
          <p:cNvSpPr>
            <a:spLocks noGrp="1"/>
          </p:cNvSpPr>
          <p:nvPr/>
        </p:nvSpPr>
        <p:spPr>
          <a:xfrm>
            <a:off x="5023485" y="6182274"/>
            <a:ext cx="2686050" cy="221284"/>
          </a:xfrm>
          <a:prstGeom prst="rect">
            <a:avLst/>
          </a:prstGeom>
          <a:noFill/>
        </p:spPr>
        <p:txBody>
          <a:bodyPr wrap="square" lIns="0" tIns="0" rIns="0" bIns="0" anchor="t">
            <a:spAutoFit/>
          </a:bodyPr>
          <a:lstStyle/>
          <a:p>
            <a:pPr algn="ctr">
              <a:buNone/>
            </a:pPr>
            <a:r>
              <a:rPr sz="900" b="0">
                <a:solidFill>
                  <a:srgbClr val="2E3142"/>
                </a:solidFill>
                <a:latin typeface="210 OmniGothic 040"/>
                <a:ea typeface="210 OmniGothic 040"/>
                <a:cs typeface="210 OmniGothic 040"/>
              </a:rPr>
              <a:t>401 「아이디 또는 비밀번호가 올바르지 않습니다」</a:t>
            </a:r>
          </a:p>
        </p:txBody>
      </p:sp>
      <p:sp>
        <p:nvSpPr>
          <p:cNvPr id="6091" name="Connector 6092">
            <a:extLst>
              <a:ext uri="{FF2B5EF4-FFF2-40B4-BE49-F238E27FC236}">
                <a16:creationId xmlns:a16="http://schemas.microsoft.com/office/drawing/2014/main" id="{BDC28DF2-AD58-49A6-87ED-FA172F25F010}"/>
              </a:ext>
            </a:extLst>
          </p:cNvPr>
          <p:cNvSpPr>
            <a:spLocks noGrp="1"/>
          </p:cNvSpPr>
          <p:nvPr/>
        </p:nvSpPr>
        <p:spPr>
          <a:xfrm flipH="1">
            <a:off x="5093485" y="6407274"/>
            <a:ext cx="2546050" cy="0"/>
          </a:xfrm>
          <a:prstGeom prst="line">
            <a:avLst/>
          </a:prstGeom>
          <a:ln w="13970">
            <a:solidFill>
              <a:srgbClr val="6B7080"/>
            </a:solidFill>
            <a:prstDash val="dash"/>
            <a:tailEnd type="arrow"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093" name="TextBox 6094">
            <a:extLst>
              <a:ext uri="{FF2B5EF4-FFF2-40B4-BE49-F238E27FC236}">
                <a16:creationId xmlns:a16="http://schemas.microsoft.com/office/drawing/2014/main" id="{FE9A5C83-D266-4EC7-BB4D-12CF55569C46}"/>
              </a:ext>
            </a:extLst>
          </p:cNvPr>
          <p:cNvSpPr>
            <a:spLocks noGrp="1"/>
          </p:cNvSpPr>
          <p:nvPr/>
        </p:nvSpPr>
        <p:spPr>
          <a:xfrm>
            <a:off x="2337435" y="6432274"/>
            <a:ext cx="268605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오류 메시지 표시</a:t>
            </a:r>
          </a:p>
        </p:txBody>
      </p:sp>
      <p:sp>
        <p:nvSpPr>
          <p:cNvPr id="6095" name="Connector 6096">
            <a:extLst>
              <a:ext uri="{FF2B5EF4-FFF2-40B4-BE49-F238E27FC236}">
                <a16:creationId xmlns:a16="http://schemas.microsoft.com/office/drawing/2014/main" id="{83611978-2472-4A50-AE29-136AA8B8559B}"/>
              </a:ext>
            </a:extLst>
          </p:cNvPr>
          <p:cNvSpPr>
            <a:spLocks noGrp="1"/>
          </p:cNvSpPr>
          <p:nvPr/>
        </p:nvSpPr>
        <p:spPr>
          <a:xfrm flipH="1">
            <a:off x="2337435" y="6657274"/>
            <a:ext cx="2616050" cy="0"/>
          </a:xfrm>
          <a:prstGeom prst="line">
            <a:avLst/>
          </a:prstGeom>
          <a:ln w="13970">
            <a:solidFill>
              <a:srgbClr val="6B7080"/>
            </a:solidFill>
            <a:prstDash val="dash"/>
            <a:tailEnd type="arrow"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097" name="TextBox 6098">
            <a:extLst>
              <a:ext uri="{FF2B5EF4-FFF2-40B4-BE49-F238E27FC236}">
                <a16:creationId xmlns:a16="http://schemas.microsoft.com/office/drawing/2014/main" id="{0762E5C8-9F49-4F27-8FAE-8B3720ACF887}"/>
              </a:ext>
            </a:extLst>
          </p:cNvPr>
          <p:cNvSpPr>
            <a:spLocks noGrp="1"/>
          </p:cNvSpPr>
          <p:nvPr/>
        </p:nvSpPr>
        <p:spPr>
          <a:xfrm>
            <a:off x="5023485" y="6792274"/>
            <a:ext cx="268605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403 「회수된 계정입니다」</a:t>
            </a:r>
          </a:p>
        </p:txBody>
      </p:sp>
      <p:sp>
        <p:nvSpPr>
          <p:cNvPr id="6099" name="Connector 6100">
            <a:extLst>
              <a:ext uri="{FF2B5EF4-FFF2-40B4-BE49-F238E27FC236}">
                <a16:creationId xmlns:a16="http://schemas.microsoft.com/office/drawing/2014/main" id="{25B1823F-D4DA-4FA4-A1FA-8D98F1146FAF}"/>
              </a:ext>
            </a:extLst>
          </p:cNvPr>
          <p:cNvSpPr>
            <a:spLocks noGrp="1"/>
          </p:cNvSpPr>
          <p:nvPr/>
        </p:nvSpPr>
        <p:spPr>
          <a:xfrm flipH="1">
            <a:off x="5093485" y="7017274"/>
            <a:ext cx="2546050" cy="0"/>
          </a:xfrm>
          <a:prstGeom prst="line">
            <a:avLst/>
          </a:prstGeom>
          <a:ln w="13970">
            <a:solidFill>
              <a:srgbClr val="6B7080"/>
            </a:solidFill>
            <a:prstDash val="dash"/>
            <a:tailEnd type="arrow"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101" name="TextBox 6102">
            <a:extLst>
              <a:ext uri="{FF2B5EF4-FFF2-40B4-BE49-F238E27FC236}">
                <a16:creationId xmlns:a16="http://schemas.microsoft.com/office/drawing/2014/main" id="{62B29ECA-4433-4480-896C-F5667468FBA5}"/>
              </a:ext>
            </a:extLst>
          </p:cNvPr>
          <p:cNvSpPr>
            <a:spLocks noGrp="1"/>
          </p:cNvSpPr>
          <p:nvPr/>
        </p:nvSpPr>
        <p:spPr>
          <a:xfrm>
            <a:off x="2337435" y="7042274"/>
            <a:ext cx="268605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오류 메시지 표시</a:t>
            </a:r>
          </a:p>
        </p:txBody>
      </p:sp>
      <p:sp>
        <p:nvSpPr>
          <p:cNvPr id="6103" name="Connector 6104">
            <a:extLst>
              <a:ext uri="{FF2B5EF4-FFF2-40B4-BE49-F238E27FC236}">
                <a16:creationId xmlns:a16="http://schemas.microsoft.com/office/drawing/2014/main" id="{1CA5BEF3-E9C2-46D4-A88F-342A719D72F3}"/>
              </a:ext>
            </a:extLst>
          </p:cNvPr>
          <p:cNvSpPr>
            <a:spLocks noGrp="1"/>
          </p:cNvSpPr>
          <p:nvPr/>
        </p:nvSpPr>
        <p:spPr>
          <a:xfrm flipH="1">
            <a:off x="2337435" y="7267274"/>
            <a:ext cx="2616050" cy="0"/>
          </a:xfrm>
          <a:prstGeom prst="line">
            <a:avLst/>
          </a:prstGeom>
          <a:ln w="13970">
            <a:solidFill>
              <a:srgbClr val="6B7080"/>
            </a:solidFill>
            <a:prstDash val="dash"/>
            <a:tailEnd type="arrow"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105" name="TextBox 6106">
            <a:extLst>
              <a:ext uri="{FF2B5EF4-FFF2-40B4-BE49-F238E27FC236}">
                <a16:creationId xmlns:a16="http://schemas.microsoft.com/office/drawing/2014/main" id="{785F2866-12A0-42D1-A1BA-7CA3FEE9AD32}"/>
              </a:ext>
            </a:extLst>
          </p:cNvPr>
          <p:cNvSpPr>
            <a:spLocks noGrp="1"/>
          </p:cNvSpPr>
          <p:nvPr/>
        </p:nvSpPr>
        <p:spPr>
          <a:xfrm>
            <a:off x="7709535" y="7402274"/>
            <a:ext cx="268605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create_token(role, 관할)</a:t>
            </a:r>
          </a:p>
        </p:txBody>
      </p:sp>
      <p:sp>
        <p:nvSpPr>
          <p:cNvPr id="6107" name="Connector 6108">
            <a:extLst>
              <a:ext uri="{FF2B5EF4-FFF2-40B4-BE49-F238E27FC236}">
                <a16:creationId xmlns:a16="http://schemas.microsoft.com/office/drawing/2014/main" id="{8DD7F5E8-F9B5-4725-B9C9-BD6C82C68ED2}"/>
              </a:ext>
            </a:extLst>
          </p:cNvPr>
          <p:cNvSpPr>
            <a:spLocks noGrp="1"/>
          </p:cNvSpPr>
          <p:nvPr/>
        </p:nvSpPr>
        <p:spPr>
          <a:xfrm>
            <a:off x="7779535" y="7627274"/>
            <a:ext cx="2546050" cy="0"/>
          </a:xfrm>
          <a:prstGeom prst="line">
            <a:avLst/>
          </a:prstGeom>
          <a:ln w="1397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109" name="TextBox 6110">
            <a:extLst>
              <a:ext uri="{FF2B5EF4-FFF2-40B4-BE49-F238E27FC236}">
                <a16:creationId xmlns:a16="http://schemas.microsoft.com/office/drawing/2014/main" id="{6A050087-D0F0-4445-A502-9B76B66D78B9}"/>
              </a:ext>
            </a:extLst>
          </p:cNvPr>
          <p:cNvSpPr>
            <a:spLocks noGrp="1"/>
          </p:cNvSpPr>
          <p:nvPr/>
        </p:nvSpPr>
        <p:spPr>
          <a:xfrm>
            <a:off x="7709535" y="7652274"/>
            <a:ext cx="268605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JWT</a:t>
            </a:r>
          </a:p>
        </p:txBody>
      </p:sp>
      <p:sp>
        <p:nvSpPr>
          <p:cNvPr id="6111" name="Connector 6112">
            <a:extLst>
              <a:ext uri="{FF2B5EF4-FFF2-40B4-BE49-F238E27FC236}">
                <a16:creationId xmlns:a16="http://schemas.microsoft.com/office/drawing/2014/main" id="{3AAB87DF-3948-4ACB-B6B1-3987AF055C51}"/>
              </a:ext>
            </a:extLst>
          </p:cNvPr>
          <p:cNvSpPr>
            <a:spLocks noGrp="1"/>
          </p:cNvSpPr>
          <p:nvPr/>
        </p:nvSpPr>
        <p:spPr>
          <a:xfrm flipH="1">
            <a:off x="7779535" y="7877274"/>
            <a:ext cx="2546050" cy="0"/>
          </a:xfrm>
          <a:prstGeom prst="line">
            <a:avLst/>
          </a:prstGeom>
          <a:ln w="13970">
            <a:solidFill>
              <a:srgbClr val="6B7080"/>
            </a:solidFill>
            <a:prstDash val="dash"/>
            <a:tailEnd type="arrow"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113" name="TextBox 6114">
            <a:extLst>
              <a:ext uri="{FF2B5EF4-FFF2-40B4-BE49-F238E27FC236}">
                <a16:creationId xmlns:a16="http://schemas.microsoft.com/office/drawing/2014/main" id="{895EB2E9-8442-42EC-BB61-8FD5C1904408}"/>
              </a:ext>
            </a:extLst>
          </p:cNvPr>
          <p:cNvSpPr>
            <a:spLocks noGrp="1"/>
          </p:cNvSpPr>
          <p:nvPr/>
        </p:nvSpPr>
        <p:spPr>
          <a:xfrm>
            <a:off x="7709535" y="7902274"/>
            <a:ext cx="805815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record(시스템, 로그인 · 실패횟수 초기화)</a:t>
            </a:r>
          </a:p>
        </p:txBody>
      </p:sp>
      <p:sp>
        <p:nvSpPr>
          <p:cNvPr id="6115" name="Connector 6116">
            <a:extLst>
              <a:ext uri="{FF2B5EF4-FFF2-40B4-BE49-F238E27FC236}">
                <a16:creationId xmlns:a16="http://schemas.microsoft.com/office/drawing/2014/main" id="{406E5AE8-E493-4F59-8387-C7C0C6E4CB4B}"/>
              </a:ext>
            </a:extLst>
          </p:cNvPr>
          <p:cNvSpPr>
            <a:spLocks noGrp="1"/>
          </p:cNvSpPr>
          <p:nvPr/>
        </p:nvSpPr>
        <p:spPr>
          <a:xfrm>
            <a:off x="7779535" y="8127274"/>
            <a:ext cx="7918150" cy="0"/>
          </a:xfrm>
          <a:prstGeom prst="line">
            <a:avLst/>
          </a:prstGeom>
          <a:ln w="1397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117" name="TextBox 6118">
            <a:extLst>
              <a:ext uri="{FF2B5EF4-FFF2-40B4-BE49-F238E27FC236}">
                <a16:creationId xmlns:a16="http://schemas.microsoft.com/office/drawing/2014/main" id="{A485667E-71D8-48B4-BB9B-2DB2D22B6DE4}"/>
              </a:ext>
            </a:extLst>
          </p:cNvPr>
          <p:cNvSpPr>
            <a:spLocks noGrp="1"/>
          </p:cNvSpPr>
          <p:nvPr/>
        </p:nvSpPr>
        <p:spPr>
          <a:xfrm>
            <a:off x="5023485" y="8152274"/>
            <a:ext cx="268605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200 token · role</a:t>
            </a:r>
          </a:p>
        </p:txBody>
      </p:sp>
      <p:sp>
        <p:nvSpPr>
          <p:cNvPr id="6119" name="Connector 6120">
            <a:extLst>
              <a:ext uri="{FF2B5EF4-FFF2-40B4-BE49-F238E27FC236}">
                <a16:creationId xmlns:a16="http://schemas.microsoft.com/office/drawing/2014/main" id="{F8EA3A96-0362-47B8-8A90-EAA0D7680E17}"/>
              </a:ext>
            </a:extLst>
          </p:cNvPr>
          <p:cNvSpPr>
            <a:spLocks noGrp="1"/>
          </p:cNvSpPr>
          <p:nvPr/>
        </p:nvSpPr>
        <p:spPr>
          <a:xfrm flipH="1">
            <a:off x="5093485" y="8377274"/>
            <a:ext cx="2546050" cy="0"/>
          </a:xfrm>
          <a:prstGeom prst="line">
            <a:avLst/>
          </a:prstGeom>
          <a:ln w="13970">
            <a:solidFill>
              <a:srgbClr val="6B7080"/>
            </a:solidFill>
            <a:prstDash val="dash"/>
            <a:tailEnd type="arrow"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121" name="Connector 6122">
            <a:extLst>
              <a:ext uri="{FF2B5EF4-FFF2-40B4-BE49-F238E27FC236}">
                <a16:creationId xmlns:a16="http://schemas.microsoft.com/office/drawing/2014/main" id="{B0AF5286-CE25-40A9-84E6-3319488AB953}"/>
              </a:ext>
            </a:extLst>
          </p:cNvPr>
          <p:cNvSpPr>
            <a:spLocks noGrp="1"/>
          </p:cNvSpPr>
          <p:nvPr/>
        </p:nvSpPr>
        <p:spPr>
          <a:xfrm>
            <a:off x="5093485" y="8772274"/>
            <a:ext cx="365760" cy="0"/>
          </a:xfrm>
          <a:prstGeom prst="line">
            <a:avLst/>
          </a:prstGeom>
          <a:ln w="13970">
            <a:solidFill>
              <a:srgbClr val="363A52"/>
            </a:solidFill>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123" name="Connector 6124">
            <a:extLst>
              <a:ext uri="{FF2B5EF4-FFF2-40B4-BE49-F238E27FC236}">
                <a16:creationId xmlns:a16="http://schemas.microsoft.com/office/drawing/2014/main" id="{2C83B7F9-13CC-43DB-B39E-A361C0E110EC}"/>
              </a:ext>
            </a:extLst>
          </p:cNvPr>
          <p:cNvSpPr>
            <a:spLocks noGrp="1"/>
          </p:cNvSpPr>
          <p:nvPr/>
        </p:nvSpPr>
        <p:spPr>
          <a:xfrm>
            <a:off x="5459245" y="8772274"/>
            <a:ext cx="0" cy="180251"/>
          </a:xfrm>
          <a:prstGeom prst="line">
            <a:avLst/>
          </a:prstGeom>
          <a:ln w="13970">
            <a:solidFill>
              <a:srgbClr val="363A52"/>
            </a:solidFill>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125" name="Connector 6126">
            <a:extLst>
              <a:ext uri="{FF2B5EF4-FFF2-40B4-BE49-F238E27FC236}">
                <a16:creationId xmlns:a16="http://schemas.microsoft.com/office/drawing/2014/main" id="{A738EDF8-CD43-45E3-80AC-DBD8E47BC05B}"/>
              </a:ext>
            </a:extLst>
          </p:cNvPr>
          <p:cNvSpPr>
            <a:spLocks noGrp="1"/>
          </p:cNvSpPr>
          <p:nvPr/>
        </p:nvSpPr>
        <p:spPr>
          <a:xfrm flipH="1">
            <a:off x="5127775" y="8952525"/>
            <a:ext cx="331470" cy="0"/>
          </a:xfrm>
          <a:prstGeom prst="line">
            <a:avLst/>
          </a:prstGeom>
          <a:ln w="1397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127" name="TextBox 6128">
            <a:extLst>
              <a:ext uri="{FF2B5EF4-FFF2-40B4-BE49-F238E27FC236}">
                <a16:creationId xmlns:a16="http://schemas.microsoft.com/office/drawing/2014/main" id="{50AA0A3E-4324-409F-A391-337153F5A614}"/>
              </a:ext>
            </a:extLst>
          </p:cNvPr>
          <p:cNvSpPr>
            <a:spLocks noGrp="1"/>
          </p:cNvSpPr>
          <p:nvPr/>
        </p:nvSpPr>
        <p:spPr>
          <a:xfrm>
            <a:off x="5550685" y="8547274"/>
            <a:ext cx="4562951" cy="221284"/>
          </a:xfrm>
          <a:prstGeom prst="rect">
            <a:avLst/>
          </a:prstGeom>
          <a:noFill/>
        </p:spPr>
        <p:txBody>
          <a:bodyPr wrap="square" lIns="0" tIns="0" rIns="0" bIns="0" anchor="t">
            <a:spAutoFit/>
          </a:bodyPr>
          <a:lstStyle/>
          <a:p>
            <a:pPr algn="l">
              <a:buNone/>
            </a:pPr>
            <a:r>
              <a:rPr sz="1100" b="0">
                <a:solidFill>
                  <a:srgbClr val="2E3142"/>
                </a:solidFill>
                <a:latin typeface="210 OmniGothic 040"/>
                <a:ea typeface="210 OmniGothic 040"/>
                <a:cs typeface="210 OmniGothic 040"/>
              </a:rPr>
              <a:t>권한별 첫 화면 구성(조작·열람·보고·관리)</a:t>
            </a:r>
          </a:p>
        </p:txBody>
      </p:sp>
      <p:sp>
        <p:nvSpPr>
          <p:cNvPr id="6129" name="TextBox 6130">
            <a:extLst>
              <a:ext uri="{FF2B5EF4-FFF2-40B4-BE49-F238E27FC236}">
                <a16:creationId xmlns:a16="http://schemas.microsoft.com/office/drawing/2014/main" id="{1AD0F896-7DDD-493B-B54A-4D55C9F6A094}"/>
              </a:ext>
            </a:extLst>
          </p:cNvPr>
          <p:cNvSpPr>
            <a:spLocks noGrp="1"/>
          </p:cNvSpPr>
          <p:nvPr/>
        </p:nvSpPr>
        <p:spPr>
          <a:xfrm>
            <a:off x="2337435" y="8992274"/>
            <a:ext cx="268605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첫 화면 표시</a:t>
            </a:r>
          </a:p>
        </p:txBody>
      </p:sp>
      <p:sp>
        <p:nvSpPr>
          <p:cNvPr id="6131" name="Connector 6132">
            <a:extLst>
              <a:ext uri="{FF2B5EF4-FFF2-40B4-BE49-F238E27FC236}">
                <a16:creationId xmlns:a16="http://schemas.microsoft.com/office/drawing/2014/main" id="{A2643740-1C8B-4085-9E5A-C073759EEBD1}"/>
              </a:ext>
            </a:extLst>
          </p:cNvPr>
          <p:cNvSpPr>
            <a:spLocks noGrp="1"/>
          </p:cNvSpPr>
          <p:nvPr/>
        </p:nvSpPr>
        <p:spPr>
          <a:xfrm flipH="1">
            <a:off x="2337435" y="9217274"/>
            <a:ext cx="2616050" cy="0"/>
          </a:xfrm>
          <a:prstGeom prst="line">
            <a:avLst/>
          </a:prstGeom>
          <a:ln w="13970">
            <a:solidFill>
              <a:srgbClr val="6B7080"/>
            </a:solidFill>
            <a:prstDash val="dash"/>
            <a:tailEnd type="arrow"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001" name="Rectangle 6002">
            <a:extLst>
              <a:ext uri="{FF2B5EF4-FFF2-40B4-BE49-F238E27FC236}">
                <a16:creationId xmlns:a16="http://schemas.microsoft.com/office/drawing/2014/main" id="{28AE5B8E-13E6-47FE-977F-91092EEE7E80}"/>
              </a:ext>
            </a:extLst>
          </p:cNvPr>
          <p:cNvSpPr>
            <a:spLocks noGrp="1"/>
          </p:cNvSpPr>
          <p:nvPr/>
        </p:nvSpPr>
        <p:spPr>
          <a:xfrm>
            <a:off x="983665" y="5102274"/>
            <a:ext cx="16137790" cy="3385000"/>
          </a:xfrm>
          <a:prstGeom prst="rect">
            <a:avLst/>
          </a:prstGeom>
          <a:noFill/>
          <a:ln w="12700">
            <a:solidFill>
              <a:srgbClr val="FAA95A"/>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endParaRPr/>
          </a:p>
        </p:txBody>
      </p:sp>
      <p:sp>
        <p:nvSpPr>
          <p:cNvPr id="6003" name="Rectangle 6004">
            <a:extLst>
              <a:ext uri="{FF2B5EF4-FFF2-40B4-BE49-F238E27FC236}">
                <a16:creationId xmlns:a16="http://schemas.microsoft.com/office/drawing/2014/main" id="{76BAE072-C9E6-4197-AB53-2367574E10F4}"/>
              </a:ext>
            </a:extLst>
          </p:cNvPr>
          <p:cNvSpPr>
            <a:spLocks noGrp="1"/>
          </p:cNvSpPr>
          <p:nvPr/>
        </p:nvSpPr>
        <p:spPr>
          <a:xfrm>
            <a:off x="983665" y="5102274"/>
            <a:ext cx="708660" cy="241401"/>
          </a:xfrm>
          <a:prstGeom prst="rect">
            <a:avLst/>
          </a:prstGeom>
          <a:solidFill>
            <a:srgbClr val="FDEBD9"/>
          </a:solidFill>
          <a:ln w="12700">
            <a:solidFill>
              <a:srgbClr val="FAA95A"/>
            </a:solidFill>
          </a:ln>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algn="ctr">
              <a:buNone/>
            </a:pPr>
            <a:r>
              <a:rPr sz="1050" b="1">
                <a:solidFill>
                  <a:srgbClr val="B5601C"/>
                </a:solidFill>
                <a:latin typeface="210 OmniGothic 040"/>
                <a:ea typeface="210 OmniGothic 040"/>
                <a:cs typeface="210 OmniGothic 040"/>
              </a:rPr>
              <a:t>alt</a:t>
            </a:r>
          </a:p>
        </p:txBody>
      </p:sp>
      <p:sp>
        <p:nvSpPr>
          <p:cNvPr id="6005" name="TextBox 6006">
            <a:extLst>
              <a:ext uri="{FF2B5EF4-FFF2-40B4-BE49-F238E27FC236}">
                <a16:creationId xmlns:a16="http://schemas.microsoft.com/office/drawing/2014/main" id="{860A29C0-2561-4126-9870-A228A319CB1E}"/>
              </a:ext>
            </a:extLst>
          </p:cNvPr>
          <p:cNvSpPr>
            <a:spLocks noGrp="1"/>
          </p:cNvSpPr>
          <p:nvPr/>
        </p:nvSpPr>
        <p:spPr>
          <a:xfrm>
            <a:off x="1792325" y="5112332"/>
            <a:ext cx="5715000" cy="241401"/>
          </a:xfrm>
          <a:prstGeom prst="rect">
            <a:avLst/>
          </a:prstGeom>
          <a:noFill/>
        </p:spPr>
        <p:txBody>
          <a:bodyPr wrap="square" lIns="0" tIns="0" rIns="0" bIns="0" anchor="t">
            <a:spAutoFit/>
          </a:bodyPr>
          <a:lstStyle/>
          <a:p>
            <a:pPr algn="l">
              <a:buNone/>
            </a:pPr>
            <a:r>
              <a:rPr sz="1100" b="0">
                <a:solidFill>
                  <a:srgbClr val="2E3142"/>
                </a:solidFill>
                <a:latin typeface="210 OmniGothic 040"/>
                <a:ea typeface="210 OmniGothic 040"/>
                <a:cs typeface="210 OmniGothic 040"/>
              </a:rPr>
              <a:t>[잠긴 계정]</a:t>
            </a:r>
          </a:p>
        </p:txBody>
      </p:sp>
      <p:sp>
        <p:nvSpPr>
          <p:cNvPr id="6007" name="Connector 6008">
            <a:extLst>
              <a:ext uri="{FF2B5EF4-FFF2-40B4-BE49-F238E27FC236}">
                <a16:creationId xmlns:a16="http://schemas.microsoft.com/office/drawing/2014/main" id="{3841FB12-A202-4A2B-8E8D-6A93379C03C2}"/>
              </a:ext>
            </a:extLst>
          </p:cNvPr>
          <p:cNvSpPr>
            <a:spLocks noGrp="1"/>
          </p:cNvSpPr>
          <p:nvPr/>
        </p:nvSpPr>
        <p:spPr>
          <a:xfrm>
            <a:off x="983665" y="5867274"/>
            <a:ext cx="16137790" cy="0"/>
          </a:xfrm>
          <a:prstGeom prst="line">
            <a:avLst/>
          </a:prstGeom>
          <a:ln w="11430">
            <a:solidFill>
              <a:srgbClr val="FAA95A"/>
            </a:solidFill>
            <a:prstDash val="dash"/>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009" name="TextBox 6010">
            <a:extLst>
              <a:ext uri="{FF2B5EF4-FFF2-40B4-BE49-F238E27FC236}">
                <a16:creationId xmlns:a16="http://schemas.microsoft.com/office/drawing/2014/main" id="{B3A482AE-B30D-4252-87AA-6BEB75F594CD}"/>
              </a:ext>
            </a:extLst>
          </p:cNvPr>
          <p:cNvSpPr>
            <a:spLocks noGrp="1"/>
          </p:cNvSpPr>
          <p:nvPr/>
        </p:nvSpPr>
        <p:spPr>
          <a:xfrm>
            <a:off x="1097965" y="5887391"/>
            <a:ext cx="5715000" cy="241401"/>
          </a:xfrm>
          <a:prstGeom prst="rect">
            <a:avLst/>
          </a:prstGeom>
          <a:noFill/>
        </p:spPr>
        <p:txBody>
          <a:bodyPr wrap="square" lIns="0" tIns="0" rIns="0" bIns="0" anchor="t">
            <a:spAutoFit/>
          </a:bodyPr>
          <a:lstStyle/>
          <a:p>
            <a:pPr algn="l">
              <a:buNone/>
            </a:pPr>
            <a:r>
              <a:rPr sz="1100" b="0">
                <a:solidFill>
                  <a:srgbClr val="2E3142"/>
                </a:solidFill>
                <a:latin typeface="210 OmniGothic 040"/>
                <a:ea typeface="210 OmniGothic 040"/>
                <a:cs typeface="210 OmniGothic 040"/>
              </a:rPr>
              <a:t>[불일치·구분 다름]</a:t>
            </a:r>
          </a:p>
        </p:txBody>
      </p:sp>
      <p:sp>
        <p:nvSpPr>
          <p:cNvPr id="6011" name="Connector 6012">
            <a:extLst>
              <a:ext uri="{FF2B5EF4-FFF2-40B4-BE49-F238E27FC236}">
                <a16:creationId xmlns:a16="http://schemas.microsoft.com/office/drawing/2014/main" id="{7AEDAA35-117B-4F80-AE64-7E4E148E4D64}"/>
              </a:ext>
            </a:extLst>
          </p:cNvPr>
          <p:cNvSpPr>
            <a:spLocks noGrp="1"/>
          </p:cNvSpPr>
          <p:nvPr/>
        </p:nvSpPr>
        <p:spPr>
          <a:xfrm>
            <a:off x="983665" y="6727274"/>
            <a:ext cx="16137790" cy="0"/>
          </a:xfrm>
          <a:prstGeom prst="line">
            <a:avLst/>
          </a:prstGeom>
          <a:ln w="11430">
            <a:solidFill>
              <a:srgbClr val="FAA95A"/>
            </a:solidFill>
            <a:prstDash val="dash"/>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013" name="TextBox 6014">
            <a:extLst>
              <a:ext uri="{FF2B5EF4-FFF2-40B4-BE49-F238E27FC236}">
                <a16:creationId xmlns:a16="http://schemas.microsoft.com/office/drawing/2014/main" id="{F6F62F03-9BB4-4EAF-B959-54EF57478CD9}"/>
              </a:ext>
            </a:extLst>
          </p:cNvPr>
          <p:cNvSpPr>
            <a:spLocks noGrp="1"/>
          </p:cNvSpPr>
          <p:nvPr/>
        </p:nvSpPr>
        <p:spPr>
          <a:xfrm>
            <a:off x="1097965" y="6747391"/>
            <a:ext cx="5715000" cy="241401"/>
          </a:xfrm>
          <a:prstGeom prst="rect">
            <a:avLst/>
          </a:prstGeom>
          <a:noFill/>
        </p:spPr>
        <p:txBody>
          <a:bodyPr wrap="square" lIns="0" tIns="0" rIns="0" bIns="0" anchor="t">
            <a:spAutoFit/>
          </a:bodyPr>
          <a:lstStyle/>
          <a:p>
            <a:pPr algn="l">
              <a:buNone/>
            </a:pPr>
            <a:r>
              <a:rPr sz="1100" b="0">
                <a:solidFill>
                  <a:srgbClr val="2E3142"/>
                </a:solidFill>
                <a:latin typeface="210 OmniGothic 040"/>
                <a:ea typeface="210 OmniGothic 040"/>
                <a:cs typeface="210 OmniGothic 040"/>
              </a:rPr>
              <a:t>[회수 계정]</a:t>
            </a:r>
          </a:p>
        </p:txBody>
      </p:sp>
      <p:sp>
        <p:nvSpPr>
          <p:cNvPr id="6015" name="Connector 6016">
            <a:extLst>
              <a:ext uri="{FF2B5EF4-FFF2-40B4-BE49-F238E27FC236}">
                <a16:creationId xmlns:a16="http://schemas.microsoft.com/office/drawing/2014/main" id="{4EABAA72-2AB8-496E-AE8A-EE2F1A46F7E7}"/>
              </a:ext>
            </a:extLst>
          </p:cNvPr>
          <p:cNvSpPr>
            <a:spLocks noGrp="1"/>
          </p:cNvSpPr>
          <p:nvPr/>
        </p:nvSpPr>
        <p:spPr>
          <a:xfrm>
            <a:off x="983665" y="7337274"/>
            <a:ext cx="16137790" cy="0"/>
          </a:xfrm>
          <a:prstGeom prst="line">
            <a:avLst/>
          </a:prstGeom>
          <a:ln w="11430">
            <a:solidFill>
              <a:srgbClr val="FAA95A"/>
            </a:solidFill>
            <a:prstDash val="dash"/>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017" name="TextBox 6018">
            <a:extLst>
              <a:ext uri="{FF2B5EF4-FFF2-40B4-BE49-F238E27FC236}">
                <a16:creationId xmlns:a16="http://schemas.microsoft.com/office/drawing/2014/main" id="{D01096F7-85C6-4B9F-B3A4-0990C4CE1624}"/>
              </a:ext>
            </a:extLst>
          </p:cNvPr>
          <p:cNvSpPr>
            <a:spLocks noGrp="1"/>
          </p:cNvSpPr>
          <p:nvPr/>
        </p:nvSpPr>
        <p:spPr>
          <a:xfrm>
            <a:off x="1097965" y="7357391"/>
            <a:ext cx="5715000" cy="241401"/>
          </a:xfrm>
          <a:prstGeom prst="rect">
            <a:avLst/>
          </a:prstGeom>
          <a:noFill/>
        </p:spPr>
        <p:txBody>
          <a:bodyPr wrap="square" lIns="0" tIns="0" rIns="0" bIns="0" anchor="t">
            <a:spAutoFit/>
          </a:bodyPr>
          <a:lstStyle/>
          <a:p>
            <a:pPr algn="l">
              <a:buNone/>
            </a:pPr>
            <a:r>
              <a:rPr sz="1100" b="0">
                <a:solidFill>
                  <a:srgbClr val="2E3142"/>
                </a:solidFill>
                <a:latin typeface="210 OmniGothic 040"/>
                <a:ea typeface="210 OmniGothic 040"/>
                <a:cs typeface="210 OmniGothic 040"/>
              </a:rPr>
              <a:t>[일치]</a:t>
            </a:r>
          </a:p>
        </p:txBody>
      </p:sp>
    </p:spTree>
    <p:extLst>
      <p:ext uri="{BB962C8B-B14F-4D97-AF65-F5344CB8AC3E}">
        <p14:creationId xmlns:p14="http://schemas.microsoft.com/office/powerpoint/2010/main" val="101033417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286" name="Picture 2"/>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700" y="-12700"/>
            <a:ext cx="18313400" cy="1638300"/>
          </a:xfrm>
          <a:prstGeom prst="rect">
            <a:avLst/>
          </a:prstGeom>
        </p:spPr>
      </p:pic>
      <p:pic>
        <p:nvPicPr>
          <p:cNvPr id="6287" name="Picture 4"/>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28" y="1618343"/>
            <a:ext cx="18313400" cy="8699500"/>
          </a:xfrm>
          <a:prstGeom prst="rect">
            <a:avLst/>
          </a:prstGeom>
        </p:spPr>
      </p:pic>
      <p:pic>
        <p:nvPicPr>
          <p:cNvPr id="6288" name="Picture 5"/>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58800" y="9271000"/>
            <a:ext cx="17170400" cy="50800"/>
          </a:xfrm>
          <a:prstGeom prst="rect">
            <a:avLst/>
          </a:prstGeom>
        </p:spPr>
      </p:pic>
      <p:pic>
        <p:nvPicPr>
          <p:cNvPr id="6289" name="Picture 3"/>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5278100" y="203200"/>
            <a:ext cx="1676400" cy="1409700"/>
          </a:xfrm>
          <a:prstGeom prst="rect">
            <a:avLst/>
          </a:prstGeom>
        </p:spPr>
      </p:pic>
      <p:sp>
        <p:nvSpPr>
          <p:cNvPr id="5221" name="Title">
            <a:extLst>
              <a:ext uri="{FF2B5EF4-FFF2-40B4-BE49-F238E27FC236}">
                <a16:creationId xmlns:a16="http://schemas.microsoft.com/office/drawing/2014/main" id="{B55AAB97-9F77-4A65-B156-7C9CD7FB9214}"/>
              </a:ext>
            </a:extLst>
          </p:cNvPr>
          <p:cNvSpPr>
            <a:spLocks noGrp="1"/>
          </p:cNvSpPr>
          <p:nvPr/>
        </p:nvSpPr>
        <p:spPr>
          <a:xfrm>
            <a:off x="822960" y="384048"/>
            <a:ext cx="13258800" cy="877824"/>
          </a:xfrm>
          <a:prstGeom prst="rect">
            <a:avLst/>
          </a:prstGeom>
          <a:noFill/>
        </p:spPr>
        <p:txBody>
          <a:bodyPr wrap="square" lIns="0" tIns="0" rIns="0" bIns="0" anchor="ctr">
            <a:spAutoFit/>
          </a:bodyPr>
          <a:lstStyle/>
          <a:p>
            <a:pPr algn="l">
              <a:buNone/>
            </a:pPr>
            <a:r>
              <a:rPr sz="4400" b="0">
                <a:solidFill>
                  <a:srgbClr val="FAA95A"/>
                </a:solidFill>
                <a:latin typeface="210 OmniGothic 050"/>
                <a:ea typeface="210 OmniGothic 050"/>
                <a:cs typeface="210 OmniGothic 050"/>
              </a:rPr>
              <a:t>04. 시퀀스 다이어그램</a:t>
            </a:r>
          </a:p>
        </p:txBody>
      </p:sp>
      <p:sp>
        <p:nvSpPr>
          <p:cNvPr id="5222" name="Subtitle">
            <a:extLst>
              <a:ext uri="{FF2B5EF4-FFF2-40B4-BE49-F238E27FC236}">
                <a16:creationId xmlns:a16="http://schemas.microsoft.com/office/drawing/2014/main" id="{1D7D63DC-E4C0-4D3A-9514-41074AF5B3E7}"/>
              </a:ext>
            </a:extLst>
          </p:cNvPr>
          <p:cNvSpPr>
            <a:spLocks noGrp="1"/>
          </p:cNvSpPr>
          <p:nvPr/>
        </p:nvSpPr>
        <p:spPr>
          <a:xfrm>
            <a:off x="822960" y="1764792"/>
            <a:ext cx="16642080" cy="502920"/>
          </a:xfrm>
          <a:prstGeom prst="rect">
            <a:avLst/>
          </a:prstGeom>
          <a:noFill/>
        </p:spPr>
        <p:txBody>
          <a:bodyPr wrap="square" lIns="0" tIns="0" rIns="0" bIns="0" anchor="ctr">
            <a:spAutoFit/>
          </a:bodyPr>
          <a:lstStyle/>
          <a:p>
            <a:pPr algn="ctr">
              <a:buNone/>
            </a:pPr>
            <a:r>
              <a:rPr sz="2600" b="1">
                <a:solidFill>
                  <a:srgbClr val="363A52"/>
                </a:solidFill>
                <a:latin typeface="210 OmniGothic 040"/>
                <a:ea typeface="210 OmniGothic 040"/>
                <a:cs typeface="210 OmniGothic 040"/>
              </a:rPr>
              <a:t>산불 상황 보고  (UC-REPORT-01)</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idx="12"/>
          </p:nvPr>
        </p:nvSpPr>
        <p:spPr/>
        <p:txBody>
          <a:bodyPr/>
          <a:lstStyle/>
          <a:p>
            <a:fld id="{B6F15528-21DE-4FAA-801E-634DDDAF4B2B}" type="slidenum">
              <a:t>37</a:t>
            </a:fld>
            <a:endParaRPr/>
          </a:p>
        </p:txBody>
      </p:sp>
      <p:sp>
        <p:nvSpPr>
          <p:cNvPr id="6263" name="Rounded Rectangle 6264">
            <a:extLst>
              <a:ext uri="{FF2B5EF4-FFF2-40B4-BE49-F238E27FC236}">
                <a16:creationId xmlns:a16="http://schemas.microsoft.com/office/drawing/2014/main" id="{24729730-1F66-429B-B7DA-0F4C23F1B732}"/>
              </a:ext>
            </a:extLst>
          </p:cNvPr>
          <p:cNvSpPr>
            <a:spLocks noGrp="1"/>
          </p:cNvSpPr>
          <p:nvPr/>
        </p:nvSpPr>
        <p:spPr>
          <a:xfrm>
            <a:off x="1463040" y="2446020"/>
            <a:ext cx="2286000" cy="462686"/>
          </a:xfrm>
          <a:prstGeom prst="roundRect">
            <a:avLst>
              <a:gd name="adj" fmla="val 10000"/>
            </a:avLst>
          </a:prstGeom>
          <a:solidFill>
            <a:srgbClr val="E6E9F1"/>
          </a:solidFill>
          <a:ln w="12700">
            <a:solidFill>
              <a:srgbClr val="B6BCCB"/>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r>
              <a:rPr sz="1250" b="1">
                <a:solidFill>
                  <a:srgbClr val="2E3142"/>
                </a:solidFill>
                <a:latin typeface="210 OmniGothic 040"/>
                <a:ea typeface="210 OmniGothic 040"/>
                <a:cs typeface="210 OmniGothic 040"/>
              </a:rPr>
              <a:t>상황 보고자</a:t>
            </a:r>
          </a:p>
        </p:txBody>
      </p:sp>
      <p:sp>
        <p:nvSpPr>
          <p:cNvPr id="6265" name="Connector 6266">
            <a:extLst>
              <a:ext uri="{FF2B5EF4-FFF2-40B4-BE49-F238E27FC236}">
                <a16:creationId xmlns:a16="http://schemas.microsoft.com/office/drawing/2014/main" id="{BF29DDF4-6183-497C-B4BE-E97835E3F76D}"/>
              </a:ext>
            </a:extLst>
          </p:cNvPr>
          <p:cNvSpPr>
            <a:spLocks noGrp="1"/>
          </p:cNvSpPr>
          <p:nvPr/>
        </p:nvSpPr>
        <p:spPr>
          <a:xfrm>
            <a:off x="2606040" y="2908706"/>
            <a:ext cx="0" cy="6145682"/>
          </a:xfrm>
          <a:prstGeom prst="line">
            <a:avLst/>
          </a:prstGeom>
          <a:ln w="11430">
            <a:solidFill>
              <a:srgbClr val="A3A8B8"/>
            </a:solidFill>
            <a:prstDash val="dash"/>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267" name="Rounded Rectangle 6268">
            <a:extLst>
              <a:ext uri="{FF2B5EF4-FFF2-40B4-BE49-F238E27FC236}">
                <a16:creationId xmlns:a16="http://schemas.microsoft.com/office/drawing/2014/main" id="{FE260A5D-BEF9-4F67-AA2C-BECA9A69BAF9}"/>
              </a:ext>
            </a:extLst>
          </p:cNvPr>
          <p:cNvSpPr>
            <a:spLocks noGrp="1"/>
          </p:cNvSpPr>
          <p:nvPr/>
        </p:nvSpPr>
        <p:spPr>
          <a:xfrm>
            <a:off x="4686300" y="2446020"/>
            <a:ext cx="2286000" cy="462686"/>
          </a:xfrm>
          <a:prstGeom prst="roundRect">
            <a:avLst>
              <a:gd name="adj" fmla="val 10000"/>
            </a:avLst>
          </a:prstGeom>
          <a:solidFill>
            <a:srgbClr val="E6E9F1"/>
          </a:solidFill>
          <a:ln w="12700">
            <a:solidFill>
              <a:srgbClr val="B6BCCB"/>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r>
              <a:rPr sz="1250" b="1">
                <a:solidFill>
                  <a:srgbClr val="2E3142"/>
                </a:solidFill>
                <a:latin typeface="210 OmniGothic 040"/>
                <a:ea typeface="210 OmniGothic 040"/>
                <a:cs typeface="210 OmniGothic 040"/>
              </a:rPr>
              <a:t>프론트엔드</a:t>
            </a:r>
          </a:p>
        </p:txBody>
      </p:sp>
      <p:sp>
        <p:nvSpPr>
          <p:cNvPr id="6269" name="Connector 6270">
            <a:extLst>
              <a:ext uri="{FF2B5EF4-FFF2-40B4-BE49-F238E27FC236}">
                <a16:creationId xmlns:a16="http://schemas.microsoft.com/office/drawing/2014/main" id="{FE58AECB-9CF3-46EC-8F89-5BD491E874D8}"/>
              </a:ext>
            </a:extLst>
          </p:cNvPr>
          <p:cNvSpPr>
            <a:spLocks noGrp="1"/>
          </p:cNvSpPr>
          <p:nvPr/>
        </p:nvSpPr>
        <p:spPr>
          <a:xfrm>
            <a:off x="5829300" y="2908706"/>
            <a:ext cx="0" cy="6145682"/>
          </a:xfrm>
          <a:prstGeom prst="line">
            <a:avLst/>
          </a:prstGeom>
          <a:ln w="11430">
            <a:solidFill>
              <a:srgbClr val="A3A8B8"/>
            </a:solidFill>
            <a:prstDash val="dash"/>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271" name="Rounded Rectangle 6272">
            <a:extLst>
              <a:ext uri="{FF2B5EF4-FFF2-40B4-BE49-F238E27FC236}">
                <a16:creationId xmlns:a16="http://schemas.microsoft.com/office/drawing/2014/main" id="{D29019A4-A441-439A-A0EE-475F169661D5}"/>
              </a:ext>
            </a:extLst>
          </p:cNvPr>
          <p:cNvSpPr>
            <a:spLocks noGrp="1"/>
          </p:cNvSpPr>
          <p:nvPr/>
        </p:nvSpPr>
        <p:spPr>
          <a:xfrm>
            <a:off x="7909560" y="2446020"/>
            <a:ext cx="2286000" cy="462686"/>
          </a:xfrm>
          <a:prstGeom prst="roundRect">
            <a:avLst>
              <a:gd name="adj" fmla="val 10000"/>
            </a:avLst>
          </a:prstGeom>
          <a:solidFill>
            <a:srgbClr val="E6E9F1"/>
          </a:solidFill>
          <a:ln w="12700">
            <a:solidFill>
              <a:srgbClr val="B6BCCB"/>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r>
              <a:rPr sz="1250" b="1">
                <a:solidFill>
                  <a:srgbClr val="2E3142"/>
                </a:solidFill>
                <a:latin typeface="210 OmniGothic 040"/>
                <a:ea typeface="210 OmniGothic 040"/>
                <a:cs typeface="210 OmniGothic 040"/>
              </a:rPr>
              <a:t>IncidentRouter</a:t>
            </a:r>
          </a:p>
        </p:txBody>
      </p:sp>
      <p:sp>
        <p:nvSpPr>
          <p:cNvPr id="6273" name="Connector 6274">
            <a:extLst>
              <a:ext uri="{FF2B5EF4-FFF2-40B4-BE49-F238E27FC236}">
                <a16:creationId xmlns:a16="http://schemas.microsoft.com/office/drawing/2014/main" id="{1151F2F7-8CFE-4B53-BEC0-D53D4A8345A4}"/>
              </a:ext>
            </a:extLst>
          </p:cNvPr>
          <p:cNvSpPr>
            <a:spLocks noGrp="1"/>
          </p:cNvSpPr>
          <p:nvPr/>
        </p:nvSpPr>
        <p:spPr>
          <a:xfrm>
            <a:off x="9052560" y="2908706"/>
            <a:ext cx="0" cy="6145682"/>
          </a:xfrm>
          <a:prstGeom prst="line">
            <a:avLst/>
          </a:prstGeom>
          <a:ln w="11430">
            <a:solidFill>
              <a:srgbClr val="A3A8B8"/>
            </a:solidFill>
            <a:prstDash val="dash"/>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275" name="Rounded Rectangle 6276">
            <a:extLst>
              <a:ext uri="{FF2B5EF4-FFF2-40B4-BE49-F238E27FC236}">
                <a16:creationId xmlns:a16="http://schemas.microsoft.com/office/drawing/2014/main" id="{BB89D8B0-6B50-448D-83CB-6F9731FC4A0F}"/>
              </a:ext>
            </a:extLst>
          </p:cNvPr>
          <p:cNvSpPr>
            <a:spLocks noGrp="1"/>
          </p:cNvSpPr>
          <p:nvPr/>
        </p:nvSpPr>
        <p:spPr>
          <a:xfrm>
            <a:off x="11132820" y="2446020"/>
            <a:ext cx="2286000" cy="462686"/>
          </a:xfrm>
          <a:prstGeom prst="roundRect">
            <a:avLst>
              <a:gd name="adj" fmla="val 10000"/>
            </a:avLst>
          </a:prstGeom>
          <a:solidFill>
            <a:srgbClr val="E6E9F1"/>
          </a:solidFill>
          <a:ln w="12700">
            <a:solidFill>
              <a:srgbClr val="B6BCCB"/>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r>
              <a:rPr sz="1250" b="1">
                <a:solidFill>
                  <a:srgbClr val="2E3142"/>
                </a:solidFill>
                <a:latin typeface="210 OmniGothic 040"/>
                <a:ea typeface="210 OmniGothic 040"/>
                <a:cs typeface="210 OmniGothic 040"/>
              </a:rPr>
              <a:t>DB(PostGIS)</a:t>
            </a:r>
          </a:p>
        </p:txBody>
      </p:sp>
      <p:sp>
        <p:nvSpPr>
          <p:cNvPr id="6277" name="Connector 6278">
            <a:extLst>
              <a:ext uri="{FF2B5EF4-FFF2-40B4-BE49-F238E27FC236}">
                <a16:creationId xmlns:a16="http://schemas.microsoft.com/office/drawing/2014/main" id="{E3837A64-5D97-42A6-B7B6-BF26C7BE5FE5}"/>
              </a:ext>
            </a:extLst>
          </p:cNvPr>
          <p:cNvSpPr>
            <a:spLocks noGrp="1"/>
          </p:cNvSpPr>
          <p:nvPr/>
        </p:nvSpPr>
        <p:spPr>
          <a:xfrm>
            <a:off x="12275820" y="2908706"/>
            <a:ext cx="0" cy="6145682"/>
          </a:xfrm>
          <a:prstGeom prst="line">
            <a:avLst/>
          </a:prstGeom>
          <a:ln w="11430">
            <a:solidFill>
              <a:srgbClr val="A3A8B8"/>
            </a:solidFill>
            <a:prstDash val="dash"/>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279" name="Rounded Rectangle 6280">
            <a:extLst>
              <a:ext uri="{FF2B5EF4-FFF2-40B4-BE49-F238E27FC236}">
                <a16:creationId xmlns:a16="http://schemas.microsoft.com/office/drawing/2014/main" id="{76642A33-813D-43A9-8C46-4240EF991264}"/>
              </a:ext>
            </a:extLst>
          </p:cNvPr>
          <p:cNvSpPr>
            <a:spLocks noGrp="1"/>
          </p:cNvSpPr>
          <p:nvPr/>
        </p:nvSpPr>
        <p:spPr>
          <a:xfrm>
            <a:off x="14356080" y="2446020"/>
            <a:ext cx="2286000" cy="462686"/>
          </a:xfrm>
          <a:prstGeom prst="roundRect">
            <a:avLst>
              <a:gd name="adj" fmla="val 10000"/>
            </a:avLst>
          </a:prstGeom>
          <a:solidFill>
            <a:srgbClr val="E6E9F1"/>
          </a:solidFill>
          <a:ln w="12700">
            <a:solidFill>
              <a:srgbClr val="B6BCCB"/>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r>
              <a:rPr sz="1250" b="1">
                <a:solidFill>
                  <a:srgbClr val="2E3142"/>
                </a:solidFill>
                <a:latin typeface="210 OmniGothic 040"/>
                <a:ea typeface="210 OmniGothic 040"/>
                <a:cs typeface="210 OmniGothic 040"/>
              </a:rPr>
              <a:t>EventLogger</a:t>
            </a:r>
          </a:p>
        </p:txBody>
      </p:sp>
      <p:sp>
        <p:nvSpPr>
          <p:cNvPr id="6281" name="Connector 6282">
            <a:extLst>
              <a:ext uri="{FF2B5EF4-FFF2-40B4-BE49-F238E27FC236}">
                <a16:creationId xmlns:a16="http://schemas.microsoft.com/office/drawing/2014/main" id="{58F78B13-7B8D-49AA-9715-C173BF7F2C54}"/>
              </a:ext>
            </a:extLst>
          </p:cNvPr>
          <p:cNvSpPr>
            <a:spLocks noGrp="1"/>
          </p:cNvSpPr>
          <p:nvPr/>
        </p:nvSpPr>
        <p:spPr>
          <a:xfrm>
            <a:off x="15499080" y="2908706"/>
            <a:ext cx="0" cy="6145682"/>
          </a:xfrm>
          <a:prstGeom prst="line">
            <a:avLst/>
          </a:prstGeom>
          <a:ln w="11430">
            <a:solidFill>
              <a:srgbClr val="A3A8B8"/>
            </a:solidFill>
            <a:prstDash val="dash"/>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171" name="Rectangle 6172">
            <a:extLst>
              <a:ext uri="{FF2B5EF4-FFF2-40B4-BE49-F238E27FC236}">
                <a16:creationId xmlns:a16="http://schemas.microsoft.com/office/drawing/2014/main" id="{CFF8AE38-4FA8-4DC0-B14E-570BEB3FDB67}"/>
              </a:ext>
            </a:extLst>
          </p:cNvPr>
          <p:cNvSpPr>
            <a:spLocks noGrp="1"/>
          </p:cNvSpPr>
          <p:nvPr/>
        </p:nvSpPr>
        <p:spPr>
          <a:xfrm>
            <a:off x="8982560" y="4827274"/>
            <a:ext cx="140000" cy="1360000"/>
          </a:xfrm>
          <a:prstGeom prst="rect">
            <a:avLst/>
          </a:prstGeom>
          <a:solidFill>
            <a:srgbClr val="FFFFFF"/>
          </a:solidFill>
          <a:ln w="9525">
            <a:solidFill>
              <a:srgbClr val="363A52"/>
            </a:solidFill>
          </a:ln>
        </p:spPr>
        <p:style>
          <a:lnRef idx="1">
            <a:schemeClr val="accent1"/>
          </a:lnRef>
          <a:fillRef idx="3">
            <a:schemeClr val="accent1"/>
          </a:fillRef>
          <a:effectRef idx="2">
            <a:schemeClr val="accent1"/>
          </a:effectRef>
          <a:fontRef idx="minor">
            <a:schemeClr val="lt1"/>
          </a:fontRef>
        </p:style>
        <p:txBody>
          <a:bodyPr wrap="square" lIns="0" rIns="0" anchor="ctr"/>
          <a:lstStyle/>
          <a:p>
            <a:pPr algn="ctr">
              <a:buNone/>
            </a:pPr>
            <a:endParaRPr/>
          </a:p>
        </p:txBody>
      </p:sp>
      <p:sp>
        <p:nvSpPr>
          <p:cNvPr id="6173" name="Rectangle 6174">
            <a:extLst>
              <a:ext uri="{FF2B5EF4-FFF2-40B4-BE49-F238E27FC236}">
                <a16:creationId xmlns:a16="http://schemas.microsoft.com/office/drawing/2014/main" id="{BC5B57A1-6720-48A0-8042-F5920DC565E3}"/>
              </a:ext>
            </a:extLst>
          </p:cNvPr>
          <p:cNvSpPr>
            <a:spLocks noGrp="1"/>
          </p:cNvSpPr>
          <p:nvPr/>
        </p:nvSpPr>
        <p:spPr>
          <a:xfrm>
            <a:off x="5759300" y="3382274"/>
            <a:ext cx="140000" cy="3055000"/>
          </a:xfrm>
          <a:prstGeom prst="rect">
            <a:avLst/>
          </a:prstGeom>
          <a:solidFill>
            <a:srgbClr val="FFFFFF"/>
          </a:solidFill>
          <a:ln w="9525">
            <a:solidFill>
              <a:srgbClr val="363A52"/>
            </a:solidFill>
          </a:ln>
        </p:spPr>
        <p:style>
          <a:lnRef idx="1">
            <a:schemeClr val="accent1"/>
          </a:lnRef>
          <a:fillRef idx="3">
            <a:schemeClr val="accent1"/>
          </a:fillRef>
          <a:effectRef idx="2">
            <a:schemeClr val="accent1"/>
          </a:effectRef>
          <a:fontRef idx="minor">
            <a:schemeClr val="lt1"/>
          </a:fontRef>
        </p:style>
        <p:txBody>
          <a:bodyPr wrap="square" lIns="0" rIns="0" anchor="ctr"/>
          <a:lstStyle/>
          <a:p>
            <a:pPr algn="ctr">
              <a:buNone/>
            </a:pPr>
            <a:endParaRPr/>
          </a:p>
        </p:txBody>
      </p:sp>
      <p:sp>
        <p:nvSpPr>
          <p:cNvPr id="6175" name="Rectangle 6176">
            <a:extLst>
              <a:ext uri="{FF2B5EF4-FFF2-40B4-BE49-F238E27FC236}">
                <a16:creationId xmlns:a16="http://schemas.microsoft.com/office/drawing/2014/main" id="{625412C7-606F-4DAE-AD53-44946F16DB8D}"/>
              </a:ext>
            </a:extLst>
          </p:cNvPr>
          <p:cNvSpPr>
            <a:spLocks noGrp="1"/>
          </p:cNvSpPr>
          <p:nvPr/>
        </p:nvSpPr>
        <p:spPr>
          <a:xfrm>
            <a:off x="8982560" y="4827274"/>
            <a:ext cx="140000" cy="1970000"/>
          </a:xfrm>
          <a:prstGeom prst="rect">
            <a:avLst/>
          </a:prstGeom>
          <a:solidFill>
            <a:srgbClr val="FFFFFF"/>
          </a:solidFill>
          <a:ln w="9525">
            <a:solidFill>
              <a:srgbClr val="363A52"/>
            </a:solidFill>
          </a:ln>
        </p:spPr>
        <p:style>
          <a:lnRef idx="1">
            <a:schemeClr val="accent1"/>
          </a:lnRef>
          <a:fillRef idx="3">
            <a:schemeClr val="accent1"/>
          </a:fillRef>
          <a:effectRef idx="2">
            <a:schemeClr val="accent1"/>
          </a:effectRef>
          <a:fontRef idx="minor">
            <a:schemeClr val="lt1"/>
          </a:fontRef>
        </p:style>
        <p:txBody>
          <a:bodyPr wrap="square" lIns="0" rIns="0" anchor="ctr"/>
          <a:lstStyle/>
          <a:p>
            <a:pPr algn="ctr">
              <a:buNone/>
            </a:pPr>
            <a:endParaRPr/>
          </a:p>
        </p:txBody>
      </p:sp>
      <p:sp>
        <p:nvSpPr>
          <p:cNvPr id="6177" name="Rectangle 6178">
            <a:extLst>
              <a:ext uri="{FF2B5EF4-FFF2-40B4-BE49-F238E27FC236}">
                <a16:creationId xmlns:a16="http://schemas.microsoft.com/office/drawing/2014/main" id="{D3CA8418-8117-4B8C-8358-F6461A425716}"/>
              </a:ext>
            </a:extLst>
          </p:cNvPr>
          <p:cNvSpPr>
            <a:spLocks noGrp="1"/>
          </p:cNvSpPr>
          <p:nvPr/>
        </p:nvSpPr>
        <p:spPr>
          <a:xfrm>
            <a:off x="5759300" y="3382274"/>
            <a:ext cx="140000" cy="3665000"/>
          </a:xfrm>
          <a:prstGeom prst="rect">
            <a:avLst/>
          </a:prstGeom>
          <a:solidFill>
            <a:srgbClr val="FFFFFF"/>
          </a:solidFill>
          <a:ln w="9525">
            <a:solidFill>
              <a:srgbClr val="363A52"/>
            </a:solidFill>
          </a:ln>
        </p:spPr>
        <p:style>
          <a:lnRef idx="1">
            <a:schemeClr val="accent1"/>
          </a:lnRef>
          <a:fillRef idx="3">
            <a:schemeClr val="accent1"/>
          </a:fillRef>
          <a:effectRef idx="2">
            <a:schemeClr val="accent1"/>
          </a:effectRef>
          <a:fontRef idx="minor">
            <a:schemeClr val="lt1"/>
          </a:fontRef>
        </p:style>
        <p:txBody>
          <a:bodyPr wrap="square" lIns="0" rIns="0" anchor="ctr"/>
          <a:lstStyle/>
          <a:p>
            <a:pPr algn="ctr">
              <a:buNone/>
            </a:pPr>
            <a:endParaRPr/>
          </a:p>
        </p:txBody>
      </p:sp>
      <p:sp>
        <p:nvSpPr>
          <p:cNvPr id="6179" name="Rectangle 6180">
            <a:extLst>
              <a:ext uri="{FF2B5EF4-FFF2-40B4-BE49-F238E27FC236}">
                <a16:creationId xmlns:a16="http://schemas.microsoft.com/office/drawing/2014/main" id="{2435516E-7B49-4D1D-85CD-BA36B1AFDF46}"/>
              </a:ext>
            </a:extLst>
          </p:cNvPr>
          <p:cNvSpPr>
            <a:spLocks noGrp="1"/>
          </p:cNvSpPr>
          <p:nvPr/>
        </p:nvSpPr>
        <p:spPr>
          <a:xfrm>
            <a:off x="12205820" y="7407274"/>
            <a:ext cx="140000" cy="15000"/>
          </a:xfrm>
          <a:prstGeom prst="rect">
            <a:avLst/>
          </a:prstGeom>
          <a:solidFill>
            <a:srgbClr val="FFFFFF"/>
          </a:solidFill>
          <a:ln w="9525">
            <a:solidFill>
              <a:srgbClr val="363A52"/>
            </a:solidFill>
          </a:ln>
        </p:spPr>
        <p:style>
          <a:lnRef idx="1">
            <a:schemeClr val="accent1"/>
          </a:lnRef>
          <a:fillRef idx="3">
            <a:schemeClr val="accent1"/>
          </a:fillRef>
          <a:effectRef idx="2">
            <a:schemeClr val="accent1"/>
          </a:effectRef>
          <a:fontRef idx="minor">
            <a:schemeClr val="lt1"/>
          </a:fontRef>
        </p:style>
        <p:txBody>
          <a:bodyPr wrap="square" lIns="0" rIns="0" anchor="ctr"/>
          <a:lstStyle/>
          <a:p>
            <a:pPr algn="ctr">
              <a:buNone/>
            </a:pPr>
            <a:endParaRPr/>
          </a:p>
        </p:txBody>
      </p:sp>
      <p:sp>
        <p:nvSpPr>
          <p:cNvPr id="6181" name="Rectangle 6182">
            <a:extLst>
              <a:ext uri="{FF2B5EF4-FFF2-40B4-BE49-F238E27FC236}">
                <a16:creationId xmlns:a16="http://schemas.microsoft.com/office/drawing/2014/main" id="{4E5475D1-648D-4494-8240-5D0BE0F529BC}"/>
              </a:ext>
            </a:extLst>
          </p:cNvPr>
          <p:cNvSpPr>
            <a:spLocks noGrp="1"/>
          </p:cNvSpPr>
          <p:nvPr/>
        </p:nvSpPr>
        <p:spPr>
          <a:xfrm>
            <a:off x="15429080" y="7657274"/>
            <a:ext cx="140000" cy="15000"/>
          </a:xfrm>
          <a:prstGeom prst="rect">
            <a:avLst/>
          </a:prstGeom>
          <a:solidFill>
            <a:srgbClr val="FFFFFF"/>
          </a:solidFill>
          <a:ln w="9525">
            <a:solidFill>
              <a:srgbClr val="363A52"/>
            </a:solidFill>
          </a:ln>
        </p:spPr>
        <p:style>
          <a:lnRef idx="1">
            <a:schemeClr val="accent1"/>
          </a:lnRef>
          <a:fillRef idx="3">
            <a:schemeClr val="accent1"/>
          </a:fillRef>
          <a:effectRef idx="2">
            <a:schemeClr val="accent1"/>
          </a:effectRef>
          <a:fontRef idx="minor">
            <a:schemeClr val="lt1"/>
          </a:fontRef>
        </p:style>
        <p:txBody>
          <a:bodyPr wrap="square" lIns="0" rIns="0" anchor="ctr"/>
          <a:lstStyle/>
          <a:p>
            <a:pPr algn="ctr">
              <a:buNone/>
            </a:pPr>
            <a:endParaRPr/>
          </a:p>
        </p:txBody>
      </p:sp>
      <p:sp>
        <p:nvSpPr>
          <p:cNvPr id="6183" name="Rectangle 6184">
            <a:extLst>
              <a:ext uri="{FF2B5EF4-FFF2-40B4-BE49-F238E27FC236}">
                <a16:creationId xmlns:a16="http://schemas.microsoft.com/office/drawing/2014/main" id="{016712F4-A5E2-40FA-A74A-08621B86F5B8}"/>
              </a:ext>
            </a:extLst>
          </p:cNvPr>
          <p:cNvSpPr>
            <a:spLocks noGrp="1"/>
          </p:cNvSpPr>
          <p:nvPr/>
        </p:nvSpPr>
        <p:spPr>
          <a:xfrm>
            <a:off x="8982560" y="4827274"/>
            <a:ext cx="140000" cy="3080000"/>
          </a:xfrm>
          <a:prstGeom prst="rect">
            <a:avLst/>
          </a:prstGeom>
          <a:solidFill>
            <a:srgbClr val="FFFFFF"/>
          </a:solidFill>
          <a:ln w="9525">
            <a:solidFill>
              <a:srgbClr val="363A52"/>
            </a:solidFill>
          </a:ln>
        </p:spPr>
        <p:style>
          <a:lnRef idx="1">
            <a:schemeClr val="accent1"/>
          </a:lnRef>
          <a:fillRef idx="3">
            <a:schemeClr val="accent1"/>
          </a:fillRef>
          <a:effectRef idx="2">
            <a:schemeClr val="accent1"/>
          </a:effectRef>
          <a:fontRef idx="minor">
            <a:schemeClr val="lt1"/>
          </a:fontRef>
        </p:style>
        <p:txBody>
          <a:bodyPr wrap="square" lIns="0" rIns="0" anchor="ctr"/>
          <a:lstStyle/>
          <a:p>
            <a:pPr algn="ctr">
              <a:buNone/>
            </a:pPr>
            <a:endParaRPr/>
          </a:p>
        </p:txBody>
      </p:sp>
      <p:sp>
        <p:nvSpPr>
          <p:cNvPr id="6185" name="Rectangle 6186">
            <a:extLst>
              <a:ext uri="{FF2B5EF4-FFF2-40B4-BE49-F238E27FC236}">
                <a16:creationId xmlns:a16="http://schemas.microsoft.com/office/drawing/2014/main" id="{257B6DE4-A3CB-4C7D-96E3-4C99DEF23ECD}"/>
              </a:ext>
            </a:extLst>
          </p:cNvPr>
          <p:cNvSpPr>
            <a:spLocks noGrp="1"/>
          </p:cNvSpPr>
          <p:nvPr/>
        </p:nvSpPr>
        <p:spPr>
          <a:xfrm>
            <a:off x="5759300" y="3382274"/>
            <a:ext cx="140000" cy="4775000"/>
          </a:xfrm>
          <a:prstGeom prst="rect">
            <a:avLst/>
          </a:prstGeom>
          <a:solidFill>
            <a:srgbClr val="FFFFFF"/>
          </a:solidFill>
          <a:ln w="9525">
            <a:solidFill>
              <a:srgbClr val="363A52"/>
            </a:solidFill>
          </a:ln>
        </p:spPr>
        <p:style>
          <a:lnRef idx="1">
            <a:schemeClr val="accent1"/>
          </a:lnRef>
          <a:fillRef idx="3">
            <a:schemeClr val="accent1"/>
          </a:fillRef>
          <a:effectRef idx="2">
            <a:schemeClr val="accent1"/>
          </a:effectRef>
          <a:fontRef idx="minor">
            <a:schemeClr val="lt1"/>
          </a:fontRef>
        </p:style>
        <p:txBody>
          <a:bodyPr wrap="square" lIns="0" rIns="0" anchor="ctr"/>
          <a:lstStyle/>
          <a:p>
            <a:pPr algn="ctr">
              <a:buNone/>
            </a:pPr>
            <a:endParaRPr/>
          </a:p>
        </p:txBody>
      </p:sp>
      <p:sp>
        <p:nvSpPr>
          <p:cNvPr id="6187" name="TextBox 6188">
            <a:extLst>
              <a:ext uri="{FF2B5EF4-FFF2-40B4-BE49-F238E27FC236}">
                <a16:creationId xmlns:a16="http://schemas.microsoft.com/office/drawing/2014/main" id="{8FCA8855-E909-4E31-9DF9-0177DCBCA931}"/>
              </a:ext>
            </a:extLst>
          </p:cNvPr>
          <p:cNvSpPr>
            <a:spLocks noGrp="1"/>
          </p:cNvSpPr>
          <p:nvPr/>
        </p:nvSpPr>
        <p:spPr>
          <a:xfrm>
            <a:off x="2606040" y="3157274"/>
            <a:ext cx="322326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산불 선택 / 새 산불, 발화 위치 지도 지정</a:t>
            </a:r>
          </a:p>
        </p:txBody>
      </p:sp>
      <p:sp>
        <p:nvSpPr>
          <p:cNvPr id="6189" name="Connector 6190">
            <a:extLst>
              <a:ext uri="{FF2B5EF4-FFF2-40B4-BE49-F238E27FC236}">
                <a16:creationId xmlns:a16="http://schemas.microsoft.com/office/drawing/2014/main" id="{969C87CC-4ED9-46F4-8918-AD9AEDC9A2F2}"/>
              </a:ext>
            </a:extLst>
          </p:cNvPr>
          <p:cNvSpPr>
            <a:spLocks noGrp="1"/>
          </p:cNvSpPr>
          <p:nvPr/>
        </p:nvSpPr>
        <p:spPr>
          <a:xfrm>
            <a:off x="2606040" y="3382274"/>
            <a:ext cx="3153260" cy="0"/>
          </a:xfrm>
          <a:prstGeom prst="line">
            <a:avLst/>
          </a:prstGeom>
          <a:ln w="1397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191" name="TextBox 6192">
            <a:extLst>
              <a:ext uri="{FF2B5EF4-FFF2-40B4-BE49-F238E27FC236}">
                <a16:creationId xmlns:a16="http://schemas.microsoft.com/office/drawing/2014/main" id="{7264EC6F-5075-4A1E-B8C5-FC29BD2BFCC8}"/>
              </a:ext>
            </a:extLst>
          </p:cNvPr>
          <p:cNvSpPr>
            <a:spLocks noGrp="1"/>
          </p:cNvSpPr>
          <p:nvPr/>
        </p:nvSpPr>
        <p:spPr>
          <a:xfrm>
            <a:off x="2606040" y="3407274"/>
            <a:ext cx="322326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발생·접수 일시, 신고 내용, 접수 기관·경로 입력</a:t>
            </a:r>
          </a:p>
        </p:txBody>
      </p:sp>
      <p:sp>
        <p:nvSpPr>
          <p:cNvPr id="6193" name="Connector 6194">
            <a:extLst>
              <a:ext uri="{FF2B5EF4-FFF2-40B4-BE49-F238E27FC236}">
                <a16:creationId xmlns:a16="http://schemas.microsoft.com/office/drawing/2014/main" id="{C4DBBDCB-36B8-43E4-9234-28F7A4929CB7}"/>
              </a:ext>
            </a:extLst>
          </p:cNvPr>
          <p:cNvSpPr>
            <a:spLocks noGrp="1"/>
          </p:cNvSpPr>
          <p:nvPr/>
        </p:nvSpPr>
        <p:spPr>
          <a:xfrm>
            <a:off x="2606040" y="3632274"/>
            <a:ext cx="3153260" cy="0"/>
          </a:xfrm>
          <a:prstGeom prst="line">
            <a:avLst/>
          </a:prstGeom>
          <a:ln w="1397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195" name="TextBox 6196">
            <a:extLst>
              <a:ext uri="{FF2B5EF4-FFF2-40B4-BE49-F238E27FC236}">
                <a16:creationId xmlns:a16="http://schemas.microsoft.com/office/drawing/2014/main" id="{E9BBA0AE-C2EE-4897-BC85-77E4064D431F}"/>
              </a:ext>
            </a:extLst>
          </p:cNvPr>
          <p:cNvSpPr>
            <a:spLocks noGrp="1"/>
          </p:cNvSpPr>
          <p:nvPr/>
        </p:nvSpPr>
        <p:spPr>
          <a:xfrm>
            <a:off x="2606040" y="3657274"/>
            <a:ext cx="322326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실측 화선: 지도에서 그리기 → 그리기 완료 (또는 GeoJSON)</a:t>
            </a:r>
          </a:p>
        </p:txBody>
      </p:sp>
      <p:sp>
        <p:nvSpPr>
          <p:cNvPr id="6197" name="Connector 6198">
            <a:extLst>
              <a:ext uri="{FF2B5EF4-FFF2-40B4-BE49-F238E27FC236}">
                <a16:creationId xmlns:a16="http://schemas.microsoft.com/office/drawing/2014/main" id="{718599F5-67F6-40C9-9758-B23BB2C2E777}"/>
              </a:ext>
            </a:extLst>
          </p:cNvPr>
          <p:cNvSpPr>
            <a:spLocks noGrp="1"/>
          </p:cNvSpPr>
          <p:nvPr/>
        </p:nvSpPr>
        <p:spPr>
          <a:xfrm>
            <a:off x="2606040" y="3882274"/>
            <a:ext cx="3153260" cy="0"/>
          </a:xfrm>
          <a:prstGeom prst="line">
            <a:avLst/>
          </a:prstGeom>
          <a:ln w="1397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199" name="Connector 6200">
            <a:extLst>
              <a:ext uri="{FF2B5EF4-FFF2-40B4-BE49-F238E27FC236}">
                <a16:creationId xmlns:a16="http://schemas.microsoft.com/office/drawing/2014/main" id="{3E3822A3-C334-4C5E-95B5-904634AC4E54}"/>
              </a:ext>
            </a:extLst>
          </p:cNvPr>
          <p:cNvSpPr>
            <a:spLocks noGrp="1"/>
          </p:cNvSpPr>
          <p:nvPr/>
        </p:nvSpPr>
        <p:spPr>
          <a:xfrm>
            <a:off x="5899300" y="4132274"/>
            <a:ext cx="365760" cy="0"/>
          </a:xfrm>
          <a:prstGeom prst="line">
            <a:avLst/>
          </a:prstGeom>
          <a:ln w="13970">
            <a:solidFill>
              <a:srgbClr val="363A52"/>
            </a:solidFill>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201" name="Connector 6202">
            <a:extLst>
              <a:ext uri="{FF2B5EF4-FFF2-40B4-BE49-F238E27FC236}">
                <a16:creationId xmlns:a16="http://schemas.microsoft.com/office/drawing/2014/main" id="{B3251355-0B6F-49AD-B92A-AF8E0D7324EB}"/>
              </a:ext>
            </a:extLst>
          </p:cNvPr>
          <p:cNvSpPr>
            <a:spLocks noGrp="1"/>
          </p:cNvSpPr>
          <p:nvPr/>
        </p:nvSpPr>
        <p:spPr>
          <a:xfrm>
            <a:off x="6265060" y="4132274"/>
            <a:ext cx="0" cy="180251"/>
          </a:xfrm>
          <a:prstGeom prst="line">
            <a:avLst/>
          </a:prstGeom>
          <a:ln w="13970">
            <a:solidFill>
              <a:srgbClr val="363A52"/>
            </a:solidFill>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203" name="Connector 6204">
            <a:extLst>
              <a:ext uri="{FF2B5EF4-FFF2-40B4-BE49-F238E27FC236}">
                <a16:creationId xmlns:a16="http://schemas.microsoft.com/office/drawing/2014/main" id="{70788491-B8A6-4C09-9C03-F7E7549DEA1F}"/>
              </a:ext>
            </a:extLst>
          </p:cNvPr>
          <p:cNvSpPr>
            <a:spLocks noGrp="1"/>
          </p:cNvSpPr>
          <p:nvPr/>
        </p:nvSpPr>
        <p:spPr>
          <a:xfrm flipH="1">
            <a:off x="5933590" y="4312525"/>
            <a:ext cx="331470" cy="0"/>
          </a:xfrm>
          <a:prstGeom prst="line">
            <a:avLst/>
          </a:prstGeom>
          <a:ln w="1397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205" name="TextBox 6206">
            <a:extLst>
              <a:ext uri="{FF2B5EF4-FFF2-40B4-BE49-F238E27FC236}">
                <a16:creationId xmlns:a16="http://schemas.microsoft.com/office/drawing/2014/main" id="{7CBFCC56-791C-474D-B460-8C6217E41D25}"/>
              </a:ext>
            </a:extLst>
          </p:cNvPr>
          <p:cNvSpPr>
            <a:spLocks noGrp="1"/>
          </p:cNvSpPr>
          <p:nvPr/>
        </p:nvSpPr>
        <p:spPr>
          <a:xfrm>
            <a:off x="6356500" y="3907274"/>
            <a:ext cx="4562951" cy="221284"/>
          </a:xfrm>
          <a:prstGeom prst="rect">
            <a:avLst/>
          </a:prstGeom>
          <a:noFill/>
        </p:spPr>
        <p:txBody>
          <a:bodyPr wrap="square" lIns="0" tIns="0" rIns="0" bIns="0" anchor="t">
            <a:spAutoFit/>
          </a:bodyPr>
          <a:lstStyle/>
          <a:p>
            <a:pPr algn="l">
              <a:buNone/>
            </a:pPr>
            <a:r>
              <a:rPr sz="1100" b="0">
                <a:solidFill>
                  <a:srgbClr val="2E3142"/>
                </a:solidFill>
                <a:latin typeface="210 OmniGothic 040"/>
                <a:ea typeface="210 OmniGothic 040"/>
                <a:cs typeface="210 OmniGothic 040"/>
              </a:rPr>
              <a:t>꼭짓점 수 · 면적(ha) 표시</a:t>
            </a:r>
          </a:p>
        </p:txBody>
      </p:sp>
      <p:sp>
        <p:nvSpPr>
          <p:cNvPr id="6207" name="TextBox 6208">
            <a:extLst>
              <a:ext uri="{FF2B5EF4-FFF2-40B4-BE49-F238E27FC236}">
                <a16:creationId xmlns:a16="http://schemas.microsoft.com/office/drawing/2014/main" id="{101BC2C0-10A0-421A-8A36-FF36D261E894}"/>
              </a:ext>
            </a:extLst>
          </p:cNvPr>
          <p:cNvSpPr>
            <a:spLocks noGrp="1"/>
          </p:cNvSpPr>
          <p:nvPr/>
        </p:nvSpPr>
        <p:spPr>
          <a:xfrm>
            <a:off x="2606040" y="4352274"/>
            <a:ext cx="322326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「저장」</a:t>
            </a:r>
          </a:p>
        </p:txBody>
      </p:sp>
      <p:sp>
        <p:nvSpPr>
          <p:cNvPr id="6209" name="Connector 6210">
            <a:extLst>
              <a:ext uri="{FF2B5EF4-FFF2-40B4-BE49-F238E27FC236}">
                <a16:creationId xmlns:a16="http://schemas.microsoft.com/office/drawing/2014/main" id="{21247505-C96B-4F45-BC67-BDE6808D701A}"/>
              </a:ext>
            </a:extLst>
          </p:cNvPr>
          <p:cNvSpPr>
            <a:spLocks noGrp="1"/>
          </p:cNvSpPr>
          <p:nvPr/>
        </p:nvSpPr>
        <p:spPr>
          <a:xfrm>
            <a:off x="2606040" y="4577274"/>
            <a:ext cx="3153260" cy="0"/>
          </a:xfrm>
          <a:prstGeom prst="line">
            <a:avLst/>
          </a:prstGeom>
          <a:ln w="1397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211" name="TextBox 6212">
            <a:extLst>
              <a:ext uri="{FF2B5EF4-FFF2-40B4-BE49-F238E27FC236}">
                <a16:creationId xmlns:a16="http://schemas.microsoft.com/office/drawing/2014/main" id="{92DB09D7-8583-488E-9433-673E52F2BDEA}"/>
              </a:ext>
            </a:extLst>
          </p:cNvPr>
          <p:cNvSpPr>
            <a:spLocks noGrp="1"/>
          </p:cNvSpPr>
          <p:nvPr/>
        </p:nvSpPr>
        <p:spPr>
          <a:xfrm>
            <a:off x="5829300" y="4602274"/>
            <a:ext cx="322326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PUT /incidents/{id} (발화 정보 + 실측 화선 GeoJSON)</a:t>
            </a:r>
          </a:p>
        </p:txBody>
      </p:sp>
      <p:sp>
        <p:nvSpPr>
          <p:cNvPr id="6213" name="Connector 6214">
            <a:extLst>
              <a:ext uri="{FF2B5EF4-FFF2-40B4-BE49-F238E27FC236}">
                <a16:creationId xmlns:a16="http://schemas.microsoft.com/office/drawing/2014/main" id="{57A275E5-2243-41D5-A585-A262A4B256A7}"/>
              </a:ext>
            </a:extLst>
          </p:cNvPr>
          <p:cNvSpPr>
            <a:spLocks noGrp="1"/>
          </p:cNvSpPr>
          <p:nvPr/>
        </p:nvSpPr>
        <p:spPr>
          <a:xfrm>
            <a:off x="5899300" y="4827274"/>
            <a:ext cx="3083260" cy="0"/>
          </a:xfrm>
          <a:prstGeom prst="line">
            <a:avLst/>
          </a:prstGeom>
          <a:ln w="1397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215" name="Connector 6216">
            <a:extLst>
              <a:ext uri="{FF2B5EF4-FFF2-40B4-BE49-F238E27FC236}">
                <a16:creationId xmlns:a16="http://schemas.microsoft.com/office/drawing/2014/main" id="{371629DF-6B75-4202-B40A-CD22FC97E17A}"/>
              </a:ext>
            </a:extLst>
          </p:cNvPr>
          <p:cNvSpPr>
            <a:spLocks noGrp="1"/>
          </p:cNvSpPr>
          <p:nvPr/>
        </p:nvSpPr>
        <p:spPr>
          <a:xfrm>
            <a:off x="9122560" y="5077274"/>
            <a:ext cx="365760" cy="0"/>
          </a:xfrm>
          <a:prstGeom prst="line">
            <a:avLst/>
          </a:prstGeom>
          <a:ln w="13970">
            <a:solidFill>
              <a:srgbClr val="363A52"/>
            </a:solidFill>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217" name="Connector 6218">
            <a:extLst>
              <a:ext uri="{FF2B5EF4-FFF2-40B4-BE49-F238E27FC236}">
                <a16:creationId xmlns:a16="http://schemas.microsoft.com/office/drawing/2014/main" id="{05F743C5-29BA-499C-83A7-7EED56A9A44C}"/>
              </a:ext>
            </a:extLst>
          </p:cNvPr>
          <p:cNvSpPr>
            <a:spLocks noGrp="1"/>
          </p:cNvSpPr>
          <p:nvPr/>
        </p:nvSpPr>
        <p:spPr>
          <a:xfrm>
            <a:off x="9488320" y="5077274"/>
            <a:ext cx="0" cy="180251"/>
          </a:xfrm>
          <a:prstGeom prst="line">
            <a:avLst/>
          </a:prstGeom>
          <a:ln w="13970">
            <a:solidFill>
              <a:srgbClr val="363A52"/>
            </a:solidFill>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219" name="Connector 6220">
            <a:extLst>
              <a:ext uri="{FF2B5EF4-FFF2-40B4-BE49-F238E27FC236}">
                <a16:creationId xmlns:a16="http://schemas.microsoft.com/office/drawing/2014/main" id="{AB446BCA-FD8C-4C52-B7ED-97C922D37A70}"/>
              </a:ext>
            </a:extLst>
          </p:cNvPr>
          <p:cNvSpPr>
            <a:spLocks noGrp="1"/>
          </p:cNvSpPr>
          <p:nvPr/>
        </p:nvSpPr>
        <p:spPr>
          <a:xfrm flipH="1">
            <a:off x="9156850" y="5257525"/>
            <a:ext cx="331470" cy="0"/>
          </a:xfrm>
          <a:prstGeom prst="line">
            <a:avLst/>
          </a:prstGeom>
          <a:ln w="1397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221" name="TextBox 6222">
            <a:extLst>
              <a:ext uri="{FF2B5EF4-FFF2-40B4-BE49-F238E27FC236}">
                <a16:creationId xmlns:a16="http://schemas.microsoft.com/office/drawing/2014/main" id="{3CC8B967-36F3-432D-8C45-DC39A3B37E4F}"/>
              </a:ext>
            </a:extLst>
          </p:cNvPr>
          <p:cNvSpPr>
            <a:spLocks noGrp="1"/>
          </p:cNvSpPr>
          <p:nvPr/>
        </p:nvSpPr>
        <p:spPr>
          <a:xfrm>
            <a:off x="9579760" y="4852274"/>
            <a:ext cx="4562951" cy="221284"/>
          </a:xfrm>
          <a:prstGeom prst="rect">
            <a:avLst/>
          </a:prstGeom>
          <a:noFill/>
        </p:spPr>
        <p:txBody>
          <a:bodyPr wrap="square" lIns="0" tIns="0" rIns="0" bIns="0" anchor="t">
            <a:spAutoFit/>
          </a:bodyPr>
          <a:lstStyle/>
          <a:p>
            <a:pPr algn="l">
              <a:buNone/>
            </a:pPr>
            <a:r>
              <a:rPr sz="1100" b="0">
                <a:solidFill>
                  <a:srgbClr val="2E3142"/>
                </a:solidFill>
                <a:latin typeface="210 OmniGothic 040"/>
                <a:ea typeface="210 OmniGothic 040"/>
                <a:cs typeface="210 OmniGothic 040"/>
              </a:rPr>
              <a:t>산불 종료 여부 확인</a:t>
            </a:r>
          </a:p>
        </p:txBody>
      </p:sp>
      <p:sp>
        <p:nvSpPr>
          <p:cNvPr id="6223" name="Connector 6224">
            <a:extLst>
              <a:ext uri="{FF2B5EF4-FFF2-40B4-BE49-F238E27FC236}">
                <a16:creationId xmlns:a16="http://schemas.microsoft.com/office/drawing/2014/main" id="{15794219-9F50-4AF9-BCA1-27A039BC17FA}"/>
              </a:ext>
            </a:extLst>
          </p:cNvPr>
          <p:cNvSpPr>
            <a:spLocks noGrp="1"/>
          </p:cNvSpPr>
          <p:nvPr/>
        </p:nvSpPr>
        <p:spPr>
          <a:xfrm>
            <a:off x="9122560" y="5522274"/>
            <a:ext cx="365760" cy="0"/>
          </a:xfrm>
          <a:prstGeom prst="line">
            <a:avLst/>
          </a:prstGeom>
          <a:ln w="13970">
            <a:solidFill>
              <a:srgbClr val="363A52"/>
            </a:solidFill>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225" name="Connector 6226">
            <a:extLst>
              <a:ext uri="{FF2B5EF4-FFF2-40B4-BE49-F238E27FC236}">
                <a16:creationId xmlns:a16="http://schemas.microsoft.com/office/drawing/2014/main" id="{574FFC5D-343D-49A4-B899-62EDC6A5EA87}"/>
              </a:ext>
            </a:extLst>
          </p:cNvPr>
          <p:cNvSpPr>
            <a:spLocks noGrp="1"/>
          </p:cNvSpPr>
          <p:nvPr/>
        </p:nvSpPr>
        <p:spPr>
          <a:xfrm>
            <a:off x="9488320" y="5522274"/>
            <a:ext cx="0" cy="180251"/>
          </a:xfrm>
          <a:prstGeom prst="line">
            <a:avLst/>
          </a:prstGeom>
          <a:ln w="13970">
            <a:solidFill>
              <a:srgbClr val="363A52"/>
            </a:solidFill>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227" name="Connector 6228">
            <a:extLst>
              <a:ext uri="{FF2B5EF4-FFF2-40B4-BE49-F238E27FC236}">
                <a16:creationId xmlns:a16="http://schemas.microsoft.com/office/drawing/2014/main" id="{CEED873B-7820-432F-A50E-C454DCE01408}"/>
              </a:ext>
            </a:extLst>
          </p:cNvPr>
          <p:cNvSpPr>
            <a:spLocks noGrp="1"/>
          </p:cNvSpPr>
          <p:nvPr/>
        </p:nvSpPr>
        <p:spPr>
          <a:xfrm flipH="1">
            <a:off x="9156850" y="5702525"/>
            <a:ext cx="331470" cy="0"/>
          </a:xfrm>
          <a:prstGeom prst="line">
            <a:avLst/>
          </a:prstGeom>
          <a:ln w="1397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229" name="TextBox 6230">
            <a:extLst>
              <a:ext uri="{FF2B5EF4-FFF2-40B4-BE49-F238E27FC236}">
                <a16:creationId xmlns:a16="http://schemas.microsoft.com/office/drawing/2014/main" id="{607272F2-96F4-4190-9980-D704119CE23F}"/>
              </a:ext>
            </a:extLst>
          </p:cNvPr>
          <p:cNvSpPr>
            <a:spLocks noGrp="1"/>
          </p:cNvSpPr>
          <p:nvPr/>
        </p:nvSpPr>
        <p:spPr>
          <a:xfrm>
            <a:off x="9579760" y="5297274"/>
            <a:ext cx="4562951" cy="221284"/>
          </a:xfrm>
          <a:prstGeom prst="rect">
            <a:avLst/>
          </a:prstGeom>
          <a:noFill/>
        </p:spPr>
        <p:txBody>
          <a:bodyPr wrap="square" lIns="0" tIns="0" rIns="0" bIns="0" anchor="t">
            <a:spAutoFit/>
          </a:bodyPr>
          <a:lstStyle/>
          <a:p>
            <a:pPr algn="l">
              <a:buNone/>
            </a:pPr>
            <a:r>
              <a:rPr sz="1100" b="0">
                <a:solidFill>
                  <a:srgbClr val="2E3142"/>
                </a:solidFill>
                <a:latin typeface="210 OmniGothic 040"/>
                <a:ea typeface="210 OmniGothic 040"/>
                <a:cs typeface="210 OmniGothic 040"/>
              </a:rPr>
              <a:t>권한(보고)·필수 값·국내 좌표 범위·폴리곤 검사</a:t>
            </a:r>
          </a:p>
        </p:txBody>
      </p:sp>
      <p:sp>
        <p:nvSpPr>
          <p:cNvPr id="6231" name="TextBox 6232">
            <a:extLst>
              <a:ext uri="{FF2B5EF4-FFF2-40B4-BE49-F238E27FC236}">
                <a16:creationId xmlns:a16="http://schemas.microsoft.com/office/drawing/2014/main" id="{93CD0E42-46F7-403B-855D-39D952AB4EA4}"/>
              </a:ext>
            </a:extLst>
          </p:cNvPr>
          <p:cNvSpPr>
            <a:spLocks noGrp="1"/>
          </p:cNvSpPr>
          <p:nvPr/>
        </p:nvSpPr>
        <p:spPr>
          <a:xfrm>
            <a:off x="5829300" y="5962274"/>
            <a:ext cx="322326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409 「종료된 산불은 수정할 수 없습니다」</a:t>
            </a:r>
          </a:p>
        </p:txBody>
      </p:sp>
      <p:sp>
        <p:nvSpPr>
          <p:cNvPr id="6233" name="Connector 6234">
            <a:extLst>
              <a:ext uri="{FF2B5EF4-FFF2-40B4-BE49-F238E27FC236}">
                <a16:creationId xmlns:a16="http://schemas.microsoft.com/office/drawing/2014/main" id="{8D3D731A-43B3-4017-AC4A-2A221289DFA9}"/>
              </a:ext>
            </a:extLst>
          </p:cNvPr>
          <p:cNvSpPr>
            <a:spLocks noGrp="1"/>
          </p:cNvSpPr>
          <p:nvPr/>
        </p:nvSpPr>
        <p:spPr>
          <a:xfrm flipH="1">
            <a:off x="5899300" y="6187274"/>
            <a:ext cx="3083260" cy="0"/>
          </a:xfrm>
          <a:prstGeom prst="line">
            <a:avLst/>
          </a:prstGeom>
          <a:ln w="13970">
            <a:solidFill>
              <a:srgbClr val="6B7080"/>
            </a:solidFill>
            <a:prstDash val="dash"/>
            <a:tailEnd type="arrow"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235" name="TextBox 6236">
            <a:extLst>
              <a:ext uri="{FF2B5EF4-FFF2-40B4-BE49-F238E27FC236}">
                <a16:creationId xmlns:a16="http://schemas.microsoft.com/office/drawing/2014/main" id="{F95B6A73-FF15-4A64-AF5C-6F6EA9836E2C}"/>
              </a:ext>
            </a:extLst>
          </p:cNvPr>
          <p:cNvSpPr>
            <a:spLocks noGrp="1"/>
          </p:cNvSpPr>
          <p:nvPr/>
        </p:nvSpPr>
        <p:spPr>
          <a:xfrm>
            <a:off x="2606040" y="6212274"/>
            <a:ext cx="322326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안내, 저장 안 함</a:t>
            </a:r>
          </a:p>
        </p:txBody>
      </p:sp>
      <p:sp>
        <p:nvSpPr>
          <p:cNvPr id="6237" name="Connector 6238">
            <a:extLst>
              <a:ext uri="{FF2B5EF4-FFF2-40B4-BE49-F238E27FC236}">
                <a16:creationId xmlns:a16="http://schemas.microsoft.com/office/drawing/2014/main" id="{CE3FAA7E-82F3-4DEC-AC67-B705A92A561E}"/>
              </a:ext>
            </a:extLst>
          </p:cNvPr>
          <p:cNvSpPr>
            <a:spLocks noGrp="1"/>
          </p:cNvSpPr>
          <p:nvPr/>
        </p:nvSpPr>
        <p:spPr>
          <a:xfrm flipH="1">
            <a:off x="2606040" y="6437274"/>
            <a:ext cx="3153260" cy="0"/>
          </a:xfrm>
          <a:prstGeom prst="line">
            <a:avLst/>
          </a:prstGeom>
          <a:ln w="13970">
            <a:solidFill>
              <a:srgbClr val="6B7080"/>
            </a:solidFill>
            <a:prstDash val="dash"/>
            <a:tailEnd type="arrow"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239" name="TextBox 6240">
            <a:extLst>
              <a:ext uri="{FF2B5EF4-FFF2-40B4-BE49-F238E27FC236}">
                <a16:creationId xmlns:a16="http://schemas.microsoft.com/office/drawing/2014/main" id="{3C6B0FB9-FC53-4DCD-B5C2-80832CDFB751}"/>
              </a:ext>
            </a:extLst>
          </p:cNvPr>
          <p:cNvSpPr>
            <a:spLocks noGrp="1"/>
          </p:cNvSpPr>
          <p:nvPr/>
        </p:nvSpPr>
        <p:spPr>
          <a:xfrm>
            <a:off x="5829300" y="6572274"/>
            <a:ext cx="322326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400 필요한 항목·이유</a:t>
            </a:r>
          </a:p>
        </p:txBody>
      </p:sp>
      <p:sp>
        <p:nvSpPr>
          <p:cNvPr id="6241" name="Connector 6242">
            <a:extLst>
              <a:ext uri="{FF2B5EF4-FFF2-40B4-BE49-F238E27FC236}">
                <a16:creationId xmlns:a16="http://schemas.microsoft.com/office/drawing/2014/main" id="{662947AA-04F8-4A2D-91A4-B643D3396806}"/>
              </a:ext>
            </a:extLst>
          </p:cNvPr>
          <p:cNvSpPr>
            <a:spLocks noGrp="1"/>
          </p:cNvSpPr>
          <p:nvPr/>
        </p:nvSpPr>
        <p:spPr>
          <a:xfrm flipH="1">
            <a:off x="5899300" y="6797274"/>
            <a:ext cx="3083260" cy="0"/>
          </a:xfrm>
          <a:prstGeom prst="line">
            <a:avLst/>
          </a:prstGeom>
          <a:ln w="13970">
            <a:solidFill>
              <a:srgbClr val="6B7080"/>
            </a:solidFill>
            <a:prstDash val="dash"/>
            <a:tailEnd type="arrow"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243" name="TextBox 6244">
            <a:extLst>
              <a:ext uri="{FF2B5EF4-FFF2-40B4-BE49-F238E27FC236}">
                <a16:creationId xmlns:a16="http://schemas.microsoft.com/office/drawing/2014/main" id="{F0CEF786-0BCF-4EB9-816F-010642D8B29F}"/>
              </a:ext>
            </a:extLst>
          </p:cNvPr>
          <p:cNvSpPr>
            <a:spLocks noGrp="1"/>
          </p:cNvSpPr>
          <p:nvPr/>
        </p:nvSpPr>
        <p:spPr>
          <a:xfrm>
            <a:off x="2606040" y="6822274"/>
            <a:ext cx="322326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안내, 저장 안 함</a:t>
            </a:r>
          </a:p>
        </p:txBody>
      </p:sp>
      <p:sp>
        <p:nvSpPr>
          <p:cNvPr id="6245" name="Connector 6246">
            <a:extLst>
              <a:ext uri="{FF2B5EF4-FFF2-40B4-BE49-F238E27FC236}">
                <a16:creationId xmlns:a16="http://schemas.microsoft.com/office/drawing/2014/main" id="{E937E8E7-FEF2-40C5-AB2C-00BA73A63FF6}"/>
              </a:ext>
            </a:extLst>
          </p:cNvPr>
          <p:cNvSpPr>
            <a:spLocks noGrp="1"/>
          </p:cNvSpPr>
          <p:nvPr/>
        </p:nvSpPr>
        <p:spPr>
          <a:xfrm flipH="1">
            <a:off x="2606040" y="7047274"/>
            <a:ext cx="3153260" cy="0"/>
          </a:xfrm>
          <a:prstGeom prst="line">
            <a:avLst/>
          </a:prstGeom>
          <a:ln w="13970">
            <a:solidFill>
              <a:srgbClr val="6B7080"/>
            </a:solidFill>
            <a:prstDash val="dash"/>
            <a:tailEnd type="arrow"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247" name="TextBox 6248">
            <a:extLst>
              <a:ext uri="{FF2B5EF4-FFF2-40B4-BE49-F238E27FC236}">
                <a16:creationId xmlns:a16="http://schemas.microsoft.com/office/drawing/2014/main" id="{D8A81B2F-3B2D-4A2B-A615-B7B109C5DA10}"/>
              </a:ext>
            </a:extLst>
          </p:cNvPr>
          <p:cNvSpPr>
            <a:spLocks noGrp="1"/>
          </p:cNvSpPr>
          <p:nvPr/>
        </p:nvSpPr>
        <p:spPr>
          <a:xfrm>
            <a:off x="9052560" y="7182274"/>
            <a:ext cx="322326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산불 저장(첫 실측 화선 저장 시 접수→진행 중)</a:t>
            </a:r>
          </a:p>
        </p:txBody>
      </p:sp>
      <p:sp>
        <p:nvSpPr>
          <p:cNvPr id="6249" name="Connector 6250">
            <a:extLst>
              <a:ext uri="{FF2B5EF4-FFF2-40B4-BE49-F238E27FC236}">
                <a16:creationId xmlns:a16="http://schemas.microsoft.com/office/drawing/2014/main" id="{CE7C641E-B48D-489B-8619-33CD4F7553C6}"/>
              </a:ext>
            </a:extLst>
          </p:cNvPr>
          <p:cNvSpPr>
            <a:spLocks noGrp="1"/>
          </p:cNvSpPr>
          <p:nvPr/>
        </p:nvSpPr>
        <p:spPr>
          <a:xfrm>
            <a:off x="9122560" y="7407274"/>
            <a:ext cx="3083260" cy="0"/>
          </a:xfrm>
          <a:prstGeom prst="line">
            <a:avLst/>
          </a:prstGeom>
          <a:ln w="1397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251" name="TextBox 6252">
            <a:extLst>
              <a:ext uri="{FF2B5EF4-FFF2-40B4-BE49-F238E27FC236}">
                <a16:creationId xmlns:a16="http://schemas.microsoft.com/office/drawing/2014/main" id="{CCCC212D-03B6-471E-958B-73C4D4B642AB}"/>
              </a:ext>
            </a:extLst>
          </p:cNvPr>
          <p:cNvSpPr>
            <a:spLocks noGrp="1"/>
          </p:cNvSpPr>
          <p:nvPr/>
        </p:nvSpPr>
        <p:spPr>
          <a:xfrm>
            <a:off x="9052560" y="7432274"/>
            <a:ext cx="644652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record(입력, 발화정보 갱신)</a:t>
            </a:r>
          </a:p>
        </p:txBody>
      </p:sp>
      <p:sp>
        <p:nvSpPr>
          <p:cNvPr id="6253" name="Connector 6254">
            <a:extLst>
              <a:ext uri="{FF2B5EF4-FFF2-40B4-BE49-F238E27FC236}">
                <a16:creationId xmlns:a16="http://schemas.microsoft.com/office/drawing/2014/main" id="{75900249-38A5-4355-83E6-DA76F06FB170}"/>
              </a:ext>
            </a:extLst>
          </p:cNvPr>
          <p:cNvSpPr>
            <a:spLocks noGrp="1"/>
          </p:cNvSpPr>
          <p:nvPr/>
        </p:nvSpPr>
        <p:spPr>
          <a:xfrm>
            <a:off x="9122560" y="7657274"/>
            <a:ext cx="6306520" cy="0"/>
          </a:xfrm>
          <a:prstGeom prst="line">
            <a:avLst/>
          </a:prstGeom>
          <a:ln w="1397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255" name="TextBox 6256">
            <a:extLst>
              <a:ext uri="{FF2B5EF4-FFF2-40B4-BE49-F238E27FC236}">
                <a16:creationId xmlns:a16="http://schemas.microsoft.com/office/drawing/2014/main" id="{FE7B510F-49BD-4DA7-8123-901F42887EE2}"/>
              </a:ext>
            </a:extLst>
          </p:cNvPr>
          <p:cNvSpPr>
            <a:spLocks noGrp="1"/>
          </p:cNvSpPr>
          <p:nvPr/>
        </p:nvSpPr>
        <p:spPr>
          <a:xfrm>
            <a:off x="5829300" y="7682274"/>
            <a:ext cx="322326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저장 결과 · 면적 · 재예측 필요 여부</a:t>
            </a:r>
          </a:p>
        </p:txBody>
      </p:sp>
      <p:sp>
        <p:nvSpPr>
          <p:cNvPr id="6257" name="Connector 6258">
            <a:extLst>
              <a:ext uri="{FF2B5EF4-FFF2-40B4-BE49-F238E27FC236}">
                <a16:creationId xmlns:a16="http://schemas.microsoft.com/office/drawing/2014/main" id="{0D65D812-63C3-45C8-A62F-4150CD539FE9}"/>
              </a:ext>
            </a:extLst>
          </p:cNvPr>
          <p:cNvSpPr>
            <a:spLocks noGrp="1"/>
          </p:cNvSpPr>
          <p:nvPr/>
        </p:nvSpPr>
        <p:spPr>
          <a:xfrm flipH="1">
            <a:off x="5899300" y="7907274"/>
            <a:ext cx="3083260" cy="0"/>
          </a:xfrm>
          <a:prstGeom prst="line">
            <a:avLst/>
          </a:prstGeom>
          <a:ln w="13970">
            <a:solidFill>
              <a:srgbClr val="6B7080"/>
            </a:solidFill>
            <a:prstDash val="dash"/>
            <a:tailEnd type="arrow"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259" name="TextBox 6260">
            <a:extLst>
              <a:ext uri="{FF2B5EF4-FFF2-40B4-BE49-F238E27FC236}">
                <a16:creationId xmlns:a16="http://schemas.microsoft.com/office/drawing/2014/main" id="{6CEF95B4-D4FA-4FC2-88C6-F8318B06347F}"/>
              </a:ext>
            </a:extLst>
          </p:cNvPr>
          <p:cNvSpPr>
            <a:spLocks noGrp="1"/>
          </p:cNvSpPr>
          <p:nvPr/>
        </p:nvSpPr>
        <p:spPr>
          <a:xfrm>
            <a:off x="2606040" y="7932274"/>
            <a:ext cx="322326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목록 갱신, 지도에 실측 화선 표시</a:t>
            </a:r>
          </a:p>
        </p:txBody>
      </p:sp>
      <p:sp>
        <p:nvSpPr>
          <p:cNvPr id="6261" name="Connector 6262">
            <a:extLst>
              <a:ext uri="{FF2B5EF4-FFF2-40B4-BE49-F238E27FC236}">
                <a16:creationId xmlns:a16="http://schemas.microsoft.com/office/drawing/2014/main" id="{B9E7819D-CD46-47B8-9BF3-5F36270F22BC}"/>
              </a:ext>
            </a:extLst>
          </p:cNvPr>
          <p:cNvSpPr>
            <a:spLocks noGrp="1"/>
          </p:cNvSpPr>
          <p:nvPr/>
        </p:nvSpPr>
        <p:spPr>
          <a:xfrm flipH="1">
            <a:off x="2606040" y="8157274"/>
            <a:ext cx="3153260" cy="0"/>
          </a:xfrm>
          <a:prstGeom prst="line">
            <a:avLst/>
          </a:prstGeom>
          <a:ln w="13970">
            <a:solidFill>
              <a:srgbClr val="6B7080"/>
            </a:solidFill>
            <a:prstDash val="dash"/>
            <a:tailEnd type="arrow"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157" name="Rectangle 6158">
            <a:extLst>
              <a:ext uri="{FF2B5EF4-FFF2-40B4-BE49-F238E27FC236}">
                <a16:creationId xmlns:a16="http://schemas.microsoft.com/office/drawing/2014/main" id="{FDEDB191-3FB3-49E8-BFF1-56C132978790}"/>
              </a:ext>
            </a:extLst>
          </p:cNvPr>
          <p:cNvSpPr>
            <a:spLocks noGrp="1"/>
          </p:cNvSpPr>
          <p:nvPr/>
        </p:nvSpPr>
        <p:spPr>
          <a:xfrm>
            <a:off x="1252270" y="5727525"/>
            <a:ext cx="15600580" cy="2539749"/>
          </a:xfrm>
          <a:prstGeom prst="rect">
            <a:avLst/>
          </a:prstGeom>
          <a:noFill/>
          <a:ln w="12700">
            <a:solidFill>
              <a:srgbClr val="FAA95A"/>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endParaRPr/>
          </a:p>
        </p:txBody>
      </p:sp>
      <p:sp>
        <p:nvSpPr>
          <p:cNvPr id="6159" name="Rectangle 6160">
            <a:extLst>
              <a:ext uri="{FF2B5EF4-FFF2-40B4-BE49-F238E27FC236}">
                <a16:creationId xmlns:a16="http://schemas.microsoft.com/office/drawing/2014/main" id="{648E7649-788C-43D5-91B5-BF14FDC47D91}"/>
              </a:ext>
            </a:extLst>
          </p:cNvPr>
          <p:cNvSpPr>
            <a:spLocks noGrp="1"/>
          </p:cNvSpPr>
          <p:nvPr/>
        </p:nvSpPr>
        <p:spPr>
          <a:xfrm>
            <a:off x="1252270" y="5727525"/>
            <a:ext cx="708660" cy="241401"/>
          </a:xfrm>
          <a:prstGeom prst="rect">
            <a:avLst/>
          </a:prstGeom>
          <a:solidFill>
            <a:srgbClr val="FDEBD9"/>
          </a:solidFill>
          <a:ln w="12700">
            <a:solidFill>
              <a:srgbClr val="FAA95A"/>
            </a:solidFill>
          </a:ln>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algn="ctr">
              <a:buNone/>
            </a:pPr>
            <a:r>
              <a:rPr sz="1050" b="1">
                <a:solidFill>
                  <a:srgbClr val="B5601C"/>
                </a:solidFill>
                <a:latin typeface="210 OmniGothic 040"/>
                <a:ea typeface="210 OmniGothic 040"/>
                <a:cs typeface="210 OmniGothic 040"/>
              </a:rPr>
              <a:t>alt</a:t>
            </a:r>
          </a:p>
        </p:txBody>
      </p:sp>
      <p:sp>
        <p:nvSpPr>
          <p:cNvPr id="6161" name="TextBox 6162">
            <a:extLst>
              <a:ext uri="{FF2B5EF4-FFF2-40B4-BE49-F238E27FC236}">
                <a16:creationId xmlns:a16="http://schemas.microsoft.com/office/drawing/2014/main" id="{3B3E2E6F-41E3-490D-AD84-D8D2E1DEF622}"/>
              </a:ext>
            </a:extLst>
          </p:cNvPr>
          <p:cNvSpPr>
            <a:spLocks noGrp="1"/>
          </p:cNvSpPr>
          <p:nvPr/>
        </p:nvSpPr>
        <p:spPr>
          <a:xfrm>
            <a:off x="2060930" y="5737583"/>
            <a:ext cx="5715000" cy="241401"/>
          </a:xfrm>
          <a:prstGeom prst="rect">
            <a:avLst/>
          </a:prstGeom>
          <a:noFill/>
        </p:spPr>
        <p:txBody>
          <a:bodyPr wrap="square" lIns="0" tIns="0" rIns="0" bIns="0" anchor="t">
            <a:spAutoFit/>
          </a:bodyPr>
          <a:lstStyle/>
          <a:p>
            <a:pPr algn="l">
              <a:buNone/>
            </a:pPr>
            <a:r>
              <a:rPr sz="1100" b="0">
                <a:solidFill>
                  <a:srgbClr val="2E3142"/>
                </a:solidFill>
                <a:latin typeface="210 OmniGothic 040"/>
                <a:ea typeface="210 OmniGothic 040"/>
                <a:cs typeface="210 OmniGothic 040"/>
              </a:rPr>
              <a:t>[종료된 산불]</a:t>
            </a:r>
          </a:p>
        </p:txBody>
      </p:sp>
      <p:sp>
        <p:nvSpPr>
          <p:cNvPr id="6163" name="Connector 6164">
            <a:extLst>
              <a:ext uri="{FF2B5EF4-FFF2-40B4-BE49-F238E27FC236}">
                <a16:creationId xmlns:a16="http://schemas.microsoft.com/office/drawing/2014/main" id="{BA7F269F-63DA-43C9-8D42-4BF5E5272D62}"/>
              </a:ext>
            </a:extLst>
          </p:cNvPr>
          <p:cNvSpPr>
            <a:spLocks noGrp="1"/>
          </p:cNvSpPr>
          <p:nvPr/>
        </p:nvSpPr>
        <p:spPr>
          <a:xfrm>
            <a:off x="1252270" y="6507274"/>
            <a:ext cx="15600580" cy="0"/>
          </a:xfrm>
          <a:prstGeom prst="line">
            <a:avLst/>
          </a:prstGeom>
          <a:ln w="11430">
            <a:solidFill>
              <a:srgbClr val="FAA95A"/>
            </a:solidFill>
            <a:prstDash val="dash"/>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165" name="TextBox 6166">
            <a:extLst>
              <a:ext uri="{FF2B5EF4-FFF2-40B4-BE49-F238E27FC236}">
                <a16:creationId xmlns:a16="http://schemas.microsoft.com/office/drawing/2014/main" id="{59F86249-D1EF-44B8-BC1E-32A5A9EEBC34}"/>
              </a:ext>
            </a:extLst>
          </p:cNvPr>
          <p:cNvSpPr>
            <a:spLocks noGrp="1"/>
          </p:cNvSpPr>
          <p:nvPr/>
        </p:nvSpPr>
        <p:spPr>
          <a:xfrm>
            <a:off x="1366570" y="6527391"/>
            <a:ext cx="5715000" cy="241401"/>
          </a:xfrm>
          <a:prstGeom prst="rect">
            <a:avLst/>
          </a:prstGeom>
          <a:noFill/>
        </p:spPr>
        <p:txBody>
          <a:bodyPr wrap="square" lIns="0" tIns="0" rIns="0" bIns="0" anchor="t">
            <a:spAutoFit/>
          </a:bodyPr>
          <a:lstStyle/>
          <a:p>
            <a:pPr algn="l">
              <a:buNone/>
            </a:pPr>
            <a:r>
              <a:rPr sz="1100" b="0">
                <a:solidFill>
                  <a:srgbClr val="2E3142"/>
                </a:solidFill>
                <a:latin typeface="210 OmniGothic 040"/>
                <a:ea typeface="210 OmniGothic 040"/>
                <a:cs typeface="210 OmniGothic 040"/>
              </a:rPr>
              <a:t>[검사 실패]</a:t>
            </a:r>
          </a:p>
        </p:txBody>
      </p:sp>
      <p:sp>
        <p:nvSpPr>
          <p:cNvPr id="6167" name="Connector 6168">
            <a:extLst>
              <a:ext uri="{FF2B5EF4-FFF2-40B4-BE49-F238E27FC236}">
                <a16:creationId xmlns:a16="http://schemas.microsoft.com/office/drawing/2014/main" id="{61EFB71D-A485-4A9D-8869-DF6E7C494D4C}"/>
              </a:ext>
            </a:extLst>
          </p:cNvPr>
          <p:cNvSpPr>
            <a:spLocks noGrp="1"/>
          </p:cNvSpPr>
          <p:nvPr/>
        </p:nvSpPr>
        <p:spPr>
          <a:xfrm>
            <a:off x="1252270" y="7117274"/>
            <a:ext cx="15600580" cy="0"/>
          </a:xfrm>
          <a:prstGeom prst="line">
            <a:avLst/>
          </a:prstGeom>
          <a:ln w="11430">
            <a:solidFill>
              <a:srgbClr val="FAA95A"/>
            </a:solidFill>
            <a:prstDash val="dash"/>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169" name="TextBox 6170">
            <a:extLst>
              <a:ext uri="{FF2B5EF4-FFF2-40B4-BE49-F238E27FC236}">
                <a16:creationId xmlns:a16="http://schemas.microsoft.com/office/drawing/2014/main" id="{837E1E94-3633-40B8-BA93-DE7FFF0B31E1}"/>
              </a:ext>
            </a:extLst>
          </p:cNvPr>
          <p:cNvSpPr>
            <a:spLocks noGrp="1"/>
          </p:cNvSpPr>
          <p:nvPr/>
        </p:nvSpPr>
        <p:spPr>
          <a:xfrm>
            <a:off x="1366570" y="7137391"/>
            <a:ext cx="5715000" cy="241401"/>
          </a:xfrm>
          <a:prstGeom prst="rect">
            <a:avLst/>
          </a:prstGeom>
          <a:noFill/>
        </p:spPr>
        <p:txBody>
          <a:bodyPr wrap="square" lIns="0" tIns="0" rIns="0" bIns="0" anchor="t">
            <a:spAutoFit/>
          </a:bodyPr>
          <a:lstStyle/>
          <a:p>
            <a:pPr algn="l">
              <a:buNone/>
            </a:pPr>
            <a:r>
              <a:rPr sz="1100" b="0">
                <a:solidFill>
                  <a:srgbClr val="2E3142"/>
                </a:solidFill>
                <a:latin typeface="210 OmniGothic 040"/>
                <a:ea typeface="210 OmniGothic 040"/>
                <a:cs typeface="210 OmniGothic 040"/>
              </a:rPr>
              <a:t>[정상]</a:t>
            </a:r>
          </a:p>
        </p:txBody>
      </p:sp>
    </p:spTree>
    <p:extLst>
      <p:ext uri="{BB962C8B-B14F-4D97-AF65-F5344CB8AC3E}">
        <p14:creationId xmlns:p14="http://schemas.microsoft.com/office/powerpoint/2010/main" val="4210837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16" name="Picture 2"/>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700" y="-12700"/>
            <a:ext cx="18313400" cy="1638300"/>
          </a:xfrm>
          <a:prstGeom prst="rect">
            <a:avLst/>
          </a:prstGeom>
        </p:spPr>
      </p:pic>
      <p:pic>
        <p:nvPicPr>
          <p:cNvPr id="6917" name="Picture 4"/>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28" y="1618343"/>
            <a:ext cx="18313400" cy="8699500"/>
          </a:xfrm>
          <a:prstGeom prst="rect">
            <a:avLst/>
          </a:prstGeom>
        </p:spPr>
      </p:pic>
      <p:pic>
        <p:nvPicPr>
          <p:cNvPr id="6918" name="Picture 5"/>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58800" y="9271000"/>
            <a:ext cx="17170400" cy="50800"/>
          </a:xfrm>
          <a:prstGeom prst="rect">
            <a:avLst/>
          </a:prstGeom>
        </p:spPr>
      </p:pic>
      <p:pic>
        <p:nvPicPr>
          <p:cNvPr id="6919" name="Picture 3"/>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5278100" y="203200"/>
            <a:ext cx="1676400" cy="1409700"/>
          </a:xfrm>
          <a:prstGeom prst="rect">
            <a:avLst/>
          </a:prstGeom>
        </p:spPr>
      </p:pic>
      <p:sp>
        <p:nvSpPr>
          <p:cNvPr id="5221" name="Title">
            <a:extLst>
              <a:ext uri="{FF2B5EF4-FFF2-40B4-BE49-F238E27FC236}">
                <a16:creationId xmlns:a16="http://schemas.microsoft.com/office/drawing/2014/main" id="{FE9CE101-190E-47F6-B636-36D201793091}"/>
              </a:ext>
            </a:extLst>
          </p:cNvPr>
          <p:cNvSpPr>
            <a:spLocks noGrp="1"/>
          </p:cNvSpPr>
          <p:nvPr/>
        </p:nvSpPr>
        <p:spPr>
          <a:xfrm>
            <a:off x="822960" y="384048"/>
            <a:ext cx="13258800" cy="877824"/>
          </a:xfrm>
          <a:prstGeom prst="rect">
            <a:avLst/>
          </a:prstGeom>
          <a:noFill/>
        </p:spPr>
        <p:txBody>
          <a:bodyPr wrap="square" lIns="0" tIns="0" rIns="0" bIns="0" anchor="ctr">
            <a:spAutoFit/>
          </a:bodyPr>
          <a:lstStyle/>
          <a:p>
            <a:pPr algn="l">
              <a:buNone/>
            </a:pPr>
            <a:r>
              <a:rPr sz="4400" b="0">
                <a:solidFill>
                  <a:srgbClr val="FAA95A"/>
                </a:solidFill>
                <a:latin typeface="210 OmniGothic 050"/>
                <a:ea typeface="210 OmniGothic 050"/>
                <a:cs typeface="210 OmniGothic 050"/>
              </a:rPr>
              <a:t>04. 시퀀스 다이어그램</a:t>
            </a:r>
          </a:p>
        </p:txBody>
      </p:sp>
      <p:sp>
        <p:nvSpPr>
          <p:cNvPr id="5222" name="Subtitle">
            <a:extLst>
              <a:ext uri="{FF2B5EF4-FFF2-40B4-BE49-F238E27FC236}">
                <a16:creationId xmlns:a16="http://schemas.microsoft.com/office/drawing/2014/main" id="{52A23C8F-6C3E-4CFC-A418-92962AD2D796}"/>
              </a:ext>
            </a:extLst>
          </p:cNvPr>
          <p:cNvSpPr>
            <a:spLocks noGrp="1"/>
          </p:cNvSpPr>
          <p:nvPr/>
        </p:nvSpPr>
        <p:spPr>
          <a:xfrm>
            <a:off x="822960" y="1764792"/>
            <a:ext cx="16642080" cy="502920"/>
          </a:xfrm>
          <a:prstGeom prst="rect">
            <a:avLst/>
          </a:prstGeom>
          <a:noFill/>
        </p:spPr>
        <p:txBody>
          <a:bodyPr wrap="square" lIns="0" tIns="0" rIns="0" bIns="0" anchor="ctr">
            <a:spAutoFit/>
          </a:bodyPr>
          <a:lstStyle/>
          <a:p>
            <a:pPr algn="ctr">
              <a:buNone/>
            </a:pPr>
            <a:r>
              <a:rPr sz="2600" b="1">
                <a:solidFill>
                  <a:srgbClr val="363A52"/>
                </a:solidFill>
                <a:latin typeface="210 OmniGothic 040"/>
                <a:ea typeface="210 OmniGothic 040"/>
                <a:cs typeface="210 OmniGothic 040"/>
              </a:rPr>
              <a:t>발화 종료 처리  (UC-SIT-01)</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idx="12"/>
          </p:nvPr>
        </p:nvSpPr>
        <p:spPr/>
        <p:txBody>
          <a:bodyPr/>
          <a:lstStyle/>
          <a:p>
            <a:fld id="{B6F15528-21DE-4FAA-801E-634DDDAF4B2B}" type="slidenum">
              <a:t>38</a:t>
            </a:fld>
            <a:endParaRPr/>
          </a:p>
        </p:txBody>
      </p:sp>
      <p:sp>
        <p:nvSpPr>
          <p:cNvPr id="6893" name="Rounded Rectangle 6894">
            <a:extLst>
              <a:ext uri="{FF2B5EF4-FFF2-40B4-BE49-F238E27FC236}">
                <a16:creationId xmlns:a16="http://schemas.microsoft.com/office/drawing/2014/main" id="{E221BCC3-D1AC-41EE-B25C-CAB287380AF1}"/>
              </a:ext>
            </a:extLst>
          </p:cNvPr>
          <p:cNvSpPr>
            <a:spLocks noGrp="1"/>
          </p:cNvSpPr>
          <p:nvPr/>
        </p:nvSpPr>
        <p:spPr>
          <a:xfrm>
            <a:off x="1463040" y="2446020"/>
            <a:ext cx="2286000" cy="462686"/>
          </a:xfrm>
          <a:prstGeom prst="roundRect">
            <a:avLst>
              <a:gd name="adj" fmla="val 10000"/>
            </a:avLst>
          </a:prstGeom>
          <a:solidFill>
            <a:srgbClr val="E6E9F1"/>
          </a:solidFill>
          <a:ln w="12700">
            <a:solidFill>
              <a:srgbClr val="B6BCCB"/>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r>
              <a:rPr sz="1250" b="1">
                <a:solidFill>
                  <a:srgbClr val="2E3142"/>
                </a:solidFill>
                <a:latin typeface="210 OmniGothic 040"/>
                <a:ea typeface="210 OmniGothic 040"/>
                <a:cs typeface="210 OmniGothic 040"/>
              </a:rPr>
              <a:t>통합지휘권자</a:t>
            </a:r>
          </a:p>
        </p:txBody>
      </p:sp>
      <p:sp>
        <p:nvSpPr>
          <p:cNvPr id="6895" name="Connector 6896">
            <a:extLst>
              <a:ext uri="{FF2B5EF4-FFF2-40B4-BE49-F238E27FC236}">
                <a16:creationId xmlns:a16="http://schemas.microsoft.com/office/drawing/2014/main" id="{5659AC18-7D8E-4C0C-BD99-58896D1F3A43}"/>
              </a:ext>
            </a:extLst>
          </p:cNvPr>
          <p:cNvSpPr>
            <a:spLocks noGrp="1"/>
          </p:cNvSpPr>
          <p:nvPr/>
        </p:nvSpPr>
        <p:spPr>
          <a:xfrm>
            <a:off x="2606040" y="2908706"/>
            <a:ext cx="0" cy="6145682"/>
          </a:xfrm>
          <a:prstGeom prst="line">
            <a:avLst/>
          </a:prstGeom>
          <a:ln w="11430">
            <a:solidFill>
              <a:srgbClr val="A3A8B8"/>
            </a:solidFill>
            <a:prstDash val="dash"/>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897" name="Rounded Rectangle 6898">
            <a:extLst>
              <a:ext uri="{FF2B5EF4-FFF2-40B4-BE49-F238E27FC236}">
                <a16:creationId xmlns:a16="http://schemas.microsoft.com/office/drawing/2014/main" id="{A581ED0F-C44E-402B-B896-0252B8DA5367}"/>
              </a:ext>
            </a:extLst>
          </p:cNvPr>
          <p:cNvSpPr>
            <a:spLocks noGrp="1"/>
          </p:cNvSpPr>
          <p:nvPr/>
        </p:nvSpPr>
        <p:spPr>
          <a:xfrm>
            <a:off x="4686300" y="2446020"/>
            <a:ext cx="2286000" cy="462686"/>
          </a:xfrm>
          <a:prstGeom prst="roundRect">
            <a:avLst>
              <a:gd name="adj" fmla="val 10000"/>
            </a:avLst>
          </a:prstGeom>
          <a:solidFill>
            <a:srgbClr val="E6E9F1"/>
          </a:solidFill>
          <a:ln w="12700">
            <a:solidFill>
              <a:srgbClr val="B6BCCB"/>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r>
              <a:rPr sz="1250" b="1">
                <a:solidFill>
                  <a:srgbClr val="2E3142"/>
                </a:solidFill>
                <a:latin typeface="210 OmniGothic 040"/>
                <a:ea typeface="210 OmniGothic 040"/>
                <a:cs typeface="210 OmniGothic 040"/>
              </a:rPr>
              <a:t>프론트엔드</a:t>
            </a:r>
          </a:p>
        </p:txBody>
      </p:sp>
      <p:sp>
        <p:nvSpPr>
          <p:cNvPr id="6899" name="Connector 6900">
            <a:extLst>
              <a:ext uri="{FF2B5EF4-FFF2-40B4-BE49-F238E27FC236}">
                <a16:creationId xmlns:a16="http://schemas.microsoft.com/office/drawing/2014/main" id="{24FAF445-8052-4EE1-AF61-E7C9179B3843}"/>
              </a:ext>
            </a:extLst>
          </p:cNvPr>
          <p:cNvSpPr>
            <a:spLocks noGrp="1"/>
          </p:cNvSpPr>
          <p:nvPr/>
        </p:nvSpPr>
        <p:spPr>
          <a:xfrm>
            <a:off x="5829300" y="2908706"/>
            <a:ext cx="0" cy="6145682"/>
          </a:xfrm>
          <a:prstGeom prst="line">
            <a:avLst/>
          </a:prstGeom>
          <a:ln w="11430">
            <a:solidFill>
              <a:srgbClr val="A3A8B8"/>
            </a:solidFill>
            <a:prstDash val="dash"/>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901" name="Rounded Rectangle 6902">
            <a:extLst>
              <a:ext uri="{FF2B5EF4-FFF2-40B4-BE49-F238E27FC236}">
                <a16:creationId xmlns:a16="http://schemas.microsoft.com/office/drawing/2014/main" id="{F99DE912-2E58-4BCF-A238-0D9CA2A1AE70}"/>
              </a:ext>
            </a:extLst>
          </p:cNvPr>
          <p:cNvSpPr>
            <a:spLocks noGrp="1"/>
          </p:cNvSpPr>
          <p:nvPr/>
        </p:nvSpPr>
        <p:spPr>
          <a:xfrm>
            <a:off x="7909560" y="2446020"/>
            <a:ext cx="2286000" cy="462686"/>
          </a:xfrm>
          <a:prstGeom prst="roundRect">
            <a:avLst>
              <a:gd name="adj" fmla="val 10000"/>
            </a:avLst>
          </a:prstGeom>
          <a:solidFill>
            <a:srgbClr val="E6E9F1"/>
          </a:solidFill>
          <a:ln w="12700">
            <a:solidFill>
              <a:srgbClr val="B6BCCB"/>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r>
              <a:rPr sz="1250" b="1">
                <a:solidFill>
                  <a:srgbClr val="2E3142"/>
                </a:solidFill>
                <a:latin typeface="210 OmniGothic 040"/>
                <a:ea typeface="210 OmniGothic 040"/>
                <a:cs typeface="210 OmniGothic 040"/>
              </a:rPr>
              <a:t>IncidentRouter</a:t>
            </a:r>
          </a:p>
        </p:txBody>
      </p:sp>
      <p:sp>
        <p:nvSpPr>
          <p:cNvPr id="6903" name="Connector 6904">
            <a:extLst>
              <a:ext uri="{FF2B5EF4-FFF2-40B4-BE49-F238E27FC236}">
                <a16:creationId xmlns:a16="http://schemas.microsoft.com/office/drawing/2014/main" id="{2BF68B3C-D015-4595-8550-F3EDD4838421}"/>
              </a:ext>
            </a:extLst>
          </p:cNvPr>
          <p:cNvSpPr>
            <a:spLocks noGrp="1"/>
          </p:cNvSpPr>
          <p:nvPr/>
        </p:nvSpPr>
        <p:spPr>
          <a:xfrm>
            <a:off x="9052560" y="2908706"/>
            <a:ext cx="0" cy="6145682"/>
          </a:xfrm>
          <a:prstGeom prst="line">
            <a:avLst/>
          </a:prstGeom>
          <a:ln w="11430">
            <a:solidFill>
              <a:srgbClr val="A3A8B8"/>
            </a:solidFill>
            <a:prstDash val="dash"/>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905" name="Rounded Rectangle 6906">
            <a:extLst>
              <a:ext uri="{FF2B5EF4-FFF2-40B4-BE49-F238E27FC236}">
                <a16:creationId xmlns:a16="http://schemas.microsoft.com/office/drawing/2014/main" id="{020F65DB-3910-4F34-AF05-4EEB79CCD0A2}"/>
              </a:ext>
            </a:extLst>
          </p:cNvPr>
          <p:cNvSpPr>
            <a:spLocks noGrp="1"/>
          </p:cNvSpPr>
          <p:nvPr/>
        </p:nvSpPr>
        <p:spPr>
          <a:xfrm>
            <a:off x="11132820" y="2446020"/>
            <a:ext cx="2286000" cy="462686"/>
          </a:xfrm>
          <a:prstGeom prst="roundRect">
            <a:avLst>
              <a:gd name="adj" fmla="val 10000"/>
            </a:avLst>
          </a:prstGeom>
          <a:solidFill>
            <a:srgbClr val="E6E9F1"/>
          </a:solidFill>
          <a:ln w="12700">
            <a:solidFill>
              <a:srgbClr val="B6BCCB"/>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r>
              <a:rPr sz="1250" b="1">
                <a:solidFill>
                  <a:srgbClr val="2E3142"/>
                </a:solidFill>
                <a:latin typeface="210 OmniGothic 040"/>
                <a:ea typeface="210 OmniGothic 040"/>
                <a:cs typeface="210 OmniGothic 040"/>
              </a:rPr>
              <a:t>DB</a:t>
            </a:r>
          </a:p>
        </p:txBody>
      </p:sp>
      <p:sp>
        <p:nvSpPr>
          <p:cNvPr id="6907" name="Connector 6908">
            <a:extLst>
              <a:ext uri="{FF2B5EF4-FFF2-40B4-BE49-F238E27FC236}">
                <a16:creationId xmlns:a16="http://schemas.microsoft.com/office/drawing/2014/main" id="{102A8A69-8022-442D-A147-AA03B7A95D33}"/>
              </a:ext>
            </a:extLst>
          </p:cNvPr>
          <p:cNvSpPr>
            <a:spLocks noGrp="1"/>
          </p:cNvSpPr>
          <p:nvPr/>
        </p:nvSpPr>
        <p:spPr>
          <a:xfrm>
            <a:off x="12275820" y="2908706"/>
            <a:ext cx="0" cy="6145682"/>
          </a:xfrm>
          <a:prstGeom prst="line">
            <a:avLst/>
          </a:prstGeom>
          <a:ln w="11430">
            <a:solidFill>
              <a:srgbClr val="A3A8B8"/>
            </a:solidFill>
            <a:prstDash val="dash"/>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909" name="Rounded Rectangle 6910">
            <a:extLst>
              <a:ext uri="{FF2B5EF4-FFF2-40B4-BE49-F238E27FC236}">
                <a16:creationId xmlns:a16="http://schemas.microsoft.com/office/drawing/2014/main" id="{A24D3054-D696-4263-958C-5A752A7C8B4B}"/>
              </a:ext>
            </a:extLst>
          </p:cNvPr>
          <p:cNvSpPr>
            <a:spLocks noGrp="1"/>
          </p:cNvSpPr>
          <p:nvPr/>
        </p:nvSpPr>
        <p:spPr>
          <a:xfrm>
            <a:off x="14356080" y="2446020"/>
            <a:ext cx="2286000" cy="462686"/>
          </a:xfrm>
          <a:prstGeom prst="roundRect">
            <a:avLst>
              <a:gd name="adj" fmla="val 10000"/>
            </a:avLst>
          </a:prstGeom>
          <a:solidFill>
            <a:srgbClr val="E6E9F1"/>
          </a:solidFill>
          <a:ln w="12700">
            <a:solidFill>
              <a:srgbClr val="B6BCCB"/>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r>
              <a:rPr sz="1250" b="1">
                <a:solidFill>
                  <a:srgbClr val="2E3142"/>
                </a:solidFill>
                <a:latin typeface="210 OmniGothic 040"/>
                <a:ea typeface="210 OmniGothic 040"/>
                <a:cs typeface="210 OmniGothic 040"/>
              </a:rPr>
              <a:t>EventLogger</a:t>
            </a:r>
          </a:p>
        </p:txBody>
      </p:sp>
      <p:sp>
        <p:nvSpPr>
          <p:cNvPr id="6911" name="Connector 6912">
            <a:extLst>
              <a:ext uri="{FF2B5EF4-FFF2-40B4-BE49-F238E27FC236}">
                <a16:creationId xmlns:a16="http://schemas.microsoft.com/office/drawing/2014/main" id="{1C0D12A7-63B5-4A3A-8064-5FA02FE74A1C}"/>
              </a:ext>
            </a:extLst>
          </p:cNvPr>
          <p:cNvSpPr>
            <a:spLocks noGrp="1"/>
          </p:cNvSpPr>
          <p:nvPr/>
        </p:nvSpPr>
        <p:spPr>
          <a:xfrm>
            <a:off x="15499080" y="2908706"/>
            <a:ext cx="0" cy="6145682"/>
          </a:xfrm>
          <a:prstGeom prst="line">
            <a:avLst/>
          </a:prstGeom>
          <a:ln w="11430">
            <a:solidFill>
              <a:srgbClr val="A3A8B8"/>
            </a:solidFill>
            <a:prstDash val="dash"/>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821" name="Rectangle 6822">
            <a:extLst>
              <a:ext uri="{FF2B5EF4-FFF2-40B4-BE49-F238E27FC236}">
                <a16:creationId xmlns:a16="http://schemas.microsoft.com/office/drawing/2014/main" id="{D515FB4C-E02C-437E-B8A5-EF888F6C0938}"/>
              </a:ext>
            </a:extLst>
          </p:cNvPr>
          <p:cNvSpPr>
            <a:spLocks noGrp="1"/>
          </p:cNvSpPr>
          <p:nvPr/>
        </p:nvSpPr>
        <p:spPr>
          <a:xfrm>
            <a:off x="5759300" y="3382274"/>
            <a:ext cx="140000" cy="250000"/>
          </a:xfrm>
          <a:prstGeom prst="rect">
            <a:avLst/>
          </a:prstGeom>
          <a:solidFill>
            <a:srgbClr val="FFFFFF"/>
          </a:solidFill>
          <a:ln w="9525">
            <a:solidFill>
              <a:srgbClr val="363A52"/>
            </a:solidFill>
          </a:ln>
        </p:spPr>
        <p:style>
          <a:lnRef idx="1">
            <a:schemeClr val="accent1"/>
          </a:lnRef>
          <a:fillRef idx="3">
            <a:schemeClr val="accent1"/>
          </a:fillRef>
          <a:effectRef idx="2">
            <a:schemeClr val="accent1"/>
          </a:effectRef>
          <a:fontRef idx="minor">
            <a:schemeClr val="lt1"/>
          </a:fontRef>
        </p:style>
        <p:txBody>
          <a:bodyPr wrap="square" lIns="0" rIns="0" anchor="ctr"/>
          <a:lstStyle/>
          <a:p>
            <a:pPr algn="ctr">
              <a:buNone/>
            </a:pPr>
            <a:endParaRPr/>
          </a:p>
        </p:txBody>
      </p:sp>
      <p:sp>
        <p:nvSpPr>
          <p:cNvPr id="6823" name="Rectangle 6824">
            <a:extLst>
              <a:ext uri="{FF2B5EF4-FFF2-40B4-BE49-F238E27FC236}">
                <a16:creationId xmlns:a16="http://schemas.microsoft.com/office/drawing/2014/main" id="{1B791FEA-9334-4B01-ABE7-19400A3329B7}"/>
              </a:ext>
            </a:extLst>
          </p:cNvPr>
          <p:cNvSpPr>
            <a:spLocks noGrp="1"/>
          </p:cNvSpPr>
          <p:nvPr/>
        </p:nvSpPr>
        <p:spPr>
          <a:xfrm>
            <a:off x="12205820" y="5242274"/>
            <a:ext cx="140000" cy="15000"/>
          </a:xfrm>
          <a:prstGeom prst="rect">
            <a:avLst/>
          </a:prstGeom>
          <a:solidFill>
            <a:srgbClr val="FFFFFF"/>
          </a:solidFill>
          <a:ln w="9525">
            <a:solidFill>
              <a:srgbClr val="363A52"/>
            </a:solidFill>
          </a:ln>
        </p:spPr>
        <p:style>
          <a:lnRef idx="1">
            <a:schemeClr val="accent1"/>
          </a:lnRef>
          <a:fillRef idx="3">
            <a:schemeClr val="accent1"/>
          </a:fillRef>
          <a:effectRef idx="2">
            <a:schemeClr val="accent1"/>
          </a:effectRef>
          <a:fontRef idx="minor">
            <a:schemeClr val="lt1"/>
          </a:fontRef>
        </p:style>
        <p:txBody>
          <a:bodyPr wrap="square" lIns="0" rIns="0" anchor="ctr"/>
          <a:lstStyle/>
          <a:p>
            <a:pPr algn="ctr">
              <a:buNone/>
            </a:pPr>
            <a:endParaRPr/>
          </a:p>
        </p:txBody>
      </p:sp>
      <p:sp>
        <p:nvSpPr>
          <p:cNvPr id="6825" name="Rectangle 6826">
            <a:extLst>
              <a:ext uri="{FF2B5EF4-FFF2-40B4-BE49-F238E27FC236}">
                <a16:creationId xmlns:a16="http://schemas.microsoft.com/office/drawing/2014/main" id="{810F1CA5-22F9-4A96-A352-E474A64285A9}"/>
              </a:ext>
            </a:extLst>
          </p:cNvPr>
          <p:cNvSpPr>
            <a:spLocks noGrp="1"/>
          </p:cNvSpPr>
          <p:nvPr/>
        </p:nvSpPr>
        <p:spPr>
          <a:xfrm>
            <a:off x="15429080" y="5492274"/>
            <a:ext cx="140000" cy="15000"/>
          </a:xfrm>
          <a:prstGeom prst="rect">
            <a:avLst/>
          </a:prstGeom>
          <a:solidFill>
            <a:srgbClr val="FFFFFF"/>
          </a:solidFill>
          <a:ln w="9525">
            <a:solidFill>
              <a:srgbClr val="363A52"/>
            </a:solidFill>
          </a:ln>
        </p:spPr>
        <p:style>
          <a:lnRef idx="1">
            <a:schemeClr val="accent1"/>
          </a:lnRef>
          <a:fillRef idx="3">
            <a:schemeClr val="accent1"/>
          </a:fillRef>
          <a:effectRef idx="2">
            <a:schemeClr val="accent1"/>
          </a:effectRef>
          <a:fontRef idx="minor">
            <a:schemeClr val="lt1"/>
          </a:fontRef>
        </p:style>
        <p:txBody>
          <a:bodyPr wrap="square" lIns="0" rIns="0" anchor="ctr"/>
          <a:lstStyle/>
          <a:p>
            <a:pPr algn="ctr">
              <a:buNone/>
            </a:pPr>
            <a:endParaRPr/>
          </a:p>
        </p:txBody>
      </p:sp>
      <p:sp>
        <p:nvSpPr>
          <p:cNvPr id="6827" name="Rectangle 6828">
            <a:extLst>
              <a:ext uri="{FF2B5EF4-FFF2-40B4-BE49-F238E27FC236}">
                <a16:creationId xmlns:a16="http://schemas.microsoft.com/office/drawing/2014/main" id="{A48A31E8-0D8A-47BE-8F41-6C8C06D5DA89}"/>
              </a:ext>
            </a:extLst>
          </p:cNvPr>
          <p:cNvSpPr>
            <a:spLocks noGrp="1"/>
          </p:cNvSpPr>
          <p:nvPr/>
        </p:nvSpPr>
        <p:spPr>
          <a:xfrm>
            <a:off x="8982560" y="4102274"/>
            <a:ext cx="140000" cy="1640000"/>
          </a:xfrm>
          <a:prstGeom prst="rect">
            <a:avLst/>
          </a:prstGeom>
          <a:solidFill>
            <a:srgbClr val="FFFFFF"/>
          </a:solidFill>
          <a:ln w="9525">
            <a:solidFill>
              <a:srgbClr val="363A52"/>
            </a:solidFill>
          </a:ln>
        </p:spPr>
        <p:style>
          <a:lnRef idx="1">
            <a:schemeClr val="accent1"/>
          </a:lnRef>
          <a:fillRef idx="3">
            <a:schemeClr val="accent1"/>
          </a:fillRef>
          <a:effectRef idx="2">
            <a:schemeClr val="accent1"/>
          </a:effectRef>
          <a:fontRef idx="minor">
            <a:schemeClr val="lt1"/>
          </a:fontRef>
        </p:style>
        <p:txBody>
          <a:bodyPr wrap="square" lIns="0" rIns="0" anchor="ctr"/>
          <a:lstStyle/>
          <a:p>
            <a:pPr algn="ctr">
              <a:buNone/>
            </a:pPr>
            <a:endParaRPr/>
          </a:p>
        </p:txBody>
      </p:sp>
      <p:sp>
        <p:nvSpPr>
          <p:cNvPr id="6829" name="Rectangle 6830">
            <a:extLst>
              <a:ext uri="{FF2B5EF4-FFF2-40B4-BE49-F238E27FC236}">
                <a16:creationId xmlns:a16="http://schemas.microsoft.com/office/drawing/2014/main" id="{F4CD9594-4464-44A5-A39F-7D7DBD298DF0}"/>
              </a:ext>
            </a:extLst>
          </p:cNvPr>
          <p:cNvSpPr>
            <a:spLocks noGrp="1"/>
          </p:cNvSpPr>
          <p:nvPr/>
        </p:nvSpPr>
        <p:spPr>
          <a:xfrm>
            <a:off x="5759300" y="5992274"/>
            <a:ext cx="140000" cy="180251"/>
          </a:xfrm>
          <a:prstGeom prst="rect">
            <a:avLst/>
          </a:prstGeom>
          <a:solidFill>
            <a:srgbClr val="FFFFFF"/>
          </a:solidFill>
          <a:ln w="9525">
            <a:solidFill>
              <a:srgbClr val="363A52"/>
            </a:solidFill>
          </a:ln>
        </p:spPr>
        <p:style>
          <a:lnRef idx="1">
            <a:schemeClr val="accent1"/>
          </a:lnRef>
          <a:fillRef idx="3">
            <a:schemeClr val="accent1"/>
          </a:fillRef>
          <a:effectRef idx="2">
            <a:schemeClr val="accent1"/>
          </a:effectRef>
          <a:fontRef idx="minor">
            <a:schemeClr val="lt1"/>
          </a:fontRef>
        </p:style>
        <p:txBody>
          <a:bodyPr wrap="square" lIns="0" rIns="0" anchor="ctr"/>
          <a:lstStyle/>
          <a:p>
            <a:pPr algn="ctr">
              <a:buNone/>
            </a:pPr>
            <a:endParaRPr/>
          </a:p>
        </p:txBody>
      </p:sp>
      <p:sp>
        <p:nvSpPr>
          <p:cNvPr id="6831" name="Rectangle 6832">
            <a:extLst>
              <a:ext uri="{FF2B5EF4-FFF2-40B4-BE49-F238E27FC236}">
                <a16:creationId xmlns:a16="http://schemas.microsoft.com/office/drawing/2014/main" id="{4F8F9015-1C3B-45CA-AB4D-B37299FFECCD}"/>
              </a:ext>
            </a:extLst>
          </p:cNvPr>
          <p:cNvSpPr>
            <a:spLocks noGrp="1"/>
          </p:cNvSpPr>
          <p:nvPr/>
        </p:nvSpPr>
        <p:spPr>
          <a:xfrm>
            <a:off x="5759300" y="6797274"/>
            <a:ext cx="140000" cy="180251"/>
          </a:xfrm>
          <a:prstGeom prst="rect">
            <a:avLst/>
          </a:prstGeom>
          <a:solidFill>
            <a:srgbClr val="FFFFFF"/>
          </a:solidFill>
          <a:ln w="9525">
            <a:solidFill>
              <a:srgbClr val="363A52"/>
            </a:solidFill>
          </a:ln>
        </p:spPr>
        <p:style>
          <a:lnRef idx="1">
            <a:schemeClr val="accent1"/>
          </a:lnRef>
          <a:fillRef idx="3">
            <a:schemeClr val="accent1"/>
          </a:fillRef>
          <a:effectRef idx="2">
            <a:schemeClr val="accent1"/>
          </a:effectRef>
          <a:fontRef idx="minor">
            <a:schemeClr val="lt1"/>
          </a:fontRef>
        </p:style>
        <p:txBody>
          <a:bodyPr wrap="square" lIns="0" rIns="0" anchor="ctr"/>
          <a:lstStyle/>
          <a:p>
            <a:pPr algn="ctr">
              <a:buNone/>
            </a:pPr>
            <a:endParaRPr/>
          </a:p>
        </p:txBody>
      </p:sp>
      <p:sp>
        <p:nvSpPr>
          <p:cNvPr id="6833" name="TextBox 6834">
            <a:extLst>
              <a:ext uri="{FF2B5EF4-FFF2-40B4-BE49-F238E27FC236}">
                <a16:creationId xmlns:a16="http://schemas.microsoft.com/office/drawing/2014/main" id="{993D5989-BF80-46C5-A3B3-C34EF4299AF9}"/>
              </a:ext>
            </a:extLst>
          </p:cNvPr>
          <p:cNvSpPr>
            <a:spLocks noGrp="1"/>
          </p:cNvSpPr>
          <p:nvPr/>
        </p:nvSpPr>
        <p:spPr>
          <a:xfrm>
            <a:off x="2606040" y="3157274"/>
            <a:ext cx="322326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「종료 처리」</a:t>
            </a:r>
          </a:p>
        </p:txBody>
      </p:sp>
      <p:sp>
        <p:nvSpPr>
          <p:cNvPr id="6835" name="Connector 6836">
            <a:extLst>
              <a:ext uri="{FF2B5EF4-FFF2-40B4-BE49-F238E27FC236}">
                <a16:creationId xmlns:a16="http://schemas.microsoft.com/office/drawing/2014/main" id="{E397E819-6F33-449B-923E-41A7F512DA61}"/>
              </a:ext>
            </a:extLst>
          </p:cNvPr>
          <p:cNvSpPr>
            <a:spLocks noGrp="1"/>
          </p:cNvSpPr>
          <p:nvPr/>
        </p:nvSpPr>
        <p:spPr>
          <a:xfrm>
            <a:off x="2606040" y="3382274"/>
            <a:ext cx="3153260" cy="0"/>
          </a:xfrm>
          <a:prstGeom prst="line">
            <a:avLst/>
          </a:prstGeom>
          <a:ln w="1397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837" name="TextBox 6838">
            <a:extLst>
              <a:ext uri="{FF2B5EF4-FFF2-40B4-BE49-F238E27FC236}">
                <a16:creationId xmlns:a16="http://schemas.microsoft.com/office/drawing/2014/main" id="{B7CCEBC3-CC49-4CD9-BDBF-D2490F09E390}"/>
              </a:ext>
            </a:extLst>
          </p:cNvPr>
          <p:cNvSpPr>
            <a:spLocks noGrp="1"/>
          </p:cNvSpPr>
          <p:nvPr/>
        </p:nvSpPr>
        <p:spPr>
          <a:xfrm>
            <a:off x="2606040" y="3407274"/>
            <a:ext cx="322326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확인 창(종료 시각 · 이후 변경 차단 안내)</a:t>
            </a:r>
          </a:p>
        </p:txBody>
      </p:sp>
      <p:sp>
        <p:nvSpPr>
          <p:cNvPr id="6839" name="Connector 6840">
            <a:extLst>
              <a:ext uri="{FF2B5EF4-FFF2-40B4-BE49-F238E27FC236}">
                <a16:creationId xmlns:a16="http://schemas.microsoft.com/office/drawing/2014/main" id="{50A7E1AE-ED28-4F70-AE49-C73C3468ADB6}"/>
              </a:ext>
            </a:extLst>
          </p:cNvPr>
          <p:cNvSpPr>
            <a:spLocks noGrp="1"/>
          </p:cNvSpPr>
          <p:nvPr/>
        </p:nvSpPr>
        <p:spPr>
          <a:xfrm flipH="1">
            <a:off x="2606040" y="3632274"/>
            <a:ext cx="3153260" cy="0"/>
          </a:xfrm>
          <a:prstGeom prst="line">
            <a:avLst/>
          </a:prstGeom>
          <a:ln w="13970">
            <a:solidFill>
              <a:srgbClr val="6B7080"/>
            </a:solidFill>
            <a:prstDash val="dash"/>
            <a:tailEnd type="arrow"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841" name="TextBox 6842">
            <a:extLst>
              <a:ext uri="{FF2B5EF4-FFF2-40B4-BE49-F238E27FC236}">
                <a16:creationId xmlns:a16="http://schemas.microsoft.com/office/drawing/2014/main" id="{E3D3DEB3-E0D7-4A60-A965-24722F02B1AC}"/>
              </a:ext>
            </a:extLst>
          </p:cNvPr>
          <p:cNvSpPr>
            <a:spLocks noGrp="1"/>
          </p:cNvSpPr>
          <p:nvPr/>
        </p:nvSpPr>
        <p:spPr>
          <a:xfrm>
            <a:off x="5829300" y="3877274"/>
            <a:ext cx="322326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PATCH /incidents/{id}/close</a:t>
            </a:r>
          </a:p>
        </p:txBody>
      </p:sp>
      <p:sp>
        <p:nvSpPr>
          <p:cNvPr id="6843" name="Connector 6844">
            <a:extLst>
              <a:ext uri="{FF2B5EF4-FFF2-40B4-BE49-F238E27FC236}">
                <a16:creationId xmlns:a16="http://schemas.microsoft.com/office/drawing/2014/main" id="{632F323D-2BE2-4F36-AF3E-9808CD6857F6}"/>
              </a:ext>
            </a:extLst>
          </p:cNvPr>
          <p:cNvSpPr>
            <a:spLocks noGrp="1"/>
          </p:cNvSpPr>
          <p:nvPr/>
        </p:nvSpPr>
        <p:spPr>
          <a:xfrm>
            <a:off x="5829300" y="4102274"/>
            <a:ext cx="3153260" cy="0"/>
          </a:xfrm>
          <a:prstGeom prst="line">
            <a:avLst/>
          </a:prstGeom>
          <a:ln w="1397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845" name="Connector 6846">
            <a:extLst>
              <a:ext uri="{FF2B5EF4-FFF2-40B4-BE49-F238E27FC236}">
                <a16:creationId xmlns:a16="http://schemas.microsoft.com/office/drawing/2014/main" id="{CAF4912D-E65E-4981-AC4B-30F253083282}"/>
              </a:ext>
            </a:extLst>
          </p:cNvPr>
          <p:cNvSpPr>
            <a:spLocks noGrp="1"/>
          </p:cNvSpPr>
          <p:nvPr/>
        </p:nvSpPr>
        <p:spPr>
          <a:xfrm>
            <a:off x="9122560" y="4352274"/>
            <a:ext cx="365760" cy="0"/>
          </a:xfrm>
          <a:prstGeom prst="line">
            <a:avLst/>
          </a:prstGeom>
          <a:ln w="13970">
            <a:solidFill>
              <a:srgbClr val="363A52"/>
            </a:solidFill>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847" name="Connector 6848">
            <a:extLst>
              <a:ext uri="{FF2B5EF4-FFF2-40B4-BE49-F238E27FC236}">
                <a16:creationId xmlns:a16="http://schemas.microsoft.com/office/drawing/2014/main" id="{0891A1D2-F708-4056-B7B3-549EC5525BA8}"/>
              </a:ext>
            </a:extLst>
          </p:cNvPr>
          <p:cNvSpPr>
            <a:spLocks noGrp="1"/>
          </p:cNvSpPr>
          <p:nvPr/>
        </p:nvSpPr>
        <p:spPr>
          <a:xfrm>
            <a:off x="9488320" y="4352274"/>
            <a:ext cx="0" cy="180251"/>
          </a:xfrm>
          <a:prstGeom prst="line">
            <a:avLst/>
          </a:prstGeom>
          <a:ln w="13970">
            <a:solidFill>
              <a:srgbClr val="363A52"/>
            </a:solidFill>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849" name="Connector 6850">
            <a:extLst>
              <a:ext uri="{FF2B5EF4-FFF2-40B4-BE49-F238E27FC236}">
                <a16:creationId xmlns:a16="http://schemas.microsoft.com/office/drawing/2014/main" id="{58710EB0-CEC5-43D2-B0C9-3DC4D7CD31D6}"/>
              </a:ext>
            </a:extLst>
          </p:cNvPr>
          <p:cNvSpPr>
            <a:spLocks noGrp="1"/>
          </p:cNvSpPr>
          <p:nvPr/>
        </p:nvSpPr>
        <p:spPr>
          <a:xfrm flipH="1">
            <a:off x="9156850" y="4532525"/>
            <a:ext cx="331470" cy="0"/>
          </a:xfrm>
          <a:prstGeom prst="line">
            <a:avLst/>
          </a:prstGeom>
          <a:ln w="1397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851" name="TextBox 6852">
            <a:extLst>
              <a:ext uri="{FF2B5EF4-FFF2-40B4-BE49-F238E27FC236}">
                <a16:creationId xmlns:a16="http://schemas.microsoft.com/office/drawing/2014/main" id="{DAEB9EB3-2063-49D3-A428-92ECF80C5880}"/>
              </a:ext>
            </a:extLst>
          </p:cNvPr>
          <p:cNvSpPr>
            <a:spLocks noGrp="1"/>
          </p:cNvSpPr>
          <p:nvPr/>
        </p:nvSpPr>
        <p:spPr>
          <a:xfrm>
            <a:off x="9579760" y="4127274"/>
            <a:ext cx="4562951" cy="221284"/>
          </a:xfrm>
          <a:prstGeom prst="rect">
            <a:avLst/>
          </a:prstGeom>
          <a:noFill/>
        </p:spPr>
        <p:txBody>
          <a:bodyPr wrap="square" lIns="0" tIns="0" rIns="0" bIns="0" anchor="t">
            <a:spAutoFit/>
          </a:bodyPr>
          <a:lstStyle/>
          <a:p>
            <a:pPr algn="l">
              <a:buNone/>
            </a:pPr>
            <a:r>
              <a:rPr sz="1100" b="0">
                <a:solidFill>
                  <a:srgbClr val="2E3142"/>
                </a:solidFill>
                <a:latin typeface="210 OmniGothic 040"/>
                <a:ea typeface="210 OmniGothic 040"/>
                <a:cs typeface="210 OmniGothic 040"/>
              </a:rPr>
              <a:t>권한(조작) 확인 · '진행 중' 상태 확인</a:t>
            </a:r>
          </a:p>
        </p:txBody>
      </p:sp>
      <p:sp>
        <p:nvSpPr>
          <p:cNvPr id="6853" name="Connector 6854">
            <a:extLst>
              <a:ext uri="{FF2B5EF4-FFF2-40B4-BE49-F238E27FC236}">
                <a16:creationId xmlns:a16="http://schemas.microsoft.com/office/drawing/2014/main" id="{1E728A6F-287B-4C40-99A4-B96F12F052C5}"/>
              </a:ext>
            </a:extLst>
          </p:cNvPr>
          <p:cNvSpPr>
            <a:spLocks noGrp="1"/>
          </p:cNvSpPr>
          <p:nvPr/>
        </p:nvSpPr>
        <p:spPr>
          <a:xfrm>
            <a:off x="9122560" y="4797274"/>
            <a:ext cx="365760" cy="0"/>
          </a:xfrm>
          <a:prstGeom prst="line">
            <a:avLst/>
          </a:prstGeom>
          <a:ln w="13970">
            <a:solidFill>
              <a:srgbClr val="363A52"/>
            </a:solidFill>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855" name="Connector 6856">
            <a:extLst>
              <a:ext uri="{FF2B5EF4-FFF2-40B4-BE49-F238E27FC236}">
                <a16:creationId xmlns:a16="http://schemas.microsoft.com/office/drawing/2014/main" id="{C3DCEC5C-706B-469D-A8AD-8B62037524C8}"/>
              </a:ext>
            </a:extLst>
          </p:cNvPr>
          <p:cNvSpPr>
            <a:spLocks noGrp="1"/>
          </p:cNvSpPr>
          <p:nvPr/>
        </p:nvSpPr>
        <p:spPr>
          <a:xfrm>
            <a:off x="9488320" y="4797274"/>
            <a:ext cx="0" cy="180251"/>
          </a:xfrm>
          <a:prstGeom prst="line">
            <a:avLst/>
          </a:prstGeom>
          <a:ln w="13970">
            <a:solidFill>
              <a:srgbClr val="363A52"/>
            </a:solidFill>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857" name="Connector 6858">
            <a:extLst>
              <a:ext uri="{FF2B5EF4-FFF2-40B4-BE49-F238E27FC236}">
                <a16:creationId xmlns:a16="http://schemas.microsoft.com/office/drawing/2014/main" id="{208EE78C-5D67-41AA-8B8F-D69C252AF89C}"/>
              </a:ext>
            </a:extLst>
          </p:cNvPr>
          <p:cNvSpPr>
            <a:spLocks noGrp="1"/>
          </p:cNvSpPr>
          <p:nvPr/>
        </p:nvSpPr>
        <p:spPr>
          <a:xfrm flipH="1">
            <a:off x="9156850" y="4977525"/>
            <a:ext cx="331470" cy="0"/>
          </a:xfrm>
          <a:prstGeom prst="line">
            <a:avLst/>
          </a:prstGeom>
          <a:ln w="1397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859" name="TextBox 6860">
            <a:extLst>
              <a:ext uri="{FF2B5EF4-FFF2-40B4-BE49-F238E27FC236}">
                <a16:creationId xmlns:a16="http://schemas.microsoft.com/office/drawing/2014/main" id="{613999A2-F308-49A1-A44A-1EA1553A43A6}"/>
              </a:ext>
            </a:extLst>
          </p:cNvPr>
          <p:cNvSpPr>
            <a:spLocks noGrp="1"/>
          </p:cNvSpPr>
          <p:nvPr/>
        </p:nvSpPr>
        <p:spPr>
          <a:xfrm>
            <a:off x="9579760" y="4572274"/>
            <a:ext cx="4562951" cy="221284"/>
          </a:xfrm>
          <a:prstGeom prst="rect">
            <a:avLst/>
          </a:prstGeom>
          <a:noFill/>
        </p:spPr>
        <p:txBody>
          <a:bodyPr wrap="square" lIns="0" tIns="0" rIns="0" bIns="0" anchor="t">
            <a:spAutoFit/>
          </a:bodyPr>
          <a:lstStyle/>
          <a:p>
            <a:pPr algn="l">
              <a:buNone/>
            </a:pPr>
            <a:r>
              <a:rPr sz="1100" b="0">
                <a:solidFill>
                  <a:srgbClr val="2E3142"/>
                </a:solidFill>
                <a:latin typeface="210 OmniGothic 040"/>
                <a:ea typeface="210 OmniGothic 040"/>
                <a:cs typeface="210 OmniGothic 040"/>
              </a:rPr>
              <a:t>종료 정보 구성(status=종료·ended_at·ended_by)</a:t>
            </a:r>
          </a:p>
        </p:txBody>
      </p:sp>
      <p:sp>
        <p:nvSpPr>
          <p:cNvPr id="6861" name="TextBox 6862">
            <a:extLst>
              <a:ext uri="{FF2B5EF4-FFF2-40B4-BE49-F238E27FC236}">
                <a16:creationId xmlns:a16="http://schemas.microsoft.com/office/drawing/2014/main" id="{12AD4C43-0045-4DFB-8A13-DA6864BACC00}"/>
              </a:ext>
            </a:extLst>
          </p:cNvPr>
          <p:cNvSpPr>
            <a:spLocks noGrp="1"/>
          </p:cNvSpPr>
          <p:nvPr/>
        </p:nvSpPr>
        <p:spPr>
          <a:xfrm>
            <a:off x="9052560" y="5017274"/>
            <a:ext cx="322326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상태 저장</a:t>
            </a:r>
          </a:p>
        </p:txBody>
      </p:sp>
      <p:sp>
        <p:nvSpPr>
          <p:cNvPr id="6863" name="Connector 6864">
            <a:extLst>
              <a:ext uri="{FF2B5EF4-FFF2-40B4-BE49-F238E27FC236}">
                <a16:creationId xmlns:a16="http://schemas.microsoft.com/office/drawing/2014/main" id="{721F9637-CE91-4DC2-A0A5-B8F8B8FED7C5}"/>
              </a:ext>
            </a:extLst>
          </p:cNvPr>
          <p:cNvSpPr>
            <a:spLocks noGrp="1"/>
          </p:cNvSpPr>
          <p:nvPr/>
        </p:nvSpPr>
        <p:spPr>
          <a:xfrm>
            <a:off x="9122560" y="5242274"/>
            <a:ext cx="3083260" cy="0"/>
          </a:xfrm>
          <a:prstGeom prst="line">
            <a:avLst/>
          </a:prstGeom>
          <a:ln w="1397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865" name="TextBox 6866">
            <a:extLst>
              <a:ext uri="{FF2B5EF4-FFF2-40B4-BE49-F238E27FC236}">
                <a16:creationId xmlns:a16="http://schemas.microsoft.com/office/drawing/2014/main" id="{DCD07CDC-F222-47A5-B646-73E16FC50DDB}"/>
              </a:ext>
            </a:extLst>
          </p:cNvPr>
          <p:cNvSpPr>
            <a:spLocks noGrp="1"/>
          </p:cNvSpPr>
          <p:nvPr/>
        </p:nvSpPr>
        <p:spPr>
          <a:xfrm>
            <a:off x="9052560" y="5267274"/>
            <a:ext cx="644652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record(종료, 발화 종료 처리)</a:t>
            </a:r>
          </a:p>
        </p:txBody>
      </p:sp>
      <p:sp>
        <p:nvSpPr>
          <p:cNvPr id="6867" name="Connector 6868">
            <a:extLst>
              <a:ext uri="{FF2B5EF4-FFF2-40B4-BE49-F238E27FC236}">
                <a16:creationId xmlns:a16="http://schemas.microsoft.com/office/drawing/2014/main" id="{55197995-4F47-4185-87BF-0D152B356CA1}"/>
              </a:ext>
            </a:extLst>
          </p:cNvPr>
          <p:cNvSpPr>
            <a:spLocks noGrp="1"/>
          </p:cNvSpPr>
          <p:nvPr/>
        </p:nvSpPr>
        <p:spPr>
          <a:xfrm>
            <a:off x="9122560" y="5492274"/>
            <a:ext cx="6306520" cy="0"/>
          </a:xfrm>
          <a:prstGeom prst="line">
            <a:avLst/>
          </a:prstGeom>
          <a:ln w="1397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869" name="TextBox 6870">
            <a:extLst>
              <a:ext uri="{FF2B5EF4-FFF2-40B4-BE49-F238E27FC236}">
                <a16:creationId xmlns:a16="http://schemas.microsoft.com/office/drawing/2014/main" id="{9E598764-1662-4E9A-9AE5-F8E465701BC2}"/>
              </a:ext>
            </a:extLst>
          </p:cNvPr>
          <p:cNvSpPr>
            <a:spLocks noGrp="1"/>
          </p:cNvSpPr>
          <p:nvPr/>
        </p:nvSpPr>
        <p:spPr>
          <a:xfrm>
            <a:off x="5829300" y="5517274"/>
            <a:ext cx="322326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종료 결과</a:t>
            </a:r>
          </a:p>
        </p:txBody>
      </p:sp>
      <p:sp>
        <p:nvSpPr>
          <p:cNvPr id="6871" name="Connector 6872">
            <a:extLst>
              <a:ext uri="{FF2B5EF4-FFF2-40B4-BE49-F238E27FC236}">
                <a16:creationId xmlns:a16="http://schemas.microsoft.com/office/drawing/2014/main" id="{009FD5EF-EEC0-446B-9542-04D143013A9C}"/>
              </a:ext>
            </a:extLst>
          </p:cNvPr>
          <p:cNvSpPr>
            <a:spLocks noGrp="1"/>
          </p:cNvSpPr>
          <p:nvPr/>
        </p:nvSpPr>
        <p:spPr>
          <a:xfrm flipH="1">
            <a:off x="5829300" y="5742274"/>
            <a:ext cx="3153260" cy="0"/>
          </a:xfrm>
          <a:prstGeom prst="line">
            <a:avLst/>
          </a:prstGeom>
          <a:ln w="13970">
            <a:solidFill>
              <a:srgbClr val="6B7080"/>
            </a:solidFill>
            <a:prstDash val="dash"/>
            <a:tailEnd type="arrow"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873" name="Connector 6874">
            <a:extLst>
              <a:ext uri="{FF2B5EF4-FFF2-40B4-BE49-F238E27FC236}">
                <a16:creationId xmlns:a16="http://schemas.microsoft.com/office/drawing/2014/main" id="{406D3E32-0A9C-4716-AA21-935FD34693F2}"/>
              </a:ext>
            </a:extLst>
          </p:cNvPr>
          <p:cNvSpPr>
            <a:spLocks noGrp="1"/>
          </p:cNvSpPr>
          <p:nvPr/>
        </p:nvSpPr>
        <p:spPr>
          <a:xfrm>
            <a:off x="5899300" y="5992274"/>
            <a:ext cx="365760" cy="0"/>
          </a:xfrm>
          <a:prstGeom prst="line">
            <a:avLst/>
          </a:prstGeom>
          <a:ln w="13970">
            <a:solidFill>
              <a:srgbClr val="363A52"/>
            </a:solidFill>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875" name="Connector 6876">
            <a:extLst>
              <a:ext uri="{FF2B5EF4-FFF2-40B4-BE49-F238E27FC236}">
                <a16:creationId xmlns:a16="http://schemas.microsoft.com/office/drawing/2014/main" id="{7ADFD3A0-FA7A-412A-82B8-F48795C50B77}"/>
              </a:ext>
            </a:extLst>
          </p:cNvPr>
          <p:cNvSpPr>
            <a:spLocks noGrp="1"/>
          </p:cNvSpPr>
          <p:nvPr/>
        </p:nvSpPr>
        <p:spPr>
          <a:xfrm>
            <a:off x="6265060" y="5992274"/>
            <a:ext cx="0" cy="180251"/>
          </a:xfrm>
          <a:prstGeom prst="line">
            <a:avLst/>
          </a:prstGeom>
          <a:ln w="13970">
            <a:solidFill>
              <a:srgbClr val="363A52"/>
            </a:solidFill>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877" name="Connector 6878">
            <a:extLst>
              <a:ext uri="{FF2B5EF4-FFF2-40B4-BE49-F238E27FC236}">
                <a16:creationId xmlns:a16="http://schemas.microsoft.com/office/drawing/2014/main" id="{776A38D2-76B1-4FEA-9DA7-1EBA365A2AA9}"/>
              </a:ext>
            </a:extLst>
          </p:cNvPr>
          <p:cNvSpPr>
            <a:spLocks noGrp="1"/>
          </p:cNvSpPr>
          <p:nvPr/>
        </p:nvSpPr>
        <p:spPr>
          <a:xfrm flipH="1">
            <a:off x="5933590" y="6172525"/>
            <a:ext cx="331470" cy="0"/>
          </a:xfrm>
          <a:prstGeom prst="line">
            <a:avLst/>
          </a:prstGeom>
          <a:ln w="1397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879" name="TextBox 6880">
            <a:extLst>
              <a:ext uri="{FF2B5EF4-FFF2-40B4-BE49-F238E27FC236}">
                <a16:creationId xmlns:a16="http://schemas.microsoft.com/office/drawing/2014/main" id="{7AA69F2B-F0D3-4C76-B068-D6A322C25F28}"/>
              </a:ext>
            </a:extLst>
          </p:cNvPr>
          <p:cNvSpPr>
            <a:spLocks noGrp="1"/>
          </p:cNvSpPr>
          <p:nvPr/>
        </p:nvSpPr>
        <p:spPr>
          <a:xfrm>
            <a:off x="6356500" y="5767274"/>
            <a:ext cx="4562951" cy="221284"/>
          </a:xfrm>
          <a:prstGeom prst="rect">
            <a:avLst/>
          </a:prstGeom>
          <a:noFill/>
        </p:spPr>
        <p:txBody>
          <a:bodyPr wrap="square" lIns="0" tIns="0" rIns="0" bIns="0" anchor="t">
            <a:spAutoFit/>
          </a:bodyPr>
          <a:lstStyle/>
          <a:p>
            <a:pPr algn="l">
              <a:buNone/>
            </a:pPr>
            <a:r>
              <a:rPr sz="1100" b="0">
                <a:solidFill>
                  <a:srgbClr val="2E3142"/>
                </a:solidFill>
                <a:latin typeface="210 OmniGothic 040"/>
                <a:ea typeface="210 OmniGothic 040"/>
                <a:cs typeface="210 OmniGothic 040"/>
              </a:rPr>
              <a:t>재생 정지, 예측 실행·상황 정정·제안 재생성 잠금</a:t>
            </a:r>
          </a:p>
        </p:txBody>
      </p:sp>
      <p:sp>
        <p:nvSpPr>
          <p:cNvPr id="6881" name="TextBox 6882">
            <a:extLst>
              <a:ext uri="{FF2B5EF4-FFF2-40B4-BE49-F238E27FC236}">
                <a16:creationId xmlns:a16="http://schemas.microsoft.com/office/drawing/2014/main" id="{F8BCC218-8FCA-4B08-9117-BBB384C687EB}"/>
              </a:ext>
            </a:extLst>
          </p:cNvPr>
          <p:cNvSpPr>
            <a:spLocks noGrp="1"/>
          </p:cNvSpPr>
          <p:nvPr/>
        </p:nvSpPr>
        <p:spPr>
          <a:xfrm>
            <a:off x="2606040" y="6212274"/>
            <a:ext cx="322326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종료 상태 표시(목록은 「종료」에서)</a:t>
            </a:r>
          </a:p>
        </p:txBody>
      </p:sp>
      <p:sp>
        <p:nvSpPr>
          <p:cNvPr id="6883" name="Connector 6884">
            <a:extLst>
              <a:ext uri="{FF2B5EF4-FFF2-40B4-BE49-F238E27FC236}">
                <a16:creationId xmlns:a16="http://schemas.microsoft.com/office/drawing/2014/main" id="{D309B781-DFA5-422E-8DDD-D43C277D1623}"/>
              </a:ext>
            </a:extLst>
          </p:cNvPr>
          <p:cNvSpPr>
            <a:spLocks noGrp="1"/>
          </p:cNvSpPr>
          <p:nvPr/>
        </p:nvSpPr>
        <p:spPr>
          <a:xfrm flipH="1">
            <a:off x="2606040" y="6437274"/>
            <a:ext cx="3223260" cy="0"/>
          </a:xfrm>
          <a:prstGeom prst="line">
            <a:avLst/>
          </a:prstGeom>
          <a:ln w="13970">
            <a:solidFill>
              <a:srgbClr val="6B7080"/>
            </a:solidFill>
            <a:prstDash val="dash"/>
            <a:tailEnd type="arrow"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885" name="Connector 6886">
            <a:extLst>
              <a:ext uri="{FF2B5EF4-FFF2-40B4-BE49-F238E27FC236}">
                <a16:creationId xmlns:a16="http://schemas.microsoft.com/office/drawing/2014/main" id="{D5087C50-C5F5-4DFC-943F-58480B0FC254}"/>
              </a:ext>
            </a:extLst>
          </p:cNvPr>
          <p:cNvSpPr>
            <a:spLocks noGrp="1"/>
          </p:cNvSpPr>
          <p:nvPr/>
        </p:nvSpPr>
        <p:spPr>
          <a:xfrm>
            <a:off x="5899300" y="6797274"/>
            <a:ext cx="365760" cy="0"/>
          </a:xfrm>
          <a:prstGeom prst="line">
            <a:avLst/>
          </a:prstGeom>
          <a:ln w="13970">
            <a:solidFill>
              <a:srgbClr val="363A52"/>
            </a:solidFill>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887" name="Connector 6888">
            <a:extLst>
              <a:ext uri="{FF2B5EF4-FFF2-40B4-BE49-F238E27FC236}">
                <a16:creationId xmlns:a16="http://schemas.microsoft.com/office/drawing/2014/main" id="{AF766487-FDE9-4AC7-8EA9-38B24403D06A}"/>
              </a:ext>
            </a:extLst>
          </p:cNvPr>
          <p:cNvSpPr>
            <a:spLocks noGrp="1"/>
          </p:cNvSpPr>
          <p:nvPr/>
        </p:nvSpPr>
        <p:spPr>
          <a:xfrm>
            <a:off x="6265060" y="6797274"/>
            <a:ext cx="0" cy="180251"/>
          </a:xfrm>
          <a:prstGeom prst="line">
            <a:avLst/>
          </a:prstGeom>
          <a:ln w="13970">
            <a:solidFill>
              <a:srgbClr val="363A52"/>
            </a:solidFill>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889" name="Connector 6890">
            <a:extLst>
              <a:ext uri="{FF2B5EF4-FFF2-40B4-BE49-F238E27FC236}">
                <a16:creationId xmlns:a16="http://schemas.microsoft.com/office/drawing/2014/main" id="{2E8C3A50-CA21-4896-9863-3EE862D1E39B}"/>
              </a:ext>
            </a:extLst>
          </p:cNvPr>
          <p:cNvSpPr>
            <a:spLocks noGrp="1"/>
          </p:cNvSpPr>
          <p:nvPr/>
        </p:nvSpPr>
        <p:spPr>
          <a:xfrm flipH="1">
            <a:off x="5933590" y="6977525"/>
            <a:ext cx="331470" cy="0"/>
          </a:xfrm>
          <a:prstGeom prst="line">
            <a:avLst/>
          </a:prstGeom>
          <a:ln w="1397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891" name="TextBox 6892">
            <a:extLst>
              <a:ext uri="{FF2B5EF4-FFF2-40B4-BE49-F238E27FC236}">
                <a16:creationId xmlns:a16="http://schemas.microsoft.com/office/drawing/2014/main" id="{7C3C34DB-6826-4F22-B2F2-12929F08061B}"/>
              </a:ext>
            </a:extLst>
          </p:cNvPr>
          <p:cNvSpPr>
            <a:spLocks noGrp="1"/>
          </p:cNvSpPr>
          <p:nvPr/>
        </p:nvSpPr>
        <p:spPr>
          <a:xfrm>
            <a:off x="6356500" y="6572274"/>
            <a:ext cx="4562951" cy="221284"/>
          </a:xfrm>
          <a:prstGeom prst="rect">
            <a:avLst/>
          </a:prstGeom>
          <a:noFill/>
        </p:spPr>
        <p:txBody>
          <a:bodyPr wrap="square" lIns="0" tIns="0" rIns="0" bIns="0" anchor="t">
            <a:spAutoFit/>
          </a:bodyPr>
          <a:lstStyle/>
          <a:p>
            <a:pPr algn="l">
              <a:buNone/>
            </a:pPr>
            <a:r>
              <a:rPr sz="1100" b="0">
                <a:solidFill>
                  <a:srgbClr val="2E3142"/>
                </a:solidFill>
                <a:latin typeface="210 OmniGothic 040"/>
                <a:ea typeface="210 OmniGothic 040"/>
                <a:cs typeface="210 OmniGothic 040"/>
              </a:rPr>
              <a:t>변경 없음</a:t>
            </a:r>
          </a:p>
        </p:txBody>
      </p:sp>
      <p:sp>
        <p:nvSpPr>
          <p:cNvPr id="6811" name="Rectangle 6812">
            <a:extLst>
              <a:ext uri="{FF2B5EF4-FFF2-40B4-BE49-F238E27FC236}">
                <a16:creationId xmlns:a16="http://schemas.microsoft.com/office/drawing/2014/main" id="{665D2738-3A32-4C29-9BF5-449F2BE0DFA4}"/>
              </a:ext>
            </a:extLst>
          </p:cNvPr>
          <p:cNvSpPr>
            <a:spLocks noGrp="1"/>
          </p:cNvSpPr>
          <p:nvPr/>
        </p:nvSpPr>
        <p:spPr>
          <a:xfrm>
            <a:off x="1252270" y="3657274"/>
            <a:ext cx="15600580" cy="3430251"/>
          </a:xfrm>
          <a:prstGeom prst="rect">
            <a:avLst/>
          </a:prstGeom>
          <a:noFill/>
          <a:ln w="12700">
            <a:solidFill>
              <a:srgbClr val="FAA95A"/>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endParaRPr/>
          </a:p>
        </p:txBody>
      </p:sp>
      <p:sp>
        <p:nvSpPr>
          <p:cNvPr id="6813" name="Rectangle 6814">
            <a:extLst>
              <a:ext uri="{FF2B5EF4-FFF2-40B4-BE49-F238E27FC236}">
                <a16:creationId xmlns:a16="http://schemas.microsoft.com/office/drawing/2014/main" id="{8EFFE717-F322-4CB4-8DE3-637EC6825BCB}"/>
              </a:ext>
            </a:extLst>
          </p:cNvPr>
          <p:cNvSpPr>
            <a:spLocks noGrp="1"/>
          </p:cNvSpPr>
          <p:nvPr/>
        </p:nvSpPr>
        <p:spPr>
          <a:xfrm>
            <a:off x="1252270" y="3657274"/>
            <a:ext cx="708660" cy="241401"/>
          </a:xfrm>
          <a:prstGeom prst="rect">
            <a:avLst/>
          </a:prstGeom>
          <a:solidFill>
            <a:srgbClr val="FDEBD9"/>
          </a:solidFill>
          <a:ln w="12700">
            <a:solidFill>
              <a:srgbClr val="FAA95A"/>
            </a:solidFill>
          </a:ln>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algn="ctr">
              <a:buNone/>
            </a:pPr>
            <a:r>
              <a:rPr sz="1050" b="1">
                <a:solidFill>
                  <a:srgbClr val="B5601C"/>
                </a:solidFill>
                <a:latin typeface="210 OmniGothic 040"/>
                <a:ea typeface="210 OmniGothic 040"/>
                <a:cs typeface="210 OmniGothic 040"/>
              </a:rPr>
              <a:t>alt</a:t>
            </a:r>
          </a:p>
        </p:txBody>
      </p:sp>
      <p:sp>
        <p:nvSpPr>
          <p:cNvPr id="6815" name="TextBox 6816">
            <a:extLst>
              <a:ext uri="{FF2B5EF4-FFF2-40B4-BE49-F238E27FC236}">
                <a16:creationId xmlns:a16="http://schemas.microsoft.com/office/drawing/2014/main" id="{1D1C3AFF-CE55-439B-8BD5-E412492B979C}"/>
              </a:ext>
            </a:extLst>
          </p:cNvPr>
          <p:cNvSpPr>
            <a:spLocks noGrp="1"/>
          </p:cNvSpPr>
          <p:nvPr/>
        </p:nvSpPr>
        <p:spPr>
          <a:xfrm>
            <a:off x="2060930" y="3667332"/>
            <a:ext cx="5715000" cy="241401"/>
          </a:xfrm>
          <a:prstGeom prst="rect">
            <a:avLst/>
          </a:prstGeom>
          <a:noFill/>
        </p:spPr>
        <p:txBody>
          <a:bodyPr wrap="square" lIns="0" tIns="0" rIns="0" bIns="0" anchor="t">
            <a:spAutoFit/>
          </a:bodyPr>
          <a:lstStyle/>
          <a:p>
            <a:pPr algn="l">
              <a:buNone/>
            </a:pPr>
            <a:r>
              <a:rPr sz="1100" b="0">
                <a:solidFill>
                  <a:srgbClr val="2E3142"/>
                </a:solidFill>
                <a:latin typeface="210 OmniGothic 040"/>
                <a:ea typeface="210 OmniGothic 040"/>
                <a:cs typeface="210 OmniGothic 040"/>
              </a:rPr>
              <a:t>[「종료 처리」]</a:t>
            </a:r>
          </a:p>
        </p:txBody>
      </p:sp>
      <p:sp>
        <p:nvSpPr>
          <p:cNvPr id="6817" name="Connector 6818">
            <a:extLst>
              <a:ext uri="{FF2B5EF4-FFF2-40B4-BE49-F238E27FC236}">
                <a16:creationId xmlns:a16="http://schemas.microsoft.com/office/drawing/2014/main" id="{62F1EECA-7EFE-4D30-9FB1-69CF834E6BBB}"/>
              </a:ext>
            </a:extLst>
          </p:cNvPr>
          <p:cNvSpPr>
            <a:spLocks noGrp="1"/>
          </p:cNvSpPr>
          <p:nvPr/>
        </p:nvSpPr>
        <p:spPr>
          <a:xfrm>
            <a:off x="1252270" y="6507274"/>
            <a:ext cx="15600580" cy="0"/>
          </a:xfrm>
          <a:prstGeom prst="line">
            <a:avLst/>
          </a:prstGeom>
          <a:ln w="11430">
            <a:solidFill>
              <a:srgbClr val="FAA95A"/>
            </a:solidFill>
            <a:prstDash val="dash"/>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819" name="TextBox 6820">
            <a:extLst>
              <a:ext uri="{FF2B5EF4-FFF2-40B4-BE49-F238E27FC236}">
                <a16:creationId xmlns:a16="http://schemas.microsoft.com/office/drawing/2014/main" id="{5A5BFC2F-EF97-4C05-99BC-FBD104F93E36}"/>
              </a:ext>
            </a:extLst>
          </p:cNvPr>
          <p:cNvSpPr>
            <a:spLocks noGrp="1"/>
          </p:cNvSpPr>
          <p:nvPr/>
        </p:nvSpPr>
        <p:spPr>
          <a:xfrm>
            <a:off x="1366570" y="6527391"/>
            <a:ext cx="5715000" cy="241401"/>
          </a:xfrm>
          <a:prstGeom prst="rect">
            <a:avLst/>
          </a:prstGeom>
          <a:noFill/>
        </p:spPr>
        <p:txBody>
          <a:bodyPr wrap="square" lIns="0" tIns="0" rIns="0" bIns="0" anchor="t">
            <a:spAutoFit/>
          </a:bodyPr>
          <a:lstStyle/>
          <a:p>
            <a:pPr algn="l">
              <a:buNone/>
            </a:pPr>
            <a:r>
              <a:rPr sz="1100" b="0">
                <a:solidFill>
                  <a:srgbClr val="2E3142"/>
                </a:solidFill>
                <a:latin typeface="210 OmniGothic 040"/>
                <a:ea typeface="210 OmniGothic 040"/>
                <a:cs typeface="210 OmniGothic 040"/>
              </a:rPr>
              <a:t>[「취소」]</a:t>
            </a:r>
          </a:p>
        </p:txBody>
      </p:sp>
    </p:spTree>
    <p:extLst>
      <p:ext uri="{BB962C8B-B14F-4D97-AF65-F5344CB8AC3E}">
        <p14:creationId xmlns:p14="http://schemas.microsoft.com/office/powerpoint/2010/main" val="23112611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036" name="Picture 2"/>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700" y="-12700"/>
            <a:ext cx="18313400" cy="1638300"/>
          </a:xfrm>
          <a:prstGeom prst="rect">
            <a:avLst/>
          </a:prstGeom>
        </p:spPr>
      </p:pic>
      <p:pic>
        <p:nvPicPr>
          <p:cNvPr id="6037" name="Picture 4"/>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28" y="1618343"/>
            <a:ext cx="18313400" cy="8699500"/>
          </a:xfrm>
          <a:prstGeom prst="rect">
            <a:avLst/>
          </a:prstGeom>
        </p:spPr>
      </p:pic>
      <p:pic>
        <p:nvPicPr>
          <p:cNvPr id="6038" name="Picture 5"/>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58800" y="9271000"/>
            <a:ext cx="17170400" cy="50800"/>
          </a:xfrm>
          <a:prstGeom prst="rect">
            <a:avLst/>
          </a:prstGeom>
        </p:spPr>
      </p:pic>
      <p:pic>
        <p:nvPicPr>
          <p:cNvPr id="6039" name="Picture 3"/>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5278100" y="203200"/>
            <a:ext cx="1676400" cy="1409700"/>
          </a:xfrm>
          <a:prstGeom prst="rect">
            <a:avLst/>
          </a:prstGeom>
        </p:spPr>
      </p:pic>
      <p:sp>
        <p:nvSpPr>
          <p:cNvPr id="5221" name="Title">
            <a:extLst>
              <a:ext uri="{FF2B5EF4-FFF2-40B4-BE49-F238E27FC236}">
                <a16:creationId xmlns:a16="http://schemas.microsoft.com/office/drawing/2014/main" id="{88F9B837-CE81-45C9-96A5-0E8E5A107966}"/>
              </a:ext>
            </a:extLst>
          </p:cNvPr>
          <p:cNvSpPr>
            <a:spLocks noGrp="1"/>
          </p:cNvSpPr>
          <p:nvPr/>
        </p:nvSpPr>
        <p:spPr>
          <a:xfrm>
            <a:off x="822960" y="384048"/>
            <a:ext cx="13258800" cy="877824"/>
          </a:xfrm>
          <a:prstGeom prst="rect">
            <a:avLst/>
          </a:prstGeom>
          <a:noFill/>
        </p:spPr>
        <p:txBody>
          <a:bodyPr wrap="square" lIns="0" tIns="0" rIns="0" bIns="0" anchor="ctr">
            <a:spAutoFit/>
          </a:bodyPr>
          <a:lstStyle/>
          <a:p>
            <a:pPr algn="l">
              <a:buNone/>
            </a:pPr>
            <a:r>
              <a:rPr sz="4400" b="0">
                <a:solidFill>
                  <a:srgbClr val="FAA95A"/>
                </a:solidFill>
                <a:latin typeface="210 OmniGothic 050"/>
                <a:ea typeface="210 OmniGothic 050"/>
                <a:cs typeface="210 OmniGothic 050"/>
              </a:rPr>
              <a:t>04. 시퀀스 다이어그램</a:t>
            </a:r>
          </a:p>
        </p:txBody>
      </p:sp>
      <p:sp>
        <p:nvSpPr>
          <p:cNvPr id="5222" name="Subtitle">
            <a:extLst>
              <a:ext uri="{FF2B5EF4-FFF2-40B4-BE49-F238E27FC236}">
                <a16:creationId xmlns:a16="http://schemas.microsoft.com/office/drawing/2014/main" id="{C8543274-BF9A-4B99-AE13-DA28E384BB63}"/>
              </a:ext>
            </a:extLst>
          </p:cNvPr>
          <p:cNvSpPr>
            <a:spLocks noGrp="1"/>
          </p:cNvSpPr>
          <p:nvPr/>
        </p:nvSpPr>
        <p:spPr>
          <a:xfrm>
            <a:off x="822960" y="1764792"/>
            <a:ext cx="16642080" cy="502920"/>
          </a:xfrm>
          <a:prstGeom prst="rect">
            <a:avLst/>
          </a:prstGeom>
          <a:noFill/>
        </p:spPr>
        <p:txBody>
          <a:bodyPr wrap="square" lIns="0" tIns="0" rIns="0" bIns="0" anchor="ctr">
            <a:spAutoFit/>
          </a:bodyPr>
          <a:lstStyle/>
          <a:p>
            <a:pPr algn="ctr">
              <a:buNone/>
            </a:pPr>
            <a:r>
              <a:rPr sz="2600" b="1">
                <a:solidFill>
                  <a:srgbClr val="363A52"/>
                </a:solidFill>
                <a:latin typeface="210 OmniGothic 040"/>
                <a:ea typeface="210 OmniGothic 040"/>
                <a:cs typeface="210 OmniGothic 040"/>
              </a:rPr>
              <a:t>산불 발생·접수 정보 조회  (UC-SIT-02)</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idx="12"/>
          </p:nvPr>
        </p:nvSpPr>
        <p:spPr/>
        <p:txBody>
          <a:bodyPr/>
          <a:lstStyle/>
          <a:p>
            <a:fld id="{B6F15528-21DE-4FAA-801E-634DDDAF4B2B}" type="slidenum">
              <a:t>39</a:t>
            </a:fld>
            <a:endParaRPr/>
          </a:p>
        </p:txBody>
      </p:sp>
      <p:sp>
        <p:nvSpPr>
          <p:cNvPr id="6021" name="Rounded Rectangle 6022">
            <a:extLst>
              <a:ext uri="{FF2B5EF4-FFF2-40B4-BE49-F238E27FC236}">
                <a16:creationId xmlns:a16="http://schemas.microsoft.com/office/drawing/2014/main" id="{D8624E2E-75F0-4610-99B8-EB8988753FE8}"/>
              </a:ext>
            </a:extLst>
          </p:cNvPr>
          <p:cNvSpPr>
            <a:spLocks noGrp="1"/>
          </p:cNvSpPr>
          <p:nvPr/>
        </p:nvSpPr>
        <p:spPr>
          <a:xfrm>
            <a:off x="1909560" y="2446020"/>
            <a:ext cx="2286000" cy="462686"/>
          </a:xfrm>
          <a:prstGeom prst="roundRect">
            <a:avLst>
              <a:gd name="adj" fmla="val 10000"/>
            </a:avLst>
          </a:prstGeom>
          <a:solidFill>
            <a:srgbClr val="E6E9F1"/>
          </a:solidFill>
          <a:ln w="12700">
            <a:solidFill>
              <a:srgbClr val="B6BCCB"/>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r>
              <a:rPr sz="1250" b="1">
                <a:solidFill>
                  <a:srgbClr val="2E3142"/>
                </a:solidFill>
                <a:latin typeface="210 OmniGothic 040"/>
                <a:ea typeface="210 OmniGothic 040"/>
                <a:cs typeface="210 OmniGothic 040"/>
              </a:rPr>
              <a:t>사용자</a:t>
            </a:r>
          </a:p>
        </p:txBody>
      </p:sp>
      <p:sp>
        <p:nvSpPr>
          <p:cNvPr id="6023" name="Connector 6024">
            <a:extLst>
              <a:ext uri="{FF2B5EF4-FFF2-40B4-BE49-F238E27FC236}">
                <a16:creationId xmlns:a16="http://schemas.microsoft.com/office/drawing/2014/main" id="{E4FA52CB-B1C9-41E6-B6CA-03E8F7070EC8}"/>
              </a:ext>
            </a:extLst>
          </p:cNvPr>
          <p:cNvSpPr>
            <a:spLocks noGrp="1"/>
          </p:cNvSpPr>
          <p:nvPr/>
        </p:nvSpPr>
        <p:spPr>
          <a:xfrm>
            <a:off x="3052560" y="2908706"/>
            <a:ext cx="0" cy="6145682"/>
          </a:xfrm>
          <a:prstGeom prst="line">
            <a:avLst/>
          </a:prstGeom>
          <a:ln w="11430">
            <a:solidFill>
              <a:srgbClr val="A3A8B8"/>
            </a:solidFill>
            <a:prstDash val="dash"/>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025" name="Rounded Rectangle 6026">
            <a:extLst>
              <a:ext uri="{FF2B5EF4-FFF2-40B4-BE49-F238E27FC236}">
                <a16:creationId xmlns:a16="http://schemas.microsoft.com/office/drawing/2014/main" id="{4656C1C0-3BDB-4113-8100-57AE5015D287}"/>
              </a:ext>
            </a:extLst>
          </p:cNvPr>
          <p:cNvSpPr>
            <a:spLocks noGrp="1"/>
          </p:cNvSpPr>
          <p:nvPr/>
        </p:nvSpPr>
        <p:spPr>
          <a:xfrm>
            <a:off x="7909560" y="2446020"/>
            <a:ext cx="2286000" cy="462686"/>
          </a:xfrm>
          <a:prstGeom prst="roundRect">
            <a:avLst>
              <a:gd name="adj" fmla="val 10000"/>
            </a:avLst>
          </a:prstGeom>
          <a:solidFill>
            <a:srgbClr val="E6E9F1"/>
          </a:solidFill>
          <a:ln w="12700">
            <a:solidFill>
              <a:srgbClr val="B6BCCB"/>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r>
              <a:rPr sz="1250" b="1">
                <a:solidFill>
                  <a:srgbClr val="2E3142"/>
                </a:solidFill>
                <a:latin typeface="210 OmniGothic 040"/>
                <a:ea typeface="210 OmniGothic 040"/>
                <a:cs typeface="210 OmniGothic 040"/>
              </a:rPr>
              <a:t>프론트엔드</a:t>
            </a:r>
          </a:p>
        </p:txBody>
      </p:sp>
      <p:sp>
        <p:nvSpPr>
          <p:cNvPr id="6027" name="Connector 6028">
            <a:extLst>
              <a:ext uri="{FF2B5EF4-FFF2-40B4-BE49-F238E27FC236}">
                <a16:creationId xmlns:a16="http://schemas.microsoft.com/office/drawing/2014/main" id="{FD01763B-0EFA-4F32-800E-7A74425C4BBF}"/>
              </a:ext>
            </a:extLst>
          </p:cNvPr>
          <p:cNvSpPr>
            <a:spLocks noGrp="1"/>
          </p:cNvSpPr>
          <p:nvPr/>
        </p:nvSpPr>
        <p:spPr>
          <a:xfrm>
            <a:off x="9052560" y="2908706"/>
            <a:ext cx="0" cy="6145682"/>
          </a:xfrm>
          <a:prstGeom prst="line">
            <a:avLst/>
          </a:prstGeom>
          <a:ln w="11430">
            <a:solidFill>
              <a:srgbClr val="A3A8B8"/>
            </a:solidFill>
            <a:prstDash val="dash"/>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029" name="Rounded Rectangle 6030">
            <a:extLst>
              <a:ext uri="{FF2B5EF4-FFF2-40B4-BE49-F238E27FC236}">
                <a16:creationId xmlns:a16="http://schemas.microsoft.com/office/drawing/2014/main" id="{EACF3C5C-A3CC-429D-B4CE-6B18EBF7E5BE}"/>
              </a:ext>
            </a:extLst>
          </p:cNvPr>
          <p:cNvSpPr>
            <a:spLocks noGrp="1"/>
          </p:cNvSpPr>
          <p:nvPr/>
        </p:nvSpPr>
        <p:spPr>
          <a:xfrm>
            <a:off x="13909560" y="2446020"/>
            <a:ext cx="2286000" cy="462686"/>
          </a:xfrm>
          <a:prstGeom prst="roundRect">
            <a:avLst>
              <a:gd name="adj" fmla="val 10000"/>
            </a:avLst>
          </a:prstGeom>
          <a:solidFill>
            <a:srgbClr val="E6E9F1"/>
          </a:solidFill>
          <a:ln w="12700">
            <a:solidFill>
              <a:srgbClr val="B6BCCB"/>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r>
              <a:rPr sz="1250" b="1">
                <a:solidFill>
                  <a:srgbClr val="2E3142"/>
                </a:solidFill>
                <a:latin typeface="210 OmniGothic 040"/>
                <a:ea typeface="210 OmniGothic 040"/>
                <a:cs typeface="210 OmniGothic 040"/>
              </a:rPr>
              <a:t>IncidentRouter</a:t>
            </a:r>
          </a:p>
        </p:txBody>
      </p:sp>
      <p:sp>
        <p:nvSpPr>
          <p:cNvPr id="6031" name="Connector 6032">
            <a:extLst>
              <a:ext uri="{FF2B5EF4-FFF2-40B4-BE49-F238E27FC236}">
                <a16:creationId xmlns:a16="http://schemas.microsoft.com/office/drawing/2014/main" id="{BE20B21C-C1BF-4D93-9C34-687014886D39}"/>
              </a:ext>
            </a:extLst>
          </p:cNvPr>
          <p:cNvSpPr>
            <a:spLocks noGrp="1"/>
          </p:cNvSpPr>
          <p:nvPr/>
        </p:nvSpPr>
        <p:spPr>
          <a:xfrm>
            <a:off x="15052560" y="2908706"/>
            <a:ext cx="0" cy="6145682"/>
          </a:xfrm>
          <a:prstGeom prst="line">
            <a:avLst/>
          </a:prstGeom>
          <a:ln w="11430">
            <a:solidFill>
              <a:srgbClr val="A3A8B8"/>
            </a:solidFill>
            <a:prstDash val="dash"/>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001" name="Rectangle 6002">
            <a:extLst>
              <a:ext uri="{FF2B5EF4-FFF2-40B4-BE49-F238E27FC236}">
                <a16:creationId xmlns:a16="http://schemas.microsoft.com/office/drawing/2014/main" id="{C5594C98-4A02-42AF-8462-50A8CA59282E}"/>
              </a:ext>
            </a:extLst>
          </p:cNvPr>
          <p:cNvSpPr>
            <a:spLocks noGrp="1"/>
          </p:cNvSpPr>
          <p:nvPr/>
        </p:nvSpPr>
        <p:spPr>
          <a:xfrm>
            <a:off x="14982560" y="3632274"/>
            <a:ext cx="140000" cy="250000"/>
          </a:xfrm>
          <a:prstGeom prst="rect">
            <a:avLst/>
          </a:prstGeom>
          <a:solidFill>
            <a:srgbClr val="FFFFFF"/>
          </a:solidFill>
          <a:ln w="9525">
            <a:solidFill>
              <a:srgbClr val="363A52"/>
            </a:solidFill>
          </a:ln>
        </p:spPr>
        <p:style>
          <a:lnRef idx="1">
            <a:schemeClr val="accent1"/>
          </a:lnRef>
          <a:fillRef idx="3">
            <a:schemeClr val="accent1"/>
          </a:fillRef>
          <a:effectRef idx="2">
            <a:schemeClr val="accent1"/>
          </a:effectRef>
          <a:fontRef idx="minor">
            <a:schemeClr val="lt1"/>
          </a:fontRef>
        </p:style>
        <p:txBody>
          <a:bodyPr wrap="square" lIns="0" rIns="0" anchor="ctr"/>
          <a:lstStyle/>
          <a:p>
            <a:pPr algn="ctr">
              <a:buNone/>
            </a:pPr>
            <a:endParaRPr/>
          </a:p>
        </p:txBody>
      </p:sp>
      <p:sp>
        <p:nvSpPr>
          <p:cNvPr id="6003" name="Rectangle 6004">
            <a:extLst>
              <a:ext uri="{FF2B5EF4-FFF2-40B4-BE49-F238E27FC236}">
                <a16:creationId xmlns:a16="http://schemas.microsoft.com/office/drawing/2014/main" id="{36CEC6BA-DEC9-4E84-8AAA-68969BB7561B}"/>
              </a:ext>
            </a:extLst>
          </p:cNvPr>
          <p:cNvSpPr>
            <a:spLocks noGrp="1"/>
          </p:cNvSpPr>
          <p:nvPr/>
        </p:nvSpPr>
        <p:spPr>
          <a:xfrm>
            <a:off x="8982560" y="3382274"/>
            <a:ext cx="140000" cy="750000"/>
          </a:xfrm>
          <a:prstGeom prst="rect">
            <a:avLst/>
          </a:prstGeom>
          <a:solidFill>
            <a:srgbClr val="FFFFFF"/>
          </a:solidFill>
          <a:ln w="9525">
            <a:solidFill>
              <a:srgbClr val="363A52"/>
            </a:solidFill>
          </a:ln>
        </p:spPr>
        <p:style>
          <a:lnRef idx="1">
            <a:schemeClr val="accent1"/>
          </a:lnRef>
          <a:fillRef idx="3">
            <a:schemeClr val="accent1"/>
          </a:fillRef>
          <a:effectRef idx="2">
            <a:schemeClr val="accent1"/>
          </a:effectRef>
          <a:fontRef idx="minor">
            <a:schemeClr val="lt1"/>
          </a:fontRef>
        </p:style>
        <p:txBody>
          <a:bodyPr wrap="square" lIns="0" rIns="0" anchor="ctr"/>
          <a:lstStyle/>
          <a:p>
            <a:pPr algn="ctr">
              <a:buNone/>
            </a:pPr>
            <a:endParaRPr/>
          </a:p>
        </p:txBody>
      </p:sp>
      <p:sp>
        <p:nvSpPr>
          <p:cNvPr id="6005" name="TextBox 6006">
            <a:extLst>
              <a:ext uri="{FF2B5EF4-FFF2-40B4-BE49-F238E27FC236}">
                <a16:creationId xmlns:a16="http://schemas.microsoft.com/office/drawing/2014/main" id="{F1BDF8DF-6F1F-4725-BA0E-125735919FBC}"/>
              </a:ext>
            </a:extLst>
          </p:cNvPr>
          <p:cNvSpPr>
            <a:spLocks noGrp="1"/>
          </p:cNvSpPr>
          <p:nvPr/>
        </p:nvSpPr>
        <p:spPr>
          <a:xfrm>
            <a:off x="3052560" y="3157274"/>
            <a:ext cx="600000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산불현황 → 진행 중 산불 선택</a:t>
            </a:r>
          </a:p>
        </p:txBody>
      </p:sp>
      <p:sp>
        <p:nvSpPr>
          <p:cNvPr id="6007" name="Connector 6008">
            <a:extLst>
              <a:ext uri="{FF2B5EF4-FFF2-40B4-BE49-F238E27FC236}">
                <a16:creationId xmlns:a16="http://schemas.microsoft.com/office/drawing/2014/main" id="{6436E4B2-E3F5-442F-99B7-C627E68D6448}"/>
              </a:ext>
            </a:extLst>
          </p:cNvPr>
          <p:cNvSpPr>
            <a:spLocks noGrp="1"/>
          </p:cNvSpPr>
          <p:nvPr/>
        </p:nvSpPr>
        <p:spPr>
          <a:xfrm>
            <a:off x="3052560" y="3382274"/>
            <a:ext cx="5930000" cy="0"/>
          </a:xfrm>
          <a:prstGeom prst="line">
            <a:avLst/>
          </a:prstGeom>
          <a:ln w="1397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009" name="TextBox 6010">
            <a:extLst>
              <a:ext uri="{FF2B5EF4-FFF2-40B4-BE49-F238E27FC236}">
                <a16:creationId xmlns:a16="http://schemas.microsoft.com/office/drawing/2014/main" id="{48DD872A-B935-4682-909D-08E2DD868F7D}"/>
              </a:ext>
            </a:extLst>
          </p:cNvPr>
          <p:cNvSpPr>
            <a:spLocks noGrp="1"/>
          </p:cNvSpPr>
          <p:nvPr/>
        </p:nvSpPr>
        <p:spPr>
          <a:xfrm>
            <a:off x="9052560" y="3407274"/>
            <a:ext cx="600000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GET /incidents?status=진행,접수 · /incidents/{id}</a:t>
            </a:r>
          </a:p>
        </p:txBody>
      </p:sp>
      <p:sp>
        <p:nvSpPr>
          <p:cNvPr id="6011" name="Connector 6012">
            <a:extLst>
              <a:ext uri="{FF2B5EF4-FFF2-40B4-BE49-F238E27FC236}">
                <a16:creationId xmlns:a16="http://schemas.microsoft.com/office/drawing/2014/main" id="{C51547ED-D34C-4A01-ADBC-25EC47CDFA6A}"/>
              </a:ext>
            </a:extLst>
          </p:cNvPr>
          <p:cNvSpPr>
            <a:spLocks noGrp="1"/>
          </p:cNvSpPr>
          <p:nvPr/>
        </p:nvSpPr>
        <p:spPr>
          <a:xfrm>
            <a:off x="9122560" y="3632274"/>
            <a:ext cx="5860000" cy="0"/>
          </a:xfrm>
          <a:prstGeom prst="line">
            <a:avLst/>
          </a:prstGeom>
          <a:ln w="1397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013" name="TextBox 6014">
            <a:extLst>
              <a:ext uri="{FF2B5EF4-FFF2-40B4-BE49-F238E27FC236}">
                <a16:creationId xmlns:a16="http://schemas.microsoft.com/office/drawing/2014/main" id="{0921A0A2-A138-45EA-8789-F9399C818314}"/>
              </a:ext>
            </a:extLst>
          </p:cNvPr>
          <p:cNvSpPr>
            <a:spLocks noGrp="1"/>
          </p:cNvSpPr>
          <p:nvPr/>
        </p:nvSpPr>
        <p:spPr>
          <a:xfrm>
            <a:off x="9052560" y="3657274"/>
            <a:ext cx="600000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발생·접수 정보, 진행상태, 실측 화선</a:t>
            </a:r>
          </a:p>
        </p:txBody>
      </p:sp>
      <p:sp>
        <p:nvSpPr>
          <p:cNvPr id="6015" name="Connector 6016">
            <a:extLst>
              <a:ext uri="{FF2B5EF4-FFF2-40B4-BE49-F238E27FC236}">
                <a16:creationId xmlns:a16="http://schemas.microsoft.com/office/drawing/2014/main" id="{DEA0891B-B92F-4431-AF73-FBC46AB9D943}"/>
              </a:ext>
            </a:extLst>
          </p:cNvPr>
          <p:cNvSpPr>
            <a:spLocks noGrp="1"/>
          </p:cNvSpPr>
          <p:nvPr/>
        </p:nvSpPr>
        <p:spPr>
          <a:xfrm flipH="1">
            <a:off x="9122560" y="3882274"/>
            <a:ext cx="5860000" cy="0"/>
          </a:xfrm>
          <a:prstGeom prst="line">
            <a:avLst/>
          </a:prstGeom>
          <a:ln w="13970">
            <a:solidFill>
              <a:srgbClr val="6B7080"/>
            </a:solidFill>
            <a:prstDash val="dash"/>
            <a:tailEnd type="arrow"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017" name="TextBox 6018">
            <a:extLst>
              <a:ext uri="{FF2B5EF4-FFF2-40B4-BE49-F238E27FC236}">
                <a16:creationId xmlns:a16="http://schemas.microsoft.com/office/drawing/2014/main" id="{B7030D48-88B2-4DE4-ADAF-CB1A78AE4221}"/>
              </a:ext>
            </a:extLst>
          </p:cNvPr>
          <p:cNvSpPr>
            <a:spLocks noGrp="1"/>
          </p:cNvSpPr>
          <p:nvPr/>
        </p:nvSpPr>
        <p:spPr>
          <a:xfrm>
            <a:off x="3052560" y="3907274"/>
            <a:ext cx="600000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목록·상세 표시</a:t>
            </a:r>
          </a:p>
        </p:txBody>
      </p:sp>
      <p:sp>
        <p:nvSpPr>
          <p:cNvPr id="6019" name="Connector 6020">
            <a:extLst>
              <a:ext uri="{FF2B5EF4-FFF2-40B4-BE49-F238E27FC236}">
                <a16:creationId xmlns:a16="http://schemas.microsoft.com/office/drawing/2014/main" id="{4A64BD4C-D9DB-45C2-BAEF-E51F5DD6DC1E}"/>
              </a:ext>
            </a:extLst>
          </p:cNvPr>
          <p:cNvSpPr>
            <a:spLocks noGrp="1"/>
          </p:cNvSpPr>
          <p:nvPr/>
        </p:nvSpPr>
        <p:spPr>
          <a:xfrm flipH="1">
            <a:off x="3052560" y="4132274"/>
            <a:ext cx="5930000" cy="0"/>
          </a:xfrm>
          <a:prstGeom prst="line">
            <a:avLst/>
          </a:prstGeom>
          <a:ln w="13970">
            <a:solidFill>
              <a:srgbClr val="6B7080"/>
            </a:solidFill>
            <a:prstDash val="dash"/>
            <a:tailEnd type="arrow"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Tree>
    <p:extLst>
      <p:ext uri="{BB962C8B-B14F-4D97-AF65-F5344CB8AC3E}">
        <p14:creationId xmlns:p14="http://schemas.microsoft.com/office/powerpoint/2010/main" val="20261171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32" name="Picture 2"/>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700" y="-12700"/>
            <a:ext cx="18313400" cy="1638300"/>
          </a:xfrm>
          <a:prstGeom prst="rect">
            <a:avLst/>
          </a:prstGeom>
        </p:spPr>
      </p:pic>
      <p:pic>
        <p:nvPicPr>
          <p:cNvPr id="6133" name="Picture 4"/>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28" y="1618343"/>
            <a:ext cx="18313400" cy="8699500"/>
          </a:xfrm>
          <a:prstGeom prst="rect">
            <a:avLst/>
          </a:prstGeom>
        </p:spPr>
      </p:pic>
      <p:pic>
        <p:nvPicPr>
          <p:cNvPr id="6134" name="Picture 5"/>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58800" y="9271000"/>
            <a:ext cx="17170400" cy="50800"/>
          </a:xfrm>
          <a:prstGeom prst="rect">
            <a:avLst/>
          </a:prstGeom>
        </p:spPr>
      </p:pic>
      <p:pic>
        <p:nvPicPr>
          <p:cNvPr id="6135" name="Picture 3"/>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5278100" y="203200"/>
            <a:ext cx="1676400" cy="1409700"/>
          </a:xfrm>
          <a:prstGeom prst="rect">
            <a:avLst/>
          </a:prstGeom>
        </p:spPr>
      </p:pic>
      <p:sp>
        <p:nvSpPr>
          <p:cNvPr id="5221" name="Title">
            <a:extLst>
              <a:ext uri="{FF2B5EF4-FFF2-40B4-BE49-F238E27FC236}">
                <a16:creationId xmlns:a16="http://schemas.microsoft.com/office/drawing/2014/main" id="{00D54AAE-70DD-4925-AE3D-6746CC65C5E3}"/>
              </a:ext>
            </a:extLst>
          </p:cNvPr>
          <p:cNvSpPr>
            <a:spLocks noGrp="1"/>
          </p:cNvSpPr>
          <p:nvPr/>
        </p:nvSpPr>
        <p:spPr>
          <a:xfrm>
            <a:off x="822960" y="384048"/>
            <a:ext cx="13258800" cy="877824"/>
          </a:xfrm>
          <a:prstGeom prst="rect">
            <a:avLst/>
          </a:prstGeom>
          <a:noFill/>
        </p:spPr>
        <p:txBody>
          <a:bodyPr wrap="square" lIns="0" tIns="0" rIns="0" bIns="0" anchor="ctr">
            <a:spAutoFit/>
          </a:bodyPr>
          <a:lstStyle/>
          <a:p>
            <a:pPr algn="l">
              <a:buNone/>
            </a:pPr>
            <a:r>
              <a:rPr sz="4400" b="0">
                <a:solidFill>
                  <a:srgbClr val="FAA95A"/>
                </a:solidFill>
                <a:latin typeface="210 OmniGothic 050"/>
                <a:ea typeface="210 OmniGothic 050"/>
                <a:cs typeface="210 OmniGothic 050"/>
              </a:rPr>
              <a:t>04. 시퀀스 다이어그램</a:t>
            </a:r>
          </a:p>
        </p:txBody>
      </p:sp>
      <p:sp>
        <p:nvSpPr>
          <p:cNvPr id="5222" name="Subtitle">
            <a:extLst>
              <a:ext uri="{FF2B5EF4-FFF2-40B4-BE49-F238E27FC236}">
                <a16:creationId xmlns:a16="http://schemas.microsoft.com/office/drawing/2014/main" id="{CBFF0D17-5648-473A-BBE3-439E8FBF51DE}"/>
              </a:ext>
            </a:extLst>
          </p:cNvPr>
          <p:cNvSpPr>
            <a:spLocks noGrp="1"/>
          </p:cNvSpPr>
          <p:nvPr/>
        </p:nvSpPr>
        <p:spPr>
          <a:xfrm>
            <a:off x="822960" y="1764792"/>
            <a:ext cx="16642080" cy="502920"/>
          </a:xfrm>
          <a:prstGeom prst="rect">
            <a:avLst/>
          </a:prstGeom>
          <a:noFill/>
        </p:spPr>
        <p:txBody>
          <a:bodyPr wrap="square" lIns="0" tIns="0" rIns="0" bIns="0" anchor="ctr">
            <a:spAutoFit/>
          </a:bodyPr>
          <a:lstStyle/>
          <a:p>
            <a:pPr algn="ctr">
              <a:buNone/>
            </a:pPr>
            <a:r>
              <a:rPr sz="2600" b="1">
                <a:solidFill>
                  <a:srgbClr val="363A52"/>
                </a:solidFill>
                <a:latin typeface="210 OmniGothic 040"/>
                <a:ea typeface="210 OmniGothic 040"/>
                <a:cs typeface="210 OmniGothic 040"/>
              </a:rPr>
              <a:t>통합 상황도 조회  (UC-SIT-03)</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idx="12"/>
          </p:nvPr>
        </p:nvSpPr>
        <p:spPr/>
        <p:txBody>
          <a:bodyPr/>
          <a:lstStyle/>
          <a:p>
            <a:fld id="{B6F15528-21DE-4FAA-801E-634DDDAF4B2B}" type="slidenum">
              <a:t>40</a:t>
            </a:fld>
            <a:endParaRPr/>
          </a:p>
        </p:txBody>
      </p:sp>
      <p:sp>
        <p:nvSpPr>
          <p:cNvPr id="6109" name="Rounded Rectangle 6110">
            <a:extLst>
              <a:ext uri="{FF2B5EF4-FFF2-40B4-BE49-F238E27FC236}">
                <a16:creationId xmlns:a16="http://schemas.microsoft.com/office/drawing/2014/main" id="{F5894C08-7D00-4B7D-AA9A-667B497873FB}"/>
              </a:ext>
            </a:extLst>
          </p:cNvPr>
          <p:cNvSpPr>
            <a:spLocks noGrp="1"/>
          </p:cNvSpPr>
          <p:nvPr/>
        </p:nvSpPr>
        <p:spPr>
          <a:xfrm>
            <a:off x="1463040" y="2446020"/>
            <a:ext cx="2286000" cy="462686"/>
          </a:xfrm>
          <a:prstGeom prst="roundRect">
            <a:avLst>
              <a:gd name="adj" fmla="val 10000"/>
            </a:avLst>
          </a:prstGeom>
          <a:solidFill>
            <a:srgbClr val="E6E9F1"/>
          </a:solidFill>
          <a:ln w="12700">
            <a:solidFill>
              <a:srgbClr val="B6BCCB"/>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r>
              <a:rPr sz="1250" b="1">
                <a:solidFill>
                  <a:srgbClr val="2E3142"/>
                </a:solidFill>
                <a:latin typeface="210 OmniGothic 040"/>
                <a:ea typeface="210 OmniGothic 040"/>
                <a:cs typeface="210 OmniGothic 040"/>
              </a:rPr>
              <a:t>사용자</a:t>
            </a:r>
          </a:p>
        </p:txBody>
      </p:sp>
      <p:sp>
        <p:nvSpPr>
          <p:cNvPr id="6111" name="Connector 6112">
            <a:extLst>
              <a:ext uri="{FF2B5EF4-FFF2-40B4-BE49-F238E27FC236}">
                <a16:creationId xmlns:a16="http://schemas.microsoft.com/office/drawing/2014/main" id="{8B2999C3-9A2C-4BDA-A645-C49CE417ED43}"/>
              </a:ext>
            </a:extLst>
          </p:cNvPr>
          <p:cNvSpPr>
            <a:spLocks noGrp="1"/>
          </p:cNvSpPr>
          <p:nvPr/>
        </p:nvSpPr>
        <p:spPr>
          <a:xfrm>
            <a:off x="2606040" y="2908706"/>
            <a:ext cx="0" cy="6145682"/>
          </a:xfrm>
          <a:prstGeom prst="line">
            <a:avLst/>
          </a:prstGeom>
          <a:ln w="11430">
            <a:solidFill>
              <a:srgbClr val="A3A8B8"/>
            </a:solidFill>
            <a:prstDash val="dash"/>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113" name="Rounded Rectangle 6114">
            <a:extLst>
              <a:ext uri="{FF2B5EF4-FFF2-40B4-BE49-F238E27FC236}">
                <a16:creationId xmlns:a16="http://schemas.microsoft.com/office/drawing/2014/main" id="{1A2A65FE-71A0-4957-BF92-08D30327C3A2}"/>
              </a:ext>
            </a:extLst>
          </p:cNvPr>
          <p:cNvSpPr>
            <a:spLocks noGrp="1"/>
          </p:cNvSpPr>
          <p:nvPr/>
        </p:nvSpPr>
        <p:spPr>
          <a:xfrm>
            <a:off x="4686300" y="2446020"/>
            <a:ext cx="2286000" cy="462686"/>
          </a:xfrm>
          <a:prstGeom prst="roundRect">
            <a:avLst>
              <a:gd name="adj" fmla="val 10000"/>
            </a:avLst>
          </a:prstGeom>
          <a:solidFill>
            <a:srgbClr val="E6E9F1"/>
          </a:solidFill>
          <a:ln w="12700">
            <a:solidFill>
              <a:srgbClr val="B6BCCB"/>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r>
              <a:rPr sz="1250" b="1">
                <a:solidFill>
                  <a:srgbClr val="2E3142"/>
                </a:solidFill>
                <a:latin typeface="210 OmniGothic 040"/>
                <a:ea typeface="210 OmniGothic 040"/>
                <a:cs typeface="210 OmniGothic 040"/>
              </a:rPr>
              <a:t>프론트엔드</a:t>
            </a:r>
          </a:p>
        </p:txBody>
      </p:sp>
      <p:sp>
        <p:nvSpPr>
          <p:cNvPr id="6115" name="Connector 6116">
            <a:extLst>
              <a:ext uri="{FF2B5EF4-FFF2-40B4-BE49-F238E27FC236}">
                <a16:creationId xmlns:a16="http://schemas.microsoft.com/office/drawing/2014/main" id="{6FCB2F31-768F-4085-8AF2-95A473E78E4A}"/>
              </a:ext>
            </a:extLst>
          </p:cNvPr>
          <p:cNvSpPr>
            <a:spLocks noGrp="1"/>
          </p:cNvSpPr>
          <p:nvPr/>
        </p:nvSpPr>
        <p:spPr>
          <a:xfrm>
            <a:off x="5829300" y="2908706"/>
            <a:ext cx="0" cy="6145682"/>
          </a:xfrm>
          <a:prstGeom prst="line">
            <a:avLst/>
          </a:prstGeom>
          <a:ln w="11430">
            <a:solidFill>
              <a:srgbClr val="A3A8B8"/>
            </a:solidFill>
            <a:prstDash val="dash"/>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117" name="Rounded Rectangle 6118">
            <a:extLst>
              <a:ext uri="{FF2B5EF4-FFF2-40B4-BE49-F238E27FC236}">
                <a16:creationId xmlns:a16="http://schemas.microsoft.com/office/drawing/2014/main" id="{0ECE3A31-8282-4518-B883-B356DF15ACF7}"/>
              </a:ext>
            </a:extLst>
          </p:cNvPr>
          <p:cNvSpPr>
            <a:spLocks noGrp="1"/>
          </p:cNvSpPr>
          <p:nvPr/>
        </p:nvSpPr>
        <p:spPr>
          <a:xfrm>
            <a:off x="7909560" y="2446020"/>
            <a:ext cx="2286000" cy="462686"/>
          </a:xfrm>
          <a:prstGeom prst="roundRect">
            <a:avLst>
              <a:gd name="adj" fmla="val 10000"/>
            </a:avLst>
          </a:prstGeom>
          <a:solidFill>
            <a:srgbClr val="E6E9F1"/>
          </a:solidFill>
          <a:ln w="12700">
            <a:solidFill>
              <a:srgbClr val="B6BCCB"/>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r>
              <a:rPr sz="1250" b="1">
                <a:solidFill>
                  <a:srgbClr val="2E3142"/>
                </a:solidFill>
                <a:latin typeface="210 OmniGothic 040"/>
                <a:ea typeface="210 OmniGothic 040"/>
                <a:cs typeface="210 OmniGothic 040"/>
              </a:rPr>
              <a:t>지도 타일 서버</a:t>
            </a:r>
          </a:p>
        </p:txBody>
      </p:sp>
      <p:sp>
        <p:nvSpPr>
          <p:cNvPr id="6119" name="Connector 6120">
            <a:extLst>
              <a:ext uri="{FF2B5EF4-FFF2-40B4-BE49-F238E27FC236}">
                <a16:creationId xmlns:a16="http://schemas.microsoft.com/office/drawing/2014/main" id="{E169D0D7-2E65-42DB-BEBD-8539594A7DD9}"/>
              </a:ext>
            </a:extLst>
          </p:cNvPr>
          <p:cNvSpPr>
            <a:spLocks noGrp="1"/>
          </p:cNvSpPr>
          <p:nvPr/>
        </p:nvSpPr>
        <p:spPr>
          <a:xfrm>
            <a:off x="9052560" y="2908706"/>
            <a:ext cx="0" cy="6145682"/>
          </a:xfrm>
          <a:prstGeom prst="line">
            <a:avLst/>
          </a:prstGeom>
          <a:ln w="11430">
            <a:solidFill>
              <a:srgbClr val="A3A8B8"/>
            </a:solidFill>
            <a:prstDash val="dash"/>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121" name="Rounded Rectangle 6122">
            <a:extLst>
              <a:ext uri="{FF2B5EF4-FFF2-40B4-BE49-F238E27FC236}">
                <a16:creationId xmlns:a16="http://schemas.microsoft.com/office/drawing/2014/main" id="{99810987-7E5D-444D-B4ED-2A4DE6E796A4}"/>
              </a:ext>
            </a:extLst>
          </p:cNvPr>
          <p:cNvSpPr>
            <a:spLocks noGrp="1"/>
          </p:cNvSpPr>
          <p:nvPr/>
        </p:nvSpPr>
        <p:spPr>
          <a:xfrm>
            <a:off x="11132820" y="2446020"/>
            <a:ext cx="2286000" cy="462686"/>
          </a:xfrm>
          <a:prstGeom prst="roundRect">
            <a:avLst>
              <a:gd name="adj" fmla="val 10000"/>
            </a:avLst>
          </a:prstGeom>
          <a:solidFill>
            <a:srgbClr val="E6E9F1"/>
          </a:solidFill>
          <a:ln w="12700">
            <a:solidFill>
              <a:srgbClr val="B6BCCB"/>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r>
              <a:rPr sz="1250" b="1">
                <a:solidFill>
                  <a:srgbClr val="2E3142"/>
                </a:solidFill>
                <a:latin typeface="210 OmniGothic 040"/>
                <a:ea typeface="210 OmniGothic 040"/>
                <a:cs typeface="210 OmniGothic 040"/>
              </a:rPr>
              <a:t>MapRouter</a:t>
            </a:r>
          </a:p>
        </p:txBody>
      </p:sp>
      <p:sp>
        <p:nvSpPr>
          <p:cNvPr id="6123" name="Connector 6124">
            <a:extLst>
              <a:ext uri="{FF2B5EF4-FFF2-40B4-BE49-F238E27FC236}">
                <a16:creationId xmlns:a16="http://schemas.microsoft.com/office/drawing/2014/main" id="{D293B9B9-02ED-49C8-ACA1-7A71ADBFEE4A}"/>
              </a:ext>
            </a:extLst>
          </p:cNvPr>
          <p:cNvSpPr>
            <a:spLocks noGrp="1"/>
          </p:cNvSpPr>
          <p:nvPr/>
        </p:nvSpPr>
        <p:spPr>
          <a:xfrm>
            <a:off x="12275820" y="2908706"/>
            <a:ext cx="0" cy="6145682"/>
          </a:xfrm>
          <a:prstGeom prst="line">
            <a:avLst/>
          </a:prstGeom>
          <a:ln w="11430">
            <a:solidFill>
              <a:srgbClr val="A3A8B8"/>
            </a:solidFill>
            <a:prstDash val="dash"/>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125" name="Rounded Rectangle 6126">
            <a:extLst>
              <a:ext uri="{FF2B5EF4-FFF2-40B4-BE49-F238E27FC236}">
                <a16:creationId xmlns:a16="http://schemas.microsoft.com/office/drawing/2014/main" id="{33EEE503-7AAB-4BB6-ABC6-38B185928054}"/>
              </a:ext>
            </a:extLst>
          </p:cNvPr>
          <p:cNvSpPr>
            <a:spLocks noGrp="1"/>
          </p:cNvSpPr>
          <p:nvPr/>
        </p:nvSpPr>
        <p:spPr>
          <a:xfrm>
            <a:off x="14356080" y="2446020"/>
            <a:ext cx="2286000" cy="462686"/>
          </a:xfrm>
          <a:prstGeom prst="roundRect">
            <a:avLst>
              <a:gd name="adj" fmla="val 10000"/>
            </a:avLst>
          </a:prstGeom>
          <a:solidFill>
            <a:srgbClr val="E6E9F1"/>
          </a:solidFill>
          <a:ln w="12700">
            <a:solidFill>
              <a:srgbClr val="B6BCCB"/>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r>
              <a:rPr sz="1250" b="1">
                <a:solidFill>
                  <a:srgbClr val="2E3142"/>
                </a:solidFill>
                <a:latin typeface="210 OmniGothic 040"/>
                <a:ea typeface="210 OmniGothic 040"/>
                <a:cs typeface="210 OmniGothic 040"/>
              </a:rPr>
              <a:t>DB(PostGIS)</a:t>
            </a:r>
          </a:p>
        </p:txBody>
      </p:sp>
      <p:sp>
        <p:nvSpPr>
          <p:cNvPr id="6127" name="Connector 6128">
            <a:extLst>
              <a:ext uri="{FF2B5EF4-FFF2-40B4-BE49-F238E27FC236}">
                <a16:creationId xmlns:a16="http://schemas.microsoft.com/office/drawing/2014/main" id="{4FDD1FC3-6B17-49A9-B418-FDD4B7C3B818}"/>
              </a:ext>
            </a:extLst>
          </p:cNvPr>
          <p:cNvSpPr>
            <a:spLocks noGrp="1"/>
          </p:cNvSpPr>
          <p:nvPr/>
        </p:nvSpPr>
        <p:spPr>
          <a:xfrm>
            <a:off x="15499080" y="2908706"/>
            <a:ext cx="0" cy="6145682"/>
          </a:xfrm>
          <a:prstGeom prst="line">
            <a:avLst/>
          </a:prstGeom>
          <a:ln w="11430">
            <a:solidFill>
              <a:srgbClr val="A3A8B8"/>
            </a:solidFill>
            <a:prstDash val="dash"/>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039" name="Rectangle 6040">
            <a:extLst>
              <a:ext uri="{FF2B5EF4-FFF2-40B4-BE49-F238E27FC236}">
                <a16:creationId xmlns:a16="http://schemas.microsoft.com/office/drawing/2014/main" id="{3A0F9D5B-7FF7-4F51-8FCC-FE8520E0B79A}"/>
              </a:ext>
            </a:extLst>
          </p:cNvPr>
          <p:cNvSpPr>
            <a:spLocks noGrp="1"/>
          </p:cNvSpPr>
          <p:nvPr/>
        </p:nvSpPr>
        <p:spPr>
          <a:xfrm>
            <a:off x="8982560" y="3632274"/>
            <a:ext cx="140000" cy="250000"/>
          </a:xfrm>
          <a:prstGeom prst="rect">
            <a:avLst/>
          </a:prstGeom>
          <a:solidFill>
            <a:srgbClr val="FFFFFF"/>
          </a:solidFill>
          <a:ln w="9525">
            <a:solidFill>
              <a:srgbClr val="363A52"/>
            </a:solidFill>
          </a:ln>
        </p:spPr>
        <p:style>
          <a:lnRef idx="1">
            <a:schemeClr val="accent1"/>
          </a:lnRef>
          <a:fillRef idx="3">
            <a:schemeClr val="accent1"/>
          </a:fillRef>
          <a:effectRef idx="2">
            <a:schemeClr val="accent1"/>
          </a:effectRef>
          <a:fontRef idx="minor">
            <a:schemeClr val="lt1"/>
          </a:fontRef>
        </p:style>
        <p:txBody>
          <a:bodyPr wrap="square" lIns="0" rIns="0" anchor="ctr"/>
          <a:lstStyle/>
          <a:p>
            <a:pPr algn="ctr">
              <a:buNone/>
            </a:pPr>
            <a:endParaRPr/>
          </a:p>
        </p:txBody>
      </p:sp>
      <p:sp>
        <p:nvSpPr>
          <p:cNvPr id="6041" name="Rectangle 6042">
            <a:extLst>
              <a:ext uri="{FF2B5EF4-FFF2-40B4-BE49-F238E27FC236}">
                <a16:creationId xmlns:a16="http://schemas.microsoft.com/office/drawing/2014/main" id="{5BC3EDF2-1613-47C7-9F0E-494B10BA2158}"/>
              </a:ext>
            </a:extLst>
          </p:cNvPr>
          <p:cNvSpPr>
            <a:spLocks noGrp="1"/>
          </p:cNvSpPr>
          <p:nvPr/>
        </p:nvSpPr>
        <p:spPr>
          <a:xfrm>
            <a:off x="15429080" y="4382274"/>
            <a:ext cx="140000" cy="250000"/>
          </a:xfrm>
          <a:prstGeom prst="rect">
            <a:avLst/>
          </a:prstGeom>
          <a:solidFill>
            <a:srgbClr val="FFFFFF"/>
          </a:solidFill>
          <a:ln w="9525">
            <a:solidFill>
              <a:srgbClr val="363A52"/>
            </a:solidFill>
          </a:ln>
        </p:spPr>
        <p:style>
          <a:lnRef idx="1">
            <a:schemeClr val="accent1"/>
          </a:lnRef>
          <a:fillRef idx="3">
            <a:schemeClr val="accent1"/>
          </a:fillRef>
          <a:effectRef idx="2">
            <a:schemeClr val="accent1"/>
          </a:effectRef>
          <a:fontRef idx="minor">
            <a:schemeClr val="lt1"/>
          </a:fontRef>
        </p:style>
        <p:txBody>
          <a:bodyPr wrap="square" lIns="0" rIns="0" anchor="ctr"/>
          <a:lstStyle/>
          <a:p>
            <a:pPr algn="ctr">
              <a:buNone/>
            </a:pPr>
            <a:endParaRPr/>
          </a:p>
        </p:txBody>
      </p:sp>
      <p:sp>
        <p:nvSpPr>
          <p:cNvPr id="6043" name="Rectangle 6044">
            <a:extLst>
              <a:ext uri="{FF2B5EF4-FFF2-40B4-BE49-F238E27FC236}">
                <a16:creationId xmlns:a16="http://schemas.microsoft.com/office/drawing/2014/main" id="{EB2CED27-487D-4DB7-812A-CB3E9F85EBCC}"/>
              </a:ext>
            </a:extLst>
          </p:cNvPr>
          <p:cNvSpPr>
            <a:spLocks noGrp="1"/>
          </p:cNvSpPr>
          <p:nvPr/>
        </p:nvSpPr>
        <p:spPr>
          <a:xfrm>
            <a:off x="12205820" y="4132274"/>
            <a:ext cx="140000" cy="750000"/>
          </a:xfrm>
          <a:prstGeom prst="rect">
            <a:avLst/>
          </a:prstGeom>
          <a:solidFill>
            <a:srgbClr val="FFFFFF"/>
          </a:solidFill>
          <a:ln w="9525">
            <a:solidFill>
              <a:srgbClr val="363A52"/>
            </a:solidFill>
          </a:ln>
        </p:spPr>
        <p:style>
          <a:lnRef idx="1">
            <a:schemeClr val="accent1"/>
          </a:lnRef>
          <a:fillRef idx="3">
            <a:schemeClr val="accent1"/>
          </a:fillRef>
          <a:effectRef idx="2">
            <a:schemeClr val="accent1"/>
          </a:effectRef>
          <a:fontRef idx="minor">
            <a:schemeClr val="lt1"/>
          </a:fontRef>
        </p:style>
        <p:txBody>
          <a:bodyPr wrap="square" lIns="0" rIns="0" anchor="ctr"/>
          <a:lstStyle/>
          <a:p>
            <a:pPr algn="ctr">
              <a:buNone/>
            </a:pPr>
            <a:endParaRPr/>
          </a:p>
        </p:txBody>
      </p:sp>
      <p:sp>
        <p:nvSpPr>
          <p:cNvPr id="6045" name="Rectangle 6046">
            <a:extLst>
              <a:ext uri="{FF2B5EF4-FFF2-40B4-BE49-F238E27FC236}">
                <a16:creationId xmlns:a16="http://schemas.microsoft.com/office/drawing/2014/main" id="{058DD521-FD7B-4CA0-8A58-92267940BB7C}"/>
              </a:ext>
            </a:extLst>
          </p:cNvPr>
          <p:cNvSpPr>
            <a:spLocks noGrp="1"/>
          </p:cNvSpPr>
          <p:nvPr/>
        </p:nvSpPr>
        <p:spPr>
          <a:xfrm>
            <a:off x="12205820" y="5827274"/>
            <a:ext cx="140000" cy="250000"/>
          </a:xfrm>
          <a:prstGeom prst="rect">
            <a:avLst/>
          </a:prstGeom>
          <a:solidFill>
            <a:srgbClr val="FFFFFF"/>
          </a:solidFill>
          <a:ln w="9525">
            <a:solidFill>
              <a:srgbClr val="363A52"/>
            </a:solidFill>
          </a:ln>
        </p:spPr>
        <p:style>
          <a:lnRef idx="1">
            <a:schemeClr val="accent1"/>
          </a:lnRef>
          <a:fillRef idx="3">
            <a:schemeClr val="accent1"/>
          </a:fillRef>
          <a:effectRef idx="2">
            <a:schemeClr val="accent1"/>
          </a:effectRef>
          <a:fontRef idx="minor">
            <a:schemeClr val="lt1"/>
          </a:fontRef>
        </p:style>
        <p:txBody>
          <a:bodyPr wrap="square" lIns="0" rIns="0" anchor="ctr"/>
          <a:lstStyle/>
          <a:p>
            <a:pPr algn="ctr">
              <a:buNone/>
            </a:pPr>
            <a:endParaRPr/>
          </a:p>
        </p:txBody>
      </p:sp>
      <p:sp>
        <p:nvSpPr>
          <p:cNvPr id="6047" name="Rectangle 6048">
            <a:extLst>
              <a:ext uri="{FF2B5EF4-FFF2-40B4-BE49-F238E27FC236}">
                <a16:creationId xmlns:a16="http://schemas.microsoft.com/office/drawing/2014/main" id="{B5C9931E-EB23-4A58-AF40-AB5E7BCC785D}"/>
              </a:ext>
            </a:extLst>
          </p:cNvPr>
          <p:cNvSpPr>
            <a:spLocks noGrp="1"/>
          </p:cNvSpPr>
          <p:nvPr/>
        </p:nvSpPr>
        <p:spPr>
          <a:xfrm>
            <a:off x="5759300" y="3382274"/>
            <a:ext cx="140000" cy="3740251"/>
          </a:xfrm>
          <a:prstGeom prst="rect">
            <a:avLst/>
          </a:prstGeom>
          <a:solidFill>
            <a:srgbClr val="FFFFFF"/>
          </a:solidFill>
          <a:ln w="9525">
            <a:solidFill>
              <a:srgbClr val="363A52"/>
            </a:solidFill>
          </a:ln>
        </p:spPr>
        <p:style>
          <a:lnRef idx="1">
            <a:schemeClr val="accent1"/>
          </a:lnRef>
          <a:fillRef idx="3">
            <a:schemeClr val="accent1"/>
          </a:fillRef>
          <a:effectRef idx="2">
            <a:schemeClr val="accent1"/>
          </a:effectRef>
          <a:fontRef idx="minor">
            <a:schemeClr val="lt1"/>
          </a:fontRef>
        </p:style>
        <p:txBody>
          <a:bodyPr wrap="square" lIns="0" rIns="0" anchor="ctr"/>
          <a:lstStyle/>
          <a:p>
            <a:pPr algn="ctr">
              <a:buNone/>
            </a:pPr>
            <a:endParaRPr/>
          </a:p>
        </p:txBody>
      </p:sp>
      <p:sp>
        <p:nvSpPr>
          <p:cNvPr id="6049" name="TextBox 6050">
            <a:extLst>
              <a:ext uri="{FF2B5EF4-FFF2-40B4-BE49-F238E27FC236}">
                <a16:creationId xmlns:a16="http://schemas.microsoft.com/office/drawing/2014/main" id="{8342BE30-5260-4FEC-8A89-F369852AEFC6}"/>
              </a:ext>
            </a:extLst>
          </p:cNvPr>
          <p:cNvSpPr>
            <a:spLocks noGrp="1"/>
          </p:cNvSpPr>
          <p:nvPr/>
        </p:nvSpPr>
        <p:spPr>
          <a:xfrm>
            <a:off x="2606040" y="3157274"/>
            <a:ext cx="322326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통합 상황도 진입(발화점·확산범위 확인)</a:t>
            </a:r>
          </a:p>
        </p:txBody>
      </p:sp>
      <p:sp>
        <p:nvSpPr>
          <p:cNvPr id="6051" name="Connector 6052">
            <a:extLst>
              <a:ext uri="{FF2B5EF4-FFF2-40B4-BE49-F238E27FC236}">
                <a16:creationId xmlns:a16="http://schemas.microsoft.com/office/drawing/2014/main" id="{2B7148A2-E0A0-4823-8224-7068B45E74B1}"/>
              </a:ext>
            </a:extLst>
          </p:cNvPr>
          <p:cNvSpPr>
            <a:spLocks noGrp="1"/>
          </p:cNvSpPr>
          <p:nvPr/>
        </p:nvSpPr>
        <p:spPr>
          <a:xfrm>
            <a:off x="2606040" y="3382274"/>
            <a:ext cx="3153260" cy="0"/>
          </a:xfrm>
          <a:prstGeom prst="line">
            <a:avLst/>
          </a:prstGeom>
          <a:ln w="1397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053" name="TextBox 6054">
            <a:extLst>
              <a:ext uri="{FF2B5EF4-FFF2-40B4-BE49-F238E27FC236}">
                <a16:creationId xmlns:a16="http://schemas.microsoft.com/office/drawing/2014/main" id="{963896AC-A72C-45C2-83A5-3E706EF59DE2}"/>
              </a:ext>
            </a:extLst>
          </p:cNvPr>
          <p:cNvSpPr>
            <a:spLocks noGrp="1"/>
          </p:cNvSpPr>
          <p:nvPr/>
        </p:nvSpPr>
        <p:spPr>
          <a:xfrm>
            <a:off x="5829300" y="3407274"/>
            <a:ext cx="322326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위성영상·라벨 타일 요청</a:t>
            </a:r>
          </a:p>
        </p:txBody>
      </p:sp>
      <p:sp>
        <p:nvSpPr>
          <p:cNvPr id="6055" name="Connector 6056">
            <a:extLst>
              <a:ext uri="{FF2B5EF4-FFF2-40B4-BE49-F238E27FC236}">
                <a16:creationId xmlns:a16="http://schemas.microsoft.com/office/drawing/2014/main" id="{9D8D60A1-8AFB-4B03-96D5-15F791721E7D}"/>
              </a:ext>
            </a:extLst>
          </p:cNvPr>
          <p:cNvSpPr>
            <a:spLocks noGrp="1"/>
          </p:cNvSpPr>
          <p:nvPr/>
        </p:nvSpPr>
        <p:spPr>
          <a:xfrm>
            <a:off x="5899300" y="3632274"/>
            <a:ext cx="3083260" cy="0"/>
          </a:xfrm>
          <a:prstGeom prst="line">
            <a:avLst/>
          </a:prstGeom>
          <a:ln w="1397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057" name="TextBox 6058">
            <a:extLst>
              <a:ext uri="{FF2B5EF4-FFF2-40B4-BE49-F238E27FC236}">
                <a16:creationId xmlns:a16="http://schemas.microsoft.com/office/drawing/2014/main" id="{C88B07F0-B4E8-4EE0-99B6-12A52EE45E1F}"/>
              </a:ext>
            </a:extLst>
          </p:cNvPr>
          <p:cNvSpPr>
            <a:spLocks noGrp="1"/>
          </p:cNvSpPr>
          <p:nvPr/>
        </p:nvSpPr>
        <p:spPr>
          <a:xfrm>
            <a:off x="5829300" y="3657274"/>
            <a:ext cx="322326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타일</a:t>
            </a:r>
          </a:p>
        </p:txBody>
      </p:sp>
      <p:sp>
        <p:nvSpPr>
          <p:cNvPr id="6059" name="Connector 6060">
            <a:extLst>
              <a:ext uri="{FF2B5EF4-FFF2-40B4-BE49-F238E27FC236}">
                <a16:creationId xmlns:a16="http://schemas.microsoft.com/office/drawing/2014/main" id="{EA70CD7D-AF78-4DCD-8A59-BB4363B2C3D3}"/>
              </a:ext>
            </a:extLst>
          </p:cNvPr>
          <p:cNvSpPr>
            <a:spLocks noGrp="1"/>
          </p:cNvSpPr>
          <p:nvPr/>
        </p:nvSpPr>
        <p:spPr>
          <a:xfrm flipH="1">
            <a:off x="5899300" y="3882274"/>
            <a:ext cx="3083260" cy="0"/>
          </a:xfrm>
          <a:prstGeom prst="line">
            <a:avLst/>
          </a:prstGeom>
          <a:ln w="13970">
            <a:solidFill>
              <a:srgbClr val="6B7080"/>
            </a:solidFill>
            <a:prstDash val="dash"/>
            <a:tailEnd type="arrow"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061" name="TextBox 6062">
            <a:extLst>
              <a:ext uri="{FF2B5EF4-FFF2-40B4-BE49-F238E27FC236}">
                <a16:creationId xmlns:a16="http://schemas.microsoft.com/office/drawing/2014/main" id="{D9CA07A0-8041-4312-94C5-158D2F6D9C6D}"/>
              </a:ext>
            </a:extLst>
          </p:cNvPr>
          <p:cNvSpPr>
            <a:spLocks noGrp="1"/>
          </p:cNvSpPr>
          <p:nvPr/>
        </p:nvSpPr>
        <p:spPr>
          <a:xfrm>
            <a:off x="5829300" y="3907274"/>
            <a:ext cx="644652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GET /incidents/{id}/map?layers=…</a:t>
            </a:r>
          </a:p>
        </p:txBody>
      </p:sp>
      <p:sp>
        <p:nvSpPr>
          <p:cNvPr id="6063" name="Connector 6064">
            <a:extLst>
              <a:ext uri="{FF2B5EF4-FFF2-40B4-BE49-F238E27FC236}">
                <a16:creationId xmlns:a16="http://schemas.microsoft.com/office/drawing/2014/main" id="{313FFEC7-345C-4AD4-B1C9-F028D29B0ECA}"/>
              </a:ext>
            </a:extLst>
          </p:cNvPr>
          <p:cNvSpPr>
            <a:spLocks noGrp="1"/>
          </p:cNvSpPr>
          <p:nvPr/>
        </p:nvSpPr>
        <p:spPr>
          <a:xfrm>
            <a:off x="5899300" y="4132274"/>
            <a:ext cx="6306520" cy="0"/>
          </a:xfrm>
          <a:prstGeom prst="line">
            <a:avLst/>
          </a:prstGeom>
          <a:ln w="1397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065" name="TextBox 6066">
            <a:extLst>
              <a:ext uri="{FF2B5EF4-FFF2-40B4-BE49-F238E27FC236}">
                <a16:creationId xmlns:a16="http://schemas.microsoft.com/office/drawing/2014/main" id="{6BCA34C2-8890-45D9-8187-944A8BF58B8B}"/>
              </a:ext>
            </a:extLst>
          </p:cNvPr>
          <p:cNvSpPr>
            <a:spLocks noGrp="1"/>
          </p:cNvSpPr>
          <p:nvPr/>
        </p:nvSpPr>
        <p:spPr>
          <a:xfrm>
            <a:off x="12275820" y="4157274"/>
            <a:ext cx="322326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실측 화선·P1~P8·시설·기관·기상 캐시 조회</a:t>
            </a:r>
          </a:p>
        </p:txBody>
      </p:sp>
      <p:sp>
        <p:nvSpPr>
          <p:cNvPr id="6067" name="Connector 6068">
            <a:extLst>
              <a:ext uri="{FF2B5EF4-FFF2-40B4-BE49-F238E27FC236}">
                <a16:creationId xmlns:a16="http://schemas.microsoft.com/office/drawing/2014/main" id="{46BB25E7-3835-4D07-8B80-42D3216A8687}"/>
              </a:ext>
            </a:extLst>
          </p:cNvPr>
          <p:cNvSpPr>
            <a:spLocks noGrp="1"/>
          </p:cNvSpPr>
          <p:nvPr/>
        </p:nvSpPr>
        <p:spPr>
          <a:xfrm>
            <a:off x="12345820" y="4382274"/>
            <a:ext cx="3083260" cy="0"/>
          </a:xfrm>
          <a:prstGeom prst="line">
            <a:avLst/>
          </a:prstGeom>
          <a:ln w="1397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069" name="TextBox 6070">
            <a:extLst>
              <a:ext uri="{FF2B5EF4-FFF2-40B4-BE49-F238E27FC236}">
                <a16:creationId xmlns:a16="http://schemas.microsoft.com/office/drawing/2014/main" id="{31EEBE86-FAF4-4B20-91BE-21968B557883}"/>
              </a:ext>
            </a:extLst>
          </p:cNvPr>
          <p:cNvSpPr>
            <a:spLocks noGrp="1"/>
          </p:cNvSpPr>
          <p:nvPr/>
        </p:nvSpPr>
        <p:spPr>
          <a:xfrm>
            <a:off x="12275820" y="4407274"/>
            <a:ext cx="322326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공간 객체</a:t>
            </a:r>
          </a:p>
        </p:txBody>
      </p:sp>
      <p:sp>
        <p:nvSpPr>
          <p:cNvPr id="6071" name="Connector 6072">
            <a:extLst>
              <a:ext uri="{FF2B5EF4-FFF2-40B4-BE49-F238E27FC236}">
                <a16:creationId xmlns:a16="http://schemas.microsoft.com/office/drawing/2014/main" id="{3E614686-338D-46E1-832E-60132BC794E1}"/>
              </a:ext>
            </a:extLst>
          </p:cNvPr>
          <p:cNvSpPr>
            <a:spLocks noGrp="1"/>
          </p:cNvSpPr>
          <p:nvPr/>
        </p:nvSpPr>
        <p:spPr>
          <a:xfrm flipH="1">
            <a:off x="12345820" y="4632274"/>
            <a:ext cx="3083260" cy="0"/>
          </a:xfrm>
          <a:prstGeom prst="line">
            <a:avLst/>
          </a:prstGeom>
          <a:ln w="13970">
            <a:solidFill>
              <a:srgbClr val="6B7080"/>
            </a:solidFill>
            <a:prstDash val="dash"/>
            <a:tailEnd type="arrow"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073" name="TextBox 6074">
            <a:extLst>
              <a:ext uri="{FF2B5EF4-FFF2-40B4-BE49-F238E27FC236}">
                <a16:creationId xmlns:a16="http://schemas.microsoft.com/office/drawing/2014/main" id="{EED385EA-C8D7-4FFB-A643-0475F7CC49D4}"/>
              </a:ext>
            </a:extLst>
          </p:cNvPr>
          <p:cNvSpPr>
            <a:spLocks noGrp="1"/>
          </p:cNvSpPr>
          <p:nvPr/>
        </p:nvSpPr>
        <p:spPr>
          <a:xfrm>
            <a:off x="5829300" y="4657274"/>
            <a:ext cx="644652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GeoJSON</a:t>
            </a:r>
          </a:p>
        </p:txBody>
      </p:sp>
      <p:sp>
        <p:nvSpPr>
          <p:cNvPr id="6075" name="Connector 6076">
            <a:extLst>
              <a:ext uri="{FF2B5EF4-FFF2-40B4-BE49-F238E27FC236}">
                <a16:creationId xmlns:a16="http://schemas.microsoft.com/office/drawing/2014/main" id="{F0EAA0B5-2E6F-4AD0-BBB4-B89CEADC3765}"/>
              </a:ext>
            </a:extLst>
          </p:cNvPr>
          <p:cNvSpPr>
            <a:spLocks noGrp="1"/>
          </p:cNvSpPr>
          <p:nvPr/>
        </p:nvSpPr>
        <p:spPr>
          <a:xfrm flipH="1">
            <a:off x="5899300" y="4882274"/>
            <a:ext cx="6306520" cy="0"/>
          </a:xfrm>
          <a:prstGeom prst="line">
            <a:avLst/>
          </a:prstGeom>
          <a:ln w="13970">
            <a:solidFill>
              <a:srgbClr val="6B7080"/>
            </a:solidFill>
            <a:prstDash val="dash"/>
            <a:tailEnd type="arrow"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077" name="Connector 6078">
            <a:extLst>
              <a:ext uri="{FF2B5EF4-FFF2-40B4-BE49-F238E27FC236}">
                <a16:creationId xmlns:a16="http://schemas.microsoft.com/office/drawing/2014/main" id="{D2017C5E-C29B-4E8E-9845-1B6208CD1539}"/>
              </a:ext>
            </a:extLst>
          </p:cNvPr>
          <p:cNvSpPr>
            <a:spLocks noGrp="1"/>
          </p:cNvSpPr>
          <p:nvPr/>
        </p:nvSpPr>
        <p:spPr>
          <a:xfrm>
            <a:off x="5899300" y="5132274"/>
            <a:ext cx="365760" cy="0"/>
          </a:xfrm>
          <a:prstGeom prst="line">
            <a:avLst/>
          </a:prstGeom>
          <a:ln w="13970">
            <a:solidFill>
              <a:srgbClr val="363A52"/>
            </a:solidFill>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079" name="Connector 6080">
            <a:extLst>
              <a:ext uri="{FF2B5EF4-FFF2-40B4-BE49-F238E27FC236}">
                <a16:creationId xmlns:a16="http://schemas.microsoft.com/office/drawing/2014/main" id="{F7E8E5B5-3B1D-45D7-9526-73FA48A6143B}"/>
              </a:ext>
            </a:extLst>
          </p:cNvPr>
          <p:cNvSpPr>
            <a:spLocks noGrp="1"/>
          </p:cNvSpPr>
          <p:nvPr/>
        </p:nvSpPr>
        <p:spPr>
          <a:xfrm>
            <a:off x="6265060" y="5132274"/>
            <a:ext cx="0" cy="180251"/>
          </a:xfrm>
          <a:prstGeom prst="line">
            <a:avLst/>
          </a:prstGeom>
          <a:ln w="13970">
            <a:solidFill>
              <a:srgbClr val="363A52"/>
            </a:solidFill>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081" name="Connector 6082">
            <a:extLst>
              <a:ext uri="{FF2B5EF4-FFF2-40B4-BE49-F238E27FC236}">
                <a16:creationId xmlns:a16="http://schemas.microsoft.com/office/drawing/2014/main" id="{576DD64E-FB36-46AB-A707-90903C24FB9D}"/>
              </a:ext>
            </a:extLst>
          </p:cNvPr>
          <p:cNvSpPr>
            <a:spLocks noGrp="1"/>
          </p:cNvSpPr>
          <p:nvPr/>
        </p:nvSpPr>
        <p:spPr>
          <a:xfrm flipH="1">
            <a:off x="5933590" y="5312525"/>
            <a:ext cx="331470" cy="0"/>
          </a:xfrm>
          <a:prstGeom prst="line">
            <a:avLst/>
          </a:prstGeom>
          <a:ln w="1397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083" name="TextBox 6084">
            <a:extLst>
              <a:ext uri="{FF2B5EF4-FFF2-40B4-BE49-F238E27FC236}">
                <a16:creationId xmlns:a16="http://schemas.microsoft.com/office/drawing/2014/main" id="{D572C563-8E33-4645-8C2E-7482ADC7D00C}"/>
              </a:ext>
            </a:extLst>
          </p:cNvPr>
          <p:cNvSpPr>
            <a:spLocks noGrp="1"/>
          </p:cNvSpPr>
          <p:nvPr/>
        </p:nvSpPr>
        <p:spPr>
          <a:xfrm>
            <a:off x="6356500" y="4907274"/>
            <a:ext cx="4562951" cy="221284"/>
          </a:xfrm>
          <a:prstGeom prst="rect">
            <a:avLst/>
          </a:prstGeom>
          <a:noFill/>
        </p:spPr>
        <p:txBody>
          <a:bodyPr wrap="square" lIns="0" tIns="0" rIns="0" bIns="0" anchor="t">
            <a:spAutoFit/>
          </a:bodyPr>
          <a:lstStyle/>
          <a:p>
            <a:pPr algn="l">
              <a:buNone/>
            </a:pPr>
            <a:r>
              <a:rPr sz="1100" b="0">
                <a:solidFill>
                  <a:srgbClr val="2E3142"/>
                </a:solidFill>
                <a:latin typeface="210 OmniGothic 040"/>
                <a:ea typeface="210 OmniGothic 040"/>
                <a:cs typeface="210 OmniGothic 040"/>
              </a:rPr>
              <a:t>위험구역(P5)·잠재(P8)·아이콘 렌더링, 마커 팝업(이름·종류)</a:t>
            </a:r>
          </a:p>
        </p:txBody>
      </p:sp>
      <p:sp>
        <p:nvSpPr>
          <p:cNvPr id="6085" name="TextBox 6086">
            <a:extLst>
              <a:ext uri="{FF2B5EF4-FFF2-40B4-BE49-F238E27FC236}">
                <a16:creationId xmlns:a16="http://schemas.microsoft.com/office/drawing/2014/main" id="{35720ED4-2FF2-4B8C-B27C-B98EAA3B0DC6}"/>
              </a:ext>
            </a:extLst>
          </p:cNvPr>
          <p:cNvSpPr>
            <a:spLocks noGrp="1"/>
          </p:cNvSpPr>
          <p:nvPr/>
        </p:nvSpPr>
        <p:spPr>
          <a:xfrm>
            <a:off x="2606040" y="5352274"/>
            <a:ext cx="322326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레이어 켜기/끄기, 「진화자원」(가용만 보기 필터)</a:t>
            </a:r>
          </a:p>
        </p:txBody>
      </p:sp>
      <p:sp>
        <p:nvSpPr>
          <p:cNvPr id="6087" name="Connector 6088">
            <a:extLst>
              <a:ext uri="{FF2B5EF4-FFF2-40B4-BE49-F238E27FC236}">
                <a16:creationId xmlns:a16="http://schemas.microsoft.com/office/drawing/2014/main" id="{25AF09BF-61FD-4B18-857A-7DD9B80F2769}"/>
              </a:ext>
            </a:extLst>
          </p:cNvPr>
          <p:cNvSpPr>
            <a:spLocks noGrp="1"/>
          </p:cNvSpPr>
          <p:nvPr/>
        </p:nvSpPr>
        <p:spPr>
          <a:xfrm>
            <a:off x="2606040" y="5577274"/>
            <a:ext cx="3153260" cy="0"/>
          </a:xfrm>
          <a:prstGeom prst="line">
            <a:avLst/>
          </a:prstGeom>
          <a:ln w="1397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089" name="TextBox 6090">
            <a:extLst>
              <a:ext uri="{FF2B5EF4-FFF2-40B4-BE49-F238E27FC236}">
                <a16:creationId xmlns:a16="http://schemas.microsoft.com/office/drawing/2014/main" id="{00AC25EC-D2D6-4B3B-B9F5-02D4167DD924}"/>
              </a:ext>
            </a:extLst>
          </p:cNvPr>
          <p:cNvSpPr>
            <a:spLocks noGrp="1"/>
          </p:cNvSpPr>
          <p:nvPr/>
        </p:nvSpPr>
        <p:spPr>
          <a:xfrm>
            <a:off x="5829300" y="5602274"/>
            <a:ext cx="644652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GET /resources?incident={id}</a:t>
            </a:r>
          </a:p>
        </p:txBody>
      </p:sp>
      <p:sp>
        <p:nvSpPr>
          <p:cNvPr id="6091" name="Connector 6092">
            <a:extLst>
              <a:ext uri="{FF2B5EF4-FFF2-40B4-BE49-F238E27FC236}">
                <a16:creationId xmlns:a16="http://schemas.microsoft.com/office/drawing/2014/main" id="{D1588CD0-9B2E-4F0A-9284-D537421EA1F2}"/>
              </a:ext>
            </a:extLst>
          </p:cNvPr>
          <p:cNvSpPr>
            <a:spLocks noGrp="1"/>
          </p:cNvSpPr>
          <p:nvPr/>
        </p:nvSpPr>
        <p:spPr>
          <a:xfrm>
            <a:off x="5899300" y="5827274"/>
            <a:ext cx="6306520" cy="0"/>
          </a:xfrm>
          <a:prstGeom prst="line">
            <a:avLst/>
          </a:prstGeom>
          <a:ln w="1397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093" name="TextBox 6094">
            <a:extLst>
              <a:ext uri="{FF2B5EF4-FFF2-40B4-BE49-F238E27FC236}">
                <a16:creationId xmlns:a16="http://schemas.microsoft.com/office/drawing/2014/main" id="{83A496B5-85AC-4F69-A197-FA75BF40C0EC}"/>
              </a:ext>
            </a:extLst>
          </p:cNvPr>
          <p:cNvSpPr>
            <a:spLocks noGrp="1"/>
          </p:cNvSpPr>
          <p:nvPr/>
        </p:nvSpPr>
        <p:spPr>
          <a:xfrm>
            <a:off x="5829300" y="5852274"/>
            <a:ext cx="644652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가용 합계(필터 해제 시 보유·투입·대기 포함), 단위별 표</a:t>
            </a:r>
          </a:p>
        </p:txBody>
      </p:sp>
      <p:sp>
        <p:nvSpPr>
          <p:cNvPr id="6095" name="Connector 6096">
            <a:extLst>
              <a:ext uri="{FF2B5EF4-FFF2-40B4-BE49-F238E27FC236}">
                <a16:creationId xmlns:a16="http://schemas.microsoft.com/office/drawing/2014/main" id="{917F62FA-6ABC-4B15-8861-E3013BBDAFA0}"/>
              </a:ext>
            </a:extLst>
          </p:cNvPr>
          <p:cNvSpPr>
            <a:spLocks noGrp="1"/>
          </p:cNvSpPr>
          <p:nvPr/>
        </p:nvSpPr>
        <p:spPr>
          <a:xfrm flipH="1">
            <a:off x="5899300" y="6077274"/>
            <a:ext cx="6306520" cy="0"/>
          </a:xfrm>
          <a:prstGeom prst="line">
            <a:avLst/>
          </a:prstGeom>
          <a:ln w="13970">
            <a:solidFill>
              <a:srgbClr val="6B7080"/>
            </a:solidFill>
            <a:prstDash val="dash"/>
            <a:tailEnd type="arrow"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097" name="Connector 6098">
            <a:extLst>
              <a:ext uri="{FF2B5EF4-FFF2-40B4-BE49-F238E27FC236}">
                <a16:creationId xmlns:a16="http://schemas.microsoft.com/office/drawing/2014/main" id="{39791CF7-EF59-455A-ACCA-3CAEAC94AD51}"/>
              </a:ext>
            </a:extLst>
          </p:cNvPr>
          <p:cNvSpPr>
            <a:spLocks noGrp="1"/>
          </p:cNvSpPr>
          <p:nvPr/>
        </p:nvSpPr>
        <p:spPr>
          <a:xfrm>
            <a:off x="5899300" y="6547274"/>
            <a:ext cx="365760" cy="0"/>
          </a:xfrm>
          <a:prstGeom prst="line">
            <a:avLst/>
          </a:prstGeom>
          <a:ln w="13970">
            <a:solidFill>
              <a:srgbClr val="363A52"/>
            </a:solidFill>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099" name="Connector 6100">
            <a:extLst>
              <a:ext uri="{FF2B5EF4-FFF2-40B4-BE49-F238E27FC236}">
                <a16:creationId xmlns:a16="http://schemas.microsoft.com/office/drawing/2014/main" id="{C475AEC6-F4FA-403A-ABD1-63A301DFC539}"/>
              </a:ext>
            </a:extLst>
          </p:cNvPr>
          <p:cNvSpPr>
            <a:spLocks noGrp="1"/>
          </p:cNvSpPr>
          <p:nvPr/>
        </p:nvSpPr>
        <p:spPr>
          <a:xfrm>
            <a:off x="6265060" y="6547274"/>
            <a:ext cx="0" cy="180251"/>
          </a:xfrm>
          <a:prstGeom prst="line">
            <a:avLst/>
          </a:prstGeom>
          <a:ln w="13970">
            <a:solidFill>
              <a:srgbClr val="363A52"/>
            </a:solidFill>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101" name="Connector 6102">
            <a:extLst>
              <a:ext uri="{FF2B5EF4-FFF2-40B4-BE49-F238E27FC236}">
                <a16:creationId xmlns:a16="http://schemas.microsoft.com/office/drawing/2014/main" id="{CC094DC0-EC8D-4E30-B098-7E815BB891D3}"/>
              </a:ext>
            </a:extLst>
          </p:cNvPr>
          <p:cNvSpPr>
            <a:spLocks noGrp="1"/>
          </p:cNvSpPr>
          <p:nvPr/>
        </p:nvSpPr>
        <p:spPr>
          <a:xfrm flipH="1">
            <a:off x="5933590" y="6727525"/>
            <a:ext cx="331470" cy="0"/>
          </a:xfrm>
          <a:prstGeom prst="line">
            <a:avLst/>
          </a:prstGeom>
          <a:ln w="1397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103" name="TextBox 6104">
            <a:extLst>
              <a:ext uri="{FF2B5EF4-FFF2-40B4-BE49-F238E27FC236}">
                <a16:creationId xmlns:a16="http://schemas.microsoft.com/office/drawing/2014/main" id="{B2F3F198-22AC-469A-A58D-5F4F98E45FA3}"/>
              </a:ext>
            </a:extLst>
          </p:cNvPr>
          <p:cNvSpPr>
            <a:spLocks noGrp="1"/>
          </p:cNvSpPr>
          <p:nvPr/>
        </p:nvSpPr>
        <p:spPr>
          <a:xfrm>
            <a:off x="6356500" y="6322274"/>
            <a:ext cx="4562951" cy="221284"/>
          </a:xfrm>
          <a:prstGeom prst="rect">
            <a:avLst/>
          </a:prstGeom>
          <a:noFill/>
        </p:spPr>
        <p:txBody>
          <a:bodyPr wrap="square" lIns="0" tIns="0" rIns="0" bIns="0" anchor="t">
            <a:spAutoFit/>
          </a:bodyPr>
          <a:lstStyle/>
          <a:p>
            <a:pPr algn="l">
              <a:buNone/>
            </a:pPr>
            <a:r>
              <a:rPr sz="1100" b="0">
                <a:solidFill>
                  <a:srgbClr val="2E3142"/>
                </a:solidFill>
                <a:latin typeface="210 OmniGothic 040"/>
                <a:ea typeface="210 OmniGothic 040"/>
                <a:cs typeface="210 OmniGothic 040"/>
              </a:rPr>
              <a:t>P(t) 채움, 도달 마을 빨간색, 야간 표시</a:t>
            </a:r>
          </a:p>
        </p:txBody>
      </p:sp>
      <p:sp>
        <p:nvSpPr>
          <p:cNvPr id="6105" name="TextBox 6106">
            <a:extLst>
              <a:ext uri="{FF2B5EF4-FFF2-40B4-BE49-F238E27FC236}">
                <a16:creationId xmlns:a16="http://schemas.microsoft.com/office/drawing/2014/main" id="{9DB5E56A-4095-494A-8C57-818E4B27C63D}"/>
              </a:ext>
            </a:extLst>
          </p:cNvPr>
          <p:cNvSpPr>
            <a:spLocks noGrp="1"/>
          </p:cNvSpPr>
          <p:nvPr/>
        </p:nvSpPr>
        <p:spPr>
          <a:xfrm>
            <a:off x="2606040" y="6897525"/>
            <a:ext cx="322326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통합 상황도 표시</a:t>
            </a:r>
          </a:p>
        </p:txBody>
      </p:sp>
      <p:sp>
        <p:nvSpPr>
          <p:cNvPr id="6107" name="Connector 6108">
            <a:extLst>
              <a:ext uri="{FF2B5EF4-FFF2-40B4-BE49-F238E27FC236}">
                <a16:creationId xmlns:a16="http://schemas.microsoft.com/office/drawing/2014/main" id="{30AB96D0-94E0-453D-A140-4393A1CBD311}"/>
              </a:ext>
            </a:extLst>
          </p:cNvPr>
          <p:cNvSpPr>
            <a:spLocks noGrp="1"/>
          </p:cNvSpPr>
          <p:nvPr/>
        </p:nvSpPr>
        <p:spPr>
          <a:xfrm flipH="1">
            <a:off x="2606040" y="7122525"/>
            <a:ext cx="3153260" cy="0"/>
          </a:xfrm>
          <a:prstGeom prst="line">
            <a:avLst/>
          </a:prstGeom>
          <a:ln w="13970">
            <a:solidFill>
              <a:srgbClr val="6B7080"/>
            </a:solidFill>
            <a:prstDash val="dash"/>
            <a:tailEnd type="arrow"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033" name="Rectangle 6034">
            <a:extLst>
              <a:ext uri="{FF2B5EF4-FFF2-40B4-BE49-F238E27FC236}">
                <a16:creationId xmlns:a16="http://schemas.microsoft.com/office/drawing/2014/main" id="{871D2EE0-1D41-46B8-BB1E-F8790BB7BDF2}"/>
              </a:ext>
            </a:extLst>
          </p:cNvPr>
          <p:cNvSpPr>
            <a:spLocks noGrp="1"/>
          </p:cNvSpPr>
          <p:nvPr/>
        </p:nvSpPr>
        <p:spPr>
          <a:xfrm>
            <a:off x="1252270" y="6102274"/>
            <a:ext cx="15600580" cy="735251"/>
          </a:xfrm>
          <a:prstGeom prst="rect">
            <a:avLst/>
          </a:prstGeom>
          <a:noFill/>
          <a:ln w="12700">
            <a:solidFill>
              <a:srgbClr val="FAA95A"/>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endParaRPr/>
          </a:p>
        </p:txBody>
      </p:sp>
      <p:sp>
        <p:nvSpPr>
          <p:cNvPr id="6035" name="Rectangle 6036">
            <a:extLst>
              <a:ext uri="{FF2B5EF4-FFF2-40B4-BE49-F238E27FC236}">
                <a16:creationId xmlns:a16="http://schemas.microsoft.com/office/drawing/2014/main" id="{C04C6C73-040D-4FCD-8697-B1C96D0A0B5F}"/>
              </a:ext>
            </a:extLst>
          </p:cNvPr>
          <p:cNvSpPr>
            <a:spLocks noGrp="1"/>
          </p:cNvSpPr>
          <p:nvPr/>
        </p:nvSpPr>
        <p:spPr>
          <a:xfrm>
            <a:off x="1252270" y="6102274"/>
            <a:ext cx="708660" cy="241401"/>
          </a:xfrm>
          <a:prstGeom prst="rect">
            <a:avLst/>
          </a:prstGeom>
          <a:solidFill>
            <a:srgbClr val="FDEBD9"/>
          </a:solidFill>
          <a:ln w="12700">
            <a:solidFill>
              <a:srgbClr val="FAA95A"/>
            </a:solidFill>
          </a:ln>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algn="ctr">
              <a:buNone/>
            </a:pPr>
            <a:r>
              <a:rPr sz="1050" b="1">
                <a:solidFill>
                  <a:srgbClr val="B5601C"/>
                </a:solidFill>
                <a:latin typeface="210 OmniGothic 040"/>
                <a:ea typeface="210 OmniGothic 040"/>
                <a:cs typeface="210 OmniGothic 040"/>
              </a:rPr>
              <a:t>loop</a:t>
            </a:r>
          </a:p>
        </p:txBody>
      </p:sp>
      <p:sp>
        <p:nvSpPr>
          <p:cNvPr id="6037" name="TextBox 6038">
            <a:extLst>
              <a:ext uri="{FF2B5EF4-FFF2-40B4-BE49-F238E27FC236}">
                <a16:creationId xmlns:a16="http://schemas.microsoft.com/office/drawing/2014/main" id="{47E37931-D5B6-4A98-A4FA-F1FD0D320B9A}"/>
              </a:ext>
            </a:extLst>
          </p:cNvPr>
          <p:cNvSpPr>
            <a:spLocks noGrp="1"/>
          </p:cNvSpPr>
          <p:nvPr/>
        </p:nvSpPr>
        <p:spPr>
          <a:xfrm>
            <a:off x="2060930" y="6112332"/>
            <a:ext cx="5715000" cy="241401"/>
          </a:xfrm>
          <a:prstGeom prst="rect">
            <a:avLst/>
          </a:prstGeom>
          <a:noFill/>
        </p:spPr>
        <p:txBody>
          <a:bodyPr wrap="square" lIns="0" tIns="0" rIns="0" bIns="0" anchor="t">
            <a:spAutoFit/>
          </a:bodyPr>
          <a:lstStyle/>
          <a:p>
            <a:pPr algn="l">
              <a:buNone/>
            </a:pPr>
            <a:r>
              <a:rPr sz="1100" b="0">
                <a:solidFill>
                  <a:srgbClr val="2E3142"/>
                </a:solidFill>
                <a:latin typeface="210 OmniGothic 040"/>
                <a:ea typeface="210 OmniGothic 040"/>
                <a:cs typeface="210 OmniGothic 040"/>
              </a:rPr>
              <a:t>[시간 재생 t = 1 … 8]</a:t>
            </a:r>
          </a:p>
        </p:txBody>
      </p:sp>
    </p:spTree>
    <p:extLst>
      <p:ext uri="{BB962C8B-B14F-4D97-AF65-F5344CB8AC3E}">
        <p14:creationId xmlns:p14="http://schemas.microsoft.com/office/powerpoint/2010/main" val="82837616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96" name="Picture 2"/>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700" y="-12700"/>
            <a:ext cx="18313400" cy="1638300"/>
          </a:xfrm>
          <a:prstGeom prst="rect">
            <a:avLst/>
          </a:prstGeom>
        </p:spPr>
      </p:pic>
      <p:pic>
        <p:nvPicPr>
          <p:cNvPr id="6697" name="Picture 4"/>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28" y="1618343"/>
            <a:ext cx="18313400" cy="8699500"/>
          </a:xfrm>
          <a:prstGeom prst="rect">
            <a:avLst/>
          </a:prstGeom>
        </p:spPr>
      </p:pic>
      <p:pic>
        <p:nvPicPr>
          <p:cNvPr id="6698" name="Picture 5"/>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58800" y="9271000"/>
            <a:ext cx="17170400" cy="50800"/>
          </a:xfrm>
          <a:prstGeom prst="rect">
            <a:avLst/>
          </a:prstGeom>
        </p:spPr>
      </p:pic>
      <p:pic>
        <p:nvPicPr>
          <p:cNvPr id="6699" name="Picture 3"/>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5278100" y="203200"/>
            <a:ext cx="1676400" cy="1409700"/>
          </a:xfrm>
          <a:prstGeom prst="rect">
            <a:avLst/>
          </a:prstGeom>
        </p:spPr>
      </p:pic>
      <p:sp>
        <p:nvSpPr>
          <p:cNvPr id="5221" name="Title">
            <a:extLst>
              <a:ext uri="{FF2B5EF4-FFF2-40B4-BE49-F238E27FC236}">
                <a16:creationId xmlns:a16="http://schemas.microsoft.com/office/drawing/2014/main" id="{D525F953-18B0-4281-B9E9-7405572A240B}"/>
              </a:ext>
            </a:extLst>
          </p:cNvPr>
          <p:cNvSpPr>
            <a:spLocks noGrp="1"/>
          </p:cNvSpPr>
          <p:nvPr/>
        </p:nvSpPr>
        <p:spPr>
          <a:xfrm>
            <a:off x="822960" y="384048"/>
            <a:ext cx="13258800" cy="877824"/>
          </a:xfrm>
          <a:prstGeom prst="rect">
            <a:avLst/>
          </a:prstGeom>
          <a:noFill/>
        </p:spPr>
        <p:txBody>
          <a:bodyPr wrap="square" lIns="0" tIns="0" rIns="0" bIns="0" anchor="ctr">
            <a:spAutoFit/>
          </a:bodyPr>
          <a:lstStyle/>
          <a:p>
            <a:pPr algn="l">
              <a:buNone/>
            </a:pPr>
            <a:r>
              <a:rPr sz="4400" b="0">
                <a:solidFill>
                  <a:srgbClr val="FAA95A"/>
                </a:solidFill>
                <a:latin typeface="210 OmniGothic 050"/>
                <a:ea typeface="210 OmniGothic 050"/>
                <a:cs typeface="210 OmniGothic 050"/>
              </a:rPr>
              <a:t>04. 시퀀스 다이어그램</a:t>
            </a:r>
          </a:p>
        </p:txBody>
      </p:sp>
      <p:sp>
        <p:nvSpPr>
          <p:cNvPr id="5222" name="Subtitle">
            <a:extLst>
              <a:ext uri="{FF2B5EF4-FFF2-40B4-BE49-F238E27FC236}">
                <a16:creationId xmlns:a16="http://schemas.microsoft.com/office/drawing/2014/main" id="{098779CE-7424-4793-85DC-1558C8F046A9}"/>
              </a:ext>
            </a:extLst>
          </p:cNvPr>
          <p:cNvSpPr>
            <a:spLocks noGrp="1"/>
          </p:cNvSpPr>
          <p:nvPr/>
        </p:nvSpPr>
        <p:spPr>
          <a:xfrm>
            <a:off x="822960" y="1764792"/>
            <a:ext cx="16642080" cy="502920"/>
          </a:xfrm>
          <a:prstGeom prst="rect">
            <a:avLst/>
          </a:prstGeom>
          <a:noFill/>
        </p:spPr>
        <p:txBody>
          <a:bodyPr wrap="square" lIns="0" tIns="0" rIns="0" bIns="0" anchor="ctr">
            <a:spAutoFit/>
          </a:bodyPr>
          <a:lstStyle/>
          <a:p>
            <a:pPr algn="ctr">
              <a:buNone/>
            </a:pPr>
            <a:r>
              <a:rPr sz="2600" b="1">
                <a:solidFill>
                  <a:srgbClr val="363A52"/>
                </a:solidFill>
                <a:latin typeface="210 OmniGothic 040"/>
                <a:ea typeface="210 OmniGothic 040"/>
                <a:cs typeface="210 OmniGothic 040"/>
              </a:rPr>
              <a:t>확산 예측 실행 · 갱신 ①  (UC-PRED-01)</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idx="12"/>
          </p:nvPr>
        </p:nvSpPr>
        <p:spPr/>
        <p:txBody>
          <a:bodyPr/>
          <a:lstStyle/>
          <a:p>
            <a:fld id="{B6F15528-21DE-4FAA-801E-634DDDAF4B2B}" type="slidenum">
              <a:rPr/>
              <a:t>41</a:t>
            </a:fld>
            <a:endParaRPr/>
          </a:p>
        </p:txBody>
      </p:sp>
      <p:sp>
        <p:nvSpPr>
          <p:cNvPr id="6669" name="Rounded Rectangle 6670">
            <a:extLst>
              <a:ext uri="{FF2B5EF4-FFF2-40B4-BE49-F238E27FC236}">
                <a16:creationId xmlns:a16="http://schemas.microsoft.com/office/drawing/2014/main" id="{6D6B6C5F-E340-456A-B868-4588C3E3509E}"/>
              </a:ext>
            </a:extLst>
          </p:cNvPr>
          <p:cNvSpPr>
            <a:spLocks noGrp="1"/>
          </p:cNvSpPr>
          <p:nvPr/>
        </p:nvSpPr>
        <p:spPr>
          <a:xfrm>
            <a:off x="1194435" y="2446020"/>
            <a:ext cx="2286000" cy="462686"/>
          </a:xfrm>
          <a:prstGeom prst="roundRect">
            <a:avLst>
              <a:gd name="adj" fmla="val 10000"/>
            </a:avLst>
          </a:prstGeom>
          <a:solidFill>
            <a:srgbClr val="E6E9F1"/>
          </a:solidFill>
          <a:ln w="12700">
            <a:solidFill>
              <a:srgbClr val="B6BCCB"/>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r>
              <a:rPr sz="1250" b="1">
                <a:solidFill>
                  <a:srgbClr val="2E3142"/>
                </a:solidFill>
                <a:latin typeface="210 OmniGothic 040"/>
                <a:ea typeface="210 OmniGothic 040"/>
                <a:cs typeface="210 OmniGothic 040"/>
              </a:rPr>
              <a:t>통합지휘권자</a:t>
            </a:r>
          </a:p>
        </p:txBody>
      </p:sp>
      <p:sp>
        <p:nvSpPr>
          <p:cNvPr id="6671" name="Connector 6672">
            <a:extLst>
              <a:ext uri="{FF2B5EF4-FFF2-40B4-BE49-F238E27FC236}">
                <a16:creationId xmlns:a16="http://schemas.microsoft.com/office/drawing/2014/main" id="{A5DB74CB-8800-430C-B76C-CB466991D3AD}"/>
              </a:ext>
            </a:extLst>
          </p:cNvPr>
          <p:cNvSpPr>
            <a:spLocks noGrp="1"/>
          </p:cNvSpPr>
          <p:nvPr/>
        </p:nvSpPr>
        <p:spPr>
          <a:xfrm>
            <a:off x="2337435" y="2908706"/>
            <a:ext cx="0" cy="6145682"/>
          </a:xfrm>
          <a:prstGeom prst="line">
            <a:avLst/>
          </a:prstGeom>
          <a:ln w="11430">
            <a:solidFill>
              <a:srgbClr val="A3A8B8"/>
            </a:solidFill>
            <a:prstDash val="dash"/>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673" name="Rounded Rectangle 6674">
            <a:extLst>
              <a:ext uri="{FF2B5EF4-FFF2-40B4-BE49-F238E27FC236}">
                <a16:creationId xmlns:a16="http://schemas.microsoft.com/office/drawing/2014/main" id="{6AFC2293-4ADD-4084-AE8C-73A645148112}"/>
              </a:ext>
            </a:extLst>
          </p:cNvPr>
          <p:cNvSpPr>
            <a:spLocks noGrp="1"/>
          </p:cNvSpPr>
          <p:nvPr/>
        </p:nvSpPr>
        <p:spPr>
          <a:xfrm>
            <a:off x="3880485" y="2446020"/>
            <a:ext cx="2286000" cy="462686"/>
          </a:xfrm>
          <a:prstGeom prst="roundRect">
            <a:avLst>
              <a:gd name="adj" fmla="val 10000"/>
            </a:avLst>
          </a:prstGeom>
          <a:solidFill>
            <a:srgbClr val="E6E9F1"/>
          </a:solidFill>
          <a:ln w="12700">
            <a:solidFill>
              <a:srgbClr val="B6BCCB"/>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r>
              <a:rPr sz="1250" b="1">
                <a:solidFill>
                  <a:srgbClr val="2E3142"/>
                </a:solidFill>
                <a:latin typeface="210 OmniGothic 040"/>
                <a:ea typeface="210 OmniGothic 040"/>
                <a:cs typeface="210 OmniGothic 040"/>
              </a:rPr>
              <a:t>프론트엔드</a:t>
            </a:r>
          </a:p>
        </p:txBody>
      </p:sp>
      <p:sp>
        <p:nvSpPr>
          <p:cNvPr id="6675" name="Connector 6676">
            <a:extLst>
              <a:ext uri="{FF2B5EF4-FFF2-40B4-BE49-F238E27FC236}">
                <a16:creationId xmlns:a16="http://schemas.microsoft.com/office/drawing/2014/main" id="{3B970D50-1981-401E-8A93-C943BCC3D7DD}"/>
              </a:ext>
            </a:extLst>
          </p:cNvPr>
          <p:cNvSpPr>
            <a:spLocks noGrp="1"/>
          </p:cNvSpPr>
          <p:nvPr/>
        </p:nvSpPr>
        <p:spPr>
          <a:xfrm>
            <a:off x="5023485" y="2908706"/>
            <a:ext cx="0" cy="6145682"/>
          </a:xfrm>
          <a:prstGeom prst="line">
            <a:avLst/>
          </a:prstGeom>
          <a:ln w="11430">
            <a:solidFill>
              <a:srgbClr val="A3A8B8"/>
            </a:solidFill>
            <a:prstDash val="dash"/>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677" name="Rounded Rectangle 6678">
            <a:extLst>
              <a:ext uri="{FF2B5EF4-FFF2-40B4-BE49-F238E27FC236}">
                <a16:creationId xmlns:a16="http://schemas.microsoft.com/office/drawing/2014/main" id="{F32F9F5F-ADFC-456D-817D-81F51466E8C9}"/>
              </a:ext>
            </a:extLst>
          </p:cNvPr>
          <p:cNvSpPr>
            <a:spLocks noGrp="1"/>
          </p:cNvSpPr>
          <p:nvPr/>
        </p:nvSpPr>
        <p:spPr>
          <a:xfrm>
            <a:off x="6566535" y="2446020"/>
            <a:ext cx="2286000" cy="462686"/>
          </a:xfrm>
          <a:prstGeom prst="roundRect">
            <a:avLst>
              <a:gd name="adj" fmla="val 10000"/>
            </a:avLst>
          </a:prstGeom>
          <a:solidFill>
            <a:srgbClr val="E6E9F1"/>
          </a:solidFill>
          <a:ln w="12700">
            <a:solidFill>
              <a:srgbClr val="B6BCCB"/>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r>
              <a:rPr sz="1250" b="1">
                <a:solidFill>
                  <a:srgbClr val="2E3142"/>
                </a:solidFill>
                <a:latin typeface="210 OmniGothic 040"/>
                <a:ea typeface="210 OmniGothic 040"/>
                <a:cs typeface="210 OmniGothic 040"/>
              </a:rPr>
              <a:t>PredictionRouter</a:t>
            </a:r>
          </a:p>
        </p:txBody>
      </p:sp>
      <p:sp>
        <p:nvSpPr>
          <p:cNvPr id="6679" name="Connector 6680">
            <a:extLst>
              <a:ext uri="{FF2B5EF4-FFF2-40B4-BE49-F238E27FC236}">
                <a16:creationId xmlns:a16="http://schemas.microsoft.com/office/drawing/2014/main" id="{1A30B6AF-7C32-4543-8170-95E0FA6415FB}"/>
              </a:ext>
            </a:extLst>
          </p:cNvPr>
          <p:cNvSpPr>
            <a:spLocks noGrp="1"/>
          </p:cNvSpPr>
          <p:nvPr/>
        </p:nvSpPr>
        <p:spPr>
          <a:xfrm>
            <a:off x="7709535" y="2908706"/>
            <a:ext cx="0" cy="6145682"/>
          </a:xfrm>
          <a:prstGeom prst="line">
            <a:avLst/>
          </a:prstGeom>
          <a:ln w="11430">
            <a:solidFill>
              <a:srgbClr val="A3A8B8"/>
            </a:solidFill>
            <a:prstDash val="dash"/>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681" name="Rounded Rectangle 6682">
            <a:extLst>
              <a:ext uri="{FF2B5EF4-FFF2-40B4-BE49-F238E27FC236}">
                <a16:creationId xmlns:a16="http://schemas.microsoft.com/office/drawing/2014/main" id="{C0107186-0529-4841-91BE-A5C4099988AA}"/>
              </a:ext>
            </a:extLst>
          </p:cNvPr>
          <p:cNvSpPr>
            <a:spLocks noGrp="1"/>
          </p:cNvSpPr>
          <p:nvPr/>
        </p:nvSpPr>
        <p:spPr>
          <a:xfrm>
            <a:off x="9252585" y="2446020"/>
            <a:ext cx="2286000" cy="462686"/>
          </a:xfrm>
          <a:prstGeom prst="roundRect">
            <a:avLst>
              <a:gd name="adj" fmla="val 10000"/>
            </a:avLst>
          </a:prstGeom>
          <a:solidFill>
            <a:srgbClr val="E6E9F1"/>
          </a:solidFill>
          <a:ln w="12700">
            <a:solidFill>
              <a:srgbClr val="B6BCCB"/>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r>
              <a:rPr sz="1250" b="1">
                <a:solidFill>
                  <a:srgbClr val="2E3142"/>
                </a:solidFill>
                <a:latin typeface="210 OmniGothic 040"/>
                <a:ea typeface="210 OmniGothic 040"/>
                <a:cs typeface="210 OmniGothic 040"/>
              </a:rPr>
              <a:t>PredictionService</a:t>
            </a:r>
          </a:p>
        </p:txBody>
      </p:sp>
      <p:sp>
        <p:nvSpPr>
          <p:cNvPr id="6683" name="Connector 6684">
            <a:extLst>
              <a:ext uri="{FF2B5EF4-FFF2-40B4-BE49-F238E27FC236}">
                <a16:creationId xmlns:a16="http://schemas.microsoft.com/office/drawing/2014/main" id="{C29D9A45-BE14-430F-BAEB-E32432AED3A5}"/>
              </a:ext>
            </a:extLst>
          </p:cNvPr>
          <p:cNvSpPr>
            <a:spLocks noGrp="1"/>
          </p:cNvSpPr>
          <p:nvPr/>
        </p:nvSpPr>
        <p:spPr>
          <a:xfrm>
            <a:off x="10395585" y="2908706"/>
            <a:ext cx="0" cy="6145682"/>
          </a:xfrm>
          <a:prstGeom prst="line">
            <a:avLst/>
          </a:prstGeom>
          <a:ln w="11430">
            <a:solidFill>
              <a:srgbClr val="A3A8B8"/>
            </a:solidFill>
            <a:prstDash val="dash"/>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685" name="Rounded Rectangle 6686">
            <a:extLst>
              <a:ext uri="{FF2B5EF4-FFF2-40B4-BE49-F238E27FC236}">
                <a16:creationId xmlns:a16="http://schemas.microsoft.com/office/drawing/2014/main" id="{30D66824-F919-4FAA-B573-85EA41F4E526}"/>
              </a:ext>
            </a:extLst>
          </p:cNvPr>
          <p:cNvSpPr>
            <a:spLocks noGrp="1"/>
          </p:cNvSpPr>
          <p:nvPr/>
        </p:nvSpPr>
        <p:spPr>
          <a:xfrm>
            <a:off x="11938635" y="2446020"/>
            <a:ext cx="2286000" cy="462686"/>
          </a:xfrm>
          <a:prstGeom prst="roundRect">
            <a:avLst>
              <a:gd name="adj" fmla="val 10000"/>
            </a:avLst>
          </a:prstGeom>
          <a:solidFill>
            <a:srgbClr val="E6E9F1"/>
          </a:solidFill>
          <a:ln w="12700">
            <a:solidFill>
              <a:srgbClr val="B6BCCB"/>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r>
              <a:rPr sz="1250" b="1">
                <a:solidFill>
                  <a:srgbClr val="2E3142"/>
                </a:solidFill>
                <a:latin typeface="210 OmniGothic 040"/>
                <a:ea typeface="210 OmniGothic 040"/>
                <a:cs typeface="210 OmniGothic 040"/>
              </a:rPr>
              <a:t>DB(PostGIS)</a:t>
            </a:r>
          </a:p>
        </p:txBody>
      </p:sp>
      <p:sp>
        <p:nvSpPr>
          <p:cNvPr id="6687" name="Connector 6688">
            <a:extLst>
              <a:ext uri="{FF2B5EF4-FFF2-40B4-BE49-F238E27FC236}">
                <a16:creationId xmlns:a16="http://schemas.microsoft.com/office/drawing/2014/main" id="{579AA5AA-598A-4495-90AE-6EDB13F992D5}"/>
              </a:ext>
            </a:extLst>
          </p:cNvPr>
          <p:cNvSpPr>
            <a:spLocks noGrp="1"/>
          </p:cNvSpPr>
          <p:nvPr/>
        </p:nvSpPr>
        <p:spPr>
          <a:xfrm>
            <a:off x="13081635" y="2908706"/>
            <a:ext cx="0" cy="6145682"/>
          </a:xfrm>
          <a:prstGeom prst="line">
            <a:avLst/>
          </a:prstGeom>
          <a:ln w="11430">
            <a:solidFill>
              <a:srgbClr val="A3A8B8"/>
            </a:solidFill>
            <a:prstDash val="dash"/>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689" name="Rounded Rectangle 6690">
            <a:extLst>
              <a:ext uri="{FF2B5EF4-FFF2-40B4-BE49-F238E27FC236}">
                <a16:creationId xmlns:a16="http://schemas.microsoft.com/office/drawing/2014/main" id="{2A461915-329F-4913-BDE7-BB4C7D1B3378}"/>
              </a:ext>
            </a:extLst>
          </p:cNvPr>
          <p:cNvSpPr>
            <a:spLocks noGrp="1"/>
          </p:cNvSpPr>
          <p:nvPr/>
        </p:nvSpPr>
        <p:spPr>
          <a:xfrm>
            <a:off x="14624685" y="2446020"/>
            <a:ext cx="2286000" cy="462686"/>
          </a:xfrm>
          <a:prstGeom prst="roundRect">
            <a:avLst>
              <a:gd name="adj" fmla="val 10000"/>
            </a:avLst>
          </a:prstGeom>
          <a:solidFill>
            <a:srgbClr val="E6E9F1"/>
          </a:solidFill>
          <a:ln w="12700">
            <a:solidFill>
              <a:srgbClr val="B6BCCB"/>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r>
              <a:rPr sz="1250" b="1">
                <a:solidFill>
                  <a:srgbClr val="2E3142"/>
                </a:solidFill>
                <a:latin typeface="210 OmniGothic 040"/>
                <a:ea typeface="210 OmniGothic 040"/>
                <a:cs typeface="210 OmniGothic 040"/>
              </a:rPr>
              <a:t>EventLogger</a:t>
            </a:r>
          </a:p>
        </p:txBody>
      </p:sp>
      <p:sp>
        <p:nvSpPr>
          <p:cNvPr id="6691" name="Connector 6692">
            <a:extLst>
              <a:ext uri="{FF2B5EF4-FFF2-40B4-BE49-F238E27FC236}">
                <a16:creationId xmlns:a16="http://schemas.microsoft.com/office/drawing/2014/main" id="{FB83339E-97E2-4F87-B096-23732F2CC214}"/>
              </a:ext>
            </a:extLst>
          </p:cNvPr>
          <p:cNvSpPr>
            <a:spLocks noGrp="1"/>
          </p:cNvSpPr>
          <p:nvPr/>
        </p:nvSpPr>
        <p:spPr>
          <a:xfrm>
            <a:off x="15767685" y="2908706"/>
            <a:ext cx="0" cy="6145682"/>
          </a:xfrm>
          <a:prstGeom prst="line">
            <a:avLst/>
          </a:prstGeom>
          <a:ln w="11430">
            <a:solidFill>
              <a:srgbClr val="A3A8B8"/>
            </a:solidFill>
            <a:prstDash val="dash"/>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567" name="Rectangle 6568">
            <a:extLst>
              <a:ext uri="{FF2B5EF4-FFF2-40B4-BE49-F238E27FC236}">
                <a16:creationId xmlns:a16="http://schemas.microsoft.com/office/drawing/2014/main" id="{4712AC82-DC67-4ADC-B451-CAEAC2E336A9}"/>
              </a:ext>
            </a:extLst>
          </p:cNvPr>
          <p:cNvSpPr>
            <a:spLocks noGrp="1"/>
          </p:cNvSpPr>
          <p:nvPr/>
        </p:nvSpPr>
        <p:spPr>
          <a:xfrm>
            <a:off x="13011635" y="6357274"/>
            <a:ext cx="140000" cy="15000"/>
          </a:xfrm>
          <a:prstGeom prst="rect">
            <a:avLst/>
          </a:prstGeom>
          <a:solidFill>
            <a:srgbClr val="FFFFFF"/>
          </a:solidFill>
          <a:ln w="9525">
            <a:solidFill>
              <a:srgbClr val="363A52"/>
            </a:solidFill>
          </a:ln>
        </p:spPr>
        <p:style>
          <a:lnRef idx="1">
            <a:schemeClr val="accent1"/>
          </a:lnRef>
          <a:fillRef idx="3">
            <a:schemeClr val="accent1"/>
          </a:fillRef>
          <a:effectRef idx="2">
            <a:schemeClr val="accent1"/>
          </a:effectRef>
          <a:fontRef idx="minor">
            <a:schemeClr val="lt1"/>
          </a:fontRef>
        </p:style>
        <p:txBody>
          <a:bodyPr wrap="square" lIns="0" rIns="0" anchor="ctr"/>
          <a:lstStyle/>
          <a:p>
            <a:pPr algn="ctr">
              <a:buNone/>
            </a:pPr>
            <a:endParaRPr/>
          </a:p>
        </p:txBody>
      </p:sp>
      <p:sp>
        <p:nvSpPr>
          <p:cNvPr id="6569" name="Rectangle 6570">
            <a:extLst>
              <a:ext uri="{FF2B5EF4-FFF2-40B4-BE49-F238E27FC236}">
                <a16:creationId xmlns:a16="http://schemas.microsoft.com/office/drawing/2014/main" id="{99D4EEE9-7DAE-445E-994E-015889B472ED}"/>
              </a:ext>
            </a:extLst>
          </p:cNvPr>
          <p:cNvSpPr>
            <a:spLocks noGrp="1"/>
          </p:cNvSpPr>
          <p:nvPr/>
        </p:nvSpPr>
        <p:spPr>
          <a:xfrm>
            <a:off x="15697685" y="6607274"/>
            <a:ext cx="140000" cy="15000"/>
          </a:xfrm>
          <a:prstGeom prst="rect">
            <a:avLst/>
          </a:prstGeom>
          <a:solidFill>
            <a:srgbClr val="FFFFFF"/>
          </a:solidFill>
          <a:ln w="9525">
            <a:solidFill>
              <a:srgbClr val="363A52"/>
            </a:solidFill>
          </a:ln>
        </p:spPr>
        <p:style>
          <a:lnRef idx="1">
            <a:schemeClr val="accent1"/>
          </a:lnRef>
          <a:fillRef idx="3">
            <a:schemeClr val="accent1"/>
          </a:fillRef>
          <a:effectRef idx="2">
            <a:schemeClr val="accent1"/>
          </a:effectRef>
          <a:fontRef idx="minor">
            <a:schemeClr val="lt1"/>
          </a:fontRef>
        </p:style>
        <p:txBody>
          <a:bodyPr wrap="square" lIns="0" rIns="0" anchor="ctr"/>
          <a:lstStyle/>
          <a:p>
            <a:pPr algn="ctr">
              <a:buNone/>
            </a:pPr>
            <a:endParaRPr/>
          </a:p>
        </p:txBody>
      </p:sp>
      <p:sp>
        <p:nvSpPr>
          <p:cNvPr id="6571" name="Rectangle 6572">
            <a:extLst>
              <a:ext uri="{FF2B5EF4-FFF2-40B4-BE49-F238E27FC236}">
                <a16:creationId xmlns:a16="http://schemas.microsoft.com/office/drawing/2014/main" id="{584B3D87-4B37-40EB-B82A-29D8298027A6}"/>
              </a:ext>
            </a:extLst>
          </p:cNvPr>
          <p:cNvSpPr>
            <a:spLocks noGrp="1"/>
          </p:cNvSpPr>
          <p:nvPr/>
        </p:nvSpPr>
        <p:spPr>
          <a:xfrm>
            <a:off x="10325585" y="4327274"/>
            <a:ext cx="140000" cy="2750000"/>
          </a:xfrm>
          <a:prstGeom prst="rect">
            <a:avLst/>
          </a:prstGeom>
          <a:solidFill>
            <a:srgbClr val="FFFFFF"/>
          </a:solidFill>
          <a:ln w="9525">
            <a:solidFill>
              <a:srgbClr val="363A52"/>
            </a:solidFill>
          </a:ln>
        </p:spPr>
        <p:style>
          <a:lnRef idx="1">
            <a:schemeClr val="accent1"/>
          </a:lnRef>
          <a:fillRef idx="3">
            <a:schemeClr val="accent1"/>
          </a:fillRef>
          <a:effectRef idx="2">
            <a:schemeClr val="accent1"/>
          </a:effectRef>
          <a:fontRef idx="minor">
            <a:schemeClr val="lt1"/>
          </a:fontRef>
        </p:style>
        <p:txBody>
          <a:bodyPr wrap="square" lIns="0" rIns="0" anchor="ctr"/>
          <a:lstStyle/>
          <a:p>
            <a:pPr algn="ctr">
              <a:buNone/>
            </a:pPr>
            <a:endParaRPr/>
          </a:p>
        </p:txBody>
      </p:sp>
      <p:sp>
        <p:nvSpPr>
          <p:cNvPr id="6573" name="Rectangle 6574">
            <a:extLst>
              <a:ext uri="{FF2B5EF4-FFF2-40B4-BE49-F238E27FC236}">
                <a16:creationId xmlns:a16="http://schemas.microsoft.com/office/drawing/2014/main" id="{D325E8A1-3D3B-42C4-8827-CEE454CE151C}"/>
              </a:ext>
            </a:extLst>
          </p:cNvPr>
          <p:cNvSpPr>
            <a:spLocks noGrp="1"/>
          </p:cNvSpPr>
          <p:nvPr/>
        </p:nvSpPr>
        <p:spPr>
          <a:xfrm>
            <a:off x="7639535" y="3632274"/>
            <a:ext cx="140000" cy="3695000"/>
          </a:xfrm>
          <a:prstGeom prst="rect">
            <a:avLst/>
          </a:prstGeom>
          <a:solidFill>
            <a:srgbClr val="FFFFFF"/>
          </a:solidFill>
          <a:ln w="9525">
            <a:solidFill>
              <a:srgbClr val="363A52"/>
            </a:solidFill>
          </a:ln>
        </p:spPr>
        <p:style>
          <a:lnRef idx="1">
            <a:schemeClr val="accent1"/>
          </a:lnRef>
          <a:fillRef idx="3">
            <a:schemeClr val="accent1"/>
          </a:fillRef>
          <a:effectRef idx="2">
            <a:schemeClr val="accent1"/>
          </a:effectRef>
          <a:fontRef idx="minor">
            <a:schemeClr val="lt1"/>
          </a:fontRef>
        </p:style>
        <p:txBody>
          <a:bodyPr wrap="square" lIns="0" rIns="0" anchor="ctr"/>
          <a:lstStyle/>
          <a:p>
            <a:pPr algn="ctr">
              <a:buNone/>
            </a:pPr>
            <a:endParaRPr/>
          </a:p>
        </p:txBody>
      </p:sp>
      <p:sp>
        <p:nvSpPr>
          <p:cNvPr id="6575" name="Rectangle 6576">
            <a:extLst>
              <a:ext uri="{FF2B5EF4-FFF2-40B4-BE49-F238E27FC236}">
                <a16:creationId xmlns:a16="http://schemas.microsoft.com/office/drawing/2014/main" id="{9FD14398-21BE-4574-AECA-7CE54B8630D1}"/>
              </a:ext>
            </a:extLst>
          </p:cNvPr>
          <p:cNvSpPr>
            <a:spLocks noGrp="1"/>
          </p:cNvSpPr>
          <p:nvPr/>
        </p:nvSpPr>
        <p:spPr>
          <a:xfrm>
            <a:off x="10325585" y="4327274"/>
            <a:ext cx="140000" cy="3805000"/>
          </a:xfrm>
          <a:prstGeom prst="rect">
            <a:avLst/>
          </a:prstGeom>
          <a:solidFill>
            <a:srgbClr val="FFFFFF"/>
          </a:solidFill>
          <a:ln w="9525">
            <a:solidFill>
              <a:srgbClr val="363A52"/>
            </a:solidFill>
          </a:ln>
        </p:spPr>
        <p:style>
          <a:lnRef idx="1">
            <a:schemeClr val="accent1"/>
          </a:lnRef>
          <a:fillRef idx="3">
            <a:schemeClr val="accent1"/>
          </a:fillRef>
          <a:effectRef idx="2">
            <a:schemeClr val="accent1"/>
          </a:effectRef>
          <a:fontRef idx="minor">
            <a:schemeClr val="lt1"/>
          </a:fontRef>
        </p:style>
        <p:txBody>
          <a:bodyPr wrap="square" lIns="0" rIns="0" anchor="ctr"/>
          <a:lstStyle/>
          <a:p>
            <a:pPr algn="ctr">
              <a:buNone/>
            </a:pPr>
            <a:endParaRPr/>
          </a:p>
        </p:txBody>
      </p:sp>
      <p:sp>
        <p:nvSpPr>
          <p:cNvPr id="6577" name="Rectangle 6578">
            <a:extLst>
              <a:ext uri="{FF2B5EF4-FFF2-40B4-BE49-F238E27FC236}">
                <a16:creationId xmlns:a16="http://schemas.microsoft.com/office/drawing/2014/main" id="{F3DFDC27-D518-455A-A41D-EB1E2A46CDB6}"/>
              </a:ext>
            </a:extLst>
          </p:cNvPr>
          <p:cNvSpPr>
            <a:spLocks noGrp="1"/>
          </p:cNvSpPr>
          <p:nvPr/>
        </p:nvSpPr>
        <p:spPr>
          <a:xfrm>
            <a:off x="7639535" y="3632274"/>
            <a:ext cx="140000" cy="4750000"/>
          </a:xfrm>
          <a:prstGeom prst="rect">
            <a:avLst/>
          </a:prstGeom>
          <a:solidFill>
            <a:srgbClr val="FFFFFF"/>
          </a:solidFill>
          <a:ln w="9525">
            <a:solidFill>
              <a:srgbClr val="363A52"/>
            </a:solidFill>
          </a:ln>
        </p:spPr>
        <p:style>
          <a:lnRef idx="1">
            <a:schemeClr val="accent1"/>
          </a:lnRef>
          <a:fillRef idx="3">
            <a:schemeClr val="accent1"/>
          </a:fillRef>
          <a:effectRef idx="2">
            <a:schemeClr val="accent1"/>
          </a:effectRef>
          <a:fontRef idx="minor">
            <a:schemeClr val="lt1"/>
          </a:fontRef>
        </p:style>
        <p:txBody>
          <a:bodyPr wrap="square" lIns="0" rIns="0" anchor="ctr"/>
          <a:lstStyle/>
          <a:p>
            <a:pPr algn="ctr">
              <a:buNone/>
            </a:pPr>
            <a:endParaRPr/>
          </a:p>
        </p:txBody>
      </p:sp>
      <p:sp>
        <p:nvSpPr>
          <p:cNvPr id="6579" name="Rectangle 6580">
            <a:extLst>
              <a:ext uri="{FF2B5EF4-FFF2-40B4-BE49-F238E27FC236}">
                <a16:creationId xmlns:a16="http://schemas.microsoft.com/office/drawing/2014/main" id="{7B4C89A1-FD3F-4339-937E-7A07D8E60B84}"/>
              </a:ext>
            </a:extLst>
          </p:cNvPr>
          <p:cNvSpPr>
            <a:spLocks noGrp="1"/>
          </p:cNvSpPr>
          <p:nvPr/>
        </p:nvSpPr>
        <p:spPr>
          <a:xfrm>
            <a:off x="4953485" y="3382274"/>
            <a:ext cx="140000" cy="5250000"/>
          </a:xfrm>
          <a:prstGeom prst="rect">
            <a:avLst/>
          </a:prstGeom>
          <a:solidFill>
            <a:srgbClr val="FFFFFF"/>
          </a:solidFill>
          <a:ln w="9525">
            <a:solidFill>
              <a:srgbClr val="363A52"/>
            </a:solidFill>
          </a:ln>
        </p:spPr>
        <p:style>
          <a:lnRef idx="1">
            <a:schemeClr val="accent1"/>
          </a:lnRef>
          <a:fillRef idx="3">
            <a:schemeClr val="accent1"/>
          </a:fillRef>
          <a:effectRef idx="2">
            <a:schemeClr val="accent1"/>
          </a:effectRef>
          <a:fontRef idx="minor">
            <a:schemeClr val="lt1"/>
          </a:fontRef>
        </p:style>
        <p:txBody>
          <a:bodyPr wrap="square" lIns="0" rIns="0" anchor="ctr"/>
          <a:lstStyle/>
          <a:p>
            <a:pPr algn="ctr">
              <a:buNone/>
            </a:pPr>
            <a:endParaRPr/>
          </a:p>
        </p:txBody>
      </p:sp>
      <p:sp>
        <p:nvSpPr>
          <p:cNvPr id="6581" name="TextBox 6582">
            <a:extLst>
              <a:ext uri="{FF2B5EF4-FFF2-40B4-BE49-F238E27FC236}">
                <a16:creationId xmlns:a16="http://schemas.microsoft.com/office/drawing/2014/main" id="{BAEB077B-A657-42FE-BEF7-A3764A5E9B15}"/>
              </a:ext>
            </a:extLst>
          </p:cNvPr>
          <p:cNvSpPr>
            <a:spLocks noGrp="1"/>
          </p:cNvSpPr>
          <p:nvPr/>
        </p:nvSpPr>
        <p:spPr>
          <a:xfrm>
            <a:off x="2337435" y="3157274"/>
            <a:ext cx="268605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확산 예측 실행 / 다시 예측</a:t>
            </a:r>
          </a:p>
        </p:txBody>
      </p:sp>
      <p:sp>
        <p:nvSpPr>
          <p:cNvPr id="6583" name="Connector 6584">
            <a:extLst>
              <a:ext uri="{FF2B5EF4-FFF2-40B4-BE49-F238E27FC236}">
                <a16:creationId xmlns:a16="http://schemas.microsoft.com/office/drawing/2014/main" id="{9CC0CCFE-8C6E-411A-912D-0A344097C49D}"/>
              </a:ext>
            </a:extLst>
          </p:cNvPr>
          <p:cNvSpPr>
            <a:spLocks noGrp="1"/>
          </p:cNvSpPr>
          <p:nvPr/>
        </p:nvSpPr>
        <p:spPr>
          <a:xfrm>
            <a:off x="2337435" y="3382274"/>
            <a:ext cx="2616050" cy="0"/>
          </a:xfrm>
          <a:prstGeom prst="line">
            <a:avLst/>
          </a:prstGeom>
          <a:ln w="1397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585" name="TextBox 6586">
            <a:extLst>
              <a:ext uri="{FF2B5EF4-FFF2-40B4-BE49-F238E27FC236}">
                <a16:creationId xmlns:a16="http://schemas.microsoft.com/office/drawing/2014/main" id="{581545BC-1DA8-4B67-855C-8C823A9985E5}"/>
              </a:ext>
            </a:extLst>
          </p:cNvPr>
          <p:cNvSpPr>
            <a:spLocks noGrp="1"/>
          </p:cNvSpPr>
          <p:nvPr/>
        </p:nvSpPr>
        <p:spPr>
          <a:xfrm>
            <a:off x="5023485" y="3407274"/>
            <a:ext cx="268605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POST /incidents/{id}/predictions</a:t>
            </a:r>
          </a:p>
        </p:txBody>
      </p:sp>
      <p:sp>
        <p:nvSpPr>
          <p:cNvPr id="6587" name="Connector 6588">
            <a:extLst>
              <a:ext uri="{FF2B5EF4-FFF2-40B4-BE49-F238E27FC236}">
                <a16:creationId xmlns:a16="http://schemas.microsoft.com/office/drawing/2014/main" id="{EA442308-A6D2-4E77-A241-BE4C36842E29}"/>
              </a:ext>
            </a:extLst>
          </p:cNvPr>
          <p:cNvSpPr>
            <a:spLocks noGrp="1"/>
          </p:cNvSpPr>
          <p:nvPr/>
        </p:nvSpPr>
        <p:spPr>
          <a:xfrm>
            <a:off x="5093485" y="3632274"/>
            <a:ext cx="2546050" cy="0"/>
          </a:xfrm>
          <a:prstGeom prst="line">
            <a:avLst/>
          </a:prstGeom>
          <a:ln w="1397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589" name="Connector 6590">
            <a:extLst>
              <a:ext uri="{FF2B5EF4-FFF2-40B4-BE49-F238E27FC236}">
                <a16:creationId xmlns:a16="http://schemas.microsoft.com/office/drawing/2014/main" id="{90DD4085-EA74-4218-92C1-61514E0801BE}"/>
              </a:ext>
            </a:extLst>
          </p:cNvPr>
          <p:cNvSpPr>
            <a:spLocks noGrp="1"/>
          </p:cNvSpPr>
          <p:nvPr/>
        </p:nvSpPr>
        <p:spPr>
          <a:xfrm>
            <a:off x="7779535" y="3882274"/>
            <a:ext cx="365760" cy="0"/>
          </a:xfrm>
          <a:prstGeom prst="line">
            <a:avLst/>
          </a:prstGeom>
          <a:ln w="13970">
            <a:solidFill>
              <a:srgbClr val="363A52"/>
            </a:solidFill>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591" name="Connector 6592">
            <a:extLst>
              <a:ext uri="{FF2B5EF4-FFF2-40B4-BE49-F238E27FC236}">
                <a16:creationId xmlns:a16="http://schemas.microsoft.com/office/drawing/2014/main" id="{B649FDD3-1D51-4049-ACB5-C6A85A272B02}"/>
              </a:ext>
            </a:extLst>
          </p:cNvPr>
          <p:cNvSpPr>
            <a:spLocks noGrp="1"/>
          </p:cNvSpPr>
          <p:nvPr/>
        </p:nvSpPr>
        <p:spPr>
          <a:xfrm>
            <a:off x="8145295" y="3882274"/>
            <a:ext cx="0" cy="180251"/>
          </a:xfrm>
          <a:prstGeom prst="line">
            <a:avLst/>
          </a:prstGeom>
          <a:ln w="13970">
            <a:solidFill>
              <a:srgbClr val="363A52"/>
            </a:solidFill>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593" name="Connector 6594">
            <a:extLst>
              <a:ext uri="{FF2B5EF4-FFF2-40B4-BE49-F238E27FC236}">
                <a16:creationId xmlns:a16="http://schemas.microsoft.com/office/drawing/2014/main" id="{7670E1B2-A59A-457E-AC99-25E5407011A4}"/>
              </a:ext>
            </a:extLst>
          </p:cNvPr>
          <p:cNvSpPr>
            <a:spLocks noGrp="1"/>
          </p:cNvSpPr>
          <p:nvPr/>
        </p:nvSpPr>
        <p:spPr>
          <a:xfrm flipH="1">
            <a:off x="7813825" y="4062525"/>
            <a:ext cx="331470" cy="0"/>
          </a:xfrm>
          <a:prstGeom prst="line">
            <a:avLst/>
          </a:prstGeom>
          <a:ln w="1397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595" name="TextBox 6596">
            <a:extLst>
              <a:ext uri="{FF2B5EF4-FFF2-40B4-BE49-F238E27FC236}">
                <a16:creationId xmlns:a16="http://schemas.microsoft.com/office/drawing/2014/main" id="{2A8C08F3-664A-4491-A549-9FF3FC2564E1}"/>
              </a:ext>
            </a:extLst>
          </p:cNvPr>
          <p:cNvSpPr>
            <a:spLocks noGrp="1"/>
          </p:cNvSpPr>
          <p:nvPr/>
        </p:nvSpPr>
        <p:spPr>
          <a:xfrm>
            <a:off x="8236735" y="3657274"/>
            <a:ext cx="4562951" cy="221284"/>
          </a:xfrm>
          <a:prstGeom prst="rect">
            <a:avLst/>
          </a:prstGeom>
          <a:noFill/>
        </p:spPr>
        <p:txBody>
          <a:bodyPr wrap="square" lIns="0" tIns="0" rIns="0" bIns="0" anchor="t">
            <a:spAutoFit/>
          </a:bodyPr>
          <a:lstStyle/>
          <a:p>
            <a:pPr algn="l">
              <a:buNone/>
            </a:pPr>
            <a:r>
              <a:rPr sz="1100" b="0">
                <a:solidFill>
                  <a:srgbClr val="2E3142"/>
                </a:solidFill>
                <a:latin typeface="210 OmniGothic 040"/>
                <a:ea typeface="210 OmniGothic 040"/>
                <a:cs typeface="210 OmniGothic 040"/>
              </a:rPr>
              <a:t>권한(조작) 확인</a:t>
            </a:r>
          </a:p>
        </p:txBody>
      </p:sp>
      <p:sp>
        <p:nvSpPr>
          <p:cNvPr id="6597" name="TextBox 6598">
            <a:extLst>
              <a:ext uri="{FF2B5EF4-FFF2-40B4-BE49-F238E27FC236}">
                <a16:creationId xmlns:a16="http://schemas.microsoft.com/office/drawing/2014/main" id="{D5EDB18E-AC73-4D3D-BECD-DFCCD6E682C7}"/>
              </a:ext>
            </a:extLst>
          </p:cNvPr>
          <p:cNvSpPr>
            <a:spLocks noGrp="1"/>
          </p:cNvSpPr>
          <p:nvPr/>
        </p:nvSpPr>
        <p:spPr>
          <a:xfrm>
            <a:off x="7709535" y="4102274"/>
            <a:ext cx="268605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execute(incident, perimeter?)</a:t>
            </a:r>
          </a:p>
        </p:txBody>
      </p:sp>
      <p:sp>
        <p:nvSpPr>
          <p:cNvPr id="6599" name="Connector 6600">
            <a:extLst>
              <a:ext uri="{FF2B5EF4-FFF2-40B4-BE49-F238E27FC236}">
                <a16:creationId xmlns:a16="http://schemas.microsoft.com/office/drawing/2014/main" id="{08886F07-A900-480D-8C02-D2F316968372}"/>
              </a:ext>
            </a:extLst>
          </p:cNvPr>
          <p:cNvSpPr>
            <a:spLocks noGrp="1"/>
          </p:cNvSpPr>
          <p:nvPr/>
        </p:nvSpPr>
        <p:spPr>
          <a:xfrm>
            <a:off x="7779535" y="4327274"/>
            <a:ext cx="2546050" cy="0"/>
          </a:xfrm>
          <a:prstGeom prst="line">
            <a:avLst/>
          </a:prstGeom>
          <a:ln w="1397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601" name="Connector 6602">
            <a:extLst>
              <a:ext uri="{FF2B5EF4-FFF2-40B4-BE49-F238E27FC236}">
                <a16:creationId xmlns:a16="http://schemas.microsoft.com/office/drawing/2014/main" id="{D109D897-CD73-4A25-AB03-68F663E95E56}"/>
              </a:ext>
            </a:extLst>
          </p:cNvPr>
          <p:cNvSpPr>
            <a:spLocks noGrp="1"/>
          </p:cNvSpPr>
          <p:nvPr/>
        </p:nvSpPr>
        <p:spPr>
          <a:xfrm>
            <a:off x="10465585" y="4577274"/>
            <a:ext cx="365760" cy="0"/>
          </a:xfrm>
          <a:prstGeom prst="line">
            <a:avLst/>
          </a:prstGeom>
          <a:ln w="13970">
            <a:solidFill>
              <a:srgbClr val="363A52"/>
            </a:solidFill>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603" name="Connector 6604">
            <a:extLst>
              <a:ext uri="{FF2B5EF4-FFF2-40B4-BE49-F238E27FC236}">
                <a16:creationId xmlns:a16="http://schemas.microsoft.com/office/drawing/2014/main" id="{A1DF0043-12AC-4B45-A6A3-403E0AC94867}"/>
              </a:ext>
            </a:extLst>
          </p:cNvPr>
          <p:cNvSpPr>
            <a:spLocks noGrp="1"/>
          </p:cNvSpPr>
          <p:nvPr/>
        </p:nvSpPr>
        <p:spPr>
          <a:xfrm>
            <a:off x="10831345" y="4577274"/>
            <a:ext cx="0" cy="180251"/>
          </a:xfrm>
          <a:prstGeom prst="line">
            <a:avLst/>
          </a:prstGeom>
          <a:ln w="13970">
            <a:solidFill>
              <a:srgbClr val="363A52"/>
            </a:solidFill>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605" name="Connector 6606">
            <a:extLst>
              <a:ext uri="{FF2B5EF4-FFF2-40B4-BE49-F238E27FC236}">
                <a16:creationId xmlns:a16="http://schemas.microsoft.com/office/drawing/2014/main" id="{DEB68913-8D8D-467D-B676-4F2488B39AFE}"/>
              </a:ext>
            </a:extLst>
          </p:cNvPr>
          <p:cNvSpPr>
            <a:spLocks noGrp="1"/>
          </p:cNvSpPr>
          <p:nvPr/>
        </p:nvSpPr>
        <p:spPr>
          <a:xfrm flipH="1">
            <a:off x="10499875" y="4757525"/>
            <a:ext cx="331470" cy="0"/>
          </a:xfrm>
          <a:prstGeom prst="line">
            <a:avLst/>
          </a:prstGeom>
          <a:ln w="1397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607" name="TextBox 6608">
            <a:extLst>
              <a:ext uri="{FF2B5EF4-FFF2-40B4-BE49-F238E27FC236}">
                <a16:creationId xmlns:a16="http://schemas.microsoft.com/office/drawing/2014/main" id="{71F0D937-E01D-4D71-AE20-A2C0E219A646}"/>
              </a:ext>
            </a:extLst>
          </p:cNvPr>
          <p:cNvSpPr>
            <a:spLocks noGrp="1"/>
          </p:cNvSpPr>
          <p:nvPr/>
        </p:nvSpPr>
        <p:spPr>
          <a:xfrm>
            <a:off x="10922785" y="4352274"/>
            <a:ext cx="4562951" cy="221284"/>
          </a:xfrm>
          <a:prstGeom prst="rect">
            <a:avLst/>
          </a:prstGeom>
          <a:noFill/>
        </p:spPr>
        <p:txBody>
          <a:bodyPr wrap="square" lIns="0" tIns="0" rIns="0" bIns="0" anchor="t">
            <a:spAutoFit/>
          </a:bodyPr>
          <a:lstStyle/>
          <a:p>
            <a:pPr algn="l">
              <a:buNone/>
            </a:pPr>
            <a:r>
              <a:rPr sz="1100" b="0">
                <a:solidFill>
                  <a:srgbClr val="2E3142"/>
                </a:solidFill>
                <a:latin typeface="210 OmniGothic 040"/>
                <a:ea typeface="210 OmniGothic 040"/>
                <a:cs typeface="210 OmniGothic 040"/>
              </a:rPr>
              <a:t>입력 검증(발화점·실측 화선·t0)</a:t>
            </a:r>
          </a:p>
        </p:txBody>
      </p:sp>
      <p:sp>
        <p:nvSpPr>
          <p:cNvPr id="6609" name="Connector 6610">
            <a:extLst>
              <a:ext uri="{FF2B5EF4-FFF2-40B4-BE49-F238E27FC236}">
                <a16:creationId xmlns:a16="http://schemas.microsoft.com/office/drawing/2014/main" id="{54102263-EBE7-4423-B3BA-0DD9EAE0F2BA}"/>
              </a:ext>
            </a:extLst>
          </p:cNvPr>
          <p:cNvSpPr>
            <a:spLocks noGrp="1"/>
          </p:cNvSpPr>
          <p:nvPr/>
        </p:nvSpPr>
        <p:spPr>
          <a:xfrm>
            <a:off x="10465585" y="5022274"/>
            <a:ext cx="365760" cy="0"/>
          </a:xfrm>
          <a:prstGeom prst="line">
            <a:avLst/>
          </a:prstGeom>
          <a:ln w="13970">
            <a:solidFill>
              <a:srgbClr val="363A52"/>
            </a:solidFill>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611" name="Connector 6612">
            <a:extLst>
              <a:ext uri="{FF2B5EF4-FFF2-40B4-BE49-F238E27FC236}">
                <a16:creationId xmlns:a16="http://schemas.microsoft.com/office/drawing/2014/main" id="{DAC415E1-0AE6-4661-8783-8125F3100FBA}"/>
              </a:ext>
            </a:extLst>
          </p:cNvPr>
          <p:cNvSpPr>
            <a:spLocks noGrp="1"/>
          </p:cNvSpPr>
          <p:nvPr/>
        </p:nvSpPr>
        <p:spPr>
          <a:xfrm>
            <a:off x="10831345" y="5022274"/>
            <a:ext cx="0" cy="180251"/>
          </a:xfrm>
          <a:prstGeom prst="line">
            <a:avLst/>
          </a:prstGeom>
          <a:ln w="13970">
            <a:solidFill>
              <a:srgbClr val="363A52"/>
            </a:solidFill>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613" name="Connector 6614">
            <a:extLst>
              <a:ext uri="{FF2B5EF4-FFF2-40B4-BE49-F238E27FC236}">
                <a16:creationId xmlns:a16="http://schemas.microsoft.com/office/drawing/2014/main" id="{2AD11973-B02E-423D-8C9D-A6BD6327FDE7}"/>
              </a:ext>
            </a:extLst>
          </p:cNvPr>
          <p:cNvSpPr>
            <a:spLocks noGrp="1"/>
          </p:cNvSpPr>
          <p:nvPr/>
        </p:nvSpPr>
        <p:spPr>
          <a:xfrm flipH="1">
            <a:off x="10499875" y="5202525"/>
            <a:ext cx="331470" cy="0"/>
          </a:xfrm>
          <a:prstGeom prst="line">
            <a:avLst/>
          </a:prstGeom>
          <a:ln w="1397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615" name="TextBox 6616">
            <a:extLst>
              <a:ext uri="{FF2B5EF4-FFF2-40B4-BE49-F238E27FC236}">
                <a16:creationId xmlns:a16="http://schemas.microsoft.com/office/drawing/2014/main" id="{0C854FBC-01CA-4526-9F79-1A3703CE6D40}"/>
              </a:ext>
            </a:extLst>
          </p:cNvPr>
          <p:cNvSpPr>
            <a:spLocks noGrp="1"/>
          </p:cNvSpPr>
          <p:nvPr/>
        </p:nvSpPr>
        <p:spPr>
          <a:xfrm>
            <a:off x="10922785" y="4797274"/>
            <a:ext cx="4562951" cy="221284"/>
          </a:xfrm>
          <a:prstGeom prst="rect">
            <a:avLst/>
          </a:prstGeom>
          <a:noFill/>
        </p:spPr>
        <p:txBody>
          <a:bodyPr wrap="square" lIns="0" tIns="0" rIns="0" bIns="0" anchor="t">
            <a:spAutoFit/>
          </a:bodyPr>
          <a:lstStyle/>
          <a:p>
            <a:pPr algn="l">
              <a:buNone/>
            </a:pPr>
            <a:r>
              <a:rPr sz="1100" b="0">
                <a:solidFill>
                  <a:srgbClr val="2E3142"/>
                </a:solidFill>
                <a:latin typeface="210 OmniGothic 040"/>
                <a:ea typeface="210 OmniGothic 040"/>
                <a:cs typeface="210 OmniGothic 040"/>
              </a:rPr>
              <a:t>단기예보 조회(WeatherClient)</a:t>
            </a:r>
          </a:p>
        </p:txBody>
      </p:sp>
      <p:sp>
        <p:nvSpPr>
          <p:cNvPr id="6617" name="Connector 6618">
            <a:extLst>
              <a:ext uri="{FF2B5EF4-FFF2-40B4-BE49-F238E27FC236}">
                <a16:creationId xmlns:a16="http://schemas.microsoft.com/office/drawing/2014/main" id="{A7D21E3A-6AD1-4C32-8684-D277C56AA5D5}"/>
              </a:ext>
            </a:extLst>
          </p:cNvPr>
          <p:cNvSpPr>
            <a:spLocks noGrp="1"/>
          </p:cNvSpPr>
          <p:nvPr/>
        </p:nvSpPr>
        <p:spPr>
          <a:xfrm>
            <a:off x="10465585" y="5467274"/>
            <a:ext cx="365760" cy="0"/>
          </a:xfrm>
          <a:prstGeom prst="line">
            <a:avLst/>
          </a:prstGeom>
          <a:ln w="13970">
            <a:solidFill>
              <a:srgbClr val="363A52"/>
            </a:solidFill>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619" name="Connector 6620">
            <a:extLst>
              <a:ext uri="{FF2B5EF4-FFF2-40B4-BE49-F238E27FC236}">
                <a16:creationId xmlns:a16="http://schemas.microsoft.com/office/drawing/2014/main" id="{A6BC149A-A00F-4C64-836C-58E3BE2CC179}"/>
              </a:ext>
            </a:extLst>
          </p:cNvPr>
          <p:cNvSpPr>
            <a:spLocks noGrp="1"/>
          </p:cNvSpPr>
          <p:nvPr/>
        </p:nvSpPr>
        <p:spPr>
          <a:xfrm>
            <a:off x="10831345" y="5467274"/>
            <a:ext cx="0" cy="180251"/>
          </a:xfrm>
          <a:prstGeom prst="line">
            <a:avLst/>
          </a:prstGeom>
          <a:ln w="13970">
            <a:solidFill>
              <a:srgbClr val="363A52"/>
            </a:solidFill>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621" name="Connector 6622">
            <a:extLst>
              <a:ext uri="{FF2B5EF4-FFF2-40B4-BE49-F238E27FC236}">
                <a16:creationId xmlns:a16="http://schemas.microsoft.com/office/drawing/2014/main" id="{915EC0C6-5AB6-4414-BAFA-09E442090F21}"/>
              </a:ext>
            </a:extLst>
          </p:cNvPr>
          <p:cNvSpPr>
            <a:spLocks noGrp="1"/>
          </p:cNvSpPr>
          <p:nvPr/>
        </p:nvSpPr>
        <p:spPr>
          <a:xfrm flipH="1">
            <a:off x="10499875" y="5647525"/>
            <a:ext cx="331470" cy="0"/>
          </a:xfrm>
          <a:prstGeom prst="line">
            <a:avLst/>
          </a:prstGeom>
          <a:ln w="1397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623" name="TextBox 6624">
            <a:extLst>
              <a:ext uri="{FF2B5EF4-FFF2-40B4-BE49-F238E27FC236}">
                <a16:creationId xmlns:a16="http://schemas.microsoft.com/office/drawing/2014/main" id="{51D8236E-CC87-4D59-A919-84A1DA7637B8}"/>
              </a:ext>
            </a:extLst>
          </p:cNvPr>
          <p:cNvSpPr>
            <a:spLocks noGrp="1"/>
          </p:cNvSpPr>
          <p:nvPr/>
        </p:nvSpPr>
        <p:spPr>
          <a:xfrm>
            <a:off x="10922785" y="5242274"/>
            <a:ext cx="4562951" cy="221284"/>
          </a:xfrm>
          <a:prstGeom prst="rect">
            <a:avLst/>
          </a:prstGeom>
          <a:noFill/>
        </p:spPr>
        <p:txBody>
          <a:bodyPr wrap="square" lIns="0" tIns="0" rIns="0" bIns="0" anchor="t">
            <a:spAutoFit/>
          </a:bodyPr>
          <a:lstStyle/>
          <a:p>
            <a:pPr algn="l">
              <a:buNone/>
            </a:pPr>
            <a:r>
              <a:rPr sz="1100" b="0">
                <a:solidFill>
                  <a:srgbClr val="2E3142"/>
                </a:solidFill>
                <a:latin typeface="210 OmniGothic 040"/>
                <a:ea typeface="210 OmniGothic 040"/>
                <a:cs typeface="210 OmniGothic 040"/>
              </a:rPr>
              <a:t>ELMFIRE 실행(ElmfireAdapter, 초기 화선·격자·기상)</a:t>
            </a:r>
          </a:p>
        </p:txBody>
      </p:sp>
      <p:sp>
        <p:nvSpPr>
          <p:cNvPr id="6625" name="Connector 6626">
            <a:extLst>
              <a:ext uri="{FF2B5EF4-FFF2-40B4-BE49-F238E27FC236}">
                <a16:creationId xmlns:a16="http://schemas.microsoft.com/office/drawing/2014/main" id="{BCE6C0B8-9D04-42AB-AF02-1E5BC58603E3}"/>
              </a:ext>
            </a:extLst>
          </p:cNvPr>
          <p:cNvSpPr>
            <a:spLocks noGrp="1"/>
          </p:cNvSpPr>
          <p:nvPr/>
        </p:nvSpPr>
        <p:spPr>
          <a:xfrm>
            <a:off x="10465585" y="5912274"/>
            <a:ext cx="365760" cy="0"/>
          </a:xfrm>
          <a:prstGeom prst="line">
            <a:avLst/>
          </a:prstGeom>
          <a:ln w="13970">
            <a:solidFill>
              <a:srgbClr val="363A52"/>
            </a:solidFill>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627" name="Connector 6628">
            <a:extLst>
              <a:ext uri="{FF2B5EF4-FFF2-40B4-BE49-F238E27FC236}">
                <a16:creationId xmlns:a16="http://schemas.microsoft.com/office/drawing/2014/main" id="{1E5EF611-A266-4C92-8548-435F7DD99C9D}"/>
              </a:ext>
            </a:extLst>
          </p:cNvPr>
          <p:cNvSpPr>
            <a:spLocks noGrp="1"/>
          </p:cNvSpPr>
          <p:nvPr/>
        </p:nvSpPr>
        <p:spPr>
          <a:xfrm>
            <a:off x="10831345" y="5912274"/>
            <a:ext cx="0" cy="180251"/>
          </a:xfrm>
          <a:prstGeom prst="line">
            <a:avLst/>
          </a:prstGeom>
          <a:ln w="13970">
            <a:solidFill>
              <a:srgbClr val="363A52"/>
            </a:solidFill>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629" name="Connector 6630">
            <a:extLst>
              <a:ext uri="{FF2B5EF4-FFF2-40B4-BE49-F238E27FC236}">
                <a16:creationId xmlns:a16="http://schemas.microsoft.com/office/drawing/2014/main" id="{CB31FBB1-9A51-4AD8-941A-C8F00DBA3F58}"/>
              </a:ext>
            </a:extLst>
          </p:cNvPr>
          <p:cNvSpPr>
            <a:spLocks noGrp="1"/>
          </p:cNvSpPr>
          <p:nvPr/>
        </p:nvSpPr>
        <p:spPr>
          <a:xfrm flipH="1">
            <a:off x="10499875" y="6092525"/>
            <a:ext cx="331470" cy="0"/>
          </a:xfrm>
          <a:prstGeom prst="line">
            <a:avLst/>
          </a:prstGeom>
          <a:ln w="1397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631" name="TextBox 6632">
            <a:extLst>
              <a:ext uri="{FF2B5EF4-FFF2-40B4-BE49-F238E27FC236}">
                <a16:creationId xmlns:a16="http://schemas.microsoft.com/office/drawing/2014/main" id="{96D9974A-64AB-4266-9933-34B79B15B118}"/>
              </a:ext>
            </a:extLst>
          </p:cNvPr>
          <p:cNvSpPr>
            <a:spLocks noGrp="1"/>
          </p:cNvSpPr>
          <p:nvPr/>
        </p:nvSpPr>
        <p:spPr>
          <a:xfrm>
            <a:off x="10922785" y="5687274"/>
            <a:ext cx="4562951" cy="221284"/>
          </a:xfrm>
          <a:prstGeom prst="rect">
            <a:avLst/>
          </a:prstGeom>
          <a:noFill/>
        </p:spPr>
        <p:txBody>
          <a:bodyPr wrap="square" lIns="0" tIns="0" rIns="0" bIns="0" anchor="t">
            <a:spAutoFit/>
          </a:bodyPr>
          <a:lstStyle/>
          <a:p>
            <a:pPr algn="l">
              <a:buNone/>
            </a:pPr>
            <a:r>
              <a:rPr sz="1100" b="0">
                <a:solidFill>
                  <a:srgbClr val="2E3142"/>
                </a:solidFill>
                <a:latin typeface="210 OmniGothic 040"/>
                <a:ea typeface="210 OmniGothic 040"/>
                <a:cs typeface="210 OmniGothic 040"/>
              </a:rPr>
              <a:t>P1~P8 폴리곤 변환·누적성 검증</a:t>
            </a:r>
          </a:p>
        </p:txBody>
      </p:sp>
      <p:sp>
        <p:nvSpPr>
          <p:cNvPr id="6633" name="TextBox 6634">
            <a:extLst>
              <a:ext uri="{FF2B5EF4-FFF2-40B4-BE49-F238E27FC236}">
                <a16:creationId xmlns:a16="http://schemas.microsoft.com/office/drawing/2014/main" id="{AF59B255-C798-4BA2-BDF0-FC27A42A008B}"/>
              </a:ext>
            </a:extLst>
          </p:cNvPr>
          <p:cNvSpPr>
            <a:spLocks noGrp="1"/>
          </p:cNvSpPr>
          <p:nvPr/>
        </p:nvSpPr>
        <p:spPr>
          <a:xfrm>
            <a:off x="10395585" y="6132274"/>
            <a:ext cx="268605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예측 실행·슬라이스 저장</a:t>
            </a:r>
          </a:p>
        </p:txBody>
      </p:sp>
      <p:sp>
        <p:nvSpPr>
          <p:cNvPr id="6635" name="Connector 6636">
            <a:extLst>
              <a:ext uri="{FF2B5EF4-FFF2-40B4-BE49-F238E27FC236}">
                <a16:creationId xmlns:a16="http://schemas.microsoft.com/office/drawing/2014/main" id="{40159A53-CA4D-4046-B512-6A1FA4C600E0}"/>
              </a:ext>
            </a:extLst>
          </p:cNvPr>
          <p:cNvSpPr>
            <a:spLocks noGrp="1"/>
          </p:cNvSpPr>
          <p:nvPr/>
        </p:nvSpPr>
        <p:spPr>
          <a:xfrm>
            <a:off x="10465585" y="6357274"/>
            <a:ext cx="2546050" cy="0"/>
          </a:xfrm>
          <a:prstGeom prst="line">
            <a:avLst/>
          </a:prstGeom>
          <a:ln w="1397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637" name="TextBox 6638">
            <a:extLst>
              <a:ext uri="{FF2B5EF4-FFF2-40B4-BE49-F238E27FC236}">
                <a16:creationId xmlns:a16="http://schemas.microsoft.com/office/drawing/2014/main" id="{8674BC35-5929-43E4-A235-0D14AA79CD46}"/>
              </a:ext>
            </a:extLst>
          </p:cNvPr>
          <p:cNvSpPr>
            <a:spLocks noGrp="1"/>
          </p:cNvSpPr>
          <p:nvPr/>
        </p:nvSpPr>
        <p:spPr>
          <a:xfrm>
            <a:off x="10395585" y="6382274"/>
            <a:ext cx="537210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record(예측, 확산 예측 갱신)</a:t>
            </a:r>
          </a:p>
        </p:txBody>
      </p:sp>
      <p:sp>
        <p:nvSpPr>
          <p:cNvPr id="6639" name="Connector 6640">
            <a:extLst>
              <a:ext uri="{FF2B5EF4-FFF2-40B4-BE49-F238E27FC236}">
                <a16:creationId xmlns:a16="http://schemas.microsoft.com/office/drawing/2014/main" id="{77899F89-A27E-4388-BBB7-CD20211ECF3B}"/>
              </a:ext>
            </a:extLst>
          </p:cNvPr>
          <p:cNvSpPr>
            <a:spLocks noGrp="1"/>
          </p:cNvSpPr>
          <p:nvPr/>
        </p:nvSpPr>
        <p:spPr>
          <a:xfrm>
            <a:off x="10465585" y="6607274"/>
            <a:ext cx="5232100" cy="0"/>
          </a:xfrm>
          <a:prstGeom prst="line">
            <a:avLst/>
          </a:prstGeom>
          <a:ln w="1397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641" name="TextBox 6642">
            <a:extLst>
              <a:ext uri="{FF2B5EF4-FFF2-40B4-BE49-F238E27FC236}">
                <a16:creationId xmlns:a16="http://schemas.microsoft.com/office/drawing/2014/main" id="{627410F2-993F-406E-BB32-E91D7CE3F5BE}"/>
              </a:ext>
            </a:extLst>
          </p:cNvPr>
          <p:cNvSpPr>
            <a:spLocks noGrp="1"/>
          </p:cNvSpPr>
          <p:nvPr/>
        </p:nvSpPr>
        <p:spPr>
          <a:xfrm>
            <a:off x="7709535" y="6852274"/>
            <a:ext cx="268605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오류, 이전 결과 유지</a:t>
            </a:r>
          </a:p>
        </p:txBody>
      </p:sp>
      <p:sp>
        <p:nvSpPr>
          <p:cNvPr id="6643" name="Connector 6644">
            <a:extLst>
              <a:ext uri="{FF2B5EF4-FFF2-40B4-BE49-F238E27FC236}">
                <a16:creationId xmlns:a16="http://schemas.microsoft.com/office/drawing/2014/main" id="{B0E14308-CA8F-46D1-82B9-C69BD755DDE5}"/>
              </a:ext>
            </a:extLst>
          </p:cNvPr>
          <p:cNvSpPr>
            <a:spLocks noGrp="1"/>
          </p:cNvSpPr>
          <p:nvPr/>
        </p:nvSpPr>
        <p:spPr>
          <a:xfrm flipH="1">
            <a:off x="7779535" y="7077274"/>
            <a:ext cx="2546050" cy="0"/>
          </a:xfrm>
          <a:prstGeom prst="line">
            <a:avLst/>
          </a:prstGeom>
          <a:ln w="13970">
            <a:solidFill>
              <a:srgbClr val="6B7080"/>
            </a:solidFill>
            <a:prstDash val="dash"/>
            <a:tailEnd type="arrow"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645" name="TextBox 6646">
            <a:extLst>
              <a:ext uri="{FF2B5EF4-FFF2-40B4-BE49-F238E27FC236}">
                <a16:creationId xmlns:a16="http://schemas.microsoft.com/office/drawing/2014/main" id="{9903B5C3-EE49-413D-B501-A2857E607FA0}"/>
              </a:ext>
            </a:extLst>
          </p:cNvPr>
          <p:cNvSpPr>
            <a:spLocks noGrp="1"/>
          </p:cNvSpPr>
          <p:nvPr/>
        </p:nvSpPr>
        <p:spPr>
          <a:xfrm>
            <a:off x="5023485" y="7102274"/>
            <a:ext cx="268605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오류, 이전 결과 유지</a:t>
            </a:r>
          </a:p>
        </p:txBody>
      </p:sp>
      <p:sp>
        <p:nvSpPr>
          <p:cNvPr id="6647" name="Connector 6648">
            <a:extLst>
              <a:ext uri="{FF2B5EF4-FFF2-40B4-BE49-F238E27FC236}">
                <a16:creationId xmlns:a16="http://schemas.microsoft.com/office/drawing/2014/main" id="{30500C6C-1A31-466E-8872-24B7EC9A06C5}"/>
              </a:ext>
            </a:extLst>
          </p:cNvPr>
          <p:cNvSpPr>
            <a:spLocks noGrp="1"/>
          </p:cNvSpPr>
          <p:nvPr/>
        </p:nvSpPr>
        <p:spPr>
          <a:xfrm flipH="1">
            <a:off x="5093485" y="7327274"/>
            <a:ext cx="2546050" cy="0"/>
          </a:xfrm>
          <a:prstGeom prst="line">
            <a:avLst/>
          </a:prstGeom>
          <a:ln w="13970">
            <a:solidFill>
              <a:srgbClr val="6B7080"/>
            </a:solidFill>
            <a:prstDash val="dash"/>
            <a:tailEnd type="arrow"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649" name="Connector 6650">
            <a:extLst>
              <a:ext uri="{FF2B5EF4-FFF2-40B4-BE49-F238E27FC236}">
                <a16:creationId xmlns:a16="http://schemas.microsoft.com/office/drawing/2014/main" id="{CFDB327C-81A7-403E-9D69-4A576A9F4519}"/>
              </a:ext>
            </a:extLst>
          </p:cNvPr>
          <p:cNvSpPr>
            <a:spLocks noGrp="1"/>
          </p:cNvSpPr>
          <p:nvPr/>
        </p:nvSpPr>
        <p:spPr>
          <a:xfrm>
            <a:off x="10465585" y="7687274"/>
            <a:ext cx="365760" cy="0"/>
          </a:xfrm>
          <a:prstGeom prst="line">
            <a:avLst/>
          </a:prstGeom>
          <a:ln w="13970">
            <a:solidFill>
              <a:srgbClr val="363A52"/>
            </a:solidFill>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651" name="Connector 6652">
            <a:extLst>
              <a:ext uri="{FF2B5EF4-FFF2-40B4-BE49-F238E27FC236}">
                <a16:creationId xmlns:a16="http://schemas.microsoft.com/office/drawing/2014/main" id="{7102981D-FCDB-4F44-B3A4-8D10221F3FDC}"/>
              </a:ext>
            </a:extLst>
          </p:cNvPr>
          <p:cNvSpPr>
            <a:spLocks noGrp="1"/>
          </p:cNvSpPr>
          <p:nvPr/>
        </p:nvSpPr>
        <p:spPr>
          <a:xfrm>
            <a:off x="10831345" y="7687274"/>
            <a:ext cx="0" cy="180251"/>
          </a:xfrm>
          <a:prstGeom prst="line">
            <a:avLst/>
          </a:prstGeom>
          <a:ln w="13970">
            <a:solidFill>
              <a:srgbClr val="363A52"/>
            </a:solidFill>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653" name="Connector 6654">
            <a:extLst>
              <a:ext uri="{FF2B5EF4-FFF2-40B4-BE49-F238E27FC236}">
                <a16:creationId xmlns:a16="http://schemas.microsoft.com/office/drawing/2014/main" id="{479B8E56-94F7-477D-B225-96EF636BC6B8}"/>
              </a:ext>
            </a:extLst>
          </p:cNvPr>
          <p:cNvSpPr>
            <a:spLocks noGrp="1"/>
          </p:cNvSpPr>
          <p:nvPr/>
        </p:nvSpPr>
        <p:spPr>
          <a:xfrm flipH="1">
            <a:off x="10499875" y="7867525"/>
            <a:ext cx="331470" cy="0"/>
          </a:xfrm>
          <a:prstGeom prst="line">
            <a:avLst/>
          </a:prstGeom>
          <a:ln w="1397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655" name="TextBox 6656">
            <a:extLst>
              <a:ext uri="{FF2B5EF4-FFF2-40B4-BE49-F238E27FC236}">
                <a16:creationId xmlns:a16="http://schemas.microsoft.com/office/drawing/2014/main" id="{88D4858B-04F3-439C-91FB-67617914A0F0}"/>
              </a:ext>
            </a:extLst>
          </p:cNvPr>
          <p:cNvSpPr>
            <a:spLocks noGrp="1"/>
          </p:cNvSpPr>
          <p:nvPr/>
        </p:nvSpPr>
        <p:spPr>
          <a:xfrm>
            <a:off x="10922785" y="7462274"/>
            <a:ext cx="6400800" cy="221284"/>
          </a:xfrm>
          <a:prstGeom prst="rect">
            <a:avLst/>
          </a:prstGeom>
          <a:noFill/>
        </p:spPr>
        <p:txBody>
          <a:bodyPr wrap="square" lIns="0" tIns="0" rIns="0" bIns="0" anchor="t">
            <a:spAutoFit/>
          </a:bodyPr>
          <a:lstStyle/>
          <a:p>
            <a:pPr algn="l">
              <a:buNone/>
            </a:pPr>
            <a:r>
              <a:rPr sz="1100" b="0">
                <a:solidFill>
                  <a:srgbClr val="FF0000"/>
                </a:solidFill>
                <a:latin typeface="210 OmniGothic 040"/>
                <a:ea typeface="210 OmniGothic 040"/>
                <a:cs typeface="210 OmniGothic 040"/>
              </a:rPr>
              <a:t>위험도 계산 호출(→43쪽) · </a:t>
            </a:r>
            <a:r>
              <a:rPr sz="1100" b="0">
                <a:solidFill>
                  <a:srgbClr val="2E3142"/>
                </a:solidFill>
                <a:latin typeface="210 OmniGothic 040"/>
                <a:ea typeface="210 OmniGothic 040"/>
                <a:cs typeface="210 OmniGothic 040"/>
              </a:rPr>
              <a:t>대응 제안 생성 호출(→② 제안 생성)</a:t>
            </a:r>
          </a:p>
        </p:txBody>
      </p:sp>
      <p:sp>
        <p:nvSpPr>
          <p:cNvPr id="6657" name="TextBox 6658">
            <a:extLst>
              <a:ext uri="{FF2B5EF4-FFF2-40B4-BE49-F238E27FC236}">
                <a16:creationId xmlns:a16="http://schemas.microsoft.com/office/drawing/2014/main" id="{371E9F78-7E54-4059-A98A-F501DD1049EA}"/>
              </a:ext>
            </a:extLst>
          </p:cNvPr>
          <p:cNvSpPr>
            <a:spLocks noGrp="1"/>
          </p:cNvSpPr>
          <p:nvPr/>
        </p:nvSpPr>
        <p:spPr>
          <a:xfrm>
            <a:off x="7709535" y="7907274"/>
            <a:ext cx="268605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P1~P8 새 버전 정보(GeoJSON)</a:t>
            </a:r>
          </a:p>
        </p:txBody>
      </p:sp>
      <p:sp>
        <p:nvSpPr>
          <p:cNvPr id="6659" name="Connector 6660">
            <a:extLst>
              <a:ext uri="{FF2B5EF4-FFF2-40B4-BE49-F238E27FC236}">
                <a16:creationId xmlns:a16="http://schemas.microsoft.com/office/drawing/2014/main" id="{30358059-FC27-49DF-9011-E6D76197A013}"/>
              </a:ext>
            </a:extLst>
          </p:cNvPr>
          <p:cNvSpPr>
            <a:spLocks noGrp="1"/>
          </p:cNvSpPr>
          <p:nvPr/>
        </p:nvSpPr>
        <p:spPr>
          <a:xfrm flipH="1">
            <a:off x="7779535" y="8132274"/>
            <a:ext cx="2546050" cy="0"/>
          </a:xfrm>
          <a:prstGeom prst="line">
            <a:avLst/>
          </a:prstGeom>
          <a:ln w="13970">
            <a:solidFill>
              <a:srgbClr val="6B7080"/>
            </a:solidFill>
            <a:prstDash val="dash"/>
            <a:tailEnd type="arrow"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661" name="TextBox 6662">
            <a:extLst>
              <a:ext uri="{FF2B5EF4-FFF2-40B4-BE49-F238E27FC236}">
                <a16:creationId xmlns:a16="http://schemas.microsoft.com/office/drawing/2014/main" id="{6AB8792D-0CB8-4B66-810C-4B31872D9386}"/>
              </a:ext>
            </a:extLst>
          </p:cNvPr>
          <p:cNvSpPr>
            <a:spLocks noGrp="1"/>
          </p:cNvSpPr>
          <p:nvPr/>
        </p:nvSpPr>
        <p:spPr>
          <a:xfrm>
            <a:off x="5023485" y="8157274"/>
            <a:ext cx="268605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예측 결과 전달</a:t>
            </a:r>
          </a:p>
        </p:txBody>
      </p:sp>
      <p:sp>
        <p:nvSpPr>
          <p:cNvPr id="6663" name="Connector 6664">
            <a:extLst>
              <a:ext uri="{FF2B5EF4-FFF2-40B4-BE49-F238E27FC236}">
                <a16:creationId xmlns:a16="http://schemas.microsoft.com/office/drawing/2014/main" id="{354A549D-FC7E-40F8-8E61-097B0A9F4171}"/>
              </a:ext>
            </a:extLst>
          </p:cNvPr>
          <p:cNvSpPr>
            <a:spLocks noGrp="1"/>
          </p:cNvSpPr>
          <p:nvPr/>
        </p:nvSpPr>
        <p:spPr>
          <a:xfrm flipH="1">
            <a:off x="5093485" y="8382274"/>
            <a:ext cx="2546050" cy="0"/>
          </a:xfrm>
          <a:prstGeom prst="line">
            <a:avLst/>
          </a:prstGeom>
          <a:ln w="13970">
            <a:solidFill>
              <a:srgbClr val="6B7080"/>
            </a:solidFill>
            <a:prstDash val="dash"/>
            <a:tailEnd type="arrow"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665" name="TextBox 6666">
            <a:extLst>
              <a:ext uri="{FF2B5EF4-FFF2-40B4-BE49-F238E27FC236}">
                <a16:creationId xmlns:a16="http://schemas.microsoft.com/office/drawing/2014/main" id="{7491537D-3592-4145-8CA0-57F5797AAA33}"/>
              </a:ext>
            </a:extLst>
          </p:cNvPr>
          <p:cNvSpPr>
            <a:spLocks noGrp="1"/>
          </p:cNvSpPr>
          <p:nvPr/>
        </p:nvSpPr>
        <p:spPr>
          <a:xfrm>
            <a:off x="2337435" y="8407274"/>
            <a:ext cx="268605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진행단계·화선 갱신</a:t>
            </a:r>
          </a:p>
        </p:txBody>
      </p:sp>
      <p:sp>
        <p:nvSpPr>
          <p:cNvPr id="6667" name="Connector 6668">
            <a:extLst>
              <a:ext uri="{FF2B5EF4-FFF2-40B4-BE49-F238E27FC236}">
                <a16:creationId xmlns:a16="http://schemas.microsoft.com/office/drawing/2014/main" id="{625208B1-DAC6-4ABC-ABCE-6DB2CC36B0E8}"/>
              </a:ext>
            </a:extLst>
          </p:cNvPr>
          <p:cNvSpPr>
            <a:spLocks noGrp="1"/>
          </p:cNvSpPr>
          <p:nvPr/>
        </p:nvSpPr>
        <p:spPr>
          <a:xfrm flipH="1">
            <a:off x="2337435" y="8632274"/>
            <a:ext cx="2616050" cy="0"/>
          </a:xfrm>
          <a:prstGeom prst="line">
            <a:avLst/>
          </a:prstGeom>
          <a:ln w="13970">
            <a:solidFill>
              <a:srgbClr val="6B7080"/>
            </a:solidFill>
            <a:prstDash val="dash"/>
            <a:tailEnd type="arrow"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557" name="Rectangle 6558">
            <a:extLst>
              <a:ext uri="{FF2B5EF4-FFF2-40B4-BE49-F238E27FC236}">
                <a16:creationId xmlns:a16="http://schemas.microsoft.com/office/drawing/2014/main" id="{720FB4B2-C72B-4727-8D62-78063B22B6D0}"/>
              </a:ext>
            </a:extLst>
          </p:cNvPr>
          <p:cNvSpPr>
            <a:spLocks noGrp="1"/>
          </p:cNvSpPr>
          <p:nvPr/>
        </p:nvSpPr>
        <p:spPr>
          <a:xfrm>
            <a:off x="983665" y="6632274"/>
            <a:ext cx="16137790" cy="2110000"/>
          </a:xfrm>
          <a:prstGeom prst="rect">
            <a:avLst/>
          </a:prstGeom>
          <a:noFill/>
          <a:ln w="12700">
            <a:solidFill>
              <a:srgbClr val="FAA95A"/>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endParaRPr/>
          </a:p>
        </p:txBody>
      </p:sp>
      <p:sp>
        <p:nvSpPr>
          <p:cNvPr id="6559" name="Rectangle 6560">
            <a:extLst>
              <a:ext uri="{FF2B5EF4-FFF2-40B4-BE49-F238E27FC236}">
                <a16:creationId xmlns:a16="http://schemas.microsoft.com/office/drawing/2014/main" id="{A1BAFF88-3A1A-4E12-A953-8EC1C1DA62FF}"/>
              </a:ext>
            </a:extLst>
          </p:cNvPr>
          <p:cNvSpPr>
            <a:spLocks noGrp="1"/>
          </p:cNvSpPr>
          <p:nvPr/>
        </p:nvSpPr>
        <p:spPr>
          <a:xfrm>
            <a:off x="983665" y="6632274"/>
            <a:ext cx="708660" cy="241401"/>
          </a:xfrm>
          <a:prstGeom prst="rect">
            <a:avLst/>
          </a:prstGeom>
          <a:solidFill>
            <a:srgbClr val="FDEBD9"/>
          </a:solidFill>
          <a:ln w="12700">
            <a:solidFill>
              <a:srgbClr val="FAA95A"/>
            </a:solidFill>
          </a:ln>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algn="ctr">
              <a:buNone/>
            </a:pPr>
            <a:r>
              <a:rPr sz="1050" b="1">
                <a:solidFill>
                  <a:srgbClr val="B5601C"/>
                </a:solidFill>
                <a:latin typeface="210 OmniGothic 040"/>
                <a:ea typeface="210 OmniGothic 040"/>
                <a:cs typeface="210 OmniGothic 040"/>
              </a:rPr>
              <a:t>alt</a:t>
            </a:r>
          </a:p>
        </p:txBody>
      </p:sp>
      <p:sp>
        <p:nvSpPr>
          <p:cNvPr id="6561" name="TextBox 6562">
            <a:extLst>
              <a:ext uri="{FF2B5EF4-FFF2-40B4-BE49-F238E27FC236}">
                <a16:creationId xmlns:a16="http://schemas.microsoft.com/office/drawing/2014/main" id="{E664813A-7364-4922-BC13-465B710743F3}"/>
              </a:ext>
            </a:extLst>
          </p:cNvPr>
          <p:cNvSpPr>
            <a:spLocks noGrp="1"/>
          </p:cNvSpPr>
          <p:nvPr/>
        </p:nvSpPr>
        <p:spPr>
          <a:xfrm>
            <a:off x="1792325" y="6642332"/>
            <a:ext cx="5715000" cy="241401"/>
          </a:xfrm>
          <a:prstGeom prst="rect">
            <a:avLst/>
          </a:prstGeom>
          <a:noFill/>
        </p:spPr>
        <p:txBody>
          <a:bodyPr wrap="square" lIns="0" tIns="0" rIns="0" bIns="0" anchor="t">
            <a:spAutoFit/>
          </a:bodyPr>
          <a:lstStyle/>
          <a:p>
            <a:pPr algn="l">
              <a:buNone/>
            </a:pPr>
            <a:r>
              <a:rPr sz="1100" b="0">
                <a:solidFill>
                  <a:srgbClr val="2E3142"/>
                </a:solidFill>
                <a:latin typeface="210 OmniGothic 040"/>
                <a:ea typeface="210 OmniGothic 040"/>
                <a:cs typeface="210 OmniGothic 040"/>
              </a:rPr>
              <a:t>[실행 실패]</a:t>
            </a:r>
          </a:p>
        </p:txBody>
      </p:sp>
      <p:sp>
        <p:nvSpPr>
          <p:cNvPr id="6563" name="Connector 6564">
            <a:extLst>
              <a:ext uri="{FF2B5EF4-FFF2-40B4-BE49-F238E27FC236}">
                <a16:creationId xmlns:a16="http://schemas.microsoft.com/office/drawing/2014/main" id="{78AD1645-73D1-47B9-AFE2-30701054FBD9}"/>
              </a:ext>
            </a:extLst>
          </p:cNvPr>
          <p:cNvSpPr>
            <a:spLocks noGrp="1"/>
          </p:cNvSpPr>
          <p:nvPr/>
        </p:nvSpPr>
        <p:spPr>
          <a:xfrm>
            <a:off x="983665" y="7397274"/>
            <a:ext cx="16137790" cy="0"/>
          </a:xfrm>
          <a:prstGeom prst="line">
            <a:avLst/>
          </a:prstGeom>
          <a:ln w="11430">
            <a:solidFill>
              <a:srgbClr val="FAA95A"/>
            </a:solidFill>
            <a:prstDash val="dash"/>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565" name="TextBox 6566">
            <a:extLst>
              <a:ext uri="{FF2B5EF4-FFF2-40B4-BE49-F238E27FC236}">
                <a16:creationId xmlns:a16="http://schemas.microsoft.com/office/drawing/2014/main" id="{65B2D241-7094-4D89-9A7E-CA301B6A941E}"/>
              </a:ext>
            </a:extLst>
          </p:cNvPr>
          <p:cNvSpPr>
            <a:spLocks noGrp="1"/>
          </p:cNvSpPr>
          <p:nvPr/>
        </p:nvSpPr>
        <p:spPr>
          <a:xfrm>
            <a:off x="1097965" y="7417391"/>
            <a:ext cx="5715000" cy="241401"/>
          </a:xfrm>
          <a:prstGeom prst="rect">
            <a:avLst/>
          </a:prstGeom>
          <a:noFill/>
        </p:spPr>
        <p:txBody>
          <a:bodyPr wrap="square" lIns="0" tIns="0" rIns="0" bIns="0" anchor="t">
            <a:spAutoFit/>
          </a:bodyPr>
          <a:lstStyle/>
          <a:p>
            <a:pPr algn="l">
              <a:buNone/>
            </a:pPr>
            <a:r>
              <a:rPr sz="1100" b="0">
                <a:solidFill>
                  <a:srgbClr val="2E3142"/>
                </a:solidFill>
                <a:latin typeface="210 OmniGothic 040"/>
                <a:ea typeface="210 OmniGothic 040"/>
                <a:cs typeface="210 OmniGothic 040"/>
              </a:rPr>
              <a:t>[성공]</a:t>
            </a:r>
          </a:p>
        </p:txBody>
      </p:sp>
    </p:spTree>
    <p:extLst>
      <p:ext uri="{BB962C8B-B14F-4D97-AF65-F5344CB8AC3E}">
        <p14:creationId xmlns:p14="http://schemas.microsoft.com/office/powerpoint/2010/main" val="64635397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814" name="Picture 2"/>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700" y="-12700"/>
            <a:ext cx="18313400" cy="1638300"/>
          </a:xfrm>
          <a:prstGeom prst="rect">
            <a:avLst/>
          </a:prstGeom>
        </p:spPr>
      </p:pic>
      <p:pic>
        <p:nvPicPr>
          <p:cNvPr id="6815" name="Picture 4"/>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28" y="1618343"/>
            <a:ext cx="18313400" cy="8699500"/>
          </a:xfrm>
          <a:prstGeom prst="rect">
            <a:avLst/>
          </a:prstGeom>
        </p:spPr>
      </p:pic>
      <p:pic>
        <p:nvPicPr>
          <p:cNvPr id="6816" name="Picture 5"/>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58800" y="9271000"/>
            <a:ext cx="17170400" cy="50800"/>
          </a:xfrm>
          <a:prstGeom prst="rect">
            <a:avLst/>
          </a:prstGeom>
        </p:spPr>
      </p:pic>
      <p:pic>
        <p:nvPicPr>
          <p:cNvPr id="6817" name="Picture 3"/>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5278100" y="203200"/>
            <a:ext cx="1676400" cy="1409700"/>
          </a:xfrm>
          <a:prstGeom prst="rect">
            <a:avLst/>
          </a:prstGeom>
        </p:spPr>
      </p:pic>
      <p:sp>
        <p:nvSpPr>
          <p:cNvPr id="5221" name="Title">
            <a:extLst>
              <a:ext uri="{FF2B5EF4-FFF2-40B4-BE49-F238E27FC236}">
                <a16:creationId xmlns:a16="http://schemas.microsoft.com/office/drawing/2014/main" id="{49380BE2-71B0-4E4B-9BDC-96239E490B10}"/>
              </a:ext>
            </a:extLst>
          </p:cNvPr>
          <p:cNvSpPr>
            <a:spLocks noGrp="1"/>
          </p:cNvSpPr>
          <p:nvPr/>
        </p:nvSpPr>
        <p:spPr>
          <a:xfrm>
            <a:off x="822960" y="384048"/>
            <a:ext cx="13258800" cy="877824"/>
          </a:xfrm>
          <a:prstGeom prst="rect">
            <a:avLst/>
          </a:prstGeom>
          <a:noFill/>
        </p:spPr>
        <p:txBody>
          <a:bodyPr wrap="square" lIns="0" tIns="0" rIns="0" bIns="0" anchor="ctr">
            <a:spAutoFit/>
          </a:bodyPr>
          <a:lstStyle/>
          <a:p>
            <a:pPr algn="l">
              <a:buNone/>
            </a:pPr>
            <a:r>
              <a:rPr sz="4400" b="0">
                <a:solidFill>
                  <a:srgbClr val="FAA95A"/>
                </a:solidFill>
                <a:latin typeface="210 OmniGothic 050"/>
                <a:ea typeface="210 OmniGothic 050"/>
                <a:cs typeface="210 OmniGothic 050"/>
              </a:rPr>
              <a:t>04. 시퀀스 다이어그램</a:t>
            </a:r>
          </a:p>
        </p:txBody>
      </p:sp>
      <p:sp>
        <p:nvSpPr>
          <p:cNvPr id="5222" name="Subtitle">
            <a:extLst>
              <a:ext uri="{FF2B5EF4-FFF2-40B4-BE49-F238E27FC236}">
                <a16:creationId xmlns:a16="http://schemas.microsoft.com/office/drawing/2014/main" id="{062B3605-3492-4B4D-8057-55F65B951722}"/>
              </a:ext>
            </a:extLst>
          </p:cNvPr>
          <p:cNvSpPr>
            <a:spLocks noGrp="1"/>
          </p:cNvSpPr>
          <p:nvPr/>
        </p:nvSpPr>
        <p:spPr>
          <a:xfrm>
            <a:off x="822960" y="1764792"/>
            <a:ext cx="16642080" cy="502920"/>
          </a:xfrm>
          <a:prstGeom prst="rect">
            <a:avLst/>
          </a:prstGeom>
          <a:noFill/>
        </p:spPr>
        <p:txBody>
          <a:bodyPr wrap="square" lIns="0" tIns="0" rIns="0" bIns="0" anchor="ctr">
            <a:spAutoFit/>
          </a:bodyPr>
          <a:lstStyle/>
          <a:p>
            <a:pPr algn="ctr">
              <a:buNone/>
            </a:pPr>
            <a:r>
              <a:rPr sz="2600" b="1">
                <a:solidFill>
                  <a:srgbClr val="363A52"/>
                </a:solidFill>
                <a:latin typeface="210 OmniGothic 040"/>
                <a:ea typeface="210 OmniGothic 040"/>
                <a:cs typeface="210 OmniGothic 040"/>
              </a:rPr>
              <a:t>확산 예측 → 대응 제안(진화 · 대피) 생성 ②  (UC-PRED-01)</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idx="12"/>
          </p:nvPr>
        </p:nvSpPr>
        <p:spPr/>
        <p:txBody>
          <a:bodyPr/>
          <a:lstStyle/>
          <a:p>
            <a:fld id="{B6F15528-21DE-4FAA-801E-634DDDAF4B2B}" type="slidenum">
              <a:t>42</a:t>
            </a:fld>
            <a:endParaRPr/>
          </a:p>
        </p:txBody>
      </p:sp>
      <p:sp>
        <p:nvSpPr>
          <p:cNvPr id="6787" name="Rounded Rectangle 6788">
            <a:extLst>
              <a:ext uri="{FF2B5EF4-FFF2-40B4-BE49-F238E27FC236}">
                <a16:creationId xmlns:a16="http://schemas.microsoft.com/office/drawing/2014/main" id="{B5AB7A8E-1B4C-46CE-9AA1-97BD7DF0388A}"/>
              </a:ext>
            </a:extLst>
          </p:cNvPr>
          <p:cNvSpPr>
            <a:spLocks noGrp="1"/>
          </p:cNvSpPr>
          <p:nvPr/>
        </p:nvSpPr>
        <p:spPr>
          <a:xfrm>
            <a:off x="1194435" y="2446020"/>
            <a:ext cx="2286000" cy="462686"/>
          </a:xfrm>
          <a:prstGeom prst="roundRect">
            <a:avLst>
              <a:gd name="adj" fmla="val 10000"/>
            </a:avLst>
          </a:prstGeom>
          <a:solidFill>
            <a:srgbClr val="E6E9F1"/>
          </a:solidFill>
          <a:ln w="12700">
            <a:solidFill>
              <a:srgbClr val="B6BCCB"/>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r>
              <a:rPr sz="1250" b="1">
                <a:solidFill>
                  <a:srgbClr val="2E3142"/>
                </a:solidFill>
                <a:latin typeface="210 OmniGothic 040"/>
                <a:ea typeface="210 OmniGothic 040"/>
                <a:cs typeface="210 OmniGothic 040"/>
              </a:rPr>
              <a:t>제안 오케스트레이터</a:t>
            </a:r>
          </a:p>
        </p:txBody>
      </p:sp>
      <p:sp>
        <p:nvSpPr>
          <p:cNvPr id="6789" name="Connector 6790">
            <a:extLst>
              <a:ext uri="{FF2B5EF4-FFF2-40B4-BE49-F238E27FC236}">
                <a16:creationId xmlns:a16="http://schemas.microsoft.com/office/drawing/2014/main" id="{CAE728A0-257F-49BA-8C0C-04E897B95964}"/>
              </a:ext>
            </a:extLst>
          </p:cNvPr>
          <p:cNvSpPr>
            <a:spLocks noGrp="1"/>
          </p:cNvSpPr>
          <p:nvPr/>
        </p:nvSpPr>
        <p:spPr>
          <a:xfrm>
            <a:off x="2337435" y="2908706"/>
            <a:ext cx="0" cy="6145682"/>
          </a:xfrm>
          <a:prstGeom prst="line">
            <a:avLst/>
          </a:prstGeom>
          <a:ln w="11430">
            <a:solidFill>
              <a:srgbClr val="A3A8B8"/>
            </a:solidFill>
            <a:prstDash val="dash"/>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791" name="Rounded Rectangle 6792">
            <a:extLst>
              <a:ext uri="{FF2B5EF4-FFF2-40B4-BE49-F238E27FC236}">
                <a16:creationId xmlns:a16="http://schemas.microsoft.com/office/drawing/2014/main" id="{EB406630-0F10-4099-9FBF-DDEF6D040B54}"/>
              </a:ext>
            </a:extLst>
          </p:cNvPr>
          <p:cNvSpPr>
            <a:spLocks noGrp="1"/>
          </p:cNvSpPr>
          <p:nvPr/>
        </p:nvSpPr>
        <p:spPr>
          <a:xfrm>
            <a:off x="3880485" y="2446020"/>
            <a:ext cx="2286000" cy="462686"/>
          </a:xfrm>
          <a:prstGeom prst="roundRect">
            <a:avLst>
              <a:gd name="adj" fmla="val 10000"/>
            </a:avLst>
          </a:prstGeom>
          <a:solidFill>
            <a:srgbClr val="E6E9F1"/>
          </a:solidFill>
          <a:ln w="12700">
            <a:solidFill>
              <a:srgbClr val="B6BCCB"/>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r>
              <a:rPr sz="1250" b="1">
                <a:solidFill>
                  <a:srgbClr val="2E3142"/>
                </a:solidFill>
                <a:latin typeface="210 OmniGothic 040"/>
                <a:ea typeface="210 OmniGothic 040"/>
                <a:cs typeface="210 OmniGothic 040"/>
              </a:rPr>
              <a:t>규칙 엔진</a:t>
            </a:r>
          </a:p>
        </p:txBody>
      </p:sp>
      <p:sp>
        <p:nvSpPr>
          <p:cNvPr id="6793" name="Connector 6794">
            <a:extLst>
              <a:ext uri="{FF2B5EF4-FFF2-40B4-BE49-F238E27FC236}">
                <a16:creationId xmlns:a16="http://schemas.microsoft.com/office/drawing/2014/main" id="{D9ECB8F4-12DA-4616-B746-40D04FAFE2DD}"/>
              </a:ext>
            </a:extLst>
          </p:cNvPr>
          <p:cNvSpPr>
            <a:spLocks noGrp="1"/>
          </p:cNvSpPr>
          <p:nvPr/>
        </p:nvSpPr>
        <p:spPr>
          <a:xfrm>
            <a:off x="5023485" y="2908706"/>
            <a:ext cx="0" cy="6145682"/>
          </a:xfrm>
          <a:prstGeom prst="line">
            <a:avLst/>
          </a:prstGeom>
          <a:ln w="11430">
            <a:solidFill>
              <a:srgbClr val="A3A8B8"/>
            </a:solidFill>
            <a:prstDash val="dash"/>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795" name="Rounded Rectangle 6796">
            <a:extLst>
              <a:ext uri="{FF2B5EF4-FFF2-40B4-BE49-F238E27FC236}">
                <a16:creationId xmlns:a16="http://schemas.microsoft.com/office/drawing/2014/main" id="{C8A88F59-FBA2-49CD-8956-E5BC6AD67164}"/>
              </a:ext>
            </a:extLst>
          </p:cNvPr>
          <p:cNvSpPr>
            <a:spLocks noGrp="1"/>
          </p:cNvSpPr>
          <p:nvPr/>
        </p:nvSpPr>
        <p:spPr>
          <a:xfrm>
            <a:off x="6566535" y="2446020"/>
            <a:ext cx="2286000" cy="462686"/>
          </a:xfrm>
          <a:prstGeom prst="roundRect">
            <a:avLst>
              <a:gd name="adj" fmla="val 10000"/>
            </a:avLst>
          </a:prstGeom>
          <a:solidFill>
            <a:srgbClr val="E6E9F1"/>
          </a:solidFill>
          <a:ln w="12700">
            <a:solidFill>
              <a:srgbClr val="B6BCCB"/>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r>
              <a:rPr sz="1250" b="1">
                <a:solidFill>
                  <a:srgbClr val="2E3142"/>
                </a:solidFill>
                <a:latin typeface="210 OmniGothic 040"/>
                <a:ea typeface="210 OmniGothic 040"/>
                <a:cs typeface="210 OmniGothic 040"/>
              </a:rPr>
              <a:t>근거 검색</a:t>
            </a:r>
          </a:p>
        </p:txBody>
      </p:sp>
      <p:sp>
        <p:nvSpPr>
          <p:cNvPr id="6797" name="Connector 6798">
            <a:extLst>
              <a:ext uri="{FF2B5EF4-FFF2-40B4-BE49-F238E27FC236}">
                <a16:creationId xmlns:a16="http://schemas.microsoft.com/office/drawing/2014/main" id="{8FED8BF2-96B2-4079-BC86-CBD82BCB825C}"/>
              </a:ext>
            </a:extLst>
          </p:cNvPr>
          <p:cNvSpPr>
            <a:spLocks noGrp="1"/>
          </p:cNvSpPr>
          <p:nvPr/>
        </p:nvSpPr>
        <p:spPr>
          <a:xfrm>
            <a:off x="7709535" y="2908706"/>
            <a:ext cx="0" cy="6145682"/>
          </a:xfrm>
          <a:prstGeom prst="line">
            <a:avLst/>
          </a:prstGeom>
          <a:ln w="11430">
            <a:solidFill>
              <a:srgbClr val="A3A8B8"/>
            </a:solidFill>
            <a:prstDash val="dash"/>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799" name="Rounded Rectangle 6800">
            <a:extLst>
              <a:ext uri="{FF2B5EF4-FFF2-40B4-BE49-F238E27FC236}">
                <a16:creationId xmlns:a16="http://schemas.microsoft.com/office/drawing/2014/main" id="{2B3BF821-DDEB-479F-9A77-AAF6BD499B39}"/>
              </a:ext>
            </a:extLst>
          </p:cNvPr>
          <p:cNvSpPr>
            <a:spLocks noGrp="1"/>
          </p:cNvSpPr>
          <p:nvPr/>
        </p:nvSpPr>
        <p:spPr>
          <a:xfrm>
            <a:off x="9252585" y="2446020"/>
            <a:ext cx="2286000" cy="462686"/>
          </a:xfrm>
          <a:prstGeom prst="roundRect">
            <a:avLst>
              <a:gd name="adj" fmla="val 10000"/>
            </a:avLst>
          </a:prstGeom>
          <a:solidFill>
            <a:srgbClr val="E6E9F1"/>
          </a:solidFill>
          <a:ln w="12700">
            <a:solidFill>
              <a:srgbClr val="B6BCCB"/>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r>
              <a:rPr sz="1250" b="1">
                <a:solidFill>
                  <a:srgbClr val="2E3142"/>
                </a:solidFill>
                <a:latin typeface="210 OmniGothic 040"/>
                <a:ea typeface="210 OmniGothic 040"/>
                <a:cs typeface="210 OmniGothic 040"/>
              </a:rPr>
              <a:t>AI 모델(EXAONE)</a:t>
            </a:r>
          </a:p>
        </p:txBody>
      </p:sp>
      <p:sp>
        <p:nvSpPr>
          <p:cNvPr id="6801" name="Connector 6802">
            <a:extLst>
              <a:ext uri="{FF2B5EF4-FFF2-40B4-BE49-F238E27FC236}">
                <a16:creationId xmlns:a16="http://schemas.microsoft.com/office/drawing/2014/main" id="{6A411674-2478-40A4-B500-E9C03E8FD414}"/>
              </a:ext>
            </a:extLst>
          </p:cNvPr>
          <p:cNvSpPr>
            <a:spLocks noGrp="1"/>
          </p:cNvSpPr>
          <p:nvPr/>
        </p:nvSpPr>
        <p:spPr>
          <a:xfrm>
            <a:off x="10395585" y="2908706"/>
            <a:ext cx="0" cy="6145682"/>
          </a:xfrm>
          <a:prstGeom prst="line">
            <a:avLst/>
          </a:prstGeom>
          <a:ln w="11430">
            <a:solidFill>
              <a:srgbClr val="A3A8B8"/>
            </a:solidFill>
            <a:prstDash val="dash"/>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803" name="Rounded Rectangle 6804">
            <a:extLst>
              <a:ext uri="{FF2B5EF4-FFF2-40B4-BE49-F238E27FC236}">
                <a16:creationId xmlns:a16="http://schemas.microsoft.com/office/drawing/2014/main" id="{EC9D1853-307F-4017-93A6-3870D14A7A0A}"/>
              </a:ext>
            </a:extLst>
          </p:cNvPr>
          <p:cNvSpPr>
            <a:spLocks noGrp="1"/>
          </p:cNvSpPr>
          <p:nvPr/>
        </p:nvSpPr>
        <p:spPr>
          <a:xfrm>
            <a:off x="11938635" y="2446020"/>
            <a:ext cx="2286000" cy="462686"/>
          </a:xfrm>
          <a:prstGeom prst="roundRect">
            <a:avLst>
              <a:gd name="adj" fmla="val 10000"/>
            </a:avLst>
          </a:prstGeom>
          <a:solidFill>
            <a:srgbClr val="E6E9F1"/>
          </a:solidFill>
          <a:ln w="12700">
            <a:solidFill>
              <a:srgbClr val="B6BCCB"/>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r>
              <a:rPr sz="1250" b="1">
                <a:solidFill>
                  <a:srgbClr val="2E3142"/>
                </a:solidFill>
                <a:latin typeface="210 OmniGothic 040"/>
                <a:ea typeface="210 OmniGothic 040"/>
                <a:cs typeface="210 OmniGothic 040"/>
              </a:rPr>
              <a:t>DB</a:t>
            </a:r>
          </a:p>
        </p:txBody>
      </p:sp>
      <p:sp>
        <p:nvSpPr>
          <p:cNvPr id="6805" name="Connector 6806">
            <a:extLst>
              <a:ext uri="{FF2B5EF4-FFF2-40B4-BE49-F238E27FC236}">
                <a16:creationId xmlns:a16="http://schemas.microsoft.com/office/drawing/2014/main" id="{93A18DA5-6A1B-4C90-9883-0F54C343DA02}"/>
              </a:ext>
            </a:extLst>
          </p:cNvPr>
          <p:cNvSpPr>
            <a:spLocks noGrp="1"/>
          </p:cNvSpPr>
          <p:nvPr/>
        </p:nvSpPr>
        <p:spPr>
          <a:xfrm>
            <a:off x="13081635" y="2908706"/>
            <a:ext cx="0" cy="6145682"/>
          </a:xfrm>
          <a:prstGeom prst="line">
            <a:avLst/>
          </a:prstGeom>
          <a:ln w="11430">
            <a:solidFill>
              <a:srgbClr val="A3A8B8"/>
            </a:solidFill>
            <a:prstDash val="dash"/>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807" name="Rounded Rectangle 6808">
            <a:extLst>
              <a:ext uri="{FF2B5EF4-FFF2-40B4-BE49-F238E27FC236}">
                <a16:creationId xmlns:a16="http://schemas.microsoft.com/office/drawing/2014/main" id="{D895BA53-6738-4FD2-9FF7-7FD7B46ECD32}"/>
              </a:ext>
            </a:extLst>
          </p:cNvPr>
          <p:cNvSpPr>
            <a:spLocks noGrp="1"/>
          </p:cNvSpPr>
          <p:nvPr/>
        </p:nvSpPr>
        <p:spPr>
          <a:xfrm>
            <a:off x="14624685" y="2446020"/>
            <a:ext cx="2286000" cy="462686"/>
          </a:xfrm>
          <a:prstGeom prst="roundRect">
            <a:avLst>
              <a:gd name="adj" fmla="val 10000"/>
            </a:avLst>
          </a:prstGeom>
          <a:solidFill>
            <a:srgbClr val="E6E9F1"/>
          </a:solidFill>
          <a:ln w="12700">
            <a:solidFill>
              <a:srgbClr val="B6BCCB"/>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r>
              <a:rPr sz="1250" b="1">
                <a:solidFill>
                  <a:srgbClr val="2E3142"/>
                </a:solidFill>
                <a:latin typeface="210 OmniGothic 040"/>
                <a:ea typeface="210 OmniGothic 040"/>
                <a:cs typeface="210 OmniGothic 040"/>
              </a:rPr>
              <a:t>EventLogger</a:t>
            </a:r>
          </a:p>
        </p:txBody>
      </p:sp>
      <p:sp>
        <p:nvSpPr>
          <p:cNvPr id="6809" name="Connector 6810">
            <a:extLst>
              <a:ext uri="{FF2B5EF4-FFF2-40B4-BE49-F238E27FC236}">
                <a16:creationId xmlns:a16="http://schemas.microsoft.com/office/drawing/2014/main" id="{F69A7927-51DC-4590-98F5-528009967EE0}"/>
              </a:ext>
            </a:extLst>
          </p:cNvPr>
          <p:cNvSpPr>
            <a:spLocks noGrp="1"/>
          </p:cNvSpPr>
          <p:nvPr/>
        </p:nvSpPr>
        <p:spPr>
          <a:xfrm>
            <a:off x="15767685" y="2908706"/>
            <a:ext cx="0" cy="6145682"/>
          </a:xfrm>
          <a:prstGeom prst="line">
            <a:avLst/>
          </a:prstGeom>
          <a:ln w="11430">
            <a:solidFill>
              <a:srgbClr val="A3A8B8"/>
            </a:solidFill>
            <a:prstDash val="dash"/>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699" name="Rectangle 6700">
            <a:extLst>
              <a:ext uri="{FF2B5EF4-FFF2-40B4-BE49-F238E27FC236}">
                <a16:creationId xmlns:a16="http://schemas.microsoft.com/office/drawing/2014/main" id="{253CEDBD-F306-496B-AA7E-A8E647DF6BA5}"/>
              </a:ext>
            </a:extLst>
          </p:cNvPr>
          <p:cNvSpPr>
            <a:spLocks noGrp="1"/>
          </p:cNvSpPr>
          <p:nvPr/>
        </p:nvSpPr>
        <p:spPr>
          <a:xfrm>
            <a:off x="13011635" y="3632274"/>
            <a:ext cx="140000" cy="250000"/>
          </a:xfrm>
          <a:prstGeom prst="rect">
            <a:avLst/>
          </a:prstGeom>
          <a:solidFill>
            <a:srgbClr val="FFFFFF"/>
          </a:solidFill>
          <a:ln w="9525">
            <a:solidFill>
              <a:srgbClr val="363A52"/>
            </a:solidFill>
          </a:ln>
        </p:spPr>
        <p:style>
          <a:lnRef idx="1">
            <a:schemeClr val="accent1"/>
          </a:lnRef>
          <a:fillRef idx="3">
            <a:schemeClr val="accent1"/>
          </a:fillRef>
          <a:effectRef idx="2">
            <a:schemeClr val="accent1"/>
          </a:effectRef>
          <a:fontRef idx="minor">
            <a:schemeClr val="lt1"/>
          </a:fontRef>
        </p:style>
        <p:txBody>
          <a:bodyPr wrap="square" lIns="0" rIns="0" anchor="ctr"/>
          <a:lstStyle/>
          <a:p>
            <a:pPr algn="ctr">
              <a:buNone/>
            </a:pPr>
            <a:endParaRPr/>
          </a:p>
        </p:txBody>
      </p:sp>
      <p:sp>
        <p:nvSpPr>
          <p:cNvPr id="6701" name="Rectangle 6702">
            <a:extLst>
              <a:ext uri="{FF2B5EF4-FFF2-40B4-BE49-F238E27FC236}">
                <a16:creationId xmlns:a16="http://schemas.microsoft.com/office/drawing/2014/main" id="{5F2BF7DF-ADB1-44C4-B8E0-E536F02E5177}"/>
              </a:ext>
            </a:extLst>
          </p:cNvPr>
          <p:cNvSpPr>
            <a:spLocks noGrp="1"/>
          </p:cNvSpPr>
          <p:nvPr/>
        </p:nvSpPr>
        <p:spPr>
          <a:xfrm>
            <a:off x="4953485" y="3382274"/>
            <a:ext cx="140000" cy="750000"/>
          </a:xfrm>
          <a:prstGeom prst="rect">
            <a:avLst/>
          </a:prstGeom>
          <a:solidFill>
            <a:srgbClr val="FFFFFF"/>
          </a:solidFill>
          <a:ln w="9525">
            <a:solidFill>
              <a:srgbClr val="363A52"/>
            </a:solidFill>
          </a:ln>
        </p:spPr>
        <p:style>
          <a:lnRef idx="1">
            <a:schemeClr val="accent1"/>
          </a:lnRef>
          <a:fillRef idx="3">
            <a:schemeClr val="accent1"/>
          </a:fillRef>
          <a:effectRef idx="2">
            <a:schemeClr val="accent1"/>
          </a:effectRef>
          <a:fontRef idx="minor">
            <a:schemeClr val="lt1"/>
          </a:fontRef>
        </p:style>
        <p:txBody>
          <a:bodyPr wrap="square" lIns="0" rIns="0" anchor="ctr"/>
          <a:lstStyle/>
          <a:p>
            <a:pPr algn="ctr">
              <a:buNone/>
            </a:pPr>
            <a:endParaRPr/>
          </a:p>
        </p:txBody>
      </p:sp>
      <p:sp>
        <p:nvSpPr>
          <p:cNvPr id="6703" name="Rectangle 6704">
            <a:extLst>
              <a:ext uri="{FF2B5EF4-FFF2-40B4-BE49-F238E27FC236}">
                <a16:creationId xmlns:a16="http://schemas.microsoft.com/office/drawing/2014/main" id="{2835EB11-7CC4-4266-B003-5DFD59A7FC52}"/>
              </a:ext>
            </a:extLst>
          </p:cNvPr>
          <p:cNvSpPr>
            <a:spLocks noGrp="1"/>
          </p:cNvSpPr>
          <p:nvPr/>
        </p:nvSpPr>
        <p:spPr>
          <a:xfrm>
            <a:off x="4953485" y="4382274"/>
            <a:ext cx="140000" cy="250000"/>
          </a:xfrm>
          <a:prstGeom prst="rect">
            <a:avLst/>
          </a:prstGeom>
          <a:solidFill>
            <a:srgbClr val="FFFFFF"/>
          </a:solidFill>
          <a:ln w="9525">
            <a:solidFill>
              <a:srgbClr val="363A52"/>
            </a:solidFill>
          </a:ln>
        </p:spPr>
        <p:style>
          <a:lnRef idx="1">
            <a:schemeClr val="accent1"/>
          </a:lnRef>
          <a:fillRef idx="3">
            <a:schemeClr val="accent1"/>
          </a:fillRef>
          <a:effectRef idx="2">
            <a:schemeClr val="accent1"/>
          </a:effectRef>
          <a:fontRef idx="minor">
            <a:schemeClr val="lt1"/>
          </a:fontRef>
        </p:style>
        <p:txBody>
          <a:bodyPr wrap="square" lIns="0" rIns="0" anchor="ctr"/>
          <a:lstStyle/>
          <a:p>
            <a:pPr algn="ctr">
              <a:buNone/>
            </a:pPr>
            <a:endParaRPr/>
          </a:p>
        </p:txBody>
      </p:sp>
      <p:sp>
        <p:nvSpPr>
          <p:cNvPr id="6705" name="Rectangle 6706">
            <a:extLst>
              <a:ext uri="{FF2B5EF4-FFF2-40B4-BE49-F238E27FC236}">
                <a16:creationId xmlns:a16="http://schemas.microsoft.com/office/drawing/2014/main" id="{EDBDDB3D-5BDB-47EF-B1FA-5B8A0DCB5EE8}"/>
              </a:ext>
            </a:extLst>
          </p:cNvPr>
          <p:cNvSpPr>
            <a:spLocks noGrp="1"/>
          </p:cNvSpPr>
          <p:nvPr/>
        </p:nvSpPr>
        <p:spPr>
          <a:xfrm>
            <a:off x="10325585" y="5102274"/>
            <a:ext cx="140000" cy="250000"/>
          </a:xfrm>
          <a:prstGeom prst="rect">
            <a:avLst/>
          </a:prstGeom>
          <a:solidFill>
            <a:srgbClr val="FFFFFF"/>
          </a:solidFill>
          <a:ln w="9525">
            <a:solidFill>
              <a:srgbClr val="363A52"/>
            </a:solidFill>
          </a:ln>
        </p:spPr>
        <p:style>
          <a:lnRef idx="1">
            <a:schemeClr val="accent1"/>
          </a:lnRef>
          <a:fillRef idx="3">
            <a:schemeClr val="accent1"/>
          </a:fillRef>
          <a:effectRef idx="2">
            <a:schemeClr val="accent1"/>
          </a:effectRef>
          <a:fontRef idx="minor">
            <a:schemeClr val="lt1"/>
          </a:fontRef>
        </p:style>
        <p:txBody>
          <a:bodyPr wrap="square" lIns="0" rIns="0" anchor="ctr"/>
          <a:lstStyle/>
          <a:p>
            <a:pPr algn="ctr">
              <a:buNone/>
            </a:pPr>
            <a:endParaRPr/>
          </a:p>
        </p:txBody>
      </p:sp>
      <p:sp>
        <p:nvSpPr>
          <p:cNvPr id="6707" name="Rectangle 6708">
            <a:extLst>
              <a:ext uri="{FF2B5EF4-FFF2-40B4-BE49-F238E27FC236}">
                <a16:creationId xmlns:a16="http://schemas.microsoft.com/office/drawing/2014/main" id="{D0532B89-BA6D-4660-84C9-CDA05959B0A3}"/>
              </a:ext>
            </a:extLst>
          </p:cNvPr>
          <p:cNvSpPr>
            <a:spLocks noGrp="1"/>
          </p:cNvSpPr>
          <p:nvPr/>
        </p:nvSpPr>
        <p:spPr>
          <a:xfrm>
            <a:off x="7639535" y="5602274"/>
            <a:ext cx="140000" cy="250000"/>
          </a:xfrm>
          <a:prstGeom prst="rect">
            <a:avLst/>
          </a:prstGeom>
          <a:solidFill>
            <a:srgbClr val="FFFFFF"/>
          </a:solidFill>
          <a:ln w="9525">
            <a:solidFill>
              <a:srgbClr val="363A52"/>
            </a:solidFill>
          </a:ln>
        </p:spPr>
        <p:style>
          <a:lnRef idx="1">
            <a:schemeClr val="accent1"/>
          </a:lnRef>
          <a:fillRef idx="3">
            <a:schemeClr val="accent1"/>
          </a:fillRef>
          <a:effectRef idx="2">
            <a:schemeClr val="accent1"/>
          </a:effectRef>
          <a:fontRef idx="minor">
            <a:schemeClr val="lt1"/>
          </a:fontRef>
        </p:style>
        <p:txBody>
          <a:bodyPr wrap="square" lIns="0" rIns="0" anchor="ctr"/>
          <a:lstStyle/>
          <a:p>
            <a:pPr algn="ctr">
              <a:buNone/>
            </a:pPr>
            <a:endParaRPr/>
          </a:p>
        </p:txBody>
      </p:sp>
      <p:sp>
        <p:nvSpPr>
          <p:cNvPr id="6709" name="Rectangle 6710">
            <a:extLst>
              <a:ext uri="{FF2B5EF4-FFF2-40B4-BE49-F238E27FC236}">
                <a16:creationId xmlns:a16="http://schemas.microsoft.com/office/drawing/2014/main" id="{FFF8B38D-009C-4A18-A420-1A7ADA47E8BB}"/>
              </a:ext>
            </a:extLst>
          </p:cNvPr>
          <p:cNvSpPr>
            <a:spLocks noGrp="1"/>
          </p:cNvSpPr>
          <p:nvPr/>
        </p:nvSpPr>
        <p:spPr>
          <a:xfrm>
            <a:off x="10325585" y="6102274"/>
            <a:ext cx="140000" cy="110000"/>
          </a:xfrm>
          <a:prstGeom prst="rect">
            <a:avLst/>
          </a:prstGeom>
          <a:solidFill>
            <a:srgbClr val="FFFFFF"/>
          </a:solidFill>
          <a:ln w="9525">
            <a:solidFill>
              <a:srgbClr val="363A52"/>
            </a:solidFill>
          </a:ln>
        </p:spPr>
        <p:style>
          <a:lnRef idx="1">
            <a:schemeClr val="accent1"/>
          </a:lnRef>
          <a:fillRef idx="3">
            <a:schemeClr val="accent1"/>
          </a:fillRef>
          <a:effectRef idx="2">
            <a:schemeClr val="accent1"/>
          </a:effectRef>
          <a:fontRef idx="minor">
            <a:schemeClr val="lt1"/>
          </a:fontRef>
        </p:style>
        <p:txBody>
          <a:bodyPr wrap="square" lIns="0" rIns="0" anchor="ctr"/>
          <a:lstStyle/>
          <a:p>
            <a:pPr algn="ctr">
              <a:buNone/>
            </a:pPr>
            <a:endParaRPr/>
          </a:p>
        </p:txBody>
      </p:sp>
      <p:sp>
        <p:nvSpPr>
          <p:cNvPr id="6711" name="Rectangle 6712">
            <a:extLst>
              <a:ext uri="{FF2B5EF4-FFF2-40B4-BE49-F238E27FC236}">
                <a16:creationId xmlns:a16="http://schemas.microsoft.com/office/drawing/2014/main" id="{BB907714-D982-417E-83A7-A20F6A26A8B2}"/>
              </a:ext>
            </a:extLst>
          </p:cNvPr>
          <p:cNvSpPr>
            <a:spLocks noGrp="1"/>
          </p:cNvSpPr>
          <p:nvPr/>
        </p:nvSpPr>
        <p:spPr>
          <a:xfrm>
            <a:off x="10325585" y="6497274"/>
            <a:ext cx="140000" cy="250000"/>
          </a:xfrm>
          <a:prstGeom prst="rect">
            <a:avLst/>
          </a:prstGeom>
          <a:solidFill>
            <a:srgbClr val="FFFFFF"/>
          </a:solidFill>
          <a:ln w="9525">
            <a:solidFill>
              <a:srgbClr val="363A52"/>
            </a:solidFill>
          </a:ln>
        </p:spPr>
        <p:style>
          <a:lnRef idx="1">
            <a:schemeClr val="accent1"/>
          </a:lnRef>
          <a:fillRef idx="3">
            <a:schemeClr val="accent1"/>
          </a:fillRef>
          <a:effectRef idx="2">
            <a:schemeClr val="accent1"/>
          </a:effectRef>
          <a:fontRef idx="minor">
            <a:schemeClr val="lt1"/>
          </a:fontRef>
        </p:style>
        <p:txBody>
          <a:bodyPr wrap="square" lIns="0" rIns="0" anchor="ctr"/>
          <a:lstStyle/>
          <a:p>
            <a:pPr algn="ctr">
              <a:buNone/>
            </a:pPr>
            <a:endParaRPr/>
          </a:p>
        </p:txBody>
      </p:sp>
      <p:sp>
        <p:nvSpPr>
          <p:cNvPr id="6713" name="Rectangle 6714">
            <a:extLst>
              <a:ext uri="{FF2B5EF4-FFF2-40B4-BE49-F238E27FC236}">
                <a16:creationId xmlns:a16="http://schemas.microsoft.com/office/drawing/2014/main" id="{1FFBE4C7-18FC-447D-BCCF-89DBAC50E68E}"/>
              </a:ext>
            </a:extLst>
          </p:cNvPr>
          <p:cNvSpPr>
            <a:spLocks noGrp="1"/>
          </p:cNvSpPr>
          <p:nvPr/>
        </p:nvSpPr>
        <p:spPr>
          <a:xfrm>
            <a:off x="2267435" y="6997274"/>
            <a:ext cx="140000" cy="180251"/>
          </a:xfrm>
          <a:prstGeom prst="rect">
            <a:avLst/>
          </a:prstGeom>
          <a:solidFill>
            <a:srgbClr val="FFFFFF"/>
          </a:solidFill>
          <a:ln w="9525">
            <a:solidFill>
              <a:srgbClr val="363A52"/>
            </a:solidFill>
          </a:ln>
        </p:spPr>
        <p:style>
          <a:lnRef idx="1">
            <a:schemeClr val="accent1"/>
          </a:lnRef>
          <a:fillRef idx="3">
            <a:schemeClr val="accent1"/>
          </a:fillRef>
          <a:effectRef idx="2">
            <a:schemeClr val="accent1"/>
          </a:effectRef>
          <a:fontRef idx="minor">
            <a:schemeClr val="lt1"/>
          </a:fontRef>
        </p:style>
        <p:txBody>
          <a:bodyPr wrap="square" lIns="0" rIns="0" anchor="ctr"/>
          <a:lstStyle/>
          <a:p>
            <a:pPr algn="ctr">
              <a:buNone/>
            </a:pPr>
            <a:endParaRPr/>
          </a:p>
        </p:txBody>
      </p:sp>
      <p:sp>
        <p:nvSpPr>
          <p:cNvPr id="6715" name="Rectangle 6716">
            <a:extLst>
              <a:ext uri="{FF2B5EF4-FFF2-40B4-BE49-F238E27FC236}">
                <a16:creationId xmlns:a16="http://schemas.microsoft.com/office/drawing/2014/main" id="{25D811D6-C348-4729-A7FE-3E0F8E5E0E34}"/>
              </a:ext>
            </a:extLst>
          </p:cNvPr>
          <p:cNvSpPr>
            <a:spLocks noGrp="1"/>
          </p:cNvSpPr>
          <p:nvPr/>
        </p:nvSpPr>
        <p:spPr>
          <a:xfrm>
            <a:off x="15697685" y="7692274"/>
            <a:ext cx="140000" cy="15000"/>
          </a:xfrm>
          <a:prstGeom prst="rect">
            <a:avLst/>
          </a:prstGeom>
          <a:solidFill>
            <a:srgbClr val="FFFFFF"/>
          </a:solidFill>
          <a:ln w="9525">
            <a:solidFill>
              <a:srgbClr val="363A52"/>
            </a:solidFill>
          </a:ln>
        </p:spPr>
        <p:style>
          <a:lnRef idx="1">
            <a:schemeClr val="accent1"/>
          </a:lnRef>
          <a:fillRef idx="3">
            <a:schemeClr val="accent1"/>
          </a:fillRef>
          <a:effectRef idx="2">
            <a:schemeClr val="accent1"/>
          </a:effectRef>
          <a:fontRef idx="minor">
            <a:schemeClr val="lt1"/>
          </a:fontRef>
        </p:style>
        <p:txBody>
          <a:bodyPr wrap="square" lIns="0" rIns="0" anchor="ctr"/>
          <a:lstStyle/>
          <a:p>
            <a:pPr algn="ctr">
              <a:buNone/>
            </a:pPr>
            <a:endParaRPr/>
          </a:p>
        </p:txBody>
      </p:sp>
      <p:sp>
        <p:nvSpPr>
          <p:cNvPr id="6717" name="Rectangle 6718">
            <a:extLst>
              <a:ext uri="{FF2B5EF4-FFF2-40B4-BE49-F238E27FC236}">
                <a16:creationId xmlns:a16="http://schemas.microsoft.com/office/drawing/2014/main" id="{800A600D-852B-412E-BA51-C0358EC35F89}"/>
              </a:ext>
            </a:extLst>
          </p:cNvPr>
          <p:cNvSpPr>
            <a:spLocks noGrp="1"/>
          </p:cNvSpPr>
          <p:nvPr/>
        </p:nvSpPr>
        <p:spPr>
          <a:xfrm>
            <a:off x="13011635" y="7442274"/>
            <a:ext cx="140000" cy="250000"/>
          </a:xfrm>
          <a:prstGeom prst="rect">
            <a:avLst/>
          </a:prstGeom>
          <a:solidFill>
            <a:srgbClr val="FFFFFF"/>
          </a:solidFill>
          <a:ln w="9525">
            <a:solidFill>
              <a:srgbClr val="363A52"/>
            </a:solidFill>
          </a:ln>
        </p:spPr>
        <p:style>
          <a:lnRef idx="1">
            <a:schemeClr val="accent1"/>
          </a:lnRef>
          <a:fillRef idx="3">
            <a:schemeClr val="accent1"/>
          </a:fillRef>
          <a:effectRef idx="2">
            <a:schemeClr val="accent1"/>
          </a:effectRef>
          <a:fontRef idx="minor">
            <a:schemeClr val="lt1"/>
          </a:fontRef>
        </p:style>
        <p:txBody>
          <a:bodyPr wrap="square" lIns="0" rIns="0" anchor="ctr"/>
          <a:lstStyle/>
          <a:p>
            <a:pPr algn="ctr">
              <a:buNone/>
            </a:pPr>
            <a:endParaRPr/>
          </a:p>
        </p:txBody>
      </p:sp>
      <p:sp>
        <p:nvSpPr>
          <p:cNvPr id="6719" name="TextBox 6720">
            <a:extLst>
              <a:ext uri="{FF2B5EF4-FFF2-40B4-BE49-F238E27FC236}">
                <a16:creationId xmlns:a16="http://schemas.microsoft.com/office/drawing/2014/main" id="{54D67937-B5A3-49F8-9432-5494E4F31B4F}"/>
              </a:ext>
            </a:extLst>
          </p:cNvPr>
          <p:cNvSpPr>
            <a:spLocks noGrp="1"/>
          </p:cNvSpPr>
          <p:nvPr/>
        </p:nvSpPr>
        <p:spPr>
          <a:xfrm>
            <a:off x="2337435" y="3157274"/>
            <a:ext cx="268605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evaluate(예측·현재 상황·정정 값)</a:t>
            </a:r>
          </a:p>
        </p:txBody>
      </p:sp>
      <p:sp>
        <p:nvSpPr>
          <p:cNvPr id="6721" name="Connector 6722">
            <a:extLst>
              <a:ext uri="{FF2B5EF4-FFF2-40B4-BE49-F238E27FC236}">
                <a16:creationId xmlns:a16="http://schemas.microsoft.com/office/drawing/2014/main" id="{FB82C988-4114-48C6-9953-D221C00B7213}"/>
              </a:ext>
            </a:extLst>
          </p:cNvPr>
          <p:cNvSpPr>
            <a:spLocks noGrp="1"/>
          </p:cNvSpPr>
          <p:nvPr/>
        </p:nvSpPr>
        <p:spPr>
          <a:xfrm>
            <a:off x="2337435" y="3382274"/>
            <a:ext cx="2616050" cy="0"/>
          </a:xfrm>
          <a:prstGeom prst="line">
            <a:avLst/>
          </a:prstGeom>
          <a:ln w="1397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723" name="TextBox 6724">
            <a:extLst>
              <a:ext uri="{FF2B5EF4-FFF2-40B4-BE49-F238E27FC236}">
                <a16:creationId xmlns:a16="http://schemas.microsoft.com/office/drawing/2014/main" id="{ED57F3E6-A94F-43F9-81BF-4974E185215F}"/>
              </a:ext>
            </a:extLst>
          </p:cNvPr>
          <p:cNvSpPr>
            <a:spLocks noGrp="1"/>
          </p:cNvSpPr>
          <p:nvPr/>
        </p:nvSpPr>
        <p:spPr>
          <a:xfrm>
            <a:off x="5023485" y="3407274"/>
            <a:ext cx="805815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공간 교차·도달 슬라이스</a:t>
            </a:r>
          </a:p>
        </p:txBody>
      </p:sp>
      <p:sp>
        <p:nvSpPr>
          <p:cNvPr id="6725" name="Connector 6726">
            <a:extLst>
              <a:ext uri="{FF2B5EF4-FFF2-40B4-BE49-F238E27FC236}">
                <a16:creationId xmlns:a16="http://schemas.microsoft.com/office/drawing/2014/main" id="{0409B77A-3D49-434F-9CFC-D936B9FD2605}"/>
              </a:ext>
            </a:extLst>
          </p:cNvPr>
          <p:cNvSpPr>
            <a:spLocks noGrp="1"/>
          </p:cNvSpPr>
          <p:nvPr/>
        </p:nvSpPr>
        <p:spPr>
          <a:xfrm>
            <a:off x="5093485" y="3632274"/>
            <a:ext cx="7918150" cy="0"/>
          </a:xfrm>
          <a:prstGeom prst="line">
            <a:avLst/>
          </a:prstGeom>
          <a:ln w="1397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727" name="TextBox 6728">
            <a:extLst>
              <a:ext uri="{FF2B5EF4-FFF2-40B4-BE49-F238E27FC236}">
                <a16:creationId xmlns:a16="http://schemas.microsoft.com/office/drawing/2014/main" id="{984E2D0C-9E41-4A4C-97D3-B06865E5F739}"/>
              </a:ext>
            </a:extLst>
          </p:cNvPr>
          <p:cNvSpPr>
            <a:spLocks noGrp="1"/>
          </p:cNvSpPr>
          <p:nvPr/>
        </p:nvSpPr>
        <p:spPr>
          <a:xfrm>
            <a:off x="5023485" y="3657274"/>
            <a:ext cx="805815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교차 결과</a:t>
            </a:r>
          </a:p>
        </p:txBody>
      </p:sp>
      <p:sp>
        <p:nvSpPr>
          <p:cNvPr id="6729" name="Connector 6730">
            <a:extLst>
              <a:ext uri="{FF2B5EF4-FFF2-40B4-BE49-F238E27FC236}">
                <a16:creationId xmlns:a16="http://schemas.microsoft.com/office/drawing/2014/main" id="{97629D69-D823-405C-A092-DC7F76382D2F}"/>
              </a:ext>
            </a:extLst>
          </p:cNvPr>
          <p:cNvSpPr>
            <a:spLocks noGrp="1"/>
          </p:cNvSpPr>
          <p:nvPr/>
        </p:nvSpPr>
        <p:spPr>
          <a:xfrm flipH="1">
            <a:off x="5093485" y="3882274"/>
            <a:ext cx="7918150" cy="0"/>
          </a:xfrm>
          <a:prstGeom prst="line">
            <a:avLst/>
          </a:prstGeom>
          <a:ln w="13970">
            <a:solidFill>
              <a:srgbClr val="6B7080"/>
            </a:solidFill>
            <a:prstDash val="dash"/>
            <a:tailEnd type="arrow"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731" name="TextBox 6732">
            <a:extLst>
              <a:ext uri="{FF2B5EF4-FFF2-40B4-BE49-F238E27FC236}">
                <a16:creationId xmlns:a16="http://schemas.microsoft.com/office/drawing/2014/main" id="{E74076C8-9E09-4136-A8A6-CC31297958E7}"/>
              </a:ext>
            </a:extLst>
          </p:cNvPr>
          <p:cNvSpPr>
            <a:spLocks noGrp="1"/>
          </p:cNvSpPr>
          <p:nvPr/>
        </p:nvSpPr>
        <p:spPr>
          <a:xfrm>
            <a:off x="2337435" y="3907274"/>
            <a:ext cx="268605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판정 값(단계·위험구역·배정 등)</a:t>
            </a:r>
          </a:p>
        </p:txBody>
      </p:sp>
      <p:sp>
        <p:nvSpPr>
          <p:cNvPr id="6733" name="Connector 6734">
            <a:extLst>
              <a:ext uri="{FF2B5EF4-FFF2-40B4-BE49-F238E27FC236}">
                <a16:creationId xmlns:a16="http://schemas.microsoft.com/office/drawing/2014/main" id="{FCDC8C96-1A7C-4607-985B-26CFB027E804}"/>
              </a:ext>
            </a:extLst>
          </p:cNvPr>
          <p:cNvSpPr>
            <a:spLocks noGrp="1"/>
          </p:cNvSpPr>
          <p:nvPr/>
        </p:nvSpPr>
        <p:spPr>
          <a:xfrm flipH="1">
            <a:off x="2337435" y="4132274"/>
            <a:ext cx="2616050" cy="0"/>
          </a:xfrm>
          <a:prstGeom prst="line">
            <a:avLst/>
          </a:prstGeom>
          <a:ln w="13970">
            <a:solidFill>
              <a:srgbClr val="6B7080"/>
            </a:solidFill>
            <a:prstDash val="dash"/>
            <a:tailEnd type="arrow"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735" name="TextBox 6736">
            <a:extLst>
              <a:ext uri="{FF2B5EF4-FFF2-40B4-BE49-F238E27FC236}">
                <a16:creationId xmlns:a16="http://schemas.microsoft.com/office/drawing/2014/main" id="{408CEDF7-2787-4140-BA2D-DE129BD2C49B}"/>
              </a:ext>
            </a:extLst>
          </p:cNvPr>
          <p:cNvSpPr>
            <a:spLocks noGrp="1"/>
          </p:cNvSpPr>
          <p:nvPr/>
        </p:nvSpPr>
        <p:spPr>
          <a:xfrm>
            <a:off x="2337435" y="4157274"/>
            <a:ext cx="268605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judge_fire() · judge_evac()</a:t>
            </a:r>
          </a:p>
        </p:txBody>
      </p:sp>
      <p:sp>
        <p:nvSpPr>
          <p:cNvPr id="6737" name="Connector 6738">
            <a:extLst>
              <a:ext uri="{FF2B5EF4-FFF2-40B4-BE49-F238E27FC236}">
                <a16:creationId xmlns:a16="http://schemas.microsoft.com/office/drawing/2014/main" id="{A9967304-9679-4D1D-85DE-8FB226075354}"/>
              </a:ext>
            </a:extLst>
          </p:cNvPr>
          <p:cNvSpPr>
            <a:spLocks noGrp="1"/>
          </p:cNvSpPr>
          <p:nvPr/>
        </p:nvSpPr>
        <p:spPr>
          <a:xfrm>
            <a:off x="2337435" y="4382274"/>
            <a:ext cx="2616050" cy="0"/>
          </a:xfrm>
          <a:prstGeom prst="line">
            <a:avLst/>
          </a:prstGeom>
          <a:ln w="1397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739" name="TextBox 6740">
            <a:extLst>
              <a:ext uri="{FF2B5EF4-FFF2-40B4-BE49-F238E27FC236}">
                <a16:creationId xmlns:a16="http://schemas.microsoft.com/office/drawing/2014/main" id="{468EC29C-B9ED-4C08-84DC-DE487EB4E889}"/>
              </a:ext>
            </a:extLst>
          </p:cNvPr>
          <p:cNvSpPr>
            <a:spLocks noGrp="1"/>
          </p:cNvSpPr>
          <p:nvPr/>
        </p:nvSpPr>
        <p:spPr>
          <a:xfrm>
            <a:off x="2337435" y="4407274"/>
            <a:ext cx="268605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발동 항목(S1~S7 · E1~E7, 최대 14)</a:t>
            </a:r>
          </a:p>
        </p:txBody>
      </p:sp>
      <p:sp>
        <p:nvSpPr>
          <p:cNvPr id="6741" name="Connector 6742">
            <a:extLst>
              <a:ext uri="{FF2B5EF4-FFF2-40B4-BE49-F238E27FC236}">
                <a16:creationId xmlns:a16="http://schemas.microsoft.com/office/drawing/2014/main" id="{6EF45B16-AC8D-486A-B1FA-BB161E1C6061}"/>
              </a:ext>
            </a:extLst>
          </p:cNvPr>
          <p:cNvSpPr>
            <a:spLocks noGrp="1"/>
          </p:cNvSpPr>
          <p:nvPr/>
        </p:nvSpPr>
        <p:spPr>
          <a:xfrm flipH="1">
            <a:off x="2337435" y="4632274"/>
            <a:ext cx="2616050" cy="0"/>
          </a:xfrm>
          <a:prstGeom prst="line">
            <a:avLst/>
          </a:prstGeom>
          <a:ln w="13970">
            <a:solidFill>
              <a:srgbClr val="6B7080"/>
            </a:solidFill>
            <a:prstDash val="dash"/>
            <a:tailEnd type="arrow"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743" name="TextBox 6744">
            <a:extLst>
              <a:ext uri="{FF2B5EF4-FFF2-40B4-BE49-F238E27FC236}">
                <a16:creationId xmlns:a16="http://schemas.microsoft.com/office/drawing/2014/main" id="{15597171-8C32-4F45-9BA6-FBB38EA55ED0}"/>
              </a:ext>
            </a:extLst>
          </p:cNvPr>
          <p:cNvSpPr>
            <a:spLocks noGrp="1"/>
          </p:cNvSpPr>
          <p:nvPr/>
        </p:nvSpPr>
        <p:spPr>
          <a:xfrm>
            <a:off x="2337435" y="4877274"/>
            <a:ext cx="805815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상황 특화 질문 작성(A1)</a:t>
            </a:r>
          </a:p>
        </p:txBody>
      </p:sp>
      <p:sp>
        <p:nvSpPr>
          <p:cNvPr id="6745" name="Connector 6746">
            <a:extLst>
              <a:ext uri="{FF2B5EF4-FFF2-40B4-BE49-F238E27FC236}">
                <a16:creationId xmlns:a16="http://schemas.microsoft.com/office/drawing/2014/main" id="{B6E37598-984D-42D8-B269-69AF0114FBAB}"/>
              </a:ext>
            </a:extLst>
          </p:cNvPr>
          <p:cNvSpPr>
            <a:spLocks noGrp="1"/>
          </p:cNvSpPr>
          <p:nvPr/>
        </p:nvSpPr>
        <p:spPr>
          <a:xfrm>
            <a:off x="2337435" y="5102274"/>
            <a:ext cx="7988150" cy="0"/>
          </a:xfrm>
          <a:prstGeom prst="line">
            <a:avLst/>
          </a:prstGeom>
          <a:ln w="1397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747" name="TextBox 6748">
            <a:extLst>
              <a:ext uri="{FF2B5EF4-FFF2-40B4-BE49-F238E27FC236}">
                <a16:creationId xmlns:a16="http://schemas.microsoft.com/office/drawing/2014/main" id="{15B7CFAF-C52F-419B-8394-04C59C440CC2}"/>
              </a:ext>
            </a:extLst>
          </p:cNvPr>
          <p:cNvSpPr>
            <a:spLocks noGrp="1"/>
          </p:cNvSpPr>
          <p:nvPr/>
        </p:nvSpPr>
        <p:spPr>
          <a:xfrm>
            <a:off x="2337435" y="5127274"/>
            <a:ext cx="805815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질문 텍스트</a:t>
            </a:r>
          </a:p>
        </p:txBody>
      </p:sp>
      <p:sp>
        <p:nvSpPr>
          <p:cNvPr id="6749" name="Connector 6750">
            <a:extLst>
              <a:ext uri="{FF2B5EF4-FFF2-40B4-BE49-F238E27FC236}">
                <a16:creationId xmlns:a16="http://schemas.microsoft.com/office/drawing/2014/main" id="{10C6ED46-7705-4BA4-820C-30CBA2EA8265}"/>
              </a:ext>
            </a:extLst>
          </p:cNvPr>
          <p:cNvSpPr>
            <a:spLocks noGrp="1"/>
          </p:cNvSpPr>
          <p:nvPr/>
        </p:nvSpPr>
        <p:spPr>
          <a:xfrm flipH="1">
            <a:off x="2337435" y="5352274"/>
            <a:ext cx="7988150" cy="0"/>
          </a:xfrm>
          <a:prstGeom prst="line">
            <a:avLst/>
          </a:prstGeom>
          <a:ln w="13970">
            <a:solidFill>
              <a:srgbClr val="6B7080"/>
            </a:solidFill>
            <a:prstDash val="dash"/>
            <a:tailEnd type="arrow"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751" name="TextBox 6752">
            <a:extLst>
              <a:ext uri="{FF2B5EF4-FFF2-40B4-BE49-F238E27FC236}">
                <a16:creationId xmlns:a16="http://schemas.microsoft.com/office/drawing/2014/main" id="{74F59FC8-4AE4-4A0E-8068-6451077F7524}"/>
              </a:ext>
            </a:extLst>
          </p:cNvPr>
          <p:cNvSpPr>
            <a:spLocks noGrp="1"/>
          </p:cNvSpPr>
          <p:nvPr/>
        </p:nvSpPr>
        <p:spPr>
          <a:xfrm>
            <a:off x="2337435" y="5377274"/>
            <a:ext cx="537210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search(질문, 단계·항목 필터, k=</a:t>
            </a:r>
            <a:r>
              <a:rPr sz="1100" b="0">
                <a:solidFill>
                  <a:srgbClr val="FF0000"/>
                </a:solidFill>
                <a:latin typeface="210 OmniGothic 040"/>
                <a:ea typeface="210 OmniGothic 040"/>
                <a:cs typeface="210 OmniGothic 040"/>
              </a:rPr>
              <a:t>K</a:t>
            </a:r>
            <a:r>
              <a:rPr sz="1100" b="0">
                <a:solidFill>
                  <a:srgbClr val="FF0000"/>
                </a:solidFill>
                <a:latin typeface="210 OmniGothic 040"/>
                <a:ea typeface="210 OmniGothic 040"/>
                <a:cs typeface="210 OmniGothic 040"/>
              </a:rPr>
              <a:t>)</a:t>
            </a:r>
          </a:p>
        </p:txBody>
      </p:sp>
      <p:sp>
        <p:nvSpPr>
          <p:cNvPr id="6753" name="Connector 6754">
            <a:extLst>
              <a:ext uri="{FF2B5EF4-FFF2-40B4-BE49-F238E27FC236}">
                <a16:creationId xmlns:a16="http://schemas.microsoft.com/office/drawing/2014/main" id="{74DFA5A4-EDAE-4136-B369-0F80402C205D}"/>
              </a:ext>
            </a:extLst>
          </p:cNvPr>
          <p:cNvSpPr>
            <a:spLocks noGrp="1"/>
          </p:cNvSpPr>
          <p:nvPr/>
        </p:nvSpPr>
        <p:spPr>
          <a:xfrm>
            <a:off x="2337435" y="5602274"/>
            <a:ext cx="5302100" cy="0"/>
          </a:xfrm>
          <a:prstGeom prst="line">
            <a:avLst/>
          </a:prstGeom>
          <a:ln w="1397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755" name="TextBox 6756">
            <a:extLst>
              <a:ext uri="{FF2B5EF4-FFF2-40B4-BE49-F238E27FC236}">
                <a16:creationId xmlns:a16="http://schemas.microsoft.com/office/drawing/2014/main" id="{FC40FCE7-1BBB-42A2-8060-12BD54BE1CAB}"/>
              </a:ext>
            </a:extLst>
          </p:cNvPr>
          <p:cNvSpPr>
            <a:spLocks noGrp="1"/>
          </p:cNvSpPr>
          <p:nvPr/>
        </p:nvSpPr>
        <p:spPr>
          <a:xfrm>
            <a:off x="2337435" y="5627274"/>
            <a:ext cx="5372100" cy="221284"/>
          </a:xfrm>
          <a:prstGeom prst="rect">
            <a:avLst/>
          </a:prstGeom>
          <a:noFill/>
        </p:spPr>
        <p:txBody>
          <a:bodyPr wrap="square" lIns="0" tIns="0" rIns="0" bIns="0" anchor="t">
            <a:spAutoFit/>
          </a:bodyPr>
          <a:lstStyle/>
          <a:p>
            <a:pPr algn="ctr">
              <a:buNone/>
            </a:pPr>
            <a:r>
              <a:rPr sz="1100" b="0">
                <a:solidFill>
                  <a:srgbClr val="FF0000"/>
                </a:solidFill>
                <a:latin typeface="210 OmniGothic 040"/>
                <a:ea typeface="210 OmniGothic 040"/>
                <a:cs typeface="210 OmniGothic 040"/>
              </a:rPr>
              <a:t>근거 청크 K개</a:t>
            </a:r>
          </a:p>
        </p:txBody>
      </p:sp>
      <p:sp>
        <p:nvSpPr>
          <p:cNvPr id="6757" name="Connector 6758">
            <a:extLst>
              <a:ext uri="{FF2B5EF4-FFF2-40B4-BE49-F238E27FC236}">
                <a16:creationId xmlns:a16="http://schemas.microsoft.com/office/drawing/2014/main" id="{ECFD2835-C990-4EA0-920C-662ED09C8C30}"/>
              </a:ext>
            </a:extLst>
          </p:cNvPr>
          <p:cNvSpPr>
            <a:spLocks noGrp="1"/>
          </p:cNvSpPr>
          <p:nvPr/>
        </p:nvSpPr>
        <p:spPr>
          <a:xfrm flipH="1">
            <a:off x="2337435" y="5852274"/>
            <a:ext cx="5302100" cy="0"/>
          </a:xfrm>
          <a:prstGeom prst="line">
            <a:avLst/>
          </a:prstGeom>
          <a:ln w="13970">
            <a:solidFill>
              <a:srgbClr val="6B7080"/>
            </a:solidFill>
            <a:prstDash val="dash"/>
            <a:tailEnd type="arrow"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759" name="TextBox 6760">
            <a:extLst>
              <a:ext uri="{FF2B5EF4-FFF2-40B4-BE49-F238E27FC236}">
                <a16:creationId xmlns:a16="http://schemas.microsoft.com/office/drawing/2014/main" id="{1A72ECC4-63E6-4FAA-9E48-09D4E9473D28}"/>
              </a:ext>
            </a:extLst>
          </p:cNvPr>
          <p:cNvSpPr>
            <a:spLocks noGrp="1"/>
          </p:cNvSpPr>
          <p:nvPr/>
        </p:nvSpPr>
        <p:spPr>
          <a:xfrm>
            <a:off x="2337435" y="5877274"/>
            <a:ext cx="805815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근거 인용 답변(A2)</a:t>
            </a:r>
          </a:p>
        </p:txBody>
      </p:sp>
      <p:sp>
        <p:nvSpPr>
          <p:cNvPr id="6761" name="Connector 6762">
            <a:extLst>
              <a:ext uri="{FF2B5EF4-FFF2-40B4-BE49-F238E27FC236}">
                <a16:creationId xmlns:a16="http://schemas.microsoft.com/office/drawing/2014/main" id="{DE5475BB-A32B-4ABE-A656-F8EC4A49628D}"/>
              </a:ext>
            </a:extLst>
          </p:cNvPr>
          <p:cNvSpPr>
            <a:spLocks noGrp="1"/>
          </p:cNvSpPr>
          <p:nvPr/>
        </p:nvSpPr>
        <p:spPr>
          <a:xfrm>
            <a:off x="2337435" y="6102274"/>
            <a:ext cx="7988150" cy="0"/>
          </a:xfrm>
          <a:prstGeom prst="line">
            <a:avLst/>
          </a:prstGeom>
          <a:ln w="1397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763" name="TextBox 6764">
            <a:extLst>
              <a:ext uri="{FF2B5EF4-FFF2-40B4-BE49-F238E27FC236}">
                <a16:creationId xmlns:a16="http://schemas.microsoft.com/office/drawing/2014/main" id="{6D345308-909C-4B8D-A44C-193781150B6B}"/>
              </a:ext>
            </a:extLst>
          </p:cNvPr>
          <p:cNvSpPr>
            <a:spLocks noGrp="1"/>
          </p:cNvSpPr>
          <p:nvPr/>
        </p:nvSpPr>
        <p:spPr>
          <a:xfrm>
            <a:off x="2337435" y="6272274"/>
            <a:ext cx="805815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충돌 검사(A3) · 제안서 종합(A4)</a:t>
            </a:r>
          </a:p>
        </p:txBody>
      </p:sp>
      <p:sp>
        <p:nvSpPr>
          <p:cNvPr id="6765" name="Connector 6766">
            <a:extLst>
              <a:ext uri="{FF2B5EF4-FFF2-40B4-BE49-F238E27FC236}">
                <a16:creationId xmlns:a16="http://schemas.microsoft.com/office/drawing/2014/main" id="{B70F639D-A6FE-4B30-9462-A09638586157}"/>
              </a:ext>
            </a:extLst>
          </p:cNvPr>
          <p:cNvSpPr>
            <a:spLocks noGrp="1"/>
          </p:cNvSpPr>
          <p:nvPr/>
        </p:nvSpPr>
        <p:spPr>
          <a:xfrm>
            <a:off x="2337435" y="6497274"/>
            <a:ext cx="7988150" cy="0"/>
          </a:xfrm>
          <a:prstGeom prst="line">
            <a:avLst/>
          </a:prstGeom>
          <a:ln w="1397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767" name="TextBox 6768">
            <a:extLst>
              <a:ext uri="{FF2B5EF4-FFF2-40B4-BE49-F238E27FC236}">
                <a16:creationId xmlns:a16="http://schemas.microsoft.com/office/drawing/2014/main" id="{F33AAA96-CBD9-4872-BDC6-45344221CD20}"/>
              </a:ext>
            </a:extLst>
          </p:cNvPr>
          <p:cNvSpPr>
            <a:spLocks noGrp="1"/>
          </p:cNvSpPr>
          <p:nvPr/>
        </p:nvSpPr>
        <p:spPr>
          <a:xfrm>
            <a:off x="2337435" y="6522274"/>
            <a:ext cx="805815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제안 문장 · 근거 번호</a:t>
            </a:r>
          </a:p>
        </p:txBody>
      </p:sp>
      <p:sp>
        <p:nvSpPr>
          <p:cNvPr id="6769" name="Connector 6770">
            <a:extLst>
              <a:ext uri="{FF2B5EF4-FFF2-40B4-BE49-F238E27FC236}">
                <a16:creationId xmlns:a16="http://schemas.microsoft.com/office/drawing/2014/main" id="{1C066385-AA6D-48E7-9FA0-8CE7C0DA2804}"/>
              </a:ext>
            </a:extLst>
          </p:cNvPr>
          <p:cNvSpPr>
            <a:spLocks noGrp="1"/>
          </p:cNvSpPr>
          <p:nvPr/>
        </p:nvSpPr>
        <p:spPr>
          <a:xfrm flipH="1">
            <a:off x="2337435" y="6747274"/>
            <a:ext cx="7988150" cy="0"/>
          </a:xfrm>
          <a:prstGeom prst="line">
            <a:avLst/>
          </a:prstGeom>
          <a:ln w="13970">
            <a:solidFill>
              <a:srgbClr val="6B7080"/>
            </a:solidFill>
            <a:prstDash val="dash"/>
            <a:tailEnd type="arrow"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771" name="Connector 6772">
            <a:extLst>
              <a:ext uri="{FF2B5EF4-FFF2-40B4-BE49-F238E27FC236}">
                <a16:creationId xmlns:a16="http://schemas.microsoft.com/office/drawing/2014/main" id="{31A25615-E56B-4074-9142-61D9161E35FC}"/>
              </a:ext>
            </a:extLst>
          </p:cNvPr>
          <p:cNvSpPr>
            <a:spLocks noGrp="1"/>
          </p:cNvSpPr>
          <p:nvPr/>
        </p:nvSpPr>
        <p:spPr>
          <a:xfrm>
            <a:off x="2407435" y="6997274"/>
            <a:ext cx="365760" cy="0"/>
          </a:xfrm>
          <a:prstGeom prst="line">
            <a:avLst/>
          </a:prstGeom>
          <a:ln w="13970">
            <a:solidFill>
              <a:srgbClr val="363A52"/>
            </a:solidFill>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773" name="Connector 6774">
            <a:extLst>
              <a:ext uri="{FF2B5EF4-FFF2-40B4-BE49-F238E27FC236}">
                <a16:creationId xmlns:a16="http://schemas.microsoft.com/office/drawing/2014/main" id="{42CC2A1C-130C-42CC-B05B-6F8B98A28111}"/>
              </a:ext>
            </a:extLst>
          </p:cNvPr>
          <p:cNvSpPr>
            <a:spLocks noGrp="1"/>
          </p:cNvSpPr>
          <p:nvPr/>
        </p:nvSpPr>
        <p:spPr>
          <a:xfrm>
            <a:off x="2773195" y="6997274"/>
            <a:ext cx="0" cy="180251"/>
          </a:xfrm>
          <a:prstGeom prst="line">
            <a:avLst/>
          </a:prstGeom>
          <a:ln w="13970">
            <a:solidFill>
              <a:srgbClr val="363A52"/>
            </a:solidFill>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775" name="Connector 6776">
            <a:extLst>
              <a:ext uri="{FF2B5EF4-FFF2-40B4-BE49-F238E27FC236}">
                <a16:creationId xmlns:a16="http://schemas.microsoft.com/office/drawing/2014/main" id="{DB805D3C-7B1F-4D4A-B367-C2896B104F44}"/>
              </a:ext>
            </a:extLst>
          </p:cNvPr>
          <p:cNvSpPr>
            <a:spLocks noGrp="1"/>
          </p:cNvSpPr>
          <p:nvPr/>
        </p:nvSpPr>
        <p:spPr>
          <a:xfrm flipH="1">
            <a:off x="2441725" y="7177525"/>
            <a:ext cx="331470" cy="0"/>
          </a:xfrm>
          <a:prstGeom prst="line">
            <a:avLst/>
          </a:prstGeom>
          <a:ln w="1397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777" name="TextBox 6778">
            <a:extLst>
              <a:ext uri="{FF2B5EF4-FFF2-40B4-BE49-F238E27FC236}">
                <a16:creationId xmlns:a16="http://schemas.microsoft.com/office/drawing/2014/main" id="{2BE39707-3098-464D-8E44-9A57D408F64A}"/>
              </a:ext>
            </a:extLst>
          </p:cNvPr>
          <p:cNvSpPr>
            <a:spLocks noGrp="1"/>
          </p:cNvSpPr>
          <p:nvPr/>
        </p:nvSpPr>
        <p:spPr>
          <a:xfrm>
            <a:off x="2864635" y="6772274"/>
            <a:ext cx="4562951" cy="221284"/>
          </a:xfrm>
          <a:prstGeom prst="rect">
            <a:avLst/>
          </a:prstGeom>
          <a:noFill/>
        </p:spPr>
        <p:txBody>
          <a:bodyPr wrap="square" lIns="0" tIns="0" rIns="0" bIns="0" anchor="t">
            <a:spAutoFit/>
          </a:bodyPr>
          <a:lstStyle/>
          <a:p>
            <a:pPr algn="l">
              <a:buNone/>
            </a:pPr>
            <a:r>
              <a:rPr sz="1100" b="0">
                <a:solidFill>
                  <a:srgbClr val="2E3142"/>
                </a:solidFill>
                <a:latin typeface="210 OmniGothic 040"/>
                <a:ea typeface="210 OmniGothic 040"/>
                <a:cs typeface="210 OmniGothic 040"/>
              </a:rPr>
              <a:t>인용 번호 검증 · 직전 버전 비교</a:t>
            </a:r>
          </a:p>
        </p:txBody>
      </p:sp>
      <p:sp>
        <p:nvSpPr>
          <p:cNvPr id="6779" name="TextBox 6780">
            <a:extLst>
              <a:ext uri="{FF2B5EF4-FFF2-40B4-BE49-F238E27FC236}">
                <a16:creationId xmlns:a16="http://schemas.microsoft.com/office/drawing/2014/main" id="{FF260F2C-A254-4932-99F4-4A0E55604155}"/>
              </a:ext>
            </a:extLst>
          </p:cNvPr>
          <p:cNvSpPr>
            <a:spLocks noGrp="1"/>
          </p:cNvSpPr>
          <p:nvPr/>
        </p:nvSpPr>
        <p:spPr>
          <a:xfrm>
            <a:off x="2337435" y="7217274"/>
            <a:ext cx="1074420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새 버전 저장(사유: 예측 갱신·상황 정정)</a:t>
            </a:r>
          </a:p>
        </p:txBody>
      </p:sp>
      <p:sp>
        <p:nvSpPr>
          <p:cNvPr id="6781" name="Connector 6782">
            <a:extLst>
              <a:ext uri="{FF2B5EF4-FFF2-40B4-BE49-F238E27FC236}">
                <a16:creationId xmlns:a16="http://schemas.microsoft.com/office/drawing/2014/main" id="{53ADC6E8-0DC7-4A65-A70C-AD66AEF2A8DD}"/>
              </a:ext>
            </a:extLst>
          </p:cNvPr>
          <p:cNvSpPr>
            <a:spLocks noGrp="1"/>
          </p:cNvSpPr>
          <p:nvPr/>
        </p:nvSpPr>
        <p:spPr>
          <a:xfrm>
            <a:off x="2337435" y="7442274"/>
            <a:ext cx="10674200" cy="0"/>
          </a:xfrm>
          <a:prstGeom prst="line">
            <a:avLst/>
          </a:prstGeom>
          <a:ln w="1397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783" name="TextBox 6784">
            <a:extLst>
              <a:ext uri="{FF2B5EF4-FFF2-40B4-BE49-F238E27FC236}">
                <a16:creationId xmlns:a16="http://schemas.microsoft.com/office/drawing/2014/main" id="{59F1016A-83EE-4130-8045-BF23AF064D46}"/>
              </a:ext>
            </a:extLst>
          </p:cNvPr>
          <p:cNvSpPr>
            <a:spLocks noGrp="1"/>
          </p:cNvSpPr>
          <p:nvPr/>
        </p:nvSpPr>
        <p:spPr>
          <a:xfrm>
            <a:off x="2337435" y="7467274"/>
            <a:ext cx="1343025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record(제안, 새 버전 생성)</a:t>
            </a:r>
          </a:p>
        </p:txBody>
      </p:sp>
      <p:sp>
        <p:nvSpPr>
          <p:cNvPr id="6785" name="Connector 6786">
            <a:extLst>
              <a:ext uri="{FF2B5EF4-FFF2-40B4-BE49-F238E27FC236}">
                <a16:creationId xmlns:a16="http://schemas.microsoft.com/office/drawing/2014/main" id="{D029F13B-30C3-4699-B3C7-F1858E5227BD}"/>
              </a:ext>
            </a:extLst>
          </p:cNvPr>
          <p:cNvSpPr>
            <a:spLocks noGrp="1"/>
          </p:cNvSpPr>
          <p:nvPr/>
        </p:nvSpPr>
        <p:spPr>
          <a:xfrm>
            <a:off x="2337435" y="7692274"/>
            <a:ext cx="13360250" cy="0"/>
          </a:xfrm>
          <a:prstGeom prst="line">
            <a:avLst/>
          </a:prstGeom>
          <a:ln w="1397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693" name="Rectangle 6694">
            <a:extLst>
              <a:ext uri="{FF2B5EF4-FFF2-40B4-BE49-F238E27FC236}">
                <a16:creationId xmlns:a16="http://schemas.microsoft.com/office/drawing/2014/main" id="{8DB2DB03-56F9-4349-B963-39E09A2D7817}"/>
              </a:ext>
            </a:extLst>
          </p:cNvPr>
          <p:cNvSpPr>
            <a:spLocks noGrp="1"/>
          </p:cNvSpPr>
          <p:nvPr/>
        </p:nvSpPr>
        <p:spPr>
          <a:xfrm>
            <a:off x="983665" y="4657274"/>
            <a:ext cx="16137790" cy="1555000"/>
          </a:xfrm>
          <a:prstGeom prst="rect">
            <a:avLst/>
          </a:prstGeom>
          <a:noFill/>
          <a:ln w="12700">
            <a:solidFill>
              <a:srgbClr val="FAA95A"/>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endParaRPr/>
          </a:p>
        </p:txBody>
      </p:sp>
      <p:sp>
        <p:nvSpPr>
          <p:cNvPr id="6695" name="Rectangle 6696">
            <a:extLst>
              <a:ext uri="{FF2B5EF4-FFF2-40B4-BE49-F238E27FC236}">
                <a16:creationId xmlns:a16="http://schemas.microsoft.com/office/drawing/2014/main" id="{96D325B8-EAD0-4CAA-B7A2-335F35F1615F}"/>
              </a:ext>
            </a:extLst>
          </p:cNvPr>
          <p:cNvSpPr>
            <a:spLocks noGrp="1"/>
          </p:cNvSpPr>
          <p:nvPr/>
        </p:nvSpPr>
        <p:spPr>
          <a:xfrm>
            <a:off x="983665" y="4657274"/>
            <a:ext cx="708660" cy="241401"/>
          </a:xfrm>
          <a:prstGeom prst="rect">
            <a:avLst/>
          </a:prstGeom>
          <a:solidFill>
            <a:srgbClr val="FDEBD9"/>
          </a:solidFill>
          <a:ln w="12700">
            <a:solidFill>
              <a:srgbClr val="FAA95A"/>
            </a:solidFill>
          </a:ln>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algn="ctr">
              <a:buNone/>
            </a:pPr>
            <a:r>
              <a:rPr sz="1050" b="1">
                <a:solidFill>
                  <a:srgbClr val="B5601C"/>
                </a:solidFill>
                <a:latin typeface="210 OmniGothic 040"/>
                <a:ea typeface="210 OmniGothic 040"/>
                <a:cs typeface="210 OmniGothic 040"/>
              </a:rPr>
              <a:t>loop</a:t>
            </a:r>
          </a:p>
        </p:txBody>
      </p:sp>
      <p:sp>
        <p:nvSpPr>
          <p:cNvPr id="6697" name="TextBox 6698">
            <a:extLst>
              <a:ext uri="{FF2B5EF4-FFF2-40B4-BE49-F238E27FC236}">
                <a16:creationId xmlns:a16="http://schemas.microsoft.com/office/drawing/2014/main" id="{119C1A04-DB9F-4604-993F-92A43C736485}"/>
              </a:ext>
            </a:extLst>
          </p:cNvPr>
          <p:cNvSpPr>
            <a:spLocks noGrp="1"/>
          </p:cNvSpPr>
          <p:nvPr/>
        </p:nvSpPr>
        <p:spPr>
          <a:xfrm>
            <a:off x="1792325" y="4667332"/>
            <a:ext cx="5715000" cy="241401"/>
          </a:xfrm>
          <a:prstGeom prst="rect">
            <a:avLst/>
          </a:prstGeom>
          <a:noFill/>
        </p:spPr>
        <p:txBody>
          <a:bodyPr wrap="square" lIns="0" tIns="0" rIns="0" bIns="0" anchor="t">
            <a:spAutoFit/>
          </a:bodyPr>
          <a:lstStyle/>
          <a:p>
            <a:pPr algn="l">
              <a:buNone/>
            </a:pPr>
            <a:r>
              <a:rPr sz="1100" b="0">
                <a:solidFill>
                  <a:srgbClr val="2E3142"/>
                </a:solidFill>
                <a:latin typeface="210 OmniGothic 040"/>
                <a:ea typeface="210 OmniGothic 040"/>
                <a:cs typeface="210 OmniGothic 040"/>
              </a:rPr>
              <a:t>[발동 항목마다]</a:t>
            </a:r>
          </a:p>
        </p:txBody>
      </p:sp>
    </p:spTree>
    <p:extLst>
      <p:ext uri="{BB962C8B-B14F-4D97-AF65-F5344CB8AC3E}">
        <p14:creationId xmlns:p14="http://schemas.microsoft.com/office/powerpoint/2010/main" val="16170911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018" name="Picture 2"/>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700" y="-12700"/>
            <a:ext cx="18313400" cy="1638300"/>
          </a:xfrm>
          <a:prstGeom prst="rect">
            <a:avLst/>
          </a:prstGeom>
        </p:spPr>
      </p:pic>
      <p:pic>
        <p:nvPicPr>
          <p:cNvPr id="7019" name="Picture 4"/>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28" y="1618343"/>
            <a:ext cx="18313400" cy="8699500"/>
          </a:xfrm>
          <a:prstGeom prst="rect">
            <a:avLst/>
          </a:prstGeom>
        </p:spPr>
      </p:pic>
      <p:pic>
        <p:nvPicPr>
          <p:cNvPr id="7020" name="Picture 5"/>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58800" y="9271000"/>
            <a:ext cx="17170400" cy="50800"/>
          </a:xfrm>
          <a:prstGeom prst="rect">
            <a:avLst/>
          </a:prstGeom>
        </p:spPr>
      </p:pic>
      <p:pic>
        <p:nvPicPr>
          <p:cNvPr id="7021" name="Picture 3"/>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5278100" y="203200"/>
            <a:ext cx="1676400" cy="1409700"/>
          </a:xfrm>
          <a:prstGeom prst="rect">
            <a:avLst/>
          </a:prstGeom>
        </p:spPr>
      </p:pic>
      <p:sp>
        <p:nvSpPr>
          <p:cNvPr id="5221" name="Title">
            <a:extLst>
              <a:ext uri="{FF2B5EF4-FFF2-40B4-BE49-F238E27FC236}">
                <a16:creationId xmlns:a16="http://schemas.microsoft.com/office/drawing/2014/main" id="{06EBC92D-D876-4FF7-8EEC-BE45744A25B4}"/>
              </a:ext>
            </a:extLst>
          </p:cNvPr>
          <p:cNvSpPr>
            <a:spLocks noGrp="1"/>
          </p:cNvSpPr>
          <p:nvPr/>
        </p:nvSpPr>
        <p:spPr>
          <a:xfrm>
            <a:off x="822960" y="384048"/>
            <a:ext cx="13258800" cy="877824"/>
          </a:xfrm>
          <a:prstGeom prst="rect">
            <a:avLst/>
          </a:prstGeom>
          <a:noFill/>
        </p:spPr>
        <p:txBody>
          <a:bodyPr wrap="square" lIns="0" tIns="0" rIns="0" bIns="0" anchor="ctr">
            <a:spAutoFit/>
          </a:bodyPr>
          <a:lstStyle/>
          <a:p>
            <a:pPr algn="l">
              <a:buNone/>
            </a:pPr>
            <a:r>
              <a:rPr sz="4400" b="0">
                <a:solidFill>
                  <a:srgbClr val="FAA95A"/>
                </a:solidFill>
                <a:latin typeface="210 OmniGothic 050"/>
                <a:ea typeface="210 OmniGothic 050"/>
                <a:cs typeface="210 OmniGothic 050"/>
              </a:rPr>
              <a:t>04. 시퀀스 다이어그램</a:t>
            </a:r>
          </a:p>
        </p:txBody>
      </p:sp>
      <p:sp>
        <p:nvSpPr>
          <p:cNvPr id="5222" name="Subtitle">
            <a:extLst>
              <a:ext uri="{FF2B5EF4-FFF2-40B4-BE49-F238E27FC236}">
                <a16:creationId xmlns:a16="http://schemas.microsoft.com/office/drawing/2014/main" id="{202BBCE0-2380-4252-9F54-555C3A143891}"/>
              </a:ext>
            </a:extLst>
          </p:cNvPr>
          <p:cNvSpPr>
            <a:spLocks noGrp="1"/>
          </p:cNvSpPr>
          <p:nvPr/>
        </p:nvSpPr>
        <p:spPr>
          <a:xfrm>
            <a:off x="822960" y="1764792"/>
            <a:ext cx="16642080" cy="502920"/>
          </a:xfrm>
          <a:prstGeom prst="rect">
            <a:avLst/>
          </a:prstGeom>
          <a:noFill/>
        </p:spPr>
        <p:txBody>
          <a:bodyPr wrap="square" lIns="0" tIns="0" rIns="0" bIns="0" anchor="ctr">
            <a:spAutoFit/>
          </a:bodyPr>
          <a:lstStyle/>
          <a:p>
            <a:pPr algn="ctr">
              <a:buNone/>
            </a:pPr>
            <a:r>
              <a:rPr sz="2600" b="1">
                <a:solidFill>
                  <a:srgbClr val="363A52"/>
                </a:solidFill>
                <a:latin typeface="210 OmniGothic 040"/>
                <a:ea typeface="210 OmniGothic 040"/>
                <a:cs typeface="210 OmniGothic 040"/>
              </a:rPr>
              <a:t>산불 위험도 확인  (UC-PRED-02)</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idx="12"/>
          </p:nvPr>
        </p:nvSpPr>
        <p:spPr/>
        <p:txBody>
          <a:bodyPr/>
          <a:lstStyle/>
          <a:p>
            <a:fld id="{B6F15528-21DE-4FAA-801E-634DDDAF4B2B}" type="slidenum">
              <a:t>43</a:t>
            </a:fld>
            <a:endParaRPr/>
          </a:p>
        </p:txBody>
      </p:sp>
      <p:sp>
        <p:nvSpPr>
          <p:cNvPr id="6991" name="Rounded Rectangle 6992">
            <a:extLst>
              <a:ext uri="{FF2B5EF4-FFF2-40B4-BE49-F238E27FC236}">
                <a16:creationId xmlns:a16="http://schemas.microsoft.com/office/drawing/2014/main" id="{646CC377-B870-46BD-A2DE-3EA8FCD2D478}"/>
              </a:ext>
            </a:extLst>
          </p:cNvPr>
          <p:cNvSpPr>
            <a:spLocks noGrp="1"/>
          </p:cNvSpPr>
          <p:nvPr/>
        </p:nvSpPr>
        <p:spPr>
          <a:xfrm>
            <a:off x="1194435" y="2446020"/>
            <a:ext cx="2286000" cy="462686"/>
          </a:xfrm>
          <a:prstGeom prst="roundRect">
            <a:avLst>
              <a:gd name="adj" fmla="val 10000"/>
            </a:avLst>
          </a:prstGeom>
          <a:solidFill>
            <a:srgbClr val="E6E9F1"/>
          </a:solidFill>
          <a:ln w="12700">
            <a:solidFill>
              <a:srgbClr val="B6BCCB"/>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r>
              <a:rPr sz="1250" b="1">
                <a:solidFill>
                  <a:srgbClr val="2E3142"/>
                </a:solidFill>
                <a:latin typeface="210 OmniGothic 040"/>
                <a:ea typeface="210 OmniGothic 040"/>
                <a:cs typeface="210 OmniGothic 040"/>
              </a:rPr>
              <a:t>통합지휘권자</a:t>
            </a:r>
          </a:p>
        </p:txBody>
      </p:sp>
      <p:sp>
        <p:nvSpPr>
          <p:cNvPr id="6993" name="Connector 6994">
            <a:extLst>
              <a:ext uri="{FF2B5EF4-FFF2-40B4-BE49-F238E27FC236}">
                <a16:creationId xmlns:a16="http://schemas.microsoft.com/office/drawing/2014/main" id="{5547144E-0ED5-47BB-9A02-A400C5020B32}"/>
              </a:ext>
            </a:extLst>
          </p:cNvPr>
          <p:cNvSpPr>
            <a:spLocks noGrp="1"/>
          </p:cNvSpPr>
          <p:nvPr/>
        </p:nvSpPr>
        <p:spPr>
          <a:xfrm>
            <a:off x="2337435" y="2908706"/>
            <a:ext cx="0" cy="6145682"/>
          </a:xfrm>
          <a:prstGeom prst="line">
            <a:avLst/>
          </a:prstGeom>
          <a:ln w="11430">
            <a:solidFill>
              <a:srgbClr val="A3A8B8"/>
            </a:solidFill>
            <a:prstDash val="dash"/>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995" name="Rounded Rectangle 6996">
            <a:extLst>
              <a:ext uri="{FF2B5EF4-FFF2-40B4-BE49-F238E27FC236}">
                <a16:creationId xmlns:a16="http://schemas.microsoft.com/office/drawing/2014/main" id="{A81AC460-F4BF-453B-8123-5DCBFB95D808}"/>
              </a:ext>
            </a:extLst>
          </p:cNvPr>
          <p:cNvSpPr>
            <a:spLocks noGrp="1"/>
          </p:cNvSpPr>
          <p:nvPr/>
        </p:nvSpPr>
        <p:spPr>
          <a:xfrm>
            <a:off x="3880485" y="2446020"/>
            <a:ext cx="2286000" cy="462686"/>
          </a:xfrm>
          <a:prstGeom prst="roundRect">
            <a:avLst>
              <a:gd name="adj" fmla="val 10000"/>
            </a:avLst>
          </a:prstGeom>
          <a:solidFill>
            <a:srgbClr val="E6E9F1"/>
          </a:solidFill>
          <a:ln w="12700">
            <a:solidFill>
              <a:srgbClr val="B6BCCB"/>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r>
              <a:rPr sz="1250" b="1">
                <a:solidFill>
                  <a:srgbClr val="2E3142"/>
                </a:solidFill>
                <a:latin typeface="210 OmniGothic 040"/>
                <a:ea typeface="210 OmniGothic 040"/>
                <a:cs typeface="210 OmniGothic 040"/>
              </a:rPr>
              <a:t>프론트엔드</a:t>
            </a:r>
          </a:p>
        </p:txBody>
      </p:sp>
      <p:sp>
        <p:nvSpPr>
          <p:cNvPr id="6997" name="Connector 6998">
            <a:extLst>
              <a:ext uri="{FF2B5EF4-FFF2-40B4-BE49-F238E27FC236}">
                <a16:creationId xmlns:a16="http://schemas.microsoft.com/office/drawing/2014/main" id="{3F86B687-C24D-4FE0-A776-F75984D40240}"/>
              </a:ext>
            </a:extLst>
          </p:cNvPr>
          <p:cNvSpPr>
            <a:spLocks noGrp="1"/>
          </p:cNvSpPr>
          <p:nvPr/>
        </p:nvSpPr>
        <p:spPr>
          <a:xfrm>
            <a:off x="5023485" y="2908706"/>
            <a:ext cx="0" cy="6145682"/>
          </a:xfrm>
          <a:prstGeom prst="line">
            <a:avLst/>
          </a:prstGeom>
          <a:ln w="11430">
            <a:solidFill>
              <a:srgbClr val="A3A8B8"/>
            </a:solidFill>
            <a:prstDash val="dash"/>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999" name="Rounded Rectangle 7000">
            <a:extLst>
              <a:ext uri="{FF2B5EF4-FFF2-40B4-BE49-F238E27FC236}">
                <a16:creationId xmlns:a16="http://schemas.microsoft.com/office/drawing/2014/main" id="{B62AD678-5E31-459C-8AC1-AF84860AECF6}"/>
              </a:ext>
            </a:extLst>
          </p:cNvPr>
          <p:cNvSpPr>
            <a:spLocks noGrp="1"/>
          </p:cNvSpPr>
          <p:nvPr/>
        </p:nvSpPr>
        <p:spPr>
          <a:xfrm>
            <a:off x="6566535" y="2446020"/>
            <a:ext cx="2286000" cy="462686"/>
          </a:xfrm>
          <a:prstGeom prst="roundRect">
            <a:avLst>
              <a:gd name="adj" fmla="val 10000"/>
            </a:avLst>
          </a:prstGeom>
          <a:solidFill>
            <a:srgbClr val="E6E9F1"/>
          </a:solidFill>
          <a:ln w="12700">
            <a:solidFill>
              <a:srgbClr val="B6BCCB"/>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r>
              <a:rPr sz="1250" b="1">
                <a:solidFill>
                  <a:srgbClr val="2E3142"/>
                </a:solidFill>
                <a:latin typeface="210 OmniGothic 040"/>
                <a:ea typeface="210 OmniGothic 040"/>
                <a:cs typeface="210 OmniGothic 040"/>
              </a:rPr>
              <a:t>PredictionRouter</a:t>
            </a:r>
          </a:p>
        </p:txBody>
      </p:sp>
      <p:sp>
        <p:nvSpPr>
          <p:cNvPr id="7001" name="Connector 7002">
            <a:extLst>
              <a:ext uri="{FF2B5EF4-FFF2-40B4-BE49-F238E27FC236}">
                <a16:creationId xmlns:a16="http://schemas.microsoft.com/office/drawing/2014/main" id="{A82111BD-0BFF-4DD4-9149-7EA894BDCDE5}"/>
              </a:ext>
            </a:extLst>
          </p:cNvPr>
          <p:cNvSpPr>
            <a:spLocks noGrp="1"/>
          </p:cNvSpPr>
          <p:nvPr/>
        </p:nvSpPr>
        <p:spPr>
          <a:xfrm>
            <a:off x="7709535" y="2908706"/>
            <a:ext cx="0" cy="6145682"/>
          </a:xfrm>
          <a:prstGeom prst="line">
            <a:avLst/>
          </a:prstGeom>
          <a:ln w="11430">
            <a:solidFill>
              <a:srgbClr val="A3A8B8"/>
            </a:solidFill>
            <a:prstDash val="dash"/>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7003" name="Rounded Rectangle 7004">
            <a:extLst>
              <a:ext uri="{FF2B5EF4-FFF2-40B4-BE49-F238E27FC236}">
                <a16:creationId xmlns:a16="http://schemas.microsoft.com/office/drawing/2014/main" id="{680A9134-2F21-4DB9-B2CF-3238507A4593}"/>
              </a:ext>
            </a:extLst>
          </p:cNvPr>
          <p:cNvSpPr>
            <a:spLocks noGrp="1"/>
          </p:cNvSpPr>
          <p:nvPr/>
        </p:nvSpPr>
        <p:spPr>
          <a:xfrm>
            <a:off x="9252585" y="2446020"/>
            <a:ext cx="2286000" cy="462686"/>
          </a:xfrm>
          <a:prstGeom prst="roundRect">
            <a:avLst>
              <a:gd name="adj" fmla="val 10000"/>
            </a:avLst>
          </a:prstGeom>
          <a:solidFill>
            <a:srgbClr val="E6E9F1"/>
          </a:solidFill>
          <a:ln w="12700">
            <a:solidFill>
              <a:srgbClr val="B6BCCB"/>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r>
              <a:rPr sz="1250" b="1">
                <a:solidFill>
                  <a:srgbClr val="FF0000"/>
                </a:solidFill>
                <a:latin typeface="210 OmniGothic 040"/>
                <a:ea typeface="210 OmniGothic 040"/>
                <a:cs typeface="210 OmniGothic 040"/>
              </a:rPr>
              <a:t>PredictionService</a:t>
            </a:r>
          </a:p>
        </p:txBody>
      </p:sp>
      <p:sp>
        <p:nvSpPr>
          <p:cNvPr id="7005" name="Connector 7006">
            <a:extLst>
              <a:ext uri="{FF2B5EF4-FFF2-40B4-BE49-F238E27FC236}">
                <a16:creationId xmlns:a16="http://schemas.microsoft.com/office/drawing/2014/main" id="{DC979CC9-88F0-494B-8F59-531A69E8604A}"/>
              </a:ext>
            </a:extLst>
          </p:cNvPr>
          <p:cNvSpPr>
            <a:spLocks noGrp="1"/>
          </p:cNvSpPr>
          <p:nvPr/>
        </p:nvSpPr>
        <p:spPr>
          <a:xfrm>
            <a:off x="10395585" y="2908706"/>
            <a:ext cx="0" cy="6145682"/>
          </a:xfrm>
          <a:prstGeom prst="line">
            <a:avLst/>
          </a:prstGeom>
          <a:ln w="11430">
            <a:solidFill>
              <a:srgbClr val="A3A8B8"/>
            </a:solidFill>
            <a:prstDash val="dash"/>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7007" name="Rounded Rectangle 7008">
            <a:extLst>
              <a:ext uri="{FF2B5EF4-FFF2-40B4-BE49-F238E27FC236}">
                <a16:creationId xmlns:a16="http://schemas.microsoft.com/office/drawing/2014/main" id="{08ADEC31-11E8-4847-8460-C8F5705E92C8}"/>
              </a:ext>
            </a:extLst>
          </p:cNvPr>
          <p:cNvSpPr>
            <a:spLocks noGrp="1"/>
          </p:cNvSpPr>
          <p:nvPr/>
        </p:nvSpPr>
        <p:spPr>
          <a:xfrm>
            <a:off x="11938635" y="2446020"/>
            <a:ext cx="2286000" cy="462686"/>
          </a:xfrm>
          <a:prstGeom prst="roundRect">
            <a:avLst>
              <a:gd name="adj" fmla="val 10000"/>
            </a:avLst>
          </a:prstGeom>
          <a:solidFill>
            <a:srgbClr val="E6E9F1"/>
          </a:solidFill>
          <a:ln w="12700">
            <a:solidFill>
              <a:srgbClr val="B6BCCB"/>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r>
              <a:rPr sz="1250" b="1">
                <a:solidFill>
                  <a:srgbClr val="2E3142"/>
                </a:solidFill>
                <a:latin typeface="210 OmniGothic 040"/>
                <a:ea typeface="210 OmniGothic 040"/>
                <a:cs typeface="210 OmniGothic 040"/>
              </a:rPr>
              <a:t>RiskService</a:t>
            </a:r>
          </a:p>
        </p:txBody>
      </p:sp>
      <p:sp>
        <p:nvSpPr>
          <p:cNvPr id="7009" name="Connector 7010">
            <a:extLst>
              <a:ext uri="{FF2B5EF4-FFF2-40B4-BE49-F238E27FC236}">
                <a16:creationId xmlns:a16="http://schemas.microsoft.com/office/drawing/2014/main" id="{C8FB10F5-3B52-47C6-9C08-F0A94682E68B}"/>
              </a:ext>
            </a:extLst>
          </p:cNvPr>
          <p:cNvSpPr>
            <a:spLocks noGrp="1"/>
          </p:cNvSpPr>
          <p:nvPr/>
        </p:nvSpPr>
        <p:spPr>
          <a:xfrm>
            <a:off x="13081635" y="2908706"/>
            <a:ext cx="0" cy="6145682"/>
          </a:xfrm>
          <a:prstGeom prst="line">
            <a:avLst/>
          </a:prstGeom>
          <a:ln w="11430">
            <a:solidFill>
              <a:srgbClr val="A3A8B8"/>
            </a:solidFill>
            <a:prstDash val="dash"/>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7011" name="Rounded Rectangle 7012">
            <a:extLst>
              <a:ext uri="{FF2B5EF4-FFF2-40B4-BE49-F238E27FC236}">
                <a16:creationId xmlns:a16="http://schemas.microsoft.com/office/drawing/2014/main" id="{90C615C0-7399-40A2-A78E-5D4677124083}"/>
              </a:ext>
            </a:extLst>
          </p:cNvPr>
          <p:cNvSpPr>
            <a:spLocks noGrp="1"/>
          </p:cNvSpPr>
          <p:nvPr/>
        </p:nvSpPr>
        <p:spPr>
          <a:xfrm>
            <a:off x="14624685" y="2446020"/>
            <a:ext cx="2286000" cy="462686"/>
          </a:xfrm>
          <a:prstGeom prst="roundRect">
            <a:avLst>
              <a:gd name="adj" fmla="val 10000"/>
            </a:avLst>
          </a:prstGeom>
          <a:solidFill>
            <a:srgbClr val="E6E9F1"/>
          </a:solidFill>
          <a:ln w="12700">
            <a:solidFill>
              <a:srgbClr val="B6BCCB"/>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r>
              <a:rPr sz="1250" b="1">
                <a:solidFill>
                  <a:srgbClr val="2E3142"/>
                </a:solidFill>
                <a:latin typeface="210 OmniGothic 040"/>
                <a:ea typeface="210 OmniGothic 040"/>
                <a:cs typeface="210 OmniGothic 040"/>
              </a:rPr>
              <a:t>DB(PostGIS)</a:t>
            </a:r>
          </a:p>
        </p:txBody>
      </p:sp>
      <p:sp>
        <p:nvSpPr>
          <p:cNvPr id="7013" name="Connector 7014">
            <a:extLst>
              <a:ext uri="{FF2B5EF4-FFF2-40B4-BE49-F238E27FC236}">
                <a16:creationId xmlns:a16="http://schemas.microsoft.com/office/drawing/2014/main" id="{F67BE906-9B3E-4EF5-A6DB-D8BBDD5A1819}"/>
              </a:ext>
            </a:extLst>
          </p:cNvPr>
          <p:cNvSpPr>
            <a:spLocks noGrp="1"/>
          </p:cNvSpPr>
          <p:nvPr/>
        </p:nvSpPr>
        <p:spPr>
          <a:xfrm>
            <a:off x="15767685" y="2908706"/>
            <a:ext cx="0" cy="6145682"/>
          </a:xfrm>
          <a:prstGeom prst="line">
            <a:avLst/>
          </a:prstGeom>
          <a:ln w="11430">
            <a:solidFill>
              <a:srgbClr val="A3A8B8"/>
            </a:solidFill>
            <a:prstDash val="dash"/>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9660" name="Act 9660"/>
          <p:cNvSpPr>
            <a:spLocks noGrp="1"/>
          </p:cNvSpPr>
          <p:nvPr/>
        </p:nvSpPr>
        <p:spPr>
          <a:xfrm>
            <a:off x="15697685" y="3547872"/>
            <a:ext cx="140000" cy="237743"/>
          </a:xfrm>
          <a:prstGeom prst="rect">
            <a:avLst/>
          </a:prstGeom>
          <a:solidFill>
            <a:srgbClr val="FFFFFF"/>
          </a:solidFill>
          <a:ln w="9525">
            <a:solidFill>
              <a:srgbClr val="363A52"/>
            </a:solidFill>
          </a:ln>
        </p:spPr>
        <p:style>
          <a:lnRef idx="1">
            <a:schemeClr val="accent1"/>
          </a:lnRef>
          <a:fillRef idx="3">
            <a:schemeClr val="accent1"/>
          </a:fillRef>
          <a:effectRef idx="2">
            <a:schemeClr val="accent1"/>
          </a:effectRef>
          <a:fontRef idx="minor">
            <a:schemeClr val="lt1"/>
          </a:fontRef>
        </p:style>
        <p:txBody>
          <a:bodyPr wrap="square" lIns="0" rIns="0" anchor="ctr"/>
          <a:lstStyle/>
          <a:p>
            <a:pPr algn="ctr">
              <a:buNone/>
            </a:pPr>
            <a:endParaRPr/>
          </a:p>
        </p:txBody>
      </p:sp>
      <p:sp>
        <p:nvSpPr>
          <p:cNvPr id="9659" name="Act 9659"/>
          <p:cNvSpPr>
            <a:spLocks noGrp="1"/>
          </p:cNvSpPr>
          <p:nvPr/>
        </p:nvSpPr>
        <p:spPr>
          <a:xfrm>
            <a:off x="15697685" y="4791456"/>
            <a:ext cx="140000" cy="237743"/>
          </a:xfrm>
          <a:prstGeom prst="rect">
            <a:avLst/>
          </a:prstGeom>
          <a:solidFill>
            <a:srgbClr val="FFFFFF"/>
          </a:solidFill>
          <a:ln w="9525">
            <a:solidFill>
              <a:srgbClr val="363A52"/>
            </a:solidFill>
          </a:ln>
        </p:spPr>
        <p:style>
          <a:lnRef idx="1">
            <a:schemeClr val="accent1"/>
          </a:lnRef>
          <a:fillRef idx="3">
            <a:schemeClr val="accent1"/>
          </a:fillRef>
          <a:effectRef idx="2">
            <a:schemeClr val="accent1"/>
          </a:effectRef>
          <a:fontRef idx="minor">
            <a:schemeClr val="lt1"/>
          </a:fontRef>
        </p:style>
        <p:txBody>
          <a:bodyPr wrap="square" lIns="0" rIns="0" anchor="ctr"/>
          <a:lstStyle/>
          <a:p>
            <a:pPr algn="ctr">
              <a:buNone/>
            </a:pPr>
            <a:endParaRPr/>
          </a:p>
        </p:txBody>
      </p:sp>
      <p:sp>
        <p:nvSpPr>
          <p:cNvPr id="9658" name="Act 9658"/>
          <p:cNvSpPr>
            <a:spLocks noGrp="1"/>
          </p:cNvSpPr>
          <p:nvPr/>
        </p:nvSpPr>
        <p:spPr>
          <a:xfrm>
            <a:off x="15697685" y="6510528"/>
            <a:ext cx="140000" cy="128015"/>
          </a:xfrm>
          <a:prstGeom prst="rect">
            <a:avLst/>
          </a:prstGeom>
          <a:solidFill>
            <a:srgbClr val="FFFFFF"/>
          </a:solidFill>
          <a:ln w="9525">
            <a:solidFill>
              <a:srgbClr val="363A52"/>
            </a:solidFill>
          </a:ln>
        </p:spPr>
        <p:style>
          <a:lnRef idx="1">
            <a:schemeClr val="accent1"/>
          </a:lnRef>
          <a:fillRef idx="3">
            <a:schemeClr val="accent1"/>
          </a:fillRef>
          <a:effectRef idx="2">
            <a:schemeClr val="accent1"/>
          </a:effectRef>
          <a:fontRef idx="minor">
            <a:schemeClr val="lt1"/>
          </a:fontRef>
        </p:style>
        <p:txBody>
          <a:bodyPr wrap="square" lIns="0" rIns="0" anchor="ctr"/>
          <a:lstStyle/>
          <a:p>
            <a:pPr algn="ctr">
              <a:buNone/>
            </a:pPr>
            <a:endParaRPr/>
          </a:p>
        </p:txBody>
      </p:sp>
      <p:sp>
        <p:nvSpPr>
          <p:cNvPr id="9657" name="Act 9657"/>
          <p:cNvSpPr>
            <a:spLocks noGrp="1"/>
          </p:cNvSpPr>
          <p:nvPr/>
        </p:nvSpPr>
        <p:spPr>
          <a:xfrm>
            <a:off x="10325585" y="3200400"/>
            <a:ext cx="140000" cy="3511296"/>
          </a:xfrm>
          <a:prstGeom prst="rect">
            <a:avLst/>
          </a:prstGeom>
          <a:solidFill>
            <a:srgbClr val="FFFFFF"/>
          </a:solidFill>
          <a:ln w="9525">
            <a:solidFill>
              <a:srgbClr val="363A52"/>
            </a:solidFill>
          </a:ln>
        </p:spPr>
        <p:style>
          <a:lnRef idx="1">
            <a:schemeClr val="accent1"/>
          </a:lnRef>
          <a:fillRef idx="3">
            <a:schemeClr val="accent1"/>
          </a:fillRef>
          <a:effectRef idx="2">
            <a:schemeClr val="accent1"/>
          </a:effectRef>
          <a:fontRef idx="minor">
            <a:schemeClr val="lt1"/>
          </a:fontRef>
        </p:style>
        <p:txBody>
          <a:bodyPr wrap="square" lIns="0" rIns="0" anchor="ctr"/>
          <a:lstStyle/>
          <a:p>
            <a:pPr algn="ctr">
              <a:buNone/>
            </a:pPr>
            <a:endParaRPr/>
          </a:p>
        </p:txBody>
      </p:sp>
      <p:sp>
        <p:nvSpPr>
          <p:cNvPr id="9656" name="Act 9656"/>
          <p:cNvSpPr>
            <a:spLocks noGrp="1"/>
          </p:cNvSpPr>
          <p:nvPr/>
        </p:nvSpPr>
        <p:spPr>
          <a:xfrm>
            <a:off x="13011635" y="3310128"/>
            <a:ext cx="140000" cy="3401568"/>
          </a:xfrm>
          <a:prstGeom prst="rect">
            <a:avLst/>
          </a:prstGeom>
          <a:solidFill>
            <a:srgbClr val="FFFFFF"/>
          </a:solidFill>
          <a:ln w="9525">
            <a:solidFill>
              <a:srgbClr val="363A52"/>
            </a:solidFill>
          </a:ln>
        </p:spPr>
        <p:style>
          <a:lnRef idx="1">
            <a:schemeClr val="accent1"/>
          </a:lnRef>
          <a:fillRef idx="3">
            <a:schemeClr val="accent1"/>
          </a:fillRef>
          <a:effectRef idx="2">
            <a:schemeClr val="accent1"/>
          </a:effectRef>
          <a:fontRef idx="minor">
            <a:schemeClr val="lt1"/>
          </a:fontRef>
        </p:style>
        <p:txBody>
          <a:bodyPr wrap="square" lIns="0" rIns="0" anchor="ctr"/>
          <a:lstStyle/>
          <a:p>
            <a:pPr algn="ctr">
              <a:buNone/>
            </a:pPr>
            <a:endParaRPr/>
          </a:p>
        </p:txBody>
      </p:sp>
      <p:sp>
        <p:nvSpPr>
          <p:cNvPr id="9655" name="Act 9655"/>
          <p:cNvSpPr>
            <a:spLocks noGrp="1"/>
          </p:cNvSpPr>
          <p:nvPr/>
        </p:nvSpPr>
        <p:spPr>
          <a:xfrm>
            <a:off x="15697685" y="7845552"/>
            <a:ext cx="140000" cy="237743"/>
          </a:xfrm>
          <a:prstGeom prst="rect">
            <a:avLst/>
          </a:prstGeom>
          <a:solidFill>
            <a:srgbClr val="FFFFFF"/>
          </a:solidFill>
          <a:ln w="9525">
            <a:solidFill>
              <a:srgbClr val="363A52"/>
            </a:solidFill>
          </a:ln>
        </p:spPr>
        <p:style>
          <a:lnRef idx="1">
            <a:schemeClr val="accent1"/>
          </a:lnRef>
          <a:fillRef idx="3">
            <a:schemeClr val="accent1"/>
          </a:fillRef>
          <a:effectRef idx="2">
            <a:schemeClr val="accent1"/>
          </a:effectRef>
          <a:fontRef idx="minor">
            <a:schemeClr val="lt1"/>
          </a:fontRef>
        </p:style>
        <p:txBody>
          <a:bodyPr wrap="square" lIns="0" rIns="0" anchor="ctr"/>
          <a:lstStyle/>
          <a:p>
            <a:pPr algn="ctr">
              <a:buNone/>
            </a:pPr>
            <a:endParaRPr/>
          </a:p>
        </p:txBody>
      </p:sp>
      <p:sp>
        <p:nvSpPr>
          <p:cNvPr id="9654" name="Act 9654"/>
          <p:cNvSpPr>
            <a:spLocks noGrp="1"/>
          </p:cNvSpPr>
          <p:nvPr/>
        </p:nvSpPr>
        <p:spPr>
          <a:xfrm>
            <a:off x="4953485" y="7132320"/>
            <a:ext cx="140000" cy="1664207"/>
          </a:xfrm>
          <a:prstGeom prst="rect">
            <a:avLst/>
          </a:prstGeom>
          <a:solidFill>
            <a:srgbClr val="FFFFFF"/>
          </a:solidFill>
          <a:ln w="9525">
            <a:solidFill>
              <a:srgbClr val="363A52"/>
            </a:solidFill>
          </a:ln>
        </p:spPr>
        <p:style>
          <a:lnRef idx="1">
            <a:schemeClr val="accent1"/>
          </a:lnRef>
          <a:fillRef idx="3">
            <a:schemeClr val="accent1"/>
          </a:fillRef>
          <a:effectRef idx="2">
            <a:schemeClr val="accent1"/>
          </a:effectRef>
          <a:fontRef idx="minor">
            <a:schemeClr val="lt1"/>
          </a:fontRef>
        </p:style>
        <p:txBody>
          <a:bodyPr wrap="square" lIns="0" rIns="0" anchor="ctr"/>
          <a:lstStyle/>
          <a:p>
            <a:pPr algn="ctr">
              <a:buNone/>
            </a:pPr>
            <a:endParaRPr/>
          </a:p>
        </p:txBody>
      </p:sp>
      <p:sp>
        <p:nvSpPr>
          <p:cNvPr id="9653" name="Act 9653"/>
          <p:cNvSpPr>
            <a:spLocks noGrp="1"/>
          </p:cNvSpPr>
          <p:nvPr/>
        </p:nvSpPr>
        <p:spPr>
          <a:xfrm>
            <a:off x="7639535" y="7370064"/>
            <a:ext cx="140000" cy="1188719"/>
          </a:xfrm>
          <a:prstGeom prst="rect">
            <a:avLst/>
          </a:prstGeom>
          <a:solidFill>
            <a:srgbClr val="FFFFFF"/>
          </a:solidFill>
          <a:ln w="9525">
            <a:solidFill>
              <a:srgbClr val="363A52"/>
            </a:solidFill>
          </a:ln>
        </p:spPr>
        <p:style>
          <a:lnRef idx="1">
            <a:schemeClr val="accent1"/>
          </a:lnRef>
          <a:fillRef idx="3">
            <a:schemeClr val="accent1"/>
          </a:fillRef>
          <a:effectRef idx="2">
            <a:schemeClr val="accent1"/>
          </a:effectRef>
          <a:fontRef idx="minor">
            <a:schemeClr val="lt1"/>
          </a:fontRef>
        </p:style>
        <p:txBody>
          <a:bodyPr wrap="square" lIns="0" rIns="0" anchor="ctr"/>
          <a:lstStyle/>
          <a:p>
            <a:pPr algn="ctr">
              <a:buNone/>
            </a:pPr>
            <a:endParaRPr/>
          </a:p>
        </p:txBody>
      </p:sp>
      <p:sp>
        <p:nvSpPr>
          <p:cNvPr id="9652" name="Act 9652"/>
          <p:cNvSpPr>
            <a:spLocks noGrp="1"/>
          </p:cNvSpPr>
          <p:nvPr/>
        </p:nvSpPr>
        <p:spPr>
          <a:xfrm>
            <a:off x="13011635" y="7607808"/>
            <a:ext cx="140000" cy="713231"/>
          </a:xfrm>
          <a:prstGeom prst="rect">
            <a:avLst/>
          </a:prstGeom>
          <a:solidFill>
            <a:srgbClr val="FFFFFF"/>
          </a:solidFill>
          <a:ln w="9525">
            <a:solidFill>
              <a:srgbClr val="363A52"/>
            </a:solidFill>
          </a:ln>
        </p:spPr>
        <p:style>
          <a:lnRef idx="1">
            <a:schemeClr val="accent1"/>
          </a:lnRef>
          <a:fillRef idx="3">
            <a:schemeClr val="accent1"/>
          </a:fillRef>
          <a:effectRef idx="2">
            <a:schemeClr val="accent1"/>
          </a:effectRef>
          <a:fontRef idx="minor">
            <a:schemeClr val="lt1"/>
          </a:fontRef>
        </p:style>
        <p:txBody>
          <a:bodyPr wrap="square" lIns="0" rIns="0" anchor="ctr"/>
          <a:lstStyle/>
          <a:p>
            <a:pPr algn="ctr">
              <a:buNone/>
            </a:pPr>
            <a:endParaRPr/>
          </a:p>
        </p:txBody>
      </p:sp>
      <p:sp>
        <p:nvSpPr>
          <p:cNvPr id="9601" name="Seq 9601"/>
          <p:cNvSpPr>
            <a:spLocks noGrp="1"/>
          </p:cNvSpPr>
          <p:nvPr/>
        </p:nvSpPr>
        <p:spPr>
          <a:xfrm>
            <a:off x="1005840" y="3017520"/>
            <a:ext cx="7863840" cy="241401"/>
          </a:xfrm>
          <a:prstGeom prst="rect">
            <a:avLst/>
          </a:prstGeom>
          <a:solidFill>
            <a:srgbClr val="FFFFFF"/>
          </a:solidFill>
        </p:spPr>
        <p:txBody>
          <a:bodyPr wrap="square" lIns="0" tIns="0" rIns="0" bIns="0" anchor="t">
            <a:spAutoFit/>
          </a:bodyPr>
          <a:lstStyle/>
          <a:p>
            <a:pPr algn="l">
              <a:buNone/>
            </a:pPr>
            <a:r>
              <a:rPr sz="1100" b="1">
                <a:solidFill>
                  <a:srgbClr val="FF0000"/>
                </a:solidFill>
                <a:latin typeface="210 OmniGothic 040"/>
                <a:ea typeface="210 OmniGothic 040"/>
                <a:cs typeface="210 OmniGothic 040"/>
              </a:rPr>
              <a:t>① 위험도 계산 — 확산 예측을 저장한 직후 PredictionService가 호출 (UC-PRED-01, 41쪽)</a:t>
            </a:r>
          </a:p>
        </p:txBody>
      </p:sp>
      <p:sp>
        <p:nvSpPr>
          <p:cNvPr id="9602" name="Seq 9602"/>
          <p:cNvSpPr>
            <a:spLocks noGrp="1"/>
          </p:cNvSpPr>
          <p:nvPr/>
        </p:nvSpPr>
        <p:spPr>
          <a:xfrm>
            <a:off x="10395585" y="3064128"/>
            <a:ext cx="268605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compute(</a:t>
            </a:r>
            <a:r>
              <a:rPr sz="1100" b="0">
                <a:solidFill>
                  <a:srgbClr val="FF0000"/>
                </a:solidFill>
                <a:latin typeface="210 OmniGothic 040"/>
                <a:ea typeface="210 OmniGothic 040"/>
                <a:cs typeface="210 OmniGothic 040"/>
              </a:rPr>
              <a:t>ru</a:t>
            </a:r>
            <a:r>
              <a:rPr sz="1100" b="0">
                <a:solidFill>
                  <a:srgbClr val="FF0000"/>
                </a:solidFill>
                <a:latin typeface="210 OmniGothic 040"/>
                <a:ea typeface="210 OmniGothic 040"/>
                <a:cs typeface="210 OmniGothic 040"/>
              </a:rPr>
              <a:t>n</a:t>
            </a:r>
            <a:r>
              <a:rPr sz="1100" b="0">
                <a:solidFill>
                  <a:srgbClr val="2E3142"/>
                </a:solidFill>
                <a:latin typeface="210 OmniGothic 040"/>
                <a:ea typeface="210 OmniGothic 040"/>
                <a:cs typeface="210 OmniGothic 040"/>
              </a:rPr>
              <a:t>_id)</a:t>
            </a:r>
          </a:p>
        </p:txBody>
      </p:sp>
      <p:sp>
        <p:nvSpPr>
          <p:cNvPr id="9603" name="Seq 9603"/>
          <p:cNvSpPr>
            <a:spLocks noGrp="1"/>
          </p:cNvSpPr>
          <p:nvPr/>
        </p:nvSpPr>
        <p:spPr>
          <a:xfrm>
            <a:off x="10465585" y="3310128"/>
            <a:ext cx="2546050" cy="0"/>
          </a:xfrm>
          <a:prstGeom prst="line">
            <a:avLst/>
          </a:prstGeom>
          <a:ln w="1397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9604" name="Seq 9604"/>
          <p:cNvSpPr>
            <a:spLocks noGrp="1"/>
          </p:cNvSpPr>
          <p:nvPr/>
        </p:nvSpPr>
        <p:spPr>
          <a:xfrm>
            <a:off x="13081635" y="3301872"/>
            <a:ext cx="2686050" cy="221284"/>
          </a:xfrm>
          <a:prstGeom prst="rect">
            <a:avLst/>
          </a:prstGeom>
          <a:noFill/>
        </p:spPr>
        <p:txBody>
          <a:bodyPr wrap="square" lIns="0" tIns="0" rIns="0" bIns="0" anchor="t">
            <a:spAutoFit/>
          </a:bodyPr>
          <a:lstStyle/>
          <a:p>
            <a:pPr algn="ctr">
              <a:buNone/>
            </a:pPr>
            <a:r>
              <a:rPr sz="1100" b="0">
                <a:solidFill>
                  <a:srgbClr val="FF0000"/>
                </a:solidFill>
                <a:latin typeface="210 OmniGothic 040"/>
                <a:ea typeface="210 OmniGothic 040"/>
                <a:cs typeface="210 OmniGothic 040"/>
              </a:rPr>
              <a:t>P5 조회 · 다른 산불 P5 겹침 검사</a:t>
            </a:r>
          </a:p>
        </p:txBody>
      </p:sp>
      <p:sp>
        <p:nvSpPr>
          <p:cNvPr id="9605" name="Seq 9605"/>
          <p:cNvSpPr>
            <a:spLocks noGrp="1"/>
          </p:cNvSpPr>
          <p:nvPr/>
        </p:nvSpPr>
        <p:spPr>
          <a:xfrm>
            <a:off x="13151635" y="3547872"/>
            <a:ext cx="2546050" cy="0"/>
          </a:xfrm>
          <a:prstGeom prst="line">
            <a:avLst/>
          </a:prstGeom>
          <a:ln w="1397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9606" name="Seq 9606"/>
          <p:cNvSpPr>
            <a:spLocks noGrp="1"/>
          </p:cNvSpPr>
          <p:nvPr/>
        </p:nvSpPr>
        <p:spPr>
          <a:xfrm>
            <a:off x="13081635" y="3539615"/>
            <a:ext cx="2686050" cy="221284"/>
          </a:xfrm>
          <a:prstGeom prst="rect">
            <a:avLst/>
          </a:prstGeom>
          <a:noFill/>
        </p:spPr>
        <p:txBody>
          <a:bodyPr wrap="square" lIns="0" tIns="0" rIns="0" bIns="0" anchor="t">
            <a:spAutoFit/>
          </a:bodyPr>
          <a:lstStyle/>
          <a:p>
            <a:pPr algn="ctr">
              <a:buNone/>
            </a:pPr>
            <a:r>
              <a:rPr sz="1100" b="0">
                <a:solidFill>
                  <a:srgbClr val="FF0000"/>
                </a:solidFill>
                <a:latin typeface="210 OmniGothic 040"/>
                <a:ea typeface="210 OmniGothic 040"/>
                <a:cs typeface="210 OmniGothic 040"/>
              </a:rPr>
              <a:t>P5 폴리곤 · 겹친 산불 목록</a:t>
            </a:r>
          </a:p>
        </p:txBody>
      </p:sp>
      <p:sp>
        <p:nvSpPr>
          <p:cNvPr id="9607" name="Seq 9607"/>
          <p:cNvSpPr>
            <a:spLocks noGrp="1"/>
          </p:cNvSpPr>
          <p:nvPr/>
        </p:nvSpPr>
        <p:spPr>
          <a:xfrm flipH="1">
            <a:off x="13151635" y="3785615"/>
            <a:ext cx="2546050" cy="0"/>
          </a:xfrm>
          <a:prstGeom prst="line">
            <a:avLst/>
          </a:prstGeom>
          <a:ln w="13970">
            <a:solidFill>
              <a:srgbClr val="6B7080"/>
            </a:solidFill>
            <a:prstDash val="dash"/>
            <a:tailEnd type="arrow"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9608" name="Seq 9608"/>
          <p:cNvSpPr>
            <a:spLocks noGrp="1"/>
          </p:cNvSpPr>
          <p:nvPr/>
        </p:nvSpPr>
        <p:spPr>
          <a:xfrm>
            <a:off x="983665" y="3904487"/>
            <a:ext cx="16137790" cy="621792"/>
          </a:xfrm>
          <a:prstGeom prst="rect">
            <a:avLst/>
          </a:prstGeom>
          <a:noFill/>
          <a:ln w="12700">
            <a:solidFill>
              <a:srgbClr val="FAA95A"/>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endParaRPr/>
          </a:p>
        </p:txBody>
      </p:sp>
      <p:sp>
        <p:nvSpPr>
          <p:cNvPr id="9609" name="Seq 9609"/>
          <p:cNvSpPr>
            <a:spLocks noGrp="1"/>
          </p:cNvSpPr>
          <p:nvPr/>
        </p:nvSpPr>
        <p:spPr>
          <a:xfrm>
            <a:off x="983665" y="3904487"/>
            <a:ext cx="708660" cy="241401"/>
          </a:xfrm>
          <a:prstGeom prst="rect">
            <a:avLst/>
          </a:prstGeom>
          <a:solidFill>
            <a:srgbClr val="FDEBD9"/>
          </a:solidFill>
          <a:ln w="12700">
            <a:solidFill>
              <a:srgbClr val="FAA95A"/>
            </a:solidFill>
          </a:ln>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algn="ctr">
              <a:buNone/>
            </a:pPr>
            <a:r>
              <a:rPr sz="1050" b="1">
                <a:solidFill>
                  <a:srgbClr val="B5601C"/>
                </a:solidFill>
                <a:latin typeface="210 OmniGothic 040"/>
                <a:ea typeface="210 OmniGothic 040"/>
                <a:cs typeface="210 OmniGothic 040"/>
              </a:rPr>
              <a:t>opt</a:t>
            </a:r>
          </a:p>
        </p:txBody>
      </p:sp>
      <p:sp>
        <p:nvSpPr>
          <p:cNvPr id="9610" name="Seq 9610"/>
          <p:cNvSpPr>
            <a:spLocks noGrp="1"/>
          </p:cNvSpPr>
          <p:nvPr/>
        </p:nvSpPr>
        <p:spPr>
          <a:xfrm>
            <a:off x="1792325" y="3914545"/>
            <a:ext cx="5715000" cy="241401"/>
          </a:xfrm>
          <a:prstGeom prst="rect">
            <a:avLst/>
          </a:prstGeom>
          <a:noFill/>
        </p:spPr>
        <p:txBody>
          <a:bodyPr wrap="square" lIns="0" tIns="0" rIns="0" bIns="0" anchor="t">
            <a:spAutoFit/>
          </a:bodyPr>
          <a:lstStyle/>
          <a:p>
            <a:pPr algn="l">
              <a:buNone/>
            </a:pPr>
            <a:r>
              <a:rPr sz="1100" b="0">
                <a:solidFill>
                  <a:srgbClr val="FF0000"/>
                </a:solidFill>
                <a:latin typeface="210 OmniGothic 040"/>
                <a:ea typeface="210 OmniGothic 040"/>
                <a:cs typeface="210 OmniGothic 040"/>
              </a:rPr>
              <a:t>[P5가 겹치는 다른 산불 있음]</a:t>
            </a:r>
          </a:p>
        </p:txBody>
      </p:sp>
      <p:sp>
        <p:nvSpPr>
          <p:cNvPr id="9611" name="Seq 9611"/>
          <p:cNvSpPr>
            <a:spLocks noGrp="1"/>
          </p:cNvSpPr>
          <p:nvPr/>
        </p:nvSpPr>
        <p:spPr>
          <a:xfrm>
            <a:off x="13151635" y="4261104"/>
            <a:ext cx="365760" cy="0"/>
          </a:xfrm>
          <a:prstGeom prst="line">
            <a:avLst/>
          </a:prstGeom>
          <a:ln w="13970">
            <a:solidFill>
              <a:srgbClr val="363A52"/>
            </a:solidFill>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9612" name="Seq 9612"/>
          <p:cNvSpPr>
            <a:spLocks noGrp="1"/>
          </p:cNvSpPr>
          <p:nvPr/>
        </p:nvSpPr>
        <p:spPr>
          <a:xfrm>
            <a:off x="13517395" y="4261104"/>
            <a:ext cx="0" cy="180251"/>
          </a:xfrm>
          <a:prstGeom prst="line">
            <a:avLst/>
          </a:prstGeom>
          <a:ln w="13970">
            <a:solidFill>
              <a:srgbClr val="363A52"/>
            </a:solidFill>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9613" name="Seq 9613"/>
          <p:cNvSpPr>
            <a:spLocks noGrp="1"/>
          </p:cNvSpPr>
          <p:nvPr/>
        </p:nvSpPr>
        <p:spPr>
          <a:xfrm flipH="1">
            <a:off x="13185925" y="4441355"/>
            <a:ext cx="331470" cy="0"/>
          </a:xfrm>
          <a:prstGeom prst="line">
            <a:avLst/>
          </a:prstGeom>
          <a:ln w="1397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9614" name="Seq 9614"/>
          <p:cNvSpPr>
            <a:spLocks noGrp="1"/>
          </p:cNvSpPr>
          <p:nvPr/>
        </p:nvSpPr>
        <p:spPr>
          <a:xfrm>
            <a:off x="13608329" y="4015104"/>
            <a:ext cx="4206240" cy="221284"/>
          </a:xfrm>
          <a:prstGeom prst="rect">
            <a:avLst/>
          </a:prstGeom>
          <a:noFill/>
        </p:spPr>
        <p:txBody>
          <a:bodyPr wrap="square" lIns="0" tIns="0" rIns="0" bIns="0" anchor="t">
            <a:spAutoFit/>
          </a:bodyPr>
          <a:lstStyle/>
          <a:p>
            <a:pPr algn="l">
              <a:buNone/>
            </a:pPr>
            <a:r>
              <a:rPr sz="1100" b="0">
                <a:solidFill>
                  <a:srgbClr val="FF0000"/>
                </a:solidFill>
                <a:latin typeface="210 OmniGothic 040"/>
                <a:ea typeface="210 OmniGothic 040"/>
                <a:cs typeface="210 OmniGothic 040"/>
              </a:rPr>
              <a:t>동일 산불로 묶어 합집합 폴리곤으로 계산</a:t>
            </a:r>
          </a:p>
        </p:txBody>
      </p:sp>
      <p:sp>
        <p:nvSpPr>
          <p:cNvPr id="9615" name="Seq 9615"/>
          <p:cNvSpPr>
            <a:spLocks noGrp="1"/>
          </p:cNvSpPr>
          <p:nvPr/>
        </p:nvSpPr>
        <p:spPr>
          <a:xfrm>
            <a:off x="13081635" y="4545456"/>
            <a:ext cx="2686050" cy="221284"/>
          </a:xfrm>
          <a:prstGeom prst="rect">
            <a:avLst/>
          </a:prstGeom>
          <a:noFill/>
        </p:spPr>
        <p:txBody>
          <a:bodyPr wrap="square" lIns="0" tIns="0" rIns="0" bIns="0" anchor="t">
            <a:spAutoFit/>
          </a:bodyPr>
          <a:lstStyle/>
          <a:p>
            <a:pPr algn="ctr">
              <a:buNone/>
            </a:pPr>
            <a:r>
              <a:rPr sz="1100" b="0">
                <a:solidFill>
                  <a:srgbClr val="FF0000"/>
                </a:solidFill>
                <a:latin typeface="210 OmniGothic 040"/>
                <a:ea typeface="210 OmniGothic 040"/>
                <a:cs typeface="210 OmniGothic 040"/>
              </a:rPr>
              <a:t>P5와 겹친 격자·인구·소방서 조회</a:t>
            </a:r>
          </a:p>
        </p:txBody>
      </p:sp>
      <p:sp>
        <p:nvSpPr>
          <p:cNvPr id="9616" name="Seq 9616"/>
          <p:cNvSpPr>
            <a:spLocks noGrp="1"/>
          </p:cNvSpPr>
          <p:nvPr/>
        </p:nvSpPr>
        <p:spPr>
          <a:xfrm>
            <a:off x="13151635" y="4791456"/>
            <a:ext cx="2546050" cy="0"/>
          </a:xfrm>
          <a:prstGeom prst="line">
            <a:avLst/>
          </a:prstGeom>
          <a:ln w="1397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9617" name="Seq 9617"/>
          <p:cNvSpPr>
            <a:spLocks noGrp="1"/>
          </p:cNvSpPr>
          <p:nvPr/>
        </p:nvSpPr>
        <p:spPr>
          <a:xfrm>
            <a:off x="13081635" y="4783200"/>
            <a:ext cx="2686050" cy="221284"/>
          </a:xfrm>
          <a:prstGeom prst="rect">
            <a:avLst/>
          </a:prstGeom>
          <a:noFill/>
        </p:spPr>
        <p:txBody>
          <a:bodyPr wrap="square" lIns="0" tIns="0" rIns="0" bIns="0" anchor="t">
            <a:spAutoFit/>
          </a:bodyPr>
          <a:lstStyle/>
          <a:p>
            <a:pPr algn="ctr">
              <a:buNone/>
            </a:pPr>
            <a:r>
              <a:rPr sz="1100" b="0">
                <a:solidFill>
                  <a:srgbClr val="FF0000"/>
                </a:solidFill>
                <a:latin typeface="210 OmniGothic 040"/>
                <a:ea typeface="210 OmniGothic 040"/>
                <a:cs typeface="210 OmniGothic 040"/>
              </a:rPr>
              <a:t>겹침 비율 · 변수 값 · 인구 · 거리</a:t>
            </a:r>
          </a:p>
        </p:txBody>
      </p:sp>
      <p:sp>
        <p:nvSpPr>
          <p:cNvPr id="9618" name="Seq 9618"/>
          <p:cNvSpPr>
            <a:spLocks noGrp="1"/>
          </p:cNvSpPr>
          <p:nvPr/>
        </p:nvSpPr>
        <p:spPr>
          <a:xfrm flipH="1">
            <a:off x="13151635" y="5029200"/>
            <a:ext cx="2546050" cy="0"/>
          </a:xfrm>
          <a:prstGeom prst="line">
            <a:avLst/>
          </a:prstGeom>
          <a:ln w="13970">
            <a:solidFill>
              <a:srgbClr val="6B7080"/>
            </a:solidFill>
            <a:prstDash val="dash"/>
            <a:tailEnd type="arrow"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9619" name="Seq 9619"/>
          <p:cNvSpPr>
            <a:spLocks noGrp="1"/>
          </p:cNvSpPr>
          <p:nvPr/>
        </p:nvSpPr>
        <p:spPr>
          <a:xfrm>
            <a:off x="13151635" y="5358384"/>
            <a:ext cx="365760" cy="0"/>
          </a:xfrm>
          <a:prstGeom prst="line">
            <a:avLst/>
          </a:prstGeom>
          <a:ln w="13970">
            <a:solidFill>
              <a:srgbClr val="363A52"/>
            </a:solidFill>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9620" name="Seq 9620"/>
          <p:cNvSpPr>
            <a:spLocks noGrp="1"/>
          </p:cNvSpPr>
          <p:nvPr/>
        </p:nvSpPr>
        <p:spPr>
          <a:xfrm>
            <a:off x="13517395" y="5358384"/>
            <a:ext cx="0" cy="180251"/>
          </a:xfrm>
          <a:prstGeom prst="line">
            <a:avLst/>
          </a:prstGeom>
          <a:ln w="13970">
            <a:solidFill>
              <a:srgbClr val="363A52"/>
            </a:solidFill>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9621" name="Seq 9621"/>
          <p:cNvSpPr>
            <a:spLocks noGrp="1"/>
          </p:cNvSpPr>
          <p:nvPr/>
        </p:nvSpPr>
        <p:spPr>
          <a:xfrm flipH="1">
            <a:off x="13185925" y="5538635"/>
            <a:ext cx="331470" cy="0"/>
          </a:xfrm>
          <a:prstGeom prst="line">
            <a:avLst/>
          </a:prstGeom>
          <a:ln w="1397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9622" name="Seq 9622"/>
          <p:cNvSpPr>
            <a:spLocks noGrp="1"/>
          </p:cNvSpPr>
          <p:nvPr/>
        </p:nvSpPr>
        <p:spPr>
          <a:xfrm>
            <a:off x="13608329" y="5112384"/>
            <a:ext cx="4206240" cy="221284"/>
          </a:xfrm>
          <a:prstGeom prst="rect">
            <a:avLst/>
          </a:prstGeom>
          <a:noFill/>
        </p:spPr>
        <p:txBody>
          <a:bodyPr wrap="square" lIns="0" tIns="0" rIns="0" bIns="0" anchor="t">
            <a:spAutoFit/>
          </a:bodyPr>
          <a:lstStyle/>
          <a:p>
            <a:pPr algn="l">
              <a:buNone/>
            </a:pPr>
            <a:r>
              <a:rPr sz="1100" b="0">
                <a:solidFill>
                  <a:srgbClr val="FF0000"/>
                </a:solidFill>
                <a:latin typeface="210 OmniGothic 040"/>
                <a:ea typeface="210 OmniGothic 040"/>
                <a:cs typeface="210 OmniGothic 040"/>
              </a:rPr>
              <a:t>23개 변수 1~5 등급 → 가중평균 R(1.00~5.00) · 요인 점수</a:t>
            </a:r>
          </a:p>
        </p:txBody>
      </p:sp>
      <p:sp>
        <p:nvSpPr>
          <p:cNvPr id="9623" name="Seq 9623"/>
          <p:cNvSpPr>
            <a:spLocks noGrp="1"/>
          </p:cNvSpPr>
          <p:nvPr/>
        </p:nvSpPr>
        <p:spPr>
          <a:xfrm>
            <a:off x="983665" y="5641848"/>
            <a:ext cx="16137790" cy="621791"/>
          </a:xfrm>
          <a:prstGeom prst="rect">
            <a:avLst/>
          </a:prstGeom>
          <a:noFill/>
          <a:ln w="12700">
            <a:solidFill>
              <a:srgbClr val="FAA95A"/>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endParaRPr/>
          </a:p>
        </p:txBody>
      </p:sp>
      <p:sp>
        <p:nvSpPr>
          <p:cNvPr id="9624" name="Seq 9624"/>
          <p:cNvSpPr>
            <a:spLocks noGrp="1"/>
          </p:cNvSpPr>
          <p:nvPr/>
        </p:nvSpPr>
        <p:spPr>
          <a:xfrm>
            <a:off x="983665" y="5641848"/>
            <a:ext cx="708660" cy="241401"/>
          </a:xfrm>
          <a:prstGeom prst="rect">
            <a:avLst/>
          </a:prstGeom>
          <a:solidFill>
            <a:srgbClr val="FDEBD9"/>
          </a:solidFill>
          <a:ln w="12700">
            <a:solidFill>
              <a:srgbClr val="FAA95A"/>
            </a:solidFill>
          </a:ln>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algn="ctr">
              <a:buNone/>
            </a:pPr>
            <a:r>
              <a:rPr sz="1050" b="1">
                <a:solidFill>
                  <a:srgbClr val="B5601C"/>
                </a:solidFill>
                <a:latin typeface="210 OmniGothic 040"/>
                <a:ea typeface="210 OmniGothic 040"/>
                <a:cs typeface="210 OmniGothic 040"/>
              </a:rPr>
              <a:t>opt</a:t>
            </a:r>
          </a:p>
        </p:txBody>
      </p:sp>
      <p:sp>
        <p:nvSpPr>
          <p:cNvPr id="9625" name="Seq 9625"/>
          <p:cNvSpPr>
            <a:spLocks noGrp="1"/>
          </p:cNvSpPr>
          <p:nvPr/>
        </p:nvSpPr>
        <p:spPr>
          <a:xfrm>
            <a:off x="1792325" y="5651906"/>
            <a:ext cx="5715000" cy="241401"/>
          </a:xfrm>
          <a:prstGeom prst="rect">
            <a:avLst/>
          </a:prstGeom>
          <a:noFill/>
        </p:spPr>
        <p:txBody>
          <a:bodyPr wrap="square" lIns="0" tIns="0" rIns="0" bIns="0" anchor="t">
            <a:spAutoFit/>
          </a:bodyPr>
          <a:lstStyle/>
          <a:p>
            <a:pPr algn="l">
              <a:buNone/>
            </a:pPr>
            <a:r>
              <a:rPr sz="1100" b="0">
                <a:solidFill>
                  <a:srgbClr val="2E3142"/>
                </a:solidFill>
                <a:latin typeface="210 OmniGothic 040"/>
                <a:ea typeface="210 OmniGothic 040"/>
                <a:cs typeface="210 OmniGothic 040"/>
              </a:rPr>
              <a:t>[일부 변수 결측]</a:t>
            </a:r>
          </a:p>
        </p:txBody>
      </p:sp>
      <p:sp>
        <p:nvSpPr>
          <p:cNvPr id="9626" name="Seq 9626"/>
          <p:cNvSpPr>
            <a:spLocks noGrp="1"/>
          </p:cNvSpPr>
          <p:nvPr/>
        </p:nvSpPr>
        <p:spPr>
          <a:xfrm>
            <a:off x="13151635" y="5998464"/>
            <a:ext cx="365760" cy="0"/>
          </a:xfrm>
          <a:prstGeom prst="line">
            <a:avLst/>
          </a:prstGeom>
          <a:ln w="13970">
            <a:solidFill>
              <a:srgbClr val="363A52"/>
            </a:solidFill>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9627" name="Seq 9627"/>
          <p:cNvSpPr>
            <a:spLocks noGrp="1"/>
          </p:cNvSpPr>
          <p:nvPr/>
        </p:nvSpPr>
        <p:spPr>
          <a:xfrm>
            <a:off x="13517395" y="5998464"/>
            <a:ext cx="0" cy="180251"/>
          </a:xfrm>
          <a:prstGeom prst="line">
            <a:avLst/>
          </a:prstGeom>
          <a:ln w="13970">
            <a:solidFill>
              <a:srgbClr val="363A52"/>
            </a:solidFill>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9628" name="Seq 9628"/>
          <p:cNvSpPr>
            <a:spLocks noGrp="1"/>
          </p:cNvSpPr>
          <p:nvPr/>
        </p:nvSpPr>
        <p:spPr>
          <a:xfrm flipH="1">
            <a:off x="13185925" y="6178715"/>
            <a:ext cx="331470" cy="0"/>
          </a:xfrm>
          <a:prstGeom prst="line">
            <a:avLst/>
          </a:prstGeom>
          <a:ln w="1397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9629" name="Seq 9629"/>
          <p:cNvSpPr>
            <a:spLocks noGrp="1"/>
          </p:cNvSpPr>
          <p:nvPr/>
        </p:nvSpPr>
        <p:spPr>
          <a:xfrm>
            <a:off x="13608329" y="5752464"/>
            <a:ext cx="4206240" cy="221284"/>
          </a:xfrm>
          <a:prstGeom prst="rect">
            <a:avLst/>
          </a:prstGeom>
          <a:noFill/>
        </p:spPr>
        <p:txBody>
          <a:bodyPr wrap="square" lIns="0" tIns="0" rIns="0" bIns="0" anchor="t">
            <a:spAutoFit/>
          </a:bodyPr>
          <a:lstStyle/>
          <a:p>
            <a:pPr algn="l">
              <a:buNone/>
            </a:pPr>
            <a:r>
              <a:rPr sz="1100" b="0">
                <a:solidFill>
                  <a:srgbClr val="2E3142"/>
                </a:solidFill>
                <a:latin typeface="210 OmniGothic 040"/>
                <a:ea typeface="210 OmniGothic 040"/>
                <a:cs typeface="210 OmniGothic 040"/>
              </a:rPr>
              <a:t>결측 변수 제외</a:t>
            </a:r>
            <a:r>
              <a:rPr sz="1100" b="0">
                <a:solidFill>
                  <a:srgbClr val="FF0000"/>
                </a:solidFill>
                <a:latin typeface="210 OmniGothic 040"/>
                <a:ea typeface="210 OmniGothic 040"/>
                <a:cs typeface="210 OmniGothic 040"/>
              </a:rPr>
              <a:t>, 남은 가중치로</a:t>
            </a:r>
            <a:r>
              <a:rPr sz="1100" b="0">
                <a:solidFill>
                  <a:srgbClr val="2E3142"/>
                </a:solidFill>
                <a:latin typeface="210 OmniGothic 040"/>
                <a:ea typeface="210 OmniGothic 040"/>
                <a:cs typeface="210 OmniGothic 040"/>
              </a:rPr>
              <a:t> 계산 </a:t>
            </a:r>
            <a:r>
              <a:rPr sz="1100" b="0">
                <a:solidFill>
                  <a:srgbClr val="FF0000"/>
                </a:solidFill>
                <a:latin typeface="210 OmniGothic 040"/>
                <a:ea typeface="210 OmniGothic 040"/>
                <a:cs typeface="210 OmniGothic 040"/>
              </a:rPr>
              <a:t>·</a:t>
            </a:r>
            <a:r>
              <a:rPr sz="1100" b="0">
                <a:solidFill>
                  <a:srgbClr val="2E3142"/>
                </a:solidFill>
                <a:latin typeface="210 OmniGothic 040"/>
                <a:ea typeface="210 OmniGothic 040"/>
                <a:cs typeface="210 OmniGothic 040"/>
              </a:rPr>
              <a:t> 목록 첨부</a:t>
            </a:r>
          </a:p>
        </p:txBody>
      </p:sp>
      <p:sp>
        <p:nvSpPr>
          <p:cNvPr id="9630" name="Seq 9630"/>
          <p:cNvSpPr>
            <a:spLocks noGrp="1"/>
          </p:cNvSpPr>
          <p:nvPr/>
        </p:nvSpPr>
        <p:spPr>
          <a:xfrm>
            <a:off x="13081635" y="6264528"/>
            <a:ext cx="2686050" cy="221284"/>
          </a:xfrm>
          <a:prstGeom prst="rect">
            <a:avLst/>
          </a:prstGeom>
          <a:noFill/>
        </p:spPr>
        <p:txBody>
          <a:bodyPr wrap="square" lIns="0" tIns="0" rIns="0" bIns="0" anchor="t">
            <a:spAutoFit/>
          </a:bodyPr>
          <a:lstStyle/>
          <a:p>
            <a:pPr algn="ctr">
              <a:buNone/>
            </a:pPr>
            <a:r>
              <a:rPr sz="1100" b="0">
                <a:solidFill>
                  <a:srgbClr val="FF0000"/>
                </a:solidFill>
                <a:latin typeface="210 OmniGothic 040"/>
                <a:ea typeface="210 OmniGothic 040"/>
                <a:cs typeface="210 OmniGothic 040"/>
              </a:rPr>
              <a:t>위험도 저장 (run_id, 이전 값 대체)</a:t>
            </a:r>
          </a:p>
        </p:txBody>
      </p:sp>
      <p:sp>
        <p:nvSpPr>
          <p:cNvPr id="9631" name="Seq 9631"/>
          <p:cNvSpPr>
            <a:spLocks noGrp="1"/>
          </p:cNvSpPr>
          <p:nvPr/>
        </p:nvSpPr>
        <p:spPr>
          <a:xfrm>
            <a:off x="13151635" y="6510528"/>
            <a:ext cx="2546050" cy="0"/>
          </a:xfrm>
          <a:prstGeom prst="line">
            <a:avLst/>
          </a:prstGeom>
          <a:ln w="1397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9632" name="Seq 9632"/>
          <p:cNvSpPr>
            <a:spLocks noGrp="1"/>
          </p:cNvSpPr>
          <p:nvPr/>
        </p:nvSpPr>
        <p:spPr>
          <a:xfrm>
            <a:off x="10395585" y="6465696"/>
            <a:ext cx="2686050" cy="221284"/>
          </a:xfrm>
          <a:prstGeom prst="rect">
            <a:avLst/>
          </a:prstGeom>
          <a:noFill/>
        </p:spPr>
        <p:txBody>
          <a:bodyPr wrap="square" lIns="0" tIns="0" rIns="0" bIns="0" anchor="t">
            <a:spAutoFit/>
          </a:bodyPr>
          <a:lstStyle/>
          <a:p>
            <a:pPr algn="ctr">
              <a:buNone/>
            </a:pPr>
            <a:r>
              <a:rPr sz="1100" b="0">
                <a:solidFill>
                  <a:srgbClr val="FF0000"/>
                </a:solidFill>
                <a:latin typeface="210 OmniGothic 040"/>
                <a:ea typeface="210 OmniGothic 040"/>
                <a:cs typeface="210 OmniGothic 040"/>
              </a:rPr>
              <a:t>저장 완료</a:t>
            </a:r>
          </a:p>
        </p:txBody>
      </p:sp>
      <p:sp>
        <p:nvSpPr>
          <p:cNvPr id="9633" name="Seq 9633"/>
          <p:cNvSpPr>
            <a:spLocks noGrp="1"/>
          </p:cNvSpPr>
          <p:nvPr/>
        </p:nvSpPr>
        <p:spPr>
          <a:xfrm flipH="1">
            <a:off x="10465585" y="6711696"/>
            <a:ext cx="2546050" cy="0"/>
          </a:xfrm>
          <a:prstGeom prst="line">
            <a:avLst/>
          </a:prstGeom>
          <a:ln w="13970">
            <a:solidFill>
              <a:srgbClr val="6B7080"/>
            </a:solidFill>
            <a:prstDash val="dash"/>
            <a:tailEnd type="arrow"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9634" name="Seq 9634"/>
          <p:cNvSpPr>
            <a:spLocks noGrp="1"/>
          </p:cNvSpPr>
          <p:nvPr/>
        </p:nvSpPr>
        <p:spPr>
          <a:xfrm>
            <a:off x="983665" y="6867144"/>
            <a:ext cx="16137790" cy="0"/>
          </a:xfrm>
          <a:prstGeom prst="line">
            <a:avLst/>
          </a:prstGeom>
          <a:noFill/>
          <a:ln w="12700">
            <a:solidFill>
              <a:srgbClr val="FAA95A"/>
            </a:solidFill>
            <a:prstDash val="dash"/>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endParaRPr/>
          </a:p>
        </p:txBody>
      </p:sp>
      <p:sp>
        <p:nvSpPr>
          <p:cNvPr id="9635" name="Seq 9635"/>
          <p:cNvSpPr>
            <a:spLocks noGrp="1"/>
          </p:cNvSpPr>
          <p:nvPr/>
        </p:nvSpPr>
        <p:spPr>
          <a:xfrm>
            <a:off x="1005840" y="6912864"/>
            <a:ext cx="1188720" cy="241401"/>
          </a:xfrm>
          <a:prstGeom prst="rect">
            <a:avLst/>
          </a:prstGeom>
          <a:solidFill>
            <a:srgbClr val="FFFFFF"/>
          </a:solidFill>
        </p:spPr>
        <p:txBody>
          <a:bodyPr wrap="square" lIns="0" tIns="0" rIns="0" bIns="0" anchor="t">
            <a:spAutoFit/>
          </a:bodyPr>
          <a:lstStyle/>
          <a:p>
            <a:pPr algn="l">
              <a:buNone/>
            </a:pPr>
            <a:r>
              <a:rPr sz="1100" b="1">
                <a:solidFill>
                  <a:srgbClr val="FF0000"/>
                </a:solidFill>
                <a:latin typeface="210 OmniGothic 040"/>
                <a:ea typeface="210 OmniGothic 040"/>
                <a:cs typeface="210 OmniGothic 040"/>
              </a:rPr>
              <a:t>② 위험도 조회</a:t>
            </a:r>
          </a:p>
        </p:txBody>
      </p:sp>
      <p:sp>
        <p:nvSpPr>
          <p:cNvPr id="9636" name="Seq 9636"/>
          <p:cNvSpPr>
            <a:spLocks noGrp="1"/>
          </p:cNvSpPr>
          <p:nvPr/>
        </p:nvSpPr>
        <p:spPr>
          <a:xfrm>
            <a:off x="2337435" y="6886320"/>
            <a:ext cx="268605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상황도의 「위험도」 열기</a:t>
            </a:r>
          </a:p>
        </p:txBody>
      </p:sp>
      <p:sp>
        <p:nvSpPr>
          <p:cNvPr id="9637" name="Seq 9637"/>
          <p:cNvSpPr>
            <a:spLocks noGrp="1"/>
          </p:cNvSpPr>
          <p:nvPr/>
        </p:nvSpPr>
        <p:spPr>
          <a:xfrm>
            <a:off x="2337435" y="7132320"/>
            <a:ext cx="2616050" cy="0"/>
          </a:xfrm>
          <a:prstGeom prst="line">
            <a:avLst/>
          </a:prstGeom>
          <a:ln w="1397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9638" name="Seq 9638"/>
          <p:cNvSpPr>
            <a:spLocks noGrp="1"/>
          </p:cNvSpPr>
          <p:nvPr/>
        </p:nvSpPr>
        <p:spPr>
          <a:xfrm>
            <a:off x="5023485" y="7124064"/>
            <a:ext cx="268605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GET /incidents/{id}/risk</a:t>
            </a:r>
          </a:p>
        </p:txBody>
      </p:sp>
      <p:sp>
        <p:nvSpPr>
          <p:cNvPr id="9639" name="Seq 9639"/>
          <p:cNvSpPr>
            <a:spLocks noGrp="1"/>
          </p:cNvSpPr>
          <p:nvPr/>
        </p:nvSpPr>
        <p:spPr>
          <a:xfrm>
            <a:off x="5093485" y="7370064"/>
            <a:ext cx="2546050" cy="0"/>
          </a:xfrm>
          <a:prstGeom prst="line">
            <a:avLst/>
          </a:prstGeom>
          <a:ln w="1397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9640" name="Seq 9640"/>
          <p:cNvSpPr>
            <a:spLocks noGrp="1"/>
          </p:cNvSpPr>
          <p:nvPr/>
        </p:nvSpPr>
        <p:spPr>
          <a:xfrm>
            <a:off x="7709535" y="7361808"/>
            <a:ext cx="5372100" cy="221284"/>
          </a:xfrm>
          <a:prstGeom prst="rect">
            <a:avLst/>
          </a:prstGeom>
          <a:noFill/>
        </p:spPr>
        <p:txBody>
          <a:bodyPr wrap="square" lIns="0" tIns="0" rIns="0" bIns="0" anchor="t">
            <a:spAutoFit/>
          </a:bodyPr>
          <a:lstStyle/>
          <a:p>
            <a:pPr algn="ctr">
              <a:buNone/>
            </a:pPr>
            <a:r>
              <a:rPr sz="1100" b="0">
                <a:solidFill>
                  <a:srgbClr val="FF0000"/>
                </a:solidFill>
                <a:latin typeface="210 OmniGothic 040"/>
                <a:ea typeface="210 OmniGothic 040"/>
                <a:cs typeface="210 OmniGothic 040"/>
              </a:rPr>
              <a:t>get_latest(incident_id)</a:t>
            </a:r>
          </a:p>
        </p:txBody>
      </p:sp>
      <p:sp>
        <p:nvSpPr>
          <p:cNvPr id="9641" name="Seq 9641"/>
          <p:cNvSpPr>
            <a:spLocks noGrp="1"/>
          </p:cNvSpPr>
          <p:nvPr/>
        </p:nvSpPr>
        <p:spPr>
          <a:xfrm>
            <a:off x="7779535" y="7607808"/>
            <a:ext cx="5232100" cy="0"/>
          </a:xfrm>
          <a:prstGeom prst="line">
            <a:avLst/>
          </a:prstGeom>
          <a:ln w="1397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9642" name="Seq 9642"/>
          <p:cNvSpPr>
            <a:spLocks noGrp="1"/>
          </p:cNvSpPr>
          <p:nvPr/>
        </p:nvSpPr>
        <p:spPr>
          <a:xfrm>
            <a:off x="13081635" y="7599552"/>
            <a:ext cx="2686050" cy="221284"/>
          </a:xfrm>
          <a:prstGeom prst="rect">
            <a:avLst/>
          </a:prstGeom>
          <a:noFill/>
        </p:spPr>
        <p:txBody>
          <a:bodyPr wrap="square" lIns="0" tIns="0" rIns="0" bIns="0" anchor="t">
            <a:spAutoFit/>
          </a:bodyPr>
          <a:lstStyle/>
          <a:p>
            <a:pPr algn="ctr">
              <a:buNone/>
            </a:pPr>
            <a:r>
              <a:rPr sz="1100" b="0">
                <a:solidFill>
                  <a:srgbClr val="FF0000"/>
                </a:solidFill>
                <a:latin typeface="210 OmniGothic 040"/>
                <a:ea typeface="210 OmniGothic 040"/>
                <a:cs typeface="210 OmniGothic 040"/>
              </a:rPr>
              <a:t>최신 위험도 조회</a:t>
            </a:r>
          </a:p>
        </p:txBody>
      </p:sp>
      <p:sp>
        <p:nvSpPr>
          <p:cNvPr id="9643" name="Seq 9643"/>
          <p:cNvSpPr>
            <a:spLocks noGrp="1"/>
          </p:cNvSpPr>
          <p:nvPr/>
        </p:nvSpPr>
        <p:spPr>
          <a:xfrm>
            <a:off x="13151635" y="7845552"/>
            <a:ext cx="2546050" cy="0"/>
          </a:xfrm>
          <a:prstGeom prst="line">
            <a:avLst/>
          </a:prstGeom>
          <a:ln w="1397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9644" name="Seq 9644"/>
          <p:cNvSpPr>
            <a:spLocks noGrp="1"/>
          </p:cNvSpPr>
          <p:nvPr/>
        </p:nvSpPr>
        <p:spPr>
          <a:xfrm>
            <a:off x="13081635" y="7837296"/>
            <a:ext cx="2686050" cy="221284"/>
          </a:xfrm>
          <a:prstGeom prst="rect">
            <a:avLst/>
          </a:prstGeom>
          <a:noFill/>
        </p:spPr>
        <p:txBody>
          <a:bodyPr wrap="square" lIns="0" tIns="0" rIns="0" bIns="0" anchor="t">
            <a:spAutoFit/>
          </a:bodyPr>
          <a:lstStyle/>
          <a:p>
            <a:pPr algn="ctr">
              <a:buNone/>
            </a:pPr>
            <a:r>
              <a:rPr sz="1100" b="0">
                <a:solidFill>
                  <a:srgbClr val="FF0000"/>
                </a:solidFill>
                <a:latin typeface="210 OmniGothic 040"/>
                <a:ea typeface="210 OmniGothic 040"/>
                <a:cs typeface="210 OmniGothic 040"/>
              </a:rPr>
              <a:t>R · 요인 점수 · 병합 산불</a:t>
            </a:r>
          </a:p>
        </p:txBody>
      </p:sp>
      <p:sp>
        <p:nvSpPr>
          <p:cNvPr id="9645" name="Seq 9645"/>
          <p:cNvSpPr>
            <a:spLocks noGrp="1"/>
          </p:cNvSpPr>
          <p:nvPr/>
        </p:nvSpPr>
        <p:spPr>
          <a:xfrm flipH="1">
            <a:off x="13151635" y="8083296"/>
            <a:ext cx="2546050" cy="0"/>
          </a:xfrm>
          <a:prstGeom prst="line">
            <a:avLst/>
          </a:prstGeom>
          <a:ln w="13970">
            <a:solidFill>
              <a:srgbClr val="6B7080"/>
            </a:solidFill>
            <a:prstDash val="dash"/>
            <a:tailEnd type="arrow"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9646" name="Seq 9646"/>
          <p:cNvSpPr>
            <a:spLocks noGrp="1"/>
          </p:cNvSpPr>
          <p:nvPr/>
        </p:nvSpPr>
        <p:spPr>
          <a:xfrm>
            <a:off x="7709535" y="8075040"/>
            <a:ext cx="5372100" cy="221284"/>
          </a:xfrm>
          <a:prstGeom prst="rect">
            <a:avLst/>
          </a:prstGeom>
          <a:noFill/>
        </p:spPr>
        <p:txBody>
          <a:bodyPr wrap="square" lIns="0" tIns="0" rIns="0" bIns="0" anchor="t">
            <a:spAutoFit/>
          </a:bodyPr>
          <a:lstStyle/>
          <a:p>
            <a:pPr algn="ctr">
              <a:buNone/>
            </a:pPr>
            <a:r>
              <a:rPr sz="1100" b="0">
                <a:solidFill>
                  <a:srgbClr val="FF0000"/>
                </a:solidFill>
                <a:latin typeface="210 OmniGothic 040"/>
                <a:ea typeface="210 OmniGothic 040"/>
                <a:cs typeface="210 OmniGothic 040"/>
              </a:rPr>
              <a:t>R · 요인 점수 (종료 사건은 「종료」)</a:t>
            </a:r>
          </a:p>
        </p:txBody>
      </p:sp>
      <p:sp>
        <p:nvSpPr>
          <p:cNvPr id="9647" name="Seq 9647"/>
          <p:cNvSpPr>
            <a:spLocks noGrp="1"/>
          </p:cNvSpPr>
          <p:nvPr/>
        </p:nvSpPr>
        <p:spPr>
          <a:xfrm flipH="1">
            <a:off x="7779535" y="8321040"/>
            <a:ext cx="5232100" cy="0"/>
          </a:xfrm>
          <a:prstGeom prst="line">
            <a:avLst/>
          </a:prstGeom>
          <a:ln w="13970">
            <a:solidFill>
              <a:srgbClr val="6B7080"/>
            </a:solidFill>
            <a:prstDash val="dash"/>
            <a:tailEnd type="arrow"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9648" name="Seq 9648"/>
          <p:cNvSpPr>
            <a:spLocks noGrp="1"/>
          </p:cNvSpPr>
          <p:nvPr/>
        </p:nvSpPr>
        <p:spPr>
          <a:xfrm>
            <a:off x="5023485" y="8312784"/>
            <a:ext cx="268605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위험도 결과 전달</a:t>
            </a:r>
          </a:p>
        </p:txBody>
      </p:sp>
      <p:sp>
        <p:nvSpPr>
          <p:cNvPr id="9649" name="Seq 9649"/>
          <p:cNvSpPr>
            <a:spLocks noGrp="1"/>
          </p:cNvSpPr>
          <p:nvPr/>
        </p:nvSpPr>
        <p:spPr>
          <a:xfrm flipH="1">
            <a:off x="5093485" y="8558784"/>
            <a:ext cx="2546050" cy="0"/>
          </a:xfrm>
          <a:prstGeom prst="line">
            <a:avLst/>
          </a:prstGeom>
          <a:ln w="13970">
            <a:solidFill>
              <a:srgbClr val="6B7080"/>
            </a:solidFill>
            <a:prstDash val="dash"/>
            <a:tailEnd type="arrow"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9650" name="Seq 9650"/>
          <p:cNvSpPr>
            <a:spLocks noGrp="1"/>
          </p:cNvSpPr>
          <p:nvPr/>
        </p:nvSpPr>
        <p:spPr>
          <a:xfrm>
            <a:off x="2337435" y="8550528"/>
            <a:ext cx="2686050" cy="221284"/>
          </a:xfrm>
          <a:prstGeom prst="rect">
            <a:avLst/>
          </a:prstGeom>
          <a:noFill/>
        </p:spPr>
        <p:txBody>
          <a:bodyPr wrap="square" lIns="0" tIns="0" rIns="0" bIns="0" anchor="t">
            <a:spAutoFit/>
          </a:bodyPr>
          <a:lstStyle/>
          <a:p>
            <a:pPr algn="ctr">
              <a:buNone/>
            </a:pPr>
            <a:r>
              <a:rPr sz="1100" b="0">
                <a:solidFill>
                  <a:srgbClr val="FF0000"/>
                </a:solidFill>
                <a:latin typeface="210 OmniGothic 040"/>
                <a:ea typeface="210 OmniGothic 040"/>
                <a:cs typeface="210 OmniGothic 040"/>
              </a:rPr>
              <a:t>산불(폴리곤)별 R · 요인 점수 표시</a:t>
            </a:r>
          </a:p>
        </p:txBody>
      </p:sp>
      <p:sp>
        <p:nvSpPr>
          <p:cNvPr id="9651" name="Seq 9651"/>
          <p:cNvSpPr>
            <a:spLocks noGrp="1"/>
          </p:cNvSpPr>
          <p:nvPr/>
        </p:nvSpPr>
        <p:spPr>
          <a:xfrm flipH="1">
            <a:off x="2337435" y="8796528"/>
            <a:ext cx="2616050" cy="0"/>
          </a:xfrm>
          <a:prstGeom prst="line">
            <a:avLst/>
          </a:prstGeom>
          <a:ln w="13970">
            <a:solidFill>
              <a:srgbClr val="6B7080"/>
            </a:solidFill>
            <a:prstDash val="dash"/>
            <a:tailEnd type="arrow"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Tree>
    <p:extLst>
      <p:ext uri="{BB962C8B-B14F-4D97-AF65-F5344CB8AC3E}">
        <p14:creationId xmlns:p14="http://schemas.microsoft.com/office/powerpoint/2010/main" val="170084853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246" name="Picture 2"/>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700" y="-12700"/>
            <a:ext cx="18313400" cy="1638300"/>
          </a:xfrm>
          <a:prstGeom prst="rect">
            <a:avLst/>
          </a:prstGeom>
        </p:spPr>
      </p:pic>
      <p:pic>
        <p:nvPicPr>
          <p:cNvPr id="6247" name="Picture 4"/>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28" y="1618343"/>
            <a:ext cx="18313400" cy="8699500"/>
          </a:xfrm>
          <a:prstGeom prst="rect">
            <a:avLst/>
          </a:prstGeom>
        </p:spPr>
      </p:pic>
      <p:pic>
        <p:nvPicPr>
          <p:cNvPr id="6248" name="Picture 5"/>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58800" y="9271000"/>
            <a:ext cx="17170400" cy="50800"/>
          </a:xfrm>
          <a:prstGeom prst="rect">
            <a:avLst/>
          </a:prstGeom>
        </p:spPr>
      </p:pic>
      <p:pic>
        <p:nvPicPr>
          <p:cNvPr id="6249" name="Picture 3"/>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5278100" y="203200"/>
            <a:ext cx="1676400" cy="1409700"/>
          </a:xfrm>
          <a:prstGeom prst="rect">
            <a:avLst/>
          </a:prstGeom>
        </p:spPr>
      </p:pic>
      <p:sp>
        <p:nvSpPr>
          <p:cNvPr id="5221" name="Title">
            <a:extLst>
              <a:ext uri="{FF2B5EF4-FFF2-40B4-BE49-F238E27FC236}">
                <a16:creationId xmlns:a16="http://schemas.microsoft.com/office/drawing/2014/main" id="{80C70D4D-D7A9-478B-9C9E-E9BA25E1E2A5}"/>
              </a:ext>
            </a:extLst>
          </p:cNvPr>
          <p:cNvSpPr>
            <a:spLocks noGrp="1"/>
          </p:cNvSpPr>
          <p:nvPr/>
        </p:nvSpPr>
        <p:spPr>
          <a:xfrm>
            <a:off x="822960" y="384048"/>
            <a:ext cx="13258800" cy="877824"/>
          </a:xfrm>
          <a:prstGeom prst="rect">
            <a:avLst/>
          </a:prstGeom>
          <a:noFill/>
        </p:spPr>
        <p:txBody>
          <a:bodyPr wrap="square" lIns="0" tIns="0" rIns="0" bIns="0" anchor="ctr">
            <a:spAutoFit/>
          </a:bodyPr>
          <a:lstStyle/>
          <a:p>
            <a:pPr algn="l">
              <a:buNone/>
            </a:pPr>
            <a:r>
              <a:rPr sz="4400" b="0">
                <a:solidFill>
                  <a:srgbClr val="FAA95A"/>
                </a:solidFill>
                <a:latin typeface="210 OmniGothic 050"/>
                <a:ea typeface="210 OmniGothic 050"/>
                <a:cs typeface="210 OmniGothic 050"/>
              </a:rPr>
              <a:t>04. 시퀀스 다이어그램</a:t>
            </a:r>
          </a:p>
        </p:txBody>
      </p:sp>
      <p:sp>
        <p:nvSpPr>
          <p:cNvPr id="5222" name="Subtitle">
            <a:extLst>
              <a:ext uri="{FF2B5EF4-FFF2-40B4-BE49-F238E27FC236}">
                <a16:creationId xmlns:a16="http://schemas.microsoft.com/office/drawing/2014/main" id="{602307E7-6AAD-4F09-A94C-360B7EB9868C}"/>
              </a:ext>
            </a:extLst>
          </p:cNvPr>
          <p:cNvSpPr>
            <a:spLocks noGrp="1"/>
          </p:cNvSpPr>
          <p:nvPr/>
        </p:nvSpPr>
        <p:spPr>
          <a:xfrm>
            <a:off x="822960" y="1764792"/>
            <a:ext cx="16642080" cy="502920"/>
          </a:xfrm>
          <a:prstGeom prst="rect">
            <a:avLst/>
          </a:prstGeom>
          <a:noFill/>
        </p:spPr>
        <p:txBody>
          <a:bodyPr wrap="square" lIns="0" tIns="0" rIns="0" bIns="0" anchor="ctr">
            <a:spAutoFit/>
          </a:bodyPr>
          <a:lstStyle/>
          <a:p>
            <a:pPr algn="ctr">
              <a:buNone/>
            </a:pPr>
            <a:r>
              <a:rPr sz="2600" b="1">
                <a:solidFill>
                  <a:srgbClr val="363A52"/>
                </a:solidFill>
                <a:latin typeface="210 OmniGothic 040"/>
                <a:ea typeface="210 OmniGothic 040"/>
                <a:cs typeface="210 OmniGothic 040"/>
              </a:rPr>
              <a:t>진화 제안 열람 · 근거 조회 · 이력·변경사항 조회  (UC-PROP-01)</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idx="12"/>
          </p:nvPr>
        </p:nvSpPr>
        <p:spPr/>
        <p:txBody>
          <a:bodyPr/>
          <a:lstStyle/>
          <a:p>
            <a:fld id="{B6F15528-21DE-4FAA-801E-634DDDAF4B2B}" type="slidenum">
              <a:rPr/>
              <a:t>44</a:t>
            </a:fld>
            <a:endParaRPr/>
          </a:p>
        </p:txBody>
      </p:sp>
      <p:sp>
        <p:nvSpPr>
          <p:cNvPr id="6227" name="Rounded Rectangle 6228">
            <a:extLst>
              <a:ext uri="{FF2B5EF4-FFF2-40B4-BE49-F238E27FC236}">
                <a16:creationId xmlns:a16="http://schemas.microsoft.com/office/drawing/2014/main" id="{373E0905-5405-4EB3-8E0B-E5AA6E230915}"/>
              </a:ext>
            </a:extLst>
          </p:cNvPr>
          <p:cNvSpPr>
            <a:spLocks noGrp="1"/>
          </p:cNvSpPr>
          <p:nvPr/>
        </p:nvSpPr>
        <p:spPr>
          <a:xfrm>
            <a:off x="1865948" y="2446020"/>
            <a:ext cx="2286000" cy="462686"/>
          </a:xfrm>
          <a:prstGeom prst="roundRect">
            <a:avLst>
              <a:gd name="adj" fmla="val 10000"/>
            </a:avLst>
          </a:prstGeom>
          <a:solidFill>
            <a:srgbClr val="E6E9F1"/>
          </a:solidFill>
          <a:ln w="12700">
            <a:solidFill>
              <a:srgbClr val="B6BCCB"/>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r>
              <a:rPr sz="1250" b="1">
                <a:solidFill>
                  <a:srgbClr val="2E3142"/>
                </a:solidFill>
                <a:latin typeface="210 OmniGothic 040"/>
                <a:ea typeface="210 OmniGothic 040"/>
                <a:cs typeface="210 OmniGothic 040"/>
              </a:rPr>
              <a:t>통합지휘권자</a:t>
            </a:r>
          </a:p>
        </p:txBody>
      </p:sp>
      <p:sp>
        <p:nvSpPr>
          <p:cNvPr id="6229" name="Connector 6230">
            <a:extLst>
              <a:ext uri="{FF2B5EF4-FFF2-40B4-BE49-F238E27FC236}">
                <a16:creationId xmlns:a16="http://schemas.microsoft.com/office/drawing/2014/main" id="{39C48468-E624-4412-9BE7-469D7AA5BB05}"/>
              </a:ext>
            </a:extLst>
          </p:cNvPr>
          <p:cNvSpPr>
            <a:spLocks noGrp="1"/>
          </p:cNvSpPr>
          <p:nvPr/>
        </p:nvSpPr>
        <p:spPr>
          <a:xfrm>
            <a:off x="3008948" y="2908706"/>
            <a:ext cx="0" cy="6145682"/>
          </a:xfrm>
          <a:prstGeom prst="line">
            <a:avLst/>
          </a:prstGeom>
          <a:ln w="11430">
            <a:solidFill>
              <a:srgbClr val="A3A8B8"/>
            </a:solidFill>
            <a:prstDash val="dash"/>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231" name="Rounded Rectangle 6232">
            <a:extLst>
              <a:ext uri="{FF2B5EF4-FFF2-40B4-BE49-F238E27FC236}">
                <a16:creationId xmlns:a16="http://schemas.microsoft.com/office/drawing/2014/main" id="{8E2F6393-5264-4444-B75C-74062173BE48}"/>
              </a:ext>
            </a:extLst>
          </p:cNvPr>
          <p:cNvSpPr>
            <a:spLocks noGrp="1"/>
          </p:cNvSpPr>
          <p:nvPr/>
        </p:nvSpPr>
        <p:spPr>
          <a:xfrm>
            <a:off x="5895023" y="2446020"/>
            <a:ext cx="2286000" cy="462686"/>
          </a:xfrm>
          <a:prstGeom prst="roundRect">
            <a:avLst>
              <a:gd name="adj" fmla="val 10000"/>
            </a:avLst>
          </a:prstGeom>
          <a:solidFill>
            <a:srgbClr val="E6E9F1"/>
          </a:solidFill>
          <a:ln w="12700">
            <a:solidFill>
              <a:srgbClr val="B6BCCB"/>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r>
              <a:rPr sz="1250" b="1">
                <a:solidFill>
                  <a:srgbClr val="2E3142"/>
                </a:solidFill>
                <a:latin typeface="210 OmniGothic 040"/>
                <a:ea typeface="210 OmniGothic 040"/>
                <a:cs typeface="210 OmniGothic 040"/>
              </a:rPr>
              <a:t>프론트엔드</a:t>
            </a:r>
          </a:p>
        </p:txBody>
      </p:sp>
      <p:sp>
        <p:nvSpPr>
          <p:cNvPr id="6233" name="Connector 6234">
            <a:extLst>
              <a:ext uri="{FF2B5EF4-FFF2-40B4-BE49-F238E27FC236}">
                <a16:creationId xmlns:a16="http://schemas.microsoft.com/office/drawing/2014/main" id="{ADE265E8-42DC-401E-B5F1-ECFDD45BCDB4}"/>
              </a:ext>
            </a:extLst>
          </p:cNvPr>
          <p:cNvSpPr>
            <a:spLocks noGrp="1"/>
          </p:cNvSpPr>
          <p:nvPr/>
        </p:nvSpPr>
        <p:spPr>
          <a:xfrm>
            <a:off x="7038023" y="2908706"/>
            <a:ext cx="0" cy="6145682"/>
          </a:xfrm>
          <a:prstGeom prst="line">
            <a:avLst/>
          </a:prstGeom>
          <a:ln w="11430">
            <a:solidFill>
              <a:srgbClr val="A3A8B8"/>
            </a:solidFill>
            <a:prstDash val="dash"/>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235" name="Rounded Rectangle 6236">
            <a:extLst>
              <a:ext uri="{FF2B5EF4-FFF2-40B4-BE49-F238E27FC236}">
                <a16:creationId xmlns:a16="http://schemas.microsoft.com/office/drawing/2014/main" id="{9B58ED7A-C097-4C1C-80F4-C33A1F3A0E4B}"/>
              </a:ext>
            </a:extLst>
          </p:cNvPr>
          <p:cNvSpPr>
            <a:spLocks noGrp="1"/>
          </p:cNvSpPr>
          <p:nvPr/>
        </p:nvSpPr>
        <p:spPr>
          <a:xfrm>
            <a:off x="9924098" y="2446020"/>
            <a:ext cx="2286000" cy="462686"/>
          </a:xfrm>
          <a:prstGeom prst="roundRect">
            <a:avLst>
              <a:gd name="adj" fmla="val 10000"/>
            </a:avLst>
          </a:prstGeom>
          <a:solidFill>
            <a:srgbClr val="E6E9F1"/>
          </a:solidFill>
          <a:ln w="12700">
            <a:solidFill>
              <a:srgbClr val="B6BCCB"/>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r>
              <a:rPr sz="1250" b="1">
                <a:solidFill>
                  <a:srgbClr val="2E3142"/>
                </a:solidFill>
                <a:latin typeface="210 OmniGothic 040"/>
                <a:ea typeface="210 OmniGothic 040"/>
                <a:cs typeface="210 OmniGothic 040"/>
              </a:rPr>
              <a:t>ProposalRouter</a:t>
            </a:r>
          </a:p>
        </p:txBody>
      </p:sp>
      <p:sp>
        <p:nvSpPr>
          <p:cNvPr id="6237" name="Connector 6238">
            <a:extLst>
              <a:ext uri="{FF2B5EF4-FFF2-40B4-BE49-F238E27FC236}">
                <a16:creationId xmlns:a16="http://schemas.microsoft.com/office/drawing/2014/main" id="{7F3F5CB9-9986-40F5-B1CB-CE7BCB669663}"/>
              </a:ext>
            </a:extLst>
          </p:cNvPr>
          <p:cNvSpPr>
            <a:spLocks noGrp="1"/>
          </p:cNvSpPr>
          <p:nvPr/>
        </p:nvSpPr>
        <p:spPr>
          <a:xfrm>
            <a:off x="11067098" y="2908706"/>
            <a:ext cx="0" cy="6145682"/>
          </a:xfrm>
          <a:prstGeom prst="line">
            <a:avLst/>
          </a:prstGeom>
          <a:ln w="11430">
            <a:solidFill>
              <a:srgbClr val="A3A8B8"/>
            </a:solidFill>
            <a:prstDash val="dash"/>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239" name="Rounded Rectangle 6240">
            <a:extLst>
              <a:ext uri="{FF2B5EF4-FFF2-40B4-BE49-F238E27FC236}">
                <a16:creationId xmlns:a16="http://schemas.microsoft.com/office/drawing/2014/main" id="{4D640675-04A2-4F4B-B155-6A133470F7F3}"/>
              </a:ext>
            </a:extLst>
          </p:cNvPr>
          <p:cNvSpPr>
            <a:spLocks noGrp="1"/>
          </p:cNvSpPr>
          <p:nvPr/>
        </p:nvSpPr>
        <p:spPr>
          <a:xfrm>
            <a:off x="13953173" y="2446020"/>
            <a:ext cx="2286000" cy="462686"/>
          </a:xfrm>
          <a:prstGeom prst="roundRect">
            <a:avLst>
              <a:gd name="adj" fmla="val 10000"/>
            </a:avLst>
          </a:prstGeom>
          <a:solidFill>
            <a:srgbClr val="E6E9F1"/>
          </a:solidFill>
          <a:ln w="12700">
            <a:solidFill>
              <a:srgbClr val="B6BCCB"/>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r>
              <a:rPr sz="1250" b="1">
                <a:solidFill>
                  <a:srgbClr val="2E3142"/>
                </a:solidFill>
                <a:latin typeface="210 OmniGothic 040"/>
                <a:ea typeface="210 OmniGothic 040"/>
                <a:cs typeface="210 OmniGothic 040"/>
              </a:rPr>
              <a:t>DB</a:t>
            </a:r>
          </a:p>
        </p:txBody>
      </p:sp>
      <p:sp>
        <p:nvSpPr>
          <p:cNvPr id="6241" name="Connector 6242">
            <a:extLst>
              <a:ext uri="{FF2B5EF4-FFF2-40B4-BE49-F238E27FC236}">
                <a16:creationId xmlns:a16="http://schemas.microsoft.com/office/drawing/2014/main" id="{6A88A977-1DF8-4B49-BD38-ACE6BD3CEDF2}"/>
              </a:ext>
            </a:extLst>
          </p:cNvPr>
          <p:cNvSpPr>
            <a:spLocks noGrp="1"/>
          </p:cNvSpPr>
          <p:nvPr/>
        </p:nvSpPr>
        <p:spPr>
          <a:xfrm>
            <a:off x="15096173" y="2908706"/>
            <a:ext cx="0" cy="6145682"/>
          </a:xfrm>
          <a:prstGeom prst="line">
            <a:avLst/>
          </a:prstGeom>
          <a:ln w="11430">
            <a:solidFill>
              <a:srgbClr val="A3A8B8"/>
            </a:solidFill>
            <a:prstDash val="dash"/>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141" name="Rectangle 6142">
            <a:extLst>
              <a:ext uri="{FF2B5EF4-FFF2-40B4-BE49-F238E27FC236}">
                <a16:creationId xmlns:a16="http://schemas.microsoft.com/office/drawing/2014/main" id="{1BB7D141-DBF9-412E-B95F-BF365A0D05FB}"/>
              </a:ext>
            </a:extLst>
          </p:cNvPr>
          <p:cNvSpPr>
            <a:spLocks noGrp="1"/>
          </p:cNvSpPr>
          <p:nvPr/>
        </p:nvSpPr>
        <p:spPr>
          <a:xfrm>
            <a:off x="15026173" y="3882274"/>
            <a:ext cx="140000" cy="15000"/>
          </a:xfrm>
          <a:prstGeom prst="rect">
            <a:avLst/>
          </a:prstGeom>
          <a:solidFill>
            <a:srgbClr val="FFFFFF"/>
          </a:solidFill>
          <a:ln w="9525">
            <a:solidFill>
              <a:srgbClr val="363A52"/>
            </a:solidFill>
          </a:ln>
        </p:spPr>
        <p:style>
          <a:lnRef idx="1">
            <a:schemeClr val="accent1"/>
          </a:lnRef>
          <a:fillRef idx="3">
            <a:schemeClr val="accent1"/>
          </a:fillRef>
          <a:effectRef idx="2">
            <a:schemeClr val="accent1"/>
          </a:effectRef>
          <a:fontRef idx="minor">
            <a:schemeClr val="lt1"/>
          </a:fontRef>
        </p:style>
        <p:txBody>
          <a:bodyPr wrap="square" lIns="0" rIns="0" anchor="ctr"/>
          <a:lstStyle/>
          <a:p>
            <a:pPr algn="ctr">
              <a:buNone/>
            </a:pPr>
            <a:endParaRPr/>
          </a:p>
        </p:txBody>
      </p:sp>
      <p:sp>
        <p:nvSpPr>
          <p:cNvPr id="6143" name="Rectangle 6144">
            <a:extLst>
              <a:ext uri="{FF2B5EF4-FFF2-40B4-BE49-F238E27FC236}">
                <a16:creationId xmlns:a16="http://schemas.microsoft.com/office/drawing/2014/main" id="{0266B115-6D3B-4796-B21E-EAD93F5C53CD}"/>
              </a:ext>
            </a:extLst>
          </p:cNvPr>
          <p:cNvSpPr>
            <a:spLocks noGrp="1"/>
          </p:cNvSpPr>
          <p:nvPr/>
        </p:nvSpPr>
        <p:spPr>
          <a:xfrm>
            <a:off x="10997098" y="3632274"/>
            <a:ext cx="140000" cy="500000"/>
          </a:xfrm>
          <a:prstGeom prst="rect">
            <a:avLst/>
          </a:prstGeom>
          <a:solidFill>
            <a:srgbClr val="FFFFFF"/>
          </a:solidFill>
          <a:ln w="9525">
            <a:solidFill>
              <a:srgbClr val="363A52"/>
            </a:solidFill>
          </a:ln>
        </p:spPr>
        <p:style>
          <a:lnRef idx="1">
            <a:schemeClr val="accent1"/>
          </a:lnRef>
          <a:fillRef idx="3">
            <a:schemeClr val="accent1"/>
          </a:fillRef>
          <a:effectRef idx="2">
            <a:schemeClr val="accent1"/>
          </a:effectRef>
          <a:fontRef idx="minor">
            <a:schemeClr val="lt1"/>
          </a:fontRef>
        </p:style>
        <p:txBody>
          <a:bodyPr wrap="square" lIns="0" rIns="0" anchor="ctr"/>
          <a:lstStyle/>
          <a:p>
            <a:pPr algn="ctr">
              <a:buNone/>
            </a:pPr>
            <a:endParaRPr/>
          </a:p>
        </p:txBody>
      </p:sp>
      <p:sp>
        <p:nvSpPr>
          <p:cNvPr id="6145" name="Rectangle 6146">
            <a:extLst>
              <a:ext uri="{FF2B5EF4-FFF2-40B4-BE49-F238E27FC236}">
                <a16:creationId xmlns:a16="http://schemas.microsoft.com/office/drawing/2014/main" id="{770A6D02-D6A5-4D0A-AF65-079D611512C3}"/>
              </a:ext>
            </a:extLst>
          </p:cNvPr>
          <p:cNvSpPr>
            <a:spLocks noGrp="1"/>
          </p:cNvSpPr>
          <p:nvPr/>
        </p:nvSpPr>
        <p:spPr>
          <a:xfrm>
            <a:off x="6968023" y="3382274"/>
            <a:ext cx="140000" cy="1000000"/>
          </a:xfrm>
          <a:prstGeom prst="rect">
            <a:avLst/>
          </a:prstGeom>
          <a:solidFill>
            <a:srgbClr val="FFFFFF"/>
          </a:solidFill>
          <a:ln w="9525">
            <a:solidFill>
              <a:srgbClr val="363A52"/>
            </a:solidFill>
          </a:ln>
        </p:spPr>
        <p:style>
          <a:lnRef idx="1">
            <a:schemeClr val="accent1"/>
          </a:lnRef>
          <a:fillRef idx="3">
            <a:schemeClr val="accent1"/>
          </a:fillRef>
          <a:effectRef idx="2">
            <a:schemeClr val="accent1"/>
          </a:effectRef>
          <a:fontRef idx="minor">
            <a:schemeClr val="lt1"/>
          </a:fontRef>
        </p:style>
        <p:txBody>
          <a:bodyPr wrap="square" lIns="0" rIns="0" anchor="ctr"/>
          <a:lstStyle/>
          <a:p>
            <a:pPr algn="ctr">
              <a:buNone/>
            </a:pPr>
            <a:endParaRPr/>
          </a:p>
        </p:txBody>
      </p:sp>
      <p:sp>
        <p:nvSpPr>
          <p:cNvPr id="6147" name="Rectangle 6148">
            <a:extLst>
              <a:ext uri="{FF2B5EF4-FFF2-40B4-BE49-F238E27FC236}">
                <a16:creationId xmlns:a16="http://schemas.microsoft.com/office/drawing/2014/main" id="{BCACA1B1-B674-498E-8772-2F1FF2FAB165}"/>
              </a:ext>
            </a:extLst>
          </p:cNvPr>
          <p:cNvSpPr>
            <a:spLocks noGrp="1"/>
          </p:cNvSpPr>
          <p:nvPr/>
        </p:nvSpPr>
        <p:spPr>
          <a:xfrm>
            <a:off x="15026173" y="5352274"/>
            <a:ext cx="140000" cy="15000"/>
          </a:xfrm>
          <a:prstGeom prst="rect">
            <a:avLst/>
          </a:prstGeom>
          <a:solidFill>
            <a:srgbClr val="FFFFFF"/>
          </a:solidFill>
          <a:ln w="9525">
            <a:solidFill>
              <a:srgbClr val="363A52"/>
            </a:solidFill>
          </a:ln>
        </p:spPr>
        <p:style>
          <a:lnRef idx="1">
            <a:schemeClr val="accent1"/>
          </a:lnRef>
          <a:fillRef idx="3">
            <a:schemeClr val="accent1"/>
          </a:fillRef>
          <a:effectRef idx="2">
            <a:schemeClr val="accent1"/>
          </a:effectRef>
          <a:fontRef idx="minor">
            <a:schemeClr val="lt1"/>
          </a:fontRef>
        </p:style>
        <p:txBody>
          <a:bodyPr wrap="square" lIns="0" rIns="0" anchor="ctr"/>
          <a:lstStyle/>
          <a:p>
            <a:pPr algn="ctr">
              <a:buNone/>
            </a:pPr>
            <a:endParaRPr/>
          </a:p>
        </p:txBody>
      </p:sp>
      <p:sp>
        <p:nvSpPr>
          <p:cNvPr id="6149" name="Rectangle 6150">
            <a:extLst>
              <a:ext uri="{FF2B5EF4-FFF2-40B4-BE49-F238E27FC236}">
                <a16:creationId xmlns:a16="http://schemas.microsoft.com/office/drawing/2014/main" id="{B5F4A24C-CC32-4F3D-8D83-ACB98EEF7D97}"/>
              </a:ext>
            </a:extLst>
          </p:cNvPr>
          <p:cNvSpPr>
            <a:spLocks noGrp="1"/>
          </p:cNvSpPr>
          <p:nvPr/>
        </p:nvSpPr>
        <p:spPr>
          <a:xfrm>
            <a:off x="10997098" y="5102274"/>
            <a:ext cx="140000" cy="500000"/>
          </a:xfrm>
          <a:prstGeom prst="rect">
            <a:avLst/>
          </a:prstGeom>
          <a:solidFill>
            <a:srgbClr val="FFFFFF"/>
          </a:solidFill>
          <a:ln w="9525">
            <a:solidFill>
              <a:srgbClr val="363A52"/>
            </a:solidFill>
          </a:ln>
        </p:spPr>
        <p:style>
          <a:lnRef idx="1">
            <a:schemeClr val="accent1"/>
          </a:lnRef>
          <a:fillRef idx="3">
            <a:schemeClr val="accent1"/>
          </a:fillRef>
          <a:effectRef idx="2">
            <a:schemeClr val="accent1"/>
          </a:effectRef>
          <a:fontRef idx="minor">
            <a:schemeClr val="lt1"/>
          </a:fontRef>
        </p:style>
        <p:txBody>
          <a:bodyPr wrap="square" lIns="0" rIns="0" anchor="ctr"/>
          <a:lstStyle/>
          <a:p>
            <a:pPr algn="ctr">
              <a:buNone/>
            </a:pPr>
            <a:endParaRPr/>
          </a:p>
        </p:txBody>
      </p:sp>
      <p:sp>
        <p:nvSpPr>
          <p:cNvPr id="6151" name="Rectangle 6152">
            <a:extLst>
              <a:ext uri="{FF2B5EF4-FFF2-40B4-BE49-F238E27FC236}">
                <a16:creationId xmlns:a16="http://schemas.microsoft.com/office/drawing/2014/main" id="{D88D5B87-6A4E-4889-AF57-AB122D070D76}"/>
              </a:ext>
            </a:extLst>
          </p:cNvPr>
          <p:cNvSpPr>
            <a:spLocks noGrp="1"/>
          </p:cNvSpPr>
          <p:nvPr/>
        </p:nvSpPr>
        <p:spPr>
          <a:xfrm>
            <a:off x="6968023" y="4852274"/>
            <a:ext cx="140000" cy="1000000"/>
          </a:xfrm>
          <a:prstGeom prst="rect">
            <a:avLst/>
          </a:prstGeom>
          <a:solidFill>
            <a:srgbClr val="FFFFFF"/>
          </a:solidFill>
          <a:ln w="9525">
            <a:solidFill>
              <a:srgbClr val="363A52"/>
            </a:solidFill>
          </a:ln>
        </p:spPr>
        <p:style>
          <a:lnRef idx="1">
            <a:schemeClr val="accent1"/>
          </a:lnRef>
          <a:fillRef idx="3">
            <a:schemeClr val="accent1"/>
          </a:fillRef>
          <a:effectRef idx="2">
            <a:schemeClr val="accent1"/>
          </a:effectRef>
          <a:fontRef idx="minor">
            <a:schemeClr val="lt1"/>
          </a:fontRef>
        </p:style>
        <p:txBody>
          <a:bodyPr wrap="square" lIns="0" rIns="0" anchor="ctr"/>
          <a:lstStyle/>
          <a:p>
            <a:pPr algn="ctr">
              <a:buNone/>
            </a:pPr>
            <a:endParaRPr/>
          </a:p>
        </p:txBody>
      </p:sp>
      <p:sp>
        <p:nvSpPr>
          <p:cNvPr id="6153" name="Rectangle 6154">
            <a:extLst>
              <a:ext uri="{FF2B5EF4-FFF2-40B4-BE49-F238E27FC236}">
                <a16:creationId xmlns:a16="http://schemas.microsoft.com/office/drawing/2014/main" id="{4628C2E5-2B4F-4B09-ADE1-6E30443B87B3}"/>
              </a:ext>
            </a:extLst>
          </p:cNvPr>
          <p:cNvSpPr>
            <a:spLocks noGrp="1"/>
          </p:cNvSpPr>
          <p:nvPr/>
        </p:nvSpPr>
        <p:spPr>
          <a:xfrm>
            <a:off x="10997098" y="6717274"/>
            <a:ext cx="140000" cy="250000"/>
          </a:xfrm>
          <a:prstGeom prst="rect">
            <a:avLst/>
          </a:prstGeom>
          <a:solidFill>
            <a:srgbClr val="FFFFFF"/>
          </a:solidFill>
          <a:ln w="9525">
            <a:solidFill>
              <a:srgbClr val="363A52"/>
            </a:solidFill>
          </a:ln>
        </p:spPr>
        <p:style>
          <a:lnRef idx="1">
            <a:schemeClr val="accent1"/>
          </a:lnRef>
          <a:fillRef idx="3">
            <a:schemeClr val="accent1"/>
          </a:fillRef>
          <a:effectRef idx="2">
            <a:schemeClr val="accent1"/>
          </a:effectRef>
          <a:fontRef idx="minor">
            <a:schemeClr val="lt1"/>
          </a:fontRef>
        </p:style>
        <p:txBody>
          <a:bodyPr wrap="square" lIns="0" rIns="0" anchor="ctr"/>
          <a:lstStyle/>
          <a:p>
            <a:pPr algn="ctr">
              <a:buNone/>
            </a:pPr>
            <a:endParaRPr/>
          </a:p>
        </p:txBody>
      </p:sp>
      <p:sp>
        <p:nvSpPr>
          <p:cNvPr id="6155" name="Rectangle 6156">
            <a:extLst>
              <a:ext uri="{FF2B5EF4-FFF2-40B4-BE49-F238E27FC236}">
                <a16:creationId xmlns:a16="http://schemas.microsoft.com/office/drawing/2014/main" id="{ED237200-42C5-4AF7-B1B9-E108871D87AC}"/>
              </a:ext>
            </a:extLst>
          </p:cNvPr>
          <p:cNvSpPr>
            <a:spLocks noGrp="1"/>
          </p:cNvSpPr>
          <p:nvPr/>
        </p:nvSpPr>
        <p:spPr>
          <a:xfrm>
            <a:off x="10997098" y="7467274"/>
            <a:ext cx="140000" cy="250000"/>
          </a:xfrm>
          <a:prstGeom prst="rect">
            <a:avLst/>
          </a:prstGeom>
          <a:solidFill>
            <a:srgbClr val="FFFFFF"/>
          </a:solidFill>
          <a:ln w="9525">
            <a:solidFill>
              <a:srgbClr val="363A52"/>
            </a:solidFill>
          </a:ln>
        </p:spPr>
        <p:style>
          <a:lnRef idx="1">
            <a:schemeClr val="accent1"/>
          </a:lnRef>
          <a:fillRef idx="3">
            <a:schemeClr val="accent1"/>
          </a:fillRef>
          <a:effectRef idx="2">
            <a:schemeClr val="accent1"/>
          </a:effectRef>
          <a:fontRef idx="minor">
            <a:schemeClr val="lt1"/>
          </a:fontRef>
        </p:style>
        <p:txBody>
          <a:bodyPr wrap="square" lIns="0" rIns="0" anchor="ctr"/>
          <a:lstStyle/>
          <a:p>
            <a:pPr algn="ctr">
              <a:buNone/>
            </a:pPr>
            <a:endParaRPr/>
          </a:p>
        </p:txBody>
      </p:sp>
      <p:sp>
        <p:nvSpPr>
          <p:cNvPr id="6157" name="Rectangle 6158">
            <a:extLst>
              <a:ext uri="{FF2B5EF4-FFF2-40B4-BE49-F238E27FC236}">
                <a16:creationId xmlns:a16="http://schemas.microsoft.com/office/drawing/2014/main" id="{5281C0F4-6CF3-4204-98B3-4275EE36668B}"/>
              </a:ext>
            </a:extLst>
          </p:cNvPr>
          <p:cNvSpPr>
            <a:spLocks noGrp="1"/>
          </p:cNvSpPr>
          <p:nvPr/>
        </p:nvSpPr>
        <p:spPr>
          <a:xfrm>
            <a:off x="6968023" y="6467274"/>
            <a:ext cx="140000" cy="1500000"/>
          </a:xfrm>
          <a:prstGeom prst="rect">
            <a:avLst/>
          </a:prstGeom>
          <a:solidFill>
            <a:srgbClr val="FFFFFF"/>
          </a:solidFill>
          <a:ln w="9525">
            <a:solidFill>
              <a:srgbClr val="363A52"/>
            </a:solidFill>
          </a:ln>
        </p:spPr>
        <p:style>
          <a:lnRef idx="1">
            <a:schemeClr val="accent1"/>
          </a:lnRef>
          <a:fillRef idx="3">
            <a:schemeClr val="accent1"/>
          </a:fillRef>
          <a:effectRef idx="2">
            <a:schemeClr val="accent1"/>
          </a:effectRef>
          <a:fontRef idx="minor">
            <a:schemeClr val="lt1"/>
          </a:fontRef>
        </p:style>
        <p:txBody>
          <a:bodyPr wrap="square" lIns="0" rIns="0" anchor="ctr"/>
          <a:lstStyle/>
          <a:p>
            <a:pPr algn="ctr">
              <a:buNone/>
            </a:pPr>
            <a:endParaRPr/>
          </a:p>
        </p:txBody>
      </p:sp>
      <p:sp>
        <p:nvSpPr>
          <p:cNvPr id="6159" name="TextBox 6160">
            <a:extLst>
              <a:ext uri="{FF2B5EF4-FFF2-40B4-BE49-F238E27FC236}">
                <a16:creationId xmlns:a16="http://schemas.microsoft.com/office/drawing/2014/main" id="{42AF9DA0-A909-474A-B325-B0620BBE523F}"/>
              </a:ext>
            </a:extLst>
          </p:cNvPr>
          <p:cNvSpPr>
            <a:spLocks noGrp="1"/>
          </p:cNvSpPr>
          <p:nvPr/>
        </p:nvSpPr>
        <p:spPr>
          <a:xfrm>
            <a:off x="3008948" y="3157274"/>
            <a:ext cx="4029075"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대응제안 → 진화 탭, 구분 필터</a:t>
            </a:r>
          </a:p>
        </p:txBody>
      </p:sp>
      <p:sp>
        <p:nvSpPr>
          <p:cNvPr id="6161" name="Connector 6162">
            <a:extLst>
              <a:ext uri="{FF2B5EF4-FFF2-40B4-BE49-F238E27FC236}">
                <a16:creationId xmlns:a16="http://schemas.microsoft.com/office/drawing/2014/main" id="{8D318F79-2764-4305-8D74-C022268600A6}"/>
              </a:ext>
            </a:extLst>
          </p:cNvPr>
          <p:cNvSpPr>
            <a:spLocks noGrp="1"/>
          </p:cNvSpPr>
          <p:nvPr/>
        </p:nvSpPr>
        <p:spPr>
          <a:xfrm>
            <a:off x="3008948" y="3382274"/>
            <a:ext cx="3959075" cy="0"/>
          </a:xfrm>
          <a:prstGeom prst="line">
            <a:avLst/>
          </a:prstGeom>
          <a:ln w="1397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163" name="TextBox 6164">
            <a:extLst>
              <a:ext uri="{FF2B5EF4-FFF2-40B4-BE49-F238E27FC236}">
                <a16:creationId xmlns:a16="http://schemas.microsoft.com/office/drawing/2014/main" id="{34B7604C-70D7-484F-ACD6-1580C98347A1}"/>
              </a:ext>
            </a:extLst>
          </p:cNvPr>
          <p:cNvSpPr>
            <a:spLocks noGrp="1"/>
          </p:cNvSpPr>
          <p:nvPr/>
        </p:nvSpPr>
        <p:spPr>
          <a:xfrm>
            <a:off x="7038023" y="3407274"/>
            <a:ext cx="4029075"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GET /proposals/latest?axis=진화</a:t>
            </a:r>
          </a:p>
        </p:txBody>
      </p:sp>
      <p:sp>
        <p:nvSpPr>
          <p:cNvPr id="6165" name="Connector 6166">
            <a:extLst>
              <a:ext uri="{FF2B5EF4-FFF2-40B4-BE49-F238E27FC236}">
                <a16:creationId xmlns:a16="http://schemas.microsoft.com/office/drawing/2014/main" id="{06578213-1CF3-4001-BA8B-9515843AC0E5}"/>
              </a:ext>
            </a:extLst>
          </p:cNvPr>
          <p:cNvSpPr>
            <a:spLocks noGrp="1"/>
          </p:cNvSpPr>
          <p:nvPr/>
        </p:nvSpPr>
        <p:spPr>
          <a:xfrm>
            <a:off x="7108023" y="3632274"/>
            <a:ext cx="3889075" cy="0"/>
          </a:xfrm>
          <a:prstGeom prst="line">
            <a:avLst/>
          </a:prstGeom>
          <a:ln w="1397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167" name="TextBox 6168">
            <a:extLst>
              <a:ext uri="{FF2B5EF4-FFF2-40B4-BE49-F238E27FC236}">
                <a16:creationId xmlns:a16="http://schemas.microsoft.com/office/drawing/2014/main" id="{546B089F-F4D1-41C2-A4B9-3BDE38BEEAE9}"/>
              </a:ext>
            </a:extLst>
          </p:cNvPr>
          <p:cNvSpPr>
            <a:spLocks noGrp="1"/>
          </p:cNvSpPr>
          <p:nvPr/>
        </p:nvSpPr>
        <p:spPr>
          <a:xfrm>
            <a:off x="11067098" y="3657274"/>
            <a:ext cx="4029075"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최신 버전·항목 조회</a:t>
            </a:r>
          </a:p>
        </p:txBody>
      </p:sp>
      <p:sp>
        <p:nvSpPr>
          <p:cNvPr id="6169" name="Connector 6170">
            <a:extLst>
              <a:ext uri="{FF2B5EF4-FFF2-40B4-BE49-F238E27FC236}">
                <a16:creationId xmlns:a16="http://schemas.microsoft.com/office/drawing/2014/main" id="{6CD63CFA-6231-4E39-B3FE-7A36BC55DFA5}"/>
              </a:ext>
            </a:extLst>
          </p:cNvPr>
          <p:cNvSpPr>
            <a:spLocks noGrp="1"/>
          </p:cNvSpPr>
          <p:nvPr/>
        </p:nvSpPr>
        <p:spPr>
          <a:xfrm>
            <a:off x="11137098" y="3882274"/>
            <a:ext cx="3889075" cy="0"/>
          </a:xfrm>
          <a:prstGeom prst="line">
            <a:avLst/>
          </a:prstGeom>
          <a:ln w="1397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171" name="TextBox 6172">
            <a:extLst>
              <a:ext uri="{FF2B5EF4-FFF2-40B4-BE49-F238E27FC236}">
                <a16:creationId xmlns:a16="http://schemas.microsoft.com/office/drawing/2014/main" id="{A8D03E16-CD45-459A-AA40-31E7F7AD3680}"/>
              </a:ext>
            </a:extLst>
          </p:cNvPr>
          <p:cNvSpPr>
            <a:spLocks noGrp="1"/>
          </p:cNvSpPr>
          <p:nvPr/>
        </p:nvSpPr>
        <p:spPr>
          <a:xfrm>
            <a:off x="7038023" y="3907274"/>
            <a:ext cx="4029075"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버전 번호·사유 · 항목(S1~S7) · 구분 배지</a:t>
            </a:r>
          </a:p>
        </p:txBody>
      </p:sp>
      <p:sp>
        <p:nvSpPr>
          <p:cNvPr id="6173" name="Connector 6174">
            <a:extLst>
              <a:ext uri="{FF2B5EF4-FFF2-40B4-BE49-F238E27FC236}">
                <a16:creationId xmlns:a16="http://schemas.microsoft.com/office/drawing/2014/main" id="{42C9BBB3-1B96-46E1-890F-9E7E194811ED}"/>
              </a:ext>
            </a:extLst>
          </p:cNvPr>
          <p:cNvSpPr>
            <a:spLocks noGrp="1"/>
          </p:cNvSpPr>
          <p:nvPr/>
        </p:nvSpPr>
        <p:spPr>
          <a:xfrm flipH="1">
            <a:off x="7108023" y="4132274"/>
            <a:ext cx="3889075" cy="0"/>
          </a:xfrm>
          <a:prstGeom prst="line">
            <a:avLst/>
          </a:prstGeom>
          <a:ln w="13970">
            <a:solidFill>
              <a:srgbClr val="6B7080"/>
            </a:solidFill>
            <a:prstDash val="dash"/>
            <a:tailEnd type="arrow"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175" name="TextBox 6176">
            <a:extLst>
              <a:ext uri="{FF2B5EF4-FFF2-40B4-BE49-F238E27FC236}">
                <a16:creationId xmlns:a16="http://schemas.microsoft.com/office/drawing/2014/main" id="{689AEBC6-8D74-430E-A27D-9627C08A308C}"/>
              </a:ext>
            </a:extLst>
          </p:cNvPr>
          <p:cNvSpPr>
            <a:spLocks noGrp="1"/>
          </p:cNvSpPr>
          <p:nvPr/>
        </p:nvSpPr>
        <p:spPr>
          <a:xfrm>
            <a:off x="3008948" y="4157274"/>
            <a:ext cx="4029075"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진화 제안 목록 표시</a:t>
            </a:r>
          </a:p>
        </p:txBody>
      </p:sp>
      <p:sp>
        <p:nvSpPr>
          <p:cNvPr id="6177" name="Connector 6178">
            <a:extLst>
              <a:ext uri="{FF2B5EF4-FFF2-40B4-BE49-F238E27FC236}">
                <a16:creationId xmlns:a16="http://schemas.microsoft.com/office/drawing/2014/main" id="{765389E7-FAD1-4C4A-A64D-9B7B671A5032}"/>
              </a:ext>
            </a:extLst>
          </p:cNvPr>
          <p:cNvSpPr>
            <a:spLocks noGrp="1"/>
          </p:cNvSpPr>
          <p:nvPr/>
        </p:nvSpPr>
        <p:spPr>
          <a:xfrm flipH="1">
            <a:off x="3008948" y="4382274"/>
            <a:ext cx="3959075" cy="0"/>
          </a:xfrm>
          <a:prstGeom prst="line">
            <a:avLst/>
          </a:prstGeom>
          <a:ln w="13970">
            <a:solidFill>
              <a:srgbClr val="6B7080"/>
            </a:solidFill>
            <a:prstDash val="dash"/>
            <a:tailEnd type="arrow"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179" name="TextBox 6180">
            <a:extLst>
              <a:ext uri="{FF2B5EF4-FFF2-40B4-BE49-F238E27FC236}">
                <a16:creationId xmlns:a16="http://schemas.microsoft.com/office/drawing/2014/main" id="{B65D96F4-DFD3-4A37-9E52-C8CBCD0D92B5}"/>
              </a:ext>
            </a:extLst>
          </p:cNvPr>
          <p:cNvSpPr>
            <a:spLocks noGrp="1"/>
          </p:cNvSpPr>
          <p:nvPr/>
        </p:nvSpPr>
        <p:spPr>
          <a:xfrm>
            <a:off x="3008948" y="4627274"/>
            <a:ext cx="4029075"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항목 클릭해 펼침 → 근거 번호 [k] 클릭</a:t>
            </a:r>
          </a:p>
        </p:txBody>
      </p:sp>
      <p:sp>
        <p:nvSpPr>
          <p:cNvPr id="6181" name="Connector 6182">
            <a:extLst>
              <a:ext uri="{FF2B5EF4-FFF2-40B4-BE49-F238E27FC236}">
                <a16:creationId xmlns:a16="http://schemas.microsoft.com/office/drawing/2014/main" id="{73A167B0-6F38-4CE5-B35D-5B5B59AB0C6A}"/>
              </a:ext>
            </a:extLst>
          </p:cNvPr>
          <p:cNvSpPr>
            <a:spLocks noGrp="1"/>
          </p:cNvSpPr>
          <p:nvPr/>
        </p:nvSpPr>
        <p:spPr>
          <a:xfrm>
            <a:off x="3008948" y="4852274"/>
            <a:ext cx="3959075" cy="0"/>
          </a:xfrm>
          <a:prstGeom prst="line">
            <a:avLst/>
          </a:prstGeom>
          <a:ln w="1397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183" name="TextBox 6184">
            <a:extLst>
              <a:ext uri="{FF2B5EF4-FFF2-40B4-BE49-F238E27FC236}">
                <a16:creationId xmlns:a16="http://schemas.microsoft.com/office/drawing/2014/main" id="{3C17BB41-DFDD-4223-B360-5F9999B647EC}"/>
              </a:ext>
            </a:extLst>
          </p:cNvPr>
          <p:cNvSpPr>
            <a:spLocks noGrp="1"/>
          </p:cNvSpPr>
          <p:nvPr/>
        </p:nvSpPr>
        <p:spPr>
          <a:xfrm>
            <a:off x="7038023" y="4877274"/>
            <a:ext cx="4029075"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GET /items/{id}/citations/{k}</a:t>
            </a:r>
          </a:p>
        </p:txBody>
      </p:sp>
      <p:sp>
        <p:nvSpPr>
          <p:cNvPr id="6185" name="Connector 6186">
            <a:extLst>
              <a:ext uri="{FF2B5EF4-FFF2-40B4-BE49-F238E27FC236}">
                <a16:creationId xmlns:a16="http://schemas.microsoft.com/office/drawing/2014/main" id="{EE5C8AFF-FE37-490C-8490-2F62BE6D5FEF}"/>
              </a:ext>
            </a:extLst>
          </p:cNvPr>
          <p:cNvSpPr>
            <a:spLocks noGrp="1"/>
          </p:cNvSpPr>
          <p:nvPr/>
        </p:nvSpPr>
        <p:spPr>
          <a:xfrm>
            <a:off x="7108023" y="5102274"/>
            <a:ext cx="3889075" cy="0"/>
          </a:xfrm>
          <a:prstGeom prst="line">
            <a:avLst/>
          </a:prstGeom>
          <a:ln w="1397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187" name="TextBox 6188">
            <a:extLst>
              <a:ext uri="{FF2B5EF4-FFF2-40B4-BE49-F238E27FC236}">
                <a16:creationId xmlns:a16="http://schemas.microsoft.com/office/drawing/2014/main" id="{EB2DA16A-0945-4961-AD6F-34028D82E401}"/>
              </a:ext>
            </a:extLst>
          </p:cNvPr>
          <p:cNvSpPr>
            <a:spLocks noGrp="1"/>
          </p:cNvSpPr>
          <p:nvPr/>
        </p:nvSpPr>
        <p:spPr>
          <a:xfrm>
            <a:off x="11067098" y="5127274"/>
            <a:ext cx="4029075"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인용·청크 조회</a:t>
            </a:r>
          </a:p>
        </p:txBody>
      </p:sp>
      <p:sp>
        <p:nvSpPr>
          <p:cNvPr id="6189" name="Connector 6190">
            <a:extLst>
              <a:ext uri="{FF2B5EF4-FFF2-40B4-BE49-F238E27FC236}">
                <a16:creationId xmlns:a16="http://schemas.microsoft.com/office/drawing/2014/main" id="{44093475-C933-4497-A29B-1F55E6304747}"/>
              </a:ext>
            </a:extLst>
          </p:cNvPr>
          <p:cNvSpPr>
            <a:spLocks noGrp="1"/>
          </p:cNvSpPr>
          <p:nvPr/>
        </p:nvSpPr>
        <p:spPr>
          <a:xfrm>
            <a:off x="11137098" y="5352274"/>
            <a:ext cx="3889075" cy="0"/>
          </a:xfrm>
          <a:prstGeom prst="line">
            <a:avLst/>
          </a:prstGeom>
          <a:ln w="1397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191" name="TextBox 6192">
            <a:extLst>
              <a:ext uri="{FF2B5EF4-FFF2-40B4-BE49-F238E27FC236}">
                <a16:creationId xmlns:a16="http://schemas.microsoft.com/office/drawing/2014/main" id="{A726EA89-125C-4619-A532-7A7FFFE4055D}"/>
              </a:ext>
            </a:extLst>
          </p:cNvPr>
          <p:cNvSpPr>
            <a:spLocks noGrp="1"/>
          </p:cNvSpPr>
          <p:nvPr/>
        </p:nvSpPr>
        <p:spPr>
          <a:xfrm>
            <a:off x="7038023" y="5377274"/>
            <a:ext cx="4029075"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문서·쪽수·조항·요약</a:t>
            </a:r>
          </a:p>
        </p:txBody>
      </p:sp>
      <p:sp>
        <p:nvSpPr>
          <p:cNvPr id="6193" name="Connector 6194">
            <a:extLst>
              <a:ext uri="{FF2B5EF4-FFF2-40B4-BE49-F238E27FC236}">
                <a16:creationId xmlns:a16="http://schemas.microsoft.com/office/drawing/2014/main" id="{2B0A2007-668A-4343-A97F-5158A91858EF}"/>
              </a:ext>
            </a:extLst>
          </p:cNvPr>
          <p:cNvSpPr>
            <a:spLocks noGrp="1"/>
          </p:cNvSpPr>
          <p:nvPr/>
        </p:nvSpPr>
        <p:spPr>
          <a:xfrm flipH="1">
            <a:off x="7108023" y="5602274"/>
            <a:ext cx="3889075" cy="0"/>
          </a:xfrm>
          <a:prstGeom prst="line">
            <a:avLst/>
          </a:prstGeom>
          <a:ln w="13970">
            <a:solidFill>
              <a:srgbClr val="6B7080"/>
            </a:solidFill>
            <a:prstDash val="dash"/>
            <a:tailEnd type="arrow"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195" name="TextBox 6196">
            <a:extLst>
              <a:ext uri="{FF2B5EF4-FFF2-40B4-BE49-F238E27FC236}">
                <a16:creationId xmlns:a16="http://schemas.microsoft.com/office/drawing/2014/main" id="{0B381B88-0312-4BE8-AA5F-225595F89169}"/>
              </a:ext>
            </a:extLst>
          </p:cNvPr>
          <p:cNvSpPr>
            <a:spLocks noGrp="1"/>
          </p:cNvSpPr>
          <p:nvPr/>
        </p:nvSpPr>
        <p:spPr>
          <a:xfrm>
            <a:off x="3008948" y="5627274"/>
            <a:ext cx="4029075"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근거 창 표시</a:t>
            </a:r>
          </a:p>
        </p:txBody>
      </p:sp>
      <p:sp>
        <p:nvSpPr>
          <p:cNvPr id="6197" name="Connector 6198">
            <a:extLst>
              <a:ext uri="{FF2B5EF4-FFF2-40B4-BE49-F238E27FC236}">
                <a16:creationId xmlns:a16="http://schemas.microsoft.com/office/drawing/2014/main" id="{89D16975-B221-4530-B53A-292D8C05CA3E}"/>
              </a:ext>
            </a:extLst>
          </p:cNvPr>
          <p:cNvSpPr>
            <a:spLocks noGrp="1"/>
          </p:cNvSpPr>
          <p:nvPr/>
        </p:nvSpPr>
        <p:spPr>
          <a:xfrm flipH="1">
            <a:off x="3008948" y="5852274"/>
            <a:ext cx="3959075" cy="0"/>
          </a:xfrm>
          <a:prstGeom prst="line">
            <a:avLst/>
          </a:prstGeom>
          <a:ln w="13970">
            <a:solidFill>
              <a:srgbClr val="6B7080"/>
            </a:solidFill>
            <a:prstDash val="dash"/>
            <a:tailEnd type="arrow"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199" name="TextBox 6200">
            <a:extLst>
              <a:ext uri="{FF2B5EF4-FFF2-40B4-BE49-F238E27FC236}">
                <a16:creationId xmlns:a16="http://schemas.microsoft.com/office/drawing/2014/main" id="{8B0E0E2F-33C2-4965-9D23-3AFB9BA5EB18}"/>
              </a:ext>
            </a:extLst>
          </p:cNvPr>
          <p:cNvSpPr>
            <a:spLocks noGrp="1"/>
          </p:cNvSpPr>
          <p:nvPr/>
        </p:nvSpPr>
        <p:spPr>
          <a:xfrm>
            <a:off x="3008948" y="6242274"/>
            <a:ext cx="4029075"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이력 탭(제안이력 메뉴)</a:t>
            </a:r>
          </a:p>
        </p:txBody>
      </p:sp>
      <p:sp>
        <p:nvSpPr>
          <p:cNvPr id="6201" name="Connector 6202">
            <a:extLst>
              <a:ext uri="{FF2B5EF4-FFF2-40B4-BE49-F238E27FC236}">
                <a16:creationId xmlns:a16="http://schemas.microsoft.com/office/drawing/2014/main" id="{CF822B57-9B47-4305-8C17-EF15AB769E79}"/>
              </a:ext>
            </a:extLst>
          </p:cNvPr>
          <p:cNvSpPr>
            <a:spLocks noGrp="1"/>
          </p:cNvSpPr>
          <p:nvPr/>
        </p:nvSpPr>
        <p:spPr>
          <a:xfrm>
            <a:off x="3008948" y="6467274"/>
            <a:ext cx="3959075" cy="0"/>
          </a:xfrm>
          <a:prstGeom prst="line">
            <a:avLst/>
          </a:prstGeom>
          <a:ln w="1397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203" name="TextBox 6204">
            <a:extLst>
              <a:ext uri="{FF2B5EF4-FFF2-40B4-BE49-F238E27FC236}">
                <a16:creationId xmlns:a16="http://schemas.microsoft.com/office/drawing/2014/main" id="{02A720F3-E7CF-4BD8-93F5-00664EEC157E}"/>
              </a:ext>
            </a:extLst>
          </p:cNvPr>
          <p:cNvSpPr>
            <a:spLocks noGrp="1"/>
          </p:cNvSpPr>
          <p:nvPr/>
        </p:nvSpPr>
        <p:spPr>
          <a:xfrm>
            <a:off x="7038023" y="6492274"/>
            <a:ext cx="4029075"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GET /incidents/{id}/versions · /events</a:t>
            </a:r>
          </a:p>
        </p:txBody>
      </p:sp>
      <p:sp>
        <p:nvSpPr>
          <p:cNvPr id="6205" name="Connector 6206">
            <a:extLst>
              <a:ext uri="{FF2B5EF4-FFF2-40B4-BE49-F238E27FC236}">
                <a16:creationId xmlns:a16="http://schemas.microsoft.com/office/drawing/2014/main" id="{C10360C6-1810-4FE1-AFAF-6791CE39C334}"/>
              </a:ext>
            </a:extLst>
          </p:cNvPr>
          <p:cNvSpPr>
            <a:spLocks noGrp="1"/>
          </p:cNvSpPr>
          <p:nvPr/>
        </p:nvSpPr>
        <p:spPr>
          <a:xfrm>
            <a:off x="7108023" y="6717274"/>
            <a:ext cx="3889075" cy="0"/>
          </a:xfrm>
          <a:prstGeom prst="line">
            <a:avLst/>
          </a:prstGeom>
          <a:ln w="1397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207" name="TextBox 6208">
            <a:extLst>
              <a:ext uri="{FF2B5EF4-FFF2-40B4-BE49-F238E27FC236}">
                <a16:creationId xmlns:a16="http://schemas.microsoft.com/office/drawing/2014/main" id="{32C75C7E-C7A8-4E13-B7D5-200FA8AA8A55}"/>
              </a:ext>
            </a:extLst>
          </p:cNvPr>
          <p:cNvSpPr>
            <a:spLocks noGrp="1"/>
          </p:cNvSpPr>
          <p:nvPr/>
        </p:nvSpPr>
        <p:spPr>
          <a:xfrm>
            <a:off x="7038023" y="6742274"/>
            <a:ext cx="4029075"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버전별 사유·건수·변경 수, 이벤트 로그</a:t>
            </a:r>
          </a:p>
        </p:txBody>
      </p:sp>
      <p:sp>
        <p:nvSpPr>
          <p:cNvPr id="6209" name="Connector 6210">
            <a:extLst>
              <a:ext uri="{FF2B5EF4-FFF2-40B4-BE49-F238E27FC236}">
                <a16:creationId xmlns:a16="http://schemas.microsoft.com/office/drawing/2014/main" id="{E7710F46-4454-4676-B9EF-9B2EABCD72BD}"/>
              </a:ext>
            </a:extLst>
          </p:cNvPr>
          <p:cNvSpPr>
            <a:spLocks noGrp="1"/>
          </p:cNvSpPr>
          <p:nvPr/>
        </p:nvSpPr>
        <p:spPr>
          <a:xfrm flipH="1">
            <a:off x="7108023" y="6967274"/>
            <a:ext cx="3889075" cy="0"/>
          </a:xfrm>
          <a:prstGeom prst="line">
            <a:avLst/>
          </a:prstGeom>
          <a:ln w="13970">
            <a:solidFill>
              <a:srgbClr val="6B7080"/>
            </a:solidFill>
            <a:prstDash val="dash"/>
            <a:tailEnd type="arrow"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211" name="TextBox 6212">
            <a:extLst>
              <a:ext uri="{FF2B5EF4-FFF2-40B4-BE49-F238E27FC236}">
                <a16:creationId xmlns:a16="http://schemas.microsoft.com/office/drawing/2014/main" id="{8818BFCF-6CEE-47D9-942D-A40A519173D2}"/>
              </a:ext>
            </a:extLst>
          </p:cNvPr>
          <p:cNvSpPr>
            <a:spLocks noGrp="1"/>
          </p:cNvSpPr>
          <p:nvPr/>
        </p:nvSpPr>
        <p:spPr>
          <a:xfrm>
            <a:off x="3008948" y="6992274"/>
            <a:ext cx="4029075"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'변경' 태그 클릭(선택 시)</a:t>
            </a:r>
          </a:p>
        </p:txBody>
      </p:sp>
      <p:sp>
        <p:nvSpPr>
          <p:cNvPr id="6213" name="Connector 6214">
            <a:extLst>
              <a:ext uri="{FF2B5EF4-FFF2-40B4-BE49-F238E27FC236}">
                <a16:creationId xmlns:a16="http://schemas.microsoft.com/office/drawing/2014/main" id="{28940A31-6966-484E-AEE2-1F2342F28C87}"/>
              </a:ext>
            </a:extLst>
          </p:cNvPr>
          <p:cNvSpPr>
            <a:spLocks noGrp="1"/>
          </p:cNvSpPr>
          <p:nvPr/>
        </p:nvSpPr>
        <p:spPr>
          <a:xfrm>
            <a:off x="3008948" y="7217274"/>
            <a:ext cx="3959075" cy="0"/>
          </a:xfrm>
          <a:prstGeom prst="line">
            <a:avLst/>
          </a:prstGeom>
          <a:ln w="1397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215" name="TextBox 6216">
            <a:extLst>
              <a:ext uri="{FF2B5EF4-FFF2-40B4-BE49-F238E27FC236}">
                <a16:creationId xmlns:a16="http://schemas.microsoft.com/office/drawing/2014/main" id="{9D1E5C39-5200-4187-87D1-243172851B98}"/>
              </a:ext>
            </a:extLst>
          </p:cNvPr>
          <p:cNvSpPr>
            <a:spLocks noGrp="1"/>
          </p:cNvSpPr>
          <p:nvPr/>
        </p:nvSpPr>
        <p:spPr>
          <a:xfrm>
            <a:off x="7038023" y="7242274"/>
            <a:ext cx="4029075"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GET /proposals/{id}/diff</a:t>
            </a:r>
          </a:p>
        </p:txBody>
      </p:sp>
      <p:sp>
        <p:nvSpPr>
          <p:cNvPr id="6217" name="Connector 6218">
            <a:extLst>
              <a:ext uri="{FF2B5EF4-FFF2-40B4-BE49-F238E27FC236}">
                <a16:creationId xmlns:a16="http://schemas.microsoft.com/office/drawing/2014/main" id="{7E2F18F9-7B71-4CDB-ADB2-2EDEB15070DA}"/>
              </a:ext>
            </a:extLst>
          </p:cNvPr>
          <p:cNvSpPr>
            <a:spLocks noGrp="1"/>
          </p:cNvSpPr>
          <p:nvPr/>
        </p:nvSpPr>
        <p:spPr>
          <a:xfrm>
            <a:off x="7108023" y="7467274"/>
            <a:ext cx="3889075" cy="0"/>
          </a:xfrm>
          <a:prstGeom prst="line">
            <a:avLst/>
          </a:prstGeom>
          <a:ln w="1397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219" name="TextBox 6220">
            <a:extLst>
              <a:ext uri="{FF2B5EF4-FFF2-40B4-BE49-F238E27FC236}">
                <a16:creationId xmlns:a16="http://schemas.microsoft.com/office/drawing/2014/main" id="{7F9688A2-21F6-4ED1-92DA-10A75F94DE65}"/>
              </a:ext>
            </a:extLst>
          </p:cNvPr>
          <p:cNvSpPr>
            <a:spLocks noGrp="1"/>
          </p:cNvSpPr>
          <p:nvPr/>
        </p:nvSpPr>
        <p:spPr>
          <a:xfrm>
            <a:off x="7038023" y="7492274"/>
            <a:ext cx="4029075"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직전 버전 대비 이전·이후 문장</a:t>
            </a:r>
          </a:p>
        </p:txBody>
      </p:sp>
      <p:sp>
        <p:nvSpPr>
          <p:cNvPr id="6221" name="Connector 6222">
            <a:extLst>
              <a:ext uri="{FF2B5EF4-FFF2-40B4-BE49-F238E27FC236}">
                <a16:creationId xmlns:a16="http://schemas.microsoft.com/office/drawing/2014/main" id="{A1D2AAAA-7F40-49B3-8004-55D2CCFABF91}"/>
              </a:ext>
            </a:extLst>
          </p:cNvPr>
          <p:cNvSpPr>
            <a:spLocks noGrp="1"/>
          </p:cNvSpPr>
          <p:nvPr/>
        </p:nvSpPr>
        <p:spPr>
          <a:xfrm flipH="1">
            <a:off x="7108023" y="7717274"/>
            <a:ext cx="3889075" cy="0"/>
          </a:xfrm>
          <a:prstGeom prst="line">
            <a:avLst/>
          </a:prstGeom>
          <a:ln w="13970">
            <a:solidFill>
              <a:srgbClr val="6B7080"/>
            </a:solidFill>
            <a:prstDash val="dash"/>
            <a:tailEnd type="arrow"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223" name="TextBox 6224">
            <a:extLst>
              <a:ext uri="{FF2B5EF4-FFF2-40B4-BE49-F238E27FC236}">
                <a16:creationId xmlns:a16="http://schemas.microsoft.com/office/drawing/2014/main" id="{ACCD45F4-9F6A-4359-83C2-97BCFB8DED80}"/>
              </a:ext>
            </a:extLst>
          </p:cNvPr>
          <p:cNvSpPr>
            <a:spLocks noGrp="1"/>
          </p:cNvSpPr>
          <p:nvPr/>
        </p:nvSpPr>
        <p:spPr>
          <a:xfrm>
            <a:off x="3008948" y="7742274"/>
            <a:ext cx="4029075"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변경 내용 팝업 표시</a:t>
            </a:r>
          </a:p>
        </p:txBody>
      </p:sp>
      <p:sp>
        <p:nvSpPr>
          <p:cNvPr id="6225" name="Connector 6226">
            <a:extLst>
              <a:ext uri="{FF2B5EF4-FFF2-40B4-BE49-F238E27FC236}">
                <a16:creationId xmlns:a16="http://schemas.microsoft.com/office/drawing/2014/main" id="{088F177D-F7E6-49CB-AE6C-75870AC70735}"/>
              </a:ext>
            </a:extLst>
          </p:cNvPr>
          <p:cNvSpPr>
            <a:spLocks noGrp="1"/>
          </p:cNvSpPr>
          <p:nvPr/>
        </p:nvSpPr>
        <p:spPr>
          <a:xfrm flipH="1">
            <a:off x="3008948" y="7967274"/>
            <a:ext cx="3959075" cy="0"/>
          </a:xfrm>
          <a:prstGeom prst="line">
            <a:avLst/>
          </a:prstGeom>
          <a:ln w="13970">
            <a:solidFill>
              <a:srgbClr val="6B7080"/>
            </a:solidFill>
            <a:prstDash val="dash"/>
            <a:tailEnd type="arrow"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129" name="Rectangle 6130">
            <a:extLst>
              <a:ext uri="{FF2B5EF4-FFF2-40B4-BE49-F238E27FC236}">
                <a16:creationId xmlns:a16="http://schemas.microsoft.com/office/drawing/2014/main" id="{C18F7372-B7C8-4E6B-AEA5-5FC72B2E9230}"/>
              </a:ext>
            </a:extLst>
          </p:cNvPr>
          <p:cNvSpPr>
            <a:spLocks noGrp="1"/>
          </p:cNvSpPr>
          <p:nvPr/>
        </p:nvSpPr>
        <p:spPr>
          <a:xfrm>
            <a:off x="1655178" y="4407274"/>
            <a:ext cx="14794765" cy="1555000"/>
          </a:xfrm>
          <a:prstGeom prst="rect">
            <a:avLst/>
          </a:prstGeom>
          <a:noFill/>
          <a:ln w="12700">
            <a:solidFill>
              <a:srgbClr val="FAA95A"/>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endParaRPr/>
          </a:p>
        </p:txBody>
      </p:sp>
      <p:sp>
        <p:nvSpPr>
          <p:cNvPr id="6131" name="Rectangle 6132">
            <a:extLst>
              <a:ext uri="{FF2B5EF4-FFF2-40B4-BE49-F238E27FC236}">
                <a16:creationId xmlns:a16="http://schemas.microsoft.com/office/drawing/2014/main" id="{4116ECFF-8F39-4273-82FB-1F448904B2F3}"/>
              </a:ext>
            </a:extLst>
          </p:cNvPr>
          <p:cNvSpPr>
            <a:spLocks noGrp="1"/>
          </p:cNvSpPr>
          <p:nvPr/>
        </p:nvSpPr>
        <p:spPr>
          <a:xfrm>
            <a:off x="1655178" y="4407274"/>
            <a:ext cx="708660" cy="241401"/>
          </a:xfrm>
          <a:prstGeom prst="rect">
            <a:avLst/>
          </a:prstGeom>
          <a:solidFill>
            <a:srgbClr val="FDEBD9"/>
          </a:solidFill>
          <a:ln w="12700">
            <a:solidFill>
              <a:srgbClr val="FAA95A"/>
            </a:solidFill>
          </a:ln>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algn="ctr">
              <a:buNone/>
            </a:pPr>
            <a:r>
              <a:rPr sz="1050" b="1">
                <a:solidFill>
                  <a:srgbClr val="B5601C"/>
                </a:solidFill>
                <a:latin typeface="210 OmniGothic 040"/>
                <a:ea typeface="210 OmniGothic 040"/>
                <a:cs typeface="210 OmniGothic 040"/>
              </a:rPr>
              <a:t>opt</a:t>
            </a:r>
          </a:p>
        </p:txBody>
      </p:sp>
      <p:sp>
        <p:nvSpPr>
          <p:cNvPr id="6133" name="TextBox 6134">
            <a:extLst>
              <a:ext uri="{FF2B5EF4-FFF2-40B4-BE49-F238E27FC236}">
                <a16:creationId xmlns:a16="http://schemas.microsoft.com/office/drawing/2014/main" id="{2B88A92C-A868-49E0-A936-B343CE73818F}"/>
              </a:ext>
            </a:extLst>
          </p:cNvPr>
          <p:cNvSpPr>
            <a:spLocks noGrp="1"/>
          </p:cNvSpPr>
          <p:nvPr/>
        </p:nvSpPr>
        <p:spPr>
          <a:xfrm>
            <a:off x="2463838" y="4417332"/>
            <a:ext cx="5715000" cy="241401"/>
          </a:xfrm>
          <a:prstGeom prst="rect">
            <a:avLst/>
          </a:prstGeom>
          <a:noFill/>
        </p:spPr>
        <p:txBody>
          <a:bodyPr wrap="square" lIns="0" tIns="0" rIns="0" bIns="0" anchor="t">
            <a:spAutoFit/>
          </a:bodyPr>
          <a:lstStyle/>
          <a:p>
            <a:pPr algn="l">
              <a:buNone/>
            </a:pPr>
            <a:r>
              <a:rPr sz="1100" b="0">
                <a:solidFill>
                  <a:srgbClr val="2E3142"/>
                </a:solidFill>
                <a:latin typeface="210 OmniGothic 040"/>
                <a:ea typeface="210 OmniGothic 040"/>
                <a:cs typeface="210 OmniGothic 040"/>
              </a:rPr>
              <a:t>[UC-PROP-03] 근거 조회 — 근거 번호 [k] 클릭</a:t>
            </a:r>
          </a:p>
        </p:txBody>
      </p:sp>
      <p:sp>
        <p:nvSpPr>
          <p:cNvPr id="6135" name="Rectangle 6136">
            <a:extLst>
              <a:ext uri="{FF2B5EF4-FFF2-40B4-BE49-F238E27FC236}">
                <a16:creationId xmlns:a16="http://schemas.microsoft.com/office/drawing/2014/main" id="{175074C7-81E1-4385-8A73-2B91338470CB}"/>
              </a:ext>
            </a:extLst>
          </p:cNvPr>
          <p:cNvSpPr>
            <a:spLocks noGrp="1"/>
          </p:cNvSpPr>
          <p:nvPr/>
        </p:nvSpPr>
        <p:spPr>
          <a:xfrm>
            <a:off x="1655178" y="5987274"/>
            <a:ext cx="14794765" cy="2090000"/>
          </a:xfrm>
          <a:prstGeom prst="rect">
            <a:avLst/>
          </a:prstGeom>
          <a:noFill/>
          <a:ln w="12700">
            <a:solidFill>
              <a:srgbClr val="FAA95A"/>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endParaRPr/>
          </a:p>
        </p:txBody>
      </p:sp>
      <p:sp>
        <p:nvSpPr>
          <p:cNvPr id="6137" name="Rectangle 6138">
            <a:extLst>
              <a:ext uri="{FF2B5EF4-FFF2-40B4-BE49-F238E27FC236}">
                <a16:creationId xmlns:a16="http://schemas.microsoft.com/office/drawing/2014/main" id="{27CF8064-7CB4-4767-84BB-00E47DF5C2EA}"/>
              </a:ext>
            </a:extLst>
          </p:cNvPr>
          <p:cNvSpPr>
            <a:spLocks noGrp="1"/>
          </p:cNvSpPr>
          <p:nvPr/>
        </p:nvSpPr>
        <p:spPr>
          <a:xfrm>
            <a:off x="1655178" y="5987274"/>
            <a:ext cx="708660" cy="241401"/>
          </a:xfrm>
          <a:prstGeom prst="rect">
            <a:avLst/>
          </a:prstGeom>
          <a:solidFill>
            <a:srgbClr val="FDEBD9"/>
          </a:solidFill>
          <a:ln w="12700">
            <a:solidFill>
              <a:srgbClr val="FAA95A"/>
            </a:solidFill>
          </a:ln>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algn="ctr">
              <a:buNone/>
            </a:pPr>
            <a:r>
              <a:rPr sz="1050" b="1">
                <a:solidFill>
                  <a:srgbClr val="B5601C"/>
                </a:solidFill>
                <a:latin typeface="210 OmniGothic 040"/>
                <a:ea typeface="210 OmniGothic 040"/>
                <a:cs typeface="210 OmniGothic 040"/>
              </a:rPr>
              <a:t>opt</a:t>
            </a:r>
          </a:p>
        </p:txBody>
      </p:sp>
      <p:sp>
        <p:nvSpPr>
          <p:cNvPr id="6139" name="TextBox 6140">
            <a:extLst>
              <a:ext uri="{FF2B5EF4-FFF2-40B4-BE49-F238E27FC236}">
                <a16:creationId xmlns:a16="http://schemas.microsoft.com/office/drawing/2014/main" id="{C8F47EAD-3280-4562-9301-866158411E72}"/>
              </a:ext>
            </a:extLst>
          </p:cNvPr>
          <p:cNvSpPr>
            <a:spLocks noGrp="1"/>
          </p:cNvSpPr>
          <p:nvPr/>
        </p:nvSpPr>
        <p:spPr>
          <a:xfrm>
            <a:off x="2463838" y="5997332"/>
            <a:ext cx="5715000" cy="241401"/>
          </a:xfrm>
          <a:prstGeom prst="rect">
            <a:avLst/>
          </a:prstGeom>
          <a:noFill/>
        </p:spPr>
        <p:txBody>
          <a:bodyPr wrap="square" lIns="0" tIns="0" rIns="0" bIns="0" anchor="t">
            <a:spAutoFit/>
          </a:bodyPr>
          <a:lstStyle/>
          <a:p>
            <a:pPr algn="l">
              <a:buNone/>
            </a:pPr>
            <a:r>
              <a:rPr sz="1100" b="0">
                <a:solidFill>
                  <a:srgbClr val="2E3142"/>
                </a:solidFill>
                <a:latin typeface="210 OmniGothic 040"/>
                <a:ea typeface="210 OmniGothic 040"/>
                <a:cs typeface="210 OmniGothic 040"/>
              </a:rPr>
              <a:t>[UC-PROP-04] 제안 이력·변경사항 조회</a:t>
            </a:r>
          </a:p>
        </p:txBody>
      </p:sp>
    </p:spTree>
    <p:extLst>
      <p:ext uri="{BB962C8B-B14F-4D97-AF65-F5344CB8AC3E}">
        <p14:creationId xmlns:p14="http://schemas.microsoft.com/office/powerpoint/2010/main" val="167175631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360" name="Picture 2"/>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700" y="-12700"/>
            <a:ext cx="18313400" cy="1638300"/>
          </a:xfrm>
          <a:prstGeom prst="rect">
            <a:avLst/>
          </a:prstGeom>
        </p:spPr>
      </p:pic>
      <p:pic>
        <p:nvPicPr>
          <p:cNvPr id="6361" name="Picture 4"/>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28" y="1618343"/>
            <a:ext cx="18313400" cy="8699500"/>
          </a:xfrm>
          <a:prstGeom prst="rect">
            <a:avLst/>
          </a:prstGeom>
        </p:spPr>
      </p:pic>
      <p:pic>
        <p:nvPicPr>
          <p:cNvPr id="6362" name="Picture 5"/>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58800" y="9271000"/>
            <a:ext cx="17170400" cy="50800"/>
          </a:xfrm>
          <a:prstGeom prst="rect">
            <a:avLst/>
          </a:prstGeom>
        </p:spPr>
      </p:pic>
      <p:pic>
        <p:nvPicPr>
          <p:cNvPr id="6363" name="Picture 3"/>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5278100" y="203200"/>
            <a:ext cx="1676400" cy="1409700"/>
          </a:xfrm>
          <a:prstGeom prst="rect">
            <a:avLst/>
          </a:prstGeom>
        </p:spPr>
      </p:pic>
      <p:sp>
        <p:nvSpPr>
          <p:cNvPr id="5221" name="Title">
            <a:extLst>
              <a:ext uri="{FF2B5EF4-FFF2-40B4-BE49-F238E27FC236}">
                <a16:creationId xmlns:a16="http://schemas.microsoft.com/office/drawing/2014/main" id="{9B7B5B8B-1B81-4D28-BAD3-DD0F27C5226F}"/>
              </a:ext>
            </a:extLst>
          </p:cNvPr>
          <p:cNvSpPr>
            <a:spLocks noGrp="1"/>
          </p:cNvSpPr>
          <p:nvPr/>
        </p:nvSpPr>
        <p:spPr>
          <a:xfrm>
            <a:off x="822960" y="384048"/>
            <a:ext cx="13258800" cy="877824"/>
          </a:xfrm>
          <a:prstGeom prst="rect">
            <a:avLst/>
          </a:prstGeom>
          <a:noFill/>
        </p:spPr>
        <p:txBody>
          <a:bodyPr wrap="square" lIns="0" tIns="0" rIns="0" bIns="0" anchor="ctr">
            <a:spAutoFit/>
          </a:bodyPr>
          <a:lstStyle/>
          <a:p>
            <a:pPr algn="l">
              <a:buNone/>
            </a:pPr>
            <a:r>
              <a:rPr sz="4400" b="0">
                <a:solidFill>
                  <a:srgbClr val="FAA95A"/>
                </a:solidFill>
                <a:latin typeface="210 OmniGothic 050"/>
                <a:ea typeface="210 OmniGothic 050"/>
                <a:cs typeface="210 OmniGothic 050"/>
              </a:rPr>
              <a:t>04. 시퀀스 다이어그램</a:t>
            </a:r>
          </a:p>
        </p:txBody>
      </p:sp>
      <p:sp>
        <p:nvSpPr>
          <p:cNvPr id="5222" name="Subtitle">
            <a:extLst>
              <a:ext uri="{FF2B5EF4-FFF2-40B4-BE49-F238E27FC236}">
                <a16:creationId xmlns:a16="http://schemas.microsoft.com/office/drawing/2014/main" id="{D204784F-7DE1-46D9-9BBC-13651EE0868A}"/>
              </a:ext>
            </a:extLst>
          </p:cNvPr>
          <p:cNvSpPr>
            <a:spLocks noGrp="1"/>
          </p:cNvSpPr>
          <p:nvPr/>
        </p:nvSpPr>
        <p:spPr>
          <a:xfrm>
            <a:off x="822960" y="1764792"/>
            <a:ext cx="16642080" cy="502920"/>
          </a:xfrm>
          <a:prstGeom prst="rect">
            <a:avLst/>
          </a:prstGeom>
          <a:noFill/>
        </p:spPr>
        <p:txBody>
          <a:bodyPr wrap="square" lIns="0" tIns="0" rIns="0" bIns="0" anchor="ctr">
            <a:spAutoFit/>
          </a:bodyPr>
          <a:lstStyle/>
          <a:p>
            <a:pPr algn="ctr">
              <a:buNone/>
            </a:pPr>
            <a:r>
              <a:rPr sz="2600" b="1">
                <a:solidFill>
                  <a:srgbClr val="363A52"/>
                </a:solidFill>
                <a:latin typeface="210 OmniGothic 040"/>
                <a:ea typeface="210 OmniGothic 040"/>
                <a:cs typeface="210 OmniGothic 040"/>
              </a:rPr>
              <a:t>대피 제안 열람 · 근거 조회 · 이력·변경사항 조회  (UC-PROP-02)</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idx="12"/>
          </p:nvPr>
        </p:nvSpPr>
        <p:spPr/>
        <p:txBody>
          <a:bodyPr/>
          <a:lstStyle/>
          <a:p>
            <a:fld id="{B6F15528-21DE-4FAA-801E-634DDDAF4B2B}" type="slidenum">
              <a:t>45</a:t>
            </a:fld>
            <a:endParaRPr/>
          </a:p>
        </p:txBody>
      </p:sp>
      <p:sp>
        <p:nvSpPr>
          <p:cNvPr id="6341" name="Rounded Rectangle 6342">
            <a:extLst>
              <a:ext uri="{FF2B5EF4-FFF2-40B4-BE49-F238E27FC236}">
                <a16:creationId xmlns:a16="http://schemas.microsoft.com/office/drawing/2014/main" id="{AE17461C-0CF9-4BA0-ADB7-835D8017B800}"/>
              </a:ext>
            </a:extLst>
          </p:cNvPr>
          <p:cNvSpPr>
            <a:spLocks noGrp="1"/>
          </p:cNvSpPr>
          <p:nvPr/>
        </p:nvSpPr>
        <p:spPr>
          <a:xfrm>
            <a:off x="1865948" y="2446020"/>
            <a:ext cx="2286000" cy="462686"/>
          </a:xfrm>
          <a:prstGeom prst="roundRect">
            <a:avLst>
              <a:gd name="adj" fmla="val 10000"/>
            </a:avLst>
          </a:prstGeom>
          <a:solidFill>
            <a:srgbClr val="E6E9F1"/>
          </a:solidFill>
          <a:ln w="12700">
            <a:solidFill>
              <a:srgbClr val="B6BCCB"/>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r>
              <a:rPr sz="1250" b="1">
                <a:solidFill>
                  <a:srgbClr val="2E3142"/>
                </a:solidFill>
                <a:latin typeface="210 OmniGothic 040"/>
                <a:ea typeface="210 OmniGothic 040"/>
                <a:cs typeface="210 OmniGothic 040"/>
              </a:rPr>
              <a:t>통합지휘권자</a:t>
            </a:r>
          </a:p>
        </p:txBody>
      </p:sp>
      <p:sp>
        <p:nvSpPr>
          <p:cNvPr id="6343" name="Connector 6344">
            <a:extLst>
              <a:ext uri="{FF2B5EF4-FFF2-40B4-BE49-F238E27FC236}">
                <a16:creationId xmlns:a16="http://schemas.microsoft.com/office/drawing/2014/main" id="{DA490454-2B85-434B-B1E7-D64F48E18261}"/>
              </a:ext>
            </a:extLst>
          </p:cNvPr>
          <p:cNvSpPr>
            <a:spLocks noGrp="1"/>
          </p:cNvSpPr>
          <p:nvPr/>
        </p:nvSpPr>
        <p:spPr>
          <a:xfrm>
            <a:off x="3008948" y="2908706"/>
            <a:ext cx="0" cy="6145682"/>
          </a:xfrm>
          <a:prstGeom prst="line">
            <a:avLst/>
          </a:prstGeom>
          <a:ln w="11430">
            <a:solidFill>
              <a:srgbClr val="A3A8B8"/>
            </a:solidFill>
            <a:prstDash val="dash"/>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345" name="Rounded Rectangle 6346">
            <a:extLst>
              <a:ext uri="{FF2B5EF4-FFF2-40B4-BE49-F238E27FC236}">
                <a16:creationId xmlns:a16="http://schemas.microsoft.com/office/drawing/2014/main" id="{47026461-FF95-4C2E-A495-F0F543B31FE6}"/>
              </a:ext>
            </a:extLst>
          </p:cNvPr>
          <p:cNvSpPr>
            <a:spLocks noGrp="1"/>
          </p:cNvSpPr>
          <p:nvPr/>
        </p:nvSpPr>
        <p:spPr>
          <a:xfrm>
            <a:off x="5895023" y="2446020"/>
            <a:ext cx="2286000" cy="462686"/>
          </a:xfrm>
          <a:prstGeom prst="roundRect">
            <a:avLst>
              <a:gd name="adj" fmla="val 10000"/>
            </a:avLst>
          </a:prstGeom>
          <a:solidFill>
            <a:srgbClr val="E6E9F1"/>
          </a:solidFill>
          <a:ln w="12700">
            <a:solidFill>
              <a:srgbClr val="B6BCCB"/>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r>
              <a:rPr sz="1250" b="1">
                <a:solidFill>
                  <a:srgbClr val="2E3142"/>
                </a:solidFill>
                <a:latin typeface="210 OmniGothic 040"/>
                <a:ea typeface="210 OmniGothic 040"/>
                <a:cs typeface="210 OmniGothic 040"/>
              </a:rPr>
              <a:t>프론트엔드</a:t>
            </a:r>
          </a:p>
        </p:txBody>
      </p:sp>
      <p:sp>
        <p:nvSpPr>
          <p:cNvPr id="6347" name="Connector 6348">
            <a:extLst>
              <a:ext uri="{FF2B5EF4-FFF2-40B4-BE49-F238E27FC236}">
                <a16:creationId xmlns:a16="http://schemas.microsoft.com/office/drawing/2014/main" id="{FFD4047E-5842-4049-982E-38A03FA0B230}"/>
              </a:ext>
            </a:extLst>
          </p:cNvPr>
          <p:cNvSpPr>
            <a:spLocks noGrp="1"/>
          </p:cNvSpPr>
          <p:nvPr/>
        </p:nvSpPr>
        <p:spPr>
          <a:xfrm>
            <a:off x="7038023" y="2908706"/>
            <a:ext cx="0" cy="6145682"/>
          </a:xfrm>
          <a:prstGeom prst="line">
            <a:avLst/>
          </a:prstGeom>
          <a:ln w="11430">
            <a:solidFill>
              <a:srgbClr val="A3A8B8"/>
            </a:solidFill>
            <a:prstDash val="dash"/>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349" name="Rounded Rectangle 6350">
            <a:extLst>
              <a:ext uri="{FF2B5EF4-FFF2-40B4-BE49-F238E27FC236}">
                <a16:creationId xmlns:a16="http://schemas.microsoft.com/office/drawing/2014/main" id="{3A7C6047-F4D4-4FDC-97A6-5DA3440A479C}"/>
              </a:ext>
            </a:extLst>
          </p:cNvPr>
          <p:cNvSpPr>
            <a:spLocks noGrp="1"/>
          </p:cNvSpPr>
          <p:nvPr/>
        </p:nvSpPr>
        <p:spPr>
          <a:xfrm>
            <a:off x="9924098" y="2446020"/>
            <a:ext cx="2286000" cy="462686"/>
          </a:xfrm>
          <a:prstGeom prst="roundRect">
            <a:avLst>
              <a:gd name="adj" fmla="val 10000"/>
            </a:avLst>
          </a:prstGeom>
          <a:solidFill>
            <a:srgbClr val="E6E9F1"/>
          </a:solidFill>
          <a:ln w="12700">
            <a:solidFill>
              <a:srgbClr val="B6BCCB"/>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r>
              <a:rPr sz="1250" b="1">
                <a:solidFill>
                  <a:srgbClr val="2E3142"/>
                </a:solidFill>
                <a:latin typeface="210 OmniGothic 040"/>
                <a:ea typeface="210 OmniGothic 040"/>
                <a:cs typeface="210 OmniGothic 040"/>
              </a:rPr>
              <a:t>ProposalRouter</a:t>
            </a:r>
          </a:p>
        </p:txBody>
      </p:sp>
      <p:sp>
        <p:nvSpPr>
          <p:cNvPr id="6351" name="Connector 6352">
            <a:extLst>
              <a:ext uri="{FF2B5EF4-FFF2-40B4-BE49-F238E27FC236}">
                <a16:creationId xmlns:a16="http://schemas.microsoft.com/office/drawing/2014/main" id="{99D04BCC-A573-48D9-BA69-35B36460C112}"/>
              </a:ext>
            </a:extLst>
          </p:cNvPr>
          <p:cNvSpPr>
            <a:spLocks noGrp="1"/>
          </p:cNvSpPr>
          <p:nvPr/>
        </p:nvSpPr>
        <p:spPr>
          <a:xfrm>
            <a:off x="11067098" y="2908706"/>
            <a:ext cx="0" cy="6145682"/>
          </a:xfrm>
          <a:prstGeom prst="line">
            <a:avLst/>
          </a:prstGeom>
          <a:ln w="11430">
            <a:solidFill>
              <a:srgbClr val="A3A8B8"/>
            </a:solidFill>
            <a:prstDash val="dash"/>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353" name="Rounded Rectangle 6354">
            <a:extLst>
              <a:ext uri="{FF2B5EF4-FFF2-40B4-BE49-F238E27FC236}">
                <a16:creationId xmlns:a16="http://schemas.microsoft.com/office/drawing/2014/main" id="{95A0E5F6-4A37-4963-843D-45CCFE289EA9}"/>
              </a:ext>
            </a:extLst>
          </p:cNvPr>
          <p:cNvSpPr>
            <a:spLocks noGrp="1"/>
          </p:cNvSpPr>
          <p:nvPr/>
        </p:nvSpPr>
        <p:spPr>
          <a:xfrm>
            <a:off x="13953173" y="2446020"/>
            <a:ext cx="2286000" cy="462686"/>
          </a:xfrm>
          <a:prstGeom prst="roundRect">
            <a:avLst>
              <a:gd name="adj" fmla="val 10000"/>
            </a:avLst>
          </a:prstGeom>
          <a:solidFill>
            <a:srgbClr val="E6E9F1"/>
          </a:solidFill>
          <a:ln w="12700">
            <a:solidFill>
              <a:srgbClr val="B6BCCB"/>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r>
              <a:rPr sz="1250" b="1">
                <a:solidFill>
                  <a:srgbClr val="2E3142"/>
                </a:solidFill>
                <a:latin typeface="210 OmniGothic 040"/>
                <a:ea typeface="210 OmniGothic 040"/>
                <a:cs typeface="210 OmniGothic 040"/>
              </a:rPr>
              <a:t>DB</a:t>
            </a:r>
          </a:p>
        </p:txBody>
      </p:sp>
      <p:sp>
        <p:nvSpPr>
          <p:cNvPr id="6355" name="Connector 6356">
            <a:extLst>
              <a:ext uri="{FF2B5EF4-FFF2-40B4-BE49-F238E27FC236}">
                <a16:creationId xmlns:a16="http://schemas.microsoft.com/office/drawing/2014/main" id="{43085E45-C664-4938-8D66-36907A03201C}"/>
              </a:ext>
            </a:extLst>
          </p:cNvPr>
          <p:cNvSpPr>
            <a:spLocks noGrp="1"/>
          </p:cNvSpPr>
          <p:nvPr/>
        </p:nvSpPr>
        <p:spPr>
          <a:xfrm>
            <a:off x="15096173" y="2908706"/>
            <a:ext cx="0" cy="6145682"/>
          </a:xfrm>
          <a:prstGeom prst="line">
            <a:avLst/>
          </a:prstGeom>
          <a:ln w="11430">
            <a:solidFill>
              <a:srgbClr val="A3A8B8"/>
            </a:solidFill>
            <a:prstDash val="dash"/>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255" name="Rectangle 6256">
            <a:extLst>
              <a:ext uri="{FF2B5EF4-FFF2-40B4-BE49-F238E27FC236}">
                <a16:creationId xmlns:a16="http://schemas.microsoft.com/office/drawing/2014/main" id="{E852052D-24EA-4D67-96EB-5F326C7D374D}"/>
              </a:ext>
            </a:extLst>
          </p:cNvPr>
          <p:cNvSpPr>
            <a:spLocks noGrp="1"/>
          </p:cNvSpPr>
          <p:nvPr/>
        </p:nvSpPr>
        <p:spPr>
          <a:xfrm>
            <a:off x="15026173" y="3882274"/>
            <a:ext cx="140000" cy="15000"/>
          </a:xfrm>
          <a:prstGeom prst="rect">
            <a:avLst/>
          </a:prstGeom>
          <a:solidFill>
            <a:srgbClr val="FFFFFF"/>
          </a:solidFill>
          <a:ln w="9525">
            <a:solidFill>
              <a:srgbClr val="363A52"/>
            </a:solidFill>
          </a:ln>
        </p:spPr>
        <p:style>
          <a:lnRef idx="1">
            <a:schemeClr val="accent1"/>
          </a:lnRef>
          <a:fillRef idx="3">
            <a:schemeClr val="accent1"/>
          </a:fillRef>
          <a:effectRef idx="2">
            <a:schemeClr val="accent1"/>
          </a:effectRef>
          <a:fontRef idx="minor">
            <a:schemeClr val="lt1"/>
          </a:fontRef>
        </p:style>
        <p:txBody>
          <a:bodyPr wrap="square" lIns="0" rIns="0" anchor="ctr"/>
          <a:lstStyle/>
          <a:p>
            <a:pPr algn="ctr">
              <a:buNone/>
            </a:pPr>
            <a:endParaRPr/>
          </a:p>
        </p:txBody>
      </p:sp>
      <p:sp>
        <p:nvSpPr>
          <p:cNvPr id="6257" name="Rectangle 6258">
            <a:extLst>
              <a:ext uri="{FF2B5EF4-FFF2-40B4-BE49-F238E27FC236}">
                <a16:creationId xmlns:a16="http://schemas.microsoft.com/office/drawing/2014/main" id="{162847C8-BEEE-4A63-B3EF-0C8F373EAC36}"/>
              </a:ext>
            </a:extLst>
          </p:cNvPr>
          <p:cNvSpPr>
            <a:spLocks noGrp="1"/>
          </p:cNvSpPr>
          <p:nvPr/>
        </p:nvSpPr>
        <p:spPr>
          <a:xfrm>
            <a:off x="10997098" y="3632274"/>
            <a:ext cx="140000" cy="500000"/>
          </a:xfrm>
          <a:prstGeom prst="rect">
            <a:avLst/>
          </a:prstGeom>
          <a:solidFill>
            <a:srgbClr val="FFFFFF"/>
          </a:solidFill>
          <a:ln w="9525">
            <a:solidFill>
              <a:srgbClr val="363A52"/>
            </a:solidFill>
          </a:ln>
        </p:spPr>
        <p:style>
          <a:lnRef idx="1">
            <a:schemeClr val="accent1"/>
          </a:lnRef>
          <a:fillRef idx="3">
            <a:schemeClr val="accent1"/>
          </a:fillRef>
          <a:effectRef idx="2">
            <a:schemeClr val="accent1"/>
          </a:effectRef>
          <a:fontRef idx="minor">
            <a:schemeClr val="lt1"/>
          </a:fontRef>
        </p:style>
        <p:txBody>
          <a:bodyPr wrap="square" lIns="0" rIns="0" anchor="ctr"/>
          <a:lstStyle/>
          <a:p>
            <a:pPr algn="ctr">
              <a:buNone/>
            </a:pPr>
            <a:endParaRPr/>
          </a:p>
        </p:txBody>
      </p:sp>
      <p:sp>
        <p:nvSpPr>
          <p:cNvPr id="6259" name="Rectangle 6260">
            <a:extLst>
              <a:ext uri="{FF2B5EF4-FFF2-40B4-BE49-F238E27FC236}">
                <a16:creationId xmlns:a16="http://schemas.microsoft.com/office/drawing/2014/main" id="{1C2BDD40-FA81-4E69-9FEE-1303901653AA}"/>
              </a:ext>
            </a:extLst>
          </p:cNvPr>
          <p:cNvSpPr>
            <a:spLocks noGrp="1"/>
          </p:cNvSpPr>
          <p:nvPr/>
        </p:nvSpPr>
        <p:spPr>
          <a:xfrm>
            <a:off x="6968023" y="3382274"/>
            <a:ext cx="140000" cy="1000000"/>
          </a:xfrm>
          <a:prstGeom prst="rect">
            <a:avLst/>
          </a:prstGeom>
          <a:solidFill>
            <a:srgbClr val="FFFFFF"/>
          </a:solidFill>
          <a:ln w="9525">
            <a:solidFill>
              <a:srgbClr val="363A52"/>
            </a:solidFill>
          </a:ln>
        </p:spPr>
        <p:style>
          <a:lnRef idx="1">
            <a:schemeClr val="accent1"/>
          </a:lnRef>
          <a:fillRef idx="3">
            <a:schemeClr val="accent1"/>
          </a:fillRef>
          <a:effectRef idx="2">
            <a:schemeClr val="accent1"/>
          </a:effectRef>
          <a:fontRef idx="minor">
            <a:schemeClr val="lt1"/>
          </a:fontRef>
        </p:style>
        <p:txBody>
          <a:bodyPr wrap="square" lIns="0" rIns="0" anchor="ctr"/>
          <a:lstStyle/>
          <a:p>
            <a:pPr algn="ctr">
              <a:buNone/>
            </a:pPr>
            <a:endParaRPr/>
          </a:p>
        </p:txBody>
      </p:sp>
      <p:sp>
        <p:nvSpPr>
          <p:cNvPr id="6261" name="Rectangle 6262">
            <a:extLst>
              <a:ext uri="{FF2B5EF4-FFF2-40B4-BE49-F238E27FC236}">
                <a16:creationId xmlns:a16="http://schemas.microsoft.com/office/drawing/2014/main" id="{14AFD015-8DFA-4D6A-8EC3-9BE0A829E5CF}"/>
              </a:ext>
            </a:extLst>
          </p:cNvPr>
          <p:cNvSpPr>
            <a:spLocks noGrp="1"/>
          </p:cNvSpPr>
          <p:nvPr/>
        </p:nvSpPr>
        <p:spPr>
          <a:xfrm>
            <a:off x="15026173" y="5352274"/>
            <a:ext cx="140000" cy="15000"/>
          </a:xfrm>
          <a:prstGeom prst="rect">
            <a:avLst/>
          </a:prstGeom>
          <a:solidFill>
            <a:srgbClr val="FFFFFF"/>
          </a:solidFill>
          <a:ln w="9525">
            <a:solidFill>
              <a:srgbClr val="363A52"/>
            </a:solidFill>
          </a:ln>
        </p:spPr>
        <p:style>
          <a:lnRef idx="1">
            <a:schemeClr val="accent1"/>
          </a:lnRef>
          <a:fillRef idx="3">
            <a:schemeClr val="accent1"/>
          </a:fillRef>
          <a:effectRef idx="2">
            <a:schemeClr val="accent1"/>
          </a:effectRef>
          <a:fontRef idx="minor">
            <a:schemeClr val="lt1"/>
          </a:fontRef>
        </p:style>
        <p:txBody>
          <a:bodyPr wrap="square" lIns="0" rIns="0" anchor="ctr"/>
          <a:lstStyle/>
          <a:p>
            <a:pPr algn="ctr">
              <a:buNone/>
            </a:pPr>
            <a:endParaRPr/>
          </a:p>
        </p:txBody>
      </p:sp>
      <p:sp>
        <p:nvSpPr>
          <p:cNvPr id="6263" name="Rectangle 6264">
            <a:extLst>
              <a:ext uri="{FF2B5EF4-FFF2-40B4-BE49-F238E27FC236}">
                <a16:creationId xmlns:a16="http://schemas.microsoft.com/office/drawing/2014/main" id="{97AE21B9-0A41-431D-9F85-B7F43E98138B}"/>
              </a:ext>
            </a:extLst>
          </p:cNvPr>
          <p:cNvSpPr>
            <a:spLocks noGrp="1"/>
          </p:cNvSpPr>
          <p:nvPr/>
        </p:nvSpPr>
        <p:spPr>
          <a:xfrm>
            <a:off x="10997098" y="5102274"/>
            <a:ext cx="140000" cy="500000"/>
          </a:xfrm>
          <a:prstGeom prst="rect">
            <a:avLst/>
          </a:prstGeom>
          <a:solidFill>
            <a:srgbClr val="FFFFFF"/>
          </a:solidFill>
          <a:ln w="9525">
            <a:solidFill>
              <a:srgbClr val="363A52"/>
            </a:solidFill>
          </a:ln>
        </p:spPr>
        <p:style>
          <a:lnRef idx="1">
            <a:schemeClr val="accent1"/>
          </a:lnRef>
          <a:fillRef idx="3">
            <a:schemeClr val="accent1"/>
          </a:fillRef>
          <a:effectRef idx="2">
            <a:schemeClr val="accent1"/>
          </a:effectRef>
          <a:fontRef idx="minor">
            <a:schemeClr val="lt1"/>
          </a:fontRef>
        </p:style>
        <p:txBody>
          <a:bodyPr wrap="square" lIns="0" rIns="0" anchor="ctr"/>
          <a:lstStyle/>
          <a:p>
            <a:pPr algn="ctr">
              <a:buNone/>
            </a:pPr>
            <a:endParaRPr/>
          </a:p>
        </p:txBody>
      </p:sp>
      <p:sp>
        <p:nvSpPr>
          <p:cNvPr id="6265" name="Rectangle 6266">
            <a:extLst>
              <a:ext uri="{FF2B5EF4-FFF2-40B4-BE49-F238E27FC236}">
                <a16:creationId xmlns:a16="http://schemas.microsoft.com/office/drawing/2014/main" id="{25943066-E90F-4564-BF99-A6AB733F7AD8}"/>
              </a:ext>
            </a:extLst>
          </p:cNvPr>
          <p:cNvSpPr>
            <a:spLocks noGrp="1"/>
          </p:cNvSpPr>
          <p:nvPr/>
        </p:nvSpPr>
        <p:spPr>
          <a:xfrm>
            <a:off x="6968023" y="4852274"/>
            <a:ext cx="140000" cy="1000000"/>
          </a:xfrm>
          <a:prstGeom prst="rect">
            <a:avLst/>
          </a:prstGeom>
          <a:solidFill>
            <a:srgbClr val="FFFFFF"/>
          </a:solidFill>
          <a:ln w="9525">
            <a:solidFill>
              <a:srgbClr val="363A52"/>
            </a:solidFill>
          </a:ln>
        </p:spPr>
        <p:style>
          <a:lnRef idx="1">
            <a:schemeClr val="accent1"/>
          </a:lnRef>
          <a:fillRef idx="3">
            <a:schemeClr val="accent1"/>
          </a:fillRef>
          <a:effectRef idx="2">
            <a:schemeClr val="accent1"/>
          </a:effectRef>
          <a:fontRef idx="minor">
            <a:schemeClr val="lt1"/>
          </a:fontRef>
        </p:style>
        <p:txBody>
          <a:bodyPr wrap="square" lIns="0" rIns="0" anchor="ctr"/>
          <a:lstStyle/>
          <a:p>
            <a:pPr algn="ctr">
              <a:buNone/>
            </a:pPr>
            <a:endParaRPr/>
          </a:p>
        </p:txBody>
      </p:sp>
      <p:sp>
        <p:nvSpPr>
          <p:cNvPr id="6267" name="Rectangle 6268">
            <a:extLst>
              <a:ext uri="{FF2B5EF4-FFF2-40B4-BE49-F238E27FC236}">
                <a16:creationId xmlns:a16="http://schemas.microsoft.com/office/drawing/2014/main" id="{C0B51AD3-5D8B-4A70-A51E-5F2FBE601D72}"/>
              </a:ext>
            </a:extLst>
          </p:cNvPr>
          <p:cNvSpPr>
            <a:spLocks noGrp="1"/>
          </p:cNvSpPr>
          <p:nvPr/>
        </p:nvSpPr>
        <p:spPr>
          <a:xfrm>
            <a:off x="10997098" y="6717274"/>
            <a:ext cx="140000" cy="250000"/>
          </a:xfrm>
          <a:prstGeom prst="rect">
            <a:avLst/>
          </a:prstGeom>
          <a:solidFill>
            <a:srgbClr val="FFFFFF"/>
          </a:solidFill>
          <a:ln w="9525">
            <a:solidFill>
              <a:srgbClr val="363A52"/>
            </a:solidFill>
          </a:ln>
        </p:spPr>
        <p:style>
          <a:lnRef idx="1">
            <a:schemeClr val="accent1"/>
          </a:lnRef>
          <a:fillRef idx="3">
            <a:schemeClr val="accent1"/>
          </a:fillRef>
          <a:effectRef idx="2">
            <a:schemeClr val="accent1"/>
          </a:effectRef>
          <a:fontRef idx="minor">
            <a:schemeClr val="lt1"/>
          </a:fontRef>
        </p:style>
        <p:txBody>
          <a:bodyPr wrap="square" lIns="0" rIns="0" anchor="ctr"/>
          <a:lstStyle/>
          <a:p>
            <a:pPr algn="ctr">
              <a:buNone/>
            </a:pPr>
            <a:endParaRPr/>
          </a:p>
        </p:txBody>
      </p:sp>
      <p:sp>
        <p:nvSpPr>
          <p:cNvPr id="6269" name="Rectangle 6270">
            <a:extLst>
              <a:ext uri="{FF2B5EF4-FFF2-40B4-BE49-F238E27FC236}">
                <a16:creationId xmlns:a16="http://schemas.microsoft.com/office/drawing/2014/main" id="{780A4E62-AB5F-435F-B315-9846AB1C8422}"/>
              </a:ext>
            </a:extLst>
          </p:cNvPr>
          <p:cNvSpPr>
            <a:spLocks noGrp="1"/>
          </p:cNvSpPr>
          <p:nvPr/>
        </p:nvSpPr>
        <p:spPr>
          <a:xfrm>
            <a:off x="10997098" y="7467274"/>
            <a:ext cx="140000" cy="250000"/>
          </a:xfrm>
          <a:prstGeom prst="rect">
            <a:avLst/>
          </a:prstGeom>
          <a:solidFill>
            <a:srgbClr val="FFFFFF"/>
          </a:solidFill>
          <a:ln w="9525">
            <a:solidFill>
              <a:srgbClr val="363A52"/>
            </a:solidFill>
          </a:ln>
        </p:spPr>
        <p:style>
          <a:lnRef idx="1">
            <a:schemeClr val="accent1"/>
          </a:lnRef>
          <a:fillRef idx="3">
            <a:schemeClr val="accent1"/>
          </a:fillRef>
          <a:effectRef idx="2">
            <a:schemeClr val="accent1"/>
          </a:effectRef>
          <a:fontRef idx="minor">
            <a:schemeClr val="lt1"/>
          </a:fontRef>
        </p:style>
        <p:txBody>
          <a:bodyPr wrap="square" lIns="0" rIns="0" anchor="ctr"/>
          <a:lstStyle/>
          <a:p>
            <a:pPr algn="ctr">
              <a:buNone/>
            </a:pPr>
            <a:endParaRPr/>
          </a:p>
        </p:txBody>
      </p:sp>
      <p:sp>
        <p:nvSpPr>
          <p:cNvPr id="6271" name="Rectangle 6272">
            <a:extLst>
              <a:ext uri="{FF2B5EF4-FFF2-40B4-BE49-F238E27FC236}">
                <a16:creationId xmlns:a16="http://schemas.microsoft.com/office/drawing/2014/main" id="{475180E6-63BE-4E08-AE32-47C4BA67FA64}"/>
              </a:ext>
            </a:extLst>
          </p:cNvPr>
          <p:cNvSpPr>
            <a:spLocks noGrp="1"/>
          </p:cNvSpPr>
          <p:nvPr/>
        </p:nvSpPr>
        <p:spPr>
          <a:xfrm>
            <a:off x="6968023" y="6467274"/>
            <a:ext cx="140000" cy="1500000"/>
          </a:xfrm>
          <a:prstGeom prst="rect">
            <a:avLst/>
          </a:prstGeom>
          <a:solidFill>
            <a:srgbClr val="FFFFFF"/>
          </a:solidFill>
          <a:ln w="9525">
            <a:solidFill>
              <a:srgbClr val="363A52"/>
            </a:solidFill>
          </a:ln>
        </p:spPr>
        <p:style>
          <a:lnRef idx="1">
            <a:schemeClr val="accent1"/>
          </a:lnRef>
          <a:fillRef idx="3">
            <a:schemeClr val="accent1"/>
          </a:fillRef>
          <a:effectRef idx="2">
            <a:schemeClr val="accent1"/>
          </a:effectRef>
          <a:fontRef idx="minor">
            <a:schemeClr val="lt1"/>
          </a:fontRef>
        </p:style>
        <p:txBody>
          <a:bodyPr wrap="square" lIns="0" rIns="0" anchor="ctr"/>
          <a:lstStyle/>
          <a:p>
            <a:pPr algn="ctr">
              <a:buNone/>
            </a:pPr>
            <a:endParaRPr/>
          </a:p>
        </p:txBody>
      </p:sp>
      <p:sp>
        <p:nvSpPr>
          <p:cNvPr id="6273" name="TextBox 6274">
            <a:extLst>
              <a:ext uri="{FF2B5EF4-FFF2-40B4-BE49-F238E27FC236}">
                <a16:creationId xmlns:a16="http://schemas.microsoft.com/office/drawing/2014/main" id="{BBB3E9F2-16AB-4CA4-8C6E-D67EE326BDBC}"/>
              </a:ext>
            </a:extLst>
          </p:cNvPr>
          <p:cNvSpPr>
            <a:spLocks noGrp="1"/>
          </p:cNvSpPr>
          <p:nvPr/>
        </p:nvSpPr>
        <p:spPr>
          <a:xfrm>
            <a:off x="3008948" y="3157274"/>
            <a:ext cx="4029075"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대응제안 → 대피 탭, 구분 필터</a:t>
            </a:r>
          </a:p>
        </p:txBody>
      </p:sp>
      <p:sp>
        <p:nvSpPr>
          <p:cNvPr id="6275" name="Connector 6276">
            <a:extLst>
              <a:ext uri="{FF2B5EF4-FFF2-40B4-BE49-F238E27FC236}">
                <a16:creationId xmlns:a16="http://schemas.microsoft.com/office/drawing/2014/main" id="{1E96A605-F487-4F10-9E93-E7CBF43D4063}"/>
              </a:ext>
            </a:extLst>
          </p:cNvPr>
          <p:cNvSpPr>
            <a:spLocks noGrp="1"/>
          </p:cNvSpPr>
          <p:nvPr/>
        </p:nvSpPr>
        <p:spPr>
          <a:xfrm>
            <a:off x="3008948" y="3382274"/>
            <a:ext cx="3959075" cy="0"/>
          </a:xfrm>
          <a:prstGeom prst="line">
            <a:avLst/>
          </a:prstGeom>
          <a:ln w="1397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277" name="TextBox 6278">
            <a:extLst>
              <a:ext uri="{FF2B5EF4-FFF2-40B4-BE49-F238E27FC236}">
                <a16:creationId xmlns:a16="http://schemas.microsoft.com/office/drawing/2014/main" id="{367122EA-5CA2-477B-A453-5BF07DF67605}"/>
              </a:ext>
            </a:extLst>
          </p:cNvPr>
          <p:cNvSpPr>
            <a:spLocks noGrp="1"/>
          </p:cNvSpPr>
          <p:nvPr/>
        </p:nvSpPr>
        <p:spPr>
          <a:xfrm>
            <a:off x="7038023" y="3407274"/>
            <a:ext cx="4029075"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GET /proposals/latest?axis=대피</a:t>
            </a:r>
          </a:p>
        </p:txBody>
      </p:sp>
      <p:sp>
        <p:nvSpPr>
          <p:cNvPr id="6279" name="Connector 6280">
            <a:extLst>
              <a:ext uri="{FF2B5EF4-FFF2-40B4-BE49-F238E27FC236}">
                <a16:creationId xmlns:a16="http://schemas.microsoft.com/office/drawing/2014/main" id="{01F256A0-9E23-4071-9CB9-CE78F3465B12}"/>
              </a:ext>
            </a:extLst>
          </p:cNvPr>
          <p:cNvSpPr>
            <a:spLocks noGrp="1"/>
          </p:cNvSpPr>
          <p:nvPr/>
        </p:nvSpPr>
        <p:spPr>
          <a:xfrm>
            <a:off x="7108023" y="3632274"/>
            <a:ext cx="3889075" cy="0"/>
          </a:xfrm>
          <a:prstGeom prst="line">
            <a:avLst/>
          </a:prstGeom>
          <a:ln w="1397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281" name="TextBox 6282">
            <a:extLst>
              <a:ext uri="{FF2B5EF4-FFF2-40B4-BE49-F238E27FC236}">
                <a16:creationId xmlns:a16="http://schemas.microsoft.com/office/drawing/2014/main" id="{9F5D6906-6A7C-4DD9-AF43-D7AC7EBC3713}"/>
              </a:ext>
            </a:extLst>
          </p:cNvPr>
          <p:cNvSpPr>
            <a:spLocks noGrp="1"/>
          </p:cNvSpPr>
          <p:nvPr/>
        </p:nvSpPr>
        <p:spPr>
          <a:xfrm>
            <a:off x="11067098" y="3657274"/>
            <a:ext cx="4029075"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최신 버전·항목 조회</a:t>
            </a:r>
          </a:p>
        </p:txBody>
      </p:sp>
      <p:sp>
        <p:nvSpPr>
          <p:cNvPr id="6283" name="Connector 6284">
            <a:extLst>
              <a:ext uri="{FF2B5EF4-FFF2-40B4-BE49-F238E27FC236}">
                <a16:creationId xmlns:a16="http://schemas.microsoft.com/office/drawing/2014/main" id="{19760F10-A6F1-495D-86E1-980891BD55E2}"/>
              </a:ext>
            </a:extLst>
          </p:cNvPr>
          <p:cNvSpPr>
            <a:spLocks noGrp="1"/>
          </p:cNvSpPr>
          <p:nvPr/>
        </p:nvSpPr>
        <p:spPr>
          <a:xfrm>
            <a:off x="11137098" y="3882274"/>
            <a:ext cx="3889075" cy="0"/>
          </a:xfrm>
          <a:prstGeom prst="line">
            <a:avLst/>
          </a:prstGeom>
          <a:ln w="1397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285" name="TextBox 6286">
            <a:extLst>
              <a:ext uri="{FF2B5EF4-FFF2-40B4-BE49-F238E27FC236}">
                <a16:creationId xmlns:a16="http://schemas.microsoft.com/office/drawing/2014/main" id="{F363EA26-58B5-40C1-9190-1F531FFCDBF2}"/>
              </a:ext>
            </a:extLst>
          </p:cNvPr>
          <p:cNvSpPr>
            <a:spLocks noGrp="1"/>
          </p:cNvSpPr>
          <p:nvPr/>
        </p:nvSpPr>
        <p:spPr>
          <a:xfrm>
            <a:off x="7038023" y="3907274"/>
            <a:ext cx="4029075"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버전 번호·사유 · 항목(E1~E7) · 구분 배지</a:t>
            </a:r>
          </a:p>
        </p:txBody>
      </p:sp>
      <p:sp>
        <p:nvSpPr>
          <p:cNvPr id="6287" name="Connector 6288">
            <a:extLst>
              <a:ext uri="{FF2B5EF4-FFF2-40B4-BE49-F238E27FC236}">
                <a16:creationId xmlns:a16="http://schemas.microsoft.com/office/drawing/2014/main" id="{14E2CD22-6AA9-421E-B1A7-32916CA07F1B}"/>
              </a:ext>
            </a:extLst>
          </p:cNvPr>
          <p:cNvSpPr>
            <a:spLocks noGrp="1"/>
          </p:cNvSpPr>
          <p:nvPr/>
        </p:nvSpPr>
        <p:spPr>
          <a:xfrm flipH="1">
            <a:off x="7108023" y="4132274"/>
            <a:ext cx="3889075" cy="0"/>
          </a:xfrm>
          <a:prstGeom prst="line">
            <a:avLst/>
          </a:prstGeom>
          <a:ln w="13970">
            <a:solidFill>
              <a:srgbClr val="6B7080"/>
            </a:solidFill>
            <a:prstDash val="dash"/>
            <a:tailEnd type="arrow"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289" name="TextBox 6290">
            <a:extLst>
              <a:ext uri="{FF2B5EF4-FFF2-40B4-BE49-F238E27FC236}">
                <a16:creationId xmlns:a16="http://schemas.microsoft.com/office/drawing/2014/main" id="{A0D75CCA-C93F-406A-A96F-87EBC6FF2450}"/>
              </a:ext>
            </a:extLst>
          </p:cNvPr>
          <p:cNvSpPr>
            <a:spLocks noGrp="1"/>
          </p:cNvSpPr>
          <p:nvPr/>
        </p:nvSpPr>
        <p:spPr>
          <a:xfrm>
            <a:off x="3008948" y="4157274"/>
            <a:ext cx="4029075"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대피 제안 목록 표시</a:t>
            </a:r>
          </a:p>
        </p:txBody>
      </p:sp>
      <p:sp>
        <p:nvSpPr>
          <p:cNvPr id="6291" name="Connector 6292">
            <a:extLst>
              <a:ext uri="{FF2B5EF4-FFF2-40B4-BE49-F238E27FC236}">
                <a16:creationId xmlns:a16="http://schemas.microsoft.com/office/drawing/2014/main" id="{BAD6286A-A68B-40CA-8BC8-889F2EDF5828}"/>
              </a:ext>
            </a:extLst>
          </p:cNvPr>
          <p:cNvSpPr>
            <a:spLocks noGrp="1"/>
          </p:cNvSpPr>
          <p:nvPr/>
        </p:nvSpPr>
        <p:spPr>
          <a:xfrm flipH="1">
            <a:off x="3008948" y="4382274"/>
            <a:ext cx="3959075" cy="0"/>
          </a:xfrm>
          <a:prstGeom prst="line">
            <a:avLst/>
          </a:prstGeom>
          <a:ln w="13970">
            <a:solidFill>
              <a:srgbClr val="6B7080"/>
            </a:solidFill>
            <a:prstDash val="dash"/>
            <a:tailEnd type="arrow"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293" name="TextBox 6294">
            <a:extLst>
              <a:ext uri="{FF2B5EF4-FFF2-40B4-BE49-F238E27FC236}">
                <a16:creationId xmlns:a16="http://schemas.microsoft.com/office/drawing/2014/main" id="{F6AF547A-90E7-44DC-B5D3-CD817B6CD72D}"/>
              </a:ext>
            </a:extLst>
          </p:cNvPr>
          <p:cNvSpPr>
            <a:spLocks noGrp="1"/>
          </p:cNvSpPr>
          <p:nvPr/>
        </p:nvSpPr>
        <p:spPr>
          <a:xfrm>
            <a:off x="3008948" y="4627274"/>
            <a:ext cx="4029075"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항목 클릭해 펼침 → 근거 번호 [k] 클릭</a:t>
            </a:r>
          </a:p>
        </p:txBody>
      </p:sp>
      <p:sp>
        <p:nvSpPr>
          <p:cNvPr id="6295" name="Connector 6296">
            <a:extLst>
              <a:ext uri="{FF2B5EF4-FFF2-40B4-BE49-F238E27FC236}">
                <a16:creationId xmlns:a16="http://schemas.microsoft.com/office/drawing/2014/main" id="{5D2544F2-DBD8-4F39-928F-3AFFE688E8E5}"/>
              </a:ext>
            </a:extLst>
          </p:cNvPr>
          <p:cNvSpPr>
            <a:spLocks noGrp="1"/>
          </p:cNvSpPr>
          <p:nvPr/>
        </p:nvSpPr>
        <p:spPr>
          <a:xfrm>
            <a:off x="3008948" y="4852274"/>
            <a:ext cx="3959075" cy="0"/>
          </a:xfrm>
          <a:prstGeom prst="line">
            <a:avLst/>
          </a:prstGeom>
          <a:ln w="1397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297" name="TextBox 6298">
            <a:extLst>
              <a:ext uri="{FF2B5EF4-FFF2-40B4-BE49-F238E27FC236}">
                <a16:creationId xmlns:a16="http://schemas.microsoft.com/office/drawing/2014/main" id="{3E2BA7F0-4E82-44D4-AA75-61F0485B5820}"/>
              </a:ext>
            </a:extLst>
          </p:cNvPr>
          <p:cNvSpPr>
            <a:spLocks noGrp="1"/>
          </p:cNvSpPr>
          <p:nvPr/>
        </p:nvSpPr>
        <p:spPr>
          <a:xfrm>
            <a:off x="7038023" y="4877274"/>
            <a:ext cx="4029075"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GET /items/{id}/citations/{k}</a:t>
            </a:r>
          </a:p>
        </p:txBody>
      </p:sp>
      <p:sp>
        <p:nvSpPr>
          <p:cNvPr id="6299" name="Connector 6300">
            <a:extLst>
              <a:ext uri="{FF2B5EF4-FFF2-40B4-BE49-F238E27FC236}">
                <a16:creationId xmlns:a16="http://schemas.microsoft.com/office/drawing/2014/main" id="{B0E48994-0A53-46D4-BFD0-957B588B320D}"/>
              </a:ext>
            </a:extLst>
          </p:cNvPr>
          <p:cNvSpPr>
            <a:spLocks noGrp="1"/>
          </p:cNvSpPr>
          <p:nvPr/>
        </p:nvSpPr>
        <p:spPr>
          <a:xfrm>
            <a:off x="7108023" y="5102274"/>
            <a:ext cx="3889075" cy="0"/>
          </a:xfrm>
          <a:prstGeom prst="line">
            <a:avLst/>
          </a:prstGeom>
          <a:ln w="1397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301" name="TextBox 6302">
            <a:extLst>
              <a:ext uri="{FF2B5EF4-FFF2-40B4-BE49-F238E27FC236}">
                <a16:creationId xmlns:a16="http://schemas.microsoft.com/office/drawing/2014/main" id="{29CE2534-D859-45B5-B022-87AF8716B877}"/>
              </a:ext>
            </a:extLst>
          </p:cNvPr>
          <p:cNvSpPr>
            <a:spLocks noGrp="1"/>
          </p:cNvSpPr>
          <p:nvPr/>
        </p:nvSpPr>
        <p:spPr>
          <a:xfrm>
            <a:off x="11067098" y="5127274"/>
            <a:ext cx="4029075"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인용·청크 조회</a:t>
            </a:r>
          </a:p>
        </p:txBody>
      </p:sp>
      <p:sp>
        <p:nvSpPr>
          <p:cNvPr id="6303" name="Connector 6304">
            <a:extLst>
              <a:ext uri="{FF2B5EF4-FFF2-40B4-BE49-F238E27FC236}">
                <a16:creationId xmlns:a16="http://schemas.microsoft.com/office/drawing/2014/main" id="{7DE16998-3928-4C29-BB26-C473AF43500B}"/>
              </a:ext>
            </a:extLst>
          </p:cNvPr>
          <p:cNvSpPr>
            <a:spLocks noGrp="1"/>
          </p:cNvSpPr>
          <p:nvPr/>
        </p:nvSpPr>
        <p:spPr>
          <a:xfrm>
            <a:off x="11137098" y="5352274"/>
            <a:ext cx="3889075" cy="0"/>
          </a:xfrm>
          <a:prstGeom prst="line">
            <a:avLst/>
          </a:prstGeom>
          <a:ln w="1397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305" name="TextBox 6306">
            <a:extLst>
              <a:ext uri="{FF2B5EF4-FFF2-40B4-BE49-F238E27FC236}">
                <a16:creationId xmlns:a16="http://schemas.microsoft.com/office/drawing/2014/main" id="{F4F53284-6905-43E4-8E92-0CA8F7D2E962}"/>
              </a:ext>
            </a:extLst>
          </p:cNvPr>
          <p:cNvSpPr>
            <a:spLocks noGrp="1"/>
          </p:cNvSpPr>
          <p:nvPr/>
        </p:nvSpPr>
        <p:spPr>
          <a:xfrm>
            <a:off x="7038023" y="5377274"/>
            <a:ext cx="4029075"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문서·쪽수·조항·요약</a:t>
            </a:r>
          </a:p>
        </p:txBody>
      </p:sp>
      <p:sp>
        <p:nvSpPr>
          <p:cNvPr id="6307" name="Connector 6308">
            <a:extLst>
              <a:ext uri="{FF2B5EF4-FFF2-40B4-BE49-F238E27FC236}">
                <a16:creationId xmlns:a16="http://schemas.microsoft.com/office/drawing/2014/main" id="{6334FEFD-F57E-461F-A4A1-97B684A2A973}"/>
              </a:ext>
            </a:extLst>
          </p:cNvPr>
          <p:cNvSpPr>
            <a:spLocks noGrp="1"/>
          </p:cNvSpPr>
          <p:nvPr/>
        </p:nvSpPr>
        <p:spPr>
          <a:xfrm flipH="1">
            <a:off x="7108023" y="5602274"/>
            <a:ext cx="3889075" cy="0"/>
          </a:xfrm>
          <a:prstGeom prst="line">
            <a:avLst/>
          </a:prstGeom>
          <a:ln w="13970">
            <a:solidFill>
              <a:srgbClr val="6B7080"/>
            </a:solidFill>
            <a:prstDash val="dash"/>
            <a:tailEnd type="arrow"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309" name="TextBox 6310">
            <a:extLst>
              <a:ext uri="{FF2B5EF4-FFF2-40B4-BE49-F238E27FC236}">
                <a16:creationId xmlns:a16="http://schemas.microsoft.com/office/drawing/2014/main" id="{6AF4B103-6632-4D2E-8023-0E733053EC3B}"/>
              </a:ext>
            </a:extLst>
          </p:cNvPr>
          <p:cNvSpPr>
            <a:spLocks noGrp="1"/>
          </p:cNvSpPr>
          <p:nvPr/>
        </p:nvSpPr>
        <p:spPr>
          <a:xfrm>
            <a:off x="3008948" y="5627274"/>
            <a:ext cx="4029075"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근거 창 표시</a:t>
            </a:r>
          </a:p>
        </p:txBody>
      </p:sp>
      <p:sp>
        <p:nvSpPr>
          <p:cNvPr id="6311" name="Connector 6312">
            <a:extLst>
              <a:ext uri="{FF2B5EF4-FFF2-40B4-BE49-F238E27FC236}">
                <a16:creationId xmlns:a16="http://schemas.microsoft.com/office/drawing/2014/main" id="{ABF0A485-28B6-40EE-8314-1CA5C57A545C}"/>
              </a:ext>
            </a:extLst>
          </p:cNvPr>
          <p:cNvSpPr>
            <a:spLocks noGrp="1"/>
          </p:cNvSpPr>
          <p:nvPr/>
        </p:nvSpPr>
        <p:spPr>
          <a:xfrm flipH="1">
            <a:off x="3008948" y="5852274"/>
            <a:ext cx="3959075" cy="0"/>
          </a:xfrm>
          <a:prstGeom prst="line">
            <a:avLst/>
          </a:prstGeom>
          <a:ln w="13970">
            <a:solidFill>
              <a:srgbClr val="6B7080"/>
            </a:solidFill>
            <a:prstDash val="dash"/>
            <a:tailEnd type="arrow"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313" name="TextBox 6314">
            <a:extLst>
              <a:ext uri="{FF2B5EF4-FFF2-40B4-BE49-F238E27FC236}">
                <a16:creationId xmlns:a16="http://schemas.microsoft.com/office/drawing/2014/main" id="{99904F3C-28A9-43B0-BB37-17895DC168F5}"/>
              </a:ext>
            </a:extLst>
          </p:cNvPr>
          <p:cNvSpPr>
            <a:spLocks noGrp="1"/>
          </p:cNvSpPr>
          <p:nvPr/>
        </p:nvSpPr>
        <p:spPr>
          <a:xfrm>
            <a:off x="3008948" y="6242274"/>
            <a:ext cx="4029075"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이력 탭(제안이력 메뉴)</a:t>
            </a:r>
          </a:p>
        </p:txBody>
      </p:sp>
      <p:sp>
        <p:nvSpPr>
          <p:cNvPr id="6315" name="Connector 6316">
            <a:extLst>
              <a:ext uri="{FF2B5EF4-FFF2-40B4-BE49-F238E27FC236}">
                <a16:creationId xmlns:a16="http://schemas.microsoft.com/office/drawing/2014/main" id="{5623CA9E-40A5-46E4-825A-A1C1F8022DB6}"/>
              </a:ext>
            </a:extLst>
          </p:cNvPr>
          <p:cNvSpPr>
            <a:spLocks noGrp="1"/>
          </p:cNvSpPr>
          <p:nvPr/>
        </p:nvSpPr>
        <p:spPr>
          <a:xfrm>
            <a:off x="3008948" y="6467274"/>
            <a:ext cx="3959075" cy="0"/>
          </a:xfrm>
          <a:prstGeom prst="line">
            <a:avLst/>
          </a:prstGeom>
          <a:ln w="1397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317" name="TextBox 6318">
            <a:extLst>
              <a:ext uri="{FF2B5EF4-FFF2-40B4-BE49-F238E27FC236}">
                <a16:creationId xmlns:a16="http://schemas.microsoft.com/office/drawing/2014/main" id="{B468D403-6422-4121-A8AF-6D3812CBCDC9}"/>
              </a:ext>
            </a:extLst>
          </p:cNvPr>
          <p:cNvSpPr>
            <a:spLocks noGrp="1"/>
          </p:cNvSpPr>
          <p:nvPr/>
        </p:nvSpPr>
        <p:spPr>
          <a:xfrm>
            <a:off x="7038023" y="6492274"/>
            <a:ext cx="4029075"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GET /incidents/{id}/versions · /events</a:t>
            </a:r>
          </a:p>
        </p:txBody>
      </p:sp>
      <p:sp>
        <p:nvSpPr>
          <p:cNvPr id="6319" name="Connector 6320">
            <a:extLst>
              <a:ext uri="{FF2B5EF4-FFF2-40B4-BE49-F238E27FC236}">
                <a16:creationId xmlns:a16="http://schemas.microsoft.com/office/drawing/2014/main" id="{7F5E4843-6FFA-4E39-8F41-C22838557A86}"/>
              </a:ext>
            </a:extLst>
          </p:cNvPr>
          <p:cNvSpPr>
            <a:spLocks noGrp="1"/>
          </p:cNvSpPr>
          <p:nvPr/>
        </p:nvSpPr>
        <p:spPr>
          <a:xfrm>
            <a:off x="7108023" y="6717274"/>
            <a:ext cx="3889075" cy="0"/>
          </a:xfrm>
          <a:prstGeom prst="line">
            <a:avLst/>
          </a:prstGeom>
          <a:ln w="1397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321" name="TextBox 6322">
            <a:extLst>
              <a:ext uri="{FF2B5EF4-FFF2-40B4-BE49-F238E27FC236}">
                <a16:creationId xmlns:a16="http://schemas.microsoft.com/office/drawing/2014/main" id="{1D332C68-CA1E-478E-83B9-C9763F4F282F}"/>
              </a:ext>
            </a:extLst>
          </p:cNvPr>
          <p:cNvSpPr>
            <a:spLocks noGrp="1"/>
          </p:cNvSpPr>
          <p:nvPr/>
        </p:nvSpPr>
        <p:spPr>
          <a:xfrm>
            <a:off x="7038023" y="6742274"/>
            <a:ext cx="4029075"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버전별 사유·건수·변경 수, 이벤트 로그</a:t>
            </a:r>
          </a:p>
        </p:txBody>
      </p:sp>
      <p:sp>
        <p:nvSpPr>
          <p:cNvPr id="6323" name="Connector 6324">
            <a:extLst>
              <a:ext uri="{FF2B5EF4-FFF2-40B4-BE49-F238E27FC236}">
                <a16:creationId xmlns:a16="http://schemas.microsoft.com/office/drawing/2014/main" id="{81334468-E866-4E21-B2B1-AB0C0E18C879}"/>
              </a:ext>
            </a:extLst>
          </p:cNvPr>
          <p:cNvSpPr>
            <a:spLocks noGrp="1"/>
          </p:cNvSpPr>
          <p:nvPr/>
        </p:nvSpPr>
        <p:spPr>
          <a:xfrm flipH="1">
            <a:off x="7108023" y="6967274"/>
            <a:ext cx="3889075" cy="0"/>
          </a:xfrm>
          <a:prstGeom prst="line">
            <a:avLst/>
          </a:prstGeom>
          <a:ln w="13970">
            <a:solidFill>
              <a:srgbClr val="6B7080"/>
            </a:solidFill>
            <a:prstDash val="dash"/>
            <a:tailEnd type="arrow"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325" name="TextBox 6326">
            <a:extLst>
              <a:ext uri="{FF2B5EF4-FFF2-40B4-BE49-F238E27FC236}">
                <a16:creationId xmlns:a16="http://schemas.microsoft.com/office/drawing/2014/main" id="{FA9F5A9F-07E7-4649-BB4C-6B11547F8977}"/>
              </a:ext>
            </a:extLst>
          </p:cNvPr>
          <p:cNvSpPr>
            <a:spLocks noGrp="1"/>
          </p:cNvSpPr>
          <p:nvPr/>
        </p:nvSpPr>
        <p:spPr>
          <a:xfrm>
            <a:off x="3008948" y="6992274"/>
            <a:ext cx="4029075"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'변경' 태그 클릭(선택 시)</a:t>
            </a:r>
          </a:p>
        </p:txBody>
      </p:sp>
      <p:sp>
        <p:nvSpPr>
          <p:cNvPr id="6327" name="Connector 6328">
            <a:extLst>
              <a:ext uri="{FF2B5EF4-FFF2-40B4-BE49-F238E27FC236}">
                <a16:creationId xmlns:a16="http://schemas.microsoft.com/office/drawing/2014/main" id="{1409F42C-D22F-4169-A8F1-598339DF1618}"/>
              </a:ext>
            </a:extLst>
          </p:cNvPr>
          <p:cNvSpPr>
            <a:spLocks noGrp="1"/>
          </p:cNvSpPr>
          <p:nvPr/>
        </p:nvSpPr>
        <p:spPr>
          <a:xfrm>
            <a:off x="3008948" y="7217274"/>
            <a:ext cx="3959075" cy="0"/>
          </a:xfrm>
          <a:prstGeom prst="line">
            <a:avLst/>
          </a:prstGeom>
          <a:ln w="1397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329" name="TextBox 6330">
            <a:extLst>
              <a:ext uri="{FF2B5EF4-FFF2-40B4-BE49-F238E27FC236}">
                <a16:creationId xmlns:a16="http://schemas.microsoft.com/office/drawing/2014/main" id="{2CACD064-2553-4F53-A9A2-5F8BA4175123}"/>
              </a:ext>
            </a:extLst>
          </p:cNvPr>
          <p:cNvSpPr>
            <a:spLocks noGrp="1"/>
          </p:cNvSpPr>
          <p:nvPr/>
        </p:nvSpPr>
        <p:spPr>
          <a:xfrm>
            <a:off x="7038023" y="7242274"/>
            <a:ext cx="4029075"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GET /proposals/{id}/diff</a:t>
            </a:r>
          </a:p>
        </p:txBody>
      </p:sp>
      <p:sp>
        <p:nvSpPr>
          <p:cNvPr id="6331" name="Connector 6332">
            <a:extLst>
              <a:ext uri="{FF2B5EF4-FFF2-40B4-BE49-F238E27FC236}">
                <a16:creationId xmlns:a16="http://schemas.microsoft.com/office/drawing/2014/main" id="{9F42B833-BF4A-4C75-851A-3447D0103C9D}"/>
              </a:ext>
            </a:extLst>
          </p:cNvPr>
          <p:cNvSpPr>
            <a:spLocks noGrp="1"/>
          </p:cNvSpPr>
          <p:nvPr/>
        </p:nvSpPr>
        <p:spPr>
          <a:xfrm>
            <a:off x="7108023" y="7467274"/>
            <a:ext cx="3889075" cy="0"/>
          </a:xfrm>
          <a:prstGeom prst="line">
            <a:avLst/>
          </a:prstGeom>
          <a:ln w="1397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333" name="TextBox 6334">
            <a:extLst>
              <a:ext uri="{FF2B5EF4-FFF2-40B4-BE49-F238E27FC236}">
                <a16:creationId xmlns:a16="http://schemas.microsoft.com/office/drawing/2014/main" id="{5924273A-FC31-4E66-BE7B-B4749F443DD1}"/>
              </a:ext>
            </a:extLst>
          </p:cNvPr>
          <p:cNvSpPr>
            <a:spLocks noGrp="1"/>
          </p:cNvSpPr>
          <p:nvPr/>
        </p:nvSpPr>
        <p:spPr>
          <a:xfrm>
            <a:off x="7038023" y="7492274"/>
            <a:ext cx="4029075"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직전 버전 대비 이전·이후 문장</a:t>
            </a:r>
          </a:p>
        </p:txBody>
      </p:sp>
      <p:sp>
        <p:nvSpPr>
          <p:cNvPr id="6335" name="Connector 6336">
            <a:extLst>
              <a:ext uri="{FF2B5EF4-FFF2-40B4-BE49-F238E27FC236}">
                <a16:creationId xmlns:a16="http://schemas.microsoft.com/office/drawing/2014/main" id="{90A59746-18D8-484D-84E4-0E4502CD144A}"/>
              </a:ext>
            </a:extLst>
          </p:cNvPr>
          <p:cNvSpPr>
            <a:spLocks noGrp="1"/>
          </p:cNvSpPr>
          <p:nvPr/>
        </p:nvSpPr>
        <p:spPr>
          <a:xfrm flipH="1">
            <a:off x="7108023" y="7717274"/>
            <a:ext cx="3889075" cy="0"/>
          </a:xfrm>
          <a:prstGeom prst="line">
            <a:avLst/>
          </a:prstGeom>
          <a:ln w="13970">
            <a:solidFill>
              <a:srgbClr val="6B7080"/>
            </a:solidFill>
            <a:prstDash val="dash"/>
            <a:tailEnd type="arrow"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337" name="TextBox 6338">
            <a:extLst>
              <a:ext uri="{FF2B5EF4-FFF2-40B4-BE49-F238E27FC236}">
                <a16:creationId xmlns:a16="http://schemas.microsoft.com/office/drawing/2014/main" id="{A20E2BC9-FA97-4C8B-81F3-33585D672D6F}"/>
              </a:ext>
            </a:extLst>
          </p:cNvPr>
          <p:cNvSpPr>
            <a:spLocks noGrp="1"/>
          </p:cNvSpPr>
          <p:nvPr/>
        </p:nvSpPr>
        <p:spPr>
          <a:xfrm>
            <a:off x="3008948" y="7742274"/>
            <a:ext cx="4029075"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변경 내용 팝업 표시</a:t>
            </a:r>
          </a:p>
        </p:txBody>
      </p:sp>
      <p:sp>
        <p:nvSpPr>
          <p:cNvPr id="6339" name="Connector 6340">
            <a:extLst>
              <a:ext uri="{FF2B5EF4-FFF2-40B4-BE49-F238E27FC236}">
                <a16:creationId xmlns:a16="http://schemas.microsoft.com/office/drawing/2014/main" id="{910655AE-5CC9-4659-BFA0-27446DA879E7}"/>
              </a:ext>
            </a:extLst>
          </p:cNvPr>
          <p:cNvSpPr>
            <a:spLocks noGrp="1"/>
          </p:cNvSpPr>
          <p:nvPr/>
        </p:nvSpPr>
        <p:spPr>
          <a:xfrm flipH="1">
            <a:off x="3008948" y="7967274"/>
            <a:ext cx="3959075" cy="0"/>
          </a:xfrm>
          <a:prstGeom prst="line">
            <a:avLst/>
          </a:prstGeom>
          <a:ln w="13970">
            <a:solidFill>
              <a:srgbClr val="6B7080"/>
            </a:solidFill>
            <a:prstDash val="dash"/>
            <a:tailEnd type="arrow"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243" name="Rectangle 6244">
            <a:extLst>
              <a:ext uri="{FF2B5EF4-FFF2-40B4-BE49-F238E27FC236}">
                <a16:creationId xmlns:a16="http://schemas.microsoft.com/office/drawing/2014/main" id="{96C92F2E-47A6-4439-8C8D-6245D81EE31D}"/>
              </a:ext>
            </a:extLst>
          </p:cNvPr>
          <p:cNvSpPr>
            <a:spLocks noGrp="1"/>
          </p:cNvSpPr>
          <p:nvPr/>
        </p:nvSpPr>
        <p:spPr>
          <a:xfrm>
            <a:off x="1655178" y="4407274"/>
            <a:ext cx="14794765" cy="1555000"/>
          </a:xfrm>
          <a:prstGeom prst="rect">
            <a:avLst/>
          </a:prstGeom>
          <a:noFill/>
          <a:ln w="12700">
            <a:solidFill>
              <a:srgbClr val="FAA95A"/>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endParaRPr/>
          </a:p>
        </p:txBody>
      </p:sp>
      <p:sp>
        <p:nvSpPr>
          <p:cNvPr id="6245" name="Rectangle 6246">
            <a:extLst>
              <a:ext uri="{FF2B5EF4-FFF2-40B4-BE49-F238E27FC236}">
                <a16:creationId xmlns:a16="http://schemas.microsoft.com/office/drawing/2014/main" id="{935D3BDB-4119-4C68-AB34-821553F5F69D}"/>
              </a:ext>
            </a:extLst>
          </p:cNvPr>
          <p:cNvSpPr>
            <a:spLocks noGrp="1"/>
          </p:cNvSpPr>
          <p:nvPr/>
        </p:nvSpPr>
        <p:spPr>
          <a:xfrm>
            <a:off x="1655178" y="4407274"/>
            <a:ext cx="708660" cy="241401"/>
          </a:xfrm>
          <a:prstGeom prst="rect">
            <a:avLst/>
          </a:prstGeom>
          <a:solidFill>
            <a:srgbClr val="FDEBD9"/>
          </a:solidFill>
          <a:ln w="12700">
            <a:solidFill>
              <a:srgbClr val="FAA95A"/>
            </a:solidFill>
          </a:ln>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algn="ctr">
              <a:buNone/>
            </a:pPr>
            <a:r>
              <a:rPr sz="1050" b="1">
                <a:solidFill>
                  <a:srgbClr val="B5601C"/>
                </a:solidFill>
                <a:latin typeface="210 OmniGothic 040"/>
                <a:ea typeface="210 OmniGothic 040"/>
                <a:cs typeface="210 OmniGothic 040"/>
              </a:rPr>
              <a:t>opt</a:t>
            </a:r>
          </a:p>
        </p:txBody>
      </p:sp>
      <p:sp>
        <p:nvSpPr>
          <p:cNvPr id="6247" name="TextBox 6248">
            <a:extLst>
              <a:ext uri="{FF2B5EF4-FFF2-40B4-BE49-F238E27FC236}">
                <a16:creationId xmlns:a16="http://schemas.microsoft.com/office/drawing/2014/main" id="{DEDABD9D-8892-4E7C-9A4C-3806D36E0B92}"/>
              </a:ext>
            </a:extLst>
          </p:cNvPr>
          <p:cNvSpPr>
            <a:spLocks noGrp="1"/>
          </p:cNvSpPr>
          <p:nvPr/>
        </p:nvSpPr>
        <p:spPr>
          <a:xfrm>
            <a:off x="2463838" y="4417332"/>
            <a:ext cx="5715000" cy="241401"/>
          </a:xfrm>
          <a:prstGeom prst="rect">
            <a:avLst/>
          </a:prstGeom>
          <a:noFill/>
        </p:spPr>
        <p:txBody>
          <a:bodyPr wrap="square" lIns="0" tIns="0" rIns="0" bIns="0" anchor="t">
            <a:spAutoFit/>
          </a:bodyPr>
          <a:lstStyle/>
          <a:p>
            <a:pPr algn="l">
              <a:buNone/>
            </a:pPr>
            <a:r>
              <a:rPr sz="1100" b="0">
                <a:solidFill>
                  <a:srgbClr val="2E3142"/>
                </a:solidFill>
                <a:latin typeface="210 OmniGothic 040"/>
                <a:ea typeface="210 OmniGothic 040"/>
                <a:cs typeface="210 OmniGothic 040"/>
              </a:rPr>
              <a:t>[UC-PROP-03] 근거 조회 — 근거 번호 [k] 클릭</a:t>
            </a:r>
          </a:p>
        </p:txBody>
      </p:sp>
      <p:sp>
        <p:nvSpPr>
          <p:cNvPr id="6249" name="Rectangle 6250">
            <a:extLst>
              <a:ext uri="{FF2B5EF4-FFF2-40B4-BE49-F238E27FC236}">
                <a16:creationId xmlns:a16="http://schemas.microsoft.com/office/drawing/2014/main" id="{3DF0248F-C91B-4CCB-826C-73B2199CD49C}"/>
              </a:ext>
            </a:extLst>
          </p:cNvPr>
          <p:cNvSpPr>
            <a:spLocks noGrp="1"/>
          </p:cNvSpPr>
          <p:nvPr/>
        </p:nvSpPr>
        <p:spPr>
          <a:xfrm>
            <a:off x="1655178" y="5987274"/>
            <a:ext cx="14794765" cy="2090000"/>
          </a:xfrm>
          <a:prstGeom prst="rect">
            <a:avLst/>
          </a:prstGeom>
          <a:noFill/>
          <a:ln w="12700">
            <a:solidFill>
              <a:srgbClr val="FAA95A"/>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endParaRPr/>
          </a:p>
        </p:txBody>
      </p:sp>
      <p:sp>
        <p:nvSpPr>
          <p:cNvPr id="6251" name="Rectangle 6252">
            <a:extLst>
              <a:ext uri="{FF2B5EF4-FFF2-40B4-BE49-F238E27FC236}">
                <a16:creationId xmlns:a16="http://schemas.microsoft.com/office/drawing/2014/main" id="{06030EA3-A859-4E87-9173-EA6ABCD3EB02}"/>
              </a:ext>
            </a:extLst>
          </p:cNvPr>
          <p:cNvSpPr>
            <a:spLocks noGrp="1"/>
          </p:cNvSpPr>
          <p:nvPr/>
        </p:nvSpPr>
        <p:spPr>
          <a:xfrm>
            <a:off x="1655178" y="5987274"/>
            <a:ext cx="708660" cy="241401"/>
          </a:xfrm>
          <a:prstGeom prst="rect">
            <a:avLst/>
          </a:prstGeom>
          <a:solidFill>
            <a:srgbClr val="FDEBD9"/>
          </a:solidFill>
          <a:ln w="12700">
            <a:solidFill>
              <a:srgbClr val="FAA95A"/>
            </a:solidFill>
          </a:ln>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algn="ctr">
              <a:buNone/>
            </a:pPr>
            <a:r>
              <a:rPr sz="1050" b="1">
                <a:solidFill>
                  <a:srgbClr val="B5601C"/>
                </a:solidFill>
                <a:latin typeface="210 OmniGothic 040"/>
                <a:ea typeface="210 OmniGothic 040"/>
                <a:cs typeface="210 OmniGothic 040"/>
              </a:rPr>
              <a:t>opt</a:t>
            </a:r>
          </a:p>
        </p:txBody>
      </p:sp>
      <p:sp>
        <p:nvSpPr>
          <p:cNvPr id="6253" name="TextBox 6254">
            <a:extLst>
              <a:ext uri="{FF2B5EF4-FFF2-40B4-BE49-F238E27FC236}">
                <a16:creationId xmlns:a16="http://schemas.microsoft.com/office/drawing/2014/main" id="{D26542FF-B4E5-443D-94F5-A887068AADC2}"/>
              </a:ext>
            </a:extLst>
          </p:cNvPr>
          <p:cNvSpPr>
            <a:spLocks noGrp="1"/>
          </p:cNvSpPr>
          <p:nvPr/>
        </p:nvSpPr>
        <p:spPr>
          <a:xfrm>
            <a:off x="2463838" y="5997332"/>
            <a:ext cx="5715000" cy="241401"/>
          </a:xfrm>
          <a:prstGeom prst="rect">
            <a:avLst/>
          </a:prstGeom>
          <a:noFill/>
        </p:spPr>
        <p:txBody>
          <a:bodyPr wrap="square" lIns="0" tIns="0" rIns="0" bIns="0" anchor="t">
            <a:spAutoFit/>
          </a:bodyPr>
          <a:lstStyle/>
          <a:p>
            <a:pPr algn="l">
              <a:buNone/>
            </a:pPr>
            <a:r>
              <a:rPr sz="1100" b="0">
                <a:solidFill>
                  <a:srgbClr val="2E3142"/>
                </a:solidFill>
                <a:latin typeface="210 OmniGothic 040"/>
                <a:ea typeface="210 OmniGothic 040"/>
                <a:cs typeface="210 OmniGothic 040"/>
              </a:rPr>
              <a:t>[UC-PROP-04] 제안 이력·변경사항 조회</a:t>
            </a:r>
          </a:p>
        </p:txBody>
      </p:sp>
    </p:spTree>
    <p:extLst>
      <p:ext uri="{BB962C8B-B14F-4D97-AF65-F5344CB8AC3E}">
        <p14:creationId xmlns:p14="http://schemas.microsoft.com/office/powerpoint/2010/main" val="73794108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44" name="Picture 2"/>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700" y="-12700"/>
            <a:ext cx="18313400" cy="1638300"/>
          </a:xfrm>
          <a:prstGeom prst="rect">
            <a:avLst/>
          </a:prstGeom>
        </p:spPr>
      </p:pic>
      <p:pic>
        <p:nvPicPr>
          <p:cNvPr id="7145" name="Picture 4"/>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28" y="1618343"/>
            <a:ext cx="18313400" cy="8699500"/>
          </a:xfrm>
          <a:prstGeom prst="rect">
            <a:avLst/>
          </a:prstGeom>
        </p:spPr>
      </p:pic>
      <p:pic>
        <p:nvPicPr>
          <p:cNvPr id="7146" name="Picture 5"/>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58800" y="9271000"/>
            <a:ext cx="17170400" cy="50800"/>
          </a:xfrm>
          <a:prstGeom prst="rect">
            <a:avLst/>
          </a:prstGeom>
        </p:spPr>
      </p:pic>
      <p:pic>
        <p:nvPicPr>
          <p:cNvPr id="7147" name="Picture 3"/>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5278100" y="203200"/>
            <a:ext cx="1676400" cy="1409700"/>
          </a:xfrm>
          <a:prstGeom prst="rect">
            <a:avLst/>
          </a:prstGeom>
        </p:spPr>
      </p:pic>
      <p:sp>
        <p:nvSpPr>
          <p:cNvPr id="5221" name="Title">
            <a:extLst>
              <a:ext uri="{FF2B5EF4-FFF2-40B4-BE49-F238E27FC236}">
                <a16:creationId xmlns:a16="http://schemas.microsoft.com/office/drawing/2014/main" id="{8E10CFEE-D72E-4FE0-BA50-1AE7B5532AEA}"/>
              </a:ext>
            </a:extLst>
          </p:cNvPr>
          <p:cNvSpPr>
            <a:spLocks noGrp="1"/>
          </p:cNvSpPr>
          <p:nvPr/>
        </p:nvSpPr>
        <p:spPr>
          <a:xfrm>
            <a:off x="822960" y="384048"/>
            <a:ext cx="13258800" cy="877824"/>
          </a:xfrm>
          <a:prstGeom prst="rect">
            <a:avLst/>
          </a:prstGeom>
          <a:noFill/>
        </p:spPr>
        <p:txBody>
          <a:bodyPr wrap="square" lIns="0" tIns="0" rIns="0" bIns="0" anchor="ctr">
            <a:spAutoFit/>
          </a:bodyPr>
          <a:lstStyle/>
          <a:p>
            <a:pPr algn="l">
              <a:buNone/>
            </a:pPr>
            <a:r>
              <a:rPr sz="4400" b="0">
                <a:solidFill>
                  <a:srgbClr val="FAA95A"/>
                </a:solidFill>
                <a:latin typeface="210 OmniGothic 050"/>
                <a:ea typeface="210 OmniGothic 050"/>
                <a:cs typeface="210 OmniGothic 050"/>
              </a:rPr>
              <a:t>04. 시퀀스 다이어그램</a:t>
            </a:r>
          </a:p>
        </p:txBody>
      </p:sp>
      <p:sp>
        <p:nvSpPr>
          <p:cNvPr id="5222" name="Subtitle">
            <a:extLst>
              <a:ext uri="{FF2B5EF4-FFF2-40B4-BE49-F238E27FC236}">
                <a16:creationId xmlns:a16="http://schemas.microsoft.com/office/drawing/2014/main" id="{D3DA0C87-3055-4B1E-9B11-1E3EF28EF2F4}"/>
              </a:ext>
            </a:extLst>
          </p:cNvPr>
          <p:cNvSpPr>
            <a:spLocks noGrp="1"/>
          </p:cNvSpPr>
          <p:nvPr/>
        </p:nvSpPr>
        <p:spPr>
          <a:xfrm>
            <a:off x="822960" y="1764792"/>
            <a:ext cx="16642080" cy="502920"/>
          </a:xfrm>
          <a:prstGeom prst="rect">
            <a:avLst/>
          </a:prstGeom>
          <a:noFill/>
        </p:spPr>
        <p:txBody>
          <a:bodyPr wrap="square" lIns="0" tIns="0" rIns="0" bIns="0" anchor="ctr">
            <a:spAutoFit/>
          </a:bodyPr>
          <a:lstStyle/>
          <a:p>
            <a:pPr algn="ctr">
              <a:buNone/>
            </a:pPr>
            <a:r>
              <a:rPr sz="2600" b="1">
                <a:solidFill>
                  <a:srgbClr val="363A52"/>
                </a:solidFill>
                <a:latin typeface="210 OmniGothic 040"/>
                <a:ea typeface="210 OmniGothic 040"/>
                <a:cs typeface="210 OmniGothic 040"/>
              </a:rPr>
              <a:t>AI 질의응답  (UC-QA-01)</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idx="12"/>
          </p:nvPr>
        </p:nvSpPr>
        <p:spPr/>
        <p:txBody>
          <a:bodyPr/>
          <a:lstStyle/>
          <a:p>
            <a:fld id="{B6F15528-21DE-4FAA-801E-634DDDAF4B2B}" type="slidenum">
              <a:t>46</a:t>
            </a:fld>
            <a:endParaRPr/>
          </a:p>
        </p:txBody>
      </p:sp>
      <p:sp>
        <p:nvSpPr>
          <p:cNvPr id="7113" name="Rounded Rectangle 7114">
            <a:extLst>
              <a:ext uri="{FF2B5EF4-FFF2-40B4-BE49-F238E27FC236}">
                <a16:creationId xmlns:a16="http://schemas.microsoft.com/office/drawing/2014/main" id="{C64F7592-1838-4CE4-82A0-FAAE5C8FBC7B}"/>
              </a:ext>
            </a:extLst>
          </p:cNvPr>
          <p:cNvSpPr>
            <a:spLocks noGrp="1"/>
          </p:cNvSpPr>
          <p:nvPr/>
        </p:nvSpPr>
        <p:spPr>
          <a:xfrm>
            <a:off x="559560" y="2446020"/>
            <a:ext cx="2286000" cy="462686"/>
          </a:xfrm>
          <a:prstGeom prst="roundRect">
            <a:avLst>
              <a:gd name="adj" fmla="val 10000"/>
            </a:avLst>
          </a:prstGeom>
          <a:solidFill>
            <a:srgbClr val="E6E9F1"/>
          </a:solidFill>
          <a:ln w="12700">
            <a:solidFill>
              <a:srgbClr val="B6BCCB"/>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r>
              <a:rPr sz="1250" b="1">
                <a:solidFill>
                  <a:srgbClr val="2E3142"/>
                </a:solidFill>
                <a:latin typeface="210 OmniGothic 040"/>
                <a:ea typeface="210 OmniGothic 040"/>
                <a:cs typeface="210 OmniGothic 040"/>
              </a:rPr>
              <a:t>통합지휘권자</a:t>
            </a:r>
          </a:p>
        </p:txBody>
      </p:sp>
      <p:sp>
        <p:nvSpPr>
          <p:cNvPr id="7115" name="Connector 7116">
            <a:extLst>
              <a:ext uri="{FF2B5EF4-FFF2-40B4-BE49-F238E27FC236}">
                <a16:creationId xmlns:a16="http://schemas.microsoft.com/office/drawing/2014/main" id="{9E6EE0C3-E094-4F44-9058-3F65B2634765}"/>
              </a:ext>
            </a:extLst>
          </p:cNvPr>
          <p:cNvSpPr>
            <a:spLocks noGrp="1"/>
          </p:cNvSpPr>
          <p:nvPr/>
        </p:nvSpPr>
        <p:spPr>
          <a:xfrm>
            <a:off x="1702560" y="2908706"/>
            <a:ext cx="0" cy="6145682"/>
          </a:xfrm>
          <a:prstGeom prst="line">
            <a:avLst/>
          </a:prstGeom>
          <a:ln w="11430">
            <a:solidFill>
              <a:srgbClr val="A3A8B8"/>
            </a:solidFill>
            <a:prstDash val="dash"/>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7117" name="Rounded Rectangle 7118">
            <a:extLst>
              <a:ext uri="{FF2B5EF4-FFF2-40B4-BE49-F238E27FC236}">
                <a16:creationId xmlns:a16="http://schemas.microsoft.com/office/drawing/2014/main" id="{FEB220A8-2D5D-4DDE-9EAC-0FE01CAF9A3C}"/>
              </a:ext>
            </a:extLst>
          </p:cNvPr>
          <p:cNvSpPr>
            <a:spLocks noGrp="1"/>
          </p:cNvSpPr>
          <p:nvPr/>
        </p:nvSpPr>
        <p:spPr>
          <a:xfrm>
            <a:off x="3009560" y="2446020"/>
            <a:ext cx="2286000" cy="462686"/>
          </a:xfrm>
          <a:prstGeom prst="roundRect">
            <a:avLst>
              <a:gd name="adj" fmla="val 10000"/>
            </a:avLst>
          </a:prstGeom>
          <a:solidFill>
            <a:srgbClr val="E6E9F1"/>
          </a:solidFill>
          <a:ln w="12700">
            <a:solidFill>
              <a:srgbClr val="B6BCCB"/>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r>
              <a:rPr sz="1250" b="1">
                <a:solidFill>
                  <a:srgbClr val="2E3142"/>
                </a:solidFill>
                <a:latin typeface="210 OmniGothic 040"/>
                <a:ea typeface="210 OmniGothic 040"/>
                <a:cs typeface="210 OmniGothic 040"/>
              </a:rPr>
              <a:t>프론트엔드</a:t>
            </a:r>
          </a:p>
        </p:txBody>
      </p:sp>
      <p:sp>
        <p:nvSpPr>
          <p:cNvPr id="7119" name="Connector 7120">
            <a:extLst>
              <a:ext uri="{FF2B5EF4-FFF2-40B4-BE49-F238E27FC236}">
                <a16:creationId xmlns:a16="http://schemas.microsoft.com/office/drawing/2014/main" id="{4A074B73-5264-4CD9-A5DA-846E6076F807}"/>
              </a:ext>
            </a:extLst>
          </p:cNvPr>
          <p:cNvSpPr>
            <a:spLocks noGrp="1"/>
          </p:cNvSpPr>
          <p:nvPr/>
        </p:nvSpPr>
        <p:spPr>
          <a:xfrm>
            <a:off x="4152560" y="2908706"/>
            <a:ext cx="0" cy="6145682"/>
          </a:xfrm>
          <a:prstGeom prst="line">
            <a:avLst/>
          </a:prstGeom>
          <a:ln w="11430">
            <a:solidFill>
              <a:srgbClr val="A3A8B8"/>
            </a:solidFill>
            <a:prstDash val="dash"/>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7121" name="Rounded Rectangle 7122">
            <a:extLst>
              <a:ext uri="{FF2B5EF4-FFF2-40B4-BE49-F238E27FC236}">
                <a16:creationId xmlns:a16="http://schemas.microsoft.com/office/drawing/2014/main" id="{3F05AD1F-528D-4D6A-968A-D3210A23B8BA}"/>
              </a:ext>
            </a:extLst>
          </p:cNvPr>
          <p:cNvSpPr>
            <a:spLocks noGrp="1"/>
          </p:cNvSpPr>
          <p:nvPr/>
        </p:nvSpPr>
        <p:spPr>
          <a:xfrm>
            <a:off x="5459560" y="2446020"/>
            <a:ext cx="2286000" cy="462686"/>
          </a:xfrm>
          <a:prstGeom prst="roundRect">
            <a:avLst>
              <a:gd name="adj" fmla="val 10000"/>
            </a:avLst>
          </a:prstGeom>
          <a:solidFill>
            <a:srgbClr val="E6E9F1"/>
          </a:solidFill>
          <a:ln w="12700">
            <a:solidFill>
              <a:srgbClr val="B6BCCB"/>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r>
              <a:rPr sz="1250" b="1">
                <a:solidFill>
                  <a:srgbClr val="2E3142"/>
                </a:solidFill>
                <a:latin typeface="210 OmniGothic 040"/>
                <a:ea typeface="210 OmniGothic 040"/>
                <a:cs typeface="210 OmniGothic 040"/>
              </a:rPr>
              <a:t>ChatRouter</a:t>
            </a:r>
          </a:p>
        </p:txBody>
      </p:sp>
      <p:sp>
        <p:nvSpPr>
          <p:cNvPr id="7123" name="Connector 7124">
            <a:extLst>
              <a:ext uri="{FF2B5EF4-FFF2-40B4-BE49-F238E27FC236}">
                <a16:creationId xmlns:a16="http://schemas.microsoft.com/office/drawing/2014/main" id="{1C06790D-EE3A-4B69-ABB4-2486A8046C95}"/>
              </a:ext>
            </a:extLst>
          </p:cNvPr>
          <p:cNvSpPr>
            <a:spLocks noGrp="1"/>
          </p:cNvSpPr>
          <p:nvPr/>
        </p:nvSpPr>
        <p:spPr>
          <a:xfrm>
            <a:off x="6602560" y="2908706"/>
            <a:ext cx="0" cy="6145682"/>
          </a:xfrm>
          <a:prstGeom prst="line">
            <a:avLst/>
          </a:prstGeom>
          <a:ln w="11430">
            <a:solidFill>
              <a:srgbClr val="A3A8B8"/>
            </a:solidFill>
            <a:prstDash val="dash"/>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7125" name="Rounded Rectangle 7126">
            <a:extLst>
              <a:ext uri="{FF2B5EF4-FFF2-40B4-BE49-F238E27FC236}">
                <a16:creationId xmlns:a16="http://schemas.microsoft.com/office/drawing/2014/main" id="{DD5E517B-B738-4679-A82A-6EFF47BCEAE1}"/>
              </a:ext>
            </a:extLst>
          </p:cNvPr>
          <p:cNvSpPr>
            <a:spLocks noGrp="1"/>
          </p:cNvSpPr>
          <p:nvPr/>
        </p:nvSpPr>
        <p:spPr>
          <a:xfrm>
            <a:off x="7909560" y="2446020"/>
            <a:ext cx="2286000" cy="462686"/>
          </a:xfrm>
          <a:prstGeom prst="roundRect">
            <a:avLst>
              <a:gd name="adj" fmla="val 10000"/>
            </a:avLst>
          </a:prstGeom>
          <a:solidFill>
            <a:srgbClr val="E6E9F1"/>
          </a:solidFill>
          <a:ln w="12700">
            <a:solidFill>
              <a:srgbClr val="B6BCCB"/>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r>
              <a:rPr sz="1250" b="1">
                <a:solidFill>
                  <a:srgbClr val="2E3142"/>
                </a:solidFill>
                <a:latin typeface="210 OmniGothic 040"/>
                <a:ea typeface="210 OmniGothic 040"/>
                <a:cs typeface="210 OmniGothic 040"/>
              </a:rPr>
              <a:t>AssistantService</a:t>
            </a:r>
          </a:p>
        </p:txBody>
      </p:sp>
      <p:sp>
        <p:nvSpPr>
          <p:cNvPr id="7127" name="Connector 7128">
            <a:extLst>
              <a:ext uri="{FF2B5EF4-FFF2-40B4-BE49-F238E27FC236}">
                <a16:creationId xmlns:a16="http://schemas.microsoft.com/office/drawing/2014/main" id="{DEBB879A-082E-44A0-9594-3F400583B602}"/>
              </a:ext>
            </a:extLst>
          </p:cNvPr>
          <p:cNvSpPr>
            <a:spLocks noGrp="1"/>
          </p:cNvSpPr>
          <p:nvPr/>
        </p:nvSpPr>
        <p:spPr>
          <a:xfrm>
            <a:off x="9052560" y="2908706"/>
            <a:ext cx="0" cy="6145682"/>
          </a:xfrm>
          <a:prstGeom prst="line">
            <a:avLst/>
          </a:prstGeom>
          <a:ln w="11430">
            <a:solidFill>
              <a:srgbClr val="A3A8B8"/>
            </a:solidFill>
            <a:prstDash val="dash"/>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7129" name="Rounded Rectangle 7130">
            <a:extLst>
              <a:ext uri="{FF2B5EF4-FFF2-40B4-BE49-F238E27FC236}">
                <a16:creationId xmlns:a16="http://schemas.microsoft.com/office/drawing/2014/main" id="{61698330-6E53-4643-BF5B-43183985E9E3}"/>
              </a:ext>
            </a:extLst>
          </p:cNvPr>
          <p:cNvSpPr>
            <a:spLocks noGrp="1"/>
          </p:cNvSpPr>
          <p:nvPr/>
        </p:nvSpPr>
        <p:spPr>
          <a:xfrm>
            <a:off x="10359560" y="2446020"/>
            <a:ext cx="2286000" cy="462686"/>
          </a:xfrm>
          <a:prstGeom prst="roundRect">
            <a:avLst>
              <a:gd name="adj" fmla="val 10000"/>
            </a:avLst>
          </a:prstGeom>
          <a:solidFill>
            <a:srgbClr val="E6E9F1"/>
          </a:solidFill>
          <a:ln w="12700">
            <a:solidFill>
              <a:srgbClr val="B6BCCB"/>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r>
              <a:rPr sz="1250" b="1">
                <a:solidFill>
                  <a:srgbClr val="2E3142"/>
                </a:solidFill>
                <a:latin typeface="210 OmniGothic 040"/>
                <a:ea typeface="210 OmniGothic 040"/>
                <a:cs typeface="210 OmniGothic 040"/>
              </a:rPr>
              <a:t>근거 검색</a:t>
            </a:r>
          </a:p>
        </p:txBody>
      </p:sp>
      <p:sp>
        <p:nvSpPr>
          <p:cNvPr id="7131" name="Connector 7132">
            <a:extLst>
              <a:ext uri="{FF2B5EF4-FFF2-40B4-BE49-F238E27FC236}">
                <a16:creationId xmlns:a16="http://schemas.microsoft.com/office/drawing/2014/main" id="{D646ABA7-677F-4D67-9387-04E471E6DD90}"/>
              </a:ext>
            </a:extLst>
          </p:cNvPr>
          <p:cNvSpPr>
            <a:spLocks noGrp="1"/>
          </p:cNvSpPr>
          <p:nvPr/>
        </p:nvSpPr>
        <p:spPr>
          <a:xfrm>
            <a:off x="11502560" y="2908706"/>
            <a:ext cx="0" cy="6145682"/>
          </a:xfrm>
          <a:prstGeom prst="line">
            <a:avLst/>
          </a:prstGeom>
          <a:ln w="11430">
            <a:solidFill>
              <a:srgbClr val="A3A8B8"/>
            </a:solidFill>
            <a:prstDash val="dash"/>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7133" name="Rounded Rectangle 7134">
            <a:extLst>
              <a:ext uri="{FF2B5EF4-FFF2-40B4-BE49-F238E27FC236}">
                <a16:creationId xmlns:a16="http://schemas.microsoft.com/office/drawing/2014/main" id="{C183BA82-FC72-40CC-B25D-02E2249855D9}"/>
              </a:ext>
            </a:extLst>
          </p:cNvPr>
          <p:cNvSpPr>
            <a:spLocks noGrp="1"/>
          </p:cNvSpPr>
          <p:nvPr/>
        </p:nvSpPr>
        <p:spPr>
          <a:xfrm>
            <a:off x="12809560" y="2446020"/>
            <a:ext cx="2286000" cy="462686"/>
          </a:xfrm>
          <a:prstGeom prst="roundRect">
            <a:avLst>
              <a:gd name="adj" fmla="val 10000"/>
            </a:avLst>
          </a:prstGeom>
          <a:solidFill>
            <a:srgbClr val="E6E9F1"/>
          </a:solidFill>
          <a:ln w="12700">
            <a:solidFill>
              <a:srgbClr val="B6BCCB"/>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r>
              <a:rPr sz="1250" b="1">
                <a:solidFill>
                  <a:srgbClr val="2E3142"/>
                </a:solidFill>
                <a:latin typeface="210 OmniGothic 040"/>
                <a:ea typeface="210 OmniGothic 040"/>
                <a:cs typeface="210 OmniGothic 040"/>
              </a:rPr>
              <a:t>AI 모델(EXAONE)</a:t>
            </a:r>
          </a:p>
        </p:txBody>
      </p:sp>
      <p:sp>
        <p:nvSpPr>
          <p:cNvPr id="7135" name="Connector 7136">
            <a:extLst>
              <a:ext uri="{FF2B5EF4-FFF2-40B4-BE49-F238E27FC236}">
                <a16:creationId xmlns:a16="http://schemas.microsoft.com/office/drawing/2014/main" id="{4757BE01-6955-4442-BF83-BF87F37636BE}"/>
              </a:ext>
            </a:extLst>
          </p:cNvPr>
          <p:cNvSpPr>
            <a:spLocks noGrp="1"/>
          </p:cNvSpPr>
          <p:nvPr/>
        </p:nvSpPr>
        <p:spPr>
          <a:xfrm>
            <a:off x="13952560" y="2908706"/>
            <a:ext cx="0" cy="6145682"/>
          </a:xfrm>
          <a:prstGeom prst="line">
            <a:avLst/>
          </a:prstGeom>
          <a:ln w="11430">
            <a:solidFill>
              <a:srgbClr val="A3A8B8"/>
            </a:solidFill>
            <a:prstDash val="dash"/>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7137" name="Rounded Rectangle 7138">
            <a:extLst>
              <a:ext uri="{FF2B5EF4-FFF2-40B4-BE49-F238E27FC236}">
                <a16:creationId xmlns:a16="http://schemas.microsoft.com/office/drawing/2014/main" id="{E3FE86AF-881F-4543-A74C-C254CE1C2694}"/>
              </a:ext>
            </a:extLst>
          </p:cNvPr>
          <p:cNvSpPr>
            <a:spLocks noGrp="1"/>
          </p:cNvSpPr>
          <p:nvPr/>
        </p:nvSpPr>
        <p:spPr>
          <a:xfrm>
            <a:off x="15259560" y="2446020"/>
            <a:ext cx="2286000" cy="462686"/>
          </a:xfrm>
          <a:prstGeom prst="roundRect">
            <a:avLst>
              <a:gd name="adj" fmla="val 10000"/>
            </a:avLst>
          </a:prstGeom>
          <a:solidFill>
            <a:srgbClr val="E6E9F1"/>
          </a:solidFill>
          <a:ln w="12700">
            <a:solidFill>
              <a:srgbClr val="B6BCCB"/>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r>
              <a:rPr sz="1250" b="1">
                <a:solidFill>
                  <a:srgbClr val="2E3142"/>
                </a:solidFill>
                <a:latin typeface="210 OmniGothic 040"/>
                <a:ea typeface="210 OmniGothic 040"/>
                <a:cs typeface="210 OmniGothic 040"/>
              </a:rPr>
              <a:t>DB</a:t>
            </a:r>
          </a:p>
        </p:txBody>
      </p:sp>
      <p:sp>
        <p:nvSpPr>
          <p:cNvPr id="7139" name="Connector 7140">
            <a:extLst>
              <a:ext uri="{FF2B5EF4-FFF2-40B4-BE49-F238E27FC236}">
                <a16:creationId xmlns:a16="http://schemas.microsoft.com/office/drawing/2014/main" id="{253A2534-F293-4E7F-B1C4-E27869B7C41C}"/>
              </a:ext>
            </a:extLst>
          </p:cNvPr>
          <p:cNvSpPr>
            <a:spLocks noGrp="1"/>
          </p:cNvSpPr>
          <p:nvPr/>
        </p:nvSpPr>
        <p:spPr>
          <a:xfrm>
            <a:off x="16402560" y="2908706"/>
            <a:ext cx="0" cy="6145682"/>
          </a:xfrm>
          <a:prstGeom prst="line">
            <a:avLst/>
          </a:prstGeom>
          <a:ln w="11430">
            <a:solidFill>
              <a:srgbClr val="A3A8B8"/>
            </a:solidFill>
            <a:prstDash val="dash"/>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7025" name="Rectangle 7026">
            <a:extLst>
              <a:ext uri="{FF2B5EF4-FFF2-40B4-BE49-F238E27FC236}">
                <a16:creationId xmlns:a16="http://schemas.microsoft.com/office/drawing/2014/main" id="{65BC7D21-446C-4660-9135-72E5687E24B1}"/>
              </a:ext>
            </a:extLst>
          </p:cNvPr>
          <p:cNvSpPr>
            <a:spLocks noGrp="1"/>
          </p:cNvSpPr>
          <p:nvPr/>
        </p:nvSpPr>
        <p:spPr>
          <a:xfrm>
            <a:off x="8982560" y="4327274"/>
            <a:ext cx="140000" cy="250000"/>
          </a:xfrm>
          <a:prstGeom prst="rect">
            <a:avLst/>
          </a:prstGeom>
          <a:solidFill>
            <a:srgbClr val="FFFFFF"/>
          </a:solidFill>
          <a:ln w="9525">
            <a:solidFill>
              <a:srgbClr val="363A52"/>
            </a:solidFill>
          </a:ln>
        </p:spPr>
        <p:style>
          <a:lnRef idx="1">
            <a:schemeClr val="accent1"/>
          </a:lnRef>
          <a:fillRef idx="3">
            <a:schemeClr val="accent1"/>
          </a:fillRef>
          <a:effectRef idx="2">
            <a:schemeClr val="accent1"/>
          </a:effectRef>
          <a:fontRef idx="minor">
            <a:schemeClr val="lt1"/>
          </a:fontRef>
        </p:style>
        <p:txBody>
          <a:bodyPr wrap="square" lIns="0" rIns="0" anchor="ctr"/>
          <a:lstStyle/>
          <a:p>
            <a:pPr algn="ctr">
              <a:buNone/>
            </a:pPr>
            <a:endParaRPr/>
          </a:p>
        </p:txBody>
      </p:sp>
      <p:sp>
        <p:nvSpPr>
          <p:cNvPr id="7027" name="Rectangle 7028">
            <a:extLst>
              <a:ext uri="{FF2B5EF4-FFF2-40B4-BE49-F238E27FC236}">
                <a16:creationId xmlns:a16="http://schemas.microsoft.com/office/drawing/2014/main" id="{38AE7DE7-63A8-46AD-8BD3-AE5C24A2EBE9}"/>
              </a:ext>
            </a:extLst>
          </p:cNvPr>
          <p:cNvSpPr>
            <a:spLocks noGrp="1"/>
          </p:cNvSpPr>
          <p:nvPr/>
        </p:nvSpPr>
        <p:spPr>
          <a:xfrm>
            <a:off x="16332560" y="5852274"/>
            <a:ext cx="140000" cy="15000"/>
          </a:xfrm>
          <a:prstGeom prst="rect">
            <a:avLst/>
          </a:prstGeom>
          <a:solidFill>
            <a:srgbClr val="FFFFFF"/>
          </a:solidFill>
          <a:ln w="9525">
            <a:solidFill>
              <a:srgbClr val="363A52"/>
            </a:solidFill>
          </a:ln>
        </p:spPr>
        <p:style>
          <a:lnRef idx="1">
            <a:schemeClr val="accent1"/>
          </a:lnRef>
          <a:fillRef idx="3">
            <a:schemeClr val="accent1"/>
          </a:fillRef>
          <a:effectRef idx="2">
            <a:schemeClr val="accent1"/>
          </a:effectRef>
          <a:fontRef idx="minor">
            <a:schemeClr val="lt1"/>
          </a:fontRef>
        </p:style>
        <p:txBody>
          <a:bodyPr wrap="square" lIns="0" rIns="0" anchor="ctr"/>
          <a:lstStyle/>
          <a:p>
            <a:pPr algn="ctr">
              <a:buNone/>
            </a:pPr>
            <a:endParaRPr/>
          </a:p>
        </p:txBody>
      </p:sp>
      <p:sp>
        <p:nvSpPr>
          <p:cNvPr id="7029" name="Rectangle 7030">
            <a:extLst>
              <a:ext uri="{FF2B5EF4-FFF2-40B4-BE49-F238E27FC236}">
                <a16:creationId xmlns:a16="http://schemas.microsoft.com/office/drawing/2014/main" id="{C788BF8F-15A3-4F38-90A1-6F0673D60EC0}"/>
              </a:ext>
            </a:extLst>
          </p:cNvPr>
          <p:cNvSpPr>
            <a:spLocks noGrp="1"/>
          </p:cNvSpPr>
          <p:nvPr/>
        </p:nvSpPr>
        <p:spPr>
          <a:xfrm>
            <a:off x="11432560" y="6102274"/>
            <a:ext cx="140000" cy="250000"/>
          </a:xfrm>
          <a:prstGeom prst="rect">
            <a:avLst/>
          </a:prstGeom>
          <a:solidFill>
            <a:srgbClr val="FFFFFF"/>
          </a:solidFill>
          <a:ln w="9525">
            <a:solidFill>
              <a:srgbClr val="363A52"/>
            </a:solidFill>
          </a:ln>
        </p:spPr>
        <p:style>
          <a:lnRef idx="1">
            <a:schemeClr val="accent1"/>
          </a:lnRef>
          <a:fillRef idx="3">
            <a:schemeClr val="accent1"/>
          </a:fillRef>
          <a:effectRef idx="2">
            <a:schemeClr val="accent1"/>
          </a:effectRef>
          <a:fontRef idx="minor">
            <a:schemeClr val="lt1"/>
          </a:fontRef>
        </p:style>
        <p:txBody>
          <a:bodyPr wrap="square" lIns="0" rIns="0" anchor="ctr"/>
          <a:lstStyle/>
          <a:p>
            <a:pPr algn="ctr">
              <a:buNone/>
            </a:pPr>
            <a:endParaRPr/>
          </a:p>
        </p:txBody>
      </p:sp>
      <p:sp>
        <p:nvSpPr>
          <p:cNvPr id="7031" name="Rectangle 7032">
            <a:extLst>
              <a:ext uri="{FF2B5EF4-FFF2-40B4-BE49-F238E27FC236}">
                <a16:creationId xmlns:a16="http://schemas.microsoft.com/office/drawing/2014/main" id="{4741B4DD-452C-4DAE-8713-86B2D77DB215}"/>
              </a:ext>
            </a:extLst>
          </p:cNvPr>
          <p:cNvSpPr>
            <a:spLocks noGrp="1"/>
          </p:cNvSpPr>
          <p:nvPr/>
        </p:nvSpPr>
        <p:spPr>
          <a:xfrm>
            <a:off x="13882560" y="6602274"/>
            <a:ext cx="140000" cy="250000"/>
          </a:xfrm>
          <a:prstGeom prst="rect">
            <a:avLst/>
          </a:prstGeom>
          <a:solidFill>
            <a:srgbClr val="FFFFFF"/>
          </a:solidFill>
          <a:ln w="9525">
            <a:solidFill>
              <a:srgbClr val="363A52"/>
            </a:solidFill>
          </a:ln>
        </p:spPr>
        <p:style>
          <a:lnRef idx="1">
            <a:schemeClr val="accent1"/>
          </a:lnRef>
          <a:fillRef idx="3">
            <a:schemeClr val="accent1"/>
          </a:fillRef>
          <a:effectRef idx="2">
            <a:schemeClr val="accent1"/>
          </a:effectRef>
          <a:fontRef idx="minor">
            <a:schemeClr val="lt1"/>
          </a:fontRef>
        </p:style>
        <p:txBody>
          <a:bodyPr wrap="square" lIns="0" rIns="0" anchor="ctr"/>
          <a:lstStyle/>
          <a:p>
            <a:pPr algn="ctr">
              <a:buNone/>
            </a:pPr>
            <a:endParaRPr/>
          </a:p>
        </p:txBody>
      </p:sp>
      <p:sp>
        <p:nvSpPr>
          <p:cNvPr id="7033" name="Rectangle 7034">
            <a:extLst>
              <a:ext uri="{FF2B5EF4-FFF2-40B4-BE49-F238E27FC236}">
                <a16:creationId xmlns:a16="http://schemas.microsoft.com/office/drawing/2014/main" id="{BBCDFC39-7FEB-44E3-BC32-E3F70CC6C38F}"/>
              </a:ext>
            </a:extLst>
          </p:cNvPr>
          <p:cNvSpPr>
            <a:spLocks noGrp="1"/>
          </p:cNvSpPr>
          <p:nvPr/>
        </p:nvSpPr>
        <p:spPr>
          <a:xfrm>
            <a:off x="16332560" y="7102274"/>
            <a:ext cx="140000" cy="15000"/>
          </a:xfrm>
          <a:prstGeom prst="rect">
            <a:avLst/>
          </a:prstGeom>
          <a:solidFill>
            <a:srgbClr val="FFFFFF"/>
          </a:solidFill>
          <a:ln w="9525">
            <a:solidFill>
              <a:srgbClr val="363A52"/>
            </a:solidFill>
          </a:ln>
        </p:spPr>
        <p:style>
          <a:lnRef idx="1">
            <a:schemeClr val="accent1"/>
          </a:lnRef>
          <a:fillRef idx="3">
            <a:schemeClr val="accent1"/>
          </a:fillRef>
          <a:effectRef idx="2">
            <a:schemeClr val="accent1"/>
          </a:effectRef>
          <a:fontRef idx="minor">
            <a:schemeClr val="lt1"/>
          </a:fontRef>
        </p:style>
        <p:txBody>
          <a:bodyPr wrap="square" lIns="0" rIns="0" anchor="ctr"/>
          <a:lstStyle/>
          <a:p>
            <a:pPr algn="ctr">
              <a:buNone/>
            </a:pPr>
            <a:endParaRPr/>
          </a:p>
        </p:txBody>
      </p:sp>
      <p:sp>
        <p:nvSpPr>
          <p:cNvPr id="7035" name="Rectangle 7036">
            <a:extLst>
              <a:ext uri="{FF2B5EF4-FFF2-40B4-BE49-F238E27FC236}">
                <a16:creationId xmlns:a16="http://schemas.microsoft.com/office/drawing/2014/main" id="{EF23728C-BB9A-4229-AD7D-8015475559B1}"/>
              </a:ext>
            </a:extLst>
          </p:cNvPr>
          <p:cNvSpPr>
            <a:spLocks noGrp="1"/>
          </p:cNvSpPr>
          <p:nvPr/>
        </p:nvSpPr>
        <p:spPr>
          <a:xfrm>
            <a:off x="8982560" y="5602274"/>
            <a:ext cx="140000" cy="1750000"/>
          </a:xfrm>
          <a:prstGeom prst="rect">
            <a:avLst/>
          </a:prstGeom>
          <a:solidFill>
            <a:srgbClr val="FFFFFF"/>
          </a:solidFill>
          <a:ln w="9525">
            <a:solidFill>
              <a:srgbClr val="363A52"/>
            </a:solidFill>
          </a:ln>
        </p:spPr>
        <p:style>
          <a:lnRef idx="1">
            <a:schemeClr val="accent1"/>
          </a:lnRef>
          <a:fillRef idx="3">
            <a:schemeClr val="accent1"/>
          </a:fillRef>
          <a:effectRef idx="2">
            <a:schemeClr val="accent1"/>
          </a:effectRef>
          <a:fontRef idx="minor">
            <a:schemeClr val="lt1"/>
          </a:fontRef>
        </p:style>
        <p:txBody>
          <a:bodyPr wrap="square" lIns="0" rIns="0" anchor="ctr"/>
          <a:lstStyle/>
          <a:p>
            <a:pPr algn="ctr">
              <a:buNone/>
            </a:pPr>
            <a:endParaRPr/>
          </a:p>
        </p:txBody>
      </p:sp>
      <p:sp>
        <p:nvSpPr>
          <p:cNvPr id="7037" name="Rectangle 7038">
            <a:extLst>
              <a:ext uri="{FF2B5EF4-FFF2-40B4-BE49-F238E27FC236}">
                <a16:creationId xmlns:a16="http://schemas.microsoft.com/office/drawing/2014/main" id="{A75FD8A8-1698-4988-AE29-E484CFCA57A0}"/>
              </a:ext>
            </a:extLst>
          </p:cNvPr>
          <p:cNvSpPr>
            <a:spLocks noGrp="1"/>
          </p:cNvSpPr>
          <p:nvPr/>
        </p:nvSpPr>
        <p:spPr>
          <a:xfrm>
            <a:off x="6532560" y="3632274"/>
            <a:ext cx="140000" cy="3970000"/>
          </a:xfrm>
          <a:prstGeom prst="rect">
            <a:avLst/>
          </a:prstGeom>
          <a:solidFill>
            <a:srgbClr val="FFFFFF"/>
          </a:solidFill>
          <a:ln w="9525">
            <a:solidFill>
              <a:srgbClr val="363A52"/>
            </a:solidFill>
          </a:ln>
        </p:spPr>
        <p:style>
          <a:lnRef idx="1">
            <a:schemeClr val="accent1"/>
          </a:lnRef>
          <a:fillRef idx="3">
            <a:schemeClr val="accent1"/>
          </a:fillRef>
          <a:effectRef idx="2">
            <a:schemeClr val="accent1"/>
          </a:effectRef>
          <a:fontRef idx="minor">
            <a:schemeClr val="lt1"/>
          </a:fontRef>
        </p:style>
        <p:txBody>
          <a:bodyPr wrap="square" lIns="0" rIns="0" anchor="ctr"/>
          <a:lstStyle/>
          <a:p>
            <a:pPr algn="ctr">
              <a:buNone/>
            </a:pPr>
            <a:endParaRPr/>
          </a:p>
        </p:txBody>
      </p:sp>
      <p:sp>
        <p:nvSpPr>
          <p:cNvPr id="7039" name="Rectangle 7040">
            <a:extLst>
              <a:ext uri="{FF2B5EF4-FFF2-40B4-BE49-F238E27FC236}">
                <a16:creationId xmlns:a16="http://schemas.microsoft.com/office/drawing/2014/main" id="{54D7638C-2C53-46DD-A81F-02FE8EA1458F}"/>
              </a:ext>
            </a:extLst>
          </p:cNvPr>
          <p:cNvSpPr>
            <a:spLocks noGrp="1"/>
          </p:cNvSpPr>
          <p:nvPr/>
        </p:nvSpPr>
        <p:spPr>
          <a:xfrm>
            <a:off x="4082560" y="3382274"/>
            <a:ext cx="140000" cy="4615000"/>
          </a:xfrm>
          <a:prstGeom prst="rect">
            <a:avLst/>
          </a:prstGeom>
          <a:solidFill>
            <a:srgbClr val="FFFFFF"/>
          </a:solidFill>
          <a:ln w="9525">
            <a:solidFill>
              <a:srgbClr val="363A52"/>
            </a:solidFill>
          </a:ln>
        </p:spPr>
        <p:style>
          <a:lnRef idx="1">
            <a:schemeClr val="accent1"/>
          </a:lnRef>
          <a:fillRef idx="3">
            <a:schemeClr val="accent1"/>
          </a:fillRef>
          <a:effectRef idx="2">
            <a:schemeClr val="accent1"/>
          </a:effectRef>
          <a:fontRef idx="minor">
            <a:schemeClr val="lt1"/>
          </a:fontRef>
        </p:style>
        <p:txBody>
          <a:bodyPr wrap="square" lIns="0" rIns="0" anchor="ctr"/>
          <a:lstStyle/>
          <a:p>
            <a:pPr algn="ctr">
              <a:buNone/>
            </a:pPr>
            <a:endParaRPr/>
          </a:p>
        </p:txBody>
      </p:sp>
      <p:sp>
        <p:nvSpPr>
          <p:cNvPr id="7041" name="TextBox 7042">
            <a:extLst>
              <a:ext uri="{FF2B5EF4-FFF2-40B4-BE49-F238E27FC236}">
                <a16:creationId xmlns:a16="http://schemas.microsoft.com/office/drawing/2014/main" id="{7467D5CF-F4F8-4E2D-B33C-81F3C33B3C92}"/>
              </a:ext>
            </a:extLst>
          </p:cNvPr>
          <p:cNvSpPr>
            <a:spLocks noGrp="1"/>
          </p:cNvSpPr>
          <p:nvPr/>
        </p:nvSpPr>
        <p:spPr>
          <a:xfrm>
            <a:off x="1702560" y="3157274"/>
            <a:ext cx="245000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질문 입력 또는 빠른 질문</a:t>
            </a:r>
          </a:p>
        </p:txBody>
      </p:sp>
      <p:sp>
        <p:nvSpPr>
          <p:cNvPr id="7043" name="Connector 7044">
            <a:extLst>
              <a:ext uri="{FF2B5EF4-FFF2-40B4-BE49-F238E27FC236}">
                <a16:creationId xmlns:a16="http://schemas.microsoft.com/office/drawing/2014/main" id="{4B769BA9-EB26-459C-928F-D5070755D76F}"/>
              </a:ext>
            </a:extLst>
          </p:cNvPr>
          <p:cNvSpPr>
            <a:spLocks noGrp="1"/>
          </p:cNvSpPr>
          <p:nvPr/>
        </p:nvSpPr>
        <p:spPr>
          <a:xfrm>
            <a:off x="1702560" y="3382274"/>
            <a:ext cx="2380000" cy="0"/>
          </a:xfrm>
          <a:prstGeom prst="line">
            <a:avLst/>
          </a:prstGeom>
          <a:ln w="1397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7045" name="TextBox 7046">
            <a:extLst>
              <a:ext uri="{FF2B5EF4-FFF2-40B4-BE49-F238E27FC236}">
                <a16:creationId xmlns:a16="http://schemas.microsoft.com/office/drawing/2014/main" id="{E8DB84A3-5275-42BD-B0BC-A5B380C704D1}"/>
              </a:ext>
            </a:extLst>
          </p:cNvPr>
          <p:cNvSpPr>
            <a:spLocks noGrp="1"/>
          </p:cNvSpPr>
          <p:nvPr/>
        </p:nvSpPr>
        <p:spPr>
          <a:xfrm>
            <a:off x="4152560" y="3407274"/>
            <a:ext cx="245000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POST /chat (질문, 항목)</a:t>
            </a:r>
          </a:p>
        </p:txBody>
      </p:sp>
      <p:sp>
        <p:nvSpPr>
          <p:cNvPr id="7047" name="Connector 7048">
            <a:extLst>
              <a:ext uri="{FF2B5EF4-FFF2-40B4-BE49-F238E27FC236}">
                <a16:creationId xmlns:a16="http://schemas.microsoft.com/office/drawing/2014/main" id="{FB272A82-8F7A-4EB2-B5E3-980CB3996FF6}"/>
              </a:ext>
            </a:extLst>
          </p:cNvPr>
          <p:cNvSpPr>
            <a:spLocks noGrp="1"/>
          </p:cNvSpPr>
          <p:nvPr/>
        </p:nvSpPr>
        <p:spPr>
          <a:xfrm>
            <a:off x="4222560" y="3632274"/>
            <a:ext cx="2310000" cy="0"/>
          </a:xfrm>
          <a:prstGeom prst="line">
            <a:avLst/>
          </a:prstGeom>
          <a:ln w="1397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7049" name="Connector 7050">
            <a:extLst>
              <a:ext uri="{FF2B5EF4-FFF2-40B4-BE49-F238E27FC236}">
                <a16:creationId xmlns:a16="http://schemas.microsoft.com/office/drawing/2014/main" id="{CA5F5E6A-2F13-49AA-AF95-C24D8DDED6B2}"/>
              </a:ext>
            </a:extLst>
          </p:cNvPr>
          <p:cNvSpPr>
            <a:spLocks noGrp="1"/>
          </p:cNvSpPr>
          <p:nvPr/>
        </p:nvSpPr>
        <p:spPr>
          <a:xfrm>
            <a:off x="6672560" y="3882274"/>
            <a:ext cx="365760" cy="0"/>
          </a:xfrm>
          <a:prstGeom prst="line">
            <a:avLst/>
          </a:prstGeom>
          <a:ln w="13970">
            <a:solidFill>
              <a:srgbClr val="363A52"/>
            </a:solidFill>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7051" name="Connector 7052">
            <a:extLst>
              <a:ext uri="{FF2B5EF4-FFF2-40B4-BE49-F238E27FC236}">
                <a16:creationId xmlns:a16="http://schemas.microsoft.com/office/drawing/2014/main" id="{FB99DA0D-6824-4431-98D1-F1E1BF64137C}"/>
              </a:ext>
            </a:extLst>
          </p:cNvPr>
          <p:cNvSpPr>
            <a:spLocks noGrp="1"/>
          </p:cNvSpPr>
          <p:nvPr/>
        </p:nvSpPr>
        <p:spPr>
          <a:xfrm>
            <a:off x="7038320" y="3882274"/>
            <a:ext cx="0" cy="180251"/>
          </a:xfrm>
          <a:prstGeom prst="line">
            <a:avLst/>
          </a:prstGeom>
          <a:ln w="13970">
            <a:solidFill>
              <a:srgbClr val="363A52"/>
            </a:solidFill>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7053" name="Connector 7054">
            <a:extLst>
              <a:ext uri="{FF2B5EF4-FFF2-40B4-BE49-F238E27FC236}">
                <a16:creationId xmlns:a16="http://schemas.microsoft.com/office/drawing/2014/main" id="{730A208F-07D4-443A-B257-CE66FEDC5958}"/>
              </a:ext>
            </a:extLst>
          </p:cNvPr>
          <p:cNvSpPr>
            <a:spLocks noGrp="1"/>
          </p:cNvSpPr>
          <p:nvPr/>
        </p:nvSpPr>
        <p:spPr>
          <a:xfrm flipH="1">
            <a:off x="6706850" y="4062525"/>
            <a:ext cx="331470" cy="0"/>
          </a:xfrm>
          <a:prstGeom prst="line">
            <a:avLst/>
          </a:prstGeom>
          <a:ln w="1397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7055" name="TextBox 7056">
            <a:extLst>
              <a:ext uri="{FF2B5EF4-FFF2-40B4-BE49-F238E27FC236}">
                <a16:creationId xmlns:a16="http://schemas.microsoft.com/office/drawing/2014/main" id="{39777D1A-C922-4953-B927-0D6CB8761962}"/>
              </a:ext>
            </a:extLst>
          </p:cNvPr>
          <p:cNvSpPr>
            <a:spLocks noGrp="1"/>
          </p:cNvSpPr>
          <p:nvPr/>
        </p:nvSpPr>
        <p:spPr>
          <a:xfrm>
            <a:off x="7129760" y="3657274"/>
            <a:ext cx="4562951" cy="221284"/>
          </a:xfrm>
          <a:prstGeom prst="rect">
            <a:avLst/>
          </a:prstGeom>
          <a:noFill/>
        </p:spPr>
        <p:txBody>
          <a:bodyPr wrap="square" lIns="0" tIns="0" rIns="0" bIns="0" anchor="t">
            <a:spAutoFit/>
          </a:bodyPr>
          <a:lstStyle/>
          <a:p>
            <a:pPr algn="l">
              <a:buNone/>
            </a:pPr>
            <a:r>
              <a:rPr sz="1100" b="0">
                <a:solidFill>
                  <a:srgbClr val="2E3142"/>
                </a:solidFill>
                <a:latin typeface="210 OmniGothic 040"/>
                <a:ea typeface="210 OmniGothic 040"/>
                <a:cs typeface="210 OmniGothic 040"/>
              </a:rPr>
              <a:t>권한(조작) 확인</a:t>
            </a:r>
          </a:p>
        </p:txBody>
      </p:sp>
      <p:sp>
        <p:nvSpPr>
          <p:cNvPr id="7057" name="TextBox 7058">
            <a:extLst>
              <a:ext uri="{FF2B5EF4-FFF2-40B4-BE49-F238E27FC236}">
                <a16:creationId xmlns:a16="http://schemas.microsoft.com/office/drawing/2014/main" id="{C9B6F66A-953E-425B-B8ED-694C54D21BAF}"/>
              </a:ext>
            </a:extLst>
          </p:cNvPr>
          <p:cNvSpPr>
            <a:spLocks noGrp="1"/>
          </p:cNvSpPr>
          <p:nvPr/>
        </p:nvSpPr>
        <p:spPr>
          <a:xfrm>
            <a:off x="6602560" y="4102274"/>
            <a:ext cx="245000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classify(text)</a:t>
            </a:r>
          </a:p>
        </p:txBody>
      </p:sp>
      <p:sp>
        <p:nvSpPr>
          <p:cNvPr id="7059" name="Connector 7060">
            <a:extLst>
              <a:ext uri="{FF2B5EF4-FFF2-40B4-BE49-F238E27FC236}">
                <a16:creationId xmlns:a16="http://schemas.microsoft.com/office/drawing/2014/main" id="{FFEF923F-C765-4617-BC15-2062FEB1DBBF}"/>
              </a:ext>
            </a:extLst>
          </p:cNvPr>
          <p:cNvSpPr>
            <a:spLocks noGrp="1"/>
          </p:cNvSpPr>
          <p:nvPr/>
        </p:nvSpPr>
        <p:spPr>
          <a:xfrm>
            <a:off x="6672560" y="4327274"/>
            <a:ext cx="2310000" cy="0"/>
          </a:xfrm>
          <a:prstGeom prst="line">
            <a:avLst/>
          </a:prstGeom>
          <a:ln w="1397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7061" name="TextBox 7062">
            <a:extLst>
              <a:ext uri="{FF2B5EF4-FFF2-40B4-BE49-F238E27FC236}">
                <a16:creationId xmlns:a16="http://schemas.microsoft.com/office/drawing/2014/main" id="{92933322-9186-4B7C-82A6-6A242E4974A4}"/>
              </a:ext>
            </a:extLst>
          </p:cNvPr>
          <p:cNvSpPr>
            <a:spLocks noGrp="1"/>
          </p:cNvSpPr>
          <p:nvPr/>
        </p:nvSpPr>
        <p:spPr>
          <a:xfrm>
            <a:off x="6602560" y="4352274"/>
            <a:ext cx="245000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의도(질의 / 정정)</a:t>
            </a:r>
          </a:p>
        </p:txBody>
      </p:sp>
      <p:sp>
        <p:nvSpPr>
          <p:cNvPr id="7063" name="Connector 7064">
            <a:extLst>
              <a:ext uri="{FF2B5EF4-FFF2-40B4-BE49-F238E27FC236}">
                <a16:creationId xmlns:a16="http://schemas.microsoft.com/office/drawing/2014/main" id="{DC7DD1D2-E9B7-480C-80B5-D8C27597D20C}"/>
              </a:ext>
            </a:extLst>
          </p:cNvPr>
          <p:cNvSpPr>
            <a:spLocks noGrp="1"/>
          </p:cNvSpPr>
          <p:nvPr/>
        </p:nvSpPr>
        <p:spPr>
          <a:xfrm flipH="1">
            <a:off x="6672560" y="4577274"/>
            <a:ext cx="2310000" cy="0"/>
          </a:xfrm>
          <a:prstGeom prst="line">
            <a:avLst/>
          </a:prstGeom>
          <a:ln w="13970">
            <a:solidFill>
              <a:srgbClr val="6B7080"/>
            </a:solidFill>
            <a:prstDash val="dash"/>
            <a:tailEnd type="arrow"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7065" name="Connector 7066">
            <a:extLst>
              <a:ext uri="{FF2B5EF4-FFF2-40B4-BE49-F238E27FC236}">
                <a16:creationId xmlns:a16="http://schemas.microsoft.com/office/drawing/2014/main" id="{D146F3A1-06DB-4F88-ABBD-918F4BC294B6}"/>
              </a:ext>
            </a:extLst>
          </p:cNvPr>
          <p:cNvSpPr>
            <a:spLocks noGrp="1"/>
          </p:cNvSpPr>
          <p:nvPr/>
        </p:nvSpPr>
        <p:spPr>
          <a:xfrm>
            <a:off x="6672560" y="5047274"/>
            <a:ext cx="365760" cy="0"/>
          </a:xfrm>
          <a:prstGeom prst="line">
            <a:avLst/>
          </a:prstGeom>
          <a:ln w="13970">
            <a:solidFill>
              <a:srgbClr val="363A52"/>
            </a:solidFill>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7067" name="Connector 7068">
            <a:extLst>
              <a:ext uri="{FF2B5EF4-FFF2-40B4-BE49-F238E27FC236}">
                <a16:creationId xmlns:a16="http://schemas.microsoft.com/office/drawing/2014/main" id="{CB05C938-60E0-4DF2-A805-9C297C0EC806}"/>
              </a:ext>
            </a:extLst>
          </p:cNvPr>
          <p:cNvSpPr>
            <a:spLocks noGrp="1"/>
          </p:cNvSpPr>
          <p:nvPr/>
        </p:nvSpPr>
        <p:spPr>
          <a:xfrm>
            <a:off x="7038320" y="5047274"/>
            <a:ext cx="0" cy="180251"/>
          </a:xfrm>
          <a:prstGeom prst="line">
            <a:avLst/>
          </a:prstGeom>
          <a:ln w="13970">
            <a:solidFill>
              <a:srgbClr val="363A52"/>
            </a:solidFill>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7069" name="Connector 7070">
            <a:extLst>
              <a:ext uri="{FF2B5EF4-FFF2-40B4-BE49-F238E27FC236}">
                <a16:creationId xmlns:a16="http://schemas.microsoft.com/office/drawing/2014/main" id="{34890A0F-B5C8-43CB-BCE1-7552F6BA6621}"/>
              </a:ext>
            </a:extLst>
          </p:cNvPr>
          <p:cNvSpPr>
            <a:spLocks noGrp="1"/>
          </p:cNvSpPr>
          <p:nvPr/>
        </p:nvSpPr>
        <p:spPr>
          <a:xfrm flipH="1">
            <a:off x="6706850" y="5227525"/>
            <a:ext cx="331470" cy="0"/>
          </a:xfrm>
          <a:prstGeom prst="line">
            <a:avLst/>
          </a:prstGeom>
          <a:ln w="1397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7071" name="TextBox 7072">
            <a:extLst>
              <a:ext uri="{FF2B5EF4-FFF2-40B4-BE49-F238E27FC236}">
                <a16:creationId xmlns:a16="http://schemas.microsoft.com/office/drawing/2014/main" id="{16F23972-BADD-463A-AFE4-A2653C6806AE}"/>
              </a:ext>
            </a:extLst>
          </p:cNvPr>
          <p:cNvSpPr>
            <a:spLocks noGrp="1"/>
          </p:cNvSpPr>
          <p:nvPr/>
        </p:nvSpPr>
        <p:spPr>
          <a:xfrm>
            <a:off x="7129760" y="4822274"/>
            <a:ext cx="4562951" cy="221284"/>
          </a:xfrm>
          <a:prstGeom prst="rect">
            <a:avLst/>
          </a:prstGeom>
          <a:noFill/>
        </p:spPr>
        <p:txBody>
          <a:bodyPr wrap="square" lIns="0" tIns="0" rIns="0" bIns="0" anchor="t">
            <a:spAutoFit/>
          </a:bodyPr>
          <a:lstStyle/>
          <a:p>
            <a:pPr algn="l">
              <a:buNone/>
            </a:pPr>
            <a:r>
              <a:rPr sz="1100" b="0">
                <a:solidFill>
                  <a:srgbClr val="2E3142"/>
                </a:solidFill>
                <a:latin typeface="210 OmniGothic 040"/>
                <a:ea typeface="210 OmniGothic 040"/>
                <a:cs typeface="210 OmniGothic 040"/>
              </a:rPr>
              <a:t>입력 내용을 정정 확인 카드로 넘김(→ UC-QA-02)</a:t>
            </a:r>
          </a:p>
        </p:txBody>
      </p:sp>
      <p:sp>
        <p:nvSpPr>
          <p:cNvPr id="7073" name="TextBox 7074">
            <a:extLst>
              <a:ext uri="{FF2B5EF4-FFF2-40B4-BE49-F238E27FC236}">
                <a16:creationId xmlns:a16="http://schemas.microsoft.com/office/drawing/2014/main" id="{00017F49-54E9-47B7-835B-88FE2F4BBCEF}"/>
              </a:ext>
            </a:extLst>
          </p:cNvPr>
          <p:cNvSpPr>
            <a:spLocks noGrp="1"/>
          </p:cNvSpPr>
          <p:nvPr/>
        </p:nvSpPr>
        <p:spPr>
          <a:xfrm>
            <a:off x="6602560" y="5377274"/>
            <a:ext cx="245000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answer(incident_id, question)</a:t>
            </a:r>
          </a:p>
        </p:txBody>
      </p:sp>
      <p:sp>
        <p:nvSpPr>
          <p:cNvPr id="7075" name="Connector 7076">
            <a:extLst>
              <a:ext uri="{FF2B5EF4-FFF2-40B4-BE49-F238E27FC236}">
                <a16:creationId xmlns:a16="http://schemas.microsoft.com/office/drawing/2014/main" id="{CAE7294E-59CD-4C42-B06A-8BE989228AF5}"/>
              </a:ext>
            </a:extLst>
          </p:cNvPr>
          <p:cNvSpPr>
            <a:spLocks noGrp="1"/>
          </p:cNvSpPr>
          <p:nvPr/>
        </p:nvSpPr>
        <p:spPr>
          <a:xfrm>
            <a:off x="6672560" y="5602274"/>
            <a:ext cx="2310000" cy="0"/>
          </a:xfrm>
          <a:prstGeom prst="line">
            <a:avLst/>
          </a:prstGeom>
          <a:ln w="1397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7077" name="TextBox 7078">
            <a:extLst>
              <a:ext uri="{FF2B5EF4-FFF2-40B4-BE49-F238E27FC236}">
                <a16:creationId xmlns:a16="http://schemas.microsoft.com/office/drawing/2014/main" id="{36608F86-BF4F-4E76-93A2-4836D0191E92}"/>
              </a:ext>
            </a:extLst>
          </p:cNvPr>
          <p:cNvSpPr>
            <a:spLocks noGrp="1"/>
          </p:cNvSpPr>
          <p:nvPr/>
        </p:nvSpPr>
        <p:spPr>
          <a:xfrm>
            <a:off x="9052560" y="5627274"/>
            <a:ext cx="735000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최신 제안·상황 값 조회</a:t>
            </a:r>
          </a:p>
        </p:txBody>
      </p:sp>
      <p:sp>
        <p:nvSpPr>
          <p:cNvPr id="7079" name="Connector 7080">
            <a:extLst>
              <a:ext uri="{FF2B5EF4-FFF2-40B4-BE49-F238E27FC236}">
                <a16:creationId xmlns:a16="http://schemas.microsoft.com/office/drawing/2014/main" id="{66F3A9F3-78E2-46B2-9062-F8CA2942B9BC}"/>
              </a:ext>
            </a:extLst>
          </p:cNvPr>
          <p:cNvSpPr>
            <a:spLocks noGrp="1"/>
          </p:cNvSpPr>
          <p:nvPr/>
        </p:nvSpPr>
        <p:spPr>
          <a:xfrm>
            <a:off x="9122560" y="5852274"/>
            <a:ext cx="7210000" cy="0"/>
          </a:xfrm>
          <a:prstGeom prst="line">
            <a:avLst/>
          </a:prstGeom>
          <a:ln w="1397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7081" name="TextBox 7082">
            <a:extLst>
              <a:ext uri="{FF2B5EF4-FFF2-40B4-BE49-F238E27FC236}">
                <a16:creationId xmlns:a16="http://schemas.microsoft.com/office/drawing/2014/main" id="{EEEC28D4-642D-4949-A18D-D9C6C0C0056C}"/>
              </a:ext>
            </a:extLst>
          </p:cNvPr>
          <p:cNvSpPr>
            <a:spLocks noGrp="1"/>
          </p:cNvSpPr>
          <p:nvPr/>
        </p:nvSpPr>
        <p:spPr>
          <a:xfrm>
            <a:off x="9052560" y="5877274"/>
            <a:ext cx="245000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search(질문, 단계·항목 필터, k=</a:t>
            </a:r>
            <a:r>
              <a:rPr sz="1100" b="0">
                <a:solidFill>
                  <a:srgbClr val="FF0000"/>
                </a:solidFill>
                <a:latin typeface="210 OmniGothic 040"/>
                <a:ea typeface="210 OmniGothic 040"/>
                <a:cs typeface="210 OmniGothic 040"/>
              </a:rPr>
              <a:t>K</a:t>
            </a:r>
            <a:r>
              <a:rPr sz="1100" b="0">
                <a:solidFill>
                  <a:srgbClr val="FF0000"/>
                </a:solidFill>
                <a:latin typeface="210 OmniGothic 040"/>
                <a:ea typeface="210 OmniGothic 040"/>
                <a:cs typeface="210 OmniGothic 040"/>
              </a:rPr>
              <a:t>)</a:t>
            </a:r>
          </a:p>
        </p:txBody>
      </p:sp>
      <p:sp>
        <p:nvSpPr>
          <p:cNvPr id="7083" name="Connector 7084">
            <a:extLst>
              <a:ext uri="{FF2B5EF4-FFF2-40B4-BE49-F238E27FC236}">
                <a16:creationId xmlns:a16="http://schemas.microsoft.com/office/drawing/2014/main" id="{99A777D8-62BE-4535-836D-76C5BC3C0955}"/>
              </a:ext>
            </a:extLst>
          </p:cNvPr>
          <p:cNvSpPr>
            <a:spLocks noGrp="1"/>
          </p:cNvSpPr>
          <p:nvPr/>
        </p:nvSpPr>
        <p:spPr>
          <a:xfrm>
            <a:off x="9122560" y="6102274"/>
            <a:ext cx="2310000" cy="0"/>
          </a:xfrm>
          <a:prstGeom prst="line">
            <a:avLst/>
          </a:prstGeom>
          <a:ln w="1397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7085" name="TextBox 7086">
            <a:extLst>
              <a:ext uri="{FF2B5EF4-FFF2-40B4-BE49-F238E27FC236}">
                <a16:creationId xmlns:a16="http://schemas.microsoft.com/office/drawing/2014/main" id="{7EAF9C54-B7C0-4A5C-83F8-1B3AB1A88679}"/>
              </a:ext>
            </a:extLst>
          </p:cNvPr>
          <p:cNvSpPr>
            <a:spLocks noGrp="1"/>
          </p:cNvSpPr>
          <p:nvPr/>
        </p:nvSpPr>
        <p:spPr>
          <a:xfrm>
            <a:off x="9052560" y="6127274"/>
            <a:ext cx="245000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근거 청크(없으면 근거 부족 안내)</a:t>
            </a:r>
          </a:p>
        </p:txBody>
      </p:sp>
      <p:sp>
        <p:nvSpPr>
          <p:cNvPr id="7087" name="Connector 7088">
            <a:extLst>
              <a:ext uri="{FF2B5EF4-FFF2-40B4-BE49-F238E27FC236}">
                <a16:creationId xmlns:a16="http://schemas.microsoft.com/office/drawing/2014/main" id="{E3AA32C4-DEC4-4E2D-958E-D027B2EC6FEC}"/>
              </a:ext>
            </a:extLst>
          </p:cNvPr>
          <p:cNvSpPr>
            <a:spLocks noGrp="1"/>
          </p:cNvSpPr>
          <p:nvPr/>
        </p:nvSpPr>
        <p:spPr>
          <a:xfrm flipH="1">
            <a:off x="9122560" y="6352274"/>
            <a:ext cx="2310000" cy="0"/>
          </a:xfrm>
          <a:prstGeom prst="line">
            <a:avLst/>
          </a:prstGeom>
          <a:ln w="13970">
            <a:solidFill>
              <a:srgbClr val="6B7080"/>
            </a:solidFill>
            <a:prstDash val="dash"/>
            <a:tailEnd type="arrow"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7089" name="TextBox 7090">
            <a:extLst>
              <a:ext uri="{FF2B5EF4-FFF2-40B4-BE49-F238E27FC236}">
                <a16:creationId xmlns:a16="http://schemas.microsoft.com/office/drawing/2014/main" id="{46A99AA7-0212-467D-878A-E9A1287D0D59}"/>
              </a:ext>
            </a:extLst>
          </p:cNvPr>
          <p:cNvSpPr>
            <a:spLocks noGrp="1"/>
          </p:cNvSpPr>
          <p:nvPr/>
        </p:nvSpPr>
        <p:spPr>
          <a:xfrm>
            <a:off x="9052560" y="6377274"/>
            <a:ext cx="490000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답변 생성(근거 안에서만, 번호 표기)</a:t>
            </a:r>
          </a:p>
        </p:txBody>
      </p:sp>
      <p:sp>
        <p:nvSpPr>
          <p:cNvPr id="7091" name="Connector 7092">
            <a:extLst>
              <a:ext uri="{FF2B5EF4-FFF2-40B4-BE49-F238E27FC236}">
                <a16:creationId xmlns:a16="http://schemas.microsoft.com/office/drawing/2014/main" id="{E664A3D1-7FD7-4111-A6D7-2574193C2363}"/>
              </a:ext>
            </a:extLst>
          </p:cNvPr>
          <p:cNvSpPr>
            <a:spLocks noGrp="1"/>
          </p:cNvSpPr>
          <p:nvPr/>
        </p:nvSpPr>
        <p:spPr>
          <a:xfrm>
            <a:off x="9122560" y="6602274"/>
            <a:ext cx="4760000" cy="0"/>
          </a:xfrm>
          <a:prstGeom prst="line">
            <a:avLst/>
          </a:prstGeom>
          <a:ln w="1397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7093" name="TextBox 7094">
            <a:extLst>
              <a:ext uri="{FF2B5EF4-FFF2-40B4-BE49-F238E27FC236}">
                <a16:creationId xmlns:a16="http://schemas.microsoft.com/office/drawing/2014/main" id="{5BB4DBD3-0731-488F-9C46-E12B6647F19D}"/>
              </a:ext>
            </a:extLst>
          </p:cNvPr>
          <p:cNvSpPr>
            <a:spLocks noGrp="1"/>
          </p:cNvSpPr>
          <p:nvPr/>
        </p:nvSpPr>
        <p:spPr>
          <a:xfrm>
            <a:off x="9052560" y="6627274"/>
            <a:ext cx="490000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답변·인용 번호</a:t>
            </a:r>
          </a:p>
        </p:txBody>
      </p:sp>
      <p:sp>
        <p:nvSpPr>
          <p:cNvPr id="7095" name="Connector 7096">
            <a:extLst>
              <a:ext uri="{FF2B5EF4-FFF2-40B4-BE49-F238E27FC236}">
                <a16:creationId xmlns:a16="http://schemas.microsoft.com/office/drawing/2014/main" id="{D4E3A3E8-85D5-4DB7-B33A-F92338FCF19F}"/>
              </a:ext>
            </a:extLst>
          </p:cNvPr>
          <p:cNvSpPr>
            <a:spLocks noGrp="1"/>
          </p:cNvSpPr>
          <p:nvPr/>
        </p:nvSpPr>
        <p:spPr>
          <a:xfrm flipH="1">
            <a:off x="9122560" y="6852274"/>
            <a:ext cx="4760000" cy="0"/>
          </a:xfrm>
          <a:prstGeom prst="line">
            <a:avLst/>
          </a:prstGeom>
          <a:ln w="13970">
            <a:solidFill>
              <a:srgbClr val="6B7080"/>
            </a:solidFill>
            <a:prstDash val="dash"/>
            <a:tailEnd type="arrow"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7097" name="TextBox 7098">
            <a:extLst>
              <a:ext uri="{FF2B5EF4-FFF2-40B4-BE49-F238E27FC236}">
                <a16:creationId xmlns:a16="http://schemas.microsoft.com/office/drawing/2014/main" id="{61751653-4B37-4AFB-8951-EEDE1581220C}"/>
              </a:ext>
            </a:extLst>
          </p:cNvPr>
          <p:cNvSpPr>
            <a:spLocks noGrp="1"/>
          </p:cNvSpPr>
          <p:nvPr/>
        </p:nvSpPr>
        <p:spPr>
          <a:xfrm>
            <a:off x="9052560" y="6877274"/>
            <a:ext cx="735000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질문·답변·인용 저장</a:t>
            </a:r>
          </a:p>
        </p:txBody>
      </p:sp>
      <p:sp>
        <p:nvSpPr>
          <p:cNvPr id="7099" name="Connector 7100">
            <a:extLst>
              <a:ext uri="{FF2B5EF4-FFF2-40B4-BE49-F238E27FC236}">
                <a16:creationId xmlns:a16="http://schemas.microsoft.com/office/drawing/2014/main" id="{6174FD77-91F8-4E93-8E79-E8D4D54DA799}"/>
              </a:ext>
            </a:extLst>
          </p:cNvPr>
          <p:cNvSpPr>
            <a:spLocks noGrp="1"/>
          </p:cNvSpPr>
          <p:nvPr/>
        </p:nvSpPr>
        <p:spPr>
          <a:xfrm>
            <a:off x="9122560" y="7102274"/>
            <a:ext cx="7210000" cy="0"/>
          </a:xfrm>
          <a:prstGeom prst="line">
            <a:avLst/>
          </a:prstGeom>
          <a:ln w="1397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7101" name="TextBox 7102">
            <a:extLst>
              <a:ext uri="{FF2B5EF4-FFF2-40B4-BE49-F238E27FC236}">
                <a16:creationId xmlns:a16="http://schemas.microsoft.com/office/drawing/2014/main" id="{C232C820-C395-40A6-8009-611FE6683487}"/>
              </a:ext>
            </a:extLst>
          </p:cNvPr>
          <p:cNvSpPr>
            <a:spLocks noGrp="1"/>
          </p:cNvSpPr>
          <p:nvPr/>
        </p:nvSpPr>
        <p:spPr>
          <a:xfrm>
            <a:off x="6602560" y="7127274"/>
            <a:ext cx="245000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답변</a:t>
            </a:r>
          </a:p>
        </p:txBody>
      </p:sp>
      <p:sp>
        <p:nvSpPr>
          <p:cNvPr id="7103" name="Connector 7104">
            <a:extLst>
              <a:ext uri="{FF2B5EF4-FFF2-40B4-BE49-F238E27FC236}">
                <a16:creationId xmlns:a16="http://schemas.microsoft.com/office/drawing/2014/main" id="{D8C7ABA1-B07E-4D9F-8A5D-7E61DF25F3CE}"/>
              </a:ext>
            </a:extLst>
          </p:cNvPr>
          <p:cNvSpPr>
            <a:spLocks noGrp="1"/>
          </p:cNvSpPr>
          <p:nvPr/>
        </p:nvSpPr>
        <p:spPr>
          <a:xfrm flipH="1">
            <a:off x="6672560" y="7352274"/>
            <a:ext cx="2310000" cy="0"/>
          </a:xfrm>
          <a:prstGeom prst="line">
            <a:avLst/>
          </a:prstGeom>
          <a:ln w="13970">
            <a:solidFill>
              <a:srgbClr val="6B7080"/>
            </a:solidFill>
            <a:prstDash val="dash"/>
            <a:tailEnd type="arrow"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7105" name="TextBox 7106">
            <a:extLst>
              <a:ext uri="{FF2B5EF4-FFF2-40B4-BE49-F238E27FC236}">
                <a16:creationId xmlns:a16="http://schemas.microsoft.com/office/drawing/2014/main" id="{316F3AC9-F4A7-49EC-A6D4-CC1F08FCD5D1}"/>
              </a:ext>
            </a:extLst>
          </p:cNvPr>
          <p:cNvSpPr>
            <a:spLocks noGrp="1"/>
          </p:cNvSpPr>
          <p:nvPr/>
        </p:nvSpPr>
        <p:spPr>
          <a:xfrm>
            <a:off x="4152560" y="7377274"/>
            <a:ext cx="245000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답변 전달</a:t>
            </a:r>
          </a:p>
        </p:txBody>
      </p:sp>
      <p:sp>
        <p:nvSpPr>
          <p:cNvPr id="7107" name="Connector 7108">
            <a:extLst>
              <a:ext uri="{FF2B5EF4-FFF2-40B4-BE49-F238E27FC236}">
                <a16:creationId xmlns:a16="http://schemas.microsoft.com/office/drawing/2014/main" id="{542EA51F-FB37-4C32-B241-8D4D3AB3182B}"/>
              </a:ext>
            </a:extLst>
          </p:cNvPr>
          <p:cNvSpPr>
            <a:spLocks noGrp="1"/>
          </p:cNvSpPr>
          <p:nvPr/>
        </p:nvSpPr>
        <p:spPr>
          <a:xfrm flipH="1">
            <a:off x="4222560" y="7602274"/>
            <a:ext cx="2310000" cy="0"/>
          </a:xfrm>
          <a:prstGeom prst="line">
            <a:avLst/>
          </a:prstGeom>
          <a:ln w="13970">
            <a:solidFill>
              <a:srgbClr val="6B7080"/>
            </a:solidFill>
            <a:prstDash val="dash"/>
            <a:tailEnd type="arrow"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7109" name="TextBox 7110">
            <a:extLst>
              <a:ext uri="{FF2B5EF4-FFF2-40B4-BE49-F238E27FC236}">
                <a16:creationId xmlns:a16="http://schemas.microsoft.com/office/drawing/2014/main" id="{C917EF54-563B-4C65-91EC-A4CCB299E5BC}"/>
              </a:ext>
            </a:extLst>
          </p:cNvPr>
          <p:cNvSpPr>
            <a:spLocks noGrp="1"/>
          </p:cNvSpPr>
          <p:nvPr/>
        </p:nvSpPr>
        <p:spPr>
          <a:xfrm>
            <a:off x="1702560" y="7772274"/>
            <a:ext cx="245000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답변 표시(근거 번호 클릭 가능)</a:t>
            </a:r>
          </a:p>
        </p:txBody>
      </p:sp>
      <p:sp>
        <p:nvSpPr>
          <p:cNvPr id="7111" name="Connector 7112">
            <a:extLst>
              <a:ext uri="{FF2B5EF4-FFF2-40B4-BE49-F238E27FC236}">
                <a16:creationId xmlns:a16="http://schemas.microsoft.com/office/drawing/2014/main" id="{E260F85B-21E1-445F-BB1E-FE5BD68D48FF}"/>
              </a:ext>
            </a:extLst>
          </p:cNvPr>
          <p:cNvSpPr>
            <a:spLocks noGrp="1"/>
          </p:cNvSpPr>
          <p:nvPr/>
        </p:nvSpPr>
        <p:spPr>
          <a:xfrm flipH="1">
            <a:off x="1702560" y="7997274"/>
            <a:ext cx="2380000" cy="0"/>
          </a:xfrm>
          <a:prstGeom prst="line">
            <a:avLst/>
          </a:prstGeom>
          <a:ln w="13970">
            <a:solidFill>
              <a:srgbClr val="6B7080"/>
            </a:solidFill>
            <a:prstDash val="dash"/>
            <a:tailEnd type="arrow"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7015" name="Rectangle 7016">
            <a:extLst>
              <a:ext uri="{FF2B5EF4-FFF2-40B4-BE49-F238E27FC236}">
                <a16:creationId xmlns:a16="http://schemas.microsoft.com/office/drawing/2014/main" id="{273501A7-9464-4CD4-A4B1-723B001E9DA6}"/>
              </a:ext>
            </a:extLst>
          </p:cNvPr>
          <p:cNvSpPr>
            <a:spLocks noGrp="1"/>
          </p:cNvSpPr>
          <p:nvPr/>
        </p:nvSpPr>
        <p:spPr>
          <a:xfrm>
            <a:off x="348790" y="4602274"/>
            <a:ext cx="17407540" cy="3110000"/>
          </a:xfrm>
          <a:prstGeom prst="rect">
            <a:avLst/>
          </a:prstGeom>
          <a:noFill/>
          <a:ln w="12700">
            <a:solidFill>
              <a:srgbClr val="FAA95A"/>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endParaRPr/>
          </a:p>
        </p:txBody>
      </p:sp>
      <p:sp>
        <p:nvSpPr>
          <p:cNvPr id="7017" name="Rectangle 7018">
            <a:extLst>
              <a:ext uri="{FF2B5EF4-FFF2-40B4-BE49-F238E27FC236}">
                <a16:creationId xmlns:a16="http://schemas.microsoft.com/office/drawing/2014/main" id="{AD4DCA01-57F1-433B-8F1B-7685EBEFA63C}"/>
              </a:ext>
            </a:extLst>
          </p:cNvPr>
          <p:cNvSpPr>
            <a:spLocks noGrp="1"/>
          </p:cNvSpPr>
          <p:nvPr/>
        </p:nvSpPr>
        <p:spPr>
          <a:xfrm>
            <a:off x="348790" y="4602274"/>
            <a:ext cx="708660" cy="241401"/>
          </a:xfrm>
          <a:prstGeom prst="rect">
            <a:avLst/>
          </a:prstGeom>
          <a:solidFill>
            <a:srgbClr val="FDEBD9"/>
          </a:solidFill>
          <a:ln w="12700">
            <a:solidFill>
              <a:srgbClr val="FAA95A"/>
            </a:solidFill>
          </a:ln>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algn="ctr">
              <a:buNone/>
            </a:pPr>
            <a:r>
              <a:rPr sz="1050" b="1">
                <a:solidFill>
                  <a:srgbClr val="B5601C"/>
                </a:solidFill>
                <a:latin typeface="210 OmniGothic 040"/>
                <a:ea typeface="210 OmniGothic 040"/>
                <a:cs typeface="210 OmniGothic 040"/>
              </a:rPr>
              <a:t>alt</a:t>
            </a:r>
          </a:p>
        </p:txBody>
      </p:sp>
      <p:sp>
        <p:nvSpPr>
          <p:cNvPr id="7019" name="TextBox 7020">
            <a:extLst>
              <a:ext uri="{FF2B5EF4-FFF2-40B4-BE49-F238E27FC236}">
                <a16:creationId xmlns:a16="http://schemas.microsoft.com/office/drawing/2014/main" id="{481C4098-8234-4679-AE54-7AE6D951354D}"/>
              </a:ext>
            </a:extLst>
          </p:cNvPr>
          <p:cNvSpPr>
            <a:spLocks noGrp="1"/>
          </p:cNvSpPr>
          <p:nvPr/>
        </p:nvSpPr>
        <p:spPr>
          <a:xfrm>
            <a:off x="1157450" y="4612332"/>
            <a:ext cx="5715000" cy="241401"/>
          </a:xfrm>
          <a:prstGeom prst="rect">
            <a:avLst/>
          </a:prstGeom>
          <a:noFill/>
        </p:spPr>
        <p:txBody>
          <a:bodyPr wrap="square" lIns="0" tIns="0" rIns="0" bIns="0" anchor="t">
            <a:spAutoFit/>
          </a:bodyPr>
          <a:lstStyle/>
          <a:p>
            <a:pPr algn="l">
              <a:buNone/>
            </a:pPr>
            <a:r>
              <a:rPr sz="1100" b="0">
                <a:solidFill>
                  <a:srgbClr val="2E3142"/>
                </a:solidFill>
                <a:latin typeface="210 OmniGothic 040"/>
                <a:ea typeface="210 OmniGothic 040"/>
                <a:cs typeface="210 OmniGothic 040"/>
              </a:rPr>
              <a:t>[상황변화 입력]</a:t>
            </a:r>
          </a:p>
        </p:txBody>
      </p:sp>
      <p:sp>
        <p:nvSpPr>
          <p:cNvPr id="7021" name="Connector 7022">
            <a:extLst>
              <a:ext uri="{FF2B5EF4-FFF2-40B4-BE49-F238E27FC236}">
                <a16:creationId xmlns:a16="http://schemas.microsoft.com/office/drawing/2014/main" id="{72D1FB2F-DECD-4F5A-8DBA-EA13F9650736}"/>
              </a:ext>
            </a:extLst>
          </p:cNvPr>
          <p:cNvSpPr>
            <a:spLocks noGrp="1"/>
          </p:cNvSpPr>
          <p:nvPr/>
        </p:nvSpPr>
        <p:spPr>
          <a:xfrm>
            <a:off x="348790" y="5297525"/>
            <a:ext cx="17407540" cy="0"/>
          </a:xfrm>
          <a:prstGeom prst="line">
            <a:avLst/>
          </a:prstGeom>
          <a:ln w="11430">
            <a:solidFill>
              <a:srgbClr val="FAA95A"/>
            </a:solidFill>
            <a:prstDash val="dash"/>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7023" name="TextBox 7024">
            <a:extLst>
              <a:ext uri="{FF2B5EF4-FFF2-40B4-BE49-F238E27FC236}">
                <a16:creationId xmlns:a16="http://schemas.microsoft.com/office/drawing/2014/main" id="{4922DF1F-B5C0-413F-88A5-2CA61BC0728F}"/>
              </a:ext>
            </a:extLst>
          </p:cNvPr>
          <p:cNvSpPr>
            <a:spLocks noGrp="1"/>
          </p:cNvSpPr>
          <p:nvPr/>
        </p:nvSpPr>
        <p:spPr>
          <a:xfrm>
            <a:off x="463090" y="5317642"/>
            <a:ext cx="5715000" cy="241401"/>
          </a:xfrm>
          <a:prstGeom prst="rect">
            <a:avLst/>
          </a:prstGeom>
          <a:noFill/>
        </p:spPr>
        <p:txBody>
          <a:bodyPr wrap="square" lIns="0" tIns="0" rIns="0" bIns="0" anchor="t">
            <a:spAutoFit/>
          </a:bodyPr>
          <a:lstStyle/>
          <a:p>
            <a:pPr algn="l">
              <a:buNone/>
            </a:pPr>
            <a:r>
              <a:rPr sz="1100" b="0">
                <a:solidFill>
                  <a:srgbClr val="2E3142"/>
                </a:solidFill>
                <a:latin typeface="210 OmniGothic 040"/>
                <a:ea typeface="210 OmniGothic 040"/>
                <a:cs typeface="210 OmniGothic 040"/>
              </a:rPr>
              <a:t>[질의]</a:t>
            </a:r>
          </a:p>
        </p:txBody>
      </p:sp>
    </p:spTree>
    <p:extLst>
      <p:ext uri="{BB962C8B-B14F-4D97-AF65-F5344CB8AC3E}">
        <p14:creationId xmlns:p14="http://schemas.microsoft.com/office/powerpoint/2010/main" val="177982189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442" name="Picture 2"/>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700" y="-12700"/>
            <a:ext cx="18313400" cy="1638300"/>
          </a:xfrm>
          <a:prstGeom prst="rect">
            <a:avLst/>
          </a:prstGeom>
        </p:spPr>
      </p:pic>
      <p:pic>
        <p:nvPicPr>
          <p:cNvPr id="6443" name="Picture 4"/>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28" y="1618343"/>
            <a:ext cx="18313400" cy="8699500"/>
          </a:xfrm>
          <a:prstGeom prst="rect">
            <a:avLst/>
          </a:prstGeom>
        </p:spPr>
      </p:pic>
      <p:pic>
        <p:nvPicPr>
          <p:cNvPr id="6444" name="Picture 5"/>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58800" y="9271000"/>
            <a:ext cx="17170400" cy="50800"/>
          </a:xfrm>
          <a:prstGeom prst="rect">
            <a:avLst/>
          </a:prstGeom>
        </p:spPr>
      </p:pic>
      <p:pic>
        <p:nvPicPr>
          <p:cNvPr id="6445" name="Picture 3"/>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5278100" y="203200"/>
            <a:ext cx="1676400" cy="1409700"/>
          </a:xfrm>
          <a:prstGeom prst="rect">
            <a:avLst/>
          </a:prstGeom>
        </p:spPr>
      </p:pic>
      <p:sp>
        <p:nvSpPr>
          <p:cNvPr id="5221" name="Title">
            <a:extLst>
              <a:ext uri="{FF2B5EF4-FFF2-40B4-BE49-F238E27FC236}">
                <a16:creationId xmlns:a16="http://schemas.microsoft.com/office/drawing/2014/main" id="{276F27F7-5A32-42F7-876C-4ECE8CA3120D}"/>
              </a:ext>
            </a:extLst>
          </p:cNvPr>
          <p:cNvSpPr>
            <a:spLocks noGrp="1"/>
          </p:cNvSpPr>
          <p:nvPr/>
        </p:nvSpPr>
        <p:spPr>
          <a:xfrm>
            <a:off x="822960" y="384048"/>
            <a:ext cx="13258800" cy="877824"/>
          </a:xfrm>
          <a:prstGeom prst="rect">
            <a:avLst/>
          </a:prstGeom>
          <a:noFill/>
        </p:spPr>
        <p:txBody>
          <a:bodyPr wrap="square" lIns="0" tIns="0" rIns="0" bIns="0" anchor="ctr">
            <a:spAutoFit/>
          </a:bodyPr>
          <a:lstStyle/>
          <a:p>
            <a:pPr algn="l">
              <a:buNone/>
            </a:pPr>
            <a:r>
              <a:rPr sz="4400" b="0">
                <a:solidFill>
                  <a:srgbClr val="FAA95A"/>
                </a:solidFill>
                <a:latin typeface="210 OmniGothic 050"/>
                <a:ea typeface="210 OmniGothic 050"/>
                <a:cs typeface="210 OmniGothic 050"/>
              </a:rPr>
              <a:t>04. 시퀀스 다이어그램</a:t>
            </a:r>
          </a:p>
        </p:txBody>
      </p:sp>
      <p:sp>
        <p:nvSpPr>
          <p:cNvPr id="5222" name="Subtitle">
            <a:extLst>
              <a:ext uri="{FF2B5EF4-FFF2-40B4-BE49-F238E27FC236}">
                <a16:creationId xmlns:a16="http://schemas.microsoft.com/office/drawing/2014/main" id="{93F16AA1-9FFD-441A-A18A-121106DF84DC}"/>
              </a:ext>
            </a:extLst>
          </p:cNvPr>
          <p:cNvSpPr>
            <a:spLocks noGrp="1"/>
          </p:cNvSpPr>
          <p:nvPr/>
        </p:nvSpPr>
        <p:spPr>
          <a:xfrm>
            <a:off x="822960" y="1764792"/>
            <a:ext cx="16642080" cy="502920"/>
          </a:xfrm>
          <a:prstGeom prst="rect">
            <a:avLst/>
          </a:prstGeom>
          <a:noFill/>
        </p:spPr>
        <p:txBody>
          <a:bodyPr wrap="square" lIns="0" tIns="0" rIns="0" bIns="0" anchor="ctr">
            <a:spAutoFit/>
          </a:bodyPr>
          <a:lstStyle/>
          <a:p>
            <a:pPr algn="ctr">
              <a:buNone/>
            </a:pPr>
            <a:r>
              <a:rPr sz="2600" b="1">
                <a:solidFill>
                  <a:srgbClr val="363A52"/>
                </a:solidFill>
                <a:latin typeface="210 OmniGothic 040"/>
                <a:ea typeface="210 OmniGothic 040"/>
                <a:cs typeface="210 OmniGothic 040"/>
              </a:rPr>
              <a:t>AI 상황 정정 요청  (UC-QA-02)</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idx="12"/>
          </p:nvPr>
        </p:nvSpPr>
        <p:spPr/>
        <p:txBody>
          <a:bodyPr/>
          <a:lstStyle/>
          <a:p>
            <a:fld id="{B6F15528-21DE-4FAA-801E-634DDDAF4B2B}" type="slidenum">
              <a:t>47</a:t>
            </a:fld>
            <a:endParaRPr/>
          </a:p>
        </p:txBody>
      </p:sp>
      <p:sp>
        <p:nvSpPr>
          <p:cNvPr id="6411" name="Rounded Rectangle 6412">
            <a:extLst>
              <a:ext uri="{FF2B5EF4-FFF2-40B4-BE49-F238E27FC236}">
                <a16:creationId xmlns:a16="http://schemas.microsoft.com/office/drawing/2014/main" id="{D611EE69-40D4-4A84-9173-0E0656329414}"/>
              </a:ext>
            </a:extLst>
          </p:cNvPr>
          <p:cNvSpPr>
            <a:spLocks noGrp="1"/>
          </p:cNvSpPr>
          <p:nvPr/>
        </p:nvSpPr>
        <p:spPr>
          <a:xfrm>
            <a:off x="559560" y="2446020"/>
            <a:ext cx="2286000" cy="462686"/>
          </a:xfrm>
          <a:prstGeom prst="roundRect">
            <a:avLst>
              <a:gd name="adj" fmla="val 10000"/>
            </a:avLst>
          </a:prstGeom>
          <a:solidFill>
            <a:srgbClr val="E6E9F1"/>
          </a:solidFill>
          <a:ln w="12700">
            <a:solidFill>
              <a:srgbClr val="B6BCCB"/>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r>
              <a:rPr sz="1250" b="1">
                <a:solidFill>
                  <a:srgbClr val="2E3142"/>
                </a:solidFill>
                <a:latin typeface="210 OmniGothic 040"/>
                <a:ea typeface="210 OmniGothic 040"/>
                <a:cs typeface="210 OmniGothic 040"/>
              </a:rPr>
              <a:t>통합지휘권자</a:t>
            </a:r>
          </a:p>
        </p:txBody>
      </p:sp>
      <p:sp>
        <p:nvSpPr>
          <p:cNvPr id="6413" name="Connector 6414">
            <a:extLst>
              <a:ext uri="{FF2B5EF4-FFF2-40B4-BE49-F238E27FC236}">
                <a16:creationId xmlns:a16="http://schemas.microsoft.com/office/drawing/2014/main" id="{F348F900-F992-4472-9939-97039AC4BE68}"/>
              </a:ext>
            </a:extLst>
          </p:cNvPr>
          <p:cNvSpPr>
            <a:spLocks noGrp="1"/>
          </p:cNvSpPr>
          <p:nvPr/>
        </p:nvSpPr>
        <p:spPr>
          <a:xfrm>
            <a:off x="1702560" y="2908706"/>
            <a:ext cx="0" cy="6323819"/>
          </a:xfrm>
          <a:prstGeom prst="line">
            <a:avLst/>
          </a:prstGeom>
          <a:ln w="11430">
            <a:solidFill>
              <a:srgbClr val="A3A8B8"/>
            </a:solidFill>
            <a:prstDash val="dash"/>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415" name="Rounded Rectangle 6416">
            <a:extLst>
              <a:ext uri="{FF2B5EF4-FFF2-40B4-BE49-F238E27FC236}">
                <a16:creationId xmlns:a16="http://schemas.microsoft.com/office/drawing/2014/main" id="{E1F389EE-84AC-4AAC-8F86-F1137463000E}"/>
              </a:ext>
            </a:extLst>
          </p:cNvPr>
          <p:cNvSpPr>
            <a:spLocks noGrp="1"/>
          </p:cNvSpPr>
          <p:nvPr/>
        </p:nvSpPr>
        <p:spPr>
          <a:xfrm>
            <a:off x="3009560" y="2446020"/>
            <a:ext cx="2286000" cy="462686"/>
          </a:xfrm>
          <a:prstGeom prst="roundRect">
            <a:avLst>
              <a:gd name="adj" fmla="val 10000"/>
            </a:avLst>
          </a:prstGeom>
          <a:solidFill>
            <a:srgbClr val="E6E9F1"/>
          </a:solidFill>
          <a:ln w="12700">
            <a:solidFill>
              <a:srgbClr val="B6BCCB"/>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r>
              <a:rPr sz="1250" b="1">
                <a:solidFill>
                  <a:srgbClr val="2E3142"/>
                </a:solidFill>
                <a:latin typeface="210 OmniGothic 040"/>
                <a:ea typeface="210 OmniGothic 040"/>
                <a:cs typeface="210 OmniGothic 040"/>
              </a:rPr>
              <a:t>프론트엔드</a:t>
            </a:r>
          </a:p>
        </p:txBody>
      </p:sp>
      <p:sp>
        <p:nvSpPr>
          <p:cNvPr id="6417" name="Connector 6418">
            <a:extLst>
              <a:ext uri="{FF2B5EF4-FFF2-40B4-BE49-F238E27FC236}">
                <a16:creationId xmlns:a16="http://schemas.microsoft.com/office/drawing/2014/main" id="{7702188E-16EE-4B61-9821-B085FF979610}"/>
              </a:ext>
            </a:extLst>
          </p:cNvPr>
          <p:cNvSpPr>
            <a:spLocks noGrp="1"/>
          </p:cNvSpPr>
          <p:nvPr/>
        </p:nvSpPr>
        <p:spPr>
          <a:xfrm>
            <a:off x="4152560" y="2908706"/>
            <a:ext cx="0" cy="6323819"/>
          </a:xfrm>
          <a:prstGeom prst="line">
            <a:avLst/>
          </a:prstGeom>
          <a:ln w="11430">
            <a:solidFill>
              <a:srgbClr val="A3A8B8"/>
            </a:solidFill>
            <a:prstDash val="dash"/>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419" name="Rounded Rectangle 6420">
            <a:extLst>
              <a:ext uri="{FF2B5EF4-FFF2-40B4-BE49-F238E27FC236}">
                <a16:creationId xmlns:a16="http://schemas.microsoft.com/office/drawing/2014/main" id="{C3E13D7F-5AF0-41E2-BF1B-B4CEE556206C}"/>
              </a:ext>
            </a:extLst>
          </p:cNvPr>
          <p:cNvSpPr>
            <a:spLocks noGrp="1"/>
          </p:cNvSpPr>
          <p:nvPr/>
        </p:nvSpPr>
        <p:spPr>
          <a:xfrm>
            <a:off x="5459560" y="2446020"/>
            <a:ext cx="2286000" cy="462686"/>
          </a:xfrm>
          <a:prstGeom prst="roundRect">
            <a:avLst>
              <a:gd name="adj" fmla="val 10000"/>
            </a:avLst>
          </a:prstGeom>
          <a:solidFill>
            <a:srgbClr val="E6E9F1"/>
          </a:solidFill>
          <a:ln w="12700">
            <a:solidFill>
              <a:srgbClr val="B6BCCB"/>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r>
              <a:rPr sz="1250" b="1">
                <a:solidFill>
                  <a:srgbClr val="2E3142"/>
                </a:solidFill>
                <a:latin typeface="210 OmniGothic 040"/>
                <a:ea typeface="210 OmniGothic 040"/>
                <a:cs typeface="210 OmniGothic 040"/>
              </a:rPr>
              <a:t>ChatRouter</a:t>
            </a:r>
          </a:p>
        </p:txBody>
      </p:sp>
      <p:sp>
        <p:nvSpPr>
          <p:cNvPr id="6421" name="Connector 6422">
            <a:extLst>
              <a:ext uri="{FF2B5EF4-FFF2-40B4-BE49-F238E27FC236}">
                <a16:creationId xmlns:a16="http://schemas.microsoft.com/office/drawing/2014/main" id="{048CD503-F3EA-48CB-8E2C-422AE65894F2}"/>
              </a:ext>
            </a:extLst>
          </p:cNvPr>
          <p:cNvSpPr>
            <a:spLocks noGrp="1"/>
          </p:cNvSpPr>
          <p:nvPr/>
        </p:nvSpPr>
        <p:spPr>
          <a:xfrm>
            <a:off x="6602560" y="2908706"/>
            <a:ext cx="0" cy="6323819"/>
          </a:xfrm>
          <a:prstGeom prst="line">
            <a:avLst/>
          </a:prstGeom>
          <a:ln w="11430">
            <a:solidFill>
              <a:srgbClr val="A3A8B8"/>
            </a:solidFill>
            <a:prstDash val="dash"/>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423" name="Rounded Rectangle 6424">
            <a:extLst>
              <a:ext uri="{FF2B5EF4-FFF2-40B4-BE49-F238E27FC236}">
                <a16:creationId xmlns:a16="http://schemas.microsoft.com/office/drawing/2014/main" id="{D0A74736-4D0E-4DC6-BAB6-256FB76524E6}"/>
              </a:ext>
            </a:extLst>
          </p:cNvPr>
          <p:cNvSpPr>
            <a:spLocks noGrp="1"/>
          </p:cNvSpPr>
          <p:nvPr/>
        </p:nvSpPr>
        <p:spPr>
          <a:xfrm>
            <a:off x="7909560" y="2446020"/>
            <a:ext cx="2286000" cy="462686"/>
          </a:xfrm>
          <a:prstGeom prst="roundRect">
            <a:avLst>
              <a:gd name="adj" fmla="val 10000"/>
            </a:avLst>
          </a:prstGeom>
          <a:solidFill>
            <a:srgbClr val="E6E9F1"/>
          </a:solidFill>
          <a:ln w="12700">
            <a:solidFill>
              <a:srgbClr val="B6BCCB"/>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r>
              <a:rPr sz="1250" b="1">
                <a:solidFill>
                  <a:srgbClr val="2E3142"/>
                </a:solidFill>
                <a:latin typeface="210 OmniGothic 040"/>
                <a:ea typeface="210 OmniGothic 040"/>
                <a:cs typeface="210 OmniGothic 040"/>
              </a:rPr>
              <a:t>AssistantService</a:t>
            </a:r>
          </a:p>
        </p:txBody>
      </p:sp>
      <p:sp>
        <p:nvSpPr>
          <p:cNvPr id="6425" name="Connector 6426">
            <a:extLst>
              <a:ext uri="{FF2B5EF4-FFF2-40B4-BE49-F238E27FC236}">
                <a16:creationId xmlns:a16="http://schemas.microsoft.com/office/drawing/2014/main" id="{9BB4E53B-5943-4ABC-A416-A672FB61DBC4}"/>
              </a:ext>
            </a:extLst>
          </p:cNvPr>
          <p:cNvSpPr>
            <a:spLocks noGrp="1"/>
          </p:cNvSpPr>
          <p:nvPr/>
        </p:nvSpPr>
        <p:spPr>
          <a:xfrm>
            <a:off x="9052560" y="2908706"/>
            <a:ext cx="0" cy="6323819"/>
          </a:xfrm>
          <a:prstGeom prst="line">
            <a:avLst/>
          </a:prstGeom>
          <a:ln w="11430">
            <a:solidFill>
              <a:srgbClr val="A3A8B8"/>
            </a:solidFill>
            <a:prstDash val="dash"/>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427" name="Rounded Rectangle 6428">
            <a:extLst>
              <a:ext uri="{FF2B5EF4-FFF2-40B4-BE49-F238E27FC236}">
                <a16:creationId xmlns:a16="http://schemas.microsoft.com/office/drawing/2014/main" id="{1C8442F1-C74A-4756-A737-AB97498CE953}"/>
              </a:ext>
            </a:extLst>
          </p:cNvPr>
          <p:cNvSpPr>
            <a:spLocks noGrp="1"/>
          </p:cNvSpPr>
          <p:nvPr/>
        </p:nvSpPr>
        <p:spPr>
          <a:xfrm>
            <a:off x="10359560" y="2446020"/>
            <a:ext cx="2286000" cy="462686"/>
          </a:xfrm>
          <a:prstGeom prst="roundRect">
            <a:avLst>
              <a:gd name="adj" fmla="val 10000"/>
            </a:avLst>
          </a:prstGeom>
          <a:solidFill>
            <a:srgbClr val="E6E9F1"/>
          </a:solidFill>
          <a:ln w="12700">
            <a:solidFill>
              <a:srgbClr val="B6BCCB"/>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r>
              <a:rPr sz="1250" b="1">
                <a:solidFill>
                  <a:srgbClr val="2E3142"/>
                </a:solidFill>
                <a:latin typeface="210 OmniGothic 040"/>
                <a:ea typeface="210 OmniGothic 040"/>
                <a:cs typeface="210 OmniGothic 040"/>
              </a:rPr>
              <a:t>제안 오케스트레이터</a:t>
            </a:r>
          </a:p>
        </p:txBody>
      </p:sp>
      <p:sp>
        <p:nvSpPr>
          <p:cNvPr id="6429" name="Connector 6430">
            <a:extLst>
              <a:ext uri="{FF2B5EF4-FFF2-40B4-BE49-F238E27FC236}">
                <a16:creationId xmlns:a16="http://schemas.microsoft.com/office/drawing/2014/main" id="{F5197B58-9A76-4149-B172-337EC0FFB92C}"/>
              </a:ext>
            </a:extLst>
          </p:cNvPr>
          <p:cNvSpPr>
            <a:spLocks noGrp="1"/>
          </p:cNvSpPr>
          <p:nvPr/>
        </p:nvSpPr>
        <p:spPr>
          <a:xfrm>
            <a:off x="11502560" y="2908706"/>
            <a:ext cx="0" cy="6323819"/>
          </a:xfrm>
          <a:prstGeom prst="line">
            <a:avLst/>
          </a:prstGeom>
          <a:ln w="11430">
            <a:solidFill>
              <a:srgbClr val="A3A8B8"/>
            </a:solidFill>
            <a:prstDash val="dash"/>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431" name="Rounded Rectangle 6432">
            <a:extLst>
              <a:ext uri="{FF2B5EF4-FFF2-40B4-BE49-F238E27FC236}">
                <a16:creationId xmlns:a16="http://schemas.microsoft.com/office/drawing/2014/main" id="{361BE5F2-1800-439F-8C93-5DEEA9562991}"/>
              </a:ext>
            </a:extLst>
          </p:cNvPr>
          <p:cNvSpPr>
            <a:spLocks noGrp="1"/>
          </p:cNvSpPr>
          <p:nvPr/>
        </p:nvSpPr>
        <p:spPr>
          <a:xfrm>
            <a:off x="12809560" y="2446020"/>
            <a:ext cx="2286000" cy="462686"/>
          </a:xfrm>
          <a:prstGeom prst="roundRect">
            <a:avLst>
              <a:gd name="adj" fmla="val 10000"/>
            </a:avLst>
          </a:prstGeom>
          <a:solidFill>
            <a:srgbClr val="E6E9F1"/>
          </a:solidFill>
          <a:ln w="12700">
            <a:solidFill>
              <a:srgbClr val="B6BCCB"/>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r>
              <a:rPr sz="1250" b="1">
                <a:solidFill>
                  <a:srgbClr val="2E3142"/>
                </a:solidFill>
                <a:latin typeface="210 OmniGothic 040"/>
                <a:ea typeface="210 OmniGothic 040"/>
                <a:cs typeface="210 OmniGothic 040"/>
              </a:rPr>
              <a:t>DB</a:t>
            </a:r>
          </a:p>
        </p:txBody>
      </p:sp>
      <p:sp>
        <p:nvSpPr>
          <p:cNvPr id="6433" name="Connector 6434">
            <a:extLst>
              <a:ext uri="{FF2B5EF4-FFF2-40B4-BE49-F238E27FC236}">
                <a16:creationId xmlns:a16="http://schemas.microsoft.com/office/drawing/2014/main" id="{FD19BA1D-9521-4945-8465-96A162E2A647}"/>
              </a:ext>
            </a:extLst>
          </p:cNvPr>
          <p:cNvSpPr>
            <a:spLocks noGrp="1"/>
          </p:cNvSpPr>
          <p:nvPr/>
        </p:nvSpPr>
        <p:spPr>
          <a:xfrm>
            <a:off x="13952560" y="2908706"/>
            <a:ext cx="0" cy="6323819"/>
          </a:xfrm>
          <a:prstGeom prst="line">
            <a:avLst/>
          </a:prstGeom>
          <a:ln w="11430">
            <a:solidFill>
              <a:srgbClr val="A3A8B8"/>
            </a:solidFill>
            <a:prstDash val="dash"/>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435" name="Rounded Rectangle 6436">
            <a:extLst>
              <a:ext uri="{FF2B5EF4-FFF2-40B4-BE49-F238E27FC236}">
                <a16:creationId xmlns:a16="http://schemas.microsoft.com/office/drawing/2014/main" id="{C8206868-FC99-4B6D-B295-79D42891843D}"/>
              </a:ext>
            </a:extLst>
          </p:cNvPr>
          <p:cNvSpPr>
            <a:spLocks noGrp="1"/>
          </p:cNvSpPr>
          <p:nvPr/>
        </p:nvSpPr>
        <p:spPr>
          <a:xfrm>
            <a:off x="15259560" y="2446020"/>
            <a:ext cx="2286000" cy="462686"/>
          </a:xfrm>
          <a:prstGeom prst="roundRect">
            <a:avLst>
              <a:gd name="adj" fmla="val 10000"/>
            </a:avLst>
          </a:prstGeom>
          <a:solidFill>
            <a:srgbClr val="E6E9F1"/>
          </a:solidFill>
          <a:ln w="12700">
            <a:solidFill>
              <a:srgbClr val="B6BCCB"/>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r>
              <a:rPr sz="1250" b="1">
                <a:solidFill>
                  <a:srgbClr val="2E3142"/>
                </a:solidFill>
                <a:latin typeface="210 OmniGothic 040"/>
                <a:ea typeface="210 OmniGothic 040"/>
                <a:cs typeface="210 OmniGothic 040"/>
              </a:rPr>
              <a:t>EventLogger</a:t>
            </a:r>
          </a:p>
        </p:txBody>
      </p:sp>
      <p:sp>
        <p:nvSpPr>
          <p:cNvPr id="6437" name="Connector 6438">
            <a:extLst>
              <a:ext uri="{FF2B5EF4-FFF2-40B4-BE49-F238E27FC236}">
                <a16:creationId xmlns:a16="http://schemas.microsoft.com/office/drawing/2014/main" id="{73CF2AE7-30FE-4EE1-97C9-FC6F34F544F5}"/>
              </a:ext>
            </a:extLst>
          </p:cNvPr>
          <p:cNvSpPr>
            <a:spLocks noGrp="1"/>
          </p:cNvSpPr>
          <p:nvPr/>
        </p:nvSpPr>
        <p:spPr>
          <a:xfrm>
            <a:off x="16402560" y="2908706"/>
            <a:ext cx="0" cy="6323819"/>
          </a:xfrm>
          <a:prstGeom prst="line">
            <a:avLst/>
          </a:prstGeom>
          <a:ln w="11430">
            <a:solidFill>
              <a:srgbClr val="A3A8B8"/>
            </a:solidFill>
            <a:prstDash val="dash"/>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303" name="Rectangle 6304">
            <a:extLst>
              <a:ext uri="{FF2B5EF4-FFF2-40B4-BE49-F238E27FC236}">
                <a16:creationId xmlns:a16="http://schemas.microsoft.com/office/drawing/2014/main" id="{215D94F2-32F7-4680-8DEE-B4BEE847E454}"/>
              </a:ext>
            </a:extLst>
          </p:cNvPr>
          <p:cNvSpPr>
            <a:spLocks noGrp="1"/>
          </p:cNvSpPr>
          <p:nvPr/>
        </p:nvSpPr>
        <p:spPr>
          <a:xfrm>
            <a:off x="13882560" y="4577274"/>
            <a:ext cx="140000" cy="15000"/>
          </a:xfrm>
          <a:prstGeom prst="rect">
            <a:avLst/>
          </a:prstGeom>
          <a:solidFill>
            <a:srgbClr val="FFFFFF"/>
          </a:solidFill>
          <a:ln w="9525">
            <a:solidFill>
              <a:srgbClr val="363A52"/>
            </a:solidFill>
          </a:ln>
        </p:spPr>
        <p:style>
          <a:lnRef idx="1">
            <a:schemeClr val="accent1"/>
          </a:lnRef>
          <a:fillRef idx="3">
            <a:schemeClr val="accent1"/>
          </a:fillRef>
          <a:effectRef idx="2">
            <a:schemeClr val="accent1"/>
          </a:effectRef>
          <a:fontRef idx="minor">
            <a:schemeClr val="lt1"/>
          </a:fontRef>
        </p:style>
        <p:txBody>
          <a:bodyPr wrap="square" lIns="0" rIns="0" anchor="ctr"/>
          <a:lstStyle/>
          <a:p>
            <a:pPr algn="ctr">
              <a:buNone/>
            </a:pPr>
            <a:endParaRPr/>
          </a:p>
        </p:txBody>
      </p:sp>
      <p:sp>
        <p:nvSpPr>
          <p:cNvPr id="6305" name="Rectangle 6306">
            <a:extLst>
              <a:ext uri="{FF2B5EF4-FFF2-40B4-BE49-F238E27FC236}">
                <a16:creationId xmlns:a16="http://schemas.microsoft.com/office/drawing/2014/main" id="{A40BD6F0-BE02-4B3D-B4D6-E101199FAD11}"/>
              </a:ext>
            </a:extLst>
          </p:cNvPr>
          <p:cNvSpPr>
            <a:spLocks noGrp="1"/>
          </p:cNvSpPr>
          <p:nvPr/>
        </p:nvSpPr>
        <p:spPr>
          <a:xfrm>
            <a:off x="8982560" y="4327274"/>
            <a:ext cx="140000" cy="720000"/>
          </a:xfrm>
          <a:prstGeom prst="rect">
            <a:avLst/>
          </a:prstGeom>
          <a:solidFill>
            <a:srgbClr val="FFFFFF"/>
          </a:solidFill>
          <a:ln w="9525">
            <a:solidFill>
              <a:srgbClr val="363A52"/>
            </a:solidFill>
          </a:ln>
        </p:spPr>
        <p:style>
          <a:lnRef idx="1">
            <a:schemeClr val="accent1"/>
          </a:lnRef>
          <a:fillRef idx="3">
            <a:schemeClr val="accent1"/>
          </a:fillRef>
          <a:effectRef idx="2">
            <a:schemeClr val="accent1"/>
          </a:effectRef>
          <a:fontRef idx="minor">
            <a:schemeClr val="lt1"/>
          </a:fontRef>
        </p:style>
        <p:txBody>
          <a:bodyPr wrap="square" lIns="0" rIns="0" anchor="ctr"/>
          <a:lstStyle/>
          <a:p>
            <a:pPr algn="ctr">
              <a:buNone/>
            </a:pPr>
            <a:endParaRPr/>
          </a:p>
        </p:txBody>
      </p:sp>
      <p:sp>
        <p:nvSpPr>
          <p:cNvPr id="6307" name="Rectangle 6308">
            <a:extLst>
              <a:ext uri="{FF2B5EF4-FFF2-40B4-BE49-F238E27FC236}">
                <a16:creationId xmlns:a16="http://schemas.microsoft.com/office/drawing/2014/main" id="{E7D12355-99DF-4512-8454-693F199D413C}"/>
              </a:ext>
            </a:extLst>
          </p:cNvPr>
          <p:cNvSpPr>
            <a:spLocks noGrp="1"/>
          </p:cNvSpPr>
          <p:nvPr/>
        </p:nvSpPr>
        <p:spPr>
          <a:xfrm>
            <a:off x="6532560" y="3632274"/>
            <a:ext cx="140000" cy="1665000"/>
          </a:xfrm>
          <a:prstGeom prst="rect">
            <a:avLst/>
          </a:prstGeom>
          <a:solidFill>
            <a:srgbClr val="FFFFFF"/>
          </a:solidFill>
          <a:ln w="9525">
            <a:solidFill>
              <a:srgbClr val="363A52"/>
            </a:solidFill>
          </a:ln>
        </p:spPr>
        <p:style>
          <a:lnRef idx="1">
            <a:schemeClr val="accent1"/>
          </a:lnRef>
          <a:fillRef idx="3">
            <a:schemeClr val="accent1"/>
          </a:fillRef>
          <a:effectRef idx="2">
            <a:schemeClr val="accent1"/>
          </a:effectRef>
          <a:fontRef idx="minor">
            <a:schemeClr val="lt1"/>
          </a:fontRef>
        </p:style>
        <p:txBody>
          <a:bodyPr wrap="square" lIns="0" rIns="0" anchor="ctr"/>
          <a:lstStyle/>
          <a:p>
            <a:pPr algn="ctr">
              <a:buNone/>
            </a:pPr>
            <a:endParaRPr/>
          </a:p>
        </p:txBody>
      </p:sp>
      <p:sp>
        <p:nvSpPr>
          <p:cNvPr id="6309" name="Rectangle 6310">
            <a:extLst>
              <a:ext uri="{FF2B5EF4-FFF2-40B4-BE49-F238E27FC236}">
                <a16:creationId xmlns:a16="http://schemas.microsoft.com/office/drawing/2014/main" id="{4E772755-7B9F-4ED9-80E4-D743765535A4}"/>
              </a:ext>
            </a:extLst>
          </p:cNvPr>
          <p:cNvSpPr>
            <a:spLocks noGrp="1"/>
          </p:cNvSpPr>
          <p:nvPr/>
        </p:nvSpPr>
        <p:spPr>
          <a:xfrm>
            <a:off x="8982560" y="4327274"/>
            <a:ext cx="140000" cy="1330000"/>
          </a:xfrm>
          <a:prstGeom prst="rect">
            <a:avLst/>
          </a:prstGeom>
          <a:solidFill>
            <a:srgbClr val="FFFFFF"/>
          </a:solidFill>
          <a:ln w="9525">
            <a:solidFill>
              <a:srgbClr val="363A52"/>
            </a:solidFill>
          </a:ln>
        </p:spPr>
        <p:style>
          <a:lnRef idx="1">
            <a:schemeClr val="accent1"/>
          </a:lnRef>
          <a:fillRef idx="3">
            <a:schemeClr val="accent1"/>
          </a:fillRef>
          <a:effectRef idx="2">
            <a:schemeClr val="accent1"/>
          </a:effectRef>
          <a:fontRef idx="minor">
            <a:schemeClr val="lt1"/>
          </a:fontRef>
        </p:style>
        <p:txBody>
          <a:bodyPr wrap="square" lIns="0" rIns="0" anchor="ctr"/>
          <a:lstStyle/>
          <a:p>
            <a:pPr algn="ctr">
              <a:buNone/>
            </a:pPr>
            <a:endParaRPr/>
          </a:p>
        </p:txBody>
      </p:sp>
      <p:sp>
        <p:nvSpPr>
          <p:cNvPr id="6311" name="Rectangle 6312">
            <a:extLst>
              <a:ext uri="{FF2B5EF4-FFF2-40B4-BE49-F238E27FC236}">
                <a16:creationId xmlns:a16="http://schemas.microsoft.com/office/drawing/2014/main" id="{958322EE-0B9F-4A33-87B5-C1C8B9A68388}"/>
              </a:ext>
            </a:extLst>
          </p:cNvPr>
          <p:cNvSpPr>
            <a:spLocks noGrp="1"/>
          </p:cNvSpPr>
          <p:nvPr/>
        </p:nvSpPr>
        <p:spPr>
          <a:xfrm>
            <a:off x="6532560" y="3632274"/>
            <a:ext cx="140000" cy="2275000"/>
          </a:xfrm>
          <a:prstGeom prst="rect">
            <a:avLst/>
          </a:prstGeom>
          <a:solidFill>
            <a:srgbClr val="FFFFFF"/>
          </a:solidFill>
          <a:ln w="9525">
            <a:solidFill>
              <a:srgbClr val="363A52"/>
            </a:solidFill>
          </a:ln>
        </p:spPr>
        <p:style>
          <a:lnRef idx="1">
            <a:schemeClr val="accent1"/>
          </a:lnRef>
          <a:fillRef idx="3">
            <a:schemeClr val="accent1"/>
          </a:fillRef>
          <a:effectRef idx="2">
            <a:schemeClr val="accent1"/>
          </a:effectRef>
          <a:fontRef idx="minor">
            <a:schemeClr val="lt1"/>
          </a:fontRef>
        </p:style>
        <p:txBody>
          <a:bodyPr wrap="square" lIns="0" rIns="0" anchor="ctr"/>
          <a:lstStyle/>
          <a:p>
            <a:pPr algn="ctr">
              <a:buNone/>
            </a:pPr>
            <a:endParaRPr/>
          </a:p>
        </p:txBody>
      </p:sp>
      <p:sp>
        <p:nvSpPr>
          <p:cNvPr id="6313" name="Rectangle 6314">
            <a:extLst>
              <a:ext uri="{FF2B5EF4-FFF2-40B4-BE49-F238E27FC236}">
                <a16:creationId xmlns:a16="http://schemas.microsoft.com/office/drawing/2014/main" id="{A3F0A392-F42A-4D33-8C3B-98D34E7760D3}"/>
              </a:ext>
            </a:extLst>
          </p:cNvPr>
          <p:cNvSpPr>
            <a:spLocks noGrp="1"/>
          </p:cNvSpPr>
          <p:nvPr/>
        </p:nvSpPr>
        <p:spPr>
          <a:xfrm>
            <a:off x="4082560" y="3382274"/>
            <a:ext cx="140000" cy="2775000"/>
          </a:xfrm>
          <a:prstGeom prst="rect">
            <a:avLst/>
          </a:prstGeom>
          <a:solidFill>
            <a:srgbClr val="FFFFFF"/>
          </a:solidFill>
          <a:ln w="9525">
            <a:solidFill>
              <a:srgbClr val="363A52"/>
            </a:solidFill>
          </a:ln>
        </p:spPr>
        <p:style>
          <a:lnRef idx="1">
            <a:schemeClr val="accent1"/>
          </a:lnRef>
          <a:fillRef idx="3">
            <a:schemeClr val="accent1"/>
          </a:fillRef>
          <a:effectRef idx="2">
            <a:schemeClr val="accent1"/>
          </a:effectRef>
          <a:fontRef idx="minor">
            <a:schemeClr val="lt1"/>
          </a:fontRef>
        </p:style>
        <p:txBody>
          <a:bodyPr wrap="square" lIns="0" rIns="0" anchor="ctr"/>
          <a:lstStyle/>
          <a:p>
            <a:pPr algn="ctr">
              <a:buNone/>
            </a:pPr>
            <a:endParaRPr/>
          </a:p>
        </p:txBody>
      </p:sp>
      <p:sp>
        <p:nvSpPr>
          <p:cNvPr id="6315" name="Rectangle 6316">
            <a:extLst>
              <a:ext uri="{FF2B5EF4-FFF2-40B4-BE49-F238E27FC236}">
                <a16:creationId xmlns:a16="http://schemas.microsoft.com/office/drawing/2014/main" id="{E492661C-F863-4972-9238-FE2B9642D49D}"/>
              </a:ext>
            </a:extLst>
          </p:cNvPr>
          <p:cNvSpPr>
            <a:spLocks noGrp="1"/>
          </p:cNvSpPr>
          <p:nvPr/>
        </p:nvSpPr>
        <p:spPr>
          <a:xfrm>
            <a:off x="13882560" y="7272274"/>
            <a:ext cx="140000" cy="15000"/>
          </a:xfrm>
          <a:prstGeom prst="rect">
            <a:avLst/>
          </a:prstGeom>
          <a:solidFill>
            <a:srgbClr val="FFFFFF"/>
          </a:solidFill>
          <a:ln w="9525">
            <a:solidFill>
              <a:srgbClr val="363A52"/>
            </a:solidFill>
          </a:ln>
        </p:spPr>
        <p:style>
          <a:lnRef idx="1">
            <a:schemeClr val="accent1"/>
          </a:lnRef>
          <a:fillRef idx="3">
            <a:schemeClr val="accent1"/>
          </a:fillRef>
          <a:effectRef idx="2">
            <a:schemeClr val="accent1"/>
          </a:effectRef>
          <a:fontRef idx="minor">
            <a:schemeClr val="lt1"/>
          </a:fontRef>
        </p:style>
        <p:txBody>
          <a:bodyPr wrap="square" lIns="0" rIns="0" anchor="ctr"/>
          <a:lstStyle/>
          <a:p>
            <a:pPr algn="ctr">
              <a:buNone/>
            </a:pPr>
            <a:endParaRPr/>
          </a:p>
        </p:txBody>
      </p:sp>
      <p:sp>
        <p:nvSpPr>
          <p:cNvPr id="6317" name="Rectangle 6318">
            <a:extLst>
              <a:ext uri="{FF2B5EF4-FFF2-40B4-BE49-F238E27FC236}">
                <a16:creationId xmlns:a16="http://schemas.microsoft.com/office/drawing/2014/main" id="{BF60FAE4-497D-4936-9A42-C52A31D97236}"/>
              </a:ext>
            </a:extLst>
          </p:cNvPr>
          <p:cNvSpPr>
            <a:spLocks noGrp="1"/>
          </p:cNvSpPr>
          <p:nvPr/>
        </p:nvSpPr>
        <p:spPr>
          <a:xfrm>
            <a:off x="16332560" y="7522274"/>
            <a:ext cx="140000" cy="15000"/>
          </a:xfrm>
          <a:prstGeom prst="rect">
            <a:avLst/>
          </a:prstGeom>
          <a:solidFill>
            <a:srgbClr val="FFFFFF"/>
          </a:solidFill>
          <a:ln w="9525">
            <a:solidFill>
              <a:srgbClr val="363A52"/>
            </a:solidFill>
          </a:ln>
        </p:spPr>
        <p:style>
          <a:lnRef idx="1">
            <a:schemeClr val="accent1"/>
          </a:lnRef>
          <a:fillRef idx="3">
            <a:schemeClr val="accent1"/>
          </a:fillRef>
          <a:effectRef idx="2">
            <a:schemeClr val="accent1"/>
          </a:effectRef>
          <a:fontRef idx="minor">
            <a:schemeClr val="lt1"/>
          </a:fontRef>
        </p:style>
        <p:txBody>
          <a:bodyPr wrap="square" lIns="0" rIns="0" anchor="ctr"/>
          <a:lstStyle/>
          <a:p>
            <a:pPr algn="ctr">
              <a:buNone/>
            </a:pPr>
            <a:endParaRPr/>
          </a:p>
        </p:txBody>
      </p:sp>
      <p:sp>
        <p:nvSpPr>
          <p:cNvPr id="6319" name="Rectangle 6320">
            <a:extLst>
              <a:ext uri="{FF2B5EF4-FFF2-40B4-BE49-F238E27FC236}">
                <a16:creationId xmlns:a16="http://schemas.microsoft.com/office/drawing/2014/main" id="{37429FB8-3514-42F4-85F2-83F24452DB51}"/>
              </a:ext>
            </a:extLst>
          </p:cNvPr>
          <p:cNvSpPr>
            <a:spLocks noGrp="1"/>
          </p:cNvSpPr>
          <p:nvPr/>
        </p:nvSpPr>
        <p:spPr>
          <a:xfrm>
            <a:off x="11432560" y="7772274"/>
            <a:ext cx="140000" cy="250000"/>
          </a:xfrm>
          <a:prstGeom prst="rect">
            <a:avLst/>
          </a:prstGeom>
          <a:solidFill>
            <a:srgbClr val="FFFFFF"/>
          </a:solidFill>
          <a:ln w="9525">
            <a:solidFill>
              <a:srgbClr val="363A52"/>
            </a:solidFill>
          </a:ln>
        </p:spPr>
        <p:style>
          <a:lnRef idx="1">
            <a:schemeClr val="accent1"/>
          </a:lnRef>
          <a:fillRef idx="3">
            <a:schemeClr val="accent1"/>
          </a:fillRef>
          <a:effectRef idx="2">
            <a:schemeClr val="accent1"/>
          </a:effectRef>
          <a:fontRef idx="minor">
            <a:schemeClr val="lt1"/>
          </a:fontRef>
        </p:style>
        <p:txBody>
          <a:bodyPr wrap="square" lIns="0" rIns="0" anchor="ctr"/>
          <a:lstStyle/>
          <a:p>
            <a:pPr algn="ctr">
              <a:buNone/>
            </a:pPr>
            <a:endParaRPr/>
          </a:p>
        </p:txBody>
      </p:sp>
      <p:sp>
        <p:nvSpPr>
          <p:cNvPr id="6321" name="Rectangle 6322">
            <a:extLst>
              <a:ext uri="{FF2B5EF4-FFF2-40B4-BE49-F238E27FC236}">
                <a16:creationId xmlns:a16="http://schemas.microsoft.com/office/drawing/2014/main" id="{AFE3D860-51D4-4327-9023-2EE201B1CBE8}"/>
              </a:ext>
            </a:extLst>
          </p:cNvPr>
          <p:cNvSpPr>
            <a:spLocks noGrp="1"/>
          </p:cNvSpPr>
          <p:nvPr/>
        </p:nvSpPr>
        <p:spPr>
          <a:xfrm>
            <a:off x="8982560" y="7022274"/>
            <a:ext cx="140000" cy="1250000"/>
          </a:xfrm>
          <a:prstGeom prst="rect">
            <a:avLst/>
          </a:prstGeom>
          <a:solidFill>
            <a:srgbClr val="FFFFFF"/>
          </a:solidFill>
          <a:ln w="9525">
            <a:solidFill>
              <a:srgbClr val="363A52"/>
            </a:solidFill>
          </a:ln>
        </p:spPr>
        <p:style>
          <a:lnRef idx="1">
            <a:schemeClr val="accent1"/>
          </a:lnRef>
          <a:fillRef idx="3">
            <a:schemeClr val="accent1"/>
          </a:fillRef>
          <a:effectRef idx="2">
            <a:schemeClr val="accent1"/>
          </a:effectRef>
          <a:fontRef idx="minor">
            <a:schemeClr val="lt1"/>
          </a:fontRef>
        </p:style>
        <p:txBody>
          <a:bodyPr wrap="square" lIns="0" rIns="0" anchor="ctr"/>
          <a:lstStyle/>
          <a:p>
            <a:pPr algn="ctr">
              <a:buNone/>
            </a:pPr>
            <a:endParaRPr/>
          </a:p>
        </p:txBody>
      </p:sp>
      <p:sp>
        <p:nvSpPr>
          <p:cNvPr id="6323" name="Rectangle 6324">
            <a:extLst>
              <a:ext uri="{FF2B5EF4-FFF2-40B4-BE49-F238E27FC236}">
                <a16:creationId xmlns:a16="http://schemas.microsoft.com/office/drawing/2014/main" id="{D812BD6A-1E44-4BE9-B276-329527C7B69E}"/>
              </a:ext>
            </a:extLst>
          </p:cNvPr>
          <p:cNvSpPr>
            <a:spLocks noGrp="1"/>
          </p:cNvSpPr>
          <p:nvPr/>
        </p:nvSpPr>
        <p:spPr>
          <a:xfrm>
            <a:off x="6532560" y="6772274"/>
            <a:ext cx="140000" cy="1750000"/>
          </a:xfrm>
          <a:prstGeom prst="rect">
            <a:avLst/>
          </a:prstGeom>
          <a:solidFill>
            <a:srgbClr val="FFFFFF"/>
          </a:solidFill>
          <a:ln w="9525">
            <a:solidFill>
              <a:srgbClr val="363A52"/>
            </a:solidFill>
          </a:ln>
        </p:spPr>
        <p:style>
          <a:lnRef idx="1">
            <a:schemeClr val="accent1"/>
          </a:lnRef>
          <a:fillRef idx="3">
            <a:schemeClr val="accent1"/>
          </a:fillRef>
          <a:effectRef idx="2">
            <a:schemeClr val="accent1"/>
          </a:effectRef>
          <a:fontRef idx="minor">
            <a:schemeClr val="lt1"/>
          </a:fontRef>
        </p:style>
        <p:txBody>
          <a:bodyPr wrap="square" lIns="0" rIns="0" anchor="ctr"/>
          <a:lstStyle/>
          <a:p>
            <a:pPr algn="ctr">
              <a:buNone/>
            </a:pPr>
            <a:endParaRPr/>
          </a:p>
        </p:txBody>
      </p:sp>
      <p:sp>
        <p:nvSpPr>
          <p:cNvPr id="6325" name="Rectangle 6326">
            <a:extLst>
              <a:ext uri="{FF2B5EF4-FFF2-40B4-BE49-F238E27FC236}">
                <a16:creationId xmlns:a16="http://schemas.microsoft.com/office/drawing/2014/main" id="{273E76FA-FEFC-4D0B-A21D-1A9B684CE430}"/>
              </a:ext>
            </a:extLst>
          </p:cNvPr>
          <p:cNvSpPr>
            <a:spLocks noGrp="1"/>
          </p:cNvSpPr>
          <p:nvPr/>
        </p:nvSpPr>
        <p:spPr>
          <a:xfrm>
            <a:off x="4082560" y="8882274"/>
            <a:ext cx="140000" cy="180251"/>
          </a:xfrm>
          <a:prstGeom prst="rect">
            <a:avLst/>
          </a:prstGeom>
          <a:solidFill>
            <a:srgbClr val="FFFFFF"/>
          </a:solidFill>
          <a:ln w="9525">
            <a:solidFill>
              <a:srgbClr val="363A52"/>
            </a:solidFill>
          </a:ln>
        </p:spPr>
        <p:style>
          <a:lnRef idx="1">
            <a:schemeClr val="accent1"/>
          </a:lnRef>
          <a:fillRef idx="3">
            <a:schemeClr val="accent1"/>
          </a:fillRef>
          <a:effectRef idx="2">
            <a:schemeClr val="accent1"/>
          </a:effectRef>
          <a:fontRef idx="minor">
            <a:schemeClr val="lt1"/>
          </a:fontRef>
        </p:style>
        <p:txBody>
          <a:bodyPr wrap="square" lIns="0" rIns="0" anchor="ctr"/>
          <a:lstStyle/>
          <a:p>
            <a:pPr algn="ctr">
              <a:buNone/>
            </a:pPr>
            <a:endParaRPr/>
          </a:p>
        </p:txBody>
      </p:sp>
      <p:sp>
        <p:nvSpPr>
          <p:cNvPr id="6327" name="TextBox 6328">
            <a:extLst>
              <a:ext uri="{FF2B5EF4-FFF2-40B4-BE49-F238E27FC236}">
                <a16:creationId xmlns:a16="http://schemas.microsoft.com/office/drawing/2014/main" id="{5FD10303-2EB9-46CA-A027-2C6C7D9809AA}"/>
              </a:ext>
            </a:extLst>
          </p:cNvPr>
          <p:cNvSpPr>
            <a:spLocks noGrp="1"/>
          </p:cNvSpPr>
          <p:nvPr/>
        </p:nvSpPr>
        <p:spPr>
          <a:xfrm>
            <a:off x="1702560" y="3157274"/>
            <a:ext cx="245000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"박곡리 대피 완료" 입력</a:t>
            </a:r>
          </a:p>
        </p:txBody>
      </p:sp>
      <p:sp>
        <p:nvSpPr>
          <p:cNvPr id="6329" name="Connector 6330">
            <a:extLst>
              <a:ext uri="{FF2B5EF4-FFF2-40B4-BE49-F238E27FC236}">
                <a16:creationId xmlns:a16="http://schemas.microsoft.com/office/drawing/2014/main" id="{CC7E0592-9A05-40B8-80E1-B71C6CCE0354}"/>
              </a:ext>
            </a:extLst>
          </p:cNvPr>
          <p:cNvSpPr>
            <a:spLocks noGrp="1"/>
          </p:cNvSpPr>
          <p:nvPr/>
        </p:nvSpPr>
        <p:spPr>
          <a:xfrm>
            <a:off x="1702560" y="3382274"/>
            <a:ext cx="2380000" cy="0"/>
          </a:xfrm>
          <a:prstGeom prst="line">
            <a:avLst/>
          </a:prstGeom>
          <a:ln w="1397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331" name="TextBox 6332">
            <a:extLst>
              <a:ext uri="{FF2B5EF4-FFF2-40B4-BE49-F238E27FC236}">
                <a16:creationId xmlns:a16="http://schemas.microsoft.com/office/drawing/2014/main" id="{F7A46C02-C155-4B71-940E-2CAB33618B13}"/>
              </a:ext>
            </a:extLst>
          </p:cNvPr>
          <p:cNvSpPr>
            <a:spLocks noGrp="1"/>
          </p:cNvSpPr>
          <p:nvPr/>
        </p:nvSpPr>
        <p:spPr>
          <a:xfrm>
            <a:off x="4152560" y="3407274"/>
            <a:ext cx="245000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POST /chat</a:t>
            </a:r>
          </a:p>
        </p:txBody>
      </p:sp>
      <p:sp>
        <p:nvSpPr>
          <p:cNvPr id="6333" name="Connector 6334">
            <a:extLst>
              <a:ext uri="{FF2B5EF4-FFF2-40B4-BE49-F238E27FC236}">
                <a16:creationId xmlns:a16="http://schemas.microsoft.com/office/drawing/2014/main" id="{A994726F-E29F-4492-8FAE-92E8C62A957E}"/>
              </a:ext>
            </a:extLst>
          </p:cNvPr>
          <p:cNvSpPr>
            <a:spLocks noGrp="1"/>
          </p:cNvSpPr>
          <p:nvPr/>
        </p:nvSpPr>
        <p:spPr>
          <a:xfrm>
            <a:off x="4222560" y="3632274"/>
            <a:ext cx="2310000" cy="0"/>
          </a:xfrm>
          <a:prstGeom prst="line">
            <a:avLst/>
          </a:prstGeom>
          <a:ln w="1397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335" name="Connector 6336">
            <a:extLst>
              <a:ext uri="{FF2B5EF4-FFF2-40B4-BE49-F238E27FC236}">
                <a16:creationId xmlns:a16="http://schemas.microsoft.com/office/drawing/2014/main" id="{161BD4AE-6F9A-48B3-890A-AEABC1EF23D5}"/>
              </a:ext>
            </a:extLst>
          </p:cNvPr>
          <p:cNvSpPr>
            <a:spLocks noGrp="1"/>
          </p:cNvSpPr>
          <p:nvPr/>
        </p:nvSpPr>
        <p:spPr>
          <a:xfrm>
            <a:off x="6672560" y="3882274"/>
            <a:ext cx="365760" cy="0"/>
          </a:xfrm>
          <a:prstGeom prst="line">
            <a:avLst/>
          </a:prstGeom>
          <a:ln w="13970">
            <a:solidFill>
              <a:srgbClr val="363A52"/>
            </a:solidFill>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337" name="Connector 6338">
            <a:extLst>
              <a:ext uri="{FF2B5EF4-FFF2-40B4-BE49-F238E27FC236}">
                <a16:creationId xmlns:a16="http://schemas.microsoft.com/office/drawing/2014/main" id="{21837C04-5574-4FD4-B819-0F001ED8E8DD}"/>
              </a:ext>
            </a:extLst>
          </p:cNvPr>
          <p:cNvSpPr>
            <a:spLocks noGrp="1"/>
          </p:cNvSpPr>
          <p:nvPr/>
        </p:nvSpPr>
        <p:spPr>
          <a:xfrm>
            <a:off x="7038320" y="3882274"/>
            <a:ext cx="0" cy="180251"/>
          </a:xfrm>
          <a:prstGeom prst="line">
            <a:avLst/>
          </a:prstGeom>
          <a:ln w="13970">
            <a:solidFill>
              <a:srgbClr val="363A52"/>
            </a:solidFill>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339" name="Connector 6340">
            <a:extLst>
              <a:ext uri="{FF2B5EF4-FFF2-40B4-BE49-F238E27FC236}">
                <a16:creationId xmlns:a16="http://schemas.microsoft.com/office/drawing/2014/main" id="{46DEE2EC-7316-40A7-87ED-1BA408390641}"/>
              </a:ext>
            </a:extLst>
          </p:cNvPr>
          <p:cNvSpPr>
            <a:spLocks noGrp="1"/>
          </p:cNvSpPr>
          <p:nvPr/>
        </p:nvSpPr>
        <p:spPr>
          <a:xfrm flipH="1">
            <a:off x="6706850" y="4062525"/>
            <a:ext cx="331470" cy="0"/>
          </a:xfrm>
          <a:prstGeom prst="line">
            <a:avLst/>
          </a:prstGeom>
          <a:ln w="1397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341" name="TextBox 6342">
            <a:extLst>
              <a:ext uri="{FF2B5EF4-FFF2-40B4-BE49-F238E27FC236}">
                <a16:creationId xmlns:a16="http://schemas.microsoft.com/office/drawing/2014/main" id="{0F44D870-3392-46DF-BA49-EED7CE50F2D2}"/>
              </a:ext>
            </a:extLst>
          </p:cNvPr>
          <p:cNvSpPr>
            <a:spLocks noGrp="1"/>
          </p:cNvSpPr>
          <p:nvPr/>
        </p:nvSpPr>
        <p:spPr>
          <a:xfrm>
            <a:off x="7129760" y="3657274"/>
            <a:ext cx="4562951" cy="221284"/>
          </a:xfrm>
          <a:prstGeom prst="rect">
            <a:avLst/>
          </a:prstGeom>
          <a:noFill/>
        </p:spPr>
        <p:txBody>
          <a:bodyPr wrap="square" lIns="0" tIns="0" rIns="0" bIns="0" anchor="t">
            <a:spAutoFit/>
          </a:bodyPr>
          <a:lstStyle/>
          <a:p>
            <a:pPr algn="l">
              <a:buNone/>
            </a:pPr>
            <a:r>
              <a:rPr sz="1100" b="0">
                <a:solidFill>
                  <a:srgbClr val="2E3142"/>
                </a:solidFill>
                <a:latin typeface="210 OmniGothic 040"/>
                <a:ea typeface="210 OmniGothic 040"/>
                <a:cs typeface="210 OmniGothic 040"/>
              </a:rPr>
              <a:t>권한(조작) 확인</a:t>
            </a:r>
          </a:p>
        </p:txBody>
      </p:sp>
      <p:sp>
        <p:nvSpPr>
          <p:cNvPr id="6343" name="TextBox 6344">
            <a:extLst>
              <a:ext uri="{FF2B5EF4-FFF2-40B4-BE49-F238E27FC236}">
                <a16:creationId xmlns:a16="http://schemas.microsoft.com/office/drawing/2014/main" id="{B77E3187-3927-4938-8D41-7CCCDE7A4936}"/>
              </a:ext>
            </a:extLst>
          </p:cNvPr>
          <p:cNvSpPr>
            <a:spLocks noGrp="1"/>
          </p:cNvSpPr>
          <p:nvPr/>
        </p:nvSpPr>
        <p:spPr>
          <a:xfrm>
            <a:off x="6602560" y="4102274"/>
            <a:ext cx="245000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propose_correction(incident_id, text)</a:t>
            </a:r>
          </a:p>
        </p:txBody>
      </p:sp>
      <p:sp>
        <p:nvSpPr>
          <p:cNvPr id="6345" name="Connector 6346">
            <a:extLst>
              <a:ext uri="{FF2B5EF4-FFF2-40B4-BE49-F238E27FC236}">
                <a16:creationId xmlns:a16="http://schemas.microsoft.com/office/drawing/2014/main" id="{0ACAF850-F71B-4651-93BE-2DA1B1C44C36}"/>
              </a:ext>
            </a:extLst>
          </p:cNvPr>
          <p:cNvSpPr>
            <a:spLocks noGrp="1"/>
          </p:cNvSpPr>
          <p:nvPr/>
        </p:nvSpPr>
        <p:spPr>
          <a:xfrm>
            <a:off x="6672560" y="4327274"/>
            <a:ext cx="2310000" cy="0"/>
          </a:xfrm>
          <a:prstGeom prst="line">
            <a:avLst/>
          </a:prstGeom>
          <a:ln w="1397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347" name="TextBox 6348">
            <a:extLst>
              <a:ext uri="{FF2B5EF4-FFF2-40B4-BE49-F238E27FC236}">
                <a16:creationId xmlns:a16="http://schemas.microsoft.com/office/drawing/2014/main" id="{8556A563-F501-4424-ADBF-FFE5B5288389}"/>
              </a:ext>
            </a:extLst>
          </p:cNvPr>
          <p:cNvSpPr>
            <a:spLocks noGrp="1"/>
          </p:cNvSpPr>
          <p:nvPr/>
        </p:nvSpPr>
        <p:spPr>
          <a:xfrm>
            <a:off x="9052560" y="4352274"/>
            <a:ext cx="490000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parse_correction 결과 확인 · 현재 값 조회·정정 가능 검사</a:t>
            </a:r>
          </a:p>
        </p:txBody>
      </p:sp>
      <p:sp>
        <p:nvSpPr>
          <p:cNvPr id="6349" name="Connector 6350">
            <a:extLst>
              <a:ext uri="{FF2B5EF4-FFF2-40B4-BE49-F238E27FC236}">
                <a16:creationId xmlns:a16="http://schemas.microsoft.com/office/drawing/2014/main" id="{1074C211-9FA0-4FCA-91F2-82ED574EB0E6}"/>
              </a:ext>
            </a:extLst>
          </p:cNvPr>
          <p:cNvSpPr>
            <a:spLocks noGrp="1"/>
          </p:cNvSpPr>
          <p:nvPr/>
        </p:nvSpPr>
        <p:spPr>
          <a:xfrm>
            <a:off x="9122560" y="4577274"/>
            <a:ext cx="4760000" cy="0"/>
          </a:xfrm>
          <a:prstGeom prst="line">
            <a:avLst/>
          </a:prstGeom>
          <a:ln w="1397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351" name="TextBox 6352">
            <a:extLst>
              <a:ext uri="{FF2B5EF4-FFF2-40B4-BE49-F238E27FC236}">
                <a16:creationId xmlns:a16="http://schemas.microsoft.com/office/drawing/2014/main" id="{5E71CF79-D28A-4D0A-ADF6-D4B083BC9FF4}"/>
              </a:ext>
            </a:extLst>
          </p:cNvPr>
          <p:cNvSpPr>
            <a:spLocks noGrp="1"/>
          </p:cNvSpPr>
          <p:nvPr/>
        </p:nvSpPr>
        <p:spPr>
          <a:xfrm>
            <a:off x="6602560" y="4822274"/>
            <a:ext cx="245000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거부(대상 재입력 / 가용 범위 초과)</a:t>
            </a:r>
          </a:p>
        </p:txBody>
      </p:sp>
      <p:sp>
        <p:nvSpPr>
          <p:cNvPr id="6353" name="Connector 6354">
            <a:extLst>
              <a:ext uri="{FF2B5EF4-FFF2-40B4-BE49-F238E27FC236}">
                <a16:creationId xmlns:a16="http://schemas.microsoft.com/office/drawing/2014/main" id="{1BEABF86-FE00-4429-BFB7-CAD58AD7666C}"/>
              </a:ext>
            </a:extLst>
          </p:cNvPr>
          <p:cNvSpPr>
            <a:spLocks noGrp="1"/>
          </p:cNvSpPr>
          <p:nvPr/>
        </p:nvSpPr>
        <p:spPr>
          <a:xfrm flipH="1">
            <a:off x="6672560" y="5047274"/>
            <a:ext cx="2310000" cy="0"/>
          </a:xfrm>
          <a:prstGeom prst="line">
            <a:avLst/>
          </a:prstGeom>
          <a:ln w="13970">
            <a:solidFill>
              <a:srgbClr val="6B7080"/>
            </a:solidFill>
            <a:prstDash val="dash"/>
            <a:tailEnd type="arrow"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355" name="TextBox 6356">
            <a:extLst>
              <a:ext uri="{FF2B5EF4-FFF2-40B4-BE49-F238E27FC236}">
                <a16:creationId xmlns:a16="http://schemas.microsoft.com/office/drawing/2014/main" id="{FBFA309D-EAA6-458A-A91E-8A55F3048E41}"/>
              </a:ext>
            </a:extLst>
          </p:cNvPr>
          <p:cNvSpPr>
            <a:spLocks noGrp="1"/>
          </p:cNvSpPr>
          <p:nvPr/>
        </p:nvSpPr>
        <p:spPr>
          <a:xfrm>
            <a:off x="4152560" y="5072274"/>
            <a:ext cx="245000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거부 전달</a:t>
            </a:r>
          </a:p>
        </p:txBody>
      </p:sp>
      <p:sp>
        <p:nvSpPr>
          <p:cNvPr id="6357" name="Connector 6358">
            <a:extLst>
              <a:ext uri="{FF2B5EF4-FFF2-40B4-BE49-F238E27FC236}">
                <a16:creationId xmlns:a16="http://schemas.microsoft.com/office/drawing/2014/main" id="{408B5BA4-A4D1-4792-B151-829A8672358B}"/>
              </a:ext>
            </a:extLst>
          </p:cNvPr>
          <p:cNvSpPr>
            <a:spLocks noGrp="1"/>
          </p:cNvSpPr>
          <p:nvPr/>
        </p:nvSpPr>
        <p:spPr>
          <a:xfrm flipH="1">
            <a:off x="4222560" y="5297274"/>
            <a:ext cx="2310000" cy="0"/>
          </a:xfrm>
          <a:prstGeom prst="line">
            <a:avLst/>
          </a:prstGeom>
          <a:ln w="13970">
            <a:solidFill>
              <a:srgbClr val="6B7080"/>
            </a:solidFill>
            <a:prstDash val="dash"/>
            <a:tailEnd type="arrow"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359" name="TextBox 6360">
            <a:extLst>
              <a:ext uri="{FF2B5EF4-FFF2-40B4-BE49-F238E27FC236}">
                <a16:creationId xmlns:a16="http://schemas.microsoft.com/office/drawing/2014/main" id="{77130B6B-1F1C-4C0D-941E-61150D78EC99}"/>
              </a:ext>
            </a:extLst>
          </p:cNvPr>
          <p:cNvSpPr>
            <a:spLocks noGrp="1"/>
          </p:cNvSpPr>
          <p:nvPr/>
        </p:nvSpPr>
        <p:spPr>
          <a:xfrm>
            <a:off x="6602560" y="5432274"/>
            <a:ext cx="245000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변경안(항목 · 이전 → 변경)</a:t>
            </a:r>
          </a:p>
        </p:txBody>
      </p:sp>
      <p:sp>
        <p:nvSpPr>
          <p:cNvPr id="6361" name="Connector 6362">
            <a:extLst>
              <a:ext uri="{FF2B5EF4-FFF2-40B4-BE49-F238E27FC236}">
                <a16:creationId xmlns:a16="http://schemas.microsoft.com/office/drawing/2014/main" id="{265EB9F0-BA3D-45C6-839E-1D8B554FD33A}"/>
              </a:ext>
            </a:extLst>
          </p:cNvPr>
          <p:cNvSpPr>
            <a:spLocks noGrp="1"/>
          </p:cNvSpPr>
          <p:nvPr/>
        </p:nvSpPr>
        <p:spPr>
          <a:xfrm flipH="1">
            <a:off x="6672560" y="5657274"/>
            <a:ext cx="2310000" cy="0"/>
          </a:xfrm>
          <a:prstGeom prst="line">
            <a:avLst/>
          </a:prstGeom>
          <a:ln w="13970">
            <a:solidFill>
              <a:srgbClr val="6B7080"/>
            </a:solidFill>
            <a:prstDash val="dash"/>
            <a:tailEnd type="arrow"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363" name="TextBox 6364">
            <a:extLst>
              <a:ext uri="{FF2B5EF4-FFF2-40B4-BE49-F238E27FC236}">
                <a16:creationId xmlns:a16="http://schemas.microsoft.com/office/drawing/2014/main" id="{94F1323B-80F1-4FB3-9E12-AE0FF83653A6}"/>
              </a:ext>
            </a:extLst>
          </p:cNvPr>
          <p:cNvSpPr>
            <a:spLocks noGrp="1"/>
          </p:cNvSpPr>
          <p:nvPr/>
        </p:nvSpPr>
        <p:spPr>
          <a:xfrm>
            <a:off x="4152560" y="5682274"/>
            <a:ext cx="245000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변경안 전달</a:t>
            </a:r>
          </a:p>
        </p:txBody>
      </p:sp>
      <p:sp>
        <p:nvSpPr>
          <p:cNvPr id="6365" name="Connector 6366">
            <a:extLst>
              <a:ext uri="{FF2B5EF4-FFF2-40B4-BE49-F238E27FC236}">
                <a16:creationId xmlns:a16="http://schemas.microsoft.com/office/drawing/2014/main" id="{6CDF2AE4-1736-4DBC-A65B-4F66E8565CDD}"/>
              </a:ext>
            </a:extLst>
          </p:cNvPr>
          <p:cNvSpPr>
            <a:spLocks noGrp="1"/>
          </p:cNvSpPr>
          <p:nvPr/>
        </p:nvSpPr>
        <p:spPr>
          <a:xfrm flipH="1">
            <a:off x="4222560" y="5907274"/>
            <a:ext cx="2310000" cy="0"/>
          </a:xfrm>
          <a:prstGeom prst="line">
            <a:avLst/>
          </a:prstGeom>
          <a:ln w="13970">
            <a:solidFill>
              <a:srgbClr val="6B7080"/>
            </a:solidFill>
            <a:prstDash val="dash"/>
            <a:tailEnd type="arrow"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367" name="TextBox 6368">
            <a:extLst>
              <a:ext uri="{FF2B5EF4-FFF2-40B4-BE49-F238E27FC236}">
                <a16:creationId xmlns:a16="http://schemas.microsoft.com/office/drawing/2014/main" id="{1B1C8CDE-9851-44AE-9228-C926911FE940}"/>
              </a:ext>
            </a:extLst>
          </p:cNvPr>
          <p:cNvSpPr>
            <a:spLocks noGrp="1"/>
          </p:cNvSpPr>
          <p:nvPr/>
        </p:nvSpPr>
        <p:spPr>
          <a:xfrm>
            <a:off x="1702560" y="5932274"/>
            <a:ext cx="245000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「상황 정정 확인」 창</a:t>
            </a:r>
          </a:p>
        </p:txBody>
      </p:sp>
      <p:sp>
        <p:nvSpPr>
          <p:cNvPr id="6369" name="Connector 6370">
            <a:extLst>
              <a:ext uri="{FF2B5EF4-FFF2-40B4-BE49-F238E27FC236}">
                <a16:creationId xmlns:a16="http://schemas.microsoft.com/office/drawing/2014/main" id="{25C10DB0-A387-4138-96F7-600D996CD496}"/>
              </a:ext>
            </a:extLst>
          </p:cNvPr>
          <p:cNvSpPr>
            <a:spLocks noGrp="1"/>
          </p:cNvSpPr>
          <p:nvPr/>
        </p:nvSpPr>
        <p:spPr>
          <a:xfrm flipH="1">
            <a:off x="1702560" y="6157274"/>
            <a:ext cx="2380000" cy="0"/>
          </a:xfrm>
          <a:prstGeom prst="line">
            <a:avLst/>
          </a:prstGeom>
          <a:ln w="13970">
            <a:solidFill>
              <a:srgbClr val="6B7080"/>
            </a:solidFill>
            <a:prstDash val="dash"/>
            <a:tailEnd type="arrow"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371" name="TextBox 6372">
            <a:extLst>
              <a:ext uri="{FF2B5EF4-FFF2-40B4-BE49-F238E27FC236}">
                <a16:creationId xmlns:a16="http://schemas.microsoft.com/office/drawing/2014/main" id="{DA70E9D4-5D46-4B8F-8453-F08558824C4D}"/>
              </a:ext>
            </a:extLst>
          </p:cNvPr>
          <p:cNvSpPr>
            <a:spLocks noGrp="1"/>
          </p:cNvSpPr>
          <p:nvPr/>
        </p:nvSpPr>
        <p:spPr>
          <a:xfrm>
            <a:off x="4152560" y="6547274"/>
            <a:ext cx="245000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POST /corrections/{id}/confirm</a:t>
            </a:r>
          </a:p>
        </p:txBody>
      </p:sp>
      <p:sp>
        <p:nvSpPr>
          <p:cNvPr id="6373" name="Connector 6374">
            <a:extLst>
              <a:ext uri="{FF2B5EF4-FFF2-40B4-BE49-F238E27FC236}">
                <a16:creationId xmlns:a16="http://schemas.microsoft.com/office/drawing/2014/main" id="{C1FA7D80-BCCF-45A4-8BC7-F3038F7EF313}"/>
              </a:ext>
            </a:extLst>
          </p:cNvPr>
          <p:cNvSpPr>
            <a:spLocks noGrp="1"/>
          </p:cNvSpPr>
          <p:nvPr/>
        </p:nvSpPr>
        <p:spPr>
          <a:xfrm>
            <a:off x="4152560" y="6772274"/>
            <a:ext cx="2380000" cy="0"/>
          </a:xfrm>
          <a:prstGeom prst="line">
            <a:avLst/>
          </a:prstGeom>
          <a:ln w="1397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375" name="TextBox 6376">
            <a:extLst>
              <a:ext uri="{FF2B5EF4-FFF2-40B4-BE49-F238E27FC236}">
                <a16:creationId xmlns:a16="http://schemas.microsoft.com/office/drawing/2014/main" id="{99F54F75-F726-4D80-93B8-6876FEBFEBAC}"/>
              </a:ext>
            </a:extLst>
          </p:cNvPr>
          <p:cNvSpPr>
            <a:spLocks noGrp="1"/>
          </p:cNvSpPr>
          <p:nvPr/>
        </p:nvSpPr>
        <p:spPr>
          <a:xfrm>
            <a:off x="6602560" y="6797274"/>
            <a:ext cx="245000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apply_correction(draft)</a:t>
            </a:r>
          </a:p>
        </p:txBody>
      </p:sp>
      <p:sp>
        <p:nvSpPr>
          <p:cNvPr id="6377" name="Connector 6378">
            <a:extLst>
              <a:ext uri="{FF2B5EF4-FFF2-40B4-BE49-F238E27FC236}">
                <a16:creationId xmlns:a16="http://schemas.microsoft.com/office/drawing/2014/main" id="{138F0EC8-F62A-4167-B555-B919E2A83CBD}"/>
              </a:ext>
            </a:extLst>
          </p:cNvPr>
          <p:cNvSpPr>
            <a:spLocks noGrp="1"/>
          </p:cNvSpPr>
          <p:nvPr/>
        </p:nvSpPr>
        <p:spPr>
          <a:xfrm>
            <a:off x="6672560" y="7022274"/>
            <a:ext cx="2310000" cy="0"/>
          </a:xfrm>
          <a:prstGeom prst="line">
            <a:avLst/>
          </a:prstGeom>
          <a:ln w="1397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379" name="TextBox 6380">
            <a:extLst>
              <a:ext uri="{FF2B5EF4-FFF2-40B4-BE49-F238E27FC236}">
                <a16:creationId xmlns:a16="http://schemas.microsoft.com/office/drawing/2014/main" id="{454CE37E-7F2B-458C-91C4-5073F1401129}"/>
              </a:ext>
            </a:extLst>
          </p:cNvPr>
          <p:cNvSpPr>
            <a:spLocks noGrp="1"/>
          </p:cNvSpPr>
          <p:nvPr/>
        </p:nvSpPr>
        <p:spPr>
          <a:xfrm>
            <a:off x="9052560" y="7047274"/>
            <a:ext cx="490000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상황 저장</a:t>
            </a:r>
          </a:p>
        </p:txBody>
      </p:sp>
      <p:sp>
        <p:nvSpPr>
          <p:cNvPr id="6381" name="Connector 6382">
            <a:extLst>
              <a:ext uri="{FF2B5EF4-FFF2-40B4-BE49-F238E27FC236}">
                <a16:creationId xmlns:a16="http://schemas.microsoft.com/office/drawing/2014/main" id="{3770A53C-852C-4DBB-A390-FE0C349D0C51}"/>
              </a:ext>
            </a:extLst>
          </p:cNvPr>
          <p:cNvSpPr>
            <a:spLocks noGrp="1"/>
          </p:cNvSpPr>
          <p:nvPr/>
        </p:nvSpPr>
        <p:spPr>
          <a:xfrm>
            <a:off x="9122560" y="7272274"/>
            <a:ext cx="4760000" cy="0"/>
          </a:xfrm>
          <a:prstGeom prst="line">
            <a:avLst/>
          </a:prstGeom>
          <a:ln w="1397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383" name="TextBox 6384">
            <a:extLst>
              <a:ext uri="{FF2B5EF4-FFF2-40B4-BE49-F238E27FC236}">
                <a16:creationId xmlns:a16="http://schemas.microsoft.com/office/drawing/2014/main" id="{C3232741-B734-4D5A-AA29-255791FF2FCE}"/>
              </a:ext>
            </a:extLst>
          </p:cNvPr>
          <p:cNvSpPr>
            <a:spLocks noGrp="1"/>
          </p:cNvSpPr>
          <p:nvPr/>
        </p:nvSpPr>
        <p:spPr>
          <a:xfrm>
            <a:off x="9052560" y="7297274"/>
            <a:ext cx="735000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record(정정, 상황 정정)</a:t>
            </a:r>
          </a:p>
        </p:txBody>
      </p:sp>
      <p:sp>
        <p:nvSpPr>
          <p:cNvPr id="6385" name="Connector 6386">
            <a:extLst>
              <a:ext uri="{FF2B5EF4-FFF2-40B4-BE49-F238E27FC236}">
                <a16:creationId xmlns:a16="http://schemas.microsoft.com/office/drawing/2014/main" id="{1FC2A50B-8AC6-4DFB-9EED-2C3C268C5BF0}"/>
              </a:ext>
            </a:extLst>
          </p:cNvPr>
          <p:cNvSpPr>
            <a:spLocks noGrp="1"/>
          </p:cNvSpPr>
          <p:nvPr/>
        </p:nvSpPr>
        <p:spPr>
          <a:xfrm>
            <a:off x="9122560" y="7522274"/>
            <a:ext cx="7210000" cy="0"/>
          </a:xfrm>
          <a:prstGeom prst="line">
            <a:avLst/>
          </a:prstGeom>
          <a:ln w="1397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387" name="TextBox 6388">
            <a:extLst>
              <a:ext uri="{FF2B5EF4-FFF2-40B4-BE49-F238E27FC236}">
                <a16:creationId xmlns:a16="http://schemas.microsoft.com/office/drawing/2014/main" id="{2FF46D8A-4835-48BB-BF98-FA1F6D96057A}"/>
              </a:ext>
            </a:extLst>
          </p:cNvPr>
          <p:cNvSpPr>
            <a:spLocks noGrp="1"/>
          </p:cNvSpPr>
          <p:nvPr/>
        </p:nvSpPr>
        <p:spPr>
          <a:xfrm>
            <a:off x="9052560" y="7547274"/>
            <a:ext cx="245000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generate(사유=상황정정)</a:t>
            </a:r>
          </a:p>
        </p:txBody>
      </p:sp>
      <p:sp>
        <p:nvSpPr>
          <p:cNvPr id="6389" name="Connector 6390">
            <a:extLst>
              <a:ext uri="{FF2B5EF4-FFF2-40B4-BE49-F238E27FC236}">
                <a16:creationId xmlns:a16="http://schemas.microsoft.com/office/drawing/2014/main" id="{91BCD39E-604B-45FA-8CE8-678D66F5A7B4}"/>
              </a:ext>
            </a:extLst>
          </p:cNvPr>
          <p:cNvSpPr>
            <a:spLocks noGrp="1"/>
          </p:cNvSpPr>
          <p:nvPr/>
        </p:nvSpPr>
        <p:spPr>
          <a:xfrm>
            <a:off x="9122560" y="7772274"/>
            <a:ext cx="2310000" cy="0"/>
          </a:xfrm>
          <a:prstGeom prst="line">
            <a:avLst/>
          </a:prstGeom>
          <a:ln w="1397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391" name="TextBox 6392">
            <a:extLst>
              <a:ext uri="{FF2B5EF4-FFF2-40B4-BE49-F238E27FC236}">
                <a16:creationId xmlns:a16="http://schemas.microsoft.com/office/drawing/2014/main" id="{5057BC79-9E12-4717-8E5D-EE096F303940}"/>
              </a:ext>
            </a:extLst>
          </p:cNvPr>
          <p:cNvSpPr>
            <a:spLocks noGrp="1"/>
          </p:cNvSpPr>
          <p:nvPr/>
        </p:nvSpPr>
        <p:spPr>
          <a:xfrm>
            <a:off x="9052560" y="7797274"/>
            <a:ext cx="245000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새 버전·변경 항목(예측은 그대로)</a:t>
            </a:r>
          </a:p>
        </p:txBody>
      </p:sp>
      <p:sp>
        <p:nvSpPr>
          <p:cNvPr id="6393" name="Connector 6394">
            <a:extLst>
              <a:ext uri="{FF2B5EF4-FFF2-40B4-BE49-F238E27FC236}">
                <a16:creationId xmlns:a16="http://schemas.microsoft.com/office/drawing/2014/main" id="{A604819A-3836-434D-8CA9-ECD4737A4390}"/>
              </a:ext>
            </a:extLst>
          </p:cNvPr>
          <p:cNvSpPr>
            <a:spLocks noGrp="1"/>
          </p:cNvSpPr>
          <p:nvPr/>
        </p:nvSpPr>
        <p:spPr>
          <a:xfrm flipH="1">
            <a:off x="9122560" y="8022274"/>
            <a:ext cx="2310000" cy="0"/>
          </a:xfrm>
          <a:prstGeom prst="line">
            <a:avLst/>
          </a:prstGeom>
          <a:ln w="13970">
            <a:solidFill>
              <a:srgbClr val="6B7080"/>
            </a:solidFill>
            <a:prstDash val="dash"/>
            <a:tailEnd type="arrow"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395" name="TextBox 6396">
            <a:extLst>
              <a:ext uri="{FF2B5EF4-FFF2-40B4-BE49-F238E27FC236}">
                <a16:creationId xmlns:a16="http://schemas.microsoft.com/office/drawing/2014/main" id="{CA7A03F0-5F2F-4861-82DE-2D0D47E1999D}"/>
              </a:ext>
            </a:extLst>
          </p:cNvPr>
          <p:cNvSpPr>
            <a:spLocks noGrp="1"/>
          </p:cNvSpPr>
          <p:nvPr/>
        </p:nvSpPr>
        <p:spPr>
          <a:xfrm>
            <a:off x="6602560" y="8047274"/>
            <a:ext cx="245000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정정 결과 전달</a:t>
            </a:r>
          </a:p>
        </p:txBody>
      </p:sp>
      <p:sp>
        <p:nvSpPr>
          <p:cNvPr id="6397" name="Connector 6398">
            <a:extLst>
              <a:ext uri="{FF2B5EF4-FFF2-40B4-BE49-F238E27FC236}">
                <a16:creationId xmlns:a16="http://schemas.microsoft.com/office/drawing/2014/main" id="{A0D333F6-0243-4394-B313-BA0863157194}"/>
              </a:ext>
            </a:extLst>
          </p:cNvPr>
          <p:cNvSpPr>
            <a:spLocks noGrp="1"/>
          </p:cNvSpPr>
          <p:nvPr/>
        </p:nvSpPr>
        <p:spPr>
          <a:xfrm flipH="1">
            <a:off x="6672560" y="8272274"/>
            <a:ext cx="2310000" cy="0"/>
          </a:xfrm>
          <a:prstGeom prst="line">
            <a:avLst/>
          </a:prstGeom>
          <a:ln w="13970">
            <a:solidFill>
              <a:srgbClr val="6B7080"/>
            </a:solidFill>
            <a:prstDash val="dash"/>
            <a:tailEnd type="arrow"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399" name="TextBox 6400">
            <a:extLst>
              <a:ext uri="{FF2B5EF4-FFF2-40B4-BE49-F238E27FC236}">
                <a16:creationId xmlns:a16="http://schemas.microsoft.com/office/drawing/2014/main" id="{A4E5AE4A-C45C-4079-915F-7FAEE6CE17B1}"/>
              </a:ext>
            </a:extLst>
          </p:cNvPr>
          <p:cNvSpPr>
            <a:spLocks noGrp="1"/>
          </p:cNvSpPr>
          <p:nvPr/>
        </p:nvSpPr>
        <p:spPr>
          <a:xfrm>
            <a:off x="4152560" y="8297274"/>
            <a:ext cx="245000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대화 답변 + 「제안 변경사항」 창</a:t>
            </a:r>
          </a:p>
        </p:txBody>
      </p:sp>
      <p:sp>
        <p:nvSpPr>
          <p:cNvPr id="6401" name="Connector 6402">
            <a:extLst>
              <a:ext uri="{FF2B5EF4-FFF2-40B4-BE49-F238E27FC236}">
                <a16:creationId xmlns:a16="http://schemas.microsoft.com/office/drawing/2014/main" id="{4A76B3CA-6BE0-4972-9F7F-0E5F143CDF21}"/>
              </a:ext>
            </a:extLst>
          </p:cNvPr>
          <p:cNvSpPr>
            <a:spLocks noGrp="1"/>
          </p:cNvSpPr>
          <p:nvPr/>
        </p:nvSpPr>
        <p:spPr>
          <a:xfrm flipH="1">
            <a:off x="4152560" y="8522274"/>
            <a:ext cx="2380000" cy="0"/>
          </a:xfrm>
          <a:prstGeom prst="line">
            <a:avLst/>
          </a:prstGeom>
          <a:ln w="13970">
            <a:solidFill>
              <a:srgbClr val="6B7080"/>
            </a:solidFill>
            <a:prstDash val="dash"/>
            <a:tailEnd type="arrow"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403" name="Connector 6404">
            <a:extLst>
              <a:ext uri="{FF2B5EF4-FFF2-40B4-BE49-F238E27FC236}">
                <a16:creationId xmlns:a16="http://schemas.microsoft.com/office/drawing/2014/main" id="{F2666BAD-3ABD-4169-A978-273A43F1399D}"/>
              </a:ext>
            </a:extLst>
          </p:cNvPr>
          <p:cNvSpPr>
            <a:spLocks noGrp="1"/>
          </p:cNvSpPr>
          <p:nvPr/>
        </p:nvSpPr>
        <p:spPr>
          <a:xfrm>
            <a:off x="4222560" y="8882274"/>
            <a:ext cx="365760" cy="0"/>
          </a:xfrm>
          <a:prstGeom prst="line">
            <a:avLst/>
          </a:prstGeom>
          <a:ln w="13970">
            <a:solidFill>
              <a:srgbClr val="363A52"/>
            </a:solidFill>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405" name="Connector 6406">
            <a:extLst>
              <a:ext uri="{FF2B5EF4-FFF2-40B4-BE49-F238E27FC236}">
                <a16:creationId xmlns:a16="http://schemas.microsoft.com/office/drawing/2014/main" id="{880F2CF5-41F6-47E1-82FD-173F7ADBF197}"/>
              </a:ext>
            </a:extLst>
          </p:cNvPr>
          <p:cNvSpPr>
            <a:spLocks noGrp="1"/>
          </p:cNvSpPr>
          <p:nvPr/>
        </p:nvSpPr>
        <p:spPr>
          <a:xfrm>
            <a:off x="4588320" y="8882274"/>
            <a:ext cx="0" cy="180251"/>
          </a:xfrm>
          <a:prstGeom prst="line">
            <a:avLst/>
          </a:prstGeom>
          <a:ln w="13970">
            <a:solidFill>
              <a:srgbClr val="363A52"/>
            </a:solidFill>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407" name="Connector 6408">
            <a:extLst>
              <a:ext uri="{FF2B5EF4-FFF2-40B4-BE49-F238E27FC236}">
                <a16:creationId xmlns:a16="http://schemas.microsoft.com/office/drawing/2014/main" id="{E2550915-DA8D-4863-A42E-C75A8F2FDB49}"/>
              </a:ext>
            </a:extLst>
          </p:cNvPr>
          <p:cNvSpPr>
            <a:spLocks noGrp="1"/>
          </p:cNvSpPr>
          <p:nvPr/>
        </p:nvSpPr>
        <p:spPr>
          <a:xfrm flipH="1">
            <a:off x="4256850" y="9062525"/>
            <a:ext cx="331470" cy="0"/>
          </a:xfrm>
          <a:prstGeom prst="line">
            <a:avLst/>
          </a:prstGeom>
          <a:ln w="1397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409" name="TextBox 6410">
            <a:extLst>
              <a:ext uri="{FF2B5EF4-FFF2-40B4-BE49-F238E27FC236}">
                <a16:creationId xmlns:a16="http://schemas.microsoft.com/office/drawing/2014/main" id="{18161E3A-D143-47AE-B873-1E40998BC397}"/>
              </a:ext>
            </a:extLst>
          </p:cNvPr>
          <p:cNvSpPr>
            <a:spLocks noGrp="1"/>
          </p:cNvSpPr>
          <p:nvPr/>
        </p:nvSpPr>
        <p:spPr>
          <a:xfrm>
            <a:off x="4679760" y="8657274"/>
            <a:ext cx="4562951" cy="221284"/>
          </a:xfrm>
          <a:prstGeom prst="rect">
            <a:avLst/>
          </a:prstGeom>
          <a:noFill/>
        </p:spPr>
        <p:txBody>
          <a:bodyPr wrap="square" lIns="0" tIns="0" rIns="0" bIns="0" anchor="t">
            <a:spAutoFit/>
          </a:bodyPr>
          <a:lstStyle/>
          <a:p>
            <a:pPr algn="l">
              <a:buNone/>
            </a:pPr>
            <a:r>
              <a:rPr sz="1100" b="0">
                <a:solidFill>
                  <a:srgbClr val="2E3142"/>
                </a:solidFill>
                <a:latin typeface="210 OmniGothic 040"/>
                <a:ea typeface="210 OmniGothic 040"/>
                <a:cs typeface="210 OmniGothic 040"/>
              </a:rPr>
              <a:t>저장하지 않고 취소를 알림</a:t>
            </a:r>
          </a:p>
        </p:txBody>
      </p:sp>
      <p:sp>
        <p:nvSpPr>
          <p:cNvPr id="6283" name="Rectangle 6284">
            <a:extLst>
              <a:ext uri="{FF2B5EF4-FFF2-40B4-BE49-F238E27FC236}">
                <a16:creationId xmlns:a16="http://schemas.microsoft.com/office/drawing/2014/main" id="{84186C6E-4877-4B30-8F7F-FDE1DB8FCD54}"/>
              </a:ext>
            </a:extLst>
          </p:cNvPr>
          <p:cNvSpPr>
            <a:spLocks noGrp="1"/>
          </p:cNvSpPr>
          <p:nvPr/>
        </p:nvSpPr>
        <p:spPr>
          <a:xfrm>
            <a:off x="348790" y="4602274"/>
            <a:ext cx="17407540" cy="1665000"/>
          </a:xfrm>
          <a:prstGeom prst="rect">
            <a:avLst/>
          </a:prstGeom>
          <a:noFill/>
          <a:ln w="12700">
            <a:solidFill>
              <a:srgbClr val="FAA95A"/>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endParaRPr/>
          </a:p>
        </p:txBody>
      </p:sp>
      <p:sp>
        <p:nvSpPr>
          <p:cNvPr id="6285" name="Rectangle 6286">
            <a:extLst>
              <a:ext uri="{FF2B5EF4-FFF2-40B4-BE49-F238E27FC236}">
                <a16:creationId xmlns:a16="http://schemas.microsoft.com/office/drawing/2014/main" id="{1CE22448-DCDB-4428-8F7B-A1E532DA4995}"/>
              </a:ext>
            </a:extLst>
          </p:cNvPr>
          <p:cNvSpPr>
            <a:spLocks noGrp="1"/>
          </p:cNvSpPr>
          <p:nvPr/>
        </p:nvSpPr>
        <p:spPr>
          <a:xfrm>
            <a:off x="348790" y="4602274"/>
            <a:ext cx="708660" cy="241401"/>
          </a:xfrm>
          <a:prstGeom prst="rect">
            <a:avLst/>
          </a:prstGeom>
          <a:solidFill>
            <a:srgbClr val="FDEBD9"/>
          </a:solidFill>
          <a:ln w="12700">
            <a:solidFill>
              <a:srgbClr val="FAA95A"/>
            </a:solidFill>
          </a:ln>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algn="ctr">
              <a:buNone/>
            </a:pPr>
            <a:r>
              <a:rPr sz="1050" b="1">
                <a:solidFill>
                  <a:srgbClr val="B5601C"/>
                </a:solidFill>
                <a:latin typeface="210 OmniGothic 040"/>
                <a:ea typeface="210 OmniGothic 040"/>
                <a:cs typeface="210 OmniGothic 040"/>
              </a:rPr>
              <a:t>alt</a:t>
            </a:r>
          </a:p>
        </p:txBody>
      </p:sp>
      <p:sp>
        <p:nvSpPr>
          <p:cNvPr id="6287" name="TextBox 6288">
            <a:extLst>
              <a:ext uri="{FF2B5EF4-FFF2-40B4-BE49-F238E27FC236}">
                <a16:creationId xmlns:a16="http://schemas.microsoft.com/office/drawing/2014/main" id="{BE54E116-BBB7-4CFF-BD1C-1E170C2DFC30}"/>
              </a:ext>
            </a:extLst>
          </p:cNvPr>
          <p:cNvSpPr>
            <a:spLocks noGrp="1"/>
          </p:cNvSpPr>
          <p:nvPr/>
        </p:nvSpPr>
        <p:spPr>
          <a:xfrm>
            <a:off x="1157450" y="4612332"/>
            <a:ext cx="5715000" cy="241401"/>
          </a:xfrm>
          <a:prstGeom prst="rect">
            <a:avLst/>
          </a:prstGeom>
          <a:noFill/>
        </p:spPr>
        <p:txBody>
          <a:bodyPr wrap="square" lIns="0" tIns="0" rIns="0" bIns="0" anchor="t">
            <a:spAutoFit/>
          </a:bodyPr>
          <a:lstStyle/>
          <a:p>
            <a:pPr algn="l">
              <a:buNone/>
            </a:pPr>
            <a:r>
              <a:rPr sz="1100" b="0">
                <a:solidFill>
                  <a:srgbClr val="2E3142"/>
                </a:solidFill>
                <a:latin typeface="210 OmniGothic 040"/>
                <a:ea typeface="210 OmniGothic 040"/>
                <a:cs typeface="210 OmniGothic 040"/>
              </a:rPr>
              <a:t>[대상 없음·해석 불가 / 가용 범위 초과]</a:t>
            </a:r>
          </a:p>
        </p:txBody>
      </p:sp>
      <p:sp>
        <p:nvSpPr>
          <p:cNvPr id="6289" name="Connector 6290">
            <a:extLst>
              <a:ext uri="{FF2B5EF4-FFF2-40B4-BE49-F238E27FC236}">
                <a16:creationId xmlns:a16="http://schemas.microsoft.com/office/drawing/2014/main" id="{495112E4-C6C9-4ED3-A265-3705A39DE60A}"/>
              </a:ext>
            </a:extLst>
          </p:cNvPr>
          <p:cNvSpPr>
            <a:spLocks noGrp="1"/>
          </p:cNvSpPr>
          <p:nvPr/>
        </p:nvSpPr>
        <p:spPr>
          <a:xfrm>
            <a:off x="348790" y="5367274"/>
            <a:ext cx="17407540" cy="0"/>
          </a:xfrm>
          <a:prstGeom prst="line">
            <a:avLst/>
          </a:prstGeom>
          <a:ln w="11430">
            <a:solidFill>
              <a:srgbClr val="FAA95A"/>
            </a:solidFill>
            <a:prstDash val="dash"/>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291" name="TextBox 6292">
            <a:extLst>
              <a:ext uri="{FF2B5EF4-FFF2-40B4-BE49-F238E27FC236}">
                <a16:creationId xmlns:a16="http://schemas.microsoft.com/office/drawing/2014/main" id="{26EB593E-EC85-4B41-A02F-5E2909D313BF}"/>
              </a:ext>
            </a:extLst>
          </p:cNvPr>
          <p:cNvSpPr>
            <a:spLocks noGrp="1"/>
          </p:cNvSpPr>
          <p:nvPr/>
        </p:nvSpPr>
        <p:spPr>
          <a:xfrm>
            <a:off x="463090" y="5387391"/>
            <a:ext cx="5715000" cy="241401"/>
          </a:xfrm>
          <a:prstGeom prst="rect">
            <a:avLst/>
          </a:prstGeom>
          <a:noFill/>
        </p:spPr>
        <p:txBody>
          <a:bodyPr wrap="square" lIns="0" tIns="0" rIns="0" bIns="0" anchor="t">
            <a:spAutoFit/>
          </a:bodyPr>
          <a:lstStyle/>
          <a:p>
            <a:pPr algn="l">
              <a:buNone/>
            </a:pPr>
            <a:r>
              <a:rPr sz="1100" b="0">
                <a:solidFill>
                  <a:srgbClr val="2E3142"/>
                </a:solidFill>
                <a:latin typeface="210 OmniGothic 040"/>
                <a:ea typeface="210 OmniGothic 040"/>
                <a:cs typeface="210 OmniGothic 040"/>
              </a:rPr>
              <a:t>[정상 범위]</a:t>
            </a:r>
          </a:p>
        </p:txBody>
      </p:sp>
      <p:sp>
        <p:nvSpPr>
          <p:cNvPr id="6293" name="Rectangle 6294">
            <a:extLst>
              <a:ext uri="{FF2B5EF4-FFF2-40B4-BE49-F238E27FC236}">
                <a16:creationId xmlns:a16="http://schemas.microsoft.com/office/drawing/2014/main" id="{F9482FB3-3BF7-4140-A531-C84488AB5618}"/>
              </a:ext>
            </a:extLst>
          </p:cNvPr>
          <p:cNvSpPr>
            <a:spLocks noGrp="1"/>
          </p:cNvSpPr>
          <p:nvPr/>
        </p:nvSpPr>
        <p:spPr>
          <a:xfrm>
            <a:off x="348790" y="6292274"/>
            <a:ext cx="17407540" cy="2880251"/>
          </a:xfrm>
          <a:prstGeom prst="rect">
            <a:avLst/>
          </a:prstGeom>
          <a:noFill/>
          <a:ln w="12700">
            <a:solidFill>
              <a:srgbClr val="FAA95A"/>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endParaRPr/>
          </a:p>
        </p:txBody>
      </p:sp>
      <p:sp>
        <p:nvSpPr>
          <p:cNvPr id="6295" name="Rectangle 6296">
            <a:extLst>
              <a:ext uri="{FF2B5EF4-FFF2-40B4-BE49-F238E27FC236}">
                <a16:creationId xmlns:a16="http://schemas.microsoft.com/office/drawing/2014/main" id="{83155C95-94EE-4238-B460-7C436F8A1A06}"/>
              </a:ext>
            </a:extLst>
          </p:cNvPr>
          <p:cNvSpPr>
            <a:spLocks noGrp="1"/>
          </p:cNvSpPr>
          <p:nvPr/>
        </p:nvSpPr>
        <p:spPr>
          <a:xfrm>
            <a:off x="348790" y="6292274"/>
            <a:ext cx="708660" cy="241401"/>
          </a:xfrm>
          <a:prstGeom prst="rect">
            <a:avLst/>
          </a:prstGeom>
          <a:solidFill>
            <a:srgbClr val="FDEBD9"/>
          </a:solidFill>
          <a:ln w="12700">
            <a:solidFill>
              <a:srgbClr val="FAA95A"/>
            </a:solidFill>
          </a:ln>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algn="ctr">
              <a:buNone/>
            </a:pPr>
            <a:r>
              <a:rPr sz="1050" b="1">
                <a:solidFill>
                  <a:srgbClr val="B5601C"/>
                </a:solidFill>
                <a:latin typeface="210 OmniGothic 040"/>
                <a:ea typeface="210 OmniGothic 040"/>
                <a:cs typeface="210 OmniGothic 040"/>
              </a:rPr>
              <a:t>alt</a:t>
            </a:r>
          </a:p>
        </p:txBody>
      </p:sp>
      <p:sp>
        <p:nvSpPr>
          <p:cNvPr id="6297" name="TextBox 6298">
            <a:extLst>
              <a:ext uri="{FF2B5EF4-FFF2-40B4-BE49-F238E27FC236}">
                <a16:creationId xmlns:a16="http://schemas.microsoft.com/office/drawing/2014/main" id="{C7DF0260-7002-43AA-9DA7-9FD96BA55923}"/>
              </a:ext>
            </a:extLst>
          </p:cNvPr>
          <p:cNvSpPr>
            <a:spLocks noGrp="1"/>
          </p:cNvSpPr>
          <p:nvPr/>
        </p:nvSpPr>
        <p:spPr>
          <a:xfrm>
            <a:off x="1157450" y="6302332"/>
            <a:ext cx="5715000" cy="241401"/>
          </a:xfrm>
          <a:prstGeom prst="rect">
            <a:avLst/>
          </a:prstGeom>
          <a:noFill/>
        </p:spPr>
        <p:txBody>
          <a:bodyPr wrap="square" lIns="0" tIns="0" rIns="0" bIns="0" anchor="t">
            <a:spAutoFit/>
          </a:bodyPr>
          <a:lstStyle/>
          <a:p>
            <a:pPr algn="l">
              <a:buNone/>
            </a:pPr>
            <a:r>
              <a:rPr sz="1100" b="0">
                <a:solidFill>
                  <a:srgbClr val="2E3142"/>
                </a:solidFill>
                <a:latin typeface="210 OmniGothic 040"/>
                <a:ea typeface="210 OmniGothic 040"/>
                <a:cs typeface="210 OmniGothic 040"/>
              </a:rPr>
              <a:t>[「확인 · 저장 후 재생성」]</a:t>
            </a:r>
          </a:p>
        </p:txBody>
      </p:sp>
      <p:sp>
        <p:nvSpPr>
          <p:cNvPr id="6299" name="Connector 6300">
            <a:extLst>
              <a:ext uri="{FF2B5EF4-FFF2-40B4-BE49-F238E27FC236}">
                <a16:creationId xmlns:a16="http://schemas.microsoft.com/office/drawing/2014/main" id="{6E39C784-D6EB-4802-9577-2AFC3492B761}"/>
              </a:ext>
            </a:extLst>
          </p:cNvPr>
          <p:cNvSpPr>
            <a:spLocks noGrp="1"/>
          </p:cNvSpPr>
          <p:nvPr/>
        </p:nvSpPr>
        <p:spPr>
          <a:xfrm>
            <a:off x="348790" y="8592274"/>
            <a:ext cx="17407540" cy="0"/>
          </a:xfrm>
          <a:prstGeom prst="line">
            <a:avLst/>
          </a:prstGeom>
          <a:ln w="11430">
            <a:solidFill>
              <a:srgbClr val="FAA95A"/>
            </a:solidFill>
            <a:prstDash val="dash"/>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301" name="TextBox 6302">
            <a:extLst>
              <a:ext uri="{FF2B5EF4-FFF2-40B4-BE49-F238E27FC236}">
                <a16:creationId xmlns:a16="http://schemas.microsoft.com/office/drawing/2014/main" id="{293D0647-0193-4960-8E6C-AAAE49DE4297}"/>
              </a:ext>
            </a:extLst>
          </p:cNvPr>
          <p:cNvSpPr>
            <a:spLocks noGrp="1"/>
          </p:cNvSpPr>
          <p:nvPr/>
        </p:nvSpPr>
        <p:spPr>
          <a:xfrm>
            <a:off x="463090" y="8612391"/>
            <a:ext cx="5715000" cy="241401"/>
          </a:xfrm>
          <a:prstGeom prst="rect">
            <a:avLst/>
          </a:prstGeom>
          <a:noFill/>
        </p:spPr>
        <p:txBody>
          <a:bodyPr wrap="square" lIns="0" tIns="0" rIns="0" bIns="0" anchor="t">
            <a:spAutoFit/>
          </a:bodyPr>
          <a:lstStyle/>
          <a:p>
            <a:pPr algn="l">
              <a:buNone/>
            </a:pPr>
            <a:r>
              <a:rPr sz="1100" b="0">
                <a:solidFill>
                  <a:srgbClr val="2E3142"/>
                </a:solidFill>
                <a:latin typeface="210 OmniGothic 040"/>
                <a:ea typeface="210 OmniGothic 040"/>
                <a:cs typeface="210 OmniGothic 040"/>
              </a:rPr>
              <a:t>[「취소」]</a:t>
            </a:r>
          </a:p>
        </p:txBody>
      </p:sp>
    </p:spTree>
    <p:extLst>
      <p:ext uri="{BB962C8B-B14F-4D97-AF65-F5344CB8AC3E}">
        <p14:creationId xmlns:p14="http://schemas.microsoft.com/office/powerpoint/2010/main" val="99906866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560" name="Picture 2"/>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700" y="-12700"/>
            <a:ext cx="18313400" cy="1638300"/>
          </a:xfrm>
          <a:prstGeom prst="rect">
            <a:avLst/>
          </a:prstGeom>
        </p:spPr>
      </p:pic>
      <p:pic>
        <p:nvPicPr>
          <p:cNvPr id="6561" name="Picture 4"/>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28" y="1618343"/>
            <a:ext cx="18313400" cy="8699500"/>
          </a:xfrm>
          <a:prstGeom prst="rect">
            <a:avLst/>
          </a:prstGeom>
        </p:spPr>
      </p:pic>
      <p:pic>
        <p:nvPicPr>
          <p:cNvPr id="6562" name="Picture 5"/>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58800" y="9271000"/>
            <a:ext cx="17170400" cy="50800"/>
          </a:xfrm>
          <a:prstGeom prst="rect">
            <a:avLst/>
          </a:prstGeom>
        </p:spPr>
      </p:pic>
      <p:pic>
        <p:nvPicPr>
          <p:cNvPr id="6563" name="Picture 3"/>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5278100" y="203200"/>
            <a:ext cx="1676400" cy="1409700"/>
          </a:xfrm>
          <a:prstGeom prst="rect">
            <a:avLst/>
          </a:prstGeom>
        </p:spPr>
      </p:pic>
      <p:sp>
        <p:nvSpPr>
          <p:cNvPr id="5221" name="Title">
            <a:extLst>
              <a:ext uri="{FF2B5EF4-FFF2-40B4-BE49-F238E27FC236}">
                <a16:creationId xmlns:a16="http://schemas.microsoft.com/office/drawing/2014/main" id="{E07AD8B5-5178-4C20-BE59-EAF92B6D99EA}"/>
              </a:ext>
            </a:extLst>
          </p:cNvPr>
          <p:cNvSpPr>
            <a:spLocks noGrp="1"/>
          </p:cNvSpPr>
          <p:nvPr/>
        </p:nvSpPr>
        <p:spPr>
          <a:xfrm>
            <a:off x="822960" y="384048"/>
            <a:ext cx="13258800" cy="877824"/>
          </a:xfrm>
          <a:prstGeom prst="rect">
            <a:avLst/>
          </a:prstGeom>
          <a:noFill/>
        </p:spPr>
        <p:txBody>
          <a:bodyPr wrap="square" lIns="0" tIns="0" rIns="0" bIns="0" anchor="ctr">
            <a:spAutoFit/>
          </a:bodyPr>
          <a:lstStyle/>
          <a:p>
            <a:pPr algn="l">
              <a:buNone/>
            </a:pPr>
            <a:r>
              <a:rPr sz="4400" b="0">
                <a:solidFill>
                  <a:srgbClr val="FAA95A"/>
                </a:solidFill>
                <a:latin typeface="210 OmniGothic 050"/>
                <a:ea typeface="210 OmniGothic 050"/>
                <a:cs typeface="210 OmniGothic 050"/>
              </a:rPr>
              <a:t>04. 시퀀스 다이어그램</a:t>
            </a:r>
          </a:p>
        </p:txBody>
      </p:sp>
      <p:sp>
        <p:nvSpPr>
          <p:cNvPr id="5222" name="Subtitle">
            <a:extLst>
              <a:ext uri="{FF2B5EF4-FFF2-40B4-BE49-F238E27FC236}">
                <a16:creationId xmlns:a16="http://schemas.microsoft.com/office/drawing/2014/main" id="{BFC94D47-5FF8-4232-B7AF-658B0F81D2E0}"/>
              </a:ext>
            </a:extLst>
          </p:cNvPr>
          <p:cNvSpPr>
            <a:spLocks noGrp="1"/>
          </p:cNvSpPr>
          <p:nvPr/>
        </p:nvSpPr>
        <p:spPr>
          <a:xfrm>
            <a:off x="822960" y="1764792"/>
            <a:ext cx="16642080" cy="502920"/>
          </a:xfrm>
          <a:prstGeom prst="rect">
            <a:avLst/>
          </a:prstGeom>
          <a:noFill/>
        </p:spPr>
        <p:txBody>
          <a:bodyPr wrap="square" lIns="0" tIns="0" rIns="0" bIns="0" anchor="ctr">
            <a:spAutoFit/>
          </a:bodyPr>
          <a:lstStyle/>
          <a:p>
            <a:pPr algn="ctr">
              <a:buNone/>
            </a:pPr>
            <a:r>
              <a:rPr sz="2600" b="1">
                <a:solidFill>
                  <a:srgbClr val="363A52"/>
                </a:solidFill>
                <a:latin typeface="210 OmniGothic 040"/>
                <a:ea typeface="210 OmniGothic 040"/>
                <a:cs typeface="210 OmniGothic 040"/>
              </a:rPr>
              <a:t>계정·권한 관리  (UC-ADMIN-01)</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idx="12"/>
          </p:nvPr>
        </p:nvSpPr>
        <p:spPr/>
        <p:txBody>
          <a:bodyPr/>
          <a:lstStyle/>
          <a:p>
            <a:fld id="{B6F15528-21DE-4FAA-801E-634DDDAF4B2B}" type="slidenum">
              <a:t>48</a:t>
            </a:fld>
            <a:endParaRPr/>
          </a:p>
        </p:txBody>
      </p:sp>
      <p:sp>
        <p:nvSpPr>
          <p:cNvPr id="6537" name="Rounded Rectangle 6538">
            <a:extLst>
              <a:ext uri="{FF2B5EF4-FFF2-40B4-BE49-F238E27FC236}">
                <a16:creationId xmlns:a16="http://schemas.microsoft.com/office/drawing/2014/main" id="{26C0CE29-3376-4461-B88B-B41B7D662F30}"/>
              </a:ext>
            </a:extLst>
          </p:cNvPr>
          <p:cNvSpPr>
            <a:spLocks noGrp="1"/>
          </p:cNvSpPr>
          <p:nvPr/>
        </p:nvSpPr>
        <p:spPr>
          <a:xfrm>
            <a:off x="1463040" y="2446020"/>
            <a:ext cx="2286000" cy="462686"/>
          </a:xfrm>
          <a:prstGeom prst="roundRect">
            <a:avLst>
              <a:gd name="adj" fmla="val 10000"/>
            </a:avLst>
          </a:prstGeom>
          <a:solidFill>
            <a:srgbClr val="E6E9F1"/>
          </a:solidFill>
          <a:ln w="12700">
            <a:solidFill>
              <a:srgbClr val="B6BCCB"/>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r>
              <a:rPr sz="1250" b="1">
                <a:solidFill>
                  <a:srgbClr val="2E3142"/>
                </a:solidFill>
                <a:latin typeface="210 OmniGothic 040"/>
                <a:ea typeface="210 OmniGothic 040"/>
                <a:cs typeface="210 OmniGothic 040"/>
              </a:rPr>
              <a:t>전산 관리자</a:t>
            </a:r>
          </a:p>
        </p:txBody>
      </p:sp>
      <p:sp>
        <p:nvSpPr>
          <p:cNvPr id="6539" name="Connector 6540">
            <a:extLst>
              <a:ext uri="{FF2B5EF4-FFF2-40B4-BE49-F238E27FC236}">
                <a16:creationId xmlns:a16="http://schemas.microsoft.com/office/drawing/2014/main" id="{B77C25E8-555D-4E40-8D54-43042AB03950}"/>
              </a:ext>
            </a:extLst>
          </p:cNvPr>
          <p:cNvSpPr>
            <a:spLocks noGrp="1"/>
          </p:cNvSpPr>
          <p:nvPr/>
        </p:nvSpPr>
        <p:spPr>
          <a:xfrm>
            <a:off x="2606040" y="2908706"/>
            <a:ext cx="0" cy="6145682"/>
          </a:xfrm>
          <a:prstGeom prst="line">
            <a:avLst/>
          </a:prstGeom>
          <a:ln w="11430">
            <a:solidFill>
              <a:srgbClr val="A3A8B8"/>
            </a:solidFill>
            <a:prstDash val="dash"/>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541" name="Rounded Rectangle 6542">
            <a:extLst>
              <a:ext uri="{FF2B5EF4-FFF2-40B4-BE49-F238E27FC236}">
                <a16:creationId xmlns:a16="http://schemas.microsoft.com/office/drawing/2014/main" id="{D1961EB9-B039-417E-8898-DC414916CDC5}"/>
              </a:ext>
            </a:extLst>
          </p:cNvPr>
          <p:cNvSpPr>
            <a:spLocks noGrp="1"/>
          </p:cNvSpPr>
          <p:nvPr/>
        </p:nvSpPr>
        <p:spPr>
          <a:xfrm>
            <a:off x="4686300" y="2446020"/>
            <a:ext cx="2286000" cy="462686"/>
          </a:xfrm>
          <a:prstGeom prst="roundRect">
            <a:avLst>
              <a:gd name="adj" fmla="val 10000"/>
            </a:avLst>
          </a:prstGeom>
          <a:solidFill>
            <a:srgbClr val="E6E9F1"/>
          </a:solidFill>
          <a:ln w="12700">
            <a:solidFill>
              <a:srgbClr val="B6BCCB"/>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r>
              <a:rPr sz="1250" b="1">
                <a:solidFill>
                  <a:srgbClr val="2E3142"/>
                </a:solidFill>
                <a:latin typeface="210 OmniGothic 040"/>
                <a:ea typeface="210 OmniGothic 040"/>
                <a:cs typeface="210 OmniGothic 040"/>
              </a:rPr>
              <a:t>프론트엔드</a:t>
            </a:r>
          </a:p>
        </p:txBody>
      </p:sp>
      <p:sp>
        <p:nvSpPr>
          <p:cNvPr id="6543" name="Connector 6544">
            <a:extLst>
              <a:ext uri="{FF2B5EF4-FFF2-40B4-BE49-F238E27FC236}">
                <a16:creationId xmlns:a16="http://schemas.microsoft.com/office/drawing/2014/main" id="{95898EE1-AE07-4C2C-B69D-603E90A45940}"/>
              </a:ext>
            </a:extLst>
          </p:cNvPr>
          <p:cNvSpPr>
            <a:spLocks noGrp="1"/>
          </p:cNvSpPr>
          <p:nvPr/>
        </p:nvSpPr>
        <p:spPr>
          <a:xfrm>
            <a:off x="5829300" y="2908706"/>
            <a:ext cx="0" cy="6145682"/>
          </a:xfrm>
          <a:prstGeom prst="line">
            <a:avLst/>
          </a:prstGeom>
          <a:ln w="11430">
            <a:solidFill>
              <a:srgbClr val="A3A8B8"/>
            </a:solidFill>
            <a:prstDash val="dash"/>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545" name="Rounded Rectangle 6546">
            <a:extLst>
              <a:ext uri="{FF2B5EF4-FFF2-40B4-BE49-F238E27FC236}">
                <a16:creationId xmlns:a16="http://schemas.microsoft.com/office/drawing/2014/main" id="{A9A6A298-D292-48BE-AF42-F4684D2B9062}"/>
              </a:ext>
            </a:extLst>
          </p:cNvPr>
          <p:cNvSpPr>
            <a:spLocks noGrp="1"/>
          </p:cNvSpPr>
          <p:nvPr/>
        </p:nvSpPr>
        <p:spPr>
          <a:xfrm>
            <a:off x="7909560" y="2446020"/>
            <a:ext cx="2286000" cy="462686"/>
          </a:xfrm>
          <a:prstGeom prst="roundRect">
            <a:avLst>
              <a:gd name="adj" fmla="val 10000"/>
            </a:avLst>
          </a:prstGeom>
          <a:solidFill>
            <a:srgbClr val="E6E9F1"/>
          </a:solidFill>
          <a:ln w="12700">
            <a:solidFill>
              <a:srgbClr val="B6BCCB"/>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r>
              <a:rPr sz="1250" b="1">
                <a:solidFill>
                  <a:srgbClr val="2E3142"/>
                </a:solidFill>
                <a:latin typeface="210 OmniGothic 040"/>
                <a:ea typeface="210 OmniGothic 040"/>
                <a:cs typeface="210 OmniGothic 040"/>
              </a:rPr>
              <a:t>AdminRouter</a:t>
            </a:r>
          </a:p>
        </p:txBody>
      </p:sp>
      <p:sp>
        <p:nvSpPr>
          <p:cNvPr id="6547" name="Connector 6548">
            <a:extLst>
              <a:ext uri="{FF2B5EF4-FFF2-40B4-BE49-F238E27FC236}">
                <a16:creationId xmlns:a16="http://schemas.microsoft.com/office/drawing/2014/main" id="{73CCD206-56B4-4095-B03E-DE25162D45BE}"/>
              </a:ext>
            </a:extLst>
          </p:cNvPr>
          <p:cNvSpPr>
            <a:spLocks noGrp="1"/>
          </p:cNvSpPr>
          <p:nvPr/>
        </p:nvSpPr>
        <p:spPr>
          <a:xfrm>
            <a:off x="9052560" y="2908706"/>
            <a:ext cx="0" cy="6145682"/>
          </a:xfrm>
          <a:prstGeom prst="line">
            <a:avLst/>
          </a:prstGeom>
          <a:ln w="11430">
            <a:solidFill>
              <a:srgbClr val="A3A8B8"/>
            </a:solidFill>
            <a:prstDash val="dash"/>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549" name="Rounded Rectangle 6550">
            <a:extLst>
              <a:ext uri="{FF2B5EF4-FFF2-40B4-BE49-F238E27FC236}">
                <a16:creationId xmlns:a16="http://schemas.microsoft.com/office/drawing/2014/main" id="{26DBA994-6F47-49EF-AB56-F8615DB9D9D3}"/>
              </a:ext>
            </a:extLst>
          </p:cNvPr>
          <p:cNvSpPr>
            <a:spLocks noGrp="1"/>
          </p:cNvSpPr>
          <p:nvPr/>
        </p:nvSpPr>
        <p:spPr>
          <a:xfrm>
            <a:off x="11132820" y="2446020"/>
            <a:ext cx="2286000" cy="462686"/>
          </a:xfrm>
          <a:prstGeom prst="roundRect">
            <a:avLst>
              <a:gd name="adj" fmla="val 10000"/>
            </a:avLst>
          </a:prstGeom>
          <a:solidFill>
            <a:srgbClr val="E6E9F1"/>
          </a:solidFill>
          <a:ln w="12700">
            <a:solidFill>
              <a:srgbClr val="B6BCCB"/>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r>
              <a:rPr sz="1250" b="1">
                <a:solidFill>
                  <a:srgbClr val="2E3142"/>
                </a:solidFill>
                <a:latin typeface="210 OmniGothic 040"/>
                <a:ea typeface="210 OmniGothic 040"/>
                <a:cs typeface="210 OmniGothic 040"/>
              </a:rPr>
              <a:t>DB</a:t>
            </a:r>
          </a:p>
        </p:txBody>
      </p:sp>
      <p:sp>
        <p:nvSpPr>
          <p:cNvPr id="6551" name="Connector 6552">
            <a:extLst>
              <a:ext uri="{FF2B5EF4-FFF2-40B4-BE49-F238E27FC236}">
                <a16:creationId xmlns:a16="http://schemas.microsoft.com/office/drawing/2014/main" id="{E33D321F-9C0E-4337-9518-0265D9315DD5}"/>
              </a:ext>
            </a:extLst>
          </p:cNvPr>
          <p:cNvSpPr>
            <a:spLocks noGrp="1"/>
          </p:cNvSpPr>
          <p:nvPr/>
        </p:nvSpPr>
        <p:spPr>
          <a:xfrm>
            <a:off x="12275820" y="2908706"/>
            <a:ext cx="0" cy="6145682"/>
          </a:xfrm>
          <a:prstGeom prst="line">
            <a:avLst/>
          </a:prstGeom>
          <a:ln w="11430">
            <a:solidFill>
              <a:srgbClr val="A3A8B8"/>
            </a:solidFill>
            <a:prstDash val="dash"/>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553" name="Rounded Rectangle 6554">
            <a:extLst>
              <a:ext uri="{FF2B5EF4-FFF2-40B4-BE49-F238E27FC236}">
                <a16:creationId xmlns:a16="http://schemas.microsoft.com/office/drawing/2014/main" id="{30695409-BA58-4F45-BA39-9469751A56A0}"/>
              </a:ext>
            </a:extLst>
          </p:cNvPr>
          <p:cNvSpPr>
            <a:spLocks noGrp="1"/>
          </p:cNvSpPr>
          <p:nvPr/>
        </p:nvSpPr>
        <p:spPr>
          <a:xfrm>
            <a:off x="14356080" y="2446020"/>
            <a:ext cx="2286000" cy="462686"/>
          </a:xfrm>
          <a:prstGeom prst="roundRect">
            <a:avLst>
              <a:gd name="adj" fmla="val 10000"/>
            </a:avLst>
          </a:prstGeom>
          <a:solidFill>
            <a:srgbClr val="E6E9F1"/>
          </a:solidFill>
          <a:ln w="12700">
            <a:solidFill>
              <a:srgbClr val="B6BCCB"/>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r>
              <a:rPr sz="1250" b="1">
                <a:solidFill>
                  <a:srgbClr val="2E3142"/>
                </a:solidFill>
                <a:latin typeface="210 OmniGothic 040"/>
                <a:ea typeface="210 OmniGothic 040"/>
                <a:cs typeface="210 OmniGothic 040"/>
              </a:rPr>
              <a:t>EventLogger</a:t>
            </a:r>
          </a:p>
        </p:txBody>
      </p:sp>
      <p:sp>
        <p:nvSpPr>
          <p:cNvPr id="6555" name="Connector 6556">
            <a:extLst>
              <a:ext uri="{FF2B5EF4-FFF2-40B4-BE49-F238E27FC236}">
                <a16:creationId xmlns:a16="http://schemas.microsoft.com/office/drawing/2014/main" id="{19DE9649-B71E-43B9-A14B-C9225ACEDB8F}"/>
              </a:ext>
            </a:extLst>
          </p:cNvPr>
          <p:cNvSpPr>
            <a:spLocks noGrp="1"/>
          </p:cNvSpPr>
          <p:nvPr/>
        </p:nvSpPr>
        <p:spPr>
          <a:xfrm>
            <a:off x="15499080" y="2908706"/>
            <a:ext cx="0" cy="6145682"/>
          </a:xfrm>
          <a:prstGeom prst="line">
            <a:avLst/>
          </a:prstGeom>
          <a:ln w="11430">
            <a:solidFill>
              <a:srgbClr val="A3A8B8"/>
            </a:solidFill>
            <a:prstDash val="dash"/>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439" name="Rectangle 6440">
            <a:extLst>
              <a:ext uri="{FF2B5EF4-FFF2-40B4-BE49-F238E27FC236}">
                <a16:creationId xmlns:a16="http://schemas.microsoft.com/office/drawing/2014/main" id="{C5613DF2-73ED-4CD0-B26B-B4943055D6A9}"/>
              </a:ext>
            </a:extLst>
          </p:cNvPr>
          <p:cNvSpPr>
            <a:spLocks noGrp="1"/>
          </p:cNvSpPr>
          <p:nvPr/>
        </p:nvSpPr>
        <p:spPr>
          <a:xfrm>
            <a:off x="12205820" y="4327274"/>
            <a:ext cx="140000" cy="15000"/>
          </a:xfrm>
          <a:prstGeom prst="rect">
            <a:avLst/>
          </a:prstGeom>
          <a:solidFill>
            <a:srgbClr val="FFFFFF"/>
          </a:solidFill>
          <a:ln w="9525">
            <a:solidFill>
              <a:srgbClr val="363A52"/>
            </a:solidFill>
          </a:ln>
        </p:spPr>
        <p:style>
          <a:lnRef idx="1">
            <a:schemeClr val="accent1"/>
          </a:lnRef>
          <a:fillRef idx="3">
            <a:schemeClr val="accent1"/>
          </a:fillRef>
          <a:effectRef idx="2">
            <a:schemeClr val="accent1"/>
          </a:effectRef>
          <a:fontRef idx="minor">
            <a:schemeClr val="lt1"/>
          </a:fontRef>
        </p:style>
        <p:txBody>
          <a:bodyPr wrap="square" lIns="0" rIns="0" anchor="ctr"/>
          <a:lstStyle/>
          <a:p>
            <a:pPr algn="ctr">
              <a:buNone/>
            </a:pPr>
            <a:endParaRPr/>
          </a:p>
        </p:txBody>
      </p:sp>
      <p:sp>
        <p:nvSpPr>
          <p:cNvPr id="6441" name="Rectangle 6442">
            <a:extLst>
              <a:ext uri="{FF2B5EF4-FFF2-40B4-BE49-F238E27FC236}">
                <a16:creationId xmlns:a16="http://schemas.microsoft.com/office/drawing/2014/main" id="{786E6100-AD1F-4D6C-8A37-5A9CC554D345}"/>
              </a:ext>
            </a:extLst>
          </p:cNvPr>
          <p:cNvSpPr>
            <a:spLocks noGrp="1"/>
          </p:cNvSpPr>
          <p:nvPr/>
        </p:nvSpPr>
        <p:spPr>
          <a:xfrm>
            <a:off x="15429080" y="4577274"/>
            <a:ext cx="140000" cy="15000"/>
          </a:xfrm>
          <a:prstGeom prst="rect">
            <a:avLst/>
          </a:prstGeom>
          <a:solidFill>
            <a:srgbClr val="FFFFFF"/>
          </a:solidFill>
          <a:ln w="9525">
            <a:solidFill>
              <a:srgbClr val="363A52"/>
            </a:solidFill>
          </a:ln>
        </p:spPr>
        <p:style>
          <a:lnRef idx="1">
            <a:schemeClr val="accent1"/>
          </a:lnRef>
          <a:fillRef idx="3">
            <a:schemeClr val="accent1"/>
          </a:fillRef>
          <a:effectRef idx="2">
            <a:schemeClr val="accent1"/>
          </a:effectRef>
          <a:fontRef idx="minor">
            <a:schemeClr val="lt1"/>
          </a:fontRef>
        </p:style>
        <p:txBody>
          <a:bodyPr wrap="square" lIns="0" rIns="0" anchor="ctr"/>
          <a:lstStyle/>
          <a:p>
            <a:pPr algn="ctr">
              <a:buNone/>
            </a:pPr>
            <a:endParaRPr/>
          </a:p>
        </p:txBody>
      </p:sp>
      <p:sp>
        <p:nvSpPr>
          <p:cNvPr id="6443" name="Rectangle 6444">
            <a:extLst>
              <a:ext uri="{FF2B5EF4-FFF2-40B4-BE49-F238E27FC236}">
                <a16:creationId xmlns:a16="http://schemas.microsoft.com/office/drawing/2014/main" id="{0EE66BDF-739A-4B2B-8E82-27050B7AD9F6}"/>
              </a:ext>
            </a:extLst>
          </p:cNvPr>
          <p:cNvSpPr>
            <a:spLocks noGrp="1"/>
          </p:cNvSpPr>
          <p:nvPr/>
        </p:nvSpPr>
        <p:spPr>
          <a:xfrm>
            <a:off x="8982560" y="3632274"/>
            <a:ext cx="140000" cy="1195000"/>
          </a:xfrm>
          <a:prstGeom prst="rect">
            <a:avLst/>
          </a:prstGeom>
          <a:solidFill>
            <a:srgbClr val="FFFFFF"/>
          </a:solidFill>
          <a:ln w="9525">
            <a:solidFill>
              <a:srgbClr val="363A52"/>
            </a:solidFill>
          </a:ln>
        </p:spPr>
        <p:style>
          <a:lnRef idx="1">
            <a:schemeClr val="accent1"/>
          </a:lnRef>
          <a:fillRef idx="3">
            <a:schemeClr val="accent1"/>
          </a:fillRef>
          <a:effectRef idx="2">
            <a:schemeClr val="accent1"/>
          </a:effectRef>
          <a:fontRef idx="minor">
            <a:schemeClr val="lt1"/>
          </a:fontRef>
        </p:style>
        <p:txBody>
          <a:bodyPr wrap="square" lIns="0" rIns="0" anchor="ctr"/>
          <a:lstStyle/>
          <a:p>
            <a:pPr algn="ctr">
              <a:buNone/>
            </a:pPr>
            <a:endParaRPr/>
          </a:p>
        </p:txBody>
      </p:sp>
      <p:sp>
        <p:nvSpPr>
          <p:cNvPr id="6445" name="Rectangle 6446">
            <a:extLst>
              <a:ext uri="{FF2B5EF4-FFF2-40B4-BE49-F238E27FC236}">
                <a16:creationId xmlns:a16="http://schemas.microsoft.com/office/drawing/2014/main" id="{E4153D2C-80AE-497E-A6E5-1479D6A114E3}"/>
              </a:ext>
            </a:extLst>
          </p:cNvPr>
          <p:cNvSpPr>
            <a:spLocks noGrp="1"/>
          </p:cNvSpPr>
          <p:nvPr/>
        </p:nvSpPr>
        <p:spPr>
          <a:xfrm>
            <a:off x="5759300" y="3382274"/>
            <a:ext cx="140000" cy="1695000"/>
          </a:xfrm>
          <a:prstGeom prst="rect">
            <a:avLst/>
          </a:prstGeom>
          <a:solidFill>
            <a:srgbClr val="FFFFFF"/>
          </a:solidFill>
          <a:ln w="9525">
            <a:solidFill>
              <a:srgbClr val="363A52"/>
            </a:solidFill>
          </a:ln>
        </p:spPr>
        <p:style>
          <a:lnRef idx="1">
            <a:schemeClr val="accent1"/>
          </a:lnRef>
          <a:fillRef idx="3">
            <a:schemeClr val="accent1"/>
          </a:fillRef>
          <a:effectRef idx="2">
            <a:schemeClr val="accent1"/>
          </a:effectRef>
          <a:fontRef idx="minor">
            <a:schemeClr val="lt1"/>
          </a:fontRef>
        </p:style>
        <p:txBody>
          <a:bodyPr wrap="square" lIns="0" rIns="0" anchor="ctr"/>
          <a:lstStyle/>
          <a:p>
            <a:pPr algn="ctr">
              <a:buNone/>
            </a:pPr>
            <a:endParaRPr/>
          </a:p>
        </p:txBody>
      </p:sp>
      <p:sp>
        <p:nvSpPr>
          <p:cNvPr id="6447" name="Rectangle 6448">
            <a:extLst>
              <a:ext uri="{FF2B5EF4-FFF2-40B4-BE49-F238E27FC236}">
                <a16:creationId xmlns:a16="http://schemas.microsoft.com/office/drawing/2014/main" id="{7CC0B7A4-B23C-4B0E-ACDD-D22EAB97F171}"/>
              </a:ext>
            </a:extLst>
          </p:cNvPr>
          <p:cNvSpPr>
            <a:spLocks noGrp="1"/>
          </p:cNvSpPr>
          <p:nvPr/>
        </p:nvSpPr>
        <p:spPr>
          <a:xfrm>
            <a:off x="15429080" y="5827274"/>
            <a:ext cx="140000" cy="15000"/>
          </a:xfrm>
          <a:prstGeom prst="rect">
            <a:avLst/>
          </a:prstGeom>
          <a:solidFill>
            <a:srgbClr val="FFFFFF"/>
          </a:solidFill>
          <a:ln w="9525">
            <a:solidFill>
              <a:srgbClr val="363A52"/>
            </a:solidFill>
          </a:ln>
        </p:spPr>
        <p:style>
          <a:lnRef idx="1">
            <a:schemeClr val="accent1"/>
          </a:lnRef>
          <a:fillRef idx="3">
            <a:schemeClr val="accent1"/>
          </a:fillRef>
          <a:effectRef idx="2">
            <a:schemeClr val="accent1"/>
          </a:effectRef>
          <a:fontRef idx="minor">
            <a:schemeClr val="lt1"/>
          </a:fontRef>
        </p:style>
        <p:txBody>
          <a:bodyPr wrap="square" lIns="0" rIns="0" anchor="ctr"/>
          <a:lstStyle/>
          <a:p>
            <a:pPr algn="ctr">
              <a:buNone/>
            </a:pPr>
            <a:endParaRPr/>
          </a:p>
        </p:txBody>
      </p:sp>
      <p:sp>
        <p:nvSpPr>
          <p:cNvPr id="6449" name="Rectangle 6450">
            <a:extLst>
              <a:ext uri="{FF2B5EF4-FFF2-40B4-BE49-F238E27FC236}">
                <a16:creationId xmlns:a16="http://schemas.microsoft.com/office/drawing/2014/main" id="{037EAACD-CD69-4B5B-9D3B-9703F16CB956}"/>
              </a:ext>
            </a:extLst>
          </p:cNvPr>
          <p:cNvSpPr>
            <a:spLocks noGrp="1"/>
          </p:cNvSpPr>
          <p:nvPr/>
        </p:nvSpPr>
        <p:spPr>
          <a:xfrm>
            <a:off x="8982560" y="5577274"/>
            <a:ext cx="140000" cy="500000"/>
          </a:xfrm>
          <a:prstGeom prst="rect">
            <a:avLst/>
          </a:prstGeom>
          <a:solidFill>
            <a:srgbClr val="FFFFFF"/>
          </a:solidFill>
          <a:ln w="9525">
            <a:solidFill>
              <a:srgbClr val="363A52"/>
            </a:solidFill>
          </a:ln>
        </p:spPr>
        <p:style>
          <a:lnRef idx="1">
            <a:schemeClr val="accent1"/>
          </a:lnRef>
          <a:fillRef idx="3">
            <a:schemeClr val="accent1"/>
          </a:fillRef>
          <a:effectRef idx="2">
            <a:schemeClr val="accent1"/>
          </a:effectRef>
          <a:fontRef idx="minor">
            <a:schemeClr val="lt1"/>
          </a:fontRef>
        </p:style>
        <p:txBody>
          <a:bodyPr wrap="square" lIns="0" rIns="0" anchor="ctr"/>
          <a:lstStyle/>
          <a:p>
            <a:pPr algn="ctr">
              <a:buNone/>
            </a:pPr>
            <a:endParaRPr/>
          </a:p>
        </p:txBody>
      </p:sp>
      <p:sp>
        <p:nvSpPr>
          <p:cNvPr id="6451" name="Rectangle 6452">
            <a:extLst>
              <a:ext uri="{FF2B5EF4-FFF2-40B4-BE49-F238E27FC236}">
                <a16:creationId xmlns:a16="http://schemas.microsoft.com/office/drawing/2014/main" id="{D7A17F21-6134-41A8-B758-8B266A6B9969}"/>
              </a:ext>
            </a:extLst>
          </p:cNvPr>
          <p:cNvSpPr>
            <a:spLocks noGrp="1"/>
          </p:cNvSpPr>
          <p:nvPr/>
        </p:nvSpPr>
        <p:spPr>
          <a:xfrm>
            <a:off x="5759300" y="5327274"/>
            <a:ext cx="140000" cy="1000000"/>
          </a:xfrm>
          <a:prstGeom prst="rect">
            <a:avLst/>
          </a:prstGeom>
          <a:solidFill>
            <a:srgbClr val="FFFFFF"/>
          </a:solidFill>
          <a:ln w="9525">
            <a:solidFill>
              <a:srgbClr val="363A52"/>
            </a:solidFill>
          </a:ln>
        </p:spPr>
        <p:style>
          <a:lnRef idx="1">
            <a:schemeClr val="accent1"/>
          </a:lnRef>
          <a:fillRef idx="3">
            <a:schemeClr val="accent1"/>
          </a:fillRef>
          <a:effectRef idx="2">
            <a:schemeClr val="accent1"/>
          </a:effectRef>
          <a:fontRef idx="minor">
            <a:schemeClr val="lt1"/>
          </a:fontRef>
        </p:style>
        <p:txBody>
          <a:bodyPr wrap="square" lIns="0" rIns="0" anchor="ctr"/>
          <a:lstStyle/>
          <a:p>
            <a:pPr algn="ctr">
              <a:buNone/>
            </a:pPr>
            <a:endParaRPr/>
          </a:p>
        </p:txBody>
      </p:sp>
      <p:sp>
        <p:nvSpPr>
          <p:cNvPr id="6453" name="Rectangle 6454">
            <a:extLst>
              <a:ext uri="{FF2B5EF4-FFF2-40B4-BE49-F238E27FC236}">
                <a16:creationId xmlns:a16="http://schemas.microsoft.com/office/drawing/2014/main" id="{5488D282-1F20-434B-923C-D994BA1CDD5D}"/>
              </a:ext>
            </a:extLst>
          </p:cNvPr>
          <p:cNvSpPr>
            <a:spLocks noGrp="1"/>
          </p:cNvSpPr>
          <p:nvPr/>
        </p:nvSpPr>
        <p:spPr>
          <a:xfrm>
            <a:off x="12205820" y="7077274"/>
            <a:ext cx="140000" cy="15000"/>
          </a:xfrm>
          <a:prstGeom prst="rect">
            <a:avLst/>
          </a:prstGeom>
          <a:solidFill>
            <a:srgbClr val="FFFFFF"/>
          </a:solidFill>
          <a:ln w="9525">
            <a:solidFill>
              <a:srgbClr val="363A52"/>
            </a:solidFill>
          </a:ln>
        </p:spPr>
        <p:style>
          <a:lnRef idx="1">
            <a:schemeClr val="accent1"/>
          </a:lnRef>
          <a:fillRef idx="3">
            <a:schemeClr val="accent1"/>
          </a:fillRef>
          <a:effectRef idx="2">
            <a:schemeClr val="accent1"/>
          </a:effectRef>
          <a:fontRef idx="minor">
            <a:schemeClr val="lt1"/>
          </a:fontRef>
        </p:style>
        <p:txBody>
          <a:bodyPr wrap="square" lIns="0" rIns="0" anchor="ctr"/>
          <a:lstStyle/>
          <a:p>
            <a:pPr algn="ctr">
              <a:buNone/>
            </a:pPr>
            <a:endParaRPr/>
          </a:p>
        </p:txBody>
      </p:sp>
      <p:sp>
        <p:nvSpPr>
          <p:cNvPr id="6455" name="Rectangle 6456">
            <a:extLst>
              <a:ext uri="{FF2B5EF4-FFF2-40B4-BE49-F238E27FC236}">
                <a16:creationId xmlns:a16="http://schemas.microsoft.com/office/drawing/2014/main" id="{7A232900-7DA4-477F-AA19-76C1C10CEF83}"/>
              </a:ext>
            </a:extLst>
          </p:cNvPr>
          <p:cNvSpPr>
            <a:spLocks noGrp="1"/>
          </p:cNvSpPr>
          <p:nvPr/>
        </p:nvSpPr>
        <p:spPr>
          <a:xfrm>
            <a:off x="15429080" y="7327274"/>
            <a:ext cx="140000" cy="15000"/>
          </a:xfrm>
          <a:prstGeom prst="rect">
            <a:avLst/>
          </a:prstGeom>
          <a:solidFill>
            <a:srgbClr val="FFFFFF"/>
          </a:solidFill>
          <a:ln w="9525">
            <a:solidFill>
              <a:srgbClr val="363A52"/>
            </a:solidFill>
          </a:ln>
        </p:spPr>
        <p:style>
          <a:lnRef idx="1">
            <a:schemeClr val="accent1"/>
          </a:lnRef>
          <a:fillRef idx="3">
            <a:schemeClr val="accent1"/>
          </a:fillRef>
          <a:effectRef idx="2">
            <a:schemeClr val="accent1"/>
          </a:effectRef>
          <a:fontRef idx="minor">
            <a:schemeClr val="lt1"/>
          </a:fontRef>
        </p:style>
        <p:txBody>
          <a:bodyPr wrap="square" lIns="0" rIns="0" anchor="ctr"/>
          <a:lstStyle/>
          <a:p>
            <a:pPr algn="ctr">
              <a:buNone/>
            </a:pPr>
            <a:endParaRPr/>
          </a:p>
        </p:txBody>
      </p:sp>
      <p:sp>
        <p:nvSpPr>
          <p:cNvPr id="6457" name="Rectangle 6458">
            <a:extLst>
              <a:ext uri="{FF2B5EF4-FFF2-40B4-BE49-F238E27FC236}">
                <a16:creationId xmlns:a16="http://schemas.microsoft.com/office/drawing/2014/main" id="{1299A874-E541-4700-8E90-BD7A1CD73AF6}"/>
              </a:ext>
            </a:extLst>
          </p:cNvPr>
          <p:cNvSpPr>
            <a:spLocks noGrp="1"/>
          </p:cNvSpPr>
          <p:nvPr/>
        </p:nvSpPr>
        <p:spPr>
          <a:xfrm>
            <a:off x="8982560" y="6827274"/>
            <a:ext cx="140000" cy="750000"/>
          </a:xfrm>
          <a:prstGeom prst="rect">
            <a:avLst/>
          </a:prstGeom>
          <a:solidFill>
            <a:srgbClr val="FFFFFF"/>
          </a:solidFill>
          <a:ln w="9525">
            <a:solidFill>
              <a:srgbClr val="363A52"/>
            </a:solidFill>
          </a:ln>
        </p:spPr>
        <p:style>
          <a:lnRef idx="1">
            <a:schemeClr val="accent1"/>
          </a:lnRef>
          <a:fillRef idx="3">
            <a:schemeClr val="accent1"/>
          </a:fillRef>
          <a:effectRef idx="2">
            <a:schemeClr val="accent1"/>
          </a:effectRef>
          <a:fontRef idx="minor">
            <a:schemeClr val="lt1"/>
          </a:fontRef>
        </p:style>
        <p:txBody>
          <a:bodyPr wrap="square" lIns="0" rIns="0" anchor="ctr"/>
          <a:lstStyle/>
          <a:p>
            <a:pPr algn="ctr">
              <a:buNone/>
            </a:pPr>
            <a:endParaRPr/>
          </a:p>
        </p:txBody>
      </p:sp>
      <p:sp>
        <p:nvSpPr>
          <p:cNvPr id="6459" name="Rectangle 6460">
            <a:extLst>
              <a:ext uri="{FF2B5EF4-FFF2-40B4-BE49-F238E27FC236}">
                <a16:creationId xmlns:a16="http://schemas.microsoft.com/office/drawing/2014/main" id="{34390699-8264-4A88-978A-9B7B5A464611}"/>
              </a:ext>
            </a:extLst>
          </p:cNvPr>
          <p:cNvSpPr>
            <a:spLocks noGrp="1"/>
          </p:cNvSpPr>
          <p:nvPr/>
        </p:nvSpPr>
        <p:spPr>
          <a:xfrm>
            <a:off x="5759300" y="6577274"/>
            <a:ext cx="140000" cy="1250000"/>
          </a:xfrm>
          <a:prstGeom prst="rect">
            <a:avLst/>
          </a:prstGeom>
          <a:solidFill>
            <a:srgbClr val="FFFFFF"/>
          </a:solidFill>
          <a:ln w="9525">
            <a:solidFill>
              <a:srgbClr val="363A52"/>
            </a:solidFill>
          </a:ln>
        </p:spPr>
        <p:style>
          <a:lnRef idx="1">
            <a:schemeClr val="accent1"/>
          </a:lnRef>
          <a:fillRef idx="3">
            <a:schemeClr val="accent1"/>
          </a:fillRef>
          <a:effectRef idx="2">
            <a:schemeClr val="accent1"/>
          </a:effectRef>
          <a:fontRef idx="minor">
            <a:schemeClr val="lt1"/>
          </a:fontRef>
        </p:style>
        <p:txBody>
          <a:bodyPr wrap="square" lIns="0" rIns="0" anchor="ctr"/>
          <a:lstStyle/>
          <a:p>
            <a:pPr algn="ctr">
              <a:buNone/>
            </a:pPr>
            <a:endParaRPr/>
          </a:p>
        </p:txBody>
      </p:sp>
      <p:sp>
        <p:nvSpPr>
          <p:cNvPr id="6461" name="TextBox 6462">
            <a:extLst>
              <a:ext uri="{FF2B5EF4-FFF2-40B4-BE49-F238E27FC236}">
                <a16:creationId xmlns:a16="http://schemas.microsoft.com/office/drawing/2014/main" id="{6C4485F1-097B-4B05-A7D0-B4648E56CD71}"/>
              </a:ext>
            </a:extLst>
          </p:cNvPr>
          <p:cNvSpPr>
            <a:spLocks noGrp="1"/>
          </p:cNvSpPr>
          <p:nvPr/>
        </p:nvSpPr>
        <p:spPr>
          <a:xfrm>
            <a:off x="2606040" y="3157274"/>
            <a:ext cx="322326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계정 발급(이름·소속·권한 입력)</a:t>
            </a:r>
          </a:p>
        </p:txBody>
      </p:sp>
      <p:sp>
        <p:nvSpPr>
          <p:cNvPr id="6463" name="Connector 6464">
            <a:extLst>
              <a:ext uri="{FF2B5EF4-FFF2-40B4-BE49-F238E27FC236}">
                <a16:creationId xmlns:a16="http://schemas.microsoft.com/office/drawing/2014/main" id="{5D1CBEA5-248C-4B4D-ABC0-94C0909FE464}"/>
              </a:ext>
            </a:extLst>
          </p:cNvPr>
          <p:cNvSpPr>
            <a:spLocks noGrp="1"/>
          </p:cNvSpPr>
          <p:nvPr/>
        </p:nvSpPr>
        <p:spPr>
          <a:xfrm>
            <a:off x="2606040" y="3382274"/>
            <a:ext cx="3153260" cy="0"/>
          </a:xfrm>
          <a:prstGeom prst="line">
            <a:avLst/>
          </a:prstGeom>
          <a:ln w="1397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465" name="TextBox 6466">
            <a:extLst>
              <a:ext uri="{FF2B5EF4-FFF2-40B4-BE49-F238E27FC236}">
                <a16:creationId xmlns:a16="http://schemas.microsoft.com/office/drawing/2014/main" id="{281ED4B0-2615-494B-8BD1-25F01AE3B8C4}"/>
              </a:ext>
            </a:extLst>
          </p:cNvPr>
          <p:cNvSpPr>
            <a:spLocks noGrp="1"/>
          </p:cNvSpPr>
          <p:nvPr/>
        </p:nvSpPr>
        <p:spPr>
          <a:xfrm>
            <a:off x="5829300" y="3407274"/>
            <a:ext cx="322326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POST /admin/users</a:t>
            </a:r>
          </a:p>
        </p:txBody>
      </p:sp>
      <p:sp>
        <p:nvSpPr>
          <p:cNvPr id="6467" name="Connector 6468">
            <a:extLst>
              <a:ext uri="{FF2B5EF4-FFF2-40B4-BE49-F238E27FC236}">
                <a16:creationId xmlns:a16="http://schemas.microsoft.com/office/drawing/2014/main" id="{677C33D9-2931-43AD-9E87-51452D24AB76}"/>
              </a:ext>
            </a:extLst>
          </p:cNvPr>
          <p:cNvSpPr>
            <a:spLocks noGrp="1"/>
          </p:cNvSpPr>
          <p:nvPr/>
        </p:nvSpPr>
        <p:spPr>
          <a:xfrm>
            <a:off x="5899300" y="3632274"/>
            <a:ext cx="3083260" cy="0"/>
          </a:xfrm>
          <a:prstGeom prst="line">
            <a:avLst/>
          </a:prstGeom>
          <a:ln w="1397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469" name="Connector 6470">
            <a:extLst>
              <a:ext uri="{FF2B5EF4-FFF2-40B4-BE49-F238E27FC236}">
                <a16:creationId xmlns:a16="http://schemas.microsoft.com/office/drawing/2014/main" id="{DCB84BAF-CA81-45C0-B362-41740FC4CE61}"/>
              </a:ext>
            </a:extLst>
          </p:cNvPr>
          <p:cNvSpPr>
            <a:spLocks noGrp="1"/>
          </p:cNvSpPr>
          <p:nvPr/>
        </p:nvSpPr>
        <p:spPr>
          <a:xfrm>
            <a:off x="9122560" y="3882274"/>
            <a:ext cx="365760" cy="0"/>
          </a:xfrm>
          <a:prstGeom prst="line">
            <a:avLst/>
          </a:prstGeom>
          <a:ln w="13970">
            <a:solidFill>
              <a:srgbClr val="363A52"/>
            </a:solidFill>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471" name="Connector 6472">
            <a:extLst>
              <a:ext uri="{FF2B5EF4-FFF2-40B4-BE49-F238E27FC236}">
                <a16:creationId xmlns:a16="http://schemas.microsoft.com/office/drawing/2014/main" id="{40766D70-DAAC-4AE6-A9C9-34B542E4E950}"/>
              </a:ext>
            </a:extLst>
          </p:cNvPr>
          <p:cNvSpPr>
            <a:spLocks noGrp="1"/>
          </p:cNvSpPr>
          <p:nvPr/>
        </p:nvSpPr>
        <p:spPr>
          <a:xfrm>
            <a:off x="9488320" y="3882274"/>
            <a:ext cx="0" cy="180251"/>
          </a:xfrm>
          <a:prstGeom prst="line">
            <a:avLst/>
          </a:prstGeom>
          <a:ln w="13970">
            <a:solidFill>
              <a:srgbClr val="363A52"/>
            </a:solidFill>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473" name="Connector 6474">
            <a:extLst>
              <a:ext uri="{FF2B5EF4-FFF2-40B4-BE49-F238E27FC236}">
                <a16:creationId xmlns:a16="http://schemas.microsoft.com/office/drawing/2014/main" id="{98B29BD7-BA42-4588-A0B4-1B8090822590}"/>
              </a:ext>
            </a:extLst>
          </p:cNvPr>
          <p:cNvSpPr>
            <a:spLocks noGrp="1"/>
          </p:cNvSpPr>
          <p:nvPr/>
        </p:nvSpPr>
        <p:spPr>
          <a:xfrm flipH="1">
            <a:off x="9156850" y="4062525"/>
            <a:ext cx="331470" cy="0"/>
          </a:xfrm>
          <a:prstGeom prst="line">
            <a:avLst/>
          </a:prstGeom>
          <a:ln w="1397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475" name="TextBox 6476">
            <a:extLst>
              <a:ext uri="{FF2B5EF4-FFF2-40B4-BE49-F238E27FC236}">
                <a16:creationId xmlns:a16="http://schemas.microsoft.com/office/drawing/2014/main" id="{70DCACD3-1C67-4901-B726-1B188D4912CB}"/>
              </a:ext>
            </a:extLst>
          </p:cNvPr>
          <p:cNvSpPr>
            <a:spLocks noGrp="1"/>
          </p:cNvSpPr>
          <p:nvPr/>
        </p:nvSpPr>
        <p:spPr>
          <a:xfrm>
            <a:off x="9579760" y="3657274"/>
            <a:ext cx="4562951" cy="221284"/>
          </a:xfrm>
          <a:prstGeom prst="rect">
            <a:avLst/>
          </a:prstGeom>
          <a:noFill/>
        </p:spPr>
        <p:txBody>
          <a:bodyPr wrap="square" lIns="0" tIns="0" rIns="0" bIns="0" anchor="t">
            <a:spAutoFit/>
          </a:bodyPr>
          <a:lstStyle/>
          <a:p>
            <a:pPr algn="l">
              <a:buNone/>
            </a:pPr>
            <a:r>
              <a:rPr sz="1100" b="0">
                <a:solidFill>
                  <a:srgbClr val="2E3142"/>
                </a:solidFill>
                <a:latin typeface="210 OmniGothic 040"/>
                <a:ea typeface="210 OmniGothic 040"/>
                <a:cs typeface="210 OmniGothic 040"/>
              </a:rPr>
              <a:t>권한(관리) · 빈 값 검사 · 아이디·초기 비밀번호 자동 생성</a:t>
            </a:r>
          </a:p>
        </p:txBody>
      </p:sp>
      <p:sp>
        <p:nvSpPr>
          <p:cNvPr id="6477" name="TextBox 6478">
            <a:extLst>
              <a:ext uri="{FF2B5EF4-FFF2-40B4-BE49-F238E27FC236}">
                <a16:creationId xmlns:a16="http://schemas.microsoft.com/office/drawing/2014/main" id="{47DF3263-8D2D-4244-8B84-883535EA4A61}"/>
              </a:ext>
            </a:extLst>
          </p:cNvPr>
          <p:cNvSpPr>
            <a:spLocks noGrp="1"/>
          </p:cNvSpPr>
          <p:nvPr/>
        </p:nvSpPr>
        <p:spPr>
          <a:xfrm>
            <a:off x="9052560" y="4102274"/>
            <a:ext cx="322326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계정 저장(비밀번호 해시, 상태 = 발급)</a:t>
            </a:r>
          </a:p>
        </p:txBody>
      </p:sp>
      <p:sp>
        <p:nvSpPr>
          <p:cNvPr id="6479" name="Connector 6480">
            <a:extLst>
              <a:ext uri="{FF2B5EF4-FFF2-40B4-BE49-F238E27FC236}">
                <a16:creationId xmlns:a16="http://schemas.microsoft.com/office/drawing/2014/main" id="{0EF38AF5-864B-4E0D-B4B9-F3CEE20EA676}"/>
              </a:ext>
            </a:extLst>
          </p:cNvPr>
          <p:cNvSpPr>
            <a:spLocks noGrp="1"/>
          </p:cNvSpPr>
          <p:nvPr/>
        </p:nvSpPr>
        <p:spPr>
          <a:xfrm>
            <a:off x="9122560" y="4327274"/>
            <a:ext cx="3083260" cy="0"/>
          </a:xfrm>
          <a:prstGeom prst="line">
            <a:avLst/>
          </a:prstGeom>
          <a:ln w="1397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481" name="TextBox 6482">
            <a:extLst>
              <a:ext uri="{FF2B5EF4-FFF2-40B4-BE49-F238E27FC236}">
                <a16:creationId xmlns:a16="http://schemas.microsoft.com/office/drawing/2014/main" id="{C5589508-E070-44CD-92B3-F71D8FAEBFC4}"/>
              </a:ext>
            </a:extLst>
          </p:cNvPr>
          <p:cNvSpPr>
            <a:spLocks noGrp="1"/>
          </p:cNvSpPr>
          <p:nvPr/>
        </p:nvSpPr>
        <p:spPr>
          <a:xfrm>
            <a:off x="9052560" y="4352274"/>
            <a:ext cx="644652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record(관리, 계정 발급)</a:t>
            </a:r>
          </a:p>
        </p:txBody>
      </p:sp>
      <p:sp>
        <p:nvSpPr>
          <p:cNvPr id="6483" name="Connector 6484">
            <a:extLst>
              <a:ext uri="{FF2B5EF4-FFF2-40B4-BE49-F238E27FC236}">
                <a16:creationId xmlns:a16="http://schemas.microsoft.com/office/drawing/2014/main" id="{6F890B1D-FA53-4D5D-BDA4-BA00D1F0A3B4}"/>
              </a:ext>
            </a:extLst>
          </p:cNvPr>
          <p:cNvSpPr>
            <a:spLocks noGrp="1"/>
          </p:cNvSpPr>
          <p:nvPr/>
        </p:nvSpPr>
        <p:spPr>
          <a:xfrm>
            <a:off x="9122560" y="4577274"/>
            <a:ext cx="6306520" cy="0"/>
          </a:xfrm>
          <a:prstGeom prst="line">
            <a:avLst/>
          </a:prstGeom>
          <a:ln w="1397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485" name="TextBox 6486">
            <a:extLst>
              <a:ext uri="{FF2B5EF4-FFF2-40B4-BE49-F238E27FC236}">
                <a16:creationId xmlns:a16="http://schemas.microsoft.com/office/drawing/2014/main" id="{62FB4C3A-0811-4DF6-B975-CADD64C33F2C}"/>
              </a:ext>
            </a:extLst>
          </p:cNvPr>
          <p:cNvSpPr>
            <a:spLocks noGrp="1"/>
          </p:cNvSpPr>
          <p:nvPr/>
        </p:nvSpPr>
        <p:spPr>
          <a:xfrm>
            <a:off x="5829300" y="4602274"/>
            <a:ext cx="322326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발급 결과</a:t>
            </a:r>
          </a:p>
        </p:txBody>
      </p:sp>
      <p:sp>
        <p:nvSpPr>
          <p:cNvPr id="6487" name="Connector 6488">
            <a:extLst>
              <a:ext uri="{FF2B5EF4-FFF2-40B4-BE49-F238E27FC236}">
                <a16:creationId xmlns:a16="http://schemas.microsoft.com/office/drawing/2014/main" id="{6AAEE1D8-2EE6-4744-9D96-DBA1C9B628CE}"/>
              </a:ext>
            </a:extLst>
          </p:cNvPr>
          <p:cNvSpPr>
            <a:spLocks noGrp="1"/>
          </p:cNvSpPr>
          <p:nvPr/>
        </p:nvSpPr>
        <p:spPr>
          <a:xfrm flipH="1">
            <a:off x="5899300" y="4827274"/>
            <a:ext cx="3083260" cy="0"/>
          </a:xfrm>
          <a:prstGeom prst="line">
            <a:avLst/>
          </a:prstGeom>
          <a:ln w="13970">
            <a:solidFill>
              <a:srgbClr val="6B7080"/>
            </a:solidFill>
            <a:prstDash val="dash"/>
            <a:tailEnd type="arrow"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489" name="TextBox 6490">
            <a:extLst>
              <a:ext uri="{FF2B5EF4-FFF2-40B4-BE49-F238E27FC236}">
                <a16:creationId xmlns:a16="http://schemas.microsoft.com/office/drawing/2014/main" id="{1DAF2233-10DA-436C-AA0B-7D9CCF9817FE}"/>
              </a:ext>
            </a:extLst>
          </p:cNvPr>
          <p:cNvSpPr>
            <a:spLocks noGrp="1"/>
          </p:cNvSpPr>
          <p:nvPr/>
        </p:nvSpPr>
        <p:spPr>
          <a:xfrm>
            <a:off x="2606040" y="4852274"/>
            <a:ext cx="322326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발급 완료 표시</a:t>
            </a:r>
          </a:p>
        </p:txBody>
      </p:sp>
      <p:sp>
        <p:nvSpPr>
          <p:cNvPr id="6491" name="Connector 6492">
            <a:extLst>
              <a:ext uri="{FF2B5EF4-FFF2-40B4-BE49-F238E27FC236}">
                <a16:creationId xmlns:a16="http://schemas.microsoft.com/office/drawing/2014/main" id="{3FFCCF70-185F-46FF-9B2C-81A57B2FD20E}"/>
              </a:ext>
            </a:extLst>
          </p:cNvPr>
          <p:cNvSpPr>
            <a:spLocks noGrp="1"/>
          </p:cNvSpPr>
          <p:nvPr/>
        </p:nvSpPr>
        <p:spPr>
          <a:xfrm flipH="1">
            <a:off x="2606040" y="5077274"/>
            <a:ext cx="3153260" cy="0"/>
          </a:xfrm>
          <a:prstGeom prst="line">
            <a:avLst/>
          </a:prstGeom>
          <a:ln w="13970">
            <a:solidFill>
              <a:srgbClr val="6B7080"/>
            </a:solidFill>
            <a:prstDash val="dash"/>
            <a:tailEnd type="arrow"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493" name="TextBox 6494">
            <a:extLst>
              <a:ext uri="{FF2B5EF4-FFF2-40B4-BE49-F238E27FC236}">
                <a16:creationId xmlns:a16="http://schemas.microsoft.com/office/drawing/2014/main" id="{F308E69C-D747-4DBA-A0A1-24A873C37DC7}"/>
              </a:ext>
            </a:extLst>
          </p:cNvPr>
          <p:cNvSpPr>
            <a:spLocks noGrp="1"/>
          </p:cNvSpPr>
          <p:nvPr/>
        </p:nvSpPr>
        <p:spPr>
          <a:xfrm>
            <a:off x="2606040" y="5102274"/>
            <a:ext cx="322326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권한 변경 · 회수 / 재발급 · 삭제</a:t>
            </a:r>
          </a:p>
        </p:txBody>
      </p:sp>
      <p:sp>
        <p:nvSpPr>
          <p:cNvPr id="6495" name="Connector 6496">
            <a:extLst>
              <a:ext uri="{FF2B5EF4-FFF2-40B4-BE49-F238E27FC236}">
                <a16:creationId xmlns:a16="http://schemas.microsoft.com/office/drawing/2014/main" id="{DD4EEFCE-1884-49A3-849B-DDF25AB777D7}"/>
              </a:ext>
            </a:extLst>
          </p:cNvPr>
          <p:cNvSpPr>
            <a:spLocks noGrp="1"/>
          </p:cNvSpPr>
          <p:nvPr/>
        </p:nvSpPr>
        <p:spPr>
          <a:xfrm>
            <a:off x="2606040" y="5327274"/>
            <a:ext cx="3153260" cy="0"/>
          </a:xfrm>
          <a:prstGeom prst="line">
            <a:avLst/>
          </a:prstGeom>
          <a:ln w="1397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497" name="TextBox 6498">
            <a:extLst>
              <a:ext uri="{FF2B5EF4-FFF2-40B4-BE49-F238E27FC236}">
                <a16:creationId xmlns:a16="http://schemas.microsoft.com/office/drawing/2014/main" id="{C7B97D65-ED8A-4FFD-9A81-6C1BD19307CA}"/>
              </a:ext>
            </a:extLst>
          </p:cNvPr>
          <p:cNvSpPr>
            <a:spLocks noGrp="1"/>
          </p:cNvSpPr>
          <p:nvPr/>
        </p:nvSpPr>
        <p:spPr>
          <a:xfrm>
            <a:off x="5829300" y="5352274"/>
            <a:ext cx="322326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PATCH · DELETE /admin/users/{id}</a:t>
            </a:r>
          </a:p>
        </p:txBody>
      </p:sp>
      <p:sp>
        <p:nvSpPr>
          <p:cNvPr id="6499" name="Connector 6500">
            <a:extLst>
              <a:ext uri="{FF2B5EF4-FFF2-40B4-BE49-F238E27FC236}">
                <a16:creationId xmlns:a16="http://schemas.microsoft.com/office/drawing/2014/main" id="{86EE1386-DCAF-4262-95A0-A77D3D71CF26}"/>
              </a:ext>
            </a:extLst>
          </p:cNvPr>
          <p:cNvSpPr>
            <a:spLocks noGrp="1"/>
          </p:cNvSpPr>
          <p:nvPr/>
        </p:nvSpPr>
        <p:spPr>
          <a:xfrm>
            <a:off x="5899300" y="5577274"/>
            <a:ext cx="3083260" cy="0"/>
          </a:xfrm>
          <a:prstGeom prst="line">
            <a:avLst/>
          </a:prstGeom>
          <a:ln w="1397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501" name="TextBox 6502">
            <a:extLst>
              <a:ext uri="{FF2B5EF4-FFF2-40B4-BE49-F238E27FC236}">
                <a16:creationId xmlns:a16="http://schemas.microsoft.com/office/drawing/2014/main" id="{CAF293A2-DE4C-47EE-BEC1-70BBD24DE7C8}"/>
              </a:ext>
            </a:extLst>
          </p:cNvPr>
          <p:cNvSpPr>
            <a:spLocks noGrp="1"/>
          </p:cNvSpPr>
          <p:nvPr/>
        </p:nvSpPr>
        <p:spPr>
          <a:xfrm>
            <a:off x="9052560" y="5602274"/>
            <a:ext cx="644652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record(관리, 권한 변경·회수·삭제)</a:t>
            </a:r>
          </a:p>
        </p:txBody>
      </p:sp>
      <p:sp>
        <p:nvSpPr>
          <p:cNvPr id="6503" name="Connector 6504">
            <a:extLst>
              <a:ext uri="{FF2B5EF4-FFF2-40B4-BE49-F238E27FC236}">
                <a16:creationId xmlns:a16="http://schemas.microsoft.com/office/drawing/2014/main" id="{3D0186C3-BA09-4B92-97FE-5B9DB38BB5C9}"/>
              </a:ext>
            </a:extLst>
          </p:cNvPr>
          <p:cNvSpPr>
            <a:spLocks noGrp="1"/>
          </p:cNvSpPr>
          <p:nvPr/>
        </p:nvSpPr>
        <p:spPr>
          <a:xfrm>
            <a:off x="9122560" y="5827274"/>
            <a:ext cx="6306520" cy="0"/>
          </a:xfrm>
          <a:prstGeom prst="line">
            <a:avLst/>
          </a:prstGeom>
          <a:ln w="1397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505" name="TextBox 6506">
            <a:extLst>
              <a:ext uri="{FF2B5EF4-FFF2-40B4-BE49-F238E27FC236}">
                <a16:creationId xmlns:a16="http://schemas.microsoft.com/office/drawing/2014/main" id="{A97E9E6C-E476-4CC2-BB6E-394C97081124}"/>
              </a:ext>
            </a:extLst>
          </p:cNvPr>
          <p:cNvSpPr>
            <a:spLocks noGrp="1"/>
          </p:cNvSpPr>
          <p:nvPr/>
        </p:nvSpPr>
        <p:spPr>
          <a:xfrm>
            <a:off x="5829300" y="5852274"/>
            <a:ext cx="322326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반영 결과(즉시 적용, 자기 계정 삭제 거부)</a:t>
            </a:r>
          </a:p>
        </p:txBody>
      </p:sp>
      <p:sp>
        <p:nvSpPr>
          <p:cNvPr id="6507" name="Connector 6508">
            <a:extLst>
              <a:ext uri="{FF2B5EF4-FFF2-40B4-BE49-F238E27FC236}">
                <a16:creationId xmlns:a16="http://schemas.microsoft.com/office/drawing/2014/main" id="{13A4DAC5-8509-4C44-9650-BA8C5B2698C2}"/>
              </a:ext>
            </a:extLst>
          </p:cNvPr>
          <p:cNvSpPr>
            <a:spLocks noGrp="1"/>
          </p:cNvSpPr>
          <p:nvPr/>
        </p:nvSpPr>
        <p:spPr>
          <a:xfrm flipH="1">
            <a:off x="5899300" y="6077274"/>
            <a:ext cx="3083260" cy="0"/>
          </a:xfrm>
          <a:prstGeom prst="line">
            <a:avLst/>
          </a:prstGeom>
          <a:ln w="13970">
            <a:solidFill>
              <a:srgbClr val="6B7080"/>
            </a:solidFill>
            <a:prstDash val="dash"/>
            <a:tailEnd type="arrow"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509" name="TextBox 6510">
            <a:extLst>
              <a:ext uri="{FF2B5EF4-FFF2-40B4-BE49-F238E27FC236}">
                <a16:creationId xmlns:a16="http://schemas.microsoft.com/office/drawing/2014/main" id="{C4F096C1-AA7F-4081-8522-CABB98D18F46}"/>
              </a:ext>
            </a:extLst>
          </p:cNvPr>
          <p:cNvSpPr>
            <a:spLocks noGrp="1"/>
          </p:cNvSpPr>
          <p:nvPr/>
        </p:nvSpPr>
        <p:spPr>
          <a:xfrm>
            <a:off x="2606040" y="6102274"/>
            <a:ext cx="322326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목록 갱신</a:t>
            </a:r>
          </a:p>
        </p:txBody>
      </p:sp>
      <p:sp>
        <p:nvSpPr>
          <p:cNvPr id="6511" name="Connector 6512">
            <a:extLst>
              <a:ext uri="{FF2B5EF4-FFF2-40B4-BE49-F238E27FC236}">
                <a16:creationId xmlns:a16="http://schemas.microsoft.com/office/drawing/2014/main" id="{16A338C2-CD61-4630-BF58-D80FCE64C555}"/>
              </a:ext>
            </a:extLst>
          </p:cNvPr>
          <p:cNvSpPr>
            <a:spLocks noGrp="1"/>
          </p:cNvSpPr>
          <p:nvPr/>
        </p:nvSpPr>
        <p:spPr>
          <a:xfrm flipH="1">
            <a:off x="2606040" y="6327274"/>
            <a:ext cx="3153260" cy="0"/>
          </a:xfrm>
          <a:prstGeom prst="line">
            <a:avLst/>
          </a:prstGeom>
          <a:ln w="13970">
            <a:solidFill>
              <a:srgbClr val="6B7080"/>
            </a:solidFill>
            <a:prstDash val="dash"/>
            <a:tailEnd type="arrow"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513" name="TextBox 6514">
            <a:extLst>
              <a:ext uri="{FF2B5EF4-FFF2-40B4-BE49-F238E27FC236}">
                <a16:creationId xmlns:a16="http://schemas.microsoft.com/office/drawing/2014/main" id="{1CCD6469-81B4-436C-9271-6DDEDFCE1C7E}"/>
              </a:ext>
            </a:extLst>
          </p:cNvPr>
          <p:cNvSpPr>
            <a:spLocks noGrp="1"/>
          </p:cNvSpPr>
          <p:nvPr/>
        </p:nvSpPr>
        <p:spPr>
          <a:xfrm>
            <a:off x="2606040" y="6352274"/>
            <a:ext cx="322326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잠긴 계정 「잠금 해제」</a:t>
            </a:r>
          </a:p>
        </p:txBody>
      </p:sp>
      <p:sp>
        <p:nvSpPr>
          <p:cNvPr id="6515" name="Connector 6516">
            <a:extLst>
              <a:ext uri="{FF2B5EF4-FFF2-40B4-BE49-F238E27FC236}">
                <a16:creationId xmlns:a16="http://schemas.microsoft.com/office/drawing/2014/main" id="{A01CB548-29DF-49F6-8E86-FB8B8FF5941C}"/>
              </a:ext>
            </a:extLst>
          </p:cNvPr>
          <p:cNvSpPr>
            <a:spLocks noGrp="1"/>
          </p:cNvSpPr>
          <p:nvPr/>
        </p:nvSpPr>
        <p:spPr>
          <a:xfrm>
            <a:off x="2606040" y="6577274"/>
            <a:ext cx="3153260" cy="0"/>
          </a:xfrm>
          <a:prstGeom prst="line">
            <a:avLst/>
          </a:prstGeom>
          <a:ln w="1397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517" name="TextBox 6518">
            <a:extLst>
              <a:ext uri="{FF2B5EF4-FFF2-40B4-BE49-F238E27FC236}">
                <a16:creationId xmlns:a16="http://schemas.microsoft.com/office/drawing/2014/main" id="{C5544A62-5FB8-4635-B60B-454225449DA9}"/>
              </a:ext>
            </a:extLst>
          </p:cNvPr>
          <p:cNvSpPr>
            <a:spLocks noGrp="1"/>
          </p:cNvSpPr>
          <p:nvPr/>
        </p:nvSpPr>
        <p:spPr>
          <a:xfrm>
            <a:off x="5829300" y="6602274"/>
            <a:ext cx="322326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PATCH /admin/users/{id}/unlock</a:t>
            </a:r>
          </a:p>
        </p:txBody>
      </p:sp>
      <p:sp>
        <p:nvSpPr>
          <p:cNvPr id="6519" name="Connector 6520">
            <a:extLst>
              <a:ext uri="{FF2B5EF4-FFF2-40B4-BE49-F238E27FC236}">
                <a16:creationId xmlns:a16="http://schemas.microsoft.com/office/drawing/2014/main" id="{AC3A6F6E-FCD2-4D14-9D50-92BDDFCF96E9}"/>
              </a:ext>
            </a:extLst>
          </p:cNvPr>
          <p:cNvSpPr>
            <a:spLocks noGrp="1"/>
          </p:cNvSpPr>
          <p:nvPr/>
        </p:nvSpPr>
        <p:spPr>
          <a:xfrm>
            <a:off x="5899300" y="6827274"/>
            <a:ext cx="3083260" cy="0"/>
          </a:xfrm>
          <a:prstGeom prst="line">
            <a:avLst/>
          </a:prstGeom>
          <a:ln w="1397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521" name="TextBox 6522">
            <a:extLst>
              <a:ext uri="{FF2B5EF4-FFF2-40B4-BE49-F238E27FC236}">
                <a16:creationId xmlns:a16="http://schemas.microsoft.com/office/drawing/2014/main" id="{8F8B6112-A7D6-4C01-8B57-D10DCF48524C}"/>
              </a:ext>
            </a:extLst>
          </p:cNvPr>
          <p:cNvSpPr>
            <a:spLocks noGrp="1"/>
          </p:cNvSpPr>
          <p:nvPr/>
        </p:nvSpPr>
        <p:spPr>
          <a:xfrm>
            <a:off x="9052560" y="6852274"/>
            <a:ext cx="322326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locked = false, failed = 0 저장</a:t>
            </a:r>
          </a:p>
        </p:txBody>
      </p:sp>
      <p:sp>
        <p:nvSpPr>
          <p:cNvPr id="6523" name="Connector 6524">
            <a:extLst>
              <a:ext uri="{FF2B5EF4-FFF2-40B4-BE49-F238E27FC236}">
                <a16:creationId xmlns:a16="http://schemas.microsoft.com/office/drawing/2014/main" id="{EF1621C2-FE89-4E3E-B345-9569C28F2BCB}"/>
              </a:ext>
            </a:extLst>
          </p:cNvPr>
          <p:cNvSpPr>
            <a:spLocks noGrp="1"/>
          </p:cNvSpPr>
          <p:nvPr/>
        </p:nvSpPr>
        <p:spPr>
          <a:xfrm>
            <a:off x="9122560" y="7077274"/>
            <a:ext cx="3083260" cy="0"/>
          </a:xfrm>
          <a:prstGeom prst="line">
            <a:avLst/>
          </a:prstGeom>
          <a:ln w="1397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525" name="TextBox 6526">
            <a:extLst>
              <a:ext uri="{FF2B5EF4-FFF2-40B4-BE49-F238E27FC236}">
                <a16:creationId xmlns:a16="http://schemas.microsoft.com/office/drawing/2014/main" id="{FE61537D-BA47-4412-9C51-4204C5BDCF16}"/>
              </a:ext>
            </a:extLst>
          </p:cNvPr>
          <p:cNvSpPr>
            <a:spLocks noGrp="1"/>
          </p:cNvSpPr>
          <p:nvPr/>
        </p:nvSpPr>
        <p:spPr>
          <a:xfrm>
            <a:off x="9052560" y="7102274"/>
            <a:ext cx="644652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record(관리, 계정 잠금 해제)</a:t>
            </a:r>
          </a:p>
        </p:txBody>
      </p:sp>
      <p:sp>
        <p:nvSpPr>
          <p:cNvPr id="6527" name="Connector 6528">
            <a:extLst>
              <a:ext uri="{FF2B5EF4-FFF2-40B4-BE49-F238E27FC236}">
                <a16:creationId xmlns:a16="http://schemas.microsoft.com/office/drawing/2014/main" id="{87F1C7B2-CE41-4D3A-8CEE-2A96CC8461FF}"/>
              </a:ext>
            </a:extLst>
          </p:cNvPr>
          <p:cNvSpPr>
            <a:spLocks noGrp="1"/>
          </p:cNvSpPr>
          <p:nvPr/>
        </p:nvSpPr>
        <p:spPr>
          <a:xfrm>
            <a:off x="9122560" y="7327274"/>
            <a:ext cx="6306520" cy="0"/>
          </a:xfrm>
          <a:prstGeom prst="line">
            <a:avLst/>
          </a:prstGeom>
          <a:ln w="1397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529" name="TextBox 6530">
            <a:extLst>
              <a:ext uri="{FF2B5EF4-FFF2-40B4-BE49-F238E27FC236}">
                <a16:creationId xmlns:a16="http://schemas.microsoft.com/office/drawing/2014/main" id="{6DA75CCC-4AF8-49B7-ABF0-68C1A2F42B80}"/>
              </a:ext>
            </a:extLst>
          </p:cNvPr>
          <p:cNvSpPr>
            <a:spLocks noGrp="1"/>
          </p:cNvSpPr>
          <p:nvPr/>
        </p:nvSpPr>
        <p:spPr>
          <a:xfrm>
            <a:off x="5829300" y="7352274"/>
            <a:ext cx="322326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해제 결과</a:t>
            </a:r>
          </a:p>
        </p:txBody>
      </p:sp>
      <p:sp>
        <p:nvSpPr>
          <p:cNvPr id="6531" name="Connector 6532">
            <a:extLst>
              <a:ext uri="{FF2B5EF4-FFF2-40B4-BE49-F238E27FC236}">
                <a16:creationId xmlns:a16="http://schemas.microsoft.com/office/drawing/2014/main" id="{096FBAAD-7E98-4A2E-99EE-788125F4335F}"/>
              </a:ext>
            </a:extLst>
          </p:cNvPr>
          <p:cNvSpPr>
            <a:spLocks noGrp="1"/>
          </p:cNvSpPr>
          <p:nvPr/>
        </p:nvSpPr>
        <p:spPr>
          <a:xfrm flipH="1">
            <a:off x="5899300" y="7577274"/>
            <a:ext cx="3083260" cy="0"/>
          </a:xfrm>
          <a:prstGeom prst="line">
            <a:avLst/>
          </a:prstGeom>
          <a:ln w="13970">
            <a:solidFill>
              <a:srgbClr val="6B7080"/>
            </a:solidFill>
            <a:prstDash val="dash"/>
            <a:tailEnd type="arrow"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533" name="TextBox 6534">
            <a:extLst>
              <a:ext uri="{FF2B5EF4-FFF2-40B4-BE49-F238E27FC236}">
                <a16:creationId xmlns:a16="http://schemas.microsoft.com/office/drawing/2014/main" id="{AB680ACF-2025-4A86-A9D7-57E933F2EEE2}"/>
              </a:ext>
            </a:extLst>
          </p:cNvPr>
          <p:cNvSpPr>
            <a:spLocks noGrp="1"/>
          </p:cNvSpPr>
          <p:nvPr/>
        </p:nvSpPr>
        <p:spPr>
          <a:xfrm>
            <a:off x="2606040" y="7602274"/>
            <a:ext cx="322326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목록 갱신</a:t>
            </a:r>
          </a:p>
        </p:txBody>
      </p:sp>
      <p:sp>
        <p:nvSpPr>
          <p:cNvPr id="6535" name="Connector 6536">
            <a:extLst>
              <a:ext uri="{FF2B5EF4-FFF2-40B4-BE49-F238E27FC236}">
                <a16:creationId xmlns:a16="http://schemas.microsoft.com/office/drawing/2014/main" id="{9654995D-615B-4C2A-A5D9-BD0107896F71}"/>
              </a:ext>
            </a:extLst>
          </p:cNvPr>
          <p:cNvSpPr>
            <a:spLocks noGrp="1"/>
          </p:cNvSpPr>
          <p:nvPr/>
        </p:nvSpPr>
        <p:spPr>
          <a:xfrm flipH="1">
            <a:off x="2606040" y="7827274"/>
            <a:ext cx="3153260" cy="0"/>
          </a:xfrm>
          <a:prstGeom prst="line">
            <a:avLst/>
          </a:prstGeom>
          <a:ln w="13970">
            <a:solidFill>
              <a:srgbClr val="6B7080"/>
            </a:solidFill>
            <a:prstDash val="dash"/>
            <a:tailEnd type="arrow"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Tree>
    <p:extLst>
      <p:ext uri="{BB962C8B-B14F-4D97-AF65-F5344CB8AC3E}">
        <p14:creationId xmlns:p14="http://schemas.microsoft.com/office/powerpoint/2010/main" val="9612228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498" name="Picture 2"/>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700" y="-12700"/>
            <a:ext cx="18313400" cy="1638300"/>
          </a:xfrm>
          <a:prstGeom prst="rect">
            <a:avLst/>
          </a:prstGeom>
        </p:spPr>
      </p:pic>
      <p:pic>
        <p:nvPicPr>
          <p:cNvPr id="6499" name="Picture 4"/>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28" y="1618343"/>
            <a:ext cx="18313400" cy="8699500"/>
          </a:xfrm>
          <a:prstGeom prst="rect">
            <a:avLst/>
          </a:prstGeom>
        </p:spPr>
      </p:pic>
      <p:pic>
        <p:nvPicPr>
          <p:cNvPr id="6500" name="Picture 5"/>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58800" y="9271000"/>
            <a:ext cx="17170400" cy="50800"/>
          </a:xfrm>
          <a:prstGeom prst="rect">
            <a:avLst/>
          </a:prstGeom>
        </p:spPr>
      </p:pic>
      <p:pic>
        <p:nvPicPr>
          <p:cNvPr id="6501" name="Picture 3"/>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5278100" y="203200"/>
            <a:ext cx="1676400" cy="1409700"/>
          </a:xfrm>
          <a:prstGeom prst="rect">
            <a:avLst/>
          </a:prstGeom>
        </p:spPr>
      </p:pic>
      <p:sp>
        <p:nvSpPr>
          <p:cNvPr id="5221" name="Title">
            <a:extLst>
              <a:ext uri="{FF2B5EF4-FFF2-40B4-BE49-F238E27FC236}">
                <a16:creationId xmlns:a16="http://schemas.microsoft.com/office/drawing/2014/main" id="{B906EC89-9F92-40F5-B140-86E9CDF7EAF4}"/>
              </a:ext>
            </a:extLst>
          </p:cNvPr>
          <p:cNvSpPr>
            <a:spLocks noGrp="1"/>
          </p:cNvSpPr>
          <p:nvPr/>
        </p:nvSpPr>
        <p:spPr>
          <a:xfrm>
            <a:off x="822960" y="384048"/>
            <a:ext cx="13258800" cy="877824"/>
          </a:xfrm>
          <a:prstGeom prst="rect">
            <a:avLst/>
          </a:prstGeom>
          <a:noFill/>
        </p:spPr>
        <p:txBody>
          <a:bodyPr wrap="square" lIns="0" tIns="0" rIns="0" bIns="0" anchor="ctr">
            <a:spAutoFit/>
          </a:bodyPr>
          <a:lstStyle/>
          <a:p>
            <a:pPr algn="l">
              <a:buNone/>
            </a:pPr>
            <a:r>
              <a:rPr sz="4400" b="0">
                <a:solidFill>
                  <a:srgbClr val="FAA95A"/>
                </a:solidFill>
                <a:latin typeface="210 OmniGothic 050"/>
                <a:ea typeface="210 OmniGothic 050"/>
                <a:cs typeface="210 OmniGothic 050"/>
              </a:rPr>
              <a:t>04. 시퀀스 다이어그램</a:t>
            </a:r>
          </a:p>
        </p:txBody>
      </p:sp>
      <p:sp>
        <p:nvSpPr>
          <p:cNvPr id="5222" name="Subtitle">
            <a:extLst>
              <a:ext uri="{FF2B5EF4-FFF2-40B4-BE49-F238E27FC236}">
                <a16:creationId xmlns:a16="http://schemas.microsoft.com/office/drawing/2014/main" id="{5383B657-38C9-4380-9DAD-B98ECC300835}"/>
              </a:ext>
            </a:extLst>
          </p:cNvPr>
          <p:cNvSpPr>
            <a:spLocks noGrp="1"/>
          </p:cNvSpPr>
          <p:nvPr/>
        </p:nvSpPr>
        <p:spPr>
          <a:xfrm>
            <a:off x="822960" y="1764792"/>
            <a:ext cx="16642080" cy="502920"/>
          </a:xfrm>
          <a:prstGeom prst="rect">
            <a:avLst/>
          </a:prstGeom>
          <a:noFill/>
        </p:spPr>
        <p:txBody>
          <a:bodyPr wrap="square" lIns="0" tIns="0" rIns="0" bIns="0" anchor="ctr">
            <a:spAutoFit/>
          </a:bodyPr>
          <a:lstStyle/>
          <a:p>
            <a:pPr algn="ctr">
              <a:buNone/>
            </a:pPr>
            <a:r>
              <a:rPr sz="2600" b="1">
                <a:solidFill>
                  <a:srgbClr val="363A52"/>
                </a:solidFill>
                <a:latin typeface="210 OmniGothic 040"/>
                <a:ea typeface="210 OmniGothic 040"/>
                <a:cs typeface="210 OmniGothic 040"/>
              </a:rPr>
              <a:t>진화자원 데이터 관리  (UC-ADMIN-02)</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idx="12"/>
          </p:nvPr>
        </p:nvSpPr>
        <p:spPr/>
        <p:txBody>
          <a:bodyPr/>
          <a:lstStyle/>
          <a:p>
            <a:fld id="{B6F15528-21DE-4FAA-801E-634DDDAF4B2B}" type="slidenum">
              <a:t>49</a:t>
            </a:fld>
            <a:endParaRPr/>
          </a:p>
        </p:txBody>
      </p:sp>
      <p:sp>
        <p:nvSpPr>
          <p:cNvPr id="6475" name="Rounded Rectangle 6476">
            <a:extLst>
              <a:ext uri="{FF2B5EF4-FFF2-40B4-BE49-F238E27FC236}">
                <a16:creationId xmlns:a16="http://schemas.microsoft.com/office/drawing/2014/main" id="{FD72618C-2FFD-4B92-A1DE-236D60A4DE15}"/>
              </a:ext>
            </a:extLst>
          </p:cNvPr>
          <p:cNvSpPr>
            <a:spLocks noGrp="1"/>
          </p:cNvSpPr>
          <p:nvPr/>
        </p:nvSpPr>
        <p:spPr>
          <a:xfrm>
            <a:off x="1463040" y="2446020"/>
            <a:ext cx="2286000" cy="462686"/>
          </a:xfrm>
          <a:prstGeom prst="roundRect">
            <a:avLst>
              <a:gd name="adj" fmla="val 10000"/>
            </a:avLst>
          </a:prstGeom>
          <a:solidFill>
            <a:srgbClr val="E6E9F1"/>
          </a:solidFill>
          <a:ln w="12700">
            <a:solidFill>
              <a:srgbClr val="B6BCCB"/>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r>
              <a:rPr sz="1250" b="1">
                <a:solidFill>
                  <a:srgbClr val="2E3142"/>
                </a:solidFill>
                <a:latin typeface="210 OmniGothic 040"/>
                <a:ea typeface="210 OmniGothic 040"/>
                <a:cs typeface="210 OmniGothic 040"/>
              </a:rPr>
              <a:t>전산 관리자</a:t>
            </a:r>
          </a:p>
        </p:txBody>
      </p:sp>
      <p:sp>
        <p:nvSpPr>
          <p:cNvPr id="6477" name="Connector 6478">
            <a:extLst>
              <a:ext uri="{FF2B5EF4-FFF2-40B4-BE49-F238E27FC236}">
                <a16:creationId xmlns:a16="http://schemas.microsoft.com/office/drawing/2014/main" id="{CFB860C9-8BC3-43E0-BDBF-489BFDF3D5B1}"/>
              </a:ext>
            </a:extLst>
          </p:cNvPr>
          <p:cNvSpPr>
            <a:spLocks noGrp="1"/>
          </p:cNvSpPr>
          <p:nvPr/>
        </p:nvSpPr>
        <p:spPr>
          <a:xfrm>
            <a:off x="2606040" y="2908706"/>
            <a:ext cx="0" cy="6145682"/>
          </a:xfrm>
          <a:prstGeom prst="line">
            <a:avLst/>
          </a:prstGeom>
          <a:ln w="11430">
            <a:solidFill>
              <a:srgbClr val="A3A8B8"/>
            </a:solidFill>
            <a:prstDash val="dash"/>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479" name="Rounded Rectangle 6480">
            <a:extLst>
              <a:ext uri="{FF2B5EF4-FFF2-40B4-BE49-F238E27FC236}">
                <a16:creationId xmlns:a16="http://schemas.microsoft.com/office/drawing/2014/main" id="{301F8E3C-6A4D-4671-8992-B34D34CB36BB}"/>
              </a:ext>
            </a:extLst>
          </p:cNvPr>
          <p:cNvSpPr>
            <a:spLocks noGrp="1"/>
          </p:cNvSpPr>
          <p:nvPr/>
        </p:nvSpPr>
        <p:spPr>
          <a:xfrm>
            <a:off x="4686300" y="2446020"/>
            <a:ext cx="2286000" cy="462686"/>
          </a:xfrm>
          <a:prstGeom prst="roundRect">
            <a:avLst>
              <a:gd name="adj" fmla="val 10000"/>
            </a:avLst>
          </a:prstGeom>
          <a:solidFill>
            <a:srgbClr val="E6E9F1"/>
          </a:solidFill>
          <a:ln w="12700">
            <a:solidFill>
              <a:srgbClr val="B6BCCB"/>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r>
              <a:rPr sz="1250" b="1">
                <a:solidFill>
                  <a:srgbClr val="2E3142"/>
                </a:solidFill>
                <a:latin typeface="210 OmniGothic 040"/>
                <a:ea typeface="210 OmniGothic 040"/>
                <a:cs typeface="210 OmniGothic 040"/>
              </a:rPr>
              <a:t>프론트엔드</a:t>
            </a:r>
          </a:p>
        </p:txBody>
      </p:sp>
      <p:sp>
        <p:nvSpPr>
          <p:cNvPr id="6481" name="Connector 6482">
            <a:extLst>
              <a:ext uri="{FF2B5EF4-FFF2-40B4-BE49-F238E27FC236}">
                <a16:creationId xmlns:a16="http://schemas.microsoft.com/office/drawing/2014/main" id="{42A0AA53-97B7-4152-8131-754174376FE3}"/>
              </a:ext>
            </a:extLst>
          </p:cNvPr>
          <p:cNvSpPr>
            <a:spLocks noGrp="1"/>
          </p:cNvSpPr>
          <p:nvPr/>
        </p:nvSpPr>
        <p:spPr>
          <a:xfrm>
            <a:off x="5829300" y="2908706"/>
            <a:ext cx="0" cy="6145682"/>
          </a:xfrm>
          <a:prstGeom prst="line">
            <a:avLst/>
          </a:prstGeom>
          <a:ln w="11430">
            <a:solidFill>
              <a:srgbClr val="A3A8B8"/>
            </a:solidFill>
            <a:prstDash val="dash"/>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483" name="Rounded Rectangle 6484">
            <a:extLst>
              <a:ext uri="{FF2B5EF4-FFF2-40B4-BE49-F238E27FC236}">
                <a16:creationId xmlns:a16="http://schemas.microsoft.com/office/drawing/2014/main" id="{628A7B1F-3877-4D5D-A50B-310F2663771E}"/>
              </a:ext>
            </a:extLst>
          </p:cNvPr>
          <p:cNvSpPr>
            <a:spLocks noGrp="1"/>
          </p:cNvSpPr>
          <p:nvPr/>
        </p:nvSpPr>
        <p:spPr>
          <a:xfrm>
            <a:off x="7909560" y="2446020"/>
            <a:ext cx="2286000" cy="462686"/>
          </a:xfrm>
          <a:prstGeom prst="roundRect">
            <a:avLst>
              <a:gd name="adj" fmla="val 10000"/>
            </a:avLst>
          </a:prstGeom>
          <a:solidFill>
            <a:srgbClr val="E6E9F1"/>
          </a:solidFill>
          <a:ln w="12700">
            <a:solidFill>
              <a:srgbClr val="B6BCCB"/>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r>
              <a:rPr sz="1250" b="1">
                <a:solidFill>
                  <a:srgbClr val="2E3142"/>
                </a:solidFill>
                <a:latin typeface="210 OmniGothic 040"/>
                <a:ea typeface="210 OmniGothic 040"/>
                <a:cs typeface="210 OmniGothic 040"/>
              </a:rPr>
              <a:t>AdminRouter</a:t>
            </a:r>
          </a:p>
        </p:txBody>
      </p:sp>
      <p:sp>
        <p:nvSpPr>
          <p:cNvPr id="6485" name="Connector 6486">
            <a:extLst>
              <a:ext uri="{FF2B5EF4-FFF2-40B4-BE49-F238E27FC236}">
                <a16:creationId xmlns:a16="http://schemas.microsoft.com/office/drawing/2014/main" id="{54349FFC-BCB5-4235-BA71-5FAA2FC8B9D6}"/>
              </a:ext>
            </a:extLst>
          </p:cNvPr>
          <p:cNvSpPr>
            <a:spLocks noGrp="1"/>
          </p:cNvSpPr>
          <p:nvPr/>
        </p:nvSpPr>
        <p:spPr>
          <a:xfrm>
            <a:off x="9052560" y="2908706"/>
            <a:ext cx="0" cy="6145682"/>
          </a:xfrm>
          <a:prstGeom prst="line">
            <a:avLst/>
          </a:prstGeom>
          <a:ln w="11430">
            <a:solidFill>
              <a:srgbClr val="A3A8B8"/>
            </a:solidFill>
            <a:prstDash val="dash"/>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487" name="Rounded Rectangle 6488">
            <a:extLst>
              <a:ext uri="{FF2B5EF4-FFF2-40B4-BE49-F238E27FC236}">
                <a16:creationId xmlns:a16="http://schemas.microsoft.com/office/drawing/2014/main" id="{BDB2BB12-7CFB-45AA-9896-D0776F6D6371}"/>
              </a:ext>
            </a:extLst>
          </p:cNvPr>
          <p:cNvSpPr>
            <a:spLocks noGrp="1"/>
          </p:cNvSpPr>
          <p:nvPr/>
        </p:nvSpPr>
        <p:spPr>
          <a:xfrm>
            <a:off x="11132820" y="2446020"/>
            <a:ext cx="2286000" cy="462686"/>
          </a:xfrm>
          <a:prstGeom prst="roundRect">
            <a:avLst>
              <a:gd name="adj" fmla="val 10000"/>
            </a:avLst>
          </a:prstGeom>
          <a:solidFill>
            <a:srgbClr val="E6E9F1"/>
          </a:solidFill>
          <a:ln w="12700">
            <a:solidFill>
              <a:srgbClr val="B6BCCB"/>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r>
              <a:rPr sz="1250" b="1">
                <a:solidFill>
                  <a:srgbClr val="2E3142"/>
                </a:solidFill>
                <a:latin typeface="210 OmniGothic 040"/>
                <a:ea typeface="210 OmniGothic 040"/>
                <a:cs typeface="210 OmniGothic 040"/>
              </a:rPr>
              <a:t>DB</a:t>
            </a:r>
          </a:p>
        </p:txBody>
      </p:sp>
      <p:sp>
        <p:nvSpPr>
          <p:cNvPr id="6489" name="Connector 6490">
            <a:extLst>
              <a:ext uri="{FF2B5EF4-FFF2-40B4-BE49-F238E27FC236}">
                <a16:creationId xmlns:a16="http://schemas.microsoft.com/office/drawing/2014/main" id="{BCB1777C-FEAE-4FA8-B7B2-37E3065CDBFF}"/>
              </a:ext>
            </a:extLst>
          </p:cNvPr>
          <p:cNvSpPr>
            <a:spLocks noGrp="1"/>
          </p:cNvSpPr>
          <p:nvPr/>
        </p:nvSpPr>
        <p:spPr>
          <a:xfrm>
            <a:off x="12275820" y="2908706"/>
            <a:ext cx="0" cy="6145682"/>
          </a:xfrm>
          <a:prstGeom prst="line">
            <a:avLst/>
          </a:prstGeom>
          <a:ln w="11430">
            <a:solidFill>
              <a:srgbClr val="A3A8B8"/>
            </a:solidFill>
            <a:prstDash val="dash"/>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491" name="Rounded Rectangle 6492">
            <a:extLst>
              <a:ext uri="{FF2B5EF4-FFF2-40B4-BE49-F238E27FC236}">
                <a16:creationId xmlns:a16="http://schemas.microsoft.com/office/drawing/2014/main" id="{013E5E6B-2D96-4F4F-A20D-54A5DC6923BB}"/>
              </a:ext>
            </a:extLst>
          </p:cNvPr>
          <p:cNvSpPr>
            <a:spLocks noGrp="1"/>
          </p:cNvSpPr>
          <p:nvPr/>
        </p:nvSpPr>
        <p:spPr>
          <a:xfrm>
            <a:off x="14356080" y="2446020"/>
            <a:ext cx="2286000" cy="462686"/>
          </a:xfrm>
          <a:prstGeom prst="roundRect">
            <a:avLst>
              <a:gd name="adj" fmla="val 10000"/>
            </a:avLst>
          </a:prstGeom>
          <a:solidFill>
            <a:srgbClr val="E6E9F1"/>
          </a:solidFill>
          <a:ln w="12700">
            <a:solidFill>
              <a:srgbClr val="B6BCCB"/>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r>
              <a:rPr sz="1250" b="1">
                <a:solidFill>
                  <a:srgbClr val="2E3142"/>
                </a:solidFill>
                <a:latin typeface="210 OmniGothic 040"/>
                <a:ea typeface="210 OmniGothic 040"/>
                <a:cs typeface="210 OmniGothic 040"/>
              </a:rPr>
              <a:t>EventLogger</a:t>
            </a:r>
          </a:p>
        </p:txBody>
      </p:sp>
      <p:sp>
        <p:nvSpPr>
          <p:cNvPr id="6493" name="Connector 6494">
            <a:extLst>
              <a:ext uri="{FF2B5EF4-FFF2-40B4-BE49-F238E27FC236}">
                <a16:creationId xmlns:a16="http://schemas.microsoft.com/office/drawing/2014/main" id="{C3CD3AD2-3EF2-47C5-9535-C70298CFA582}"/>
              </a:ext>
            </a:extLst>
          </p:cNvPr>
          <p:cNvSpPr>
            <a:spLocks noGrp="1"/>
          </p:cNvSpPr>
          <p:nvPr/>
        </p:nvSpPr>
        <p:spPr>
          <a:xfrm>
            <a:off x="15499080" y="2908706"/>
            <a:ext cx="0" cy="6145682"/>
          </a:xfrm>
          <a:prstGeom prst="line">
            <a:avLst/>
          </a:prstGeom>
          <a:ln w="11430">
            <a:solidFill>
              <a:srgbClr val="A3A8B8"/>
            </a:solidFill>
            <a:prstDash val="dash"/>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437" name="Rectangle 6438">
            <a:extLst>
              <a:ext uri="{FF2B5EF4-FFF2-40B4-BE49-F238E27FC236}">
                <a16:creationId xmlns:a16="http://schemas.microsoft.com/office/drawing/2014/main" id="{20028EEB-3231-412D-AEAF-DAEBA5A62B6A}"/>
              </a:ext>
            </a:extLst>
          </p:cNvPr>
          <p:cNvSpPr>
            <a:spLocks noGrp="1"/>
          </p:cNvSpPr>
          <p:nvPr/>
        </p:nvSpPr>
        <p:spPr>
          <a:xfrm>
            <a:off x="8982560" y="3632274"/>
            <a:ext cx="140000" cy="470000"/>
          </a:xfrm>
          <a:prstGeom prst="rect">
            <a:avLst/>
          </a:prstGeom>
          <a:solidFill>
            <a:srgbClr val="FFFFFF"/>
          </a:solidFill>
          <a:ln w="9525">
            <a:solidFill>
              <a:srgbClr val="363A52"/>
            </a:solidFill>
          </a:ln>
        </p:spPr>
        <p:style>
          <a:lnRef idx="1">
            <a:schemeClr val="accent1"/>
          </a:lnRef>
          <a:fillRef idx="3">
            <a:schemeClr val="accent1"/>
          </a:fillRef>
          <a:effectRef idx="2">
            <a:schemeClr val="accent1"/>
          </a:effectRef>
          <a:fontRef idx="minor">
            <a:schemeClr val="lt1"/>
          </a:fontRef>
        </p:style>
        <p:txBody>
          <a:bodyPr wrap="square" lIns="0" rIns="0" anchor="ctr"/>
          <a:lstStyle/>
          <a:p>
            <a:pPr algn="ctr">
              <a:buNone/>
            </a:pPr>
            <a:endParaRPr/>
          </a:p>
        </p:txBody>
      </p:sp>
      <p:sp>
        <p:nvSpPr>
          <p:cNvPr id="6439" name="Rectangle 6440">
            <a:extLst>
              <a:ext uri="{FF2B5EF4-FFF2-40B4-BE49-F238E27FC236}">
                <a16:creationId xmlns:a16="http://schemas.microsoft.com/office/drawing/2014/main" id="{B2C3581F-BB13-4748-9B83-5045249FE0C4}"/>
              </a:ext>
            </a:extLst>
          </p:cNvPr>
          <p:cNvSpPr>
            <a:spLocks noGrp="1"/>
          </p:cNvSpPr>
          <p:nvPr/>
        </p:nvSpPr>
        <p:spPr>
          <a:xfrm>
            <a:off x="12205820" y="4462274"/>
            <a:ext cx="140000" cy="15000"/>
          </a:xfrm>
          <a:prstGeom prst="rect">
            <a:avLst/>
          </a:prstGeom>
          <a:solidFill>
            <a:srgbClr val="FFFFFF"/>
          </a:solidFill>
          <a:ln w="9525">
            <a:solidFill>
              <a:srgbClr val="363A52"/>
            </a:solidFill>
          </a:ln>
        </p:spPr>
        <p:style>
          <a:lnRef idx="1">
            <a:schemeClr val="accent1"/>
          </a:lnRef>
          <a:fillRef idx="3">
            <a:schemeClr val="accent1"/>
          </a:fillRef>
          <a:effectRef idx="2">
            <a:schemeClr val="accent1"/>
          </a:effectRef>
          <a:fontRef idx="minor">
            <a:schemeClr val="lt1"/>
          </a:fontRef>
        </p:style>
        <p:txBody>
          <a:bodyPr wrap="square" lIns="0" rIns="0" anchor="ctr"/>
          <a:lstStyle/>
          <a:p>
            <a:pPr algn="ctr">
              <a:buNone/>
            </a:pPr>
            <a:endParaRPr/>
          </a:p>
        </p:txBody>
      </p:sp>
      <p:sp>
        <p:nvSpPr>
          <p:cNvPr id="6441" name="Rectangle 6442">
            <a:extLst>
              <a:ext uri="{FF2B5EF4-FFF2-40B4-BE49-F238E27FC236}">
                <a16:creationId xmlns:a16="http://schemas.microsoft.com/office/drawing/2014/main" id="{C7DB75AD-5FD9-4307-AAB3-EA7CEC70F077}"/>
              </a:ext>
            </a:extLst>
          </p:cNvPr>
          <p:cNvSpPr>
            <a:spLocks noGrp="1"/>
          </p:cNvSpPr>
          <p:nvPr/>
        </p:nvSpPr>
        <p:spPr>
          <a:xfrm>
            <a:off x="15429080" y="4712274"/>
            <a:ext cx="140000" cy="15000"/>
          </a:xfrm>
          <a:prstGeom prst="rect">
            <a:avLst/>
          </a:prstGeom>
          <a:solidFill>
            <a:srgbClr val="FFFFFF"/>
          </a:solidFill>
          <a:ln w="9525">
            <a:solidFill>
              <a:srgbClr val="363A52"/>
            </a:solidFill>
          </a:ln>
        </p:spPr>
        <p:style>
          <a:lnRef idx="1">
            <a:schemeClr val="accent1"/>
          </a:lnRef>
          <a:fillRef idx="3">
            <a:schemeClr val="accent1"/>
          </a:fillRef>
          <a:effectRef idx="2">
            <a:schemeClr val="accent1"/>
          </a:effectRef>
          <a:fontRef idx="minor">
            <a:schemeClr val="lt1"/>
          </a:fontRef>
        </p:style>
        <p:txBody>
          <a:bodyPr wrap="square" lIns="0" rIns="0" anchor="ctr"/>
          <a:lstStyle/>
          <a:p>
            <a:pPr algn="ctr">
              <a:buNone/>
            </a:pPr>
            <a:endParaRPr/>
          </a:p>
        </p:txBody>
      </p:sp>
      <p:sp>
        <p:nvSpPr>
          <p:cNvPr id="6443" name="Rectangle 6444">
            <a:extLst>
              <a:ext uri="{FF2B5EF4-FFF2-40B4-BE49-F238E27FC236}">
                <a16:creationId xmlns:a16="http://schemas.microsoft.com/office/drawing/2014/main" id="{D476E228-CEB1-4001-A0D4-1719173AE6DE}"/>
              </a:ext>
            </a:extLst>
          </p:cNvPr>
          <p:cNvSpPr>
            <a:spLocks noGrp="1"/>
          </p:cNvSpPr>
          <p:nvPr/>
        </p:nvSpPr>
        <p:spPr>
          <a:xfrm>
            <a:off x="8982560" y="3632274"/>
            <a:ext cx="140000" cy="1330000"/>
          </a:xfrm>
          <a:prstGeom prst="rect">
            <a:avLst/>
          </a:prstGeom>
          <a:solidFill>
            <a:srgbClr val="FFFFFF"/>
          </a:solidFill>
          <a:ln w="9525">
            <a:solidFill>
              <a:srgbClr val="363A52"/>
            </a:solidFill>
          </a:ln>
        </p:spPr>
        <p:style>
          <a:lnRef idx="1">
            <a:schemeClr val="accent1"/>
          </a:lnRef>
          <a:fillRef idx="3">
            <a:schemeClr val="accent1"/>
          </a:fillRef>
          <a:effectRef idx="2">
            <a:schemeClr val="accent1"/>
          </a:effectRef>
          <a:fontRef idx="minor">
            <a:schemeClr val="lt1"/>
          </a:fontRef>
        </p:style>
        <p:txBody>
          <a:bodyPr wrap="square" lIns="0" rIns="0" anchor="ctr"/>
          <a:lstStyle/>
          <a:p>
            <a:pPr algn="ctr">
              <a:buNone/>
            </a:pPr>
            <a:endParaRPr/>
          </a:p>
        </p:txBody>
      </p:sp>
      <p:sp>
        <p:nvSpPr>
          <p:cNvPr id="6445" name="Rectangle 6446">
            <a:extLst>
              <a:ext uri="{FF2B5EF4-FFF2-40B4-BE49-F238E27FC236}">
                <a16:creationId xmlns:a16="http://schemas.microsoft.com/office/drawing/2014/main" id="{30F99EC2-BD6F-425E-985D-F7F0E2E263DE}"/>
              </a:ext>
            </a:extLst>
          </p:cNvPr>
          <p:cNvSpPr>
            <a:spLocks noGrp="1"/>
          </p:cNvSpPr>
          <p:nvPr/>
        </p:nvSpPr>
        <p:spPr>
          <a:xfrm>
            <a:off x="5759300" y="3382274"/>
            <a:ext cx="140000" cy="1975000"/>
          </a:xfrm>
          <a:prstGeom prst="rect">
            <a:avLst/>
          </a:prstGeom>
          <a:solidFill>
            <a:srgbClr val="FFFFFF"/>
          </a:solidFill>
          <a:ln w="9525">
            <a:solidFill>
              <a:srgbClr val="363A52"/>
            </a:solidFill>
          </a:ln>
        </p:spPr>
        <p:style>
          <a:lnRef idx="1">
            <a:schemeClr val="accent1"/>
          </a:lnRef>
          <a:fillRef idx="3">
            <a:schemeClr val="accent1"/>
          </a:fillRef>
          <a:effectRef idx="2">
            <a:schemeClr val="accent1"/>
          </a:effectRef>
          <a:fontRef idx="minor">
            <a:schemeClr val="lt1"/>
          </a:fontRef>
        </p:style>
        <p:txBody>
          <a:bodyPr wrap="square" lIns="0" rIns="0" anchor="ctr"/>
          <a:lstStyle/>
          <a:p>
            <a:pPr algn="ctr">
              <a:buNone/>
            </a:pPr>
            <a:endParaRPr/>
          </a:p>
        </p:txBody>
      </p:sp>
      <p:sp>
        <p:nvSpPr>
          <p:cNvPr id="6447" name="TextBox 6448">
            <a:extLst>
              <a:ext uri="{FF2B5EF4-FFF2-40B4-BE49-F238E27FC236}">
                <a16:creationId xmlns:a16="http://schemas.microsoft.com/office/drawing/2014/main" id="{6E274503-F3D2-4324-80A8-0467CCC7A1DE}"/>
              </a:ext>
            </a:extLst>
          </p:cNvPr>
          <p:cNvSpPr>
            <a:spLocks noGrp="1"/>
          </p:cNvSpPr>
          <p:nvPr/>
        </p:nvSpPr>
        <p:spPr>
          <a:xfrm>
            <a:off x="2606040" y="3157274"/>
            <a:ext cx="322326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진화자원 등록·수정·삭제(구분·명칭·소속·수량·상태)</a:t>
            </a:r>
          </a:p>
        </p:txBody>
      </p:sp>
      <p:sp>
        <p:nvSpPr>
          <p:cNvPr id="6449" name="Connector 6450">
            <a:extLst>
              <a:ext uri="{FF2B5EF4-FFF2-40B4-BE49-F238E27FC236}">
                <a16:creationId xmlns:a16="http://schemas.microsoft.com/office/drawing/2014/main" id="{7DEBEE18-0DFE-49E1-9E49-6D314EE9CF33}"/>
              </a:ext>
            </a:extLst>
          </p:cNvPr>
          <p:cNvSpPr>
            <a:spLocks noGrp="1"/>
          </p:cNvSpPr>
          <p:nvPr/>
        </p:nvSpPr>
        <p:spPr>
          <a:xfrm>
            <a:off x="2606040" y="3382274"/>
            <a:ext cx="3153260" cy="0"/>
          </a:xfrm>
          <a:prstGeom prst="line">
            <a:avLst/>
          </a:prstGeom>
          <a:ln w="1397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451" name="TextBox 6452">
            <a:extLst>
              <a:ext uri="{FF2B5EF4-FFF2-40B4-BE49-F238E27FC236}">
                <a16:creationId xmlns:a16="http://schemas.microsoft.com/office/drawing/2014/main" id="{B0CD9BC3-F7E0-4A0F-B8F5-7C8F28D8743B}"/>
              </a:ext>
            </a:extLst>
          </p:cNvPr>
          <p:cNvSpPr>
            <a:spLocks noGrp="1"/>
          </p:cNvSpPr>
          <p:nvPr/>
        </p:nvSpPr>
        <p:spPr>
          <a:xfrm>
            <a:off x="5829300" y="3407274"/>
            <a:ext cx="322326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POST · PUT · DELETE /admin/resources</a:t>
            </a:r>
          </a:p>
        </p:txBody>
      </p:sp>
      <p:sp>
        <p:nvSpPr>
          <p:cNvPr id="6453" name="Connector 6454">
            <a:extLst>
              <a:ext uri="{FF2B5EF4-FFF2-40B4-BE49-F238E27FC236}">
                <a16:creationId xmlns:a16="http://schemas.microsoft.com/office/drawing/2014/main" id="{C736E0D4-45F6-443F-944D-8FAB32DA2D14}"/>
              </a:ext>
            </a:extLst>
          </p:cNvPr>
          <p:cNvSpPr>
            <a:spLocks noGrp="1"/>
          </p:cNvSpPr>
          <p:nvPr/>
        </p:nvSpPr>
        <p:spPr>
          <a:xfrm>
            <a:off x="5899300" y="3632274"/>
            <a:ext cx="3083260" cy="0"/>
          </a:xfrm>
          <a:prstGeom prst="line">
            <a:avLst/>
          </a:prstGeom>
          <a:ln w="1397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455" name="TextBox 6456">
            <a:extLst>
              <a:ext uri="{FF2B5EF4-FFF2-40B4-BE49-F238E27FC236}">
                <a16:creationId xmlns:a16="http://schemas.microsoft.com/office/drawing/2014/main" id="{D15DB852-24C7-4F37-BCF2-905437D5C842}"/>
              </a:ext>
            </a:extLst>
          </p:cNvPr>
          <p:cNvSpPr>
            <a:spLocks noGrp="1"/>
          </p:cNvSpPr>
          <p:nvPr/>
        </p:nvSpPr>
        <p:spPr>
          <a:xfrm>
            <a:off x="5829300" y="3877274"/>
            <a:ext cx="322326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400 등록 거부</a:t>
            </a:r>
          </a:p>
        </p:txBody>
      </p:sp>
      <p:sp>
        <p:nvSpPr>
          <p:cNvPr id="6457" name="Connector 6458">
            <a:extLst>
              <a:ext uri="{FF2B5EF4-FFF2-40B4-BE49-F238E27FC236}">
                <a16:creationId xmlns:a16="http://schemas.microsoft.com/office/drawing/2014/main" id="{2319CAFD-4F41-4D11-B74F-364BE14E79F2}"/>
              </a:ext>
            </a:extLst>
          </p:cNvPr>
          <p:cNvSpPr>
            <a:spLocks noGrp="1"/>
          </p:cNvSpPr>
          <p:nvPr/>
        </p:nvSpPr>
        <p:spPr>
          <a:xfrm flipH="1">
            <a:off x="5899300" y="4102274"/>
            <a:ext cx="3083260" cy="0"/>
          </a:xfrm>
          <a:prstGeom prst="line">
            <a:avLst/>
          </a:prstGeom>
          <a:ln w="13970">
            <a:solidFill>
              <a:srgbClr val="6B7080"/>
            </a:solidFill>
            <a:prstDash val="dash"/>
            <a:tailEnd type="arrow"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459" name="TextBox 6460">
            <a:extLst>
              <a:ext uri="{FF2B5EF4-FFF2-40B4-BE49-F238E27FC236}">
                <a16:creationId xmlns:a16="http://schemas.microsoft.com/office/drawing/2014/main" id="{FD7D2D83-214C-4BB2-B96D-7264FADA4AAD}"/>
              </a:ext>
            </a:extLst>
          </p:cNvPr>
          <p:cNvSpPr>
            <a:spLocks noGrp="1"/>
          </p:cNvSpPr>
          <p:nvPr/>
        </p:nvSpPr>
        <p:spPr>
          <a:xfrm>
            <a:off x="9052560" y="4237274"/>
            <a:ext cx="322326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자원 저장</a:t>
            </a:r>
          </a:p>
        </p:txBody>
      </p:sp>
      <p:sp>
        <p:nvSpPr>
          <p:cNvPr id="6461" name="Connector 6462">
            <a:extLst>
              <a:ext uri="{FF2B5EF4-FFF2-40B4-BE49-F238E27FC236}">
                <a16:creationId xmlns:a16="http://schemas.microsoft.com/office/drawing/2014/main" id="{B59BBD2A-880B-423F-A904-18CDAAE365B0}"/>
              </a:ext>
            </a:extLst>
          </p:cNvPr>
          <p:cNvSpPr>
            <a:spLocks noGrp="1"/>
          </p:cNvSpPr>
          <p:nvPr/>
        </p:nvSpPr>
        <p:spPr>
          <a:xfrm>
            <a:off x="9122560" y="4462274"/>
            <a:ext cx="3083260" cy="0"/>
          </a:xfrm>
          <a:prstGeom prst="line">
            <a:avLst/>
          </a:prstGeom>
          <a:ln w="1397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463" name="TextBox 6464">
            <a:extLst>
              <a:ext uri="{FF2B5EF4-FFF2-40B4-BE49-F238E27FC236}">
                <a16:creationId xmlns:a16="http://schemas.microsoft.com/office/drawing/2014/main" id="{675EA4D7-30CC-4715-B800-E823BC2CFAE4}"/>
              </a:ext>
            </a:extLst>
          </p:cNvPr>
          <p:cNvSpPr>
            <a:spLocks noGrp="1"/>
          </p:cNvSpPr>
          <p:nvPr/>
        </p:nvSpPr>
        <p:spPr>
          <a:xfrm>
            <a:off x="9052560" y="4487274"/>
            <a:ext cx="644652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record(관리, 진화자원 변경)</a:t>
            </a:r>
          </a:p>
        </p:txBody>
      </p:sp>
      <p:sp>
        <p:nvSpPr>
          <p:cNvPr id="6465" name="Connector 6466">
            <a:extLst>
              <a:ext uri="{FF2B5EF4-FFF2-40B4-BE49-F238E27FC236}">
                <a16:creationId xmlns:a16="http://schemas.microsoft.com/office/drawing/2014/main" id="{89E59A94-8CD5-449F-ADBC-B2EBF6BF4E98}"/>
              </a:ext>
            </a:extLst>
          </p:cNvPr>
          <p:cNvSpPr>
            <a:spLocks noGrp="1"/>
          </p:cNvSpPr>
          <p:nvPr/>
        </p:nvSpPr>
        <p:spPr>
          <a:xfrm>
            <a:off x="9122560" y="4712274"/>
            <a:ext cx="6306520" cy="0"/>
          </a:xfrm>
          <a:prstGeom prst="line">
            <a:avLst/>
          </a:prstGeom>
          <a:ln w="1397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467" name="TextBox 6468">
            <a:extLst>
              <a:ext uri="{FF2B5EF4-FFF2-40B4-BE49-F238E27FC236}">
                <a16:creationId xmlns:a16="http://schemas.microsoft.com/office/drawing/2014/main" id="{4B531A0D-7680-4441-8B71-D565409D6343}"/>
              </a:ext>
            </a:extLst>
          </p:cNvPr>
          <p:cNvSpPr>
            <a:spLocks noGrp="1"/>
          </p:cNvSpPr>
          <p:nvPr/>
        </p:nvSpPr>
        <p:spPr>
          <a:xfrm>
            <a:off x="5829300" y="4737274"/>
            <a:ext cx="322326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저장 결과 · 구분별 집계</a:t>
            </a:r>
          </a:p>
        </p:txBody>
      </p:sp>
      <p:sp>
        <p:nvSpPr>
          <p:cNvPr id="6469" name="Connector 6470">
            <a:extLst>
              <a:ext uri="{FF2B5EF4-FFF2-40B4-BE49-F238E27FC236}">
                <a16:creationId xmlns:a16="http://schemas.microsoft.com/office/drawing/2014/main" id="{8BCD7C78-8487-47DE-82EE-F1326785C1B0}"/>
              </a:ext>
            </a:extLst>
          </p:cNvPr>
          <p:cNvSpPr>
            <a:spLocks noGrp="1"/>
          </p:cNvSpPr>
          <p:nvPr/>
        </p:nvSpPr>
        <p:spPr>
          <a:xfrm flipH="1">
            <a:off x="5899300" y="4962274"/>
            <a:ext cx="3083260" cy="0"/>
          </a:xfrm>
          <a:prstGeom prst="line">
            <a:avLst/>
          </a:prstGeom>
          <a:ln w="13970">
            <a:solidFill>
              <a:srgbClr val="6B7080"/>
            </a:solidFill>
            <a:prstDash val="dash"/>
            <a:tailEnd type="arrow"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471" name="TextBox 6472">
            <a:extLst>
              <a:ext uri="{FF2B5EF4-FFF2-40B4-BE49-F238E27FC236}">
                <a16:creationId xmlns:a16="http://schemas.microsoft.com/office/drawing/2014/main" id="{EEFE4FE7-AADF-4E89-A27B-E57C7E2E08B0}"/>
              </a:ext>
            </a:extLst>
          </p:cNvPr>
          <p:cNvSpPr>
            <a:spLocks noGrp="1"/>
          </p:cNvSpPr>
          <p:nvPr/>
        </p:nvSpPr>
        <p:spPr>
          <a:xfrm>
            <a:off x="2606040" y="5132274"/>
            <a:ext cx="3223260" cy="221284"/>
          </a:xfrm>
          <a:prstGeom prst="rect">
            <a:avLst/>
          </a:prstGeom>
          <a:noFill/>
        </p:spPr>
        <p:txBody>
          <a:bodyPr wrap="square" lIns="0" tIns="0" rIns="0" bIns="0" anchor="t">
            <a:spAutoFit/>
          </a:bodyPr>
          <a:lstStyle/>
          <a:p>
            <a:pPr algn="ctr">
              <a:buNone/>
            </a:pPr>
            <a:r>
              <a:rPr sz="1100" b="0">
                <a:solidFill>
                  <a:srgbClr val="2E3142"/>
                </a:solidFill>
                <a:latin typeface="210 OmniGothic 040"/>
                <a:ea typeface="210 OmniGothic 040"/>
                <a:cs typeface="210 OmniGothic 040"/>
              </a:rPr>
              <a:t>목록 갱신</a:t>
            </a:r>
          </a:p>
        </p:txBody>
      </p:sp>
      <p:sp>
        <p:nvSpPr>
          <p:cNvPr id="6473" name="Connector 6474">
            <a:extLst>
              <a:ext uri="{FF2B5EF4-FFF2-40B4-BE49-F238E27FC236}">
                <a16:creationId xmlns:a16="http://schemas.microsoft.com/office/drawing/2014/main" id="{AF315BEC-EEEC-4334-B8AA-CFD4BCCEF6A3}"/>
              </a:ext>
            </a:extLst>
          </p:cNvPr>
          <p:cNvSpPr>
            <a:spLocks noGrp="1"/>
          </p:cNvSpPr>
          <p:nvPr/>
        </p:nvSpPr>
        <p:spPr>
          <a:xfrm flipH="1">
            <a:off x="2606040" y="5357274"/>
            <a:ext cx="3153260" cy="0"/>
          </a:xfrm>
          <a:prstGeom prst="line">
            <a:avLst/>
          </a:prstGeom>
          <a:ln w="13970">
            <a:solidFill>
              <a:srgbClr val="6B7080"/>
            </a:solidFill>
            <a:prstDash val="dash"/>
            <a:tailEnd type="arrow"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427" name="Rectangle 6428">
            <a:extLst>
              <a:ext uri="{FF2B5EF4-FFF2-40B4-BE49-F238E27FC236}">
                <a16:creationId xmlns:a16="http://schemas.microsoft.com/office/drawing/2014/main" id="{3504DFCC-D512-44FF-9694-8E47EDCDC1D4}"/>
              </a:ext>
            </a:extLst>
          </p:cNvPr>
          <p:cNvSpPr>
            <a:spLocks noGrp="1"/>
          </p:cNvSpPr>
          <p:nvPr/>
        </p:nvSpPr>
        <p:spPr>
          <a:xfrm>
            <a:off x="1252270" y="3657274"/>
            <a:ext cx="15600580" cy="1415000"/>
          </a:xfrm>
          <a:prstGeom prst="rect">
            <a:avLst/>
          </a:prstGeom>
          <a:noFill/>
          <a:ln w="12700">
            <a:solidFill>
              <a:srgbClr val="FAA95A"/>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endParaRPr/>
          </a:p>
        </p:txBody>
      </p:sp>
      <p:sp>
        <p:nvSpPr>
          <p:cNvPr id="6429" name="Rectangle 6430">
            <a:extLst>
              <a:ext uri="{FF2B5EF4-FFF2-40B4-BE49-F238E27FC236}">
                <a16:creationId xmlns:a16="http://schemas.microsoft.com/office/drawing/2014/main" id="{019318EB-656F-42C5-8C85-0AD8AF74F00C}"/>
              </a:ext>
            </a:extLst>
          </p:cNvPr>
          <p:cNvSpPr>
            <a:spLocks noGrp="1"/>
          </p:cNvSpPr>
          <p:nvPr/>
        </p:nvSpPr>
        <p:spPr>
          <a:xfrm>
            <a:off x="1252270" y="3657274"/>
            <a:ext cx="708660" cy="241401"/>
          </a:xfrm>
          <a:prstGeom prst="rect">
            <a:avLst/>
          </a:prstGeom>
          <a:solidFill>
            <a:srgbClr val="FDEBD9"/>
          </a:solidFill>
          <a:ln w="12700">
            <a:solidFill>
              <a:srgbClr val="FAA95A"/>
            </a:solidFill>
          </a:ln>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algn="ctr">
              <a:buNone/>
            </a:pPr>
            <a:r>
              <a:rPr sz="1050" b="1">
                <a:solidFill>
                  <a:srgbClr val="B5601C"/>
                </a:solidFill>
                <a:latin typeface="210 OmniGothic 040"/>
                <a:ea typeface="210 OmniGothic 040"/>
                <a:cs typeface="210 OmniGothic 040"/>
              </a:rPr>
              <a:t>alt</a:t>
            </a:r>
          </a:p>
        </p:txBody>
      </p:sp>
      <p:sp>
        <p:nvSpPr>
          <p:cNvPr id="6431" name="TextBox 6432">
            <a:extLst>
              <a:ext uri="{FF2B5EF4-FFF2-40B4-BE49-F238E27FC236}">
                <a16:creationId xmlns:a16="http://schemas.microsoft.com/office/drawing/2014/main" id="{ACC1A4FB-1301-4739-8917-EBB515F04707}"/>
              </a:ext>
            </a:extLst>
          </p:cNvPr>
          <p:cNvSpPr>
            <a:spLocks noGrp="1"/>
          </p:cNvSpPr>
          <p:nvPr/>
        </p:nvSpPr>
        <p:spPr>
          <a:xfrm>
            <a:off x="2060930" y="3667332"/>
            <a:ext cx="5715000" cy="241401"/>
          </a:xfrm>
          <a:prstGeom prst="rect">
            <a:avLst/>
          </a:prstGeom>
          <a:noFill/>
        </p:spPr>
        <p:txBody>
          <a:bodyPr wrap="square" lIns="0" tIns="0" rIns="0" bIns="0" anchor="t">
            <a:spAutoFit/>
          </a:bodyPr>
          <a:lstStyle/>
          <a:p>
            <a:pPr algn="l">
              <a:buNone/>
            </a:pPr>
            <a:r>
              <a:rPr sz="1100" b="0">
                <a:solidFill>
                  <a:srgbClr val="2E3142"/>
                </a:solidFill>
                <a:latin typeface="210 OmniGothic 040"/>
                <a:ea typeface="210 OmniGothic 040"/>
                <a:cs typeface="210 OmniGothic 040"/>
              </a:rPr>
              <a:t>[필수 값 누락]</a:t>
            </a:r>
          </a:p>
        </p:txBody>
      </p:sp>
      <p:sp>
        <p:nvSpPr>
          <p:cNvPr id="6433" name="Connector 6434">
            <a:extLst>
              <a:ext uri="{FF2B5EF4-FFF2-40B4-BE49-F238E27FC236}">
                <a16:creationId xmlns:a16="http://schemas.microsoft.com/office/drawing/2014/main" id="{3163CFC7-E938-4942-AB21-2469F2EE2013}"/>
              </a:ext>
            </a:extLst>
          </p:cNvPr>
          <p:cNvSpPr>
            <a:spLocks noGrp="1"/>
          </p:cNvSpPr>
          <p:nvPr/>
        </p:nvSpPr>
        <p:spPr>
          <a:xfrm>
            <a:off x="1252270" y="4172274"/>
            <a:ext cx="15600580" cy="0"/>
          </a:xfrm>
          <a:prstGeom prst="line">
            <a:avLst/>
          </a:prstGeom>
          <a:ln w="11430">
            <a:solidFill>
              <a:srgbClr val="FAA95A"/>
            </a:solidFill>
            <a:prstDash val="dash"/>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6435" name="TextBox 6436">
            <a:extLst>
              <a:ext uri="{FF2B5EF4-FFF2-40B4-BE49-F238E27FC236}">
                <a16:creationId xmlns:a16="http://schemas.microsoft.com/office/drawing/2014/main" id="{CBC12AFF-6B88-4415-A442-60A4B3102B5F}"/>
              </a:ext>
            </a:extLst>
          </p:cNvPr>
          <p:cNvSpPr>
            <a:spLocks noGrp="1"/>
          </p:cNvSpPr>
          <p:nvPr/>
        </p:nvSpPr>
        <p:spPr>
          <a:xfrm>
            <a:off x="1366570" y="4192391"/>
            <a:ext cx="5715000" cy="241401"/>
          </a:xfrm>
          <a:prstGeom prst="rect">
            <a:avLst/>
          </a:prstGeom>
          <a:noFill/>
        </p:spPr>
        <p:txBody>
          <a:bodyPr wrap="square" lIns="0" tIns="0" rIns="0" bIns="0" anchor="t">
            <a:spAutoFit/>
          </a:bodyPr>
          <a:lstStyle/>
          <a:p>
            <a:pPr algn="l">
              <a:buNone/>
            </a:pPr>
            <a:r>
              <a:rPr sz="1100" b="0">
                <a:solidFill>
                  <a:srgbClr val="2E3142"/>
                </a:solidFill>
                <a:latin typeface="210 OmniGothic 040"/>
                <a:ea typeface="210 OmniGothic 040"/>
                <a:cs typeface="210 OmniGothic 040"/>
              </a:rPr>
              <a:t>[정상]</a:t>
            </a:r>
          </a:p>
        </p:txBody>
      </p:sp>
    </p:spTree>
    <p:extLst>
      <p:ext uri="{BB962C8B-B14F-4D97-AF65-F5344CB8AC3E}">
        <p14:creationId xmlns:p14="http://schemas.microsoft.com/office/powerpoint/2010/main" val="199946792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57" name="Picture 2">
            <a:extLst>
              <a:ext uri="{FF2B5EF4-FFF2-40B4-BE49-F238E27FC236}">
                <a16:creationId xmlns:a16="http://schemas.microsoft.com/office/drawing/2014/main" id="{F116F513-628E-CD59-0365-83BA34700620}"/>
              </a:ext>
            </a:extLst>
          </p:cNvPr>
          <p:cNvSpPr>
            <a:spLocks noGrp="1"/>
          </p:cNvSpPr>
          <p:nvPr/>
        </p:nvSpPr>
        <p:spPr>
          <a:xfrm>
            <a:off x="-12700" y="-12700"/>
            <a:ext cx="18300700" cy="10299700"/>
          </a:xfrm>
          <a:custGeom>
            <a:avLst/>
            <a:gdLst>
              <a:gd name="csX0" fmla="*/ 0 w 18281422"/>
              <a:gd name="csY0" fmla="*/ 10197723 h 10197722"/>
              <a:gd name="csX1" fmla="*/ 0 w 18281422"/>
              <a:gd name="csY1" fmla="*/ 0 h 10197722"/>
              <a:gd name="csX2" fmla="*/ 18281422 w 18281422"/>
              <a:gd name="csY2" fmla="*/ 0 h 10197722"/>
              <a:gd name="csX3" fmla="*/ 18281422 w 18281422"/>
              <a:gd name="csY3" fmla="*/ 10197723 h 10197722"/>
            </a:gdLst>
            <a:ahLst/>
            <a:cxnLst/>
            <a:rect l="l" t="t" r="r" b="b"/>
            <a:pathLst>
              <a:path w="18281422" h="10197722">
                <a:moveTo>
                  <a:pt x="0" y="10197723"/>
                </a:moveTo>
                <a:lnTo>
                  <a:pt x="0" y="0"/>
                </a:lnTo>
                <a:lnTo>
                  <a:pt x="18281422" y="0"/>
                </a:lnTo>
                <a:lnTo>
                  <a:pt x="18281422" y="10197723"/>
                </a:lnTo>
                <a:close/>
              </a:path>
            </a:pathLst>
          </a:custGeom>
          <a:solidFill>
            <a:srgbClr val="363A52"/>
          </a:solidFill>
          <a:ln w="16144">
            <a:noFill/>
            <a:prstDash val="solid"/>
          </a:ln>
        </p:spPr>
        <p:txBody>
          <a:bodyPr/>
          <a:lstStyle/>
          <a:p>
            <a:endParaRPr/>
          </a:p>
        </p:txBody>
      </p:sp>
      <p:sp>
        <p:nvSpPr>
          <p:cNvPr id="5258" name="TextBox 5257">
            <a:extLst>
              <a:ext uri="{FF2B5EF4-FFF2-40B4-BE49-F238E27FC236}">
                <a16:creationId xmlns:a16="http://schemas.microsoft.com/office/drawing/2014/main" id="{D96AAE9C-A553-4295-8ACE-10CE6F0325BD}"/>
              </a:ext>
            </a:extLst>
          </p:cNvPr>
          <p:cNvSpPr>
            <a:spLocks noGrp="1"/>
          </p:cNvSpPr>
          <p:nvPr/>
        </p:nvSpPr>
        <p:spPr>
          <a:xfrm>
            <a:off x="914400" y="4572000"/>
            <a:ext cx="16459200" cy="1005840"/>
          </a:xfrm>
          <a:prstGeom prst="rect">
            <a:avLst/>
          </a:prstGeom>
          <a:noFill/>
        </p:spPr>
        <p:txBody>
          <a:bodyPr wrap="square" lIns="0" tIns="0" rIns="0" bIns="0" anchor="ctr">
            <a:spAutoFit/>
          </a:bodyPr>
          <a:lstStyle/>
          <a:p>
            <a:pPr algn="ctr">
              <a:buNone/>
            </a:pPr>
            <a:r>
              <a:rPr sz="4800" b="0">
                <a:solidFill>
                  <a:srgbClr val="FAA95A"/>
                </a:solidFill>
                <a:latin typeface="210 OmniGothic 050"/>
                <a:ea typeface="210 OmniGothic 050"/>
                <a:cs typeface="210 OmniGothic 050"/>
              </a:rPr>
              <a:t>05. 클래스 다이어그램</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idx="12"/>
          </p:nvPr>
        </p:nvSpPr>
        <p:spPr/>
        <p:txBody>
          <a:bodyPr/>
          <a:lstStyle/>
          <a:p>
            <a:fld id="{B6F15528-21DE-4FAA-801E-634DDDAF4B2B}" type="slidenum">
              <a:rPr/>
              <a:t>50</a:t>
            </a:fld>
            <a:endParaRPr/>
          </a:p>
        </p:txBody>
      </p:sp>
    </p:spTree>
    <p:extLst>
      <p:ext uri="{BB962C8B-B14F-4D97-AF65-F5344CB8AC3E}">
        <p14:creationId xmlns:p14="http://schemas.microsoft.com/office/powerpoint/2010/main" val="30264620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71" name="Picture 2"/>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700" y="-12700"/>
            <a:ext cx="18313400" cy="1638300"/>
          </a:xfrm>
          <a:prstGeom prst="rect">
            <a:avLst/>
          </a:prstGeom>
        </p:spPr>
      </p:pic>
      <p:pic>
        <p:nvPicPr>
          <p:cNvPr id="5272" name="Picture 4"/>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28" y="1618343"/>
            <a:ext cx="18313400" cy="8699500"/>
          </a:xfrm>
          <a:prstGeom prst="rect">
            <a:avLst/>
          </a:prstGeom>
        </p:spPr>
      </p:pic>
      <p:pic>
        <p:nvPicPr>
          <p:cNvPr id="5273" name="Picture 5"/>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58800" y="9271000"/>
            <a:ext cx="17170400" cy="50800"/>
          </a:xfrm>
          <a:prstGeom prst="rect">
            <a:avLst/>
          </a:prstGeom>
        </p:spPr>
      </p:pic>
      <p:pic>
        <p:nvPicPr>
          <p:cNvPr id="5274" name="Picture 3"/>
          <p:cNvPicPr>
            <a:picLocks noChangeAspect="1"/>
          </p:cNvPicPr>
          <p:nvPr/>
        </p:nvPicPr>
        <p:blipFill>
          <a:blip>
            <a:extLst>
              <a:ext uri="{96DAC541-7B7A-43D3-8B79-37D633B846F1}">
                <asvg:svgBlip xmlns:asvg="http://schemas.microsoft.com/office/drawing/2016/SVG/main" r:embed="rId6"/>
              </a:ext>
            </a:extLst>
          </a:blip>
          <a:srcRect b="43005"/>
          <a:stretch>
            <a:fillRect/>
          </a:stretch>
        </p:blipFill>
        <p:spPr>
          <a:xfrm>
            <a:off x="15443200" y="228600"/>
            <a:ext cx="1384300" cy="1397000"/>
          </a:xfrm>
          <a:prstGeom prst="rect">
            <a:avLst/>
          </a:prstGeom>
        </p:spPr>
      </p:pic>
      <p:sp>
        <p:nvSpPr>
          <p:cNvPr id="5263" name="Title">
            <a:extLst>
              <a:ext uri="{FF2B5EF4-FFF2-40B4-BE49-F238E27FC236}">
                <a16:creationId xmlns:a16="http://schemas.microsoft.com/office/drawing/2014/main" id="{3D8FA11E-073E-4BD5-9973-BE6A24E254A5}"/>
              </a:ext>
            </a:extLst>
          </p:cNvPr>
          <p:cNvSpPr>
            <a:spLocks noGrp="1"/>
          </p:cNvSpPr>
          <p:nvPr/>
        </p:nvSpPr>
        <p:spPr>
          <a:xfrm>
            <a:off x="822960" y="384048"/>
            <a:ext cx="13258800" cy="877824"/>
          </a:xfrm>
          <a:prstGeom prst="rect">
            <a:avLst/>
          </a:prstGeom>
          <a:noFill/>
        </p:spPr>
        <p:txBody>
          <a:bodyPr wrap="square" lIns="0" tIns="0" rIns="0" bIns="0" anchor="ctr">
            <a:spAutoFit/>
          </a:bodyPr>
          <a:lstStyle/>
          <a:p>
            <a:pPr algn="l">
              <a:buNone/>
            </a:pPr>
            <a:r>
              <a:rPr sz="4400" b="0">
                <a:solidFill>
                  <a:srgbClr val="FAA95A"/>
                </a:solidFill>
                <a:latin typeface="210 OmniGothic 050"/>
                <a:ea typeface="210 OmniGothic 050"/>
                <a:cs typeface="210 OmniGothic 050"/>
              </a:rPr>
              <a:t>05. 클래스 다이어그램</a:t>
            </a:r>
          </a:p>
        </p:txBody>
      </p:sp>
      <p:sp>
        <p:nvSpPr>
          <p:cNvPr id="5264" name="Subtitle">
            <a:extLst>
              <a:ext uri="{FF2B5EF4-FFF2-40B4-BE49-F238E27FC236}">
                <a16:creationId xmlns:a16="http://schemas.microsoft.com/office/drawing/2014/main" id="{FBD4E17B-3AB1-441F-87F6-D0F450A52C80}"/>
              </a:ext>
            </a:extLst>
          </p:cNvPr>
          <p:cNvSpPr>
            <a:spLocks noGrp="1"/>
          </p:cNvSpPr>
          <p:nvPr/>
        </p:nvSpPr>
        <p:spPr>
          <a:xfrm>
            <a:off x="822960" y="1764792"/>
            <a:ext cx="16642080" cy="502920"/>
          </a:xfrm>
          <a:prstGeom prst="rect">
            <a:avLst/>
          </a:prstGeom>
          <a:noFill/>
        </p:spPr>
        <p:txBody>
          <a:bodyPr wrap="square" lIns="0" tIns="0" rIns="0" bIns="0" anchor="ctr">
            <a:spAutoFit/>
          </a:bodyPr>
          <a:lstStyle/>
          <a:p>
            <a:pPr algn="ctr">
              <a:buNone/>
            </a:pPr>
            <a:r>
              <a:rPr sz="2600" b="1">
                <a:solidFill>
                  <a:srgbClr val="363A52"/>
                </a:solidFill>
                <a:latin typeface="210 OmniGothic 040"/>
                <a:ea typeface="210 OmniGothic 040"/>
                <a:cs typeface="210 OmniGothic 040"/>
              </a:rPr>
              <a:t>1. 속성 정의 – </a:t>
            </a:r>
            <a:r>
              <a:rPr sz="2600" b="1">
                <a:solidFill>
                  <a:srgbClr val="FAA95A"/>
                </a:solidFill>
                <a:latin typeface="210 OmniGothic 040"/>
                <a:ea typeface="210 OmniGothic 040"/>
                <a:cs typeface="210 OmniGothic 040"/>
              </a:rPr>
              <a:t>도메인 엔티티 (설계)</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idx="12"/>
          </p:nvPr>
        </p:nvSpPr>
        <p:spPr/>
        <p:txBody>
          <a:bodyPr/>
          <a:lstStyle/>
          <a:p>
            <a:fld id="{B6F15528-21DE-4FAA-801E-634DDDAF4B2B}" type="slidenum">
              <a:rPr/>
              <a:t>51</a:t>
            </a:fld>
            <a:endParaRPr/>
          </a:p>
        </p:txBody>
      </p:sp>
      <p:sp>
        <p:nvSpPr>
          <p:cNvPr id="5265" name="TextBox 5264">
            <a:extLst>
              <a:ext uri="{FF2B5EF4-FFF2-40B4-BE49-F238E27FC236}">
                <a16:creationId xmlns:a16="http://schemas.microsoft.com/office/drawing/2014/main" id="{9A542902-C498-40E7-9752-CE7DE6903F69}"/>
              </a:ext>
            </a:extLst>
          </p:cNvPr>
          <p:cNvSpPr>
            <a:spLocks noGrp="1"/>
          </p:cNvSpPr>
          <p:nvPr/>
        </p:nvSpPr>
        <p:spPr>
          <a:xfrm>
            <a:off x="822960" y="2395728"/>
            <a:ext cx="11430000" cy="301752"/>
          </a:xfrm>
          <a:prstGeom prst="rect">
            <a:avLst/>
          </a:prstGeom>
          <a:noFill/>
        </p:spPr>
        <p:txBody>
          <a:bodyPr wrap="square" lIns="0" tIns="0" rIns="0" bIns="0" anchor="t">
            <a:spAutoFit/>
          </a:bodyPr>
          <a:lstStyle/>
          <a:p>
            <a:pPr algn="l">
              <a:buNone/>
            </a:pPr>
            <a:r>
              <a:rPr sz="1500" b="1">
                <a:solidFill>
                  <a:srgbClr val="2E3142"/>
                </a:solidFill>
                <a:latin typeface="210 OmniGothic 040"/>
                <a:ea typeface="210 OmniGothic 040"/>
                <a:cs typeface="210 OmniGothic 040"/>
              </a:rPr>
              <a:t>User 클래스</a:t>
            </a:r>
            <a:r>
              <a:rPr sz="1250" b="0">
                <a:solidFill>
                  <a:srgbClr val="6B7080"/>
                </a:solidFill>
                <a:latin typeface="210 OmniGothic 040"/>
                <a:ea typeface="210 OmniGothic 040"/>
                <a:cs typeface="210 OmniGothic 040"/>
              </a:rPr>
              <a:t>  사용자(계정)</a:t>
            </a:r>
          </a:p>
        </p:txBody>
      </p:sp>
      <p:graphicFrame>
        <p:nvGraphicFramePr>
          <p:cNvPr id="5279" name="Table 5265"/>
          <p:cNvGraphicFramePr/>
          <p:nvPr/>
        </p:nvGraphicFramePr>
        <p:xfrm>
          <a:off x="822960" y="2727655"/>
          <a:ext cx="16459200" cy="3319272"/>
        </p:xfrm>
        <a:graphic>
          <a:graphicData uri="http://schemas.openxmlformats.org/drawingml/2006/table">
            <a:tbl>
              <a:tblPr>
                <a:tableStyleId>{2D5ABB26-0587-4C30-8999-92F81FD0307C}</a:tableStyleId>
              </a:tblPr>
              <a:tblGrid>
                <a:gridCol w="2000250">
                  <a:extLst>
                    <a:ext uri="{9D8B030D-6E8A-4147-A177-3AD203B41FA5}">
                      <a16:colId xmlns:a16="http://schemas.microsoft.com/office/drawing/2014/main" val="20000"/>
                    </a:ext>
                  </a:extLst>
                </a:gridCol>
                <a:gridCol w="971550">
                  <a:extLst>
                    <a:ext uri="{9D8B030D-6E8A-4147-A177-3AD203B41FA5}">
                      <a16:colId xmlns:a16="http://schemas.microsoft.com/office/drawing/2014/main" val="20001"/>
                    </a:ext>
                  </a:extLst>
                </a:gridCol>
                <a:gridCol w="1543050">
                  <a:extLst>
                    <a:ext uri="{9D8B030D-6E8A-4147-A177-3AD203B41FA5}">
                      <a16:colId xmlns:a16="http://schemas.microsoft.com/office/drawing/2014/main" val="20002"/>
                    </a:ext>
                  </a:extLst>
                </a:gridCol>
                <a:gridCol w="6858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1085850">
                  <a:extLst>
                    <a:ext uri="{9D8B030D-6E8A-4147-A177-3AD203B41FA5}">
                      <a16:colId xmlns:a16="http://schemas.microsoft.com/office/drawing/2014/main" val="20005"/>
                    </a:ext>
                  </a:extLst>
                </a:gridCol>
                <a:gridCol w="8801100">
                  <a:extLst>
                    <a:ext uri="{9D8B030D-6E8A-4147-A177-3AD203B41FA5}">
                      <a16:colId xmlns:a16="http://schemas.microsoft.com/office/drawing/2014/main" val="20006"/>
                    </a:ext>
                  </a:extLst>
                </a:gridCol>
              </a:tblGrid>
              <a:tr h="301752">
                <a:tc>
                  <a:txBody>
                    <a:bodyPr/>
                    <a:lstStyle/>
                    <a:p>
                      <a:pPr algn="l">
                        <a:buNone/>
                      </a:pPr>
                      <a:r>
                        <a:rPr sz="1050" b="1">
                          <a:solidFill>
                            <a:srgbClr val="2E3142"/>
                          </a:solidFill>
                          <a:latin typeface="210 OmniGothic 040"/>
                          <a:ea typeface="210 OmniGothic 040"/>
                          <a:cs typeface="210 OmniGothic 040"/>
                        </a:rPr>
                        <a:t>속성명</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가시성</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자료형</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크기</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NULLABLE</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기본값</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설명</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extLst>
                  <a:ext uri="{0D108BD9-81ED-4DB2-BD59-A6C34878D82A}">
                    <a16:rowId xmlns:a16="http://schemas.microsoft.com/office/drawing/2014/main" val="10000"/>
                  </a:ext>
                </a:extLst>
              </a:tr>
              <a:tr h="301752">
                <a:tc>
                  <a:txBody>
                    <a:bodyPr/>
                    <a:lstStyle/>
                    <a:p>
                      <a:pPr algn="l">
                        <a:buNone/>
                      </a:pPr>
                      <a:r>
                        <a:rPr sz="1050" b="0">
                          <a:solidFill>
                            <a:srgbClr val="2E3142"/>
                          </a:solidFill>
                          <a:latin typeface="Consolas"/>
                          <a:ea typeface="Consolas"/>
                          <a:cs typeface="Consolas"/>
                        </a:rPr>
                        <a:t>id</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int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NOT NULL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auto</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사용자 고유 식별자 (PK)</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1"/>
                  </a:ext>
                </a:extLst>
              </a:tr>
              <a:tr h="301752">
                <a:tc>
                  <a:txBody>
                    <a:bodyPr/>
                    <a:lstStyle/>
                    <a:p>
                      <a:pPr algn="l">
                        <a:buNone/>
                      </a:pPr>
                      <a:r>
                        <a:rPr sz="1050" b="0">
                          <a:solidFill>
                            <a:srgbClr val="2E3142"/>
                          </a:solidFill>
                          <a:latin typeface="Consolas"/>
                          <a:ea typeface="Consolas"/>
                          <a:cs typeface="Consolas"/>
                        </a:rPr>
                        <a:t>login_id</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str</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50</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NOT NULL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N/A</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로그인 아이디 (UNIQUE, 예: cmd01)</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2"/>
                  </a:ext>
                </a:extLst>
              </a:tr>
              <a:tr h="301752">
                <a:tc>
                  <a:txBody>
                    <a:bodyPr/>
                    <a:lstStyle/>
                    <a:p>
                      <a:pPr algn="l">
                        <a:buNone/>
                      </a:pPr>
                      <a:r>
                        <a:rPr sz="1050" b="0">
                          <a:solidFill>
                            <a:srgbClr val="2E3142"/>
                          </a:solidFill>
                          <a:latin typeface="Consolas"/>
                          <a:ea typeface="Consolas"/>
                          <a:cs typeface="Consolas"/>
                        </a:rPr>
                        <a:t>password_hash</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Private</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str</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255</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NOT NULL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N/A</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bcrypt 해시 비밀번호</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3"/>
                  </a:ext>
                </a:extLst>
              </a:tr>
              <a:tr h="301752">
                <a:tc>
                  <a:txBody>
                    <a:bodyPr/>
                    <a:lstStyle/>
                    <a:p>
                      <a:pPr algn="l">
                        <a:buNone/>
                      </a:pPr>
                      <a:r>
                        <a:rPr sz="1050" b="0">
                          <a:solidFill>
                            <a:srgbClr val="2E3142"/>
                          </a:solidFill>
                          <a:latin typeface="Consolas"/>
                          <a:ea typeface="Consolas"/>
                          <a:cs typeface="Consolas"/>
                        </a:rPr>
                        <a:t>name</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str</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50</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NOT NULL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N/A</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이름 (소속·직무 포함, 예: 열람자 1(유관기관))</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4"/>
                  </a:ext>
                </a:extLst>
              </a:tr>
              <a:tr h="301752">
                <a:tc>
                  <a:txBody>
                    <a:bodyPr/>
                    <a:lstStyle/>
                    <a:p>
                      <a:pPr algn="l">
                        <a:buNone/>
                      </a:pPr>
                      <a:r>
                        <a:rPr sz="1050" b="0">
                          <a:solidFill>
                            <a:srgbClr val="2E3142"/>
                          </a:solidFill>
                          <a:latin typeface="Consolas"/>
                          <a:ea typeface="Consolas"/>
                          <a:cs typeface="Consolas"/>
                        </a:rPr>
                        <a:t>role</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RoleEnum</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NOT NULL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VIEWER</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권한 (COMMANDER 조작 · VIEWER 열람 · REPORTER 보고 · ADMIN 관리)</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5"/>
                  </a:ext>
                </a:extLst>
              </a:tr>
              <a:tr h="301752">
                <a:tc>
                  <a:txBody>
                    <a:bodyPr/>
                    <a:lstStyle/>
                    <a:p>
                      <a:pPr algn="l">
                        <a:buNone/>
                      </a:pPr>
                      <a:r>
                        <a:rPr sz="1050" b="0">
                          <a:solidFill>
                            <a:srgbClr val="2E3142"/>
                          </a:solidFill>
                          <a:latin typeface="Consolas"/>
                          <a:ea typeface="Consolas"/>
                          <a:cs typeface="Consolas"/>
                        </a:rPr>
                        <a:t>sigungu_code</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str</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5</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NOT NULL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N/A</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관할 시·군·구 코드</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6"/>
                  </a:ext>
                </a:extLst>
              </a:tr>
              <a:tr h="301752">
                <a:tc>
                  <a:txBody>
                    <a:bodyPr/>
                    <a:lstStyle/>
                    <a:p>
                      <a:pPr algn="l">
                        <a:buNone/>
                      </a:pPr>
                      <a:r>
                        <a:rPr sz="1050" b="0">
                          <a:solidFill>
                            <a:srgbClr val="2E3142"/>
                          </a:solidFill>
                          <a:latin typeface="Consolas"/>
                          <a:ea typeface="Consolas"/>
                          <a:cs typeface="Consolas"/>
                        </a:rPr>
                        <a:t>status</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AccountEnum</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NOT NULL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발급</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계정 상태 (발급 / 회수, 회수 시 로그인 차단)</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7"/>
                  </a:ext>
                </a:extLst>
              </a:tr>
              <a:tr h="301752">
                <a:tc>
                  <a:txBody>
                    <a:bodyPr/>
                    <a:lstStyle/>
                    <a:p>
                      <a:pPr algn="l">
                        <a:buNone/>
                      </a:pPr>
                      <a:r>
                        <a:rPr sz="1050" b="0">
                          <a:solidFill>
                            <a:srgbClr val="2E3142"/>
                          </a:solidFill>
                          <a:latin typeface="Consolas"/>
                          <a:ea typeface="Consolas"/>
                          <a:cs typeface="Consolas"/>
                        </a:rPr>
                        <a:t>failed_count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Private</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int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NOT NULL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0</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연속 로그인 실패 횟수 (5회 잠금)</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8"/>
                  </a:ext>
                </a:extLst>
              </a:tr>
              <a:tr h="301752">
                <a:tc>
                  <a:txBody>
                    <a:bodyPr/>
                    <a:lstStyle/>
                    <a:p>
                      <a:pPr algn="l">
                        <a:buNone/>
                      </a:pPr>
                      <a:r>
                        <a:rPr sz="1050" b="0">
                          <a:solidFill>
                            <a:srgbClr val="2E3142"/>
                          </a:solidFill>
                          <a:latin typeface="Consolas"/>
                          <a:ea typeface="Consolas"/>
                          <a:cs typeface="Consolas"/>
                        </a:rPr>
                        <a:t>locked</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bool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NOT NULL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False</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계정 잠금 여부 (5회 연속 실패 시 true, 관리자 해제 시 false)</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9"/>
                  </a:ext>
                </a:extLst>
              </a:tr>
              <a:tr h="301752">
                <a:tc>
                  <a:txBody>
                    <a:bodyPr/>
                    <a:lstStyle/>
                    <a:p>
                      <a:pPr algn="l">
                        <a:buNone/>
                      </a:pPr>
                      <a:r>
                        <a:rPr sz="1050" b="0">
                          <a:solidFill>
                            <a:srgbClr val="2E3142"/>
                          </a:solidFill>
                          <a:latin typeface="Consolas"/>
                          <a:ea typeface="Consolas"/>
                          <a:cs typeface="Consolas"/>
                        </a:rPr>
                        <a:t>issued_at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date</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NOT NULL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today()</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발급일</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3838049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79" name="Picture 2"/>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700" y="-12700"/>
            <a:ext cx="18313400" cy="1638300"/>
          </a:xfrm>
          <a:prstGeom prst="rect">
            <a:avLst/>
          </a:prstGeom>
        </p:spPr>
      </p:pic>
      <p:pic>
        <p:nvPicPr>
          <p:cNvPr id="5280" name="Picture 4"/>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28" y="1618343"/>
            <a:ext cx="18313400" cy="8699500"/>
          </a:xfrm>
          <a:prstGeom prst="rect">
            <a:avLst/>
          </a:prstGeom>
        </p:spPr>
      </p:pic>
      <p:pic>
        <p:nvPicPr>
          <p:cNvPr id="5281" name="Picture 5"/>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58800" y="9271000"/>
            <a:ext cx="17170400" cy="50800"/>
          </a:xfrm>
          <a:prstGeom prst="rect">
            <a:avLst/>
          </a:prstGeom>
        </p:spPr>
      </p:pic>
      <p:pic>
        <p:nvPicPr>
          <p:cNvPr id="5282" name="Picture 3"/>
          <p:cNvPicPr>
            <a:picLocks noChangeAspect="1"/>
          </p:cNvPicPr>
          <p:nvPr/>
        </p:nvPicPr>
        <p:blipFill>
          <a:blip>
            <a:extLst>
              <a:ext uri="{96DAC541-7B7A-43D3-8B79-37D633B846F1}">
                <asvg:svgBlip xmlns:asvg="http://schemas.microsoft.com/office/drawing/2016/SVG/main" r:embed="rId6"/>
              </a:ext>
            </a:extLst>
          </a:blip>
          <a:srcRect b="43005"/>
          <a:stretch>
            <a:fillRect/>
          </a:stretch>
        </p:blipFill>
        <p:spPr>
          <a:xfrm>
            <a:off x="15443200" y="228600"/>
            <a:ext cx="1384300" cy="1397000"/>
          </a:xfrm>
          <a:prstGeom prst="rect">
            <a:avLst/>
          </a:prstGeom>
        </p:spPr>
      </p:pic>
      <p:sp>
        <p:nvSpPr>
          <p:cNvPr id="5268" name="Title">
            <a:extLst>
              <a:ext uri="{FF2B5EF4-FFF2-40B4-BE49-F238E27FC236}">
                <a16:creationId xmlns:a16="http://schemas.microsoft.com/office/drawing/2014/main" id="{6E374AB9-C6B4-4A76-8E37-30BD7BCA14A9}"/>
              </a:ext>
            </a:extLst>
          </p:cNvPr>
          <p:cNvSpPr>
            <a:spLocks noGrp="1"/>
          </p:cNvSpPr>
          <p:nvPr/>
        </p:nvSpPr>
        <p:spPr>
          <a:xfrm>
            <a:off x="822960" y="384048"/>
            <a:ext cx="13258800" cy="877824"/>
          </a:xfrm>
          <a:prstGeom prst="rect">
            <a:avLst/>
          </a:prstGeom>
          <a:noFill/>
        </p:spPr>
        <p:txBody>
          <a:bodyPr wrap="square" lIns="0" tIns="0" rIns="0" bIns="0" anchor="ctr">
            <a:spAutoFit/>
          </a:bodyPr>
          <a:lstStyle/>
          <a:p>
            <a:pPr algn="l">
              <a:buNone/>
            </a:pPr>
            <a:r>
              <a:rPr sz="4400" b="0">
                <a:solidFill>
                  <a:srgbClr val="FAA95A"/>
                </a:solidFill>
                <a:latin typeface="210 OmniGothic 050"/>
                <a:ea typeface="210 OmniGothic 050"/>
                <a:cs typeface="210 OmniGothic 050"/>
              </a:rPr>
              <a:t>05. 클래스 다이어그램</a:t>
            </a:r>
          </a:p>
        </p:txBody>
      </p:sp>
      <p:sp>
        <p:nvSpPr>
          <p:cNvPr id="5269" name="Subtitle">
            <a:extLst>
              <a:ext uri="{FF2B5EF4-FFF2-40B4-BE49-F238E27FC236}">
                <a16:creationId xmlns:a16="http://schemas.microsoft.com/office/drawing/2014/main" id="{E07F9CDE-B7E9-46AF-8254-76EFB3B6A4CA}"/>
              </a:ext>
            </a:extLst>
          </p:cNvPr>
          <p:cNvSpPr>
            <a:spLocks noGrp="1"/>
          </p:cNvSpPr>
          <p:nvPr/>
        </p:nvSpPr>
        <p:spPr>
          <a:xfrm>
            <a:off x="822960" y="1764792"/>
            <a:ext cx="16642080" cy="502920"/>
          </a:xfrm>
          <a:prstGeom prst="rect">
            <a:avLst/>
          </a:prstGeom>
          <a:noFill/>
        </p:spPr>
        <p:txBody>
          <a:bodyPr wrap="square" lIns="0" tIns="0" rIns="0" bIns="0" anchor="ctr">
            <a:spAutoFit/>
          </a:bodyPr>
          <a:lstStyle/>
          <a:p>
            <a:pPr algn="ctr">
              <a:buNone/>
            </a:pPr>
            <a:r>
              <a:rPr sz="2600" b="1">
                <a:solidFill>
                  <a:srgbClr val="363A52"/>
                </a:solidFill>
                <a:latin typeface="210 OmniGothic 040"/>
                <a:ea typeface="210 OmniGothic 040"/>
                <a:cs typeface="210 OmniGothic 040"/>
              </a:rPr>
              <a:t>1. 속성 정의 – </a:t>
            </a:r>
            <a:r>
              <a:rPr sz="2600" b="1">
                <a:solidFill>
                  <a:srgbClr val="FAA95A"/>
                </a:solidFill>
                <a:latin typeface="210 OmniGothic 040"/>
                <a:ea typeface="210 OmniGothic 040"/>
                <a:cs typeface="210 OmniGothic 040"/>
              </a:rPr>
              <a:t>도메인 엔티티 (설계)</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idx="12"/>
          </p:nvPr>
        </p:nvSpPr>
        <p:spPr/>
        <p:txBody>
          <a:bodyPr/>
          <a:lstStyle/>
          <a:p>
            <a:fld id="{B6F15528-21DE-4FAA-801E-634DDDAF4B2B}" type="slidenum">
              <a:rPr/>
              <a:t>52</a:t>
            </a:fld>
            <a:endParaRPr/>
          </a:p>
        </p:txBody>
      </p:sp>
      <p:sp>
        <p:nvSpPr>
          <p:cNvPr id="5270" name="TextBox 5269">
            <a:extLst>
              <a:ext uri="{FF2B5EF4-FFF2-40B4-BE49-F238E27FC236}">
                <a16:creationId xmlns:a16="http://schemas.microsoft.com/office/drawing/2014/main" id="{3FD0E250-DFA1-4A63-B547-286E0AA85807}"/>
              </a:ext>
            </a:extLst>
          </p:cNvPr>
          <p:cNvSpPr>
            <a:spLocks noGrp="1"/>
          </p:cNvSpPr>
          <p:nvPr/>
        </p:nvSpPr>
        <p:spPr>
          <a:xfrm>
            <a:off x="822960" y="2395728"/>
            <a:ext cx="11430000" cy="301752"/>
          </a:xfrm>
          <a:prstGeom prst="rect">
            <a:avLst/>
          </a:prstGeom>
          <a:noFill/>
        </p:spPr>
        <p:txBody>
          <a:bodyPr wrap="square" lIns="0" tIns="0" rIns="0" bIns="0" anchor="t">
            <a:spAutoFit/>
          </a:bodyPr>
          <a:lstStyle/>
          <a:p>
            <a:pPr algn="l">
              <a:buNone/>
            </a:pPr>
            <a:r>
              <a:rPr sz="1500" b="1">
                <a:solidFill>
                  <a:srgbClr val="2E3142"/>
                </a:solidFill>
                <a:latin typeface="210 OmniGothic 040"/>
                <a:ea typeface="210 OmniGothic 040"/>
                <a:cs typeface="210 OmniGothic 040"/>
              </a:rPr>
              <a:t>Incident 클래스</a:t>
            </a:r>
            <a:r>
              <a:rPr sz="1250" b="0">
                <a:solidFill>
                  <a:srgbClr val="6B7080"/>
                </a:solidFill>
                <a:latin typeface="210 OmniGothic 040"/>
                <a:ea typeface="210 OmniGothic 040"/>
                <a:cs typeface="210 OmniGothic 040"/>
              </a:rPr>
              <a:t>  산불 사건(발화·접수·진행상태)</a:t>
            </a:r>
          </a:p>
        </p:txBody>
      </p:sp>
      <p:graphicFrame>
        <p:nvGraphicFramePr>
          <p:cNvPr id="5287" name="Table 5270"/>
          <p:cNvGraphicFramePr/>
          <p:nvPr/>
        </p:nvGraphicFramePr>
        <p:xfrm>
          <a:off x="822960" y="2727655"/>
          <a:ext cx="16459200" cy="3526725"/>
        </p:xfrm>
        <a:graphic>
          <a:graphicData uri="http://schemas.openxmlformats.org/drawingml/2006/table">
            <a:tbl>
              <a:tblPr>
                <a:tableStyleId>{2D5ABB26-0587-4C30-8999-92F81FD0307C}</a:tableStyleId>
              </a:tblPr>
              <a:tblGrid>
                <a:gridCol w="2000250">
                  <a:extLst>
                    <a:ext uri="{9D8B030D-6E8A-4147-A177-3AD203B41FA5}">
                      <a16:colId xmlns:a16="http://schemas.microsoft.com/office/drawing/2014/main" val="20000"/>
                    </a:ext>
                  </a:extLst>
                </a:gridCol>
                <a:gridCol w="971550">
                  <a:extLst>
                    <a:ext uri="{9D8B030D-6E8A-4147-A177-3AD203B41FA5}">
                      <a16:colId xmlns:a16="http://schemas.microsoft.com/office/drawing/2014/main" val="20001"/>
                    </a:ext>
                  </a:extLst>
                </a:gridCol>
                <a:gridCol w="1543050">
                  <a:extLst>
                    <a:ext uri="{9D8B030D-6E8A-4147-A177-3AD203B41FA5}">
                      <a16:colId xmlns:a16="http://schemas.microsoft.com/office/drawing/2014/main" val="20002"/>
                    </a:ext>
                  </a:extLst>
                </a:gridCol>
                <a:gridCol w="6858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1085850">
                  <a:extLst>
                    <a:ext uri="{9D8B030D-6E8A-4147-A177-3AD203B41FA5}">
                      <a16:colId xmlns:a16="http://schemas.microsoft.com/office/drawing/2014/main" val="20005"/>
                    </a:ext>
                  </a:extLst>
                </a:gridCol>
                <a:gridCol w="8801100">
                  <a:extLst>
                    <a:ext uri="{9D8B030D-6E8A-4147-A177-3AD203B41FA5}">
                      <a16:colId xmlns:a16="http://schemas.microsoft.com/office/drawing/2014/main" val="20006"/>
                    </a:ext>
                  </a:extLst>
                </a:gridCol>
              </a:tblGrid>
              <a:tr h="235115">
                <a:tc>
                  <a:txBody>
                    <a:bodyPr/>
                    <a:lstStyle/>
                    <a:p>
                      <a:pPr algn="l">
                        <a:buNone/>
                      </a:pPr>
                      <a:r>
                        <a:rPr sz="1050" b="1">
                          <a:solidFill>
                            <a:srgbClr val="2E3142"/>
                          </a:solidFill>
                          <a:latin typeface="210 OmniGothic 040"/>
                          <a:ea typeface="210 OmniGothic 040"/>
                          <a:cs typeface="210 OmniGothic 040"/>
                        </a:rPr>
                        <a:t>속성명</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가시성</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자료형</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크기</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NULLABLE</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기본값</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설명</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extLst>
                  <a:ext uri="{0D108BD9-81ED-4DB2-BD59-A6C34878D82A}">
                    <a16:rowId xmlns:a16="http://schemas.microsoft.com/office/drawing/2014/main" val="10000"/>
                  </a:ext>
                </a:extLst>
              </a:tr>
              <a:tr h="235115">
                <a:tc>
                  <a:txBody>
                    <a:bodyPr/>
                    <a:lstStyle/>
                    <a:p>
                      <a:pPr algn="l">
                        <a:buNone/>
                      </a:pPr>
                      <a:r>
                        <a:rPr sz="1050" b="0">
                          <a:solidFill>
                            <a:srgbClr val="2E3142"/>
                          </a:solidFill>
                          <a:latin typeface="Consolas"/>
                          <a:ea typeface="Consolas"/>
                          <a:cs typeface="Consolas"/>
                        </a:rPr>
                        <a:t>id</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str</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20</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NOT NULL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N/A</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사건 식별자 (PK, 예: F-2025-0322-01)</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1"/>
                  </a:ext>
                </a:extLst>
              </a:tr>
              <a:tr h="235115">
                <a:tc>
                  <a:txBody>
                    <a:bodyPr/>
                    <a:lstStyle/>
                    <a:p>
                      <a:pPr algn="l">
                        <a:buNone/>
                      </a:pPr>
                      <a:r>
                        <a:rPr sz="1050" b="0">
                          <a:solidFill>
                            <a:srgbClr val="2E3142"/>
                          </a:solidFill>
                          <a:latin typeface="Consolas"/>
                          <a:ea typeface="Consolas"/>
                          <a:cs typeface="Consolas"/>
                        </a:rPr>
                        <a:t>name</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str</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100</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NOT NULL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N/A</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산불명 (예: 의성 안평면 산불)</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2"/>
                  </a:ext>
                </a:extLst>
              </a:tr>
              <a:tr h="235115">
                <a:tc>
                  <a:txBody>
                    <a:bodyPr/>
                    <a:lstStyle/>
                    <a:p>
                      <a:pPr algn="l">
                        <a:buNone/>
                      </a:pPr>
                      <a:r>
                        <a:rPr sz="1050" b="0">
                          <a:solidFill>
                            <a:srgbClr val="2E3142"/>
                          </a:solidFill>
                          <a:latin typeface="Consolas"/>
                          <a:ea typeface="Consolas"/>
                          <a:cs typeface="Consolas"/>
                        </a:rPr>
                        <a:t>addr</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str</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200</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NOT NULL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N/A</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발생 장소(주소)</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3"/>
                  </a:ext>
                </a:extLst>
              </a:tr>
              <a:tr h="235115">
                <a:tc>
                  <a:txBody>
                    <a:bodyPr/>
                    <a:lstStyle/>
                    <a:p>
                      <a:pPr algn="l">
                        <a:buNone/>
                      </a:pPr>
                      <a:r>
                        <a:rPr sz="1050" b="0">
                          <a:solidFill>
                            <a:srgbClr val="2E3142"/>
                          </a:solidFill>
                          <a:latin typeface="Consolas"/>
                          <a:ea typeface="Consolas"/>
                          <a:cs typeface="Consolas"/>
                        </a:rPr>
                        <a:t>ignition_geom</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Point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NOT NULL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N/A</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발화 위치 (EPSG:4326)</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4"/>
                  </a:ext>
                </a:extLst>
              </a:tr>
              <a:tr h="235115">
                <a:tc>
                  <a:txBody>
                    <a:bodyPr/>
                    <a:lstStyle/>
                    <a:p>
                      <a:pPr algn="l">
                        <a:buNone/>
                      </a:pPr>
                      <a:r>
                        <a:rPr sz="1050" b="0">
                          <a:solidFill>
                            <a:srgbClr val="2E3142"/>
                          </a:solidFill>
                          <a:latin typeface="Consolas"/>
                          <a:ea typeface="Consolas"/>
                          <a:cs typeface="Consolas"/>
                        </a:rPr>
                        <a:t>started_at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datetime</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NULLABLE</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N/A</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발생 일시 (접수 단계에서는 NULL 가능)</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5"/>
                  </a:ext>
                </a:extLst>
              </a:tr>
              <a:tr h="235115">
                <a:tc>
                  <a:txBody>
                    <a:bodyPr/>
                    <a:lstStyle/>
                    <a:p>
                      <a:pPr algn="l">
                        <a:buNone/>
                      </a:pPr>
                      <a:r>
                        <a:rPr sz="1050" b="0">
                          <a:solidFill>
                            <a:srgbClr val="2E3142"/>
                          </a:solidFill>
                          <a:latin typeface="Consolas"/>
                          <a:ea typeface="Consolas"/>
                          <a:cs typeface="Consolas"/>
                        </a:rPr>
                        <a:t>reported_at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datetime</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NOT NULL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N/A</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신고 접수 일시</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6"/>
                  </a:ext>
                </a:extLst>
              </a:tr>
              <a:tr h="235115">
                <a:tc>
                  <a:txBody>
                    <a:bodyPr/>
                    <a:lstStyle/>
                    <a:p>
                      <a:pPr algn="l">
                        <a:buNone/>
                      </a:pPr>
                      <a:r>
                        <a:rPr sz="1050" b="0">
                          <a:solidFill>
                            <a:srgbClr val="2E3142"/>
                          </a:solidFill>
                          <a:latin typeface="Consolas"/>
                          <a:ea typeface="Consolas"/>
                          <a:cs typeface="Consolas"/>
                        </a:rPr>
                        <a:t>report_text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str</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300</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NULLABLE</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N/A</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신고 내용</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7"/>
                  </a:ext>
                </a:extLst>
              </a:tr>
              <a:tr h="235115">
                <a:tc>
                  <a:txBody>
                    <a:bodyPr/>
                    <a:lstStyle/>
                    <a:p>
                      <a:pPr algn="l">
                        <a:buNone/>
                      </a:pPr>
                      <a:r>
                        <a:rPr sz="1050" b="0">
                          <a:solidFill>
                            <a:srgbClr val="2E3142"/>
                          </a:solidFill>
                          <a:latin typeface="Consolas"/>
                          <a:ea typeface="Consolas"/>
                          <a:cs typeface="Consolas"/>
                        </a:rPr>
                        <a:t>reported_by</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int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NOT NULL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N/A</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입력한 상황 보고자 (FK → users.id)</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8"/>
                  </a:ext>
                </a:extLst>
              </a:tr>
              <a:tr h="235115">
                <a:tc>
                  <a:txBody>
                    <a:bodyPr/>
                    <a:lstStyle/>
                    <a:p>
                      <a:pPr algn="l">
                        <a:buNone/>
                      </a:pPr>
                      <a:r>
                        <a:rPr sz="1050" b="0">
                          <a:solidFill>
                            <a:srgbClr val="2E3142"/>
                          </a:solidFill>
                          <a:latin typeface="Consolas"/>
                          <a:ea typeface="Consolas"/>
                          <a:cs typeface="Consolas"/>
                        </a:rPr>
                        <a:t>official_stage</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StageEnum</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NOT NULL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초기대응</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공식 대응단계 (초기대응·확산대응1·확산대응2)</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9"/>
                  </a:ext>
                </a:extLst>
              </a:tr>
              <a:tr h="235115">
                <a:tc>
                  <a:txBody>
                    <a:bodyPr/>
                    <a:lstStyle/>
                    <a:p>
                      <a:pPr algn="l">
                        <a:buNone/>
                      </a:pPr>
                      <a:r>
                        <a:rPr sz="1050" b="0">
                          <a:solidFill>
                            <a:srgbClr val="2E3142"/>
                          </a:solidFill>
                          <a:latin typeface="Consolas"/>
                          <a:ea typeface="Consolas"/>
                          <a:cs typeface="Consolas"/>
                        </a:rPr>
                        <a:t>alert_level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str</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10</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NOT NULL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관심</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위기경보 수준 (관심·주의·경계·심각)</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10"/>
                  </a:ext>
                </a:extLst>
              </a:tr>
              <a:tr h="235115">
                <a:tc>
                  <a:txBody>
                    <a:bodyPr/>
                    <a:lstStyle/>
                    <a:p>
                      <a:pPr algn="l">
                        <a:buNone/>
                      </a:pPr>
                      <a:r>
                        <a:rPr sz="1050" b="0">
                          <a:solidFill>
                            <a:srgbClr val="2E3142"/>
                          </a:solidFill>
                          <a:latin typeface="Consolas"/>
                          <a:ea typeface="Consolas"/>
                          <a:cs typeface="Consolas"/>
                        </a:rPr>
                        <a:t>status</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StatusEnum</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NOT NULL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접수</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진행상태 (접수 / 진행 중 / 종료, 실측 화선이 처음 저장되면 접수 → 진행 중)</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11"/>
                  </a:ext>
                </a:extLst>
              </a:tr>
              <a:tr h="235115">
                <a:tc>
                  <a:txBody>
                    <a:bodyPr/>
                    <a:lstStyle/>
                    <a:p>
                      <a:pPr algn="l">
                        <a:buNone/>
                      </a:pPr>
                      <a:r>
                        <a:rPr sz="1050" b="0">
                          <a:solidFill>
                            <a:srgbClr val="2E3142"/>
                          </a:solidFill>
                          <a:latin typeface="Consolas"/>
                          <a:ea typeface="Consolas"/>
                          <a:cs typeface="Consolas"/>
                        </a:rPr>
                        <a:t>expected_hours</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float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NULLABLE</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N/A</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예상 진화시간 (h, 상황 정정으로 입력)</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13"/>
                  </a:ext>
                </a:extLst>
              </a:tr>
              <a:tr h="235115">
                <a:tc>
                  <a:txBody>
                    <a:bodyPr/>
                    <a:lstStyle/>
                    <a:p>
                      <a:pPr algn="l">
                        <a:buNone/>
                      </a:pPr>
                      <a:r>
                        <a:rPr sz="1050" b="0">
                          <a:solidFill>
                            <a:srgbClr val="2E3142"/>
                          </a:solidFill>
                          <a:latin typeface="Consolas"/>
                          <a:ea typeface="Consolas"/>
                          <a:cs typeface="Consolas"/>
                        </a:rPr>
                        <a:t>ended_at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datetime</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NULLABLE</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N/A</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종료(진화 완료) 일시</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14"/>
                  </a:ext>
                </a:extLst>
              </a:tr>
              <a:tr h="235115">
                <a:tc>
                  <a:txBody>
                    <a:bodyPr/>
                    <a:lstStyle/>
                    <a:p>
                      <a:pPr algn="l">
                        <a:buNone/>
                      </a:pPr>
                      <a:r>
                        <a:rPr sz="1050" b="0">
                          <a:solidFill>
                            <a:srgbClr val="2E3142"/>
                          </a:solidFill>
                          <a:latin typeface="Consolas"/>
                          <a:ea typeface="Consolas"/>
                          <a:cs typeface="Consolas"/>
                        </a:rPr>
                        <a:t>ended_by</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int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NULLABLE</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N/A</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종료 처리한 통합지휘권자 (FK → users.id)</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15"/>
                  </a:ext>
                </a:extLst>
              </a:tr>
            </a:tbl>
          </a:graphicData>
        </a:graphic>
      </p:graphicFrame>
      <p:sp>
        <p:nvSpPr>
          <p:cNvPr id="5272" name="TextBox 5271">
            <a:extLst>
              <a:ext uri="{FF2B5EF4-FFF2-40B4-BE49-F238E27FC236}">
                <a16:creationId xmlns:a16="http://schemas.microsoft.com/office/drawing/2014/main" id="{3EBF10C8-EDDD-40C0-9DA1-71E2A2E31AD8}"/>
              </a:ext>
            </a:extLst>
          </p:cNvPr>
          <p:cNvSpPr>
            <a:spLocks noGrp="1"/>
          </p:cNvSpPr>
          <p:nvPr/>
        </p:nvSpPr>
        <p:spPr>
          <a:xfrm>
            <a:off x="822960" y="6400684"/>
            <a:ext cx="11430000" cy="301752"/>
          </a:xfrm>
          <a:prstGeom prst="rect">
            <a:avLst/>
          </a:prstGeom>
          <a:noFill/>
        </p:spPr>
        <p:txBody>
          <a:bodyPr wrap="square" lIns="0" tIns="0" rIns="0" bIns="0" anchor="t">
            <a:spAutoFit/>
          </a:bodyPr>
          <a:lstStyle/>
          <a:p>
            <a:pPr algn="l">
              <a:buNone/>
            </a:pPr>
            <a:r>
              <a:rPr sz="1500" b="1">
                <a:solidFill>
                  <a:srgbClr val="2E3142"/>
                </a:solidFill>
                <a:latin typeface="210 OmniGothic 040"/>
                <a:ea typeface="210 OmniGothic 040"/>
                <a:cs typeface="210 OmniGothic 040"/>
              </a:rPr>
              <a:t>FirePerimeter 클래스</a:t>
            </a:r>
            <a:r>
              <a:rPr sz="1250" b="0">
                <a:solidFill>
                  <a:srgbClr val="6B7080"/>
                </a:solidFill>
                <a:latin typeface="210 OmniGothic 040"/>
                <a:ea typeface="210 OmniGothic 040"/>
                <a:cs typeface="210 OmniGothic 040"/>
              </a:rPr>
              <a:t>  실측 화선(관측 폴리곤)</a:t>
            </a:r>
          </a:p>
        </p:txBody>
      </p:sp>
      <p:graphicFrame>
        <p:nvGraphicFramePr>
          <p:cNvPr id="5289" name="Table 5272"/>
          <p:cNvGraphicFramePr/>
          <p:nvPr/>
        </p:nvGraphicFramePr>
        <p:xfrm>
          <a:off x="822960" y="6729868"/>
          <a:ext cx="16459200" cy="2351150"/>
        </p:xfrm>
        <a:graphic>
          <a:graphicData uri="http://schemas.openxmlformats.org/drawingml/2006/table">
            <a:tbl>
              <a:tblPr>
                <a:tableStyleId>{2D5ABB26-0587-4C30-8999-92F81FD0307C}</a:tableStyleId>
              </a:tblPr>
              <a:tblGrid>
                <a:gridCol w="2000250">
                  <a:extLst>
                    <a:ext uri="{9D8B030D-6E8A-4147-A177-3AD203B41FA5}">
                      <a16:colId xmlns:a16="http://schemas.microsoft.com/office/drawing/2014/main" val="20000"/>
                    </a:ext>
                  </a:extLst>
                </a:gridCol>
                <a:gridCol w="971550">
                  <a:extLst>
                    <a:ext uri="{9D8B030D-6E8A-4147-A177-3AD203B41FA5}">
                      <a16:colId xmlns:a16="http://schemas.microsoft.com/office/drawing/2014/main" val="20001"/>
                    </a:ext>
                  </a:extLst>
                </a:gridCol>
                <a:gridCol w="1543050">
                  <a:extLst>
                    <a:ext uri="{9D8B030D-6E8A-4147-A177-3AD203B41FA5}">
                      <a16:colId xmlns:a16="http://schemas.microsoft.com/office/drawing/2014/main" val="20002"/>
                    </a:ext>
                  </a:extLst>
                </a:gridCol>
                <a:gridCol w="6858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1085850">
                  <a:extLst>
                    <a:ext uri="{9D8B030D-6E8A-4147-A177-3AD203B41FA5}">
                      <a16:colId xmlns:a16="http://schemas.microsoft.com/office/drawing/2014/main" val="20005"/>
                    </a:ext>
                  </a:extLst>
                </a:gridCol>
                <a:gridCol w="8801100">
                  <a:extLst>
                    <a:ext uri="{9D8B030D-6E8A-4147-A177-3AD203B41FA5}">
                      <a16:colId xmlns:a16="http://schemas.microsoft.com/office/drawing/2014/main" val="20006"/>
                    </a:ext>
                  </a:extLst>
                </a:gridCol>
              </a:tblGrid>
              <a:tr h="235115">
                <a:tc>
                  <a:txBody>
                    <a:bodyPr/>
                    <a:lstStyle/>
                    <a:p>
                      <a:pPr algn="l">
                        <a:buNone/>
                      </a:pPr>
                      <a:r>
                        <a:rPr sz="1050" b="1">
                          <a:solidFill>
                            <a:srgbClr val="2E3142"/>
                          </a:solidFill>
                          <a:latin typeface="210 OmniGothic 040"/>
                          <a:ea typeface="210 OmniGothic 040"/>
                          <a:cs typeface="210 OmniGothic 040"/>
                        </a:rPr>
                        <a:t>속성명</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가시성</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자료형</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크기</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NULLABLE</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기본값</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설명</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extLst>
                  <a:ext uri="{0D108BD9-81ED-4DB2-BD59-A6C34878D82A}">
                    <a16:rowId xmlns:a16="http://schemas.microsoft.com/office/drawing/2014/main" val="10000"/>
                  </a:ext>
                </a:extLst>
              </a:tr>
              <a:tr h="235115">
                <a:tc>
                  <a:txBody>
                    <a:bodyPr/>
                    <a:lstStyle/>
                    <a:p>
                      <a:pPr algn="l">
                        <a:buNone/>
                      </a:pPr>
                      <a:r>
                        <a:rPr sz="1050" b="0">
                          <a:solidFill>
                            <a:srgbClr val="2E3142"/>
                          </a:solidFill>
                          <a:latin typeface="Consolas"/>
                          <a:ea typeface="Consolas"/>
                          <a:cs typeface="Consolas"/>
                        </a:rPr>
                        <a:t>id</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int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NOT NULL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auto</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화선 식별자 (PK)</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1"/>
                  </a:ext>
                </a:extLst>
              </a:tr>
              <a:tr h="235115">
                <a:tc>
                  <a:txBody>
                    <a:bodyPr/>
                    <a:lstStyle/>
                    <a:p>
                      <a:pPr algn="l">
                        <a:buNone/>
                      </a:pPr>
                      <a:r>
                        <a:rPr sz="1050" b="0">
                          <a:solidFill>
                            <a:srgbClr val="2E3142"/>
                          </a:solidFill>
                          <a:latin typeface="Consolas"/>
                          <a:ea typeface="Consolas"/>
                          <a:cs typeface="Consolas"/>
                        </a:rPr>
                        <a:t>incident_id</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str</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20</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NOT NULL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N/A</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사건 ID (FK → incidents.id)</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2"/>
                  </a:ext>
                </a:extLst>
              </a:tr>
              <a:tr h="235115">
                <a:tc>
                  <a:txBody>
                    <a:bodyPr/>
                    <a:lstStyle/>
                    <a:p>
                      <a:pPr algn="l">
                        <a:buNone/>
                      </a:pPr>
                      <a:r>
                        <a:rPr sz="1050" b="0">
                          <a:solidFill>
                            <a:srgbClr val="2E3142"/>
                          </a:solidFill>
                          <a:latin typeface="Consolas"/>
                          <a:ea typeface="Consolas"/>
                          <a:cs typeface="Consolas"/>
                        </a:rPr>
                        <a:t>observed_at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datetime</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NOT NULL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N/A</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입력(관측) 시각</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3"/>
                  </a:ext>
                </a:extLst>
              </a:tr>
              <a:tr h="235115">
                <a:tc>
                  <a:txBody>
                    <a:bodyPr/>
                    <a:lstStyle/>
                    <a:p>
                      <a:pPr algn="l">
                        <a:buNone/>
                      </a:pPr>
                      <a:r>
                        <a:rPr sz="1050" b="0">
                          <a:solidFill>
                            <a:srgbClr val="2E3142"/>
                          </a:solidFill>
                          <a:latin typeface="Consolas"/>
                          <a:ea typeface="Consolas"/>
                          <a:cs typeface="Consolas"/>
                        </a:rPr>
                        <a:t>version_no</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int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NOT NULL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1</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화선 버전 (사건별 1, 2, 3 …, 2</a:t>
                      </a:r>
                      <a:r>
                        <a:rPr sz="1050" b="0">
                          <a:solidFill>
                            <a:srgbClr val="FF0000"/>
                          </a:solidFill>
                          <a:latin typeface="210 OmniGothic 040"/>
                          <a:ea typeface="210 OmniGothic 040"/>
                          <a:cs typeface="210 OmniGothic 040"/>
                        </a:rPr>
                        <a:t>1</a:t>
                      </a:r>
                      <a:r>
                        <a:rPr sz="1050" b="0">
                          <a:solidFill>
                            <a:srgbClr val="2E3142"/>
                          </a:solidFill>
                          <a:latin typeface="210 OmniGothic 040"/>
                          <a:ea typeface="210 OmniGothic 040"/>
                          <a:cs typeface="210 OmniGothic 040"/>
                        </a:rPr>
                        <a:t>쪽 v1·v2)</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306582776"/>
                  </a:ext>
                </a:extLst>
              </a:tr>
              <a:tr h="235115">
                <a:tc>
                  <a:txBody>
                    <a:bodyPr/>
                    <a:lstStyle/>
                    <a:p>
                      <a:pPr algn="l">
                        <a:buNone/>
                      </a:pPr>
                      <a:r>
                        <a:rPr sz="1050" b="0">
                          <a:solidFill>
                            <a:srgbClr val="2E3142"/>
                          </a:solidFill>
                          <a:latin typeface="Consolas"/>
                          <a:ea typeface="Consolas"/>
                          <a:cs typeface="Consolas"/>
                        </a:rPr>
                        <a:t>status</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PerimStatusEnum</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NOT NULL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유효</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상태 (유효 / 정정됨, 정정 시 이전 버전은 '정정됨'으로 보존)</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741069688"/>
                  </a:ext>
                </a:extLst>
              </a:tr>
              <a:tr h="235115">
                <a:tc>
                  <a:txBody>
                    <a:bodyPr/>
                    <a:lstStyle/>
                    <a:p>
                      <a:pPr algn="l">
                        <a:buNone/>
                      </a:pPr>
                      <a:r>
                        <a:rPr sz="1050" b="0">
                          <a:solidFill>
                            <a:srgbClr val="2E3142"/>
                          </a:solidFill>
                          <a:latin typeface="Consolas"/>
                          <a:ea typeface="Consolas"/>
                          <a:cs typeface="Consolas"/>
                        </a:rPr>
                        <a:t>geom</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Polygon</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NOT NULL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N/A</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실측 연소 범위 (EPSG:5179)</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4"/>
                  </a:ext>
                </a:extLst>
              </a:tr>
              <a:tr h="235115">
                <a:tc>
                  <a:txBody>
                    <a:bodyPr/>
                    <a:lstStyle/>
                    <a:p>
                      <a:pPr algn="l">
                        <a:buNone/>
                      </a:pPr>
                      <a:r>
                        <a:rPr sz="1050" b="0">
                          <a:solidFill>
                            <a:srgbClr val="2E3142"/>
                          </a:solidFill>
                          <a:latin typeface="Consolas"/>
                          <a:ea typeface="Consolas"/>
                          <a:cs typeface="Consolas"/>
                        </a:rPr>
                        <a:t>area_ha</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float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NOT NULL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N/A</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면적 (ha)</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5"/>
                  </a:ext>
                </a:extLst>
              </a:tr>
              <a:tr h="235115">
                <a:tc>
                  <a:txBody>
                    <a:bodyPr/>
                    <a:lstStyle/>
                    <a:p>
                      <a:pPr algn="l">
                        <a:buNone/>
                      </a:pPr>
                      <a:r>
                        <a:rPr sz="1050" b="0">
                          <a:solidFill>
                            <a:srgbClr val="2E3142"/>
                          </a:solidFill>
                          <a:latin typeface="Consolas"/>
                          <a:ea typeface="Consolas"/>
                          <a:cs typeface="Consolas"/>
                        </a:rPr>
                        <a:t>source</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str</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20</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NOT NULL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N/A</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입력 방식 (지도 그리기 / GeoJSON)</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6"/>
                  </a:ext>
                </a:extLst>
              </a:tr>
              <a:tr h="235115">
                <a:tc>
                  <a:txBody>
                    <a:bodyPr/>
                    <a:lstStyle/>
                    <a:p>
                      <a:pPr algn="l">
                        <a:buNone/>
                      </a:pPr>
                      <a:r>
                        <a:rPr sz="1050" b="0">
                          <a:solidFill>
                            <a:srgbClr val="2E3142"/>
                          </a:solidFill>
                          <a:latin typeface="Consolas"/>
                          <a:ea typeface="Consolas"/>
                          <a:cs typeface="Consolas"/>
                        </a:rPr>
                        <a:t>reported_by</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int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NOT NULL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N/A</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입력자 (FK → users.id)</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100979772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84" name="Picture 2"/>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700" y="-12700"/>
            <a:ext cx="18313400" cy="1638300"/>
          </a:xfrm>
          <a:prstGeom prst="rect">
            <a:avLst/>
          </a:prstGeom>
        </p:spPr>
      </p:pic>
      <p:pic>
        <p:nvPicPr>
          <p:cNvPr id="5285" name="Picture 4"/>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28" y="1618343"/>
            <a:ext cx="18313400" cy="8699500"/>
          </a:xfrm>
          <a:prstGeom prst="rect">
            <a:avLst/>
          </a:prstGeom>
        </p:spPr>
      </p:pic>
      <p:pic>
        <p:nvPicPr>
          <p:cNvPr id="5286" name="Picture 5"/>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58800" y="9271000"/>
            <a:ext cx="17170400" cy="50800"/>
          </a:xfrm>
          <a:prstGeom prst="rect">
            <a:avLst/>
          </a:prstGeom>
        </p:spPr>
      </p:pic>
      <p:pic>
        <p:nvPicPr>
          <p:cNvPr id="5287" name="Picture 3"/>
          <p:cNvPicPr>
            <a:picLocks noChangeAspect="1"/>
          </p:cNvPicPr>
          <p:nvPr/>
        </p:nvPicPr>
        <p:blipFill>
          <a:blip>
            <a:extLst>
              <a:ext uri="{96DAC541-7B7A-43D3-8B79-37D633B846F1}">
                <asvg:svgBlip xmlns:asvg="http://schemas.microsoft.com/office/drawing/2016/SVG/main" r:embed="rId6"/>
              </a:ext>
            </a:extLst>
          </a:blip>
          <a:srcRect b="43005"/>
          <a:stretch>
            <a:fillRect/>
          </a:stretch>
        </p:blipFill>
        <p:spPr>
          <a:xfrm>
            <a:off x="15443200" y="228600"/>
            <a:ext cx="1384300" cy="1397000"/>
          </a:xfrm>
          <a:prstGeom prst="rect">
            <a:avLst/>
          </a:prstGeom>
        </p:spPr>
      </p:pic>
      <p:sp>
        <p:nvSpPr>
          <p:cNvPr id="5273" name="Title">
            <a:extLst>
              <a:ext uri="{FF2B5EF4-FFF2-40B4-BE49-F238E27FC236}">
                <a16:creationId xmlns:a16="http://schemas.microsoft.com/office/drawing/2014/main" id="{8E001DAD-562D-4D54-A524-02BE71E564C0}"/>
              </a:ext>
            </a:extLst>
          </p:cNvPr>
          <p:cNvSpPr>
            <a:spLocks noGrp="1"/>
          </p:cNvSpPr>
          <p:nvPr/>
        </p:nvSpPr>
        <p:spPr>
          <a:xfrm>
            <a:off x="822960" y="384048"/>
            <a:ext cx="13258800" cy="877824"/>
          </a:xfrm>
          <a:prstGeom prst="rect">
            <a:avLst/>
          </a:prstGeom>
          <a:noFill/>
        </p:spPr>
        <p:txBody>
          <a:bodyPr wrap="square" lIns="0" tIns="0" rIns="0" bIns="0" anchor="ctr">
            <a:spAutoFit/>
          </a:bodyPr>
          <a:lstStyle/>
          <a:p>
            <a:pPr algn="l">
              <a:buNone/>
            </a:pPr>
            <a:r>
              <a:rPr sz="4400" b="0">
                <a:solidFill>
                  <a:srgbClr val="FAA95A"/>
                </a:solidFill>
                <a:latin typeface="210 OmniGothic 050"/>
                <a:ea typeface="210 OmniGothic 050"/>
                <a:cs typeface="210 OmniGothic 050"/>
              </a:rPr>
              <a:t>05. 클래스 다이어그램</a:t>
            </a:r>
          </a:p>
        </p:txBody>
      </p:sp>
      <p:sp>
        <p:nvSpPr>
          <p:cNvPr id="5274" name="Subtitle">
            <a:extLst>
              <a:ext uri="{FF2B5EF4-FFF2-40B4-BE49-F238E27FC236}">
                <a16:creationId xmlns:a16="http://schemas.microsoft.com/office/drawing/2014/main" id="{8BE40406-AEF2-4845-8509-1BEB882DF2D3}"/>
              </a:ext>
            </a:extLst>
          </p:cNvPr>
          <p:cNvSpPr>
            <a:spLocks noGrp="1"/>
          </p:cNvSpPr>
          <p:nvPr/>
        </p:nvSpPr>
        <p:spPr>
          <a:xfrm>
            <a:off x="822960" y="1764792"/>
            <a:ext cx="16642080" cy="502920"/>
          </a:xfrm>
          <a:prstGeom prst="rect">
            <a:avLst/>
          </a:prstGeom>
          <a:noFill/>
        </p:spPr>
        <p:txBody>
          <a:bodyPr wrap="square" lIns="0" tIns="0" rIns="0" bIns="0" anchor="ctr">
            <a:spAutoFit/>
          </a:bodyPr>
          <a:lstStyle/>
          <a:p>
            <a:pPr algn="ctr">
              <a:buNone/>
            </a:pPr>
            <a:r>
              <a:rPr sz="2600" b="1">
                <a:solidFill>
                  <a:srgbClr val="363A52"/>
                </a:solidFill>
                <a:latin typeface="210 OmniGothic 040"/>
                <a:ea typeface="210 OmniGothic 040"/>
                <a:cs typeface="210 OmniGothic 040"/>
              </a:rPr>
              <a:t>1. 속성 정의 – </a:t>
            </a:r>
            <a:r>
              <a:rPr sz="2600" b="1">
                <a:solidFill>
                  <a:srgbClr val="FAA95A"/>
                </a:solidFill>
                <a:latin typeface="210 OmniGothic 040"/>
                <a:ea typeface="210 OmniGothic 040"/>
                <a:cs typeface="210 OmniGothic 040"/>
              </a:rPr>
              <a:t>도메인 엔티티 (설계)</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idx="12"/>
          </p:nvPr>
        </p:nvSpPr>
        <p:spPr/>
        <p:txBody>
          <a:bodyPr/>
          <a:lstStyle/>
          <a:p>
            <a:fld id="{B6F15528-21DE-4FAA-801E-634DDDAF4B2B}" type="slidenum">
              <a:t>53</a:t>
            </a:fld>
            <a:endParaRPr/>
          </a:p>
        </p:txBody>
      </p:sp>
      <p:sp>
        <p:nvSpPr>
          <p:cNvPr id="5275" name="TextBox 5274">
            <a:extLst>
              <a:ext uri="{FF2B5EF4-FFF2-40B4-BE49-F238E27FC236}">
                <a16:creationId xmlns:a16="http://schemas.microsoft.com/office/drawing/2014/main" id="{8A2D9264-AA45-4D18-A697-828243F674FF}"/>
              </a:ext>
            </a:extLst>
          </p:cNvPr>
          <p:cNvSpPr>
            <a:spLocks noGrp="1"/>
          </p:cNvSpPr>
          <p:nvPr/>
        </p:nvSpPr>
        <p:spPr>
          <a:xfrm>
            <a:off x="822960" y="2395728"/>
            <a:ext cx="11430000" cy="301752"/>
          </a:xfrm>
          <a:prstGeom prst="rect">
            <a:avLst/>
          </a:prstGeom>
          <a:noFill/>
        </p:spPr>
        <p:txBody>
          <a:bodyPr wrap="square" lIns="0" tIns="0" rIns="0" bIns="0" anchor="t">
            <a:spAutoFit/>
          </a:bodyPr>
          <a:lstStyle/>
          <a:p>
            <a:pPr algn="l">
              <a:buNone/>
            </a:pPr>
            <a:r>
              <a:rPr sz="1500" b="1">
                <a:solidFill>
                  <a:srgbClr val="2E3142"/>
                </a:solidFill>
                <a:latin typeface="210 OmniGothic 040"/>
                <a:ea typeface="210 OmniGothic 040"/>
                <a:cs typeface="210 OmniGothic 040"/>
              </a:rPr>
              <a:t>IntakeRecord 클래스</a:t>
            </a:r>
            <a:r>
              <a:rPr sz="1250" b="0">
                <a:solidFill>
                  <a:srgbClr val="6B7080"/>
                </a:solidFill>
                <a:latin typeface="210 OmniGothic 040"/>
                <a:ea typeface="210 OmniGothic 040"/>
                <a:cs typeface="210 OmniGothic 040"/>
              </a:rPr>
              <a:t>  기관별 접수 기록(상황 보고자가 산불 상황 보고 때 입력)</a:t>
            </a:r>
          </a:p>
        </p:txBody>
      </p:sp>
      <p:graphicFrame>
        <p:nvGraphicFramePr>
          <p:cNvPr id="5292" name="Table 5275"/>
          <p:cNvGraphicFramePr/>
          <p:nvPr/>
        </p:nvGraphicFramePr>
        <p:xfrm>
          <a:off x="822960" y="2727655"/>
          <a:ext cx="16459200" cy="1810512"/>
        </p:xfrm>
        <a:graphic>
          <a:graphicData uri="http://schemas.openxmlformats.org/drawingml/2006/table">
            <a:tbl>
              <a:tblPr>
                <a:tableStyleId>{2D5ABB26-0587-4C30-8999-92F81FD0307C}</a:tableStyleId>
              </a:tblPr>
              <a:tblGrid>
                <a:gridCol w="2000250">
                  <a:extLst>
                    <a:ext uri="{9D8B030D-6E8A-4147-A177-3AD203B41FA5}">
                      <a16:colId xmlns:a16="http://schemas.microsoft.com/office/drawing/2014/main" val="20000"/>
                    </a:ext>
                  </a:extLst>
                </a:gridCol>
                <a:gridCol w="971550">
                  <a:extLst>
                    <a:ext uri="{9D8B030D-6E8A-4147-A177-3AD203B41FA5}">
                      <a16:colId xmlns:a16="http://schemas.microsoft.com/office/drawing/2014/main" val="20001"/>
                    </a:ext>
                  </a:extLst>
                </a:gridCol>
                <a:gridCol w="1543050">
                  <a:extLst>
                    <a:ext uri="{9D8B030D-6E8A-4147-A177-3AD203B41FA5}">
                      <a16:colId xmlns:a16="http://schemas.microsoft.com/office/drawing/2014/main" val="20002"/>
                    </a:ext>
                  </a:extLst>
                </a:gridCol>
                <a:gridCol w="6858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1085850">
                  <a:extLst>
                    <a:ext uri="{9D8B030D-6E8A-4147-A177-3AD203B41FA5}">
                      <a16:colId xmlns:a16="http://schemas.microsoft.com/office/drawing/2014/main" val="20005"/>
                    </a:ext>
                  </a:extLst>
                </a:gridCol>
                <a:gridCol w="8801100">
                  <a:extLst>
                    <a:ext uri="{9D8B030D-6E8A-4147-A177-3AD203B41FA5}">
                      <a16:colId xmlns:a16="http://schemas.microsoft.com/office/drawing/2014/main" val="20006"/>
                    </a:ext>
                  </a:extLst>
                </a:gridCol>
              </a:tblGrid>
              <a:tr h="301752">
                <a:tc>
                  <a:txBody>
                    <a:bodyPr/>
                    <a:lstStyle/>
                    <a:p>
                      <a:pPr algn="l">
                        <a:buNone/>
                      </a:pPr>
                      <a:r>
                        <a:rPr sz="1050" b="1">
                          <a:solidFill>
                            <a:srgbClr val="2E3142"/>
                          </a:solidFill>
                          <a:latin typeface="210 OmniGothic 040"/>
                          <a:ea typeface="210 OmniGothic 040"/>
                          <a:cs typeface="210 OmniGothic 040"/>
                        </a:rPr>
                        <a:t>속성명</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가시성</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자료형</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크기</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NULLABLE</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기본값</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설명</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extLst>
                  <a:ext uri="{0D108BD9-81ED-4DB2-BD59-A6C34878D82A}">
                    <a16:rowId xmlns:a16="http://schemas.microsoft.com/office/drawing/2014/main" val="10000"/>
                  </a:ext>
                </a:extLst>
              </a:tr>
              <a:tr h="301752">
                <a:tc>
                  <a:txBody>
                    <a:bodyPr/>
                    <a:lstStyle/>
                    <a:p>
                      <a:pPr algn="l">
                        <a:buNone/>
                      </a:pPr>
                      <a:r>
                        <a:rPr sz="1050" b="0">
                          <a:solidFill>
                            <a:srgbClr val="2E3142"/>
                          </a:solidFill>
                          <a:latin typeface="Consolas"/>
                          <a:ea typeface="Consolas"/>
                          <a:cs typeface="Consolas"/>
                        </a:rPr>
                        <a:t>id</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int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NOT NULL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auto</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접수 기록 식별자 (PK)</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1"/>
                  </a:ext>
                </a:extLst>
              </a:tr>
              <a:tr h="301752">
                <a:tc>
                  <a:txBody>
                    <a:bodyPr/>
                    <a:lstStyle/>
                    <a:p>
                      <a:pPr algn="l">
                        <a:buNone/>
                      </a:pPr>
                      <a:r>
                        <a:rPr sz="1050" b="0">
                          <a:solidFill>
                            <a:srgbClr val="2E3142"/>
                          </a:solidFill>
                          <a:latin typeface="Consolas"/>
                          <a:ea typeface="Consolas"/>
                          <a:cs typeface="Consolas"/>
                        </a:rPr>
                        <a:t>incident_id</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str</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20</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NOT NULL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N/A</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사건 ID (FK → incidents.id)</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2"/>
                  </a:ext>
                </a:extLst>
              </a:tr>
              <a:tr h="301752">
                <a:tc>
                  <a:txBody>
                    <a:bodyPr/>
                    <a:lstStyle/>
                    <a:p>
                      <a:pPr algn="l">
                        <a:buNone/>
                      </a:pPr>
                      <a:r>
                        <a:rPr sz="1050" b="0">
                          <a:solidFill>
                            <a:srgbClr val="2E3142"/>
                          </a:solidFill>
                          <a:latin typeface="Consolas"/>
                          <a:ea typeface="Consolas"/>
                          <a:cs typeface="Consolas"/>
                        </a:rPr>
                        <a:t>org_name</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str</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100</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NOT NULL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N/A</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접수 기관명</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3"/>
                  </a:ext>
                </a:extLst>
              </a:tr>
              <a:tr h="301752">
                <a:tc>
                  <a:txBody>
                    <a:bodyPr/>
                    <a:lstStyle/>
                    <a:p>
                      <a:pPr algn="l">
                        <a:buNone/>
                      </a:pPr>
                      <a:r>
                        <a:rPr sz="1050" b="0">
                          <a:solidFill>
                            <a:srgbClr val="2E3142"/>
                          </a:solidFill>
                          <a:latin typeface="Consolas"/>
                          <a:ea typeface="Consolas"/>
                          <a:cs typeface="Consolas"/>
                        </a:rPr>
                        <a:t>received_at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datetime</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NOT NULL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N/A</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접수 시각</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4"/>
                  </a:ext>
                </a:extLst>
              </a:tr>
              <a:tr h="301752">
                <a:tc>
                  <a:txBody>
                    <a:bodyPr/>
                    <a:lstStyle/>
                    <a:p>
                      <a:pPr algn="l">
                        <a:buNone/>
                      </a:pPr>
                      <a:r>
                        <a:rPr sz="1050" b="0">
                          <a:solidFill>
                            <a:srgbClr val="2E3142"/>
                          </a:solidFill>
                          <a:latin typeface="Consolas"/>
                          <a:ea typeface="Consolas"/>
                          <a:cs typeface="Consolas"/>
                        </a:rPr>
                        <a:t>channel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str</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30</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NULLABLE</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N/A</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접수 경로 (119, 산림청 신고 등)</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5"/>
                  </a:ext>
                </a:extLst>
              </a:tr>
            </a:tbl>
          </a:graphicData>
        </a:graphic>
      </p:graphicFrame>
      <p:sp>
        <p:nvSpPr>
          <p:cNvPr id="5277" name="TextBox 5276">
            <a:extLst>
              <a:ext uri="{FF2B5EF4-FFF2-40B4-BE49-F238E27FC236}">
                <a16:creationId xmlns:a16="http://schemas.microsoft.com/office/drawing/2014/main" id="{8FC2D193-FD79-4F29-8E96-244696EC0735}"/>
              </a:ext>
            </a:extLst>
          </p:cNvPr>
          <p:cNvSpPr>
            <a:spLocks noGrp="1"/>
          </p:cNvSpPr>
          <p:nvPr/>
        </p:nvSpPr>
        <p:spPr>
          <a:xfrm>
            <a:off x="822960" y="4678984"/>
            <a:ext cx="11430000" cy="301752"/>
          </a:xfrm>
          <a:prstGeom prst="rect">
            <a:avLst/>
          </a:prstGeom>
          <a:noFill/>
        </p:spPr>
        <p:txBody>
          <a:bodyPr wrap="square" lIns="0" tIns="0" rIns="0" bIns="0" anchor="t">
            <a:spAutoFit/>
          </a:bodyPr>
          <a:lstStyle/>
          <a:p>
            <a:pPr algn="l">
              <a:buNone/>
            </a:pPr>
            <a:r>
              <a:rPr sz="1500" b="1">
                <a:solidFill>
                  <a:srgbClr val="2E3142"/>
                </a:solidFill>
                <a:latin typeface="210 OmniGothic 040"/>
                <a:ea typeface="210 OmniGothic 040"/>
                <a:cs typeface="210 OmniGothic 040"/>
              </a:rPr>
              <a:t>WeatherSnapshot 클래스</a:t>
            </a:r>
            <a:r>
              <a:rPr sz="1250" b="0">
                <a:solidFill>
                  <a:srgbClr val="6B7080"/>
                </a:solidFill>
                <a:latin typeface="210 OmniGothic 040"/>
                <a:ea typeface="210 OmniGothic 040"/>
                <a:cs typeface="210 OmniGothic 040"/>
              </a:rPr>
              <a:t>  기상 수집값(캐시)</a:t>
            </a:r>
          </a:p>
        </p:txBody>
      </p:sp>
      <p:graphicFrame>
        <p:nvGraphicFramePr>
          <p:cNvPr id="5294" name="Table 5277"/>
          <p:cNvGraphicFramePr/>
          <p:nvPr/>
        </p:nvGraphicFramePr>
        <p:xfrm>
          <a:off x="822960" y="5010912"/>
          <a:ext cx="16459200" cy="2414016"/>
        </p:xfrm>
        <a:graphic>
          <a:graphicData uri="http://schemas.openxmlformats.org/drawingml/2006/table">
            <a:tbl>
              <a:tblPr>
                <a:tableStyleId>{2D5ABB26-0587-4C30-8999-92F81FD0307C}</a:tableStyleId>
              </a:tblPr>
              <a:tblGrid>
                <a:gridCol w="2000250">
                  <a:extLst>
                    <a:ext uri="{9D8B030D-6E8A-4147-A177-3AD203B41FA5}">
                      <a16:colId xmlns:a16="http://schemas.microsoft.com/office/drawing/2014/main" val="20000"/>
                    </a:ext>
                  </a:extLst>
                </a:gridCol>
                <a:gridCol w="971550">
                  <a:extLst>
                    <a:ext uri="{9D8B030D-6E8A-4147-A177-3AD203B41FA5}">
                      <a16:colId xmlns:a16="http://schemas.microsoft.com/office/drawing/2014/main" val="20001"/>
                    </a:ext>
                  </a:extLst>
                </a:gridCol>
                <a:gridCol w="1543050">
                  <a:extLst>
                    <a:ext uri="{9D8B030D-6E8A-4147-A177-3AD203B41FA5}">
                      <a16:colId xmlns:a16="http://schemas.microsoft.com/office/drawing/2014/main" val="20002"/>
                    </a:ext>
                  </a:extLst>
                </a:gridCol>
                <a:gridCol w="6858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1085850">
                  <a:extLst>
                    <a:ext uri="{9D8B030D-6E8A-4147-A177-3AD203B41FA5}">
                      <a16:colId xmlns:a16="http://schemas.microsoft.com/office/drawing/2014/main" val="20005"/>
                    </a:ext>
                  </a:extLst>
                </a:gridCol>
                <a:gridCol w="8801100">
                  <a:extLst>
                    <a:ext uri="{9D8B030D-6E8A-4147-A177-3AD203B41FA5}">
                      <a16:colId xmlns:a16="http://schemas.microsoft.com/office/drawing/2014/main" val="20006"/>
                    </a:ext>
                  </a:extLst>
                </a:gridCol>
              </a:tblGrid>
              <a:tr h="301752">
                <a:tc>
                  <a:txBody>
                    <a:bodyPr/>
                    <a:lstStyle/>
                    <a:p>
                      <a:pPr algn="l">
                        <a:buNone/>
                      </a:pPr>
                      <a:r>
                        <a:rPr sz="1050" b="1">
                          <a:solidFill>
                            <a:srgbClr val="2E3142"/>
                          </a:solidFill>
                          <a:latin typeface="210 OmniGothic 040"/>
                          <a:ea typeface="210 OmniGothic 040"/>
                          <a:cs typeface="210 OmniGothic 040"/>
                        </a:rPr>
                        <a:t>속성명</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가시성</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자료형</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크기</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NULLABLE</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기본값</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설명</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extLst>
                  <a:ext uri="{0D108BD9-81ED-4DB2-BD59-A6C34878D82A}">
                    <a16:rowId xmlns:a16="http://schemas.microsoft.com/office/drawing/2014/main" val="10000"/>
                  </a:ext>
                </a:extLst>
              </a:tr>
              <a:tr h="301752">
                <a:tc>
                  <a:txBody>
                    <a:bodyPr/>
                    <a:lstStyle/>
                    <a:p>
                      <a:pPr algn="l">
                        <a:buNone/>
                      </a:pPr>
                      <a:r>
                        <a:rPr sz="1050" b="0">
                          <a:solidFill>
                            <a:srgbClr val="2E3142"/>
                          </a:solidFill>
                          <a:latin typeface="Consolas"/>
                          <a:ea typeface="Consolas"/>
                          <a:cs typeface="Consolas"/>
                        </a:rPr>
                        <a:t>id</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int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NOT NULL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auto</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기상 기록 식별자 (PK)</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1"/>
                  </a:ext>
                </a:extLst>
              </a:tr>
              <a:tr h="301752">
                <a:tc>
                  <a:txBody>
                    <a:bodyPr/>
                    <a:lstStyle/>
                    <a:p>
                      <a:pPr algn="l">
                        <a:buNone/>
                      </a:pPr>
                      <a:r>
                        <a:rPr sz="1050" b="0">
                          <a:solidFill>
                            <a:srgbClr val="2E3142"/>
                          </a:solidFill>
                          <a:latin typeface="Consolas"/>
                          <a:ea typeface="Consolas"/>
                          <a:cs typeface="Consolas"/>
                        </a:rPr>
                        <a:t>incident_id</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str</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20</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NOT NULL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N/A</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사건 ID (FK → incidents.id)</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2"/>
                  </a:ext>
                </a:extLst>
              </a:tr>
              <a:tr h="301752">
                <a:tc>
                  <a:txBody>
                    <a:bodyPr/>
                    <a:lstStyle/>
                    <a:p>
                      <a:pPr algn="l">
                        <a:buNone/>
                      </a:pPr>
                      <a:r>
                        <a:rPr sz="1050" b="0">
                          <a:solidFill>
                            <a:srgbClr val="2E3142"/>
                          </a:solidFill>
                          <a:latin typeface="Consolas"/>
                          <a:ea typeface="Consolas"/>
                          <a:cs typeface="Consolas"/>
                        </a:rPr>
                        <a:t>valid_at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datetime</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NOT NULL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N/A</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예보·관측 기준 시각</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3"/>
                  </a:ext>
                </a:extLst>
              </a:tr>
              <a:tr h="301752">
                <a:tc>
                  <a:txBody>
                    <a:bodyPr/>
                    <a:lstStyle/>
                    <a:p>
                      <a:pPr algn="l">
                        <a:buNone/>
                      </a:pPr>
                      <a:r>
                        <a:rPr sz="1050" b="0">
                          <a:solidFill>
                            <a:srgbClr val="2E3142"/>
                          </a:solidFill>
                          <a:latin typeface="Consolas"/>
                          <a:ea typeface="Consolas"/>
                          <a:cs typeface="Consolas"/>
                        </a:rPr>
                        <a:t>wind_speed</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float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NOT NULL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N/A</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풍속 (m/s)</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4"/>
                  </a:ext>
                </a:extLst>
              </a:tr>
              <a:tr h="301752">
                <a:tc>
                  <a:txBody>
                    <a:bodyPr/>
                    <a:lstStyle/>
                    <a:p>
                      <a:pPr algn="l">
                        <a:buNone/>
                      </a:pPr>
                      <a:r>
                        <a:rPr sz="1050" b="0">
                          <a:solidFill>
                            <a:srgbClr val="2E3142"/>
                          </a:solidFill>
                          <a:latin typeface="Consolas"/>
                          <a:ea typeface="Consolas"/>
                          <a:cs typeface="Consolas"/>
                        </a:rPr>
                        <a:t>wind_dir</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int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NOT NULL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N/A</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풍향 (°, 불어오는 방향)</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5"/>
                  </a:ext>
                </a:extLst>
              </a:tr>
              <a:tr h="301752">
                <a:tc>
                  <a:txBody>
                    <a:bodyPr/>
                    <a:lstStyle/>
                    <a:p>
                      <a:pPr algn="l">
                        <a:buNone/>
                      </a:pPr>
                      <a:r>
                        <a:rPr sz="1050" b="0">
                          <a:solidFill>
                            <a:srgbClr val="2E3142"/>
                          </a:solidFill>
                          <a:latin typeface="Consolas"/>
                          <a:ea typeface="Consolas"/>
                          <a:cs typeface="Consolas"/>
                        </a:rPr>
                        <a:t>humidity</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int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NULLABLE</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N/A</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상대습도 (%)</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6"/>
                  </a:ext>
                </a:extLst>
              </a:tr>
              <a:tr h="301752">
                <a:tc>
                  <a:txBody>
                    <a:bodyPr/>
                    <a:lstStyle/>
                    <a:p>
                      <a:pPr algn="l">
                        <a:buNone/>
                      </a:pPr>
                      <a:r>
                        <a:rPr sz="1050" b="0">
                          <a:solidFill>
                            <a:srgbClr val="2E3142"/>
                          </a:solidFill>
                          <a:latin typeface="Consolas"/>
                          <a:ea typeface="Consolas"/>
                          <a:cs typeface="Consolas"/>
                        </a:rPr>
                        <a:t>visibility</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int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NULLABLE</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N/A</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시정 (m)</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132353737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89" name="Picture 2"/>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700" y="-12700"/>
            <a:ext cx="18313400" cy="1638300"/>
          </a:xfrm>
          <a:prstGeom prst="rect">
            <a:avLst/>
          </a:prstGeom>
        </p:spPr>
      </p:pic>
      <p:pic>
        <p:nvPicPr>
          <p:cNvPr id="5290" name="Picture 4"/>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28" y="1618343"/>
            <a:ext cx="18313400" cy="8699500"/>
          </a:xfrm>
          <a:prstGeom prst="rect">
            <a:avLst/>
          </a:prstGeom>
        </p:spPr>
      </p:pic>
      <p:pic>
        <p:nvPicPr>
          <p:cNvPr id="5291" name="Picture 5"/>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58800" y="9271000"/>
            <a:ext cx="17170400" cy="50800"/>
          </a:xfrm>
          <a:prstGeom prst="rect">
            <a:avLst/>
          </a:prstGeom>
        </p:spPr>
      </p:pic>
      <p:pic>
        <p:nvPicPr>
          <p:cNvPr id="5292" name="Picture 3"/>
          <p:cNvPicPr>
            <a:picLocks noChangeAspect="1"/>
          </p:cNvPicPr>
          <p:nvPr/>
        </p:nvPicPr>
        <p:blipFill>
          <a:blip>
            <a:extLst>
              <a:ext uri="{96DAC541-7B7A-43D3-8B79-37D633B846F1}">
                <asvg:svgBlip xmlns:asvg="http://schemas.microsoft.com/office/drawing/2016/SVG/main" r:embed="rId6"/>
              </a:ext>
            </a:extLst>
          </a:blip>
          <a:srcRect b="43005"/>
          <a:stretch>
            <a:fillRect/>
          </a:stretch>
        </p:blipFill>
        <p:spPr>
          <a:xfrm>
            <a:off x="15443200" y="228600"/>
            <a:ext cx="1384300" cy="1397000"/>
          </a:xfrm>
          <a:prstGeom prst="rect">
            <a:avLst/>
          </a:prstGeom>
        </p:spPr>
      </p:pic>
      <p:sp>
        <p:nvSpPr>
          <p:cNvPr id="5278" name="Title">
            <a:extLst>
              <a:ext uri="{FF2B5EF4-FFF2-40B4-BE49-F238E27FC236}">
                <a16:creationId xmlns:a16="http://schemas.microsoft.com/office/drawing/2014/main" id="{865E6CCB-2D3D-435E-A6F3-E0757DBD0229}"/>
              </a:ext>
            </a:extLst>
          </p:cNvPr>
          <p:cNvSpPr>
            <a:spLocks noGrp="1"/>
          </p:cNvSpPr>
          <p:nvPr/>
        </p:nvSpPr>
        <p:spPr>
          <a:xfrm>
            <a:off x="822960" y="384048"/>
            <a:ext cx="13258800" cy="877824"/>
          </a:xfrm>
          <a:prstGeom prst="rect">
            <a:avLst/>
          </a:prstGeom>
          <a:noFill/>
        </p:spPr>
        <p:txBody>
          <a:bodyPr wrap="square" lIns="0" tIns="0" rIns="0" bIns="0" anchor="ctr">
            <a:spAutoFit/>
          </a:bodyPr>
          <a:lstStyle/>
          <a:p>
            <a:pPr algn="l">
              <a:buNone/>
            </a:pPr>
            <a:r>
              <a:rPr sz="4400" b="0">
                <a:solidFill>
                  <a:srgbClr val="FAA95A"/>
                </a:solidFill>
                <a:latin typeface="210 OmniGothic 050"/>
                <a:ea typeface="210 OmniGothic 050"/>
                <a:cs typeface="210 OmniGothic 050"/>
              </a:rPr>
              <a:t>05. 클래스 다이어그램</a:t>
            </a:r>
          </a:p>
        </p:txBody>
      </p:sp>
      <p:sp>
        <p:nvSpPr>
          <p:cNvPr id="5279" name="Subtitle">
            <a:extLst>
              <a:ext uri="{FF2B5EF4-FFF2-40B4-BE49-F238E27FC236}">
                <a16:creationId xmlns:a16="http://schemas.microsoft.com/office/drawing/2014/main" id="{6E5F1D0A-EADD-4166-8AA5-4E91A1AA3D5B}"/>
              </a:ext>
            </a:extLst>
          </p:cNvPr>
          <p:cNvSpPr>
            <a:spLocks noGrp="1"/>
          </p:cNvSpPr>
          <p:nvPr/>
        </p:nvSpPr>
        <p:spPr>
          <a:xfrm>
            <a:off x="822960" y="1764792"/>
            <a:ext cx="16642080" cy="502920"/>
          </a:xfrm>
          <a:prstGeom prst="rect">
            <a:avLst/>
          </a:prstGeom>
          <a:noFill/>
        </p:spPr>
        <p:txBody>
          <a:bodyPr wrap="square" lIns="0" tIns="0" rIns="0" bIns="0" anchor="ctr">
            <a:spAutoFit/>
          </a:bodyPr>
          <a:lstStyle/>
          <a:p>
            <a:pPr algn="ctr">
              <a:buNone/>
            </a:pPr>
            <a:r>
              <a:rPr sz="2600" b="1">
                <a:solidFill>
                  <a:srgbClr val="363A52"/>
                </a:solidFill>
                <a:latin typeface="210 OmniGothic 040"/>
                <a:ea typeface="210 OmniGothic 040"/>
                <a:cs typeface="210 OmniGothic 040"/>
              </a:rPr>
              <a:t>1. 속성 정의 – </a:t>
            </a:r>
            <a:r>
              <a:rPr sz="2600" b="1">
                <a:solidFill>
                  <a:srgbClr val="FAA95A"/>
                </a:solidFill>
                <a:latin typeface="210 OmniGothic 040"/>
                <a:ea typeface="210 OmniGothic 040"/>
                <a:cs typeface="210 OmniGothic 040"/>
              </a:rPr>
              <a:t>도메인 엔티티 (설계)</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idx="12"/>
          </p:nvPr>
        </p:nvSpPr>
        <p:spPr/>
        <p:txBody>
          <a:bodyPr/>
          <a:lstStyle/>
          <a:p>
            <a:fld id="{B6F15528-21DE-4FAA-801E-634DDDAF4B2B}" type="slidenum">
              <a:t>54</a:t>
            </a:fld>
            <a:endParaRPr/>
          </a:p>
        </p:txBody>
      </p:sp>
      <p:sp>
        <p:nvSpPr>
          <p:cNvPr id="5280" name="TextBox 5279">
            <a:extLst>
              <a:ext uri="{FF2B5EF4-FFF2-40B4-BE49-F238E27FC236}">
                <a16:creationId xmlns:a16="http://schemas.microsoft.com/office/drawing/2014/main" id="{9519C4CC-1EAC-4F66-B61B-A37932814046}"/>
              </a:ext>
            </a:extLst>
          </p:cNvPr>
          <p:cNvSpPr>
            <a:spLocks noGrp="1"/>
          </p:cNvSpPr>
          <p:nvPr/>
        </p:nvSpPr>
        <p:spPr>
          <a:xfrm>
            <a:off x="822960" y="2395728"/>
            <a:ext cx="11430000" cy="301752"/>
          </a:xfrm>
          <a:prstGeom prst="rect">
            <a:avLst/>
          </a:prstGeom>
          <a:noFill/>
        </p:spPr>
        <p:txBody>
          <a:bodyPr wrap="square" lIns="0" tIns="0" rIns="0" bIns="0" anchor="t">
            <a:spAutoFit/>
          </a:bodyPr>
          <a:lstStyle/>
          <a:p>
            <a:pPr algn="l">
              <a:buNone/>
            </a:pPr>
            <a:r>
              <a:rPr sz="1500" b="1">
                <a:solidFill>
                  <a:srgbClr val="2E3142"/>
                </a:solidFill>
                <a:latin typeface="210 OmniGothic 040"/>
                <a:ea typeface="210 OmniGothic 040"/>
                <a:cs typeface="210 OmniGothic 040"/>
              </a:rPr>
              <a:t>RiskAssessment 클래스</a:t>
            </a:r>
            <a:r>
              <a:rPr sz="1250" b="0">
                <a:solidFill>
                  <a:srgbClr val="6B7080"/>
                </a:solidFill>
                <a:latin typeface="210 OmniGothic 040"/>
                <a:ea typeface="210 OmniGothic 040"/>
                <a:cs typeface="210 OmniGothic 040"/>
              </a:rPr>
              <a:t>  산불 위험도</a:t>
            </a:r>
          </a:p>
        </p:txBody>
      </p:sp>
      <p:graphicFrame>
        <p:nvGraphicFramePr>
          <p:cNvPr id="5297" name="Table 5280"/>
          <p:cNvGraphicFramePr/>
          <p:nvPr/>
        </p:nvGraphicFramePr>
        <p:xfrm>
          <a:off x="822960" y="2727655"/>
          <a:ext cx="16459200" cy="3224424"/>
        </p:xfrm>
        <a:graphic>
          <a:graphicData uri="http://schemas.openxmlformats.org/drawingml/2006/table">
            <a:tbl>
              <a:tblPr>
                <a:tableStyleId>{2D5ABB26-0587-4C30-8999-92F81FD0307C}</a:tableStyleId>
              </a:tblPr>
              <a:tblGrid>
                <a:gridCol w="2000250">
                  <a:extLst>
                    <a:ext uri="{9D8B030D-6E8A-4147-A177-3AD203B41FA5}">
                      <a16:colId xmlns:a16="http://schemas.microsoft.com/office/drawing/2014/main" val="20000"/>
                    </a:ext>
                  </a:extLst>
                </a:gridCol>
                <a:gridCol w="971550">
                  <a:extLst>
                    <a:ext uri="{9D8B030D-6E8A-4147-A177-3AD203B41FA5}">
                      <a16:colId xmlns:a16="http://schemas.microsoft.com/office/drawing/2014/main" val="20001"/>
                    </a:ext>
                  </a:extLst>
                </a:gridCol>
                <a:gridCol w="1543050">
                  <a:extLst>
                    <a:ext uri="{9D8B030D-6E8A-4147-A177-3AD203B41FA5}">
                      <a16:colId xmlns:a16="http://schemas.microsoft.com/office/drawing/2014/main" val="20002"/>
                    </a:ext>
                  </a:extLst>
                </a:gridCol>
                <a:gridCol w="6858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1085850">
                  <a:extLst>
                    <a:ext uri="{9D8B030D-6E8A-4147-A177-3AD203B41FA5}">
                      <a16:colId xmlns:a16="http://schemas.microsoft.com/office/drawing/2014/main" val="20005"/>
                    </a:ext>
                  </a:extLst>
                </a:gridCol>
                <a:gridCol w="8801100">
                  <a:extLst>
                    <a:ext uri="{9D8B030D-6E8A-4147-A177-3AD203B41FA5}">
                      <a16:colId xmlns:a16="http://schemas.microsoft.com/office/drawing/2014/main" val="20006"/>
                    </a:ext>
                  </a:extLst>
                </a:gridCol>
              </a:tblGrid>
              <a:tr h="268702">
                <a:tc>
                  <a:txBody>
                    <a:bodyPr/>
                    <a:lstStyle/>
                    <a:p>
                      <a:pPr algn="l">
                        <a:buNone/>
                      </a:pPr>
                      <a:r>
                        <a:rPr sz="1050" b="1">
                          <a:solidFill>
                            <a:srgbClr val="2E3142"/>
                          </a:solidFill>
                          <a:latin typeface="210 OmniGothic 040"/>
                          <a:ea typeface="210 OmniGothic 040"/>
                          <a:cs typeface="210 OmniGothic 040"/>
                        </a:rPr>
                        <a:t>속성명</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가시성</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자료형</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크기</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NULLABLE</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기본값</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설명</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extLst>
                  <a:ext uri="{0D108BD9-81ED-4DB2-BD59-A6C34878D82A}">
                    <a16:rowId xmlns:a16="http://schemas.microsoft.com/office/drawing/2014/main" val="10000"/>
                  </a:ext>
                </a:extLst>
              </a:tr>
              <a:tr h="268702">
                <a:tc>
                  <a:txBody>
                    <a:bodyPr/>
                    <a:lstStyle/>
                    <a:p>
                      <a:pPr algn="l">
                        <a:buNone/>
                      </a:pPr>
                      <a:r>
                        <a:rPr sz="1050" b="0">
                          <a:solidFill>
                            <a:srgbClr val="2E3142"/>
                          </a:solidFill>
                          <a:latin typeface="Consolas"/>
                          <a:ea typeface="Consolas"/>
                          <a:cs typeface="Consolas"/>
                        </a:rPr>
                        <a:t>id</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int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NOT NULL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auto</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위험도 식별자 (PK)</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1"/>
                  </a:ext>
                </a:extLst>
              </a:tr>
              <a:tr h="268702">
                <a:tc>
                  <a:txBody>
                    <a:bodyPr/>
                    <a:lstStyle/>
                    <a:p>
                      <a:pPr algn="l">
                        <a:buNone/>
                      </a:pPr>
                      <a:r>
                        <a:rPr sz="1050" b="0">
                          <a:solidFill>
                            <a:srgbClr val="2E3142"/>
                          </a:solidFill>
                          <a:latin typeface="Consolas"/>
                          <a:ea typeface="Consolas"/>
                          <a:cs typeface="Consolas"/>
                        </a:rPr>
                        <a:t>incident_id</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str</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20</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NOT NULL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N/A</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사건 ID (FK → incidents.id)</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2"/>
                  </a:ext>
                </a:extLst>
              </a:tr>
              <a:tr h="268702">
                <a:tc>
                  <a:txBody>
                    <a:bodyPr/>
                    <a:lstStyle/>
                    <a:p>
                      <a:pPr algn="l">
                        <a:buNone/>
                      </a:pPr>
                      <a:r>
                        <a:rPr sz="1050" b="0">
                          <a:solidFill>
                            <a:srgbClr val="FF0000"/>
                          </a:solidFill>
                          <a:latin typeface="Consolas"/>
                          <a:ea typeface="Consolas"/>
                          <a:cs typeface="Consolas"/>
                        </a:rPr>
                        <a:t>run_id</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int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NOT NULL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N/A</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FF0000"/>
                          </a:solidFill>
                          <a:latin typeface="210 OmniGothic 040"/>
                          <a:ea typeface="210 OmniGothic 040"/>
                          <a:cs typeface="210 OmniGothic 040"/>
                        </a:rPr>
                        <a:t>계산에 쓴 확산 예측 (FK → prediction_runs.id, 예측 1회마다 1개)</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3"/>
                  </a:ext>
                </a:extLst>
              </a:tr>
              <a:tr h="268702">
                <a:tc>
                  <a:txBody>
                    <a:bodyPr/>
                    <a:lstStyle/>
                    <a:p>
                      <a:pPr algn="l">
                        <a:buNone/>
                      </a:pPr>
                      <a:r>
                        <a:rPr sz="1050" b="0">
                          <a:solidFill>
                            <a:srgbClr val="2E3142"/>
                          </a:solidFill>
                          <a:latin typeface="Consolas"/>
                          <a:ea typeface="Consolas"/>
                          <a:cs typeface="Consolas"/>
                        </a:rPr>
                        <a:t>score</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float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NOT NULL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N/A</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FF0000"/>
                          </a:solidFill>
                          <a:latin typeface="210 OmniGothic 040"/>
                          <a:ea typeface="210 OmniGothic 040"/>
                          <a:cs typeface="210 OmniGothic 040"/>
                        </a:rPr>
                        <a:t>위험도 R 1.00~5.00 = Σ(가중치 × 변수 등급) ÷ Σ가중치 (P5 범위 23개 변수, 소수 둘째 자리)</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4"/>
                  </a:ext>
                </a:extLst>
              </a:tr>
              <a:tr h="268702">
                <a:tc>
                  <a:txBody>
                    <a:bodyPr/>
                    <a:lstStyle/>
                    <a:p>
                      <a:pPr algn="l">
                        <a:buNone/>
                      </a:pPr>
                      <a:r>
                        <a:rPr sz="1050" b="0">
                          <a:solidFill>
                            <a:srgbClr val="FF0000"/>
                          </a:solidFill>
                          <a:latin typeface="Consolas"/>
                          <a:ea typeface="Consolas"/>
                          <a:cs typeface="Consolas"/>
                        </a:rPr>
                        <a:t>merged_ids</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JSON</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NULLABLE</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N/A</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FF0000"/>
                          </a:solidFill>
                          <a:latin typeface="210 OmniGothic 040"/>
                          <a:ea typeface="210 OmniGothic 040"/>
                          <a:cs typeface="210 OmniGothic 040"/>
                        </a:rPr>
                        <a:t>P5가 겹쳐 합집합으로 함께 계산한 산불 ID 목록 (없으면 NULL)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342572045"/>
                  </a:ext>
                </a:extLst>
              </a:tr>
              <a:tr h="268702">
                <a:tc>
                  <a:txBody>
                    <a:bodyPr/>
                    <a:lstStyle/>
                    <a:p>
                      <a:pPr algn="l">
                        <a:buNone/>
                      </a:pPr>
                      <a:r>
                        <a:rPr sz="1050" b="0">
                          <a:solidFill>
                            <a:srgbClr val="2E3142"/>
                          </a:solidFill>
                          <a:latin typeface="Consolas"/>
                          <a:ea typeface="Consolas"/>
                          <a:cs typeface="Consolas"/>
                        </a:rPr>
                        <a:t>weather_score</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float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NOT NULL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N/A</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기상 요인 점수 1~5 (가중치 0.3</a:t>
                      </a:r>
                      <a:r>
                        <a:rPr sz="1050" b="0">
                          <a:solidFill>
                            <a:srgbClr val="FF0000"/>
                          </a:solidFill>
                          <a:latin typeface="210 OmniGothic 040"/>
                          <a:ea typeface="210 OmniGothic 040"/>
                          <a:cs typeface="210 OmniGothic 040"/>
                        </a:rPr>
                        <a:t>72</a:t>
                      </a:r>
                      <a:r>
                        <a:rPr sz="1050" b="0">
                          <a:solidFill>
                            <a:srgbClr val="FF0000"/>
                          </a:solidFill>
                          <a:latin typeface="210 OmniGothic 040"/>
                          <a:ea typeface="210 OmniGothic 040"/>
                          <a:cs typeface="210 OmniGothic 040"/>
                        </a:rPr>
                        <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5"/>
                  </a:ext>
                </a:extLst>
              </a:tr>
              <a:tr h="268702">
                <a:tc>
                  <a:txBody>
                    <a:bodyPr/>
                    <a:lstStyle/>
                    <a:p>
                      <a:pPr algn="l">
                        <a:buNone/>
                      </a:pPr>
                      <a:r>
                        <a:rPr sz="1050" b="0">
                          <a:solidFill>
                            <a:srgbClr val="2E3142"/>
                          </a:solidFill>
                          <a:latin typeface="Consolas"/>
                          <a:ea typeface="Consolas"/>
                          <a:cs typeface="Consolas"/>
                        </a:rPr>
                        <a:t>terrain_score</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float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NOT NULL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N/A</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지형 요인 점수 1~5 (가중치 0.</a:t>
                      </a:r>
                      <a:r>
                        <a:rPr sz="1050" b="0">
                          <a:solidFill>
                            <a:srgbClr val="FF0000"/>
                          </a:solidFill>
                          <a:latin typeface="210 OmniGothic 040"/>
                          <a:ea typeface="210 OmniGothic 040"/>
                          <a:cs typeface="210 OmniGothic 040"/>
                        </a:rPr>
                        <a:t>287, 경사도_down 제외</a:t>
                      </a:r>
                      <a:r>
                        <a:rPr sz="1050" b="0">
                          <a:solidFill>
                            <a:srgbClr val="FF0000"/>
                          </a:solidFill>
                          <a:latin typeface="210 OmniGothic 040"/>
                          <a:ea typeface="210 OmniGothic 040"/>
                          <a:cs typeface="210 OmniGothic 040"/>
                        </a:rPr>
                        <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6"/>
                  </a:ext>
                </a:extLst>
              </a:tr>
              <a:tr h="268702">
                <a:tc>
                  <a:txBody>
                    <a:bodyPr/>
                    <a:lstStyle/>
                    <a:p>
                      <a:pPr algn="l">
                        <a:buNone/>
                      </a:pPr>
                      <a:r>
                        <a:rPr sz="1050" b="0">
                          <a:solidFill>
                            <a:srgbClr val="2E3142"/>
                          </a:solidFill>
                          <a:latin typeface="Consolas"/>
                          <a:ea typeface="Consolas"/>
                          <a:cs typeface="Consolas"/>
                        </a:rPr>
                        <a:t>fuel_score</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float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NOT NULL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N/A</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연료 요인 점수 1~5 (가중치 0.2</a:t>
                      </a:r>
                      <a:r>
                        <a:rPr sz="1050" b="0">
                          <a:solidFill>
                            <a:srgbClr val="FF0000"/>
                          </a:solidFill>
                          <a:latin typeface="210 OmniGothic 040"/>
                          <a:ea typeface="210 OmniGothic 040"/>
                          <a:cs typeface="210 OmniGothic 040"/>
                        </a:rPr>
                        <a:t>66</a:t>
                      </a:r>
                      <a:r>
                        <a:rPr sz="1050" b="0">
                          <a:solidFill>
                            <a:srgbClr val="FF0000"/>
                          </a:solidFill>
                          <a:latin typeface="210 OmniGothic 040"/>
                          <a:ea typeface="210 OmniGothic 040"/>
                          <a:cs typeface="210 OmniGothic 040"/>
                        </a:rPr>
                        <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7"/>
                  </a:ext>
                </a:extLst>
              </a:tr>
              <a:tr h="268702">
                <a:tc>
                  <a:txBody>
                    <a:bodyPr/>
                    <a:lstStyle/>
                    <a:p>
                      <a:pPr algn="l">
                        <a:buNone/>
                      </a:pPr>
                      <a:r>
                        <a:rPr sz="1050" b="0">
                          <a:solidFill>
                            <a:srgbClr val="2E3142"/>
                          </a:solidFill>
                          <a:latin typeface="Consolas"/>
                          <a:ea typeface="Consolas"/>
                          <a:cs typeface="Consolas"/>
                        </a:rPr>
                        <a:t>infra_score</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float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NOT NULL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N/A</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인프라 요인 점수 1~5 (가중치 0.</a:t>
                      </a:r>
                      <a:r>
                        <a:rPr sz="1050" b="0">
                          <a:solidFill>
                            <a:srgbClr val="FF0000"/>
                          </a:solidFill>
                          <a:latin typeface="210 OmniGothic 040"/>
                          <a:ea typeface="210 OmniGothic 040"/>
                          <a:cs typeface="210 OmniGothic 040"/>
                        </a:rPr>
                        <a:t>0</a:t>
                      </a:r>
                      <a:r>
                        <a:rPr sz="1050" b="0">
                          <a:solidFill>
                            <a:srgbClr val="FF0000"/>
                          </a:solidFill>
                          <a:latin typeface="210 OmniGothic 040"/>
                          <a:ea typeface="210 OmniGothic 040"/>
                          <a:cs typeface="210 OmniGothic 040"/>
                        </a:rPr>
                        <a:t>74, 취약계층 수·소방서 거리</a:t>
                      </a:r>
                      <a:r>
                        <a:rPr sz="1050" b="0">
                          <a:solidFill>
                            <a:srgbClr val="FF0000"/>
                          </a:solidFill>
                          <a:latin typeface="210 OmniGothic 040"/>
                          <a:ea typeface="210 OmniGothic 040"/>
                          <a:cs typeface="210 OmniGothic 040"/>
                        </a:rPr>
                        <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8"/>
                  </a:ext>
                </a:extLst>
              </a:tr>
              <a:tr h="268702">
                <a:tc>
                  <a:txBody>
                    <a:bodyPr/>
                    <a:lstStyle/>
                    <a:p>
                      <a:pPr algn="l">
                        <a:buNone/>
                      </a:pPr>
                      <a:r>
                        <a:rPr sz="1050" b="0">
                          <a:solidFill>
                            <a:srgbClr val="2E3142"/>
                          </a:solidFill>
                          <a:latin typeface="Consolas"/>
                          <a:ea typeface="Consolas"/>
                          <a:cs typeface="Consolas"/>
                        </a:rPr>
                        <a:t>missing_vars</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JSON</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NULLABLE</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N/A</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FF0000"/>
                          </a:solidFill>
                          <a:latin typeface="210 OmniGothic 040"/>
                          <a:ea typeface="210 OmniGothic 040"/>
                          <a:cs typeface="210 OmniGothic 040"/>
                        </a:rPr>
                        <a:t>결측 변수 목록 (남은 가중치로 나눠 계산)</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9"/>
                  </a:ext>
                </a:extLst>
              </a:tr>
              <a:tr h="268702">
                <a:tc>
                  <a:txBody>
                    <a:bodyPr/>
                    <a:lstStyle/>
                    <a:p>
                      <a:pPr algn="l">
                        <a:buNone/>
                      </a:pPr>
                      <a:r>
                        <a:rPr sz="1050" b="0">
                          <a:solidFill>
                            <a:srgbClr val="2E3142"/>
                          </a:solidFill>
                          <a:latin typeface="Consolas"/>
                          <a:ea typeface="Consolas"/>
                          <a:cs typeface="Consolas"/>
                        </a:rPr>
                        <a:t>computed_at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datetime</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NOT NULL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now()</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계산 일시</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10"/>
                  </a:ext>
                </a:extLst>
              </a:tr>
            </a:tbl>
          </a:graphicData>
        </a:graphic>
      </p:graphicFrame>
      <p:sp>
        <p:nvSpPr>
          <p:cNvPr id="5282" name="TextBox 5281">
            <a:extLst>
              <a:ext uri="{FF2B5EF4-FFF2-40B4-BE49-F238E27FC236}">
                <a16:creationId xmlns:a16="http://schemas.microsoft.com/office/drawing/2014/main" id="{BD6C9BF7-31AB-4758-9143-938B39E2FAF8}"/>
              </a:ext>
            </a:extLst>
          </p:cNvPr>
          <p:cNvSpPr>
            <a:spLocks noGrp="1"/>
          </p:cNvSpPr>
          <p:nvPr/>
        </p:nvSpPr>
        <p:spPr>
          <a:xfrm>
            <a:off x="822960" y="6098383"/>
            <a:ext cx="11430000" cy="301752"/>
          </a:xfrm>
          <a:prstGeom prst="rect">
            <a:avLst/>
          </a:prstGeom>
          <a:noFill/>
        </p:spPr>
        <p:txBody>
          <a:bodyPr wrap="square" lIns="0" tIns="0" rIns="0" bIns="0" anchor="t">
            <a:spAutoFit/>
          </a:bodyPr>
          <a:lstStyle/>
          <a:p>
            <a:pPr algn="l">
              <a:buNone/>
            </a:pPr>
            <a:r>
              <a:rPr sz="1500" b="1">
                <a:solidFill>
                  <a:srgbClr val="2E3142"/>
                </a:solidFill>
                <a:latin typeface="210 OmniGothic 040"/>
                <a:ea typeface="210 OmniGothic 040"/>
                <a:cs typeface="210 OmniGothic 040"/>
              </a:rPr>
              <a:t>Resource 클래스</a:t>
            </a:r>
            <a:r>
              <a:rPr sz="1250" b="0">
                <a:solidFill>
                  <a:srgbClr val="6B7080"/>
                </a:solidFill>
                <a:latin typeface="210 OmniGothic 040"/>
                <a:ea typeface="210 OmniGothic 040"/>
                <a:cs typeface="210 OmniGothic 040"/>
              </a:rPr>
              <a:t>  진화자원(평시 진화자원 데이터 + 투입 상태)</a:t>
            </a:r>
          </a:p>
        </p:txBody>
      </p:sp>
      <p:graphicFrame>
        <p:nvGraphicFramePr>
          <p:cNvPr id="5299" name="Table 5282"/>
          <p:cNvGraphicFramePr/>
          <p:nvPr/>
        </p:nvGraphicFramePr>
        <p:xfrm>
          <a:off x="822960" y="6427567"/>
          <a:ext cx="16459200" cy="2687020"/>
        </p:xfrm>
        <a:graphic>
          <a:graphicData uri="http://schemas.openxmlformats.org/drawingml/2006/table">
            <a:tbl>
              <a:tblPr>
                <a:tableStyleId>{2D5ABB26-0587-4C30-8999-92F81FD0307C}</a:tableStyleId>
              </a:tblPr>
              <a:tblGrid>
                <a:gridCol w="2000250">
                  <a:extLst>
                    <a:ext uri="{9D8B030D-6E8A-4147-A177-3AD203B41FA5}">
                      <a16:colId xmlns:a16="http://schemas.microsoft.com/office/drawing/2014/main" val="20000"/>
                    </a:ext>
                  </a:extLst>
                </a:gridCol>
                <a:gridCol w="971550">
                  <a:extLst>
                    <a:ext uri="{9D8B030D-6E8A-4147-A177-3AD203B41FA5}">
                      <a16:colId xmlns:a16="http://schemas.microsoft.com/office/drawing/2014/main" val="20001"/>
                    </a:ext>
                  </a:extLst>
                </a:gridCol>
                <a:gridCol w="1543050">
                  <a:extLst>
                    <a:ext uri="{9D8B030D-6E8A-4147-A177-3AD203B41FA5}">
                      <a16:colId xmlns:a16="http://schemas.microsoft.com/office/drawing/2014/main" val="20002"/>
                    </a:ext>
                  </a:extLst>
                </a:gridCol>
                <a:gridCol w="6858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1085850">
                  <a:extLst>
                    <a:ext uri="{9D8B030D-6E8A-4147-A177-3AD203B41FA5}">
                      <a16:colId xmlns:a16="http://schemas.microsoft.com/office/drawing/2014/main" val="20005"/>
                    </a:ext>
                  </a:extLst>
                </a:gridCol>
                <a:gridCol w="8801100">
                  <a:extLst>
                    <a:ext uri="{9D8B030D-6E8A-4147-A177-3AD203B41FA5}">
                      <a16:colId xmlns:a16="http://schemas.microsoft.com/office/drawing/2014/main" val="20006"/>
                    </a:ext>
                  </a:extLst>
                </a:gridCol>
              </a:tblGrid>
              <a:tr h="268702">
                <a:tc>
                  <a:txBody>
                    <a:bodyPr/>
                    <a:lstStyle/>
                    <a:p>
                      <a:pPr algn="l">
                        <a:buNone/>
                      </a:pPr>
                      <a:r>
                        <a:rPr sz="1050" b="1">
                          <a:solidFill>
                            <a:srgbClr val="2E3142"/>
                          </a:solidFill>
                          <a:latin typeface="210 OmniGothic 040"/>
                          <a:ea typeface="210 OmniGothic 040"/>
                          <a:cs typeface="210 OmniGothic 040"/>
                        </a:rPr>
                        <a:t>속성명</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가시성</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자료형</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크기</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NULLABLE</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기본값</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설명</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extLst>
                  <a:ext uri="{0D108BD9-81ED-4DB2-BD59-A6C34878D82A}">
                    <a16:rowId xmlns:a16="http://schemas.microsoft.com/office/drawing/2014/main" val="10000"/>
                  </a:ext>
                </a:extLst>
              </a:tr>
              <a:tr h="268702">
                <a:tc>
                  <a:txBody>
                    <a:bodyPr/>
                    <a:lstStyle/>
                    <a:p>
                      <a:pPr algn="l">
                        <a:buNone/>
                      </a:pPr>
                      <a:r>
                        <a:rPr sz="1050" b="0">
                          <a:solidFill>
                            <a:srgbClr val="2E3142"/>
                          </a:solidFill>
                          <a:latin typeface="Consolas"/>
                          <a:ea typeface="Consolas"/>
                          <a:cs typeface="Consolas"/>
                        </a:rPr>
                        <a:t>id</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int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NOT NULL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auto</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자원 식별자 (PK)</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1"/>
                  </a:ext>
                </a:extLst>
              </a:tr>
              <a:tr h="268702">
                <a:tc>
                  <a:txBody>
                    <a:bodyPr/>
                    <a:lstStyle/>
                    <a:p>
                      <a:pPr algn="l">
                        <a:buNone/>
                      </a:pPr>
                      <a:r>
                        <a:rPr sz="1050" b="0">
                          <a:solidFill>
                            <a:srgbClr val="2E3142"/>
                          </a:solidFill>
                          <a:latin typeface="Consolas"/>
                          <a:ea typeface="Consolas"/>
                          <a:cs typeface="Consolas"/>
                        </a:rPr>
                        <a:t>kind</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KindEnum</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NOT NULL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N/A</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구분 (헬기 / 차량 / 인력)</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2"/>
                  </a:ext>
                </a:extLst>
              </a:tr>
              <a:tr h="268702">
                <a:tc>
                  <a:txBody>
                    <a:bodyPr/>
                    <a:lstStyle/>
                    <a:p>
                      <a:pPr algn="l">
                        <a:buNone/>
                      </a:pPr>
                      <a:r>
                        <a:rPr sz="1050" b="0">
                          <a:solidFill>
                            <a:srgbClr val="2E3142"/>
                          </a:solidFill>
                          <a:latin typeface="Consolas"/>
                          <a:ea typeface="Consolas"/>
                          <a:cs typeface="Consolas"/>
                        </a:rPr>
                        <a:t>name</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str</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50</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NOT NULL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N/A</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명칭·호출부호 (예: KFS-H01, 산불전문진화대 1조)</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3"/>
                  </a:ext>
                </a:extLst>
              </a:tr>
              <a:tr h="268702">
                <a:tc>
                  <a:txBody>
                    <a:bodyPr/>
                    <a:lstStyle/>
                    <a:p>
                      <a:pPr algn="l">
                        <a:buNone/>
                      </a:pPr>
                      <a:r>
                        <a:rPr sz="1050" b="0">
                          <a:solidFill>
                            <a:srgbClr val="2E3142"/>
                          </a:solidFill>
                          <a:latin typeface="Consolas"/>
                          <a:ea typeface="Consolas"/>
                          <a:cs typeface="Consolas"/>
                        </a:rPr>
                        <a:t>org</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str</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50</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NOT NULL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N/A</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소속 (산림항공본부·의성군·소방서 등)</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4"/>
                  </a:ext>
                </a:extLst>
              </a:tr>
              <a:tr h="268702">
                <a:tc>
                  <a:txBody>
                    <a:bodyPr/>
                    <a:lstStyle/>
                    <a:p>
                      <a:pPr algn="l">
                        <a:buNone/>
                      </a:pPr>
                      <a:r>
                        <a:rPr sz="1050" b="0">
                          <a:solidFill>
                            <a:srgbClr val="2E3142"/>
                          </a:solidFill>
                          <a:latin typeface="Consolas"/>
                          <a:ea typeface="Consolas"/>
                          <a:cs typeface="Consolas"/>
                        </a:rPr>
                        <a:t>qty</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int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NOT NULL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1</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수량 (인력은 명, 헬기·차량은 1)</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5"/>
                  </a:ext>
                </a:extLst>
              </a:tr>
              <a:tr h="268702">
                <a:tc>
                  <a:txBody>
                    <a:bodyPr/>
                    <a:lstStyle/>
                    <a:p>
                      <a:pPr algn="l">
                        <a:buNone/>
                      </a:pPr>
                      <a:r>
                        <a:rPr sz="1050" b="0">
                          <a:solidFill>
                            <a:srgbClr val="2E3142"/>
                          </a:solidFill>
                          <a:latin typeface="Consolas"/>
                          <a:ea typeface="Consolas"/>
                          <a:cs typeface="Consolas"/>
                        </a:rPr>
                        <a:t>status</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ResStatusEnum</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NOT NULL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대기</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상태 (투입 / 대기 / 정비)</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6"/>
                  </a:ext>
                </a:extLst>
              </a:tr>
              <a:tr h="268702">
                <a:tc>
                  <a:txBody>
                    <a:bodyPr/>
                    <a:lstStyle/>
                    <a:p>
                      <a:pPr algn="l">
                        <a:buNone/>
                      </a:pPr>
                      <a:r>
                        <a:rPr sz="1050" b="0">
                          <a:solidFill>
                            <a:srgbClr val="2E3142"/>
                          </a:solidFill>
                          <a:latin typeface="Consolas"/>
                          <a:ea typeface="Consolas"/>
                          <a:cs typeface="Consolas"/>
                        </a:rPr>
                        <a:t>incident_id</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str</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20</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NULLABLE</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N/A</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투입된 산불 (FK → incidents.id, 미투입 NULL)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7"/>
                  </a:ext>
                </a:extLst>
              </a:tr>
              <a:tr h="268702">
                <a:tc>
                  <a:txBody>
                    <a:bodyPr/>
                    <a:lstStyle/>
                    <a:p>
                      <a:pPr algn="l">
                        <a:buNone/>
                      </a:pPr>
                      <a:r>
                        <a:rPr sz="1050" b="0">
                          <a:solidFill>
                            <a:srgbClr val="2E3142"/>
                          </a:solidFill>
                          <a:latin typeface="Consolas"/>
                          <a:ea typeface="Consolas"/>
                          <a:cs typeface="Consolas"/>
                        </a:rPr>
                        <a:t>position</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Point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NULLABLE</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N/A</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진화조 위치 (인력 투입 시)</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8"/>
                  </a:ext>
                </a:extLst>
              </a:tr>
              <a:tr h="268702">
                <a:tc>
                  <a:txBody>
                    <a:bodyPr/>
                    <a:lstStyle/>
                    <a:p>
                      <a:pPr algn="l">
                        <a:buNone/>
                      </a:pPr>
                      <a:r>
                        <a:rPr sz="1050" b="0">
                          <a:solidFill>
                            <a:srgbClr val="2E3142"/>
                          </a:solidFill>
                          <a:latin typeface="Consolas"/>
                          <a:ea typeface="Consolas"/>
                          <a:cs typeface="Consolas"/>
                        </a:rPr>
                        <a:t>updated_at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datetime</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NOT NULL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now()</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최근 변경 시각</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119347748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94" name="Picture 2"/>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700" y="-12700"/>
            <a:ext cx="18313400" cy="1638300"/>
          </a:xfrm>
          <a:prstGeom prst="rect">
            <a:avLst/>
          </a:prstGeom>
        </p:spPr>
      </p:pic>
      <p:pic>
        <p:nvPicPr>
          <p:cNvPr id="5295" name="Picture 4"/>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28" y="1618343"/>
            <a:ext cx="18313400" cy="8699500"/>
          </a:xfrm>
          <a:prstGeom prst="rect">
            <a:avLst/>
          </a:prstGeom>
        </p:spPr>
      </p:pic>
      <p:pic>
        <p:nvPicPr>
          <p:cNvPr id="5296" name="Picture 5"/>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58800" y="9271000"/>
            <a:ext cx="17170400" cy="50800"/>
          </a:xfrm>
          <a:prstGeom prst="rect">
            <a:avLst/>
          </a:prstGeom>
        </p:spPr>
      </p:pic>
      <p:pic>
        <p:nvPicPr>
          <p:cNvPr id="5297" name="Picture 3"/>
          <p:cNvPicPr>
            <a:picLocks noChangeAspect="1"/>
          </p:cNvPicPr>
          <p:nvPr/>
        </p:nvPicPr>
        <p:blipFill>
          <a:blip>
            <a:extLst>
              <a:ext uri="{96DAC541-7B7A-43D3-8B79-37D633B846F1}">
                <asvg:svgBlip xmlns:asvg="http://schemas.microsoft.com/office/drawing/2016/SVG/main" r:embed="rId6"/>
              </a:ext>
            </a:extLst>
          </a:blip>
          <a:srcRect b="43005"/>
          <a:stretch>
            <a:fillRect/>
          </a:stretch>
        </p:blipFill>
        <p:spPr>
          <a:xfrm>
            <a:off x="15443200" y="228600"/>
            <a:ext cx="1384300" cy="1397000"/>
          </a:xfrm>
          <a:prstGeom prst="rect">
            <a:avLst/>
          </a:prstGeom>
        </p:spPr>
      </p:pic>
      <p:sp>
        <p:nvSpPr>
          <p:cNvPr id="5283" name="Title">
            <a:extLst>
              <a:ext uri="{FF2B5EF4-FFF2-40B4-BE49-F238E27FC236}">
                <a16:creationId xmlns:a16="http://schemas.microsoft.com/office/drawing/2014/main" id="{012CE8EB-6B04-4275-939B-B0B7B3210ACF}"/>
              </a:ext>
            </a:extLst>
          </p:cNvPr>
          <p:cNvSpPr>
            <a:spLocks noGrp="1"/>
          </p:cNvSpPr>
          <p:nvPr/>
        </p:nvSpPr>
        <p:spPr>
          <a:xfrm>
            <a:off x="822960" y="384048"/>
            <a:ext cx="13258800" cy="877824"/>
          </a:xfrm>
          <a:prstGeom prst="rect">
            <a:avLst/>
          </a:prstGeom>
          <a:noFill/>
        </p:spPr>
        <p:txBody>
          <a:bodyPr wrap="square" lIns="0" tIns="0" rIns="0" bIns="0" anchor="ctr">
            <a:spAutoFit/>
          </a:bodyPr>
          <a:lstStyle/>
          <a:p>
            <a:pPr algn="l">
              <a:buNone/>
            </a:pPr>
            <a:r>
              <a:rPr sz="4400" b="0">
                <a:solidFill>
                  <a:srgbClr val="FAA95A"/>
                </a:solidFill>
                <a:latin typeface="210 OmniGothic 050"/>
                <a:ea typeface="210 OmniGothic 050"/>
                <a:cs typeface="210 OmniGothic 050"/>
              </a:rPr>
              <a:t>05. 클래스 다이어그램</a:t>
            </a:r>
          </a:p>
        </p:txBody>
      </p:sp>
      <p:sp>
        <p:nvSpPr>
          <p:cNvPr id="5284" name="Subtitle">
            <a:extLst>
              <a:ext uri="{FF2B5EF4-FFF2-40B4-BE49-F238E27FC236}">
                <a16:creationId xmlns:a16="http://schemas.microsoft.com/office/drawing/2014/main" id="{C4DF3329-7962-40A8-8355-E50A6E35DA16}"/>
              </a:ext>
            </a:extLst>
          </p:cNvPr>
          <p:cNvSpPr>
            <a:spLocks noGrp="1"/>
          </p:cNvSpPr>
          <p:nvPr/>
        </p:nvSpPr>
        <p:spPr>
          <a:xfrm>
            <a:off x="822960" y="1764792"/>
            <a:ext cx="16642080" cy="502920"/>
          </a:xfrm>
          <a:prstGeom prst="rect">
            <a:avLst/>
          </a:prstGeom>
          <a:noFill/>
        </p:spPr>
        <p:txBody>
          <a:bodyPr wrap="square" lIns="0" tIns="0" rIns="0" bIns="0" anchor="ctr">
            <a:spAutoFit/>
          </a:bodyPr>
          <a:lstStyle/>
          <a:p>
            <a:pPr algn="ctr">
              <a:buNone/>
            </a:pPr>
            <a:r>
              <a:rPr sz="2600" b="1">
                <a:solidFill>
                  <a:srgbClr val="363A52"/>
                </a:solidFill>
                <a:latin typeface="210 OmniGothic 040"/>
                <a:ea typeface="210 OmniGothic 040"/>
                <a:cs typeface="210 OmniGothic 040"/>
              </a:rPr>
              <a:t>1. 속성 정의 – </a:t>
            </a:r>
            <a:r>
              <a:rPr sz="2600" b="1">
                <a:solidFill>
                  <a:srgbClr val="FAA95A"/>
                </a:solidFill>
                <a:latin typeface="210 OmniGothic 040"/>
                <a:ea typeface="210 OmniGothic 040"/>
                <a:cs typeface="210 OmniGothic 040"/>
              </a:rPr>
              <a:t>도메인 엔티티 (설계)</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idx="12"/>
          </p:nvPr>
        </p:nvSpPr>
        <p:spPr/>
        <p:txBody>
          <a:bodyPr/>
          <a:lstStyle/>
          <a:p>
            <a:fld id="{B6F15528-21DE-4FAA-801E-634DDDAF4B2B}" type="slidenum">
              <a:t>55</a:t>
            </a:fld>
            <a:endParaRPr/>
          </a:p>
        </p:txBody>
      </p:sp>
      <p:sp>
        <p:nvSpPr>
          <p:cNvPr id="5285" name="TextBox 5284">
            <a:extLst>
              <a:ext uri="{FF2B5EF4-FFF2-40B4-BE49-F238E27FC236}">
                <a16:creationId xmlns:a16="http://schemas.microsoft.com/office/drawing/2014/main" id="{83E06D39-C759-416B-847A-A3E6A811F8B0}"/>
              </a:ext>
            </a:extLst>
          </p:cNvPr>
          <p:cNvSpPr>
            <a:spLocks noGrp="1"/>
          </p:cNvSpPr>
          <p:nvPr/>
        </p:nvSpPr>
        <p:spPr>
          <a:xfrm>
            <a:off x="822960" y="2395728"/>
            <a:ext cx="11430000" cy="301752"/>
          </a:xfrm>
          <a:prstGeom prst="rect">
            <a:avLst/>
          </a:prstGeom>
          <a:noFill/>
        </p:spPr>
        <p:txBody>
          <a:bodyPr wrap="square" lIns="0" tIns="0" rIns="0" bIns="0" anchor="t">
            <a:spAutoFit/>
          </a:bodyPr>
          <a:lstStyle/>
          <a:p>
            <a:pPr algn="l">
              <a:buNone/>
            </a:pPr>
            <a:r>
              <a:rPr sz="1500" b="1">
                <a:solidFill>
                  <a:srgbClr val="2E3142"/>
                </a:solidFill>
                <a:latin typeface="210 OmniGothic 040"/>
                <a:ea typeface="210 OmniGothic 040"/>
                <a:cs typeface="210 OmniGothic 040"/>
              </a:rPr>
              <a:t>Village 클래스</a:t>
            </a:r>
            <a:r>
              <a:rPr sz="1250" b="0">
                <a:solidFill>
                  <a:srgbClr val="6B7080"/>
                </a:solidFill>
                <a:latin typeface="210 OmniGothic 040"/>
                <a:ea typeface="210 OmniGothic 040"/>
                <a:cs typeface="210 OmniGothic 040"/>
              </a:rPr>
              <a:t>  마을(행정리) — 정적 레이어</a:t>
            </a:r>
          </a:p>
        </p:txBody>
      </p:sp>
      <p:graphicFrame>
        <p:nvGraphicFramePr>
          <p:cNvPr id="5302" name="Table 5285"/>
          <p:cNvGraphicFramePr/>
          <p:nvPr/>
        </p:nvGraphicFramePr>
        <p:xfrm>
          <a:off x="822960" y="2727655"/>
          <a:ext cx="16459200" cy="2715768"/>
        </p:xfrm>
        <a:graphic>
          <a:graphicData uri="http://schemas.openxmlformats.org/drawingml/2006/table">
            <a:tbl>
              <a:tblPr>
                <a:tableStyleId>{2D5ABB26-0587-4C30-8999-92F81FD0307C}</a:tableStyleId>
              </a:tblPr>
              <a:tblGrid>
                <a:gridCol w="2000250">
                  <a:extLst>
                    <a:ext uri="{9D8B030D-6E8A-4147-A177-3AD203B41FA5}">
                      <a16:colId xmlns:a16="http://schemas.microsoft.com/office/drawing/2014/main" val="20000"/>
                    </a:ext>
                  </a:extLst>
                </a:gridCol>
                <a:gridCol w="971550">
                  <a:extLst>
                    <a:ext uri="{9D8B030D-6E8A-4147-A177-3AD203B41FA5}">
                      <a16:colId xmlns:a16="http://schemas.microsoft.com/office/drawing/2014/main" val="20001"/>
                    </a:ext>
                  </a:extLst>
                </a:gridCol>
                <a:gridCol w="1543050">
                  <a:extLst>
                    <a:ext uri="{9D8B030D-6E8A-4147-A177-3AD203B41FA5}">
                      <a16:colId xmlns:a16="http://schemas.microsoft.com/office/drawing/2014/main" val="20002"/>
                    </a:ext>
                  </a:extLst>
                </a:gridCol>
                <a:gridCol w="6858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1085850">
                  <a:extLst>
                    <a:ext uri="{9D8B030D-6E8A-4147-A177-3AD203B41FA5}">
                      <a16:colId xmlns:a16="http://schemas.microsoft.com/office/drawing/2014/main" val="20005"/>
                    </a:ext>
                  </a:extLst>
                </a:gridCol>
                <a:gridCol w="8801100">
                  <a:extLst>
                    <a:ext uri="{9D8B030D-6E8A-4147-A177-3AD203B41FA5}">
                      <a16:colId xmlns:a16="http://schemas.microsoft.com/office/drawing/2014/main" val="20006"/>
                    </a:ext>
                  </a:extLst>
                </a:gridCol>
              </a:tblGrid>
              <a:tr h="301752">
                <a:tc>
                  <a:txBody>
                    <a:bodyPr/>
                    <a:lstStyle/>
                    <a:p>
                      <a:pPr algn="l">
                        <a:buNone/>
                      </a:pPr>
                      <a:r>
                        <a:rPr sz="1050" b="1">
                          <a:solidFill>
                            <a:srgbClr val="2E3142"/>
                          </a:solidFill>
                          <a:latin typeface="210 OmniGothic 040"/>
                          <a:ea typeface="210 OmniGothic 040"/>
                          <a:cs typeface="210 OmniGothic 040"/>
                        </a:rPr>
                        <a:t>속성명</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가시성</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자료형</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크기</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NULLABLE</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기본값</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설명</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extLst>
                  <a:ext uri="{0D108BD9-81ED-4DB2-BD59-A6C34878D82A}">
                    <a16:rowId xmlns:a16="http://schemas.microsoft.com/office/drawing/2014/main" val="10000"/>
                  </a:ext>
                </a:extLst>
              </a:tr>
              <a:tr h="301752">
                <a:tc>
                  <a:txBody>
                    <a:bodyPr/>
                    <a:lstStyle/>
                    <a:p>
                      <a:pPr algn="l">
                        <a:buNone/>
                      </a:pPr>
                      <a:r>
                        <a:rPr sz="1050" b="0">
                          <a:solidFill>
                            <a:srgbClr val="2E3142"/>
                          </a:solidFill>
                          <a:latin typeface="Consolas"/>
                          <a:ea typeface="Consolas"/>
                          <a:cs typeface="Consolas"/>
                        </a:rPr>
                        <a:t>id</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str</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20</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NOT NULL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N/A</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마을 식별자 (PK)</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1"/>
                  </a:ext>
                </a:extLst>
              </a:tr>
              <a:tr h="301752">
                <a:tc>
                  <a:txBody>
                    <a:bodyPr/>
                    <a:lstStyle/>
                    <a:p>
                      <a:pPr algn="l">
                        <a:buNone/>
                      </a:pPr>
                      <a:r>
                        <a:rPr sz="1050" b="0">
                          <a:solidFill>
                            <a:srgbClr val="2E3142"/>
                          </a:solidFill>
                          <a:latin typeface="Consolas"/>
                          <a:ea typeface="Consolas"/>
                          <a:cs typeface="Consolas"/>
                        </a:rPr>
                        <a:t>name</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str</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50</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NOT NULL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N/A</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마을 이름</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2"/>
                  </a:ext>
                </a:extLst>
              </a:tr>
              <a:tr h="301752">
                <a:tc>
                  <a:txBody>
                    <a:bodyPr/>
                    <a:lstStyle/>
                    <a:p>
                      <a:pPr algn="l">
                        <a:buNone/>
                      </a:pPr>
                      <a:r>
                        <a:rPr sz="1050" b="0">
                          <a:solidFill>
                            <a:srgbClr val="2E3142"/>
                          </a:solidFill>
                          <a:latin typeface="Consolas"/>
                          <a:ea typeface="Consolas"/>
                          <a:cs typeface="Consolas"/>
                        </a:rPr>
                        <a:t>emd_code</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str</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10</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NOT NULL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N/A</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읍·면·동 코드</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3"/>
                  </a:ext>
                </a:extLst>
              </a:tr>
              <a:tr h="301752">
                <a:tc>
                  <a:txBody>
                    <a:bodyPr/>
                    <a:lstStyle/>
                    <a:p>
                      <a:pPr algn="l">
                        <a:buNone/>
                      </a:pPr>
                      <a:r>
                        <a:rPr sz="1050" b="0">
                          <a:solidFill>
                            <a:srgbClr val="2E3142"/>
                          </a:solidFill>
                          <a:latin typeface="Consolas"/>
                          <a:ea typeface="Consolas"/>
                          <a:cs typeface="Consolas"/>
                        </a:rPr>
                        <a:t>geom</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Geometry</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NOT NULL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N/A</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마을 경계(면) 또는 중심점</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4"/>
                  </a:ext>
                </a:extLst>
              </a:tr>
              <a:tr h="301752">
                <a:tc>
                  <a:txBody>
                    <a:bodyPr/>
                    <a:lstStyle/>
                    <a:p>
                      <a:pPr algn="l">
                        <a:buNone/>
                      </a:pPr>
                      <a:r>
                        <a:rPr sz="1050" b="0">
                          <a:solidFill>
                            <a:srgbClr val="2E3142"/>
                          </a:solidFill>
                          <a:latin typeface="Consolas"/>
                          <a:ea typeface="Consolas"/>
                          <a:cs typeface="Consolas"/>
                        </a:rPr>
                        <a:t>population</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int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NOT NULL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0</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인구</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5"/>
                  </a:ext>
                </a:extLst>
              </a:tr>
              <a:tr h="301752">
                <a:tc>
                  <a:txBody>
                    <a:bodyPr/>
                    <a:lstStyle/>
                    <a:p>
                      <a:pPr algn="l">
                        <a:buNone/>
                      </a:pPr>
                      <a:r>
                        <a:rPr sz="1050" b="0">
                          <a:solidFill>
                            <a:srgbClr val="2E3142"/>
                          </a:solidFill>
                          <a:latin typeface="Consolas"/>
                          <a:ea typeface="Consolas"/>
                          <a:cs typeface="Consolas"/>
                        </a:rPr>
                        <a:t>households</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int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NOT NULL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0</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가구 수</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6"/>
                  </a:ext>
                </a:extLst>
              </a:tr>
              <a:tr h="301752">
                <a:tc>
                  <a:txBody>
                    <a:bodyPr/>
                    <a:lstStyle/>
                    <a:p>
                      <a:pPr algn="l">
                        <a:buNone/>
                      </a:pPr>
                      <a:r>
                        <a:rPr sz="1050" b="0">
                          <a:solidFill>
                            <a:srgbClr val="2E3142"/>
                          </a:solidFill>
                          <a:latin typeface="Consolas"/>
                          <a:ea typeface="Consolas"/>
                          <a:cs typeface="Consolas"/>
                        </a:rPr>
                        <a:t>elderly</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int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NOT NULL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0</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고령자 수 (안전취약계층)</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7"/>
                  </a:ext>
                </a:extLst>
              </a:tr>
              <a:tr h="301752">
                <a:tc>
                  <a:txBody>
                    <a:bodyPr/>
                    <a:lstStyle/>
                    <a:p>
                      <a:pPr algn="l">
                        <a:buNone/>
                      </a:pPr>
                      <a:r>
                        <a:rPr sz="1050" b="0">
                          <a:solidFill>
                            <a:srgbClr val="2E3142"/>
                          </a:solidFill>
                          <a:latin typeface="Consolas"/>
                          <a:ea typeface="Consolas"/>
                          <a:cs typeface="Consolas"/>
                        </a:rPr>
                        <a:t>disabled</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int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NOT NULL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0</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장애인 수 (안전취약계층)</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8"/>
                  </a:ext>
                </a:extLst>
              </a:tr>
            </a:tbl>
          </a:graphicData>
        </a:graphic>
      </p:graphicFrame>
      <p:sp>
        <p:nvSpPr>
          <p:cNvPr id="5287" name="TextBox 5286">
            <a:extLst>
              <a:ext uri="{FF2B5EF4-FFF2-40B4-BE49-F238E27FC236}">
                <a16:creationId xmlns:a16="http://schemas.microsoft.com/office/drawing/2014/main" id="{4059004F-88D2-4C7B-B6C8-8AF662980C81}"/>
              </a:ext>
            </a:extLst>
          </p:cNvPr>
          <p:cNvSpPr>
            <a:spLocks noGrp="1"/>
          </p:cNvSpPr>
          <p:nvPr/>
        </p:nvSpPr>
        <p:spPr>
          <a:xfrm>
            <a:off x="822960" y="5584240"/>
            <a:ext cx="11430000" cy="301752"/>
          </a:xfrm>
          <a:prstGeom prst="rect">
            <a:avLst/>
          </a:prstGeom>
          <a:noFill/>
        </p:spPr>
        <p:txBody>
          <a:bodyPr wrap="square" lIns="0" tIns="0" rIns="0" bIns="0" anchor="t">
            <a:spAutoFit/>
          </a:bodyPr>
          <a:lstStyle/>
          <a:p>
            <a:pPr algn="l">
              <a:buNone/>
            </a:pPr>
            <a:r>
              <a:rPr sz="1500" b="1">
                <a:solidFill>
                  <a:srgbClr val="2E3142"/>
                </a:solidFill>
                <a:latin typeface="210 OmniGothic 040"/>
                <a:ea typeface="210 OmniGothic 040"/>
                <a:cs typeface="210 OmniGothic 040"/>
              </a:rPr>
              <a:t>Facility 클래스</a:t>
            </a:r>
            <a:r>
              <a:rPr sz="1250" b="0">
                <a:solidFill>
                  <a:srgbClr val="6B7080"/>
                </a:solidFill>
                <a:latin typeface="210 OmniGothic 040"/>
                <a:ea typeface="210 OmniGothic 040"/>
                <a:cs typeface="210 OmniGothic 040"/>
              </a:rPr>
              <a:t>  주요 시설 — 정적 레이어</a:t>
            </a:r>
          </a:p>
        </p:txBody>
      </p:sp>
      <p:graphicFrame>
        <p:nvGraphicFramePr>
          <p:cNvPr id="5304" name="Table 5287"/>
          <p:cNvGraphicFramePr/>
          <p:nvPr/>
        </p:nvGraphicFramePr>
        <p:xfrm>
          <a:off x="822960" y="5916168"/>
          <a:ext cx="16459200" cy="2414016"/>
        </p:xfrm>
        <a:graphic>
          <a:graphicData uri="http://schemas.openxmlformats.org/drawingml/2006/table">
            <a:tbl>
              <a:tblPr>
                <a:tableStyleId>{2D5ABB26-0587-4C30-8999-92F81FD0307C}</a:tableStyleId>
              </a:tblPr>
              <a:tblGrid>
                <a:gridCol w="2000250">
                  <a:extLst>
                    <a:ext uri="{9D8B030D-6E8A-4147-A177-3AD203B41FA5}">
                      <a16:colId xmlns:a16="http://schemas.microsoft.com/office/drawing/2014/main" val="20000"/>
                    </a:ext>
                  </a:extLst>
                </a:gridCol>
                <a:gridCol w="971550">
                  <a:extLst>
                    <a:ext uri="{9D8B030D-6E8A-4147-A177-3AD203B41FA5}">
                      <a16:colId xmlns:a16="http://schemas.microsoft.com/office/drawing/2014/main" val="20001"/>
                    </a:ext>
                  </a:extLst>
                </a:gridCol>
                <a:gridCol w="1543050">
                  <a:extLst>
                    <a:ext uri="{9D8B030D-6E8A-4147-A177-3AD203B41FA5}">
                      <a16:colId xmlns:a16="http://schemas.microsoft.com/office/drawing/2014/main" val="20002"/>
                    </a:ext>
                  </a:extLst>
                </a:gridCol>
                <a:gridCol w="6858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1085850">
                  <a:extLst>
                    <a:ext uri="{9D8B030D-6E8A-4147-A177-3AD203B41FA5}">
                      <a16:colId xmlns:a16="http://schemas.microsoft.com/office/drawing/2014/main" val="20005"/>
                    </a:ext>
                  </a:extLst>
                </a:gridCol>
                <a:gridCol w="8801100">
                  <a:extLst>
                    <a:ext uri="{9D8B030D-6E8A-4147-A177-3AD203B41FA5}">
                      <a16:colId xmlns:a16="http://schemas.microsoft.com/office/drawing/2014/main" val="20006"/>
                    </a:ext>
                  </a:extLst>
                </a:gridCol>
              </a:tblGrid>
              <a:tr h="301752">
                <a:tc>
                  <a:txBody>
                    <a:bodyPr/>
                    <a:lstStyle/>
                    <a:p>
                      <a:pPr algn="l">
                        <a:buNone/>
                      </a:pPr>
                      <a:r>
                        <a:rPr sz="1050" b="1">
                          <a:solidFill>
                            <a:srgbClr val="2E3142"/>
                          </a:solidFill>
                          <a:latin typeface="210 OmniGothic 040"/>
                          <a:ea typeface="210 OmniGothic 040"/>
                          <a:cs typeface="210 OmniGothic 040"/>
                        </a:rPr>
                        <a:t>속성명</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가시성</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자료형</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크기</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NULLABLE</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기본값</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설명</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extLst>
                  <a:ext uri="{0D108BD9-81ED-4DB2-BD59-A6C34878D82A}">
                    <a16:rowId xmlns:a16="http://schemas.microsoft.com/office/drawing/2014/main" val="10000"/>
                  </a:ext>
                </a:extLst>
              </a:tr>
              <a:tr h="301752">
                <a:tc>
                  <a:txBody>
                    <a:bodyPr/>
                    <a:lstStyle/>
                    <a:p>
                      <a:pPr algn="l">
                        <a:buNone/>
                      </a:pPr>
                      <a:r>
                        <a:rPr sz="1050" b="0">
                          <a:solidFill>
                            <a:srgbClr val="2E3142"/>
                          </a:solidFill>
                          <a:latin typeface="Consolas"/>
                          <a:ea typeface="Consolas"/>
                          <a:cs typeface="Consolas"/>
                        </a:rPr>
                        <a:t>id</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str</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20</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NOT NULL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N/A</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시설 식별자 (PK)</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1"/>
                  </a:ext>
                </a:extLst>
              </a:tr>
              <a:tr h="301752">
                <a:tc>
                  <a:txBody>
                    <a:bodyPr/>
                    <a:lstStyle/>
                    <a:p>
                      <a:pPr algn="l">
                        <a:buNone/>
                      </a:pPr>
                      <a:r>
                        <a:rPr sz="1050" b="0">
                          <a:solidFill>
                            <a:srgbClr val="2E3142"/>
                          </a:solidFill>
                          <a:latin typeface="Consolas"/>
                          <a:ea typeface="Consolas"/>
                          <a:cs typeface="Consolas"/>
                        </a:rPr>
                        <a:t>name</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str</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100</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NOT NULL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N/A</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시설명</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2"/>
                  </a:ext>
                </a:extLst>
              </a:tr>
              <a:tr h="301752">
                <a:tc>
                  <a:txBody>
                    <a:bodyPr/>
                    <a:lstStyle/>
                    <a:p>
                      <a:pPr algn="l">
                        <a:buNone/>
                      </a:pPr>
                      <a:r>
                        <a:rPr sz="1050" b="0">
                          <a:solidFill>
                            <a:srgbClr val="2E3142"/>
                          </a:solidFill>
                          <a:latin typeface="Consolas"/>
                          <a:ea typeface="Consolas"/>
                          <a:cs typeface="Consolas"/>
                        </a:rPr>
                        <a:t>type</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FacilityEnum</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NOT NULL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N/A</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대피소·취약시설·국가유산·담수지·송전시설·소방서·파출소 등</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3"/>
                  </a:ext>
                </a:extLst>
              </a:tr>
              <a:tr h="301752">
                <a:tc>
                  <a:txBody>
                    <a:bodyPr/>
                    <a:lstStyle/>
                    <a:p>
                      <a:pPr algn="l">
                        <a:buNone/>
                      </a:pPr>
                      <a:r>
                        <a:rPr sz="1050" b="0">
                          <a:solidFill>
                            <a:srgbClr val="2E3142"/>
                          </a:solidFill>
                          <a:latin typeface="Consolas"/>
                          <a:ea typeface="Consolas"/>
                          <a:cs typeface="Consolas"/>
                        </a:rPr>
                        <a:t>grade</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int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NULLABLE</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N/A</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보호 등급 1~5 (표준매뉴얼 p.77 진화 우선순위)</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4"/>
                  </a:ext>
                </a:extLst>
              </a:tr>
              <a:tr h="301752">
                <a:tc>
                  <a:txBody>
                    <a:bodyPr/>
                    <a:lstStyle/>
                    <a:p>
                      <a:pPr algn="l">
                        <a:buNone/>
                      </a:pPr>
                      <a:r>
                        <a:rPr sz="1050" b="0">
                          <a:solidFill>
                            <a:srgbClr val="2E3142"/>
                          </a:solidFill>
                          <a:latin typeface="Consolas"/>
                          <a:ea typeface="Consolas"/>
                          <a:cs typeface="Consolas"/>
                        </a:rPr>
                        <a:t>capacity</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int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NULLABLE</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N/A</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수용 인원 (대피소·취약시설)</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5"/>
                  </a:ext>
                </a:extLst>
              </a:tr>
              <a:tr h="301752">
                <a:tc>
                  <a:txBody>
                    <a:bodyPr/>
                    <a:lstStyle/>
                    <a:p>
                      <a:pPr algn="l">
                        <a:buNone/>
                      </a:pPr>
                      <a:r>
                        <a:rPr sz="1050" b="0">
                          <a:solidFill>
                            <a:srgbClr val="2E3142"/>
                          </a:solidFill>
                          <a:latin typeface="Consolas"/>
                          <a:ea typeface="Consolas"/>
                          <a:cs typeface="Consolas"/>
                        </a:rPr>
                        <a:t>emd_code</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str</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10</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NOT NULL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N/A</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읍·면·동 코드</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6"/>
                  </a:ext>
                </a:extLst>
              </a:tr>
              <a:tr h="301752">
                <a:tc>
                  <a:txBody>
                    <a:bodyPr/>
                    <a:lstStyle/>
                    <a:p>
                      <a:pPr algn="l">
                        <a:buNone/>
                      </a:pPr>
                      <a:r>
                        <a:rPr sz="1050" b="0">
                          <a:solidFill>
                            <a:srgbClr val="2E3142"/>
                          </a:solidFill>
                          <a:latin typeface="Consolas"/>
                          <a:ea typeface="Consolas"/>
                          <a:cs typeface="Consolas"/>
                        </a:rPr>
                        <a:t>geom</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Geometry</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NOT NULL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N/A</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위치(점) 또는 선형(송전선)</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211462884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99" name="Picture 2"/>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700" y="-12700"/>
            <a:ext cx="18313400" cy="1638300"/>
          </a:xfrm>
          <a:prstGeom prst="rect">
            <a:avLst/>
          </a:prstGeom>
        </p:spPr>
      </p:pic>
      <p:pic>
        <p:nvPicPr>
          <p:cNvPr id="5300" name="Picture 4"/>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28" y="1618343"/>
            <a:ext cx="18313400" cy="8699500"/>
          </a:xfrm>
          <a:prstGeom prst="rect">
            <a:avLst/>
          </a:prstGeom>
        </p:spPr>
      </p:pic>
      <p:pic>
        <p:nvPicPr>
          <p:cNvPr id="5301" name="Picture 5"/>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58800" y="9271000"/>
            <a:ext cx="17170400" cy="50800"/>
          </a:xfrm>
          <a:prstGeom prst="rect">
            <a:avLst/>
          </a:prstGeom>
        </p:spPr>
      </p:pic>
      <p:pic>
        <p:nvPicPr>
          <p:cNvPr id="5302" name="Picture 3"/>
          <p:cNvPicPr>
            <a:picLocks noChangeAspect="1"/>
          </p:cNvPicPr>
          <p:nvPr/>
        </p:nvPicPr>
        <p:blipFill>
          <a:blip>
            <a:extLst>
              <a:ext uri="{96DAC541-7B7A-43D3-8B79-37D633B846F1}">
                <asvg:svgBlip xmlns:asvg="http://schemas.microsoft.com/office/drawing/2016/SVG/main" r:embed="rId6"/>
              </a:ext>
            </a:extLst>
          </a:blip>
          <a:srcRect b="43005"/>
          <a:stretch>
            <a:fillRect/>
          </a:stretch>
        </p:blipFill>
        <p:spPr>
          <a:xfrm>
            <a:off x="15443200" y="228600"/>
            <a:ext cx="1384300" cy="1397000"/>
          </a:xfrm>
          <a:prstGeom prst="rect">
            <a:avLst/>
          </a:prstGeom>
        </p:spPr>
      </p:pic>
      <p:sp>
        <p:nvSpPr>
          <p:cNvPr id="5288" name="Title">
            <a:extLst>
              <a:ext uri="{FF2B5EF4-FFF2-40B4-BE49-F238E27FC236}">
                <a16:creationId xmlns:a16="http://schemas.microsoft.com/office/drawing/2014/main" id="{AC390B97-F99C-4CA3-AC71-8C7EA7F71E7A}"/>
              </a:ext>
            </a:extLst>
          </p:cNvPr>
          <p:cNvSpPr>
            <a:spLocks noGrp="1"/>
          </p:cNvSpPr>
          <p:nvPr/>
        </p:nvSpPr>
        <p:spPr>
          <a:xfrm>
            <a:off x="822960" y="384048"/>
            <a:ext cx="13258800" cy="877824"/>
          </a:xfrm>
          <a:prstGeom prst="rect">
            <a:avLst/>
          </a:prstGeom>
          <a:noFill/>
        </p:spPr>
        <p:txBody>
          <a:bodyPr wrap="square" lIns="0" tIns="0" rIns="0" bIns="0" anchor="ctr">
            <a:spAutoFit/>
          </a:bodyPr>
          <a:lstStyle/>
          <a:p>
            <a:pPr algn="l">
              <a:buNone/>
            </a:pPr>
            <a:r>
              <a:rPr sz="4400" b="0">
                <a:solidFill>
                  <a:srgbClr val="FAA95A"/>
                </a:solidFill>
                <a:latin typeface="210 OmniGothic 050"/>
                <a:ea typeface="210 OmniGothic 050"/>
                <a:cs typeface="210 OmniGothic 050"/>
              </a:rPr>
              <a:t>05. 클래스 다이어그램</a:t>
            </a:r>
          </a:p>
        </p:txBody>
      </p:sp>
      <p:sp>
        <p:nvSpPr>
          <p:cNvPr id="5289" name="Subtitle">
            <a:extLst>
              <a:ext uri="{FF2B5EF4-FFF2-40B4-BE49-F238E27FC236}">
                <a16:creationId xmlns:a16="http://schemas.microsoft.com/office/drawing/2014/main" id="{7B27C925-D9C9-4B24-88AC-E245F2690D56}"/>
              </a:ext>
            </a:extLst>
          </p:cNvPr>
          <p:cNvSpPr>
            <a:spLocks noGrp="1"/>
          </p:cNvSpPr>
          <p:nvPr/>
        </p:nvSpPr>
        <p:spPr>
          <a:xfrm>
            <a:off x="822960" y="1764792"/>
            <a:ext cx="16642080" cy="502920"/>
          </a:xfrm>
          <a:prstGeom prst="rect">
            <a:avLst/>
          </a:prstGeom>
          <a:noFill/>
        </p:spPr>
        <p:txBody>
          <a:bodyPr wrap="square" lIns="0" tIns="0" rIns="0" bIns="0" anchor="ctr">
            <a:spAutoFit/>
          </a:bodyPr>
          <a:lstStyle/>
          <a:p>
            <a:pPr algn="ctr">
              <a:buNone/>
            </a:pPr>
            <a:r>
              <a:rPr sz="2600" b="1">
                <a:solidFill>
                  <a:srgbClr val="363A52"/>
                </a:solidFill>
                <a:latin typeface="210 OmniGothic 040"/>
                <a:ea typeface="210 OmniGothic 040"/>
                <a:cs typeface="210 OmniGothic 040"/>
              </a:rPr>
              <a:t>1. 속성 정의 – </a:t>
            </a:r>
            <a:r>
              <a:rPr sz="2600" b="1">
                <a:solidFill>
                  <a:srgbClr val="FAA95A"/>
                </a:solidFill>
                <a:latin typeface="210 OmniGothic 040"/>
                <a:ea typeface="210 OmniGothic 040"/>
                <a:cs typeface="210 OmniGothic 040"/>
              </a:rPr>
              <a:t>도메인 엔티티 (설계)</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idx="12"/>
          </p:nvPr>
        </p:nvSpPr>
        <p:spPr/>
        <p:txBody>
          <a:bodyPr/>
          <a:lstStyle/>
          <a:p>
            <a:fld id="{B6F15528-21DE-4FAA-801E-634DDDAF4B2B}" type="slidenum">
              <a:t>56</a:t>
            </a:fld>
            <a:endParaRPr/>
          </a:p>
        </p:txBody>
      </p:sp>
      <p:sp>
        <p:nvSpPr>
          <p:cNvPr id="5290" name="TextBox 5289">
            <a:extLst>
              <a:ext uri="{FF2B5EF4-FFF2-40B4-BE49-F238E27FC236}">
                <a16:creationId xmlns:a16="http://schemas.microsoft.com/office/drawing/2014/main" id="{03E9786C-6BCD-4F93-AEB2-1FBE05EB5B88}"/>
              </a:ext>
            </a:extLst>
          </p:cNvPr>
          <p:cNvSpPr>
            <a:spLocks noGrp="1"/>
          </p:cNvSpPr>
          <p:nvPr/>
        </p:nvSpPr>
        <p:spPr>
          <a:xfrm>
            <a:off x="822960" y="2395728"/>
            <a:ext cx="11430000" cy="301752"/>
          </a:xfrm>
          <a:prstGeom prst="rect">
            <a:avLst/>
          </a:prstGeom>
          <a:noFill/>
        </p:spPr>
        <p:txBody>
          <a:bodyPr wrap="square" lIns="0" tIns="0" rIns="0" bIns="0" anchor="t">
            <a:spAutoFit/>
          </a:bodyPr>
          <a:lstStyle/>
          <a:p>
            <a:pPr algn="l">
              <a:buNone/>
            </a:pPr>
            <a:r>
              <a:rPr sz="1500" b="1">
                <a:solidFill>
                  <a:srgbClr val="2E3142"/>
                </a:solidFill>
                <a:latin typeface="210 OmniGothic 040"/>
                <a:ea typeface="210 OmniGothic 040"/>
                <a:cs typeface="210 OmniGothic 040"/>
              </a:rPr>
              <a:t>PredictionRun 클래스</a:t>
            </a:r>
            <a:r>
              <a:rPr sz="1250" b="0">
                <a:solidFill>
                  <a:srgbClr val="6B7080"/>
                </a:solidFill>
                <a:latin typeface="210 OmniGothic 040"/>
                <a:ea typeface="210 OmniGothic 040"/>
                <a:cs typeface="210 OmniGothic 040"/>
              </a:rPr>
              <a:t>  확산 예측 실행</a:t>
            </a:r>
          </a:p>
        </p:txBody>
      </p:sp>
      <p:graphicFrame>
        <p:nvGraphicFramePr>
          <p:cNvPr id="5307" name="Table 5290"/>
          <p:cNvGraphicFramePr/>
          <p:nvPr/>
        </p:nvGraphicFramePr>
        <p:xfrm>
          <a:off x="822960" y="2727655"/>
          <a:ext cx="16459200" cy="2715768"/>
        </p:xfrm>
        <a:graphic>
          <a:graphicData uri="http://schemas.openxmlformats.org/drawingml/2006/table">
            <a:tbl>
              <a:tblPr>
                <a:tableStyleId>{2D5ABB26-0587-4C30-8999-92F81FD0307C}</a:tableStyleId>
              </a:tblPr>
              <a:tblGrid>
                <a:gridCol w="2000250">
                  <a:extLst>
                    <a:ext uri="{9D8B030D-6E8A-4147-A177-3AD203B41FA5}">
                      <a16:colId xmlns:a16="http://schemas.microsoft.com/office/drawing/2014/main" val="20000"/>
                    </a:ext>
                  </a:extLst>
                </a:gridCol>
                <a:gridCol w="971550">
                  <a:extLst>
                    <a:ext uri="{9D8B030D-6E8A-4147-A177-3AD203B41FA5}">
                      <a16:colId xmlns:a16="http://schemas.microsoft.com/office/drawing/2014/main" val="20001"/>
                    </a:ext>
                  </a:extLst>
                </a:gridCol>
                <a:gridCol w="1543050">
                  <a:extLst>
                    <a:ext uri="{9D8B030D-6E8A-4147-A177-3AD203B41FA5}">
                      <a16:colId xmlns:a16="http://schemas.microsoft.com/office/drawing/2014/main" val="20002"/>
                    </a:ext>
                  </a:extLst>
                </a:gridCol>
                <a:gridCol w="6858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1085850">
                  <a:extLst>
                    <a:ext uri="{9D8B030D-6E8A-4147-A177-3AD203B41FA5}">
                      <a16:colId xmlns:a16="http://schemas.microsoft.com/office/drawing/2014/main" val="20005"/>
                    </a:ext>
                  </a:extLst>
                </a:gridCol>
                <a:gridCol w="8801100">
                  <a:extLst>
                    <a:ext uri="{9D8B030D-6E8A-4147-A177-3AD203B41FA5}">
                      <a16:colId xmlns:a16="http://schemas.microsoft.com/office/drawing/2014/main" val="20006"/>
                    </a:ext>
                  </a:extLst>
                </a:gridCol>
              </a:tblGrid>
              <a:tr h="301752">
                <a:tc>
                  <a:txBody>
                    <a:bodyPr/>
                    <a:lstStyle/>
                    <a:p>
                      <a:pPr algn="l">
                        <a:buNone/>
                      </a:pPr>
                      <a:r>
                        <a:rPr sz="1050" b="1">
                          <a:solidFill>
                            <a:srgbClr val="2E3142"/>
                          </a:solidFill>
                          <a:latin typeface="210 OmniGothic 040"/>
                          <a:ea typeface="210 OmniGothic 040"/>
                          <a:cs typeface="210 OmniGothic 040"/>
                        </a:rPr>
                        <a:t>속성명</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가시성</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자료형</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크기</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NULLABLE</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기본값</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설명</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extLst>
                  <a:ext uri="{0D108BD9-81ED-4DB2-BD59-A6C34878D82A}">
                    <a16:rowId xmlns:a16="http://schemas.microsoft.com/office/drawing/2014/main" val="10000"/>
                  </a:ext>
                </a:extLst>
              </a:tr>
              <a:tr h="301752">
                <a:tc>
                  <a:txBody>
                    <a:bodyPr/>
                    <a:lstStyle/>
                    <a:p>
                      <a:pPr algn="l">
                        <a:buNone/>
                      </a:pPr>
                      <a:r>
                        <a:rPr sz="1050" b="0">
                          <a:solidFill>
                            <a:srgbClr val="2E3142"/>
                          </a:solidFill>
                          <a:latin typeface="Consolas"/>
                          <a:ea typeface="Consolas"/>
                          <a:cs typeface="Consolas"/>
                        </a:rPr>
                        <a:t>id</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int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NOT NULL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auto</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예측 실행 식별자 (PK)</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1"/>
                  </a:ext>
                </a:extLst>
              </a:tr>
              <a:tr h="301752">
                <a:tc>
                  <a:txBody>
                    <a:bodyPr/>
                    <a:lstStyle/>
                    <a:p>
                      <a:pPr algn="l">
                        <a:buNone/>
                      </a:pPr>
                      <a:r>
                        <a:rPr sz="1050" b="0">
                          <a:solidFill>
                            <a:srgbClr val="2E3142"/>
                          </a:solidFill>
                          <a:latin typeface="Consolas"/>
                          <a:ea typeface="Consolas"/>
                          <a:cs typeface="Consolas"/>
                        </a:rPr>
                        <a:t>incident_id</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str</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20</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NOT NULL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N/A</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사건 ID (FK → incidents.id)</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2"/>
                  </a:ext>
                </a:extLst>
              </a:tr>
              <a:tr h="301752">
                <a:tc>
                  <a:txBody>
                    <a:bodyPr/>
                    <a:lstStyle/>
                    <a:p>
                      <a:pPr algn="l">
                        <a:buNone/>
                      </a:pPr>
                      <a:r>
                        <a:rPr sz="1050" b="0">
                          <a:solidFill>
                            <a:srgbClr val="2E3142"/>
                          </a:solidFill>
                          <a:latin typeface="Consolas"/>
                          <a:ea typeface="Consolas"/>
                          <a:cs typeface="Consolas"/>
                        </a:rPr>
                        <a:t>t0</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datetime</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NOT NULL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N/A</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예측 기준 시각</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3"/>
                  </a:ext>
                </a:extLst>
              </a:tr>
              <a:tr h="301752">
                <a:tc>
                  <a:txBody>
                    <a:bodyPr/>
                    <a:lstStyle/>
                    <a:p>
                      <a:pPr algn="l">
                        <a:buNone/>
                      </a:pPr>
                      <a:r>
                        <a:rPr sz="1050" b="0">
                          <a:solidFill>
                            <a:srgbClr val="2E3142"/>
                          </a:solidFill>
                          <a:latin typeface="Consolas"/>
                          <a:ea typeface="Consolas"/>
                          <a:cs typeface="Consolas"/>
                        </a:rPr>
                        <a:t>perimeter_id</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int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NULLABLE</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N/A</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초기 연소 범위 (FK → fire_perimeters.id, NULL이면 발화점)</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4"/>
                  </a:ext>
                </a:extLst>
              </a:tr>
              <a:tr h="301752">
                <a:tc>
                  <a:txBody>
                    <a:bodyPr/>
                    <a:lstStyle/>
                    <a:p>
                      <a:pPr algn="l">
                        <a:buNone/>
                      </a:pPr>
                      <a:r>
                        <a:rPr sz="1050" b="0">
                          <a:solidFill>
                            <a:srgbClr val="2E3142"/>
                          </a:solidFill>
                          <a:latin typeface="Consolas"/>
                          <a:ea typeface="Consolas"/>
                          <a:cs typeface="Consolas"/>
                        </a:rPr>
                        <a:t>wind_speed</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float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NOT NULL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N/A</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입력 풍속 (m/s, 기상청 예보)</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5"/>
                  </a:ext>
                </a:extLst>
              </a:tr>
              <a:tr h="301752">
                <a:tc>
                  <a:txBody>
                    <a:bodyPr/>
                    <a:lstStyle/>
                    <a:p>
                      <a:pPr algn="l">
                        <a:buNone/>
                      </a:pPr>
                      <a:r>
                        <a:rPr sz="1050" b="0">
                          <a:solidFill>
                            <a:srgbClr val="2E3142"/>
                          </a:solidFill>
                          <a:latin typeface="Consolas"/>
                          <a:ea typeface="Consolas"/>
                          <a:cs typeface="Consolas"/>
                        </a:rPr>
                        <a:t>wind_dir</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int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NOT NULL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N/A</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입력 풍향 (°)</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6"/>
                  </a:ext>
                </a:extLst>
              </a:tr>
              <a:tr h="301752">
                <a:tc>
                  <a:txBody>
                    <a:bodyPr/>
                    <a:lstStyle/>
                    <a:p>
                      <a:pPr algn="l">
                        <a:buNone/>
                      </a:pPr>
                      <a:r>
                        <a:rPr sz="1050" b="0">
                          <a:solidFill>
                            <a:srgbClr val="2E3142"/>
                          </a:solidFill>
                          <a:latin typeface="Consolas"/>
                          <a:ea typeface="Consolas"/>
                          <a:cs typeface="Consolas"/>
                        </a:rPr>
                        <a:t>status</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RunStatusEnum</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NOT NULL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RUNNING</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실행 상태 (RUNNING·DONE·FAILED)</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7"/>
                  </a:ext>
                </a:extLst>
              </a:tr>
              <a:tr h="301752">
                <a:tc>
                  <a:txBody>
                    <a:bodyPr/>
                    <a:lstStyle/>
                    <a:p>
                      <a:pPr algn="l">
                        <a:buNone/>
                      </a:pPr>
                      <a:r>
                        <a:rPr sz="1050" b="0">
                          <a:solidFill>
                            <a:srgbClr val="2E3142"/>
                          </a:solidFill>
                          <a:latin typeface="Consolas"/>
                          <a:ea typeface="Consolas"/>
                          <a:cs typeface="Consolas"/>
                        </a:rPr>
                        <a:t>requested_by</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int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NOT NULL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N/A</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실행한 통합지휘권자 (FK → users.id)</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8"/>
                  </a:ext>
                </a:extLst>
              </a:tr>
            </a:tbl>
          </a:graphicData>
        </a:graphic>
      </p:graphicFrame>
      <p:sp>
        <p:nvSpPr>
          <p:cNvPr id="5292" name="TextBox 5291">
            <a:extLst>
              <a:ext uri="{FF2B5EF4-FFF2-40B4-BE49-F238E27FC236}">
                <a16:creationId xmlns:a16="http://schemas.microsoft.com/office/drawing/2014/main" id="{4324553E-98CB-4A4B-B5BE-8CBDD8FBB705}"/>
              </a:ext>
            </a:extLst>
          </p:cNvPr>
          <p:cNvSpPr>
            <a:spLocks noGrp="1"/>
          </p:cNvSpPr>
          <p:nvPr/>
        </p:nvSpPr>
        <p:spPr>
          <a:xfrm>
            <a:off x="822960" y="5584240"/>
            <a:ext cx="11430000" cy="301752"/>
          </a:xfrm>
          <a:prstGeom prst="rect">
            <a:avLst/>
          </a:prstGeom>
          <a:noFill/>
        </p:spPr>
        <p:txBody>
          <a:bodyPr wrap="square" lIns="0" tIns="0" rIns="0" bIns="0" anchor="t">
            <a:spAutoFit/>
          </a:bodyPr>
          <a:lstStyle/>
          <a:p>
            <a:pPr algn="l">
              <a:buNone/>
            </a:pPr>
            <a:r>
              <a:rPr sz="1500" b="1">
                <a:solidFill>
                  <a:srgbClr val="2E3142"/>
                </a:solidFill>
                <a:latin typeface="210 OmniGothic 040"/>
                <a:ea typeface="210 OmniGothic 040"/>
                <a:cs typeface="210 OmniGothic 040"/>
              </a:rPr>
              <a:t>SpreadSlice 클래스</a:t>
            </a:r>
            <a:r>
              <a:rPr sz="1250" b="0">
                <a:solidFill>
                  <a:srgbClr val="6B7080"/>
                </a:solidFill>
                <a:latin typeface="210 OmniGothic 040"/>
                <a:ea typeface="210 OmniGothic 040"/>
                <a:cs typeface="210 OmniGothic 040"/>
              </a:rPr>
              <a:t>  시간별 확산 범위</a:t>
            </a:r>
          </a:p>
        </p:txBody>
      </p:sp>
      <p:graphicFrame>
        <p:nvGraphicFramePr>
          <p:cNvPr id="5309" name="Table 5292"/>
          <p:cNvGraphicFramePr/>
          <p:nvPr/>
        </p:nvGraphicFramePr>
        <p:xfrm>
          <a:off x="822960" y="5916168"/>
          <a:ext cx="16459200" cy="1810512"/>
        </p:xfrm>
        <a:graphic>
          <a:graphicData uri="http://schemas.openxmlformats.org/drawingml/2006/table">
            <a:tbl>
              <a:tblPr>
                <a:tableStyleId>{2D5ABB26-0587-4C30-8999-92F81FD0307C}</a:tableStyleId>
              </a:tblPr>
              <a:tblGrid>
                <a:gridCol w="2000250">
                  <a:extLst>
                    <a:ext uri="{9D8B030D-6E8A-4147-A177-3AD203B41FA5}">
                      <a16:colId xmlns:a16="http://schemas.microsoft.com/office/drawing/2014/main" val="20000"/>
                    </a:ext>
                  </a:extLst>
                </a:gridCol>
                <a:gridCol w="971550">
                  <a:extLst>
                    <a:ext uri="{9D8B030D-6E8A-4147-A177-3AD203B41FA5}">
                      <a16:colId xmlns:a16="http://schemas.microsoft.com/office/drawing/2014/main" val="20001"/>
                    </a:ext>
                  </a:extLst>
                </a:gridCol>
                <a:gridCol w="1543050">
                  <a:extLst>
                    <a:ext uri="{9D8B030D-6E8A-4147-A177-3AD203B41FA5}">
                      <a16:colId xmlns:a16="http://schemas.microsoft.com/office/drawing/2014/main" val="20002"/>
                    </a:ext>
                  </a:extLst>
                </a:gridCol>
                <a:gridCol w="6858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1085850">
                  <a:extLst>
                    <a:ext uri="{9D8B030D-6E8A-4147-A177-3AD203B41FA5}">
                      <a16:colId xmlns:a16="http://schemas.microsoft.com/office/drawing/2014/main" val="20005"/>
                    </a:ext>
                  </a:extLst>
                </a:gridCol>
                <a:gridCol w="8801100">
                  <a:extLst>
                    <a:ext uri="{9D8B030D-6E8A-4147-A177-3AD203B41FA5}">
                      <a16:colId xmlns:a16="http://schemas.microsoft.com/office/drawing/2014/main" val="20006"/>
                    </a:ext>
                  </a:extLst>
                </a:gridCol>
              </a:tblGrid>
              <a:tr h="301752">
                <a:tc>
                  <a:txBody>
                    <a:bodyPr/>
                    <a:lstStyle/>
                    <a:p>
                      <a:pPr algn="l">
                        <a:buNone/>
                      </a:pPr>
                      <a:r>
                        <a:rPr sz="1050" b="1">
                          <a:solidFill>
                            <a:srgbClr val="2E3142"/>
                          </a:solidFill>
                          <a:latin typeface="210 OmniGothic 040"/>
                          <a:ea typeface="210 OmniGothic 040"/>
                          <a:cs typeface="210 OmniGothic 040"/>
                        </a:rPr>
                        <a:t>속성명</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가시성</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자료형</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크기</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NULLABLE</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기본값</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설명</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extLst>
                  <a:ext uri="{0D108BD9-81ED-4DB2-BD59-A6C34878D82A}">
                    <a16:rowId xmlns:a16="http://schemas.microsoft.com/office/drawing/2014/main" val="10000"/>
                  </a:ext>
                </a:extLst>
              </a:tr>
              <a:tr h="301752">
                <a:tc>
                  <a:txBody>
                    <a:bodyPr/>
                    <a:lstStyle/>
                    <a:p>
                      <a:pPr algn="l">
                        <a:buNone/>
                      </a:pPr>
                      <a:r>
                        <a:rPr sz="1050" b="0">
                          <a:solidFill>
                            <a:srgbClr val="2E3142"/>
                          </a:solidFill>
                          <a:latin typeface="Consolas"/>
                          <a:ea typeface="Consolas"/>
                          <a:cs typeface="Consolas"/>
                        </a:rPr>
                        <a:t>id</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int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NOT NULL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auto</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슬라이스 식별자 (PK)</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1"/>
                  </a:ext>
                </a:extLst>
              </a:tr>
              <a:tr h="301752">
                <a:tc>
                  <a:txBody>
                    <a:bodyPr/>
                    <a:lstStyle/>
                    <a:p>
                      <a:pPr algn="l">
                        <a:buNone/>
                      </a:pPr>
                      <a:r>
                        <a:rPr sz="1050" b="0">
                          <a:solidFill>
                            <a:srgbClr val="2E3142"/>
                          </a:solidFill>
                          <a:latin typeface="Consolas"/>
                          <a:ea typeface="Consolas"/>
                          <a:cs typeface="Consolas"/>
                        </a:rPr>
                        <a:t>run_id</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int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NOT NULL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N/A</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예측 실행 ID (FK → prediction_runs.id)</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2"/>
                  </a:ext>
                </a:extLst>
              </a:tr>
              <a:tr h="301752">
                <a:tc>
                  <a:txBody>
                    <a:bodyPr/>
                    <a:lstStyle/>
                    <a:p>
                      <a:pPr algn="l">
                        <a:buNone/>
                      </a:pPr>
                      <a:r>
                        <a:rPr sz="1050" b="0">
                          <a:solidFill>
                            <a:srgbClr val="2E3142"/>
                          </a:solidFill>
                          <a:latin typeface="Consolas"/>
                          <a:ea typeface="Consolas"/>
                          <a:cs typeface="Consolas"/>
                        </a:rPr>
                        <a:t>t_hours</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int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NOT NULL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N/A</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경과 시간 1~8 (P1~P8)</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3"/>
                  </a:ext>
                </a:extLst>
              </a:tr>
              <a:tr h="301752">
                <a:tc>
                  <a:txBody>
                    <a:bodyPr/>
                    <a:lstStyle/>
                    <a:p>
                      <a:pPr algn="l">
                        <a:buNone/>
                      </a:pPr>
                      <a:r>
                        <a:rPr sz="1050" b="0">
                          <a:solidFill>
                            <a:srgbClr val="2E3142"/>
                          </a:solidFill>
                          <a:latin typeface="Consolas"/>
                          <a:ea typeface="Consolas"/>
                          <a:cs typeface="Consolas"/>
                        </a:rPr>
                        <a:t>geom</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Polygon</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NOT NULL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N/A</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누적 확산 범위 (EPSG:5179)</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4"/>
                  </a:ext>
                </a:extLst>
              </a:tr>
              <a:tr h="301752">
                <a:tc>
                  <a:txBody>
                    <a:bodyPr/>
                    <a:lstStyle/>
                    <a:p>
                      <a:pPr algn="l">
                        <a:buNone/>
                      </a:pPr>
                      <a:r>
                        <a:rPr sz="1050" b="0">
                          <a:solidFill>
                            <a:srgbClr val="2E3142"/>
                          </a:solidFill>
                          <a:latin typeface="Consolas"/>
                          <a:ea typeface="Consolas"/>
                          <a:cs typeface="Consolas"/>
                        </a:rPr>
                        <a:t>area_ha</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float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NOT NULL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N/A</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면적 (ha)</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9556566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04" name="Picture 2"/>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700" y="-12700"/>
            <a:ext cx="18313400" cy="1638300"/>
          </a:xfrm>
          <a:prstGeom prst="rect">
            <a:avLst/>
          </a:prstGeom>
        </p:spPr>
      </p:pic>
      <p:pic>
        <p:nvPicPr>
          <p:cNvPr id="5305" name="Picture 4"/>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28" y="1618343"/>
            <a:ext cx="18313400" cy="8699500"/>
          </a:xfrm>
          <a:prstGeom prst="rect">
            <a:avLst/>
          </a:prstGeom>
        </p:spPr>
      </p:pic>
      <p:pic>
        <p:nvPicPr>
          <p:cNvPr id="5306" name="Picture 5"/>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58800" y="9271000"/>
            <a:ext cx="17170400" cy="50800"/>
          </a:xfrm>
          <a:prstGeom prst="rect">
            <a:avLst/>
          </a:prstGeom>
        </p:spPr>
      </p:pic>
      <p:pic>
        <p:nvPicPr>
          <p:cNvPr id="5307" name="Picture 3"/>
          <p:cNvPicPr>
            <a:picLocks noChangeAspect="1"/>
          </p:cNvPicPr>
          <p:nvPr/>
        </p:nvPicPr>
        <p:blipFill>
          <a:blip>
            <a:extLst>
              <a:ext uri="{96DAC541-7B7A-43D3-8B79-37D633B846F1}">
                <asvg:svgBlip xmlns:asvg="http://schemas.microsoft.com/office/drawing/2016/SVG/main" r:embed="rId6"/>
              </a:ext>
            </a:extLst>
          </a:blip>
          <a:srcRect b="43005"/>
          <a:stretch>
            <a:fillRect/>
          </a:stretch>
        </p:blipFill>
        <p:spPr>
          <a:xfrm>
            <a:off x="15443200" y="228600"/>
            <a:ext cx="1384300" cy="1397000"/>
          </a:xfrm>
          <a:prstGeom prst="rect">
            <a:avLst/>
          </a:prstGeom>
        </p:spPr>
      </p:pic>
      <p:sp>
        <p:nvSpPr>
          <p:cNvPr id="5293" name="Title">
            <a:extLst>
              <a:ext uri="{FF2B5EF4-FFF2-40B4-BE49-F238E27FC236}">
                <a16:creationId xmlns:a16="http://schemas.microsoft.com/office/drawing/2014/main" id="{312B3DFF-74A4-47D3-81AB-2C8081BEB2CF}"/>
              </a:ext>
            </a:extLst>
          </p:cNvPr>
          <p:cNvSpPr>
            <a:spLocks noGrp="1"/>
          </p:cNvSpPr>
          <p:nvPr/>
        </p:nvSpPr>
        <p:spPr>
          <a:xfrm>
            <a:off x="822960" y="384048"/>
            <a:ext cx="13258800" cy="877824"/>
          </a:xfrm>
          <a:prstGeom prst="rect">
            <a:avLst/>
          </a:prstGeom>
          <a:noFill/>
        </p:spPr>
        <p:txBody>
          <a:bodyPr wrap="square" lIns="0" tIns="0" rIns="0" bIns="0" anchor="ctr">
            <a:spAutoFit/>
          </a:bodyPr>
          <a:lstStyle/>
          <a:p>
            <a:pPr algn="l">
              <a:buNone/>
            </a:pPr>
            <a:r>
              <a:rPr sz="4400" b="0">
                <a:solidFill>
                  <a:srgbClr val="FAA95A"/>
                </a:solidFill>
                <a:latin typeface="210 OmniGothic 050"/>
                <a:ea typeface="210 OmniGothic 050"/>
                <a:cs typeface="210 OmniGothic 050"/>
              </a:rPr>
              <a:t>05. 클래스 다이어그램</a:t>
            </a:r>
          </a:p>
        </p:txBody>
      </p:sp>
      <p:sp>
        <p:nvSpPr>
          <p:cNvPr id="5294" name="Subtitle">
            <a:extLst>
              <a:ext uri="{FF2B5EF4-FFF2-40B4-BE49-F238E27FC236}">
                <a16:creationId xmlns:a16="http://schemas.microsoft.com/office/drawing/2014/main" id="{983F874E-419F-4E6F-886D-448F1648C183}"/>
              </a:ext>
            </a:extLst>
          </p:cNvPr>
          <p:cNvSpPr>
            <a:spLocks noGrp="1"/>
          </p:cNvSpPr>
          <p:nvPr/>
        </p:nvSpPr>
        <p:spPr>
          <a:xfrm>
            <a:off x="822960" y="1764792"/>
            <a:ext cx="16642080" cy="502920"/>
          </a:xfrm>
          <a:prstGeom prst="rect">
            <a:avLst/>
          </a:prstGeom>
          <a:noFill/>
        </p:spPr>
        <p:txBody>
          <a:bodyPr wrap="square" lIns="0" tIns="0" rIns="0" bIns="0" anchor="ctr">
            <a:spAutoFit/>
          </a:bodyPr>
          <a:lstStyle/>
          <a:p>
            <a:pPr algn="ctr">
              <a:buNone/>
            </a:pPr>
            <a:r>
              <a:rPr sz="2600" b="1">
                <a:solidFill>
                  <a:srgbClr val="363A52"/>
                </a:solidFill>
                <a:latin typeface="210 OmniGothic 040"/>
                <a:ea typeface="210 OmniGothic 040"/>
                <a:cs typeface="210 OmniGothic 040"/>
              </a:rPr>
              <a:t>1. 속성 정의 – </a:t>
            </a:r>
            <a:r>
              <a:rPr sz="2600" b="1">
                <a:solidFill>
                  <a:srgbClr val="FAA95A"/>
                </a:solidFill>
                <a:latin typeface="210 OmniGothic 040"/>
                <a:ea typeface="210 OmniGothic 040"/>
                <a:cs typeface="210 OmniGothic 040"/>
              </a:rPr>
              <a:t>도메인 엔티티 (설계)</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idx="12"/>
          </p:nvPr>
        </p:nvSpPr>
        <p:spPr/>
        <p:txBody>
          <a:bodyPr/>
          <a:lstStyle/>
          <a:p>
            <a:fld id="{B6F15528-21DE-4FAA-801E-634DDDAF4B2B}" type="slidenum">
              <a:rPr/>
              <a:t>57</a:t>
            </a:fld>
            <a:endParaRPr/>
          </a:p>
        </p:txBody>
      </p:sp>
      <p:sp>
        <p:nvSpPr>
          <p:cNvPr id="5295" name="TextBox 5294">
            <a:extLst>
              <a:ext uri="{FF2B5EF4-FFF2-40B4-BE49-F238E27FC236}">
                <a16:creationId xmlns:a16="http://schemas.microsoft.com/office/drawing/2014/main" id="{55EF679F-69DE-42C4-9D56-C9A44111D881}"/>
              </a:ext>
            </a:extLst>
          </p:cNvPr>
          <p:cNvSpPr>
            <a:spLocks noGrp="1"/>
          </p:cNvSpPr>
          <p:nvPr/>
        </p:nvSpPr>
        <p:spPr>
          <a:xfrm>
            <a:off x="822960" y="2395728"/>
            <a:ext cx="11430000" cy="301752"/>
          </a:xfrm>
          <a:prstGeom prst="rect">
            <a:avLst/>
          </a:prstGeom>
          <a:noFill/>
        </p:spPr>
        <p:txBody>
          <a:bodyPr wrap="square" lIns="0" tIns="0" rIns="0" bIns="0" anchor="t">
            <a:spAutoFit/>
          </a:bodyPr>
          <a:lstStyle/>
          <a:p>
            <a:pPr algn="l">
              <a:buNone/>
            </a:pPr>
            <a:r>
              <a:rPr sz="1500" b="1">
                <a:solidFill>
                  <a:srgbClr val="2E3142"/>
                </a:solidFill>
                <a:latin typeface="210 OmniGothic 040"/>
                <a:ea typeface="210 OmniGothic 040"/>
                <a:cs typeface="210 OmniGothic 040"/>
              </a:rPr>
              <a:t>SituationCorrection 클래스</a:t>
            </a:r>
            <a:r>
              <a:rPr sz="1250" b="0">
                <a:solidFill>
                  <a:srgbClr val="6B7080"/>
                </a:solidFill>
                <a:latin typeface="210 OmniGothic 040"/>
                <a:ea typeface="210 OmniGothic 040"/>
                <a:cs typeface="210 OmniGothic 040"/>
              </a:rPr>
              <a:t>  상황 정정 기록</a:t>
            </a:r>
          </a:p>
        </p:txBody>
      </p:sp>
      <p:graphicFrame>
        <p:nvGraphicFramePr>
          <p:cNvPr id="5312" name="Table 5295"/>
          <p:cNvGraphicFramePr/>
          <p:nvPr/>
        </p:nvGraphicFramePr>
        <p:xfrm>
          <a:off x="822960" y="2727655"/>
          <a:ext cx="16459200" cy="2821379"/>
        </p:xfrm>
        <a:graphic>
          <a:graphicData uri="http://schemas.openxmlformats.org/drawingml/2006/table">
            <a:tbl>
              <a:tblPr>
                <a:tableStyleId>{2D5ABB26-0587-4C30-8999-92F81FD0307C}</a:tableStyleId>
              </a:tblPr>
              <a:tblGrid>
                <a:gridCol w="2000250">
                  <a:extLst>
                    <a:ext uri="{9D8B030D-6E8A-4147-A177-3AD203B41FA5}">
                      <a16:colId xmlns:a16="http://schemas.microsoft.com/office/drawing/2014/main" val="20000"/>
                    </a:ext>
                  </a:extLst>
                </a:gridCol>
                <a:gridCol w="971550">
                  <a:extLst>
                    <a:ext uri="{9D8B030D-6E8A-4147-A177-3AD203B41FA5}">
                      <a16:colId xmlns:a16="http://schemas.microsoft.com/office/drawing/2014/main" val="20001"/>
                    </a:ext>
                  </a:extLst>
                </a:gridCol>
                <a:gridCol w="1543050">
                  <a:extLst>
                    <a:ext uri="{9D8B030D-6E8A-4147-A177-3AD203B41FA5}">
                      <a16:colId xmlns:a16="http://schemas.microsoft.com/office/drawing/2014/main" val="20002"/>
                    </a:ext>
                  </a:extLst>
                </a:gridCol>
                <a:gridCol w="6858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1085850">
                  <a:extLst>
                    <a:ext uri="{9D8B030D-6E8A-4147-A177-3AD203B41FA5}">
                      <a16:colId xmlns:a16="http://schemas.microsoft.com/office/drawing/2014/main" val="20005"/>
                    </a:ext>
                  </a:extLst>
                </a:gridCol>
                <a:gridCol w="8801100">
                  <a:extLst>
                    <a:ext uri="{9D8B030D-6E8A-4147-A177-3AD203B41FA5}">
                      <a16:colId xmlns:a16="http://schemas.microsoft.com/office/drawing/2014/main" val="20006"/>
                    </a:ext>
                  </a:extLst>
                </a:gridCol>
              </a:tblGrid>
              <a:tr h="256489">
                <a:tc>
                  <a:txBody>
                    <a:bodyPr/>
                    <a:lstStyle/>
                    <a:p>
                      <a:pPr algn="l">
                        <a:buNone/>
                      </a:pPr>
                      <a:r>
                        <a:rPr sz="1050" b="1">
                          <a:solidFill>
                            <a:srgbClr val="2E3142"/>
                          </a:solidFill>
                          <a:latin typeface="210 OmniGothic 040"/>
                          <a:ea typeface="210 OmniGothic 040"/>
                          <a:cs typeface="210 OmniGothic 040"/>
                        </a:rPr>
                        <a:t>속성명</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가시성</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자료형</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크기</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NULLABLE</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기본값</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설명</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extLst>
                  <a:ext uri="{0D108BD9-81ED-4DB2-BD59-A6C34878D82A}">
                    <a16:rowId xmlns:a16="http://schemas.microsoft.com/office/drawing/2014/main" val="10000"/>
                  </a:ext>
                </a:extLst>
              </a:tr>
              <a:tr h="256489">
                <a:tc>
                  <a:txBody>
                    <a:bodyPr/>
                    <a:lstStyle/>
                    <a:p>
                      <a:pPr algn="l">
                        <a:buNone/>
                      </a:pPr>
                      <a:r>
                        <a:rPr sz="1050" b="0">
                          <a:solidFill>
                            <a:srgbClr val="2E3142"/>
                          </a:solidFill>
                          <a:latin typeface="Consolas"/>
                          <a:ea typeface="Consolas"/>
                          <a:cs typeface="Consolas"/>
                        </a:rPr>
                        <a:t>id</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int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NOT NULL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auto</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정정 식별자 (PK)</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1"/>
                  </a:ext>
                </a:extLst>
              </a:tr>
              <a:tr h="256489">
                <a:tc>
                  <a:txBody>
                    <a:bodyPr/>
                    <a:lstStyle/>
                    <a:p>
                      <a:pPr algn="l">
                        <a:buNone/>
                      </a:pPr>
                      <a:r>
                        <a:rPr sz="1050" b="0">
                          <a:solidFill>
                            <a:srgbClr val="2E3142"/>
                          </a:solidFill>
                          <a:latin typeface="Consolas"/>
                          <a:ea typeface="Consolas"/>
                          <a:cs typeface="Consolas"/>
                        </a:rPr>
                        <a:t>incident_id</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str</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20</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NOT NULL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N/A</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사건 ID (FK → incidents.id)</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2"/>
                  </a:ext>
                </a:extLst>
              </a:tr>
              <a:tr h="256489">
                <a:tc>
                  <a:txBody>
                    <a:bodyPr/>
                    <a:lstStyle/>
                    <a:p>
                      <a:pPr algn="l">
                        <a:buNone/>
                      </a:pPr>
                      <a:r>
                        <a:rPr sz="1050" b="0">
                          <a:solidFill>
                            <a:srgbClr val="2E3142"/>
                          </a:solidFill>
                          <a:latin typeface="Consolas"/>
                          <a:ea typeface="Consolas"/>
                          <a:cs typeface="Consolas"/>
                        </a:rPr>
                        <a:t>user_id</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int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NOT NULL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N/A</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정정한 통합지휘권자 (FK → users.id)</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3"/>
                  </a:ext>
                </a:extLst>
              </a:tr>
              <a:tr h="256489">
                <a:tc>
                  <a:txBody>
                    <a:bodyPr/>
                    <a:lstStyle/>
                    <a:p>
                      <a:pPr algn="l">
                        <a:buNone/>
                      </a:pPr>
                      <a:r>
                        <a:rPr sz="1050" b="0">
                          <a:solidFill>
                            <a:srgbClr val="2E3142"/>
                          </a:solidFill>
                          <a:latin typeface="Consolas"/>
                          <a:ea typeface="Consolas"/>
                          <a:cs typeface="Consolas"/>
                        </a:rPr>
                        <a:t>message_id</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int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NOT NULL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N/A</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정정 요청 발화 (FK → chat_messages.id)</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4"/>
                  </a:ext>
                </a:extLst>
              </a:tr>
              <a:tr h="256489">
                <a:tc>
                  <a:txBody>
                    <a:bodyPr/>
                    <a:lstStyle/>
                    <a:p>
                      <a:pPr algn="l">
                        <a:buNone/>
                      </a:pPr>
                      <a:r>
                        <a:rPr sz="1050" b="0">
                          <a:solidFill>
                            <a:srgbClr val="2E3142"/>
                          </a:solidFill>
                          <a:latin typeface="Consolas"/>
                          <a:ea typeface="Consolas"/>
                          <a:cs typeface="Consolas"/>
                        </a:rPr>
                        <a:t>target_type</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TargetEnum</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NOT NULL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N/A</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VILLAGE(대피 완료·부상/고립) · RESOURCE(투입 수) · INCIDENT(예상 진화시간·단계·경보) · ORDER(대피명령·재난문자)</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5"/>
                  </a:ext>
                </a:extLst>
              </a:tr>
              <a:tr h="256489">
                <a:tc>
                  <a:txBody>
                    <a:bodyPr/>
                    <a:lstStyle/>
                    <a:p>
                      <a:pPr algn="l">
                        <a:buNone/>
                      </a:pPr>
                      <a:r>
                        <a:rPr sz="1050" b="0">
                          <a:solidFill>
                            <a:srgbClr val="2E3142"/>
                          </a:solidFill>
                          <a:latin typeface="Consolas"/>
                          <a:ea typeface="Consolas"/>
                          <a:cs typeface="Consolas"/>
                        </a:rPr>
                        <a:t>target_id</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str</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20</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NULLABLE</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N/A</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대상 식별자 (마을·자원 구분 등)</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6"/>
                  </a:ext>
                </a:extLst>
              </a:tr>
              <a:tr h="256489">
                <a:tc>
                  <a:txBody>
                    <a:bodyPr/>
                    <a:lstStyle/>
                    <a:p>
                      <a:pPr algn="l">
                        <a:buNone/>
                      </a:pPr>
                      <a:r>
                        <a:rPr sz="1050" b="0">
                          <a:solidFill>
                            <a:srgbClr val="2E3142"/>
                          </a:solidFill>
                          <a:latin typeface="Consolas"/>
                          <a:ea typeface="Consolas"/>
                          <a:cs typeface="Consolas"/>
                        </a:rPr>
                        <a:t>item</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str</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30</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NOT NULL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N/A</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정정 항목명 (예: 대피 상태)</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7"/>
                  </a:ext>
                </a:extLst>
              </a:tr>
              <a:tr h="256489">
                <a:tc>
                  <a:txBody>
                    <a:bodyPr/>
                    <a:lstStyle/>
                    <a:p>
                      <a:pPr algn="l">
                        <a:buNone/>
                      </a:pPr>
                      <a:r>
                        <a:rPr sz="1050" b="0">
                          <a:solidFill>
                            <a:srgbClr val="2E3142"/>
                          </a:solidFill>
                          <a:latin typeface="Consolas"/>
                          <a:ea typeface="Consolas"/>
                          <a:cs typeface="Consolas"/>
                        </a:rPr>
                        <a:t>before_value</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str</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30</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NULLABLE</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N/A</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이전 값</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8"/>
                  </a:ext>
                </a:extLst>
              </a:tr>
              <a:tr h="256489">
                <a:tc>
                  <a:txBody>
                    <a:bodyPr/>
                    <a:lstStyle/>
                    <a:p>
                      <a:pPr algn="l">
                        <a:buNone/>
                      </a:pPr>
                      <a:r>
                        <a:rPr sz="1050" b="0">
                          <a:solidFill>
                            <a:srgbClr val="2E3142"/>
                          </a:solidFill>
                          <a:latin typeface="Consolas"/>
                          <a:ea typeface="Consolas"/>
                          <a:cs typeface="Consolas"/>
                        </a:rPr>
                        <a:t>after_value</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str</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30</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NOT NULL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N/A</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변경 값</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9"/>
                  </a:ext>
                </a:extLst>
              </a:tr>
              <a:tr h="256489">
                <a:tc>
                  <a:txBody>
                    <a:bodyPr/>
                    <a:lstStyle/>
                    <a:p>
                      <a:pPr algn="l">
                        <a:buNone/>
                      </a:pPr>
                      <a:r>
                        <a:rPr sz="1050" b="0">
                          <a:solidFill>
                            <a:srgbClr val="2E3142"/>
                          </a:solidFill>
                          <a:latin typeface="Consolas"/>
                          <a:ea typeface="Consolas"/>
                          <a:cs typeface="Consolas"/>
                        </a:rPr>
                        <a:t>confirmed_at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datetime</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NOT NULL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now()</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「확인 · 저장 후 재생성」 시각</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10"/>
                  </a:ext>
                </a:extLst>
              </a:tr>
            </a:tbl>
          </a:graphicData>
        </a:graphic>
      </p:graphicFrame>
      <p:sp>
        <p:nvSpPr>
          <p:cNvPr id="5297" name="TextBox 5296">
            <a:extLst>
              <a:ext uri="{FF2B5EF4-FFF2-40B4-BE49-F238E27FC236}">
                <a16:creationId xmlns:a16="http://schemas.microsoft.com/office/drawing/2014/main" id="{DC15AC31-E71D-40BA-8B32-582534AADB4B}"/>
              </a:ext>
            </a:extLst>
          </p:cNvPr>
          <p:cNvSpPr>
            <a:spLocks noGrp="1"/>
          </p:cNvSpPr>
          <p:nvPr/>
        </p:nvSpPr>
        <p:spPr>
          <a:xfrm>
            <a:off x="822960" y="5689854"/>
            <a:ext cx="11430000" cy="301752"/>
          </a:xfrm>
          <a:prstGeom prst="rect">
            <a:avLst/>
          </a:prstGeom>
          <a:noFill/>
        </p:spPr>
        <p:txBody>
          <a:bodyPr wrap="square" lIns="0" tIns="0" rIns="0" bIns="0" anchor="t">
            <a:spAutoFit/>
          </a:bodyPr>
          <a:lstStyle/>
          <a:p>
            <a:pPr algn="l">
              <a:buNone/>
            </a:pPr>
            <a:r>
              <a:rPr sz="1500" b="1">
                <a:solidFill>
                  <a:srgbClr val="2E3142"/>
                </a:solidFill>
                <a:latin typeface="210 OmniGothic 040"/>
                <a:ea typeface="210 OmniGothic 040"/>
                <a:cs typeface="210 OmniGothic 040"/>
              </a:rPr>
              <a:t>Proposal 클래스</a:t>
            </a:r>
            <a:r>
              <a:rPr sz="1250" b="0">
                <a:solidFill>
                  <a:srgbClr val="6B7080"/>
                </a:solidFill>
                <a:latin typeface="210 OmniGothic 040"/>
                <a:ea typeface="210 OmniGothic 040"/>
                <a:cs typeface="210 OmniGothic 040"/>
              </a:rPr>
              <a:t>  대응 제안서(버전)</a:t>
            </a:r>
          </a:p>
        </p:txBody>
      </p:sp>
      <p:graphicFrame>
        <p:nvGraphicFramePr>
          <p:cNvPr id="5314" name="Table 5297"/>
          <p:cNvGraphicFramePr/>
          <p:nvPr/>
        </p:nvGraphicFramePr>
        <p:xfrm>
          <a:off x="822960" y="6021781"/>
          <a:ext cx="16459200" cy="2821379"/>
        </p:xfrm>
        <a:graphic>
          <a:graphicData uri="http://schemas.openxmlformats.org/drawingml/2006/table">
            <a:tbl>
              <a:tblPr>
                <a:tableStyleId>{2D5ABB26-0587-4C30-8999-92F81FD0307C}</a:tableStyleId>
              </a:tblPr>
              <a:tblGrid>
                <a:gridCol w="2000250">
                  <a:extLst>
                    <a:ext uri="{9D8B030D-6E8A-4147-A177-3AD203B41FA5}">
                      <a16:colId xmlns:a16="http://schemas.microsoft.com/office/drawing/2014/main" val="20000"/>
                    </a:ext>
                  </a:extLst>
                </a:gridCol>
                <a:gridCol w="971550">
                  <a:extLst>
                    <a:ext uri="{9D8B030D-6E8A-4147-A177-3AD203B41FA5}">
                      <a16:colId xmlns:a16="http://schemas.microsoft.com/office/drawing/2014/main" val="20001"/>
                    </a:ext>
                  </a:extLst>
                </a:gridCol>
                <a:gridCol w="1543050">
                  <a:extLst>
                    <a:ext uri="{9D8B030D-6E8A-4147-A177-3AD203B41FA5}">
                      <a16:colId xmlns:a16="http://schemas.microsoft.com/office/drawing/2014/main" val="20002"/>
                    </a:ext>
                  </a:extLst>
                </a:gridCol>
                <a:gridCol w="6858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1085850">
                  <a:extLst>
                    <a:ext uri="{9D8B030D-6E8A-4147-A177-3AD203B41FA5}">
                      <a16:colId xmlns:a16="http://schemas.microsoft.com/office/drawing/2014/main" val="20005"/>
                    </a:ext>
                  </a:extLst>
                </a:gridCol>
                <a:gridCol w="8801100">
                  <a:extLst>
                    <a:ext uri="{9D8B030D-6E8A-4147-A177-3AD203B41FA5}">
                      <a16:colId xmlns:a16="http://schemas.microsoft.com/office/drawing/2014/main" val="20006"/>
                    </a:ext>
                  </a:extLst>
                </a:gridCol>
              </a:tblGrid>
              <a:tr h="256489">
                <a:tc>
                  <a:txBody>
                    <a:bodyPr/>
                    <a:lstStyle/>
                    <a:p>
                      <a:pPr algn="l">
                        <a:buNone/>
                      </a:pPr>
                      <a:r>
                        <a:rPr sz="1050" b="1">
                          <a:solidFill>
                            <a:srgbClr val="2E3142"/>
                          </a:solidFill>
                          <a:latin typeface="210 OmniGothic 040"/>
                          <a:ea typeface="210 OmniGothic 040"/>
                          <a:cs typeface="210 OmniGothic 040"/>
                        </a:rPr>
                        <a:t>속성명</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가시성</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자료형</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크기</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NULLABLE</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기본값</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설명</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extLst>
                  <a:ext uri="{0D108BD9-81ED-4DB2-BD59-A6C34878D82A}">
                    <a16:rowId xmlns:a16="http://schemas.microsoft.com/office/drawing/2014/main" val="10000"/>
                  </a:ext>
                </a:extLst>
              </a:tr>
              <a:tr h="256489">
                <a:tc>
                  <a:txBody>
                    <a:bodyPr/>
                    <a:lstStyle/>
                    <a:p>
                      <a:pPr algn="l">
                        <a:buNone/>
                      </a:pPr>
                      <a:r>
                        <a:rPr sz="1050" b="0">
                          <a:solidFill>
                            <a:srgbClr val="2E3142"/>
                          </a:solidFill>
                          <a:latin typeface="Consolas"/>
                          <a:ea typeface="Consolas"/>
                          <a:cs typeface="Consolas"/>
                        </a:rPr>
                        <a:t>id</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int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NOT NULL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auto</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제안서 식별자 (PK)</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1"/>
                  </a:ext>
                </a:extLst>
              </a:tr>
              <a:tr h="256489">
                <a:tc>
                  <a:txBody>
                    <a:bodyPr/>
                    <a:lstStyle/>
                    <a:p>
                      <a:pPr algn="l">
                        <a:buNone/>
                      </a:pPr>
                      <a:r>
                        <a:rPr sz="1050" b="0">
                          <a:solidFill>
                            <a:srgbClr val="2E3142"/>
                          </a:solidFill>
                          <a:latin typeface="Consolas"/>
                          <a:ea typeface="Consolas"/>
                          <a:cs typeface="Consolas"/>
                        </a:rPr>
                        <a:t>incident_id</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str</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20</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NOT NULL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N/A</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사건 ID (FK → incidents.id)</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2"/>
                  </a:ext>
                </a:extLst>
              </a:tr>
              <a:tr h="256489">
                <a:tc>
                  <a:txBody>
                    <a:bodyPr/>
                    <a:lstStyle/>
                    <a:p>
                      <a:pPr algn="l">
                        <a:buNone/>
                      </a:pPr>
                      <a:r>
                        <a:rPr sz="1050" b="0">
                          <a:solidFill>
                            <a:srgbClr val="2E3142"/>
                          </a:solidFill>
                          <a:latin typeface="Consolas"/>
                          <a:ea typeface="Consolas"/>
                          <a:cs typeface="Consolas"/>
                        </a:rPr>
                        <a:t>run_id</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int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NOT NULL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N/A</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근거 예측 (FK → prediction_runs.id)</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3"/>
                  </a:ext>
                </a:extLst>
              </a:tr>
              <a:tr h="256489">
                <a:tc>
                  <a:txBody>
                    <a:bodyPr/>
                    <a:lstStyle/>
                    <a:p>
                      <a:pPr algn="l">
                        <a:buNone/>
                      </a:pPr>
                      <a:r>
                        <a:rPr sz="1050" b="0">
                          <a:solidFill>
                            <a:srgbClr val="2E3142"/>
                          </a:solidFill>
                          <a:latin typeface="Consolas"/>
                          <a:ea typeface="Consolas"/>
                          <a:cs typeface="Consolas"/>
                        </a:rPr>
                        <a:t>version_no</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int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NOT NULL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N/A</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버전 번호 (버전 1, 버전 2 …)</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4"/>
                  </a:ext>
                </a:extLst>
              </a:tr>
              <a:tr h="256489">
                <a:tc>
                  <a:txBody>
                    <a:bodyPr/>
                    <a:lstStyle/>
                    <a:p>
                      <a:pPr algn="l">
                        <a:buNone/>
                      </a:pPr>
                      <a:r>
                        <a:rPr sz="1050" b="0">
                          <a:solidFill>
                            <a:srgbClr val="2E3142"/>
                          </a:solidFill>
                          <a:latin typeface="Consolas"/>
                          <a:ea typeface="Consolas"/>
                          <a:cs typeface="Consolas"/>
                        </a:rPr>
                        <a:t>reason</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ReasonEnum</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NOT NULL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N/A</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생성 사유 (예측 갱신 / 상황 정정)</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5"/>
                  </a:ext>
                </a:extLst>
              </a:tr>
              <a:tr h="256489">
                <a:tc>
                  <a:txBody>
                    <a:bodyPr/>
                    <a:lstStyle/>
                    <a:p>
                      <a:pPr algn="l">
                        <a:buNone/>
                      </a:pPr>
                      <a:r>
                        <a:rPr sz="1050" b="0">
                          <a:solidFill>
                            <a:srgbClr val="2E3142"/>
                          </a:solidFill>
                          <a:latin typeface="Consolas"/>
                          <a:ea typeface="Consolas"/>
                          <a:cs typeface="Consolas"/>
                        </a:rPr>
                        <a:t>correction_id</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int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NULLABLE</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N/A</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상황 정정 버전이면 정정 기록 (FK → situation_corrections.id)</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6"/>
                  </a:ext>
                </a:extLst>
              </a:tr>
              <a:tr h="256489">
                <a:tc>
                  <a:txBody>
                    <a:bodyPr/>
                    <a:lstStyle/>
                    <a:p>
                      <a:pPr algn="l">
                        <a:buNone/>
                      </a:pPr>
                      <a:r>
                        <a:rPr sz="1050" b="0">
                          <a:solidFill>
                            <a:srgbClr val="2E3142"/>
                          </a:solidFill>
                          <a:latin typeface="Consolas"/>
                          <a:ea typeface="Consolas"/>
                          <a:cs typeface="Consolas"/>
                        </a:rPr>
                        <a:t>official_stage</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StageEnum</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NOT NULL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N/A</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생성 시점 공식 대응단계</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7"/>
                  </a:ext>
                </a:extLst>
              </a:tr>
              <a:tr h="256489">
                <a:tc>
                  <a:txBody>
                    <a:bodyPr/>
                    <a:lstStyle/>
                    <a:p>
                      <a:pPr algn="l">
                        <a:buNone/>
                      </a:pPr>
                      <a:r>
                        <a:rPr sz="1050" b="0">
                          <a:solidFill>
                            <a:srgbClr val="2E3142"/>
                          </a:solidFill>
                          <a:latin typeface="Consolas"/>
                          <a:ea typeface="Consolas"/>
                          <a:cs typeface="Consolas"/>
                        </a:rPr>
                        <a:t>rec_stage</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StageEnum</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NOT NULL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N/A</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규칙 판정 대응단계</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8"/>
                  </a:ext>
                </a:extLst>
              </a:tr>
              <a:tr h="256489">
                <a:tc>
                  <a:txBody>
                    <a:bodyPr/>
                    <a:lstStyle/>
                    <a:p>
                      <a:pPr algn="l">
                        <a:buNone/>
                      </a:pPr>
                      <a:r>
                        <a:rPr sz="1050" b="0">
                          <a:solidFill>
                            <a:srgbClr val="2E3142"/>
                          </a:solidFill>
                          <a:latin typeface="Consolas"/>
                          <a:ea typeface="Consolas"/>
                          <a:cs typeface="Consolas"/>
                        </a:rPr>
                        <a:t>stage_up</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bool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NOT NULL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False</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격상 검토 권고 여부</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9"/>
                  </a:ext>
                </a:extLst>
              </a:tr>
              <a:tr h="256489">
                <a:tc>
                  <a:txBody>
                    <a:bodyPr/>
                    <a:lstStyle/>
                    <a:p>
                      <a:pPr algn="l">
                        <a:buNone/>
                      </a:pPr>
                      <a:r>
                        <a:rPr sz="1050" b="0">
                          <a:solidFill>
                            <a:srgbClr val="2E3142"/>
                          </a:solidFill>
                          <a:latin typeface="Consolas"/>
                          <a:ea typeface="Consolas"/>
                          <a:cs typeface="Consolas"/>
                        </a:rPr>
                        <a:t>created_at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datetime</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NOT NULL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now()</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생성 일시</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12328368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09" name="Picture 2"/>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700" y="-12700"/>
            <a:ext cx="18313400" cy="1638300"/>
          </a:xfrm>
          <a:prstGeom prst="rect">
            <a:avLst/>
          </a:prstGeom>
        </p:spPr>
      </p:pic>
      <p:pic>
        <p:nvPicPr>
          <p:cNvPr id="5310" name="Picture 4"/>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28" y="1618343"/>
            <a:ext cx="18313400" cy="8699500"/>
          </a:xfrm>
          <a:prstGeom prst="rect">
            <a:avLst/>
          </a:prstGeom>
        </p:spPr>
      </p:pic>
      <p:pic>
        <p:nvPicPr>
          <p:cNvPr id="5311" name="Picture 5"/>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58800" y="9271000"/>
            <a:ext cx="17170400" cy="50800"/>
          </a:xfrm>
          <a:prstGeom prst="rect">
            <a:avLst/>
          </a:prstGeom>
        </p:spPr>
      </p:pic>
      <p:pic>
        <p:nvPicPr>
          <p:cNvPr id="5312" name="Picture 3"/>
          <p:cNvPicPr>
            <a:picLocks noChangeAspect="1"/>
          </p:cNvPicPr>
          <p:nvPr/>
        </p:nvPicPr>
        <p:blipFill>
          <a:blip>
            <a:extLst>
              <a:ext uri="{96DAC541-7B7A-43D3-8B79-37D633B846F1}">
                <asvg:svgBlip xmlns:asvg="http://schemas.microsoft.com/office/drawing/2016/SVG/main" r:embed="rId6"/>
              </a:ext>
            </a:extLst>
          </a:blip>
          <a:srcRect b="43005"/>
          <a:stretch>
            <a:fillRect/>
          </a:stretch>
        </p:blipFill>
        <p:spPr>
          <a:xfrm>
            <a:off x="15443200" y="228600"/>
            <a:ext cx="1384300" cy="1397000"/>
          </a:xfrm>
          <a:prstGeom prst="rect">
            <a:avLst/>
          </a:prstGeom>
        </p:spPr>
      </p:pic>
      <p:sp>
        <p:nvSpPr>
          <p:cNvPr id="5298" name="Title">
            <a:extLst>
              <a:ext uri="{FF2B5EF4-FFF2-40B4-BE49-F238E27FC236}">
                <a16:creationId xmlns:a16="http://schemas.microsoft.com/office/drawing/2014/main" id="{33433A92-AF84-4824-ACDB-8C9795E1F319}"/>
              </a:ext>
            </a:extLst>
          </p:cNvPr>
          <p:cNvSpPr>
            <a:spLocks noGrp="1"/>
          </p:cNvSpPr>
          <p:nvPr/>
        </p:nvSpPr>
        <p:spPr>
          <a:xfrm>
            <a:off x="822960" y="384048"/>
            <a:ext cx="13258800" cy="877824"/>
          </a:xfrm>
          <a:prstGeom prst="rect">
            <a:avLst/>
          </a:prstGeom>
          <a:noFill/>
        </p:spPr>
        <p:txBody>
          <a:bodyPr wrap="square" lIns="0" tIns="0" rIns="0" bIns="0" anchor="ctr">
            <a:spAutoFit/>
          </a:bodyPr>
          <a:lstStyle/>
          <a:p>
            <a:pPr algn="l">
              <a:buNone/>
            </a:pPr>
            <a:r>
              <a:rPr sz="4400" b="0">
                <a:solidFill>
                  <a:srgbClr val="FAA95A"/>
                </a:solidFill>
                <a:latin typeface="210 OmniGothic 050"/>
                <a:ea typeface="210 OmniGothic 050"/>
                <a:cs typeface="210 OmniGothic 050"/>
              </a:rPr>
              <a:t>05. 클래스 다이어그램</a:t>
            </a:r>
          </a:p>
        </p:txBody>
      </p:sp>
      <p:sp>
        <p:nvSpPr>
          <p:cNvPr id="5299" name="Subtitle">
            <a:extLst>
              <a:ext uri="{FF2B5EF4-FFF2-40B4-BE49-F238E27FC236}">
                <a16:creationId xmlns:a16="http://schemas.microsoft.com/office/drawing/2014/main" id="{D264E065-0EA1-4798-9A6C-5319D7AA95BC}"/>
              </a:ext>
            </a:extLst>
          </p:cNvPr>
          <p:cNvSpPr>
            <a:spLocks noGrp="1"/>
          </p:cNvSpPr>
          <p:nvPr/>
        </p:nvSpPr>
        <p:spPr>
          <a:xfrm>
            <a:off x="822960" y="1764792"/>
            <a:ext cx="16642080" cy="502920"/>
          </a:xfrm>
          <a:prstGeom prst="rect">
            <a:avLst/>
          </a:prstGeom>
          <a:noFill/>
        </p:spPr>
        <p:txBody>
          <a:bodyPr wrap="square" lIns="0" tIns="0" rIns="0" bIns="0" anchor="ctr">
            <a:spAutoFit/>
          </a:bodyPr>
          <a:lstStyle/>
          <a:p>
            <a:pPr algn="ctr">
              <a:buNone/>
            </a:pPr>
            <a:r>
              <a:rPr sz="2600" b="1">
                <a:solidFill>
                  <a:srgbClr val="363A52"/>
                </a:solidFill>
                <a:latin typeface="210 OmniGothic 040"/>
                <a:ea typeface="210 OmniGothic 040"/>
                <a:cs typeface="210 OmniGothic 040"/>
              </a:rPr>
              <a:t>1. 속성 정의 – </a:t>
            </a:r>
            <a:r>
              <a:rPr sz="2600" b="1">
                <a:solidFill>
                  <a:srgbClr val="FAA95A"/>
                </a:solidFill>
                <a:latin typeface="210 OmniGothic 040"/>
                <a:ea typeface="210 OmniGothic 040"/>
                <a:cs typeface="210 OmniGothic 040"/>
              </a:rPr>
              <a:t>도메인 엔티티 (설계)</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idx="12"/>
          </p:nvPr>
        </p:nvSpPr>
        <p:spPr/>
        <p:txBody>
          <a:bodyPr/>
          <a:lstStyle/>
          <a:p>
            <a:fld id="{B6F15528-21DE-4FAA-801E-634DDDAF4B2B}" type="slidenum">
              <a:t>58</a:t>
            </a:fld>
            <a:endParaRPr/>
          </a:p>
        </p:txBody>
      </p:sp>
      <p:sp>
        <p:nvSpPr>
          <p:cNvPr id="5300" name="TextBox 5299">
            <a:extLst>
              <a:ext uri="{FF2B5EF4-FFF2-40B4-BE49-F238E27FC236}">
                <a16:creationId xmlns:a16="http://schemas.microsoft.com/office/drawing/2014/main" id="{11C36132-4757-48AC-98D7-0A568F057F74}"/>
              </a:ext>
            </a:extLst>
          </p:cNvPr>
          <p:cNvSpPr>
            <a:spLocks noGrp="1"/>
          </p:cNvSpPr>
          <p:nvPr/>
        </p:nvSpPr>
        <p:spPr>
          <a:xfrm>
            <a:off x="822960" y="2395728"/>
            <a:ext cx="11430000" cy="301752"/>
          </a:xfrm>
          <a:prstGeom prst="rect">
            <a:avLst/>
          </a:prstGeom>
          <a:noFill/>
        </p:spPr>
        <p:txBody>
          <a:bodyPr wrap="square" lIns="0" tIns="0" rIns="0" bIns="0" anchor="t">
            <a:spAutoFit/>
          </a:bodyPr>
          <a:lstStyle/>
          <a:p>
            <a:pPr algn="l">
              <a:buNone/>
            </a:pPr>
            <a:r>
              <a:rPr sz="1500" b="1">
                <a:solidFill>
                  <a:srgbClr val="2E3142"/>
                </a:solidFill>
                <a:latin typeface="210 OmniGothic 040"/>
                <a:ea typeface="210 OmniGothic 040"/>
                <a:cs typeface="210 OmniGothic 040"/>
              </a:rPr>
              <a:t>ProposalItem 클래스</a:t>
            </a:r>
            <a:r>
              <a:rPr sz="1250" b="0">
                <a:solidFill>
                  <a:srgbClr val="6B7080"/>
                </a:solidFill>
                <a:latin typeface="210 OmniGothic 040"/>
                <a:ea typeface="210 OmniGothic 040"/>
                <a:cs typeface="210 OmniGothic 040"/>
              </a:rPr>
              <a:t>  제안 항목(진화 S1~S7 · 대피 E1~E7)</a:t>
            </a:r>
          </a:p>
        </p:txBody>
      </p:sp>
      <p:graphicFrame>
        <p:nvGraphicFramePr>
          <p:cNvPr id="5317" name="Table 5300"/>
          <p:cNvGraphicFramePr/>
          <p:nvPr/>
        </p:nvGraphicFramePr>
        <p:xfrm>
          <a:off x="822960" y="2727655"/>
          <a:ext cx="16459200" cy="3385656"/>
        </p:xfrm>
        <a:graphic>
          <a:graphicData uri="http://schemas.openxmlformats.org/drawingml/2006/table">
            <a:tbl>
              <a:tblPr>
                <a:tableStyleId>{2D5ABB26-0587-4C30-8999-92F81FD0307C}</a:tableStyleId>
              </a:tblPr>
              <a:tblGrid>
                <a:gridCol w="2000250">
                  <a:extLst>
                    <a:ext uri="{9D8B030D-6E8A-4147-A177-3AD203B41FA5}">
                      <a16:colId xmlns:a16="http://schemas.microsoft.com/office/drawing/2014/main" val="20000"/>
                    </a:ext>
                  </a:extLst>
                </a:gridCol>
                <a:gridCol w="971550">
                  <a:extLst>
                    <a:ext uri="{9D8B030D-6E8A-4147-A177-3AD203B41FA5}">
                      <a16:colId xmlns:a16="http://schemas.microsoft.com/office/drawing/2014/main" val="20001"/>
                    </a:ext>
                  </a:extLst>
                </a:gridCol>
                <a:gridCol w="1543050">
                  <a:extLst>
                    <a:ext uri="{9D8B030D-6E8A-4147-A177-3AD203B41FA5}">
                      <a16:colId xmlns:a16="http://schemas.microsoft.com/office/drawing/2014/main" val="20002"/>
                    </a:ext>
                  </a:extLst>
                </a:gridCol>
                <a:gridCol w="6858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1085850">
                  <a:extLst>
                    <a:ext uri="{9D8B030D-6E8A-4147-A177-3AD203B41FA5}">
                      <a16:colId xmlns:a16="http://schemas.microsoft.com/office/drawing/2014/main" val="20005"/>
                    </a:ext>
                  </a:extLst>
                </a:gridCol>
                <a:gridCol w="8801100">
                  <a:extLst>
                    <a:ext uri="{9D8B030D-6E8A-4147-A177-3AD203B41FA5}">
                      <a16:colId xmlns:a16="http://schemas.microsoft.com/office/drawing/2014/main" val="20006"/>
                    </a:ext>
                  </a:extLst>
                </a:gridCol>
              </a:tblGrid>
              <a:tr h="282138">
                <a:tc>
                  <a:txBody>
                    <a:bodyPr/>
                    <a:lstStyle/>
                    <a:p>
                      <a:pPr algn="l">
                        <a:buNone/>
                      </a:pPr>
                      <a:r>
                        <a:rPr sz="1050" b="1">
                          <a:solidFill>
                            <a:srgbClr val="2E3142"/>
                          </a:solidFill>
                          <a:latin typeface="210 OmniGothic 040"/>
                          <a:ea typeface="210 OmniGothic 040"/>
                          <a:cs typeface="210 OmniGothic 040"/>
                        </a:rPr>
                        <a:t>속성명</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가시성</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자료형</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크기</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NULLABLE</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기본값</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설명</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extLst>
                  <a:ext uri="{0D108BD9-81ED-4DB2-BD59-A6C34878D82A}">
                    <a16:rowId xmlns:a16="http://schemas.microsoft.com/office/drawing/2014/main" val="10000"/>
                  </a:ext>
                </a:extLst>
              </a:tr>
              <a:tr h="282138">
                <a:tc>
                  <a:txBody>
                    <a:bodyPr/>
                    <a:lstStyle/>
                    <a:p>
                      <a:pPr algn="l">
                        <a:buNone/>
                      </a:pPr>
                      <a:r>
                        <a:rPr sz="1050" b="0">
                          <a:solidFill>
                            <a:srgbClr val="2E3142"/>
                          </a:solidFill>
                          <a:latin typeface="Consolas"/>
                          <a:ea typeface="Consolas"/>
                          <a:cs typeface="Consolas"/>
                        </a:rPr>
                        <a:t>id</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int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NOT NULL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auto</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항목 식별자 (PK)</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1"/>
                  </a:ext>
                </a:extLst>
              </a:tr>
              <a:tr h="282138">
                <a:tc>
                  <a:txBody>
                    <a:bodyPr/>
                    <a:lstStyle/>
                    <a:p>
                      <a:pPr algn="l">
                        <a:buNone/>
                      </a:pPr>
                      <a:r>
                        <a:rPr sz="1050" b="0">
                          <a:solidFill>
                            <a:srgbClr val="2E3142"/>
                          </a:solidFill>
                          <a:latin typeface="Consolas"/>
                          <a:ea typeface="Consolas"/>
                          <a:cs typeface="Consolas"/>
                        </a:rPr>
                        <a:t>proposal_id</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int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NOT NULL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N/A</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제안서 ID (FK → proposals.id)</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2"/>
                  </a:ext>
                </a:extLst>
              </a:tr>
              <a:tr h="282138">
                <a:tc>
                  <a:txBody>
                    <a:bodyPr/>
                    <a:lstStyle/>
                    <a:p>
                      <a:pPr algn="l">
                        <a:buNone/>
                      </a:pPr>
                      <a:r>
                        <a:rPr sz="1050" b="0">
                          <a:solidFill>
                            <a:srgbClr val="2E3142"/>
                          </a:solidFill>
                          <a:latin typeface="Consolas"/>
                          <a:ea typeface="Consolas"/>
                          <a:cs typeface="Consolas"/>
                        </a:rPr>
                        <a:t>item_code</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str</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3</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NOT NULL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N/A</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항목 코드 (S1~S7, E1~E7)</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3"/>
                  </a:ext>
                </a:extLst>
              </a:tr>
              <a:tr h="282138">
                <a:tc>
                  <a:txBody>
                    <a:bodyPr/>
                    <a:lstStyle/>
                    <a:p>
                      <a:pPr algn="l">
                        <a:buNone/>
                      </a:pPr>
                      <a:r>
                        <a:rPr sz="1050" b="0">
                          <a:solidFill>
                            <a:srgbClr val="2E3142"/>
                          </a:solidFill>
                          <a:latin typeface="Consolas"/>
                          <a:ea typeface="Consolas"/>
                          <a:cs typeface="Consolas"/>
                        </a:rPr>
                        <a:t>axis</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AxisEnum</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NOT NULL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N/A</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대분류 (진화 / 대피)</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4"/>
                  </a:ext>
                </a:extLst>
              </a:tr>
              <a:tr h="282138">
                <a:tc>
                  <a:txBody>
                    <a:bodyPr/>
                    <a:lstStyle/>
                    <a:p>
                      <a:pPr algn="l">
                        <a:buNone/>
                      </a:pPr>
                      <a:r>
                        <a:rPr sz="1050" b="0">
                          <a:solidFill>
                            <a:srgbClr val="2E3142"/>
                          </a:solidFill>
                          <a:latin typeface="Consolas"/>
                          <a:ea typeface="Consolas"/>
                          <a:cs typeface="Consolas"/>
                        </a:rPr>
                        <a:t>categories</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JSON</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NOT NULL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N/A</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구분 (즉시·대기·협의·요청)</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5"/>
                  </a:ext>
                </a:extLst>
              </a:tr>
              <a:tr h="282138">
                <a:tc>
                  <a:txBody>
                    <a:bodyPr/>
                    <a:lstStyle/>
                    <a:p>
                      <a:pPr algn="l">
                        <a:buNone/>
                      </a:pPr>
                      <a:r>
                        <a:rPr sz="1050" b="0">
                          <a:solidFill>
                            <a:srgbClr val="2E3142"/>
                          </a:solidFill>
                          <a:latin typeface="Consolas"/>
                          <a:ea typeface="Consolas"/>
                          <a:cs typeface="Consolas"/>
                        </a:rPr>
                        <a:t>finding</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str</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500</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NOT NULL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N/A</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판정 값 (규칙 엔진 결과)</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6"/>
                  </a:ext>
                </a:extLst>
              </a:tr>
              <a:tr h="282138">
                <a:tc>
                  <a:txBody>
                    <a:bodyPr/>
                    <a:lstStyle/>
                    <a:p>
                      <a:pPr algn="l">
                        <a:buNone/>
                      </a:pPr>
                      <a:r>
                        <a:rPr sz="1050" b="0">
                          <a:solidFill>
                            <a:srgbClr val="2E3142"/>
                          </a:solidFill>
                          <a:latin typeface="Consolas"/>
                          <a:ea typeface="Consolas"/>
                          <a:cs typeface="Consolas"/>
                        </a:rPr>
                        <a:t>text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str</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1000</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NOT NULL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N/A</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제안 문장 (문장 끝 근거 번호 [k] 포함)</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7"/>
                  </a:ext>
                </a:extLst>
              </a:tr>
              <a:tr h="282138">
                <a:tc>
                  <a:txBody>
                    <a:bodyPr/>
                    <a:lstStyle/>
                    <a:p>
                      <a:pPr algn="l">
                        <a:buNone/>
                      </a:pPr>
                      <a:r>
                        <a:rPr sz="1050" b="0">
                          <a:solidFill>
                            <a:srgbClr val="2E3142"/>
                          </a:solidFill>
                          <a:latin typeface="Consolas"/>
                          <a:ea typeface="Consolas"/>
                          <a:cs typeface="Consolas"/>
                        </a:rPr>
                        <a:t>targets</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JSON</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NULLABLE</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N/A</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대상 (마을·시설·경로)</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8"/>
                  </a:ext>
                </a:extLst>
              </a:tr>
              <a:tr h="282138">
                <a:tc>
                  <a:txBody>
                    <a:bodyPr/>
                    <a:lstStyle/>
                    <a:p>
                      <a:pPr algn="l">
                        <a:buNone/>
                      </a:pPr>
                      <a:r>
                        <a:rPr sz="1050" b="0">
                          <a:solidFill>
                            <a:srgbClr val="2E3142"/>
                          </a:solidFill>
                          <a:latin typeface="Consolas"/>
                          <a:ea typeface="Consolas"/>
                          <a:cs typeface="Consolas"/>
                        </a:rPr>
                        <a:t>conflicts</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JSON</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NULLABLE</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N/A</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충돌 내용과 해소 방법 (내부 검증용, 화면에 표시하지 않음)</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9"/>
                  </a:ext>
                </a:extLst>
              </a:tr>
              <a:tr h="282138">
                <a:tc>
                  <a:txBody>
                    <a:bodyPr/>
                    <a:lstStyle/>
                    <a:p>
                      <a:pPr algn="l">
                        <a:buNone/>
                      </a:pPr>
                      <a:r>
                        <a:rPr sz="1050" b="0">
                          <a:solidFill>
                            <a:srgbClr val="2E3142"/>
                          </a:solidFill>
                          <a:latin typeface="Consolas"/>
                          <a:ea typeface="Consolas"/>
                          <a:cs typeface="Consolas"/>
                        </a:rPr>
                        <a:t>authority</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str</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20</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NOT NULL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N/A</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권한 (직접·협의·요청)</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10"/>
                  </a:ext>
                </a:extLst>
              </a:tr>
              <a:tr h="282138">
                <a:tc>
                  <a:txBody>
                    <a:bodyPr/>
                    <a:lstStyle/>
                    <a:p>
                      <a:pPr algn="l">
                        <a:buNone/>
                      </a:pPr>
                      <a:r>
                        <a:rPr sz="1050" b="0">
                          <a:solidFill>
                            <a:srgbClr val="2E3142"/>
                          </a:solidFill>
                          <a:latin typeface="Consolas"/>
                          <a:ea typeface="Consolas"/>
                          <a:cs typeface="Consolas"/>
                        </a:rPr>
                        <a:t>changed</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bool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NOT NULL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False</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직전 버전 대비 변경 여부</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11"/>
                  </a:ext>
                </a:extLst>
              </a:tr>
            </a:tbl>
          </a:graphicData>
        </a:graphic>
      </p:graphicFrame>
      <p:sp>
        <p:nvSpPr>
          <p:cNvPr id="5302" name="TextBox 5301">
            <a:extLst>
              <a:ext uri="{FF2B5EF4-FFF2-40B4-BE49-F238E27FC236}">
                <a16:creationId xmlns:a16="http://schemas.microsoft.com/office/drawing/2014/main" id="{867D62D8-EE87-4329-9210-B6DC318CC2E1}"/>
              </a:ext>
            </a:extLst>
          </p:cNvPr>
          <p:cNvSpPr>
            <a:spLocks noGrp="1"/>
          </p:cNvSpPr>
          <p:nvPr/>
        </p:nvSpPr>
        <p:spPr>
          <a:xfrm>
            <a:off x="822960" y="6254130"/>
            <a:ext cx="11430000" cy="301752"/>
          </a:xfrm>
          <a:prstGeom prst="rect">
            <a:avLst/>
          </a:prstGeom>
          <a:noFill/>
        </p:spPr>
        <p:txBody>
          <a:bodyPr wrap="square" lIns="0" tIns="0" rIns="0" bIns="0" anchor="t">
            <a:spAutoFit/>
          </a:bodyPr>
          <a:lstStyle/>
          <a:p>
            <a:pPr algn="l">
              <a:buNone/>
            </a:pPr>
            <a:r>
              <a:rPr sz="1500" b="1">
                <a:solidFill>
                  <a:srgbClr val="2E3142"/>
                </a:solidFill>
                <a:latin typeface="210 OmniGothic 040"/>
                <a:ea typeface="210 OmniGothic 040"/>
                <a:cs typeface="210 OmniGothic 040"/>
              </a:rPr>
              <a:t>EvidenceChunk 클래스</a:t>
            </a:r>
            <a:r>
              <a:rPr sz="1250" b="0">
                <a:solidFill>
                  <a:srgbClr val="6B7080"/>
                </a:solidFill>
                <a:latin typeface="210 OmniGothic 040"/>
                <a:ea typeface="210 OmniGothic 040"/>
                <a:cs typeface="210 OmniGothic 040"/>
              </a:rPr>
              <a:t>  근거 청크(표준매뉴얼·법령)</a:t>
            </a:r>
          </a:p>
        </p:txBody>
      </p:sp>
      <p:graphicFrame>
        <p:nvGraphicFramePr>
          <p:cNvPr id="5319" name="Table 5302"/>
          <p:cNvGraphicFramePr/>
          <p:nvPr/>
        </p:nvGraphicFramePr>
        <p:xfrm>
          <a:off x="822960" y="6586057"/>
          <a:ext cx="16459200" cy="2257104"/>
        </p:xfrm>
        <a:graphic>
          <a:graphicData uri="http://schemas.openxmlformats.org/drawingml/2006/table">
            <a:tbl>
              <a:tblPr>
                <a:tableStyleId>{2D5ABB26-0587-4C30-8999-92F81FD0307C}</a:tableStyleId>
              </a:tblPr>
              <a:tblGrid>
                <a:gridCol w="2000250">
                  <a:extLst>
                    <a:ext uri="{9D8B030D-6E8A-4147-A177-3AD203B41FA5}">
                      <a16:colId xmlns:a16="http://schemas.microsoft.com/office/drawing/2014/main" val="20000"/>
                    </a:ext>
                  </a:extLst>
                </a:gridCol>
                <a:gridCol w="971550">
                  <a:extLst>
                    <a:ext uri="{9D8B030D-6E8A-4147-A177-3AD203B41FA5}">
                      <a16:colId xmlns:a16="http://schemas.microsoft.com/office/drawing/2014/main" val="20001"/>
                    </a:ext>
                  </a:extLst>
                </a:gridCol>
                <a:gridCol w="1543050">
                  <a:extLst>
                    <a:ext uri="{9D8B030D-6E8A-4147-A177-3AD203B41FA5}">
                      <a16:colId xmlns:a16="http://schemas.microsoft.com/office/drawing/2014/main" val="20002"/>
                    </a:ext>
                  </a:extLst>
                </a:gridCol>
                <a:gridCol w="6858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1085850">
                  <a:extLst>
                    <a:ext uri="{9D8B030D-6E8A-4147-A177-3AD203B41FA5}">
                      <a16:colId xmlns:a16="http://schemas.microsoft.com/office/drawing/2014/main" val="20005"/>
                    </a:ext>
                  </a:extLst>
                </a:gridCol>
                <a:gridCol w="8801100">
                  <a:extLst>
                    <a:ext uri="{9D8B030D-6E8A-4147-A177-3AD203B41FA5}">
                      <a16:colId xmlns:a16="http://schemas.microsoft.com/office/drawing/2014/main" val="20006"/>
                    </a:ext>
                  </a:extLst>
                </a:gridCol>
              </a:tblGrid>
              <a:tr h="282138">
                <a:tc>
                  <a:txBody>
                    <a:bodyPr/>
                    <a:lstStyle/>
                    <a:p>
                      <a:pPr algn="l">
                        <a:buNone/>
                      </a:pPr>
                      <a:r>
                        <a:rPr sz="1050" b="1">
                          <a:solidFill>
                            <a:srgbClr val="2E3142"/>
                          </a:solidFill>
                          <a:latin typeface="210 OmniGothic 040"/>
                          <a:ea typeface="210 OmniGothic 040"/>
                          <a:cs typeface="210 OmniGothic 040"/>
                        </a:rPr>
                        <a:t>속성명</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가시성</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자료형</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크기</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NULLABLE</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기본값</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설명</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extLst>
                  <a:ext uri="{0D108BD9-81ED-4DB2-BD59-A6C34878D82A}">
                    <a16:rowId xmlns:a16="http://schemas.microsoft.com/office/drawing/2014/main" val="10000"/>
                  </a:ext>
                </a:extLst>
              </a:tr>
              <a:tr h="282138">
                <a:tc>
                  <a:txBody>
                    <a:bodyPr/>
                    <a:lstStyle/>
                    <a:p>
                      <a:pPr algn="l">
                        <a:buNone/>
                      </a:pPr>
                      <a:r>
                        <a:rPr sz="1050" b="0">
                          <a:solidFill>
                            <a:srgbClr val="2E3142"/>
                          </a:solidFill>
                          <a:latin typeface="Consolas"/>
                          <a:ea typeface="Consolas"/>
                          <a:cs typeface="Consolas"/>
                        </a:rPr>
                        <a:t>chunk_id</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str</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30</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NOT NULL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N/A</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청크 식별자 (PK, 예: SM-p073-t01-r02)</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1"/>
                  </a:ext>
                </a:extLst>
              </a:tr>
              <a:tr h="282138">
                <a:tc>
                  <a:txBody>
                    <a:bodyPr/>
                    <a:lstStyle/>
                    <a:p>
                      <a:pPr algn="l">
                        <a:buNone/>
                      </a:pPr>
                      <a:r>
                        <a:rPr sz="1050" b="0">
                          <a:solidFill>
                            <a:srgbClr val="2E3142"/>
                          </a:solidFill>
                          <a:latin typeface="Consolas"/>
                          <a:ea typeface="Consolas"/>
                          <a:cs typeface="Consolas"/>
                        </a:rPr>
                        <a:t>doc_name</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str</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100</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NOT NULL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N/A</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문서명</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2"/>
                  </a:ext>
                </a:extLst>
              </a:tr>
              <a:tr h="282138">
                <a:tc>
                  <a:txBody>
                    <a:bodyPr/>
                    <a:lstStyle/>
                    <a:p>
                      <a:pPr algn="l">
                        <a:buNone/>
                      </a:pPr>
                      <a:r>
                        <a:rPr sz="1050" b="0">
                          <a:solidFill>
                            <a:srgbClr val="2E3142"/>
                          </a:solidFill>
                          <a:latin typeface="Consolas"/>
                          <a:ea typeface="Consolas"/>
                          <a:cs typeface="Consolas"/>
                        </a:rPr>
                        <a:t>page</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str</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10</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NULLABLE</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N/A</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쪽수</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3"/>
                  </a:ext>
                </a:extLst>
              </a:tr>
              <a:tr h="282138">
                <a:tc>
                  <a:txBody>
                    <a:bodyPr/>
                    <a:lstStyle/>
                    <a:p>
                      <a:pPr algn="l">
                        <a:buNone/>
                      </a:pPr>
                      <a:r>
                        <a:rPr sz="1050" b="0">
                          <a:solidFill>
                            <a:srgbClr val="2E3142"/>
                          </a:solidFill>
                          <a:latin typeface="Consolas"/>
                          <a:ea typeface="Consolas"/>
                          <a:cs typeface="Consolas"/>
                        </a:rPr>
                        <a:t>section</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str</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100</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NULLABLE</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N/A</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절·조항</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4"/>
                  </a:ext>
                </a:extLst>
              </a:tr>
              <a:tr h="282138">
                <a:tc>
                  <a:txBody>
                    <a:bodyPr/>
                    <a:lstStyle/>
                    <a:p>
                      <a:pPr algn="l">
                        <a:buNone/>
                      </a:pPr>
                      <a:r>
                        <a:rPr sz="1050" b="0">
                          <a:solidFill>
                            <a:srgbClr val="2E3142"/>
                          </a:solidFill>
                          <a:latin typeface="Consolas"/>
                          <a:ea typeface="Consolas"/>
                          <a:cs typeface="Consolas"/>
                        </a:rPr>
                        <a:t>tags</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JSON</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NULLABLE</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N/A</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연결 항목 (S1~E7)</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5"/>
                  </a:ext>
                </a:extLst>
              </a:tr>
              <a:tr h="282138">
                <a:tc>
                  <a:txBody>
                    <a:bodyPr/>
                    <a:lstStyle/>
                    <a:p>
                      <a:pPr algn="l">
                        <a:buNone/>
                      </a:pPr>
                      <a:r>
                        <a:rPr sz="1050" b="0">
                          <a:solidFill>
                            <a:srgbClr val="2E3142"/>
                          </a:solidFill>
                          <a:latin typeface="Consolas"/>
                          <a:ea typeface="Consolas"/>
                          <a:cs typeface="Consolas"/>
                        </a:rPr>
                        <a:t>stage</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JSON</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NULLABLE</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N/A</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적용 대응단계</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6"/>
                  </a:ext>
                </a:extLst>
              </a:tr>
              <a:tr h="282138">
                <a:tc>
                  <a:txBody>
                    <a:bodyPr/>
                    <a:lstStyle/>
                    <a:p>
                      <a:pPr algn="l">
                        <a:buNone/>
                      </a:pPr>
                      <a:r>
                        <a:rPr sz="1050" b="0">
                          <a:solidFill>
                            <a:srgbClr val="2E3142"/>
                          </a:solidFill>
                          <a:latin typeface="Consolas"/>
                          <a:ea typeface="Consolas"/>
                          <a:cs typeface="Consolas"/>
                        </a:rPr>
                        <a:t>text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text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NOT NULL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N/A</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청크 본문 (약 400자)</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57299106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14" name="Picture 2"/>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700" y="-12700"/>
            <a:ext cx="18313400" cy="1638300"/>
          </a:xfrm>
          <a:prstGeom prst="rect">
            <a:avLst/>
          </a:prstGeom>
        </p:spPr>
      </p:pic>
      <p:pic>
        <p:nvPicPr>
          <p:cNvPr id="5315" name="Picture 4"/>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28" y="1618343"/>
            <a:ext cx="18313400" cy="8699500"/>
          </a:xfrm>
          <a:prstGeom prst="rect">
            <a:avLst/>
          </a:prstGeom>
        </p:spPr>
      </p:pic>
      <p:pic>
        <p:nvPicPr>
          <p:cNvPr id="5316" name="Picture 5"/>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58800" y="9271000"/>
            <a:ext cx="17170400" cy="50800"/>
          </a:xfrm>
          <a:prstGeom prst="rect">
            <a:avLst/>
          </a:prstGeom>
        </p:spPr>
      </p:pic>
      <p:pic>
        <p:nvPicPr>
          <p:cNvPr id="5317" name="Picture 3"/>
          <p:cNvPicPr>
            <a:picLocks noChangeAspect="1"/>
          </p:cNvPicPr>
          <p:nvPr/>
        </p:nvPicPr>
        <p:blipFill>
          <a:blip>
            <a:extLst>
              <a:ext uri="{96DAC541-7B7A-43D3-8B79-37D633B846F1}">
                <asvg:svgBlip xmlns:asvg="http://schemas.microsoft.com/office/drawing/2016/SVG/main" r:embed="rId6"/>
              </a:ext>
            </a:extLst>
          </a:blip>
          <a:srcRect b="43005"/>
          <a:stretch>
            <a:fillRect/>
          </a:stretch>
        </p:blipFill>
        <p:spPr>
          <a:xfrm>
            <a:off x="15443200" y="228600"/>
            <a:ext cx="1384300" cy="1397000"/>
          </a:xfrm>
          <a:prstGeom prst="rect">
            <a:avLst/>
          </a:prstGeom>
        </p:spPr>
      </p:pic>
      <p:sp>
        <p:nvSpPr>
          <p:cNvPr id="5303" name="Title">
            <a:extLst>
              <a:ext uri="{FF2B5EF4-FFF2-40B4-BE49-F238E27FC236}">
                <a16:creationId xmlns:a16="http://schemas.microsoft.com/office/drawing/2014/main" id="{B243CB28-0DD4-43FB-8481-A029EA75011E}"/>
              </a:ext>
            </a:extLst>
          </p:cNvPr>
          <p:cNvSpPr>
            <a:spLocks noGrp="1"/>
          </p:cNvSpPr>
          <p:nvPr/>
        </p:nvSpPr>
        <p:spPr>
          <a:xfrm>
            <a:off x="822960" y="384048"/>
            <a:ext cx="13258800" cy="877824"/>
          </a:xfrm>
          <a:prstGeom prst="rect">
            <a:avLst/>
          </a:prstGeom>
          <a:noFill/>
        </p:spPr>
        <p:txBody>
          <a:bodyPr wrap="square" lIns="0" tIns="0" rIns="0" bIns="0" anchor="ctr">
            <a:spAutoFit/>
          </a:bodyPr>
          <a:lstStyle/>
          <a:p>
            <a:pPr algn="l">
              <a:buNone/>
            </a:pPr>
            <a:r>
              <a:rPr sz="4400" b="0">
                <a:solidFill>
                  <a:srgbClr val="FAA95A"/>
                </a:solidFill>
                <a:latin typeface="210 OmniGothic 050"/>
                <a:ea typeface="210 OmniGothic 050"/>
                <a:cs typeface="210 OmniGothic 050"/>
              </a:rPr>
              <a:t>05. 클래스 다이어그램</a:t>
            </a:r>
          </a:p>
        </p:txBody>
      </p:sp>
      <p:sp>
        <p:nvSpPr>
          <p:cNvPr id="5304" name="Subtitle">
            <a:extLst>
              <a:ext uri="{FF2B5EF4-FFF2-40B4-BE49-F238E27FC236}">
                <a16:creationId xmlns:a16="http://schemas.microsoft.com/office/drawing/2014/main" id="{102B24F1-C31D-42D3-8A05-BCC822F16BFE}"/>
              </a:ext>
            </a:extLst>
          </p:cNvPr>
          <p:cNvSpPr>
            <a:spLocks noGrp="1"/>
          </p:cNvSpPr>
          <p:nvPr/>
        </p:nvSpPr>
        <p:spPr>
          <a:xfrm>
            <a:off x="822960" y="1764792"/>
            <a:ext cx="16642080" cy="502920"/>
          </a:xfrm>
          <a:prstGeom prst="rect">
            <a:avLst/>
          </a:prstGeom>
          <a:noFill/>
        </p:spPr>
        <p:txBody>
          <a:bodyPr wrap="square" lIns="0" tIns="0" rIns="0" bIns="0" anchor="ctr">
            <a:spAutoFit/>
          </a:bodyPr>
          <a:lstStyle/>
          <a:p>
            <a:pPr algn="ctr">
              <a:buNone/>
            </a:pPr>
            <a:r>
              <a:rPr sz="2600" b="1">
                <a:solidFill>
                  <a:srgbClr val="363A52"/>
                </a:solidFill>
                <a:latin typeface="210 OmniGothic 040"/>
                <a:ea typeface="210 OmniGothic 040"/>
                <a:cs typeface="210 OmniGothic 040"/>
              </a:rPr>
              <a:t>1. 속성 정의 – </a:t>
            </a:r>
            <a:r>
              <a:rPr sz="2600" b="1">
                <a:solidFill>
                  <a:srgbClr val="FAA95A"/>
                </a:solidFill>
                <a:latin typeface="210 OmniGothic 040"/>
                <a:ea typeface="210 OmniGothic 040"/>
                <a:cs typeface="210 OmniGothic 040"/>
              </a:rPr>
              <a:t>도메인 엔티티 (설계)</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idx="12"/>
          </p:nvPr>
        </p:nvSpPr>
        <p:spPr/>
        <p:txBody>
          <a:bodyPr/>
          <a:lstStyle/>
          <a:p>
            <a:fld id="{B6F15528-21DE-4FAA-801E-634DDDAF4B2B}" type="slidenum">
              <a:t>59</a:t>
            </a:fld>
            <a:endParaRPr/>
          </a:p>
        </p:txBody>
      </p:sp>
      <p:sp>
        <p:nvSpPr>
          <p:cNvPr id="5305" name="TextBox 5304">
            <a:extLst>
              <a:ext uri="{FF2B5EF4-FFF2-40B4-BE49-F238E27FC236}">
                <a16:creationId xmlns:a16="http://schemas.microsoft.com/office/drawing/2014/main" id="{F1752092-143E-4CE4-A955-1E189618FA55}"/>
              </a:ext>
            </a:extLst>
          </p:cNvPr>
          <p:cNvSpPr>
            <a:spLocks noGrp="1"/>
          </p:cNvSpPr>
          <p:nvPr/>
        </p:nvSpPr>
        <p:spPr>
          <a:xfrm>
            <a:off x="822960" y="2395728"/>
            <a:ext cx="11430000" cy="301752"/>
          </a:xfrm>
          <a:prstGeom prst="rect">
            <a:avLst/>
          </a:prstGeom>
          <a:noFill/>
        </p:spPr>
        <p:txBody>
          <a:bodyPr wrap="square" lIns="0" tIns="0" rIns="0" bIns="0" anchor="t">
            <a:spAutoFit/>
          </a:bodyPr>
          <a:lstStyle/>
          <a:p>
            <a:pPr algn="l">
              <a:buNone/>
            </a:pPr>
            <a:r>
              <a:rPr sz="1500" b="1">
                <a:solidFill>
                  <a:srgbClr val="2E3142"/>
                </a:solidFill>
                <a:latin typeface="210 OmniGothic 040"/>
                <a:ea typeface="210 OmniGothic 040"/>
                <a:cs typeface="210 OmniGothic 040"/>
              </a:rPr>
              <a:t>Citation 클래스</a:t>
            </a:r>
            <a:r>
              <a:rPr sz="1250" b="0">
                <a:solidFill>
                  <a:srgbClr val="6B7080"/>
                </a:solidFill>
                <a:latin typeface="210 OmniGothic 040"/>
                <a:ea typeface="210 OmniGothic 040"/>
                <a:cs typeface="210 OmniGothic 040"/>
              </a:rPr>
              <a:t>  근거 인용</a:t>
            </a:r>
          </a:p>
        </p:txBody>
      </p:sp>
      <p:graphicFrame>
        <p:nvGraphicFramePr>
          <p:cNvPr id="5322" name="Table 5305"/>
          <p:cNvGraphicFramePr/>
          <p:nvPr/>
        </p:nvGraphicFramePr>
        <p:xfrm>
          <a:off x="822960" y="2727655"/>
          <a:ext cx="16459200" cy="2112264"/>
        </p:xfrm>
        <a:graphic>
          <a:graphicData uri="http://schemas.openxmlformats.org/drawingml/2006/table">
            <a:tbl>
              <a:tblPr>
                <a:tableStyleId>{2D5ABB26-0587-4C30-8999-92F81FD0307C}</a:tableStyleId>
              </a:tblPr>
              <a:tblGrid>
                <a:gridCol w="2000250">
                  <a:extLst>
                    <a:ext uri="{9D8B030D-6E8A-4147-A177-3AD203B41FA5}">
                      <a16:colId xmlns:a16="http://schemas.microsoft.com/office/drawing/2014/main" val="20000"/>
                    </a:ext>
                  </a:extLst>
                </a:gridCol>
                <a:gridCol w="971550">
                  <a:extLst>
                    <a:ext uri="{9D8B030D-6E8A-4147-A177-3AD203B41FA5}">
                      <a16:colId xmlns:a16="http://schemas.microsoft.com/office/drawing/2014/main" val="20001"/>
                    </a:ext>
                  </a:extLst>
                </a:gridCol>
                <a:gridCol w="1543050">
                  <a:extLst>
                    <a:ext uri="{9D8B030D-6E8A-4147-A177-3AD203B41FA5}">
                      <a16:colId xmlns:a16="http://schemas.microsoft.com/office/drawing/2014/main" val="20002"/>
                    </a:ext>
                  </a:extLst>
                </a:gridCol>
                <a:gridCol w="6858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1085850">
                  <a:extLst>
                    <a:ext uri="{9D8B030D-6E8A-4147-A177-3AD203B41FA5}">
                      <a16:colId xmlns:a16="http://schemas.microsoft.com/office/drawing/2014/main" val="20005"/>
                    </a:ext>
                  </a:extLst>
                </a:gridCol>
                <a:gridCol w="8801100">
                  <a:extLst>
                    <a:ext uri="{9D8B030D-6E8A-4147-A177-3AD203B41FA5}">
                      <a16:colId xmlns:a16="http://schemas.microsoft.com/office/drawing/2014/main" val="20006"/>
                    </a:ext>
                  </a:extLst>
                </a:gridCol>
              </a:tblGrid>
              <a:tr h="301752">
                <a:tc>
                  <a:txBody>
                    <a:bodyPr/>
                    <a:lstStyle/>
                    <a:p>
                      <a:pPr algn="l">
                        <a:buNone/>
                      </a:pPr>
                      <a:r>
                        <a:rPr sz="1050" b="1">
                          <a:solidFill>
                            <a:srgbClr val="2E3142"/>
                          </a:solidFill>
                          <a:latin typeface="210 OmniGothic 040"/>
                          <a:ea typeface="210 OmniGothic 040"/>
                          <a:cs typeface="210 OmniGothic 040"/>
                        </a:rPr>
                        <a:t>속성명</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가시성</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자료형</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크기</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NULLABLE</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기본값</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설명</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extLst>
                  <a:ext uri="{0D108BD9-81ED-4DB2-BD59-A6C34878D82A}">
                    <a16:rowId xmlns:a16="http://schemas.microsoft.com/office/drawing/2014/main" val="10000"/>
                  </a:ext>
                </a:extLst>
              </a:tr>
              <a:tr h="301752">
                <a:tc>
                  <a:txBody>
                    <a:bodyPr/>
                    <a:lstStyle/>
                    <a:p>
                      <a:pPr algn="l">
                        <a:buNone/>
                      </a:pPr>
                      <a:r>
                        <a:rPr sz="1050" b="0">
                          <a:solidFill>
                            <a:srgbClr val="2E3142"/>
                          </a:solidFill>
                          <a:latin typeface="Consolas"/>
                          <a:ea typeface="Consolas"/>
                          <a:cs typeface="Consolas"/>
                        </a:rPr>
                        <a:t>id</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int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NOT NULL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auto</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인용 식별자 (PK)</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1"/>
                  </a:ext>
                </a:extLst>
              </a:tr>
              <a:tr h="301752">
                <a:tc>
                  <a:txBody>
                    <a:bodyPr/>
                    <a:lstStyle/>
                    <a:p>
                      <a:pPr algn="l">
                        <a:buNone/>
                      </a:pPr>
                      <a:r>
                        <a:rPr sz="1050" b="0">
                          <a:solidFill>
                            <a:srgbClr val="2E3142"/>
                          </a:solidFill>
                          <a:latin typeface="Consolas"/>
                          <a:ea typeface="Consolas"/>
                          <a:cs typeface="Consolas"/>
                        </a:rPr>
                        <a:t>item_id</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int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NULLABLE</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N/A</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제안 항목 (FK → proposal_items.id)</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2"/>
                  </a:ext>
                </a:extLst>
              </a:tr>
              <a:tr h="301752">
                <a:tc>
                  <a:txBody>
                    <a:bodyPr/>
                    <a:lstStyle/>
                    <a:p>
                      <a:pPr algn="l">
                        <a:buNone/>
                      </a:pPr>
                      <a:r>
                        <a:rPr sz="1050" b="0">
                          <a:solidFill>
                            <a:srgbClr val="2E3142"/>
                          </a:solidFill>
                          <a:latin typeface="Consolas"/>
                          <a:ea typeface="Consolas"/>
                          <a:cs typeface="Consolas"/>
                        </a:rPr>
                        <a:t>message_id</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int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NULLABLE</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N/A</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AI 답변 (FK → chat_messages.id)</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3"/>
                  </a:ext>
                </a:extLst>
              </a:tr>
              <a:tr h="301752">
                <a:tc>
                  <a:txBody>
                    <a:bodyPr/>
                    <a:lstStyle/>
                    <a:p>
                      <a:pPr algn="l">
                        <a:buNone/>
                      </a:pPr>
                      <a:r>
                        <a:rPr sz="1050" b="0">
                          <a:solidFill>
                            <a:srgbClr val="2E3142"/>
                          </a:solidFill>
                          <a:latin typeface="Consolas"/>
                          <a:ea typeface="Consolas"/>
                          <a:cs typeface="Consolas"/>
                        </a:rPr>
                        <a:t>k</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int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NOT NULL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N/A</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문장 속 근거 번호</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4"/>
                  </a:ext>
                </a:extLst>
              </a:tr>
              <a:tr h="301752">
                <a:tc>
                  <a:txBody>
                    <a:bodyPr/>
                    <a:lstStyle/>
                    <a:p>
                      <a:pPr algn="l">
                        <a:buNone/>
                      </a:pPr>
                      <a:r>
                        <a:rPr sz="1050" b="0">
                          <a:solidFill>
                            <a:srgbClr val="2E3142"/>
                          </a:solidFill>
                          <a:latin typeface="Consolas"/>
                          <a:ea typeface="Consolas"/>
                          <a:cs typeface="Consolas"/>
                        </a:rPr>
                        <a:t>chunk_id</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str</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30</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NOT NULL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N/A</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근거 청크 (FK → evidence_chunks.chunk_id)</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5"/>
                  </a:ext>
                </a:extLst>
              </a:tr>
              <a:tr h="301752">
                <a:tc>
                  <a:txBody>
                    <a:bodyPr/>
                    <a:lstStyle/>
                    <a:p>
                      <a:pPr algn="l">
                        <a:buNone/>
                      </a:pPr>
                      <a:r>
                        <a:rPr sz="1050" b="0">
                          <a:solidFill>
                            <a:srgbClr val="2E3142"/>
                          </a:solidFill>
                          <a:latin typeface="Consolas"/>
                          <a:ea typeface="Consolas"/>
                          <a:cs typeface="Consolas"/>
                        </a:rPr>
                        <a:t>score</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float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NULLABLE</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N/A</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검색 유사도</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6"/>
                  </a:ext>
                </a:extLst>
              </a:tr>
            </a:tbl>
          </a:graphicData>
        </a:graphic>
      </p:graphicFrame>
      <p:sp>
        <p:nvSpPr>
          <p:cNvPr id="5307" name="TextBox 5306">
            <a:extLst>
              <a:ext uri="{FF2B5EF4-FFF2-40B4-BE49-F238E27FC236}">
                <a16:creationId xmlns:a16="http://schemas.microsoft.com/office/drawing/2014/main" id="{02E49276-E20C-4012-A6C4-A73BE08B0394}"/>
              </a:ext>
            </a:extLst>
          </p:cNvPr>
          <p:cNvSpPr>
            <a:spLocks noGrp="1"/>
          </p:cNvSpPr>
          <p:nvPr/>
        </p:nvSpPr>
        <p:spPr>
          <a:xfrm>
            <a:off x="822960" y="4980736"/>
            <a:ext cx="11430000" cy="301752"/>
          </a:xfrm>
          <a:prstGeom prst="rect">
            <a:avLst/>
          </a:prstGeom>
          <a:noFill/>
        </p:spPr>
        <p:txBody>
          <a:bodyPr wrap="square" lIns="0" tIns="0" rIns="0" bIns="0" anchor="t">
            <a:spAutoFit/>
          </a:bodyPr>
          <a:lstStyle/>
          <a:p>
            <a:pPr algn="l">
              <a:buNone/>
            </a:pPr>
            <a:r>
              <a:rPr sz="1500" b="1">
                <a:solidFill>
                  <a:srgbClr val="2E3142"/>
                </a:solidFill>
                <a:latin typeface="210 OmniGothic 040"/>
                <a:ea typeface="210 OmniGothic 040"/>
                <a:cs typeface="210 OmniGothic 040"/>
              </a:rPr>
              <a:t>ChatMessage 클래스</a:t>
            </a:r>
            <a:r>
              <a:rPr sz="1250" b="0">
                <a:solidFill>
                  <a:srgbClr val="6B7080"/>
                </a:solidFill>
                <a:latin typeface="210 OmniGothic 040"/>
                <a:ea typeface="210 OmniGothic 040"/>
                <a:cs typeface="210 OmniGothic 040"/>
              </a:rPr>
              <a:t>  AI 어시스턴트 메시지(질의·정정)</a:t>
            </a:r>
          </a:p>
        </p:txBody>
      </p:sp>
      <p:graphicFrame>
        <p:nvGraphicFramePr>
          <p:cNvPr id="5324" name="Table 5307"/>
          <p:cNvGraphicFramePr/>
          <p:nvPr/>
        </p:nvGraphicFramePr>
        <p:xfrm>
          <a:off x="822960" y="5312664"/>
          <a:ext cx="16459200" cy="3017520"/>
        </p:xfrm>
        <a:graphic>
          <a:graphicData uri="http://schemas.openxmlformats.org/drawingml/2006/table">
            <a:tbl>
              <a:tblPr>
                <a:tableStyleId>{2D5ABB26-0587-4C30-8999-92F81FD0307C}</a:tableStyleId>
              </a:tblPr>
              <a:tblGrid>
                <a:gridCol w="2000250">
                  <a:extLst>
                    <a:ext uri="{9D8B030D-6E8A-4147-A177-3AD203B41FA5}">
                      <a16:colId xmlns:a16="http://schemas.microsoft.com/office/drawing/2014/main" val="20000"/>
                    </a:ext>
                  </a:extLst>
                </a:gridCol>
                <a:gridCol w="971550">
                  <a:extLst>
                    <a:ext uri="{9D8B030D-6E8A-4147-A177-3AD203B41FA5}">
                      <a16:colId xmlns:a16="http://schemas.microsoft.com/office/drawing/2014/main" val="20001"/>
                    </a:ext>
                  </a:extLst>
                </a:gridCol>
                <a:gridCol w="1543050">
                  <a:extLst>
                    <a:ext uri="{9D8B030D-6E8A-4147-A177-3AD203B41FA5}">
                      <a16:colId xmlns:a16="http://schemas.microsoft.com/office/drawing/2014/main" val="20002"/>
                    </a:ext>
                  </a:extLst>
                </a:gridCol>
                <a:gridCol w="6858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1085850">
                  <a:extLst>
                    <a:ext uri="{9D8B030D-6E8A-4147-A177-3AD203B41FA5}">
                      <a16:colId xmlns:a16="http://schemas.microsoft.com/office/drawing/2014/main" val="20005"/>
                    </a:ext>
                  </a:extLst>
                </a:gridCol>
                <a:gridCol w="8801100">
                  <a:extLst>
                    <a:ext uri="{9D8B030D-6E8A-4147-A177-3AD203B41FA5}">
                      <a16:colId xmlns:a16="http://schemas.microsoft.com/office/drawing/2014/main" val="20006"/>
                    </a:ext>
                  </a:extLst>
                </a:gridCol>
              </a:tblGrid>
              <a:tr h="301752">
                <a:tc>
                  <a:txBody>
                    <a:bodyPr/>
                    <a:lstStyle/>
                    <a:p>
                      <a:pPr algn="l">
                        <a:buNone/>
                      </a:pPr>
                      <a:r>
                        <a:rPr sz="1050" b="1">
                          <a:solidFill>
                            <a:srgbClr val="2E3142"/>
                          </a:solidFill>
                          <a:latin typeface="210 OmniGothic 040"/>
                          <a:ea typeface="210 OmniGothic 040"/>
                          <a:cs typeface="210 OmniGothic 040"/>
                        </a:rPr>
                        <a:t>속성명</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가시성</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자료형</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크기</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NULLABLE</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기본값</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설명</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extLst>
                  <a:ext uri="{0D108BD9-81ED-4DB2-BD59-A6C34878D82A}">
                    <a16:rowId xmlns:a16="http://schemas.microsoft.com/office/drawing/2014/main" val="10000"/>
                  </a:ext>
                </a:extLst>
              </a:tr>
              <a:tr h="301752">
                <a:tc>
                  <a:txBody>
                    <a:bodyPr/>
                    <a:lstStyle/>
                    <a:p>
                      <a:pPr algn="l">
                        <a:buNone/>
                      </a:pPr>
                      <a:r>
                        <a:rPr sz="1050" b="0">
                          <a:solidFill>
                            <a:srgbClr val="2E3142"/>
                          </a:solidFill>
                          <a:latin typeface="Consolas"/>
                          <a:ea typeface="Consolas"/>
                          <a:cs typeface="Consolas"/>
                        </a:rPr>
                        <a:t>id</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int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NOT NULL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auto</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메시지 식별자 (PK)</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1"/>
                  </a:ext>
                </a:extLst>
              </a:tr>
              <a:tr h="301752">
                <a:tc>
                  <a:txBody>
                    <a:bodyPr/>
                    <a:lstStyle/>
                    <a:p>
                      <a:pPr algn="l">
                        <a:buNone/>
                      </a:pPr>
                      <a:r>
                        <a:rPr sz="1050" b="0">
                          <a:solidFill>
                            <a:srgbClr val="2E3142"/>
                          </a:solidFill>
                          <a:latin typeface="Consolas"/>
                          <a:ea typeface="Consolas"/>
                          <a:cs typeface="Consolas"/>
                        </a:rPr>
                        <a:t>incident_id</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str</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20</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NOT NULL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N/A</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사건 ID (FK → incidents.id)</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2"/>
                  </a:ext>
                </a:extLst>
              </a:tr>
              <a:tr h="301752">
                <a:tc>
                  <a:txBody>
                    <a:bodyPr/>
                    <a:lstStyle/>
                    <a:p>
                      <a:pPr algn="l">
                        <a:buNone/>
                      </a:pPr>
                      <a:r>
                        <a:rPr sz="1050" b="0">
                          <a:solidFill>
                            <a:srgbClr val="2E3142"/>
                          </a:solidFill>
                          <a:latin typeface="Consolas"/>
                          <a:ea typeface="Consolas"/>
                          <a:cs typeface="Consolas"/>
                        </a:rPr>
                        <a:t>user_id</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int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NOT NULL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N/A</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질문자 (FK → users.id)</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3"/>
                  </a:ext>
                </a:extLst>
              </a:tr>
              <a:tr h="301752">
                <a:tc>
                  <a:txBody>
                    <a:bodyPr/>
                    <a:lstStyle/>
                    <a:p>
                      <a:pPr algn="l">
                        <a:buNone/>
                      </a:pPr>
                      <a:r>
                        <a:rPr sz="1050" b="0">
                          <a:solidFill>
                            <a:srgbClr val="2E3142"/>
                          </a:solidFill>
                          <a:latin typeface="Consolas"/>
                          <a:ea typeface="Consolas"/>
                          <a:cs typeface="Consolas"/>
                        </a:rPr>
                        <a:t>proposal_id</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int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NULLABLE</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N/A</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질문 시점 제안서 (FK → proposals.id)</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4"/>
                  </a:ext>
                </a:extLst>
              </a:tr>
              <a:tr h="301752">
                <a:tc>
                  <a:txBody>
                    <a:bodyPr/>
                    <a:lstStyle/>
                    <a:p>
                      <a:pPr algn="l">
                        <a:buNone/>
                      </a:pPr>
                      <a:r>
                        <a:rPr sz="1050" b="0">
                          <a:solidFill>
                            <a:srgbClr val="2E3142"/>
                          </a:solidFill>
                          <a:latin typeface="Consolas"/>
                          <a:ea typeface="Consolas"/>
                          <a:cs typeface="Consolas"/>
                        </a:rPr>
                        <a:t>item_code</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str</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3</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NULLABLE</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N/A</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대화 맥락 항목 (S1~E7)</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5"/>
                  </a:ext>
                </a:extLst>
              </a:tr>
              <a:tr h="301752">
                <a:tc>
                  <a:txBody>
                    <a:bodyPr/>
                    <a:lstStyle/>
                    <a:p>
                      <a:pPr algn="l">
                        <a:buNone/>
                      </a:pPr>
                      <a:r>
                        <a:rPr sz="1050" b="0">
                          <a:solidFill>
                            <a:srgbClr val="2E3142"/>
                          </a:solidFill>
                          <a:latin typeface="Consolas"/>
                          <a:ea typeface="Consolas"/>
                          <a:cs typeface="Consolas"/>
                        </a:rPr>
                        <a:t>sender</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SenderEnum</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NOT NULL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N/A</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발신자 (USER / AI)</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6"/>
                  </a:ext>
                </a:extLst>
              </a:tr>
              <a:tr h="301752">
                <a:tc>
                  <a:txBody>
                    <a:bodyPr/>
                    <a:lstStyle/>
                    <a:p>
                      <a:pPr algn="l">
                        <a:buNone/>
                      </a:pPr>
                      <a:r>
                        <a:rPr sz="1050" b="0">
                          <a:solidFill>
                            <a:srgbClr val="2E3142"/>
                          </a:solidFill>
                          <a:latin typeface="Consolas"/>
                          <a:ea typeface="Consolas"/>
                          <a:cs typeface="Consolas"/>
                        </a:rPr>
                        <a:t>intent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IntentEnum</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NOT NULL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QA</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의도 (QA 질의 / CORRECTION 상황 정정)</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7"/>
                  </a:ext>
                </a:extLst>
              </a:tr>
              <a:tr h="301752">
                <a:tc>
                  <a:txBody>
                    <a:bodyPr/>
                    <a:lstStyle/>
                    <a:p>
                      <a:pPr algn="l">
                        <a:buNone/>
                      </a:pPr>
                      <a:r>
                        <a:rPr sz="1050" b="0">
                          <a:solidFill>
                            <a:srgbClr val="2E3142"/>
                          </a:solidFill>
                          <a:latin typeface="Consolas"/>
                          <a:ea typeface="Consolas"/>
                          <a:cs typeface="Consolas"/>
                        </a:rPr>
                        <a:t>content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text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NOT NULL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N/A</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질문·답변 내용</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8"/>
                  </a:ext>
                </a:extLst>
              </a:tr>
              <a:tr h="301752">
                <a:tc>
                  <a:txBody>
                    <a:bodyPr/>
                    <a:lstStyle/>
                    <a:p>
                      <a:pPr algn="l">
                        <a:buNone/>
                      </a:pPr>
                      <a:r>
                        <a:rPr sz="1050" b="0">
                          <a:solidFill>
                            <a:srgbClr val="2E3142"/>
                          </a:solidFill>
                          <a:latin typeface="Consolas"/>
                          <a:ea typeface="Consolas"/>
                          <a:cs typeface="Consolas"/>
                        </a:rPr>
                        <a:t>created_at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datetime</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NOT NULL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now()</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작성 일시</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81703249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16" name="Picture 2"/>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700" y="-12700"/>
            <a:ext cx="18313400" cy="1638300"/>
          </a:xfrm>
          <a:prstGeom prst="rect">
            <a:avLst/>
          </a:prstGeom>
        </p:spPr>
      </p:pic>
      <p:pic>
        <p:nvPicPr>
          <p:cNvPr id="5317" name="Picture 4"/>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28" y="1618343"/>
            <a:ext cx="18313400" cy="8699500"/>
          </a:xfrm>
          <a:prstGeom prst="rect">
            <a:avLst/>
          </a:prstGeom>
        </p:spPr>
      </p:pic>
      <p:pic>
        <p:nvPicPr>
          <p:cNvPr id="5318" name="Picture 5"/>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58800" y="9271000"/>
            <a:ext cx="17170400" cy="50800"/>
          </a:xfrm>
          <a:prstGeom prst="rect">
            <a:avLst/>
          </a:prstGeom>
        </p:spPr>
      </p:pic>
      <p:pic>
        <p:nvPicPr>
          <p:cNvPr id="5319" name="Picture 3"/>
          <p:cNvPicPr>
            <a:picLocks noChangeAspect="1"/>
          </p:cNvPicPr>
          <p:nvPr/>
        </p:nvPicPr>
        <p:blipFill>
          <a:blip>
            <a:extLst>
              <a:ext uri="{96DAC541-7B7A-43D3-8B79-37D633B846F1}">
                <asvg:svgBlip xmlns:asvg="http://schemas.microsoft.com/office/drawing/2016/SVG/main" r:embed="rId6"/>
              </a:ext>
            </a:extLst>
          </a:blip>
          <a:srcRect b="43005"/>
          <a:stretch>
            <a:fillRect/>
          </a:stretch>
        </p:blipFill>
        <p:spPr>
          <a:xfrm>
            <a:off x="15443200" y="228600"/>
            <a:ext cx="1384300" cy="1397000"/>
          </a:xfrm>
          <a:prstGeom prst="rect">
            <a:avLst/>
          </a:prstGeom>
        </p:spPr>
      </p:pic>
      <p:sp>
        <p:nvSpPr>
          <p:cNvPr id="5308" name="Title">
            <a:extLst>
              <a:ext uri="{FF2B5EF4-FFF2-40B4-BE49-F238E27FC236}">
                <a16:creationId xmlns:a16="http://schemas.microsoft.com/office/drawing/2014/main" id="{0D35DE1D-BE4F-4EF2-969D-7B0585458B0C}"/>
              </a:ext>
            </a:extLst>
          </p:cNvPr>
          <p:cNvSpPr>
            <a:spLocks noGrp="1"/>
          </p:cNvSpPr>
          <p:nvPr/>
        </p:nvSpPr>
        <p:spPr>
          <a:xfrm>
            <a:off x="822960" y="384048"/>
            <a:ext cx="13258800" cy="877824"/>
          </a:xfrm>
          <a:prstGeom prst="rect">
            <a:avLst/>
          </a:prstGeom>
          <a:noFill/>
        </p:spPr>
        <p:txBody>
          <a:bodyPr wrap="square" lIns="0" tIns="0" rIns="0" bIns="0" anchor="ctr">
            <a:spAutoFit/>
          </a:bodyPr>
          <a:lstStyle/>
          <a:p>
            <a:pPr algn="l">
              <a:buNone/>
            </a:pPr>
            <a:r>
              <a:rPr sz="4400" b="0">
                <a:solidFill>
                  <a:srgbClr val="FAA95A"/>
                </a:solidFill>
                <a:latin typeface="210 OmniGothic 050"/>
                <a:ea typeface="210 OmniGothic 050"/>
                <a:cs typeface="210 OmniGothic 050"/>
              </a:rPr>
              <a:t>05. 클래스 다이어그램</a:t>
            </a:r>
          </a:p>
        </p:txBody>
      </p:sp>
      <p:sp>
        <p:nvSpPr>
          <p:cNvPr id="5309" name="Subtitle">
            <a:extLst>
              <a:ext uri="{FF2B5EF4-FFF2-40B4-BE49-F238E27FC236}">
                <a16:creationId xmlns:a16="http://schemas.microsoft.com/office/drawing/2014/main" id="{22E3B48D-00CF-4E24-8D90-A7431FA44C40}"/>
              </a:ext>
            </a:extLst>
          </p:cNvPr>
          <p:cNvSpPr>
            <a:spLocks noGrp="1"/>
          </p:cNvSpPr>
          <p:nvPr/>
        </p:nvSpPr>
        <p:spPr>
          <a:xfrm>
            <a:off x="822960" y="1764792"/>
            <a:ext cx="16642080" cy="502920"/>
          </a:xfrm>
          <a:prstGeom prst="rect">
            <a:avLst/>
          </a:prstGeom>
          <a:noFill/>
        </p:spPr>
        <p:txBody>
          <a:bodyPr wrap="square" lIns="0" tIns="0" rIns="0" bIns="0" anchor="ctr">
            <a:spAutoFit/>
          </a:bodyPr>
          <a:lstStyle/>
          <a:p>
            <a:pPr algn="ctr">
              <a:buNone/>
            </a:pPr>
            <a:r>
              <a:rPr sz="2600" b="1">
                <a:solidFill>
                  <a:srgbClr val="363A52"/>
                </a:solidFill>
                <a:latin typeface="210 OmniGothic 040"/>
                <a:ea typeface="210 OmniGothic 040"/>
                <a:cs typeface="210 OmniGothic 040"/>
              </a:rPr>
              <a:t>1. 속성 정의 – </a:t>
            </a:r>
            <a:r>
              <a:rPr sz="2600" b="1">
                <a:solidFill>
                  <a:srgbClr val="FAA95A"/>
                </a:solidFill>
                <a:latin typeface="210 OmniGothic 040"/>
                <a:ea typeface="210 OmniGothic 040"/>
                <a:cs typeface="210 OmniGothic 040"/>
              </a:rPr>
              <a:t>도메인 엔티티 (설계)</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idx="12"/>
          </p:nvPr>
        </p:nvSpPr>
        <p:spPr/>
        <p:txBody>
          <a:bodyPr/>
          <a:lstStyle/>
          <a:p>
            <a:fld id="{B6F15528-21DE-4FAA-801E-634DDDAF4B2B}" type="slidenum">
              <a:t>60</a:t>
            </a:fld>
            <a:endParaRPr/>
          </a:p>
        </p:txBody>
      </p:sp>
      <p:sp>
        <p:nvSpPr>
          <p:cNvPr id="5310" name="TextBox 5309">
            <a:extLst>
              <a:ext uri="{FF2B5EF4-FFF2-40B4-BE49-F238E27FC236}">
                <a16:creationId xmlns:a16="http://schemas.microsoft.com/office/drawing/2014/main" id="{C7E96E94-7C23-4346-984D-4AF5B6D4C220}"/>
              </a:ext>
            </a:extLst>
          </p:cNvPr>
          <p:cNvSpPr>
            <a:spLocks noGrp="1"/>
          </p:cNvSpPr>
          <p:nvPr/>
        </p:nvSpPr>
        <p:spPr>
          <a:xfrm>
            <a:off x="822960" y="2395728"/>
            <a:ext cx="11430000" cy="301752"/>
          </a:xfrm>
          <a:prstGeom prst="rect">
            <a:avLst/>
          </a:prstGeom>
          <a:noFill/>
        </p:spPr>
        <p:txBody>
          <a:bodyPr wrap="square" lIns="0" tIns="0" rIns="0" bIns="0" anchor="t">
            <a:spAutoFit/>
          </a:bodyPr>
          <a:lstStyle/>
          <a:p>
            <a:pPr algn="l">
              <a:buNone/>
            </a:pPr>
            <a:r>
              <a:rPr sz="1500" b="1">
                <a:solidFill>
                  <a:srgbClr val="2E3142"/>
                </a:solidFill>
                <a:latin typeface="210 OmniGothic 040"/>
                <a:ea typeface="210 OmniGothic 040"/>
                <a:cs typeface="210 OmniGothic 040"/>
              </a:rPr>
              <a:t>EventLog 클래스</a:t>
            </a:r>
            <a:r>
              <a:rPr sz="1250" b="0">
                <a:solidFill>
                  <a:srgbClr val="6B7080"/>
                </a:solidFill>
                <a:latin typeface="210 OmniGothic 040"/>
                <a:ea typeface="210 OmniGothic 040"/>
                <a:cs typeface="210 OmniGothic 040"/>
              </a:rPr>
              <a:t>  이벤트 로그(추가 전용, 이력 탭에서 열람)</a:t>
            </a:r>
          </a:p>
        </p:txBody>
      </p:sp>
      <p:graphicFrame>
        <p:nvGraphicFramePr>
          <p:cNvPr id="5324" name="Table 5310"/>
          <p:cNvGraphicFramePr/>
          <p:nvPr/>
        </p:nvGraphicFramePr>
        <p:xfrm>
          <a:off x="822960" y="2727655"/>
          <a:ext cx="16459200" cy="2112264"/>
        </p:xfrm>
        <a:graphic>
          <a:graphicData uri="http://schemas.openxmlformats.org/drawingml/2006/table">
            <a:tbl>
              <a:tblPr>
                <a:tableStyleId>{2D5ABB26-0587-4C30-8999-92F81FD0307C}</a:tableStyleId>
              </a:tblPr>
              <a:tblGrid>
                <a:gridCol w="2000250">
                  <a:extLst>
                    <a:ext uri="{9D8B030D-6E8A-4147-A177-3AD203B41FA5}">
                      <a16:colId xmlns:a16="http://schemas.microsoft.com/office/drawing/2014/main" val="20000"/>
                    </a:ext>
                  </a:extLst>
                </a:gridCol>
                <a:gridCol w="971550">
                  <a:extLst>
                    <a:ext uri="{9D8B030D-6E8A-4147-A177-3AD203B41FA5}">
                      <a16:colId xmlns:a16="http://schemas.microsoft.com/office/drawing/2014/main" val="20001"/>
                    </a:ext>
                  </a:extLst>
                </a:gridCol>
                <a:gridCol w="1543050">
                  <a:extLst>
                    <a:ext uri="{9D8B030D-6E8A-4147-A177-3AD203B41FA5}">
                      <a16:colId xmlns:a16="http://schemas.microsoft.com/office/drawing/2014/main" val="20002"/>
                    </a:ext>
                  </a:extLst>
                </a:gridCol>
                <a:gridCol w="6858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1085850">
                  <a:extLst>
                    <a:ext uri="{9D8B030D-6E8A-4147-A177-3AD203B41FA5}">
                      <a16:colId xmlns:a16="http://schemas.microsoft.com/office/drawing/2014/main" val="20005"/>
                    </a:ext>
                  </a:extLst>
                </a:gridCol>
                <a:gridCol w="8801100">
                  <a:extLst>
                    <a:ext uri="{9D8B030D-6E8A-4147-A177-3AD203B41FA5}">
                      <a16:colId xmlns:a16="http://schemas.microsoft.com/office/drawing/2014/main" val="20006"/>
                    </a:ext>
                  </a:extLst>
                </a:gridCol>
              </a:tblGrid>
              <a:tr h="301752">
                <a:tc>
                  <a:txBody>
                    <a:bodyPr/>
                    <a:lstStyle/>
                    <a:p>
                      <a:pPr algn="l">
                        <a:buNone/>
                      </a:pPr>
                      <a:r>
                        <a:rPr sz="1050" b="1">
                          <a:solidFill>
                            <a:srgbClr val="2E3142"/>
                          </a:solidFill>
                          <a:latin typeface="210 OmniGothic 040"/>
                          <a:ea typeface="210 OmniGothic 040"/>
                          <a:cs typeface="210 OmniGothic 040"/>
                        </a:rPr>
                        <a:t>속성명</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가시성</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자료형</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크기</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NULLABLE</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기본값</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설명</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extLst>
                  <a:ext uri="{0D108BD9-81ED-4DB2-BD59-A6C34878D82A}">
                    <a16:rowId xmlns:a16="http://schemas.microsoft.com/office/drawing/2014/main" val="10000"/>
                  </a:ext>
                </a:extLst>
              </a:tr>
              <a:tr h="301752">
                <a:tc>
                  <a:txBody>
                    <a:bodyPr/>
                    <a:lstStyle/>
                    <a:p>
                      <a:pPr algn="l">
                        <a:buNone/>
                      </a:pPr>
                      <a:r>
                        <a:rPr sz="1050" b="0">
                          <a:solidFill>
                            <a:srgbClr val="2E3142"/>
                          </a:solidFill>
                          <a:latin typeface="Consolas"/>
                          <a:ea typeface="Consolas"/>
                          <a:cs typeface="Consolas"/>
                        </a:rPr>
                        <a:t>id</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int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NOT NULL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auto</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로그 식별자 (PK)</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1"/>
                  </a:ext>
                </a:extLst>
              </a:tr>
              <a:tr h="301752">
                <a:tc>
                  <a:txBody>
                    <a:bodyPr/>
                    <a:lstStyle/>
                    <a:p>
                      <a:pPr algn="l">
                        <a:buNone/>
                      </a:pPr>
                      <a:r>
                        <a:rPr sz="1050" b="0">
                          <a:solidFill>
                            <a:srgbClr val="2E3142"/>
                          </a:solidFill>
                          <a:latin typeface="Consolas"/>
                          <a:ea typeface="Consolas"/>
                          <a:cs typeface="Consolas"/>
                        </a:rPr>
                        <a:t>incident_id</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str</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20</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NULLABLE</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N/A</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관련 사건 (FK → incidents.id, 로그인·관리 이벤트는 NULL)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2"/>
                  </a:ext>
                </a:extLst>
              </a:tr>
              <a:tr h="301752">
                <a:tc>
                  <a:txBody>
                    <a:bodyPr/>
                    <a:lstStyle/>
                    <a:p>
                      <a:pPr algn="l">
                        <a:buNone/>
                      </a:pPr>
                      <a:r>
                        <a:rPr sz="1050" b="0">
                          <a:solidFill>
                            <a:srgbClr val="2E3142"/>
                          </a:solidFill>
                          <a:latin typeface="Consolas"/>
                          <a:ea typeface="Consolas"/>
                          <a:cs typeface="Consolas"/>
                        </a:rPr>
                        <a:t>user_id</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int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NULLABLE</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N/A</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행위자 (FK → users.id)</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3"/>
                  </a:ext>
                </a:extLst>
              </a:tr>
              <a:tr h="301752">
                <a:tc>
                  <a:txBody>
                    <a:bodyPr/>
                    <a:lstStyle/>
                    <a:p>
                      <a:pPr algn="l">
                        <a:buNone/>
                      </a:pPr>
                      <a:r>
                        <a:rPr sz="1050" b="0">
                          <a:solidFill>
                            <a:srgbClr val="2E3142"/>
                          </a:solidFill>
                          <a:latin typeface="Consolas"/>
                          <a:ea typeface="Consolas"/>
                          <a:cs typeface="Consolas"/>
                        </a:rPr>
                        <a:t>category</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EventEnum</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NOT NULL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N/A</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구분 (시스템·입력·예측·제안·정정·종료·관리·근거 부족)</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4"/>
                  </a:ext>
                </a:extLst>
              </a:tr>
              <a:tr h="301752">
                <a:tc>
                  <a:txBody>
                    <a:bodyPr/>
                    <a:lstStyle/>
                    <a:p>
                      <a:pPr algn="l">
                        <a:buNone/>
                      </a:pPr>
                      <a:r>
                        <a:rPr sz="1050" b="0">
                          <a:solidFill>
                            <a:srgbClr val="2E3142"/>
                          </a:solidFill>
                          <a:latin typeface="Consolas"/>
                          <a:ea typeface="Consolas"/>
                          <a:cs typeface="Consolas"/>
                        </a:rPr>
                        <a:t>content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str</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300</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NOT NULL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N/A</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내용 (예: 대응 제안 버전 2 생성(상황 정정) · 변경 1건)</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5"/>
                  </a:ext>
                </a:extLst>
              </a:tr>
              <a:tr h="301752">
                <a:tc>
                  <a:txBody>
                    <a:bodyPr/>
                    <a:lstStyle/>
                    <a:p>
                      <a:pPr algn="l">
                        <a:buNone/>
                      </a:pPr>
                      <a:r>
                        <a:rPr sz="1050" b="0">
                          <a:solidFill>
                            <a:srgbClr val="2E3142"/>
                          </a:solidFill>
                          <a:latin typeface="Consolas"/>
                          <a:ea typeface="Consolas"/>
                          <a:cs typeface="Consolas"/>
                        </a:rPr>
                        <a:t>created_at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datetime</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NOT NULL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now()</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발생 시각</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2506372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30" name="Picture 2"/>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700" y="-12700"/>
            <a:ext cx="18313400" cy="1638300"/>
          </a:xfrm>
          <a:prstGeom prst="rect">
            <a:avLst/>
          </a:prstGeom>
        </p:spPr>
      </p:pic>
      <p:pic>
        <p:nvPicPr>
          <p:cNvPr id="5331" name="Picture 4"/>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28" y="1618343"/>
            <a:ext cx="18313400" cy="8699500"/>
          </a:xfrm>
          <a:prstGeom prst="rect">
            <a:avLst/>
          </a:prstGeom>
        </p:spPr>
      </p:pic>
      <p:pic>
        <p:nvPicPr>
          <p:cNvPr id="5332" name="Picture 5"/>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58800" y="9271000"/>
            <a:ext cx="17170400" cy="50800"/>
          </a:xfrm>
          <a:prstGeom prst="rect">
            <a:avLst/>
          </a:prstGeom>
        </p:spPr>
      </p:pic>
      <p:pic>
        <p:nvPicPr>
          <p:cNvPr id="5333" name="Picture 3"/>
          <p:cNvPicPr>
            <a:picLocks noChangeAspect="1"/>
          </p:cNvPicPr>
          <p:nvPr/>
        </p:nvPicPr>
        <p:blipFill>
          <a:blip>
            <a:extLst>
              <a:ext uri="{96DAC541-7B7A-43D3-8B79-37D633B846F1}">
                <asvg:svgBlip xmlns:asvg="http://schemas.microsoft.com/office/drawing/2016/SVG/main" r:embed="rId6"/>
              </a:ext>
            </a:extLst>
          </a:blip>
          <a:srcRect b="43005"/>
          <a:stretch>
            <a:fillRect/>
          </a:stretch>
        </p:blipFill>
        <p:spPr>
          <a:xfrm>
            <a:off x="15443200" y="228600"/>
            <a:ext cx="1384300" cy="1397000"/>
          </a:xfrm>
          <a:prstGeom prst="rect">
            <a:avLst/>
          </a:prstGeom>
        </p:spPr>
      </p:pic>
      <p:sp>
        <p:nvSpPr>
          <p:cNvPr id="5313" name="Title">
            <a:extLst>
              <a:ext uri="{FF2B5EF4-FFF2-40B4-BE49-F238E27FC236}">
                <a16:creationId xmlns:a16="http://schemas.microsoft.com/office/drawing/2014/main" id="{78E9B050-A389-49A7-B4BD-6371A6F297EC}"/>
              </a:ext>
            </a:extLst>
          </p:cNvPr>
          <p:cNvSpPr>
            <a:spLocks noGrp="1"/>
          </p:cNvSpPr>
          <p:nvPr/>
        </p:nvSpPr>
        <p:spPr>
          <a:xfrm>
            <a:off x="822960" y="384048"/>
            <a:ext cx="13258800" cy="877824"/>
          </a:xfrm>
          <a:prstGeom prst="rect">
            <a:avLst/>
          </a:prstGeom>
          <a:noFill/>
        </p:spPr>
        <p:txBody>
          <a:bodyPr wrap="square" lIns="0" tIns="0" rIns="0" bIns="0" anchor="ctr">
            <a:spAutoFit/>
          </a:bodyPr>
          <a:lstStyle/>
          <a:p>
            <a:pPr algn="l">
              <a:buNone/>
            </a:pPr>
            <a:r>
              <a:rPr sz="4400" b="0">
                <a:solidFill>
                  <a:srgbClr val="FAA95A"/>
                </a:solidFill>
                <a:latin typeface="210 OmniGothic 050"/>
                <a:ea typeface="210 OmniGothic 050"/>
                <a:cs typeface="210 OmniGothic 050"/>
              </a:rPr>
              <a:t>05. 클래스 다이어그램</a:t>
            </a:r>
          </a:p>
        </p:txBody>
      </p:sp>
      <p:sp>
        <p:nvSpPr>
          <p:cNvPr id="5314" name="Subtitle">
            <a:extLst>
              <a:ext uri="{FF2B5EF4-FFF2-40B4-BE49-F238E27FC236}">
                <a16:creationId xmlns:a16="http://schemas.microsoft.com/office/drawing/2014/main" id="{03254974-3E2B-4754-9CB1-B57F142DE75F}"/>
              </a:ext>
            </a:extLst>
          </p:cNvPr>
          <p:cNvSpPr>
            <a:spLocks noGrp="1"/>
          </p:cNvSpPr>
          <p:nvPr/>
        </p:nvSpPr>
        <p:spPr>
          <a:xfrm>
            <a:off x="822960" y="1764792"/>
            <a:ext cx="16642080" cy="502920"/>
          </a:xfrm>
          <a:prstGeom prst="rect">
            <a:avLst/>
          </a:prstGeom>
          <a:noFill/>
        </p:spPr>
        <p:txBody>
          <a:bodyPr wrap="square" lIns="0" tIns="0" rIns="0" bIns="0" anchor="ctr">
            <a:spAutoFit/>
          </a:bodyPr>
          <a:lstStyle/>
          <a:p>
            <a:pPr algn="ctr">
              <a:buNone/>
            </a:pPr>
            <a:r>
              <a:rPr sz="2600" b="1">
                <a:solidFill>
                  <a:srgbClr val="363A52"/>
                </a:solidFill>
                <a:latin typeface="210 OmniGothic 040"/>
                <a:ea typeface="210 OmniGothic 040"/>
                <a:cs typeface="210 OmniGothic 040"/>
              </a:rPr>
              <a:t>2. 오퍼레이션 정의 – </a:t>
            </a:r>
            <a:r>
              <a:rPr sz="2600" b="1">
                <a:solidFill>
                  <a:srgbClr val="FAA95A"/>
                </a:solidFill>
                <a:latin typeface="210 OmniGothic 040"/>
                <a:ea typeface="210 OmniGothic 040"/>
                <a:cs typeface="210 OmniGothic 040"/>
              </a:rPr>
              <a:t>논리 컴포넌트 (설계)</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idx="12"/>
          </p:nvPr>
        </p:nvSpPr>
        <p:spPr/>
        <p:txBody>
          <a:bodyPr/>
          <a:lstStyle/>
          <a:p>
            <a:fld id="{B6F15528-21DE-4FAA-801E-634DDDAF4B2B}" type="slidenum">
              <a:rPr/>
              <a:t>61</a:t>
            </a:fld>
            <a:endParaRPr/>
          </a:p>
        </p:txBody>
      </p:sp>
      <p:sp>
        <p:nvSpPr>
          <p:cNvPr id="5315" name="TextBox 5314">
            <a:extLst>
              <a:ext uri="{FF2B5EF4-FFF2-40B4-BE49-F238E27FC236}">
                <a16:creationId xmlns:a16="http://schemas.microsoft.com/office/drawing/2014/main" id="{F45741F8-A8B9-4460-AE9A-2D559B4131F1}"/>
              </a:ext>
            </a:extLst>
          </p:cNvPr>
          <p:cNvSpPr>
            <a:spLocks noGrp="1"/>
          </p:cNvSpPr>
          <p:nvPr/>
        </p:nvSpPr>
        <p:spPr>
          <a:xfrm>
            <a:off x="822960" y="2395728"/>
            <a:ext cx="11430000" cy="301752"/>
          </a:xfrm>
          <a:prstGeom prst="rect">
            <a:avLst/>
          </a:prstGeom>
          <a:noFill/>
        </p:spPr>
        <p:txBody>
          <a:bodyPr wrap="square" lIns="0" tIns="0" rIns="0" bIns="0" anchor="t">
            <a:spAutoFit/>
          </a:bodyPr>
          <a:lstStyle/>
          <a:p>
            <a:pPr algn="l">
              <a:buNone/>
            </a:pPr>
            <a:r>
              <a:rPr sz="1500" b="1">
                <a:solidFill>
                  <a:srgbClr val="2E3142"/>
                </a:solidFill>
                <a:latin typeface="210 OmniGothic 040"/>
                <a:ea typeface="210 OmniGothic 040"/>
                <a:cs typeface="210 OmniGothic 040"/>
              </a:rPr>
              <a:t>AuthRouter 클래스</a:t>
            </a:r>
            <a:r>
              <a:rPr sz="1250" b="0">
                <a:solidFill>
                  <a:srgbClr val="6B7080"/>
                </a:solidFill>
                <a:latin typeface="210 OmniGothic 040"/>
                <a:ea typeface="210 OmniGothic 040"/>
                <a:cs typeface="210 OmniGothic 040"/>
              </a:rPr>
              <a:t>  &lt;Router&gt;</a:t>
            </a:r>
          </a:p>
        </p:txBody>
      </p:sp>
      <p:graphicFrame>
        <p:nvGraphicFramePr>
          <p:cNvPr id="5338" name="Table 5315"/>
          <p:cNvGraphicFramePr/>
          <p:nvPr/>
        </p:nvGraphicFramePr>
        <p:xfrm>
          <a:off x="822960" y="2727655"/>
          <a:ext cx="16459200" cy="894716"/>
        </p:xfrm>
        <a:graphic>
          <a:graphicData uri="http://schemas.openxmlformats.org/drawingml/2006/table">
            <a:tbl>
              <a:tblPr>
                <a:tableStyleId>{2D5ABB26-0587-4C30-8999-92F81FD0307C}</a:tableStyleId>
              </a:tblPr>
              <a:tblGrid>
                <a:gridCol w="2400300">
                  <a:extLst>
                    <a:ext uri="{9D8B030D-6E8A-4147-A177-3AD203B41FA5}">
                      <a16:colId xmlns:a16="http://schemas.microsoft.com/office/drawing/2014/main" val="20000"/>
                    </a:ext>
                  </a:extLst>
                </a:gridCol>
                <a:gridCol w="971550">
                  <a:extLst>
                    <a:ext uri="{9D8B030D-6E8A-4147-A177-3AD203B41FA5}">
                      <a16:colId xmlns:a16="http://schemas.microsoft.com/office/drawing/2014/main" val="20001"/>
                    </a:ext>
                  </a:extLst>
                </a:gridCol>
                <a:gridCol w="400050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gridCol w="6343650">
                  <a:extLst>
                    <a:ext uri="{9D8B030D-6E8A-4147-A177-3AD203B41FA5}">
                      <a16:colId xmlns:a16="http://schemas.microsoft.com/office/drawing/2014/main" val="20004"/>
                    </a:ext>
                  </a:extLst>
                </a:gridCol>
              </a:tblGrid>
              <a:tr h="223679">
                <a:tc>
                  <a:txBody>
                    <a:bodyPr/>
                    <a:lstStyle/>
                    <a:p>
                      <a:pPr algn="l">
                        <a:buNone/>
                      </a:pPr>
                      <a:r>
                        <a:rPr sz="1050" b="1">
                          <a:solidFill>
                            <a:srgbClr val="2E3142"/>
                          </a:solidFill>
                          <a:latin typeface="210 OmniGothic 040"/>
                          <a:ea typeface="210 OmniGothic 040"/>
                          <a:cs typeface="210 OmniGothic 040"/>
                        </a:rPr>
                        <a:t>오퍼레이션명</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가시성</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파라미터</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반환타입</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설명</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extLst>
                  <a:ext uri="{0D108BD9-81ED-4DB2-BD59-A6C34878D82A}">
                    <a16:rowId xmlns:a16="http://schemas.microsoft.com/office/drawing/2014/main" val="10000"/>
                  </a:ext>
                </a:extLst>
              </a:tr>
              <a:tr h="223679">
                <a:tc>
                  <a:txBody>
                    <a:bodyPr/>
                    <a:lstStyle/>
                    <a:p>
                      <a:pPr algn="l">
                        <a:buNone/>
                      </a:pPr>
                      <a:r>
                        <a:rPr sz="1050" b="0">
                          <a:solidFill>
                            <a:srgbClr val="2E3142"/>
                          </a:solidFill>
                          <a:latin typeface="Consolas"/>
                          <a:ea typeface="Consolas"/>
                          <a:cs typeface="Consolas"/>
                        </a:rPr>
                        <a:t>login</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Consolas"/>
                          <a:ea typeface="Consolas"/>
                          <a:cs typeface="Consolas"/>
                        </a:rPr>
                        <a:t>login_id, password, role</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Consolas"/>
                          <a:ea typeface="Consolas"/>
                          <a:cs typeface="Consolas"/>
                        </a:rPr>
                        <a:t>Token</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계정 검증 후 JWT 발급 (권한 클레임 포함)</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1"/>
                  </a:ext>
                </a:extLst>
              </a:tr>
              <a:tr h="223679">
                <a:tc>
                  <a:txBody>
                    <a:bodyPr/>
                    <a:lstStyle/>
                    <a:p>
                      <a:pPr algn="l">
                        <a:buNone/>
                      </a:pPr>
                      <a:r>
                        <a:rPr sz="1050" b="0">
                          <a:solidFill>
                            <a:srgbClr val="2E3142"/>
                          </a:solidFill>
                          <a:latin typeface="Consolas"/>
                          <a:ea typeface="Consolas"/>
                          <a:cs typeface="Consolas"/>
                        </a:rPr>
                        <a:t>logout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Consolas"/>
                          <a:ea typeface="Consolas"/>
                          <a:cs typeface="Consolas"/>
                        </a:rPr>
                        <a:t>token</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Consolas"/>
                          <a:ea typeface="Consolas"/>
                          <a:cs typeface="Consolas"/>
                        </a:rPr>
                        <a:t>void</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세션 토큰 폐기</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2"/>
                  </a:ext>
                </a:extLst>
              </a:tr>
              <a:tr h="223679">
                <a:tc>
                  <a:txBody>
                    <a:bodyPr/>
                    <a:lstStyle/>
                    <a:p>
                      <a:pPr algn="l">
                        <a:buNone/>
                      </a:pPr>
                      <a:r>
                        <a:rPr sz="1050" b="0">
                          <a:solidFill>
                            <a:srgbClr val="2E3142"/>
                          </a:solidFill>
                          <a:latin typeface="Consolas"/>
                          <a:ea typeface="Consolas"/>
                          <a:cs typeface="Consolas"/>
                        </a:rPr>
                        <a:t>me</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Consolas"/>
                          <a:ea typeface="Consolas"/>
                          <a:cs typeface="Consolas"/>
                        </a:rPr>
                        <a:t>token</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Consolas"/>
                          <a:ea typeface="Consolas"/>
                          <a:cs typeface="Consolas"/>
                        </a:rPr>
                        <a:t>User</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현재 사용자·권한 조회</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3"/>
                  </a:ext>
                </a:extLst>
              </a:tr>
            </a:tbl>
          </a:graphicData>
        </a:graphic>
      </p:graphicFrame>
      <p:sp>
        <p:nvSpPr>
          <p:cNvPr id="5317" name="TextBox 5316">
            <a:extLst>
              <a:ext uri="{FF2B5EF4-FFF2-40B4-BE49-F238E27FC236}">
                <a16:creationId xmlns:a16="http://schemas.microsoft.com/office/drawing/2014/main" id="{FC2057A9-2240-40FD-8451-6FFD525C5175}"/>
              </a:ext>
            </a:extLst>
          </p:cNvPr>
          <p:cNvSpPr>
            <a:spLocks noGrp="1"/>
          </p:cNvSpPr>
          <p:nvPr/>
        </p:nvSpPr>
        <p:spPr>
          <a:xfrm>
            <a:off x="822960" y="3763191"/>
            <a:ext cx="11430000" cy="301752"/>
          </a:xfrm>
          <a:prstGeom prst="rect">
            <a:avLst/>
          </a:prstGeom>
          <a:noFill/>
        </p:spPr>
        <p:txBody>
          <a:bodyPr wrap="square" lIns="0" tIns="0" rIns="0" bIns="0" anchor="t">
            <a:spAutoFit/>
          </a:bodyPr>
          <a:lstStyle/>
          <a:p>
            <a:pPr algn="l">
              <a:buNone/>
            </a:pPr>
            <a:r>
              <a:rPr sz="1500" b="1">
                <a:solidFill>
                  <a:srgbClr val="2E3142"/>
                </a:solidFill>
                <a:latin typeface="210 OmniGothic 040"/>
                <a:ea typeface="210 OmniGothic 040"/>
                <a:cs typeface="210 OmniGothic 040"/>
              </a:rPr>
              <a:t>SecurityService 클래스</a:t>
            </a:r>
            <a:r>
              <a:rPr sz="1250" b="0">
                <a:solidFill>
                  <a:srgbClr val="6B7080"/>
                </a:solidFill>
                <a:latin typeface="210 OmniGothic 040"/>
                <a:ea typeface="210 OmniGothic 040"/>
                <a:cs typeface="210 OmniGothic 040"/>
              </a:rPr>
              <a:t>  &lt;Service&gt;</a:t>
            </a:r>
          </a:p>
        </p:txBody>
      </p:sp>
      <p:graphicFrame>
        <p:nvGraphicFramePr>
          <p:cNvPr id="5340" name="Table 5317"/>
          <p:cNvGraphicFramePr/>
          <p:nvPr/>
        </p:nvGraphicFramePr>
        <p:xfrm>
          <a:off x="822960" y="4095118"/>
          <a:ext cx="16459200" cy="894716"/>
        </p:xfrm>
        <a:graphic>
          <a:graphicData uri="http://schemas.openxmlformats.org/drawingml/2006/table">
            <a:tbl>
              <a:tblPr>
                <a:tableStyleId>{2D5ABB26-0587-4C30-8999-92F81FD0307C}</a:tableStyleId>
              </a:tblPr>
              <a:tblGrid>
                <a:gridCol w="2400300">
                  <a:extLst>
                    <a:ext uri="{9D8B030D-6E8A-4147-A177-3AD203B41FA5}">
                      <a16:colId xmlns:a16="http://schemas.microsoft.com/office/drawing/2014/main" val="20000"/>
                    </a:ext>
                  </a:extLst>
                </a:gridCol>
                <a:gridCol w="971550">
                  <a:extLst>
                    <a:ext uri="{9D8B030D-6E8A-4147-A177-3AD203B41FA5}">
                      <a16:colId xmlns:a16="http://schemas.microsoft.com/office/drawing/2014/main" val="20001"/>
                    </a:ext>
                  </a:extLst>
                </a:gridCol>
                <a:gridCol w="400050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gridCol w="6343650">
                  <a:extLst>
                    <a:ext uri="{9D8B030D-6E8A-4147-A177-3AD203B41FA5}">
                      <a16:colId xmlns:a16="http://schemas.microsoft.com/office/drawing/2014/main" val="20004"/>
                    </a:ext>
                  </a:extLst>
                </a:gridCol>
              </a:tblGrid>
              <a:tr h="223679">
                <a:tc>
                  <a:txBody>
                    <a:bodyPr/>
                    <a:lstStyle/>
                    <a:p>
                      <a:pPr algn="l">
                        <a:buNone/>
                      </a:pPr>
                      <a:r>
                        <a:rPr sz="1050" b="1">
                          <a:solidFill>
                            <a:srgbClr val="2E3142"/>
                          </a:solidFill>
                          <a:latin typeface="210 OmniGothic 040"/>
                          <a:ea typeface="210 OmniGothic 040"/>
                          <a:cs typeface="210 OmniGothic 040"/>
                        </a:rPr>
                        <a:t>오퍼레이션명</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가시성</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파라미터</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반환타입</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설명</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extLst>
                  <a:ext uri="{0D108BD9-81ED-4DB2-BD59-A6C34878D82A}">
                    <a16:rowId xmlns:a16="http://schemas.microsoft.com/office/drawing/2014/main" val="10000"/>
                  </a:ext>
                </a:extLst>
              </a:tr>
              <a:tr h="223679">
                <a:tc>
                  <a:txBody>
                    <a:bodyPr/>
                    <a:lstStyle/>
                    <a:p>
                      <a:pPr algn="l">
                        <a:buNone/>
                      </a:pPr>
                      <a:r>
                        <a:rPr sz="1050" b="0">
                          <a:solidFill>
                            <a:srgbClr val="2E3142"/>
                          </a:solidFill>
                          <a:latin typeface="Consolas"/>
                          <a:ea typeface="Consolas"/>
                          <a:cs typeface="Consolas"/>
                        </a:rPr>
                        <a:t>verify_password</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Consolas"/>
                          <a:ea typeface="Consolas"/>
                          <a:cs typeface="Consolas"/>
                        </a:rPr>
                        <a:t>plain, hashed</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Consolas"/>
                          <a:ea typeface="Consolas"/>
                          <a:cs typeface="Consolas"/>
                        </a:rPr>
                        <a:t>bool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bcrypt 해시 비교</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1"/>
                  </a:ext>
                </a:extLst>
              </a:tr>
              <a:tr h="223679">
                <a:tc>
                  <a:txBody>
                    <a:bodyPr/>
                    <a:lstStyle/>
                    <a:p>
                      <a:pPr algn="l">
                        <a:buNone/>
                      </a:pPr>
                      <a:r>
                        <a:rPr sz="1050" b="0">
                          <a:solidFill>
                            <a:srgbClr val="2E3142"/>
                          </a:solidFill>
                          <a:latin typeface="Consolas"/>
                          <a:ea typeface="Consolas"/>
                          <a:cs typeface="Consolas"/>
                        </a:rPr>
                        <a:t>create_token</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Consolas"/>
                          <a:ea typeface="Consolas"/>
                          <a:cs typeface="Consolas"/>
                        </a:rPr>
                        <a:t>user</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Consolas"/>
                          <a:ea typeface="Consolas"/>
                          <a:cs typeface="Consolas"/>
                        </a:rPr>
                        <a:t>str</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JWT 생성 (role, sigungu_code, 만료 30분)</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2"/>
                  </a:ext>
                </a:extLst>
              </a:tr>
              <a:tr h="223679">
                <a:tc>
                  <a:txBody>
                    <a:bodyPr/>
                    <a:lstStyle/>
                    <a:p>
                      <a:pPr algn="l">
                        <a:buNone/>
                      </a:pPr>
                      <a:r>
                        <a:rPr sz="1050" b="0">
                          <a:solidFill>
                            <a:srgbClr val="2E3142"/>
                          </a:solidFill>
                          <a:latin typeface="Consolas"/>
                          <a:ea typeface="Consolas"/>
                          <a:cs typeface="Consolas"/>
                        </a:rPr>
                        <a:t>require_role</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Consolas"/>
                          <a:ea typeface="Consolas"/>
                          <a:cs typeface="Consolas"/>
                        </a:rPr>
                        <a:t>user, roles</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Consolas"/>
                          <a:ea typeface="Consolas"/>
                          <a:cs typeface="Consolas"/>
                        </a:rPr>
                        <a:t>void</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권한 검사, 불일치 시 403 (모든 Router가 호출)</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3"/>
                  </a:ext>
                </a:extLst>
              </a:tr>
            </a:tbl>
          </a:graphicData>
        </a:graphic>
      </p:graphicFrame>
      <p:sp>
        <p:nvSpPr>
          <p:cNvPr id="5319" name="TextBox 5318">
            <a:extLst>
              <a:ext uri="{FF2B5EF4-FFF2-40B4-BE49-F238E27FC236}">
                <a16:creationId xmlns:a16="http://schemas.microsoft.com/office/drawing/2014/main" id="{DD12E634-6788-4EA2-B09C-4CA1CAA10BC0}"/>
              </a:ext>
            </a:extLst>
          </p:cNvPr>
          <p:cNvSpPr>
            <a:spLocks noGrp="1"/>
          </p:cNvSpPr>
          <p:nvPr/>
        </p:nvSpPr>
        <p:spPr>
          <a:xfrm>
            <a:off x="822960" y="5130654"/>
            <a:ext cx="11430000" cy="301752"/>
          </a:xfrm>
          <a:prstGeom prst="rect">
            <a:avLst/>
          </a:prstGeom>
          <a:noFill/>
        </p:spPr>
        <p:txBody>
          <a:bodyPr wrap="square" lIns="0" tIns="0" rIns="0" bIns="0" anchor="t">
            <a:spAutoFit/>
          </a:bodyPr>
          <a:lstStyle/>
          <a:p>
            <a:pPr algn="l">
              <a:buNone/>
            </a:pPr>
            <a:r>
              <a:rPr sz="1500" b="1">
                <a:solidFill>
                  <a:srgbClr val="2E3142"/>
                </a:solidFill>
                <a:latin typeface="210 OmniGothic 040"/>
                <a:ea typeface="210 OmniGothic 040"/>
                <a:cs typeface="210 OmniGothic 040"/>
              </a:rPr>
              <a:t>AdminRouter 클래스</a:t>
            </a:r>
            <a:r>
              <a:rPr sz="1250" b="0">
                <a:solidFill>
                  <a:srgbClr val="6B7080"/>
                </a:solidFill>
                <a:latin typeface="210 OmniGothic 040"/>
                <a:ea typeface="210 OmniGothic 040"/>
                <a:cs typeface="210 OmniGothic 040"/>
              </a:rPr>
              <a:t>  &lt;Router&gt;</a:t>
            </a:r>
          </a:p>
        </p:txBody>
      </p:sp>
      <p:graphicFrame>
        <p:nvGraphicFramePr>
          <p:cNvPr id="5342" name="Table 5319"/>
          <p:cNvGraphicFramePr/>
          <p:nvPr/>
        </p:nvGraphicFramePr>
        <p:xfrm>
          <a:off x="822960" y="5462582"/>
          <a:ext cx="16459200" cy="2013111"/>
        </p:xfrm>
        <a:graphic>
          <a:graphicData uri="http://schemas.openxmlformats.org/drawingml/2006/table">
            <a:tbl>
              <a:tblPr>
                <a:tableStyleId>{2D5ABB26-0587-4C30-8999-92F81FD0307C}</a:tableStyleId>
              </a:tblPr>
              <a:tblGrid>
                <a:gridCol w="2400300">
                  <a:extLst>
                    <a:ext uri="{9D8B030D-6E8A-4147-A177-3AD203B41FA5}">
                      <a16:colId xmlns:a16="http://schemas.microsoft.com/office/drawing/2014/main" val="20000"/>
                    </a:ext>
                  </a:extLst>
                </a:gridCol>
                <a:gridCol w="971550">
                  <a:extLst>
                    <a:ext uri="{9D8B030D-6E8A-4147-A177-3AD203B41FA5}">
                      <a16:colId xmlns:a16="http://schemas.microsoft.com/office/drawing/2014/main" val="20001"/>
                    </a:ext>
                  </a:extLst>
                </a:gridCol>
                <a:gridCol w="400050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gridCol w="6343650">
                  <a:extLst>
                    <a:ext uri="{9D8B030D-6E8A-4147-A177-3AD203B41FA5}">
                      <a16:colId xmlns:a16="http://schemas.microsoft.com/office/drawing/2014/main" val="20004"/>
                    </a:ext>
                  </a:extLst>
                </a:gridCol>
              </a:tblGrid>
              <a:tr h="223679">
                <a:tc>
                  <a:txBody>
                    <a:bodyPr/>
                    <a:lstStyle/>
                    <a:p>
                      <a:pPr algn="l">
                        <a:buNone/>
                      </a:pPr>
                      <a:r>
                        <a:rPr sz="1050" b="1">
                          <a:solidFill>
                            <a:srgbClr val="2E3142"/>
                          </a:solidFill>
                          <a:latin typeface="210 OmniGothic 040"/>
                          <a:ea typeface="210 OmniGothic 040"/>
                          <a:cs typeface="210 OmniGothic 040"/>
                        </a:rPr>
                        <a:t>오퍼레이션명</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가시성</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파라미터</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반환타입</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설명</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extLst>
                  <a:ext uri="{0D108BD9-81ED-4DB2-BD59-A6C34878D82A}">
                    <a16:rowId xmlns:a16="http://schemas.microsoft.com/office/drawing/2014/main" val="10000"/>
                  </a:ext>
                </a:extLst>
              </a:tr>
              <a:tr h="223679">
                <a:tc>
                  <a:txBody>
                    <a:bodyPr/>
                    <a:lstStyle/>
                    <a:p>
                      <a:pPr algn="l">
                        <a:buNone/>
                      </a:pPr>
                      <a:r>
                        <a:rPr sz="1050" b="0">
                          <a:solidFill>
                            <a:srgbClr val="2E3142"/>
                          </a:solidFill>
                          <a:latin typeface="Consolas"/>
                          <a:ea typeface="Consolas"/>
                          <a:cs typeface="Consolas"/>
                        </a:rPr>
                        <a:t>list_users</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Consolas"/>
                          <a:ea typeface="Consolas"/>
                          <a:cs typeface="Consolas"/>
                        </a:rPr>
                        <a: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Consolas"/>
                          <a:ea typeface="Consolas"/>
                          <a:cs typeface="Consolas"/>
                        </a:rPr>
                        <a:t>list~User~</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계정 표와 발급·회수·권한별 집계</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1"/>
                  </a:ext>
                </a:extLst>
              </a:tr>
              <a:tr h="223679">
                <a:tc>
                  <a:txBody>
                    <a:bodyPr/>
                    <a:lstStyle/>
                    <a:p>
                      <a:pPr algn="l">
                        <a:buNone/>
                      </a:pPr>
                      <a:r>
                        <a:rPr sz="1050" b="0">
                          <a:solidFill>
                            <a:srgbClr val="2E3142"/>
                          </a:solidFill>
                          <a:latin typeface="Consolas"/>
                          <a:ea typeface="Consolas"/>
                          <a:cs typeface="Consolas"/>
                        </a:rPr>
                        <a:t>issue_user</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Consolas"/>
                          <a:ea typeface="Consolas"/>
                          <a:cs typeface="Consolas"/>
                        </a:rPr>
                        <a:t>name, role</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Consolas"/>
                          <a:ea typeface="Consolas"/>
                          <a:cs typeface="Consolas"/>
                        </a:rPr>
                        <a:t>User</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계정 발급 (이름·소속·권한 입력, 아이디·초기 비밀번호는 시스템 생성)</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2"/>
                  </a:ext>
                </a:extLst>
              </a:tr>
              <a:tr h="223679">
                <a:tc>
                  <a:txBody>
                    <a:bodyPr/>
                    <a:lstStyle/>
                    <a:p>
                      <a:pPr algn="l">
                        <a:buNone/>
                      </a:pPr>
                      <a:r>
                        <a:rPr sz="1050" b="0">
                          <a:solidFill>
                            <a:srgbClr val="2E3142"/>
                          </a:solidFill>
                          <a:latin typeface="Consolas"/>
                          <a:ea typeface="Consolas"/>
                          <a:cs typeface="Consolas"/>
                        </a:rPr>
                        <a:t>set_role</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Consolas"/>
                          <a:ea typeface="Consolas"/>
                          <a:cs typeface="Consolas"/>
                        </a:rPr>
                        <a:t>user_id, role</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Consolas"/>
                          <a:ea typeface="Consolas"/>
                          <a:cs typeface="Consolas"/>
                        </a:rPr>
                        <a:t>User</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권한 변경 (즉시 반영)</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3"/>
                  </a:ext>
                </a:extLst>
              </a:tr>
              <a:tr h="223679">
                <a:tc>
                  <a:txBody>
                    <a:bodyPr/>
                    <a:lstStyle/>
                    <a:p>
                      <a:pPr algn="l">
                        <a:buNone/>
                      </a:pPr>
                      <a:r>
                        <a:rPr sz="1050" b="0">
                          <a:solidFill>
                            <a:srgbClr val="2E3142"/>
                          </a:solidFill>
                          <a:latin typeface="Consolas"/>
                          <a:ea typeface="Consolas"/>
                          <a:cs typeface="Consolas"/>
                        </a:rPr>
                        <a:t>revoke_user</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Consolas"/>
                          <a:ea typeface="Consolas"/>
                          <a:cs typeface="Consolas"/>
                        </a:rPr>
                        <a:t>user_id, revoke</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Consolas"/>
                          <a:ea typeface="Consolas"/>
                          <a:cs typeface="Consolas"/>
                        </a:rPr>
                        <a:t>User</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회수 / 재발급</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4"/>
                  </a:ext>
                </a:extLst>
              </a:tr>
              <a:tr h="223679">
                <a:tc>
                  <a:txBody>
                    <a:bodyPr/>
                    <a:lstStyle/>
                    <a:p>
                      <a:pPr algn="l">
                        <a:buNone/>
                      </a:pPr>
                      <a:r>
                        <a:rPr sz="1050" b="0">
                          <a:solidFill>
                            <a:srgbClr val="2E3142"/>
                          </a:solidFill>
                          <a:latin typeface="Consolas"/>
                          <a:ea typeface="Consolas"/>
                          <a:cs typeface="Consolas"/>
                        </a:rPr>
                        <a:t>unlock_user</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Consolas"/>
                          <a:ea typeface="Consolas"/>
                          <a:cs typeface="Consolas"/>
                        </a:rPr>
                        <a:t>user_id</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Consolas"/>
                          <a:ea typeface="Consolas"/>
                          <a:cs typeface="Consolas"/>
                        </a:rPr>
                        <a:t>User</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계정 잠금 해제 (locked=false, failed_count=0)</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5"/>
                  </a:ext>
                </a:extLst>
              </a:tr>
              <a:tr h="223679">
                <a:tc>
                  <a:txBody>
                    <a:bodyPr/>
                    <a:lstStyle/>
                    <a:p>
                      <a:pPr algn="l">
                        <a:buNone/>
                      </a:pPr>
                      <a:r>
                        <a:rPr sz="1050" b="0">
                          <a:solidFill>
                            <a:srgbClr val="2E3142"/>
                          </a:solidFill>
                          <a:latin typeface="Consolas"/>
                          <a:ea typeface="Consolas"/>
                          <a:cs typeface="Consolas"/>
                        </a:rPr>
                        <a:t>delete_user</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Consolas"/>
                          <a:ea typeface="Consolas"/>
                          <a:cs typeface="Consolas"/>
                        </a:rPr>
                        <a:t>user_id</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Consolas"/>
                          <a:ea typeface="Consolas"/>
                          <a:cs typeface="Consolas"/>
                        </a:rPr>
                        <a:t>void</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계정 삭제 (로그인 중인 자기 계정 거부)</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6"/>
                  </a:ext>
                </a:extLst>
              </a:tr>
              <a:tr h="223679">
                <a:tc>
                  <a:txBody>
                    <a:bodyPr/>
                    <a:lstStyle/>
                    <a:p>
                      <a:pPr algn="l">
                        <a:buNone/>
                      </a:pPr>
                      <a:r>
                        <a:rPr sz="1050" b="0">
                          <a:solidFill>
                            <a:srgbClr val="2E3142"/>
                          </a:solidFill>
                          <a:latin typeface="Consolas"/>
                          <a:ea typeface="Consolas"/>
                          <a:cs typeface="Consolas"/>
                        </a:rPr>
                        <a:t>save_resource</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Consolas"/>
                          <a:ea typeface="Consolas"/>
                          <a:cs typeface="Consolas"/>
                        </a:rPr>
                        <a:t>resource</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Consolas"/>
                          <a:ea typeface="Consolas"/>
                          <a:cs typeface="Consolas"/>
                        </a:rPr>
                        <a:t>Resource</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진화자원 등록·수정 (명칭 필수)</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7"/>
                  </a:ext>
                </a:extLst>
              </a:tr>
              <a:tr h="223679">
                <a:tc>
                  <a:txBody>
                    <a:bodyPr/>
                    <a:lstStyle/>
                    <a:p>
                      <a:pPr algn="l">
                        <a:buNone/>
                      </a:pPr>
                      <a:r>
                        <a:rPr sz="1050" b="0">
                          <a:solidFill>
                            <a:srgbClr val="2E3142"/>
                          </a:solidFill>
                          <a:latin typeface="Consolas"/>
                          <a:ea typeface="Consolas"/>
                          <a:cs typeface="Consolas"/>
                        </a:rPr>
                        <a:t>delete_resource</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Consolas"/>
                          <a:ea typeface="Consolas"/>
                          <a:cs typeface="Consolas"/>
                        </a:rPr>
                        <a:t>resource_id</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Consolas"/>
                          <a:ea typeface="Consolas"/>
                          <a:cs typeface="Consolas"/>
                        </a:rPr>
                        <a:t>void</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진화자원 삭제</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8"/>
                  </a:ext>
                </a:extLst>
              </a:tr>
            </a:tbl>
          </a:graphicData>
        </a:graphic>
      </p:graphicFrame>
      <p:sp>
        <p:nvSpPr>
          <p:cNvPr id="5321" name="TextBox 5320">
            <a:extLst>
              <a:ext uri="{FF2B5EF4-FFF2-40B4-BE49-F238E27FC236}">
                <a16:creationId xmlns:a16="http://schemas.microsoft.com/office/drawing/2014/main" id="{9E21D98F-2308-4F4D-93F1-3953BC37F63F}"/>
              </a:ext>
            </a:extLst>
          </p:cNvPr>
          <p:cNvSpPr>
            <a:spLocks noGrp="1"/>
          </p:cNvSpPr>
          <p:nvPr/>
        </p:nvSpPr>
        <p:spPr>
          <a:xfrm>
            <a:off x="822960" y="7616515"/>
            <a:ext cx="11430000" cy="301752"/>
          </a:xfrm>
          <a:prstGeom prst="rect">
            <a:avLst/>
          </a:prstGeom>
          <a:noFill/>
        </p:spPr>
        <p:txBody>
          <a:bodyPr wrap="square" lIns="0" tIns="0" rIns="0" bIns="0" anchor="t">
            <a:spAutoFit/>
          </a:bodyPr>
          <a:lstStyle/>
          <a:p>
            <a:pPr algn="l">
              <a:buNone/>
            </a:pPr>
            <a:r>
              <a:rPr sz="1500" b="1">
                <a:solidFill>
                  <a:srgbClr val="2E3142"/>
                </a:solidFill>
                <a:latin typeface="210 OmniGothic 040"/>
                <a:ea typeface="210 OmniGothic 040"/>
                <a:cs typeface="210 OmniGothic 040"/>
              </a:rPr>
              <a:t>IncidentRouter 클래스</a:t>
            </a:r>
            <a:r>
              <a:rPr sz="1250" b="0">
                <a:solidFill>
                  <a:srgbClr val="6B7080"/>
                </a:solidFill>
                <a:latin typeface="210 OmniGothic 040"/>
                <a:ea typeface="210 OmniGothic 040"/>
                <a:cs typeface="210 OmniGothic 040"/>
              </a:rPr>
              <a:t>  &lt;Router&gt;</a:t>
            </a:r>
          </a:p>
        </p:txBody>
      </p:sp>
      <p:graphicFrame>
        <p:nvGraphicFramePr>
          <p:cNvPr id="5344" name="Table 5321"/>
          <p:cNvGraphicFramePr/>
          <p:nvPr/>
        </p:nvGraphicFramePr>
        <p:xfrm>
          <a:off x="822960" y="7948443"/>
          <a:ext cx="16459200" cy="1118395"/>
        </p:xfrm>
        <a:graphic>
          <a:graphicData uri="http://schemas.openxmlformats.org/drawingml/2006/table">
            <a:tbl>
              <a:tblPr>
                <a:tableStyleId>{2D5ABB26-0587-4C30-8999-92F81FD0307C}</a:tableStyleId>
              </a:tblPr>
              <a:tblGrid>
                <a:gridCol w="2400300">
                  <a:extLst>
                    <a:ext uri="{9D8B030D-6E8A-4147-A177-3AD203B41FA5}">
                      <a16:colId xmlns:a16="http://schemas.microsoft.com/office/drawing/2014/main" val="20000"/>
                    </a:ext>
                  </a:extLst>
                </a:gridCol>
                <a:gridCol w="971550">
                  <a:extLst>
                    <a:ext uri="{9D8B030D-6E8A-4147-A177-3AD203B41FA5}">
                      <a16:colId xmlns:a16="http://schemas.microsoft.com/office/drawing/2014/main" val="20001"/>
                    </a:ext>
                  </a:extLst>
                </a:gridCol>
                <a:gridCol w="400050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gridCol w="6343650">
                  <a:extLst>
                    <a:ext uri="{9D8B030D-6E8A-4147-A177-3AD203B41FA5}">
                      <a16:colId xmlns:a16="http://schemas.microsoft.com/office/drawing/2014/main" val="20004"/>
                    </a:ext>
                  </a:extLst>
                </a:gridCol>
              </a:tblGrid>
              <a:tr h="223679">
                <a:tc>
                  <a:txBody>
                    <a:bodyPr/>
                    <a:lstStyle/>
                    <a:p>
                      <a:pPr algn="l">
                        <a:buNone/>
                      </a:pPr>
                      <a:r>
                        <a:rPr sz="1050" b="1">
                          <a:solidFill>
                            <a:srgbClr val="2E3142"/>
                          </a:solidFill>
                          <a:latin typeface="210 OmniGothic 040"/>
                          <a:ea typeface="210 OmniGothic 040"/>
                          <a:cs typeface="210 OmniGothic 040"/>
                        </a:rPr>
                        <a:t>오퍼레이션명</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가시성</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파라미터</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반환타입</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설명</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extLst>
                  <a:ext uri="{0D108BD9-81ED-4DB2-BD59-A6C34878D82A}">
                    <a16:rowId xmlns:a16="http://schemas.microsoft.com/office/drawing/2014/main" val="10000"/>
                  </a:ext>
                </a:extLst>
              </a:tr>
              <a:tr h="223679">
                <a:tc>
                  <a:txBody>
                    <a:bodyPr/>
                    <a:lstStyle/>
                    <a:p>
                      <a:pPr algn="l">
                        <a:buNone/>
                      </a:pPr>
                      <a:r>
                        <a:rPr sz="1050" b="0">
                          <a:solidFill>
                            <a:srgbClr val="2E3142"/>
                          </a:solidFill>
                          <a:latin typeface="Consolas"/>
                          <a:ea typeface="Consolas"/>
                          <a:cs typeface="Consolas"/>
                        </a:rPr>
                        <a:t>list_incidents</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Consolas"/>
                          <a:ea typeface="Consolas"/>
                          <a:cs typeface="Consolas"/>
                        </a:rPr>
                        <a:t>status</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Consolas"/>
                          <a:ea typeface="Consolas"/>
                          <a:cs typeface="Consolas"/>
                        </a:rPr>
                        <a:t>list~Incident~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진행 중·접수 산불 목록 (종료 포함 선택)</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1"/>
                  </a:ext>
                </a:extLst>
              </a:tr>
              <a:tr h="223679">
                <a:tc>
                  <a:txBody>
                    <a:bodyPr/>
                    <a:lstStyle/>
                    <a:p>
                      <a:pPr algn="l">
                        <a:buNone/>
                      </a:pPr>
                      <a:r>
                        <a:rPr sz="1050" b="0">
                          <a:solidFill>
                            <a:srgbClr val="2E3142"/>
                          </a:solidFill>
                          <a:latin typeface="Consolas"/>
                          <a:ea typeface="Consolas"/>
                          <a:cs typeface="Consolas"/>
                        </a:rPr>
                        <a:t>get_incident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Consolas"/>
                          <a:ea typeface="Consolas"/>
                          <a:cs typeface="Consolas"/>
                        </a:rPr>
                        <a:t>incident_id</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Consolas"/>
                          <a:ea typeface="Consolas"/>
                          <a:cs typeface="Consolas"/>
                        </a:rPr>
                        <a:t>Incident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발생·접수 정보·진행상태·실측 화선</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2"/>
                  </a:ext>
                </a:extLst>
              </a:tr>
              <a:tr h="223679">
                <a:tc>
                  <a:txBody>
                    <a:bodyPr/>
                    <a:lstStyle/>
                    <a:p>
                      <a:pPr algn="l">
                        <a:buNone/>
                      </a:pPr>
                      <a:r>
                        <a:rPr sz="1050" b="0">
                          <a:solidFill>
                            <a:srgbClr val="2E3142"/>
                          </a:solidFill>
                          <a:latin typeface="Consolas"/>
                          <a:ea typeface="Consolas"/>
                          <a:cs typeface="Consolas"/>
                        </a:rPr>
                        <a:t>save_incident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Consolas"/>
                          <a:ea typeface="Consolas"/>
                          <a:cs typeface="Consolas"/>
                        </a:rPr>
                        <a:t>incident, geojson?</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Consolas"/>
                          <a:ea typeface="Consolas"/>
                          <a:cs typeface="Consolas"/>
                        </a:rPr>
                        <a:t>Incident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발화 정보·실측 화선 저장 (상황 보고자)</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3"/>
                  </a:ext>
                </a:extLst>
              </a:tr>
              <a:tr h="223679">
                <a:tc>
                  <a:txBody>
                    <a:bodyPr/>
                    <a:lstStyle/>
                    <a:p>
                      <a:pPr algn="l">
                        <a:buNone/>
                      </a:pPr>
                      <a:r>
                        <a:rPr sz="1050" b="0">
                          <a:solidFill>
                            <a:srgbClr val="2E3142"/>
                          </a:solidFill>
                          <a:latin typeface="Consolas"/>
                          <a:ea typeface="Consolas"/>
                          <a:cs typeface="Consolas"/>
                        </a:rPr>
                        <a:t>close_incident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Consolas"/>
                          <a:ea typeface="Consolas"/>
                          <a:cs typeface="Consolas"/>
                        </a:rPr>
                        <a:t>incident_id</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Consolas"/>
                          <a:ea typeface="Consolas"/>
                          <a:cs typeface="Consolas"/>
                        </a:rPr>
                        <a:t>Incident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발화 종료 처리 (통합지휘권자)</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55546449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41" name="Picture 2"/>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700" y="-12700"/>
            <a:ext cx="18313400" cy="1638300"/>
          </a:xfrm>
          <a:prstGeom prst="rect">
            <a:avLst/>
          </a:prstGeom>
        </p:spPr>
      </p:pic>
      <p:pic>
        <p:nvPicPr>
          <p:cNvPr id="5342" name="Picture 4"/>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28" y="1618343"/>
            <a:ext cx="18313400" cy="8699500"/>
          </a:xfrm>
          <a:prstGeom prst="rect">
            <a:avLst/>
          </a:prstGeom>
        </p:spPr>
      </p:pic>
      <p:pic>
        <p:nvPicPr>
          <p:cNvPr id="5343" name="Picture 5"/>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58800" y="9271000"/>
            <a:ext cx="17170400" cy="50800"/>
          </a:xfrm>
          <a:prstGeom prst="rect">
            <a:avLst/>
          </a:prstGeom>
        </p:spPr>
      </p:pic>
      <p:pic>
        <p:nvPicPr>
          <p:cNvPr id="5344" name="Picture 3"/>
          <p:cNvPicPr>
            <a:picLocks noChangeAspect="1"/>
          </p:cNvPicPr>
          <p:nvPr/>
        </p:nvPicPr>
        <p:blipFill>
          <a:blip>
            <a:extLst>
              <a:ext uri="{96DAC541-7B7A-43D3-8B79-37D633B846F1}">
                <asvg:svgBlip xmlns:asvg="http://schemas.microsoft.com/office/drawing/2016/SVG/main" r:embed="rId6"/>
              </a:ext>
            </a:extLst>
          </a:blip>
          <a:srcRect b="43005"/>
          <a:stretch>
            <a:fillRect/>
          </a:stretch>
        </p:blipFill>
        <p:spPr>
          <a:xfrm>
            <a:off x="15443200" y="228600"/>
            <a:ext cx="1384300" cy="1397000"/>
          </a:xfrm>
          <a:prstGeom prst="rect">
            <a:avLst/>
          </a:prstGeom>
        </p:spPr>
      </p:pic>
      <p:sp>
        <p:nvSpPr>
          <p:cNvPr id="5318" name="Title">
            <a:extLst>
              <a:ext uri="{FF2B5EF4-FFF2-40B4-BE49-F238E27FC236}">
                <a16:creationId xmlns:a16="http://schemas.microsoft.com/office/drawing/2014/main" id="{C76735AF-7106-4361-AE23-1E1BE7A87BBF}"/>
              </a:ext>
            </a:extLst>
          </p:cNvPr>
          <p:cNvSpPr>
            <a:spLocks noGrp="1"/>
          </p:cNvSpPr>
          <p:nvPr/>
        </p:nvSpPr>
        <p:spPr>
          <a:xfrm>
            <a:off x="822960" y="384048"/>
            <a:ext cx="13258800" cy="877824"/>
          </a:xfrm>
          <a:prstGeom prst="rect">
            <a:avLst/>
          </a:prstGeom>
          <a:noFill/>
        </p:spPr>
        <p:txBody>
          <a:bodyPr wrap="square" lIns="0" tIns="0" rIns="0" bIns="0" anchor="ctr">
            <a:spAutoFit/>
          </a:bodyPr>
          <a:lstStyle/>
          <a:p>
            <a:pPr algn="l">
              <a:buNone/>
            </a:pPr>
            <a:r>
              <a:rPr sz="4400" b="0">
                <a:solidFill>
                  <a:srgbClr val="FAA95A"/>
                </a:solidFill>
                <a:latin typeface="210 OmniGothic 050"/>
                <a:ea typeface="210 OmniGothic 050"/>
                <a:cs typeface="210 OmniGothic 050"/>
              </a:rPr>
              <a:t>05. 클래스 다이어그램</a:t>
            </a:r>
          </a:p>
        </p:txBody>
      </p:sp>
      <p:sp>
        <p:nvSpPr>
          <p:cNvPr id="5319" name="Subtitle">
            <a:extLst>
              <a:ext uri="{FF2B5EF4-FFF2-40B4-BE49-F238E27FC236}">
                <a16:creationId xmlns:a16="http://schemas.microsoft.com/office/drawing/2014/main" id="{F58C1D27-BFF4-4CE5-AF97-F87D8146BFF2}"/>
              </a:ext>
            </a:extLst>
          </p:cNvPr>
          <p:cNvSpPr>
            <a:spLocks noGrp="1"/>
          </p:cNvSpPr>
          <p:nvPr/>
        </p:nvSpPr>
        <p:spPr>
          <a:xfrm>
            <a:off x="822960" y="1764792"/>
            <a:ext cx="16642080" cy="502920"/>
          </a:xfrm>
          <a:prstGeom prst="rect">
            <a:avLst/>
          </a:prstGeom>
          <a:noFill/>
        </p:spPr>
        <p:txBody>
          <a:bodyPr wrap="square" lIns="0" tIns="0" rIns="0" bIns="0" anchor="ctr">
            <a:spAutoFit/>
          </a:bodyPr>
          <a:lstStyle/>
          <a:p>
            <a:pPr algn="ctr">
              <a:buNone/>
            </a:pPr>
            <a:r>
              <a:rPr sz="2600" b="1">
                <a:solidFill>
                  <a:srgbClr val="363A52"/>
                </a:solidFill>
                <a:latin typeface="210 OmniGothic 040"/>
                <a:ea typeface="210 OmniGothic 040"/>
                <a:cs typeface="210 OmniGothic 040"/>
              </a:rPr>
              <a:t>2. 오퍼레이션 정의 – </a:t>
            </a:r>
            <a:r>
              <a:rPr sz="2600" b="1">
                <a:solidFill>
                  <a:srgbClr val="FAA95A"/>
                </a:solidFill>
                <a:latin typeface="210 OmniGothic 040"/>
                <a:ea typeface="210 OmniGothic 040"/>
                <a:cs typeface="210 OmniGothic 040"/>
              </a:rPr>
              <a:t>논리 컴포넌트 (설계)</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idx="12"/>
          </p:nvPr>
        </p:nvSpPr>
        <p:spPr/>
        <p:txBody>
          <a:bodyPr/>
          <a:lstStyle/>
          <a:p>
            <a:fld id="{B6F15528-21DE-4FAA-801E-634DDDAF4B2B}" type="slidenum">
              <a:t>62</a:t>
            </a:fld>
            <a:endParaRPr/>
          </a:p>
        </p:txBody>
      </p:sp>
      <p:sp>
        <p:nvSpPr>
          <p:cNvPr id="5320" name="TextBox 5319">
            <a:extLst>
              <a:ext uri="{FF2B5EF4-FFF2-40B4-BE49-F238E27FC236}">
                <a16:creationId xmlns:a16="http://schemas.microsoft.com/office/drawing/2014/main" id="{EEDAE72C-072E-4D4A-9D6D-97D9F4445BBF}"/>
              </a:ext>
            </a:extLst>
          </p:cNvPr>
          <p:cNvSpPr>
            <a:spLocks noGrp="1"/>
          </p:cNvSpPr>
          <p:nvPr/>
        </p:nvSpPr>
        <p:spPr>
          <a:xfrm>
            <a:off x="822960" y="2395728"/>
            <a:ext cx="11430000" cy="301752"/>
          </a:xfrm>
          <a:prstGeom prst="rect">
            <a:avLst/>
          </a:prstGeom>
          <a:noFill/>
        </p:spPr>
        <p:txBody>
          <a:bodyPr wrap="square" lIns="0" tIns="0" rIns="0" bIns="0" anchor="t">
            <a:spAutoFit/>
          </a:bodyPr>
          <a:lstStyle/>
          <a:p>
            <a:pPr algn="l">
              <a:buNone/>
            </a:pPr>
            <a:r>
              <a:rPr sz="1500" b="1">
                <a:solidFill>
                  <a:srgbClr val="2E3142"/>
                </a:solidFill>
                <a:latin typeface="210 OmniGothic 040"/>
                <a:ea typeface="210 OmniGothic 040"/>
                <a:cs typeface="210 OmniGothic 040"/>
              </a:rPr>
              <a:t>MapRouter 클래스</a:t>
            </a:r>
            <a:r>
              <a:rPr sz="1250" b="0">
                <a:solidFill>
                  <a:srgbClr val="6B7080"/>
                </a:solidFill>
                <a:latin typeface="210 OmniGothic 040"/>
                <a:ea typeface="210 OmniGothic 040"/>
                <a:cs typeface="210 OmniGothic 040"/>
              </a:rPr>
              <a:t>  &lt;Router&gt;</a:t>
            </a:r>
          </a:p>
        </p:txBody>
      </p:sp>
      <p:graphicFrame>
        <p:nvGraphicFramePr>
          <p:cNvPr id="5349" name="Table 5320"/>
          <p:cNvGraphicFramePr/>
          <p:nvPr/>
        </p:nvGraphicFramePr>
        <p:xfrm>
          <a:off x="822960" y="2727655"/>
          <a:ext cx="16459200" cy="662079"/>
        </p:xfrm>
        <a:graphic>
          <a:graphicData uri="http://schemas.openxmlformats.org/drawingml/2006/table">
            <a:tbl>
              <a:tblPr>
                <a:tableStyleId>{2D5ABB26-0587-4C30-8999-92F81FD0307C}</a:tableStyleId>
              </a:tblPr>
              <a:tblGrid>
                <a:gridCol w="2400300">
                  <a:extLst>
                    <a:ext uri="{9D8B030D-6E8A-4147-A177-3AD203B41FA5}">
                      <a16:colId xmlns:a16="http://schemas.microsoft.com/office/drawing/2014/main" val="20000"/>
                    </a:ext>
                  </a:extLst>
                </a:gridCol>
                <a:gridCol w="971550">
                  <a:extLst>
                    <a:ext uri="{9D8B030D-6E8A-4147-A177-3AD203B41FA5}">
                      <a16:colId xmlns:a16="http://schemas.microsoft.com/office/drawing/2014/main" val="20001"/>
                    </a:ext>
                  </a:extLst>
                </a:gridCol>
                <a:gridCol w="400050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gridCol w="6343650">
                  <a:extLst>
                    <a:ext uri="{9D8B030D-6E8A-4147-A177-3AD203B41FA5}">
                      <a16:colId xmlns:a16="http://schemas.microsoft.com/office/drawing/2014/main" val="20004"/>
                    </a:ext>
                  </a:extLst>
                </a:gridCol>
              </a:tblGrid>
              <a:tr h="220693">
                <a:tc>
                  <a:txBody>
                    <a:bodyPr/>
                    <a:lstStyle/>
                    <a:p>
                      <a:pPr algn="l">
                        <a:buNone/>
                      </a:pPr>
                      <a:r>
                        <a:rPr sz="1050" b="1">
                          <a:solidFill>
                            <a:srgbClr val="2E3142"/>
                          </a:solidFill>
                          <a:latin typeface="210 OmniGothic 040"/>
                          <a:ea typeface="210 OmniGothic 040"/>
                          <a:cs typeface="210 OmniGothic 040"/>
                        </a:rPr>
                        <a:t>오퍼레이션명</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가시성</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파라미터</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반환타입</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설명</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extLst>
                  <a:ext uri="{0D108BD9-81ED-4DB2-BD59-A6C34878D82A}">
                    <a16:rowId xmlns:a16="http://schemas.microsoft.com/office/drawing/2014/main" val="10000"/>
                  </a:ext>
                </a:extLst>
              </a:tr>
              <a:tr h="220693">
                <a:tc>
                  <a:txBody>
                    <a:bodyPr/>
                    <a:lstStyle/>
                    <a:p>
                      <a:pPr algn="l">
                        <a:buNone/>
                      </a:pPr>
                      <a:r>
                        <a:rPr sz="1050" b="0">
                          <a:solidFill>
                            <a:srgbClr val="2E3142"/>
                          </a:solidFill>
                          <a:latin typeface="Consolas"/>
                          <a:ea typeface="Consolas"/>
                          <a:cs typeface="Consolas"/>
                        </a:rPr>
                        <a:t>get_layers</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Consolas"/>
                          <a:ea typeface="Consolas"/>
                          <a:cs typeface="Consolas"/>
                        </a:rPr>
                        <a:t>incident_id, layers</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Consolas"/>
                          <a:ea typeface="Consolas"/>
                          <a:cs typeface="Consolas"/>
                        </a:rPr>
                        <a:t>GeoJSON</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실측 화선·P1~P8·마을·시설·기관 레이어</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1"/>
                  </a:ext>
                </a:extLst>
              </a:tr>
              <a:tr h="220693">
                <a:tc>
                  <a:txBody>
                    <a:bodyPr/>
                    <a:lstStyle/>
                    <a:p>
                      <a:pPr algn="l">
                        <a:buNone/>
                      </a:pPr>
                      <a:r>
                        <a:rPr sz="1050" b="0">
                          <a:solidFill>
                            <a:srgbClr val="2E3142"/>
                          </a:solidFill>
                          <a:latin typeface="Consolas"/>
                          <a:ea typeface="Consolas"/>
                          <a:cs typeface="Consolas"/>
                        </a:rPr>
                        <a:t>get_resources</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Consolas"/>
                          <a:ea typeface="Consolas"/>
                          <a:cs typeface="Consolas"/>
                        </a:rPr>
                        <a:t>incident_id</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Consolas"/>
                          <a:ea typeface="Consolas"/>
                          <a:cs typeface="Consolas"/>
                        </a:rPr>
                        <a:t>ResourceSummary</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가용 합계(필터 해제 시 보유·투입·대기 포함), 단위별 표</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2"/>
                  </a:ext>
                </a:extLst>
              </a:tr>
            </a:tbl>
          </a:graphicData>
        </a:graphic>
      </p:graphicFrame>
      <p:sp>
        <p:nvSpPr>
          <p:cNvPr id="5322" name="TextBox 5321">
            <a:extLst>
              <a:ext uri="{FF2B5EF4-FFF2-40B4-BE49-F238E27FC236}">
                <a16:creationId xmlns:a16="http://schemas.microsoft.com/office/drawing/2014/main" id="{1EC055EF-95E3-4D9A-897C-A03BA839F4A5}"/>
              </a:ext>
            </a:extLst>
          </p:cNvPr>
          <p:cNvSpPr>
            <a:spLocks noGrp="1"/>
          </p:cNvSpPr>
          <p:nvPr/>
        </p:nvSpPr>
        <p:spPr>
          <a:xfrm>
            <a:off x="822960" y="3530552"/>
            <a:ext cx="11430000" cy="301752"/>
          </a:xfrm>
          <a:prstGeom prst="rect">
            <a:avLst/>
          </a:prstGeom>
          <a:noFill/>
        </p:spPr>
        <p:txBody>
          <a:bodyPr wrap="square" lIns="0" tIns="0" rIns="0" bIns="0" anchor="t">
            <a:spAutoFit/>
          </a:bodyPr>
          <a:lstStyle/>
          <a:p>
            <a:pPr algn="l">
              <a:buNone/>
            </a:pPr>
            <a:r>
              <a:rPr sz="1500" b="1">
                <a:solidFill>
                  <a:srgbClr val="2E3142"/>
                </a:solidFill>
                <a:latin typeface="210 OmniGothic 040"/>
                <a:ea typeface="210 OmniGothic 040"/>
                <a:cs typeface="210 OmniGothic 040"/>
              </a:rPr>
              <a:t>PredictionRouter 클래스</a:t>
            </a:r>
            <a:r>
              <a:rPr sz="1250" b="0">
                <a:solidFill>
                  <a:srgbClr val="6B7080"/>
                </a:solidFill>
                <a:latin typeface="210 OmniGothic 040"/>
                <a:ea typeface="210 OmniGothic 040"/>
                <a:cs typeface="210 OmniGothic 040"/>
              </a:rPr>
              <a:t>  &lt;Router&gt;</a:t>
            </a:r>
          </a:p>
        </p:txBody>
      </p:sp>
      <p:graphicFrame>
        <p:nvGraphicFramePr>
          <p:cNvPr id="5351" name="Table 5322"/>
          <p:cNvGraphicFramePr/>
          <p:nvPr/>
        </p:nvGraphicFramePr>
        <p:xfrm>
          <a:off x="822960" y="3862479"/>
          <a:ext cx="16459200" cy="882772"/>
        </p:xfrm>
        <a:graphic>
          <a:graphicData uri="http://schemas.openxmlformats.org/drawingml/2006/table">
            <a:tbl>
              <a:tblPr>
                <a:tableStyleId>{2D5ABB26-0587-4C30-8999-92F81FD0307C}</a:tableStyleId>
              </a:tblPr>
              <a:tblGrid>
                <a:gridCol w="2400300">
                  <a:extLst>
                    <a:ext uri="{9D8B030D-6E8A-4147-A177-3AD203B41FA5}">
                      <a16:colId xmlns:a16="http://schemas.microsoft.com/office/drawing/2014/main" val="20000"/>
                    </a:ext>
                  </a:extLst>
                </a:gridCol>
                <a:gridCol w="971550">
                  <a:extLst>
                    <a:ext uri="{9D8B030D-6E8A-4147-A177-3AD203B41FA5}">
                      <a16:colId xmlns:a16="http://schemas.microsoft.com/office/drawing/2014/main" val="20001"/>
                    </a:ext>
                  </a:extLst>
                </a:gridCol>
                <a:gridCol w="400050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gridCol w="6343650">
                  <a:extLst>
                    <a:ext uri="{9D8B030D-6E8A-4147-A177-3AD203B41FA5}">
                      <a16:colId xmlns:a16="http://schemas.microsoft.com/office/drawing/2014/main" val="20004"/>
                    </a:ext>
                  </a:extLst>
                </a:gridCol>
              </a:tblGrid>
              <a:tr h="220693">
                <a:tc>
                  <a:txBody>
                    <a:bodyPr/>
                    <a:lstStyle/>
                    <a:p>
                      <a:pPr algn="l">
                        <a:buNone/>
                      </a:pPr>
                      <a:r>
                        <a:rPr sz="1050" b="1">
                          <a:solidFill>
                            <a:srgbClr val="2E3142"/>
                          </a:solidFill>
                          <a:latin typeface="210 OmniGothic 040"/>
                          <a:ea typeface="210 OmniGothic 040"/>
                          <a:cs typeface="210 OmniGothic 040"/>
                        </a:rPr>
                        <a:t>오퍼레이션명</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가시성</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파라미터</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반환타입</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설명</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extLst>
                  <a:ext uri="{0D108BD9-81ED-4DB2-BD59-A6C34878D82A}">
                    <a16:rowId xmlns:a16="http://schemas.microsoft.com/office/drawing/2014/main" val="10000"/>
                  </a:ext>
                </a:extLst>
              </a:tr>
              <a:tr h="220693">
                <a:tc>
                  <a:txBody>
                    <a:bodyPr/>
                    <a:lstStyle/>
                    <a:p>
                      <a:pPr algn="l">
                        <a:buNone/>
                      </a:pPr>
                      <a:r>
                        <a:rPr sz="1050" b="0">
                          <a:solidFill>
                            <a:srgbClr val="2E3142"/>
                          </a:solidFill>
                          <a:latin typeface="Consolas"/>
                          <a:ea typeface="Consolas"/>
                          <a:cs typeface="Consolas"/>
                        </a:rPr>
                        <a:t>run</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Consolas"/>
                          <a:ea typeface="Consolas"/>
                          <a:cs typeface="Consolas"/>
                        </a:rPr>
                        <a:t>incident_id</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Consolas"/>
                          <a:ea typeface="Consolas"/>
                          <a:cs typeface="Consolas"/>
                        </a:rPr>
                        <a:t>PredictionRun</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확산 예측 실행 → 제안 생성 (PredictionService에 위임)</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1"/>
                  </a:ext>
                </a:extLst>
              </a:tr>
              <a:tr h="220693">
                <a:tc>
                  <a:txBody>
                    <a:bodyPr/>
                    <a:lstStyle/>
                    <a:p>
                      <a:pPr algn="l">
                        <a:buNone/>
                      </a:pPr>
                      <a:r>
                        <a:rPr sz="1050" b="0">
                          <a:solidFill>
                            <a:srgbClr val="2E3142"/>
                          </a:solidFill>
                          <a:latin typeface="Consolas"/>
                          <a:ea typeface="Consolas"/>
                          <a:cs typeface="Consolas"/>
                        </a:rPr>
                        <a:t>get_slices</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Consolas"/>
                          <a:ea typeface="Consolas"/>
                          <a:cs typeface="Consolas"/>
                        </a:rPr>
                        <a:t>run_id</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Consolas"/>
                          <a:ea typeface="Consolas"/>
                          <a:cs typeface="Consolas"/>
                        </a:rPr>
                        <a:t>list~SpreadSlice~</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P1~P8 확산 범위 GeoJSON (시간 재생)</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2"/>
                  </a:ext>
                </a:extLst>
              </a:tr>
              <a:tr h="220693">
                <a:tc>
                  <a:txBody>
                    <a:bodyPr/>
                    <a:lstStyle/>
                    <a:p>
                      <a:pPr algn="l">
                        <a:buNone/>
                      </a:pPr>
                      <a:r>
                        <a:rPr sz="1050" b="0">
                          <a:solidFill>
                            <a:srgbClr val="2E3142"/>
                          </a:solidFill>
                          <a:latin typeface="Consolas"/>
                          <a:ea typeface="Consolas"/>
                          <a:cs typeface="Consolas"/>
                        </a:rPr>
                        <a:t>get_risk</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Consolas"/>
                          <a:ea typeface="Consolas"/>
                          <a:cs typeface="Consolas"/>
                        </a:rPr>
                        <a:t>incident_id</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Consolas"/>
                          <a:ea typeface="Consolas"/>
                          <a:cs typeface="Consolas"/>
                        </a:rPr>
                        <a:t>RiskAssessment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산불 위험도</a:t>
                      </a:r>
                      <a:r>
                        <a:rPr sz="1050" b="0">
                          <a:solidFill>
                            <a:srgbClr val="FF0000"/>
                          </a:solidFill>
                          <a:latin typeface="210 OmniGothic 040"/>
                          <a:ea typeface="210 OmniGothic 040"/>
                          <a:cs typeface="210 OmniGothic 040"/>
                        </a:rPr>
                        <a:t> 조회</a:t>
                      </a:r>
                      <a:r>
                        <a:rPr sz="1050" b="0">
                          <a:solidFill>
                            <a:srgbClr val="2E3142"/>
                          </a:solidFill>
                          <a:latin typeface="210 OmniGothic 040"/>
                          <a:ea typeface="210 OmniGothic 040"/>
                          <a:cs typeface="210 OmniGothic 040"/>
                        </a:rPr>
                        <a:t> (RiskService</a:t>
                      </a:r>
                      <a:r>
                        <a:rPr sz="1050" b="0">
                          <a:solidFill>
                            <a:srgbClr val="FF0000"/>
                          </a:solidFill>
                          <a:latin typeface="210 OmniGothic 040"/>
                          <a:ea typeface="210 OmniGothic 040"/>
                          <a:cs typeface="210 OmniGothic 040"/>
                        </a:rPr>
                        <a:t>.get_latest</a:t>
                      </a:r>
                      <a:r>
                        <a:rPr sz="1050" b="0">
                          <a:solidFill>
                            <a:srgbClr val="2E3142"/>
                          </a:solidFill>
                          <a:latin typeface="210 OmniGothic 040"/>
                          <a:ea typeface="210 OmniGothic 040"/>
                          <a:cs typeface="210 OmniGothic 040"/>
                        </a:rPr>
                        <a:t>에 위임)</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3"/>
                  </a:ext>
                </a:extLst>
              </a:tr>
            </a:tbl>
          </a:graphicData>
        </a:graphic>
      </p:graphicFrame>
      <p:sp>
        <p:nvSpPr>
          <p:cNvPr id="5324" name="TextBox 5323">
            <a:extLst>
              <a:ext uri="{FF2B5EF4-FFF2-40B4-BE49-F238E27FC236}">
                <a16:creationId xmlns:a16="http://schemas.microsoft.com/office/drawing/2014/main" id="{14FCA2B9-6459-4351-9C5C-840720B6610B}"/>
              </a:ext>
            </a:extLst>
          </p:cNvPr>
          <p:cNvSpPr>
            <a:spLocks noGrp="1"/>
          </p:cNvSpPr>
          <p:nvPr/>
        </p:nvSpPr>
        <p:spPr>
          <a:xfrm>
            <a:off x="822960" y="4886069"/>
            <a:ext cx="11430000" cy="301752"/>
          </a:xfrm>
          <a:prstGeom prst="rect">
            <a:avLst/>
          </a:prstGeom>
          <a:noFill/>
        </p:spPr>
        <p:txBody>
          <a:bodyPr wrap="square" lIns="0" tIns="0" rIns="0" bIns="0" anchor="t">
            <a:spAutoFit/>
          </a:bodyPr>
          <a:lstStyle/>
          <a:p>
            <a:pPr algn="l">
              <a:buNone/>
            </a:pPr>
            <a:r>
              <a:rPr sz="1500" b="1">
                <a:solidFill>
                  <a:srgbClr val="2E3142"/>
                </a:solidFill>
                <a:latin typeface="210 OmniGothic 040"/>
                <a:ea typeface="210 OmniGothic 040"/>
                <a:cs typeface="210 OmniGothic 040"/>
              </a:rPr>
              <a:t>RiskService 클래스</a:t>
            </a:r>
            <a:r>
              <a:rPr sz="1250" b="0">
                <a:solidFill>
                  <a:srgbClr val="6B7080"/>
                </a:solidFill>
                <a:latin typeface="210 OmniGothic 040"/>
                <a:ea typeface="210 OmniGothic 040"/>
                <a:cs typeface="210 OmniGothic 040"/>
              </a:rPr>
              <a:t>  &lt;Service&gt;</a:t>
            </a:r>
          </a:p>
        </p:txBody>
      </p:sp>
      <p:graphicFrame>
        <p:nvGraphicFramePr>
          <p:cNvPr id="5353" name="Table 5324"/>
          <p:cNvGraphicFramePr/>
          <p:nvPr/>
        </p:nvGraphicFramePr>
        <p:xfrm>
          <a:off x="822960" y="5217996"/>
          <a:ext cx="16459200" cy="662079"/>
        </p:xfrm>
        <a:graphic>
          <a:graphicData uri="http://schemas.openxmlformats.org/drawingml/2006/table">
            <a:tbl>
              <a:tblPr>
                <a:tableStyleId>{2D5ABB26-0587-4C30-8999-92F81FD0307C}</a:tableStyleId>
              </a:tblPr>
              <a:tblGrid>
                <a:gridCol w="2400300">
                  <a:extLst>
                    <a:ext uri="{9D8B030D-6E8A-4147-A177-3AD203B41FA5}">
                      <a16:colId xmlns:a16="http://schemas.microsoft.com/office/drawing/2014/main" val="20000"/>
                    </a:ext>
                  </a:extLst>
                </a:gridCol>
                <a:gridCol w="971550">
                  <a:extLst>
                    <a:ext uri="{9D8B030D-6E8A-4147-A177-3AD203B41FA5}">
                      <a16:colId xmlns:a16="http://schemas.microsoft.com/office/drawing/2014/main" val="20001"/>
                    </a:ext>
                  </a:extLst>
                </a:gridCol>
                <a:gridCol w="400050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gridCol w="6343650">
                  <a:extLst>
                    <a:ext uri="{9D8B030D-6E8A-4147-A177-3AD203B41FA5}">
                      <a16:colId xmlns:a16="http://schemas.microsoft.com/office/drawing/2014/main" val="20004"/>
                    </a:ext>
                  </a:extLst>
                </a:gridCol>
              </a:tblGrid>
              <a:tr h="220693">
                <a:tc>
                  <a:txBody>
                    <a:bodyPr/>
                    <a:lstStyle/>
                    <a:p>
                      <a:pPr algn="l">
                        <a:buNone/>
                      </a:pPr>
                      <a:r>
                        <a:rPr sz="1050" b="1">
                          <a:solidFill>
                            <a:srgbClr val="2E3142"/>
                          </a:solidFill>
                          <a:latin typeface="210 OmniGothic 040"/>
                          <a:ea typeface="210 OmniGothic 040"/>
                          <a:cs typeface="210 OmniGothic 040"/>
                        </a:rPr>
                        <a:t>오퍼레이션명</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가시성</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파라미터</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반환타입</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설명</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extLst>
                  <a:ext uri="{0D108BD9-81ED-4DB2-BD59-A6C34878D82A}">
                    <a16:rowId xmlns:a16="http://schemas.microsoft.com/office/drawing/2014/main" val="10000"/>
                  </a:ext>
                </a:extLst>
              </a:tr>
              <a:tr h="220693">
                <a:tc>
                  <a:txBody>
                    <a:bodyPr/>
                    <a:lstStyle/>
                    <a:p>
                      <a:pPr algn="l">
                        <a:buNone/>
                      </a:pPr>
                      <a:r>
                        <a:rPr sz="1050" b="0">
                          <a:solidFill>
                            <a:srgbClr val="2E3142"/>
                          </a:solidFill>
                          <a:latin typeface="Consolas"/>
                          <a:ea typeface="Consolas"/>
                          <a:cs typeface="Consolas"/>
                        </a:rPr>
                        <a:t>compute</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Consolas"/>
                          <a:ea typeface="Consolas"/>
                          <a:cs typeface="Consolas"/>
                        </a:rPr>
                        <a:t>run_id</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Consolas"/>
                          <a:ea typeface="Consolas"/>
                          <a:cs typeface="Consolas"/>
                        </a:rPr>
                        <a:t>RiskAssessment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FF0000"/>
                          </a:solidFill>
                          <a:latin typeface="210 OmniGothic 040"/>
                          <a:ea typeface="210 OmniGothic 040"/>
                          <a:cs typeface="210 OmniGothic 040"/>
                        </a:rPr>
                        <a:t>P5 폴리곤(겹치면 합집합)으로 23개 변수 가중평균 → R 1.00~5.00·요인 점수 저장</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1"/>
                  </a:ext>
                </a:extLst>
              </a:tr>
              <a:tr h="220693">
                <a:tc>
                  <a:txBody>
                    <a:bodyPr/>
                    <a:lstStyle/>
                    <a:p>
                      <a:pPr algn="l">
                        <a:buNone/>
                      </a:pPr>
                      <a:r>
                        <a:rPr sz="1050" b="0">
                          <a:solidFill>
                            <a:srgbClr val="FF0000"/>
                          </a:solidFill>
                          <a:latin typeface="Consolas"/>
                          <a:ea typeface="Consolas"/>
                          <a:cs typeface="Consolas"/>
                        </a:rPr>
                        <a:t>get_latest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Consolas"/>
                          <a:ea typeface="Consolas"/>
                          <a:cs typeface="Consolas"/>
                        </a:rPr>
                        <a:t>incident_id</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Consolas"/>
                          <a:ea typeface="Consolas"/>
                          <a:cs typeface="Consolas"/>
                        </a:rPr>
                        <a:t>RiskAssessment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FF0000"/>
                          </a:solidFill>
                          <a:latin typeface="210 OmniGothic 040"/>
                          <a:ea typeface="210 OmniGothic 040"/>
                          <a:cs typeface="210 OmniGothic 040"/>
                        </a:rPr>
                        <a:t>산불의 최신 예측 위험도 조회 (종료 사건은 「종료」로 표시)</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41507953"/>
                  </a:ext>
                </a:extLst>
              </a:tr>
            </a:tbl>
          </a:graphicData>
        </a:graphic>
      </p:graphicFrame>
      <p:sp>
        <p:nvSpPr>
          <p:cNvPr id="5326" name="TextBox 5325">
            <a:extLst>
              <a:ext uri="{FF2B5EF4-FFF2-40B4-BE49-F238E27FC236}">
                <a16:creationId xmlns:a16="http://schemas.microsoft.com/office/drawing/2014/main" id="{E1194710-6330-456F-B154-4F33D76515E6}"/>
              </a:ext>
            </a:extLst>
          </p:cNvPr>
          <p:cNvSpPr>
            <a:spLocks noGrp="1"/>
          </p:cNvSpPr>
          <p:nvPr/>
        </p:nvSpPr>
        <p:spPr>
          <a:xfrm>
            <a:off x="822960" y="6020893"/>
            <a:ext cx="11430000" cy="301752"/>
          </a:xfrm>
          <a:prstGeom prst="rect">
            <a:avLst/>
          </a:prstGeom>
          <a:noFill/>
        </p:spPr>
        <p:txBody>
          <a:bodyPr wrap="square" lIns="0" tIns="0" rIns="0" bIns="0" anchor="t">
            <a:spAutoFit/>
          </a:bodyPr>
          <a:lstStyle/>
          <a:p>
            <a:pPr algn="l">
              <a:buNone/>
            </a:pPr>
            <a:r>
              <a:rPr sz="1500" b="1">
                <a:solidFill>
                  <a:srgbClr val="2E3142"/>
                </a:solidFill>
                <a:latin typeface="210 OmniGothic 040"/>
                <a:ea typeface="210 OmniGothic 040"/>
                <a:cs typeface="210 OmniGothic 040"/>
              </a:rPr>
              <a:t>PredictionService 클래스</a:t>
            </a:r>
            <a:r>
              <a:rPr sz="1250" b="0">
                <a:solidFill>
                  <a:srgbClr val="6B7080"/>
                </a:solidFill>
                <a:latin typeface="210 OmniGothic 040"/>
                <a:ea typeface="210 OmniGothic 040"/>
                <a:cs typeface="210 OmniGothic 040"/>
              </a:rPr>
              <a:t>  &lt;Service&gt;</a:t>
            </a:r>
          </a:p>
        </p:txBody>
      </p:sp>
      <p:graphicFrame>
        <p:nvGraphicFramePr>
          <p:cNvPr id="5355" name="Table 5326"/>
          <p:cNvGraphicFramePr/>
          <p:nvPr/>
        </p:nvGraphicFramePr>
        <p:xfrm>
          <a:off x="822960" y="6352820"/>
          <a:ext cx="16459200" cy="441386"/>
        </p:xfrm>
        <a:graphic>
          <a:graphicData uri="http://schemas.openxmlformats.org/drawingml/2006/table">
            <a:tbl>
              <a:tblPr>
                <a:tableStyleId>{2D5ABB26-0587-4C30-8999-92F81FD0307C}</a:tableStyleId>
              </a:tblPr>
              <a:tblGrid>
                <a:gridCol w="2400300">
                  <a:extLst>
                    <a:ext uri="{9D8B030D-6E8A-4147-A177-3AD203B41FA5}">
                      <a16:colId xmlns:a16="http://schemas.microsoft.com/office/drawing/2014/main" val="20000"/>
                    </a:ext>
                  </a:extLst>
                </a:gridCol>
                <a:gridCol w="971550">
                  <a:extLst>
                    <a:ext uri="{9D8B030D-6E8A-4147-A177-3AD203B41FA5}">
                      <a16:colId xmlns:a16="http://schemas.microsoft.com/office/drawing/2014/main" val="20001"/>
                    </a:ext>
                  </a:extLst>
                </a:gridCol>
                <a:gridCol w="400050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gridCol w="6343650">
                  <a:extLst>
                    <a:ext uri="{9D8B030D-6E8A-4147-A177-3AD203B41FA5}">
                      <a16:colId xmlns:a16="http://schemas.microsoft.com/office/drawing/2014/main" val="20004"/>
                    </a:ext>
                  </a:extLst>
                </a:gridCol>
              </a:tblGrid>
              <a:tr h="220693">
                <a:tc>
                  <a:txBody>
                    <a:bodyPr/>
                    <a:lstStyle/>
                    <a:p>
                      <a:pPr algn="l">
                        <a:buNone/>
                      </a:pPr>
                      <a:r>
                        <a:rPr sz="1050" b="1">
                          <a:solidFill>
                            <a:srgbClr val="2E3142"/>
                          </a:solidFill>
                          <a:latin typeface="210 OmniGothic 040"/>
                          <a:ea typeface="210 OmniGothic 040"/>
                          <a:cs typeface="210 OmniGothic 040"/>
                        </a:rPr>
                        <a:t>오퍼레이션명</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가시성</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파라미터</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반환타입</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설명</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extLst>
                  <a:ext uri="{0D108BD9-81ED-4DB2-BD59-A6C34878D82A}">
                    <a16:rowId xmlns:a16="http://schemas.microsoft.com/office/drawing/2014/main" val="10000"/>
                  </a:ext>
                </a:extLst>
              </a:tr>
              <a:tr h="220693">
                <a:tc>
                  <a:txBody>
                    <a:bodyPr/>
                    <a:lstStyle/>
                    <a:p>
                      <a:pPr algn="l">
                        <a:buNone/>
                      </a:pPr>
                      <a:r>
                        <a:rPr sz="1050" b="0">
                          <a:solidFill>
                            <a:srgbClr val="2E3142"/>
                          </a:solidFill>
                          <a:latin typeface="Consolas"/>
                          <a:ea typeface="Consolas"/>
                          <a:cs typeface="Consolas"/>
                        </a:rPr>
                        <a:t>execute</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Consolas"/>
                          <a:ea typeface="Consolas"/>
                          <a:cs typeface="Consolas"/>
                        </a:rPr>
                        <a:t>incident, perimeter?</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Consolas"/>
                          <a:ea typeface="Consolas"/>
                          <a:cs typeface="Consolas"/>
                        </a:rPr>
                        <a:t>PredictionRun</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기상 조회 → ELMFIRE 실행 → P1~P8 변환·저장 → </a:t>
                      </a:r>
                      <a:r>
                        <a:rPr sz="1050" b="0">
                          <a:solidFill>
                            <a:srgbClr val="FF0000"/>
                          </a:solidFill>
                          <a:latin typeface="210 OmniGothic 040"/>
                          <a:ea typeface="210 OmniGothic 040"/>
                          <a:cs typeface="210 OmniGothic 040"/>
                        </a:rPr>
                        <a:t>RiskService.compute() → </a:t>
                      </a:r>
                      <a:r>
                        <a:rPr sz="1050" b="0">
                          <a:solidFill>
                            <a:srgbClr val="2E3142"/>
                          </a:solidFill>
                          <a:latin typeface="210 OmniGothic 040"/>
                          <a:ea typeface="210 OmniGothic 040"/>
                          <a:cs typeface="210 OmniGothic 040"/>
                        </a:rPr>
                        <a:t>generate() 호출</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1"/>
                  </a:ext>
                </a:extLst>
              </a:tr>
            </a:tbl>
          </a:graphicData>
        </a:graphic>
      </p:graphicFrame>
      <p:sp>
        <p:nvSpPr>
          <p:cNvPr id="5328" name="TextBox 5327">
            <a:extLst>
              <a:ext uri="{FF2B5EF4-FFF2-40B4-BE49-F238E27FC236}">
                <a16:creationId xmlns:a16="http://schemas.microsoft.com/office/drawing/2014/main" id="{C2D32D75-11E9-4D63-9DCB-CD3D23117F28}"/>
              </a:ext>
            </a:extLst>
          </p:cNvPr>
          <p:cNvSpPr>
            <a:spLocks noGrp="1"/>
          </p:cNvSpPr>
          <p:nvPr/>
        </p:nvSpPr>
        <p:spPr>
          <a:xfrm>
            <a:off x="822960" y="6935024"/>
            <a:ext cx="11430000" cy="301752"/>
          </a:xfrm>
          <a:prstGeom prst="rect">
            <a:avLst/>
          </a:prstGeom>
          <a:noFill/>
        </p:spPr>
        <p:txBody>
          <a:bodyPr wrap="square" lIns="0" tIns="0" rIns="0" bIns="0" anchor="t">
            <a:spAutoFit/>
          </a:bodyPr>
          <a:lstStyle/>
          <a:p>
            <a:pPr algn="l">
              <a:buNone/>
            </a:pPr>
            <a:r>
              <a:rPr sz="1500" b="1">
                <a:solidFill>
                  <a:srgbClr val="2E3142"/>
                </a:solidFill>
                <a:latin typeface="210 OmniGothic 040"/>
                <a:ea typeface="210 OmniGothic 040"/>
                <a:cs typeface="210 OmniGothic 040"/>
              </a:rPr>
              <a:t>ElmfireAdapter 클래스</a:t>
            </a:r>
            <a:r>
              <a:rPr sz="1250" b="0">
                <a:solidFill>
                  <a:srgbClr val="6B7080"/>
                </a:solidFill>
                <a:latin typeface="210 OmniGothic 040"/>
                <a:ea typeface="210 OmniGothic 040"/>
                <a:cs typeface="210 OmniGothic 040"/>
              </a:rPr>
              <a:t>  &lt;External System&gt;</a:t>
            </a:r>
          </a:p>
        </p:txBody>
      </p:sp>
      <p:graphicFrame>
        <p:nvGraphicFramePr>
          <p:cNvPr id="5357" name="Table 5328"/>
          <p:cNvGraphicFramePr/>
          <p:nvPr/>
        </p:nvGraphicFramePr>
        <p:xfrm>
          <a:off x="822960" y="7266951"/>
          <a:ext cx="16459200" cy="882772"/>
        </p:xfrm>
        <a:graphic>
          <a:graphicData uri="http://schemas.openxmlformats.org/drawingml/2006/table">
            <a:tbl>
              <a:tblPr>
                <a:tableStyleId>{2D5ABB26-0587-4C30-8999-92F81FD0307C}</a:tableStyleId>
              </a:tblPr>
              <a:tblGrid>
                <a:gridCol w="2400300">
                  <a:extLst>
                    <a:ext uri="{9D8B030D-6E8A-4147-A177-3AD203B41FA5}">
                      <a16:colId xmlns:a16="http://schemas.microsoft.com/office/drawing/2014/main" val="20000"/>
                    </a:ext>
                  </a:extLst>
                </a:gridCol>
                <a:gridCol w="971550">
                  <a:extLst>
                    <a:ext uri="{9D8B030D-6E8A-4147-A177-3AD203B41FA5}">
                      <a16:colId xmlns:a16="http://schemas.microsoft.com/office/drawing/2014/main" val="20001"/>
                    </a:ext>
                  </a:extLst>
                </a:gridCol>
                <a:gridCol w="400050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gridCol w="6343650">
                  <a:extLst>
                    <a:ext uri="{9D8B030D-6E8A-4147-A177-3AD203B41FA5}">
                      <a16:colId xmlns:a16="http://schemas.microsoft.com/office/drawing/2014/main" val="20004"/>
                    </a:ext>
                  </a:extLst>
                </a:gridCol>
              </a:tblGrid>
              <a:tr h="220693">
                <a:tc>
                  <a:txBody>
                    <a:bodyPr/>
                    <a:lstStyle/>
                    <a:p>
                      <a:pPr algn="l">
                        <a:buNone/>
                      </a:pPr>
                      <a:r>
                        <a:rPr sz="1050" b="1">
                          <a:solidFill>
                            <a:srgbClr val="2E3142"/>
                          </a:solidFill>
                          <a:latin typeface="210 OmniGothic 040"/>
                          <a:ea typeface="210 OmniGothic 040"/>
                          <a:cs typeface="210 OmniGothic 040"/>
                        </a:rPr>
                        <a:t>오퍼레이션명</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가시성</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파라미터</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반환타입</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설명</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extLst>
                  <a:ext uri="{0D108BD9-81ED-4DB2-BD59-A6C34878D82A}">
                    <a16:rowId xmlns:a16="http://schemas.microsoft.com/office/drawing/2014/main" val="10000"/>
                  </a:ext>
                </a:extLst>
              </a:tr>
              <a:tr h="220693">
                <a:tc>
                  <a:txBody>
                    <a:bodyPr/>
                    <a:lstStyle/>
                    <a:p>
                      <a:pPr algn="l">
                        <a:buNone/>
                      </a:pPr>
                      <a:r>
                        <a:rPr sz="1050" b="0">
                          <a:solidFill>
                            <a:srgbClr val="2E3142"/>
                          </a:solidFill>
                          <a:latin typeface="Consolas"/>
                          <a:ea typeface="Consolas"/>
                          <a:cs typeface="Consolas"/>
                        </a:rPr>
                        <a:t>prepare</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Consolas"/>
                          <a:ea typeface="Consolas"/>
                          <a:cs typeface="Consolas"/>
                        </a:rPr>
                        <a:t>ignition | perimeter, weather, grid</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Consolas"/>
                          <a:ea typeface="Consolas"/>
                          <a:cs typeface="Consolas"/>
                        </a:rPr>
                        <a:t>InputDeck</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초기 연소 범위·30 m 격자·기상 입력 구성</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1"/>
                  </a:ext>
                </a:extLst>
              </a:tr>
              <a:tr h="220693">
                <a:tc>
                  <a:txBody>
                    <a:bodyPr/>
                    <a:lstStyle/>
                    <a:p>
                      <a:pPr algn="l">
                        <a:buNone/>
                      </a:pPr>
                      <a:r>
                        <a:rPr sz="1050" b="0">
                          <a:solidFill>
                            <a:srgbClr val="2E3142"/>
                          </a:solidFill>
                          <a:latin typeface="Consolas"/>
                          <a:ea typeface="Consolas"/>
                          <a:cs typeface="Consolas"/>
                        </a:rPr>
                        <a:t>execute</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Consolas"/>
                          <a:ea typeface="Consolas"/>
                          <a:cs typeface="Consolas"/>
                        </a:rPr>
                        <a:t>input_deck</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Consolas"/>
                          <a:ea typeface="Consolas"/>
                          <a:cs typeface="Consolas"/>
                        </a:rPr>
                        <a:t>Raster</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Docker로 ELMFIRE 실행 → 도달 시각(TOA) 래스터</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2"/>
                  </a:ext>
                </a:extLst>
              </a:tr>
              <a:tr h="220693">
                <a:tc>
                  <a:txBody>
                    <a:bodyPr/>
                    <a:lstStyle/>
                    <a:p>
                      <a:pPr algn="l">
                        <a:buNone/>
                      </a:pPr>
                      <a:r>
                        <a:rPr sz="1050" b="0">
                          <a:solidFill>
                            <a:srgbClr val="2E3142"/>
                          </a:solidFill>
                          <a:latin typeface="Consolas"/>
                          <a:ea typeface="Consolas"/>
                          <a:cs typeface="Consolas"/>
                        </a:rPr>
                        <a:t>to_slices</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Consolas"/>
                          <a:ea typeface="Consolas"/>
                          <a:cs typeface="Consolas"/>
                        </a:rPr>
                        <a:t>raster, t0</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Consolas"/>
                          <a:ea typeface="Consolas"/>
                          <a:cs typeface="Consolas"/>
                        </a:rPr>
                        <a:t>list~Polygon~</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1시간 간격 누적 폴리곤 변환·누적성 검증</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3"/>
                  </a:ext>
                </a:extLst>
              </a:tr>
            </a:tbl>
          </a:graphicData>
        </a:graphic>
      </p:graphicFrame>
      <p:sp>
        <p:nvSpPr>
          <p:cNvPr id="5330" name="TextBox 5329">
            <a:extLst>
              <a:ext uri="{FF2B5EF4-FFF2-40B4-BE49-F238E27FC236}">
                <a16:creationId xmlns:a16="http://schemas.microsoft.com/office/drawing/2014/main" id="{F04EC801-10A2-406F-B423-BD77C87AB9E4}"/>
              </a:ext>
            </a:extLst>
          </p:cNvPr>
          <p:cNvSpPr>
            <a:spLocks noGrp="1"/>
          </p:cNvSpPr>
          <p:nvPr/>
        </p:nvSpPr>
        <p:spPr>
          <a:xfrm>
            <a:off x="822960" y="8290541"/>
            <a:ext cx="11430000" cy="301752"/>
          </a:xfrm>
          <a:prstGeom prst="rect">
            <a:avLst/>
          </a:prstGeom>
          <a:noFill/>
        </p:spPr>
        <p:txBody>
          <a:bodyPr wrap="square" lIns="0" tIns="0" rIns="0" bIns="0" anchor="t">
            <a:spAutoFit/>
          </a:bodyPr>
          <a:lstStyle/>
          <a:p>
            <a:pPr algn="l">
              <a:buNone/>
            </a:pPr>
            <a:r>
              <a:rPr sz="1500" b="1">
                <a:solidFill>
                  <a:srgbClr val="2E3142"/>
                </a:solidFill>
                <a:latin typeface="210 OmniGothic 040"/>
                <a:ea typeface="210 OmniGothic 040"/>
                <a:cs typeface="210 OmniGothic 040"/>
              </a:rPr>
              <a:t>WeatherClient 클래스</a:t>
            </a:r>
            <a:r>
              <a:rPr sz="1250" b="0">
                <a:solidFill>
                  <a:srgbClr val="6B7080"/>
                </a:solidFill>
                <a:latin typeface="210 OmniGothic 040"/>
                <a:ea typeface="210 OmniGothic 040"/>
                <a:cs typeface="210 OmniGothic 040"/>
              </a:rPr>
              <a:t>  &lt;External System&gt;</a:t>
            </a:r>
          </a:p>
        </p:txBody>
      </p:sp>
      <p:graphicFrame>
        <p:nvGraphicFramePr>
          <p:cNvPr id="5359" name="Table 5330"/>
          <p:cNvGraphicFramePr/>
          <p:nvPr/>
        </p:nvGraphicFramePr>
        <p:xfrm>
          <a:off x="822960" y="8622469"/>
          <a:ext cx="16459200" cy="441386"/>
        </p:xfrm>
        <a:graphic>
          <a:graphicData uri="http://schemas.openxmlformats.org/drawingml/2006/table">
            <a:tbl>
              <a:tblPr>
                <a:tableStyleId>{2D5ABB26-0587-4C30-8999-92F81FD0307C}</a:tableStyleId>
              </a:tblPr>
              <a:tblGrid>
                <a:gridCol w="2400300">
                  <a:extLst>
                    <a:ext uri="{9D8B030D-6E8A-4147-A177-3AD203B41FA5}">
                      <a16:colId xmlns:a16="http://schemas.microsoft.com/office/drawing/2014/main" val="20000"/>
                    </a:ext>
                  </a:extLst>
                </a:gridCol>
                <a:gridCol w="971550">
                  <a:extLst>
                    <a:ext uri="{9D8B030D-6E8A-4147-A177-3AD203B41FA5}">
                      <a16:colId xmlns:a16="http://schemas.microsoft.com/office/drawing/2014/main" val="20001"/>
                    </a:ext>
                  </a:extLst>
                </a:gridCol>
                <a:gridCol w="400050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gridCol w="6343650">
                  <a:extLst>
                    <a:ext uri="{9D8B030D-6E8A-4147-A177-3AD203B41FA5}">
                      <a16:colId xmlns:a16="http://schemas.microsoft.com/office/drawing/2014/main" val="20004"/>
                    </a:ext>
                  </a:extLst>
                </a:gridCol>
              </a:tblGrid>
              <a:tr h="220693">
                <a:tc>
                  <a:txBody>
                    <a:bodyPr/>
                    <a:lstStyle/>
                    <a:p>
                      <a:pPr algn="l">
                        <a:buNone/>
                      </a:pPr>
                      <a:r>
                        <a:rPr sz="1050" b="1">
                          <a:solidFill>
                            <a:srgbClr val="2E3142"/>
                          </a:solidFill>
                          <a:latin typeface="210 OmniGothic 040"/>
                          <a:ea typeface="210 OmniGothic 040"/>
                          <a:cs typeface="210 OmniGothic 040"/>
                        </a:rPr>
                        <a:t>오퍼레이션명</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가시성</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파라미터</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반환타입</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설명</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extLst>
                  <a:ext uri="{0D108BD9-81ED-4DB2-BD59-A6C34878D82A}">
                    <a16:rowId xmlns:a16="http://schemas.microsoft.com/office/drawing/2014/main" val="10000"/>
                  </a:ext>
                </a:extLst>
              </a:tr>
              <a:tr h="220693">
                <a:tc>
                  <a:txBody>
                    <a:bodyPr/>
                    <a:lstStyle/>
                    <a:p>
                      <a:pPr algn="l">
                        <a:buNone/>
                      </a:pPr>
                      <a:r>
                        <a:rPr sz="1050" b="0">
                          <a:solidFill>
                            <a:srgbClr val="2E3142"/>
                          </a:solidFill>
                          <a:latin typeface="Consolas"/>
                          <a:ea typeface="Consolas"/>
                          <a:cs typeface="Consolas"/>
                        </a:rPr>
                        <a:t>get_forecast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Consolas"/>
                          <a:ea typeface="Consolas"/>
                          <a:cs typeface="Consolas"/>
                        </a:rPr>
                        <a:t>lat, lng, t0</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Consolas"/>
                          <a:ea typeface="Consolas"/>
                          <a:cs typeface="Consolas"/>
                        </a:rPr>
                        <a:t>WeatherSnapshot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기상청 단기예보 조회·캐시</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45105496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40" name="Picture 2"/>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700" y="-12700"/>
            <a:ext cx="18313400" cy="1638300"/>
          </a:xfrm>
          <a:prstGeom prst="rect">
            <a:avLst/>
          </a:prstGeom>
        </p:spPr>
      </p:pic>
      <p:pic>
        <p:nvPicPr>
          <p:cNvPr id="5341" name="Picture 4"/>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28" y="1618343"/>
            <a:ext cx="18313400" cy="8699500"/>
          </a:xfrm>
          <a:prstGeom prst="rect">
            <a:avLst/>
          </a:prstGeom>
        </p:spPr>
      </p:pic>
      <p:pic>
        <p:nvPicPr>
          <p:cNvPr id="5342" name="Picture 5"/>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58800" y="9271000"/>
            <a:ext cx="17170400" cy="50800"/>
          </a:xfrm>
          <a:prstGeom prst="rect">
            <a:avLst/>
          </a:prstGeom>
        </p:spPr>
      </p:pic>
      <p:pic>
        <p:nvPicPr>
          <p:cNvPr id="5343" name="Picture 3"/>
          <p:cNvPicPr>
            <a:picLocks noChangeAspect="1"/>
          </p:cNvPicPr>
          <p:nvPr/>
        </p:nvPicPr>
        <p:blipFill>
          <a:blip>
            <a:extLst>
              <a:ext uri="{96DAC541-7B7A-43D3-8B79-37D633B846F1}">
                <asvg:svgBlip xmlns:asvg="http://schemas.microsoft.com/office/drawing/2016/SVG/main" r:embed="rId6"/>
              </a:ext>
            </a:extLst>
          </a:blip>
          <a:srcRect b="43005"/>
          <a:stretch>
            <a:fillRect/>
          </a:stretch>
        </p:blipFill>
        <p:spPr>
          <a:xfrm>
            <a:off x="15443200" y="228600"/>
            <a:ext cx="1384300" cy="1397000"/>
          </a:xfrm>
          <a:prstGeom prst="rect">
            <a:avLst/>
          </a:prstGeom>
        </p:spPr>
      </p:pic>
      <p:sp>
        <p:nvSpPr>
          <p:cNvPr id="5323" name="Title">
            <a:extLst>
              <a:ext uri="{FF2B5EF4-FFF2-40B4-BE49-F238E27FC236}">
                <a16:creationId xmlns:a16="http://schemas.microsoft.com/office/drawing/2014/main" id="{26676A0F-B647-43D3-B3F7-EB6AAC5B50C8}"/>
              </a:ext>
            </a:extLst>
          </p:cNvPr>
          <p:cNvSpPr>
            <a:spLocks noGrp="1"/>
          </p:cNvSpPr>
          <p:nvPr/>
        </p:nvSpPr>
        <p:spPr>
          <a:xfrm>
            <a:off x="822960" y="384048"/>
            <a:ext cx="13258800" cy="877824"/>
          </a:xfrm>
          <a:prstGeom prst="rect">
            <a:avLst/>
          </a:prstGeom>
          <a:noFill/>
        </p:spPr>
        <p:txBody>
          <a:bodyPr wrap="square" lIns="0" tIns="0" rIns="0" bIns="0" anchor="ctr">
            <a:spAutoFit/>
          </a:bodyPr>
          <a:lstStyle/>
          <a:p>
            <a:pPr algn="l">
              <a:buNone/>
            </a:pPr>
            <a:r>
              <a:rPr sz="4400" b="0">
                <a:solidFill>
                  <a:srgbClr val="FAA95A"/>
                </a:solidFill>
                <a:latin typeface="210 OmniGothic 050"/>
                <a:ea typeface="210 OmniGothic 050"/>
                <a:cs typeface="210 OmniGothic 050"/>
              </a:rPr>
              <a:t>05. 클래스 다이어그램</a:t>
            </a:r>
          </a:p>
        </p:txBody>
      </p:sp>
      <p:sp>
        <p:nvSpPr>
          <p:cNvPr id="5324" name="Subtitle">
            <a:extLst>
              <a:ext uri="{FF2B5EF4-FFF2-40B4-BE49-F238E27FC236}">
                <a16:creationId xmlns:a16="http://schemas.microsoft.com/office/drawing/2014/main" id="{9E241E30-EA38-444B-BE08-A769A22B10ED}"/>
              </a:ext>
            </a:extLst>
          </p:cNvPr>
          <p:cNvSpPr>
            <a:spLocks noGrp="1"/>
          </p:cNvSpPr>
          <p:nvPr/>
        </p:nvSpPr>
        <p:spPr>
          <a:xfrm>
            <a:off x="822960" y="1764792"/>
            <a:ext cx="16642080" cy="502920"/>
          </a:xfrm>
          <a:prstGeom prst="rect">
            <a:avLst/>
          </a:prstGeom>
          <a:noFill/>
        </p:spPr>
        <p:txBody>
          <a:bodyPr wrap="square" lIns="0" tIns="0" rIns="0" bIns="0" anchor="ctr">
            <a:spAutoFit/>
          </a:bodyPr>
          <a:lstStyle/>
          <a:p>
            <a:pPr algn="ctr">
              <a:buNone/>
            </a:pPr>
            <a:r>
              <a:rPr sz="2600" b="1">
                <a:solidFill>
                  <a:srgbClr val="363A52"/>
                </a:solidFill>
                <a:latin typeface="210 OmniGothic 040"/>
                <a:ea typeface="210 OmniGothic 040"/>
                <a:cs typeface="210 OmniGothic 040"/>
              </a:rPr>
              <a:t>2. 오퍼레이션 정의 – </a:t>
            </a:r>
            <a:r>
              <a:rPr sz="2600" b="1">
                <a:solidFill>
                  <a:srgbClr val="FAA95A"/>
                </a:solidFill>
                <a:latin typeface="210 OmniGothic 040"/>
                <a:ea typeface="210 OmniGothic 040"/>
                <a:cs typeface="210 OmniGothic 040"/>
              </a:rPr>
              <a:t>논리 컴포넌트 (설계)</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idx="12"/>
          </p:nvPr>
        </p:nvSpPr>
        <p:spPr/>
        <p:txBody>
          <a:bodyPr/>
          <a:lstStyle/>
          <a:p>
            <a:fld id="{B6F15528-21DE-4FAA-801E-634DDDAF4B2B}" type="slidenum">
              <a:rPr/>
              <a:t>63</a:t>
            </a:fld>
            <a:endParaRPr/>
          </a:p>
        </p:txBody>
      </p:sp>
      <p:sp>
        <p:nvSpPr>
          <p:cNvPr id="5325" name="TextBox 5324">
            <a:extLst>
              <a:ext uri="{FF2B5EF4-FFF2-40B4-BE49-F238E27FC236}">
                <a16:creationId xmlns:a16="http://schemas.microsoft.com/office/drawing/2014/main" id="{DBF7DA51-E2A0-4AA9-8349-BEF36BE9044D}"/>
              </a:ext>
            </a:extLst>
          </p:cNvPr>
          <p:cNvSpPr>
            <a:spLocks noGrp="1"/>
          </p:cNvSpPr>
          <p:nvPr/>
        </p:nvSpPr>
        <p:spPr>
          <a:xfrm>
            <a:off x="822960" y="2395728"/>
            <a:ext cx="11430000" cy="301752"/>
          </a:xfrm>
          <a:prstGeom prst="rect">
            <a:avLst/>
          </a:prstGeom>
          <a:noFill/>
        </p:spPr>
        <p:txBody>
          <a:bodyPr wrap="square" lIns="0" tIns="0" rIns="0" bIns="0" anchor="t">
            <a:spAutoFit/>
          </a:bodyPr>
          <a:lstStyle/>
          <a:p>
            <a:pPr algn="l">
              <a:buNone/>
            </a:pPr>
            <a:r>
              <a:rPr sz="1500" b="1">
                <a:solidFill>
                  <a:srgbClr val="2E3142"/>
                </a:solidFill>
                <a:latin typeface="210 OmniGothic 040"/>
                <a:ea typeface="210 OmniGothic 040"/>
                <a:cs typeface="210 OmniGothic 040"/>
              </a:rPr>
              <a:t>ProposalOrchestrator 클래스</a:t>
            </a:r>
            <a:r>
              <a:rPr sz="1250" b="0">
                <a:solidFill>
                  <a:srgbClr val="6B7080"/>
                </a:solidFill>
                <a:latin typeface="210 OmniGothic 040"/>
                <a:ea typeface="210 OmniGothic 040"/>
                <a:cs typeface="210 OmniGothic 040"/>
              </a:rPr>
              <a:t>  &lt;Service&gt;</a:t>
            </a:r>
          </a:p>
        </p:txBody>
      </p:sp>
      <p:graphicFrame>
        <p:nvGraphicFramePr>
          <p:cNvPr id="5348" name="Table 5325"/>
          <p:cNvGraphicFramePr/>
          <p:nvPr/>
        </p:nvGraphicFramePr>
        <p:xfrm>
          <a:off x="822960" y="2727655"/>
          <a:ext cx="16459200" cy="905256"/>
        </p:xfrm>
        <a:graphic>
          <a:graphicData uri="http://schemas.openxmlformats.org/drawingml/2006/table">
            <a:tbl>
              <a:tblPr>
                <a:tableStyleId>{2D5ABB26-0587-4C30-8999-92F81FD0307C}</a:tableStyleId>
              </a:tblPr>
              <a:tblGrid>
                <a:gridCol w="2400300">
                  <a:extLst>
                    <a:ext uri="{9D8B030D-6E8A-4147-A177-3AD203B41FA5}">
                      <a16:colId xmlns:a16="http://schemas.microsoft.com/office/drawing/2014/main" val="20000"/>
                    </a:ext>
                  </a:extLst>
                </a:gridCol>
                <a:gridCol w="971550">
                  <a:extLst>
                    <a:ext uri="{9D8B030D-6E8A-4147-A177-3AD203B41FA5}">
                      <a16:colId xmlns:a16="http://schemas.microsoft.com/office/drawing/2014/main" val="20001"/>
                    </a:ext>
                  </a:extLst>
                </a:gridCol>
                <a:gridCol w="400050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gridCol w="6343650">
                  <a:extLst>
                    <a:ext uri="{9D8B030D-6E8A-4147-A177-3AD203B41FA5}">
                      <a16:colId xmlns:a16="http://schemas.microsoft.com/office/drawing/2014/main" val="20004"/>
                    </a:ext>
                  </a:extLst>
                </a:gridCol>
              </a:tblGrid>
              <a:tr h="301752">
                <a:tc>
                  <a:txBody>
                    <a:bodyPr/>
                    <a:lstStyle/>
                    <a:p>
                      <a:pPr algn="l">
                        <a:buNone/>
                      </a:pPr>
                      <a:r>
                        <a:rPr sz="1050" b="1">
                          <a:solidFill>
                            <a:srgbClr val="2E3142"/>
                          </a:solidFill>
                          <a:latin typeface="210 OmniGothic 040"/>
                          <a:ea typeface="210 OmniGothic 040"/>
                          <a:cs typeface="210 OmniGothic 040"/>
                        </a:rPr>
                        <a:t>오퍼레이션명</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가시성</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파라미터</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반환타입</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설명</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extLst>
                  <a:ext uri="{0D108BD9-81ED-4DB2-BD59-A6C34878D82A}">
                    <a16:rowId xmlns:a16="http://schemas.microsoft.com/office/drawing/2014/main" val="10000"/>
                  </a:ext>
                </a:extLst>
              </a:tr>
              <a:tr h="301752">
                <a:tc>
                  <a:txBody>
                    <a:bodyPr/>
                    <a:lstStyle/>
                    <a:p>
                      <a:pPr algn="l">
                        <a:buNone/>
                      </a:pPr>
                      <a:r>
                        <a:rPr sz="1050" b="0">
                          <a:solidFill>
                            <a:srgbClr val="2E3142"/>
                          </a:solidFill>
                          <a:latin typeface="Consolas"/>
                          <a:ea typeface="Consolas"/>
                          <a:cs typeface="Consolas"/>
                        </a:rPr>
                        <a:t>generate</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Consolas"/>
                          <a:ea typeface="Consolas"/>
                          <a:cs typeface="Consolas"/>
                        </a:rPr>
                        <a:t>run_id, reason, correction_id?</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Consolas"/>
                          <a:ea typeface="Consolas"/>
                          <a:cs typeface="Consolas"/>
                        </a:rPr>
                        <a:t>Proposal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규칙 판정 → AI 진화·대피 판단·문장 생성(근거 인용) → 새 버전 저장(사유 2종: 예측 갱신·상황 정정)</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1"/>
                  </a:ext>
                </a:extLst>
              </a:tr>
              <a:tr h="301752">
                <a:tc>
                  <a:txBody>
                    <a:bodyPr/>
                    <a:lstStyle/>
                    <a:p>
                      <a:pPr algn="l">
                        <a:buNone/>
                      </a:pPr>
                      <a:r>
                        <a:rPr sz="1050" b="0">
                          <a:solidFill>
                            <a:srgbClr val="2E3142"/>
                          </a:solidFill>
                          <a:latin typeface="Consolas"/>
                          <a:ea typeface="Consolas"/>
                          <a:cs typeface="Consolas"/>
                        </a:rPr>
                        <a:t>diff</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Consolas"/>
                          <a:ea typeface="Consolas"/>
                          <a:cs typeface="Consolas"/>
                        </a:rPr>
                        <a:t>prev_id, cur_id</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Consolas"/>
                          <a:ea typeface="Consolas"/>
                          <a:cs typeface="Consolas"/>
                        </a:rPr>
                        <a:t>list~ItemDiff~</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직전 버전 대비 바뀐 항목</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2"/>
                  </a:ext>
                </a:extLst>
              </a:tr>
            </a:tbl>
          </a:graphicData>
        </a:graphic>
      </p:graphicFrame>
      <p:sp>
        <p:nvSpPr>
          <p:cNvPr id="5327" name="TextBox 5326">
            <a:extLst>
              <a:ext uri="{FF2B5EF4-FFF2-40B4-BE49-F238E27FC236}">
                <a16:creationId xmlns:a16="http://schemas.microsoft.com/office/drawing/2014/main" id="{70FF250E-293C-472C-A8E0-768C87ABC195}"/>
              </a:ext>
            </a:extLst>
          </p:cNvPr>
          <p:cNvSpPr>
            <a:spLocks noGrp="1"/>
          </p:cNvSpPr>
          <p:nvPr/>
        </p:nvSpPr>
        <p:spPr>
          <a:xfrm>
            <a:off x="822960" y="3773728"/>
            <a:ext cx="11430000" cy="301752"/>
          </a:xfrm>
          <a:prstGeom prst="rect">
            <a:avLst/>
          </a:prstGeom>
          <a:noFill/>
        </p:spPr>
        <p:txBody>
          <a:bodyPr wrap="square" lIns="0" tIns="0" rIns="0" bIns="0" anchor="t">
            <a:spAutoFit/>
          </a:bodyPr>
          <a:lstStyle/>
          <a:p>
            <a:pPr algn="l">
              <a:buNone/>
            </a:pPr>
            <a:r>
              <a:rPr sz="1500" b="1">
                <a:solidFill>
                  <a:srgbClr val="2E3142"/>
                </a:solidFill>
                <a:latin typeface="210 OmniGothic 040"/>
                <a:ea typeface="210 OmniGothic 040"/>
                <a:cs typeface="210 OmniGothic 040"/>
              </a:rPr>
              <a:t>RuleEngine 클래스</a:t>
            </a:r>
            <a:r>
              <a:rPr sz="1250" b="0">
                <a:solidFill>
                  <a:srgbClr val="6B7080"/>
                </a:solidFill>
                <a:latin typeface="210 OmniGothic 040"/>
                <a:ea typeface="210 OmniGothic 040"/>
                <a:cs typeface="210 OmniGothic 040"/>
              </a:rPr>
              <a:t>  &lt;Service&gt;</a:t>
            </a:r>
          </a:p>
        </p:txBody>
      </p:sp>
      <p:graphicFrame>
        <p:nvGraphicFramePr>
          <p:cNvPr id="5350" name="Table 5327"/>
          <p:cNvGraphicFramePr/>
          <p:nvPr/>
        </p:nvGraphicFramePr>
        <p:xfrm>
          <a:off x="822960" y="4105656"/>
          <a:ext cx="16459200" cy="1245412"/>
        </p:xfrm>
        <a:graphic>
          <a:graphicData uri="http://schemas.openxmlformats.org/drawingml/2006/table">
            <a:tbl>
              <a:tblPr>
                <a:tableStyleId>{2D5ABB26-0587-4C30-8999-92F81FD0307C}</a:tableStyleId>
              </a:tblPr>
              <a:tblGrid>
                <a:gridCol w="2400300">
                  <a:extLst>
                    <a:ext uri="{9D8B030D-6E8A-4147-A177-3AD203B41FA5}">
                      <a16:colId xmlns:a16="http://schemas.microsoft.com/office/drawing/2014/main" val="20000"/>
                    </a:ext>
                  </a:extLst>
                </a:gridCol>
                <a:gridCol w="971550">
                  <a:extLst>
                    <a:ext uri="{9D8B030D-6E8A-4147-A177-3AD203B41FA5}">
                      <a16:colId xmlns:a16="http://schemas.microsoft.com/office/drawing/2014/main" val="20001"/>
                    </a:ext>
                  </a:extLst>
                </a:gridCol>
                <a:gridCol w="400050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gridCol w="6343650">
                  <a:extLst>
                    <a:ext uri="{9D8B030D-6E8A-4147-A177-3AD203B41FA5}">
                      <a16:colId xmlns:a16="http://schemas.microsoft.com/office/drawing/2014/main" val="20004"/>
                    </a:ext>
                  </a:extLst>
                </a:gridCol>
              </a:tblGrid>
              <a:tr h="301752">
                <a:tc>
                  <a:txBody>
                    <a:bodyPr/>
                    <a:lstStyle/>
                    <a:p>
                      <a:pPr algn="l">
                        <a:buNone/>
                      </a:pPr>
                      <a:r>
                        <a:rPr sz="1050" b="1">
                          <a:solidFill>
                            <a:srgbClr val="2E3142"/>
                          </a:solidFill>
                          <a:latin typeface="210 OmniGothic 040"/>
                          <a:ea typeface="210 OmniGothic 040"/>
                          <a:cs typeface="210 OmniGothic 040"/>
                        </a:rPr>
                        <a:t>오퍼레이션명</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가시성</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파라미터</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반환타입</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설명</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extLst>
                  <a:ext uri="{0D108BD9-81ED-4DB2-BD59-A6C34878D82A}">
                    <a16:rowId xmlns:a16="http://schemas.microsoft.com/office/drawing/2014/main" val="10000"/>
                  </a:ext>
                </a:extLst>
              </a:tr>
              <a:tr h="301752">
                <a:tc>
                  <a:txBody>
                    <a:bodyPr/>
                    <a:lstStyle/>
                    <a:p>
                      <a:pPr algn="l">
                        <a:buNone/>
                      </a:pPr>
                      <a:r>
                        <a:rPr sz="1050" b="0">
                          <a:solidFill>
                            <a:srgbClr val="2E3142"/>
                          </a:solidFill>
                          <a:latin typeface="Consolas"/>
                          <a:ea typeface="Consolas"/>
                          <a:cs typeface="Consolas"/>
                        </a:rPr>
                        <a:t>evaluate</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Consolas"/>
                          <a:ea typeface="Consolas"/>
                          <a:cs typeface="Consolas"/>
                        </a:rPr>
                        <a:t>run, incident, corrections</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Consolas"/>
                          <a:ea typeface="Consolas"/>
                          <a:cs typeface="Consolas"/>
                        </a:rPr>
                        <a:t>RuleResult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근거 문서에 경계값·수치가 있는 값만 판정: 대응단계·위험구역(P5/P8)·대피소 배정·도달 시각·면적 (정정 값 반영)</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1"/>
                  </a:ext>
                </a:extLst>
              </a:tr>
              <a:tr h="301752">
                <a:tc>
                  <a:txBody>
                    <a:bodyPr/>
                    <a:lstStyle/>
                    <a:p>
                      <a:pPr algn="l">
                        <a:buNone/>
                      </a:pPr>
                      <a:r>
                        <a:rPr sz="1050" b="0">
                          <a:solidFill>
                            <a:srgbClr val="2E3142"/>
                          </a:solidFill>
                          <a:latin typeface="Consolas"/>
                          <a:ea typeface="Consolas"/>
                          <a:cs typeface="Consolas"/>
                        </a:rPr>
                        <a:t>judge_fire</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Consolas"/>
                          <a:ea typeface="Consolas"/>
                          <a:cs typeface="Consolas"/>
                        </a:rPr>
                        <a:t>rules</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Consolas"/>
                          <a:ea typeface="Consolas"/>
                          <a:cs typeface="Consolas"/>
                        </a:rPr>
                        <a:t>list~ItemDraft~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진화 7항목 발동·판정 (S1~S7)</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2"/>
                  </a:ext>
                </a:extLst>
              </a:tr>
              <a:tr h="301752">
                <a:tc>
                  <a:txBody>
                    <a:bodyPr/>
                    <a:lstStyle/>
                    <a:p>
                      <a:pPr algn="l">
                        <a:buNone/>
                      </a:pPr>
                      <a:r>
                        <a:rPr sz="1050" b="0">
                          <a:solidFill>
                            <a:srgbClr val="2E3142"/>
                          </a:solidFill>
                          <a:latin typeface="Consolas"/>
                          <a:ea typeface="Consolas"/>
                          <a:cs typeface="Consolas"/>
                        </a:rPr>
                        <a:t>judge_evac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Consolas"/>
                          <a:ea typeface="Consolas"/>
                          <a:cs typeface="Consolas"/>
                        </a:rPr>
                        <a:t>rules</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Consolas"/>
                          <a:ea typeface="Consolas"/>
                          <a:cs typeface="Consolas"/>
                        </a:rPr>
                        <a:t>list~ItemDraft~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대피 7항목 발동·판정 (E1~E7)</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3"/>
                  </a:ext>
                </a:extLst>
              </a:tr>
            </a:tbl>
          </a:graphicData>
        </a:graphic>
      </p:graphicFrame>
      <p:sp>
        <p:nvSpPr>
          <p:cNvPr id="5329" name="TextBox 5328">
            <a:extLst>
              <a:ext uri="{FF2B5EF4-FFF2-40B4-BE49-F238E27FC236}">
                <a16:creationId xmlns:a16="http://schemas.microsoft.com/office/drawing/2014/main" id="{5D072CBF-9104-47C5-BA63-C33FA34E28C7}"/>
              </a:ext>
            </a:extLst>
          </p:cNvPr>
          <p:cNvSpPr>
            <a:spLocks noGrp="1"/>
          </p:cNvSpPr>
          <p:nvPr/>
        </p:nvSpPr>
        <p:spPr>
          <a:xfrm>
            <a:off x="822960" y="5453481"/>
            <a:ext cx="11430000" cy="301752"/>
          </a:xfrm>
          <a:prstGeom prst="rect">
            <a:avLst/>
          </a:prstGeom>
          <a:noFill/>
        </p:spPr>
        <p:txBody>
          <a:bodyPr wrap="square" lIns="0" tIns="0" rIns="0" bIns="0" anchor="t">
            <a:spAutoFit/>
          </a:bodyPr>
          <a:lstStyle/>
          <a:p>
            <a:pPr algn="l">
              <a:buNone/>
            </a:pPr>
            <a:r>
              <a:rPr sz="1500" b="1">
                <a:solidFill>
                  <a:srgbClr val="2E3142"/>
                </a:solidFill>
                <a:latin typeface="210 OmniGothic 040"/>
                <a:ea typeface="210 OmniGothic 040"/>
                <a:cs typeface="210 OmniGothic 040"/>
              </a:rPr>
              <a:t>Retriever 클래스</a:t>
            </a:r>
            <a:r>
              <a:rPr sz="1250" b="0">
                <a:solidFill>
                  <a:srgbClr val="6B7080"/>
                </a:solidFill>
                <a:latin typeface="210 OmniGothic 040"/>
                <a:ea typeface="210 OmniGothic 040"/>
                <a:cs typeface="210 OmniGothic 040"/>
              </a:rPr>
              <a:t>  &lt;Service&gt;</a:t>
            </a:r>
          </a:p>
        </p:txBody>
      </p:sp>
      <p:graphicFrame>
        <p:nvGraphicFramePr>
          <p:cNvPr id="5352" name="Table 5329"/>
          <p:cNvGraphicFramePr/>
          <p:nvPr/>
        </p:nvGraphicFramePr>
        <p:xfrm>
          <a:off x="822960" y="5785408"/>
          <a:ext cx="16459200" cy="603504"/>
        </p:xfrm>
        <a:graphic>
          <a:graphicData uri="http://schemas.openxmlformats.org/drawingml/2006/table">
            <a:tbl>
              <a:tblPr>
                <a:tableStyleId>{2D5ABB26-0587-4C30-8999-92F81FD0307C}</a:tableStyleId>
              </a:tblPr>
              <a:tblGrid>
                <a:gridCol w="2400300">
                  <a:extLst>
                    <a:ext uri="{9D8B030D-6E8A-4147-A177-3AD203B41FA5}">
                      <a16:colId xmlns:a16="http://schemas.microsoft.com/office/drawing/2014/main" val="20000"/>
                    </a:ext>
                  </a:extLst>
                </a:gridCol>
                <a:gridCol w="971550">
                  <a:extLst>
                    <a:ext uri="{9D8B030D-6E8A-4147-A177-3AD203B41FA5}">
                      <a16:colId xmlns:a16="http://schemas.microsoft.com/office/drawing/2014/main" val="20001"/>
                    </a:ext>
                  </a:extLst>
                </a:gridCol>
                <a:gridCol w="400050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gridCol w="6343650">
                  <a:extLst>
                    <a:ext uri="{9D8B030D-6E8A-4147-A177-3AD203B41FA5}">
                      <a16:colId xmlns:a16="http://schemas.microsoft.com/office/drawing/2014/main" val="20004"/>
                    </a:ext>
                  </a:extLst>
                </a:gridCol>
              </a:tblGrid>
              <a:tr h="301752">
                <a:tc>
                  <a:txBody>
                    <a:bodyPr/>
                    <a:lstStyle/>
                    <a:p>
                      <a:pPr algn="l">
                        <a:buNone/>
                      </a:pPr>
                      <a:r>
                        <a:rPr sz="1050" b="1">
                          <a:solidFill>
                            <a:srgbClr val="2E3142"/>
                          </a:solidFill>
                          <a:latin typeface="210 OmniGothic 040"/>
                          <a:ea typeface="210 OmniGothic 040"/>
                          <a:cs typeface="210 OmniGothic 040"/>
                        </a:rPr>
                        <a:t>오퍼레이션명</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가시성</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파라미터</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반환타입</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설명</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extLst>
                  <a:ext uri="{0D108BD9-81ED-4DB2-BD59-A6C34878D82A}">
                    <a16:rowId xmlns:a16="http://schemas.microsoft.com/office/drawing/2014/main" val="10000"/>
                  </a:ext>
                </a:extLst>
              </a:tr>
              <a:tr h="301752">
                <a:tc>
                  <a:txBody>
                    <a:bodyPr/>
                    <a:lstStyle/>
                    <a:p>
                      <a:pPr algn="l">
                        <a:buNone/>
                      </a:pPr>
                      <a:r>
                        <a:rPr sz="1050" b="0">
                          <a:solidFill>
                            <a:srgbClr val="2E3142"/>
                          </a:solidFill>
                          <a:latin typeface="Consolas"/>
                          <a:ea typeface="Consolas"/>
                          <a:cs typeface="Consolas"/>
                        </a:rPr>
                        <a:t>search</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Consolas"/>
                          <a:ea typeface="Consolas"/>
                          <a:cs typeface="Consolas"/>
                        </a:rPr>
                        <a:t>query, filters, k</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Consolas"/>
                          <a:ea typeface="Consolas"/>
                          <a:cs typeface="Consolas"/>
                        </a:rPr>
                        <a:t>list~EvidenceChunk~</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KURE-v1 임베딩 + FAISS 검색, 단계·항목 필터</a:t>
                      </a:r>
                      <a:r>
                        <a:rPr sz="1050" b="0">
                          <a:solidFill>
                            <a:srgbClr val="FF0000"/>
                          </a:solidFill>
                          <a:latin typeface="210 OmniGothic 040"/>
                          <a:ea typeface="210 OmniGothic 040"/>
                          <a:cs typeface="210 OmniGothic 040"/>
                        </a:rPr>
                        <a:t>, 상위 K개(K = 3·5·7·10 비교로 선택)</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1"/>
                  </a:ext>
                </a:extLst>
              </a:tr>
            </a:tbl>
          </a:graphicData>
        </a:graphic>
      </p:graphicFrame>
      <p:sp>
        <p:nvSpPr>
          <p:cNvPr id="5331" name="TextBox 5330">
            <a:extLst>
              <a:ext uri="{FF2B5EF4-FFF2-40B4-BE49-F238E27FC236}">
                <a16:creationId xmlns:a16="http://schemas.microsoft.com/office/drawing/2014/main" id="{0359592B-F668-43EF-9BDF-DD86B8868FB4}"/>
              </a:ext>
            </a:extLst>
          </p:cNvPr>
          <p:cNvSpPr>
            <a:spLocks noGrp="1"/>
          </p:cNvSpPr>
          <p:nvPr/>
        </p:nvSpPr>
        <p:spPr>
          <a:xfrm>
            <a:off x="822960" y="6529730"/>
            <a:ext cx="11430000" cy="301752"/>
          </a:xfrm>
          <a:prstGeom prst="rect">
            <a:avLst/>
          </a:prstGeom>
          <a:noFill/>
        </p:spPr>
        <p:txBody>
          <a:bodyPr wrap="square" lIns="0" tIns="0" rIns="0" bIns="0" anchor="t">
            <a:spAutoFit/>
          </a:bodyPr>
          <a:lstStyle/>
          <a:p>
            <a:pPr algn="l">
              <a:buNone/>
            </a:pPr>
            <a:r>
              <a:rPr sz="1500" b="1">
                <a:solidFill>
                  <a:srgbClr val="2E3142"/>
                </a:solidFill>
                <a:latin typeface="210 OmniGothic 040"/>
                <a:ea typeface="210 OmniGothic 040"/>
                <a:cs typeface="210 OmniGothic 040"/>
              </a:rPr>
              <a:t>LLMClient 클래스</a:t>
            </a:r>
            <a:r>
              <a:rPr sz="1250" b="0">
                <a:solidFill>
                  <a:srgbClr val="6B7080"/>
                </a:solidFill>
                <a:latin typeface="210 OmniGothic 040"/>
                <a:ea typeface="210 OmniGothic 040"/>
                <a:cs typeface="210 OmniGothic 040"/>
              </a:rPr>
              <a:t>  &lt;External System&gt;</a:t>
            </a:r>
          </a:p>
        </p:txBody>
      </p:sp>
      <p:graphicFrame>
        <p:nvGraphicFramePr>
          <p:cNvPr id="5354" name="Table 5331"/>
          <p:cNvGraphicFramePr/>
          <p:nvPr/>
        </p:nvGraphicFramePr>
        <p:xfrm>
          <a:off x="822960" y="6861657"/>
          <a:ext cx="16459200" cy="1810512"/>
        </p:xfrm>
        <a:graphic>
          <a:graphicData uri="http://schemas.openxmlformats.org/drawingml/2006/table">
            <a:tbl>
              <a:tblPr>
                <a:tableStyleId>{2D5ABB26-0587-4C30-8999-92F81FD0307C}</a:tableStyleId>
              </a:tblPr>
              <a:tblGrid>
                <a:gridCol w="2400300">
                  <a:extLst>
                    <a:ext uri="{9D8B030D-6E8A-4147-A177-3AD203B41FA5}">
                      <a16:colId xmlns:a16="http://schemas.microsoft.com/office/drawing/2014/main" val="20000"/>
                    </a:ext>
                  </a:extLst>
                </a:gridCol>
                <a:gridCol w="971550">
                  <a:extLst>
                    <a:ext uri="{9D8B030D-6E8A-4147-A177-3AD203B41FA5}">
                      <a16:colId xmlns:a16="http://schemas.microsoft.com/office/drawing/2014/main" val="20001"/>
                    </a:ext>
                  </a:extLst>
                </a:gridCol>
                <a:gridCol w="400050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gridCol w="6343650">
                  <a:extLst>
                    <a:ext uri="{9D8B030D-6E8A-4147-A177-3AD203B41FA5}">
                      <a16:colId xmlns:a16="http://schemas.microsoft.com/office/drawing/2014/main" val="20004"/>
                    </a:ext>
                  </a:extLst>
                </a:gridCol>
              </a:tblGrid>
              <a:tr h="301752">
                <a:tc>
                  <a:txBody>
                    <a:bodyPr/>
                    <a:lstStyle/>
                    <a:p>
                      <a:pPr algn="l">
                        <a:buNone/>
                      </a:pPr>
                      <a:r>
                        <a:rPr sz="1050" b="1">
                          <a:solidFill>
                            <a:srgbClr val="2E3142"/>
                          </a:solidFill>
                          <a:latin typeface="210 OmniGothic 040"/>
                          <a:ea typeface="210 OmniGothic 040"/>
                          <a:cs typeface="210 OmniGothic 040"/>
                        </a:rPr>
                        <a:t>오퍼레이션명</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가시성</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파라미터</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반환타입</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설명</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extLst>
                  <a:ext uri="{0D108BD9-81ED-4DB2-BD59-A6C34878D82A}">
                    <a16:rowId xmlns:a16="http://schemas.microsoft.com/office/drawing/2014/main" val="10000"/>
                  </a:ext>
                </a:extLst>
              </a:tr>
              <a:tr h="301752">
                <a:tc>
                  <a:txBody>
                    <a:bodyPr/>
                    <a:lstStyle/>
                    <a:p>
                      <a:pPr algn="l">
                        <a:buNone/>
                      </a:pPr>
                      <a:r>
                        <a:rPr sz="1050" b="0">
                          <a:solidFill>
                            <a:srgbClr val="2E3142"/>
                          </a:solidFill>
                          <a:latin typeface="Consolas"/>
                          <a:ea typeface="Consolas"/>
                          <a:cs typeface="Consolas"/>
                        </a:rPr>
                        <a:t>write_questions</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Consolas"/>
                          <a:ea typeface="Consolas"/>
                          <a:cs typeface="Consolas"/>
                        </a:rPr>
                        <a:t>item, rules</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Consolas"/>
                          <a:ea typeface="Consolas"/>
                          <a:cs typeface="Consolas"/>
                        </a:rPr>
                        <a:t>list~str~</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항목별 상황 특화 질문 작성 (A1)</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1"/>
                  </a:ext>
                </a:extLst>
              </a:tr>
              <a:tr h="301752">
                <a:tc>
                  <a:txBody>
                    <a:bodyPr/>
                    <a:lstStyle/>
                    <a:p>
                      <a:pPr algn="l">
                        <a:buNone/>
                      </a:pPr>
                      <a:r>
                        <a:rPr sz="1050" b="0">
                          <a:solidFill>
                            <a:srgbClr val="2E3142"/>
                          </a:solidFill>
                          <a:latin typeface="Consolas"/>
                          <a:ea typeface="Consolas"/>
                          <a:cs typeface="Consolas"/>
                        </a:rPr>
                        <a:t>answer</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Consolas"/>
                          <a:ea typeface="Consolas"/>
                          <a:cs typeface="Consolas"/>
                        </a:rPr>
                        <a:t>question, chunks</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Consolas"/>
                          <a:ea typeface="Consolas"/>
                          <a:cs typeface="Consolas"/>
                        </a:rPr>
                        <a:t>Answer</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근거 청크만 인용한 답변 (A2)</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2"/>
                  </a:ext>
                </a:extLst>
              </a:tr>
              <a:tr h="301752">
                <a:tc>
                  <a:txBody>
                    <a:bodyPr/>
                    <a:lstStyle/>
                    <a:p>
                      <a:pPr algn="l">
                        <a:buNone/>
                      </a:pPr>
                      <a:r>
                        <a:rPr sz="1050" b="0">
                          <a:solidFill>
                            <a:srgbClr val="2E3142"/>
                          </a:solidFill>
                          <a:latin typeface="Consolas"/>
                          <a:ea typeface="Consolas"/>
                          <a:cs typeface="Consolas"/>
                        </a:rPr>
                        <a:t>check_conflicts</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Consolas"/>
                          <a:ea typeface="Consolas"/>
                          <a:cs typeface="Consolas"/>
                        </a:rPr>
                        <a:t>answers</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Consolas"/>
                          <a:ea typeface="Consolas"/>
                          <a:cs typeface="Consolas"/>
                        </a:rPr>
                        <a:t>list~Conflict~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항목 간 충돌 검사 (A3)</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3"/>
                  </a:ext>
                </a:extLst>
              </a:tr>
              <a:tr h="301752">
                <a:tc>
                  <a:txBody>
                    <a:bodyPr/>
                    <a:lstStyle/>
                    <a:p>
                      <a:pPr algn="l">
                        <a:buNone/>
                      </a:pPr>
                      <a:r>
                        <a:rPr sz="1050" b="0">
                          <a:solidFill>
                            <a:srgbClr val="2E3142"/>
                          </a:solidFill>
                          <a:latin typeface="Consolas"/>
                          <a:ea typeface="Consolas"/>
                          <a:cs typeface="Consolas"/>
                        </a:rPr>
                        <a:t>synthesize</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Consolas"/>
                          <a:ea typeface="Consolas"/>
                          <a:cs typeface="Consolas"/>
                        </a:rPr>
                        <a:t>answers, rules</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Consolas"/>
                          <a:ea typeface="Consolas"/>
                          <a:cs typeface="Consolas"/>
                        </a:rPr>
                        <a:t>ProposalDraft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제안 문장 종합 (A4), temperature 0</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4"/>
                  </a:ext>
                </a:extLst>
              </a:tr>
              <a:tr h="301752">
                <a:tc>
                  <a:txBody>
                    <a:bodyPr/>
                    <a:lstStyle/>
                    <a:p>
                      <a:pPr algn="l">
                        <a:buNone/>
                      </a:pPr>
                      <a:r>
                        <a:rPr sz="1050" b="0">
                          <a:solidFill>
                            <a:srgbClr val="2E3142"/>
                          </a:solidFill>
                          <a:latin typeface="Consolas"/>
                          <a:ea typeface="Consolas"/>
                          <a:cs typeface="Consolas"/>
                        </a:rPr>
                        <a:t>parse_correction</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Consolas"/>
                          <a:ea typeface="Consolas"/>
                          <a:cs typeface="Consolas"/>
                        </a:rPr>
                        <a:t>text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Consolas"/>
                          <a:ea typeface="Consolas"/>
                          <a:cs typeface="Consolas"/>
                        </a:rPr>
                        <a:t>CorrectionDraft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상황 변화 문장 → 대상·새 값 (JSON 스키마)</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76344247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45" name="Picture 2"/>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700" y="-12700"/>
            <a:ext cx="18313400" cy="1638300"/>
          </a:xfrm>
          <a:prstGeom prst="rect">
            <a:avLst/>
          </a:prstGeom>
        </p:spPr>
      </p:pic>
      <p:pic>
        <p:nvPicPr>
          <p:cNvPr id="5346" name="Picture 4"/>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28" y="1618343"/>
            <a:ext cx="18313400" cy="8699500"/>
          </a:xfrm>
          <a:prstGeom prst="rect">
            <a:avLst/>
          </a:prstGeom>
        </p:spPr>
      </p:pic>
      <p:pic>
        <p:nvPicPr>
          <p:cNvPr id="5347" name="Picture 5"/>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58800" y="9271000"/>
            <a:ext cx="17170400" cy="50800"/>
          </a:xfrm>
          <a:prstGeom prst="rect">
            <a:avLst/>
          </a:prstGeom>
        </p:spPr>
      </p:pic>
      <p:pic>
        <p:nvPicPr>
          <p:cNvPr id="5348" name="Picture 3"/>
          <p:cNvPicPr>
            <a:picLocks noChangeAspect="1"/>
          </p:cNvPicPr>
          <p:nvPr/>
        </p:nvPicPr>
        <p:blipFill>
          <a:blip>
            <a:extLst>
              <a:ext uri="{96DAC541-7B7A-43D3-8B79-37D633B846F1}">
                <asvg:svgBlip xmlns:asvg="http://schemas.microsoft.com/office/drawing/2016/SVG/main" r:embed="rId6"/>
              </a:ext>
            </a:extLst>
          </a:blip>
          <a:srcRect b="43005"/>
          <a:stretch>
            <a:fillRect/>
          </a:stretch>
        </p:blipFill>
        <p:spPr>
          <a:xfrm>
            <a:off x="15443200" y="228600"/>
            <a:ext cx="1384300" cy="1397000"/>
          </a:xfrm>
          <a:prstGeom prst="rect">
            <a:avLst/>
          </a:prstGeom>
        </p:spPr>
      </p:pic>
      <p:sp>
        <p:nvSpPr>
          <p:cNvPr id="5328" name="Title">
            <a:extLst>
              <a:ext uri="{FF2B5EF4-FFF2-40B4-BE49-F238E27FC236}">
                <a16:creationId xmlns:a16="http://schemas.microsoft.com/office/drawing/2014/main" id="{0A4D042F-972A-49BC-8DDF-5D5D8AC01B19}"/>
              </a:ext>
            </a:extLst>
          </p:cNvPr>
          <p:cNvSpPr>
            <a:spLocks noGrp="1"/>
          </p:cNvSpPr>
          <p:nvPr/>
        </p:nvSpPr>
        <p:spPr>
          <a:xfrm>
            <a:off x="822960" y="384048"/>
            <a:ext cx="13258800" cy="877824"/>
          </a:xfrm>
          <a:prstGeom prst="rect">
            <a:avLst/>
          </a:prstGeom>
          <a:noFill/>
        </p:spPr>
        <p:txBody>
          <a:bodyPr wrap="square" lIns="0" tIns="0" rIns="0" bIns="0" anchor="ctr">
            <a:spAutoFit/>
          </a:bodyPr>
          <a:lstStyle/>
          <a:p>
            <a:pPr algn="l">
              <a:buNone/>
            </a:pPr>
            <a:r>
              <a:rPr sz="4400" b="0">
                <a:solidFill>
                  <a:srgbClr val="FAA95A"/>
                </a:solidFill>
                <a:latin typeface="210 OmniGothic 050"/>
                <a:ea typeface="210 OmniGothic 050"/>
                <a:cs typeface="210 OmniGothic 050"/>
              </a:rPr>
              <a:t>05. 클래스 다이어그램</a:t>
            </a:r>
          </a:p>
        </p:txBody>
      </p:sp>
      <p:sp>
        <p:nvSpPr>
          <p:cNvPr id="5329" name="Subtitle">
            <a:extLst>
              <a:ext uri="{FF2B5EF4-FFF2-40B4-BE49-F238E27FC236}">
                <a16:creationId xmlns:a16="http://schemas.microsoft.com/office/drawing/2014/main" id="{B4CDD624-0C09-40C9-B723-63E452860702}"/>
              </a:ext>
            </a:extLst>
          </p:cNvPr>
          <p:cNvSpPr>
            <a:spLocks noGrp="1"/>
          </p:cNvSpPr>
          <p:nvPr/>
        </p:nvSpPr>
        <p:spPr>
          <a:xfrm>
            <a:off x="822960" y="1764792"/>
            <a:ext cx="16642080" cy="502920"/>
          </a:xfrm>
          <a:prstGeom prst="rect">
            <a:avLst/>
          </a:prstGeom>
          <a:noFill/>
        </p:spPr>
        <p:txBody>
          <a:bodyPr wrap="square" lIns="0" tIns="0" rIns="0" bIns="0" anchor="ctr">
            <a:spAutoFit/>
          </a:bodyPr>
          <a:lstStyle/>
          <a:p>
            <a:pPr algn="ctr">
              <a:buNone/>
            </a:pPr>
            <a:r>
              <a:rPr sz="2600" b="1">
                <a:solidFill>
                  <a:srgbClr val="363A52"/>
                </a:solidFill>
                <a:latin typeface="210 OmniGothic 040"/>
                <a:ea typeface="210 OmniGothic 040"/>
                <a:cs typeface="210 OmniGothic 040"/>
              </a:rPr>
              <a:t>2. 오퍼레이션 정의 – </a:t>
            </a:r>
            <a:r>
              <a:rPr sz="2600" b="1">
                <a:solidFill>
                  <a:srgbClr val="FAA95A"/>
                </a:solidFill>
                <a:latin typeface="210 OmniGothic 040"/>
                <a:ea typeface="210 OmniGothic 040"/>
                <a:cs typeface="210 OmniGothic 040"/>
              </a:rPr>
              <a:t>논리 컴포넌트 (설계)</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idx="12"/>
          </p:nvPr>
        </p:nvSpPr>
        <p:spPr/>
        <p:txBody>
          <a:bodyPr/>
          <a:lstStyle/>
          <a:p>
            <a:fld id="{B6F15528-21DE-4FAA-801E-634DDDAF4B2B}" type="slidenum">
              <a:rPr/>
              <a:t>64</a:t>
            </a:fld>
            <a:endParaRPr/>
          </a:p>
        </p:txBody>
      </p:sp>
      <p:sp>
        <p:nvSpPr>
          <p:cNvPr id="5330" name="TextBox 5329">
            <a:extLst>
              <a:ext uri="{FF2B5EF4-FFF2-40B4-BE49-F238E27FC236}">
                <a16:creationId xmlns:a16="http://schemas.microsoft.com/office/drawing/2014/main" id="{9326D644-0B9C-402F-8776-4D7FC006D9B8}"/>
              </a:ext>
            </a:extLst>
          </p:cNvPr>
          <p:cNvSpPr>
            <a:spLocks noGrp="1"/>
          </p:cNvSpPr>
          <p:nvPr/>
        </p:nvSpPr>
        <p:spPr>
          <a:xfrm>
            <a:off x="822960" y="2395728"/>
            <a:ext cx="11430000" cy="301752"/>
          </a:xfrm>
          <a:prstGeom prst="rect">
            <a:avLst/>
          </a:prstGeom>
          <a:noFill/>
        </p:spPr>
        <p:txBody>
          <a:bodyPr wrap="square" lIns="0" tIns="0" rIns="0" bIns="0" anchor="t">
            <a:spAutoFit/>
          </a:bodyPr>
          <a:lstStyle/>
          <a:p>
            <a:pPr algn="l">
              <a:buNone/>
            </a:pPr>
            <a:r>
              <a:rPr sz="1500" b="1">
                <a:solidFill>
                  <a:srgbClr val="2E3142"/>
                </a:solidFill>
                <a:latin typeface="210 OmniGothic 040"/>
                <a:ea typeface="210 OmniGothic 040"/>
                <a:cs typeface="210 OmniGothic 040"/>
              </a:rPr>
              <a:t>ProposalRouter 클래스</a:t>
            </a:r>
            <a:r>
              <a:rPr sz="1250" b="0">
                <a:solidFill>
                  <a:srgbClr val="6B7080"/>
                </a:solidFill>
                <a:latin typeface="210 OmniGothic 040"/>
                <a:ea typeface="210 OmniGothic 040"/>
                <a:cs typeface="210 OmniGothic 040"/>
              </a:rPr>
              <a:t>  &lt;Router&gt;</a:t>
            </a:r>
          </a:p>
        </p:txBody>
      </p:sp>
      <p:graphicFrame>
        <p:nvGraphicFramePr>
          <p:cNvPr id="5353" name="Table 5330"/>
          <p:cNvGraphicFramePr/>
          <p:nvPr/>
        </p:nvGraphicFramePr>
        <p:xfrm>
          <a:off x="822960" y="2727655"/>
          <a:ext cx="16459200" cy="1565754"/>
        </p:xfrm>
        <a:graphic>
          <a:graphicData uri="http://schemas.openxmlformats.org/drawingml/2006/table">
            <a:tbl>
              <a:tblPr>
                <a:tableStyleId>{2D5ABB26-0587-4C30-8999-92F81FD0307C}</a:tableStyleId>
              </a:tblPr>
              <a:tblGrid>
                <a:gridCol w="2400300">
                  <a:extLst>
                    <a:ext uri="{9D8B030D-6E8A-4147-A177-3AD203B41FA5}">
                      <a16:colId xmlns:a16="http://schemas.microsoft.com/office/drawing/2014/main" val="20000"/>
                    </a:ext>
                  </a:extLst>
                </a:gridCol>
                <a:gridCol w="971550">
                  <a:extLst>
                    <a:ext uri="{9D8B030D-6E8A-4147-A177-3AD203B41FA5}">
                      <a16:colId xmlns:a16="http://schemas.microsoft.com/office/drawing/2014/main" val="20001"/>
                    </a:ext>
                  </a:extLst>
                </a:gridCol>
                <a:gridCol w="400050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gridCol w="6343650">
                  <a:extLst>
                    <a:ext uri="{9D8B030D-6E8A-4147-A177-3AD203B41FA5}">
                      <a16:colId xmlns:a16="http://schemas.microsoft.com/office/drawing/2014/main" val="20004"/>
                    </a:ext>
                  </a:extLst>
                </a:gridCol>
              </a:tblGrid>
              <a:tr h="260959">
                <a:tc>
                  <a:txBody>
                    <a:bodyPr/>
                    <a:lstStyle/>
                    <a:p>
                      <a:pPr algn="l">
                        <a:buNone/>
                      </a:pPr>
                      <a:r>
                        <a:rPr sz="1050" b="1">
                          <a:solidFill>
                            <a:srgbClr val="2E3142"/>
                          </a:solidFill>
                          <a:latin typeface="210 OmniGothic 040"/>
                          <a:ea typeface="210 OmniGothic 040"/>
                          <a:cs typeface="210 OmniGothic 040"/>
                        </a:rPr>
                        <a:t>오퍼레이션명</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가시성</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파라미터</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반환타입</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설명</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extLst>
                  <a:ext uri="{0D108BD9-81ED-4DB2-BD59-A6C34878D82A}">
                    <a16:rowId xmlns:a16="http://schemas.microsoft.com/office/drawing/2014/main" val="10000"/>
                  </a:ext>
                </a:extLst>
              </a:tr>
              <a:tr h="260959">
                <a:tc>
                  <a:txBody>
                    <a:bodyPr/>
                    <a:lstStyle/>
                    <a:p>
                      <a:pPr algn="l">
                        <a:buNone/>
                      </a:pPr>
                      <a:r>
                        <a:rPr sz="1050" b="0">
                          <a:solidFill>
                            <a:srgbClr val="2E3142"/>
                          </a:solidFill>
                          <a:latin typeface="Consolas"/>
                          <a:ea typeface="Consolas"/>
                          <a:cs typeface="Consolas"/>
                        </a:rPr>
                        <a:t>get_latest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Consolas"/>
                          <a:ea typeface="Consolas"/>
                          <a:cs typeface="Consolas"/>
                        </a:rPr>
                        <a:t>incident_id, axis, category</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Consolas"/>
                          <a:ea typeface="Consolas"/>
                          <a:cs typeface="Consolas"/>
                        </a:rPr>
                        <a:t>Proposal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최신 버전 진화/대피·구분별 조회</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1"/>
                  </a:ext>
                </a:extLst>
              </a:tr>
              <a:tr h="260959">
                <a:tc>
                  <a:txBody>
                    <a:bodyPr/>
                    <a:lstStyle/>
                    <a:p>
                      <a:pPr algn="l">
                        <a:buNone/>
                      </a:pPr>
                      <a:r>
                        <a:rPr sz="1050" b="0">
                          <a:solidFill>
                            <a:srgbClr val="2E3142"/>
                          </a:solidFill>
                          <a:latin typeface="Consolas"/>
                          <a:ea typeface="Consolas"/>
                          <a:cs typeface="Consolas"/>
                        </a:rPr>
                        <a:t>get_citation</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Consolas"/>
                          <a:ea typeface="Consolas"/>
                          <a:cs typeface="Consolas"/>
                        </a:rPr>
                        <a:t>item_id, k</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Consolas"/>
                          <a:ea typeface="Consolas"/>
                          <a:cs typeface="Consolas"/>
                        </a:rPr>
                        <a:t>EvidenceChunk</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근거 번호의 청크 조회</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2"/>
                  </a:ext>
                </a:extLst>
              </a:tr>
              <a:tr h="260959">
                <a:tc>
                  <a:txBody>
                    <a:bodyPr/>
                    <a:lstStyle/>
                    <a:p>
                      <a:pPr algn="l">
                        <a:buNone/>
                      </a:pPr>
                      <a:r>
                        <a:rPr sz="1050" b="0">
                          <a:solidFill>
                            <a:srgbClr val="2E3142"/>
                          </a:solidFill>
                          <a:latin typeface="Consolas"/>
                          <a:ea typeface="Consolas"/>
                          <a:cs typeface="Consolas"/>
                        </a:rPr>
                        <a:t>list_versions</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Consolas"/>
                          <a:ea typeface="Consolas"/>
                          <a:cs typeface="Consolas"/>
                        </a:rPr>
                        <a:t>incident_id</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Consolas"/>
                          <a:ea typeface="Consolas"/>
                          <a:cs typeface="Consolas"/>
                        </a:rPr>
                        <a:t>list~Proposal~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버전 생성 이력 (사유·건수·변경 수)</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3"/>
                  </a:ext>
                </a:extLst>
              </a:tr>
              <a:tr h="260959">
                <a:tc>
                  <a:txBody>
                    <a:bodyPr/>
                    <a:lstStyle/>
                    <a:p>
                      <a:pPr algn="l">
                        <a:buNone/>
                      </a:pPr>
                      <a:r>
                        <a:rPr sz="1050" b="0">
                          <a:solidFill>
                            <a:srgbClr val="2E3142"/>
                          </a:solidFill>
                          <a:latin typeface="Consolas"/>
                          <a:ea typeface="Consolas"/>
                          <a:cs typeface="Consolas"/>
                        </a:rPr>
                        <a:t>get_diff</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Consolas"/>
                          <a:ea typeface="Consolas"/>
                          <a:cs typeface="Consolas"/>
                        </a:rPr>
                        <a:t>proposal_id</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Consolas"/>
                          <a:ea typeface="Consolas"/>
                          <a:cs typeface="Consolas"/>
                        </a:rPr>
                        <a:t>list~ItemDiff~</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직전 버전 대비 이전·이후 문장</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4"/>
                  </a:ext>
                </a:extLst>
              </a:tr>
              <a:tr h="260959">
                <a:tc>
                  <a:txBody>
                    <a:bodyPr/>
                    <a:lstStyle/>
                    <a:p>
                      <a:pPr algn="l">
                        <a:buNone/>
                      </a:pPr>
                      <a:r>
                        <a:rPr sz="1050" b="0">
                          <a:solidFill>
                            <a:srgbClr val="2E3142"/>
                          </a:solidFill>
                          <a:latin typeface="Consolas"/>
                          <a:ea typeface="Consolas"/>
                          <a:cs typeface="Consolas"/>
                        </a:rPr>
                        <a:t>list_events</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Consolas"/>
                          <a:ea typeface="Consolas"/>
                          <a:cs typeface="Consolas"/>
                        </a:rPr>
                        <a:t>incident_id</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Consolas"/>
                          <a:ea typeface="Consolas"/>
                          <a:cs typeface="Consolas"/>
                        </a:rPr>
                        <a:t>list~EventLog~</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이벤트 로그 (이력 탭, 읽기 전용)</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6"/>
                  </a:ext>
                </a:extLst>
              </a:tr>
            </a:tbl>
          </a:graphicData>
        </a:graphic>
      </p:graphicFrame>
      <p:sp>
        <p:nvSpPr>
          <p:cNvPr id="5332" name="TextBox 5331">
            <a:extLst>
              <a:ext uri="{FF2B5EF4-FFF2-40B4-BE49-F238E27FC236}">
                <a16:creationId xmlns:a16="http://schemas.microsoft.com/office/drawing/2014/main" id="{D6D3B464-980E-4C5A-B8DD-D5567AB63A18}"/>
              </a:ext>
            </a:extLst>
          </p:cNvPr>
          <p:cNvSpPr>
            <a:spLocks noGrp="1"/>
          </p:cNvSpPr>
          <p:nvPr/>
        </p:nvSpPr>
        <p:spPr>
          <a:xfrm>
            <a:off x="822960" y="4695190"/>
            <a:ext cx="11430000" cy="301752"/>
          </a:xfrm>
          <a:prstGeom prst="rect">
            <a:avLst/>
          </a:prstGeom>
          <a:noFill/>
        </p:spPr>
        <p:txBody>
          <a:bodyPr wrap="square" lIns="0" tIns="0" rIns="0" bIns="0" anchor="t">
            <a:spAutoFit/>
          </a:bodyPr>
          <a:lstStyle/>
          <a:p>
            <a:pPr algn="l">
              <a:buNone/>
            </a:pPr>
            <a:r>
              <a:rPr sz="1500" b="1">
                <a:solidFill>
                  <a:srgbClr val="2E3142"/>
                </a:solidFill>
                <a:latin typeface="210 OmniGothic 040"/>
                <a:ea typeface="210 OmniGothic 040"/>
                <a:cs typeface="210 OmniGothic 040"/>
              </a:rPr>
              <a:t>ChatRouter 클래스</a:t>
            </a:r>
            <a:r>
              <a:rPr sz="1250" b="0">
                <a:solidFill>
                  <a:srgbClr val="6B7080"/>
                </a:solidFill>
                <a:latin typeface="210 OmniGothic 040"/>
                <a:ea typeface="210 OmniGothic 040"/>
                <a:cs typeface="210 OmniGothic 040"/>
              </a:rPr>
              <a:t>  &lt;Router&gt;</a:t>
            </a:r>
          </a:p>
        </p:txBody>
      </p:sp>
      <p:graphicFrame>
        <p:nvGraphicFramePr>
          <p:cNvPr id="5355" name="Table 5332"/>
          <p:cNvGraphicFramePr/>
          <p:nvPr/>
        </p:nvGraphicFramePr>
        <p:xfrm>
          <a:off x="822960" y="5027117"/>
          <a:ext cx="16459200" cy="1043836"/>
        </p:xfrm>
        <a:graphic>
          <a:graphicData uri="http://schemas.openxmlformats.org/drawingml/2006/table">
            <a:tbl>
              <a:tblPr>
                <a:tableStyleId>{2D5ABB26-0587-4C30-8999-92F81FD0307C}</a:tableStyleId>
              </a:tblPr>
              <a:tblGrid>
                <a:gridCol w="2400300">
                  <a:extLst>
                    <a:ext uri="{9D8B030D-6E8A-4147-A177-3AD203B41FA5}">
                      <a16:colId xmlns:a16="http://schemas.microsoft.com/office/drawing/2014/main" val="20000"/>
                    </a:ext>
                  </a:extLst>
                </a:gridCol>
                <a:gridCol w="971550">
                  <a:extLst>
                    <a:ext uri="{9D8B030D-6E8A-4147-A177-3AD203B41FA5}">
                      <a16:colId xmlns:a16="http://schemas.microsoft.com/office/drawing/2014/main" val="20001"/>
                    </a:ext>
                  </a:extLst>
                </a:gridCol>
                <a:gridCol w="400050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gridCol w="6343650">
                  <a:extLst>
                    <a:ext uri="{9D8B030D-6E8A-4147-A177-3AD203B41FA5}">
                      <a16:colId xmlns:a16="http://schemas.microsoft.com/office/drawing/2014/main" val="20004"/>
                    </a:ext>
                  </a:extLst>
                </a:gridCol>
              </a:tblGrid>
              <a:tr h="260959">
                <a:tc>
                  <a:txBody>
                    <a:bodyPr/>
                    <a:lstStyle/>
                    <a:p>
                      <a:pPr algn="l">
                        <a:buNone/>
                      </a:pPr>
                      <a:r>
                        <a:rPr sz="1050" b="1">
                          <a:solidFill>
                            <a:srgbClr val="2E3142"/>
                          </a:solidFill>
                          <a:latin typeface="210 OmniGothic 040"/>
                          <a:ea typeface="210 OmniGothic 040"/>
                          <a:cs typeface="210 OmniGothic 040"/>
                        </a:rPr>
                        <a:t>오퍼레이션명</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가시성</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파라미터</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반환타입</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설명</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extLst>
                  <a:ext uri="{0D108BD9-81ED-4DB2-BD59-A6C34878D82A}">
                    <a16:rowId xmlns:a16="http://schemas.microsoft.com/office/drawing/2014/main" val="10000"/>
                  </a:ext>
                </a:extLst>
              </a:tr>
              <a:tr h="260959">
                <a:tc>
                  <a:txBody>
                    <a:bodyPr/>
                    <a:lstStyle/>
                    <a:p>
                      <a:pPr algn="l">
                        <a:buNone/>
                      </a:pPr>
                      <a:r>
                        <a:rPr sz="1050" b="0">
                          <a:solidFill>
                            <a:srgbClr val="2E3142"/>
                          </a:solidFill>
                          <a:latin typeface="Consolas"/>
                          <a:ea typeface="Consolas"/>
                          <a:cs typeface="Consolas"/>
                        </a:rPr>
                        <a:t>ask</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Consolas"/>
                          <a:ea typeface="Consolas"/>
                          <a:cs typeface="Consolas"/>
                        </a:rPr>
                        <a:t>incident_id, text, item_code?</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Consolas"/>
                          <a:ea typeface="Consolas"/>
                          <a:cs typeface="Consolas"/>
                        </a:rPr>
                        <a:t>ChatMessage</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질문·상황 변화 입력 (AssistantService에 위임)</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1"/>
                  </a:ext>
                </a:extLst>
              </a:tr>
              <a:tr h="260959">
                <a:tc>
                  <a:txBody>
                    <a:bodyPr/>
                    <a:lstStyle/>
                    <a:p>
                      <a:pPr algn="l">
                        <a:buNone/>
                      </a:pPr>
                      <a:r>
                        <a:rPr sz="1050" b="0">
                          <a:solidFill>
                            <a:srgbClr val="2E3142"/>
                          </a:solidFill>
                          <a:latin typeface="Consolas"/>
                          <a:ea typeface="Consolas"/>
                          <a:cs typeface="Consolas"/>
                        </a:rPr>
                        <a:t>quick_questions</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Consolas"/>
                          <a:ea typeface="Consolas"/>
                          <a:cs typeface="Consolas"/>
                        </a:rPr>
                        <a:t>incident_id</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Consolas"/>
                          <a:ea typeface="Consolas"/>
                          <a:cs typeface="Consolas"/>
                        </a:rPr>
                        <a:t>list~str~</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빠른 질문 6개</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2"/>
                  </a:ext>
                </a:extLst>
              </a:tr>
              <a:tr h="260959">
                <a:tc>
                  <a:txBody>
                    <a:bodyPr/>
                    <a:lstStyle/>
                    <a:p>
                      <a:pPr algn="l">
                        <a:buNone/>
                      </a:pPr>
                      <a:r>
                        <a:rPr sz="1050" b="0">
                          <a:solidFill>
                            <a:srgbClr val="2E3142"/>
                          </a:solidFill>
                          <a:latin typeface="Consolas"/>
                          <a:ea typeface="Consolas"/>
                          <a:cs typeface="Consolas"/>
                        </a:rPr>
                        <a:t>confirm_correction</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Consolas"/>
                          <a:ea typeface="Consolas"/>
                          <a:cs typeface="Consolas"/>
                        </a:rPr>
                        <a:t>draft_id</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Consolas"/>
                          <a:ea typeface="Consolas"/>
                          <a:cs typeface="Consolas"/>
                        </a:rPr>
                        <a:t>Proposal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「확인 · 저장 후 재생성」</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3"/>
                  </a:ext>
                </a:extLst>
              </a:tr>
            </a:tbl>
          </a:graphicData>
        </a:graphic>
      </p:graphicFrame>
      <p:sp>
        <p:nvSpPr>
          <p:cNvPr id="5334" name="TextBox 5333">
            <a:extLst>
              <a:ext uri="{FF2B5EF4-FFF2-40B4-BE49-F238E27FC236}">
                <a16:creationId xmlns:a16="http://schemas.microsoft.com/office/drawing/2014/main" id="{F2E57342-FCC1-4088-83C2-6AFFCA66D145}"/>
              </a:ext>
            </a:extLst>
          </p:cNvPr>
          <p:cNvSpPr>
            <a:spLocks noGrp="1"/>
          </p:cNvSpPr>
          <p:nvPr/>
        </p:nvSpPr>
        <p:spPr>
          <a:xfrm>
            <a:off x="822960" y="6211773"/>
            <a:ext cx="11430000" cy="301752"/>
          </a:xfrm>
          <a:prstGeom prst="rect">
            <a:avLst/>
          </a:prstGeom>
          <a:noFill/>
        </p:spPr>
        <p:txBody>
          <a:bodyPr wrap="square" lIns="0" tIns="0" rIns="0" bIns="0" anchor="t">
            <a:spAutoFit/>
          </a:bodyPr>
          <a:lstStyle/>
          <a:p>
            <a:pPr algn="l">
              <a:buNone/>
            </a:pPr>
            <a:r>
              <a:rPr sz="1500" b="1">
                <a:solidFill>
                  <a:srgbClr val="2E3142"/>
                </a:solidFill>
                <a:latin typeface="210 OmniGothic 040"/>
                <a:ea typeface="210 OmniGothic 040"/>
                <a:cs typeface="210 OmniGothic 040"/>
              </a:rPr>
              <a:t>AssistantService 클래스</a:t>
            </a:r>
            <a:r>
              <a:rPr sz="1250" b="0">
                <a:solidFill>
                  <a:srgbClr val="6B7080"/>
                </a:solidFill>
                <a:latin typeface="210 OmniGothic 040"/>
                <a:ea typeface="210 OmniGothic 040"/>
                <a:cs typeface="210 OmniGothic 040"/>
              </a:rPr>
              <a:t>  &lt;Service&gt;</a:t>
            </a:r>
          </a:p>
        </p:txBody>
      </p:sp>
      <p:graphicFrame>
        <p:nvGraphicFramePr>
          <p:cNvPr id="5357" name="Table 5334"/>
          <p:cNvGraphicFramePr/>
          <p:nvPr/>
        </p:nvGraphicFramePr>
        <p:xfrm>
          <a:off x="822960" y="6543700"/>
          <a:ext cx="16459200" cy="1304795"/>
        </p:xfrm>
        <a:graphic>
          <a:graphicData uri="http://schemas.openxmlformats.org/drawingml/2006/table">
            <a:tbl>
              <a:tblPr>
                <a:tableStyleId>{2D5ABB26-0587-4C30-8999-92F81FD0307C}</a:tableStyleId>
              </a:tblPr>
              <a:tblGrid>
                <a:gridCol w="2400300">
                  <a:extLst>
                    <a:ext uri="{9D8B030D-6E8A-4147-A177-3AD203B41FA5}">
                      <a16:colId xmlns:a16="http://schemas.microsoft.com/office/drawing/2014/main" val="20000"/>
                    </a:ext>
                  </a:extLst>
                </a:gridCol>
                <a:gridCol w="971550">
                  <a:extLst>
                    <a:ext uri="{9D8B030D-6E8A-4147-A177-3AD203B41FA5}">
                      <a16:colId xmlns:a16="http://schemas.microsoft.com/office/drawing/2014/main" val="20001"/>
                    </a:ext>
                  </a:extLst>
                </a:gridCol>
                <a:gridCol w="400050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gridCol w="6343650">
                  <a:extLst>
                    <a:ext uri="{9D8B030D-6E8A-4147-A177-3AD203B41FA5}">
                      <a16:colId xmlns:a16="http://schemas.microsoft.com/office/drawing/2014/main" val="20004"/>
                    </a:ext>
                  </a:extLst>
                </a:gridCol>
              </a:tblGrid>
              <a:tr h="260959">
                <a:tc>
                  <a:txBody>
                    <a:bodyPr/>
                    <a:lstStyle/>
                    <a:p>
                      <a:pPr algn="l">
                        <a:buNone/>
                      </a:pPr>
                      <a:r>
                        <a:rPr sz="1050" b="1">
                          <a:solidFill>
                            <a:srgbClr val="2E3142"/>
                          </a:solidFill>
                          <a:latin typeface="210 OmniGothic 040"/>
                          <a:ea typeface="210 OmniGothic 040"/>
                          <a:cs typeface="210 OmniGothic 040"/>
                        </a:rPr>
                        <a:t>오퍼레이션명</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가시성</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파라미터</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반환타입</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설명</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extLst>
                  <a:ext uri="{0D108BD9-81ED-4DB2-BD59-A6C34878D82A}">
                    <a16:rowId xmlns:a16="http://schemas.microsoft.com/office/drawing/2014/main" val="10000"/>
                  </a:ext>
                </a:extLst>
              </a:tr>
              <a:tr h="260959">
                <a:tc>
                  <a:txBody>
                    <a:bodyPr/>
                    <a:lstStyle/>
                    <a:p>
                      <a:pPr algn="l">
                        <a:buNone/>
                      </a:pPr>
                      <a:r>
                        <a:rPr sz="1050" b="0">
                          <a:solidFill>
                            <a:srgbClr val="2E3142"/>
                          </a:solidFill>
                          <a:latin typeface="Consolas"/>
                          <a:ea typeface="Consolas"/>
                          <a:cs typeface="Consolas"/>
                        </a:rPr>
                        <a:t>classify</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Consolas"/>
                          <a:ea typeface="Consolas"/>
                          <a:cs typeface="Consolas"/>
                        </a:rPr>
                        <a:t>text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Consolas"/>
                          <a:ea typeface="Consolas"/>
                          <a:cs typeface="Consolas"/>
                        </a:rPr>
                        <a:t>IntentEnum</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질의(QA) / 상황 정정(CORRECTION) 구분</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1"/>
                  </a:ext>
                </a:extLst>
              </a:tr>
              <a:tr h="260959">
                <a:tc>
                  <a:txBody>
                    <a:bodyPr/>
                    <a:lstStyle/>
                    <a:p>
                      <a:pPr algn="l">
                        <a:buNone/>
                      </a:pPr>
                      <a:r>
                        <a:rPr sz="1050" b="0">
                          <a:solidFill>
                            <a:srgbClr val="2E3142"/>
                          </a:solidFill>
                          <a:latin typeface="Consolas"/>
                          <a:ea typeface="Consolas"/>
                          <a:cs typeface="Consolas"/>
                        </a:rPr>
                        <a:t>answer</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Consolas"/>
                          <a:ea typeface="Consolas"/>
                          <a:cs typeface="Consolas"/>
                        </a:rPr>
                        <a:t>incident_id, question, item_code?</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Consolas"/>
                          <a:ea typeface="Consolas"/>
                          <a:cs typeface="Consolas"/>
                        </a:rPr>
                        <a:t>ChatMessage</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상황·제안 값 + 근거 검색 → 답변·인용 검증 → 저장</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2"/>
                  </a:ext>
                </a:extLst>
              </a:tr>
              <a:tr h="260959">
                <a:tc>
                  <a:txBody>
                    <a:bodyPr/>
                    <a:lstStyle/>
                    <a:p>
                      <a:pPr algn="l">
                        <a:buNone/>
                      </a:pPr>
                      <a:r>
                        <a:rPr sz="1050" b="0">
                          <a:solidFill>
                            <a:srgbClr val="2E3142"/>
                          </a:solidFill>
                          <a:latin typeface="Consolas"/>
                          <a:ea typeface="Consolas"/>
                          <a:cs typeface="Consolas"/>
                        </a:rPr>
                        <a:t>propose_correction</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Consolas"/>
                          <a:ea typeface="Consolas"/>
                          <a:cs typeface="Consolas"/>
                        </a:rPr>
                        <a:t>incident_id, text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Consolas"/>
                          <a:ea typeface="Consolas"/>
                          <a:cs typeface="Consolas"/>
                        </a:rPr>
                        <a:t>CorrectionDraft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정정 대상·현재 값·새 값 확인 카드 생성</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3"/>
                  </a:ext>
                </a:extLst>
              </a:tr>
              <a:tr h="260959">
                <a:tc>
                  <a:txBody>
                    <a:bodyPr/>
                    <a:lstStyle/>
                    <a:p>
                      <a:pPr algn="l">
                        <a:buNone/>
                      </a:pPr>
                      <a:r>
                        <a:rPr sz="1050" b="0">
                          <a:solidFill>
                            <a:srgbClr val="2E3142"/>
                          </a:solidFill>
                          <a:latin typeface="Consolas"/>
                          <a:ea typeface="Consolas"/>
                          <a:cs typeface="Consolas"/>
                        </a:rPr>
                        <a:t>apply_correction</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Consolas"/>
                          <a:ea typeface="Consolas"/>
                          <a:cs typeface="Consolas"/>
                        </a:rPr>
                        <a:t>draft</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Consolas"/>
                          <a:ea typeface="Consolas"/>
                          <a:cs typeface="Consolas"/>
                        </a:rPr>
                        <a:t>Proposal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정정 저장 → generate(reason = 상황 정정)</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4"/>
                  </a:ext>
                </a:extLst>
              </a:tr>
            </a:tbl>
          </a:graphicData>
        </a:graphic>
      </p:graphicFrame>
      <p:sp>
        <p:nvSpPr>
          <p:cNvPr id="5336" name="TextBox 5335">
            <a:extLst>
              <a:ext uri="{FF2B5EF4-FFF2-40B4-BE49-F238E27FC236}">
                <a16:creationId xmlns:a16="http://schemas.microsoft.com/office/drawing/2014/main" id="{3619A452-AE01-4C91-B907-19F0DA3EEC17}"/>
              </a:ext>
            </a:extLst>
          </p:cNvPr>
          <p:cNvSpPr>
            <a:spLocks noGrp="1"/>
          </p:cNvSpPr>
          <p:nvPr/>
        </p:nvSpPr>
        <p:spPr>
          <a:xfrm>
            <a:off x="822960" y="7989316"/>
            <a:ext cx="11430000" cy="301752"/>
          </a:xfrm>
          <a:prstGeom prst="rect">
            <a:avLst/>
          </a:prstGeom>
          <a:noFill/>
        </p:spPr>
        <p:txBody>
          <a:bodyPr wrap="square" lIns="0" tIns="0" rIns="0" bIns="0" anchor="t">
            <a:spAutoFit/>
          </a:bodyPr>
          <a:lstStyle/>
          <a:p>
            <a:pPr algn="l">
              <a:buNone/>
            </a:pPr>
            <a:r>
              <a:rPr sz="1500" b="1">
                <a:solidFill>
                  <a:srgbClr val="2E3142"/>
                </a:solidFill>
                <a:latin typeface="210 OmniGothic 040"/>
                <a:ea typeface="210 OmniGothic 040"/>
                <a:cs typeface="210 OmniGothic 040"/>
              </a:rPr>
              <a:t>EventLogger 클래스</a:t>
            </a:r>
            <a:r>
              <a:rPr sz="1250" b="0">
                <a:solidFill>
                  <a:srgbClr val="6B7080"/>
                </a:solidFill>
                <a:latin typeface="210 OmniGothic 040"/>
                <a:ea typeface="210 OmniGothic 040"/>
                <a:cs typeface="210 OmniGothic 040"/>
              </a:rPr>
              <a:t>  &lt;Service&gt;</a:t>
            </a:r>
          </a:p>
        </p:txBody>
      </p:sp>
      <p:graphicFrame>
        <p:nvGraphicFramePr>
          <p:cNvPr id="5359" name="Table 5336"/>
          <p:cNvGraphicFramePr/>
          <p:nvPr/>
        </p:nvGraphicFramePr>
        <p:xfrm>
          <a:off x="822960" y="8321243"/>
          <a:ext cx="16459200" cy="521918"/>
        </p:xfrm>
        <a:graphic>
          <a:graphicData uri="http://schemas.openxmlformats.org/drawingml/2006/table">
            <a:tbl>
              <a:tblPr>
                <a:tableStyleId>{2D5ABB26-0587-4C30-8999-92F81FD0307C}</a:tableStyleId>
              </a:tblPr>
              <a:tblGrid>
                <a:gridCol w="2400300">
                  <a:extLst>
                    <a:ext uri="{9D8B030D-6E8A-4147-A177-3AD203B41FA5}">
                      <a16:colId xmlns:a16="http://schemas.microsoft.com/office/drawing/2014/main" val="20000"/>
                    </a:ext>
                  </a:extLst>
                </a:gridCol>
                <a:gridCol w="971550">
                  <a:extLst>
                    <a:ext uri="{9D8B030D-6E8A-4147-A177-3AD203B41FA5}">
                      <a16:colId xmlns:a16="http://schemas.microsoft.com/office/drawing/2014/main" val="20001"/>
                    </a:ext>
                  </a:extLst>
                </a:gridCol>
                <a:gridCol w="400050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gridCol w="6343650">
                  <a:extLst>
                    <a:ext uri="{9D8B030D-6E8A-4147-A177-3AD203B41FA5}">
                      <a16:colId xmlns:a16="http://schemas.microsoft.com/office/drawing/2014/main" val="20004"/>
                    </a:ext>
                  </a:extLst>
                </a:gridCol>
              </a:tblGrid>
              <a:tr h="260959">
                <a:tc>
                  <a:txBody>
                    <a:bodyPr/>
                    <a:lstStyle/>
                    <a:p>
                      <a:pPr algn="l">
                        <a:buNone/>
                      </a:pPr>
                      <a:r>
                        <a:rPr sz="1050" b="1">
                          <a:solidFill>
                            <a:srgbClr val="2E3142"/>
                          </a:solidFill>
                          <a:latin typeface="210 OmniGothic 040"/>
                          <a:ea typeface="210 OmniGothic 040"/>
                          <a:cs typeface="210 OmniGothic 040"/>
                        </a:rPr>
                        <a:t>오퍼레이션명</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가시성</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파라미터</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반환타입</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050" b="1">
                          <a:solidFill>
                            <a:srgbClr val="2E3142"/>
                          </a:solidFill>
                          <a:latin typeface="210 OmniGothic 040"/>
                          <a:ea typeface="210 OmniGothic 040"/>
                          <a:cs typeface="210 OmniGothic 040"/>
                        </a:rPr>
                        <a:t>설명</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extLst>
                  <a:ext uri="{0D108BD9-81ED-4DB2-BD59-A6C34878D82A}">
                    <a16:rowId xmlns:a16="http://schemas.microsoft.com/office/drawing/2014/main" val="10000"/>
                  </a:ext>
                </a:extLst>
              </a:tr>
              <a:tr h="260959">
                <a:tc>
                  <a:txBody>
                    <a:bodyPr/>
                    <a:lstStyle/>
                    <a:p>
                      <a:pPr algn="l">
                        <a:buNone/>
                      </a:pPr>
                      <a:r>
                        <a:rPr sz="1050" b="0">
                          <a:solidFill>
                            <a:srgbClr val="2E3142"/>
                          </a:solidFill>
                          <a:latin typeface="Consolas"/>
                          <a:ea typeface="Consolas"/>
                          <a:cs typeface="Consolas"/>
                        </a:rPr>
                        <a:t>record</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Public</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Consolas"/>
                          <a:ea typeface="Consolas"/>
                          <a:cs typeface="Consolas"/>
                        </a:rPr>
                        <a:t>event_type, user?, incident?, detail</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Consolas"/>
                          <a:ea typeface="Consolas"/>
                          <a:cs typeface="Consolas"/>
                        </a:rPr>
                        <a:t>void</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이벤트 로그 추가 (수정·삭제 없음)</a:t>
                      </a:r>
                    </a:p>
                  </a:txBody>
                  <a:tcPr marL="68580" marR="68580" marT="10058" marB="1005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40677974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40" name="Picture 2"/>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700" y="-12700"/>
            <a:ext cx="18313400" cy="1638300"/>
          </a:xfrm>
          <a:prstGeom prst="rect">
            <a:avLst/>
          </a:prstGeom>
        </p:spPr>
      </p:pic>
      <p:pic>
        <p:nvPicPr>
          <p:cNvPr id="5341" name="Picture 4"/>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28" y="1618343"/>
            <a:ext cx="18313400" cy="8699500"/>
          </a:xfrm>
          <a:prstGeom prst="rect">
            <a:avLst/>
          </a:prstGeom>
        </p:spPr>
      </p:pic>
      <p:pic>
        <p:nvPicPr>
          <p:cNvPr id="5342" name="Picture 5"/>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58800" y="9271000"/>
            <a:ext cx="17170400" cy="50800"/>
          </a:xfrm>
          <a:prstGeom prst="rect">
            <a:avLst/>
          </a:prstGeom>
        </p:spPr>
      </p:pic>
      <p:pic>
        <p:nvPicPr>
          <p:cNvPr id="5343" name="Picture 3"/>
          <p:cNvPicPr>
            <a:picLocks noChangeAspect="1"/>
          </p:cNvPicPr>
          <p:nvPr/>
        </p:nvPicPr>
        <p:blipFill>
          <a:blip>
            <a:extLst>
              <a:ext uri="{96DAC541-7B7A-43D3-8B79-37D633B846F1}">
                <asvg:svgBlip xmlns:asvg="http://schemas.microsoft.com/office/drawing/2016/SVG/main" r:embed="rId6"/>
              </a:ext>
            </a:extLst>
          </a:blip>
          <a:srcRect b="43005"/>
          <a:stretch>
            <a:fillRect/>
          </a:stretch>
        </p:blipFill>
        <p:spPr>
          <a:xfrm>
            <a:off x="15443200" y="228600"/>
            <a:ext cx="1384300" cy="1397000"/>
          </a:xfrm>
          <a:prstGeom prst="rect">
            <a:avLst/>
          </a:prstGeom>
        </p:spPr>
      </p:pic>
      <p:sp>
        <p:nvSpPr>
          <p:cNvPr id="5333" name="Title">
            <a:extLst>
              <a:ext uri="{FF2B5EF4-FFF2-40B4-BE49-F238E27FC236}">
                <a16:creationId xmlns:a16="http://schemas.microsoft.com/office/drawing/2014/main" id="{48DF47AC-8313-402A-84C4-022D6C4F8CF4}"/>
              </a:ext>
            </a:extLst>
          </p:cNvPr>
          <p:cNvSpPr>
            <a:spLocks noGrp="1"/>
          </p:cNvSpPr>
          <p:nvPr/>
        </p:nvSpPr>
        <p:spPr>
          <a:xfrm>
            <a:off x="822960" y="384048"/>
            <a:ext cx="13258800" cy="877824"/>
          </a:xfrm>
          <a:prstGeom prst="rect">
            <a:avLst/>
          </a:prstGeom>
          <a:noFill/>
        </p:spPr>
        <p:txBody>
          <a:bodyPr wrap="square" lIns="0" tIns="0" rIns="0" bIns="0" anchor="ctr">
            <a:spAutoFit/>
          </a:bodyPr>
          <a:lstStyle/>
          <a:p>
            <a:pPr algn="l">
              <a:buNone/>
            </a:pPr>
            <a:r>
              <a:rPr sz="4400" b="0">
                <a:solidFill>
                  <a:srgbClr val="FAA95A"/>
                </a:solidFill>
                <a:latin typeface="210 OmniGothic 050"/>
                <a:ea typeface="210 OmniGothic 050"/>
                <a:cs typeface="210 OmniGothic 050"/>
              </a:rPr>
              <a:t>05. 클래스 다이어그램</a:t>
            </a:r>
          </a:p>
        </p:txBody>
      </p:sp>
      <p:sp>
        <p:nvSpPr>
          <p:cNvPr id="5334" name="Subtitle">
            <a:extLst>
              <a:ext uri="{FF2B5EF4-FFF2-40B4-BE49-F238E27FC236}">
                <a16:creationId xmlns:a16="http://schemas.microsoft.com/office/drawing/2014/main" id="{74EA623E-1A74-44BC-B53C-8143E24C730A}"/>
              </a:ext>
            </a:extLst>
          </p:cNvPr>
          <p:cNvSpPr>
            <a:spLocks noGrp="1"/>
          </p:cNvSpPr>
          <p:nvPr/>
        </p:nvSpPr>
        <p:spPr>
          <a:xfrm>
            <a:off x="822960" y="1764792"/>
            <a:ext cx="16642080" cy="502920"/>
          </a:xfrm>
          <a:prstGeom prst="rect">
            <a:avLst/>
          </a:prstGeom>
          <a:noFill/>
        </p:spPr>
        <p:txBody>
          <a:bodyPr wrap="square" lIns="0" tIns="0" rIns="0" bIns="0" anchor="ctr">
            <a:spAutoFit/>
          </a:bodyPr>
          <a:lstStyle/>
          <a:p>
            <a:pPr algn="ctr">
              <a:buNone/>
            </a:pPr>
            <a:r>
              <a:rPr sz="2600" b="1">
                <a:solidFill>
                  <a:srgbClr val="363A52"/>
                </a:solidFill>
                <a:latin typeface="210 OmniGothic 040"/>
                <a:ea typeface="210 OmniGothic 040"/>
                <a:cs typeface="210 OmniGothic 040"/>
              </a:rPr>
              <a:t>3. 관계 정보 – </a:t>
            </a:r>
            <a:r>
              <a:rPr sz="2600" b="1">
                <a:solidFill>
                  <a:srgbClr val="FAA95A"/>
                </a:solidFill>
                <a:latin typeface="210 OmniGothic 040"/>
                <a:ea typeface="210 OmniGothic 040"/>
                <a:cs typeface="210 OmniGothic 040"/>
              </a:rPr>
              <a:t>도메인 엔티티</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idx="12"/>
          </p:nvPr>
        </p:nvSpPr>
        <p:spPr/>
        <p:txBody>
          <a:bodyPr/>
          <a:lstStyle/>
          <a:p>
            <a:fld id="{B6F15528-21DE-4FAA-801E-634DDDAF4B2B}" type="slidenum">
              <a:rPr/>
              <a:t>65</a:t>
            </a:fld>
            <a:endParaRPr/>
          </a:p>
        </p:txBody>
      </p:sp>
      <p:graphicFrame>
        <p:nvGraphicFramePr>
          <p:cNvPr id="5347" name="Table 5334"/>
          <p:cNvGraphicFramePr/>
          <p:nvPr/>
        </p:nvGraphicFramePr>
        <p:xfrm>
          <a:off x="822960" y="2395728"/>
          <a:ext cx="16459200" cy="5599167"/>
        </p:xfrm>
        <a:graphic>
          <a:graphicData uri="http://schemas.openxmlformats.org/drawingml/2006/table">
            <a:tbl>
              <a:tblPr>
                <a:tableStyleId>{2D5ABB26-0587-4C30-8999-92F81FD0307C}</a:tableStyleId>
              </a:tblPr>
              <a:tblGrid>
                <a:gridCol w="28575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4114800">
                  <a:extLst>
                    <a:ext uri="{9D8B030D-6E8A-4147-A177-3AD203B41FA5}">
                      <a16:colId xmlns:a16="http://schemas.microsoft.com/office/drawing/2014/main" val="20002"/>
                    </a:ext>
                  </a:extLst>
                </a:gridCol>
                <a:gridCol w="6057900">
                  <a:extLst>
                    <a:ext uri="{9D8B030D-6E8A-4147-A177-3AD203B41FA5}">
                      <a16:colId xmlns:a16="http://schemas.microsoft.com/office/drawing/2014/main" val="20003"/>
                    </a:ext>
                  </a:extLst>
                </a:gridCol>
                <a:gridCol w="1143000">
                  <a:extLst>
                    <a:ext uri="{9D8B030D-6E8A-4147-A177-3AD203B41FA5}">
                      <a16:colId xmlns:a16="http://schemas.microsoft.com/office/drawing/2014/main" val="20004"/>
                    </a:ext>
                  </a:extLst>
                </a:gridCol>
              </a:tblGrid>
              <a:tr h="341985">
                <a:tc>
                  <a:txBody>
                    <a:bodyPr/>
                    <a:lstStyle/>
                    <a:p>
                      <a:pPr algn="l">
                        <a:buNone/>
                      </a:pPr>
                      <a:r>
                        <a:rPr sz="1200" b="1">
                          <a:solidFill>
                            <a:srgbClr val="2E3142"/>
                          </a:solidFill>
                          <a:latin typeface="210 OmniGothic 040"/>
                          <a:ea typeface="210 OmniGothic 040"/>
                          <a:cs typeface="210 OmniGothic 040"/>
                        </a:rPr>
                        <a:t>이름</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200" b="1">
                          <a:solidFill>
                            <a:srgbClr val="2E3142"/>
                          </a:solidFill>
                          <a:latin typeface="210 OmniGothic 040"/>
                          <a:ea typeface="210 OmniGothic 040"/>
                          <a:cs typeface="210 OmniGothic 040"/>
                        </a:rPr>
                        <a:t>유형</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200" b="1">
                          <a:solidFill>
                            <a:srgbClr val="2E3142"/>
                          </a:solidFill>
                          <a:latin typeface="210 OmniGothic 040"/>
                          <a:ea typeface="210 OmniGothic 040"/>
                          <a:cs typeface="210 OmniGothic 040"/>
                        </a:rPr>
                        <a:t>관련 클래스</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200" b="1">
                          <a:solidFill>
                            <a:srgbClr val="2E3142"/>
                          </a:solidFill>
                          <a:latin typeface="210 OmniGothic 040"/>
                          <a:ea typeface="210 OmniGothic 040"/>
                          <a:cs typeface="210 OmniGothic 040"/>
                        </a:rPr>
                        <a:t>다중성</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200" b="1">
                          <a:solidFill>
                            <a:srgbClr val="2E3142"/>
                          </a:solidFill>
                          <a:latin typeface="210 OmniGothic 040"/>
                          <a:ea typeface="210 OmniGothic 040"/>
                          <a:cs typeface="210 OmniGothic 040"/>
                        </a:rPr>
                        <a:t>비율</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extLst>
                  <a:ext uri="{0D108BD9-81ED-4DB2-BD59-A6C34878D82A}">
                    <a16:rowId xmlns:a16="http://schemas.microsoft.com/office/drawing/2014/main" val="10000"/>
                  </a:ext>
                </a:extLst>
              </a:tr>
              <a:tr h="469392">
                <a:tc>
                  <a:txBody>
                    <a:bodyPr/>
                    <a:lstStyle/>
                    <a:p>
                      <a:pPr algn="l">
                        <a:buNone/>
                      </a:pPr>
                      <a:r>
                        <a:rPr sz="1150" b="1">
                          <a:solidFill>
                            <a:srgbClr val="2E3142"/>
                          </a:solidFill>
                          <a:latin typeface="210 OmniGothic 040"/>
                          <a:ea typeface="210 OmniGothic 040"/>
                          <a:cs typeface="210 OmniGothic 040"/>
                        </a:rPr>
                        <a:t>Incident</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150" b="0">
                          <a:solidFill>
                            <a:srgbClr val="2E3142"/>
                          </a:solidFill>
                          <a:latin typeface="210 OmniGothic 040"/>
                          <a:ea typeface="210 OmniGothic 040"/>
                          <a:cs typeface="210 OmniGothic 040"/>
                        </a:rPr>
                        <a:t>합성 (Composition)</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150" b="0">
                          <a:solidFill>
                            <a:srgbClr val="2E3142"/>
                          </a:solidFill>
                          <a:latin typeface="210 OmniGothic 040"/>
                          <a:ea typeface="210 OmniGothic 040"/>
                          <a:cs typeface="210 OmniGothic 040"/>
                        </a:rPr>
                        <a:t>IntakeRecord · WeatherSnapshot · RiskAssessment</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150" b="0">
                          <a:solidFill>
                            <a:srgbClr val="2E3142"/>
                          </a:solidFill>
                          <a:latin typeface="210 OmniGothic 040"/>
                          <a:ea typeface="210 OmniGothic 040"/>
                          <a:cs typeface="210 OmniGothic 040"/>
                        </a:rPr>
                        <a:t>Incident(1) — 각 기록(N)</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150" b="0">
                          <a:solidFill>
                            <a:srgbClr val="2E3142"/>
                          </a:solidFill>
                          <a:latin typeface="210 OmniGothic 040"/>
                          <a:ea typeface="210 OmniGothic 040"/>
                          <a:cs typeface="210 OmniGothic 040"/>
                        </a:rPr>
                        <a:t>1:N</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1"/>
                  </a:ext>
                </a:extLst>
              </a:tr>
              <a:tr h="341985">
                <a:tc>
                  <a:txBody>
                    <a:bodyPr/>
                    <a:lstStyle/>
                    <a:p>
                      <a:pPr algn="l">
                        <a:buNone/>
                      </a:pPr>
                      <a:r>
                        <a:rPr sz="1150" b="1">
                          <a:solidFill>
                            <a:srgbClr val="2E3142"/>
                          </a:solidFill>
                          <a:latin typeface="210 OmniGothic 040"/>
                          <a:ea typeface="210 OmniGothic 040"/>
                          <a:cs typeface="210 OmniGothic 040"/>
                        </a:rPr>
                        <a:t>Incident</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150" b="0">
                          <a:solidFill>
                            <a:srgbClr val="2E3142"/>
                          </a:solidFill>
                          <a:latin typeface="210 OmniGothic 040"/>
                          <a:ea typeface="210 OmniGothic 040"/>
                          <a:cs typeface="210 OmniGothic 040"/>
                        </a:rPr>
                        <a:t>합성 (Composition)</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150" b="0">
                          <a:solidFill>
                            <a:srgbClr val="2E3142"/>
                          </a:solidFill>
                          <a:latin typeface="210 OmniGothic 040"/>
                          <a:ea typeface="210 OmniGothic 040"/>
                          <a:cs typeface="210 OmniGothic 040"/>
                        </a:rPr>
                        <a:t>FirePerimeter</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150" b="0">
                          <a:solidFill>
                            <a:srgbClr val="2E3142"/>
                          </a:solidFill>
                          <a:latin typeface="210 OmniGothic 040"/>
                          <a:ea typeface="210 OmniGothic 040"/>
                          <a:cs typeface="210 OmniGothic 040"/>
                        </a:rPr>
                        <a:t>Incident(1) — FirePerimeter(N) (관측 시각별)</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150" b="0">
                          <a:solidFill>
                            <a:srgbClr val="2E3142"/>
                          </a:solidFill>
                          <a:latin typeface="210 OmniGothic 040"/>
                          <a:ea typeface="210 OmniGothic 040"/>
                          <a:cs typeface="210 OmniGothic 040"/>
                        </a:rPr>
                        <a:t>1:N</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2"/>
                  </a:ext>
                </a:extLst>
              </a:tr>
              <a:tr h="341985">
                <a:tc>
                  <a:txBody>
                    <a:bodyPr/>
                    <a:lstStyle/>
                    <a:p>
                      <a:pPr algn="l">
                        <a:buNone/>
                      </a:pPr>
                      <a:r>
                        <a:rPr sz="1150" b="1">
                          <a:solidFill>
                            <a:srgbClr val="2E3142"/>
                          </a:solidFill>
                          <a:latin typeface="210 OmniGothic 040"/>
                          <a:ea typeface="210 OmniGothic 040"/>
                          <a:cs typeface="210 OmniGothic 040"/>
                        </a:rPr>
                        <a:t>Incident</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150" b="0">
                          <a:solidFill>
                            <a:srgbClr val="2E3142"/>
                          </a:solidFill>
                          <a:latin typeface="210 OmniGothic 040"/>
                          <a:ea typeface="210 OmniGothic 040"/>
                          <a:cs typeface="210 OmniGothic 040"/>
                        </a:rPr>
                        <a:t>합성 (Composition)</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150" b="0">
                          <a:solidFill>
                            <a:srgbClr val="2E3142"/>
                          </a:solidFill>
                          <a:latin typeface="210 OmniGothic 040"/>
                          <a:ea typeface="210 OmniGothic 040"/>
                          <a:cs typeface="210 OmniGothic 040"/>
                        </a:rPr>
                        <a:t>PredictionRun · Proposal</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150" b="0">
                          <a:solidFill>
                            <a:srgbClr val="2E3142"/>
                          </a:solidFill>
                          <a:latin typeface="210 OmniGothic 040"/>
                          <a:ea typeface="210 OmniGothic 040"/>
                          <a:cs typeface="210 OmniGothic 040"/>
                        </a:rPr>
                        <a:t>Incident(1) — PredictionRun(N), Proposal(N)</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150" b="0">
                          <a:solidFill>
                            <a:srgbClr val="2E3142"/>
                          </a:solidFill>
                          <a:latin typeface="210 OmniGothic 040"/>
                          <a:ea typeface="210 OmniGothic 040"/>
                          <a:cs typeface="210 OmniGothic 040"/>
                        </a:rPr>
                        <a:t>1:N</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3"/>
                  </a:ext>
                </a:extLst>
              </a:tr>
              <a:tr h="341985">
                <a:tc>
                  <a:txBody>
                    <a:bodyPr/>
                    <a:lstStyle/>
                    <a:p>
                      <a:pPr algn="l">
                        <a:buNone/>
                      </a:pPr>
                      <a:r>
                        <a:rPr sz="1150" b="1">
                          <a:solidFill>
                            <a:srgbClr val="2E3142"/>
                          </a:solidFill>
                          <a:latin typeface="210 OmniGothic 040"/>
                          <a:ea typeface="210 OmniGothic 040"/>
                          <a:cs typeface="210 OmniGothic 040"/>
                        </a:rPr>
                        <a:t>Incident</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150" b="0">
                          <a:solidFill>
                            <a:srgbClr val="2E3142"/>
                          </a:solidFill>
                          <a:latin typeface="210 OmniGothic 040"/>
                          <a:ea typeface="210 OmniGothic 040"/>
                          <a:cs typeface="210 OmniGothic 040"/>
                        </a:rPr>
                        <a:t>합성 (Composition)</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150" b="0">
                          <a:solidFill>
                            <a:srgbClr val="2E3142"/>
                          </a:solidFill>
                          <a:latin typeface="210 OmniGothic 040"/>
                          <a:ea typeface="210 OmniGothic 040"/>
                          <a:cs typeface="210 OmniGothic 040"/>
                        </a:rPr>
                        <a:t>SituationCorrection · ChatMessage</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150" b="0">
                          <a:solidFill>
                            <a:srgbClr val="2E3142"/>
                          </a:solidFill>
                          <a:latin typeface="210 OmniGothic 040"/>
                          <a:ea typeface="210 OmniGothic 040"/>
                          <a:cs typeface="210 OmniGothic 040"/>
                        </a:rPr>
                        <a:t>Incident(1) — SituationCorrection(N), ChatMessage(N)</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150" b="0">
                          <a:solidFill>
                            <a:srgbClr val="2E3142"/>
                          </a:solidFill>
                          <a:latin typeface="210 OmniGothic 040"/>
                          <a:ea typeface="210 OmniGothic 040"/>
                          <a:cs typeface="210 OmniGothic 040"/>
                        </a:rPr>
                        <a:t>1:N</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4"/>
                  </a:ext>
                </a:extLst>
              </a:tr>
              <a:tr h="341985">
                <a:tc>
                  <a:txBody>
                    <a:bodyPr/>
                    <a:lstStyle/>
                    <a:p>
                      <a:pPr algn="l">
                        <a:buNone/>
                      </a:pPr>
                      <a:r>
                        <a:rPr sz="1150" b="1">
                          <a:solidFill>
                            <a:srgbClr val="2E3142"/>
                          </a:solidFill>
                          <a:latin typeface="210 OmniGothic 040"/>
                          <a:ea typeface="210 OmniGothic 040"/>
                          <a:cs typeface="210 OmniGothic 040"/>
                        </a:rPr>
                        <a:t>Incident</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150" b="0">
                          <a:solidFill>
                            <a:srgbClr val="2E3142"/>
                          </a:solidFill>
                          <a:latin typeface="210 OmniGothic 040"/>
                          <a:ea typeface="210 OmniGothic 040"/>
                          <a:cs typeface="210 OmniGothic 040"/>
                        </a:rPr>
                        <a:t>연관 (Association)</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150" b="0">
                          <a:solidFill>
                            <a:srgbClr val="2E3142"/>
                          </a:solidFill>
                          <a:latin typeface="210 OmniGothic 040"/>
                          <a:ea typeface="210 OmniGothic 040"/>
                          <a:cs typeface="210 OmniGothic 040"/>
                        </a:rPr>
                        <a:t>Resource</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150" b="0">
                          <a:solidFill>
                            <a:srgbClr val="2E3142"/>
                          </a:solidFill>
                          <a:latin typeface="210 OmniGothic 040"/>
                          <a:ea typeface="210 OmniGothic 040"/>
                          <a:cs typeface="210 OmniGothic 040"/>
                        </a:rPr>
                        <a:t>Incident(0..1) — Resource(N) (투입된 자원)</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150" b="0">
                          <a:solidFill>
                            <a:srgbClr val="2E3142"/>
                          </a:solidFill>
                          <a:latin typeface="210 OmniGothic 040"/>
                          <a:ea typeface="210 OmniGothic 040"/>
                          <a:cs typeface="210 OmniGothic 040"/>
                        </a:rPr>
                        <a:t>1:N</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5"/>
                  </a:ext>
                </a:extLst>
              </a:tr>
              <a:tr h="341985">
                <a:tc>
                  <a:txBody>
                    <a:bodyPr/>
                    <a:lstStyle/>
                    <a:p>
                      <a:pPr algn="l">
                        <a:buNone/>
                      </a:pPr>
                      <a:r>
                        <a:rPr sz="1150" b="1">
                          <a:solidFill>
                            <a:srgbClr val="2E3142"/>
                          </a:solidFill>
                          <a:latin typeface="210 OmniGothic 040"/>
                          <a:ea typeface="210 OmniGothic 040"/>
                          <a:cs typeface="210 OmniGothic 040"/>
                        </a:rPr>
                        <a:t>FirePerimeter</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150" b="0">
                          <a:solidFill>
                            <a:srgbClr val="2E3142"/>
                          </a:solidFill>
                          <a:latin typeface="210 OmniGothic 040"/>
                          <a:ea typeface="210 OmniGothic 040"/>
                          <a:cs typeface="210 OmniGothic 040"/>
                        </a:rPr>
                        <a:t>연관 (Association)</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150" b="0">
                          <a:solidFill>
                            <a:srgbClr val="2E3142"/>
                          </a:solidFill>
                          <a:latin typeface="210 OmniGothic 040"/>
                          <a:ea typeface="210 OmniGothic 040"/>
                          <a:cs typeface="210 OmniGothic 040"/>
                        </a:rPr>
                        <a:t>PredictionRun</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150" b="0">
                          <a:solidFill>
                            <a:srgbClr val="2E3142"/>
                          </a:solidFill>
                          <a:latin typeface="210 OmniGothic 040"/>
                          <a:ea typeface="210 OmniGothic 040"/>
                          <a:cs typeface="210 OmniGothic 040"/>
                        </a:rPr>
                        <a:t>FirePerimeter(0..1) — PredictionRun(N) (초기 연소 범위)</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150" b="0">
                          <a:solidFill>
                            <a:srgbClr val="2E3142"/>
                          </a:solidFill>
                          <a:latin typeface="210 OmniGothic 040"/>
                          <a:ea typeface="210 OmniGothic 040"/>
                          <a:cs typeface="210 OmniGothic 040"/>
                        </a:rPr>
                        <a:t>1:N</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6"/>
                  </a:ext>
                </a:extLst>
              </a:tr>
              <a:tr h="341985">
                <a:tc>
                  <a:txBody>
                    <a:bodyPr/>
                    <a:lstStyle/>
                    <a:p>
                      <a:pPr algn="l">
                        <a:buNone/>
                      </a:pPr>
                      <a:r>
                        <a:rPr sz="1150" b="1">
                          <a:solidFill>
                            <a:srgbClr val="2E3142"/>
                          </a:solidFill>
                          <a:latin typeface="210 OmniGothic 040"/>
                          <a:ea typeface="210 OmniGothic 040"/>
                          <a:cs typeface="210 OmniGothic 040"/>
                        </a:rPr>
                        <a:t>PredictionRun</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150" b="0">
                          <a:solidFill>
                            <a:srgbClr val="2E3142"/>
                          </a:solidFill>
                          <a:latin typeface="210 OmniGothic 040"/>
                          <a:ea typeface="210 OmniGothic 040"/>
                          <a:cs typeface="210 OmniGothic 040"/>
                        </a:rPr>
                        <a:t>합성 (Composition)</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150" b="0">
                          <a:solidFill>
                            <a:srgbClr val="2E3142"/>
                          </a:solidFill>
                          <a:latin typeface="210 OmniGothic 040"/>
                          <a:ea typeface="210 OmniGothic 040"/>
                          <a:cs typeface="210 OmniGothic 040"/>
                        </a:rPr>
                        <a:t>SpreadSlice</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150" b="0">
                          <a:solidFill>
                            <a:srgbClr val="2E3142"/>
                          </a:solidFill>
                          <a:latin typeface="210 OmniGothic 040"/>
                          <a:ea typeface="210 OmniGothic 040"/>
                          <a:cs typeface="210 OmniGothic 040"/>
                        </a:rPr>
                        <a:t>PredictionRun(1) — SpreadSlice(8)</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150" b="0">
                          <a:solidFill>
                            <a:srgbClr val="2E3142"/>
                          </a:solidFill>
                          <a:latin typeface="210 OmniGothic 040"/>
                          <a:ea typeface="210 OmniGothic 040"/>
                          <a:cs typeface="210 OmniGothic 040"/>
                        </a:rPr>
                        <a:t>1:8</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7"/>
                  </a:ext>
                </a:extLst>
              </a:tr>
              <a:tr h="341985">
                <a:tc>
                  <a:txBody>
                    <a:bodyPr/>
                    <a:lstStyle/>
                    <a:p>
                      <a:pPr algn="l">
                        <a:buNone/>
                      </a:pPr>
                      <a:r>
                        <a:rPr sz="1150" b="1">
                          <a:solidFill>
                            <a:srgbClr val="2E3142"/>
                          </a:solidFill>
                          <a:latin typeface="210 OmniGothic 040"/>
                          <a:ea typeface="210 OmniGothic 040"/>
                          <a:cs typeface="210 OmniGothic 040"/>
                        </a:rPr>
                        <a:t>PredictionRun</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150" b="0">
                          <a:solidFill>
                            <a:srgbClr val="2E3142"/>
                          </a:solidFill>
                          <a:latin typeface="210 OmniGothic 040"/>
                          <a:ea typeface="210 OmniGothic 040"/>
                          <a:cs typeface="210 OmniGothic 040"/>
                        </a:rPr>
                        <a:t>연관 (Association)</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150" b="0">
                          <a:solidFill>
                            <a:srgbClr val="2E3142"/>
                          </a:solidFill>
                          <a:latin typeface="210 OmniGothic 040"/>
                          <a:ea typeface="210 OmniGothic 040"/>
                          <a:cs typeface="210 OmniGothic 040"/>
                        </a:rPr>
                        <a:t>Proposal</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150" b="0">
                          <a:solidFill>
                            <a:srgbClr val="2E3142"/>
                          </a:solidFill>
                          <a:latin typeface="210 OmniGothic 040"/>
                          <a:ea typeface="210 OmniGothic 040"/>
                          <a:cs typeface="210 OmniGothic 040"/>
                        </a:rPr>
                        <a:t>PredictionRun(1) — Proposal(N) (예측 갱신 버전 + 정정 버전)</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150" b="0">
                          <a:solidFill>
                            <a:srgbClr val="2E3142"/>
                          </a:solidFill>
                          <a:latin typeface="210 OmniGothic 040"/>
                          <a:ea typeface="210 OmniGothic 040"/>
                          <a:cs typeface="210 OmniGothic 040"/>
                        </a:rPr>
                        <a:t>1:N</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8"/>
                  </a:ext>
                </a:extLst>
              </a:tr>
              <a:tr h="341985">
                <a:tc>
                  <a:txBody>
                    <a:bodyPr/>
                    <a:lstStyle/>
                    <a:p>
                      <a:pPr algn="l">
                        <a:buNone/>
                      </a:pPr>
                      <a:r>
                        <a:rPr sz="1150" b="1">
                          <a:solidFill>
                            <a:srgbClr val="2E3142"/>
                          </a:solidFill>
                          <a:latin typeface="210 OmniGothic 040"/>
                          <a:ea typeface="210 OmniGothic 040"/>
                          <a:cs typeface="210 OmniGothic 040"/>
                        </a:rPr>
                        <a:t>PredictionRun</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150" b="0">
                          <a:solidFill>
                            <a:srgbClr val="2E3142"/>
                          </a:solidFill>
                          <a:latin typeface="210 OmniGothic 040"/>
                          <a:ea typeface="210 OmniGothic 040"/>
                          <a:cs typeface="210 OmniGothic 040"/>
                        </a:rPr>
                        <a:t>연관 (Association)</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150" b="0">
                          <a:solidFill>
                            <a:srgbClr val="FF0000"/>
                          </a:solidFill>
                          <a:latin typeface="210 OmniGothic 040"/>
                          <a:ea typeface="210 OmniGothic 040"/>
                          <a:cs typeface="210 OmniGothic 040"/>
                        </a:rPr>
                        <a:t>RiskAssessment</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150" b="0">
                          <a:solidFill>
                            <a:srgbClr val="FF0000"/>
                          </a:solidFill>
                          <a:latin typeface="210 OmniGothic 040"/>
                          <a:ea typeface="210 OmniGothic 040"/>
                          <a:cs typeface="210 OmniGothic 040"/>
                        </a:rPr>
                        <a:t>PredictionRun(1) — RiskAssessment(0..1) (예측마다 P5 위험도 1개)</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150" b="0">
                          <a:solidFill>
                            <a:srgbClr val="2E3142"/>
                          </a:solidFill>
                          <a:latin typeface="210 OmniGothic 040"/>
                          <a:ea typeface="210 OmniGothic 040"/>
                          <a:cs typeface="210 OmniGothic 040"/>
                        </a:rPr>
                        <a:t>1:1</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2965430447"/>
                  </a:ext>
                </a:extLst>
              </a:tr>
              <a:tr h="341985">
                <a:tc>
                  <a:txBody>
                    <a:bodyPr/>
                    <a:lstStyle/>
                    <a:p>
                      <a:pPr algn="l">
                        <a:buNone/>
                      </a:pPr>
                      <a:r>
                        <a:rPr sz="1150" b="1">
                          <a:solidFill>
                            <a:srgbClr val="2E3142"/>
                          </a:solidFill>
                          <a:latin typeface="210 OmniGothic 040"/>
                          <a:ea typeface="210 OmniGothic 040"/>
                          <a:cs typeface="210 OmniGothic 040"/>
                        </a:rPr>
                        <a:t>SituationCorrection</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150" b="0">
                          <a:solidFill>
                            <a:srgbClr val="2E3142"/>
                          </a:solidFill>
                          <a:latin typeface="210 OmniGothic 040"/>
                          <a:ea typeface="210 OmniGothic 040"/>
                          <a:cs typeface="210 OmniGothic 040"/>
                        </a:rPr>
                        <a:t>연관 (Association)</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150" b="0">
                          <a:solidFill>
                            <a:srgbClr val="2E3142"/>
                          </a:solidFill>
                          <a:latin typeface="210 OmniGothic 040"/>
                          <a:ea typeface="210 OmniGothic 040"/>
                          <a:cs typeface="210 OmniGothic 040"/>
                        </a:rPr>
                        <a:t>Proposal</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150" b="0">
                          <a:solidFill>
                            <a:srgbClr val="2E3142"/>
                          </a:solidFill>
                          <a:latin typeface="210 OmniGothic 040"/>
                          <a:ea typeface="210 OmniGothic 040"/>
                          <a:cs typeface="210 OmniGothic 040"/>
                        </a:rPr>
                        <a:t>SituationCorrection(1) — Proposal(0..1)</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150" b="0">
                          <a:solidFill>
                            <a:srgbClr val="2E3142"/>
                          </a:solidFill>
                          <a:latin typeface="210 OmniGothic 040"/>
                          <a:ea typeface="210 OmniGothic 040"/>
                          <a:cs typeface="210 OmniGothic 040"/>
                        </a:rPr>
                        <a:t>1:1</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9"/>
                  </a:ext>
                </a:extLst>
              </a:tr>
              <a:tr h="341985">
                <a:tc>
                  <a:txBody>
                    <a:bodyPr/>
                    <a:lstStyle/>
                    <a:p>
                      <a:pPr algn="l">
                        <a:buNone/>
                      </a:pPr>
                      <a:r>
                        <a:rPr sz="1150" b="1">
                          <a:solidFill>
                            <a:srgbClr val="2E3142"/>
                          </a:solidFill>
                          <a:latin typeface="210 OmniGothic 040"/>
                          <a:ea typeface="210 OmniGothic 040"/>
                          <a:cs typeface="210 OmniGothic 040"/>
                        </a:rPr>
                        <a:t>Proposal</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150" b="0">
                          <a:solidFill>
                            <a:srgbClr val="2E3142"/>
                          </a:solidFill>
                          <a:latin typeface="210 OmniGothic 040"/>
                          <a:ea typeface="210 OmniGothic 040"/>
                          <a:cs typeface="210 OmniGothic 040"/>
                        </a:rPr>
                        <a:t>합성 (Composition)</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150" b="0">
                          <a:solidFill>
                            <a:srgbClr val="2E3142"/>
                          </a:solidFill>
                          <a:latin typeface="210 OmniGothic 040"/>
                          <a:ea typeface="210 OmniGothic 040"/>
                          <a:cs typeface="210 OmniGothic 040"/>
                        </a:rPr>
                        <a:t>ProposalItem</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150" b="0">
                          <a:solidFill>
                            <a:srgbClr val="2E3142"/>
                          </a:solidFill>
                          <a:latin typeface="210 OmniGothic 040"/>
                          <a:ea typeface="210 OmniGothic 040"/>
                          <a:cs typeface="210 OmniGothic 040"/>
                        </a:rPr>
                        <a:t>Proposal(1) — ProposalItem(≤14)</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150" b="0">
                          <a:solidFill>
                            <a:srgbClr val="2E3142"/>
                          </a:solidFill>
                          <a:latin typeface="210 OmniGothic 040"/>
                          <a:ea typeface="210 OmniGothic 040"/>
                          <a:cs typeface="210 OmniGothic 040"/>
                        </a:rPr>
                        <a:t>1:N</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10"/>
                  </a:ext>
                </a:extLst>
              </a:tr>
              <a:tr h="341985">
                <a:tc>
                  <a:txBody>
                    <a:bodyPr/>
                    <a:lstStyle/>
                    <a:p>
                      <a:pPr algn="l">
                        <a:buNone/>
                      </a:pPr>
                      <a:r>
                        <a:rPr sz="1150" b="1">
                          <a:solidFill>
                            <a:srgbClr val="2E3142"/>
                          </a:solidFill>
                          <a:latin typeface="210 OmniGothic 040"/>
                          <a:ea typeface="210 OmniGothic 040"/>
                          <a:cs typeface="210 OmniGothic 040"/>
                        </a:rPr>
                        <a:t>ProposalItem · ChatMessage</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150" b="0">
                          <a:solidFill>
                            <a:srgbClr val="2E3142"/>
                          </a:solidFill>
                          <a:latin typeface="210 OmniGothic 040"/>
                          <a:ea typeface="210 OmniGothic 040"/>
                          <a:cs typeface="210 OmniGothic 040"/>
                        </a:rPr>
                        <a:t>합성 (Composition)</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150" b="0">
                          <a:solidFill>
                            <a:srgbClr val="2E3142"/>
                          </a:solidFill>
                          <a:latin typeface="210 OmniGothic 040"/>
                          <a:ea typeface="210 OmniGothic 040"/>
                          <a:cs typeface="210 OmniGothic 040"/>
                        </a:rPr>
                        <a:t>Citation</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150" b="0">
                          <a:solidFill>
                            <a:srgbClr val="2E3142"/>
                          </a:solidFill>
                          <a:latin typeface="210 OmniGothic 040"/>
                          <a:ea typeface="210 OmniGothic 040"/>
                          <a:cs typeface="210 OmniGothic 040"/>
                        </a:rPr>
                        <a:t>ProposalItem(1)·ChatMessage(1) — Citation(N)</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150" b="0">
                          <a:solidFill>
                            <a:srgbClr val="2E3142"/>
                          </a:solidFill>
                          <a:latin typeface="210 OmniGothic 040"/>
                          <a:ea typeface="210 OmniGothic 040"/>
                          <a:cs typeface="210 OmniGothic 040"/>
                        </a:rPr>
                        <a:t>1:N</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11"/>
                  </a:ext>
                </a:extLst>
              </a:tr>
              <a:tr h="341985">
                <a:tc>
                  <a:txBody>
                    <a:bodyPr/>
                    <a:lstStyle/>
                    <a:p>
                      <a:pPr algn="l">
                        <a:buNone/>
                      </a:pPr>
                      <a:r>
                        <a:rPr sz="1150" b="1">
                          <a:solidFill>
                            <a:srgbClr val="2E3142"/>
                          </a:solidFill>
                          <a:latin typeface="210 OmniGothic 040"/>
                          <a:ea typeface="210 OmniGothic 040"/>
                          <a:cs typeface="210 OmniGothic 040"/>
                        </a:rPr>
                        <a:t>EvidenceChunk</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150" b="0">
                          <a:solidFill>
                            <a:srgbClr val="2E3142"/>
                          </a:solidFill>
                          <a:latin typeface="210 OmniGothic 040"/>
                          <a:ea typeface="210 OmniGothic 040"/>
                          <a:cs typeface="210 OmniGothic 040"/>
                        </a:rPr>
                        <a:t>연관 (Association)</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150" b="0">
                          <a:solidFill>
                            <a:srgbClr val="2E3142"/>
                          </a:solidFill>
                          <a:latin typeface="210 OmniGothic 040"/>
                          <a:ea typeface="210 OmniGothic 040"/>
                          <a:cs typeface="210 OmniGothic 040"/>
                        </a:rPr>
                        <a:t>Citation</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150" b="0">
                          <a:solidFill>
                            <a:srgbClr val="2E3142"/>
                          </a:solidFill>
                          <a:latin typeface="210 OmniGothic 040"/>
                          <a:ea typeface="210 OmniGothic 040"/>
                          <a:cs typeface="210 OmniGothic 040"/>
                        </a:rPr>
                        <a:t>EvidenceChunk(1) — Citation(N)</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150" b="0">
                          <a:solidFill>
                            <a:srgbClr val="2E3142"/>
                          </a:solidFill>
                          <a:latin typeface="210 OmniGothic 040"/>
                          <a:ea typeface="210 OmniGothic 040"/>
                          <a:cs typeface="210 OmniGothic 040"/>
                        </a:rPr>
                        <a:t>1:N</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12"/>
                  </a:ext>
                </a:extLst>
              </a:tr>
              <a:tr h="341985">
                <a:tc>
                  <a:txBody>
                    <a:bodyPr/>
                    <a:lstStyle/>
                    <a:p>
                      <a:pPr algn="l">
                        <a:buNone/>
                      </a:pPr>
                      <a:r>
                        <a:rPr sz="1150" b="1">
                          <a:solidFill>
                            <a:srgbClr val="2E3142"/>
                          </a:solidFill>
                          <a:latin typeface="210 OmniGothic 040"/>
                          <a:ea typeface="210 OmniGothic 040"/>
                          <a:cs typeface="210 OmniGothic 040"/>
                        </a:rPr>
                        <a:t>User</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150" b="0">
                          <a:solidFill>
                            <a:srgbClr val="2E3142"/>
                          </a:solidFill>
                          <a:latin typeface="210 OmniGothic 040"/>
                          <a:ea typeface="210 OmniGothic 040"/>
                          <a:cs typeface="210 OmniGothic 040"/>
                        </a:rPr>
                        <a:t>연관 (Association)</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150" b="0">
                          <a:solidFill>
                            <a:srgbClr val="2E3142"/>
                          </a:solidFill>
                          <a:latin typeface="210 OmniGothic 040"/>
                          <a:ea typeface="210 OmniGothic 040"/>
                          <a:cs typeface="210 OmniGothic 040"/>
                        </a:rPr>
                        <a:t>EventLog · ChatMessage · PredictionRun 등</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150" b="0">
                          <a:solidFill>
                            <a:srgbClr val="2E3142"/>
                          </a:solidFill>
                          <a:latin typeface="210 OmniGothic 040"/>
                          <a:ea typeface="210 OmniGothic 040"/>
                          <a:cs typeface="210 OmniGothic 040"/>
                        </a:rPr>
                        <a:t>User(1) — 각 기록(N) (행위자)</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150" b="0">
                          <a:solidFill>
                            <a:srgbClr val="2E3142"/>
                          </a:solidFill>
                          <a:latin typeface="210 OmniGothic 040"/>
                          <a:ea typeface="210 OmniGothic 040"/>
                          <a:cs typeface="210 OmniGothic 040"/>
                        </a:rPr>
                        <a:t>1:N</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13"/>
                  </a:ext>
                </a:extLst>
              </a:tr>
              <a:tr h="341985">
                <a:tc>
                  <a:txBody>
                    <a:bodyPr/>
                    <a:lstStyle/>
                    <a:p>
                      <a:pPr algn="l">
                        <a:buNone/>
                      </a:pPr>
                      <a:r>
                        <a:rPr sz="1150" b="1">
                          <a:solidFill>
                            <a:srgbClr val="2E3142"/>
                          </a:solidFill>
                          <a:latin typeface="210 OmniGothic 040"/>
                          <a:ea typeface="210 OmniGothic 040"/>
                          <a:cs typeface="210 OmniGothic 040"/>
                        </a:rPr>
                        <a:t>Village, Facility</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150" b="0">
                          <a:solidFill>
                            <a:srgbClr val="2E3142"/>
                          </a:solidFill>
                          <a:latin typeface="210 OmniGothic 040"/>
                          <a:ea typeface="210 OmniGothic 040"/>
                          <a:cs typeface="210 OmniGothic 040"/>
                        </a:rPr>
                        <a:t>연관 (Association)</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150" b="0">
                          <a:solidFill>
                            <a:srgbClr val="2E3142"/>
                          </a:solidFill>
                          <a:latin typeface="210 OmniGothic 040"/>
                          <a:ea typeface="210 OmniGothic 040"/>
                          <a:cs typeface="210 OmniGothic 040"/>
                        </a:rPr>
                        <a:t>SpreadSlice · FirePerimeter</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150" b="0">
                          <a:solidFill>
                            <a:srgbClr val="2E3142"/>
                          </a:solidFill>
                          <a:latin typeface="210 OmniGothic 040"/>
                          <a:ea typeface="210 OmniGothic 040"/>
                          <a:cs typeface="210 OmniGothic 040"/>
                        </a:rPr>
                        <a:t>공간 교차(ST_Intersects)로만 연결</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150" b="0">
                          <a:solidFill>
                            <a:srgbClr val="2E3142"/>
                          </a:solidFill>
                          <a:latin typeface="210 OmniGothic 040"/>
                          <a:ea typeface="210 OmniGothic 040"/>
                          <a:cs typeface="210 OmniGothic 040"/>
                        </a:rPr>
                        <a:t>N:M</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14"/>
                  </a:ext>
                </a:extLst>
              </a:tr>
            </a:tbl>
          </a:graphicData>
        </a:graphic>
      </p:graphicFrame>
    </p:spTree>
    <p:extLst>
      <p:ext uri="{BB962C8B-B14F-4D97-AF65-F5344CB8AC3E}">
        <p14:creationId xmlns:p14="http://schemas.microsoft.com/office/powerpoint/2010/main" val="203642741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45" name="Picture 2"/>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700" y="-12700"/>
            <a:ext cx="18313400" cy="1638300"/>
          </a:xfrm>
          <a:prstGeom prst="rect">
            <a:avLst/>
          </a:prstGeom>
        </p:spPr>
      </p:pic>
      <p:pic>
        <p:nvPicPr>
          <p:cNvPr id="5346" name="Picture 4"/>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28" y="1618343"/>
            <a:ext cx="18313400" cy="8699500"/>
          </a:xfrm>
          <a:prstGeom prst="rect">
            <a:avLst/>
          </a:prstGeom>
        </p:spPr>
      </p:pic>
      <p:pic>
        <p:nvPicPr>
          <p:cNvPr id="5347" name="Picture 5"/>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58800" y="9271000"/>
            <a:ext cx="17170400" cy="50800"/>
          </a:xfrm>
          <a:prstGeom prst="rect">
            <a:avLst/>
          </a:prstGeom>
        </p:spPr>
      </p:pic>
      <p:pic>
        <p:nvPicPr>
          <p:cNvPr id="5348" name="Picture 3"/>
          <p:cNvPicPr>
            <a:picLocks noChangeAspect="1"/>
          </p:cNvPicPr>
          <p:nvPr/>
        </p:nvPicPr>
        <p:blipFill>
          <a:blip>
            <a:extLst>
              <a:ext uri="{96DAC541-7B7A-43D3-8B79-37D633B846F1}">
                <asvg:svgBlip xmlns:asvg="http://schemas.microsoft.com/office/drawing/2016/SVG/main" r:embed="rId6"/>
              </a:ext>
            </a:extLst>
          </a:blip>
          <a:srcRect b="43005"/>
          <a:stretch>
            <a:fillRect/>
          </a:stretch>
        </p:blipFill>
        <p:spPr>
          <a:xfrm>
            <a:off x="15443200" y="228600"/>
            <a:ext cx="1384300" cy="1397000"/>
          </a:xfrm>
          <a:prstGeom prst="rect">
            <a:avLst/>
          </a:prstGeom>
        </p:spPr>
      </p:pic>
      <p:sp>
        <p:nvSpPr>
          <p:cNvPr id="5338" name="Title">
            <a:extLst>
              <a:ext uri="{FF2B5EF4-FFF2-40B4-BE49-F238E27FC236}">
                <a16:creationId xmlns:a16="http://schemas.microsoft.com/office/drawing/2014/main" id="{F35D6DBB-AD86-4B77-96FF-B3D518B08666}"/>
              </a:ext>
            </a:extLst>
          </p:cNvPr>
          <p:cNvSpPr>
            <a:spLocks noGrp="1"/>
          </p:cNvSpPr>
          <p:nvPr/>
        </p:nvSpPr>
        <p:spPr>
          <a:xfrm>
            <a:off x="822960" y="384048"/>
            <a:ext cx="13258800" cy="877824"/>
          </a:xfrm>
          <a:prstGeom prst="rect">
            <a:avLst/>
          </a:prstGeom>
          <a:noFill/>
        </p:spPr>
        <p:txBody>
          <a:bodyPr wrap="square" lIns="0" tIns="0" rIns="0" bIns="0" anchor="ctr">
            <a:spAutoFit/>
          </a:bodyPr>
          <a:lstStyle/>
          <a:p>
            <a:pPr algn="l">
              <a:buNone/>
            </a:pPr>
            <a:r>
              <a:rPr sz="4400" b="0">
                <a:solidFill>
                  <a:srgbClr val="FAA95A"/>
                </a:solidFill>
                <a:latin typeface="210 OmniGothic 050"/>
                <a:ea typeface="210 OmniGothic 050"/>
                <a:cs typeface="210 OmniGothic 050"/>
              </a:rPr>
              <a:t>05. 클래스 다이어그램</a:t>
            </a:r>
          </a:p>
        </p:txBody>
      </p:sp>
      <p:sp>
        <p:nvSpPr>
          <p:cNvPr id="5339" name="Subtitle">
            <a:extLst>
              <a:ext uri="{FF2B5EF4-FFF2-40B4-BE49-F238E27FC236}">
                <a16:creationId xmlns:a16="http://schemas.microsoft.com/office/drawing/2014/main" id="{EC28B579-F116-4A6F-8CD7-F894AB570A7F}"/>
              </a:ext>
            </a:extLst>
          </p:cNvPr>
          <p:cNvSpPr>
            <a:spLocks noGrp="1"/>
          </p:cNvSpPr>
          <p:nvPr/>
        </p:nvSpPr>
        <p:spPr>
          <a:xfrm>
            <a:off x="822960" y="1764792"/>
            <a:ext cx="16642080" cy="502920"/>
          </a:xfrm>
          <a:prstGeom prst="rect">
            <a:avLst/>
          </a:prstGeom>
          <a:noFill/>
        </p:spPr>
        <p:txBody>
          <a:bodyPr wrap="square" lIns="0" tIns="0" rIns="0" bIns="0" anchor="ctr">
            <a:spAutoFit/>
          </a:bodyPr>
          <a:lstStyle/>
          <a:p>
            <a:pPr algn="ctr">
              <a:buNone/>
            </a:pPr>
            <a:r>
              <a:rPr sz="2600" b="1">
                <a:solidFill>
                  <a:srgbClr val="363A52"/>
                </a:solidFill>
                <a:latin typeface="210 OmniGothic 040"/>
                <a:ea typeface="210 OmniGothic 040"/>
                <a:cs typeface="210 OmniGothic 040"/>
              </a:rPr>
              <a:t>3. 관계 정보 – </a:t>
            </a:r>
            <a:r>
              <a:rPr sz="2600" b="1">
                <a:solidFill>
                  <a:srgbClr val="FAA95A"/>
                </a:solidFill>
                <a:latin typeface="210 OmniGothic 040"/>
                <a:ea typeface="210 OmniGothic 040"/>
                <a:cs typeface="210 OmniGothic 040"/>
              </a:rPr>
              <a:t>논리 컴포넌트</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idx="12"/>
          </p:nvPr>
        </p:nvSpPr>
        <p:spPr/>
        <p:txBody>
          <a:bodyPr/>
          <a:lstStyle/>
          <a:p>
            <a:fld id="{B6F15528-21DE-4FAA-801E-634DDDAF4B2B}" type="slidenum">
              <a:t>66</a:t>
            </a:fld>
            <a:endParaRPr/>
          </a:p>
        </p:txBody>
      </p:sp>
      <p:graphicFrame>
        <p:nvGraphicFramePr>
          <p:cNvPr id="5352" name="Table 5339"/>
          <p:cNvGraphicFramePr/>
          <p:nvPr/>
        </p:nvGraphicFramePr>
        <p:xfrm>
          <a:off x="822960" y="2395728"/>
          <a:ext cx="16459200" cy="4103820"/>
        </p:xfrm>
        <a:graphic>
          <a:graphicData uri="http://schemas.openxmlformats.org/drawingml/2006/table">
            <a:tbl>
              <a:tblPr>
                <a:tableStyleId>{2D5ABB26-0587-4C30-8999-92F81FD0307C}</a:tableStyleId>
              </a:tblPr>
              <a:tblGrid>
                <a:gridCol w="3200400">
                  <a:extLst>
                    <a:ext uri="{9D8B030D-6E8A-4147-A177-3AD203B41FA5}">
                      <a16:colId xmlns:a16="http://schemas.microsoft.com/office/drawing/2014/main" val="20000"/>
                    </a:ext>
                  </a:extLst>
                </a:gridCol>
                <a:gridCol w="2171700">
                  <a:extLst>
                    <a:ext uri="{9D8B030D-6E8A-4147-A177-3AD203B41FA5}">
                      <a16:colId xmlns:a16="http://schemas.microsoft.com/office/drawing/2014/main" val="20001"/>
                    </a:ext>
                  </a:extLst>
                </a:gridCol>
                <a:gridCol w="5143500">
                  <a:extLst>
                    <a:ext uri="{9D8B030D-6E8A-4147-A177-3AD203B41FA5}">
                      <a16:colId xmlns:a16="http://schemas.microsoft.com/office/drawing/2014/main" val="20002"/>
                    </a:ext>
                  </a:extLst>
                </a:gridCol>
                <a:gridCol w="5943600">
                  <a:extLst>
                    <a:ext uri="{9D8B030D-6E8A-4147-A177-3AD203B41FA5}">
                      <a16:colId xmlns:a16="http://schemas.microsoft.com/office/drawing/2014/main" val="20003"/>
                    </a:ext>
                  </a:extLst>
                </a:gridCol>
              </a:tblGrid>
              <a:tr h="341985">
                <a:tc>
                  <a:txBody>
                    <a:bodyPr/>
                    <a:lstStyle/>
                    <a:p>
                      <a:pPr algn="l">
                        <a:buNone/>
                      </a:pPr>
                      <a:r>
                        <a:rPr sz="1200" b="1">
                          <a:solidFill>
                            <a:srgbClr val="2E3142"/>
                          </a:solidFill>
                          <a:latin typeface="210 OmniGothic 040"/>
                          <a:ea typeface="210 OmniGothic 040"/>
                          <a:cs typeface="210 OmniGothic 040"/>
                        </a:rPr>
                        <a:t>이름</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200" b="1">
                          <a:solidFill>
                            <a:srgbClr val="2E3142"/>
                          </a:solidFill>
                          <a:latin typeface="210 OmniGothic 040"/>
                          <a:ea typeface="210 OmniGothic 040"/>
                          <a:cs typeface="210 OmniGothic 040"/>
                        </a:rPr>
                        <a:t>유형</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200" b="1">
                          <a:solidFill>
                            <a:srgbClr val="2E3142"/>
                          </a:solidFill>
                          <a:latin typeface="210 OmniGothic 040"/>
                          <a:ea typeface="210 OmniGothic 040"/>
                          <a:cs typeface="210 OmniGothic 040"/>
                        </a:rPr>
                        <a:t>관련 클래스</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200" b="1">
                          <a:solidFill>
                            <a:srgbClr val="2E3142"/>
                          </a:solidFill>
                          <a:latin typeface="210 OmniGothic 040"/>
                          <a:ea typeface="210 OmniGothic 040"/>
                          <a:cs typeface="210 OmniGothic 040"/>
                        </a:rPr>
                        <a:t>설명</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extLst>
                  <a:ext uri="{0D108BD9-81ED-4DB2-BD59-A6C34878D82A}">
                    <a16:rowId xmlns:a16="http://schemas.microsoft.com/office/drawing/2014/main" val="10000"/>
                  </a:ext>
                </a:extLst>
              </a:tr>
              <a:tr h="341985">
                <a:tc>
                  <a:txBody>
                    <a:bodyPr/>
                    <a:lstStyle/>
                    <a:p>
                      <a:pPr algn="l">
                        <a:buNone/>
                      </a:pPr>
                      <a:r>
                        <a:rPr sz="1150" b="1">
                          <a:solidFill>
                            <a:srgbClr val="2E3142"/>
                          </a:solidFill>
                          <a:latin typeface="210 OmniGothic 040"/>
                          <a:ea typeface="210 OmniGothic 040"/>
                          <a:cs typeface="210 OmniGothic 040"/>
                        </a:rPr>
                        <a:t>AuthRouter</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150" b="0">
                          <a:solidFill>
                            <a:srgbClr val="2E3142"/>
                          </a:solidFill>
                          <a:latin typeface="210 OmniGothic 040"/>
                          <a:ea typeface="210 OmniGothic 040"/>
                          <a:cs typeface="210 OmniGothic 040"/>
                        </a:rPr>
                        <a:t>의존 (Dependency)</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150" b="0">
                          <a:solidFill>
                            <a:srgbClr val="2E3142"/>
                          </a:solidFill>
                          <a:latin typeface="210 OmniGothic 040"/>
                          <a:ea typeface="210 OmniGothic 040"/>
                          <a:cs typeface="210 OmniGothic 040"/>
                        </a:rPr>
                        <a:t>SecurityService, User, EventLogger</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150" b="0">
                          <a:solidFill>
                            <a:srgbClr val="2E3142"/>
                          </a:solidFill>
                          <a:latin typeface="210 OmniGothic 040"/>
                          <a:ea typeface="210 OmniGothic 040"/>
                          <a:cs typeface="210 OmniGothic 040"/>
                        </a:rPr>
                        <a:t>login() → verify_password() · create_token(), 로그인 성공 시 이벤트 기록</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1"/>
                  </a:ext>
                </a:extLst>
              </a:tr>
              <a:tr h="341985">
                <a:tc>
                  <a:txBody>
                    <a:bodyPr/>
                    <a:lstStyle/>
                    <a:p>
                      <a:pPr algn="l">
                        <a:buNone/>
                      </a:pPr>
                      <a:r>
                        <a:rPr sz="1150" b="1">
                          <a:solidFill>
                            <a:srgbClr val="2E3142"/>
                          </a:solidFill>
                          <a:latin typeface="210 OmniGothic 040"/>
                          <a:ea typeface="210 OmniGothic 040"/>
                          <a:cs typeface="210 OmniGothic 040"/>
                        </a:rPr>
                        <a:t>AdminRouter</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150" b="0">
                          <a:solidFill>
                            <a:srgbClr val="2E3142"/>
                          </a:solidFill>
                          <a:latin typeface="210 OmniGothic 040"/>
                          <a:ea typeface="210 OmniGothic 040"/>
                          <a:cs typeface="210 OmniGothic 040"/>
                        </a:rPr>
                        <a:t>의존 (Dependency)</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150" b="0">
                          <a:solidFill>
                            <a:srgbClr val="2E3142"/>
                          </a:solidFill>
                          <a:latin typeface="210 OmniGothic 040"/>
                          <a:ea typeface="210 OmniGothic 040"/>
                          <a:cs typeface="210 OmniGothic 040"/>
                        </a:rPr>
                        <a:t>SecurityService, EventLogger, User, Resource</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150" b="0">
                          <a:solidFill>
                            <a:srgbClr val="2E3142"/>
                          </a:solidFill>
                          <a:latin typeface="210 OmniGothic 040"/>
                          <a:ea typeface="210 OmniGothic 040"/>
                          <a:cs typeface="210 OmniGothic 040"/>
                        </a:rPr>
                        <a:t>require_role(ADMIN) 후 계정·자원 저장, 변경 기록</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2"/>
                  </a:ext>
                </a:extLst>
              </a:tr>
              <a:tr h="341985">
                <a:tc>
                  <a:txBody>
                    <a:bodyPr/>
                    <a:lstStyle/>
                    <a:p>
                      <a:pPr algn="l">
                        <a:buNone/>
                      </a:pPr>
                      <a:r>
                        <a:rPr sz="1150" b="1">
                          <a:solidFill>
                            <a:srgbClr val="2E3142"/>
                          </a:solidFill>
                          <a:latin typeface="210 OmniGothic 040"/>
                          <a:ea typeface="210 OmniGothic 040"/>
                          <a:cs typeface="210 OmniGothic 040"/>
                        </a:rPr>
                        <a:t>IncidentRouter</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150" b="0">
                          <a:solidFill>
                            <a:srgbClr val="2E3142"/>
                          </a:solidFill>
                          <a:latin typeface="210 OmniGothic 040"/>
                          <a:ea typeface="210 OmniGothic 040"/>
                          <a:cs typeface="210 OmniGothic 040"/>
                        </a:rPr>
                        <a:t>의존 (Dependency)</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150" b="0">
                          <a:solidFill>
                            <a:srgbClr val="2E3142"/>
                          </a:solidFill>
                          <a:latin typeface="210 OmniGothic 040"/>
                          <a:ea typeface="210 OmniGothic 040"/>
                          <a:cs typeface="210 OmniGothic 040"/>
                        </a:rPr>
                        <a:t>EventLogger, Incident, FirePerimeter</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150" b="0">
                          <a:solidFill>
                            <a:srgbClr val="2E3142"/>
                          </a:solidFill>
                          <a:latin typeface="210 OmniGothic 040"/>
                          <a:ea typeface="210 OmniGothic 040"/>
                          <a:cs typeface="210 OmniGothic 040"/>
                        </a:rPr>
                        <a:t>발화 정보·실측 화선 저장, 종료 처리 후 이벤트 기록</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3"/>
                  </a:ext>
                </a:extLst>
              </a:tr>
              <a:tr h="341985">
                <a:tc>
                  <a:txBody>
                    <a:bodyPr/>
                    <a:lstStyle/>
                    <a:p>
                      <a:pPr algn="l">
                        <a:buNone/>
                      </a:pPr>
                      <a:r>
                        <a:rPr sz="1150" b="1">
                          <a:solidFill>
                            <a:srgbClr val="2E3142"/>
                          </a:solidFill>
                          <a:latin typeface="210 OmniGothic 040"/>
                          <a:ea typeface="210 OmniGothic 040"/>
                          <a:cs typeface="210 OmniGothic 040"/>
                        </a:rPr>
                        <a:t>MapRouter</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150" b="0">
                          <a:solidFill>
                            <a:srgbClr val="2E3142"/>
                          </a:solidFill>
                          <a:latin typeface="210 OmniGothic 040"/>
                          <a:ea typeface="210 OmniGothic 040"/>
                          <a:cs typeface="210 OmniGothic 040"/>
                        </a:rPr>
                        <a:t>의존 (Dependency)</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150" b="0">
                          <a:solidFill>
                            <a:srgbClr val="2E3142"/>
                          </a:solidFill>
                          <a:latin typeface="210 OmniGothic 040"/>
                          <a:ea typeface="210 OmniGothic 040"/>
                          <a:cs typeface="210 OmniGothic 040"/>
                        </a:rPr>
                        <a:t>Village, Facility, Resource, FirePerimeter</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150" b="0">
                          <a:solidFill>
                            <a:srgbClr val="2E3142"/>
                          </a:solidFill>
                          <a:latin typeface="210 OmniGothic 040"/>
                          <a:ea typeface="210 OmniGothic 040"/>
                          <a:cs typeface="210 OmniGothic 040"/>
                        </a:rPr>
                        <a:t>저장소 조회 전용</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4"/>
                  </a:ext>
                </a:extLst>
              </a:tr>
              <a:tr h="341985">
                <a:tc>
                  <a:txBody>
                    <a:bodyPr/>
                    <a:lstStyle/>
                    <a:p>
                      <a:pPr algn="l">
                        <a:buNone/>
                      </a:pPr>
                      <a:r>
                        <a:rPr sz="1150" b="1">
                          <a:solidFill>
                            <a:srgbClr val="2E3142"/>
                          </a:solidFill>
                          <a:latin typeface="210 OmniGothic 040"/>
                          <a:ea typeface="210 OmniGothic 040"/>
                          <a:cs typeface="210 OmniGothic 040"/>
                        </a:rPr>
                        <a:t>ProposalRouter</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150" b="0">
                          <a:solidFill>
                            <a:srgbClr val="2E3142"/>
                          </a:solidFill>
                          <a:latin typeface="210 OmniGothic 040"/>
                          <a:ea typeface="210 OmniGothic 040"/>
                          <a:cs typeface="210 OmniGothic 040"/>
                        </a:rPr>
                        <a:t>의존 (Dependency)</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150" b="0">
                          <a:solidFill>
                            <a:srgbClr val="2E3142"/>
                          </a:solidFill>
                          <a:latin typeface="210 OmniGothic 040"/>
                          <a:ea typeface="210 OmniGothic 040"/>
                          <a:cs typeface="210 OmniGothic 040"/>
                        </a:rPr>
                        <a:t>ProposalOrchestrator, Proposal, EventLog</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150" b="0">
                          <a:solidFill>
                            <a:srgbClr val="2E3142"/>
                          </a:solidFill>
                          <a:latin typeface="210 OmniGothic 040"/>
                          <a:ea typeface="210 OmniGothic 040"/>
                          <a:cs typeface="210 OmniGothic 040"/>
                        </a:rPr>
                        <a:t>이력·이벤트 조회 (조회 전용)</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5"/>
                  </a:ext>
                </a:extLst>
              </a:tr>
              <a:tr h="341985">
                <a:tc>
                  <a:txBody>
                    <a:bodyPr/>
                    <a:lstStyle/>
                    <a:p>
                      <a:pPr algn="l">
                        <a:buNone/>
                      </a:pPr>
                      <a:r>
                        <a:rPr sz="1150" b="1">
                          <a:solidFill>
                            <a:srgbClr val="2E3142"/>
                          </a:solidFill>
                          <a:latin typeface="210 OmniGothic 040"/>
                          <a:ea typeface="210 OmniGothic 040"/>
                          <a:cs typeface="210 OmniGothic 040"/>
                        </a:rPr>
                        <a:t>PredictionRouter</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150" b="0">
                          <a:solidFill>
                            <a:srgbClr val="2E3142"/>
                          </a:solidFill>
                          <a:latin typeface="210 OmniGothic 040"/>
                          <a:ea typeface="210 OmniGothic 040"/>
                          <a:cs typeface="210 OmniGothic 040"/>
                        </a:rPr>
                        <a:t>의존 (Dependency)</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150" b="0">
                          <a:solidFill>
                            <a:srgbClr val="2E3142"/>
                          </a:solidFill>
                          <a:latin typeface="210 OmniGothic 040"/>
                          <a:ea typeface="210 OmniGothic 040"/>
                          <a:cs typeface="210 OmniGothic 040"/>
                        </a:rPr>
                        <a:t>PredictionService, RiskService</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150" b="0">
                          <a:solidFill>
                            <a:srgbClr val="2E3142"/>
                          </a:solidFill>
                          <a:latin typeface="210 OmniGothic 040"/>
                          <a:ea typeface="210 OmniGothic 040"/>
                          <a:cs typeface="210 OmniGothic 040"/>
                        </a:rPr>
                        <a:t>run() · get_risk() 위임</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6"/>
                  </a:ext>
                </a:extLst>
              </a:tr>
              <a:tr h="341985">
                <a:tc>
                  <a:txBody>
                    <a:bodyPr/>
                    <a:lstStyle/>
                    <a:p>
                      <a:pPr algn="l">
                        <a:buNone/>
                      </a:pPr>
                      <a:r>
                        <a:rPr sz="1150" b="1">
                          <a:solidFill>
                            <a:srgbClr val="2E3142"/>
                          </a:solidFill>
                          <a:latin typeface="210 OmniGothic 040"/>
                          <a:ea typeface="210 OmniGothic 040"/>
                          <a:cs typeface="210 OmniGothic 040"/>
                        </a:rPr>
                        <a:t>RiskService</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150" b="0">
                          <a:solidFill>
                            <a:srgbClr val="2E3142"/>
                          </a:solidFill>
                          <a:latin typeface="210 OmniGothic 040"/>
                          <a:ea typeface="210 OmniGothic 040"/>
                          <a:cs typeface="210 OmniGothic 040"/>
                        </a:rPr>
                        <a:t>의존 (Dependency)</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150" b="0">
                          <a:solidFill>
                            <a:srgbClr val="FF0000"/>
                          </a:solidFill>
                          <a:latin typeface="210 OmniGothic 040"/>
                          <a:ea typeface="210 OmniGothic 040"/>
                          <a:cs typeface="210 OmniGothic 040"/>
                        </a:rPr>
                        <a:t>Spr</a:t>
                      </a:r>
                      <a:r>
                        <a:rPr sz="1150" b="0">
                          <a:solidFill>
                            <a:srgbClr val="FF0000"/>
                          </a:solidFill>
                          <a:latin typeface="210 OmniGothic 040"/>
                          <a:ea typeface="210 OmniGothic 040"/>
                          <a:cs typeface="210 OmniGothic 040"/>
                        </a:rPr>
                        <a:t>ea</a:t>
                      </a:r>
                      <a:r>
                        <a:rPr sz="1150" b="0">
                          <a:solidFill>
                            <a:srgbClr val="FF0000"/>
                          </a:solidFill>
                          <a:latin typeface="210 OmniGothic 040"/>
                          <a:ea typeface="210 OmniGothic 040"/>
                          <a:cs typeface="210 OmniGothic 040"/>
                        </a:rPr>
                        <a:t>dS</a:t>
                      </a:r>
                      <a:r>
                        <a:rPr sz="1150" b="0">
                          <a:solidFill>
                            <a:srgbClr val="FF0000"/>
                          </a:solidFill>
                          <a:latin typeface="210 OmniGothic 040"/>
                          <a:ea typeface="210 OmniGothic 040"/>
                          <a:cs typeface="210 OmniGothic 040"/>
                        </a:rPr>
                        <a:t>li</a:t>
                      </a:r>
                      <a:r>
                        <a:rPr sz="1150" b="0">
                          <a:solidFill>
                            <a:srgbClr val="FF0000"/>
                          </a:solidFill>
                          <a:latin typeface="210 OmniGothic 040"/>
                          <a:ea typeface="210 OmniGothic 040"/>
                          <a:cs typeface="210 OmniGothic 040"/>
                        </a:rPr>
                        <a:t>c</a:t>
                      </a:r>
                      <a:r>
                        <a:rPr sz="1150" b="0">
                          <a:solidFill>
                            <a:srgbClr val="FF0000"/>
                          </a:solidFill>
                          <a:latin typeface="210 OmniGothic 040"/>
                          <a:ea typeface="210 OmniGothic 040"/>
                          <a:cs typeface="210 OmniGothic 040"/>
                        </a:rPr>
                        <a:t>e</a:t>
                      </a:r>
                      <a:r>
                        <a:rPr sz="1150" b="0">
                          <a:solidFill>
                            <a:srgbClr val="2E3142"/>
                          </a:solidFill>
                          <a:latin typeface="210 OmniGothic 040"/>
                          <a:ea typeface="210 OmniGothic 040"/>
                          <a:cs typeface="210 OmniGothic 040"/>
                        </a:rPr>
                        <a:t>, RiskAssessment</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150" b="0">
                          <a:solidFill>
                            <a:srgbClr val="FF0000"/>
                          </a:solidFill>
                          <a:latin typeface="210 OmniGothic 040"/>
                          <a:ea typeface="210 OmniGothic 040"/>
                          <a:cs typeface="210 OmniGothic 040"/>
                        </a:rPr>
                        <a:t>P5 폴리곤·예측 기상·격자·인구 레이어로 위험도 계산·저장</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7"/>
                  </a:ext>
                </a:extLst>
              </a:tr>
              <a:tr h="341985">
                <a:tc>
                  <a:txBody>
                    <a:bodyPr/>
                    <a:lstStyle/>
                    <a:p>
                      <a:pPr algn="l">
                        <a:buNone/>
                      </a:pPr>
                      <a:r>
                        <a:rPr sz="1150" b="1">
                          <a:solidFill>
                            <a:srgbClr val="2E3142"/>
                          </a:solidFill>
                          <a:latin typeface="210 OmniGothic 040"/>
                          <a:ea typeface="210 OmniGothic 040"/>
                          <a:cs typeface="210 OmniGothic 040"/>
                        </a:rPr>
                        <a:t>PredictionService</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150" b="0">
                          <a:solidFill>
                            <a:srgbClr val="2E3142"/>
                          </a:solidFill>
                          <a:latin typeface="210 OmniGothic 040"/>
                          <a:ea typeface="210 OmniGothic 040"/>
                          <a:cs typeface="210 OmniGothic 040"/>
                        </a:rPr>
                        <a:t>의존 (Dependency)</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150" b="0">
                          <a:solidFill>
                            <a:srgbClr val="2E3142"/>
                          </a:solidFill>
                          <a:latin typeface="210 OmniGothic 040"/>
                          <a:ea typeface="210 OmniGothic 040"/>
                          <a:cs typeface="210 OmniGothic 040"/>
                        </a:rPr>
                        <a:t>ElmfireAdapter, WeatherClient, </a:t>
                      </a:r>
                      <a:r>
                        <a:rPr sz="1150" b="0">
                          <a:solidFill>
                            <a:srgbClr val="FF0000"/>
                          </a:solidFill>
                          <a:latin typeface="210 OmniGothic 040"/>
                          <a:ea typeface="210 OmniGothic 040"/>
                          <a:cs typeface="210 OmniGothic 040"/>
                        </a:rPr>
                        <a:t>RiskService, </a:t>
                      </a:r>
                      <a:r>
                        <a:rPr sz="1150" b="0">
                          <a:solidFill>
                            <a:srgbClr val="2E3142"/>
                          </a:solidFill>
                          <a:latin typeface="210 OmniGothic 040"/>
                          <a:ea typeface="210 OmniGothic 040"/>
                          <a:cs typeface="210 OmniGothic 040"/>
                        </a:rPr>
                        <a:t>ProposalOrchestrator</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150" b="0">
                          <a:solidFill>
                            <a:srgbClr val="2E3142"/>
                          </a:solidFill>
                          <a:latin typeface="210 OmniGothic 040"/>
                          <a:ea typeface="210 OmniGothic 040"/>
                          <a:cs typeface="210 OmniGothic 040"/>
                        </a:rPr>
                        <a:t>예측 저장 후</a:t>
                      </a:r>
                      <a:r>
                        <a:rPr sz="1150" b="0">
                          <a:solidFill>
                            <a:srgbClr val="FF0000"/>
                          </a:solidFill>
                          <a:latin typeface="210 OmniGothic 040"/>
                          <a:ea typeface="210 OmniGothic 040"/>
                          <a:cs typeface="210 OmniGothic 040"/>
                        </a:rPr>
                        <a:t> compute() ·</a:t>
                      </a:r>
                      <a:r>
                        <a:rPr sz="1150" b="0">
                          <a:solidFill>
                            <a:srgbClr val="2E3142"/>
                          </a:solidFill>
                          <a:latin typeface="210 OmniGothic 040"/>
                          <a:ea typeface="210 OmniGothic 040"/>
                          <a:cs typeface="210 OmniGothic 040"/>
                        </a:rPr>
                        <a:t> generate() 호출</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8"/>
                  </a:ext>
                </a:extLst>
              </a:tr>
              <a:tr h="341985">
                <a:tc>
                  <a:txBody>
                    <a:bodyPr/>
                    <a:lstStyle/>
                    <a:p>
                      <a:pPr algn="l">
                        <a:buNone/>
                      </a:pPr>
                      <a:r>
                        <a:rPr sz="1150" b="1">
                          <a:solidFill>
                            <a:srgbClr val="2E3142"/>
                          </a:solidFill>
                          <a:latin typeface="210 OmniGothic 040"/>
                          <a:ea typeface="210 OmniGothic 040"/>
                          <a:cs typeface="210 OmniGothic 040"/>
                        </a:rPr>
                        <a:t>ProposalOrchestrator</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150" b="0">
                          <a:solidFill>
                            <a:srgbClr val="2E3142"/>
                          </a:solidFill>
                          <a:latin typeface="210 OmniGothic 040"/>
                          <a:ea typeface="210 OmniGothic 040"/>
                          <a:cs typeface="210 OmniGothic 040"/>
                        </a:rPr>
                        <a:t>의존 (Dependency)</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150" b="0">
                          <a:solidFill>
                            <a:srgbClr val="2E3142"/>
                          </a:solidFill>
                          <a:latin typeface="210 OmniGothic 040"/>
                          <a:ea typeface="210 OmniGothic 040"/>
                          <a:cs typeface="210 OmniGothic 040"/>
                        </a:rPr>
                        <a:t>RuleEngine, Retriever, LLMClient, EventLogger</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150" b="0">
                          <a:solidFill>
                            <a:srgbClr val="2E3142"/>
                          </a:solidFill>
                          <a:latin typeface="210 OmniGothic 040"/>
                          <a:ea typeface="210 OmniGothic 040"/>
                          <a:cs typeface="210 OmniGothic 040"/>
                        </a:rPr>
                        <a:t>판정 → 검색 → 생성 순서 제어, 새 버전 기록</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9"/>
                  </a:ext>
                </a:extLst>
              </a:tr>
              <a:tr h="341985">
                <a:tc>
                  <a:txBody>
                    <a:bodyPr/>
                    <a:lstStyle/>
                    <a:p>
                      <a:pPr algn="l">
                        <a:buNone/>
                      </a:pPr>
                      <a:r>
                        <a:rPr sz="1150" b="1">
                          <a:solidFill>
                            <a:srgbClr val="2E3142"/>
                          </a:solidFill>
                          <a:latin typeface="210 OmniGothic 040"/>
                          <a:ea typeface="210 OmniGothic 040"/>
                          <a:cs typeface="210 OmniGothic 040"/>
                        </a:rPr>
                        <a:t>ChatRouter</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150" b="0">
                          <a:solidFill>
                            <a:srgbClr val="2E3142"/>
                          </a:solidFill>
                          <a:latin typeface="210 OmniGothic 040"/>
                          <a:ea typeface="210 OmniGothic 040"/>
                          <a:cs typeface="210 OmniGothic 040"/>
                        </a:rPr>
                        <a:t>의존 (Dependency)</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150" b="0">
                          <a:solidFill>
                            <a:srgbClr val="2E3142"/>
                          </a:solidFill>
                          <a:latin typeface="210 OmniGothic 040"/>
                          <a:ea typeface="210 OmniGothic 040"/>
                          <a:cs typeface="210 OmniGothic 040"/>
                        </a:rPr>
                        <a:t>AssistantService</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150" b="0">
                          <a:solidFill>
                            <a:srgbClr val="2E3142"/>
                          </a:solidFill>
                          <a:latin typeface="210 OmniGothic 040"/>
                          <a:ea typeface="210 OmniGothic 040"/>
                          <a:cs typeface="210 OmniGothic 040"/>
                        </a:rPr>
                        <a:t>ask() · confirm_correction() 위임</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10"/>
                  </a:ext>
                </a:extLst>
              </a:tr>
              <a:tr h="341985">
                <a:tc>
                  <a:txBody>
                    <a:bodyPr/>
                    <a:lstStyle/>
                    <a:p>
                      <a:pPr algn="l">
                        <a:buNone/>
                      </a:pPr>
                      <a:r>
                        <a:rPr sz="1150" b="1">
                          <a:solidFill>
                            <a:srgbClr val="2E3142"/>
                          </a:solidFill>
                          <a:latin typeface="210 OmniGothic 040"/>
                          <a:ea typeface="210 OmniGothic 040"/>
                          <a:cs typeface="210 OmniGothic 040"/>
                        </a:rPr>
                        <a:t>AssistantService</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150" b="0">
                          <a:solidFill>
                            <a:srgbClr val="2E3142"/>
                          </a:solidFill>
                          <a:latin typeface="210 OmniGothic 040"/>
                          <a:ea typeface="210 OmniGothic 040"/>
                          <a:cs typeface="210 OmniGothic 040"/>
                        </a:rPr>
                        <a:t>의존 (Dependency)</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150" b="0">
                          <a:solidFill>
                            <a:srgbClr val="2E3142"/>
                          </a:solidFill>
                          <a:latin typeface="210 OmniGothic 040"/>
                          <a:ea typeface="210 OmniGothic 040"/>
                          <a:cs typeface="210 OmniGothic 040"/>
                        </a:rPr>
                        <a:t>Retriever, LLMClient, ProposalOrchestrator, EventLogger</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150" b="0">
                          <a:solidFill>
                            <a:srgbClr val="2E3142"/>
                          </a:solidFill>
                          <a:latin typeface="210 OmniGothic 040"/>
                          <a:ea typeface="210 OmniGothic 040"/>
                          <a:cs typeface="210 OmniGothic 040"/>
                        </a:rPr>
                        <a:t>답변 생성 / 정정 저장 → 제안 재생성</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166720998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58" name="Picture 2"/>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700" y="-12700"/>
            <a:ext cx="18313400" cy="1638300"/>
          </a:xfrm>
          <a:prstGeom prst="rect">
            <a:avLst/>
          </a:prstGeom>
        </p:spPr>
      </p:pic>
      <p:pic>
        <p:nvPicPr>
          <p:cNvPr id="5459" name="Picture 4"/>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28" y="1618343"/>
            <a:ext cx="18313400" cy="8699500"/>
          </a:xfrm>
          <a:prstGeom prst="rect">
            <a:avLst/>
          </a:prstGeom>
        </p:spPr>
      </p:pic>
      <p:pic>
        <p:nvPicPr>
          <p:cNvPr id="5460" name="Picture 5"/>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58800" y="9271000"/>
            <a:ext cx="17170400" cy="50800"/>
          </a:xfrm>
          <a:prstGeom prst="rect">
            <a:avLst/>
          </a:prstGeom>
        </p:spPr>
      </p:pic>
      <p:pic>
        <p:nvPicPr>
          <p:cNvPr id="5461" name="Picture 3"/>
          <p:cNvPicPr>
            <a:picLocks noChangeAspect="1"/>
          </p:cNvPicPr>
          <p:nvPr/>
        </p:nvPicPr>
        <p:blipFill>
          <a:blip>
            <a:extLst>
              <a:ext uri="{96DAC541-7B7A-43D3-8B79-37D633B846F1}">
                <asvg:svgBlip xmlns:asvg="http://schemas.microsoft.com/office/drawing/2016/SVG/main" r:embed="rId6"/>
              </a:ext>
            </a:extLst>
          </a:blip>
          <a:srcRect b="43005"/>
          <a:stretch>
            <a:fillRect/>
          </a:stretch>
        </p:blipFill>
        <p:spPr>
          <a:xfrm>
            <a:off x="15443200" y="228600"/>
            <a:ext cx="1384300" cy="1397000"/>
          </a:xfrm>
          <a:prstGeom prst="rect">
            <a:avLst/>
          </a:prstGeom>
        </p:spPr>
      </p:pic>
      <p:sp>
        <p:nvSpPr>
          <p:cNvPr id="5343" name="Title">
            <a:extLst>
              <a:ext uri="{FF2B5EF4-FFF2-40B4-BE49-F238E27FC236}">
                <a16:creationId xmlns:a16="http://schemas.microsoft.com/office/drawing/2014/main" id="{B04B9D32-5888-49CD-B95F-EF103F62D43B}"/>
              </a:ext>
            </a:extLst>
          </p:cNvPr>
          <p:cNvSpPr>
            <a:spLocks noGrp="1"/>
          </p:cNvSpPr>
          <p:nvPr/>
        </p:nvSpPr>
        <p:spPr>
          <a:xfrm>
            <a:off x="822960" y="384048"/>
            <a:ext cx="13258800" cy="877824"/>
          </a:xfrm>
          <a:prstGeom prst="rect">
            <a:avLst/>
          </a:prstGeom>
          <a:noFill/>
        </p:spPr>
        <p:txBody>
          <a:bodyPr wrap="square" lIns="0" tIns="0" rIns="0" bIns="0" anchor="ctr">
            <a:spAutoFit/>
          </a:bodyPr>
          <a:lstStyle/>
          <a:p>
            <a:pPr algn="l">
              <a:buNone/>
            </a:pPr>
            <a:r>
              <a:rPr sz="4400" b="0">
                <a:solidFill>
                  <a:srgbClr val="FAA95A"/>
                </a:solidFill>
                <a:latin typeface="210 OmniGothic 050"/>
                <a:ea typeface="210 OmniGothic 050"/>
                <a:cs typeface="210 OmniGothic 050"/>
              </a:rPr>
              <a:t>05. 클래스 다이어그램</a:t>
            </a:r>
          </a:p>
        </p:txBody>
      </p:sp>
      <p:sp>
        <p:nvSpPr>
          <p:cNvPr id="5344" name="Subtitle">
            <a:extLst>
              <a:ext uri="{FF2B5EF4-FFF2-40B4-BE49-F238E27FC236}">
                <a16:creationId xmlns:a16="http://schemas.microsoft.com/office/drawing/2014/main" id="{9C000285-7AF8-4316-BEE1-E0B6E0028D8C}"/>
              </a:ext>
            </a:extLst>
          </p:cNvPr>
          <p:cNvSpPr>
            <a:spLocks noGrp="1"/>
          </p:cNvSpPr>
          <p:nvPr/>
        </p:nvSpPr>
        <p:spPr>
          <a:xfrm>
            <a:off x="822960" y="1764792"/>
            <a:ext cx="16642080" cy="502920"/>
          </a:xfrm>
          <a:prstGeom prst="rect">
            <a:avLst/>
          </a:prstGeom>
          <a:noFill/>
        </p:spPr>
        <p:txBody>
          <a:bodyPr wrap="square" lIns="0" tIns="0" rIns="0" bIns="0" anchor="ctr">
            <a:spAutoFit/>
          </a:bodyPr>
          <a:lstStyle/>
          <a:p>
            <a:pPr algn="ctr">
              <a:buNone/>
            </a:pPr>
            <a:r>
              <a:rPr sz="2600" b="1">
                <a:solidFill>
                  <a:srgbClr val="363A52"/>
                </a:solidFill>
                <a:latin typeface="210 OmniGothic 040"/>
                <a:ea typeface="210 OmniGothic 040"/>
                <a:cs typeface="210 OmniGothic 040"/>
              </a:rPr>
              <a:t>4. 다이어그램 – </a:t>
            </a:r>
            <a:r>
              <a:rPr sz="2600" b="1">
                <a:solidFill>
                  <a:srgbClr val="FAA95A"/>
                </a:solidFill>
                <a:latin typeface="210 OmniGothic 040"/>
                <a:ea typeface="210 OmniGothic 040"/>
                <a:cs typeface="210 OmniGothic 040"/>
              </a:rPr>
              <a:t>도메인 엔티티</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idx="12"/>
          </p:nvPr>
        </p:nvSpPr>
        <p:spPr/>
        <p:txBody>
          <a:bodyPr/>
          <a:lstStyle/>
          <a:p>
            <a:fld id="{B6F15528-21DE-4FAA-801E-634DDDAF4B2B}" type="slidenum">
              <a:t>67</a:t>
            </a:fld>
            <a:endParaRPr/>
          </a:p>
        </p:txBody>
      </p:sp>
      <p:sp>
        <p:nvSpPr>
          <p:cNvPr id="5345" name="Rectangle 5344">
            <a:extLst>
              <a:ext uri="{FF2B5EF4-FFF2-40B4-BE49-F238E27FC236}">
                <a16:creationId xmlns:a16="http://schemas.microsoft.com/office/drawing/2014/main" id="{FAFDCE27-0EF9-4195-80B6-252FFADEFC3F}"/>
              </a:ext>
            </a:extLst>
          </p:cNvPr>
          <p:cNvSpPr>
            <a:spLocks noGrp="1"/>
          </p:cNvSpPr>
          <p:nvPr/>
        </p:nvSpPr>
        <p:spPr>
          <a:xfrm>
            <a:off x="822960" y="2395728"/>
            <a:ext cx="2228850" cy="1559052"/>
          </a:xfrm>
          <a:prstGeom prst="rect">
            <a:avLst/>
          </a:prstGeom>
          <a:solidFill>
            <a:srgbClr val="FFFFFF"/>
          </a:solidFill>
          <a:ln w="12700">
            <a:solidFill>
              <a:srgbClr val="6B7080"/>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endParaRPr/>
          </a:p>
        </p:txBody>
      </p:sp>
      <p:sp>
        <p:nvSpPr>
          <p:cNvPr id="5346" name="Rectangle 5345">
            <a:extLst>
              <a:ext uri="{FF2B5EF4-FFF2-40B4-BE49-F238E27FC236}">
                <a16:creationId xmlns:a16="http://schemas.microsoft.com/office/drawing/2014/main" id="{7746029A-9349-4895-B8A5-BE7CB145F10A}"/>
              </a:ext>
            </a:extLst>
          </p:cNvPr>
          <p:cNvSpPr>
            <a:spLocks noGrp="1"/>
          </p:cNvSpPr>
          <p:nvPr/>
        </p:nvSpPr>
        <p:spPr>
          <a:xfrm>
            <a:off x="822960" y="2395728"/>
            <a:ext cx="2228850" cy="321868"/>
          </a:xfrm>
          <a:prstGeom prst="rect">
            <a:avLst/>
          </a:prstGeom>
          <a:solidFill>
            <a:srgbClr val="E6E9F1"/>
          </a:solidFill>
          <a:ln w="12700">
            <a:solidFill>
              <a:srgbClr val="6B7080"/>
            </a:solidFill>
          </a:ln>
        </p:spPr>
        <p:style>
          <a:lnRef idx="1">
            <a:schemeClr val="accent1"/>
          </a:lnRef>
          <a:fillRef idx="3">
            <a:schemeClr val="accent1"/>
          </a:fillRef>
          <a:effectRef idx="2">
            <a:schemeClr val="accent1"/>
          </a:effectRef>
          <a:fontRef idx="minor">
            <a:schemeClr val="lt1"/>
          </a:fontRef>
        </p:style>
        <p:txBody>
          <a:bodyPr wrap="square" lIns="18288" tIns="18288" rIns="18288" bIns="18288" anchor="ctr"/>
          <a:lstStyle/>
          <a:p>
            <a:pPr algn="ctr">
              <a:buNone/>
            </a:pPr>
            <a:r>
              <a:rPr sz="1200" b="1">
                <a:solidFill>
                  <a:srgbClr val="2E3142"/>
                </a:solidFill>
                <a:latin typeface="210 OmniGothic 040"/>
                <a:ea typeface="210 OmniGothic 040"/>
                <a:cs typeface="210 OmniGothic 040"/>
              </a:rPr>
              <a:t>IntakeRecord</a:t>
            </a:r>
          </a:p>
        </p:txBody>
      </p:sp>
      <p:sp>
        <p:nvSpPr>
          <p:cNvPr id="5347" name="TextBox 5346">
            <a:extLst>
              <a:ext uri="{FF2B5EF4-FFF2-40B4-BE49-F238E27FC236}">
                <a16:creationId xmlns:a16="http://schemas.microsoft.com/office/drawing/2014/main" id="{AE5922F9-E7EF-4ABF-BB10-5DC302A7D75B}"/>
              </a:ext>
            </a:extLst>
          </p:cNvPr>
          <p:cNvSpPr>
            <a:spLocks noGrp="1"/>
          </p:cNvSpPr>
          <p:nvPr/>
        </p:nvSpPr>
        <p:spPr>
          <a:xfrm>
            <a:off x="902970" y="2757830"/>
            <a:ext cx="2114550" cy="1176832"/>
          </a:xfrm>
          <a:prstGeom prst="rect">
            <a:avLst/>
          </a:prstGeom>
          <a:noFill/>
        </p:spPr>
        <p:txBody>
          <a:bodyPr wrap="square" lIns="0" tIns="0" rIns="0" bIns="0" anchor="t">
            <a:spAutoFit/>
          </a:bodyPr>
          <a:lstStyle/>
          <a:p>
            <a:pPr algn="l">
              <a:lnSpc>
                <a:spcPct val="100000"/>
              </a:lnSpc>
              <a:buNone/>
            </a:pPr>
            <a:r>
              <a:rPr sz="900" b="0">
                <a:solidFill>
                  <a:srgbClr val="2E3142"/>
                </a:solidFill>
                <a:latin typeface="Consolas"/>
                <a:ea typeface="Consolas"/>
                <a:cs typeface="Consolas"/>
              </a:rPr>
              <a:t>+ id: int</a:t>
            </a:r>
          </a:p>
          <a:p>
            <a:pPr algn="l">
              <a:lnSpc>
                <a:spcPct val="100000"/>
              </a:lnSpc>
              <a:buNone/>
            </a:pPr>
            <a:r>
              <a:rPr sz="900" b="0">
                <a:solidFill>
                  <a:srgbClr val="2E3142"/>
                </a:solidFill>
                <a:latin typeface="Consolas"/>
                <a:ea typeface="Consolas"/>
                <a:cs typeface="Consolas"/>
              </a:rPr>
              <a:t>+ incident_id: str</a:t>
            </a:r>
          </a:p>
          <a:p>
            <a:pPr algn="l">
              <a:lnSpc>
                <a:spcPct val="100000"/>
              </a:lnSpc>
              <a:buNone/>
            </a:pPr>
            <a:r>
              <a:rPr sz="900" b="0">
                <a:solidFill>
                  <a:srgbClr val="2E3142"/>
                </a:solidFill>
                <a:latin typeface="Consolas"/>
                <a:ea typeface="Consolas"/>
                <a:cs typeface="Consolas"/>
              </a:rPr>
              <a:t>+ org_name: str</a:t>
            </a:r>
          </a:p>
          <a:p>
            <a:pPr algn="l">
              <a:lnSpc>
                <a:spcPct val="100000"/>
              </a:lnSpc>
              <a:buNone/>
            </a:pPr>
            <a:r>
              <a:rPr sz="900" b="0">
                <a:solidFill>
                  <a:srgbClr val="2E3142"/>
                </a:solidFill>
                <a:latin typeface="Consolas"/>
                <a:ea typeface="Consolas"/>
                <a:cs typeface="Consolas"/>
              </a:rPr>
              <a:t>+ received_at: datetime</a:t>
            </a:r>
          </a:p>
        </p:txBody>
      </p:sp>
      <p:sp>
        <p:nvSpPr>
          <p:cNvPr id="5348" name="Rectangle 5347">
            <a:extLst>
              <a:ext uri="{FF2B5EF4-FFF2-40B4-BE49-F238E27FC236}">
                <a16:creationId xmlns:a16="http://schemas.microsoft.com/office/drawing/2014/main" id="{A957A3AB-5C11-4DD5-9B7F-FC62EDBB160F}"/>
              </a:ext>
            </a:extLst>
          </p:cNvPr>
          <p:cNvSpPr>
            <a:spLocks noGrp="1"/>
          </p:cNvSpPr>
          <p:nvPr/>
        </p:nvSpPr>
        <p:spPr>
          <a:xfrm>
            <a:off x="3623310" y="2395728"/>
            <a:ext cx="2228850" cy="1559052"/>
          </a:xfrm>
          <a:prstGeom prst="rect">
            <a:avLst/>
          </a:prstGeom>
          <a:solidFill>
            <a:srgbClr val="FFFFFF"/>
          </a:solidFill>
          <a:ln w="12700">
            <a:solidFill>
              <a:srgbClr val="6B7080"/>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endParaRPr/>
          </a:p>
        </p:txBody>
      </p:sp>
      <p:sp>
        <p:nvSpPr>
          <p:cNvPr id="5349" name="Rectangle 5348">
            <a:extLst>
              <a:ext uri="{FF2B5EF4-FFF2-40B4-BE49-F238E27FC236}">
                <a16:creationId xmlns:a16="http://schemas.microsoft.com/office/drawing/2014/main" id="{23C4E5ED-6AC9-449E-B497-03E62DCF80D6}"/>
              </a:ext>
            </a:extLst>
          </p:cNvPr>
          <p:cNvSpPr>
            <a:spLocks noGrp="1"/>
          </p:cNvSpPr>
          <p:nvPr/>
        </p:nvSpPr>
        <p:spPr>
          <a:xfrm>
            <a:off x="3623310" y="2395728"/>
            <a:ext cx="2228850" cy="321868"/>
          </a:xfrm>
          <a:prstGeom prst="rect">
            <a:avLst/>
          </a:prstGeom>
          <a:solidFill>
            <a:srgbClr val="E6E9F1"/>
          </a:solidFill>
          <a:ln w="12700">
            <a:solidFill>
              <a:srgbClr val="6B7080"/>
            </a:solidFill>
          </a:ln>
        </p:spPr>
        <p:style>
          <a:lnRef idx="1">
            <a:schemeClr val="accent1"/>
          </a:lnRef>
          <a:fillRef idx="3">
            <a:schemeClr val="accent1"/>
          </a:fillRef>
          <a:effectRef idx="2">
            <a:schemeClr val="accent1"/>
          </a:effectRef>
          <a:fontRef idx="minor">
            <a:schemeClr val="lt1"/>
          </a:fontRef>
        </p:style>
        <p:txBody>
          <a:bodyPr wrap="square" lIns="18288" tIns="18288" rIns="18288" bIns="18288" anchor="ctr"/>
          <a:lstStyle/>
          <a:p>
            <a:pPr algn="ctr">
              <a:buNone/>
            </a:pPr>
            <a:r>
              <a:rPr sz="1150" b="1">
                <a:solidFill>
                  <a:srgbClr val="2E3142"/>
                </a:solidFill>
                <a:latin typeface="210 OmniGothic 040"/>
                <a:ea typeface="210 OmniGothic 040"/>
                <a:cs typeface="210 OmniGothic 040"/>
              </a:rPr>
              <a:t>WeatherSnapshot</a:t>
            </a:r>
          </a:p>
        </p:txBody>
      </p:sp>
      <p:sp>
        <p:nvSpPr>
          <p:cNvPr id="5350" name="TextBox 5349">
            <a:extLst>
              <a:ext uri="{FF2B5EF4-FFF2-40B4-BE49-F238E27FC236}">
                <a16:creationId xmlns:a16="http://schemas.microsoft.com/office/drawing/2014/main" id="{06959BD4-E15C-4A19-A80F-2DE2E3A150E5}"/>
              </a:ext>
            </a:extLst>
          </p:cNvPr>
          <p:cNvSpPr>
            <a:spLocks noGrp="1"/>
          </p:cNvSpPr>
          <p:nvPr/>
        </p:nvSpPr>
        <p:spPr>
          <a:xfrm>
            <a:off x="3703320" y="2757830"/>
            <a:ext cx="2114550" cy="1176832"/>
          </a:xfrm>
          <a:prstGeom prst="rect">
            <a:avLst/>
          </a:prstGeom>
          <a:noFill/>
        </p:spPr>
        <p:txBody>
          <a:bodyPr wrap="square" lIns="0" tIns="0" rIns="0" bIns="0" anchor="t">
            <a:spAutoFit/>
          </a:bodyPr>
          <a:lstStyle/>
          <a:p>
            <a:pPr algn="l">
              <a:lnSpc>
                <a:spcPct val="100000"/>
              </a:lnSpc>
              <a:buNone/>
            </a:pPr>
            <a:r>
              <a:rPr sz="900" b="0">
                <a:solidFill>
                  <a:srgbClr val="2E3142"/>
                </a:solidFill>
                <a:latin typeface="Consolas"/>
                <a:ea typeface="Consolas"/>
                <a:cs typeface="Consolas"/>
              </a:rPr>
              <a:t>+ id: int</a:t>
            </a:r>
          </a:p>
          <a:p>
            <a:pPr algn="l">
              <a:lnSpc>
                <a:spcPct val="100000"/>
              </a:lnSpc>
              <a:buNone/>
            </a:pPr>
            <a:r>
              <a:rPr sz="900" b="0">
                <a:solidFill>
                  <a:srgbClr val="2E3142"/>
                </a:solidFill>
                <a:latin typeface="Consolas"/>
                <a:ea typeface="Consolas"/>
                <a:cs typeface="Consolas"/>
              </a:rPr>
              <a:t>+ valid_at: datetime</a:t>
            </a:r>
          </a:p>
          <a:p>
            <a:pPr algn="l">
              <a:lnSpc>
                <a:spcPct val="100000"/>
              </a:lnSpc>
              <a:buNone/>
            </a:pPr>
            <a:r>
              <a:rPr sz="900" b="0">
                <a:solidFill>
                  <a:srgbClr val="2E3142"/>
                </a:solidFill>
                <a:latin typeface="Consolas"/>
                <a:ea typeface="Consolas"/>
                <a:cs typeface="Consolas"/>
              </a:rPr>
              <a:t>+ wind_speed: float</a:t>
            </a:r>
          </a:p>
          <a:p>
            <a:pPr algn="l">
              <a:lnSpc>
                <a:spcPct val="100000"/>
              </a:lnSpc>
              <a:buNone/>
            </a:pPr>
            <a:r>
              <a:rPr sz="900" b="0">
                <a:solidFill>
                  <a:srgbClr val="2E3142"/>
                </a:solidFill>
                <a:latin typeface="Consolas"/>
                <a:ea typeface="Consolas"/>
                <a:cs typeface="Consolas"/>
              </a:rPr>
              <a:t>+ wind_dir: int</a:t>
            </a:r>
          </a:p>
        </p:txBody>
      </p:sp>
      <p:sp>
        <p:nvSpPr>
          <p:cNvPr id="5351" name="Rectangle 5350">
            <a:extLst>
              <a:ext uri="{FF2B5EF4-FFF2-40B4-BE49-F238E27FC236}">
                <a16:creationId xmlns:a16="http://schemas.microsoft.com/office/drawing/2014/main" id="{41E87433-AF87-4CFD-82E6-EEE8C68E4683}"/>
              </a:ext>
            </a:extLst>
          </p:cNvPr>
          <p:cNvSpPr>
            <a:spLocks noGrp="1"/>
          </p:cNvSpPr>
          <p:nvPr/>
        </p:nvSpPr>
        <p:spPr>
          <a:xfrm>
            <a:off x="6423660" y="2395728"/>
            <a:ext cx="2228850" cy="1559052"/>
          </a:xfrm>
          <a:prstGeom prst="rect">
            <a:avLst/>
          </a:prstGeom>
          <a:solidFill>
            <a:srgbClr val="FFFFFF"/>
          </a:solidFill>
          <a:ln w="12700">
            <a:solidFill>
              <a:srgbClr val="6B7080"/>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endParaRPr/>
          </a:p>
        </p:txBody>
      </p:sp>
      <p:sp>
        <p:nvSpPr>
          <p:cNvPr id="5352" name="Rectangle 5351">
            <a:extLst>
              <a:ext uri="{FF2B5EF4-FFF2-40B4-BE49-F238E27FC236}">
                <a16:creationId xmlns:a16="http://schemas.microsoft.com/office/drawing/2014/main" id="{0C11050D-A72E-486C-BD65-BAC95C46930F}"/>
              </a:ext>
            </a:extLst>
          </p:cNvPr>
          <p:cNvSpPr>
            <a:spLocks noGrp="1"/>
          </p:cNvSpPr>
          <p:nvPr/>
        </p:nvSpPr>
        <p:spPr>
          <a:xfrm>
            <a:off x="6423660" y="2395728"/>
            <a:ext cx="2228850" cy="321868"/>
          </a:xfrm>
          <a:prstGeom prst="rect">
            <a:avLst/>
          </a:prstGeom>
          <a:solidFill>
            <a:srgbClr val="E6E9F1"/>
          </a:solidFill>
          <a:ln w="12700">
            <a:solidFill>
              <a:srgbClr val="6B7080"/>
            </a:solidFill>
          </a:ln>
        </p:spPr>
        <p:style>
          <a:lnRef idx="1">
            <a:schemeClr val="accent1"/>
          </a:lnRef>
          <a:fillRef idx="3">
            <a:schemeClr val="accent1"/>
          </a:fillRef>
          <a:effectRef idx="2">
            <a:schemeClr val="accent1"/>
          </a:effectRef>
          <a:fontRef idx="minor">
            <a:schemeClr val="lt1"/>
          </a:fontRef>
        </p:style>
        <p:txBody>
          <a:bodyPr wrap="square" lIns="18288" tIns="18288" rIns="18288" bIns="18288" anchor="ctr"/>
          <a:lstStyle/>
          <a:p>
            <a:pPr algn="ctr">
              <a:buNone/>
            </a:pPr>
            <a:r>
              <a:rPr sz="1200" b="1">
                <a:solidFill>
                  <a:srgbClr val="2E3142"/>
                </a:solidFill>
                <a:latin typeface="210 OmniGothic 040"/>
                <a:ea typeface="210 OmniGothic 040"/>
                <a:cs typeface="210 OmniGothic 040"/>
              </a:rPr>
              <a:t>FirePerimeter</a:t>
            </a:r>
          </a:p>
        </p:txBody>
      </p:sp>
      <p:sp>
        <p:nvSpPr>
          <p:cNvPr id="5353" name="TextBox 5352">
            <a:extLst>
              <a:ext uri="{FF2B5EF4-FFF2-40B4-BE49-F238E27FC236}">
                <a16:creationId xmlns:a16="http://schemas.microsoft.com/office/drawing/2014/main" id="{2BC412F8-FAE5-4777-9CCD-CFD7A545547A}"/>
              </a:ext>
            </a:extLst>
          </p:cNvPr>
          <p:cNvSpPr>
            <a:spLocks noGrp="1"/>
          </p:cNvSpPr>
          <p:nvPr/>
        </p:nvSpPr>
        <p:spPr>
          <a:xfrm>
            <a:off x="6503670" y="2757830"/>
            <a:ext cx="2114550" cy="1176832"/>
          </a:xfrm>
          <a:prstGeom prst="rect">
            <a:avLst/>
          </a:prstGeom>
          <a:noFill/>
        </p:spPr>
        <p:txBody>
          <a:bodyPr wrap="square" lIns="0" tIns="0" rIns="0" bIns="0" anchor="t">
            <a:spAutoFit/>
          </a:bodyPr>
          <a:lstStyle/>
          <a:p>
            <a:pPr algn="l">
              <a:lnSpc>
                <a:spcPct val="100000"/>
              </a:lnSpc>
              <a:buNone/>
            </a:pPr>
            <a:r>
              <a:rPr sz="900" b="0">
                <a:solidFill>
                  <a:srgbClr val="2E3142"/>
                </a:solidFill>
                <a:latin typeface="Consolas"/>
                <a:ea typeface="Consolas"/>
                <a:cs typeface="Consolas"/>
              </a:rPr>
              <a:t>+ id: int</a:t>
            </a:r>
          </a:p>
          <a:p>
            <a:pPr algn="l">
              <a:lnSpc>
                <a:spcPct val="100000"/>
              </a:lnSpc>
              <a:buNone/>
            </a:pPr>
            <a:r>
              <a:rPr sz="900" b="0">
                <a:solidFill>
                  <a:srgbClr val="2E3142"/>
                </a:solidFill>
                <a:latin typeface="Consolas"/>
                <a:ea typeface="Consolas"/>
                <a:cs typeface="Consolas"/>
              </a:rPr>
              <a:t>+ observed_at: datetime</a:t>
            </a:r>
          </a:p>
          <a:p>
            <a:pPr algn="l">
              <a:lnSpc>
                <a:spcPct val="100000"/>
              </a:lnSpc>
              <a:buNone/>
            </a:pPr>
            <a:r>
              <a:rPr sz="900" b="0">
                <a:solidFill>
                  <a:srgbClr val="2E3142"/>
                </a:solidFill>
                <a:latin typeface="Consolas"/>
                <a:ea typeface="Consolas"/>
                <a:cs typeface="Consolas"/>
              </a:rPr>
              <a:t>+ geom: Polygon</a:t>
            </a:r>
          </a:p>
          <a:p>
            <a:pPr algn="l">
              <a:lnSpc>
                <a:spcPct val="100000"/>
              </a:lnSpc>
              <a:buNone/>
            </a:pPr>
            <a:r>
              <a:rPr sz="900" b="0">
                <a:solidFill>
                  <a:srgbClr val="2E3142"/>
                </a:solidFill>
                <a:latin typeface="Consolas"/>
                <a:ea typeface="Consolas"/>
                <a:cs typeface="Consolas"/>
              </a:rPr>
              <a:t>+ area_ha: float</a:t>
            </a:r>
          </a:p>
        </p:txBody>
      </p:sp>
      <p:sp>
        <p:nvSpPr>
          <p:cNvPr id="5354" name="Rectangle 5353">
            <a:extLst>
              <a:ext uri="{FF2B5EF4-FFF2-40B4-BE49-F238E27FC236}">
                <a16:creationId xmlns:a16="http://schemas.microsoft.com/office/drawing/2014/main" id="{1ED6D8F6-1D42-4F4E-B6D7-E2D6A1B76980}"/>
              </a:ext>
            </a:extLst>
          </p:cNvPr>
          <p:cNvSpPr>
            <a:spLocks noGrp="1"/>
          </p:cNvSpPr>
          <p:nvPr/>
        </p:nvSpPr>
        <p:spPr>
          <a:xfrm>
            <a:off x="9224010" y="2395728"/>
            <a:ext cx="2228850" cy="1559052"/>
          </a:xfrm>
          <a:prstGeom prst="rect">
            <a:avLst/>
          </a:prstGeom>
          <a:solidFill>
            <a:srgbClr val="FFFFFF"/>
          </a:solidFill>
          <a:ln w="12700">
            <a:solidFill>
              <a:srgbClr val="6B7080"/>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endParaRPr/>
          </a:p>
        </p:txBody>
      </p:sp>
      <p:sp>
        <p:nvSpPr>
          <p:cNvPr id="5355" name="Rectangle 5354">
            <a:extLst>
              <a:ext uri="{FF2B5EF4-FFF2-40B4-BE49-F238E27FC236}">
                <a16:creationId xmlns:a16="http://schemas.microsoft.com/office/drawing/2014/main" id="{9F971391-ACB6-4F46-8A73-72042912D5A2}"/>
              </a:ext>
            </a:extLst>
          </p:cNvPr>
          <p:cNvSpPr>
            <a:spLocks noGrp="1"/>
          </p:cNvSpPr>
          <p:nvPr/>
        </p:nvSpPr>
        <p:spPr>
          <a:xfrm>
            <a:off x="9224010" y="2395728"/>
            <a:ext cx="2228850" cy="321868"/>
          </a:xfrm>
          <a:prstGeom prst="rect">
            <a:avLst/>
          </a:prstGeom>
          <a:solidFill>
            <a:srgbClr val="E6E9F1"/>
          </a:solidFill>
          <a:ln w="12700">
            <a:solidFill>
              <a:srgbClr val="6B7080"/>
            </a:solidFill>
          </a:ln>
        </p:spPr>
        <p:style>
          <a:lnRef idx="1">
            <a:schemeClr val="accent1"/>
          </a:lnRef>
          <a:fillRef idx="3">
            <a:schemeClr val="accent1"/>
          </a:fillRef>
          <a:effectRef idx="2">
            <a:schemeClr val="accent1"/>
          </a:effectRef>
          <a:fontRef idx="minor">
            <a:schemeClr val="lt1"/>
          </a:fontRef>
        </p:style>
        <p:txBody>
          <a:bodyPr wrap="square" lIns="18288" tIns="18288" rIns="18288" bIns="18288" anchor="ctr"/>
          <a:lstStyle/>
          <a:p>
            <a:pPr algn="ctr">
              <a:buNone/>
            </a:pPr>
            <a:r>
              <a:rPr sz="1200" b="1">
                <a:solidFill>
                  <a:srgbClr val="2E3142"/>
                </a:solidFill>
                <a:latin typeface="210 OmniGothic 040"/>
                <a:ea typeface="210 OmniGothic 040"/>
                <a:cs typeface="210 OmniGothic 040"/>
              </a:rPr>
              <a:t>SpreadSlice</a:t>
            </a:r>
          </a:p>
        </p:txBody>
      </p:sp>
      <p:sp>
        <p:nvSpPr>
          <p:cNvPr id="5356" name="TextBox 5355">
            <a:extLst>
              <a:ext uri="{FF2B5EF4-FFF2-40B4-BE49-F238E27FC236}">
                <a16:creationId xmlns:a16="http://schemas.microsoft.com/office/drawing/2014/main" id="{1FA82CBB-EBB4-4C31-AB45-BE76E864157C}"/>
              </a:ext>
            </a:extLst>
          </p:cNvPr>
          <p:cNvSpPr>
            <a:spLocks noGrp="1"/>
          </p:cNvSpPr>
          <p:nvPr/>
        </p:nvSpPr>
        <p:spPr>
          <a:xfrm>
            <a:off x="9304020" y="2757830"/>
            <a:ext cx="2114550" cy="1176832"/>
          </a:xfrm>
          <a:prstGeom prst="rect">
            <a:avLst/>
          </a:prstGeom>
          <a:noFill/>
        </p:spPr>
        <p:txBody>
          <a:bodyPr wrap="square" lIns="0" tIns="0" rIns="0" bIns="0" anchor="t">
            <a:spAutoFit/>
          </a:bodyPr>
          <a:lstStyle/>
          <a:p>
            <a:pPr algn="l">
              <a:lnSpc>
                <a:spcPct val="100000"/>
              </a:lnSpc>
              <a:buNone/>
            </a:pPr>
            <a:r>
              <a:rPr sz="900" b="0">
                <a:solidFill>
                  <a:srgbClr val="2E3142"/>
                </a:solidFill>
                <a:latin typeface="Consolas"/>
                <a:ea typeface="Consolas"/>
                <a:cs typeface="Consolas"/>
              </a:rPr>
              <a:t>+ id: int</a:t>
            </a:r>
          </a:p>
          <a:p>
            <a:pPr algn="l">
              <a:lnSpc>
                <a:spcPct val="100000"/>
              </a:lnSpc>
              <a:buNone/>
            </a:pPr>
            <a:r>
              <a:rPr sz="900" b="0">
                <a:solidFill>
                  <a:srgbClr val="2E3142"/>
                </a:solidFill>
                <a:latin typeface="Consolas"/>
                <a:ea typeface="Consolas"/>
                <a:cs typeface="Consolas"/>
              </a:rPr>
              <a:t>+ t_hours: 1~8</a:t>
            </a:r>
          </a:p>
          <a:p>
            <a:pPr algn="l">
              <a:lnSpc>
                <a:spcPct val="100000"/>
              </a:lnSpc>
              <a:buNone/>
            </a:pPr>
            <a:r>
              <a:rPr sz="900" b="0">
                <a:solidFill>
                  <a:srgbClr val="2E3142"/>
                </a:solidFill>
                <a:latin typeface="Consolas"/>
                <a:ea typeface="Consolas"/>
                <a:cs typeface="Consolas"/>
              </a:rPr>
              <a:t>+ geom: Polygon</a:t>
            </a:r>
          </a:p>
          <a:p>
            <a:pPr algn="l">
              <a:lnSpc>
                <a:spcPct val="100000"/>
              </a:lnSpc>
              <a:buNone/>
            </a:pPr>
            <a:r>
              <a:rPr sz="900" b="0">
                <a:solidFill>
                  <a:srgbClr val="2E3142"/>
                </a:solidFill>
                <a:latin typeface="Consolas"/>
                <a:ea typeface="Consolas"/>
                <a:cs typeface="Consolas"/>
              </a:rPr>
              <a:t>+ area_ha: float</a:t>
            </a:r>
          </a:p>
        </p:txBody>
      </p:sp>
      <p:sp>
        <p:nvSpPr>
          <p:cNvPr id="5357" name="Rectangle 5356">
            <a:extLst>
              <a:ext uri="{FF2B5EF4-FFF2-40B4-BE49-F238E27FC236}">
                <a16:creationId xmlns:a16="http://schemas.microsoft.com/office/drawing/2014/main" id="{A9D577CD-94AF-4E4F-9833-527A0375B66F}"/>
              </a:ext>
            </a:extLst>
          </p:cNvPr>
          <p:cNvSpPr>
            <a:spLocks noGrp="1"/>
          </p:cNvSpPr>
          <p:nvPr/>
        </p:nvSpPr>
        <p:spPr>
          <a:xfrm>
            <a:off x="12024360" y="2395728"/>
            <a:ext cx="2228850" cy="1559052"/>
          </a:xfrm>
          <a:prstGeom prst="rect">
            <a:avLst/>
          </a:prstGeom>
          <a:solidFill>
            <a:srgbClr val="FFFFFF"/>
          </a:solidFill>
          <a:ln w="12700">
            <a:solidFill>
              <a:srgbClr val="6B7080"/>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endParaRPr/>
          </a:p>
        </p:txBody>
      </p:sp>
      <p:sp>
        <p:nvSpPr>
          <p:cNvPr id="5358" name="Rectangle 5357">
            <a:extLst>
              <a:ext uri="{FF2B5EF4-FFF2-40B4-BE49-F238E27FC236}">
                <a16:creationId xmlns:a16="http://schemas.microsoft.com/office/drawing/2014/main" id="{D5E1EB17-676A-44FA-BBE5-D29F56B6D5BB}"/>
              </a:ext>
            </a:extLst>
          </p:cNvPr>
          <p:cNvSpPr>
            <a:spLocks noGrp="1"/>
          </p:cNvSpPr>
          <p:nvPr/>
        </p:nvSpPr>
        <p:spPr>
          <a:xfrm>
            <a:off x="12024360" y="2395728"/>
            <a:ext cx="2228850" cy="321868"/>
          </a:xfrm>
          <a:prstGeom prst="rect">
            <a:avLst/>
          </a:prstGeom>
          <a:solidFill>
            <a:srgbClr val="E6E9F1"/>
          </a:solidFill>
          <a:ln w="12700">
            <a:solidFill>
              <a:srgbClr val="6B7080"/>
            </a:solidFill>
          </a:ln>
        </p:spPr>
        <p:style>
          <a:lnRef idx="1">
            <a:schemeClr val="accent1"/>
          </a:lnRef>
          <a:fillRef idx="3">
            <a:schemeClr val="accent1"/>
          </a:fillRef>
          <a:effectRef idx="2">
            <a:schemeClr val="accent1"/>
          </a:effectRef>
          <a:fontRef idx="minor">
            <a:schemeClr val="lt1"/>
          </a:fontRef>
        </p:style>
        <p:txBody>
          <a:bodyPr wrap="square" lIns="18288" tIns="18288" rIns="18288" bIns="18288" anchor="ctr"/>
          <a:lstStyle/>
          <a:p>
            <a:pPr algn="ctr">
              <a:buNone/>
            </a:pPr>
            <a:r>
              <a:rPr sz="1200" b="1">
                <a:solidFill>
                  <a:srgbClr val="2E3142"/>
                </a:solidFill>
                <a:latin typeface="210 OmniGothic 040"/>
                <a:ea typeface="210 OmniGothic 040"/>
                <a:cs typeface="210 OmniGothic 040"/>
              </a:rPr>
              <a:t>User</a:t>
            </a:r>
          </a:p>
        </p:txBody>
      </p:sp>
      <p:sp>
        <p:nvSpPr>
          <p:cNvPr id="5359" name="TextBox 5358">
            <a:extLst>
              <a:ext uri="{FF2B5EF4-FFF2-40B4-BE49-F238E27FC236}">
                <a16:creationId xmlns:a16="http://schemas.microsoft.com/office/drawing/2014/main" id="{3C4D5D6E-EACA-48F1-88F5-36AC897DADBD}"/>
              </a:ext>
            </a:extLst>
          </p:cNvPr>
          <p:cNvSpPr>
            <a:spLocks noGrp="1"/>
          </p:cNvSpPr>
          <p:nvPr/>
        </p:nvSpPr>
        <p:spPr>
          <a:xfrm>
            <a:off x="12104370" y="2757830"/>
            <a:ext cx="2114550" cy="1176832"/>
          </a:xfrm>
          <a:prstGeom prst="rect">
            <a:avLst/>
          </a:prstGeom>
          <a:noFill/>
        </p:spPr>
        <p:txBody>
          <a:bodyPr wrap="square" lIns="0" tIns="0" rIns="0" bIns="0" anchor="t">
            <a:spAutoFit/>
          </a:bodyPr>
          <a:lstStyle/>
          <a:p>
            <a:pPr algn="l">
              <a:lnSpc>
                <a:spcPct val="100000"/>
              </a:lnSpc>
              <a:buNone/>
            </a:pPr>
            <a:r>
              <a:rPr sz="900" b="0">
                <a:solidFill>
                  <a:srgbClr val="2E3142"/>
                </a:solidFill>
                <a:latin typeface="Consolas"/>
                <a:ea typeface="Consolas"/>
                <a:cs typeface="Consolas"/>
              </a:rPr>
              <a:t>+ id: int</a:t>
            </a:r>
          </a:p>
          <a:p>
            <a:pPr algn="l">
              <a:lnSpc>
                <a:spcPct val="100000"/>
              </a:lnSpc>
              <a:buNone/>
            </a:pPr>
            <a:r>
              <a:rPr sz="900" b="0">
                <a:solidFill>
                  <a:srgbClr val="2E3142"/>
                </a:solidFill>
                <a:latin typeface="Consolas"/>
                <a:ea typeface="Consolas"/>
                <a:cs typeface="Consolas"/>
              </a:rPr>
              <a:t>+ login_id: str</a:t>
            </a:r>
          </a:p>
          <a:p>
            <a:pPr algn="l">
              <a:lnSpc>
                <a:spcPct val="100000"/>
              </a:lnSpc>
              <a:buNone/>
            </a:pPr>
            <a:r>
              <a:rPr sz="900" b="0">
                <a:solidFill>
                  <a:srgbClr val="2E3142"/>
                </a:solidFill>
                <a:latin typeface="Consolas"/>
                <a:ea typeface="Consolas"/>
                <a:cs typeface="Consolas"/>
              </a:rPr>
              <a:t>+ role: RoleEnum</a:t>
            </a:r>
          </a:p>
          <a:p>
            <a:pPr algn="l">
              <a:lnSpc>
                <a:spcPct val="100000"/>
              </a:lnSpc>
              <a:buNone/>
            </a:pPr>
            <a:r>
              <a:rPr sz="900" b="0">
                <a:solidFill>
                  <a:srgbClr val="2E3142"/>
                </a:solidFill>
                <a:latin typeface="Consolas"/>
                <a:ea typeface="Consolas"/>
                <a:cs typeface="Consolas"/>
              </a:rPr>
              <a:t>+ status: AccountEnum</a:t>
            </a:r>
          </a:p>
        </p:txBody>
      </p:sp>
      <p:sp>
        <p:nvSpPr>
          <p:cNvPr id="5360" name="Rectangle 5359">
            <a:extLst>
              <a:ext uri="{FF2B5EF4-FFF2-40B4-BE49-F238E27FC236}">
                <a16:creationId xmlns:a16="http://schemas.microsoft.com/office/drawing/2014/main" id="{21967CC4-BB32-4D48-BB83-70B89279A469}"/>
              </a:ext>
            </a:extLst>
          </p:cNvPr>
          <p:cNvSpPr>
            <a:spLocks noGrp="1"/>
          </p:cNvSpPr>
          <p:nvPr/>
        </p:nvSpPr>
        <p:spPr>
          <a:xfrm>
            <a:off x="14824709" y="2395728"/>
            <a:ext cx="2228850" cy="1559052"/>
          </a:xfrm>
          <a:prstGeom prst="rect">
            <a:avLst/>
          </a:prstGeom>
          <a:solidFill>
            <a:srgbClr val="FFFFFF"/>
          </a:solidFill>
          <a:ln w="12700">
            <a:solidFill>
              <a:srgbClr val="6B7080"/>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endParaRPr/>
          </a:p>
        </p:txBody>
      </p:sp>
      <p:sp>
        <p:nvSpPr>
          <p:cNvPr id="5361" name="Rectangle 5360">
            <a:extLst>
              <a:ext uri="{FF2B5EF4-FFF2-40B4-BE49-F238E27FC236}">
                <a16:creationId xmlns:a16="http://schemas.microsoft.com/office/drawing/2014/main" id="{A3B57EC9-D3A8-42CF-AF6F-323B054247EF}"/>
              </a:ext>
            </a:extLst>
          </p:cNvPr>
          <p:cNvSpPr>
            <a:spLocks noGrp="1"/>
          </p:cNvSpPr>
          <p:nvPr/>
        </p:nvSpPr>
        <p:spPr>
          <a:xfrm>
            <a:off x="14824709" y="2395728"/>
            <a:ext cx="2228850" cy="321868"/>
          </a:xfrm>
          <a:prstGeom prst="rect">
            <a:avLst/>
          </a:prstGeom>
          <a:solidFill>
            <a:srgbClr val="E6E9F1"/>
          </a:solidFill>
          <a:ln w="12700">
            <a:solidFill>
              <a:srgbClr val="6B7080"/>
            </a:solidFill>
          </a:ln>
        </p:spPr>
        <p:style>
          <a:lnRef idx="1">
            <a:schemeClr val="accent1"/>
          </a:lnRef>
          <a:fillRef idx="3">
            <a:schemeClr val="accent1"/>
          </a:fillRef>
          <a:effectRef idx="2">
            <a:schemeClr val="accent1"/>
          </a:effectRef>
          <a:fontRef idx="minor">
            <a:schemeClr val="lt1"/>
          </a:fontRef>
        </p:style>
        <p:txBody>
          <a:bodyPr wrap="square" lIns="18288" tIns="18288" rIns="18288" bIns="18288" anchor="ctr"/>
          <a:lstStyle/>
          <a:p>
            <a:pPr algn="ctr">
              <a:buNone/>
            </a:pPr>
            <a:r>
              <a:rPr sz="1200" b="1">
                <a:solidFill>
                  <a:srgbClr val="2E3142"/>
                </a:solidFill>
                <a:latin typeface="210 OmniGothic 040"/>
                <a:ea typeface="210 OmniGothic 040"/>
                <a:cs typeface="210 OmniGothic 040"/>
              </a:rPr>
              <a:t>EventLog</a:t>
            </a:r>
          </a:p>
        </p:txBody>
      </p:sp>
      <p:sp>
        <p:nvSpPr>
          <p:cNvPr id="5362" name="TextBox 5361">
            <a:extLst>
              <a:ext uri="{FF2B5EF4-FFF2-40B4-BE49-F238E27FC236}">
                <a16:creationId xmlns:a16="http://schemas.microsoft.com/office/drawing/2014/main" id="{E5FDB00E-B33C-4836-9DCB-9342A1F65579}"/>
              </a:ext>
            </a:extLst>
          </p:cNvPr>
          <p:cNvSpPr>
            <a:spLocks noGrp="1"/>
          </p:cNvSpPr>
          <p:nvPr/>
        </p:nvSpPr>
        <p:spPr>
          <a:xfrm>
            <a:off x="14904720" y="2757830"/>
            <a:ext cx="2114550" cy="1176832"/>
          </a:xfrm>
          <a:prstGeom prst="rect">
            <a:avLst/>
          </a:prstGeom>
          <a:noFill/>
        </p:spPr>
        <p:txBody>
          <a:bodyPr wrap="square" lIns="0" tIns="0" rIns="0" bIns="0" anchor="t">
            <a:spAutoFit/>
          </a:bodyPr>
          <a:lstStyle/>
          <a:p>
            <a:pPr algn="l">
              <a:lnSpc>
                <a:spcPct val="100000"/>
              </a:lnSpc>
              <a:buNone/>
            </a:pPr>
            <a:r>
              <a:rPr sz="900" b="0">
                <a:solidFill>
                  <a:srgbClr val="2E3142"/>
                </a:solidFill>
                <a:latin typeface="Consolas"/>
                <a:ea typeface="Consolas"/>
                <a:cs typeface="Consolas"/>
              </a:rPr>
              <a:t>+ id: int</a:t>
            </a:r>
          </a:p>
          <a:p>
            <a:pPr algn="l">
              <a:lnSpc>
                <a:spcPct val="100000"/>
              </a:lnSpc>
              <a:buNone/>
            </a:pPr>
            <a:r>
              <a:rPr sz="900" b="0">
                <a:solidFill>
                  <a:srgbClr val="2E3142"/>
                </a:solidFill>
                <a:latin typeface="Consolas"/>
                <a:ea typeface="Consolas"/>
                <a:cs typeface="Consolas"/>
              </a:rPr>
              <a:t>+ category: EventEnum</a:t>
            </a:r>
          </a:p>
          <a:p>
            <a:pPr algn="l">
              <a:lnSpc>
                <a:spcPct val="100000"/>
              </a:lnSpc>
              <a:buNone/>
            </a:pPr>
            <a:r>
              <a:rPr sz="900" b="0">
                <a:solidFill>
                  <a:srgbClr val="2E3142"/>
                </a:solidFill>
                <a:latin typeface="Consolas"/>
                <a:ea typeface="Consolas"/>
                <a:cs typeface="Consolas"/>
              </a:rPr>
              <a:t>+ content: str</a:t>
            </a:r>
          </a:p>
          <a:p>
            <a:pPr algn="l">
              <a:lnSpc>
                <a:spcPct val="100000"/>
              </a:lnSpc>
              <a:buNone/>
            </a:pPr>
            <a:r>
              <a:rPr sz="900" b="0">
                <a:solidFill>
                  <a:srgbClr val="2E3142"/>
                </a:solidFill>
                <a:latin typeface="Consolas"/>
                <a:ea typeface="Consolas"/>
                <a:cs typeface="Consolas"/>
              </a:rPr>
              <a:t>+ created_at: datetime</a:t>
            </a:r>
          </a:p>
        </p:txBody>
      </p:sp>
      <p:sp>
        <p:nvSpPr>
          <p:cNvPr id="5363" name="Rectangle 5362">
            <a:extLst>
              <a:ext uri="{FF2B5EF4-FFF2-40B4-BE49-F238E27FC236}">
                <a16:creationId xmlns:a16="http://schemas.microsoft.com/office/drawing/2014/main" id="{C213F052-2BBB-45AA-A744-AD2DA9689C1A}"/>
              </a:ext>
            </a:extLst>
          </p:cNvPr>
          <p:cNvSpPr>
            <a:spLocks noGrp="1"/>
          </p:cNvSpPr>
          <p:nvPr/>
        </p:nvSpPr>
        <p:spPr>
          <a:xfrm>
            <a:off x="822960" y="4628692"/>
            <a:ext cx="2228850" cy="1559052"/>
          </a:xfrm>
          <a:prstGeom prst="rect">
            <a:avLst/>
          </a:prstGeom>
          <a:solidFill>
            <a:srgbClr val="FFFFFF"/>
          </a:solidFill>
          <a:ln w="12700">
            <a:solidFill>
              <a:srgbClr val="6B7080"/>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endParaRPr/>
          </a:p>
        </p:txBody>
      </p:sp>
      <p:sp>
        <p:nvSpPr>
          <p:cNvPr id="5364" name="Rectangle 5363">
            <a:extLst>
              <a:ext uri="{FF2B5EF4-FFF2-40B4-BE49-F238E27FC236}">
                <a16:creationId xmlns:a16="http://schemas.microsoft.com/office/drawing/2014/main" id="{A326EC28-0DD8-4E79-BE7A-39C2E1B2BE50}"/>
              </a:ext>
            </a:extLst>
          </p:cNvPr>
          <p:cNvSpPr>
            <a:spLocks noGrp="1"/>
          </p:cNvSpPr>
          <p:nvPr/>
        </p:nvSpPr>
        <p:spPr>
          <a:xfrm>
            <a:off x="822960" y="4628692"/>
            <a:ext cx="2228850" cy="321868"/>
          </a:xfrm>
          <a:prstGeom prst="rect">
            <a:avLst/>
          </a:prstGeom>
          <a:solidFill>
            <a:srgbClr val="E6E9F1"/>
          </a:solidFill>
          <a:ln w="12700">
            <a:solidFill>
              <a:srgbClr val="6B7080"/>
            </a:solidFill>
          </a:ln>
        </p:spPr>
        <p:style>
          <a:lnRef idx="1">
            <a:schemeClr val="accent1"/>
          </a:lnRef>
          <a:fillRef idx="3">
            <a:schemeClr val="accent1"/>
          </a:fillRef>
          <a:effectRef idx="2">
            <a:schemeClr val="accent1"/>
          </a:effectRef>
          <a:fontRef idx="minor">
            <a:schemeClr val="lt1"/>
          </a:fontRef>
        </p:style>
        <p:txBody>
          <a:bodyPr wrap="square" lIns="18288" tIns="18288" rIns="18288" bIns="18288" anchor="ctr"/>
          <a:lstStyle/>
          <a:p>
            <a:pPr algn="ctr">
              <a:buNone/>
            </a:pPr>
            <a:r>
              <a:rPr sz="1200" b="1">
                <a:solidFill>
                  <a:srgbClr val="2E3142"/>
                </a:solidFill>
                <a:latin typeface="210 OmniGothic 040"/>
                <a:ea typeface="210 OmniGothic 040"/>
                <a:cs typeface="210 OmniGothic 040"/>
              </a:rPr>
              <a:t>RiskAssessment</a:t>
            </a:r>
          </a:p>
        </p:txBody>
      </p:sp>
      <p:sp>
        <p:nvSpPr>
          <p:cNvPr id="5365" name="TextBox 5364">
            <a:extLst>
              <a:ext uri="{FF2B5EF4-FFF2-40B4-BE49-F238E27FC236}">
                <a16:creationId xmlns:a16="http://schemas.microsoft.com/office/drawing/2014/main" id="{BCC79EDA-787F-4E2F-9BC6-4762471ED013}"/>
              </a:ext>
            </a:extLst>
          </p:cNvPr>
          <p:cNvSpPr>
            <a:spLocks noGrp="1"/>
          </p:cNvSpPr>
          <p:nvPr/>
        </p:nvSpPr>
        <p:spPr>
          <a:xfrm>
            <a:off x="902970" y="4990795"/>
            <a:ext cx="2114550" cy="1176832"/>
          </a:xfrm>
          <a:prstGeom prst="rect">
            <a:avLst/>
          </a:prstGeom>
          <a:noFill/>
        </p:spPr>
        <p:txBody>
          <a:bodyPr wrap="square" lIns="0" tIns="0" rIns="0" bIns="0" anchor="t">
            <a:spAutoFit/>
          </a:bodyPr>
          <a:lstStyle/>
          <a:p>
            <a:pPr algn="l">
              <a:lnSpc>
                <a:spcPct val="100000"/>
              </a:lnSpc>
              <a:buNone/>
            </a:pPr>
            <a:r>
              <a:rPr sz="900" b="0">
                <a:solidFill>
                  <a:srgbClr val="2E3142"/>
                </a:solidFill>
                <a:latin typeface="Consolas"/>
                <a:ea typeface="Consolas"/>
                <a:cs typeface="Consolas"/>
              </a:rPr>
              <a:t>+ id: int</a:t>
            </a:r>
          </a:p>
          <a:p>
            <a:pPr algn="l">
              <a:lnSpc>
                <a:spcPct val="100000"/>
              </a:lnSpc>
              <a:buNone/>
            </a:pPr>
            <a:r>
              <a:rPr sz="900" b="0">
                <a:solidFill>
                  <a:srgbClr val="2E3142"/>
                </a:solidFill>
                <a:latin typeface="Consolas"/>
                <a:ea typeface="Consolas"/>
                <a:cs typeface="Consolas"/>
              </a:rPr>
              <a:t>+ score: float</a:t>
            </a:r>
          </a:p>
          <a:p>
            <a:pPr algn="l">
              <a:lnSpc>
                <a:spcPct val="100000"/>
              </a:lnSpc>
              <a:buNone/>
            </a:pPr>
            <a:r>
              <a:rPr sz="900" b="0">
                <a:solidFill>
                  <a:srgbClr val="FF0000"/>
                </a:solidFill>
                <a:latin typeface="Consolas"/>
                <a:ea typeface="Consolas"/>
                <a:cs typeface="Consolas"/>
              </a:rPr>
              <a:t>+ run_id: int</a:t>
            </a:r>
          </a:p>
          <a:p>
            <a:pPr algn="l">
              <a:lnSpc>
                <a:spcPct val="100000"/>
              </a:lnSpc>
              <a:buNone/>
            </a:pPr>
            <a:r>
              <a:rPr sz="900" b="0">
                <a:solidFill>
                  <a:srgbClr val="2E3142"/>
                </a:solidFill>
                <a:latin typeface="Consolas"/>
                <a:ea typeface="Consolas"/>
                <a:cs typeface="Consolas"/>
              </a:rPr>
              <a:t>+ weather·terrain·fuel·infra</a:t>
            </a:r>
          </a:p>
        </p:txBody>
      </p:sp>
      <p:sp>
        <p:nvSpPr>
          <p:cNvPr id="5366" name="Rectangle 5365">
            <a:extLst>
              <a:ext uri="{FF2B5EF4-FFF2-40B4-BE49-F238E27FC236}">
                <a16:creationId xmlns:a16="http://schemas.microsoft.com/office/drawing/2014/main" id="{B0CEEF4F-63E6-4309-BD4B-2707C9563E26}"/>
              </a:ext>
            </a:extLst>
          </p:cNvPr>
          <p:cNvSpPr>
            <a:spLocks noGrp="1"/>
          </p:cNvSpPr>
          <p:nvPr/>
        </p:nvSpPr>
        <p:spPr>
          <a:xfrm>
            <a:off x="3623310" y="4628692"/>
            <a:ext cx="2228850" cy="1559052"/>
          </a:xfrm>
          <a:prstGeom prst="rect">
            <a:avLst/>
          </a:prstGeom>
          <a:solidFill>
            <a:srgbClr val="FFFFFF"/>
          </a:solidFill>
          <a:ln w="12700">
            <a:solidFill>
              <a:srgbClr val="6B7080"/>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endParaRPr/>
          </a:p>
        </p:txBody>
      </p:sp>
      <p:sp>
        <p:nvSpPr>
          <p:cNvPr id="5367" name="Rectangle 5366">
            <a:extLst>
              <a:ext uri="{FF2B5EF4-FFF2-40B4-BE49-F238E27FC236}">
                <a16:creationId xmlns:a16="http://schemas.microsoft.com/office/drawing/2014/main" id="{35BFFF48-34E8-4780-B106-D3AD3543181D}"/>
              </a:ext>
            </a:extLst>
          </p:cNvPr>
          <p:cNvSpPr>
            <a:spLocks noGrp="1"/>
          </p:cNvSpPr>
          <p:nvPr/>
        </p:nvSpPr>
        <p:spPr>
          <a:xfrm>
            <a:off x="3623310" y="4628692"/>
            <a:ext cx="2228850" cy="321868"/>
          </a:xfrm>
          <a:prstGeom prst="rect">
            <a:avLst/>
          </a:prstGeom>
          <a:solidFill>
            <a:srgbClr val="E6E9F1"/>
          </a:solidFill>
          <a:ln w="12700">
            <a:solidFill>
              <a:srgbClr val="6B7080"/>
            </a:solidFill>
          </a:ln>
        </p:spPr>
        <p:style>
          <a:lnRef idx="1">
            <a:schemeClr val="accent1"/>
          </a:lnRef>
          <a:fillRef idx="3">
            <a:schemeClr val="accent1"/>
          </a:fillRef>
          <a:effectRef idx="2">
            <a:schemeClr val="accent1"/>
          </a:effectRef>
          <a:fontRef idx="minor">
            <a:schemeClr val="lt1"/>
          </a:fontRef>
        </p:style>
        <p:txBody>
          <a:bodyPr wrap="square" lIns="18288" tIns="18288" rIns="18288" bIns="18288" anchor="ctr"/>
          <a:lstStyle/>
          <a:p>
            <a:pPr algn="ctr">
              <a:buNone/>
            </a:pPr>
            <a:r>
              <a:rPr sz="1200" b="1">
                <a:solidFill>
                  <a:srgbClr val="2E3142"/>
                </a:solidFill>
                <a:latin typeface="210 OmniGothic 040"/>
                <a:ea typeface="210 OmniGothic 040"/>
                <a:cs typeface="210 OmniGothic 040"/>
              </a:rPr>
              <a:t>Incident</a:t>
            </a:r>
          </a:p>
        </p:txBody>
      </p:sp>
      <p:sp>
        <p:nvSpPr>
          <p:cNvPr id="5368" name="TextBox 5367">
            <a:extLst>
              <a:ext uri="{FF2B5EF4-FFF2-40B4-BE49-F238E27FC236}">
                <a16:creationId xmlns:a16="http://schemas.microsoft.com/office/drawing/2014/main" id="{10817C30-C064-439E-9C26-447806C2DCEB}"/>
              </a:ext>
            </a:extLst>
          </p:cNvPr>
          <p:cNvSpPr>
            <a:spLocks noGrp="1"/>
          </p:cNvSpPr>
          <p:nvPr/>
        </p:nvSpPr>
        <p:spPr>
          <a:xfrm>
            <a:off x="3703320" y="4990795"/>
            <a:ext cx="2114550" cy="1176832"/>
          </a:xfrm>
          <a:prstGeom prst="rect">
            <a:avLst/>
          </a:prstGeom>
          <a:noFill/>
        </p:spPr>
        <p:txBody>
          <a:bodyPr wrap="square" lIns="0" tIns="0" rIns="0" bIns="0" anchor="t">
            <a:spAutoFit/>
          </a:bodyPr>
          <a:lstStyle/>
          <a:p>
            <a:pPr algn="l">
              <a:lnSpc>
                <a:spcPct val="100000"/>
              </a:lnSpc>
              <a:buNone/>
            </a:pPr>
            <a:r>
              <a:rPr sz="900" b="0">
                <a:solidFill>
                  <a:srgbClr val="2E3142"/>
                </a:solidFill>
                <a:latin typeface="Consolas"/>
                <a:ea typeface="Consolas"/>
                <a:cs typeface="Consolas"/>
              </a:rPr>
              <a:t>+ id: str</a:t>
            </a:r>
          </a:p>
          <a:p>
            <a:pPr algn="l">
              <a:lnSpc>
                <a:spcPct val="100000"/>
              </a:lnSpc>
              <a:buNone/>
            </a:pPr>
            <a:r>
              <a:rPr sz="900" b="0">
                <a:solidFill>
                  <a:srgbClr val="2E3142"/>
                </a:solidFill>
                <a:latin typeface="Consolas"/>
                <a:ea typeface="Consolas"/>
                <a:cs typeface="Consolas"/>
              </a:rPr>
              <a:t>+ ignition_geom: Point</a:t>
            </a:r>
          </a:p>
          <a:p>
            <a:pPr algn="l">
              <a:lnSpc>
                <a:spcPct val="100000"/>
              </a:lnSpc>
              <a:buNone/>
            </a:pPr>
            <a:r>
              <a:rPr sz="900" b="0">
                <a:solidFill>
                  <a:srgbClr val="2E3142"/>
                </a:solidFill>
                <a:latin typeface="Consolas"/>
                <a:ea typeface="Consolas"/>
                <a:cs typeface="Consolas"/>
              </a:rPr>
              <a:t>+ status: StatusEnum</a:t>
            </a:r>
          </a:p>
          <a:p>
            <a:pPr algn="l">
              <a:lnSpc>
                <a:spcPct val="100000"/>
              </a:lnSpc>
              <a:buNone/>
            </a:pPr>
            <a:r>
              <a:rPr sz="900" b="0">
                <a:solidFill>
                  <a:srgbClr val="2E3142"/>
                </a:solidFill>
                <a:latin typeface="Consolas"/>
                <a:ea typeface="Consolas"/>
                <a:cs typeface="Consolas"/>
              </a:rPr>
              <a:t>+ ended_at: datetime</a:t>
            </a:r>
          </a:p>
        </p:txBody>
      </p:sp>
      <p:sp>
        <p:nvSpPr>
          <p:cNvPr id="5369" name="Rectangle 5368">
            <a:extLst>
              <a:ext uri="{FF2B5EF4-FFF2-40B4-BE49-F238E27FC236}">
                <a16:creationId xmlns:a16="http://schemas.microsoft.com/office/drawing/2014/main" id="{18C0B98A-4C83-4736-899E-7417B517254E}"/>
              </a:ext>
            </a:extLst>
          </p:cNvPr>
          <p:cNvSpPr>
            <a:spLocks noGrp="1"/>
          </p:cNvSpPr>
          <p:nvPr/>
        </p:nvSpPr>
        <p:spPr>
          <a:xfrm>
            <a:off x="6423660" y="4628692"/>
            <a:ext cx="2228850" cy="1559052"/>
          </a:xfrm>
          <a:prstGeom prst="rect">
            <a:avLst/>
          </a:prstGeom>
          <a:solidFill>
            <a:srgbClr val="FFFFFF"/>
          </a:solidFill>
          <a:ln w="12700">
            <a:solidFill>
              <a:srgbClr val="6B7080"/>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endParaRPr/>
          </a:p>
        </p:txBody>
      </p:sp>
      <p:sp>
        <p:nvSpPr>
          <p:cNvPr id="5370" name="Rectangle 5369">
            <a:extLst>
              <a:ext uri="{FF2B5EF4-FFF2-40B4-BE49-F238E27FC236}">
                <a16:creationId xmlns:a16="http://schemas.microsoft.com/office/drawing/2014/main" id="{4729379E-5D21-48A7-B525-6F72F32425CD}"/>
              </a:ext>
            </a:extLst>
          </p:cNvPr>
          <p:cNvSpPr>
            <a:spLocks noGrp="1"/>
          </p:cNvSpPr>
          <p:nvPr/>
        </p:nvSpPr>
        <p:spPr>
          <a:xfrm>
            <a:off x="6423660" y="4628692"/>
            <a:ext cx="2228850" cy="321868"/>
          </a:xfrm>
          <a:prstGeom prst="rect">
            <a:avLst/>
          </a:prstGeom>
          <a:solidFill>
            <a:srgbClr val="E6E9F1"/>
          </a:solidFill>
          <a:ln w="12700">
            <a:solidFill>
              <a:srgbClr val="6B7080"/>
            </a:solidFill>
          </a:ln>
        </p:spPr>
        <p:style>
          <a:lnRef idx="1">
            <a:schemeClr val="accent1"/>
          </a:lnRef>
          <a:fillRef idx="3">
            <a:schemeClr val="accent1"/>
          </a:fillRef>
          <a:effectRef idx="2">
            <a:schemeClr val="accent1"/>
          </a:effectRef>
          <a:fontRef idx="minor">
            <a:schemeClr val="lt1"/>
          </a:fontRef>
        </p:style>
        <p:txBody>
          <a:bodyPr wrap="square" lIns="18288" tIns="18288" rIns="18288" bIns="18288" anchor="ctr"/>
          <a:lstStyle/>
          <a:p>
            <a:pPr algn="ctr">
              <a:buNone/>
            </a:pPr>
            <a:r>
              <a:rPr sz="1200" b="1">
                <a:solidFill>
                  <a:srgbClr val="2E3142"/>
                </a:solidFill>
                <a:latin typeface="210 OmniGothic 040"/>
                <a:ea typeface="210 OmniGothic 040"/>
                <a:cs typeface="210 OmniGothic 040"/>
              </a:rPr>
              <a:t>PredictionRun</a:t>
            </a:r>
          </a:p>
        </p:txBody>
      </p:sp>
      <p:sp>
        <p:nvSpPr>
          <p:cNvPr id="5371" name="TextBox 5370">
            <a:extLst>
              <a:ext uri="{FF2B5EF4-FFF2-40B4-BE49-F238E27FC236}">
                <a16:creationId xmlns:a16="http://schemas.microsoft.com/office/drawing/2014/main" id="{9D65989E-2191-4CE3-873D-ABCA2B6BCB68}"/>
              </a:ext>
            </a:extLst>
          </p:cNvPr>
          <p:cNvSpPr>
            <a:spLocks noGrp="1"/>
          </p:cNvSpPr>
          <p:nvPr/>
        </p:nvSpPr>
        <p:spPr>
          <a:xfrm>
            <a:off x="6503670" y="4990795"/>
            <a:ext cx="2114550" cy="1176832"/>
          </a:xfrm>
          <a:prstGeom prst="rect">
            <a:avLst/>
          </a:prstGeom>
          <a:noFill/>
        </p:spPr>
        <p:txBody>
          <a:bodyPr wrap="square" lIns="0" tIns="0" rIns="0" bIns="0" anchor="t">
            <a:spAutoFit/>
          </a:bodyPr>
          <a:lstStyle/>
          <a:p>
            <a:pPr algn="l">
              <a:lnSpc>
                <a:spcPct val="100000"/>
              </a:lnSpc>
              <a:buNone/>
            </a:pPr>
            <a:r>
              <a:rPr sz="900" b="0">
                <a:solidFill>
                  <a:srgbClr val="2E3142"/>
                </a:solidFill>
                <a:latin typeface="Consolas"/>
                <a:ea typeface="Consolas"/>
                <a:cs typeface="Consolas"/>
              </a:rPr>
              <a:t>+ id: int</a:t>
            </a:r>
          </a:p>
          <a:p>
            <a:pPr algn="l">
              <a:lnSpc>
                <a:spcPct val="100000"/>
              </a:lnSpc>
              <a:buNone/>
            </a:pPr>
            <a:r>
              <a:rPr sz="900" b="0">
                <a:solidFill>
                  <a:srgbClr val="2E3142"/>
                </a:solidFill>
                <a:latin typeface="Consolas"/>
                <a:ea typeface="Consolas"/>
                <a:cs typeface="Consolas"/>
              </a:rPr>
              <a:t>+ t0: datetime</a:t>
            </a:r>
          </a:p>
          <a:p>
            <a:pPr algn="l">
              <a:lnSpc>
                <a:spcPct val="100000"/>
              </a:lnSpc>
              <a:buNone/>
            </a:pPr>
            <a:r>
              <a:rPr sz="900" b="0">
                <a:solidFill>
                  <a:srgbClr val="2E3142"/>
                </a:solidFill>
                <a:latin typeface="Consolas"/>
                <a:ea typeface="Consolas"/>
                <a:cs typeface="Consolas"/>
              </a:rPr>
              <a:t>+ perimeter_id: int?</a:t>
            </a:r>
          </a:p>
          <a:p>
            <a:pPr algn="l">
              <a:lnSpc>
                <a:spcPct val="100000"/>
              </a:lnSpc>
              <a:buNone/>
            </a:pPr>
            <a:r>
              <a:rPr sz="900" b="0">
                <a:solidFill>
                  <a:srgbClr val="2E3142"/>
                </a:solidFill>
                <a:latin typeface="Consolas"/>
                <a:ea typeface="Consolas"/>
                <a:cs typeface="Consolas"/>
              </a:rPr>
              <a:t>+ status: RunStatusEnum</a:t>
            </a:r>
          </a:p>
        </p:txBody>
      </p:sp>
      <p:sp>
        <p:nvSpPr>
          <p:cNvPr id="5372" name="Rectangle 5371">
            <a:extLst>
              <a:ext uri="{FF2B5EF4-FFF2-40B4-BE49-F238E27FC236}">
                <a16:creationId xmlns:a16="http://schemas.microsoft.com/office/drawing/2014/main" id="{2E2BF3E5-AE59-41F3-B030-5440E0E7E72E}"/>
              </a:ext>
            </a:extLst>
          </p:cNvPr>
          <p:cNvSpPr>
            <a:spLocks noGrp="1"/>
          </p:cNvSpPr>
          <p:nvPr/>
        </p:nvSpPr>
        <p:spPr>
          <a:xfrm>
            <a:off x="9224010" y="4628692"/>
            <a:ext cx="2228850" cy="1559052"/>
          </a:xfrm>
          <a:prstGeom prst="rect">
            <a:avLst/>
          </a:prstGeom>
          <a:solidFill>
            <a:srgbClr val="FFFFFF"/>
          </a:solidFill>
          <a:ln w="12700">
            <a:solidFill>
              <a:srgbClr val="6B7080"/>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endParaRPr/>
          </a:p>
        </p:txBody>
      </p:sp>
      <p:sp>
        <p:nvSpPr>
          <p:cNvPr id="5373" name="Rectangle 5372">
            <a:extLst>
              <a:ext uri="{FF2B5EF4-FFF2-40B4-BE49-F238E27FC236}">
                <a16:creationId xmlns:a16="http://schemas.microsoft.com/office/drawing/2014/main" id="{912D9B0D-0ADF-4C40-970E-99D1F9EDA126}"/>
              </a:ext>
            </a:extLst>
          </p:cNvPr>
          <p:cNvSpPr>
            <a:spLocks noGrp="1"/>
          </p:cNvSpPr>
          <p:nvPr/>
        </p:nvSpPr>
        <p:spPr>
          <a:xfrm>
            <a:off x="9224010" y="4628692"/>
            <a:ext cx="2228850" cy="321868"/>
          </a:xfrm>
          <a:prstGeom prst="rect">
            <a:avLst/>
          </a:prstGeom>
          <a:solidFill>
            <a:srgbClr val="E6E9F1"/>
          </a:solidFill>
          <a:ln w="12700">
            <a:solidFill>
              <a:srgbClr val="6B7080"/>
            </a:solidFill>
          </a:ln>
        </p:spPr>
        <p:style>
          <a:lnRef idx="1">
            <a:schemeClr val="accent1"/>
          </a:lnRef>
          <a:fillRef idx="3">
            <a:schemeClr val="accent1"/>
          </a:fillRef>
          <a:effectRef idx="2">
            <a:schemeClr val="accent1"/>
          </a:effectRef>
          <a:fontRef idx="minor">
            <a:schemeClr val="lt1"/>
          </a:fontRef>
        </p:style>
        <p:txBody>
          <a:bodyPr wrap="square" lIns="18288" tIns="18288" rIns="18288" bIns="18288" anchor="ctr"/>
          <a:lstStyle/>
          <a:p>
            <a:pPr algn="ctr">
              <a:buNone/>
            </a:pPr>
            <a:r>
              <a:rPr sz="1200" b="1">
                <a:solidFill>
                  <a:srgbClr val="2E3142"/>
                </a:solidFill>
                <a:latin typeface="210 OmniGothic 040"/>
                <a:ea typeface="210 OmniGothic 040"/>
                <a:cs typeface="210 OmniGothic 040"/>
              </a:rPr>
              <a:t>ChatMessage</a:t>
            </a:r>
          </a:p>
        </p:txBody>
      </p:sp>
      <p:sp>
        <p:nvSpPr>
          <p:cNvPr id="5374" name="TextBox 5373">
            <a:extLst>
              <a:ext uri="{FF2B5EF4-FFF2-40B4-BE49-F238E27FC236}">
                <a16:creationId xmlns:a16="http://schemas.microsoft.com/office/drawing/2014/main" id="{4F3B5C3F-5ABB-49D7-B38E-69FA93FD93AE}"/>
              </a:ext>
            </a:extLst>
          </p:cNvPr>
          <p:cNvSpPr>
            <a:spLocks noGrp="1"/>
          </p:cNvSpPr>
          <p:nvPr/>
        </p:nvSpPr>
        <p:spPr>
          <a:xfrm>
            <a:off x="9304020" y="4990795"/>
            <a:ext cx="2114550" cy="1176832"/>
          </a:xfrm>
          <a:prstGeom prst="rect">
            <a:avLst/>
          </a:prstGeom>
          <a:noFill/>
        </p:spPr>
        <p:txBody>
          <a:bodyPr wrap="square" lIns="0" tIns="0" rIns="0" bIns="0" anchor="t">
            <a:spAutoFit/>
          </a:bodyPr>
          <a:lstStyle/>
          <a:p>
            <a:pPr algn="l">
              <a:lnSpc>
                <a:spcPct val="100000"/>
              </a:lnSpc>
              <a:buNone/>
            </a:pPr>
            <a:r>
              <a:rPr sz="900" b="0">
                <a:solidFill>
                  <a:srgbClr val="2E3142"/>
                </a:solidFill>
                <a:latin typeface="Consolas"/>
                <a:ea typeface="Consolas"/>
                <a:cs typeface="Consolas"/>
              </a:rPr>
              <a:t>+ id: int</a:t>
            </a:r>
          </a:p>
          <a:p>
            <a:pPr algn="l">
              <a:lnSpc>
                <a:spcPct val="100000"/>
              </a:lnSpc>
              <a:buNone/>
            </a:pPr>
            <a:r>
              <a:rPr sz="900" b="0">
                <a:solidFill>
                  <a:srgbClr val="2E3142"/>
                </a:solidFill>
                <a:latin typeface="Consolas"/>
                <a:ea typeface="Consolas"/>
                <a:cs typeface="Consolas"/>
              </a:rPr>
              <a:t>+ sender: SenderEnum</a:t>
            </a:r>
          </a:p>
          <a:p>
            <a:pPr algn="l">
              <a:lnSpc>
                <a:spcPct val="100000"/>
              </a:lnSpc>
              <a:buNone/>
            </a:pPr>
            <a:r>
              <a:rPr sz="900" b="0">
                <a:solidFill>
                  <a:srgbClr val="2E3142"/>
                </a:solidFill>
                <a:latin typeface="Consolas"/>
                <a:ea typeface="Consolas"/>
                <a:cs typeface="Consolas"/>
              </a:rPr>
              <a:t>+ intent: IntentEnum</a:t>
            </a:r>
          </a:p>
          <a:p>
            <a:pPr algn="l">
              <a:lnSpc>
                <a:spcPct val="100000"/>
              </a:lnSpc>
              <a:buNone/>
            </a:pPr>
            <a:r>
              <a:rPr sz="900" b="0">
                <a:solidFill>
                  <a:srgbClr val="2E3142"/>
                </a:solidFill>
                <a:latin typeface="Consolas"/>
                <a:ea typeface="Consolas"/>
                <a:cs typeface="Consolas"/>
              </a:rPr>
              <a:t>+ content: text</a:t>
            </a:r>
          </a:p>
        </p:txBody>
      </p:sp>
      <p:sp>
        <p:nvSpPr>
          <p:cNvPr id="5375" name="Rectangle 5374">
            <a:extLst>
              <a:ext uri="{FF2B5EF4-FFF2-40B4-BE49-F238E27FC236}">
                <a16:creationId xmlns:a16="http://schemas.microsoft.com/office/drawing/2014/main" id="{A2F9B386-246D-4099-9DC1-BC44DB59E017}"/>
              </a:ext>
            </a:extLst>
          </p:cNvPr>
          <p:cNvSpPr>
            <a:spLocks noGrp="1"/>
          </p:cNvSpPr>
          <p:nvPr/>
        </p:nvSpPr>
        <p:spPr>
          <a:xfrm>
            <a:off x="12024360" y="4628692"/>
            <a:ext cx="2228850" cy="1559052"/>
          </a:xfrm>
          <a:prstGeom prst="rect">
            <a:avLst/>
          </a:prstGeom>
          <a:solidFill>
            <a:srgbClr val="FFFFFF"/>
          </a:solidFill>
          <a:ln w="12700">
            <a:solidFill>
              <a:srgbClr val="6B7080"/>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endParaRPr/>
          </a:p>
        </p:txBody>
      </p:sp>
      <p:sp>
        <p:nvSpPr>
          <p:cNvPr id="5376" name="Rectangle 5375">
            <a:extLst>
              <a:ext uri="{FF2B5EF4-FFF2-40B4-BE49-F238E27FC236}">
                <a16:creationId xmlns:a16="http://schemas.microsoft.com/office/drawing/2014/main" id="{0A92D555-C217-4448-9948-3B8DF4ABDC2C}"/>
              </a:ext>
            </a:extLst>
          </p:cNvPr>
          <p:cNvSpPr>
            <a:spLocks noGrp="1"/>
          </p:cNvSpPr>
          <p:nvPr/>
        </p:nvSpPr>
        <p:spPr>
          <a:xfrm>
            <a:off x="12024360" y="4628692"/>
            <a:ext cx="2228850" cy="321868"/>
          </a:xfrm>
          <a:prstGeom prst="rect">
            <a:avLst/>
          </a:prstGeom>
          <a:solidFill>
            <a:srgbClr val="E6E9F1"/>
          </a:solidFill>
          <a:ln w="12700">
            <a:solidFill>
              <a:srgbClr val="6B7080"/>
            </a:solidFill>
          </a:ln>
        </p:spPr>
        <p:style>
          <a:lnRef idx="1">
            <a:schemeClr val="accent1"/>
          </a:lnRef>
          <a:fillRef idx="3">
            <a:schemeClr val="accent1"/>
          </a:fillRef>
          <a:effectRef idx="2">
            <a:schemeClr val="accent1"/>
          </a:effectRef>
          <a:fontRef idx="minor">
            <a:schemeClr val="lt1"/>
          </a:fontRef>
        </p:style>
        <p:txBody>
          <a:bodyPr wrap="square" lIns="18288" tIns="18288" rIns="18288" bIns="18288" anchor="ctr"/>
          <a:lstStyle/>
          <a:p>
            <a:pPr algn="ctr">
              <a:buNone/>
            </a:pPr>
            <a:r>
              <a:rPr sz="1200" b="1">
                <a:solidFill>
                  <a:srgbClr val="2E3142"/>
                </a:solidFill>
                <a:latin typeface="210 OmniGothic 040"/>
                <a:ea typeface="210 OmniGothic 040"/>
                <a:cs typeface="210 OmniGothic 040"/>
              </a:rPr>
              <a:t>EvidenceChunk</a:t>
            </a:r>
          </a:p>
        </p:txBody>
      </p:sp>
      <p:sp>
        <p:nvSpPr>
          <p:cNvPr id="5377" name="TextBox 5376">
            <a:extLst>
              <a:ext uri="{FF2B5EF4-FFF2-40B4-BE49-F238E27FC236}">
                <a16:creationId xmlns:a16="http://schemas.microsoft.com/office/drawing/2014/main" id="{5978FCD8-15C9-4715-8029-CB5EC03C1098}"/>
              </a:ext>
            </a:extLst>
          </p:cNvPr>
          <p:cNvSpPr>
            <a:spLocks noGrp="1"/>
          </p:cNvSpPr>
          <p:nvPr/>
        </p:nvSpPr>
        <p:spPr>
          <a:xfrm>
            <a:off x="12104370" y="4990795"/>
            <a:ext cx="2114550" cy="1176832"/>
          </a:xfrm>
          <a:prstGeom prst="rect">
            <a:avLst/>
          </a:prstGeom>
          <a:noFill/>
        </p:spPr>
        <p:txBody>
          <a:bodyPr wrap="square" lIns="0" tIns="0" rIns="0" bIns="0" anchor="t">
            <a:spAutoFit/>
          </a:bodyPr>
          <a:lstStyle/>
          <a:p>
            <a:pPr algn="l">
              <a:lnSpc>
                <a:spcPct val="100000"/>
              </a:lnSpc>
              <a:buNone/>
            </a:pPr>
            <a:r>
              <a:rPr sz="900" b="0">
                <a:solidFill>
                  <a:srgbClr val="2E3142"/>
                </a:solidFill>
                <a:latin typeface="Consolas"/>
                <a:ea typeface="Consolas"/>
                <a:cs typeface="Consolas"/>
              </a:rPr>
              <a:t>+ chunk_id: str</a:t>
            </a:r>
          </a:p>
          <a:p>
            <a:pPr algn="l">
              <a:lnSpc>
                <a:spcPct val="100000"/>
              </a:lnSpc>
              <a:buNone/>
            </a:pPr>
            <a:r>
              <a:rPr sz="900" b="0">
                <a:solidFill>
                  <a:srgbClr val="2E3142"/>
                </a:solidFill>
                <a:latin typeface="Consolas"/>
                <a:ea typeface="Consolas"/>
                <a:cs typeface="Consolas"/>
              </a:rPr>
              <a:t>+ doc_name: str</a:t>
            </a:r>
          </a:p>
          <a:p>
            <a:pPr algn="l">
              <a:lnSpc>
                <a:spcPct val="100000"/>
              </a:lnSpc>
              <a:buNone/>
            </a:pPr>
            <a:r>
              <a:rPr sz="900" b="0">
                <a:solidFill>
                  <a:srgbClr val="2E3142"/>
                </a:solidFill>
                <a:latin typeface="Consolas"/>
                <a:ea typeface="Consolas"/>
                <a:cs typeface="Consolas"/>
              </a:rPr>
              <a:t>+ page: str</a:t>
            </a:r>
          </a:p>
          <a:p>
            <a:pPr algn="l">
              <a:lnSpc>
                <a:spcPct val="100000"/>
              </a:lnSpc>
              <a:buNone/>
            </a:pPr>
            <a:r>
              <a:rPr sz="900" b="0">
                <a:solidFill>
                  <a:srgbClr val="2E3142"/>
                </a:solidFill>
                <a:latin typeface="Consolas"/>
                <a:ea typeface="Consolas"/>
                <a:cs typeface="Consolas"/>
              </a:rPr>
              <a:t>+ text: text</a:t>
            </a:r>
          </a:p>
        </p:txBody>
      </p:sp>
      <p:sp>
        <p:nvSpPr>
          <p:cNvPr id="5378" name="Rectangle 5377">
            <a:extLst>
              <a:ext uri="{FF2B5EF4-FFF2-40B4-BE49-F238E27FC236}">
                <a16:creationId xmlns:a16="http://schemas.microsoft.com/office/drawing/2014/main" id="{1DEF0C20-D3B7-4C69-9AF2-709F59D0F1E2}"/>
              </a:ext>
            </a:extLst>
          </p:cNvPr>
          <p:cNvSpPr>
            <a:spLocks noGrp="1"/>
          </p:cNvSpPr>
          <p:nvPr/>
        </p:nvSpPr>
        <p:spPr>
          <a:xfrm>
            <a:off x="14824709" y="4628692"/>
            <a:ext cx="2228850" cy="1559052"/>
          </a:xfrm>
          <a:prstGeom prst="rect">
            <a:avLst/>
          </a:prstGeom>
          <a:solidFill>
            <a:srgbClr val="FFFFFF"/>
          </a:solidFill>
          <a:ln w="12700">
            <a:solidFill>
              <a:srgbClr val="6B7080"/>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endParaRPr/>
          </a:p>
        </p:txBody>
      </p:sp>
      <p:sp>
        <p:nvSpPr>
          <p:cNvPr id="5379" name="Rectangle 5378">
            <a:extLst>
              <a:ext uri="{FF2B5EF4-FFF2-40B4-BE49-F238E27FC236}">
                <a16:creationId xmlns:a16="http://schemas.microsoft.com/office/drawing/2014/main" id="{4F6BB0FC-2EE1-465C-B08C-4EC2319E2944}"/>
              </a:ext>
            </a:extLst>
          </p:cNvPr>
          <p:cNvSpPr>
            <a:spLocks noGrp="1"/>
          </p:cNvSpPr>
          <p:nvPr/>
        </p:nvSpPr>
        <p:spPr>
          <a:xfrm>
            <a:off x="14824709" y="4628692"/>
            <a:ext cx="2228850" cy="321868"/>
          </a:xfrm>
          <a:prstGeom prst="rect">
            <a:avLst/>
          </a:prstGeom>
          <a:solidFill>
            <a:srgbClr val="E6E9F1"/>
          </a:solidFill>
          <a:ln w="12700">
            <a:solidFill>
              <a:srgbClr val="6B7080"/>
            </a:solidFill>
          </a:ln>
        </p:spPr>
        <p:style>
          <a:lnRef idx="1">
            <a:schemeClr val="accent1"/>
          </a:lnRef>
          <a:fillRef idx="3">
            <a:schemeClr val="accent1"/>
          </a:fillRef>
          <a:effectRef idx="2">
            <a:schemeClr val="accent1"/>
          </a:effectRef>
          <a:fontRef idx="minor">
            <a:schemeClr val="lt1"/>
          </a:fontRef>
        </p:style>
        <p:txBody>
          <a:bodyPr wrap="square" lIns="18288" tIns="18288" rIns="18288" bIns="18288" anchor="ctr"/>
          <a:lstStyle/>
          <a:p>
            <a:pPr algn="ctr">
              <a:buNone/>
            </a:pPr>
            <a:r>
              <a:rPr sz="1200" b="1">
                <a:solidFill>
                  <a:srgbClr val="2E3142"/>
                </a:solidFill>
                <a:latin typeface="210 OmniGothic 040"/>
                <a:ea typeface="210 OmniGothic 040"/>
                <a:cs typeface="210 OmniGothic 040"/>
              </a:rPr>
              <a:t>Village</a:t>
            </a:r>
          </a:p>
        </p:txBody>
      </p:sp>
      <p:sp>
        <p:nvSpPr>
          <p:cNvPr id="5380" name="TextBox 5379">
            <a:extLst>
              <a:ext uri="{FF2B5EF4-FFF2-40B4-BE49-F238E27FC236}">
                <a16:creationId xmlns:a16="http://schemas.microsoft.com/office/drawing/2014/main" id="{F815E1A6-D75F-44B0-A502-017A53722E26}"/>
              </a:ext>
            </a:extLst>
          </p:cNvPr>
          <p:cNvSpPr>
            <a:spLocks noGrp="1"/>
          </p:cNvSpPr>
          <p:nvPr/>
        </p:nvSpPr>
        <p:spPr>
          <a:xfrm>
            <a:off x="14904720" y="4990795"/>
            <a:ext cx="2114550" cy="1176832"/>
          </a:xfrm>
          <a:prstGeom prst="rect">
            <a:avLst/>
          </a:prstGeom>
          <a:noFill/>
        </p:spPr>
        <p:txBody>
          <a:bodyPr wrap="square" lIns="0" tIns="0" rIns="0" bIns="0" anchor="t">
            <a:spAutoFit/>
          </a:bodyPr>
          <a:lstStyle/>
          <a:p>
            <a:pPr algn="l">
              <a:lnSpc>
                <a:spcPct val="100000"/>
              </a:lnSpc>
              <a:buNone/>
            </a:pPr>
            <a:r>
              <a:rPr sz="900" b="0">
                <a:solidFill>
                  <a:srgbClr val="2E3142"/>
                </a:solidFill>
                <a:latin typeface="Consolas"/>
                <a:ea typeface="Consolas"/>
                <a:cs typeface="Consolas"/>
              </a:rPr>
              <a:t>+ id: str</a:t>
            </a:r>
          </a:p>
          <a:p>
            <a:pPr algn="l">
              <a:lnSpc>
                <a:spcPct val="100000"/>
              </a:lnSpc>
              <a:buNone/>
            </a:pPr>
            <a:r>
              <a:rPr sz="900" b="0">
                <a:solidFill>
                  <a:srgbClr val="2E3142"/>
                </a:solidFill>
                <a:latin typeface="Consolas"/>
                <a:ea typeface="Consolas"/>
                <a:cs typeface="Consolas"/>
              </a:rPr>
              <a:t>+ name: str</a:t>
            </a:r>
          </a:p>
          <a:p>
            <a:pPr algn="l">
              <a:lnSpc>
                <a:spcPct val="100000"/>
              </a:lnSpc>
              <a:buNone/>
            </a:pPr>
            <a:r>
              <a:rPr sz="900" b="0">
                <a:solidFill>
                  <a:srgbClr val="2E3142"/>
                </a:solidFill>
                <a:latin typeface="Consolas"/>
                <a:ea typeface="Consolas"/>
                <a:cs typeface="Consolas"/>
              </a:rPr>
              <a:t>+ population: int</a:t>
            </a:r>
          </a:p>
          <a:p>
            <a:pPr algn="l">
              <a:lnSpc>
                <a:spcPct val="100000"/>
              </a:lnSpc>
              <a:buNone/>
            </a:pPr>
            <a:r>
              <a:rPr sz="900" b="0">
                <a:solidFill>
                  <a:srgbClr val="2E3142"/>
                </a:solidFill>
                <a:latin typeface="Consolas"/>
                <a:ea typeface="Consolas"/>
                <a:cs typeface="Consolas"/>
              </a:rPr>
              <a:t>+ elderly·disabled: int</a:t>
            </a:r>
          </a:p>
        </p:txBody>
      </p:sp>
      <p:sp>
        <p:nvSpPr>
          <p:cNvPr id="5381" name="Rectangle 5380">
            <a:extLst>
              <a:ext uri="{FF2B5EF4-FFF2-40B4-BE49-F238E27FC236}">
                <a16:creationId xmlns:a16="http://schemas.microsoft.com/office/drawing/2014/main" id="{85712BC9-CFE2-4B82-8446-D27AAF8A939E}"/>
              </a:ext>
            </a:extLst>
          </p:cNvPr>
          <p:cNvSpPr>
            <a:spLocks noGrp="1"/>
          </p:cNvSpPr>
          <p:nvPr/>
        </p:nvSpPr>
        <p:spPr>
          <a:xfrm>
            <a:off x="822960" y="6861657"/>
            <a:ext cx="2228850" cy="1559052"/>
          </a:xfrm>
          <a:prstGeom prst="rect">
            <a:avLst/>
          </a:prstGeom>
          <a:solidFill>
            <a:srgbClr val="FFFFFF"/>
          </a:solidFill>
          <a:ln w="12700">
            <a:solidFill>
              <a:srgbClr val="6B7080"/>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endParaRPr/>
          </a:p>
        </p:txBody>
      </p:sp>
      <p:sp>
        <p:nvSpPr>
          <p:cNvPr id="5382" name="Rectangle 5381">
            <a:extLst>
              <a:ext uri="{FF2B5EF4-FFF2-40B4-BE49-F238E27FC236}">
                <a16:creationId xmlns:a16="http://schemas.microsoft.com/office/drawing/2014/main" id="{C9410A1D-D1FD-4133-AC06-ABDB3AD020DE}"/>
              </a:ext>
            </a:extLst>
          </p:cNvPr>
          <p:cNvSpPr>
            <a:spLocks noGrp="1"/>
          </p:cNvSpPr>
          <p:nvPr/>
        </p:nvSpPr>
        <p:spPr>
          <a:xfrm>
            <a:off x="822960" y="6861657"/>
            <a:ext cx="2228850" cy="321868"/>
          </a:xfrm>
          <a:prstGeom prst="rect">
            <a:avLst/>
          </a:prstGeom>
          <a:solidFill>
            <a:srgbClr val="E6E9F1"/>
          </a:solidFill>
          <a:ln w="12700">
            <a:solidFill>
              <a:srgbClr val="6B7080"/>
            </a:solidFill>
          </a:ln>
        </p:spPr>
        <p:style>
          <a:lnRef idx="1">
            <a:schemeClr val="accent1"/>
          </a:lnRef>
          <a:fillRef idx="3">
            <a:schemeClr val="accent1"/>
          </a:fillRef>
          <a:effectRef idx="2">
            <a:schemeClr val="accent1"/>
          </a:effectRef>
          <a:fontRef idx="minor">
            <a:schemeClr val="lt1"/>
          </a:fontRef>
        </p:style>
        <p:txBody>
          <a:bodyPr wrap="square" lIns="18288" tIns="18288" rIns="18288" bIns="18288" anchor="ctr"/>
          <a:lstStyle/>
          <a:p>
            <a:pPr algn="ctr">
              <a:buNone/>
            </a:pPr>
            <a:r>
              <a:rPr sz="1200" b="1">
                <a:solidFill>
                  <a:srgbClr val="2E3142"/>
                </a:solidFill>
                <a:latin typeface="210 OmniGothic 040"/>
                <a:ea typeface="210 OmniGothic 040"/>
                <a:cs typeface="210 OmniGothic 040"/>
              </a:rPr>
              <a:t>Resource</a:t>
            </a:r>
          </a:p>
        </p:txBody>
      </p:sp>
      <p:sp>
        <p:nvSpPr>
          <p:cNvPr id="5383" name="TextBox 5382">
            <a:extLst>
              <a:ext uri="{FF2B5EF4-FFF2-40B4-BE49-F238E27FC236}">
                <a16:creationId xmlns:a16="http://schemas.microsoft.com/office/drawing/2014/main" id="{70991126-10BA-4A65-97D4-91ACD6BA7344}"/>
              </a:ext>
            </a:extLst>
          </p:cNvPr>
          <p:cNvSpPr>
            <a:spLocks noGrp="1"/>
          </p:cNvSpPr>
          <p:nvPr/>
        </p:nvSpPr>
        <p:spPr>
          <a:xfrm>
            <a:off x="902970" y="7223760"/>
            <a:ext cx="2114550" cy="1176832"/>
          </a:xfrm>
          <a:prstGeom prst="rect">
            <a:avLst/>
          </a:prstGeom>
          <a:noFill/>
        </p:spPr>
        <p:txBody>
          <a:bodyPr wrap="square" lIns="0" tIns="0" rIns="0" bIns="0" anchor="t">
            <a:spAutoFit/>
          </a:bodyPr>
          <a:lstStyle/>
          <a:p>
            <a:pPr algn="l">
              <a:lnSpc>
                <a:spcPct val="100000"/>
              </a:lnSpc>
              <a:buNone/>
            </a:pPr>
            <a:r>
              <a:rPr sz="900" b="0">
                <a:solidFill>
                  <a:srgbClr val="2E3142"/>
                </a:solidFill>
                <a:latin typeface="Consolas"/>
                <a:ea typeface="Consolas"/>
                <a:cs typeface="Consolas"/>
              </a:rPr>
              <a:t>+ id: int</a:t>
            </a:r>
          </a:p>
          <a:p>
            <a:pPr algn="l">
              <a:lnSpc>
                <a:spcPct val="100000"/>
              </a:lnSpc>
              <a:buNone/>
            </a:pPr>
            <a:r>
              <a:rPr sz="900" b="0">
                <a:solidFill>
                  <a:srgbClr val="2E3142"/>
                </a:solidFill>
                <a:latin typeface="Consolas"/>
                <a:ea typeface="Consolas"/>
                <a:cs typeface="Consolas"/>
              </a:rPr>
              <a:t>+ kind: KindEnum</a:t>
            </a:r>
          </a:p>
          <a:p>
            <a:pPr algn="l">
              <a:lnSpc>
                <a:spcPct val="100000"/>
              </a:lnSpc>
              <a:buNone/>
            </a:pPr>
            <a:r>
              <a:rPr sz="900" b="0">
                <a:solidFill>
                  <a:srgbClr val="2E3142"/>
                </a:solidFill>
                <a:latin typeface="Consolas"/>
                <a:ea typeface="Consolas"/>
                <a:cs typeface="Consolas"/>
              </a:rPr>
              <a:t>+ name: str</a:t>
            </a:r>
          </a:p>
          <a:p>
            <a:pPr algn="l">
              <a:lnSpc>
                <a:spcPct val="100000"/>
              </a:lnSpc>
              <a:buNone/>
            </a:pPr>
            <a:r>
              <a:rPr sz="900" b="0">
                <a:solidFill>
                  <a:srgbClr val="2E3142"/>
                </a:solidFill>
                <a:latin typeface="Consolas"/>
                <a:ea typeface="Consolas"/>
                <a:cs typeface="Consolas"/>
              </a:rPr>
              <a:t>+ qty: int</a:t>
            </a:r>
          </a:p>
          <a:p>
            <a:pPr algn="l">
              <a:lnSpc>
                <a:spcPct val="100000"/>
              </a:lnSpc>
              <a:buNone/>
            </a:pPr>
            <a:r>
              <a:rPr sz="900" b="0">
                <a:solidFill>
                  <a:srgbClr val="2E3142"/>
                </a:solidFill>
                <a:latin typeface="Consolas"/>
                <a:ea typeface="Consolas"/>
                <a:cs typeface="Consolas"/>
              </a:rPr>
              <a:t>+ status: ResStatusEnum</a:t>
            </a:r>
          </a:p>
        </p:txBody>
      </p:sp>
      <p:sp>
        <p:nvSpPr>
          <p:cNvPr id="5384" name="Rectangle 5383">
            <a:extLst>
              <a:ext uri="{FF2B5EF4-FFF2-40B4-BE49-F238E27FC236}">
                <a16:creationId xmlns:a16="http://schemas.microsoft.com/office/drawing/2014/main" id="{CB20426F-F5B9-4A90-A765-FEA6ABDDA8B1}"/>
              </a:ext>
            </a:extLst>
          </p:cNvPr>
          <p:cNvSpPr>
            <a:spLocks noGrp="1"/>
          </p:cNvSpPr>
          <p:nvPr/>
        </p:nvSpPr>
        <p:spPr>
          <a:xfrm>
            <a:off x="3623310" y="6861657"/>
            <a:ext cx="2228850" cy="1559052"/>
          </a:xfrm>
          <a:prstGeom prst="rect">
            <a:avLst/>
          </a:prstGeom>
          <a:solidFill>
            <a:srgbClr val="FFFFFF"/>
          </a:solidFill>
          <a:ln w="12700">
            <a:solidFill>
              <a:srgbClr val="6B7080"/>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endParaRPr/>
          </a:p>
        </p:txBody>
      </p:sp>
      <p:sp>
        <p:nvSpPr>
          <p:cNvPr id="5385" name="Rectangle 5384">
            <a:extLst>
              <a:ext uri="{FF2B5EF4-FFF2-40B4-BE49-F238E27FC236}">
                <a16:creationId xmlns:a16="http://schemas.microsoft.com/office/drawing/2014/main" id="{20BB369A-4D11-4772-AA37-99BF96ACA171}"/>
              </a:ext>
            </a:extLst>
          </p:cNvPr>
          <p:cNvSpPr>
            <a:spLocks noGrp="1"/>
          </p:cNvSpPr>
          <p:nvPr/>
        </p:nvSpPr>
        <p:spPr>
          <a:xfrm>
            <a:off x="3623310" y="6861657"/>
            <a:ext cx="2228850" cy="321868"/>
          </a:xfrm>
          <a:prstGeom prst="rect">
            <a:avLst/>
          </a:prstGeom>
          <a:solidFill>
            <a:srgbClr val="E6E9F1"/>
          </a:solidFill>
          <a:ln w="12700">
            <a:solidFill>
              <a:srgbClr val="6B7080"/>
            </a:solidFill>
          </a:ln>
        </p:spPr>
        <p:style>
          <a:lnRef idx="1">
            <a:schemeClr val="accent1"/>
          </a:lnRef>
          <a:fillRef idx="3">
            <a:schemeClr val="accent1"/>
          </a:fillRef>
          <a:effectRef idx="2">
            <a:schemeClr val="accent1"/>
          </a:effectRef>
          <a:fontRef idx="minor">
            <a:schemeClr val="lt1"/>
          </a:fontRef>
        </p:style>
        <p:txBody>
          <a:bodyPr wrap="square" lIns="18288" tIns="18288" rIns="18288" bIns="18288" anchor="ctr"/>
          <a:lstStyle/>
          <a:p>
            <a:pPr algn="ctr">
              <a:buNone/>
            </a:pPr>
            <a:r>
              <a:rPr sz="1150" b="1">
                <a:solidFill>
                  <a:srgbClr val="2E3142"/>
                </a:solidFill>
                <a:latin typeface="210 OmniGothic 040"/>
                <a:ea typeface="210 OmniGothic 040"/>
                <a:cs typeface="210 OmniGothic 040"/>
              </a:rPr>
              <a:t>SituationCorrection</a:t>
            </a:r>
          </a:p>
        </p:txBody>
      </p:sp>
      <p:sp>
        <p:nvSpPr>
          <p:cNvPr id="5386" name="TextBox 5385">
            <a:extLst>
              <a:ext uri="{FF2B5EF4-FFF2-40B4-BE49-F238E27FC236}">
                <a16:creationId xmlns:a16="http://schemas.microsoft.com/office/drawing/2014/main" id="{B717E236-76E9-4C92-9935-286051AD0B32}"/>
              </a:ext>
            </a:extLst>
          </p:cNvPr>
          <p:cNvSpPr>
            <a:spLocks noGrp="1"/>
          </p:cNvSpPr>
          <p:nvPr/>
        </p:nvSpPr>
        <p:spPr>
          <a:xfrm>
            <a:off x="3703320" y="7223760"/>
            <a:ext cx="2114550" cy="1176832"/>
          </a:xfrm>
          <a:prstGeom prst="rect">
            <a:avLst/>
          </a:prstGeom>
          <a:noFill/>
        </p:spPr>
        <p:txBody>
          <a:bodyPr wrap="square" lIns="0" tIns="0" rIns="0" bIns="0" anchor="t">
            <a:spAutoFit/>
          </a:bodyPr>
          <a:lstStyle/>
          <a:p>
            <a:pPr algn="l">
              <a:lnSpc>
                <a:spcPct val="100000"/>
              </a:lnSpc>
              <a:buNone/>
            </a:pPr>
            <a:r>
              <a:rPr sz="900" b="0">
                <a:solidFill>
                  <a:srgbClr val="2E3142"/>
                </a:solidFill>
                <a:latin typeface="Consolas"/>
                <a:ea typeface="Consolas"/>
                <a:cs typeface="Consolas"/>
              </a:rPr>
              <a:t>+ id: int</a:t>
            </a:r>
          </a:p>
          <a:p>
            <a:pPr algn="l">
              <a:lnSpc>
                <a:spcPct val="100000"/>
              </a:lnSpc>
              <a:buNone/>
            </a:pPr>
            <a:r>
              <a:rPr sz="900" b="0">
                <a:solidFill>
                  <a:srgbClr val="2E3142"/>
                </a:solidFill>
                <a:latin typeface="Consolas"/>
                <a:ea typeface="Consolas"/>
                <a:cs typeface="Consolas"/>
              </a:rPr>
              <a:t>+ target_type: TargetEnum</a:t>
            </a:r>
          </a:p>
          <a:p>
            <a:pPr algn="l">
              <a:lnSpc>
                <a:spcPct val="100000"/>
              </a:lnSpc>
              <a:buNone/>
            </a:pPr>
            <a:r>
              <a:rPr sz="900" b="0">
                <a:solidFill>
                  <a:srgbClr val="2E3142"/>
                </a:solidFill>
                <a:latin typeface="Consolas"/>
                <a:ea typeface="Consolas"/>
                <a:cs typeface="Consolas"/>
              </a:rPr>
              <a:t>+ item: str</a:t>
            </a:r>
          </a:p>
          <a:p>
            <a:pPr algn="l">
              <a:lnSpc>
                <a:spcPct val="100000"/>
              </a:lnSpc>
              <a:buNone/>
            </a:pPr>
            <a:r>
              <a:rPr sz="900" b="0">
                <a:solidFill>
                  <a:srgbClr val="2E3142"/>
                </a:solidFill>
                <a:latin typeface="Consolas"/>
                <a:ea typeface="Consolas"/>
                <a:cs typeface="Consolas"/>
              </a:rPr>
              <a:t>+ before → after_value</a:t>
            </a:r>
          </a:p>
          <a:p>
            <a:pPr algn="l">
              <a:lnSpc>
                <a:spcPct val="100000"/>
              </a:lnSpc>
              <a:buNone/>
            </a:pPr>
            <a:r>
              <a:rPr sz="900" b="0">
                <a:solidFill>
                  <a:srgbClr val="2E3142"/>
                </a:solidFill>
                <a:latin typeface="Consolas"/>
                <a:ea typeface="Consolas"/>
                <a:cs typeface="Consolas"/>
              </a:rPr>
              <a:t>+ confirmed_at: datetime</a:t>
            </a:r>
          </a:p>
        </p:txBody>
      </p:sp>
      <p:sp>
        <p:nvSpPr>
          <p:cNvPr id="5387" name="Rectangle 5386">
            <a:extLst>
              <a:ext uri="{FF2B5EF4-FFF2-40B4-BE49-F238E27FC236}">
                <a16:creationId xmlns:a16="http://schemas.microsoft.com/office/drawing/2014/main" id="{310D8038-EFF1-4515-820A-60C276DEB013}"/>
              </a:ext>
            </a:extLst>
          </p:cNvPr>
          <p:cNvSpPr>
            <a:spLocks noGrp="1"/>
          </p:cNvSpPr>
          <p:nvPr/>
        </p:nvSpPr>
        <p:spPr>
          <a:xfrm>
            <a:off x="6423660" y="6861657"/>
            <a:ext cx="2228850" cy="1559052"/>
          </a:xfrm>
          <a:prstGeom prst="rect">
            <a:avLst/>
          </a:prstGeom>
          <a:solidFill>
            <a:srgbClr val="FFFFFF"/>
          </a:solidFill>
          <a:ln w="12700">
            <a:solidFill>
              <a:srgbClr val="6B7080"/>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endParaRPr/>
          </a:p>
        </p:txBody>
      </p:sp>
      <p:sp>
        <p:nvSpPr>
          <p:cNvPr id="5388" name="Rectangle 5387">
            <a:extLst>
              <a:ext uri="{FF2B5EF4-FFF2-40B4-BE49-F238E27FC236}">
                <a16:creationId xmlns:a16="http://schemas.microsoft.com/office/drawing/2014/main" id="{BBDB139A-1E51-4854-9A8A-E84BE037CF3B}"/>
              </a:ext>
            </a:extLst>
          </p:cNvPr>
          <p:cNvSpPr>
            <a:spLocks noGrp="1"/>
          </p:cNvSpPr>
          <p:nvPr/>
        </p:nvSpPr>
        <p:spPr>
          <a:xfrm>
            <a:off x="6423660" y="6861657"/>
            <a:ext cx="2228850" cy="321868"/>
          </a:xfrm>
          <a:prstGeom prst="rect">
            <a:avLst/>
          </a:prstGeom>
          <a:solidFill>
            <a:srgbClr val="E6E9F1"/>
          </a:solidFill>
          <a:ln w="12700">
            <a:solidFill>
              <a:srgbClr val="6B7080"/>
            </a:solidFill>
          </a:ln>
        </p:spPr>
        <p:style>
          <a:lnRef idx="1">
            <a:schemeClr val="accent1"/>
          </a:lnRef>
          <a:fillRef idx="3">
            <a:schemeClr val="accent1"/>
          </a:fillRef>
          <a:effectRef idx="2">
            <a:schemeClr val="accent1"/>
          </a:effectRef>
          <a:fontRef idx="minor">
            <a:schemeClr val="lt1"/>
          </a:fontRef>
        </p:style>
        <p:txBody>
          <a:bodyPr wrap="square" lIns="18288" tIns="18288" rIns="18288" bIns="18288" anchor="ctr"/>
          <a:lstStyle/>
          <a:p>
            <a:pPr algn="ctr">
              <a:buNone/>
            </a:pPr>
            <a:r>
              <a:rPr sz="1200" b="1">
                <a:solidFill>
                  <a:srgbClr val="2E3142"/>
                </a:solidFill>
                <a:latin typeface="210 OmniGothic 040"/>
                <a:ea typeface="210 OmniGothic 040"/>
                <a:cs typeface="210 OmniGothic 040"/>
              </a:rPr>
              <a:t>Proposal</a:t>
            </a:r>
          </a:p>
        </p:txBody>
      </p:sp>
      <p:sp>
        <p:nvSpPr>
          <p:cNvPr id="5389" name="TextBox 5388">
            <a:extLst>
              <a:ext uri="{FF2B5EF4-FFF2-40B4-BE49-F238E27FC236}">
                <a16:creationId xmlns:a16="http://schemas.microsoft.com/office/drawing/2014/main" id="{D93D0E90-7EAD-41D9-AD14-9BD3BACCB277}"/>
              </a:ext>
            </a:extLst>
          </p:cNvPr>
          <p:cNvSpPr>
            <a:spLocks noGrp="1"/>
          </p:cNvSpPr>
          <p:nvPr/>
        </p:nvSpPr>
        <p:spPr>
          <a:xfrm>
            <a:off x="6503670" y="7223760"/>
            <a:ext cx="2114550" cy="1176832"/>
          </a:xfrm>
          <a:prstGeom prst="rect">
            <a:avLst/>
          </a:prstGeom>
          <a:noFill/>
        </p:spPr>
        <p:txBody>
          <a:bodyPr wrap="square" lIns="0" tIns="0" rIns="0" bIns="0" anchor="t">
            <a:spAutoFit/>
          </a:bodyPr>
          <a:lstStyle/>
          <a:p>
            <a:pPr algn="l">
              <a:lnSpc>
                <a:spcPct val="100000"/>
              </a:lnSpc>
              <a:buNone/>
            </a:pPr>
            <a:r>
              <a:rPr sz="900" b="0">
                <a:solidFill>
                  <a:srgbClr val="2E3142"/>
                </a:solidFill>
                <a:latin typeface="Consolas"/>
                <a:ea typeface="Consolas"/>
                <a:cs typeface="Consolas"/>
              </a:rPr>
              <a:t>+ id: int</a:t>
            </a:r>
          </a:p>
          <a:p>
            <a:pPr algn="l">
              <a:lnSpc>
                <a:spcPct val="100000"/>
              </a:lnSpc>
              <a:buNone/>
            </a:pPr>
            <a:r>
              <a:rPr sz="900" b="0">
                <a:solidFill>
                  <a:srgbClr val="2E3142"/>
                </a:solidFill>
                <a:latin typeface="Consolas"/>
                <a:ea typeface="Consolas"/>
                <a:cs typeface="Consolas"/>
              </a:rPr>
              <a:t>+ version_no: int</a:t>
            </a:r>
          </a:p>
          <a:p>
            <a:pPr algn="l">
              <a:lnSpc>
                <a:spcPct val="100000"/>
              </a:lnSpc>
              <a:buNone/>
            </a:pPr>
            <a:r>
              <a:rPr sz="900" b="0">
                <a:solidFill>
                  <a:srgbClr val="2E3142"/>
                </a:solidFill>
                <a:latin typeface="Consolas"/>
                <a:ea typeface="Consolas"/>
                <a:cs typeface="Consolas"/>
              </a:rPr>
              <a:t>+ reason: ReasonEnum</a:t>
            </a:r>
          </a:p>
          <a:p>
            <a:pPr algn="l">
              <a:lnSpc>
                <a:spcPct val="100000"/>
              </a:lnSpc>
              <a:buNone/>
            </a:pPr>
            <a:r>
              <a:rPr sz="900" b="0">
                <a:solidFill>
                  <a:srgbClr val="2E3142"/>
                </a:solidFill>
                <a:latin typeface="Consolas"/>
                <a:ea typeface="Consolas"/>
                <a:cs typeface="Consolas"/>
              </a:rPr>
              <a:t>+ correction_id: int?</a:t>
            </a:r>
          </a:p>
          <a:p>
            <a:pPr algn="l">
              <a:lnSpc>
                <a:spcPct val="100000"/>
              </a:lnSpc>
              <a:buNone/>
            </a:pPr>
            <a:r>
              <a:rPr sz="900" b="0">
                <a:solidFill>
                  <a:srgbClr val="2E3142"/>
                </a:solidFill>
                <a:latin typeface="Consolas"/>
                <a:ea typeface="Consolas"/>
                <a:cs typeface="Consolas"/>
              </a:rPr>
              <a:t>+ stage_up: bool</a:t>
            </a:r>
          </a:p>
        </p:txBody>
      </p:sp>
      <p:sp>
        <p:nvSpPr>
          <p:cNvPr id="5390" name="Rectangle 5389">
            <a:extLst>
              <a:ext uri="{FF2B5EF4-FFF2-40B4-BE49-F238E27FC236}">
                <a16:creationId xmlns:a16="http://schemas.microsoft.com/office/drawing/2014/main" id="{83C0AB29-BCCE-47B5-963C-430278DD64D8}"/>
              </a:ext>
            </a:extLst>
          </p:cNvPr>
          <p:cNvSpPr>
            <a:spLocks noGrp="1"/>
          </p:cNvSpPr>
          <p:nvPr/>
        </p:nvSpPr>
        <p:spPr>
          <a:xfrm>
            <a:off x="9224010" y="6861657"/>
            <a:ext cx="2228850" cy="1559052"/>
          </a:xfrm>
          <a:prstGeom prst="rect">
            <a:avLst/>
          </a:prstGeom>
          <a:solidFill>
            <a:srgbClr val="FFFFFF"/>
          </a:solidFill>
          <a:ln w="12700">
            <a:solidFill>
              <a:srgbClr val="6B7080"/>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endParaRPr/>
          </a:p>
        </p:txBody>
      </p:sp>
      <p:sp>
        <p:nvSpPr>
          <p:cNvPr id="5391" name="Rectangle 5390">
            <a:extLst>
              <a:ext uri="{FF2B5EF4-FFF2-40B4-BE49-F238E27FC236}">
                <a16:creationId xmlns:a16="http://schemas.microsoft.com/office/drawing/2014/main" id="{22933123-9B09-4FFA-9B26-2E9CC91E5D1E}"/>
              </a:ext>
            </a:extLst>
          </p:cNvPr>
          <p:cNvSpPr>
            <a:spLocks noGrp="1"/>
          </p:cNvSpPr>
          <p:nvPr/>
        </p:nvSpPr>
        <p:spPr>
          <a:xfrm>
            <a:off x="9224010" y="6861657"/>
            <a:ext cx="2228850" cy="321868"/>
          </a:xfrm>
          <a:prstGeom prst="rect">
            <a:avLst/>
          </a:prstGeom>
          <a:solidFill>
            <a:srgbClr val="E6E9F1"/>
          </a:solidFill>
          <a:ln w="12700">
            <a:solidFill>
              <a:srgbClr val="6B7080"/>
            </a:solidFill>
          </a:ln>
        </p:spPr>
        <p:style>
          <a:lnRef idx="1">
            <a:schemeClr val="accent1"/>
          </a:lnRef>
          <a:fillRef idx="3">
            <a:schemeClr val="accent1"/>
          </a:fillRef>
          <a:effectRef idx="2">
            <a:schemeClr val="accent1"/>
          </a:effectRef>
          <a:fontRef idx="minor">
            <a:schemeClr val="lt1"/>
          </a:fontRef>
        </p:style>
        <p:txBody>
          <a:bodyPr wrap="square" lIns="18288" tIns="18288" rIns="18288" bIns="18288" anchor="ctr"/>
          <a:lstStyle/>
          <a:p>
            <a:pPr algn="ctr">
              <a:buNone/>
            </a:pPr>
            <a:r>
              <a:rPr sz="1200" b="1">
                <a:solidFill>
                  <a:srgbClr val="2E3142"/>
                </a:solidFill>
                <a:latin typeface="210 OmniGothic 040"/>
                <a:ea typeface="210 OmniGothic 040"/>
                <a:cs typeface="210 OmniGothic 040"/>
              </a:rPr>
              <a:t>ProposalItem</a:t>
            </a:r>
          </a:p>
        </p:txBody>
      </p:sp>
      <p:sp>
        <p:nvSpPr>
          <p:cNvPr id="5392" name="TextBox 5391">
            <a:extLst>
              <a:ext uri="{FF2B5EF4-FFF2-40B4-BE49-F238E27FC236}">
                <a16:creationId xmlns:a16="http://schemas.microsoft.com/office/drawing/2014/main" id="{0FF50B7A-9831-4F8B-9EC4-B21F81CCC549}"/>
              </a:ext>
            </a:extLst>
          </p:cNvPr>
          <p:cNvSpPr>
            <a:spLocks noGrp="1"/>
          </p:cNvSpPr>
          <p:nvPr/>
        </p:nvSpPr>
        <p:spPr>
          <a:xfrm>
            <a:off x="9304020" y="7223760"/>
            <a:ext cx="2114550" cy="1176832"/>
          </a:xfrm>
          <a:prstGeom prst="rect">
            <a:avLst/>
          </a:prstGeom>
          <a:noFill/>
        </p:spPr>
        <p:txBody>
          <a:bodyPr wrap="square" lIns="0" tIns="0" rIns="0" bIns="0" anchor="t">
            <a:spAutoFit/>
          </a:bodyPr>
          <a:lstStyle/>
          <a:p>
            <a:pPr algn="l">
              <a:lnSpc>
                <a:spcPct val="100000"/>
              </a:lnSpc>
              <a:buNone/>
            </a:pPr>
            <a:r>
              <a:rPr sz="900" b="0">
                <a:solidFill>
                  <a:srgbClr val="2E3142"/>
                </a:solidFill>
                <a:latin typeface="Consolas"/>
                <a:ea typeface="Consolas"/>
                <a:cs typeface="Consolas"/>
              </a:rPr>
              <a:t>+ id: int</a:t>
            </a:r>
          </a:p>
          <a:p>
            <a:pPr algn="l">
              <a:lnSpc>
                <a:spcPct val="100000"/>
              </a:lnSpc>
              <a:buNone/>
            </a:pPr>
            <a:r>
              <a:rPr sz="900" b="0">
                <a:solidFill>
                  <a:srgbClr val="2E3142"/>
                </a:solidFill>
                <a:latin typeface="Consolas"/>
                <a:ea typeface="Consolas"/>
                <a:cs typeface="Consolas"/>
              </a:rPr>
              <a:t>+ item_code: S1~E7</a:t>
            </a:r>
          </a:p>
          <a:p>
            <a:pPr algn="l">
              <a:lnSpc>
                <a:spcPct val="100000"/>
              </a:lnSpc>
              <a:buNone/>
            </a:pPr>
            <a:r>
              <a:rPr sz="900" b="0">
                <a:solidFill>
                  <a:srgbClr val="2E3142"/>
                </a:solidFill>
                <a:latin typeface="Consolas"/>
                <a:ea typeface="Consolas"/>
                <a:cs typeface="Consolas"/>
              </a:rPr>
              <a:t>+ categories: JSON</a:t>
            </a:r>
          </a:p>
          <a:p>
            <a:pPr algn="l">
              <a:lnSpc>
                <a:spcPct val="100000"/>
              </a:lnSpc>
              <a:buNone/>
            </a:pPr>
            <a:r>
              <a:rPr sz="900" b="0">
                <a:solidFill>
                  <a:srgbClr val="2E3142"/>
                </a:solidFill>
                <a:latin typeface="Consolas"/>
                <a:ea typeface="Consolas"/>
                <a:cs typeface="Consolas"/>
              </a:rPr>
              <a:t>+ text: str</a:t>
            </a:r>
          </a:p>
        </p:txBody>
      </p:sp>
      <p:sp>
        <p:nvSpPr>
          <p:cNvPr id="5393" name="Rectangle 5392">
            <a:extLst>
              <a:ext uri="{FF2B5EF4-FFF2-40B4-BE49-F238E27FC236}">
                <a16:creationId xmlns:a16="http://schemas.microsoft.com/office/drawing/2014/main" id="{9679A6D0-4FF2-4D09-B13C-2C9D811EF156}"/>
              </a:ext>
            </a:extLst>
          </p:cNvPr>
          <p:cNvSpPr>
            <a:spLocks noGrp="1"/>
          </p:cNvSpPr>
          <p:nvPr/>
        </p:nvSpPr>
        <p:spPr>
          <a:xfrm>
            <a:off x="12024360" y="6861657"/>
            <a:ext cx="2228850" cy="1559052"/>
          </a:xfrm>
          <a:prstGeom prst="rect">
            <a:avLst/>
          </a:prstGeom>
          <a:solidFill>
            <a:srgbClr val="FFFFFF"/>
          </a:solidFill>
          <a:ln w="12700">
            <a:solidFill>
              <a:srgbClr val="6B7080"/>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endParaRPr/>
          </a:p>
        </p:txBody>
      </p:sp>
      <p:sp>
        <p:nvSpPr>
          <p:cNvPr id="5394" name="Rectangle 5393">
            <a:extLst>
              <a:ext uri="{FF2B5EF4-FFF2-40B4-BE49-F238E27FC236}">
                <a16:creationId xmlns:a16="http://schemas.microsoft.com/office/drawing/2014/main" id="{CA6B756E-D4EC-45B7-859F-78036C8E999E}"/>
              </a:ext>
            </a:extLst>
          </p:cNvPr>
          <p:cNvSpPr>
            <a:spLocks noGrp="1"/>
          </p:cNvSpPr>
          <p:nvPr/>
        </p:nvSpPr>
        <p:spPr>
          <a:xfrm>
            <a:off x="12024360" y="6861657"/>
            <a:ext cx="2228850" cy="321868"/>
          </a:xfrm>
          <a:prstGeom prst="rect">
            <a:avLst/>
          </a:prstGeom>
          <a:solidFill>
            <a:srgbClr val="E6E9F1"/>
          </a:solidFill>
          <a:ln w="12700">
            <a:solidFill>
              <a:srgbClr val="6B7080"/>
            </a:solidFill>
          </a:ln>
        </p:spPr>
        <p:style>
          <a:lnRef idx="1">
            <a:schemeClr val="accent1"/>
          </a:lnRef>
          <a:fillRef idx="3">
            <a:schemeClr val="accent1"/>
          </a:fillRef>
          <a:effectRef idx="2">
            <a:schemeClr val="accent1"/>
          </a:effectRef>
          <a:fontRef idx="minor">
            <a:schemeClr val="lt1"/>
          </a:fontRef>
        </p:style>
        <p:txBody>
          <a:bodyPr wrap="square" lIns="18288" tIns="18288" rIns="18288" bIns="18288" anchor="ctr"/>
          <a:lstStyle/>
          <a:p>
            <a:pPr algn="ctr">
              <a:buNone/>
            </a:pPr>
            <a:r>
              <a:rPr sz="1200" b="1">
                <a:solidFill>
                  <a:srgbClr val="2E3142"/>
                </a:solidFill>
                <a:latin typeface="210 OmniGothic 040"/>
                <a:ea typeface="210 OmniGothic 040"/>
                <a:cs typeface="210 OmniGothic 040"/>
              </a:rPr>
              <a:t>Citation</a:t>
            </a:r>
          </a:p>
        </p:txBody>
      </p:sp>
      <p:sp>
        <p:nvSpPr>
          <p:cNvPr id="5395" name="TextBox 5394">
            <a:extLst>
              <a:ext uri="{FF2B5EF4-FFF2-40B4-BE49-F238E27FC236}">
                <a16:creationId xmlns:a16="http://schemas.microsoft.com/office/drawing/2014/main" id="{74424C2E-5AA7-4A7A-8770-522E7B7E6349}"/>
              </a:ext>
            </a:extLst>
          </p:cNvPr>
          <p:cNvSpPr>
            <a:spLocks noGrp="1"/>
          </p:cNvSpPr>
          <p:nvPr/>
        </p:nvSpPr>
        <p:spPr>
          <a:xfrm>
            <a:off x="12104370" y="7223760"/>
            <a:ext cx="2114550" cy="1176832"/>
          </a:xfrm>
          <a:prstGeom prst="rect">
            <a:avLst/>
          </a:prstGeom>
          <a:noFill/>
        </p:spPr>
        <p:txBody>
          <a:bodyPr wrap="square" lIns="0" tIns="0" rIns="0" bIns="0" anchor="t">
            <a:spAutoFit/>
          </a:bodyPr>
          <a:lstStyle/>
          <a:p>
            <a:pPr algn="l">
              <a:lnSpc>
                <a:spcPct val="100000"/>
              </a:lnSpc>
              <a:buNone/>
            </a:pPr>
            <a:r>
              <a:rPr sz="900" b="0">
                <a:solidFill>
                  <a:srgbClr val="2E3142"/>
                </a:solidFill>
                <a:latin typeface="Consolas"/>
                <a:ea typeface="Consolas"/>
                <a:cs typeface="Consolas"/>
              </a:rPr>
              <a:t>+ id: int</a:t>
            </a:r>
          </a:p>
          <a:p>
            <a:pPr algn="l">
              <a:lnSpc>
                <a:spcPct val="100000"/>
              </a:lnSpc>
              <a:buNone/>
            </a:pPr>
            <a:r>
              <a:rPr sz="900" b="0">
                <a:solidFill>
                  <a:srgbClr val="2E3142"/>
                </a:solidFill>
                <a:latin typeface="Consolas"/>
                <a:ea typeface="Consolas"/>
                <a:cs typeface="Consolas"/>
              </a:rPr>
              <a:t>+ k: int</a:t>
            </a:r>
          </a:p>
          <a:p>
            <a:pPr algn="l">
              <a:lnSpc>
                <a:spcPct val="100000"/>
              </a:lnSpc>
              <a:buNone/>
            </a:pPr>
            <a:r>
              <a:rPr sz="900" b="0">
                <a:solidFill>
                  <a:srgbClr val="2E3142"/>
                </a:solidFill>
                <a:latin typeface="Consolas"/>
                <a:ea typeface="Consolas"/>
                <a:cs typeface="Consolas"/>
              </a:rPr>
              <a:t>+ chunk_id: str</a:t>
            </a:r>
          </a:p>
          <a:p>
            <a:pPr algn="l">
              <a:lnSpc>
                <a:spcPct val="100000"/>
              </a:lnSpc>
              <a:buNone/>
            </a:pPr>
            <a:r>
              <a:rPr sz="900" b="0">
                <a:solidFill>
                  <a:srgbClr val="2E3142"/>
                </a:solidFill>
                <a:latin typeface="Consolas"/>
                <a:ea typeface="Consolas"/>
                <a:cs typeface="Consolas"/>
              </a:rPr>
              <a:t>+ item_id | message_id</a:t>
            </a:r>
          </a:p>
        </p:txBody>
      </p:sp>
      <p:sp>
        <p:nvSpPr>
          <p:cNvPr id="5396" name="Rectangle 5395">
            <a:extLst>
              <a:ext uri="{FF2B5EF4-FFF2-40B4-BE49-F238E27FC236}">
                <a16:creationId xmlns:a16="http://schemas.microsoft.com/office/drawing/2014/main" id="{ECAF4B5C-6211-4001-AD07-AE95D495DF37}"/>
              </a:ext>
            </a:extLst>
          </p:cNvPr>
          <p:cNvSpPr>
            <a:spLocks noGrp="1"/>
          </p:cNvSpPr>
          <p:nvPr/>
        </p:nvSpPr>
        <p:spPr>
          <a:xfrm>
            <a:off x="14824709" y="6861657"/>
            <a:ext cx="2228850" cy="1559052"/>
          </a:xfrm>
          <a:prstGeom prst="rect">
            <a:avLst/>
          </a:prstGeom>
          <a:solidFill>
            <a:srgbClr val="FFFFFF"/>
          </a:solidFill>
          <a:ln w="12700">
            <a:solidFill>
              <a:srgbClr val="6B7080"/>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endParaRPr/>
          </a:p>
        </p:txBody>
      </p:sp>
      <p:sp>
        <p:nvSpPr>
          <p:cNvPr id="5397" name="Rectangle 5396">
            <a:extLst>
              <a:ext uri="{FF2B5EF4-FFF2-40B4-BE49-F238E27FC236}">
                <a16:creationId xmlns:a16="http://schemas.microsoft.com/office/drawing/2014/main" id="{E01D73A1-FA37-4F69-B19B-C0D8B877F6EF}"/>
              </a:ext>
            </a:extLst>
          </p:cNvPr>
          <p:cNvSpPr>
            <a:spLocks noGrp="1"/>
          </p:cNvSpPr>
          <p:nvPr/>
        </p:nvSpPr>
        <p:spPr>
          <a:xfrm>
            <a:off x="14824709" y="6861657"/>
            <a:ext cx="2228850" cy="321868"/>
          </a:xfrm>
          <a:prstGeom prst="rect">
            <a:avLst/>
          </a:prstGeom>
          <a:solidFill>
            <a:srgbClr val="E6E9F1"/>
          </a:solidFill>
          <a:ln w="12700">
            <a:solidFill>
              <a:srgbClr val="6B7080"/>
            </a:solidFill>
          </a:ln>
        </p:spPr>
        <p:style>
          <a:lnRef idx="1">
            <a:schemeClr val="accent1"/>
          </a:lnRef>
          <a:fillRef idx="3">
            <a:schemeClr val="accent1"/>
          </a:fillRef>
          <a:effectRef idx="2">
            <a:schemeClr val="accent1"/>
          </a:effectRef>
          <a:fontRef idx="minor">
            <a:schemeClr val="lt1"/>
          </a:fontRef>
        </p:style>
        <p:txBody>
          <a:bodyPr wrap="square" lIns="18288" tIns="18288" rIns="18288" bIns="18288" anchor="ctr"/>
          <a:lstStyle/>
          <a:p>
            <a:pPr algn="ctr">
              <a:buNone/>
            </a:pPr>
            <a:r>
              <a:rPr sz="1200" b="1">
                <a:solidFill>
                  <a:srgbClr val="2E3142"/>
                </a:solidFill>
                <a:latin typeface="210 OmniGothic 040"/>
                <a:ea typeface="210 OmniGothic 040"/>
                <a:cs typeface="210 OmniGothic 040"/>
              </a:rPr>
              <a:t>Facility</a:t>
            </a:r>
          </a:p>
        </p:txBody>
      </p:sp>
      <p:sp>
        <p:nvSpPr>
          <p:cNvPr id="5398" name="TextBox 5397">
            <a:extLst>
              <a:ext uri="{FF2B5EF4-FFF2-40B4-BE49-F238E27FC236}">
                <a16:creationId xmlns:a16="http://schemas.microsoft.com/office/drawing/2014/main" id="{A0CD1F89-D4DD-43D7-92BE-30B51DD26D65}"/>
              </a:ext>
            </a:extLst>
          </p:cNvPr>
          <p:cNvSpPr>
            <a:spLocks noGrp="1"/>
          </p:cNvSpPr>
          <p:nvPr/>
        </p:nvSpPr>
        <p:spPr>
          <a:xfrm>
            <a:off x="14904720" y="7223760"/>
            <a:ext cx="2114550" cy="1176832"/>
          </a:xfrm>
          <a:prstGeom prst="rect">
            <a:avLst/>
          </a:prstGeom>
          <a:noFill/>
        </p:spPr>
        <p:txBody>
          <a:bodyPr wrap="square" lIns="0" tIns="0" rIns="0" bIns="0" anchor="t">
            <a:spAutoFit/>
          </a:bodyPr>
          <a:lstStyle/>
          <a:p>
            <a:pPr algn="l">
              <a:lnSpc>
                <a:spcPct val="100000"/>
              </a:lnSpc>
              <a:buNone/>
            </a:pPr>
            <a:r>
              <a:rPr sz="900" b="0">
                <a:solidFill>
                  <a:srgbClr val="2E3142"/>
                </a:solidFill>
                <a:latin typeface="Consolas"/>
                <a:ea typeface="Consolas"/>
                <a:cs typeface="Consolas"/>
              </a:rPr>
              <a:t>+ id: str</a:t>
            </a:r>
          </a:p>
          <a:p>
            <a:pPr algn="l">
              <a:lnSpc>
                <a:spcPct val="100000"/>
              </a:lnSpc>
              <a:buNone/>
            </a:pPr>
            <a:r>
              <a:rPr sz="900" b="0">
                <a:solidFill>
                  <a:srgbClr val="2E3142"/>
                </a:solidFill>
                <a:latin typeface="Consolas"/>
                <a:ea typeface="Consolas"/>
                <a:cs typeface="Consolas"/>
              </a:rPr>
              <a:t>+ type: FacilityEnum</a:t>
            </a:r>
          </a:p>
          <a:p>
            <a:pPr algn="l">
              <a:lnSpc>
                <a:spcPct val="100000"/>
              </a:lnSpc>
              <a:buNone/>
            </a:pPr>
            <a:r>
              <a:rPr sz="900" b="0">
                <a:solidFill>
                  <a:srgbClr val="2E3142"/>
                </a:solidFill>
                <a:latin typeface="Consolas"/>
                <a:ea typeface="Consolas"/>
                <a:cs typeface="Consolas"/>
              </a:rPr>
              <a:t>+ grade: int</a:t>
            </a:r>
          </a:p>
          <a:p>
            <a:pPr algn="l">
              <a:lnSpc>
                <a:spcPct val="100000"/>
              </a:lnSpc>
              <a:buNone/>
            </a:pPr>
            <a:r>
              <a:rPr sz="900" b="0">
                <a:solidFill>
                  <a:srgbClr val="2E3142"/>
                </a:solidFill>
                <a:latin typeface="Consolas"/>
                <a:ea typeface="Consolas"/>
                <a:cs typeface="Consolas"/>
              </a:rPr>
              <a:t>+ capacity: int</a:t>
            </a:r>
          </a:p>
        </p:txBody>
      </p:sp>
      <p:sp>
        <p:nvSpPr>
          <p:cNvPr id="5399" name="Connector 5398">
            <a:extLst>
              <a:ext uri="{FF2B5EF4-FFF2-40B4-BE49-F238E27FC236}">
                <a16:creationId xmlns:a16="http://schemas.microsoft.com/office/drawing/2014/main" id="{5C765235-8E5F-467C-AB83-0B634CB2FE94}"/>
              </a:ext>
            </a:extLst>
          </p:cNvPr>
          <p:cNvSpPr>
            <a:spLocks noGrp="1"/>
          </p:cNvSpPr>
          <p:nvPr/>
        </p:nvSpPr>
        <p:spPr>
          <a:xfrm flipH="1" flipV="1">
            <a:off x="2708910" y="3954780"/>
            <a:ext cx="1257300" cy="673912"/>
          </a:xfrm>
          <a:prstGeom prst="line">
            <a:avLst/>
          </a:prstGeom>
          <a:ln w="13970">
            <a:solidFill>
              <a:srgbClr val="4A4F66"/>
            </a:solidFill>
            <a:headEnd type="diamond"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5400" name="TextBox 5399">
            <a:extLst>
              <a:ext uri="{FF2B5EF4-FFF2-40B4-BE49-F238E27FC236}">
                <a16:creationId xmlns:a16="http://schemas.microsoft.com/office/drawing/2014/main" id="{B01ED856-B38C-43FD-880C-2BF6FE1FA110}"/>
              </a:ext>
            </a:extLst>
          </p:cNvPr>
          <p:cNvSpPr>
            <a:spLocks noGrp="1"/>
          </p:cNvSpPr>
          <p:nvPr/>
        </p:nvSpPr>
        <p:spPr>
          <a:xfrm>
            <a:off x="3434715" y="4477313"/>
            <a:ext cx="514350" cy="201168"/>
          </a:xfrm>
          <a:prstGeom prst="rect">
            <a:avLst/>
          </a:prstGeom>
          <a:noFill/>
        </p:spPr>
        <p:txBody>
          <a:bodyPr wrap="square" lIns="0" tIns="0" rIns="0" bIns="0" anchor="t">
            <a:spAutoFit/>
          </a:bodyPr>
          <a:lstStyle/>
          <a:p>
            <a:pPr algn="l">
              <a:buNone/>
            </a:pPr>
            <a:r>
              <a:rPr sz="1000" b="1">
                <a:solidFill>
                  <a:srgbClr val="E8893A"/>
                </a:solidFill>
                <a:latin typeface="210 OmniGothic 040"/>
                <a:ea typeface="210 OmniGothic 040"/>
                <a:cs typeface="210 OmniGothic 040"/>
              </a:rPr>
              <a:t>1</a:t>
            </a:r>
          </a:p>
        </p:txBody>
      </p:sp>
      <p:sp>
        <p:nvSpPr>
          <p:cNvPr id="5401" name="TextBox 5400">
            <a:extLst>
              <a:ext uri="{FF2B5EF4-FFF2-40B4-BE49-F238E27FC236}">
                <a16:creationId xmlns:a16="http://schemas.microsoft.com/office/drawing/2014/main" id="{062B8936-325A-4882-BFEB-A5464D7286CE}"/>
              </a:ext>
            </a:extLst>
          </p:cNvPr>
          <p:cNvSpPr>
            <a:spLocks noGrp="1"/>
          </p:cNvSpPr>
          <p:nvPr/>
        </p:nvSpPr>
        <p:spPr>
          <a:xfrm>
            <a:off x="2592324" y="3975500"/>
            <a:ext cx="514350" cy="201168"/>
          </a:xfrm>
          <a:prstGeom prst="rect">
            <a:avLst/>
          </a:prstGeom>
          <a:noFill/>
        </p:spPr>
        <p:txBody>
          <a:bodyPr wrap="square" lIns="0" tIns="0" rIns="0" bIns="0" anchor="t">
            <a:spAutoFit/>
          </a:bodyPr>
          <a:lstStyle/>
          <a:p>
            <a:pPr algn="l">
              <a:buNone/>
            </a:pPr>
            <a:r>
              <a:rPr sz="1000" b="1">
                <a:solidFill>
                  <a:srgbClr val="E8893A"/>
                </a:solidFill>
                <a:latin typeface="210 OmniGothic 040"/>
                <a:ea typeface="210 OmniGothic 040"/>
                <a:cs typeface="210 OmniGothic 040"/>
              </a:rPr>
              <a:t>N</a:t>
            </a:r>
          </a:p>
        </p:txBody>
      </p:sp>
      <p:sp>
        <p:nvSpPr>
          <p:cNvPr id="5402" name="Connector 5401">
            <a:extLst>
              <a:ext uri="{FF2B5EF4-FFF2-40B4-BE49-F238E27FC236}">
                <a16:creationId xmlns:a16="http://schemas.microsoft.com/office/drawing/2014/main" id="{7164B0A2-4BAC-419B-B136-A4BA4C5B0D9A}"/>
              </a:ext>
            </a:extLst>
          </p:cNvPr>
          <p:cNvSpPr>
            <a:spLocks noGrp="1"/>
          </p:cNvSpPr>
          <p:nvPr/>
        </p:nvSpPr>
        <p:spPr>
          <a:xfrm flipV="1">
            <a:off x="4737735" y="3954780"/>
            <a:ext cx="0" cy="673912"/>
          </a:xfrm>
          <a:prstGeom prst="line">
            <a:avLst/>
          </a:prstGeom>
          <a:ln w="13970">
            <a:solidFill>
              <a:srgbClr val="4A4F66"/>
            </a:solidFill>
            <a:headEnd type="diamond"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5403" name="TextBox 5402">
            <a:extLst>
              <a:ext uri="{FF2B5EF4-FFF2-40B4-BE49-F238E27FC236}">
                <a16:creationId xmlns:a16="http://schemas.microsoft.com/office/drawing/2014/main" id="{46AB9E19-267F-4F1E-A325-A7CBCCAA034C}"/>
              </a:ext>
            </a:extLst>
          </p:cNvPr>
          <p:cNvSpPr>
            <a:spLocks noGrp="1"/>
          </p:cNvSpPr>
          <p:nvPr/>
        </p:nvSpPr>
        <p:spPr>
          <a:xfrm>
            <a:off x="4806315" y="4397349"/>
            <a:ext cx="514350" cy="201168"/>
          </a:xfrm>
          <a:prstGeom prst="rect">
            <a:avLst/>
          </a:prstGeom>
          <a:noFill/>
        </p:spPr>
        <p:txBody>
          <a:bodyPr wrap="square" lIns="0" tIns="0" rIns="0" bIns="0" anchor="t">
            <a:spAutoFit/>
          </a:bodyPr>
          <a:lstStyle/>
          <a:p>
            <a:pPr algn="l">
              <a:buNone/>
            </a:pPr>
            <a:r>
              <a:rPr sz="1000" b="1">
                <a:solidFill>
                  <a:srgbClr val="E8893A"/>
                </a:solidFill>
                <a:latin typeface="210 OmniGothic 040"/>
                <a:ea typeface="210 OmniGothic 040"/>
                <a:cs typeface="210 OmniGothic 040"/>
              </a:rPr>
              <a:t>1</a:t>
            </a:r>
          </a:p>
        </p:txBody>
      </p:sp>
      <p:sp>
        <p:nvSpPr>
          <p:cNvPr id="5404" name="TextBox 5403">
            <a:extLst>
              <a:ext uri="{FF2B5EF4-FFF2-40B4-BE49-F238E27FC236}">
                <a16:creationId xmlns:a16="http://schemas.microsoft.com/office/drawing/2014/main" id="{2FBE6C83-5C80-40C7-A626-5D806D4118DC}"/>
              </a:ext>
            </a:extLst>
          </p:cNvPr>
          <p:cNvSpPr>
            <a:spLocks noGrp="1"/>
          </p:cNvSpPr>
          <p:nvPr/>
        </p:nvSpPr>
        <p:spPr>
          <a:xfrm>
            <a:off x="4806315" y="3984955"/>
            <a:ext cx="514350" cy="201168"/>
          </a:xfrm>
          <a:prstGeom prst="rect">
            <a:avLst/>
          </a:prstGeom>
          <a:noFill/>
        </p:spPr>
        <p:txBody>
          <a:bodyPr wrap="square" lIns="0" tIns="0" rIns="0" bIns="0" anchor="t">
            <a:spAutoFit/>
          </a:bodyPr>
          <a:lstStyle/>
          <a:p>
            <a:pPr algn="l">
              <a:buNone/>
            </a:pPr>
            <a:r>
              <a:rPr sz="1000" b="1">
                <a:solidFill>
                  <a:srgbClr val="E8893A"/>
                </a:solidFill>
                <a:latin typeface="210 OmniGothic 040"/>
                <a:ea typeface="210 OmniGothic 040"/>
                <a:cs typeface="210 OmniGothic 040"/>
              </a:rPr>
              <a:t>N</a:t>
            </a:r>
          </a:p>
        </p:txBody>
      </p:sp>
      <p:sp>
        <p:nvSpPr>
          <p:cNvPr id="5405" name="Connector 5404">
            <a:extLst>
              <a:ext uri="{FF2B5EF4-FFF2-40B4-BE49-F238E27FC236}">
                <a16:creationId xmlns:a16="http://schemas.microsoft.com/office/drawing/2014/main" id="{7FFB791F-3169-4FE1-807B-7EB50BF26A4B}"/>
              </a:ext>
            </a:extLst>
          </p:cNvPr>
          <p:cNvSpPr>
            <a:spLocks noGrp="1"/>
          </p:cNvSpPr>
          <p:nvPr/>
        </p:nvSpPr>
        <p:spPr>
          <a:xfrm flipV="1">
            <a:off x="5509260" y="3954780"/>
            <a:ext cx="1257300" cy="673912"/>
          </a:xfrm>
          <a:prstGeom prst="line">
            <a:avLst/>
          </a:prstGeom>
          <a:ln w="13970">
            <a:solidFill>
              <a:srgbClr val="4A4F66"/>
            </a:solidFill>
            <a:headEnd type="diamond"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5406" name="TextBox 5405">
            <a:extLst>
              <a:ext uri="{FF2B5EF4-FFF2-40B4-BE49-F238E27FC236}">
                <a16:creationId xmlns:a16="http://schemas.microsoft.com/office/drawing/2014/main" id="{0B79DC62-5091-4283-B75A-B9C22DC3CA1B}"/>
              </a:ext>
            </a:extLst>
          </p:cNvPr>
          <p:cNvSpPr>
            <a:spLocks noGrp="1"/>
          </p:cNvSpPr>
          <p:nvPr/>
        </p:nvSpPr>
        <p:spPr>
          <a:xfrm>
            <a:off x="5755005" y="4477313"/>
            <a:ext cx="514350" cy="201168"/>
          </a:xfrm>
          <a:prstGeom prst="rect">
            <a:avLst/>
          </a:prstGeom>
          <a:noFill/>
        </p:spPr>
        <p:txBody>
          <a:bodyPr wrap="square" lIns="0" tIns="0" rIns="0" bIns="0" anchor="t">
            <a:spAutoFit/>
          </a:bodyPr>
          <a:lstStyle/>
          <a:p>
            <a:pPr algn="l">
              <a:buNone/>
            </a:pPr>
            <a:r>
              <a:rPr sz="1000" b="1">
                <a:solidFill>
                  <a:srgbClr val="E8893A"/>
                </a:solidFill>
                <a:latin typeface="210 OmniGothic 040"/>
                <a:ea typeface="210 OmniGothic 040"/>
                <a:cs typeface="210 OmniGothic 040"/>
              </a:rPr>
              <a:t>1</a:t>
            </a:r>
          </a:p>
        </p:txBody>
      </p:sp>
      <p:sp>
        <p:nvSpPr>
          <p:cNvPr id="5407" name="TextBox 5406">
            <a:extLst>
              <a:ext uri="{FF2B5EF4-FFF2-40B4-BE49-F238E27FC236}">
                <a16:creationId xmlns:a16="http://schemas.microsoft.com/office/drawing/2014/main" id="{86F0084C-C02D-401B-AE2F-21A69709F493}"/>
              </a:ext>
            </a:extLst>
          </p:cNvPr>
          <p:cNvSpPr>
            <a:spLocks noGrp="1"/>
          </p:cNvSpPr>
          <p:nvPr/>
        </p:nvSpPr>
        <p:spPr>
          <a:xfrm>
            <a:off x="6597396" y="3975500"/>
            <a:ext cx="514350" cy="201168"/>
          </a:xfrm>
          <a:prstGeom prst="rect">
            <a:avLst/>
          </a:prstGeom>
          <a:noFill/>
        </p:spPr>
        <p:txBody>
          <a:bodyPr wrap="square" lIns="0" tIns="0" rIns="0" bIns="0" anchor="t">
            <a:spAutoFit/>
          </a:bodyPr>
          <a:lstStyle/>
          <a:p>
            <a:pPr algn="l">
              <a:buNone/>
            </a:pPr>
            <a:r>
              <a:rPr sz="1000" b="1">
                <a:solidFill>
                  <a:srgbClr val="E8893A"/>
                </a:solidFill>
                <a:latin typeface="210 OmniGothic 040"/>
                <a:ea typeface="210 OmniGothic 040"/>
                <a:cs typeface="210 OmniGothic 040"/>
              </a:rPr>
              <a:t>N</a:t>
            </a:r>
          </a:p>
        </p:txBody>
      </p:sp>
      <p:sp>
        <p:nvSpPr>
          <p:cNvPr id="5408" name="Connector 5407">
            <a:extLst>
              <a:ext uri="{FF2B5EF4-FFF2-40B4-BE49-F238E27FC236}">
                <a16:creationId xmlns:a16="http://schemas.microsoft.com/office/drawing/2014/main" id="{5EAB9CFC-13CA-4A39-A65C-5D8D254C3BB1}"/>
              </a:ext>
            </a:extLst>
          </p:cNvPr>
          <p:cNvSpPr>
            <a:spLocks noGrp="1"/>
          </p:cNvSpPr>
          <p:nvPr/>
        </p:nvSpPr>
        <p:spPr>
          <a:xfrm flipH="1">
            <a:off x="3051810" y="5408218"/>
            <a:ext cx="571500" cy="0"/>
          </a:xfrm>
          <a:prstGeom prst="line">
            <a:avLst/>
          </a:prstGeom>
          <a:ln w="13970">
            <a:solidFill>
              <a:srgbClr val="4A4F66"/>
            </a:solidFill>
            <a:headEnd type="diamond"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5409" name="TextBox 5408">
            <a:extLst>
              <a:ext uri="{FF2B5EF4-FFF2-40B4-BE49-F238E27FC236}">
                <a16:creationId xmlns:a16="http://schemas.microsoft.com/office/drawing/2014/main" id="{780ACDE7-9A5F-4E81-A738-A06A9E297233}"/>
              </a:ext>
            </a:extLst>
          </p:cNvPr>
          <p:cNvSpPr>
            <a:spLocks noGrp="1"/>
          </p:cNvSpPr>
          <p:nvPr/>
        </p:nvSpPr>
        <p:spPr>
          <a:xfrm>
            <a:off x="3280410" y="5176875"/>
            <a:ext cx="514350" cy="201168"/>
          </a:xfrm>
          <a:prstGeom prst="rect">
            <a:avLst/>
          </a:prstGeom>
          <a:noFill/>
        </p:spPr>
        <p:txBody>
          <a:bodyPr wrap="square" lIns="0" tIns="0" rIns="0" bIns="0" anchor="t">
            <a:spAutoFit/>
          </a:bodyPr>
          <a:lstStyle/>
          <a:p>
            <a:pPr algn="l">
              <a:buNone/>
            </a:pPr>
            <a:r>
              <a:rPr sz="1000" b="1">
                <a:solidFill>
                  <a:srgbClr val="E8893A"/>
                </a:solidFill>
                <a:latin typeface="210 OmniGothic 040"/>
                <a:ea typeface="210 OmniGothic 040"/>
                <a:cs typeface="210 OmniGothic 040"/>
              </a:rPr>
              <a:t>1</a:t>
            </a:r>
          </a:p>
        </p:txBody>
      </p:sp>
      <p:sp>
        <p:nvSpPr>
          <p:cNvPr id="5410" name="TextBox 5409">
            <a:extLst>
              <a:ext uri="{FF2B5EF4-FFF2-40B4-BE49-F238E27FC236}">
                <a16:creationId xmlns:a16="http://schemas.microsoft.com/office/drawing/2014/main" id="{90C06E31-55BB-47D7-9333-D6B85B1666E8}"/>
              </a:ext>
            </a:extLst>
          </p:cNvPr>
          <p:cNvSpPr>
            <a:spLocks noGrp="1"/>
          </p:cNvSpPr>
          <p:nvPr/>
        </p:nvSpPr>
        <p:spPr>
          <a:xfrm>
            <a:off x="3120389" y="5176875"/>
            <a:ext cx="514350" cy="201168"/>
          </a:xfrm>
          <a:prstGeom prst="rect">
            <a:avLst/>
          </a:prstGeom>
          <a:noFill/>
        </p:spPr>
        <p:txBody>
          <a:bodyPr wrap="square" lIns="0" tIns="0" rIns="0" bIns="0" anchor="t">
            <a:spAutoFit/>
          </a:bodyPr>
          <a:lstStyle/>
          <a:p>
            <a:pPr algn="l">
              <a:buNone/>
            </a:pPr>
            <a:r>
              <a:rPr sz="1000" b="1">
                <a:solidFill>
                  <a:srgbClr val="E8893A"/>
                </a:solidFill>
                <a:latin typeface="210 OmniGothic 040"/>
                <a:ea typeface="210 OmniGothic 040"/>
                <a:cs typeface="210 OmniGothic 040"/>
              </a:rPr>
              <a:t>N</a:t>
            </a:r>
          </a:p>
        </p:txBody>
      </p:sp>
      <p:sp>
        <p:nvSpPr>
          <p:cNvPr id="5411" name="Connector 5410">
            <a:extLst>
              <a:ext uri="{FF2B5EF4-FFF2-40B4-BE49-F238E27FC236}">
                <a16:creationId xmlns:a16="http://schemas.microsoft.com/office/drawing/2014/main" id="{BAC7981E-01AE-48AF-8262-C8007315EC1E}"/>
              </a:ext>
            </a:extLst>
          </p:cNvPr>
          <p:cNvSpPr>
            <a:spLocks noGrp="1"/>
          </p:cNvSpPr>
          <p:nvPr/>
        </p:nvSpPr>
        <p:spPr>
          <a:xfrm>
            <a:off x="5852160" y="5408218"/>
            <a:ext cx="571500" cy="0"/>
          </a:xfrm>
          <a:prstGeom prst="line">
            <a:avLst/>
          </a:prstGeom>
          <a:ln w="13970">
            <a:solidFill>
              <a:srgbClr val="4A4F66"/>
            </a:solidFill>
            <a:headEnd type="diamond"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5412" name="TextBox 5411">
            <a:extLst>
              <a:ext uri="{FF2B5EF4-FFF2-40B4-BE49-F238E27FC236}">
                <a16:creationId xmlns:a16="http://schemas.microsoft.com/office/drawing/2014/main" id="{A20E2617-FCDF-401C-988A-6905E4BD7669}"/>
              </a:ext>
            </a:extLst>
          </p:cNvPr>
          <p:cNvSpPr>
            <a:spLocks noGrp="1"/>
          </p:cNvSpPr>
          <p:nvPr/>
        </p:nvSpPr>
        <p:spPr>
          <a:xfrm>
            <a:off x="5920740" y="5176875"/>
            <a:ext cx="514350" cy="201168"/>
          </a:xfrm>
          <a:prstGeom prst="rect">
            <a:avLst/>
          </a:prstGeom>
          <a:noFill/>
        </p:spPr>
        <p:txBody>
          <a:bodyPr wrap="square" lIns="0" tIns="0" rIns="0" bIns="0" anchor="t">
            <a:spAutoFit/>
          </a:bodyPr>
          <a:lstStyle/>
          <a:p>
            <a:pPr algn="l">
              <a:buNone/>
            </a:pPr>
            <a:r>
              <a:rPr sz="1000" b="1">
                <a:solidFill>
                  <a:srgbClr val="E8893A"/>
                </a:solidFill>
                <a:latin typeface="210 OmniGothic 040"/>
                <a:ea typeface="210 OmniGothic 040"/>
                <a:cs typeface="210 OmniGothic 040"/>
              </a:rPr>
              <a:t>1</a:t>
            </a:r>
          </a:p>
        </p:txBody>
      </p:sp>
      <p:sp>
        <p:nvSpPr>
          <p:cNvPr id="5413" name="TextBox 5412">
            <a:extLst>
              <a:ext uri="{FF2B5EF4-FFF2-40B4-BE49-F238E27FC236}">
                <a16:creationId xmlns:a16="http://schemas.microsoft.com/office/drawing/2014/main" id="{C5249757-6632-42D7-AC8C-7FFE0BC36AF7}"/>
              </a:ext>
            </a:extLst>
          </p:cNvPr>
          <p:cNvSpPr>
            <a:spLocks noGrp="1"/>
          </p:cNvSpPr>
          <p:nvPr/>
        </p:nvSpPr>
        <p:spPr>
          <a:xfrm>
            <a:off x="6080760" y="5176875"/>
            <a:ext cx="514350" cy="201168"/>
          </a:xfrm>
          <a:prstGeom prst="rect">
            <a:avLst/>
          </a:prstGeom>
          <a:noFill/>
        </p:spPr>
        <p:txBody>
          <a:bodyPr wrap="square" lIns="0" tIns="0" rIns="0" bIns="0" anchor="t">
            <a:spAutoFit/>
          </a:bodyPr>
          <a:lstStyle/>
          <a:p>
            <a:pPr algn="l">
              <a:buNone/>
            </a:pPr>
            <a:r>
              <a:rPr sz="1000" b="1">
                <a:solidFill>
                  <a:srgbClr val="E8893A"/>
                </a:solidFill>
                <a:latin typeface="210 OmniGothic 040"/>
                <a:ea typeface="210 OmniGothic 040"/>
                <a:cs typeface="210 OmniGothic 040"/>
              </a:rPr>
              <a:t>N</a:t>
            </a:r>
          </a:p>
        </p:txBody>
      </p:sp>
      <p:sp>
        <p:nvSpPr>
          <p:cNvPr id="5414" name="Connector 5413">
            <a:extLst>
              <a:ext uri="{FF2B5EF4-FFF2-40B4-BE49-F238E27FC236}">
                <a16:creationId xmlns:a16="http://schemas.microsoft.com/office/drawing/2014/main" id="{B25EBC09-3582-48B0-BAF3-B133FABAA83E}"/>
              </a:ext>
            </a:extLst>
          </p:cNvPr>
          <p:cNvSpPr>
            <a:spLocks noGrp="1"/>
          </p:cNvSpPr>
          <p:nvPr/>
        </p:nvSpPr>
        <p:spPr>
          <a:xfrm flipH="1">
            <a:off x="2708910" y="6187744"/>
            <a:ext cx="1257300" cy="673913"/>
          </a:xfrm>
          <a:prstGeom prst="line">
            <a:avLst/>
          </a:prstGeom>
          <a:ln w="13970">
            <a:solidFill>
              <a:srgbClr val="4A4F66"/>
            </a:solidFill>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5415" name="TextBox 5414">
            <a:extLst>
              <a:ext uri="{FF2B5EF4-FFF2-40B4-BE49-F238E27FC236}">
                <a16:creationId xmlns:a16="http://schemas.microsoft.com/office/drawing/2014/main" id="{040AC3BF-24F3-4166-BDC4-51D7FE9004EB}"/>
              </a:ext>
            </a:extLst>
          </p:cNvPr>
          <p:cNvSpPr>
            <a:spLocks noGrp="1"/>
          </p:cNvSpPr>
          <p:nvPr/>
        </p:nvSpPr>
        <p:spPr>
          <a:xfrm>
            <a:off x="3434715" y="6238539"/>
            <a:ext cx="514350" cy="201168"/>
          </a:xfrm>
          <a:prstGeom prst="rect">
            <a:avLst/>
          </a:prstGeom>
          <a:noFill/>
        </p:spPr>
        <p:txBody>
          <a:bodyPr wrap="square" lIns="0" tIns="0" rIns="0" bIns="0" anchor="t">
            <a:spAutoFit/>
          </a:bodyPr>
          <a:lstStyle/>
          <a:p>
            <a:pPr algn="l">
              <a:buNone/>
            </a:pPr>
            <a:r>
              <a:rPr sz="1000" b="1">
                <a:solidFill>
                  <a:srgbClr val="E8893A"/>
                </a:solidFill>
                <a:latin typeface="210 OmniGothic 040"/>
                <a:ea typeface="210 OmniGothic 040"/>
                <a:cs typeface="210 OmniGothic 040"/>
              </a:rPr>
              <a:t>0..1</a:t>
            </a:r>
          </a:p>
        </p:txBody>
      </p:sp>
      <p:sp>
        <p:nvSpPr>
          <p:cNvPr id="5416" name="TextBox 5415">
            <a:extLst>
              <a:ext uri="{FF2B5EF4-FFF2-40B4-BE49-F238E27FC236}">
                <a16:creationId xmlns:a16="http://schemas.microsoft.com/office/drawing/2014/main" id="{EAA5087E-8E8E-4036-AD6E-4F35321F269E}"/>
              </a:ext>
            </a:extLst>
          </p:cNvPr>
          <p:cNvSpPr>
            <a:spLocks noGrp="1"/>
          </p:cNvSpPr>
          <p:nvPr/>
        </p:nvSpPr>
        <p:spPr>
          <a:xfrm>
            <a:off x="2592324" y="6639769"/>
            <a:ext cx="514350" cy="201168"/>
          </a:xfrm>
          <a:prstGeom prst="rect">
            <a:avLst/>
          </a:prstGeom>
          <a:noFill/>
        </p:spPr>
        <p:txBody>
          <a:bodyPr wrap="square" lIns="0" tIns="0" rIns="0" bIns="0" anchor="t">
            <a:spAutoFit/>
          </a:bodyPr>
          <a:lstStyle/>
          <a:p>
            <a:pPr algn="l">
              <a:buNone/>
            </a:pPr>
            <a:r>
              <a:rPr sz="1000" b="1">
                <a:solidFill>
                  <a:srgbClr val="E8893A"/>
                </a:solidFill>
                <a:latin typeface="210 OmniGothic 040"/>
                <a:ea typeface="210 OmniGothic 040"/>
                <a:cs typeface="210 OmniGothic 040"/>
              </a:rPr>
              <a:t>N</a:t>
            </a:r>
          </a:p>
        </p:txBody>
      </p:sp>
      <p:sp>
        <p:nvSpPr>
          <p:cNvPr id="5417" name="Connector 5416">
            <a:extLst>
              <a:ext uri="{FF2B5EF4-FFF2-40B4-BE49-F238E27FC236}">
                <a16:creationId xmlns:a16="http://schemas.microsoft.com/office/drawing/2014/main" id="{17AEFEF6-5F1A-4AAD-975B-3B47A7CB37BA}"/>
              </a:ext>
            </a:extLst>
          </p:cNvPr>
          <p:cNvSpPr>
            <a:spLocks noGrp="1"/>
          </p:cNvSpPr>
          <p:nvPr/>
        </p:nvSpPr>
        <p:spPr>
          <a:xfrm>
            <a:off x="4737735" y="6187744"/>
            <a:ext cx="0" cy="673913"/>
          </a:xfrm>
          <a:prstGeom prst="line">
            <a:avLst/>
          </a:prstGeom>
          <a:ln w="13970">
            <a:solidFill>
              <a:srgbClr val="4A4F66"/>
            </a:solidFill>
            <a:headEnd type="diamond"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5418" name="TextBox 5417">
            <a:extLst>
              <a:ext uri="{FF2B5EF4-FFF2-40B4-BE49-F238E27FC236}">
                <a16:creationId xmlns:a16="http://schemas.microsoft.com/office/drawing/2014/main" id="{93999403-5D79-4E82-A44D-14C062845BCC}"/>
              </a:ext>
            </a:extLst>
          </p:cNvPr>
          <p:cNvSpPr>
            <a:spLocks noGrp="1"/>
          </p:cNvSpPr>
          <p:nvPr/>
        </p:nvSpPr>
        <p:spPr>
          <a:xfrm>
            <a:off x="4806315" y="6217920"/>
            <a:ext cx="514350" cy="201168"/>
          </a:xfrm>
          <a:prstGeom prst="rect">
            <a:avLst/>
          </a:prstGeom>
          <a:noFill/>
        </p:spPr>
        <p:txBody>
          <a:bodyPr wrap="square" lIns="0" tIns="0" rIns="0" bIns="0" anchor="t">
            <a:spAutoFit/>
          </a:bodyPr>
          <a:lstStyle/>
          <a:p>
            <a:pPr algn="l">
              <a:buNone/>
            </a:pPr>
            <a:r>
              <a:rPr sz="1000" b="1">
                <a:solidFill>
                  <a:srgbClr val="E8893A"/>
                </a:solidFill>
                <a:latin typeface="210 OmniGothic 040"/>
                <a:ea typeface="210 OmniGothic 040"/>
                <a:cs typeface="210 OmniGothic 040"/>
              </a:rPr>
              <a:t>1</a:t>
            </a:r>
          </a:p>
        </p:txBody>
      </p:sp>
      <p:sp>
        <p:nvSpPr>
          <p:cNvPr id="5419" name="TextBox 5418">
            <a:extLst>
              <a:ext uri="{FF2B5EF4-FFF2-40B4-BE49-F238E27FC236}">
                <a16:creationId xmlns:a16="http://schemas.microsoft.com/office/drawing/2014/main" id="{6D82D419-592B-4492-9E87-BACA9B2B6E8B}"/>
              </a:ext>
            </a:extLst>
          </p:cNvPr>
          <p:cNvSpPr>
            <a:spLocks noGrp="1"/>
          </p:cNvSpPr>
          <p:nvPr/>
        </p:nvSpPr>
        <p:spPr>
          <a:xfrm>
            <a:off x="4806315" y="6630314"/>
            <a:ext cx="514350" cy="201168"/>
          </a:xfrm>
          <a:prstGeom prst="rect">
            <a:avLst/>
          </a:prstGeom>
          <a:noFill/>
        </p:spPr>
        <p:txBody>
          <a:bodyPr wrap="square" lIns="0" tIns="0" rIns="0" bIns="0" anchor="t">
            <a:spAutoFit/>
          </a:bodyPr>
          <a:lstStyle/>
          <a:p>
            <a:pPr algn="l">
              <a:buNone/>
            </a:pPr>
            <a:r>
              <a:rPr sz="1000" b="1">
                <a:solidFill>
                  <a:srgbClr val="E8893A"/>
                </a:solidFill>
                <a:latin typeface="210 OmniGothic 040"/>
                <a:ea typeface="210 OmniGothic 040"/>
                <a:cs typeface="210 OmniGothic 040"/>
              </a:rPr>
              <a:t>N</a:t>
            </a:r>
          </a:p>
        </p:txBody>
      </p:sp>
      <p:sp>
        <p:nvSpPr>
          <p:cNvPr id="5420" name="Connector 5419">
            <a:extLst>
              <a:ext uri="{FF2B5EF4-FFF2-40B4-BE49-F238E27FC236}">
                <a16:creationId xmlns:a16="http://schemas.microsoft.com/office/drawing/2014/main" id="{5A388EAC-53C1-4F5F-B1AD-C607C89616FF}"/>
              </a:ext>
            </a:extLst>
          </p:cNvPr>
          <p:cNvSpPr>
            <a:spLocks noGrp="1"/>
          </p:cNvSpPr>
          <p:nvPr/>
        </p:nvSpPr>
        <p:spPr>
          <a:xfrm>
            <a:off x="5509260" y="6187744"/>
            <a:ext cx="1257300" cy="673913"/>
          </a:xfrm>
          <a:prstGeom prst="line">
            <a:avLst/>
          </a:prstGeom>
          <a:ln w="13970">
            <a:solidFill>
              <a:srgbClr val="4A4F66"/>
            </a:solidFill>
            <a:headEnd type="diamond"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5421" name="TextBox 5420">
            <a:extLst>
              <a:ext uri="{FF2B5EF4-FFF2-40B4-BE49-F238E27FC236}">
                <a16:creationId xmlns:a16="http://schemas.microsoft.com/office/drawing/2014/main" id="{7CFC66FA-48BA-440A-927C-B1480511E080}"/>
              </a:ext>
            </a:extLst>
          </p:cNvPr>
          <p:cNvSpPr>
            <a:spLocks noGrp="1"/>
          </p:cNvSpPr>
          <p:nvPr/>
        </p:nvSpPr>
        <p:spPr>
          <a:xfrm>
            <a:off x="5755005" y="6238539"/>
            <a:ext cx="514350" cy="201168"/>
          </a:xfrm>
          <a:prstGeom prst="rect">
            <a:avLst/>
          </a:prstGeom>
          <a:noFill/>
        </p:spPr>
        <p:txBody>
          <a:bodyPr wrap="square" lIns="0" tIns="0" rIns="0" bIns="0" anchor="t">
            <a:spAutoFit/>
          </a:bodyPr>
          <a:lstStyle/>
          <a:p>
            <a:pPr algn="l">
              <a:buNone/>
            </a:pPr>
            <a:r>
              <a:rPr sz="1000" b="1">
                <a:solidFill>
                  <a:srgbClr val="E8893A"/>
                </a:solidFill>
                <a:latin typeface="210 OmniGothic 040"/>
                <a:ea typeface="210 OmniGothic 040"/>
                <a:cs typeface="210 OmniGothic 040"/>
              </a:rPr>
              <a:t>1</a:t>
            </a:r>
          </a:p>
        </p:txBody>
      </p:sp>
      <p:sp>
        <p:nvSpPr>
          <p:cNvPr id="5422" name="TextBox 5421">
            <a:extLst>
              <a:ext uri="{FF2B5EF4-FFF2-40B4-BE49-F238E27FC236}">
                <a16:creationId xmlns:a16="http://schemas.microsoft.com/office/drawing/2014/main" id="{B238A6E7-90F3-487E-A4B6-601133359A82}"/>
              </a:ext>
            </a:extLst>
          </p:cNvPr>
          <p:cNvSpPr>
            <a:spLocks noGrp="1"/>
          </p:cNvSpPr>
          <p:nvPr/>
        </p:nvSpPr>
        <p:spPr>
          <a:xfrm>
            <a:off x="6597396" y="6639769"/>
            <a:ext cx="514350" cy="201168"/>
          </a:xfrm>
          <a:prstGeom prst="rect">
            <a:avLst/>
          </a:prstGeom>
          <a:noFill/>
        </p:spPr>
        <p:txBody>
          <a:bodyPr wrap="square" lIns="0" tIns="0" rIns="0" bIns="0" anchor="t">
            <a:spAutoFit/>
          </a:bodyPr>
          <a:lstStyle/>
          <a:p>
            <a:pPr algn="l">
              <a:buNone/>
            </a:pPr>
            <a:r>
              <a:rPr sz="1000" b="1">
                <a:solidFill>
                  <a:srgbClr val="E8893A"/>
                </a:solidFill>
                <a:latin typeface="210 OmniGothic 040"/>
                <a:ea typeface="210 OmniGothic 040"/>
                <a:cs typeface="210 OmniGothic 040"/>
              </a:rPr>
              <a:t>N</a:t>
            </a:r>
          </a:p>
        </p:txBody>
      </p:sp>
      <p:sp>
        <p:nvSpPr>
          <p:cNvPr id="5423" name="Connector 5422">
            <a:extLst>
              <a:ext uri="{FF2B5EF4-FFF2-40B4-BE49-F238E27FC236}">
                <a16:creationId xmlns:a16="http://schemas.microsoft.com/office/drawing/2014/main" id="{E08F5A90-465F-4278-B407-02F85EB1731D}"/>
              </a:ext>
            </a:extLst>
          </p:cNvPr>
          <p:cNvSpPr>
            <a:spLocks noGrp="1"/>
          </p:cNvSpPr>
          <p:nvPr/>
        </p:nvSpPr>
        <p:spPr>
          <a:xfrm>
            <a:off x="7538085" y="3954780"/>
            <a:ext cx="0" cy="673912"/>
          </a:xfrm>
          <a:prstGeom prst="line">
            <a:avLst/>
          </a:prstGeom>
          <a:ln w="13970">
            <a:solidFill>
              <a:srgbClr val="4A4F66"/>
            </a:solidFill>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5424" name="TextBox 5423">
            <a:extLst>
              <a:ext uri="{FF2B5EF4-FFF2-40B4-BE49-F238E27FC236}">
                <a16:creationId xmlns:a16="http://schemas.microsoft.com/office/drawing/2014/main" id="{5A108BA8-8657-4E0B-BA7A-2081E672FC2C}"/>
              </a:ext>
            </a:extLst>
          </p:cNvPr>
          <p:cNvSpPr>
            <a:spLocks noGrp="1"/>
          </p:cNvSpPr>
          <p:nvPr/>
        </p:nvSpPr>
        <p:spPr>
          <a:xfrm>
            <a:off x="7606665" y="3984955"/>
            <a:ext cx="514350" cy="201168"/>
          </a:xfrm>
          <a:prstGeom prst="rect">
            <a:avLst/>
          </a:prstGeom>
          <a:noFill/>
        </p:spPr>
        <p:txBody>
          <a:bodyPr wrap="square" lIns="0" tIns="0" rIns="0" bIns="0" anchor="t">
            <a:spAutoFit/>
          </a:bodyPr>
          <a:lstStyle/>
          <a:p>
            <a:pPr algn="l">
              <a:buNone/>
            </a:pPr>
            <a:r>
              <a:rPr sz="1000" b="1">
                <a:solidFill>
                  <a:srgbClr val="E8893A"/>
                </a:solidFill>
                <a:latin typeface="210 OmniGothic 040"/>
                <a:ea typeface="210 OmniGothic 040"/>
                <a:cs typeface="210 OmniGothic 040"/>
              </a:rPr>
              <a:t>0..1</a:t>
            </a:r>
          </a:p>
        </p:txBody>
      </p:sp>
      <p:sp>
        <p:nvSpPr>
          <p:cNvPr id="5425" name="TextBox 5424">
            <a:extLst>
              <a:ext uri="{FF2B5EF4-FFF2-40B4-BE49-F238E27FC236}">
                <a16:creationId xmlns:a16="http://schemas.microsoft.com/office/drawing/2014/main" id="{20E35FC2-D397-4B6A-A73A-D19ED8E6A81D}"/>
              </a:ext>
            </a:extLst>
          </p:cNvPr>
          <p:cNvSpPr>
            <a:spLocks noGrp="1"/>
          </p:cNvSpPr>
          <p:nvPr/>
        </p:nvSpPr>
        <p:spPr>
          <a:xfrm>
            <a:off x="7606665" y="4397349"/>
            <a:ext cx="514350" cy="201168"/>
          </a:xfrm>
          <a:prstGeom prst="rect">
            <a:avLst/>
          </a:prstGeom>
          <a:noFill/>
        </p:spPr>
        <p:txBody>
          <a:bodyPr wrap="square" lIns="0" tIns="0" rIns="0" bIns="0" anchor="t">
            <a:spAutoFit/>
          </a:bodyPr>
          <a:lstStyle/>
          <a:p>
            <a:pPr algn="l">
              <a:buNone/>
            </a:pPr>
            <a:r>
              <a:rPr sz="1000" b="1">
                <a:solidFill>
                  <a:srgbClr val="E8893A"/>
                </a:solidFill>
                <a:latin typeface="210 OmniGothic 040"/>
                <a:ea typeface="210 OmniGothic 040"/>
                <a:cs typeface="210 OmniGothic 040"/>
              </a:rPr>
              <a:t>N</a:t>
            </a:r>
          </a:p>
        </p:txBody>
      </p:sp>
      <p:sp>
        <p:nvSpPr>
          <p:cNvPr id="5426" name="Connector 5425">
            <a:extLst>
              <a:ext uri="{FF2B5EF4-FFF2-40B4-BE49-F238E27FC236}">
                <a16:creationId xmlns:a16="http://schemas.microsoft.com/office/drawing/2014/main" id="{AF935788-76B2-433F-8D44-4C1B2FE5611D}"/>
              </a:ext>
            </a:extLst>
          </p:cNvPr>
          <p:cNvSpPr>
            <a:spLocks noGrp="1"/>
          </p:cNvSpPr>
          <p:nvPr/>
        </p:nvSpPr>
        <p:spPr>
          <a:xfrm flipV="1">
            <a:off x="8309610" y="3954780"/>
            <a:ext cx="1257300" cy="673912"/>
          </a:xfrm>
          <a:prstGeom prst="line">
            <a:avLst/>
          </a:prstGeom>
          <a:ln w="13970">
            <a:solidFill>
              <a:srgbClr val="4A4F66"/>
            </a:solidFill>
            <a:headEnd type="diamond"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5427" name="TextBox 5426">
            <a:extLst>
              <a:ext uri="{FF2B5EF4-FFF2-40B4-BE49-F238E27FC236}">
                <a16:creationId xmlns:a16="http://schemas.microsoft.com/office/drawing/2014/main" id="{C02AD347-D7AF-44DD-9E02-469B75482E19}"/>
              </a:ext>
            </a:extLst>
          </p:cNvPr>
          <p:cNvSpPr>
            <a:spLocks noGrp="1"/>
          </p:cNvSpPr>
          <p:nvPr/>
        </p:nvSpPr>
        <p:spPr>
          <a:xfrm>
            <a:off x="8555355" y="4477313"/>
            <a:ext cx="514350" cy="201168"/>
          </a:xfrm>
          <a:prstGeom prst="rect">
            <a:avLst/>
          </a:prstGeom>
          <a:noFill/>
        </p:spPr>
        <p:txBody>
          <a:bodyPr wrap="square" lIns="0" tIns="0" rIns="0" bIns="0" anchor="t">
            <a:spAutoFit/>
          </a:bodyPr>
          <a:lstStyle/>
          <a:p>
            <a:pPr algn="l">
              <a:buNone/>
            </a:pPr>
            <a:r>
              <a:rPr sz="1000" b="1">
                <a:solidFill>
                  <a:srgbClr val="E8893A"/>
                </a:solidFill>
                <a:latin typeface="210 OmniGothic 040"/>
                <a:ea typeface="210 OmniGothic 040"/>
                <a:cs typeface="210 OmniGothic 040"/>
              </a:rPr>
              <a:t>1</a:t>
            </a:r>
          </a:p>
        </p:txBody>
      </p:sp>
      <p:sp>
        <p:nvSpPr>
          <p:cNvPr id="5428" name="TextBox 5427">
            <a:extLst>
              <a:ext uri="{FF2B5EF4-FFF2-40B4-BE49-F238E27FC236}">
                <a16:creationId xmlns:a16="http://schemas.microsoft.com/office/drawing/2014/main" id="{4F1BC05D-D2F6-4785-9B76-82D3323FB737}"/>
              </a:ext>
            </a:extLst>
          </p:cNvPr>
          <p:cNvSpPr>
            <a:spLocks noGrp="1"/>
          </p:cNvSpPr>
          <p:nvPr/>
        </p:nvSpPr>
        <p:spPr>
          <a:xfrm>
            <a:off x="9397746" y="3975500"/>
            <a:ext cx="514350" cy="201168"/>
          </a:xfrm>
          <a:prstGeom prst="rect">
            <a:avLst/>
          </a:prstGeom>
          <a:noFill/>
        </p:spPr>
        <p:txBody>
          <a:bodyPr wrap="square" lIns="0" tIns="0" rIns="0" bIns="0" anchor="t">
            <a:spAutoFit/>
          </a:bodyPr>
          <a:lstStyle/>
          <a:p>
            <a:pPr algn="l">
              <a:buNone/>
            </a:pPr>
            <a:r>
              <a:rPr sz="1000" b="1">
                <a:solidFill>
                  <a:srgbClr val="E8893A"/>
                </a:solidFill>
                <a:latin typeface="210 OmniGothic 040"/>
                <a:ea typeface="210 OmniGothic 040"/>
                <a:cs typeface="210 OmniGothic 040"/>
              </a:rPr>
              <a:t>8</a:t>
            </a:r>
          </a:p>
        </p:txBody>
      </p:sp>
      <p:sp>
        <p:nvSpPr>
          <p:cNvPr id="5429" name="Connector 5428">
            <a:extLst>
              <a:ext uri="{FF2B5EF4-FFF2-40B4-BE49-F238E27FC236}">
                <a16:creationId xmlns:a16="http://schemas.microsoft.com/office/drawing/2014/main" id="{823BDE1B-07F4-4512-A572-4EB080581C2E}"/>
              </a:ext>
            </a:extLst>
          </p:cNvPr>
          <p:cNvSpPr>
            <a:spLocks noGrp="1"/>
          </p:cNvSpPr>
          <p:nvPr/>
        </p:nvSpPr>
        <p:spPr>
          <a:xfrm>
            <a:off x="7538085" y="6187744"/>
            <a:ext cx="0" cy="673913"/>
          </a:xfrm>
          <a:prstGeom prst="line">
            <a:avLst/>
          </a:prstGeom>
          <a:ln w="13970">
            <a:solidFill>
              <a:srgbClr val="4A4F66"/>
            </a:solidFill>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5430" name="TextBox 5429">
            <a:extLst>
              <a:ext uri="{FF2B5EF4-FFF2-40B4-BE49-F238E27FC236}">
                <a16:creationId xmlns:a16="http://schemas.microsoft.com/office/drawing/2014/main" id="{6D1A4039-923E-4EE9-BF59-B8C69A3AE83E}"/>
              </a:ext>
            </a:extLst>
          </p:cNvPr>
          <p:cNvSpPr>
            <a:spLocks noGrp="1"/>
          </p:cNvSpPr>
          <p:nvPr/>
        </p:nvSpPr>
        <p:spPr>
          <a:xfrm>
            <a:off x="7606665" y="6217920"/>
            <a:ext cx="514350" cy="201168"/>
          </a:xfrm>
          <a:prstGeom prst="rect">
            <a:avLst/>
          </a:prstGeom>
          <a:noFill/>
        </p:spPr>
        <p:txBody>
          <a:bodyPr wrap="square" lIns="0" tIns="0" rIns="0" bIns="0" anchor="t">
            <a:spAutoFit/>
          </a:bodyPr>
          <a:lstStyle/>
          <a:p>
            <a:pPr algn="l">
              <a:buNone/>
            </a:pPr>
            <a:r>
              <a:rPr sz="1000" b="1">
                <a:solidFill>
                  <a:srgbClr val="E8893A"/>
                </a:solidFill>
                <a:latin typeface="210 OmniGothic 040"/>
                <a:ea typeface="210 OmniGothic 040"/>
                <a:cs typeface="210 OmniGothic 040"/>
              </a:rPr>
              <a:t>1</a:t>
            </a:r>
          </a:p>
        </p:txBody>
      </p:sp>
      <p:sp>
        <p:nvSpPr>
          <p:cNvPr id="5431" name="TextBox 5430">
            <a:extLst>
              <a:ext uri="{FF2B5EF4-FFF2-40B4-BE49-F238E27FC236}">
                <a16:creationId xmlns:a16="http://schemas.microsoft.com/office/drawing/2014/main" id="{A32FBB02-2A46-4DA9-BE6F-92931BA52CE6}"/>
              </a:ext>
            </a:extLst>
          </p:cNvPr>
          <p:cNvSpPr>
            <a:spLocks noGrp="1"/>
          </p:cNvSpPr>
          <p:nvPr/>
        </p:nvSpPr>
        <p:spPr>
          <a:xfrm>
            <a:off x="7606665" y="6630314"/>
            <a:ext cx="514350" cy="201168"/>
          </a:xfrm>
          <a:prstGeom prst="rect">
            <a:avLst/>
          </a:prstGeom>
          <a:noFill/>
        </p:spPr>
        <p:txBody>
          <a:bodyPr wrap="square" lIns="0" tIns="0" rIns="0" bIns="0" anchor="t">
            <a:spAutoFit/>
          </a:bodyPr>
          <a:lstStyle/>
          <a:p>
            <a:pPr algn="l">
              <a:buNone/>
            </a:pPr>
            <a:r>
              <a:rPr sz="1000" b="1">
                <a:solidFill>
                  <a:srgbClr val="E8893A"/>
                </a:solidFill>
                <a:latin typeface="210 OmniGothic 040"/>
                <a:ea typeface="210 OmniGothic 040"/>
                <a:cs typeface="210 OmniGothic 040"/>
              </a:rPr>
              <a:t>N</a:t>
            </a:r>
          </a:p>
        </p:txBody>
      </p:sp>
      <p:sp>
        <p:nvSpPr>
          <p:cNvPr id="5432" name="Connector 5431">
            <a:extLst>
              <a:ext uri="{FF2B5EF4-FFF2-40B4-BE49-F238E27FC236}">
                <a16:creationId xmlns:a16="http://schemas.microsoft.com/office/drawing/2014/main" id="{C009756E-E00C-4479-93B0-F7850713D941}"/>
              </a:ext>
            </a:extLst>
          </p:cNvPr>
          <p:cNvSpPr>
            <a:spLocks noGrp="1"/>
          </p:cNvSpPr>
          <p:nvPr/>
        </p:nvSpPr>
        <p:spPr>
          <a:xfrm>
            <a:off x="5852160" y="7641183"/>
            <a:ext cx="571500" cy="0"/>
          </a:xfrm>
          <a:prstGeom prst="line">
            <a:avLst/>
          </a:prstGeom>
          <a:ln w="13970">
            <a:solidFill>
              <a:srgbClr val="4A4F66"/>
            </a:solidFill>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5433" name="TextBox 5432">
            <a:extLst>
              <a:ext uri="{FF2B5EF4-FFF2-40B4-BE49-F238E27FC236}">
                <a16:creationId xmlns:a16="http://schemas.microsoft.com/office/drawing/2014/main" id="{7650C0FF-6A87-4A6B-9920-6CD296E4D4FD}"/>
              </a:ext>
            </a:extLst>
          </p:cNvPr>
          <p:cNvSpPr>
            <a:spLocks noGrp="1"/>
          </p:cNvSpPr>
          <p:nvPr/>
        </p:nvSpPr>
        <p:spPr>
          <a:xfrm>
            <a:off x="5920740" y="7409840"/>
            <a:ext cx="514350" cy="201168"/>
          </a:xfrm>
          <a:prstGeom prst="rect">
            <a:avLst/>
          </a:prstGeom>
          <a:noFill/>
        </p:spPr>
        <p:txBody>
          <a:bodyPr wrap="square" lIns="0" tIns="0" rIns="0" bIns="0" anchor="t">
            <a:spAutoFit/>
          </a:bodyPr>
          <a:lstStyle/>
          <a:p>
            <a:pPr algn="l">
              <a:buNone/>
            </a:pPr>
            <a:r>
              <a:rPr sz="1000" b="1">
                <a:solidFill>
                  <a:srgbClr val="E8893A"/>
                </a:solidFill>
                <a:latin typeface="210 OmniGothic 040"/>
                <a:ea typeface="210 OmniGothic 040"/>
                <a:cs typeface="210 OmniGothic 040"/>
              </a:rPr>
              <a:t>1</a:t>
            </a:r>
          </a:p>
        </p:txBody>
      </p:sp>
      <p:sp>
        <p:nvSpPr>
          <p:cNvPr id="5434" name="TextBox 5433">
            <a:extLst>
              <a:ext uri="{FF2B5EF4-FFF2-40B4-BE49-F238E27FC236}">
                <a16:creationId xmlns:a16="http://schemas.microsoft.com/office/drawing/2014/main" id="{E06C1806-86E0-43E6-88E4-D95E0A9F12DB}"/>
              </a:ext>
            </a:extLst>
          </p:cNvPr>
          <p:cNvSpPr>
            <a:spLocks noGrp="1"/>
          </p:cNvSpPr>
          <p:nvPr/>
        </p:nvSpPr>
        <p:spPr>
          <a:xfrm>
            <a:off x="6080760" y="7409840"/>
            <a:ext cx="514350" cy="201168"/>
          </a:xfrm>
          <a:prstGeom prst="rect">
            <a:avLst/>
          </a:prstGeom>
          <a:noFill/>
        </p:spPr>
        <p:txBody>
          <a:bodyPr wrap="square" lIns="0" tIns="0" rIns="0" bIns="0" anchor="t">
            <a:spAutoFit/>
          </a:bodyPr>
          <a:lstStyle/>
          <a:p>
            <a:pPr algn="l">
              <a:buNone/>
            </a:pPr>
            <a:r>
              <a:rPr sz="1000" b="1">
                <a:solidFill>
                  <a:srgbClr val="E8893A"/>
                </a:solidFill>
                <a:latin typeface="210 OmniGothic 040"/>
                <a:ea typeface="210 OmniGothic 040"/>
                <a:cs typeface="210 OmniGothic 040"/>
              </a:rPr>
              <a:t>0..1</a:t>
            </a:r>
          </a:p>
        </p:txBody>
      </p:sp>
      <p:sp>
        <p:nvSpPr>
          <p:cNvPr id="5435" name="Connector 5434">
            <a:extLst>
              <a:ext uri="{FF2B5EF4-FFF2-40B4-BE49-F238E27FC236}">
                <a16:creationId xmlns:a16="http://schemas.microsoft.com/office/drawing/2014/main" id="{C2EC23DC-41B6-4D29-A9A2-DED1AA17302D}"/>
              </a:ext>
            </a:extLst>
          </p:cNvPr>
          <p:cNvSpPr>
            <a:spLocks noGrp="1"/>
          </p:cNvSpPr>
          <p:nvPr/>
        </p:nvSpPr>
        <p:spPr>
          <a:xfrm>
            <a:off x="8652510" y="7641183"/>
            <a:ext cx="571500" cy="0"/>
          </a:xfrm>
          <a:prstGeom prst="line">
            <a:avLst/>
          </a:prstGeom>
          <a:ln w="13970">
            <a:solidFill>
              <a:srgbClr val="4A4F66"/>
            </a:solidFill>
            <a:headEnd type="diamond"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5436" name="TextBox 5435">
            <a:extLst>
              <a:ext uri="{FF2B5EF4-FFF2-40B4-BE49-F238E27FC236}">
                <a16:creationId xmlns:a16="http://schemas.microsoft.com/office/drawing/2014/main" id="{B051FF04-B4FC-4EB7-82C2-A6B07BBC143D}"/>
              </a:ext>
            </a:extLst>
          </p:cNvPr>
          <p:cNvSpPr>
            <a:spLocks noGrp="1"/>
          </p:cNvSpPr>
          <p:nvPr/>
        </p:nvSpPr>
        <p:spPr>
          <a:xfrm>
            <a:off x="8721090" y="7409840"/>
            <a:ext cx="514350" cy="201168"/>
          </a:xfrm>
          <a:prstGeom prst="rect">
            <a:avLst/>
          </a:prstGeom>
          <a:noFill/>
        </p:spPr>
        <p:txBody>
          <a:bodyPr wrap="square" lIns="0" tIns="0" rIns="0" bIns="0" anchor="t">
            <a:spAutoFit/>
          </a:bodyPr>
          <a:lstStyle/>
          <a:p>
            <a:pPr algn="l">
              <a:buNone/>
            </a:pPr>
            <a:r>
              <a:rPr sz="1000" b="1">
                <a:solidFill>
                  <a:srgbClr val="E8893A"/>
                </a:solidFill>
                <a:latin typeface="210 OmniGothic 040"/>
                <a:ea typeface="210 OmniGothic 040"/>
                <a:cs typeface="210 OmniGothic 040"/>
              </a:rPr>
              <a:t>1</a:t>
            </a:r>
          </a:p>
        </p:txBody>
      </p:sp>
      <p:sp>
        <p:nvSpPr>
          <p:cNvPr id="5437" name="TextBox 5436">
            <a:extLst>
              <a:ext uri="{FF2B5EF4-FFF2-40B4-BE49-F238E27FC236}">
                <a16:creationId xmlns:a16="http://schemas.microsoft.com/office/drawing/2014/main" id="{2B46C659-D8A7-42EC-902F-E4E6156B0141}"/>
              </a:ext>
            </a:extLst>
          </p:cNvPr>
          <p:cNvSpPr>
            <a:spLocks noGrp="1"/>
          </p:cNvSpPr>
          <p:nvPr/>
        </p:nvSpPr>
        <p:spPr>
          <a:xfrm>
            <a:off x="8881110" y="7409840"/>
            <a:ext cx="514350" cy="201168"/>
          </a:xfrm>
          <a:prstGeom prst="rect">
            <a:avLst/>
          </a:prstGeom>
          <a:noFill/>
        </p:spPr>
        <p:txBody>
          <a:bodyPr wrap="square" lIns="0" tIns="0" rIns="0" bIns="0" anchor="t">
            <a:spAutoFit/>
          </a:bodyPr>
          <a:lstStyle/>
          <a:p>
            <a:pPr algn="l">
              <a:buNone/>
            </a:pPr>
            <a:r>
              <a:rPr sz="1000" b="1">
                <a:solidFill>
                  <a:srgbClr val="E8893A"/>
                </a:solidFill>
                <a:latin typeface="210 OmniGothic 040"/>
                <a:ea typeface="210 OmniGothic 040"/>
                <a:cs typeface="210 OmniGothic 040"/>
              </a:rPr>
              <a:t>≤14</a:t>
            </a:r>
          </a:p>
        </p:txBody>
      </p:sp>
      <p:sp>
        <p:nvSpPr>
          <p:cNvPr id="5438" name="Connector 5437">
            <a:extLst>
              <a:ext uri="{FF2B5EF4-FFF2-40B4-BE49-F238E27FC236}">
                <a16:creationId xmlns:a16="http://schemas.microsoft.com/office/drawing/2014/main" id="{AB31E3C0-D99D-4E75-B3C9-0C637FCD49A5}"/>
              </a:ext>
            </a:extLst>
          </p:cNvPr>
          <p:cNvSpPr>
            <a:spLocks noGrp="1"/>
          </p:cNvSpPr>
          <p:nvPr/>
        </p:nvSpPr>
        <p:spPr>
          <a:xfrm>
            <a:off x="11452859" y="7641183"/>
            <a:ext cx="571501" cy="0"/>
          </a:xfrm>
          <a:prstGeom prst="line">
            <a:avLst/>
          </a:prstGeom>
          <a:ln w="13970">
            <a:solidFill>
              <a:srgbClr val="4A4F66"/>
            </a:solidFill>
            <a:headEnd type="diamond"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5439" name="TextBox 5438">
            <a:extLst>
              <a:ext uri="{FF2B5EF4-FFF2-40B4-BE49-F238E27FC236}">
                <a16:creationId xmlns:a16="http://schemas.microsoft.com/office/drawing/2014/main" id="{9405FF26-3773-4F88-9818-26C9AD7E497F}"/>
              </a:ext>
            </a:extLst>
          </p:cNvPr>
          <p:cNvSpPr>
            <a:spLocks noGrp="1"/>
          </p:cNvSpPr>
          <p:nvPr/>
        </p:nvSpPr>
        <p:spPr>
          <a:xfrm>
            <a:off x="11521440" y="7409840"/>
            <a:ext cx="514350" cy="201168"/>
          </a:xfrm>
          <a:prstGeom prst="rect">
            <a:avLst/>
          </a:prstGeom>
          <a:noFill/>
        </p:spPr>
        <p:txBody>
          <a:bodyPr wrap="square" lIns="0" tIns="0" rIns="0" bIns="0" anchor="t">
            <a:spAutoFit/>
          </a:bodyPr>
          <a:lstStyle/>
          <a:p>
            <a:pPr algn="l">
              <a:buNone/>
            </a:pPr>
            <a:r>
              <a:rPr sz="1000" b="1">
                <a:solidFill>
                  <a:srgbClr val="E8893A"/>
                </a:solidFill>
                <a:latin typeface="210 OmniGothic 040"/>
                <a:ea typeface="210 OmniGothic 040"/>
                <a:cs typeface="210 OmniGothic 040"/>
              </a:rPr>
              <a:t>1</a:t>
            </a:r>
          </a:p>
        </p:txBody>
      </p:sp>
      <p:sp>
        <p:nvSpPr>
          <p:cNvPr id="5440" name="TextBox 5439">
            <a:extLst>
              <a:ext uri="{FF2B5EF4-FFF2-40B4-BE49-F238E27FC236}">
                <a16:creationId xmlns:a16="http://schemas.microsoft.com/office/drawing/2014/main" id="{89B03DC2-6780-438C-A1D8-E3BC9E16BA4B}"/>
              </a:ext>
            </a:extLst>
          </p:cNvPr>
          <p:cNvSpPr>
            <a:spLocks noGrp="1"/>
          </p:cNvSpPr>
          <p:nvPr/>
        </p:nvSpPr>
        <p:spPr>
          <a:xfrm>
            <a:off x="11681460" y="7409840"/>
            <a:ext cx="514350" cy="201168"/>
          </a:xfrm>
          <a:prstGeom prst="rect">
            <a:avLst/>
          </a:prstGeom>
          <a:noFill/>
        </p:spPr>
        <p:txBody>
          <a:bodyPr wrap="square" lIns="0" tIns="0" rIns="0" bIns="0" anchor="t">
            <a:spAutoFit/>
          </a:bodyPr>
          <a:lstStyle/>
          <a:p>
            <a:pPr algn="l">
              <a:buNone/>
            </a:pPr>
            <a:r>
              <a:rPr sz="1000" b="1">
                <a:solidFill>
                  <a:srgbClr val="E8893A"/>
                </a:solidFill>
                <a:latin typeface="210 OmniGothic 040"/>
                <a:ea typeface="210 OmniGothic 040"/>
                <a:cs typeface="210 OmniGothic 040"/>
              </a:rPr>
              <a:t>N</a:t>
            </a:r>
          </a:p>
        </p:txBody>
      </p:sp>
      <p:sp>
        <p:nvSpPr>
          <p:cNvPr id="5441" name="Connector 5440">
            <a:extLst>
              <a:ext uri="{FF2B5EF4-FFF2-40B4-BE49-F238E27FC236}">
                <a16:creationId xmlns:a16="http://schemas.microsoft.com/office/drawing/2014/main" id="{97DEBC45-6A78-44A1-9DB0-EDF8F36C79B1}"/>
              </a:ext>
            </a:extLst>
          </p:cNvPr>
          <p:cNvSpPr>
            <a:spLocks noGrp="1"/>
          </p:cNvSpPr>
          <p:nvPr/>
        </p:nvSpPr>
        <p:spPr>
          <a:xfrm>
            <a:off x="11109959" y="6187744"/>
            <a:ext cx="1257301" cy="673913"/>
          </a:xfrm>
          <a:prstGeom prst="line">
            <a:avLst/>
          </a:prstGeom>
          <a:ln w="13970">
            <a:solidFill>
              <a:srgbClr val="4A4F66"/>
            </a:solidFill>
            <a:headEnd type="diamond"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5442" name="TextBox 5441">
            <a:extLst>
              <a:ext uri="{FF2B5EF4-FFF2-40B4-BE49-F238E27FC236}">
                <a16:creationId xmlns:a16="http://schemas.microsoft.com/office/drawing/2014/main" id="{AFB5C835-6EF7-4469-961A-44B9C47C9001}"/>
              </a:ext>
            </a:extLst>
          </p:cNvPr>
          <p:cNvSpPr>
            <a:spLocks noGrp="1"/>
          </p:cNvSpPr>
          <p:nvPr/>
        </p:nvSpPr>
        <p:spPr>
          <a:xfrm>
            <a:off x="11355705" y="6238539"/>
            <a:ext cx="514350" cy="201168"/>
          </a:xfrm>
          <a:prstGeom prst="rect">
            <a:avLst/>
          </a:prstGeom>
          <a:noFill/>
        </p:spPr>
        <p:txBody>
          <a:bodyPr wrap="square" lIns="0" tIns="0" rIns="0" bIns="0" anchor="t">
            <a:spAutoFit/>
          </a:bodyPr>
          <a:lstStyle/>
          <a:p>
            <a:pPr algn="l">
              <a:buNone/>
            </a:pPr>
            <a:r>
              <a:rPr sz="1000" b="1">
                <a:solidFill>
                  <a:srgbClr val="E8893A"/>
                </a:solidFill>
                <a:latin typeface="210 OmniGothic 040"/>
                <a:ea typeface="210 OmniGothic 040"/>
                <a:cs typeface="210 OmniGothic 040"/>
              </a:rPr>
              <a:t>1</a:t>
            </a:r>
          </a:p>
        </p:txBody>
      </p:sp>
      <p:sp>
        <p:nvSpPr>
          <p:cNvPr id="5443" name="TextBox 5442">
            <a:extLst>
              <a:ext uri="{FF2B5EF4-FFF2-40B4-BE49-F238E27FC236}">
                <a16:creationId xmlns:a16="http://schemas.microsoft.com/office/drawing/2014/main" id="{B4724850-42EC-468A-AF72-E0A4B03C6906}"/>
              </a:ext>
            </a:extLst>
          </p:cNvPr>
          <p:cNvSpPr>
            <a:spLocks noGrp="1"/>
          </p:cNvSpPr>
          <p:nvPr/>
        </p:nvSpPr>
        <p:spPr>
          <a:xfrm>
            <a:off x="12198096" y="6639769"/>
            <a:ext cx="514350" cy="201168"/>
          </a:xfrm>
          <a:prstGeom prst="rect">
            <a:avLst/>
          </a:prstGeom>
          <a:noFill/>
        </p:spPr>
        <p:txBody>
          <a:bodyPr wrap="square" lIns="0" tIns="0" rIns="0" bIns="0" anchor="t">
            <a:spAutoFit/>
          </a:bodyPr>
          <a:lstStyle/>
          <a:p>
            <a:pPr algn="l">
              <a:buNone/>
            </a:pPr>
            <a:r>
              <a:rPr sz="1000" b="1">
                <a:solidFill>
                  <a:srgbClr val="E8893A"/>
                </a:solidFill>
                <a:latin typeface="210 OmniGothic 040"/>
                <a:ea typeface="210 OmniGothic 040"/>
                <a:cs typeface="210 OmniGothic 040"/>
              </a:rPr>
              <a:t>N</a:t>
            </a:r>
          </a:p>
        </p:txBody>
      </p:sp>
      <p:sp>
        <p:nvSpPr>
          <p:cNvPr id="5444" name="Connector 5443">
            <a:extLst>
              <a:ext uri="{FF2B5EF4-FFF2-40B4-BE49-F238E27FC236}">
                <a16:creationId xmlns:a16="http://schemas.microsoft.com/office/drawing/2014/main" id="{5F8CF536-4E54-4A2E-BC78-BEFE168B2BD0}"/>
              </a:ext>
            </a:extLst>
          </p:cNvPr>
          <p:cNvSpPr>
            <a:spLocks noGrp="1"/>
          </p:cNvSpPr>
          <p:nvPr/>
        </p:nvSpPr>
        <p:spPr>
          <a:xfrm>
            <a:off x="13138785" y="6187744"/>
            <a:ext cx="0" cy="673913"/>
          </a:xfrm>
          <a:prstGeom prst="line">
            <a:avLst/>
          </a:prstGeom>
          <a:ln w="13970">
            <a:solidFill>
              <a:srgbClr val="4A4F66"/>
            </a:solidFill>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5445" name="TextBox 5444">
            <a:extLst>
              <a:ext uri="{FF2B5EF4-FFF2-40B4-BE49-F238E27FC236}">
                <a16:creationId xmlns:a16="http://schemas.microsoft.com/office/drawing/2014/main" id="{EA6744EC-BAA3-49D9-83A0-E3ADE7014C8F}"/>
              </a:ext>
            </a:extLst>
          </p:cNvPr>
          <p:cNvSpPr>
            <a:spLocks noGrp="1"/>
          </p:cNvSpPr>
          <p:nvPr/>
        </p:nvSpPr>
        <p:spPr>
          <a:xfrm>
            <a:off x="13207365" y="6217920"/>
            <a:ext cx="514350" cy="201168"/>
          </a:xfrm>
          <a:prstGeom prst="rect">
            <a:avLst/>
          </a:prstGeom>
          <a:noFill/>
        </p:spPr>
        <p:txBody>
          <a:bodyPr wrap="square" lIns="0" tIns="0" rIns="0" bIns="0" anchor="t">
            <a:spAutoFit/>
          </a:bodyPr>
          <a:lstStyle/>
          <a:p>
            <a:pPr algn="l">
              <a:buNone/>
            </a:pPr>
            <a:r>
              <a:rPr sz="1000" b="1">
                <a:solidFill>
                  <a:srgbClr val="E8893A"/>
                </a:solidFill>
                <a:latin typeface="210 OmniGothic 040"/>
                <a:ea typeface="210 OmniGothic 040"/>
                <a:cs typeface="210 OmniGothic 040"/>
              </a:rPr>
              <a:t>1</a:t>
            </a:r>
          </a:p>
        </p:txBody>
      </p:sp>
      <p:sp>
        <p:nvSpPr>
          <p:cNvPr id="5446" name="TextBox 5445">
            <a:extLst>
              <a:ext uri="{FF2B5EF4-FFF2-40B4-BE49-F238E27FC236}">
                <a16:creationId xmlns:a16="http://schemas.microsoft.com/office/drawing/2014/main" id="{31C31F68-4E3E-4B60-B33F-589D6432277A}"/>
              </a:ext>
            </a:extLst>
          </p:cNvPr>
          <p:cNvSpPr>
            <a:spLocks noGrp="1"/>
          </p:cNvSpPr>
          <p:nvPr/>
        </p:nvSpPr>
        <p:spPr>
          <a:xfrm>
            <a:off x="13207365" y="6630314"/>
            <a:ext cx="514350" cy="201168"/>
          </a:xfrm>
          <a:prstGeom prst="rect">
            <a:avLst/>
          </a:prstGeom>
          <a:noFill/>
        </p:spPr>
        <p:txBody>
          <a:bodyPr wrap="square" lIns="0" tIns="0" rIns="0" bIns="0" anchor="t">
            <a:spAutoFit/>
          </a:bodyPr>
          <a:lstStyle/>
          <a:p>
            <a:pPr algn="l">
              <a:buNone/>
            </a:pPr>
            <a:r>
              <a:rPr sz="1000" b="1">
                <a:solidFill>
                  <a:srgbClr val="E8893A"/>
                </a:solidFill>
                <a:latin typeface="210 OmniGothic 040"/>
                <a:ea typeface="210 OmniGothic 040"/>
                <a:cs typeface="210 OmniGothic 040"/>
              </a:rPr>
              <a:t>N</a:t>
            </a:r>
          </a:p>
        </p:txBody>
      </p:sp>
      <p:sp>
        <p:nvSpPr>
          <p:cNvPr id="5447" name="Connector 5446">
            <a:extLst>
              <a:ext uri="{FF2B5EF4-FFF2-40B4-BE49-F238E27FC236}">
                <a16:creationId xmlns:a16="http://schemas.microsoft.com/office/drawing/2014/main" id="{D41F3EAF-1EFA-47DA-8361-6C2215AB4E6A}"/>
              </a:ext>
            </a:extLst>
          </p:cNvPr>
          <p:cNvSpPr>
            <a:spLocks noGrp="1"/>
          </p:cNvSpPr>
          <p:nvPr/>
        </p:nvSpPr>
        <p:spPr>
          <a:xfrm>
            <a:off x="14253210" y="3175254"/>
            <a:ext cx="571499" cy="0"/>
          </a:xfrm>
          <a:prstGeom prst="line">
            <a:avLst/>
          </a:prstGeom>
          <a:ln w="13970">
            <a:solidFill>
              <a:srgbClr val="4A4F66"/>
            </a:solidFill>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5448" name="TextBox 5447">
            <a:extLst>
              <a:ext uri="{FF2B5EF4-FFF2-40B4-BE49-F238E27FC236}">
                <a16:creationId xmlns:a16="http://schemas.microsoft.com/office/drawing/2014/main" id="{51F91A57-44D0-424B-8891-1EC22A934A93}"/>
              </a:ext>
            </a:extLst>
          </p:cNvPr>
          <p:cNvSpPr>
            <a:spLocks noGrp="1"/>
          </p:cNvSpPr>
          <p:nvPr/>
        </p:nvSpPr>
        <p:spPr>
          <a:xfrm>
            <a:off x="14321790" y="2943910"/>
            <a:ext cx="514350" cy="201168"/>
          </a:xfrm>
          <a:prstGeom prst="rect">
            <a:avLst/>
          </a:prstGeom>
          <a:noFill/>
        </p:spPr>
        <p:txBody>
          <a:bodyPr wrap="square" lIns="0" tIns="0" rIns="0" bIns="0" anchor="t">
            <a:spAutoFit/>
          </a:bodyPr>
          <a:lstStyle/>
          <a:p>
            <a:pPr algn="l">
              <a:buNone/>
            </a:pPr>
            <a:r>
              <a:rPr sz="1000" b="1">
                <a:solidFill>
                  <a:srgbClr val="E8893A"/>
                </a:solidFill>
                <a:latin typeface="210 OmniGothic 040"/>
                <a:ea typeface="210 OmniGothic 040"/>
                <a:cs typeface="210 OmniGothic 040"/>
              </a:rPr>
              <a:t>0..1</a:t>
            </a:r>
          </a:p>
        </p:txBody>
      </p:sp>
      <p:sp>
        <p:nvSpPr>
          <p:cNvPr id="5449" name="TextBox 5448">
            <a:extLst>
              <a:ext uri="{FF2B5EF4-FFF2-40B4-BE49-F238E27FC236}">
                <a16:creationId xmlns:a16="http://schemas.microsoft.com/office/drawing/2014/main" id="{1E699747-128D-461E-8DB7-32989EF04B90}"/>
              </a:ext>
            </a:extLst>
          </p:cNvPr>
          <p:cNvSpPr>
            <a:spLocks noGrp="1"/>
          </p:cNvSpPr>
          <p:nvPr/>
        </p:nvSpPr>
        <p:spPr>
          <a:xfrm>
            <a:off x="14481810" y="2943910"/>
            <a:ext cx="514350" cy="201168"/>
          </a:xfrm>
          <a:prstGeom prst="rect">
            <a:avLst/>
          </a:prstGeom>
          <a:noFill/>
        </p:spPr>
        <p:txBody>
          <a:bodyPr wrap="square" lIns="0" tIns="0" rIns="0" bIns="0" anchor="t">
            <a:spAutoFit/>
          </a:bodyPr>
          <a:lstStyle/>
          <a:p>
            <a:pPr algn="l">
              <a:buNone/>
            </a:pPr>
            <a:r>
              <a:rPr sz="1000" b="1">
                <a:solidFill>
                  <a:srgbClr val="E8893A"/>
                </a:solidFill>
                <a:latin typeface="210 OmniGothic 040"/>
                <a:ea typeface="210 OmniGothic 040"/>
                <a:cs typeface="210 OmniGothic 040"/>
              </a:rPr>
              <a:t>N</a:t>
            </a:r>
          </a:p>
        </p:txBody>
      </p:sp>
      <p:sp>
        <p:nvSpPr>
          <p:cNvPr id="5450" name="Connector 5449">
            <a:extLst>
              <a:ext uri="{FF2B5EF4-FFF2-40B4-BE49-F238E27FC236}">
                <a16:creationId xmlns:a16="http://schemas.microsoft.com/office/drawing/2014/main" id="{BE32DC00-35DE-4E3D-833C-6F852386D9F5}"/>
              </a:ext>
            </a:extLst>
          </p:cNvPr>
          <p:cNvSpPr>
            <a:spLocks noGrp="1"/>
          </p:cNvSpPr>
          <p:nvPr/>
        </p:nvSpPr>
        <p:spPr>
          <a:xfrm flipH="1">
            <a:off x="11109959" y="3954780"/>
            <a:ext cx="1257301" cy="673912"/>
          </a:xfrm>
          <a:prstGeom prst="line">
            <a:avLst/>
          </a:prstGeom>
          <a:ln w="13970">
            <a:solidFill>
              <a:srgbClr val="4A4F66"/>
            </a:solidFill>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5451" name="TextBox 5450">
            <a:extLst>
              <a:ext uri="{FF2B5EF4-FFF2-40B4-BE49-F238E27FC236}">
                <a16:creationId xmlns:a16="http://schemas.microsoft.com/office/drawing/2014/main" id="{00A6E6C3-2138-4B28-936F-F744F68C67DB}"/>
              </a:ext>
            </a:extLst>
          </p:cNvPr>
          <p:cNvSpPr>
            <a:spLocks noGrp="1"/>
          </p:cNvSpPr>
          <p:nvPr/>
        </p:nvSpPr>
        <p:spPr>
          <a:xfrm>
            <a:off x="11835765" y="4005574"/>
            <a:ext cx="514350" cy="201168"/>
          </a:xfrm>
          <a:prstGeom prst="rect">
            <a:avLst/>
          </a:prstGeom>
          <a:noFill/>
        </p:spPr>
        <p:txBody>
          <a:bodyPr wrap="square" lIns="0" tIns="0" rIns="0" bIns="0" anchor="t">
            <a:spAutoFit/>
          </a:bodyPr>
          <a:lstStyle/>
          <a:p>
            <a:pPr algn="l">
              <a:buNone/>
            </a:pPr>
            <a:r>
              <a:rPr sz="1000" b="1">
                <a:solidFill>
                  <a:srgbClr val="E8893A"/>
                </a:solidFill>
                <a:latin typeface="210 OmniGothic 040"/>
                <a:ea typeface="210 OmniGothic 040"/>
                <a:cs typeface="210 OmniGothic 040"/>
              </a:rPr>
              <a:t>1</a:t>
            </a:r>
          </a:p>
        </p:txBody>
      </p:sp>
      <p:sp>
        <p:nvSpPr>
          <p:cNvPr id="5452" name="TextBox 5451">
            <a:extLst>
              <a:ext uri="{FF2B5EF4-FFF2-40B4-BE49-F238E27FC236}">
                <a16:creationId xmlns:a16="http://schemas.microsoft.com/office/drawing/2014/main" id="{59CACC77-7567-42D8-AEE4-15F5C0EF8941}"/>
              </a:ext>
            </a:extLst>
          </p:cNvPr>
          <p:cNvSpPr>
            <a:spLocks noGrp="1"/>
          </p:cNvSpPr>
          <p:nvPr/>
        </p:nvSpPr>
        <p:spPr>
          <a:xfrm>
            <a:off x="10993373" y="4406804"/>
            <a:ext cx="514350" cy="201168"/>
          </a:xfrm>
          <a:prstGeom prst="rect">
            <a:avLst/>
          </a:prstGeom>
          <a:noFill/>
        </p:spPr>
        <p:txBody>
          <a:bodyPr wrap="square" lIns="0" tIns="0" rIns="0" bIns="0" anchor="t">
            <a:spAutoFit/>
          </a:bodyPr>
          <a:lstStyle/>
          <a:p>
            <a:pPr algn="l">
              <a:buNone/>
            </a:pPr>
            <a:r>
              <a:rPr sz="1000" b="1">
                <a:solidFill>
                  <a:srgbClr val="E8893A"/>
                </a:solidFill>
                <a:latin typeface="210 OmniGothic 040"/>
                <a:ea typeface="210 OmniGothic 040"/>
                <a:cs typeface="210 OmniGothic 040"/>
              </a:rPr>
              <a:t>N</a:t>
            </a:r>
          </a:p>
        </p:txBody>
      </p:sp>
      <p:sp>
        <p:nvSpPr>
          <p:cNvPr id="5453" name="TextBox 5452">
            <a:extLst>
              <a:ext uri="{FF2B5EF4-FFF2-40B4-BE49-F238E27FC236}">
                <a16:creationId xmlns:a16="http://schemas.microsoft.com/office/drawing/2014/main" id="{9BA01DD6-7E31-4045-B10C-FEDE8A2C6F18}"/>
              </a:ext>
            </a:extLst>
          </p:cNvPr>
          <p:cNvSpPr>
            <a:spLocks noGrp="1"/>
          </p:cNvSpPr>
          <p:nvPr/>
        </p:nvSpPr>
        <p:spPr>
          <a:xfrm>
            <a:off x="822960" y="8531352"/>
            <a:ext cx="16459200" cy="502920"/>
          </a:xfrm>
          <a:prstGeom prst="rect">
            <a:avLst/>
          </a:prstGeom>
          <a:noFill/>
        </p:spPr>
        <p:txBody>
          <a:bodyPr wrap="square" lIns="0" tIns="0" rIns="0" bIns="0" anchor="t">
            <a:spAutoFit/>
          </a:bodyPr>
          <a:lstStyle/>
          <a:p>
            <a:pPr algn="l">
              <a:lnSpc>
                <a:spcPct val="110000"/>
              </a:lnSpc>
              <a:buNone/>
            </a:pPr>
            <a:r>
              <a:rPr sz="1050" b="0">
                <a:solidFill>
                  <a:srgbClr val="6B7080"/>
                </a:solidFill>
                <a:latin typeface="210 OmniGothic 040"/>
                <a:ea typeface="210 OmniGothic 040"/>
                <a:cs typeface="210 OmniGothic 040"/>
              </a:rPr>
              <a:t>◆─ 합성(Composition)    ── 연관(Association)    숫자 = 다중성</a:t>
            </a:r>
          </a:p>
          <a:p>
            <a:pPr algn="l">
              <a:lnSpc>
                <a:spcPct val="110000"/>
              </a:lnSpc>
              <a:buNone/>
            </a:pPr>
            <a:r>
              <a:rPr sz="1050" b="0">
                <a:solidFill>
                  <a:srgbClr val="6B7080"/>
                </a:solidFill>
                <a:latin typeface="210 OmniGothic 040"/>
                <a:ea typeface="210 OmniGothic 040"/>
                <a:cs typeface="210 OmniGothic 040"/>
              </a:rPr>
              <a:t>※ Village·Facility는 외래키 없이 SpreadSlice·FirePerimeter와 공간 교차(ST_Intersects)로 연결.  Incident는 ChatMessage도 합성으로 가지며(선 생략), User는 Incident·PredictionRun·SituationCorrection에도 행위자로 연결</a:t>
            </a:r>
            <a:r>
              <a:rPr sz="1050" b="0">
                <a:solidFill>
                  <a:srgbClr val="FF0000"/>
                </a:solidFill>
                <a:latin typeface="210 OmniGothic 040"/>
                <a:ea typeface="210 OmniGothic 040"/>
                <a:cs typeface="210 OmniGothic 040"/>
              </a:rPr>
              <a:t>, RiskAssessment는 run_id로 PredictionRun을 가리킴</a:t>
            </a:r>
            <a:r>
              <a:rPr sz="1050" b="0">
                <a:solidFill>
                  <a:srgbClr val="6B7080"/>
                </a:solidFill>
                <a:latin typeface="210 OmniGothic 040"/>
                <a:ea typeface="210 OmniGothic 040"/>
                <a:cs typeface="210 OmniGothic 040"/>
              </a:rPr>
              <a:t>(선 생략).</a:t>
            </a:r>
          </a:p>
        </p:txBody>
      </p:sp>
    </p:spTree>
    <p:extLst>
      <p:ext uri="{BB962C8B-B14F-4D97-AF65-F5344CB8AC3E}">
        <p14:creationId xmlns:p14="http://schemas.microsoft.com/office/powerpoint/2010/main" val="9531731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59" name="Picture 2"/>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700" y="-12700"/>
            <a:ext cx="18313400" cy="1638300"/>
          </a:xfrm>
          <a:prstGeom prst="rect">
            <a:avLst/>
          </a:prstGeom>
        </p:spPr>
      </p:pic>
      <p:pic>
        <p:nvPicPr>
          <p:cNvPr id="5460" name="Picture 4"/>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28" y="1618343"/>
            <a:ext cx="18313400" cy="8699500"/>
          </a:xfrm>
          <a:prstGeom prst="rect">
            <a:avLst/>
          </a:prstGeom>
        </p:spPr>
      </p:pic>
      <p:pic>
        <p:nvPicPr>
          <p:cNvPr id="5461" name="Picture 5"/>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58800" y="9271000"/>
            <a:ext cx="17170400" cy="50800"/>
          </a:xfrm>
          <a:prstGeom prst="rect">
            <a:avLst/>
          </a:prstGeom>
        </p:spPr>
      </p:pic>
      <p:pic>
        <p:nvPicPr>
          <p:cNvPr id="5462" name="Picture 3"/>
          <p:cNvPicPr>
            <a:picLocks noChangeAspect="1"/>
          </p:cNvPicPr>
          <p:nvPr/>
        </p:nvPicPr>
        <p:blipFill>
          <a:blip>
            <a:extLst>
              <a:ext uri="{96DAC541-7B7A-43D3-8B79-37D633B846F1}">
                <asvg:svgBlip xmlns:asvg="http://schemas.microsoft.com/office/drawing/2016/SVG/main" r:embed="rId6"/>
              </a:ext>
            </a:extLst>
          </a:blip>
          <a:srcRect b="43005"/>
          <a:stretch>
            <a:fillRect/>
          </a:stretch>
        </p:blipFill>
        <p:spPr>
          <a:xfrm>
            <a:off x="15443200" y="228600"/>
            <a:ext cx="1384300" cy="1397000"/>
          </a:xfrm>
          <a:prstGeom prst="rect">
            <a:avLst/>
          </a:prstGeom>
        </p:spPr>
      </p:pic>
      <p:sp>
        <p:nvSpPr>
          <p:cNvPr id="5348" name="Title">
            <a:extLst>
              <a:ext uri="{FF2B5EF4-FFF2-40B4-BE49-F238E27FC236}">
                <a16:creationId xmlns:a16="http://schemas.microsoft.com/office/drawing/2014/main" id="{6D832305-1961-41F9-B7A7-25F212DF9695}"/>
              </a:ext>
            </a:extLst>
          </p:cNvPr>
          <p:cNvSpPr>
            <a:spLocks noGrp="1"/>
          </p:cNvSpPr>
          <p:nvPr/>
        </p:nvSpPr>
        <p:spPr>
          <a:xfrm>
            <a:off x="822960" y="384048"/>
            <a:ext cx="13258800" cy="877824"/>
          </a:xfrm>
          <a:prstGeom prst="rect">
            <a:avLst/>
          </a:prstGeom>
          <a:noFill/>
        </p:spPr>
        <p:txBody>
          <a:bodyPr wrap="square" lIns="0" tIns="0" rIns="0" bIns="0" anchor="ctr">
            <a:spAutoFit/>
          </a:bodyPr>
          <a:lstStyle/>
          <a:p>
            <a:pPr algn="l">
              <a:buNone/>
            </a:pPr>
            <a:r>
              <a:rPr sz="4400" b="0">
                <a:solidFill>
                  <a:srgbClr val="FAA95A"/>
                </a:solidFill>
                <a:latin typeface="210 OmniGothic 050"/>
                <a:ea typeface="210 OmniGothic 050"/>
                <a:cs typeface="210 OmniGothic 050"/>
              </a:rPr>
              <a:t>05. 클래스 다이어그램</a:t>
            </a:r>
          </a:p>
        </p:txBody>
      </p:sp>
      <p:sp>
        <p:nvSpPr>
          <p:cNvPr id="5349" name="Subtitle">
            <a:extLst>
              <a:ext uri="{FF2B5EF4-FFF2-40B4-BE49-F238E27FC236}">
                <a16:creationId xmlns:a16="http://schemas.microsoft.com/office/drawing/2014/main" id="{4D99B63D-16E9-4B64-A349-5D6D371B83E3}"/>
              </a:ext>
            </a:extLst>
          </p:cNvPr>
          <p:cNvSpPr>
            <a:spLocks noGrp="1"/>
          </p:cNvSpPr>
          <p:nvPr/>
        </p:nvSpPr>
        <p:spPr>
          <a:xfrm>
            <a:off x="822960" y="1764792"/>
            <a:ext cx="16642080" cy="502920"/>
          </a:xfrm>
          <a:prstGeom prst="rect">
            <a:avLst/>
          </a:prstGeom>
          <a:noFill/>
        </p:spPr>
        <p:txBody>
          <a:bodyPr wrap="square" lIns="0" tIns="0" rIns="0" bIns="0" anchor="ctr">
            <a:spAutoFit/>
          </a:bodyPr>
          <a:lstStyle/>
          <a:p>
            <a:pPr algn="ctr">
              <a:buNone/>
            </a:pPr>
            <a:r>
              <a:rPr sz="2600" b="1">
                <a:solidFill>
                  <a:srgbClr val="363A52"/>
                </a:solidFill>
                <a:latin typeface="210 OmniGothic 040"/>
                <a:ea typeface="210 OmniGothic 040"/>
                <a:cs typeface="210 OmniGothic 040"/>
              </a:rPr>
              <a:t>4. 다이어그램 – </a:t>
            </a:r>
            <a:r>
              <a:rPr sz="2600" b="1">
                <a:solidFill>
                  <a:srgbClr val="FAA95A"/>
                </a:solidFill>
                <a:latin typeface="210 OmniGothic 040"/>
                <a:ea typeface="210 OmniGothic 040"/>
                <a:cs typeface="210 OmniGothic 040"/>
              </a:rPr>
              <a:t>논리 컴포넌트 (의존 관계)</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idx="12"/>
          </p:nvPr>
        </p:nvSpPr>
        <p:spPr/>
        <p:txBody>
          <a:bodyPr/>
          <a:lstStyle/>
          <a:p>
            <a:fld id="{B6F15528-21DE-4FAA-801E-634DDDAF4B2B}" type="slidenum">
              <a:rPr/>
              <a:t>68</a:t>
            </a:fld>
            <a:endParaRPr/>
          </a:p>
        </p:txBody>
      </p:sp>
      <p:sp>
        <p:nvSpPr>
          <p:cNvPr id="5350" name="Connector 5349">
            <a:extLst>
              <a:ext uri="{FF2B5EF4-FFF2-40B4-BE49-F238E27FC236}">
                <a16:creationId xmlns:a16="http://schemas.microsoft.com/office/drawing/2014/main" id="{A49D85DD-9A3A-4EC0-90AC-962DCF07FCC9}"/>
              </a:ext>
            </a:extLst>
          </p:cNvPr>
          <p:cNvSpPr>
            <a:spLocks noGrp="1"/>
          </p:cNvSpPr>
          <p:nvPr/>
        </p:nvSpPr>
        <p:spPr>
          <a:xfrm>
            <a:off x="4023360" y="2677363"/>
            <a:ext cx="800100" cy="0"/>
          </a:xfrm>
          <a:prstGeom prst="line">
            <a:avLst/>
          </a:prstGeom>
          <a:ln w="12700">
            <a:solidFill>
              <a:srgbClr val="6B7080"/>
            </a:solidFill>
            <a:prstDash val="dash"/>
            <a:tailEnd type="arrow"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5351" name="Connector 5350">
            <a:extLst>
              <a:ext uri="{FF2B5EF4-FFF2-40B4-BE49-F238E27FC236}">
                <a16:creationId xmlns:a16="http://schemas.microsoft.com/office/drawing/2014/main" id="{FCA29A9A-BC9D-4D37-9FAB-DC9512FF71A3}"/>
              </a:ext>
            </a:extLst>
          </p:cNvPr>
          <p:cNvSpPr>
            <a:spLocks noGrp="1"/>
          </p:cNvSpPr>
          <p:nvPr/>
        </p:nvSpPr>
        <p:spPr>
          <a:xfrm>
            <a:off x="4023360" y="3316071"/>
            <a:ext cx="171450" cy="0"/>
          </a:xfrm>
          <a:prstGeom prst="line">
            <a:avLst/>
          </a:prstGeom>
          <a:ln w="12700">
            <a:solidFill>
              <a:srgbClr val="6B7080"/>
            </a:solidFill>
            <a:prstDash val="dash"/>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5352" name="Connector 5351">
            <a:extLst>
              <a:ext uri="{FF2B5EF4-FFF2-40B4-BE49-F238E27FC236}">
                <a16:creationId xmlns:a16="http://schemas.microsoft.com/office/drawing/2014/main" id="{6D5CA3AF-E3A8-4185-8FD7-27504816914D}"/>
              </a:ext>
            </a:extLst>
          </p:cNvPr>
          <p:cNvSpPr>
            <a:spLocks noGrp="1"/>
          </p:cNvSpPr>
          <p:nvPr/>
        </p:nvSpPr>
        <p:spPr>
          <a:xfrm flipV="1">
            <a:off x="4194810" y="3019348"/>
            <a:ext cx="0" cy="296723"/>
          </a:xfrm>
          <a:prstGeom prst="line">
            <a:avLst/>
          </a:prstGeom>
          <a:ln w="12700">
            <a:solidFill>
              <a:srgbClr val="6B7080"/>
            </a:solidFill>
            <a:prstDash val="dash"/>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5353" name="Connector 5352">
            <a:extLst>
              <a:ext uri="{FF2B5EF4-FFF2-40B4-BE49-F238E27FC236}">
                <a16:creationId xmlns:a16="http://schemas.microsoft.com/office/drawing/2014/main" id="{F55E0FEA-6809-438E-8897-EF629DD78732}"/>
              </a:ext>
            </a:extLst>
          </p:cNvPr>
          <p:cNvSpPr>
            <a:spLocks noGrp="1"/>
          </p:cNvSpPr>
          <p:nvPr/>
        </p:nvSpPr>
        <p:spPr>
          <a:xfrm>
            <a:off x="4194810" y="3019348"/>
            <a:ext cx="628650" cy="0"/>
          </a:xfrm>
          <a:prstGeom prst="line">
            <a:avLst/>
          </a:prstGeom>
          <a:ln w="12700">
            <a:solidFill>
              <a:srgbClr val="6B7080"/>
            </a:solidFill>
            <a:prstDash val="dash"/>
            <a:tailEnd type="arrow"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5354" name="Connector 5353">
            <a:extLst>
              <a:ext uri="{FF2B5EF4-FFF2-40B4-BE49-F238E27FC236}">
                <a16:creationId xmlns:a16="http://schemas.microsoft.com/office/drawing/2014/main" id="{E910BB8B-93EF-4B48-8258-3727894A7C50}"/>
              </a:ext>
            </a:extLst>
          </p:cNvPr>
          <p:cNvSpPr>
            <a:spLocks noGrp="1"/>
          </p:cNvSpPr>
          <p:nvPr/>
        </p:nvSpPr>
        <p:spPr>
          <a:xfrm>
            <a:off x="4023360" y="3597706"/>
            <a:ext cx="800100" cy="0"/>
          </a:xfrm>
          <a:prstGeom prst="line">
            <a:avLst/>
          </a:prstGeom>
          <a:ln w="12700">
            <a:solidFill>
              <a:srgbClr val="6B7080"/>
            </a:solidFill>
            <a:prstDash val="dash"/>
            <a:tailEnd type="arrow"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5355" name="Connector 5354">
            <a:extLst>
              <a:ext uri="{FF2B5EF4-FFF2-40B4-BE49-F238E27FC236}">
                <a16:creationId xmlns:a16="http://schemas.microsoft.com/office/drawing/2014/main" id="{70EAB59E-1EAB-456A-A4F5-4628F23241FA}"/>
              </a:ext>
            </a:extLst>
          </p:cNvPr>
          <p:cNvSpPr>
            <a:spLocks noGrp="1"/>
          </p:cNvSpPr>
          <p:nvPr/>
        </p:nvSpPr>
        <p:spPr>
          <a:xfrm>
            <a:off x="4023360" y="4447641"/>
            <a:ext cx="342899" cy="0"/>
          </a:xfrm>
          <a:prstGeom prst="line">
            <a:avLst/>
          </a:prstGeom>
          <a:ln w="12700">
            <a:solidFill>
              <a:srgbClr val="6B7080"/>
            </a:solidFill>
            <a:prstDash val="dash"/>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5356" name="Connector 5355">
            <a:extLst>
              <a:ext uri="{FF2B5EF4-FFF2-40B4-BE49-F238E27FC236}">
                <a16:creationId xmlns:a16="http://schemas.microsoft.com/office/drawing/2014/main" id="{A2C9D83A-2DE6-4647-8CB5-FD3F79A22D57}"/>
              </a:ext>
            </a:extLst>
          </p:cNvPr>
          <p:cNvSpPr>
            <a:spLocks noGrp="1"/>
          </p:cNvSpPr>
          <p:nvPr/>
        </p:nvSpPr>
        <p:spPr>
          <a:xfrm flipV="1">
            <a:off x="4366259" y="3849166"/>
            <a:ext cx="0" cy="598475"/>
          </a:xfrm>
          <a:prstGeom prst="line">
            <a:avLst/>
          </a:prstGeom>
          <a:ln w="12700">
            <a:solidFill>
              <a:srgbClr val="6B7080"/>
            </a:solidFill>
            <a:prstDash val="dash"/>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5357" name="Connector 5356">
            <a:extLst>
              <a:ext uri="{FF2B5EF4-FFF2-40B4-BE49-F238E27FC236}">
                <a16:creationId xmlns:a16="http://schemas.microsoft.com/office/drawing/2014/main" id="{A4826872-ED17-443D-907A-E58FAD2C4B6E}"/>
              </a:ext>
            </a:extLst>
          </p:cNvPr>
          <p:cNvSpPr>
            <a:spLocks noGrp="1"/>
          </p:cNvSpPr>
          <p:nvPr/>
        </p:nvSpPr>
        <p:spPr>
          <a:xfrm>
            <a:off x="4366259" y="3849166"/>
            <a:ext cx="457201" cy="0"/>
          </a:xfrm>
          <a:prstGeom prst="line">
            <a:avLst/>
          </a:prstGeom>
          <a:ln w="12700">
            <a:solidFill>
              <a:srgbClr val="6B7080"/>
            </a:solidFill>
            <a:prstDash val="dash"/>
            <a:tailEnd type="arrow"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5358" name="Connector 5357">
            <a:extLst>
              <a:ext uri="{FF2B5EF4-FFF2-40B4-BE49-F238E27FC236}">
                <a16:creationId xmlns:a16="http://schemas.microsoft.com/office/drawing/2014/main" id="{BB438A80-41AF-4C28-A471-D041638B2186}"/>
              </a:ext>
            </a:extLst>
          </p:cNvPr>
          <p:cNvSpPr>
            <a:spLocks noGrp="1"/>
          </p:cNvSpPr>
          <p:nvPr/>
        </p:nvSpPr>
        <p:spPr>
          <a:xfrm>
            <a:off x="4023360" y="6082131"/>
            <a:ext cx="800100" cy="0"/>
          </a:xfrm>
          <a:prstGeom prst="line">
            <a:avLst/>
          </a:prstGeom>
          <a:ln w="12700">
            <a:solidFill>
              <a:srgbClr val="6B7080"/>
            </a:solidFill>
            <a:prstDash val="dash"/>
            <a:tailEnd type="arrow"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5359" name="Connector 5358">
            <a:extLst>
              <a:ext uri="{FF2B5EF4-FFF2-40B4-BE49-F238E27FC236}">
                <a16:creationId xmlns:a16="http://schemas.microsoft.com/office/drawing/2014/main" id="{0E7C9F71-EF37-4548-9428-FD6DAB6027BD}"/>
              </a:ext>
            </a:extLst>
          </p:cNvPr>
          <p:cNvSpPr>
            <a:spLocks noGrp="1"/>
          </p:cNvSpPr>
          <p:nvPr/>
        </p:nvSpPr>
        <p:spPr>
          <a:xfrm>
            <a:off x="4023360" y="6308445"/>
            <a:ext cx="514350" cy="0"/>
          </a:xfrm>
          <a:prstGeom prst="line">
            <a:avLst/>
          </a:prstGeom>
          <a:ln w="12700">
            <a:solidFill>
              <a:srgbClr val="6B7080"/>
            </a:solidFill>
            <a:prstDash val="dash"/>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5360" name="Connector 5359">
            <a:extLst>
              <a:ext uri="{FF2B5EF4-FFF2-40B4-BE49-F238E27FC236}">
                <a16:creationId xmlns:a16="http://schemas.microsoft.com/office/drawing/2014/main" id="{0C96C05D-B4E3-406E-8382-35F5F6BC9BE1}"/>
              </a:ext>
            </a:extLst>
          </p:cNvPr>
          <p:cNvSpPr>
            <a:spLocks noGrp="1"/>
          </p:cNvSpPr>
          <p:nvPr/>
        </p:nvSpPr>
        <p:spPr>
          <a:xfrm flipV="1">
            <a:off x="4537710" y="4658868"/>
            <a:ext cx="0" cy="1649577"/>
          </a:xfrm>
          <a:prstGeom prst="line">
            <a:avLst/>
          </a:prstGeom>
          <a:ln w="12700">
            <a:solidFill>
              <a:srgbClr val="6B7080"/>
            </a:solidFill>
            <a:prstDash val="dash"/>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5361" name="Connector 5360">
            <a:extLst>
              <a:ext uri="{FF2B5EF4-FFF2-40B4-BE49-F238E27FC236}">
                <a16:creationId xmlns:a16="http://schemas.microsoft.com/office/drawing/2014/main" id="{0433552C-5FA4-417B-A4C5-17AF4675037D}"/>
              </a:ext>
            </a:extLst>
          </p:cNvPr>
          <p:cNvSpPr>
            <a:spLocks noGrp="1"/>
          </p:cNvSpPr>
          <p:nvPr/>
        </p:nvSpPr>
        <p:spPr>
          <a:xfrm>
            <a:off x="4537710" y="4658868"/>
            <a:ext cx="285750" cy="0"/>
          </a:xfrm>
          <a:prstGeom prst="line">
            <a:avLst/>
          </a:prstGeom>
          <a:ln w="12700">
            <a:solidFill>
              <a:srgbClr val="6B7080"/>
            </a:solidFill>
            <a:prstDash val="dash"/>
            <a:tailEnd type="arrow"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5362" name="Connector 5361">
            <a:extLst>
              <a:ext uri="{FF2B5EF4-FFF2-40B4-BE49-F238E27FC236}">
                <a16:creationId xmlns:a16="http://schemas.microsoft.com/office/drawing/2014/main" id="{85BD1FD7-D5B0-4BC4-B6ED-C2802CCDF5B2}"/>
              </a:ext>
            </a:extLst>
          </p:cNvPr>
          <p:cNvSpPr>
            <a:spLocks noGrp="1"/>
          </p:cNvSpPr>
          <p:nvPr/>
        </p:nvSpPr>
        <p:spPr>
          <a:xfrm>
            <a:off x="4023360" y="6821424"/>
            <a:ext cx="5429250" cy="0"/>
          </a:xfrm>
          <a:prstGeom prst="line">
            <a:avLst/>
          </a:prstGeom>
          <a:ln w="12700">
            <a:solidFill>
              <a:srgbClr val="6B7080"/>
            </a:solidFill>
            <a:prstDash val="dash"/>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5363" name="Connector 5362">
            <a:extLst>
              <a:ext uri="{FF2B5EF4-FFF2-40B4-BE49-F238E27FC236}">
                <a16:creationId xmlns:a16="http://schemas.microsoft.com/office/drawing/2014/main" id="{2B6C9F6E-D892-41AB-9650-B6D3848D1A7E}"/>
              </a:ext>
            </a:extLst>
          </p:cNvPr>
          <p:cNvSpPr>
            <a:spLocks noGrp="1"/>
          </p:cNvSpPr>
          <p:nvPr/>
        </p:nvSpPr>
        <p:spPr>
          <a:xfrm flipV="1">
            <a:off x="9452610" y="6449263"/>
            <a:ext cx="0" cy="372161"/>
          </a:xfrm>
          <a:prstGeom prst="line">
            <a:avLst/>
          </a:prstGeom>
          <a:ln w="12700">
            <a:solidFill>
              <a:srgbClr val="6B7080"/>
            </a:solidFill>
            <a:prstDash val="dash"/>
            <a:tailEnd type="arrow"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5364" name="Connector 5363">
            <a:extLst>
              <a:ext uri="{FF2B5EF4-FFF2-40B4-BE49-F238E27FC236}">
                <a16:creationId xmlns:a16="http://schemas.microsoft.com/office/drawing/2014/main" id="{04ECE3E4-95BC-4410-BF7C-48E7E157D3E1}"/>
              </a:ext>
            </a:extLst>
          </p:cNvPr>
          <p:cNvSpPr>
            <a:spLocks noGrp="1"/>
          </p:cNvSpPr>
          <p:nvPr/>
        </p:nvSpPr>
        <p:spPr>
          <a:xfrm>
            <a:off x="4023360" y="7872526"/>
            <a:ext cx="800100" cy="0"/>
          </a:xfrm>
          <a:prstGeom prst="line">
            <a:avLst/>
          </a:prstGeom>
          <a:ln w="12700">
            <a:solidFill>
              <a:srgbClr val="6B7080"/>
            </a:solidFill>
            <a:prstDash val="dash"/>
            <a:tailEnd type="arrow"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5366" name="Connector 5365">
            <a:extLst>
              <a:ext uri="{FF2B5EF4-FFF2-40B4-BE49-F238E27FC236}">
                <a16:creationId xmlns:a16="http://schemas.microsoft.com/office/drawing/2014/main" id="{8E317182-E39B-49C9-B774-4A46F0CFA887}"/>
              </a:ext>
            </a:extLst>
          </p:cNvPr>
          <p:cNvSpPr>
            <a:spLocks noGrp="1"/>
          </p:cNvSpPr>
          <p:nvPr/>
        </p:nvSpPr>
        <p:spPr>
          <a:xfrm>
            <a:off x="7966710" y="6082131"/>
            <a:ext cx="800100" cy="0"/>
          </a:xfrm>
          <a:prstGeom prst="line">
            <a:avLst/>
          </a:prstGeom>
          <a:ln w="12700">
            <a:solidFill>
              <a:srgbClr val="6B7080"/>
            </a:solidFill>
            <a:prstDash val="dash"/>
            <a:tailEnd type="arrow"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5367" name="Connector 5366">
            <a:extLst>
              <a:ext uri="{FF2B5EF4-FFF2-40B4-BE49-F238E27FC236}">
                <a16:creationId xmlns:a16="http://schemas.microsoft.com/office/drawing/2014/main" id="{EFCB6248-2987-449D-B308-F34D6515AFF0}"/>
              </a:ext>
            </a:extLst>
          </p:cNvPr>
          <p:cNvSpPr>
            <a:spLocks noGrp="1"/>
          </p:cNvSpPr>
          <p:nvPr/>
        </p:nvSpPr>
        <p:spPr>
          <a:xfrm>
            <a:off x="7966710" y="6333591"/>
            <a:ext cx="342900" cy="0"/>
          </a:xfrm>
          <a:prstGeom prst="line">
            <a:avLst/>
          </a:prstGeom>
          <a:ln w="12700">
            <a:solidFill>
              <a:srgbClr val="6B7080"/>
            </a:solidFill>
            <a:prstDash val="dash"/>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5368" name="Connector 5367">
            <a:extLst>
              <a:ext uri="{FF2B5EF4-FFF2-40B4-BE49-F238E27FC236}">
                <a16:creationId xmlns:a16="http://schemas.microsoft.com/office/drawing/2014/main" id="{CEDDA8B1-3361-410C-A09C-22517F3914A0}"/>
              </a:ext>
            </a:extLst>
          </p:cNvPr>
          <p:cNvSpPr>
            <a:spLocks noGrp="1"/>
          </p:cNvSpPr>
          <p:nvPr/>
        </p:nvSpPr>
        <p:spPr>
          <a:xfrm flipV="1">
            <a:off x="8309610" y="3595192"/>
            <a:ext cx="0" cy="2738399"/>
          </a:xfrm>
          <a:prstGeom prst="line">
            <a:avLst/>
          </a:prstGeom>
          <a:ln w="12700">
            <a:solidFill>
              <a:srgbClr val="6B7080"/>
            </a:solidFill>
            <a:prstDash val="dash"/>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5369" name="Connector 5368">
            <a:extLst>
              <a:ext uri="{FF2B5EF4-FFF2-40B4-BE49-F238E27FC236}">
                <a16:creationId xmlns:a16="http://schemas.microsoft.com/office/drawing/2014/main" id="{65ADA4C5-F45A-466A-988F-D16345AB8BA2}"/>
              </a:ext>
            </a:extLst>
          </p:cNvPr>
          <p:cNvSpPr>
            <a:spLocks noGrp="1"/>
          </p:cNvSpPr>
          <p:nvPr/>
        </p:nvSpPr>
        <p:spPr>
          <a:xfrm>
            <a:off x="8309610" y="3595192"/>
            <a:ext cx="4400549" cy="0"/>
          </a:xfrm>
          <a:prstGeom prst="line">
            <a:avLst/>
          </a:prstGeom>
          <a:ln w="12700">
            <a:solidFill>
              <a:srgbClr val="6B7080"/>
            </a:solidFill>
            <a:prstDash val="dash"/>
            <a:tailEnd type="arrow"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5370" name="Connector 5369">
            <a:extLst>
              <a:ext uri="{FF2B5EF4-FFF2-40B4-BE49-F238E27FC236}">
                <a16:creationId xmlns:a16="http://schemas.microsoft.com/office/drawing/2014/main" id="{FC758102-5C1D-4CAC-A53B-1C0260E97C0F}"/>
              </a:ext>
            </a:extLst>
          </p:cNvPr>
          <p:cNvSpPr>
            <a:spLocks noGrp="1"/>
          </p:cNvSpPr>
          <p:nvPr/>
        </p:nvSpPr>
        <p:spPr>
          <a:xfrm>
            <a:off x="12367260" y="3595192"/>
            <a:ext cx="0" cy="1063676"/>
          </a:xfrm>
          <a:prstGeom prst="line">
            <a:avLst/>
          </a:prstGeom>
          <a:ln w="12700">
            <a:solidFill>
              <a:srgbClr val="6B7080"/>
            </a:solidFill>
            <a:prstDash val="dash"/>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5371" name="Connector 5370">
            <a:extLst>
              <a:ext uri="{FF2B5EF4-FFF2-40B4-BE49-F238E27FC236}">
                <a16:creationId xmlns:a16="http://schemas.microsoft.com/office/drawing/2014/main" id="{0755FDAE-1243-43F2-A367-188F5AA842A2}"/>
              </a:ext>
            </a:extLst>
          </p:cNvPr>
          <p:cNvSpPr>
            <a:spLocks noGrp="1"/>
          </p:cNvSpPr>
          <p:nvPr/>
        </p:nvSpPr>
        <p:spPr>
          <a:xfrm>
            <a:off x="12367260" y="4658868"/>
            <a:ext cx="342899" cy="0"/>
          </a:xfrm>
          <a:prstGeom prst="line">
            <a:avLst/>
          </a:prstGeom>
          <a:ln w="12700">
            <a:solidFill>
              <a:srgbClr val="6B7080"/>
            </a:solidFill>
            <a:prstDash val="dash"/>
            <a:tailEnd type="arrow"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5372" name="Connector 5371">
            <a:extLst>
              <a:ext uri="{FF2B5EF4-FFF2-40B4-BE49-F238E27FC236}">
                <a16:creationId xmlns:a16="http://schemas.microsoft.com/office/drawing/2014/main" id="{040CC842-4F54-48AF-918C-0AFE1972C724}"/>
              </a:ext>
            </a:extLst>
          </p:cNvPr>
          <p:cNvSpPr>
            <a:spLocks noGrp="1"/>
          </p:cNvSpPr>
          <p:nvPr/>
        </p:nvSpPr>
        <p:spPr>
          <a:xfrm flipV="1">
            <a:off x="10338435" y="5357926"/>
            <a:ext cx="0" cy="422453"/>
          </a:xfrm>
          <a:prstGeom prst="line">
            <a:avLst/>
          </a:prstGeom>
          <a:ln w="12700">
            <a:solidFill>
              <a:srgbClr val="6B7080"/>
            </a:solidFill>
            <a:prstDash val="dash"/>
            <a:tailEnd type="arrow"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5373" name="Connector 5372">
            <a:extLst>
              <a:ext uri="{FF2B5EF4-FFF2-40B4-BE49-F238E27FC236}">
                <a16:creationId xmlns:a16="http://schemas.microsoft.com/office/drawing/2014/main" id="{D4F38B26-90CE-45AD-A930-461B8AAED08D}"/>
              </a:ext>
            </a:extLst>
          </p:cNvPr>
          <p:cNvSpPr>
            <a:spLocks noGrp="1"/>
          </p:cNvSpPr>
          <p:nvPr/>
        </p:nvSpPr>
        <p:spPr>
          <a:xfrm>
            <a:off x="10338435" y="6449263"/>
            <a:ext cx="0" cy="452628"/>
          </a:xfrm>
          <a:prstGeom prst="line">
            <a:avLst/>
          </a:prstGeom>
          <a:ln w="12700">
            <a:solidFill>
              <a:srgbClr val="6B7080"/>
            </a:solidFill>
            <a:prstDash val="dash"/>
            <a:tailEnd type="arrow"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5374" name="Connector 5373">
            <a:extLst>
              <a:ext uri="{FF2B5EF4-FFF2-40B4-BE49-F238E27FC236}">
                <a16:creationId xmlns:a16="http://schemas.microsoft.com/office/drawing/2014/main" id="{23BA874C-079E-42D6-B13C-D7242FC78A08}"/>
              </a:ext>
            </a:extLst>
          </p:cNvPr>
          <p:cNvSpPr>
            <a:spLocks noGrp="1"/>
          </p:cNvSpPr>
          <p:nvPr/>
        </p:nvSpPr>
        <p:spPr>
          <a:xfrm>
            <a:off x="11910060" y="6082131"/>
            <a:ext cx="800099" cy="0"/>
          </a:xfrm>
          <a:prstGeom prst="line">
            <a:avLst/>
          </a:prstGeom>
          <a:ln w="12700">
            <a:solidFill>
              <a:srgbClr val="6B7080"/>
            </a:solidFill>
            <a:prstDash val="dash"/>
            <a:tailEnd type="arrow"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5375" name="Connector 5374">
            <a:extLst>
              <a:ext uri="{FF2B5EF4-FFF2-40B4-BE49-F238E27FC236}">
                <a16:creationId xmlns:a16="http://schemas.microsoft.com/office/drawing/2014/main" id="{C40144C9-4FA2-4720-BF46-A089AE66F971}"/>
              </a:ext>
            </a:extLst>
          </p:cNvPr>
          <p:cNvSpPr>
            <a:spLocks noGrp="1"/>
          </p:cNvSpPr>
          <p:nvPr/>
        </p:nvSpPr>
        <p:spPr>
          <a:xfrm>
            <a:off x="7966710" y="7570774"/>
            <a:ext cx="342900" cy="0"/>
          </a:xfrm>
          <a:prstGeom prst="line">
            <a:avLst/>
          </a:prstGeom>
          <a:ln w="12700">
            <a:solidFill>
              <a:srgbClr val="6B7080"/>
            </a:solidFill>
            <a:prstDash val="dash"/>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5376" name="Connector 5375">
            <a:extLst>
              <a:ext uri="{FF2B5EF4-FFF2-40B4-BE49-F238E27FC236}">
                <a16:creationId xmlns:a16="http://schemas.microsoft.com/office/drawing/2014/main" id="{C8A16A5F-05EC-47D4-81F6-D31A32BBC62C}"/>
              </a:ext>
            </a:extLst>
          </p:cNvPr>
          <p:cNvSpPr>
            <a:spLocks noGrp="1"/>
          </p:cNvSpPr>
          <p:nvPr/>
        </p:nvSpPr>
        <p:spPr>
          <a:xfrm flipV="1">
            <a:off x="8309610" y="7236333"/>
            <a:ext cx="0" cy="334441"/>
          </a:xfrm>
          <a:prstGeom prst="line">
            <a:avLst/>
          </a:prstGeom>
          <a:ln w="12700">
            <a:solidFill>
              <a:srgbClr val="6B7080"/>
            </a:solidFill>
            <a:prstDash val="dash"/>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5377" name="Connector 5376">
            <a:extLst>
              <a:ext uri="{FF2B5EF4-FFF2-40B4-BE49-F238E27FC236}">
                <a16:creationId xmlns:a16="http://schemas.microsoft.com/office/drawing/2014/main" id="{ACACFAC7-B873-4578-BD97-00CBDB2E350D}"/>
              </a:ext>
            </a:extLst>
          </p:cNvPr>
          <p:cNvSpPr>
            <a:spLocks noGrp="1"/>
          </p:cNvSpPr>
          <p:nvPr/>
        </p:nvSpPr>
        <p:spPr>
          <a:xfrm>
            <a:off x="8309610" y="7236333"/>
            <a:ext cx="457200" cy="0"/>
          </a:xfrm>
          <a:prstGeom prst="line">
            <a:avLst/>
          </a:prstGeom>
          <a:ln w="12700">
            <a:solidFill>
              <a:srgbClr val="6B7080"/>
            </a:solidFill>
            <a:prstDash val="dash"/>
            <a:tailEnd type="arrow"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5378" name="Connector 5377">
            <a:extLst>
              <a:ext uri="{FF2B5EF4-FFF2-40B4-BE49-F238E27FC236}">
                <a16:creationId xmlns:a16="http://schemas.microsoft.com/office/drawing/2014/main" id="{1CDC2DF4-A406-4382-8FE9-F2A1DBFF2413}"/>
              </a:ext>
            </a:extLst>
          </p:cNvPr>
          <p:cNvSpPr>
            <a:spLocks noGrp="1"/>
          </p:cNvSpPr>
          <p:nvPr/>
        </p:nvSpPr>
        <p:spPr>
          <a:xfrm>
            <a:off x="7966710" y="7822234"/>
            <a:ext cx="571500" cy="0"/>
          </a:xfrm>
          <a:prstGeom prst="line">
            <a:avLst/>
          </a:prstGeom>
          <a:ln w="12700">
            <a:solidFill>
              <a:srgbClr val="6B7080"/>
            </a:solidFill>
            <a:prstDash val="dash"/>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5379" name="Connector 5378">
            <a:extLst>
              <a:ext uri="{FF2B5EF4-FFF2-40B4-BE49-F238E27FC236}">
                <a16:creationId xmlns:a16="http://schemas.microsoft.com/office/drawing/2014/main" id="{00030A31-C884-4012-9124-943D3F75BD74}"/>
              </a:ext>
            </a:extLst>
          </p:cNvPr>
          <p:cNvSpPr>
            <a:spLocks noGrp="1"/>
          </p:cNvSpPr>
          <p:nvPr/>
        </p:nvSpPr>
        <p:spPr>
          <a:xfrm flipV="1">
            <a:off x="8538210" y="6298387"/>
            <a:ext cx="0" cy="1523847"/>
          </a:xfrm>
          <a:prstGeom prst="line">
            <a:avLst/>
          </a:prstGeom>
          <a:ln w="12700">
            <a:solidFill>
              <a:srgbClr val="6B7080"/>
            </a:solidFill>
            <a:prstDash val="dash"/>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5380" name="Connector 5379">
            <a:extLst>
              <a:ext uri="{FF2B5EF4-FFF2-40B4-BE49-F238E27FC236}">
                <a16:creationId xmlns:a16="http://schemas.microsoft.com/office/drawing/2014/main" id="{194AAFF1-60AB-49FD-BA79-C46E12D641E7}"/>
              </a:ext>
            </a:extLst>
          </p:cNvPr>
          <p:cNvSpPr>
            <a:spLocks noGrp="1"/>
          </p:cNvSpPr>
          <p:nvPr/>
        </p:nvSpPr>
        <p:spPr>
          <a:xfrm>
            <a:off x="8538210" y="6298387"/>
            <a:ext cx="228600" cy="0"/>
          </a:xfrm>
          <a:prstGeom prst="line">
            <a:avLst/>
          </a:prstGeom>
          <a:ln w="12700">
            <a:solidFill>
              <a:srgbClr val="6B7080"/>
            </a:solidFill>
            <a:prstDash val="dash"/>
            <a:tailEnd type="arrow"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5381" name="Connector 5380">
            <a:extLst>
              <a:ext uri="{FF2B5EF4-FFF2-40B4-BE49-F238E27FC236}">
                <a16:creationId xmlns:a16="http://schemas.microsoft.com/office/drawing/2014/main" id="{F4BF95F3-4963-4443-822B-788156C36AF1}"/>
              </a:ext>
            </a:extLst>
          </p:cNvPr>
          <p:cNvSpPr>
            <a:spLocks noGrp="1"/>
          </p:cNvSpPr>
          <p:nvPr/>
        </p:nvSpPr>
        <p:spPr>
          <a:xfrm>
            <a:off x="7966710" y="8073694"/>
            <a:ext cx="4400550" cy="0"/>
          </a:xfrm>
          <a:prstGeom prst="line">
            <a:avLst/>
          </a:prstGeom>
          <a:ln w="12700">
            <a:solidFill>
              <a:srgbClr val="6B7080"/>
            </a:solidFill>
            <a:prstDash val="dash"/>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5382" name="Connector 5381">
            <a:extLst>
              <a:ext uri="{FF2B5EF4-FFF2-40B4-BE49-F238E27FC236}">
                <a16:creationId xmlns:a16="http://schemas.microsoft.com/office/drawing/2014/main" id="{D0621D1C-E0BE-4776-934B-A73D1FC9A657}"/>
              </a:ext>
            </a:extLst>
          </p:cNvPr>
          <p:cNvSpPr>
            <a:spLocks noGrp="1"/>
          </p:cNvSpPr>
          <p:nvPr/>
        </p:nvSpPr>
        <p:spPr>
          <a:xfrm flipV="1">
            <a:off x="12367260" y="6529730"/>
            <a:ext cx="0" cy="1543964"/>
          </a:xfrm>
          <a:prstGeom prst="line">
            <a:avLst/>
          </a:prstGeom>
          <a:ln w="12700">
            <a:solidFill>
              <a:srgbClr val="6B7080"/>
            </a:solidFill>
            <a:prstDash val="dash"/>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5383" name="Connector 5382">
            <a:extLst>
              <a:ext uri="{FF2B5EF4-FFF2-40B4-BE49-F238E27FC236}">
                <a16:creationId xmlns:a16="http://schemas.microsoft.com/office/drawing/2014/main" id="{326806A0-15A6-4E26-90D6-2344827D942E}"/>
              </a:ext>
            </a:extLst>
          </p:cNvPr>
          <p:cNvSpPr>
            <a:spLocks noGrp="1"/>
          </p:cNvSpPr>
          <p:nvPr/>
        </p:nvSpPr>
        <p:spPr>
          <a:xfrm>
            <a:off x="12367260" y="6529730"/>
            <a:ext cx="342899" cy="0"/>
          </a:xfrm>
          <a:prstGeom prst="line">
            <a:avLst/>
          </a:prstGeom>
          <a:ln w="12700">
            <a:solidFill>
              <a:srgbClr val="6B7080"/>
            </a:solidFill>
            <a:prstDash val="dash"/>
            <a:tailEnd type="arrow"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5384" name="Rectangle 5383">
            <a:extLst>
              <a:ext uri="{FF2B5EF4-FFF2-40B4-BE49-F238E27FC236}">
                <a16:creationId xmlns:a16="http://schemas.microsoft.com/office/drawing/2014/main" id="{4923ED50-EF74-4C82-B903-9EA03EC32E7A}"/>
              </a:ext>
            </a:extLst>
          </p:cNvPr>
          <p:cNvSpPr>
            <a:spLocks noGrp="1"/>
          </p:cNvSpPr>
          <p:nvPr/>
        </p:nvSpPr>
        <p:spPr>
          <a:xfrm>
            <a:off x="880109" y="2355494"/>
            <a:ext cx="3143250" cy="668883"/>
          </a:xfrm>
          <a:prstGeom prst="rect">
            <a:avLst/>
          </a:prstGeom>
          <a:solidFill>
            <a:srgbClr val="FFFFFF"/>
          </a:solidFill>
          <a:ln w="12700">
            <a:solidFill>
              <a:srgbClr val="6B7080"/>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endParaRPr/>
          </a:p>
        </p:txBody>
      </p:sp>
      <p:sp>
        <p:nvSpPr>
          <p:cNvPr id="5385" name="Rectangle 5384">
            <a:extLst>
              <a:ext uri="{FF2B5EF4-FFF2-40B4-BE49-F238E27FC236}">
                <a16:creationId xmlns:a16="http://schemas.microsoft.com/office/drawing/2014/main" id="{318D8718-6FE6-42E2-BDE9-121BE36067CB}"/>
              </a:ext>
            </a:extLst>
          </p:cNvPr>
          <p:cNvSpPr>
            <a:spLocks noGrp="1"/>
          </p:cNvSpPr>
          <p:nvPr/>
        </p:nvSpPr>
        <p:spPr>
          <a:xfrm>
            <a:off x="880109" y="2355494"/>
            <a:ext cx="3143250" cy="442569"/>
          </a:xfrm>
          <a:prstGeom prst="rect">
            <a:avLst/>
          </a:prstGeom>
          <a:solidFill>
            <a:srgbClr val="E6E9F5"/>
          </a:solidFill>
          <a:ln w="12700">
            <a:solidFill>
              <a:srgbClr val="6B7080"/>
            </a:solidFill>
          </a:ln>
        </p:spPr>
        <p:style>
          <a:lnRef idx="1">
            <a:schemeClr val="accent1"/>
          </a:lnRef>
          <a:fillRef idx="3">
            <a:schemeClr val="accent1"/>
          </a:fillRef>
          <a:effectRef idx="2">
            <a:schemeClr val="accent1"/>
          </a:effectRef>
          <a:fontRef idx="minor">
            <a:schemeClr val="lt1"/>
          </a:fontRef>
        </p:style>
        <p:txBody>
          <a:bodyPr wrap="square" lIns="18288" tIns="18288" rIns="18288" bIns="18288" anchor="ctr"/>
          <a:lstStyle/>
          <a:p>
            <a:pPr algn="ctr">
              <a:buNone/>
            </a:pPr>
            <a:r>
              <a:rPr sz="900" b="0">
                <a:solidFill>
                  <a:srgbClr val="6B7080"/>
                </a:solidFill>
                <a:latin typeface="210 OmniGothic 040"/>
                <a:ea typeface="210 OmniGothic 040"/>
                <a:cs typeface="210 OmniGothic 040"/>
              </a:rPr>
              <a:t>&lt;Router&gt;</a:t>
            </a:r>
          </a:p>
          <a:p>
            <a:pPr algn="ctr">
              <a:buNone/>
            </a:pPr>
            <a:r>
              <a:rPr sz="1200" b="1">
                <a:solidFill>
                  <a:srgbClr val="2E3142"/>
                </a:solidFill>
                <a:latin typeface="210 OmniGothic 040"/>
                <a:ea typeface="210 OmniGothic 040"/>
                <a:cs typeface="210 OmniGothic 040"/>
              </a:rPr>
              <a:t>AuthRouter</a:t>
            </a:r>
          </a:p>
        </p:txBody>
      </p:sp>
      <p:sp>
        <p:nvSpPr>
          <p:cNvPr id="5386" name="TextBox 5385">
            <a:extLst>
              <a:ext uri="{FF2B5EF4-FFF2-40B4-BE49-F238E27FC236}">
                <a16:creationId xmlns:a16="http://schemas.microsoft.com/office/drawing/2014/main" id="{4E8B45D0-BFD1-4044-BBE2-40CFDDA2FAE6}"/>
              </a:ext>
            </a:extLst>
          </p:cNvPr>
          <p:cNvSpPr>
            <a:spLocks noGrp="1"/>
          </p:cNvSpPr>
          <p:nvPr/>
        </p:nvSpPr>
        <p:spPr>
          <a:xfrm>
            <a:off x="960119" y="2838297"/>
            <a:ext cx="3028950" cy="165963"/>
          </a:xfrm>
          <a:prstGeom prst="rect">
            <a:avLst/>
          </a:prstGeom>
          <a:noFill/>
        </p:spPr>
        <p:txBody>
          <a:bodyPr wrap="square" lIns="0" tIns="0" rIns="0" bIns="0" anchor="t">
            <a:spAutoFit/>
          </a:bodyPr>
          <a:lstStyle/>
          <a:p>
            <a:pPr algn="l">
              <a:lnSpc>
                <a:spcPct val="100000"/>
              </a:lnSpc>
              <a:buNone/>
            </a:pPr>
            <a:r>
              <a:rPr sz="1000" b="0">
                <a:solidFill>
                  <a:srgbClr val="2E3142"/>
                </a:solidFill>
                <a:latin typeface="Consolas"/>
                <a:ea typeface="Consolas"/>
                <a:cs typeface="Consolas"/>
              </a:rPr>
              <a:t>login() · logout() · me()</a:t>
            </a:r>
          </a:p>
        </p:txBody>
      </p:sp>
      <p:sp>
        <p:nvSpPr>
          <p:cNvPr id="5387" name="Rectangle 5386">
            <a:extLst>
              <a:ext uri="{FF2B5EF4-FFF2-40B4-BE49-F238E27FC236}">
                <a16:creationId xmlns:a16="http://schemas.microsoft.com/office/drawing/2014/main" id="{B9465066-7514-40D3-B8B9-A31ECA315983}"/>
              </a:ext>
            </a:extLst>
          </p:cNvPr>
          <p:cNvSpPr>
            <a:spLocks noGrp="1"/>
          </p:cNvSpPr>
          <p:nvPr/>
        </p:nvSpPr>
        <p:spPr>
          <a:xfrm>
            <a:off x="880109" y="3094786"/>
            <a:ext cx="3143250" cy="980694"/>
          </a:xfrm>
          <a:prstGeom prst="rect">
            <a:avLst/>
          </a:prstGeom>
          <a:solidFill>
            <a:srgbClr val="FFFFFF"/>
          </a:solidFill>
          <a:ln w="12700">
            <a:solidFill>
              <a:srgbClr val="6B7080"/>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endParaRPr/>
          </a:p>
        </p:txBody>
      </p:sp>
      <p:sp>
        <p:nvSpPr>
          <p:cNvPr id="5388" name="Rectangle 5387">
            <a:extLst>
              <a:ext uri="{FF2B5EF4-FFF2-40B4-BE49-F238E27FC236}">
                <a16:creationId xmlns:a16="http://schemas.microsoft.com/office/drawing/2014/main" id="{335A0EE6-6AF5-4C0F-A38E-78F97576ECE6}"/>
              </a:ext>
            </a:extLst>
          </p:cNvPr>
          <p:cNvSpPr>
            <a:spLocks noGrp="1"/>
          </p:cNvSpPr>
          <p:nvPr/>
        </p:nvSpPr>
        <p:spPr>
          <a:xfrm>
            <a:off x="880109" y="3094786"/>
            <a:ext cx="3143250" cy="442569"/>
          </a:xfrm>
          <a:prstGeom prst="rect">
            <a:avLst/>
          </a:prstGeom>
          <a:solidFill>
            <a:srgbClr val="E6E9F5"/>
          </a:solidFill>
          <a:ln w="12700">
            <a:solidFill>
              <a:srgbClr val="6B7080"/>
            </a:solidFill>
          </a:ln>
        </p:spPr>
        <p:style>
          <a:lnRef idx="1">
            <a:schemeClr val="accent1"/>
          </a:lnRef>
          <a:fillRef idx="3">
            <a:schemeClr val="accent1"/>
          </a:fillRef>
          <a:effectRef idx="2">
            <a:schemeClr val="accent1"/>
          </a:effectRef>
          <a:fontRef idx="minor">
            <a:schemeClr val="lt1"/>
          </a:fontRef>
        </p:style>
        <p:txBody>
          <a:bodyPr wrap="square" lIns="18288" tIns="18288" rIns="18288" bIns="18288" anchor="ctr"/>
          <a:lstStyle/>
          <a:p>
            <a:pPr algn="ctr">
              <a:buNone/>
            </a:pPr>
            <a:r>
              <a:rPr sz="900" b="0">
                <a:solidFill>
                  <a:srgbClr val="6B7080"/>
                </a:solidFill>
                <a:latin typeface="210 OmniGothic 040"/>
                <a:ea typeface="210 OmniGothic 040"/>
                <a:cs typeface="210 OmniGothic 040"/>
              </a:rPr>
              <a:t>&lt;Router&gt;</a:t>
            </a:r>
          </a:p>
          <a:p>
            <a:pPr algn="ctr">
              <a:buNone/>
            </a:pPr>
            <a:r>
              <a:rPr sz="1200" b="1">
                <a:solidFill>
                  <a:srgbClr val="2E3142"/>
                </a:solidFill>
                <a:latin typeface="210 OmniGothic 040"/>
                <a:ea typeface="210 OmniGothic 040"/>
                <a:cs typeface="210 OmniGothic 040"/>
              </a:rPr>
              <a:t>AdminRouter</a:t>
            </a:r>
          </a:p>
        </p:txBody>
      </p:sp>
      <p:sp>
        <p:nvSpPr>
          <p:cNvPr id="5389" name="TextBox 5388">
            <a:extLst>
              <a:ext uri="{FF2B5EF4-FFF2-40B4-BE49-F238E27FC236}">
                <a16:creationId xmlns:a16="http://schemas.microsoft.com/office/drawing/2014/main" id="{4524C558-6D3E-4FFE-A5B8-986CB0BA89B2}"/>
              </a:ext>
            </a:extLst>
          </p:cNvPr>
          <p:cNvSpPr>
            <a:spLocks noGrp="1"/>
          </p:cNvSpPr>
          <p:nvPr/>
        </p:nvSpPr>
        <p:spPr>
          <a:xfrm>
            <a:off x="960119" y="3577590"/>
            <a:ext cx="3028950" cy="477774"/>
          </a:xfrm>
          <a:prstGeom prst="rect">
            <a:avLst/>
          </a:prstGeom>
          <a:noFill/>
        </p:spPr>
        <p:txBody>
          <a:bodyPr wrap="square" lIns="0" tIns="0" rIns="0" bIns="0" anchor="t">
            <a:spAutoFit/>
          </a:bodyPr>
          <a:lstStyle/>
          <a:p>
            <a:pPr algn="l">
              <a:lnSpc>
                <a:spcPct val="100000"/>
              </a:lnSpc>
              <a:buNone/>
            </a:pPr>
            <a:r>
              <a:rPr sz="900" b="0">
                <a:solidFill>
                  <a:srgbClr val="2E3142"/>
                </a:solidFill>
                <a:latin typeface="Consolas"/>
                <a:ea typeface="Consolas"/>
                <a:cs typeface="Consolas"/>
              </a:rPr>
              <a:t>list_users() · issue_user() · set_role() · revoke_user() · unlock_user() · delete_user() · save_resource() · delete_resource()</a:t>
            </a:r>
          </a:p>
        </p:txBody>
      </p:sp>
      <p:sp>
        <p:nvSpPr>
          <p:cNvPr id="5390" name="Rectangle 5389">
            <a:extLst>
              <a:ext uri="{FF2B5EF4-FFF2-40B4-BE49-F238E27FC236}">
                <a16:creationId xmlns:a16="http://schemas.microsoft.com/office/drawing/2014/main" id="{21748770-0ACA-4410-BE26-81970A4F0376}"/>
              </a:ext>
            </a:extLst>
          </p:cNvPr>
          <p:cNvSpPr>
            <a:spLocks noGrp="1"/>
          </p:cNvSpPr>
          <p:nvPr/>
        </p:nvSpPr>
        <p:spPr>
          <a:xfrm>
            <a:off x="880109" y="4145889"/>
            <a:ext cx="3143250" cy="824788"/>
          </a:xfrm>
          <a:prstGeom prst="rect">
            <a:avLst/>
          </a:prstGeom>
          <a:solidFill>
            <a:srgbClr val="FFFFFF"/>
          </a:solidFill>
          <a:ln w="12700">
            <a:solidFill>
              <a:srgbClr val="6B7080"/>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endParaRPr/>
          </a:p>
        </p:txBody>
      </p:sp>
      <p:sp>
        <p:nvSpPr>
          <p:cNvPr id="5391" name="Rectangle 5390">
            <a:extLst>
              <a:ext uri="{FF2B5EF4-FFF2-40B4-BE49-F238E27FC236}">
                <a16:creationId xmlns:a16="http://schemas.microsoft.com/office/drawing/2014/main" id="{F07ED19A-7877-4D7A-B92D-7E892BA389F8}"/>
              </a:ext>
            </a:extLst>
          </p:cNvPr>
          <p:cNvSpPr>
            <a:spLocks noGrp="1"/>
          </p:cNvSpPr>
          <p:nvPr/>
        </p:nvSpPr>
        <p:spPr>
          <a:xfrm>
            <a:off x="880109" y="4145889"/>
            <a:ext cx="3143250" cy="442569"/>
          </a:xfrm>
          <a:prstGeom prst="rect">
            <a:avLst/>
          </a:prstGeom>
          <a:solidFill>
            <a:srgbClr val="E6E9F5"/>
          </a:solidFill>
          <a:ln w="12700">
            <a:solidFill>
              <a:srgbClr val="6B7080"/>
            </a:solidFill>
          </a:ln>
        </p:spPr>
        <p:style>
          <a:lnRef idx="1">
            <a:schemeClr val="accent1"/>
          </a:lnRef>
          <a:fillRef idx="3">
            <a:schemeClr val="accent1"/>
          </a:fillRef>
          <a:effectRef idx="2">
            <a:schemeClr val="accent1"/>
          </a:effectRef>
          <a:fontRef idx="minor">
            <a:schemeClr val="lt1"/>
          </a:fontRef>
        </p:style>
        <p:txBody>
          <a:bodyPr wrap="square" lIns="18288" tIns="18288" rIns="18288" bIns="18288" anchor="ctr"/>
          <a:lstStyle/>
          <a:p>
            <a:pPr algn="ctr">
              <a:buNone/>
            </a:pPr>
            <a:r>
              <a:rPr sz="900" b="0">
                <a:solidFill>
                  <a:srgbClr val="6B7080"/>
                </a:solidFill>
                <a:latin typeface="210 OmniGothic 040"/>
                <a:ea typeface="210 OmniGothic 040"/>
                <a:cs typeface="210 OmniGothic 040"/>
              </a:rPr>
              <a:t>&lt;Router&gt;</a:t>
            </a:r>
          </a:p>
          <a:p>
            <a:pPr algn="ctr">
              <a:buNone/>
            </a:pPr>
            <a:r>
              <a:rPr sz="1200" b="1">
                <a:solidFill>
                  <a:srgbClr val="2E3142"/>
                </a:solidFill>
                <a:latin typeface="210 OmniGothic 040"/>
                <a:ea typeface="210 OmniGothic 040"/>
                <a:cs typeface="210 OmniGothic 040"/>
              </a:rPr>
              <a:t>IncidentRouter</a:t>
            </a:r>
          </a:p>
        </p:txBody>
      </p:sp>
      <p:sp>
        <p:nvSpPr>
          <p:cNvPr id="5392" name="TextBox 5391">
            <a:extLst>
              <a:ext uri="{FF2B5EF4-FFF2-40B4-BE49-F238E27FC236}">
                <a16:creationId xmlns:a16="http://schemas.microsoft.com/office/drawing/2014/main" id="{F55F3B6F-0006-48C9-A6A3-A1BCC9EA9318}"/>
              </a:ext>
            </a:extLst>
          </p:cNvPr>
          <p:cNvSpPr>
            <a:spLocks noGrp="1"/>
          </p:cNvSpPr>
          <p:nvPr/>
        </p:nvSpPr>
        <p:spPr>
          <a:xfrm>
            <a:off x="960119" y="4628692"/>
            <a:ext cx="3028950" cy="321868"/>
          </a:xfrm>
          <a:prstGeom prst="rect">
            <a:avLst/>
          </a:prstGeom>
          <a:noFill/>
        </p:spPr>
        <p:txBody>
          <a:bodyPr wrap="square" lIns="0" tIns="0" rIns="0" bIns="0" anchor="t">
            <a:spAutoFit/>
          </a:bodyPr>
          <a:lstStyle/>
          <a:p>
            <a:pPr algn="l">
              <a:lnSpc>
                <a:spcPct val="100000"/>
              </a:lnSpc>
              <a:buNone/>
            </a:pPr>
            <a:r>
              <a:rPr sz="1000" b="0">
                <a:solidFill>
                  <a:srgbClr val="2E3142"/>
                </a:solidFill>
                <a:latin typeface="Consolas"/>
                <a:ea typeface="Consolas"/>
                <a:cs typeface="Consolas"/>
              </a:rPr>
              <a:t>list_incidents() · get_incident() · save_incident() · close_incident()</a:t>
            </a:r>
          </a:p>
        </p:txBody>
      </p:sp>
      <p:sp>
        <p:nvSpPr>
          <p:cNvPr id="5393" name="Rectangle 5392">
            <a:extLst>
              <a:ext uri="{FF2B5EF4-FFF2-40B4-BE49-F238E27FC236}">
                <a16:creationId xmlns:a16="http://schemas.microsoft.com/office/drawing/2014/main" id="{745DA1F9-2BE8-46B8-BAC8-97BBD51BBAF0}"/>
              </a:ext>
            </a:extLst>
          </p:cNvPr>
          <p:cNvSpPr>
            <a:spLocks noGrp="1"/>
          </p:cNvSpPr>
          <p:nvPr/>
        </p:nvSpPr>
        <p:spPr>
          <a:xfrm>
            <a:off x="880109" y="5041087"/>
            <a:ext cx="3143250" cy="668883"/>
          </a:xfrm>
          <a:prstGeom prst="rect">
            <a:avLst/>
          </a:prstGeom>
          <a:solidFill>
            <a:srgbClr val="FFFFFF"/>
          </a:solidFill>
          <a:ln w="12700">
            <a:solidFill>
              <a:srgbClr val="6B7080"/>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endParaRPr/>
          </a:p>
        </p:txBody>
      </p:sp>
      <p:sp>
        <p:nvSpPr>
          <p:cNvPr id="5394" name="Rectangle 5393">
            <a:extLst>
              <a:ext uri="{FF2B5EF4-FFF2-40B4-BE49-F238E27FC236}">
                <a16:creationId xmlns:a16="http://schemas.microsoft.com/office/drawing/2014/main" id="{89C1A93C-9351-4A82-AE18-773B13A84E82}"/>
              </a:ext>
            </a:extLst>
          </p:cNvPr>
          <p:cNvSpPr>
            <a:spLocks noGrp="1"/>
          </p:cNvSpPr>
          <p:nvPr/>
        </p:nvSpPr>
        <p:spPr>
          <a:xfrm>
            <a:off x="880109" y="5041087"/>
            <a:ext cx="3143250" cy="442569"/>
          </a:xfrm>
          <a:prstGeom prst="rect">
            <a:avLst/>
          </a:prstGeom>
          <a:solidFill>
            <a:srgbClr val="E6E9F5"/>
          </a:solidFill>
          <a:ln w="12700">
            <a:solidFill>
              <a:srgbClr val="6B7080"/>
            </a:solidFill>
          </a:ln>
        </p:spPr>
        <p:style>
          <a:lnRef idx="1">
            <a:schemeClr val="accent1"/>
          </a:lnRef>
          <a:fillRef idx="3">
            <a:schemeClr val="accent1"/>
          </a:fillRef>
          <a:effectRef idx="2">
            <a:schemeClr val="accent1"/>
          </a:effectRef>
          <a:fontRef idx="minor">
            <a:schemeClr val="lt1"/>
          </a:fontRef>
        </p:style>
        <p:txBody>
          <a:bodyPr wrap="square" lIns="18288" tIns="18288" rIns="18288" bIns="18288" anchor="ctr"/>
          <a:lstStyle/>
          <a:p>
            <a:pPr algn="ctr">
              <a:buNone/>
            </a:pPr>
            <a:r>
              <a:rPr sz="900" b="0">
                <a:solidFill>
                  <a:srgbClr val="6B7080"/>
                </a:solidFill>
                <a:latin typeface="210 OmniGothic 040"/>
                <a:ea typeface="210 OmniGothic 040"/>
                <a:cs typeface="210 OmniGothic 040"/>
              </a:rPr>
              <a:t>&lt;Router&gt;</a:t>
            </a:r>
          </a:p>
          <a:p>
            <a:pPr algn="ctr">
              <a:buNone/>
            </a:pPr>
            <a:r>
              <a:rPr sz="1200" b="1">
                <a:solidFill>
                  <a:srgbClr val="2E3142"/>
                </a:solidFill>
                <a:latin typeface="210 OmniGothic 040"/>
                <a:ea typeface="210 OmniGothic 040"/>
                <a:cs typeface="210 OmniGothic 040"/>
              </a:rPr>
              <a:t>MapRouter</a:t>
            </a:r>
          </a:p>
        </p:txBody>
      </p:sp>
      <p:sp>
        <p:nvSpPr>
          <p:cNvPr id="5395" name="TextBox 5394">
            <a:extLst>
              <a:ext uri="{FF2B5EF4-FFF2-40B4-BE49-F238E27FC236}">
                <a16:creationId xmlns:a16="http://schemas.microsoft.com/office/drawing/2014/main" id="{6AC2F8F6-682E-433D-B757-721F76D54963}"/>
              </a:ext>
            </a:extLst>
          </p:cNvPr>
          <p:cNvSpPr>
            <a:spLocks noGrp="1"/>
          </p:cNvSpPr>
          <p:nvPr/>
        </p:nvSpPr>
        <p:spPr>
          <a:xfrm>
            <a:off x="960119" y="5523890"/>
            <a:ext cx="3028950" cy="165963"/>
          </a:xfrm>
          <a:prstGeom prst="rect">
            <a:avLst/>
          </a:prstGeom>
          <a:noFill/>
        </p:spPr>
        <p:txBody>
          <a:bodyPr wrap="square" lIns="0" tIns="0" rIns="0" bIns="0" anchor="t">
            <a:spAutoFit/>
          </a:bodyPr>
          <a:lstStyle/>
          <a:p>
            <a:pPr algn="l">
              <a:lnSpc>
                <a:spcPct val="100000"/>
              </a:lnSpc>
              <a:buNone/>
            </a:pPr>
            <a:r>
              <a:rPr sz="1000" b="0">
                <a:solidFill>
                  <a:srgbClr val="2E3142"/>
                </a:solidFill>
                <a:latin typeface="Consolas"/>
                <a:ea typeface="Consolas"/>
                <a:cs typeface="Consolas"/>
              </a:rPr>
              <a:t>get_layers() · get_resources()</a:t>
            </a:r>
          </a:p>
        </p:txBody>
      </p:sp>
      <p:sp>
        <p:nvSpPr>
          <p:cNvPr id="5396" name="Rectangle 5395">
            <a:extLst>
              <a:ext uri="{FF2B5EF4-FFF2-40B4-BE49-F238E27FC236}">
                <a16:creationId xmlns:a16="http://schemas.microsoft.com/office/drawing/2014/main" id="{E4625F01-8B78-40BE-841F-6314E6EECE79}"/>
              </a:ext>
            </a:extLst>
          </p:cNvPr>
          <p:cNvSpPr>
            <a:spLocks noGrp="1"/>
          </p:cNvSpPr>
          <p:nvPr/>
        </p:nvSpPr>
        <p:spPr>
          <a:xfrm>
            <a:off x="880109" y="5780379"/>
            <a:ext cx="3143250" cy="668883"/>
          </a:xfrm>
          <a:prstGeom prst="rect">
            <a:avLst/>
          </a:prstGeom>
          <a:solidFill>
            <a:srgbClr val="FFFFFF"/>
          </a:solidFill>
          <a:ln w="12700">
            <a:solidFill>
              <a:srgbClr val="6B7080"/>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endParaRPr/>
          </a:p>
        </p:txBody>
      </p:sp>
      <p:sp>
        <p:nvSpPr>
          <p:cNvPr id="5397" name="Rectangle 5396">
            <a:extLst>
              <a:ext uri="{FF2B5EF4-FFF2-40B4-BE49-F238E27FC236}">
                <a16:creationId xmlns:a16="http://schemas.microsoft.com/office/drawing/2014/main" id="{8449C2B8-E09A-4E51-A5FB-5FE580E3D880}"/>
              </a:ext>
            </a:extLst>
          </p:cNvPr>
          <p:cNvSpPr>
            <a:spLocks noGrp="1"/>
          </p:cNvSpPr>
          <p:nvPr/>
        </p:nvSpPr>
        <p:spPr>
          <a:xfrm>
            <a:off x="880109" y="5780379"/>
            <a:ext cx="3143250" cy="442569"/>
          </a:xfrm>
          <a:prstGeom prst="rect">
            <a:avLst/>
          </a:prstGeom>
          <a:solidFill>
            <a:srgbClr val="E6E9F5"/>
          </a:solidFill>
          <a:ln w="12700">
            <a:solidFill>
              <a:srgbClr val="6B7080"/>
            </a:solidFill>
          </a:ln>
        </p:spPr>
        <p:style>
          <a:lnRef idx="1">
            <a:schemeClr val="accent1"/>
          </a:lnRef>
          <a:fillRef idx="3">
            <a:schemeClr val="accent1"/>
          </a:fillRef>
          <a:effectRef idx="2">
            <a:schemeClr val="accent1"/>
          </a:effectRef>
          <a:fontRef idx="minor">
            <a:schemeClr val="lt1"/>
          </a:fontRef>
        </p:style>
        <p:txBody>
          <a:bodyPr wrap="square" lIns="18288" tIns="18288" rIns="18288" bIns="18288" anchor="ctr"/>
          <a:lstStyle/>
          <a:p>
            <a:pPr algn="ctr">
              <a:buNone/>
            </a:pPr>
            <a:r>
              <a:rPr sz="900" b="0">
                <a:solidFill>
                  <a:srgbClr val="6B7080"/>
                </a:solidFill>
                <a:latin typeface="210 OmniGothic 040"/>
                <a:ea typeface="210 OmniGothic 040"/>
                <a:cs typeface="210 OmniGothic 040"/>
              </a:rPr>
              <a:t>&lt;Router&gt;</a:t>
            </a:r>
          </a:p>
          <a:p>
            <a:pPr algn="ctr">
              <a:buNone/>
            </a:pPr>
            <a:r>
              <a:rPr sz="1150" b="1">
                <a:solidFill>
                  <a:srgbClr val="2E3142"/>
                </a:solidFill>
                <a:latin typeface="210 OmniGothic 040"/>
                <a:ea typeface="210 OmniGothic 040"/>
                <a:cs typeface="210 OmniGothic 040"/>
              </a:rPr>
              <a:t>PredictionRouter</a:t>
            </a:r>
          </a:p>
        </p:txBody>
      </p:sp>
      <p:sp>
        <p:nvSpPr>
          <p:cNvPr id="5398" name="TextBox 5397">
            <a:extLst>
              <a:ext uri="{FF2B5EF4-FFF2-40B4-BE49-F238E27FC236}">
                <a16:creationId xmlns:a16="http://schemas.microsoft.com/office/drawing/2014/main" id="{C1CAC511-98FD-4371-98FB-3846E833F75B}"/>
              </a:ext>
            </a:extLst>
          </p:cNvPr>
          <p:cNvSpPr>
            <a:spLocks noGrp="1"/>
          </p:cNvSpPr>
          <p:nvPr/>
        </p:nvSpPr>
        <p:spPr>
          <a:xfrm>
            <a:off x="960119" y="6263182"/>
            <a:ext cx="3028950" cy="165963"/>
          </a:xfrm>
          <a:prstGeom prst="rect">
            <a:avLst/>
          </a:prstGeom>
          <a:noFill/>
        </p:spPr>
        <p:txBody>
          <a:bodyPr wrap="square" lIns="0" tIns="0" rIns="0" bIns="0" anchor="t">
            <a:spAutoFit/>
          </a:bodyPr>
          <a:lstStyle/>
          <a:p>
            <a:pPr algn="l">
              <a:lnSpc>
                <a:spcPct val="100000"/>
              </a:lnSpc>
              <a:buNone/>
            </a:pPr>
            <a:r>
              <a:rPr sz="1000" b="0">
                <a:solidFill>
                  <a:srgbClr val="2E3142"/>
                </a:solidFill>
                <a:latin typeface="Consolas"/>
                <a:ea typeface="Consolas"/>
                <a:cs typeface="Consolas"/>
              </a:rPr>
              <a:t>run() · get_slices() · get_risk()</a:t>
            </a:r>
          </a:p>
        </p:txBody>
      </p:sp>
      <p:sp>
        <p:nvSpPr>
          <p:cNvPr id="5399" name="Rectangle 5398">
            <a:extLst>
              <a:ext uri="{FF2B5EF4-FFF2-40B4-BE49-F238E27FC236}">
                <a16:creationId xmlns:a16="http://schemas.microsoft.com/office/drawing/2014/main" id="{EA26ADC1-8B4B-4A5B-8F71-7A23A9FC062E}"/>
              </a:ext>
            </a:extLst>
          </p:cNvPr>
          <p:cNvSpPr>
            <a:spLocks noGrp="1"/>
          </p:cNvSpPr>
          <p:nvPr/>
        </p:nvSpPr>
        <p:spPr>
          <a:xfrm>
            <a:off x="880109" y="6519672"/>
            <a:ext cx="3143250" cy="980694"/>
          </a:xfrm>
          <a:prstGeom prst="rect">
            <a:avLst/>
          </a:prstGeom>
          <a:solidFill>
            <a:srgbClr val="FFFFFF"/>
          </a:solidFill>
          <a:ln w="12700">
            <a:solidFill>
              <a:srgbClr val="6B7080"/>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endParaRPr/>
          </a:p>
        </p:txBody>
      </p:sp>
      <p:sp>
        <p:nvSpPr>
          <p:cNvPr id="5400" name="Rectangle 5399">
            <a:extLst>
              <a:ext uri="{FF2B5EF4-FFF2-40B4-BE49-F238E27FC236}">
                <a16:creationId xmlns:a16="http://schemas.microsoft.com/office/drawing/2014/main" id="{12D64E8F-4E8A-480D-AD1D-ECA709AF6054}"/>
              </a:ext>
            </a:extLst>
          </p:cNvPr>
          <p:cNvSpPr>
            <a:spLocks noGrp="1"/>
          </p:cNvSpPr>
          <p:nvPr/>
        </p:nvSpPr>
        <p:spPr>
          <a:xfrm>
            <a:off x="880109" y="6519672"/>
            <a:ext cx="3143250" cy="442569"/>
          </a:xfrm>
          <a:prstGeom prst="rect">
            <a:avLst/>
          </a:prstGeom>
          <a:solidFill>
            <a:srgbClr val="E6E9F5"/>
          </a:solidFill>
          <a:ln w="12700">
            <a:solidFill>
              <a:srgbClr val="6B7080"/>
            </a:solidFill>
          </a:ln>
        </p:spPr>
        <p:style>
          <a:lnRef idx="1">
            <a:schemeClr val="accent1"/>
          </a:lnRef>
          <a:fillRef idx="3">
            <a:schemeClr val="accent1"/>
          </a:fillRef>
          <a:effectRef idx="2">
            <a:schemeClr val="accent1"/>
          </a:effectRef>
          <a:fontRef idx="minor">
            <a:schemeClr val="lt1"/>
          </a:fontRef>
        </p:style>
        <p:txBody>
          <a:bodyPr wrap="square" lIns="18288" tIns="18288" rIns="18288" bIns="18288" anchor="ctr"/>
          <a:lstStyle/>
          <a:p>
            <a:pPr algn="ctr">
              <a:buNone/>
            </a:pPr>
            <a:r>
              <a:rPr sz="900" b="0">
                <a:solidFill>
                  <a:srgbClr val="6B7080"/>
                </a:solidFill>
                <a:latin typeface="210 OmniGothic 040"/>
                <a:ea typeface="210 OmniGothic 040"/>
                <a:cs typeface="210 OmniGothic 040"/>
              </a:rPr>
              <a:t>&lt;Router&gt;</a:t>
            </a:r>
          </a:p>
          <a:p>
            <a:pPr algn="ctr">
              <a:buNone/>
            </a:pPr>
            <a:r>
              <a:rPr sz="1200" b="1">
                <a:solidFill>
                  <a:srgbClr val="2E3142"/>
                </a:solidFill>
                <a:latin typeface="210 OmniGothic 040"/>
                <a:ea typeface="210 OmniGothic 040"/>
                <a:cs typeface="210 OmniGothic 040"/>
              </a:rPr>
              <a:t>ProposalRouter</a:t>
            </a:r>
          </a:p>
        </p:txBody>
      </p:sp>
      <p:sp>
        <p:nvSpPr>
          <p:cNvPr id="5401" name="TextBox 5400">
            <a:extLst>
              <a:ext uri="{FF2B5EF4-FFF2-40B4-BE49-F238E27FC236}">
                <a16:creationId xmlns:a16="http://schemas.microsoft.com/office/drawing/2014/main" id="{468C2E06-C918-4674-9260-CEBFABBFEB86}"/>
              </a:ext>
            </a:extLst>
          </p:cNvPr>
          <p:cNvSpPr>
            <a:spLocks noGrp="1"/>
          </p:cNvSpPr>
          <p:nvPr/>
        </p:nvSpPr>
        <p:spPr>
          <a:xfrm>
            <a:off x="960119" y="7002475"/>
            <a:ext cx="3028950" cy="477774"/>
          </a:xfrm>
          <a:prstGeom prst="rect">
            <a:avLst/>
          </a:prstGeom>
          <a:noFill/>
        </p:spPr>
        <p:txBody>
          <a:bodyPr wrap="square" lIns="0" tIns="0" rIns="0" bIns="0" anchor="t">
            <a:spAutoFit/>
          </a:bodyPr>
          <a:lstStyle/>
          <a:p>
            <a:pPr algn="l">
              <a:lnSpc>
                <a:spcPct val="100000"/>
              </a:lnSpc>
              <a:buNone/>
            </a:pPr>
            <a:r>
              <a:rPr sz="1000" b="0">
                <a:solidFill>
                  <a:srgbClr val="2E3142"/>
                </a:solidFill>
                <a:latin typeface="Consolas"/>
                <a:ea typeface="Consolas"/>
                <a:cs typeface="Consolas"/>
              </a:rPr>
              <a:t>get_latest() · get_citation() · list_versions() · get_diff() · list_events()</a:t>
            </a:r>
          </a:p>
        </p:txBody>
      </p:sp>
      <p:sp>
        <p:nvSpPr>
          <p:cNvPr id="5402" name="Rectangle 5401">
            <a:extLst>
              <a:ext uri="{FF2B5EF4-FFF2-40B4-BE49-F238E27FC236}">
                <a16:creationId xmlns:a16="http://schemas.microsoft.com/office/drawing/2014/main" id="{F30A39C4-BCAC-46F5-83DC-D7FFF6F55A35}"/>
              </a:ext>
            </a:extLst>
          </p:cNvPr>
          <p:cNvSpPr>
            <a:spLocks noGrp="1"/>
          </p:cNvSpPr>
          <p:nvPr/>
        </p:nvSpPr>
        <p:spPr>
          <a:xfrm>
            <a:off x="880109" y="7570774"/>
            <a:ext cx="3143250" cy="824788"/>
          </a:xfrm>
          <a:prstGeom prst="rect">
            <a:avLst/>
          </a:prstGeom>
          <a:solidFill>
            <a:srgbClr val="FFFFFF"/>
          </a:solidFill>
          <a:ln w="12700">
            <a:solidFill>
              <a:srgbClr val="6B7080"/>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endParaRPr/>
          </a:p>
        </p:txBody>
      </p:sp>
      <p:sp>
        <p:nvSpPr>
          <p:cNvPr id="5403" name="Rectangle 5402">
            <a:extLst>
              <a:ext uri="{FF2B5EF4-FFF2-40B4-BE49-F238E27FC236}">
                <a16:creationId xmlns:a16="http://schemas.microsoft.com/office/drawing/2014/main" id="{13E3FF36-5700-4473-B432-680AB5F183BC}"/>
              </a:ext>
            </a:extLst>
          </p:cNvPr>
          <p:cNvSpPr>
            <a:spLocks noGrp="1"/>
          </p:cNvSpPr>
          <p:nvPr/>
        </p:nvSpPr>
        <p:spPr>
          <a:xfrm>
            <a:off x="880109" y="7570774"/>
            <a:ext cx="3143250" cy="442569"/>
          </a:xfrm>
          <a:prstGeom prst="rect">
            <a:avLst/>
          </a:prstGeom>
          <a:solidFill>
            <a:srgbClr val="E6E9F5"/>
          </a:solidFill>
          <a:ln w="12700">
            <a:solidFill>
              <a:srgbClr val="6B7080"/>
            </a:solidFill>
          </a:ln>
        </p:spPr>
        <p:style>
          <a:lnRef idx="1">
            <a:schemeClr val="accent1"/>
          </a:lnRef>
          <a:fillRef idx="3">
            <a:schemeClr val="accent1"/>
          </a:fillRef>
          <a:effectRef idx="2">
            <a:schemeClr val="accent1"/>
          </a:effectRef>
          <a:fontRef idx="minor">
            <a:schemeClr val="lt1"/>
          </a:fontRef>
        </p:style>
        <p:txBody>
          <a:bodyPr wrap="square" lIns="18288" tIns="18288" rIns="18288" bIns="18288" anchor="ctr"/>
          <a:lstStyle/>
          <a:p>
            <a:pPr algn="ctr">
              <a:buNone/>
            </a:pPr>
            <a:r>
              <a:rPr sz="900" b="0">
                <a:solidFill>
                  <a:srgbClr val="6B7080"/>
                </a:solidFill>
                <a:latin typeface="210 OmniGothic 040"/>
                <a:ea typeface="210 OmniGothic 040"/>
                <a:cs typeface="210 OmniGothic 040"/>
              </a:rPr>
              <a:t>&lt;Router&gt;</a:t>
            </a:r>
          </a:p>
          <a:p>
            <a:pPr algn="ctr">
              <a:buNone/>
            </a:pPr>
            <a:r>
              <a:rPr sz="1200" b="1">
                <a:solidFill>
                  <a:srgbClr val="2E3142"/>
                </a:solidFill>
                <a:latin typeface="210 OmniGothic 040"/>
                <a:ea typeface="210 OmniGothic 040"/>
                <a:cs typeface="210 OmniGothic 040"/>
              </a:rPr>
              <a:t>ChatRouter</a:t>
            </a:r>
          </a:p>
        </p:txBody>
      </p:sp>
      <p:sp>
        <p:nvSpPr>
          <p:cNvPr id="5404" name="TextBox 5403">
            <a:extLst>
              <a:ext uri="{FF2B5EF4-FFF2-40B4-BE49-F238E27FC236}">
                <a16:creationId xmlns:a16="http://schemas.microsoft.com/office/drawing/2014/main" id="{A924DB71-B2EF-4E0E-9E95-B66AAC9E0FB3}"/>
              </a:ext>
            </a:extLst>
          </p:cNvPr>
          <p:cNvSpPr>
            <a:spLocks noGrp="1"/>
          </p:cNvSpPr>
          <p:nvPr/>
        </p:nvSpPr>
        <p:spPr>
          <a:xfrm>
            <a:off x="960119" y="8053578"/>
            <a:ext cx="3028950" cy="321868"/>
          </a:xfrm>
          <a:prstGeom prst="rect">
            <a:avLst/>
          </a:prstGeom>
          <a:noFill/>
        </p:spPr>
        <p:txBody>
          <a:bodyPr wrap="square" lIns="0" tIns="0" rIns="0" bIns="0" anchor="t">
            <a:spAutoFit/>
          </a:bodyPr>
          <a:lstStyle/>
          <a:p>
            <a:pPr algn="l">
              <a:lnSpc>
                <a:spcPct val="100000"/>
              </a:lnSpc>
              <a:buNone/>
            </a:pPr>
            <a:r>
              <a:rPr sz="1000" b="0">
                <a:solidFill>
                  <a:srgbClr val="2E3142"/>
                </a:solidFill>
                <a:latin typeface="Consolas"/>
                <a:ea typeface="Consolas"/>
                <a:cs typeface="Consolas"/>
              </a:rPr>
              <a:t>ask() · quick_questions() · confirm_correction()</a:t>
            </a:r>
          </a:p>
        </p:txBody>
      </p:sp>
      <p:sp>
        <p:nvSpPr>
          <p:cNvPr id="5405" name="Rectangle 5404">
            <a:extLst>
              <a:ext uri="{FF2B5EF4-FFF2-40B4-BE49-F238E27FC236}">
                <a16:creationId xmlns:a16="http://schemas.microsoft.com/office/drawing/2014/main" id="{A6D301A8-3D34-47D4-BFB6-FCB2C0A2C1F3}"/>
              </a:ext>
            </a:extLst>
          </p:cNvPr>
          <p:cNvSpPr>
            <a:spLocks noGrp="1"/>
          </p:cNvSpPr>
          <p:nvPr/>
        </p:nvSpPr>
        <p:spPr>
          <a:xfrm>
            <a:off x="4823460" y="2355494"/>
            <a:ext cx="3143250" cy="824788"/>
          </a:xfrm>
          <a:prstGeom prst="rect">
            <a:avLst/>
          </a:prstGeom>
          <a:solidFill>
            <a:srgbClr val="FFFFFF"/>
          </a:solidFill>
          <a:ln w="12700">
            <a:solidFill>
              <a:srgbClr val="6B7080"/>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endParaRPr/>
          </a:p>
        </p:txBody>
      </p:sp>
      <p:sp>
        <p:nvSpPr>
          <p:cNvPr id="5406" name="Rectangle 5405">
            <a:extLst>
              <a:ext uri="{FF2B5EF4-FFF2-40B4-BE49-F238E27FC236}">
                <a16:creationId xmlns:a16="http://schemas.microsoft.com/office/drawing/2014/main" id="{CC712526-5AB3-4E9F-8958-0DB5D0C2E11E}"/>
              </a:ext>
            </a:extLst>
          </p:cNvPr>
          <p:cNvSpPr>
            <a:spLocks noGrp="1"/>
          </p:cNvSpPr>
          <p:nvPr/>
        </p:nvSpPr>
        <p:spPr>
          <a:xfrm>
            <a:off x="4823460" y="2355494"/>
            <a:ext cx="3143250" cy="442569"/>
          </a:xfrm>
          <a:prstGeom prst="rect">
            <a:avLst/>
          </a:prstGeom>
          <a:solidFill>
            <a:srgbClr val="FDEBD9"/>
          </a:solidFill>
          <a:ln w="12700">
            <a:solidFill>
              <a:srgbClr val="6B7080"/>
            </a:solidFill>
          </a:ln>
        </p:spPr>
        <p:style>
          <a:lnRef idx="1">
            <a:schemeClr val="accent1"/>
          </a:lnRef>
          <a:fillRef idx="3">
            <a:schemeClr val="accent1"/>
          </a:fillRef>
          <a:effectRef idx="2">
            <a:schemeClr val="accent1"/>
          </a:effectRef>
          <a:fontRef idx="minor">
            <a:schemeClr val="lt1"/>
          </a:fontRef>
        </p:style>
        <p:txBody>
          <a:bodyPr wrap="square" lIns="18288" tIns="18288" rIns="18288" bIns="18288" anchor="ctr"/>
          <a:lstStyle/>
          <a:p>
            <a:pPr algn="ctr">
              <a:buNone/>
            </a:pPr>
            <a:r>
              <a:rPr sz="900" b="0">
                <a:solidFill>
                  <a:srgbClr val="6B7080"/>
                </a:solidFill>
                <a:latin typeface="210 OmniGothic 040"/>
                <a:ea typeface="210 OmniGothic 040"/>
                <a:cs typeface="210 OmniGothic 040"/>
              </a:rPr>
              <a:t>&lt;Service&gt;</a:t>
            </a:r>
          </a:p>
          <a:p>
            <a:pPr algn="ctr">
              <a:buNone/>
            </a:pPr>
            <a:r>
              <a:rPr sz="1150" b="1">
                <a:solidFill>
                  <a:srgbClr val="2E3142"/>
                </a:solidFill>
                <a:latin typeface="210 OmniGothic 040"/>
                <a:ea typeface="210 OmniGothic 040"/>
                <a:cs typeface="210 OmniGothic 040"/>
              </a:rPr>
              <a:t>SecurityService</a:t>
            </a:r>
          </a:p>
        </p:txBody>
      </p:sp>
      <p:sp>
        <p:nvSpPr>
          <p:cNvPr id="5407" name="TextBox 5406">
            <a:extLst>
              <a:ext uri="{FF2B5EF4-FFF2-40B4-BE49-F238E27FC236}">
                <a16:creationId xmlns:a16="http://schemas.microsoft.com/office/drawing/2014/main" id="{616820E4-FD2C-41E1-85F4-839922F4EFE9}"/>
              </a:ext>
            </a:extLst>
          </p:cNvPr>
          <p:cNvSpPr>
            <a:spLocks noGrp="1"/>
          </p:cNvSpPr>
          <p:nvPr/>
        </p:nvSpPr>
        <p:spPr>
          <a:xfrm>
            <a:off x="4903470" y="2838297"/>
            <a:ext cx="3028950" cy="321868"/>
          </a:xfrm>
          <a:prstGeom prst="rect">
            <a:avLst/>
          </a:prstGeom>
          <a:noFill/>
        </p:spPr>
        <p:txBody>
          <a:bodyPr wrap="square" lIns="0" tIns="0" rIns="0" bIns="0" anchor="t">
            <a:spAutoFit/>
          </a:bodyPr>
          <a:lstStyle/>
          <a:p>
            <a:pPr algn="l">
              <a:lnSpc>
                <a:spcPct val="100000"/>
              </a:lnSpc>
              <a:buNone/>
            </a:pPr>
            <a:r>
              <a:rPr sz="1000" b="0">
                <a:solidFill>
                  <a:srgbClr val="2E3142"/>
                </a:solidFill>
                <a:latin typeface="Consolas"/>
                <a:ea typeface="Consolas"/>
                <a:cs typeface="Consolas"/>
              </a:rPr>
              <a:t>verify_password() · create_token() · require_role()</a:t>
            </a:r>
          </a:p>
        </p:txBody>
      </p:sp>
      <p:sp>
        <p:nvSpPr>
          <p:cNvPr id="5408" name="Rectangle 5407">
            <a:extLst>
              <a:ext uri="{FF2B5EF4-FFF2-40B4-BE49-F238E27FC236}">
                <a16:creationId xmlns:a16="http://schemas.microsoft.com/office/drawing/2014/main" id="{FAFD2637-D244-4733-B4CA-BFF7C7972771}"/>
              </a:ext>
            </a:extLst>
          </p:cNvPr>
          <p:cNvSpPr>
            <a:spLocks noGrp="1"/>
          </p:cNvSpPr>
          <p:nvPr/>
        </p:nvSpPr>
        <p:spPr>
          <a:xfrm>
            <a:off x="4823460" y="3321100"/>
            <a:ext cx="3143250" cy="668883"/>
          </a:xfrm>
          <a:prstGeom prst="rect">
            <a:avLst/>
          </a:prstGeom>
          <a:solidFill>
            <a:srgbClr val="FFFFFF"/>
          </a:solidFill>
          <a:ln w="12700">
            <a:solidFill>
              <a:srgbClr val="6B7080"/>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endParaRPr/>
          </a:p>
        </p:txBody>
      </p:sp>
      <p:sp>
        <p:nvSpPr>
          <p:cNvPr id="5409" name="Rectangle 5408">
            <a:extLst>
              <a:ext uri="{FF2B5EF4-FFF2-40B4-BE49-F238E27FC236}">
                <a16:creationId xmlns:a16="http://schemas.microsoft.com/office/drawing/2014/main" id="{52B7D702-295D-4C21-9643-05244128B2B3}"/>
              </a:ext>
            </a:extLst>
          </p:cNvPr>
          <p:cNvSpPr>
            <a:spLocks noGrp="1"/>
          </p:cNvSpPr>
          <p:nvPr/>
        </p:nvSpPr>
        <p:spPr>
          <a:xfrm>
            <a:off x="4823460" y="3321100"/>
            <a:ext cx="3143250" cy="442569"/>
          </a:xfrm>
          <a:prstGeom prst="rect">
            <a:avLst/>
          </a:prstGeom>
          <a:solidFill>
            <a:srgbClr val="FDEBD9"/>
          </a:solidFill>
          <a:ln w="12700">
            <a:solidFill>
              <a:srgbClr val="6B7080"/>
            </a:solidFill>
          </a:ln>
        </p:spPr>
        <p:style>
          <a:lnRef idx="1">
            <a:schemeClr val="accent1"/>
          </a:lnRef>
          <a:fillRef idx="3">
            <a:schemeClr val="accent1"/>
          </a:fillRef>
          <a:effectRef idx="2">
            <a:schemeClr val="accent1"/>
          </a:effectRef>
          <a:fontRef idx="minor">
            <a:schemeClr val="lt1"/>
          </a:fontRef>
        </p:style>
        <p:txBody>
          <a:bodyPr wrap="square" lIns="18288" tIns="18288" rIns="18288" bIns="18288" anchor="ctr"/>
          <a:lstStyle/>
          <a:p>
            <a:pPr algn="ctr">
              <a:buNone/>
            </a:pPr>
            <a:r>
              <a:rPr sz="900" b="0">
                <a:solidFill>
                  <a:srgbClr val="6B7080"/>
                </a:solidFill>
                <a:latin typeface="210 OmniGothic 040"/>
                <a:ea typeface="210 OmniGothic 040"/>
                <a:cs typeface="210 OmniGothic 040"/>
              </a:rPr>
              <a:t>&lt;Service&gt;</a:t>
            </a:r>
          </a:p>
          <a:p>
            <a:pPr algn="ctr">
              <a:buNone/>
            </a:pPr>
            <a:r>
              <a:rPr sz="1200" b="1">
                <a:solidFill>
                  <a:srgbClr val="2E3142"/>
                </a:solidFill>
                <a:latin typeface="210 OmniGothic 040"/>
                <a:ea typeface="210 OmniGothic 040"/>
                <a:cs typeface="210 OmniGothic 040"/>
              </a:rPr>
              <a:t>EventLogger</a:t>
            </a:r>
          </a:p>
        </p:txBody>
      </p:sp>
      <p:sp>
        <p:nvSpPr>
          <p:cNvPr id="5410" name="TextBox 5409">
            <a:extLst>
              <a:ext uri="{FF2B5EF4-FFF2-40B4-BE49-F238E27FC236}">
                <a16:creationId xmlns:a16="http://schemas.microsoft.com/office/drawing/2014/main" id="{0EDFCE7D-E2BA-43F3-822F-F44C4A30AE2B}"/>
              </a:ext>
            </a:extLst>
          </p:cNvPr>
          <p:cNvSpPr>
            <a:spLocks noGrp="1"/>
          </p:cNvSpPr>
          <p:nvPr/>
        </p:nvSpPr>
        <p:spPr>
          <a:xfrm>
            <a:off x="4903470" y="3803904"/>
            <a:ext cx="3028950" cy="165963"/>
          </a:xfrm>
          <a:prstGeom prst="rect">
            <a:avLst/>
          </a:prstGeom>
          <a:noFill/>
        </p:spPr>
        <p:txBody>
          <a:bodyPr wrap="square" lIns="0" tIns="0" rIns="0" bIns="0" anchor="t">
            <a:spAutoFit/>
          </a:bodyPr>
          <a:lstStyle/>
          <a:p>
            <a:pPr algn="l">
              <a:lnSpc>
                <a:spcPct val="100000"/>
              </a:lnSpc>
              <a:buNone/>
            </a:pPr>
            <a:r>
              <a:rPr sz="1000" b="0">
                <a:solidFill>
                  <a:srgbClr val="2E3142"/>
                </a:solidFill>
                <a:latin typeface="Consolas"/>
                <a:ea typeface="Consolas"/>
                <a:cs typeface="Consolas"/>
              </a:rPr>
              <a:t>record()</a:t>
            </a:r>
          </a:p>
        </p:txBody>
      </p:sp>
      <p:sp>
        <p:nvSpPr>
          <p:cNvPr id="5411" name="Rectangle 5410">
            <a:extLst>
              <a:ext uri="{FF2B5EF4-FFF2-40B4-BE49-F238E27FC236}">
                <a16:creationId xmlns:a16="http://schemas.microsoft.com/office/drawing/2014/main" id="{F30B67A7-ABA0-4FA8-8367-33322D68E6F4}"/>
              </a:ext>
            </a:extLst>
          </p:cNvPr>
          <p:cNvSpPr>
            <a:spLocks noGrp="1"/>
          </p:cNvSpPr>
          <p:nvPr/>
        </p:nvSpPr>
        <p:spPr>
          <a:xfrm>
            <a:off x="4823460" y="4130802"/>
            <a:ext cx="3143250" cy="668883"/>
          </a:xfrm>
          <a:prstGeom prst="rect">
            <a:avLst/>
          </a:prstGeom>
          <a:solidFill>
            <a:srgbClr val="FFFFFF"/>
          </a:solidFill>
          <a:ln w="12700">
            <a:solidFill>
              <a:srgbClr val="6B7080"/>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endParaRPr/>
          </a:p>
        </p:txBody>
      </p:sp>
      <p:sp>
        <p:nvSpPr>
          <p:cNvPr id="5412" name="Rectangle 5411">
            <a:extLst>
              <a:ext uri="{FF2B5EF4-FFF2-40B4-BE49-F238E27FC236}">
                <a16:creationId xmlns:a16="http://schemas.microsoft.com/office/drawing/2014/main" id="{14A0D5EC-B152-4CED-9573-165AB1E7B6B0}"/>
              </a:ext>
            </a:extLst>
          </p:cNvPr>
          <p:cNvSpPr>
            <a:spLocks noGrp="1"/>
          </p:cNvSpPr>
          <p:nvPr/>
        </p:nvSpPr>
        <p:spPr>
          <a:xfrm>
            <a:off x="4823460" y="4130802"/>
            <a:ext cx="3143250" cy="442569"/>
          </a:xfrm>
          <a:prstGeom prst="rect">
            <a:avLst/>
          </a:prstGeom>
          <a:solidFill>
            <a:srgbClr val="FDEBD9"/>
          </a:solidFill>
          <a:ln w="12700">
            <a:solidFill>
              <a:srgbClr val="6B7080"/>
            </a:solidFill>
          </a:ln>
        </p:spPr>
        <p:style>
          <a:lnRef idx="1">
            <a:schemeClr val="accent1"/>
          </a:lnRef>
          <a:fillRef idx="3">
            <a:schemeClr val="accent1"/>
          </a:fillRef>
          <a:effectRef idx="2">
            <a:schemeClr val="accent1"/>
          </a:effectRef>
          <a:fontRef idx="minor">
            <a:schemeClr val="lt1"/>
          </a:fontRef>
        </p:style>
        <p:txBody>
          <a:bodyPr wrap="square" lIns="18288" tIns="18288" rIns="18288" bIns="18288" anchor="ctr"/>
          <a:lstStyle/>
          <a:p>
            <a:pPr algn="ctr">
              <a:buNone/>
            </a:pPr>
            <a:r>
              <a:rPr sz="900" b="0">
                <a:solidFill>
                  <a:srgbClr val="6B7080"/>
                </a:solidFill>
                <a:latin typeface="210 OmniGothic 040"/>
                <a:ea typeface="210 OmniGothic 040"/>
                <a:cs typeface="210 OmniGothic 040"/>
              </a:rPr>
              <a:t>&lt;Service&gt;</a:t>
            </a:r>
          </a:p>
          <a:p>
            <a:pPr algn="ctr">
              <a:buNone/>
            </a:pPr>
            <a:r>
              <a:rPr sz="1200" b="1">
                <a:solidFill>
                  <a:srgbClr val="2E3142"/>
                </a:solidFill>
                <a:latin typeface="210 OmniGothic 040"/>
                <a:ea typeface="210 OmniGothic 040"/>
                <a:cs typeface="210 OmniGothic 040"/>
              </a:rPr>
              <a:t>RiskService</a:t>
            </a:r>
          </a:p>
        </p:txBody>
      </p:sp>
      <p:sp>
        <p:nvSpPr>
          <p:cNvPr id="5413" name="TextBox 5412">
            <a:extLst>
              <a:ext uri="{FF2B5EF4-FFF2-40B4-BE49-F238E27FC236}">
                <a16:creationId xmlns:a16="http://schemas.microsoft.com/office/drawing/2014/main" id="{DCAD39BE-6A5D-4BCD-8770-69B4DBDC75D1}"/>
              </a:ext>
            </a:extLst>
          </p:cNvPr>
          <p:cNvSpPr>
            <a:spLocks noGrp="1"/>
          </p:cNvSpPr>
          <p:nvPr/>
        </p:nvSpPr>
        <p:spPr>
          <a:xfrm>
            <a:off x="4903470" y="4613605"/>
            <a:ext cx="3028950" cy="165963"/>
          </a:xfrm>
          <a:prstGeom prst="rect">
            <a:avLst/>
          </a:prstGeom>
          <a:noFill/>
        </p:spPr>
        <p:txBody>
          <a:bodyPr wrap="square" lIns="0" tIns="0" rIns="0" bIns="0" anchor="t">
            <a:spAutoFit/>
          </a:bodyPr>
          <a:lstStyle/>
          <a:p>
            <a:pPr algn="l">
              <a:lnSpc>
                <a:spcPct val="100000"/>
              </a:lnSpc>
              <a:buNone/>
            </a:pPr>
            <a:r>
              <a:rPr sz="1000" b="0">
                <a:solidFill>
                  <a:srgbClr val="FF0000"/>
                </a:solidFill>
                <a:latin typeface="Consolas"/>
                <a:ea typeface="Consolas"/>
                <a:cs typeface="Consolas"/>
              </a:rPr>
              <a:t>compute() · get_latest()</a:t>
            </a:r>
          </a:p>
        </p:txBody>
      </p:sp>
      <p:sp>
        <p:nvSpPr>
          <p:cNvPr id="5414" name="Rectangle 5413">
            <a:extLst>
              <a:ext uri="{FF2B5EF4-FFF2-40B4-BE49-F238E27FC236}">
                <a16:creationId xmlns:a16="http://schemas.microsoft.com/office/drawing/2014/main" id="{9A85CD1D-BAA6-4116-9F03-4BB4813D0BC0}"/>
              </a:ext>
            </a:extLst>
          </p:cNvPr>
          <p:cNvSpPr>
            <a:spLocks noGrp="1"/>
          </p:cNvSpPr>
          <p:nvPr/>
        </p:nvSpPr>
        <p:spPr>
          <a:xfrm>
            <a:off x="4823460" y="5780379"/>
            <a:ext cx="3143250" cy="668883"/>
          </a:xfrm>
          <a:prstGeom prst="rect">
            <a:avLst/>
          </a:prstGeom>
          <a:solidFill>
            <a:srgbClr val="FFFFFF"/>
          </a:solidFill>
          <a:ln w="12700">
            <a:solidFill>
              <a:srgbClr val="6B7080"/>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endParaRPr/>
          </a:p>
        </p:txBody>
      </p:sp>
      <p:sp>
        <p:nvSpPr>
          <p:cNvPr id="5415" name="Rectangle 5414">
            <a:extLst>
              <a:ext uri="{FF2B5EF4-FFF2-40B4-BE49-F238E27FC236}">
                <a16:creationId xmlns:a16="http://schemas.microsoft.com/office/drawing/2014/main" id="{992C35B4-DC6E-4B2A-9478-71C682239415}"/>
              </a:ext>
            </a:extLst>
          </p:cNvPr>
          <p:cNvSpPr>
            <a:spLocks noGrp="1"/>
          </p:cNvSpPr>
          <p:nvPr/>
        </p:nvSpPr>
        <p:spPr>
          <a:xfrm>
            <a:off x="4823460" y="5780379"/>
            <a:ext cx="3143250" cy="442569"/>
          </a:xfrm>
          <a:prstGeom prst="rect">
            <a:avLst/>
          </a:prstGeom>
          <a:solidFill>
            <a:srgbClr val="FDEBD9"/>
          </a:solidFill>
          <a:ln w="12700">
            <a:solidFill>
              <a:srgbClr val="6B7080"/>
            </a:solidFill>
          </a:ln>
        </p:spPr>
        <p:style>
          <a:lnRef idx="1">
            <a:schemeClr val="accent1"/>
          </a:lnRef>
          <a:fillRef idx="3">
            <a:schemeClr val="accent1"/>
          </a:fillRef>
          <a:effectRef idx="2">
            <a:schemeClr val="accent1"/>
          </a:effectRef>
          <a:fontRef idx="minor">
            <a:schemeClr val="lt1"/>
          </a:fontRef>
        </p:style>
        <p:txBody>
          <a:bodyPr wrap="square" lIns="18288" tIns="18288" rIns="18288" bIns="18288" anchor="ctr"/>
          <a:lstStyle/>
          <a:p>
            <a:pPr algn="ctr">
              <a:buNone/>
            </a:pPr>
            <a:r>
              <a:rPr sz="900" b="0">
                <a:solidFill>
                  <a:srgbClr val="6B7080"/>
                </a:solidFill>
                <a:latin typeface="210 OmniGothic 040"/>
                <a:ea typeface="210 OmniGothic 040"/>
                <a:cs typeface="210 OmniGothic 040"/>
              </a:rPr>
              <a:t>&lt;Service&gt;</a:t>
            </a:r>
          </a:p>
          <a:p>
            <a:pPr algn="ctr">
              <a:buNone/>
            </a:pPr>
            <a:r>
              <a:rPr sz="1150" b="1">
                <a:solidFill>
                  <a:srgbClr val="2E3142"/>
                </a:solidFill>
                <a:latin typeface="210 OmniGothic 040"/>
                <a:ea typeface="210 OmniGothic 040"/>
                <a:cs typeface="210 OmniGothic 040"/>
              </a:rPr>
              <a:t>PredictionService</a:t>
            </a:r>
          </a:p>
        </p:txBody>
      </p:sp>
      <p:sp>
        <p:nvSpPr>
          <p:cNvPr id="5416" name="TextBox 5415">
            <a:extLst>
              <a:ext uri="{FF2B5EF4-FFF2-40B4-BE49-F238E27FC236}">
                <a16:creationId xmlns:a16="http://schemas.microsoft.com/office/drawing/2014/main" id="{4B51058C-60C3-4528-B0F0-48E5B17FE5D3}"/>
              </a:ext>
            </a:extLst>
          </p:cNvPr>
          <p:cNvSpPr>
            <a:spLocks noGrp="1"/>
          </p:cNvSpPr>
          <p:nvPr/>
        </p:nvSpPr>
        <p:spPr>
          <a:xfrm>
            <a:off x="4903470" y="6263182"/>
            <a:ext cx="3028950" cy="165963"/>
          </a:xfrm>
          <a:prstGeom prst="rect">
            <a:avLst/>
          </a:prstGeom>
          <a:noFill/>
        </p:spPr>
        <p:txBody>
          <a:bodyPr wrap="square" lIns="0" tIns="0" rIns="0" bIns="0" anchor="t">
            <a:spAutoFit/>
          </a:bodyPr>
          <a:lstStyle/>
          <a:p>
            <a:pPr algn="l">
              <a:lnSpc>
                <a:spcPct val="100000"/>
              </a:lnSpc>
              <a:buNone/>
            </a:pPr>
            <a:r>
              <a:rPr sz="1000" b="0">
                <a:solidFill>
                  <a:srgbClr val="2E3142"/>
                </a:solidFill>
                <a:latin typeface="Consolas"/>
                <a:ea typeface="Consolas"/>
                <a:cs typeface="Consolas"/>
              </a:rPr>
              <a:t>execute()</a:t>
            </a:r>
          </a:p>
        </p:txBody>
      </p:sp>
      <p:sp>
        <p:nvSpPr>
          <p:cNvPr id="5417" name="Rectangle 5416">
            <a:extLst>
              <a:ext uri="{FF2B5EF4-FFF2-40B4-BE49-F238E27FC236}">
                <a16:creationId xmlns:a16="http://schemas.microsoft.com/office/drawing/2014/main" id="{458031FA-A66A-4B71-92B6-8447BFCE3A3A}"/>
              </a:ext>
            </a:extLst>
          </p:cNvPr>
          <p:cNvSpPr>
            <a:spLocks noGrp="1"/>
          </p:cNvSpPr>
          <p:nvPr/>
        </p:nvSpPr>
        <p:spPr>
          <a:xfrm>
            <a:off x="4823460" y="7369606"/>
            <a:ext cx="3143250" cy="824788"/>
          </a:xfrm>
          <a:prstGeom prst="rect">
            <a:avLst/>
          </a:prstGeom>
          <a:solidFill>
            <a:srgbClr val="FFFFFF"/>
          </a:solidFill>
          <a:ln w="12700">
            <a:solidFill>
              <a:srgbClr val="6B7080"/>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endParaRPr/>
          </a:p>
        </p:txBody>
      </p:sp>
      <p:sp>
        <p:nvSpPr>
          <p:cNvPr id="5418" name="Rectangle 5417">
            <a:extLst>
              <a:ext uri="{FF2B5EF4-FFF2-40B4-BE49-F238E27FC236}">
                <a16:creationId xmlns:a16="http://schemas.microsoft.com/office/drawing/2014/main" id="{4FF899C1-E2E6-4622-B28B-6B216512CECD}"/>
              </a:ext>
            </a:extLst>
          </p:cNvPr>
          <p:cNvSpPr>
            <a:spLocks noGrp="1"/>
          </p:cNvSpPr>
          <p:nvPr/>
        </p:nvSpPr>
        <p:spPr>
          <a:xfrm>
            <a:off x="4823460" y="7369606"/>
            <a:ext cx="3143250" cy="442569"/>
          </a:xfrm>
          <a:prstGeom prst="rect">
            <a:avLst/>
          </a:prstGeom>
          <a:solidFill>
            <a:srgbClr val="FDEBD9"/>
          </a:solidFill>
          <a:ln w="12700">
            <a:solidFill>
              <a:srgbClr val="6B7080"/>
            </a:solidFill>
          </a:ln>
        </p:spPr>
        <p:style>
          <a:lnRef idx="1">
            <a:schemeClr val="accent1"/>
          </a:lnRef>
          <a:fillRef idx="3">
            <a:schemeClr val="accent1"/>
          </a:fillRef>
          <a:effectRef idx="2">
            <a:schemeClr val="accent1"/>
          </a:effectRef>
          <a:fontRef idx="minor">
            <a:schemeClr val="lt1"/>
          </a:fontRef>
        </p:style>
        <p:txBody>
          <a:bodyPr wrap="square" lIns="18288" tIns="18288" rIns="18288" bIns="18288" anchor="ctr"/>
          <a:lstStyle/>
          <a:p>
            <a:pPr algn="ctr">
              <a:buNone/>
            </a:pPr>
            <a:r>
              <a:rPr sz="900" b="0">
                <a:solidFill>
                  <a:srgbClr val="6B7080"/>
                </a:solidFill>
                <a:latin typeface="210 OmniGothic 040"/>
                <a:ea typeface="210 OmniGothic 040"/>
                <a:cs typeface="210 OmniGothic 040"/>
              </a:rPr>
              <a:t>&lt;Service&gt;</a:t>
            </a:r>
          </a:p>
          <a:p>
            <a:pPr algn="ctr">
              <a:buNone/>
            </a:pPr>
            <a:r>
              <a:rPr sz="1150" b="1">
                <a:solidFill>
                  <a:srgbClr val="2E3142"/>
                </a:solidFill>
                <a:latin typeface="210 OmniGothic 040"/>
                <a:ea typeface="210 OmniGothic 040"/>
                <a:cs typeface="210 OmniGothic 040"/>
              </a:rPr>
              <a:t>AssistantService</a:t>
            </a:r>
          </a:p>
        </p:txBody>
      </p:sp>
      <p:sp>
        <p:nvSpPr>
          <p:cNvPr id="5419" name="TextBox 5418">
            <a:extLst>
              <a:ext uri="{FF2B5EF4-FFF2-40B4-BE49-F238E27FC236}">
                <a16:creationId xmlns:a16="http://schemas.microsoft.com/office/drawing/2014/main" id="{8C1B4515-B75C-49DC-8106-D04CA65E0BA7}"/>
              </a:ext>
            </a:extLst>
          </p:cNvPr>
          <p:cNvSpPr>
            <a:spLocks noGrp="1"/>
          </p:cNvSpPr>
          <p:nvPr/>
        </p:nvSpPr>
        <p:spPr>
          <a:xfrm>
            <a:off x="4903470" y="7852410"/>
            <a:ext cx="3028950" cy="321868"/>
          </a:xfrm>
          <a:prstGeom prst="rect">
            <a:avLst/>
          </a:prstGeom>
          <a:noFill/>
        </p:spPr>
        <p:txBody>
          <a:bodyPr wrap="square" lIns="0" tIns="0" rIns="0" bIns="0" anchor="t">
            <a:spAutoFit/>
          </a:bodyPr>
          <a:lstStyle/>
          <a:p>
            <a:pPr algn="l">
              <a:lnSpc>
                <a:spcPct val="100000"/>
              </a:lnSpc>
              <a:buNone/>
            </a:pPr>
            <a:r>
              <a:rPr sz="1000" b="0">
                <a:solidFill>
                  <a:srgbClr val="2E3142"/>
                </a:solidFill>
                <a:latin typeface="Consolas"/>
                <a:ea typeface="Consolas"/>
                <a:cs typeface="Consolas"/>
              </a:rPr>
              <a:t>classify() · answer() · propose_correction() · apply_correction()</a:t>
            </a:r>
          </a:p>
        </p:txBody>
      </p:sp>
      <p:sp>
        <p:nvSpPr>
          <p:cNvPr id="5420" name="Rectangle 5419">
            <a:extLst>
              <a:ext uri="{FF2B5EF4-FFF2-40B4-BE49-F238E27FC236}">
                <a16:creationId xmlns:a16="http://schemas.microsoft.com/office/drawing/2014/main" id="{E1BF14AF-81A6-4C67-B541-FF75BD2334C8}"/>
              </a:ext>
            </a:extLst>
          </p:cNvPr>
          <p:cNvSpPr>
            <a:spLocks noGrp="1"/>
          </p:cNvSpPr>
          <p:nvPr/>
        </p:nvSpPr>
        <p:spPr>
          <a:xfrm>
            <a:off x="8766810" y="5780379"/>
            <a:ext cx="3143250" cy="668883"/>
          </a:xfrm>
          <a:prstGeom prst="rect">
            <a:avLst/>
          </a:prstGeom>
          <a:solidFill>
            <a:srgbClr val="FFFFFF"/>
          </a:solidFill>
          <a:ln w="12700">
            <a:solidFill>
              <a:srgbClr val="6B7080"/>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endParaRPr/>
          </a:p>
        </p:txBody>
      </p:sp>
      <p:sp>
        <p:nvSpPr>
          <p:cNvPr id="5421" name="Rectangle 5420">
            <a:extLst>
              <a:ext uri="{FF2B5EF4-FFF2-40B4-BE49-F238E27FC236}">
                <a16:creationId xmlns:a16="http://schemas.microsoft.com/office/drawing/2014/main" id="{DB8D1A0B-EB64-4F02-9682-2DC11111CD00}"/>
              </a:ext>
            </a:extLst>
          </p:cNvPr>
          <p:cNvSpPr>
            <a:spLocks noGrp="1"/>
          </p:cNvSpPr>
          <p:nvPr/>
        </p:nvSpPr>
        <p:spPr>
          <a:xfrm>
            <a:off x="8766810" y="5780379"/>
            <a:ext cx="3143250" cy="442569"/>
          </a:xfrm>
          <a:prstGeom prst="rect">
            <a:avLst/>
          </a:prstGeom>
          <a:solidFill>
            <a:srgbClr val="FDEBD9"/>
          </a:solidFill>
          <a:ln w="12700">
            <a:solidFill>
              <a:srgbClr val="6B7080"/>
            </a:solidFill>
          </a:ln>
        </p:spPr>
        <p:style>
          <a:lnRef idx="1">
            <a:schemeClr val="accent1"/>
          </a:lnRef>
          <a:fillRef idx="3">
            <a:schemeClr val="accent1"/>
          </a:fillRef>
          <a:effectRef idx="2">
            <a:schemeClr val="accent1"/>
          </a:effectRef>
          <a:fontRef idx="minor">
            <a:schemeClr val="lt1"/>
          </a:fontRef>
        </p:style>
        <p:txBody>
          <a:bodyPr wrap="square" lIns="18288" tIns="18288" rIns="18288" bIns="18288" anchor="ctr"/>
          <a:lstStyle/>
          <a:p>
            <a:pPr algn="ctr">
              <a:buNone/>
            </a:pPr>
            <a:r>
              <a:rPr sz="900" b="0">
                <a:solidFill>
                  <a:srgbClr val="6B7080"/>
                </a:solidFill>
                <a:latin typeface="210 OmniGothic 040"/>
                <a:ea typeface="210 OmniGothic 040"/>
                <a:cs typeface="210 OmniGothic 040"/>
              </a:rPr>
              <a:t>&lt;Service&gt;</a:t>
            </a:r>
          </a:p>
          <a:p>
            <a:pPr algn="ctr">
              <a:buNone/>
            </a:pPr>
            <a:r>
              <a:rPr sz="1150" b="1">
                <a:solidFill>
                  <a:srgbClr val="2E3142"/>
                </a:solidFill>
                <a:latin typeface="210 OmniGothic 040"/>
                <a:ea typeface="210 OmniGothic 040"/>
                <a:cs typeface="210 OmniGothic 040"/>
              </a:rPr>
              <a:t>ProposalOrchestrator</a:t>
            </a:r>
          </a:p>
        </p:txBody>
      </p:sp>
      <p:sp>
        <p:nvSpPr>
          <p:cNvPr id="5422" name="TextBox 5421">
            <a:extLst>
              <a:ext uri="{FF2B5EF4-FFF2-40B4-BE49-F238E27FC236}">
                <a16:creationId xmlns:a16="http://schemas.microsoft.com/office/drawing/2014/main" id="{12A47231-C4F2-4BD1-BC69-7B5547840F3C}"/>
              </a:ext>
            </a:extLst>
          </p:cNvPr>
          <p:cNvSpPr>
            <a:spLocks noGrp="1"/>
          </p:cNvSpPr>
          <p:nvPr/>
        </p:nvSpPr>
        <p:spPr>
          <a:xfrm>
            <a:off x="8846820" y="6263182"/>
            <a:ext cx="3028950" cy="165963"/>
          </a:xfrm>
          <a:prstGeom prst="rect">
            <a:avLst/>
          </a:prstGeom>
          <a:noFill/>
        </p:spPr>
        <p:txBody>
          <a:bodyPr wrap="square" lIns="0" tIns="0" rIns="0" bIns="0" anchor="t">
            <a:spAutoFit/>
          </a:bodyPr>
          <a:lstStyle/>
          <a:p>
            <a:pPr algn="l">
              <a:lnSpc>
                <a:spcPct val="100000"/>
              </a:lnSpc>
              <a:buNone/>
            </a:pPr>
            <a:r>
              <a:rPr sz="1000" b="0">
                <a:solidFill>
                  <a:srgbClr val="2E3142"/>
                </a:solidFill>
                <a:latin typeface="Consolas"/>
                <a:ea typeface="Consolas"/>
                <a:cs typeface="Consolas"/>
              </a:rPr>
              <a:t>generate() · diff()</a:t>
            </a:r>
          </a:p>
        </p:txBody>
      </p:sp>
      <p:sp>
        <p:nvSpPr>
          <p:cNvPr id="5423" name="Rectangle 5422">
            <a:extLst>
              <a:ext uri="{FF2B5EF4-FFF2-40B4-BE49-F238E27FC236}">
                <a16:creationId xmlns:a16="http://schemas.microsoft.com/office/drawing/2014/main" id="{0B5C9C4B-30FC-4FE5-A92C-2BC5EDBAD836}"/>
              </a:ext>
            </a:extLst>
          </p:cNvPr>
          <p:cNvSpPr>
            <a:spLocks noGrp="1"/>
          </p:cNvSpPr>
          <p:nvPr/>
        </p:nvSpPr>
        <p:spPr>
          <a:xfrm>
            <a:off x="8766810" y="4533138"/>
            <a:ext cx="3143250" cy="824788"/>
          </a:xfrm>
          <a:prstGeom prst="rect">
            <a:avLst/>
          </a:prstGeom>
          <a:solidFill>
            <a:srgbClr val="FFFFFF"/>
          </a:solidFill>
          <a:ln w="12700">
            <a:solidFill>
              <a:srgbClr val="6B7080"/>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endParaRPr/>
          </a:p>
        </p:txBody>
      </p:sp>
      <p:sp>
        <p:nvSpPr>
          <p:cNvPr id="5424" name="Rectangle 5423">
            <a:extLst>
              <a:ext uri="{FF2B5EF4-FFF2-40B4-BE49-F238E27FC236}">
                <a16:creationId xmlns:a16="http://schemas.microsoft.com/office/drawing/2014/main" id="{B7CCA9C2-E4E6-4F8C-BC57-B43189C23B30}"/>
              </a:ext>
            </a:extLst>
          </p:cNvPr>
          <p:cNvSpPr>
            <a:spLocks noGrp="1"/>
          </p:cNvSpPr>
          <p:nvPr/>
        </p:nvSpPr>
        <p:spPr>
          <a:xfrm>
            <a:off x="8766810" y="4533138"/>
            <a:ext cx="3143250" cy="442569"/>
          </a:xfrm>
          <a:prstGeom prst="rect">
            <a:avLst/>
          </a:prstGeom>
          <a:solidFill>
            <a:srgbClr val="FDEBD9"/>
          </a:solidFill>
          <a:ln w="12700">
            <a:solidFill>
              <a:srgbClr val="6B7080"/>
            </a:solidFill>
          </a:ln>
        </p:spPr>
        <p:style>
          <a:lnRef idx="1">
            <a:schemeClr val="accent1"/>
          </a:lnRef>
          <a:fillRef idx="3">
            <a:schemeClr val="accent1"/>
          </a:fillRef>
          <a:effectRef idx="2">
            <a:schemeClr val="accent1"/>
          </a:effectRef>
          <a:fontRef idx="minor">
            <a:schemeClr val="lt1"/>
          </a:fontRef>
        </p:style>
        <p:txBody>
          <a:bodyPr wrap="square" lIns="18288" tIns="18288" rIns="18288" bIns="18288" anchor="ctr"/>
          <a:lstStyle/>
          <a:p>
            <a:pPr algn="ctr">
              <a:buNone/>
            </a:pPr>
            <a:r>
              <a:rPr sz="900" b="0">
                <a:solidFill>
                  <a:srgbClr val="6B7080"/>
                </a:solidFill>
                <a:latin typeface="210 OmniGothic 040"/>
                <a:ea typeface="210 OmniGothic 040"/>
                <a:cs typeface="210 OmniGothic 040"/>
              </a:rPr>
              <a:t>&lt;Service&gt;</a:t>
            </a:r>
          </a:p>
          <a:p>
            <a:pPr algn="ctr">
              <a:buNone/>
            </a:pPr>
            <a:r>
              <a:rPr sz="1200" b="1">
                <a:solidFill>
                  <a:srgbClr val="2E3142"/>
                </a:solidFill>
                <a:latin typeface="210 OmniGothic 040"/>
                <a:ea typeface="210 OmniGothic 040"/>
                <a:cs typeface="210 OmniGothic 040"/>
              </a:rPr>
              <a:t>RuleEngine</a:t>
            </a:r>
          </a:p>
        </p:txBody>
      </p:sp>
      <p:sp>
        <p:nvSpPr>
          <p:cNvPr id="5425" name="TextBox 5424">
            <a:extLst>
              <a:ext uri="{FF2B5EF4-FFF2-40B4-BE49-F238E27FC236}">
                <a16:creationId xmlns:a16="http://schemas.microsoft.com/office/drawing/2014/main" id="{6F0D5881-087E-470D-B035-E1113318C59A}"/>
              </a:ext>
            </a:extLst>
          </p:cNvPr>
          <p:cNvSpPr>
            <a:spLocks noGrp="1"/>
          </p:cNvSpPr>
          <p:nvPr/>
        </p:nvSpPr>
        <p:spPr>
          <a:xfrm>
            <a:off x="8846820" y="5015941"/>
            <a:ext cx="3028950" cy="321868"/>
          </a:xfrm>
          <a:prstGeom prst="rect">
            <a:avLst/>
          </a:prstGeom>
          <a:noFill/>
        </p:spPr>
        <p:txBody>
          <a:bodyPr wrap="square" lIns="0" tIns="0" rIns="0" bIns="0" anchor="t">
            <a:spAutoFit/>
          </a:bodyPr>
          <a:lstStyle/>
          <a:p>
            <a:pPr algn="l">
              <a:lnSpc>
                <a:spcPct val="100000"/>
              </a:lnSpc>
              <a:buNone/>
            </a:pPr>
            <a:r>
              <a:rPr sz="1000" b="0">
                <a:solidFill>
                  <a:srgbClr val="2E3142"/>
                </a:solidFill>
                <a:latin typeface="Consolas"/>
                <a:ea typeface="Consolas"/>
                <a:cs typeface="Consolas"/>
              </a:rPr>
              <a:t>evaluate() · judge_fire() · judge_evac()</a:t>
            </a:r>
          </a:p>
        </p:txBody>
      </p:sp>
      <p:sp>
        <p:nvSpPr>
          <p:cNvPr id="5426" name="Rectangle 5425">
            <a:extLst>
              <a:ext uri="{FF2B5EF4-FFF2-40B4-BE49-F238E27FC236}">
                <a16:creationId xmlns:a16="http://schemas.microsoft.com/office/drawing/2014/main" id="{F28EE246-7191-4A86-8F1A-9D0A9F50DF0A}"/>
              </a:ext>
            </a:extLst>
          </p:cNvPr>
          <p:cNvSpPr>
            <a:spLocks noGrp="1"/>
          </p:cNvSpPr>
          <p:nvPr/>
        </p:nvSpPr>
        <p:spPr>
          <a:xfrm>
            <a:off x="8766810" y="6901891"/>
            <a:ext cx="3143250" cy="668883"/>
          </a:xfrm>
          <a:prstGeom prst="rect">
            <a:avLst/>
          </a:prstGeom>
          <a:solidFill>
            <a:srgbClr val="FFFFFF"/>
          </a:solidFill>
          <a:ln w="12700">
            <a:solidFill>
              <a:srgbClr val="6B7080"/>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endParaRPr/>
          </a:p>
        </p:txBody>
      </p:sp>
      <p:sp>
        <p:nvSpPr>
          <p:cNvPr id="5427" name="Rectangle 5426">
            <a:extLst>
              <a:ext uri="{FF2B5EF4-FFF2-40B4-BE49-F238E27FC236}">
                <a16:creationId xmlns:a16="http://schemas.microsoft.com/office/drawing/2014/main" id="{34D6D1CD-53CC-4F89-8870-C4567586D0B5}"/>
              </a:ext>
            </a:extLst>
          </p:cNvPr>
          <p:cNvSpPr>
            <a:spLocks noGrp="1"/>
          </p:cNvSpPr>
          <p:nvPr/>
        </p:nvSpPr>
        <p:spPr>
          <a:xfrm>
            <a:off x="8766810" y="6901891"/>
            <a:ext cx="3143250" cy="442569"/>
          </a:xfrm>
          <a:prstGeom prst="rect">
            <a:avLst/>
          </a:prstGeom>
          <a:solidFill>
            <a:srgbClr val="FDEBD9"/>
          </a:solidFill>
          <a:ln w="12700">
            <a:solidFill>
              <a:srgbClr val="6B7080"/>
            </a:solidFill>
          </a:ln>
        </p:spPr>
        <p:style>
          <a:lnRef idx="1">
            <a:schemeClr val="accent1"/>
          </a:lnRef>
          <a:fillRef idx="3">
            <a:schemeClr val="accent1"/>
          </a:fillRef>
          <a:effectRef idx="2">
            <a:schemeClr val="accent1"/>
          </a:effectRef>
          <a:fontRef idx="minor">
            <a:schemeClr val="lt1"/>
          </a:fontRef>
        </p:style>
        <p:txBody>
          <a:bodyPr wrap="square" lIns="18288" tIns="18288" rIns="18288" bIns="18288" anchor="ctr"/>
          <a:lstStyle/>
          <a:p>
            <a:pPr algn="ctr">
              <a:buNone/>
            </a:pPr>
            <a:r>
              <a:rPr sz="900" b="0">
                <a:solidFill>
                  <a:srgbClr val="6B7080"/>
                </a:solidFill>
                <a:latin typeface="210 OmniGothic 040"/>
                <a:ea typeface="210 OmniGothic 040"/>
                <a:cs typeface="210 OmniGothic 040"/>
              </a:rPr>
              <a:t>&lt;Service&gt;</a:t>
            </a:r>
          </a:p>
          <a:p>
            <a:pPr algn="ctr">
              <a:buNone/>
            </a:pPr>
            <a:r>
              <a:rPr sz="1200" b="1">
                <a:solidFill>
                  <a:srgbClr val="2E3142"/>
                </a:solidFill>
                <a:latin typeface="210 OmniGothic 040"/>
                <a:ea typeface="210 OmniGothic 040"/>
                <a:cs typeface="210 OmniGothic 040"/>
              </a:rPr>
              <a:t>Retriever</a:t>
            </a:r>
          </a:p>
        </p:txBody>
      </p:sp>
      <p:sp>
        <p:nvSpPr>
          <p:cNvPr id="5428" name="TextBox 5427">
            <a:extLst>
              <a:ext uri="{FF2B5EF4-FFF2-40B4-BE49-F238E27FC236}">
                <a16:creationId xmlns:a16="http://schemas.microsoft.com/office/drawing/2014/main" id="{65728B94-84A7-454A-A42B-4E9B9367C61D}"/>
              </a:ext>
            </a:extLst>
          </p:cNvPr>
          <p:cNvSpPr>
            <a:spLocks noGrp="1"/>
          </p:cNvSpPr>
          <p:nvPr/>
        </p:nvSpPr>
        <p:spPr>
          <a:xfrm>
            <a:off x="8846820" y="7384694"/>
            <a:ext cx="3028950" cy="165963"/>
          </a:xfrm>
          <a:prstGeom prst="rect">
            <a:avLst/>
          </a:prstGeom>
          <a:noFill/>
        </p:spPr>
        <p:txBody>
          <a:bodyPr wrap="square" lIns="0" tIns="0" rIns="0" bIns="0" anchor="t">
            <a:spAutoFit/>
          </a:bodyPr>
          <a:lstStyle/>
          <a:p>
            <a:pPr algn="l">
              <a:lnSpc>
                <a:spcPct val="100000"/>
              </a:lnSpc>
              <a:buNone/>
            </a:pPr>
            <a:r>
              <a:rPr sz="1000" b="0">
                <a:solidFill>
                  <a:srgbClr val="2E3142"/>
                </a:solidFill>
                <a:latin typeface="Consolas"/>
                <a:ea typeface="Consolas"/>
                <a:cs typeface="Consolas"/>
              </a:rPr>
              <a:t>search()</a:t>
            </a:r>
          </a:p>
        </p:txBody>
      </p:sp>
      <p:sp>
        <p:nvSpPr>
          <p:cNvPr id="5429" name="Rectangle 5428">
            <a:extLst>
              <a:ext uri="{FF2B5EF4-FFF2-40B4-BE49-F238E27FC236}">
                <a16:creationId xmlns:a16="http://schemas.microsoft.com/office/drawing/2014/main" id="{14D77822-8EC6-4872-BB64-B01E2462DCD1}"/>
              </a:ext>
            </a:extLst>
          </p:cNvPr>
          <p:cNvSpPr>
            <a:spLocks noGrp="1"/>
          </p:cNvSpPr>
          <p:nvPr/>
        </p:nvSpPr>
        <p:spPr>
          <a:xfrm>
            <a:off x="12710159" y="4130802"/>
            <a:ext cx="3143250" cy="668883"/>
          </a:xfrm>
          <a:prstGeom prst="rect">
            <a:avLst/>
          </a:prstGeom>
          <a:solidFill>
            <a:srgbClr val="FFFFFF"/>
          </a:solidFill>
          <a:ln w="12700">
            <a:solidFill>
              <a:srgbClr val="6B7080"/>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endParaRPr/>
          </a:p>
        </p:txBody>
      </p:sp>
      <p:sp>
        <p:nvSpPr>
          <p:cNvPr id="5430" name="Rectangle 5429">
            <a:extLst>
              <a:ext uri="{FF2B5EF4-FFF2-40B4-BE49-F238E27FC236}">
                <a16:creationId xmlns:a16="http://schemas.microsoft.com/office/drawing/2014/main" id="{948B270D-445D-4B35-8604-9F46F71A98BC}"/>
              </a:ext>
            </a:extLst>
          </p:cNvPr>
          <p:cNvSpPr>
            <a:spLocks noGrp="1"/>
          </p:cNvSpPr>
          <p:nvPr/>
        </p:nvSpPr>
        <p:spPr>
          <a:xfrm>
            <a:off x="12710159" y="4130802"/>
            <a:ext cx="3143250" cy="442569"/>
          </a:xfrm>
          <a:prstGeom prst="rect">
            <a:avLst/>
          </a:prstGeom>
          <a:solidFill>
            <a:srgbClr val="E4E4E4"/>
          </a:solidFill>
          <a:ln w="12700">
            <a:solidFill>
              <a:srgbClr val="6B7080"/>
            </a:solidFill>
          </a:ln>
        </p:spPr>
        <p:style>
          <a:lnRef idx="1">
            <a:schemeClr val="accent1"/>
          </a:lnRef>
          <a:fillRef idx="3">
            <a:schemeClr val="accent1"/>
          </a:fillRef>
          <a:effectRef idx="2">
            <a:schemeClr val="accent1"/>
          </a:effectRef>
          <a:fontRef idx="minor">
            <a:schemeClr val="lt1"/>
          </a:fontRef>
        </p:style>
        <p:txBody>
          <a:bodyPr wrap="square" lIns="18288" tIns="18288" rIns="18288" bIns="18288" anchor="ctr"/>
          <a:lstStyle/>
          <a:p>
            <a:pPr algn="ctr">
              <a:buNone/>
            </a:pPr>
            <a:r>
              <a:rPr sz="900" b="0">
                <a:solidFill>
                  <a:srgbClr val="6B7080"/>
                </a:solidFill>
                <a:latin typeface="210 OmniGothic 040"/>
                <a:ea typeface="210 OmniGothic 040"/>
                <a:cs typeface="210 OmniGothic 040"/>
              </a:rPr>
              <a:t>&lt;External System&gt;</a:t>
            </a:r>
          </a:p>
          <a:p>
            <a:pPr algn="ctr">
              <a:buNone/>
            </a:pPr>
            <a:r>
              <a:rPr sz="1200" b="1">
                <a:solidFill>
                  <a:srgbClr val="2E3142"/>
                </a:solidFill>
                <a:latin typeface="210 OmniGothic 040"/>
                <a:ea typeface="210 OmniGothic 040"/>
                <a:cs typeface="210 OmniGothic 040"/>
              </a:rPr>
              <a:t>WeatherClient</a:t>
            </a:r>
          </a:p>
        </p:txBody>
      </p:sp>
      <p:sp>
        <p:nvSpPr>
          <p:cNvPr id="5431" name="TextBox 5430">
            <a:extLst>
              <a:ext uri="{FF2B5EF4-FFF2-40B4-BE49-F238E27FC236}">
                <a16:creationId xmlns:a16="http://schemas.microsoft.com/office/drawing/2014/main" id="{758B69A9-F8CF-43D3-8F45-AC5F2954CFD3}"/>
              </a:ext>
            </a:extLst>
          </p:cNvPr>
          <p:cNvSpPr>
            <a:spLocks noGrp="1"/>
          </p:cNvSpPr>
          <p:nvPr/>
        </p:nvSpPr>
        <p:spPr>
          <a:xfrm>
            <a:off x="12790169" y="4613605"/>
            <a:ext cx="3028950" cy="165963"/>
          </a:xfrm>
          <a:prstGeom prst="rect">
            <a:avLst/>
          </a:prstGeom>
          <a:noFill/>
        </p:spPr>
        <p:txBody>
          <a:bodyPr wrap="square" lIns="0" tIns="0" rIns="0" bIns="0" anchor="t">
            <a:spAutoFit/>
          </a:bodyPr>
          <a:lstStyle/>
          <a:p>
            <a:pPr algn="l">
              <a:lnSpc>
                <a:spcPct val="100000"/>
              </a:lnSpc>
              <a:buNone/>
            </a:pPr>
            <a:r>
              <a:rPr sz="1000" b="0">
                <a:solidFill>
                  <a:srgbClr val="2E3142"/>
                </a:solidFill>
                <a:latin typeface="Consolas"/>
                <a:ea typeface="Consolas"/>
                <a:cs typeface="Consolas"/>
              </a:rPr>
              <a:t>get_forecast()</a:t>
            </a:r>
          </a:p>
        </p:txBody>
      </p:sp>
      <p:sp>
        <p:nvSpPr>
          <p:cNvPr id="5432" name="Rectangle 5431">
            <a:extLst>
              <a:ext uri="{FF2B5EF4-FFF2-40B4-BE49-F238E27FC236}">
                <a16:creationId xmlns:a16="http://schemas.microsoft.com/office/drawing/2014/main" id="{7496E850-52E0-4508-AD0F-95EB4C09FD77}"/>
              </a:ext>
            </a:extLst>
          </p:cNvPr>
          <p:cNvSpPr>
            <a:spLocks noGrp="1"/>
          </p:cNvSpPr>
          <p:nvPr/>
        </p:nvSpPr>
        <p:spPr>
          <a:xfrm>
            <a:off x="12710159" y="3260750"/>
            <a:ext cx="3143250" cy="668883"/>
          </a:xfrm>
          <a:prstGeom prst="rect">
            <a:avLst/>
          </a:prstGeom>
          <a:solidFill>
            <a:srgbClr val="FFFFFF"/>
          </a:solidFill>
          <a:ln w="12700">
            <a:solidFill>
              <a:srgbClr val="6B7080"/>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endParaRPr/>
          </a:p>
        </p:txBody>
      </p:sp>
      <p:sp>
        <p:nvSpPr>
          <p:cNvPr id="5433" name="Rectangle 5432">
            <a:extLst>
              <a:ext uri="{FF2B5EF4-FFF2-40B4-BE49-F238E27FC236}">
                <a16:creationId xmlns:a16="http://schemas.microsoft.com/office/drawing/2014/main" id="{F4A6912C-66E7-48A9-BD45-D28C43FAC78F}"/>
              </a:ext>
            </a:extLst>
          </p:cNvPr>
          <p:cNvSpPr>
            <a:spLocks noGrp="1"/>
          </p:cNvSpPr>
          <p:nvPr/>
        </p:nvSpPr>
        <p:spPr>
          <a:xfrm>
            <a:off x="12710159" y="3260750"/>
            <a:ext cx="3143250" cy="442569"/>
          </a:xfrm>
          <a:prstGeom prst="rect">
            <a:avLst/>
          </a:prstGeom>
          <a:solidFill>
            <a:srgbClr val="E4E4E4"/>
          </a:solidFill>
          <a:ln w="12700">
            <a:solidFill>
              <a:srgbClr val="6B7080"/>
            </a:solidFill>
          </a:ln>
        </p:spPr>
        <p:style>
          <a:lnRef idx="1">
            <a:schemeClr val="accent1"/>
          </a:lnRef>
          <a:fillRef idx="3">
            <a:schemeClr val="accent1"/>
          </a:fillRef>
          <a:effectRef idx="2">
            <a:schemeClr val="accent1"/>
          </a:effectRef>
          <a:fontRef idx="minor">
            <a:schemeClr val="lt1"/>
          </a:fontRef>
        </p:style>
        <p:txBody>
          <a:bodyPr wrap="square" lIns="18288" tIns="18288" rIns="18288" bIns="18288" anchor="ctr"/>
          <a:lstStyle/>
          <a:p>
            <a:pPr algn="ctr">
              <a:buNone/>
            </a:pPr>
            <a:r>
              <a:rPr sz="900" b="0">
                <a:solidFill>
                  <a:srgbClr val="6B7080"/>
                </a:solidFill>
                <a:latin typeface="210 OmniGothic 040"/>
                <a:ea typeface="210 OmniGothic 040"/>
                <a:cs typeface="210 OmniGothic 040"/>
              </a:rPr>
              <a:t>&lt;External System&gt;</a:t>
            </a:r>
          </a:p>
          <a:p>
            <a:pPr algn="ctr">
              <a:buNone/>
            </a:pPr>
            <a:r>
              <a:rPr sz="1200" b="1">
                <a:solidFill>
                  <a:srgbClr val="2E3142"/>
                </a:solidFill>
                <a:latin typeface="210 OmniGothic 040"/>
                <a:ea typeface="210 OmniGothic 040"/>
                <a:cs typeface="210 OmniGothic 040"/>
              </a:rPr>
              <a:t>ElmfireAdapter</a:t>
            </a:r>
          </a:p>
        </p:txBody>
      </p:sp>
      <p:sp>
        <p:nvSpPr>
          <p:cNvPr id="5434" name="TextBox 5433">
            <a:extLst>
              <a:ext uri="{FF2B5EF4-FFF2-40B4-BE49-F238E27FC236}">
                <a16:creationId xmlns:a16="http://schemas.microsoft.com/office/drawing/2014/main" id="{5C9A840F-2CBC-45CC-A7B3-E48374895FF7}"/>
              </a:ext>
            </a:extLst>
          </p:cNvPr>
          <p:cNvSpPr>
            <a:spLocks noGrp="1"/>
          </p:cNvSpPr>
          <p:nvPr/>
        </p:nvSpPr>
        <p:spPr>
          <a:xfrm>
            <a:off x="12790169" y="3743553"/>
            <a:ext cx="3028950" cy="165963"/>
          </a:xfrm>
          <a:prstGeom prst="rect">
            <a:avLst/>
          </a:prstGeom>
          <a:noFill/>
        </p:spPr>
        <p:txBody>
          <a:bodyPr wrap="square" lIns="0" tIns="0" rIns="0" bIns="0" anchor="t">
            <a:spAutoFit/>
          </a:bodyPr>
          <a:lstStyle/>
          <a:p>
            <a:pPr algn="l">
              <a:lnSpc>
                <a:spcPct val="100000"/>
              </a:lnSpc>
              <a:buNone/>
            </a:pPr>
            <a:r>
              <a:rPr sz="1000" b="0">
                <a:solidFill>
                  <a:srgbClr val="2E3142"/>
                </a:solidFill>
                <a:latin typeface="Consolas"/>
                <a:ea typeface="Consolas"/>
                <a:cs typeface="Consolas"/>
              </a:rPr>
              <a:t>prepare() · execute() · to_slices()</a:t>
            </a:r>
          </a:p>
        </p:txBody>
      </p:sp>
      <p:sp>
        <p:nvSpPr>
          <p:cNvPr id="5435" name="Rectangle 5434">
            <a:extLst>
              <a:ext uri="{FF2B5EF4-FFF2-40B4-BE49-F238E27FC236}">
                <a16:creationId xmlns:a16="http://schemas.microsoft.com/office/drawing/2014/main" id="{0F6D4897-F00D-4D2E-AEB1-EB8EDE47CD53}"/>
              </a:ext>
            </a:extLst>
          </p:cNvPr>
          <p:cNvSpPr>
            <a:spLocks noGrp="1"/>
          </p:cNvSpPr>
          <p:nvPr/>
        </p:nvSpPr>
        <p:spPr>
          <a:xfrm>
            <a:off x="12710159" y="5730087"/>
            <a:ext cx="3143250" cy="980694"/>
          </a:xfrm>
          <a:prstGeom prst="rect">
            <a:avLst/>
          </a:prstGeom>
          <a:solidFill>
            <a:srgbClr val="FFFFFF"/>
          </a:solidFill>
          <a:ln w="12700">
            <a:solidFill>
              <a:srgbClr val="6B7080"/>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endParaRPr/>
          </a:p>
        </p:txBody>
      </p:sp>
      <p:sp>
        <p:nvSpPr>
          <p:cNvPr id="5436" name="Rectangle 5435">
            <a:extLst>
              <a:ext uri="{FF2B5EF4-FFF2-40B4-BE49-F238E27FC236}">
                <a16:creationId xmlns:a16="http://schemas.microsoft.com/office/drawing/2014/main" id="{1F7AE753-F434-4F28-BC57-BB834BDDA902}"/>
              </a:ext>
            </a:extLst>
          </p:cNvPr>
          <p:cNvSpPr>
            <a:spLocks noGrp="1"/>
          </p:cNvSpPr>
          <p:nvPr/>
        </p:nvSpPr>
        <p:spPr>
          <a:xfrm>
            <a:off x="12710159" y="5730087"/>
            <a:ext cx="3143250" cy="442569"/>
          </a:xfrm>
          <a:prstGeom prst="rect">
            <a:avLst/>
          </a:prstGeom>
          <a:solidFill>
            <a:srgbClr val="E4E4E4"/>
          </a:solidFill>
          <a:ln w="12700">
            <a:solidFill>
              <a:srgbClr val="6B7080"/>
            </a:solidFill>
          </a:ln>
        </p:spPr>
        <p:style>
          <a:lnRef idx="1">
            <a:schemeClr val="accent1"/>
          </a:lnRef>
          <a:fillRef idx="3">
            <a:schemeClr val="accent1"/>
          </a:fillRef>
          <a:effectRef idx="2">
            <a:schemeClr val="accent1"/>
          </a:effectRef>
          <a:fontRef idx="minor">
            <a:schemeClr val="lt1"/>
          </a:fontRef>
        </p:style>
        <p:txBody>
          <a:bodyPr wrap="square" lIns="18288" tIns="18288" rIns="18288" bIns="18288" anchor="ctr"/>
          <a:lstStyle/>
          <a:p>
            <a:pPr algn="ctr">
              <a:buNone/>
            </a:pPr>
            <a:r>
              <a:rPr sz="900" b="0">
                <a:solidFill>
                  <a:srgbClr val="6B7080"/>
                </a:solidFill>
                <a:latin typeface="210 OmniGothic 040"/>
                <a:ea typeface="210 OmniGothic 040"/>
                <a:cs typeface="210 OmniGothic 040"/>
              </a:rPr>
              <a:t>&lt;External System&gt;</a:t>
            </a:r>
          </a:p>
          <a:p>
            <a:pPr algn="ctr">
              <a:buNone/>
            </a:pPr>
            <a:r>
              <a:rPr sz="1200" b="1">
                <a:solidFill>
                  <a:srgbClr val="2E3142"/>
                </a:solidFill>
                <a:latin typeface="210 OmniGothic 040"/>
                <a:ea typeface="210 OmniGothic 040"/>
                <a:cs typeface="210 OmniGothic 040"/>
              </a:rPr>
              <a:t>LLMClient</a:t>
            </a:r>
          </a:p>
        </p:txBody>
      </p:sp>
      <p:sp>
        <p:nvSpPr>
          <p:cNvPr id="5437" name="TextBox 5436">
            <a:extLst>
              <a:ext uri="{FF2B5EF4-FFF2-40B4-BE49-F238E27FC236}">
                <a16:creationId xmlns:a16="http://schemas.microsoft.com/office/drawing/2014/main" id="{9F695AF3-22FC-4C03-99DD-84D286B693AE}"/>
              </a:ext>
            </a:extLst>
          </p:cNvPr>
          <p:cNvSpPr>
            <a:spLocks noGrp="1"/>
          </p:cNvSpPr>
          <p:nvPr/>
        </p:nvSpPr>
        <p:spPr>
          <a:xfrm>
            <a:off x="12790169" y="6212890"/>
            <a:ext cx="3028950" cy="477774"/>
          </a:xfrm>
          <a:prstGeom prst="rect">
            <a:avLst/>
          </a:prstGeom>
          <a:noFill/>
        </p:spPr>
        <p:txBody>
          <a:bodyPr wrap="square" lIns="0" tIns="0" rIns="0" bIns="0" anchor="t">
            <a:spAutoFit/>
          </a:bodyPr>
          <a:lstStyle/>
          <a:p>
            <a:pPr algn="l">
              <a:lnSpc>
                <a:spcPct val="100000"/>
              </a:lnSpc>
              <a:buNone/>
            </a:pPr>
            <a:r>
              <a:rPr sz="1000" b="0">
                <a:solidFill>
                  <a:srgbClr val="2E3142"/>
                </a:solidFill>
                <a:latin typeface="Consolas"/>
                <a:ea typeface="Consolas"/>
                <a:cs typeface="Consolas"/>
              </a:rPr>
              <a:t>write_questions() · answer() · check_conflicts() · synthesize() · parse_correction()</a:t>
            </a:r>
          </a:p>
        </p:txBody>
      </p:sp>
      <p:sp>
        <p:nvSpPr>
          <p:cNvPr id="5438" name="Rounded Rectangle 5437">
            <a:extLst>
              <a:ext uri="{FF2B5EF4-FFF2-40B4-BE49-F238E27FC236}">
                <a16:creationId xmlns:a16="http://schemas.microsoft.com/office/drawing/2014/main" id="{0872DBE1-EBDC-4CC6-B5B2-F570FCCB3D49}"/>
              </a:ext>
            </a:extLst>
          </p:cNvPr>
          <p:cNvSpPr>
            <a:spLocks noGrp="1"/>
          </p:cNvSpPr>
          <p:nvPr/>
        </p:nvSpPr>
        <p:spPr>
          <a:xfrm>
            <a:off x="12710159" y="7012533"/>
            <a:ext cx="4171950" cy="1719986"/>
          </a:xfrm>
          <a:prstGeom prst="roundRect">
            <a:avLst>
              <a:gd name="adj" fmla="val 5000"/>
            </a:avLst>
          </a:prstGeom>
          <a:solidFill>
            <a:srgbClr val="F8F9FB"/>
          </a:solidFill>
          <a:ln w="11430">
            <a:solidFill>
              <a:srgbClr val="B6BCCB"/>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endParaRPr/>
          </a:p>
        </p:txBody>
      </p:sp>
      <p:sp>
        <p:nvSpPr>
          <p:cNvPr id="5439" name="Oval 5438">
            <a:extLst>
              <a:ext uri="{FF2B5EF4-FFF2-40B4-BE49-F238E27FC236}">
                <a16:creationId xmlns:a16="http://schemas.microsoft.com/office/drawing/2014/main" id="{0FB419C7-82AA-4122-8BF6-B7206EBC76D8}"/>
              </a:ext>
            </a:extLst>
          </p:cNvPr>
          <p:cNvSpPr>
            <a:spLocks noGrp="1"/>
          </p:cNvSpPr>
          <p:nvPr/>
        </p:nvSpPr>
        <p:spPr>
          <a:xfrm>
            <a:off x="12876123" y="7133234"/>
            <a:ext cx="422452" cy="422452"/>
          </a:xfrm>
          <a:prstGeom prst="ellipse">
            <a:avLst/>
          </a:prstGeom>
          <a:solidFill>
            <a:srgbClr val="FDEBD9"/>
          </a:solidFill>
          <a:ln>
            <a:no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endParaRPr/>
          </a:p>
        </p:txBody>
      </p:sp>
      <p:pic>
        <p:nvPicPr>
          <p:cNvPr id="5556" name="Picture 5439"/>
          <p:cNvPicPr>
            <a:picLocks noChangeAspect="1"/>
          </p:cNvPicPr>
          <p:nvPr/>
        </p:nvPicPr>
        <p:blipFill>
          <a:blip r:embed="rId7"/>
          <a:stretch>
            <a:fillRect/>
          </a:stretch>
        </p:blipFill>
        <p:spPr>
          <a:xfrm>
            <a:off x="12977512" y="7234623"/>
            <a:ext cx="219675" cy="219675"/>
          </a:xfrm>
          <a:prstGeom prst="rect">
            <a:avLst/>
          </a:prstGeom>
        </p:spPr>
      </p:pic>
      <p:sp>
        <p:nvSpPr>
          <p:cNvPr id="5441" name="TextBox 5440">
            <a:extLst>
              <a:ext uri="{FF2B5EF4-FFF2-40B4-BE49-F238E27FC236}">
                <a16:creationId xmlns:a16="http://schemas.microsoft.com/office/drawing/2014/main" id="{872B24DA-323E-46BF-BBC4-8D1F33F3BA40}"/>
              </a:ext>
            </a:extLst>
          </p:cNvPr>
          <p:cNvSpPr>
            <a:spLocks noGrp="1"/>
          </p:cNvSpPr>
          <p:nvPr/>
        </p:nvSpPr>
        <p:spPr>
          <a:xfrm>
            <a:off x="13418819" y="7093000"/>
            <a:ext cx="3371850" cy="1669694"/>
          </a:xfrm>
          <a:prstGeom prst="rect">
            <a:avLst/>
          </a:prstGeom>
          <a:noFill/>
        </p:spPr>
        <p:txBody>
          <a:bodyPr wrap="square" lIns="0" tIns="0" rIns="0" bIns="0" anchor="t">
            <a:spAutoFit/>
          </a:bodyPr>
          <a:lstStyle/>
          <a:p>
            <a:pPr algn="l">
              <a:lnSpc>
                <a:spcPct val="105000"/>
              </a:lnSpc>
              <a:buNone/>
            </a:pPr>
            <a:r>
              <a:rPr sz="1150" b="1">
                <a:solidFill>
                  <a:srgbClr val="2E3142"/>
                </a:solidFill>
                <a:latin typeface="210 OmniGothic 040"/>
                <a:ea typeface="210 OmniGothic 040"/>
                <a:cs typeface="210 OmniGothic 040"/>
              </a:rPr>
              <a:t>저장소</a:t>
            </a:r>
          </a:p>
          <a:p>
            <a:pPr algn="l">
              <a:lnSpc>
                <a:spcPct val="105000"/>
              </a:lnSpc>
              <a:buNone/>
            </a:pPr>
            <a:r>
              <a:rPr sz="900" b="0">
                <a:solidFill>
                  <a:srgbClr val="2E3142"/>
                </a:solidFill>
                <a:latin typeface="210 OmniGothic 040"/>
                <a:ea typeface="210 OmniGothic 040"/>
                <a:cs typeface="210 OmniGothic 040"/>
              </a:rPr>
              <a:t>PostGIS: users · incidents · fire_perimeters · resources · prediction_runs · spread_slices · proposals · proposal_items · situation_corrections · chat_messages · event_logs</a:t>
            </a:r>
          </a:p>
          <a:p>
            <a:pPr algn="l">
              <a:lnSpc>
                <a:spcPct val="105000"/>
              </a:lnSpc>
              <a:spcBef>
                <a:spcPts val="345"/>
              </a:spcBef>
              <a:buNone/>
            </a:pPr>
            <a:r>
              <a:rPr sz="900" b="0">
                <a:solidFill>
                  <a:srgbClr val="2E3142"/>
                </a:solidFill>
                <a:latin typeface="210 OmniGothic 040"/>
                <a:ea typeface="210 OmniGothic 040"/>
                <a:cs typeface="210 OmniGothic 040"/>
              </a:rPr>
              <a:t>SQLite + FAISS: evidence_chunks</a:t>
            </a:r>
          </a:p>
        </p:txBody>
      </p:sp>
      <p:sp>
        <p:nvSpPr>
          <p:cNvPr id="5442" name="Rectangle 5441">
            <a:extLst>
              <a:ext uri="{FF2B5EF4-FFF2-40B4-BE49-F238E27FC236}">
                <a16:creationId xmlns:a16="http://schemas.microsoft.com/office/drawing/2014/main" id="{0652AD9E-A518-4EA3-9FB0-DA61EF905223}"/>
              </a:ext>
            </a:extLst>
          </p:cNvPr>
          <p:cNvSpPr>
            <a:spLocks noGrp="1"/>
          </p:cNvSpPr>
          <p:nvPr/>
        </p:nvSpPr>
        <p:spPr>
          <a:xfrm>
            <a:off x="880109" y="8953804"/>
            <a:ext cx="342900" cy="181051"/>
          </a:xfrm>
          <a:prstGeom prst="rect">
            <a:avLst/>
          </a:prstGeom>
          <a:solidFill>
            <a:srgbClr val="E6E9F5"/>
          </a:solidFill>
          <a:ln w="8890">
            <a:solidFill>
              <a:srgbClr val="6B7080"/>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endParaRPr/>
          </a:p>
        </p:txBody>
      </p:sp>
      <p:sp>
        <p:nvSpPr>
          <p:cNvPr id="5443" name="TextBox 5442">
            <a:extLst>
              <a:ext uri="{FF2B5EF4-FFF2-40B4-BE49-F238E27FC236}">
                <a16:creationId xmlns:a16="http://schemas.microsoft.com/office/drawing/2014/main" id="{6AEB5342-FB93-47D6-BAA6-DE94EA486431}"/>
              </a:ext>
            </a:extLst>
          </p:cNvPr>
          <p:cNvSpPr>
            <a:spLocks noGrp="1"/>
          </p:cNvSpPr>
          <p:nvPr/>
        </p:nvSpPr>
        <p:spPr>
          <a:xfrm>
            <a:off x="1280160" y="8913571"/>
            <a:ext cx="2171700" cy="251460"/>
          </a:xfrm>
          <a:prstGeom prst="rect">
            <a:avLst/>
          </a:prstGeom>
          <a:noFill/>
        </p:spPr>
        <p:txBody>
          <a:bodyPr wrap="square" lIns="0" tIns="0" rIns="0" bIns="0" anchor="t">
            <a:spAutoFit/>
          </a:bodyPr>
          <a:lstStyle/>
          <a:p>
            <a:pPr algn="l">
              <a:buNone/>
            </a:pPr>
            <a:r>
              <a:rPr sz="1000" b="0">
                <a:solidFill>
                  <a:srgbClr val="363A52"/>
                </a:solidFill>
                <a:latin typeface="210 OmniGothic 040"/>
                <a:ea typeface="210 OmniGothic 040"/>
                <a:cs typeface="210 OmniGothic 040"/>
              </a:rPr>
              <a:t>&lt;Router&gt; API 엔드포인트</a:t>
            </a:r>
          </a:p>
        </p:txBody>
      </p:sp>
      <p:sp>
        <p:nvSpPr>
          <p:cNvPr id="5444" name="Rectangle 5443">
            <a:extLst>
              <a:ext uri="{FF2B5EF4-FFF2-40B4-BE49-F238E27FC236}">
                <a16:creationId xmlns:a16="http://schemas.microsoft.com/office/drawing/2014/main" id="{C77B5A2F-4785-4031-9DC8-E92FEE824AFB}"/>
              </a:ext>
            </a:extLst>
          </p:cNvPr>
          <p:cNvSpPr>
            <a:spLocks noGrp="1"/>
          </p:cNvSpPr>
          <p:nvPr/>
        </p:nvSpPr>
        <p:spPr>
          <a:xfrm>
            <a:off x="3394710" y="8953804"/>
            <a:ext cx="342900" cy="181051"/>
          </a:xfrm>
          <a:prstGeom prst="rect">
            <a:avLst/>
          </a:prstGeom>
          <a:solidFill>
            <a:srgbClr val="FDEBD9"/>
          </a:solidFill>
          <a:ln w="8890">
            <a:solidFill>
              <a:srgbClr val="6B7080"/>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endParaRPr/>
          </a:p>
        </p:txBody>
      </p:sp>
      <p:sp>
        <p:nvSpPr>
          <p:cNvPr id="5445" name="TextBox 5444">
            <a:extLst>
              <a:ext uri="{FF2B5EF4-FFF2-40B4-BE49-F238E27FC236}">
                <a16:creationId xmlns:a16="http://schemas.microsoft.com/office/drawing/2014/main" id="{BEB8CDFF-723C-4460-8CB4-B528962A4B8A}"/>
              </a:ext>
            </a:extLst>
          </p:cNvPr>
          <p:cNvSpPr>
            <a:spLocks noGrp="1"/>
          </p:cNvSpPr>
          <p:nvPr/>
        </p:nvSpPr>
        <p:spPr>
          <a:xfrm>
            <a:off x="3794760" y="8913571"/>
            <a:ext cx="2171700" cy="251460"/>
          </a:xfrm>
          <a:prstGeom prst="rect">
            <a:avLst/>
          </a:prstGeom>
          <a:noFill/>
        </p:spPr>
        <p:txBody>
          <a:bodyPr wrap="square" lIns="0" tIns="0" rIns="0" bIns="0" anchor="t">
            <a:spAutoFit/>
          </a:bodyPr>
          <a:lstStyle/>
          <a:p>
            <a:pPr algn="l">
              <a:buNone/>
            </a:pPr>
            <a:r>
              <a:rPr sz="1000" b="0">
                <a:solidFill>
                  <a:srgbClr val="363A52"/>
                </a:solidFill>
                <a:latin typeface="210 OmniGothic 040"/>
                <a:ea typeface="210 OmniGothic 040"/>
                <a:cs typeface="210 OmniGothic 040"/>
              </a:rPr>
              <a:t>&lt;Service&gt; 내부 로직</a:t>
            </a:r>
          </a:p>
        </p:txBody>
      </p:sp>
      <p:sp>
        <p:nvSpPr>
          <p:cNvPr id="5446" name="Rectangle 5445">
            <a:extLst>
              <a:ext uri="{FF2B5EF4-FFF2-40B4-BE49-F238E27FC236}">
                <a16:creationId xmlns:a16="http://schemas.microsoft.com/office/drawing/2014/main" id="{73A24C36-6FB2-42C4-8B8D-432DC591364C}"/>
              </a:ext>
            </a:extLst>
          </p:cNvPr>
          <p:cNvSpPr>
            <a:spLocks noGrp="1"/>
          </p:cNvSpPr>
          <p:nvPr/>
        </p:nvSpPr>
        <p:spPr>
          <a:xfrm>
            <a:off x="5909310" y="8953804"/>
            <a:ext cx="342900" cy="181051"/>
          </a:xfrm>
          <a:prstGeom prst="rect">
            <a:avLst/>
          </a:prstGeom>
          <a:solidFill>
            <a:srgbClr val="E4E4E4"/>
          </a:solidFill>
          <a:ln w="8890">
            <a:solidFill>
              <a:srgbClr val="6B7080"/>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endParaRPr/>
          </a:p>
        </p:txBody>
      </p:sp>
      <p:sp>
        <p:nvSpPr>
          <p:cNvPr id="5447" name="TextBox 5446">
            <a:extLst>
              <a:ext uri="{FF2B5EF4-FFF2-40B4-BE49-F238E27FC236}">
                <a16:creationId xmlns:a16="http://schemas.microsoft.com/office/drawing/2014/main" id="{34734C53-3B97-4BEE-922B-593ACAF5203C}"/>
              </a:ext>
            </a:extLst>
          </p:cNvPr>
          <p:cNvSpPr>
            <a:spLocks noGrp="1"/>
          </p:cNvSpPr>
          <p:nvPr/>
        </p:nvSpPr>
        <p:spPr>
          <a:xfrm>
            <a:off x="6309360" y="8913571"/>
            <a:ext cx="2171700" cy="251460"/>
          </a:xfrm>
          <a:prstGeom prst="rect">
            <a:avLst/>
          </a:prstGeom>
          <a:noFill/>
        </p:spPr>
        <p:txBody>
          <a:bodyPr wrap="square" lIns="0" tIns="0" rIns="0" bIns="0" anchor="t">
            <a:spAutoFit/>
          </a:bodyPr>
          <a:lstStyle/>
          <a:p>
            <a:pPr algn="l">
              <a:buNone/>
            </a:pPr>
            <a:r>
              <a:rPr sz="1000" b="0">
                <a:solidFill>
                  <a:srgbClr val="363A52"/>
                </a:solidFill>
                <a:latin typeface="210 OmniGothic 040"/>
                <a:ea typeface="210 OmniGothic 040"/>
                <a:cs typeface="210 OmniGothic 040"/>
              </a:rPr>
              <a:t>&lt;External&gt; 외부 모델·API</a:t>
            </a:r>
          </a:p>
        </p:txBody>
      </p:sp>
      <p:sp>
        <p:nvSpPr>
          <p:cNvPr id="5448" name="TextBox 5447">
            <a:extLst>
              <a:ext uri="{FF2B5EF4-FFF2-40B4-BE49-F238E27FC236}">
                <a16:creationId xmlns:a16="http://schemas.microsoft.com/office/drawing/2014/main" id="{1D904795-3F92-4265-8563-C45240F0917E}"/>
              </a:ext>
            </a:extLst>
          </p:cNvPr>
          <p:cNvSpPr>
            <a:spLocks noGrp="1"/>
          </p:cNvSpPr>
          <p:nvPr/>
        </p:nvSpPr>
        <p:spPr>
          <a:xfrm>
            <a:off x="8481060" y="8853220"/>
            <a:ext cx="8801100" cy="402336"/>
          </a:xfrm>
          <a:prstGeom prst="rect">
            <a:avLst/>
          </a:prstGeom>
          <a:noFill/>
        </p:spPr>
        <p:txBody>
          <a:bodyPr wrap="square" lIns="0" tIns="0" rIns="0" bIns="0" anchor="t">
            <a:spAutoFit/>
          </a:bodyPr>
          <a:lstStyle/>
          <a:p>
            <a:pPr algn="l">
              <a:lnSpc>
                <a:spcPct val="100000"/>
              </a:lnSpc>
              <a:buNone/>
            </a:pPr>
            <a:r>
              <a:rPr sz="1000" b="0">
                <a:solidFill>
                  <a:srgbClr val="6B7080"/>
                </a:solidFill>
                <a:latin typeface="210 OmniGothic 040"/>
                <a:ea typeface="210 OmniGothic 040"/>
                <a:cs typeface="210 OmniGothic 040"/>
              </a:rPr>
              <a:t>┄▷ 의존(Dependency). Router → Service → External 계층, 모든 Router·Service는 저장소 접근</a:t>
            </a:r>
          </a:p>
          <a:p>
            <a:pPr algn="l">
              <a:lnSpc>
                <a:spcPct val="100000"/>
              </a:lnSpc>
              <a:buNone/>
            </a:pPr>
            <a:r>
              <a:rPr sz="1000" b="0">
                <a:solidFill>
                  <a:srgbClr val="6B7080"/>
                </a:solidFill>
                <a:latin typeface="210 OmniGothic 040"/>
                <a:ea typeface="210 OmniGothic 040"/>
                <a:cs typeface="210 OmniGothic 040"/>
              </a:rPr>
              <a:t>모든 Router는 SecurityService.require_role()로 권한 검사, 상태 변경은 EventLogger.record()로 기록</a:t>
            </a:r>
          </a:p>
        </p:txBody>
      </p:sp>
      <p:sp>
        <p:nvSpPr>
          <p:cNvPr id="5449" name="Connector 5448">
            <a:extLst>
              <a:ext uri="{FF2B5EF4-FFF2-40B4-BE49-F238E27FC236}">
                <a16:creationId xmlns:a16="http://schemas.microsoft.com/office/drawing/2014/main" id="{7E2813FB-3CC3-40A4-9BD2-4F4CB9259819}"/>
              </a:ext>
            </a:extLst>
          </p:cNvPr>
          <p:cNvSpPr>
            <a:spLocks noGrp="1"/>
          </p:cNvSpPr>
          <p:nvPr/>
        </p:nvSpPr>
        <p:spPr>
          <a:xfrm>
            <a:off x="4023360" y="2700000"/>
            <a:ext cx="171450" cy="0"/>
          </a:xfrm>
          <a:prstGeom prst="line">
            <a:avLst/>
          </a:prstGeom>
          <a:ln w="12700">
            <a:solidFill>
              <a:srgbClr val="6B7080"/>
            </a:solidFill>
            <a:prstDash val="dash"/>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5451" name="Connector 5450">
            <a:extLst>
              <a:ext uri="{FF2B5EF4-FFF2-40B4-BE49-F238E27FC236}">
                <a16:creationId xmlns:a16="http://schemas.microsoft.com/office/drawing/2014/main" id="{10436E3F-3C7D-40F9-AE2E-226A92F1941A}"/>
              </a:ext>
            </a:extLst>
          </p:cNvPr>
          <p:cNvSpPr>
            <a:spLocks noGrp="1"/>
          </p:cNvSpPr>
          <p:nvPr/>
        </p:nvSpPr>
        <p:spPr>
          <a:xfrm>
            <a:off x="4194810" y="2700000"/>
            <a:ext cx="0" cy="842384"/>
          </a:xfrm>
          <a:prstGeom prst="line">
            <a:avLst/>
          </a:prstGeom>
          <a:ln w="12700">
            <a:solidFill>
              <a:srgbClr val="6B7080"/>
            </a:solidFill>
            <a:prstDash val="dash"/>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5453" name="Connector 5452">
            <a:extLst>
              <a:ext uri="{FF2B5EF4-FFF2-40B4-BE49-F238E27FC236}">
                <a16:creationId xmlns:a16="http://schemas.microsoft.com/office/drawing/2014/main" id="{213AC4FC-3C8C-43D7-929D-D4F99549EB53}"/>
              </a:ext>
            </a:extLst>
          </p:cNvPr>
          <p:cNvSpPr>
            <a:spLocks noGrp="1"/>
          </p:cNvSpPr>
          <p:nvPr/>
        </p:nvSpPr>
        <p:spPr>
          <a:xfrm>
            <a:off x="4194810" y="3542384"/>
            <a:ext cx="628650" cy="0"/>
          </a:xfrm>
          <a:prstGeom prst="line">
            <a:avLst/>
          </a:prstGeom>
          <a:ln w="12700">
            <a:solidFill>
              <a:srgbClr val="6B7080"/>
            </a:solidFill>
            <a:prstDash val="dash"/>
            <a:tailEnd type="arrow"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9701" name="Connector PS-RS">
            <a:extLst>
              <a:ext uri="{FF2B5EF4-FFF2-40B4-BE49-F238E27FC236}">
                <a16:creationId xmlns:a16="http://schemas.microsoft.com/office/drawing/2014/main" id="{8637A78C-9437-4F9F-8844-8E3E682E1537}"/>
              </a:ext>
            </a:extLst>
          </p:cNvPr>
          <p:cNvSpPr>
            <a:spLocks noGrp="1"/>
          </p:cNvSpPr>
          <p:nvPr/>
        </p:nvSpPr>
        <p:spPr>
          <a:xfrm flipV="1">
            <a:off x="6949440" y="4799685"/>
            <a:ext cx="0" cy="980694"/>
          </a:xfrm>
          <a:prstGeom prst="line">
            <a:avLst/>
          </a:prstGeom>
          <a:ln w="12700">
            <a:solidFill>
              <a:srgbClr val="6B7080"/>
            </a:solidFill>
            <a:prstDash val="dash"/>
            <a:tailEnd type="arrow"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Tree>
    <p:extLst>
      <p:ext uri="{BB962C8B-B14F-4D97-AF65-F5344CB8AC3E}">
        <p14:creationId xmlns:p14="http://schemas.microsoft.com/office/powerpoint/2010/main" val="71350671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57" name="Picture 2">
            <a:extLst>
              <a:ext uri="{FF2B5EF4-FFF2-40B4-BE49-F238E27FC236}">
                <a16:creationId xmlns:a16="http://schemas.microsoft.com/office/drawing/2014/main" id="{F116F513-628E-CD59-0365-83BA34700620}"/>
              </a:ext>
            </a:extLst>
          </p:cNvPr>
          <p:cNvSpPr>
            <a:spLocks noGrp="1"/>
          </p:cNvSpPr>
          <p:nvPr/>
        </p:nvSpPr>
        <p:spPr>
          <a:xfrm>
            <a:off x="-12700" y="-12700"/>
            <a:ext cx="18300700" cy="10299700"/>
          </a:xfrm>
          <a:custGeom>
            <a:avLst/>
            <a:gdLst>
              <a:gd name="csX0" fmla="*/ 0 w 18281422"/>
              <a:gd name="csY0" fmla="*/ 10197723 h 10197722"/>
              <a:gd name="csX1" fmla="*/ 0 w 18281422"/>
              <a:gd name="csY1" fmla="*/ 0 h 10197722"/>
              <a:gd name="csX2" fmla="*/ 18281422 w 18281422"/>
              <a:gd name="csY2" fmla="*/ 0 h 10197722"/>
              <a:gd name="csX3" fmla="*/ 18281422 w 18281422"/>
              <a:gd name="csY3" fmla="*/ 10197723 h 10197722"/>
            </a:gdLst>
            <a:ahLst/>
            <a:cxnLst/>
            <a:rect l="l" t="t" r="r" b="b"/>
            <a:pathLst>
              <a:path w="18281422" h="10197722">
                <a:moveTo>
                  <a:pt x="0" y="10197723"/>
                </a:moveTo>
                <a:lnTo>
                  <a:pt x="0" y="0"/>
                </a:lnTo>
                <a:lnTo>
                  <a:pt x="18281422" y="0"/>
                </a:lnTo>
                <a:lnTo>
                  <a:pt x="18281422" y="10197723"/>
                </a:lnTo>
                <a:close/>
              </a:path>
            </a:pathLst>
          </a:custGeom>
          <a:solidFill>
            <a:srgbClr val="363A52"/>
          </a:solidFill>
          <a:ln w="16144">
            <a:noFill/>
            <a:prstDash val="solid"/>
          </a:ln>
        </p:spPr>
        <p:txBody>
          <a:bodyPr/>
          <a:lstStyle/>
          <a:p>
            <a:endParaRPr/>
          </a:p>
        </p:txBody>
      </p:sp>
      <p:sp>
        <p:nvSpPr>
          <p:cNvPr id="5258" name="TextBox 5257">
            <a:extLst>
              <a:ext uri="{FF2B5EF4-FFF2-40B4-BE49-F238E27FC236}">
                <a16:creationId xmlns:a16="http://schemas.microsoft.com/office/drawing/2014/main" id="{D96AAE9C-A553-4295-8ACE-10CE6F0325BD}"/>
              </a:ext>
            </a:extLst>
          </p:cNvPr>
          <p:cNvSpPr>
            <a:spLocks noGrp="1"/>
          </p:cNvSpPr>
          <p:nvPr/>
        </p:nvSpPr>
        <p:spPr>
          <a:xfrm>
            <a:off x="914400" y="4572000"/>
            <a:ext cx="16459200" cy="1005840"/>
          </a:xfrm>
          <a:prstGeom prst="rect">
            <a:avLst/>
          </a:prstGeom>
          <a:noFill/>
        </p:spPr>
        <p:txBody>
          <a:bodyPr wrap="square" lIns="0" tIns="0" rIns="0" bIns="0" anchor="ctr">
            <a:spAutoFit/>
          </a:bodyPr>
          <a:lstStyle/>
          <a:p>
            <a:pPr algn="ctr">
              <a:buNone/>
            </a:pPr>
            <a:r>
              <a:rPr sz="4800" b="0">
                <a:solidFill>
                  <a:srgbClr val="FAA95A"/>
                </a:solidFill>
                <a:latin typeface="210 OmniGothic 050"/>
                <a:ea typeface="210 OmniGothic 050"/>
                <a:cs typeface="210 OmniGothic 050"/>
              </a:rPr>
              <a:t>06. 관계형 데이터베이스</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idx="12"/>
          </p:nvPr>
        </p:nvSpPr>
        <p:spPr/>
        <p:txBody>
          <a:bodyPr/>
          <a:lstStyle/>
          <a:p>
            <a:fld id="{B6F15528-21DE-4FAA-801E-634DDDAF4B2B}" type="slidenum">
              <a:rPr/>
              <a:t>69</a:t>
            </a:fld>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60" name="Picture 2"/>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700" y="-12700"/>
            <a:ext cx="18313400" cy="1638300"/>
          </a:xfrm>
          <a:prstGeom prst="rect">
            <a:avLst/>
          </a:prstGeom>
        </p:spPr>
      </p:pic>
      <p:pic>
        <p:nvPicPr>
          <p:cNvPr id="5361" name="Picture 4"/>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28" y="1618343"/>
            <a:ext cx="18313400" cy="8699500"/>
          </a:xfrm>
          <a:prstGeom prst="rect">
            <a:avLst/>
          </a:prstGeom>
        </p:spPr>
      </p:pic>
      <p:pic>
        <p:nvPicPr>
          <p:cNvPr id="5362" name="Picture 5"/>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58800" y="9271000"/>
            <a:ext cx="17170400" cy="50800"/>
          </a:xfrm>
          <a:prstGeom prst="rect">
            <a:avLst/>
          </a:prstGeom>
        </p:spPr>
      </p:pic>
      <p:pic>
        <p:nvPicPr>
          <p:cNvPr id="5363" name="Picture 3"/>
          <p:cNvPicPr>
            <a:picLocks noChangeAspect="1"/>
          </p:cNvPicPr>
          <p:nvPr/>
        </p:nvPicPr>
        <p:blipFill>
          <a:blip r:embed="rId6"/>
          <a:stretch>
            <a:fillRect/>
          </a:stretch>
        </p:blipFill>
        <p:spPr>
          <a:xfrm>
            <a:off x="14846300" y="317500"/>
            <a:ext cx="2120900" cy="1333500"/>
          </a:xfrm>
          <a:prstGeom prst="rect">
            <a:avLst/>
          </a:prstGeom>
        </p:spPr>
      </p:pic>
      <p:sp>
        <p:nvSpPr>
          <p:cNvPr id="5353" name="Title">
            <a:extLst>
              <a:ext uri="{FF2B5EF4-FFF2-40B4-BE49-F238E27FC236}">
                <a16:creationId xmlns:a16="http://schemas.microsoft.com/office/drawing/2014/main" id="{9519AF0A-7520-4584-8D3A-5542F200D214}"/>
              </a:ext>
            </a:extLst>
          </p:cNvPr>
          <p:cNvSpPr>
            <a:spLocks noGrp="1"/>
          </p:cNvSpPr>
          <p:nvPr/>
        </p:nvSpPr>
        <p:spPr>
          <a:xfrm>
            <a:off x="822960" y="384048"/>
            <a:ext cx="13258800" cy="877824"/>
          </a:xfrm>
          <a:prstGeom prst="rect">
            <a:avLst/>
          </a:prstGeom>
          <a:noFill/>
        </p:spPr>
        <p:txBody>
          <a:bodyPr wrap="square" lIns="0" tIns="0" rIns="0" bIns="0" anchor="ctr">
            <a:spAutoFit/>
          </a:bodyPr>
          <a:lstStyle/>
          <a:p>
            <a:pPr algn="l">
              <a:buNone/>
            </a:pPr>
            <a:r>
              <a:rPr sz="4400" b="0">
                <a:solidFill>
                  <a:srgbClr val="FAA95A"/>
                </a:solidFill>
                <a:latin typeface="210 OmniGothic 050"/>
                <a:ea typeface="210 OmniGothic 050"/>
                <a:cs typeface="210 OmniGothic 050"/>
              </a:rPr>
              <a:t>06. 관계형 데이터베이스</a:t>
            </a:r>
          </a:p>
        </p:txBody>
      </p:sp>
      <p:sp>
        <p:nvSpPr>
          <p:cNvPr id="5354" name="Subtitle">
            <a:extLst>
              <a:ext uri="{FF2B5EF4-FFF2-40B4-BE49-F238E27FC236}">
                <a16:creationId xmlns:a16="http://schemas.microsoft.com/office/drawing/2014/main" id="{AC91BECE-530E-4342-9C5C-6C06BF09700E}"/>
              </a:ext>
            </a:extLst>
          </p:cNvPr>
          <p:cNvSpPr>
            <a:spLocks noGrp="1"/>
          </p:cNvSpPr>
          <p:nvPr/>
        </p:nvSpPr>
        <p:spPr>
          <a:xfrm>
            <a:off x="822960" y="1764792"/>
            <a:ext cx="16642080" cy="502920"/>
          </a:xfrm>
          <a:prstGeom prst="rect">
            <a:avLst/>
          </a:prstGeom>
          <a:noFill/>
        </p:spPr>
        <p:txBody>
          <a:bodyPr wrap="square" lIns="0" tIns="0" rIns="0" bIns="0" anchor="ctr">
            <a:spAutoFit/>
          </a:bodyPr>
          <a:lstStyle/>
          <a:p>
            <a:pPr algn="ctr">
              <a:buNone/>
            </a:pPr>
            <a:r>
              <a:rPr sz="2600" b="1">
                <a:solidFill>
                  <a:srgbClr val="363A52"/>
                </a:solidFill>
                <a:latin typeface="210 OmniGothic 040"/>
                <a:ea typeface="210 OmniGothic 040"/>
                <a:cs typeface="210 OmniGothic 040"/>
              </a:rPr>
              <a:t>1. 관계 정의</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idx="12"/>
          </p:nvPr>
        </p:nvSpPr>
        <p:spPr/>
        <p:txBody>
          <a:bodyPr/>
          <a:lstStyle/>
          <a:p>
            <a:fld id="{B6F15528-21DE-4FAA-801E-634DDDAF4B2B}" type="slidenum">
              <a:t>70</a:t>
            </a:fld>
            <a:endParaRPr/>
          </a:p>
        </p:txBody>
      </p:sp>
      <p:graphicFrame>
        <p:nvGraphicFramePr>
          <p:cNvPr id="5367" name="Table 5354"/>
          <p:cNvGraphicFramePr/>
          <p:nvPr/>
        </p:nvGraphicFramePr>
        <p:xfrm>
          <a:off x="822960" y="2395728"/>
          <a:ext cx="16459200" cy="5672931"/>
        </p:xfrm>
        <a:graphic>
          <a:graphicData uri="http://schemas.openxmlformats.org/drawingml/2006/table">
            <a:tbl>
              <a:tblPr>
                <a:tableStyleId>{2D5ABB26-0587-4C30-8999-92F81FD0307C}</a:tableStyleId>
              </a:tblPr>
              <a:tblGrid>
                <a:gridCol w="2628900">
                  <a:extLst>
                    <a:ext uri="{9D8B030D-6E8A-4147-A177-3AD203B41FA5}">
                      <a16:colId xmlns:a16="http://schemas.microsoft.com/office/drawing/2014/main" val="20000"/>
                    </a:ext>
                  </a:extLst>
                </a:gridCol>
                <a:gridCol w="1200150">
                  <a:extLst>
                    <a:ext uri="{9D8B030D-6E8A-4147-A177-3AD203B41FA5}">
                      <a16:colId xmlns:a16="http://schemas.microsoft.com/office/drawing/2014/main" val="20001"/>
                    </a:ext>
                  </a:extLst>
                </a:gridCol>
                <a:gridCol w="3886200">
                  <a:extLst>
                    <a:ext uri="{9D8B030D-6E8A-4147-A177-3AD203B41FA5}">
                      <a16:colId xmlns:a16="http://schemas.microsoft.com/office/drawing/2014/main" val="20002"/>
                    </a:ext>
                  </a:extLst>
                </a:gridCol>
                <a:gridCol w="3600450">
                  <a:extLst>
                    <a:ext uri="{9D8B030D-6E8A-4147-A177-3AD203B41FA5}">
                      <a16:colId xmlns:a16="http://schemas.microsoft.com/office/drawing/2014/main" val="20003"/>
                    </a:ext>
                  </a:extLst>
                </a:gridCol>
                <a:gridCol w="5143500">
                  <a:extLst>
                    <a:ext uri="{9D8B030D-6E8A-4147-A177-3AD203B41FA5}">
                      <a16:colId xmlns:a16="http://schemas.microsoft.com/office/drawing/2014/main" val="20004"/>
                    </a:ext>
                  </a:extLst>
                </a:gridCol>
              </a:tblGrid>
              <a:tr h="341985">
                <a:tc>
                  <a:txBody>
                    <a:bodyPr/>
                    <a:lstStyle/>
                    <a:p>
                      <a:pPr algn="l">
                        <a:buNone/>
                      </a:pPr>
                      <a:r>
                        <a:rPr sz="1200" b="1">
                          <a:solidFill>
                            <a:srgbClr val="2E3142"/>
                          </a:solidFill>
                          <a:latin typeface="210 OmniGothic 040"/>
                          <a:ea typeface="210 OmniGothic 040"/>
                          <a:cs typeface="210 OmniGothic 040"/>
                        </a:rPr>
                        <a:t>이름</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200" b="1">
                          <a:solidFill>
                            <a:srgbClr val="2E3142"/>
                          </a:solidFill>
                          <a:latin typeface="210 OmniGothic 040"/>
                          <a:ea typeface="210 OmniGothic 040"/>
                          <a:cs typeface="210 OmniGothic 040"/>
                        </a:rPr>
                        <a:t>유형</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200" b="1">
                          <a:solidFill>
                            <a:srgbClr val="2E3142"/>
                          </a:solidFill>
                          <a:latin typeface="210 OmniGothic 040"/>
                          <a:ea typeface="210 OmniGothic 040"/>
                          <a:cs typeface="210 OmniGothic 040"/>
                        </a:rPr>
                        <a:t>관련 테이블</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200" b="1">
                          <a:solidFill>
                            <a:srgbClr val="2E3142"/>
                          </a:solidFill>
                          <a:latin typeface="210 OmniGothic 040"/>
                          <a:ea typeface="210 OmniGothic 040"/>
                          <a:cs typeface="210 OmniGothic 040"/>
                        </a:rPr>
                        <a:t>다중성</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l">
                        <a:buNone/>
                      </a:pPr>
                      <a:r>
                        <a:rPr sz="1200" b="1">
                          <a:solidFill>
                            <a:srgbClr val="2E3142"/>
                          </a:solidFill>
                          <a:latin typeface="210 OmniGothic 040"/>
                          <a:ea typeface="210 OmniGothic 040"/>
                          <a:cs typeface="210 OmniGothic 040"/>
                        </a:rPr>
                        <a:t>설명</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extLst>
                  <a:ext uri="{0D108BD9-81ED-4DB2-BD59-A6C34878D82A}">
                    <a16:rowId xmlns:a16="http://schemas.microsoft.com/office/drawing/2014/main" val="10000"/>
                  </a:ext>
                </a:extLst>
              </a:tr>
              <a:tr h="432511">
                <a:tc>
                  <a:txBody>
                    <a:bodyPr/>
                    <a:lstStyle/>
                    <a:p>
                      <a:pPr algn="l">
                        <a:buNone/>
                      </a:pPr>
                      <a:r>
                        <a:rPr sz="1050" b="1">
                          <a:solidFill>
                            <a:srgbClr val="2E3142"/>
                          </a:solidFill>
                          <a:latin typeface="210 OmniGothic 040"/>
                          <a:ea typeface="210 OmniGothic 040"/>
                          <a:cs typeface="210 OmniGothic 040"/>
                        </a:rPr>
                        <a:t>incidents</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합성</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intake_records, weather_snapshots, risk_assessments, fire_perimeters</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incidents(1) → *(N)</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사건별 기록. 사건은 삭제하지 않고 종료(status = 종료) 처리</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1"/>
                  </a:ext>
                </a:extLst>
              </a:tr>
              <a:tr h="432511">
                <a:tc>
                  <a:txBody>
                    <a:bodyPr/>
                    <a:lstStyle/>
                    <a:p>
                      <a:pPr algn="l">
                        <a:buNone/>
                      </a:pPr>
                      <a:r>
                        <a:rPr sz="1050" b="1">
                          <a:solidFill>
                            <a:srgbClr val="2E3142"/>
                          </a:solidFill>
                          <a:latin typeface="210 OmniGothic 040"/>
                          <a:ea typeface="210 OmniGothic 040"/>
                          <a:cs typeface="210 OmniGothic 040"/>
                        </a:rPr>
                        <a:t>incidents</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합성</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prediction_runs, proposals, situation_corrections, chat_messages</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incidents(1) → *(N)</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사건별 예측·제안·정정·대화 이력 보존</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2"/>
                  </a:ext>
                </a:extLst>
              </a:tr>
              <a:tr h="341985">
                <a:tc>
                  <a:txBody>
                    <a:bodyPr/>
                    <a:lstStyle/>
                    <a:p>
                      <a:pPr algn="l">
                        <a:buNone/>
                      </a:pPr>
                      <a:r>
                        <a:rPr sz="1050" b="1">
                          <a:solidFill>
                            <a:srgbClr val="2E3142"/>
                          </a:solidFill>
                          <a:latin typeface="210 OmniGothic 040"/>
                          <a:ea typeface="210 OmniGothic 040"/>
                          <a:cs typeface="210 OmniGothic 040"/>
                        </a:rPr>
                        <a:t>fire_perimeters</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연관</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prediction_runs</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perimeter_id → id (0..1 : N)</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예측의 초기 연소 범위. NULL이면 발화점에서 시작</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3"/>
                  </a:ext>
                </a:extLst>
              </a:tr>
              <a:tr h="341985">
                <a:tc>
                  <a:txBody>
                    <a:bodyPr/>
                    <a:lstStyle/>
                    <a:p>
                      <a:pPr algn="l">
                        <a:buNone/>
                      </a:pPr>
                      <a:r>
                        <a:rPr sz="1050" b="1">
                          <a:solidFill>
                            <a:srgbClr val="2E3142"/>
                          </a:solidFill>
                          <a:latin typeface="210 OmniGothic 040"/>
                          <a:ea typeface="210 OmniGothic 040"/>
                          <a:cs typeface="210 OmniGothic 040"/>
                        </a:rPr>
                        <a:t>prediction_runs</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합성</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spread_slices</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prediction_runs(1) → spread_slices(8)</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UNIQUE(run_id, t_hours), 누적성 P(t) ⊇ P(t−1)</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4"/>
                  </a:ext>
                </a:extLst>
              </a:tr>
              <a:tr h="432511">
                <a:tc>
                  <a:txBody>
                    <a:bodyPr/>
                    <a:lstStyle/>
                    <a:p>
                      <a:pPr algn="l">
                        <a:buNone/>
                      </a:pPr>
                      <a:r>
                        <a:rPr sz="1050" b="1">
                          <a:solidFill>
                            <a:srgbClr val="2E3142"/>
                          </a:solidFill>
                          <a:latin typeface="210 OmniGothic 040"/>
                          <a:ea typeface="210 OmniGothic 040"/>
                          <a:cs typeface="210 OmniGothic 040"/>
                        </a:rPr>
                        <a:t>prediction_runs</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연관</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proposals</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prediction_runs(1) → proposals(N)</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예측 갱신 버전 + 같은 예측의 상황 정정 버전. 제안 있는 예측은 삭제 제한(RESTRICT)</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5"/>
                  </a:ext>
                </a:extLst>
              </a:tr>
              <a:tr h="432511">
                <a:tc>
                  <a:txBody>
                    <a:bodyPr/>
                    <a:lstStyle/>
                    <a:p>
                      <a:pPr algn="l">
                        <a:buNone/>
                      </a:pPr>
                      <a:r>
                        <a:rPr sz="1050" b="1">
                          <a:solidFill>
                            <a:srgbClr val="2E3142"/>
                          </a:solidFill>
                          <a:latin typeface="210 OmniGothic 040"/>
                          <a:ea typeface="210 OmniGothic 040"/>
                          <a:cs typeface="210 OmniGothic 040"/>
                        </a:rPr>
                        <a:t>prediction_runs</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연관</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FF0000"/>
                          </a:solidFill>
                          <a:latin typeface="210 OmniGothic 040"/>
                          <a:ea typeface="210 OmniGothic 040"/>
                          <a:cs typeface="210 OmniGothic 040"/>
                        </a:rPr>
                        <a:t>risk_assessments</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FF0000"/>
                          </a:solidFill>
                          <a:latin typeface="210 OmniGothic 040"/>
                          <a:ea typeface="210 OmniGothic 040"/>
                          <a:cs typeface="210 OmniGothic 040"/>
                        </a:rPr>
                        <a:t>prediction_runs(1) → risk_assessments(0..1)</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FF0000"/>
                          </a:solidFill>
                          <a:latin typeface="210 OmniGothic 040"/>
                          <a:ea typeface="210 OmniGothic 040"/>
                          <a:cs typeface="210 OmniGothic 040"/>
                        </a:rPr>
                        <a:t>예측마다 P5 위험도 1개(UNIQUE run_id). 화면은 산불별 최신 값만 표시</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3553967670"/>
                  </a:ext>
                </a:extLst>
              </a:tr>
              <a:tr h="341985">
                <a:tc>
                  <a:txBody>
                    <a:bodyPr/>
                    <a:lstStyle/>
                    <a:p>
                      <a:pPr algn="l">
                        <a:buNone/>
                      </a:pPr>
                      <a:r>
                        <a:rPr sz="1050" b="1">
                          <a:solidFill>
                            <a:srgbClr val="2E3142"/>
                          </a:solidFill>
                          <a:latin typeface="210 OmniGothic 040"/>
                          <a:ea typeface="210 OmniGothic 040"/>
                          <a:cs typeface="210 OmniGothic 040"/>
                        </a:rPr>
                        <a:t>situation_corrections</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연관</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proposals</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proposals.correction_id → id (0..1 : 1)</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상황 정정으로 생성된 버전은 정정 기록을 가리킴</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6"/>
                  </a:ext>
                </a:extLst>
              </a:tr>
              <a:tr h="341985">
                <a:tc>
                  <a:txBody>
                    <a:bodyPr/>
                    <a:lstStyle/>
                    <a:p>
                      <a:pPr algn="l">
                        <a:buNone/>
                      </a:pPr>
                      <a:r>
                        <a:rPr sz="1050" b="1">
                          <a:solidFill>
                            <a:srgbClr val="2E3142"/>
                          </a:solidFill>
                          <a:latin typeface="210 OmniGothic 040"/>
                          <a:ea typeface="210 OmniGothic 040"/>
                          <a:cs typeface="210 OmniGothic 040"/>
                        </a:rPr>
                        <a:t>proposals</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합성</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proposal_items</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proposals(1) → proposal_items(≤14)</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UNIQUE(proposal_id, item_code). 제안서는 수정하지 않고 새 버전 추가</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7"/>
                  </a:ext>
                </a:extLst>
              </a:tr>
              <a:tr h="341985">
                <a:tc>
                  <a:txBody>
                    <a:bodyPr/>
                    <a:lstStyle/>
                    <a:p>
                      <a:pPr algn="l">
                        <a:buNone/>
                      </a:pPr>
                      <a:r>
                        <a:rPr sz="1050" b="1">
                          <a:solidFill>
                            <a:srgbClr val="2E3142"/>
                          </a:solidFill>
                          <a:latin typeface="210 OmniGothic 040"/>
                          <a:ea typeface="210 OmniGothic 040"/>
                          <a:cs typeface="210 OmniGothic 040"/>
                        </a:rPr>
                        <a:t>proposal_items / chat_messages</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합성</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citations</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item(1)·message(1) → citations(N)</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item_id와 message_id 중 하나만 값을 가짐 (CHECK)</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8"/>
                  </a:ext>
                </a:extLst>
              </a:tr>
              <a:tr h="341985">
                <a:tc>
                  <a:txBody>
                    <a:bodyPr/>
                    <a:lstStyle/>
                    <a:p>
                      <a:pPr algn="l">
                        <a:buNone/>
                      </a:pPr>
                      <a:r>
                        <a:rPr sz="1050" b="1">
                          <a:solidFill>
                            <a:srgbClr val="2E3142"/>
                          </a:solidFill>
                          <a:latin typeface="210 OmniGothic 040"/>
                          <a:ea typeface="210 OmniGothic 040"/>
                          <a:cs typeface="210 OmniGothic 040"/>
                        </a:rPr>
                        <a:t>evidence_chunks</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연관</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citations</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evidence_chunks(1) → citations(N)</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인용된 청크는 삭제 제한(RESTRICT). 색인 재구축 시 chunk_id 유지</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9"/>
                  </a:ext>
                </a:extLst>
              </a:tr>
              <a:tr h="341985">
                <a:tc>
                  <a:txBody>
                    <a:bodyPr/>
                    <a:lstStyle/>
                    <a:p>
                      <a:pPr algn="l">
                        <a:buNone/>
                      </a:pPr>
                      <a:r>
                        <a:rPr sz="1050" b="1">
                          <a:solidFill>
                            <a:srgbClr val="2E3142"/>
                          </a:solidFill>
                          <a:latin typeface="210 OmniGothic 040"/>
                          <a:ea typeface="210 OmniGothic 040"/>
                          <a:cs typeface="210 OmniGothic 040"/>
                        </a:rPr>
                        <a:t>resources</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연관</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incidents</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resources.incident_id → id (N : 0..1)</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평시 진화자원 데이터(전산 관리자 관리). 투입 중 자원은 삭제 제한</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10"/>
                  </a:ext>
                </a:extLst>
              </a:tr>
              <a:tr h="432511">
                <a:tc>
                  <a:txBody>
                    <a:bodyPr/>
                    <a:lstStyle/>
                    <a:p>
                      <a:pPr algn="l">
                        <a:buNone/>
                      </a:pPr>
                      <a:r>
                        <a:rPr sz="1050" b="1">
                          <a:solidFill>
                            <a:srgbClr val="2E3142"/>
                          </a:solidFill>
                          <a:latin typeface="210 OmniGothic 040"/>
                          <a:ea typeface="210 OmniGothic 040"/>
                          <a:cs typeface="210 OmniGothic 040"/>
                        </a:rPr>
                        <a:t>users</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연관</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incidents, prediction_runs, chat_messages, situation_corrections, event_logs</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users(1) → *(N)</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입력자·종료자·실행자·질문자·정정자 기록. 회수(status=회수) 또는 잠금(locked=true) 시 로그인 차단</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11"/>
                  </a:ext>
                </a:extLst>
              </a:tr>
              <a:tr h="432511">
                <a:tc>
                  <a:txBody>
                    <a:bodyPr/>
                    <a:lstStyle/>
                    <a:p>
                      <a:pPr algn="l">
                        <a:buNone/>
                      </a:pPr>
                      <a:r>
                        <a:rPr sz="1050" b="1">
                          <a:solidFill>
                            <a:srgbClr val="2E3142"/>
                          </a:solidFill>
                          <a:latin typeface="210 OmniGothic 040"/>
                          <a:ea typeface="210 OmniGothic 040"/>
                          <a:cs typeface="210 OmniGothic 040"/>
                        </a:rPr>
                        <a:t>event_logs</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연관</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incidents, users</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incident_id·user_id NULL 허용</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buNone/>
                      </a:pPr>
                      <a:r>
                        <a:rPr sz="1050" b="0">
                          <a:solidFill>
                            <a:srgbClr val="2E3142"/>
                          </a:solidFill>
                          <a:latin typeface="210 OmniGothic 040"/>
                          <a:ea typeface="210 OmniGothic 040"/>
                          <a:cs typeface="210 OmniGothic 040"/>
                        </a:rPr>
                        <a:t>로그인·관리 이벤트는 사건 없이 기록. 추가만 하고 수정·삭제 없음, 이력 탭에서 읽기 전용 조회</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12"/>
                  </a:ext>
                </a:extLst>
              </a:tr>
              <a:tr h="341985">
                <a:tc>
                  <a:txBody>
                    <a:bodyPr/>
                    <a:lstStyle/>
                    <a:p>
                      <a:pPr algn="l">
                        <a:buNone/>
                      </a:pPr>
                      <a:r>
                        <a:rPr sz="1050" b="1">
                          <a:solidFill>
                            <a:srgbClr val="2E3142"/>
                          </a:solidFill>
                          <a:latin typeface="210 OmniGothic 040"/>
                          <a:ea typeface="210 OmniGothic 040"/>
                          <a:cs typeface="210 OmniGothic 040"/>
                        </a:rPr>
                        <a:t>villages, facilities</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공간 연관</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spread_slices, fire_perimeters</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ST_Intersects(geom, slice.geom)</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sz="1050" b="0">
                          <a:solidFill>
                            <a:srgbClr val="2E3142"/>
                          </a:solidFill>
                          <a:latin typeface="210 OmniGothic 040"/>
                          <a:ea typeface="210 OmniGothic 040"/>
                          <a:cs typeface="210 OmniGothic 040"/>
                        </a:rPr>
                        <a:t>외래키 없이 공간 교차로 도달 슬라이스 계산 (GiST 인덱스)</a:t>
                      </a:r>
                    </a:p>
                  </a:txBody>
                  <a:tcPr marL="80010" marR="8001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127565203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74" name="Picture 2"/>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700" y="-12700"/>
            <a:ext cx="18313400" cy="1638300"/>
          </a:xfrm>
          <a:prstGeom prst="rect">
            <a:avLst/>
          </a:prstGeom>
        </p:spPr>
      </p:pic>
      <p:pic>
        <p:nvPicPr>
          <p:cNvPr id="5375" name="Picture 4"/>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28" y="1618343"/>
            <a:ext cx="18313400" cy="8699500"/>
          </a:xfrm>
          <a:prstGeom prst="rect">
            <a:avLst/>
          </a:prstGeom>
        </p:spPr>
      </p:pic>
      <p:pic>
        <p:nvPicPr>
          <p:cNvPr id="5376" name="Picture 5"/>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58800" y="9271000"/>
            <a:ext cx="17170400" cy="50800"/>
          </a:xfrm>
          <a:prstGeom prst="rect">
            <a:avLst/>
          </a:prstGeom>
        </p:spPr>
      </p:pic>
      <p:pic>
        <p:nvPicPr>
          <p:cNvPr id="5377" name="Picture 3"/>
          <p:cNvPicPr>
            <a:picLocks noChangeAspect="1"/>
          </p:cNvPicPr>
          <p:nvPr/>
        </p:nvPicPr>
        <p:blipFill>
          <a:blip r:embed="rId6"/>
          <a:stretch>
            <a:fillRect/>
          </a:stretch>
        </p:blipFill>
        <p:spPr>
          <a:xfrm>
            <a:off x="14846300" y="317500"/>
            <a:ext cx="2120900" cy="1333500"/>
          </a:xfrm>
          <a:prstGeom prst="rect">
            <a:avLst/>
          </a:prstGeom>
        </p:spPr>
      </p:pic>
      <p:sp>
        <p:nvSpPr>
          <p:cNvPr id="5358" name="Title">
            <a:extLst>
              <a:ext uri="{FF2B5EF4-FFF2-40B4-BE49-F238E27FC236}">
                <a16:creationId xmlns:a16="http://schemas.microsoft.com/office/drawing/2014/main" id="{46AF8834-4643-4975-BDFF-1D0ED9D4A5D9}"/>
              </a:ext>
            </a:extLst>
          </p:cNvPr>
          <p:cNvSpPr>
            <a:spLocks noGrp="1"/>
          </p:cNvSpPr>
          <p:nvPr/>
        </p:nvSpPr>
        <p:spPr>
          <a:xfrm>
            <a:off x="822960" y="384048"/>
            <a:ext cx="13258800" cy="877824"/>
          </a:xfrm>
          <a:prstGeom prst="rect">
            <a:avLst/>
          </a:prstGeom>
          <a:noFill/>
        </p:spPr>
        <p:txBody>
          <a:bodyPr wrap="square" lIns="0" tIns="0" rIns="0" bIns="0" anchor="ctr">
            <a:spAutoFit/>
          </a:bodyPr>
          <a:lstStyle/>
          <a:p>
            <a:pPr algn="l">
              <a:buNone/>
            </a:pPr>
            <a:r>
              <a:rPr sz="4400" b="0">
                <a:solidFill>
                  <a:srgbClr val="FAA95A"/>
                </a:solidFill>
                <a:latin typeface="210 OmniGothic 050"/>
                <a:ea typeface="210 OmniGothic 050"/>
                <a:cs typeface="210 OmniGothic 050"/>
              </a:rPr>
              <a:t>06. 관계형 데이터베이스</a:t>
            </a:r>
          </a:p>
        </p:txBody>
      </p:sp>
      <p:sp>
        <p:nvSpPr>
          <p:cNvPr id="5359" name="Subtitle">
            <a:extLst>
              <a:ext uri="{FF2B5EF4-FFF2-40B4-BE49-F238E27FC236}">
                <a16:creationId xmlns:a16="http://schemas.microsoft.com/office/drawing/2014/main" id="{3C276A98-F1CD-4E22-A8AA-FD0F26E3485B}"/>
              </a:ext>
            </a:extLst>
          </p:cNvPr>
          <p:cNvSpPr>
            <a:spLocks noGrp="1"/>
          </p:cNvSpPr>
          <p:nvPr/>
        </p:nvSpPr>
        <p:spPr>
          <a:xfrm>
            <a:off x="822960" y="1764792"/>
            <a:ext cx="16642080" cy="502920"/>
          </a:xfrm>
          <a:prstGeom prst="rect">
            <a:avLst/>
          </a:prstGeom>
          <a:noFill/>
        </p:spPr>
        <p:txBody>
          <a:bodyPr wrap="square" lIns="0" tIns="0" rIns="0" bIns="0" anchor="ctr">
            <a:spAutoFit/>
          </a:bodyPr>
          <a:lstStyle/>
          <a:p>
            <a:pPr algn="ctr">
              <a:buNone/>
            </a:pPr>
            <a:r>
              <a:rPr sz="2600" b="1">
                <a:solidFill>
                  <a:srgbClr val="363A52"/>
                </a:solidFill>
                <a:latin typeface="210 OmniGothic 040"/>
                <a:ea typeface="210 OmniGothic 040"/>
                <a:cs typeface="210 OmniGothic 040"/>
              </a:rPr>
              <a:t>2. 정적 모델링 – </a:t>
            </a:r>
            <a:r>
              <a:rPr sz="2600" b="1">
                <a:solidFill>
                  <a:srgbClr val="FAA95A"/>
                </a:solidFill>
                <a:latin typeface="210 OmniGothic 040"/>
                <a:ea typeface="210 OmniGothic 040"/>
                <a:cs typeface="210 OmniGothic 040"/>
              </a:rPr>
              <a:t>예시 데이터 (의성 2025-03-22 시나리오)</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idx="12"/>
          </p:nvPr>
        </p:nvSpPr>
        <p:spPr/>
        <p:txBody>
          <a:bodyPr/>
          <a:lstStyle/>
          <a:p>
            <a:fld id="{B6F15528-21DE-4FAA-801E-634DDDAF4B2B}" type="slidenum">
              <a:t>71</a:t>
            </a:fld>
            <a:endParaRPr/>
          </a:p>
        </p:txBody>
      </p:sp>
      <p:sp>
        <p:nvSpPr>
          <p:cNvPr id="5360" name="TextBox 5359">
            <a:extLst>
              <a:ext uri="{FF2B5EF4-FFF2-40B4-BE49-F238E27FC236}">
                <a16:creationId xmlns:a16="http://schemas.microsoft.com/office/drawing/2014/main" id="{3518B8BA-AD45-49B2-A2D4-08CC45B73658}"/>
              </a:ext>
            </a:extLst>
          </p:cNvPr>
          <p:cNvSpPr>
            <a:spLocks noGrp="1"/>
          </p:cNvSpPr>
          <p:nvPr/>
        </p:nvSpPr>
        <p:spPr>
          <a:xfrm>
            <a:off x="822960" y="2395728"/>
            <a:ext cx="9144000" cy="301752"/>
          </a:xfrm>
          <a:prstGeom prst="rect">
            <a:avLst/>
          </a:prstGeom>
          <a:noFill/>
        </p:spPr>
        <p:txBody>
          <a:bodyPr wrap="square" lIns="0" tIns="0" rIns="0" bIns="0" anchor="t">
            <a:spAutoFit/>
          </a:bodyPr>
          <a:lstStyle/>
          <a:p>
            <a:pPr algn="l">
              <a:buNone/>
            </a:pPr>
            <a:r>
              <a:rPr sz="1450" b="1">
                <a:solidFill>
                  <a:srgbClr val="2E3142"/>
                </a:solidFill>
                <a:latin typeface="210 OmniGothic 040"/>
                <a:ea typeface="210 OmniGothic 040"/>
                <a:cs typeface="210 OmniGothic 040"/>
              </a:rPr>
              <a:t>users</a:t>
            </a:r>
          </a:p>
        </p:txBody>
      </p:sp>
      <p:graphicFrame>
        <p:nvGraphicFramePr>
          <p:cNvPr id="5382" name="Table 5360"/>
          <p:cNvGraphicFramePr/>
          <p:nvPr/>
        </p:nvGraphicFramePr>
        <p:xfrm>
          <a:off x="822960" y="2717596"/>
          <a:ext cx="16459195" cy="1810512"/>
        </p:xfrm>
        <a:graphic>
          <a:graphicData uri="http://schemas.openxmlformats.org/drawingml/2006/table">
            <a:tbl>
              <a:tblPr>
                <a:tableStyleId>{2D5ABB26-0587-4C30-8999-92F81FD0307C}</a:tableStyleId>
              </a:tblPr>
              <a:tblGrid>
                <a:gridCol w="1441713">
                  <a:extLst>
                    <a:ext uri="{9D8B030D-6E8A-4147-A177-3AD203B41FA5}">
                      <a16:colId xmlns:a16="http://schemas.microsoft.com/office/drawing/2014/main" val="20000"/>
                    </a:ext>
                  </a:extLst>
                </a:gridCol>
                <a:gridCol w="1571868">
                  <a:extLst>
                    <a:ext uri="{9D8B030D-6E8A-4147-A177-3AD203B41FA5}">
                      <a16:colId xmlns:a16="http://schemas.microsoft.com/office/drawing/2014/main" val="20001"/>
                    </a:ext>
                  </a:extLst>
                </a:gridCol>
                <a:gridCol w="1492064">
                  <a:extLst>
                    <a:ext uri="{9D8B030D-6E8A-4147-A177-3AD203B41FA5}">
                      <a16:colId xmlns:a16="http://schemas.microsoft.com/office/drawing/2014/main" val="20002"/>
                    </a:ext>
                  </a:extLst>
                </a:gridCol>
                <a:gridCol w="2773296">
                  <a:extLst>
                    <a:ext uri="{9D8B030D-6E8A-4147-A177-3AD203B41FA5}">
                      <a16:colId xmlns:a16="http://schemas.microsoft.com/office/drawing/2014/main" val="20003"/>
                    </a:ext>
                  </a:extLst>
                </a:gridCol>
                <a:gridCol w="1712034">
                  <a:extLst>
                    <a:ext uri="{9D8B030D-6E8A-4147-A177-3AD203B41FA5}">
                      <a16:colId xmlns:a16="http://schemas.microsoft.com/office/drawing/2014/main" val="20004"/>
                    </a:ext>
                  </a:extLst>
                </a:gridCol>
                <a:gridCol w="2132534">
                  <a:extLst>
                    <a:ext uri="{9D8B030D-6E8A-4147-A177-3AD203B41FA5}">
                      <a16:colId xmlns:a16="http://schemas.microsoft.com/office/drawing/2014/main" val="20005"/>
                    </a:ext>
                  </a:extLst>
                </a:gridCol>
                <a:gridCol w="1441713">
                  <a:extLst>
                    <a:ext uri="{9D8B030D-6E8A-4147-A177-3AD203B41FA5}">
                      <a16:colId xmlns:a16="http://schemas.microsoft.com/office/drawing/2014/main" val="20006"/>
                    </a:ext>
                  </a:extLst>
                </a:gridCol>
                <a:gridCol w="1020886">
                  <a:extLst>
                    <a:ext uri="{9D8B030D-6E8A-4147-A177-3AD203B41FA5}">
                      <a16:colId xmlns:a16="http://schemas.microsoft.com/office/drawing/2014/main" val="20007"/>
                    </a:ext>
                  </a:extLst>
                </a:gridCol>
                <a:gridCol w="1020886">
                  <a:extLst>
                    <a:ext uri="{9D8B030D-6E8A-4147-A177-3AD203B41FA5}">
                      <a16:colId xmlns:a16="http://schemas.microsoft.com/office/drawing/2014/main" val="20008"/>
                    </a:ext>
                  </a:extLst>
                </a:gridCol>
                <a:gridCol w="1852201">
                  <a:extLst>
                    <a:ext uri="{9D8B030D-6E8A-4147-A177-3AD203B41FA5}">
                      <a16:colId xmlns:a16="http://schemas.microsoft.com/office/drawing/2014/main" val="20009"/>
                    </a:ext>
                  </a:extLst>
                </a:gridCol>
              </a:tblGrid>
              <a:tr h="301752">
                <a:tc>
                  <a:txBody>
                    <a:bodyPr/>
                    <a:lstStyle/>
                    <a:p>
                      <a:pPr algn="ctr">
                        <a:buNone/>
                      </a:pPr>
                      <a:r>
                        <a:rPr sz="1150" b="1">
                          <a:solidFill>
                            <a:srgbClr val="2E3142"/>
                          </a:solidFill>
                          <a:latin typeface="210 OmniGothic 040"/>
                          <a:ea typeface="210 OmniGothic 040"/>
                          <a:cs typeface="210 OmniGothic 040"/>
                        </a:rPr>
                        <a:t>id</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ctr">
                        <a:buNone/>
                      </a:pPr>
                      <a:r>
                        <a:rPr sz="1150" b="1">
                          <a:solidFill>
                            <a:srgbClr val="2E3142"/>
                          </a:solidFill>
                          <a:latin typeface="210 OmniGothic 040"/>
                          <a:ea typeface="210 OmniGothic 040"/>
                          <a:cs typeface="210 OmniGothic 040"/>
                        </a:rPr>
                        <a:t>login_id</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ctr">
                        <a:buNone/>
                      </a:pPr>
                      <a:r>
                        <a:rPr sz="1150" b="1">
                          <a:solidFill>
                            <a:srgbClr val="2E3142"/>
                          </a:solidFill>
                          <a:latin typeface="210 OmniGothic 040"/>
                          <a:ea typeface="210 OmniGothic 040"/>
                          <a:cs typeface="210 OmniGothic 040"/>
                        </a:rPr>
                        <a:t>password_hash</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ctr">
                        <a:buNone/>
                      </a:pPr>
                      <a:r>
                        <a:rPr sz="1150" b="1">
                          <a:solidFill>
                            <a:srgbClr val="2E3142"/>
                          </a:solidFill>
                          <a:latin typeface="210 OmniGothic 040"/>
                          <a:ea typeface="210 OmniGothic 040"/>
                          <a:cs typeface="210 OmniGothic 040"/>
                        </a:rPr>
                        <a:t>name</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ctr">
                        <a:buNone/>
                      </a:pPr>
                      <a:r>
                        <a:rPr sz="1150" b="1">
                          <a:solidFill>
                            <a:srgbClr val="2E3142"/>
                          </a:solidFill>
                          <a:latin typeface="210 OmniGothic 040"/>
                          <a:ea typeface="210 OmniGothic 040"/>
                          <a:cs typeface="210 OmniGothic 040"/>
                        </a:rPr>
                        <a:t>role</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ctr">
                        <a:buNone/>
                      </a:pPr>
                      <a:r>
                        <a:rPr sz="1150" b="1">
                          <a:solidFill>
                            <a:srgbClr val="2E3142"/>
                          </a:solidFill>
                          <a:latin typeface="210 OmniGothic 040"/>
                          <a:ea typeface="210 OmniGothic 040"/>
                          <a:cs typeface="210 OmniGothic 040"/>
                        </a:rPr>
                        <a:t>sigungu_code</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ctr">
                        <a:buNone/>
                      </a:pPr>
                      <a:r>
                        <a:rPr sz="1150" b="1">
                          <a:solidFill>
                            <a:srgbClr val="2E3142"/>
                          </a:solidFill>
                          <a:latin typeface="210 OmniGothic 040"/>
                          <a:ea typeface="210 OmniGothic 040"/>
                          <a:cs typeface="210 OmniGothic 040"/>
                        </a:rPr>
                        <a:t>status</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ctr">
                        <a:buNone/>
                      </a:pPr>
                      <a:r>
                        <a:rPr sz="1150" b="1">
                          <a:solidFill>
                            <a:srgbClr val="2E3142"/>
                          </a:solidFill>
                          <a:latin typeface="210 OmniGothic 040"/>
                          <a:ea typeface="210 OmniGothic 040"/>
                          <a:cs typeface="210 OmniGothic 040"/>
                        </a:rPr>
                        <a:t>failed_count</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ctr">
                        <a:buNone/>
                      </a:pPr>
                      <a:r>
                        <a:rPr sz="1150" b="1">
                          <a:solidFill>
                            <a:srgbClr val="2E3142"/>
                          </a:solidFill>
                          <a:latin typeface="210 OmniGothic 040"/>
                          <a:ea typeface="210 OmniGothic 040"/>
                          <a:cs typeface="210 OmniGothic 040"/>
                        </a:rPr>
                        <a:t>locked</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ctr">
                        <a:buNone/>
                      </a:pPr>
                      <a:r>
                        <a:rPr sz="1150" b="1">
                          <a:solidFill>
                            <a:srgbClr val="2E3142"/>
                          </a:solidFill>
                          <a:latin typeface="210 OmniGothic 040"/>
                          <a:ea typeface="210 OmniGothic 040"/>
                          <a:cs typeface="210 OmniGothic 040"/>
                        </a:rPr>
                        <a:t>issued_at</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extLst>
                  <a:ext uri="{0D108BD9-81ED-4DB2-BD59-A6C34878D82A}">
                    <a16:rowId xmlns:a16="http://schemas.microsoft.com/office/drawing/2014/main" val="10000"/>
                  </a:ext>
                </a:extLst>
              </a:tr>
              <a:tr h="301752">
                <a:tc>
                  <a:txBody>
                    <a:bodyPr/>
                    <a:lstStyle/>
                    <a:p>
                      <a:pPr algn="ctr">
                        <a:buNone/>
                      </a:pPr>
                      <a:r>
                        <a:rPr sz="1150" b="0">
                          <a:solidFill>
                            <a:srgbClr val="2E3142"/>
                          </a:solidFill>
                          <a:latin typeface="210 OmniGothic 040"/>
                          <a:ea typeface="210 OmniGothic 040"/>
                          <a:cs typeface="210 OmniGothic 040"/>
                        </a:rPr>
                        <a:t>1</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cmd01</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(bcrypt 해시)</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통합지휘권자 1</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COMMANDER</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37520</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발급</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0</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False</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2025-03-02</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1"/>
                  </a:ext>
                </a:extLst>
              </a:tr>
              <a:tr h="301752">
                <a:tc>
                  <a:txBody>
                    <a:bodyPr/>
                    <a:lstStyle/>
                    <a:p>
                      <a:pPr algn="ctr">
                        <a:buNone/>
                      </a:pPr>
                      <a:r>
                        <a:rPr sz="1150" b="0">
                          <a:solidFill>
                            <a:srgbClr val="2E3142"/>
                          </a:solidFill>
                          <a:latin typeface="210 OmniGothic 040"/>
                          <a:ea typeface="210 OmniGothic 040"/>
                          <a:cs typeface="210 OmniGothic 040"/>
                        </a:rPr>
                        <a:t>2</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view01</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(bcrypt 해시)</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열람자 1(유관기관)</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VIEWER</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37520</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발급</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0</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False</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2025-03-02</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2"/>
                  </a:ext>
                </a:extLst>
              </a:tr>
              <a:tr h="301752">
                <a:tc>
                  <a:txBody>
                    <a:bodyPr/>
                    <a:lstStyle/>
                    <a:p>
                      <a:pPr algn="ctr">
                        <a:buNone/>
                      </a:pPr>
                      <a:r>
                        <a:rPr sz="1150" b="0">
                          <a:solidFill>
                            <a:srgbClr val="2E3142"/>
                          </a:solidFill>
                          <a:latin typeface="210 OmniGothic 040"/>
                          <a:ea typeface="210 OmniGothic 040"/>
                          <a:cs typeface="210 OmniGothic 040"/>
                        </a:rPr>
                        <a:t>3</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view02</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(bcrypt 해시)</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열람자 2(상급 본부)</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VIEWER</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37520</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회수</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0</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False</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2025-01-15</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3"/>
                  </a:ext>
                </a:extLst>
              </a:tr>
              <a:tr h="301752">
                <a:tc>
                  <a:txBody>
                    <a:bodyPr/>
                    <a:lstStyle/>
                    <a:p>
                      <a:pPr algn="ctr">
                        <a:buNone/>
                      </a:pPr>
                      <a:r>
                        <a:rPr sz="1150" b="0">
                          <a:solidFill>
                            <a:srgbClr val="2E3142"/>
                          </a:solidFill>
                          <a:latin typeface="210 OmniGothic 040"/>
                          <a:ea typeface="210 OmniGothic 040"/>
                          <a:cs typeface="210 OmniGothic 040"/>
                        </a:rPr>
                        <a:t>4</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rep01</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(bcrypt 해시)</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상황 보고자 1(현장)</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REPORTER</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37520</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발급</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0</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False</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2025-03-02</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4"/>
                  </a:ext>
                </a:extLst>
              </a:tr>
              <a:tr h="301752">
                <a:tc>
                  <a:txBody>
                    <a:bodyPr/>
                    <a:lstStyle/>
                    <a:p>
                      <a:pPr algn="ctr">
                        <a:buNone/>
                      </a:pPr>
                      <a:r>
                        <a:rPr sz="1150" b="0">
                          <a:solidFill>
                            <a:srgbClr val="2E3142"/>
                          </a:solidFill>
                          <a:latin typeface="210 OmniGothic 040"/>
                          <a:ea typeface="210 OmniGothic 040"/>
                          <a:cs typeface="210 OmniGothic 040"/>
                        </a:rPr>
                        <a:t>5</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admin01</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(bcrypt 해시)</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전산 관리자</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ADMIN</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37520</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발급</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0</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False</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2025-01-02</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5"/>
                  </a:ext>
                </a:extLst>
              </a:tr>
            </a:tbl>
          </a:graphicData>
        </a:graphic>
      </p:graphicFrame>
      <p:sp>
        <p:nvSpPr>
          <p:cNvPr id="5362" name="TextBox 5361">
            <a:extLst>
              <a:ext uri="{FF2B5EF4-FFF2-40B4-BE49-F238E27FC236}">
                <a16:creationId xmlns:a16="http://schemas.microsoft.com/office/drawing/2014/main" id="{963A36C1-DEC9-4AED-A3B7-D51029E94CF9}"/>
              </a:ext>
            </a:extLst>
          </p:cNvPr>
          <p:cNvSpPr>
            <a:spLocks noGrp="1"/>
          </p:cNvSpPr>
          <p:nvPr/>
        </p:nvSpPr>
        <p:spPr>
          <a:xfrm>
            <a:off x="822960" y="4779568"/>
            <a:ext cx="9144000" cy="301752"/>
          </a:xfrm>
          <a:prstGeom prst="rect">
            <a:avLst/>
          </a:prstGeom>
          <a:noFill/>
        </p:spPr>
        <p:txBody>
          <a:bodyPr wrap="square" lIns="0" tIns="0" rIns="0" bIns="0" anchor="t">
            <a:spAutoFit/>
          </a:bodyPr>
          <a:lstStyle/>
          <a:p>
            <a:pPr algn="l">
              <a:buNone/>
            </a:pPr>
            <a:r>
              <a:rPr sz="1450" b="1">
                <a:solidFill>
                  <a:srgbClr val="2E3142"/>
                </a:solidFill>
                <a:latin typeface="210 OmniGothic 040"/>
                <a:ea typeface="210 OmniGothic 040"/>
                <a:cs typeface="210 OmniGothic 040"/>
              </a:rPr>
              <a:t>incidents</a:t>
            </a:r>
          </a:p>
        </p:txBody>
      </p:sp>
      <p:graphicFrame>
        <p:nvGraphicFramePr>
          <p:cNvPr id="5384" name="Table 5362"/>
          <p:cNvGraphicFramePr/>
          <p:nvPr/>
        </p:nvGraphicFramePr>
        <p:xfrm>
          <a:off x="822960" y="5101437"/>
          <a:ext cx="16459197" cy="1207008"/>
        </p:xfrm>
        <a:graphic>
          <a:graphicData uri="http://schemas.openxmlformats.org/drawingml/2006/table">
            <a:tbl>
              <a:tblPr>
                <a:tableStyleId>{2D5ABB26-0587-4C30-8999-92F81FD0307C}</a:tableStyleId>
              </a:tblPr>
              <a:tblGrid>
                <a:gridCol w="1188843">
                  <a:extLst>
                    <a:ext uri="{9D8B030D-6E8A-4147-A177-3AD203B41FA5}">
                      <a16:colId xmlns:a16="http://schemas.microsoft.com/office/drawing/2014/main" val="20000"/>
                    </a:ext>
                  </a:extLst>
                </a:gridCol>
                <a:gridCol w="1544016">
                  <a:extLst>
                    <a:ext uri="{9D8B030D-6E8A-4147-A177-3AD203B41FA5}">
                      <a16:colId xmlns:a16="http://schemas.microsoft.com/office/drawing/2014/main" val="20001"/>
                    </a:ext>
                  </a:extLst>
                </a:gridCol>
                <a:gridCol w="1542898">
                  <a:extLst>
                    <a:ext uri="{9D8B030D-6E8A-4147-A177-3AD203B41FA5}">
                      <a16:colId xmlns:a16="http://schemas.microsoft.com/office/drawing/2014/main" val="20002"/>
                    </a:ext>
                  </a:extLst>
                </a:gridCol>
                <a:gridCol w="1778331">
                  <a:extLst>
                    <a:ext uri="{9D8B030D-6E8A-4147-A177-3AD203B41FA5}">
                      <a16:colId xmlns:a16="http://schemas.microsoft.com/office/drawing/2014/main" val="20003"/>
                    </a:ext>
                  </a:extLst>
                </a:gridCol>
                <a:gridCol w="949594">
                  <a:extLst>
                    <a:ext uri="{9D8B030D-6E8A-4147-A177-3AD203B41FA5}">
                      <a16:colId xmlns:a16="http://schemas.microsoft.com/office/drawing/2014/main" val="20004"/>
                    </a:ext>
                  </a:extLst>
                </a:gridCol>
                <a:gridCol w="981659">
                  <a:extLst>
                    <a:ext uri="{9D8B030D-6E8A-4147-A177-3AD203B41FA5}">
                      <a16:colId xmlns:a16="http://schemas.microsoft.com/office/drawing/2014/main" val="20005"/>
                    </a:ext>
                  </a:extLst>
                </a:gridCol>
                <a:gridCol w="1928623">
                  <a:extLst>
                    <a:ext uri="{9D8B030D-6E8A-4147-A177-3AD203B41FA5}">
                      <a16:colId xmlns:a16="http://schemas.microsoft.com/office/drawing/2014/main" val="20006"/>
                    </a:ext>
                  </a:extLst>
                </a:gridCol>
                <a:gridCol w="900024">
                  <a:extLst>
                    <a:ext uri="{9D8B030D-6E8A-4147-A177-3AD203B41FA5}">
                      <a16:colId xmlns:a16="http://schemas.microsoft.com/office/drawing/2014/main" val="20007"/>
                    </a:ext>
                  </a:extLst>
                </a:gridCol>
                <a:gridCol w="710346">
                  <a:extLst>
                    <a:ext uri="{9D8B030D-6E8A-4147-A177-3AD203B41FA5}">
                      <a16:colId xmlns:a16="http://schemas.microsoft.com/office/drawing/2014/main" val="20008"/>
                    </a:ext>
                  </a:extLst>
                </a:gridCol>
                <a:gridCol w="1188843">
                  <a:extLst>
                    <a:ext uri="{9D8B030D-6E8A-4147-A177-3AD203B41FA5}">
                      <a16:colId xmlns:a16="http://schemas.microsoft.com/office/drawing/2014/main" val="20009"/>
                    </a:ext>
                  </a:extLst>
                </a:gridCol>
                <a:gridCol w="981659">
                  <a:extLst>
                    <a:ext uri="{9D8B030D-6E8A-4147-A177-3AD203B41FA5}">
                      <a16:colId xmlns:a16="http://schemas.microsoft.com/office/drawing/2014/main" val="20010"/>
                    </a:ext>
                  </a:extLst>
                </a:gridCol>
                <a:gridCol w="771449">
                  <a:extLst>
                    <a:ext uri="{9D8B030D-6E8A-4147-A177-3AD203B41FA5}">
                      <a16:colId xmlns:a16="http://schemas.microsoft.com/office/drawing/2014/main" val="20012"/>
                    </a:ext>
                  </a:extLst>
                </a:gridCol>
                <a:gridCol w="1092886">
                  <a:extLst>
                    <a:ext uri="{9D8B030D-6E8A-4147-A177-3AD203B41FA5}">
                      <a16:colId xmlns:a16="http://schemas.microsoft.com/office/drawing/2014/main" val="20013"/>
                    </a:ext>
                  </a:extLst>
                </a:gridCol>
                <a:gridCol w="900020">
                  <a:extLst>
                    <a:ext uri="{9D8B030D-6E8A-4147-A177-3AD203B41FA5}">
                      <a16:colId xmlns:a16="http://schemas.microsoft.com/office/drawing/2014/main" val="20014"/>
                    </a:ext>
                  </a:extLst>
                </a:gridCol>
              </a:tblGrid>
              <a:tr h="301752">
                <a:tc>
                  <a:txBody>
                    <a:bodyPr/>
                    <a:lstStyle/>
                    <a:p>
                      <a:pPr algn="ctr">
                        <a:buNone/>
                      </a:pPr>
                      <a:r>
                        <a:rPr sz="900" b="1">
                          <a:solidFill>
                            <a:srgbClr val="2E3142"/>
                          </a:solidFill>
                          <a:latin typeface="210 OmniGothic 040"/>
                          <a:ea typeface="210 OmniGothic 040"/>
                          <a:cs typeface="210 OmniGothic 040"/>
                        </a:rPr>
                        <a:t>id</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ctr">
                        <a:buNone/>
                      </a:pPr>
                      <a:r>
                        <a:rPr sz="900" b="1">
                          <a:solidFill>
                            <a:srgbClr val="2E3142"/>
                          </a:solidFill>
                          <a:latin typeface="210 OmniGothic 040"/>
                          <a:ea typeface="210 OmniGothic 040"/>
                          <a:cs typeface="210 OmniGothic 040"/>
                        </a:rPr>
                        <a:t>name</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ctr">
                        <a:buNone/>
                      </a:pPr>
                      <a:r>
                        <a:rPr sz="900" b="1">
                          <a:solidFill>
                            <a:srgbClr val="2E3142"/>
                          </a:solidFill>
                          <a:latin typeface="210 OmniGothic 040"/>
                          <a:ea typeface="210 OmniGothic 040"/>
                          <a:cs typeface="210 OmniGothic 040"/>
                        </a:rPr>
                        <a:t>addr</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ctr">
                        <a:buNone/>
                      </a:pPr>
                      <a:r>
                        <a:rPr sz="900" b="1">
                          <a:solidFill>
                            <a:srgbClr val="2E3142"/>
                          </a:solidFill>
                          <a:latin typeface="210 OmniGothic 040"/>
                          <a:ea typeface="210 OmniGothic 040"/>
                          <a:cs typeface="210 OmniGothic 040"/>
                        </a:rPr>
                        <a:t>ignition_geom</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ctr">
                        <a:buNone/>
                      </a:pPr>
                      <a:r>
                        <a:rPr sz="900" b="1">
                          <a:solidFill>
                            <a:srgbClr val="2E3142"/>
                          </a:solidFill>
                          <a:latin typeface="210 OmniGothic 040"/>
                          <a:ea typeface="210 OmniGothic 040"/>
                          <a:cs typeface="210 OmniGothic 040"/>
                        </a:rPr>
                        <a:t>started_at</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ctr">
                        <a:buNone/>
                      </a:pPr>
                      <a:r>
                        <a:rPr sz="900" b="1">
                          <a:solidFill>
                            <a:srgbClr val="2E3142"/>
                          </a:solidFill>
                          <a:latin typeface="210 OmniGothic 040"/>
                          <a:ea typeface="210 OmniGothic 040"/>
                          <a:cs typeface="210 OmniGothic 040"/>
                        </a:rPr>
                        <a:t>reported_at</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ctr">
                        <a:buNone/>
                      </a:pPr>
                      <a:r>
                        <a:rPr sz="900" b="1">
                          <a:solidFill>
                            <a:srgbClr val="2E3142"/>
                          </a:solidFill>
                          <a:latin typeface="210 OmniGothic 040"/>
                          <a:ea typeface="210 OmniGothic 040"/>
                          <a:cs typeface="210 OmniGothic 040"/>
                        </a:rPr>
                        <a:t>report_text</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ctr">
                        <a:buNone/>
                      </a:pPr>
                      <a:r>
                        <a:rPr sz="900" b="1">
                          <a:solidFill>
                            <a:srgbClr val="2E3142"/>
                          </a:solidFill>
                          <a:latin typeface="210 OmniGothic 040"/>
                          <a:ea typeface="210 OmniGothic 040"/>
                          <a:cs typeface="210 OmniGothic 040"/>
                        </a:rPr>
                        <a:t>reported_by</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ctr">
                        <a:buNone/>
                      </a:pPr>
                      <a:r>
                        <a:rPr sz="900" b="1">
                          <a:solidFill>
                            <a:srgbClr val="2E3142"/>
                          </a:solidFill>
                          <a:latin typeface="210 OmniGothic 040"/>
                          <a:ea typeface="210 OmniGothic 040"/>
                          <a:cs typeface="210 OmniGothic 040"/>
                        </a:rPr>
                        <a:t>status</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ctr">
                        <a:buNone/>
                      </a:pPr>
                      <a:r>
                        <a:rPr sz="900" b="1">
                          <a:solidFill>
                            <a:srgbClr val="2E3142"/>
                          </a:solidFill>
                          <a:latin typeface="210 OmniGothic 040"/>
                          <a:ea typeface="210 OmniGothic 040"/>
                          <a:cs typeface="210 OmniGothic 040"/>
                        </a:rPr>
                        <a:t>official_stage</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ctr">
                        <a:buNone/>
                      </a:pPr>
                      <a:r>
                        <a:rPr sz="900" b="1">
                          <a:solidFill>
                            <a:srgbClr val="2E3142"/>
                          </a:solidFill>
                          <a:latin typeface="210 OmniGothic 040"/>
                          <a:ea typeface="210 OmniGothic 040"/>
                          <a:cs typeface="210 OmniGothic 040"/>
                        </a:rPr>
                        <a:t>alert_level</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ctr">
                        <a:buNone/>
                      </a:pPr>
                      <a:r>
                        <a:rPr sz="900" b="1">
                          <a:solidFill>
                            <a:srgbClr val="2E3142"/>
                          </a:solidFill>
                          <a:latin typeface="210 OmniGothic 040"/>
                          <a:ea typeface="210 OmniGothic 040"/>
                          <a:cs typeface="210 OmniGothic 040"/>
                        </a:rPr>
                        <a:t>expected_hours</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ctr">
                        <a:buNone/>
                      </a:pPr>
                      <a:r>
                        <a:rPr sz="900" b="1">
                          <a:solidFill>
                            <a:srgbClr val="2E3142"/>
                          </a:solidFill>
                          <a:latin typeface="210 OmniGothic 040"/>
                          <a:ea typeface="210 OmniGothic 040"/>
                          <a:cs typeface="210 OmniGothic 040"/>
                        </a:rPr>
                        <a:t>ended_at</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ctr">
                        <a:buNone/>
                      </a:pPr>
                      <a:r>
                        <a:rPr sz="900" b="1">
                          <a:solidFill>
                            <a:srgbClr val="2E3142"/>
                          </a:solidFill>
                          <a:latin typeface="210 OmniGothic 040"/>
                          <a:ea typeface="210 OmniGothic 040"/>
                          <a:cs typeface="210 OmniGothic 040"/>
                        </a:rPr>
                        <a:t>ended_by</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extLst>
                  <a:ext uri="{0D108BD9-81ED-4DB2-BD59-A6C34878D82A}">
                    <a16:rowId xmlns:a16="http://schemas.microsoft.com/office/drawing/2014/main" val="10000"/>
                  </a:ext>
                </a:extLst>
              </a:tr>
              <a:tr h="301752">
                <a:tc>
                  <a:txBody>
                    <a:bodyPr/>
                    <a:lstStyle/>
                    <a:p>
                      <a:pPr algn="ctr">
                        <a:buNone/>
                      </a:pPr>
                      <a:r>
                        <a:rPr sz="900" b="0">
                          <a:solidFill>
                            <a:srgbClr val="2E3142"/>
                          </a:solidFill>
                          <a:latin typeface="210 OmniGothic 040"/>
                          <a:ea typeface="210 OmniGothic 040"/>
                          <a:cs typeface="210 OmniGothic 040"/>
                        </a:rPr>
                        <a:t>F-2025-0322-01</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900" b="0">
                          <a:solidFill>
                            <a:srgbClr val="2E3142"/>
                          </a:solidFill>
                          <a:latin typeface="210 OmniGothic 040"/>
                          <a:ea typeface="210 OmniGothic 040"/>
                          <a:cs typeface="210 OmniGothic 040"/>
                        </a:rPr>
                        <a:t>의성 안평면 산불</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900" b="0">
                          <a:solidFill>
                            <a:srgbClr val="2E3142"/>
                          </a:solidFill>
                          <a:latin typeface="210 OmniGothic 040"/>
                          <a:ea typeface="210 OmniGothic 040"/>
                          <a:cs typeface="210 OmniGothic 040"/>
                        </a:rPr>
                        <a:t>의성군 안평면 괴산리 산 12</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900" b="0">
                          <a:solidFill>
                            <a:srgbClr val="2E3142"/>
                          </a:solidFill>
                          <a:latin typeface="210 OmniGothic 040"/>
                          <a:ea typeface="210 OmniGothic 040"/>
                          <a:cs typeface="210 OmniGothic 040"/>
                        </a:rPr>
                        <a:t>POINT(128.6023 36.3657)</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900" b="0">
                          <a:solidFill>
                            <a:srgbClr val="2E3142"/>
                          </a:solidFill>
                          <a:latin typeface="210 OmniGothic 040"/>
                          <a:ea typeface="210 OmniGothic 040"/>
                          <a:cs typeface="210 OmniGothic 040"/>
                        </a:rPr>
                        <a:t>03-22 11:24</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900" b="0">
                          <a:solidFill>
                            <a:srgbClr val="2E3142"/>
                          </a:solidFill>
                          <a:latin typeface="210 OmniGothic 040"/>
                          <a:ea typeface="210 OmniGothic 040"/>
                          <a:cs typeface="210 OmniGothic 040"/>
                        </a:rPr>
                        <a:t>03-22 11:25</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900" b="0">
                          <a:solidFill>
                            <a:srgbClr val="2E3142"/>
                          </a:solidFill>
                          <a:latin typeface="210 OmniGothic 040"/>
                          <a:ea typeface="210 OmniGothic 040"/>
                          <a:cs typeface="210 OmniGothic 040"/>
                        </a:rPr>
                        <a:t>야산 연기·불길 목격</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900" b="0">
                          <a:solidFill>
                            <a:srgbClr val="2E3142"/>
                          </a:solidFill>
                          <a:latin typeface="210 OmniGothic 040"/>
                          <a:ea typeface="210 OmniGothic 040"/>
                          <a:cs typeface="210 OmniGothic 040"/>
                        </a:rPr>
                        <a:t>4 (rep01)</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900" b="0">
                          <a:solidFill>
                            <a:srgbClr val="2E3142"/>
                          </a:solidFill>
                          <a:latin typeface="210 OmniGothic 040"/>
                          <a:ea typeface="210 OmniGothic 040"/>
                          <a:cs typeface="210 OmniGothic 040"/>
                        </a:rPr>
                        <a:t>진행 중</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900" b="0">
                          <a:solidFill>
                            <a:srgbClr val="2E3142"/>
                          </a:solidFill>
                          <a:latin typeface="210 OmniGothic 040"/>
                          <a:ea typeface="210 OmniGothic 040"/>
                          <a:cs typeface="210 OmniGothic 040"/>
                        </a:rPr>
                        <a:t>초기대응</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900" b="0">
                          <a:solidFill>
                            <a:srgbClr val="2E3142"/>
                          </a:solidFill>
                          <a:latin typeface="210 OmniGothic 040"/>
                          <a:ea typeface="210 OmniGothic 040"/>
                          <a:cs typeface="210 OmniGothic 040"/>
                        </a:rPr>
                        <a:t>주의</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900" b="0">
                          <a:solidFill>
                            <a:srgbClr val="2E3142"/>
                          </a:solidFill>
                          <a:latin typeface="210 OmniGothic 040"/>
                          <a:ea typeface="210 OmniGothic 040"/>
                          <a:cs typeface="210 OmniGothic 040"/>
                        </a:rPr>
                        <a:t>8</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900" b="0">
                          <a:solidFill>
                            <a:srgbClr val="2E3142"/>
                          </a:solidFill>
                          <a:latin typeface="210 OmniGothic 040"/>
                          <a:ea typeface="210 OmniGothic 040"/>
                          <a:cs typeface="210 OmniGothic 040"/>
                        </a:rPr>
                        <a:t>NULL</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900" b="0">
                          <a:solidFill>
                            <a:srgbClr val="2E3142"/>
                          </a:solidFill>
                          <a:latin typeface="210 OmniGothic 040"/>
                          <a:ea typeface="210 OmniGothic 040"/>
                          <a:cs typeface="210 OmniGothic 040"/>
                        </a:rPr>
                        <a:t>NULL</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1"/>
                  </a:ext>
                </a:extLst>
              </a:tr>
              <a:tr h="301752">
                <a:tc>
                  <a:txBody>
                    <a:bodyPr/>
                    <a:lstStyle/>
                    <a:p>
                      <a:pPr algn="ctr">
                        <a:buNone/>
                      </a:pPr>
                      <a:r>
                        <a:rPr sz="900" b="0">
                          <a:solidFill>
                            <a:srgbClr val="2E3142"/>
                          </a:solidFill>
                          <a:latin typeface="210 OmniGothic 040"/>
                          <a:ea typeface="210 OmniGothic 040"/>
                          <a:cs typeface="210 OmniGothic 040"/>
                        </a:rPr>
                        <a:t>F-2025-0322-02</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900" b="0">
                          <a:solidFill>
                            <a:srgbClr val="2E3142"/>
                          </a:solidFill>
                          <a:latin typeface="210 OmniGothic 040"/>
                          <a:ea typeface="210 OmniGothic 040"/>
                          <a:cs typeface="210 OmniGothic 040"/>
                        </a:rPr>
                        <a:t>의성 사곡면 산불(가상)</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900" b="0">
                          <a:solidFill>
                            <a:srgbClr val="2E3142"/>
                          </a:solidFill>
                          <a:latin typeface="210 OmniGothic 040"/>
                          <a:ea typeface="210 OmniGothic 040"/>
                          <a:cs typeface="210 OmniGothic 040"/>
                        </a:rPr>
                        <a:t>의성군 사곡면(가상)</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900" b="0">
                          <a:solidFill>
                            <a:srgbClr val="2E3142"/>
                          </a:solidFill>
                          <a:latin typeface="210 OmniGothic 040"/>
                          <a:ea typeface="210 OmniGothic 040"/>
                          <a:cs typeface="210 OmniGothic 040"/>
                        </a:rPr>
                        <a:t>POINT(128.7520 36.3410)</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900" b="0">
                          <a:solidFill>
                            <a:srgbClr val="2E3142"/>
                          </a:solidFill>
                          <a:latin typeface="210 OmniGothic 040"/>
                          <a:ea typeface="210 OmniGothic 040"/>
                          <a:cs typeface="210 OmniGothic 040"/>
                        </a:rPr>
                        <a:t>NULL</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900" b="0">
                          <a:solidFill>
                            <a:srgbClr val="2E3142"/>
                          </a:solidFill>
                          <a:latin typeface="210 OmniGothic 040"/>
                          <a:ea typeface="210 OmniGothic 040"/>
                          <a:cs typeface="210 OmniGothic 040"/>
                        </a:rPr>
                        <a:t>03-22 11:52</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900" b="0">
                          <a:solidFill>
                            <a:srgbClr val="2E3142"/>
                          </a:solidFill>
                          <a:latin typeface="210 OmniGothic 040"/>
                          <a:ea typeface="210 OmniGothic 040"/>
                          <a:cs typeface="210 OmniGothic 040"/>
                        </a:rPr>
                        <a:t>인근 연기 신고(가상)</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900" b="0">
                          <a:solidFill>
                            <a:srgbClr val="2E3142"/>
                          </a:solidFill>
                          <a:latin typeface="210 OmniGothic 040"/>
                          <a:ea typeface="210 OmniGothic 040"/>
                          <a:cs typeface="210 OmniGothic 040"/>
                        </a:rPr>
                        <a:t>4 (rep01)</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900" b="0">
                          <a:solidFill>
                            <a:srgbClr val="2E3142"/>
                          </a:solidFill>
                          <a:latin typeface="210 OmniGothic 040"/>
                          <a:ea typeface="210 OmniGothic 040"/>
                          <a:cs typeface="210 OmniGothic 040"/>
                        </a:rPr>
                        <a:t>접수</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900" b="0">
                          <a:solidFill>
                            <a:srgbClr val="2E3142"/>
                          </a:solidFill>
                          <a:latin typeface="210 OmniGothic 040"/>
                          <a:ea typeface="210 OmniGothic 040"/>
                          <a:cs typeface="210 OmniGothic 040"/>
                        </a:rPr>
                        <a:t>초기대응</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900" b="0">
                          <a:solidFill>
                            <a:srgbClr val="2E3142"/>
                          </a:solidFill>
                          <a:latin typeface="210 OmniGothic 040"/>
                          <a:ea typeface="210 OmniGothic 040"/>
                          <a:cs typeface="210 OmniGothic 040"/>
                        </a:rPr>
                        <a:t>주의</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900" b="0">
                          <a:solidFill>
                            <a:srgbClr val="2E3142"/>
                          </a:solidFill>
                          <a:latin typeface="210 OmniGothic 040"/>
                          <a:ea typeface="210 OmniGothic 040"/>
                          <a:cs typeface="210 OmniGothic 040"/>
                        </a:rPr>
                        <a:t>NULL</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900" b="0">
                          <a:solidFill>
                            <a:srgbClr val="2E3142"/>
                          </a:solidFill>
                          <a:latin typeface="210 OmniGothic 040"/>
                          <a:ea typeface="210 OmniGothic 040"/>
                          <a:cs typeface="210 OmniGothic 040"/>
                        </a:rPr>
                        <a:t>NULL</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900" b="0">
                          <a:solidFill>
                            <a:srgbClr val="2E3142"/>
                          </a:solidFill>
                          <a:latin typeface="210 OmniGothic 040"/>
                          <a:ea typeface="210 OmniGothic 040"/>
                          <a:cs typeface="210 OmniGothic 040"/>
                        </a:rPr>
                        <a:t>NULL</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2"/>
                  </a:ext>
                </a:extLst>
              </a:tr>
              <a:tr h="301752">
                <a:tc>
                  <a:txBody>
                    <a:bodyPr/>
                    <a:lstStyle/>
                    <a:p>
                      <a:pPr algn="ctr">
                        <a:buNone/>
                      </a:pPr>
                      <a:r>
                        <a:rPr sz="900" b="0">
                          <a:solidFill>
                            <a:srgbClr val="2E3142"/>
                          </a:solidFill>
                          <a:latin typeface="210 OmniGothic 040"/>
                          <a:ea typeface="210 OmniGothic 040"/>
                          <a:cs typeface="210 OmniGothic 040"/>
                        </a:rPr>
                        <a:t>F-2025-0321-01</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900" b="0">
                          <a:solidFill>
                            <a:srgbClr val="2E3142"/>
                          </a:solidFill>
                          <a:latin typeface="210 OmniGothic 040"/>
                          <a:ea typeface="210 OmniGothic 040"/>
                          <a:cs typeface="210 OmniGothic 040"/>
                        </a:rPr>
                        <a:t>의성 점곡면 산불(가상)</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900" b="0">
                          <a:solidFill>
                            <a:srgbClr val="2E3142"/>
                          </a:solidFill>
                          <a:latin typeface="210 OmniGothic 040"/>
                          <a:ea typeface="210 OmniGothic 040"/>
                          <a:cs typeface="210 OmniGothic 040"/>
                        </a:rPr>
                        <a:t>의성군 점곡면(가상)</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900" b="0">
                          <a:solidFill>
                            <a:srgbClr val="2E3142"/>
                          </a:solidFill>
                          <a:latin typeface="210 OmniGothic 040"/>
                          <a:ea typeface="210 OmniGothic 040"/>
                          <a:cs typeface="210 OmniGothic 040"/>
                        </a:rPr>
                        <a:t>POINT(128.7250 36.4330)</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900" b="0">
                          <a:solidFill>
                            <a:srgbClr val="2E3142"/>
                          </a:solidFill>
                          <a:latin typeface="210 OmniGothic 040"/>
                          <a:ea typeface="210 OmniGothic 040"/>
                          <a:cs typeface="210 OmniGothic 040"/>
                        </a:rPr>
                        <a:t>03-21 13:05</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900" b="0">
                          <a:solidFill>
                            <a:srgbClr val="2E3142"/>
                          </a:solidFill>
                          <a:latin typeface="210 OmniGothic 040"/>
                          <a:ea typeface="210 OmniGothic 040"/>
                          <a:cs typeface="210 OmniGothic 040"/>
                        </a:rPr>
                        <a:t>03-21 13:10</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900" b="0">
                          <a:solidFill>
                            <a:srgbClr val="2E3142"/>
                          </a:solidFill>
                          <a:latin typeface="210 OmniGothic 040"/>
                          <a:ea typeface="210 OmniGothic 040"/>
                          <a:cs typeface="210 OmniGothic 040"/>
                        </a:rPr>
                        <a:t>화재 신고(가상)</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900" b="0">
                          <a:solidFill>
                            <a:srgbClr val="2E3142"/>
                          </a:solidFill>
                          <a:latin typeface="210 OmniGothic 040"/>
                          <a:ea typeface="210 OmniGothic 040"/>
                          <a:cs typeface="210 OmniGothic 040"/>
                        </a:rPr>
                        <a:t>4 (rep01)</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900" b="0">
                          <a:solidFill>
                            <a:srgbClr val="2E3142"/>
                          </a:solidFill>
                          <a:latin typeface="210 OmniGothic 040"/>
                          <a:ea typeface="210 OmniGothic 040"/>
                          <a:cs typeface="210 OmniGothic 040"/>
                        </a:rPr>
                        <a:t>종료</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900" b="0">
                          <a:solidFill>
                            <a:srgbClr val="2E3142"/>
                          </a:solidFill>
                          <a:latin typeface="210 OmniGothic 040"/>
                          <a:ea typeface="210 OmniGothic 040"/>
                          <a:cs typeface="210 OmniGothic 040"/>
                        </a:rPr>
                        <a:t>초기대응</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900" b="0">
                          <a:solidFill>
                            <a:srgbClr val="2E3142"/>
                          </a:solidFill>
                          <a:latin typeface="210 OmniGothic 040"/>
                          <a:ea typeface="210 OmniGothic 040"/>
                          <a:cs typeface="210 OmniGothic 040"/>
                        </a:rPr>
                        <a:t>관심</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900" b="0">
                          <a:solidFill>
                            <a:srgbClr val="2E3142"/>
                          </a:solidFill>
                          <a:latin typeface="210 OmniGothic 040"/>
                          <a:ea typeface="210 OmniGothic 040"/>
                          <a:cs typeface="210 OmniGothic 040"/>
                        </a:rPr>
                        <a:t>6</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900" b="0">
                          <a:solidFill>
                            <a:srgbClr val="2E3142"/>
                          </a:solidFill>
                          <a:latin typeface="210 OmniGothic 040"/>
                          <a:ea typeface="210 OmniGothic 040"/>
                          <a:cs typeface="210 OmniGothic 040"/>
                        </a:rPr>
                        <a:t>2025-03-21 18:40</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900" b="0">
                          <a:solidFill>
                            <a:srgbClr val="2E3142"/>
                          </a:solidFill>
                          <a:latin typeface="210 OmniGothic 040"/>
                          <a:ea typeface="210 OmniGothic 040"/>
                          <a:cs typeface="210 OmniGothic 040"/>
                        </a:rPr>
                        <a:t>1 (cmd01)</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3"/>
                  </a:ext>
                </a:extLst>
              </a:tr>
            </a:tbl>
          </a:graphicData>
        </a:graphic>
      </p:graphicFrame>
      <p:sp>
        <p:nvSpPr>
          <p:cNvPr id="5364" name="TextBox 5363">
            <a:extLst>
              <a:ext uri="{FF2B5EF4-FFF2-40B4-BE49-F238E27FC236}">
                <a16:creationId xmlns:a16="http://schemas.microsoft.com/office/drawing/2014/main" id="{739CF8F7-6D35-4A6D-BB43-EE2F757C4E5A}"/>
              </a:ext>
            </a:extLst>
          </p:cNvPr>
          <p:cNvSpPr>
            <a:spLocks noGrp="1"/>
          </p:cNvSpPr>
          <p:nvPr/>
        </p:nvSpPr>
        <p:spPr>
          <a:xfrm>
            <a:off x="822960" y="6559905"/>
            <a:ext cx="9144000" cy="301752"/>
          </a:xfrm>
          <a:prstGeom prst="rect">
            <a:avLst/>
          </a:prstGeom>
          <a:noFill/>
        </p:spPr>
        <p:txBody>
          <a:bodyPr wrap="square" lIns="0" tIns="0" rIns="0" bIns="0" anchor="t">
            <a:spAutoFit/>
          </a:bodyPr>
          <a:lstStyle/>
          <a:p>
            <a:pPr algn="l">
              <a:buNone/>
            </a:pPr>
            <a:r>
              <a:rPr sz="1450" b="1">
                <a:solidFill>
                  <a:srgbClr val="2E3142"/>
                </a:solidFill>
                <a:latin typeface="210 OmniGothic 040"/>
                <a:ea typeface="210 OmniGothic 040"/>
                <a:cs typeface="210 OmniGothic 040"/>
              </a:rPr>
              <a:t>intake_records</a:t>
            </a:r>
          </a:p>
        </p:txBody>
      </p:sp>
      <p:graphicFrame>
        <p:nvGraphicFramePr>
          <p:cNvPr id="5386" name="Table 5364"/>
          <p:cNvGraphicFramePr/>
          <p:nvPr/>
        </p:nvGraphicFramePr>
        <p:xfrm>
          <a:off x="822960" y="6881774"/>
          <a:ext cx="16459197" cy="1508760"/>
        </p:xfrm>
        <a:graphic>
          <a:graphicData uri="http://schemas.openxmlformats.org/drawingml/2006/table">
            <a:tbl>
              <a:tblPr>
                <a:tableStyleId>{2D5ABB26-0587-4C30-8999-92F81FD0307C}</a:tableStyleId>
              </a:tblPr>
              <a:tblGrid>
                <a:gridCol w="2176423">
                  <a:extLst>
                    <a:ext uri="{9D8B030D-6E8A-4147-A177-3AD203B41FA5}">
                      <a16:colId xmlns:a16="http://schemas.microsoft.com/office/drawing/2014/main" val="20000"/>
                    </a:ext>
                  </a:extLst>
                </a:gridCol>
                <a:gridCol w="3642485">
                  <a:extLst>
                    <a:ext uri="{9D8B030D-6E8A-4147-A177-3AD203B41FA5}">
                      <a16:colId xmlns:a16="http://schemas.microsoft.com/office/drawing/2014/main" val="20001"/>
                    </a:ext>
                  </a:extLst>
                </a:gridCol>
                <a:gridCol w="5327702">
                  <a:extLst>
                    <a:ext uri="{9D8B030D-6E8A-4147-A177-3AD203B41FA5}">
                      <a16:colId xmlns:a16="http://schemas.microsoft.com/office/drawing/2014/main" val="20002"/>
                    </a:ext>
                  </a:extLst>
                </a:gridCol>
                <a:gridCol w="3007695">
                  <a:extLst>
                    <a:ext uri="{9D8B030D-6E8A-4147-A177-3AD203B41FA5}">
                      <a16:colId xmlns:a16="http://schemas.microsoft.com/office/drawing/2014/main" val="20003"/>
                    </a:ext>
                  </a:extLst>
                </a:gridCol>
                <a:gridCol w="2304892">
                  <a:extLst>
                    <a:ext uri="{9D8B030D-6E8A-4147-A177-3AD203B41FA5}">
                      <a16:colId xmlns:a16="http://schemas.microsoft.com/office/drawing/2014/main" val="20004"/>
                    </a:ext>
                  </a:extLst>
                </a:gridCol>
              </a:tblGrid>
              <a:tr h="301752">
                <a:tc>
                  <a:txBody>
                    <a:bodyPr/>
                    <a:lstStyle/>
                    <a:p>
                      <a:pPr algn="ctr">
                        <a:buNone/>
                      </a:pPr>
                      <a:r>
                        <a:rPr sz="1150" b="1">
                          <a:solidFill>
                            <a:srgbClr val="2E3142"/>
                          </a:solidFill>
                          <a:latin typeface="210 OmniGothic 040"/>
                          <a:ea typeface="210 OmniGothic 040"/>
                          <a:cs typeface="210 OmniGothic 040"/>
                        </a:rPr>
                        <a:t>id</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ctr">
                        <a:buNone/>
                      </a:pPr>
                      <a:r>
                        <a:rPr sz="1150" b="1">
                          <a:solidFill>
                            <a:srgbClr val="2E3142"/>
                          </a:solidFill>
                          <a:latin typeface="210 OmniGothic 040"/>
                          <a:ea typeface="210 OmniGothic 040"/>
                          <a:cs typeface="210 OmniGothic 040"/>
                        </a:rPr>
                        <a:t>incident_id</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ctr">
                        <a:buNone/>
                      </a:pPr>
                      <a:r>
                        <a:rPr sz="1150" b="1">
                          <a:solidFill>
                            <a:srgbClr val="2E3142"/>
                          </a:solidFill>
                          <a:latin typeface="210 OmniGothic 040"/>
                          <a:ea typeface="210 OmniGothic 040"/>
                          <a:cs typeface="210 OmniGothic 040"/>
                        </a:rPr>
                        <a:t>org_name</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ctr">
                        <a:buNone/>
                      </a:pPr>
                      <a:r>
                        <a:rPr sz="1150" b="1">
                          <a:solidFill>
                            <a:srgbClr val="2E3142"/>
                          </a:solidFill>
                          <a:latin typeface="210 OmniGothic 040"/>
                          <a:ea typeface="210 OmniGothic 040"/>
                          <a:cs typeface="210 OmniGothic 040"/>
                        </a:rPr>
                        <a:t>received_at</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ctr">
                        <a:buNone/>
                      </a:pPr>
                      <a:r>
                        <a:rPr sz="1150" b="1">
                          <a:solidFill>
                            <a:srgbClr val="2E3142"/>
                          </a:solidFill>
                          <a:latin typeface="210 OmniGothic 040"/>
                          <a:ea typeface="210 OmniGothic 040"/>
                          <a:cs typeface="210 OmniGothic 040"/>
                        </a:rPr>
                        <a:t>channel</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extLst>
                  <a:ext uri="{0D108BD9-81ED-4DB2-BD59-A6C34878D82A}">
                    <a16:rowId xmlns:a16="http://schemas.microsoft.com/office/drawing/2014/main" val="10000"/>
                  </a:ext>
                </a:extLst>
              </a:tr>
              <a:tr h="301752">
                <a:tc>
                  <a:txBody>
                    <a:bodyPr/>
                    <a:lstStyle/>
                    <a:p>
                      <a:pPr algn="ctr">
                        <a:buNone/>
                      </a:pPr>
                      <a:r>
                        <a:rPr sz="1150" b="0">
                          <a:solidFill>
                            <a:srgbClr val="2E3142"/>
                          </a:solidFill>
                          <a:latin typeface="210 OmniGothic 040"/>
                          <a:ea typeface="210 OmniGothic 040"/>
                          <a:cs typeface="210 OmniGothic 040"/>
                        </a:rPr>
                        <a:t>1</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F-2025-0322-01</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의성군(119 공동대응)</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11:25</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119 신고</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1"/>
                  </a:ext>
                </a:extLst>
              </a:tr>
              <a:tr h="301752">
                <a:tc>
                  <a:txBody>
                    <a:bodyPr/>
                    <a:lstStyle/>
                    <a:p>
                      <a:pPr algn="ctr">
                        <a:buNone/>
                      </a:pPr>
                      <a:r>
                        <a:rPr sz="1150" b="0">
                          <a:solidFill>
                            <a:srgbClr val="2E3142"/>
                          </a:solidFill>
                          <a:latin typeface="210 OmniGothic 040"/>
                          <a:ea typeface="210 OmniGothic 040"/>
                          <a:cs typeface="210 OmniGothic 040"/>
                        </a:rPr>
                        <a:t>2</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F-2025-0322-01</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경북도 산림재난상황실</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11:31</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상황 전파</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2"/>
                  </a:ext>
                </a:extLst>
              </a:tr>
              <a:tr h="301752">
                <a:tc>
                  <a:txBody>
                    <a:bodyPr/>
                    <a:lstStyle/>
                    <a:p>
                      <a:pPr algn="ctr">
                        <a:buNone/>
                      </a:pPr>
                      <a:r>
                        <a:rPr sz="1150" b="0">
                          <a:solidFill>
                            <a:srgbClr val="2E3142"/>
                          </a:solidFill>
                          <a:latin typeface="210 OmniGothic 040"/>
                          <a:ea typeface="210 OmniGothic 040"/>
                          <a:cs typeface="210 OmniGothic 040"/>
                        </a:rPr>
                        <a:t>3</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F-2025-0322-01</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남부지방산림청</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11:34</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상황 전파</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3"/>
                  </a:ext>
                </a:extLst>
              </a:tr>
              <a:tr h="301752">
                <a:tc>
                  <a:txBody>
                    <a:bodyPr/>
                    <a:lstStyle/>
                    <a:p>
                      <a:pPr algn="ctr">
                        <a:buNone/>
                      </a:pPr>
                      <a:r>
                        <a:rPr sz="1150" b="0">
                          <a:solidFill>
                            <a:srgbClr val="2E3142"/>
                          </a:solidFill>
                          <a:latin typeface="210 OmniGothic 040"/>
                          <a:ea typeface="210 OmniGothic 040"/>
                          <a:cs typeface="210 OmniGothic 040"/>
                        </a:rPr>
                        <a:t>4</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F-2025-0322-01</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산림청 중앙산림재난상황실</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11:38</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상황 전파</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4"/>
                  </a:ext>
                </a:extLst>
              </a:tr>
            </a:tbl>
          </a:graphicData>
        </a:graphic>
      </p:graphicFrame>
      <p:sp>
        <p:nvSpPr>
          <p:cNvPr id="5366" name="TextBox 5365">
            <a:extLst>
              <a:ext uri="{FF2B5EF4-FFF2-40B4-BE49-F238E27FC236}">
                <a16:creationId xmlns:a16="http://schemas.microsoft.com/office/drawing/2014/main" id="{7092E521-CA15-4AFF-B9F8-5E55BF868920}"/>
              </a:ext>
            </a:extLst>
          </p:cNvPr>
          <p:cNvSpPr>
            <a:spLocks noGrp="1"/>
          </p:cNvSpPr>
          <p:nvPr/>
        </p:nvSpPr>
        <p:spPr>
          <a:xfrm>
            <a:off x="822960" y="8883396"/>
            <a:ext cx="16459200" cy="301752"/>
          </a:xfrm>
          <a:prstGeom prst="rect">
            <a:avLst/>
          </a:prstGeom>
          <a:noFill/>
        </p:spPr>
        <p:txBody>
          <a:bodyPr wrap="square" lIns="0" tIns="0" rIns="0" bIns="0" anchor="t">
            <a:spAutoFit/>
          </a:bodyPr>
          <a:lstStyle/>
          <a:p>
            <a:pPr algn="l">
              <a:buNone/>
            </a:pPr>
            <a:r>
              <a:rPr sz="1150" b="0">
                <a:solidFill>
                  <a:srgbClr val="7B8094"/>
                </a:solidFill>
                <a:latin typeface="210 OmniGothic 030"/>
                <a:ea typeface="210 OmniGothic 030"/>
                <a:cs typeface="210 OmniGothic 030"/>
              </a:rPr>
              <a:t>※ 좌표·발생 시각·접수 경로·마을 좌표는 실제(보도·OSM·SGIS), 실측 화선·사곡면·점곡면 산불·계정·인구·자원·수용 인원·위험도 요인 점수는 목업과 같은 시연용 가상값입니다.</a:t>
            </a:r>
          </a:p>
        </p:txBody>
      </p:sp>
    </p:spTree>
    <p:extLst>
      <p:ext uri="{BB962C8B-B14F-4D97-AF65-F5344CB8AC3E}">
        <p14:creationId xmlns:p14="http://schemas.microsoft.com/office/powerpoint/2010/main" val="117456416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79" name="Picture 2"/>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700" y="-12700"/>
            <a:ext cx="18313400" cy="1638300"/>
          </a:xfrm>
          <a:prstGeom prst="rect">
            <a:avLst/>
          </a:prstGeom>
        </p:spPr>
      </p:pic>
      <p:pic>
        <p:nvPicPr>
          <p:cNvPr id="5380" name="Picture 4"/>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28" y="1618343"/>
            <a:ext cx="18313400" cy="8699500"/>
          </a:xfrm>
          <a:prstGeom prst="rect">
            <a:avLst/>
          </a:prstGeom>
        </p:spPr>
      </p:pic>
      <p:pic>
        <p:nvPicPr>
          <p:cNvPr id="5381" name="Picture 5"/>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58800" y="9271000"/>
            <a:ext cx="17170400" cy="50800"/>
          </a:xfrm>
          <a:prstGeom prst="rect">
            <a:avLst/>
          </a:prstGeom>
        </p:spPr>
      </p:pic>
      <p:pic>
        <p:nvPicPr>
          <p:cNvPr id="5382" name="Picture 3"/>
          <p:cNvPicPr>
            <a:picLocks noChangeAspect="1"/>
          </p:cNvPicPr>
          <p:nvPr/>
        </p:nvPicPr>
        <p:blipFill>
          <a:blip r:embed="rId6"/>
          <a:stretch>
            <a:fillRect/>
          </a:stretch>
        </p:blipFill>
        <p:spPr>
          <a:xfrm>
            <a:off x="14846300" y="317500"/>
            <a:ext cx="2120900" cy="1333500"/>
          </a:xfrm>
          <a:prstGeom prst="rect">
            <a:avLst/>
          </a:prstGeom>
        </p:spPr>
      </p:pic>
      <p:sp>
        <p:nvSpPr>
          <p:cNvPr id="5363" name="Title">
            <a:extLst>
              <a:ext uri="{FF2B5EF4-FFF2-40B4-BE49-F238E27FC236}">
                <a16:creationId xmlns:a16="http://schemas.microsoft.com/office/drawing/2014/main" id="{9DA4DBF6-E24C-41D5-9053-5E3D4B123BF7}"/>
              </a:ext>
            </a:extLst>
          </p:cNvPr>
          <p:cNvSpPr>
            <a:spLocks noGrp="1"/>
          </p:cNvSpPr>
          <p:nvPr/>
        </p:nvSpPr>
        <p:spPr>
          <a:xfrm>
            <a:off x="822960" y="384048"/>
            <a:ext cx="13258800" cy="877824"/>
          </a:xfrm>
          <a:prstGeom prst="rect">
            <a:avLst/>
          </a:prstGeom>
          <a:noFill/>
        </p:spPr>
        <p:txBody>
          <a:bodyPr wrap="square" lIns="0" tIns="0" rIns="0" bIns="0" anchor="ctr">
            <a:spAutoFit/>
          </a:bodyPr>
          <a:lstStyle/>
          <a:p>
            <a:pPr algn="l">
              <a:buNone/>
            </a:pPr>
            <a:r>
              <a:rPr sz="4400" b="0">
                <a:solidFill>
                  <a:srgbClr val="FAA95A"/>
                </a:solidFill>
                <a:latin typeface="210 OmniGothic 050"/>
                <a:ea typeface="210 OmniGothic 050"/>
                <a:cs typeface="210 OmniGothic 050"/>
              </a:rPr>
              <a:t>06. 관계형 데이터베이스</a:t>
            </a:r>
          </a:p>
        </p:txBody>
      </p:sp>
      <p:sp>
        <p:nvSpPr>
          <p:cNvPr id="5364" name="Subtitle">
            <a:extLst>
              <a:ext uri="{FF2B5EF4-FFF2-40B4-BE49-F238E27FC236}">
                <a16:creationId xmlns:a16="http://schemas.microsoft.com/office/drawing/2014/main" id="{D888F6C7-C94C-412D-8A0A-0753D172B9EE}"/>
              </a:ext>
            </a:extLst>
          </p:cNvPr>
          <p:cNvSpPr>
            <a:spLocks noGrp="1"/>
          </p:cNvSpPr>
          <p:nvPr/>
        </p:nvSpPr>
        <p:spPr>
          <a:xfrm>
            <a:off x="822960" y="1764792"/>
            <a:ext cx="16642080" cy="502920"/>
          </a:xfrm>
          <a:prstGeom prst="rect">
            <a:avLst/>
          </a:prstGeom>
          <a:noFill/>
        </p:spPr>
        <p:txBody>
          <a:bodyPr wrap="square" lIns="0" tIns="0" rIns="0" bIns="0" anchor="ctr">
            <a:spAutoFit/>
          </a:bodyPr>
          <a:lstStyle/>
          <a:p>
            <a:pPr algn="ctr">
              <a:buNone/>
            </a:pPr>
            <a:r>
              <a:rPr sz="2600" b="1">
                <a:solidFill>
                  <a:srgbClr val="363A52"/>
                </a:solidFill>
                <a:latin typeface="210 OmniGothic 040"/>
                <a:ea typeface="210 OmniGothic 040"/>
                <a:cs typeface="210 OmniGothic 040"/>
              </a:rPr>
              <a:t>2. 정적 모델링 – </a:t>
            </a:r>
            <a:r>
              <a:rPr sz="2600" b="1">
                <a:solidFill>
                  <a:srgbClr val="FAA95A"/>
                </a:solidFill>
                <a:latin typeface="210 OmniGothic 040"/>
                <a:ea typeface="210 OmniGothic 040"/>
                <a:cs typeface="210 OmniGothic 040"/>
              </a:rPr>
              <a:t>예시 데이터 (의성 2025-03-22 시나리오)</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idx="12"/>
          </p:nvPr>
        </p:nvSpPr>
        <p:spPr/>
        <p:txBody>
          <a:bodyPr/>
          <a:lstStyle/>
          <a:p>
            <a:fld id="{B6F15528-21DE-4FAA-801E-634DDDAF4B2B}" type="slidenum">
              <a:t>72</a:t>
            </a:fld>
            <a:endParaRPr/>
          </a:p>
        </p:txBody>
      </p:sp>
      <p:sp>
        <p:nvSpPr>
          <p:cNvPr id="5365" name="TextBox 5364">
            <a:extLst>
              <a:ext uri="{FF2B5EF4-FFF2-40B4-BE49-F238E27FC236}">
                <a16:creationId xmlns:a16="http://schemas.microsoft.com/office/drawing/2014/main" id="{0C77F2B4-197A-4113-8574-4FA180E476F8}"/>
              </a:ext>
            </a:extLst>
          </p:cNvPr>
          <p:cNvSpPr>
            <a:spLocks noGrp="1"/>
          </p:cNvSpPr>
          <p:nvPr/>
        </p:nvSpPr>
        <p:spPr>
          <a:xfrm>
            <a:off x="822960" y="2395728"/>
            <a:ext cx="9144000" cy="301752"/>
          </a:xfrm>
          <a:prstGeom prst="rect">
            <a:avLst/>
          </a:prstGeom>
          <a:noFill/>
        </p:spPr>
        <p:txBody>
          <a:bodyPr wrap="square" lIns="0" tIns="0" rIns="0" bIns="0" anchor="t">
            <a:spAutoFit/>
          </a:bodyPr>
          <a:lstStyle/>
          <a:p>
            <a:pPr algn="l">
              <a:buNone/>
            </a:pPr>
            <a:r>
              <a:rPr sz="1450" b="1">
                <a:solidFill>
                  <a:srgbClr val="2E3142"/>
                </a:solidFill>
                <a:latin typeface="210 OmniGothic 040"/>
                <a:ea typeface="210 OmniGothic 040"/>
                <a:cs typeface="210 OmniGothic 040"/>
              </a:rPr>
              <a:t>fire_perimeters</a:t>
            </a:r>
          </a:p>
        </p:txBody>
      </p:sp>
      <p:graphicFrame>
        <p:nvGraphicFramePr>
          <p:cNvPr id="5387" name="Table 5365"/>
          <p:cNvGraphicFramePr/>
          <p:nvPr/>
        </p:nvGraphicFramePr>
        <p:xfrm>
          <a:off x="822960" y="2717596"/>
          <a:ext cx="16459198" cy="603504"/>
        </p:xfrm>
        <a:graphic>
          <a:graphicData uri="http://schemas.openxmlformats.org/drawingml/2006/table">
            <a:tbl>
              <a:tblPr>
                <a:tableStyleId>{2D5ABB26-0587-4C30-8999-92F81FD0307C}</a:tableStyleId>
              </a:tblPr>
              <a:tblGrid>
                <a:gridCol w="1725835">
                  <a:extLst>
                    <a:ext uri="{9D8B030D-6E8A-4147-A177-3AD203B41FA5}">
                      <a16:colId xmlns:a16="http://schemas.microsoft.com/office/drawing/2014/main" val="20000"/>
                    </a:ext>
                  </a:extLst>
                </a:gridCol>
                <a:gridCol w="2888377">
                  <a:extLst>
                    <a:ext uri="{9D8B030D-6E8A-4147-A177-3AD203B41FA5}">
                      <a16:colId xmlns:a16="http://schemas.microsoft.com/office/drawing/2014/main" val="20001"/>
                    </a:ext>
                  </a:extLst>
                </a:gridCol>
                <a:gridCol w="3146054">
                  <a:extLst>
                    <a:ext uri="{9D8B030D-6E8A-4147-A177-3AD203B41FA5}">
                      <a16:colId xmlns:a16="http://schemas.microsoft.com/office/drawing/2014/main" val="20002"/>
                    </a:ext>
                  </a:extLst>
                </a:gridCol>
                <a:gridCol w="1180591">
                  <a:extLst>
                    <a:ext uri="{9D8B030D-6E8A-4147-A177-3AD203B41FA5}">
                      <a16:colId xmlns:a16="http://schemas.microsoft.com/office/drawing/2014/main" val="4158444910"/>
                    </a:ext>
                  </a:extLst>
                </a:gridCol>
                <a:gridCol w="1280160">
                  <a:extLst>
                    <a:ext uri="{9D8B030D-6E8A-4147-A177-3AD203B41FA5}">
                      <a16:colId xmlns:a16="http://schemas.microsoft.com/office/drawing/2014/main" val="1011378120"/>
                    </a:ext>
                  </a:extLst>
                </a:gridCol>
                <a:gridCol w="1725835">
                  <a:extLst>
                    <a:ext uri="{9D8B030D-6E8A-4147-A177-3AD203B41FA5}">
                      <a16:colId xmlns:a16="http://schemas.microsoft.com/office/drawing/2014/main" val="20003"/>
                    </a:ext>
                  </a:extLst>
                </a:gridCol>
                <a:gridCol w="2127332">
                  <a:extLst>
                    <a:ext uri="{9D8B030D-6E8A-4147-A177-3AD203B41FA5}">
                      <a16:colId xmlns:a16="http://schemas.microsoft.com/office/drawing/2014/main" val="20004"/>
                    </a:ext>
                  </a:extLst>
                </a:gridCol>
                <a:gridCol w="2385008">
                  <a:extLst>
                    <a:ext uri="{9D8B030D-6E8A-4147-A177-3AD203B41FA5}">
                      <a16:colId xmlns:a16="http://schemas.microsoft.com/office/drawing/2014/main" val="20005"/>
                    </a:ext>
                  </a:extLst>
                </a:gridCol>
              </a:tblGrid>
              <a:tr h="301752">
                <a:tc>
                  <a:txBody>
                    <a:bodyPr/>
                    <a:lstStyle/>
                    <a:p>
                      <a:pPr algn="ctr">
                        <a:buNone/>
                      </a:pPr>
                      <a:r>
                        <a:rPr sz="1150" b="1">
                          <a:solidFill>
                            <a:srgbClr val="2E3142"/>
                          </a:solidFill>
                          <a:latin typeface="210 OmniGothic 040"/>
                          <a:ea typeface="210 OmniGothic 040"/>
                          <a:cs typeface="210 OmniGothic 040"/>
                        </a:rPr>
                        <a:t>id</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ctr">
                        <a:buNone/>
                      </a:pPr>
                      <a:r>
                        <a:rPr sz="1150" b="1">
                          <a:solidFill>
                            <a:srgbClr val="2E3142"/>
                          </a:solidFill>
                          <a:latin typeface="210 OmniGothic 040"/>
                          <a:ea typeface="210 OmniGothic 040"/>
                          <a:cs typeface="210 OmniGothic 040"/>
                        </a:rPr>
                        <a:t>incident_id</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ctr">
                        <a:buNone/>
                      </a:pPr>
                      <a:r>
                        <a:rPr sz="1150" b="1">
                          <a:solidFill>
                            <a:srgbClr val="2E3142"/>
                          </a:solidFill>
                          <a:latin typeface="210 OmniGothic 040"/>
                          <a:ea typeface="210 OmniGothic 040"/>
                          <a:cs typeface="210 OmniGothic 040"/>
                        </a:rPr>
                        <a:t>observed_at</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ctr">
                        <a:buNone/>
                      </a:pPr>
                      <a:r>
                        <a:rPr sz="1150" b="1">
                          <a:solidFill>
                            <a:srgbClr val="2E3142"/>
                          </a:solidFill>
                          <a:latin typeface="210 OmniGothic 040"/>
                          <a:ea typeface="210 OmniGothic 040"/>
                          <a:cs typeface="210 OmniGothic 040"/>
                        </a:rPr>
                        <a:t>version_no</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ctr">
                        <a:buNone/>
                      </a:pPr>
                      <a:r>
                        <a:rPr sz="1150" b="1">
                          <a:solidFill>
                            <a:srgbClr val="2E3142"/>
                          </a:solidFill>
                          <a:latin typeface="210 OmniGothic 040"/>
                          <a:ea typeface="210 OmniGothic 040"/>
                          <a:cs typeface="210 OmniGothic 040"/>
                        </a:rPr>
                        <a:t>status</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ctr">
                        <a:buNone/>
                      </a:pPr>
                      <a:r>
                        <a:rPr sz="1150" b="1">
                          <a:solidFill>
                            <a:srgbClr val="2E3142"/>
                          </a:solidFill>
                          <a:latin typeface="210 OmniGothic 040"/>
                          <a:ea typeface="210 OmniGothic 040"/>
                          <a:cs typeface="210 OmniGothic 040"/>
                        </a:rPr>
                        <a:t>area_ha</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ctr">
                        <a:buNone/>
                      </a:pPr>
                      <a:r>
                        <a:rPr sz="1150" b="1">
                          <a:solidFill>
                            <a:srgbClr val="2E3142"/>
                          </a:solidFill>
                          <a:latin typeface="210 OmniGothic 040"/>
                          <a:ea typeface="210 OmniGothic 040"/>
                          <a:cs typeface="210 OmniGothic 040"/>
                        </a:rPr>
                        <a:t>source</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ctr">
                        <a:buNone/>
                      </a:pPr>
                      <a:r>
                        <a:rPr sz="1150" b="1">
                          <a:solidFill>
                            <a:srgbClr val="2E3142"/>
                          </a:solidFill>
                          <a:latin typeface="210 OmniGothic 040"/>
                          <a:ea typeface="210 OmniGothic 040"/>
                          <a:cs typeface="210 OmniGothic 040"/>
                        </a:rPr>
                        <a:t>reported_by</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extLst>
                  <a:ext uri="{0D108BD9-81ED-4DB2-BD59-A6C34878D82A}">
                    <a16:rowId xmlns:a16="http://schemas.microsoft.com/office/drawing/2014/main" val="10000"/>
                  </a:ext>
                </a:extLst>
              </a:tr>
              <a:tr h="301752">
                <a:tc>
                  <a:txBody>
                    <a:bodyPr/>
                    <a:lstStyle/>
                    <a:p>
                      <a:pPr algn="ctr">
                        <a:buNone/>
                      </a:pPr>
                      <a:r>
                        <a:rPr sz="1150" b="0">
                          <a:solidFill>
                            <a:srgbClr val="2E3142"/>
                          </a:solidFill>
                          <a:latin typeface="210 OmniGothic 040"/>
                          <a:ea typeface="210 OmniGothic 040"/>
                          <a:cs typeface="210 OmniGothic 040"/>
                        </a:rPr>
                        <a:t>1</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F-2025-0322-01</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2025-03-22 11:55</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1</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유효</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12.7</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지도 그리기</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4 (rep01)</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1"/>
                  </a:ext>
                </a:extLst>
              </a:tr>
            </a:tbl>
          </a:graphicData>
        </a:graphic>
      </p:graphicFrame>
      <p:sp>
        <p:nvSpPr>
          <p:cNvPr id="5367" name="TextBox 5366">
            <a:extLst>
              <a:ext uri="{FF2B5EF4-FFF2-40B4-BE49-F238E27FC236}">
                <a16:creationId xmlns:a16="http://schemas.microsoft.com/office/drawing/2014/main" id="{D2E38B95-8E28-47CB-BE29-73904C20995E}"/>
              </a:ext>
            </a:extLst>
          </p:cNvPr>
          <p:cNvSpPr>
            <a:spLocks noGrp="1"/>
          </p:cNvSpPr>
          <p:nvPr/>
        </p:nvSpPr>
        <p:spPr>
          <a:xfrm>
            <a:off x="822960" y="3572560"/>
            <a:ext cx="9144000" cy="301752"/>
          </a:xfrm>
          <a:prstGeom prst="rect">
            <a:avLst/>
          </a:prstGeom>
          <a:noFill/>
        </p:spPr>
        <p:txBody>
          <a:bodyPr wrap="square" lIns="0" tIns="0" rIns="0" bIns="0" anchor="t">
            <a:spAutoFit/>
          </a:bodyPr>
          <a:lstStyle/>
          <a:p>
            <a:pPr algn="l">
              <a:buNone/>
            </a:pPr>
            <a:r>
              <a:rPr sz="1450" b="1">
                <a:solidFill>
                  <a:srgbClr val="2E3142"/>
                </a:solidFill>
                <a:latin typeface="210 OmniGothic 040"/>
                <a:ea typeface="210 OmniGothic 040"/>
                <a:cs typeface="210 OmniGothic 040"/>
              </a:rPr>
              <a:t>weather_snapshots</a:t>
            </a:r>
          </a:p>
        </p:txBody>
      </p:sp>
      <p:graphicFrame>
        <p:nvGraphicFramePr>
          <p:cNvPr id="5389" name="Table 5367"/>
          <p:cNvGraphicFramePr/>
          <p:nvPr/>
        </p:nvGraphicFramePr>
        <p:xfrm>
          <a:off x="822960" y="3894429"/>
          <a:ext cx="16459197" cy="1207008"/>
        </p:xfrm>
        <a:graphic>
          <a:graphicData uri="http://schemas.openxmlformats.org/drawingml/2006/table">
            <a:tbl>
              <a:tblPr>
                <a:tableStyleId>{2D5ABB26-0587-4C30-8999-92F81FD0307C}</a:tableStyleId>
              </a:tblPr>
              <a:tblGrid>
                <a:gridCol w="1933217">
                  <a:extLst>
                    <a:ext uri="{9D8B030D-6E8A-4147-A177-3AD203B41FA5}">
                      <a16:colId xmlns:a16="http://schemas.microsoft.com/office/drawing/2014/main" val="20000"/>
                    </a:ext>
                  </a:extLst>
                </a:gridCol>
                <a:gridCol w="3235454">
                  <a:extLst>
                    <a:ext uri="{9D8B030D-6E8A-4147-A177-3AD203B41FA5}">
                      <a16:colId xmlns:a16="http://schemas.microsoft.com/office/drawing/2014/main" val="20001"/>
                    </a:ext>
                  </a:extLst>
                </a:gridCol>
                <a:gridCol w="2107744">
                  <a:extLst>
                    <a:ext uri="{9D8B030D-6E8A-4147-A177-3AD203B41FA5}">
                      <a16:colId xmlns:a16="http://schemas.microsoft.com/office/drawing/2014/main" val="20002"/>
                    </a:ext>
                  </a:extLst>
                </a:gridCol>
                <a:gridCol w="2483647">
                  <a:extLst>
                    <a:ext uri="{9D8B030D-6E8A-4147-A177-3AD203B41FA5}">
                      <a16:colId xmlns:a16="http://schemas.microsoft.com/office/drawing/2014/main" val="20003"/>
                    </a:ext>
                  </a:extLst>
                </a:gridCol>
                <a:gridCol w="2107744">
                  <a:extLst>
                    <a:ext uri="{9D8B030D-6E8A-4147-A177-3AD203B41FA5}">
                      <a16:colId xmlns:a16="http://schemas.microsoft.com/office/drawing/2014/main" val="20004"/>
                    </a:ext>
                  </a:extLst>
                </a:gridCol>
                <a:gridCol w="2107744">
                  <a:extLst>
                    <a:ext uri="{9D8B030D-6E8A-4147-A177-3AD203B41FA5}">
                      <a16:colId xmlns:a16="http://schemas.microsoft.com/office/drawing/2014/main" val="20005"/>
                    </a:ext>
                  </a:extLst>
                </a:gridCol>
                <a:gridCol w="2483647">
                  <a:extLst>
                    <a:ext uri="{9D8B030D-6E8A-4147-A177-3AD203B41FA5}">
                      <a16:colId xmlns:a16="http://schemas.microsoft.com/office/drawing/2014/main" val="20006"/>
                    </a:ext>
                  </a:extLst>
                </a:gridCol>
              </a:tblGrid>
              <a:tr h="301752">
                <a:tc>
                  <a:txBody>
                    <a:bodyPr/>
                    <a:lstStyle/>
                    <a:p>
                      <a:pPr algn="ctr">
                        <a:buNone/>
                      </a:pPr>
                      <a:r>
                        <a:rPr sz="1150" b="1">
                          <a:solidFill>
                            <a:srgbClr val="2E3142"/>
                          </a:solidFill>
                          <a:latin typeface="210 OmniGothic 040"/>
                          <a:ea typeface="210 OmniGothic 040"/>
                          <a:cs typeface="210 OmniGothic 040"/>
                        </a:rPr>
                        <a:t>id</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ctr">
                        <a:buNone/>
                      </a:pPr>
                      <a:r>
                        <a:rPr sz="1150" b="1">
                          <a:solidFill>
                            <a:srgbClr val="2E3142"/>
                          </a:solidFill>
                          <a:latin typeface="210 OmniGothic 040"/>
                          <a:ea typeface="210 OmniGothic 040"/>
                          <a:cs typeface="210 OmniGothic 040"/>
                        </a:rPr>
                        <a:t>incident_id</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ctr">
                        <a:buNone/>
                      </a:pPr>
                      <a:r>
                        <a:rPr sz="1150" b="1">
                          <a:solidFill>
                            <a:srgbClr val="2E3142"/>
                          </a:solidFill>
                          <a:latin typeface="210 OmniGothic 040"/>
                          <a:ea typeface="210 OmniGothic 040"/>
                          <a:cs typeface="210 OmniGothic 040"/>
                        </a:rPr>
                        <a:t>valid_at</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ctr">
                        <a:buNone/>
                      </a:pPr>
                      <a:r>
                        <a:rPr sz="1150" b="1">
                          <a:solidFill>
                            <a:srgbClr val="2E3142"/>
                          </a:solidFill>
                          <a:latin typeface="210 OmniGothic 040"/>
                          <a:ea typeface="210 OmniGothic 040"/>
                          <a:cs typeface="210 OmniGothic 040"/>
                        </a:rPr>
                        <a:t>wind_speed</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ctr">
                        <a:buNone/>
                      </a:pPr>
                      <a:r>
                        <a:rPr sz="1150" b="1">
                          <a:solidFill>
                            <a:srgbClr val="2E3142"/>
                          </a:solidFill>
                          <a:latin typeface="210 OmniGothic 040"/>
                          <a:ea typeface="210 OmniGothic 040"/>
                          <a:cs typeface="210 OmniGothic 040"/>
                        </a:rPr>
                        <a:t>wind_dir</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ctr">
                        <a:buNone/>
                      </a:pPr>
                      <a:r>
                        <a:rPr sz="1150" b="1">
                          <a:solidFill>
                            <a:srgbClr val="2E3142"/>
                          </a:solidFill>
                          <a:latin typeface="210 OmniGothic 040"/>
                          <a:ea typeface="210 OmniGothic 040"/>
                          <a:cs typeface="210 OmniGothic 040"/>
                        </a:rPr>
                        <a:t>humidity</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ctr">
                        <a:buNone/>
                      </a:pPr>
                      <a:r>
                        <a:rPr sz="1150" b="1">
                          <a:solidFill>
                            <a:srgbClr val="2E3142"/>
                          </a:solidFill>
                          <a:latin typeface="210 OmniGothic 040"/>
                          <a:ea typeface="210 OmniGothic 040"/>
                          <a:cs typeface="210 OmniGothic 040"/>
                        </a:rPr>
                        <a:t>visibility</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extLst>
                  <a:ext uri="{0D108BD9-81ED-4DB2-BD59-A6C34878D82A}">
                    <a16:rowId xmlns:a16="http://schemas.microsoft.com/office/drawing/2014/main" val="10000"/>
                  </a:ext>
                </a:extLst>
              </a:tr>
              <a:tr h="301752">
                <a:tc>
                  <a:txBody>
                    <a:bodyPr/>
                    <a:lstStyle/>
                    <a:p>
                      <a:pPr algn="ctr">
                        <a:buNone/>
                      </a:pPr>
                      <a:r>
                        <a:rPr sz="1150" b="0">
                          <a:solidFill>
                            <a:srgbClr val="2E3142"/>
                          </a:solidFill>
                          <a:latin typeface="210 OmniGothic 040"/>
                          <a:ea typeface="210 OmniGothic 040"/>
                          <a:cs typeface="210 OmniGothic 040"/>
                        </a:rPr>
                        <a:t>1</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F-2025-0322-01</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12:00</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5.6</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240</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24</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8000</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1"/>
                  </a:ext>
                </a:extLst>
              </a:tr>
              <a:tr h="301752">
                <a:tc>
                  <a:txBody>
                    <a:bodyPr/>
                    <a:lstStyle/>
                    <a:p>
                      <a:pPr algn="ctr">
                        <a:buNone/>
                      </a:pPr>
                      <a:r>
                        <a:rPr sz="1150" b="0">
                          <a:solidFill>
                            <a:srgbClr val="2E3142"/>
                          </a:solidFill>
                          <a:latin typeface="210 OmniGothic 040"/>
                          <a:ea typeface="210 OmniGothic 040"/>
                          <a:cs typeface="210 OmniGothic 040"/>
                        </a:rPr>
                        <a:t>2</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F-2025-0322-01</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13:00</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6.4</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240</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21</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6000</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2"/>
                  </a:ext>
                </a:extLst>
              </a:tr>
              <a:tr h="301752">
                <a:tc>
                  <a:txBody>
                    <a:bodyPr/>
                    <a:lstStyle/>
                    <a:p>
                      <a:pPr algn="ctr">
                        <a:buNone/>
                      </a:pPr>
                      <a:r>
                        <a:rPr sz="1150" b="0">
                          <a:solidFill>
                            <a:srgbClr val="2E3142"/>
                          </a:solidFill>
                          <a:latin typeface="210 OmniGothic 040"/>
                          <a:ea typeface="210 OmniGothic 040"/>
                          <a:cs typeface="210 OmniGothic 040"/>
                        </a:rPr>
                        <a:t>3</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F-2025-0322-01</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15:00</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7.8</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250</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18</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3000</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3"/>
                  </a:ext>
                </a:extLst>
              </a:tr>
            </a:tbl>
          </a:graphicData>
        </a:graphic>
      </p:graphicFrame>
      <p:sp>
        <p:nvSpPr>
          <p:cNvPr id="5369" name="TextBox 5368">
            <a:extLst>
              <a:ext uri="{FF2B5EF4-FFF2-40B4-BE49-F238E27FC236}">
                <a16:creationId xmlns:a16="http://schemas.microsoft.com/office/drawing/2014/main" id="{01233DBE-5379-4D17-A427-F1CC5B88BDBA}"/>
              </a:ext>
            </a:extLst>
          </p:cNvPr>
          <p:cNvSpPr>
            <a:spLocks noGrp="1"/>
          </p:cNvSpPr>
          <p:nvPr/>
        </p:nvSpPr>
        <p:spPr>
          <a:xfrm>
            <a:off x="822960" y="5352897"/>
            <a:ext cx="9144000" cy="301752"/>
          </a:xfrm>
          <a:prstGeom prst="rect">
            <a:avLst/>
          </a:prstGeom>
          <a:noFill/>
        </p:spPr>
        <p:txBody>
          <a:bodyPr wrap="square" lIns="0" tIns="0" rIns="0" bIns="0" anchor="t">
            <a:spAutoFit/>
          </a:bodyPr>
          <a:lstStyle/>
          <a:p>
            <a:pPr algn="l">
              <a:buNone/>
            </a:pPr>
            <a:r>
              <a:rPr sz="1450" b="1">
                <a:solidFill>
                  <a:srgbClr val="2E3142"/>
                </a:solidFill>
                <a:latin typeface="210 OmniGothic 040"/>
                <a:ea typeface="210 OmniGothic 040"/>
                <a:cs typeface="210 OmniGothic 040"/>
              </a:rPr>
              <a:t>risk_assessments</a:t>
            </a:r>
          </a:p>
        </p:txBody>
      </p:sp>
      <p:graphicFrame>
        <p:nvGraphicFramePr>
          <p:cNvPr id="5391" name="Table 5369"/>
          <p:cNvGraphicFramePr/>
          <p:nvPr/>
        </p:nvGraphicFramePr>
        <p:xfrm>
          <a:off x="822960" y="5674766"/>
          <a:ext cx="16459193" cy="603504"/>
        </p:xfrm>
        <a:graphic>
          <a:graphicData uri="http://schemas.openxmlformats.org/drawingml/2006/table">
            <a:tbl>
              <a:tblPr>
                <a:tableStyleId>{2D5ABB26-0587-4C30-8999-92F81FD0307C}</a:tableStyleId>
              </a:tblPr>
              <a:tblGrid>
                <a:gridCol w="1750024">
                  <a:extLst>
                    <a:ext uri="{9D8B030D-6E8A-4147-A177-3AD203B41FA5}">
                      <a16:colId xmlns:a16="http://schemas.microsoft.com/office/drawing/2014/main" val="20000"/>
                    </a:ext>
                  </a:extLst>
                </a:gridCol>
                <a:gridCol w="2928861">
                  <a:extLst>
                    <a:ext uri="{9D8B030D-6E8A-4147-A177-3AD203B41FA5}">
                      <a16:colId xmlns:a16="http://schemas.microsoft.com/office/drawing/2014/main" val="20001"/>
                    </a:ext>
                  </a:extLst>
                </a:gridCol>
                <a:gridCol w="1750024">
                  <a:extLst>
                    <a:ext uri="{9D8B030D-6E8A-4147-A177-3AD203B41FA5}">
                      <a16:colId xmlns:a16="http://schemas.microsoft.com/office/drawing/2014/main" val="20002"/>
                    </a:ext>
                  </a:extLst>
                </a:gridCol>
                <a:gridCol w="1750024">
                  <a:extLst>
                    <a:ext uri="{9D8B030D-6E8A-4147-A177-3AD203B41FA5}">
                      <a16:colId xmlns:a16="http://schemas.microsoft.com/office/drawing/2014/main" val="20003"/>
                    </a:ext>
                  </a:extLst>
                </a:gridCol>
                <a:gridCol w="1750024">
                  <a:extLst>
                    <a:ext uri="{9D8B030D-6E8A-4147-A177-3AD203B41FA5}">
                      <a16:colId xmlns:a16="http://schemas.microsoft.com/office/drawing/2014/main" val="20004"/>
                    </a:ext>
                  </a:extLst>
                </a:gridCol>
                <a:gridCol w="1750024">
                  <a:extLst>
                    <a:ext uri="{9D8B030D-6E8A-4147-A177-3AD203B41FA5}">
                      <a16:colId xmlns:a16="http://schemas.microsoft.com/office/drawing/2014/main" val="20005"/>
                    </a:ext>
                  </a:extLst>
                </a:gridCol>
                <a:gridCol w="1750024">
                  <a:extLst>
                    <a:ext uri="{9D8B030D-6E8A-4147-A177-3AD203B41FA5}">
                      <a16:colId xmlns:a16="http://schemas.microsoft.com/office/drawing/2014/main" val="20006"/>
                    </a:ext>
                  </a:extLst>
                </a:gridCol>
                <a:gridCol w="1750024">
                  <a:extLst>
                    <a:ext uri="{9D8B030D-6E8A-4147-A177-3AD203B41FA5}">
                      <a16:colId xmlns:a16="http://schemas.microsoft.com/office/drawing/2014/main" val="20007"/>
                    </a:ext>
                  </a:extLst>
                </a:gridCol>
                <a:gridCol w="1280160">
                  <a:extLst>
                    <a:ext uri="{9D8B030D-6E8A-4147-A177-3AD203B41FA5}">
                      <a16:colId xmlns:a16="http://schemas.microsoft.com/office/drawing/2014/main" val="2877753946"/>
                    </a:ext>
                  </a:extLst>
                </a:gridCol>
              </a:tblGrid>
              <a:tr h="301752">
                <a:tc>
                  <a:txBody>
                    <a:bodyPr/>
                    <a:lstStyle/>
                    <a:p>
                      <a:pPr algn="ctr">
                        <a:buNone/>
                      </a:pPr>
                      <a:r>
                        <a:rPr sz="1150" b="1">
                          <a:solidFill>
                            <a:srgbClr val="2E3142"/>
                          </a:solidFill>
                          <a:latin typeface="210 OmniGothic 040"/>
                          <a:ea typeface="210 OmniGothic 040"/>
                          <a:cs typeface="210 OmniGothic 040"/>
                        </a:rPr>
                        <a:t>id</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ctr">
                        <a:buNone/>
                      </a:pPr>
                      <a:r>
                        <a:rPr sz="1150" b="1">
                          <a:solidFill>
                            <a:srgbClr val="2E3142"/>
                          </a:solidFill>
                          <a:latin typeface="210 OmniGothic 040"/>
                          <a:ea typeface="210 OmniGothic 040"/>
                          <a:cs typeface="210 OmniGothic 040"/>
                        </a:rPr>
                        <a:t>incident_id</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ctr">
                        <a:buNone/>
                      </a:pPr>
                      <a:r>
                        <a:rPr sz="1150" b="1">
                          <a:solidFill>
                            <a:srgbClr val="FF0000"/>
                          </a:solidFill>
                          <a:latin typeface="210 OmniGothic 040"/>
                          <a:ea typeface="210 OmniGothic 040"/>
                          <a:cs typeface="210 OmniGothic 040"/>
                        </a:rPr>
                        <a:t>run_id</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ctr">
                        <a:buNone/>
                      </a:pPr>
                      <a:r>
                        <a:rPr sz="1150" b="1">
                          <a:solidFill>
                            <a:srgbClr val="2E3142"/>
                          </a:solidFill>
                          <a:latin typeface="210 OmniGothic 040"/>
                          <a:ea typeface="210 OmniGothic 040"/>
                          <a:cs typeface="210 OmniGothic 040"/>
                        </a:rPr>
                        <a:t>score</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ctr">
                        <a:buNone/>
                      </a:pPr>
                      <a:r>
                        <a:rPr sz="1150" b="1">
                          <a:solidFill>
                            <a:srgbClr val="2E3142"/>
                          </a:solidFill>
                          <a:latin typeface="210 OmniGothic 040"/>
                          <a:ea typeface="210 OmniGothic 040"/>
                          <a:cs typeface="210 OmniGothic 040"/>
                        </a:rPr>
                        <a:t>weather</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ctr">
                        <a:buNone/>
                      </a:pPr>
                      <a:r>
                        <a:rPr sz="1150" b="1">
                          <a:solidFill>
                            <a:srgbClr val="2E3142"/>
                          </a:solidFill>
                          <a:latin typeface="210 OmniGothic 040"/>
                          <a:ea typeface="210 OmniGothic 040"/>
                          <a:cs typeface="210 OmniGothic 040"/>
                        </a:rPr>
                        <a:t>terrain</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ctr">
                        <a:buNone/>
                      </a:pPr>
                      <a:r>
                        <a:rPr sz="1150" b="1">
                          <a:solidFill>
                            <a:srgbClr val="2E3142"/>
                          </a:solidFill>
                          <a:latin typeface="210 OmniGothic 040"/>
                          <a:ea typeface="210 OmniGothic 040"/>
                          <a:cs typeface="210 OmniGothic 040"/>
                        </a:rPr>
                        <a:t>fuel</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ctr">
                        <a:buNone/>
                      </a:pPr>
                      <a:r>
                        <a:rPr sz="1150" b="1">
                          <a:solidFill>
                            <a:srgbClr val="2E3142"/>
                          </a:solidFill>
                          <a:latin typeface="210 OmniGothic 040"/>
                          <a:ea typeface="210 OmniGothic 040"/>
                          <a:cs typeface="210 OmniGothic 040"/>
                        </a:rPr>
                        <a:t>infra</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ctr">
                        <a:buNone/>
                      </a:pPr>
                      <a:r>
                        <a:rPr sz="1150" b="1">
                          <a:solidFill>
                            <a:srgbClr val="FF0000"/>
                          </a:solidFill>
                          <a:latin typeface="210 OmniGothic 040"/>
                          <a:ea typeface="210 OmniGothic 040"/>
                          <a:cs typeface="210 OmniGothic 040"/>
                        </a:rPr>
                        <a:t>merged_ids</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extLst>
                  <a:ext uri="{0D108BD9-81ED-4DB2-BD59-A6C34878D82A}">
                    <a16:rowId xmlns:a16="http://schemas.microsoft.com/office/drawing/2014/main" val="10000"/>
                  </a:ext>
                </a:extLst>
              </a:tr>
              <a:tr h="301752">
                <a:tc>
                  <a:txBody>
                    <a:bodyPr/>
                    <a:lstStyle/>
                    <a:p>
                      <a:pPr algn="ctr">
                        <a:buNone/>
                      </a:pPr>
                      <a:r>
                        <a:rPr sz="1150" b="0">
                          <a:solidFill>
                            <a:srgbClr val="2E3142"/>
                          </a:solidFill>
                          <a:latin typeface="210 OmniGothic 040"/>
                          <a:ea typeface="210 OmniGothic 040"/>
                          <a:cs typeface="210 OmniGothic 040"/>
                        </a:rPr>
                        <a:t>1</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F-2025-0322-01</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1</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FF0000"/>
                          </a:solidFill>
                          <a:latin typeface="210 OmniGothic 040"/>
                          <a:ea typeface="210 OmniGothic 040"/>
                          <a:cs typeface="210 OmniGothic 040"/>
                        </a:rPr>
                        <a:t>3.81</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4.2</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3.6</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3.9</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2.4</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FF0000"/>
                          </a:solidFill>
                          <a:latin typeface="210 OmniGothic 040"/>
                          <a:ea typeface="210 OmniGothic 040"/>
                          <a:cs typeface="210 OmniGothic 040"/>
                        </a:rPr>
                        <a:t>NULL</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1"/>
                  </a:ext>
                </a:extLst>
              </a:tr>
            </a:tbl>
          </a:graphicData>
        </a:graphic>
      </p:graphicFrame>
      <p:sp>
        <p:nvSpPr>
          <p:cNvPr id="5371" name="TextBox 5370">
            <a:extLst>
              <a:ext uri="{FF2B5EF4-FFF2-40B4-BE49-F238E27FC236}">
                <a16:creationId xmlns:a16="http://schemas.microsoft.com/office/drawing/2014/main" id="{C94736DD-D10E-422E-870D-A837DF3C4F31}"/>
              </a:ext>
            </a:extLst>
          </p:cNvPr>
          <p:cNvSpPr>
            <a:spLocks noGrp="1"/>
          </p:cNvSpPr>
          <p:nvPr/>
        </p:nvSpPr>
        <p:spPr>
          <a:xfrm>
            <a:off x="822960" y="8883396"/>
            <a:ext cx="16459200" cy="301752"/>
          </a:xfrm>
          <a:prstGeom prst="rect">
            <a:avLst/>
          </a:prstGeom>
          <a:noFill/>
        </p:spPr>
        <p:txBody>
          <a:bodyPr wrap="square" lIns="0" tIns="0" rIns="0" bIns="0" anchor="t">
            <a:spAutoFit/>
          </a:bodyPr>
          <a:lstStyle/>
          <a:p>
            <a:pPr algn="l">
              <a:buNone/>
            </a:pPr>
            <a:r>
              <a:rPr sz="1150" b="0">
                <a:solidFill>
                  <a:srgbClr val="7B8094"/>
                </a:solidFill>
                <a:latin typeface="210 OmniGothic 030"/>
                <a:ea typeface="210 OmniGothic 030"/>
                <a:cs typeface="210 OmniGothic 030"/>
              </a:rPr>
              <a:t>※ 좌표·발생 시각·접수 경로·마을 좌표는 실제(보도·OSM·SGIS), 실측 화선·사곡면·점곡면 산불·계정·인구·자원·수용 인원·위험도 요인 점수는 목업과 같은 시연용 가상값입니다.</a:t>
            </a:r>
          </a:p>
        </p:txBody>
      </p:sp>
      <p:sp>
        <p:nvSpPr>
          <p:cNvPr id="5392" name="Note Risk"/>
          <p:cNvSpPr txBox="1"/>
          <p:nvPr/>
        </p:nvSpPr>
        <p:spPr>
          <a:xfrm>
            <a:off x="822960" y="6387998"/>
            <a:ext cx="16459200" cy="274320"/>
          </a:xfrm>
          <a:prstGeom prst="rect">
            <a:avLst/>
          </a:prstGeom>
          <a:noFill/>
        </p:spPr>
        <p:txBody>
          <a:bodyPr wrap="square" lIns="0" tIns="0" rIns="0" bIns="0" anchor="t">
            <a:spAutoFit/>
          </a:bodyPr>
          <a:lstStyle/>
          <a:p>
            <a:pPr algn="l">
              <a:buNone/>
            </a:pPr>
            <a:r>
              <a:rPr lang="ko-KR" altLang="en-US" sz="1150" b="0">
                <a:solidFill>
                  <a:srgbClr val="FF0000"/>
                </a:solidFill>
                <a:latin typeface="210 OmniGothic 030"/>
                <a:ea typeface="210 OmniGothic 030"/>
                <a:cs typeface="210 OmniGothic 030"/>
              </a:rPr>
              <a:t>※ score = Σ(축 가중치 × 축 점수) ÷ 0.94 = (0.35 × 4.2 + 0.27 × 3.6 + 0.25 × 3.9 + 0.07 × 2.4) ÷ 0.94 = 3.81 (P5 기준, 축 점수는 시연용 가상값)</a:t>
            </a:r>
            <a:endParaRPr lang="ko-KR" sz="1150"/>
          </a:p>
        </p:txBody>
      </p:sp>
    </p:spTree>
    <p:extLst>
      <p:ext uri="{BB962C8B-B14F-4D97-AF65-F5344CB8AC3E}">
        <p14:creationId xmlns:p14="http://schemas.microsoft.com/office/powerpoint/2010/main" val="104547184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81" name="Picture 2"/>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700" y="-12700"/>
            <a:ext cx="18313400" cy="1638300"/>
          </a:xfrm>
          <a:prstGeom prst="rect">
            <a:avLst/>
          </a:prstGeom>
        </p:spPr>
      </p:pic>
      <p:pic>
        <p:nvPicPr>
          <p:cNvPr id="5382" name="Picture 4"/>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28" y="1618343"/>
            <a:ext cx="18313400" cy="8699500"/>
          </a:xfrm>
          <a:prstGeom prst="rect">
            <a:avLst/>
          </a:prstGeom>
        </p:spPr>
      </p:pic>
      <p:pic>
        <p:nvPicPr>
          <p:cNvPr id="5383" name="Picture 5"/>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58800" y="9271000"/>
            <a:ext cx="17170400" cy="50800"/>
          </a:xfrm>
          <a:prstGeom prst="rect">
            <a:avLst/>
          </a:prstGeom>
        </p:spPr>
      </p:pic>
      <p:pic>
        <p:nvPicPr>
          <p:cNvPr id="5384" name="Picture 3"/>
          <p:cNvPicPr>
            <a:picLocks noChangeAspect="1"/>
          </p:cNvPicPr>
          <p:nvPr/>
        </p:nvPicPr>
        <p:blipFill>
          <a:blip r:embed="rId6"/>
          <a:stretch>
            <a:fillRect/>
          </a:stretch>
        </p:blipFill>
        <p:spPr>
          <a:xfrm>
            <a:off x="14846300" y="317500"/>
            <a:ext cx="2120900" cy="1333500"/>
          </a:xfrm>
          <a:prstGeom prst="rect">
            <a:avLst/>
          </a:prstGeom>
        </p:spPr>
      </p:pic>
      <p:sp>
        <p:nvSpPr>
          <p:cNvPr id="5368" name="Title">
            <a:extLst>
              <a:ext uri="{FF2B5EF4-FFF2-40B4-BE49-F238E27FC236}">
                <a16:creationId xmlns:a16="http://schemas.microsoft.com/office/drawing/2014/main" id="{6FA6B3C9-307D-4FCB-9C38-A5A5F02E92F2}"/>
              </a:ext>
            </a:extLst>
          </p:cNvPr>
          <p:cNvSpPr>
            <a:spLocks noGrp="1"/>
          </p:cNvSpPr>
          <p:nvPr/>
        </p:nvSpPr>
        <p:spPr>
          <a:xfrm>
            <a:off x="822960" y="384048"/>
            <a:ext cx="13258800" cy="877824"/>
          </a:xfrm>
          <a:prstGeom prst="rect">
            <a:avLst/>
          </a:prstGeom>
          <a:noFill/>
        </p:spPr>
        <p:txBody>
          <a:bodyPr wrap="square" lIns="0" tIns="0" rIns="0" bIns="0" anchor="ctr">
            <a:spAutoFit/>
          </a:bodyPr>
          <a:lstStyle/>
          <a:p>
            <a:pPr algn="l">
              <a:buNone/>
            </a:pPr>
            <a:r>
              <a:rPr sz="4400" b="0">
                <a:solidFill>
                  <a:srgbClr val="FAA95A"/>
                </a:solidFill>
                <a:latin typeface="210 OmniGothic 050"/>
                <a:ea typeface="210 OmniGothic 050"/>
                <a:cs typeface="210 OmniGothic 050"/>
              </a:rPr>
              <a:t>06. 관계형 데이터베이스</a:t>
            </a:r>
          </a:p>
        </p:txBody>
      </p:sp>
      <p:sp>
        <p:nvSpPr>
          <p:cNvPr id="5369" name="Subtitle">
            <a:extLst>
              <a:ext uri="{FF2B5EF4-FFF2-40B4-BE49-F238E27FC236}">
                <a16:creationId xmlns:a16="http://schemas.microsoft.com/office/drawing/2014/main" id="{ECA70DC1-5430-4EED-ABC6-E5FA2DFF1997}"/>
              </a:ext>
            </a:extLst>
          </p:cNvPr>
          <p:cNvSpPr>
            <a:spLocks noGrp="1"/>
          </p:cNvSpPr>
          <p:nvPr/>
        </p:nvSpPr>
        <p:spPr>
          <a:xfrm>
            <a:off x="822960" y="1764792"/>
            <a:ext cx="16642080" cy="502920"/>
          </a:xfrm>
          <a:prstGeom prst="rect">
            <a:avLst/>
          </a:prstGeom>
          <a:noFill/>
        </p:spPr>
        <p:txBody>
          <a:bodyPr wrap="square" lIns="0" tIns="0" rIns="0" bIns="0" anchor="ctr">
            <a:spAutoFit/>
          </a:bodyPr>
          <a:lstStyle/>
          <a:p>
            <a:pPr algn="ctr">
              <a:buNone/>
            </a:pPr>
            <a:r>
              <a:rPr sz="2600" b="1">
                <a:solidFill>
                  <a:srgbClr val="363A52"/>
                </a:solidFill>
                <a:latin typeface="210 OmniGothic 040"/>
                <a:ea typeface="210 OmniGothic 040"/>
                <a:cs typeface="210 OmniGothic 040"/>
              </a:rPr>
              <a:t>2. 정적 모델링 – </a:t>
            </a:r>
            <a:r>
              <a:rPr sz="2600" b="1">
                <a:solidFill>
                  <a:srgbClr val="FAA95A"/>
                </a:solidFill>
                <a:latin typeface="210 OmniGothic 040"/>
                <a:ea typeface="210 OmniGothic 040"/>
                <a:cs typeface="210 OmniGothic 040"/>
              </a:rPr>
              <a:t>예시 데이터 (의성 2025-03-22 시나리오)</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idx="12"/>
          </p:nvPr>
        </p:nvSpPr>
        <p:spPr/>
        <p:txBody>
          <a:bodyPr/>
          <a:lstStyle/>
          <a:p>
            <a:fld id="{B6F15528-21DE-4FAA-801E-634DDDAF4B2B}" type="slidenum">
              <a:t>73</a:t>
            </a:fld>
            <a:endParaRPr/>
          </a:p>
        </p:txBody>
      </p:sp>
      <p:sp>
        <p:nvSpPr>
          <p:cNvPr id="5370" name="TextBox 5369">
            <a:extLst>
              <a:ext uri="{FF2B5EF4-FFF2-40B4-BE49-F238E27FC236}">
                <a16:creationId xmlns:a16="http://schemas.microsoft.com/office/drawing/2014/main" id="{78EFA3FD-873D-4198-B915-AA99E6AADDE8}"/>
              </a:ext>
            </a:extLst>
          </p:cNvPr>
          <p:cNvSpPr>
            <a:spLocks noGrp="1"/>
          </p:cNvSpPr>
          <p:nvPr/>
        </p:nvSpPr>
        <p:spPr>
          <a:xfrm>
            <a:off x="822960" y="2395728"/>
            <a:ext cx="9144000" cy="301752"/>
          </a:xfrm>
          <a:prstGeom prst="rect">
            <a:avLst/>
          </a:prstGeom>
          <a:noFill/>
        </p:spPr>
        <p:txBody>
          <a:bodyPr wrap="square" lIns="0" tIns="0" rIns="0" bIns="0" anchor="t">
            <a:spAutoFit/>
          </a:bodyPr>
          <a:lstStyle/>
          <a:p>
            <a:pPr algn="l">
              <a:buNone/>
            </a:pPr>
            <a:r>
              <a:rPr sz="1450" b="1">
                <a:solidFill>
                  <a:srgbClr val="2E3142"/>
                </a:solidFill>
                <a:latin typeface="210 OmniGothic 040"/>
                <a:ea typeface="210 OmniGothic 040"/>
                <a:cs typeface="210 OmniGothic 040"/>
              </a:rPr>
              <a:t>resources</a:t>
            </a:r>
          </a:p>
        </p:txBody>
      </p:sp>
      <p:graphicFrame>
        <p:nvGraphicFramePr>
          <p:cNvPr id="5389" name="Table 5370"/>
          <p:cNvGraphicFramePr/>
          <p:nvPr/>
        </p:nvGraphicFramePr>
        <p:xfrm>
          <a:off x="822960" y="2717596"/>
          <a:ext cx="16459197" cy="1810512"/>
        </p:xfrm>
        <a:graphic>
          <a:graphicData uri="http://schemas.openxmlformats.org/drawingml/2006/table">
            <a:tbl>
              <a:tblPr>
                <a:tableStyleId>{2D5ABB26-0587-4C30-8999-92F81FD0307C}</a:tableStyleId>
              </a:tblPr>
              <a:tblGrid>
                <a:gridCol w="1747235">
                  <a:extLst>
                    <a:ext uri="{9D8B030D-6E8A-4147-A177-3AD203B41FA5}">
                      <a16:colId xmlns:a16="http://schemas.microsoft.com/office/drawing/2014/main" val="20000"/>
                    </a:ext>
                  </a:extLst>
                </a:gridCol>
                <a:gridCol w="1747235">
                  <a:extLst>
                    <a:ext uri="{9D8B030D-6E8A-4147-A177-3AD203B41FA5}">
                      <a16:colId xmlns:a16="http://schemas.microsoft.com/office/drawing/2014/main" val="20001"/>
                    </a:ext>
                  </a:extLst>
                </a:gridCol>
                <a:gridCol w="3233598">
                  <a:extLst>
                    <a:ext uri="{9D8B030D-6E8A-4147-A177-3AD203B41FA5}">
                      <a16:colId xmlns:a16="http://schemas.microsoft.com/office/drawing/2014/main" val="20002"/>
                    </a:ext>
                  </a:extLst>
                </a:gridCol>
                <a:gridCol w="3312467">
                  <a:extLst>
                    <a:ext uri="{9D8B030D-6E8A-4147-A177-3AD203B41FA5}">
                      <a16:colId xmlns:a16="http://schemas.microsoft.com/office/drawing/2014/main" val="20003"/>
                    </a:ext>
                  </a:extLst>
                </a:gridCol>
                <a:gridCol w="1747235">
                  <a:extLst>
                    <a:ext uri="{9D8B030D-6E8A-4147-A177-3AD203B41FA5}">
                      <a16:colId xmlns:a16="http://schemas.microsoft.com/office/drawing/2014/main" val="20004"/>
                    </a:ext>
                  </a:extLst>
                </a:gridCol>
                <a:gridCol w="1747235">
                  <a:extLst>
                    <a:ext uri="{9D8B030D-6E8A-4147-A177-3AD203B41FA5}">
                      <a16:colId xmlns:a16="http://schemas.microsoft.com/office/drawing/2014/main" val="20005"/>
                    </a:ext>
                  </a:extLst>
                </a:gridCol>
                <a:gridCol w="2924192">
                  <a:extLst>
                    <a:ext uri="{9D8B030D-6E8A-4147-A177-3AD203B41FA5}">
                      <a16:colId xmlns:a16="http://schemas.microsoft.com/office/drawing/2014/main" val="20006"/>
                    </a:ext>
                  </a:extLst>
                </a:gridCol>
              </a:tblGrid>
              <a:tr h="301752">
                <a:tc>
                  <a:txBody>
                    <a:bodyPr/>
                    <a:lstStyle/>
                    <a:p>
                      <a:pPr algn="ctr">
                        <a:buNone/>
                      </a:pPr>
                      <a:r>
                        <a:rPr sz="1150" b="1">
                          <a:solidFill>
                            <a:srgbClr val="2E3142"/>
                          </a:solidFill>
                          <a:latin typeface="210 OmniGothic 040"/>
                          <a:ea typeface="210 OmniGothic 040"/>
                          <a:cs typeface="210 OmniGothic 040"/>
                        </a:rPr>
                        <a:t>id</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ctr">
                        <a:buNone/>
                      </a:pPr>
                      <a:r>
                        <a:rPr sz="1150" b="1">
                          <a:solidFill>
                            <a:srgbClr val="2E3142"/>
                          </a:solidFill>
                          <a:latin typeface="210 OmniGothic 040"/>
                          <a:ea typeface="210 OmniGothic 040"/>
                          <a:cs typeface="210 OmniGothic 040"/>
                        </a:rPr>
                        <a:t>kind</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ctr">
                        <a:buNone/>
                      </a:pPr>
                      <a:r>
                        <a:rPr sz="1150" b="1">
                          <a:solidFill>
                            <a:srgbClr val="2E3142"/>
                          </a:solidFill>
                          <a:latin typeface="210 OmniGothic 040"/>
                          <a:ea typeface="210 OmniGothic 040"/>
                          <a:cs typeface="210 OmniGothic 040"/>
                        </a:rPr>
                        <a:t>name</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ctr">
                        <a:buNone/>
                      </a:pPr>
                      <a:r>
                        <a:rPr sz="1150" b="1">
                          <a:solidFill>
                            <a:srgbClr val="2E3142"/>
                          </a:solidFill>
                          <a:latin typeface="210 OmniGothic 040"/>
                          <a:ea typeface="210 OmniGothic 040"/>
                          <a:cs typeface="210 OmniGothic 040"/>
                        </a:rPr>
                        <a:t>org</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ctr">
                        <a:buNone/>
                      </a:pPr>
                      <a:r>
                        <a:rPr sz="1150" b="1">
                          <a:solidFill>
                            <a:srgbClr val="2E3142"/>
                          </a:solidFill>
                          <a:latin typeface="210 OmniGothic 040"/>
                          <a:ea typeface="210 OmniGothic 040"/>
                          <a:cs typeface="210 OmniGothic 040"/>
                        </a:rPr>
                        <a:t>qty</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ctr">
                        <a:buNone/>
                      </a:pPr>
                      <a:r>
                        <a:rPr sz="1150" b="1">
                          <a:solidFill>
                            <a:srgbClr val="2E3142"/>
                          </a:solidFill>
                          <a:latin typeface="210 OmniGothic 040"/>
                          <a:ea typeface="210 OmniGothic 040"/>
                          <a:cs typeface="210 OmniGothic 040"/>
                        </a:rPr>
                        <a:t>status</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ctr">
                        <a:buNone/>
                      </a:pPr>
                      <a:r>
                        <a:rPr sz="1150" b="1">
                          <a:solidFill>
                            <a:srgbClr val="2E3142"/>
                          </a:solidFill>
                          <a:latin typeface="210 OmniGothic 040"/>
                          <a:ea typeface="210 OmniGothic 040"/>
                          <a:cs typeface="210 OmniGothic 040"/>
                        </a:rPr>
                        <a:t>incident_id</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extLst>
                  <a:ext uri="{0D108BD9-81ED-4DB2-BD59-A6C34878D82A}">
                    <a16:rowId xmlns:a16="http://schemas.microsoft.com/office/drawing/2014/main" val="10000"/>
                  </a:ext>
                </a:extLst>
              </a:tr>
              <a:tr h="301752">
                <a:tc>
                  <a:txBody>
                    <a:bodyPr/>
                    <a:lstStyle/>
                    <a:p>
                      <a:pPr algn="ctr">
                        <a:buNone/>
                      </a:pPr>
                      <a:r>
                        <a:rPr sz="1150" b="0">
                          <a:solidFill>
                            <a:srgbClr val="2E3142"/>
                          </a:solidFill>
                          <a:latin typeface="210 OmniGothic 040"/>
                          <a:ea typeface="210 OmniGothic 040"/>
                          <a:cs typeface="210 OmniGothic 040"/>
                        </a:rPr>
                        <a:t>1</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헬기</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KFS-H01</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산림항공본부(안동)</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1</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투입</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F-2025-0322-01</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1"/>
                  </a:ext>
                </a:extLst>
              </a:tr>
              <a:tr h="301752">
                <a:tc>
                  <a:txBody>
                    <a:bodyPr/>
                    <a:lstStyle/>
                    <a:p>
                      <a:pPr algn="ctr">
                        <a:buNone/>
                      </a:pPr>
                      <a:r>
                        <a:rPr sz="1150" b="0">
                          <a:solidFill>
                            <a:srgbClr val="2E3142"/>
                          </a:solidFill>
                          <a:latin typeface="210 OmniGothic 040"/>
                          <a:ea typeface="210 OmniGothic 040"/>
                          <a:cs typeface="210 OmniGothic 040"/>
                        </a:rPr>
                        <a:t>5</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헬기</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KFS-A01</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산림항공본부(안동)</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1</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대기</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NULL</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2"/>
                  </a:ext>
                </a:extLst>
              </a:tr>
              <a:tr h="301752">
                <a:tc>
                  <a:txBody>
                    <a:bodyPr/>
                    <a:lstStyle/>
                    <a:p>
                      <a:pPr algn="ctr">
                        <a:buNone/>
                      </a:pPr>
                      <a:r>
                        <a:rPr sz="1150" b="0">
                          <a:solidFill>
                            <a:srgbClr val="2E3142"/>
                          </a:solidFill>
                          <a:latin typeface="210 OmniGothic 040"/>
                          <a:ea typeface="210 OmniGothic 040"/>
                          <a:cs typeface="210 OmniGothic 040"/>
                        </a:rPr>
                        <a:t>11</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헬기</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KFS-M01</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산림항공본부(안동)</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1</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정비</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NULL</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3"/>
                  </a:ext>
                </a:extLst>
              </a:tr>
              <a:tr h="301752">
                <a:tc>
                  <a:txBody>
                    <a:bodyPr/>
                    <a:lstStyle/>
                    <a:p>
                      <a:pPr algn="ctr">
                        <a:buNone/>
                      </a:pPr>
                      <a:r>
                        <a:rPr sz="1150" b="0">
                          <a:solidFill>
                            <a:srgbClr val="2E3142"/>
                          </a:solidFill>
                          <a:latin typeface="210 OmniGothic 040"/>
                          <a:ea typeface="210 OmniGothic 040"/>
                          <a:cs typeface="210 OmniGothic 040"/>
                        </a:rPr>
                        <a:t>12</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인력</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산불전문진화대 1조</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의성군</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20</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투입</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F-2025-0322-01</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4"/>
                  </a:ext>
                </a:extLst>
              </a:tr>
              <a:tr h="301752">
                <a:tc>
                  <a:txBody>
                    <a:bodyPr/>
                    <a:lstStyle/>
                    <a:p>
                      <a:pPr algn="ctr">
                        <a:buNone/>
                      </a:pPr>
                      <a:r>
                        <a:rPr sz="1150" b="0">
                          <a:solidFill>
                            <a:srgbClr val="2E3142"/>
                          </a:solidFill>
                          <a:latin typeface="210 OmniGothic 040"/>
                          <a:ea typeface="210 OmniGothic 040"/>
                          <a:cs typeface="210 OmniGothic 040"/>
                        </a:rPr>
                        <a:t>18</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차량</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의성 펌프 1</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의성소방서</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1</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투입</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F-2025-0322-01</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5"/>
                  </a:ext>
                </a:extLst>
              </a:tr>
            </a:tbl>
          </a:graphicData>
        </a:graphic>
      </p:graphicFrame>
      <p:sp>
        <p:nvSpPr>
          <p:cNvPr id="5372" name="TextBox 5371">
            <a:extLst>
              <a:ext uri="{FF2B5EF4-FFF2-40B4-BE49-F238E27FC236}">
                <a16:creationId xmlns:a16="http://schemas.microsoft.com/office/drawing/2014/main" id="{982296C8-41DF-4CCD-BA19-6CDB368C630A}"/>
              </a:ext>
            </a:extLst>
          </p:cNvPr>
          <p:cNvSpPr>
            <a:spLocks noGrp="1"/>
          </p:cNvSpPr>
          <p:nvPr/>
        </p:nvSpPr>
        <p:spPr>
          <a:xfrm>
            <a:off x="822960" y="4779568"/>
            <a:ext cx="9144000" cy="301752"/>
          </a:xfrm>
          <a:prstGeom prst="rect">
            <a:avLst/>
          </a:prstGeom>
          <a:noFill/>
        </p:spPr>
        <p:txBody>
          <a:bodyPr wrap="square" lIns="0" tIns="0" rIns="0" bIns="0" anchor="t">
            <a:spAutoFit/>
          </a:bodyPr>
          <a:lstStyle/>
          <a:p>
            <a:pPr algn="l">
              <a:buNone/>
            </a:pPr>
            <a:r>
              <a:rPr sz="1450" b="1">
                <a:solidFill>
                  <a:srgbClr val="2E3142"/>
                </a:solidFill>
                <a:latin typeface="210 OmniGothic 040"/>
                <a:ea typeface="210 OmniGothic 040"/>
                <a:cs typeface="210 OmniGothic 040"/>
              </a:rPr>
              <a:t>villages</a:t>
            </a:r>
          </a:p>
        </p:txBody>
      </p:sp>
      <p:graphicFrame>
        <p:nvGraphicFramePr>
          <p:cNvPr id="5391" name="Table 5372"/>
          <p:cNvGraphicFramePr/>
          <p:nvPr/>
        </p:nvGraphicFramePr>
        <p:xfrm>
          <a:off x="822960" y="5101437"/>
          <a:ext cx="16459195" cy="1810512"/>
        </p:xfrm>
        <a:graphic>
          <a:graphicData uri="http://schemas.openxmlformats.org/drawingml/2006/table">
            <a:tbl>
              <a:tblPr>
                <a:tableStyleId>{2D5ABB26-0587-4C30-8999-92F81FD0307C}</a:tableStyleId>
              </a:tblPr>
              <a:tblGrid>
                <a:gridCol w="2123767">
                  <a:extLst>
                    <a:ext uri="{9D8B030D-6E8A-4147-A177-3AD203B41FA5}">
                      <a16:colId xmlns:a16="http://schemas.microsoft.com/office/drawing/2014/main" val="20000"/>
                    </a:ext>
                  </a:extLst>
                </a:gridCol>
                <a:gridCol w="2123767">
                  <a:extLst>
                    <a:ext uri="{9D8B030D-6E8A-4147-A177-3AD203B41FA5}">
                      <a16:colId xmlns:a16="http://schemas.microsoft.com/office/drawing/2014/main" val="20001"/>
                    </a:ext>
                  </a:extLst>
                </a:gridCol>
                <a:gridCol w="2315496">
                  <a:extLst>
                    <a:ext uri="{9D8B030D-6E8A-4147-A177-3AD203B41FA5}">
                      <a16:colId xmlns:a16="http://schemas.microsoft.com/office/drawing/2014/main" val="20002"/>
                    </a:ext>
                  </a:extLst>
                </a:gridCol>
                <a:gridCol w="2728451">
                  <a:extLst>
                    <a:ext uri="{9D8B030D-6E8A-4147-A177-3AD203B41FA5}">
                      <a16:colId xmlns:a16="http://schemas.microsoft.com/office/drawing/2014/main" val="20003"/>
                    </a:ext>
                  </a:extLst>
                </a:gridCol>
                <a:gridCol w="2728451">
                  <a:extLst>
                    <a:ext uri="{9D8B030D-6E8A-4147-A177-3AD203B41FA5}">
                      <a16:colId xmlns:a16="http://schemas.microsoft.com/office/drawing/2014/main" val="20004"/>
                    </a:ext>
                  </a:extLst>
                </a:gridCol>
                <a:gridCol w="2123767">
                  <a:extLst>
                    <a:ext uri="{9D8B030D-6E8A-4147-A177-3AD203B41FA5}">
                      <a16:colId xmlns:a16="http://schemas.microsoft.com/office/drawing/2014/main" val="20005"/>
                    </a:ext>
                  </a:extLst>
                </a:gridCol>
                <a:gridCol w="2315496">
                  <a:extLst>
                    <a:ext uri="{9D8B030D-6E8A-4147-A177-3AD203B41FA5}">
                      <a16:colId xmlns:a16="http://schemas.microsoft.com/office/drawing/2014/main" val="20006"/>
                    </a:ext>
                  </a:extLst>
                </a:gridCol>
              </a:tblGrid>
              <a:tr h="301752">
                <a:tc>
                  <a:txBody>
                    <a:bodyPr/>
                    <a:lstStyle/>
                    <a:p>
                      <a:pPr algn="ctr">
                        <a:buNone/>
                      </a:pPr>
                      <a:r>
                        <a:rPr sz="1150" b="1">
                          <a:solidFill>
                            <a:srgbClr val="2E3142"/>
                          </a:solidFill>
                          <a:latin typeface="210 OmniGothic 040"/>
                          <a:ea typeface="210 OmniGothic 040"/>
                          <a:cs typeface="210 OmniGothic 040"/>
                        </a:rPr>
                        <a:t>id</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ctr">
                        <a:buNone/>
                      </a:pPr>
                      <a:r>
                        <a:rPr sz="1150" b="1">
                          <a:solidFill>
                            <a:srgbClr val="2E3142"/>
                          </a:solidFill>
                          <a:latin typeface="210 OmniGothic 040"/>
                          <a:ea typeface="210 OmniGothic 040"/>
                          <a:cs typeface="210 OmniGothic 040"/>
                        </a:rPr>
                        <a:t>name</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ctr">
                        <a:buNone/>
                      </a:pPr>
                      <a:r>
                        <a:rPr sz="1150" b="1">
                          <a:solidFill>
                            <a:srgbClr val="2E3142"/>
                          </a:solidFill>
                          <a:latin typeface="210 OmniGothic 040"/>
                          <a:ea typeface="210 OmniGothic 040"/>
                          <a:cs typeface="210 OmniGothic 040"/>
                        </a:rPr>
                        <a:t>emd_code</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ctr">
                        <a:buNone/>
                      </a:pPr>
                      <a:r>
                        <a:rPr sz="1150" b="1">
                          <a:solidFill>
                            <a:srgbClr val="2E3142"/>
                          </a:solidFill>
                          <a:latin typeface="210 OmniGothic 040"/>
                          <a:ea typeface="210 OmniGothic 040"/>
                          <a:cs typeface="210 OmniGothic 040"/>
                        </a:rPr>
                        <a:t>population</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ctr">
                        <a:buNone/>
                      </a:pPr>
                      <a:r>
                        <a:rPr sz="1150" b="1">
                          <a:solidFill>
                            <a:srgbClr val="2E3142"/>
                          </a:solidFill>
                          <a:latin typeface="210 OmniGothic 040"/>
                          <a:ea typeface="210 OmniGothic 040"/>
                          <a:cs typeface="210 OmniGothic 040"/>
                        </a:rPr>
                        <a:t>households</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ctr">
                        <a:buNone/>
                      </a:pPr>
                      <a:r>
                        <a:rPr sz="1150" b="1">
                          <a:solidFill>
                            <a:srgbClr val="2E3142"/>
                          </a:solidFill>
                          <a:latin typeface="210 OmniGothic 040"/>
                          <a:ea typeface="210 OmniGothic 040"/>
                          <a:cs typeface="210 OmniGothic 040"/>
                        </a:rPr>
                        <a:t>elderly</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ctr">
                        <a:buNone/>
                      </a:pPr>
                      <a:r>
                        <a:rPr sz="1150" b="1">
                          <a:solidFill>
                            <a:srgbClr val="2E3142"/>
                          </a:solidFill>
                          <a:latin typeface="210 OmniGothic 040"/>
                          <a:ea typeface="210 OmniGothic 040"/>
                          <a:cs typeface="210 OmniGothic 040"/>
                        </a:rPr>
                        <a:t>disabled</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extLst>
                  <a:ext uri="{0D108BD9-81ED-4DB2-BD59-A6C34878D82A}">
                    <a16:rowId xmlns:a16="http://schemas.microsoft.com/office/drawing/2014/main" val="10000"/>
                  </a:ext>
                </a:extLst>
              </a:tr>
              <a:tr h="301752">
                <a:tc>
                  <a:txBody>
                    <a:bodyPr/>
                    <a:lstStyle/>
                    <a:p>
                      <a:pPr algn="ctr">
                        <a:buNone/>
                      </a:pPr>
                      <a:r>
                        <a:rPr sz="1150" b="0">
                          <a:solidFill>
                            <a:srgbClr val="2E3142"/>
                          </a:solidFill>
                          <a:latin typeface="210 OmniGothic 040"/>
                          <a:ea typeface="210 OmniGothic 040"/>
                          <a:cs typeface="210 OmniGothic 040"/>
                        </a:rPr>
                        <a:t>goesan</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괴산리</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안평면</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84</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47</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46</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3</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1"/>
                  </a:ext>
                </a:extLst>
              </a:tr>
              <a:tr h="301752">
                <a:tc>
                  <a:txBody>
                    <a:bodyPr/>
                    <a:lstStyle/>
                    <a:p>
                      <a:pPr algn="ctr">
                        <a:buNone/>
                      </a:pPr>
                      <a:r>
                        <a:rPr sz="1150" b="0">
                          <a:solidFill>
                            <a:srgbClr val="2E3142"/>
                          </a:solidFill>
                          <a:latin typeface="210 OmniGothic 040"/>
                          <a:ea typeface="210 OmniGothic 040"/>
                          <a:cs typeface="210 OmniGothic 040"/>
                        </a:rPr>
                        <a:t>bakgok</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박곡리</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안평면</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138</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74</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71</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6</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2"/>
                  </a:ext>
                </a:extLst>
              </a:tr>
              <a:tr h="301752">
                <a:tc>
                  <a:txBody>
                    <a:bodyPr/>
                    <a:lstStyle/>
                    <a:p>
                      <a:pPr algn="ctr">
                        <a:buNone/>
                      </a:pPr>
                      <a:r>
                        <a:rPr sz="1150" b="0">
                          <a:solidFill>
                            <a:srgbClr val="2E3142"/>
                          </a:solidFill>
                          <a:latin typeface="210 OmniGothic 040"/>
                          <a:ea typeface="210 OmniGothic 040"/>
                          <a:cs typeface="210 OmniGothic 040"/>
                        </a:rPr>
                        <a:t>seoktap</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석탑리</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안평면</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76</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42</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41</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3</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3"/>
                  </a:ext>
                </a:extLst>
              </a:tr>
              <a:tr h="301752">
                <a:tc>
                  <a:txBody>
                    <a:bodyPr/>
                    <a:lstStyle/>
                    <a:p>
                      <a:pPr algn="ctr">
                        <a:buNone/>
                      </a:pPr>
                      <a:r>
                        <a:rPr sz="1150" b="0">
                          <a:solidFill>
                            <a:srgbClr val="2E3142"/>
                          </a:solidFill>
                          <a:latin typeface="210 OmniGothic 040"/>
                          <a:ea typeface="210 OmniGothic 040"/>
                          <a:cs typeface="210 OmniGothic 040"/>
                        </a:rPr>
                        <a:t>bangha</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방하리</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단촌면</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143</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78</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79</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6</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4"/>
                  </a:ext>
                </a:extLst>
              </a:tr>
              <a:tr h="301752">
                <a:tc>
                  <a:txBody>
                    <a:bodyPr/>
                    <a:lstStyle/>
                    <a:p>
                      <a:pPr algn="ctr">
                        <a:buNone/>
                      </a:pPr>
                      <a:r>
                        <a:rPr sz="1150" b="0">
                          <a:solidFill>
                            <a:srgbClr val="2E3142"/>
                          </a:solidFill>
                          <a:latin typeface="210 OmniGothic 040"/>
                          <a:ea typeface="210 OmniGothic 040"/>
                          <a:cs typeface="210 OmniGothic 040"/>
                        </a:rPr>
                        <a:t>hahwa</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하화리</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단촌면</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131</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71</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70</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5</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5"/>
                  </a:ext>
                </a:extLst>
              </a:tr>
            </a:tbl>
          </a:graphicData>
        </a:graphic>
      </p:graphicFrame>
      <p:sp>
        <p:nvSpPr>
          <p:cNvPr id="5374" name="TextBox 5373">
            <a:extLst>
              <a:ext uri="{FF2B5EF4-FFF2-40B4-BE49-F238E27FC236}">
                <a16:creationId xmlns:a16="http://schemas.microsoft.com/office/drawing/2014/main" id="{691CF24B-8595-44F6-8763-BCC78E0A75A1}"/>
              </a:ext>
            </a:extLst>
          </p:cNvPr>
          <p:cNvSpPr>
            <a:spLocks noGrp="1"/>
          </p:cNvSpPr>
          <p:nvPr/>
        </p:nvSpPr>
        <p:spPr>
          <a:xfrm>
            <a:off x="822960" y="8883396"/>
            <a:ext cx="16459200" cy="301752"/>
          </a:xfrm>
          <a:prstGeom prst="rect">
            <a:avLst/>
          </a:prstGeom>
          <a:noFill/>
        </p:spPr>
        <p:txBody>
          <a:bodyPr wrap="square" lIns="0" tIns="0" rIns="0" bIns="0" anchor="t">
            <a:spAutoFit/>
          </a:bodyPr>
          <a:lstStyle/>
          <a:p>
            <a:pPr algn="l">
              <a:buNone/>
            </a:pPr>
            <a:r>
              <a:rPr sz="1150" b="0">
                <a:solidFill>
                  <a:srgbClr val="7B8094"/>
                </a:solidFill>
                <a:latin typeface="210 OmniGothic 030"/>
                <a:ea typeface="210 OmniGothic 030"/>
                <a:cs typeface="210 OmniGothic 030"/>
              </a:rPr>
              <a:t>※ 좌표·발생 시각·접수 경로·마을 좌표는 실제(보도·OSM·SGIS), 실측 화선·사곡면·점곡면 산불·계정·인구·자원·수용 인원·위험도 요인 점수는 목업과 같은 시연용 가상값입니다.</a:t>
            </a:r>
          </a:p>
        </p:txBody>
      </p:sp>
    </p:spTree>
    <p:extLst>
      <p:ext uri="{BB962C8B-B14F-4D97-AF65-F5344CB8AC3E}">
        <p14:creationId xmlns:p14="http://schemas.microsoft.com/office/powerpoint/2010/main" val="176288131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89" name="Picture 2"/>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700" y="-12700"/>
            <a:ext cx="18313400" cy="1638300"/>
          </a:xfrm>
          <a:prstGeom prst="rect">
            <a:avLst/>
          </a:prstGeom>
        </p:spPr>
      </p:pic>
      <p:pic>
        <p:nvPicPr>
          <p:cNvPr id="5390" name="Picture 4"/>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28" y="1618343"/>
            <a:ext cx="18313400" cy="8699500"/>
          </a:xfrm>
          <a:prstGeom prst="rect">
            <a:avLst/>
          </a:prstGeom>
        </p:spPr>
      </p:pic>
      <p:pic>
        <p:nvPicPr>
          <p:cNvPr id="5391" name="Picture 5"/>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58800" y="9271000"/>
            <a:ext cx="17170400" cy="50800"/>
          </a:xfrm>
          <a:prstGeom prst="rect">
            <a:avLst/>
          </a:prstGeom>
        </p:spPr>
      </p:pic>
      <p:pic>
        <p:nvPicPr>
          <p:cNvPr id="5392" name="Picture 3"/>
          <p:cNvPicPr>
            <a:picLocks noChangeAspect="1"/>
          </p:cNvPicPr>
          <p:nvPr/>
        </p:nvPicPr>
        <p:blipFill>
          <a:blip r:embed="rId6"/>
          <a:stretch>
            <a:fillRect/>
          </a:stretch>
        </p:blipFill>
        <p:spPr>
          <a:xfrm>
            <a:off x="14846300" y="317500"/>
            <a:ext cx="2120900" cy="1333500"/>
          </a:xfrm>
          <a:prstGeom prst="rect">
            <a:avLst/>
          </a:prstGeom>
        </p:spPr>
      </p:pic>
      <p:sp>
        <p:nvSpPr>
          <p:cNvPr id="5373" name="Title">
            <a:extLst>
              <a:ext uri="{FF2B5EF4-FFF2-40B4-BE49-F238E27FC236}">
                <a16:creationId xmlns:a16="http://schemas.microsoft.com/office/drawing/2014/main" id="{C1C1D12B-DC76-4CE2-AFB5-C2AAD51A2E99}"/>
              </a:ext>
            </a:extLst>
          </p:cNvPr>
          <p:cNvSpPr>
            <a:spLocks noGrp="1"/>
          </p:cNvSpPr>
          <p:nvPr/>
        </p:nvSpPr>
        <p:spPr>
          <a:xfrm>
            <a:off x="822960" y="384048"/>
            <a:ext cx="13258800" cy="877824"/>
          </a:xfrm>
          <a:prstGeom prst="rect">
            <a:avLst/>
          </a:prstGeom>
          <a:noFill/>
        </p:spPr>
        <p:txBody>
          <a:bodyPr wrap="square" lIns="0" tIns="0" rIns="0" bIns="0" anchor="ctr">
            <a:spAutoFit/>
          </a:bodyPr>
          <a:lstStyle/>
          <a:p>
            <a:pPr algn="l">
              <a:buNone/>
            </a:pPr>
            <a:r>
              <a:rPr sz="4400" b="0">
                <a:solidFill>
                  <a:srgbClr val="FAA95A"/>
                </a:solidFill>
                <a:latin typeface="210 OmniGothic 050"/>
                <a:ea typeface="210 OmniGothic 050"/>
                <a:cs typeface="210 OmniGothic 050"/>
              </a:rPr>
              <a:t>06. 관계형 데이터베이스</a:t>
            </a:r>
          </a:p>
        </p:txBody>
      </p:sp>
      <p:sp>
        <p:nvSpPr>
          <p:cNvPr id="5374" name="Subtitle">
            <a:extLst>
              <a:ext uri="{FF2B5EF4-FFF2-40B4-BE49-F238E27FC236}">
                <a16:creationId xmlns:a16="http://schemas.microsoft.com/office/drawing/2014/main" id="{DB6955E4-A9F3-45EC-AD56-1DE03B499514}"/>
              </a:ext>
            </a:extLst>
          </p:cNvPr>
          <p:cNvSpPr>
            <a:spLocks noGrp="1"/>
          </p:cNvSpPr>
          <p:nvPr/>
        </p:nvSpPr>
        <p:spPr>
          <a:xfrm>
            <a:off x="822960" y="1764792"/>
            <a:ext cx="16642080" cy="502920"/>
          </a:xfrm>
          <a:prstGeom prst="rect">
            <a:avLst/>
          </a:prstGeom>
          <a:noFill/>
        </p:spPr>
        <p:txBody>
          <a:bodyPr wrap="square" lIns="0" tIns="0" rIns="0" bIns="0" anchor="ctr">
            <a:spAutoFit/>
          </a:bodyPr>
          <a:lstStyle/>
          <a:p>
            <a:pPr algn="ctr">
              <a:buNone/>
            </a:pPr>
            <a:r>
              <a:rPr sz="2600" b="1">
                <a:solidFill>
                  <a:srgbClr val="363A52"/>
                </a:solidFill>
                <a:latin typeface="210 OmniGothic 040"/>
                <a:ea typeface="210 OmniGothic 040"/>
                <a:cs typeface="210 OmniGothic 040"/>
              </a:rPr>
              <a:t>2. 정적 모델링 – </a:t>
            </a:r>
            <a:r>
              <a:rPr sz="2600" b="1">
                <a:solidFill>
                  <a:srgbClr val="FAA95A"/>
                </a:solidFill>
                <a:latin typeface="210 OmniGothic 040"/>
                <a:ea typeface="210 OmniGothic 040"/>
                <a:cs typeface="210 OmniGothic 040"/>
              </a:rPr>
              <a:t>예시 데이터 (의성 2025-03-22 시나리오)</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idx="12"/>
          </p:nvPr>
        </p:nvSpPr>
        <p:spPr/>
        <p:txBody>
          <a:bodyPr/>
          <a:lstStyle/>
          <a:p>
            <a:fld id="{B6F15528-21DE-4FAA-801E-634DDDAF4B2B}" type="slidenum">
              <a:t>74</a:t>
            </a:fld>
            <a:endParaRPr/>
          </a:p>
        </p:txBody>
      </p:sp>
      <p:sp>
        <p:nvSpPr>
          <p:cNvPr id="5375" name="TextBox 5374">
            <a:extLst>
              <a:ext uri="{FF2B5EF4-FFF2-40B4-BE49-F238E27FC236}">
                <a16:creationId xmlns:a16="http://schemas.microsoft.com/office/drawing/2014/main" id="{141F4283-ACE6-4C97-BB7B-39679E3E3296}"/>
              </a:ext>
            </a:extLst>
          </p:cNvPr>
          <p:cNvSpPr>
            <a:spLocks noGrp="1"/>
          </p:cNvSpPr>
          <p:nvPr/>
        </p:nvSpPr>
        <p:spPr>
          <a:xfrm>
            <a:off x="822960" y="2395728"/>
            <a:ext cx="9144000" cy="301752"/>
          </a:xfrm>
          <a:prstGeom prst="rect">
            <a:avLst/>
          </a:prstGeom>
          <a:noFill/>
        </p:spPr>
        <p:txBody>
          <a:bodyPr wrap="square" lIns="0" tIns="0" rIns="0" bIns="0" anchor="t">
            <a:spAutoFit/>
          </a:bodyPr>
          <a:lstStyle/>
          <a:p>
            <a:pPr algn="l">
              <a:buNone/>
            </a:pPr>
            <a:r>
              <a:rPr sz="1450" b="1">
                <a:solidFill>
                  <a:srgbClr val="2E3142"/>
                </a:solidFill>
                <a:latin typeface="210 OmniGothic 040"/>
                <a:ea typeface="210 OmniGothic 040"/>
                <a:cs typeface="210 OmniGothic 040"/>
              </a:rPr>
              <a:t>facilities</a:t>
            </a:r>
          </a:p>
        </p:txBody>
      </p:sp>
      <p:graphicFrame>
        <p:nvGraphicFramePr>
          <p:cNvPr id="5397" name="Table 5375"/>
          <p:cNvGraphicFramePr/>
          <p:nvPr/>
        </p:nvGraphicFramePr>
        <p:xfrm>
          <a:off x="822960" y="2717596"/>
          <a:ext cx="16459198" cy="1810512"/>
        </p:xfrm>
        <a:graphic>
          <a:graphicData uri="http://schemas.openxmlformats.org/drawingml/2006/table">
            <a:tbl>
              <a:tblPr>
                <a:tableStyleId>{2D5ABB26-0587-4C30-8999-92F81FD0307C}</a:tableStyleId>
              </a:tblPr>
              <a:tblGrid>
                <a:gridCol w="2688740">
                  <a:extLst>
                    <a:ext uri="{9D8B030D-6E8A-4147-A177-3AD203B41FA5}">
                      <a16:colId xmlns:a16="http://schemas.microsoft.com/office/drawing/2014/main" val="20000"/>
                    </a:ext>
                  </a:extLst>
                </a:gridCol>
                <a:gridCol w="4247836">
                  <a:extLst>
                    <a:ext uri="{9D8B030D-6E8A-4147-A177-3AD203B41FA5}">
                      <a16:colId xmlns:a16="http://schemas.microsoft.com/office/drawing/2014/main" val="20001"/>
                    </a:ext>
                  </a:extLst>
                </a:gridCol>
                <a:gridCol w="3902408">
                  <a:extLst>
                    <a:ext uri="{9D8B030D-6E8A-4147-A177-3AD203B41FA5}">
                      <a16:colId xmlns:a16="http://schemas.microsoft.com/office/drawing/2014/main" val="20002"/>
                    </a:ext>
                  </a:extLst>
                </a:gridCol>
                <a:gridCol w="2688740">
                  <a:extLst>
                    <a:ext uri="{9D8B030D-6E8A-4147-A177-3AD203B41FA5}">
                      <a16:colId xmlns:a16="http://schemas.microsoft.com/office/drawing/2014/main" val="20003"/>
                    </a:ext>
                  </a:extLst>
                </a:gridCol>
                <a:gridCol w="2931474">
                  <a:extLst>
                    <a:ext uri="{9D8B030D-6E8A-4147-A177-3AD203B41FA5}">
                      <a16:colId xmlns:a16="http://schemas.microsoft.com/office/drawing/2014/main" val="20004"/>
                    </a:ext>
                  </a:extLst>
                </a:gridCol>
              </a:tblGrid>
              <a:tr h="301752">
                <a:tc>
                  <a:txBody>
                    <a:bodyPr/>
                    <a:lstStyle/>
                    <a:p>
                      <a:pPr algn="ctr">
                        <a:buNone/>
                      </a:pPr>
                      <a:r>
                        <a:rPr sz="1150" b="1">
                          <a:solidFill>
                            <a:srgbClr val="2E3142"/>
                          </a:solidFill>
                          <a:latin typeface="210 OmniGothic 040"/>
                          <a:ea typeface="210 OmniGothic 040"/>
                          <a:cs typeface="210 OmniGothic 040"/>
                        </a:rPr>
                        <a:t>id</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ctr">
                        <a:buNone/>
                      </a:pPr>
                      <a:r>
                        <a:rPr sz="1150" b="1">
                          <a:solidFill>
                            <a:srgbClr val="2E3142"/>
                          </a:solidFill>
                          <a:latin typeface="210 OmniGothic 040"/>
                          <a:ea typeface="210 OmniGothic 040"/>
                          <a:cs typeface="210 OmniGothic 040"/>
                        </a:rPr>
                        <a:t>name</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ctr">
                        <a:buNone/>
                      </a:pPr>
                      <a:r>
                        <a:rPr sz="1150" b="1">
                          <a:solidFill>
                            <a:srgbClr val="2E3142"/>
                          </a:solidFill>
                          <a:latin typeface="210 OmniGothic 040"/>
                          <a:ea typeface="210 OmniGothic 040"/>
                          <a:cs typeface="210 OmniGothic 040"/>
                        </a:rPr>
                        <a:t>type</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ctr">
                        <a:buNone/>
                      </a:pPr>
                      <a:r>
                        <a:rPr sz="1150" b="1">
                          <a:solidFill>
                            <a:srgbClr val="2E3142"/>
                          </a:solidFill>
                          <a:latin typeface="210 OmniGothic 040"/>
                          <a:ea typeface="210 OmniGothic 040"/>
                          <a:cs typeface="210 OmniGothic 040"/>
                        </a:rPr>
                        <a:t>grade</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ctr">
                        <a:buNone/>
                      </a:pPr>
                      <a:r>
                        <a:rPr sz="1150" b="1">
                          <a:solidFill>
                            <a:srgbClr val="2E3142"/>
                          </a:solidFill>
                          <a:latin typeface="210 OmniGothic 040"/>
                          <a:ea typeface="210 OmniGothic 040"/>
                          <a:cs typeface="210 OmniGothic 040"/>
                        </a:rPr>
                        <a:t>capacity</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extLst>
                  <a:ext uri="{0D108BD9-81ED-4DB2-BD59-A6C34878D82A}">
                    <a16:rowId xmlns:a16="http://schemas.microsoft.com/office/drawing/2014/main" val="10000"/>
                  </a:ext>
                </a:extLst>
              </a:tr>
              <a:tr h="301752">
                <a:tc>
                  <a:txBody>
                    <a:bodyPr/>
                    <a:lstStyle/>
                    <a:p>
                      <a:pPr algn="ctr">
                        <a:buNone/>
                      </a:pPr>
                      <a:r>
                        <a:rPr sz="1150" b="0">
                          <a:solidFill>
                            <a:srgbClr val="2E3142"/>
                          </a:solidFill>
                          <a:latin typeface="210 OmniGothic 040"/>
                          <a:ea typeface="210 OmniGothic 040"/>
                          <a:cs typeface="210 OmniGothic 040"/>
                        </a:rPr>
                        <a:t>sh1</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의성 실내체육관</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대피소</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NULL</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500</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1"/>
                  </a:ext>
                </a:extLst>
              </a:tr>
              <a:tr h="301752">
                <a:tc>
                  <a:txBody>
                    <a:bodyPr/>
                    <a:lstStyle/>
                    <a:p>
                      <a:pPr algn="ctr">
                        <a:buNone/>
                      </a:pPr>
                      <a:r>
                        <a:rPr sz="1150" b="0">
                          <a:solidFill>
                            <a:srgbClr val="2E3142"/>
                          </a:solidFill>
                          <a:latin typeface="210 OmniGothic 040"/>
                          <a:ea typeface="210 OmniGothic 040"/>
                          <a:cs typeface="210 OmniGothic 040"/>
                        </a:rPr>
                        <a:t>sh2</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안평면사무소</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대피소</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NULL</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150</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2"/>
                  </a:ext>
                </a:extLst>
              </a:tr>
              <a:tr h="301752">
                <a:tc>
                  <a:txBody>
                    <a:bodyPr/>
                    <a:lstStyle/>
                    <a:p>
                      <a:pPr algn="ctr">
                        <a:buNone/>
                      </a:pPr>
                      <a:r>
                        <a:rPr sz="1150" b="0">
                          <a:solidFill>
                            <a:srgbClr val="2E3142"/>
                          </a:solidFill>
                          <a:latin typeface="210 OmniGothic 040"/>
                          <a:ea typeface="210 OmniGothic 040"/>
                          <a:cs typeface="210 OmniGothic 040"/>
                        </a:rPr>
                        <a:t>care1</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요양병원(가상)</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취약시설</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1</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70</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3"/>
                  </a:ext>
                </a:extLst>
              </a:tr>
              <a:tr h="301752">
                <a:tc>
                  <a:txBody>
                    <a:bodyPr/>
                    <a:lstStyle/>
                    <a:p>
                      <a:pPr algn="ctr">
                        <a:buNone/>
                      </a:pPr>
                      <a:r>
                        <a:rPr sz="1150" b="0">
                          <a:solidFill>
                            <a:srgbClr val="2E3142"/>
                          </a:solidFill>
                          <a:latin typeface="210 OmniGothic 040"/>
                          <a:ea typeface="210 OmniGothic 040"/>
                          <a:cs typeface="210 OmniGothic 040"/>
                        </a:rPr>
                        <a:t>temple1</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운람사</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국가유산·사찰</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2</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NULL</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4"/>
                  </a:ext>
                </a:extLst>
              </a:tr>
              <a:tr h="301752">
                <a:tc>
                  <a:txBody>
                    <a:bodyPr/>
                    <a:lstStyle/>
                    <a:p>
                      <a:pPr algn="ctr">
                        <a:buNone/>
                      </a:pPr>
                      <a:r>
                        <a:rPr sz="1150" b="0">
                          <a:solidFill>
                            <a:srgbClr val="2E3142"/>
                          </a:solidFill>
                          <a:latin typeface="210 OmniGothic 040"/>
                          <a:ea typeface="210 OmniGothic 040"/>
                          <a:cs typeface="210 OmniGothic 040"/>
                        </a:rPr>
                        <a:t>pl1</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송전선(가상)</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송전시설</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2</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NULL</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5"/>
                  </a:ext>
                </a:extLst>
              </a:tr>
            </a:tbl>
          </a:graphicData>
        </a:graphic>
      </p:graphicFrame>
      <p:sp>
        <p:nvSpPr>
          <p:cNvPr id="5377" name="TextBox 5376">
            <a:extLst>
              <a:ext uri="{FF2B5EF4-FFF2-40B4-BE49-F238E27FC236}">
                <a16:creationId xmlns:a16="http://schemas.microsoft.com/office/drawing/2014/main" id="{048E7031-CD05-4FBA-B443-DEBB30C15745}"/>
              </a:ext>
            </a:extLst>
          </p:cNvPr>
          <p:cNvSpPr>
            <a:spLocks noGrp="1"/>
          </p:cNvSpPr>
          <p:nvPr/>
        </p:nvSpPr>
        <p:spPr>
          <a:xfrm>
            <a:off x="822960" y="4779568"/>
            <a:ext cx="9144000" cy="301752"/>
          </a:xfrm>
          <a:prstGeom prst="rect">
            <a:avLst/>
          </a:prstGeom>
          <a:noFill/>
        </p:spPr>
        <p:txBody>
          <a:bodyPr wrap="square" lIns="0" tIns="0" rIns="0" bIns="0" anchor="t">
            <a:spAutoFit/>
          </a:bodyPr>
          <a:lstStyle/>
          <a:p>
            <a:pPr algn="l">
              <a:buNone/>
            </a:pPr>
            <a:r>
              <a:rPr sz="1450" b="1">
                <a:solidFill>
                  <a:srgbClr val="2E3142"/>
                </a:solidFill>
                <a:latin typeface="210 OmniGothic 040"/>
                <a:ea typeface="210 OmniGothic 040"/>
                <a:cs typeface="210 OmniGothic 040"/>
              </a:rPr>
              <a:t>prediction_runs</a:t>
            </a:r>
          </a:p>
        </p:txBody>
      </p:sp>
      <p:graphicFrame>
        <p:nvGraphicFramePr>
          <p:cNvPr id="5399" name="Table 5377"/>
          <p:cNvGraphicFramePr/>
          <p:nvPr/>
        </p:nvGraphicFramePr>
        <p:xfrm>
          <a:off x="822960" y="5101437"/>
          <a:ext cx="16459195" cy="603504"/>
        </p:xfrm>
        <a:graphic>
          <a:graphicData uri="http://schemas.openxmlformats.org/drawingml/2006/table">
            <a:tbl>
              <a:tblPr>
                <a:tableStyleId>{2D5ABB26-0587-4C30-8999-92F81FD0307C}</a:tableStyleId>
              </a:tblPr>
              <a:tblGrid>
                <a:gridCol w="1519797">
                  <a:extLst>
                    <a:ext uri="{9D8B030D-6E8A-4147-A177-3AD203B41FA5}">
                      <a16:colId xmlns:a16="http://schemas.microsoft.com/office/drawing/2014/main" val="20000"/>
                    </a:ext>
                  </a:extLst>
                </a:gridCol>
                <a:gridCol w="2543550">
                  <a:extLst>
                    <a:ext uri="{9D8B030D-6E8A-4147-A177-3AD203B41FA5}">
                      <a16:colId xmlns:a16="http://schemas.microsoft.com/office/drawing/2014/main" val="20001"/>
                    </a:ext>
                  </a:extLst>
                </a:gridCol>
                <a:gridCol w="2770464">
                  <a:extLst>
                    <a:ext uri="{9D8B030D-6E8A-4147-A177-3AD203B41FA5}">
                      <a16:colId xmlns:a16="http://schemas.microsoft.com/office/drawing/2014/main" val="20002"/>
                    </a:ext>
                  </a:extLst>
                </a:gridCol>
                <a:gridCol w="2248034">
                  <a:extLst>
                    <a:ext uri="{9D8B030D-6E8A-4147-A177-3AD203B41FA5}">
                      <a16:colId xmlns:a16="http://schemas.microsoft.com/office/drawing/2014/main" val="20003"/>
                    </a:ext>
                  </a:extLst>
                </a:gridCol>
                <a:gridCol w="1952518">
                  <a:extLst>
                    <a:ext uri="{9D8B030D-6E8A-4147-A177-3AD203B41FA5}">
                      <a16:colId xmlns:a16="http://schemas.microsoft.com/office/drawing/2014/main" val="20004"/>
                    </a:ext>
                  </a:extLst>
                </a:gridCol>
                <a:gridCol w="1657001">
                  <a:extLst>
                    <a:ext uri="{9D8B030D-6E8A-4147-A177-3AD203B41FA5}">
                      <a16:colId xmlns:a16="http://schemas.microsoft.com/office/drawing/2014/main" val="20005"/>
                    </a:ext>
                  </a:extLst>
                </a:gridCol>
                <a:gridCol w="1519797">
                  <a:extLst>
                    <a:ext uri="{9D8B030D-6E8A-4147-A177-3AD203B41FA5}">
                      <a16:colId xmlns:a16="http://schemas.microsoft.com/office/drawing/2014/main" val="20006"/>
                    </a:ext>
                  </a:extLst>
                </a:gridCol>
                <a:gridCol w="2248034">
                  <a:extLst>
                    <a:ext uri="{9D8B030D-6E8A-4147-A177-3AD203B41FA5}">
                      <a16:colId xmlns:a16="http://schemas.microsoft.com/office/drawing/2014/main" val="20007"/>
                    </a:ext>
                  </a:extLst>
                </a:gridCol>
              </a:tblGrid>
              <a:tr h="301752">
                <a:tc>
                  <a:txBody>
                    <a:bodyPr/>
                    <a:lstStyle/>
                    <a:p>
                      <a:pPr algn="ctr">
                        <a:buNone/>
                      </a:pPr>
                      <a:r>
                        <a:rPr sz="1150" b="1">
                          <a:solidFill>
                            <a:srgbClr val="2E3142"/>
                          </a:solidFill>
                          <a:latin typeface="210 OmniGothic 040"/>
                          <a:ea typeface="210 OmniGothic 040"/>
                          <a:cs typeface="210 OmniGothic 040"/>
                        </a:rPr>
                        <a:t>id</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ctr">
                        <a:buNone/>
                      </a:pPr>
                      <a:r>
                        <a:rPr sz="1150" b="1">
                          <a:solidFill>
                            <a:srgbClr val="2E3142"/>
                          </a:solidFill>
                          <a:latin typeface="210 OmniGothic 040"/>
                          <a:ea typeface="210 OmniGothic 040"/>
                          <a:cs typeface="210 OmniGothic 040"/>
                        </a:rPr>
                        <a:t>incident_id</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ctr">
                        <a:buNone/>
                      </a:pPr>
                      <a:r>
                        <a:rPr sz="1150" b="1">
                          <a:solidFill>
                            <a:srgbClr val="2E3142"/>
                          </a:solidFill>
                          <a:latin typeface="210 OmniGothic 040"/>
                          <a:ea typeface="210 OmniGothic 040"/>
                          <a:cs typeface="210 OmniGothic 040"/>
                        </a:rPr>
                        <a:t>t0</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ctr">
                        <a:buNone/>
                      </a:pPr>
                      <a:r>
                        <a:rPr sz="1150" b="1">
                          <a:solidFill>
                            <a:srgbClr val="2E3142"/>
                          </a:solidFill>
                          <a:latin typeface="210 OmniGothic 040"/>
                          <a:ea typeface="210 OmniGothic 040"/>
                          <a:cs typeface="210 OmniGothic 040"/>
                        </a:rPr>
                        <a:t>perimeter_id</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ctr">
                        <a:buNone/>
                      </a:pPr>
                      <a:r>
                        <a:rPr sz="1150" b="1">
                          <a:solidFill>
                            <a:srgbClr val="2E3142"/>
                          </a:solidFill>
                          <a:latin typeface="210 OmniGothic 040"/>
                          <a:ea typeface="210 OmniGothic 040"/>
                          <a:cs typeface="210 OmniGothic 040"/>
                        </a:rPr>
                        <a:t>wind_speed</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ctr">
                        <a:buNone/>
                      </a:pPr>
                      <a:r>
                        <a:rPr sz="1150" b="1">
                          <a:solidFill>
                            <a:srgbClr val="2E3142"/>
                          </a:solidFill>
                          <a:latin typeface="210 OmniGothic 040"/>
                          <a:ea typeface="210 OmniGothic 040"/>
                          <a:cs typeface="210 OmniGothic 040"/>
                        </a:rPr>
                        <a:t>wind_dir</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ctr">
                        <a:buNone/>
                      </a:pPr>
                      <a:r>
                        <a:rPr sz="1150" b="1">
                          <a:solidFill>
                            <a:srgbClr val="2E3142"/>
                          </a:solidFill>
                          <a:latin typeface="210 OmniGothic 040"/>
                          <a:ea typeface="210 OmniGothic 040"/>
                          <a:cs typeface="210 OmniGothic 040"/>
                        </a:rPr>
                        <a:t>status</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ctr">
                        <a:buNone/>
                      </a:pPr>
                      <a:r>
                        <a:rPr sz="1150" b="1">
                          <a:solidFill>
                            <a:srgbClr val="2E3142"/>
                          </a:solidFill>
                          <a:latin typeface="210 OmniGothic 040"/>
                          <a:ea typeface="210 OmniGothic 040"/>
                          <a:cs typeface="210 OmniGothic 040"/>
                        </a:rPr>
                        <a:t>requested_by</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extLst>
                  <a:ext uri="{0D108BD9-81ED-4DB2-BD59-A6C34878D82A}">
                    <a16:rowId xmlns:a16="http://schemas.microsoft.com/office/drawing/2014/main" val="10000"/>
                  </a:ext>
                </a:extLst>
              </a:tr>
              <a:tr h="301752">
                <a:tc>
                  <a:txBody>
                    <a:bodyPr/>
                    <a:lstStyle/>
                    <a:p>
                      <a:pPr algn="ctr">
                        <a:buNone/>
                      </a:pPr>
                      <a:r>
                        <a:rPr sz="1150" b="0">
                          <a:solidFill>
                            <a:srgbClr val="2E3142"/>
                          </a:solidFill>
                          <a:latin typeface="210 OmniGothic 040"/>
                          <a:ea typeface="210 OmniGothic 040"/>
                          <a:cs typeface="210 OmniGothic 040"/>
                        </a:rPr>
                        <a:t>1</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F-2025-0322-01</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2025-03-22 12:00</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1</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5.6</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240</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DONE</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1 (cmd01)</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1"/>
                  </a:ext>
                </a:extLst>
              </a:tr>
            </a:tbl>
          </a:graphicData>
        </a:graphic>
      </p:graphicFrame>
      <p:sp>
        <p:nvSpPr>
          <p:cNvPr id="5379" name="TextBox 5378">
            <a:extLst>
              <a:ext uri="{FF2B5EF4-FFF2-40B4-BE49-F238E27FC236}">
                <a16:creationId xmlns:a16="http://schemas.microsoft.com/office/drawing/2014/main" id="{84790347-E97A-4EDE-B2B8-7A848F316528}"/>
              </a:ext>
            </a:extLst>
          </p:cNvPr>
          <p:cNvSpPr>
            <a:spLocks noGrp="1"/>
          </p:cNvSpPr>
          <p:nvPr/>
        </p:nvSpPr>
        <p:spPr>
          <a:xfrm>
            <a:off x="822960" y="5956401"/>
            <a:ext cx="9144000" cy="301752"/>
          </a:xfrm>
          <a:prstGeom prst="rect">
            <a:avLst/>
          </a:prstGeom>
          <a:noFill/>
        </p:spPr>
        <p:txBody>
          <a:bodyPr wrap="square" lIns="0" tIns="0" rIns="0" bIns="0" anchor="t">
            <a:spAutoFit/>
          </a:bodyPr>
          <a:lstStyle/>
          <a:p>
            <a:pPr algn="l">
              <a:buNone/>
            </a:pPr>
            <a:r>
              <a:rPr sz="1450" b="1">
                <a:solidFill>
                  <a:srgbClr val="2E3142"/>
                </a:solidFill>
                <a:latin typeface="210 OmniGothic 040"/>
                <a:ea typeface="210 OmniGothic 040"/>
                <a:cs typeface="210 OmniGothic 040"/>
              </a:rPr>
              <a:t>spread_slices</a:t>
            </a:r>
          </a:p>
        </p:txBody>
      </p:sp>
      <p:graphicFrame>
        <p:nvGraphicFramePr>
          <p:cNvPr id="5401" name="Table 5379"/>
          <p:cNvGraphicFramePr/>
          <p:nvPr/>
        </p:nvGraphicFramePr>
        <p:xfrm>
          <a:off x="822960" y="6278270"/>
          <a:ext cx="16459200" cy="1508760"/>
        </p:xfrm>
        <a:graphic>
          <a:graphicData uri="http://schemas.openxmlformats.org/drawingml/2006/table">
            <a:tbl>
              <a:tblPr>
                <a:tableStyleId>{2D5ABB26-0587-4C30-8999-92F81FD0307C}</a:tableStyleId>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gridCol w="4114800">
                  <a:extLst>
                    <a:ext uri="{9D8B030D-6E8A-4147-A177-3AD203B41FA5}">
                      <a16:colId xmlns:a16="http://schemas.microsoft.com/office/drawing/2014/main" val="20002"/>
                    </a:ext>
                  </a:extLst>
                </a:gridCol>
                <a:gridCol w="4114800">
                  <a:extLst>
                    <a:ext uri="{9D8B030D-6E8A-4147-A177-3AD203B41FA5}">
                      <a16:colId xmlns:a16="http://schemas.microsoft.com/office/drawing/2014/main" val="20003"/>
                    </a:ext>
                  </a:extLst>
                </a:gridCol>
              </a:tblGrid>
              <a:tr h="301752">
                <a:tc>
                  <a:txBody>
                    <a:bodyPr/>
                    <a:lstStyle/>
                    <a:p>
                      <a:pPr algn="ctr">
                        <a:buNone/>
                      </a:pPr>
                      <a:r>
                        <a:rPr sz="1150" b="1">
                          <a:solidFill>
                            <a:srgbClr val="2E3142"/>
                          </a:solidFill>
                          <a:latin typeface="210 OmniGothic 040"/>
                          <a:ea typeface="210 OmniGothic 040"/>
                          <a:cs typeface="210 OmniGothic 040"/>
                        </a:rPr>
                        <a:t>id</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ctr">
                        <a:buNone/>
                      </a:pPr>
                      <a:r>
                        <a:rPr sz="1150" b="1">
                          <a:solidFill>
                            <a:srgbClr val="2E3142"/>
                          </a:solidFill>
                          <a:latin typeface="210 OmniGothic 040"/>
                          <a:ea typeface="210 OmniGothic 040"/>
                          <a:cs typeface="210 OmniGothic 040"/>
                        </a:rPr>
                        <a:t>run_id</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ctr">
                        <a:buNone/>
                      </a:pPr>
                      <a:r>
                        <a:rPr sz="1150" b="1">
                          <a:solidFill>
                            <a:srgbClr val="2E3142"/>
                          </a:solidFill>
                          <a:latin typeface="210 OmniGothic 040"/>
                          <a:ea typeface="210 OmniGothic 040"/>
                          <a:cs typeface="210 OmniGothic 040"/>
                        </a:rPr>
                        <a:t>t_hours</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ctr">
                        <a:buNone/>
                      </a:pPr>
                      <a:r>
                        <a:rPr sz="1150" b="1">
                          <a:solidFill>
                            <a:srgbClr val="2E3142"/>
                          </a:solidFill>
                          <a:latin typeface="210 OmniGothic 040"/>
                          <a:ea typeface="210 OmniGothic 040"/>
                          <a:cs typeface="210 OmniGothic 040"/>
                        </a:rPr>
                        <a:t>area_ha</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extLst>
                  <a:ext uri="{0D108BD9-81ED-4DB2-BD59-A6C34878D82A}">
                    <a16:rowId xmlns:a16="http://schemas.microsoft.com/office/drawing/2014/main" val="10000"/>
                  </a:ext>
                </a:extLst>
              </a:tr>
              <a:tr h="301752">
                <a:tc>
                  <a:txBody>
                    <a:bodyPr/>
                    <a:lstStyle/>
                    <a:p>
                      <a:pPr algn="ctr">
                        <a:buNone/>
                      </a:pPr>
                      <a:r>
                        <a:rPr sz="1150" b="0">
                          <a:solidFill>
                            <a:srgbClr val="2E3142"/>
                          </a:solidFill>
                          <a:latin typeface="210 OmniGothic 040"/>
                          <a:ea typeface="210 OmniGothic 040"/>
                          <a:cs typeface="210 OmniGothic 040"/>
                        </a:rPr>
                        <a:t>1</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1</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1</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64</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1"/>
                  </a:ext>
                </a:extLst>
              </a:tr>
              <a:tr h="301752">
                <a:tc>
                  <a:txBody>
                    <a:bodyPr/>
                    <a:lstStyle/>
                    <a:p>
                      <a:pPr algn="ctr">
                        <a:buNone/>
                      </a:pPr>
                      <a:r>
                        <a:rPr sz="1150" b="0">
                          <a:solidFill>
                            <a:srgbClr val="2E3142"/>
                          </a:solidFill>
                          <a:latin typeface="210 OmniGothic 040"/>
                          <a:ea typeface="210 OmniGothic 040"/>
                          <a:cs typeface="210 OmniGothic 040"/>
                        </a:rPr>
                        <a:t>3</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1</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3</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573</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2"/>
                  </a:ext>
                </a:extLst>
              </a:tr>
              <a:tr h="301752">
                <a:tc>
                  <a:txBody>
                    <a:bodyPr/>
                    <a:lstStyle/>
                    <a:p>
                      <a:pPr algn="ctr">
                        <a:buNone/>
                      </a:pPr>
                      <a:r>
                        <a:rPr sz="1150" b="0">
                          <a:solidFill>
                            <a:srgbClr val="2E3142"/>
                          </a:solidFill>
                          <a:latin typeface="210 OmniGothic 040"/>
                          <a:ea typeface="210 OmniGothic 040"/>
                          <a:cs typeface="210 OmniGothic 040"/>
                        </a:rPr>
                        <a:t>5</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1</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5</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1,593</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3"/>
                  </a:ext>
                </a:extLst>
              </a:tr>
              <a:tr h="301752">
                <a:tc>
                  <a:txBody>
                    <a:bodyPr/>
                    <a:lstStyle/>
                    <a:p>
                      <a:pPr algn="ctr">
                        <a:buNone/>
                      </a:pPr>
                      <a:r>
                        <a:rPr sz="1150" b="0">
                          <a:solidFill>
                            <a:srgbClr val="2E3142"/>
                          </a:solidFill>
                          <a:latin typeface="210 OmniGothic 040"/>
                          <a:ea typeface="210 OmniGothic 040"/>
                          <a:cs typeface="210 OmniGothic 040"/>
                        </a:rPr>
                        <a:t>8</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1</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8</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4,077</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4"/>
                  </a:ext>
                </a:extLst>
              </a:tr>
            </a:tbl>
          </a:graphicData>
        </a:graphic>
      </p:graphicFrame>
      <p:sp>
        <p:nvSpPr>
          <p:cNvPr id="5381" name="TextBox 5380">
            <a:extLst>
              <a:ext uri="{FF2B5EF4-FFF2-40B4-BE49-F238E27FC236}">
                <a16:creationId xmlns:a16="http://schemas.microsoft.com/office/drawing/2014/main" id="{F40C3B7E-F614-4850-886F-4105D5407C55}"/>
              </a:ext>
            </a:extLst>
          </p:cNvPr>
          <p:cNvSpPr>
            <a:spLocks noGrp="1"/>
          </p:cNvSpPr>
          <p:nvPr/>
        </p:nvSpPr>
        <p:spPr>
          <a:xfrm>
            <a:off x="822960" y="8883396"/>
            <a:ext cx="16459200" cy="301752"/>
          </a:xfrm>
          <a:prstGeom prst="rect">
            <a:avLst/>
          </a:prstGeom>
          <a:noFill/>
        </p:spPr>
        <p:txBody>
          <a:bodyPr wrap="square" lIns="0" tIns="0" rIns="0" bIns="0" anchor="t">
            <a:spAutoFit/>
          </a:bodyPr>
          <a:lstStyle/>
          <a:p>
            <a:pPr algn="l">
              <a:buNone/>
            </a:pPr>
            <a:r>
              <a:rPr sz="1150" b="0">
                <a:solidFill>
                  <a:srgbClr val="7B8094"/>
                </a:solidFill>
                <a:latin typeface="210 OmniGothic 030"/>
                <a:ea typeface="210 OmniGothic 030"/>
                <a:cs typeface="210 OmniGothic 030"/>
              </a:rPr>
              <a:t>※ 좌표·발생 시각·접수 경로·마을 좌표는 실제(보도·OSM·SGIS), 실측 화선·사곡면·점곡면 산불·계정·인구·자원·수용 인원·위험도 요인 점수는 목업과 같은 시연용 가상값입니다.</a:t>
            </a:r>
          </a:p>
        </p:txBody>
      </p:sp>
    </p:spTree>
    <p:extLst>
      <p:ext uri="{BB962C8B-B14F-4D97-AF65-F5344CB8AC3E}">
        <p14:creationId xmlns:p14="http://schemas.microsoft.com/office/powerpoint/2010/main" val="11369846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94" name="Picture 2"/>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700" y="-12700"/>
            <a:ext cx="18313400" cy="1638300"/>
          </a:xfrm>
          <a:prstGeom prst="rect">
            <a:avLst/>
          </a:prstGeom>
        </p:spPr>
      </p:pic>
      <p:pic>
        <p:nvPicPr>
          <p:cNvPr id="5395" name="Picture 4"/>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28" y="1618343"/>
            <a:ext cx="18313400" cy="8699500"/>
          </a:xfrm>
          <a:prstGeom prst="rect">
            <a:avLst/>
          </a:prstGeom>
        </p:spPr>
      </p:pic>
      <p:pic>
        <p:nvPicPr>
          <p:cNvPr id="5396" name="Picture 5"/>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58800" y="9271000"/>
            <a:ext cx="17170400" cy="50800"/>
          </a:xfrm>
          <a:prstGeom prst="rect">
            <a:avLst/>
          </a:prstGeom>
        </p:spPr>
      </p:pic>
      <p:pic>
        <p:nvPicPr>
          <p:cNvPr id="5397" name="Picture 3"/>
          <p:cNvPicPr>
            <a:picLocks noChangeAspect="1"/>
          </p:cNvPicPr>
          <p:nvPr/>
        </p:nvPicPr>
        <p:blipFill>
          <a:blip r:embed="rId6"/>
          <a:stretch>
            <a:fillRect/>
          </a:stretch>
        </p:blipFill>
        <p:spPr>
          <a:xfrm>
            <a:off x="14846300" y="317500"/>
            <a:ext cx="2120900" cy="1333500"/>
          </a:xfrm>
          <a:prstGeom prst="rect">
            <a:avLst/>
          </a:prstGeom>
        </p:spPr>
      </p:pic>
      <p:sp>
        <p:nvSpPr>
          <p:cNvPr id="5378" name="Title">
            <a:extLst>
              <a:ext uri="{FF2B5EF4-FFF2-40B4-BE49-F238E27FC236}">
                <a16:creationId xmlns:a16="http://schemas.microsoft.com/office/drawing/2014/main" id="{796FFB7F-65F6-4EC0-8FEB-1EB69EA532BE}"/>
              </a:ext>
            </a:extLst>
          </p:cNvPr>
          <p:cNvSpPr>
            <a:spLocks noGrp="1"/>
          </p:cNvSpPr>
          <p:nvPr/>
        </p:nvSpPr>
        <p:spPr>
          <a:xfrm>
            <a:off x="822960" y="384048"/>
            <a:ext cx="13258800" cy="877824"/>
          </a:xfrm>
          <a:prstGeom prst="rect">
            <a:avLst/>
          </a:prstGeom>
          <a:noFill/>
        </p:spPr>
        <p:txBody>
          <a:bodyPr wrap="square" lIns="0" tIns="0" rIns="0" bIns="0" anchor="ctr">
            <a:spAutoFit/>
          </a:bodyPr>
          <a:lstStyle/>
          <a:p>
            <a:pPr algn="l">
              <a:buNone/>
            </a:pPr>
            <a:r>
              <a:rPr sz="4400" b="0">
                <a:solidFill>
                  <a:srgbClr val="FAA95A"/>
                </a:solidFill>
                <a:latin typeface="210 OmniGothic 050"/>
                <a:ea typeface="210 OmniGothic 050"/>
                <a:cs typeface="210 OmniGothic 050"/>
              </a:rPr>
              <a:t>06. 관계형 데이터베이스</a:t>
            </a:r>
          </a:p>
        </p:txBody>
      </p:sp>
      <p:sp>
        <p:nvSpPr>
          <p:cNvPr id="5379" name="Subtitle">
            <a:extLst>
              <a:ext uri="{FF2B5EF4-FFF2-40B4-BE49-F238E27FC236}">
                <a16:creationId xmlns:a16="http://schemas.microsoft.com/office/drawing/2014/main" id="{D7E2BF5F-82FB-4D36-A173-21CABE489866}"/>
              </a:ext>
            </a:extLst>
          </p:cNvPr>
          <p:cNvSpPr>
            <a:spLocks noGrp="1"/>
          </p:cNvSpPr>
          <p:nvPr/>
        </p:nvSpPr>
        <p:spPr>
          <a:xfrm>
            <a:off x="822960" y="1764792"/>
            <a:ext cx="16642080" cy="502920"/>
          </a:xfrm>
          <a:prstGeom prst="rect">
            <a:avLst/>
          </a:prstGeom>
          <a:noFill/>
        </p:spPr>
        <p:txBody>
          <a:bodyPr wrap="square" lIns="0" tIns="0" rIns="0" bIns="0" anchor="ctr">
            <a:spAutoFit/>
          </a:bodyPr>
          <a:lstStyle/>
          <a:p>
            <a:pPr algn="ctr">
              <a:buNone/>
            </a:pPr>
            <a:r>
              <a:rPr sz="2600" b="1">
                <a:solidFill>
                  <a:srgbClr val="363A52"/>
                </a:solidFill>
                <a:latin typeface="210 OmniGothic 040"/>
                <a:ea typeface="210 OmniGothic 040"/>
                <a:cs typeface="210 OmniGothic 040"/>
              </a:rPr>
              <a:t>2. 정적 모델링 – </a:t>
            </a:r>
            <a:r>
              <a:rPr sz="2600" b="1">
                <a:solidFill>
                  <a:srgbClr val="FAA95A"/>
                </a:solidFill>
                <a:latin typeface="210 OmniGothic 040"/>
                <a:ea typeface="210 OmniGothic 040"/>
                <a:cs typeface="210 OmniGothic 040"/>
              </a:rPr>
              <a:t>예시 데이터 (의성 2025-03-22 시나리오)</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idx="12"/>
          </p:nvPr>
        </p:nvSpPr>
        <p:spPr/>
        <p:txBody>
          <a:bodyPr/>
          <a:lstStyle/>
          <a:p>
            <a:fld id="{B6F15528-21DE-4FAA-801E-634DDDAF4B2B}" type="slidenum">
              <a:rPr/>
              <a:t>75</a:t>
            </a:fld>
            <a:endParaRPr/>
          </a:p>
        </p:txBody>
      </p:sp>
      <p:sp>
        <p:nvSpPr>
          <p:cNvPr id="5380" name="TextBox 5379">
            <a:extLst>
              <a:ext uri="{FF2B5EF4-FFF2-40B4-BE49-F238E27FC236}">
                <a16:creationId xmlns:a16="http://schemas.microsoft.com/office/drawing/2014/main" id="{6BA37C85-A54E-49F5-B180-D0333A9E8324}"/>
              </a:ext>
            </a:extLst>
          </p:cNvPr>
          <p:cNvSpPr>
            <a:spLocks noGrp="1"/>
          </p:cNvSpPr>
          <p:nvPr/>
        </p:nvSpPr>
        <p:spPr>
          <a:xfrm>
            <a:off x="822960" y="2395728"/>
            <a:ext cx="9144000" cy="301752"/>
          </a:xfrm>
          <a:prstGeom prst="rect">
            <a:avLst/>
          </a:prstGeom>
          <a:noFill/>
        </p:spPr>
        <p:txBody>
          <a:bodyPr wrap="square" lIns="0" tIns="0" rIns="0" bIns="0" anchor="t">
            <a:spAutoFit/>
          </a:bodyPr>
          <a:lstStyle/>
          <a:p>
            <a:pPr algn="l">
              <a:buNone/>
            </a:pPr>
            <a:r>
              <a:rPr sz="1450" b="1">
                <a:solidFill>
                  <a:srgbClr val="2E3142"/>
                </a:solidFill>
                <a:latin typeface="210 OmniGothic 040"/>
                <a:ea typeface="210 OmniGothic 040"/>
                <a:cs typeface="210 OmniGothic 040"/>
              </a:rPr>
              <a:t>situation_corrections</a:t>
            </a:r>
          </a:p>
        </p:txBody>
      </p:sp>
      <p:graphicFrame>
        <p:nvGraphicFramePr>
          <p:cNvPr id="5402" name="Table 5380"/>
          <p:cNvGraphicFramePr/>
          <p:nvPr/>
        </p:nvGraphicFramePr>
        <p:xfrm>
          <a:off x="822960" y="2717596"/>
          <a:ext cx="16459194" cy="603504"/>
        </p:xfrm>
        <a:graphic>
          <a:graphicData uri="http://schemas.openxmlformats.org/drawingml/2006/table">
            <a:tbl>
              <a:tblPr>
                <a:tableStyleId>{2D5ABB26-0587-4C30-8999-92F81FD0307C}</a:tableStyleId>
              </a:tblPr>
              <a:tblGrid>
                <a:gridCol w="1363315">
                  <a:extLst>
                    <a:ext uri="{9D8B030D-6E8A-4147-A177-3AD203B41FA5}">
                      <a16:colId xmlns:a16="http://schemas.microsoft.com/office/drawing/2014/main" val="20000"/>
                    </a:ext>
                  </a:extLst>
                </a:gridCol>
                <a:gridCol w="2281660">
                  <a:extLst>
                    <a:ext uri="{9D8B030D-6E8A-4147-A177-3AD203B41FA5}">
                      <a16:colId xmlns:a16="http://schemas.microsoft.com/office/drawing/2014/main" val="20001"/>
                    </a:ext>
                  </a:extLst>
                </a:gridCol>
                <a:gridCol w="1363315">
                  <a:extLst>
                    <a:ext uri="{9D8B030D-6E8A-4147-A177-3AD203B41FA5}">
                      <a16:colId xmlns:a16="http://schemas.microsoft.com/office/drawing/2014/main" val="20002"/>
                    </a:ext>
                  </a:extLst>
                </a:gridCol>
                <a:gridCol w="1751482">
                  <a:extLst>
                    <a:ext uri="{9D8B030D-6E8A-4147-A177-3AD203B41FA5}">
                      <a16:colId xmlns:a16="http://schemas.microsoft.com/office/drawing/2014/main" val="20003"/>
                    </a:ext>
                  </a:extLst>
                </a:gridCol>
                <a:gridCol w="1884026">
                  <a:extLst>
                    <a:ext uri="{9D8B030D-6E8A-4147-A177-3AD203B41FA5}">
                      <a16:colId xmlns:a16="http://schemas.microsoft.com/office/drawing/2014/main" val="20004"/>
                    </a:ext>
                  </a:extLst>
                </a:gridCol>
                <a:gridCol w="1618937">
                  <a:extLst>
                    <a:ext uri="{9D8B030D-6E8A-4147-A177-3AD203B41FA5}">
                      <a16:colId xmlns:a16="http://schemas.microsoft.com/office/drawing/2014/main" val="20005"/>
                    </a:ext>
                  </a:extLst>
                </a:gridCol>
                <a:gridCol w="1443789">
                  <a:extLst>
                    <a:ext uri="{9D8B030D-6E8A-4147-A177-3AD203B41FA5}">
                      <a16:colId xmlns:a16="http://schemas.microsoft.com/office/drawing/2014/main" val="20006"/>
                    </a:ext>
                  </a:extLst>
                </a:gridCol>
                <a:gridCol w="2736099">
                  <a:extLst>
                    <a:ext uri="{9D8B030D-6E8A-4147-A177-3AD203B41FA5}">
                      <a16:colId xmlns:a16="http://schemas.microsoft.com/office/drawing/2014/main" val="20007"/>
                    </a:ext>
                  </a:extLst>
                </a:gridCol>
                <a:gridCol w="2016571">
                  <a:extLst>
                    <a:ext uri="{9D8B030D-6E8A-4147-A177-3AD203B41FA5}">
                      <a16:colId xmlns:a16="http://schemas.microsoft.com/office/drawing/2014/main" val="20008"/>
                    </a:ext>
                  </a:extLst>
                </a:gridCol>
              </a:tblGrid>
              <a:tr h="301752">
                <a:tc>
                  <a:txBody>
                    <a:bodyPr/>
                    <a:lstStyle/>
                    <a:p>
                      <a:pPr algn="ctr">
                        <a:buNone/>
                      </a:pPr>
                      <a:r>
                        <a:rPr sz="1150" b="1">
                          <a:solidFill>
                            <a:srgbClr val="2E3142"/>
                          </a:solidFill>
                          <a:latin typeface="210 OmniGothic 040"/>
                          <a:ea typeface="210 OmniGothic 040"/>
                          <a:cs typeface="210 OmniGothic 040"/>
                        </a:rPr>
                        <a:t>id</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ctr">
                        <a:buNone/>
                      </a:pPr>
                      <a:r>
                        <a:rPr sz="1150" b="1">
                          <a:solidFill>
                            <a:srgbClr val="2E3142"/>
                          </a:solidFill>
                          <a:latin typeface="210 OmniGothic 040"/>
                          <a:ea typeface="210 OmniGothic 040"/>
                          <a:cs typeface="210 OmniGothic 040"/>
                        </a:rPr>
                        <a:t>incident_id</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ctr">
                        <a:buNone/>
                      </a:pPr>
                      <a:r>
                        <a:rPr sz="1150" b="1">
                          <a:solidFill>
                            <a:srgbClr val="2E3142"/>
                          </a:solidFill>
                          <a:latin typeface="210 OmniGothic 040"/>
                          <a:ea typeface="210 OmniGothic 040"/>
                          <a:cs typeface="210 OmniGothic 040"/>
                        </a:rPr>
                        <a:t>user_id</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ctr">
                        <a:buNone/>
                      </a:pPr>
                      <a:r>
                        <a:rPr sz="1150" b="1">
                          <a:solidFill>
                            <a:srgbClr val="2E3142"/>
                          </a:solidFill>
                          <a:latin typeface="210 OmniGothic 040"/>
                          <a:ea typeface="210 OmniGothic 040"/>
                          <a:cs typeface="210 OmniGothic 040"/>
                        </a:rPr>
                        <a:t>message_id</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ctr">
                        <a:buNone/>
                      </a:pPr>
                      <a:r>
                        <a:rPr sz="1150" b="1">
                          <a:solidFill>
                            <a:srgbClr val="2E3142"/>
                          </a:solidFill>
                          <a:latin typeface="210 OmniGothic 040"/>
                          <a:ea typeface="210 OmniGothic 040"/>
                          <a:cs typeface="210 OmniGothic 040"/>
                        </a:rPr>
                        <a:t>target_type</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ctr">
                        <a:buNone/>
                      </a:pPr>
                      <a:r>
                        <a:rPr sz="1150" b="1">
                          <a:solidFill>
                            <a:srgbClr val="2E3142"/>
                          </a:solidFill>
                          <a:latin typeface="210 OmniGothic 040"/>
                          <a:ea typeface="210 OmniGothic 040"/>
                          <a:cs typeface="210 OmniGothic 040"/>
                        </a:rPr>
                        <a:t>target_id</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ctr">
                        <a:buNone/>
                      </a:pPr>
                      <a:r>
                        <a:rPr sz="1150" b="1">
                          <a:solidFill>
                            <a:srgbClr val="2E3142"/>
                          </a:solidFill>
                          <a:latin typeface="210 OmniGothic 040"/>
                          <a:ea typeface="210 OmniGothic 040"/>
                          <a:cs typeface="210 OmniGothic 040"/>
                        </a:rPr>
                        <a:t>item</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ctr">
                        <a:buNone/>
                      </a:pPr>
                      <a:r>
                        <a:rPr sz="1150" b="1">
                          <a:solidFill>
                            <a:srgbClr val="2E3142"/>
                          </a:solidFill>
                          <a:latin typeface="210 OmniGothic 040"/>
                          <a:ea typeface="210 OmniGothic 040"/>
                          <a:cs typeface="210 OmniGothic 040"/>
                        </a:rPr>
                        <a:t>before → after</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ctr">
                        <a:buNone/>
                      </a:pPr>
                      <a:r>
                        <a:rPr sz="1150" b="1">
                          <a:solidFill>
                            <a:srgbClr val="2E3142"/>
                          </a:solidFill>
                          <a:latin typeface="210 OmniGothic 040"/>
                          <a:ea typeface="210 OmniGothic 040"/>
                          <a:cs typeface="210 OmniGothic 040"/>
                        </a:rPr>
                        <a:t>confirmed_at</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extLst>
                  <a:ext uri="{0D108BD9-81ED-4DB2-BD59-A6C34878D82A}">
                    <a16:rowId xmlns:a16="http://schemas.microsoft.com/office/drawing/2014/main" val="10000"/>
                  </a:ext>
                </a:extLst>
              </a:tr>
              <a:tr h="301752">
                <a:tc>
                  <a:txBody>
                    <a:bodyPr/>
                    <a:lstStyle/>
                    <a:p>
                      <a:pPr algn="ctr">
                        <a:buNone/>
                      </a:pPr>
                      <a:r>
                        <a:rPr sz="1150" b="0">
                          <a:solidFill>
                            <a:srgbClr val="2E3142"/>
                          </a:solidFill>
                          <a:latin typeface="210 OmniGothic 040"/>
                          <a:ea typeface="210 OmniGothic 040"/>
                          <a:cs typeface="210 OmniGothic 040"/>
                        </a:rPr>
                        <a:t>1</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F-2025-0322-01</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1</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3</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VILLAGE</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bakgok</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대피 상태</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대피 대상 → 대피 완료</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12:01</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1"/>
                  </a:ext>
                </a:extLst>
              </a:tr>
            </a:tbl>
          </a:graphicData>
        </a:graphic>
      </p:graphicFrame>
      <p:sp>
        <p:nvSpPr>
          <p:cNvPr id="5382" name="TextBox 5381">
            <a:extLst>
              <a:ext uri="{FF2B5EF4-FFF2-40B4-BE49-F238E27FC236}">
                <a16:creationId xmlns:a16="http://schemas.microsoft.com/office/drawing/2014/main" id="{84C75AC3-DFCD-4307-993D-75839FF76F6A}"/>
              </a:ext>
            </a:extLst>
          </p:cNvPr>
          <p:cNvSpPr>
            <a:spLocks noGrp="1"/>
          </p:cNvSpPr>
          <p:nvPr/>
        </p:nvSpPr>
        <p:spPr>
          <a:xfrm>
            <a:off x="822960" y="3572560"/>
            <a:ext cx="9144000" cy="301752"/>
          </a:xfrm>
          <a:prstGeom prst="rect">
            <a:avLst/>
          </a:prstGeom>
          <a:noFill/>
        </p:spPr>
        <p:txBody>
          <a:bodyPr wrap="square" lIns="0" tIns="0" rIns="0" bIns="0" anchor="t">
            <a:spAutoFit/>
          </a:bodyPr>
          <a:lstStyle/>
          <a:p>
            <a:pPr algn="l">
              <a:buNone/>
            </a:pPr>
            <a:r>
              <a:rPr sz="1450" b="1">
                <a:solidFill>
                  <a:srgbClr val="2E3142"/>
                </a:solidFill>
                <a:latin typeface="210 OmniGothic 040"/>
                <a:ea typeface="210 OmniGothic 040"/>
                <a:cs typeface="210 OmniGothic 040"/>
              </a:rPr>
              <a:t>proposals</a:t>
            </a:r>
          </a:p>
        </p:txBody>
      </p:sp>
      <p:graphicFrame>
        <p:nvGraphicFramePr>
          <p:cNvPr id="5404" name="Table 5382"/>
          <p:cNvGraphicFramePr/>
          <p:nvPr/>
        </p:nvGraphicFramePr>
        <p:xfrm>
          <a:off x="822960" y="3894429"/>
          <a:ext cx="16459195" cy="905256"/>
        </p:xfrm>
        <a:graphic>
          <a:graphicData uri="http://schemas.openxmlformats.org/drawingml/2006/table">
            <a:tbl>
              <a:tblPr>
                <a:tableStyleId>{2D5ABB26-0587-4C30-8999-92F81FD0307C}</a:tableStyleId>
              </a:tblPr>
              <a:tblGrid>
                <a:gridCol w="1615626">
                  <a:extLst>
                    <a:ext uri="{9D8B030D-6E8A-4147-A177-3AD203B41FA5}">
                      <a16:colId xmlns:a16="http://schemas.microsoft.com/office/drawing/2014/main" val="20000"/>
                    </a:ext>
                  </a:extLst>
                </a:gridCol>
                <a:gridCol w="1615626">
                  <a:extLst>
                    <a:ext uri="{9D8B030D-6E8A-4147-A177-3AD203B41FA5}">
                      <a16:colId xmlns:a16="http://schemas.microsoft.com/office/drawing/2014/main" val="20001"/>
                    </a:ext>
                  </a:extLst>
                </a:gridCol>
                <a:gridCol w="2075631">
                  <a:extLst>
                    <a:ext uri="{9D8B030D-6E8A-4147-A177-3AD203B41FA5}">
                      <a16:colId xmlns:a16="http://schemas.microsoft.com/office/drawing/2014/main" val="20002"/>
                    </a:ext>
                  </a:extLst>
                </a:gridCol>
                <a:gridCol w="1710993">
                  <a:extLst>
                    <a:ext uri="{9D8B030D-6E8A-4147-A177-3AD203B41FA5}">
                      <a16:colId xmlns:a16="http://schemas.microsoft.com/office/drawing/2014/main" val="20003"/>
                    </a:ext>
                  </a:extLst>
                </a:gridCol>
                <a:gridCol w="2546856">
                  <a:extLst>
                    <a:ext uri="{9D8B030D-6E8A-4147-A177-3AD203B41FA5}">
                      <a16:colId xmlns:a16="http://schemas.microsoft.com/office/drawing/2014/main" val="20004"/>
                    </a:ext>
                  </a:extLst>
                </a:gridCol>
                <a:gridCol w="2703931">
                  <a:extLst>
                    <a:ext uri="{9D8B030D-6E8A-4147-A177-3AD203B41FA5}">
                      <a16:colId xmlns:a16="http://schemas.microsoft.com/office/drawing/2014/main" val="20005"/>
                    </a:ext>
                  </a:extLst>
                </a:gridCol>
                <a:gridCol w="2429050">
                  <a:extLst>
                    <a:ext uri="{9D8B030D-6E8A-4147-A177-3AD203B41FA5}">
                      <a16:colId xmlns:a16="http://schemas.microsoft.com/office/drawing/2014/main" val="20006"/>
                    </a:ext>
                  </a:extLst>
                </a:gridCol>
                <a:gridCol w="1761482">
                  <a:extLst>
                    <a:ext uri="{9D8B030D-6E8A-4147-A177-3AD203B41FA5}">
                      <a16:colId xmlns:a16="http://schemas.microsoft.com/office/drawing/2014/main" val="20007"/>
                    </a:ext>
                  </a:extLst>
                </a:gridCol>
              </a:tblGrid>
              <a:tr h="301752">
                <a:tc>
                  <a:txBody>
                    <a:bodyPr/>
                    <a:lstStyle/>
                    <a:p>
                      <a:pPr algn="ctr">
                        <a:buNone/>
                      </a:pPr>
                      <a:r>
                        <a:rPr sz="1150" b="1">
                          <a:solidFill>
                            <a:srgbClr val="2E3142"/>
                          </a:solidFill>
                          <a:latin typeface="210 OmniGothic 040"/>
                          <a:ea typeface="210 OmniGothic 040"/>
                          <a:cs typeface="210 OmniGothic 040"/>
                        </a:rPr>
                        <a:t>id</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ctr">
                        <a:buNone/>
                      </a:pPr>
                      <a:r>
                        <a:rPr sz="1150" b="1">
                          <a:solidFill>
                            <a:srgbClr val="2E3142"/>
                          </a:solidFill>
                          <a:latin typeface="210 OmniGothic 040"/>
                          <a:ea typeface="210 OmniGothic 040"/>
                          <a:cs typeface="210 OmniGothic 040"/>
                        </a:rPr>
                        <a:t>run_id</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ctr">
                        <a:buNone/>
                      </a:pPr>
                      <a:r>
                        <a:rPr sz="1150" b="1">
                          <a:solidFill>
                            <a:srgbClr val="2E3142"/>
                          </a:solidFill>
                          <a:latin typeface="210 OmniGothic 040"/>
                          <a:ea typeface="210 OmniGothic 040"/>
                          <a:cs typeface="210 OmniGothic 040"/>
                        </a:rPr>
                        <a:t>version_no</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ctr">
                        <a:buNone/>
                      </a:pPr>
                      <a:r>
                        <a:rPr sz="1150" b="1">
                          <a:solidFill>
                            <a:srgbClr val="2E3142"/>
                          </a:solidFill>
                          <a:latin typeface="210 OmniGothic 040"/>
                          <a:ea typeface="210 OmniGothic 040"/>
                          <a:cs typeface="210 OmniGothic 040"/>
                        </a:rPr>
                        <a:t>reason</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ctr">
                        <a:buNone/>
                      </a:pPr>
                      <a:r>
                        <a:rPr sz="1150" b="1">
                          <a:solidFill>
                            <a:srgbClr val="2E3142"/>
                          </a:solidFill>
                          <a:latin typeface="210 OmniGothic 040"/>
                          <a:ea typeface="210 OmniGothic 040"/>
                          <a:cs typeface="210 OmniGothic 040"/>
                        </a:rPr>
                        <a:t>correction_id</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ctr">
                        <a:buNone/>
                      </a:pPr>
                      <a:r>
                        <a:rPr sz="1150" b="1">
                          <a:solidFill>
                            <a:srgbClr val="2E3142"/>
                          </a:solidFill>
                          <a:latin typeface="210 OmniGothic 040"/>
                          <a:ea typeface="210 OmniGothic 040"/>
                          <a:cs typeface="210 OmniGothic 040"/>
                        </a:rPr>
                        <a:t>official_stage</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ctr">
                        <a:buNone/>
                      </a:pPr>
                      <a:r>
                        <a:rPr sz="1150" b="1">
                          <a:solidFill>
                            <a:srgbClr val="2E3142"/>
                          </a:solidFill>
                          <a:latin typeface="210 OmniGothic 040"/>
                          <a:ea typeface="210 OmniGothic 040"/>
                          <a:cs typeface="210 OmniGothic 040"/>
                        </a:rPr>
                        <a:t>rec_stage</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ctr">
                        <a:buNone/>
                      </a:pPr>
                      <a:r>
                        <a:rPr sz="1150" b="1">
                          <a:solidFill>
                            <a:srgbClr val="2E3142"/>
                          </a:solidFill>
                          <a:latin typeface="210 OmniGothic 040"/>
                          <a:ea typeface="210 OmniGothic 040"/>
                          <a:cs typeface="210 OmniGothic 040"/>
                        </a:rPr>
                        <a:t>stage_up</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extLst>
                  <a:ext uri="{0D108BD9-81ED-4DB2-BD59-A6C34878D82A}">
                    <a16:rowId xmlns:a16="http://schemas.microsoft.com/office/drawing/2014/main" val="10000"/>
                  </a:ext>
                </a:extLst>
              </a:tr>
              <a:tr h="301752">
                <a:tc>
                  <a:txBody>
                    <a:bodyPr/>
                    <a:lstStyle/>
                    <a:p>
                      <a:pPr algn="ctr">
                        <a:buNone/>
                      </a:pPr>
                      <a:r>
                        <a:rPr sz="1150" b="0">
                          <a:solidFill>
                            <a:srgbClr val="2E3142"/>
                          </a:solidFill>
                          <a:latin typeface="210 OmniGothic 040"/>
                          <a:ea typeface="210 OmniGothic 040"/>
                          <a:cs typeface="210 OmniGothic 040"/>
                        </a:rPr>
                        <a:t>1</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1</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1</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예측 갱신</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NULL</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초기대응</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확산대응 2단계</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True</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1"/>
                  </a:ext>
                </a:extLst>
              </a:tr>
              <a:tr h="301752">
                <a:tc>
                  <a:txBody>
                    <a:bodyPr/>
                    <a:lstStyle/>
                    <a:p>
                      <a:pPr algn="ctr">
                        <a:buNone/>
                      </a:pPr>
                      <a:r>
                        <a:rPr sz="1150" b="0">
                          <a:solidFill>
                            <a:srgbClr val="2E3142"/>
                          </a:solidFill>
                          <a:latin typeface="210 OmniGothic 040"/>
                          <a:ea typeface="210 OmniGothic 040"/>
                          <a:cs typeface="210 OmniGothic 040"/>
                        </a:rPr>
                        <a:t>2</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1</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2</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상황 정정</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1</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초기대응</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확산대응 2단계</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True</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2"/>
                  </a:ext>
                </a:extLst>
              </a:tr>
            </a:tbl>
          </a:graphicData>
        </a:graphic>
      </p:graphicFrame>
      <p:sp>
        <p:nvSpPr>
          <p:cNvPr id="5384" name="TextBox 5383">
            <a:extLst>
              <a:ext uri="{FF2B5EF4-FFF2-40B4-BE49-F238E27FC236}">
                <a16:creationId xmlns:a16="http://schemas.microsoft.com/office/drawing/2014/main" id="{77B739C5-0294-443A-B204-BC7C7A7E79F6}"/>
              </a:ext>
            </a:extLst>
          </p:cNvPr>
          <p:cNvSpPr>
            <a:spLocks noGrp="1"/>
          </p:cNvSpPr>
          <p:nvPr/>
        </p:nvSpPr>
        <p:spPr>
          <a:xfrm>
            <a:off x="822960" y="5051145"/>
            <a:ext cx="9144000" cy="301752"/>
          </a:xfrm>
          <a:prstGeom prst="rect">
            <a:avLst/>
          </a:prstGeom>
          <a:noFill/>
        </p:spPr>
        <p:txBody>
          <a:bodyPr wrap="square" lIns="0" tIns="0" rIns="0" bIns="0" anchor="t">
            <a:spAutoFit/>
          </a:bodyPr>
          <a:lstStyle/>
          <a:p>
            <a:pPr algn="l">
              <a:buNone/>
            </a:pPr>
            <a:r>
              <a:rPr sz="1450" b="1">
                <a:solidFill>
                  <a:srgbClr val="2E3142"/>
                </a:solidFill>
                <a:latin typeface="210 OmniGothic 040"/>
                <a:ea typeface="210 OmniGothic 040"/>
                <a:cs typeface="210 OmniGothic 040"/>
              </a:rPr>
              <a:t>proposal_items</a:t>
            </a:r>
          </a:p>
        </p:txBody>
      </p:sp>
      <p:graphicFrame>
        <p:nvGraphicFramePr>
          <p:cNvPr id="5406" name="Table 5384"/>
          <p:cNvGraphicFramePr/>
          <p:nvPr/>
        </p:nvGraphicFramePr>
        <p:xfrm>
          <a:off x="822960" y="5373014"/>
          <a:ext cx="16459196" cy="1810512"/>
        </p:xfrm>
        <a:graphic>
          <a:graphicData uri="http://schemas.openxmlformats.org/drawingml/2006/table">
            <a:tbl>
              <a:tblPr>
                <a:tableStyleId>{2D5ABB26-0587-4C30-8999-92F81FD0307C}</a:tableStyleId>
              </a:tblPr>
              <a:tblGrid>
                <a:gridCol w="1282882">
                  <a:extLst>
                    <a:ext uri="{9D8B030D-6E8A-4147-A177-3AD203B41FA5}">
                      <a16:colId xmlns:a16="http://schemas.microsoft.com/office/drawing/2014/main" val="20000"/>
                    </a:ext>
                  </a:extLst>
                </a:gridCol>
                <a:gridCol w="1772871">
                  <a:extLst>
                    <a:ext uri="{9D8B030D-6E8A-4147-A177-3AD203B41FA5}">
                      <a16:colId xmlns:a16="http://schemas.microsoft.com/office/drawing/2014/main" val="20001"/>
                    </a:ext>
                  </a:extLst>
                </a:gridCol>
                <a:gridCol w="1523422">
                  <a:extLst>
                    <a:ext uri="{9D8B030D-6E8A-4147-A177-3AD203B41FA5}">
                      <a16:colId xmlns:a16="http://schemas.microsoft.com/office/drawing/2014/main" val="20002"/>
                    </a:ext>
                  </a:extLst>
                </a:gridCol>
                <a:gridCol w="1282882">
                  <a:extLst>
                    <a:ext uri="{9D8B030D-6E8A-4147-A177-3AD203B41FA5}">
                      <a16:colId xmlns:a16="http://schemas.microsoft.com/office/drawing/2014/main" val="20003"/>
                    </a:ext>
                  </a:extLst>
                </a:gridCol>
                <a:gridCol w="1732781">
                  <a:extLst>
                    <a:ext uri="{9D8B030D-6E8A-4147-A177-3AD203B41FA5}">
                      <a16:colId xmlns:a16="http://schemas.microsoft.com/office/drawing/2014/main" val="20004"/>
                    </a:ext>
                  </a:extLst>
                </a:gridCol>
                <a:gridCol w="7340936">
                  <a:extLst>
                    <a:ext uri="{9D8B030D-6E8A-4147-A177-3AD203B41FA5}">
                      <a16:colId xmlns:a16="http://schemas.microsoft.com/office/drawing/2014/main" val="20005"/>
                    </a:ext>
                  </a:extLst>
                </a:gridCol>
                <a:gridCol w="1523422">
                  <a:extLst>
                    <a:ext uri="{9D8B030D-6E8A-4147-A177-3AD203B41FA5}">
                      <a16:colId xmlns:a16="http://schemas.microsoft.com/office/drawing/2014/main" val="20006"/>
                    </a:ext>
                  </a:extLst>
                </a:gridCol>
              </a:tblGrid>
              <a:tr h="301752">
                <a:tc>
                  <a:txBody>
                    <a:bodyPr/>
                    <a:lstStyle/>
                    <a:p>
                      <a:pPr algn="ctr">
                        <a:buNone/>
                      </a:pPr>
                      <a:r>
                        <a:rPr sz="1150" b="1">
                          <a:solidFill>
                            <a:srgbClr val="2E3142"/>
                          </a:solidFill>
                          <a:latin typeface="210 OmniGothic 040"/>
                          <a:ea typeface="210 OmniGothic 040"/>
                          <a:cs typeface="210 OmniGothic 040"/>
                        </a:rPr>
                        <a:t>id</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ctr">
                        <a:buNone/>
                      </a:pPr>
                      <a:r>
                        <a:rPr sz="1150" b="1">
                          <a:solidFill>
                            <a:srgbClr val="2E3142"/>
                          </a:solidFill>
                          <a:latin typeface="210 OmniGothic 040"/>
                          <a:ea typeface="210 OmniGothic 040"/>
                          <a:cs typeface="210 OmniGothic 040"/>
                        </a:rPr>
                        <a:t>proposal_id</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ctr">
                        <a:buNone/>
                      </a:pPr>
                      <a:r>
                        <a:rPr sz="1150" b="1">
                          <a:solidFill>
                            <a:srgbClr val="2E3142"/>
                          </a:solidFill>
                          <a:latin typeface="210 OmniGothic 040"/>
                          <a:ea typeface="210 OmniGothic 040"/>
                          <a:cs typeface="210 OmniGothic 040"/>
                        </a:rPr>
                        <a:t>item_code</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ctr">
                        <a:buNone/>
                      </a:pPr>
                      <a:r>
                        <a:rPr sz="1150" b="1">
                          <a:solidFill>
                            <a:srgbClr val="2E3142"/>
                          </a:solidFill>
                          <a:latin typeface="210 OmniGothic 040"/>
                          <a:ea typeface="210 OmniGothic 040"/>
                          <a:cs typeface="210 OmniGothic 040"/>
                        </a:rPr>
                        <a:t>axis</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ctr">
                        <a:buNone/>
                      </a:pPr>
                      <a:r>
                        <a:rPr sz="1150" b="1">
                          <a:solidFill>
                            <a:srgbClr val="2E3142"/>
                          </a:solidFill>
                          <a:latin typeface="210 OmniGothic 040"/>
                          <a:ea typeface="210 OmniGothic 040"/>
                          <a:cs typeface="210 OmniGothic 040"/>
                        </a:rPr>
                        <a:t>categories</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ctr">
                        <a:buNone/>
                      </a:pPr>
                      <a:r>
                        <a:rPr sz="1150" b="1">
                          <a:solidFill>
                            <a:srgbClr val="2E3142"/>
                          </a:solidFill>
                          <a:latin typeface="210 OmniGothic 040"/>
                          <a:ea typeface="210 OmniGothic 040"/>
                          <a:cs typeface="210 OmniGothic 040"/>
                        </a:rPr>
                        <a:t>finding (요약)</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ctr">
                        <a:buNone/>
                      </a:pPr>
                      <a:r>
                        <a:rPr sz="1150" b="1">
                          <a:solidFill>
                            <a:srgbClr val="2E3142"/>
                          </a:solidFill>
                          <a:latin typeface="210 OmniGothic 040"/>
                          <a:ea typeface="210 OmniGothic 040"/>
                          <a:cs typeface="210 OmniGothic 040"/>
                        </a:rPr>
                        <a:t>authority</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extLst>
                  <a:ext uri="{0D108BD9-81ED-4DB2-BD59-A6C34878D82A}">
                    <a16:rowId xmlns:a16="http://schemas.microsoft.com/office/drawing/2014/main" val="10000"/>
                  </a:ext>
                </a:extLst>
              </a:tr>
              <a:tr h="301752">
                <a:tc>
                  <a:txBody>
                    <a:bodyPr/>
                    <a:lstStyle/>
                    <a:p>
                      <a:pPr algn="ctr">
                        <a:buNone/>
                      </a:pPr>
                      <a:r>
                        <a:rPr sz="1150" b="0">
                          <a:solidFill>
                            <a:srgbClr val="2E3142"/>
                          </a:solidFill>
                          <a:latin typeface="210 OmniGothic 040"/>
                          <a:ea typeface="210 OmniGothic 040"/>
                          <a:cs typeface="210 OmniGothic 040"/>
                        </a:rPr>
                        <a:t>1</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1</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S1</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진화</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[협의]</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예상 피해면적(P5) 1,592.6 ha → 확산대응 2단계 기준</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협의</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1"/>
                  </a:ext>
                </a:extLst>
              </a:tr>
              <a:tr h="301752">
                <a:tc>
                  <a:txBody>
                    <a:bodyPr/>
                    <a:lstStyle/>
                    <a:p>
                      <a:pPr algn="ctr">
                        <a:buNone/>
                      </a:pPr>
                      <a:r>
                        <a:rPr sz="1150" b="0">
                          <a:solidFill>
                            <a:srgbClr val="2E3142"/>
                          </a:solidFill>
                          <a:latin typeface="210 OmniGothic 040"/>
                          <a:ea typeface="210 OmniGothic 040"/>
                          <a:cs typeface="210 OmniGothic 040"/>
                        </a:rPr>
                        <a:t>8</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1</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E1</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대피</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[즉시, 대기]</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위험구역 괴산리·박곡리·석탑리·방하리 / 잠재 하화리</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직접</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2"/>
                  </a:ext>
                </a:extLst>
              </a:tr>
              <a:tr h="301752">
                <a:tc>
                  <a:txBody>
                    <a:bodyPr/>
                    <a:lstStyle/>
                    <a:p>
                      <a:pPr algn="ctr">
                        <a:buNone/>
                      </a:pPr>
                      <a:r>
                        <a:rPr sz="1150" b="0">
                          <a:solidFill>
                            <a:srgbClr val="2E3142"/>
                          </a:solidFill>
                          <a:latin typeface="210 OmniGothic 040"/>
                          <a:ea typeface="210 OmniGothic 040"/>
                          <a:cs typeface="210 OmniGothic 040"/>
                        </a:rPr>
                        <a:t>9</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1</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E2</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대피</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[즉시, 대기]</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괴산리(13:00) → 박곡리(15:00) → 석탑리(16:00) → 방하리(17:00)</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직접</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3"/>
                  </a:ext>
                </a:extLst>
              </a:tr>
              <a:tr h="301752">
                <a:tc>
                  <a:txBody>
                    <a:bodyPr/>
                    <a:lstStyle/>
                    <a:p>
                      <a:pPr algn="ctr">
                        <a:buNone/>
                      </a:pPr>
                      <a:r>
                        <a:rPr sz="1150" b="0">
                          <a:solidFill>
                            <a:srgbClr val="2E3142"/>
                          </a:solidFill>
                          <a:latin typeface="210 OmniGothic 040"/>
                          <a:ea typeface="210 OmniGothic 040"/>
                          <a:cs typeface="210 OmniGothic 040"/>
                        </a:rPr>
                        <a:t>12</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1</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E5</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대피</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[요청]</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대피로 A와 진화차량 진입로 겹침, 겹침 구간 P3 도달</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요청</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4"/>
                  </a:ext>
                </a:extLst>
              </a:tr>
              <a:tr h="301752">
                <a:tc>
                  <a:txBody>
                    <a:bodyPr/>
                    <a:lstStyle/>
                    <a:p>
                      <a:pPr algn="ctr">
                        <a:buNone/>
                      </a:pPr>
                      <a:r>
                        <a:rPr sz="1150" b="0">
                          <a:solidFill>
                            <a:srgbClr val="2E3142"/>
                          </a:solidFill>
                          <a:latin typeface="210 OmniGothic 040"/>
                          <a:ea typeface="210 OmniGothic 040"/>
                          <a:cs typeface="210 OmniGothic 040"/>
                        </a:rPr>
                        <a:t>23</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2</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E2</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대피</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[즉시, 대기]</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박곡리 대피 완료 제외 — 괴산리 → 석탑리 → 방하리</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직접</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5"/>
                  </a:ext>
                </a:extLst>
              </a:tr>
            </a:tbl>
          </a:graphicData>
        </a:graphic>
      </p:graphicFrame>
      <p:sp>
        <p:nvSpPr>
          <p:cNvPr id="5386" name="TextBox 5385">
            <a:extLst>
              <a:ext uri="{FF2B5EF4-FFF2-40B4-BE49-F238E27FC236}">
                <a16:creationId xmlns:a16="http://schemas.microsoft.com/office/drawing/2014/main" id="{7ADF9869-6592-4496-A279-8BC45F75FBB3}"/>
              </a:ext>
            </a:extLst>
          </p:cNvPr>
          <p:cNvSpPr>
            <a:spLocks noGrp="1"/>
          </p:cNvSpPr>
          <p:nvPr/>
        </p:nvSpPr>
        <p:spPr>
          <a:xfrm>
            <a:off x="822960" y="8883396"/>
            <a:ext cx="16459200" cy="301752"/>
          </a:xfrm>
          <a:prstGeom prst="rect">
            <a:avLst/>
          </a:prstGeom>
          <a:noFill/>
        </p:spPr>
        <p:txBody>
          <a:bodyPr wrap="square" lIns="0" tIns="0" rIns="0" bIns="0" anchor="t">
            <a:spAutoFit/>
          </a:bodyPr>
          <a:lstStyle/>
          <a:p>
            <a:pPr algn="l">
              <a:buNone/>
            </a:pPr>
            <a:r>
              <a:rPr sz="1150" b="0">
                <a:solidFill>
                  <a:srgbClr val="7B8094"/>
                </a:solidFill>
                <a:latin typeface="210 OmniGothic 030"/>
                <a:ea typeface="210 OmniGothic 030"/>
                <a:cs typeface="210 OmniGothic 030"/>
              </a:rPr>
              <a:t>※ 좌표·발생 시각·접수 경로·마을 좌표는 실제(보도·OSM·SGIS), 실측 화선·사곡면·점곡면 산불·계정·인구·자원·수용 인원·위험도 요인 점수는 목업과 같은 시연용 가상값입니다.</a:t>
            </a:r>
          </a:p>
        </p:txBody>
      </p:sp>
    </p:spTree>
    <p:extLst>
      <p:ext uri="{BB962C8B-B14F-4D97-AF65-F5344CB8AC3E}">
        <p14:creationId xmlns:p14="http://schemas.microsoft.com/office/powerpoint/2010/main" val="140546981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99" name="Picture 2"/>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700" y="-12700"/>
            <a:ext cx="18313400" cy="1638300"/>
          </a:xfrm>
          <a:prstGeom prst="rect">
            <a:avLst/>
          </a:prstGeom>
        </p:spPr>
      </p:pic>
      <p:pic>
        <p:nvPicPr>
          <p:cNvPr id="5400" name="Picture 4"/>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28" y="1618343"/>
            <a:ext cx="18313400" cy="8699500"/>
          </a:xfrm>
          <a:prstGeom prst="rect">
            <a:avLst/>
          </a:prstGeom>
        </p:spPr>
      </p:pic>
      <p:pic>
        <p:nvPicPr>
          <p:cNvPr id="5401" name="Picture 5"/>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58800" y="9271000"/>
            <a:ext cx="17170400" cy="50800"/>
          </a:xfrm>
          <a:prstGeom prst="rect">
            <a:avLst/>
          </a:prstGeom>
        </p:spPr>
      </p:pic>
      <p:pic>
        <p:nvPicPr>
          <p:cNvPr id="5402" name="Picture 3"/>
          <p:cNvPicPr>
            <a:picLocks noChangeAspect="1"/>
          </p:cNvPicPr>
          <p:nvPr/>
        </p:nvPicPr>
        <p:blipFill>
          <a:blip r:embed="rId6"/>
          <a:stretch>
            <a:fillRect/>
          </a:stretch>
        </p:blipFill>
        <p:spPr>
          <a:xfrm>
            <a:off x="14846300" y="317500"/>
            <a:ext cx="2120900" cy="1333500"/>
          </a:xfrm>
          <a:prstGeom prst="rect">
            <a:avLst/>
          </a:prstGeom>
        </p:spPr>
      </p:pic>
      <p:sp>
        <p:nvSpPr>
          <p:cNvPr id="5383" name="Title">
            <a:extLst>
              <a:ext uri="{FF2B5EF4-FFF2-40B4-BE49-F238E27FC236}">
                <a16:creationId xmlns:a16="http://schemas.microsoft.com/office/drawing/2014/main" id="{D609E713-9E04-4B06-8E9A-A04A6AA00755}"/>
              </a:ext>
            </a:extLst>
          </p:cNvPr>
          <p:cNvSpPr>
            <a:spLocks noGrp="1"/>
          </p:cNvSpPr>
          <p:nvPr/>
        </p:nvSpPr>
        <p:spPr>
          <a:xfrm>
            <a:off x="822960" y="384048"/>
            <a:ext cx="13258800" cy="877824"/>
          </a:xfrm>
          <a:prstGeom prst="rect">
            <a:avLst/>
          </a:prstGeom>
          <a:noFill/>
        </p:spPr>
        <p:txBody>
          <a:bodyPr wrap="square" lIns="0" tIns="0" rIns="0" bIns="0" anchor="ctr">
            <a:spAutoFit/>
          </a:bodyPr>
          <a:lstStyle/>
          <a:p>
            <a:pPr algn="l">
              <a:buNone/>
            </a:pPr>
            <a:r>
              <a:rPr sz="4400" b="0">
                <a:solidFill>
                  <a:srgbClr val="FAA95A"/>
                </a:solidFill>
                <a:latin typeface="210 OmniGothic 050"/>
                <a:ea typeface="210 OmniGothic 050"/>
                <a:cs typeface="210 OmniGothic 050"/>
              </a:rPr>
              <a:t>06. 관계형 데이터베이스</a:t>
            </a:r>
          </a:p>
        </p:txBody>
      </p:sp>
      <p:sp>
        <p:nvSpPr>
          <p:cNvPr id="5384" name="Subtitle">
            <a:extLst>
              <a:ext uri="{FF2B5EF4-FFF2-40B4-BE49-F238E27FC236}">
                <a16:creationId xmlns:a16="http://schemas.microsoft.com/office/drawing/2014/main" id="{9409818E-A667-4A51-B80F-EFAE4C1F040C}"/>
              </a:ext>
            </a:extLst>
          </p:cNvPr>
          <p:cNvSpPr>
            <a:spLocks noGrp="1"/>
          </p:cNvSpPr>
          <p:nvPr/>
        </p:nvSpPr>
        <p:spPr>
          <a:xfrm>
            <a:off x="822960" y="1764792"/>
            <a:ext cx="16642080" cy="502920"/>
          </a:xfrm>
          <a:prstGeom prst="rect">
            <a:avLst/>
          </a:prstGeom>
          <a:noFill/>
        </p:spPr>
        <p:txBody>
          <a:bodyPr wrap="square" lIns="0" tIns="0" rIns="0" bIns="0" anchor="ctr">
            <a:spAutoFit/>
          </a:bodyPr>
          <a:lstStyle/>
          <a:p>
            <a:pPr algn="ctr">
              <a:buNone/>
            </a:pPr>
            <a:r>
              <a:rPr sz="2600" b="1">
                <a:solidFill>
                  <a:srgbClr val="363A52"/>
                </a:solidFill>
                <a:latin typeface="210 OmniGothic 040"/>
                <a:ea typeface="210 OmniGothic 040"/>
                <a:cs typeface="210 OmniGothic 040"/>
              </a:rPr>
              <a:t>2. 정적 모델링 – </a:t>
            </a:r>
            <a:r>
              <a:rPr sz="2600" b="1">
                <a:solidFill>
                  <a:srgbClr val="FAA95A"/>
                </a:solidFill>
                <a:latin typeface="210 OmniGothic 040"/>
                <a:ea typeface="210 OmniGothic 040"/>
                <a:cs typeface="210 OmniGothic 040"/>
              </a:rPr>
              <a:t>예시 데이터 (의성 2025-03-22 시나리오)</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idx="12"/>
          </p:nvPr>
        </p:nvSpPr>
        <p:spPr/>
        <p:txBody>
          <a:bodyPr/>
          <a:lstStyle/>
          <a:p>
            <a:fld id="{B6F15528-21DE-4FAA-801E-634DDDAF4B2B}" type="slidenum">
              <a:rPr/>
              <a:t>76</a:t>
            </a:fld>
            <a:endParaRPr/>
          </a:p>
        </p:txBody>
      </p:sp>
      <p:sp>
        <p:nvSpPr>
          <p:cNvPr id="5385" name="TextBox 5384">
            <a:extLst>
              <a:ext uri="{FF2B5EF4-FFF2-40B4-BE49-F238E27FC236}">
                <a16:creationId xmlns:a16="http://schemas.microsoft.com/office/drawing/2014/main" id="{33AAFC66-E0D7-4FD0-9B7B-A33F818D0991}"/>
              </a:ext>
            </a:extLst>
          </p:cNvPr>
          <p:cNvSpPr>
            <a:spLocks noGrp="1"/>
          </p:cNvSpPr>
          <p:nvPr/>
        </p:nvSpPr>
        <p:spPr>
          <a:xfrm>
            <a:off x="822960" y="2395728"/>
            <a:ext cx="9144000" cy="301752"/>
          </a:xfrm>
          <a:prstGeom prst="rect">
            <a:avLst/>
          </a:prstGeom>
          <a:noFill/>
        </p:spPr>
        <p:txBody>
          <a:bodyPr wrap="square" lIns="0" tIns="0" rIns="0" bIns="0" anchor="t">
            <a:spAutoFit/>
          </a:bodyPr>
          <a:lstStyle/>
          <a:p>
            <a:pPr algn="l">
              <a:buNone/>
            </a:pPr>
            <a:r>
              <a:rPr sz="1450" b="1">
                <a:solidFill>
                  <a:srgbClr val="2E3142"/>
                </a:solidFill>
                <a:latin typeface="210 OmniGothic 040"/>
                <a:ea typeface="210 OmniGothic 040"/>
                <a:cs typeface="210 OmniGothic 040"/>
              </a:rPr>
              <a:t>evidence_chunks</a:t>
            </a:r>
          </a:p>
        </p:txBody>
      </p:sp>
      <p:graphicFrame>
        <p:nvGraphicFramePr>
          <p:cNvPr id="5407" name="Table 5385"/>
          <p:cNvGraphicFramePr/>
          <p:nvPr/>
        </p:nvGraphicFramePr>
        <p:xfrm>
          <a:off x="822960" y="2717596"/>
          <a:ext cx="16459197" cy="1508760"/>
        </p:xfrm>
        <a:graphic>
          <a:graphicData uri="http://schemas.openxmlformats.org/drawingml/2006/table">
            <a:tbl>
              <a:tblPr>
                <a:tableStyleId>{2D5ABB26-0587-4C30-8999-92F81FD0307C}</a:tableStyleId>
              </a:tblPr>
              <a:tblGrid>
                <a:gridCol w="3194183">
                  <a:extLst>
                    <a:ext uri="{9D8B030D-6E8A-4147-A177-3AD203B41FA5}">
                      <a16:colId xmlns:a16="http://schemas.microsoft.com/office/drawing/2014/main" val="20000"/>
                    </a:ext>
                  </a:extLst>
                </a:gridCol>
                <a:gridCol w="3458669">
                  <a:extLst>
                    <a:ext uri="{9D8B030D-6E8A-4147-A177-3AD203B41FA5}">
                      <a16:colId xmlns:a16="http://schemas.microsoft.com/office/drawing/2014/main" val="20001"/>
                    </a:ext>
                  </a:extLst>
                </a:gridCol>
                <a:gridCol w="2929696">
                  <a:extLst>
                    <a:ext uri="{9D8B030D-6E8A-4147-A177-3AD203B41FA5}">
                      <a16:colId xmlns:a16="http://schemas.microsoft.com/office/drawing/2014/main" val="20002"/>
                    </a:ext>
                  </a:extLst>
                </a:gridCol>
                <a:gridCol w="6876649">
                  <a:extLst>
                    <a:ext uri="{9D8B030D-6E8A-4147-A177-3AD203B41FA5}">
                      <a16:colId xmlns:a16="http://schemas.microsoft.com/office/drawing/2014/main" val="20003"/>
                    </a:ext>
                  </a:extLst>
                </a:gridCol>
              </a:tblGrid>
              <a:tr h="301752">
                <a:tc>
                  <a:txBody>
                    <a:bodyPr/>
                    <a:lstStyle/>
                    <a:p>
                      <a:pPr algn="ctr">
                        <a:buNone/>
                      </a:pPr>
                      <a:r>
                        <a:rPr sz="1150" b="1">
                          <a:solidFill>
                            <a:srgbClr val="2E3142"/>
                          </a:solidFill>
                          <a:latin typeface="210 OmniGothic 040"/>
                          <a:ea typeface="210 OmniGothic 040"/>
                          <a:cs typeface="210 OmniGothic 040"/>
                        </a:rPr>
                        <a:t>chunk_id</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ctr">
                        <a:buNone/>
                      </a:pPr>
                      <a:r>
                        <a:rPr sz="1150" b="1">
                          <a:solidFill>
                            <a:srgbClr val="2E3142"/>
                          </a:solidFill>
                          <a:latin typeface="210 OmniGothic 040"/>
                          <a:ea typeface="210 OmniGothic 040"/>
                          <a:cs typeface="210 OmniGothic 040"/>
                        </a:rPr>
                        <a:t>doc_name</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ctr">
                        <a:buNone/>
                      </a:pPr>
                      <a:r>
                        <a:rPr sz="1150" b="1">
                          <a:solidFill>
                            <a:srgbClr val="2E3142"/>
                          </a:solidFill>
                          <a:latin typeface="210 OmniGothic 040"/>
                          <a:ea typeface="210 OmniGothic 040"/>
                          <a:cs typeface="210 OmniGothic 040"/>
                        </a:rPr>
                        <a:t>page</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ctr">
                        <a:buNone/>
                      </a:pPr>
                      <a:r>
                        <a:rPr sz="1150" b="1">
                          <a:solidFill>
                            <a:srgbClr val="2E3142"/>
                          </a:solidFill>
                          <a:latin typeface="210 OmniGothic 040"/>
                          <a:ea typeface="210 OmniGothic 040"/>
                          <a:cs typeface="210 OmniGothic 040"/>
                        </a:rPr>
                        <a:t>section</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extLst>
                  <a:ext uri="{0D108BD9-81ED-4DB2-BD59-A6C34878D82A}">
                    <a16:rowId xmlns:a16="http://schemas.microsoft.com/office/drawing/2014/main" val="10000"/>
                  </a:ext>
                </a:extLst>
              </a:tr>
              <a:tr h="301752">
                <a:tc>
                  <a:txBody>
                    <a:bodyPr/>
                    <a:lstStyle/>
                    <a:p>
                      <a:pPr algn="ctr">
                        <a:buNone/>
                      </a:pPr>
                      <a:r>
                        <a:rPr sz="1150" b="0">
                          <a:solidFill>
                            <a:srgbClr val="2E3142"/>
                          </a:solidFill>
                          <a:latin typeface="210 OmniGothic 040"/>
                          <a:ea typeface="210 OmniGothic 040"/>
                          <a:cs typeface="210 OmniGothic 040"/>
                        </a:rPr>
                        <a:t>SM-p073</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표준매뉴얼</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p.73</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대응단계 판단기준</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1"/>
                  </a:ext>
                </a:extLst>
              </a:tr>
              <a:tr h="301752">
                <a:tc>
                  <a:txBody>
                    <a:bodyPr/>
                    <a:lstStyle/>
                    <a:p>
                      <a:pPr algn="ctr">
                        <a:buNone/>
                      </a:pPr>
                      <a:r>
                        <a:rPr sz="1150" b="0">
                          <a:solidFill>
                            <a:srgbClr val="2E3142"/>
                          </a:solidFill>
                          <a:latin typeface="210 OmniGothic 040"/>
                          <a:ea typeface="210 OmniGothic 040"/>
                          <a:cs typeface="210 OmniGothic 040"/>
                        </a:rPr>
                        <a:t>SM-p074</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표준매뉴얼</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p.74~76</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위험구역과 주민대피</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2"/>
                  </a:ext>
                </a:extLst>
              </a:tr>
              <a:tr h="301752">
                <a:tc>
                  <a:txBody>
                    <a:bodyPr/>
                    <a:lstStyle/>
                    <a:p>
                      <a:pPr algn="ctr">
                        <a:buNone/>
                      </a:pPr>
                      <a:r>
                        <a:rPr sz="1150" b="0">
                          <a:solidFill>
                            <a:srgbClr val="2E3142"/>
                          </a:solidFill>
                          <a:latin typeface="210 OmniGothic 040"/>
                          <a:ea typeface="210 OmniGothic 040"/>
                          <a:cs typeface="210 OmniGothic 040"/>
                        </a:rPr>
                        <a:t>SM-p079</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표준매뉴얼</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p.79</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안전취약계층 우선 대피</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3"/>
                  </a:ext>
                </a:extLst>
              </a:tr>
              <a:tr h="301752">
                <a:tc>
                  <a:txBody>
                    <a:bodyPr/>
                    <a:lstStyle/>
                    <a:p>
                      <a:pPr algn="ctr">
                        <a:buNone/>
                      </a:pPr>
                      <a:r>
                        <a:rPr sz="1150" b="0">
                          <a:solidFill>
                            <a:srgbClr val="2E3142"/>
                          </a:solidFill>
                          <a:latin typeface="210 OmniGothic 040"/>
                          <a:ea typeface="210 OmniGothic 040"/>
                          <a:cs typeface="210 OmniGothic 040"/>
                        </a:rPr>
                        <a:t>SM-p119</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표준매뉴얼</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p.119</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유관기관 주요 기능(경찰)</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4"/>
                  </a:ext>
                </a:extLst>
              </a:tr>
            </a:tbl>
          </a:graphicData>
        </a:graphic>
      </p:graphicFrame>
      <p:sp>
        <p:nvSpPr>
          <p:cNvPr id="5387" name="TextBox 5386">
            <a:extLst>
              <a:ext uri="{FF2B5EF4-FFF2-40B4-BE49-F238E27FC236}">
                <a16:creationId xmlns:a16="http://schemas.microsoft.com/office/drawing/2014/main" id="{51260ED9-D09C-448A-8664-1EC24BCC2854}"/>
              </a:ext>
            </a:extLst>
          </p:cNvPr>
          <p:cNvSpPr>
            <a:spLocks noGrp="1"/>
          </p:cNvSpPr>
          <p:nvPr/>
        </p:nvSpPr>
        <p:spPr>
          <a:xfrm>
            <a:off x="822960" y="4477816"/>
            <a:ext cx="9144000" cy="301752"/>
          </a:xfrm>
          <a:prstGeom prst="rect">
            <a:avLst/>
          </a:prstGeom>
          <a:noFill/>
        </p:spPr>
        <p:txBody>
          <a:bodyPr wrap="square" lIns="0" tIns="0" rIns="0" bIns="0" anchor="t">
            <a:spAutoFit/>
          </a:bodyPr>
          <a:lstStyle/>
          <a:p>
            <a:pPr algn="l">
              <a:buNone/>
            </a:pPr>
            <a:r>
              <a:rPr sz="1450" b="1">
                <a:solidFill>
                  <a:srgbClr val="2E3142"/>
                </a:solidFill>
                <a:latin typeface="210 OmniGothic 040"/>
                <a:ea typeface="210 OmniGothic 040"/>
                <a:cs typeface="210 OmniGothic 040"/>
              </a:rPr>
              <a:t>citations</a:t>
            </a:r>
          </a:p>
        </p:txBody>
      </p:sp>
      <p:graphicFrame>
        <p:nvGraphicFramePr>
          <p:cNvPr id="5409" name="Table 5387"/>
          <p:cNvGraphicFramePr/>
          <p:nvPr/>
        </p:nvGraphicFramePr>
        <p:xfrm>
          <a:off x="822960" y="4799685"/>
          <a:ext cx="16459198" cy="1508760"/>
        </p:xfrm>
        <a:graphic>
          <a:graphicData uri="http://schemas.openxmlformats.org/drawingml/2006/table">
            <a:tbl>
              <a:tblPr>
                <a:tableStyleId>{2D5ABB26-0587-4C30-8999-92F81FD0307C}</a:tableStyleId>
              </a:tblPr>
              <a:tblGrid>
                <a:gridCol w="2581835">
                  <a:extLst>
                    <a:ext uri="{9D8B030D-6E8A-4147-A177-3AD203B41FA5}">
                      <a16:colId xmlns:a16="http://schemas.microsoft.com/office/drawing/2014/main" val="20000"/>
                    </a:ext>
                  </a:extLst>
                </a:gridCol>
                <a:gridCol w="2581835">
                  <a:extLst>
                    <a:ext uri="{9D8B030D-6E8A-4147-A177-3AD203B41FA5}">
                      <a16:colId xmlns:a16="http://schemas.microsoft.com/office/drawing/2014/main" val="20001"/>
                    </a:ext>
                  </a:extLst>
                </a:gridCol>
                <a:gridCol w="3316941">
                  <a:extLst>
                    <a:ext uri="{9D8B030D-6E8A-4147-A177-3AD203B41FA5}">
                      <a16:colId xmlns:a16="http://schemas.microsoft.com/office/drawing/2014/main" val="20002"/>
                    </a:ext>
                  </a:extLst>
                </a:gridCol>
                <a:gridCol w="2581835">
                  <a:extLst>
                    <a:ext uri="{9D8B030D-6E8A-4147-A177-3AD203B41FA5}">
                      <a16:colId xmlns:a16="http://schemas.microsoft.com/office/drawing/2014/main" val="20003"/>
                    </a:ext>
                  </a:extLst>
                </a:gridCol>
                <a:gridCol w="2814917">
                  <a:extLst>
                    <a:ext uri="{9D8B030D-6E8A-4147-A177-3AD203B41FA5}">
                      <a16:colId xmlns:a16="http://schemas.microsoft.com/office/drawing/2014/main" val="20004"/>
                    </a:ext>
                  </a:extLst>
                </a:gridCol>
                <a:gridCol w="2581835">
                  <a:extLst>
                    <a:ext uri="{9D8B030D-6E8A-4147-A177-3AD203B41FA5}">
                      <a16:colId xmlns:a16="http://schemas.microsoft.com/office/drawing/2014/main" val="20005"/>
                    </a:ext>
                  </a:extLst>
                </a:gridCol>
              </a:tblGrid>
              <a:tr h="301752">
                <a:tc>
                  <a:txBody>
                    <a:bodyPr/>
                    <a:lstStyle/>
                    <a:p>
                      <a:pPr algn="ctr">
                        <a:buNone/>
                      </a:pPr>
                      <a:r>
                        <a:rPr sz="1150" b="1">
                          <a:solidFill>
                            <a:srgbClr val="2E3142"/>
                          </a:solidFill>
                          <a:latin typeface="210 OmniGothic 040"/>
                          <a:ea typeface="210 OmniGothic 040"/>
                          <a:cs typeface="210 OmniGothic 040"/>
                        </a:rPr>
                        <a:t>id</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ctr">
                        <a:buNone/>
                      </a:pPr>
                      <a:r>
                        <a:rPr sz="1150" b="1">
                          <a:solidFill>
                            <a:srgbClr val="2E3142"/>
                          </a:solidFill>
                          <a:latin typeface="210 OmniGothic 040"/>
                          <a:ea typeface="210 OmniGothic 040"/>
                          <a:cs typeface="210 OmniGothic 040"/>
                        </a:rPr>
                        <a:t>item_id</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ctr">
                        <a:buNone/>
                      </a:pPr>
                      <a:r>
                        <a:rPr sz="1150" b="1">
                          <a:solidFill>
                            <a:srgbClr val="2E3142"/>
                          </a:solidFill>
                          <a:latin typeface="210 OmniGothic 040"/>
                          <a:ea typeface="210 OmniGothic 040"/>
                          <a:cs typeface="210 OmniGothic 040"/>
                        </a:rPr>
                        <a:t>message_id</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ctr">
                        <a:buNone/>
                      </a:pPr>
                      <a:r>
                        <a:rPr sz="1150" b="1">
                          <a:solidFill>
                            <a:srgbClr val="2E3142"/>
                          </a:solidFill>
                          <a:latin typeface="210 OmniGothic 040"/>
                          <a:ea typeface="210 OmniGothic 040"/>
                          <a:cs typeface="210 OmniGothic 040"/>
                        </a:rPr>
                        <a:t>k</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ctr">
                        <a:buNone/>
                      </a:pPr>
                      <a:r>
                        <a:rPr sz="1150" b="1">
                          <a:solidFill>
                            <a:srgbClr val="2E3142"/>
                          </a:solidFill>
                          <a:latin typeface="210 OmniGothic 040"/>
                          <a:ea typeface="210 OmniGothic 040"/>
                          <a:cs typeface="210 OmniGothic 040"/>
                        </a:rPr>
                        <a:t>chunk_id</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ctr">
                        <a:buNone/>
                      </a:pPr>
                      <a:r>
                        <a:rPr sz="1150" b="1">
                          <a:solidFill>
                            <a:srgbClr val="2E3142"/>
                          </a:solidFill>
                          <a:latin typeface="210 OmniGothic 040"/>
                          <a:ea typeface="210 OmniGothic 040"/>
                          <a:cs typeface="210 OmniGothic 040"/>
                        </a:rPr>
                        <a:t>score</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extLst>
                  <a:ext uri="{0D108BD9-81ED-4DB2-BD59-A6C34878D82A}">
                    <a16:rowId xmlns:a16="http://schemas.microsoft.com/office/drawing/2014/main" val="10000"/>
                  </a:ext>
                </a:extLst>
              </a:tr>
              <a:tr h="301752">
                <a:tc>
                  <a:txBody>
                    <a:bodyPr/>
                    <a:lstStyle/>
                    <a:p>
                      <a:pPr algn="ctr">
                        <a:buNone/>
                      </a:pPr>
                      <a:r>
                        <a:rPr sz="1150" b="0">
                          <a:solidFill>
                            <a:srgbClr val="2E3142"/>
                          </a:solidFill>
                          <a:latin typeface="210 OmniGothic 040"/>
                          <a:ea typeface="210 OmniGothic 040"/>
                          <a:cs typeface="210 OmniGothic 040"/>
                        </a:rPr>
                        <a:t>1</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1</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NULL</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1</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SM-p073</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0.82</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1"/>
                  </a:ext>
                </a:extLst>
              </a:tr>
              <a:tr h="301752">
                <a:tc>
                  <a:txBody>
                    <a:bodyPr/>
                    <a:lstStyle/>
                    <a:p>
                      <a:pPr algn="ctr">
                        <a:buNone/>
                      </a:pPr>
                      <a:r>
                        <a:rPr sz="1150" b="0">
                          <a:solidFill>
                            <a:srgbClr val="2E3142"/>
                          </a:solidFill>
                          <a:latin typeface="210 OmniGothic 040"/>
                          <a:ea typeface="210 OmniGothic 040"/>
                          <a:cs typeface="210 OmniGothic 040"/>
                        </a:rPr>
                        <a:t>2</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8</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NULL</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1</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SM-p074</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0.87</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2"/>
                  </a:ext>
                </a:extLst>
              </a:tr>
              <a:tr h="301752">
                <a:tc>
                  <a:txBody>
                    <a:bodyPr/>
                    <a:lstStyle/>
                    <a:p>
                      <a:pPr algn="ctr">
                        <a:buNone/>
                      </a:pPr>
                      <a:r>
                        <a:rPr sz="1150" b="0">
                          <a:solidFill>
                            <a:srgbClr val="2E3142"/>
                          </a:solidFill>
                          <a:latin typeface="210 OmniGothic 040"/>
                          <a:ea typeface="210 OmniGothic 040"/>
                          <a:cs typeface="210 OmniGothic 040"/>
                        </a:rPr>
                        <a:t>3</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9</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NULL</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2</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SM-p079</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0.79</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3"/>
                  </a:ext>
                </a:extLst>
              </a:tr>
              <a:tr h="301752">
                <a:tc>
                  <a:txBody>
                    <a:bodyPr/>
                    <a:lstStyle/>
                    <a:p>
                      <a:pPr algn="ctr">
                        <a:buNone/>
                      </a:pPr>
                      <a:r>
                        <a:rPr sz="1150" b="0">
                          <a:solidFill>
                            <a:srgbClr val="2E3142"/>
                          </a:solidFill>
                          <a:latin typeface="210 OmniGothic 040"/>
                          <a:ea typeface="210 OmniGothic 040"/>
                          <a:cs typeface="210 OmniGothic 040"/>
                        </a:rPr>
                        <a:t>4</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NULL</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2</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1</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SM-p079</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0.81</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4"/>
                  </a:ext>
                </a:extLst>
              </a:tr>
            </a:tbl>
          </a:graphicData>
        </a:graphic>
      </p:graphicFrame>
      <p:sp>
        <p:nvSpPr>
          <p:cNvPr id="5389" name="TextBox 5388">
            <a:extLst>
              <a:ext uri="{FF2B5EF4-FFF2-40B4-BE49-F238E27FC236}">
                <a16:creationId xmlns:a16="http://schemas.microsoft.com/office/drawing/2014/main" id="{7C46937A-101B-44BC-AFC4-25623E1CADAE}"/>
              </a:ext>
            </a:extLst>
          </p:cNvPr>
          <p:cNvSpPr>
            <a:spLocks noGrp="1"/>
          </p:cNvSpPr>
          <p:nvPr/>
        </p:nvSpPr>
        <p:spPr>
          <a:xfrm>
            <a:off x="822960" y="6559905"/>
            <a:ext cx="9144000" cy="301752"/>
          </a:xfrm>
          <a:prstGeom prst="rect">
            <a:avLst/>
          </a:prstGeom>
          <a:noFill/>
        </p:spPr>
        <p:txBody>
          <a:bodyPr wrap="square" lIns="0" tIns="0" rIns="0" bIns="0" anchor="t">
            <a:spAutoFit/>
          </a:bodyPr>
          <a:lstStyle/>
          <a:p>
            <a:pPr algn="l">
              <a:buNone/>
            </a:pPr>
            <a:r>
              <a:rPr sz="1450" b="1">
                <a:solidFill>
                  <a:srgbClr val="2E3142"/>
                </a:solidFill>
                <a:latin typeface="210 OmniGothic 040"/>
                <a:ea typeface="210 OmniGothic 040"/>
                <a:cs typeface="210 OmniGothic 040"/>
              </a:rPr>
              <a:t>chat_messages</a:t>
            </a:r>
          </a:p>
        </p:txBody>
      </p:sp>
      <p:graphicFrame>
        <p:nvGraphicFramePr>
          <p:cNvPr id="5411" name="Table 5389"/>
          <p:cNvGraphicFramePr/>
          <p:nvPr/>
        </p:nvGraphicFramePr>
        <p:xfrm>
          <a:off x="822960" y="6881774"/>
          <a:ext cx="16459197" cy="1508760"/>
        </p:xfrm>
        <a:graphic>
          <a:graphicData uri="http://schemas.openxmlformats.org/drawingml/2006/table">
            <a:tbl>
              <a:tblPr>
                <a:tableStyleId>{2D5ABB26-0587-4C30-8999-92F81FD0307C}</a:tableStyleId>
              </a:tblPr>
              <a:tblGrid>
                <a:gridCol w="1228680">
                  <a:extLst>
                    <a:ext uri="{9D8B030D-6E8A-4147-A177-3AD203B41FA5}">
                      <a16:colId xmlns:a16="http://schemas.microsoft.com/office/drawing/2014/main" val="20000"/>
                    </a:ext>
                  </a:extLst>
                </a:gridCol>
                <a:gridCol w="1228680">
                  <a:extLst>
                    <a:ext uri="{9D8B030D-6E8A-4147-A177-3AD203B41FA5}">
                      <a16:colId xmlns:a16="http://schemas.microsoft.com/office/drawing/2014/main" val="20001"/>
                    </a:ext>
                  </a:extLst>
                </a:gridCol>
                <a:gridCol w="1459058">
                  <a:extLst>
                    <a:ext uri="{9D8B030D-6E8A-4147-A177-3AD203B41FA5}">
                      <a16:colId xmlns:a16="http://schemas.microsoft.com/office/drawing/2014/main" val="20002"/>
                    </a:ext>
                  </a:extLst>
                </a:gridCol>
                <a:gridCol w="1228680">
                  <a:extLst>
                    <a:ext uri="{9D8B030D-6E8A-4147-A177-3AD203B41FA5}">
                      <a16:colId xmlns:a16="http://schemas.microsoft.com/office/drawing/2014/main" val="20003"/>
                    </a:ext>
                  </a:extLst>
                </a:gridCol>
                <a:gridCol w="1578513">
                  <a:extLst>
                    <a:ext uri="{9D8B030D-6E8A-4147-A177-3AD203B41FA5}">
                      <a16:colId xmlns:a16="http://schemas.microsoft.com/office/drawing/2014/main" val="20004"/>
                    </a:ext>
                  </a:extLst>
                </a:gridCol>
                <a:gridCol w="9735586">
                  <a:extLst>
                    <a:ext uri="{9D8B030D-6E8A-4147-A177-3AD203B41FA5}">
                      <a16:colId xmlns:a16="http://schemas.microsoft.com/office/drawing/2014/main" val="20005"/>
                    </a:ext>
                  </a:extLst>
                </a:gridCol>
              </a:tblGrid>
              <a:tr h="301752">
                <a:tc>
                  <a:txBody>
                    <a:bodyPr/>
                    <a:lstStyle/>
                    <a:p>
                      <a:pPr algn="ctr">
                        <a:buNone/>
                      </a:pPr>
                      <a:r>
                        <a:rPr sz="1150" b="1">
                          <a:solidFill>
                            <a:srgbClr val="2E3142"/>
                          </a:solidFill>
                          <a:latin typeface="210 OmniGothic 040"/>
                          <a:ea typeface="210 OmniGothic 040"/>
                          <a:cs typeface="210 OmniGothic 040"/>
                        </a:rPr>
                        <a:t>id</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ctr">
                        <a:buNone/>
                      </a:pPr>
                      <a:r>
                        <a:rPr sz="1150" b="1">
                          <a:solidFill>
                            <a:srgbClr val="2E3142"/>
                          </a:solidFill>
                          <a:latin typeface="210 OmniGothic 040"/>
                          <a:ea typeface="210 OmniGothic 040"/>
                          <a:cs typeface="210 OmniGothic 040"/>
                        </a:rPr>
                        <a:t>user_id</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ctr">
                        <a:buNone/>
                      </a:pPr>
                      <a:r>
                        <a:rPr sz="1150" b="1">
                          <a:solidFill>
                            <a:srgbClr val="2E3142"/>
                          </a:solidFill>
                          <a:latin typeface="210 OmniGothic 040"/>
                          <a:ea typeface="210 OmniGothic 040"/>
                          <a:cs typeface="210 OmniGothic 040"/>
                        </a:rPr>
                        <a:t>item_code</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ctr">
                        <a:buNone/>
                      </a:pPr>
                      <a:r>
                        <a:rPr sz="1150" b="1">
                          <a:solidFill>
                            <a:srgbClr val="2E3142"/>
                          </a:solidFill>
                          <a:latin typeface="210 OmniGothic 040"/>
                          <a:ea typeface="210 OmniGothic 040"/>
                          <a:cs typeface="210 OmniGothic 040"/>
                        </a:rPr>
                        <a:t>sender</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ctr">
                        <a:buNone/>
                      </a:pPr>
                      <a:r>
                        <a:rPr sz="1150" b="1">
                          <a:solidFill>
                            <a:srgbClr val="2E3142"/>
                          </a:solidFill>
                          <a:latin typeface="210 OmniGothic 040"/>
                          <a:ea typeface="210 OmniGothic 040"/>
                          <a:cs typeface="210 OmniGothic 040"/>
                        </a:rPr>
                        <a:t>intent</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ctr">
                        <a:buNone/>
                      </a:pPr>
                      <a:r>
                        <a:rPr sz="1150" b="1">
                          <a:solidFill>
                            <a:srgbClr val="2E3142"/>
                          </a:solidFill>
                          <a:latin typeface="210 OmniGothic 040"/>
                          <a:ea typeface="210 OmniGothic 040"/>
                          <a:cs typeface="210 OmniGothic 040"/>
                        </a:rPr>
                        <a:t>content</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extLst>
                  <a:ext uri="{0D108BD9-81ED-4DB2-BD59-A6C34878D82A}">
                    <a16:rowId xmlns:a16="http://schemas.microsoft.com/office/drawing/2014/main" val="10000"/>
                  </a:ext>
                </a:extLst>
              </a:tr>
              <a:tr h="301752">
                <a:tc>
                  <a:txBody>
                    <a:bodyPr/>
                    <a:lstStyle/>
                    <a:p>
                      <a:pPr algn="ctr">
                        <a:buNone/>
                      </a:pPr>
                      <a:r>
                        <a:rPr sz="1150" b="0">
                          <a:solidFill>
                            <a:srgbClr val="2E3142"/>
                          </a:solidFill>
                          <a:latin typeface="210 OmniGothic 040"/>
                          <a:ea typeface="210 OmniGothic 040"/>
                          <a:cs typeface="210 OmniGothic 040"/>
                        </a:rPr>
                        <a:t>1</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1</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NULL</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USER</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QA</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박곡리를 석탑리보다 먼저 대피시키는 이유는?</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1"/>
                  </a:ext>
                </a:extLst>
              </a:tr>
              <a:tr h="301752">
                <a:tc>
                  <a:txBody>
                    <a:bodyPr/>
                    <a:lstStyle/>
                    <a:p>
                      <a:pPr algn="ctr">
                        <a:buNone/>
                      </a:pPr>
                      <a:r>
                        <a:rPr sz="1150" b="0">
                          <a:solidFill>
                            <a:srgbClr val="2E3142"/>
                          </a:solidFill>
                          <a:latin typeface="210 OmniGothic 040"/>
                          <a:ea typeface="210 OmniGothic 040"/>
                          <a:cs typeface="210 OmniGothic 040"/>
                        </a:rPr>
                        <a:t>2</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1</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NULL</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AI</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QA</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박곡리는 화선 도달 순서가 빠르고 고령자가 많아 안전취약계층 우선 대피 원칙이 적용됩니다 [1].</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2"/>
                  </a:ext>
                </a:extLst>
              </a:tr>
              <a:tr h="301752">
                <a:tc>
                  <a:txBody>
                    <a:bodyPr/>
                    <a:lstStyle/>
                    <a:p>
                      <a:pPr algn="ctr">
                        <a:buNone/>
                      </a:pPr>
                      <a:r>
                        <a:rPr sz="1150" b="0">
                          <a:solidFill>
                            <a:srgbClr val="2E3142"/>
                          </a:solidFill>
                          <a:latin typeface="210 OmniGothic 040"/>
                          <a:ea typeface="210 OmniGothic 040"/>
                          <a:cs typeface="210 OmniGothic 040"/>
                        </a:rPr>
                        <a:t>3</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1</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NULL</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USER</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CORRECTION</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박곡리 대피 완료</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3"/>
                  </a:ext>
                </a:extLst>
              </a:tr>
              <a:tr h="301752">
                <a:tc>
                  <a:txBody>
                    <a:bodyPr/>
                    <a:lstStyle/>
                    <a:p>
                      <a:pPr algn="ctr">
                        <a:buNone/>
                      </a:pPr>
                      <a:r>
                        <a:rPr sz="1150" b="0">
                          <a:solidFill>
                            <a:srgbClr val="2E3142"/>
                          </a:solidFill>
                          <a:latin typeface="210 OmniGothic 040"/>
                          <a:ea typeface="210 OmniGothic 040"/>
                          <a:cs typeface="210 OmniGothic 040"/>
                        </a:rPr>
                        <a:t>4</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1</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NULL</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AI</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CORRECTION</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상황 정정으로 판정 — 정정 확인 카드를 엽니다</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4"/>
                  </a:ext>
                </a:extLst>
              </a:tr>
            </a:tbl>
          </a:graphicData>
        </a:graphic>
      </p:graphicFrame>
      <p:sp>
        <p:nvSpPr>
          <p:cNvPr id="5391" name="TextBox 5390">
            <a:extLst>
              <a:ext uri="{FF2B5EF4-FFF2-40B4-BE49-F238E27FC236}">
                <a16:creationId xmlns:a16="http://schemas.microsoft.com/office/drawing/2014/main" id="{95A0D1FC-CDB6-42DE-9282-0129CC03856A}"/>
              </a:ext>
            </a:extLst>
          </p:cNvPr>
          <p:cNvSpPr>
            <a:spLocks noGrp="1"/>
          </p:cNvSpPr>
          <p:nvPr/>
        </p:nvSpPr>
        <p:spPr>
          <a:xfrm>
            <a:off x="822960" y="8883396"/>
            <a:ext cx="16459200" cy="301752"/>
          </a:xfrm>
          <a:prstGeom prst="rect">
            <a:avLst/>
          </a:prstGeom>
          <a:noFill/>
        </p:spPr>
        <p:txBody>
          <a:bodyPr wrap="square" lIns="0" tIns="0" rIns="0" bIns="0" anchor="t">
            <a:spAutoFit/>
          </a:bodyPr>
          <a:lstStyle/>
          <a:p>
            <a:pPr algn="l">
              <a:buNone/>
            </a:pPr>
            <a:r>
              <a:rPr sz="1150" b="0">
                <a:solidFill>
                  <a:srgbClr val="7B8094"/>
                </a:solidFill>
                <a:latin typeface="210 OmniGothic 030"/>
                <a:ea typeface="210 OmniGothic 030"/>
                <a:cs typeface="210 OmniGothic 030"/>
              </a:rPr>
              <a:t>※ 좌표·발생 시각·접수 경로·마을 좌표는 실제(보도·OSM·SGIS), 실측 화선·사곡면·점곡면 산불·계정·인구·자원·수용 인원·위험도 요인 점수는 목업과 같은 시연용 가상값입니다.</a:t>
            </a:r>
          </a:p>
        </p:txBody>
      </p:sp>
    </p:spTree>
    <p:extLst>
      <p:ext uri="{BB962C8B-B14F-4D97-AF65-F5344CB8AC3E}">
        <p14:creationId xmlns:p14="http://schemas.microsoft.com/office/powerpoint/2010/main" val="58916374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98" name="Picture 2"/>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700" y="-12700"/>
            <a:ext cx="18313400" cy="1638300"/>
          </a:xfrm>
          <a:prstGeom prst="rect">
            <a:avLst/>
          </a:prstGeom>
        </p:spPr>
      </p:pic>
      <p:pic>
        <p:nvPicPr>
          <p:cNvPr id="5399" name="Picture 4"/>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28" y="1618343"/>
            <a:ext cx="18313400" cy="8699500"/>
          </a:xfrm>
          <a:prstGeom prst="rect">
            <a:avLst/>
          </a:prstGeom>
        </p:spPr>
      </p:pic>
      <p:pic>
        <p:nvPicPr>
          <p:cNvPr id="5400" name="Picture 5"/>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58800" y="9271000"/>
            <a:ext cx="17170400" cy="50800"/>
          </a:xfrm>
          <a:prstGeom prst="rect">
            <a:avLst/>
          </a:prstGeom>
        </p:spPr>
      </p:pic>
      <p:pic>
        <p:nvPicPr>
          <p:cNvPr id="5401" name="Picture 3"/>
          <p:cNvPicPr>
            <a:picLocks noChangeAspect="1"/>
          </p:cNvPicPr>
          <p:nvPr/>
        </p:nvPicPr>
        <p:blipFill>
          <a:blip r:embed="rId6"/>
          <a:stretch>
            <a:fillRect/>
          </a:stretch>
        </p:blipFill>
        <p:spPr>
          <a:xfrm>
            <a:off x="14846300" y="317500"/>
            <a:ext cx="2120900" cy="1333500"/>
          </a:xfrm>
          <a:prstGeom prst="rect">
            <a:avLst/>
          </a:prstGeom>
        </p:spPr>
      </p:pic>
      <p:sp>
        <p:nvSpPr>
          <p:cNvPr id="5388" name="Title">
            <a:extLst>
              <a:ext uri="{FF2B5EF4-FFF2-40B4-BE49-F238E27FC236}">
                <a16:creationId xmlns:a16="http://schemas.microsoft.com/office/drawing/2014/main" id="{D7F8B37F-E1A3-45F7-8CC6-BA8D7F4817B1}"/>
              </a:ext>
            </a:extLst>
          </p:cNvPr>
          <p:cNvSpPr>
            <a:spLocks noGrp="1"/>
          </p:cNvSpPr>
          <p:nvPr/>
        </p:nvSpPr>
        <p:spPr>
          <a:xfrm>
            <a:off x="822960" y="384048"/>
            <a:ext cx="13258800" cy="877824"/>
          </a:xfrm>
          <a:prstGeom prst="rect">
            <a:avLst/>
          </a:prstGeom>
          <a:noFill/>
        </p:spPr>
        <p:txBody>
          <a:bodyPr wrap="square" lIns="0" tIns="0" rIns="0" bIns="0" anchor="ctr">
            <a:spAutoFit/>
          </a:bodyPr>
          <a:lstStyle/>
          <a:p>
            <a:pPr algn="l">
              <a:buNone/>
            </a:pPr>
            <a:r>
              <a:rPr sz="4400" b="0">
                <a:solidFill>
                  <a:srgbClr val="FAA95A"/>
                </a:solidFill>
                <a:latin typeface="210 OmniGothic 050"/>
                <a:ea typeface="210 OmniGothic 050"/>
                <a:cs typeface="210 OmniGothic 050"/>
              </a:rPr>
              <a:t>06. 관계형 데이터베이스</a:t>
            </a:r>
          </a:p>
        </p:txBody>
      </p:sp>
      <p:sp>
        <p:nvSpPr>
          <p:cNvPr id="5389" name="Subtitle">
            <a:extLst>
              <a:ext uri="{FF2B5EF4-FFF2-40B4-BE49-F238E27FC236}">
                <a16:creationId xmlns:a16="http://schemas.microsoft.com/office/drawing/2014/main" id="{71C267FF-18D0-4691-917D-8776EC4BCE90}"/>
              </a:ext>
            </a:extLst>
          </p:cNvPr>
          <p:cNvSpPr>
            <a:spLocks noGrp="1"/>
          </p:cNvSpPr>
          <p:nvPr/>
        </p:nvSpPr>
        <p:spPr>
          <a:xfrm>
            <a:off x="822960" y="1764792"/>
            <a:ext cx="16642080" cy="502920"/>
          </a:xfrm>
          <a:prstGeom prst="rect">
            <a:avLst/>
          </a:prstGeom>
          <a:noFill/>
        </p:spPr>
        <p:txBody>
          <a:bodyPr wrap="square" lIns="0" tIns="0" rIns="0" bIns="0" anchor="ctr">
            <a:spAutoFit/>
          </a:bodyPr>
          <a:lstStyle/>
          <a:p>
            <a:pPr algn="ctr">
              <a:buNone/>
            </a:pPr>
            <a:r>
              <a:rPr sz="2600" b="1">
                <a:solidFill>
                  <a:srgbClr val="363A52"/>
                </a:solidFill>
                <a:latin typeface="210 OmniGothic 040"/>
                <a:ea typeface="210 OmniGothic 040"/>
                <a:cs typeface="210 OmniGothic 040"/>
              </a:rPr>
              <a:t>2. 정적 모델링 – </a:t>
            </a:r>
            <a:r>
              <a:rPr sz="2600" b="1">
                <a:solidFill>
                  <a:srgbClr val="FAA95A"/>
                </a:solidFill>
                <a:latin typeface="210 OmniGothic 040"/>
                <a:ea typeface="210 OmniGothic 040"/>
                <a:cs typeface="210 OmniGothic 040"/>
              </a:rPr>
              <a:t>예시 데이터 (의성 2025-03-22 시나리오)</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idx="12"/>
          </p:nvPr>
        </p:nvSpPr>
        <p:spPr/>
        <p:txBody>
          <a:bodyPr/>
          <a:lstStyle/>
          <a:p>
            <a:fld id="{B6F15528-21DE-4FAA-801E-634DDDAF4B2B}" type="slidenum">
              <a:rPr/>
              <a:t>77</a:t>
            </a:fld>
            <a:endParaRPr/>
          </a:p>
        </p:txBody>
      </p:sp>
      <p:sp>
        <p:nvSpPr>
          <p:cNvPr id="5390" name="TextBox 5389">
            <a:extLst>
              <a:ext uri="{FF2B5EF4-FFF2-40B4-BE49-F238E27FC236}">
                <a16:creationId xmlns:a16="http://schemas.microsoft.com/office/drawing/2014/main" id="{B5892421-FA53-43F4-956A-4AC09925BFF9}"/>
              </a:ext>
            </a:extLst>
          </p:cNvPr>
          <p:cNvSpPr>
            <a:spLocks noGrp="1"/>
          </p:cNvSpPr>
          <p:nvPr/>
        </p:nvSpPr>
        <p:spPr>
          <a:xfrm>
            <a:off x="822960" y="2395728"/>
            <a:ext cx="9144000" cy="301752"/>
          </a:xfrm>
          <a:prstGeom prst="rect">
            <a:avLst/>
          </a:prstGeom>
          <a:noFill/>
        </p:spPr>
        <p:txBody>
          <a:bodyPr wrap="square" lIns="0" tIns="0" rIns="0" bIns="0" anchor="t">
            <a:spAutoFit/>
          </a:bodyPr>
          <a:lstStyle/>
          <a:p>
            <a:pPr algn="l">
              <a:buNone/>
            </a:pPr>
            <a:r>
              <a:rPr sz="1450" b="1">
                <a:solidFill>
                  <a:srgbClr val="2E3142"/>
                </a:solidFill>
                <a:latin typeface="210 OmniGothic 040"/>
                <a:ea typeface="210 OmniGothic 040"/>
                <a:cs typeface="210 OmniGothic 040"/>
              </a:rPr>
              <a:t>event_logs</a:t>
            </a:r>
          </a:p>
        </p:txBody>
      </p:sp>
      <p:graphicFrame>
        <p:nvGraphicFramePr>
          <p:cNvPr id="5406" name="Table 5390"/>
          <p:cNvGraphicFramePr/>
          <p:nvPr/>
        </p:nvGraphicFramePr>
        <p:xfrm>
          <a:off x="822960" y="2717596"/>
          <a:ext cx="16459198" cy="3319272"/>
        </p:xfrm>
        <a:graphic>
          <a:graphicData uri="http://schemas.openxmlformats.org/drawingml/2006/table">
            <a:tbl>
              <a:tblPr>
                <a:tableStyleId>{2D5ABB26-0587-4C30-8999-92F81FD0307C}</a:tableStyleId>
              </a:tblPr>
              <a:tblGrid>
                <a:gridCol w="1481327">
                  <a:extLst>
                    <a:ext uri="{9D8B030D-6E8A-4147-A177-3AD203B41FA5}">
                      <a16:colId xmlns:a16="http://schemas.microsoft.com/office/drawing/2014/main" val="20000"/>
                    </a:ext>
                  </a:extLst>
                </a:gridCol>
                <a:gridCol w="2479167">
                  <a:extLst>
                    <a:ext uri="{9D8B030D-6E8A-4147-A177-3AD203B41FA5}">
                      <a16:colId xmlns:a16="http://schemas.microsoft.com/office/drawing/2014/main" val="20001"/>
                    </a:ext>
                  </a:extLst>
                </a:gridCol>
                <a:gridCol w="1481327">
                  <a:extLst>
                    <a:ext uri="{9D8B030D-6E8A-4147-A177-3AD203B41FA5}">
                      <a16:colId xmlns:a16="http://schemas.microsoft.com/office/drawing/2014/main" val="20002"/>
                    </a:ext>
                  </a:extLst>
                </a:gridCol>
                <a:gridCol w="1615059">
                  <a:extLst>
                    <a:ext uri="{9D8B030D-6E8A-4147-A177-3AD203B41FA5}">
                      <a16:colId xmlns:a16="http://schemas.microsoft.com/office/drawing/2014/main" val="20003"/>
                    </a:ext>
                  </a:extLst>
                </a:gridCol>
                <a:gridCol w="1903095">
                  <a:extLst>
                    <a:ext uri="{9D8B030D-6E8A-4147-A177-3AD203B41FA5}">
                      <a16:colId xmlns:a16="http://schemas.microsoft.com/office/drawing/2014/main" val="20004"/>
                    </a:ext>
                  </a:extLst>
                </a:gridCol>
                <a:gridCol w="7499223">
                  <a:extLst>
                    <a:ext uri="{9D8B030D-6E8A-4147-A177-3AD203B41FA5}">
                      <a16:colId xmlns:a16="http://schemas.microsoft.com/office/drawing/2014/main" val="20005"/>
                    </a:ext>
                  </a:extLst>
                </a:gridCol>
              </a:tblGrid>
              <a:tr h="301752">
                <a:tc>
                  <a:txBody>
                    <a:bodyPr/>
                    <a:lstStyle/>
                    <a:p>
                      <a:pPr algn="ctr">
                        <a:buNone/>
                      </a:pPr>
                      <a:r>
                        <a:rPr sz="1150" b="1">
                          <a:solidFill>
                            <a:srgbClr val="2E3142"/>
                          </a:solidFill>
                          <a:latin typeface="210 OmniGothic 040"/>
                          <a:ea typeface="210 OmniGothic 040"/>
                          <a:cs typeface="210 OmniGothic 040"/>
                        </a:rPr>
                        <a:t>id</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ctr">
                        <a:buNone/>
                      </a:pPr>
                      <a:r>
                        <a:rPr sz="1150" b="1">
                          <a:solidFill>
                            <a:srgbClr val="2E3142"/>
                          </a:solidFill>
                          <a:latin typeface="210 OmniGothic 040"/>
                          <a:ea typeface="210 OmniGothic 040"/>
                          <a:cs typeface="210 OmniGothic 040"/>
                        </a:rPr>
                        <a:t>incident_id</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ctr">
                        <a:buNone/>
                      </a:pPr>
                      <a:r>
                        <a:rPr sz="1150" b="1">
                          <a:solidFill>
                            <a:srgbClr val="2E3142"/>
                          </a:solidFill>
                          <a:latin typeface="210 OmniGothic 040"/>
                          <a:ea typeface="210 OmniGothic 040"/>
                          <a:cs typeface="210 OmniGothic 040"/>
                        </a:rPr>
                        <a:t>user_id</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ctr">
                        <a:buNone/>
                      </a:pPr>
                      <a:r>
                        <a:rPr sz="1150" b="1">
                          <a:solidFill>
                            <a:srgbClr val="2E3142"/>
                          </a:solidFill>
                          <a:latin typeface="210 OmniGothic 040"/>
                          <a:ea typeface="210 OmniGothic 040"/>
                          <a:cs typeface="210 OmniGothic 040"/>
                        </a:rPr>
                        <a:t>category</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ctr">
                        <a:buNone/>
                      </a:pPr>
                      <a:r>
                        <a:rPr sz="1150" b="1">
                          <a:solidFill>
                            <a:srgbClr val="2E3142"/>
                          </a:solidFill>
                          <a:latin typeface="210 OmniGothic 040"/>
                          <a:ea typeface="210 OmniGothic 040"/>
                          <a:cs typeface="210 OmniGothic 040"/>
                        </a:rPr>
                        <a:t>created_at</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tc>
                  <a:txBody>
                    <a:bodyPr/>
                    <a:lstStyle/>
                    <a:p>
                      <a:pPr algn="ctr">
                        <a:buNone/>
                      </a:pPr>
                      <a:r>
                        <a:rPr sz="1150" b="1">
                          <a:solidFill>
                            <a:srgbClr val="2E3142"/>
                          </a:solidFill>
                          <a:latin typeface="210 OmniGothic 040"/>
                          <a:ea typeface="210 OmniGothic 040"/>
                          <a:cs typeface="210 OmniGothic 040"/>
                        </a:rPr>
                        <a:t>content</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E6E9F1"/>
                    </a:solidFill>
                  </a:tcPr>
                </a:tc>
                <a:extLst>
                  <a:ext uri="{0D108BD9-81ED-4DB2-BD59-A6C34878D82A}">
                    <a16:rowId xmlns:a16="http://schemas.microsoft.com/office/drawing/2014/main" val="10000"/>
                  </a:ext>
                </a:extLst>
              </a:tr>
              <a:tr h="301752">
                <a:tc>
                  <a:txBody>
                    <a:bodyPr/>
                    <a:lstStyle/>
                    <a:p>
                      <a:pPr algn="ctr">
                        <a:buNone/>
                      </a:pPr>
                      <a:r>
                        <a:rPr sz="1150" b="0">
                          <a:solidFill>
                            <a:srgbClr val="2E3142"/>
                          </a:solidFill>
                          <a:latin typeface="210 OmniGothic 040"/>
                          <a:ea typeface="210 OmniGothic 040"/>
                          <a:cs typeface="210 OmniGothic 040"/>
                        </a:rPr>
                        <a:t>1</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NULL</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5</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관리</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03-02 09:30</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rep01 계정 발급(REPORTER)</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9"/>
                  </a:ext>
                </a:extLst>
              </a:tr>
              <a:tr h="301752">
                <a:tc>
                  <a:txBody>
                    <a:bodyPr/>
                    <a:lstStyle/>
                    <a:p>
                      <a:pPr algn="ctr">
                        <a:buNone/>
                      </a:pPr>
                      <a:r>
                        <a:rPr sz="1150" b="0">
                          <a:solidFill>
                            <a:srgbClr val="2E3142"/>
                          </a:solidFill>
                          <a:latin typeface="210 OmniGothic 040"/>
                          <a:ea typeface="210 OmniGothic 040"/>
                          <a:cs typeface="210 OmniGothic 040"/>
                        </a:rPr>
                        <a:t>2</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F-2025-0321-01</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1</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종료</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03-21 18:40</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의성 점곡면 산불 종료 처리</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8"/>
                  </a:ext>
                </a:extLst>
              </a:tr>
              <a:tr h="301752">
                <a:tc>
                  <a:txBody>
                    <a:bodyPr/>
                    <a:lstStyle/>
                    <a:p>
                      <a:pPr algn="ctr">
                        <a:buNone/>
                      </a:pPr>
                      <a:r>
                        <a:rPr sz="1150" b="0">
                          <a:solidFill>
                            <a:srgbClr val="2E3142"/>
                          </a:solidFill>
                          <a:latin typeface="210 OmniGothic 040"/>
                          <a:ea typeface="210 OmniGothic 040"/>
                          <a:cs typeface="210 OmniGothic 040"/>
                        </a:rPr>
                        <a:t>3</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NULL</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4</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시스템</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03-22 11:50</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rep01 로그인(상황 보고자)</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1"/>
                  </a:ext>
                </a:extLst>
              </a:tr>
              <a:tr h="301752">
                <a:tc>
                  <a:txBody>
                    <a:bodyPr/>
                    <a:lstStyle/>
                    <a:p>
                      <a:pPr algn="ctr">
                        <a:buNone/>
                      </a:pPr>
                      <a:r>
                        <a:rPr sz="1150" b="0">
                          <a:solidFill>
                            <a:srgbClr val="2E3142"/>
                          </a:solidFill>
                          <a:latin typeface="210 OmniGothic 040"/>
                          <a:ea typeface="210 OmniGothic 040"/>
                          <a:cs typeface="210 OmniGothic 040"/>
                        </a:rPr>
                        <a:t>4</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F-2025-0322-01</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4</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입력</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03-22 11:55</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발화 정보 갱신 · 실측 화선 12.7 ha</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2"/>
                  </a:ext>
                </a:extLst>
              </a:tr>
              <a:tr h="301752">
                <a:tc>
                  <a:txBody>
                    <a:bodyPr/>
                    <a:lstStyle/>
                    <a:p>
                      <a:pPr algn="ctr">
                        <a:buNone/>
                      </a:pPr>
                      <a:r>
                        <a:rPr sz="1150" b="0">
                          <a:solidFill>
                            <a:srgbClr val="2E3142"/>
                          </a:solidFill>
                          <a:latin typeface="210 OmniGothic 040"/>
                          <a:ea typeface="210 OmniGothic 040"/>
                          <a:cs typeface="210 OmniGothic 040"/>
                        </a:rPr>
                        <a:t>5</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NULL</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1</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시스템</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03-22 12:00</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cmd01 로그인(통합지휘권자)</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3"/>
                  </a:ext>
                </a:extLst>
              </a:tr>
              <a:tr h="301752">
                <a:tc>
                  <a:txBody>
                    <a:bodyPr/>
                    <a:lstStyle/>
                    <a:p>
                      <a:pPr algn="ctr">
                        <a:buNone/>
                      </a:pPr>
                      <a:r>
                        <a:rPr sz="1150" b="0">
                          <a:solidFill>
                            <a:srgbClr val="2E3142"/>
                          </a:solidFill>
                          <a:latin typeface="210 OmniGothic 040"/>
                          <a:ea typeface="210 OmniGothic 040"/>
                          <a:cs typeface="210 OmniGothic 040"/>
                        </a:rPr>
                        <a:t>6</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F-2025-0322-01</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1</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예측</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03-22 12:00</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확산 예측 갱신 — 5h 1,593 ha, 8h 4,077 ha, 주 방향 동북동</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4"/>
                  </a:ext>
                </a:extLst>
              </a:tr>
              <a:tr h="301752">
                <a:tc>
                  <a:txBody>
                    <a:bodyPr/>
                    <a:lstStyle/>
                    <a:p>
                      <a:pPr algn="ctr">
                        <a:buNone/>
                      </a:pPr>
                      <a:r>
                        <a:rPr sz="1150" b="0">
                          <a:solidFill>
                            <a:srgbClr val="2E3142"/>
                          </a:solidFill>
                          <a:latin typeface="210 OmniGothic 040"/>
                          <a:ea typeface="210 OmniGothic 040"/>
                          <a:cs typeface="210 OmniGothic 040"/>
                        </a:rPr>
                        <a:t>7</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F-2025-0322-01</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1</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제안</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03-22 12:00</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대응 제안 버전 1 생성(예측 갱신)</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5"/>
                  </a:ext>
                </a:extLst>
              </a:tr>
              <a:tr h="301752">
                <a:tc>
                  <a:txBody>
                    <a:bodyPr/>
                    <a:lstStyle/>
                    <a:p>
                      <a:pPr algn="ctr">
                        <a:buNone/>
                      </a:pPr>
                      <a:r>
                        <a:rPr sz="1150" b="0">
                          <a:solidFill>
                            <a:srgbClr val="2E3142"/>
                          </a:solidFill>
                          <a:latin typeface="210 OmniGothic 040"/>
                          <a:ea typeface="210 OmniGothic 040"/>
                          <a:cs typeface="210 OmniGothic 040"/>
                        </a:rPr>
                        <a:t>8</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F-2025-0322-01</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1</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근거 부족</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03-22 12:00</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S5 시설 보호 — 근거 없는 문장 미출력(송전선 보호 조치 수량)</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915282199"/>
                  </a:ext>
                </a:extLst>
              </a:tr>
              <a:tr h="301752">
                <a:tc>
                  <a:txBody>
                    <a:bodyPr/>
                    <a:lstStyle/>
                    <a:p>
                      <a:pPr algn="ctr">
                        <a:buNone/>
                      </a:pPr>
                      <a:r>
                        <a:rPr sz="1150" b="0">
                          <a:solidFill>
                            <a:srgbClr val="2E3142"/>
                          </a:solidFill>
                          <a:latin typeface="210 OmniGothic 040"/>
                          <a:ea typeface="210 OmniGothic 040"/>
                          <a:cs typeface="210 OmniGothic 040"/>
                        </a:rPr>
                        <a:t>9</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F-2025-0322-01</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1</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정정</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03-22 12:01</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박곡리 대피 완료</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6"/>
                  </a:ext>
                </a:extLst>
              </a:tr>
              <a:tr h="301752">
                <a:tc>
                  <a:txBody>
                    <a:bodyPr/>
                    <a:lstStyle/>
                    <a:p>
                      <a:pPr algn="ctr">
                        <a:buNone/>
                      </a:pPr>
                      <a:r>
                        <a:rPr sz="1150" b="0">
                          <a:solidFill>
                            <a:srgbClr val="2E3142"/>
                          </a:solidFill>
                          <a:latin typeface="210 OmniGothic 040"/>
                          <a:ea typeface="210 OmniGothic 040"/>
                          <a:cs typeface="210 OmniGothic 040"/>
                        </a:rPr>
                        <a:t>10</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F-2025-0322-01</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1</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제안</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03-22 12:01</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buNone/>
                      </a:pPr>
                      <a:r>
                        <a:rPr sz="1150" b="0">
                          <a:solidFill>
                            <a:srgbClr val="2E3142"/>
                          </a:solidFill>
                          <a:latin typeface="210 OmniGothic 040"/>
                          <a:ea typeface="210 OmniGothic 040"/>
                          <a:cs typeface="210 OmniGothic 040"/>
                        </a:rPr>
                        <a:t>대응 제안 버전 2 생성(상황 정정) · 변경 1건</a:t>
                      </a:r>
                    </a:p>
                  </a:txBody>
                  <a:tcPr marL="57150" marR="57150" marT="20116" marB="2011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7"/>
                  </a:ext>
                </a:extLst>
              </a:tr>
            </a:tbl>
          </a:graphicData>
        </a:graphic>
      </p:graphicFrame>
      <p:sp>
        <p:nvSpPr>
          <p:cNvPr id="5392" name="TextBox 5391">
            <a:extLst>
              <a:ext uri="{FF2B5EF4-FFF2-40B4-BE49-F238E27FC236}">
                <a16:creationId xmlns:a16="http://schemas.microsoft.com/office/drawing/2014/main" id="{C355EF3B-C77D-4F30-9673-13413AAF4A25}"/>
              </a:ext>
            </a:extLst>
          </p:cNvPr>
          <p:cNvSpPr>
            <a:spLocks noGrp="1"/>
          </p:cNvSpPr>
          <p:nvPr/>
        </p:nvSpPr>
        <p:spPr>
          <a:xfrm>
            <a:off x="822960" y="8883396"/>
            <a:ext cx="16459200" cy="301752"/>
          </a:xfrm>
          <a:prstGeom prst="rect">
            <a:avLst/>
          </a:prstGeom>
          <a:noFill/>
        </p:spPr>
        <p:txBody>
          <a:bodyPr wrap="square" lIns="0" tIns="0" rIns="0" bIns="0" anchor="t">
            <a:spAutoFit/>
          </a:bodyPr>
          <a:lstStyle/>
          <a:p>
            <a:pPr algn="l">
              <a:buNone/>
            </a:pPr>
            <a:r>
              <a:rPr sz="1150" b="0">
                <a:solidFill>
                  <a:srgbClr val="7B8094"/>
                </a:solidFill>
                <a:latin typeface="210 OmniGothic 030"/>
                <a:ea typeface="210 OmniGothic 030"/>
                <a:cs typeface="210 OmniGothic 030"/>
              </a:rPr>
              <a:t>※ 좌표·발생 시각·접수 경로·마을 좌표는 실제(보도·OSM·SGIS), 실측 화선·사곡면·점곡면 산불·계정·인구·자원·수용 인원·위험도 요인 점수는 목업과 같은 시연용 가상값입니다.</a:t>
            </a:r>
          </a:p>
        </p:txBody>
      </p:sp>
    </p:spTree>
    <p:extLst>
      <p:ext uri="{BB962C8B-B14F-4D97-AF65-F5344CB8AC3E}">
        <p14:creationId xmlns:p14="http://schemas.microsoft.com/office/powerpoint/2010/main" val="20126113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89" name="Picture 2">
            <a:extLst>
              <a:ext uri="{FF2B5EF4-FFF2-40B4-BE49-F238E27FC236}">
                <a16:creationId xmlns:a16="http://schemas.microsoft.com/office/drawing/2014/main" id="{F116F513-628E-CD59-0365-83BA34700620}"/>
              </a:ext>
            </a:extLst>
          </p:cNvPr>
          <p:cNvSpPr/>
          <p:nvPr/>
        </p:nvSpPr>
        <p:spPr>
          <a:xfrm>
            <a:off x="-12700" y="-12700"/>
            <a:ext cx="18300700" cy="10299700"/>
          </a:xfrm>
          <a:custGeom>
            <a:avLst/>
            <a:gdLst>
              <a:gd name="csX0" fmla="*/ 0 w 18281422"/>
              <a:gd name="csY0" fmla="*/ 10197723 h 10197722"/>
              <a:gd name="csX1" fmla="*/ 0 w 18281422"/>
              <a:gd name="csY1" fmla="*/ 0 h 10197722"/>
              <a:gd name="csX2" fmla="*/ 18281422 w 18281422"/>
              <a:gd name="csY2" fmla="*/ 0 h 10197722"/>
              <a:gd name="csX3" fmla="*/ 18281422 w 18281422"/>
              <a:gd name="csY3" fmla="*/ 10197723 h 10197722"/>
            </a:gdLst>
            <a:ahLst/>
            <a:cxnLst>
              <a:cxn ang="0">
                <a:pos x="csX0" y="csY0"/>
              </a:cxn>
              <a:cxn ang="0">
                <a:pos x="csX1" y="csY1"/>
              </a:cxn>
              <a:cxn ang="0">
                <a:pos x="csX2" y="csY2"/>
              </a:cxn>
              <a:cxn ang="0">
                <a:pos x="csX3" y="csY3"/>
              </a:cxn>
            </a:cxnLst>
            <a:rect l="l" t="t" r="r" b="b"/>
            <a:pathLst>
              <a:path w="18281422" h="10197722">
                <a:moveTo>
                  <a:pt x="0" y="10197723"/>
                </a:moveTo>
                <a:lnTo>
                  <a:pt x="0" y="0"/>
                </a:lnTo>
                <a:lnTo>
                  <a:pt x="18281422" y="0"/>
                </a:lnTo>
                <a:lnTo>
                  <a:pt x="18281422" y="10197723"/>
                </a:lnTo>
                <a:close/>
              </a:path>
            </a:pathLst>
          </a:custGeom>
          <a:solidFill>
            <a:srgbClr val="363A52"/>
          </a:solidFill>
          <a:ln w="16144" cap="flat">
            <a:noFill/>
            <a:prstDash val="solid"/>
            <a:miter/>
          </a:ln>
        </p:spPr>
        <p:txBody>
          <a:bodyPr/>
          <a:lstStyle/>
          <a:p>
            <a:endParaRPr lang="ko-KR" altLang="en-US"/>
          </a:p>
        </p:txBody>
      </p:sp>
      <p:sp>
        <p:nvSpPr>
          <p:cNvPr id="5390" name="TextBox 5389"/>
          <p:cNvSpPr txBox="1"/>
          <p:nvPr/>
        </p:nvSpPr>
        <p:spPr>
          <a:xfrm>
            <a:off x="914400" y="4572000"/>
            <a:ext cx="16459200" cy="1005840"/>
          </a:xfrm>
          <a:prstGeom prst="rect">
            <a:avLst/>
          </a:prstGeom>
          <a:noFill/>
        </p:spPr>
        <p:txBody>
          <a:bodyPr wrap="square" lIns="0" tIns="0" rIns="0" bIns="0" anchor="ctr">
            <a:spAutoFit/>
          </a:bodyPr>
          <a:lstStyle/>
          <a:p>
            <a:pPr algn="ctr"/>
            <a:r>
              <a:rPr sz="4800" b="0">
                <a:solidFill>
                  <a:srgbClr val="FAA95A"/>
                </a:solidFill>
                <a:latin typeface="210 OmniGothic 050"/>
                <a:ea typeface="210 OmniGothic 050"/>
                <a:cs typeface="210 OmniGothic 050"/>
              </a:rPr>
              <a:t>07. 비기능 요구사항</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sz="quarter" idx="12"/>
          </p:nvPr>
        </p:nvSpPr>
        <p:spPr/>
        <p:txBody>
          <a:bodyPr/>
          <a:lstStyle/>
          <a:p>
            <a:fld id="{B6F15528-21DE-4FAA-801E-634DDDAF4B2B}" type="slidenum">
              <a:rPr lang="en-US" smtClean="0"/>
              <a:pPr/>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91"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700" y="-12700"/>
            <a:ext cx="18313400" cy="1638300"/>
          </a:xfrm>
          <a:prstGeom prst="rect">
            <a:avLst/>
          </a:prstGeom>
        </p:spPr>
      </p:pic>
      <p:pic>
        <p:nvPicPr>
          <p:cNvPr id="5392"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28" y="1618343"/>
            <a:ext cx="18313400" cy="8699500"/>
          </a:xfrm>
          <a:prstGeom prst="rect">
            <a:avLst/>
          </a:prstGeom>
        </p:spPr>
      </p:pic>
      <p:pic>
        <p:nvPicPr>
          <p:cNvPr id="5393"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58800" y="9271000"/>
            <a:ext cx="17170400" cy="50800"/>
          </a:xfrm>
          <a:prstGeom prst="rect">
            <a:avLst/>
          </a:prstGeom>
        </p:spPr>
      </p:pic>
      <p:pic>
        <p:nvPicPr>
          <p:cNvPr id="5394" name="Picture 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278100" y="203200"/>
            <a:ext cx="1676400" cy="1409700"/>
          </a:xfrm>
          <a:prstGeom prst="rect">
            <a:avLst/>
          </a:prstGeom>
        </p:spPr>
      </p:pic>
      <p:sp>
        <p:nvSpPr>
          <p:cNvPr id="5395" name="Title"/>
          <p:cNvSpPr txBox="1"/>
          <p:nvPr/>
        </p:nvSpPr>
        <p:spPr>
          <a:xfrm>
            <a:off x="822960" y="384048"/>
            <a:ext cx="13258800" cy="877824"/>
          </a:xfrm>
          <a:prstGeom prst="rect">
            <a:avLst/>
          </a:prstGeom>
          <a:noFill/>
        </p:spPr>
        <p:txBody>
          <a:bodyPr wrap="square" lIns="0" tIns="0" rIns="0" bIns="0" anchor="ctr">
            <a:spAutoFit/>
          </a:bodyPr>
          <a:lstStyle/>
          <a:p>
            <a:pPr algn="l"/>
            <a:r>
              <a:rPr sz="4400" b="0">
                <a:solidFill>
                  <a:srgbClr val="FAA95A"/>
                </a:solidFill>
                <a:latin typeface="210 OmniGothic 050"/>
                <a:ea typeface="210 OmniGothic 050"/>
                <a:cs typeface="210 OmniGothic 050"/>
              </a:rPr>
              <a:t>07. 비기능 요구사항</a:t>
            </a:r>
          </a:p>
        </p:txBody>
      </p:sp>
      <p:sp>
        <p:nvSpPr>
          <p:cNvPr id="5396" name="Subtitle"/>
          <p:cNvSpPr txBox="1"/>
          <p:nvPr/>
        </p:nvSpPr>
        <p:spPr>
          <a:xfrm>
            <a:off x="822960" y="1764792"/>
            <a:ext cx="16642080" cy="502920"/>
          </a:xfrm>
          <a:prstGeom prst="rect">
            <a:avLst/>
          </a:prstGeom>
          <a:noFill/>
        </p:spPr>
        <p:txBody>
          <a:bodyPr wrap="square" lIns="0" tIns="0" rIns="0" bIns="0" anchor="ctr">
            <a:spAutoFit/>
          </a:bodyPr>
          <a:lstStyle/>
          <a:p>
            <a:pPr algn="ctr"/>
            <a:r>
              <a:rPr sz="2600" b="1">
                <a:solidFill>
                  <a:srgbClr val="363A52"/>
                </a:solidFill>
                <a:latin typeface="210 OmniGothic 040"/>
                <a:ea typeface="210 OmniGothic 040"/>
                <a:cs typeface="210 OmniGothic 040"/>
              </a:rPr>
              <a:t>요구사항 목록</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sz="quarter" idx="12"/>
          </p:nvPr>
        </p:nvSpPr>
        <p:spPr/>
        <p:txBody>
          <a:bodyPr/>
          <a:lstStyle/>
          <a:p>
            <a:fld id="{B6F15528-21DE-4FAA-801E-634DDDAF4B2B}" type="slidenum">
              <a:rPr lang="en-US" smtClean="0"/>
              <a:pPr/>
              <a:t>79</a:t>
            </a:fld>
            <a:endParaRPr lang="en-US"/>
          </a:p>
        </p:txBody>
      </p:sp>
      <p:graphicFrame>
        <p:nvGraphicFramePr>
          <p:cNvPr id="5397" name="Table 5396"/>
          <p:cNvGraphicFramePr>
            <a:graphicFrameLocks noGrp="1"/>
          </p:cNvGraphicFramePr>
          <p:nvPr/>
        </p:nvGraphicFramePr>
        <p:xfrm>
          <a:off x="822960" y="2395728"/>
          <a:ext cx="8058150" cy="4023357"/>
        </p:xfrm>
        <a:graphic>
          <a:graphicData uri="http://schemas.openxmlformats.org/drawingml/2006/table">
            <a:tbl>
              <a:tblPr>
                <a:tableStyleId>{2D5ABB26-0587-4C30-8999-92F81FD0307C}</a:tableStyleId>
              </a:tblPr>
              <a:tblGrid>
                <a:gridCol w="200025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4686300">
                  <a:extLst>
                    <a:ext uri="{9D8B030D-6E8A-4147-A177-3AD203B41FA5}">
                      <a16:colId xmlns:a16="http://schemas.microsoft.com/office/drawing/2014/main" val="20002"/>
                    </a:ext>
                  </a:extLst>
                </a:gridCol>
              </a:tblGrid>
              <a:tr h="341985">
                <a:tc>
                  <a:txBody>
                    <a:bodyPr/>
                    <a:lstStyle/>
                    <a:p>
                      <a:pPr algn="ctr"/>
                      <a:r>
                        <a:rPr sz="1200" b="1">
                          <a:solidFill>
                            <a:srgbClr val="FFFFFF"/>
                          </a:solidFill>
                          <a:latin typeface="210 OmniGothic 040"/>
                          <a:ea typeface="210 OmniGothic 040"/>
                          <a:cs typeface="210 OmniGothic 040"/>
                        </a:rPr>
                        <a:t>구분</a:t>
                      </a:r>
                    </a:p>
                  </a:txBody>
                  <a:tcPr marT="40233" marB="40233" anchor="ctr">
                    <a:lnL w="9525">
                      <a:solidFill>
                        <a:srgbClr val="FFFFFF"/>
                      </a:solidFill>
                    </a:lnL>
                    <a:lnR w="9525">
                      <a:solidFill>
                        <a:srgbClr val="FFFFFF"/>
                      </a:solidFill>
                    </a:lnR>
                    <a:lnT w="9525">
                      <a:solidFill>
                        <a:srgbClr val="FFFFFF"/>
                      </a:solidFill>
                    </a:lnT>
                    <a:lnB w="9525">
                      <a:solidFill>
                        <a:srgbClr val="FFFFFF"/>
                      </a:solidFill>
                    </a:lnB>
                    <a:solidFill>
                      <a:srgbClr val="363A52"/>
                    </a:solidFill>
                  </a:tcPr>
                </a:tc>
                <a:tc>
                  <a:txBody>
                    <a:bodyPr/>
                    <a:lstStyle/>
                    <a:p>
                      <a:pPr algn="ctr"/>
                      <a:r>
                        <a:rPr sz="1200" b="1">
                          <a:solidFill>
                            <a:srgbClr val="FFFFFF"/>
                          </a:solidFill>
                          <a:latin typeface="210 OmniGothic 040"/>
                          <a:ea typeface="210 OmniGothic 040"/>
                          <a:cs typeface="210 OmniGothic 040"/>
                        </a:rPr>
                        <a:t>고유번호</a:t>
                      </a:r>
                    </a:p>
                  </a:txBody>
                  <a:tcPr marT="40233" marB="40233" anchor="ctr">
                    <a:lnL w="9525">
                      <a:solidFill>
                        <a:srgbClr val="FFFFFF"/>
                      </a:solidFill>
                    </a:lnL>
                    <a:lnR w="9525">
                      <a:solidFill>
                        <a:srgbClr val="FFFFFF"/>
                      </a:solidFill>
                    </a:lnR>
                    <a:lnT w="9525">
                      <a:solidFill>
                        <a:srgbClr val="FFFFFF"/>
                      </a:solidFill>
                    </a:lnT>
                    <a:lnB w="9525">
                      <a:solidFill>
                        <a:srgbClr val="FFFFFF"/>
                      </a:solidFill>
                    </a:lnB>
                    <a:solidFill>
                      <a:srgbClr val="363A52"/>
                    </a:solidFill>
                  </a:tcPr>
                </a:tc>
                <a:tc>
                  <a:txBody>
                    <a:bodyPr/>
                    <a:lstStyle/>
                    <a:p>
                      <a:pPr algn="ctr"/>
                      <a:r>
                        <a:rPr sz="1200" b="1">
                          <a:solidFill>
                            <a:srgbClr val="FFFFFF"/>
                          </a:solidFill>
                          <a:latin typeface="210 OmniGothic 040"/>
                          <a:ea typeface="210 OmniGothic 040"/>
                          <a:cs typeface="210 OmniGothic 040"/>
                        </a:rPr>
                        <a:t>명칭</a:t>
                      </a:r>
                    </a:p>
                  </a:txBody>
                  <a:tcPr marT="40233" marB="40233" anchor="ctr">
                    <a:lnL w="9525">
                      <a:solidFill>
                        <a:srgbClr val="FFFFFF"/>
                      </a:solidFill>
                    </a:lnL>
                    <a:lnR w="9525">
                      <a:solidFill>
                        <a:srgbClr val="FFFFFF"/>
                      </a:solidFill>
                    </a:lnR>
                    <a:lnT w="9525">
                      <a:solidFill>
                        <a:srgbClr val="FFFFFF"/>
                      </a:solidFill>
                    </a:lnT>
                    <a:lnB w="9525">
                      <a:solidFill>
                        <a:srgbClr val="FFFFFF"/>
                      </a:solidFill>
                    </a:lnB>
                    <a:solidFill>
                      <a:srgbClr val="363A52"/>
                    </a:solidFill>
                  </a:tcPr>
                </a:tc>
                <a:extLst>
                  <a:ext uri="{0D108BD9-81ED-4DB2-BD59-A6C34878D82A}">
                    <a16:rowId xmlns:a16="http://schemas.microsoft.com/office/drawing/2014/main" val="10000"/>
                  </a:ext>
                </a:extLst>
              </a:tr>
              <a:tr h="306781">
                <a:tc rowSpan="3">
                  <a:txBody>
                    <a:bodyPr/>
                    <a:lstStyle/>
                    <a:p>
                      <a:pPr algn="ctr"/>
                      <a:r>
                        <a:rPr sz="1150" b="1">
                          <a:solidFill>
                            <a:srgbClr val="2E3142"/>
                          </a:solidFill>
                          <a:latin typeface="210 OmniGothic 040"/>
                          <a:ea typeface="210 OmniGothic 040"/>
                          <a:cs typeface="210 OmniGothic 040"/>
                        </a:rPr>
                        <a:t>인터페이스
요구사항</a:t>
                      </a:r>
                    </a:p>
                  </a:txBody>
                  <a:tcPr marT="40233" marB="40233" anchor="ctr">
                    <a:lnL w="9525">
                      <a:solidFill>
                        <a:srgbClr val="C3C8D4"/>
                      </a:solidFill>
                    </a:lnL>
                    <a:lnR w="9525">
                      <a:solidFill>
                        <a:srgbClr val="C3C8D4"/>
                      </a:solidFill>
                    </a:lnR>
                    <a:lnT w="9525" cap="flat" cmpd="sng" algn="ctr">
                      <a:solidFill>
                        <a:srgbClr val="FFFFFF"/>
                      </a:solidFill>
                      <a:prstDash val="solid"/>
                      <a:round/>
                      <a:headEnd type="none" w="med" len="med"/>
                      <a:tailEnd type="none" w="med" len="med"/>
                    </a:lnT>
                    <a:lnB w="9525">
                      <a:solidFill>
                        <a:srgbClr val="C3C8D4"/>
                      </a:solidFill>
                    </a:lnB>
                    <a:solidFill>
                      <a:srgbClr val="FEF5EE"/>
                    </a:solidFill>
                  </a:tcPr>
                </a:tc>
                <a:tc>
                  <a:txBody>
                    <a:bodyPr/>
                    <a:lstStyle/>
                    <a:p>
                      <a:pPr algn="ctr"/>
                      <a:r>
                        <a:rPr sz="1150" b="0">
                          <a:solidFill>
                            <a:srgbClr val="2E3142"/>
                          </a:solidFill>
                          <a:latin typeface="210 OmniGothic 040"/>
                          <a:ea typeface="210 OmniGothic 040"/>
                          <a:cs typeface="210 OmniGothic 040"/>
                        </a:rPr>
                        <a:t>INR-001</a:t>
                      </a:r>
                    </a:p>
                  </a:txBody>
                  <a:tcPr marT="40233" marB="40233" anchor="ctr">
                    <a:lnL w="9525">
                      <a:solidFill>
                        <a:srgbClr val="C3C8D4"/>
                      </a:solidFill>
                    </a:lnL>
                    <a:lnR w="9525">
                      <a:solidFill>
                        <a:srgbClr val="C3C8D4"/>
                      </a:solidFill>
                    </a:lnR>
                    <a:lnT w="9525" cap="flat" cmpd="sng" algn="ctr">
                      <a:solidFill>
                        <a:srgbClr val="FFFFFF"/>
                      </a:solidFill>
                      <a:prstDash val="solid"/>
                      <a:round/>
                      <a:headEnd type="none" w="med" len="med"/>
                      <a:tailEnd type="none" w="med" len="med"/>
                    </a:lnT>
                    <a:lnB w="9525">
                      <a:solidFill>
                        <a:srgbClr val="C3C8D4"/>
                      </a:solidFill>
                    </a:lnB>
                    <a:solidFill>
                      <a:srgbClr val="FFFFFF"/>
                    </a:solidFill>
                  </a:tcPr>
                </a:tc>
                <a:tc>
                  <a:txBody>
                    <a:bodyPr/>
                    <a:lstStyle/>
                    <a:p>
                      <a:pPr algn="ctr"/>
                      <a:r>
                        <a:rPr sz="1150" b="0">
                          <a:solidFill>
                            <a:srgbClr val="2E3142"/>
                          </a:solidFill>
                          <a:latin typeface="210 OmniGothic 040"/>
                          <a:ea typeface="210 OmniGothic 040"/>
                          <a:cs typeface="210 OmniGothic 040"/>
                        </a:rPr>
                        <a:t>UI/UX 화면 설계</a:t>
                      </a:r>
                    </a:p>
                  </a:txBody>
                  <a:tcPr marT="40233" marB="40233" anchor="ctr">
                    <a:lnL w="9525">
                      <a:solidFill>
                        <a:srgbClr val="C3C8D4"/>
                      </a:solidFill>
                    </a:lnL>
                    <a:lnR w="9525">
                      <a:solidFill>
                        <a:srgbClr val="C3C8D4"/>
                      </a:solidFill>
                    </a:lnR>
                    <a:lnT w="9525" cap="flat" cmpd="sng" algn="ctr">
                      <a:solidFill>
                        <a:srgbClr val="FFFFFF"/>
                      </a:solidFill>
                      <a:prstDash val="solid"/>
                      <a:round/>
                      <a:headEnd type="none" w="med" len="med"/>
                      <a:tailEnd type="none" w="med" len="med"/>
                    </a:lnT>
                    <a:lnB w="9525">
                      <a:solidFill>
                        <a:srgbClr val="C3C8D4"/>
                      </a:solidFill>
                    </a:lnB>
                    <a:solidFill>
                      <a:srgbClr val="FFFFFF"/>
                    </a:solidFill>
                  </a:tcPr>
                </a:tc>
                <a:extLst>
                  <a:ext uri="{0D108BD9-81ED-4DB2-BD59-A6C34878D82A}">
                    <a16:rowId xmlns:a16="http://schemas.microsoft.com/office/drawing/2014/main" val="10001"/>
                  </a:ext>
                </a:extLst>
              </a:tr>
              <a:tr h="306781">
                <a:tc vMerge="1">
                  <a:txBody>
                    <a:bodyPr/>
                    <a:lstStyle/>
                    <a:p>
                      <a:endParaRPr/>
                    </a:p>
                  </a:txBody>
                  <a:tcPr/>
                </a:tc>
                <a:tc>
                  <a:txBody>
                    <a:bodyPr/>
                    <a:lstStyle/>
                    <a:p>
                      <a:pPr algn="ctr"/>
                      <a:r>
                        <a:rPr sz="1150" b="0">
                          <a:solidFill>
                            <a:srgbClr val="2E3142"/>
                          </a:solidFill>
                          <a:latin typeface="210 OmniGothic 040"/>
                          <a:ea typeface="210 OmniGothic 040"/>
                          <a:cs typeface="210 OmniGothic 040"/>
                        </a:rPr>
                        <a:t>INR-002</a:t>
                      </a:r>
                    </a:p>
                  </a:txBody>
                  <a:tcPr marT="40233" marB="40233" anchor="ctr">
                    <a:lnL w="9525">
                      <a:solidFill>
                        <a:srgbClr val="C3C8D4"/>
                      </a:solidFill>
                    </a:lnL>
                    <a:lnR w="9525">
                      <a:solidFill>
                        <a:srgbClr val="C3C8D4"/>
                      </a:solidFill>
                    </a:lnR>
                    <a:lnT w="9525">
                      <a:solidFill>
                        <a:srgbClr val="C3C8D4"/>
                      </a:solidFill>
                    </a:lnT>
                    <a:lnB w="9525">
                      <a:solidFill>
                        <a:srgbClr val="C3C8D4"/>
                      </a:solidFill>
                    </a:lnB>
                    <a:solidFill>
                      <a:srgbClr val="FFFFFF"/>
                    </a:solidFill>
                  </a:tcPr>
                </a:tc>
                <a:tc>
                  <a:txBody>
                    <a:bodyPr/>
                    <a:lstStyle/>
                    <a:p>
                      <a:pPr algn="ctr"/>
                      <a:r>
                        <a:rPr sz="1150" b="0">
                          <a:solidFill>
                            <a:srgbClr val="2E3142"/>
                          </a:solidFill>
                          <a:latin typeface="210 OmniGothic 040"/>
                          <a:ea typeface="210 OmniGothic 040"/>
                          <a:cs typeface="210 OmniGothic 040"/>
                        </a:rPr>
                        <a:t>외부 시스템 인터페이스 정의</a:t>
                      </a:r>
                    </a:p>
                  </a:txBody>
                  <a:tcPr marT="40233" marB="40233" anchor="ctr">
                    <a:lnL w="9525">
                      <a:solidFill>
                        <a:srgbClr val="C3C8D4"/>
                      </a:solidFill>
                    </a:lnL>
                    <a:lnR w="9525">
                      <a:solidFill>
                        <a:srgbClr val="C3C8D4"/>
                      </a:solidFill>
                    </a:lnR>
                    <a:lnT w="9525">
                      <a:solidFill>
                        <a:srgbClr val="C3C8D4"/>
                      </a:solidFill>
                    </a:lnT>
                    <a:lnB w="9525">
                      <a:solidFill>
                        <a:srgbClr val="C3C8D4"/>
                      </a:solidFill>
                    </a:lnB>
                    <a:solidFill>
                      <a:srgbClr val="FFFFFF"/>
                    </a:solidFill>
                  </a:tcPr>
                </a:tc>
                <a:extLst>
                  <a:ext uri="{0D108BD9-81ED-4DB2-BD59-A6C34878D82A}">
                    <a16:rowId xmlns:a16="http://schemas.microsoft.com/office/drawing/2014/main" val="10002"/>
                  </a:ext>
                </a:extLst>
              </a:tr>
              <a:tr h="306781">
                <a:tc vMerge="1">
                  <a:txBody>
                    <a:bodyPr/>
                    <a:lstStyle/>
                    <a:p>
                      <a:endParaRPr/>
                    </a:p>
                  </a:txBody>
                  <a:tcPr/>
                </a:tc>
                <a:tc>
                  <a:txBody>
                    <a:bodyPr/>
                    <a:lstStyle/>
                    <a:p>
                      <a:pPr algn="ctr"/>
                      <a:r>
                        <a:rPr sz="1150" b="0">
                          <a:solidFill>
                            <a:srgbClr val="2E3142"/>
                          </a:solidFill>
                          <a:latin typeface="210 OmniGothic 040"/>
                          <a:ea typeface="210 OmniGothic 040"/>
                          <a:cs typeface="210 OmniGothic 040"/>
                        </a:rPr>
                        <a:t>INR-003</a:t>
                      </a:r>
                    </a:p>
                  </a:txBody>
                  <a:tcPr marT="40233" marB="40233" anchor="ctr">
                    <a:lnL w="9525">
                      <a:solidFill>
                        <a:srgbClr val="C3C8D4"/>
                      </a:solidFill>
                    </a:lnL>
                    <a:lnR w="9525">
                      <a:solidFill>
                        <a:srgbClr val="C3C8D4"/>
                      </a:solidFill>
                    </a:lnR>
                    <a:lnT w="9525">
                      <a:solidFill>
                        <a:srgbClr val="C3C8D4"/>
                      </a:solidFill>
                    </a:lnT>
                    <a:lnB w="9525">
                      <a:solidFill>
                        <a:srgbClr val="C3C8D4"/>
                      </a:solidFill>
                    </a:lnB>
                    <a:solidFill>
                      <a:srgbClr val="FFFFFF"/>
                    </a:solidFill>
                  </a:tcPr>
                </a:tc>
                <a:tc>
                  <a:txBody>
                    <a:bodyPr/>
                    <a:lstStyle/>
                    <a:p>
                      <a:pPr algn="ctr"/>
                      <a:r>
                        <a:rPr sz="1150" b="0">
                          <a:solidFill>
                            <a:srgbClr val="2E3142"/>
                          </a:solidFill>
                          <a:latin typeface="210 OmniGothic 040"/>
                          <a:ea typeface="210 OmniGothic 040"/>
                          <a:cs typeface="210 OmniGothic 040"/>
                        </a:rPr>
                        <a:t>사용자 단말 환경</a:t>
                      </a:r>
                    </a:p>
                  </a:txBody>
                  <a:tcPr marT="40233" marB="40233" anchor="ctr">
                    <a:lnL w="9525">
                      <a:solidFill>
                        <a:srgbClr val="C3C8D4"/>
                      </a:solidFill>
                    </a:lnL>
                    <a:lnR w="9525">
                      <a:solidFill>
                        <a:srgbClr val="C3C8D4"/>
                      </a:solidFill>
                    </a:lnR>
                    <a:lnT w="9525">
                      <a:solidFill>
                        <a:srgbClr val="C3C8D4"/>
                      </a:solidFill>
                    </a:lnT>
                    <a:lnB w="9525">
                      <a:solidFill>
                        <a:srgbClr val="C3C8D4"/>
                      </a:solidFill>
                    </a:lnB>
                    <a:solidFill>
                      <a:srgbClr val="FFFFFF"/>
                    </a:solidFill>
                  </a:tcPr>
                </a:tc>
                <a:extLst>
                  <a:ext uri="{0D108BD9-81ED-4DB2-BD59-A6C34878D82A}">
                    <a16:rowId xmlns:a16="http://schemas.microsoft.com/office/drawing/2014/main" val="10003"/>
                  </a:ext>
                </a:extLst>
              </a:tr>
              <a:tr h="306781">
                <a:tc rowSpan="3">
                  <a:txBody>
                    <a:bodyPr/>
                    <a:lstStyle/>
                    <a:p>
                      <a:pPr algn="ctr"/>
                      <a:r>
                        <a:rPr sz="1150" b="1">
                          <a:solidFill>
                            <a:srgbClr val="2E3142"/>
                          </a:solidFill>
                          <a:latin typeface="210 OmniGothic 040"/>
                          <a:ea typeface="210 OmniGothic 040"/>
                          <a:cs typeface="210 OmniGothic 040"/>
                        </a:rPr>
                        <a:t>시스템 장비
요구사항</a:t>
                      </a:r>
                    </a:p>
                  </a:txBody>
                  <a:tcPr marT="40233" marB="40233" anchor="ctr">
                    <a:lnL w="9525">
                      <a:solidFill>
                        <a:srgbClr val="C3C8D4"/>
                      </a:solidFill>
                    </a:lnL>
                    <a:lnR w="9525">
                      <a:solidFill>
                        <a:srgbClr val="C3C8D4"/>
                      </a:solidFill>
                    </a:lnR>
                    <a:lnT w="9525">
                      <a:solidFill>
                        <a:srgbClr val="C3C8D4"/>
                      </a:solidFill>
                    </a:lnT>
                    <a:lnB w="9525">
                      <a:solidFill>
                        <a:srgbClr val="C3C8D4"/>
                      </a:solidFill>
                    </a:lnB>
                    <a:solidFill>
                      <a:srgbClr val="FEF5EE"/>
                    </a:solidFill>
                  </a:tcPr>
                </a:tc>
                <a:tc>
                  <a:txBody>
                    <a:bodyPr/>
                    <a:lstStyle/>
                    <a:p>
                      <a:pPr algn="ctr"/>
                      <a:r>
                        <a:rPr sz="1150" b="0">
                          <a:solidFill>
                            <a:srgbClr val="2E3142"/>
                          </a:solidFill>
                          <a:latin typeface="210 OmniGothic 040"/>
                          <a:ea typeface="210 OmniGothic 040"/>
                          <a:cs typeface="210 OmniGothic 040"/>
                        </a:rPr>
                        <a:t>ECR-001</a:t>
                      </a:r>
                    </a:p>
                  </a:txBody>
                  <a:tcPr marT="40233" marB="40233" anchor="ctr">
                    <a:lnL w="9525">
                      <a:solidFill>
                        <a:srgbClr val="C3C8D4"/>
                      </a:solidFill>
                    </a:lnL>
                    <a:lnR w="9525">
                      <a:solidFill>
                        <a:srgbClr val="C3C8D4"/>
                      </a:solidFill>
                    </a:lnR>
                    <a:lnT w="9525">
                      <a:solidFill>
                        <a:srgbClr val="C3C8D4"/>
                      </a:solidFill>
                    </a:lnT>
                    <a:lnB w="9525">
                      <a:solidFill>
                        <a:srgbClr val="C3C8D4"/>
                      </a:solidFill>
                    </a:lnB>
                    <a:solidFill>
                      <a:srgbClr val="FFFFFF"/>
                    </a:solidFill>
                  </a:tcPr>
                </a:tc>
                <a:tc>
                  <a:txBody>
                    <a:bodyPr/>
                    <a:lstStyle/>
                    <a:p>
                      <a:pPr algn="ctr"/>
                      <a:r>
                        <a:rPr sz="1150" b="0">
                          <a:solidFill>
                            <a:srgbClr val="2E3142"/>
                          </a:solidFill>
                          <a:latin typeface="210 OmniGothic 040"/>
                          <a:ea typeface="210 OmniGothic 040"/>
                          <a:cs typeface="210 OmniGothic 040"/>
                        </a:rPr>
                        <a:t>GPU 서버: 예측·AI 추론</a:t>
                      </a:r>
                    </a:p>
                  </a:txBody>
                  <a:tcPr marT="40233" marB="40233" anchor="ctr">
                    <a:lnL w="9525">
                      <a:solidFill>
                        <a:srgbClr val="C3C8D4"/>
                      </a:solidFill>
                    </a:lnL>
                    <a:lnR w="9525">
                      <a:solidFill>
                        <a:srgbClr val="C3C8D4"/>
                      </a:solidFill>
                    </a:lnR>
                    <a:lnT w="9525">
                      <a:solidFill>
                        <a:srgbClr val="C3C8D4"/>
                      </a:solidFill>
                    </a:lnT>
                    <a:lnB w="9525">
                      <a:solidFill>
                        <a:srgbClr val="C3C8D4"/>
                      </a:solidFill>
                    </a:lnB>
                    <a:solidFill>
                      <a:srgbClr val="FFFFFF"/>
                    </a:solidFill>
                  </a:tcPr>
                </a:tc>
                <a:extLst>
                  <a:ext uri="{0D108BD9-81ED-4DB2-BD59-A6C34878D82A}">
                    <a16:rowId xmlns:a16="http://schemas.microsoft.com/office/drawing/2014/main" val="10004"/>
                  </a:ext>
                </a:extLst>
              </a:tr>
              <a:tr h="306781">
                <a:tc vMerge="1">
                  <a:txBody>
                    <a:bodyPr/>
                    <a:lstStyle/>
                    <a:p>
                      <a:endParaRPr/>
                    </a:p>
                  </a:txBody>
                  <a:tcPr/>
                </a:tc>
                <a:tc>
                  <a:txBody>
                    <a:bodyPr/>
                    <a:lstStyle/>
                    <a:p>
                      <a:pPr algn="ctr"/>
                      <a:r>
                        <a:rPr sz="1150" b="0">
                          <a:solidFill>
                            <a:srgbClr val="2E3142"/>
                          </a:solidFill>
                          <a:latin typeface="210 OmniGothic 040"/>
                          <a:ea typeface="210 OmniGothic 040"/>
                          <a:cs typeface="210 OmniGothic 040"/>
                        </a:rPr>
                        <a:t>ECR-002</a:t>
                      </a:r>
                    </a:p>
                  </a:txBody>
                  <a:tcPr marT="40233" marB="40233" anchor="ctr">
                    <a:lnL w="9525">
                      <a:solidFill>
                        <a:srgbClr val="C3C8D4"/>
                      </a:solidFill>
                    </a:lnL>
                    <a:lnR w="9525">
                      <a:solidFill>
                        <a:srgbClr val="C3C8D4"/>
                      </a:solidFill>
                    </a:lnR>
                    <a:lnT w="9525">
                      <a:solidFill>
                        <a:srgbClr val="C3C8D4"/>
                      </a:solidFill>
                    </a:lnT>
                    <a:lnB w="9525">
                      <a:solidFill>
                        <a:srgbClr val="C3C8D4"/>
                      </a:solidFill>
                    </a:lnB>
                    <a:solidFill>
                      <a:srgbClr val="FFFFFF"/>
                    </a:solidFill>
                  </a:tcPr>
                </a:tc>
                <a:tc>
                  <a:txBody>
                    <a:bodyPr/>
                    <a:lstStyle/>
                    <a:p>
                      <a:pPr algn="ctr"/>
                      <a:r>
                        <a:rPr sz="1150" b="0">
                          <a:solidFill>
                            <a:srgbClr val="2E3142"/>
                          </a:solidFill>
                          <a:latin typeface="210 OmniGothic 040"/>
                          <a:ea typeface="210 OmniGothic 040"/>
                          <a:cs typeface="210 OmniGothic 040"/>
                        </a:rPr>
                        <a:t>서비스 서버</a:t>
                      </a:r>
                    </a:p>
                  </a:txBody>
                  <a:tcPr marT="40233" marB="40233" anchor="ctr">
                    <a:lnL w="9525">
                      <a:solidFill>
                        <a:srgbClr val="C3C8D4"/>
                      </a:solidFill>
                    </a:lnL>
                    <a:lnR w="9525">
                      <a:solidFill>
                        <a:srgbClr val="C3C8D4"/>
                      </a:solidFill>
                    </a:lnR>
                    <a:lnT w="9525">
                      <a:solidFill>
                        <a:srgbClr val="C3C8D4"/>
                      </a:solidFill>
                    </a:lnT>
                    <a:lnB w="9525">
                      <a:solidFill>
                        <a:srgbClr val="C3C8D4"/>
                      </a:solidFill>
                    </a:lnB>
                    <a:solidFill>
                      <a:srgbClr val="FFFFFF"/>
                    </a:solidFill>
                  </a:tcPr>
                </a:tc>
                <a:extLst>
                  <a:ext uri="{0D108BD9-81ED-4DB2-BD59-A6C34878D82A}">
                    <a16:rowId xmlns:a16="http://schemas.microsoft.com/office/drawing/2014/main" val="10005"/>
                  </a:ext>
                </a:extLst>
              </a:tr>
              <a:tr h="306781">
                <a:tc vMerge="1">
                  <a:txBody>
                    <a:bodyPr/>
                    <a:lstStyle/>
                    <a:p>
                      <a:endParaRPr/>
                    </a:p>
                  </a:txBody>
                  <a:tcPr/>
                </a:tc>
                <a:tc>
                  <a:txBody>
                    <a:bodyPr/>
                    <a:lstStyle/>
                    <a:p>
                      <a:pPr algn="ctr"/>
                      <a:r>
                        <a:rPr sz="1150" b="0">
                          <a:solidFill>
                            <a:srgbClr val="2E3142"/>
                          </a:solidFill>
                          <a:latin typeface="210 OmniGothic 040"/>
                          <a:ea typeface="210 OmniGothic 040"/>
                          <a:cs typeface="210 OmniGothic 040"/>
                        </a:rPr>
                        <a:t>ECR-003</a:t>
                      </a:r>
                    </a:p>
                  </a:txBody>
                  <a:tcPr marT="40233" marB="40233" anchor="ctr">
                    <a:lnL w="9525">
                      <a:solidFill>
                        <a:srgbClr val="C3C8D4"/>
                      </a:solidFill>
                    </a:lnL>
                    <a:lnR w="9525">
                      <a:solidFill>
                        <a:srgbClr val="C3C8D4"/>
                      </a:solidFill>
                    </a:lnR>
                    <a:lnT w="9525">
                      <a:solidFill>
                        <a:srgbClr val="C3C8D4"/>
                      </a:solidFill>
                    </a:lnT>
                    <a:lnB w="9525">
                      <a:solidFill>
                        <a:srgbClr val="C3C8D4"/>
                      </a:solidFill>
                    </a:lnB>
                    <a:solidFill>
                      <a:srgbClr val="FFFFFF"/>
                    </a:solidFill>
                  </a:tcPr>
                </a:tc>
                <a:tc>
                  <a:txBody>
                    <a:bodyPr/>
                    <a:lstStyle/>
                    <a:p>
                      <a:pPr algn="ctr"/>
                      <a:r>
                        <a:rPr sz="1150" b="0">
                          <a:solidFill>
                            <a:srgbClr val="2E3142"/>
                          </a:solidFill>
                          <a:latin typeface="210 OmniGothic 040"/>
                          <a:ea typeface="210 OmniGothic 040"/>
                          <a:cs typeface="210 OmniGothic 040"/>
                        </a:rPr>
                        <a:t>데이터베이스</a:t>
                      </a:r>
                    </a:p>
                  </a:txBody>
                  <a:tcPr marT="40233" marB="40233" anchor="ctr">
                    <a:lnL w="9525">
                      <a:solidFill>
                        <a:srgbClr val="C3C8D4"/>
                      </a:solidFill>
                    </a:lnL>
                    <a:lnR w="9525">
                      <a:solidFill>
                        <a:srgbClr val="C3C8D4"/>
                      </a:solidFill>
                    </a:lnR>
                    <a:lnT w="9525">
                      <a:solidFill>
                        <a:srgbClr val="C3C8D4"/>
                      </a:solidFill>
                    </a:lnT>
                    <a:lnB w="9525">
                      <a:solidFill>
                        <a:srgbClr val="C3C8D4"/>
                      </a:solidFill>
                    </a:lnB>
                    <a:solidFill>
                      <a:srgbClr val="FFFFFF"/>
                    </a:solidFill>
                  </a:tcPr>
                </a:tc>
                <a:extLst>
                  <a:ext uri="{0D108BD9-81ED-4DB2-BD59-A6C34878D82A}">
                    <a16:rowId xmlns:a16="http://schemas.microsoft.com/office/drawing/2014/main" val="10006"/>
                  </a:ext>
                </a:extLst>
              </a:tr>
              <a:tr h="306781">
                <a:tc rowSpan="3">
                  <a:txBody>
                    <a:bodyPr/>
                    <a:lstStyle/>
                    <a:p>
                      <a:pPr algn="ctr"/>
                      <a:r>
                        <a:rPr sz="1150" b="1">
                          <a:solidFill>
                            <a:srgbClr val="2E3142"/>
                          </a:solidFill>
                          <a:latin typeface="210 OmniGothic 040"/>
                          <a:ea typeface="210 OmniGothic 040"/>
                          <a:cs typeface="210 OmniGothic 040"/>
                        </a:rPr>
                        <a:t>성능
요구사항</a:t>
                      </a:r>
                    </a:p>
                  </a:txBody>
                  <a:tcPr marT="40233" marB="40233" anchor="ctr">
                    <a:lnL w="9525">
                      <a:solidFill>
                        <a:srgbClr val="C3C8D4"/>
                      </a:solidFill>
                    </a:lnL>
                    <a:lnR w="9525">
                      <a:solidFill>
                        <a:srgbClr val="C3C8D4"/>
                      </a:solidFill>
                    </a:lnR>
                    <a:lnT w="9525">
                      <a:solidFill>
                        <a:srgbClr val="C3C8D4"/>
                      </a:solidFill>
                    </a:lnT>
                    <a:lnB w="9525">
                      <a:solidFill>
                        <a:srgbClr val="C3C8D4"/>
                      </a:solidFill>
                    </a:lnB>
                    <a:solidFill>
                      <a:srgbClr val="FEF5EE"/>
                    </a:solidFill>
                  </a:tcPr>
                </a:tc>
                <a:tc>
                  <a:txBody>
                    <a:bodyPr/>
                    <a:lstStyle/>
                    <a:p>
                      <a:pPr algn="ctr"/>
                      <a:r>
                        <a:rPr sz="1150" b="0">
                          <a:solidFill>
                            <a:srgbClr val="2E3142"/>
                          </a:solidFill>
                          <a:latin typeface="210 OmniGothic 040"/>
                          <a:ea typeface="210 OmniGothic 040"/>
                          <a:cs typeface="210 OmniGothic 040"/>
                        </a:rPr>
                        <a:t>PER-001</a:t>
                      </a:r>
                    </a:p>
                  </a:txBody>
                  <a:tcPr marT="40233" marB="40233" anchor="ctr">
                    <a:lnL w="9525">
                      <a:solidFill>
                        <a:srgbClr val="C3C8D4"/>
                      </a:solidFill>
                    </a:lnL>
                    <a:lnR w="9525">
                      <a:solidFill>
                        <a:srgbClr val="C3C8D4"/>
                      </a:solidFill>
                    </a:lnR>
                    <a:lnT w="9525">
                      <a:solidFill>
                        <a:srgbClr val="C3C8D4"/>
                      </a:solidFill>
                    </a:lnT>
                    <a:lnB w="9525">
                      <a:solidFill>
                        <a:srgbClr val="C3C8D4"/>
                      </a:solidFill>
                    </a:lnB>
                    <a:solidFill>
                      <a:srgbClr val="FFFFFF"/>
                    </a:solidFill>
                  </a:tcPr>
                </a:tc>
                <a:tc>
                  <a:txBody>
                    <a:bodyPr/>
                    <a:lstStyle/>
                    <a:p>
                      <a:pPr algn="ctr"/>
                      <a:r>
                        <a:rPr sz="1150" b="0">
                          <a:solidFill>
                            <a:srgbClr val="2E3142"/>
                          </a:solidFill>
                          <a:latin typeface="210 OmniGothic 040"/>
                          <a:ea typeface="210 OmniGothic 040"/>
                          <a:cs typeface="210 OmniGothic 040"/>
                        </a:rPr>
                        <a:t>예측·제안 갱신 시간</a:t>
                      </a:r>
                    </a:p>
                  </a:txBody>
                  <a:tcPr marT="40233" marB="40233" anchor="ctr">
                    <a:lnL w="9525">
                      <a:solidFill>
                        <a:srgbClr val="C3C8D4"/>
                      </a:solidFill>
                    </a:lnL>
                    <a:lnR w="9525">
                      <a:solidFill>
                        <a:srgbClr val="C3C8D4"/>
                      </a:solidFill>
                    </a:lnR>
                    <a:lnT w="9525">
                      <a:solidFill>
                        <a:srgbClr val="C3C8D4"/>
                      </a:solidFill>
                    </a:lnT>
                    <a:lnB w="9525">
                      <a:solidFill>
                        <a:srgbClr val="C3C8D4"/>
                      </a:solidFill>
                    </a:lnB>
                    <a:solidFill>
                      <a:srgbClr val="FFFFFF"/>
                    </a:solidFill>
                  </a:tcPr>
                </a:tc>
                <a:extLst>
                  <a:ext uri="{0D108BD9-81ED-4DB2-BD59-A6C34878D82A}">
                    <a16:rowId xmlns:a16="http://schemas.microsoft.com/office/drawing/2014/main" val="10007"/>
                  </a:ext>
                </a:extLst>
              </a:tr>
              <a:tr h="306781">
                <a:tc vMerge="1">
                  <a:txBody>
                    <a:bodyPr/>
                    <a:lstStyle/>
                    <a:p>
                      <a:endParaRPr/>
                    </a:p>
                  </a:txBody>
                  <a:tcPr/>
                </a:tc>
                <a:tc>
                  <a:txBody>
                    <a:bodyPr/>
                    <a:lstStyle/>
                    <a:p>
                      <a:pPr algn="ctr"/>
                      <a:r>
                        <a:rPr sz="1150" b="0">
                          <a:solidFill>
                            <a:srgbClr val="2E3142"/>
                          </a:solidFill>
                          <a:latin typeface="210 OmniGothic 040"/>
                          <a:ea typeface="210 OmniGothic 040"/>
                          <a:cs typeface="210 OmniGothic 040"/>
                        </a:rPr>
                        <a:t>PER-002</a:t>
                      </a:r>
                    </a:p>
                  </a:txBody>
                  <a:tcPr marT="40233" marB="40233" anchor="ctr">
                    <a:lnL w="9525">
                      <a:solidFill>
                        <a:srgbClr val="C3C8D4"/>
                      </a:solidFill>
                    </a:lnL>
                    <a:lnR w="9525">
                      <a:solidFill>
                        <a:srgbClr val="C3C8D4"/>
                      </a:solidFill>
                    </a:lnR>
                    <a:lnT w="9525">
                      <a:solidFill>
                        <a:srgbClr val="C3C8D4"/>
                      </a:solidFill>
                    </a:lnT>
                    <a:lnB w="9525">
                      <a:solidFill>
                        <a:srgbClr val="C3C8D4"/>
                      </a:solidFill>
                    </a:lnB>
                    <a:solidFill>
                      <a:srgbClr val="FFFFFF"/>
                    </a:solidFill>
                  </a:tcPr>
                </a:tc>
                <a:tc>
                  <a:txBody>
                    <a:bodyPr/>
                    <a:lstStyle/>
                    <a:p>
                      <a:pPr algn="ctr"/>
                      <a:r>
                        <a:rPr sz="1150" b="0">
                          <a:solidFill>
                            <a:srgbClr val="2E3142"/>
                          </a:solidFill>
                          <a:latin typeface="210 OmniGothic 040"/>
                          <a:ea typeface="210 OmniGothic 040"/>
                          <a:cs typeface="210 OmniGothic 040"/>
                        </a:rPr>
                        <a:t>화면 응답 시간</a:t>
                      </a:r>
                    </a:p>
                  </a:txBody>
                  <a:tcPr marT="40233" marB="40233" anchor="ctr">
                    <a:lnL w="9525">
                      <a:solidFill>
                        <a:srgbClr val="C3C8D4"/>
                      </a:solidFill>
                    </a:lnL>
                    <a:lnR w="9525">
                      <a:solidFill>
                        <a:srgbClr val="C3C8D4"/>
                      </a:solidFill>
                    </a:lnR>
                    <a:lnT w="9525">
                      <a:solidFill>
                        <a:srgbClr val="C3C8D4"/>
                      </a:solidFill>
                    </a:lnT>
                    <a:lnB w="9525">
                      <a:solidFill>
                        <a:srgbClr val="C3C8D4"/>
                      </a:solidFill>
                    </a:lnB>
                    <a:solidFill>
                      <a:srgbClr val="FFFFFF"/>
                    </a:solidFill>
                  </a:tcPr>
                </a:tc>
                <a:extLst>
                  <a:ext uri="{0D108BD9-81ED-4DB2-BD59-A6C34878D82A}">
                    <a16:rowId xmlns:a16="http://schemas.microsoft.com/office/drawing/2014/main" val="10008"/>
                  </a:ext>
                </a:extLst>
              </a:tr>
              <a:tr h="306781">
                <a:tc vMerge="1">
                  <a:txBody>
                    <a:bodyPr/>
                    <a:lstStyle/>
                    <a:p>
                      <a:endParaRPr/>
                    </a:p>
                  </a:txBody>
                  <a:tcPr/>
                </a:tc>
                <a:tc>
                  <a:txBody>
                    <a:bodyPr/>
                    <a:lstStyle/>
                    <a:p>
                      <a:pPr algn="ctr"/>
                      <a:r>
                        <a:rPr sz="1150" b="0">
                          <a:solidFill>
                            <a:srgbClr val="2E3142"/>
                          </a:solidFill>
                          <a:latin typeface="210 OmniGothic 040"/>
                          <a:ea typeface="210 OmniGothic 040"/>
                          <a:cs typeface="210 OmniGothic 040"/>
                        </a:rPr>
                        <a:t>PER-003</a:t>
                      </a:r>
                    </a:p>
                  </a:txBody>
                  <a:tcPr marT="40233" marB="40233" anchor="ctr">
                    <a:lnL w="9525">
                      <a:solidFill>
                        <a:srgbClr val="C3C8D4"/>
                      </a:solidFill>
                    </a:lnL>
                    <a:lnR w="9525">
                      <a:solidFill>
                        <a:srgbClr val="C3C8D4"/>
                      </a:solidFill>
                    </a:lnR>
                    <a:lnT w="9525">
                      <a:solidFill>
                        <a:srgbClr val="C3C8D4"/>
                      </a:solidFill>
                    </a:lnT>
                    <a:lnB w="9525">
                      <a:solidFill>
                        <a:srgbClr val="C3C8D4"/>
                      </a:solidFill>
                    </a:lnB>
                    <a:solidFill>
                      <a:srgbClr val="FFFFFF"/>
                    </a:solidFill>
                  </a:tcPr>
                </a:tc>
                <a:tc>
                  <a:txBody>
                    <a:bodyPr/>
                    <a:lstStyle/>
                    <a:p>
                      <a:pPr algn="ctr"/>
                      <a:r>
                        <a:rPr sz="1150" b="0">
                          <a:solidFill>
                            <a:srgbClr val="2E3142"/>
                          </a:solidFill>
                          <a:latin typeface="210 OmniGothic 040"/>
                          <a:ea typeface="210 OmniGothic 040"/>
                          <a:cs typeface="210 OmniGothic 040"/>
                        </a:rPr>
                        <a:t>동시 사용자 처리</a:t>
                      </a:r>
                    </a:p>
                  </a:txBody>
                  <a:tcPr marT="40233" marB="40233" anchor="ctr">
                    <a:lnL w="9525">
                      <a:solidFill>
                        <a:srgbClr val="C3C8D4"/>
                      </a:solidFill>
                    </a:lnL>
                    <a:lnR w="9525">
                      <a:solidFill>
                        <a:srgbClr val="C3C8D4"/>
                      </a:solidFill>
                    </a:lnR>
                    <a:lnT w="9525">
                      <a:solidFill>
                        <a:srgbClr val="C3C8D4"/>
                      </a:solidFill>
                    </a:lnT>
                    <a:lnB w="9525">
                      <a:solidFill>
                        <a:srgbClr val="C3C8D4"/>
                      </a:solidFill>
                    </a:lnB>
                    <a:solidFill>
                      <a:srgbClr val="FFFFFF"/>
                    </a:solidFill>
                  </a:tcPr>
                </a:tc>
                <a:extLst>
                  <a:ext uri="{0D108BD9-81ED-4DB2-BD59-A6C34878D82A}">
                    <a16:rowId xmlns:a16="http://schemas.microsoft.com/office/drawing/2014/main" val="10009"/>
                  </a:ext>
                </a:extLst>
              </a:tr>
              <a:tr h="306781">
                <a:tc rowSpan="3">
                  <a:txBody>
                    <a:bodyPr/>
                    <a:lstStyle/>
                    <a:p>
                      <a:pPr algn="ctr"/>
                      <a:r>
                        <a:rPr sz="1150" b="1">
                          <a:solidFill>
                            <a:srgbClr val="2E3142"/>
                          </a:solidFill>
                          <a:latin typeface="210 OmniGothic 040"/>
                          <a:ea typeface="210 OmniGothic 040"/>
                          <a:cs typeface="210 OmniGothic 040"/>
                        </a:rPr>
                        <a:t>보안
요구사항</a:t>
                      </a:r>
                    </a:p>
                  </a:txBody>
                  <a:tcPr marT="40233" marB="40233" anchor="ctr">
                    <a:lnL w="9525">
                      <a:solidFill>
                        <a:srgbClr val="C3C8D4"/>
                      </a:solidFill>
                    </a:lnL>
                    <a:lnR w="9525">
                      <a:solidFill>
                        <a:srgbClr val="C3C8D4"/>
                      </a:solidFill>
                    </a:lnR>
                    <a:lnT w="9525">
                      <a:solidFill>
                        <a:srgbClr val="C3C8D4"/>
                      </a:solidFill>
                    </a:lnT>
                    <a:lnB w="9525">
                      <a:solidFill>
                        <a:srgbClr val="C3C8D4"/>
                      </a:solidFill>
                    </a:lnB>
                    <a:solidFill>
                      <a:srgbClr val="FEF5EE"/>
                    </a:solidFill>
                  </a:tcPr>
                </a:tc>
                <a:tc>
                  <a:txBody>
                    <a:bodyPr/>
                    <a:lstStyle/>
                    <a:p>
                      <a:pPr algn="ctr"/>
                      <a:r>
                        <a:rPr sz="1150" b="0">
                          <a:solidFill>
                            <a:srgbClr val="2E3142"/>
                          </a:solidFill>
                          <a:latin typeface="210 OmniGothic 040"/>
                          <a:ea typeface="210 OmniGothic 040"/>
                          <a:cs typeface="210 OmniGothic 040"/>
                        </a:rPr>
                        <a:t>SER-001</a:t>
                      </a:r>
                    </a:p>
                  </a:txBody>
                  <a:tcPr marT="40233" marB="40233" anchor="ctr">
                    <a:lnL w="9525">
                      <a:solidFill>
                        <a:srgbClr val="C3C8D4"/>
                      </a:solidFill>
                    </a:lnL>
                    <a:lnR w="9525">
                      <a:solidFill>
                        <a:srgbClr val="C3C8D4"/>
                      </a:solidFill>
                    </a:lnR>
                    <a:lnT w="9525">
                      <a:solidFill>
                        <a:srgbClr val="C3C8D4"/>
                      </a:solidFill>
                    </a:lnT>
                    <a:lnB w="9525">
                      <a:solidFill>
                        <a:srgbClr val="C3C8D4"/>
                      </a:solidFill>
                    </a:lnB>
                    <a:solidFill>
                      <a:srgbClr val="FFFFFF"/>
                    </a:solidFill>
                  </a:tcPr>
                </a:tc>
                <a:tc>
                  <a:txBody>
                    <a:bodyPr/>
                    <a:lstStyle/>
                    <a:p>
                      <a:pPr algn="ctr"/>
                      <a:r>
                        <a:rPr sz="1150" b="0">
                          <a:solidFill>
                            <a:srgbClr val="2E3142"/>
                          </a:solidFill>
                          <a:latin typeface="210 OmniGothic 040"/>
                          <a:ea typeface="210 OmniGothic 040"/>
                          <a:cs typeface="210 OmniGothic 040"/>
                        </a:rPr>
                        <a:t>사용자 인증 및 접근 제어</a:t>
                      </a:r>
                    </a:p>
                  </a:txBody>
                  <a:tcPr marT="40233" marB="40233" anchor="ctr">
                    <a:lnL w="9525">
                      <a:solidFill>
                        <a:srgbClr val="C3C8D4"/>
                      </a:solidFill>
                    </a:lnL>
                    <a:lnR w="9525">
                      <a:solidFill>
                        <a:srgbClr val="C3C8D4"/>
                      </a:solidFill>
                    </a:lnR>
                    <a:lnT w="9525">
                      <a:solidFill>
                        <a:srgbClr val="C3C8D4"/>
                      </a:solidFill>
                    </a:lnT>
                    <a:lnB w="9525">
                      <a:solidFill>
                        <a:srgbClr val="C3C8D4"/>
                      </a:solidFill>
                    </a:lnB>
                    <a:solidFill>
                      <a:srgbClr val="FFFFFF"/>
                    </a:solidFill>
                  </a:tcPr>
                </a:tc>
                <a:extLst>
                  <a:ext uri="{0D108BD9-81ED-4DB2-BD59-A6C34878D82A}">
                    <a16:rowId xmlns:a16="http://schemas.microsoft.com/office/drawing/2014/main" val="10010"/>
                  </a:ext>
                </a:extLst>
              </a:tr>
              <a:tr h="306781">
                <a:tc vMerge="1">
                  <a:txBody>
                    <a:bodyPr/>
                    <a:lstStyle/>
                    <a:p>
                      <a:endParaRPr/>
                    </a:p>
                  </a:txBody>
                  <a:tcPr/>
                </a:tc>
                <a:tc>
                  <a:txBody>
                    <a:bodyPr/>
                    <a:lstStyle/>
                    <a:p>
                      <a:pPr algn="ctr"/>
                      <a:r>
                        <a:rPr sz="1150" b="0">
                          <a:solidFill>
                            <a:srgbClr val="2E3142"/>
                          </a:solidFill>
                          <a:latin typeface="210 OmniGothic 040"/>
                          <a:ea typeface="210 OmniGothic 040"/>
                          <a:cs typeface="210 OmniGothic 040"/>
                        </a:rPr>
                        <a:t>SER-002</a:t>
                      </a:r>
                    </a:p>
                  </a:txBody>
                  <a:tcPr marT="40233" marB="40233" anchor="ctr">
                    <a:lnL w="9525">
                      <a:solidFill>
                        <a:srgbClr val="C3C8D4"/>
                      </a:solidFill>
                    </a:lnL>
                    <a:lnR w="9525">
                      <a:solidFill>
                        <a:srgbClr val="C3C8D4"/>
                      </a:solidFill>
                    </a:lnR>
                    <a:lnT w="9525">
                      <a:solidFill>
                        <a:srgbClr val="C3C8D4"/>
                      </a:solidFill>
                    </a:lnT>
                    <a:lnB w="9525">
                      <a:solidFill>
                        <a:srgbClr val="C3C8D4"/>
                      </a:solidFill>
                    </a:lnB>
                    <a:solidFill>
                      <a:srgbClr val="FFFFFF"/>
                    </a:solidFill>
                  </a:tcPr>
                </a:tc>
                <a:tc>
                  <a:txBody>
                    <a:bodyPr/>
                    <a:lstStyle/>
                    <a:p>
                      <a:pPr algn="ctr"/>
                      <a:r>
                        <a:rPr sz="1150" b="0">
                          <a:solidFill>
                            <a:srgbClr val="2E3142"/>
                          </a:solidFill>
                          <a:latin typeface="210 OmniGothic 040"/>
                          <a:ea typeface="210 OmniGothic 040"/>
                          <a:cs typeface="210 OmniGothic 040"/>
                        </a:rPr>
                        <a:t>내부 자료 보호</a:t>
                      </a:r>
                    </a:p>
                  </a:txBody>
                  <a:tcPr marT="40233" marB="40233" anchor="ctr">
                    <a:lnL w="9525">
                      <a:solidFill>
                        <a:srgbClr val="C3C8D4"/>
                      </a:solidFill>
                    </a:lnL>
                    <a:lnR w="9525">
                      <a:solidFill>
                        <a:srgbClr val="C3C8D4"/>
                      </a:solidFill>
                    </a:lnR>
                    <a:lnT w="9525">
                      <a:solidFill>
                        <a:srgbClr val="C3C8D4"/>
                      </a:solidFill>
                    </a:lnT>
                    <a:lnB w="9525">
                      <a:solidFill>
                        <a:srgbClr val="C3C8D4"/>
                      </a:solidFill>
                    </a:lnB>
                    <a:solidFill>
                      <a:srgbClr val="FFFFFF"/>
                    </a:solidFill>
                  </a:tcPr>
                </a:tc>
                <a:extLst>
                  <a:ext uri="{0D108BD9-81ED-4DB2-BD59-A6C34878D82A}">
                    <a16:rowId xmlns:a16="http://schemas.microsoft.com/office/drawing/2014/main" val="10011"/>
                  </a:ext>
                </a:extLst>
              </a:tr>
              <a:tr h="306781">
                <a:tc vMerge="1">
                  <a:txBody>
                    <a:bodyPr/>
                    <a:lstStyle/>
                    <a:p>
                      <a:endParaRPr/>
                    </a:p>
                  </a:txBody>
                  <a:tcPr/>
                </a:tc>
                <a:tc>
                  <a:txBody>
                    <a:bodyPr/>
                    <a:lstStyle/>
                    <a:p>
                      <a:pPr algn="ctr"/>
                      <a:r>
                        <a:rPr sz="1150" b="0">
                          <a:solidFill>
                            <a:srgbClr val="2E3142"/>
                          </a:solidFill>
                          <a:latin typeface="210 OmniGothic 040"/>
                          <a:ea typeface="210 OmniGothic 040"/>
                          <a:cs typeface="210 OmniGothic 040"/>
                        </a:rPr>
                        <a:t>SER-003</a:t>
                      </a:r>
                    </a:p>
                  </a:txBody>
                  <a:tcPr marT="40233" marB="40233" anchor="ctr">
                    <a:lnL w="9525">
                      <a:solidFill>
                        <a:srgbClr val="C3C8D4"/>
                      </a:solidFill>
                    </a:lnL>
                    <a:lnR w="9525">
                      <a:solidFill>
                        <a:srgbClr val="C3C8D4"/>
                      </a:solidFill>
                    </a:lnR>
                    <a:lnT w="9525">
                      <a:solidFill>
                        <a:srgbClr val="C3C8D4"/>
                      </a:solidFill>
                    </a:lnT>
                    <a:lnB w="9525">
                      <a:solidFill>
                        <a:srgbClr val="C3C8D4"/>
                      </a:solidFill>
                    </a:lnB>
                    <a:solidFill>
                      <a:srgbClr val="FFFFFF"/>
                    </a:solidFill>
                  </a:tcPr>
                </a:tc>
                <a:tc>
                  <a:txBody>
                    <a:bodyPr/>
                    <a:lstStyle/>
                    <a:p>
                      <a:pPr algn="ctr"/>
                      <a:r>
                        <a:rPr sz="1150" b="0">
                          <a:solidFill>
                            <a:srgbClr val="2E3142"/>
                          </a:solidFill>
                          <a:latin typeface="210 OmniGothic 040"/>
                          <a:ea typeface="210 OmniGothic 040"/>
                          <a:cs typeface="210 OmniGothic 040"/>
                        </a:rPr>
                        <a:t>통신·데이터 보안</a:t>
                      </a:r>
                    </a:p>
                  </a:txBody>
                  <a:tcPr marT="40233" marB="40233" anchor="ctr">
                    <a:lnL w="9525">
                      <a:solidFill>
                        <a:srgbClr val="C3C8D4"/>
                      </a:solidFill>
                    </a:lnL>
                    <a:lnR w="9525">
                      <a:solidFill>
                        <a:srgbClr val="C3C8D4"/>
                      </a:solidFill>
                    </a:lnR>
                    <a:lnT w="9525">
                      <a:solidFill>
                        <a:srgbClr val="C3C8D4"/>
                      </a:solidFill>
                    </a:lnT>
                    <a:lnB w="9525">
                      <a:solidFill>
                        <a:srgbClr val="C3C8D4"/>
                      </a:solidFill>
                    </a:lnB>
                    <a:solidFill>
                      <a:srgbClr val="FFFFFF"/>
                    </a:solidFill>
                  </a:tcPr>
                </a:tc>
                <a:extLst>
                  <a:ext uri="{0D108BD9-81ED-4DB2-BD59-A6C34878D82A}">
                    <a16:rowId xmlns:a16="http://schemas.microsoft.com/office/drawing/2014/main" val="10012"/>
                  </a:ext>
                </a:extLst>
              </a:tr>
            </a:tbl>
          </a:graphicData>
        </a:graphic>
      </p:graphicFrame>
      <p:graphicFrame>
        <p:nvGraphicFramePr>
          <p:cNvPr id="5398" name="Table 5397"/>
          <p:cNvGraphicFramePr>
            <a:graphicFrameLocks noGrp="1"/>
          </p:cNvGraphicFramePr>
          <p:nvPr/>
        </p:nvGraphicFramePr>
        <p:xfrm>
          <a:off x="9166860" y="2395728"/>
          <a:ext cx="8058150" cy="3840781"/>
        </p:xfrm>
        <a:graphic>
          <a:graphicData uri="http://schemas.openxmlformats.org/drawingml/2006/table">
            <a:tbl>
              <a:tblPr>
                <a:tableStyleId>{2D5ABB26-0587-4C30-8999-92F81FD0307C}</a:tableStyleId>
              </a:tblPr>
              <a:tblGrid>
                <a:gridCol w="200025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4686300">
                  <a:extLst>
                    <a:ext uri="{9D8B030D-6E8A-4147-A177-3AD203B41FA5}">
                      <a16:colId xmlns:a16="http://schemas.microsoft.com/office/drawing/2014/main" val="20002"/>
                    </a:ext>
                  </a:extLst>
                </a:gridCol>
              </a:tblGrid>
              <a:tr h="341985">
                <a:tc>
                  <a:txBody>
                    <a:bodyPr/>
                    <a:lstStyle/>
                    <a:p>
                      <a:pPr algn="ctr"/>
                      <a:r>
                        <a:rPr sz="1200" b="1">
                          <a:solidFill>
                            <a:srgbClr val="FFFFFF"/>
                          </a:solidFill>
                          <a:latin typeface="210 OmniGothic 040"/>
                          <a:ea typeface="210 OmniGothic 040"/>
                          <a:cs typeface="210 OmniGothic 040"/>
                        </a:rPr>
                        <a:t>구분</a:t>
                      </a:r>
                    </a:p>
                  </a:txBody>
                  <a:tcPr marT="40233" marB="40233" anchor="ctr">
                    <a:lnL w="9525">
                      <a:solidFill>
                        <a:srgbClr val="FFFFFF"/>
                      </a:solidFill>
                    </a:lnL>
                    <a:lnR w="9525">
                      <a:solidFill>
                        <a:srgbClr val="FFFFFF"/>
                      </a:solidFill>
                    </a:lnR>
                    <a:lnT w="9525">
                      <a:solidFill>
                        <a:srgbClr val="FFFFFF"/>
                      </a:solidFill>
                    </a:lnT>
                    <a:lnB w="9525">
                      <a:solidFill>
                        <a:srgbClr val="FFFFFF"/>
                      </a:solidFill>
                    </a:lnB>
                    <a:solidFill>
                      <a:srgbClr val="363A52"/>
                    </a:solidFill>
                  </a:tcPr>
                </a:tc>
                <a:tc>
                  <a:txBody>
                    <a:bodyPr/>
                    <a:lstStyle/>
                    <a:p>
                      <a:pPr algn="ctr"/>
                      <a:r>
                        <a:rPr sz="1200" b="1">
                          <a:solidFill>
                            <a:srgbClr val="FFFFFF"/>
                          </a:solidFill>
                          <a:latin typeface="210 OmniGothic 040"/>
                          <a:ea typeface="210 OmniGothic 040"/>
                          <a:cs typeface="210 OmniGothic 040"/>
                        </a:rPr>
                        <a:t>고유번호</a:t>
                      </a:r>
                    </a:p>
                  </a:txBody>
                  <a:tcPr marT="40233" marB="40233" anchor="ctr">
                    <a:lnL w="9525">
                      <a:solidFill>
                        <a:srgbClr val="FFFFFF"/>
                      </a:solidFill>
                    </a:lnL>
                    <a:lnR w="9525">
                      <a:solidFill>
                        <a:srgbClr val="FFFFFF"/>
                      </a:solidFill>
                    </a:lnR>
                    <a:lnT w="9525">
                      <a:solidFill>
                        <a:srgbClr val="FFFFFF"/>
                      </a:solidFill>
                    </a:lnT>
                    <a:lnB w="9525">
                      <a:solidFill>
                        <a:srgbClr val="FFFFFF"/>
                      </a:solidFill>
                    </a:lnB>
                    <a:solidFill>
                      <a:srgbClr val="363A52"/>
                    </a:solidFill>
                  </a:tcPr>
                </a:tc>
                <a:tc>
                  <a:txBody>
                    <a:bodyPr/>
                    <a:lstStyle/>
                    <a:p>
                      <a:pPr algn="ctr"/>
                      <a:r>
                        <a:rPr sz="1200" b="1">
                          <a:solidFill>
                            <a:srgbClr val="FFFFFF"/>
                          </a:solidFill>
                          <a:latin typeface="210 OmniGothic 040"/>
                          <a:ea typeface="210 OmniGothic 040"/>
                          <a:cs typeface="210 OmniGothic 040"/>
                        </a:rPr>
                        <a:t>명칭</a:t>
                      </a:r>
                    </a:p>
                  </a:txBody>
                  <a:tcPr marT="40233" marB="40233" anchor="ctr">
                    <a:lnL w="9525">
                      <a:solidFill>
                        <a:srgbClr val="FFFFFF"/>
                      </a:solidFill>
                    </a:lnL>
                    <a:lnR w="9525">
                      <a:solidFill>
                        <a:srgbClr val="FFFFFF"/>
                      </a:solidFill>
                    </a:lnR>
                    <a:lnT w="9525">
                      <a:solidFill>
                        <a:srgbClr val="FFFFFF"/>
                      </a:solidFill>
                    </a:lnT>
                    <a:lnB w="9525">
                      <a:solidFill>
                        <a:srgbClr val="FFFFFF"/>
                      </a:solidFill>
                    </a:lnB>
                    <a:solidFill>
                      <a:srgbClr val="363A52"/>
                    </a:solidFill>
                  </a:tcPr>
                </a:tc>
                <a:extLst>
                  <a:ext uri="{0D108BD9-81ED-4DB2-BD59-A6C34878D82A}">
                    <a16:rowId xmlns:a16="http://schemas.microsoft.com/office/drawing/2014/main" val="10000"/>
                  </a:ext>
                </a:extLst>
              </a:tr>
              <a:tr h="306781">
                <a:tc rowSpan="3">
                  <a:txBody>
                    <a:bodyPr/>
                    <a:lstStyle/>
                    <a:p>
                      <a:pPr algn="ctr"/>
                      <a:r>
                        <a:rPr sz="1150" b="1">
                          <a:solidFill>
                            <a:srgbClr val="2E3142"/>
                          </a:solidFill>
                          <a:latin typeface="210 OmniGothic 040"/>
                          <a:ea typeface="210 OmniGothic 040"/>
                          <a:cs typeface="210 OmniGothic 040"/>
                        </a:rPr>
                        <a:t>법적/규제
요구사항</a:t>
                      </a:r>
                    </a:p>
                  </a:txBody>
                  <a:tcPr marT="40233" marB="40233" anchor="ctr">
                    <a:lnL w="9525">
                      <a:solidFill>
                        <a:srgbClr val="C3C8D4"/>
                      </a:solidFill>
                    </a:lnL>
                    <a:lnR w="9525">
                      <a:solidFill>
                        <a:srgbClr val="C3C8D4"/>
                      </a:solidFill>
                    </a:lnR>
                    <a:lnT w="9525" cap="flat" cmpd="sng" algn="ctr">
                      <a:solidFill>
                        <a:srgbClr val="FFFFFF"/>
                      </a:solidFill>
                      <a:prstDash val="solid"/>
                      <a:round/>
                      <a:headEnd type="none" w="med" len="med"/>
                      <a:tailEnd type="none" w="med" len="med"/>
                    </a:lnT>
                    <a:lnB w="9525">
                      <a:solidFill>
                        <a:srgbClr val="C3C8D4"/>
                      </a:solidFill>
                    </a:lnB>
                    <a:solidFill>
                      <a:srgbClr val="FEF5EE"/>
                    </a:solidFill>
                  </a:tcPr>
                </a:tc>
                <a:tc>
                  <a:txBody>
                    <a:bodyPr/>
                    <a:lstStyle/>
                    <a:p>
                      <a:pPr algn="ctr"/>
                      <a:r>
                        <a:rPr sz="1150" b="0">
                          <a:solidFill>
                            <a:srgbClr val="2E3142"/>
                          </a:solidFill>
                          <a:latin typeface="210 OmniGothic 040"/>
                          <a:ea typeface="210 OmniGothic 040"/>
                          <a:cs typeface="210 OmniGothic 040"/>
                        </a:rPr>
                        <a:t>LGR-001</a:t>
                      </a:r>
                    </a:p>
                  </a:txBody>
                  <a:tcPr marT="40233" marB="40233" anchor="ctr">
                    <a:lnL w="9525">
                      <a:solidFill>
                        <a:srgbClr val="C3C8D4"/>
                      </a:solidFill>
                    </a:lnL>
                    <a:lnR w="9525">
                      <a:solidFill>
                        <a:srgbClr val="C3C8D4"/>
                      </a:solidFill>
                    </a:lnR>
                    <a:lnT w="9525" cap="flat" cmpd="sng" algn="ctr">
                      <a:solidFill>
                        <a:srgbClr val="FFFFFF"/>
                      </a:solidFill>
                      <a:prstDash val="solid"/>
                      <a:round/>
                      <a:headEnd type="none" w="med" len="med"/>
                      <a:tailEnd type="none" w="med" len="med"/>
                    </a:lnT>
                    <a:lnB w="9525">
                      <a:solidFill>
                        <a:srgbClr val="C3C8D4"/>
                      </a:solidFill>
                    </a:lnB>
                    <a:solidFill>
                      <a:srgbClr val="FFFFFF"/>
                    </a:solidFill>
                  </a:tcPr>
                </a:tc>
                <a:tc>
                  <a:txBody>
                    <a:bodyPr/>
                    <a:lstStyle/>
                    <a:p>
                      <a:pPr algn="ctr"/>
                      <a:r>
                        <a:rPr sz="1150" b="0">
                          <a:solidFill>
                            <a:srgbClr val="2E3142"/>
                          </a:solidFill>
                          <a:latin typeface="210 OmniGothic 040"/>
                          <a:ea typeface="210 OmniGothic 040"/>
                          <a:cs typeface="210 OmniGothic 040"/>
                        </a:rPr>
                        <a:t>표준매뉴얼·법령 근거 준수</a:t>
                      </a:r>
                    </a:p>
                  </a:txBody>
                  <a:tcPr marT="40233" marB="40233" anchor="ctr">
                    <a:lnL w="9525">
                      <a:solidFill>
                        <a:srgbClr val="C3C8D4"/>
                      </a:solidFill>
                    </a:lnL>
                    <a:lnR w="9525">
                      <a:solidFill>
                        <a:srgbClr val="C3C8D4"/>
                      </a:solidFill>
                    </a:lnR>
                    <a:lnT w="9525" cap="flat" cmpd="sng" algn="ctr">
                      <a:solidFill>
                        <a:srgbClr val="FFFFFF"/>
                      </a:solidFill>
                      <a:prstDash val="solid"/>
                      <a:round/>
                      <a:headEnd type="none" w="med" len="med"/>
                      <a:tailEnd type="none" w="med" len="med"/>
                    </a:lnT>
                    <a:lnB w="9525">
                      <a:solidFill>
                        <a:srgbClr val="C3C8D4"/>
                      </a:solidFill>
                    </a:lnB>
                    <a:solidFill>
                      <a:srgbClr val="FFFFFF"/>
                    </a:solidFill>
                  </a:tcPr>
                </a:tc>
                <a:extLst>
                  <a:ext uri="{0D108BD9-81ED-4DB2-BD59-A6C34878D82A}">
                    <a16:rowId xmlns:a16="http://schemas.microsoft.com/office/drawing/2014/main" val="10001"/>
                  </a:ext>
                </a:extLst>
              </a:tr>
              <a:tr h="306781">
                <a:tc vMerge="1">
                  <a:txBody>
                    <a:bodyPr/>
                    <a:lstStyle/>
                    <a:p>
                      <a:endParaRPr/>
                    </a:p>
                  </a:txBody>
                  <a:tcPr/>
                </a:tc>
                <a:tc>
                  <a:txBody>
                    <a:bodyPr/>
                    <a:lstStyle/>
                    <a:p>
                      <a:pPr algn="ctr"/>
                      <a:r>
                        <a:rPr sz="1150" b="0">
                          <a:solidFill>
                            <a:srgbClr val="2E3142"/>
                          </a:solidFill>
                          <a:latin typeface="210 OmniGothic 040"/>
                          <a:ea typeface="210 OmniGothic 040"/>
                          <a:cs typeface="210 OmniGothic 040"/>
                        </a:rPr>
                        <a:t>LGR-002</a:t>
                      </a:r>
                    </a:p>
                  </a:txBody>
                  <a:tcPr marT="40233" marB="40233" anchor="ctr">
                    <a:lnL w="9525">
                      <a:solidFill>
                        <a:srgbClr val="C3C8D4"/>
                      </a:solidFill>
                    </a:lnL>
                    <a:lnR w="9525">
                      <a:solidFill>
                        <a:srgbClr val="C3C8D4"/>
                      </a:solidFill>
                    </a:lnR>
                    <a:lnT w="9525">
                      <a:solidFill>
                        <a:srgbClr val="C3C8D4"/>
                      </a:solidFill>
                    </a:lnT>
                    <a:lnB w="9525">
                      <a:solidFill>
                        <a:srgbClr val="C3C8D4"/>
                      </a:solidFill>
                    </a:lnB>
                    <a:solidFill>
                      <a:srgbClr val="FFFFFF"/>
                    </a:solidFill>
                  </a:tcPr>
                </a:tc>
                <a:tc>
                  <a:txBody>
                    <a:bodyPr/>
                    <a:lstStyle/>
                    <a:p>
                      <a:pPr algn="ctr"/>
                      <a:r>
                        <a:rPr sz="1150" b="0">
                          <a:solidFill>
                            <a:srgbClr val="2E3142"/>
                          </a:solidFill>
                          <a:latin typeface="210 OmniGothic 040"/>
                          <a:ea typeface="210 OmniGothic 040"/>
                          <a:cs typeface="210 OmniGothic 040"/>
                        </a:rPr>
                        <a:t>권고 시스템 고지</a:t>
                      </a:r>
                    </a:p>
                  </a:txBody>
                  <a:tcPr marT="40233" marB="40233" anchor="ctr">
                    <a:lnL w="9525">
                      <a:solidFill>
                        <a:srgbClr val="C3C8D4"/>
                      </a:solidFill>
                    </a:lnL>
                    <a:lnR w="9525">
                      <a:solidFill>
                        <a:srgbClr val="C3C8D4"/>
                      </a:solidFill>
                    </a:lnR>
                    <a:lnT w="9525">
                      <a:solidFill>
                        <a:srgbClr val="C3C8D4"/>
                      </a:solidFill>
                    </a:lnT>
                    <a:lnB w="9525">
                      <a:solidFill>
                        <a:srgbClr val="C3C8D4"/>
                      </a:solidFill>
                    </a:lnB>
                    <a:solidFill>
                      <a:srgbClr val="FFFFFF"/>
                    </a:solidFill>
                  </a:tcPr>
                </a:tc>
                <a:extLst>
                  <a:ext uri="{0D108BD9-81ED-4DB2-BD59-A6C34878D82A}">
                    <a16:rowId xmlns:a16="http://schemas.microsoft.com/office/drawing/2014/main" val="10002"/>
                  </a:ext>
                </a:extLst>
              </a:tr>
              <a:tr h="306781">
                <a:tc vMerge="1">
                  <a:txBody>
                    <a:bodyPr/>
                    <a:lstStyle/>
                    <a:p>
                      <a:endParaRPr/>
                    </a:p>
                  </a:txBody>
                  <a:tcPr/>
                </a:tc>
                <a:tc>
                  <a:txBody>
                    <a:bodyPr/>
                    <a:lstStyle/>
                    <a:p>
                      <a:pPr algn="ctr"/>
                      <a:r>
                        <a:rPr sz="1150" b="0">
                          <a:solidFill>
                            <a:srgbClr val="2E3142"/>
                          </a:solidFill>
                          <a:latin typeface="210 OmniGothic 040"/>
                          <a:ea typeface="210 OmniGothic 040"/>
                          <a:cs typeface="210 OmniGothic 040"/>
                        </a:rPr>
                        <a:t>LGR-003</a:t>
                      </a:r>
                    </a:p>
                  </a:txBody>
                  <a:tcPr marT="40233" marB="40233" anchor="ctr">
                    <a:lnL w="9525">
                      <a:solidFill>
                        <a:srgbClr val="C3C8D4"/>
                      </a:solidFill>
                    </a:lnL>
                    <a:lnR w="9525">
                      <a:solidFill>
                        <a:srgbClr val="C3C8D4"/>
                      </a:solidFill>
                    </a:lnR>
                    <a:lnT w="9525">
                      <a:solidFill>
                        <a:srgbClr val="C3C8D4"/>
                      </a:solidFill>
                    </a:lnT>
                    <a:lnB w="9525">
                      <a:solidFill>
                        <a:srgbClr val="C3C8D4"/>
                      </a:solidFill>
                    </a:lnB>
                    <a:solidFill>
                      <a:srgbClr val="FFFFFF"/>
                    </a:solidFill>
                  </a:tcPr>
                </a:tc>
                <a:tc>
                  <a:txBody>
                    <a:bodyPr/>
                    <a:lstStyle/>
                    <a:p>
                      <a:pPr algn="ctr"/>
                      <a:r>
                        <a:rPr sz="1150" b="0">
                          <a:solidFill>
                            <a:srgbClr val="2E3142"/>
                          </a:solidFill>
                          <a:latin typeface="210 OmniGothic 040"/>
                          <a:ea typeface="210 OmniGothic 040"/>
                          <a:cs typeface="210 OmniGothic 040"/>
                        </a:rPr>
                        <a:t>데이터 이용 조건 준수</a:t>
                      </a:r>
                    </a:p>
                  </a:txBody>
                  <a:tcPr marT="40233" marB="40233" anchor="ctr">
                    <a:lnL w="9525">
                      <a:solidFill>
                        <a:srgbClr val="C3C8D4"/>
                      </a:solidFill>
                    </a:lnL>
                    <a:lnR w="9525">
                      <a:solidFill>
                        <a:srgbClr val="C3C8D4"/>
                      </a:solidFill>
                    </a:lnR>
                    <a:lnT w="9525">
                      <a:solidFill>
                        <a:srgbClr val="C3C8D4"/>
                      </a:solidFill>
                    </a:lnT>
                    <a:lnB w="9525">
                      <a:solidFill>
                        <a:srgbClr val="C3C8D4"/>
                      </a:solidFill>
                    </a:lnB>
                    <a:solidFill>
                      <a:srgbClr val="FFFFFF"/>
                    </a:solidFill>
                  </a:tcPr>
                </a:tc>
                <a:extLst>
                  <a:ext uri="{0D108BD9-81ED-4DB2-BD59-A6C34878D82A}">
                    <a16:rowId xmlns:a16="http://schemas.microsoft.com/office/drawing/2014/main" val="10003"/>
                  </a:ext>
                </a:extLst>
              </a:tr>
              <a:tr h="306781">
                <a:tc rowSpan="3">
                  <a:txBody>
                    <a:bodyPr/>
                    <a:lstStyle/>
                    <a:p>
                      <a:pPr algn="ctr"/>
                      <a:r>
                        <a:rPr sz="1150" b="1">
                          <a:solidFill>
                            <a:srgbClr val="2E3142"/>
                          </a:solidFill>
                          <a:latin typeface="210 OmniGothic 040"/>
                          <a:ea typeface="210 OmniGothic 040"/>
                          <a:cs typeface="210 OmniGothic 040"/>
                        </a:rPr>
                        <a:t>품질
요구사항</a:t>
                      </a:r>
                    </a:p>
                  </a:txBody>
                  <a:tcPr marT="40233" marB="40233" anchor="ctr">
                    <a:lnL w="9525">
                      <a:solidFill>
                        <a:srgbClr val="C3C8D4"/>
                      </a:solidFill>
                    </a:lnL>
                    <a:lnR w="9525">
                      <a:solidFill>
                        <a:srgbClr val="C3C8D4"/>
                      </a:solidFill>
                    </a:lnR>
                    <a:lnT w="9525">
                      <a:solidFill>
                        <a:srgbClr val="C3C8D4"/>
                      </a:solidFill>
                    </a:lnT>
                    <a:lnB w="9525">
                      <a:solidFill>
                        <a:srgbClr val="C3C8D4"/>
                      </a:solidFill>
                    </a:lnB>
                    <a:solidFill>
                      <a:srgbClr val="FEF5EE"/>
                    </a:solidFill>
                  </a:tcPr>
                </a:tc>
                <a:tc>
                  <a:txBody>
                    <a:bodyPr/>
                    <a:lstStyle/>
                    <a:p>
                      <a:pPr algn="ctr"/>
                      <a:r>
                        <a:rPr sz="1150" b="0">
                          <a:solidFill>
                            <a:srgbClr val="2E3142"/>
                          </a:solidFill>
                          <a:latin typeface="210 OmniGothic 040"/>
                          <a:ea typeface="210 OmniGothic 040"/>
                          <a:cs typeface="210 OmniGothic 040"/>
                        </a:rPr>
                        <a:t>QUR-001</a:t>
                      </a:r>
                    </a:p>
                  </a:txBody>
                  <a:tcPr marT="40233" marB="40233" anchor="ctr">
                    <a:lnL w="9525">
                      <a:solidFill>
                        <a:srgbClr val="C3C8D4"/>
                      </a:solidFill>
                    </a:lnL>
                    <a:lnR w="9525">
                      <a:solidFill>
                        <a:srgbClr val="C3C8D4"/>
                      </a:solidFill>
                    </a:lnR>
                    <a:lnT w="9525">
                      <a:solidFill>
                        <a:srgbClr val="C3C8D4"/>
                      </a:solidFill>
                    </a:lnT>
                    <a:lnB w="9525">
                      <a:solidFill>
                        <a:srgbClr val="C3C8D4"/>
                      </a:solidFill>
                    </a:lnB>
                    <a:solidFill>
                      <a:srgbClr val="FFFFFF"/>
                    </a:solidFill>
                  </a:tcPr>
                </a:tc>
                <a:tc>
                  <a:txBody>
                    <a:bodyPr/>
                    <a:lstStyle/>
                    <a:p>
                      <a:pPr algn="ctr"/>
                      <a:r>
                        <a:rPr sz="1150" b="0">
                          <a:solidFill>
                            <a:srgbClr val="2E3142"/>
                          </a:solidFill>
                          <a:latin typeface="210 OmniGothic 040"/>
                          <a:ea typeface="210 OmniGothic 040"/>
                          <a:cs typeface="210 OmniGothic 040"/>
                        </a:rPr>
                        <a:t>근거 부기와 문체</a:t>
                      </a:r>
                    </a:p>
                  </a:txBody>
                  <a:tcPr marT="40233" marB="40233" anchor="ctr">
                    <a:lnL w="9525">
                      <a:solidFill>
                        <a:srgbClr val="C3C8D4"/>
                      </a:solidFill>
                    </a:lnL>
                    <a:lnR w="9525">
                      <a:solidFill>
                        <a:srgbClr val="C3C8D4"/>
                      </a:solidFill>
                    </a:lnR>
                    <a:lnT w="9525">
                      <a:solidFill>
                        <a:srgbClr val="C3C8D4"/>
                      </a:solidFill>
                    </a:lnT>
                    <a:lnB w="9525">
                      <a:solidFill>
                        <a:srgbClr val="C3C8D4"/>
                      </a:solidFill>
                    </a:lnB>
                    <a:solidFill>
                      <a:srgbClr val="FFFFFF"/>
                    </a:solidFill>
                  </a:tcPr>
                </a:tc>
                <a:extLst>
                  <a:ext uri="{0D108BD9-81ED-4DB2-BD59-A6C34878D82A}">
                    <a16:rowId xmlns:a16="http://schemas.microsoft.com/office/drawing/2014/main" val="10004"/>
                  </a:ext>
                </a:extLst>
              </a:tr>
              <a:tr h="306781">
                <a:tc vMerge="1">
                  <a:txBody>
                    <a:bodyPr/>
                    <a:lstStyle/>
                    <a:p>
                      <a:endParaRPr/>
                    </a:p>
                  </a:txBody>
                  <a:tcPr/>
                </a:tc>
                <a:tc>
                  <a:txBody>
                    <a:bodyPr/>
                    <a:lstStyle/>
                    <a:p>
                      <a:pPr algn="ctr"/>
                      <a:r>
                        <a:rPr sz="1150" b="0">
                          <a:solidFill>
                            <a:srgbClr val="2E3142"/>
                          </a:solidFill>
                          <a:latin typeface="210 OmniGothic 040"/>
                          <a:ea typeface="210 OmniGothic 040"/>
                          <a:cs typeface="210 OmniGothic 040"/>
                        </a:rPr>
                        <a:t>QUR-002</a:t>
                      </a:r>
                    </a:p>
                  </a:txBody>
                  <a:tcPr marT="40233" marB="40233" anchor="ctr">
                    <a:lnL w="9525">
                      <a:solidFill>
                        <a:srgbClr val="C3C8D4"/>
                      </a:solidFill>
                    </a:lnL>
                    <a:lnR w="9525">
                      <a:solidFill>
                        <a:srgbClr val="C3C8D4"/>
                      </a:solidFill>
                    </a:lnR>
                    <a:lnT w="9525">
                      <a:solidFill>
                        <a:srgbClr val="C3C8D4"/>
                      </a:solidFill>
                    </a:lnT>
                    <a:lnB w="9525">
                      <a:solidFill>
                        <a:srgbClr val="C3C8D4"/>
                      </a:solidFill>
                    </a:lnB>
                    <a:solidFill>
                      <a:srgbClr val="FFFFFF"/>
                    </a:solidFill>
                  </a:tcPr>
                </a:tc>
                <a:tc>
                  <a:txBody>
                    <a:bodyPr/>
                    <a:lstStyle/>
                    <a:p>
                      <a:pPr algn="ctr"/>
                      <a:r>
                        <a:rPr sz="1150" b="0">
                          <a:solidFill>
                            <a:srgbClr val="2E3142"/>
                          </a:solidFill>
                          <a:latin typeface="210 OmniGothic 040"/>
                          <a:ea typeface="210 OmniGothic 040"/>
                          <a:cs typeface="210 OmniGothic 040"/>
                        </a:rPr>
                        <a:t>판단 일관성</a:t>
                      </a:r>
                    </a:p>
                  </a:txBody>
                  <a:tcPr marT="40233" marB="40233" anchor="ctr">
                    <a:lnL w="9525">
                      <a:solidFill>
                        <a:srgbClr val="C3C8D4"/>
                      </a:solidFill>
                    </a:lnL>
                    <a:lnR w="9525">
                      <a:solidFill>
                        <a:srgbClr val="C3C8D4"/>
                      </a:solidFill>
                    </a:lnR>
                    <a:lnT w="9525">
                      <a:solidFill>
                        <a:srgbClr val="C3C8D4"/>
                      </a:solidFill>
                    </a:lnT>
                    <a:lnB w="9525">
                      <a:solidFill>
                        <a:srgbClr val="C3C8D4"/>
                      </a:solidFill>
                    </a:lnB>
                    <a:solidFill>
                      <a:srgbClr val="FFFFFF"/>
                    </a:solidFill>
                  </a:tcPr>
                </a:tc>
                <a:extLst>
                  <a:ext uri="{0D108BD9-81ED-4DB2-BD59-A6C34878D82A}">
                    <a16:rowId xmlns:a16="http://schemas.microsoft.com/office/drawing/2014/main" val="10005"/>
                  </a:ext>
                </a:extLst>
              </a:tr>
              <a:tr h="306781">
                <a:tc vMerge="1">
                  <a:txBody>
                    <a:bodyPr/>
                    <a:lstStyle/>
                    <a:p>
                      <a:endParaRPr/>
                    </a:p>
                  </a:txBody>
                  <a:tcPr/>
                </a:tc>
                <a:tc>
                  <a:txBody>
                    <a:bodyPr/>
                    <a:lstStyle/>
                    <a:p>
                      <a:pPr algn="ctr"/>
                      <a:r>
                        <a:rPr sz="1150" b="0">
                          <a:solidFill>
                            <a:srgbClr val="2E3142"/>
                          </a:solidFill>
                          <a:latin typeface="210 OmniGothic 040"/>
                          <a:ea typeface="210 OmniGothic 040"/>
                          <a:cs typeface="210 OmniGothic 040"/>
                        </a:rPr>
                        <a:t>QUR-003</a:t>
                      </a:r>
                    </a:p>
                  </a:txBody>
                  <a:tcPr marT="40233" marB="40233" anchor="ctr">
                    <a:lnL w="9525">
                      <a:solidFill>
                        <a:srgbClr val="C3C8D4"/>
                      </a:solidFill>
                    </a:lnL>
                    <a:lnR w="9525">
                      <a:solidFill>
                        <a:srgbClr val="C3C8D4"/>
                      </a:solidFill>
                    </a:lnR>
                    <a:lnT w="9525">
                      <a:solidFill>
                        <a:srgbClr val="C3C8D4"/>
                      </a:solidFill>
                    </a:lnT>
                    <a:lnB w="9525">
                      <a:solidFill>
                        <a:srgbClr val="C3C8D4"/>
                      </a:solidFill>
                    </a:lnB>
                    <a:solidFill>
                      <a:srgbClr val="FFFFFF"/>
                    </a:solidFill>
                  </a:tcPr>
                </a:tc>
                <a:tc>
                  <a:txBody>
                    <a:bodyPr/>
                    <a:lstStyle/>
                    <a:p>
                      <a:pPr algn="ctr"/>
                      <a:r>
                        <a:rPr sz="1150" b="0">
                          <a:solidFill>
                            <a:srgbClr val="2E3142"/>
                          </a:solidFill>
                          <a:latin typeface="210 OmniGothic 040"/>
                          <a:ea typeface="210 OmniGothic 040"/>
                          <a:cs typeface="210 OmniGothic 040"/>
                        </a:rPr>
                        <a:t>사용성</a:t>
                      </a:r>
                    </a:p>
                  </a:txBody>
                  <a:tcPr marT="40233" marB="40233" anchor="ctr">
                    <a:lnL w="9525">
                      <a:solidFill>
                        <a:srgbClr val="C3C8D4"/>
                      </a:solidFill>
                    </a:lnL>
                    <a:lnR w="9525">
                      <a:solidFill>
                        <a:srgbClr val="C3C8D4"/>
                      </a:solidFill>
                    </a:lnR>
                    <a:lnT w="9525">
                      <a:solidFill>
                        <a:srgbClr val="C3C8D4"/>
                      </a:solidFill>
                    </a:lnT>
                    <a:lnB w="9525">
                      <a:solidFill>
                        <a:srgbClr val="C3C8D4"/>
                      </a:solidFill>
                    </a:lnB>
                    <a:solidFill>
                      <a:srgbClr val="FFFFFF"/>
                    </a:solidFill>
                  </a:tcPr>
                </a:tc>
                <a:extLst>
                  <a:ext uri="{0D108BD9-81ED-4DB2-BD59-A6C34878D82A}">
                    <a16:rowId xmlns:a16="http://schemas.microsoft.com/office/drawing/2014/main" val="10006"/>
                  </a:ext>
                </a:extLst>
              </a:tr>
              <a:tr h="306781">
                <a:tc rowSpan="2">
                  <a:txBody>
                    <a:bodyPr/>
                    <a:lstStyle/>
                    <a:p>
                      <a:pPr algn="ctr"/>
                      <a:r>
                        <a:rPr sz="1150" b="1">
                          <a:solidFill>
                            <a:srgbClr val="2E3142"/>
                          </a:solidFill>
                          <a:latin typeface="210 OmniGothic 040"/>
                          <a:ea typeface="210 OmniGothic 040"/>
                          <a:cs typeface="210 OmniGothic 040"/>
                        </a:rPr>
                        <a:t>운영
요구사항</a:t>
                      </a:r>
                    </a:p>
                  </a:txBody>
                  <a:tcPr marT="40233" marB="40233" anchor="ctr">
                    <a:lnL w="9525">
                      <a:solidFill>
                        <a:srgbClr val="C3C8D4"/>
                      </a:solidFill>
                    </a:lnL>
                    <a:lnR w="9525">
                      <a:solidFill>
                        <a:srgbClr val="C3C8D4"/>
                      </a:solidFill>
                    </a:lnR>
                    <a:lnT w="9525">
                      <a:solidFill>
                        <a:srgbClr val="C3C8D4"/>
                      </a:solidFill>
                    </a:lnT>
                    <a:lnB w="9525">
                      <a:solidFill>
                        <a:srgbClr val="C3C8D4"/>
                      </a:solidFill>
                    </a:lnB>
                    <a:solidFill>
                      <a:srgbClr val="FEF5EE"/>
                    </a:solidFill>
                  </a:tcPr>
                </a:tc>
                <a:tc>
                  <a:txBody>
                    <a:bodyPr/>
                    <a:lstStyle/>
                    <a:p>
                      <a:pPr algn="ctr"/>
                      <a:r>
                        <a:rPr sz="1150" b="0">
                          <a:solidFill>
                            <a:srgbClr val="2E3142"/>
                          </a:solidFill>
                          <a:latin typeface="210 OmniGothic 040"/>
                          <a:ea typeface="210 OmniGothic 040"/>
                          <a:cs typeface="210 OmniGothic 040"/>
                        </a:rPr>
                        <a:t>ORP-001</a:t>
                      </a:r>
                    </a:p>
                  </a:txBody>
                  <a:tcPr marT="40233" marB="40233" anchor="ctr">
                    <a:lnL w="9525">
                      <a:solidFill>
                        <a:srgbClr val="C3C8D4"/>
                      </a:solidFill>
                    </a:lnL>
                    <a:lnR w="9525">
                      <a:solidFill>
                        <a:srgbClr val="C3C8D4"/>
                      </a:solidFill>
                    </a:lnR>
                    <a:lnT w="9525">
                      <a:solidFill>
                        <a:srgbClr val="C3C8D4"/>
                      </a:solidFill>
                    </a:lnT>
                    <a:lnB w="9525">
                      <a:solidFill>
                        <a:srgbClr val="C3C8D4"/>
                      </a:solidFill>
                    </a:lnB>
                    <a:solidFill>
                      <a:srgbClr val="FFFFFF"/>
                    </a:solidFill>
                  </a:tcPr>
                </a:tc>
                <a:tc>
                  <a:txBody>
                    <a:bodyPr/>
                    <a:lstStyle/>
                    <a:p>
                      <a:pPr algn="ctr"/>
                      <a:r>
                        <a:rPr sz="1150" b="0">
                          <a:solidFill>
                            <a:srgbClr val="2E3142"/>
                          </a:solidFill>
                          <a:latin typeface="210 OmniGothic 040"/>
                          <a:ea typeface="210 OmniGothic 040"/>
                          <a:cs typeface="210 OmniGothic 040"/>
                        </a:rPr>
                        <a:t>이벤트 로그·오류 모니터링</a:t>
                      </a:r>
                    </a:p>
                  </a:txBody>
                  <a:tcPr marT="40233" marB="40233" anchor="ctr">
                    <a:lnL w="9525">
                      <a:solidFill>
                        <a:srgbClr val="C3C8D4"/>
                      </a:solidFill>
                    </a:lnL>
                    <a:lnR w="9525">
                      <a:solidFill>
                        <a:srgbClr val="C3C8D4"/>
                      </a:solidFill>
                    </a:lnR>
                    <a:lnT w="9525">
                      <a:solidFill>
                        <a:srgbClr val="C3C8D4"/>
                      </a:solidFill>
                    </a:lnT>
                    <a:lnB w="9525">
                      <a:solidFill>
                        <a:srgbClr val="C3C8D4"/>
                      </a:solidFill>
                    </a:lnB>
                    <a:solidFill>
                      <a:srgbClr val="FFFFFF"/>
                    </a:solidFill>
                  </a:tcPr>
                </a:tc>
                <a:extLst>
                  <a:ext uri="{0D108BD9-81ED-4DB2-BD59-A6C34878D82A}">
                    <a16:rowId xmlns:a16="http://schemas.microsoft.com/office/drawing/2014/main" val="10007"/>
                  </a:ext>
                </a:extLst>
              </a:tr>
              <a:tr h="306781">
                <a:tc vMerge="1">
                  <a:txBody>
                    <a:bodyPr/>
                    <a:lstStyle/>
                    <a:p>
                      <a:endParaRPr/>
                    </a:p>
                  </a:txBody>
                  <a:tcPr/>
                </a:tc>
                <a:tc>
                  <a:txBody>
                    <a:bodyPr/>
                    <a:lstStyle/>
                    <a:p>
                      <a:pPr algn="ctr"/>
                      <a:r>
                        <a:rPr sz="1150" b="0">
                          <a:solidFill>
                            <a:srgbClr val="2E3142"/>
                          </a:solidFill>
                          <a:latin typeface="210 OmniGothic 040"/>
                          <a:ea typeface="210 OmniGothic 040"/>
                          <a:cs typeface="210 OmniGothic 040"/>
                        </a:rPr>
                        <a:t>ORP-002</a:t>
                      </a:r>
                    </a:p>
                  </a:txBody>
                  <a:tcPr marT="40233" marB="40233" anchor="ctr">
                    <a:lnL w="9525">
                      <a:solidFill>
                        <a:srgbClr val="C3C8D4"/>
                      </a:solidFill>
                    </a:lnL>
                    <a:lnR w="9525">
                      <a:solidFill>
                        <a:srgbClr val="C3C8D4"/>
                      </a:solidFill>
                    </a:lnR>
                    <a:lnT w="9525">
                      <a:solidFill>
                        <a:srgbClr val="C3C8D4"/>
                      </a:solidFill>
                    </a:lnT>
                    <a:lnB w="9525">
                      <a:solidFill>
                        <a:srgbClr val="C3C8D4"/>
                      </a:solidFill>
                    </a:lnB>
                    <a:solidFill>
                      <a:srgbClr val="FFFFFF"/>
                    </a:solidFill>
                  </a:tcPr>
                </a:tc>
                <a:tc>
                  <a:txBody>
                    <a:bodyPr/>
                    <a:lstStyle/>
                    <a:p>
                      <a:pPr algn="ctr"/>
                      <a:r>
                        <a:rPr sz="1150" b="0">
                          <a:solidFill>
                            <a:srgbClr val="2E3142"/>
                          </a:solidFill>
                          <a:latin typeface="210 OmniGothic 040"/>
                          <a:ea typeface="210 OmniGothic 040"/>
                          <a:cs typeface="210 OmniGothic 040"/>
                        </a:rPr>
                        <a:t>데이터 적재·갱신</a:t>
                      </a:r>
                    </a:p>
                  </a:txBody>
                  <a:tcPr marT="40233" marB="40233" anchor="ctr">
                    <a:lnL w="9525">
                      <a:solidFill>
                        <a:srgbClr val="C3C8D4"/>
                      </a:solidFill>
                    </a:lnL>
                    <a:lnR w="9525">
                      <a:solidFill>
                        <a:srgbClr val="C3C8D4"/>
                      </a:solidFill>
                    </a:lnR>
                    <a:lnT w="9525">
                      <a:solidFill>
                        <a:srgbClr val="C3C8D4"/>
                      </a:solidFill>
                    </a:lnT>
                    <a:lnB w="9525">
                      <a:solidFill>
                        <a:srgbClr val="C3C8D4"/>
                      </a:solidFill>
                    </a:lnB>
                    <a:solidFill>
                      <a:srgbClr val="FFFFFF"/>
                    </a:solidFill>
                  </a:tcPr>
                </a:tc>
                <a:extLst>
                  <a:ext uri="{0D108BD9-81ED-4DB2-BD59-A6C34878D82A}">
                    <a16:rowId xmlns:a16="http://schemas.microsoft.com/office/drawing/2014/main" val="10008"/>
                  </a:ext>
                </a:extLst>
              </a:tr>
              <a:tr h="306781">
                <a:tc>
                  <a:txBody>
                    <a:bodyPr/>
                    <a:lstStyle/>
                    <a:p>
                      <a:pPr algn="ctr"/>
                      <a:r>
                        <a:rPr sz="1150" b="1">
                          <a:solidFill>
                            <a:srgbClr val="2E3142"/>
                          </a:solidFill>
                          <a:latin typeface="210 OmniGothic 040"/>
                          <a:ea typeface="210 OmniGothic 040"/>
                          <a:cs typeface="210 OmniGothic 040"/>
                        </a:rPr>
                        <a:t>배포
요구사항</a:t>
                      </a:r>
                    </a:p>
                  </a:txBody>
                  <a:tcPr marT="40233" marB="40233" anchor="ctr">
                    <a:lnL w="9525">
                      <a:solidFill>
                        <a:srgbClr val="C3C8D4"/>
                      </a:solidFill>
                    </a:lnL>
                    <a:lnR w="9525">
                      <a:solidFill>
                        <a:srgbClr val="C3C8D4"/>
                      </a:solidFill>
                    </a:lnR>
                    <a:lnT w="9525">
                      <a:solidFill>
                        <a:srgbClr val="C3C8D4"/>
                      </a:solidFill>
                    </a:lnT>
                    <a:lnB w="9525">
                      <a:solidFill>
                        <a:srgbClr val="C3C8D4"/>
                      </a:solidFill>
                    </a:lnB>
                    <a:solidFill>
                      <a:srgbClr val="FEF5EE"/>
                    </a:solidFill>
                  </a:tcPr>
                </a:tc>
                <a:tc>
                  <a:txBody>
                    <a:bodyPr/>
                    <a:lstStyle/>
                    <a:p>
                      <a:pPr algn="ctr"/>
                      <a:r>
                        <a:rPr sz="1150" b="0">
                          <a:solidFill>
                            <a:srgbClr val="2E3142"/>
                          </a:solidFill>
                          <a:latin typeface="210 OmniGothic 040"/>
                          <a:ea typeface="210 OmniGothic 040"/>
                          <a:cs typeface="210 OmniGothic 040"/>
                        </a:rPr>
                        <a:t>DPR-001</a:t>
                      </a:r>
                    </a:p>
                  </a:txBody>
                  <a:tcPr marT="40233" marB="40233" anchor="ctr">
                    <a:lnL w="9525">
                      <a:solidFill>
                        <a:srgbClr val="C3C8D4"/>
                      </a:solidFill>
                    </a:lnL>
                    <a:lnR w="9525">
                      <a:solidFill>
                        <a:srgbClr val="C3C8D4"/>
                      </a:solidFill>
                    </a:lnR>
                    <a:lnT w="9525">
                      <a:solidFill>
                        <a:srgbClr val="C3C8D4"/>
                      </a:solidFill>
                    </a:lnT>
                    <a:lnB w="9525">
                      <a:solidFill>
                        <a:srgbClr val="C3C8D4"/>
                      </a:solidFill>
                    </a:lnB>
                    <a:solidFill>
                      <a:srgbClr val="FFFFFF"/>
                    </a:solidFill>
                  </a:tcPr>
                </a:tc>
                <a:tc>
                  <a:txBody>
                    <a:bodyPr/>
                    <a:lstStyle/>
                    <a:p>
                      <a:pPr algn="ctr"/>
                      <a:r>
                        <a:rPr sz="1150" b="0">
                          <a:solidFill>
                            <a:srgbClr val="2E3142"/>
                          </a:solidFill>
                          <a:latin typeface="210 OmniGothic 040"/>
                          <a:ea typeface="210 OmniGothic 040"/>
                          <a:cs typeface="210 OmniGothic 040"/>
                        </a:rPr>
                        <a:t>컨테이너 기반 배포</a:t>
                      </a:r>
                    </a:p>
                  </a:txBody>
                  <a:tcPr marT="40233" marB="40233" anchor="ctr">
                    <a:lnL w="9525">
                      <a:solidFill>
                        <a:srgbClr val="C3C8D4"/>
                      </a:solidFill>
                    </a:lnL>
                    <a:lnR w="9525">
                      <a:solidFill>
                        <a:srgbClr val="C3C8D4"/>
                      </a:solidFill>
                    </a:lnR>
                    <a:lnT w="9525">
                      <a:solidFill>
                        <a:srgbClr val="C3C8D4"/>
                      </a:solidFill>
                    </a:lnT>
                    <a:lnB w="9525">
                      <a:solidFill>
                        <a:srgbClr val="C3C8D4"/>
                      </a:solidFill>
                    </a:lnB>
                    <a:solidFill>
                      <a:srgbClr val="FFFFFF"/>
                    </a:solidFill>
                  </a:tcPr>
                </a:tc>
                <a:extLst>
                  <a:ext uri="{0D108BD9-81ED-4DB2-BD59-A6C34878D82A}">
                    <a16:rowId xmlns:a16="http://schemas.microsoft.com/office/drawing/2014/main" val="10009"/>
                  </a:ext>
                </a:extLst>
              </a:tr>
              <a:tr h="306781">
                <a:tc rowSpan="2">
                  <a:txBody>
                    <a:bodyPr/>
                    <a:lstStyle/>
                    <a:p>
                      <a:pPr algn="ctr"/>
                      <a:r>
                        <a:rPr sz="1150" b="1">
                          <a:solidFill>
                            <a:srgbClr val="2E3142"/>
                          </a:solidFill>
                          <a:latin typeface="210 OmniGothic 040"/>
                          <a:ea typeface="210 OmniGothic 040"/>
                          <a:cs typeface="210 OmniGothic 040"/>
                        </a:rPr>
                        <a:t>테스트
요구사항</a:t>
                      </a:r>
                    </a:p>
                  </a:txBody>
                  <a:tcPr marT="40233" marB="40233" anchor="ctr">
                    <a:lnL w="9525">
                      <a:solidFill>
                        <a:srgbClr val="C3C8D4"/>
                      </a:solidFill>
                    </a:lnL>
                    <a:lnR w="9525">
                      <a:solidFill>
                        <a:srgbClr val="C3C8D4"/>
                      </a:solidFill>
                    </a:lnR>
                    <a:lnT w="9525">
                      <a:solidFill>
                        <a:srgbClr val="C3C8D4"/>
                      </a:solidFill>
                    </a:lnT>
                    <a:lnB w="9525">
                      <a:solidFill>
                        <a:srgbClr val="C3C8D4"/>
                      </a:solidFill>
                    </a:lnB>
                    <a:solidFill>
                      <a:srgbClr val="FEF5EE"/>
                    </a:solidFill>
                  </a:tcPr>
                </a:tc>
                <a:tc>
                  <a:txBody>
                    <a:bodyPr/>
                    <a:lstStyle/>
                    <a:p>
                      <a:pPr algn="ctr"/>
                      <a:r>
                        <a:rPr sz="1150" b="0">
                          <a:solidFill>
                            <a:srgbClr val="2E3142"/>
                          </a:solidFill>
                          <a:latin typeface="210 OmniGothic 040"/>
                          <a:ea typeface="210 OmniGothic 040"/>
                          <a:cs typeface="210 OmniGothic 040"/>
                        </a:rPr>
                        <a:t>TER-001</a:t>
                      </a:r>
                    </a:p>
                  </a:txBody>
                  <a:tcPr marT="40233" marB="40233" anchor="ctr">
                    <a:lnL w="9525">
                      <a:solidFill>
                        <a:srgbClr val="C3C8D4"/>
                      </a:solidFill>
                    </a:lnL>
                    <a:lnR w="9525">
                      <a:solidFill>
                        <a:srgbClr val="C3C8D4"/>
                      </a:solidFill>
                    </a:lnR>
                    <a:lnT w="9525">
                      <a:solidFill>
                        <a:srgbClr val="C3C8D4"/>
                      </a:solidFill>
                    </a:lnT>
                    <a:lnB w="9525">
                      <a:solidFill>
                        <a:srgbClr val="C3C8D4"/>
                      </a:solidFill>
                    </a:lnB>
                    <a:solidFill>
                      <a:srgbClr val="FFFFFF"/>
                    </a:solidFill>
                  </a:tcPr>
                </a:tc>
                <a:tc>
                  <a:txBody>
                    <a:bodyPr/>
                    <a:lstStyle/>
                    <a:p>
                      <a:pPr algn="ctr"/>
                      <a:r>
                        <a:rPr sz="1150" b="0">
                          <a:solidFill>
                            <a:srgbClr val="2E3142"/>
                          </a:solidFill>
                          <a:latin typeface="210 OmniGothic 040"/>
                          <a:ea typeface="210 OmniGothic 040"/>
                          <a:cs typeface="210 OmniGothic 040"/>
                        </a:rPr>
                        <a:t>기능·통합 테스트</a:t>
                      </a:r>
                    </a:p>
                  </a:txBody>
                  <a:tcPr marT="40233" marB="40233" anchor="ctr">
                    <a:lnL w="9525">
                      <a:solidFill>
                        <a:srgbClr val="C3C8D4"/>
                      </a:solidFill>
                    </a:lnL>
                    <a:lnR w="9525">
                      <a:solidFill>
                        <a:srgbClr val="C3C8D4"/>
                      </a:solidFill>
                    </a:lnR>
                    <a:lnT w="9525">
                      <a:solidFill>
                        <a:srgbClr val="C3C8D4"/>
                      </a:solidFill>
                    </a:lnT>
                    <a:lnB w="9525">
                      <a:solidFill>
                        <a:srgbClr val="C3C8D4"/>
                      </a:solidFill>
                    </a:lnB>
                    <a:solidFill>
                      <a:srgbClr val="FFFFFF"/>
                    </a:solidFill>
                  </a:tcPr>
                </a:tc>
                <a:extLst>
                  <a:ext uri="{0D108BD9-81ED-4DB2-BD59-A6C34878D82A}">
                    <a16:rowId xmlns:a16="http://schemas.microsoft.com/office/drawing/2014/main" val="10010"/>
                  </a:ext>
                </a:extLst>
              </a:tr>
              <a:tr h="306781">
                <a:tc vMerge="1">
                  <a:txBody>
                    <a:bodyPr/>
                    <a:lstStyle/>
                    <a:p>
                      <a:endParaRPr/>
                    </a:p>
                  </a:txBody>
                  <a:tcPr/>
                </a:tc>
                <a:tc>
                  <a:txBody>
                    <a:bodyPr/>
                    <a:lstStyle/>
                    <a:p>
                      <a:pPr algn="ctr"/>
                      <a:r>
                        <a:rPr sz="1150" b="0">
                          <a:solidFill>
                            <a:srgbClr val="2E3142"/>
                          </a:solidFill>
                          <a:latin typeface="210 OmniGothic 040"/>
                          <a:ea typeface="210 OmniGothic 040"/>
                          <a:cs typeface="210 OmniGothic 040"/>
                        </a:rPr>
                        <a:t>TER-002</a:t>
                      </a:r>
                    </a:p>
                  </a:txBody>
                  <a:tcPr marT="40233" marB="40233" anchor="ctr">
                    <a:lnL w="9525">
                      <a:solidFill>
                        <a:srgbClr val="C3C8D4"/>
                      </a:solidFill>
                    </a:lnL>
                    <a:lnR w="9525">
                      <a:solidFill>
                        <a:srgbClr val="C3C8D4"/>
                      </a:solidFill>
                    </a:lnR>
                    <a:lnT w="9525">
                      <a:solidFill>
                        <a:srgbClr val="C3C8D4"/>
                      </a:solidFill>
                    </a:lnT>
                    <a:lnB w="9525">
                      <a:solidFill>
                        <a:srgbClr val="C3C8D4"/>
                      </a:solidFill>
                    </a:lnB>
                    <a:solidFill>
                      <a:srgbClr val="FFFFFF"/>
                    </a:solidFill>
                  </a:tcPr>
                </a:tc>
                <a:tc>
                  <a:txBody>
                    <a:bodyPr/>
                    <a:lstStyle/>
                    <a:p>
                      <a:pPr algn="ctr"/>
                      <a:r>
                        <a:rPr sz="1150" b="0">
                          <a:solidFill>
                            <a:srgbClr val="2E3142"/>
                          </a:solidFill>
                          <a:latin typeface="210 OmniGothic 040"/>
                          <a:ea typeface="210 OmniGothic 040"/>
                          <a:cs typeface="210 OmniGothic 040"/>
                        </a:rPr>
                        <a:t>AI 모델 평가</a:t>
                      </a:r>
                    </a:p>
                  </a:txBody>
                  <a:tcPr marT="40233" marB="40233" anchor="ctr">
                    <a:lnL w="9525">
                      <a:solidFill>
                        <a:srgbClr val="C3C8D4"/>
                      </a:solidFill>
                    </a:lnL>
                    <a:lnR w="9525">
                      <a:solidFill>
                        <a:srgbClr val="C3C8D4"/>
                      </a:solidFill>
                    </a:lnR>
                    <a:lnT w="9525">
                      <a:solidFill>
                        <a:srgbClr val="C3C8D4"/>
                      </a:solidFill>
                    </a:lnT>
                    <a:lnB w="9525">
                      <a:solidFill>
                        <a:srgbClr val="C3C8D4"/>
                      </a:solidFill>
                    </a:lnB>
                    <a:solidFill>
                      <a:srgbClr val="FFFFFF"/>
                    </a:solidFill>
                  </a:tcPr>
                </a:tc>
                <a:extLst>
                  <a:ext uri="{0D108BD9-81ED-4DB2-BD59-A6C34878D82A}">
                    <a16:rowId xmlns:a16="http://schemas.microsoft.com/office/drawing/2014/main" val="10011"/>
                  </a:ext>
                </a:extLst>
              </a:tr>
            </a:tbl>
          </a:graphicData>
        </a:graphic>
      </p:graphicFrame>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96"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2700" y="-12700"/>
            <a:ext cx="18313400" cy="1638300"/>
          </a:xfrm>
          <a:prstGeom prst="rect">
            <a:avLst/>
          </a:prstGeom>
        </p:spPr>
      </p:pic>
      <p:pic>
        <p:nvPicPr>
          <p:cNvPr id="5397"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628" y="1618343"/>
            <a:ext cx="18313400" cy="8699500"/>
          </a:xfrm>
          <a:prstGeom prst="rect">
            <a:avLst/>
          </a:prstGeom>
        </p:spPr>
      </p:pic>
      <p:pic>
        <p:nvPicPr>
          <p:cNvPr id="5399" name="Picture 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278100" y="203200"/>
            <a:ext cx="1676400" cy="1409700"/>
          </a:xfrm>
          <a:prstGeom prst="rect">
            <a:avLst/>
          </a:prstGeom>
        </p:spPr>
      </p:pic>
      <p:sp>
        <p:nvSpPr>
          <p:cNvPr id="5400" name="Title"/>
          <p:cNvSpPr txBox="1"/>
          <p:nvPr/>
        </p:nvSpPr>
        <p:spPr>
          <a:xfrm>
            <a:off x="822960" y="384048"/>
            <a:ext cx="13258800" cy="877824"/>
          </a:xfrm>
          <a:prstGeom prst="rect">
            <a:avLst/>
          </a:prstGeom>
          <a:noFill/>
        </p:spPr>
        <p:txBody>
          <a:bodyPr wrap="square" lIns="0" tIns="0" rIns="0" bIns="0" anchor="ctr">
            <a:spAutoFit/>
          </a:bodyPr>
          <a:lstStyle/>
          <a:p>
            <a:pPr algn="l"/>
            <a:r>
              <a:rPr sz="4400" b="0">
                <a:solidFill>
                  <a:srgbClr val="FAA95A"/>
                </a:solidFill>
                <a:latin typeface="210 OmniGothic 050"/>
                <a:ea typeface="210 OmniGothic 050"/>
                <a:cs typeface="210 OmniGothic 050"/>
              </a:rPr>
              <a:t>07. 비기능 요구사항</a:t>
            </a:r>
          </a:p>
        </p:txBody>
      </p:sp>
      <p:sp>
        <p:nvSpPr>
          <p:cNvPr id="5401" name="Subtitle"/>
          <p:cNvSpPr txBox="1"/>
          <p:nvPr/>
        </p:nvSpPr>
        <p:spPr>
          <a:xfrm>
            <a:off x="822960" y="1764792"/>
            <a:ext cx="16642080" cy="502920"/>
          </a:xfrm>
          <a:prstGeom prst="rect">
            <a:avLst/>
          </a:prstGeom>
          <a:noFill/>
        </p:spPr>
        <p:txBody>
          <a:bodyPr wrap="square" lIns="0" tIns="0" rIns="0" bIns="0" anchor="ctr">
            <a:spAutoFit/>
          </a:bodyPr>
          <a:lstStyle/>
          <a:p>
            <a:pPr algn="ctr"/>
            <a:r>
              <a:rPr sz="2600" b="1">
                <a:solidFill>
                  <a:srgbClr val="363A52"/>
                </a:solidFill>
                <a:latin typeface="210 OmniGothic 040"/>
                <a:ea typeface="210 OmniGothic 040"/>
                <a:cs typeface="210 OmniGothic 040"/>
              </a:rPr>
              <a:t>인터페이스 요구사항</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sz="quarter" idx="12"/>
          </p:nvPr>
        </p:nvSpPr>
        <p:spPr/>
        <p:txBody>
          <a:bodyPr/>
          <a:lstStyle/>
          <a:p>
            <a:fld id="{B6F15528-21DE-4FAA-801E-634DDDAF4B2B}" type="slidenum">
              <a:rPr lang="en-US" smtClean="0"/>
              <a:pPr/>
              <a:t>80</a:t>
            </a:fld>
            <a:endParaRPr lang="en-US"/>
          </a:p>
        </p:txBody>
      </p:sp>
      <p:graphicFrame>
        <p:nvGraphicFramePr>
          <p:cNvPr id="5402" name="Table 5401"/>
          <p:cNvGraphicFramePr>
            <a:graphicFrameLocks noGrp="1"/>
          </p:cNvGraphicFramePr>
          <p:nvPr>
            <p:extLst>
              <p:ext uri="{D42A27DB-BD31-4B8C-83A1-F6EECF244321}">
                <p14:modId xmlns:p14="http://schemas.microsoft.com/office/powerpoint/2010/main" val="2717232612"/>
              </p:ext>
            </p:extLst>
          </p:nvPr>
        </p:nvGraphicFramePr>
        <p:xfrm>
          <a:off x="2880360" y="2546604"/>
          <a:ext cx="12344400" cy="5975603"/>
        </p:xfrm>
        <a:graphic>
          <a:graphicData uri="http://schemas.openxmlformats.org/drawingml/2006/table">
            <a:tbl>
              <a:tblPr>
                <a:tableStyleId>{2D5ABB26-0587-4C30-8999-92F81FD0307C}</a:tableStyleId>
              </a:tblPr>
              <a:tblGrid>
                <a:gridCol w="245745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8286750">
                  <a:extLst>
                    <a:ext uri="{9D8B030D-6E8A-4147-A177-3AD203B41FA5}">
                      <a16:colId xmlns:a16="http://schemas.microsoft.com/office/drawing/2014/main" val="20002"/>
                    </a:ext>
                  </a:extLst>
                </a:gridCol>
              </a:tblGrid>
              <a:tr h="438094">
                <a:tc gridSpan="2">
                  <a:txBody>
                    <a:bodyPr/>
                    <a:lstStyle/>
                    <a:p>
                      <a:pPr algn="ctr"/>
                      <a:r>
                        <a:rPr sz="1450" b="1" dirty="0">
                          <a:solidFill>
                            <a:srgbClr val="2E3142"/>
                          </a:solidFill>
                          <a:latin typeface="210 OmniGothic 040"/>
                          <a:ea typeface="210 OmniGothic 040"/>
                          <a:cs typeface="210 OmniGothic 040"/>
                        </a:rPr>
                        <a:t>요구사항 분류</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r>
                        <a:rPr sz="1450" b="0" dirty="0">
                          <a:solidFill>
                            <a:srgbClr val="2E3142"/>
                          </a:solidFill>
                          <a:latin typeface="210 OmniGothic 040"/>
                          <a:ea typeface="210 OmniGothic 040"/>
                          <a:cs typeface="210 OmniGothic 040"/>
                        </a:rPr>
                        <a:t>인터페이스 요구사항</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0"/>
                  </a:ext>
                </a:extLst>
              </a:tr>
              <a:tr h="438094">
                <a:tc gridSpan="2">
                  <a:txBody>
                    <a:bodyPr/>
                    <a:lstStyle/>
                    <a:p>
                      <a:pPr algn="ctr"/>
                      <a:r>
                        <a:rPr sz="1450" b="1" dirty="0">
                          <a:solidFill>
                            <a:srgbClr val="2E3142"/>
                          </a:solidFill>
                          <a:latin typeface="210 OmniGothic 040"/>
                          <a:ea typeface="210 OmniGothic 040"/>
                          <a:cs typeface="210 OmniGothic 040"/>
                        </a:rPr>
                        <a:t>요구사항 고유번호</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r>
                        <a:rPr sz="1450" b="0" dirty="0">
                          <a:solidFill>
                            <a:srgbClr val="2E3142"/>
                          </a:solidFill>
                          <a:latin typeface="210 OmniGothic 040"/>
                          <a:ea typeface="210 OmniGothic 040"/>
                          <a:cs typeface="210 OmniGothic 040"/>
                        </a:rPr>
                        <a:t>INR-001</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1"/>
                  </a:ext>
                </a:extLst>
              </a:tr>
              <a:tr h="438094">
                <a:tc gridSpan="2">
                  <a:txBody>
                    <a:bodyPr/>
                    <a:lstStyle/>
                    <a:p>
                      <a:pPr algn="ctr"/>
                      <a:r>
                        <a:rPr sz="1450" b="1" dirty="0">
                          <a:solidFill>
                            <a:srgbClr val="2E3142"/>
                          </a:solidFill>
                          <a:latin typeface="210 OmniGothic 040"/>
                          <a:ea typeface="210 OmniGothic 040"/>
                          <a:cs typeface="210 OmniGothic 040"/>
                        </a:rPr>
                        <a:t>요구사항 명칭</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r>
                        <a:rPr sz="1450" b="0" dirty="0">
                          <a:solidFill>
                            <a:srgbClr val="2E3142"/>
                          </a:solidFill>
                          <a:latin typeface="210 OmniGothic 040"/>
                          <a:ea typeface="210 OmniGothic 040"/>
                          <a:cs typeface="210 OmniGothic 040"/>
                        </a:rPr>
                        <a:t>UI/UX 화면 설계</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2"/>
                  </a:ext>
                </a:extLst>
              </a:tr>
              <a:tr h="481904">
                <a:tc rowSpan="2">
                  <a:txBody>
                    <a:bodyPr/>
                    <a:lstStyle/>
                    <a:p>
                      <a:pPr algn="ctr"/>
                      <a:r>
                        <a:rPr sz="1450" b="1" dirty="0">
                          <a:solidFill>
                            <a:srgbClr val="2E3142"/>
                          </a:solidFill>
                          <a:latin typeface="210 OmniGothic 040"/>
                          <a:ea typeface="210 OmniGothic 040"/>
                          <a:cs typeface="210 OmniGothic 040"/>
                        </a:rPr>
                        <a:t>요구사항
상세설명</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a:txBody>
                    <a:bodyPr/>
                    <a:lstStyle/>
                    <a:p>
                      <a:pPr algn="ctr"/>
                      <a:r>
                        <a:rPr sz="1450" b="1" dirty="0">
                          <a:solidFill>
                            <a:srgbClr val="2E3142"/>
                          </a:solidFill>
                          <a:latin typeface="210 OmniGothic 040"/>
                          <a:ea typeface="210 OmniGothic 040"/>
                          <a:cs typeface="210 OmniGothic 040"/>
                        </a:rPr>
                        <a:t>정의</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a:txBody>
                    <a:bodyPr/>
                    <a:lstStyle/>
                    <a:p>
                      <a:pPr algn="l"/>
                      <a:r>
                        <a:rPr sz="1450" b="0" dirty="0" err="1">
                          <a:solidFill>
                            <a:srgbClr val="2E3142"/>
                          </a:solidFill>
                          <a:latin typeface="210 OmniGothic 040"/>
                          <a:ea typeface="210 OmniGothic 040"/>
                          <a:cs typeface="210 OmniGothic 040"/>
                        </a:rPr>
                        <a:t>지도</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중심</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단일</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화면에서</a:t>
                      </a:r>
                      <a:r>
                        <a:rPr sz="1450" b="0" dirty="0">
                          <a:solidFill>
                            <a:srgbClr val="2E3142"/>
                          </a:solidFill>
                          <a:latin typeface="210 OmniGothic 040"/>
                          <a:ea typeface="210 OmniGothic 040"/>
                          <a:cs typeface="210 OmniGothic 040"/>
                        </a:rPr>
                        <a:t> </a:t>
                      </a:r>
                      <a:r>
                        <a:rPr lang="ko-KR" altLang="en-US" sz="1450" b="0" i="0" u="none" strike="noStrike" noProof="0" dirty="0">
                          <a:solidFill>
                            <a:srgbClr val="2E3142"/>
                          </a:solidFill>
                          <a:latin typeface="210 OmniGothic 040"/>
                          <a:ea typeface="210 OmniGothic 040"/>
                        </a:rPr>
                        <a:t>불</a:t>
                      </a:r>
                      <a:r>
                        <a:rPr lang="en-US" altLang="ko-KR" sz="1450" b="0" i="0" u="none" strike="noStrike" noProof="0" dirty="0">
                          <a:solidFill>
                            <a:srgbClr val="2E3142"/>
                          </a:solidFill>
                          <a:latin typeface="210 OmniGothic 040"/>
                          <a:ea typeface="210 OmniGothic 040"/>
                        </a:rPr>
                        <a:t> </a:t>
                      </a:r>
                      <a:r>
                        <a:rPr lang="en-US" sz="1450" b="0" i="0" u="none" strike="noStrike" noProof="0" dirty="0" err="1">
                          <a:solidFill>
                            <a:srgbClr val="2E3142"/>
                          </a:solidFill>
                          <a:latin typeface="210 OmniGothic 040"/>
                          <a:ea typeface="210 OmniGothic 040"/>
                        </a:rPr>
                        <a:t>상황</a:t>
                      </a:r>
                      <a:r>
                        <a:rPr lang="en-US" sz="1450" b="0" i="0" u="none" strike="noStrike" noProof="0" dirty="0">
                          <a:solidFill>
                            <a:srgbClr val="2E3142"/>
                          </a:solidFill>
                          <a:latin typeface="210 OmniGothic 040"/>
                          <a:ea typeface="210 OmniGothic 040"/>
                        </a:rPr>
                        <a:t>,</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확산</a:t>
                      </a:r>
                      <a:r>
                        <a:rPr lang="en-US" altLang="ko-KR" sz="1450" b="0" i="0" u="none" strike="noStrike" noProof="0" dirty="0">
                          <a:solidFill>
                            <a:srgbClr val="2E3142"/>
                          </a:solidFill>
                          <a:latin typeface="210 OmniGothic 040"/>
                          <a:ea typeface="210 OmniGothic 040"/>
                        </a:rPr>
                        <a:t> </a:t>
                      </a:r>
                      <a:r>
                        <a:rPr lang="en-US" sz="1450" b="0" i="0" u="none" strike="noStrike" noProof="0" dirty="0" err="1">
                          <a:solidFill>
                            <a:srgbClr val="2E3142"/>
                          </a:solidFill>
                          <a:latin typeface="210 OmniGothic 040"/>
                          <a:ea typeface="210 OmniGothic 040"/>
                        </a:rPr>
                        <a:t>예측</a:t>
                      </a:r>
                      <a:r>
                        <a:rPr lang="en-US" sz="1450" b="0" i="0" u="none" strike="noStrike" noProof="0" dirty="0">
                          <a:solidFill>
                            <a:srgbClr val="2E3142"/>
                          </a:solidFill>
                          <a:latin typeface="210 OmniGothic 040"/>
                          <a:ea typeface="210 OmniGothic 040"/>
                        </a:rPr>
                        <a:t>,</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대응</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제안</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및</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근거를</a:t>
                      </a:r>
                      <a:r>
                        <a:rPr lang="ko-K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확인하는</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화면</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구성</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3"/>
                  </a:ext>
                </a:extLst>
              </a:tr>
              <a:tr h="2865135">
                <a:tc vMerge="1">
                  <a:txBody>
                    <a:bodyPr/>
                    <a:lstStyle/>
                    <a:p>
                      <a:endParaRPr/>
                    </a:p>
                  </a:txBody>
                  <a:tcPr/>
                </a:tc>
                <a:tc>
                  <a:txBody>
                    <a:bodyPr/>
                    <a:lstStyle/>
                    <a:p>
                      <a:pPr algn="ctr"/>
                      <a:r>
                        <a:rPr sz="1450" b="1" dirty="0">
                          <a:solidFill>
                            <a:srgbClr val="2E3142"/>
                          </a:solidFill>
                          <a:latin typeface="210 OmniGothic 040"/>
                          <a:ea typeface="210 OmniGothic 040"/>
                          <a:cs typeface="210 OmniGothic 040"/>
                        </a:rPr>
                        <a:t>세부 내용</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a:txBody>
                    <a:bodyPr/>
                    <a:lstStyle/>
                    <a:p>
                      <a:pPr lvl="0" algn="l">
                        <a:lnSpc>
                          <a:spcPct val="110000"/>
                        </a:lnSpc>
                        <a:buNone/>
                      </a:pPr>
                      <a:r>
                        <a:rPr lang="ko-KR" sz="1450" b="0" i="0" u="none" strike="noStrike" noProof="0" dirty="0">
                          <a:solidFill>
                            <a:srgbClr val="2E3142"/>
                          </a:solidFill>
                          <a:latin typeface="210 OmniGothic 040"/>
                          <a:ea typeface="210 OmniGothic 040"/>
                        </a:rPr>
                        <a:t>1. 지도 중심 단일 화면 구성</a:t>
                      </a:r>
                      <a:endParaRPr lang="ko-KR" altLang="en-US" sz="1450" b="0" dirty="0">
                        <a:solidFill>
                          <a:srgbClr val="2E3142"/>
                        </a:solidFill>
                        <a:latin typeface="210 OmniGothic 040"/>
                        <a:ea typeface="210 OmniGothic 040"/>
                      </a:endParaRPr>
                    </a:p>
                    <a:p>
                      <a:pPr lvl="0" algn="l">
                        <a:lnSpc>
                          <a:spcPct val="100000"/>
                        </a:lnSpc>
                        <a:spcBef>
                          <a:spcPts val="0"/>
                        </a:spcBef>
                        <a:spcAft>
                          <a:spcPts val="0"/>
                        </a:spcAft>
                        <a:buNone/>
                      </a:pPr>
                      <a:r>
                        <a:rPr lang="ko-KR" sz="1450" b="0" i="0" u="none" strike="noStrike" noProof="0" dirty="0">
                          <a:solidFill>
                            <a:srgbClr val="2E3142"/>
                          </a:solidFill>
                          <a:latin typeface="210 OmniGothic 040"/>
                          <a:ea typeface="210 OmniGothic 040"/>
                        </a:rPr>
                        <a:t>2. </a:t>
                      </a:r>
                      <a:r>
                        <a:rPr lang="ko-KR" sz="1450" b="0" i="0" u="none" strike="noStrike" noProof="0" dirty="0" err="1">
                          <a:solidFill>
                            <a:srgbClr val="2E3142"/>
                          </a:solidFill>
                          <a:latin typeface="210 OmniGothic 040"/>
                          <a:ea typeface="210 OmniGothic 040"/>
                        </a:rPr>
                        <a:t>통합지휘권자·열람자는</a:t>
                      </a:r>
                      <a:r>
                        <a:rPr lang="ko-KR" sz="1450" b="0" i="0" u="none" strike="noStrike" noProof="0" dirty="0">
                          <a:solidFill>
                            <a:srgbClr val="2E3142"/>
                          </a:solidFill>
                          <a:latin typeface="210 OmniGothic 040"/>
                          <a:ea typeface="210 OmniGothic 040"/>
                        </a:rPr>
                        <a:t> 통합 상황도 열람과 지도 조작(이동·확대·레이어 선택·시간 재생)</a:t>
                      </a:r>
                      <a:endParaRPr lang="ko-KR" sz="1450">
                        <a:latin typeface="210 OmniGothic 040"/>
                        <a:ea typeface="210 OmniGothic 040"/>
                      </a:endParaRPr>
                    </a:p>
                    <a:p>
                      <a:pPr lvl="0" algn="l">
                        <a:lnSpc>
                          <a:spcPct val="100000"/>
                        </a:lnSpc>
                        <a:spcBef>
                          <a:spcPts val="0"/>
                        </a:spcBef>
                        <a:spcAft>
                          <a:spcPts val="0"/>
                        </a:spcAft>
                        <a:buNone/>
                      </a:pPr>
                      <a:r>
                        <a:rPr lang="en-US" altLang="ko-KR" sz="1450" b="0" i="0" u="none" strike="noStrike" noProof="0" dirty="0">
                          <a:solidFill>
                            <a:srgbClr val="2E3142"/>
                          </a:solidFill>
                          <a:latin typeface="210 OmniGothic 040"/>
                          <a:ea typeface="210 OmniGothic 040"/>
                        </a:rPr>
                        <a:t>3</a:t>
                      </a:r>
                      <a:r>
                        <a:rPr lang="ko-KR" sz="1450" b="0" i="0" u="none" strike="noStrike" noProof="0" dirty="0">
                          <a:solidFill>
                            <a:srgbClr val="2E3142"/>
                          </a:solidFill>
                          <a:latin typeface="210 OmniGothic 040"/>
                          <a:ea typeface="210 OmniGothic 040"/>
                        </a:rPr>
                        <a:t>. 데이터 변경(예측 실행·상황 정정·종료 처리)은 통합지휘권자만 가능</a:t>
                      </a:r>
                      <a:endParaRPr lang="ko-KR" sz="1450" b="0" i="0" u="none" strike="noStrike" noProof="0">
                        <a:solidFill>
                          <a:srgbClr val="000000"/>
                        </a:solidFill>
                        <a:latin typeface="210 OmniGothic 040"/>
                        <a:ea typeface="210 OmniGothic 040"/>
                      </a:endParaRPr>
                    </a:p>
                    <a:p>
                      <a:pPr lvl="0" algn="l">
                        <a:lnSpc>
                          <a:spcPct val="100000"/>
                        </a:lnSpc>
                        <a:spcBef>
                          <a:spcPts val="0"/>
                        </a:spcBef>
                        <a:spcAft>
                          <a:spcPts val="0"/>
                        </a:spcAft>
                        <a:buNone/>
                      </a:pPr>
                      <a:r>
                        <a:rPr lang="en-US" altLang="ko-KR" sz="1450" b="0" i="0" u="none" strike="noStrike" noProof="0" dirty="0">
                          <a:solidFill>
                            <a:srgbClr val="2E3142"/>
                          </a:solidFill>
                          <a:latin typeface="210 OmniGothic 040"/>
                          <a:ea typeface="210 OmniGothic 040"/>
                        </a:rPr>
                        <a:t>4</a:t>
                      </a:r>
                      <a:r>
                        <a:rPr lang="ko-KR" sz="1450" b="0" i="0" u="none" strike="noStrike" noProof="0" dirty="0">
                          <a:solidFill>
                            <a:srgbClr val="2E3142"/>
                          </a:solidFill>
                          <a:latin typeface="210 OmniGothic 040"/>
                          <a:ea typeface="210 OmniGothic 040"/>
                        </a:rPr>
                        <a:t>. 상황 보고자는 산불 정보 입력 화면 사용</a:t>
                      </a:r>
                      <a:endParaRPr lang="ko-KR" sz="1450">
                        <a:latin typeface="210 OmniGothic 040"/>
                        <a:ea typeface="210 OmniGothic 040"/>
                      </a:endParaRPr>
                    </a:p>
                    <a:p>
                      <a:pPr lvl="0" algn="l">
                        <a:lnSpc>
                          <a:spcPct val="100000"/>
                        </a:lnSpc>
                        <a:spcBef>
                          <a:spcPts val="0"/>
                        </a:spcBef>
                        <a:spcAft>
                          <a:spcPts val="0"/>
                        </a:spcAft>
                        <a:buNone/>
                      </a:pPr>
                      <a:r>
                        <a:rPr lang="en-US" altLang="ko-KR" sz="1450" b="0" i="0" u="none" strike="noStrike" noProof="0" dirty="0">
                          <a:solidFill>
                            <a:srgbClr val="2E3142"/>
                          </a:solidFill>
                          <a:latin typeface="210 OmniGothic 040"/>
                          <a:ea typeface="210 OmniGothic 040"/>
                        </a:rPr>
                        <a:t>5</a:t>
                      </a:r>
                      <a:r>
                        <a:rPr lang="ko-KR" sz="1450" b="0" i="0" u="none" strike="noStrike" noProof="0" dirty="0">
                          <a:solidFill>
                            <a:srgbClr val="2E3142"/>
                          </a:solidFill>
                          <a:latin typeface="210 OmniGothic 040"/>
                          <a:ea typeface="210 OmniGothic 040"/>
                        </a:rPr>
                        <a:t>. 전산 관리자는 </a:t>
                      </a:r>
                      <a:r>
                        <a:rPr lang="ko-KR" sz="1450" b="0" i="0" u="none" strike="noStrike" noProof="0" err="1">
                          <a:solidFill>
                            <a:srgbClr val="2E3142"/>
                          </a:solidFill>
                          <a:latin typeface="210 OmniGothic 040"/>
                          <a:ea typeface="210 OmniGothic 040"/>
                        </a:rPr>
                        <a:t>계정·진화자원</a:t>
                      </a:r>
                      <a:r>
                        <a:rPr lang="ko-KR" sz="1450" b="0" i="0" u="none" strike="noStrike" noProof="0" dirty="0">
                          <a:solidFill>
                            <a:srgbClr val="2E3142"/>
                          </a:solidFill>
                          <a:latin typeface="210 OmniGothic 040"/>
                          <a:ea typeface="210 OmniGothic 040"/>
                        </a:rPr>
                        <a:t> 관리 화면 사용</a:t>
                      </a:r>
                      <a:endParaRPr lang="ko-KR" sz="1450">
                        <a:latin typeface="210 OmniGothic 040"/>
                        <a:ea typeface="210 OmniGothic 040"/>
                      </a:endParaRPr>
                    </a:p>
                    <a:p>
                      <a:pPr lvl="0" algn="l">
                        <a:lnSpc>
                          <a:spcPct val="100000"/>
                        </a:lnSpc>
                        <a:spcBef>
                          <a:spcPts val="0"/>
                        </a:spcBef>
                        <a:spcAft>
                          <a:spcPts val="0"/>
                        </a:spcAft>
                        <a:buNone/>
                      </a:pPr>
                      <a:r>
                        <a:rPr lang="en-US" altLang="ko-KR" sz="1450" b="0" i="0" u="none" strike="noStrike" noProof="0" dirty="0">
                          <a:solidFill>
                            <a:srgbClr val="2E3142"/>
                          </a:solidFill>
                          <a:latin typeface="210 OmniGothic 040"/>
                          <a:ea typeface="210 OmniGothic 040"/>
                        </a:rPr>
                        <a:t>6</a:t>
                      </a:r>
                      <a:r>
                        <a:rPr lang="ko-KR" sz="1450" b="0" i="0" u="none" strike="noStrike" noProof="0" dirty="0">
                          <a:solidFill>
                            <a:srgbClr val="2E3142"/>
                          </a:solidFill>
                          <a:latin typeface="210 OmniGothic 040"/>
                          <a:ea typeface="210 OmniGothic 040"/>
                        </a:rPr>
                        <a:t>. </a:t>
                      </a:r>
                      <a:r>
                        <a:rPr lang="ko-KR" sz="1450" b="0" i="0" u="none" strike="noStrike" noProof="0" err="1">
                          <a:solidFill>
                            <a:srgbClr val="2E3142"/>
                          </a:solidFill>
                          <a:latin typeface="210 OmniGothic 040"/>
                          <a:ea typeface="210 OmniGothic 040"/>
                        </a:rPr>
                        <a:t>진화·대피</a:t>
                      </a:r>
                      <a:r>
                        <a:rPr lang="ko-KR" sz="1450" b="0" i="0" u="none" strike="noStrike" noProof="0" dirty="0">
                          <a:solidFill>
                            <a:srgbClr val="2E3142"/>
                          </a:solidFill>
                          <a:latin typeface="210 OmniGothic 040"/>
                          <a:ea typeface="210 OmniGothic 040"/>
                        </a:rPr>
                        <a:t> 제안을 구분하여 표시하고 </a:t>
                      </a:r>
                      <a:r>
                        <a:rPr lang="ko-KR" sz="1450" b="0" i="0" u="none" strike="noStrike" noProof="0" err="1">
                          <a:solidFill>
                            <a:srgbClr val="2E3142"/>
                          </a:solidFill>
                          <a:latin typeface="210 OmniGothic 040"/>
                          <a:ea typeface="210 OmniGothic 040"/>
                        </a:rPr>
                        <a:t>즉시·대기·협의·요청</a:t>
                      </a:r>
                      <a:r>
                        <a:rPr lang="ko-KR" sz="1450" b="0" i="0" u="none" strike="noStrike" noProof="0" dirty="0">
                          <a:solidFill>
                            <a:srgbClr val="2E3142"/>
                          </a:solidFill>
                          <a:latin typeface="210 OmniGothic 040"/>
                          <a:ea typeface="210 OmniGothic 040"/>
                        </a:rPr>
                        <a:t> 상태를 구분</a:t>
                      </a:r>
                      <a:endParaRPr lang="ko-KR" sz="1450">
                        <a:latin typeface="210 OmniGothic 040"/>
                        <a:ea typeface="210 OmniGothic 040"/>
                      </a:endParaRPr>
                    </a:p>
                    <a:p>
                      <a:pPr lvl="0" algn="l">
                        <a:lnSpc>
                          <a:spcPct val="110000"/>
                        </a:lnSpc>
                        <a:buNone/>
                      </a:pPr>
                      <a:r>
                        <a:rPr lang="en-US" altLang="ko-KR" sz="1450" b="0" i="0" u="none" strike="noStrike" noProof="0" dirty="0">
                          <a:solidFill>
                            <a:srgbClr val="2E3142"/>
                          </a:solidFill>
                          <a:latin typeface="210 OmniGothic 040"/>
                          <a:ea typeface="210 OmniGothic 040"/>
                        </a:rPr>
                        <a:t>7</a:t>
                      </a:r>
                      <a:r>
                        <a:rPr lang="ko-KR" sz="1450" b="0" i="0" u="none" strike="noStrike" noProof="0" dirty="0">
                          <a:solidFill>
                            <a:srgbClr val="2E3142"/>
                          </a:solidFill>
                          <a:latin typeface="210 OmniGothic 040"/>
                          <a:ea typeface="210 OmniGothic 040"/>
                        </a:rPr>
                        <a:t>. 제안 상세에서 판정 </a:t>
                      </a:r>
                      <a:r>
                        <a:rPr lang="ko-KR" sz="1450" b="0" i="0" u="none" strike="noStrike" noProof="0" err="1">
                          <a:solidFill>
                            <a:srgbClr val="2E3142"/>
                          </a:solidFill>
                          <a:latin typeface="210 OmniGothic 040"/>
                          <a:ea typeface="210 OmniGothic 040"/>
                        </a:rPr>
                        <a:t>이유·대상·권한·근거를</a:t>
                      </a:r>
                      <a:r>
                        <a:rPr lang="ko-KR" sz="1450" b="0" i="0" u="none" strike="noStrike" noProof="0" dirty="0">
                          <a:solidFill>
                            <a:srgbClr val="2E3142"/>
                          </a:solidFill>
                          <a:latin typeface="210 OmniGothic 040"/>
                          <a:ea typeface="210 OmniGothic 040"/>
                        </a:rPr>
                        <a:t> 확인 가능</a:t>
                      </a:r>
                      <a:endParaRPr lang="ko-KR" sz="1450">
                        <a:latin typeface="210 OmniGothic 040"/>
                        <a:ea typeface="210 OmniGothic 040"/>
                      </a:endParaRP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4"/>
                  </a:ext>
                </a:extLst>
              </a:tr>
              <a:tr h="438094">
                <a:tc gridSpan="2">
                  <a:txBody>
                    <a:bodyPr/>
                    <a:lstStyle/>
                    <a:p>
                      <a:pPr algn="ctr"/>
                      <a:r>
                        <a:rPr sz="1450" b="1" dirty="0">
                          <a:solidFill>
                            <a:srgbClr val="2E3142"/>
                          </a:solidFill>
                          <a:latin typeface="210 OmniGothic 040"/>
                          <a:ea typeface="210 OmniGothic 040"/>
                          <a:cs typeface="210 OmniGothic 040"/>
                        </a:rPr>
                        <a:t>산출정보</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r>
                        <a:rPr sz="1450" b="0" dirty="0" err="1">
                          <a:solidFill>
                            <a:srgbClr val="2E3142"/>
                          </a:solidFill>
                          <a:latin typeface="210 OmniGothic 040"/>
                          <a:ea typeface="210 OmniGothic 040"/>
                          <a:cs typeface="210 OmniGothic 040"/>
                        </a:rPr>
                        <a:t>화면</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설계서</a:t>
                      </a:r>
                      <a:r>
                        <a:rPr sz="1450" b="0" dirty="0">
                          <a:solidFill>
                            <a:srgbClr val="2E3142"/>
                          </a:solidFill>
                          <a:latin typeface="210 OmniGothic 040"/>
                          <a:ea typeface="210 OmniGothic 040"/>
                          <a:cs typeface="210 OmniGothic 040"/>
                        </a:rPr>
                        <a:t>, </a:t>
                      </a:r>
                      <a:r>
                        <a:rPr lang="af-ZA" sz="1450" b="0" dirty="0">
                          <a:solidFill>
                            <a:srgbClr val="2E3142"/>
                          </a:solidFill>
                          <a:latin typeface="210 OmniGothic 040"/>
                          <a:ea typeface="210 OmniGothic 040"/>
                          <a:cs typeface="210 OmniGothic 040"/>
                        </a:rPr>
                        <a:t>UI </a:t>
                      </a:r>
                      <a:r>
                        <a:rPr sz="1450" b="0" dirty="0" err="1">
                          <a:solidFill>
                            <a:srgbClr val="2E3142"/>
                          </a:solidFill>
                          <a:latin typeface="210 OmniGothic 040"/>
                          <a:ea typeface="210 OmniGothic 040"/>
                          <a:cs typeface="210 OmniGothic 040"/>
                        </a:rPr>
                        <a:t>목업</a:t>
                      </a:r>
                      <a:r>
                        <a:rPr sz="1450" b="0" dirty="0">
                          <a:solidFill>
                            <a:srgbClr val="2E3142"/>
                          </a:solidFill>
                          <a:latin typeface="210 OmniGothic 040"/>
                          <a:ea typeface="210 OmniGothic 040"/>
                          <a:cs typeface="210 OmniGothic 040"/>
                        </a:rPr>
                        <a:t>(GitHub Pages), </a:t>
                      </a:r>
                      <a:r>
                        <a:rPr sz="1450" b="0" dirty="0" err="1">
                          <a:solidFill>
                            <a:srgbClr val="2E3142"/>
                          </a:solidFill>
                          <a:latin typeface="210 OmniGothic 040"/>
                          <a:ea typeface="210 OmniGothic 040"/>
                          <a:cs typeface="210 OmniGothic 040"/>
                        </a:rPr>
                        <a:t>프로토타입</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5"/>
                  </a:ext>
                </a:extLst>
              </a:tr>
              <a:tr h="438094">
                <a:tc gridSpan="2">
                  <a:txBody>
                    <a:bodyPr/>
                    <a:lstStyle/>
                    <a:p>
                      <a:pPr algn="ctr"/>
                      <a:r>
                        <a:rPr sz="1450" b="1" dirty="0">
                          <a:solidFill>
                            <a:srgbClr val="2E3142"/>
                          </a:solidFill>
                          <a:latin typeface="210 OmniGothic 040"/>
                          <a:ea typeface="210 OmniGothic 040"/>
                          <a:cs typeface="210 OmniGothic 040"/>
                        </a:rPr>
                        <a:t>관련 요구사항</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r>
                        <a:rPr sz="1450" b="0" dirty="0">
                          <a:solidFill>
                            <a:srgbClr val="2E3142"/>
                          </a:solidFill>
                          <a:latin typeface="210 OmniGothic 040"/>
                          <a:ea typeface="210 OmniGothic 040"/>
                          <a:cs typeface="210 OmniGothic 040"/>
                        </a:rPr>
                        <a:t>QUR-003</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6"/>
                  </a:ext>
                </a:extLst>
              </a:tr>
              <a:tr h="438094">
                <a:tc gridSpan="2">
                  <a:txBody>
                    <a:bodyPr/>
                    <a:lstStyle/>
                    <a:p>
                      <a:pPr algn="ctr"/>
                      <a:r>
                        <a:rPr sz="1450" b="1" dirty="0">
                          <a:solidFill>
                            <a:srgbClr val="2E3142"/>
                          </a:solidFill>
                          <a:latin typeface="210 OmniGothic 040"/>
                          <a:ea typeface="210 OmniGothic 040"/>
                          <a:cs typeface="210 OmniGothic 040"/>
                        </a:rPr>
                        <a:t>요구사항 출처</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r>
                        <a:rPr lang="ko-KR" altLang="en-US" sz="1450" b="0" dirty="0">
                          <a:solidFill>
                            <a:srgbClr val="2E3142"/>
                          </a:solidFill>
                          <a:latin typeface="210 OmniGothic 040"/>
                          <a:ea typeface="210 OmniGothic 040"/>
                          <a:cs typeface="210 OmniGothic 040"/>
                        </a:rPr>
                        <a:t>사용성 요구사항</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7"/>
                  </a:ext>
                </a:extLst>
              </a:tr>
            </a:tbl>
          </a:graphicData>
        </a:graphic>
      </p:graphicFrame>
      <p:pic>
        <p:nvPicPr>
          <p:cNvPr id="4" name="Picture 5">
            <a:extLst>
              <a:ext uri="{FF2B5EF4-FFF2-40B4-BE49-F238E27FC236}">
                <a16:creationId xmlns:a16="http://schemas.microsoft.com/office/drawing/2014/main" id="{B4146096-AA7F-CC7C-5F4E-C430C2AD096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58800" y="9271000"/>
            <a:ext cx="17170400" cy="50800"/>
          </a:xfrm>
          <a:prstGeom prst="rect">
            <a:avLst/>
          </a:prstGeom>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01"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700" y="-12700"/>
            <a:ext cx="18313400" cy="1638300"/>
          </a:xfrm>
          <a:prstGeom prst="rect">
            <a:avLst/>
          </a:prstGeom>
        </p:spPr>
      </p:pic>
      <p:pic>
        <p:nvPicPr>
          <p:cNvPr id="5402"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28" y="1618343"/>
            <a:ext cx="18313400" cy="8699500"/>
          </a:xfrm>
          <a:prstGeom prst="rect">
            <a:avLst/>
          </a:prstGeom>
        </p:spPr>
      </p:pic>
      <p:pic>
        <p:nvPicPr>
          <p:cNvPr id="5403"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58800" y="9271000"/>
            <a:ext cx="17170400" cy="50800"/>
          </a:xfrm>
          <a:prstGeom prst="rect">
            <a:avLst/>
          </a:prstGeom>
        </p:spPr>
      </p:pic>
      <p:pic>
        <p:nvPicPr>
          <p:cNvPr id="5404" name="Picture 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278100" y="203200"/>
            <a:ext cx="1676400" cy="1409700"/>
          </a:xfrm>
          <a:prstGeom prst="rect">
            <a:avLst/>
          </a:prstGeom>
        </p:spPr>
      </p:pic>
      <p:sp>
        <p:nvSpPr>
          <p:cNvPr id="5405" name="Title"/>
          <p:cNvSpPr txBox="1"/>
          <p:nvPr/>
        </p:nvSpPr>
        <p:spPr>
          <a:xfrm>
            <a:off x="822960" y="384048"/>
            <a:ext cx="13258800" cy="877824"/>
          </a:xfrm>
          <a:prstGeom prst="rect">
            <a:avLst/>
          </a:prstGeom>
          <a:noFill/>
        </p:spPr>
        <p:txBody>
          <a:bodyPr wrap="square" lIns="0" tIns="0" rIns="0" bIns="0" anchor="ctr">
            <a:spAutoFit/>
          </a:bodyPr>
          <a:lstStyle/>
          <a:p>
            <a:pPr algn="l"/>
            <a:r>
              <a:rPr sz="4400" b="0">
                <a:solidFill>
                  <a:srgbClr val="FAA95A"/>
                </a:solidFill>
                <a:latin typeface="210 OmniGothic 050"/>
                <a:ea typeface="210 OmniGothic 050"/>
                <a:cs typeface="210 OmniGothic 050"/>
              </a:rPr>
              <a:t>07. 비기능 요구사항</a:t>
            </a:r>
          </a:p>
        </p:txBody>
      </p:sp>
      <p:sp>
        <p:nvSpPr>
          <p:cNvPr id="5406" name="Subtitle"/>
          <p:cNvSpPr txBox="1"/>
          <p:nvPr/>
        </p:nvSpPr>
        <p:spPr>
          <a:xfrm>
            <a:off x="822960" y="1764792"/>
            <a:ext cx="16642080" cy="502920"/>
          </a:xfrm>
          <a:prstGeom prst="rect">
            <a:avLst/>
          </a:prstGeom>
          <a:noFill/>
        </p:spPr>
        <p:txBody>
          <a:bodyPr wrap="square" lIns="0" tIns="0" rIns="0" bIns="0" anchor="ctr">
            <a:spAutoFit/>
          </a:bodyPr>
          <a:lstStyle/>
          <a:p>
            <a:pPr algn="ctr"/>
            <a:r>
              <a:rPr sz="2600" b="1">
                <a:solidFill>
                  <a:srgbClr val="363A52"/>
                </a:solidFill>
                <a:latin typeface="210 OmniGothic 040"/>
                <a:ea typeface="210 OmniGothic 040"/>
                <a:cs typeface="210 OmniGothic 040"/>
              </a:rPr>
              <a:t>인터페이스 요구사항</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sz="quarter" idx="12"/>
          </p:nvPr>
        </p:nvSpPr>
        <p:spPr/>
        <p:txBody>
          <a:bodyPr/>
          <a:lstStyle/>
          <a:p>
            <a:fld id="{B6F15528-21DE-4FAA-801E-634DDDAF4B2B}" type="slidenum">
              <a:rPr lang="en-US" smtClean="0"/>
              <a:pPr/>
              <a:t>81</a:t>
            </a:fld>
            <a:endParaRPr lang="en-US"/>
          </a:p>
        </p:txBody>
      </p:sp>
      <p:graphicFrame>
        <p:nvGraphicFramePr>
          <p:cNvPr id="5407" name="Table 5406"/>
          <p:cNvGraphicFramePr>
            <a:graphicFrameLocks noGrp="1"/>
          </p:cNvGraphicFramePr>
          <p:nvPr/>
        </p:nvGraphicFramePr>
        <p:xfrm>
          <a:off x="2880360" y="2546604"/>
          <a:ext cx="12344400" cy="5773521"/>
        </p:xfrm>
        <a:graphic>
          <a:graphicData uri="http://schemas.openxmlformats.org/drawingml/2006/table">
            <a:tbl>
              <a:tblPr>
                <a:tableStyleId>{2D5ABB26-0587-4C30-8999-92F81FD0307C}</a:tableStyleId>
              </a:tblPr>
              <a:tblGrid>
                <a:gridCol w="245745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8286750">
                  <a:extLst>
                    <a:ext uri="{9D8B030D-6E8A-4147-A177-3AD203B41FA5}">
                      <a16:colId xmlns:a16="http://schemas.microsoft.com/office/drawing/2014/main" val="20002"/>
                    </a:ext>
                  </a:extLst>
                </a:gridCol>
              </a:tblGrid>
              <a:tr h="502920">
                <a:tc gridSpan="2">
                  <a:txBody>
                    <a:bodyPr/>
                    <a:lstStyle/>
                    <a:p>
                      <a:pPr algn="ctr"/>
                      <a:r>
                        <a:rPr sz="1450" b="1" dirty="0">
                          <a:solidFill>
                            <a:srgbClr val="2E3142"/>
                          </a:solidFill>
                          <a:latin typeface="210 OmniGothic 040"/>
                          <a:ea typeface="210 OmniGothic 040"/>
                          <a:cs typeface="210 OmniGothic 040"/>
                        </a:rPr>
                        <a:t>요구사항 분류</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r>
                        <a:rPr sz="1450" b="0" dirty="0">
                          <a:solidFill>
                            <a:srgbClr val="2E3142"/>
                          </a:solidFill>
                          <a:latin typeface="210 OmniGothic 040"/>
                          <a:ea typeface="210 OmniGothic 040"/>
                          <a:cs typeface="210 OmniGothic 040"/>
                        </a:rPr>
                        <a:t>인터페이스 요구사항</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0"/>
                  </a:ext>
                </a:extLst>
              </a:tr>
              <a:tr h="502920">
                <a:tc gridSpan="2">
                  <a:txBody>
                    <a:bodyPr/>
                    <a:lstStyle/>
                    <a:p>
                      <a:pPr algn="ctr"/>
                      <a:r>
                        <a:rPr sz="1450" b="1" dirty="0">
                          <a:solidFill>
                            <a:srgbClr val="2E3142"/>
                          </a:solidFill>
                          <a:latin typeface="210 OmniGothic 040"/>
                          <a:ea typeface="210 OmniGothic 040"/>
                          <a:cs typeface="210 OmniGothic 040"/>
                        </a:rPr>
                        <a:t>요구사항 고유번호</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r>
                        <a:rPr sz="1450" b="0" dirty="0">
                          <a:solidFill>
                            <a:srgbClr val="2E3142"/>
                          </a:solidFill>
                          <a:latin typeface="210 OmniGothic 040"/>
                          <a:ea typeface="210 OmniGothic 040"/>
                          <a:cs typeface="210 OmniGothic 040"/>
                        </a:rPr>
                        <a:t>INR-002</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1"/>
                  </a:ext>
                </a:extLst>
              </a:tr>
              <a:tr h="502920">
                <a:tc gridSpan="2">
                  <a:txBody>
                    <a:bodyPr/>
                    <a:lstStyle/>
                    <a:p>
                      <a:pPr algn="ctr"/>
                      <a:r>
                        <a:rPr sz="1450" b="1" dirty="0">
                          <a:solidFill>
                            <a:srgbClr val="2E3142"/>
                          </a:solidFill>
                          <a:latin typeface="210 OmniGothic 040"/>
                          <a:ea typeface="210 OmniGothic 040"/>
                          <a:cs typeface="210 OmniGothic 040"/>
                        </a:rPr>
                        <a:t>요구사항 명칭</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r>
                        <a:rPr sz="1450" b="0" dirty="0">
                          <a:solidFill>
                            <a:srgbClr val="2E3142"/>
                          </a:solidFill>
                          <a:latin typeface="210 OmniGothic 040"/>
                          <a:ea typeface="210 OmniGothic 040"/>
                          <a:cs typeface="210 OmniGothic 040"/>
                        </a:rPr>
                        <a:t>외부 시스템 인터페이스 정의</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2"/>
                  </a:ext>
                </a:extLst>
              </a:tr>
              <a:tr h="553212">
                <a:tc rowSpan="2">
                  <a:txBody>
                    <a:bodyPr/>
                    <a:lstStyle/>
                    <a:p>
                      <a:pPr algn="ctr"/>
                      <a:r>
                        <a:rPr sz="1450" b="1" dirty="0">
                          <a:solidFill>
                            <a:srgbClr val="2E3142"/>
                          </a:solidFill>
                          <a:latin typeface="210 OmniGothic 040"/>
                          <a:ea typeface="210 OmniGothic 040"/>
                          <a:cs typeface="210 OmniGothic 040"/>
                        </a:rPr>
                        <a:t>요구사항
상세설명</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a:txBody>
                    <a:bodyPr/>
                    <a:lstStyle/>
                    <a:p>
                      <a:pPr algn="ctr"/>
                      <a:r>
                        <a:rPr sz="1450" b="1" dirty="0">
                          <a:solidFill>
                            <a:srgbClr val="2E3142"/>
                          </a:solidFill>
                          <a:latin typeface="210 OmniGothic 040"/>
                          <a:ea typeface="210 OmniGothic 040"/>
                          <a:cs typeface="210 OmniGothic 040"/>
                        </a:rPr>
                        <a:t>정의</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a:txBody>
                    <a:bodyPr/>
                    <a:lstStyle/>
                    <a:p>
                      <a:pPr algn="l"/>
                      <a:r>
                        <a:rPr sz="1450" b="0" dirty="0">
                          <a:solidFill>
                            <a:srgbClr val="2E3142"/>
                          </a:solidFill>
                          <a:latin typeface="210 OmniGothic 040"/>
                          <a:ea typeface="210 OmniGothic 040"/>
                          <a:cs typeface="210 OmniGothic 040"/>
                        </a:rPr>
                        <a:t>구성 요소 간 통신 방식과 데이터 형식 정의</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3"/>
                  </a:ext>
                </a:extLst>
              </a:tr>
              <a:tr h="2202789">
                <a:tc vMerge="1">
                  <a:txBody>
                    <a:bodyPr/>
                    <a:lstStyle/>
                    <a:p>
                      <a:endParaRPr/>
                    </a:p>
                  </a:txBody>
                  <a:tcPr/>
                </a:tc>
                <a:tc>
                  <a:txBody>
                    <a:bodyPr/>
                    <a:lstStyle/>
                    <a:p>
                      <a:pPr algn="ctr"/>
                      <a:r>
                        <a:rPr sz="1450" b="1" dirty="0">
                          <a:solidFill>
                            <a:srgbClr val="2E3142"/>
                          </a:solidFill>
                          <a:latin typeface="210 OmniGothic 040"/>
                          <a:ea typeface="210 OmniGothic 040"/>
                          <a:cs typeface="210 OmniGothic 040"/>
                        </a:rPr>
                        <a:t>세부 내용</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a:txBody>
                    <a:bodyPr/>
                    <a:lstStyle/>
                    <a:p>
                      <a:pPr algn="l">
                        <a:lnSpc>
                          <a:spcPct val="110000"/>
                        </a:lnSpc>
                      </a:pPr>
                      <a:r>
                        <a:rPr lang="en-US" altLang="ko-KR" sz="1450" b="0" i="0" u="none" strike="noStrike" noProof="0" dirty="0">
                          <a:solidFill>
                            <a:srgbClr val="2E3142"/>
                          </a:solidFill>
                          <a:latin typeface="210 OmniGothic 040"/>
                          <a:ea typeface="210 OmniGothic 040"/>
                        </a:rPr>
                        <a:t>1. </a:t>
                      </a:r>
                      <a:r>
                        <a:rPr lang="ko-KR" altLang="en-US" sz="1450" b="0" i="0" u="none" strike="noStrike" noProof="0" dirty="0" err="1">
                          <a:solidFill>
                            <a:srgbClr val="2E3142"/>
                          </a:solidFill>
                          <a:latin typeface="210 OmniGothic 040"/>
                          <a:ea typeface="210 OmniGothic 040"/>
                        </a:rPr>
                        <a:t>프론트엔드</a:t>
                      </a:r>
                      <a:r>
                        <a:rPr lang="ko-KR" sz="1450" b="0" i="0" u="none" strike="noStrike" noProof="0" dirty="0" err="1">
                          <a:solidFill>
                            <a:srgbClr val="2E3142"/>
                          </a:solidFill>
                          <a:latin typeface="210 OmniGothic 040"/>
                          <a:ea typeface="210 OmniGothic 040"/>
                        </a:rPr>
                        <a:t>↔API</a:t>
                      </a:r>
                      <a:r>
                        <a:rPr lang="ko-KR" sz="1450" b="0" i="0" u="none" strike="noStrike" noProof="0" dirty="0">
                          <a:solidFill>
                            <a:srgbClr val="2E3142"/>
                          </a:solidFill>
                          <a:latin typeface="210 OmniGothic 040"/>
                          <a:ea typeface="210 OmniGothic 040"/>
                        </a:rPr>
                        <a:t> 서버: REST/HTTPS/</a:t>
                      </a:r>
                      <a:r>
                        <a:rPr lang="ko-KR" sz="1450" b="0" i="0" u="none" strike="noStrike" noProof="0" dirty="0" err="1">
                          <a:solidFill>
                            <a:srgbClr val="2E3142"/>
                          </a:solidFill>
                          <a:latin typeface="210 OmniGothic 040"/>
                          <a:ea typeface="210 OmniGothic 040"/>
                        </a:rPr>
                        <a:t>JSON·GeoJSON</a:t>
                      </a:r>
                      <a:endParaRPr lang="en-US" altLang="ko-KR" sz="1450" b="0" i="0" u="none" strike="noStrike" noProof="0">
                        <a:solidFill>
                          <a:srgbClr val="2E3142"/>
                        </a:solidFill>
                        <a:latin typeface="210 OmniGothic 040"/>
                        <a:ea typeface="210 OmniGothic 040"/>
                        <a:cs typeface="210 OmniGothic 040"/>
                      </a:endParaRPr>
                    </a:p>
                    <a:p>
                      <a:pPr lvl="0" algn="l">
                        <a:lnSpc>
                          <a:spcPct val="100000"/>
                        </a:lnSpc>
                        <a:spcBef>
                          <a:spcPts val="0"/>
                        </a:spcBef>
                        <a:spcAft>
                          <a:spcPts val="0"/>
                        </a:spcAft>
                        <a:buNone/>
                      </a:pPr>
                      <a:r>
                        <a:rPr lang="ko-KR" sz="1450" b="0" i="0" u="none" strike="noStrike" noProof="0" dirty="0">
                          <a:solidFill>
                            <a:srgbClr val="2E3142"/>
                          </a:solidFill>
                          <a:latin typeface="210 OmniGothic 040"/>
                          <a:ea typeface="210 OmniGothic 040"/>
                        </a:rPr>
                        <a:t>2. API </a:t>
                      </a:r>
                      <a:r>
                        <a:rPr lang="ko-KR" sz="1450" b="0" i="0" u="none" strike="noStrike" noProof="0" dirty="0" err="1">
                          <a:solidFill>
                            <a:srgbClr val="2E3142"/>
                          </a:solidFill>
                          <a:latin typeface="210 OmniGothic 040"/>
                          <a:ea typeface="210 OmniGothic 040"/>
                        </a:rPr>
                        <a:t>서버↔확산예측</a:t>
                      </a:r>
                      <a:r>
                        <a:rPr lang="ko-KR" sz="1450" b="0" i="0" u="none" strike="noStrike" noProof="0" dirty="0">
                          <a:solidFill>
                            <a:srgbClr val="2E3142"/>
                          </a:solidFill>
                          <a:latin typeface="210 OmniGothic 040"/>
                          <a:ea typeface="210 OmniGothic 040"/>
                        </a:rPr>
                        <a:t> 모듈: </a:t>
                      </a:r>
                      <a:r>
                        <a:rPr lang="ko-KR" sz="1450" b="0" i="0" u="none" strike="noStrike" noProof="0" dirty="0" err="1">
                          <a:solidFill>
                            <a:srgbClr val="2E3142"/>
                          </a:solidFill>
                          <a:latin typeface="210 OmniGothic 040"/>
                          <a:ea typeface="210 OmniGothic 040"/>
                        </a:rPr>
                        <a:t>입력·출력</a:t>
                      </a:r>
                      <a:r>
                        <a:rPr lang="ko-KR" sz="1450" b="0" i="0" u="none" strike="noStrike" noProof="0" dirty="0">
                          <a:solidFill>
                            <a:srgbClr val="2E3142"/>
                          </a:solidFill>
                          <a:latin typeface="210 OmniGothic 040"/>
                          <a:ea typeface="210 OmniGothic 040"/>
                        </a:rPr>
                        <a:t> 데이터 기반 연계</a:t>
                      </a:r>
                      <a:endParaRPr lang="ko-KR" dirty="0">
                        <a:latin typeface="210 OmniGothic 040"/>
                        <a:ea typeface="210 OmniGothic 040"/>
                      </a:endParaRPr>
                    </a:p>
                    <a:p>
                      <a:pPr lvl="0" algn="l">
                        <a:lnSpc>
                          <a:spcPct val="100000"/>
                        </a:lnSpc>
                        <a:spcBef>
                          <a:spcPts val="0"/>
                        </a:spcBef>
                        <a:spcAft>
                          <a:spcPts val="0"/>
                        </a:spcAft>
                        <a:buNone/>
                      </a:pPr>
                      <a:r>
                        <a:rPr lang="ko-KR" sz="1450" b="0" i="0" u="none" strike="noStrike" noProof="0" dirty="0">
                          <a:solidFill>
                            <a:srgbClr val="2E3142"/>
                          </a:solidFill>
                          <a:latin typeface="210 OmniGothic 040"/>
                          <a:ea typeface="210 OmniGothic 040"/>
                        </a:rPr>
                        <a:t>3. API </a:t>
                      </a:r>
                      <a:r>
                        <a:rPr lang="ko-KR" sz="1450" b="0" i="0" u="none" strike="noStrike" noProof="0" dirty="0" err="1">
                          <a:solidFill>
                            <a:srgbClr val="2E3142"/>
                          </a:solidFill>
                          <a:latin typeface="210 OmniGothic 040"/>
                          <a:ea typeface="210 OmniGothic 040"/>
                        </a:rPr>
                        <a:t>서버↔LLM</a:t>
                      </a:r>
                      <a:r>
                        <a:rPr lang="ko-KR" sz="1450" b="0" i="0" u="none" strike="noStrike" noProof="0" dirty="0">
                          <a:solidFill>
                            <a:srgbClr val="2E3142"/>
                          </a:solidFill>
                          <a:latin typeface="210 OmniGothic 040"/>
                          <a:ea typeface="210 OmniGothic 040"/>
                        </a:rPr>
                        <a:t>: 내부 HTTP 통신</a:t>
                      </a:r>
                      <a:endParaRPr lang="ko-KR" dirty="0">
                        <a:latin typeface="210 OmniGothic 040"/>
                        <a:ea typeface="210 OmniGothic 040"/>
                      </a:endParaRPr>
                    </a:p>
                    <a:p>
                      <a:pPr lvl="0" algn="l">
                        <a:lnSpc>
                          <a:spcPct val="100000"/>
                        </a:lnSpc>
                        <a:spcBef>
                          <a:spcPts val="0"/>
                        </a:spcBef>
                        <a:spcAft>
                          <a:spcPts val="0"/>
                        </a:spcAft>
                        <a:buNone/>
                      </a:pPr>
                      <a:r>
                        <a:rPr lang="ko-KR" sz="1450" b="0" i="0" u="none" strike="noStrike" noProof="0" dirty="0">
                          <a:solidFill>
                            <a:srgbClr val="2E3142"/>
                          </a:solidFill>
                          <a:latin typeface="210 OmniGothic 040"/>
                          <a:ea typeface="210 OmniGothic 040"/>
                        </a:rPr>
                        <a:t>4. 기상청 및 공공데이터 API 연계</a:t>
                      </a:r>
                      <a:endParaRPr lang="ko-KR" dirty="0">
                        <a:latin typeface="210 OmniGothic 040"/>
                        <a:ea typeface="210 OmniGothic 040"/>
                      </a:endParaRPr>
                    </a:p>
                    <a:p>
                      <a:pPr lvl="0" algn="l">
                        <a:lnSpc>
                          <a:spcPct val="110000"/>
                        </a:lnSpc>
                        <a:buNone/>
                      </a:pPr>
                      <a:r>
                        <a:rPr lang="ko-KR" sz="1450" b="0" i="0" u="none" strike="noStrike" noProof="0" dirty="0">
                          <a:solidFill>
                            <a:srgbClr val="2E3142"/>
                          </a:solidFill>
                          <a:latin typeface="210 OmniGothic 040"/>
                          <a:ea typeface="210 OmniGothic 040"/>
                        </a:rPr>
                        <a:t>5. 상황 보고자가 발화 </a:t>
                      </a:r>
                      <a:r>
                        <a:rPr lang="ko-KR" sz="1450" b="0" i="0" u="none" strike="noStrike" noProof="0" dirty="0" err="1">
                          <a:solidFill>
                            <a:srgbClr val="2E3142"/>
                          </a:solidFill>
                          <a:latin typeface="210 OmniGothic 040"/>
                          <a:ea typeface="210 OmniGothic 040"/>
                        </a:rPr>
                        <a:t>위치·발생</a:t>
                      </a:r>
                      <a:r>
                        <a:rPr lang="ko-KR" sz="1450" b="0" i="0" u="none" strike="noStrike" noProof="0" dirty="0">
                          <a:solidFill>
                            <a:srgbClr val="2E3142"/>
                          </a:solidFill>
                          <a:latin typeface="210 OmniGothic 040"/>
                          <a:ea typeface="210 OmniGothic 040"/>
                        </a:rPr>
                        <a:t> </a:t>
                      </a:r>
                      <a:r>
                        <a:rPr lang="ko-KR" sz="1450" b="0" i="0" u="none" strike="noStrike" noProof="0" dirty="0" err="1">
                          <a:solidFill>
                            <a:srgbClr val="2E3142"/>
                          </a:solidFill>
                          <a:latin typeface="210 OmniGothic 040"/>
                          <a:ea typeface="210 OmniGothic 040"/>
                        </a:rPr>
                        <a:t>시각·실측 화선</a:t>
                      </a:r>
                      <a:r>
                        <a:rPr lang="ko-KR" sz="1450" b="0" i="0" u="none" strike="noStrike" noProof="0" dirty="0">
                          <a:solidFill>
                            <a:srgbClr val="2E3142"/>
                          </a:solidFill>
                          <a:latin typeface="210 OmniGothic 040"/>
                          <a:ea typeface="210 OmniGothic 040"/>
                        </a:rPr>
                        <a:t> </a:t>
                      </a:r>
                      <a:r>
                        <a:rPr lang="ko-KR" sz="1450" b="0" i="0" u="none" strike="noStrike" noProof="0" dirty="0" err="1">
                          <a:solidFill>
                            <a:srgbClr val="2E3142"/>
                          </a:solidFill>
                          <a:latin typeface="210 OmniGothic 040"/>
                          <a:ea typeface="210 OmniGothic 040"/>
                        </a:rPr>
                        <a:t>폴리곤을</a:t>
                      </a:r>
                      <a:r>
                        <a:rPr lang="ko-KR" sz="1450" b="0" i="0" u="none" strike="noStrike" noProof="0" dirty="0">
                          <a:solidFill>
                            <a:srgbClr val="2E3142"/>
                          </a:solidFill>
                          <a:latin typeface="210 OmniGothic 040"/>
                          <a:ea typeface="210 OmniGothic 040"/>
                        </a:rPr>
                        <a:t> 입력 가능</a:t>
                      </a:r>
                      <a:endParaRPr lang="en-US" dirty="0">
                        <a:latin typeface="210 OmniGothic 040"/>
                        <a:ea typeface="210 OmniGothic 040"/>
                      </a:endParaRP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4"/>
                  </a:ext>
                </a:extLst>
              </a:tr>
              <a:tr h="502920">
                <a:tc gridSpan="2">
                  <a:txBody>
                    <a:bodyPr/>
                    <a:lstStyle/>
                    <a:p>
                      <a:pPr algn="ctr"/>
                      <a:r>
                        <a:rPr sz="1450" b="1" dirty="0">
                          <a:solidFill>
                            <a:srgbClr val="2E3142"/>
                          </a:solidFill>
                          <a:latin typeface="210 OmniGothic 040"/>
                          <a:ea typeface="210 OmniGothic 040"/>
                          <a:cs typeface="210 OmniGothic 040"/>
                        </a:rPr>
                        <a:t>산출정보</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r>
                        <a:rPr sz="1450" b="0" dirty="0">
                          <a:solidFill>
                            <a:srgbClr val="2E3142"/>
                          </a:solidFill>
                          <a:latin typeface="210 OmniGothic 040"/>
                          <a:ea typeface="210 OmniGothic 040"/>
                          <a:cs typeface="210 OmniGothic 040"/>
                        </a:rPr>
                        <a:t>API 명세서</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5"/>
                  </a:ext>
                </a:extLst>
              </a:tr>
              <a:tr h="502920">
                <a:tc gridSpan="2">
                  <a:txBody>
                    <a:bodyPr/>
                    <a:lstStyle/>
                    <a:p>
                      <a:pPr algn="ctr"/>
                      <a:r>
                        <a:rPr sz="1450" b="1" dirty="0">
                          <a:solidFill>
                            <a:srgbClr val="2E3142"/>
                          </a:solidFill>
                          <a:latin typeface="210 OmniGothic 040"/>
                          <a:ea typeface="210 OmniGothic 040"/>
                          <a:cs typeface="210 OmniGothic 040"/>
                        </a:rPr>
                        <a:t>관련 요구사항</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r>
                        <a:rPr sz="1450" b="0" dirty="0">
                          <a:solidFill>
                            <a:srgbClr val="2E3142"/>
                          </a:solidFill>
                          <a:latin typeface="210 OmniGothic 040"/>
                          <a:ea typeface="210 OmniGothic 040"/>
                          <a:cs typeface="210 OmniGothic 040"/>
                        </a:rPr>
                        <a:t>ECR-001, ECR-002</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6"/>
                  </a:ext>
                </a:extLst>
              </a:tr>
              <a:tr h="502920">
                <a:tc gridSpan="2">
                  <a:txBody>
                    <a:bodyPr/>
                    <a:lstStyle/>
                    <a:p>
                      <a:pPr algn="ctr"/>
                      <a:r>
                        <a:rPr sz="1450" b="1" dirty="0">
                          <a:solidFill>
                            <a:srgbClr val="2E3142"/>
                          </a:solidFill>
                          <a:latin typeface="210 OmniGothic 040"/>
                          <a:ea typeface="210 OmniGothic 040"/>
                          <a:cs typeface="210 OmniGothic 040"/>
                        </a:rPr>
                        <a:t>요구사항 출처</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r>
                        <a:rPr sz="1450" b="0" dirty="0">
                          <a:solidFill>
                            <a:srgbClr val="2E3142"/>
                          </a:solidFill>
                          <a:latin typeface="210 OmniGothic 040"/>
                          <a:ea typeface="210 OmniGothic 040"/>
                          <a:cs typeface="210 OmniGothic 040"/>
                        </a:rPr>
                        <a:t>시스템 아키텍처 설계</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06"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700" y="-12700"/>
            <a:ext cx="18313400" cy="1638300"/>
          </a:xfrm>
          <a:prstGeom prst="rect">
            <a:avLst/>
          </a:prstGeom>
        </p:spPr>
      </p:pic>
      <p:pic>
        <p:nvPicPr>
          <p:cNvPr id="5407"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28" y="1618343"/>
            <a:ext cx="18313400" cy="8699500"/>
          </a:xfrm>
          <a:prstGeom prst="rect">
            <a:avLst/>
          </a:prstGeom>
        </p:spPr>
      </p:pic>
      <p:pic>
        <p:nvPicPr>
          <p:cNvPr id="5408"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58800" y="9271000"/>
            <a:ext cx="17170400" cy="50800"/>
          </a:xfrm>
          <a:prstGeom prst="rect">
            <a:avLst/>
          </a:prstGeom>
        </p:spPr>
      </p:pic>
      <p:pic>
        <p:nvPicPr>
          <p:cNvPr id="5409" name="Picture 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278100" y="203200"/>
            <a:ext cx="1676400" cy="1409700"/>
          </a:xfrm>
          <a:prstGeom prst="rect">
            <a:avLst/>
          </a:prstGeom>
        </p:spPr>
      </p:pic>
      <p:sp>
        <p:nvSpPr>
          <p:cNvPr id="5410" name="Title"/>
          <p:cNvSpPr txBox="1"/>
          <p:nvPr/>
        </p:nvSpPr>
        <p:spPr>
          <a:xfrm>
            <a:off x="822960" y="384048"/>
            <a:ext cx="13258800" cy="877824"/>
          </a:xfrm>
          <a:prstGeom prst="rect">
            <a:avLst/>
          </a:prstGeom>
          <a:noFill/>
        </p:spPr>
        <p:txBody>
          <a:bodyPr wrap="square" lIns="0" tIns="0" rIns="0" bIns="0" anchor="ctr">
            <a:spAutoFit/>
          </a:bodyPr>
          <a:lstStyle/>
          <a:p>
            <a:pPr algn="l"/>
            <a:r>
              <a:rPr sz="4400" b="0">
                <a:solidFill>
                  <a:srgbClr val="FAA95A"/>
                </a:solidFill>
                <a:latin typeface="210 OmniGothic 050"/>
                <a:ea typeface="210 OmniGothic 050"/>
                <a:cs typeface="210 OmniGothic 050"/>
              </a:rPr>
              <a:t>07. 비기능 요구사항</a:t>
            </a:r>
          </a:p>
        </p:txBody>
      </p:sp>
      <p:sp>
        <p:nvSpPr>
          <p:cNvPr id="5411" name="Subtitle"/>
          <p:cNvSpPr txBox="1"/>
          <p:nvPr/>
        </p:nvSpPr>
        <p:spPr>
          <a:xfrm>
            <a:off x="822960" y="1764792"/>
            <a:ext cx="16642080" cy="502920"/>
          </a:xfrm>
          <a:prstGeom prst="rect">
            <a:avLst/>
          </a:prstGeom>
          <a:noFill/>
        </p:spPr>
        <p:txBody>
          <a:bodyPr wrap="square" lIns="0" tIns="0" rIns="0" bIns="0" anchor="ctr">
            <a:spAutoFit/>
          </a:bodyPr>
          <a:lstStyle/>
          <a:p>
            <a:pPr algn="ctr"/>
            <a:r>
              <a:rPr sz="2600" b="1">
                <a:solidFill>
                  <a:srgbClr val="363A52"/>
                </a:solidFill>
                <a:latin typeface="210 OmniGothic 040"/>
                <a:ea typeface="210 OmniGothic 040"/>
                <a:cs typeface="210 OmniGothic 040"/>
              </a:rPr>
              <a:t>인터페이스 요구사항</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sz="quarter" idx="12"/>
          </p:nvPr>
        </p:nvSpPr>
        <p:spPr/>
        <p:txBody>
          <a:bodyPr/>
          <a:lstStyle/>
          <a:p>
            <a:fld id="{B6F15528-21DE-4FAA-801E-634DDDAF4B2B}" type="slidenum">
              <a:rPr lang="en-US" smtClean="0"/>
              <a:pPr/>
              <a:t>82</a:t>
            </a:fld>
            <a:endParaRPr lang="en-US"/>
          </a:p>
        </p:txBody>
      </p:sp>
      <p:graphicFrame>
        <p:nvGraphicFramePr>
          <p:cNvPr id="5412" name="Table 5411"/>
          <p:cNvGraphicFramePr>
            <a:graphicFrameLocks noGrp="1"/>
          </p:cNvGraphicFramePr>
          <p:nvPr/>
        </p:nvGraphicFramePr>
        <p:xfrm>
          <a:off x="2880360" y="2546604"/>
          <a:ext cx="12344400" cy="5230368"/>
        </p:xfrm>
        <a:graphic>
          <a:graphicData uri="http://schemas.openxmlformats.org/drawingml/2006/table">
            <a:tbl>
              <a:tblPr>
                <a:tableStyleId>{2D5ABB26-0587-4C30-8999-92F81FD0307C}</a:tableStyleId>
              </a:tblPr>
              <a:tblGrid>
                <a:gridCol w="245745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8286750">
                  <a:extLst>
                    <a:ext uri="{9D8B030D-6E8A-4147-A177-3AD203B41FA5}">
                      <a16:colId xmlns:a16="http://schemas.microsoft.com/office/drawing/2014/main" val="20002"/>
                    </a:ext>
                  </a:extLst>
                </a:gridCol>
              </a:tblGrid>
              <a:tr h="502920">
                <a:tc gridSpan="2">
                  <a:txBody>
                    <a:bodyPr/>
                    <a:lstStyle/>
                    <a:p>
                      <a:pPr algn="ctr"/>
                      <a:r>
                        <a:rPr sz="1450" b="1" dirty="0" err="1">
                          <a:solidFill>
                            <a:srgbClr val="2E3142"/>
                          </a:solidFill>
                          <a:latin typeface="210 OmniGothic 040"/>
                          <a:ea typeface="210 OmniGothic 040"/>
                          <a:cs typeface="210 OmniGothic 040"/>
                        </a:rPr>
                        <a:t>요구사항</a:t>
                      </a:r>
                      <a:r>
                        <a:rPr sz="1450" b="1" dirty="0">
                          <a:solidFill>
                            <a:srgbClr val="2E3142"/>
                          </a:solidFill>
                          <a:latin typeface="210 OmniGothic 040"/>
                          <a:ea typeface="210 OmniGothic 040"/>
                          <a:cs typeface="210 OmniGothic 040"/>
                        </a:rPr>
                        <a:t> </a:t>
                      </a:r>
                      <a:r>
                        <a:rPr sz="1450" b="1" dirty="0" err="1">
                          <a:solidFill>
                            <a:srgbClr val="2E3142"/>
                          </a:solidFill>
                          <a:latin typeface="210 OmniGothic 040"/>
                          <a:ea typeface="210 OmniGothic 040"/>
                          <a:cs typeface="210 OmniGothic 040"/>
                        </a:rPr>
                        <a:t>분류</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r>
                        <a:rPr sz="1450" b="0" dirty="0" err="1">
                          <a:solidFill>
                            <a:srgbClr val="2E3142"/>
                          </a:solidFill>
                          <a:latin typeface="210 OmniGothic 040"/>
                          <a:ea typeface="210 OmniGothic 040"/>
                          <a:cs typeface="210 OmniGothic 040"/>
                        </a:rPr>
                        <a:t>인터페이스</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요구사항</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0"/>
                  </a:ext>
                </a:extLst>
              </a:tr>
              <a:tr h="502920">
                <a:tc gridSpan="2">
                  <a:txBody>
                    <a:bodyPr/>
                    <a:lstStyle/>
                    <a:p>
                      <a:pPr algn="ctr"/>
                      <a:r>
                        <a:rPr sz="1450" b="1" dirty="0" err="1">
                          <a:solidFill>
                            <a:srgbClr val="2E3142"/>
                          </a:solidFill>
                          <a:latin typeface="210 OmniGothic 040"/>
                          <a:ea typeface="210 OmniGothic 040"/>
                          <a:cs typeface="210 OmniGothic 040"/>
                        </a:rPr>
                        <a:t>요구사항</a:t>
                      </a:r>
                      <a:r>
                        <a:rPr sz="1450" b="1" dirty="0">
                          <a:solidFill>
                            <a:srgbClr val="2E3142"/>
                          </a:solidFill>
                          <a:latin typeface="210 OmniGothic 040"/>
                          <a:ea typeface="210 OmniGothic 040"/>
                          <a:cs typeface="210 OmniGothic 040"/>
                        </a:rPr>
                        <a:t> </a:t>
                      </a:r>
                      <a:r>
                        <a:rPr sz="1450" b="1" dirty="0" err="1">
                          <a:solidFill>
                            <a:srgbClr val="2E3142"/>
                          </a:solidFill>
                          <a:latin typeface="210 OmniGothic 040"/>
                          <a:ea typeface="210 OmniGothic 040"/>
                          <a:cs typeface="210 OmniGothic 040"/>
                        </a:rPr>
                        <a:t>고유번호</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r>
                        <a:rPr sz="1450" b="0" dirty="0">
                          <a:solidFill>
                            <a:srgbClr val="2E3142"/>
                          </a:solidFill>
                          <a:latin typeface="210 OmniGothic 040"/>
                          <a:ea typeface="210 OmniGothic 040"/>
                          <a:cs typeface="210 OmniGothic 040"/>
                        </a:rPr>
                        <a:t>INR-003</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1"/>
                  </a:ext>
                </a:extLst>
              </a:tr>
              <a:tr h="502920">
                <a:tc gridSpan="2">
                  <a:txBody>
                    <a:bodyPr/>
                    <a:lstStyle/>
                    <a:p>
                      <a:pPr algn="ctr"/>
                      <a:r>
                        <a:rPr sz="1450" b="1" dirty="0" err="1">
                          <a:solidFill>
                            <a:srgbClr val="2E3142"/>
                          </a:solidFill>
                          <a:latin typeface="210 OmniGothic 040"/>
                          <a:ea typeface="210 OmniGothic 040"/>
                          <a:cs typeface="210 OmniGothic 040"/>
                        </a:rPr>
                        <a:t>요구사항</a:t>
                      </a:r>
                      <a:r>
                        <a:rPr sz="1450" b="1" dirty="0">
                          <a:solidFill>
                            <a:srgbClr val="2E3142"/>
                          </a:solidFill>
                          <a:latin typeface="210 OmniGothic 040"/>
                          <a:ea typeface="210 OmniGothic 040"/>
                          <a:cs typeface="210 OmniGothic 040"/>
                        </a:rPr>
                        <a:t> </a:t>
                      </a:r>
                      <a:r>
                        <a:rPr sz="1450" b="1" dirty="0" err="1">
                          <a:solidFill>
                            <a:srgbClr val="2E3142"/>
                          </a:solidFill>
                          <a:latin typeface="210 OmniGothic 040"/>
                          <a:ea typeface="210 OmniGothic 040"/>
                          <a:cs typeface="210 OmniGothic 040"/>
                        </a:rPr>
                        <a:t>명칭</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r>
                        <a:rPr sz="1450" b="0" dirty="0" err="1">
                          <a:solidFill>
                            <a:srgbClr val="2E3142"/>
                          </a:solidFill>
                          <a:latin typeface="210 OmniGothic 040"/>
                          <a:ea typeface="210 OmniGothic 040"/>
                          <a:cs typeface="210 OmniGothic 040"/>
                        </a:rPr>
                        <a:t>사용자</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단말</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환경</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2"/>
                  </a:ext>
                </a:extLst>
              </a:tr>
              <a:tr h="553212">
                <a:tc rowSpan="2">
                  <a:txBody>
                    <a:bodyPr/>
                    <a:lstStyle/>
                    <a:p>
                      <a:pPr algn="ctr"/>
                      <a:r>
                        <a:rPr sz="1450" b="1" dirty="0">
                          <a:solidFill>
                            <a:srgbClr val="2E3142"/>
                          </a:solidFill>
                          <a:latin typeface="210 OmniGothic 040"/>
                          <a:ea typeface="210 OmniGothic 040"/>
                          <a:cs typeface="210 OmniGothic 040"/>
                        </a:rPr>
                        <a:t>요구사항
</a:t>
                      </a:r>
                      <a:r>
                        <a:rPr sz="1450" b="1" dirty="0" err="1">
                          <a:solidFill>
                            <a:srgbClr val="2E3142"/>
                          </a:solidFill>
                          <a:latin typeface="210 OmniGothic 040"/>
                          <a:ea typeface="210 OmniGothic 040"/>
                          <a:cs typeface="210 OmniGothic 040"/>
                        </a:rPr>
                        <a:t>상세설명</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a:txBody>
                    <a:bodyPr/>
                    <a:lstStyle/>
                    <a:p>
                      <a:pPr algn="ctr"/>
                      <a:r>
                        <a:rPr sz="1450" b="1" dirty="0" err="1">
                          <a:solidFill>
                            <a:srgbClr val="2E3142"/>
                          </a:solidFill>
                          <a:latin typeface="210 OmniGothic 040"/>
                          <a:ea typeface="210 OmniGothic 040"/>
                          <a:cs typeface="210 OmniGothic 040"/>
                        </a:rPr>
                        <a:t>정의</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a:txBody>
                    <a:bodyPr/>
                    <a:lstStyle/>
                    <a:p>
                      <a:pPr algn="l"/>
                      <a:r>
                        <a:rPr sz="1450" b="0" dirty="0" err="1">
                          <a:solidFill>
                            <a:srgbClr val="2E3142"/>
                          </a:solidFill>
                          <a:latin typeface="210 OmniGothic 040"/>
                          <a:ea typeface="210 OmniGothic 040"/>
                          <a:cs typeface="210 OmniGothic 040"/>
                        </a:rPr>
                        <a:t>상황실</a:t>
                      </a:r>
                      <a:r>
                        <a:rPr sz="1450" b="0" dirty="0">
                          <a:solidFill>
                            <a:srgbClr val="2E3142"/>
                          </a:solidFill>
                          <a:latin typeface="210 OmniGothic 040"/>
                          <a:ea typeface="210 OmniGothic 040"/>
                          <a:cs typeface="210 OmniGothic 040"/>
                        </a:rPr>
                        <a:t> PC 웹 </a:t>
                      </a:r>
                      <a:r>
                        <a:rPr sz="1450" b="0" dirty="0" err="1">
                          <a:solidFill>
                            <a:srgbClr val="2E3142"/>
                          </a:solidFill>
                          <a:latin typeface="210 OmniGothic 040"/>
                          <a:ea typeface="210 OmniGothic 040"/>
                          <a:cs typeface="210 OmniGothic 040"/>
                        </a:rPr>
                        <a:t>환경을</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기준으로</a:t>
                      </a:r>
                      <a:r>
                        <a:rPr sz="1450" b="0" dirty="0">
                          <a:solidFill>
                            <a:srgbClr val="2E3142"/>
                          </a:solidFill>
                          <a:latin typeface="210 OmniGothic 040"/>
                          <a:ea typeface="210 OmniGothic 040"/>
                          <a:cs typeface="210 OmniGothic 040"/>
                        </a:rPr>
                        <a:t> 한 </a:t>
                      </a:r>
                      <a:r>
                        <a:rPr sz="1450" b="0" dirty="0" err="1">
                          <a:solidFill>
                            <a:srgbClr val="2E3142"/>
                          </a:solidFill>
                          <a:latin typeface="210 OmniGothic 040"/>
                          <a:ea typeface="210 OmniGothic 040"/>
                          <a:cs typeface="210 OmniGothic 040"/>
                        </a:rPr>
                        <a:t>화면</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호환성</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확보</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3"/>
                  </a:ext>
                </a:extLst>
              </a:tr>
              <a:tr h="1659636">
                <a:tc vMerge="1">
                  <a:txBody>
                    <a:bodyPr/>
                    <a:lstStyle/>
                    <a:p>
                      <a:endParaRPr/>
                    </a:p>
                  </a:txBody>
                  <a:tcPr/>
                </a:tc>
                <a:tc>
                  <a:txBody>
                    <a:bodyPr/>
                    <a:lstStyle/>
                    <a:p>
                      <a:pPr algn="ctr"/>
                      <a:r>
                        <a:rPr sz="1450" b="1" dirty="0" err="1">
                          <a:solidFill>
                            <a:srgbClr val="2E3142"/>
                          </a:solidFill>
                          <a:latin typeface="210 OmniGothic 040"/>
                          <a:ea typeface="210 OmniGothic 040"/>
                          <a:cs typeface="210 OmniGothic 040"/>
                        </a:rPr>
                        <a:t>세부</a:t>
                      </a:r>
                      <a:r>
                        <a:rPr sz="1450" b="1" dirty="0">
                          <a:solidFill>
                            <a:srgbClr val="2E3142"/>
                          </a:solidFill>
                          <a:latin typeface="210 OmniGothic 040"/>
                          <a:ea typeface="210 OmniGothic 040"/>
                          <a:cs typeface="210 OmniGothic 040"/>
                        </a:rPr>
                        <a:t> </a:t>
                      </a:r>
                      <a:r>
                        <a:rPr sz="1450" b="1" dirty="0" err="1">
                          <a:solidFill>
                            <a:srgbClr val="2E3142"/>
                          </a:solidFill>
                          <a:latin typeface="210 OmniGothic 040"/>
                          <a:ea typeface="210 OmniGothic 040"/>
                          <a:cs typeface="210 OmniGothic 040"/>
                        </a:rPr>
                        <a:t>내용</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a:txBody>
                    <a:bodyPr/>
                    <a:lstStyle/>
                    <a:p>
                      <a:pPr lvl="0" algn="l">
                        <a:lnSpc>
                          <a:spcPct val="110000"/>
                        </a:lnSpc>
                        <a:buNone/>
                      </a:pPr>
                      <a:r>
                        <a:rPr lang="en-US" sz="1450" b="0">
                          <a:solidFill>
                            <a:srgbClr val="2E3142"/>
                          </a:solidFill>
                          <a:latin typeface="210 OmniGothic 040"/>
                          <a:ea typeface="210 OmniGothic 040"/>
                        </a:rPr>
                        <a:t>1. </a:t>
                      </a:r>
                      <a:r>
                        <a:rPr lang="ko-KR" altLang="en-US" sz="1450" b="0">
                          <a:solidFill>
                            <a:srgbClr val="2E3142"/>
                          </a:solidFill>
                          <a:latin typeface="210 OmniGothic 040"/>
                          <a:ea typeface="210 OmniGothic 040"/>
                        </a:rPr>
                        <a:t>지원</a:t>
                      </a:r>
                      <a:r>
                        <a:rPr lang="en-US" sz="1450" b="0">
                          <a:solidFill>
                            <a:srgbClr val="2E3142"/>
                          </a:solidFill>
                          <a:latin typeface="210 OmniGothic 040"/>
                          <a:ea typeface="210 OmniGothic 040"/>
                        </a:rPr>
                        <a:t> </a:t>
                      </a:r>
                      <a:r>
                        <a:rPr lang="ko-KR" altLang="en-US" sz="1450" b="0">
                          <a:solidFill>
                            <a:srgbClr val="2E3142"/>
                          </a:solidFill>
                          <a:latin typeface="210 OmniGothic 040"/>
                          <a:ea typeface="210 OmniGothic 040"/>
                        </a:rPr>
                        <a:t>브라우저</a:t>
                      </a:r>
                      <a:endParaRPr lang="ko-KR" altLang="en-US"/>
                    </a:p>
                    <a:p>
                      <a:pPr lvl="0" algn="l">
                        <a:lnSpc>
                          <a:spcPct val="110000"/>
                        </a:lnSpc>
                        <a:buNone/>
                      </a:pPr>
                      <a:r>
                        <a:rPr lang="en-US" altLang="ko-KR" sz="1450" b="0">
                          <a:solidFill>
                            <a:srgbClr val="2E3142"/>
                          </a:solidFill>
                          <a:latin typeface="210 OmniGothic 040"/>
                          <a:ea typeface="210 OmniGothic 040"/>
                        </a:rPr>
                        <a:t>  -</a:t>
                      </a:r>
                      <a:r>
                        <a:rPr lang="ko-KR" sz="1450" b="0">
                          <a:solidFill>
                            <a:srgbClr val="2E3142"/>
                          </a:solidFill>
                          <a:latin typeface="210 OmniGothic 040"/>
                          <a:ea typeface="210 OmniGothic 040"/>
                        </a:rPr>
                        <a:t> </a:t>
                      </a:r>
                      <a:r>
                        <a:rPr lang="en-US" sz="1450" b="0">
                          <a:solidFill>
                            <a:srgbClr val="2E3142"/>
                          </a:solidFill>
                          <a:latin typeface="210 OmniGothic 040"/>
                          <a:ea typeface="210 OmniGothic 040"/>
                        </a:rPr>
                        <a:t>Chrome·Edge</a:t>
                      </a:r>
                      <a:r>
                        <a:rPr lang="en-US" altLang="ko-KR" sz="1450" b="0">
                          <a:solidFill>
                            <a:srgbClr val="2E3142"/>
                          </a:solidFill>
                          <a:latin typeface="210 OmniGothic 040"/>
                          <a:ea typeface="210 OmniGothic 040"/>
                        </a:rPr>
                        <a:t> </a:t>
                      </a:r>
                      <a:r>
                        <a:rPr lang="ko-KR" altLang="en-US" sz="1450" b="0">
                          <a:solidFill>
                            <a:srgbClr val="2E3142"/>
                          </a:solidFill>
                          <a:latin typeface="210 OmniGothic 040"/>
                          <a:ea typeface="210 OmniGothic 040"/>
                        </a:rPr>
                        <a:t>최신</a:t>
                      </a:r>
                      <a:r>
                        <a:rPr lang="en-US" altLang="ko-KR" sz="1450" b="0">
                          <a:solidFill>
                            <a:srgbClr val="2E3142"/>
                          </a:solidFill>
                          <a:latin typeface="210 OmniGothic 040"/>
                          <a:ea typeface="210 OmniGothic 040"/>
                        </a:rPr>
                        <a:t> 2</a:t>
                      </a:r>
                      <a:r>
                        <a:rPr lang="ko-KR" altLang="en-US" sz="1450" b="0">
                          <a:solidFill>
                            <a:srgbClr val="2E3142"/>
                          </a:solidFill>
                          <a:latin typeface="210 OmniGothic 040"/>
                          <a:ea typeface="210 OmniGothic 040"/>
                        </a:rPr>
                        <a:t>개 버전</a:t>
                      </a:r>
                      <a:r>
                        <a:rPr lang="en-US" altLang="ko-KR" sz="1450" b="0">
                          <a:solidFill>
                            <a:srgbClr val="2E3142"/>
                          </a:solidFill>
                          <a:latin typeface="210 OmniGothic 040"/>
                          <a:ea typeface="210 OmniGothic 040"/>
                        </a:rPr>
                        <a:t>(WebGL</a:t>
                      </a:r>
                      <a:r>
                        <a:rPr lang="ko-KR" altLang="en-US" sz="1450" b="0">
                          <a:solidFill>
                            <a:srgbClr val="2E3142"/>
                          </a:solidFill>
                          <a:latin typeface="210 OmniGothic 040"/>
                          <a:ea typeface="210 OmniGothic 040"/>
                        </a:rPr>
                        <a:t> 지원</a:t>
                      </a:r>
                      <a:r>
                        <a:rPr lang="en-US" sz="1450" b="0">
                          <a:solidFill>
                            <a:srgbClr val="2E3142"/>
                          </a:solidFill>
                          <a:latin typeface="210 OmniGothic 040"/>
                          <a:ea typeface="210 OmniGothic 040"/>
                        </a:rPr>
                        <a:t> </a:t>
                      </a:r>
                      <a:r>
                        <a:rPr lang="ko-KR" altLang="en-US" sz="1450" b="0">
                          <a:solidFill>
                            <a:srgbClr val="2E3142"/>
                          </a:solidFill>
                          <a:latin typeface="210 OmniGothic 040"/>
                          <a:ea typeface="210 OmniGothic 040"/>
                        </a:rPr>
                        <a:t>필수</a:t>
                      </a:r>
                      <a:r>
                        <a:rPr lang="en-US" sz="1450" b="0">
                          <a:solidFill>
                            <a:srgbClr val="2E3142"/>
                          </a:solidFill>
                          <a:latin typeface="210 OmniGothic 040"/>
                          <a:ea typeface="210 OmniGothic 040"/>
                        </a:rPr>
                        <a:t>)</a:t>
                      </a:r>
                      <a:endParaRPr lang="en-US" altLang="ko-KR"/>
                    </a:p>
                    <a:p>
                      <a:pPr lvl="0" algn="l">
                        <a:lnSpc>
                          <a:spcPct val="110000"/>
                        </a:lnSpc>
                        <a:buNone/>
                      </a:pPr>
                      <a:r>
                        <a:rPr lang="en-US" sz="1450" b="0">
                          <a:solidFill>
                            <a:srgbClr val="2E3142"/>
                          </a:solidFill>
                          <a:latin typeface="210 OmniGothic 040"/>
                          <a:ea typeface="210 OmniGothic 040"/>
                        </a:rPr>
                        <a:t>2.</a:t>
                      </a:r>
                      <a:r>
                        <a:rPr lang="en-US" altLang="ko-KR" sz="1450" b="0">
                          <a:solidFill>
                            <a:srgbClr val="2E3142"/>
                          </a:solidFill>
                          <a:latin typeface="210 OmniGothic 040"/>
                          <a:ea typeface="210 OmniGothic 040"/>
                        </a:rPr>
                        <a:t> </a:t>
                      </a:r>
                      <a:r>
                        <a:rPr lang="ko-KR" altLang="en-US" sz="1450" b="0">
                          <a:solidFill>
                            <a:srgbClr val="2E3142"/>
                          </a:solidFill>
                          <a:latin typeface="210 OmniGothic 040"/>
                          <a:ea typeface="210 OmniGothic 040"/>
                        </a:rPr>
                        <a:t>해상도</a:t>
                      </a:r>
                      <a:endParaRPr/>
                    </a:p>
                    <a:p>
                      <a:pPr lvl="0" algn="l">
                        <a:lnSpc>
                          <a:spcPct val="110000"/>
                        </a:lnSpc>
                        <a:buNone/>
                      </a:pPr>
                      <a:r>
                        <a:rPr lang="en-US" altLang="ko-KR" sz="1450" b="0">
                          <a:solidFill>
                            <a:srgbClr val="2E3142"/>
                          </a:solidFill>
                          <a:latin typeface="210 OmniGothic 040"/>
                          <a:ea typeface="210 OmniGothic 040"/>
                        </a:rPr>
                        <a:t>  -</a:t>
                      </a:r>
                      <a:r>
                        <a:rPr lang="ko-KR" sz="1450" b="0">
                          <a:solidFill>
                            <a:srgbClr val="2E3142"/>
                          </a:solidFill>
                          <a:latin typeface="210 OmniGothic 040"/>
                          <a:ea typeface="210 OmniGothic 040"/>
                        </a:rPr>
                        <a:t> </a:t>
                      </a:r>
                      <a:r>
                        <a:rPr lang="en-US" sz="1450" b="0">
                          <a:solidFill>
                            <a:srgbClr val="2E3142"/>
                          </a:solidFill>
                          <a:latin typeface="210 OmniGothic 040"/>
                          <a:ea typeface="210 OmniGothic 040"/>
                        </a:rPr>
                        <a:t>1920×1080</a:t>
                      </a:r>
                      <a:r>
                        <a:rPr lang="en-US" altLang="ko-KR" sz="1450" b="0">
                          <a:solidFill>
                            <a:srgbClr val="2E3142"/>
                          </a:solidFill>
                          <a:latin typeface="210 OmniGothic 040"/>
                          <a:ea typeface="210 OmniGothic 040"/>
                        </a:rPr>
                        <a:t> </a:t>
                      </a:r>
                      <a:r>
                        <a:rPr lang="ko-KR" altLang="en-US" sz="1450" b="0">
                          <a:solidFill>
                            <a:srgbClr val="2E3142"/>
                          </a:solidFill>
                          <a:latin typeface="210 OmniGothic 040"/>
                          <a:ea typeface="210 OmniGothic 040"/>
                        </a:rPr>
                        <a:t>기준</a:t>
                      </a:r>
                      <a:r>
                        <a:rPr lang="en-US" sz="1450" b="0">
                          <a:solidFill>
                            <a:srgbClr val="2E3142"/>
                          </a:solidFill>
                          <a:latin typeface="210 OmniGothic 040"/>
                          <a:ea typeface="210 OmniGothic 040"/>
                        </a:rPr>
                        <a:t>,</a:t>
                      </a:r>
                      <a:r>
                        <a:rPr lang="en-US" altLang="ko-KR" sz="1450" b="0">
                          <a:solidFill>
                            <a:srgbClr val="2E3142"/>
                          </a:solidFill>
                          <a:latin typeface="210 OmniGothic 040"/>
                          <a:ea typeface="210 OmniGothic 040"/>
                        </a:rPr>
                        <a:t> </a:t>
                      </a:r>
                      <a:r>
                        <a:rPr lang="en-US" sz="1450" b="0">
                          <a:solidFill>
                            <a:srgbClr val="2E3142"/>
                          </a:solidFill>
                          <a:latin typeface="210 OmniGothic 040"/>
                          <a:ea typeface="210 OmniGothic 040"/>
                        </a:rPr>
                        <a:t>1366×768</a:t>
                      </a:r>
                      <a:r>
                        <a:rPr lang="ko-KR" altLang="en-US" sz="1450" b="0">
                          <a:solidFill>
                            <a:srgbClr val="2E3142"/>
                          </a:solidFill>
                          <a:latin typeface="210 OmniGothic 040"/>
                          <a:ea typeface="210 OmniGothic 040"/>
                        </a:rPr>
                        <a:t>에서</a:t>
                      </a:r>
                      <a:r>
                        <a:rPr lang="en-US" altLang="ko-KR" sz="1450" b="0">
                          <a:solidFill>
                            <a:srgbClr val="2E3142"/>
                          </a:solidFill>
                          <a:latin typeface="210 OmniGothic 040"/>
                          <a:ea typeface="210 OmniGothic 040"/>
                        </a:rPr>
                        <a:t> </a:t>
                      </a:r>
                      <a:r>
                        <a:rPr lang="ko-KR" altLang="en-US" sz="1450" b="0">
                          <a:solidFill>
                            <a:srgbClr val="2E3142"/>
                          </a:solidFill>
                          <a:latin typeface="210 OmniGothic 040"/>
                          <a:ea typeface="210 OmniGothic 040"/>
                        </a:rPr>
                        <a:t>기능</a:t>
                      </a:r>
                      <a:r>
                        <a:rPr lang="en-US" altLang="ko-KR" sz="1450" b="0">
                          <a:solidFill>
                            <a:srgbClr val="2E3142"/>
                          </a:solidFill>
                          <a:latin typeface="210 OmniGothic 040"/>
                          <a:ea typeface="210 OmniGothic 040"/>
                        </a:rPr>
                        <a:t> </a:t>
                      </a:r>
                      <a:r>
                        <a:rPr lang="ko-KR" altLang="en-US" sz="1450" b="0">
                          <a:solidFill>
                            <a:srgbClr val="2E3142"/>
                          </a:solidFill>
                          <a:latin typeface="210 OmniGothic 040"/>
                          <a:ea typeface="210 OmniGothic 040"/>
                        </a:rPr>
                        <a:t>손실</a:t>
                      </a:r>
                      <a:r>
                        <a:rPr lang="en-US" altLang="ko-KR" sz="1450" b="0">
                          <a:solidFill>
                            <a:srgbClr val="2E3142"/>
                          </a:solidFill>
                          <a:latin typeface="210 OmniGothic 040"/>
                          <a:ea typeface="210 OmniGothic 040"/>
                        </a:rPr>
                        <a:t> </a:t>
                      </a:r>
                      <a:r>
                        <a:rPr lang="ko-KR" sz="1450" b="0">
                          <a:solidFill>
                            <a:srgbClr val="2E3142"/>
                          </a:solidFill>
                          <a:latin typeface="210 OmniGothic 040"/>
                          <a:ea typeface="210 OmniGothic 040"/>
                        </a:rPr>
                        <a:t>없음</a:t>
                      </a:r>
                      <a:endParaRPr/>
                    </a:p>
                    <a:p>
                      <a:pPr lvl="0" algn="l">
                        <a:lnSpc>
                          <a:spcPct val="110000"/>
                        </a:lnSpc>
                        <a:buNone/>
                      </a:pPr>
                      <a:r>
                        <a:rPr lang="en-US" sz="1450" b="0">
                          <a:solidFill>
                            <a:srgbClr val="2E3142"/>
                          </a:solidFill>
                          <a:latin typeface="210 OmniGothic 040"/>
                          <a:ea typeface="210 OmniGothic 040"/>
                        </a:rPr>
                        <a:t>3.</a:t>
                      </a:r>
                      <a:r>
                        <a:rPr lang="en-US" altLang="ko-KR" sz="1450" b="0">
                          <a:solidFill>
                            <a:srgbClr val="2E3142"/>
                          </a:solidFill>
                          <a:latin typeface="210 OmniGothic 040"/>
                          <a:ea typeface="210 OmniGothic 040"/>
                        </a:rPr>
                        <a:t> </a:t>
                      </a:r>
                      <a:r>
                        <a:rPr lang="ko-KR" altLang="en-US" sz="1450" b="0">
                          <a:solidFill>
                            <a:srgbClr val="2E3142"/>
                          </a:solidFill>
                          <a:latin typeface="210 OmniGothic 040"/>
                          <a:ea typeface="210 OmniGothic 040"/>
                        </a:rPr>
                        <a:t>설치</a:t>
                      </a:r>
                      <a:r>
                        <a:rPr lang="en-US" altLang="ko-KR" sz="1450" b="0">
                          <a:solidFill>
                            <a:srgbClr val="2E3142"/>
                          </a:solidFill>
                          <a:latin typeface="210 OmniGothic 040"/>
                          <a:ea typeface="210 OmniGothic 040"/>
                        </a:rPr>
                        <a:t> </a:t>
                      </a:r>
                      <a:r>
                        <a:rPr lang="ko-KR" altLang="en-US" sz="1450" b="0">
                          <a:solidFill>
                            <a:srgbClr val="2E3142"/>
                          </a:solidFill>
                          <a:latin typeface="210 OmniGothic 040"/>
                          <a:ea typeface="210 OmniGothic 040"/>
                        </a:rPr>
                        <a:t>없이</a:t>
                      </a:r>
                      <a:r>
                        <a:rPr lang="en-US" altLang="ko-KR" sz="1450" b="0">
                          <a:solidFill>
                            <a:srgbClr val="2E3142"/>
                          </a:solidFill>
                          <a:latin typeface="210 OmniGothic 040"/>
                          <a:ea typeface="210 OmniGothic 040"/>
                        </a:rPr>
                        <a:t> </a:t>
                      </a:r>
                      <a:r>
                        <a:rPr lang="ko-KR" altLang="en-US" sz="1450" b="0">
                          <a:solidFill>
                            <a:srgbClr val="2E3142"/>
                          </a:solidFill>
                          <a:latin typeface="210 OmniGothic 040"/>
                          <a:ea typeface="210 OmniGothic 040"/>
                        </a:rPr>
                        <a:t>웹</a:t>
                      </a:r>
                      <a:r>
                        <a:rPr lang="en-US" altLang="ko-KR" sz="1450" b="0">
                          <a:solidFill>
                            <a:srgbClr val="2E3142"/>
                          </a:solidFill>
                          <a:latin typeface="210 OmniGothic 040"/>
                          <a:ea typeface="210 OmniGothic 040"/>
                        </a:rPr>
                        <a:t> </a:t>
                      </a:r>
                      <a:r>
                        <a:rPr lang="ko-KR" altLang="en-US" sz="1450" b="0">
                          <a:solidFill>
                            <a:srgbClr val="2E3142"/>
                          </a:solidFill>
                          <a:latin typeface="210 OmniGothic 040"/>
                          <a:ea typeface="210 OmniGothic 040"/>
                        </a:rPr>
                        <a:t>접속</a:t>
                      </a:r>
                      <a:r>
                        <a:rPr lang="en-US" altLang="ko-KR" sz="1450" b="0">
                          <a:solidFill>
                            <a:srgbClr val="2E3142"/>
                          </a:solidFill>
                          <a:latin typeface="210 OmniGothic 040"/>
                          <a:ea typeface="210 OmniGothic 040"/>
                        </a:rPr>
                        <a:t>(</a:t>
                      </a:r>
                      <a:r>
                        <a:rPr lang="ko-KR" altLang="en-US" sz="1450" b="0">
                          <a:solidFill>
                            <a:srgbClr val="2E3142"/>
                          </a:solidFill>
                          <a:latin typeface="210 OmniGothic 040"/>
                          <a:ea typeface="210 OmniGothic 040"/>
                        </a:rPr>
                        <a:t>별도</a:t>
                      </a:r>
                      <a:r>
                        <a:rPr lang="en-US" altLang="ko-KR" sz="1450" b="0">
                          <a:solidFill>
                            <a:srgbClr val="2E3142"/>
                          </a:solidFill>
                          <a:latin typeface="210 OmniGothic 040"/>
                          <a:ea typeface="210 OmniGothic 040"/>
                        </a:rPr>
                        <a:t> </a:t>
                      </a:r>
                      <a:r>
                        <a:rPr lang="ko-KR" altLang="en-US" sz="1450" b="0">
                          <a:solidFill>
                            <a:srgbClr val="2E3142"/>
                          </a:solidFill>
                          <a:latin typeface="210 OmniGothic 040"/>
                          <a:ea typeface="210 OmniGothic 040"/>
                        </a:rPr>
                        <a:t>클라이언트</a:t>
                      </a:r>
                      <a:r>
                        <a:rPr lang="en-US" altLang="ko-KR" sz="1450" b="0">
                          <a:solidFill>
                            <a:srgbClr val="2E3142"/>
                          </a:solidFill>
                          <a:latin typeface="210 OmniGothic 040"/>
                          <a:ea typeface="210 OmniGothic 040"/>
                        </a:rPr>
                        <a:t> </a:t>
                      </a:r>
                      <a:r>
                        <a:rPr lang="ko-KR" altLang="en-US" sz="1450" b="0">
                          <a:solidFill>
                            <a:srgbClr val="2E3142"/>
                          </a:solidFill>
                          <a:latin typeface="210 OmniGothic 040"/>
                          <a:ea typeface="210 OmniGothic 040"/>
                        </a:rPr>
                        <a:t>없음</a:t>
                      </a:r>
                      <a:r>
                        <a:rPr lang="en-US" altLang="ko-KR" sz="1450" b="0">
                          <a:solidFill>
                            <a:srgbClr val="2E3142"/>
                          </a:solidFill>
                          <a:latin typeface="210 OmniGothic 040"/>
                          <a:ea typeface="210 OmniGothic 040"/>
                        </a:rPr>
                        <a:t>)</a:t>
                      </a:r>
                      <a:endParaRPr lang="en-US" altLang="ko-K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4"/>
                  </a:ext>
                </a:extLst>
              </a:tr>
              <a:tr h="502920">
                <a:tc gridSpan="2">
                  <a:txBody>
                    <a:bodyPr/>
                    <a:lstStyle/>
                    <a:p>
                      <a:pPr algn="ctr"/>
                      <a:r>
                        <a:rPr sz="1450" b="1" dirty="0" err="1">
                          <a:solidFill>
                            <a:srgbClr val="2E3142"/>
                          </a:solidFill>
                          <a:latin typeface="210 OmniGothic 040"/>
                          <a:ea typeface="210 OmniGothic 040"/>
                          <a:cs typeface="210 OmniGothic 040"/>
                        </a:rPr>
                        <a:t>산출정보</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endParaRP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5"/>
                  </a:ext>
                </a:extLst>
              </a:tr>
              <a:tr h="502920">
                <a:tc gridSpan="2">
                  <a:txBody>
                    <a:bodyPr/>
                    <a:lstStyle/>
                    <a:p>
                      <a:pPr algn="ctr"/>
                      <a:r>
                        <a:rPr sz="1450" b="1" dirty="0" err="1">
                          <a:solidFill>
                            <a:srgbClr val="2E3142"/>
                          </a:solidFill>
                          <a:latin typeface="210 OmniGothic 040"/>
                          <a:ea typeface="210 OmniGothic 040"/>
                          <a:cs typeface="210 OmniGothic 040"/>
                        </a:rPr>
                        <a:t>관련</a:t>
                      </a:r>
                      <a:r>
                        <a:rPr sz="1450" b="1" dirty="0">
                          <a:solidFill>
                            <a:srgbClr val="2E3142"/>
                          </a:solidFill>
                          <a:latin typeface="210 OmniGothic 040"/>
                          <a:ea typeface="210 OmniGothic 040"/>
                          <a:cs typeface="210 OmniGothic 040"/>
                        </a:rPr>
                        <a:t> </a:t>
                      </a:r>
                      <a:r>
                        <a:rPr sz="1450" b="1" dirty="0" err="1">
                          <a:solidFill>
                            <a:srgbClr val="2E3142"/>
                          </a:solidFill>
                          <a:latin typeface="210 OmniGothic 040"/>
                          <a:ea typeface="210 OmniGothic 040"/>
                          <a:cs typeface="210 OmniGothic 040"/>
                        </a:rPr>
                        <a:t>요구사항</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r>
                        <a:rPr sz="1450" b="0" dirty="0">
                          <a:solidFill>
                            <a:srgbClr val="2E3142"/>
                          </a:solidFill>
                          <a:latin typeface="210 OmniGothic 040"/>
                          <a:ea typeface="210 OmniGothic 040"/>
                          <a:cs typeface="210 OmniGothic 040"/>
                        </a:rPr>
                        <a:t>TER-001</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6"/>
                  </a:ext>
                </a:extLst>
              </a:tr>
              <a:tr h="502920">
                <a:tc gridSpan="2">
                  <a:txBody>
                    <a:bodyPr/>
                    <a:lstStyle/>
                    <a:p>
                      <a:pPr algn="ctr"/>
                      <a:r>
                        <a:rPr sz="1450" b="1" dirty="0" err="1">
                          <a:solidFill>
                            <a:srgbClr val="2E3142"/>
                          </a:solidFill>
                          <a:latin typeface="210 OmniGothic 040"/>
                          <a:ea typeface="210 OmniGothic 040"/>
                          <a:cs typeface="210 OmniGothic 040"/>
                        </a:rPr>
                        <a:t>요구사항</a:t>
                      </a:r>
                      <a:r>
                        <a:rPr sz="1450" b="1" dirty="0">
                          <a:solidFill>
                            <a:srgbClr val="2E3142"/>
                          </a:solidFill>
                          <a:latin typeface="210 OmniGothic 040"/>
                          <a:ea typeface="210 OmniGothic 040"/>
                          <a:cs typeface="210 OmniGothic 040"/>
                        </a:rPr>
                        <a:t> </a:t>
                      </a:r>
                      <a:r>
                        <a:rPr sz="1450" b="1" dirty="0" err="1">
                          <a:solidFill>
                            <a:srgbClr val="2E3142"/>
                          </a:solidFill>
                          <a:latin typeface="210 OmniGothic 040"/>
                          <a:ea typeface="210 OmniGothic 040"/>
                          <a:cs typeface="210 OmniGothic 040"/>
                        </a:rPr>
                        <a:t>출처</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r>
                        <a:rPr sz="1450" b="0" dirty="0" err="1">
                          <a:solidFill>
                            <a:srgbClr val="2E3142"/>
                          </a:solidFill>
                          <a:latin typeface="210 OmniGothic 040"/>
                          <a:ea typeface="210 OmniGothic 040"/>
                          <a:cs typeface="210 OmniGothic 040"/>
                        </a:rPr>
                        <a:t>사용</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환경</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요구사항</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11"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2700" y="-12700"/>
            <a:ext cx="18313400" cy="1638300"/>
          </a:xfrm>
          <a:prstGeom prst="rect">
            <a:avLst/>
          </a:prstGeom>
        </p:spPr>
      </p:pic>
      <p:pic>
        <p:nvPicPr>
          <p:cNvPr id="5412"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628" y="1618343"/>
            <a:ext cx="18313400" cy="8699500"/>
          </a:xfrm>
          <a:prstGeom prst="rect">
            <a:avLst/>
          </a:prstGeom>
        </p:spPr>
      </p:pic>
      <p:pic>
        <p:nvPicPr>
          <p:cNvPr id="5413"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58800" y="9271000"/>
            <a:ext cx="17170400" cy="50800"/>
          </a:xfrm>
          <a:prstGeom prst="rect">
            <a:avLst/>
          </a:prstGeom>
        </p:spPr>
      </p:pic>
      <p:pic>
        <p:nvPicPr>
          <p:cNvPr id="5414" name="Picture 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278100" y="203200"/>
            <a:ext cx="1676400" cy="1409700"/>
          </a:xfrm>
          <a:prstGeom prst="rect">
            <a:avLst/>
          </a:prstGeom>
        </p:spPr>
      </p:pic>
      <p:sp>
        <p:nvSpPr>
          <p:cNvPr id="5415" name="Title"/>
          <p:cNvSpPr txBox="1"/>
          <p:nvPr/>
        </p:nvSpPr>
        <p:spPr>
          <a:xfrm>
            <a:off x="822960" y="384048"/>
            <a:ext cx="13258800" cy="877824"/>
          </a:xfrm>
          <a:prstGeom prst="rect">
            <a:avLst/>
          </a:prstGeom>
          <a:noFill/>
        </p:spPr>
        <p:txBody>
          <a:bodyPr wrap="square" lIns="0" tIns="0" rIns="0" bIns="0" anchor="ctr">
            <a:spAutoFit/>
          </a:bodyPr>
          <a:lstStyle/>
          <a:p>
            <a:pPr algn="l"/>
            <a:r>
              <a:rPr sz="4400" b="0">
                <a:solidFill>
                  <a:srgbClr val="FAA95A"/>
                </a:solidFill>
                <a:latin typeface="210 OmniGothic 050"/>
                <a:ea typeface="210 OmniGothic 050"/>
                <a:cs typeface="210 OmniGothic 050"/>
              </a:rPr>
              <a:t>07. 비기능 요구사항</a:t>
            </a:r>
          </a:p>
        </p:txBody>
      </p:sp>
      <p:sp>
        <p:nvSpPr>
          <p:cNvPr id="5416" name="Subtitle"/>
          <p:cNvSpPr txBox="1"/>
          <p:nvPr/>
        </p:nvSpPr>
        <p:spPr>
          <a:xfrm>
            <a:off x="822960" y="1764792"/>
            <a:ext cx="16642080" cy="502920"/>
          </a:xfrm>
          <a:prstGeom prst="rect">
            <a:avLst/>
          </a:prstGeom>
          <a:noFill/>
        </p:spPr>
        <p:txBody>
          <a:bodyPr wrap="square" lIns="0" tIns="0" rIns="0" bIns="0" anchor="ctr">
            <a:spAutoFit/>
          </a:bodyPr>
          <a:lstStyle/>
          <a:p>
            <a:pPr algn="ctr"/>
            <a:r>
              <a:rPr sz="2600" b="1">
                <a:solidFill>
                  <a:srgbClr val="363A52"/>
                </a:solidFill>
                <a:latin typeface="210 OmniGothic 040"/>
                <a:ea typeface="210 OmniGothic 040"/>
                <a:cs typeface="210 OmniGothic 040"/>
              </a:rPr>
              <a:t>시스템 장비 요구사항</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sz="quarter" idx="12"/>
          </p:nvPr>
        </p:nvSpPr>
        <p:spPr/>
        <p:txBody>
          <a:bodyPr/>
          <a:lstStyle/>
          <a:p>
            <a:fld id="{B6F15528-21DE-4FAA-801E-634DDDAF4B2B}" type="slidenum">
              <a:rPr lang="en-US" smtClean="0"/>
              <a:pPr/>
              <a:t>83</a:t>
            </a:fld>
            <a:endParaRPr lang="en-US"/>
          </a:p>
        </p:txBody>
      </p:sp>
      <p:graphicFrame>
        <p:nvGraphicFramePr>
          <p:cNvPr id="5417" name="Table 5416"/>
          <p:cNvGraphicFramePr>
            <a:graphicFrameLocks noGrp="1"/>
          </p:cNvGraphicFramePr>
          <p:nvPr/>
        </p:nvGraphicFramePr>
        <p:xfrm>
          <a:off x="2880360" y="2546604"/>
          <a:ext cx="12344400" cy="5230368"/>
        </p:xfrm>
        <a:graphic>
          <a:graphicData uri="http://schemas.openxmlformats.org/drawingml/2006/table">
            <a:tbl>
              <a:tblPr>
                <a:tableStyleId>{2D5ABB26-0587-4C30-8999-92F81FD0307C}</a:tableStyleId>
              </a:tblPr>
              <a:tblGrid>
                <a:gridCol w="245745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8286750">
                  <a:extLst>
                    <a:ext uri="{9D8B030D-6E8A-4147-A177-3AD203B41FA5}">
                      <a16:colId xmlns:a16="http://schemas.microsoft.com/office/drawing/2014/main" val="20002"/>
                    </a:ext>
                  </a:extLst>
                </a:gridCol>
              </a:tblGrid>
              <a:tr h="502920">
                <a:tc gridSpan="2">
                  <a:txBody>
                    <a:bodyPr/>
                    <a:lstStyle/>
                    <a:p>
                      <a:pPr algn="ctr"/>
                      <a:r>
                        <a:rPr sz="1450" b="1" dirty="0" err="1">
                          <a:solidFill>
                            <a:srgbClr val="2E3142"/>
                          </a:solidFill>
                          <a:latin typeface="210 OmniGothic 040"/>
                          <a:ea typeface="210 OmniGothic 040"/>
                          <a:cs typeface="210 OmniGothic 040"/>
                        </a:rPr>
                        <a:t>요구사항</a:t>
                      </a:r>
                      <a:r>
                        <a:rPr sz="1450" b="1" dirty="0">
                          <a:solidFill>
                            <a:srgbClr val="2E3142"/>
                          </a:solidFill>
                          <a:latin typeface="210 OmniGothic 040"/>
                          <a:ea typeface="210 OmniGothic 040"/>
                          <a:cs typeface="210 OmniGothic 040"/>
                        </a:rPr>
                        <a:t> </a:t>
                      </a:r>
                      <a:r>
                        <a:rPr sz="1450" b="1" dirty="0" err="1">
                          <a:solidFill>
                            <a:srgbClr val="2E3142"/>
                          </a:solidFill>
                          <a:latin typeface="210 OmniGothic 040"/>
                          <a:ea typeface="210 OmniGothic 040"/>
                          <a:cs typeface="210 OmniGothic 040"/>
                        </a:rPr>
                        <a:t>분류</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r>
                        <a:rPr sz="1450" b="0" dirty="0" err="1">
                          <a:solidFill>
                            <a:srgbClr val="2E3142"/>
                          </a:solidFill>
                          <a:latin typeface="210 OmniGothic 040"/>
                          <a:ea typeface="210 OmniGothic 040"/>
                          <a:cs typeface="210 OmniGothic 040"/>
                        </a:rPr>
                        <a:t>시스템</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장비</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요구사항</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0"/>
                  </a:ext>
                </a:extLst>
              </a:tr>
              <a:tr h="502920">
                <a:tc gridSpan="2">
                  <a:txBody>
                    <a:bodyPr/>
                    <a:lstStyle/>
                    <a:p>
                      <a:pPr algn="ctr"/>
                      <a:r>
                        <a:rPr sz="1450" b="1" dirty="0" err="1">
                          <a:solidFill>
                            <a:srgbClr val="2E3142"/>
                          </a:solidFill>
                          <a:latin typeface="210 OmniGothic 040"/>
                          <a:ea typeface="210 OmniGothic 040"/>
                          <a:cs typeface="210 OmniGothic 040"/>
                        </a:rPr>
                        <a:t>요구사항</a:t>
                      </a:r>
                      <a:r>
                        <a:rPr sz="1450" b="1" dirty="0">
                          <a:solidFill>
                            <a:srgbClr val="2E3142"/>
                          </a:solidFill>
                          <a:latin typeface="210 OmniGothic 040"/>
                          <a:ea typeface="210 OmniGothic 040"/>
                          <a:cs typeface="210 OmniGothic 040"/>
                        </a:rPr>
                        <a:t> </a:t>
                      </a:r>
                      <a:r>
                        <a:rPr sz="1450" b="1" dirty="0" err="1">
                          <a:solidFill>
                            <a:srgbClr val="2E3142"/>
                          </a:solidFill>
                          <a:latin typeface="210 OmniGothic 040"/>
                          <a:ea typeface="210 OmniGothic 040"/>
                          <a:cs typeface="210 OmniGothic 040"/>
                        </a:rPr>
                        <a:t>고유번호</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r>
                        <a:rPr sz="1450" b="0" dirty="0">
                          <a:solidFill>
                            <a:srgbClr val="2E3142"/>
                          </a:solidFill>
                          <a:latin typeface="210 OmniGothic 040"/>
                          <a:ea typeface="210 OmniGothic 040"/>
                          <a:cs typeface="210 OmniGothic 040"/>
                        </a:rPr>
                        <a:t>ECR-001</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1"/>
                  </a:ext>
                </a:extLst>
              </a:tr>
              <a:tr h="502920">
                <a:tc gridSpan="2">
                  <a:txBody>
                    <a:bodyPr/>
                    <a:lstStyle/>
                    <a:p>
                      <a:pPr algn="ctr"/>
                      <a:r>
                        <a:rPr sz="1450" b="1" dirty="0" err="1">
                          <a:solidFill>
                            <a:srgbClr val="2E3142"/>
                          </a:solidFill>
                          <a:latin typeface="210 OmniGothic 040"/>
                          <a:ea typeface="210 OmniGothic 040"/>
                          <a:cs typeface="210 OmniGothic 040"/>
                        </a:rPr>
                        <a:t>요구사항</a:t>
                      </a:r>
                      <a:r>
                        <a:rPr sz="1450" b="1" dirty="0">
                          <a:solidFill>
                            <a:srgbClr val="2E3142"/>
                          </a:solidFill>
                          <a:latin typeface="210 OmniGothic 040"/>
                          <a:ea typeface="210 OmniGothic 040"/>
                          <a:cs typeface="210 OmniGothic 040"/>
                        </a:rPr>
                        <a:t> </a:t>
                      </a:r>
                      <a:r>
                        <a:rPr sz="1450" b="1" dirty="0" err="1">
                          <a:solidFill>
                            <a:srgbClr val="2E3142"/>
                          </a:solidFill>
                          <a:latin typeface="210 OmniGothic 040"/>
                          <a:ea typeface="210 OmniGothic 040"/>
                          <a:cs typeface="210 OmniGothic 040"/>
                        </a:rPr>
                        <a:t>명칭</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r>
                        <a:rPr sz="1450" b="0" dirty="0">
                          <a:solidFill>
                            <a:srgbClr val="2E3142"/>
                          </a:solidFill>
                          <a:latin typeface="210 OmniGothic 040"/>
                          <a:ea typeface="210 OmniGothic 040"/>
                          <a:cs typeface="210 OmniGothic 040"/>
                        </a:rPr>
                        <a:t>GPU </a:t>
                      </a:r>
                      <a:r>
                        <a:rPr sz="1450" b="0" dirty="0" err="1">
                          <a:solidFill>
                            <a:srgbClr val="2E3142"/>
                          </a:solidFill>
                          <a:latin typeface="210 OmniGothic 040"/>
                          <a:ea typeface="210 OmniGothic 040"/>
                          <a:cs typeface="210 OmniGothic 040"/>
                        </a:rPr>
                        <a:t>서버</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예측·AI</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추론</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2"/>
                  </a:ext>
                </a:extLst>
              </a:tr>
              <a:tr h="553212">
                <a:tc rowSpan="2">
                  <a:txBody>
                    <a:bodyPr/>
                    <a:lstStyle/>
                    <a:p>
                      <a:pPr algn="ctr"/>
                      <a:r>
                        <a:rPr sz="1450" b="1" dirty="0">
                          <a:solidFill>
                            <a:srgbClr val="2E3142"/>
                          </a:solidFill>
                          <a:latin typeface="210 OmniGothic 040"/>
                          <a:ea typeface="210 OmniGothic 040"/>
                          <a:cs typeface="210 OmniGothic 040"/>
                        </a:rPr>
                        <a:t>요구사항
</a:t>
                      </a:r>
                      <a:r>
                        <a:rPr sz="1450" b="1" dirty="0" err="1">
                          <a:solidFill>
                            <a:srgbClr val="2E3142"/>
                          </a:solidFill>
                          <a:latin typeface="210 OmniGothic 040"/>
                          <a:ea typeface="210 OmniGothic 040"/>
                          <a:cs typeface="210 OmniGothic 040"/>
                        </a:rPr>
                        <a:t>상세설명</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a:txBody>
                    <a:bodyPr/>
                    <a:lstStyle/>
                    <a:p>
                      <a:pPr algn="ctr"/>
                      <a:r>
                        <a:rPr sz="1450" b="1" dirty="0" err="1">
                          <a:solidFill>
                            <a:srgbClr val="2E3142"/>
                          </a:solidFill>
                          <a:latin typeface="210 OmniGothic 040"/>
                          <a:ea typeface="210 OmniGothic 040"/>
                          <a:cs typeface="210 OmniGothic 040"/>
                        </a:rPr>
                        <a:t>정의</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a:txBody>
                    <a:bodyPr/>
                    <a:lstStyle/>
                    <a:p>
                      <a:pPr algn="l"/>
                      <a:r>
                        <a:rPr sz="1450" b="0" dirty="0" err="1">
                          <a:solidFill>
                            <a:srgbClr val="2E3142"/>
                          </a:solidFill>
                          <a:latin typeface="210 OmniGothic 040"/>
                          <a:ea typeface="210 OmniGothic 040"/>
                          <a:cs typeface="210 OmniGothic 040"/>
                        </a:rPr>
                        <a:t>확산</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예측과</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LLM·임베딩</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추론을</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수행하는</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자체</a:t>
                      </a:r>
                      <a:r>
                        <a:rPr sz="1450" b="0" dirty="0">
                          <a:solidFill>
                            <a:srgbClr val="2E3142"/>
                          </a:solidFill>
                          <a:latin typeface="210 OmniGothic 040"/>
                          <a:ea typeface="210 OmniGothic 040"/>
                          <a:cs typeface="210 OmniGothic 040"/>
                        </a:rPr>
                        <a:t> GPU </a:t>
                      </a:r>
                      <a:r>
                        <a:rPr sz="1450" b="0" dirty="0" err="1">
                          <a:solidFill>
                            <a:srgbClr val="2E3142"/>
                          </a:solidFill>
                          <a:latin typeface="210 OmniGothic 040"/>
                          <a:ea typeface="210 OmniGothic 040"/>
                          <a:cs typeface="210 OmniGothic 040"/>
                        </a:rPr>
                        <a:t>서버</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3"/>
                  </a:ext>
                </a:extLst>
              </a:tr>
              <a:tr h="1659636">
                <a:tc vMerge="1">
                  <a:txBody>
                    <a:bodyPr/>
                    <a:lstStyle/>
                    <a:p>
                      <a:endParaRPr/>
                    </a:p>
                  </a:txBody>
                  <a:tcPr/>
                </a:tc>
                <a:tc>
                  <a:txBody>
                    <a:bodyPr/>
                    <a:lstStyle/>
                    <a:p>
                      <a:pPr algn="ctr"/>
                      <a:r>
                        <a:rPr sz="1450" b="1" dirty="0" err="1">
                          <a:solidFill>
                            <a:srgbClr val="2E3142"/>
                          </a:solidFill>
                          <a:latin typeface="210 OmniGothic 040"/>
                          <a:ea typeface="210 OmniGothic 040"/>
                          <a:cs typeface="210 OmniGothic 040"/>
                        </a:rPr>
                        <a:t>세부</a:t>
                      </a:r>
                      <a:r>
                        <a:rPr sz="1450" b="1" dirty="0">
                          <a:solidFill>
                            <a:srgbClr val="2E3142"/>
                          </a:solidFill>
                          <a:latin typeface="210 OmniGothic 040"/>
                          <a:ea typeface="210 OmniGothic 040"/>
                          <a:cs typeface="210 OmniGothic 040"/>
                        </a:rPr>
                        <a:t> </a:t>
                      </a:r>
                      <a:r>
                        <a:rPr sz="1450" b="1" dirty="0" err="1">
                          <a:solidFill>
                            <a:srgbClr val="2E3142"/>
                          </a:solidFill>
                          <a:latin typeface="210 OmniGothic 040"/>
                          <a:ea typeface="210 OmniGothic 040"/>
                          <a:cs typeface="210 OmniGothic 040"/>
                        </a:rPr>
                        <a:t>내용</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a:txBody>
                    <a:bodyPr/>
                    <a:lstStyle/>
                    <a:p>
                      <a:pPr algn="l">
                        <a:lnSpc>
                          <a:spcPct val="110000"/>
                        </a:lnSpc>
                      </a:pPr>
                      <a:r>
                        <a:rPr sz="1450" b="0" dirty="0">
                          <a:solidFill>
                            <a:srgbClr val="2E3142"/>
                          </a:solidFill>
                          <a:latin typeface="210 OmniGothic 040"/>
                          <a:ea typeface="210 OmniGothic 040"/>
                          <a:cs typeface="210 OmniGothic 040"/>
                        </a:rPr>
                        <a:t>1. </a:t>
                      </a:r>
                      <a:r>
                        <a:rPr sz="1450" b="0" dirty="0" err="1">
                          <a:solidFill>
                            <a:srgbClr val="2E3142"/>
                          </a:solidFill>
                          <a:latin typeface="210 OmniGothic 040"/>
                          <a:ea typeface="210 OmniGothic 040"/>
                          <a:cs typeface="210 OmniGothic 040"/>
                        </a:rPr>
                        <a:t>하드웨어</a:t>
                      </a:r>
                    </a:p>
                    <a:p>
                      <a:pPr algn="l">
                        <a:lnSpc>
                          <a:spcPct val="110000"/>
                        </a:lnSpc>
                      </a:pPr>
                      <a:r>
                        <a:rPr sz="1450" b="0" dirty="0">
                          <a:solidFill>
                            <a:srgbClr val="2E3142"/>
                          </a:solidFill>
                          <a:latin typeface="210 OmniGothic 040"/>
                          <a:ea typeface="210 OmniGothic 040"/>
                          <a:cs typeface="210 OmniGothic 040"/>
                        </a:rPr>
                        <a:t>  - NVIDIA RTX A6000 48GB 1장, </a:t>
                      </a:r>
                      <a:r>
                        <a:rPr sz="1450" b="0" dirty="0" err="1">
                          <a:solidFill>
                            <a:srgbClr val="2E3142"/>
                          </a:solidFill>
                          <a:latin typeface="210 OmniGothic 040"/>
                          <a:ea typeface="210 OmniGothic 040"/>
                          <a:cs typeface="210 OmniGothic 040"/>
                        </a:rPr>
                        <a:t>디스크</a:t>
                      </a:r>
                      <a:r>
                        <a:rPr sz="1450" b="0" dirty="0">
                          <a:solidFill>
                            <a:srgbClr val="2E3142"/>
                          </a:solidFill>
                          <a:latin typeface="210 OmniGothic 040"/>
                          <a:ea typeface="210 OmniGothic 040"/>
                          <a:cs typeface="210 OmniGothic 040"/>
                        </a:rPr>
                        <a:t> 100GB </a:t>
                      </a:r>
                      <a:r>
                        <a:rPr sz="1450" b="0" dirty="0" err="1">
                          <a:solidFill>
                            <a:srgbClr val="2E3142"/>
                          </a:solidFill>
                          <a:latin typeface="210 OmniGothic 040"/>
                          <a:ea typeface="210 OmniGothic 040"/>
                          <a:cs typeface="210 OmniGothic 040"/>
                        </a:rPr>
                        <a:t>이상</a:t>
                      </a:r>
                      <a:r>
                        <a:rPr sz="1450" b="0" dirty="0">
                          <a:solidFill>
                            <a:srgbClr val="2E3142"/>
                          </a:solidFill>
                          <a:latin typeface="210 OmniGothic 040"/>
                          <a:ea typeface="210 OmniGothic 040"/>
                          <a:cs typeface="210 OmniGothic 040"/>
                        </a:rPr>
                        <a:t>, Linux</a:t>
                      </a:r>
                    </a:p>
                    <a:p>
                      <a:pPr algn="l">
                        <a:lnSpc>
                          <a:spcPct val="110000"/>
                        </a:lnSpc>
                      </a:pPr>
                      <a:r>
                        <a:rPr sz="1450" b="0" dirty="0">
                          <a:solidFill>
                            <a:srgbClr val="2E3142"/>
                          </a:solidFill>
                          <a:latin typeface="210 OmniGothic 040"/>
                          <a:ea typeface="210 OmniGothic 040"/>
                          <a:cs typeface="210 OmniGothic 040"/>
                        </a:rPr>
                        <a:t>2. </a:t>
                      </a:r>
                      <a:r>
                        <a:rPr sz="1450" b="0" dirty="0" err="1">
                          <a:solidFill>
                            <a:srgbClr val="2E3142"/>
                          </a:solidFill>
                          <a:latin typeface="210 OmniGothic 040"/>
                          <a:ea typeface="210 OmniGothic 040"/>
                          <a:cs typeface="210 OmniGothic 040"/>
                        </a:rPr>
                        <a:t>탑재</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모델</a:t>
                      </a:r>
                      <a:endParaRPr sz="1450" b="0">
                        <a:solidFill>
                          <a:srgbClr val="2E3142"/>
                        </a:solidFill>
                        <a:latin typeface="210 OmniGothic 040"/>
                        <a:ea typeface="210 OmniGothic 040"/>
                        <a:cs typeface="210 OmniGothic 040"/>
                      </a:endParaRPr>
                    </a:p>
                    <a:p>
                      <a:pPr algn="l">
                        <a:lnSpc>
                          <a:spcPct val="110000"/>
                        </a:lnSpc>
                      </a:pPr>
                      <a:r>
                        <a:rPr sz="1450" b="0" dirty="0">
                          <a:solidFill>
                            <a:srgbClr val="2E3142"/>
                          </a:solidFill>
                          <a:latin typeface="210 OmniGothic 040"/>
                          <a:ea typeface="210 OmniGothic 040"/>
                          <a:cs typeface="210 OmniGothic 040"/>
                        </a:rPr>
                        <a:t>  - ELMFIRE 1.1(Docker), EXAONE 4.0 32B 4비트(</a:t>
                      </a:r>
                      <a:r>
                        <a:rPr sz="1450" b="0" dirty="0" err="1">
                          <a:solidFill>
                            <a:srgbClr val="2E3142"/>
                          </a:solidFill>
                          <a:latin typeface="210 OmniGothic 040"/>
                          <a:ea typeface="210 OmniGothic 040"/>
                          <a:cs typeface="210 OmniGothic 040"/>
                        </a:rPr>
                        <a:t>vLLM</a:t>
                      </a:r>
                      <a:r>
                        <a:rPr sz="1450" b="0" dirty="0">
                          <a:solidFill>
                            <a:srgbClr val="2E3142"/>
                          </a:solidFill>
                          <a:latin typeface="210 OmniGothic 040"/>
                          <a:ea typeface="210 OmniGothic 040"/>
                          <a:cs typeface="210 OmniGothic 040"/>
                        </a:rPr>
                        <a:t>), KURE-v1</a:t>
                      </a:r>
                    </a:p>
                    <a:p>
                      <a:pPr algn="l">
                        <a:lnSpc>
                          <a:spcPct val="110000"/>
                        </a:lnSpc>
                      </a:pPr>
                      <a:r>
                        <a:rPr sz="1450" b="0" dirty="0">
                          <a:solidFill>
                            <a:srgbClr val="2E3142"/>
                          </a:solidFill>
                          <a:latin typeface="210 OmniGothic 040"/>
                          <a:ea typeface="210 OmniGothic 040"/>
                          <a:cs typeface="210 OmniGothic 040"/>
                        </a:rPr>
                        <a:t>3. </a:t>
                      </a:r>
                      <a:r>
                        <a:rPr sz="1450" b="0" dirty="0" err="1">
                          <a:solidFill>
                            <a:srgbClr val="2E3142"/>
                          </a:solidFill>
                          <a:latin typeface="210 OmniGothic 040"/>
                          <a:ea typeface="210 OmniGothic 040"/>
                          <a:cs typeface="210 OmniGothic 040"/>
                        </a:rPr>
                        <a:t>GPU를</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ELMFIRE와</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공유</a:t>
                      </a:r>
                      <a:r>
                        <a:rPr sz="1450" b="0" dirty="0">
                          <a:solidFill>
                            <a:srgbClr val="2E3142"/>
                          </a:solidFill>
                          <a:latin typeface="210 OmniGothic 040"/>
                          <a:ea typeface="210 OmniGothic 040"/>
                          <a:cs typeface="210 OmniGothic 040"/>
                        </a:rPr>
                        <a:t> → LLM 1개 </a:t>
                      </a:r>
                      <a:r>
                        <a:rPr sz="1450" b="0" dirty="0" err="1">
                          <a:solidFill>
                            <a:srgbClr val="2E3142"/>
                          </a:solidFill>
                          <a:latin typeface="210 OmniGothic 040"/>
                          <a:ea typeface="210 OmniGothic 040"/>
                          <a:cs typeface="210 OmniGothic 040"/>
                        </a:rPr>
                        <a:t>상주</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단일 모델 위에 에이전트 2개(상황판단: A1~A4 단계, 어시스턴트: 질의응답·상황 정정 해석)를 역할 프롬프트로</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순차</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호출</a:t>
                      </a:r>
                      <a:endParaRPr sz="1450" b="0">
                        <a:solidFill>
                          <a:srgbClr val="2E3142"/>
                        </a:solidFill>
                        <a:latin typeface="210 OmniGothic 040"/>
                        <a:ea typeface="210 OmniGothic 040"/>
                        <a:cs typeface="210 OmniGothic 040"/>
                      </a:endParaRP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4"/>
                  </a:ext>
                </a:extLst>
              </a:tr>
              <a:tr h="502920">
                <a:tc gridSpan="2">
                  <a:txBody>
                    <a:bodyPr/>
                    <a:lstStyle/>
                    <a:p>
                      <a:pPr algn="ctr"/>
                      <a:r>
                        <a:rPr sz="1450" b="1" dirty="0" err="1">
                          <a:solidFill>
                            <a:srgbClr val="2E3142"/>
                          </a:solidFill>
                          <a:latin typeface="210 OmniGothic 040"/>
                          <a:ea typeface="210 OmniGothic 040"/>
                          <a:cs typeface="210 OmniGothic 040"/>
                        </a:rPr>
                        <a:t>산출정보</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endParaRP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5"/>
                  </a:ext>
                </a:extLst>
              </a:tr>
              <a:tr h="502920">
                <a:tc gridSpan="2">
                  <a:txBody>
                    <a:bodyPr/>
                    <a:lstStyle/>
                    <a:p>
                      <a:pPr algn="ctr"/>
                      <a:r>
                        <a:rPr sz="1450" b="1" dirty="0" err="1">
                          <a:solidFill>
                            <a:srgbClr val="2E3142"/>
                          </a:solidFill>
                          <a:latin typeface="210 OmniGothic 040"/>
                          <a:ea typeface="210 OmniGothic 040"/>
                          <a:cs typeface="210 OmniGothic 040"/>
                        </a:rPr>
                        <a:t>관련</a:t>
                      </a:r>
                      <a:r>
                        <a:rPr sz="1450" b="1" dirty="0">
                          <a:solidFill>
                            <a:srgbClr val="2E3142"/>
                          </a:solidFill>
                          <a:latin typeface="210 OmniGothic 040"/>
                          <a:ea typeface="210 OmniGothic 040"/>
                          <a:cs typeface="210 OmniGothic 040"/>
                        </a:rPr>
                        <a:t> </a:t>
                      </a:r>
                      <a:r>
                        <a:rPr sz="1450" b="1" dirty="0" err="1">
                          <a:solidFill>
                            <a:srgbClr val="2E3142"/>
                          </a:solidFill>
                          <a:latin typeface="210 OmniGothic 040"/>
                          <a:ea typeface="210 OmniGothic 040"/>
                          <a:cs typeface="210 OmniGothic 040"/>
                        </a:rPr>
                        <a:t>요구사항</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r>
                        <a:rPr sz="1450" b="0" dirty="0">
                          <a:solidFill>
                            <a:srgbClr val="2E3142"/>
                          </a:solidFill>
                          <a:latin typeface="210 OmniGothic 040"/>
                          <a:ea typeface="210 OmniGothic 040"/>
                          <a:cs typeface="210 OmniGothic 040"/>
                        </a:rPr>
                        <a:t>PER-001, SER-002</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6"/>
                  </a:ext>
                </a:extLst>
              </a:tr>
              <a:tr h="502920">
                <a:tc gridSpan="2">
                  <a:txBody>
                    <a:bodyPr/>
                    <a:lstStyle/>
                    <a:p>
                      <a:pPr algn="ctr"/>
                      <a:r>
                        <a:rPr sz="1450" b="1" dirty="0" err="1">
                          <a:solidFill>
                            <a:srgbClr val="2E3142"/>
                          </a:solidFill>
                          <a:latin typeface="210 OmniGothic 040"/>
                          <a:ea typeface="210 OmniGothic 040"/>
                          <a:cs typeface="210 OmniGothic 040"/>
                        </a:rPr>
                        <a:t>요구사항</a:t>
                      </a:r>
                      <a:r>
                        <a:rPr sz="1450" b="1" dirty="0">
                          <a:solidFill>
                            <a:srgbClr val="2E3142"/>
                          </a:solidFill>
                          <a:latin typeface="210 OmniGothic 040"/>
                          <a:ea typeface="210 OmniGothic 040"/>
                          <a:cs typeface="210 OmniGothic 040"/>
                        </a:rPr>
                        <a:t> </a:t>
                      </a:r>
                      <a:r>
                        <a:rPr sz="1450" b="1" dirty="0" err="1">
                          <a:solidFill>
                            <a:srgbClr val="2E3142"/>
                          </a:solidFill>
                          <a:latin typeface="210 OmniGothic 040"/>
                          <a:ea typeface="210 OmniGothic 040"/>
                          <a:cs typeface="210 OmniGothic 040"/>
                        </a:rPr>
                        <a:t>출처</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lvl="0" algn="l">
                        <a:buNone/>
                      </a:pPr>
                      <a:r>
                        <a:rPr lang="ko-KR" altLang="en-US" sz="1450" b="0" dirty="0">
                          <a:solidFill>
                            <a:srgbClr val="2E3142"/>
                          </a:solidFill>
                          <a:latin typeface="210 OmniGothic 040"/>
                          <a:ea typeface="210 OmniGothic 040"/>
                          <a:cs typeface="210 OmniGothic 040"/>
                        </a:rPr>
                        <a:t>시스템 아키텍처 설계</a:t>
                      </a:r>
                      <a:endParaRPr sz="1450" b="0" dirty="0">
                        <a:solidFill>
                          <a:srgbClr val="2E3142"/>
                        </a:solidFill>
                        <a:latin typeface="210 OmniGothic 040"/>
                        <a:ea typeface="210 OmniGothic 040"/>
                        <a:cs typeface="210 OmniGothic 040"/>
                      </a:endParaRP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16"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2700" y="-12700"/>
            <a:ext cx="18313400" cy="1638300"/>
          </a:xfrm>
          <a:prstGeom prst="rect">
            <a:avLst/>
          </a:prstGeom>
        </p:spPr>
      </p:pic>
      <p:pic>
        <p:nvPicPr>
          <p:cNvPr id="5417"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628" y="1618343"/>
            <a:ext cx="18313400" cy="8699500"/>
          </a:xfrm>
          <a:prstGeom prst="rect">
            <a:avLst/>
          </a:prstGeom>
        </p:spPr>
      </p:pic>
      <p:pic>
        <p:nvPicPr>
          <p:cNvPr id="5418"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58800" y="9271000"/>
            <a:ext cx="17170400" cy="50800"/>
          </a:xfrm>
          <a:prstGeom prst="rect">
            <a:avLst/>
          </a:prstGeom>
        </p:spPr>
      </p:pic>
      <p:pic>
        <p:nvPicPr>
          <p:cNvPr id="5419" name="Picture 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278100" y="203200"/>
            <a:ext cx="1676400" cy="1409700"/>
          </a:xfrm>
          <a:prstGeom prst="rect">
            <a:avLst/>
          </a:prstGeom>
        </p:spPr>
      </p:pic>
      <p:sp>
        <p:nvSpPr>
          <p:cNvPr id="5420" name="Title"/>
          <p:cNvSpPr txBox="1"/>
          <p:nvPr/>
        </p:nvSpPr>
        <p:spPr>
          <a:xfrm>
            <a:off x="822960" y="384048"/>
            <a:ext cx="13258800" cy="877824"/>
          </a:xfrm>
          <a:prstGeom prst="rect">
            <a:avLst/>
          </a:prstGeom>
          <a:noFill/>
        </p:spPr>
        <p:txBody>
          <a:bodyPr wrap="square" lIns="0" tIns="0" rIns="0" bIns="0" anchor="ctr">
            <a:spAutoFit/>
          </a:bodyPr>
          <a:lstStyle/>
          <a:p>
            <a:pPr algn="l"/>
            <a:r>
              <a:rPr sz="4400" b="0">
                <a:solidFill>
                  <a:srgbClr val="FAA95A"/>
                </a:solidFill>
                <a:latin typeface="210 OmniGothic 050"/>
                <a:ea typeface="210 OmniGothic 050"/>
                <a:cs typeface="210 OmniGothic 050"/>
              </a:rPr>
              <a:t>07. 비기능 요구사항</a:t>
            </a:r>
          </a:p>
        </p:txBody>
      </p:sp>
      <p:sp>
        <p:nvSpPr>
          <p:cNvPr id="5421" name="Subtitle"/>
          <p:cNvSpPr txBox="1"/>
          <p:nvPr/>
        </p:nvSpPr>
        <p:spPr>
          <a:xfrm>
            <a:off x="822960" y="1764792"/>
            <a:ext cx="16642080" cy="502920"/>
          </a:xfrm>
          <a:prstGeom prst="rect">
            <a:avLst/>
          </a:prstGeom>
          <a:noFill/>
        </p:spPr>
        <p:txBody>
          <a:bodyPr wrap="square" lIns="0" tIns="0" rIns="0" bIns="0" anchor="ctr">
            <a:spAutoFit/>
          </a:bodyPr>
          <a:lstStyle/>
          <a:p>
            <a:pPr algn="ctr"/>
            <a:r>
              <a:rPr sz="2600" b="1">
                <a:solidFill>
                  <a:srgbClr val="363A52"/>
                </a:solidFill>
                <a:latin typeface="210 OmniGothic 040"/>
                <a:ea typeface="210 OmniGothic 040"/>
                <a:cs typeface="210 OmniGothic 040"/>
              </a:rPr>
              <a:t>시스템 장비 요구사항</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sz="quarter" idx="12"/>
          </p:nvPr>
        </p:nvSpPr>
        <p:spPr/>
        <p:txBody>
          <a:bodyPr/>
          <a:lstStyle/>
          <a:p>
            <a:fld id="{B6F15528-21DE-4FAA-801E-634DDDAF4B2B}" type="slidenum">
              <a:rPr lang="en-US" smtClean="0"/>
              <a:pPr/>
              <a:t>84</a:t>
            </a:fld>
            <a:endParaRPr lang="en-US"/>
          </a:p>
        </p:txBody>
      </p:sp>
      <p:graphicFrame>
        <p:nvGraphicFramePr>
          <p:cNvPr id="5422" name="Table 5421"/>
          <p:cNvGraphicFramePr>
            <a:graphicFrameLocks noGrp="1"/>
          </p:cNvGraphicFramePr>
          <p:nvPr/>
        </p:nvGraphicFramePr>
        <p:xfrm>
          <a:off x="2880360" y="2546604"/>
          <a:ext cx="12344400" cy="5180076"/>
        </p:xfrm>
        <a:graphic>
          <a:graphicData uri="http://schemas.openxmlformats.org/drawingml/2006/table">
            <a:tbl>
              <a:tblPr>
                <a:tableStyleId>{2D5ABB26-0587-4C30-8999-92F81FD0307C}</a:tableStyleId>
              </a:tblPr>
              <a:tblGrid>
                <a:gridCol w="245745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8286750">
                  <a:extLst>
                    <a:ext uri="{9D8B030D-6E8A-4147-A177-3AD203B41FA5}">
                      <a16:colId xmlns:a16="http://schemas.microsoft.com/office/drawing/2014/main" val="20002"/>
                    </a:ext>
                  </a:extLst>
                </a:gridCol>
              </a:tblGrid>
              <a:tr h="502920">
                <a:tc gridSpan="2">
                  <a:txBody>
                    <a:bodyPr/>
                    <a:lstStyle/>
                    <a:p>
                      <a:pPr algn="ctr"/>
                      <a:r>
                        <a:rPr sz="1450" b="1" dirty="0" err="1">
                          <a:solidFill>
                            <a:srgbClr val="2E3142"/>
                          </a:solidFill>
                          <a:latin typeface="210 OmniGothic 040"/>
                          <a:ea typeface="210 OmniGothic 040"/>
                          <a:cs typeface="210 OmniGothic 040"/>
                        </a:rPr>
                        <a:t>요구사항</a:t>
                      </a:r>
                      <a:r>
                        <a:rPr sz="1450" b="1" dirty="0">
                          <a:solidFill>
                            <a:srgbClr val="2E3142"/>
                          </a:solidFill>
                          <a:latin typeface="210 OmniGothic 040"/>
                          <a:ea typeface="210 OmniGothic 040"/>
                          <a:cs typeface="210 OmniGothic 040"/>
                        </a:rPr>
                        <a:t> </a:t>
                      </a:r>
                      <a:r>
                        <a:rPr sz="1450" b="1" dirty="0" err="1">
                          <a:solidFill>
                            <a:srgbClr val="2E3142"/>
                          </a:solidFill>
                          <a:latin typeface="210 OmniGothic 040"/>
                          <a:ea typeface="210 OmniGothic 040"/>
                          <a:cs typeface="210 OmniGothic 040"/>
                        </a:rPr>
                        <a:t>분류</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r>
                        <a:rPr sz="1450" b="0" dirty="0" err="1">
                          <a:solidFill>
                            <a:srgbClr val="2E3142"/>
                          </a:solidFill>
                          <a:latin typeface="210 OmniGothic 040"/>
                          <a:ea typeface="210 OmniGothic 040"/>
                          <a:cs typeface="210 OmniGothic 040"/>
                        </a:rPr>
                        <a:t>시스템</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장비</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요구사항</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0"/>
                  </a:ext>
                </a:extLst>
              </a:tr>
              <a:tr h="502920">
                <a:tc gridSpan="2">
                  <a:txBody>
                    <a:bodyPr/>
                    <a:lstStyle/>
                    <a:p>
                      <a:pPr algn="ctr"/>
                      <a:r>
                        <a:rPr sz="1450" b="1" dirty="0" err="1">
                          <a:solidFill>
                            <a:srgbClr val="2E3142"/>
                          </a:solidFill>
                          <a:latin typeface="210 OmniGothic 040"/>
                          <a:ea typeface="210 OmniGothic 040"/>
                          <a:cs typeface="210 OmniGothic 040"/>
                        </a:rPr>
                        <a:t>요구사항</a:t>
                      </a:r>
                      <a:r>
                        <a:rPr sz="1450" b="1" dirty="0">
                          <a:solidFill>
                            <a:srgbClr val="2E3142"/>
                          </a:solidFill>
                          <a:latin typeface="210 OmniGothic 040"/>
                          <a:ea typeface="210 OmniGothic 040"/>
                          <a:cs typeface="210 OmniGothic 040"/>
                        </a:rPr>
                        <a:t> </a:t>
                      </a:r>
                      <a:r>
                        <a:rPr sz="1450" b="1" dirty="0" err="1">
                          <a:solidFill>
                            <a:srgbClr val="2E3142"/>
                          </a:solidFill>
                          <a:latin typeface="210 OmniGothic 040"/>
                          <a:ea typeface="210 OmniGothic 040"/>
                          <a:cs typeface="210 OmniGothic 040"/>
                        </a:rPr>
                        <a:t>고유번호</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r>
                        <a:rPr sz="1450" b="0" dirty="0">
                          <a:solidFill>
                            <a:srgbClr val="2E3142"/>
                          </a:solidFill>
                          <a:latin typeface="210 OmniGothic 040"/>
                          <a:ea typeface="210 OmniGothic 040"/>
                          <a:cs typeface="210 OmniGothic 040"/>
                        </a:rPr>
                        <a:t>ECR-002</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1"/>
                  </a:ext>
                </a:extLst>
              </a:tr>
              <a:tr h="502920">
                <a:tc gridSpan="2">
                  <a:txBody>
                    <a:bodyPr/>
                    <a:lstStyle/>
                    <a:p>
                      <a:pPr algn="ctr"/>
                      <a:r>
                        <a:rPr sz="1450" b="1" dirty="0" err="1">
                          <a:solidFill>
                            <a:srgbClr val="2E3142"/>
                          </a:solidFill>
                          <a:latin typeface="210 OmniGothic 040"/>
                          <a:ea typeface="210 OmniGothic 040"/>
                          <a:cs typeface="210 OmniGothic 040"/>
                        </a:rPr>
                        <a:t>요구사항</a:t>
                      </a:r>
                      <a:r>
                        <a:rPr sz="1450" b="1" dirty="0">
                          <a:solidFill>
                            <a:srgbClr val="2E3142"/>
                          </a:solidFill>
                          <a:latin typeface="210 OmniGothic 040"/>
                          <a:ea typeface="210 OmniGothic 040"/>
                          <a:cs typeface="210 OmniGothic 040"/>
                        </a:rPr>
                        <a:t> </a:t>
                      </a:r>
                      <a:r>
                        <a:rPr sz="1450" b="1" dirty="0" err="1">
                          <a:solidFill>
                            <a:srgbClr val="2E3142"/>
                          </a:solidFill>
                          <a:latin typeface="210 OmniGothic 040"/>
                          <a:ea typeface="210 OmniGothic 040"/>
                          <a:cs typeface="210 OmniGothic 040"/>
                        </a:rPr>
                        <a:t>명칭</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r>
                        <a:rPr sz="1450" b="0" dirty="0" err="1">
                          <a:solidFill>
                            <a:srgbClr val="2E3142"/>
                          </a:solidFill>
                          <a:latin typeface="210 OmniGothic 040"/>
                          <a:ea typeface="210 OmniGothic 040"/>
                          <a:cs typeface="210 OmniGothic 040"/>
                        </a:rPr>
                        <a:t>서비스</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서버</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2"/>
                  </a:ext>
                </a:extLst>
              </a:tr>
              <a:tr h="553212">
                <a:tc rowSpan="2">
                  <a:txBody>
                    <a:bodyPr/>
                    <a:lstStyle/>
                    <a:p>
                      <a:pPr algn="ctr"/>
                      <a:r>
                        <a:rPr sz="1450" b="1" dirty="0">
                          <a:solidFill>
                            <a:srgbClr val="2E3142"/>
                          </a:solidFill>
                          <a:latin typeface="210 OmniGothic 040"/>
                          <a:ea typeface="210 OmniGothic 040"/>
                          <a:cs typeface="210 OmniGothic 040"/>
                        </a:rPr>
                        <a:t>요구사항
</a:t>
                      </a:r>
                      <a:r>
                        <a:rPr sz="1450" b="1" dirty="0" err="1">
                          <a:solidFill>
                            <a:srgbClr val="2E3142"/>
                          </a:solidFill>
                          <a:latin typeface="210 OmniGothic 040"/>
                          <a:ea typeface="210 OmniGothic 040"/>
                          <a:cs typeface="210 OmniGothic 040"/>
                        </a:rPr>
                        <a:t>상세설명</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a:txBody>
                    <a:bodyPr/>
                    <a:lstStyle/>
                    <a:p>
                      <a:pPr algn="ctr"/>
                      <a:r>
                        <a:rPr sz="1450" b="1" dirty="0" err="1">
                          <a:solidFill>
                            <a:srgbClr val="2E3142"/>
                          </a:solidFill>
                          <a:latin typeface="210 OmniGothic 040"/>
                          <a:ea typeface="210 OmniGothic 040"/>
                          <a:cs typeface="210 OmniGothic 040"/>
                        </a:rPr>
                        <a:t>정의</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a:txBody>
                    <a:bodyPr/>
                    <a:lstStyle/>
                    <a:p>
                      <a:pPr algn="l"/>
                      <a:r>
                        <a:rPr sz="1450" b="0" dirty="0" err="1">
                          <a:solidFill>
                            <a:srgbClr val="2E3142"/>
                          </a:solidFill>
                          <a:latin typeface="210 OmniGothic 040"/>
                          <a:ea typeface="210 OmniGothic 040"/>
                          <a:cs typeface="210 OmniGothic 040"/>
                        </a:rPr>
                        <a:t>대시보드</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배포와</a:t>
                      </a:r>
                      <a:r>
                        <a:rPr sz="1450" b="0" dirty="0">
                          <a:solidFill>
                            <a:srgbClr val="2E3142"/>
                          </a:solidFill>
                          <a:latin typeface="210 OmniGothic 040"/>
                          <a:ea typeface="210 OmniGothic 040"/>
                          <a:cs typeface="210 OmniGothic 040"/>
                        </a:rPr>
                        <a:t> API </a:t>
                      </a:r>
                      <a:r>
                        <a:rPr sz="1450" b="0" dirty="0" err="1">
                          <a:solidFill>
                            <a:srgbClr val="2E3142"/>
                          </a:solidFill>
                          <a:latin typeface="210 OmniGothic 040"/>
                          <a:ea typeface="210 OmniGothic 040"/>
                          <a:cs typeface="210 OmniGothic 040"/>
                        </a:rPr>
                        <a:t>게이트웨이를</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맡는</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서버</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3"/>
                  </a:ext>
                </a:extLst>
              </a:tr>
              <a:tr h="1609344">
                <a:tc vMerge="1">
                  <a:txBody>
                    <a:bodyPr/>
                    <a:lstStyle/>
                    <a:p>
                      <a:endParaRPr/>
                    </a:p>
                  </a:txBody>
                  <a:tcPr/>
                </a:tc>
                <a:tc>
                  <a:txBody>
                    <a:bodyPr/>
                    <a:lstStyle/>
                    <a:p>
                      <a:pPr algn="ctr"/>
                      <a:r>
                        <a:rPr sz="1450" b="1" dirty="0" err="1">
                          <a:solidFill>
                            <a:srgbClr val="2E3142"/>
                          </a:solidFill>
                          <a:latin typeface="210 OmniGothic 040"/>
                          <a:ea typeface="210 OmniGothic 040"/>
                          <a:cs typeface="210 OmniGothic 040"/>
                        </a:rPr>
                        <a:t>세부</a:t>
                      </a:r>
                      <a:r>
                        <a:rPr sz="1450" b="1" dirty="0">
                          <a:solidFill>
                            <a:srgbClr val="2E3142"/>
                          </a:solidFill>
                          <a:latin typeface="210 OmniGothic 040"/>
                          <a:ea typeface="210 OmniGothic 040"/>
                          <a:cs typeface="210 OmniGothic 040"/>
                        </a:rPr>
                        <a:t> </a:t>
                      </a:r>
                      <a:r>
                        <a:rPr sz="1450" b="1" dirty="0" err="1">
                          <a:solidFill>
                            <a:srgbClr val="2E3142"/>
                          </a:solidFill>
                          <a:latin typeface="210 OmniGothic 040"/>
                          <a:ea typeface="210 OmniGothic 040"/>
                          <a:cs typeface="210 OmniGothic 040"/>
                        </a:rPr>
                        <a:t>내용</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a:txBody>
                    <a:bodyPr/>
                    <a:lstStyle/>
                    <a:p>
                      <a:pPr algn="l">
                        <a:lnSpc>
                          <a:spcPct val="110000"/>
                        </a:lnSpc>
                      </a:pPr>
                      <a:r>
                        <a:rPr sz="1450" b="0" dirty="0">
                          <a:solidFill>
                            <a:srgbClr val="2E3142"/>
                          </a:solidFill>
                          <a:latin typeface="210 OmniGothic 040"/>
                          <a:ea typeface="210 OmniGothic 040"/>
                          <a:cs typeface="210 OmniGothic 040"/>
                        </a:rPr>
                        <a:t>1. AWS </a:t>
                      </a:r>
                      <a:r>
                        <a:rPr sz="1450" b="0" dirty="0" err="1">
                          <a:solidFill>
                            <a:srgbClr val="2E3142"/>
                          </a:solidFill>
                          <a:latin typeface="210 OmniGothic 040"/>
                          <a:ea typeface="210 OmniGothic 040"/>
                          <a:cs typeface="210 OmniGothic 040"/>
                        </a:rPr>
                        <a:t>인스턴스</a:t>
                      </a:r>
                    </a:p>
                    <a:p>
                      <a:pPr algn="l">
                        <a:lnSpc>
                          <a:spcPct val="110000"/>
                        </a:lnSpc>
                      </a:pPr>
                      <a:r>
                        <a:rPr sz="1450" b="0" dirty="0">
                          <a:solidFill>
                            <a:srgbClr val="2E3142"/>
                          </a:solidFill>
                          <a:latin typeface="210 OmniGothic 040"/>
                          <a:ea typeface="210 OmniGothic 040"/>
                          <a:cs typeface="210 OmniGothic 040"/>
                        </a:rPr>
                        <a:t>  - React </a:t>
                      </a:r>
                      <a:r>
                        <a:rPr sz="1450" b="0" dirty="0" err="1">
                          <a:solidFill>
                            <a:srgbClr val="2E3142"/>
                          </a:solidFill>
                          <a:latin typeface="210 OmniGothic 040"/>
                          <a:ea typeface="210 OmniGothic 040"/>
                          <a:cs typeface="210 OmniGothic 040"/>
                        </a:rPr>
                        <a:t>대시보드</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정적</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배포</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FastAPI</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프록시·API</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게이트웨이</a:t>
                      </a:r>
                    </a:p>
                    <a:p>
                      <a:pPr algn="l">
                        <a:lnSpc>
                          <a:spcPct val="110000"/>
                        </a:lnSpc>
                      </a:pPr>
                      <a:r>
                        <a:rPr sz="1450" b="0" dirty="0">
                          <a:solidFill>
                            <a:srgbClr val="2E3142"/>
                          </a:solidFill>
                          <a:latin typeface="210 OmniGothic 040"/>
                          <a:ea typeface="210 OmniGothic 040"/>
                          <a:cs typeface="210 OmniGothic 040"/>
                        </a:rPr>
                        <a:t>2. GPU </a:t>
                      </a:r>
                      <a:r>
                        <a:rPr sz="1450" b="0" dirty="0" err="1">
                          <a:solidFill>
                            <a:srgbClr val="2E3142"/>
                          </a:solidFill>
                          <a:latin typeface="210 OmniGothic 040"/>
                          <a:ea typeface="210 OmniGothic 040"/>
                          <a:cs typeface="210 OmniGothic 040"/>
                        </a:rPr>
                        <a:t>서버와는</a:t>
                      </a:r>
                      <a:r>
                        <a:rPr sz="1450" b="0" dirty="0">
                          <a:solidFill>
                            <a:srgbClr val="2E3142"/>
                          </a:solidFill>
                          <a:latin typeface="210 OmniGothic 040"/>
                          <a:ea typeface="210 OmniGothic 040"/>
                          <a:cs typeface="210 OmniGothic 040"/>
                        </a:rPr>
                        <a:t> SSH </a:t>
                      </a:r>
                      <a:r>
                        <a:rPr sz="1450" b="0" dirty="0" err="1">
                          <a:solidFill>
                            <a:srgbClr val="2E3142"/>
                          </a:solidFill>
                          <a:latin typeface="210 OmniGothic 040"/>
                          <a:ea typeface="210 OmniGothic 040"/>
                          <a:cs typeface="210 OmniGothic 040"/>
                        </a:rPr>
                        <a:t>터널·내부</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통신만</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허용</a:t>
                      </a:r>
                    </a:p>
                    <a:p>
                      <a:pPr algn="l">
                        <a:lnSpc>
                          <a:spcPct val="110000"/>
                        </a:lnSpc>
                      </a:pPr>
                      <a:r>
                        <a:rPr sz="1450" b="0" dirty="0">
                          <a:solidFill>
                            <a:srgbClr val="2E3142"/>
                          </a:solidFill>
                          <a:latin typeface="210 OmniGothic 040"/>
                          <a:ea typeface="210 OmniGothic 040"/>
                          <a:cs typeface="210 OmniGothic 040"/>
                        </a:rPr>
                        <a:t>3. AWS는 화면 배포와 요청 중계만 맡고, 추론·매뉴얼·상황 데이터는 내부 GPU 서버에 둠</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4"/>
                  </a:ext>
                </a:extLst>
              </a:tr>
              <a:tr h="502920">
                <a:tc gridSpan="2">
                  <a:txBody>
                    <a:bodyPr/>
                    <a:lstStyle/>
                    <a:p>
                      <a:pPr algn="ctr"/>
                      <a:r>
                        <a:rPr sz="1450" b="1" dirty="0" err="1">
                          <a:solidFill>
                            <a:srgbClr val="2E3142"/>
                          </a:solidFill>
                          <a:latin typeface="210 OmniGothic 040"/>
                          <a:ea typeface="210 OmniGothic 040"/>
                          <a:cs typeface="210 OmniGothic 040"/>
                        </a:rPr>
                        <a:t>산출정보</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endParaRP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5"/>
                  </a:ext>
                </a:extLst>
              </a:tr>
              <a:tr h="502920">
                <a:tc gridSpan="2">
                  <a:txBody>
                    <a:bodyPr/>
                    <a:lstStyle/>
                    <a:p>
                      <a:pPr algn="ctr"/>
                      <a:r>
                        <a:rPr sz="1450" b="1" dirty="0" err="1">
                          <a:solidFill>
                            <a:srgbClr val="2E3142"/>
                          </a:solidFill>
                          <a:latin typeface="210 OmniGothic 040"/>
                          <a:ea typeface="210 OmniGothic 040"/>
                          <a:cs typeface="210 OmniGothic 040"/>
                        </a:rPr>
                        <a:t>관련</a:t>
                      </a:r>
                      <a:r>
                        <a:rPr sz="1450" b="1" dirty="0">
                          <a:solidFill>
                            <a:srgbClr val="2E3142"/>
                          </a:solidFill>
                          <a:latin typeface="210 OmniGothic 040"/>
                          <a:ea typeface="210 OmniGothic 040"/>
                          <a:cs typeface="210 OmniGothic 040"/>
                        </a:rPr>
                        <a:t> </a:t>
                      </a:r>
                      <a:r>
                        <a:rPr sz="1450" b="1" dirty="0" err="1">
                          <a:solidFill>
                            <a:srgbClr val="2E3142"/>
                          </a:solidFill>
                          <a:latin typeface="210 OmniGothic 040"/>
                          <a:ea typeface="210 OmniGothic 040"/>
                          <a:cs typeface="210 OmniGothic 040"/>
                        </a:rPr>
                        <a:t>요구사항</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r>
                        <a:rPr sz="1450" b="0" dirty="0">
                          <a:solidFill>
                            <a:srgbClr val="2E3142"/>
                          </a:solidFill>
                          <a:latin typeface="210 OmniGothic 040"/>
                          <a:ea typeface="210 OmniGothic 040"/>
                          <a:cs typeface="210 OmniGothic 040"/>
                        </a:rPr>
                        <a:t>DPR-001</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6"/>
                  </a:ext>
                </a:extLst>
              </a:tr>
              <a:tr h="502920">
                <a:tc gridSpan="2">
                  <a:txBody>
                    <a:bodyPr/>
                    <a:lstStyle/>
                    <a:p>
                      <a:pPr algn="ctr"/>
                      <a:r>
                        <a:rPr sz="1450" b="1" dirty="0" err="1">
                          <a:solidFill>
                            <a:srgbClr val="2E3142"/>
                          </a:solidFill>
                          <a:latin typeface="210 OmniGothic 040"/>
                          <a:ea typeface="210 OmniGothic 040"/>
                          <a:cs typeface="210 OmniGothic 040"/>
                        </a:rPr>
                        <a:t>요구사항</a:t>
                      </a:r>
                      <a:r>
                        <a:rPr sz="1450" b="1" dirty="0">
                          <a:solidFill>
                            <a:srgbClr val="2E3142"/>
                          </a:solidFill>
                          <a:latin typeface="210 OmniGothic 040"/>
                          <a:ea typeface="210 OmniGothic 040"/>
                          <a:cs typeface="210 OmniGothic 040"/>
                        </a:rPr>
                        <a:t> </a:t>
                      </a:r>
                      <a:r>
                        <a:rPr sz="1450" b="1" dirty="0" err="1">
                          <a:solidFill>
                            <a:srgbClr val="2E3142"/>
                          </a:solidFill>
                          <a:latin typeface="210 OmniGothic 040"/>
                          <a:ea typeface="210 OmniGothic 040"/>
                          <a:cs typeface="210 OmniGothic 040"/>
                        </a:rPr>
                        <a:t>출처</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lvl="0" algn="l">
                        <a:lnSpc>
                          <a:spcPct val="100000"/>
                        </a:lnSpc>
                        <a:spcBef>
                          <a:spcPts val="0"/>
                        </a:spcBef>
                        <a:spcAft>
                          <a:spcPts val="0"/>
                        </a:spcAft>
                        <a:buNone/>
                      </a:pPr>
                      <a:r>
                        <a:rPr lang="ko-KR" altLang="en-US" sz="1500" b="0" i="0" u="none" strike="noStrike" noProof="0" dirty="0">
                          <a:solidFill>
                            <a:srgbClr val="2E3142"/>
                          </a:solidFill>
                          <a:latin typeface="210 OmniGothic 040"/>
                          <a:ea typeface="210 OmniGothic 040"/>
                          <a:cs typeface="210 OmniGothic 040"/>
                        </a:rPr>
                        <a:t>시스템 아키텍처 설계</a:t>
                      </a:r>
                      <a:endParaRPr lang="en-US" altLang="ko-KR" sz="1500" b="0" i="0" u="none" strike="noStrike" noProof="0" dirty="0">
                        <a:solidFill>
                          <a:srgbClr val="000000"/>
                        </a:solidFill>
                        <a:latin typeface="210 OmniGothic 040"/>
                        <a:ea typeface="210 OmniGothic 040"/>
                        <a:cs typeface="210 OmniGothic 040"/>
                      </a:endParaRP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21"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700" y="-12700"/>
            <a:ext cx="18313400" cy="1638300"/>
          </a:xfrm>
          <a:prstGeom prst="rect">
            <a:avLst/>
          </a:prstGeom>
        </p:spPr>
      </p:pic>
      <p:pic>
        <p:nvPicPr>
          <p:cNvPr id="5422"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28" y="1618343"/>
            <a:ext cx="18313400" cy="8699500"/>
          </a:xfrm>
          <a:prstGeom prst="rect">
            <a:avLst/>
          </a:prstGeom>
        </p:spPr>
      </p:pic>
      <p:pic>
        <p:nvPicPr>
          <p:cNvPr id="5423"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58800" y="9271000"/>
            <a:ext cx="17170400" cy="50800"/>
          </a:xfrm>
          <a:prstGeom prst="rect">
            <a:avLst/>
          </a:prstGeom>
        </p:spPr>
      </p:pic>
      <p:pic>
        <p:nvPicPr>
          <p:cNvPr id="5424" name="Picture 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278100" y="203200"/>
            <a:ext cx="1676400" cy="1409700"/>
          </a:xfrm>
          <a:prstGeom prst="rect">
            <a:avLst/>
          </a:prstGeom>
        </p:spPr>
      </p:pic>
      <p:sp>
        <p:nvSpPr>
          <p:cNvPr id="5425" name="Title"/>
          <p:cNvSpPr txBox="1"/>
          <p:nvPr/>
        </p:nvSpPr>
        <p:spPr>
          <a:xfrm>
            <a:off x="822960" y="384048"/>
            <a:ext cx="13258800" cy="877824"/>
          </a:xfrm>
          <a:prstGeom prst="rect">
            <a:avLst/>
          </a:prstGeom>
          <a:noFill/>
        </p:spPr>
        <p:txBody>
          <a:bodyPr wrap="square" lIns="0" tIns="0" rIns="0" bIns="0" anchor="ctr">
            <a:spAutoFit/>
          </a:bodyPr>
          <a:lstStyle/>
          <a:p>
            <a:pPr algn="l"/>
            <a:r>
              <a:rPr sz="4400" b="0">
                <a:solidFill>
                  <a:srgbClr val="FAA95A"/>
                </a:solidFill>
                <a:latin typeface="210 OmniGothic 050"/>
                <a:ea typeface="210 OmniGothic 050"/>
                <a:cs typeface="210 OmniGothic 050"/>
              </a:rPr>
              <a:t>07. 비기능 요구사항</a:t>
            </a:r>
          </a:p>
        </p:txBody>
      </p:sp>
      <p:sp>
        <p:nvSpPr>
          <p:cNvPr id="5426" name="Subtitle"/>
          <p:cNvSpPr txBox="1"/>
          <p:nvPr/>
        </p:nvSpPr>
        <p:spPr>
          <a:xfrm>
            <a:off x="822960" y="1764792"/>
            <a:ext cx="16642080" cy="502920"/>
          </a:xfrm>
          <a:prstGeom prst="rect">
            <a:avLst/>
          </a:prstGeom>
          <a:noFill/>
        </p:spPr>
        <p:txBody>
          <a:bodyPr wrap="square" lIns="0" tIns="0" rIns="0" bIns="0" anchor="ctr">
            <a:spAutoFit/>
          </a:bodyPr>
          <a:lstStyle/>
          <a:p>
            <a:pPr algn="ctr"/>
            <a:r>
              <a:rPr sz="2600" b="1">
                <a:solidFill>
                  <a:srgbClr val="363A52"/>
                </a:solidFill>
                <a:latin typeface="210 OmniGothic 040"/>
                <a:ea typeface="210 OmniGothic 040"/>
                <a:cs typeface="210 OmniGothic 040"/>
              </a:rPr>
              <a:t>시스템 장비 요구사항</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sz="quarter" idx="12"/>
          </p:nvPr>
        </p:nvSpPr>
        <p:spPr/>
        <p:txBody>
          <a:bodyPr/>
          <a:lstStyle/>
          <a:p>
            <a:fld id="{B6F15528-21DE-4FAA-801E-634DDDAF4B2B}" type="slidenum">
              <a:rPr lang="en-US" smtClean="0"/>
              <a:pPr/>
              <a:t>85</a:t>
            </a:fld>
            <a:endParaRPr lang="en-US"/>
          </a:p>
        </p:txBody>
      </p:sp>
      <p:graphicFrame>
        <p:nvGraphicFramePr>
          <p:cNvPr id="5427" name="Table 5426"/>
          <p:cNvGraphicFramePr>
            <a:graphicFrameLocks noGrp="1"/>
          </p:cNvGraphicFramePr>
          <p:nvPr/>
        </p:nvGraphicFramePr>
        <p:xfrm>
          <a:off x="2880360" y="2546604"/>
          <a:ext cx="12344400" cy="5501944"/>
        </p:xfrm>
        <a:graphic>
          <a:graphicData uri="http://schemas.openxmlformats.org/drawingml/2006/table">
            <a:tbl>
              <a:tblPr>
                <a:tableStyleId>{2D5ABB26-0587-4C30-8999-92F81FD0307C}</a:tableStyleId>
              </a:tblPr>
              <a:tblGrid>
                <a:gridCol w="245745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8286750">
                  <a:extLst>
                    <a:ext uri="{9D8B030D-6E8A-4147-A177-3AD203B41FA5}">
                      <a16:colId xmlns:a16="http://schemas.microsoft.com/office/drawing/2014/main" val="20002"/>
                    </a:ext>
                  </a:extLst>
                </a:gridCol>
              </a:tblGrid>
              <a:tr h="502920">
                <a:tc gridSpan="2">
                  <a:txBody>
                    <a:bodyPr/>
                    <a:lstStyle/>
                    <a:p>
                      <a:pPr algn="ctr"/>
                      <a:r>
                        <a:rPr sz="1450" b="1" dirty="0" err="1">
                          <a:solidFill>
                            <a:srgbClr val="2E3142"/>
                          </a:solidFill>
                          <a:latin typeface="210 OmniGothic 040"/>
                          <a:ea typeface="210 OmniGothic 040"/>
                          <a:cs typeface="210 OmniGothic 040"/>
                        </a:rPr>
                        <a:t>요구사항</a:t>
                      </a:r>
                      <a:r>
                        <a:rPr sz="1450" b="1" dirty="0">
                          <a:solidFill>
                            <a:srgbClr val="2E3142"/>
                          </a:solidFill>
                          <a:latin typeface="210 OmniGothic 040"/>
                          <a:ea typeface="210 OmniGothic 040"/>
                          <a:cs typeface="210 OmniGothic 040"/>
                        </a:rPr>
                        <a:t> </a:t>
                      </a:r>
                      <a:r>
                        <a:rPr sz="1450" b="1" dirty="0" err="1">
                          <a:solidFill>
                            <a:srgbClr val="2E3142"/>
                          </a:solidFill>
                          <a:latin typeface="210 OmniGothic 040"/>
                          <a:ea typeface="210 OmniGothic 040"/>
                          <a:cs typeface="210 OmniGothic 040"/>
                        </a:rPr>
                        <a:t>분류</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r>
                        <a:rPr sz="1450" b="0" dirty="0" err="1">
                          <a:solidFill>
                            <a:srgbClr val="2E3142"/>
                          </a:solidFill>
                          <a:latin typeface="210 OmniGothic 040"/>
                          <a:ea typeface="210 OmniGothic 040"/>
                          <a:cs typeface="210 OmniGothic 040"/>
                        </a:rPr>
                        <a:t>시스템</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장비</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요구사항</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0"/>
                  </a:ext>
                </a:extLst>
              </a:tr>
              <a:tr h="502920">
                <a:tc gridSpan="2">
                  <a:txBody>
                    <a:bodyPr/>
                    <a:lstStyle/>
                    <a:p>
                      <a:pPr algn="ctr"/>
                      <a:r>
                        <a:rPr sz="1450" b="1" dirty="0" err="1">
                          <a:solidFill>
                            <a:srgbClr val="2E3142"/>
                          </a:solidFill>
                          <a:latin typeface="210 OmniGothic 040"/>
                          <a:ea typeface="210 OmniGothic 040"/>
                          <a:cs typeface="210 OmniGothic 040"/>
                        </a:rPr>
                        <a:t>요구사항</a:t>
                      </a:r>
                      <a:r>
                        <a:rPr sz="1450" b="1" dirty="0">
                          <a:solidFill>
                            <a:srgbClr val="2E3142"/>
                          </a:solidFill>
                          <a:latin typeface="210 OmniGothic 040"/>
                          <a:ea typeface="210 OmniGothic 040"/>
                          <a:cs typeface="210 OmniGothic 040"/>
                        </a:rPr>
                        <a:t> </a:t>
                      </a:r>
                      <a:r>
                        <a:rPr sz="1450" b="1" dirty="0" err="1">
                          <a:solidFill>
                            <a:srgbClr val="2E3142"/>
                          </a:solidFill>
                          <a:latin typeface="210 OmniGothic 040"/>
                          <a:ea typeface="210 OmniGothic 040"/>
                          <a:cs typeface="210 OmniGothic 040"/>
                        </a:rPr>
                        <a:t>고유번호</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r>
                        <a:rPr sz="1450" b="0" dirty="0">
                          <a:solidFill>
                            <a:srgbClr val="2E3142"/>
                          </a:solidFill>
                          <a:latin typeface="210 OmniGothic 040"/>
                          <a:ea typeface="210 OmniGothic 040"/>
                          <a:cs typeface="210 OmniGothic 040"/>
                        </a:rPr>
                        <a:t>ECR-003</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1"/>
                  </a:ext>
                </a:extLst>
              </a:tr>
              <a:tr h="502920">
                <a:tc gridSpan="2">
                  <a:txBody>
                    <a:bodyPr/>
                    <a:lstStyle/>
                    <a:p>
                      <a:pPr algn="ctr"/>
                      <a:r>
                        <a:rPr sz="1450" b="1" dirty="0" err="1">
                          <a:solidFill>
                            <a:srgbClr val="2E3142"/>
                          </a:solidFill>
                          <a:latin typeface="210 OmniGothic 040"/>
                          <a:ea typeface="210 OmniGothic 040"/>
                          <a:cs typeface="210 OmniGothic 040"/>
                        </a:rPr>
                        <a:t>요구사항</a:t>
                      </a:r>
                      <a:r>
                        <a:rPr sz="1450" b="1" dirty="0">
                          <a:solidFill>
                            <a:srgbClr val="2E3142"/>
                          </a:solidFill>
                          <a:latin typeface="210 OmniGothic 040"/>
                          <a:ea typeface="210 OmniGothic 040"/>
                          <a:cs typeface="210 OmniGothic 040"/>
                        </a:rPr>
                        <a:t> </a:t>
                      </a:r>
                      <a:r>
                        <a:rPr sz="1450" b="1" dirty="0" err="1">
                          <a:solidFill>
                            <a:srgbClr val="2E3142"/>
                          </a:solidFill>
                          <a:latin typeface="210 OmniGothic 040"/>
                          <a:ea typeface="210 OmniGothic 040"/>
                          <a:cs typeface="210 OmniGothic 040"/>
                        </a:rPr>
                        <a:t>명칭</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r>
                        <a:rPr sz="1450" b="0" dirty="0" err="1">
                          <a:solidFill>
                            <a:srgbClr val="2E3142"/>
                          </a:solidFill>
                          <a:latin typeface="210 OmniGothic 040"/>
                          <a:ea typeface="210 OmniGothic 040"/>
                          <a:cs typeface="210 OmniGothic 040"/>
                        </a:rPr>
                        <a:t>데이터베이스</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2"/>
                  </a:ext>
                </a:extLst>
              </a:tr>
              <a:tr h="553212">
                <a:tc rowSpan="2">
                  <a:txBody>
                    <a:bodyPr/>
                    <a:lstStyle/>
                    <a:p>
                      <a:pPr algn="ctr"/>
                      <a:r>
                        <a:rPr sz="1450" b="1" dirty="0">
                          <a:solidFill>
                            <a:srgbClr val="2E3142"/>
                          </a:solidFill>
                          <a:latin typeface="210 OmniGothic 040"/>
                          <a:ea typeface="210 OmniGothic 040"/>
                          <a:cs typeface="210 OmniGothic 040"/>
                        </a:rPr>
                        <a:t>요구사항
</a:t>
                      </a:r>
                      <a:r>
                        <a:rPr sz="1450" b="1" dirty="0" err="1">
                          <a:solidFill>
                            <a:srgbClr val="2E3142"/>
                          </a:solidFill>
                          <a:latin typeface="210 OmniGothic 040"/>
                          <a:ea typeface="210 OmniGothic 040"/>
                          <a:cs typeface="210 OmniGothic 040"/>
                        </a:rPr>
                        <a:t>상세설명</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a:txBody>
                    <a:bodyPr/>
                    <a:lstStyle/>
                    <a:p>
                      <a:pPr algn="ctr"/>
                      <a:r>
                        <a:rPr sz="1450" b="1" dirty="0" err="1">
                          <a:solidFill>
                            <a:srgbClr val="2E3142"/>
                          </a:solidFill>
                          <a:latin typeface="210 OmniGothic 040"/>
                          <a:ea typeface="210 OmniGothic 040"/>
                          <a:cs typeface="210 OmniGothic 040"/>
                        </a:rPr>
                        <a:t>정의</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a:txBody>
                    <a:bodyPr/>
                    <a:lstStyle/>
                    <a:p>
                      <a:pPr algn="l"/>
                      <a:r>
                        <a:rPr sz="1450" b="0" dirty="0" err="1">
                          <a:solidFill>
                            <a:srgbClr val="2E3142"/>
                          </a:solidFill>
                          <a:latin typeface="210 OmniGothic 040"/>
                          <a:ea typeface="210 OmniGothic 040"/>
                          <a:cs typeface="210 OmniGothic 040"/>
                        </a:rPr>
                        <a:t>공간·운영</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데이터와</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근거</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색인</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저장</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3"/>
                  </a:ext>
                </a:extLst>
              </a:tr>
              <a:tr h="1931212">
                <a:tc vMerge="1">
                  <a:txBody>
                    <a:bodyPr/>
                    <a:lstStyle/>
                    <a:p>
                      <a:endParaRPr/>
                    </a:p>
                  </a:txBody>
                  <a:tcPr/>
                </a:tc>
                <a:tc>
                  <a:txBody>
                    <a:bodyPr/>
                    <a:lstStyle/>
                    <a:p>
                      <a:pPr algn="ctr"/>
                      <a:r>
                        <a:rPr sz="1450" b="1" dirty="0" err="1">
                          <a:solidFill>
                            <a:srgbClr val="2E3142"/>
                          </a:solidFill>
                          <a:latin typeface="210 OmniGothic 040"/>
                          <a:ea typeface="210 OmniGothic 040"/>
                          <a:cs typeface="210 OmniGothic 040"/>
                        </a:rPr>
                        <a:t>세부</a:t>
                      </a:r>
                      <a:r>
                        <a:rPr sz="1450" b="1" dirty="0">
                          <a:solidFill>
                            <a:srgbClr val="2E3142"/>
                          </a:solidFill>
                          <a:latin typeface="210 OmniGothic 040"/>
                          <a:ea typeface="210 OmniGothic 040"/>
                          <a:cs typeface="210 OmniGothic 040"/>
                        </a:rPr>
                        <a:t> </a:t>
                      </a:r>
                      <a:r>
                        <a:rPr sz="1450" b="1" dirty="0" err="1">
                          <a:solidFill>
                            <a:srgbClr val="2E3142"/>
                          </a:solidFill>
                          <a:latin typeface="210 OmniGothic 040"/>
                          <a:ea typeface="210 OmniGothic 040"/>
                          <a:cs typeface="210 OmniGothic 040"/>
                        </a:rPr>
                        <a:t>내용</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a:txBody>
                    <a:bodyPr/>
                    <a:lstStyle/>
                    <a:p>
                      <a:pPr algn="l">
                        <a:lnSpc>
                          <a:spcPct val="110000"/>
                        </a:lnSpc>
                      </a:pPr>
                      <a:r>
                        <a:rPr sz="1450" b="0" dirty="0">
                          <a:solidFill>
                            <a:srgbClr val="2E3142"/>
                          </a:solidFill>
                          <a:latin typeface="210 OmniGothic 040"/>
                          <a:ea typeface="210 OmniGothic 040"/>
                          <a:cs typeface="210 OmniGothic 040"/>
                        </a:rPr>
                        <a:t>1. PostgreSQL + </a:t>
                      </a:r>
                      <a:r>
                        <a:rPr sz="1450" b="0" dirty="0" err="1">
                          <a:solidFill>
                            <a:srgbClr val="2E3142"/>
                          </a:solidFill>
                          <a:latin typeface="210 OmniGothic 040"/>
                          <a:ea typeface="210 OmniGothic 040"/>
                          <a:cs typeface="210 OmniGothic 040"/>
                        </a:rPr>
                        <a:t>PostGIS</a:t>
                      </a:r>
                    </a:p>
                    <a:p>
                      <a:pPr algn="l">
                        <a:lnSpc>
                          <a:spcPct val="110000"/>
                        </a:lnSpc>
                      </a:pPr>
                      <a:r>
                        <a:rPr sz="1450" b="0" dirty="0">
                          <a:solidFill>
                            <a:srgbClr val="2E3142"/>
                          </a:solidFill>
                          <a:latin typeface="210 OmniGothic 040"/>
                          <a:ea typeface="210 OmniGothic 040"/>
                          <a:cs typeface="210 OmniGothic 040"/>
                        </a:rPr>
                        <a:t>  - </a:t>
                      </a:r>
                      <a:r>
                        <a:rPr sz="1450" b="0" dirty="0" err="1">
                          <a:solidFill>
                            <a:srgbClr val="2E3142"/>
                          </a:solidFill>
                          <a:latin typeface="210 OmniGothic 040"/>
                          <a:ea typeface="210 OmniGothic 040"/>
                          <a:cs typeface="210 OmniGothic 040"/>
                        </a:rPr>
                        <a:t>행정경계·마을·시설·도로</a:t>
                      </a:r>
                      <a:r>
                        <a:rPr lang="en-US" sz="1500" b="0" i="0" u="none" strike="noStrike" noProof="0" dirty="0">
                          <a:solidFill>
                            <a:srgbClr val="2E3142"/>
                          </a:solidFill>
                          <a:latin typeface="210 OmniGothic 040"/>
                          <a:ea typeface="210 OmniGothic 040"/>
                          <a:cs typeface="210 OmniGothic 040"/>
                        </a:rPr>
                        <a:t>·</a:t>
                      </a:r>
                      <a:r>
                        <a:rPr lang="ko-KR" altLang="en-US" sz="1500" b="0" i="0" u="none" strike="noStrike" noProof="0" dirty="0">
                          <a:solidFill>
                            <a:srgbClr val="2E3142"/>
                          </a:solidFill>
                          <a:latin typeface="210 OmniGothic 040"/>
                          <a:ea typeface="210 OmniGothic 040"/>
                          <a:cs typeface="210 OmniGothic 040"/>
                        </a:rPr>
                        <a:t>기관</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실측</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화선·확산</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슬라이스</a:t>
                      </a:r>
                      <a:endParaRPr sz="1450" b="0" dirty="0">
                        <a:solidFill>
                          <a:srgbClr val="2E3142"/>
                        </a:solidFill>
                        <a:latin typeface="210 OmniGothic 040"/>
                        <a:ea typeface="210 OmniGothic 040"/>
                        <a:cs typeface="210 OmniGothic 040"/>
                      </a:endParaRPr>
                    </a:p>
                    <a:p>
                      <a:pPr algn="l">
                        <a:lnSpc>
                          <a:spcPct val="110000"/>
                        </a:lnSpc>
                      </a:pPr>
                      <a:r>
                        <a:rPr sz="1450" b="0" dirty="0">
                          <a:solidFill>
                            <a:srgbClr val="2E3142"/>
                          </a:solidFill>
                          <a:latin typeface="210 OmniGothic 040"/>
                          <a:ea typeface="210 OmniGothic 040"/>
                          <a:cs typeface="210 OmniGothic 040"/>
                        </a:rPr>
                        <a:t>  - </a:t>
                      </a:r>
                      <a:r>
                        <a:rPr sz="1450" b="0" dirty="0" err="1">
                          <a:solidFill>
                            <a:srgbClr val="2E3142"/>
                          </a:solidFill>
                          <a:latin typeface="210 OmniGothic 040"/>
                          <a:ea typeface="210 OmniGothic 040"/>
                          <a:cs typeface="210 OmniGothic 040"/>
                        </a:rPr>
                        <a:t>사건·제안·정정</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이력</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진화자원</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데이터</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이벤트</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로그</a:t>
                      </a:r>
                    </a:p>
                    <a:p>
                      <a:pPr algn="l">
                        <a:lnSpc>
                          <a:spcPct val="110000"/>
                        </a:lnSpc>
                      </a:pPr>
                      <a:r>
                        <a:rPr sz="1450" b="0" dirty="0">
                          <a:solidFill>
                            <a:srgbClr val="2E3142"/>
                          </a:solidFill>
                          <a:latin typeface="210 OmniGothic 040"/>
                          <a:ea typeface="210 OmniGothic 040"/>
                          <a:cs typeface="210 OmniGothic 040"/>
                        </a:rPr>
                        <a:t>2. </a:t>
                      </a:r>
                      <a:r>
                        <a:rPr sz="1450" b="0" dirty="0" err="1">
                          <a:solidFill>
                            <a:srgbClr val="2E3142"/>
                          </a:solidFill>
                          <a:latin typeface="210 OmniGothic 040"/>
                          <a:ea typeface="210 OmniGothic 040"/>
                          <a:cs typeface="210 OmniGothic 040"/>
                        </a:rPr>
                        <a:t>근거</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저장소</a:t>
                      </a:r>
                    </a:p>
                    <a:p>
                      <a:pPr algn="l">
                        <a:lnSpc>
                          <a:spcPct val="110000"/>
                        </a:lnSpc>
                      </a:pPr>
                      <a:r>
                        <a:rPr sz="1450" b="0" dirty="0">
                          <a:solidFill>
                            <a:srgbClr val="2E3142"/>
                          </a:solidFill>
                          <a:latin typeface="210 OmniGothic 040"/>
                          <a:ea typeface="210 OmniGothic 040"/>
                          <a:cs typeface="210 OmniGothic 040"/>
                        </a:rPr>
                        <a:t>  - SQLite </a:t>
                      </a:r>
                      <a:r>
                        <a:rPr sz="1450" b="0" dirty="0" err="1">
                          <a:solidFill>
                            <a:srgbClr val="2E3142"/>
                          </a:solidFill>
                          <a:latin typeface="210 OmniGothic 040"/>
                          <a:ea typeface="210 OmniGothic 040"/>
                          <a:cs typeface="210 OmniGothic 040"/>
                        </a:rPr>
                        <a:t>청크</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테이블</a:t>
                      </a:r>
                      <a:r>
                        <a:rPr sz="1450" b="0" dirty="0">
                          <a:solidFill>
                            <a:srgbClr val="2E3142"/>
                          </a:solidFill>
                          <a:latin typeface="210 OmniGothic 040"/>
                          <a:ea typeface="210 OmniGothic 040"/>
                          <a:cs typeface="210 OmniGothic 040"/>
                        </a:rPr>
                        <a:t> + FAISS </a:t>
                      </a:r>
                      <a:r>
                        <a:rPr sz="1450" b="0" dirty="0" err="1">
                          <a:solidFill>
                            <a:srgbClr val="2E3142"/>
                          </a:solidFill>
                          <a:latin typeface="210 OmniGothic 040"/>
                          <a:ea typeface="210 OmniGothic 040"/>
                          <a:cs typeface="210 OmniGothic 040"/>
                        </a:rPr>
                        <a:t>인덱스</a:t>
                      </a:r>
                      <a:r>
                        <a:rPr sz="1450" b="0" dirty="0">
                          <a:solidFill>
                            <a:srgbClr val="2E3142"/>
                          </a:solidFill>
                          <a:latin typeface="210 OmniGothic 040"/>
                          <a:ea typeface="210 OmniGothic 040"/>
                          <a:cs typeface="210 OmniGothic 040"/>
                        </a:rPr>
                        <a:t>(</a:t>
                      </a:r>
                      <a:r>
                        <a:rPr sz="1450" b="0" dirty="0" err="1">
                          <a:solidFill>
                            <a:srgbClr val="2E3142"/>
                          </a:solidFill>
                          <a:latin typeface="210 OmniGothic 040"/>
                          <a:ea typeface="210 OmniGothic 040"/>
                          <a:cs typeface="210 OmniGothic 040"/>
                        </a:rPr>
                        <a:t>재구축</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스크립트</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제공</a:t>
                      </a:r>
                      <a:r>
                        <a:rPr sz="1450" b="0" dirty="0">
                          <a:solidFill>
                            <a:srgbClr val="2E3142"/>
                          </a:solidFill>
                          <a:latin typeface="210 OmniGothic 040"/>
                          <a:ea typeface="210 OmniGothic 040"/>
                          <a:cs typeface="210 OmniGothic 040"/>
                        </a:rPr>
                        <a:t>)</a:t>
                      </a:r>
                    </a:p>
                    <a:p>
                      <a:pPr algn="l">
                        <a:lnSpc>
                          <a:spcPct val="110000"/>
                        </a:lnSpc>
                      </a:pPr>
                      <a:r>
                        <a:rPr sz="1450" b="0" dirty="0">
                          <a:solidFill>
                            <a:srgbClr val="2E3142"/>
                          </a:solidFill>
                          <a:latin typeface="210 OmniGothic 040"/>
                          <a:ea typeface="210 OmniGothic 040"/>
                          <a:cs typeface="210 OmniGothic 040"/>
                        </a:rPr>
                        <a:t>3. </a:t>
                      </a:r>
                      <a:r>
                        <a:rPr sz="1450" b="0" dirty="0" err="1">
                          <a:solidFill>
                            <a:srgbClr val="2E3142"/>
                          </a:solidFill>
                          <a:latin typeface="210 OmniGothic 040"/>
                          <a:ea typeface="210 OmniGothic 040"/>
                          <a:cs typeface="210 OmniGothic 040"/>
                        </a:rPr>
                        <a:t>공간</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인덱스</a:t>
                      </a:r>
                      <a:r>
                        <a:rPr sz="1450" b="0" dirty="0">
                          <a:solidFill>
                            <a:srgbClr val="2E3142"/>
                          </a:solidFill>
                          <a:latin typeface="210 OmniGothic 040"/>
                          <a:ea typeface="210 OmniGothic 040"/>
                          <a:cs typeface="210 OmniGothic 040"/>
                        </a:rPr>
                        <a:t>(</a:t>
                      </a:r>
                      <a:r>
                        <a:rPr sz="1450" b="0" dirty="0" err="1">
                          <a:solidFill>
                            <a:srgbClr val="2E3142"/>
                          </a:solidFill>
                          <a:latin typeface="210 OmniGothic 040"/>
                          <a:ea typeface="210 OmniGothic 040"/>
                          <a:cs typeface="210 OmniGothic 040"/>
                        </a:rPr>
                        <a:t>GiST</a:t>
                      </a:r>
                      <a:r>
                        <a:rPr sz="1450" b="0" dirty="0">
                          <a:solidFill>
                            <a:srgbClr val="2E3142"/>
                          </a:solidFill>
                          <a:latin typeface="210 OmniGothic 040"/>
                          <a:ea typeface="210 OmniGothic 040"/>
                          <a:cs typeface="210 OmniGothic 040"/>
                        </a:rPr>
                        <a:t>)로 </a:t>
                      </a:r>
                      <a:r>
                        <a:rPr sz="1450" b="0" dirty="0" err="1">
                          <a:solidFill>
                            <a:srgbClr val="2E3142"/>
                          </a:solidFill>
                          <a:latin typeface="210 OmniGothic 040"/>
                          <a:ea typeface="210 OmniGothic 040"/>
                          <a:cs typeface="210 OmniGothic 040"/>
                        </a:rPr>
                        <a:t>교차·거리</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계산</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4"/>
                  </a:ext>
                </a:extLst>
              </a:tr>
              <a:tr h="502920">
                <a:tc gridSpan="2">
                  <a:txBody>
                    <a:bodyPr/>
                    <a:lstStyle/>
                    <a:p>
                      <a:pPr algn="ctr"/>
                      <a:r>
                        <a:rPr sz="1450" b="1" dirty="0" err="1">
                          <a:solidFill>
                            <a:srgbClr val="2E3142"/>
                          </a:solidFill>
                          <a:latin typeface="210 OmniGothic 040"/>
                          <a:ea typeface="210 OmniGothic 040"/>
                          <a:cs typeface="210 OmniGothic 040"/>
                        </a:rPr>
                        <a:t>산출정보</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r>
                        <a:rPr sz="1450" b="0" dirty="0">
                          <a:solidFill>
                            <a:srgbClr val="2E3142"/>
                          </a:solidFill>
                          <a:latin typeface="210 OmniGothic 040"/>
                          <a:ea typeface="210 OmniGothic 040"/>
                          <a:cs typeface="210 OmniGothic 040"/>
                        </a:rPr>
                        <a:t>ERD, </a:t>
                      </a:r>
                      <a:r>
                        <a:rPr sz="1450" b="0" dirty="0" err="1">
                          <a:solidFill>
                            <a:srgbClr val="2E3142"/>
                          </a:solidFill>
                          <a:latin typeface="210 OmniGothic 040"/>
                          <a:ea typeface="210 OmniGothic 040"/>
                          <a:cs typeface="210 OmniGothic 040"/>
                        </a:rPr>
                        <a:t>테이블</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정의서</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5"/>
                  </a:ext>
                </a:extLst>
              </a:tr>
              <a:tr h="502920">
                <a:tc gridSpan="2">
                  <a:txBody>
                    <a:bodyPr/>
                    <a:lstStyle/>
                    <a:p>
                      <a:pPr algn="ctr"/>
                      <a:r>
                        <a:rPr sz="1450" b="1" dirty="0" err="1">
                          <a:solidFill>
                            <a:srgbClr val="2E3142"/>
                          </a:solidFill>
                          <a:latin typeface="210 OmniGothic 040"/>
                          <a:ea typeface="210 OmniGothic 040"/>
                          <a:cs typeface="210 OmniGothic 040"/>
                        </a:rPr>
                        <a:t>관련</a:t>
                      </a:r>
                      <a:r>
                        <a:rPr sz="1450" b="1" dirty="0">
                          <a:solidFill>
                            <a:srgbClr val="2E3142"/>
                          </a:solidFill>
                          <a:latin typeface="210 OmniGothic 040"/>
                          <a:ea typeface="210 OmniGothic 040"/>
                          <a:cs typeface="210 OmniGothic 040"/>
                        </a:rPr>
                        <a:t> </a:t>
                      </a:r>
                      <a:r>
                        <a:rPr sz="1450" b="1" dirty="0" err="1">
                          <a:solidFill>
                            <a:srgbClr val="2E3142"/>
                          </a:solidFill>
                          <a:latin typeface="210 OmniGothic 040"/>
                          <a:ea typeface="210 OmniGothic 040"/>
                          <a:cs typeface="210 OmniGothic 040"/>
                        </a:rPr>
                        <a:t>요구사항</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r>
                        <a:rPr sz="1450" b="0" dirty="0">
                          <a:solidFill>
                            <a:srgbClr val="2E3142"/>
                          </a:solidFill>
                          <a:latin typeface="210 OmniGothic 040"/>
                          <a:ea typeface="210 OmniGothic 040"/>
                          <a:cs typeface="210 OmniGothic 040"/>
                        </a:rPr>
                        <a:t>ORP-002</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6"/>
                  </a:ext>
                </a:extLst>
              </a:tr>
              <a:tr h="502920">
                <a:tc gridSpan="2">
                  <a:txBody>
                    <a:bodyPr/>
                    <a:lstStyle/>
                    <a:p>
                      <a:pPr algn="ctr"/>
                      <a:r>
                        <a:rPr sz="1450" b="1" dirty="0" err="1">
                          <a:solidFill>
                            <a:srgbClr val="2E3142"/>
                          </a:solidFill>
                          <a:latin typeface="210 OmniGothic 040"/>
                          <a:ea typeface="210 OmniGothic 040"/>
                          <a:cs typeface="210 OmniGothic 040"/>
                        </a:rPr>
                        <a:t>요구사항</a:t>
                      </a:r>
                      <a:r>
                        <a:rPr sz="1450" b="1" dirty="0">
                          <a:solidFill>
                            <a:srgbClr val="2E3142"/>
                          </a:solidFill>
                          <a:latin typeface="210 OmniGothic 040"/>
                          <a:ea typeface="210 OmniGothic 040"/>
                          <a:cs typeface="210 OmniGothic 040"/>
                        </a:rPr>
                        <a:t> </a:t>
                      </a:r>
                      <a:r>
                        <a:rPr sz="1450" b="1" dirty="0" err="1">
                          <a:solidFill>
                            <a:srgbClr val="2E3142"/>
                          </a:solidFill>
                          <a:latin typeface="210 OmniGothic 040"/>
                          <a:ea typeface="210 OmniGothic 040"/>
                          <a:cs typeface="210 OmniGothic 040"/>
                        </a:rPr>
                        <a:t>출처</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r>
                        <a:rPr lang="ko-KR" altLang="en-US" sz="1450" b="0" dirty="0">
                          <a:solidFill>
                            <a:srgbClr val="2E3142"/>
                          </a:solidFill>
                          <a:latin typeface="210 OmniGothic 040"/>
                          <a:ea typeface="210 OmniGothic 040"/>
                          <a:cs typeface="210 OmniGothic 040"/>
                        </a:rPr>
                        <a:t>데이터 구조 설계</a:t>
                      </a:r>
                      <a:endParaRPr sz="1450" b="0" dirty="0">
                        <a:solidFill>
                          <a:srgbClr val="2E3142"/>
                        </a:solidFill>
                        <a:latin typeface="210 OmniGothic 040"/>
                        <a:ea typeface="210 OmniGothic 040"/>
                        <a:cs typeface="210 OmniGothic 040"/>
                      </a:endParaRP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26"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2700" y="-12700"/>
            <a:ext cx="18313400" cy="1638300"/>
          </a:xfrm>
          <a:prstGeom prst="rect">
            <a:avLst/>
          </a:prstGeom>
        </p:spPr>
      </p:pic>
      <p:pic>
        <p:nvPicPr>
          <p:cNvPr id="5427"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628" y="1618343"/>
            <a:ext cx="18313400" cy="8699500"/>
          </a:xfrm>
          <a:prstGeom prst="rect">
            <a:avLst/>
          </a:prstGeom>
        </p:spPr>
      </p:pic>
      <p:pic>
        <p:nvPicPr>
          <p:cNvPr id="5428"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58800" y="9271000"/>
            <a:ext cx="17170400" cy="50800"/>
          </a:xfrm>
          <a:prstGeom prst="rect">
            <a:avLst/>
          </a:prstGeom>
        </p:spPr>
      </p:pic>
      <p:pic>
        <p:nvPicPr>
          <p:cNvPr id="5429" name="Picture 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278100" y="203200"/>
            <a:ext cx="1676400" cy="1409700"/>
          </a:xfrm>
          <a:prstGeom prst="rect">
            <a:avLst/>
          </a:prstGeom>
        </p:spPr>
      </p:pic>
      <p:sp>
        <p:nvSpPr>
          <p:cNvPr id="5430" name="Title"/>
          <p:cNvSpPr txBox="1"/>
          <p:nvPr/>
        </p:nvSpPr>
        <p:spPr>
          <a:xfrm>
            <a:off x="822960" y="384048"/>
            <a:ext cx="13258800" cy="877824"/>
          </a:xfrm>
          <a:prstGeom prst="rect">
            <a:avLst/>
          </a:prstGeom>
          <a:noFill/>
        </p:spPr>
        <p:txBody>
          <a:bodyPr wrap="square" lIns="0" tIns="0" rIns="0" bIns="0" anchor="ctr">
            <a:spAutoFit/>
          </a:bodyPr>
          <a:lstStyle/>
          <a:p>
            <a:pPr algn="l"/>
            <a:r>
              <a:rPr sz="4400" b="0">
                <a:solidFill>
                  <a:srgbClr val="FAA95A"/>
                </a:solidFill>
                <a:latin typeface="210 OmniGothic 050"/>
                <a:ea typeface="210 OmniGothic 050"/>
                <a:cs typeface="210 OmniGothic 050"/>
              </a:rPr>
              <a:t>07. 비기능 요구사항</a:t>
            </a:r>
          </a:p>
        </p:txBody>
      </p:sp>
      <p:sp>
        <p:nvSpPr>
          <p:cNvPr id="5431" name="Subtitle"/>
          <p:cNvSpPr txBox="1"/>
          <p:nvPr/>
        </p:nvSpPr>
        <p:spPr>
          <a:xfrm>
            <a:off x="822960" y="1764792"/>
            <a:ext cx="16642080" cy="502920"/>
          </a:xfrm>
          <a:prstGeom prst="rect">
            <a:avLst/>
          </a:prstGeom>
          <a:noFill/>
        </p:spPr>
        <p:txBody>
          <a:bodyPr wrap="square" lIns="0" tIns="0" rIns="0" bIns="0" anchor="ctr">
            <a:spAutoFit/>
          </a:bodyPr>
          <a:lstStyle/>
          <a:p>
            <a:pPr algn="ctr"/>
            <a:r>
              <a:rPr sz="2600" b="1">
                <a:solidFill>
                  <a:srgbClr val="363A52"/>
                </a:solidFill>
                <a:latin typeface="210 OmniGothic 040"/>
                <a:ea typeface="210 OmniGothic 040"/>
                <a:cs typeface="210 OmniGothic 040"/>
              </a:rPr>
              <a:t>성능 요구사항</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sz="quarter" idx="12"/>
          </p:nvPr>
        </p:nvSpPr>
        <p:spPr/>
        <p:txBody>
          <a:bodyPr/>
          <a:lstStyle/>
          <a:p>
            <a:fld id="{B6F15528-21DE-4FAA-801E-634DDDAF4B2B}" type="slidenum">
              <a:rPr lang="en-US" smtClean="0"/>
              <a:pPr/>
              <a:t>86</a:t>
            </a:fld>
            <a:endParaRPr lang="en-US"/>
          </a:p>
        </p:txBody>
      </p:sp>
      <p:graphicFrame>
        <p:nvGraphicFramePr>
          <p:cNvPr id="5432" name="Table 5431"/>
          <p:cNvGraphicFramePr>
            <a:graphicFrameLocks noGrp="1"/>
          </p:cNvGraphicFramePr>
          <p:nvPr/>
        </p:nvGraphicFramePr>
        <p:xfrm>
          <a:off x="2880360" y="2546604"/>
          <a:ext cx="12344400" cy="5230368"/>
        </p:xfrm>
        <a:graphic>
          <a:graphicData uri="http://schemas.openxmlformats.org/drawingml/2006/table">
            <a:tbl>
              <a:tblPr>
                <a:tableStyleId>{2D5ABB26-0587-4C30-8999-92F81FD0307C}</a:tableStyleId>
              </a:tblPr>
              <a:tblGrid>
                <a:gridCol w="245745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8286750">
                  <a:extLst>
                    <a:ext uri="{9D8B030D-6E8A-4147-A177-3AD203B41FA5}">
                      <a16:colId xmlns:a16="http://schemas.microsoft.com/office/drawing/2014/main" val="20002"/>
                    </a:ext>
                  </a:extLst>
                </a:gridCol>
              </a:tblGrid>
              <a:tr h="502920">
                <a:tc gridSpan="2">
                  <a:txBody>
                    <a:bodyPr/>
                    <a:lstStyle/>
                    <a:p>
                      <a:pPr algn="ctr"/>
                      <a:r>
                        <a:rPr sz="1450" b="1" dirty="0">
                          <a:solidFill>
                            <a:srgbClr val="2E3142"/>
                          </a:solidFill>
                          <a:latin typeface="210 OmniGothic 040"/>
                          <a:ea typeface="210 OmniGothic 040"/>
                          <a:cs typeface="210 OmniGothic 040"/>
                        </a:rPr>
                        <a:t>요구사항 분류</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r>
                        <a:rPr sz="1450" b="0" dirty="0">
                          <a:solidFill>
                            <a:srgbClr val="2E3142"/>
                          </a:solidFill>
                          <a:latin typeface="210 OmniGothic 040"/>
                          <a:ea typeface="210 OmniGothic 040"/>
                          <a:cs typeface="210 OmniGothic 040"/>
                        </a:rPr>
                        <a:t>성능 요구사항</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0"/>
                  </a:ext>
                </a:extLst>
              </a:tr>
              <a:tr h="502920">
                <a:tc gridSpan="2">
                  <a:txBody>
                    <a:bodyPr/>
                    <a:lstStyle/>
                    <a:p>
                      <a:pPr algn="ctr"/>
                      <a:r>
                        <a:rPr sz="1450" b="1" dirty="0">
                          <a:solidFill>
                            <a:srgbClr val="2E3142"/>
                          </a:solidFill>
                          <a:latin typeface="210 OmniGothic 040"/>
                          <a:ea typeface="210 OmniGothic 040"/>
                          <a:cs typeface="210 OmniGothic 040"/>
                        </a:rPr>
                        <a:t>요구사항 고유번호</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r>
                        <a:rPr sz="1450" b="0" dirty="0">
                          <a:solidFill>
                            <a:srgbClr val="2E3142"/>
                          </a:solidFill>
                          <a:latin typeface="210 OmniGothic 040"/>
                          <a:ea typeface="210 OmniGothic 040"/>
                          <a:cs typeface="210 OmniGothic 040"/>
                        </a:rPr>
                        <a:t>PER-001</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1"/>
                  </a:ext>
                </a:extLst>
              </a:tr>
              <a:tr h="502920">
                <a:tc gridSpan="2">
                  <a:txBody>
                    <a:bodyPr/>
                    <a:lstStyle/>
                    <a:p>
                      <a:pPr algn="ctr"/>
                      <a:r>
                        <a:rPr sz="1450" b="1" dirty="0">
                          <a:solidFill>
                            <a:srgbClr val="2E3142"/>
                          </a:solidFill>
                          <a:latin typeface="210 OmniGothic 040"/>
                          <a:ea typeface="210 OmniGothic 040"/>
                          <a:cs typeface="210 OmniGothic 040"/>
                        </a:rPr>
                        <a:t>요구사항 명칭</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r>
                        <a:rPr sz="1450" b="0" dirty="0">
                          <a:solidFill>
                            <a:srgbClr val="2E3142"/>
                          </a:solidFill>
                          <a:latin typeface="210 OmniGothic 040"/>
                          <a:ea typeface="210 OmniGothic 040"/>
                          <a:cs typeface="210 OmniGothic 040"/>
                        </a:rPr>
                        <a:t>예측·제안 갱신 시간</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2"/>
                  </a:ext>
                </a:extLst>
              </a:tr>
              <a:tr h="553212">
                <a:tc rowSpan="2">
                  <a:txBody>
                    <a:bodyPr/>
                    <a:lstStyle/>
                    <a:p>
                      <a:pPr algn="ctr"/>
                      <a:r>
                        <a:rPr sz="1450" b="1" dirty="0">
                          <a:solidFill>
                            <a:srgbClr val="2E3142"/>
                          </a:solidFill>
                          <a:latin typeface="210 OmniGothic 040"/>
                          <a:ea typeface="210 OmniGothic 040"/>
                          <a:cs typeface="210 OmniGothic 040"/>
                        </a:rPr>
                        <a:t>요구사항
상세설명</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a:txBody>
                    <a:bodyPr/>
                    <a:lstStyle/>
                    <a:p>
                      <a:pPr algn="ctr"/>
                      <a:r>
                        <a:rPr sz="1450" b="1" dirty="0">
                          <a:solidFill>
                            <a:srgbClr val="2E3142"/>
                          </a:solidFill>
                          <a:latin typeface="210 OmniGothic 040"/>
                          <a:ea typeface="210 OmniGothic 040"/>
                          <a:cs typeface="210 OmniGothic 040"/>
                        </a:rPr>
                        <a:t>정의</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a:txBody>
                    <a:bodyPr/>
                    <a:lstStyle/>
                    <a:p>
                      <a:pPr algn="l"/>
                      <a:r>
                        <a:rPr sz="1450" b="0" dirty="0">
                          <a:solidFill>
                            <a:srgbClr val="2E3142"/>
                          </a:solidFill>
                          <a:latin typeface="210 OmniGothic 040"/>
                          <a:ea typeface="210 OmniGothic 040"/>
                          <a:cs typeface="210 OmniGothic 040"/>
                        </a:rPr>
                        <a:t>확산 예측과 대응 </a:t>
                      </a:r>
                      <a:r>
                        <a:rPr sz="1450" b="0" dirty="0" err="1">
                          <a:solidFill>
                            <a:srgbClr val="2E3142"/>
                          </a:solidFill>
                          <a:latin typeface="210 OmniGothic 040"/>
                          <a:ea typeface="210 OmniGothic 040"/>
                          <a:cs typeface="210 OmniGothic 040"/>
                        </a:rPr>
                        <a:t>제안</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생성의 처리 범위와 순서(처리시간 목표는 두지 않음)</a:t>
                      </a:r>
                      <a:endParaRPr sz="1450" b="0" dirty="0">
                        <a:solidFill>
                          <a:srgbClr val="2E3142"/>
                        </a:solidFill>
                        <a:latin typeface="210 OmniGothic 040"/>
                        <a:ea typeface="210 OmniGothic 040"/>
                        <a:cs typeface="210 OmniGothic 040"/>
                      </a:endParaRP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3"/>
                  </a:ext>
                </a:extLst>
              </a:tr>
              <a:tr h="1659636">
                <a:tc vMerge="1">
                  <a:txBody>
                    <a:bodyPr/>
                    <a:lstStyle/>
                    <a:p>
                      <a:endParaRPr/>
                    </a:p>
                  </a:txBody>
                  <a:tcPr/>
                </a:tc>
                <a:tc>
                  <a:txBody>
                    <a:bodyPr/>
                    <a:lstStyle/>
                    <a:p>
                      <a:pPr algn="ctr"/>
                      <a:r>
                        <a:rPr sz="1450" b="1" dirty="0">
                          <a:solidFill>
                            <a:srgbClr val="2E3142"/>
                          </a:solidFill>
                          <a:latin typeface="210 OmniGothic 040"/>
                          <a:ea typeface="210 OmniGothic 040"/>
                          <a:cs typeface="210 OmniGothic 040"/>
                        </a:rPr>
                        <a:t>세부 내용</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a:txBody>
                    <a:bodyPr/>
                    <a:lstStyle/>
                    <a:p>
                      <a:pPr lvl="0" algn="l">
                        <a:lnSpc>
                          <a:spcPct val="100000"/>
                        </a:lnSpc>
                        <a:spcBef>
                          <a:spcPts val="0"/>
                        </a:spcBef>
                        <a:spcAft>
                          <a:spcPts val="0"/>
                        </a:spcAft>
                        <a:buNone/>
                      </a:pPr>
                      <a:r>
                        <a:rPr lang="en-US" altLang="ko-KR" sz="1450" b="0" i="0" u="none" strike="noStrike" noProof="0" dirty="0">
                          <a:solidFill>
                            <a:srgbClr val="2E3142"/>
                          </a:solidFill>
                          <a:latin typeface="210 OmniGothic 040"/>
                          <a:ea typeface="210 OmniGothic 040"/>
                        </a:rPr>
                        <a:t>1. </a:t>
                      </a:r>
                      <a:r>
                        <a:rPr lang="ko-KR" altLang="en-US" sz="1450" b="0" i="0" u="none" strike="noStrike" noProof="0" dirty="0">
                          <a:solidFill>
                            <a:srgbClr val="2E3142"/>
                          </a:solidFill>
                          <a:latin typeface="210 OmniGothic 040"/>
                          <a:ea typeface="210 OmniGothic 040"/>
                        </a:rPr>
                        <a:t>예측 범위 </a:t>
                      </a:r>
                      <a:r>
                        <a:rPr lang="en-US" altLang="ko-KR" sz="1450" b="0" i="0" u="none" strike="noStrike" noProof="0" dirty="0">
                          <a:solidFill>
                            <a:srgbClr val="2E3142"/>
                          </a:solidFill>
                          <a:latin typeface="210 OmniGothic 040"/>
                          <a:ea typeface="210 OmniGothic 040"/>
                        </a:rPr>
                        <a:t>P1~P8</a:t>
                      </a:r>
                      <a:r>
                        <a:rPr lang="ko-KR" altLang="en-US" sz="1450" b="0" i="0" u="none" strike="noStrike" noProof="0" dirty="0">
                          <a:solidFill>
                            <a:srgbClr val="2E3142"/>
                          </a:solidFill>
                          <a:latin typeface="210 OmniGothic 040"/>
                          <a:ea typeface="210 OmniGothic 040"/>
                        </a:rPr>
                        <a:t> 기준 최대 </a:t>
                      </a:r>
                      <a:r>
                        <a:rPr lang="en-US" altLang="ko-KR" sz="1450" b="0" i="0" u="none" strike="noStrike" noProof="0" dirty="0">
                          <a:solidFill>
                            <a:srgbClr val="2E3142"/>
                          </a:solidFill>
                          <a:latin typeface="210 OmniGothic 040"/>
                          <a:ea typeface="210 OmniGothic 040"/>
                        </a:rPr>
                        <a:t>8</a:t>
                      </a:r>
                      <a:r>
                        <a:rPr lang="ko-KR" altLang="en-US" sz="1450" b="0" i="0" u="none" strike="noStrike" noProof="0" dirty="0">
                          <a:solidFill>
                            <a:srgbClr val="2E3142"/>
                          </a:solidFill>
                          <a:latin typeface="210 OmniGothic 040"/>
                          <a:ea typeface="210 OmniGothic 040"/>
                        </a:rPr>
                        <a:t>시간</a:t>
                      </a:r>
                      <a:endParaRPr lang="ko-KR" dirty="0">
                        <a:latin typeface="210 OmniGothic 040"/>
                        <a:ea typeface="210 OmniGothic 040"/>
                      </a:endParaRPr>
                    </a:p>
                    <a:p>
                      <a:pPr lvl="0" algn="l">
                        <a:lnSpc>
                          <a:spcPct val="100000"/>
                        </a:lnSpc>
                        <a:spcBef>
                          <a:spcPts val="0"/>
                        </a:spcBef>
                        <a:spcAft>
                          <a:spcPts val="0"/>
                        </a:spcAft>
                        <a:buNone/>
                      </a:pPr>
                      <a:r>
                        <a:rPr lang="en-US" altLang="ko-KR" sz="1450" b="0" i="0" u="none" strike="noStrike" noProof="0" dirty="0">
                          <a:solidFill>
                            <a:srgbClr val="2E3142"/>
                          </a:solidFill>
                          <a:latin typeface="210 OmniGothic 040"/>
                          <a:ea typeface="210 OmniGothic 040"/>
                        </a:rPr>
                        <a:t>2.</a:t>
                      </a:r>
                      <a:r>
                        <a:rPr lang="ko-KR" altLang="en-US" sz="1450" b="0" i="0" u="none" strike="noStrike" noProof="0" dirty="0">
                          <a:solidFill>
                            <a:srgbClr val="2E3142"/>
                          </a:solidFill>
                          <a:latin typeface="210 OmniGothic 040"/>
                          <a:ea typeface="210 OmniGothic 040"/>
                        </a:rPr>
                        <a:t> 제안 </a:t>
                      </a:r>
                      <a:r>
                        <a:rPr lang="ko-KR" sz="1450" b="0" i="0" u="none" strike="noStrike" noProof="0" dirty="0">
                          <a:solidFill>
                            <a:srgbClr val="2E3142"/>
                          </a:solidFill>
                          <a:latin typeface="210 OmniGothic 040"/>
                          <a:ea typeface="210 OmniGothic 040"/>
                        </a:rPr>
                        <a:t>생성은</a:t>
                      </a:r>
                      <a:r>
                        <a:rPr lang="ko-KR" altLang="en-US" sz="1450" b="0" i="0" u="none" strike="noStrike" noProof="0" dirty="0">
                          <a:solidFill>
                            <a:srgbClr val="2E3142"/>
                          </a:solidFill>
                          <a:latin typeface="210 OmniGothic 040"/>
                          <a:ea typeface="210 OmniGothic 040"/>
                        </a:rPr>
                        <a:t> 진화 </a:t>
                      </a:r>
                      <a:r>
                        <a:rPr lang="en-US" altLang="ko-KR" sz="1450" b="0" i="0" u="none" strike="noStrike" noProof="0" dirty="0">
                          <a:solidFill>
                            <a:srgbClr val="2E3142"/>
                          </a:solidFill>
                          <a:latin typeface="210 OmniGothic 040"/>
                          <a:ea typeface="210 OmniGothic 040"/>
                        </a:rPr>
                        <a:t>S1~S7· </a:t>
                      </a:r>
                      <a:r>
                        <a:rPr lang="en-US" altLang="ko-KR" sz="1450" b="0" i="0" u="none" strike="noStrike" noProof="0" dirty="0" err="1">
                          <a:solidFill>
                            <a:srgbClr val="2E3142"/>
                          </a:solidFill>
                          <a:latin typeface="210 OmniGothic 040"/>
                          <a:ea typeface="210 OmniGothic 040"/>
                        </a:rPr>
                        <a:t>대피</a:t>
                      </a:r>
                      <a:r>
                        <a:rPr lang="en-US" altLang="ko-KR" sz="1450" b="0" i="0" u="none" strike="noStrike" noProof="0" dirty="0">
                          <a:solidFill>
                            <a:srgbClr val="2E3142"/>
                          </a:solidFill>
                          <a:latin typeface="210 OmniGothic 040"/>
                          <a:ea typeface="210 OmniGothic 040"/>
                        </a:rPr>
                        <a:t> E1~E7</a:t>
                      </a:r>
                      <a:r>
                        <a:rPr lang="ko-KR" altLang="en-US" sz="1450" b="0" i="0" u="none" strike="noStrike" noProof="0" dirty="0">
                          <a:solidFill>
                            <a:srgbClr val="2E3142"/>
                          </a:solidFill>
                          <a:latin typeface="210 OmniGothic 040"/>
                          <a:ea typeface="210 OmniGothic 040"/>
                        </a:rPr>
                        <a:t> </a:t>
                      </a:r>
                      <a:r>
                        <a:rPr lang="ko-KR" sz="1450" b="0" i="0" u="none" strike="noStrike" noProof="0" dirty="0">
                          <a:solidFill>
                            <a:srgbClr val="2E3142"/>
                          </a:solidFill>
                          <a:latin typeface="210 OmniGothic 040"/>
                          <a:ea typeface="210 OmniGothic 040"/>
                        </a:rPr>
                        <a:t>규칙 판정과</a:t>
                      </a:r>
                      <a:r>
                        <a:rPr lang="ko-KR" altLang="en-US" sz="1450" b="0" i="0" u="none" strike="noStrike" noProof="0" dirty="0">
                          <a:solidFill>
                            <a:srgbClr val="2E3142"/>
                          </a:solidFill>
                          <a:latin typeface="210 OmniGothic 040"/>
                          <a:ea typeface="210 OmniGothic 040"/>
                        </a:rPr>
                        <a:t> </a:t>
                      </a:r>
                      <a:r>
                        <a:rPr lang="ko-KR" sz="1450" b="0" i="0" u="none" strike="noStrike" noProof="0" dirty="0">
                          <a:solidFill>
                            <a:srgbClr val="2E3142"/>
                          </a:solidFill>
                          <a:latin typeface="210 OmniGothic 040"/>
                          <a:ea typeface="210 OmniGothic 040"/>
                        </a:rPr>
                        <a:t>근거</a:t>
                      </a:r>
                      <a:r>
                        <a:rPr lang="ko-KR" altLang="en-US" sz="1450" b="0" i="0" u="none" strike="noStrike" noProof="0" dirty="0">
                          <a:solidFill>
                            <a:srgbClr val="2E3142"/>
                          </a:solidFill>
                          <a:latin typeface="210 OmniGothic 040"/>
                          <a:ea typeface="210 OmniGothic 040"/>
                        </a:rPr>
                        <a:t> </a:t>
                      </a:r>
                      <a:r>
                        <a:rPr lang="ko-KR" sz="1450" b="0" i="0" u="none" strike="noStrike" noProof="0" dirty="0">
                          <a:solidFill>
                            <a:srgbClr val="2E3142"/>
                          </a:solidFill>
                          <a:latin typeface="210 OmniGothic 040"/>
                          <a:ea typeface="210 OmniGothic 040"/>
                        </a:rPr>
                        <a:t>검색</a:t>
                      </a:r>
                      <a:r>
                        <a:rPr lang="ko-KR" altLang="en-US" sz="1450" b="0" i="0" u="none" strike="noStrike" noProof="0" dirty="0">
                          <a:solidFill>
                            <a:srgbClr val="2E3142"/>
                          </a:solidFill>
                          <a:latin typeface="210 OmniGothic 040"/>
                          <a:ea typeface="210 OmniGothic 040"/>
                        </a:rPr>
                        <a:t> </a:t>
                      </a:r>
                      <a:r>
                        <a:rPr lang="ko-KR" sz="1450" b="0" i="0" u="none" strike="noStrike" noProof="0" dirty="0">
                          <a:solidFill>
                            <a:srgbClr val="2E3142"/>
                          </a:solidFill>
                          <a:latin typeface="210 OmniGothic 040"/>
                          <a:ea typeface="210 OmniGothic 040"/>
                        </a:rPr>
                        <a:t>결과 기반으로</a:t>
                      </a:r>
                      <a:r>
                        <a:rPr lang="ko-KR" altLang="en-US" sz="1450" b="0" i="0" u="none" strike="noStrike" noProof="0" dirty="0">
                          <a:solidFill>
                            <a:srgbClr val="2E3142"/>
                          </a:solidFill>
                          <a:latin typeface="210 OmniGothic 040"/>
                          <a:ea typeface="210 OmniGothic 040"/>
                        </a:rPr>
                        <a:t> </a:t>
                      </a:r>
                      <a:r>
                        <a:rPr lang="ko-KR" sz="1450" b="0" i="0" u="none" strike="noStrike" noProof="0" dirty="0">
                          <a:solidFill>
                            <a:srgbClr val="2E3142"/>
                          </a:solidFill>
                          <a:latin typeface="210 OmniGothic 040"/>
                          <a:ea typeface="210 OmniGothic 040"/>
                        </a:rPr>
                        <a:t>수행</a:t>
                      </a:r>
                      <a:endParaRPr lang="en-US">
                        <a:latin typeface="210 OmniGothic 040"/>
                        <a:ea typeface="210 OmniGothic 040"/>
                      </a:endParaRPr>
                    </a:p>
                    <a:p>
                      <a:pPr lvl="0" algn="l">
                        <a:lnSpc>
                          <a:spcPct val="100000"/>
                        </a:lnSpc>
                        <a:spcBef>
                          <a:spcPts val="0"/>
                        </a:spcBef>
                        <a:spcAft>
                          <a:spcPts val="0"/>
                        </a:spcAft>
                        <a:buNone/>
                      </a:pPr>
                      <a:r>
                        <a:rPr lang="en-US" altLang="ko-KR" sz="1450" b="0" i="0" u="none" strike="noStrike" noProof="0" dirty="0">
                          <a:solidFill>
                            <a:srgbClr val="2E3142"/>
                          </a:solidFill>
                          <a:latin typeface="210 OmniGothic 040"/>
                          <a:ea typeface="210 OmniGothic 040"/>
                        </a:rPr>
                        <a:t>3.</a:t>
                      </a:r>
                      <a:r>
                        <a:rPr lang="ko-KR" altLang="en-US" sz="1450" b="0" i="0" u="none" strike="noStrike" noProof="0" dirty="0">
                          <a:solidFill>
                            <a:srgbClr val="2E3142"/>
                          </a:solidFill>
                          <a:latin typeface="210 OmniGothic 040"/>
                          <a:ea typeface="210 OmniGothic 040"/>
                        </a:rPr>
                        <a:t> 예측</a:t>
                      </a:r>
                      <a:r>
                        <a:rPr lang="en-US" altLang="ko-KR" sz="1450" b="0" i="0" u="none" strike="noStrike" noProof="0" dirty="0">
                          <a:solidFill>
                            <a:srgbClr val="2E3142"/>
                          </a:solidFill>
                          <a:latin typeface="210 OmniGothic 040"/>
                          <a:ea typeface="210 OmniGothic 040"/>
                        </a:rPr>
                        <a:t>+</a:t>
                      </a:r>
                      <a:r>
                        <a:rPr lang="ko-KR" altLang="en-US" sz="1450" b="0" i="0" u="none" strike="noStrike" noProof="0" dirty="0">
                          <a:solidFill>
                            <a:srgbClr val="2E3142"/>
                          </a:solidFill>
                          <a:latin typeface="210 OmniGothic 040"/>
                          <a:ea typeface="210 OmniGothic 040"/>
                        </a:rPr>
                        <a:t>제안 </a:t>
                      </a:r>
                      <a:r>
                        <a:rPr lang="ko-KR" sz="1450" b="0" i="0" u="none" strike="noStrike" noProof="0" dirty="0">
                          <a:solidFill>
                            <a:srgbClr val="2E3142"/>
                          </a:solidFill>
                          <a:latin typeface="210 OmniGothic 040"/>
                          <a:ea typeface="210 OmniGothic 040"/>
                        </a:rPr>
                        <a:t>생성은 통합지휘권자가 실행할 때마다 한 번에 완료(자동 주기 실행 없음)</a:t>
                      </a:r>
                      <a:endParaRPr dirty="0">
                        <a:latin typeface="210 OmniGothic 040"/>
                        <a:ea typeface="210 OmniGothic 040"/>
                      </a:endParaRPr>
                    </a:p>
                    <a:p>
                      <a:pPr lvl="0" algn="l">
                        <a:lnSpc>
                          <a:spcPct val="100000"/>
                        </a:lnSpc>
                        <a:spcBef>
                          <a:spcPts val="0"/>
                        </a:spcBef>
                        <a:spcAft>
                          <a:spcPts val="0"/>
                        </a:spcAft>
                        <a:buNone/>
                      </a:pPr>
                      <a:r>
                        <a:rPr lang="en-US" altLang="ko-KR" sz="1450" b="0" i="0" u="none" strike="noStrike" noProof="0" dirty="0">
                          <a:solidFill>
                            <a:srgbClr val="2E3142"/>
                          </a:solidFill>
                          <a:latin typeface="210 OmniGothic 040"/>
                          <a:ea typeface="210 OmniGothic 040"/>
                        </a:rPr>
                        <a:t>4.</a:t>
                      </a:r>
                      <a:r>
                        <a:rPr lang="ko-KR" altLang="en-US" sz="1450" b="0" i="0" u="none" strike="noStrike" noProof="0" dirty="0">
                          <a:solidFill>
                            <a:srgbClr val="2E3142"/>
                          </a:solidFill>
                          <a:latin typeface="210 OmniGothic 040"/>
                          <a:ea typeface="210 OmniGothic 040"/>
                        </a:rPr>
                        <a:t> 처리시간 목표(타임 리밋)는 두지 않으며, 실제 처리시간은 구현 후 실측해 참고값으로 기록</a:t>
                      </a:r>
                      <a:endParaRPr lang="en-US" dirty="0">
                        <a:latin typeface="210 OmniGothic 040"/>
                        <a:ea typeface="210 OmniGothic 040"/>
                      </a:endParaRPr>
                    </a:p>
                    <a:p>
                      <a:pPr lvl="0" algn="l">
                        <a:lnSpc>
                          <a:spcPct val="110000"/>
                        </a:lnSpc>
                        <a:buNone/>
                      </a:pPr>
                      <a:r>
                        <a:rPr lang="en-US" altLang="ko-KR" sz="1450" b="0" i="0" u="none" strike="noStrike" noProof="0" dirty="0">
                          <a:solidFill>
                            <a:srgbClr val="2E3142"/>
                          </a:solidFill>
                          <a:latin typeface="210 OmniGothic 040"/>
                          <a:ea typeface="210 OmniGothic 040"/>
                        </a:rPr>
                        <a:t>5.</a:t>
                      </a:r>
                      <a:r>
                        <a:rPr lang="ko-KR" altLang="en-US" sz="1450" b="0" i="0" u="none" strike="noStrike" noProof="0" dirty="0">
                          <a:solidFill>
                            <a:srgbClr val="2E3142"/>
                          </a:solidFill>
                          <a:latin typeface="210 OmniGothic 040"/>
                          <a:ea typeface="210 OmniGothic 040"/>
                        </a:rPr>
                        <a:t> 상황 정정 시 확산 예측은 재실행하지 않고 규칙 판정과 제안 생성만 다시 실행</a:t>
                      </a:r>
                      <a:endParaRPr lang="ko-KR" altLang="en-US" i="0" u="none" strike="noStrike" noProof="0" dirty="0">
                        <a:latin typeface="210 OmniGothic 040"/>
                        <a:ea typeface="210 OmniGothic 040"/>
                      </a:endParaRP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4"/>
                  </a:ext>
                </a:extLst>
              </a:tr>
              <a:tr h="502920">
                <a:tc gridSpan="2">
                  <a:txBody>
                    <a:bodyPr/>
                    <a:lstStyle/>
                    <a:p>
                      <a:pPr algn="ctr"/>
                      <a:r>
                        <a:rPr sz="1450" b="1" dirty="0">
                          <a:solidFill>
                            <a:srgbClr val="2E3142"/>
                          </a:solidFill>
                          <a:latin typeface="210 OmniGothic 040"/>
                          <a:ea typeface="210 OmniGothic 040"/>
                          <a:cs typeface="210 OmniGothic 040"/>
                        </a:rPr>
                        <a:t>산출정보</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r>
                        <a:rPr sz="1450" b="0" dirty="0">
                          <a:solidFill>
                            <a:srgbClr val="2E3142"/>
                          </a:solidFill>
                          <a:latin typeface="210 OmniGothic 040"/>
                          <a:ea typeface="210 OmniGothic 040"/>
                          <a:cs typeface="210 OmniGothic 040"/>
                        </a:rPr>
                        <a:t>성능 측정 결과</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5"/>
                  </a:ext>
                </a:extLst>
              </a:tr>
              <a:tr h="502920">
                <a:tc gridSpan="2">
                  <a:txBody>
                    <a:bodyPr/>
                    <a:lstStyle/>
                    <a:p>
                      <a:pPr algn="ctr"/>
                      <a:r>
                        <a:rPr sz="1450" b="1" dirty="0">
                          <a:solidFill>
                            <a:srgbClr val="2E3142"/>
                          </a:solidFill>
                          <a:latin typeface="210 OmniGothic 040"/>
                          <a:ea typeface="210 OmniGothic 040"/>
                          <a:cs typeface="210 OmniGothic 040"/>
                        </a:rPr>
                        <a:t>관련 요구사항</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r>
                        <a:rPr sz="1450" b="0" dirty="0">
                          <a:solidFill>
                            <a:srgbClr val="2E3142"/>
                          </a:solidFill>
                          <a:latin typeface="210 OmniGothic 040"/>
                          <a:ea typeface="210 OmniGothic 040"/>
                          <a:cs typeface="210 OmniGothic 040"/>
                        </a:rPr>
                        <a:t>ECR-001</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6"/>
                  </a:ext>
                </a:extLst>
              </a:tr>
              <a:tr h="502920">
                <a:tc gridSpan="2">
                  <a:txBody>
                    <a:bodyPr/>
                    <a:lstStyle/>
                    <a:p>
                      <a:pPr algn="ctr"/>
                      <a:r>
                        <a:rPr sz="1450" b="1" dirty="0">
                          <a:solidFill>
                            <a:srgbClr val="2E3142"/>
                          </a:solidFill>
                          <a:latin typeface="210 OmniGothic 040"/>
                          <a:ea typeface="210 OmniGothic 040"/>
                          <a:cs typeface="210 OmniGothic 040"/>
                        </a:rPr>
                        <a:t>요구사항 출처</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r>
                        <a:rPr sz="1450" b="0" dirty="0">
                          <a:solidFill>
                            <a:srgbClr val="2E3142"/>
                          </a:solidFill>
                          <a:latin typeface="210 OmniGothic 040"/>
                          <a:ea typeface="210 OmniGothic 040"/>
                          <a:cs typeface="210 OmniGothic 040"/>
                        </a:rPr>
                        <a:t>성능 요구사항</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31"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700" y="-12700"/>
            <a:ext cx="18313400" cy="1638300"/>
          </a:xfrm>
          <a:prstGeom prst="rect">
            <a:avLst/>
          </a:prstGeom>
        </p:spPr>
      </p:pic>
      <p:pic>
        <p:nvPicPr>
          <p:cNvPr id="5432"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28" y="1618343"/>
            <a:ext cx="18313400" cy="8699500"/>
          </a:xfrm>
          <a:prstGeom prst="rect">
            <a:avLst/>
          </a:prstGeom>
        </p:spPr>
      </p:pic>
      <p:pic>
        <p:nvPicPr>
          <p:cNvPr id="5433"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58800" y="9271000"/>
            <a:ext cx="17170400" cy="50800"/>
          </a:xfrm>
          <a:prstGeom prst="rect">
            <a:avLst/>
          </a:prstGeom>
        </p:spPr>
      </p:pic>
      <p:pic>
        <p:nvPicPr>
          <p:cNvPr id="5434" name="Picture 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278100" y="203200"/>
            <a:ext cx="1676400" cy="1409700"/>
          </a:xfrm>
          <a:prstGeom prst="rect">
            <a:avLst/>
          </a:prstGeom>
        </p:spPr>
      </p:pic>
      <p:sp>
        <p:nvSpPr>
          <p:cNvPr id="5435" name="Title"/>
          <p:cNvSpPr txBox="1"/>
          <p:nvPr/>
        </p:nvSpPr>
        <p:spPr>
          <a:xfrm>
            <a:off x="822960" y="384048"/>
            <a:ext cx="13258800" cy="877824"/>
          </a:xfrm>
          <a:prstGeom prst="rect">
            <a:avLst/>
          </a:prstGeom>
          <a:noFill/>
        </p:spPr>
        <p:txBody>
          <a:bodyPr wrap="square" lIns="0" tIns="0" rIns="0" bIns="0" anchor="ctr">
            <a:spAutoFit/>
          </a:bodyPr>
          <a:lstStyle/>
          <a:p>
            <a:pPr algn="l"/>
            <a:r>
              <a:rPr sz="4400" b="0">
                <a:solidFill>
                  <a:srgbClr val="FAA95A"/>
                </a:solidFill>
                <a:latin typeface="210 OmniGothic 050"/>
                <a:ea typeface="210 OmniGothic 050"/>
                <a:cs typeface="210 OmniGothic 050"/>
              </a:rPr>
              <a:t>07. 비기능 요구사항</a:t>
            </a:r>
          </a:p>
        </p:txBody>
      </p:sp>
      <p:sp>
        <p:nvSpPr>
          <p:cNvPr id="5436" name="Subtitle"/>
          <p:cNvSpPr txBox="1"/>
          <p:nvPr/>
        </p:nvSpPr>
        <p:spPr>
          <a:xfrm>
            <a:off x="822960" y="1764792"/>
            <a:ext cx="16642080" cy="502920"/>
          </a:xfrm>
          <a:prstGeom prst="rect">
            <a:avLst/>
          </a:prstGeom>
          <a:noFill/>
        </p:spPr>
        <p:txBody>
          <a:bodyPr wrap="square" lIns="0" tIns="0" rIns="0" bIns="0" anchor="ctr">
            <a:spAutoFit/>
          </a:bodyPr>
          <a:lstStyle/>
          <a:p>
            <a:pPr algn="ctr"/>
            <a:r>
              <a:rPr sz="2600" b="1">
                <a:solidFill>
                  <a:srgbClr val="363A52"/>
                </a:solidFill>
                <a:latin typeface="210 OmniGothic 040"/>
                <a:ea typeface="210 OmniGothic 040"/>
                <a:cs typeface="210 OmniGothic 040"/>
              </a:rPr>
              <a:t>성능 요구사항</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sz="quarter" idx="12"/>
          </p:nvPr>
        </p:nvSpPr>
        <p:spPr/>
        <p:txBody>
          <a:bodyPr/>
          <a:lstStyle/>
          <a:p>
            <a:fld id="{B6F15528-21DE-4FAA-801E-634DDDAF4B2B}" type="slidenum">
              <a:rPr lang="en-US" smtClean="0"/>
              <a:pPr/>
              <a:t>87</a:t>
            </a:fld>
            <a:endParaRPr lang="en-US"/>
          </a:p>
        </p:txBody>
      </p:sp>
      <p:graphicFrame>
        <p:nvGraphicFramePr>
          <p:cNvPr id="5437" name="Table 5436"/>
          <p:cNvGraphicFramePr>
            <a:graphicFrameLocks noGrp="1"/>
          </p:cNvGraphicFramePr>
          <p:nvPr/>
        </p:nvGraphicFramePr>
        <p:xfrm>
          <a:off x="2880360" y="2546604"/>
          <a:ext cx="12344400" cy="5180076"/>
        </p:xfrm>
        <a:graphic>
          <a:graphicData uri="http://schemas.openxmlformats.org/drawingml/2006/table">
            <a:tbl>
              <a:tblPr>
                <a:tableStyleId>{2D5ABB26-0587-4C30-8999-92F81FD0307C}</a:tableStyleId>
              </a:tblPr>
              <a:tblGrid>
                <a:gridCol w="245745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8286750">
                  <a:extLst>
                    <a:ext uri="{9D8B030D-6E8A-4147-A177-3AD203B41FA5}">
                      <a16:colId xmlns:a16="http://schemas.microsoft.com/office/drawing/2014/main" val="20002"/>
                    </a:ext>
                  </a:extLst>
                </a:gridCol>
              </a:tblGrid>
              <a:tr h="502920">
                <a:tc gridSpan="2">
                  <a:txBody>
                    <a:bodyPr/>
                    <a:lstStyle/>
                    <a:p>
                      <a:pPr algn="ctr"/>
                      <a:r>
                        <a:rPr sz="1450" b="1" dirty="0" err="1">
                          <a:solidFill>
                            <a:srgbClr val="2E3142"/>
                          </a:solidFill>
                          <a:latin typeface="210 OmniGothic 040"/>
                          <a:ea typeface="210 OmniGothic 040"/>
                          <a:cs typeface="210 OmniGothic 040"/>
                        </a:rPr>
                        <a:t>요구사항</a:t>
                      </a:r>
                      <a:r>
                        <a:rPr sz="1450" b="1" dirty="0">
                          <a:solidFill>
                            <a:srgbClr val="2E3142"/>
                          </a:solidFill>
                          <a:latin typeface="210 OmniGothic 040"/>
                          <a:ea typeface="210 OmniGothic 040"/>
                          <a:cs typeface="210 OmniGothic 040"/>
                        </a:rPr>
                        <a:t> </a:t>
                      </a:r>
                      <a:r>
                        <a:rPr sz="1450" b="1" dirty="0" err="1">
                          <a:solidFill>
                            <a:srgbClr val="2E3142"/>
                          </a:solidFill>
                          <a:latin typeface="210 OmniGothic 040"/>
                          <a:ea typeface="210 OmniGothic 040"/>
                          <a:cs typeface="210 OmniGothic 040"/>
                        </a:rPr>
                        <a:t>분류</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r>
                        <a:rPr sz="1450" b="0" dirty="0" err="1">
                          <a:solidFill>
                            <a:srgbClr val="2E3142"/>
                          </a:solidFill>
                          <a:latin typeface="210 OmniGothic 040"/>
                          <a:ea typeface="210 OmniGothic 040"/>
                          <a:cs typeface="210 OmniGothic 040"/>
                        </a:rPr>
                        <a:t>성능</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요구사항</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0"/>
                  </a:ext>
                </a:extLst>
              </a:tr>
              <a:tr h="502920">
                <a:tc gridSpan="2">
                  <a:txBody>
                    <a:bodyPr/>
                    <a:lstStyle/>
                    <a:p>
                      <a:pPr algn="ctr"/>
                      <a:r>
                        <a:rPr sz="1450" b="1" dirty="0" err="1">
                          <a:solidFill>
                            <a:srgbClr val="2E3142"/>
                          </a:solidFill>
                          <a:latin typeface="210 OmniGothic 040"/>
                          <a:ea typeface="210 OmniGothic 040"/>
                          <a:cs typeface="210 OmniGothic 040"/>
                        </a:rPr>
                        <a:t>요구사항</a:t>
                      </a:r>
                      <a:r>
                        <a:rPr sz="1450" b="1" dirty="0">
                          <a:solidFill>
                            <a:srgbClr val="2E3142"/>
                          </a:solidFill>
                          <a:latin typeface="210 OmniGothic 040"/>
                          <a:ea typeface="210 OmniGothic 040"/>
                          <a:cs typeface="210 OmniGothic 040"/>
                        </a:rPr>
                        <a:t> </a:t>
                      </a:r>
                      <a:r>
                        <a:rPr sz="1450" b="1" dirty="0" err="1">
                          <a:solidFill>
                            <a:srgbClr val="2E3142"/>
                          </a:solidFill>
                          <a:latin typeface="210 OmniGothic 040"/>
                          <a:ea typeface="210 OmniGothic 040"/>
                          <a:cs typeface="210 OmniGothic 040"/>
                        </a:rPr>
                        <a:t>고유번호</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r>
                        <a:rPr sz="1450" b="0" dirty="0">
                          <a:solidFill>
                            <a:srgbClr val="2E3142"/>
                          </a:solidFill>
                          <a:latin typeface="210 OmniGothic 040"/>
                          <a:ea typeface="210 OmniGothic 040"/>
                          <a:cs typeface="210 OmniGothic 040"/>
                        </a:rPr>
                        <a:t>PER-002</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1"/>
                  </a:ext>
                </a:extLst>
              </a:tr>
              <a:tr h="502920">
                <a:tc gridSpan="2">
                  <a:txBody>
                    <a:bodyPr/>
                    <a:lstStyle/>
                    <a:p>
                      <a:pPr algn="ctr"/>
                      <a:r>
                        <a:rPr sz="1450" b="1" dirty="0" err="1">
                          <a:solidFill>
                            <a:srgbClr val="2E3142"/>
                          </a:solidFill>
                          <a:latin typeface="210 OmniGothic 040"/>
                          <a:ea typeface="210 OmniGothic 040"/>
                          <a:cs typeface="210 OmniGothic 040"/>
                        </a:rPr>
                        <a:t>요구사항</a:t>
                      </a:r>
                      <a:r>
                        <a:rPr sz="1450" b="1" dirty="0">
                          <a:solidFill>
                            <a:srgbClr val="2E3142"/>
                          </a:solidFill>
                          <a:latin typeface="210 OmniGothic 040"/>
                          <a:ea typeface="210 OmniGothic 040"/>
                          <a:cs typeface="210 OmniGothic 040"/>
                        </a:rPr>
                        <a:t> </a:t>
                      </a:r>
                      <a:r>
                        <a:rPr sz="1450" b="1" dirty="0" err="1">
                          <a:solidFill>
                            <a:srgbClr val="2E3142"/>
                          </a:solidFill>
                          <a:latin typeface="210 OmniGothic 040"/>
                          <a:ea typeface="210 OmniGothic 040"/>
                          <a:cs typeface="210 OmniGothic 040"/>
                        </a:rPr>
                        <a:t>명칭</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r>
                        <a:rPr sz="1450" b="0" dirty="0" err="1">
                          <a:solidFill>
                            <a:srgbClr val="2E3142"/>
                          </a:solidFill>
                          <a:latin typeface="210 OmniGothic 040"/>
                          <a:ea typeface="210 OmniGothic 040"/>
                          <a:cs typeface="210 OmniGothic 040"/>
                        </a:rPr>
                        <a:t>화면</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응답</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시간</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2"/>
                  </a:ext>
                </a:extLst>
              </a:tr>
              <a:tr h="553212">
                <a:tc rowSpan="2">
                  <a:txBody>
                    <a:bodyPr/>
                    <a:lstStyle/>
                    <a:p>
                      <a:pPr algn="ctr"/>
                      <a:r>
                        <a:rPr sz="1450" b="1" dirty="0">
                          <a:solidFill>
                            <a:srgbClr val="2E3142"/>
                          </a:solidFill>
                          <a:latin typeface="210 OmniGothic 040"/>
                          <a:ea typeface="210 OmniGothic 040"/>
                          <a:cs typeface="210 OmniGothic 040"/>
                        </a:rPr>
                        <a:t>요구사항
</a:t>
                      </a:r>
                      <a:r>
                        <a:rPr sz="1450" b="1" dirty="0" err="1">
                          <a:solidFill>
                            <a:srgbClr val="2E3142"/>
                          </a:solidFill>
                          <a:latin typeface="210 OmniGothic 040"/>
                          <a:ea typeface="210 OmniGothic 040"/>
                          <a:cs typeface="210 OmniGothic 040"/>
                        </a:rPr>
                        <a:t>상세설명</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a:txBody>
                    <a:bodyPr/>
                    <a:lstStyle/>
                    <a:p>
                      <a:pPr algn="ctr"/>
                      <a:r>
                        <a:rPr sz="1450" b="1" dirty="0" err="1">
                          <a:solidFill>
                            <a:srgbClr val="2E3142"/>
                          </a:solidFill>
                          <a:latin typeface="210 OmniGothic 040"/>
                          <a:ea typeface="210 OmniGothic 040"/>
                          <a:cs typeface="210 OmniGothic 040"/>
                        </a:rPr>
                        <a:t>정의</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a:txBody>
                    <a:bodyPr/>
                    <a:lstStyle/>
                    <a:p>
                      <a:pPr algn="l"/>
                      <a:r>
                        <a:rPr sz="1450" b="0" dirty="0" err="1">
                          <a:solidFill>
                            <a:srgbClr val="2E3142"/>
                          </a:solidFill>
                          <a:latin typeface="210 OmniGothic 040"/>
                          <a:ea typeface="210 OmniGothic 040"/>
                          <a:cs typeface="210 OmniGothic 040"/>
                        </a:rPr>
                        <a:t>조회·조작에</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대한</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화면</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응답</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기준</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3"/>
                  </a:ext>
                </a:extLst>
              </a:tr>
              <a:tr h="1609344">
                <a:tc vMerge="1">
                  <a:txBody>
                    <a:bodyPr/>
                    <a:lstStyle/>
                    <a:p>
                      <a:endParaRPr/>
                    </a:p>
                  </a:txBody>
                  <a:tcPr/>
                </a:tc>
                <a:tc>
                  <a:txBody>
                    <a:bodyPr/>
                    <a:lstStyle/>
                    <a:p>
                      <a:pPr algn="ctr"/>
                      <a:r>
                        <a:rPr sz="1450" b="1" dirty="0" err="1">
                          <a:solidFill>
                            <a:srgbClr val="2E3142"/>
                          </a:solidFill>
                          <a:latin typeface="210 OmniGothic 040"/>
                          <a:ea typeface="210 OmniGothic 040"/>
                          <a:cs typeface="210 OmniGothic 040"/>
                        </a:rPr>
                        <a:t>세부</a:t>
                      </a:r>
                      <a:r>
                        <a:rPr sz="1450" b="1" dirty="0">
                          <a:solidFill>
                            <a:srgbClr val="2E3142"/>
                          </a:solidFill>
                          <a:latin typeface="210 OmniGothic 040"/>
                          <a:ea typeface="210 OmniGothic 040"/>
                          <a:cs typeface="210 OmniGothic 040"/>
                        </a:rPr>
                        <a:t> </a:t>
                      </a:r>
                      <a:r>
                        <a:rPr sz="1450" b="1" dirty="0" err="1">
                          <a:solidFill>
                            <a:srgbClr val="2E3142"/>
                          </a:solidFill>
                          <a:latin typeface="210 OmniGothic 040"/>
                          <a:ea typeface="210 OmniGothic 040"/>
                          <a:cs typeface="210 OmniGothic 040"/>
                        </a:rPr>
                        <a:t>내용</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a:txBody>
                    <a:bodyPr/>
                    <a:lstStyle/>
                    <a:p>
                      <a:pPr lvl="0" algn="l">
                        <a:lnSpc>
                          <a:spcPct val="100000"/>
                        </a:lnSpc>
                        <a:spcBef>
                          <a:spcPts val="0"/>
                        </a:spcBef>
                        <a:spcAft>
                          <a:spcPts val="0"/>
                        </a:spcAft>
                        <a:buNone/>
                      </a:pPr>
                      <a:r>
                        <a:rPr lang="en-US" sz="1450" b="0" i="0" u="none" strike="noStrike" noProof="0" dirty="0">
                          <a:solidFill>
                            <a:srgbClr val="2E3142"/>
                          </a:solidFill>
                          <a:latin typeface="210 OmniGothic 040"/>
                          <a:ea typeface="210 OmniGothic 040"/>
                        </a:rPr>
                        <a:t>1. </a:t>
                      </a:r>
                      <a:r>
                        <a:rPr lang="en-US" sz="1450" b="0" i="0" u="none" strike="noStrike" noProof="0" err="1">
                          <a:solidFill>
                            <a:srgbClr val="2E3142"/>
                          </a:solidFill>
                          <a:latin typeface="210 OmniGothic 040"/>
                          <a:ea typeface="210 OmniGothic 040"/>
                        </a:rPr>
                        <a:t>레이어</a:t>
                      </a:r>
                      <a:r>
                        <a:rPr lang="en-US" sz="1450" b="0" i="0" u="none" strike="noStrike" noProof="0" dirty="0">
                          <a:solidFill>
                            <a:srgbClr val="2E3142"/>
                          </a:solidFill>
                          <a:latin typeface="210 OmniGothic 040"/>
                          <a:ea typeface="210 OmniGothic 040"/>
                        </a:rPr>
                        <a:t> </a:t>
                      </a:r>
                      <a:r>
                        <a:rPr lang="en-US" sz="1450" b="0" i="0" u="none" strike="noStrike" noProof="0" err="1">
                          <a:solidFill>
                            <a:srgbClr val="2E3142"/>
                          </a:solidFill>
                          <a:latin typeface="210 OmniGothic 040"/>
                          <a:ea typeface="210 OmniGothic 040"/>
                        </a:rPr>
                        <a:t>전환</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및</a:t>
                      </a:r>
                      <a:r>
                        <a:rPr lang="en-US" altLang="ko-KR" sz="1450" b="0" i="0" u="none" strike="noStrike" noProof="0" dirty="0">
                          <a:solidFill>
                            <a:srgbClr val="2E3142"/>
                          </a:solidFill>
                          <a:latin typeface="210 OmniGothic 040"/>
                          <a:ea typeface="210 OmniGothic 040"/>
                        </a:rPr>
                        <a:t> </a:t>
                      </a:r>
                      <a:r>
                        <a:rPr lang="en-US" sz="1450" b="0" i="0" u="none" strike="noStrike" noProof="0" err="1">
                          <a:solidFill>
                            <a:srgbClr val="2E3142"/>
                          </a:solidFill>
                          <a:latin typeface="210 OmniGothic 040"/>
                          <a:ea typeface="210 OmniGothic 040"/>
                        </a:rPr>
                        <a:t>시간</a:t>
                      </a:r>
                      <a:r>
                        <a:rPr lang="en-US"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슬라이더는</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이미</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수신한</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데이터를</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이용해</a:t>
                      </a:r>
                      <a:r>
                        <a:rPr lang="en-US" altLang="ko-KR" sz="1450" b="0" i="0" u="none" strike="noStrike" noProof="0" dirty="0">
                          <a:solidFill>
                            <a:srgbClr val="2E3142"/>
                          </a:solidFill>
                          <a:latin typeface="210 OmniGothic 040"/>
                          <a:ea typeface="210 OmniGothic 040"/>
                        </a:rPr>
                        <a:t> </a:t>
                      </a:r>
                      <a:r>
                        <a:rPr lang="en-US" sz="1450" b="0" i="0" u="none" strike="noStrike" noProof="0" err="1">
                          <a:solidFill>
                            <a:srgbClr val="2E3142"/>
                          </a:solidFill>
                          <a:latin typeface="210 OmniGothic 040"/>
                          <a:ea typeface="210 OmniGothic 040"/>
                        </a:rPr>
                        <a:t>즉시</a:t>
                      </a:r>
                      <a:r>
                        <a:rPr lang="en-US" sz="1450" b="0" i="0" u="none" strike="noStrike" noProof="0" dirty="0">
                          <a:solidFill>
                            <a:srgbClr val="2E3142"/>
                          </a:solidFill>
                          <a:latin typeface="210 OmniGothic 040"/>
                          <a:ea typeface="210 OmniGothic 040"/>
                        </a:rPr>
                        <a:t> </a:t>
                      </a:r>
                      <a:r>
                        <a:rPr lang="en-US" sz="1450" b="0" i="0" u="none" strike="noStrike" noProof="0" err="1">
                          <a:solidFill>
                            <a:srgbClr val="2E3142"/>
                          </a:solidFill>
                          <a:latin typeface="210 OmniGothic 040"/>
                          <a:ea typeface="210 OmniGothic 040"/>
                        </a:rPr>
                        <a:t>갱신</a:t>
                      </a:r>
                    </a:p>
                    <a:p>
                      <a:pPr lvl="0" algn="l">
                        <a:lnSpc>
                          <a:spcPct val="100000"/>
                        </a:lnSpc>
                        <a:spcBef>
                          <a:spcPts val="0"/>
                        </a:spcBef>
                        <a:spcAft>
                          <a:spcPts val="0"/>
                        </a:spcAft>
                        <a:buNone/>
                      </a:pPr>
                      <a:r>
                        <a:rPr lang="en-US" sz="1450" b="0" i="0" u="none" strike="noStrike" noProof="0" dirty="0">
                          <a:solidFill>
                            <a:srgbClr val="2E3142"/>
                          </a:solidFill>
                          <a:latin typeface="210 OmniGothic 040"/>
                          <a:ea typeface="210 OmniGothic 040"/>
                        </a:rPr>
                        <a:t>2. </a:t>
                      </a:r>
                      <a:r>
                        <a:rPr lang="en-US" sz="1450" b="0" i="0" u="none" strike="noStrike" noProof="0" err="1">
                          <a:solidFill>
                            <a:srgbClr val="2E3142"/>
                          </a:solidFill>
                          <a:latin typeface="210 OmniGothic 040"/>
                          <a:ea typeface="210 OmniGothic 040"/>
                        </a:rPr>
                        <a:t>사건·자원·제안·근거</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조회는</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일정</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응답시간</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내</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처리</a:t>
                      </a:r>
                      <a:endParaRPr dirty="0">
                        <a:latin typeface="210 OmniGothic 040"/>
                        <a:ea typeface="210 OmniGothic 040"/>
                      </a:endParaRPr>
                    </a:p>
                    <a:p>
                      <a:pPr lvl="0" algn="l">
                        <a:lnSpc>
                          <a:spcPct val="100000"/>
                        </a:lnSpc>
                        <a:spcBef>
                          <a:spcPts val="0"/>
                        </a:spcBef>
                        <a:spcAft>
                          <a:spcPts val="0"/>
                        </a:spcAft>
                        <a:buNone/>
                      </a:pPr>
                      <a:r>
                        <a:rPr lang="en-US" sz="1450" b="0" i="0" u="none" strike="noStrike" noProof="0" dirty="0">
                          <a:solidFill>
                            <a:srgbClr val="2E3142"/>
                          </a:solidFill>
                          <a:latin typeface="210 OmniGothic 040"/>
                          <a:ea typeface="210 OmniGothic 040"/>
                        </a:rPr>
                        <a:t>3. AI </a:t>
                      </a:r>
                      <a:r>
                        <a:rPr lang="ko-KR" altLang="en-US" sz="1450" b="0" i="0" u="none" strike="noStrike" noProof="0" dirty="0">
                          <a:solidFill>
                            <a:srgbClr val="2E3142"/>
                          </a:solidFill>
                          <a:latin typeface="210 OmniGothic 040"/>
                          <a:ea typeface="210 OmniGothic 040"/>
                        </a:rPr>
                        <a:t>질의응답은</a:t>
                      </a:r>
                      <a:r>
                        <a:rPr lang="en-US" altLang="ko-KR" sz="1450" b="0" i="0" u="none" strike="noStrike" noProof="0" dirty="0">
                          <a:solidFill>
                            <a:srgbClr val="2E3142"/>
                          </a:solidFill>
                          <a:latin typeface="210 OmniGothic 040"/>
                          <a:ea typeface="210 OmniGothic 040"/>
                        </a:rPr>
                        <a:t> </a:t>
                      </a:r>
                      <a:r>
                        <a:rPr lang="en-US" sz="1450" b="0" i="0" u="none" strike="noStrike" noProof="0" err="1">
                          <a:solidFill>
                            <a:srgbClr val="2E3142"/>
                          </a:solidFill>
                          <a:latin typeface="210 OmniGothic 040"/>
                          <a:ea typeface="210 OmniGothic 040"/>
                        </a:rPr>
                        <a:t>생성</a:t>
                      </a:r>
                      <a:r>
                        <a:rPr lang="en-US" sz="1450" b="0" i="0" u="none" strike="noStrike" noProof="0" dirty="0">
                          <a:solidFill>
                            <a:srgbClr val="2E3142"/>
                          </a:solidFill>
                          <a:latin typeface="210 OmniGothic 040"/>
                          <a:ea typeface="210 OmniGothic 040"/>
                        </a:rPr>
                        <a:t> 중 </a:t>
                      </a:r>
                      <a:r>
                        <a:rPr lang="en-US" sz="1450" b="0" i="0" u="none" strike="noStrike" noProof="0" err="1">
                          <a:solidFill>
                            <a:srgbClr val="2E3142"/>
                          </a:solidFill>
                          <a:latin typeface="210 OmniGothic 040"/>
                          <a:ea typeface="210 OmniGothic 040"/>
                        </a:rPr>
                        <a:t>진행</a:t>
                      </a:r>
                      <a:r>
                        <a:rPr lang="en-US"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상태</a:t>
                      </a:r>
                      <a:r>
                        <a:rPr lang="en-US" altLang="ko-KR" sz="1450" b="0" i="0" u="none" strike="noStrike" noProof="0" dirty="0">
                          <a:solidFill>
                            <a:srgbClr val="2E3142"/>
                          </a:solidFill>
                          <a:latin typeface="210 OmniGothic 040"/>
                          <a:ea typeface="210 OmniGothic 040"/>
                        </a:rPr>
                        <a:t> </a:t>
                      </a:r>
                      <a:r>
                        <a:rPr lang="en-US" sz="1450" b="0" i="0" u="none" strike="noStrike" noProof="0" err="1">
                          <a:solidFill>
                            <a:srgbClr val="2E3142"/>
                          </a:solidFill>
                          <a:latin typeface="210 OmniGothic 040"/>
                          <a:ea typeface="210 OmniGothic 040"/>
                        </a:rPr>
                        <a:t>표시</a:t>
                      </a:r>
                      <a:endParaRPr err="1">
                        <a:latin typeface="210 OmniGothic 040"/>
                        <a:ea typeface="210 OmniGothic 040"/>
                      </a:endParaRP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4"/>
                  </a:ext>
                </a:extLst>
              </a:tr>
              <a:tr h="502920">
                <a:tc gridSpan="2">
                  <a:txBody>
                    <a:bodyPr/>
                    <a:lstStyle/>
                    <a:p>
                      <a:pPr algn="ctr"/>
                      <a:r>
                        <a:rPr sz="1450" b="1" dirty="0" err="1">
                          <a:solidFill>
                            <a:srgbClr val="2E3142"/>
                          </a:solidFill>
                          <a:latin typeface="210 OmniGothic 040"/>
                          <a:ea typeface="210 OmniGothic 040"/>
                          <a:cs typeface="210 OmniGothic 040"/>
                        </a:rPr>
                        <a:t>산출정보</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endParaRP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5"/>
                  </a:ext>
                </a:extLst>
              </a:tr>
              <a:tr h="502920">
                <a:tc gridSpan="2">
                  <a:txBody>
                    <a:bodyPr/>
                    <a:lstStyle/>
                    <a:p>
                      <a:pPr algn="ctr"/>
                      <a:r>
                        <a:rPr sz="1450" b="1" dirty="0" err="1">
                          <a:solidFill>
                            <a:srgbClr val="2E3142"/>
                          </a:solidFill>
                          <a:latin typeface="210 OmniGothic 040"/>
                          <a:ea typeface="210 OmniGothic 040"/>
                          <a:cs typeface="210 OmniGothic 040"/>
                        </a:rPr>
                        <a:t>관련</a:t>
                      </a:r>
                      <a:r>
                        <a:rPr sz="1450" b="1" dirty="0">
                          <a:solidFill>
                            <a:srgbClr val="2E3142"/>
                          </a:solidFill>
                          <a:latin typeface="210 OmniGothic 040"/>
                          <a:ea typeface="210 OmniGothic 040"/>
                          <a:cs typeface="210 OmniGothic 040"/>
                        </a:rPr>
                        <a:t> </a:t>
                      </a:r>
                      <a:r>
                        <a:rPr sz="1450" b="1" dirty="0" err="1">
                          <a:solidFill>
                            <a:srgbClr val="2E3142"/>
                          </a:solidFill>
                          <a:latin typeface="210 OmniGothic 040"/>
                          <a:ea typeface="210 OmniGothic 040"/>
                          <a:cs typeface="210 OmniGothic 040"/>
                        </a:rPr>
                        <a:t>요구사항</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r>
                        <a:rPr sz="1450" b="0" dirty="0">
                          <a:solidFill>
                            <a:srgbClr val="2E3142"/>
                          </a:solidFill>
                          <a:latin typeface="210 OmniGothic 040"/>
                          <a:ea typeface="210 OmniGothic 040"/>
                          <a:cs typeface="210 OmniGothic 040"/>
                        </a:rPr>
                        <a:t>INR-001</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6"/>
                  </a:ext>
                </a:extLst>
              </a:tr>
              <a:tr h="502920">
                <a:tc gridSpan="2">
                  <a:txBody>
                    <a:bodyPr/>
                    <a:lstStyle/>
                    <a:p>
                      <a:pPr algn="ctr"/>
                      <a:r>
                        <a:rPr sz="1450" b="1" dirty="0" err="1">
                          <a:solidFill>
                            <a:srgbClr val="2E3142"/>
                          </a:solidFill>
                          <a:latin typeface="210 OmniGothic 040"/>
                          <a:ea typeface="210 OmniGothic 040"/>
                          <a:cs typeface="210 OmniGothic 040"/>
                        </a:rPr>
                        <a:t>요구사항</a:t>
                      </a:r>
                      <a:r>
                        <a:rPr sz="1450" b="1" dirty="0">
                          <a:solidFill>
                            <a:srgbClr val="2E3142"/>
                          </a:solidFill>
                          <a:latin typeface="210 OmniGothic 040"/>
                          <a:ea typeface="210 OmniGothic 040"/>
                          <a:cs typeface="210 OmniGothic 040"/>
                        </a:rPr>
                        <a:t> </a:t>
                      </a:r>
                      <a:r>
                        <a:rPr sz="1450" b="1" dirty="0" err="1">
                          <a:solidFill>
                            <a:srgbClr val="2E3142"/>
                          </a:solidFill>
                          <a:latin typeface="210 OmniGothic 040"/>
                          <a:ea typeface="210 OmniGothic 040"/>
                          <a:cs typeface="210 OmniGothic 040"/>
                        </a:rPr>
                        <a:t>출처</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r>
                        <a:rPr sz="1450" b="0" dirty="0" err="1">
                          <a:solidFill>
                            <a:srgbClr val="2E3142"/>
                          </a:solidFill>
                          <a:latin typeface="210 OmniGothic 040"/>
                          <a:ea typeface="210 OmniGothic 040"/>
                          <a:cs typeface="210 OmniGothic 040"/>
                        </a:rPr>
                        <a:t>성능</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요구사항</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36"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700" y="-12700"/>
            <a:ext cx="18313400" cy="1638300"/>
          </a:xfrm>
          <a:prstGeom prst="rect">
            <a:avLst/>
          </a:prstGeom>
        </p:spPr>
      </p:pic>
      <p:pic>
        <p:nvPicPr>
          <p:cNvPr id="5437"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28" y="1618343"/>
            <a:ext cx="18313400" cy="8699500"/>
          </a:xfrm>
          <a:prstGeom prst="rect">
            <a:avLst/>
          </a:prstGeom>
        </p:spPr>
      </p:pic>
      <p:pic>
        <p:nvPicPr>
          <p:cNvPr id="5438"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58800" y="9271000"/>
            <a:ext cx="17170400" cy="50800"/>
          </a:xfrm>
          <a:prstGeom prst="rect">
            <a:avLst/>
          </a:prstGeom>
        </p:spPr>
      </p:pic>
      <p:pic>
        <p:nvPicPr>
          <p:cNvPr id="5439" name="Picture 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278100" y="203200"/>
            <a:ext cx="1676400" cy="1409700"/>
          </a:xfrm>
          <a:prstGeom prst="rect">
            <a:avLst/>
          </a:prstGeom>
        </p:spPr>
      </p:pic>
      <p:sp>
        <p:nvSpPr>
          <p:cNvPr id="5440" name="Title"/>
          <p:cNvSpPr txBox="1"/>
          <p:nvPr/>
        </p:nvSpPr>
        <p:spPr>
          <a:xfrm>
            <a:off x="822960" y="384048"/>
            <a:ext cx="13258800" cy="877824"/>
          </a:xfrm>
          <a:prstGeom prst="rect">
            <a:avLst/>
          </a:prstGeom>
          <a:noFill/>
        </p:spPr>
        <p:txBody>
          <a:bodyPr wrap="square" lIns="0" tIns="0" rIns="0" bIns="0" anchor="ctr">
            <a:spAutoFit/>
          </a:bodyPr>
          <a:lstStyle/>
          <a:p>
            <a:pPr algn="l"/>
            <a:r>
              <a:rPr sz="4400" b="0">
                <a:solidFill>
                  <a:srgbClr val="FAA95A"/>
                </a:solidFill>
                <a:latin typeface="210 OmniGothic 050"/>
                <a:ea typeface="210 OmniGothic 050"/>
                <a:cs typeface="210 OmniGothic 050"/>
              </a:rPr>
              <a:t>07. 비기능 요구사항</a:t>
            </a:r>
          </a:p>
        </p:txBody>
      </p:sp>
      <p:sp>
        <p:nvSpPr>
          <p:cNvPr id="5441" name="Subtitle"/>
          <p:cNvSpPr txBox="1"/>
          <p:nvPr/>
        </p:nvSpPr>
        <p:spPr>
          <a:xfrm>
            <a:off x="822960" y="1764792"/>
            <a:ext cx="16642080" cy="502920"/>
          </a:xfrm>
          <a:prstGeom prst="rect">
            <a:avLst/>
          </a:prstGeom>
          <a:noFill/>
        </p:spPr>
        <p:txBody>
          <a:bodyPr wrap="square" lIns="0" tIns="0" rIns="0" bIns="0" anchor="ctr">
            <a:spAutoFit/>
          </a:bodyPr>
          <a:lstStyle/>
          <a:p>
            <a:pPr algn="ctr"/>
            <a:r>
              <a:rPr sz="2600" b="1">
                <a:solidFill>
                  <a:srgbClr val="363A52"/>
                </a:solidFill>
                <a:latin typeface="210 OmniGothic 040"/>
                <a:ea typeface="210 OmniGothic 040"/>
                <a:cs typeface="210 OmniGothic 040"/>
              </a:rPr>
              <a:t>성능 요구사항</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sz="quarter" idx="12"/>
          </p:nvPr>
        </p:nvSpPr>
        <p:spPr/>
        <p:txBody>
          <a:bodyPr/>
          <a:lstStyle/>
          <a:p>
            <a:fld id="{B6F15528-21DE-4FAA-801E-634DDDAF4B2B}" type="slidenum">
              <a:rPr lang="en-US" smtClean="0"/>
              <a:pPr/>
              <a:t>88</a:t>
            </a:fld>
            <a:endParaRPr lang="en-US"/>
          </a:p>
        </p:txBody>
      </p:sp>
      <p:graphicFrame>
        <p:nvGraphicFramePr>
          <p:cNvPr id="5442" name="Table 5441"/>
          <p:cNvGraphicFramePr>
            <a:graphicFrameLocks noGrp="1"/>
          </p:cNvGraphicFramePr>
          <p:nvPr/>
        </p:nvGraphicFramePr>
        <p:xfrm>
          <a:off x="2880360" y="2546604"/>
          <a:ext cx="12344400" cy="5180076"/>
        </p:xfrm>
        <a:graphic>
          <a:graphicData uri="http://schemas.openxmlformats.org/drawingml/2006/table">
            <a:tbl>
              <a:tblPr>
                <a:tableStyleId>{2D5ABB26-0587-4C30-8999-92F81FD0307C}</a:tableStyleId>
              </a:tblPr>
              <a:tblGrid>
                <a:gridCol w="245745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8286750">
                  <a:extLst>
                    <a:ext uri="{9D8B030D-6E8A-4147-A177-3AD203B41FA5}">
                      <a16:colId xmlns:a16="http://schemas.microsoft.com/office/drawing/2014/main" val="20002"/>
                    </a:ext>
                  </a:extLst>
                </a:gridCol>
              </a:tblGrid>
              <a:tr h="502920">
                <a:tc gridSpan="2">
                  <a:txBody>
                    <a:bodyPr/>
                    <a:lstStyle/>
                    <a:p>
                      <a:pPr algn="ctr"/>
                      <a:r>
                        <a:rPr sz="1450" b="1" dirty="0" err="1">
                          <a:solidFill>
                            <a:srgbClr val="2E3142"/>
                          </a:solidFill>
                          <a:latin typeface="210 OmniGothic 040"/>
                          <a:ea typeface="210 OmniGothic 040"/>
                          <a:cs typeface="210 OmniGothic 040"/>
                        </a:rPr>
                        <a:t>요구사항</a:t>
                      </a:r>
                      <a:r>
                        <a:rPr sz="1450" b="1" dirty="0">
                          <a:solidFill>
                            <a:srgbClr val="2E3142"/>
                          </a:solidFill>
                          <a:latin typeface="210 OmniGothic 040"/>
                          <a:ea typeface="210 OmniGothic 040"/>
                          <a:cs typeface="210 OmniGothic 040"/>
                        </a:rPr>
                        <a:t> </a:t>
                      </a:r>
                      <a:r>
                        <a:rPr sz="1450" b="1" dirty="0" err="1">
                          <a:solidFill>
                            <a:srgbClr val="2E3142"/>
                          </a:solidFill>
                          <a:latin typeface="210 OmniGothic 040"/>
                          <a:ea typeface="210 OmniGothic 040"/>
                          <a:cs typeface="210 OmniGothic 040"/>
                        </a:rPr>
                        <a:t>분류</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r>
                        <a:rPr sz="1450" b="0" dirty="0" err="1">
                          <a:solidFill>
                            <a:srgbClr val="2E3142"/>
                          </a:solidFill>
                          <a:latin typeface="210 OmniGothic 040"/>
                          <a:ea typeface="210 OmniGothic 040"/>
                          <a:cs typeface="210 OmniGothic 040"/>
                        </a:rPr>
                        <a:t>성능</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요구사항</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0"/>
                  </a:ext>
                </a:extLst>
              </a:tr>
              <a:tr h="502920">
                <a:tc gridSpan="2">
                  <a:txBody>
                    <a:bodyPr/>
                    <a:lstStyle/>
                    <a:p>
                      <a:pPr algn="ctr"/>
                      <a:r>
                        <a:rPr sz="1450" b="1" dirty="0" err="1">
                          <a:solidFill>
                            <a:srgbClr val="2E3142"/>
                          </a:solidFill>
                          <a:latin typeface="210 OmniGothic 040"/>
                          <a:ea typeface="210 OmniGothic 040"/>
                          <a:cs typeface="210 OmniGothic 040"/>
                        </a:rPr>
                        <a:t>요구사항</a:t>
                      </a:r>
                      <a:r>
                        <a:rPr sz="1450" b="1" dirty="0">
                          <a:solidFill>
                            <a:srgbClr val="2E3142"/>
                          </a:solidFill>
                          <a:latin typeface="210 OmniGothic 040"/>
                          <a:ea typeface="210 OmniGothic 040"/>
                          <a:cs typeface="210 OmniGothic 040"/>
                        </a:rPr>
                        <a:t> </a:t>
                      </a:r>
                      <a:r>
                        <a:rPr sz="1450" b="1" dirty="0" err="1">
                          <a:solidFill>
                            <a:srgbClr val="2E3142"/>
                          </a:solidFill>
                          <a:latin typeface="210 OmniGothic 040"/>
                          <a:ea typeface="210 OmniGothic 040"/>
                          <a:cs typeface="210 OmniGothic 040"/>
                        </a:rPr>
                        <a:t>고유번호</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r>
                        <a:rPr sz="1450" b="0" dirty="0">
                          <a:solidFill>
                            <a:srgbClr val="2E3142"/>
                          </a:solidFill>
                          <a:latin typeface="210 OmniGothic 040"/>
                          <a:ea typeface="210 OmniGothic 040"/>
                          <a:cs typeface="210 OmniGothic 040"/>
                        </a:rPr>
                        <a:t>PER-003</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1"/>
                  </a:ext>
                </a:extLst>
              </a:tr>
              <a:tr h="502920">
                <a:tc gridSpan="2">
                  <a:txBody>
                    <a:bodyPr/>
                    <a:lstStyle/>
                    <a:p>
                      <a:pPr algn="ctr"/>
                      <a:r>
                        <a:rPr sz="1450" b="1" dirty="0" err="1">
                          <a:solidFill>
                            <a:srgbClr val="2E3142"/>
                          </a:solidFill>
                          <a:latin typeface="210 OmniGothic 040"/>
                          <a:ea typeface="210 OmniGothic 040"/>
                          <a:cs typeface="210 OmniGothic 040"/>
                        </a:rPr>
                        <a:t>요구사항</a:t>
                      </a:r>
                      <a:r>
                        <a:rPr sz="1450" b="1" dirty="0">
                          <a:solidFill>
                            <a:srgbClr val="2E3142"/>
                          </a:solidFill>
                          <a:latin typeface="210 OmniGothic 040"/>
                          <a:ea typeface="210 OmniGothic 040"/>
                          <a:cs typeface="210 OmniGothic 040"/>
                        </a:rPr>
                        <a:t> </a:t>
                      </a:r>
                      <a:r>
                        <a:rPr sz="1450" b="1" dirty="0" err="1">
                          <a:solidFill>
                            <a:srgbClr val="2E3142"/>
                          </a:solidFill>
                          <a:latin typeface="210 OmniGothic 040"/>
                          <a:ea typeface="210 OmniGothic 040"/>
                          <a:cs typeface="210 OmniGothic 040"/>
                        </a:rPr>
                        <a:t>명칭</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r>
                        <a:rPr sz="1450" b="0" dirty="0" err="1">
                          <a:solidFill>
                            <a:srgbClr val="2E3142"/>
                          </a:solidFill>
                          <a:latin typeface="210 OmniGothic 040"/>
                          <a:ea typeface="210 OmniGothic 040"/>
                          <a:cs typeface="210 OmniGothic 040"/>
                        </a:rPr>
                        <a:t>동시</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사용자</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처리</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2"/>
                  </a:ext>
                </a:extLst>
              </a:tr>
              <a:tr h="553212">
                <a:tc rowSpan="2">
                  <a:txBody>
                    <a:bodyPr/>
                    <a:lstStyle/>
                    <a:p>
                      <a:pPr algn="ctr"/>
                      <a:r>
                        <a:rPr sz="1450" b="1" dirty="0">
                          <a:solidFill>
                            <a:srgbClr val="2E3142"/>
                          </a:solidFill>
                          <a:latin typeface="210 OmniGothic 040"/>
                          <a:ea typeface="210 OmniGothic 040"/>
                          <a:cs typeface="210 OmniGothic 040"/>
                        </a:rPr>
                        <a:t>요구사항
</a:t>
                      </a:r>
                      <a:r>
                        <a:rPr sz="1450" b="1" dirty="0" err="1">
                          <a:solidFill>
                            <a:srgbClr val="2E3142"/>
                          </a:solidFill>
                          <a:latin typeface="210 OmniGothic 040"/>
                          <a:ea typeface="210 OmniGothic 040"/>
                          <a:cs typeface="210 OmniGothic 040"/>
                        </a:rPr>
                        <a:t>상세설명</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a:txBody>
                    <a:bodyPr/>
                    <a:lstStyle/>
                    <a:p>
                      <a:pPr algn="ctr"/>
                      <a:r>
                        <a:rPr sz="1450" b="1" dirty="0" err="1">
                          <a:solidFill>
                            <a:srgbClr val="2E3142"/>
                          </a:solidFill>
                          <a:latin typeface="210 OmniGothic 040"/>
                          <a:ea typeface="210 OmniGothic 040"/>
                          <a:cs typeface="210 OmniGothic 040"/>
                        </a:rPr>
                        <a:t>정의</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a:txBody>
                    <a:bodyPr/>
                    <a:lstStyle/>
                    <a:p>
                      <a:pPr algn="l"/>
                      <a:r>
                        <a:rPr sz="1450" b="0" dirty="0">
                          <a:solidFill>
                            <a:srgbClr val="2E3142"/>
                          </a:solidFill>
                          <a:latin typeface="210 OmniGothic 040"/>
                          <a:ea typeface="210 OmniGothic 040"/>
                          <a:cs typeface="210 OmniGothic 040"/>
                        </a:rPr>
                        <a:t>한 </a:t>
                      </a:r>
                      <a:r>
                        <a:rPr sz="1450" b="0" dirty="0" err="1">
                          <a:solidFill>
                            <a:srgbClr val="2E3142"/>
                          </a:solidFill>
                          <a:latin typeface="210 OmniGothic 040"/>
                          <a:ea typeface="210 OmniGothic 040"/>
                          <a:cs typeface="210 OmniGothic 040"/>
                        </a:rPr>
                        <a:t>사건을</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여러</a:t>
                      </a:r>
                      <a:r>
                        <a:rPr sz="1450" b="0" dirty="0">
                          <a:solidFill>
                            <a:srgbClr val="2E3142"/>
                          </a:solidFill>
                          <a:latin typeface="210 OmniGothic 040"/>
                          <a:ea typeface="210 OmniGothic 040"/>
                          <a:cs typeface="210 OmniGothic 040"/>
                        </a:rPr>
                        <a:t> </a:t>
                      </a:r>
                      <a:r>
                        <a:rPr lang="ko-KR" sz="1450" b="0" dirty="0">
                          <a:solidFill>
                            <a:srgbClr val="2E3142"/>
                          </a:solidFill>
                          <a:latin typeface="210 OmniGothic 040"/>
                          <a:ea typeface="210 OmniGothic 040"/>
                          <a:cs typeface="210 OmniGothic 040"/>
                        </a:rPr>
                        <a:t>역할의 사용자가 동시에 </a:t>
                      </a:r>
                      <a:r>
                        <a:rPr lang="ko-KR" altLang="en-US" sz="1450" b="0" dirty="0">
                          <a:solidFill>
                            <a:srgbClr val="2E3142"/>
                          </a:solidFill>
                          <a:latin typeface="210 OmniGothic 040"/>
                          <a:ea typeface="210 OmniGothic 040"/>
                          <a:cs typeface="210 OmniGothic 040"/>
                        </a:rPr>
                        <a:t>사용하는</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상황</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대응</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3"/>
                  </a:ext>
                </a:extLst>
              </a:tr>
              <a:tr h="1609344">
                <a:tc vMerge="1">
                  <a:txBody>
                    <a:bodyPr/>
                    <a:lstStyle/>
                    <a:p>
                      <a:endParaRPr/>
                    </a:p>
                  </a:txBody>
                  <a:tcPr/>
                </a:tc>
                <a:tc>
                  <a:txBody>
                    <a:bodyPr/>
                    <a:lstStyle/>
                    <a:p>
                      <a:pPr algn="ctr"/>
                      <a:r>
                        <a:rPr sz="1450" b="1" dirty="0" err="1">
                          <a:solidFill>
                            <a:srgbClr val="2E3142"/>
                          </a:solidFill>
                          <a:latin typeface="210 OmniGothic 040"/>
                          <a:ea typeface="210 OmniGothic 040"/>
                          <a:cs typeface="210 OmniGothic 040"/>
                        </a:rPr>
                        <a:t>세부</a:t>
                      </a:r>
                      <a:r>
                        <a:rPr sz="1450" b="1" dirty="0">
                          <a:solidFill>
                            <a:srgbClr val="2E3142"/>
                          </a:solidFill>
                          <a:latin typeface="210 OmniGothic 040"/>
                          <a:ea typeface="210 OmniGothic 040"/>
                          <a:cs typeface="210 OmniGothic 040"/>
                        </a:rPr>
                        <a:t> </a:t>
                      </a:r>
                      <a:r>
                        <a:rPr sz="1450" b="1" dirty="0" err="1">
                          <a:solidFill>
                            <a:srgbClr val="2E3142"/>
                          </a:solidFill>
                          <a:latin typeface="210 OmniGothic 040"/>
                          <a:ea typeface="210 OmniGothic 040"/>
                          <a:cs typeface="210 OmniGothic 040"/>
                        </a:rPr>
                        <a:t>내용</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a:txBody>
                    <a:bodyPr/>
                    <a:lstStyle/>
                    <a:p>
                      <a:pPr lvl="0" algn="l">
                        <a:lnSpc>
                          <a:spcPct val="100000"/>
                        </a:lnSpc>
                        <a:spcBef>
                          <a:spcPts val="0"/>
                        </a:spcBef>
                        <a:spcAft>
                          <a:spcPts val="0"/>
                        </a:spcAft>
                        <a:buNone/>
                      </a:pPr>
                      <a:r>
                        <a:rPr lang="en-US" sz="1450" b="0" i="0" u="none" strike="noStrike" noProof="0" dirty="0">
                          <a:solidFill>
                            <a:srgbClr val="2E3142"/>
                          </a:solidFill>
                          <a:latin typeface="210 OmniGothic 040"/>
                          <a:ea typeface="210 OmniGothic 040"/>
                        </a:rPr>
                        <a:t>1. </a:t>
                      </a:r>
                      <a:r>
                        <a:rPr lang="en-US" sz="1450" b="0" i="0" u="none" strike="noStrike" noProof="0" dirty="0" err="1">
                          <a:solidFill>
                            <a:srgbClr val="2E3142"/>
                          </a:solidFill>
                          <a:latin typeface="210 OmniGothic 040"/>
                          <a:ea typeface="210 OmniGothic 040"/>
                        </a:rPr>
                        <a:t>통합지휘권자</a:t>
                      </a:r>
                      <a:r>
                        <a:rPr lang="en-US" sz="1450" b="0" i="0" u="none" strike="noStrike" noProof="0" dirty="0">
                          <a:solidFill>
                            <a:srgbClr val="2E3142"/>
                          </a:solidFill>
                          <a:latin typeface="210 OmniGothic 040"/>
                          <a:ea typeface="210 OmniGothic 040"/>
                        </a:rPr>
                        <a:t> 1</a:t>
                      </a:r>
                      <a:r>
                        <a:rPr lang="ko-KR" altLang="en-US" sz="1450" b="0" i="0" u="none" strike="noStrike" noProof="0" dirty="0">
                          <a:solidFill>
                            <a:srgbClr val="2E3142"/>
                          </a:solidFill>
                          <a:latin typeface="210 OmniGothic 040"/>
                          <a:ea typeface="210 OmniGothic 040"/>
                        </a:rPr>
                        <a:t>명과</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열람자</a:t>
                      </a:r>
                      <a:r>
                        <a:rPr lang="en-US" sz="1450" b="0" i="0" u="none" strike="noStrike" noProof="0" dirty="0">
                          <a:solidFill>
                            <a:srgbClr val="2E3142"/>
                          </a:solidFill>
                          <a:latin typeface="210 OmniGothic 040"/>
                          <a:ea typeface="210 OmniGothic 040"/>
                        </a:rPr>
                        <a:t>·</a:t>
                      </a:r>
                      <a:r>
                        <a:rPr lang="ko-KR" altLang="en-US" sz="1450" b="0" i="0" u="none" strike="noStrike" noProof="0" dirty="0">
                          <a:solidFill>
                            <a:srgbClr val="2E3142"/>
                          </a:solidFill>
                          <a:latin typeface="210 OmniGothic 040"/>
                          <a:ea typeface="210 OmniGothic 040"/>
                        </a:rPr>
                        <a:t>상황 보고자</a:t>
                      </a:r>
                      <a:r>
                        <a:rPr lang="en-US" altLang="ko-KR" sz="1450" b="0" i="0" u="none" strike="noStrike" noProof="0" dirty="0">
                          <a:solidFill>
                            <a:srgbClr val="2E3142"/>
                          </a:solidFill>
                          <a:latin typeface="210 OmniGothic 040"/>
                          <a:ea typeface="210 OmniGothic 040"/>
                        </a:rPr>
                        <a:t> </a:t>
                      </a:r>
                      <a:r>
                        <a:rPr lang="en-US" sz="1450" b="0" i="0" u="none" strike="noStrike" noProof="0" dirty="0" err="1">
                          <a:solidFill>
                            <a:srgbClr val="2E3142"/>
                          </a:solidFill>
                          <a:latin typeface="210 OmniGothic 040"/>
                          <a:ea typeface="210 OmniGothic 040"/>
                        </a:rPr>
                        <a:t>다수</a:t>
                      </a:r>
                      <a:r>
                        <a:rPr lang="en-US" sz="1450" b="0" i="0" u="none" strike="noStrike" noProof="0" dirty="0">
                          <a:solidFill>
                            <a:srgbClr val="2E3142"/>
                          </a:solidFill>
                          <a:latin typeface="210 OmniGothic 040"/>
                          <a:ea typeface="210 OmniGothic 040"/>
                        </a:rPr>
                        <a:t> </a:t>
                      </a:r>
                      <a:r>
                        <a:rPr lang="en-US" sz="1450" b="0" i="0" u="none" strike="noStrike" noProof="0" dirty="0" err="1">
                          <a:solidFill>
                            <a:srgbClr val="2E3142"/>
                          </a:solidFill>
                          <a:latin typeface="210 OmniGothic 040"/>
                          <a:ea typeface="210 OmniGothic 040"/>
                        </a:rPr>
                        <a:t>동시</a:t>
                      </a:r>
                      <a:r>
                        <a:rPr lang="en-US" sz="1450" b="0" i="0" u="none" strike="noStrike" noProof="0" dirty="0">
                          <a:solidFill>
                            <a:srgbClr val="2E3142"/>
                          </a:solidFill>
                          <a:latin typeface="210 OmniGothic 040"/>
                          <a:ea typeface="210 OmniGothic 040"/>
                        </a:rPr>
                        <a:t> </a:t>
                      </a:r>
                      <a:r>
                        <a:rPr lang="en-US" sz="1450" b="0" i="0" u="none" strike="noStrike" noProof="0" dirty="0" err="1">
                          <a:solidFill>
                            <a:srgbClr val="2E3142"/>
                          </a:solidFill>
                          <a:latin typeface="210 OmniGothic 040"/>
                          <a:ea typeface="210 OmniGothic 040"/>
                        </a:rPr>
                        <a:t>접속</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가능</a:t>
                      </a:r>
                      <a:endParaRPr sz="1450" b="0" dirty="0">
                        <a:solidFill>
                          <a:srgbClr val="2E3142"/>
                        </a:solidFill>
                        <a:latin typeface="210 OmniGothic 040"/>
                        <a:ea typeface="210 OmniGothic 040"/>
                        <a:cs typeface="210 OmniGothic 040"/>
                      </a:endParaRPr>
                    </a:p>
                    <a:p>
                      <a:pPr lvl="0" algn="l">
                        <a:lnSpc>
                          <a:spcPct val="100000"/>
                        </a:lnSpc>
                        <a:spcBef>
                          <a:spcPts val="0"/>
                        </a:spcBef>
                        <a:spcAft>
                          <a:spcPts val="0"/>
                        </a:spcAft>
                        <a:buNone/>
                      </a:pPr>
                      <a:r>
                        <a:rPr lang="en-US" sz="1450" b="0" i="0" u="none" strike="noStrike" noProof="0" dirty="0">
                          <a:solidFill>
                            <a:srgbClr val="2E3142"/>
                          </a:solidFill>
                          <a:latin typeface="210 OmniGothic 040"/>
                          <a:ea typeface="210 OmniGothic 040"/>
                        </a:rPr>
                        <a:t>2. </a:t>
                      </a:r>
                      <a:r>
                        <a:rPr lang="ko-KR" altLang="en-US" sz="1450" b="0" i="0" u="none" strike="noStrike" noProof="0" dirty="0">
                          <a:solidFill>
                            <a:srgbClr val="2E3142"/>
                          </a:solidFill>
                          <a:latin typeface="210 OmniGothic 040"/>
                          <a:ea typeface="210 OmniGothic 040"/>
                        </a:rPr>
                        <a:t>조회</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요청은</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병행</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처리</a:t>
                      </a:r>
                      <a:endParaRPr lang="ko-KR" dirty="0">
                        <a:latin typeface="210 OmniGothic 040"/>
                        <a:ea typeface="210 OmniGothic 040"/>
                      </a:endParaRPr>
                    </a:p>
                    <a:p>
                      <a:pPr lvl="0" algn="l">
                        <a:lnSpc>
                          <a:spcPct val="110000"/>
                        </a:lnSpc>
                        <a:buNone/>
                      </a:pPr>
                      <a:r>
                        <a:rPr lang="en-US" sz="1450" b="0" i="0" u="none" strike="noStrike" noProof="0" dirty="0">
                          <a:solidFill>
                            <a:srgbClr val="2E3142"/>
                          </a:solidFill>
                          <a:latin typeface="210 OmniGothic 040"/>
                          <a:ea typeface="210 OmniGothic 040"/>
                        </a:rPr>
                        <a:t>3.</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동일</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사건의</a:t>
                      </a:r>
                      <a:r>
                        <a:rPr lang="en-US" altLang="ko-KR" sz="1450" b="0" i="0" u="none" strike="noStrike" noProof="0" dirty="0">
                          <a:solidFill>
                            <a:srgbClr val="2E3142"/>
                          </a:solidFill>
                          <a:latin typeface="210 OmniGothic 040"/>
                          <a:ea typeface="210 OmniGothic 040"/>
                        </a:rPr>
                        <a:t> </a:t>
                      </a:r>
                      <a:r>
                        <a:rPr lang="en-US" sz="1450" b="0" i="0" u="none" strike="noStrike" noProof="0" dirty="0" err="1">
                          <a:solidFill>
                            <a:srgbClr val="2E3142"/>
                          </a:solidFill>
                          <a:latin typeface="210 OmniGothic 040"/>
                          <a:ea typeface="210 OmniGothic 040"/>
                        </a:rPr>
                        <a:t>예측</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실행</a:t>
                      </a:r>
                      <a:r>
                        <a:rPr lang="en-US" sz="1450" b="0" i="0" u="none" strike="noStrike" noProof="0" dirty="0">
                          <a:solidFill>
                            <a:srgbClr val="2E3142"/>
                          </a:solidFill>
                          <a:latin typeface="210 OmniGothic 040"/>
                          <a:ea typeface="210 OmniGothic 040"/>
                        </a:rPr>
                        <a:t>·</a:t>
                      </a:r>
                      <a:r>
                        <a:rPr lang="en-US" sz="1450" b="0" i="0" u="none" strike="noStrike" noProof="0" dirty="0" err="1">
                          <a:solidFill>
                            <a:srgbClr val="2E3142"/>
                          </a:solidFill>
                          <a:latin typeface="210 OmniGothic 040"/>
                          <a:ea typeface="210 OmniGothic 040"/>
                        </a:rPr>
                        <a:t>제안</a:t>
                      </a:r>
                      <a:r>
                        <a:rPr lang="en-US" sz="1450" b="0" i="0" u="none" strike="noStrike" noProof="0" dirty="0">
                          <a:solidFill>
                            <a:srgbClr val="2E3142"/>
                          </a:solidFill>
                          <a:latin typeface="210 OmniGothic 040"/>
                          <a:ea typeface="210 OmniGothic 040"/>
                        </a:rPr>
                        <a:t> </a:t>
                      </a:r>
                      <a:r>
                        <a:rPr lang="en-US" sz="1450" b="0" i="0" u="none" strike="noStrike" noProof="0" dirty="0" err="1">
                          <a:solidFill>
                            <a:srgbClr val="2E3142"/>
                          </a:solidFill>
                          <a:latin typeface="210 OmniGothic 040"/>
                          <a:ea typeface="210 OmniGothic 040"/>
                        </a:rPr>
                        <a:t>생성</a:t>
                      </a:r>
                      <a:r>
                        <a:rPr lang="en-US" sz="1450" b="0" i="0" u="none" strike="noStrike" noProof="0" dirty="0">
                          <a:solidFill>
                            <a:srgbClr val="2E3142"/>
                          </a:solidFill>
                          <a:latin typeface="210 OmniGothic 040"/>
                          <a:ea typeface="210 OmniGothic 040"/>
                        </a:rPr>
                        <a:t>·</a:t>
                      </a:r>
                      <a:r>
                        <a:rPr lang="ko-KR" altLang="en-US" sz="1450" b="0" i="0" u="none" strike="noStrike" noProof="0" dirty="0">
                          <a:solidFill>
                            <a:srgbClr val="2E3142"/>
                          </a:solidFill>
                          <a:latin typeface="210 OmniGothic 040"/>
                          <a:ea typeface="210 OmniGothic 040"/>
                        </a:rPr>
                        <a:t>상황</a:t>
                      </a:r>
                      <a:r>
                        <a:rPr lang="en-US" altLang="ko-KR" sz="1450" b="0" i="0" u="none" strike="noStrike" noProof="0" dirty="0">
                          <a:solidFill>
                            <a:srgbClr val="2E3142"/>
                          </a:solidFill>
                          <a:latin typeface="210 OmniGothic 040"/>
                          <a:ea typeface="210 OmniGothic 040"/>
                        </a:rPr>
                        <a:t> </a:t>
                      </a:r>
                      <a:r>
                        <a:rPr lang="en-US" sz="1450" b="0" i="0" u="none" strike="noStrike" noProof="0" dirty="0" err="1">
                          <a:solidFill>
                            <a:srgbClr val="2E3142"/>
                          </a:solidFill>
                          <a:latin typeface="210 OmniGothic 040"/>
                          <a:ea typeface="210 OmniGothic 040"/>
                        </a:rPr>
                        <a:t>정정</a:t>
                      </a:r>
                      <a:r>
                        <a:rPr lang="en-US" sz="1450" b="0" i="0" u="none" strike="noStrike" noProof="0" dirty="0">
                          <a:solidFill>
                            <a:srgbClr val="2E3142"/>
                          </a:solidFill>
                          <a:latin typeface="210 OmniGothic 040"/>
                          <a:ea typeface="210 OmniGothic 040"/>
                        </a:rPr>
                        <a:t> </a:t>
                      </a:r>
                      <a:r>
                        <a:rPr lang="en-US" sz="1450" b="0" i="0" u="none" strike="noStrike" noProof="0" dirty="0" err="1">
                          <a:solidFill>
                            <a:srgbClr val="2E3142"/>
                          </a:solidFill>
                          <a:latin typeface="210 OmniGothic 040"/>
                          <a:ea typeface="210 OmniGothic 040"/>
                        </a:rPr>
                        <a:t>재생성은</a:t>
                      </a:r>
                      <a:r>
                        <a:rPr lang="en-US" sz="1450" b="0" i="0" u="none" strike="noStrike" noProof="0" dirty="0">
                          <a:solidFill>
                            <a:srgbClr val="2E3142"/>
                          </a:solidFill>
                          <a:latin typeface="210 OmniGothic 040"/>
                          <a:ea typeface="210 OmniGothic 040"/>
                        </a:rPr>
                        <a:t> </a:t>
                      </a:r>
                      <a:r>
                        <a:rPr lang="en-US" sz="1450" b="0" i="0" u="none" strike="noStrike" noProof="0" dirty="0" err="1">
                          <a:solidFill>
                            <a:srgbClr val="2E3142"/>
                          </a:solidFill>
                          <a:latin typeface="210 OmniGothic 040"/>
                          <a:ea typeface="210 OmniGothic 040"/>
                        </a:rPr>
                        <a:t>중복</a:t>
                      </a:r>
                      <a:r>
                        <a:rPr lang="en-US"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실행되지</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않도록</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제어</a:t>
                      </a:r>
                      <a:endParaRPr dirty="0">
                        <a:latin typeface="210 OmniGothic 040"/>
                        <a:ea typeface="210 OmniGothic 040"/>
                      </a:endParaRP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4"/>
                  </a:ext>
                </a:extLst>
              </a:tr>
              <a:tr h="502920">
                <a:tc gridSpan="2">
                  <a:txBody>
                    <a:bodyPr/>
                    <a:lstStyle/>
                    <a:p>
                      <a:pPr algn="ctr"/>
                      <a:r>
                        <a:rPr sz="1450" b="1" dirty="0" err="1">
                          <a:solidFill>
                            <a:srgbClr val="2E3142"/>
                          </a:solidFill>
                          <a:latin typeface="210 OmniGothic 040"/>
                          <a:ea typeface="210 OmniGothic 040"/>
                          <a:cs typeface="210 OmniGothic 040"/>
                        </a:rPr>
                        <a:t>산출정보</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endParaRP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5"/>
                  </a:ext>
                </a:extLst>
              </a:tr>
              <a:tr h="502920">
                <a:tc gridSpan="2">
                  <a:txBody>
                    <a:bodyPr/>
                    <a:lstStyle/>
                    <a:p>
                      <a:pPr algn="ctr"/>
                      <a:r>
                        <a:rPr sz="1450" b="1" dirty="0" err="1">
                          <a:solidFill>
                            <a:srgbClr val="2E3142"/>
                          </a:solidFill>
                          <a:latin typeface="210 OmniGothic 040"/>
                          <a:ea typeface="210 OmniGothic 040"/>
                          <a:cs typeface="210 OmniGothic 040"/>
                        </a:rPr>
                        <a:t>관련</a:t>
                      </a:r>
                      <a:r>
                        <a:rPr sz="1450" b="1" dirty="0">
                          <a:solidFill>
                            <a:srgbClr val="2E3142"/>
                          </a:solidFill>
                          <a:latin typeface="210 OmniGothic 040"/>
                          <a:ea typeface="210 OmniGothic 040"/>
                          <a:cs typeface="210 OmniGothic 040"/>
                        </a:rPr>
                        <a:t> </a:t>
                      </a:r>
                      <a:r>
                        <a:rPr sz="1450" b="1" dirty="0" err="1">
                          <a:solidFill>
                            <a:srgbClr val="2E3142"/>
                          </a:solidFill>
                          <a:latin typeface="210 OmniGothic 040"/>
                          <a:ea typeface="210 OmniGothic 040"/>
                          <a:cs typeface="210 OmniGothic 040"/>
                        </a:rPr>
                        <a:t>요구사항</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r>
                        <a:rPr sz="1450" b="0" dirty="0">
                          <a:solidFill>
                            <a:srgbClr val="2E3142"/>
                          </a:solidFill>
                          <a:latin typeface="210 OmniGothic 040"/>
                          <a:ea typeface="210 OmniGothic 040"/>
                          <a:cs typeface="210 OmniGothic 040"/>
                        </a:rPr>
                        <a:t>PER-001</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6"/>
                  </a:ext>
                </a:extLst>
              </a:tr>
              <a:tr h="502920">
                <a:tc gridSpan="2">
                  <a:txBody>
                    <a:bodyPr/>
                    <a:lstStyle/>
                    <a:p>
                      <a:pPr algn="ctr"/>
                      <a:r>
                        <a:rPr sz="1450" b="1" dirty="0" err="1">
                          <a:solidFill>
                            <a:srgbClr val="2E3142"/>
                          </a:solidFill>
                          <a:latin typeface="210 OmniGothic 040"/>
                          <a:ea typeface="210 OmniGothic 040"/>
                          <a:cs typeface="210 OmniGothic 040"/>
                        </a:rPr>
                        <a:t>요구사항</a:t>
                      </a:r>
                      <a:r>
                        <a:rPr sz="1450" b="1" dirty="0">
                          <a:solidFill>
                            <a:srgbClr val="2E3142"/>
                          </a:solidFill>
                          <a:latin typeface="210 OmniGothic 040"/>
                          <a:ea typeface="210 OmniGothic 040"/>
                          <a:cs typeface="210 OmniGothic 040"/>
                        </a:rPr>
                        <a:t> </a:t>
                      </a:r>
                      <a:r>
                        <a:rPr sz="1450" b="1" dirty="0" err="1">
                          <a:solidFill>
                            <a:srgbClr val="2E3142"/>
                          </a:solidFill>
                          <a:latin typeface="210 OmniGothic 040"/>
                          <a:ea typeface="210 OmniGothic 040"/>
                          <a:cs typeface="210 OmniGothic 040"/>
                        </a:rPr>
                        <a:t>출처</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r>
                        <a:rPr sz="1450" b="0" dirty="0" err="1">
                          <a:solidFill>
                            <a:srgbClr val="2E3142"/>
                          </a:solidFill>
                          <a:latin typeface="210 OmniGothic 040"/>
                          <a:ea typeface="210 OmniGothic 040"/>
                          <a:cs typeface="210 OmniGothic 040"/>
                        </a:rPr>
                        <a:t>성능</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요구사항</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41"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2700" y="-12700"/>
            <a:ext cx="18313400" cy="1638300"/>
          </a:xfrm>
          <a:prstGeom prst="rect">
            <a:avLst/>
          </a:prstGeom>
        </p:spPr>
      </p:pic>
      <p:pic>
        <p:nvPicPr>
          <p:cNvPr id="5442"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628" y="1618343"/>
            <a:ext cx="18313400" cy="8699500"/>
          </a:xfrm>
          <a:prstGeom prst="rect">
            <a:avLst/>
          </a:prstGeom>
        </p:spPr>
      </p:pic>
      <p:pic>
        <p:nvPicPr>
          <p:cNvPr id="5443"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58800" y="9271000"/>
            <a:ext cx="17170400" cy="50800"/>
          </a:xfrm>
          <a:prstGeom prst="rect">
            <a:avLst/>
          </a:prstGeom>
        </p:spPr>
      </p:pic>
      <p:pic>
        <p:nvPicPr>
          <p:cNvPr id="5444" name="Picture 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278100" y="203200"/>
            <a:ext cx="1676400" cy="1409700"/>
          </a:xfrm>
          <a:prstGeom prst="rect">
            <a:avLst/>
          </a:prstGeom>
        </p:spPr>
      </p:pic>
      <p:sp>
        <p:nvSpPr>
          <p:cNvPr id="5445" name="Title"/>
          <p:cNvSpPr txBox="1"/>
          <p:nvPr/>
        </p:nvSpPr>
        <p:spPr>
          <a:xfrm>
            <a:off x="822960" y="384048"/>
            <a:ext cx="13258800" cy="877824"/>
          </a:xfrm>
          <a:prstGeom prst="rect">
            <a:avLst/>
          </a:prstGeom>
          <a:noFill/>
        </p:spPr>
        <p:txBody>
          <a:bodyPr wrap="square" lIns="0" tIns="0" rIns="0" bIns="0" anchor="ctr">
            <a:spAutoFit/>
          </a:bodyPr>
          <a:lstStyle/>
          <a:p>
            <a:pPr algn="l"/>
            <a:r>
              <a:rPr sz="4400" b="0">
                <a:solidFill>
                  <a:srgbClr val="FAA95A"/>
                </a:solidFill>
                <a:latin typeface="210 OmniGothic 050"/>
                <a:ea typeface="210 OmniGothic 050"/>
                <a:cs typeface="210 OmniGothic 050"/>
              </a:rPr>
              <a:t>07. 비기능 요구사항</a:t>
            </a:r>
          </a:p>
        </p:txBody>
      </p:sp>
      <p:sp>
        <p:nvSpPr>
          <p:cNvPr id="5446" name="Subtitle"/>
          <p:cNvSpPr txBox="1"/>
          <p:nvPr/>
        </p:nvSpPr>
        <p:spPr>
          <a:xfrm>
            <a:off x="822960" y="1764792"/>
            <a:ext cx="16642080" cy="502920"/>
          </a:xfrm>
          <a:prstGeom prst="rect">
            <a:avLst/>
          </a:prstGeom>
          <a:noFill/>
        </p:spPr>
        <p:txBody>
          <a:bodyPr wrap="square" lIns="0" tIns="0" rIns="0" bIns="0" anchor="ctr">
            <a:spAutoFit/>
          </a:bodyPr>
          <a:lstStyle/>
          <a:p>
            <a:pPr algn="ctr"/>
            <a:r>
              <a:rPr sz="2600" b="1">
                <a:solidFill>
                  <a:srgbClr val="363A52"/>
                </a:solidFill>
                <a:latin typeface="210 OmniGothic 040"/>
                <a:ea typeface="210 OmniGothic 040"/>
                <a:cs typeface="210 OmniGothic 040"/>
              </a:rPr>
              <a:t>보안 요구사항</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sz="quarter" idx="12"/>
          </p:nvPr>
        </p:nvSpPr>
        <p:spPr/>
        <p:txBody>
          <a:bodyPr/>
          <a:lstStyle/>
          <a:p>
            <a:fld id="{B6F15528-21DE-4FAA-801E-634DDDAF4B2B}" type="slidenum">
              <a:rPr lang="en-US" smtClean="0"/>
              <a:pPr/>
              <a:t>89</a:t>
            </a:fld>
            <a:endParaRPr lang="en-US"/>
          </a:p>
        </p:txBody>
      </p:sp>
      <p:graphicFrame>
        <p:nvGraphicFramePr>
          <p:cNvPr id="5447" name="Table 5446"/>
          <p:cNvGraphicFramePr>
            <a:graphicFrameLocks noGrp="1"/>
          </p:cNvGraphicFramePr>
          <p:nvPr/>
        </p:nvGraphicFramePr>
        <p:xfrm>
          <a:off x="2880360" y="2546604"/>
          <a:ext cx="12344400" cy="5501944"/>
        </p:xfrm>
        <a:graphic>
          <a:graphicData uri="http://schemas.openxmlformats.org/drawingml/2006/table">
            <a:tbl>
              <a:tblPr>
                <a:tableStyleId>{2D5ABB26-0587-4C30-8999-92F81FD0307C}</a:tableStyleId>
              </a:tblPr>
              <a:tblGrid>
                <a:gridCol w="245745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8286750">
                  <a:extLst>
                    <a:ext uri="{9D8B030D-6E8A-4147-A177-3AD203B41FA5}">
                      <a16:colId xmlns:a16="http://schemas.microsoft.com/office/drawing/2014/main" val="20002"/>
                    </a:ext>
                  </a:extLst>
                </a:gridCol>
              </a:tblGrid>
              <a:tr h="502920">
                <a:tc gridSpan="2">
                  <a:txBody>
                    <a:bodyPr/>
                    <a:lstStyle/>
                    <a:p>
                      <a:pPr algn="ctr"/>
                      <a:r>
                        <a:rPr sz="1450" b="1" dirty="0">
                          <a:solidFill>
                            <a:srgbClr val="2E3142"/>
                          </a:solidFill>
                          <a:latin typeface="210 OmniGothic 040"/>
                          <a:ea typeface="210 OmniGothic 040"/>
                          <a:cs typeface="210 OmniGothic 040"/>
                        </a:rPr>
                        <a:t>요구사항 분류</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r>
                        <a:rPr sz="1450" b="0" dirty="0">
                          <a:solidFill>
                            <a:srgbClr val="2E3142"/>
                          </a:solidFill>
                          <a:latin typeface="210 OmniGothic 040"/>
                          <a:ea typeface="210 OmniGothic 040"/>
                          <a:cs typeface="210 OmniGothic 040"/>
                        </a:rPr>
                        <a:t>보안 요구사항</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0"/>
                  </a:ext>
                </a:extLst>
              </a:tr>
              <a:tr h="502920">
                <a:tc gridSpan="2">
                  <a:txBody>
                    <a:bodyPr/>
                    <a:lstStyle/>
                    <a:p>
                      <a:pPr algn="ctr"/>
                      <a:r>
                        <a:rPr sz="1450" b="1" dirty="0">
                          <a:solidFill>
                            <a:srgbClr val="2E3142"/>
                          </a:solidFill>
                          <a:latin typeface="210 OmniGothic 040"/>
                          <a:ea typeface="210 OmniGothic 040"/>
                          <a:cs typeface="210 OmniGothic 040"/>
                        </a:rPr>
                        <a:t>요구사항 고유번호</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r>
                        <a:rPr sz="1450" b="0" dirty="0">
                          <a:solidFill>
                            <a:srgbClr val="2E3142"/>
                          </a:solidFill>
                          <a:latin typeface="210 OmniGothic 040"/>
                          <a:ea typeface="210 OmniGothic 040"/>
                          <a:cs typeface="210 OmniGothic 040"/>
                        </a:rPr>
                        <a:t>SER-001</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1"/>
                  </a:ext>
                </a:extLst>
              </a:tr>
              <a:tr h="502920">
                <a:tc gridSpan="2">
                  <a:txBody>
                    <a:bodyPr/>
                    <a:lstStyle/>
                    <a:p>
                      <a:pPr algn="ctr"/>
                      <a:r>
                        <a:rPr sz="1450" b="1" dirty="0">
                          <a:solidFill>
                            <a:srgbClr val="2E3142"/>
                          </a:solidFill>
                          <a:latin typeface="210 OmniGothic 040"/>
                          <a:ea typeface="210 OmniGothic 040"/>
                          <a:cs typeface="210 OmniGothic 040"/>
                        </a:rPr>
                        <a:t>요구사항 명칭</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r>
                        <a:rPr sz="1450" b="0" dirty="0">
                          <a:solidFill>
                            <a:srgbClr val="2E3142"/>
                          </a:solidFill>
                          <a:latin typeface="210 OmniGothic 040"/>
                          <a:ea typeface="210 OmniGothic 040"/>
                          <a:cs typeface="210 OmniGothic 040"/>
                        </a:rPr>
                        <a:t>사용자 인증 및 접근 제어</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2"/>
                  </a:ext>
                </a:extLst>
              </a:tr>
              <a:tr h="553212">
                <a:tc rowSpan="2">
                  <a:txBody>
                    <a:bodyPr/>
                    <a:lstStyle/>
                    <a:p>
                      <a:pPr algn="ctr"/>
                      <a:r>
                        <a:rPr sz="1450" b="1" dirty="0">
                          <a:solidFill>
                            <a:srgbClr val="2E3142"/>
                          </a:solidFill>
                          <a:latin typeface="210 OmniGothic 040"/>
                          <a:ea typeface="210 OmniGothic 040"/>
                          <a:cs typeface="210 OmniGothic 040"/>
                        </a:rPr>
                        <a:t>요구사항
상세설명</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a:txBody>
                    <a:bodyPr/>
                    <a:lstStyle/>
                    <a:p>
                      <a:pPr algn="ctr"/>
                      <a:r>
                        <a:rPr sz="1450" b="1" dirty="0">
                          <a:solidFill>
                            <a:srgbClr val="2E3142"/>
                          </a:solidFill>
                          <a:latin typeface="210 OmniGothic 040"/>
                          <a:ea typeface="210 OmniGothic 040"/>
                          <a:cs typeface="210 OmniGothic 040"/>
                        </a:rPr>
                        <a:t>정의</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a:txBody>
                    <a:bodyPr/>
                    <a:lstStyle/>
                    <a:p>
                      <a:pPr algn="l"/>
                      <a:r>
                        <a:rPr sz="1450" b="0" dirty="0">
                          <a:solidFill>
                            <a:srgbClr val="2E3142"/>
                          </a:solidFill>
                          <a:latin typeface="210 OmniGothic 040"/>
                          <a:ea typeface="210 OmniGothic 040"/>
                          <a:cs typeface="210 OmniGothic 040"/>
                        </a:rPr>
                        <a:t>발급 계정 기반 인증과 사용자 구분별 권한 통제</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3"/>
                  </a:ext>
                </a:extLst>
              </a:tr>
              <a:tr h="1931212">
                <a:tc vMerge="1">
                  <a:txBody>
                    <a:bodyPr/>
                    <a:lstStyle/>
                    <a:p>
                      <a:endParaRPr/>
                    </a:p>
                  </a:txBody>
                  <a:tcPr/>
                </a:tc>
                <a:tc>
                  <a:txBody>
                    <a:bodyPr/>
                    <a:lstStyle/>
                    <a:p>
                      <a:pPr algn="ctr"/>
                      <a:r>
                        <a:rPr sz="1450" b="1" dirty="0">
                          <a:solidFill>
                            <a:srgbClr val="2E3142"/>
                          </a:solidFill>
                          <a:latin typeface="210 OmniGothic 040"/>
                          <a:ea typeface="210 OmniGothic 040"/>
                          <a:cs typeface="210 OmniGothic 040"/>
                        </a:rPr>
                        <a:t>세부 내용</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a:txBody>
                    <a:bodyPr/>
                    <a:lstStyle/>
                    <a:p>
                      <a:pPr lvl="0" algn="l">
                        <a:lnSpc>
                          <a:spcPct val="100000"/>
                        </a:lnSpc>
                        <a:spcBef>
                          <a:spcPts val="0"/>
                        </a:spcBef>
                        <a:spcAft>
                          <a:spcPts val="0"/>
                        </a:spcAft>
                        <a:buNone/>
                      </a:pPr>
                      <a:r>
                        <a:rPr lang="en-US" sz="1450" b="0" i="0" u="none" strike="noStrike" noProof="0" dirty="0">
                          <a:solidFill>
                            <a:srgbClr val="2E3142"/>
                          </a:solidFill>
                          <a:latin typeface="210 OmniGothic 040"/>
                          <a:ea typeface="210 OmniGothic 040"/>
                        </a:rPr>
                        <a:t>1. </a:t>
                      </a:r>
                      <a:r>
                        <a:rPr lang="ko-KR" altLang="en-US" sz="1450" b="0" i="0" u="none" strike="noStrike" noProof="0" dirty="0">
                          <a:solidFill>
                            <a:srgbClr val="2E3142"/>
                          </a:solidFill>
                          <a:latin typeface="210 OmniGothic 040"/>
                          <a:ea typeface="210 OmniGothic 040"/>
                        </a:rPr>
                        <a:t>발급</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계정</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기반</a:t>
                      </a:r>
                      <a:r>
                        <a:rPr lang="en-US"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로그인</a:t>
                      </a:r>
                      <a:endParaRPr lang="ko-KR" altLang="en-US" dirty="0">
                        <a:latin typeface="210 OmniGothic 040"/>
                        <a:ea typeface="210 OmniGothic 040"/>
                      </a:endParaRPr>
                    </a:p>
                    <a:p>
                      <a:pPr lvl="0" algn="l">
                        <a:lnSpc>
                          <a:spcPct val="100000"/>
                        </a:lnSpc>
                        <a:spcBef>
                          <a:spcPts val="0"/>
                        </a:spcBef>
                        <a:spcAft>
                          <a:spcPts val="0"/>
                        </a:spcAft>
                        <a:buNone/>
                      </a:pPr>
                      <a:r>
                        <a:rPr lang="en-US" sz="1450" b="0" i="0" u="none" strike="noStrike" noProof="0" dirty="0">
                          <a:solidFill>
                            <a:srgbClr val="2E3142"/>
                          </a:solidFill>
                          <a:latin typeface="210 OmniGothic 040"/>
                          <a:ea typeface="210 OmniGothic 040"/>
                        </a:rPr>
                        <a:t>2. </a:t>
                      </a:r>
                      <a:r>
                        <a:rPr lang="en-US" sz="1450" b="0" i="0" u="none" strike="noStrike" noProof="0" dirty="0" err="1">
                          <a:solidFill>
                            <a:srgbClr val="2E3142"/>
                          </a:solidFill>
                          <a:latin typeface="210 OmniGothic 040"/>
                          <a:ea typeface="210 OmniGothic 040"/>
                        </a:rPr>
                        <a:t>통합지휘권자</a:t>
                      </a:r>
                      <a:r>
                        <a:rPr lang="en-US" sz="1450" b="0" i="0" u="none" strike="noStrike" noProof="0" dirty="0">
                          <a:solidFill>
                            <a:srgbClr val="2E3142"/>
                          </a:solidFill>
                          <a:latin typeface="210 OmniGothic 040"/>
                          <a:ea typeface="210 OmniGothic 040"/>
                        </a:rPr>
                        <a:t>: </a:t>
                      </a:r>
                      <a:r>
                        <a:rPr lang="en-US" sz="1450" b="0" i="0" u="none" strike="noStrike" noProof="0" dirty="0" err="1">
                          <a:solidFill>
                            <a:srgbClr val="2E3142"/>
                          </a:solidFill>
                          <a:latin typeface="210 OmniGothic 040"/>
                          <a:ea typeface="210 OmniGothic 040"/>
                        </a:rPr>
                        <a:t>조작+열람</a:t>
                      </a:r>
                      <a:endParaRPr lang="en-US" altLang="ko-KR" i="0" u="none" strike="noStrike" noProof="0" dirty="0" err="1">
                        <a:latin typeface="210 OmniGothic 040"/>
                        <a:ea typeface="210 OmniGothic 040"/>
                      </a:endParaRPr>
                    </a:p>
                    <a:p>
                      <a:pPr lvl="0" algn="l">
                        <a:lnSpc>
                          <a:spcPct val="100000"/>
                        </a:lnSpc>
                        <a:spcBef>
                          <a:spcPts val="0"/>
                        </a:spcBef>
                        <a:spcAft>
                          <a:spcPts val="0"/>
                        </a:spcAft>
                        <a:buNone/>
                      </a:pPr>
                      <a:r>
                        <a:rPr lang="en-US" sz="1450" b="0" i="0" u="none" strike="noStrike" noProof="0" dirty="0">
                          <a:solidFill>
                            <a:srgbClr val="2E3142"/>
                          </a:solidFill>
                          <a:latin typeface="210 OmniGothic 040"/>
                          <a:ea typeface="210 OmniGothic 040"/>
                        </a:rPr>
                        <a:t>3. </a:t>
                      </a:r>
                      <a:r>
                        <a:rPr lang="en-US" sz="1450" b="0" i="0" u="none" strike="noStrike" noProof="0" dirty="0" err="1">
                          <a:solidFill>
                            <a:srgbClr val="2E3142"/>
                          </a:solidFill>
                          <a:latin typeface="210 OmniGothic 040"/>
                          <a:ea typeface="210 OmniGothic 040"/>
                        </a:rPr>
                        <a:t>열람자</a:t>
                      </a:r>
                      <a:r>
                        <a:rPr lang="en-US"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열람만</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가능</a:t>
                      </a:r>
                      <a:endParaRPr dirty="0">
                        <a:latin typeface="210 OmniGothic 040"/>
                        <a:ea typeface="210 OmniGothic 040"/>
                      </a:endParaRPr>
                    </a:p>
                    <a:p>
                      <a:pPr lvl="0" algn="l">
                        <a:lnSpc>
                          <a:spcPct val="100000"/>
                        </a:lnSpc>
                        <a:spcBef>
                          <a:spcPts val="0"/>
                        </a:spcBef>
                        <a:spcAft>
                          <a:spcPts val="0"/>
                        </a:spcAft>
                        <a:buNone/>
                      </a:pPr>
                      <a:r>
                        <a:rPr lang="en-US" sz="1450" b="0" i="0" u="none" strike="noStrike" noProof="0" dirty="0">
                          <a:solidFill>
                            <a:srgbClr val="2E3142"/>
                          </a:solidFill>
                          <a:latin typeface="210 OmniGothic 040"/>
                          <a:ea typeface="210 OmniGothic 040"/>
                        </a:rPr>
                        <a:t>4.</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상황 보고자: 발화 정보 및 실측 화선 보고</a:t>
                      </a:r>
                      <a:endParaRPr lang="ko-KR" altLang="en-US" dirty="0" err="1">
                        <a:latin typeface="210 OmniGothic 040"/>
                        <a:ea typeface="210 OmniGothic 040"/>
                      </a:endParaRPr>
                    </a:p>
                    <a:p>
                      <a:pPr lvl="0" algn="l">
                        <a:lnSpc>
                          <a:spcPct val="100000"/>
                        </a:lnSpc>
                        <a:spcBef>
                          <a:spcPts val="0"/>
                        </a:spcBef>
                        <a:spcAft>
                          <a:spcPts val="0"/>
                        </a:spcAft>
                        <a:buNone/>
                      </a:pPr>
                      <a:r>
                        <a:rPr lang="en-US" altLang="ko-KR" sz="1450" b="0" i="0" u="none" strike="noStrike" noProof="0" dirty="0">
                          <a:solidFill>
                            <a:srgbClr val="2E3142"/>
                          </a:solidFill>
                          <a:latin typeface="210 OmniGothic 040"/>
                          <a:ea typeface="210 OmniGothic 040"/>
                        </a:rPr>
                        <a:t>5. </a:t>
                      </a:r>
                      <a:r>
                        <a:rPr lang="en-US" sz="1450" b="0" i="0" u="none" strike="noStrike" noProof="0" dirty="0" err="1">
                          <a:solidFill>
                            <a:srgbClr val="2E3142"/>
                          </a:solidFill>
                          <a:latin typeface="210 OmniGothic 040"/>
                          <a:ea typeface="210 OmniGothic 040"/>
                        </a:rPr>
                        <a:t>전산</a:t>
                      </a:r>
                      <a:r>
                        <a:rPr lang="en-US" sz="1450" b="0" i="0" u="none" strike="noStrike" noProof="0" dirty="0">
                          <a:solidFill>
                            <a:srgbClr val="2E3142"/>
                          </a:solidFill>
                          <a:latin typeface="210 OmniGothic 040"/>
                          <a:ea typeface="210 OmniGothic 040"/>
                        </a:rPr>
                        <a:t> </a:t>
                      </a:r>
                      <a:r>
                        <a:rPr lang="en-US" sz="1450" b="0" i="0" u="none" strike="noStrike" noProof="0" dirty="0" err="1">
                          <a:solidFill>
                            <a:srgbClr val="2E3142"/>
                          </a:solidFill>
                          <a:latin typeface="210 OmniGothic 040"/>
                          <a:ea typeface="210 OmniGothic 040"/>
                        </a:rPr>
                        <a:t>관리자</a:t>
                      </a:r>
                      <a:r>
                        <a:rPr lang="en-US" sz="1450" b="0" i="0" u="none" strike="noStrike" noProof="0" dirty="0">
                          <a:solidFill>
                            <a:srgbClr val="2E3142"/>
                          </a:solidFill>
                          <a:latin typeface="210 OmniGothic 040"/>
                          <a:ea typeface="210 OmniGothic 040"/>
                        </a:rPr>
                        <a:t>: </a:t>
                      </a:r>
                      <a:r>
                        <a:rPr lang="en-US" sz="1450" b="0" i="0" u="none" strike="noStrike" noProof="0" dirty="0" err="1">
                          <a:solidFill>
                            <a:srgbClr val="2E3142"/>
                          </a:solidFill>
                          <a:latin typeface="210 OmniGothic 040"/>
                          <a:ea typeface="210 OmniGothic 040"/>
                        </a:rPr>
                        <a:t>계정</a:t>
                      </a:r>
                      <a:r>
                        <a:rPr lang="en-US" sz="1450" b="0" i="0" u="none" strike="noStrike" noProof="0" dirty="0">
                          <a:solidFill>
                            <a:srgbClr val="2E3142"/>
                          </a:solidFill>
                          <a:latin typeface="210 OmniGothic 040"/>
                          <a:ea typeface="210 OmniGothic 040"/>
                        </a:rPr>
                        <a:t>·</a:t>
                      </a:r>
                      <a:r>
                        <a:rPr lang="ko-KR" altLang="en-US" sz="1450" b="0" i="0" u="none" strike="noStrike" noProof="0" dirty="0">
                          <a:solidFill>
                            <a:srgbClr val="2E3142"/>
                          </a:solidFill>
                          <a:latin typeface="210 OmniGothic 040"/>
                          <a:ea typeface="210 OmniGothic 040"/>
                        </a:rPr>
                        <a:t>진화자원</a:t>
                      </a:r>
                      <a:r>
                        <a:rPr lang="en-US" altLang="ko-KR" sz="1450" b="0" i="0" u="none" strike="noStrike" noProof="0" dirty="0">
                          <a:solidFill>
                            <a:srgbClr val="2E3142"/>
                          </a:solidFill>
                          <a:latin typeface="210 OmniGothic 040"/>
                          <a:ea typeface="210 OmniGothic 040"/>
                        </a:rPr>
                        <a:t> </a:t>
                      </a:r>
                      <a:r>
                        <a:rPr lang="en-US" sz="1450" b="0" i="0" u="none" strike="noStrike" noProof="0" dirty="0" err="1">
                          <a:solidFill>
                            <a:srgbClr val="2E3142"/>
                          </a:solidFill>
                          <a:latin typeface="210 OmniGothic 040"/>
                          <a:ea typeface="210 OmniGothic 040"/>
                        </a:rPr>
                        <a:t>관리</a:t>
                      </a:r>
                      <a:endParaRPr lang="en-US" i="0" u="none" strike="noStrike" noProof="0" dirty="0" err="1">
                        <a:latin typeface="210 OmniGothic 040"/>
                        <a:ea typeface="210 OmniGothic 040"/>
                      </a:endParaRPr>
                    </a:p>
                    <a:p>
                      <a:pPr lvl="0" algn="l">
                        <a:lnSpc>
                          <a:spcPct val="110000"/>
                        </a:lnSpc>
                        <a:buNone/>
                      </a:pPr>
                      <a:r>
                        <a:rPr lang="en-US" sz="1450" b="0" i="0" u="none" strike="noStrike" noProof="0" dirty="0">
                          <a:solidFill>
                            <a:srgbClr val="2E3142"/>
                          </a:solidFill>
                          <a:latin typeface="210 OmniGothic 040"/>
                          <a:ea typeface="210 OmniGothic 040"/>
                        </a:rPr>
                        <a:t>6. </a:t>
                      </a:r>
                      <a:r>
                        <a:rPr lang="ko-KR" altLang="en-US" sz="1450" b="0" i="0" u="none" strike="noStrike" noProof="0" dirty="0">
                          <a:solidFill>
                            <a:srgbClr val="2E3142"/>
                          </a:solidFill>
                          <a:latin typeface="210 OmniGothic 040"/>
                          <a:ea typeface="210 OmniGothic 040"/>
                        </a:rPr>
                        <a:t>권한</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없는</a:t>
                      </a:r>
                      <a:r>
                        <a:rPr lang="en-US" altLang="ko-KR" sz="1450" b="0" i="0" u="none" strike="noStrike" noProof="0" dirty="0">
                          <a:solidFill>
                            <a:srgbClr val="2E3142"/>
                          </a:solidFill>
                          <a:latin typeface="210 OmniGothic 040"/>
                          <a:ea typeface="210 OmniGothic 040"/>
                        </a:rPr>
                        <a:t> </a:t>
                      </a:r>
                      <a:r>
                        <a:rPr lang="en-US" sz="1450" b="0" i="0" u="none" strike="noStrike" noProof="0" dirty="0">
                          <a:solidFill>
                            <a:srgbClr val="2E3142"/>
                          </a:solidFill>
                          <a:latin typeface="210 OmniGothic 040"/>
                          <a:ea typeface="210 OmniGothic 040"/>
                        </a:rPr>
                        <a:t>API </a:t>
                      </a:r>
                      <a:r>
                        <a:rPr lang="ko-KR" altLang="en-US" sz="1450" b="0" i="0" u="none" strike="noStrike" noProof="0" dirty="0">
                          <a:solidFill>
                            <a:srgbClr val="2E3142"/>
                          </a:solidFill>
                          <a:latin typeface="210 OmniGothic 040"/>
                          <a:ea typeface="210 OmniGothic 040"/>
                        </a:rPr>
                        <a:t>요청 차단</a:t>
                      </a:r>
                      <a:endParaRPr lang="en-US" altLang="ko-KR" i="0" u="none" strike="noStrike" noProof="0" dirty="0">
                        <a:latin typeface="210 OmniGothic 040"/>
                        <a:ea typeface="210 OmniGothic 040"/>
                      </a:endParaRPr>
                    </a:p>
                    <a:p>
                      <a:pPr lvl="0" algn="l">
                        <a:lnSpc>
                          <a:spcPct val="110000"/>
                        </a:lnSpc>
                        <a:buNone/>
                      </a:pPr>
                      <a:r>
                        <a:rPr lang="en-US" sz="1450" b="0" i="0" u="none" strike="noStrike" noProof="0" dirty="0">
                          <a:solidFill>
                            <a:srgbClr val="2E3142"/>
                          </a:solidFill>
                          <a:latin typeface="210 OmniGothic 040"/>
                          <a:ea typeface="210 OmniGothic 040"/>
                        </a:rPr>
                        <a:t>7. 로그인 5회 연속 실패 시 계정 잠금, 전산 관리자만 잠금 해제</a:t>
                      </a:r>
                      <a:endParaRPr lang="en-US" altLang="ko-KR" i="0" u="none" strike="noStrike" noProof="0" dirty="0">
                        <a:latin typeface="210 OmniGothic 040"/>
                        <a:ea typeface="210 OmniGothic 040"/>
                      </a:endParaRP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4"/>
                  </a:ext>
                </a:extLst>
              </a:tr>
              <a:tr h="502920">
                <a:tc gridSpan="2">
                  <a:txBody>
                    <a:bodyPr/>
                    <a:lstStyle/>
                    <a:p>
                      <a:pPr algn="ctr"/>
                      <a:r>
                        <a:rPr sz="1450" b="1" dirty="0">
                          <a:solidFill>
                            <a:srgbClr val="2E3142"/>
                          </a:solidFill>
                          <a:latin typeface="210 OmniGothic 040"/>
                          <a:ea typeface="210 OmniGothic 040"/>
                          <a:cs typeface="210 OmniGothic 040"/>
                        </a:rPr>
                        <a:t>산출정보</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endParaRP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5"/>
                  </a:ext>
                </a:extLst>
              </a:tr>
              <a:tr h="502920">
                <a:tc gridSpan="2">
                  <a:txBody>
                    <a:bodyPr/>
                    <a:lstStyle/>
                    <a:p>
                      <a:pPr algn="ctr"/>
                      <a:r>
                        <a:rPr sz="1450" b="1" dirty="0">
                          <a:solidFill>
                            <a:srgbClr val="2E3142"/>
                          </a:solidFill>
                          <a:latin typeface="210 OmniGothic 040"/>
                          <a:ea typeface="210 OmniGothic 040"/>
                          <a:cs typeface="210 OmniGothic 040"/>
                        </a:rPr>
                        <a:t>관련 요구사항</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r>
                        <a:rPr sz="1450" b="0" dirty="0">
                          <a:solidFill>
                            <a:srgbClr val="2E3142"/>
                          </a:solidFill>
                          <a:latin typeface="210 OmniGothic 040"/>
                          <a:ea typeface="210 OmniGothic 040"/>
                          <a:cs typeface="210 OmniGothic 040"/>
                        </a:rPr>
                        <a:t>SER-003</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6"/>
                  </a:ext>
                </a:extLst>
              </a:tr>
              <a:tr h="502920">
                <a:tc gridSpan="2">
                  <a:txBody>
                    <a:bodyPr/>
                    <a:lstStyle/>
                    <a:p>
                      <a:pPr algn="ctr"/>
                      <a:r>
                        <a:rPr sz="1450" b="1" dirty="0">
                          <a:solidFill>
                            <a:srgbClr val="2E3142"/>
                          </a:solidFill>
                          <a:latin typeface="210 OmniGothic 040"/>
                          <a:ea typeface="210 OmniGothic 040"/>
                          <a:cs typeface="210 OmniGothic 040"/>
                        </a:rPr>
                        <a:t>요구사항 출처</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r>
                        <a:rPr sz="1450" b="0" dirty="0">
                          <a:solidFill>
                            <a:srgbClr val="2E3142"/>
                          </a:solidFill>
                          <a:latin typeface="210 OmniGothic 040"/>
                          <a:ea typeface="210 OmniGothic 040"/>
                          <a:cs typeface="210 OmniGothic 040"/>
                        </a:rPr>
                        <a:t>보안 요구사항</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46"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2700" y="-12700"/>
            <a:ext cx="18313400" cy="1638300"/>
          </a:xfrm>
          <a:prstGeom prst="rect">
            <a:avLst/>
          </a:prstGeom>
        </p:spPr>
      </p:pic>
      <p:pic>
        <p:nvPicPr>
          <p:cNvPr id="5447"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628" y="1618343"/>
            <a:ext cx="18313400" cy="8699500"/>
          </a:xfrm>
          <a:prstGeom prst="rect">
            <a:avLst/>
          </a:prstGeom>
        </p:spPr>
      </p:pic>
      <p:pic>
        <p:nvPicPr>
          <p:cNvPr id="5448"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58800" y="9271000"/>
            <a:ext cx="17170400" cy="50800"/>
          </a:xfrm>
          <a:prstGeom prst="rect">
            <a:avLst/>
          </a:prstGeom>
        </p:spPr>
      </p:pic>
      <p:pic>
        <p:nvPicPr>
          <p:cNvPr id="5449" name="Picture 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278100" y="203200"/>
            <a:ext cx="1676400" cy="1409700"/>
          </a:xfrm>
          <a:prstGeom prst="rect">
            <a:avLst/>
          </a:prstGeom>
        </p:spPr>
      </p:pic>
      <p:sp>
        <p:nvSpPr>
          <p:cNvPr id="5450" name="Title"/>
          <p:cNvSpPr txBox="1"/>
          <p:nvPr/>
        </p:nvSpPr>
        <p:spPr>
          <a:xfrm>
            <a:off x="822960" y="384048"/>
            <a:ext cx="13258800" cy="877824"/>
          </a:xfrm>
          <a:prstGeom prst="rect">
            <a:avLst/>
          </a:prstGeom>
          <a:noFill/>
        </p:spPr>
        <p:txBody>
          <a:bodyPr wrap="square" lIns="0" tIns="0" rIns="0" bIns="0" anchor="ctr">
            <a:spAutoFit/>
          </a:bodyPr>
          <a:lstStyle/>
          <a:p>
            <a:pPr algn="l"/>
            <a:r>
              <a:rPr sz="4400" b="0">
                <a:solidFill>
                  <a:srgbClr val="FAA95A"/>
                </a:solidFill>
                <a:latin typeface="210 OmniGothic 050"/>
                <a:ea typeface="210 OmniGothic 050"/>
                <a:cs typeface="210 OmniGothic 050"/>
              </a:rPr>
              <a:t>07. 비기능 요구사항</a:t>
            </a:r>
          </a:p>
        </p:txBody>
      </p:sp>
      <p:sp>
        <p:nvSpPr>
          <p:cNvPr id="5451" name="Subtitle"/>
          <p:cNvSpPr txBox="1"/>
          <p:nvPr/>
        </p:nvSpPr>
        <p:spPr>
          <a:xfrm>
            <a:off x="822960" y="1764792"/>
            <a:ext cx="16642080" cy="502920"/>
          </a:xfrm>
          <a:prstGeom prst="rect">
            <a:avLst/>
          </a:prstGeom>
          <a:noFill/>
        </p:spPr>
        <p:txBody>
          <a:bodyPr wrap="square" lIns="0" tIns="0" rIns="0" bIns="0" anchor="ctr">
            <a:spAutoFit/>
          </a:bodyPr>
          <a:lstStyle/>
          <a:p>
            <a:pPr algn="ctr"/>
            <a:r>
              <a:rPr sz="2600" b="1">
                <a:solidFill>
                  <a:srgbClr val="363A52"/>
                </a:solidFill>
                <a:latin typeface="210 OmniGothic 040"/>
                <a:ea typeface="210 OmniGothic 040"/>
                <a:cs typeface="210 OmniGothic 040"/>
              </a:rPr>
              <a:t>보안 요구사항</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sz="quarter" idx="12"/>
          </p:nvPr>
        </p:nvSpPr>
        <p:spPr/>
        <p:txBody>
          <a:bodyPr/>
          <a:lstStyle/>
          <a:p>
            <a:fld id="{B6F15528-21DE-4FAA-801E-634DDDAF4B2B}" type="slidenum">
              <a:rPr lang="en-US" smtClean="0"/>
              <a:pPr/>
              <a:t>90</a:t>
            </a:fld>
            <a:endParaRPr lang="en-US"/>
          </a:p>
        </p:txBody>
      </p:sp>
      <p:graphicFrame>
        <p:nvGraphicFramePr>
          <p:cNvPr id="5452" name="Table 5451"/>
          <p:cNvGraphicFramePr>
            <a:graphicFrameLocks noGrp="1"/>
          </p:cNvGraphicFramePr>
          <p:nvPr/>
        </p:nvGraphicFramePr>
        <p:xfrm>
          <a:off x="2880360" y="2546604"/>
          <a:ext cx="12344400" cy="5180076"/>
        </p:xfrm>
        <a:graphic>
          <a:graphicData uri="http://schemas.openxmlformats.org/drawingml/2006/table">
            <a:tbl>
              <a:tblPr>
                <a:tableStyleId>{2D5ABB26-0587-4C30-8999-92F81FD0307C}</a:tableStyleId>
              </a:tblPr>
              <a:tblGrid>
                <a:gridCol w="245745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8286750">
                  <a:extLst>
                    <a:ext uri="{9D8B030D-6E8A-4147-A177-3AD203B41FA5}">
                      <a16:colId xmlns:a16="http://schemas.microsoft.com/office/drawing/2014/main" val="20002"/>
                    </a:ext>
                  </a:extLst>
                </a:gridCol>
              </a:tblGrid>
              <a:tr h="502920">
                <a:tc gridSpan="2">
                  <a:txBody>
                    <a:bodyPr/>
                    <a:lstStyle/>
                    <a:p>
                      <a:pPr algn="ctr"/>
                      <a:r>
                        <a:rPr sz="1450" b="1" dirty="0" err="1">
                          <a:solidFill>
                            <a:srgbClr val="2E3142"/>
                          </a:solidFill>
                          <a:latin typeface="210 OmniGothic 040"/>
                          <a:ea typeface="210 OmniGothic 040"/>
                          <a:cs typeface="210 OmniGothic 040"/>
                        </a:rPr>
                        <a:t>요구사항</a:t>
                      </a:r>
                      <a:r>
                        <a:rPr sz="1450" b="1" dirty="0">
                          <a:solidFill>
                            <a:srgbClr val="2E3142"/>
                          </a:solidFill>
                          <a:latin typeface="210 OmniGothic 040"/>
                          <a:ea typeface="210 OmniGothic 040"/>
                          <a:cs typeface="210 OmniGothic 040"/>
                        </a:rPr>
                        <a:t> </a:t>
                      </a:r>
                      <a:r>
                        <a:rPr sz="1450" b="1" dirty="0" err="1">
                          <a:solidFill>
                            <a:srgbClr val="2E3142"/>
                          </a:solidFill>
                          <a:latin typeface="210 OmniGothic 040"/>
                          <a:ea typeface="210 OmniGothic 040"/>
                          <a:cs typeface="210 OmniGothic 040"/>
                        </a:rPr>
                        <a:t>분류</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r>
                        <a:rPr sz="1450" b="0" dirty="0" err="1">
                          <a:solidFill>
                            <a:srgbClr val="2E3142"/>
                          </a:solidFill>
                          <a:latin typeface="210 OmniGothic 040"/>
                          <a:ea typeface="210 OmniGothic 040"/>
                          <a:cs typeface="210 OmniGothic 040"/>
                        </a:rPr>
                        <a:t>보안</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요구사항</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0"/>
                  </a:ext>
                </a:extLst>
              </a:tr>
              <a:tr h="502920">
                <a:tc gridSpan="2">
                  <a:txBody>
                    <a:bodyPr/>
                    <a:lstStyle/>
                    <a:p>
                      <a:pPr algn="ctr"/>
                      <a:r>
                        <a:rPr sz="1450" b="1" dirty="0" err="1">
                          <a:solidFill>
                            <a:srgbClr val="2E3142"/>
                          </a:solidFill>
                          <a:latin typeface="210 OmniGothic 040"/>
                          <a:ea typeface="210 OmniGothic 040"/>
                          <a:cs typeface="210 OmniGothic 040"/>
                        </a:rPr>
                        <a:t>요구사항</a:t>
                      </a:r>
                      <a:r>
                        <a:rPr sz="1450" b="1" dirty="0">
                          <a:solidFill>
                            <a:srgbClr val="2E3142"/>
                          </a:solidFill>
                          <a:latin typeface="210 OmniGothic 040"/>
                          <a:ea typeface="210 OmniGothic 040"/>
                          <a:cs typeface="210 OmniGothic 040"/>
                        </a:rPr>
                        <a:t> </a:t>
                      </a:r>
                      <a:r>
                        <a:rPr sz="1450" b="1" dirty="0" err="1">
                          <a:solidFill>
                            <a:srgbClr val="2E3142"/>
                          </a:solidFill>
                          <a:latin typeface="210 OmniGothic 040"/>
                          <a:ea typeface="210 OmniGothic 040"/>
                          <a:cs typeface="210 OmniGothic 040"/>
                        </a:rPr>
                        <a:t>고유번호</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r>
                        <a:rPr sz="1450" b="0" dirty="0">
                          <a:solidFill>
                            <a:srgbClr val="2E3142"/>
                          </a:solidFill>
                          <a:latin typeface="210 OmniGothic 040"/>
                          <a:ea typeface="210 OmniGothic 040"/>
                          <a:cs typeface="210 OmniGothic 040"/>
                        </a:rPr>
                        <a:t>SER-002</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1"/>
                  </a:ext>
                </a:extLst>
              </a:tr>
              <a:tr h="502920">
                <a:tc gridSpan="2">
                  <a:txBody>
                    <a:bodyPr/>
                    <a:lstStyle/>
                    <a:p>
                      <a:pPr algn="ctr"/>
                      <a:r>
                        <a:rPr sz="1450" b="1" dirty="0" err="1">
                          <a:solidFill>
                            <a:srgbClr val="2E3142"/>
                          </a:solidFill>
                          <a:latin typeface="210 OmniGothic 040"/>
                          <a:ea typeface="210 OmniGothic 040"/>
                          <a:cs typeface="210 OmniGothic 040"/>
                        </a:rPr>
                        <a:t>요구사항</a:t>
                      </a:r>
                      <a:r>
                        <a:rPr sz="1450" b="1" dirty="0">
                          <a:solidFill>
                            <a:srgbClr val="2E3142"/>
                          </a:solidFill>
                          <a:latin typeface="210 OmniGothic 040"/>
                          <a:ea typeface="210 OmniGothic 040"/>
                          <a:cs typeface="210 OmniGothic 040"/>
                        </a:rPr>
                        <a:t> </a:t>
                      </a:r>
                      <a:r>
                        <a:rPr sz="1450" b="1" dirty="0" err="1">
                          <a:solidFill>
                            <a:srgbClr val="2E3142"/>
                          </a:solidFill>
                          <a:latin typeface="210 OmniGothic 040"/>
                          <a:ea typeface="210 OmniGothic 040"/>
                          <a:cs typeface="210 OmniGothic 040"/>
                        </a:rPr>
                        <a:t>명칭</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r>
                        <a:rPr sz="1450" b="0" dirty="0" err="1">
                          <a:solidFill>
                            <a:srgbClr val="2E3142"/>
                          </a:solidFill>
                          <a:latin typeface="210 OmniGothic 040"/>
                          <a:ea typeface="210 OmniGothic 040"/>
                          <a:cs typeface="210 OmniGothic 040"/>
                        </a:rPr>
                        <a:t>내부</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자료</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보호</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2"/>
                  </a:ext>
                </a:extLst>
              </a:tr>
              <a:tr h="553212">
                <a:tc rowSpan="2">
                  <a:txBody>
                    <a:bodyPr/>
                    <a:lstStyle/>
                    <a:p>
                      <a:pPr algn="ctr"/>
                      <a:r>
                        <a:rPr sz="1450" b="1" dirty="0">
                          <a:solidFill>
                            <a:srgbClr val="2E3142"/>
                          </a:solidFill>
                          <a:latin typeface="210 OmniGothic 040"/>
                          <a:ea typeface="210 OmniGothic 040"/>
                          <a:cs typeface="210 OmniGothic 040"/>
                        </a:rPr>
                        <a:t>요구사항
</a:t>
                      </a:r>
                      <a:r>
                        <a:rPr sz="1450" b="1" dirty="0" err="1">
                          <a:solidFill>
                            <a:srgbClr val="2E3142"/>
                          </a:solidFill>
                          <a:latin typeface="210 OmniGothic 040"/>
                          <a:ea typeface="210 OmniGothic 040"/>
                          <a:cs typeface="210 OmniGothic 040"/>
                        </a:rPr>
                        <a:t>상세설명</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a:txBody>
                    <a:bodyPr/>
                    <a:lstStyle/>
                    <a:p>
                      <a:pPr algn="ctr"/>
                      <a:r>
                        <a:rPr sz="1450" b="1" dirty="0" err="1">
                          <a:solidFill>
                            <a:srgbClr val="2E3142"/>
                          </a:solidFill>
                          <a:latin typeface="210 OmniGothic 040"/>
                          <a:ea typeface="210 OmniGothic 040"/>
                          <a:cs typeface="210 OmniGothic 040"/>
                        </a:rPr>
                        <a:t>정의</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a:txBody>
                    <a:bodyPr/>
                    <a:lstStyle/>
                    <a:p>
                      <a:pPr algn="l"/>
                      <a:r>
                        <a:rPr sz="1450" b="0" dirty="0" err="1">
                          <a:solidFill>
                            <a:srgbClr val="2E3142"/>
                          </a:solidFill>
                          <a:latin typeface="210 OmniGothic 040"/>
                          <a:ea typeface="210 OmniGothic 040"/>
                          <a:cs typeface="210 OmniGothic 040"/>
                        </a:rPr>
                        <a:t>표준매뉴얼</a:t>
                      </a:r>
                      <a:r>
                        <a:rPr sz="1450" b="0" dirty="0">
                          <a:solidFill>
                            <a:srgbClr val="2E3142"/>
                          </a:solidFill>
                          <a:latin typeface="210 OmniGothic 040"/>
                          <a:ea typeface="210 OmniGothic 040"/>
                          <a:cs typeface="210 OmniGothic 040"/>
                        </a:rPr>
                        <a:t> 등 </a:t>
                      </a:r>
                      <a:r>
                        <a:rPr sz="1450" b="0" dirty="0" err="1">
                          <a:solidFill>
                            <a:srgbClr val="2E3142"/>
                          </a:solidFill>
                          <a:latin typeface="210 OmniGothic 040"/>
                          <a:ea typeface="210 OmniGothic 040"/>
                          <a:cs typeface="210 OmniGothic 040"/>
                        </a:rPr>
                        <a:t>정부</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내부</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열람</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자료의</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외부</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유출</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방지</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3"/>
                  </a:ext>
                </a:extLst>
              </a:tr>
              <a:tr h="1609344">
                <a:tc vMerge="1">
                  <a:txBody>
                    <a:bodyPr/>
                    <a:lstStyle/>
                    <a:p>
                      <a:endParaRPr/>
                    </a:p>
                  </a:txBody>
                  <a:tcPr/>
                </a:tc>
                <a:tc>
                  <a:txBody>
                    <a:bodyPr/>
                    <a:lstStyle/>
                    <a:p>
                      <a:pPr algn="ctr"/>
                      <a:r>
                        <a:rPr sz="1450" b="1" dirty="0" err="1">
                          <a:solidFill>
                            <a:srgbClr val="2E3142"/>
                          </a:solidFill>
                          <a:latin typeface="210 OmniGothic 040"/>
                          <a:ea typeface="210 OmniGothic 040"/>
                          <a:cs typeface="210 OmniGothic 040"/>
                        </a:rPr>
                        <a:t>세부</a:t>
                      </a:r>
                      <a:r>
                        <a:rPr sz="1450" b="1" dirty="0">
                          <a:solidFill>
                            <a:srgbClr val="2E3142"/>
                          </a:solidFill>
                          <a:latin typeface="210 OmniGothic 040"/>
                          <a:ea typeface="210 OmniGothic 040"/>
                          <a:cs typeface="210 OmniGothic 040"/>
                        </a:rPr>
                        <a:t> </a:t>
                      </a:r>
                      <a:r>
                        <a:rPr sz="1450" b="1" dirty="0" err="1">
                          <a:solidFill>
                            <a:srgbClr val="2E3142"/>
                          </a:solidFill>
                          <a:latin typeface="210 OmniGothic 040"/>
                          <a:ea typeface="210 OmniGothic 040"/>
                          <a:cs typeface="210 OmniGothic 040"/>
                        </a:rPr>
                        <a:t>내용</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a:txBody>
                    <a:bodyPr/>
                    <a:lstStyle/>
                    <a:p>
                      <a:pPr lvl="0" algn="l">
                        <a:lnSpc>
                          <a:spcPct val="100000"/>
                        </a:lnSpc>
                        <a:spcBef>
                          <a:spcPts val="0"/>
                        </a:spcBef>
                        <a:spcAft>
                          <a:spcPts val="0"/>
                        </a:spcAft>
                        <a:buNone/>
                      </a:pPr>
                      <a:r>
                        <a:rPr lang="en-US" sz="1450" b="0" i="0" u="none" strike="noStrike" noProof="0" dirty="0">
                          <a:solidFill>
                            <a:srgbClr val="2E3142"/>
                          </a:solidFill>
                          <a:latin typeface="210 OmniGothic 040"/>
                          <a:ea typeface="210 OmniGothic 040"/>
                        </a:rPr>
                        <a:t>1. LLM </a:t>
                      </a:r>
                      <a:r>
                        <a:rPr lang="ko-KR" altLang="en-US" sz="1450" b="0" i="0" u="none" strike="noStrike" noProof="0" dirty="0">
                          <a:solidFill>
                            <a:srgbClr val="2E3142"/>
                          </a:solidFill>
                          <a:latin typeface="210 OmniGothic 040"/>
                          <a:ea typeface="210 OmniGothic 040"/>
                        </a:rPr>
                        <a:t>추론을</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내부</a:t>
                      </a:r>
                      <a:r>
                        <a:rPr lang="en-US" altLang="ko-KR" sz="1450" b="0" i="0" u="none" strike="noStrike" noProof="0" dirty="0">
                          <a:solidFill>
                            <a:srgbClr val="2E3142"/>
                          </a:solidFill>
                          <a:latin typeface="210 OmniGothic 040"/>
                          <a:ea typeface="210 OmniGothic 040"/>
                        </a:rPr>
                        <a:t> </a:t>
                      </a:r>
                      <a:r>
                        <a:rPr lang="en-US" sz="1450" b="0" i="0" u="none" strike="noStrike" noProof="0" dirty="0">
                          <a:solidFill>
                            <a:srgbClr val="2E3142"/>
                          </a:solidFill>
                          <a:latin typeface="210 OmniGothic 040"/>
                          <a:ea typeface="210 OmniGothic 040"/>
                        </a:rPr>
                        <a:t>GPU </a:t>
                      </a:r>
                      <a:r>
                        <a:rPr lang="en-US" sz="1450" b="0" i="0" u="none" strike="noStrike" noProof="0" dirty="0" err="1">
                          <a:solidFill>
                            <a:srgbClr val="2E3142"/>
                          </a:solidFill>
                          <a:latin typeface="210 OmniGothic 040"/>
                          <a:ea typeface="210 OmniGothic 040"/>
                        </a:rPr>
                        <a:t>서버에서</a:t>
                      </a:r>
                      <a:r>
                        <a:rPr lang="en-US" sz="1450" b="0" i="0" u="none" strike="noStrike" noProof="0" dirty="0">
                          <a:solidFill>
                            <a:srgbClr val="2E3142"/>
                          </a:solidFill>
                          <a:latin typeface="210 OmniGothic 040"/>
                          <a:ea typeface="210 OmniGothic 040"/>
                        </a:rPr>
                        <a:t> </a:t>
                      </a:r>
                      <a:r>
                        <a:rPr lang="en-US" sz="1450" b="0" i="0" u="none" strike="noStrike" noProof="0" dirty="0" err="1">
                          <a:solidFill>
                            <a:srgbClr val="2E3142"/>
                          </a:solidFill>
                          <a:latin typeface="210 OmniGothic 040"/>
                          <a:ea typeface="210 OmniGothic 040"/>
                        </a:rPr>
                        <a:t>수행</a:t>
                      </a:r>
                    </a:p>
                    <a:p>
                      <a:pPr lvl="0" algn="l">
                        <a:lnSpc>
                          <a:spcPct val="100000"/>
                        </a:lnSpc>
                        <a:spcBef>
                          <a:spcPts val="0"/>
                        </a:spcBef>
                        <a:spcAft>
                          <a:spcPts val="0"/>
                        </a:spcAft>
                        <a:buNone/>
                      </a:pPr>
                      <a:r>
                        <a:rPr lang="en-US" sz="1450" b="0" i="0" u="none" strike="noStrike" noProof="0" dirty="0">
                          <a:solidFill>
                            <a:srgbClr val="2E3142"/>
                          </a:solidFill>
                          <a:latin typeface="210 OmniGothic 040"/>
                          <a:ea typeface="210 OmniGothic 040"/>
                        </a:rPr>
                        <a:t>2. </a:t>
                      </a:r>
                      <a:r>
                        <a:rPr lang="ko-KR" altLang="en-US" sz="1450" b="0" i="0" u="none" strike="noStrike" noProof="0" dirty="0" err="1">
                          <a:solidFill>
                            <a:srgbClr val="2E3142"/>
                          </a:solidFill>
                          <a:latin typeface="210 OmniGothic 040"/>
                          <a:ea typeface="210 OmniGothic 040"/>
                        </a:rPr>
                        <a:t>임베딩</a:t>
                      </a:r>
                      <a:r>
                        <a:rPr lang="en-US"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및</a:t>
                      </a:r>
                      <a:r>
                        <a:rPr lang="en-US"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근거</a:t>
                      </a:r>
                      <a:r>
                        <a:rPr lang="en-US"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검색도</a:t>
                      </a:r>
                      <a:r>
                        <a:rPr lang="en-US"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로컬에서</a:t>
                      </a:r>
                      <a:r>
                        <a:rPr lang="en-US"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수행</a:t>
                      </a:r>
                      <a:endParaRPr lang="en-US" dirty="0">
                        <a:latin typeface="210 OmniGothic 040"/>
                        <a:ea typeface="210 OmniGothic 040"/>
                      </a:endParaRPr>
                    </a:p>
                    <a:p>
                      <a:pPr lvl="0" algn="l">
                        <a:lnSpc>
                          <a:spcPct val="100000"/>
                        </a:lnSpc>
                        <a:spcBef>
                          <a:spcPts val="0"/>
                        </a:spcBef>
                        <a:spcAft>
                          <a:spcPts val="0"/>
                        </a:spcAft>
                        <a:buNone/>
                      </a:pPr>
                      <a:r>
                        <a:rPr lang="en-US" sz="1450" b="0" i="0" u="none" strike="noStrike" noProof="0" dirty="0">
                          <a:solidFill>
                            <a:srgbClr val="2E3142"/>
                          </a:solidFill>
                          <a:latin typeface="210 OmniGothic 040"/>
                          <a:ea typeface="210 OmniGothic 040"/>
                        </a:rPr>
                        <a:t>3. </a:t>
                      </a:r>
                      <a:r>
                        <a:rPr lang="en-US" sz="1450" b="0" i="0" u="none" strike="noStrike" noProof="0" dirty="0" err="1">
                          <a:solidFill>
                            <a:srgbClr val="2E3142"/>
                          </a:solidFill>
                          <a:latin typeface="210 OmniGothic 040"/>
                          <a:ea typeface="210 OmniGothic 040"/>
                        </a:rPr>
                        <a:t>외부</a:t>
                      </a:r>
                      <a:r>
                        <a:rPr lang="en-US" sz="1450" b="0" i="0" u="none" strike="noStrike" noProof="0" dirty="0">
                          <a:solidFill>
                            <a:srgbClr val="2E3142"/>
                          </a:solidFill>
                          <a:latin typeface="210 OmniGothic 040"/>
                          <a:ea typeface="210 OmniGothic 040"/>
                        </a:rPr>
                        <a:t> </a:t>
                      </a:r>
                      <a:r>
                        <a:rPr lang="en-US" sz="1450" b="0" i="0" u="none" strike="noStrike" noProof="0" dirty="0" err="1">
                          <a:solidFill>
                            <a:srgbClr val="2E3142"/>
                          </a:solidFill>
                          <a:latin typeface="210 OmniGothic 040"/>
                          <a:ea typeface="210 OmniGothic 040"/>
                        </a:rPr>
                        <a:t>상용</a:t>
                      </a:r>
                      <a:r>
                        <a:rPr lang="en-US" sz="1450" b="0" i="0" u="none" strike="noStrike" noProof="0" dirty="0">
                          <a:solidFill>
                            <a:srgbClr val="2E3142"/>
                          </a:solidFill>
                          <a:latin typeface="210 OmniGothic 040"/>
                          <a:ea typeface="210 OmniGothic 040"/>
                        </a:rPr>
                        <a:t> LLM </a:t>
                      </a:r>
                      <a:r>
                        <a:rPr lang="en-US" sz="1450" b="0" i="0" u="none" strike="noStrike" noProof="0" dirty="0" err="1">
                          <a:solidFill>
                            <a:srgbClr val="2E3142"/>
                          </a:solidFill>
                          <a:latin typeface="210 OmniGothic 040"/>
                          <a:ea typeface="210 OmniGothic 040"/>
                        </a:rPr>
                        <a:t>API로</a:t>
                      </a:r>
                      <a:r>
                        <a:rPr lang="en-US" sz="1450" b="0" i="0" u="none" strike="noStrike" noProof="0" dirty="0">
                          <a:solidFill>
                            <a:srgbClr val="2E3142"/>
                          </a:solidFill>
                          <a:latin typeface="210 OmniGothic 040"/>
                          <a:ea typeface="210 OmniGothic 040"/>
                        </a:rPr>
                        <a:t> </a:t>
                      </a:r>
                      <a:r>
                        <a:rPr lang="en-US" sz="1450" b="0" i="0" u="none" strike="noStrike" noProof="0" dirty="0" err="1">
                          <a:solidFill>
                            <a:srgbClr val="2E3142"/>
                          </a:solidFill>
                          <a:latin typeface="210 OmniGothic 040"/>
                          <a:ea typeface="210 OmniGothic 040"/>
                        </a:rPr>
                        <a:t>매뉴얼·상황</a:t>
                      </a:r>
                      <a:r>
                        <a:rPr lang="en-US" sz="1450" b="0" i="0" u="none" strike="noStrike" noProof="0" dirty="0">
                          <a:solidFill>
                            <a:srgbClr val="2E3142"/>
                          </a:solidFill>
                          <a:latin typeface="210 OmniGothic 040"/>
                          <a:ea typeface="210 OmniGothic 040"/>
                        </a:rPr>
                        <a:t> </a:t>
                      </a:r>
                      <a:r>
                        <a:rPr lang="en-US" sz="1450" b="0" i="0" u="none" strike="noStrike" noProof="0" dirty="0" err="1">
                          <a:solidFill>
                            <a:srgbClr val="2E3142"/>
                          </a:solidFill>
                          <a:latin typeface="210 OmniGothic 040"/>
                          <a:ea typeface="210 OmniGothic 040"/>
                        </a:rPr>
                        <a:t>데이터를</a:t>
                      </a:r>
                      <a:r>
                        <a:rPr lang="en-US"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전송하지</a:t>
                      </a:r>
                      <a:r>
                        <a:rPr lang="en-US" altLang="ko-KR" sz="1450" b="0" i="0" u="none" strike="noStrike" noProof="0" dirty="0">
                          <a:solidFill>
                            <a:srgbClr val="2E3142"/>
                          </a:solidFill>
                          <a:latin typeface="210 OmniGothic 040"/>
                          <a:ea typeface="210 OmniGothic 040"/>
                        </a:rPr>
                        <a:t> </a:t>
                      </a:r>
                      <a:r>
                        <a:rPr lang="en-US" sz="1450" b="0" i="0" u="none" strike="noStrike" noProof="0" dirty="0" err="1">
                          <a:solidFill>
                            <a:srgbClr val="2E3142"/>
                          </a:solidFill>
                          <a:latin typeface="210 OmniGothic 040"/>
                          <a:ea typeface="210 OmniGothic 040"/>
                        </a:rPr>
                        <a:t>않음</a:t>
                      </a:r>
                      <a:endParaRPr lang="en-US" i="0" u="none" strike="noStrike" noProof="0" dirty="0" err="1">
                        <a:latin typeface="210 OmniGothic 040"/>
                        <a:ea typeface="210 OmniGothic 040"/>
                      </a:endParaRPr>
                    </a:p>
                    <a:p>
                      <a:pPr lvl="0" algn="l">
                        <a:lnSpc>
                          <a:spcPct val="110000"/>
                        </a:lnSpc>
                        <a:buNone/>
                      </a:pPr>
                      <a:r>
                        <a:rPr lang="en-US" altLang="ko-KR" sz="1450" b="0" i="0" u="none" strike="noStrike" noProof="0" dirty="0">
                          <a:solidFill>
                            <a:srgbClr val="2E3142"/>
                          </a:solidFill>
                          <a:latin typeface="210 OmniGothic 040"/>
                          <a:ea typeface="210 OmniGothic 040"/>
                        </a:rPr>
                        <a:t>4</a:t>
                      </a:r>
                      <a:r>
                        <a:rPr lang="en-US"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내부</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자료</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접근은</a:t>
                      </a:r>
                      <a:r>
                        <a:rPr lang="en-US"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필요한</a:t>
                      </a:r>
                      <a:r>
                        <a:rPr lang="en-US"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범위로</a:t>
                      </a:r>
                      <a:r>
                        <a:rPr lang="en-US"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제한</a:t>
                      </a:r>
                      <a:endParaRPr dirty="0">
                        <a:latin typeface="210 OmniGothic 040"/>
                        <a:ea typeface="210 OmniGothic 040"/>
                      </a:endParaRP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4"/>
                  </a:ext>
                </a:extLst>
              </a:tr>
              <a:tr h="502920">
                <a:tc gridSpan="2">
                  <a:txBody>
                    <a:bodyPr/>
                    <a:lstStyle/>
                    <a:p>
                      <a:pPr algn="ctr"/>
                      <a:r>
                        <a:rPr sz="1450" b="1" dirty="0" err="1">
                          <a:solidFill>
                            <a:srgbClr val="2E3142"/>
                          </a:solidFill>
                          <a:latin typeface="210 OmniGothic 040"/>
                          <a:ea typeface="210 OmniGothic 040"/>
                          <a:cs typeface="210 OmniGothic 040"/>
                        </a:rPr>
                        <a:t>산출정보</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endParaRP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5"/>
                  </a:ext>
                </a:extLst>
              </a:tr>
              <a:tr h="502920">
                <a:tc gridSpan="2">
                  <a:txBody>
                    <a:bodyPr/>
                    <a:lstStyle/>
                    <a:p>
                      <a:pPr algn="ctr"/>
                      <a:r>
                        <a:rPr sz="1450" b="1" dirty="0" err="1">
                          <a:solidFill>
                            <a:srgbClr val="2E3142"/>
                          </a:solidFill>
                          <a:latin typeface="210 OmniGothic 040"/>
                          <a:ea typeface="210 OmniGothic 040"/>
                          <a:cs typeface="210 OmniGothic 040"/>
                        </a:rPr>
                        <a:t>관련</a:t>
                      </a:r>
                      <a:r>
                        <a:rPr sz="1450" b="1" dirty="0">
                          <a:solidFill>
                            <a:srgbClr val="2E3142"/>
                          </a:solidFill>
                          <a:latin typeface="210 OmniGothic 040"/>
                          <a:ea typeface="210 OmniGothic 040"/>
                          <a:cs typeface="210 OmniGothic 040"/>
                        </a:rPr>
                        <a:t> </a:t>
                      </a:r>
                      <a:r>
                        <a:rPr sz="1450" b="1" dirty="0" err="1">
                          <a:solidFill>
                            <a:srgbClr val="2E3142"/>
                          </a:solidFill>
                          <a:latin typeface="210 OmniGothic 040"/>
                          <a:ea typeface="210 OmniGothic 040"/>
                          <a:cs typeface="210 OmniGothic 040"/>
                        </a:rPr>
                        <a:t>요구사항</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r>
                        <a:rPr sz="1450" b="0" dirty="0">
                          <a:solidFill>
                            <a:srgbClr val="2E3142"/>
                          </a:solidFill>
                          <a:latin typeface="210 OmniGothic 040"/>
                          <a:ea typeface="210 OmniGothic 040"/>
                          <a:cs typeface="210 OmniGothic 040"/>
                        </a:rPr>
                        <a:t>LGR-001, ECR-001</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6"/>
                  </a:ext>
                </a:extLst>
              </a:tr>
              <a:tr h="502920">
                <a:tc gridSpan="2">
                  <a:txBody>
                    <a:bodyPr/>
                    <a:lstStyle/>
                    <a:p>
                      <a:pPr algn="ctr"/>
                      <a:r>
                        <a:rPr sz="1450" b="1" dirty="0" err="1">
                          <a:solidFill>
                            <a:srgbClr val="2E3142"/>
                          </a:solidFill>
                          <a:latin typeface="210 OmniGothic 040"/>
                          <a:ea typeface="210 OmniGothic 040"/>
                          <a:cs typeface="210 OmniGothic 040"/>
                        </a:rPr>
                        <a:t>요구사항</a:t>
                      </a:r>
                      <a:r>
                        <a:rPr sz="1450" b="1" dirty="0">
                          <a:solidFill>
                            <a:srgbClr val="2E3142"/>
                          </a:solidFill>
                          <a:latin typeface="210 OmniGothic 040"/>
                          <a:ea typeface="210 OmniGothic 040"/>
                          <a:cs typeface="210 OmniGothic 040"/>
                        </a:rPr>
                        <a:t> </a:t>
                      </a:r>
                      <a:r>
                        <a:rPr sz="1450" b="1" dirty="0" err="1">
                          <a:solidFill>
                            <a:srgbClr val="2E3142"/>
                          </a:solidFill>
                          <a:latin typeface="210 OmniGothic 040"/>
                          <a:ea typeface="210 OmniGothic 040"/>
                          <a:cs typeface="210 OmniGothic 040"/>
                        </a:rPr>
                        <a:t>출처</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r>
                        <a:rPr sz="1450" b="0" dirty="0" err="1">
                          <a:solidFill>
                            <a:srgbClr val="2E3142"/>
                          </a:solidFill>
                          <a:latin typeface="210 OmniGothic 040"/>
                          <a:ea typeface="210 OmniGothic 040"/>
                          <a:cs typeface="210 OmniGothic 040"/>
                        </a:rPr>
                        <a:t>보안</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요구사항</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51"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700" y="-12700"/>
            <a:ext cx="18313400" cy="1638300"/>
          </a:xfrm>
          <a:prstGeom prst="rect">
            <a:avLst/>
          </a:prstGeom>
        </p:spPr>
      </p:pic>
      <p:pic>
        <p:nvPicPr>
          <p:cNvPr id="5452"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28" y="1618343"/>
            <a:ext cx="18313400" cy="8699500"/>
          </a:xfrm>
          <a:prstGeom prst="rect">
            <a:avLst/>
          </a:prstGeom>
        </p:spPr>
      </p:pic>
      <p:pic>
        <p:nvPicPr>
          <p:cNvPr id="5453"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58800" y="9271000"/>
            <a:ext cx="17170400" cy="50800"/>
          </a:xfrm>
          <a:prstGeom prst="rect">
            <a:avLst/>
          </a:prstGeom>
        </p:spPr>
      </p:pic>
      <p:pic>
        <p:nvPicPr>
          <p:cNvPr id="5454" name="Picture 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278100" y="203200"/>
            <a:ext cx="1676400" cy="1409700"/>
          </a:xfrm>
          <a:prstGeom prst="rect">
            <a:avLst/>
          </a:prstGeom>
        </p:spPr>
      </p:pic>
      <p:sp>
        <p:nvSpPr>
          <p:cNvPr id="5455" name="Title"/>
          <p:cNvSpPr txBox="1"/>
          <p:nvPr/>
        </p:nvSpPr>
        <p:spPr>
          <a:xfrm>
            <a:off x="822960" y="384048"/>
            <a:ext cx="13258800" cy="877824"/>
          </a:xfrm>
          <a:prstGeom prst="rect">
            <a:avLst/>
          </a:prstGeom>
          <a:noFill/>
        </p:spPr>
        <p:txBody>
          <a:bodyPr wrap="square" lIns="0" tIns="0" rIns="0" bIns="0" anchor="ctr">
            <a:spAutoFit/>
          </a:bodyPr>
          <a:lstStyle/>
          <a:p>
            <a:pPr algn="l"/>
            <a:r>
              <a:rPr sz="4400" b="0">
                <a:solidFill>
                  <a:srgbClr val="FAA95A"/>
                </a:solidFill>
                <a:latin typeface="210 OmniGothic 050"/>
                <a:ea typeface="210 OmniGothic 050"/>
                <a:cs typeface="210 OmniGothic 050"/>
              </a:rPr>
              <a:t>07. 비기능 요구사항</a:t>
            </a:r>
          </a:p>
        </p:txBody>
      </p:sp>
      <p:sp>
        <p:nvSpPr>
          <p:cNvPr id="5456" name="Subtitle"/>
          <p:cNvSpPr txBox="1"/>
          <p:nvPr/>
        </p:nvSpPr>
        <p:spPr>
          <a:xfrm>
            <a:off x="822960" y="1764792"/>
            <a:ext cx="16642080" cy="502920"/>
          </a:xfrm>
          <a:prstGeom prst="rect">
            <a:avLst/>
          </a:prstGeom>
          <a:noFill/>
        </p:spPr>
        <p:txBody>
          <a:bodyPr wrap="square" lIns="0" tIns="0" rIns="0" bIns="0" anchor="ctr">
            <a:spAutoFit/>
          </a:bodyPr>
          <a:lstStyle/>
          <a:p>
            <a:pPr algn="ctr"/>
            <a:r>
              <a:rPr sz="2600" b="1">
                <a:solidFill>
                  <a:srgbClr val="363A52"/>
                </a:solidFill>
                <a:latin typeface="210 OmniGothic 040"/>
                <a:ea typeface="210 OmniGothic 040"/>
                <a:cs typeface="210 OmniGothic 040"/>
              </a:rPr>
              <a:t>보안 요구사항</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sz="quarter" idx="12"/>
          </p:nvPr>
        </p:nvSpPr>
        <p:spPr/>
        <p:txBody>
          <a:bodyPr/>
          <a:lstStyle/>
          <a:p>
            <a:fld id="{B6F15528-21DE-4FAA-801E-634DDDAF4B2B}" type="slidenum">
              <a:rPr lang="en-US" smtClean="0"/>
              <a:pPr/>
              <a:t>91</a:t>
            </a:fld>
            <a:endParaRPr lang="en-US"/>
          </a:p>
        </p:txBody>
      </p:sp>
      <p:graphicFrame>
        <p:nvGraphicFramePr>
          <p:cNvPr id="5457" name="Table 5456"/>
          <p:cNvGraphicFramePr>
            <a:graphicFrameLocks noGrp="1"/>
          </p:cNvGraphicFramePr>
          <p:nvPr/>
        </p:nvGraphicFramePr>
        <p:xfrm>
          <a:off x="2880360" y="2546604"/>
          <a:ext cx="12344400" cy="5180076"/>
        </p:xfrm>
        <a:graphic>
          <a:graphicData uri="http://schemas.openxmlformats.org/drawingml/2006/table">
            <a:tbl>
              <a:tblPr>
                <a:tableStyleId>{2D5ABB26-0587-4C30-8999-92F81FD0307C}</a:tableStyleId>
              </a:tblPr>
              <a:tblGrid>
                <a:gridCol w="245745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8286750">
                  <a:extLst>
                    <a:ext uri="{9D8B030D-6E8A-4147-A177-3AD203B41FA5}">
                      <a16:colId xmlns:a16="http://schemas.microsoft.com/office/drawing/2014/main" val="20002"/>
                    </a:ext>
                  </a:extLst>
                </a:gridCol>
              </a:tblGrid>
              <a:tr h="502920">
                <a:tc gridSpan="2">
                  <a:txBody>
                    <a:bodyPr/>
                    <a:lstStyle/>
                    <a:p>
                      <a:pPr algn="ctr"/>
                      <a:r>
                        <a:rPr sz="1450" b="1" dirty="0" err="1">
                          <a:solidFill>
                            <a:srgbClr val="2E3142"/>
                          </a:solidFill>
                          <a:latin typeface="210 OmniGothic 040"/>
                          <a:ea typeface="210 OmniGothic 040"/>
                          <a:cs typeface="210 OmniGothic 040"/>
                        </a:rPr>
                        <a:t>요구사항</a:t>
                      </a:r>
                      <a:r>
                        <a:rPr sz="1450" b="1" dirty="0">
                          <a:solidFill>
                            <a:srgbClr val="2E3142"/>
                          </a:solidFill>
                          <a:latin typeface="210 OmniGothic 040"/>
                          <a:ea typeface="210 OmniGothic 040"/>
                          <a:cs typeface="210 OmniGothic 040"/>
                        </a:rPr>
                        <a:t> </a:t>
                      </a:r>
                      <a:r>
                        <a:rPr sz="1450" b="1" dirty="0" err="1">
                          <a:solidFill>
                            <a:srgbClr val="2E3142"/>
                          </a:solidFill>
                          <a:latin typeface="210 OmniGothic 040"/>
                          <a:ea typeface="210 OmniGothic 040"/>
                          <a:cs typeface="210 OmniGothic 040"/>
                        </a:rPr>
                        <a:t>분류</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r>
                        <a:rPr sz="1450" b="0" dirty="0" err="1">
                          <a:solidFill>
                            <a:srgbClr val="2E3142"/>
                          </a:solidFill>
                          <a:latin typeface="210 OmniGothic 040"/>
                          <a:ea typeface="210 OmniGothic 040"/>
                          <a:cs typeface="210 OmniGothic 040"/>
                        </a:rPr>
                        <a:t>보안</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요구사항</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0"/>
                  </a:ext>
                </a:extLst>
              </a:tr>
              <a:tr h="502920">
                <a:tc gridSpan="2">
                  <a:txBody>
                    <a:bodyPr/>
                    <a:lstStyle/>
                    <a:p>
                      <a:pPr algn="ctr"/>
                      <a:r>
                        <a:rPr sz="1450" b="1" dirty="0" err="1">
                          <a:solidFill>
                            <a:srgbClr val="2E3142"/>
                          </a:solidFill>
                          <a:latin typeface="210 OmniGothic 040"/>
                          <a:ea typeface="210 OmniGothic 040"/>
                          <a:cs typeface="210 OmniGothic 040"/>
                        </a:rPr>
                        <a:t>요구사항</a:t>
                      </a:r>
                      <a:r>
                        <a:rPr sz="1450" b="1" dirty="0">
                          <a:solidFill>
                            <a:srgbClr val="2E3142"/>
                          </a:solidFill>
                          <a:latin typeface="210 OmniGothic 040"/>
                          <a:ea typeface="210 OmniGothic 040"/>
                          <a:cs typeface="210 OmniGothic 040"/>
                        </a:rPr>
                        <a:t> </a:t>
                      </a:r>
                      <a:r>
                        <a:rPr sz="1450" b="1" dirty="0" err="1">
                          <a:solidFill>
                            <a:srgbClr val="2E3142"/>
                          </a:solidFill>
                          <a:latin typeface="210 OmniGothic 040"/>
                          <a:ea typeface="210 OmniGothic 040"/>
                          <a:cs typeface="210 OmniGothic 040"/>
                        </a:rPr>
                        <a:t>고유번호</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r>
                        <a:rPr sz="1450" b="0" dirty="0">
                          <a:solidFill>
                            <a:srgbClr val="2E3142"/>
                          </a:solidFill>
                          <a:latin typeface="210 OmniGothic 040"/>
                          <a:ea typeface="210 OmniGothic 040"/>
                          <a:cs typeface="210 OmniGothic 040"/>
                        </a:rPr>
                        <a:t>SER-003</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1"/>
                  </a:ext>
                </a:extLst>
              </a:tr>
              <a:tr h="502920">
                <a:tc gridSpan="2">
                  <a:txBody>
                    <a:bodyPr/>
                    <a:lstStyle/>
                    <a:p>
                      <a:pPr algn="ctr"/>
                      <a:r>
                        <a:rPr sz="1450" b="1" dirty="0" err="1">
                          <a:solidFill>
                            <a:srgbClr val="2E3142"/>
                          </a:solidFill>
                          <a:latin typeface="210 OmniGothic 040"/>
                          <a:ea typeface="210 OmniGothic 040"/>
                          <a:cs typeface="210 OmniGothic 040"/>
                        </a:rPr>
                        <a:t>요구사항</a:t>
                      </a:r>
                      <a:r>
                        <a:rPr sz="1450" b="1" dirty="0">
                          <a:solidFill>
                            <a:srgbClr val="2E3142"/>
                          </a:solidFill>
                          <a:latin typeface="210 OmniGothic 040"/>
                          <a:ea typeface="210 OmniGothic 040"/>
                          <a:cs typeface="210 OmniGothic 040"/>
                        </a:rPr>
                        <a:t> </a:t>
                      </a:r>
                      <a:r>
                        <a:rPr sz="1450" b="1" dirty="0" err="1">
                          <a:solidFill>
                            <a:srgbClr val="2E3142"/>
                          </a:solidFill>
                          <a:latin typeface="210 OmniGothic 040"/>
                          <a:ea typeface="210 OmniGothic 040"/>
                          <a:cs typeface="210 OmniGothic 040"/>
                        </a:rPr>
                        <a:t>명칭</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r>
                        <a:rPr sz="1450" b="0" dirty="0" err="1">
                          <a:solidFill>
                            <a:srgbClr val="2E3142"/>
                          </a:solidFill>
                          <a:latin typeface="210 OmniGothic 040"/>
                          <a:ea typeface="210 OmniGothic 040"/>
                          <a:cs typeface="210 OmniGothic 040"/>
                        </a:rPr>
                        <a:t>통신·데이터</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보안</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2"/>
                  </a:ext>
                </a:extLst>
              </a:tr>
              <a:tr h="553212">
                <a:tc rowSpan="2">
                  <a:txBody>
                    <a:bodyPr/>
                    <a:lstStyle/>
                    <a:p>
                      <a:pPr algn="ctr"/>
                      <a:r>
                        <a:rPr sz="1450" b="1" dirty="0">
                          <a:solidFill>
                            <a:srgbClr val="2E3142"/>
                          </a:solidFill>
                          <a:latin typeface="210 OmniGothic 040"/>
                          <a:ea typeface="210 OmniGothic 040"/>
                          <a:cs typeface="210 OmniGothic 040"/>
                        </a:rPr>
                        <a:t>요구사항
</a:t>
                      </a:r>
                      <a:r>
                        <a:rPr sz="1450" b="1" dirty="0" err="1">
                          <a:solidFill>
                            <a:srgbClr val="2E3142"/>
                          </a:solidFill>
                          <a:latin typeface="210 OmniGothic 040"/>
                          <a:ea typeface="210 OmniGothic 040"/>
                          <a:cs typeface="210 OmniGothic 040"/>
                        </a:rPr>
                        <a:t>상세설명</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a:txBody>
                    <a:bodyPr/>
                    <a:lstStyle/>
                    <a:p>
                      <a:pPr algn="ctr"/>
                      <a:r>
                        <a:rPr sz="1450" b="1" dirty="0" err="1">
                          <a:solidFill>
                            <a:srgbClr val="2E3142"/>
                          </a:solidFill>
                          <a:latin typeface="210 OmniGothic 040"/>
                          <a:ea typeface="210 OmniGothic 040"/>
                          <a:cs typeface="210 OmniGothic 040"/>
                        </a:rPr>
                        <a:t>정의</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a:txBody>
                    <a:bodyPr/>
                    <a:lstStyle/>
                    <a:p>
                      <a:pPr algn="l"/>
                      <a:r>
                        <a:rPr sz="1450" b="0" dirty="0" err="1">
                          <a:solidFill>
                            <a:srgbClr val="2E3142"/>
                          </a:solidFill>
                          <a:latin typeface="210 OmniGothic 040"/>
                          <a:ea typeface="210 OmniGothic 040"/>
                          <a:cs typeface="210 OmniGothic 040"/>
                        </a:rPr>
                        <a:t>전송</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구간</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암호화와</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비밀번호</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보호</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3"/>
                  </a:ext>
                </a:extLst>
              </a:tr>
              <a:tr h="1609344">
                <a:tc vMerge="1">
                  <a:txBody>
                    <a:bodyPr/>
                    <a:lstStyle/>
                    <a:p>
                      <a:endParaRPr/>
                    </a:p>
                  </a:txBody>
                  <a:tcPr/>
                </a:tc>
                <a:tc>
                  <a:txBody>
                    <a:bodyPr/>
                    <a:lstStyle/>
                    <a:p>
                      <a:pPr algn="ctr"/>
                      <a:r>
                        <a:rPr sz="1450" b="1" dirty="0" err="1">
                          <a:solidFill>
                            <a:srgbClr val="2E3142"/>
                          </a:solidFill>
                          <a:latin typeface="210 OmniGothic 040"/>
                          <a:ea typeface="210 OmniGothic 040"/>
                          <a:cs typeface="210 OmniGothic 040"/>
                        </a:rPr>
                        <a:t>세부</a:t>
                      </a:r>
                      <a:r>
                        <a:rPr sz="1450" b="1" dirty="0">
                          <a:solidFill>
                            <a:srgbClr val="2E3142"/>
                          </a:solidFill>
                          <a:latin typeface="210 OmniGothic 040"/>
                          <a:ea typeface="210 OmniGothic 040"/>
                          <a:cs typeface="210 OmniGothic 040"/>
                        </a:rPr>
                        <a:t> </a:t>
                      </a:r>
                      <a:r>
                        <a:rPr sz="1450" b="1" dirty="0" err="1">
                          <a:solidFill>
                            <a:srgbClr val="2E3142"/>
                          </a:solidFill>
                          <a:latin typeface="210 OmniGothic 040"/>
                          <a:ea typeface="210 OmniGothic 040"/>
                          <a:cs typeface="210 OmniGothic 040"/>
                        </a:rPr>
                        <a:t>내용</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a:txBody>
                    <a:bodyPr/>
                    <a:lstStyle/>
                    <a:p>
                      <a:pPr lvl="0" algn="l">
                        <a:lnSpc>
                          <a:spcPct val="100000"/>
                        </a:lnSpc>
                        <a:spcBef>
                          <a:spcPts val="0"/>
                        </a:spcBef>
                        <a:spcAft>
                          <a:spcPts val="0"/>
                        </a:spcAft>
                        <a:buNone/>
                      </a:pPr>
                      <a:r>
                        <a:rPr lang="en-US" sz="1450" b="0" i="0" u="none" strike="noStrike" noProof="0" dirty="0">
                          <a:solidFill>
                            <a:srgbClr val="2E3142"/>
                          </a:solidFill>
                          <a:latin typeface="210 OmniGothic 040"/>
                          <a:ea typeface="210 OmniGothic 040"/>
                        </a:rPr>
                        <a:t>1. </a:t>
                      </a:r>
                      <a:r>
                        <a:rPr lang="ko-KR" altLang="en-US" sz="1450" b="0" i="0" u="none" strike="noStrike" noProof="0" dirty="0">
                          <a:solidFill>
                            <a:srgbClr val="2E3142"/>
                          </a:solidFill>
                          <a:latin typeface="210 OmniGothic 040"/>
                          <a:ea typeface="210 OmniGothic 040"/>
                        </a:rPr>
                        <a:t>외부</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통신</a:t>
                      </a:r>
                      <a:r>
                        <a:rPr lang="en-US" altLang="ko-KR" sz="1450" b="0" i="0" u="none" strike="noStrike" noProof="0" dirty="0">
                          <a:solidFill>
                            <a:srgbClr val="2E3142"/>
                          </a:solidFill>
                          <a:latin typeface="210 OmniGothic 040"/>
                          <a:ea typeface="210 OmniGothic 040"/>
                        </a:rPr>
                        <a:t> </a:t>
                      </a:r>
                      <a:r>
                        <a:rPr lang="en-US" sz="1450" b="0" i="0" u="none" strike="noStrike" noProof="0" dirty="0">
                          <a:solidFill>
                            <a:srgbClr val="2E3142"/>
                          </a:solidFill>
                          <a:latin typeface="210 OmniGothic 040"/>
                          <a:ea typeface="210 OmniGothic 040"/>
                        </a:rPr>
                        <a:t>HTTPS</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적용</a:t>
                      </a:r>
                      <a:endParaRPr lang="ko-KR" altLang="en-US" dirty="0">
                        <a:latin typeface="210 OmniGothic 040"/>
                        <a:ea typeface="210 OmniGothic 040"/>
                      </a:endParaRPr>
                    </a:p>
                    <a:p>
                      <a:pPr lvl="0" algn="l">
                        <a:lnSpc>
                          <a:spcPct val="100000"/>
                        </a:lnSpc>
                        <a:spcBef>
                          <a:spcPts val="0"/>
                        </a:spcBef>
                        <a:spcAft>
                          <a:spcPts val="0"/>
                        </a:spcAft>
                        <a:buNone/>
                      </a:pPr>
                      <a:r>
                        <a:rPr lang="en-US" sz="1450" b="0" i="0" u="none" strike="noStrike" noProof="0" dirty="0">
                          <a:solidFill>
                            <a:srgbClr val="2E3142"/>
                          </a:solidFill>
                          <a:latin typeface="210 OmniGothic 040"/>
                          <a:ea typeface="210 OmniGothic 040"/>
                        </a:rPr>
                        <a:t>2.</a:t>
                      </a:r>
                      <a:r>
                        <a:rPr lang="en-US" altLang="ko-KR" sz="1450" b="0" i="0" u="none" strike="noStrike" noProof="0" dirty="0">
                          <a:solidFill>
                            <a:srgbClr val="2E3142"/>
                          </a:solidFill>
                          <a:latin typeface="210 OmniGothic 040"/>
                          <a:ea typeface="210 OmniGothic 040"/>
                        </a:rPr>
                        <a:t> </a:t>
                      </a:r>
                      <a:r>
                        <a:rPr lang="en-US" sz="1450" b="0" i="0" u="none" strike="noStrike" noProof="0" dirty="0">
                          <a:solidFill>
                            <a:srgbClr val="2E3142"/>
                          </a:solidFill>
                          <a:latin typeface="210 OmniGothic 040"/>
                          <a:ea typeface="210 OmniGothic 040"/>
                        </a:rPr>
                        <a:t>GPU </a:t>
                      </a:r>
                      <a:r>
                        <a:rPr lang="en-US" sz="1450" b="0" i="0" u="none" strike="noStrike" noProof="0" dirty="0" err="1">
                          <a:solidFill>
                            <a:srgbClr val="2E3142"/>
                          </a:solidFill>
                          <a:latin typeface="210 OmniGothic 040"/>
                          <a:ea typeface="210 OmniGothic 040"/>
                        </a:rPr>
                        <a:t>서버는</a:t>
                      </a:r>
                      <a:r>
                        <a:rPr lang="en-US" sz="1450" b="0" i="0" u="none" strike="noStrike" noProof="0" dirty="0">
                          <a:solidFill>
                            <a:srgbClr val="2E3142"/>
                          </a:solidFill>
                          <a:latin typeface="210 OmniGothic 040"/>
                          <a:ea typeface="210 OmniGothic 040"/>
                        </a:rPr>
                        <a:t> </a:t>
                      </a:r>
                      <a:r>
                        <a:rPr lang="ko-KR" altLang="en-US" sz="1450" b="0" i="0" u="none" strike="noStrike" noProof="0" dirty="0" err="1">
                          <a:solidFill>
                            <a:srgbClr val="2E3142"/>
                          </a:solidFill>
                          <a:latin typeface="210 OmniGothic 040"/>
                          <a:ea typeface="210 OmniGothic 040"/>
                        </a:rPr>
                        <a:t>내부망</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또는</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제한된</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통신만</a:t>
                      </a:r>
                      <a:r>
                        <a:rPr lang="en-US" altLang="ko-KR" sz="1450" b="0" i="0" u="none" strike="noStrike" noProof="0" dirty="0">
                          <a:solidFill>
                            <a:srgbClr val="2E3142"/>
                          </a:solidFill>
                          <a:latin typeface="210 OmniGothic 040"/>
                          <a:ea typeface="210 OmniGothic 040"/>
                        </a:rPr>
                        <a:t> </a:t>
                      </a:r>
                      <a:r>
                        <a:rPr lang="en-US" sz="1450" b="0" i="0" u="none" strike="noStrike" noProof="0" dirty="0" err="1">
                          <a:solidFill>
                            <a:srgbClr val="2E3142"/>
                          </a:solidFill>
                          <a:latin typeface="210 OmniGothic 040"/>
                          <a:ea typeface="210 OmniGothic 040"/>
                        </a:rPr>
                        <a:t>허용</a:t>
                      </a:r>
                    </a:p>
                    <a:p>
                      <a:pPr lvl="0" algn="l">
                        <a:lnSpc>
                          <a:spcPct val="100000"/>
                        </a:lnSpc>
                        <a:spcBef>
                          <a:spcPts val="0"/>
                        </a:spcBef>
                        <a:spcAft>
                          <a:spcPts val="0"/>
                        </a:spcAft>
                        <a:buNone/>
                      </a:pPr>
                      <a:r>
                        <a:rPr lang="en-US" sz="1450" b="0" i="0" u="none" strike="noStrike" noProof="0" dirty="0">
                          <a:solidFill>
                            <a:srgbClr val="2E3142"/>
                          </a:solidFill>
                          <a:latin typeface="210 OmniGothic 040"/>
                          <a:ea typeface="210 OmniGothic 040"/>
                        </a:rPr>
                        <a:t>3. </a:t>
                      </a:r>
                      <a:r>
                        <a:rPr lang="ko-KR" altLang="en-US" sz="1450" b="0" i="0" u="none" strike="noStrike" noProof="0" dirty="0">
                          <a:solidFill>
                            <a:srgbClr val="2E3142"/>
                          </a:solidFill>
                          <a:latin typeface="210 OmniGothic 040"/>
                          <a:ea typeface="210 OmniGothic 040"/>
                        </a:rPr>
                        <a:t>비밀번호는</a:t>
                      </a:r>
                      <a:r>
                        <a:rPr lang="en-US" altLang="ko-KR" sz="1450" b="0" i="0" u="none" strike="noStrike" noProof="0" dirty="0">
                          <a:solidFill>
                            <a:srgbClr val="2E3142"/>
                          </a:solidFill>
                          <a:latin typeface="210 OmniGothic 040"/>
                          <a:ea typeface="210 OmniGothic 040"/>
                        </a:rPr>
                        <a:t> </a:t>
                      </a:r>
                      <a:r>
                        <a:rPr lang="en-US" sz="1450" b="0" i="0" u="none" strike="noStrike" noProof="0" dirty="0" err="1">
                          <a:solidFill>
                            <a:srgbClr val="2E3142"/>
                          </a:solidFill>
                          <a:latin typeface="210 OmniGothic 040"/>
                          <a:ea typeface="210 OmniGothic 040"/>
                        </a:rPr>
                        <a:t>해시</a:t>
                      </a:r>
                      <a:r>
                        <a:rPr lang="en-US" sz="1450" b="0" i="0" u="none" strike="noStrike" noProof="0" dirty="0">
                          <a:solidFill>
                            <a:srgbClr val="2E3142"/>
                          </a:solidFill>
                          <a:latin typeface="210 OmniGothic 040"/>
                          <a:ea typeface="210 OmniGothic 040"/>
                        </a:rPr>
                        <a:t> </a:t>
                      </a:r>
                      <a:r>
                        <a:rPr lang="en-US" sz="1450" b="0" i="0" u="none" strike="noStrike" noProof="0" dirty="0" err="1">
                          <a:solidFill>
                            <a:srgbClr val="2E3142"/>
                          </a:solidFill>
                          <a:latin typeface="210 OmniGothic 040"/>
                          <a:ea typeface="210 OmniGothic 040"/>
                        </a:rPr>
                        <a:t>저장</a:t>
                      </a:r>
                      <a:endParaRPr lang="en-US" i="0" u="none" strike="noStrike" noProof="0" dirty="0" err="1">
                        <a:latin typeface="210 OmniGothic 040"/>
                        <a:ea typeface="210 OmniGothic 040"/>
                      </a:endParaRPr>
                    </a:p>
                    <a:p>
                      <a:pPr lvl="0" algn="l">
                        <a:lnSpc>
                          <a:spcPct val="110000"/>
                        </a:lnSpc>
                        <a:buNone/>
                      </a:pPr>
                      <a:r>
                        <a:rPr lang="en-US" sz="1450" b="0" i="0" u="none" strike="noStrike" noProof="0" dirty="0">
                          <a:solidFill>
                            <a:srgbClr val="2E3142"/>
                          </a:solidFill>
                          <a:latin typeface="210 OmniGothic 040"/>
                          <a:ea typeface="210 OmniGothic 040"/>
                        </a:rPr>
                        <a:t>4. </a:t>
                      </a:r>
                      <a:r>
                        <a:rPr lang="ko-KR" altLang="en-US" sz="1450" b="0" i="0" u="none" strike="noStrike" noProof="0" dirty="0">
                          <a:solidFill>
                            <a:srgbClr val="2E3142"/>
                          </a:solidFill>
                          <a:latin typeface="210 OmniGothic 040"/>
                          <a:ea typeface="210 OmniGothic 040"/>
                        </a:rPr>
                        <a:t>주요</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변경</a:t>
                      </a:r>
                      <a:r>
                        <a:rPr lang="en-US" altLang="ko-KR" sz="1450" b="0" i="0" u="none" strike="noStrike" noProof="0" dirty="0">
                          <a:solidFill>
                            <a:srgbClr val="2E3142"/>
                          </a:solidFill>
                          <a:latin typeface="210 OmniGothic 040"/>
                          <a:ea typeface="210 OmniGothic 040"/>
                        </a:rPr>
                        <a:t> </a:t>
                      </a:r>
                      <a:r>
                        <a:rPr lang="en-US" sz="1450" b="0" i="0" u="none" strike="noStrike" noProof="0" dirty="0" err="1">
                          <a:solidFill>
                            <a:srgbClr val="2E3142"/>
                          </a:solidFill>
                          <a:latin typeface="210 OmniGothic 040"/>
                          <a:ea typeface="210 OmniGothic 040"/>
                        </a:rPr>
                        <a:t>요청은</a:t>
                      </a:r>
                      <a:r>
                        <a:rPr lang="en-US"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사용자</a:t>
                      </a:r>
                      <a:r>
                        <a:rPr lang="en-US" sz="1450" b="0" i="0" u="none" strike="noStrike" noProof="0" dirty="0">
                          <a:solidFill>
                            <a:srgbClr val="2E3142"/>
                          </a:solidFill>
                          <a:latin typeface="210 OmniGothic 040"/>
                          <a:ea typeface="210 OmniGothic 040"/>
                        </a:rPr>
                        <a:t>·</a:t>
                      </a:r>
                      <a:r>
                        <a:rPr lang="ko-KR" altLang="en-US" sz="1450" b="0" i="0" u="none" strike="noStrike" noProof="0" dirty="0">
                          <a:solidFill>
                            <a:srgbClr val="2E3142"/>
                          </a:solidFill>
                          <a:latin typeface="210 OmniGothic 040"/>
                          <a:ea typeface="210 OmniGothic 040"/>
                        </a:rPr>
                        <a:t>시각과</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함께</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로그</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기록</a:t>
                      </a:r>
                      <a:endParaRPr dirty="0">
                        <a:latin typeface="210 OmniGothic 040"/>
                        <a:ea typeface="210 OmniGothic 040"/>
                      </a:endParaRP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4"/>
                  </a:ext>
                </a:extLst>
              </a:tr>
              <a:tr h="502920">
                <a:tc gridSpan="2">
                  <a:txBody>
                    <a:bodyPr/>
                    <a:lstStyle/>
                    <a:p>
                      <a:pPr algn="ctr"/>
                      <a:r>
                        <a:rPr sz="1450" b="1" dirty="0" err="1">
                          <a:solidFill>
                            <a:srgbClr val="2E3142"/>
                          </a:solidFill>
                          <a:latin typeface="210 OmniGothic 040"/>
                          <a:ea typeface="210 OmniGothic 040"/>
                          <a:cs typeface="210 OmniGothic 040"/>
                        </a:rPr>
                        <a:t>산출정보</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endParaRP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5"/>
                  </a:ext>
                </a:extLst>
              </a:tr>
              <a:tr h="502920">
                <a:tc gridSpan="2">
                  <a:txBody>
                    <a:bodyPr/>
                    <a:lstStyle/>
                    <a:p>
                      <a:pPr algn="ctr"/>
                      <a:r>
                        <a:rPr sz="1450" b="1" dirty="0" err="1">
                          <a:solidFill>
                            <a:srgbClr val="2E3142"/>
                          </a:solidFill>
                          <a:latin typeface="210 OmniGothic 040"/>
                          <a:ea typeface="210 OmniGothic 040"/>
                          <a:cs typeface="210 OmniGothic 040"/>
                        </a:rPr>
                        <a:t>관련</a:t>
                      </a:r>
                      <a:r>
                        <a:rPr sz="1450" b="1" dirty="0">
                          <a:solidFill>
                            <a:srgbClr val="2E3142"/>
                          </a:solidFill>
                          <a:latin typeface="210 OmniGothic 040"/>
                          <a:ea typeface="210 OmniGothic 040"/>
                          <a:cs typeface="210 OmniGothic 040"/>
                        </a:rPr>
                        <a:t> </a:t>
                      </a:r>
                      <a:r>
                        <a:rPr sz="1450" b="1" dirty="0" err="1">
                          <a:solidFill>
                            <a:srgbClr val="2E3142"/>
                          </a:solidFill>
                          <a:latin typeface="210 OmniGothic 040"/>
                          <a:ea typeface="210 OmniGothic 040"/>
                          <a:cs typeface="210 OmniGothic 040"/>
                        </a:rPr>
                        <a:t>요구사항</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r>
                        <a:rPr sz="1450" b="0" dirty="0">
                          <a:solidFill>
                            <a:srgbClr val="2E3142"/>
                          </a:solidFill>
                          <a:latin typeface="210 OmniGothic 040"/>
                          <a:ea typeface="210 OmniGothic 040"/>
                          <a:cs typeface="210 OmniGothic 040"/>
                        </a:rPr>
                        <a:t>SER-001</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6"/>
                  </a:ext>
                </a:extLst>
              </a:tr>
              <a:tr h="502920">
                <a:tc gridSpan="2">
                  <a:txBody>
                    <a:bodyPr/>
                    <a:lstStyle/>
                    <a:p>
                      <a:pPr algn="ctr"/>
                      <a:r>
                        <a:rPr sz="1450" b="1" dirty="0" err="1">
                          <a:solidFill>
                            <a:srgbClr val="2E3142"/>
                          </a:solidFill>
                          <a:latin typeface="210 OmniGothic 040"/>
                          <a:ea typeface="210 OmniGothic 040"/>
                          <a:cs typeface="210 OmniGothic 040"/>
                        </a:rPr>
                        <a:t>요구사항</a:t>
                      </a:r>
                      <a:r>
                        <a:rPr sz="1450" b="1" dirty="0">
                          <a:solidFill>
                            <a:srgbClr val="2E3142"/>
                          </a:solidFill>
                          <a:latin typeface="210 OmniGothic 040"/>
                          <a:ea typeface="210 OmniGothic 040"/>
                          <a:cs typeface="210 OmniGothic 040"/>
                        </a:rPr>
                        <a:t> </a:t>
                      </a:r>
                      <a:r>
                        <a:rPr sz="1450" b="1" dirty="0" err="1">
                          <a:solidFill>
                            <a:srgbClr val="2E3142"/>
                          </a:solidFill>
                          <a:latin typeface="210 OmniGothic 040"/>
                          <a:ea typeface="210 OmniGothic 040"/>
                          <a:cs typeface="210 OmniGothic 040"/>
                        </a:rPr>
                        <a:t>출처</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r>
                        <a:rPr sz="1450" b="0" dirty="0" err="1">
                          <a:solidFill>
                            <a:srgbClr val="2E3142"/>
                          </a:solidFill>
                          <a:latin typeface="210 OmniGothic 040"/>
                          <a:ea typeface="210 OmniGothic 040"/>
                          <a:cs typeface="210 OmniGothic 040"/>
                        </a:rPr>
                        <a:t>보안</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요구사항</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56"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700" y="-12700"/>
            <a:ext cx="18313400" cy="1638300"/>
          </a:xfrm>
          <a:prstGeom prst="rect">
            <a:avLst/>
          </a:prstGeom>
        </p:spPr>
      </p:pic>
      <p:pic>
        <p:nvPicPr>
          <p:cNvPr id="5457"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28" y="1618343"/>
            <a:ext cx="18313400" cy="8699500"/>
          </a:xfrm>
          <a:prstGeom prst="rect">
            <a:avLst/>
          </a:prstGeom>
        </p:spPr>
      </p:pic>
      <p:pic>
        <p:nvPicPr>
          <p:cNvPr id="5458"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58800" y="9271000"/>
            <a:ext cx="17170400" cy="50800"/>
          </a:xfrm>
          <a:prstGeom prst="rect">
            <a:avLst/>
          </a:prstGeom>
        </p:spPr>
      </p:pic>
      <p:pic>
        <p:nvPicPr>
          <p:cNvPr id="5459" name="Picture 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278100" y="203200"/>
            <a:ext cx="1676400" cy="1409700"/>
          </a:xfrm>
          <a:prstGeom prst="rect">
            <a:avLst/>
          </a:prstGeom>
        </p:spPr>
      </p:pic>
      <p:sp>
        <p:nvSpPr>
          <p:cNvPr id="5460" name="Title"/>
          <p:cNvSpPr txBox="1"/>
          <p:nvPr/>
        </p:nvSpPr>
        <p:spPr>
          <a:xfrm>
            <a:off x="822960" y="384048"/>
            <a:ext cx="13258800" cy="877824"/>
          </a:xfrm>
          <a:prstGeom prst="rect">
            <a:avLst/>
          </a:prstGeom>
          <a:noFill/>
        </p:spPr>
        <p:txBody>
          <a:bodyPr wrap="square" lIns="0" tIns="0" rIns="0" bIns="0" anchor="ctr">
            <a:spAutoFit/>
          </a:bodyPr>
          <a:lstStyle/>
          <a:p>
            <a:pPr algn="l"/>
            <a:r>
              <a:rPr sz="4400" b="0">
                <a:solidFill>
                  <a:srgbClr val="FAA95A"/>
                </a:solidFill>
                <a:latin typeface="210 OmniGothic 050"/>
                <a:ea typeface="210 OmniGothic 050"/>
                <a:cs typeface="210 OmniGothic 050"/>
              </a:rPr>
              <a:t>07. 비기능 요구사항</a:t>
            </a:r>
          </a:p>
        </p:txBody>
      </p:sp>
      <p:sp>
        <p:nvSpPr>
          <p:cNvPr id="5461" name="Subtitle"/>
          <p:cNvSpPr txBox="1"/>
          <p:nvPr/>
        </p:nvSpPr>
        <p:spPr>
          <a:xfrm>
            <a:off x="822960" y="1764792"/>
            <a:ext cx="16642080" cy="502920"/>
          </a:xfrm>
          <a:prstGeom prst="rect">
            <a:avLst/>
          </a:prstGeom>
          <a:noFill/>
        </p:spPr>
        <p:txBody>
          <a:bodyPr wrap="square" lIns="0" tIns="0" rIns="0" bIns="0" anchor="ctr">
            <a:spAutoFit/>
          </a:bodyPr>
          <a:lstStyle/>
          <a:p>
            <a:pPr algn="ctr"/>
            <a:r>
              <a:rPr sz="2600" b="1">
                <a:solidFill>
                  <a:srgbClr val="363A52"/>
                </a:solidFill>
                <a:latin typeface="210 OmniGothic 040"/>
                <a:ea typeface="210 OmniGothic 040"/>
                <a:cs typeface="210 OmniGothic 040"/>
              </a:rPr>
              <a:t>법적/규제 요구사항</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sz="quarter" idx="12"/>
          </p:nvPr>
        </p:nvSpPr>
        <p:spPr/>
        <p:txBody>
          <a:bodyPr/>
          <a:lstStyle/>
          <a:p>
            <a:fld id="{B6F15528-21DE-4FAA-801E-634DDDAF4B2B}" type="slidenum">
              <a:rPr lang="en-US" smtClean="0"/>
              <a:pPr/>
              <a:t>92</a:t>
            </a:fld>
            <a:endParaRPr lang="en-US"/>
          </a:p>
        </p:txBody>
      </p:sp>
      <p:graphicFrame>
        <p:nvGraphicFramePr>
          <p:cNvPr id="5462" name="Table 5461"/>
          <p:cNvGraphicFramePr>
            <a:graphicFrameLocks noGrp="1"/>
          </p:cNvGraphicFramePr>
          <p:nvPr/>
        </p:nvGraphicFramePr>
        <p:xfrm>
          <a:off x="2880360" y="2546604"/>
          <a:ext cx="12344400" cy="5180076"/>
        </p:xfrm>
        <a:graphic>
          <a:graphicData uri="http://schemas.openxmlformats.org/drawingml/2006/table">
            <a:tbl>
              <a:tblPr>
                <a:tableStyleId>{2D5ABB26-0587-4C30-8999-92F81FD0307C}</a:tableStyleId>
              </a:tblPr>
              <a:tblGrid>
                <a:gridCol w="245745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8286750">
                  <a:extLst>
                    <a:ext uri="{9D8B030D-6E8A-4147-A177-3AD203B41FA5}">
                      <a16:colId xmlns:a16="http://schemas.microsoft.com/office/drawing/2014/main" val="20002"/>
                    </a:ext>
                  </a:extLst>
                </a:gridCol>
              </a:tblGrid>
              <a:tr h="502920">
                <a:tc gridSpan="2">
                  <a:txBody>
                    <a:bodyPr/>
                    <a:lstStyle/>
                    <a:p>
                      <a:pPr algn="ctr"/>
                      <a:r>
                        <a:rPr sz="1450" b="1" dirty="0" err="1">
                          <a:solidFill>
                            <a:srgbClr val="2E3142"/>
                          </a:solidFill>
                          <a:latin typeface="210 OmniGothic 040"/>
                          <a:ea typeface="210 OmniGothic 040"/>
                          <a:cs typeface="210 OmniGothic 040"/>
                        </a:rPr>
                        <a:t>요구사항</a:t>
                      </a:r>
                      <a:r>
                        <a:rPr sz="1450" b="1" dirty="0">
                          <a:solidFill>
                            <a:srgbClr val="2E3142"/>
                          </a:solidFill>
                          <a:latin typeface="210 OmniGothic 040"/>
                          <a:ea typeface="210 OmniGothic 040"/>
                          <a:cs typeface="210 OmniGothic 040"/>
                        </a:rPr>
                        <a:t> </a:t>
                      </a:r>
                      <a:r>
                        <a:rPr sz="1450" b="1" dirty="0" err="1">
                          <a:solidFill>
                            <a:srgbClr val="2E3142"/>
                          </a:solidFill>
                          <a:latin typeface="210 OmniGothic 040"/>
                          <a:ea typeface="210 OmniGothic 040"/>
                          <a:cs typeface="210 OmniGothic 040"/>
                        </a:rPr>
                        <a:t>분류</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r>
                        <a:rPr sz="1450" b="0" dirty="0" err="1">
                          <a:solidFill>
                            <a:srgbClr val="2E3142"/>
                          </a:solidFill>
                          <a:latin typeface="210 OmniGothic 040"/>
                          <a:ea typeface="210 OmniGothic 040"/>
                          <a:cs typeface="210 OmniGothic 040"/>
                        </a:rPr>
                        <a:t>법적</a:t>
                      </a:r>
                      <a:r>
                        <a:rPr sz="1450" b="0" dirty="0">
                          <a:solidFill>
                            <a:srgbClr val="2E3142"/>
                          </a:solidFill>
                          <a:latin typeface="210 OmniGothic 040"/>
                          <a:ea typeface="210 OmniGothic 040"/>
                          <a:cs typeface="210 OmniGothic 040"/>
                        </a:rPr>
                        <a:t>/</a:t>
                      </a:r>
                      <a:r>
                        <a:rPr sz="1450" b="0" dirty="0" err="1">
                          <a:solidFill>
                            <a:srgbClr val="2E3142"/>
                          </a:solidFill>
                          <a:latin typeface="210 OmniGothic 040"/>
                          <a:ea typeface="210 OmniGothic 040"/>
                          <a:cs typeface="210 OmniGothic 040"/>
                        </a:rPr>
                        <a:t>규제</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요구사항</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0"/>
                  </a:ext>
                </a:extLst>
              </a:tr>
              <a:tr h="502920">
                <a:tc gridSpan="2">
                  <a:txBody>
                    <a:bodyPr/>
                    <a:lstStyle/>
                    <a:p>
                      <a:pPr algn="ctr"/>
                      <a:r>
                        <a:rPr sz="1450" b="1" dirty="0" err="1">
                          <a:solidFill>
                            <a:srgbClr val="2E3142"/>
                          </a:solidFill>
                          <a:latin typeface="210 OmniGothic 040"/>
                          <a:ea typeface="210 OmniGothic 040"/>
                          <a:cs typeface="210 OmniGothic 040"/>
                        </a:rPr>
                        <a:t>요구사항</a:t>
                      </a:r>
                      <a:r>
                        <a:rPr sz="1450" b="1" dirty="0">
                          <a:solidFill>
                            <a:srgbClr val="2E3142"/>
                          </a:solidFill>
                          <a:latin typeface="210 OmniGothic 040"/>
                          <a:ea typeface="210 OmniGothic 040"/>
                          <a:cs typeface="210 OmniGothic 040"/>
                        </a:rPr>
                        <a:t> </a:t>
                      </a:r>
                      <a:r>
                        <a:rPr sz="1450" b="1" dirty="0" err="1">
                          <a:solidFill>
                            <a:srgbClr val="2E3142"/>
                          </a:solidFill>
                          <a:latin typeface="210 OmniGothic 040"/>
                          <a:ea typeface="210 OmniGothic 040"/>
                          <a:cs typeface="210 OmniGothic 040"/>
                        </a:rPr>
                        <a:t>고유번호</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r>
                        <a:rPr sz="1450" b="0" dirty="0">
                          <a:solidFill>
                            <a:srgbClr val="2E3142"/>
                          </a:solidFill>
                          <a:latin typeface="210 OmniGothic 040"/>
                          <a:ea typeface="210 OmniGothic 040"/>
                          <a:cs typeface="210 OmniGothic 040"/>
                        </a:rPr>
                        <a:t>LGR-001</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1"/>
                  </a:ext>
                </a:extLst>
              </a:tr>
              <a:tr h="502920">
                <a:tc gridSpan="2">
                  <a:txBody>
                    <a:bodyPr/>
                    <a:lstStyle/>
                    <a:p>
                      <a:pPr algn="ctr"/>
                      <a:r>
                        <a:rPr sz="1450" b="1" dirty="0" err="1">
                          <a:solidFill>
                            <a:srgbClr val="2E3142"/>
                          </a:solidFill>
                          <a:latin typeface="210 OmniGothic 040"/>
                          <a:ea typeface="210 OmniGothic 040"/>
                          <a:cs typeface="210 OmniGothic 040"/>
                        </a:rPr>
                        <a:t>요구사항</a:t>
                      </a:r>
                      <a:r>
                        <a:rPr sz="1450" b="1" dirty="0">
                          <a:solidFill>
                            <a:srgbClr val="2E3142"/>
                          </a:solidFill>
                          <a:latin typeface="210 OmniGothic 040"/>
                          <a:ea typeface="210 OmniGothic 040"/>
                          <a:cs typeface="210 OmniGothic 040"/>
                        </a:rPr>
                        <a:t> </a:t>
                      </a:r>
                      <a:r>
                        <a:rPr sz="1450" b="1" dirty="0" err="1">
                          <a:solidFill>
                            <a:srgbClr val="2E3142"/>
                          </a:solidFill>
                          <a:latin typeface="210 OmniGothic 040"/>
                          <a:ea typeface="210 OmniGothic 040"/>
                          <a:cs typeface="210 OmniGothic 040"/>
                        </a:rPr>
                        <a:t>명칭</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r>
                        <a:rPr sz="1450" b="0" dirty="0" err="1">
                          <a:solidFill>
                            <a:srgbClr val="2E3142"/>
                          </a:solidFill>
                          <a:latin typeface="210 OmniGothic 040"/>
                          <a:ea typeface="210 OmniGothic 040"/>
                          <a:cs typeface="210 OmniGothic 040"/>
                        </a:rPr>
                        <a:t>표준매뉴얼·법령</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근거</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준수</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2"/>
                  </a:ext>
                </a:extLst>
              </a:tr>
              <a:tr h="553212">
                <a:tc rowSpan="2">
                  <a:txBody>
                    <a:bodyPr/>
                    <a:lstStyle/>
                    <a:p>
                      <a:pPr algn="ctr"/>
                      <a:r>
                        <a:rPr sz="1450" b="1" dirty="0">
                          <a:solidFill>
                            <a:srgbClr val="2E3142"/>
                          </a:solidFill>
                          <a:latin typeface="210 OmniGothic 040"/>
                          <a:ea typeface="210 OmniGothic 040"/>
                          <a:cs typeface="210 OmniGothic 040"/>
                        </a:rPr>
                        <a:t>요구사항
</a:t>
                      </a:r>
                      <a:r>
                        <a:rPr sz="1450" b="1" dirty="0" err="1">
                          <a:solidFill>
                            <a:srgbClr val="2E3142"/>
                          </a:solidFill>
                          <a:latin typeface="210 OmniGothic 040"/>
                          <a:ea typeface="210 OmniGothic 040"/>
                          <a:cs typeface="210 OmniGothic 040"/>
                        </a:rPr>
                        <a:t>상세설명</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a:txBody>
                    <a:bodyPr/>
                    <a:lstStyle/>
                    <a:p>
                      <a:pPr algn="ctr"/>
                      <a:r>
                        <a:rPr sz="1450" b="1" dirty="0" err="1">
                          <a:solidFill>
                            <a:srgbClr val="2E3142"/>
                          </a:solidFill>
                          <a:latin typeface="210 OmniGothic 040"/>
                          <a:ea typeface="210 OmniGothic 040"/>
                          <a:cs typeface="210 OmniGothic 040"/>
                        </a:rPr>
                        <a:t>정의</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a:txBody>
                    <a:bodyPr/>
                    <a:lstStyle/>
                    <a:p>
                      <a:pPr lvl="0" algn="l">
                        <a:buNone/>
                      </a:pPr>
                      <a:r>
                        <a:rPr lang="ko-KR" altLang="en-US" sz="1450" b="0" i="0" u="none" strike="noStrike" noProof="0" dirty="0">
                          <a:solidFill>
                            <a:srgbClr val="2E3142"/>
                          </a:solidFill>
                          <a:latin typeface="210 OmniGothic 040"/>
                          <a:ea typeface="210 OmniGothic 040"/>
                        </a:rPr>
                        <a:t>대응</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제안의</a:t>
                      </a:r>
                      <a:r>
                        <a:rPr lang="en-US" sz="1450" b="0" i="0" u="none" strike="noStrike" noProof="0" dirty="0">
                          <a:solidFill>
                            <a:srgbClr val="2E3142"/>
                          </a:solidFill>
                          <a:latin typeface="210 OmniGothic 040"/>
                          <a:ea typeface="210 OmniGothic 040"/>
                        </a:rPr>
                        <a:t> </a:t>
                      </a:r>
                      <a:r>
                        <a:rPr lang="en-US" sz="1450" b="0" i="0" u="none" strike="noStrike" noProof="0" dirty="0" err="1">
                          <a:solidFill>
                            <a:srgbClr val="2E3142"/>
                          </a:solidFill>
                          <a:latin typeface="210 OmniGothic 040"/>
                          <a:ea typeface="210 OmniGothic 040"/>
                        </a:rPr>
                        <a:t>판단</a:t>
                      </a:r>
                      <a:r>
                        <a:rPr lang="en-US"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및</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설명은</a:t>
                      </a:r>
                      <a:r>
                        <a:rPr lang="en-US" altLang="ko-KR" sz="1450" b="0" i="0" u="none" strike="noStrike" noProof="0" dirty="0">
                          <a:solidFill>
                            <a:srgbClr val="2E3142"/>
                          </a:solidFill>
                          <a:latin typeface="210 OmniGothic 040"/>
                          <a:ea typeface="210 OmniGothic 040"/>
                        </a:rPr>
                        <a:t> </a:t>
                      </a:r>
                      <a:r>
                        <a:rPr lang="en-US" sz="1450" b="0" i="0" u="none" strike="noStrike" noProof="0" dirty="0" err="1">
                          <a:solidFill>
                            <a:srgbClr val="2E3142"/>
                          </a:solidFill>
                          <a:latin typeface="210 OmniGothic 040"/>
                          <a:ea typeface="210 OmniGothic 040"/>
                        </a:rPr>
                        <a:t>공식</a:t>
                      </a:r>
                      <a:r>
                        <a:rPr lang="en-US"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산불</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대응</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매뉴얼과</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관련</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규정에</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근거</a:t>
                      </a:r>
                      <a:endParaRPr sz="1450" b="0">
                        <a:solidFill>
                          <a:srgbClr val="2E3142"/>
                        </a:solidFill>
                        <a:latin typeface="210 OmniGothic 040"/>
                        <a:ea typeface="210 OmniGothic 040"/>
                        <a:cs typeface="210 OmniGothic 040"/>
                      </a:endParaRP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3"/>
                  </a:ext>
                </a:extLst>
              </a:tr>
              <a:tr h="1609344">
                <a:tc vMerge="1">
                  <a:txBody>
                    <a:bodyPr/>
                    <a:lstStyle/>
                    <a:p>
                      <a:endParaRPr/>
                    </a:p>
                  </a:txBody>
                  <a:tcPr/>
                </a:tc>
                <a:tc>
                  <a:txBody>
                    <a:bodyPr/>
                    <a:lstStyle/>
                    <a:p>
                      <a:pPr algn="ctr"/>
                      <a:r>
                        <a:rPr sz="1450" b="1" dirty="0" err="1">
                          <a:solidFill>
                            <a:srgbClr val="2E3142"/>
                          </a:solidFill>
                          <a:latin typeface="210 OmniGothic 040"/>
                          <a:ea typeface="210 OmniGothic 040"/>
                          <a:cs typeface="210 OmniGothic 040"/>
                        </a:rPr>
                        <a:t>세부</a:t>
                      </a:r>
                      <a:r>
                        <a:rPr sz="1450" b="1" dirty="0">
                          <a:solidFill>
                            <a:srgbClr val="2E3142"/>
                          </a:solidFill>
                          <a:latin typeface="210 OmniGothic 040"/>
                          <a:ea typeface="210 OmniGothic 040"/>
                          <a:cs typeface="210 OmniGothic 040"/>
                        </a:rPr>
                        <a:t> </a:t>
                      </a:r>
                      <a:r>
                        <a:rPr sz="1450" b="1" dirty="0" err="1">
                          <a:solidFill>
                            <a:srgbClr val="2E3142"/>
                          </a:solidFill>
                          <a:latin typeface="210 OmniGothic 040"/>
                          <a:ea typeface="210 OmniGothic 040"/>
                          <a:cs typeface="210 OmniGothic 040"/>
                        </a:rPr>
                        <a:t>내용</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a:txBody>
                    <a:bodyPr/>
                    <a:lstStyle/>
                    <a:p>
                      <a:pPr lvl="0" algn="l">
                        <a:lnSpc>
                          <a:spcPct val="100000"/>
                        </a:lnSpc>
                        <a:spcBef>
                          <a:spcPts val="0"/>
                        </a:spcBef>
                        <a:spcAft>
                          <a:spcPts val="0"/>
                        </a:spcAft>
                        <a:buNone/>
                      </a:pPr>
                      <a:r>
                        <a:rPr lang="en-US" sz="1450" b="0" i="0" u="none" strike="noStrike" noProof="0" dirty="0">
                          <a:solidFill>
                            <a:srgbClr val="2E3142"/>
                          </a:solidFill>
                          <a:latin typeface="210 OmniGothic 040"/>
                          <a:ea typeface="210 OmniGothic 040"/>
                        </a:rPr>
                        <a:t>1. </a:t>
                      </a:r>
                      <a:r>
                        <a:rPr lang="en-US" sz="1450" b="0" i="0" u="none" strike="noStrike" noProof="0" dirty="0" err="1">
                          <a:solidFill>
                            <a:srgbClr val="2E3142"/>
                          </a:solidFill>
                          <a:latin typeface="210 OmniGothic 040"/>
                          <a:ea typeface="210 OmniGothic 040"/>
                        </a:rPr>
                        <a:t>산불</a:t>
                      </a:r>
                      <a:r>
                        <a:rPr lang="en-US" sz="1450" b="0" i="0" u="none" strike="noStrike" noProof="0" dirty="0">
                          <a:solidFill>
                            <a:srgbClr val="2E3142"/>
                          </a:solidFill>
                          <a:latin typeface="210 OmniGothic 040"/>
                          <a:ea typeface="210 OmniGothic 040"/>
                        </a:rPr>
                        <a:t> </a:t>
                      </a:r>
                      <a:r>
                        <a:rPr lang="en-US" sz="1450" b="0" i="0" u="none" strike="noStrike" noProof="0" dirty="0" err="1">
                          <a:solidFill>
                            <a:srgbClr val="2E3142"/>
                          </a:solidFill>
                          <a:latin typeface="210 OmniGothic 040"/>
                          <a:ea typeface="210 OmniGothic 040"/>
                        </a:rPr>
                        <a:t>재난</a:t>
                      </a:r>
                      <a:r>
                        <a:rPr lang="en-US" sz="1450" b="0" i="0" u="none" strike="noStrike" noProof="0" dirty="0">
                          <a:solidFill>
                            <a:srgbClr val="2E3142"/>
                          </a:solidFill>
                          <a:latin typeface="210 OmniGothic 040"/>
                          <a:ea typeface="210 OmniGothic 040"/>
                        </a:rPr>
                        <a:t> </a:t>
                      </a:r>
                      <a:r>
                        <a:rPr lang="en-US" sz="1450" b="0" i="0" u="none" strike="noStrike" noProof="0" dirty="0" err="1">
                          <a:solidFill>
                            <a:srgbClr val="2E3142"/>
                          </a:solidFill>
                          <a:latin typeface="210 OmniGothic 040"/>
                          <a:ea typeface="210 OmniGothic 040"/>
                        </a:rPr>
                        <a:t>위기관리</a:t>
                      </a:r>
                      <a:r>
                        <a:rPr lang="en-US" sz="1450" b="0" i="0" u="none" strike="noStrike" noProof="0" dirty="0">
                          <a:solidFill>
                            <a:srgbClr val="2E3142"/>
                          </a:solidFill>
                          <a:latin typeface="210 OmniGothic 040"/>
                          <a:ea typeface="210 OmniGothic 040"/>
                        </a:rPr>
                        <a:t> </a:t>
                      </a:r>
                      <a:r>
                        <a:rPr lang="en-US" sz="1450" b="0" i="0" u="none" strike="noStrike" noProof="0" dirty="0" err="1">
                          <a:solidFill>
                            <a:srgbClr val="2E3142"/>
                          </a:solidFill>
                          <a:latin typeface="210 OmniGothic 040"/>
                          <a:ea typeface="210 OmniGothic 040"/>
                        </a:rPr>
                        <a:t>표준매뉴얼</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활용</a:t>
                      </a:r>
                      <a:endParaRPr lang="ko-KR" altLang="en-US" dirty="0">
                        <a:latin typeface="210 OmniGothic 040"/>
                        <a:ea typeface="210 OmniGothic 040"/>
                      </a:endParaRPr>
                    </a:p>
                    <a:p>
                      <a:pPr lvl="0" algn="l">
                        <a:lnSpc>
                          <a:spcPct val="100000"/>
                        </a:lnSpc>
                        <a:spcBef>
                          <a:spcPts val="0"/>
                        </a:spcBef>
                        <a:spcAft>
                          <a:spcPts val="0"/>
                        </a:spcAft>
                        <a:buNone/>
                      </a:pPr>
                      <a:r>
                        <a:rPr lang="en-US" sz="1450" b="0" i="0" u="none" strike="noStrike" noProof="0" dirty="0">
                          <a:solidFill>
                            <a:srgbClr val="2E3142"/>
                          </a:solidFill>
                          <a:latin typeface="210 OmniGothic 040"/>
                          <a:ea typeface="210 OmniGothic 040"/>
                        </a:rPr>
                        <a:t>2. </a:t>
                      </a:r>
                      <a:r>
                        <a:rPr lang="en-US" sz="1450" b="0" i="0" u="none" strike="noStrike" noProof="0" dirty="0" err="1">
                          <a:solidFill>
                            <a:srgbClr val="2E3142"/>
                          </a:solidFill>
                          <a:latin typeface="210 OmniGothic 040"/>
                          <a:ea typeface="210 OmniGothic 040"/>
                        </a:rPr>
                        <a:t>산불진화기관의</a:t>
                      </a:r>
                      <a:r>
                        <a:rPr lang="en-US" sz="1450" b="0" i="0" u="none" strike="noStrike" noProof="0" dirty="0">
                          <a:solidFill>
                            <a:srgbClr val="2E3142"/>
                          </a:solidFill>
                          <a:latin typeface="210 OmniGothic 040"/>
                          <a:ea typeface="210 OmniGothic 040"/>
                        </a:rPr>
                        <a:t> </a:t>
                      </a:r>
                      <a:r>
                        <a:rPr lang="en-US" sz="1450" b="0" i="0" u="none" strike="noStrike" noProof="0" dirty="0" err="1">
                          <a:solidFill>
                            <a:srgbClr val="2E3142"/>
                          </a:solidFill>
                          <a:latin typeface="210 OmniGothic 040"/>
                          <a:ea typeface="210 OmniGothic 040"/>
                        </a:rPr>
                        <a:t>임무와</a:t>
                      </a:r>
                      <a:r>
                        <a:rPr lang="en-US" sz="1450" b="0" i="0" u="none" strike="noStrike" noProof="0" dirty="0">
                          <a:solidFill>
                            <a:srgbClr val="2E3142"/>
                          </a:solidFill>
                          <a:latin typeface="210 OmniGothic 040"/>
                          <a:ea typeface="210 OmniGothic 040"/>
                        </a:rPr>
                        <a:t> </a:t>
                      </a:r>
                      <a:r>
                        <a:rPr lang="en-US" sz="1450" b="0" i="0" u="none" strike="noStrike" noProof="0" dirty="0" err="1">
                          <a:solidFill>
                            <a:srgbClr val="2E3142"/>
                          </a:solidFill>
                          <a:latin typeface="210 OmniGothic 040"/>
                          <a:ea typeface="210 OmniGothic 040"/>
                        </a:rPr>
                        <a:t>역할에</a:t>
                      </a:r>
                      <a:r>
                        <a:rPr lang="en-US" sz="1450" b="0" i="0" u="none" strike="noStrike" noProof="0" dirty="0">
                          <a:solidFill>
                            <a:srgbClr val="2E3142"/>
                          </a:solidFill>
                          <a:latin typeface="210 OmniGothic 040"/>
                          <a:ea typeface="210 OmniGothic 040"/>
                        </a:rPr>
                        <a:t> </a:t>
                      </a:r>
                      <a:r>
                        <a:rPr lang="en-US" sz="1450" b="0" i="0" u="none" strike="noStrike" noProof="0" dirty="0" err="1">
                          <a:solidFill>
                            <a:srgbClr val="2E3142"/>
                          </a:solidFill>
                          <a:latin typeface="210 OmniGothic 040"/>
                          <a:ea typeface="210 OmniGothic 040"/>
                        </a:rPr>
                        <a:t>관한</a:t>
                      </a:r>
                      <a:r>
                        <a:rPr lang="en-US" sz="1450" b="0" i="0" u="none" strike="noStrike" noProof="0" dirty="0">
                          <a:solidFill>
                            <a:srgbClr val="2E3142"/>
                          </a:solidFill>
                          <a:latin typeface="210 OmniGothic 040"/>
                          <a:ea typeface="210 OmniGothic 040"/>
                        </a:rPr>
                        <a:t> </a:t>
                      </a:r>
                      <a:r>
                        <a:rPr lang="en-US" sz="1450" b="0" i="0" u="none" strike="noStrike" noProof="0" dirty="0" err="1">
                          <a:solidFill>
                            <a:srgbClr val="2E3142"/>
                          </a:solidFill>
                          <a:latin typeface="210 OmniGothic 040"/>
                          <a:ea typeface="210 OmniGothic 040"/>
                        </a:rPr>
                        <a:t>규정</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활용</a:t>
                      </a:r>
                      <a:endParaRPr dirty="0">
                        <a:latin typeface="210 OmniGothic 040"/>
                        <a:ea typeface="210 OmniGothic 040"/>
                      </a:endParaRPr>
                    </a:p>
                    <a:p>
                      <a:pPr lvl="0" algn="l">
                        <a:lnSpc>
                          <a:spcPct val="100000"/>
                        </a:lnSpc>
                        <a:spcBef>
                          <a:spcPts val="0"/>
                        </a:spcBef>
                        <a:spcAft>
                          <a:spcPts val="0"/>
                        </a:spcAft>
                        <a:buNone/>
                      </a:pPr>
                      <a:r>
                        <a:rPr lang="en-US" sz="1450" b="0" i="0" u="none" strike="noStrike" noProof="0" dirty="0">
                          <a:solidFill>
                            <a:srgbClr val="2E3142"/>
                          </a:solidFill>
                          <a:latin typeface="210 OmniGothic 040"/>
                          <a:ea typeface="210 OmniGothic 040"/>
                        </a:rPr>
                        <a:t>3. </a:t>
                      </a:r>
                      <a:r>
                        <a:rPr lang="ko-KR" altLang="en-US" sz="1450" b="0" i="0" u="none" strike="noStrike" noProof="0" dirty="0">
                          <a:solidFill>
                            <a:srgbClr val="2E3142"/>
                          </a:solidFill>
                          <a:latin typeface="210 OmniGothic 040"/>
                          <a:ea typeface="210 OmniGothic 040"/>
                        </a:rPr>
                        <a:t>관련</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법령</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및</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규정의</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권한</a:t>
                      </a:r>
                      <a:r>
                        <a:rPr lang="en-US" sz="1450" b="0" i="0" u="none" strike="noStrike" noProof="0" dirty="0">
                          <a:solidFill>
                            <a:srgbClr val="2E3142"/>
                          </a:solidFill>
                          <a:latin typeface="210 OmniGothic 040"/>
                          <a:ea typeface="210 OmniGothic 040"/>
                        </a:rPr>
                        <a:t>·</a:t>
                      </a:r>
                      <a:r>
                        <a:rPr lang="ko-KR" altLang="en-US" sz="1450" b="0" i="0" u="none" strike="noStrike" noProof="0" dirty="0">
                          <a:solidFill>
                            <a:srgbClr val="2E3142"/>
                          </a:solidFill>
                          <a:latin typeface="210 OmniGothic 040"/>
                          <a:ea typeface="210 OmniGothic 040"/>
                        </a:rPr>
                        <a:t>대응</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기준</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반영</a:t>
                      </a:r>
                      <a:endParaRPr lang="ko-KR" dirty="0">
                        <a:latin typeface="210 OmniGothic 040"/>
                        <a:ea typeface="210 OmniGothic 040"/>
                      </a:endParaRPr>
                    </a:p>
                    <a:p>
                      <a:pPr lvl="0" algn="l">
                        <a:lnSpc>
                          <a:spcPct val="110000"/>
                        </a:lnSpc>
                        <a:buNone/>
                      </a:pPr>
                      <a:r>
                        <a:rPr lang="en-US" sz="1450" b="0" i="0" u="none" strike="noStrike" noProof="0" dirty="0">
                          <a:solidFill>
                            <a:srgbClr val="2E3142"/>
                          </a:solidFill>
                          <a:latin typeface="210 OmniGothic 040"/>
                          <a:ea typeface="210 OmniGothic 040"/>
                        </a:rPr>
                        <a:t>4.</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제안문과</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근거</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문서를</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연결</a:t>
                      </a:r>
                      <a:endParaRPr dirty="0">
                        <a:latin typeface="210 OmniGothic 040"/>
                        <a:ea typeface="210 OmniGothic 040"/>
                      </a:endParaRP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4"/>
                  </a:ext>
                </a:extLst>
              </a:tr>
              <a:tr h="502920">
                <a:tc gridSpan="2">
                  <a:txBody>
                    <a:bodyPr/>
                    <a:lstStyle/>
                    <a:p>
                      <a:pPr algn="ctr"/>
                      <a:r>
                        <a:rPr sz="1450" b="1" dirty="0" err="1">
                          <a:solidFill>
                            <a:srgbClr val="2E3142"/>
                          </a:solidFill>
                          <a:latin typeface="210 OmniGothic 040"/>
                          <a:ea typeface="210 OmniGothic 040"/>
                          <a:cs typeface="210 OmniGothic 040"/>
                        </a:rPr>
                        <a:t>산출정보</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endParaRP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5"/>
                  </a:ext>
                </a:extLst>
              </a:tr>
              <a:tr h="502920">
                <a:tc gridSpan="2">
                  <a:txBody>
                    <a:bodyPr/>
                    <a:lstStyle/>
                    <a:p>
                      <a:pPr algn="ctr"/>
                      <a:r>
                        <a:rPr sz="1450" b="1" dirty="0" err="1">
                          <a:solidFill>
                            <a:srgbClr val="2E3142"/>
                          </a:solidFill>
                          <a:latin typeface="210 OmniGothic 040"/>
                          <a:ea typeface="210 OmniGothic 040"/>
                          <a:cs typeface="210 OmniGothic 040"/>
                        </a:rPr>
                        <a:t>관련</a:t>
                      </a:r>
                      <a:r>
                        <a:rPr sz="1450" b="1" dirty="0">
                          <a:solidFill>
                            <a:srgbClr val="2E3142"/>
                          </a:solidFill>
                          <a:latin typeface="210 OmniGothic 040"/>
                          <a:ea typeface="210 OmniGothic 040"/>
                          <a:cs typeface="210 OmniGothic 040"/>
                        </a:rPr>
                        <a:t> </a:t>
                      </a:r>
                      <a:r>
                        <a:rPr sz="1450" b="1" dirty="0" err="1">
                          <a:solidFill>
                            <a:srgbClr val="2E3142"/>
                          </a:solidFill>
                          <a:latin typeface="210 OmniGothic 040"/>
                          <a:ea typeface="210 OmniGothic 040"/>
                          <a:cs typeface="210 OmniGothic 040"/>
                        </a:rPr>
                        <a:t>요구사항</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r>
                        <a:rPr sz="1450" b="0" dirty="0">
                          <a:solidFill>
                            <a:srgbClr val="2E3142"/>
                          </a:solidFill>
                          <a:latin typeface="210 OmniGothic 040"/>
                          <a:ea typeface="210 OmniGothic 040"/>
                          <a:cs typeface="210 OmniGothic 040"/>
                        </a:rPr>
                        <a:t>QUR-001</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6"/>
                  </a:ext>
                </a:extLst>
              </a:tr>
              <a:tr h="502920">
                <a:tc gridSpan="2">
                  <a:txBody>
                    <a:bodyPr/>
                    <a:lstStyle/>
                    <a:p>
                      <a:pPr algn="ctr"/>
                      <a:r>
                        <a:rPr sz="1450" b="1" dirty="0" err="1">
                          <a:solidFill>
                            <a:srgbClr val="2E3142"/>
                          </a:solidFill>
                          <a:latin typeface="210 OmniGothic 040"/>
                          <a:ea typeface="210 OmniGothic 040"/>
                          <a:cs typeface="210 OmniGothic 040"/>
                        </a:rPr>
                        <a:t>요구사항</a:t>
                      </a:r>
                      <a:r>
                        <a:rPr sz="1450" b="1" dirty="0">
                          <a:solidFill>
                            <a:srgbClr val="2E3142"/>
                          </a:solidFill>
                          <a:latin typeface="210 OmniGothic 040"/>
                          <a:ea typeface="210 OmniGothic 040"/>
                          <a:cs typeface="210 OmniGothic 040"/>
                        </a:rPr>
                        <a:t> </a:t>
                      </a:r>
                      <a:r>
                        <a:rPr sz="1450" b="1" dirty="0" err="1">
                          <a:solidFill>
                            <a:srgbClr val="2E3142"/>
                          </a:solidFill>
                          <a:latin typeface="210 OmniGothic 040"/>
                          <a:ea typeface="210 OmniGothic 040"/>
                          <a:cs typeface="210 OmniGothic 040"/>
                        </a:rPr>
                        <a:t>출처</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r>
                        <a:rPr sz="1450" b="0" dirty="0" err="1">
                          <a:solidFill>
                            <a:srgbClr val="2E3142"/>
                          </a:solidFill>
                          <a:latin typeface="210 OmniGothic 040"/>
                          <a:ea typeface="210 OmniGothic 040"/>
                          <a:cs typeface="210 OmniGothic 040"/>
                        </a:rPr>
                        <a:t>법적</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요구사항</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61"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2700" y="-12700"/>
            <a:ext cx="18313400" cy="1638300"/>
          </a:xfrm>
          <a:prstGeom prst="rect">
            <a:avLst/>
          </a:prstGeom>
        </p:spPr>
      </p:pic>
      <p:pic>
        <p:nvPicPr>
          <p:cNvPr id="5462"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628" y="1618343"/>
            <a:ext cx="18313400" cy="8699500"/>
          </a:xfrm>
          <a:prstGeom prst="rect">
            <a:avLst/>
          </a:prstGeom>
        </p:spPr>
      </p:pic>
      <p:pic>
        <p:nvPicPr>
          <p:cNvPr id="5463"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58800" y="9271000"/>
            <a:ext cx="17170400" cy="50800"/>
          </a:xfrm>
          <a:prstGeom prst="rect">
            <a:avLst/>
          </a:prstGeom>
        </p:spPr>
      </p:pic>
      <p:pic>
        <p:nvPicPr>
          <p:cNvPr id="5464" name="Picture 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278100" y="203200"/>
            <a:ext cx="1676400" cy="1409700"/>
          </a:xfrm>
          <a:prstGeom prst="rect">
            <a:avLst/>
          </a:prstGeom>
        </p:spPr>
      </p:pic>
      <p:sp>
        <p:nvSpPr>
          <p:cNvPr id="5465" name="Title"/>
          <p:cNvSpPr txBox="1"/>
          <p:nvPr/>
        </p:nvSpPr>
        <p:spPr>
          <a:xfrm>
            <a:off x="822960" y="384048"/>
            <a:ext cx="13258800" cy="877824"/>
          </a:xfrm>
          <a:prstGeom prst="rect">
            <a:avLst/>
          </a:prstGeom>
          <a:noFill/>
        </p:spPr>
        <p:txBody>
          <a:bodyPr wrap="square" lIns="0" tIns="0" rIns="0" bIns="0" anchor="ctr">
            <a:spAutoFit/>
          </a:bodyPr>
          <a:lstStyle/>
          <a:p>
            <a:pPr algn="l"/>
            <a:r>
              <a:rPr sz="4400" b="0">
                <a:solidFill>
                  <a:srgbClr val="FAA95A"/>
                </a:solidFill>
                <a:latin typeface="210 OmniGothic 050"/>
                <a:ea typeface="210 OmniGothic 050"/>
                <a:cs typeface="210 OmniGothic 050"/>
              </a:rPr>
              <a:t>07. 비기능 요구사항</a:t>
            </a:r>
          </a:p>
        </p:txBody>
      </p:sp>
      <p:sp>
        <p:nvSpPr>
          <p:cNvPr id="5466" name="Subtitle"/>
          <p:cNvSpPr txBox="1"/>
          <p:nvPr/>
        </p:nvSpPr>
        <p:spPr>
          <a:xfrm>
            <a:off x="822960" y="1764792"/>
            <a:ext cx="16642080" cy="502920"/>
          </a:xfrm>
          <a:prstGeom prst="rect">
            <a:avLst/>
          </a:prstGeom>
          <a:noFill/>
        </p:spPr>
        <p:txBody>
          <a:bodyPr wrap="square" lIns="0" tIns="0" rIns="0" bIns="0" anchor="ctr">
            <a:spAutoFit/>
          </a:bodyPr>
          <a:lstStyle/>
          <a:p>
            <a:pPr algn="ctr"/>
            <a:r>
              <a:rPr sz="2600" b="1">
                <a:solidFill>
                  <a:srgbClr val="363A52"/>
                </a:solidFill>
                <a:latin typeface="210 OmniGothic 040"/>
                <a:ea typeface="210 OmniGothic 040"/>
                <a:cs typeface="210 OmniGothic 040"/>
              </a:rPr>
              <a:t>법적/규제 요구사항</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sz="quarter" idx="12"/>
          </p:nvPr>
        </p:nvSpPr>
        <p:spPr/>
        <p:txBody>
          <a:bodyPr/>
          <a:lstStyle/>
          <a:p>
            <a:fld id="{B6F15528-21DE-4FAA-801E-634DDDAF4B2B}" type="slidenum">
              <a:rPr lang="en-US" smtClean="0"/>
              <a:pPr/>
              <a:t>93</a:t>
            </a:fld>
            <a:endParaRPr lang="en-US"/>
          </a:p>
        </p:txBody>
      </p:sp>
      <p:graphicFrame>
        <p:nvGraphicFramePr>
          <p:cNvPr id="5467" name="Table 5466"/>
          <p:cNvGraphicFramePr>
            <a:graphicFrameLocks noGrp="1"/>
          </p:cNvGraphicFramePr>
          <p:nvPr/>
        </p:nvGraphicFramePr>
        <p:xfrm>
          <a:off x="2880360" y="2546604"/>
          <a:ext cx="12344400" cy="5180076"/>
        </p:xfrm>
        <a:graphic>
          <a:graphicData uri="http://schemas.openxmlformats.org/drawingml/2006/table">
            <a:tbl>
              <a:tblPr>
                <a:tableStyleId>{2D5ABB26-0587-4C30-8999-92F81FD0307C}</a:tableStyleId>
              </a:tblPr>
              <a:tblGrid>
                <a:gridCol w="245745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8286750">
                  <a:extLst>
                    <a:ext uri="{9D8B030D-6E8A-4147-A177-3AD203B41FA5}">
                      <a16:colId xmlns:a16="http://schemas.microsoft.com/office/drawing/2014/main" val="20002"/>
                    </a:ext>
                  </a:extLst>
                </a:gridCol>
              </a:tblGrid>
              <a:tr h="502920">
                <a:tc gridSpan="2">
                  <a:txBody>
                    <a:bodyPr/>
                    <a:lstStyle/>
                    <a:p>
                      <a:pPr algn="ctr"/>
                      <a:r>
                        <a:rPr sz="1450" b="1" dirty="0" err="1">
                          <a:solidFill>
                            <a:srgbClr val="2E3142"/>
                          </a:solidFill>
                          <a:latin typeface="210 OmniGothic 040"/>
                          <a:ea typeface="210 OmniGothic 040"/>
                          <a:cs typeface="210 OmniGothic 040"/>
                        </a:rPr>
                        <a:t>요구사항</a:t>
                      </a:r>
                      <a:r>
                        <a:rPr sz="1450" b="1" dirty="0">
                          <a:solidFill>
                            <a:srgbClr val="2E3142"/>
                          </a:solidFill>
                          <a:latin typeface="210 OmniGothic 040"/>
                          <a:ea typeface="210 OmniGothic 040"/>
                          <a:cs typeface="210 OmniGothic 040"/>
                        </a:rPr>
                        <a:t> </a:t>
                      </a:r>
                      <a:r>
                        <a:rPr sz="1450" b="1" dirty="0" err="1">
                          <a:solidFill>
                            <a:srgbClr val="2E3142"/>
                          </a:solidFill>
                          <a:latin typeface="210 OmniGothic 040"/>
                          <a:ea typeface="210 OmniGothic 040"/>
                          <a:cs typeface="210 OmniGothic 040"/>
                        </a:rPr>
                        <a:t>분류</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r>
                        <a:rPr sz="1450" b="0" dirty="0" err="1">
                          <a:solidFill>
                            <a:srgbClr val="2E3142"/>
                          </a:solidFill>
                          <a:latin typeface="210 OmniGothic 040"/>
                          <a:ea typeface="210 OmniGothic 040"/>
                          <a:cs typeface="210 OmniGothic 040"/>
                        </a:rPr>
                        <a:t>법적</a:t>
                      </a:r>
                      <a:r>
                        <a:rPr sz="1450" b="0" dirty="0">
                          <a:solidFill>
                            <a:srgbClr val="2E3142"/>
                          </a:solidFill>
                          <a:latin typeface="210 OmniGothic 040"/>
                          <a:ea typeface="210 OmniGothic 040"/>
                          <a:cs typeface="210 OmniGothic 040"/>
                        </a:rPr>
                        <a:t>/</a:t>
                      </a:r>
                      <a:r>
                        <a:rPr sz="1450" b="0" dirty="0" err="1">
                          <a:solidFill>
                            <a:srgbClr val="2E3142"/>
                          </a:solidFill>
                          <a:latin typeface="210 OmniGothic 040"/>
                          <a:ea typeface="210 OmniGothic 040"/>
                          <a:cs typeface="210 OmniGothic 040"/>
                        </a:rPr>
                        <a:t>규제</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요구사항</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0"/>
                  </a:ext>
                </a:extLst>
              </a:tr>
              <a:tr h="502920">
                <a:tc gridSpan="2">
                  <a:txBody>
                    <a:bodyPr/>
                    <a:lstStyle/>
                    <a:p>
                      <a:pPr algn="ctr"/>
                      <a:r>
                        <a:rPr sz="1450" b="1" dirty="0" err="1">
                          <a:solidFill>
                            <a:srgbClr val="2E3142"/>
                          </a:solidFill>
                          <a:latin typeface="210 OmniGothic 040"/>
                          <a:ea typeface="210 OmniGothic 040"/>
                          <a:cs typeface="210 OmniGothic 040"/>
                        </a:rPr>
                        <a:t>요구사항</a:t>
                      </a:r>
                      <a:r>
                        <a:rPr sz="1450" b="1" dirty="0">
                          <a:solidFill>
                            <a:srgbClr val="2E3142"/>
                          </a:solidFill>
                          <a:latin typeface="210 OmniGothic 040"/>
                          <a:ea typeface="210 OmniGothic 040"/>
                          <a:cs typeface="210 OmniGothic 040"/>
                        </a:rPr>
                        <a:t> </a:t>
                      </a:r>
                      <a:r>
                        <a:rPr sz="1450" b="1" dirty="0" err="1">
                          <a:solidFill>
                            <a:srgbClr val="2E3142"/>
                          </a:solidFill>
                          <a:latin typeface="210 OmniGothic 040"/>
                          <a:ea typeface="210 OmniGothic 040"/>
                          <a:cs typeface="210 OmniGothic 040"/>
                        </a:rPr>
                        <a:t>고유번호</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r>
                        <a:rPr sz="1450" b="0" dirty="0">
                          <a:solidFill>
                            <a:srgbClr val="2E3142"/>
                          </a:solidFill>
                          <a:latin typeface="210 OmniGothic 040"/>
                          <a:ea typeface="210 OmniGothic 040"/>
                          <a:cs typeface="210 OmniGothic 040"/>
                        </a:rPr>
                        <a:t>LGR-002</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1"/>
                  </a:ext>
                </a:extLst>
              </a:tr>
              <a:tr h="502920">
                <a:tc gridSpan="2">
                  <a:txBody>
                    <a:bodyPr/>
                    <a:lstStyle/>
                    <a:p>
                      <a:pPr algn="ctr"/>
                      <a:r>
                        <a:rPr sz="1450" b="1" dirty="0" err="1">
                          <a:solidFill>
                            <a:srgbClr val="2E3142"/>
                          </a:solidFill>
                          <a:latin typeface="210 OmniGothic 040"/>
                          <a:ea typeface="210 OmniGothic 040"/>
                          <a:cs typeface="210 OmniGothic 040"/>
                        </a:rPr>
                        <a:t>요구사항</a:t>
                      </a:r>
                      <a:r>
                        <a:rPr sz="1450" b="1" dirty="0">
                          <a:solidFill>
                            <a:srgbClr val="2E3142"/>
                          </a:solidFill>
                          <a:latin typeface="210 OmniGothic 040"/>
                          <a:ea typeface="210 OmniGothic 040"/>
                          <a:cs typeface="210 OmniGothic 040"/>
                        </a:rPr>
                        <a:t> </a:t>
                      </a:r>
                      <a:r>
                        <a:rPr sz="1450" b="1" dirty="0" err="1">
                          <a:solidFill>
                            <a:srgbClr val="2E3142"/>
                          </a:solidFill>
                          <a:latin typeface="210 OmniGothic 040"/>
                          <a:ea typeface="210 OmniGothic 040"/>
                          <a:cs typeface="210 OmniGothic 040"/>
                        </a:rPr>
                        <a:t>명칭</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r>
                        <a:rPr sz="1450" b="0" dirty="0" err="1">
                          <a:solidFill>
                            <a:srgbClr val="2E3142"/>
                          </a:solidFill>
                          <a:latin typeface="210 OmniGothic 040"/>
                          <a:ea typeface="210 OmniGothic 040"/>
                          <a:cs typeface="210 OmniGothic 040"/>
                        </a:rPr>
                        <a:t>권고</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시스템</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고지</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2"/>
                  </a:ext>
                </a:extLst>
              </a:tr>
              <a:tr h="553212">
                <a:tc rowSpan="2">
                  <a:txBody>
                    <a:bodyPr/>
                    <a:lstStyle/>
                    <a:p>
                      <a:pPr algn="ctr"/>
                      <a:r>
                        <a:rPr sz="1450" b="1" dirty="0">
                          <a:solidFill>
                            <a:srgbClr val="2E3142"/>
                          </a:solidFill>
                          <a:latin typeface="210 OmniGothic 040"/>
                          <a:ea typeface="210 OmniGothic 040"/>
                          <a:cs typeface="210 OmniGothic 040"/>
                        </a:rPr>
                        <a:t>요구사항
</a:t>
                      </a:r>
                      <a:r>
                        <a:rPr sz="1450" b="1" dirty="0" err="1">
                          <a:solidFill>
                            <a:srgbClr val="2E3142"/>
                          </a:solidFill>
                          <a:latin typeface="210 OmniGothic 040"/>
                          <a:ea typeface="210 OmniGothic 040"/>
                          <a:cs typeface="210 OmniGothic 040"/>
                        </a:rPr>
                        <a:t>상세설명</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a:txBody>
                    <a:bodyPr/>
                    <a:lstStyle/>
                    <a:p>
                      <a:pPr algn="ctr"/>
                      <a:r>
                        <a:rPr sz="1450" b="1" dirty="0" err="1">
                          <a:solidFill>
                            <a:srgbClr val="2E3142"/>
                          </a:solidFill>
                          <a:latin typeface="210 OmniGothic 040"/>
                          <a:ea typeface="210 OmniGothic 040"/>
                          <a:cs typeface="210 OmniGothic 040"/>
                        </a:rPr>
                        <a:t>정의</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a:txBody>
                    <a:bodyPr/>
                    <a:lstStyle/>
                    <a:p>
                      <a:pPr algn="l"/>
                      <a:r>
                        <a:rPr sz="1450" b="0" dirty="0" err="1">
                          <a:solidFill>
                            <a:srgbClr val="2E3142"/>
                          </a:solidFill>
                          <a:latin typeface="210 OmniGothic 040"/>
                          <a:ea typeface="210 OmniGothic 040"/>
                          <a:cs typeface="210 OmniGothic 040"/>
                        </a:rPr>
                        <a:t>시스템은</a:t>
                      </a:r>
                      <a:r>
                        <a:rPr sz="1450" b="0" dirty="0">
                          <a:solidFill>
                            <a:srgbClr val="2E3142"/>
                          </a:solidFill>
                          <a:latin typeface="210 OmniGothic 040"/>
                          <a:ea typeface="210 OmniGothic 040"/>
                          <a:cs typeface="210 OmniGothic 040"/>
                        </a:rPr>
                        <a:t> </a:t>
                      </a:r>
                      <a:r>
                        <a:rPr lang="ko-KR" sz="1450" b="0" dirty="0">
                          <a:solidFill>
                            <a:srgbClr val="2E3142"/>
                          </a:solidFill>
                          <a:latin typeface="210 OmniGothic 040"/>
                          <a:ea typeface="210 OmniGothic 040"/>
                          <a:cs typeface="210 OmniGothic 040"/>
                        </a:rPr>
                        <a:t>의사결정 지원을 </a:t>
                      </a:r>
                      <a:r>
                        <a:rPr lang="ko-KR" altLang="en-US" sz="1450" b="0" dirty="0">
                          <a:solidFill>
                            <a:srgbClr val="2E3142"/>
                          </a:solidFill>
                          <a:latin typeface="210 OmniGothic 040"/>
                          <a:ea typeface="210 OmniGothic 040"/>
                          <a:cs typeface="210 OmniGothic 040"/>
                        </a:rPr>
                        <a:t>제공하며</a:t>
                      </a:r>
                      <a:r>
                        <a:rPr lang="ko-K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법적</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권한을</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대신하지</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않음</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3"/>
                  </a:ext>
                </a:extLst>
              </a:tr>
              <a:tr h="1609344">
                <a:tc vMerge="1">
                  <a:txBody>
                    <a:bodyPr/>
                    <a:lstStyle/>
                    <a:p>
                      <a:endParaRPr/>
                    </a:p>
                  </a:txBody>
                  <a:tcPr/>
                </a:tc>
                <a:tc>
                  <a:txBody>
                    <a:bodyPr/>
                    <a:lstStyle/>
                    <a:p>
                      <a:pPr algn="ctr"/>
                      <a:r>
                        <a:rPr sz="1450" b="1" dirty="0" err="1">
                          <a:solidFill>
                            <a:srgbClr val="2E3142"/>
                          </a:solidFill>
                          <a:latin typeface="210 OmniGothic 040"/>
                          <a:ea typeface="210 OmniGothic 040"/>
                          <a:cs typeface="210 OmniGothic 040"/>
                        </a:rPr>
                        <a:t>세부</a:t>
                      </a:r>
                      <a:r>
                        <a:rPr sz="1450" b="1" dirty="0">
                          <a:solidFill>
                            <a:srgbClr val="2E3142"/>
                          </a:solidFill>
                          <a:latin typeface="210 OmniGothic 040"/>
                          <a:ea typeface="210 OmniGothic 040"/>
                          <a:cs typeface="210 OmniGothic 040"/>
                        </a:rPr>
                        <a:t> </a:t>
                      </a:r>
                      <a:r>
                        <a:rPr sz="1450" b="1" dirty="0" err="1">
                          <a:solidFill>
                            <a:srgbClr val="2E3142"/>
                          </a:solidFill>
                          <a:latin typeface="210 OmniGothic 040"/>
                          <a:ea typeface="210 OmniGothic 040"/>
                          <a:cs typeface="210 OmniGothic 040"/>
                        </a:rPr>
                        <a:t>내용</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a:txBody>
                    <a:bodyPr/>
                    <a:lstStyle/>
                    <a:p>
                      <a:pPr lvl="0" algn="l">
                        <a:lnSpc>
                          <a:spcPct val="100000"/>
                        </a:lnSpc>
                        <a:spcBef>
                          <a:spcPts val="0"/>
                        </a:spcBef>
                        <a:spcAft>
                          <a:spcPts val="0"/>
                        </a:spcAft>
                        <a:buNone/>
                      </a:pPr>
                      <a:r>
                        <a:rPr lang="en-US" sz="1450" b="0" i="0" u="none" strike="noStrike" noProof="0" dirty="0">
                          <a:solidFill>
                            <a:srgbClr val="2E3142"/>
                          </a:solidFill>
                          <a:latin typeface="210 OmniGothic 040"/>
                          <a:ea typeface="210 OmniGothic 040"/>
                        </a:rPr>
                        <a:t>1. </a:t>
                      </a:r>
                      <a:r>
                        <a:rPr lang="ko-KR" altLang="en-US" sz="1450" b="0" i="0" u="none" strike="noStrike" noProof="0" dirty="0">
                          <a:solidFill>
                            <a:srgbClr val="2E3142"/>
                          </a:solidFill>
                          <a:latin typeface="210 OmniGothic 040"/>
                          <a:ea typeface="210 OmniGothic 040"/>
                        </a:rPr>
                        <a:t>대응</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제안은</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권고</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형태로</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제공</a:t>
                      </a:r>
                      <a:endParaRPr sz="1450" b="0" dirty="0">
                        <a:solidFill>
                          <a:srgbClr val="2E3142"/>
                        </a:solidFill>
                        <a:latin typeface="210 OmniGothic 040"/>
                        <a:ea typeface="210 OmniGothic 040"/>
                        <a:cs typeface="210 OmniGothic 040"/>
                      </a:endParaRPr>
                    </a:p>
                    <a:p>
                      <a:pPr lvl="0" algn="l">
                        <a:lnSpc>
                          <a:spcPct val="100000"/>
                        </a:lnSpc>
                        <a:spcBef>
                          <a:spcPts val="0"/>
                        </a:spcBef>
                        <a:spcAft>
                          <a:spcPts val="0"/>
                        </a:spcAft>
                        <a:buNone/>
                      </a:pPr>
                      <a:r>
                        <a:rPr lang="en-US" sz="1450" b="0" i="0" u="none" strike="noStrike" noProof="0" dirty="0">
                          <a:solidFill>
                            <a:srgbClr val="2E3142"/>
                          </a:solidFill>
                          <a:latin typeface="210 OmniGothic 040"/>
                          <a:ea typeface="210 OmniGothic 040"/>
                        </a:rPr>
                        <a:t>2. </a:t>
                      </a:r>
                      <a:r>
                        <a:rPr lang="ko-KR" altLang="en-US" sz="1450" b="0" i="0" u="none" strike="noStrike" noProof="0" dirty="0">
                          <a:solidFill>
                            <a:srgbClr val="2E3142"/>
                          </a:solidFill>
                          <a:latin typeface="210 OmniGothic 040"/>
                          <a:ea typeface="210 OmniGothic 040"/>
                        </a:rPr>
                        <a:t>최종</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결정은</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err="1">
                          <a:solidFill>
                            <a:srgbClr val="2E3142"/>
                          </a:solidFill>
                          <a:latin typeface="210 OmniGothic 040"/>
                          <a:ea typeface="210 OmniGothic 040"/>
                        </a:rPr>
                        <a:t>통합지휘권자가</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수행</a:t>
                      </a:r>
                      <a:endParaRPr dirty="0">
                        <a:latin typeface="210 OmniGothic 040"/>
                        <a:ea typeface="210 OmniGothic 040"/>
                      </a:endParaRPr>
                    </a:p>
                    <a:p>
                      <a:pPr lvl="0" algn="l">
                        <a:lnSpc>
                          <a:spcPct val="100000"/>
                        </a:lnSpc>
                        <a:spcBef>
                          <a:spcPts val="0"/>
                        </a:spcBef>
                        <a:spcAft>
                          <a:spcPts val="0"/>
                        </a:spcAft>
                        <a:buNone/>
                      </a:pPr>
                      <a:r>
                        <a:rPr lang="en-US" sz="1450" b="0" i="0" u="none" strike="noStrike" noProof="0" dirty="0">
                          <a:solidFill>
                            <a:srgbClr val="2E3142"/>
                          </a:solidFill>
                          <a:latin typeface="210 OmniGothic 040"/>
                          <a:ea typeface="210 OmniGothic 040"/>
                        </a:rPr>
                        <a:t>3. </a:t>
                      </a:r>
                      <a:r>
                        <a:rPr lang="ko-KR" altLang="en-US" sz="1450" b="0" i="0" u="none" strike="noStrike" noProof="0" dirty="0">
                          <a:solidFill>
                            <a:srgbClr val="2E3142"/>
                          </a:solidFill>
                          <a:latin typeface="210 OmniGothic 040"/>
                          <a:ea typeface="210 OmniGothic 040"/>
                        </a:rPr>
                        <a:t>시스템이</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자동으로</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법적</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명령</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또는</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권한</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변경을</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수행하지</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않음</a:t>
                      </a:r>
                      <a:endParaRPr dirty="0">
                        <a:latin typeface="210 OmniGothic 040"/>
                        <a:ea typeface="210 OmniGothic 040"/>
                      </a:endParaRPr>
                    </a:p>
                    <a:p>
                      <a:pPr lvl="0" algn="l">
                        <a:lnSpc>
                          <a:spcPct val="110000"/>
                        </a:lnSpc>
                        <a:buNone/>
                      </a:pPr>
                      <a:r>
                        <a:rPr lang="en-US" sz="1450" b="0" i="0" u="none" strike="noStrike" noProof="0" dirty="0">
                          <a:solidFill>
                            <a:srgbClr val="2E3142"/>
                          </a:solidFill>
                          <a:latin typeface="210 OmniGothic 040"/>
                          <a:ea typeface="210 OmniGothic 040"/>
                        </a:rPr>
                        <a:t>4. </a:t>
                      </a:r>
                      <a:r>
                        <a:rPr lang="en-US" sz="1450" b="0" i="0" u="none" strike="noStrike" noProof="0" dirty="0" err="1">
                          <a:solidFill>
                            <a:srgbClr val="2E3142"/>
                          </a:solidFill>
                          <a:latin typeface="210 OmniGothic 040"/>
                          <a:ea typeface="210 OmniGothic 040"/>
                        </a:rPr>
                        <a:t>상황</a:t>
                      </a:r>
                      <a:r>
                        <a:rPr lang="en-US" sz="1450" b="0" i="0" u="none" strike="noStrike" noProof="0" dirty="0">
                          <a:solidFill>
                            <a:srgbClr val="2E3142"/>
                          </a:solidFill>
                          <a:latin typeface="210 OmniGothic 040"/>
                          <a:ea typeface="210 OmniGothic 040"/>
                        </a:rPr>
                        <a:t> </a:t>
                      </a:r>
                      <a:r>
                        <a:rPr lang="en-US" sz="1450" b="0" i="0" u="none" strike="noStrike" noProof="0" dirty="0" err="1">
                          <a:solidFill>
                            <a:srgbClr val="2E3142"/>
                          </a:solidFill>
                          <a:latin typeface="210 OmniGothic 040"/>
                          <a:ea typeface="210 OmniGothic 040"/>
                        </a:rPr>
                        <a:t>정정은</a:t>
                      </a:r>
                      <a:r>
                        <a:rPr lang="en-US" sz="1450" b="0" i="0" u="none" strike="noStrike" noProof="0" dirty="0">
                          <a:solidFill>
                            <a:srgbClr val="2E3142"/>
                          </a:solidFill>
                          <a:latin typeface="210 OmniGothic 040"/>
                          <a:ea typeface="210 OmniGothic 040"/>
                        </a:rPr>
                        <a:t> </a:t>
                      </a:r>
                      <a:r>
                        <a:rPr lang="en-US" sz="1450" b="0" i="0" u="none" strike="noStrike" noProof="0" dirty="0" err="1">
                          <a:solidFill>
                            <a:srgbClr val="2E3142"/>
                          </a:solidFill>
                          <a:latin typeface="210 OmniGothic 040"/>
                          <a:ea typeface="210 OmniGothic 040"/>
                        </a:rPr>
                        <a:t>사용자가</a:t>
                      </a:r>
                      <a:r>
                        <a:rPr lang="en-US"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변경</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내용을</a:t>
                      </a:r>
                      <a:r>
                        <a:rPr lang="en-US" altLang="ko-KR" sz="1450" b="0" i="0" u="none" strike="noStrike" noProof="0" dirty="0">
                          <a:solidFill>
                            <a:srgbClr val="2E3142"/>
                          </a:solidFill>
                          <a:latin typeface="210 OmniGothic 040"/>
                          <a:ea typeface="210 OmniGothic 040"/>
                        </a:rPr>
                        <a:t> </a:t>
                      </a:r>
                      <a:r>
                        <a:rPr lang="en-US" sz="1450" b="0" i="0" u="none" strike="noStrike" noProof="0" dirty="0" err="1">
                          <a:solidFill>
                            <a:srgbClr val="2E3142"/>
                          </a:solidFill>
                          <a:latin typeface="210 OmniGothic 040"/>
                          <a:ea typeface="210 OmniGothic 040"/>
                        </a:rPr>
                        <a:t>확인한</a:t>
                      </a:r>
                      <a:r>
                        <a:rPr lang="en-US"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뒤</a:t>
                      </a:r>
                      <a:r>
                        <a:rPr lang="en-US" sz="1450" b="0" i="0" u="none" strike="noStrike" noProof="0" dirty="0">
                          <a:solidFill>
                            <a:srgbClr val="2E3142"/>
                          </a:solidFill>
                          <a:latin typeface="210 OmniGothic 040"/>
                          <a:ea typeface="210 OmniGothic 040"/>
                        </a:rPr>
                        <a:t> </a:t>
                      </a:r>
                      <a:r>
                        <a:rPr lang="en-US" sz="1450" b="0" i="0" u="none" strike="noStrike" noProof="0" dirty="0" err="1">
                          <a:solidFill>
                            <a:srgbClr val="2E3142"/>
                          </a:solidFill>
                          <a:latin typeface="210 OmniGothic 040"/>
                          <a:ea typeface="210 OmniGothic 040"/>
                        </a:rPr>
                        <a:t>저장</a:t>
                      </a:r>
                      <a:endParaRPr lang="en-US" i="0" u="none" strike="noStrike" noProof="0" dirty="0" err="1">
                        <a:latin typeface="210 OmniGothic 040"/>
                        <a:ea typeface="210 OmniGothic 040"/>
                      </a:endParaRP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4"/>
                  </a:ext>
                </a:extLst>
              </a:tr>
              <a:tr h="502920">
                <a:tc gridSpan="2">
                  <a:txBody>
                    <a:bodyPr/>
                    <a:lstStyle/>
                    <a:p>
                      <a:pPr algn="ctr"/>
                      <a:r>
                        <a:rPr sz="1450" b="1" dirty="0" err="1">
                          <a:solidFill>
                            <a:srgbClr val="2E3142"/>
                          </a:solidFill>
                          <a:latin typeface="210 OmniGothic 040"/>
                          <a:ea typeface="210 OmniGothic 040"/>
                          <a:cs typeface="210 OmniGothic 040"/>
                        </a:rPr>
                        <a:t>산출정보</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endParaRP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5"/>
                  </a:ext>
                </a:extLst>
              </a:tr>
              <a:tr h="502920">
                <a:tc gridSpan="2">
                  <a:txBody>
                    <a:bodyPr/>
                    <a:lstStyle/>
                    <a:p>
                      <a:pPr algn="ctr"/>
                      <a:r>
                        <a:rPr sz="1450" b="1" dirty="0" err="1">
                          <a:solidFill>
                            <a:srgbClr val="2E3142"/>
                          </a:solidFill>
                          <a:latin typeface="210 OmniGothic 040"/>
                          <a:ea typeface="210 OmniGothic 040"/>
                          <a:cs typeface="210 OmniGothic 040"/>
                        </a:rPr>
                        <a:t>관련</a:t>
                      </a:r>
                      <a:r>
                        <a:rPr sz="1450" b="1" dirty="0">
                          <a:solidFill>
                            <a:srgbClr val="2E3142"/>
                          </a:solidFill>
                          <a:latin typeface="210 OmniGothic 040"/>
                          <a:ea typeface="210 OmniGothic 040"/>
                          <a:cs typeface="210 OmniGothic 040"/>
                        </a:rPr>
                        <a:t> </a:t>
                      </a:r>
                      <a:r>
                        <a:rPr sz="1450" b="1" dirty="0" err="1">
                          <a:solidFill>
                            <a:srgbClr val="2E3142"/>
                          </a:solidFill>
                          <a:latin typeface="210 OmniGothic 040"/>
                          <a:ea typeface="210 OmniGothic 040"/>
                          <a:cs typeface="210 OmniGothic 040"/>
                        </a:rPr>
                        <a:t>요구사항</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r>
                        <a:rPr sz="1450" b="0" dirty="0">
                          <a:solidFill>
                            <a:srgbClr val="2E3142"/>
                          </a:solidFill>
                          <a:latin typeface="210 OmniGothic 040"/>
                          <a:ea typeface="210 OmniGothic 040"/>
                          <a:cs typeface="210 OmniGothic 040"/>
                        </a:rPr>
                        <a:t>LGR-001</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6"/>
                  </a:ext>
                </a:extLst>
              </a:tr>
              <a:tr h="502920">
                <a:tc gridSpan="2">
                  <a:txBody>
                    <a:bodyPr/>
                    <a:lstStyle/>
                    <a:p>
                      <a:pPr algn="ctr"/>
                      <a:r>
                        <a:rPr sz="1450" b="1" dirty="0" err="1">
                          <a:solidFill>
                            <a:srgbClr val="2E3142"/>
                          </a:solidFill>
                          <a:latin typeface="210 OmniGothic 040"/>
                          <a:ea typeface="210 OmniGothic 040"/>
                          <a:cs typeface="210 OmniGothic 040"/>
                        </a:rPr>
                        <a:t>요구사항</a:t>
                      </a:r>
                      <a:r>
                        <a:rPr sz="1450" b="1" dirty="0">
                          <a:solidFill>
                            <a:srgbClr val="2E3142"/>
                          </a:solidFill>
                          <a:latin typeface="210 OmniGothic 040"/>
                          <a:ea typeface="210 OmniGothic 040"/>
                          <a:cs typeface="210 OmniGothic 040"/>
                        </a:rPr>
                        <a:t> </a:t>
                      </a:r>
                      <a:r>
                        <a:rPr sz="1450" b="1" dirty="0" err="1">
                          <a:solidFill>
                            <a:srgbClr val="2E3142"/>
                          </a:solidFill>
                          <a:latin typeface="210 OmniGothic 040"/>
                          <a:ea typeface="210 OmniGothic 040"/>
                          <a:cs typeface="210 OmniGothic 040"/>
                        </a:rPr>
                        <a:t>출처</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r>
                        <a:rPr sz="1450" b="0" dirty="0" err="1">
                          <a:solidFill>
                            <a:srgbClr val="2E3142"/>
                          </a:solidFill>
                          <a:latin typeface="210 OmniGothic 040"/>
                          <a:ea typeface="210 OmniGothic 040"/>
                          <a:cs typeface="210 OmniGothic 040"/>
                        </a:rPr>
                        <a:t>법적</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요구사항</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66"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700" y="-12700"/>
            <a:ext cx="18313400" cy="1638300"/>
          </a:xfrm>
          <a:prstGeom prst="rect">
            <a:avLst/>
          </a:prstGeom>
        </p:spPr>
      </p:pic>
      <p:pic>
        <p:nvPicPr>
          <p:cNvPr id="5467"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28" y="1618343"/>
            <a:ext cx="18313400" cy="8699500"/>
          </a:xfrm>
          <a:prstGeom prst="rect">
            <a:avLst/>
          </a:prstGeom>
        </p:spPr>
      </p:pic>
      <p:pic>
        <p:nvPicPr>
          <p:cNvPr id="5468"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58800" y="9271000"/>
            <a:ext cx="17170400" cy="50800"/>
          </a:xfrm>
          <a:prstGeom prst="rect">
            <a:avLst/>
          </a:prstGeom>
        </p:spPr>
      </p:pic>
      <p:pic>
        <p:nvPicPr>
          <p:cNvPr id="5469" name="Picture 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278100" y="203200"/>
            <a:ext cx="1676400" cy="1409700"/>
          </a:xfrm>
          <a:prstGeom prst="rect">
            <a:avLst/>
          </a:prstGeom>
        </p:spPr>
      </p:pic>
      <p:sp>
        <p:nvSpPr>
          <p:cNvPr id="5470" name="Title"/>
          <p:cNvSpPr txBox="1"/>
          <p:nvPr/>
        </p:nvSpPr>
        <p:spPr>
          <a:xfrm>
            <a:off x="822960" y="384048"/>
            <a:ext cx="13258800" cy="877824"/>
          </a:xfrm>
          <a:prstGeom prst="rect">
            <a:avLst/>
          </a:prstGeom>
          <a:noFill/>
        </p:spPr>
        <p:txBody>
          <a:bodyPr wrap="square" lIns="0" tIns="0" rIns="0" bIns="0" anchor="ctr">
            <a:spAutoFit/>
          </a:bodyPr>
          <a:lstStyle/>
          <a:p>
            <a:pPr algn="l"/>
            <a:r>
              <a:rPr sz="4400" b="0">
                <a:solidFill>
                  <a:srgbClr val="FAA95A"/>
                </a:solidFill>
                <a:latin typeface="210 OmniGothic 050"/>
                <a:ea typeface="210 OmniGothic 050"/>
                <a:cs typeface="210 OmniGothic 050"/>
              </a:rPr>
              <a:t>07. 비기능 요구사항</a:t>
            </a:r>
          </a:p>
        </p:txBody>
      </p:sp>
      <p:sp>
        <p:nvSpPr>
          <p:cNvPr id="5471" name="Subtitle"/>
          <p:cNvSpPr txBox="1"/>
          <p:nvPr/>
        </p:nvSpPr>
        <p:spPr>
          <a:xfrm>
            <a:off x="822960" y="1764792"/>
            <a:ext cx="16642080" cy="502920"/>
          </a:xfrm>
          <a:prstGeom prst="rect">
            <a:avLst/>
          </a:prstGeom>
          <a:noFill/>
        </p:spPr>
        <p:txBody>
          <a:bodyPr wrap="square" lIns="0" tIns="0" rIns="0" bIns="0" anchor="ctr">
            <a:spAutoFit/>
          </a:bodyPr>
          <a:lstStyle/>
          <a:p>
            <a:pPr algn="ctr"/>
            <a:r>
              <a:rPr sz="2600" b="1">
                <a:solidFill>
                  <a:srgbClr val="363A52"/>
                </a:solidFill>
                <a:latin typeface="210 OmniGothic 040"/>
                <a:ea typeface="210 OmniGothic 040"/>
                <a:cs typeface="210 OmniGothic 040"/>
              </a:rPr>
              <a:t>법적/규제 요구사항</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sz="quarter" idx="12"/>
          </p:nvPr>
        </p:nvSpPr>
        <p:spPr/>
        <p:txBody>
          <a:bodyPr/>
          <a:lstStyle/>
          <a:p>
            <a:fld id="{B6F15528-21DE-4FAA-801E-634DDDAF4B2B}" type="slidenum">
              <a:rPr lang="en-US" smtClean="0"/>
              <a:pPr/>
              <a:t>94</a:t>
            </a:fld>
            <a:endParaRPr lang="en-US"/>
          </a:p>
        </p:txBody>
      </p:sp>
      <p:graphicFrame>
        <p:nvGraphicFramePr>
          <p:cNvPr id="5472" name="Table 5471"/>
          <p:cNvGraphicFramePr>
            <a:graphicFrameLocks noGrp="1"/>
          </p:cNvGraphicFramePr>
          <p:nvPr/>
        </p:nvGraphicFramePr>
        <p:xfrm>
          <a:off x="2880360" y="2546604"/>
          <a:ext cx="12344400" cy="5180076"/>
        </p:xfrm>
        <a:graphic>
          <a:graphicData uri="http://schemas.openxmlformats.org/drawingml/2006/table">
            <a:tbl>
              <a:tblPr>
                <a:tableStyleId>{2D5ABB26-0587-4C30-8999-92F81FD0307C}</a:tableStyleId>
              </a:tblPr>
              <a:tblGrid>
                <a:gridCol w="245745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8286750">
                  <a:extLst>
                    <a:ext uri="{9D8B030D-6E8A-4147-A177-3AD203B41FA5}">
                      <a16:colId xmlns:a16="http://schemas.microsoft.com/office/drawing/2014/main" val="20002"/>
                    </a:ext>
                  </a:extLst>
                </a:gridCol>
              </a:tblGrid>
              <a:tr h="502920">
                <a:tc gridSpan="2">
                  <a:txBody>
                    <a:bodyPr/>
                    <a:lstStyle/>
                    <a:p>
                      <a:pPr algn="ctr"/>
                      <a:r>
                        <a:rPr sz="1450" b="1" dirty="0" err="1">
                          <a:solidFill>
                            <a:srgbClr val="2E3142"/>
                          </a:solidFill>
                          <a:latin typeface="210 OmniGothic 040"/>
                          <a:ea typeface="210 OmniGothic 040"/>
                          <a:cs typeface="210 OmniGothic 040"/>
                        </a:rPr>
                        <a:t>요구사항</a:t>
                      </a:r>
                      <a:r>
                        <a:rPr sz="1450" b="1" dirty="0">
                          <a:solidFill>
                            <a:srgbClr val="2E3142"/>
                          </a:solidFill>
                          <a:latin typeface="210 OmniGothic 040"/>
                          <a:ea typeface="210 OmniGothic 040"/>
                          <a:cs typeface="210 OmniGothic 040"/>
                        </a:rPr>
                        <a:t> </a:t>
                      </a:r>
                      <a:r>
                        <a:rPr sz="1450" b="1" dirty="0" err="1">
                          <a:solidFill>
                            <a:srgbClr val="2E3142"/>
                          </a:solidFill>
                          <a:latin typeface="210 OmniGothic 040"/>
                          <a:ea typeface="210 OmniGothic 040"/>
                          <a:cs typeface="210 OmniGothic 040"/>
                        </a:rPr>
                        <a:t>분류</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r>
                        <a:rPr sz="1450" b="0" dirty="0" err="1">
                          <a:solidFill>
                            <a:srgbClr val="2E3142"/>
                          </a:solidFill>
                          <a:latin typeface="210 OmniGothic 040"/>
                          <a:ea typeface="210 OmniGothic 040"/>
                          <a:cs typeface="210 OmniGothic 040"/>
                        </a:rPr>
                        <a:t>법적</a:t>
                      </a:r>
                      <a:r>
                        <a:rPr sz="1450" b="0" dirty="0">
                          <a:solidFill>
                            <a:srgbClr val="2E3142"/>
                          </a:solidFill>
                          <a:latin typeface="210 OmniGothic 040"/>
                          <a:ea typeface="210 OmniGothic 040"/>
                          <a:cs typeface="210 OmniGothic 040"/>
                        </a:rPr>
                        <a:t>/</a:t>
                      </a:r>
                      <a:r>
                        <a:rPr sz="1450" b="0" dirty="0" err="1">
                          <a:solidFill>
                            <a:srgbClr val="2E3142"/>
                          </a:solidFill>
                          <a:latin typeface="210 OmniGothic 040"/>
                          <a:ea typeface="210 OmniGothic 040"/>
                          <a:cs typeface="210 OmniGothic 040"/>
                        </a:rPr>
                        <a:t>규제</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요구사항</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0"/>
                  </a:ext>
                </a:extLst>
              </a:tr>
              <a:tr h="502920">
                <a:tc gridSpan="2">
                  <a:txBody>
                    <a:bodyPr/>
                    <a:lstStyle/>
                    <a:p>
                      <a:pPr algn="ctr"/>
                      <a:r>
                        <a:rPr sz="1450" b="1" dirty="0" err="1">
                          <a:solidFill>
                            <a:srgbClr val="2E3142"/>
                          </a:solidFill>
                          <a:latin typeface="210 OmniGothic 040"/>
                          <a:ea typeface="210 OmniGothic 040"/>
                          <a:cs typeface="210 OmniGothic 040"/>
                        </a:rPr>
                        <a:t>요구사항</a:t>
                      </a:r>
                      <a:r>
                        <a:rPr sz="1450" b="1" dirty="0">
                          <a:solidFill>
                            <a:srgbClr val="2E3142"/>
                          </a:solidFill>
                          <a:latin typeface="210 OmniGothic 040"/>
                          <a:ea typeface="210 OmniGothic 040"/>
                          <a:cs typeface="210 OmniGothic 040"/>
                        </a:rPr>
                        <a:t> </a:t>
                      </a:r>
                      <a:r>
                        <a:rPr sz="1450" b="1" dirty="0" err="1">
                          <a:solidFill>
                            <a:srgbClr val="2E3142"/>
                          </a:solidFill>
                          <a:latin typeface="210 OmniGothic 040"/>
                          <a:ea typeface="210 OmniGothic 040"/>
                          <a:cs typeface="210 OmniGothic 040"/>
                        </a:rPr>
                        <a:t>고유번호</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r>
                        <a:rPr sz="1450" b="0" dirty="0">
                          <a:solidFill>
                            <a:srgbClr val="2E3142"/>
                          </a:solidFill>
                          <a:latin typeface="210 OmniGothic 040"/>
                          <a:ea typeface="210 OmniGothic 040"/>
                          <a:cs typeface="210 OmniGothic 040"/>
                        </a:rPr>
                        <a:t>LGR-003</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1"/>
                  </a:ext>
                </a:extLst>
              </a:tr>
              <a:tr h="502920">
                <a:tc gridSpan="2">
                  <a:txBody>
                    <a:bodyPr/>
                    <a:lstStyle/>
                    <a:p>
                      <a:pPr algn="ctr"/>
                      <a:r>
                        <a:rPr sz="1450" b="1" dirty="0" err="1">
                          <a:solidFill>
                            <a:srgbClr val="2E3142"/>
                          </a:solidFill>
                          <a:latin typeface="210 OmniGothic 040"/>
                          <a:ea typeface="210 OmniGothic 040"/>
                          <a:cs typeface="210 OmniGothic 040"/>
                        </a:rPr>
                        <a:t>요구사항</a:t>
                      </a:r>
                      <a:r>
                        <a:rPr sz="1450" b="1" dirty="0">
                          <a:solidFill>
                            <a:srgbClr val="2E3142"/>
                          </a:solidFill>
                          <a:latin typeface="210 OmniGothic 040"/>
                          <a:ea typeface="210 OmniGothic 040"/>
                          <a:cs typeface="210 OmniGothic 040"/>
                        </a:rPr>
                        <a:t> </a:t>
                      </a:r>
                      <a:r>
                        <a:rPr sz="1450" b="1" dirty="0" err="1">
                          <a:solidFill>
                            <a:srgbClr val="2E3142"/>
                          </a:solidFill>
                          <a:latin typeface="210 OmniGothic 040"/>
                          <a:ea typeface="210 OmniGothic 040"/>
                          <a:cs typeface="210 OmniGothic 040"/>
                        </a:rPr>
                        <a:t>명칭</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r>
                        <a:rPr sz="1450" b="0" dirty="0" err="1">
                          <a:solidFill>
                            <a:srgbClr val="2E3142"/>
                          </a:solidFill>
                          <a:latin typeface="210 OmniGothic 040"/>
                          <a:ea typeface="210 OmniGothic 040"/>
                          <a:cs typeface="210 OmniGothic 040"/>
                        </a:rPr>
                        <a:t>데이터</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이용</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조건</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준수</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2"/>
                  </a:ext>
                </a:extLst>
              </a:tr>
              <a:tr h="553212">
                <a:tc rowSpan="2">
                  <a:txBody>
                    <a:bodyPr/>
                    <a:lstStyle/>
                    <a:p>
                      <a:pPr algn="ctr"/>
                      <a:r>
                        <a:rPr sz="1450" b="1" dirty="0">
                          <a:solidFill>
                            <a:srgbClr val="2E3142"/>
                          </a:solidFill>
                          <a:latin typeface="210 OmniGothic 040"/>
                          <a:ea typeface="210 OmniGothic 040"/>
                          <a:cs typeface="210 OmniGothic 040"/>
                        </a:rPr>
                        <a:t>요구사항
</a:t>
                      </a:r>
                      <a:r>
                        <a:rPr sz="1450" b="1" dirty="0" err="1">
                          <a:solidFill>
                            <a:srgbClr val="2E3142"/>
                          </a:solidFill>
                          <a:latin typeface="210 OmniGothic 040"/>
                          <a:ea typeface="210 OmniGothic 040"/>
                          <a:cs typeface="210 OmniGothic 040"/>
                        </a:rPr>
                        <a:t>상세설명</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a:txBody>
                    <a:bodyPr/>
                    <a:lstStyle/>
                    <a:p>
                      <a:pPr algn="ctr"/>
                      <a:r>
                        <a:rPr sz="1450" b="1" dirty="0" err="1">
                          <a:solidFill>
                            <a:srgbClr val="2E3142"/>
                          </a:solidFill>
                          <a:latin typeface="210 OmniGothic 040"/>
                          <a:ea typeface="210 OmniGothic 040"/>
                          <a:cs typeface="210 OmniGothic 040"/>
                        </a:rPr>
                        <a:t>정의</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a:txBody>
                    <a:bodyPr/>
                    <a:lstStyle/>
                    <a:p>
                      <a:pPr lvl="0" algn="l">
                        <a:buNone/>
                      </a:pPr>
                      <a:r>
                        <a:rPr lang="en-US" sz="1450" b="0" i="0" u="none" strike="noStrike" noProof="0" dirty="0" err="1">
                          <a:solidFill>
                            <a:srgbClr val="2E3142"/>
                          </a:solidFill>
                          <a:latin typeface="210 OmniGothic 040"/>
                          <a:ea typeface="210 OmniGothic 040"/>
                        </a:rPr>
                        <a:t>외부</a:t>
                      </a:r>
                      <a:r>
                        <a:rPr lang="en-US"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데이터셋</a:t>
                      </a:r>
                      <a:r>
                        <a:rPr lang="en-US" sz="1450" b="0" i="0" u="none" strike="noStrike" noProof="0" dirty="0">
                          <a:solidFill>
                            <a:srgbClr val="2E3142"/>
                          </a:solidFill>
                          <a:latin typeface="210 OmniGothic 040"/>
                          <a:ea typeface="210 OmniGothic 040"/>
                        </a:rPr>
                        <a:t>·</a:t>
                      </a:r>
                      <a:r>
                        <a:rPr lang="ko-KR" altLang="en-US" sz="1450" b="0" i="0" u="none" strike="noStrike" noProof="0" dirty="0">
                          <a:solidFill>
                            <a:srgbClr val="2E3142"/>
                          </a:solidFill>
                          <a:latin typeface="210 OmniGothic 040"/>
                          <a:ea typeface="210 OmniGothic 040"/>
                        </a:rPr>
                        <a:t>공공데이터</a:t>
                      </a:r>
                      <a:r>
                        <a:rPr lang="en-US" sz="1450" b="0" i="0" u="none" strike="noStrike" noProof="0" dirty="0">
                          <a:solidFill>
                            <a:srgbClr val="2E3142"/>
                          </a:solidFill>
                          <a:latin typeface="210 OmniGothic 040"/>
                          <a:ea typeface="210 OmniGothic 040"/>
                        </a:rPr>
                        <a:t>·</a:t>
                      </a:r>
                      <a:r>
                        <a:rPr lang="ko-KR" altLang="en-US" sz="1450" b="0" i="0" u="none" strike="noStrike" noProof="0" dirty="0">
                          <a:solidFill>
                            <a:srgbClr val="2E3142"/>
                          </a:solidFill>
                          <a:latin typeface="210 OmniGothic 040"/>
                          <a:ea typeface="210 OmniGothic 040"/>
                        </a:rPr>
                        <a:t>지도</a:t>
                      </a:r>
                      <a:r>
                        <a:rPr lang="en-US" altLang="ko-KR" sz="1450" b="0" i="0" u="none" strike="noStrike" noProof="0" dirty="0">
                          <a:solidFill>
                            <a:srgbClr val="2E3142"/>
                          </a:solidFill>
                          <a:latin typeface="210 OmniGothic 040"/>
                          <a:ea typeface="210 OmniGothic 040"/>
                        </a:rPr>
                        <a:t> </a:t>
                      </a:r>
                      <a:r>
                        <a:rPr lang="en-US" sz="1450" b="0" i="0" u="none" strike="noStrike" noProof="0" dirty="0" err="1">
                          <a:solidFill>
                            <a:srgbClr val="2E3142"/>
                          </a:solidFill>
                          <a:latin typeface="210 OmniGothic 040"/>
                          <a:ea typeface="210 OmniGothic 040"/>
                        </a:rPr>
                        <a:t>데이터의</a:t>
                      </a:r>
                      <a:r>
                        <a:rPr lang="en-US"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이용</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조건과</a:t>
                      </a:r>
                      <a:r>
                        <a:rPr lang="en-US" altLang="ko-KR" sz="1450" b="0" i="0" u="none" strike="noStrike" noProof="0" dirty="0">
                          <a:solidFill>
                            <a:srgbClr val="2E3142"/>
                          </a:solidFill>
                          <a:latin typeface="210 OmniGothic 040"/>
                          <a:ea typeface="210 OmniGothic 040"/>
                        </a:rPr>
                        <a:t> </a:t>
                      </a:r>
                      <a:r>
                        <a:rPr lang="en-US" sz="1450" b="0" i="0" u="none" strike="noStrike" noProof="0" dirty="0" err="1">
                          <a:solidFill>
                            <a:srgbClr val="2E3142"/>
                          </a:solidFill>
                          <a:latin typeface="210 OmniGothic 040"/>
                          <a:ea typeface="210 OmniGothic 040"/>
                        </a:rPr>
                        <a:t>출처</a:t>
                      </a:r>
                      <a:r>
                        <a:rPr lang="en-US"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표기를</a:t>
                      </a:r>
                      <a:r>
                        <a:rPr lang="en-US" sz="1450" b="0" i="0" u="none" strike="noStrike" noProof="0" dirty="0">
                          <a:solidFill>
                            <a:srgbClr val="2E3142"/>
                          </a:solidFill>
                          <a:latin typeface="210 OmniGothic 040"/>
                          <a:ea typeface="210 OmniGothic 040"/>
                        </a:rPr>
                        <a:t> </a:t>
                      </a:r>
                      <a:r>
                        <a:rPr lang="en-US" sz="1450" b="0" i="0" u="none" strike="noStrike" noProof="0" dirty="0" err="1">
                          <a:solidFill>
                            <a:srgbClr val="2E3142"/>
                          </a:solidFill>
                          <a:latin typeface="210 OmniGothic 040"/>
                          <a:ea typeface="210 OmniGothic 040"/>
                        </a:rPr>
                        <a:t>준수</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3"/>
                  </a:ext>
                </a:extLst>
              </a:tr>
              <a:tr h="1609344">
                <a:tc vMerge="1">
                  <a:txBody>
                    <a:bodyPr/>
                    <a:lstStyle/>
                    <a:p>
                      <a:endParaRPr/>
                    </a:p>
                  </a:txBody>
                  <a:tcPr/>
                </a:tc>
                <a:tc>
                  <a:txBody>
                    <a:bodyPr/>
                    <a:lstStyle/>
                    <a:p>
                      <a:pPr algn="ctr"/>
                      <a:r>
                        <a:rPr sz="1450" b="1" dirty="0" err="1">
                          <a:solidFill>
                            <a:srgbClr val="2E3142"/>
                          </a:solidFill>
                          <a:latin typeface="210 OmniGothic 040"/>
                          <a:ea typeface="210 OmniGothic 040"/>
                          <a:cs typeface="210 OmniGothic 040"/>
                        </a:rPr>
                        <a:t>세부</a:t>
                      </a:r>
                      <a:r>
                        <a:rPr sz="1450" b="1" dirty="0">
                          <a:solidFill>
                            <a:srgbClr val="2E3142"/>
                          </a:solidFill>
                          <a:latin typeface="210 OmniGothic 040"/>
                          <a:ea typeface="210 OmniGothic 040"/>
                          <a:cs typeface="210 OmniGothic 040"/>
                        </a:rPr>
                        <a:t> </a:t>
                      </a:r>
                      <a:r>
                        <a:rPr sz="1450" b="1" dirty="0" err="1">
                          <a:solidFill>
                            <a:srgbClr val="2E3142"/>
                          </a:solidFill>
                          <a:latin typeface="210 OmniGothic 040"/>
                          <a:ea typeface="210 OmniGothic 040"/>
                          <a:cs typeface="210 OmniGothic 040"/>
                        </a:rPr>
                        <a:t>내용</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a:txBody>
                    <a:bodyPr/>
                    <a:lstStyle/>
                    <a:p>
                      <a:pPr algn="l">
                        <a:lnSpc>
                          <a:spcPct val="110000"/>
                        </a:lnSpc>
                      </a:pPr>
                      <a:r>
                        <a:rPr sz="1450" b="0" dirty="0">
                          <a:solidFill>
                            <a:srgbClr val="2E3142"/>
                          </a:solidFill>
                          <a:latin typeface="210 OmniGothic 040"/>
                          <a:ea typeface="210 OmniGothic 040"/>
                          <a:cs typeface="210 OmniGothic 040"/>
                        </a:rPr>
                        <a:t>1. AI Hub </a:t>
                      </a:r>
                      <a:r>
                        <a:rPr sz="1450" b="0" dirty="0" err="1">
                          <a:solidFill>
                            <a:srgbClr val="2E3142"/>
                          </a:solidFill>
                          <a:latin typeface="210 OmniGothic 040"/>
                          <a:ea typeface="210 OmniGothic 040"/>
                          <a:cs typeface="210 OmniGothic 040"/>
                        </a:rPr>
                        <a:t>데이터</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이용약관</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준수</a:t>
                      </a:r>
                    </a:p>
                    <a:p>
                      <a:pPr algn="l">
                        <a:lnSpc>
                          <a:spcPct val="110000"/>
                        </a:lnSpc>
                      </a:pPr>
                      <a:r>
                        <a:rPr sz="1450" b="0" dirty="0">
                          <a:solidFill>
                            <a:srgbClr val="2E3142"/>
                          </a:solidFill>
                          <a:latin typeface="210 OmniGothic 040"/>
                          <a:ea typeface="210 OmniGothic 040"/>
                          <a:cs typeface="210 OmniGothic 040"/>
                        </a:rPr>
                        <a:t>2. </a:t>
                      </a:r>
                      <a:r>
                        <a:rPr sz="1450" b="0" dirty="0" err="1">
                          <a:solidFill>
                            <a:srgbClr val="2E3142"/>
                          </a:solidFill>
                          <a:latin typeface="210 OmniGothic 040"/>
                          <a:ea typeface="210 OmniGothic 040"/>
                          <a:cs typeface="210 OmniGothic 040"/>
                        </a:rPr>
                        <a:t>공공데이터</a:t>
                      </a:r>
                      <a:r>
                        <a:rPr sz="1450" b="0" dirty="0">
                          <a:solidFill>
                            <a:srgbClr val="2E3142"/>
                          </a:solidFill>
                          <a:latin typeface="210 OmniGothic 040"/>
                          <a:ea typeface="210 OmniGothic 040"/>
                          <a:cs typeface="210 OmniGothic 040"/>
                        </a:rPr>
                        <a:t>(</a:t>
                      </a:r>
                      <a:r>
                        <a:rPr sz="1450" b="0" dirty="0" err="1">
                          <a:solidFill>
                            <a:srgbClr val="2E3142"/>
                          </a:solidFill>
                          <a:latin typeface="210 OmniGothic 040"/>
                          <a:ea typeface="210 OmniGothic 040"/>
                          <a:cs typeface="210 OmniGothic 040"/>
                        </a:rPr>
                        <a:t>기상청·SGIS·공공데이터포털</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출처</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표기</a:t>
                      </a:r>
                    </a:p>
                    <a:p>
                      <a:pPr algn="l">
                        <a:lnSpc>
                          <a:spcPct val="110000"/>
                        </a:lnSpc>
                      </a:pPr>
                      <a:r>
                        <a:rPr sz="1450" b="0" dirty="0">
                          <a:solidFill>
                            <a:srgbClr val="2E3142"/>
                          </a:solidFill>
                          <a:latin typeface="210 OmniGothic 040"/>
                          <a:ea typeface="210 OmniGothic 040"/>
                          <a:cs typeface="210 OmniGothic 040"/>
                        </a:rPr>
                        <a:t>3. OpenStreetMap(</a:t>
                      </a:r>
                      <a:r>
                        <a:rPr sz="1450" b="0" dirty="0" err="1">
                          <a:solidFill>
                            <a:srgbClr val="2E3142"/>
                          </a:solidFill>
                          <a:latin typeface="210 OmniGothic 040"/>
                          <a:ea typeface="210 OmniGothic 040"/>
                          <a:cs typeface="210 OmniGothic 040"/>
                        </a:rPr>
                        <a:t>ODbL</a:t>
                      </a:r>
                      <a:r>
                        <a:rPr sz="1450" b="0" dirty="0">
                          <a:solidFill>
                            <a:srgbClr val="2E3142"/>
                          </a:solidFill>
                          <a:latin typeface="210 OmniGothic 040"/>
                          <a:ea typeface="210 OmniGothic 040"/>
                          <a:cs typeface="210 OmniGothic 040"/>
                        </a:rPr>
                        <a:t>)·</a:t>
                      </a:r>
                      <a:r>
                        <a:rPr sz="1450" b="0" dirty="0" err="1">
                          <a:solidFill>
                            <a:srgbClr val="2E3142"/>
                          </a:solidFill>
                          <a:latin typeface="210 OmniGothic 040"/>
                          <a:ea typeface="210 OmniGothic 040"/>
                          <a:cs typeface="210 OmniGothic 040"/>
                        </a:rPr>
                        <a:t>지도</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타일</a:t>
                      </a:r>
                      <a:r>
                        <a:rPr sz="1450" b="0" dirty="0">
                          <a:solidFill>
                            <a:srgbClr val="2E3142"/>
                          </a:solidFill>
                          <a:latin typeface="210 OmniGothic 040"/>
                          <a:ea typeface="210 OmniGothic 040"/>
                          <a:cs typeface="210 OmniGothic 040"/>
                        </a:rPr>
                        <a:t> </a:t>
                      </a:r>
                      <a:r>
                        <a:rPr lang="ko-KR" sz="1450" b="0" dirty="0">
                          <a:solidFill>
                            <a:srgbClr val="2E3142"/>
                          </a:solidFill>
                          <a:latin typeface="210 OmniGothic 040"/>
                          <a:ea typeface="210 OmniGothic 040"/>
                          <a:cs typeface="210 OmniGothic 040"/>
                        </a:rPr>
                        <a:t>라이선스 </a:t>
                      </a:r>
                      <a:r>
                        <a:rPr lang="ko-KR" altLang="en-US" sz="1450" b="0" dirty="0">
                          <a:solidFill>
                            <a:srgbClr val="2E3142"/>
                          </a:solidFill>
                          <a:latin typeface="210 OmniGothic 040"/>
                          <a:ea typeface="210 OmniGothic 040"/>
                          <a:cs typeface="210 OmniGothic 040"/>
                        </a:rPr>
                        <a:t>준수</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4"/>
                  </a:ext>
                </a:extLst>
              </a:tr>
              <a:tr h="502920">
                <a:tc gridSpan="2">
                  <a:txBody>
                    <a:bodyPr/>
                    <a:lstStyle/>
                    <a:p>
                      <a:pPr algn="ctr"/>
                      <a:r>
                        <a:rPr sz="1450" b="1" dirty="0" err="1">
                          <a:solidFill>
                            <a:srgbClr val="2E3142"/>
                          </a:solidFill>
                          <a:latin typeface="210 OmniGothic 040"/>
                          <a:ea typeface="210 OmniGothic 040"/>
                          <a:cs typeface="210 OmniGothic 040"/>
                        </a:rPr>
                        <a:t>산출정보</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endParaRP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5"/>
                  </a:ext>
                </a:extLst>
              </a:tr>
              <a:tr h="502920">
                <a:tc gridSpan="2">
                  <a:txBody>
                    <a:bodyPr/>
                    <a:lstStyle/>
                    <a:p>
                      <a:pPr algn="ctr"/>
                      <a:r>
                        <a:rPr sz="1450" b="1" dirty="0" err="1">
                          <a:solidFill>
                            <a:srgbClr val="2E3142"/>
                          </a:solidFill>
                          <a:latin typeface="210 OmniGothic 040"/>
                          <a:ea typeface="210 OmniGothic 040"/>
                          <a:cs typeface="210 OmniGothic 040"/>
                        </a:rPr>
                        <a:t>관련</a:t>
                      </a:r>
                      <a:r>
                        <a:rPr sz="1450" b="1" dirty="0">
                          <a:solidFill>
                            <a:srgbClr val="2E3142"/>
                          </a:solidFill>
                          <a:latin typeface="210 OmniGothic 040"/>
                          <a:ea typeface="210 OmniGothic 040"/>
                          <a:cs typeface="210 OmniGothic 040"/>
                        </a:rPr>
                        <a:t> </a:t>
                      </a:r>
                      <a:r>
                        <a:rPr sz="1450" b="1" dirty="0" err="1">
                          <a:solidFill>
                            <a:srgbClr val="2E3142"/>
                          </a:solidFill>
                          <a:latin typeface="210 OmniGothic 040"/>
                          <a:ea typeface="210 OmniGothic 040"/>
                          <a:cs typeface="210 OmniGothic 040"/>
                        </a:rPr>
                        <a:t>요구사항</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r>
                        <a:rPr sz="1450" b="0" dirty="0">
                          <a:solidFill>
                            <a:srgbClr val="2E3142"/>
                          </a:solidFill>
                          <a:latin typeface="210 OmniGothic 040"/>
                          <a:ea typeface="210 OmniGothic 040"/>
                          <a:cs typeface="210 OmniGothic 040"/>
                        </a:rPr>
                        <a:t>—</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6"/>
                  </a:ext>
                </a:extLst>
              </a:tr>
              <a:tr h="502920">
                <a:tc gridSpan="2">
                  <a:txBody>
                    <a:bodyPr/>
                    <a:lstStyle/>
                    <a:p>
                      <a:pPr algn="ctr"/>
                      <a:r>
                        <a:rPr sz="1450" b="1" dirty="0" err="1">
                          <a:solidFill>
                            <a:srgbClr val="2E3142"/>
                          </a:solidFill>
                          <a:latin typeface="210 OmniGothic 040"/>
                          <a:ea typeface="210 OmniGothic 040"/>
                          <a:cs typeface="210 OmniGothic 040"/>
                        </a:rPr>
                        <a:t>요구사항</a:t>
                      </a:r>
                      <a:r>
                        <a:rPr sz="1450" b="1" dirty="0">
                          <a:solidFill>
                            <a:srgbClr val="2E3142"/>
                          </a:solidFill>
                          <a:latin typeface="210 OmniGothic 040"/>
                          <a:ea typeface="210 OmniGothic 040"/>
                          <a:cs typeface="210 OmniGothic 040"/>
                        </a:rPr>
                        <a:t> </a:t>
                      </a:r>
                      <a:r>
                        <a:rPr sz="1450" b="1" dirty="0" err="1">
                          <a:solidFill>
                            <a:srgbClr val="2E3142"/>
                          </a:solidFill>
                          <a:latin typeface="210 OmniGothic 040"/>
                          <a:ea typeface="210 OmniGothic 040"/>
                          <a:cs typeface="210 OmniGothic 040"/>
                        </a:rPr>
                        <a:t>출처</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r>
                        <a:rPr sz="1450" b="0" dirty="0" err="1">
                          <a:solidFill>
                            <a:srgbClr val="2E3142"/>
                          </a:solidFill>
                          <a:latin typeface="210 OmniGothic 040"/>
                          <a:ea typeface="210 OmniGothic 040"/>
                          <a:cs typeface="210 OmniGothic 040"/>
                        </a:rPr>
                        <a:t>법적</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요구사항</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71"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2700" y="-12700"/>
            <a:ext cx="18313400" cy="1638300"/>
          </a:xfrm>
          <a:prstGeom prst="rect">
            <a:avLst/>
          </a:prstGeom>
        </p:spPr>
      </p:pic>
      <p:pic>
        <p:nvPicPr>
          <p:cNvPr id="5472"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628" y="1618343"/>
            <a:ext cx="18313400" cy="8699500"/>
          </a:xfrm>
          <a:prstGeom prst="rect">
            <a:avLst/>
          </a:prstGeom>
        </p:spPr>
      </p:pic>
      <p:pic>
        <p:nvPicPr>
          <p:cNvPr id="5473"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58800" y="9271000"/>
            <a:ext cx="17170400" cy="50800"/>
          </a:xfrm>
          <a:prstGeom prst="rect">
            <a:avLst/>
          </a:prstGeom>
        </p:spPr>
      </p:pic>
      <p:pic>
        <p:nvPicPr>
          <p:cNvPr id="5474" name="Picture 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278100" y="203200"/>
            <a:ext cx="1676400" cy="1409700"/>
          </a:xfrm>
          <a:prstGeom prst="rect">
            <a:avLst/>
          </a:prstGeom>
        </p:spPr>
      </p:pic>
      <p:sp>
        <p:nvSpPr>
          <p:cNvPr id="5475" name="Title"/>
          <p:cNvSpPr txBox="1"/>
          <p:nvPr/>
        </p:nvSpPr>
        <p:spPr>
          <a:xfrm>
            <a:off x="822960" y="384048"/>
            <a:ext cx="13258800" cy="877824"/>
          </a:xfrm>
          <a:prstGeom prst="rect">
            <a:avLst/>
          </a:prstGeom>
          <a:noFill/>
        </p:spPr>
        <p:txBody>
          <a:bodyPr wrap="square" lIns="0" tIns="0" rIns="0" bIns="0" anchor="ctr">
            <a:spAutoFit/>
          </a:bodyPr>
          <a:lstStyle/>
          <a:p>
            <a:pPr algn="l"/>
            <a:r>
              <a:rPr sz="4400" b="0">
                <a:solidFill>
                  <a:srgbClr val="FAA95A"/>
                </a:solidFill>
                <a:latin typeface="210 OmniGothic 050"/>
                <a:ea typeface="210 OmniGothic 050"/>
                <a:cs typeface="210 OmniGothic 050"/>
              </a:rPr>
              <a:t>07. 비기능 요구사항</a:t>
            </a:r>
          </a:p>
        </p:txBody>
      </p:sp>
      <p:sp>
        <p:nvSpPr>
          <p:cNvPr id="5476" name="Subtitle"/>
          <p:cNvSpPr txBox="1"/>
          <p:nvPr/>
        </p:nvSpPr>
        <p:spPr>
          <a:xfrm>
            <a:off x="822960" y="1764792"/>
            <a:ext cx="16642080" cy="502920"/>
          </a:xfrm>
          <a:prstGeom prst="rect">
            <a:avLst/>
          </a:prstGeom>
          <a:noFill/>
        </p:spPr>
        <p:txBody>
          <a:bodyPr wrap="square" lIns="0" tIns="0" rIns="0" bIns="0" anchor="ctr">
            <a:spAutoFit/>
          </a:bodyPr>
          <a:lstStyle/>
          <a:p>
            <a:pPr algn="ctr"/>
            <a:r>
              <a:rPr sz="2600" b="1">
                <a:solidFill>
                  <a:srgbClr val="363A52"/>
                </a:solidFill>
                <a:latin typeface="210 OmniGothic 040"/>
                <a:ea typeface="210 OmniGothic 040"/>
                <a:cs typeface="210 OmniGothic 040"/>
              </a:rPr>
              <a:t>품질 요구사항</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sz="quarter" idx="12"/>
          </p:nvPr>
        </p:nvSpPr>
        <p:spPr/>
        <p:txBody>
          <a:bodyPr/>
          <a:lstStyle/>
          <a:p>
            <a:fld id="{B6F15528-21DE-4FAA-801E-634DDDAF4B2B}" type="slidenum">
              <a:rPr lang="en-US" smtClean="0"/>
              <a:pPr/>
              <a:t>95</a:t>
            </a:fld>
            <a:endParaRPr lang="en-US"/>
          </a:p>
        </p:txBody>
      </p:sp>
      <p:graphicFrame>
        <p:nvGraphicFramePr>
          <p:cNvPr id="5477" name="Table 5476"/>
          <p:cNvGraphicFramePr>
            <a:graphicFrameLocks noGrp="1"/>
          </p:cNvGraphicFramePr>
          <p:nvPr/>
        </p:nvGraphicFramePr>
        <p:xfrm>
          <a:off x="2880360" y="2546604"/>
          <a:ext cx="12344400" cy="5180076"/>
        </p:xfrm>
        <a:graphic>
          <a:graphicData uri="http://schemas.openxmlformats.org/drawingml/2006/table">
            <a:tbl>
              <a:tblPr>
                <a:tableStyleId>{2D5ABB26-0587-4C30-8999-92F81FD0307C}</a:tableStyleId>
              </a:tblPr>
              <a:tblGrid>
                <a:gridCol w="245745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8286750">
                  <a:extLst>
                    <a:ext uri="{9D8B030D-6E8A-4147-A177-3AD203B41FA5}">
                      <a16:colId xmlns:a16="http://schemas.microsoft.com/office/drawing/2014/main" val="20002"/>
                    </a:ext>
                  </a:extLst>
                </a:gridCol>
              </a:tblGrid>
              <a:tr h="502920">
                <a:tc gridSpan="2">
                  <a:txBody>
                    <a:bodyPr/>
                    <a:lstStyle/>
                    <a:p>
                      <a:pPr algn="ctr"/>
                      <a:r>
                        <a:rPr sz="1450" b="1" dirty="0" err="1">
                          <a:solidFill>
                            <a:srgbClr val="2E3142"/>
                          </a:solidFill>
                          <a:latin typeface="210 OmniGothic 040"/>
                          <a:ea typeface="210 OmniGothic 040"/>
                          <a:cs typeface="210 OmniGothic 040"/>
                        </a:rPr>
                        <a:t>요구사항</a:t>
                      </a:r>
                      <a:r>
                        <a:rPr sz="1450" b="1" dirty="0">
                          <a:solidFill>
                            <a:srgbClr val="2E3142"/>
                          </a:solidFill>
                          <a:latin typeface="210 OmniGothic 040"/>
                          <a:ea typeface="210 OmniGothic 040"/>
                          <a:cs typeface="210 OmniGothic 040"/>
                        </a:rPr>
                        <a:t> </a:t>
                      </a:r>
                      <a:r>
                        <a:rPr sz="1450" b="1" dirty="0" err="1">
                          <a:solidFill>
                            <a:srgbClr val="2E3142"/>
                          </a:solidFill>
                          <a:latin typeface="210 OmniGothic 040"/>
                          <a:ea typeface="210 OmniGothic 040"/>
                          <a:cs typeface="210 OmniGothic 040"/>
                        </a:rPr>
                        <a:t>분류</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r>
                        <a:rPr sz="1450" b="0" dirty="0" err="1">
                          <a:solidFill>
                            <a:srgbClr val="2E3142"/>
                          </a:solidFill>
                          <a:latin typeface="210 OmniGothic 040"/>
                          <a:ea typeface="210 OmniGothic 040"/>
                          <a:cs typeface="210 OmniGothic 040"/>
                        </a:rPr>
                        <a:t>품질</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요구사항</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0"/>
                  </a:ext>
                </a:extLst>
              </a:tr>
              <a:tr h="502920">
                <a:tc gridSpan="2">
                  <a:txBody>
                    <a:bodyPr/>
                    <a:lstStyle/>
                    <a:p>
                      <a:pPr algn="ctr"/>
                      <a:r>
                        <a:rPr sz="1450" b="1" dirty="0" err="1">
                          <a:solidFill>
                            <a:srgbClr val="2E3142"/>
                          </a:solidFill>
                          <a:latin typeface="210 OmniGothic 040"/>
                          <a:ea typeface="210 OmniGothic 040"/>
                          <a:cs typeface="210 OmniGothic 040"/>
                        </a:rPr>
                        <a:t>요구사항</a:t>
                      </a:r>
                      <a:r>
                        <a:rPr sz="1450" b="1" dirty="0">
                          <a:solidFill>
                            <a:srgbClr val="2E3142"/>
                          </a:solidFill>
                          <a:latin typeface="210 OmniGothic 040"/>
                          <a:ea typeface="210 OmniGothic 040"/>
                          <a:cs typeface="210 OmniGothic 040"/>
                        </a:rPr>
                        <a:t> </a:t>
                      </a:r>
                      <a:r>
                        <a:rPr sz="1450" b="1" dirty="0" err="1">
                          <a:solidFill>
                            <a:srgbClr val="2E3142"/>
                          </a:solidFill>
                          <a:latin typeface="210 OmniGothic 040"/>
                          <a:ea typeface="210 OmniGothic 040"/>
                          <a:cs typeface="210 OmniGothic 040"/>
                        </a:rPr>
                        <a:t>고유번호</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r>
                        <a:rPr sz="1450" b="0" dirty="0">
                          <a:solidFill>
                            <a:srgbClr val="2E3142"/>
                          </a:solidFill>
                          <a:latin typeface="210 OmniGothic 040"/>
                          <a:ea typeface="210 OmniGothic 040"/>
                          <a:cs typeface="210 OmniGothic 040"/>
                        </a:rPr>
                        <a:t>QUR-001</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1"/>
                  </a:ext>
                </a:extLst>
              </a:tr>
              <a:tr h="502920">
                <a:tc gridSpan="2">
                  <a:txBody>
                    <a:bodyPr/>
                    <a:lstStyle/>
                    <a:p>
                      <a:pPr algn="ctr"/>
                      <a:r>
                        <a:rPr sz="1450" b="1" dirty="0" err="1">
                          <a:solidFill>
                            <a:srgbClr val="2E3142"/>
                          </a:solidFill>
                          <a:latin typeface="210 OmniGothic 040"/>
                          <a:ea typeface="210 OmniGothic 040"/>
                          <a:cs typeface="210 OmniGothic 040"/>
                        </a:rPr>
                        <a:t>요구사항</a:t>
                      </a:r>
                      <a:r>
                        <a:rPr sz="1450" b="1" dirty="0">
                          <a:solidFill>
                            <a:srgbClr val="2E3142"/>
                          </a:solidFill>
                          <a:latin typeface="210 OmniGothic 040"/>
                          <a:ea typeface="210 OmniGothic 040"/>
                          <a:cs typeface="210 OmniGothic 040"/>
                        </a:rPr>
                        <a:t> </a:t>
                      </a:r>
                      <a:r>
                        <a:rPr sz="1450" b="1" dirty="0" err="1">
                          <a:solidFill>
                            <a:srgbClr val="2E3142"/>
                          </a:solidFill>
                          <a:latin typeface="210 OmniGothic 040"/>
                          <a:ea typeface="210 OmniGothic 040"/>
                          <a:cs typeface="210 OmniGothic 040"/>
                        </a:rPr>
                        <a:t>명칭</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r>
                        <a:rPr sz="1450" b="0" dirty="0" err="1">
                          <a:solidFill>
                            <a:srgbClr val="2E3142"/>
                          </a:solidFill>
                          <a:latin typeface="210 OmniGothic 040"/>
                          <a:ea typeface="210 OmniGothic 040"/>
                          <a:cs typeface="210 OmniGothic 040"/>
                        </a:rPr>
                        <a:t>근거</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부기와</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문체</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2"/>
                  </a:ext>
                </a:extLst>
              </a:tr>
              <a:tr h="553212">
                <a:tc rowSpan="2">
                  <a:txBody>
                    <a:bodyPr/>
                    <a:lstStyle/>
                    <a:p>
                      <a:pPr algn="ctr"/>
                      <a:r>
                        <a:rPr sz="1450" b="1" dirty="0">
                          <a:solidFill>
                            <a:srgbClr val="2E3142"/>
                          </a:solidFill>
                          <a:latin typeface="210 OmniGothic 040"/>
                          <a:ea typeface="210 OmniGothic 040"/>
                          <a:cs typeface="210 OmniGothic 040"/>
                        </a:rPr>
                        <a:t>요구사항
</a:t>
                      </a:r>
                      <a:r>
                        <a:rPr sz="1450" b="1" dirty="0" err="1">
                          <a:solidFill>
                            <a:srgbClr val="2E3142"/>
                          </a:solidFill>
                          <a:latin typeface="210 OmniGothic 040"/>
                          <a:ea typeface="210 OmniGothic 040"/>
                          <a:cs typeface="210 OmniGothic 040"/>
                        </a:rPr>
                        <a:t>상세설명</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a:txBody>
                    <a:bodyPr/>
                    <a:lstStyle/>
                    <a:p>
                      <a:pPr algn="ctr"/>
                      <a:r>
                        <a:rPr sz="1450" b="1" dirty="0" err="1">
                          <a:solidFill>
                            <a:srgbClr val="2E3142"/>
                          </a:solidFill>
                          <a:latin typeface="210 OmniGothic 040"/>
                          <a:ea typeface="210 OmniGothic 040"/>
                          <a:cs typeface="210 OmniGothic 040"/>
                        </a:rPr>
                        <a:t>정의</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a:txBody>
                    <a:bodyPr/>
                    <a:lstStyle/>
                    <a:p>
                      <a:pPr algn="l"/>
                      <a:r>
                        <a:rPr lang="ko-KR" altLang="en-US" sz="1450" b="0" dirty="0">
                          <a:solidFill>
                            <a:srgbClr val="2E3142"/>
                          </a:solidFill>
                          <a:latin typeface="210 OmniGothic 040"/>
                          <a:ea typeface="210 OmniGothic 040"/>
                          <a:cs typeface="210 OmniGothic 040"/>
                        </a:rPr>
                        <a:t>대응 제안</a:t>
                      </a:r>
                      <a:r>
                        <a:rPr sz="1450" b="0" dirty="0">
                          <a:solidFill>
                            <a:srgbClr val="2E3142"/>
                          </a:solidFill>
                          <a:latin typeface="210 OmniGothic 040"/>
                          <a:ea typeface="210 OmniGothic 040"/>
                          <a:cs typeface="210 OmniGothic 040"/>
                        </a:rPr>
                        <a:t> </a:t>
                      </a:r>
                      <a:r>
                        <a:rPr lang="ko-KR" sz="1450" b="0" dirty="0">
                          <a:solidFill>
                            <a:srgbClr val="2E3142"/>
                          </a:solidFill>
                          <a:latin typeface="210 OmniGothic 040"/>
                          <a:ea typeface="210 OmniGothic 040"/>
                          <a:cs typeface="210 OmniGothic 040"/>
                        </a:rPr>
                        <a:t>문장이 </a:t>
                      </a:r>
                      <a:r>
                        <a:rPr lang="ko-KR" altLang="en-US" sz="1450" b="0" dirty="0">
                          <a:solidFill>
                            <a:srgbClr val="2E3142"/>
                          </a:solidFill>
                          <a:latin typeface="210 OmniGothic 040"/>
                          <a:ea typeface="210 OmniGothic 040"/>
                          <a:cs typeface="210 OmniGothic 040"/>
                        </a:rPr>
                        <a:t>사용자가</a:t>
                      </a:r>
                      <a:r>
                        <a:rPr lang="ko-KR" sz="1450" b="0" dirty="0">
                          <a:solidFill>
                            <a:srgbClr val="2E3142"/>
                          </a:solidFill>
                          <a:latin typeface="210 OmniGothic 040"/>
                          <a:ea typeface="210 OmniGothic 040"/>
                          <a:cs typeface="210 OmniGothic 040"/>
                        </a:rPr>
                        <a:t> </a:t>
                      </a:r>
                      <a:r>
                        <a:rPr lang="ko-KR" altLang="en-US" sz="1450" b="0" dirty="0">
                          <a:solidFill>
                            <a:srgbClr val="2E3142"/>
                          </a:solidFill>
                          <a:latin typeface="210 OmniGothic 040"/>
                          <a:ea typeface="210 OmniGothic 040"/>
                          <a:cs typeface="210 OmniGothic 040"/>
                        </a:rPr>
                        <a:t>근거를</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추적할</a:t>
                      </a:r>
                      <a:r>
                        <a:rPr sz="1450" b="0" dirty="0">
                          <a:solidFill>
                            <a:srgbClr val="2E3142"/>
                          </a:solidFill>
                          <a:latin typeface="210 OmniGothic 040"/>
                          <a:ea typeface="210 OmniGothic 040"/>
                          <a:cs typeface="210 OmniGothic 040"/>
                        </a:rPr>
                        <a:t> 수 </a:t>
                      </a:r>
                      <a:r>
                        <a:rPr sz="1450" b="0" dirty="0" err="1">
                          <a:solidFill>
                            <a:srgbClr val="2E3142"/>
                          </a:solidFill>
                          <a:latin typeface="210 OmniGothic 040"/>
                          <a:ea typeface="210 OmniGothic 040"/>
                          <a:cs typeface="210 OmniGothic 040"/>
                        </a:rPr>
                        <a:t>있어야</a:t>
                      </a:r>
                      <a:r>
                        <a:rPr sz="1450" b="0" dirty="0">
                          <a:solidFill>
                            <a:srgbClr val="2E3142"/>
                          </a:solidFill>
                          <a:latin typeface="210 OmniGothic 040"/>
                          <a:ea typeface="210 OmniGothic 040"/>
                          <a:cs typeface="210 OmniGothic 040"/>
                        </a:rPr>
                        <a:t> 함</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3"/>
                  </a:ext>
                </a:extLst>
              </a:tr>
              <a:tr h="1609344">
                <a:tc vMerge="1">
                  <a:txBody>
                    <a:bodyPr/>
                    <a:lstStyle/>
                    <a:p>
                      <a:endParaRPr/>
                    </a:p>
                  </a:txBody>
                  <a:tcPr/>
                </a:tc>
                <a:tc>
                  <a:txBody>
                    <a:bodyPr/>
                    <a:lstStyle/>
                    <a:p>
                      <a:pPr algn="ctr"/>
                      <a:r>
                        <a:rPr sz="1450" b="1" dirty="0" err="1">
                          <a:solidFill>
                            <a:srgbClr val="2E3142"/>
                          </a:solidFill>
                          <a:latin typeface="210 OmniGothic 040"/>
                          <a:ea typeface="210 OmniGothic 040"/>
                          <a:cs typeface="210 OmniGothic 040"/>
                        </a:rPr>
                        <a:t>세부</a:t>
                      </a:r>
                      <a:r>
                        <a:rPr sz="1450" b="1" dirty="0">
                          <a:solidFill>
                            <a:srgbClr val="2E3142"/>
                          </a:solidFill>
                          <a:latin typeface="210 OmniGothic 040"/>
                          <a:ea typeface="210 OmniGothic 040"/>
                          <a:cs typeface="210 OmniGothic 040"/>
                        </a:rPr>
                        <a:t> </a:t>
                      </a:r>
                      <a:r>
                        <a:rPr sz="1450" b="1" dirty="0" err="1">
                          <a:solidFill>
                            <a:srgbClr val="2E3142"/>
                          </a:solidFill>
                          <a:latin typeface="210 OmniGothic 040"/>
                          <a:ea typeface="210 OmniGothic 040"/>
                          <a:cs typeface="210 OmniGothic 040"/>
                        </a:rPr>
                        <a:t>내용</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a:txBody>
                    <a:bodyPr/>
                    <a:lstStyle/>
                    <a:p>
                      <a:pPr lvl="0" algn="l">
                        <a:lnSpc>
                          <a:spcPct val="100000"/>
                        </a:lnSpc>
                        <a:spcBef>
                          <a:spcPts val="0"/>
                        </a:spcBef>
                        <a:spcAft>
                          <a:spcPts val="0"/>
                        </a:spcAft>
                        <a:buNone/>
                      </a:pPr>
                      <a:r>
                        <a:rPr lang="en-US" sz="1450" b="0" i="0" u="none" strike="noStrike" noProof="0" dirty="0">
                          <a:solidFill>
                            <a:srgbClr val="2E3142"/>
                          </a:solidFill>
                          <a:latin typeface="210 OmniGothic 040"/>
                          <a:ea typeface="210 OmniGothic 040"/>
                        </a:rPr>
                        <a:t>1. </a:t>
                      </a:r>
                      <a:r>
                        <a:rPr lang="en-US" sz="1450" b="0" i="0" u="none" strike="noStrike" noProof="0" dirty="0" err="1">
                          <a:solidFill>
                            <a:srgbClr val="2E3142"/>
                          </a:solidFill>
                          <a:latin typeface="210 OmniGothic 040"/>
                          <a:ea typeface="210 OmniGothic 040"/>
                        </a:rPr>
                        <a:t>제안·답변</a:t>
                      </a:r>
                      <a:r>
                        <a:rPr lang="en-US"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문장에</a:t>
                      </a:r>
                      <a:r>
                        <a:rPr lang="en-US" altLang="ko-KR" sz="1450" b="0" i="0" u="none" strike="noStrike" noProof="0" dirty="0">
                          <a:solidFill>
                            <a:srgbClr val="2E3142"/>
                          </a:solidFill>
                          <a:latin typeface="210 OmniGothic 040"/>
                          <a:ea typeface="210 OmniGothic 040"/>
                        </a:rPr>
                        <a:t> </a:t>
                      </a:r>
                      <a:r>
                        <a:rPr lang="en-US" sz="1450" b="0" i="0" u="none" strike="noStrike" noProof="0" dirty="0" err="1">
                          <a:solidFill>
                            <a:srgbClr val="2E3142"/>
                          </a:solidFill>
                          <a:latin typeface="210 OmniGothic 040"/>
                          <a:ea typeface="210 OmniGothic 040"/>
                        </a:rPr>
                        <a:t>근거</a:t>
                      </a:r>
                      <a:r>
                        <a:rPr lang="en-US" sz="1450" b="0" i="0" u="none" strike="noStrike" noProof="0" dirty="0">
                          <a:solidFill>
                            <a:srgbClr val="2E3142"/>
                          </a:solidFill>
                          <a:latin typeface="210 OmniGothic 040"/>
                          <a:ea typeface="210 OmniGothic 040"/>
                        </a:rPr>
                        <a:t> </a:t>
                      </a:r>
                      <a:r>
                        <a:rPr lang="en-US" sz="1450" b="0" i="0" u="none" strike="noStrike" noProof="0" dirty="0" err="1">
                          <a:solidFill>
                            <a:srgbClr val="2E3142"/>
                          </a:solidFill>
                          <a:latin typeface="210 OmniGothic 040"/>
                          <a:ea typeface="210 OmniGothic 040"/>
                        </a:rPr>
                        <a:t>번호</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표시</a:t>
                      </a:r>
                      <a:endParaRPr lang="ko-KR" altLang="en-US" dirty="0">
                        <a:latin typeface="210 OmniGothic 040"/>
                        <a:ea typeface="210 OmniGothic 040"/>
                      </a:endParaRPr>
                    </a:p>
                    <a:p>
                      <a:pPr lvl="0" algn="l">
                        <a:lnSpc>
                          <a:spcPct val="100000"/>
                        </a:lnSpc>
                        <a:spcBef>
                          <a:spcPts val="0"/>
                        </a:spcBef>
                        <a:spcAft>
                          <a:spcPts val="0"/>
                        </a:spcAft>
                        <a:buNone/>
                      </a:pPr>
                      <a:r>
                        <a:rPr lang="en-US" sz="1450" b="0" i="0" u="none" strike="noStrike" noProof="0" dirty="0">
                          <a:solidFill>
                            <a:srgbClr val="2E3142"/>
                          </a:solidFill>
                          <a:latin typeface="210 OmniGothic 040"/>
                          <a:ea typeface="210 OmniGothic 040"/>
                        </a:rPr>
                        <a:t>2.</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근거</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번호를</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통해</a:t>
                      </a:r>
                      <a:r>
                        <a:rPr lang="en-US" altLang="ko-KR" sz="1450" b="0" i="0" u="none" strike="noStrike" noProof="0" dirty="0">
                          <a:solidFill>
                            <a:srgbClr val="2E3142"/>
                          </a:solidFill>
                          <a:latin typeface="210 OmniGothic 040"/>
                          <a:ea typeface="210 OmniGothic 040"/>
                        </a:rPr>
                        <a:t> </a:t>
                      </a:r>
                      <a:r>
                        <a:rPr lang="en-US" sz="1450" b="0" i="0" u="none" strike="noStrike" noProof="0" dirty="0" err="1">
                          <a:solidFill>
                            <a:srgbClr val="2E3142"/>
                          </a:solidFill>
                          <a:latin typeface="210 OmniGothic 040"/>
                          <a:ea typeface="210 OmniGothic 040"/>
                        </a:rPr>
                        <a:t>문서·쪽수·조항</a:t>
                      </a:r>
                      <a:r>
                        <a:rPr lang="en-US" sz="1450" b="0" i="0" u="none" strike="noStrike" noProof="0" dirty="0">
                          <a:solidFill>
                            <a:srgbClr val="2E3142"/>
                          </a:solidFill>
                          <a:latin typeface="210 OmniGothic 040"/>
                          <a:ea typeface="210 OmniGothic 040"/>
                        </a:rPr>
                        <a:t>·</a:t>
                      </a:r>
                      <a:r>
                        <a:rPr lang="ko-KR" altLang="en-US" sz="1450" b="0" i="0" u="none" strike="noStrike" noProof="0" dirty="0">
                          <a:solidFill>
                            <a:srgbClr val="2E3142"/>
                          </a:solidFill>
                          <a:latin typeface="210 OmniGothic 040"/>
                          <a:ea typeface="210 OmniGothic 040"/>
                        </a:rPr>
                        <a:t>설명</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조회</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가능</a:t>
                      </a:r>
                      <a:endParaRPr sz="1450" b="0" dirty="0">
                        <a:solidFill>
                          <a:srgbClr val="2E3142"/>
                        </a:solidFill>
                        <a:latin typeface="210 OmniGothic 040"/>
                        <a:ea typeface="210 OmniGothic 040"/>
                        <a:cs typeface="210 OmniGothic 040"/>
                      </a:endParaRPr>
                    </a:p>
                    <a:p>
                      <a:pPr lvl="0" algn="l">
                        <a:lnSpc>
                          <a:spcPct val="100000"/>
                        </a:lnSpc>
                        <a:spcBef>
                          <a:spcPts val="0"/>
                        </a:spcBef>
                        <a:spcAft>
                          <a:spcPts val="0"/>
                        </a:spcAft>
                        <a:buNone/>
                      </a:pPr>
                      <a:r>
                        <a:rPr lang="en-US" sz="1450" b="0" i="0" u="none" strike="noStrike" noProof="0" dirty="0">
                          <a:solidFill>
                            <a:srgbClr val="2E3142"/>
                          </a:solidFill>
                          <a:latin typeface="210 OmniGothic 040"/>
                          <a:ea typeface="210 OmniGothic 040"/>
                        </a:rPr>
                        <a:t>3. </a:t>
                      </a:r>
                      <a:r>
                        <a:rPr lang="en-US" sz="1450" b="0" i="0" u="none" strike="noStrike" noProof="0" dirty="0" err="1">
                          <a:solidFill>
                            <a:srgbClr val="2E3142"/>
                          </a:solidFill>
                          <a:latin typeface="210 OmniGothic 040"/>
                          <a:ea typeface="210 OmniGothic 040"/>
                        </a:rPr>
                        <a:t>매뉴얼에</a:t>
                      </a:r>
                      <a:r>
                        <a:rPr lang="en-US"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수량</a:t>
                      </a:r>
                      <a:r>
                        <a:rPr lang="en-US" altLang="ko-KR" sz="1450" b="0" i="0" u="none" strike="noStrike" noProof="0" dirty="0">
                          <a:solidFill>
                            <a:srgbClr val="2E3142"/>
                          </a:solidFill>
                          <a:latin typeface="210 OmniGothic 040"/>
                          <a:ea typeface="210 OmniGothic 040"/>
                        </a:rPr>
                        <a:t> </a:t>
                      </a:r>
                      <a:r>
                        <a:rPr lang="en-US" sz="1450" b="0" i="0" u="none" strike="noStrike" noProof="0" dirty="0" err="1">
                          <a:solidFill>
                            <a:srgbClr val="2E3142"/>
                          </a:solidFill>
                          <a:latin typeface="210 OmniGothic 040"/>
                          <a:ea typeface="210 OmniGothic 040"/>
                        </a:rPr>
                        <a:t>산정</a:t>
                      </a:r>
                      <a:r>
                        <a:rPr lang="en-US" sz="1450" b="0" i="0" u="none" strike="noStrike" noProof="0" dirty="0">
                          <a:solidFill>
                            <a:srgbClr val="2E3142"/>
                          </a:solidFill>
                          <a:latin typeface="210 OmniGothic 040"/>
                          <a:ea typeface="210 OmniGothic 040"/>
                        </a:rPr>
                        <a:t> </a:t>
                      </a:r>
                      <a:r>
                        <a:rPr lang="en-US" sz="1450" b="0" i="0" u="none" strike="noStrike" noProof="0" dirty="0" err="1">
                          <a:solidFill>
                            <a:srgbClr val="2E3142"/>
                          </a:solidFill>
                          <a:latin typeface="210 OmniGothic 040"/>
                          <a:ea typeface="210 OmniGothic 040"/>
                        </a:rPr>
                        <a:t>기준이</a:t>
                      </a:r>
                      <a:r>
                        <a:rPr lang="en-US" sz="1450" b="0" i="0" u="none" strike="noStrike" noProof="0" dirty="0">
                          <a:solidFill>
                            <a:srgbClr val="2E3142"/>
                          </a:solidFill>
                          <a:latin typeface="210 OmniGothic 040"/>
                          <a:ea typeface="210 OmniGothic 040"/>
                        </a:rPr>
                        <a:t> </a:t>
                      </a:r>
                      <a:r>
                        <a:rPr lang="en-US" sz="1450" b="0" i="0" u="none" strike="noStrike" noProof="0" dirty="0" err="1">
                          <a:solidFill>
                            <a:srgbClr val="2E3142"/>
                          </a:solidFill>
                          <a:latin typeface="210 OmniGothic 040"/>
                          <a:ea typeface="210 OmniGothic 040"/>
                        </a:rPr>
                        <a:t>없는</a:t>
                      </a:r>
                      <a:r>
                        <a:rPr lang="en-US"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경우</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임의</a:t>
                      </a:r>
                      <a:r>
                        <a:rPr lang="en-US" altLang="ko-KR" sz="1450" b="0" i="0" u="none" strike="noStrike" noProof="0" dirty="0">
                          <a:solidFill>
                            <a:srgbClr val="2E3142"/>
                          </a:solidFill>
                          <a:latin typeface="210 OmniGothic 040"/>
                          <a:ea typeface="210 OmniGothic 040"/>
                        </a:rPr>
                        <a:t> </a:t>
                      </a:r>
                      <a:r>
                        <a:rPr lang="en-US" sz="1450" b="0" i="0" u="none" strike="noStrike" noProof="0" dirty="0" err="1">
                          <a:solidFill>
                            <a:srgbClr val="2E3142"/>
                          </a:solidFill>
                          <a:latin typeface="210 OmniGothic 040"/>
                          <a:ea typeface="210 OmniGothic 040"/>
                        </a:rPr>
                        <a:t>수량</a:t>
                      </a:r>
                      <a:r>
                        <a:rPr lang="en-US" altLang="ko-KR" sz="1450" b="0" i="0" u="none" strike="noStrike" noProof="0" dirty="0">
                          <a:solidFill>
                            <a:srgbClr val="2E3142"/>
                          </a:solidFill>
                          <a:latin typeface="210 OmniGothic 040"/>
                          <a:ea typeface="210 OmniGothic 040"/>
                        </a:rPr>
                        <a:t>을 만들지 않고, 근거가 없는 수량·문장은 출력하지 않은 채 「근거가 부족하여 표시하지 않았습니다」로 안내</a:t>
                      </a:r>
                      <a:endParaRPr dirty="0">
                        <a:latin typeface="210 OmniGothic 040"/>
                        <a:ea typeface="210 OmniGothic 040"/>
                      </a:endParaRPr>
                    </a:p>
                    <a:p>
                      <a:pPr lvl="0" algn="l">
                        <a:lnSpc>
                          <a:spcPct val="110000"/>
                        </a:lnSpc>
                        <a:buNone/>
                      </a:pPr>
                      <a:r>
                        <a:rPr lang="en-US" sz="1450" b="0" i="0" u="none" strike="noStrike" noProof="0" dirty="0">
                          <a:solidFill>
                            <a:srgbClr val="2E3142"/>
                          </a:solidFill>
                          <a:latin typeface="210 OmniGothic 040"/>
                          <a:ea typeface="210 OmniGothic 040"/>
                        </a:rPr>
                        <a:t>4. </a:t>
                      </a:r>
                      <a:r>
                        <a:rPr lang="ko-KR" altLang="en-US" sz="1450" b="0" i="0" u="none" strike="noStrike" noProof="0" dirty="0">
                          <a:solidFill>
                            <a:srgbClr val="2E3142"/>
                          </a:solidFill>
                          <a:latin typeface="210 OmniGothic 040"/>
                          <a:ea typeface="210 OmniGothic 040"/>
                        </a:rPr>
                        <a:t>제안</a:t>
                      </a:r>
                      <a:r>
                        <a:rPr lang="en-US" altLang="ko-KR" sz="1450" b="0" i="0" u="none" strike="noStrike" noProof="0" dirty="0">
                          <a:solidFill>
                            <a:srgbClr val="2E3142"/>
                          </a:solidFill>
                          <a:latin typeface="210 OmniGothic 040"/>
                          <a:ea typeface="210 OmniGothic 040"/>
                        </a:rPr>
                        <a:t> </a:t>
                      </a:r>
                      <a:r>
                        <a:rPr lang="en-US" sz="1450" b="0" i="0" u="none" strike="noStrike" noProof="0" dirty="0" err="1">
                          <a:solidFill>
                            <a:srgbClr val="2E3142"/>
                          </a:solidFill>
                          <a:latin typeface="210 OmniGothic 040"/>
                          <a:ea typeface="210 OmniGothic 040"/>
                        </a:rPr>
                        <a:t>문체는</a:t>
                      </a:r>
                      <a:r>
                        <a:rPr lang="en-US"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일관된</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격식체로</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제공</a:t>
                      </a:r>
                      <a:endParaRPr dirty="0">
                        <a:latin typeface="210 OmniGothic 040"/>
                        <a:ea typeface="210 OmniGothic 040"/>
                      </a:endParaRP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4"/>
                  </a:ext>
                </a:extLst>
              </a:tr>
              <a:tr h="502920">
                <a:tc gridSpan="2">
                  <a:txBody>
                    <a:bodyPr/>
                    <a:lstStyle/>
                    <a:p>
                      <a:pPr algn="ctr"/>
                      <a:r>
                        <a:rPr sz="1450" b="1" dirty="0" err="1">
                          <a:solidFill>
                            <a:srgbClr val="2E3142"/>
                          </a:solidFill>
                          <a:latin typeface="210 OmniGothic 040"/>
                          <a:ea typeface="210 OmniGothic 040"/>
                          <a:cs typeface="210 OmniGothic 040"/>
                        </a:rPr>
                        <a:t>산출정보</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endParaRP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5"/>
                  </a:ext>
                </a:extLst>
              </a:tr>
              <a:tr h="502920">
                <a:tc gridSpan="2">
                  <a:txBody>
                    <a:bodyPr/>
                    <a:lstStyle/>
                    <a:p>
                      <a:pPr algn="ctr"/>
                      <a:r>
                        <a:rPr sz="1450" b="1" dirty="0" err="1">
                          <a:solidFill>
                            <a:srgbClr val="2E3142"/>
                          </a:solidFill>
                          <a:latin typeface="210 OmniGothic 040"/>
                          <a:ea typeface="210 OmniGothic 040"/>
                          <a:cs typeface="210 OmniGothic 040"/>
                        </a:rPr>
                        <a:t>관련</a:t>
                      </a:r>
                      <a:r>
                        <a:rPr sz="1450" b="1" dirty="0">
                          <a:solidFill>
                            <a:srgbClr val="2E3142"/>
                          </a:solidFill>
                          <a:latin typeface="210 OmniGothic 040"/>
                          <a:ea typeface="210 OmniGothic 040"/>
                          <a:cs typeface="210 OmniGothic 040"/>
                        </a:rPr>
                        <a:t> </a:t>
                      </a:r>
                      <a:r>
                        <a:rPr sz="1450" b="1" dirty="0" err="1">
                          <a:solidFill>
                            <a:srgbClr val="2E3142"/>
                          </a:solidFill>
                          <a:latin typeface="210 OmniGothic 040"/>
                          <a:ea typeface="210 OmniGothic 040"/>
                          <a:cs typeface="210 OmniGothic 040"/>
                        </a:rPr>
                        <a:t>요구사항</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r>
                        <a:rPr sz="1450" b="0" dirty="0">
                          <a:solidFill>
                            <a:srgbClr val="2E3142"/>
                          </a:solidFill>
                          <a:latin typeface="210 OmniGothic 040"/>
                          <a:ea typeface="210 OmniGothic 040"/>
                          <a:cs typeface="210 OmniGothic 040"/>
                        </a:rPr>
                        <a:t>LGR-001, TER-002</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6"/>
                  </a:ext>
                </a:extLst>
              </a:tr>
              <a:tr h="502920">
                <a:tc gridSpan="2">
                  <a:txBody>
                    <a:bodyPr/>
                    <a:lstStyle/>
                    <a:p>
                      <a:pPr algn="ctr"/>
                      <a:r>
                        <a:rPr sz="1450" b="1" dirty="0" err="1">
                          <a:solidFill>
                            <a:srgbClr val="2E3142"/>
                          </a:solidFill>
                          <a:latin typeface="210 OmniGothic 040"/>
                          <a:ea typeface="210 OmniGothic 040"/>
                          <a:cs typeface="210 OmniGothic 040"/>
                        </a:rPr>
                        <a:t>요구사항</a:t>
                      </a:r>
                      <a:r>
                        <a:rPr sz="1450" b="1" dirty="0">
                          <a:solidFill>
                            <a:srgbClr val="2E3142"/>
                          </a:solidFill>
                          <a:latin typeface="210 OmniGothic 040"/>
                          <a:ea typeface="210 OmniGothic 040"/>
                          <a:cs typeface="210 OmniGothic 040"/>
                        </a:rPr>
                        <a:t> </a:t>
                      </a:r>
                      <a:r>
                        <a:rPr sz="1450" b="1" dirty="0" err="1">
                          <a:solidFill>
                            <a:srgbClr val="2E3142"/>
                          </a:solidFill>
                          <a:latin typeface="210 OmniGothic 040"/>
                          <a:ea typeface="210 OmniGothic 040"/>
                          <a:cs typeface="210 OmniGothic 040"/>
                        </a:rPr>
                        <a:t>출처</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r>
                        <a:rPr sz="1450" b="0" dirty="0" err="1">
                          <a:solidFill>
                            <a:srgbClr val="2E3142"/>
                          </a:solidFill>
                          <a:latin typeface="210 OmniGothic 040"/>
                          <a:ea typeface="210 OmniGothic 040"/>
                          <a:cs typeface="210 OmniGothic 040"/>
                        </a:rPr>
                        <a:t>품질</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요구사항</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76"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2700" y="-12700"/>
            <a:ext cx="18313400" cy="1638300"/>
          </a:xfrm>
          <a:prstGeom prst="rect">
            <a:avLst/>
          </a:prstGeom>
        </p:spPr>
      </p:pic>
      <p:pic>
        <p:nvPicPr>
          <p:cNvPr id="5477"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628" y="1618343"/>
            <a:ext cx="18313400" cy="8699500"/>
          </a:xfrm>
          <a:prstGeom prst="rect">
            <a:avLst/>
          </a:prstGeom>
        </p:spPr>
      </p:pic>
      <p:pic>
        <p:nvPicPr>
          <p:cNvPr id="5478"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58800" y="9271000"/>
            <a:ext cx="17170400" cy="50800"/>
          </a:xfrm>
          <a:prstGeom prst="rect">
            <a:avLst/>
          </a:prstGeom>
        </p:spPr>
      </p:pic>
      <p:pic>
        <p:nvPicPr>
          <p:cNvPr id="5479" name="Picture 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278100" y="203200"/>
            <a:ext cx="1676400" cy="1409700"/>
          </a:xfrm>
          <a:prstGeom prst="rect">
            <a:avLst/>
          </a:prstGeom>
        </p:spPr>
      </p:pic>
      <p:sp>
        <p:nvSpPr>
          <p:cNvPr id="5480" name="Title"/>
          <p:cNvSpPr txBox="1"/>
          <p:nvPr/>
        </p:nvSpPr>
        <p:spPr>
          <a:xfrm>
            <a:off x="822960" y="384048"/>
            <a:ext cx="13258800" cy="877824"/>
          </a:xfrm>
          <a:prstGeom prst="rect">
            <a:avLst/>
          </a:prstGeom>
          <a:noFill/>
        </p:spPr>
        <p:txBody>
          <a:bodyPr wrap="square" lIns="0" tIns="0" rIns="0" bIns="0" anchor="ctr">
            <a:spAutoFit/>
          </a:bodyPr>
          <a:lstStyle/>
          <a:p>
            <a:pPr algn="l"/>
            <a:r>
              <a:rPr sz="4400" b="0">
                <a:solidFill>
                  <a:srgbClr val="FAA95A"/>
                </a:solidFill>
                <a:latin typeface="210 OmniGothic 050"/>
                <a:ea typeface="210 OmniGothic 050"/>
                <a:cs typeface="210 OmniGothic 050"/>
              </a:rPr>
              <a:t>07. 비기능 요구사항</a:t>
            </a:r>
          </a:p>
        </p:txBody>
      </p:sp>
      <p:sp>
        <p:nvSpPr>
          <p:cNvPr id="5481" name="Subtitle"/>
          <p:cNvSpPr txBox="1"/>
          <p:nvPr/>
        </p:nvSpPr>
        <p:spPr>
          <a:xfrm>
            <a:off x="822960" y="1764792"/>
            <a:ext cx="16642080" cy="502920"/>
          </a:xfrm>
          <a:prstGeom prst="rect">
            <a:avLst/>
          </a:prstGeom>
          <a:noFill/>
        </p:spPr>
        <p:txBody>
          <a:bodyPr wrap="square" lIns="0" tIns="0" rIns="0" bIns="0" anchor="ctr">
            <a:spAutoFit/>
          </a:bodyPr>
          <a:lstStyle/>
          <a:p>
            <a:pPr algn="ctr"/>
            <a:r>
              <a:rPr sz="2600" b="1">
                <a:solidFill>
                  <a:srgbClr val="363A52"/>
                </a:solidFill>
                <a:latin typeface="210 OmniGothic 040"/>
                <a:ea typeface="210 OmniGothic 040"/>
                <a:cs typeface="210 OmniGothic 040"/>
              </a:rPr>
              <a:t>품질 요구사항</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sz="quarter" idx="12"/>
          </p:nvPr>
        </p:nvSpPr>
        <p:spPr/>
        <p:txBody>
          <a:bodyPr/>
          <a:lstStyle/>
          <a:p>
            <a:fld id="{B6F15528-21DE-4FAA-801E-634DDDAF4B2B}" type="slidenum">
              <a:rPr lang="en-US" smtClean="0"/>
              <a:pPr/>
              <a:t>96</a:t>
            </a:fld>
            <a:endParaRPr lang="en-US"/>
          </a:p>
        </p:txBody>
      </p:sp>
      <p:graphicFrame>
        <p:nvGraphicFramePr>
          <p:cNvPr id="5482" name="Table 5481"/>
          <p:cNvGraphicFramePr>
            <a:graphicFrameLocks noGrp="1"/>
          </p:cNvGraphicFramePr>
          <p:nvPr/>
        </p:nvGraphicFramePr>
        <p:xfrm>
          <a:off x="2880360" y="2546604"/>
          <a:ext cx="12344400" cy="5180076"/>
        </p:xfrm>
        <a:graphic>
          <a:graphicData uri="http://schemas.openxmlformats.org/drawingml/2006/table">
            <a:tbl>
              <a:tblPr>
                <a:tableStyleId>{2D5ABB26-0587-4C30-8999-92F81FD0307C}</a:tableStyleId>
              </a:tblPr>
              <a:tblGrid>
                <a:gridCol w="245745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8286750">
                  <a:extLst>
                    <a:ext uri="{9D8B030D-6E8A-4147-A177-3AD203B41FA5}">
                      <a16:colId xmlns:a16="http://schemas.microsoft.com/office/drawing/2014/main" val="20002"/>
                    </a:ext>
                  </a:extLst>
                </a:gridCol>
              </a:tblGrid>
              <a:tr h="502920">
                <a:tc gridSpan="2">
                  <a:txBody>
                    <a:bodyPr/>
                    <a:lstStyle/>
                    <a:p>
                      <a:pPr algn="ctr"/>
                      <a:r>
                        <a:rPr sz="1450" b="1" dirty="0" err="1">
                          <a:solidFill>
                            <a:srgbClr val="2E3142"/>
                          </a:solidFill>
                          <a:latin typeface="210 OmniGothic 040"/>
                          <a:ea typeface="210 OmniGothic 040"/>
                          <a:cs typeface="210 OmniGothic 040"/>
                        </a:rPr>
                        <a:t>요구사항</a:t>
                      </a:r>
                      <a:r>
                        <a:rPr sz="1450" b="1" dirty="0">
                          <a:solidFill>
                            <a:srgbClr val="2E3142"/>
                          </a:solidFill>
                          <a:latin typeface="210 OmniGothic 040"/>
                          <a:ea typeface="210 OmniGothic 040"/>
                          <a:cs typeface="210 OmniGothic 040"/>
                        </a:rPr>
                        <a:t> </a:t>
                      </a:r>
                      <a:r>
                        <a:rPr sz="1450" b="1" dirty="0" err="1">
                          <a:solidFill>
                            <a:srgbClr val="2E3142"/>
                          </a:solidFill>
                          <a:latin typeface="210 OmniGothic 040"/>
                          <a:ea typeface="210 OmniGothic 040"/>
                          <a:cs typeface="210 OmniGothic 040"/>
                        </a:rPr>
                        <a:t>분류</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r>
                        <a:rPr sz="1450" b="0" dirty="0" err="1">
                          <a:solidFill>
                            <a:srgbClr val="2E3142"/>
                          </a:solidFill>
                          <a:latin typeface="210 OmniGothic 040"/>
                          <a:ea typeface="210 OmniGothic 040"/>
                          <a:cs typeface="210 OmniGothic 040"/>
                        </a:rPr>
                        <a:t>품질</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요구사항</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0"/>
                  </a:ext>
                </a:extLst>
              </a:tr>
              <a:tr h="502920">
                <a:tc gridSpan="2">
                  <a:txBody>
                    <a:bodyPr/>
                    <a:lstStyle/>
                    <a:p>
                      <a:pPr algn="ctr"/>
                      <a:r>
                        <a:rPr sz="1450" b="1" dirty="0" err="1">
                          <a:solidFill>
                            <a:srgbClr val="2E3142"/>
                          </a:solidFill>
                          <a:latin typeface="210 OmniGothic 040"/>
                          <a:ea typeface="210 OmniGothic 040"/>
                          <a:cs typeface="210 OmniGothic 040"/>
                        </a:rPr>
                        <a:t>요구사항</a:t>
                      </a:r>
                      <a:r>
                        <a:rPr sz="1450" b="1" dirty="0">
                          <a:solidFill>
                            <a:srgbClr val="2E3142"/>
                          </a:solidFill>
                          <a:latin typeface="210 OmniGothic 040"/>
                          <a:ea typeface="210 OmniGothic 040"/>
                          <a:cs typeface="210 OmniGothic 040"/>
                        </a:rPr>
                        <a:t> </a:t>
                      </a:r>
                      <a:r>
                        <a:rPr sz="1450" b="1" dirty="0" err="1">
                          <a:solidFill>
                            <a:srgbClr val="2E3142"/>
                          </a:solidFill>
                          <a:latin typeface="210 OmniGothic 040"/>
                          <a:ea typeface="210 OmniGothic 040"/>
                          <a:cs typeface="210 OmniGothic 040"/>
                        </a:rPr>
                        <a:t>고유번호</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r>
                        <a:rPr sz="1450" b="0" dirty="0">
                          <a:solidFill>
                            <a:srgbClr val="2E3142"/>
                          </a:solidFill>
                          <a:latin typeface="210 OmniGothic 040"/>
                          <a:ea typeface="210 OmniGothic 040"/>
                          <a:cs typeface="210 OmniGothic 040"/>
                        </a:rPr>
                        <a:t>QUR-002</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1"/>
                  </a:ext>
                </a:extLst>
              </a:tr>
              <a:tr h="502920">
                <a:tc gridSpan="2">
                  <a:txBody>
                    <a:bodyPr/>
                    <a:lstStyle/>
                    <a:p>
                      <a:pPr algn="ctr"/>
                      <a:r>
                        <a:rPr sz="1450" b="1" dirty="0" err="1">
                          <a:solidFill>
                            <a:srgbClr val="2E3142"/>
                          </a:solidFill>
                          <a:latin typeface="210 OmniGothic 040"/>
                          <a:ea typeface="210 OmniGothic 040"/>
                          <a:cs typeface="210 OmniGothic 040"/>
                        </a:rPr>
                        <a:t>요구사항</a:t>
                      </a:r>
                      <a:r>
                        <a:rPr sz="1450" b="1" dirty="0">
                          <a:solidFill>
                            <a:srgbClr val="2E3142"/>
                          </a:solidFill>
                          <a:latin typeface="210 OmniGothic 040"/>
                          <a:ea typeface="210 OmniGothic 040"/>
                          <a:cs typeface="210 OmniGothic 040"/>
                        </a:rPr>
                        <a:t> </a:t>
                      </a:r>
                      <a:r>
                        <a:rPr sz="1450" b="1" dirty="0" err="1">
                          <a:solidFill>
                            <a:srgbClr val="2E3142"/>
                          </a:solidFill>
                          <a:latin typeface="210 OmniGothic 040"/>
                          <a:ea typeface="210 OmniGothic 040"/>
                          <a:cs typeface="210 OmniGothic 040"/>
                        </a:rPr>
                        <a:t>명칭</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r>
                        <a:rPr sz="1450" b="0" dirty="0" err="1">
                          <a:solidFill>
                            <a:srgbClr val="2E3142"/>
                          </a:solidFill>
                          <a:latin typeface="210 OmniGothic 040"/>
                          <a:ea typeface="210 OmniGothic 040"/>
                          <a:cs typeface="210 OmniGothic 040"/>
                        </a:rPr>
                        <a:t>판단</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일관성</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2"/>
                  </a:ext>
                </a:extLst>
              </a:tr>
              <a:tr h="553212">
                <a:tc rowSpan="2">
                  <a:txBody>
                    <a:bodyPr/>
                    <a:lstStyle/>
                    <a:p>
                      <a:pPr algn="ctr"/>
                      <a:r>
                        <a:rPr sz="1450" b="1" dirty="0">
                          <a:solidFill>
                            <a:srgbClr val="2E3142"/>
                          </a:solidFill>
                          <a:latin typeface="210 OmniGothic 040"/>
                          <a:ea typeface="210 OmniGothic 040"/>
                          <a:cs typeface="210 OmniGothic 040"/>
                        </a:rPr>
                        <a:t>요구사항
</a:t>
                      </a:r>
                      <a:r>
                        <a:rPr sz="1450" b="1" dirty="0" err="1">
                          <a:solidFill>
                            <a:srgbClr val="2E3142"/>
                          </a:solidFill>
                          <a:latin typeface="210 OmniGothic 040"/>
                          <a:ea typeface="210 OmniGothic 040"/>
                          <a:cs typeface="210 OmniGothic 040"/>
                        </a:rPr>
                        <a:t>상세설명</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a:txBody>
                    <a:bodyPr/>
                    <a:lstStyle/>
                    <a:p>
                      <a:pPr algn="ctr"/>
                      <a:r>
                        <a:rPr sz="1450" b="1" dirty="0" err="1">
                          <a:solidFill>
                            <a:srgbClr val="2E3142"/>
                          </a:solidFill>
                          <a:latin typeface="210 OmniGothic 040"/>
                          <a:ea typeface="210 OmniGothic 040"/>
                          <a:cs typeface="210 OmniGothic 040"/>
                        </a:rPr>
                        <a:t>정의</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a:txBody>
                    <a:bodyPr/>
                    <a:lstStyle/>
                    <a:p>
                      <a:pPr lvl="0" algn="l">
                        <a:buNone/>
                      </a:pPr>
                      <a:r>
                        <a:rPr lang="ko-KR" altLang="en-US" sz="1450" b="0" i="0" u="none" strike="noStrike" noProof="0" dirty="0">
                          <a:solidFill>
                            <a:srgbClr val="2E3142"/>
                          </a:solidFill>
                          <a:latin typeface="210 OmniGothic 040"/>
                          <a:ea typeface="210 OmniGothic 040"/>
                        </a:rPr>
                        <a:t>동일한</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입력</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조건에</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대해</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규칙</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판정</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결과와</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출력</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구조가</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일관되게</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유지</a:t>
                      </a:r>
                      <a:endParaRPr sz="1450" b="0" dirty="0">
                        <a:solidFill>
                          <a:srgbClr val="2E3142"/>
                        </a:solidFill>
                        <a:latin typeface="210 OmniGothic 040"/>
                        <a:ea typeface="210 OmniGothic 040"/>
                        <a:cs typeface="210 OmniGothic 040"/>
                      </a:endParaRP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3"/>
                  </a:ext>
                </a:extLst>
              </a:tr>
              <a:tr h="1609344">
                <a:tc vMerge="1">
                  <a:txBody>
                    <a:bodyPr/>
                    <a:lstStyle/>
                    <a:p>
                      <a:endParaRPr/>
                    </a:p>
                  </a:txBody>
                  <a:tcPr/>
                </a:tc>
                <a:tc>
                  <a:txBody>
                    <a:bodyPr/>
                    <a:lstStyle/>
                    <a:p>
                      <a:pPr algn="ctr"/>
                      <a:r>
                        <a:rPr sz="1450" b="1" dirty="0" err="1">
                          <a:solidFill>
                            <a:srgbClr val="2E3142"/>
                          </a:solidFill>
                          <a:latin typeface="210 OmniGothic 040"/>
                          <a:ea typeface="210 OmniGothic 040"/>
                          <a:cs typeface="210 OmniGothic 040"/>
                        </a:rPr>
                        <a:t>세부</a:t>
                      </a:r>
                      <a:r>
                        <a:rPr sz="1450" b="1" dirty="0">
                          <a:solidFill>
                            <a:srgbClr val="2E3142"/>
                          </a:solidFill>
                          <a:latin typeface="210 OmniGothic 040"/>
                          <a:ea typeface="210 OmniGothic 040"/>
                          <a:cs typeface="210 OmniGothic 040"/>
                        </a:rPr>
                        <a:t> </a:t>
                      </a:r>
                      <a:r>
                        <a:rPr sz="1450" b="1" dirty="0" err="1">
                          <a:solidFill>
                            <a:srgbClr val="2E3142"/>
                          </a:solidFill>
                          <a:latin typeface="210 OmniGothic 040"/>
                          <a:ea typeface="210 OmniGothic 040"/>
                          <a:cs typeface="210 OmniGothic 040"/>
                        </a:rPr>
                        <a:t>내용</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a:txBody>
                    <a:bodyPr/>
                    <a:lstStyle/>
                    <a:p>
                      <a:pPr marL="0" lvl="0" indent="0" algn="l">
                        <a:lnSpc>
                          <a:spcPct val="100000"/>
                        </a:lnSpc>
                        <a:spcBef>
                          <a:spcPts val="0"/>
                        </a:spcBef>
                        <a:spcAft>
                          <a:spcPts val="0"/>
                        </a:spcAft>
                        <a:buNone/>
                      </a:pPr>
                      <a:r>
                        <a:rPr lang="en-US" sz="1450" b="0" i="0" u="none" strike="noStrike" noProof="0" dirty="0">
                          <a:solidFill>
                            <a:srgbClr val="2E3142"/>
                          </a:solidFill>
                          <a:latin typeface="210 OmniGothic 040"/>
                          <a:ea typeface="210 OmniGothic 040"/>
                        </a:rPr>
                        <a:t>1. </a:t>
                      </a:r>
                      <a:r>
                        <a:rPr lang="en-US" sz="1450" b="0" i="0" u="none" strike="noStrike" noProof="0" dirty="0" err="1">
                          <a:solidFill>
                            <a:srgbClr val="2E3142"/>
                          </a:solidFill>
                          <a:latin typeface="210 OmniGothic 040"/>
                          <a:ea typeface="210 OmniGothic 040"/>
                        </a:rPr>
                        <a:t>근거 문서에 경계값·수치가 있는 값(수치·구역·대응단계)의</a:t>
                      </a:r>
                      <a:r>
                        <a:rPr lang="en-US" altLang="ko-KR" sz="1450" b="0" i="0" u="none" strike="noStrike" noProof="0" dirty="0">
                          <a:solidFill>
                            <a:srgbClr val="2E3142"/>
                          </a:solidFill>
                          <a:latin typeface="210 OmniGothic 040"/>
                          <a:ea typeface="210 OmniGothic 040"/>
                        </a:rPr>
                        <a:t> </a:t>
                      </a:r>
                      <a:r>
                        <a:rPr lang="en-US" sz="1450" b="0" i="0" u="none" strike="noStrike" noProof="0" dirty="0" err="1">
                          <a:solidFill>
                            <a:srgbClr val="2E3142"/>
                          </a:solidFill>
                          <a:latin typeface="210 OmniGothic 040"/>
                          <a:ea typeface="210 OmniGothic 040"/>
                        </a:rPr>
                        <a:t>판정은</a:t>
                      </a:r>
                      <a:r>
                        <a:rPr lang="en-US" sz="1450" b="0" i="0" u="none" strike="noStrike" noProof="0" dirty="0">
                          <a:solidFill>
                            <a:srgbClr val="2E3142"/>
                          </a:solidFill>
                          <a:latin typeface="210 OmniGothic 040"/>
                          <a:ea typeface="210 OmniGothic 040"/>
                        </a:rPr>
                        <a:t> </a:t>
                      </a:r>
                      <a:r>
                        <a:rPr lang="en-US" sz="1450" b="0" i="0" u="none" strike="noStrike" noProof="0" dirty="0" err="1">
                          <a:solidFill>
                            <a:srgbClr val="2E3142"/>
                          </a:solidFill>
                          <a:latin typeface="210 OmniGothic 040"/>
                          <a:ea typeface="210 OmniGothic 040"/>
                        </a:rPr>
                        <a:t>규칙</a:t>
                      </a:r>
                      <a:r>
                        <a:rPr lang="en-US" sz="1450" b="0" i="0" u="none" strike="noStrike" noProof="0" dirty="0">
                          <a:solidFill>
                            <a:srgbClr val="2E3142"/>
                          </a:solidFill>
                          <a:latin typeface="210 OmniGothic 040"/>
                          <a:ea typeface="210 OmniGothic 040"/>
                        </a:rPr>
                        <a:t> </a:t>
                      </a:r>
                      <a:r>
                        <a:rPr lang="en-US" sz="1450" b="0" i="0" u="none" strike="noStrike" noProof="0" dirty="0" err="1">
                          <a:solidFill>
                            <a:srgbClr val="2E3142"/>
                          </a:solidFill>
                          <a:latin typeface="210 OmniGothic 040"/>
                          <a:ea typeface="210 OmniGothic 040"/>
                        </a:rPr>
                        <a:t>엔진이</a:t>
                      </a:r>
                      <a:r>
                        <a:rPr lang="en-US"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수행</a:t>
                      </a:r>
                      <a:endParaRPr sz="1450" b="0" dirty="0">
                        <a:solidFill>
                          <a:srgbClr val="2E3142"/>
                        </a:solidFill>
                        <a:latin typeface="210 OmniGothic 040"/>
                        <a:ea typeface="210 OmniGothic 040"/>
                        <a:cs typeface="210 OmniGothic 040"/>
                      </a:endParaRPr>
                    </a:p>
                    <a:p>
                      <a:pPr marL="0" lvl="0" indent="0" algn="l">
                        <a:lnSpc>
                          <a:spcPct val="100000"/>
                        </a:lnSpc>
                        <a:spcBef>
                          <a:spcPts val="0"/>
                        </a:spcBef>
                        <a:spcAft>
                          <a:spcPts val="0"/>
                        </a:spcAft>
                        <a:buNone/>
                      </a:pPr>
                      <a:r>
                        <a:rPr lang="en-US" sz="1450" b="0" i="0" u="none" strike="noStrike" noProof="0" dirty="0">
                          <a:solidFill>
                            <a:srgbClr val="2E3142"/>
                          </a:solidFill>
                          <a:latin typeface="210 OmniGothic 040"/>
                          <a:ea typeface="210 OmniGothic 040"/>
                        </a:rPr>
                        <a:t>2. LLM</a:t>
                      </a:r>
                      <a:r>
                        <a:rPr lang="ko-KR" altLang="en-US" sz="1450" b="0" i="0" u="none" strike="noStrike" noProof="0" dirty="0">
                          <a:solidFill>
                            <a:srgbClr val="2E3142"/>
                          </a:solidFill>
                          <a:latin typeface="210 OmniGothic 040"/>
                          <a:ea typeface="210 OmniGothic 040"/>
                        </a:rPr>
                        <a:t>은</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판정</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값을 넘겨받아 대응 제안을 판단·작성하고 검색 근거를 인용</a:t>
                      </a:r>
                      <a:endParaRPr lang="ko-KR" dirty="0">
                        <a:latin typeface="210 OmniGothic 040"/>
                        <a:ea typeface="210 OmniGothic 040"/>
                      </a:endParaRPr>
                    </a:p>
                    <a:p>
                      <a:pPr marL="0" lvl="0" indent="0" algn="l">
                        <a:lnSpc>
                          <a:spcPct val="100000"/>
                        </a:lnSpc>
                        <a:spcBef>
                          <a:spcPts val="0"/>
                        </a:spcBef>
                        <a:spcAft>
                          <a:spcPts val="0"/>
                        </a:spcAft>
                        <a:buNone/>
                      </a:pPr>
                      <a:r>
                        <a:rPr lang="en-US" sz="1450" b="0" i="0" u="none" strike="noStrike" noProof="0" dirty="0">
                          <a:solidFill>
                            <a:srgbClr val="2E3142"/>
                          </a:solidFill>
                          <a:latin typeface="210 OmniGothic 040"/>
                          <a:ea typeface="210 OmniGothic 040"/>
                        </a:rPr>
                        <a:t>3.</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출력</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구조와</a:t>
                      </a:r>
                      <a:r>
                        <a:rPr lang="en-US" sz="1450" b="0" i="0" u="none" strike="noStrike" noProof="0" dirty="0">
                          <a:solidFill>
                            <a:srgbClr val="2E3142"/>
                          </a:solidFill>
                          <a:latin typeface="210 OmniGothic 040"/>
                          <a:ea typeface="210 OmniGothic 040"/>
                        </a:rPr>
                        <a:t> S1~S7·E1~E7 </a:t>
                      </a:r>
                      <a:r>
                        <a:rPr lang="ko-KR" altLang="en-US" sz="1450" b="0" i="0" u="none" strike="noStrike" noProof="0" dirty="0">
                          <a:solidFill>
                            <a:srgbClr val="2E3142"/>
                          </a:solidFill>
                          <a:latin typeface="210 OmniGothic 040"/>
                          <a:ea typeface="210 OmniGothic 040"/>
                        </a:rPr>
                        <a:t>항목</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순서</a:t>
                      </a:r>
                      <a:r>
                        <a:rPr lang="en-US" altLang="ko-KR" sz="1450" b="0" i="0" u="none" strike="noStrike" noProof="0" dirty="0">
                          <a:solidFill>
                            <a:srgbClr val="2E3142"/>
                          </a:solidFill>
                          <a:latin typeface="210 OmniGothic 040"/>
                          <a:ea typeface="210 OmniGothic 040"/>
                        </a:rPr>
                        <a:t> </a:t>
                      </a:r>
                      <a:r>
                        <a:rPr lang="en-US" sz="1450" b="0" i="0" u="none" strike="noStrike" noProof="0" dirty="0" err="1">
                          <a:solidFill>
                            <a:srgbClr val="2E3142"/>
                          </a:solidFill>
                          <a:latin typeface="210 OmniGothic 040"/>
                          <a:ea typeface="210 OmniGothic 040"/>
                        </a:rPr>
                        <a:t>고정</a:t>
                      </a:r>
                      <a:endParaRPr lang="en-US" i="0" u="none" strike="noStrike" noProof="0" dirty="0" err="1">
                        <a:latin typeface="210 OmniGothic 040"/>
                        <a:ea typeface="210 OmniGothic 040"/>
                      </a:endParaRPr>
                    </a:p>
                    <a:p>
                      <a:pPr marL="0" lvl="0" indent="0" algn="l">
                        <a:lnSpc>
                          <a:spcPct val="100000"/>
                        </a:lnSpc>
                        <a:spcBef>
                          <a:spcPts val="0"/>
                        </a:spcBef>
                        <a:spcAft>
                          <a:spcPts val="0"/>
                        </a:spcAft>
                        <a:buNone/>
                      </a:pPr>
                      <a:r>
                        <a:rPr lang="en-US" sz="1450" b="0" i="0" u="none" strike="noStrike" noProof="0" dirty="0">
                          <a:solidFill>
                            <a:srgbClr val="2E3142"/>
                          </a:solidFill>
                          <a:latin typeface="210 OmniGothic 040"/>
                          <a:ea typeface="210 OmniGothic 040"/>
                        </a:rPr>
                        <a:t>4. </a:t>
                      </a:r>
                      <a:r>
                        <a:rPr lang="en-US" sz="1450" b="0" i="0" u="none" strike="noStrike" noProof="0" dirty="0" err="1">
                          <a:solidFill>
                            <a:srgbClr val="2E3142"/>
                          </a:solidFill>
                          <a:latin typeface="210 OmniGothic 040"/>
                          <a:ea typeface="210 OmniGothic 040"/>
                        </a:rPr>
                        <a:t>단계별</a:t>
                      </a:r>
                      <a:r>
                        <a:rPr lang="en-US" sz="1450" b="0" i="0" u="none" strike="noStrike" noProof="0" dirty="0">
                          <a:solidFill>
                            <a:srgbClr val="2E3142"/>
                          </a:solidFill>
                          <a:latin typeface="210 OmniGothic 040"/>
                          <a:ea typeface="210 OmniGothic 040"/>
                        </a:rPr>
                        <a:t> </a:t>
                      </a:r>
                      <a:r>
                        <a:rPr lang="en-US" sz="1450" b="0" i="0" u="none" strike="noStrike" noProof="0" dirty="0" err="1">
                          <a:solidFill>
                            <a:srgbClr val="2E3142"/>
                          </a:solidFill>
                          <a:latin typeface="210 OmniGothic 040"/>
                          <a:ea typeface="210 OmniGothic 040"/>
                        </a:rPr>
                        <a:t>입력·출력</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로그</a:t>
                      </a:r>
                      <a:r>
                        <a:rPr lang="en-US" altLang="ko-KR" sz="1450" b="0" i="0" u="none" strike="noStrike" noProof="0" dirty="0">
                          <a:solidFill>
                            <a:srgbClr val="2E3142"/>
                          </a:solidFill>
                          <a:latin typeface="210 OmniGothic 040"/>
                          <a:ea typeface="210 OmniGothic 040"/>
                        </a:rPr>
                        <a:t> </a:t>
                      </a:r>
                      <a:r>
                        <a:rPr lang="en-US" sz="1450" b="0" i="0" u="none" strike="noStrike" noProof="0" dirty="0" err="1">
                          <a:solidFill>
                            <a:srgbClr val="2E3142"/>
                          </a:solidFill>
                          <a:latin typeface="210 OmniGothic 040"/>
                          <a:ea typeface="210 OmniGothic 040"/>
                        </a:rPr>
                        <a:t>저장</a:t>
                      </a:r>
                      <a:endParaRPr lang="en-US" altLang="ko-KR" i="0" u="none" strike="noStrike" noProof="0" dirty="0" err="1">
                        <a:latin typeface="210 OmniGothic 040"/>
                        <a:ea typeface="210 OmniGothic 040"/>
                      </a:endParaRPr>
                    </a:p>
                    <a:p>
                      <a:pPr marL="0" lvl="0" indent="0" algn="l">
                        <a:lnSpc>
                          <a:spcPct val="110000"/>
                        </a:lnSpc>
                        <a:buNone/>
                      </a:pPr>
                      <a:r>
                        <a:rPr lang="en-US" sz="1450" b="0" i="0" u="none" strike="noStrike" noProof="0" dirty="0">
                          <a:solidFill>
                            <a:srgbClr val="2E3142"/>
                          </a:solidFill>
                          <a:latin typeface="210 OmniGothic 040"/>
                          <a:ea typeface="210 OmniGothic 040"/>
                        </a:rPr>
                        <a:t>5.</a:t>
                      </a:r>
                      <a:r>
                        <a:rPr lang="en-US" altLang="ko-KR" sz="1450" b="0" i="0" u="none" strike="noStrike" noProof="0" dirty="0">
                          <a:solidFill>
                            <a:srgbClr val="2E3142"/>
                          </a:solidFill>
                          <a:latin typeface="210 OmniGothic 040"/>
                          <a:ea typeface="210 OmniGothic 040"/>
                        </a:rPr>
                        <a:t> </a:t>
                      </a:r>
                      <a:r>
                        <a:rPr lang="en-US" sz="1450" b="0" i="0" u="none" strike="noStrike" noProof="0" dirty="0">
                          <a:solidFill>
                            <a:srgbClr val="2E3142"/>
                          </a:solidFill>
                          <a:latin typeface="210 OmniGothic 040"/>
                          <a:ea typeface="210 OmniGothic 040"/>
                        </a:rPr>
                        <a:t>LLM</a:t>
                      </a:r>
                      <a:r>
                        <a:rPr lang="ko-KR" altLang="en-US" sz="1450" b="0" i="0" u="none" strike="noStrike" noProof="0" dirty="0">
                          <a:solidFill>
                            <a:srgbClr val="2E3142"/>
                          </a:solidFill>
                          <a:latin typeface="210 OmniGothic 040"/>
                          <a:ea typeface="210 OmniGothic 040"/>
                        </a:rPr>
                        <a:t>이</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규칙</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err="1">
                          <a:solidFill>
                            <a:srgbClr val="2E3142"/>
                          </a:solidFill>
                          <a:latin typeface="210 OmniGothic 040"/>
                          <a:ea typeface="210 OmniGothic 040"/>
                        </a:rPr>
                        <a:t>판정값을</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임의로</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재계산하지</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않도록</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제한</a:t>
                      </a:r>
                      <a:endParaRPr dirty="0">
                        <a:latin typeface="210 OmniGothic 040"/>
                        <a:ea typeface="210 OmniGothic 040"/>
                      </a:endParaRP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4"/>
                  </a:ext>
                </a:extLst>
              </a:tr>
              <a:tr h="502920">
                <a:tc gridSpan="2">
                  <a:txBody>
                    <a:bodyPr/>
                    <a:lstStyle/>
                    <a:p>
                      <a:pPr algn="ctr"/>
                      <a:r>
                        <a:rPr sz="1450" b="1" dirty="0" err="1">
                          <a:solidFill>
                            <a:srgbClr val="2E3142"/>
                          </a:solidFill>
                          <a:latin typeface="210 OmniGothic 040"/>
                          <a:ea typeface="210 OmniGothic 040"/>
                          <a:cs typeface="210 OmniGothic 040"/>
                        </a:rPr>
                        <a:t>산출정보</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endParaRP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5"/>
                  </a:ext>
                </a:extLst>
              </a:tr>
              <a:tr h="502920">
                <a:tc gridSpan="2">
                  <a:txBody>
                    <a:bodyPr/>
                    <a:lstStyle/>
                    <a:p>
                      <a:pPr algn="ctr"/>
                      <a:r>
                        <a:rPr sz="1450" b="1" dirty="0" err="1">
                          <a:solidFill>
                            <a:srgbClr val="2E3142"/>
                          </a:solidFill>
                          <a:latin typeface="210 OmniGothic 040"/>
                          <a:ea typeface="210 OmniGothic 040"/>
                          <a:cs typeface="210 OmniGothic 040"/>
                        </a:rPr>
                        <a:t>관련</a:t>
                      </a:r>
                      <a:r>
                        <a:rPr sz="1450" b="1" dirty="0">
                          <a:solidFill>
                            <a:srgbClr val="2E3142"/>
                          </a:solidFill>
                          <a:latin typeface="210 OmniGothic 040"/>
                          <a:ea typeface="210 OmniGothic 040"/>
                          <a:cs typeface="210 OmniGothic 040"/>
                        </a:rPr>
                        <a:t> </a:t>
                      </a:r>
                      <a:r>
                        <a:rPr sz="1450" b="1" dirty="0" err="1">
                          <a:solidFill>
                            <a:srgbClr val="2E3142"/>
                          </a:solidFill>
                          <a:latin typeface="210 OmniGothic 040"/>
                          <a:ea typeface="210 OmniGothic 040"/>
                          <a:cs typeface="210 OmniGothic 040"/>
                        </a:rPr>
                        <a:t>요구사항</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r>
                        <a:rPr sz="1450" b="0" dirty="0">
                          <a:solidFill>
                            <a:srgbClr val="2E3142"/>
                          </a:solidFill>
                          <a:latin typeface="210 OmniGothic 040"/>
                          <a:ea typeface="210 OmniGothic 040"/>
                          <a:cs typeface="210 OmniGothic 040"/>
                        </a:rPr>
                        <a:t>ORP-001</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6"/>
                  </a:ext>
                </a:extLst>
              </a:tr>
              <a:tr h="502920">
                <a:tc gridSpan="2">
                  <a:txBody>
                    <a:bodyPr/>
                    <a:lstStyle/>
                    <a:p>
                      <a:pPr algn="ctr"/>
                      <a:r>
                        <a:rPr sz="1450" b="1" dirty="0" err="1">
                          <a:solidFill>
                            <a:srgbClr val="2E3142"/>
                          </a:solidFill>
                          <a:latin typeface="210 OmniGothic 040"/>
                          <a:ea typeface="210 OmniGothic 040"/>
                          <a:cs typeface="210 OmniGothic 040"/>
                        </a:rPr>
                        <a:t>요구사항</a:t>
                      </a:r>
                      <a:r>
                        <a:rPr sz="1450" b="1" dirty="0">
                          <a:solidFill>
                            <a:srgbClr val="2E3142"/>
                          </a:solidFill>
                          <a:latin typeface="210 OmniGothic 040"/>
                          <a:ea typeface="210 OmniGothic 040"/>
                          <a:cs typeface="210 OmniGothic 040"/>
                        </a:rPr>
                        <a:t> </a:t>
                      </a:r>
                      <a:r>
                        <a:rPr sz="1450" b="1" dirty="0" err="1">
                          <a:solidFill>
                            <a:srgbClr val="2E3142"/>
                          </a:solidFill>
                          <a:latin typeface="210 OmniGothic 040"/>
                          <a:ea typeface="210 OmniGothic 040"/>
                          <a:cs typeface="210 OmniGothic 040"/>
                        </a:rPr>
                        <a:t>출처</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r>
                        <a:rPr sz="1450" b="0" dirty="0" err="1">
                          <a:solidFill>
                            <a:srgbClr val="2E3142"/>
                          </a:solidFill>
                          <a:latin typeface="210 OmniGothic 040"/>
                          <a:ea typeface="210 OmniGothic 040"/>
                          <a:cs typeface="210 OmniGothic 040"/>
                        </a:rPr>
                        <a:t>품질</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요구사항</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81"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700" y="-12700"/>
            <a:ext cx="18313400" cy="1638300"/>
          </a:xfrm>
          <a:prstGeom prst="rect">
            <a:avLst/>
          </a:prstGeom>
        </p:spPr>
      </p:pic>
      <p:pic>
        <p:nvPicPr>
          <p:cNvPr id="5482"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28" y="1618343"/>
            <a:ext cx="18313400" cy="8699500"/>
          </a:xfrm>
          <a:prstGeom prst="rect">
            <a:avLst/>
          </a:prstGeom>
        </p:spPr>
      </p:pic>
      <p:pic>
        <p:nvPicPr>
          <p:cNvPr id="5483"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58800" y="9271000"/>
            <a:ext cx="17170400" cy="50800"/>
          </a:xfrm>
          <a:prstGeom prst="rect">
            <a:avLst/>
          </a:prstGeom>
        </p:spPr>
      </p:pic>
      <p:pic>
        <p:nvPicPr>
          <p:cNvPr id="5484" name="Picture 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278100" y="203200"/>
            <a:ext cx="1676400" cy="1409700"/>
          </a:xfrm>
          <a:prstGeom prst="rect">
            <a:avLst/>
          </a:prstGeom>
        </p:spPr>
      </p:pic>
      <p:sp>
        <p:nvSpPr>
          <p:cNvPr id="5485" name="Title"/>
          <p:cNvSpPr txBox="1"/>
          <p:nvPr/>
        </p:nvSpPr>
        <p:spPr>
          <a:xfrm>
            <a:off x="822960" y="384048"/>
            <a:ext cx="13258800" cy="877824"/>
          </a:xfrm>
          <a:prstGeom prst="rect">
            <a:avLst/>
          </a:prstGeom>
          <a:noFill/>
        </p:spPr>
        <p:txBody>
          <a:bodyPr wrap="square" lIns="0" tIns="0" rIns="0" bIns="0" anchor="ctr">
            <a:spAutoFit/>
          </a:bodyPr>
          <a:lstStyle/>
          <a:p>
            <a:pPr algn="l"/>
            <a:r>
              <a:rPr sz="4400" b="0">
                <a:solidFill>
                  <a:srgbClr val="FAA95A"/>
                </a:solidFill>
                <a:latin typeface="210 OmniGothic 050"/>
                <a:ea typeface="210 OmniGothic 050"/>
                <a:cs typeface="210 OmniGothic 050"/>
              </a:rPr>
              <a:t>07. 비기능 요구사항</a:t>
            </a:r>
          </a:p>
        </p:txBody>
      </p:sp>
      <p:sp>
        <p:nvSpPr>
          <p:cNvPr id="5486" name="Subtitle"/>
          <p:cNvSpPr txBox="1"/>
          <p:nvPr/>
        </p:nvSpPr>
        <p:spPr>
          <a:xfrm>
            <a:off x="822960" y="1764792"/>
            <a:ext cx="16642080" cy="502920"/>
          </a:xfrm>
          <a:prstGeom prst="rect">
            <a:avLst/>
          </a:prstGeom>
          <a:noFill/>
        </p:spPr>
        <p:txBody>
          <a:bodyPr wrap="square" lIns="0" tIns="0" rIns="0" bIns="0" anchor="ctr">
            <a:spAutoFit/>
          </a:bodyPr>
          <a:lstStyle/>
          <a:p>
            <a:pPr algn="ctr"/>
            <a:r>
              <a:rPr sz="2600" b="1">
                <a:solidFill>
                  <a:srgbClr val="363A52"/>
                </a:solidFill>
                <a:latin typeface="210 OmniGothic 040"/>
                <a:ea typeface="210 OmniGothic 040"/>
                <a:cs typeface="210 OmniGothic 040"/>
              </a:rPr>
              <a:t>품질 요구사항</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sz="quarter" idx="12"/>
          </p:nvPr>
        </p:nvSpPr>
        <p:spPr/>
        <p:txBody>
          <a:bodyPr/>
          <a:lstStyle/>
          <a:p>
            <a:fld id="{B6F15528-21DE-4FAA-801E-634DDDAF4B2B}" type="slidenum">
              <a:rPr lang="en-US" smtClean="0"/>
              <a:pPr/>
              <a:t>97</a:t>
            </a:fld>
            <a:endParaRPr lang="en-US"/>
          </a:p>
        </p:txBody>
      </p:sp>
      <p:graphicFrame>
        <p:nvGraphicFramePr>
          <p:cNvPr id="5487" name="Table 5486"/>
          <p:cNvGraphicFramePr>
            <a:graphicFrameLocks noGrp="1"/>
          </p:cNvGraphicFramePr>
          <p:nvPr/>
        </p:nvGraphicFramePr>
        <p:xfrm>
          <a:off x="2880360" y="2546604"/>
          <a:ext cx="12344400" cy="5180076"/>
        </p:xfrm>
        <a:graphic>
          <a:graphicData uri="http://schemas.openxmlformats.org/drawingml/2006/table">
            <a:tbl>
              <a:tblPr>
                <a:tableStyleId>{2D5ABB26-0587-4C30-8999-92F81FD0307C}</a:tableStyleId>
              </a:tblPr>
              <a:tblGrid>
                <a:gridCol w="245745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8286750">
                  <a:extLst>
                    <a:ext uri="{9D8B030D-6E8A-4147-A177-3AD203B41FA5}">
                      <a16:colId xmlns:a16="http://schemas.microsoft.com/office/drawing/2014/main" val="20002"/>
                    </a:ext>
                  </a:extLst>
                </a:gridCol>
              </a:tblGrid>
              <a:tr h="502920">
                <a:tc gridSpan="2">
                  <a:txBody>
                    <a:bodyPr/>
                    <a:lstStyle/>
                    <a:p>
                      <a:pPr algn="ctr"/>
                      <a:r>
                        <a:rPr sz="1450" b="1" dirty="0" err="1">
                          <a:solidFill>
                            <a:srgbClr val="2E3142"/>
                          </a:solidFill>
                          <a:latin typeface="210 OmniGothic 040"/>
                          <a:ea typeface="210 OmniGothic 040"/>
                          <a:cs typeface="210 OmniGothic 040"/>
                        </a:rPr>
                        <a:t>요구사항</a:t>
                      </a:r>
                      <a:r>
                        <a:rPr sz="1450" b="1" dirty="0">
                          <a:solidFill>
                            <a:srgbClr val="2E3142"/>
                          </a:solidFill>
                          <a:latin typeface="210 OmniGothic 040"/>
                          <a:ea typeface="210 OmniGothic 040"/>
                          <a:cs typeface="210 OmniGothic 040"/>
                        </a:rPr>
                        <a:t> </a:t>
                      </a:r>
                      <a:r>
                        <a:rPr sz="1450" b="1" dirty="0" err="1">
                          <a:solidFill>
                            <a:srgbClr val="2E3142"/>
                          </a:solidFill>
                          <a:latin typeface="210 OmniGothic 040"/>
                          <a:ea typeface="210 OmniGothic 040"/>
                          <a:cs typeface="210 OmniGothic 040"/>
                        </a:rPr>
                        <a:t>분류</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r>
                        <a:rPr sz="1450" b="0" dirty="0" err="1">
                          <a:solidFill>
                            <a:srgbClr val="2E3142"/>
                          </a:solidFill>
                          <a:latin typeface="210 OmniGothic 040"/>
                          <a:ea typeface="210 OmniGothic 040"/>
                          <a:cs typeface="210 OmniGothic 040"/>
                        </a:rPr>
                        <a:t>품질</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요구사항</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0"/>
                  </a:ext>
                </a:extLst>
              </a:tr>
              <a:tr h="502920">
                <a:tc gridSpan="2">
                  <a:txBody>
                    <a:bodyPr/>
                    <a:lstStyle/>
                    <a:p>
                      <a:pPr algn="ctr"/>
                      <a:r>
                        <a:rPr sz="1450" b="1" dirty="0" err="1">
                          <a:solidFill>
                            <a:srgbClr val="2E3142"/>
                          </a:solidFill>
                          <a:latin typeface="210 OmniGothic 040"/>
                          <a:ea typeface="210 OmniGothic 040"/>
                          <a:cs typeface="210 OmniGothic 040"/>
                        </a:rPr>
                        <a:t>요구사항</a:t>
                      </a:r>
                      <a:r>
                        <a:rPr sz="1450" b="1" dirty="0">
                          <a:solidFill>
                            <a:srgbClr val="2E3142"/>
                          </a:solidFill>
                          <a:latin typeface="210 OmniGothic 040"/>
                          <a:ea typeface="210 OmniGothic 040"/>
                          <a:cs typeface="210 OmniGothic 040"/>
                        </a:rPr>
                        <a:t> </a:t>
                      </a:r>
                      <a:r>
                        <a:rPr sz="1450" b="1" dirty="0" err="1">
                          <a:solidFill>
                            <a:srgbClr val="2E3142"/>
                          </a:solidFill>
                          <a:latin typeface="210 OmniGothic 040"/>
                          <a:ea typeface="210 OmniGothic 040"/>
                          <a:cs typeface="210 OmniGothic 040"/>
                        </a:rPr>
                        <a:t>고유번호</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r>
                        <a:rPr sz="1450" b="0" dirty="0">
                          <a:solidFill>
                            <a:srgbClr val="2E3142"/>
                          </a:solidFill>
                          <a:latin typeface="210 OmniGothic 040"/>
                          <a:ea typeface="210 OmniGothic 040"/>
                          <a:cs typeface="210 OmniGothic 040"/>
                        </a:rPr>
                        <a:t>QUR-003</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1"/>
                  </a:ext>
                </a:extLst>
              </a:tr>
              <a:tr h="502920">
                <a:tc gridSpan="2">
                  <a:txBody>
                    <a:bodyPr/>
                    <a:lstStyle/>
                    <a:p>
                      <a:pPr algn="ctr"/>
                      <a:r>
                        <a:rPr sz="1450" b="1" dirty="0" err="1">
                          <a:solidFill>
                            <a:srgbClr val="2E3142"/>
                          </a:solidFill>
                          <a:latin typeface="210 OmniGothic 040"/>
                          <a:ea typeface="210 OmniGothic 040"/>
                          <a:cs typeface="210 OmniGothic 040"/>
                        </a:rPr>
                        <a:t>요구사항</a:t>
                      </a:r>
                      <a:r>
                        <a:rPr sz="1450" b="1" dirty="0">
                          <a:solidFill>
                            <a:srgbClr val="2E3142"/>
                          </a:solidFill>
                          <a:latin typeface="210 OmniGothic 040"/>
                          <a:ea typeface="210 OmniGothic 040"/>
                          <a:cs typeface="210 OmniGothic 040"/>
                        </a:rPr>
                        <a:t> </a:t>
                      </a:r>
                      <a:r>
                        <a:rPr sz="1450" b="1" dirty="0" err="1">
                          <a:solidFill>
                            <a:srgbClr val="2E3142"/>
                          </a:solidFill>
                          <a:latin typeface="210 OmniGothic 040"/>
                          <a:ea typeface="210 OmniGothic 040"/>
                          <a:cs typeface="210 OmniGothic 040"/>
                        </a:rPr>
                        <a:t>명칭</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r>
                        <a:rPr sz="1450" b="0" dirty="0" err="1">
                          <a:solidFill>
                            <a:srgbClr val="2E3142"/>
                          </a:solidFill>
                          <a:latin typeface="210 OmniGothic 040"/>
                          <a:ea typeface="210 OmniGothic 040"/>
                          <a:cs typeface="210 OmniGothic 040"/>
                        </a:rPr>
                        <a:t>사용성</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2"/>
                  </a:ext>
                </a:extLst>
              </a:tr>
              <a:tr h="553212">
                <a:tc rowSpan="2">
                  <a:txBody>
                    <a:bodyPr/>
                    <a:lstStyle/>
                    <a:p>
                      <a:pPr algn="ctr"/>
                      <a:r>
                        <a:rPr sz="1450" b="1" dirty="0">
                          <a:solidFill>
                            <a:srgbClr val="2E3142"/>
                          </a:solidFill>
                          <a:latin typeface="210 OmniGothic 040"/>
                          <a:ea typeface="210 OmniGothic 040"/>
                          <a:cs typeface="210 OmniGothic 040"/>
                        </a:rPr>
                        <a:t>요구사항
</a:t>
                      </a:r>
                      <a:r>
                        <a:rPr sz="1450" b="1" dirty="0" err="1">
                          <a:solidFill>
                            <a:srgbClr val="2E3142"/>
                          </a:solidFill>
                          <a:latin typeface="210 OmniGothic 040"/>
                          <a:ea typeface="210 OmniGothic 040"/>
                          <a:cs typeface="210 OmniGothic 040"/>
                        </a:rPr>
                        <a:t>상세설명</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a:txBody>
                    <a:bodyPr/>
                    <a:lstStyle/>
                    <a:p>
                      <a:pPr algn="ctr"/>
                      <a:r>
                        <a:rPr sz="1450" b="1" dirty="0" err="1">
                          <a:solidFill>
                            <a:srgbClr val="2E3142"/>
                          </a:solidFill>
                          <a:latin typeface="210 OmniGothic 040"/>
                          <a:ea typeface="210 OmniGothic 040"/>
                          <a:cs typeface="210 OmniGothic 040"/>
                        </a:rPr>
                        <a:t>정의</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a:txBody>
                    <a:bodyPr/>
                    <a:lstStyle/>
                    <a:p>
                      <a:pPr algn="l"/>
                      <a:r>
                        <a:rPr lang="ko-KR" altLang="en-US" sz="1450" b="0" dirty="0">
                          <a:solidFill>
                            <a:srgbClr val="2E3142"/>
                          </a:solidFill>
                          <a:latin typeface="210 OmniGothic 040"/>
                          <a:ea typeface="210 OmniGothic 040"/>
                          <a:cs typeface="210 OmniGothic 040"/>
                        </a:rPr>
                        <a:t>재난 상황에서 사용자가</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짧은</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시간에</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핵심</a:t>
                      </a:r>
                      <a:r>
                        <a:rPr sz="1450" b="0" dirty="0">
                          <a:solidFill>
                            <a:srgbClr val="2E3142"/>
                          </a:solidFill>
                          <a:latin typeface="210 OmniGothic 040"/>
                          <a:ea typeface="210 OmniGothic 040"/>
                          <a:cs typeface="210 OmniGothic 040"/>
                        </a:rPr>
                        <a:t> </a:t>
                      </a:r>
                      <a:r>
                        <a:rPr lang="ko-KR" sz="1450" b="0" dirty="0">
                          <a:solidFill>
                            <a:srgbClr val="2E3142"/>
                          </a:solidFill>
                          <a:latin typeface="210 OmniGothic 040"/>
                          <a:ea typeface="210 OmniGothic 040"/>
                          <a:cs typeface="210 OmniGothic 040"/>
                        </a:rPr>
                        <a:t>대응을 </a:t>
                      </a:r>
                      <a:r>
                        <a:rPr sz="1450" b="0" dirty="0" err="1">
                          <a:solidFill>
                            <a:srgbClr val="2E3142"/>
                          </a:solidFill>
                          <a:latin typeface="210 OmniGothic 040"/>
                          <a:ea typeface="210 OmniGothic 040"/>
                          <a:cs typeface="210 OmniGothic 040"/>
                        </a:rPr>
                        <a:t>파악할</a:t>
                      </a:r>
                      <a:r>
                        <a:rPr sz="1450" b="0" dirty="0">
                          <a:solidFill>
                            <a:srgbClr val="2E3142"/>
                          </a:solidFill>
                          <a:latin typeface="210 OmniGothic 040"/>
                          <a:ea typeface="210 OmniGothic 040"/>
                          <a:cs typeface="210 OmniGothic 040"/>
                        </a:rPr>
                        <a:t> 수 </a:t>
                      </a:r>
                      <a:r>
                        <a:rPr sz="1450" b="0" dirty="0" err="1">
                          <a:solidFill>
                            <a:srgbClr val="2E3142"/>
                          </a:solidFill>
                          <a:latin typeface="210 OmniGothic 040"/>
                          <a:ea typeface="210 OmniGothic 040"/>
                          <a:cs typeface="210 OmniGothic 040"/>
                        </a:rPr>
                        <a:t>있는</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표현</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3"/>
                  </a:ext>
                </a:extLst>
              </a:tr>
              <a:tr h="1609344">
                <a:tc vMerge="1">
                  <a:txBody>
                    <a:bodyPr/>
                    <a:lstStyle/>
                    <a:p>
                      <a:endParaRPr/>
                    </a:p>
                  </a:txBody>
                  <a:tcPr/>
                </a:tc>
                <a:tc>
                  <a:txBody>
                    <a:bodyPr/>
                    <a:lstStyle/>
                    <a:p>
                      <a:pPr algn="ctr"/>
                      <a:r>
                        <a:rPr sz="1450" b="1" dirty="0" err="1">
                          <a:solidFill>
                            <a:srgbClr val="2E3142"/>
                          </a:solidFill>
                          <a:latin typeface="210 OmniGothic 040"/>
                          <a:ea typeface="210 OmniGothic 040"/>
                          <a:cs typeface="210 OmniGothic 040"/>
                        </a:rPr>
                        <a:t>세부</a:t>
                      </a:r>
                      <a:r>
                        <a:rPr sz="1450" b="1" dirty="0">
                          <a:solidFill>
                            <a:srgbClr val="2E3142"/>
                          </a:solidFill>
                          <a:latin typeface="210 OmniGothic 040"/>
                          <a:ea typeface="210 OmniGothic 040"/>
                          <a:cs typeface="210 OmniGothic 040"/>
                        </a:rPr>
                        <a:t> </a:t>
                      </a:r>
                      <a:r>
                        <a:rPr sz="1450" b="1" dirty="0" err="1">
                          <a:solidFill>
                            <a:srgbClr val="2E3142"/>
                          </a:solidFill>
                          <a:latin typeface="210 OmniGothic 040"/>
                          <a:ea typeface="210 OmniGothic 040"/>
                          <a:cs typeface="210 OmniGothic 040"/>
                        </a:rPr>
                        <a:t>내용</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a:txBody>
                    <a:bodyPr/>
                    <a:lstStyle/>
                    <a:p>
                      <a:pPr lvl="0" algn="l">
                        <a:lnSpc>
                          <a:spcPct val="110000"/>
                        </a:lnSpc>
                        <a:buNone/>
                      </a:pPr>
                      <a:r>
                        <a:rPr lang="en-US" altLang="ko-KR" sz="1450" b="0" dirty="0">
                          <a:solidFill>
                            <a:srgbClr val="2E3142"/>
                          </a:solidFill>
                          <a:latin typeface="210 OmniGothic 040"/>
                          <a:ea typeface="210 OmniGothic 040"/>
                        </a:rPr>
                        <a:t>1. </a:t>
                      </a:r>
                      <a:r>
                        <a:rPr lang="ko-KR" altLang="en-US" sz="1450" b="0" i="0" u="none" strike="noStrike" noProof="0" dirty="0" err="1">
                          <a:solidFill>
                            <a:srgbClr val="2E3142"/>
                          </a:solidFill>
                          <a:latin typeface="210 OmniGothic 040"/>
                          <a:ea typeface="210 OmniGothic 040"/>
                        </a:rPr>
                        <a:t>진화</a:t>
                      </a:r>
                      <a:r>
                        <a:rPr lang="en-US" sz="1450" b="0" i="0" u="none" strike="noStrike" noProof="0" dirty="0" err="1">
                          <a:solidFill>
                            <a:srgbClr val="2E3142"/>
                          </a:solidFill>
                          <a:latin typeface="210 OmniGothic 040"/>
                          <a:ea typeface="210 OmniGothic 040"/>
                        </a:rPr>
                        <a:t>·</a:t>
                      </a:r>
                      <a:r>
                        <a:rPr lang="ko-KR" altLang="en-US" sz="1450" b="0" i="0" u="none" strike="noStrike" noProof="0" dirty="0" err="1">
                          <a:solidFill>
                            <a:srgbClr val="2E3142"/>
                          </a:solidFill>
                          <a:latin typeface="210 OmniGothic 040"/>
                          <a:ea typeface="210 OmniGothic 040"/>
                        </a:rPr>
                        <a:t>대피</a:t>
                      </a:r>
                      <a:r>
                        <a:rPr lang="en-US"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제안</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항목</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목록</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제공</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및</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상세정보</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조회</a:t>
                      </a:r>
                      <a:endParaRPr lang="ko-KR" sz="1450" b="0" dirty="0">
                        <a:solidFill>
                          <a:srgbClr val="2E3142"/>
                        </a:solidFill>
                        <a:latin typeface="210 OmniGothic 040"/>
                        <a:ea typeface="210 OmniGothic 040"/>
                      </a:endParaRPr>
                    </a:p>
                    <a:p>
                      <a:pPr lvl="0" algn="l">
                        <a:lnSpc>
                          <a:spcPct val="100000"/>
                        </a:lnSpc>
                        <a:spcBef>
                          <a:spcPts val="0"/>
                        </a:spcBef>
                        <a:spcAft>
                          <a:spcPts val="0"/>
                        </a:spcAft>
                        <a:buNone/>
                      </a:pPr>
                      <a:r>
                        <a:rPr lang="en-US" altLang="ko-KR" sz="1400" b="0" i="0" u="none" strike="noStrike" noProof="0" dirty="0">
                          <a:solidFill>
                            <a:srgbClr val="2E3142"/>
                          </a:solidFill>
                          <a:latin typeface="210 OmniGothic 040"/>
                          <a:ea typeface="210 OmniGothic 040"/>
                        </a:rPr>
                        <a:t>2. </a:t>
                      </a:r>
                      <a:r>
                        <a:rPr lang="ko-KR" altLang="en-US" sz="1400" b="0" i="0" u="none" strike="noStrike" noProof="0" dirty="0" err="1">
                          <a:solidFill>
                            <a:srgbClr val="2E3142"/>
                          </a:solidFill>
                          <a:latin typeface="210 OmniGothic 040"/>
                          <a:ea typeface="210 OmniGothic 040"/>
                        </a:rPr>
                        <a:t>진화</a:t>
                      </a:r>
                      <a:r>
                        <a:rPr lang="en-US" sz="1400" b="0" i="0" u="none" strike="noStrike" noProof="0" dirty="0" err="1">
                          <a:solidFill>
                            <a:srgbClr val="2E3142"/>
                          </a:solidFill>
                          <a:latin typeface="210 OmniGothic 040"/>
                          <a:ea typeface="210 OmniGothic 040"/>
                        </a:rPr>
                        <a:t>·</a:t>
                      </a:r>
                      <a:r>
                        <a:rPr lang="ko-KR" altLang="en-US" sz="1400" b="0" i="0" u="none" strike="noStrike" noProof="0" dirty="0" err="1">
                          <a:solidFill>
                            <a:srgbClr val="2E3142"/>
                          </a:solidFill>
                          <a:latin typeface="210 OmniGothic 040"/>
                          <a:ea typeface="210 OmniGothic 040"/>
                        </a:rPr>
                        <a:t>대피</a:t>
                      </a:r>
                      <a:r>
                        <a:rPr lang="en-US" sz="1400" b="0" i="0" u="none" strike="noStrike" noProof="0" dirty="0">
                          <a:solidFill>
                            <a:srgbClr val="2E3142"/>
                          </a:solidFill>
                          <a:latin typeface="210 OmniGothic 040"/>
                          <a:ea typeface="210 OmniGothic 040"/>
                        </a:rPr>
                        <a:t> </a:t>
                      </a:r>
                      <a:r>
                        <a:rPr lang="ko-KR" altLang="en-US" sz="1400" b="0" i="0" u="none" strike="noStrike" noProof="0" dirty="0">
                          <a:solidFill>
                            <a:srgbClr val="2E3142"/>
                          </a:solidFill>
                          <a:latin typeface="210 OmniGothic 040"/>
                          <a:ea typeface="210 OmniGothic 040"/>
                        </a:rPr>
                        <a:t>탭</a:t>
                      </a:r>
                      <a:r>
                        <a:rPr lang="en-US" altLang="ko-KR" sz="1400" b="0" i="0" u="none" strike="noStrike" noProof="0" dirty="0">
                          <a:solidFill>
                            <a:srgbClr val="2E3142"/>
                          </a:solidFill>
                          <a:latin typeface="210 OmniGothic 040"/>
                          <a:ea typeface="210 OmniGothic 040"/>
                        </a:rPr>
                        <a:t> </a:t>
                      </a:r>
                      <a:r>
                        <a:rPr lang="ko-KR" altLang="en-US" sz="1400" b="0" i="0" u="none" strike="noStrike" noProof="0" dirty="0">
                          <a:solidFill>
                            <a:srgbClr val="2E3142"/>
                          </a:solidFill>
                          <a:latin typeface="210 OmniGothic 040"/>
                          <a:ea typeface="210 OmniGothic 040"/>
                        </a:rPr>
                        <a:t>구분</a:t>
                      </a:r>
                      <a:endParaRPr lang="ko-KR" sz="1400" b="0" i="0" u="none" strike="noStrike" noProof="0" dirty="0">
                        <a:solidFill>
                          <a:srgbClr val="000000"/>
                        </a:solidFill>
                        <a:latin typeface="210 OmniGothic 040"/>
                        <a:ea typeface="210 OmniGothic 040"/>
                      </a:endParaRPr>
                    </a:p>
                    <a:p>
                      <a:pPr lvl="0" algn="l">
                        <a:lnSpc>
                          <a:spcPct val="110000"/>
                        </a:lnSpc>
                        <a:buNone/>
                      </a:pPr>
                      <a:r>
                        <a:rPr lang="en-US" altLang="ko-KR" sz="1450" b="0" dirty="0">
                          <a:solidFill>
                            <a:srgbClr val="2E3142"/>
                          </a:solidFill>
                          <a:latin typeface="210 OmniGothic 040"/>
                          <a:ea typeface="210 OmniGothic 040"/>
                        </a:rPr>
                        <a:t>3</a:t>
                      </a:r>
                      <a:r>
                        <a:rPr lang="ko-KR" sz="1450" b="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즉시</a:t>
                      </a:r>
                      <a:r>
                        <a:rPr lang="en-US" altLang="ko-KR" sz="1450" b="0" i="0" u="none" strike="noStrike" noProof="0" dirty="0">
                          <a:solidFill>
                            <a:srgbClr val="2E3142"/>
                          </a:solidFill>
                          <a:latin typeface="210 OmniGothic 040"/>
                          <a:ea typeface="210 OmniGothic 040"/>
                        </a:rPr>
                        <a:t>·</a:t>
                      </a:r>
                      <a:r>
                        <a:rPr lang="ko-KR" sz="1450" b="0" i="0" u="none" strike="noStrike" noProof="0" dirty="0" err="1">
                          <a:solidFill>
                            <a:srgbClr val="2E3142"/>
                          </a:solidFill>
                          <a:latin typeface="210 OmniGothic 040"/>
                          <a:ea typeface="210 OmniGothic 040"/>
                        </a:rPr>
                        <a:t>대기·</a:t>
                      </a:r>
                      <a:r>
                        <a:rPr lang="ko-KR" altLang="en-US" sz="1450" b="0" i="0" u="none" strike="noStrike" noProof="0" dirty="0" err="1">
                          <a:solidFill>
                            <a:srgbClr val="2E3142"/>
                          </a:solidFill>
                          <a:latin typeface="210 OmniGothic 040"/>
                          <a:ea typeface="210 OmniGothic 040"/>
                        </a:rPr>
                        <a:t>협의</a:t>
                      </a:r>
                      <a:r>
                        <a:rPr lang="en-US" altLang="ko-KR" sz="1450" b="0" i="0" u="none" strike="noStrike" noProof="0" dirty="0">
                          <a:solidFill>
                            <a:srgbClr val="2E3142"/>
                          </a:solidFill>
                          <a:latin typeface="210 OmniGothic 040"/>
                          <a:ea typeface="210 OmniGothic 040"/>
                        </a:rPr>
                        <a:t>·</a:t>
                      </a:r>
                      <a:r>
                        <a:rPr lang="ko-KR" altLang="en-US" sz="1450" b="0" i="0" u="none" strike="noStrike" noProof="0" dirty="0">
                          <a:solidFill>
                            <a:srgbClr val="2E3142"/>
                          </a:solidFill>
                          <a:latin typeface="210 OmniGothic 040"/>
                          <a:ea typeface="210 OmniGothic 040"/>
                        </a:rPr>
                        <a:t>요청 </a:t>
                      </a:r>
                      <a:r>
                        <a:rPr lang="ko-KR" sz="1450" b="0" i="0" u="none" strike="noStrike" noProof="0" dirty="0">
                          <a:solidFill>
                            <a:srgbClr val="2E3142"/>
                          </a:solidFill>
                          <a:latin typeface="210 OmniGothic 040"/>
                          <a:ea typeface="210 OmniGothic 040"/>
                        </a:rPr>
                        <a:t>상태</a:t>
                      </a:r>
                      <a:r>
                        <a:rPr lang="ko-KR" altLang="en-US" sz="1450" b="0" i="0" u="none" strike="noStrike" noProof="0" dirty="0">
                          <a:solidFill>
                            <a:srgbClr val="2E3142"/>
                          </a:solidFill>
                          <a:latin typeface="210 OmniGothic 040"/>
                          <a:ea typeface="210 OmniGothic 040"/>
                        </a:rPr>
                        <a:t> </a:t>
                      </a:r>
                      <a:r>
                        <a:rPr lang="ko-KR" sz="1450" b="0" i="0" u="none" strike="noStrike" noProof="0" dirty="0">
                          <a:solidFill>
                            <a:srgbClr val="2E3142"/>
                          </a:solidFill>
                          <a:latin typeface="210 OmniGothic 040"/>
                          <a:ea typeface="210 OmniGothic 040"/>
                        </a:rPr>
                        <a:t>구분</a:t>
                      </a:r>
                      <a:r>
                        <a:rPr lang="ko-KR" altLang="en-US" sz="1450" b="0" i="0" u="none" strike="noStrike" noProof="0" dirty="0">
                          <a:solidFill>
                            <a:srgbClr val="2E3142"/>
                          </a:solidFill>
                          <a:latin typeface="210 OmniGothic 040"/>
                          <a:ea typeface="210 OmniGothic 040"/>
                        </a:rPr>
                        <a:t> </a:t>
                      </a:r>
                      <a:r>
                        <a:rPr lang="ko-KR" sz="1450" b="0" i="0" u="none" strike="noStrike" noProof="0" dirty="0">
                          <a:solidFill>
                            <a:srgbClr val="2E3142"/>
                          </a:solidFill>
                          <a:latin typeface="210 OmniGothic 040"/>
                          <a:ea typeface="210 OmniGothic 040"/>
                        </a:rPr>
                        <a:t>표시</a:t>
                      </a:r>
                    </a:p>
                    <a:p>
                      <a:pPr lvl="0" algn="l">
                        <a:lnSpc>
                          <a:spcPct val="110000"/>
                        </a:lnSpc>
                        <a:buNone/>
                      </a:pPr>
                      <a:r>
                        <a:rPr lang="ko-KR" altLang="en-US" sz="1450" b="0" i="0" u="none" strike="noStrike" noProof="0" dirty="0">
                          <a:solidFill>
                            <a:srgbClr val="2E3142"/>
                          </a:solidFill>
                          <a:latin typeface="210 OmniGothic 040"/>
                          <a:ea typeface="210 OmniGothic 040"/>
                        </a:rPr>
                        <a:t>4. </a:t>
                      </a:r>
                      <a:r>
                        <a:rPr lang="ko-KR" sz="1450" b="0" i="0" u="none" strike="noStrike" noProof="0" dirty="0">
                          <a:solidFill>
                            <a:srgbClr val="2E3142"/>
                          </a:solidFill>
                          <a:latin typeface="210 OmniGothic 040"/>
                          <a:ea typeface="210 OmniGothic 040"/>
                        </a:rPr>
                        <a:t>판정 </a:t>
                      </a:r>
                      <a:r>
                        <a:rPr lang="ko-KR" sz="1450" b="0" i="0" u="none" strike="noStrike" noProof="0" dirty="0" err="1">
                          <a:solidFill>
                            <a:srgbClr val="2E3142"/>
                          </a:solidFill>
                          <a:latin typeface="210 OmniGothic 040"/>
                          <a:ea typeface="210 OmniGothic 040"/>
                        </a:rPr>
                        <a:t>이유·대상·권한·근거</a:t>
                      </a:r>
                      <a:r>
                        <a:rPr lang="ko-KR" sz="1450" b="0" i="0" u="none" strike="noStrike" noProof="0" dirty="0">
                          <a:solidFill>
                            <a:srgbClr val="2E3142"/>
                          </a:solidFill>
                          <a:latin typeface="210 OmniGothic 040"/>
                          <a:ea typeface="210 OmniGothic 040"/>
                        </a:rPr>
                        <a:t> 상세정보 제공</a:t>
                      </a:r>
                    </a:p>
                    <a:p>
                      <a:pPr lvl="0" algn="l">
                        <a:lnSpc>
                          <a:spcPct val="110000"/>
                        </a:lnSpc>
                        <a:buNone/>
                      </a:pPr>
                      <a:r>
                        <a:rPr lang="en-US" altLang="ko-KR" sz="1450" b="0" i="0" u="none" strike="noStrike" noProof="0" dirty="0">
                          <a:solidFill>
                            <a:srgbClr val="2E3142"/>
                          </a:solidFill>
                          <a:latin typeface="210 OmniGothic 040"/>
                          <a:ea typeface="210 OmniGothic 040"/>
                        </a:rPr>
                        <a:t>5.</a:t>
                      </a:r>
                      <a:r>
                        <a:rPr lang="ko-KR" altLang="en-US" sz="1450" b="0" i="0" u="none" strike="noStrike" noProof="0" dirty="0">
                          <a:solidFill>
                            <a:srgbClr val="2E3142"/>
                          </a:solidFill>
                          <a:latin typeface="210 OmniGothic 040"/>
                          <a:ea typeface="210 OmniGothic 040"/>
                        </a:rPr>
                        <a:t> </a:t>
                      </a:r>
                      <a:r>
                        <a:rPr lang="ko-KR" sz="1450" b="0" i="0" u="none" strike="noStrike" noProof="0" dirty="0" err="1">
                          <a:solidFill>
                            <a:srgbClr val="2E3142"/>
                          </a:solidFill>
                          <a:latin typeface="210 OmniGothic 040"/>
                          <a:ea typeface="210 OmniGothic 040"/>
                        </a:rPr>
                        <a:t>지도·상황정보</a:t>
                      </a:r>
                      <a:r>
                        <a:rPr lang="ko-KR" sz="1450" b="0" i="0" u="none" strike="noStrike" noProof="0" dirty="0">
                          <a:solidFill>
                            <a:srgbClr val="2E3142"/>
                          </a:solidFill>
                          <a:latin typeface="210 OmniGothic 040"/>
                          <a:ea typeface="210 OmniGothic 040"/>
                        </a:rPr>
                        <a:t> 통합 화면 구성</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4"/>
                  </a:ext>
                </a:extLst>
              </a:tr>
              <a:tr h="502920">
                <a:tc gridSpan="2">
                  <a:txBody>
                    <a:bodyPr/>
                    <a:lstStyle/>
                    <a:p>
                      <a:pPr algn="ctr"/>
                      <a:r>
                        <a:rPr sz="1450" b="1" dirty="0" err="1">
                          <a:solidFill>
                            <a:srgbClr val="2E3142"/>
                          </a:solidFill>
                          <a:latin typeface="210 OmniGothic 040"/>
                          <a:ea typeface="210 OmniGothic 040"/>
                          <a:cs typeface="210 OmniGothic 040"/>
                        </a:rPr>
                        <a:t>산출정보</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endParaRP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5"/>
                  </a:ext>
                </a:extLst>
              </a:tr>
              <a:tr h="502920">
                <a:tc gridSpan="2">
                  <a:txBody>
                    <a:bodyPr/>
                    <a:lstStyle/>
                    <a:p>
                      <a:pPr algn="ctr"/>
                      <a:r>
                        <a:rPr sz="1450" b="1" dirty="0" err="1">
                          <a:solidFill>
                            <a:srgbClr val="2E3142"/>
                          </a:solidFill>
                          <a:latin typeface="210 OmniGothic 040"/>
                          <a:ea typeface="210 OmniGothic 040"/>
                          <a:cs typeface="210 OmniGothic 040"/>
                        </a:rPr>
                        <a:t>관련</a:t>
                      </a:r>
                      <a:r>
                        <a:rPr sz="1450" b="1" dirty="0">
                          <a:solidFill>
                            <a:srgbClr val="2E3142"/>
                          </a:solidFill>
                          <a:latin typeface="210 OmniGothic 040"/>
                          <a:ea typeface="210 OmniGothic 040"/>
                          <a:cs typeface="210 OmniGothic 040"/>
                        </a:rPr>
                        <a:t> </a:t>
                      </a:r>
                      <a:r>
                        <a:rPr sz="1450" b="1" dirty="0" err="1">
                          <a:solidFill>
                            <a:srgbClr val="2E3142"/>
                          </a:solidFill>
                          <a:latin typeface="210 OmniGothic 040"/>
                          <a:ea typeface="210 OmniGothic 040"/>
                          <a:cs typeface="210 OmniGothic 040"/>
                        </a:rPr>
                        <a:t>요구사항</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r>
                        <a:rPr sz="1450" b="0" dirty="0">
                          <a:solidFill>
                            <a:srgbClr val="2E3142"/>
                          </a:solidFill>
                          <a:latin typeface="210 OmniGothic 040"/>
                          <a:ea typeface="210 OmniGothic 040"/>
                          <a:cs typeface="210 OmniGothic 040"/>
                        </a:rPr>
                        <a:t>INR-001</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6"/>
                  </a:ext>
                </a:extLst>
              </a:tr>
              <a:tr h="502920">
                <a:tc gridSpan="2">
                  <a:txBody>
                    <a:bodyPr/>
                    <a:lstStyle/>
                    <a:p>
                      <a:pPr algn="ctr"/>
                      <a:r>
                        <a:rPr sz="1450" b="1" dirty="0" err="1">
                          <a:solidFill>
                            <a:srgbClr val="2E3142"/>
                          </a:solidFill>
                          <a:latin typeface="210 OmniGothic 040"/>
                          <a:ea typeface="210 OmniGothic 040"/>
                          <a:cs typeface="210 OmniGothic 040"/>
                        </a:rPr>
                        <a:t>요구사항</a:t>
                      </a:r>
                      <a:r>
                        <a:rPr sz="1450" b="1" dirty="0">
                          <a:solidFill>
                            <a:srgbClr val="2E3142"/>
                          </a:solidFill>
                          <a:latin typeface="210 OmniGothic 040"/>
                          <a:ea typeface="210 OmniGothic 040"/>
                          <a:cs typeface="210 OmniGothic 040"/>
                        </a:rPr>
                        <a:t> </a:t>
                      </a:r>
                      <a:r>
                        <a:rPr sz="1450" b="1" dirty="0" err="1">
                          <a:solidFill>
                            <a:srgbClr val="2E3142"/>
                          </a:solidFill>
                          <a:latin typeface="210 OmniGothic 040"/>
                          <a:ea typeface="210 OmniGothic 040"/>
                          <a:cs typeface="210 OmniGothic 040"/>
                        </a:rPr>
                        <a:t>출처</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r>
                        <a:rPr sz="1450" b="0" dirty="0" err="1">
                          <a:solidFill>
                            <a:srgbClr val="2E3142"/>
                          </a:solidFill>
                          <a:latin typeface="210 OmniGothic 040"/>
                          <a:ea typeface="210 OmniGothic 040"/>
                          <a:cs typeface="210 OmniGothic 040"/>
                        </a:rPr>
                        <a:t>사용성</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요구사항</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86"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2700" y="-12700"/>
            <a:ext cx="18313400" cy="1638300"/>
          </a:xfrm>
          <a:prstGeom prst="rect">
            <a:avLst/>
          </a:prstGeom>
        </p:spPr>
      </p:pic>
      <p:pic>
        <p:nvPicPr>
          <p:cNvPr id="5487"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628" y="1618343"/>
            <a:ext cx="18313400" cy="8699500"/>
          </a:xfrm>
          <a:prstGeom prst="rect">
            <a:avLst/>
          </a:prstGeom>
        </p:spPr>
      </p:pic>
      <p:pic>
        <p:nvPicPr>
          <p:cNvPr id="5488"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58800" y="9271000"/>
            <a:ext cx="17170400" cy="50800"/>
          </a:xfrm>
          <a:prstGeom prst="rect">
            <a:avLst/>
          </a:prstGeom>
        </p:spPr>
      </p:pic>
      <p:pic>
        <p:nvPicPr>
          <p:cNvPr id="5489" name="Picture 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278100" y="203200"/>
            <a:ext cx="1676400" cy="1409700"/>
          </a:xfrm>
          <a:prstGeom prst="rect">
            <a:avLst/>
          </a:prstGeom>
        </p:spPr>
      </p:pic>
      <p:sp>
        <p:nvSpPr>
          <p:cNvPr id="5490" name="Title"/>
          <p:cNvSpPr txBox="1"/>
          <p:nvPr/>
        </p:nvSpPr>
        <p:spPr>
          <a:xfrm>
            <a:off x="822960" y="384048"/>
            <a:ext cx="13258800" cy="877824"/>
          </a:xfrm>
          <a:prstGeom prst="rect">
            <a:avLst/>
          </a:prstGeom>
          <a:noFill/>
        </p:spPr>
        <p:txBody>
          <a:bodyPr wrap="square" lIns="0" tIns="0" rIns="0" bIns="0" anchor="ctr">
            <a:spAutoFit/>
          </a:bodyPr>
          <a:lstStyle/>
          <a:p>
            <a:pPr algn="l"/>
            <a:r>
              <a:rPr sz="4400" b="0">
                <a:solidFill>
                  <a:srgbClr val="FAA95A"/>
                </a:solidFill>
                <a:latin typeface="210 OmniGothic 050"/>
                <a:ea typeface="210 OmniGothic 050"/>
                <a:cs typeface="210 OmniGothic 050"/>
              </a:rPr>
              <a:t>07. 비기능 요구사항</a:t>
            </a:r>
          </a:p>
        </p:txBody>
      </p:sp>
      <p:sp>
        <p:nvSpPr>
          <p:cNvPr id="5491" name="Subtitle"/>
          <p:cNvSpPr txBox="1"/>
          <p:nvPr/>
        </p:nvSpPr>
        <p:spPr>
          <a:xfrm>
            <a:off x="822960" y="1764792"/>
            <a:ext cx="16642080" cy="502920"/>
          </a:xfrm>
          <a:prstGeom prst="rect">
            <a:avLst/>
          </a:prstGeom>
          <a:noFill/>
        </p:spPr>
        <p:txBody>
          <a:bodyPr wrap="square" lIns="0" tIns="0" rIns="0" bIns="0" anchor="ctr">
            <a:spAutoFit/>
          </a:bodyPr>
          <a:lstStyle/>
          <a:p>
            <a:pPr algn="ctr"/>
            <a:r>
              <a:rPr sz="2600" b="1">
                <a:solidFill>
                  <a:srgbClr val="363A52"/>
                </a:solidFill>
                <a:latin typeface="210 OmniGothic 040"/>
                <a:ea typeface="210 OmniGothic 040"/>
                <a:cs typeface="210 OmniGothic 040"/>
              </a:rPr>
              <a:t>운영 요구사항</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sz="quarter" idx="12"/>
          </p:nvPr>
        </p:nvSpPr>
        <p:spPr/>
        <p:txBody>
          <a:bodyPr/>
          <a:lstStyle/>
          <a:p>
            <a:fld id="{B6F15528-21DE-4FAA-801E-634DDDAF4B2B}" type="slidenum">
              <a:rPr lang="en-US" smtClean="0"/>
              <a:pPr/>
              <a:t>98</a:t>
            </a:fld>
            <a:endParaRPr lang="en-US"/>
          </a:p>
        </p:txBody>
      </p:sp>
      <p:graphicFrame>
        <p:nvGraphicFramePr>
          <p:cNvPr id="5492" name="Table 5491"/>
          <p:cNvGraphicFramePr>
            <a:graphicFrameLocks noGrp="1"/>
          </p:cNvGraphicFramePr>
          <p:nvPr/>
        </p:nvGraphicFramePr>
        <p:xfrm>
          <a:off x="2880360" y="2546604"/>
          <a:ext cx="12344400" cy="5230368"/>
        </p:xfrm>
        <a:graphic>
          <a:graphicData uri="http://schemas.openxmlformats.org/drawingml/2006/table">
            <a:tbl>
              <a:tblPr>
                <a:tableStyleId>{2D5ABB26-0587-4C30-8999-92F81FD0307C}</a:tableStyleId>
              </a:tblPr>
              <a:tblGrid>
                <a:gridCol w="245745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8286750">
                  <a:extLst>
                    <a:ext uri="{9D8B030D-6E8A-4147-A177-3AD203B41FA5}">
                      <a16:colId xmlns:a16="http://schemas.microsoft.com/office/drawing/2014/main" val="20002"/>
                    </a:ext>
                  </a:extLst>
                </a:gridCol>
              </a:tblGrid>
              <a:tr h="502920">
                <a:tc gridSpan="2">
                  <a:txBody>
                    <a:bodyPr/>
                    <a:lstStyle/>
                    <a:p>
                      <a:pPr algn="ctr"/>
                      <a:r>
                        <a:rPr sz="1450" b="1" dirty="0">
                          <a:solidFill>
                            <a:srgbClr val="2E3142"/>
                          </a:solidFill>
                          <a:latin typeface="210 OmniGothic 040"/>
                          <a:ea typeface="210 OmniGothic 040"/>
                          <a:cs typeface="210 OmniGothic 040"/>
                        </a:rPr>
                        <a:t>요구사항 분류</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r>
                        <a:rPr sz="1450" b="0" dirty="0">
                          <a:solidFill>
                            <a:srgbClr val="2E3142"/>
                          </a:solidFill>
                          <a:latin typeface="210 OmniGothic 040"/>
                          <a:ea typeface="210 OmniGothic 040"/>
                          <a:cs typeface="210 OmniGothic 040"/>
                        </a:rPr>
                        <a:t>운영 요구사항</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0"/>
                  </a:ext>
                </a:extLst>
              </a:tr>
              <a:tr h="502920">
                <a:tc gridSpan="2">
                  <a:txBody>
                    <a:bodyPr/>
                    <a:lstStyle/>
                    <a:p>
                      <a:pPr algn="ctr"/>
                      <a:r>
                        <a:rPr sz="1450" b="1" dirty="0">
                          <a:solidFill>
                            <a:srgbClr val="2E3142"/>
                          </a:solidFill>
                          <a:latin typeface="210 OmniGothic 040"/>
                          <a:ea typeface="210 OmniGothic 040"/>
                          <a:cs typeface="210 OmniGothic 040"/>
                        </a:rPr>
                        <a:t>요구사항 고유번호</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r>
                        <a:rPr sz="1450" b="0" dirty="0">
                          <a:solidFill>
                            <a:srgbClr val="2E3142"/>
                          </a:solidFill>
                          <a:latin typeface="210 OmniGothic 040"/>
                          <a:ea typeface="210 OmniGothic 040"/>
                          <a:cs typeface="210 OmniGothic 040"/>
                        </a:rPr>
                        <a:t>ORP-001</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1"/>
                  </a:ext>
                </a:extLst>
              </a:tr>
              <a:tr h="502920">
                <a:tc gridSpan="2">
                  <a:txBody>
                    <a:bodyPr/>
                    <a:lstStyle/>
                    <a:p>
                      <a:pPr algn="ctr"/>
                      <a:r>
                        <a:rPr sz="1450" b="1" dirty="0">
                          <a:solidFill>
                            <a:srgbClr val="2E3142"/>
                          </a:solidFill>
                          <a:latin typeface="210 OmniGothic 040"/>
                          <a:ea typeface="210 OmniGothic 040"/>
                          <a:cs typeface="210 OmniGothic 040"/>
                        </a:rPr>
                        <a:t>요구사항 명칭</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r>
                        <a:rPr sz="1450" b="0" dirty="0">
                          <a:solidFill>
                            <a:srgbClr val="2E3142"/>
                          </a:solidFill>
                          <a:latin typeface="210 OmniGothic 040"/>
                          <a:ea typeface="210 OmniGothic 040"/>
                          <a:cs typeface="210 OmniGothic 040"/>
                        </a:rPr>
                        <a:t>이벤트 로그·오류 모니터링</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2"/>
                  </a:ext>
                </a:extLst>
              </a:tr>
              <a:tr h="553212">
                <a:tc rowSpan="2">
                  <a:txBody>
                    <a:bodyPr/>
                    <a:lstStyle/>
                    <a:p>
                      <a:pPr algn="ctr"/>
                      <a:r>
                        <a:rPr sz="1450" b="1" dirty="0">
                          <a:solidFill>
                            <a:srgbClr val="2E3142"/>
                          </a:solidFill>
                          <a:latin typeface="210 OmniGothic 040"/>
                          <a:ea typeface="210 OmniGothic 040"/>
                          <a:cs typeface="210 OmniGothic 040"/>
                        </a:rPr>
                        <a:t>요구사항
상세설명</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a:txBody>
                    <a:bodyPr/>
                    <a:lstStyle/>
                    <a:p>
                      <a:pPr algn="ctr"/>
                      <a:r>
                        <a:rPr sz="1450" b="1" dirty="0">
                          <a:solidFill>
                            <a:srgbClr val="2E3142"/>
                          </a:solidFill>
                          <a:latin typeface="210 OmniGothic 040"/>
                          <a:ea typeface="210 OmniGothic 040"/>
                          <a:cs typeface="210 OmniGothic 040"/>
                        </a:rPr>
                        <a:t>정의</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a:txBody>
                    <a:bodyPr/>
                    <a:lstStyle/>
                    <a:p>
                      <a:pPr algn="l"/>
                      <a:r>
                        <a:rPr lang="ko-KR" altLang="en-US" sz="1450" b="0" i="0" u="none" strike="noStrike" noProof="0" dirty="0">
                          <a:solidFill>
                            <a:srgbClr val="2E3142"/>
                          </a:solidFill>
                          <a:latin typeface="210 OmniGothic 040"/>
                          <a:ea typeface="210 OmniGothic 040"/>
                        </a:rPr>
                        <a:t>시스템에서</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발생한</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주요</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이벤트와</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처리</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오류를</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내부적으로</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기록하고</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추적</a:t>
                      </a:r>
                      <a:endParaRPr sz="1450" b="0">
                        <a:solidFill>
                          <a:srgbClr val="2E3142"/>
                        </a:solidFill>
                        <a:latin typeface="210 OmniGothic 040"/>
                        <a:ea typeface="210 OmniGothic 040"/>
                        <a:cs typeface="210 OmniGothic 040"/>
                      </a:endParaRP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3"/>
                  </a:ext>
                </a:extLst>
              </a:tr>
              <a:tr h="1659636">
                <a:tc vMerge="1">
                  <a:txBody>
                    <a:bodyPr/>
                    <a:lstStyle/>
                    <a:p>
                      <a:endParaRPr/>
                    </a:p>
                  </a:txBody>
                  <a:tcPr/>
                </a:tc>
                <a:tc>
                  <a:txBody>
                    <a:bodyPr/>
                    <a:lstStyle/>
                    <a:p>
                      <a:pPr algn="ctr"/>
                      <a:r>
                        <a:rPr sz="1450" b="1" dirty="0">
                          <a:solidFill>
                            <a:srgbClr val="2E3142"/>
                          </a:solidFill>
                          <a:latin typeface="210 OmniGothic 040"/>
                          <a:ea typeface="210 OmniGothic 040"/>
                          <a:cs typeface="210 OmniGothic 040"/>
                        </a:rPr>
                        <a:t>세부 내용</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a:txBody>
                    <a:bodyPr/>
                    <a:lstStyle/>
                    <a:p>
                      <a:pPr lvl="0" algn="l">
                        <a:lnSpc>
                          <a:spcPct val="100000"/>
                        </a:lnSpc>
                        <a:spcBef>
                          <a:spcPts val="0"/>
                        </a:spcBef>
                        <a:spcAft>
                          <a:spcPts val="0"/>
                        </a:spcAft>
                        <a:buNone/>
                      </a:pPr>
                      <a:r>
                        <a:rPr lang="en-US" altLang="ko-KR" sz="1450" b="0" i="0" u="none" strike="noStrike" noProof="0" dirty="0">
                          <a:solidFill>
                            <a:srgbClr val="2E3142"/>
                          </a:solidFill>
                          <a:latin typeface="210 OmniGothic 040"/>
                          <a:ea typeface="210 OmniGothic 040"/>
                        </a:rPr>
                        <a:t>1. </a:t>
                      </a:r>
                      <a:r>
                        <a:rPr lang="ko-KR" altLang="en-US" sz="1450" b="0" i="0" u="none" strike="noStrike" noProof="0" dirty="0">
                          <a:solidFill>
                            <a:srgbClr val="2E3142"/>
                          </a:solidFill>
                          <a:latin typeface="210 OmniGothic 040"/>
                          <a:ea typeface="210 OmniGothic 040"/>
                        </a:rPr>
                        <a:t>로그인</a:t>
                      </a:r>
                      <a:r>
                        <a:rPr lang="en-US" altLang="ko-KR" sz="1450" b="0" i="0" u="none" strike="noStrike" noProof="0" dirty="0">
                          <a:solidFill>
                            <a:srgbClr val="2E3142"/>
                          </a:solidFill>
                          <a:latin typeface="210 OmniGothic 040"/>
                          <a:ea typeface="210 OmniGothic 040"/>
                        </a:rPr>
                        <a:t>·</a:t>
                      </a:r>
                      <a:r>
                        <a:rPr lang="ko-KR" altLang="en-US" sz="1450" b="0" i="0" u="none" strike="noStrike" noProof="0" dirty="0">
                          <a:solidFill>
                            <a:srgbClr val="2E3142"/>
                          </a:solidFill>
                          <a:latin typeface="210 OmniGothic 040"/>
                          <a:ea typeface="210 OmniGothic 040"/>
                        </a:rPr>
                        <a:t>로그아웃</a:t>
                      </a:r>
                      <a:r>
                        <a:rPr lang="en-US" altLang="ko-KR" sz="1450" b="0" i="0" u="none" strike="noStrike" noProof="0" dirty="0">
                          <a:solidFill>
                            <a:srgbClr val="2E3142"/>
                          </a:solidFill>
                          <a:latin typeface="210 OmniGothic 040"/>
                          <a:ea typeface="210 OmniGothic 040"/>
                        </a:rPr>
                        <a:t>·</a:t>
                      </a:r>
                      <a:r>
                        <a:rPr lang="ko-KR" altLang="en-US" sz="1450" b="0" i="0" u="none" strike="noStrike" noProof="0" dirty="0">
                          <a:solidFill>
                            <a:srgbClr val="2E3142"/>
                          </a:solidFill>
                          <a:latin typeface="210 OmniGothic 040"/>
                          <a:ea typeface="210 OmniGothic 040"/>
                        </a:rPr>
                        <a:t>발화정보 입력</a:t>
                      </a:r>
                      <a:r>
                        <a:rPr lang="en-US" altLang="ko-KR" sz="1450" b="0" i="0" u="none" strike="noStrike" noProof="0" dirty="0">
                          <a:solidFill>
                            <a:srgbClr val="2E3142"/>
                          </a:solidFill>
                          <a:latin typeface="210 OmniGothic 040"/>
                          <a:ea typeface="210 OmniGothic 040"/>
                        </a:rPr>
                        <a:t>·</a:t>
                      </a:r>
                      <a:r>
                        <a:rPr lang="ko-KR" altLang="en-US" sz="1450" b="0" i="0" u="none" strike="noStrike" noProof="0" dirty="0">
                          <a:solidFill>
                            <a:srgbClr val="2E3142"/>
                          </a:solidFill>
                          <a:latin typeface="210 OmniGothic 040"/>
                          <a:ea typeface="210 OmniGothic 040"/>
                        </a:rPr>
                        <a:t>예측 실행</a:t>
                      </a:r>
                      <a:r>
                        <a:rPr lang="en-US" altLang="ko-KR" sz="1450" b="0" i="0" u="none" strike="noStrike" noProof="0" dirty="0">
                          <a:solidFill>
                            <a:srgbClr val="2E3142"/>
                          </a:solidFill>
                          <a:latin typeface="210 OmniGothic 040"/>
                          <a:ea typeface="210 OmniGothic 040"/>
                        </a:rPr>
                        <a:t>·</a:t>
                      </a:r>
                      <a:r>
                        <a:rPr lang="ko-KR" altLang="en-US" sz="1450" b="0" i="0" u="none" strike="noStrike" noProof="0" dirty="0">
                          <a:solidFill>
                            <a:srgbClr val="2E3142"/>
                          </a:solidFill>
                          <a:latin typeface="210 OmniGothic 040"/>
                          <a:ea typeface="210 OmniGothic 040"/>
                        </a:rPr>
                        <a:t>제안 생성</a:t>
                      </a:r>
                      <a:r>
                        <a:rPr lang="en-US" altLang="ko-KR" sz="1450" b="0" i="0" u="none" strike="noStrike" noProof="0" dirty="0">
                          <a:solidFill>
                            <a:srgbClr val="2E3142"/>
                          </a:solidFill>
                          <a:latin typeface="210 OmniGothic 040"/>
                          <a:ea typeface="210 OmniGothic 040"/>
                        </a:rPr>
                        <a:t>·</a:t>
                      </a:r>
                      <a:r>
                        <a:rPr lang="ko-KR" altLang="en-US" sz="1450" b="0" i="0" u="none" strike="noStrike" noProof="0" dirty="0">
                          <a:solidFill>
                            <a:srgbClr val="2E3142"/>
                          </a:solidFill>
                          <a:latin typeface="210 OmniGothic 040"/>
                          <a:ea typeface="210 OmniGothic 040"/>
                        </a:rPr>
                        <a:t>상황 정정</a:t>
                      </a:r>
                      <a:r>
                        <a:rPr lang="en-US" altLang="ko-KR" sz="1450" b="0" i="0" u="none" strike="noStrike" noProof="0" dirty="0">
                          <a:solidFill>
                            <a:srgbClr val="2E3142"/>
                          </a:solidFill>
                          <a:latin typeface="210 OmniGothic 040"/>
                          <a:ea typeface="210 OmniGothic 040"/>
                        </a:rPr>
                        <a:t>·</a:t>
                      </a:r>
                      <a:r>
                        <a:rPr lang="ko-KR" altLang="en-US" sz="1450" b="0" i="0" u="none" strike="noStrike" noProof="0" dirty="0">
                          <a:solidFill>
                            <a:srgbClr val="2E3142"/>
                          </a:solidFill>
                          <a:latin typeface="210 OmniGothic 040"/>
                          <a:ea typeface="210 OmniGothic 040"/>
                        </a:rPr>
                        <a:t>종료</a:t>
                      </a:r>
                      <a:r>
                        <a:rPr lang="en-US" altLang="ko-KR" sz="1450" b="0" i="0" u="none" strike="noStrike" noProof="0" dirty="0">
                          <a:solidFill>
                            <a:srgbClr val="2E3142"/>
                          </a:solidFill>
                          <a:latin typeface="210 OmniGothic 040"/>
                          <a:ea typeface="210 OmniGothic 040"/>
                        </a:rPr>
                        <a:t>·</a:t>
                      </a:r>
                      <a:r>
                        <a:rPr lang="ko-KR" altLang="en-US" sz="1450" b="0" i="0" u="none" strike="noStrike" noProof="0" dirty="0">
                          <a:solidFill>
                            <a:srgbClr val="2E3142"/>
                          </a:solidFill>
                          <a:latin typeface="210 OmniGothic 040"/>
                          <a:ea typeface="210 OmniGothic 040"/>
                        </a:rPr>
                        <a:t>계정</a:t>
                      </a:r>
                      <a:r>
                        <a:rPr lang="en-US" altLang="ko-KR" sz="1450" b="0" i="0" u="none" strike="noStrike" noProof="0" dirty="0">
                          <a:solidFill>
                            <a:srgbClr val="2E3142"/>
                          </a:solidFill>
                          <a:latin typeface="210 OmniGothic 040"/>
                          <a:ea typeface="210 OmniGothic 040"/>
                        </a:rPr>
                        <a:t>·</a:t>
                      </a:r>
                      <a:r>
                        <a:rPr lang="ko-KR" altLang="en-US" sz="1450" b="0" i="0" u="none" strike="noStrike" noProof="0" dirty="0">
                          <a:solidFill>
                            <a:srgbClr val="2E3142"/>
                          </a:solidFill>
                          <a:latin typeface="210 OmniGothic 040"/>
                          <a:ea typeface="210 OmniGothic 040"/>
                        </a:rPr>
                        <a:t>자원 변경·근거 부족 이벤트 기록</a:t>
                      </a:r>
                      <a:endParaRPr lang="ko-KR" altLang="en-US" dirty="0">
                        <a:latin typeface="210 OmniGothic 040"/>
                        <a:ea typeface="210 OmniGothic 040"/>
                      </a:endParaRPr>
                    </a:p>
                    <a:p>
                      <a:pPr lvl="0" algn="l">
                        <a:lnSpc>
                          <a:spcPct val="100000"/>
                        </a:lnSpc>
                        <a:spcBef>
                          <a:spcPts val="0"/>
                        </a:spcBef>
                        <a:spcAft>
                          <a:spcPts val="0"/>
                        </a:spcAft>
                        <a:buNone/>
                      </a:pPr>
                      <a:r>
                        <a:rPr lang="en-US" altLang="ko-KR" sz="1450" b="0" i="0" u="none" strike="noStrike" noProof="0" dirty="0">
                          <a:solidFill>
                            <a:srgbClr val="2E3142"/>
                          </a:solidFill>
                          <a:latin typeface="210 OmniGothic 040"/>
                          <a:ea typeface="210 OmniGothic 040"/>
                        </a:rPr>
                        <a:t>2.</a:t>
                      </a:r>
                      <a:r>
                        <a:rPr lang="ko-KR" altLang="en-US" sz="1450" b="0" i="0" u="none" strike="noStrike" noProof="0" dirty="0">
                          <a:solidFill>
                            <a:srgbClr val="2E3142"/>
                          </a:solidFill>
                          <a:latin typeface="210 OmniGothic 040"/>
                          <a:ea typeface="210 OmniGothic 040"/>
                        </a:rPr>
                        <a:t> 이벤트 발생 시각</a:t>
                      </a:r>
                      <a:r>
                        <a:rPr lang="en-US" altLang="ko-KR" sz="1450" b="0" i="0" u="none" strike="noStrike" noProof="0" dirty="0">
                          <a:solidFill>
                            <a:srgbClr val="2E3142"/>
                          </a:solidFill>
                          <a:latin typeface="210 OmniGothic 040"/>
                          <a:ea typeface="210 OmniGothic 040"/>
                        </a:rPr>
                        <a:t>·</a:t>
                      </a:r>
                      <a:r>
                        <a:rPr lang="ko-KR" altLang="en-US" sz="1450" b="0" i="0" u="none" strike="noStrike" noProof="0" dirty="0">
                          <a:solidFill>
                            <a:srgbClr val="2E3142"/>
                          </a:solidFill>
                          <a:latin typeface="210 OmniGothic 040"/>
                          <a:ea typeface="210 OmniGothic 040"/>
                        </a:rPr>
                        <a:t>사용자</a:t>
                      </a:r>
                      <a:r>
                        <a:rPr lang="en-US" altLang="ko-KR" sz="1450" b="0" i="0" u="none" strike="noStrike" noProof="0" dirty="0">
                          <a:solidFill>
                            <a:srgbClr val="2E3142"/>
                          </a:solidFill>
                          <a:latin typeface="210 OmniGothic 040"/>
                          <a:ea typeface="210 OmniGothic 040"/>
                        </a:rPr>
                        <a:t>·</a:t>
                      </a:r>
                      <a:r>
                        <a:rPr lang="ko-KR" altLang="en-US" sz="1450" b="0" i="0" u="none" strike="noStrike" noProof="0" dirty="0">
                          <a:solidFill>
                            <a:srgbClr val="2E3142"/>
                          </a:solidFill>
                          <a:latin typeface="210 OmniGothic 040"/>
                          <a:ea typeface="210 OmniGothic 040"/>
                        </a:rPr>
                        <a:t>구분</a:t>
                      </a:r>
                      <a:r>
                        <a:rPr lang="en-US" altLang="ko-KR" sz="1450" b="0" i="0" u="none" strike="noStrike" noProof="0" dirty="0">
                          <a:solidFill>
                            <a:srgbClr val="2E3142"/>
                          </a:solidFill>
                          <a:latin typeface="210 OmniGothic 040"/>
                          <a:ea typeface="210 OmniGothic 040"/>
                        </a:rPr>
                        <a:t>·</a:t>
                      </a:r>
                      <a:r>
                        <a:rPr lang="ko-KR" altLang="en-US" sz="1450" b="0" i="0" u="none" strike="noStrike" noProof="0" dirty="0">
                          <a:solidFill>
                            <a:srgbClr val="2E3142"/>
                          </a:solidFill>
                          <a:latin typeface="210 OmniGothic 040"/>
                          <a:ea typeface="210 OmniGothic 040"/>
                        </a:rPr>
                        <a:t>내용 저장</a:t>
                      </a:r>
                      <a:endParaRPr lang="en-US" dirty="0">
                        <a:latin typeface="210 OmniGothic 040"/>
                        <a:ea typeface="210 OmniGothic 040"/>
                      </a:endParaRPr>
                    </a:p>
                    <a:p>
                      <a:pPr lvl="0" algn="l">
                        <a:lnSpc>
                          <a:spcPct val="100000"/>
                        </a:lnSpc>
                        <a:spcBef>
                          <a:spcPts val="0"/>
                        </a:spcBef>
                        <a:spcAft>
                          <a:spcPts val="0"/>
                        </a:spcAft>
                        <a:buNone/>
                      </a:pPr>
                      <a:r>
                        <a:rPr lang="en-US" altLang="ko-KR" sz="1450" b="0" i="0" u="none" strike="noStrike" noProof="0" dirty="0">
                          <a:solidFill>
                            <a:srgbClr val="2E3142"/>
                          </a:solidFill>
                          <a:latin typeface="210 OmniGothic 040"/>
                          <a:ea typeface="210 OmniGothic 040"/>
                        </a:rPr>
                        <a:t>3.</a:t>
                      </a:r>
                      <a:r>
                        <a:rPr lang="ko-KR" altLang="en-US" sz="1450" b="0" i="0" u="none" strike="noStrike" noProof="0" dirty="0">
                          <a:solidFill>
                            <a:srgbClr val="2E3142"/>
                          </a:solidFill>
                          <a:latin typeface="210 OmniGothic 040"/>
                          <a:ea typeface="210 OmniGothic 040"/>
                        </a:rPr>
                        <a:t> 규칙 판정</a:t>
                      </a:r>
                      <a:r>
                        <a:rPr lang="en-US" altLang="ko-KR" sz="1450" b="0" i="0" u="none" strike="noStrike" noProof="0" dirty="0">
                          <a:solidFill>
                            <a:srgbClr val="2E3142"/>
                          </a:solidFill>
                          <a:latin typeface="210 OmniGothic 040"/>
                          <a:ea typeface="210 OmniGothic 040"/>
                        </a:rPr>
                        <a:t>·</a:t>
                      </a:r>
                      <a:r>
                        <a:rPr lang="ko-KR" altLang="en-US" sz="1450" b="0" i="0" u="none" strike="noStrike" noProof="0" dirty="0">
                          <a:solidFill>
                            <a:srgbClr val="2E3142"/>
                          </a:solidFill>
                          <a:latin typeface="210 OmniGothic 040"/>
                          <a:ea typeface="210 OmniGothic 040"/>
                        </a:rPr>
                        <a:t>질문</a:t>
                      </a:r>
                      <a:r>
                        <a:rPr lang="en-US" altLang="ko-KR" sz="1450" b="0" i="0" u="none" strike="noStrike" noProof="0" dirty="0">
                          <a:solidFill>
                            <a:srgbClr val="2E3142"/>
                          </a:solidFill>
                          <a:latin typeface="210 OmniGothic 040"/>
                          <a:ea typeface="210 OmniGothic 040"/>
                        </a:rPr>
                        <a:t>·</a:t>
                      </a:r>
                      <a:r>
                        <a:rPr lang="ko-KR" altLang="en-US" sz="1450" b="0" i="0" u="none" strike="noStrike" noProof="0" dirty="0">
                          <a:solidFill>
                            <a:srgbClr val="2E3142"/>
                          </a:solidFill>
                          <a:latin typeface="210 OmniGothic 040"/>
                          <a:ea typeface="210 OmniGothic 040"/>
                        </a:rPr>
                        <a:t>검색</a:t>
                      </a:r>
                      <a:r>
                        <a:rPr lang="en-US" altLang="ko-KR" sz="1450" b="0" i="0" u="none" strike="noStrike" noProof="0" dirty="0">
                          <a:solidFill>
                            <a:srgbClr val="2E3142"/>
                          </a:solidFill>
                          <a:latin typeface="210 OmniGothic 040"/>
                          <a:ea typeface="210 OmniGothic 040"/>
                        </a:rPr>
                        <a:t>·</a:t>
                      </a:r>
                      <a:r>
                        <a:rPr lang="ko-KR" altLang="en-US" sz="1450" b="0" i="0" u="none" strike="noStrike" noProof="0" dirty="0">
                          <a:solidFill>
                            <a:srgbClr val="2E3142"/>
                          </a:solidFill>
                          <a:latin typeface="210 OmniGothic 040"/>
                          <a:ea typeface="210 OmniGothic 040"/>
                        </a:rPr>
                        <a:t>답변</a:t>
                      </a:r>
                      <a:r>
                        <a:rPr lang="en-US" altLang="ko-KR" sz="1450" b="0" i="0" u="none" strike="noStrike" noProof="0" dirty="0">
                          <a:solidFill>
                            <a:srgbClr val="2E3142"/>
                          </a:solidFill>
                          <a:latin typeface="210 OmniGothic 040"/>
                          <a:ea typeface="210 OmniGothic 040"/>
                        </a:rPr>
                        <a:t>·</a:t>
                      </a:r>
                      <a:r>
                        <a:rPr lang="ko-KR" altLang="en-US" sz="1450" b="0" i="0" u="none" strike="noStrike" noProof="0" dirty="0">
                          <a:solidFill>
                            <a:srgbClr val="2E3142"/>
                          </a:solidFill>
                          <a:latin typeface="210 OmniGothic 040"/>
                          <a:ea typeface="210 OmniGothic 040"/>
                        </a:rPr>
                        <a:t>검사 등 </a:t>
                      </a:r>
                      <a:r>
                        <a:rPr lang="en-US" altLang="ko-KR" sz="1450" b="0" i="0" u="none" strike="noStrike" noProof="0" dirty="0">
                          <a:solidFill>
                            <a:srgbClr val="2E3142"/>
                          </a:solidFill>
                          <a:latin typeface="210 OmniGothic 040"/>
                          <a:ea typeface="210 OmniGothic 040"/>
                        </a:rPr>
                        <a:t>AI</a:t>
                      </a:r>
                      <a:r>
                        <a:rPr lang="ko-KR" altLang="en-US" sz="1450" b="0" i="0" u="none" strike="noStrike" noProof="0" dirty="0">
                          <a:solidFill>
                            <a:srgbClr val="2E3142"/>
                          </a:solidFill>
                          <a:latin typeface="210 OmniGothic 040"/>
                          <a:ea typeface="210 OmniGothic 040"/>
                        </a:rPr>
                        <a:t> 처리 단계의 실행 상태 및 오류 기록</a:t>
                      </a:r>
                      <a:endParaRPr dirty="0">
                        <a:latin typeface="210 OmniGothic 040"/>
                        <a:ea typeface="210 OmniGothic 040"/>
                      </a:endParaRPr>
                    </a:p>
                    <a:p>
                      <a:pPr lvl="0" algn="l">
                        <a:lnSpc>
                          <a:spcPct val="100000"/>
                        </a:lnSpc>
                        <a:spcBef>
                          <a:spcPts val="0"/>
                        </a:spcBef>
                        <a:spcAft>
                          <a:spcPts val="0"/>
                        </a:spcAft>
                        <a:buNone/>
                      </a:pPr>
                      <a:r>
                        <a:rPr lang="en-US" altLang="ko-KR" sz="1450" b="0" i="0" u="none" strike="noStrike" noProof="0" dirty="0">
                          <a:solidFill>
                            <a:srgbClr val="2E3142"/>
                          </a:solidFill>
                          <a:latin typeface="210 OmniGothic 040"/>
                          <a:ea typeface="210 OmniGothic 040"/>
                        </a:rPr>
                        <a:t>4.</a:t>
                      </a:r>
                      <a:r>
                        <a:rPr lang="ko-KR" altLang="en-US" sz="1450" b="0" i="0" u="none" strike="noStrike" noProof="0" dirty="0">
                          <a:solidFill>
                            <a:srgbClr val="2E3142"/>
                          </a:solidFill>
                          <a:latin typeface="210 OmniGothic 040"/>
                          <a:ea typeface="210 OmniGothic 040"/>
                        </a:rPr>
                        <a:t> 모델 실행 실패</a:t>
                      </a:r>
                      <a:r>
                        <a:rPr lang="en-US" altLang="ko-KR" sz="1450" b="0" i="0" u="none" strike="noStrike" noProof="0" dirty="0">
                          <a:solidFill>
                            <a:srgbClr val="2E3142"/>
                          </a:solidFill>
                          <a:latin typeface="210 OmniGothic 040"/>
                          <a:ea typeface="210 OmniGothic 040"/>
                        </a:rPr>
                        <a:t>·LLM</a:t>
                      </a:r>
                      <a:r>
                        <a:rPr lang="ko-KR" altLang="en-US" sz="1450" b="0" i="0" u="none" strike="noStrike" noProof="0" dirty="0">
                          <a:solidFill>
                            <a:srgbClr val="2E3142"/>
                          </a:solidFill>
                          <a:latin typeface="210 OmniGothic 040"/>
                          <a:ea typeface="210 OmniGothic 040"/>
                        </a:rPr>
                        <a:t> 형식 오류 발생 시 재시도 횟수와 오류 원인 기록</a:t>
                      </a:r>
                      <a:endParaRPr lang="ko-KR" altLang="en-US" i="0" u="none" strike="noStrike" noProof="0" dirty="0">
                        <a:latin typeface="210 OmniGothic 040"/>
                        <a:ea typeface="210 OmniGothic 040"/>
                      </a:endParaRPr>
                    </a:p>
                    <a:p>
                      <a:pPr lvl="0" algn="l">
                        <a:lnSpc>
                          <a:spcPct val="100000"/>
                        </a:lnSpc>
                        <a:spcBef>
                          <a:spcPts val="0"/>
                        </a:spcBef>
                        <a:spcAft>
                          <a:spcPts val="0"/>
                        </a:spcAft>
                        <a:buNone/>
                      </a:pPr>
                      <a:r>
                        <a:rPr lang="en-US" altLang="ko-KR" sz="1450" b="0" i="0" u="none" strike="noStrike" noProof="0" dirty="0">
                          <a:solidFill>
                            <a:srgbClr val="2E3142"/>
                          </a:solidFill>
                          <a:latin typeface="210 OmniGothic 040"/>
                          <a:ea typeface="210 OmniGothic 040"/>
                        </a:rPr>
                        <a:t>5.</a:t>
                      </a:r>
                      <a:r>
                        <a:rPr lang="ko-KR" altLang="en-US" sz="1450" b="0" i="0" u="none" strike="noStrike" noProof="0" dirty="0">
                          <a:solidFill>
                            <a:srgbClr val="2E3142"/>
                          </a:solidFill>
                          <a:latin typeface="210 OmniGothic 040"/>
                          <a:ea typeface="210 OmniGothic 040"/>
                        </a:rPr>
                        <a:t> 기상청 </a:t>
                      </a:r>
                      <a:r>
                        <a:rPr lang="en-US" altLang="ko-KR" sz="1450" b="0" i="0" u="none" strike="noStrike" noProof="0" dirty="0">
                          <a:solidFill>
                            <a:srgbClr val="2E3142"/>
                          </a:solidFill>
                          <a:latin typeface="210 OmniGothic 040"/>
                          <a:ea typeface="210 OmniGothic 040"/>
                        </a:rPr>
                        <a:t>API</a:t>
                      </a:r>
                      <a:r>
                        <a:rPr lang="ko-KR" altLang="en-US" sz="1450" b="0" i="0" u="none" strike="noStrike" noProof="0" dirty="0">
                          <a:solidFill>
                            <a:srgbClr val="2E3142"/>
                          </a:solidFill>
                          <a:latin typeface="210 OmniGothic 040"/>
                          <a:ea typeface="210 OmniGothic 040"/>
                        </a:rPr>
                        <a:t> 응답 실패 시 마지막 </a:t>
                      </a:r>
                      <a:r>
                        <a:rPr lang="ko-KR" altLang="en-US" sz="1450" b="0" i="0" u="none" strike="noStrike" noProof="0" dirty="0" err="1">
                          <a:solidFill>
                            <a:srgbClr val="2E3142"/>
                          </a:solidFill>
                          <a:latin typeface="210 OmniGothic 040"/>
                          <a:ea typeface="210 OmniGothic 040"/>
                        </a:rPr>
                        <a:t>수신값과</a:t>
                      </a:r>
                      <a:r>
                        <a:rPr lang="ko-KR" altLang="en-US" sz="1450" b="0" i="0" u="none" strike="noStrike" noProof="0" dirty="0">
                          <a:solidFill>
                            <a:srgbClr val="2E3142"/>
                          </a:solidFill>
                          <a:latin typeface="210 OmniGothic 040"/>
                          <a:ea typeface="210 OmniGothic 040"/>
                        </a:rPr>
                        <a:t> 수신 시각 표시</a:t>
                      </a:r>
                      <a:endParaRPr lang="ko-KR" altLang="en-US" i="0" u="none" strike="noStrike" noProof="0" dirty="0">
                        <a:latin typeface="210 OmniGothic 040"/>
                        <a:ea typeface="210 OmniGothic 040"/>
                      </a:endParaRPr>
                    </a:p>
                    <a:p>
                      <a:pPr lvl="0" algn="l">
                        <a:lnSpc>
                          <a:spcPct val="110000"/>
                        </a:lnSpc>
                        <a:buNone/>
                      </a:pPr>
                      <a:r>
                        <a:rPr lang="en-US" altLang="ko-KR" sz="1450" b="0" i="0" u="none" strike="noStrike" noProof="0" dirty="0">
                          <a:solidFill>
                            <a:srgbClr val="2E3142"/>
                          </a:solidFill>
                          <a:latin typeface="210 OmniGothic 040"/>
                          <a:ea typeface="210 OmniGothic 040"/>
                        </a:rPr>
                        <a:t>6.</a:t>
                      </a:r>
                      <a:r>
                        <a:rPr lang="ko-KR" altLang="en-US" sz="1450" b="0" i="0" u="none" strike="noStrike" noProof="0" dirty="0">
                          <a:solidFill>
                            <a:srgbClr val="2E3142"/>
                          </a:solidFill>
                          <a:latin typeface="210 OmniGothic 040"/>
                          <a:ea typeface="210 OmniGothic 040"/>
                        </a:rPr>
                        <a:t> 이벤트 로그는 이력 탭에서 시각·구분·내용·사용자 기준으로 읽기 전용 열람(UC-PROP-04)</a:t>
                      </a:r>
                      <a:endParaRPr dirty="0">
                        <a:latin typeface="210 OmniGothic 040"/>
                        <a:ea typeface="210 OmniGothic 040"/>
                      </a:endParaRP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4"/>
                  </a:ext>
                </a:extLst>
              </a:tr>
              <a:tr h="502920">
                <a:tc gridSpan="2">
                  <a:txBody>
                    <a:bodyPr/>
                    <a:lstStyle/>
                    <a:p>
                      <a:pPr algn="ctr"/>
                      <a:r>
                        <a:rPr sz="1450" b="1" dirty="0">
                          <a:solidFill>
                            <a:srgbClr val="2E3142"/>
                          </a:solidFill>
                          <a:latin typeface="210 OmniGothic 040"/>
                          <a:ea typeface="210 OmniGothic 040"/>
                          <a:cs typeface="210 OmniGothic 040"/>
                        </a:rPr>
                        <a:t>산출정보</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endParaRP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5"/>
                  </a:ext>
                </a:extLst>
              </a:tr>
              <a:tr h="502920">
                <a:tc gridSpan="2">
                  <a:txBody>
                    <a:bodyPr/>
                    <a:lstStyle/>
                    <a:p>
                      <a:pPr algn="ctr"/>
                      <a:r>
                        <a:rPr sz="1450" b="1" dirty="0">
                          <a:solidFill>
                            <a:srgbClr val="2E3142"/>
                          </a:solidFill>
                          <a:latin typeface="210 OmniGothic 040"/>
                          <a:ea typeface="210 OmniGothic 040"/>
                          <a:cs typeface="210 OmniGothic 040"/>
                        </a:rPr>
                        <a:t>관련 요구사항</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r>
                        <a:rPr sz="1450" b="0" dirty="0">
                          <a:solidFill>
                            <a:srgbClr val="2E3142"/>
                          </a:solidFill>
                          <a:latin typeface="210 OmniGothic 040"/>
                          <a:ea typeface="210 OmniGothic 040"/>
                          <a:cs typeface="210 OmniGothic 040"/>
                        </a:rPr>
                        <a:t>QUR-002</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6"/>
                  </a:ext>
                </a:extLst>
              </a:tr>
              <a:tr h="502920">
                <a:tc gridSpan="2">
                  <a:txBody>
                    <a:bodyPr/>
                    <a:lstStyle/>
                    <a:p>
                      <a:pPr algn="ctr"/>
                      <a:r>
                        <a:rPr sz="1450" b="1" dirty="0">
                          <a:solidFill>
                            <a:srgbClr val="2E3142"/>
                          </a:solidFill>
                          <a:latin typeface="210 OmniGothic 040"/>
                          <a:ea typeface="210 OmniGothic 040"/>
                          <a:cs typeface="210 OmniGothic 040"/>
                        </a:rPr>
                        <a:t>요구사항 출처</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r>
                        <a:rPr sz="1450" b="0" dirty="0">
                          <a:solidFill>
                            <a:srgbClr val="2E3142"/>
                          </a:solidFill>
                          <a:latin typeface="210 OmniGothic 040"/>
                          <a:ea typeface="210 OmniGothic 040"/>
                          <a:cs typeface="210 OmniGothic 040"/>
                        </a:rPr>
                        <a:t>운영 요구사항</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91"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700" y="-12700"/>
            <a:ext cx="18313400" cy="1638300"/>
          </a:xfrm>
          <a:prstGeom prst="rect">
            <a:avLst/>
          </a:prstGeom>
        </p:spPr>
      </p:pic>
      <p:pic>
        <p:nvPicPr>
          <p:cNvPr id="5492"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28" y="1618343"/>
            <a:ext cx="18313400" cy="8699500"/>
          </a:xfrm>
          <a:prstGeom prst="rect">
            <a:avLst/>
          </a:prstGeom>
        </p:spPr>
      </p:pic>
      <p:pic>
        <p:nvPicPr>
          <p:cNvPr id="5493"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58800" y="9271000"/>
            <a:ext cx="17170400" cy="50800"/>
          </a:xfrm>
          <a:prstGeom prst="rect">
            <a:avLst/>
          </a:prstGeom>
        </p:spPr>
      </p:pic>
      <p:pic>
        <p:nvPicPr>
          <p:cNvPr id="5494" name="Picture 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278100" y="203200"/>
            <a:ext cx="1676400" cy="1409700"/>
          </a:xfrm>
          <a:prstGeom prst="rect">
            <a:avLst/>
          </a:prstGeom>
        </p:spPr>
      </p:pic>
      <p:sp>
        <p:nvSpPr>
          <p:cNvPr id="5495" name="Title"/>
          <p:cNvSpPr txBox="1"/>
          <p:nvPr/>
        </p:nvSpPr>
        <p:spPr>
          <a:xfrm>
            <a:off x="822960" y="384048"/>
            <a:ext cx="13258800" cy="877824"/>
          </a:xfrm>
          <a:prstGeom prst="rect">
            <a:avLst/>
          </a:prstGeom>
          <a:noFill/>
        </p:spPr>
        <p:txBody>
          <a:bodyPr wrap="square" lIns="0" tIns="0" rIns="0" bIns="0" anchor="ctr">
            <a:spAutoFit/>
          </a:bodyPr>
          <a:lstStyle/>
          <a:p>
            <a:pPr algn="l"/>
            <a:r>
              <a:rPr sz="4400" b="0">
                <a:solidFill>
                  <a:srgbClr val="FAA95A"/>
                </a:solidFill>
                <a:latin typeface="210 OmniGothic 050"/>
                <a:ea typeface="210 OmniGothic 050"/>
                <a:cs typeface="210 OmniGothic 050"/>
              </a:rPr>
              <a:t>07. 비기능 요구사항</a:t>
            </a:r>
          </a:p>
        </p:txBody>
      </p:sp>
      <p:sp>
        <p:nvSpPr>
          <p:cNvPr id="5496" name="Subtitle"/>
          <p:cNvSpPr txBox="1"/>
          <p:nvPr/>
        </p:nvSpPr>
        <p:spPr>
          <a:xfrm>
            <a:off x="822960" y="1764792"/>
            <a:ext cx="16642080" cy="502920"/>
          </a:xfrm>
          <a:prstGeom prst="rect">
            <a:avLst/>
          </a:prstGeom>
          <a:noFill/>
        </p:spPr>
        <p:txBody>
          <a:bodyPr wrap="square" lIns="0" tIns="0" rIns="0" bIns="0" anchor="ctr">
            <a:spAutoFit/>
          </a:bodyPr>
          <a:lstStyle/>
          <a:p>
            <a:pPr algn="ctr"/>
            <a:r>
              <a:rPr sz="2600" b="1">
                <a:solidFill>
                  <a:srgbClr val="363A52"/>
                </a:solidFill>
                <a:latin typeface="210 OmniGothic 040"/>
                <a:ea typeface="210 OmniGothic 040"/>
                <a:cs typeface="210 OmniGothic 040"/>
              </a:rPr>
              <a:t>운영 요구사항</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sz="quarter" idx="12"/>
          </p:nvPr>
        </p:nvSpPr>
        <p:spPr/>
        <p:txBody>
          <a:bodyPr/>
          <a:lstStyle/>
          <a:p>
            <a:fld id="{B6F15528-21DE-4FAA-801E-634DDDAF4B2B}" type="slidenum">
              <a:rPr lang="en-US" smtClean="0"/>
              <a:pPr/>
              <a:t>99</a:t>
            </a:fld>
            <a:endParaRPr lang="en-US"/>
          </a:p>
        </p:txBody>
      </p:sp>
      <p:graphicFrame>
        <p:nvGraphicFramePr>
          <p:cNvPr id="5497" name="Table 5496"/>
          <p:cNvGraphicFramePr>
            <a:graphicFrameLocks noGrp="1"/>
          </p:cNvGraphicFramePr>
          <p:nvPr/>
        </p:nvGraphicFramePr>
        <p:xfrm>
          <a:off x="2880360" y="2546604"/>
          <a:ext cx="12344400" cy="5230368"/>
        </p:xfrm>
        <a:graphic>
          <a:graphicData uri="http://schemas.openxmlformats.org/drawingml/2006/table">
            <a:tbl>
              <a:tblPr>
                <a:tableStyleId>{2D5ABB26-0587-4C30-8999-92F81FD0307C}</a:tableStyleId>
              </a:tblPr>
              <a:tblGrid>
                <a:gridCol w="245745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8286750">
                  <a:extLst>
                    <a:ext uri="{9D8B030D-6E8A-4147-A177-3AD203B41FA5}">
                      <a16:colId xmlns:a16="http://schemas.microsoft.com/office/drawing/2014/main" val="20002"/>
                    </a:ext>
                  </a:extLst>
                </a:gridCol>
              </a:tblGrid>
              <a:tr h="502920">
                <a:tc gridSpan="2">
                  <a:txBody>
                    <a:bodyPr/>
                    <a:lstStyle/>
                    <a:p>
                      <a:pPr algn="ctr"/>
                      <a:r>
                        <a:rPr sz="1450" b="1" dirty="0" err="1">
                          <a:solidFill>
                            <a:srgbClr val="2E3142"/>
                          </a:solidFill>
                          <a:latin typeface="210 OmniGothic 040"/>
                          <a:ea typeface="210 OmniGothic 040"/>
                          <a:cs typeface="210 OmniGothic 040"/>
                        </a:rPr>
                        <a:t>요구사항</a:t>
                      </a:r>
                      <a:r>
                        <a:rPr sz="1450" b="1" dirty="0">
                          <a:solidFill>
                            <a:srgbClr val="2E3142"/>
                          </a:solidFill>
                          <a:latin typeface="210 OmniGothic 040"/>
                          <a:ea typeface="210 OmniGothic 040"/>
                          <a:cs typeface="210 OmniGothic 040"/>
                        </a:rPr>
                        <a:t> </a:t>
                      </a:r>
                      <a:r>
                        <a:rPr sz="1450" b="1" dirty="0" err="1">
                          <a:solidFill>
                            <a:srgbClr val="2E3142"/>
                          </a:solidFill>
                          <a:latin typeface="210 OmniGothic 040"/>
                          <a:ea typeface="210 OmniGothic 040"/>
                          <a:cs typeface="210 OmniGothic 040"/>
                        </a:rPr>
                        <a:t>분류</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r>
                        <a:rPr sz="1450" b="0" dirty="0" err="1">
                          <a:solidFill>
                            <a:srgbClr val="2E3142"/>
                          </a:solidFill>
                          <a:latin typeface="210 OmniGothic 040"/>
                          <a:ea typeface="210 OmniGothic 040"/>
                          <a:cs typeface="210 OmniGothic 040"/>
                        </a:rPr>
                        <a:t>운영</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요구사항</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0"/>
                  </a:ext>
                </a:extLst>
              </a:tr>
              <a:tr h="502920">
                <a:tc gridSpan="2">
                  <a:txBody>
                    <a:bodyPr/>
                    <a:lstStyle/>
                    <a:p>
                      <a:pPr algn="ctr"/>
                      <a:r>
                        <a:rPr sz="1450" b="1" dirty="0" err="1">
                          <a:solidFill>
                            <a:srgbClr val="2E3142"/>
                          </a:solidFill>
                          <a:latin typeface="210 OmniGothic 040"/>
                          <a:ea typeface="210 OmniGothic 040"/>
                          <a:cs typeface="210 OmniGothic 040"/>
                        </a:rPr>
                        <a:t>요구사항</a:t>
                      </a:r>
                      <a:r>
                        <a:rPr sz="1450" b="1" dirty="0">
                          <a:solidFill>
                            <a:srgbClr val="2E3142"/>
                          </a:solidFill>
                          <a:latin typeface="210 OmniGothic 040"/>
                          <a:ea typeface="210 OmniGothic 040"/>
                          <a:cs typeface="210 OmniGothic 040"/>
                        </a:rPr>
                        <a:t> </a:t>
                      </a:r>
                      <a:r>
                        <a:rPr sz="1450" b="1" dirty="0" err="1">
                          <a:solidFill>
                            <a:srgbClr val="2E3142"/>
                          </a:solidFill>
                          <a:latin typeface="210 OmniGothic 040"/>
                          <a:ea typeface="210 OmniGothic 040"/>
                          <a:cs typeface="210 OmniGothic 040"/>
                        </a:rPr>
                        <a:t>고유번호</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r>
                        <a:rPr sz="1450" b="0" dirty="0">
                          <a:solidFill>
                            <a:srgbClr val="2E3142"/>
                          </a:solidFill>
                          <a:latin typeface="210 OmniGothic 040"/>
                          <a:ea typeface="210 OmniGothic 040"/>
                          <a:cs typeface="210 OmniGothic 040"/>
                        </a:rPr>
                        <a:t>ORP-002</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1"/>
                  </a:ext>
                </a:extLst>
              </a:tr>
              <a:tr h="502920">
                <a:tc gridSpan="2">
                  <a:txBody>
                    <a:bodyPr/>
                    <a:lstStyle/>
                    <a:p>
                      <a:pPr algn="ctr"/>
                      <a:r>
                        <a:rPr sz="1450" b="1" dirty="0" err="1">
                          <a:solidFill>
                            <a:srgbClr val="2E3142"/>
                          </a:solidFill>
                          <a:latin typeface="210 OmniGothic 040"/>
                          <a:ea typeface="210 OmniGothic 040"/>
                          <a:cs typeface="210 OmniGothic 040"/>
                        </a:rPr>
                        <a:t>요구사항</a:t>
                      </a:r>
                      <a:r>
                        <a:rPr sz="1450" b="1" dirty="0">
                          <a:solidFill>
                            <a:srgbClr val="2E3142"/>
                          </a:solidFill>
                          <a:latin typeface="210 OmniGothic 040"/>
                          <a:ea typeface="210 OmniGothic 040"/>
                          <a:cs typeface="210 OmniGothic 040"/>
                        </a:rPr>
                        <a:t> </a:t>
                      </a:r>
                      <a:r>
                        <a:rPr sz="1450" b="1" dirty="0" err="1">
                          <a:solidFill>
                            <a:srgbClr val="2E3142"/>
                          </a:solidFill>
                          <a:latin typeface="210 OmniGothic 040"/>
                          <a:ea typeface="210 OmniGothic 040"/>
                          <a:cs typeface="210 OmniGothic 040"/>
                        </a:rPr>
                        <a:t>명칭</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r>
                        <a:rPr sz="1450" b="0" dirty="0" err="1">
                          <a:solidFill>
                            <a:srgbClr val="2E3142"/>
                          </a:solidFill>
                          <a:latin typeface="210 OmniGothic 040"/>
                          <a:ea typeface="210 OmniGothic 040"/>
                          <a:cs typeface="210 OmniGothic 040"/>
                        </a:rPr>
                        <a:t>데이터</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적재·갱신</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2"/>
                  </a:ext>
                </a:extLst>
              </a:tr>
              <a:tr h="553212">
                <a:tc rowSpan="2">
                  <a:txBody>
                    <a:bodyPr/>
                    <a:lstStyle/>
                    <a:p>
                      <a:pPr algn="ctr"/>
                      <a:r>
                        <a:rPr sz="1450" b="1" dirty="0">
                          <a:solidFill>
                            <a:srgbClr val="2E3142"/>
                          </a:solidFill>
                          <a:latin typeface="210 OmniGothic 040"/>
                          <a:ea typeface="210 OmniGothic 040"/>
                          <a:cs typeface="210 OmniGothic 040"/>
                        </a:rPr>
                        <a:t>요구사항
</a:t>
                      </a:r>
                      <a:r>
                        <a:rPr sz="1450" b="1" dirty="0" err="1">
                          <a:solidFill>
                            <a:srgbClr val="2E3142"/>
                          </a:solidFill>
                          <a:latin typeface="210 OmniGothic 040"/>
                          <a:ea typeface="210 OmniGothic 040"/>
                          <a:cs typeface="210 OmniGothic 040"/>
                        </a:rPr>
                        <a:t>상세설명</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a:txBody>
                    <a:bodyPr/>
                    <a:lstStyle/>
                    <a:p>
                      <a:pPr algn="ctr"/>
                      <a:r>
                        <a:rPr sz="1450" b="1" dirty="0" err="1">
                          <a:solidFill>
                            <a:srgbClr val="2E3142"/>
                          </a:solidFill>
                          <a:latin typeface="210 OmniGothic 040"/>
                          <a:ea typeface="210 OmniGothic 040"/>
                          <a:cs typeface="210 OmniGothic 040"/>
                        </a:rPr>
                        <a:t>정의</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a:txBody>
                    <a:bodyPr/>
                    <a:lstStyle/>
                    <a:p>
                      <a:pPr algn="l"/>
                      <a:r>
                        <a:rPr sz="1450" b="0" dirty="0" err="1">
                          <a:solidFill>
                            <a:srgbClr val="2E3142"/>
                          </a:solidFill>
                          <a:latin typeface="210 OmniGothic 040"/>
                          <a:ea typeface="210 OmniGothic 040"/>
                          <a:cs typeface="210 OmniGothic 040"/>
                        </a:rPr>
                        <a:t>정적</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레이어와</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근거</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색인의</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적재·재구축</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체계</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3"/>
                  </a:ext>
                </a:extLst>
              </a:tr>
              <a:tr h="1659636">
                <a:tc vMerge="1">
                  <a:txBody>
                    <a:bodyPr/>
                    <a:lstStyle/>
                    <a:p>
                      <a:endParaRPr/>
                    </a:p>
                  </a:txBody>
                  <a:tcPr/>
                </a:tc>
                <a:tc>
                  <a:txBody>
                    <a:bodyPr/>
                    <a:lstStyle/>
                    <a:p>
                      <a:pPr algn="ctr"/>
                      <a:r>
                        <a:rPr sz="1450" b="1" dirty="0" err="1">
                          <a:solidFill>
                            <a:srgbClr val="2E3142"/>
                          </a:solidFill>
                          <a:latin typeface="210 OmniGothic 040"/>
                          <a:ea typeface="210 OmniGothic 040"/>
                          <a:cs typeface="210 OmniGothic 040"/>
                        </a:rPr>
                        <a:t>세부</a:t>
                      </a:r>
                      <a:r>
                        <a:rPr sz="1450" b="1" dirty="0">
                          <a:solidFill>
                            <a:srgbClr val="2E3142"/>
                          </a:solidFill>
                          <a:latin typeface="210 OmniGothic 040"/>
                          <a:ea typeface="210 OmniGothic 040"/>
                          <a:cs typeface="210 OmniGothic 040"/>
                        </a:rPr>
                        <a:t> </a:t>
                      </a:r>
                      <a:r>
                        <a:rPr sz="1450" b="1" dirty="0" err="1">
                          <a:solidFill>
                            <a:srgbClr val="2E3142"/>
                          </a:solidFill>
                          <a:latin typeface="210 OmniGothic 040"/>
                          <a:ea typeface="210 OmniGothic 040"/>
                          <a:cs typeface="210 OmniGothic 040"/>
                        </a:rPr>
                        <a:t>내용</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a:txBody>
                    <a:bodyPr/>
                    <a:lstStyle/>
                    <a:p>
                      <a:pPr lvl="0" algn="l">
                        <a:lnSpc>
                          <a:spcPct val="100000"/>
                        </a:lnSpc>
                        <a:spcBef>
                          <a:spcPts val="0"/>
                        </a:spcBef>
                        <a:spcAft>
                          <a:spcPts val="0"/>
                        </a:spcAft>
                        <a:buNone/>
                      </a:pPr>
                      <a:r>
                        <a:rPr lang="en-US" sz="1450" b="0" i="0" u="none" strike="noStrike" noProof="0" dirty="0">
                          <a:solidFill>
                            <a:srgbClr val="2E3142"/>
                          </a:solidFill>
                          <a:latin typeface="210 OmniGothic 040"/>
                          <a:ea typeface="210 OmniGothic 040"/>
                        </a:rPr>
                        <a:t>1. </a:t>
                      </a:r>
                      <a:r>
                        <a:rPr lang="en-US" sz="1450" b="0" i="0" u="none" strike="noStrike" noProof="0" dirty="0" err="1">
                          <a:solidFill>
                            <a:srgbClr val="2E3142"/>
                          </a:solidFill>
                          <a:latin typeface="210 OmniGothic 040"/>
                          <a:ea typeface="210 OmniGothic 040"/>
                        </a:rPr>
                        <a:t>행정경계·마을·시설·도로</a:t>
                      </a:r>
                      <a:r>
                        <a:rPr lang="en-US" sz="1450" b="0" i="0" u="none" strike="noStrike" noProof="0" dirty="0">
                          <a:solidFill>
                            <a:srgbClr val="2E3142"/>
                          </a:solidFill>
                          <a:latin typeface="210 OmniGothic 040"/>
                          <a:ea typeface="210 OmniGothic 040"/>
                        </a:rPr>
                        <a:t>·</a:t>
                      </a:r>
                      <a:r>
                        <a:rPr lang="ko-KR" altLang="en-US" sz="1450" b="0" i="0" u="none" strike="noStrike" noProof="0" dirty="0">
                          <a:solidFill>
                            <a:srgbClr val="2E3142"/>
                          </a:solidFill>
                          <a:latin typeface="210 OmniGothic 040"/>
                          <a:ea typeface="210 OmniGothic 040"/>
                        </a:rPr>
                        <a:t>기관</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데이터는</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사전</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또는</a:t>
                      </a:r>
                      <a:r>
                        <a:rPr lang="en-US" altLang="ko-KR" sz="1450" b="0" i="0" u="none" strike="noStrike" noProof="0" dirty="0">
                          <a:solidFill>
                            <a:srgbClr val="2E3142"/>
                          </a:solidFill>
                          <a:latin typeface="210 OmniGothic 040"/>
                          <a:ea typeface="210 OmniGothic 040"/>
                        </a:rPr>
                        <a:t> </a:t>
                      </a:r>
                      <a:r>
                        <a:rPr lang="en-US" sz="1450" b="0" i="0" u="none" strike="noStrike" noProof="0" dirty="0" err="1">
                          <a:solidFill>
                            <a:srgbClr val="2E3142"/>
                          </a:solidFill>
                          <a:latin typeface="210 OmniGothic 040"/>
                          <a:ea typeface="210 OmniGothic 040"/>
                        </a:rPr>
                        <a:t>배치</a:t>
                      </a:r>
                      <a:r>
                        <a:rPr lang="en-US" sz="1450" b="0" i="0" u="none" strike="noStrike" noProof="0" dirty="0">
                          <a:solidFill>
                            <a:srgbClr val="2E3142"/>
                          </a:solidFill>
                          <a:latin typeface="210 OmniGothic 040"/>
                          <a:ea typeface="210 OmniGothic 040"/>
                        </a:rPr>
                        <a:t> </a:t>
                      </a:r>
                      <a:r>
                        <a:rPr lang="en-US" sz="1450" b="0" i="0" u="none" strike="noStrike" noProof="0" dirty="0" err="1">
                          <a:solidFill>
                            <a:srgbClr val="2E3142"/>
                          </a:solidFill>
                          <a:latin typeface="210 OmniGothic 040"/>
                          <a:ea typeface="210 OmniGothic 040"/>
                        </a:rPr>
                        <a:t>적재</a:t>
                      </a:r>
                    </a:p>
                    <a:p>
                      <a:pPr lvl="0" algn="l">
                        <a:lnSpc>
                          <a:spcPct val="100000"/>
                        </a:lnSpc>
                        <a:spcBef>
                          <a:spcPts val="0"/>
                        </a:spcBef>
                        <a:spcAft>
                          <a:spcPts val="0"/>
                        </a:spcAft>
                        <a:buNone/>
                      </a:pPr>
                      <a:r>
                        <a:rPr lang="en-US" sz="1450" b="0" i="0" u="none" strike="noStrike" noProof="0" dirty="0">
                          <a:solidFill>
                            <a:srgbClr val="2E3142"/>
                          </a:solidFill>
                          <a:latin typeface="210 OmniGothic 040"/>
                          <a:ea typeface="210 OmniGothic 040"/>
                        </a:rPr>
                        <a:t>2. </a:t>
                      </a:r>
                      <a:r>
                        <a:rPr lang="ko-KR" altLang="en-US" sz="1450" b="0" i="0" u="none" strike="noStrike" noProof="0" dirty="0">
                          <a:solidFill>
                            <a:srgbClr val="2E3142"/>
                          </a:solidFill>
                          <a:latin typeface="210 OmniGothic 040"/>
                          <a:ea typeface="210 OmniGothic 040"/>
                        </a:rPr>
                        <a:t>진화자원은</a:t>
                      </a:r>
                      <a:r>
                        <a:rPr lang="en-US" altLang="ko-KR" sz="1450" b="0" i="0" u="none" strike="noStrike" noProof="0" dirty="0">
                          <a:solidFill>
                            <a:srgbClr val="2E3142"/>
                          </a:solidFill>
                          <a:latin typeface="210 OmniGothic 040"/>
                          <a:ea typeface="210 OmniGothic 040"/>
                        </a:rPr>
                        <a:t> </a:t>
                      </a:r>
                      <a:r>
                        <a:rPr lang="en-US" sz="1450" b="0" i="0" u="none" strike="noStrike" noProof="0" dirty="0" err="1">
                          <a:solidFill>
                            <a:srgbClr val="2E3142"/>
                          </a:solidFill>
                          <a:latin typeface="210 OmniGothic 040"/>
                          <a:ea typeface="210 OmniGothic 040"/>
                        </a:rPr>
                        <a:t>전산</a:t>
                      </a:r>
                      <a:r>
                        <a:rPr lang="en-US" sz="1450" b="0" i="0" u="none" strike="noStrike" noProof="0" dirty="0">
                          <a:solidFill>
                            <a:srgbClr val="2E3142"/>
                          </a:solidFill>
                          <a:latin typeface="210 OmniGothic 040"/>
                          <a:ea typeface="210 OmniGothic 040"/>
                        </a:rPr>
                        <a:t> </a:t>
                      </a:r>
                      <a:r>
                        <a:rPr lang="en-US" sz="1450" b="0" i="0" u="none" strike="noStrike" noProof="0" dirty="0" err="1">
                          <a:solidFill>
                            <a:srgbClr val="2E3142"/>
                          </a:solidFill>
                          <a:latin typeface="210 OmniGothic 040"/>
                          <a:ea typeface="210 OmniGothic 040"/>
                        </a:rPr>
                        <a:t>관리자가</a:t>
                      </a:r>
                      <a:r>
                        <a:rPr lang="en-US"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등록</a:t>
                      </a:r>
                      <a:r>
                        <a:rPr lang="en-US" sz="1450" b="0" i="0" u="none" strike="noStrike" noProof="0" dirty="0">
                          <a:solidFill>
                            <a:srgbClr val="2E3142"/>
                          </a:solidFill>
                          <a:latin typeface="210 OmniGothic 040"/>
                          <a:ea typeface="210 OmniGothic 040"/>
                        </a:rPr>
                        <a:t>·</a:t>
                      </a:r>
                      <a:r>
                        <a:rPr lang="ko-KR" altLang="en-US" sz="1450" b="0" i="0" u="none" strike="noStrike" noProof="0" dirty="0">
                          <a:solidFill>
                            <a:srgbClr val="2E3142"/>
                          </a:solidFill>
                          <a:latin typeface="210 OmniGothic 040"/>
                          <a:ea typeface="210 OmniGothic 040"/>
                        </a:rPr>
                        <a:t>수정</a:t>
                      </a:r>
                      <a:r>
                        <a:rPr lang="en-US" sz="1450" b="0" i="0" u="none" strike="noStrike" noProof="0" dirty="0">
                          <a:solidFill>
                            <a:srgbClr val="2E3142"/>
                          </a:solidFill>
                          <a:latin typeface="210 OmniGothic 040"/>
                          <a:ea typeface="210 OmniGothic 040"/>
                        </a:rPr>
                        <a:t>·</a:t>
                      </a:r>
                      <a:r>
                        <a:rPr lang="ko-KR" altLang="en-US" sz="1450" b="0" i="0" u="none" strike="noStrike" noProof="0" dirty="0">
                          <a:solidFill>
                            <a:srgbClr val="2E3142"/>
                          </a:solidFill>
                          <a:latin typeface="210 OmniGothic 040"/>
                          <a:ea typeface="210 OmniGothic 040"/>
                        </a:rPr>
                        <a:t>삭제</a:t>
                      </a:r>
                      <a:endParaRPr dirty="0">
                        <a:latin typeface="210 OmniGothic 040"/>
                        <a:ea typeface="210 OmniGothic 040"/>
                      </a:endParaRPr>
                    </a:p>
                    <a:p>
                      <a:pPr lvl="0" algn="l">
                        <a:lnSpc>
                          <a:spcPct val="100000"/>
                        </a:lnSpc>
                        <a:spcBef>
                          <a:spcPts val="0"/>
                        </a:spcBef>
                        <a:spcAft>
                          <a:spcPts val="0"/>
                        </a:spcAft>
                        <a:buNone/>
                      </a:pPr>
                      <a:r>
                        <a:rPr lang="en-US" sz="1450" b="0" i="0" u="none" strike="noStrike" noProof="0" dirty="0">
                          <a:solidFill>
                            <a:srgbClr val="2E3142"/>
                          </a:solidFill>
                          <a:latin typeface="210 OmniGothic 040"/>
                          <a:ea typeface="210 OmniGothic 040"/>
                        </a:rPr>
                        <a:t>3. </a:t>
                      </a:r>
                      <a:r>
                        <a:rPr lang="ko-KR" altLang="en-US" sz="1450" b="0" i="0" u="none" strike="noStrike" noProof="0" dirty="0">
                          <a:solidFill>
                            <a:srgbClr val="2E3142"/>
                          </a:solidFill>
                          <a:latin typeface="210 OmniGothic 040"/>
                          <a:ea typeface="210 OmniGothic 040"/>
                        </a:rPr>
                        <a:t>기상</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정보는</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외부</a:t>
                      </a:r>
                      <a:r>
                        <a:rPr lang="en-US" altLang="ko-KR" sz="1450" b="0" i="0" u="none" strike="noStrike" noProof="0" dirty="0">
                          <a:solidFill>
                            <a:srgbClr val="2E3142"/>
                          </a:solidFill>
                          <a:latin typeface="210 OmniGothic 040"/>
                          <a:ea typeface="210 OmniGothic 040"/>
                        </a:rPr>
                        <a:t> </a:t>
                      </a:r>
                      <a:r>
                        <a:rPr lang="en-US" sz="1450" b="0" i="0" u="none" strike="noStrike" noProof="0" dirty="0">
                          <a:solidFill>
                            <a:srgbClr val="2E3142"/>
                          </a:solidFill>
                          <a:latin typeface="210 OmniGothic 040"/>
                          <a:ea typeface="210 OmniGothic 040"/>
                        </a:rPr>
                        <a:t>API</a:t>
                      </a:r>
                      <a:r>
                        <a:rPr lang="ko-KR" altLang="en-US" sz="1450" b="0" i="0" u="none" strike="noStrike" noProof="0" dirty="0" err="1">
                          <a:solidFill>
                            <a:srgbClr val="2E3142"/>
                          </a:solidFill>
                          <a:latin typeface="210 OmniGothic 040"/>
                          <a:ea typeface="210 OmniGothic 040"/>
                        </a:rPr>
                        <a:t>를</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통해</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갱신</a:t>
                      </a:r>
                      <a:endParaRPr dirty="0">
                        <a:latin typeface="210 OmniGothic 040"/>
                        <a:ea typeface="210 OmniGothic 040"/>
                      </a:endParaRPr>
                    </a:p>
                    <a:p>
                      <a:pPr lvl="0" algn="l">
                        <a:lnSpc>
                          <a:spcPct val="100000"/>
                        </a:lnSpc>
                        <a:spcBef>
                          <a:spcPts val="0"/>
                        </a:spcBef>
                        <a:spcAft>
                          <a:spcPts val="0"/>
                        </a:spcAft>
                        <a:buNone/>
                      </a:pPr>
                      <a:r>
                        <a:rPr lang="en-US" sz="1450" b="0" i="0" u="none" strike="noStrike" noProof="0" dirty="0">
                          <a:solidFill>
                            <a:srgbClr val="2E3142"/>
                          </a:solidFill>
                          <a:latin typeface="210 OmniGothic 040"/>
                          <a:ea typeface="210 OmniGothic 040"/>
                        </a:rPr>
                        <a:t>4. </a:t>
                      </a:r>
                      <a:r>
                        <a:rPr lang="en-US" sz="1450" b="0" i="0" u="none" strike="noStrike" noProof="0" dirty="0" err="1">
                          <a:solidFill>
                            <a:srgbClr val="2E3142"/>
                          </a:solidFill>
                          <a:latin typeface="210 OmniGothic 040"/>
                          <a:ea typeface="210 OmniGothic 040"/>
                        </a:rPr>
                        <a:t>실제</a:t>
                      </a:r>
                      <a:r>
                        <a:rPr lang="en-US"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산불</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정보</a:t>
                      </a:r>
                      <a:r>
                        <a:rPr lang="en-US" sz="1450" b="0" i="0" u="none" strike="noStrike" noProof="0" dirty="0">
                          <a:solidFill>
                            <a:srgbClr val="2E3142"/>
                          </a:solidFill>
                          <a:latin typeface="210 OmniGothic 040"/>
                          <a:ea typeface="210 OmniGothic 040"/>
                        </a:rPr>
                        <a:t>·</a:t>
                      </a:r>
                      <a:r>
                        <a:rPr lang="en-US" sz="1450" b="0" i="0" u="none" strike="noStrike" noProof="0" dirty="0" err="1">
                          <a:solidFill>
                            <a:srgbClr val="2E3142"/>
                          </a:solidFill>
                          <a:latin typeface="210 OmniGothic 040"/>
                          <a:ea typeface="210 OmniGothic 040"/>
                        </a:rPr>
                        <a:t>예측</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결과</a:t>
                      </a:r>
                      <a:r>
                        <a:rPr lang="en-US" sz="1450" b="0" i="0" u="none" strike="noStrike" noProof="0" dirty="0">
                          <a:solidFill>
                            <a:srgbClr val="2E3142"/>
                          </a:solidFill>
                          <a:latin typeface="210 OmniGothic 040"/>
                          <a:ea typeface="210 OmniGothic 040"/>
                        </a:rPr>
                        <a:t>·</a:t>
                      </a:r>
                      <a:r>
                        <a:rPr lang="en-US" sz="1450" b="0" i="0" u="none" strike="noStrike" noProof="0" dirty="0" err="1">
                          <a:solidFill>
                            <a:srgbClr val="2E3142"/>
                          </a:solidFill>
                          <a:latin typeface="210 OmniGothic 040"/>
                          <a:ea typeface="210 OmniGothic 040"/>
                        </a:rPr>
                        <a:t>제안·정정</a:t>
                      </a:r>
                      <a:r>
                        <a:rPr lang="en-US" sz="1450" b="0" i="0" u="none" strike="noStrike" noProof="0" dirty="0">
                          <a:solidFill>
                            <a:srgbClr val="2E3142"/>
                          </a:solidFill>
                          <a:latin typeface="210 OmniGothic 040"/>
                          <a:ea typeface="210 OmniGothic 040"/>
                        </a:rPr>
                        <a:t> </a:t>
                      </a:r>
                      <a:r>
                        <a:rPr lang="en-US" sz="1450" b="0" i="0" u="none" strike="noStrike" noProof="0" dirty="0" err="1">
                          <a:solidFill>
                            <a:srgbClr val="2E3142"/>
                          </a:solidFill>
                          <a:latin typeface="210 OmniGothic 040"/>
                          <a:ea typeface="210 OmniGothic 040"/>
                        </a:rPr>
                        <a:t>기록은</a:t>
                      </a:r>
                      <a:r>
                        <a:rPr lang="en-US"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이력으로</a:t>
                      </a:r>
                      <a:r>
                        <a:rPr lang="en-US" altLang="ko-KR" sz="1450" b="0" i="0" u="none" strike="noStrike" noProof="0" dirty="0">
                          <a:solidFill>
                            <a:srgbClr val="2E3142"/>
                          </a:solidFill>
                          <a:latin typeface="210 OmniGothic 040"/>
                          <a:ea typeface="210 OmniGothic 040"/>
                        </a:rPr>
                        <a:t> </a:t>
                      </a:r>
                      <a:r>
                        <a:rPr lang="en-US" sz="1450" b="0" i="0" u="none" strike="noStrike" noProof="0" dirty="0" err="1">
                          <a:solidFill>
                            <a:srgbClr val="2E3142"/>
                          </a:solidFill>
                          <a:latin typeface="210 OmniGothic 040"/>
                          <a:ea typeface="210 OmniGothic 040"/>
                        </a:rPr>
                        <a:t>보존</a:t>
                      </a:r>
                      <a:endParaRPr lang="en-US" altLang="ko-KR" i="0" u="none" strike="noStrike" noProof="0" dirty="0" err="1">
                        <a:latin typeface="210 OmniGothic 040"/>
                        <a:ea typeface="210 OmniGothic 040"/>
                      </a:endParaRPr>
                    </a:p>
                    <a:p>
                      <a:pPr lvl="0" algn="l">
                        <a:lnSpc>
                          <a:spcPct val="110000"/>
                        </a:lnSpc>
                        <a:buNone/>
                      </a:pPr>
                      <a:r>
                        <a:rPr lang="en-US" sz="1450" b="0" i="0" u="none" strike="noStrike" noProof="0" dirty="0">
                          <a:solidFill>
                            <a:srgbClr val="2E3142"/>
                          </a:solidFill>
                          <a:latin typeface="210 OmniGothic 040"/>
                          <a:ea typeface="210 OmniGothic 040"/>
                        </a:rPr>
                        <a:t>5.</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근거</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err="1">
                          <a:solidFill>
                            <a:srgbClr val="2E3142"/>
                          </a:solidFill>
                          <a:latin typeface="210 OmniGothic 040"/>
                          <a:ea typeface="210 OmniGothic 040"/>
                        </a:rPr>
                        <a:t>청크와</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검색</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인덱스는</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재구축</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가능</a:t>
                      </a:r>
                      <a:endParaRPr dirty="0">
                        <a:latin typeface="210 OmniGothic 040"/>
                        <a:ea typeface="210 OmniGothic 040"/>
                      </a:endParaRP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4"/>
                  </a:ext>
                </a:extLst>
              </a:tr>
              <a:tr h="502920">
                <a:tc gridSpan="2">
                  <a:txBody>
                    <a:bodyPr/>
                    <a:lstStyle/>
                    <a:p>
                      <a:pPr algn="ctr"/>
                      <a:r>
                        <a:rPr sz="1450" b="1" dirty="0" err="1">
                          <a:solidFill>
                            <a:srgbClr val="2E3142"/>
                          </a:solidFill>
                          <a:latin typeface="210 OmniGothic 040"/>
                          <a:ea typeface="210 OmniGothic 040"/>
                          <a:cs typeface="210 OmniGothic 040"/>
                        </a:rPr>
                        <a:t>산출정보</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endParaRP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5"/>
                  </a:ext>
                </a:extLst>
              </a:tr>
              <a:tr h="502920">
                <a:tc gridSpan="2">
                  <a:txBody>
                    <a:bodyPr/>
                    <a:lstStyle/>
                    <a:p>
                      <a:pPr algn="ctr"/>
                      <a:r>
                        <a:rPr sz="1450" b="1" dirty="0" err="1">
                          <a:solidFill>
                            <a:srgbClr val="2E3142"/>
                          </a:solidFill>
                          <a:latin typeface="210 OmniGothic 040"/>
                          <a:ea typeface="210 OmniGothic 040"/>
                          <a:cs typeface="210 OmniGothic 040"/>
                        </a:rPr>
                        <a:t>관련</a:t>
                      </a:r>
                      <a:r>
                        <a:rPr sz="1450" b="1" dirty="0">
                          <a:solidFill>
                            <a:srgbClr val="2E3142"/>
                          </a:solidFill>
                          <a:latin typeface="210 OmniGothic 040"/>
                          <a:ea typeface="210 OmniGothic 040"/>
                          <a:cs typeface="210 OmniGothic 040"/>
                        </a:rPr>
                        <a:t> </a:t>
                      </a:r>
                      <a:r>
                        <a:rPr sz="1450" b="1" dirty="0" err="1">
                          <a:solidFill>
                            <a:srgbClr val="2E3142"/>
                          </a:solidFill>
                          <a:latin typeface="210 OmniGothic 040"/>
                          <a:ea typeface="210 OmniGothic 040"/>
                          <a:cs typeface="210 OmniGothic 040"/>
                        </a:rPr>
                        <a:t>요구사항</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r>
                        <a:rPr sz="1450" b="0" dirty="0">
                          <a:solidFill>
                            <a:srgbClr val="2E3142"/>
                          </a:solidFill>
                          <a:latin typeface="210 OmniGothic 040"/>
                          <a:ea typeface="210 OmniGothic 040"/>
                          <a:cs typeface="210 OmniGothic 040"/>
                        </a:rPr>
                        <a:t>ECR-003</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6"/>
                  </a:ext>
                </a:extLst>
              </a:tr>
              <a:tr h="502920">
                <a:tc gridSpan="2">
                  <a:txBody>
                    <a:bodyPr/>
                    <a:lstStyle/>
                    <a:p>
                      <a:pPr algn="ctr"/>
                      <a:r>
                        <a:rPr sz="1450" b="1" dirty="0" err="1">
                          <a:solidFill>
                            <a:srgbClr val="2E3142"/>
                          </a:solidFill>
                          <a:latin typeface="210 OmniGothic 040"/>
                          <a:ea typeface="210 OmniGothic 040"/>
                          <a:cs typeface="210 OmniGothic 040"/>
                        </a:rPr>
                        <a:t>요구사항</a:t>
                      </a:r>
                      <a:r>
                        <a:rPr sz="1450" b="1" dirty="0">
                          <a:solidFill>
                            <a:srgbClr val="2E3142"/>
                          </a:solidFill>
                          <a:latin typeface="210 OmniGothic 040"/>
                          <a:ea typeface="210 OmniGothic 040"/>
                          <a:cs typeface="210 OmniGothic 040"/>
                        </a:rPr>
                        <a:t> </a:t>
                      </a:r>
                      <a:r>
                        <a:rPr sz="1450" b="1" dirty="0" err="1">
                          <a:solidFill>
                            <a:srgbClr val="2E3142"/>
                          </a:solidFill>
                          <a:latin typeface="210 OmniGothic 040"/>
                          <a:ea typeface="210 OmniGothic 040"/>
                          <a:cs typeface="210 OmniGothic 040"/>
                        </a:rPr>
                        <a:t>출처</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r>
                        <a:rPr sz="1450" b="0" dirty="0" err="1">
                          <a:solidFill>
                            <a:srgbClr val="2E3142"/>
                          </a:solidFill>
                          <a:latin typeface="210 OmniGothic 040"/>
                          <a:ea typeface="210 OmniGothic 040"/>
                          <a:cs typeface="210 OmniGothic 040"/>
                        </a:rPr>
                        <a:t>운영</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요구사항</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96"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700" y="-12700"/>
            <a:ext cx="18313400" cy="1638300"/>
          </a:xfrm>
          <a:prstGeom prst="rect">
            <a:avLst/>
          </a:prstGeom>
        </p:spPr>
      </p:pic>
      <p:pic>
        <p:nvPicPr>
          <p:cNvPr id="5497"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28" y="1618343"/>
            <a:ext cx="18313400" cy="8699500"/>
          </a:xfrm>
          <a:prstGeom prst="rect">
            <a:avLst/>
          </a:prstGeom>
        </p:spPr>
      </p:pic>
      <p:pic>
        <p:nvPicPr>
          <p:cNvPr id="5498"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58800" y="9271000"/>
            <a:ext cx="17170400" cy="50800"/>
          </a:xfrm>
          <a:prstGeom prst="rect">
            <a:avLst/>
          </a:prstGeom>
        </p:spPr>
      </p:pic>
      <p:pic>
        <p:nvPicPr>
          <p:cNvPr id="5499" name="Picture 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278100" y="203200"/>
            <a:ext cx="1676400" cy="1409700"/>
          </a:xfrm>
          <a:prstGeom prst="rect">
            <a:avLst/>
          </a:prstGeom>
        </p:spPr>
      </p:pic>
      <p:sp>
        <p:nvSpPr>
          <p:cNvPr id="5500" name="Title"/>
          <p:cNvSpPr txBox="1"/>
          <p:nvPr/>
        </p:nvSpPr>
        <p:spPr>
          <a:xfrm>
            <a:off x="822960" y="384048"/>
            <a:ext cx="13258800" cy="877824"/>
          </a:xfrm>
          <a:prstGeom prst="rect">
            <a:avLst/>
          </a:prstGeom>
          <a:noFill/>
        </p:spPr>
        <p:txBody>
          <a:bodyPr wrap="square" lIns="0" tIns="0" rIns="0" bIns="0" anchor="ctr">
            <a:spAutoFit/>
          </a:bodyPr>
          <a:lstStyle/>
          <a:p>
            <a:pPr algn="l"/>
            <a:r>
              <a:rPr sz="4400" b="0">
                <a:solidFill>
                  <a:srgbClr val="FAA95A"/>
                </a:solidFill>
                <a:latin typeface="210 OmniGothic 050"/>
                <a:ea typeface="210 OmniGothic 050"/>
                <a:cs typeface="210 OmniGothic 050"/>
              </a:rPr>
              <a:t>07. 비기능 요구사항</a:t>
            </a:r>
          </a:p>
        </p:txBody>
      </p:sp>
      <p:sp>
        <p:nvSpPr>
          <p:cNvPr id="5501" name="Subtitle"/>
          <p:cNvSpPr txBox="1"/>
          <p:nvPr/>
        </p:nvSpPr>
        <p:spPr>
          <a:xfrm>
            <a:off x="822960" y="1764792"/>
            <a:ext cx="16642080" cy="502920"/>
          </a:xfrm>
          <a:prstGeom prst="rect">
            <a:avLst/>
          </a:prstGeom>
          <a:noFill/>
        </p:spPr>
        <p:txBody>
          <a:bodyPr wrap="square" lIns="0" tIns="0" rIns="0" bIns="0" anchor="ctr">
            <a:spAutoFit/>
          </a:bodyPr>
          <a:lstStyle/>
          <a:p>
            <a:pPr algn="ctr"/>
            <a:r>
              <a:rPr sz="2600" b="1">
                <a:solidFill>
                  <a:srgbClr val="363A52"/>
                </a:solidFill>
                <a:latin typeface="210 OmniGothic 040"/>
                <a:ea typeface="210 OmniGothic 040"/>
                <a:cs typeface="210 OmniGothic 040"/>
              </a:rPr>
              <a:t>배포 요구사항</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sz="quarter" idx="12"/>
          </p:nvPr>
        </p:nvSpPr>
        <p:spPr/>
        <p:txBody>
          <a:bodyPr/>
          <a:lstStyle/>
          <a:p>
            <a:fld id="{B6F15528-21DE-4FAA-801E-634DDDAF4B2B}" type="slidenum">
              <a:rPr lang="en-US" smtClean="0"/>
              <a:pPr/>
              <a:t>100</a:t>
            </a:fld>
            <a:endParaRPr lang="en-US"/>
          </a:p>
        </p:txBody>
      </p:sp>
      <p:graphicFrame>
        <p:nvGraphicFramePr>
          <p:cNvPr id="5502" name="Table 5501"/>
          <p:cNvGraphicFramePr>
            <a:graphicFrameLocks noGrp="1"/>
          </p:cNvGraphicFramePr>
          <p:nvPr/>
        </p:nvGraphicFramePr>
        <p:xfrm>
          <a:off x="2880360" y="2546604"/>
          <a:ext cx="12344400" cy="5180076"/>
        </p:xfrm>
        <a:graphic>
          <a:graphicData uri="http://schemas.openxmlformats.org/drawingml/2006/table">
            <a:tbl>
              <a:tblPr>
                <a:tableStyleId>{2D5ABB26-0587-4C30-8999-92F81FD0307C}</a:tableStyleId>
              </a:tblPr>
              <a:tblGrid>
                <a:gridCol w="245745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8286750">
                  <a:extLst>
                    <a:ext uri="{9D8B030D-6E8A-4147-A177-3AD203B41FA5}">
                      <a16:colId xmlns:a16="http://schemas.microsoft.com/office/drawing/2014/main" val="20002"/>
                    </a:ext>
                  </a:extLst>
                </a:gridCol>
              </a:tblGrid>
              <a:tr h="502920">
                <a:tc gridSpan="2">
                  <a:txBody>
                    <a:bodyPr/>
                    <a:lstStyle/>
                    <a:p>
                      <a:pPr algn="ctr"/>
                      <a:r>
                        <a:rPr sz="1450" b="1" dirty="0" err="1">
                          <a:solidFill>
                            <a:srgbClr val="2E3142"/>
                          </a:solidFill>
                          <a:latin typeface="210 OmniGothic 040"/>
                          <a:ea typeface="210 OmniGothic 040"/>
                          <a:cs typeface="210 OmniGothic 040"/>
                        </a:rPr>
                        <a:t>요구사항</a:t>
                      </a:r>
                      <a:r>
                        <a:rPr sz="1450" b="1" dirty="0">
                          <a:solidFill>
                            <a:srgbClr val="2E3142"/>
                          </a:solidFill>
                          <a:latin typeface="210 OmniGothic 040"/>
                          <a:ea typeface="210 OmniGothic 040"/>
                          <a:cs typeface="210 OmniGothic 040"/>
                        </a:rPr>
                        <a:t> </a:t>
                      </a:r>
                      <a:r>
                        <a:rPr sz="1450" b="1" dirty="0" err="1">
                          <a:solidFill>
                            <a:srgbClr val="2E3142"/>
                          </a:solidFill>
                          <a:latin typeface="210 OmniGothic 040"/>
                          <a:ea typeface="210 OmniGothic 040"/>
                          <a:cs typeface="210 OmniGothic 040"/>
                        </a:rPr>
                        <a:t>분류</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r>
                        <a:rPr sz="1450" b="0" dirty="0" err="1">
                          <a:solidFill>
                            <a:srgbClr val="2E3142"/>
                          </a:solidFill>
                          <a:latin typeface="210 OmniGothic 040"/>
                          <a:ea typeface="210 OmniGothic 040"/>
                          <a:cs typeface="210 OmniGothic 040"/>
                        </a:rPr>
                        <a:t>배포</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요구사항</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0"/>
                  </a:ext>
                </a:extLst>
              </a:tr>
              <a:tr h="502920">
                <a:tc gridSpan="2">
                  <a:txBody>
                    <a:bodyPr/>
                    <a:lstStyle/>
                    <a:p>
                      <a:pPr algn="ctr"/>
                      <a:r>
                        <a:rPr sz="1450" b="1" dirty="0" err="1">
                          <a:solidFill>
                            <a:srgbClr val="2E3142"/>
                          </a:solidFill>
                          <a:latin typeface="210 OmniGothic 040"/>
                          <a:ea typeface="210 OmniGothic 040"/>
                          <a:cs typeface="210 OmniGothic 040"/>
                        </a:rPr>
                        <a:t>요구사항</a:t>
                      </a:r>
                      <a:r>
                        <a:rPr sz="1450" b="1" dirty="0">
                          <a:solidFill>
                            <a:srgbClr val="2E3142"/>
                          </a:solidFill>
                          <a:latin typeface="210 OmniGothic 040"/>
                          <a:ea typeface="210 OmniGothic 040"/>
                          <a:cs typeface="210 OmniGothic 040"/>
                        </a:rPr>
                        <a:t> </a:t>
                      </a:r>
                      <a:r>
                        <a:rPr sz="1450" b="1" dirty="0" err="1">
                          <a:solidFill>
                            <a:srgbClr val="2E3142"/>
                          </a:solidFill>
                          <a:latin typeface="210 OmniGothic 040"/>
                          <a:ea typeface="210 OmniGothic 040"/>
                          <a:cs typeface="210 OmniGothic 040"/>
                        </a:rPr>
                        <a:t>고유번호</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r>
                        <a:rPr sz="1450" b="0" dirty="0">
                          <a:solidFill>
                            <a:srgbClr val="2E3142"/>
                          </a:solidFill>
                          <a:latin typeface="210 OmniGothic 040"/>
                          <a:ea typeface="210 OmniGothic 040"/>
                          <a:cs typeface="210 OmniGothic 040"/>
                        </a:rPr>
                        <a:t>DPR-001</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1"/>
                  </a:ext>
                </a:extLst>
              </a:tr>
              <a:tr h="502920">
                <a:tc gridSpan="2">
                  <a:txBody>
                    <a:bodyPr/>
                    <a:lstStyle/>
                    <a:p>
                      <a:pPr algn="ctr"/>
                      <a:r>
                        <a:rPr sz="1450" b="1" dirty="0" err="1">
                          <a:solidFill>
                            <a:srgbClr val="2E3142"/>
                          </a:solidFill>
                          <a:latin typeface="210 OmniGothic 040"/>
                          <a:ea typeface="210 OmniGothic 040"/>
                          <a:cs typeface="210 OmniGothic 040"/>
                        </a:rPr>
                        <a:t>요구사항</a:t>
                      </a:r>
                      <a:r>
                        <a:rPr sz="1450" b="1" dirty="0">
                          <a:solidFill>
                            <a:srgbClr val="2E3142"/>
                          </a:solidFill>
                          <a:latin typeface="210 OmniGothic 040"/>
                          <a:ea typeface="210 OmniGothic 040"/>
                          <a:cs typeface="210 OmniGothic 040"/>
                        </a:rPr>
                        <a:t> </a:t>
                      </a:r>
                      <a:r>
                        <a:rPr sz="1450" b="1" dirty="0" err="1">
                          <a:solidFill>
                            <a:srgbClr val="2E3142"/>
                          </a:solidFill>
                          <a:latin typeface="210 OmniGothic 040"/>
                          <a:ea typeface="210 OmniGothic 040"/>
                          <a:cs typeface="210 OmniGothic 040"/>
                        </a:rPr>
                        <a:t>명칭</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r>
                        <a:rPr sz="1450" b="0" dirty="0" err="1">
                          <a:solidFill>
                            <a:srgbClr val="2E3142"/>
                          </a:solidFill>
                          <a:latin typeface="210 OmniGothic 040"/>
                          <a:ea typeface="210 OmniGothic 040"/>
                          <a:cs typeface="210 OmniGothic 040"/>
                        </a:rPr>
                        <a:t>컨테이너</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기반</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배포</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2"/>
                  </a:ext>
                </a:extLst>
              </a:tr>
              <a:tr h="553212">
                <a:tc rowSpan="2">
                  <a:txBody>
                    <a:bodyPr/>
                    <a:lstStyle/>
                    <a:p>
                      <a:pPr algn="ctr"/>
                      <a:r>
                        <a:rPr sz="1450" b="1" dirty="0">
                          <a:solidFill>
                            <a:srgbClr val="2E3142"/>
                          </a:solidFill>
                          <a:latin typeface="210 OmniGothic 040"/>
                          <a:ea typeface="210 OmniGothic 040"/>
                          <a:cs typeface="210 OmniGothic 040"/>
                        </a:rPr>
                        <a:t>요구사항
</a:t>
                      </a:r>
                      <a:r>
                        <a:rPr sz="1450" b="1" dirty="0" err="1">
                          <a:solidFill>
                            <a:srgbClr val="2E3142"/>
                          </a:solidFill>
                          <a:latin typeface="210 OmniGothic 040"/>
                          <a:ea typeface="210 OmniGothic 040"/>
                          <a:cs typeface="210 OmniGothic 040"/>
                        </a:rPr>
                        <a:t>상세설명</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a:txBody>
                    <a:bodyPr/>
                    <a:lstStyle/>
                    <a:p>
                      <a:pPr algn="ctr"/>
                      <a:r>
                        <a:rPr sz="1450" b="1" dirty="0" err="1">
                          <a:solidFill>
                            <a:srgbClr val="2E3142"/>
                          </a:solidFill>
                          <a:latin typeface="210 OmniGothic 040"/>
                          <a:ea typeface="210 OmniGothic 040"/>
                          <a:cs typeface="210 OmniGothic 040"/>
                        </a:rPr>
                        <a:t>정의</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a:txBody>
                    <a:bodyPr/>
                    <a:lstStyle/>
                    <a:p>
                      <a:pPr algn="l"/>
                      <a:r>
                        <a:rPr sz="1450" b="0" dirty="0" err="1">
                          <a:solidFill>
                            <a:srgbClr val="2E3142"/>
                          </a:solidFill>
                          <a:latin typeface="210 OmniGothic 040"/>
                          <a:ea typeface="210 OmniGothic 040"/>
                          <a:cs typeface="210 OmniGothic 040"/>
                        </a:rPr>
                        <a:t>구성</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요소를</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컨테이너로</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분리해</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재현</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가능하게</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배포</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3"/>
                  </a:ext>
                </a:extLst>
              </a:tr>
              <a:tr h="1609344">
                <a:tc vMerge="1">
                  <a:txBody>
                    <a:bodyPr/>
                    <a:lstStyle/>
                    <a:p>
                      <a:endParaRPr/>
                    </a:p>
                  </a:txBody>
                  <a:tcPr/>
                </a:tc>
                <a:tc>
                  <a:txBody>
                    <a:bodyPr/>
                    <a:lstStyle/>
                    <a:p>
                      <a:pPr algn="ctr"/>
                      <a:r>
                        <a:rPr sz="1450" b="1" dirty="0" err="1">
                          <a:solidFill>
                            <a:srgbClr val="2E3142"/>
                          </a:solidFill>
                          <a:latin typeface="210 OmniGothic 040"/>
                          <a:ea typeface="210 OmniGothic 040"/>
                          <a:cs typeface="210 OmniGothic 040"/>
                        </a:rPr>
                        <a:t>세부</a:t>
                      </a:r>
                      <a:r>
                        <a:rPr sz="1450" b="1" dirty="0">
                          <a:solidFill>
                            <a:srgbClr val="2E3142"/>
                          </a:solidFill>
                          <a:latin typeface="210 OmniGothic 040"/>
                          <a:ea typeface="210 OmniGothic 040"/>
                          <a:cs typeface="210 OmniGothic 040"/>
                        </a:rPr>
                        <a:t> </a:t>
                      </a:r>
                      <a:r>
                        <a:rPr sz="1450" b="1" dirty="0" err="1">
                          <a:solidFill>
                            <a:srgbClr val="2E3142"/>
                          </a:solidFill>
                          <a:latin typeface="210 OmniGothic 040"/>
                          <a:ea typeface="210 OmniGothic 040"/>
                          <a:cs typeface="210 OmniGothic 040"/>
                        </a:rPr>
                        <a:t>내용</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a:txBody>
                    <a:bodyPr/>
                    <a:lstStyle/>
                    <a:p>
                      <a:pPr lvl="0" algn="l">
                        <a:lnSpc>
                          <a:spcPct val="100000"/>
                        </a:lnSpc>
                        <a:spcBef>
                          <a:spcPts val="0"/>
                        </a:spcBef>
                        <a:spcAft>
                          <a:spcPts val="0"/>
                        </a:spcAft>
                        <a:buNone/>
                      </a:pPr>
                      <a:r>
                        <a:rPr lang="en-US" sz="1450" b="0" i="0" u="none" strike="noStrike" noProof="0" dirty="0">
                          <a:solidFill>
                            <a:srgbClr val="2E3142"/>
                          </a:solidFill>
                          <a:latin typeface="210 OmniGothic 040"/>
                          <a:ea typeface="210 OmniGothic 040"/>
                        </a:rPr>
                        <a:t>1. ELMFIRE·API </a:t>
                      </a:r>
                      <a:r>
                        <a:rPr lang="en-US" sz="1450" b="0" i="0" u="none" strike="noStrike" noProof="0" dirty="0" err="1">
                          <a:solidFill>
                            <a:srgbClr val="2E3142"/>
                          </a:solidFill>
                          <a:latin typeface="210 OmniGothic 040"/>
                          <a:ea typeface="210 OmniGothic 040"/>
                        </a:rPr>
                        <a:t>서버·LLM</a:t>
                      </a:r>
                      <a:r>
                        <a:rPr lang="en-US"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서버를</a:t>
                      </a:r>
                      <a:r>
                        <a:rPr lang="en-US"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컨테이너</a:t>
                      </a:r>
                      <a:r>
                        <a:rPr lang="en-US"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단위로</a:t>
                      </a:r>
                      <a:r>
                        <a:rPr lang="en-US" sz="1450" b="0" i="0" u="none" strike="noStrike" noProof="0" dirty="0">
                          <a:solidFill>
                            <a:srgbClr val="2E3142"/>
                          </a:solidFill>
                          <a:latin typeface="210 OmniGothic 040"/>
                          <a:ea typeface="210 OmniGothic 040"/>
                        </a:rPr>
                        <a:t> </a:t>
                      </a:r>
                      <a:r>
                        <a:rPr lang="en-US" sz="1450" b="0" i="0" u="none" strike="noStrike" noProof="0" dirty="0" err="1">
                          <a:solidFill>
                            <a:srgbClr val="2E3142"/>
                          </a:solidFill>
                          <a:latin typeface="210 OmniGothic 040"/>
                          <a:ea typeface="210 OmniGothic 040"/>
                        </a:rPr>
                        <a:t>관리</a:t>
                      </a:r>
                    </a:p>
                    <a:p>
                      <a:pPr lvl="0" algn="l">
                        <a:lnSpc>
                          <a:spcPct val="100000"/>
                        </a:lnSpc>
                        <a:spcBef>
                          <a:spcPts val="0"/>
                        </a:spcBef>
                        <a:spcAft>
                          <a:spcPts val="0"/>
                        </a:spcAft>
                        <a:buNone/>
                      </a:pPr>
                      <a:r>
                        <a:rPr lang="en-US" sz="1450" b="0" i="0" u="none" strike="noStrike" noProof="0" dirty="0">
                          <a:solidFill>
                            <a:srgbClr val="2E3142"/>
                          </a:solidFill>
                          <a:latin typeface="210 OmniGothic 040"/>
                          <a:ea typeface="210 OmniGothic 040"/>
                        </a:rPr>
                        <a:t>2. Git </a:t>
                      </a:r>
                      <a:r>
                        <a:rPr lang="ko-KR" altLang="en-US" sz="1450" b="0" i="0" u="none" strike="noStrike" noProof="0" dirty="0">
                          <a:solidFill>
                            <a:srgbClr val="2E3142"/>
                          </a:solidFill>
                          <a:latin typeface="210 OmniGothic 040"/>
                          <a:ea typeface="210 OmniGothic 040"/>
                        </a:rPr>
                        <a:t>기반</a:t>
                      </a:r>
                      <a:r>
                        <a:rPr lang="en-US"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소스</a:t>
                      </a:r>
                      <a:r>
                        <a:rPr lang="en-US"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버전</a:t>
                      </a:r>
                      <a:r>
                        <a:rPr lang="en-US"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관리</a:t>
                      </a:r>
                      <a:endParaRPr>
                        <a:latin typeface="210 OmniGothic 040"/>
                        <a:ea typeface="210 OmniGothic 040"/>
                      </a:endParaRPr>
                    </a:p>
                    <a:p>
                      <a:pPr lvl="0" algn="l">
                        <a:lnSpc>
                          <a:spcPct val="100000"/>
                        </a:lnSpc>
                        <a:spcBef>
                          <a:spcPts val="0"/>
                        </a:spcBef>
                        <a:spcAft>
                          <a:spcPts val="0"/>
                        </a:spcAft>
                        <a:buNone/>
                      </a:pPr>
                      <a:r>
                        <a:rPr lang="en-US" sz="1450" b="0" i="0" u="none" strike="noStrike" noProof="0" dirty="0">
                          <a:solidFill>
                            <a:srgbClr val="2E3142"/>
                          </a:solidFill>
                          <a:latin typeface="210 OmniGothic 040"/>
                          <a:ea typeface="210 OmniGothic 040"/>
                        </a:rPr>
                        <a:t>3. </a:t>
                      </a:r>
                      <a:r>
                        <a:rPr lang="en-US" sz="1450" b="0" i="0" u="none" strike="noStrike" noProof="0" dirty="0" err="1">
                          <a:solidFill>
                            <a:srgbClr val="2E3142"/>
                          </a:solidFill>
                          <a:latin typeface="210 OmniGothic 040"/>
                          <a:ea typeface="210 OmniGothic 040"/>
                        </a:rPr>
                        <a:t>모델·프롬프트</a:t>
                      </a:r>
                      <a:r>
                        <a:rPr lang="en-US" altLang="ko-KR" sz="1450" b="0" i="0" u="none" strike="noStrike" noProof="0" dirty="0">
                          <a:solidFill>
                            <a:srgbClr val="2E3142"/>
                          </a:solidFill>
                          <a:latin typeface="210 OmniGothic 040"/>
                          <a:ea typeface="210 OmniGothic 040"/>
                        </a:rPr>
                        <a:t>·</a:t>
                      </a:r>
                      <a:r>
                        <a:rPr lang="ko-KR" altLang="en-US" sz="1450" b="0" i="0" u="none" strike="noStrike" noProof="0" dirty="0" err="1">
                          <a:solidFill>
                            <a:srgbClr val="2E3142"/>
                          </a:solidFill>
                          <a:latin typeface="210 OmniGothic 040"/>
                          <a:ea typeface="210 OmniGothic 040"/>
                        </a:rPr>
                        <a:t>설정값을</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버전으로</a:t>
                      </a:r>
                      <a:r>
                        <a:rPr lang="en-US" sz="1450" b="0" i="0" u="none" strike="noStrike" noProof="0" dirty="0">
                          <a:solidFill>
                            <a:srgbClr val="2E3142"/>
                          </a:solidFill>
                          <a:latin typeface="210 OmniGothic 040"/>
                          <a:ea typeface="210 OmniGothic 040"/>
                        </a:rPr>
                        <a:t> </a:t>
                      </a:r>
                      <a:r>
                        <a:rPr lang="en-US" sz="1450" b="0" i="0" u="none" strike="noStrike" noProof="0" dirty="0" err="1">
                          <a:solidFill>
                            <a:srgbClr val="2E3142"/>
                          </a:solidFill>
                          <a:latin typeface="210 OmniGothic 040"/>
                          <a:ea typeface="210 OmniGothic 040"/>
                        </a:rPr>
                        <a:t>관리</a:t>
                      </a:r>
                      <a:endParaRPr>
                        <a:latin typeface="210 OmniGothic 040"/>
                        <a:ea typeface="210 OmniGothic 040"/>
                      </a:endParaRP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4"/>
                  </a:ext>
                </a:extLst>
              </a:tr>
              <a:tr h="502920">
                <a:tc gridSpan="2">
                  <a:txBody>
                    <a:bodyPr/>
                    <a:lstStyle/>
                    <a:p>
                      <a:pPr algn="ctr"/>
                      <a:r>
                        <a:rPr sz="1450" b="1" dirty="0" err="1">
                          <a:solidFill>
                            <a:srgbClr val="2E3142"/>
                          </a:solidFill>
                          <a:latin typeface="210 OmniGothic 040"/>
                          <a:ea typeface="210 OmniGothic 040"/>
                          <a:cs typeface="210 OmniGothic 040"/>
                        </a:rPr>
                        <a:t>산출정보</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endParaRP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5"/>
                  </a:ext>
                </a:extLst>
              </a:tr>
              <a:tr h="502920">
                <a:tc gridSpan="2">
                  <a:txBody>
                    <a:bodyPr/>
                    <a:lstStyle/>
                    <a:p>
                      <a:pPr algn="ctr"/>
                      <a:r>
                        <a:rPr sz="1450" b="1" dirty="0" err="1">
                          <a:solidFill>
                            <a:srgbClr val="2E3142"/>
                          </a:solidFill>
                          <a:latin typeface="210 OmniGothic 040"/>
                          <a:ea typeface="210 OmniGothic 040"/>
                          <a:cs typeface="210 OmniGothic 040"/>
                        </a:rPr>
                        <a:t>관련</a:t>
                      </a:r>
                      <a:r>
                        <a:rPr sz="1450" b="1" dirty="0">
                          <a:solidFill>
                            <a:srgbClr val="2E3142"/>
                          </a:solidFill>
                          <a:latin typeface="210 OmniGothic 040"/>
                          <a:ea typeface="210 OmniGothic 040"/>
                          <a:cs typeface="210 OmniGothic 040"/>
                        </a:rPr>
                        <a:t> </a:t>
                      </a:r>
                      <a:r>
                        <a:rPr sz="1450" b="1" dirty="0" err="1">
                          <a:solidFill>
                            <a:srgbClr val="2E3142"/>
                          </a:solidFill>
                          <a:latin typeface="210 OmniGothic 040"/>
                          <a:ea typeface="210 OmniGothic 040"/>
                          <a:cs typeface="210 OmniGothic 040"/>
                        </a:rPr>
                        <a:t>요구사항</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r>
                        <a:rPr sz="1450" b="0" dirty="0">
                          <a:solidFill>
                            <a:srgbClr val="2E3142"/>
                          </a:solidFill>
                          <a:latin typeface="210 OmniGothic 040"/>
                          <a:ea typeface="210 OmniGothic 040"/>
                          <a:cs typeface="210 OmniGothic 040"/>
                        </a:rPr>
                        <a:t>ECR-001, ECR-002</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6"/>
                  </a:ext>
                </a:extLst>
              </a:tr>
              <a:tr h="502920">
                <a:tc gridSpan="2">
                  <a:txBody>
                    <a:bodyPr/>
                    <a:lstStyle/>
                    <a:p>
                      <a:pPr algn="ctr"/>
                      <a:r>
                        <a:rPr sz="1450" b="1" dirty="0" err="1">
                          <a:solidFill>
                            <a:srgbClr val="2E3142"/>
                          </a:solidFill>
                          <a:latin typeface="210 OmniGothic 040"/>
                          <a:ea typeface="210 OmniGothic 040"/>
                          <a:cs typeface="210 OmniGothic 040"/>
                        </a:rPr>
                        <a:t>요구사항</a:t>
                      </a:r>
                      <a:r>
                        <a:rPr sz="1450" b="1" dirty="0">
                          <a:solidFill>
                            <a:srgbClr val="2E3142"/>
                          </a:solidFill>
                          <a:latin typeface="210 OmniGothic 040"/>
                          <a:ea typeface="210 OmniGothic 040"/>
                          <a:cs typeface="210 OmniGothic 040"/>
                        </a:rPr>
                        <a:t> </a:t>
                      </a:r>
                      <a:r>
                        <a:rPr sz="1450" b="1" dirty="0" err="1">
                          <a:solidFill>
                            <a:srgbClr val="2E3142"/>
                          </a:solidFill>
                          <a:latin typeface="210 OmniGothic 040"/>
                          <a:ea typeface="210 OmniGothic 040"/>
                          <a:cs typeface="210 OmniGothic 040"/>
                        </a:rPr>
                        <a:t>출처</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r>
                        <a:rPr sz="1450" b="0" dirty="0" err="1">
                          <a:solidFill>
                            <a:srgbClr val="2E3142"/>
                          </a:solidFill>
                          <a:latin typeface="210 OmniGothic 040"/>
                          <a:ea typeface="210 OmniGothic 040"/>
                          <a:cs typeface="210 OmniGothic 040"/>
                        </a:rPr>
                        <a:t>배포</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요구사항</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01"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2700" y="-12700"/>
            <a:ext cx="18313400" cy="1638300"/>
          </a:xfrm>
          <a:prstGeom prst="rect">
            <a:avLst/>
          </a:prstGeom>
        </p:spPr>
      </p:pic>
      <p:pic>
        <p:nvPicPr>
          <p:cNvPr id="5502"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628" y="1618343"/>
            <a:ext cx="18313400" cy="8699500"/>
          </a:xfrm>
          <a:prstGeom prst="rect">
            <a:avLst/>
          </a:prstGeom>
        </p:spPr>
      </p:pic>
      <p:pic>
        <p:nvPicPr>
          <p:cNvPr id="5503"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58800" y="9271000"/>
            <a:ext cx="17170400" cy="50800"/>
          </a:xfrm>
          <a:prstGeom prst="rect">
            <a:avLst/>
          </a:prstGeom>
        </p:spPr>
      </p:pic>
      <p:pic>
        <p:nvPicPr>
          <p:cNvPr id="5504" name="Picture 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278100" y="203200"/>
            <a:ext cx="1676400" cy="1409700"/>
          </a:xfrm>
          <a:prstGeom prst="rect">
            <a:avLst/>
          </a:prstGeom>
        </p:spPr>
      </p:pic>
      <p:sp>
        <p:nvSpPr>
          <p:cNvPr id="5505" name="Title"/>
          <p:cNvSpPr txBox="1"/>
          <p:nvPr/>
        </p:nvSpPr>
        <p:spPr>
          <a:xfrm>
            <a:off x="822960" y="384048"/>
            <a:ext cx="13258800" cy="877824"/>
          </a:xfrm>
          <a:prstGeom prst="rect">
            <a:avLst/>
          </a:prstGeom>
          <a:noFill/>
        </p:spPr>
        <p:txBody>
          <a:bodyPr wrap="square" lIns="0" tIns="0" rIns="0" bIns="0" anchor="ctr">
            <a:spAutoFit/>
          </a:bodyPr>
          <a:lstStyle/>
          <a:p>
            <a:pPr algn="l"/>
            <a:r>
              <a:rPr sz="4400" b="0">
                <a:solidFill>
                  <a:srgbClr val="FAA95A"/>
                </a:solidFill>
                <a:latin typeface="210 OmniGothic 050"/>
                <a:ea typeface="210 OmniGothic 050"/>
                <a:cs typeface="210 OmniGothic 050"/>
              </a:rPr>
              <a:t>07. 비기능 요구사항</a:t>
            </a:r>
          </a:p>
        </p:txBody>
      </p:sp>
      <p:sp>
        <p:nvSpPr>
          <p:cNvPr id="5506" name="Subtitle"/>
          <p:cNvSpPr txBox="1"/>
          <p:nvPr/>
        </p:nvSpPr>
        <p:spPr>
          <a:xfrm>
            <a:off x="822960" y="1764792"/>
            <a:ext cx="16642080" cy="502920"/>
          </a:xfrm>
          <a:prstGeom prst="rect">
            <a:avLst/>
          </a:prstGeom>
          <a:noFill/>
        </p:spPr>
        <p:txBody>
          <a:bodyPr wrap="square" lIns="0" tIns="0" rIns="0" bIns="0" anchor="ctr">
            <a:spAutoFit/>
          </a:bodyPr>
          <a:lstStyle/>
          <a:p>
            <a:pPr algn="ctr"/>
            <a:r>
              <a:rPr sz="2600" b="1">
                <a:solidFill>
                  <a:srgbClr val="363A52"/>
                </a:solidFill>
                <a:latin typeface="210 OmniGothic 040"/>
                <a:ea typeface="210 OmniGothic 040"/>
                <a:cs typeface="210 OmniGothic 040"/>
              </a:rPr>
              <a:t>테스트 요구사항</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sz="quarter" idx="12"/>
          </p:nvPr>
        </p:nvSpPr>
        <p:spPr/>
        <p:txBody>
          <a:bodyPr/>
          <a:lstStyle/>
          <a:p>
            <a:fld id="{B6F15528-21DE-4FAA-801E-634DDDAF4B2B}" type="slidenum">
              <a:rPr lang="en-US" smtClean="0"/>
              <a:pPr/>
              <a:t>101</a:t>
            </a:fld>
            <a:endParaRPr lang="en-US"/>
          </a:p>
        </p:txBody>
      </p:sp>
      <p:graphicFrame>
        <p:nvGraphicFramePr>
          <p:cNvPr id="5507" name="Table 5506"/>
          <p:cNvGraphicFramePr>
            <a:graphicFrameLocks noGrp="1"/>
          </p:cNvGraphicFramePr>
          <p:nvPr/>
        </p:nvGraphicFramePr>
        <p:xfrm>
          <a:off x="2880360" y="2546604"/>
          <a:ext cx="12344400" cy="5665164"/>
        </p:xfrm>
        <a:graphic>
          <a:graphicData uri="http://schemas.openxmlformats.org/drawingml/2006/table">
            <a:tbl>
              <a:tblPr>
                <a:tableStyleId>{2D5ABB26-0587-4C30-8999-92F81FD0307C}</a:tableStyleId>
              </a:tblPr>
              <a:tblGrid>
                <a:gridCol w="245745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8286750">
                  <a:extLst>
                    <a:ext uri="{9D8B030D-6E8A-4147-A177-3AD203B41FA5}">
                      <a16:colId xmlns:a16="http://schemas.microsoft.com/office/drawing/2014/main" val="20002"/>
                    </a:ext>
                  </a:extLst>
                </a:gridCol>
              </a:tblGrid>
              <a:tr h="502920">
                <a:tc gridSpan="2">
                  <a:txBody>
                    <a:bodyPr/>
                    <a:lstStyle/>
                    <a:p>
                      <a:pPr algn="ctr"/>
                      <a:r>
                        <a:rPr sz="1450" b="1" dirty="0" err="1">
                          <a:solidFill>
                            <a:srgbClr val="2E3142"/>
                          </a:solidFill>
                          <a:latin typeface="210 OmniGothic 040"/>
                          <a:ea typeface="210 OmniGothic 040"/>
                          <a:cs typeface="210 OmniGothic 040"/>
                        </a:rPr>
                        <a:t>요구사항</a:t>
                      </a:r>
                      <a:r>
                        <a:rPr sz="1450" b="1" dirty="0">
                          <a:solidFill>
                            <a:srgbClr val="2E3142"/>
                          </a:solidFill>
                          <a:latin typeface="210 OmniGothic 040"/>
                          <a:ea typeface="210 OmniGothic 040"/>
                          <a:cs typeface="210 OmniGothic 040"/>
                        </a:rPr>
                        <a:t> </a:t>
                      </a:r>
                      <a:r>
                        <a:rPr sz="1450" b="1" dirty="0" err="1">
                          <a:solidFill>
                            <a:srgbClr val="2E3142"/>
                          </a:solidFill>
                          <a:latin typeface="210 OmniGothic 040"/>
                          <a:ea typeface="210 OmniGothic 040"/>
                          <a:cs typeface="210 OmniGothic 040"/>
                        </a:rPr>
                        <a:t>분류</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r>
                        <a:rPr sz="1450" b="0" dirty="0" err="1">
                          <a:solidFill>
                            <a:srgbClr val="2E3142"/>
                          </a:solidFill>
                          <a:latin typeface="210 OmniGothic 040"/>
                          <a:ea typeface="210 OmniGothic 040"/>
                          <a:cs typeface="210 OmniGothic 040"/>
                        </a:rPr>
                        <a:t>테스트</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요구사항</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0"/>
                  </a:ext>
                </a:extLst>
              </a:tr>
              <a:tr h="502920">
                <a:tc gridSpan="2">
                  <a:txBody>
                    <a:bodyPr/>
                    <a:lstStyle/>
                    <a:p>
                      <a:pPr algn="ctr"/>
                      <a:r>
                        <a:rPr sz="1450" b="1" dirty="0" err="1">
                          <a:solidFill>
                            <a:srgbClr val="2E3142"/>
                          </a:solidFill>
                          <a:latin typeface="210 OmniGothic 040"/>
                          <a:ea typeface="210 OmniGothic 040"/>
                          <a:cs typeface="210 OmniGothic 040"/>
                        </a:rPr>
                        <a:t>요구사항</a:t>
                      </a:r>
                      <a:r>
                        <a:rPr sz="1450" b="1" dirty="0">
                          <a:solidFill>
                            <a:srgbClr val="2E3142"/>
                          </a:solidFill>
                          <a:latin typeface="210 OmniGothic 040"/>
                          <a:ea typeface="210 OmniGothic 040"/>
                          <a:cs typeface="210 OmniGothic 040"/>
                        </a:rPr>
                        <a:t> </a:t>
                      </a:r>
                      <a:r>
                        <a:rPr sz="1450" b="1" dirty="0" err="1">
                          <a:solidFill>
                            <a:srgbClr val="2E3142"/>
                          </a:solidFill>
                          <a:latin typeface="210 OmniGothic 040"/>
                          <a:ea typeface="210 OmniGothic 040"/>
                          <a:cs typeface="210 OmniGothic 040"/>
                        </a:rPr>
                        <a:t>고유번호</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r>
                        <a:rPr sz="1450" b="0" dirty="0">
                          <a:solidFill>
                            <a:srgbClr val="2E3142"/>
                          </a:solidFill>
                          <a:latin typeface="210 OmniGothic 040"/>
                          <a:ea typeface="210 OmniGothic 040"/>
                          <a:cs typeface="210 OmniGothic 040"/>
                        </a:rPr>
                        <a:t>TER-001</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1"/>
                  </a:ext>
                </a:extLst>
              </a:tr>
              <a:tr h="502920">
                <a:tc gridSpan="2">
                  <a:txBody>
                    <a:bodyPr/>
                    <a:lstStyle/>
                    <a:p>
                      <a:pPr algn="ctr"/>
                      <a:r>
                        <a:rPr sz="1450" b="1" dirty="0" err="1">
                          <a:solidFill>
                            <a:srgbClr val="2E3142"/>
                          </a:solidFill>
                          <a:latin typeface="210 OmniGothic 040"/>
                          <a:ea typeface="210 OmniGothic 040"/>
                          <a:cs typeface="210 OmniGothic 040"/>
                        </a:rPr>
                        <a:t>요구사항</a:t>
                      </a:r>
                      <a:r>
                        <a:rPr sz="1450" b="1" dirty="0">
                          <a:solidFill>
                            <a:srgbClr val="2E3142"/>
                          </a:solidFill>
                          <a:latin typeface="210 OmniGothic 040"/>
                          <a:ea typeface="210 OmniGothic 040"/>
                          <a:cs typeface="210 OmniGothic 040"/>
                        </a:rPr>
                        <a:t> </a:t>
                      </a:r>
                      <a:r>
                        <a:rPr sz="1450" b="1" dirty="0" err="1">
                          <a:solidFill>
                            <a:srgbClr val="2E3142"/>
                          </a:solidFill>
                          <a:latin typeface="210 OmniGothic 040"/>
                          <a:ea typeface="210 OmniGothic 040"/>
                          <a:cs typeface="210 OmniGothic 040"/>
                        </a:rPr>
                        <a:t>명칭</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r>
                        <a:rPr sz="1450" b="0" dirty="0" err="1">
                          <a:solidFill>
                            <a:srgbClr val="2E3142"/>
                          </a:solidFill>
                          <a:latin typeface="210 OmniGothic 040"/>
                          <a:ea typeface="210 OmniGothic 040"/>
                          <a:cs typeface="210 OmniGothic 040"/>
                        </a:rPr>
                        <a:t>기능·통합</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테스트</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2"/>
                  </a:ext>
                </a:extLst>
              </a:tr>
              <a:tr h="553212">
                <a:tc rowSpan="2">
                  <a:txBody>
                    <a:bodyPr/>
                    <a:lstStyle/>
                    <a:p>
                      <a:pPr algn="ctr"/>
                      <a:r>
                        <a:rPr sz="1450" b="1" dirty="0">
                          <a:solidFill>
                            <a:srgbClr val="2E3142"/>
                          </a:solidFill>
                          <a:latin typeface="210 OmniGothic 040"/>
                          <a:ea typeface="210 OmniGothic 040"/>
                          <a:cs typeface="210 OmniGothic 040"/>
                        </a:rPr>
                        <a:t>요구사항
</a:t>
                      </a:r>
                      <a:r>
                        <a:rPr sz="1450" b="1" dirty="0" err="1">
                          <a:solidFill>
                            <a:srgbClr val="2E3142"/>
                          </a:solidFill>
                          <a:latin typeface="210 OmniGothic 040"/>
                          <a:ea typeface="210 OmniGothic 040"/>
                          <a:cs typeface="210 OmniGothic 040"/>
                        </a:rPr>
                        <a:t>상세설명</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a:txBody>
                    <a:bodyPr/>
                    <a:lstStyle/>
                    <a:p>
                      <a:pPr algn="ctr"/>
                      <a:r>
                        <a:rPr sz="1450" b="1" dirty="0" err="1">
                          <a:solidFill>
                            <a:srgbClr val="2E3142"/>
                          </a:solidFill>
                          <a:latin typeface="210 OmniGothic 040"/>
                          <a:ea typeface="210 OmniGothic 040"/>
                          <a:cs typeface="210 OmniGothic 040"/>
                        </a:rPr>
                        <a:t>정의</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a:txBody>
                    <a:bodyPr/>
                    <a:lstStyle/>
                    <a:p>
                      <a:pPr algn="l"/>
                      <a:r>
                        <a:rPr sz="1450" b="0" dirty="0" err="1">
                          <a:solidFill>
                            <a:srgbClr val="2E3142"/>
                          </a:solidFill>
                          <a:latin typeface="210 OmniGothic 040"/>
                          <a:ea typeface="210 OmniGothic 040"/>
                          <a:cs typeface="210 OmniGothic 040"/>
                        </a:rPr>
                        <a:t>유스케이스</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흐름과</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출력</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형식</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검증</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3"/>
                  </a:ext>
                </a:extLst>
              </a:tr>
              <a:tr h="1659636">
                <a:tc vMerge="1">
                  <a:txBody>
                    <a:bodyPr/>
                    <a:lstStyle/>
                    <a:p>
                      <a:endParaRPr/>
                    </a:p>
                  </a:txBody>
                  <a:tcPr/>
                </a:tc>
                <a:tc>
                  <a:txBody>
                    <a:bodyPr/>
                    <a:lstStyle/>
                    <a:p>
                      <a:pPr algn="ctr"/>
                      <a:r>
                        <a:rPr sz="1450" b="1" dirty="0" err="1">
                          <a:solidFill>
                            <a:srgbClr val="2E3142"/>
                          </a:solidFill>
                          <a:latin typeface="210 OmniGothic 040"/>
                          <a:ea typeface="210 OmniGothic 040"/>
                          <a:cs typeface="210 OmniGothic 040"/>
                        </a:rPr>
                        <a:t>세부</a:t>
                      </a:r>
                      <a:r>
                        <a:rPr sz="1450" b="1" dirty="0">
                          <a:solidFill>
                            <a:srgbClr val="2E3142"/>
                          </a:solidFill>
                          <a:latin typeface="210 OmniGothic 040"/>
                          <a:ea typeface="210 OmniGothic 040"/>
                          <a:cs typeface="210 OmniGothic 040"/>
                        </a:rPr>
                        <a:t> </a:t>
                      </a:r>
                      <a:r>
                        <a:rPr sz="1450" b="1" dirty="0" err="1">
                          <a:solidFill>
                            <a:srgbClr val="2E3142"/>
                          </a:solidFill>
                          <a:latin typeface="210 OmniGothic 040"/>
                          <a:ea typeface="210 OmniGothic 040"/>
                          <a:cs typeface="210 OmniGothic 040"/>
                        </a:rPr>
                        <a:t>내용</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a:txBody>
                    <a:bodyPr/>
                    <a:lstStyle/>
                    <a:p>
                      <a:pPr lvl="0" algn="l">
                        <a:lnSpc>
                          <a:spcPct val="110000"/>
                        </a:lnSpc>
                        <a:buNone/>
                      </a:pPr>
                      <a:endParaRPr lang="en-US" sz="1400" b="0" i="0" u="none" strike="noStrike" noProof="0" dirty="0">
                        <a:solidFill>
                          <a:srgbClr val="2E3142"/>
                        </a:solidFill>
                        <a:latin typeface="210 OmniGothic 040"/>
                        <a:ea typeface="210 OmniGothic 040"/>
                        <a:cs typeface="210 OmniGothic 040"/>
                      </a:endParaRPr>
                    </a:p>
                    <a:p>
                      <a:pPr lvl="0" algn="l">
                        <a:lnSpc>
                          <a:spcPct val="110000"/>
                        </a:lnSpc>
                        <a:buNone/>
                      </a:pPr>
                      <a:r>
                        <a:rPr lang="en-US" sz="1400" b="0" i="0" u="none" strike="noStrike" noProof="0" dirty="0">
                          <a:solidFill>
                            <a:srgbClr val="2E3142"/>
                          </a:solidFill>
                          <a:latin typeface="210 OmniGothic 040"/>
                          <a:ea typeface="210 OmniGothic 040"/>
                          <a:cs typeface="210 OmniGothic 040"/>
                        </a:rPr>
                        <a:t>1. </a:t>
                      </a:r>
                      <a:r>
                        <a:rPr lang="en-US" sz="1400" b="0" i="0" u="none" strike="noStrike" noProof="0" dirty="0" err="1">
                          <a:solidFill>
                            <a:srgbClr val="2E3142"/>
                          </a:solidFill>
                          <a:latin typeface="210 OmniGothic 040"/>
                          <a:ea typeface="210 OmniGothic 040"/>
                          <a:cs typeface="210 OmniGothic 040"/>
                        </a:rPr>
                        <a:t>시연</a:t>
                      </a:r>
                      <a:r>
                        <a:rPr lang="en-US" sz="1400" b="0" i="0" u="none" strike="noStrike" noProof="0" dirty="0">
                          <a:solidFill>
                            <a:srgbClr val="2E3142"/>
                          </a:solidFill>
                          <a:latin typeface="210 OmniGothic 040"/>
                          <a:ea typeface="210 OmniGothic 040"/>
                          <a:cs typeface="210 OmniGothic 040"/>
                        </a:rPr>
                        <a:t> </a:t>
                      </a:r>
                      <a:r>
                        <a:rPr lang="en-US" sz="1400" b="0" i="0" u="none" strike="noStrike" noProof="0" dirty="0" err="1">
                          <a:solidFill>
                            <a:srgbClr val="2E3142"/>
                          </a:solidFill>
                          <a:latin typeface="210 OmniGothic 040"/>
                          <a:ea typeface="210 OmniGothic 040"/>
                          <a:cs typeface="210 OmniGothic 040"/>
                        </a:rPr>
                        <a:t>시나리오</a:t>
                      </a:r>
                      <a:r>
                        <a:rPr lang="en-US" sz="1400" b="0" i="0" u="none" strike="noStrike" noProof="0" dirty="0">
                          <a:solidFill>
                            <a:srgbClr val="2E3142"/>
                          </a:solidFill>
                          <a:latin typeface="210 OmniGothic 040"/>
                          <a:ea typeface="210 OmniGothic 040"/>
                          <a:cs typeface="210 OmniGothic 040"/>
                        </a:rPr>
                        <a:t>(</a:t>
                      </a:r>
                      <a:r>
                        <a:rPr lang="en-US" sz="1400" b="0" i="0" u="none" strike="noStrike" noProof="0" dirty="0" err="1">
                          <a:solidFill>
                            <a:srgbClr val="2E3142"/>
                          </a:solidFill>
                          <a:latin typeface="210 OmniGothic 040"/>
                          <a:ea typeface="210 OmniGothic 040"/>
                          <a:cs typeface="210 OmniGothic 040"/>
                        </a:rPr>
                        <a:t>의성</a:t>
                      </a:r>
                      <a:r>
                        <a:rPr lang="en-US" sz="1400" b="0" i="0" u="none" strike="noStrike" noProof="0" dirty="0">
                          <a:solidFill>
                            <a:srgbClr val="2E3142"/>
                          </a:solidFill>
                          <a:latin typeface="210 OmniGothic 040"/>
                          <a:ea typeface="210 OmniGothic 040"/>
                          <a:cs typeface="210 OmniGothic 040"/>
                        </a:rPr>
                        <a:t> 2025-03-22) </a:t>
                      </a:r>
                      <a:r>
                        <a:rPr lang="en-US" sz="1400" b="0" i="0" u="none" strike="noStrike" noProof="0" dirty="0" err="1">
                          <a:solidFill>
                            <a:srgbClr val="2E3142"/>
                          </a:solidFill>
                          <a:latin typeface="210 OmniGothic 040"/>
                          <a:ea typeface="210 OmniGothic 040"/>
                          <a:cs typeface="210 OmniGothic 040"/>
                        </a:rPr>
                        <a:t>기준</a:t>
                      </a:r>
                      <a:r>
                        <a:rPr lang="en-US" sz="1400" b="0" i="0" u="none" strike="noStrike" noProof="0" dirty="0">
                          <a:solidFill>
                            <a:srgbClr val="2E3142"/>
                          </a:solidFill>
                          <a:latin typeface="210 OmniGothic 040"/>
                          <a:ea typeface="210 OmniGothic 040"/>
                          <a:cs typeface="210 OmniGothic 040"/>
                        </a:rPr>
                        <a:t> </a:t>
                      </a:r>
                      <a:r>
                        <a:rPr lang="en-US" sz="1400" b="0" i="0" u="none" strike="noStrike" noProof="0" dirty="0" err="1">
                          <a:solidFill>
                            <a:srgbClr val="2E3142"/>
                          </a:solidFill>
                          <a:latin typeface="210 OmniGothic 040"/>
                          <a:ea typeface="210 OmniGothic 040"/>
                          <a:cs typeface="210 OmniGothic 040"/>
                        </a:rPr>
                        <a:t>재난</a:t>
                      </a:r>
                      <a:r>
                        <a:rPr lang="en-US" sz="1400" b="0" i="0" u="none" strike="noStrike" noProof="0" dirty="0">
                          <a:solidFill>
                            <a:srgbClr val="2E3142"/>
                          </a:solidFill>
                          <a:latin typeface="210 OmniGothic 040"/>
                          <a:ea typeface="210 OmniGothic 040"/>
                          <a:cs typeface="210 OmniGothic 040"/>
                        </a:rPr>
                        <a:t> 시 </a:t>
                      </a:r>
                      <a:r>
                        <a:rPr lang="ko-KR" altLang="en-US" sz="1400" b="0" i="0" u="none" strike="noStrike" noProof="0" dirty="0">
                          <a:solidFill>
                            <a:srgbClr val="2E3142"/>
                          </a:solidFill>
                          <a:latin typeface="210 OmniGothic 040"/>
                          <a:ea typeface="210 OmniGothic 040"/>
                          <a:cs typeface="210 OmniGothic 040"/>
                        </a:rPr>
                        <a:t>주요 </a:t>
                      </a:r>
                      <a:r>
                        <a:rPr lang="en-US" sz="1400" b="0" i="0" u="none" strike="noStrike" noProof="0" dirty="0">
                          <a:solidFill>
                            <a:srgbClr val="2E3142"/>
                          </a:solidFill>
                          <a:latin typeface="210 OmniGothic 040"/>
                          <a:ea typeface="210 OmniGothic 040"/>
                          <a:cs typeface="210 OmniGothic 040"/>
                        </a:rPr>
                        <a:t>UC</a:t>
                      </a:r>
                      <a:r>
                        <a:rPr lang="ko-KR" altLang="en-US" sz="1400" b="0" i="0" u="none" strike="noStrike" noProof="0" dirty="0">
                          <a:solidFill>
                            <a:srgbClr val="2E3142"/>
                          </a:solidFill>
                          <a:latin typeface="210 OmniGothic 040"/>
                          <a:ea typeface="210 OmniGothic 040"/>
                          <a:cs typeface="210 OmniGothic 040"/>
                        </a:rPr>
                        <a:t>의</a:t>
                      </a:r>
                      <a:r>
                        <a:rPr lang="en-US" altLang="ko-KR" sz="1400" b="0" i="0" u="none" strike="noStrike" noProof="0" dirty="0">
                          <a:solidFill>
                            <a:srgbClr val="2E3142"/>
                          </a:solidFill>
                          <a:latin typeface="210 OmniGothic 040"/>
                          <a:ea typeface="210 OmniGothic 040"/>
                          <a:cs typeface="210 OmniGothic 040"/>
                        </a:rPr>
                        <a:t> </a:t>
                      </a:r>
                      <a:r>
                        <a:rPr lang="ko-KR" sz="1400" b="0" i="0" u="none" strike="noStrike" noProof="0" dirty="0">
                          <a:solidFill>
                            <a:srgbClr val="2E3142"/>
                          </a:solidFill>
                          <a:latin typeface="210 OmniGothic 040"/>
                          <a:ea typeface="210 OmniGothic 040"/>
                          <a:cs typeface="210 OmniGothic 040"/>
                        </a:rPr>
                        <a:t>기본</a:t>
                      </a:r>
                      <a:r>
                        <a:rPr lang="en-US" sz="1400" b="0" i="0" u="none" strike="noStrike" noProof="0" dirty="0">
                          <a:solidFill>
                            <a:srgbClr val="2E3142"/>
                          </a:solidFill>
                          <a:latin typeface="210 OmniGothic 040"/>
                          <a:ea typeface="210 OmniGothic 040"/>
                          <a:cs typeface="210 OmniGothic 040"/>
                        </a:rPr>
                        <a:t>·</a:t>
                      </a:r>
                      <a:r>
                        <a:rPr lang="ko-KR" sz="1400" b="0" i="0" u="none" strike="noStrike" noProof="0" dirty="0">
                          <a:solidFill>
                            <a:srgbClr val="2E3142"/>
                          </a:solidFill>
                          <a:latin typeface="210 OmniGothic 040"/>
                          <a:ea typeface="210 OmniGothic 040"/>
                          <a:cs typeface="210 OmniGothic 040"/>
                        </a:rPr>
                        <a:t>대안</a:t>
                      </a:r>
                      <a:r>
                        <a:rPr lang="en-US" sz="1400" b="0" i="0" u="none" strike="noStrike" noProof="0" dirty="0">
                          <a:solidFill>
                            <a:srgbClr val="2E3142"/>
                          </a:solidFill>
                          <a:latin typeface="210 OmniGothic 040"/>
                          <a:ea typeface="210 OmniGothic 040"/>
                          <a:cs typeface="210 OmniGothic 040"/>
                        </a:rPr>
                        <a:t>·</a:t>
                      </a:r>
                      <a:r>
                        <a:rPr lang="ko-KR" sz="1400" b="0" i="0" u="none" strike="noStrike" noProof="0" dirty="0">
                          <a:solidFill>
                            <a:srgbClr val="2E3142"/>
                          </a:solidFill>
                          <a:latin typeface="210 OmniGothic 040"/>
                          <a:ea typeface="210 OmniGothic 040"/>
                          <a:cs typeface="210 OmniGothic 040"/>
                        </a:rPr>
                        <a:t>예외</a:t>
                      </a:r>
                      <a:r>
                        <a:rPr lang="en-US" altLang="ko-KR" sz="1400" b="0" i="0" u="none" strike="noStrike" noProof="0" dirty="0">
                          <a:solidFill>
                            <a:srgbClr val="2E3142"/>
                          </a:solidFill>
                          <a:latin typeface="210 OmniGothic 040"/>
                          <a:ea typeface="210 OmniGothic 040"/>
                          <a:cs typeface="210 OmniGothic 040"/>
                        </a:rPr>
                        <a:t> </a:t>
                      </a:r>
                      <a:r>
                        <a:rPr lang="ko-KR" sz="1400" b="0" i="0" u="none" strike="noStrike" noProof="0" dirty="0">
                          <a:solidFill>
                            <a:srgbClr val="2E3142"/>
                          </a:solidFill>
                          <a:latin typeface="210 OmniGothic 040"/>
                          <a:ea typeface="210 OmniGothic 040"/>
                          <a:cs typeface="210 OmniGothic 040"/>
                        </a:rPr>
                        <a:t>흐름</a:t>
                      </a:r>
                      <a:r>
                        <a:rPr lang="en-US" altLang="ko-KR" sz="1400" b="0" i="0" u="none" strike="noStrike" noProof="0" dirty="0">
                          <a:solidFill>
                            <a:srgbClr val="2E3142"/>
                          </a:solidFill>
                          <a:latin typeface="210 OmniGothic 040"/>
                          <a:ea typeface="210 OmniGothic 040"/>
                          <a:cs typeface="210 OmniGothic 040"/>
                        </a:rPr>
                        <a:t> </a:t>
                      </a:r>
                      <a:r>
                        <a:rPr lang="ko-KR" altLang="en-US" sz="1400" b="0" i="0" u="none" strike="noStrike" noProof="0" dirty="0">
                          <a:solidFill>
                            <a:srgbClr val="2E3142"/>
                          </a:solidFill>
                          <a:latin typeface="210 OmniGothic 040"/>
                          <a:ea typeface="210 OmniGothic 040"/>
                          <a:cs typeface="210 OmniGothic 040"/>
                        </a:rPr>
                        <a:t>검증</a:t>
                      </a:r>
                      <a:endParaRPr lang="en-US" sz="1400" b="0" i="0" u="none" strike="noStrike" noProof="0" dirty="0">
                        <a:solidFill>
                          <a:srgbClr val="000000"/>
                        </a:solidFill>
                        <a:latin typeface="210 OmniGothic 040"/>
                        <a:ea typeface="210 OmniGothic 040"/>
                        <a:cs typeface="210 OmniGothic 040"/>
                      </a:endParaRPr>
                    </a:p>
                    <a:p>
                      <a:pPr lvl="0" algn="l">
                        <a:lnSpc>
                          <a:spcPct val="100000"/>
                        </a:lnSpc>
                        <a:spcBef>
                          <a:spcPts val="0"/>
                        </a:spcBef>
                        <a:spcAft>
                          <a:spcPts val="0"/>
                        </a:spcAft>
                        <a:buNone/>
                      </a:pPr>
                      <a:r>
                        <a:rPr lang="en-US" sz="1400" b="0" i="0" u="none" strike="noStrike" noProof="0" dirty="0">
                          <a:solidFill>
                            <a:srgbClr val="2E3142"/>
                          </a:solidFill>
                          <a:latin typeface="210 OmniGothic 040"/>
                          <a:ea typeface="210 OmniGothic 040"/>
                        </a:rPr>
                        <a:t>2. </a:t>
                      </a:r>
                      <a:r>
                        <a:rPr lang="ko-KR" altLang="en-US" sz="1400" b="0" i="0" u="none" strike="noStrike" noProof="0" dirty="0">
                          <a:solidFill>
                            <a:srgbClr val="2E3142"/>
                          </a:solidFill>
                          <a:latin typeface="210 OmniGothic 040"/>
                          <a:ea typeface="210 OmniGothic 040"/>
                        </a:rPr>
                        <a:t>로그인</a:t>
                      </a:r>
                      <a:r>
                        <a:rPr lang="en-US" altLang="ko-KR" sz="1400" b="0" i="0" u="none" strike="noStrike" noProof="0" dirty="0">
                          <a:solidFill>
                            <a:srgbClr val="2E3142"/>
                          </a:solidFill>
                          <a:latin typeface="210 OmniGothic 040"/>
                          <a:ea typeface="210 OmniGothic 040"/>
                        </a:rPr>
                        <a:t> </a:t>
                      </a:r>
                      <a:r>
                        <a:rPr lang="ko-KR" altLang="en-US" sz="1400" b="0" i="0" u="none" strike="noStrike" noProof="0" dirty="0">
                          <a:solidFill>
                            <a:srgbClr val="2E3142"/>
                          </a:solidFill>
                          <a:latin typeface="210 OmniGothic 040"/>
                          <a:ea typeface="210 OmniGothic 040"/>
                        </a:rPr>
                        <a:t>및</a:t>
                      </a:r>
                      <a:r>
                        <a:rPr lang="en-US" altLang="ko-KR" sz="1400" b="0" i="0" u="none" strike="noStrike" noProof="0" dirty="0">
                          <a:solidFill>
                            <a:srgbClr val="2E3142"/>
                          </a:solidFill>
                          <a:latin typeface="210 OmniGothic 040"/>
                          <a:ea typeface="210 OmniGothic 040"/>
                        </a:rPr>
                        <a:t> </a:t>
                      </a:r>
                      <a:r>
                        <a:rPr lang="ko-KR" altLang="en-US" sz="1400" b="0" i="0" u="none" strike="noStrike" noProof="0" dirty="0">
                          <a:solidFill>
                            <a:srgbClr val="2E3142"/>
                          </a:solidFill>
                          <a:latin typeface="210 OmniGothic 040"/>
                          <a:ea typeface="210 OmniGothic 040"/>
                        </a:rPr>
                        <a:t>역할별</a:t>
                      </a:r>
                      <a:r>
                        <a:rPr lang="en-US" altLang="ko-KR" sz="1400" b="0" i="0" u="none" strike="noStrike" noProof="0" dirty="0">
                          <a:solidFill>
                            <a:srgbClr val="2E3142"/>
                          </a:solidFill>
                          <a:latin typeface="210 OmniGothic 040"/>
                          <a:ea typeface="210 OmniGothic 040"/>
                        </a:rPr>
                        <a:t> </a:t>
                      </a:r>
                      <a:r>
                        <a:rPr lang="en-US" sz="1400" b="0" i="0" u="none" strike="noStrike" noProof="0" dirty="0" err="1">
                          <a:solidFill>
                            <a:srgbClr val="2E3142"/>
                          </a:solidFill>
                          <a:latin typeface="210 OmniGothic 040"/>
                          <a:ea typeface="210 OmniGothic 040"/>
                        </a:rPr>
                        <a:t>권한</a:t>
                      </a:r>
                      <a:r>
                        <a:rPr lang="en-US" sz="1400" b="0" i="0" u="none" strike="noStrike" noProof="0" dirty="0">
                          <a:solidFill>
                            <a:srgbClr val="2E3142"/>
                          </a:solidFill>
                          <a:latin typeface="210 OmniGothic 040"/>
                          <a:ea typeface="210 OmniGothic 040"/>
                        </a:rPr>
                        <a:t> </a:t>
                      </a:r>
                      <a:r>
                        <a:rPr lang="ko-KR" altLang="en-US" sz="1400" b="0" i="0" u="none" strike="noStrike" noProof="0" dirty="0">
                          <a:solidFill>
                            <a:srgbClr val="2E3142"/>
                          </a:solidFill>
                          <a:latin typeface="210 OmniGothic 040"/>
                          <a:ea typeface="210 OmniGothic 040"/>
                        </a:rPr>
                        <a:t>검사</a:t>
                      </a:r>
                      <a:endParaRPr lang="en-US" sz="1400" b="0" i="0" u="none" strike="noStrike" noProof="0">
                        <a:solidFill>
                          <a:srgbClr val="000000"/>
                        </a:solidFill>
                        <a:latin typeface="210 OmniGothic 040"/>
                        <a:ea typeface="210 OmniGothic 040"/>
                      </a:endParaRPr>
                    </a:p>
                    <a:p>
                      <a:pPr lvl="0" algn="l">
                        <a:lnSpc>
                          <a:spcPct val="100000"/>
                        </a:lnSpc>
                        <a:spcBef>
                          <a:spcPts val="0"/>
                        </a:spcBef>
                        <a:spcAft>
                          <a:spcPts val="0"/>
                        </a:spcAft>
                        <a:buNone/>
                      </a:pPr>
                      <a:r>
                        <a:rPr lang="en-US" sz="1400" b="0" i="0" u="none" strike="noStrike" noProof="0" dirty="0">
                          <a:solidFill>
                            <a:srgbClr val="2E3142"/>
                          </a:solidFill>
                          <a:latin typeface="210 OmniGothic 040"/>
                          <a:ea typeface="210 OmniGothic 040"/>
                        </a:rPr>
                        <a:t>3. </a:t>
                      </a:r>
                      <a:r>
                        <a:rPr lang="ko-KR" sz="1400" b="0" i="0" u="none" strike="noStrike" noProof="0" dirty="0">
                          <a:solidFill>
                            <a:srgbClr val="2E3142"/>
                          </a:solidFill>
                          <a:latin typeface="210 OmniGothic 040"/>
                          <a:ea typeface="210 OmniGothic 040"/>
                        </a:rPr>
                        <a:t>상황 보고자의 산불 상황 보고</a:t>
                      </a:r>
                      <a:r>
                        <a:rPr lang="en-US" altLang="ko-KR" sz="1400" b="0" i="0" u="none" strike="noStrike" noProof="0" dirty="0">
                          <a:solidFill>
                            <a:srgbClr val="2E3142"/>
                          </a:solidFill>
                          <a:latin typeface="210 OmniGothic 040"/>
                          <a:ea typeface="210 OmniGothic 040"/>
                        </a:rPr>
                        <a:t> </a:t>
                      </a:r>
                      <a:r>
                        <a:rPr lang="ko-KR" sz="1400" b="0" i="0" u="none" strike="noStrike" noProof="0" dirty="0">
                          <a:solidFill>
                            <a:srgbClr val="2E3142"/>
                          </a:solidFill>
                          <a:latin typeface="210 OmniGothic 040"/>
                          <a:ea typeface="210 OmniGothic 040"/>
                        </a:rPr>
                        <a:t>검증</a:t>
                      </a:r>
                      <a:endParaRPr lang="en-US" sz="1400" b="0" i="0" u="none" strike="noStrike" noProof="0">
                        <a:solidFill>
                          <a:srgbClr val="000000"/>
                        </a:solidFill>
                        <a:latin typeface="210 OmniGothic 040"/>
                        <a:ea typeface="210 OmniGothic 040"/>
                      </a:endParaRPr>
                    </a:p>
                    <a:p>
                      <a:pPr lvl="0" algn="l">
                        <a:lnSpc>
                          <a:spcPct val="100000"/>
                        </a:lnSpc>
                        <a:spcBef>
                          <a:spcPts val="0"/>
                        </a:spcBef>
                        <a:spcAft>
                          <a:spcPts val="0"/>
                        </a:spcAft>
                        <a:buNone/>
                      </a:pPr>
                      <a:r>
                        <a:rPr lang="en-US" sz="1400" b="0" i="0" u="none" strike="noStrike" noProof="0" dirty="0">
                          <a:solidFill>
                            <a:srgbClr val="2E3142"/>
                          </a:solidFill>
                          <a:latin typeface="210 OmniGothic 040"/>
                          <a:ea typeface="210 OmniGothic 040"/>
                        </a:rPr>
                        <a:t>4. </a:t>
                      </a:r>
                      <a:r>
                        <a:rPr lang="ko-KR" altLang="en-US" sz="1400" b="0" i="0" u="none" strike="noStrike" noProof="0" dirty="0">
                          <a:solidFill>
                            <a:srgbClr val="2E3142"/>
                          </a:solidFill>
                          <a:latin typeface="210 OmniGothic 040"/>
                          <a:ea typeface="210 OmniGothic 040"/>
                        </a:rPr>
                        <a:t>확산</a:t>
                      </a:r>
                      <a:r>
                        <a:rPr lang="en-US" sz="1400" b="0" i="0" u="none" strike="noStrike" noProof="0" dirty="0">
                          <a:solidFill>
                            <a:srgbClr val="2E3142"/>
                          </a:solidFill>
                          <a:latin typeface="210 OmniGothic 040"/>
                          <a:ea typeface="210 OmniGothic 040"/>
                        </a:rPr>
                        <a:t> </a:t>
                      </a:r>
                      <a:r>
                        <a:rPr lang="ko-KR" altLang="en-US" sz="1400" b="0" i="0" u="none" strike="noStrike" noProof="0" dirty="0">
                          <a:solidFill>
                            <a:srgbClr val="2E3142"/>
                          </a:solidFill>
                          <a:latin typeface="210 OmniGothic 040"/>
                          <a:ea typeface="210 OmniGothic 040"/>
                        </a:rPr>
                        <a:t>예측</a:t>
                      </a:r>
                      <a:r>
                        <a:rPr lang="en-US" sz="1400" b="0" i="0" u="none" strike="noStrike" noProof="0" dirty="0">
                          <a:solidFill>
                            <a:srgbClr val="2E3142"/>
                          </a:solidFill>
                          <a:latin typeface="210 OmniGothic 040"/>
                          <a:ea typeface="210 OmniGothic 040"/>
                        </a:rPr>
                        <a:t>→</a:t>
                      </a:r>
                      <a:r>
                        <a:rPr lang="ko-KR" altLang="en-US" sz="1400" b="0" i="0" u="none" strike="noStrike" noProof="0" dirty="0">
                          <a:solidFill>
                            <a:srgbClr val="2E3142"/>
                          </a:solidFill>
                          <a:latin typeface="210 OmniGothic 040"/>
                          <a:ea typeface="210 OmniGothic 040"/>
                        </a:rPr>
                        <a:t>진화</a:t>
                      </a:r>
                      <a:r>
                        <a:rPr lang="en-US" sz="1400" b="0" i="0" u="none" strike="noStrike" noProof="0" dirty="0">
                          <a:solidFill>
                            <a:srgbClr val="2E3142"/>
                          </a:solidFill>
                          <a:latin typeface="210 OmniGothic 040"/>
                          <a:ea typeface="210 OmniGothic 040"/>
                        </a:rPr>
                        <a:t>·</a:t>
                      </a:r>
                      <a:r>
                        <a:rPr lang="ko-KR" altLang="en-US" sz="1400" b="0" i="0" u="none" strike="noStrike" noProof="0" dirty="0">
                          <a:solidFill>
                            <a:srgbClr val="2E3142"/>
                          </a:solidFill>
                          <a:latin typeface="210 OmniGothic 040"/>
                          <a:ea typeface="210 OmniGothic 040"/>
                        </a:rPr>
                        <a:t>대피</a:t>
                      </a:r>
                      <a:r>
                        <a:rPr lang="en-US" sz="1400" b="0" i="0" u="none" strike="noStrike" noProof="0" dirty="0">
                          <a:solidFill>
                            <a:srgbClr val="2E3142"/>
                          </a:solidFill>
                          <a:latin typeface="210 OmniGothic 040"/>
                          <a:ea typeface="210 OmniGothic 040"/>
                        </a:rPr>
                        <a:t> </a:t>
                      </a:r>
                      <a:r>
                        <a:rPr lang="ko-KR" altLang="en-US" sz="1400" b="0" i="0" u="none" strike="noStrike" noProof="0" dirty="0">
                          <a:solidFill>
                            <a:srgbClr val="2E3142"/>
                          </a:solidFill>
                          <a:latin typeface="210 OmniGothic 040"/>
                          <a:ea typeface="210 OmniGothic 040"/>
                        </a:rPr>
                        <a:t>제안</a:t>
                      </a:r>
                      <a:r>
                        <a:rPr lang="en-US" sz="1400" b="0" i="0" u="none" strike="noStrike" noProof="0" dirty="0">
                          <a:solidFill>
                            <a:srgbClr val="2E3142"/>
                          </a:solidFill>
                          <a:latin typeface="210 OmniGothic 040"/>
                          <a:ea typeface="210 OmniGothic 040"/>
                        </a:rPr>
                        <a:t> </a:t>
                      </a:r>
                      <a:r>
                        <a:rPr lang="ko-KR" altLang="en-US" sz="1400" b="0" i="0" u="none" strike="noStrike" noProof="0" dirty="0">
                          <a:solidFill>
                            <a:srgbClr val="2E3142"/>
                          </a:solidFill>
                          <a:latin typeface="210 OmniGothic 040"/>
                          <a:ea typeface="210 OmniGothic 040"/>
                        </a:rPr>
                        <a:t>생성</a:t>
                      </a:r>
                      <a:r>
                        <a:rPr lang="en-US" sz="1400" b="0" i="0" u="none" strike="noStrike" noProof="0" dirty="0">
                          <a:solidFill>
                            <a:srgbClr val="2E3142"/>
                          </a:solidFill>
                          <a:latin typeface="210 OmniGothic 040"/>
                          <a:ea typeface="210 OmniGothic 040"/>
                        </a:rPr>
                        <a:t> </a:t>
                      </a:r>
                      <a:r>
                        <a:rPr lang="ko-KR" altLang="en-US" sz="1400" b="0" i="0" u="none" strike="noStrike" noProof="0" dirty="0">
                          <a:solidFill>
                            <a:srgbClr val="2E3142"/>
                          </a:solidFill>
                          <a:latin typeface="210 OmniGothic 040"/>
                          <a:ea typeface="210 OmniGothic 040"/>
                        </a:rPr>
                        <a:t>흐름</a:t>
                      </a:r>
                      <a:r>
                        <a:rPr lang="en-US" sz="1400" b="0" i="0" u="none" strike="noStrike" noProof="0" dirty="0">
                          <a:solidFill>
                            <a:srgbClr val="2E3142"/>
                          </a:solidFill>
                          <a:latin typeface="210 OmniGothic 040"/>
                          <a:ea typeface="210 OmniGothic 040"/>
                        </a:rPr>
                        <a:t> </a:t>
                      </a:r>
                      <a:r>
                        <a:rPr lang="ko-KR" altLang="en-US" sz="1400" b="0" i="0" u="none" strike="noStrike" noProof="0" dirty="0">
                          <a:solidFill>
                            <a:srgbClr val="2E3142"/>
                          </a:solidFill>
                          <a:latin typeface="210 OmniGothic 040"/>
                          <a:ea typeface="210 OmniGothic 040"/>
                        </a:rPr>
                        <a:t>검증</a:t>
                      </a:r>
                      <a:endParaRPr lang="ko-KR" altLang="en-US" sz="1400" b="0" i="0" u="none" strike="noStrike" noProof="0">
                        <a:solidFill>
                          <a:srgbClr val="000000"/>
                        </a:solidFill>
                        <a:latin typeface="210 OmniGothic 040"/>
                        <a:ea typeface="210 OmniGothic 040"/>
                      </a:endParaRPr>
                    </a:p>
                    <a:p>
                      <a:pPr lvl="0" algn="l">
                        <a:lnSpc>
                          <a:spcPct val="100000"/>
                        </a:lnSpc>
                        <a:spcBef>
                          <a:spcPts val="0"/>
                        </a:spcBef>
                        <a:spcAft>
                          <a:spcPts val="0"/>
                        </a:spcAft>
                        <a:buNone/>
                      </a:pPr>
                      <a:r>
                        <a:rPr lang="en-US" sz="1400" b="0" i="0" u="none" strike="noStrike" noProof="0" dirty="0">
                          <a:solidFill>
                            <a:srgbClr val="2E3142"/>
                          </a:solidFill>
                          <a:latin typeface="210 OmniGothic 040"/>
                          <a:ea typeface="210 OmniGothic 040"/>
                        </a:rPr>
                        <a:t>5. </a:t>
                      </a:r>
                      <a:r>
                        <a:rPr lang="en-US" sz="1400" b="0" i="0" u="none" strike="noStrike" noProof="0" dirty="0" err="1">
                          <a:solidFill>
                            <a:srgbClr val="2E3142"/>
                          </a:solidFill>
                          <a:latin typeface="210 OmniGothic 040"/>
                          <a:ea typeface="210 OmniGothic 040"/>
                        </a:rPr>
                        <a:t>상황</a:t>
                      </a:r>
                      <a:r>
                        <a:rPr lang="en-US" sz="1400" b="0" i="0" u="none" strike="noStrike" noProof="0" dirty="0">
                          <a:solidFill>
                            <a:srgbClr val="2E3142"/>
                          </a:solidFill>
                          <a:latin typeface="210 OmniGothic 040"/>
                          <a:ea typeface="210 OmniGothic 040"/>
                        </a:rPr>
                        <a:t> </a:t>
                      </a:r>
                      <a:r>
                        <a:rPr lang="en-US" sz="1400" b="0" i="0" u="none" strike="noStrike" noProof="0" dirty="0" err="1">
                          <a:solidFill>
                            <a:srgbClr val="2E3142"/>
                          </a:solidFill>
                          <a:latin typeface="210 OmniGothic 040"/>
                          <a:ea typeface="210 OmniGothic 040"/>
                        </a:rPr>
                        <a:t>정정</a:t>
                      </a:r>
                      <a:r>
                        <a:rPr lang="en-US" sz="1400" b="0" i="0" u="none" strike="noStrike" noProof="0" dirty="0">
                          <a:solidFill>
                            <a:srgbClr val="2E3142"/>
                          </a:solidFill>
                          <a:latin typeface="210 OmniGothic 040"/>
                          <a:ea typeface="210 OmniGothic 040"/>
                        </a:rPr>
                        <a:t> 후 </a:t>
                      </a:r>
                      <a:r>
                        <a:rPr lang="en-US" sz="1400" b="0" i="0" u="none" strike="noStrike" noProof="0" dirty="0" err="1">
                          <a:solidFill>
                            <a:srgbClr val="2E3142"/>
                          </a:solidFill>
                          <a:latin typeface="210 OmniGothic 040"/>
                          <a:ea typeface="210 OmniGothic 040"/>
                        </a:rPr>
                        <a:t>예측은</a:t>
                      </a:r>
                      <a:r>
                        <a:rPr lang="en-US" sz="1400" b="0" i="0" u="none" strike="noStrike" noProof="0" dirty="0">
                          <a:solidFill>
                            <a:srgbClr val="2E3142"/>
                          </a:solidFill>
                          <a:latin typeface="210 OmniGothic 040"/>
                          <a:ea typeface="210 OmniGothic 040"/>
                        </a:rPr>
                        <a:t> </a:t>
                      </a:r>
                      <a:r>
                        <a:rPr lang="ko-KR" altLang="en-US" sz="1400" b="0" i="0" u="none" strike="noStrike" noProof="0" dirty="0">
                          <a:solidFill>
                            <a:srgbClr val="2E3142"/>
                          </a:solidFill>
                          <a:latin typeface="210 OmniGothic 040"/>
                          <a:ea typeface="210 OmniGothic 040"/>
                        </a:rPr>
                        <a:t>유지되고</a:t>
                      </a:r>
                      <a:r>
                        <a:rPr lang="en-US" altLang="ko-KR" sz="1400" b="0" i="0" u="none" strike="noStrike" noProof="0" dirty="0">
                          <a:solidFill>
                            <a:srgbClr val="2E3142"/>
                          </a:solidFill>
                          <a:latin typeface="210 OmniGothic 040"/>
                          <a:ea typeface="210 OmniGothic 040"/>
                        </a:rPr>
                        <a:t> </a:t>
                      </a:r>
                      <a:r>
                        <a:rPr lang="en-US" sz="1400" b="0" i="0" u="none" strike="noStrike" noProof="0" dirty="0" err="1">
                          <a:solidFill>
                            <a:srgbClr val="2E3142"/>
                          </a:solidFill>
                          <a:latin typeface="210 OmniGothic 040"/>
                          <a:ea typeface="210 OmniGothic 040"/>
                        </a:rPr>
                        <a:t>제안만</a:t>
                      </a:r>
                      <a:r>
                        <a:rPr lang="en-US" sz="1400" b="0" i="0" u="none" strike="noStrike" noProof="0" dirty="0">
                          <a:solidFill>
                            <a:srgbClr val="2E3142"/>
                          </a:solidFill>
                          <a:latin typeface="210 OmniGothic 040"/>
                          <a:ea typeface="210 OmniGothic 040"/>
                        </a:rPr>
                        <a:t> </a:t>
                      </a:r>
                      <a:r>
                        <a:rPr lang="ko-KR" altLang="en-US" sz="1400" b="0" i="0" u="none" strike="noStrike" noProof="0" dirty="0" err="1">
                          <a:solidFill>
                            <a:srgbClr val="2E3142"/>
                          </a:solidFill>
                          <a:latin typeface="210 OmniGothic 040"/>
                          <a:ea typeface="210 OmniGothic 040"/>
                        </a:rPr>
                        <a:t>재생성되는지</a:t>
                      </a:r>
                      <a:r>
                        <a:rPr lang="en-US" altLang="ko-KR" sz="1400" b="0" i="0" u="none" strike="noStrike" noProof="0" dirty="0">
                          <a:solidFill>
                            <a:srgbClr val="2E3142"/>
                          </a:solidFill>
                          <a:latin typeface="210 OmniGothic 040"/>
                          <a:ea typeface="210 OmniGothic 040"/>
                        </a:rPr>
                        <a:t> </a:t>
                      </a:r>
                      <a:r>
                        <a:rPr lang="ko-KR" altLang="en-US" sz="1400" b="0" i="0" u="none" strike="noStrike" noProof="0" dirty="0">
                          <a:solidFill>
                            <a:srgbClr val="2E3142"/>
                          </a:solidFill>
                          <a:latin typeface="210 OmniGothic 040"/>
                          <a:ea typeface="210 OmniGothic 040"/>
                        </a:rPr>
                        <a:t>확인</a:t>
                      </a:r>
                      <a:endParaRPr lang="ko-KR" altLang="en-US" sz="1400" b="0" i="0" u="none" strike="noStrike" noProof="0">
                        <a:solidFill>
                          <a:srgbClr val="000000"/>
                        </a:solidFill>
                        <a:latin typeface="210 OmniGothic 040"/>
                        <a:ea typeface="210 OmniGothic 040"/>
                      </a:endParaRPr>
                    </a:p>
                    <a:p>
                      <a:pPr lvl="0" algn="l">
                        <a:lnSpc>
                          <a:spcPct val="100000"/>
                        </a:lnSpc>
                        <a:spcBef>
                          <a:spcPts val="0"/>
                        </a:spcBef>
                        <a:spcAft>
                          <a:spcPts val="0"/>
                        </a:spcAft>
                        <a:buNone/>
                      </a:pPr>
                      <a:r>
                        <a:rPr lang="en-US" altLang="ko-KR" sz="1400" b="0" i="0" u="none" strike="noStrike" noProof="0" dirty="0">
                          <a:solidFill>
                            <a:srgbClr val="2E3142"/>
                          </a:solidFill>
                          <a:latin typeface="210 OmniGothic 040"/>
                          <a:ea typeface="210 OmniGothic 040"/>
                        </a:rPr>
                        <a:t>6. </a:t>
                      </a:r>
                      <a:r>
                        <a:rPr lang="ko-KR" altLang="en-US" sz="1400" b="0" i="0" u="none" strike="noStrike" noProof="0" dirty="0">
                          <a:solidFill>
                            <a:srgbClr val="2E3142"/>
                          </a:solidFill>
                          <a:latin typeface="210 OmniGothic 040"/>
                          <a:ea typeface="210 OmniGothic 040"/>
                        </a:rPr>
                        <a:t>제안</a:t>
                      </a:r>
                      <a:r>
                        <a:rPr lang="en-US" altLang="ko-KR" sz="1400" b="0" i="0" u="none" strike="noStrike" noProof="0" dirty="0">
                          <a:solidFill>
                            <a:srgbClr val="2E3142"/>
                          </a:solidFill>
                          <a:latin typeface="210 OmniGothic 040"/>
                          <a:ea typeface="210 OmniGothic 040"/>
                        </a:rPr>
                        <a:t> </a:t>
                      </a:r>
                      <a:r>
                        <a:rPr lang="ko-KR" altLang="en-US" sz="1400" b="0" i="0" u="none" strike="noStrike" noProof="0" dirty="0">
                          <a:solidFill>
                            <a:srgbClr val="2E3142"/>
                          </a:solidFill>
                          <a:latin typeface="210 OmniGothic 040"/>
                          <a:ea typeface="210 OmniGothic 040"/>
                        </a:rPr>
                        <a:t>근거</a:t>
                      </a:r>
                      <a:r>
                        <a:rPr lang="en-US" altLang="ko-KR" sz="1400" b="0" i="0" u="none" strike="noStrike" noProof="0" dirty="0">
                          <a:solidFill>
                            <a:srgbClr val="2E3142"/>
                          </a:solidFill>
                          <a:latin typeface="210 OmniGothic 040"/>
                          <a:ea typeface="210 OmniGothic 040"/>
                        </a:rPr>
                        <a:t> </a:t>
                      </a:r>
                      <a:r>
                        <a:rPr lang="ko-KR" altLang="en-US" sz="1400" b="0" i="0" u="none" strike="noStrike" noProof="0" dirty="0">
                          <a:solidFill>
                            <a:srgbClr val="2E3142"/>
                          </a:solidFill>
                          <a:latin typeface="210 OmniGothic 040"/>
                          <a:ea typeface="210 OmniGothic 040"/>
                        </a:rPr>
                        <a:t>번호와</a:t>
                      </a:r>
                      <a:r>
                        <a:rPr lang="en-US" altLang="ko-KR" sz="1400" b="0" i="0" u="none" strike="noStrike" noProof="0" dirty="0">
                          <a:solidFill>
                            <a:srgbClr val="2E3142"/>
                          </a:solidFill>
                          <a:latin typeface="210 OmniGothic 040"/>
                          <a:ea typeface="210 OmniGothic 040"/>
                        </a:rPr>
                        <a:t> </a:t>
                      </a:r>
                      <a:r>
                        <a:rPr lang="ko-KR" altLang="en-US" sz="1400" b="0" i="0" u="none" strike="noStrike" noProof="0" dirty="0">
                          <a:solidFill>
                            <a:srgbClr val="2E3142"/>
                          </a:solidFill>
                          <a:latin typeface="210 OmniGothic 040"/>
                          <a:ea typeface="210 OmniGothic 040"/>
                        </a:rPr>
                        <a:t>실제</a:t>
                      </a:r>
                      <a:r>
                        <a:rPr lang="en-US" altLang="ko-KR" sz="1400" b="0" i="0" u="none" strike="noStrike" noProof="0" dirty="0">
                          <a:solidFill>
                            <a:srgbClr val="2E3142"/>
                          </a:solidFill>
                          <a:latin typeface="210 OmniGothic 040"/>
                          <a:ea typeface="210 OmniGothic 040"/>
                        </a:rPr>
                        <a:t> </a:t>
                      </a:r>
                      <a:r>
                        <a:rPr lang="ko-KR" altLang="en-US" sz="1400" b="0" i="0" u="none" strike="noStrike" noProof="0" dirty="0">
                          <a:solidFill>
                            <a:srgbClr val="2E3142"/>
                          </a:solidFill>
                          <a:latin typeface="210 OmniGothic 040"/>
                          <a:ea typeface="210 OmniGothic 040"/>
                        </a:rPr>
                        <a:t>근거</a:t>
                      </a:r>
                      <a:r>
                        <a:rPr lang="en-US" altLang="ko-KR" sz="1400" b="0" i="0" u="none" strike="noStrike" noProof="0" dirty="0">
                          <a:solidFill>
                            <a:srgbClr val="2E3142"/>
                          </a:solidFill>
                          <a:latin typeface="210 OmniGothic 040"/>
                          <a:ea typeface="210 OmniGothic 040"/>
                        </a:rPr>
                        <a:t> </a:t>
                      </a:r>
                      <a:r>
                        <a:rPr lang="ko-KR" altLang="en-US" sz="1400" b="0" i="0" u="none" strike="noStrike" noProof="0" dirty="0">
                          <a:solidFill>
                            <a:srgbClr val="2E3142"/>
                          </a:solidFill>
                          <a:latin typeface="210 OmniGothic 040"/>
                          <a:ea typeface="210 OmniGothic 040"/>
                        </a:rPr>
                        <a:t>연결</a:t>
                      </a:r>
                      <a:r>
                        <a:rPr lang="en-US" altLang="ko-KR" sz="1400" b="0" i="0" u="none" strike="noStrike" noProof="0" dirty="0">
                          <a:solidFill>
                            <a:srgbClr val="2E3142"/>
                          </a:solidFill>
                          <a:latin typeface="210 OmniGothic 040"/>
                          <a:ea typeface="210 OmniGothic 040"/>
                        </a:rPr>
                        <a:t> </a:t>
                      </a:r>
                      <a:r>
                        <a:rPr lang="ko-KR" altLang="en-US" sz="1400" b="0" i="0" u="none" strike="noStrike" noProof="0" dirty="0">
                          <a:solidFill>
                            <a:srgbClr val="2E3142"/>
                          </a:solidFill>
                          <a:latin typeface="210 OmniGothic 040"/>
                          <a:ea typeface="210 OmniGothic 040"/>
                        </a:rPr>
                        <a:t>일치</a:t>
                      </a:r>
                      <a:r>
                        <a:rPr lang="en-US" altLang="ko-KR" sz="1400" b="0" i="0" u="none" strike="noStrike" noProof="0" dirty="0">
                          <a:solidFill>
                            <a:srgbClr val="2E3142"/>
                          </a:solidFill>
                          <a:latin typeface="210 OmniGothic 040"/>
                          <a:ea typeface="210 OmniGothic 040"/>
                        </a:rPr>
                        <a:t> </a:t>
                      </a:r>
                      <a:r>
                        <a:rPr lang="en-US" sz="1400" b="0" i="0" u="none" strike="noStrike" noProof="0" dirty="0" err="1">
                          <a:solidFill>
                            <a:srgbClr val="2E3142"/>
                          </a:solidFill>
                          <a:latin typeface="210 OmniGothic 040"/>
                          <a:ea typeface="210 OmniGothic 040"/>
                        </a:rPr>
                        <a:t>확인</a:t>
                      </a:r>
                      <a:endParaRPr lang="en-US" sz="1400" b="0" i="0" u="none" strike="noStrike" noProof="0">
                        <a:solidFill>
                          <a:srgbClr val="000000"/>
                        </a:solidFill>
                        <a:latin typeface="210 OmniGothic 040"/>
                        <a:ea typeface="210 OmniGothic 040"/>
                      </a:endParaRPr>
                    </a:p>
                    <a:p>
                      <a:pPr lvl="0" algn="l">
                        <a:lnSpc>
                          <a:spcPct val="110000"/>
                        </a:lnSpc>
                        <a:buNone/>
                      </a:pPr>
                      <a:r>
                        <a:rPr lang="en-US" sz="1400" b="0" i="0" u="none" strike="noStrike" noProof="0" dirty="0">
                          <a:solidFill>
                            <a:srgbClr val="2E3142"/>
                          </a:solidFill>
                          <a:latin typeface="210 OmniGothic 040"/>
                          <a:ea typeface="210 OmniGothic 040"/>
                        </a:rPr>
                        <a:t>7. </a:t>
                      </a:r>
                      <a:r>
                        <a:rPr lang="ko-KR" altLang="en-US" sz="1400" b="0" i="0" u="none" strike="noStrike" noProof="0" dirty="0">
                          <a:solidFill>
                            <a:srgbClr val="2E3142"/>
                          </a:solidFill>
                          <a:latin typeface="210 OmniGothic 040"/>
                          <a:ea typeface="210 OmniGothic 040"/>
                        </a:rPr>
                        <a:t>평시</a:t>
                      </a:r>
                      <a:r>
                        <a:rPr lang="en-US" sz="1400" b="0" i="0" u="none" strike="noStrike" noProof="0" dirty="0">
                          <a:solidFill>
                            <a:srgbClr val="2E3142"/>
                          </a:solidFill>
                          <a:latin typeface="210 OmniGothic 040"/>
                          <a:ea typeface="210 OmniGothic 040"/>
                        </a:rPr>
                        <a:t> </a:t>
                      </a:r>
                      <a:r>
                        <a:rPr lang="ko-KR" altLang="en-US" sz="1400" b="0" i="0" u="none" strike="noStrike" noProof="0" dirty="0">
                          <a:solidFill>
                            <a:srgbClr val="2E3142"/>
                          </a:solidFill>
                          <a:latin typeface="210 OmniGothic 040"/>
                          <a:ea typeface="210 OmniGothic 040"/>
                        </a:rPr>
                        <a:t>계정</a:t>
                      </a:r>
                      <a:r>
                        <a:rPr lang="en-US" sz="1400" b="0" i="0" u="none" strike="noStrike" noProof="0" dirty="0">
                          <a:solidFill>
                            <a:srgbClr val="2E3142"/>
                          </a:solidFill>
                          <a:latin typeface="210 OmniGothic 040"/>
                          <a:ea typeface="210 OmniGothic 040"/>
                        </a:rPr>
                        <a:t>·</a:t>
                      </a:r>
                      <a:r>
                        <a:rPr lang="ko-KR" altLang="en-US" sz="1400" b="0" i="0" u="none" strike="noStrike" noProof="0" dirty="0">
                          <a:solidFill>
                            <a:srgbClr val="2E3142"/>
                          </a:solidFill>
                          <a:latin typeface="210 OmniGothic 040"/>
                          <a:ea typeface="210 OmniGothic 040"/>
                        </a:rPr>
                        <a:t>진화자원</a:t>
                      </a:r>
                      <a:r>
                        <a:rPr lang="en-US" sz="1400" b="0" i="0" u="none" strike="noStrike" noProof="0" dirty="0">
                          <a:solidFill>
                            <a:srgbClr val="2E3142"/>
                          </a:solidFill>
                          <a:latin typeface="210 OmniGothic 040"/>
                          <a:ea typeface="210 OmniGothic 040"/>
                        </a:rPr>
                        <a:t> </a:t>
                      </a:r>
                      <a:r>
                        <a:rPr lang="ko-KR" altLang="en-US" sz="1400" b="0" i="0" u="none" strike="noStrike" noProof="0" dirty="0">
                          <a:solidFill>
                            <a:srgbClr val="2E3142"/>
                          </a:solidFill>
                          <a:latin typeface="210 OmniGothic 040"/>
                          <a:ea typeface="210 OmniGothic 040"/>
                        </a:rPr>
                        <a:t>관리</a:t>
                      </a:r>
                      <a:r>
                        <a:rPr lang="en-US" sz="1400" b="0" i="0" u="none" strike="noStrike" noProof="0" dirty="0">
                          <a:solidFill>
                            <a:srgbClr val="2E3142"/>
                          </a:solidFill>
                          <a:latin typeface="210 OmniGothic 040"/>
                          <a:ea typeface="210 OmniGothic 040"/>
                        </a:rPr>
                        <a:t> </a:t>
                      </a:r>
                      <a:r>
                        <a:rPr lang="ko-KR" altLang="en-US" sz="1400" b="0" i="0" u="none" strike="noStrike" noProof="0" dirty="0">
                          <a:solidFill>
                            <a:srgbClr val="2E3142"/>
                          </a:solidFill>
                          <a:latin typeface="210 OmniGothic 040"/>
                          <a:ea typeface="210 OmniGothic 040"/>
                        </a:rPr>
                        <a:t>기능</a:t>
                      </a:r>
                      <a:r>
                        <a:rPr lang="en-US" sz="1400" b="0" i="0" u="none" strike="noStrike" noProof="0" dirty="0">
                          <a:solidFill>
                            <a:srgbClr val="2E3142"/>
                          </a:solidFill>
                          <a:latin typeface="210 OmniGothic 040"/>
                          <a:ea typeface="210 OmniGothic 040"/>
                        </a:rPr>
                        <a:t> </a:t>
                      </a:r>
                      <a:r>
                        <a:rPr lang="ko-KR" altLang="en-US" sz="1400" b="0" i="0" u="none" strike="noStrike" noProof="0" dirty="0">
                          <a:solidFill>
                            <a:srgbClr val="2E3142"/>
                          </a:solidFill>
                          <a:latin typeface="210 OmniGothic 040"/>
                          <a:ea typeface="210 OmniGothic 040"/>
                        </a:rPr>
                        <a:t>단위</a:t>
                      </a:r>
                      <a:r>
                        <a:rPr lang="en-US" sz="1400" b="0" i="0" u="none" strike="noStrike" noProof="0" dirty="0">
                          <a:solidFill>
                            <a:srgbClr val="2E3142"/>
                          </a:solidFill>
                          <a:latin typeface="210 OmniGothic 040"/>
                          <a:ea typeface="210 OmniGothic 040"/>
                        </a:rPr>
                        <a:t> </a:t>
                      </a:r>
                      <a:r>
                        <a:rPr lang="ko-KR" altLang="en-US" sz="1400" b="0" i="0" u="none" strike="noStrike" noProof="0" dirty="0">
                          <a:solidFill>
                            <a:srgbClr val="2E3142"/>
                          </a:solidFill>
                          <a:latin typeface="210 OmniGothic 040"/>
                          <a:ea typeface="210 OmniGothic 040"/>
                        </a:rPr>
                        <a:t>테스트</a:t>
                      </a:r>
                      <a:endParaRPr lang="en-US" sz="1400" b="0" i="0" u="none" strike="noStrike" noProof="0">
                        <a:solidFill>
                          <a:srgbClr val="000000"/>
                        </a:solidFill>
                        <a:latin typeface="210 OmniGothic 040"/>
                        <a:ea typeface="210 OmniGothic 040"/>
                      </a:endParaRPr>
                    </a:p>
                    <a:p>
                      <a:pPr lvl="0" algn="l">
                        <a:lnSpc>
                          <a:spcPct val="110000"/>
                        </a:lnSpc>
                        <a:buNone/>
                      </a:pPr>
                      <a:endParaRPr lang="en-US" sz="1450" b="0" dirty="0">
                        <a:solidFill>
                          <a:srgbClr val="2E3142"/>
                        </a:solidFill>
                        <a:latin typeface="210 OmniGothic 040"/>
                        <a:ea typeface="210 OmniGothic 040"/>
                      </a:endParaRP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4"/>
                  </a:ext>
                </a:extLst>
              </a:tr>
              <a:tr h="502920">
                <a:tc gridSpan="2">
                  <a:txBody>
                    <a:bodyPr/>
                    <a:lstStyle/>
                    <a:p>
                      <a:pPr algn="ctr"/>
                      <a:r>
                        <a:rPr sz="1450" b="1" dirty="0" err="1">
                          <a:solidFill>
                            <a:srgbClr val="2E3142"/>
                          </a:solidFill>
                          <a:latin typeface="210 OmniGothic 040"/>
                          <a:ea typeface="210 OmniGothic 040"/>
                          <a:cs typeface="210 OmniGothic 040"/>
                        </a:rPr>
                        <a:t>산출정보</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endParaRP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5"/>
                  </a:ext>
                </a:extLst>
              </a:tr>
              <a:tr h="502920">
                <a:tc gridSpan="2">
                  <a:txBody>
                    <a:bodyPr/>
                    <a:lstStyle/>
                    <a:p>
                      <a:pPr algn="ctr"/>
                      <a:r>
                        <a:rPr sz="1450" b="1" dirty="0" err="1">
                          <a:solidFill>
                            <a:srgbClr val="2E3142"/>
                          </a:solidFill>
                          <a:latin typeface="210 OmniGothic 040"/>
                          <a:ea typeface="210 OmniGothic 040"/>
                          <a:cs typeface="210 OmniGothic 040"/>
                        </a:rPr>
                        <a:t>관련</a:t>
                      </a:r>
                      <a:r>
                        <a:rPr sz="1450" b="1" dirty="0">
                          <a:solidFill>
                            <a:srgbClr val="2E3142"/>
                          </a:solidFill>
                          <a:latin typeface="210 OmniGothic 040"/>
                          <a:ea typeface="210 OmniGothic 040"/>
                          <a:cs typeface="210 OmniGothic 040"/>
                        </a:rPr>
                        <a:t> </a:t>
                      </a:r>
                      <a:r>
                        <a:rPr sz="1450" b="1" dirty="0" err="1">
                          <a:solidFill>
                            <a:srgbClr val="2E3142"/>
                          </a:solidFill>
                          <a:latin typeface="210 OmniGothic 040"/>
                          <a:ea typeface="210 OmniGothic 040"/>
                          <a:cs typeface="210 OmniGothic 040"/>
                        </a:rPr>
                        <a:t>요구사항</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r>
                        <a:rPr sz="1450" b="0" dirty="0">
                          <a:solidFill>
                            <a:srgbClr val="2E3142"/>
                          </a:solidFill>
                          <a:latin typeface="210 OmniGothic 040"/>
                          <a:ea typeface="210 OmniGothic 040"/>
                          <a:cs typeface="210 OmniGothic 040"/>
                        </a:rPr>
                        <a:t>INR-003</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6"/>
                  </a:ext>
                </a:extLst>
              </a:tr>
              <a:tr h="502920">
                <a:tc gridSpan="2">
                  <a:txBody>
                    <a:bodyPr/>
                    <a:lstStyle/>
                    <a:p>
                      <a:pPr algn="ctr"/>
                      <a:r>
                        <a:rPr sz="1450" b="1" dirty="0" err="1">
                          <a:solidFill>
                            <a:srgbClr val="2E3142"/>
                          </a:solidFill>
                          <a:latin typeface="210 OmniGothic 040"/>
                          <a:ea typeface="210 OmniGothic 040"/>
                          <a:cs typeface="210 OmniGothic 040"/>
                        </a:rPr>
                        <a:t>요구사항</a:t>
                      </a:r>
                      <a:r>
                        <a:rPr sz="1450" b="1" dirty="0">
                          <a:solidFill>
                            <a:srgbClr val="2E3142"/>
                          </a:solidFill>
                          <a:latin typeface="210 OmniGothic 040"/>
                          <a:ea typeface="210 OmniGothic 040"/>
                          <a:cs typeface="210 OmniGothic 040"/>
                        </a:rPr>
                        <a:t> </a:t>
                      </a:r>
                      <a:r>
                        <a:rPr sz="1450" b="1" dirty="0" err="1">
                          <a:solidFill>
                            <a:srgbClr val="2E3142"/>
                          </a:solidFill>
                          <a:latin typeface="210 OmniGothic 040"/>
                          <a:ea typeface="210 OmniGothic 040"/>
                          <a:cs typeface="210 OmniGothic 040"/>
                        </a:rPr>
                        <a:t>출처</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r>
                        <a:rPr sz="1450" b="0" dirty="0" err="1">
                          <a:solidFill>
                            <a:srgbClr val="2E3142"/>
                          </a:solidFill>
                          <a:latin typeface="210 OmniGothic 040"/>
                          <a:ea typeface="210 OmniGothic 040"/>
                          <a:cs typeface="210 OmniGothic 040"/>
                        </a:rPr>
                        <a:t>테스트</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요구사항</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06"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700" y="-12700"/>
            <a:ext cx="18313400" cy="1638300"/>
          </a:xfrm>
          <a:prstGeom prst="rect">
            <a:avLst/>
          </a:prstGeom>
        </p:spPr>
      </p:pic>
      <p:pic>
        <p:nvPicPr>
          <p:cNvPr id="5507"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28" y="1618343"/>
            <a:ext cx="18313400" cy="8699500"/>
          </a:xfrm>
          <a:prstGeom prst="rect">
            <a:avLst/>
          </a:prstGeom>
        </p:spPr>
      </p:pic>
      <p:pic>
        <p:nvPicPr>
          <p:cNvPr id="5508"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58800" y="9271000"/>
            <a:ext cx="17170400" cy="50800"/>
          </a:xfrm>
          <a:prstGeom prst="rect">
            <a:avLst/>
          </a:prstGeom>
        </p:spPr>
      </p:pic>
      <p:pic>
        <p:nvPicPr>
          <p:cNvPr id="5509" name="Picture 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278100" y="203200"/>
            <a:ext cx="1676400" cy="1409700"/>
          </a:xfrm>
          <a:prstGeom prst="rect">
            <a:avLst/>
          </a:prstGeom>
        </p:spPr>
      </p:pic>
      <p:sp>
        <p:nvSpPr>
          <p:cNvPr id="5510" name="Title"/>
          <p:cNvSpPr txBox="1"/>
          <p:nvPr/>
        </p:nvSpPr>
        <p:spPr>
          <a:xfrm>
            <a:off x="822960" y="384048"/>
            <a:ext cx="13258800" cy="877824"/>
          </a:xfrm>
          <a:prstGeom prst="rect">
            <a:avLst/>
          </a:prstGeom>
          <a:noFill/>
        </p:spPr>
        <p:txBody>
          <a:bodyPr wrap="square" lIns="0" tIns="0" rIns="0" bIns="0" anchor="ctr">
            <a:spAutoFit/>
          </a:bodyPr>
          <a:lstStyle/>
          <a:p>
            <a:pPr algn="l"/>
            <a:r>
              <a:rPr sz="4400" b="0">
                <a:solidFill>
                  <a:srgbClr val="FAA95A"/>
                </a:solidFill>
                <a:latin typeface="210 OmniGothic 050"/>
                <a:ea typeface="210 OmniGothic 050"/>
                <a:cs typeface="210 OmniGothic 050"/>
              </a:rPr>
              <a:t>07. 비기능 요구사항</a:t>
            </a:r>
          </a:p>
        </p:txBody>
      </p:sp>
      <p:sp>
        <p:nvSpPr>
          <p:cNvPr id="5511" name="Subtitle"/>
          <p:cNvSpPr txBox="1"/>
          <p:nvPr/>
        </p:nvSpPr>
        <p:spPr>
          <a:xfrm>
            <a:off x="822960" y="1764792"/>
            <a:ext cx="16642080" cy="502920"/>
          </a:xfrm>
          <a:prstGeom prst="rect">
            <a:avLst/>
          </a:prstGeom>
          <a:noFill/>
        </p:spPr>
        <p:txBody>
          <a:bodyPr wrap="square" lIns="0" tIns="0" rIns="0" bIns="0" anchor="ctr">
            <a:spAutoFit/>
          </a:bodyPr>
          <a:lstStyle/>
          <a:p>
            <a:pPr algn="ctr"/>
            <a:r>
              <a:rPr sz="2600" b="1">
                <a:solidFill>
                  <a:srgbClr val="363A52"/>
                </a:solidFill>
                <a:latin typeface="210 OmniGothic 040"/>
                <a:ea typeface="210 OmniGothic 040"/>
                <a:cs typeface="210 OmniGothic 040"/>
              </a:rPr>
              <a:t>테스트 요구사항</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sz="quarter" idx="12"/>
          </p:nvPr>
        </p:nvSpPr>
        <p:spPr/>
        <p:txBody>
          <a:bodyPr/>
          <a:lstStyle/>
          <a:p>
            <a:fld id="{B6F15528-21DE-4FAA-801E-634DDDAF4B2B}" type="slidenum">
              <a:rPr lang="en-US" smtClean="0"/>
              <a:pPr/>
              <a:t>102</a:t>
            </a:fld>
            <a:endParaRPr lang="en-US"/>
          </a:p>
        </p:txBody>
      </p:sp>
      <p:graphicFrame>
        <p:nvGraphicFramePr>
          <p:cNvPr id="5512" name="Table 5511"/>
          <p:cNvGraphicFramePr>
            <a:graphicFrameLocks noGrp="1"/>
          </p:cNvGraphicFramePr>
          <p:nvPr/>
        </p:nvGraphicFramePr>
        <p:xfrm>
          <a:off x="2880360" y="2546604"/>
          <a:ext cx="12344400" cy="5672086"/>
        </p:xfrm>
        <a:graphic>
          <a:graphicData uri="http://schemas.openxmlformats.org/drawingml/2006/table">
            <a:tbl>
              <a:tblPr>
                <a:tableStyleId>{2D5ABB26-0587-4C30-8999-92F81FD0307C}</a:tableStyleId>
              </a:tblPr>
              <a:tblGrid>
                <a:gridCol w="245745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8286750">
                  <a:extLst>
                    <a:ext uri="{9D8B030D-6E8A-4147-A177-3AD203B41FA5}">
                      <a16:colId xmlns:a16="http://schemas.microsoft.com/office/drawing/2014/main" val="20002"/>
                    </a:ext>
                  </a:extLst>
                </a:gridCol>
              </a:tblGrid>
              <a:tr h="502920">
                <a:tc gridSpan="2">
                  <a:txBody>
                    <a:bodyPr/>
                    <a:lstStyle/>
                    <a:p>
                      <a:pPr algn="ctr"/>
                      <a:r>
                        <a:rPr sz="1450" b="1" dirty="0" err="1">
                          <a:solidFill>
                            <a:srgbClr val="2E3142"/>
                          </a:solidFill>
                          <a:latin typeface="210 OmniGothic 040"/>
                          <a:ea typeface="210 OmniGothic 040"/>
                          <a:cs typeface="210 OmniGothic 040"/>
                        </a:rPr>
                        <a:t>요구사항</a:t>
                      </a:r>
                      <a:r>
                        <a:rPr sz="1450" b="1" dirty="0">
                          <a:solidFill>
                            <a:srgbClr val="2E3142"/>
                          </a:solidFill>
                          <a:latin typeface="210 OmniGothic 040"/>
                          <a:ea typeface="210 OmniGothic 040"/>
                          <a:cs typeface="210 OmniGothic 040"/>
                        </a:rPr>
                        <a:t> </a:t>
                      </a:r>
                      <a:r>
                        <a:rPr sz="1450" b="1" dirty="0" err="1">
                          <a:solidFill>
                            <a:srgbClr val="2E3142"/>
                          </a:solidFill>
                          <a:latin typeface="210 OmniGothic 040"/>
                          <a:ea typeface="210 OmniGothic 040"/>
                          <a:cs typeface="210 OmniGothic 040"/>
                        </a:rPr>
                        <a:t>분류</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r>
                        <a:rPr sz="1450" b="0" dirty="0" err="1">
                          <a:solidFill>
                            <a:srgbClr val="2E3142"/>
                          </a:solidFill>
                          <a:latin typeface="210 OmniGothic 040"/>
                          <a:ea typeface="210 OmniGothic 040"/>
                          <a:cs typeface="210 OmniGothic 040"/>
                        </a:rPr>
                        <a:t>테스트</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요구사항</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0"/>
                  </a:ext>
                </a:extLst>
              </a:tr>
              <a:tr h="502920">
                <a:tc gridSpan="2">
                  <a:txBody>
                    <a:bodyPr/>
                    <a:lstStyle/>
                    <a:p>
                      <a:pPr algn="ctr"/>
                      <a:r>
                        <a:rPr sz="1450" b="1" dirty="0" err="1">
                          <a:solidFill>
                            <a:srgbClr val="2E3142"/>
                          </a:solidFill>
                          <a:latin typeface="210 OmniGothic 040"/>
                          <a:ea typeface="210 OmniGothic 040"/>
                          <a:cs typeface="210 OmniGothic 040"/>
                        </a:rPr>
                        <a:t>요구사항</a:t>
                      </a:r>
                      <a:r>
                        <a:rPr sz="1450" b="1" dirty="0">
                          <a:solidFill>
                            <a:srgbClr val="2E3142"/>
                          </a:solidFill>
                          <a:latin typeface="210 OmniGothic 040"/>
                          <a:ea typeface="210 OmniGothic 040"/>
                          <a:cs typeface="210 OmniGothic 040"/>
                        </a:rPr>
                        <a:t> </a:t>
                      </a:r>
                      <a:r>
                        <a:rPr sz="1450" b="1" dirty="0" err="1">
                          <a:solidFill>
                            <a:srgbClr val="2E3142"/>
                          </a:solidFill>
                          <a:latin typeface="210 OmniGothic 040"/>
                          <a:ea typeface="210 OmniGothic 040"/>
                          <a:cs typeface="210 OmniGothic 040"/>
                        </a:rPr>
                        <a:t>고유번호</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r>
                        <a:rPr sz="1450" b="0" dirty="0">
                          <a:solidFill>
                            <a:srgbClr val="2E3142"/>
                          </a:solidFill>
                          <a:latin typeface="210 OmniGothic 040"/>
                          <a:ea typeface="210 OmniGothic 040"/>
                          <a:cs typeface="210 OmniGothic 040"/>
                        </a:rPr>
                        <a:t>TER-002</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1"/>
                  </a:ext>
                </a:extLst>
              </a:tr>
              <a:tr h="502920">
                <a:tc gridSpan="2">
                  <a:txBody>
                    <a:bodyPr/>
                    <a:lstStyle/>
                    <a:p>
                      <a:pPr algn="ctr"/>
                      <a:r>
                        <a:rPr sz="1450" b="1" dirty="0" err="1">
                          <a:solidFill>
                            <a:srgbClr val="2E3142"/>
                          </a:solidFill>
                          <a:latin typeface="210 OmniGothic 040"/>
                          <a:ea typeface="210 OmniGothic 040"/>
                          <a:cs typeface="210 OmniGothic 040"/>
                        </a:rPr>
                        <a:t>요구사항</a:t>
                      </a:r>
                      <a:r>
                        <a:rPr sz="1450" b="1" dirty="0">
                          <a:solidFill>
                            <a:srgbClr val="2E3142"/>
                          </a:solidFill>
                          <a:latin typeface="210 OmniGothic 040"/>
                          <a:ea typeface="210 OmniGothic 040"/>
                          <a:cs typeface="210 OmniGothic 040"/>
                        </a:rPr>
                        <a:t> </a:t>
                      </a:r>
                      <a:r>
                        <a:rPr sz="1450" b="1" dirty="0" err="1">
                          <a:solidFill>
                            <a:srgbClr val="2E3142"/>
                          </a:solidFill>
                          <a:latin typeface="210 OmniGothic 040"/>
                          <a:ea typeface="210 OmniGothic 040"/>
                          <a:cs typeface="210 OmniGothic 040"/>
                        </a:rPr>
                        <a:t>명칭</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r>
                        <a:rPr sz="1450" b="0" dirty="0">
                          <a:solidFill>
                            <a:srgbClr val="2E3142"/>
                          </a:solidFill>
                          <a:latin typeface="210 OmniGothic 040"/>
                          <a:ea typeface="210 OmniGothic 040"/>
                          <a:cs typeface="210 OmniGothic 040"/>
                        </a:rPr>
                        <a:t>AI </a:t>
                      </a:r>
                      <a:r>
                        <a:rPr sz="1450" b="0" dirty="0" err="1">
                          <a:solidFill>
                            <a:srgbClr val="2E3142"/>
                          </a:solidFill>
                          <a:latin typeface="210 OmniGothic 040"/>
                          <a:ea typeface="210 OmniGothic 040"/>
                          <a:cs typeface="210 OmniGothic 040"/>
                        </a:rPr>
                        <a:t>모델</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평가</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2"/>
                  </a:ext>
                </a:extLst>
              </a:tr>
              <a:tr h="553212">
                <a:tc rowSpan="2">
                  <a:txBody>
                    <a:bodyPr/>
                    <a:lstStyle/>
                    <a:p>
                      <a:pPr algn="ctr"/>
                      <a:r>
                        <a:rPr sz="1450" b="1" dirty="0">
                          <a:solidFill>
                            <a:srgbClr val="2E3142"/>
                          </a:solidFill>
                          <a:latin typeface="210 OmniGothic 040"/>
                          <a:ea typeface="210 OmniGothic 040"/>
                          <a:cs typeface="210 OmniGothic 040"/>
                        </a:rPr>
                        <a:t>요구사항
</a:t>
                      </a:r>
                      <a:r>
                        <a:rPr sz="1450" b="1" dirty="0" err="1">
                          <a:solidFill>
                            <a:srgbClr val="2E3142"/>
                          </a:solidFill>
                          <a:latin typeface="210 OmniGothic 040"/>
                          <a:ea typeface="210 OmniGothic 040"/>
                          <a:cs typeface="210 OmniGothic 040"/>
                        </a:rPr>
                        <a:t>상세설명</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a:txBody>
                    <a:bodyPr/>
                    <a:lstStyle/>
                    <a:p>
                      <a:pPr algn="ctr"/>
                      <a:r>
                        <a:rPr sz="1450" b="1" dirty="0" err="1">
                          <a:solidFill>
                            <a:srgbClr val="2E3142"/>
                          </a:solidFill>
                          <a:latin typeface="210 OmniGothic 040"/>
                          <a:ea typeface="210 OmniGothic 040"/>
                          <a:cs typeface="210 OmniGothic 040"/>
                        </a:rPr>
                        <a:t>정의</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a:txBody>
                    <a:bodyPr/>
                    <a:lstStyle/>
                    <a:p>
                      <a:pPr algn="l"/>
                      <a:r>
                        <a:rPr sz="1450" b="0" dirty="0" err="1">
                          <a:solidFill>
                            <a:srgbClr val="FF0000"/>
                          </a:solidFill>
                          <a:latin typeface="210 OmniGothic 040"/>
                          <a:ea typeface="210 OmniGothic 040"/>
                          <a:cs typeface="210 OmniGothic 040"/>
                        </a:rPr>
                        <a:t>확산 </a:t>
                      </a:r>
                      <a:r>
                        <a:rPr sz="1450" b="0" dirty="0" err="1">
                          <a:solidFill>
                            <a:srgbClr val="FF0000"/>
                          </a:solidFill>
                          <a:latin typeface="210 OmniGothic 040"/>
                          <a:ea typeface="210 OmniGothic 040"/>
                          <a:cs typeface="210 OmniGothic 040"/>
                        </a:rPr>
                        <a:t>예측</a:t>
                      </a:r>
                      <a:r>
                        <a:rPr sz="1450" b="0" dirty="0" err="1">
                          <a:solidFill>
                            <a:srgbClr val="FF0000"/>
                          </a:solidFill>
                          <a:latin typeface="210 OmniGothic 040"/>
                          <a:ea typeface="210 OmniGothic 040"/>
                          <a:cs typeface="210 OmniGothic 040"/>
                        </a:rPr>
                        <a:t> 성능과 대응 제안 성능(</a:t>
                      </a:r>
                      <a:r>
                        <a:rPr sz="1450" b="0" dirty="0" err="1">
                          <a:solidFill>
                            <a:srgbClr val="2E3142"/>
                          </a:solidFill>
                          <a:latin typeface="210 OmniGothic 040"/>
                          <a:ea typeface="210 OmniGothic 040"/>
                          <a:cs typeface="210 OmniGothic 040"/>
                        </a:rPr>
                        <a:t>검색·생성</a:t>
                      </a:r>
                      <a:r>
                        <a:rPr sz="1450" b="0" dirty="0" err="1">
                          <a:solidFill>
                            <a:srgbClr val="FF0000"/>
                          </a:solidFill>
                          <a:latin typeface="210 OmniGothic 040"/>
                          <a:ea typeface="210 OmniGothic 040"/>
                          <a:cs typeface="210 OmniGothic 040"/>
                        </a:rPr>
                        <a:t>)</a:t>
                      </a:r>
                      <a:r>
                        <a:rPr sz="1450" b="0" dirty="0" err="1">
                          <a:solidFill>
                            <a:srgbClr val="2E3142"/>
                          </a:solidFill>
                          <a:latin typeface="210 OmniGothic 040"/>
                          <a:ea typeface="210 OmniGothic 040"/>
                          <a:cs typeface="210 OmniGothic 040"/>
                        </a:rPr>
                        <a:t>을</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자동</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지표로</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평가</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3"/>
                  </a:ext>
                </a:extLst>
              </a:tr>
              <a:tr h="1609344">
                <a:tc vMerge="1">
                  <a:txBody>
                    <a:bodyPr/>
                    <a:lstStyle/>
                    <a:p>
                      <a:endParaRPr/>
                    </a:p>
                  </a:txBody>
                  <a:tcPr/>
                </a:tc>
                <a:tc>
                  <a:txBody>
                    <a:bodyPr/>
                    <a:lstStyle/>
                    <a:p>
                      <a:pPr algn="ctr"/>
                      <a:r>
                        <a:rPr sz="1450" b="1" dirty="0" err="1">
                          <a:solidFill>
                            <a:srgbClr val="2E3142"/>
                          </a:solidFill>
                          <a:latin typeface="210 OmniGothic 040"/>
                          <a:ea typeface="210 OmniGothic 040"/>
                          <a:cs typeface="210 OmniGothic 040"/>
                        </a:rPr>
                        <a:t>세부</a:t>
                      </a:r>
                      <a:r>
                        <a:rPr sz="1450" b="1" dirty="0">
                          <a:solidFill>
                            <a:srgbClr val="2E3142"/>
                          </a:solidFill>
                          <a:latin typeface="210 OmniGothic 040"/>
                          <a:ea typeface="210 OmniGothic 040"/>
                          <a:cs typeface="210 OmniGothic 040"/>
                        </a:rPr>
                        <a:t> </a:t>
                      </a:r>
                      <a:r>
                        <a:rPr sz="1450" b="1" dirty="0" err="1">
                          <a:solidFill>
                            <a:srgbClr val="2E3142"/>
                          </a:solidFill>
                          <a:latin typeface="210 OmniGothic 040"/>
                          <a:ea typeface="210 OmniGothic 040"/>
                          <a:cs typeface="210 OmniGothic 040"/>
                        </a:rPr>
                        <a:t>내용</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a:txBody>
                    <a:bodyPr/>
                    <a:lstStyle/>
                    <a:p>
                      <a:pPr lvl="0" algn="l">
                        <a:lnSpc>
                          <a:spcPct val="100000"/>
                        </a:lnSpc>
                        <a:spcBef>
                          <a:spcPts val="0"/>
                        </a:spcBef>
                        <a:spcAft>
                          <a:spcPts val="0"/>
                        </a:spcAft>
                        <a:buNone/>
                      </a:pPr>
                      <a:endParaRPr lang="en-US" sz="1450" b="0" i="0" u="none" strike="noStrike" noProof="0" dirty="0">
                        <a:solidFill>
                          <a:srgbClr val="2E3142"/>
                        </a:solidFill>
                      </a:endParaRPr>
                    </a:p>
                    <a:p>
                      <a:pPr lvl="0" algn="l">
                        <a:lnSpc>
                          <a:spcPct val="100000"/>
                        </a:lnSpc>
                        <a:spcBef>
                          <a:spcPts val="0"/>
                        </a:spcBef>
                        <a:spcAft>
                          <a:spcPts val="0"/>
                        </a:spcAft>
                        <a:buNone/>
                      </a:pPr>
                      <a:r>
                        <a:rPr lang="en-US" sz="1450" b="0" i="0" u="none" strike="noStrike" noProof="0" dirty="0">
                          <a:solidFill>
                            <a:srgbClr val="FF0000"/>
                          </a:solidFill>
                          <a:latin typeface="210 OmniGothic 040"/>
                          <a:ea typeface="210 OmniGothic 040"/>
                        </a:rPr>
                        <a:t>1. </a:t>
                      </a:r>
                      <a:r>
                        <a:rPr lang="ko-KR" altLang="en-US" sz="1450" b="0" i="0" u="none" strike="noStrike" noProof="0" dirty="0">
                          <a:solidFill>
                            <a:srgbClr val="FF0000"/>
                          </a:solidFill>
                          <a:latin typeface="210 OmniGothic 040"/>
                          <a:ea typeface="210 OmniGothic 040"/>
                        </a:rPr>
                        <a:t>확산 예측은 보정에 쓰지 않은 hold-out 산불 사건, 대응 제안은 K 선택에 쓰지 않은 시험용 시나리오로 평가</a:t>
                      </a:r>
                      <a:endParaRPr lang="ko-KR" altLang="en-US">
                        <a:latin typeface="210 OmniGothic 040"/>
                        <a:ea typeface="210 OmniGothic 040"/>
                      </a:endParaRPr>
                    </a:p>
                    <a:p>
                      <a:pPr lvl="0" algn="l">
                        <a:lnSpc>
                          <a:spcPct val="100000"/>
                        </a:lnSpc>
                        <a:spcBef>
                          <a:spcPts val="0"/>
                        </a:spcBef>
                        <a:spcAft>
                          <a:spcPts val="0"/>
                        </a:spcAft>
                        <a:buNone/>
                      </a:pPr>
                      <a:r>
                        <a:rPr lang="en-US" sz="1450" b="0" i="0" u="none" strike="noStrike" noProof="0" dirty="0">
                          <a:solidFill>
                            <a:srgbClr val="FF0000"/>
                          </a:solidFill>
                          <a:latin typeface="210 OmniGothic 040"/>
                          <a:ea typeface="210 OmniGothic 040"/>
                        </a:rPr>
                        <a:t>2.</a:t>
                      </a:r>
                      <a:r>
                        <a:rPr lang="en-US" altLang="ko-KR" sz="1450" b="0" i="0" u="none" strike="noStrike" noProof="0" dirty="0">
                          <a:solidFill>
                            <a:srgbClr val="FF0000"/>
                          </a:solidFill>
                          <a:latin typeface="210 OmniGothic 040"/>
                          <a:ea typeface="210 OmniGothic 040"/>
                        </a:rPr>
                        <a:t> </a:t>
                      </a:r>
                      <a:r>
                        <a:rPr lang="ko-KR" altLang="en-US" sz="1450" b="0" i="0" u="none" strike="noStrike" noProof="0" dirty="0">
                          <a:solidFill>
                            <a:srgbClr val="FF0000"/>
                          </a:solidFill>
                          <a:latin typeface="210 OmniGothic 040"/>
                          <a:ea typeface="210 OmniGothic 040"/>
                        </a:rPr>
                        <a:t>확산 예측 성능</a:t>
                      </a:r>
                      <a:r>
                        <a:rPr lang="en-US" altLang="ko-KR" sz="1450" b="0" i="0" u="none" strike="noStrike" noProof="0" dirty="0">
                          <a:solidFill>
                            <a:srgbClr val="FF0000"/>
                          </a:solidFill>
                          <a:latin typeface="210 OmniGothic 040"/>
                          <a:ea typeface="210 OmniGothic 040"/>
                        </a:rPr>
                        <a:t> </a:t>
                      </a:r>
                      <a:r>
                        <a:rPr lang="en-US" sz="1450" b="0" i="0" u="none" strike="noStrike" noProof="0" dirty="0" err="1">
                          <a:solidFill>
                            <a:srgbClr val="FF0000"/>
                          </a:solidFill>
                          <a:latin typeface="210 OmniGothic 040"/>
                          <a:ea typeface="210 OmniGothic 040"/>
                        </a:rPr>
                        <a:t>(IoU·정밀도·재현율·F1·F2)</a:t>
                      </a:r>
                      <a:r>
                        <a:rPr lang="en-US" altLang="ko-KR" sz="1450" b="0" i="0" u="none" strike="noStrike" noProof="0" dirty="0">
                          <a:solidFill>
                            <a:srgbClr val="FF0000"/>
                          </a:solidFill>
                          <a:latin typeface="210 OmniGothic 040"/>
                          <a:ea typeface="210 OmniGothic 040"/>
                        </a:rPr>
                        <a:t> </a:t>
                      </a:r>
                      <a:r>
                        <a:rPr lang="ko-KR" altLang="en-US" sz="1450" b="0" i="0" u="none" strike="noStrike" noProof="0" dirty="0">
                          <a:solidFill>
                            <a:srgbClr val="FF0000"/>
                          </a:solidFill>
                          <a:latin typeface="210 OmniGothic 040"/>
                          <a:ea typeface="210 OmniGothic 040"/>
                        </a:rPr>
                        <a:t>측정</a:t>
                      </a:r>
                      <a:endParaRPr lang="ko-KR" dirty="0">
                        <a:latin typeface="210 OmniGothic 040"/>
                        <a:ea typeface="210 OmniGothic 040"/>
                      </a:endParaRPr>
                    </a:p>
                    <a:p>
                      <a:pPr lvl="0" algn="l">
                        <a:lnSpc>
                          <a:spcPct val="100000"/>
                        </a:lnSpc>
                        <a:spcBef>
                          <a:spcPts val="0"/>
                        </a:spcBef>
                        <a:spcAft>
                          <a:spcPts val="0"/>
                        </a:spcAft>
                        <a:buNone/>
                      </a:pPr>
                      <a:r>
                        <a:rPr lang="en-US" sz="1450" b="0" i="0" u="none" strike="noStrike" noProof="0" dirty="0">
                          <a:solidFill>
                            <a:srgbClr val="FF0000"/>
                          </a:solidFill>
                          <a:latin typeface="210 OmniGothic 040"/>
                          <a:ea typeface="210 OmniGothic 040"/>
                        </a:rPr>
                        <a:t>3.</a:t>
                      </a:r>
                      <a:r>
                        <a:rPr lang="en-US" altLang="ko-KR" sz="1450" b="0" i="0" u="none" strike="noStrike" noProof="0" dirty="0">
                          <a:solidFill>
                            <a:srgbClr val="FF0000"/>
                          </a:solidFill>
                          <a:latin typeface="210 OmniGothic 040"/>
                          <a:ea typeface="210 OmniGothic 040"/>
                        </a:rPr>
                        <a:t> </a:t>
                      </a:r>
                      <a:r>
                        <a:rPr lang="ko-KR" altLang="en-US" sz="1450" b="0" i="0" u="none" strike="noStrike" noProof="0" dirty="0">
                          <a:solidFill>
                            <a:srgbClr val="FF0000"/>
                          </a:solidFill>
                          <a:latin typeface="210 OmniGothic 040"/>
                          <a:ea typeface="210 OmniGothic 040"/>
                        </a:rPr>
                        <a:t>대응 제안 검색 성능(근거 순위 정밀도@K·필요 근거 확보율@K) 측정, K = 3·5·7·10 비교</a:t>
                      </a:r>
                    </a:p>
                    <a:p>
                      <a:pPr lvl="0" algn="l">
                        <a:lnSpc>
                          <a:spcPct val="100000"/>
                        </a:lnSpc>
                        <a:spcBef>
                          <a:spcPts val="0"/>
                        </a:spcBef>
                        <a:spcAft>
                          <a:spcPts val="0"/>
                        </a:spcAft>
                        <a:buNone/>
                      </a:pPr>
                      <a:r>
                        <a:rPr lang="en-US" sz="1450" b="0" i="0" u="none" strike="noStrike" noProof="0" dirty="0">
                          <a:solidFill>
                            <a:srgbClr val="FF0000"/>
                          </a:solidFill>
                          <a:latin typeface="210 OmniGothic 040"/>
                          <a:ea typeface="210 OmniGothic 040"/>
                        </a:rPr>
                        <a:t>4. </a:t>
                      </a:r>
                      <a:r>
                        <a:rPr lang="ko-KR" altLang="en-US" sz="1450" b="0" i="0" u="none" strike="noStrike" noProof="0" dirty="0" err="1">
                          <a:solidFill>
                            <a:srgbClr val="FF0000"/>
                          </a:solidFill>
                          <a:latin typeface="210 OmniGothic 040"/>
                          <a:ea typeface="210 OmniGothic 040"/>
                        </a:rPr>
                        <a:t>대응 제안 생성 성능(제안 근거 충실도·제안 질의 관련도) 측정, 로컬 EXAONE으로 RAGAS 채점</a:t>
                      </a:r>
                      <a:endParaRPr lang="ko-KR" dirty="0">
                        <a:latin typeface="210 OmniGothic 040"/>
                        <a:ea typeface="210 OmniGothic 040"/>
                      </a:endParaRPr>
                    </a:p>
                    <a:p>
                      <a:pPr lvl="0" algn="l">
                        <a:lnSpc>
                          <a:spcPct val="100000"/>
                        </a:lnSpc>
                        <a:spcBef>
                          <a:spcPts val="0"/>
                        </a:spcBef>
                        <a:spcAft>
                          <a:spcPts val="0"/>
                        </a:spcAft>
                        <a:buNone/>
                      </a:pPr>
                      <a:r>
                        <a:rPr lang="en-US" sz="1450" b="0" i="0" u="none" strike="noStrike" noProof="0" dirty="0">
                          <a:solidFill>
                            <a:srgbClr val="2E3142"/>
                          </a:solidFill>
                          <a:latin typeface="210 OmniGothic 040"/>
                          <a:ea typeface="210 OmniGothic 040"/>
                        </a:rPr>
                        <a:t>5.</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동일</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질의에</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대해</a:t>
                      </a:r>
                      <a:r>
                        <a:rPr lang="en-US" altLang="ko-KR" sz="1450" b="0" i="0" u="none" strike="noStrike" noProof="0" dirty="0">
                          <a:solidFill>
                            <a:srgbClr val="2E3142"/>
                          </a:solidFill>
                          <a:latin typeface="210 OmniGothic 040"/>
                          <a:ea typeface="210 OmniGothic 040"/>
                        </a:rPr>
                        <a:t> </a:t>
                      </a:r>
                      <a:r>
                        <a:rPr lang="en-US" sz="1450" b="0" i="0" u="none" strike="noStrike" noProof="0" dirty="0">
                          <a:solidFill>
                            <a:srgbClr val="2E3142"/>
                          </a:solidFill>
                          <a:latin typeface="210 OmniGothic 040"/>
                          <a:ea typeface="210 OmniGothic 040"/>
                        </a:rPr>
                        <a:t>RAG </a:t>
                      </a:r>
                      <a:r>
                        <a:rPr lang="ko-KR" altLang="en-US" sz="1450" b="0" i="0" u="none" strike="noStrike" noProof="0" dirty="0">
                          <a:solidFill>
                            <a:srgbClr val="2E3142"/>
                          </a:solidFill>
                          <a:latin typeface="210 OmniGothic 040"/>
                          <a:ea typeface="210 OmniGothic 040"/>
                        </a:rPr>
                        <a:t>적용</a:t>
                      </a:r>
                      <a:r>
                        <a:rPr lang="en-US" sz="1450" b="0" i="0" u="none" strike="noStrike" noProof="0" dirty="0">
                          <a:solidFill>
                            <a:srgbClr val="2E3142"/>
                          </a:solidFill>
                          <a:latin typeface="210 OmniGothic 040"/>
                          <a:ea typeface="210 OmniGothic 040"/>
                        </a:rPr>
                        <a:t>/</a:t>
                      </a:r>
                      <a:r>
                        <a:rPr lang="ko-KR" altLang="en-US" sz="1450" b="0" i="0" u="none" strike="noStrike" noProof="0" dirty="0">
                          <a:solidFill>
                            <a:srgbClr val="2E3142"/>
                          </a:solidFill>
                          <a:latin typeface="210 OmniGothic 040"/>
                          <a:ea typeface="210 OmniGothic 040"/>
                        </a:rPr>
                        <a:t>미적용</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비교</a:t>
                      </a:r>
                      <a:endParaRPr lang="ko-KR" dirty="0">
                        <a:latin typeface="210 OmniGothic 040"/>
                        <a:ea typeface="210 OmniGothic 040"/>
                      </a:endParaRPr>
                    </a:p>
                    <a:p>
                      <a:pPr lvl="0" algn="l">
                        <a:lnSpc>
                          <a:spcPct val="100000"/>
                        </a:lnSpc>
                        <a:spcBef>
                          <a:spcPts val="0"/>
                        </a:spcBef>
                        <a:spcAft>
                          <a:spcPts val="0"/>
                        </a:spcAft>
                        <a:buNone/>
                      </a:pPr>
                      <a:r>
                        <a:rPr lang="en-US" sz="1450" b="0" i="0" u="none" strike="noStrike" noProof="0" dirty="0">
                          <a:solidFill>
                            <a:srgbClr val="2E3142"/>
                          </a:solidFill>
                          <a:latin typeface="210 OmniGothic 040"/>
                          <a:ea typeface="210 OmniGothic 040"/>
                        </a:rPr>
                        <a:t>6.</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출력</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err="1">
                          <a:solidFill>
                            <a:srgbClr val="2E3142"/>
                          </a:solidFill>
                          <a:latin typeface="210 OmniGothic 040"/>
                          <a:ea typeface="210 OmniGothic 040"/>
                        </a:rPr>
                        <a:t>형식</a:t>
                      </a:r>
                      <a:r>
                        <a:rPr lang="en-US" sz="1450" b="0" i="0" u="none" strike="noStrike" noProof="0" dirty="0" err="1">
                          <a:solidFill>
                            <a:srgbClr val="2E3142"/>
                          </a:solidFill>
                          <a:latin typeface="210 OmniGothic 040"/>
                          <a:ea typeface="210 OmniGothic 040"/>
                        </a:rPr>
                        <a:t>·</a:t>
                      </a:r>
                      <a:r>
                        <a:rPr lang="ko-KR" altLang="en-US" sz="1450" b="0" i="0" u="none" strike="noStrike" noProof="0" dirty="0" err="1">
                          <a:solidFill>
                            <a:srgbClr val="2E3142"/>
                          </a:solidFill>
                          <a:latin typeface="210 OmniGothic 040"/>
                          <a:ea typeface="210 OmniGothic 040"/>
                        </a:rPr>
                        <a:t>근거</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번호</a:t>
                      </a:r>
                      <a:r>
                        <a:rPr lang="en-US" sz="1450" b="0" i="0" u="none" strike="noStrike" noProof="0" dirty="0">
                          <a:solidFill>
                            <a:srgbClr val="2E3142"/>
                          </a:solidFill>
                          <a:latin typeface="210 OmniGothic 040"/>
                          <a:ea typeface="210 OmniGothic 040"/>
                        </a:rPr>
                        <a:t>·</a:t>
                      </a:r>
                      <a:r>
                        <a:rPr lang="ko-KR" altLang="en-US" sz="1450" b="0" i="0" u="none" strike="noStrike" noProof="0" dirty="0">
                          <a:solidFill>
                            <a:srgbClr val="2E3142"/>
                          </a:solidFill>
                          <a:latin typeface="210 OmniGothic 040"/>
                          <a:ea typeface="210 OmniGothic 040"/>
                        </a:rPr>
                        <a:t>권한</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표기</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자동</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검사</a:t>
                      </a:r>
                      <a:endParaRPr dirty="0">
                        <a:latin typeface="210 OmniGothic 040"/>
                        <a:ea typeface="210 OmniGothic 040"/>
                      </a:endParaRPr>
                    </a:p>
                    <a:p>
                      <a:pPr lvl="0" algn="l">
                        <a:lnSpc>
                          <a:spcPct val="110000"/>
                        </a:lnSpc>
                        <a:buNone/>
                      </a:pPr>
                      <a:r>
                        <a:rPr lang="en-US" sz="1450" b="0" i="0" u="none" strike="noStrike" noProof="0" dirty="0">
                          <a:solidFill>
                            <a:srgbClr val="2E3142"/>
                          </a:solidFill>
                          <a:latin typeface="210 OmniGothic 040"/>
                          <a:ea typeface="210 OmniGothic 040"/>
                        </a:rPr>
                        <a:t>7. AI</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상황</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정정은</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변경</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대상</a:t>
                      </a:r>
                      <a:r>
                        <a:rPr lang="en-US" sz="1450" b="0" i="0" u="none" strike="noStrike" noProof="0" dirty="0">
                          <a:solidFill>
                            <a:srgbClr val="2E3142"/>
                          </a:solidFill>
                          <a:latin typeface="210 OmniGothic 040"/>
                          <a:ea typeface="210 OmniGothic 040"/>
                        </a:rPr>
                        <a:t>·</a:t>
                      </a:r>
                      <a:r>
                        <a:rPr lang="ko-KR" altLang="en-US" sz="1450" b="0" i="0" u="none" strike="noStrike" noProof="0" dirty="0">
                          <a:solidFill>
                            <a:srgbClr val="2E3142"/>
                          </a:solidFill>
                          <a:latin typeface="210 OmniGothic 040"/>
                          <a:ea typeface="210 OmniGothic 040"/>
                        </a:rPr>
                        <a:t>변경</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내용을</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올바르게</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해석하는지</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시나리오</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기반으로</a:t>
                      </a:r>
                      <a:r>
                        <a:rPr lang="en-US" altLang="ko-KR" sz="1450" b="0" i="0" u="none" strike="noStrike" noProof="0" dirty="0">
                          <a:solidFill>
                            <a:srgbClr val="2E3142"/>
                          </a:solidFill>
                          <a:latin typeface="210 OmniGothic 040"/>
                          <a:ea typeface="210 OmniGothic 040"/>
                        </a:rPr>
                        <a:t> </a:t>
                      </a:r>
                      <a:r>
                        <a:rPr lang="ko-KR" altLang="en-US" sz="1450" b="0" i="0" u="none" strike="noStrike" noProof="0" dirty="0">
                          <a:solidFill>
                            <a:srgbClr val="2E3142"/>
                          </a:solidFill>
                          <a:latin typeface="210 OmniGothic 040"/>
                          <a:ea typeface="210 OmniGothic 040"/>
                        </a:rPr>
                        <a:t>검증</a:t>
                      </a:r>
                    </a:p>
                    <a:p>
                      <a:pPr lvl="0" algn="l">
                        <a:lnSpc>
                          <a:spcPct val="110000"/>
                        </a:lnSpc>
                        <a:buNone/>
                      </a:pPr>
                      <a:endParaRPr lang="ko-KR" altLang="en-US" sz="1450" b="0" i="0" u="none" strike="noStrike" noProof="0" dirty="0">
                        <a:solidFill>
                          <a:srgbClr val="2E3142"/>
                        </a:solidFill>
                      </a:endParaRP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4"/>
                  </a:ext>
                </a:extLst>
              </a:tr>
              <a:tr h="502920">
                <a:tc gridSpan="2">
                  <a:txBody>
                    <a:bodyPr/>
                    <a:lstStyle/>
                    <a:p>
                      <a:pPr algn="ctr"/>
                      <a:r>
                        <a:rPr sz="1450" b="1" dirty="0" err="1">
                          <a:solidFill>
                            <a:srgbClr val="2E3142"/>
                          </a:solidFill>
                          <a:latin typeface="210 OmniGothic 040"/>
                          <a:ea typeface="210 OmniGothic 040"/>
                          <a:cs typeface="210 OmniGothic 040"/>
                        </a:rPr>
                        <a:t>산출정보</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r>
                        <a:rPr sz="1450" b="0" dirty="0" err="1">
                          <a:solidFill>
                            <a:srgbClr val="2E3142"/>
                          </a:solidFill>
                          <a:latin typeface="210 OmniGothic 040"/>
                          <a:ea typeface="210 OmniGothic 040"/>
                          <a:cs typeface="210 OmniGothic 040"/>
                        </a:rPr>
                        <a:t>평가</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보고서</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5"/>
                  </a:ext>
                </a:extLst>
              </a:tr>
              <a:tr h="502920">
                <a:tc gridSpan="2">
                  <a:txBody>
                    <a:bodyPr/>
                    <a:lstStyle/>
                    <a:p>
                      <a:pPr algn="ctr"/>
                      <a:r>
                        <a:rPr sz="1450" b="1" dirty="0" err="1">
                          <a:solidFill>
                            <a:srgbClr val="2E3142"/>
                          </a:solidFill>
                          <a:latin typeface="210 OmniGothic 040"/>
                          <a:ea typeface="210 OmniGothic 040"/>
                          <a:cs typeface="210 OmniGothic 040"/>
                        </a:rPr>
                        <a:t>관련</a:t>
                      </a:r>
                      <a:r>
                        <a:rPr sz="1450" b="1" dirty="0">
                          <a:solidFill>
                            <a:srgbClr val="2E3142"/>
                          </a:solidFill>
                          <a:latin typeface="210 OmniGothic 040"/>
                          <a:ea typeface="210 OmniGothic 040"/>
                          <a:cs typeface="210 OmniGothic 040"/>
                        </a:rPr>
                        <a:t> </a:t>
                      </a:r>
                      <a:r>
                        <a:rPr sz="1450" b="1" dirty="0" err="1">
                          <a:solidFill>
                            <a:srgbClr val="2E3142"/>
                          </a:solidFill>
                          <a:latin typeface="210 OmniGothic 040"/>
                          <a:ea typeface="210 OmniGothic 040"/>
                          <a:cs typeface="210 OmniGothic 040"/>
                        </a:rPr>
                        <a:t>요구사항</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r>
                        <a:rPr sz="1450" b="0" dirty="0">
                          <a:solidFill>
                            <a:srgbClr val="2E3142"/>
                          </a:solidFill>
                          <a:latin typeface="210 OmniGothic 040"/>
                          <a:ea typeface="210 OmniGothic 040"/>
                          <a:cs typeface="210 OmniGothic 040"/>
                        </a:rPr>
                        <a:t>QUR-001</a:t>
                      </a:r>
                      <a:r>
                        <a:rPr sz="1450" b="0" dirty="0">
                          <a:solidFill>
                            <a:srgbClr val="FF0000"/>
                          </a:solidFill>
                          <a:latin typeface="210 OmniGothic 040"/>
                          <a:ea typeface="210 OmniGothic 040"/>
                          <a:cs typeface="210 OmniGothic 040"/>
                        </a:rPr>
                        <a:t>, LGR-001</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6"/>
                  </a:ext>
                </a:extLst>
              </a:tr>
              <a:tr h="502920">
                <a:tc gridSpan="2">
                  <a:txBody>
                    <a:bodyPr/>
                    <a:lstStyle/>
                    <a:p>
                      <a:pPr algn="ctr"/>
                      <a:r>
                        <a:rPr sz="1450" b="1" dirty="0" err="1">
                          <a:solidFill>
                            <a:srgbClr val="2E3142"/>
                          </a:solidFill>
                          <a:latin typeface="210 OmniGothic 040"/>
                          <a:ea typeface="210 OmniGothic 040"/>
                          <a:cs typeface="210 OmniGothic 040"/>
                        </a:rPr>
                        <a:t>요구사항</a:t>
                      </a:r>
                      <a:r>
                        <a:rPr sz="1450" b="1" dirty="0">
                          <a:solidFill>
                            <a:srgbClr val="2E3142"/>
                          </a:solidFill>
                          <a:latin typeface="210 OmniGothic 040"/>
                          <a:ea typeface="210 OmniGothic 040"/>
                          <a:cs typeface="210 OmniGothic 040"/>
                        </a:rPr>
                        <a:t> </a:t>
                      </a:r>
                      <a:r>
                        <a:rPr sz="1450" b="1" dirty="0" err="1">
                          <a:solidFill>
                            <a:srgbClr val="2E3142"/>
                          </a:solidFill>
                          <a:latin typeface="210 OmniGothic 040"/>
                          <a:ea typeface="210 OmniGothic 040"/>
                          <a:cs typeface="210 OmniGothic 040"/>
                        </a:rPr>
                        <a:t>출처</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E6E9F1"/>
                    </a:solidFill>
                  </a:tcPr>
                </a:tc>
                <a:tc hMerge="1">
                  <a:txBody>
                    <a:bodyPr/>
                    <a:lstStyle/>
                    <a:p>
                      <a:endParaRPr/>
                    </a:p>
                  </a:txBody>
                  <a:tcPr/>
                </a:tc>
                <a:tc>
                  <a:txBody>
                    <a:bodyPr/>
                    <a:lstStyle/>
                    <a:p>
                      <a:pPr algn="l"/>
                      <a:r>
                        <a:rPr sz="1450" b="0" dirty="0">
                          <a:solidFill>
                            <a:srgbClr val="2E3142"/>
                          </a:solidFill>
                          <a:latin typeface="210 OmniGothic 040"/>
                          <a:ea typeface="210 OmniGothic 040"/>
                          <a:cs typeface="210 OmniGothic 040"/>
                        </a:rPr>
                        <a:t>AI </a:t>
                      </a:r>
                      <a:r>
                        <a:rPr sz="1450" b="0" dirty="0" err="1">
                          <a:solidFill>
                            <a:srgbClr val="2E3142"/>
                          </a:solidFill>
                          <a:latin typeface="210 OmniGothic 040"/>
                          <a:ea typeface="210 OmniGothic 040"/>
                          <a:cs typeface="210 OmniGothic 040"/>
                        </a:rPr>
                        <a:t>평가</a:t>
                      </a:r>
                      <a:r>
                        <a:rPr sz="1450" b="0" dirty="0">
                          <a:solidFill>
                            <a:srgbClr val="2E3142"/>
                          </a:solidFill>
                          <a:latin typeface="210 OmniGothic 040"/>
                          <a:ea typeface="210 OmniGothic 040"/>
                          <a:cs typeface="210 OmniGothic 040"/>
                        </a:rPr>
                        <a:t> </a:t>
                      </a:r>
                      <a:r>
                        <a:rPr sz="1450" b="0" dirty="0" err="1">
                          <a:solidFill>
                            <a:srgbClr val="2E3142"/>
                          </a:solidFill>
                          <a:latin typeface="210 OmniGothic 040"/>
                          <a:ea typeface="210 OmniGothic 040"/>
                          <a:cs typeface="210 OmniGothic 040"/>
                        </a:rPr>
                        <a:t>요구사항</a:t>
                      </a:r>
                    </a:p>
                  </a:txBody>
                  <a:tcPr marT="40233" marB="40233" anchor="ctr">
                    <a:lnL w="9525">
                      <a:solidFill>
                        <a:srgbClr val="B6BCCB"/>
                      </a:solidFill>
                    </a:lnL>
                    <a:lnR w="9525">
                      <a:solidFill>
                        <a:srgbClr val="B6BCCB"/>
                      </a:solidFill>
                    </a:lnR>
                    <a:lnT w="9525">
                      <a:solidFill>
                        <a:srgbClr val="B6BCCB"/>
                      </a:solidFill>
                    </a:lnT>
                    <a:lnB w="9525">
                      <a:solidFill>
                        <a:srgbClr val="B6BCCB"/>
                      </a:solidFill>
                    </a:lnB>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21"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700" y="-12700"/>
            <a:ext cx="18313400" cy="1638300"/>
          </a:xfrm>
          <a:prstGeom prst="rect">
            <a:avLst/>
          </a:prstGeom>
        </p:spPr>
      </p:pic>
      <p:pic>
        <p:nvPicPr>
          <p:cNvPr id="5522"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28" y="1618343"/>
            <a:ext cx="18313400" cy="8699500"/>
          </a:xfrm>
          <a:prstGeom prst="rect">
            <a:avLst/>
          </a:prstGeom>
        </p:spPr>
      </p:pic>
      <p:pic>
        <p:nvPicPr>
          <p:cNvPr id="5523"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58800" y="9271000"/>
            <a:ext cx="17170400" cy="50800"/>
          </a:xfrm>
          <a:prstGeom prst="rect">
            <a:avLst/>
          </a:prstGeom>
        </p:spPr>
      </p:pic>
      <p:pic>
        <p:nvPicPr>
          <p:cNvPr id="5524" name="Picture 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278100" y="203200"/>
            <a:ext cx="1676400" cy="1409700"/>
          </a:xfrm>
          <a:prstGeom prst="rect">
            <a:avLst/>
          </a:prstGeom>
        </p:spPr>
      </p:pic>
      <p:sp>
        <p:nvSpPr>
          <p:cNvPr id="5525" name="Title"/>
          <p:cNvSpPr txBox="1"/>
          <p:nvPr/>
        </p:nvSpPr>
        <p:spPr>
          <a:xfrm>
            <a:off x="822960" y="384048"/>
            <a:ext cx="13258800" cy="877824"/>
          </a:xfrm>
          <a:prstGeom prst="rect">
            <a:avLst/>
          </a:prstGeom>
          <a:noFill/>
        </p:spPr>
        <p:txBody>
          <a:bodyPr wrap="square" lIns="0" tIns="0" rIns="0" bIns="0" anchor="ctr">
            <a:spAutoFit/>
          </a:bodyPr>
          <a:lstStyle/>
          <a:p>
            <a:pPr algn="l"/>
            <a:r>
              <a:rPr sz="4400" b="0">
                <a:solidFill>
                  <a:srgbClr val="FF7B7B"/>
                </a:solidFill>
                <a:latin typeface="210 OmniGothic 050"/>
                <a:ea typeface="210 OmniGothic 050"/>
                <a:cs typeface="210 OmniGothic 050"/>
              </a:rPr>
              <a:t>07. 비기능 요구사항(AI)</a:t>
            </a:r>
          </a:p>
        </p:txBody>
      </p:sp>
      <p:sp>
        <p:nvSpPr>
          <p:cNvPr id="5526" name="Subtitle"/>
          <p:cNvSpPr txBox="1"/>
          <p:nvPr/>
        </p:nvSpPr>
        <p:spPr>
          <a:xfrm>
            <a:off x="822960" y="1764792"/>
            <a:ext cx="16642080" cy="502920"/>
          </a:xfrm>
          <a:prstGeom prst="rect">
            <a:avLst/>
          </a:prstGeom>
          <a:noFill/>
        </p:spPr>
        <p:txBody>
          <a:bodyPr wrap="square" lIns="0" tIns="0" rIns="0" bIns="0" anchor="ctr">
            <a:spAutoFit/>
          </a:bodyPr>
          <a:lstStyle/>
          <a:p>
            <a:pPr algn="ctr"/>
            <a:r>
              <a:rPr sz="2600" b="1">
                <a:solidFill>
                  <a:srgbClr val="FF0000"/>
                </a:solidFill>
                <a:latin typeface="210 OmniGothic 040"/>
                <a:ea typeface="210 OmniGothic 040"/>
                <a:cs typeface="210 OmniGothic 040"/>
              </a:rPr>
              <a:t>확산 예측 성능 지표 및 하한선</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sz="quarter" idx="12"/>
          </p:nvPr>
        </p:nvSpPr>
        <p:spPr/>
        <p:txBody>
          <a:bodyPr/>
          <a:lstStyle/>
          <a:p>
            <a:fld id="{B6F15528-21DE-4FAA-801E-634DDDAF4B2B}" type="slidenum">
              <a:rPr lang="en-US" smtClean="0"/>
              <a:pPr/>
              <a:t>103</a:t>
            </a:fld>
            <a:endParaRPr lang="en-US"/>
          </a:p>
        </p:txBody>
      </p:sp>
      <p:graphicFrame>
        <p:nvGraphicFramePr>
          <p:cNvPr id="5527" name="Table 5526"/>
          <p:cNvGraphicFramePr>
            <a:graphicFrameLocks noGrp="1"/>
          </p:cNvGraphicFramePr>
          <p:nvPr/>
        </p:nvGraphicFramePr>
        <p:xfrm>
          <a:off x="822960" y="2496312"/>
          <a:ext cx="16459200" cy="4082219"/>
        </p:xfrm>
        <a:graphic>
          <a:graphicData uri="http://schemas.openxmlformats.org/drawingml/2006/table">
            <a:tbl>
              <a:tblPr>
                <a:tableStyleId>{2D5ABB26-0587-4C30-8999-92F81FD0307C}</a:tableStyleId>
              </a:tblPr>
              <a:tblGrid>
                <a:gridCol w="2240280">
                  <a:extLst>
                    <a:ext uri="{9D8B030D-6E8A-4147-A177-3AD203B41FA5}">
                      <a16:colId xmlns:a16="http://schemas.microsoft.com/office/drawing/2014/main" val="20001"/>
                    </a:ext>
                  </a:extLst>
                </a:gridCol>
                <a:gridCol w="160020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2"/>
                    </a:ext>
                  </a:extLst>
                </a:gridCol>
                <a:gridCol w="1051560">
                  <a:extLst>
                    <a:ext uri="{9D8B030D-6E8A-4147-A177-3AD203B41FA5}">
                      <a16:colId xmlns:a16="http://schemas.microsoft.com/office/drawing/2014/main" val="20003"/>
                    </a:ext>
                  </a:extLst>
                </a:gridCol>
                <a:gridCol w="7269480">
                  <a:extLst>
                    <a:ext uri="{9D8B030D-6E8A-4147-A177-3AD203B41FA5}">
                      <a16:colId xmlns:a16="http://schemas.microsoft.com/office/drawing/2014/main" val="20004"/>
                    </a:ext>
                  </a:extLst>
                </a:gridCol>
              </a:tblGrid>
              <a:tr h="382219">
                <a:tc>
                  <a:txBody>
                    <a:bodyPr/>
                    <a:lstStyle/>
                    <a:p>
                      <a:pPr algn="ctr"/>
                      <a:r>
                        <a:rPr lang="ko-KR" sz="1400" b="1">
                          <a:solidFill>
                            <a:srgbClr val="FF7B7B"/>
                          </a:solidFill>
                          <a:latin typeface="210 OmniGothic 040"/>
                          <a:ea typeface="210 OmniGothic 040"/>
                          <a:cs typeface="210 OmniGothic 040"/>
                        </a:rPr>
                        <a:t>성능</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tc>
                  <a:txBody>
                    <a:bodyPr/>
                    <a:lstStyle/>
                    <a:p>
                      <a:pPr algn="ctr"/>
                      <a:r>
                        <a:rPr lang="ko-KR" sz="1400" b="1">
                          <a:solidFill>
                            <a:srgbClr val="FF7B7B"/>
                          </a:solidFill>
                          <a:latin typeface="210 OmniGothic 040"/>
                          <a:ea typeface="210 OmniGothic 040"/>
                          <a:cs typeface="210 OmniGothic 040"/>
                        </a:rPr>
                        <a:t>성능 지표</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tc>
                  <a:txBody>
                    <a:bodyPr/>
                    <a:lstStyle/>
                    <a:p>
                      <a:pPr algn="ctr"/>
                      <a:r>
                        <a:rPr lang="ko-KR" sz="1400" b="1">
                          <a:solidFill>
                            <a:srgbClr val="FF7B7B"/>
                          </a:solidFill>
                          <a:latin typeface="210 OmniGothic 040"/>
                          <a:ea typeface="210 OmniGothic 040"/>
                          <a:cs typeface="210 OmniGothic 040"/>
                        </a:rPr>
                        <a:t>의미</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tc>
                  <a:txBody>
                    <a:bodyPr/>
                    <a:lstStyle/>
                    <a:p>
                      <a:pPr algn="ctr"/>
                      <a:r>
                        <a:rPr lang="ko-KR" sz="1400" b="1">
                          <a:solidFill>
                            <a:srgbClr val="FF7B7B"/>
                          </a:solidFill>
                          <a:latin typeface="210 OmniGothic 040"/>
                          <a:ea typeface="210 OmniGothic 040"/>
                          <a:cs typeface="210 OmniGothic 040"/>
                        </a:rPr>
                        <a:t>하한</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tc>
                  <a:txBody>
                    <a:bodyPr/>
                    <a:lstStyle/>
                    <a:p>
                      <a:pPr algn="ctr"/>
                      <a:r>
                        <a:rPr lang="ko-KR" sz="1400" b="1">
                          <a:solidFill>
                            <a:srgbClr val="FF7B7B"/>
                          </a:solidFill>
                          <a:latin typeface="210 OmniGothic 040"/>
                          <a:ea typeface="210 OmniGothic 040"/>
                          <a:cs typeface="210 OmniGothic 040"/>
                        </a:rPr>
                        <a:t>설정 근거 (하한이 뜻하는 것)</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extLst>
                  <a:ext uri="{0D108BD9-81ED-4DB2-BD59-A6C34878D82A}">
                    <a16:rowId xmlns:a16="http://schemas.microsoft.com/office/drawing/2014/main" val="10000"/>
                  </a:ext>
                </a:extLst>
              </a:tr>
              <a:tr h="640080">
                <a:tc>
                  <a:txBody>
                    <a:bodyPr/>
                    <a:lstStyle/>
                    <a:p>
                      <a:pPr algn="ctr"/>
                      <a:r>
                        <a:rPr lang="ko-KR" sz="1300" b="1">
                          <a:solidFill>
                            <a:srgbClr val="FF0000"/>
                          </a:solidFill>
                          <a:latin typeface="210 OmniGothic 040"/>
                          <a:ea typeface="210 OmniGothic 040"/>
                          <a:cs typeface="210 OmniGothic 040"/>
                        </a:rPr>
                        <a:t>예측 영역 일치도</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lang="ko-KR" sz="1300" b="1">
                          <a:solidFill>
                            <a:srgbClr val="FF0000"/>
                          </a:solidFill>
                          <a:latin typeface="210 OmniGothic 040"/>
                          <a:ea typeface="210 OmniGothic 040"/>
                          <a:cs typeface="210 OmniGothic 040"/>
                        </a:rPr>
                        <a:t>IoU</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lang="ko-KR" sz="1200" b="0">
                          <a:solidFill>
                            <a:srgbClr val="FF0000"/>
                          </a:solidFill>
                          <a:latin typeface="210 OmniGothic 040"/>
                          <a:ea typeface="210 OmniGothic 040"/>
                          <a:cs typeface="210 OmniGothic 040"/>
                        </a:rPr>
                        <a:t>예측 범위와 실제로 탄 범위가 겹친 정도. 넓게 잡아도, 좁게 잡아도 깎임</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lang="ko-KR" sz="1500" b="1">
                          <a:solidFill>
                            <a:srgbClr val="FF0000"/>
                          </a:solidFill>
                          <a:latin typeface="210 OmniGothic 040"/>
                          <a:ea typeface="210 OmniGothic 040"/>
                          <a:cs typeface="210 OmniGothic 040"/>
                        </a:rPr>
                        <a:t>≥ 0.582</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lang="ko-KR" sz="1200" b="0">
                          <a:solidFill>
                            <a:srgbClr val="FF0000"/>
                          </a:solidFill>
                          <a:latin typeface="210 OmniGothic 040"/>
                          <a:ea typeface="210 OmniGothic 040"/>
                          <a:cs typeface="210 OmniGothic 040"/>
                        </a:rPr>
                        <a:t>국립산림과학원이 국내 산불 35건으로 검증한 과정 기반(물리) 모형의 일치도 58.2%. 같은 계열인 본 과제 모형이 이보다 낮으면 기존 물리 모형보다 못함. FARSITE 사례 0.535*~0.616*</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1"/>
                  </a:ext>
                </a:extLst>
              </a:tr>
              <a:tr h="640080">
                <a:tc>
                  <a:txBody>
                    <a:bodyPr/>
                    <a:lstStyle/>
                    <a:p>
                      <a:pPr algn="ctr"/>
                      <a:r>
                        <a:rPr lang="ko-KR" sz="1300" b="1">
                          <a:solidFill>
                            <a:srgbClr val="FF0000"/>
                          </a:solidFill>
                          <a:latin typeface="210 OmniGothic 040"/>
                          <a:ea typeface="210 OmniGothic 040"/>
                          <a:cs typeface="210 OmniGothic 040"/>
                        </a:rPr>
                        <a:t>예측 적중률</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ctr"/>
                      <a:r>
                        <a:rPr lang="ko-KR" sz="1300" b="1">
                          <a:solidFill>
                            <a:srgbClr val="FF0000"/>
                          </a:solidFill>
                          <a:latin typeface="210 OmniGothic 040"/>
                          <a:ea typeface="210 OmniGothic 040"/>
                          <a:cs typeface="210 OmniGothic 040"/>
                        </a:rPr>
                        <a:t>정밀도</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r>
                        <a:rPr lang="ko-KR" sz="1200" b="0">
                          <a:solidFill>
                            <a:srgbClr val="FF0000"/>
                          </a:solidFill>
                          <a:latin typeface="210 OmniGothic 040"/>
                          <a:ea typeface="210 OmniGothic 040"/>
                          <a:cs typeface="210 OmniGothic 040"/>
                        </a:rPr>
                        <a:t>예측한 범위 중 실제로 탄 비율. 낮으면 불필요한 대피·진화 자원 분산</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ctr"/>
                      <a:r>
                        <a:rPr lang="ko-KR" sz="1500" b="1">
                          <a:solidFill>
                            <a:srgbClr val="FF0000"/>
                          </a:solidFill>
                          <a:latin typeface="210 OmniGothic 040"/>
                          <a:ea typeface="210 OmniGothic 040"/>
                          <a:cs typeface="210 OmniGothic 040"/>
                        </a:rPr>
                        <a:t>≥ 0.599</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r>
                        <a:rPr lang="ko-KR" sz="1200" b="0">
                          <a:solidFill>
                            <a:srgbClr val="FF0000"/>
                          </a:solidFill>
                          <a:latin typeface="210 OmniGothic 040"/>
                          <a:ea typeface="210 OmniGothic 040"/>
                          <a:cs typeface="210 OmniGothic 040"/>
                        </a:rPr>
                        <a:t>같은 검증 59.9%: 예측 범위의 약 40%는 실제로 타지 않은 과대예측이었다는 뜻. FARSITE 사례 0.550~0.553*</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2"/>
                  </a:ext>
                </a:extLst>
              </a:tr>
              <a:tr h="640080">
                <a:tc>
                  <a:txBody>
                    <a:bodyPr/>
                    <a:lstStyle/>
                    <a:p>
                      <a:pPr algn="ctr"/>
                      <a:r>
                        <a:rPr lang="ko-KR" sz="1300" b="1">
                          <a:solidFill>
                            <a:srgbClr val="FF0000"/>
                          </a:solidFill>
                          <a:latin typeface="210 OmniGothic 040"/>
                          <a:ea typeface="210 OmniGothic 040"/>
                          <a:cs typeface="210 OmniGothic 040"/>
                        </a:rPr>
                        <a:t>연소 영역 탐지율</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lang="ko-KR" sz="1300" b="1">
                          <a:solidFill>
                            <a:srgbClr val="FF0000"/>
                          </a:solidFill>
                          <a:latin typeface="210 OmniGothic 040"/>
                          <a:ea typeface="210 OmniGothic 040"/>
                          <a:cs typeface="210 OmniGothic 040"/>
                        </a:rPr>
                        <a:t>재현율</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lang="ko-KR" sz="1200" b="0">
                          <a:solidFill>
                            <a:srgbClr val="FF0000"/>
                          </a:solidFill>
                          <a:latin typeface="210 OmniGothic 040"/>
                          <a:ea typeface="210 OmniGothic 040"/>
                          <a:cs typeface="210 OmniGothic 040"/>
                        </a:rPr>
                        <a:t>실제로 탄 범위 중 예측이 잡아낸 비율. 낮으면 놓친 화선으로 인명 위험</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lang="ko-KR" sz="1500" b="1">
                          <a:solidFill>
                            <a:srgbClr val="FF0000"/>
                          </a:solidFill>
                          <a:latin typeface="210 OmniGothic 040"/>
                          <a:ea typeface="210 OmniGothic 040"/>
                          <a:cs typeface="210 OmniGothic 040"/>
                        </a:rPr>
                        <a:t>≥ 0.956</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lang="ko-KR" sz="1200" b="0">
                          <a:solidFill>
                            <a:srgbClr val="FF0000"/>
                          </a:solidFill>
                          <a:latin typeface="210 OmniGothic 040"/>
                          <a:ea typeface="210 OmniGothic 040"/>
                          <a:cs typeface="210 OmniGothic 040"/>
                        </a:rPr>
                        <a:t>같은 검증 95.6%: 실제로 탄 범위의 4% 남짓만 놓침. 물리 모형은 넓게 예측해 높게 나오므로 적중률과 함께 봄. FARSITE 사례 0.942*~0.998*</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3"/>
                  </a:ext>
                </a:extLst>
              </a:tr>
              <a:tr h="640080">
                <a:tc>
                  <a:txBody>
                    <a:bodyPr/>
                    <a:lstStyle/>
                    <a:p>
                      <a:pPr algn="ctr"/>
                      <a:r>
                        <a:rPr lang="ko-KR" sz="1300" b="1">
                          <a:solidFill>
                            <a:srgbClr val="FF0000"/>
                          </a:solidFill>
                          <a:latin typeface="210 OmniGothic 040"/>
                          <a:ea typeface="210 OmniGothic 040"/>
                          <a:cs typeface="210 OmniGothic 040"/>
                        </a:rPr>
                        <a:t>예측 종합 점수</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ctr"/>
                      <a:r>
                        <a:rPr lang="ko-KR" sz="1300" b="1">
                          <a:solidFill>
                            <a:srgbClr val="FF0000"/>
                          </a:solidFill>
                          <a:latin typeface="210 OmniGothic 040"/>
                          <a:ea typeface="210 OmniGothic 040"/>
                          <a:cs typeface="210 OmniGothic 040"/>
                        </a:rPr>
                        <a:t>F1-Score</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r>
                        <a:rPr lang="ko-KR" sz="1200" b="0">
                          <a:solidFill>
                            <a:srgbClr val="FF0000"/>
                          </a:solidFill>
                          <a:latin typeface="210 OmniGothic 040"/>
                          <a:ea typeface="210 OmniGothic 040"/>
                          <a:cs typeface="210 OmniGothic 040"/>
                        </a:rPr>
                        <a:t>적중률과 탐지율을 같은 비중으로 합친 점수. 한쪽만 높으면 낮게 나옴</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ctr"/>
                      <a:r>
                        <a:rPr lang="ko-KR" sz="1500" b="1">
                          <a:solidFill>
                            <a:srgbClr val="FF0000"/>
                          </a:solidFill>
                          <a:latin typeface="210 OmniGothic 040"/>
                          <a:ea typeface="210 OmniGothic 040"/>
                          <a:cs typeface="210 OmniGothic 040"/>
                        </a:rPr>
                        <a:t>≥ 0.699</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r>
                        <a:rPr lang="ko-KR" sz="1200" b="0">
                          <a:solidFill>
                            <a:srgbClr val="FF0000"/>
                          </a:solidFill>
                          <a:latin typeface="210 OmniGothic 040"/>
                          <a:ea typeface="210 OmniGothic 040"/>
                          <a:cs typeface="210 OmniGothic 040"/>
                        </a:rPr>
                        <a:t>같은 검증 69.9%. FARSITE 사례 Sørensen(= F1) 0.69~0.70</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4"/>
                  </a:ext>
                </a:extLst>
              </a:tr>
              <a:tr h="640080">
                <a:tc>
                  <a:txBody>
                    <a:bodyPr/>
                    <a:lstStyle/>
                    <a:p>
                      <a:pPr algn="ctr"/>
                      <a:r>
                        <a:rPr lang="ko-KR" sz="1300" b="1">
                          <a:solidFill>
                            <a:srgbClr val="FF0000"/>
                          </a:solidFill>
                          <a:latin typeface="210 OmniGothic 040"/>
                          <a:ea typeface="210 OmniGothic 040"/>
                          <a:cs typeface="210 OmniGothic 040"/>
                        </a:rPr>
                        <a:t>탐지 중심 종합 점수</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lang="ko-KR" sz="1300" b="1">
                          <a:solidFill>
                            <a:srgbClr val="FF0000"/>
                          </a:solidFill>
                          <a:latin typeface="210 OmniGothic 040"/>
                          <a:ea typeface="210 OmniGothic 040"/>
                          <a:cs typeface="210 OmniGothic 040"/>
                        </a:rPr>
                        <a:t>F2-Score</a:t>
                      </a:r>
                    </a:p>
                    <a:p>
                      <a:pPr algn="ctr"/>
                      <a:r>
                        <a:rPr lang="ko-KR" sz="1300" b="1">
                          <a:solidFill>
                            <a:srgbClr val="FF0000"/>
                          </a:solidFill>
                          <a:latin typeface="210 OmniGothic 040"/>
                          <a:ea typeface="210 OmniGothic 040"/>
                          <a:cs typeface="210 OmniGothic 040"/>
                        </a:rPr>
                        <a:t>(핵심 지표)</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lang="ko-KR" sz="1200" b="0">
                          <a:solidFill>
                            <a:srgbClr val="FF0000"/>
                          </a:solidFill>
                          <a:latin typeface="210 OmniGothic 040"/>
                          <a:ea typeface="210 OmniGothic 040"/>
                          <a:cs typeface="210 OmniGothic 040"/>
                        </a:rPr>
                        <a:t>탐지율에 적중률의 4배 비중을 둔 종합 점수. 놓친 범위를 더 크게 감점</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lang="ko-KR" sz="1500" b="1">
                          <a:solidFill>
                            <a:srgbClr val="FF0000"/>
                          </a:solidFill>
                          <a:latin typeface="210 OmniGothic 040"/>
                          <a:ea typeface="210 OmniGothic 040"/>
                          <a:cs typeface="210 OmniGothic 040"/>
                        </a:rPr>
                        <a:t>≥ 0.805</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lang="ko-KR" sz="1200" b="0">
                          <a:solidFill>
                            <a:srgbClr val="FF0000"/>
                          </a:solidFill>
                          <a:latin typeface="210 OmniGothic 040"/>
                          <a:ea typeface="210 OmniGothic 040"/>
                          <a:cs typeface="210 OmniGothic 040"/>
                        </a:rPr>
                        <a:t>같은 검증 80.5%로, 설명서도 미탐지가 인명 피해로 이어진다는 이유로 핵심 지표로 지정. FARSITE 사례 0.802*~0.826*</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5"/>
                  </a:ext>
                </a:extLst>
              </a:tr>
            </a:tbl>
          </a:graphicData>
        </a:graphic>
      </p:graphicFrame>
      <p:sp>
        <p:nvSpPr>
          <p:cNvPr id="9801" name="Card 9801"/>
          <p:cNvSpPr/>
          <p:nvPr/>
        </p:nvSpPr>
        <p:spPr>
          <a:xfrm>
            <a:off x="822960" y="6446520"/>
            <a:ext cx="5394959" cy="1783080"/>
          </a:xfrm>
          <a:prstGeom prst="roundRect">
            <a:avLst>
              <a:gd name="adj" fmla="val 10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endParaRPr/>
          </a:p>
        </p:txBody>
      </p:sp>
      <p:sp>
        <p:nvSpPr>
          <p:cNvPr id="9802" name="Card 9802"/>
          <p:cNvSpPr/>
          <p:nvPr/>
        </p:nvSpPr>
        <p:spPr>
          <a:xfrm>
            <a:off x="1097280" y="6675120"/>
            <a:ext cx="457200" cy="45720"/>
          </a:xfrm>
          <a:prstGeom prst="rect">
            <a:avLst/>
          </a:prstGeom>
          <a:solidFill>
            <a:srgbClr val="FAA95A"/>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endParaRPr/>
          </a:p>
        </p:txBody>
      </p:sp>
      <p:sp>
        <p:nvSpPr>
          <p:cNvPr id="9803" name="Card 9803"/>
          <p:cNvSpPr txBox="1"/>
          <p:nvPr/>
        </p:nvSpPr>
        <p:spPr>
          <a:xfrm>
            <a:off x="1097280" y="6793992"/>
            <a:ext cx="4846320" cy="274320"/>
          </a:xfrm>
          <a:prstGeom prst="rect">
            <a:avLst/>
          </a:prstGeom>
          <a:noFill/>
        </p:spPr>
        <p:txBody>
          <a:bodyPr wrap="square" lIns="0" tIns="0" rIns="0" bIns="0" anchor="t">
            <a:spAutoFit/>
          </a:bodyPr>
          <a:lstStyle/>
          <a:p>
            <a:pPr algn="l"/>
            <a:r>
              <a:rPr sz="1400" b="1">
                <a:solidFill>
                  <a:srgbClr val="FF0000"/>
                </a:solidFill>
                <a:latin typeface="210 OmniGothic 040"/>
                <a:ea typeface="210 OmniGothic 040"/>
                <a:cs typeface="210 OmniGothic 040"/>
              </a:rPr>
              <a:t>하한 = 국내 물리 모형 검증치</a:t>
            </a:r>
          </a:p>
        </p:txBody>
      </p:sp>
      <p:sp>
        <p:nvSpPr>
          <p:cNvPr id="9804" name="Card 9804"/>
          <p:cNvSpPr txBox="1"/>
          <p:nvPr/>
        </p:nvSpPr>
        <p:spPr>
          <a:xfrm>
            <a:off x="1097280" y="7178040"/>
            <a:ext cx="4846320" cy="868680"/>
          </a:xfrm>
          <a:prstGeom prst="rect">
            <a:avLst/>
          </a:prstGeom>
          <a:noFill/>
        </p:spPr>
        <p:txBody>
          <a:bodyPr wrap="square" lIns="0" tIns="0" rIns="0" bIns="0" anchor="t">
            <a:spAutoFit/>
          </a:bodyPr>
          <a:lstStyle/>
          <a:p>
            <a:pPr algn="l">
              <a:lnSpc>
                <a:spcPct val="120000"/>
              </a:lnSpc>
            </a:pPr>
            <a:r>
              <a:rPr sz="1150" b="0">
                <a:solidFill>
                  <a:srgbClr val="FF0000"/>
                </a:solidFill>
                <a:latin typeface="210 OmniGothic 040"/>
                <a:ea typeface="210 OmniGothic 040"/>
                <a:cs typeface="210 OmniGothic 040"/>
              </a:rPr>
              <a:t>국립산림과학원이 국내 산불 35건(화선 335개)에서 과정 기반(물리) 확산모형을 실제 화선과 비교한 성능. 본 과제도 물리 모형(ELMFIRE)을 보정해 쓰므로 최소한 이 수준은 넘어야 함. 같은 검증의 AI 모형(일치도 67.1%, 탐지 중심 종합 점수 84.0%)은 목표 참고값</a:t>
            </a:r>
          </a:p>
        </p:txBody>
      </p:sp>
      <p:sp>
        <p:nvSpPr>
          <p:cNvPr id="9805" name="Card 9805"/>
          <p:cNvSpPr/>
          <p:nvPr/>
        </p:nvSpPr>
        <p:spPr>
          <a:xfrm>
            <a:off x="6446520" y="6446520"/>
            <a:ext cx="5394959" cy="1783080"/>
          </a:xfrm>
          <a:prstGeom prst="roundRect">
            <a:avLst>
              <a:gd name="adj" fmla="val 10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endParaRPr/>
          </a:p>
        </p:txBody>
      </p:sp>
      <p:sp>
        <p:nvSpPr>
          <p:cNvPr id="9806" name="Card 9806"/>
          <p:cNvSpPr/>
          <p:nvPr/>
        </p:nvSpPr>
        <p:spPr>
          <a:xfrm>
            <a:off x="6720840" y="6675120"/>
            <a:ext cx="457200" cy="45720"/>
          </a:xfrm>
          <a:prstGeom prst="rect">
            <a:avLst/>
          </a:prstGeom>
          <a:solidFill>
            <a:srgbClr val="FAA95A"/>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endParaRPr/>
          </a:p>
        </p:txBody>
      </p:sp>
      <p:sp>
        <p:nvSpPr>
          <p:cNvPr id="9807" name="Card 9807"/>
          <p:cNvSpPr txBox="1"/>
          <p:nvPr/>
        </p:nvSpPr>
        <p:spPr>
          <a:xfrm>
            <a:off x="6720840" y="6793992"/>
            <a:ext cx="4846320" cy="274320"/>
          </a:xfrm>
          <a:prstGeom prst="rect">
            <a:avLst/>
          </a:prstGeom>
          <a:noFill/>
        </p:spPr>
        <p:txBody>
          <a:bodyPr wrap="square" lIns="0" tIns="0" rIns="0" bIns="0" anchor="t">
            <a:spAutoFit/>
          </a:bodyPr>
          <a:lstStyle/>
          <a:p>
            <a:pPr algn="l"/>
            <a:r>
              <a:rPr sz="1400" b="1">
                <a:solidFill>
                  <a:srgbClr val="FF0000"/>
                </a:solidFill>
                <a:latin typeface="210 OmniGothic 040"/>
                <a:ea typeface="210 OmniGothic 040"/>
                <a:cs typeface="210 OmniGothic 040"/>
              </a:rPr>
              <a:t>평가 데이터·시점</a:t>
            </a:r>
          </a:p>
        </p:txBody>
      </p:sp>
      <p:sp>
        <p:nvSpPr>
          <p:cNvPr id="9808" name="Card 9808"/>
          <p:cNvSpPr txBox="1"/>
          <p:nvPr/>
        </p:nvSpPr>
        <p:spPr>
          <a:xfrm>
            <a:off x="6720840" y="7178040"/>
            <a:ext cx="4846320" cy="868680"/>
          </a:xfrm>
          <a:prstGeom prst="rect">
            <a:avLst/>
          </a:prstGeom>
          <a:noFill/>
        </p:spPr>
        <p:txBody>
          <a:bodyPr wrap="square" lIns="0" tIns="0" rIns="0" bIns="0" anchor="t">
            <a:spAutoFit/>
          </a:bodyPr>
          <a:lstStyle/>
          <a:p>
            <a:pPr algn="l">
              <a:lnSpc>
                <a:spcPct val="120000"/>
              </a:lnSpc>
            </a:pPr>
            <a:r>
              <a:rPr sz="1150" b="0">
                <a:solidFill>
                  <a:srgbClr val="FF0000"/>
                </a:solidFill>
                <a:latin typeface="210 OmniGothic 040"/>
                <a:ea typeface="210 OmniGothic 040"/>
                <a:cs typeface="210 OmniGothic 040"/>
              </a:rPr>
              <a:t>연료 파라미터는 일치도(IoU)로 보정하고, 성능은 보정에 쓰지 않은 hold-out 산불 사건의 평균으로 판정. 예측 최종 시점 P8(누적 8시간)을 AI Hub 실측 최종 소실 경계와 비교(설명서는 시점별 진화상황도 화선과 비교)</a:t>
            </a:r>
          </a:p>
        </p:txBody>
      </p:sp>
      <p:sp>
        <p:nvSpPr>
          <p:cNvPr id="9809" name="Card 9809"/>
          <p:cNvSpPr/>
          <p:nvPr/>
        </p:nvSpPr>
        <p:spPr>
          <a:xfrm>
            <a:off x="12070080" y="6446520"/>
            <a:ext cx="5394959" cy="1783080"/>
          </a:xfrm>
          <a:prstGeom prst="roundRect">
            <a:avLst>
              <a:gd name="adj" fmla="val 10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endParaRPr/>
          </a:p>
        </p:txBody>
      </p:sp>
      <p:sp>
        <p:nvSpPr>
          <p:cNvPr id="9810" name="Card 9810"/>
          <p:cNvSpPr/>
          <p:nvPr/>
        </p:nvSpPr>
        <p:spPr>
          <a:xfrm>
            <a:off x="12344400" y="6675120"/>
            <a:ext cx="457200" cy="45720"/>
          </a:xfrm>
          <a:prstGeom prst="rect">
            <a:avLst/>
          </a:prstGeom>
          <a:solidFill>
            <a:srgbClr val="FAA95A"/>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endParaRPr/>
          </a:p>
        </p:txBody>
      </p:sp>
      <p:sp>
        <p:nvSpPr>
          <p:cNvPr id="9811" name="Card 9811"/>
          <p:cNvSpPr txBox="1"/>
          <p:nvPr/>
        </p:nvSpPr>
        <p:spPr>
          <a:xfrm>
            <a:off x="12344400" y="6793992"/>
            <a:ext cx="4846320" cy="274320"/>
          </a:xfrm>
          <a:prstGeom prst="rect">
            <a:avLst/>
          </a:prstGeom>
          <a:noFill/>
        </p:spPr>
        <p:txBody>
          <a:bodyPr wrap="square" lIns="0" tIns="0" rIns="0" bIns="0" anchor="t">
            <a:spAutoFit/>
          </a:bodyPr>
          <a:lstStyle/>
          <a:p>
            <a:pPr algn="l"/>
            <a:r>
              <a:rPr sz="1400" b="1">
                <a:solidFill>
                  <a:srgbClr val="FF0000"/>
                </a:solidFill>
                <a:latin typeface="210 OmniGothic 040"/>
                <a:ea typeface="210 OmniGothic 040"/>
                <a:cs typeface="210 OmniGothic 040"/>
              </a:rPr>
              <a:t>핵심 지표: 탐지 중심 종합 점수</a:t>
            </a:r>
          </a:p>
        </p:txBody>
      </p:sp>
      <p:sp>
        <p:nvSpPr>
          <p:cNvPr id="9812" name="Card 9812"/>
          <p:cNvSpPr txBox="1"/>
          <p:nvPr/>
        </p:nvSpPr>
        <p:spPr>
          <a:xfrm>
            <a:off x="12344400" y="7178040"/>
            <a:ext cx="4846320" cy="868680"/>
          </a:xfrm>
          <a:prstGeom prst="rect">
            <a:avLst/>
          </a:prstGeom>
          <a:noFill/>
        </p:spPr>
        <p:txBody>
          <a:bodyPr wrap="square" lIns="0" tIns="0" rIns="0" bIns="0" anchor="t">
            <a:spAutoFit/>
          </a:bodyPr>
          <a:lstStyle/>
          <a:p>
            <a:pPr algn="l">
              <a:lnSpc>
                <a:spcPct val="120000"/>
              </a:lnSpc>
            </a:pPr>
            <a:r>
              <a:rPr sz="1150" b="0">
                <a:solidFill>
                  <a:srgbClr val="FF0000"/>
                </a:solidFill>
                <a:latin typeface="210 OmniGothic 040"/>
                <a:ea typeface="210 OmniGothic 040"/>
                <a:cs typeface="210 OmniGothic 040"/>
              </a:rPr>
              <a:t>놓친 화선은 인명 피해로 이어지므로 탐지율에 4배 비중을 둔 F2를 핵심으로 봄. 탐지율은 넓게 예측하면 오르므로 적중률과 함께 판단</a:t>
            </a:r>
          </a:p>
        </p:txBody>
      </p:sp>
      <p:sp>
        <p:nvSpPr>
          <p:cNvPr id="9813" name="Note Ref"/>
          <p:cNvSpPr txBox="1"/>
          <p:nvPr/>
        </p:nvSpPr>
        <p:spPr>
          <a:xfrm>
            <a:off x="822960" y="8412480"/>
            <a:ext cx="16642080" cy="274320"/>
          </a:xfrm>
          <a:prstGeom prst="rect">
            <a:avLst/>
          </a:prstGeom>
          <a:noFill/>
        </p:spPr>
        <p:txBody>
          <a:bodyPr wrap="square" lIns="0" tIns="0" rIns="0" bIns="0" anchor="t">
            <a:spAutoFit/>
          </a:bodyPr>
          <a:lstStyle/>
          <a:p>
            <a:pPr algn="l">
              <a:buNone/>
            </a:pPr>
            <a:r>
              <a:rPr lang="ko-KR" altLang="en-US" sz="1050" b="0">
                <a:solidFill>
                  <a:srgbClr val="FF0000"/>
                </a:solidFill>
                <a:latin typeface="210 OmniGothic 030"/>
                <a:ea typeface="210 OmniGothic 030"/>
                <a:cs typeface="210 OmniGothic 030"/>
              </a:rPr>
              <a:t>* 논문의 일치·과대·과소 면적으로 환산한 값   검증치: 국립산림과학원(2026) 「AI 기반 산불확산예측 알고리즘 설명서」 연구자료 제1207호 p.45 표 11   FARSITE 사례: Price &amp; Germino(2022) Fire Ecology 18:23 표 2 · Jahdi 외(2015) NHESS 15:443 표 4 · Kuhnen 외(2026) Fire 9:311 표 3</a:t>
            </a:r>
            <a:endParaRPr lang="ko-KR" sz="105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21"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700" y="-12700"/>
            <a:ext cx="18313400" cy="1638300"/>
          </a:xfrm>
          <a:prstGeom prst="rect">
            <a:avLst/>
          </a:prstGeom>
        </p:spPr>
      </p:pic>
      <p:pic>
        <p:nvPicPr>
          <p:cNvPr id="5522"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28" y="1618343"/>
            <a:ext cx="18313400" cy="8699500"/>
          </a:xfrm>
          <a:prstGeom prst="rect">
            <a:avLst/>
          </a:prstGeom>
        </p:spPr>
      </p:pic>
      <p:pic>
        <p:nvPicPr>
          <p:cNvPr id="5523"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58800" y="9271000"/>
            <a:ext cx="17170400" cy="50800"/>
          </a:xfrm>
          <a:prstGeom prst="rect">
            <a:avLst/>
          </a:prstGeom>
        </p:spPr>
      </p:pic>
      <p:pic>
        <p:nvPicPr>
          <p:cNvPr id="5524" name="Picture 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278100" y="203200"/>
            <a:ext cx="1676400" cy="1409700"/>
          </a:xfrm>
          <a:prstGeom prst="rect">
            <a:avLst/>
          </a:prstGeom>
        </p:spPr>
      </p:pic>
      <p:sp>
        <p:nvSpPr>
          <p:cNvPr id="5525" name="Title"/>
          <p:cNvSpPr txBox="1"/>
          <p:nvPr/>
        </p:nvSpPr>
        <p:spPr>
          <a:xfrm>
            <a:off x="822960" y="384048"/>
            <a:ext cx="13258800" cy="877824"/>
          </a:xfrm>
          <a:prstGeom prst="rect">
            <a:avLst/>
          </a:prstGeom>
          <a:noFill/>
        </p:spPr>
        <p:txBody>
          <a:bodyPr wrap="square" lIns="0" tIns="0" rIns="0" bIns="0" anchor="ctr">
            <a:spAutoFit/>
          </a:bodyPr>
          <a:lstStyle/>
          <a:p>
            <a:pPr algn="l"/>
            <a:r>
              <a:rPr sz="4400" b="0">
                <a:solidFill>
                  <a:srgbClr val="FF7B7B"/>
                </a:solidFill>
                <a:latin typeface="210 OmniGothic 050"/>
                <a:ea typeface="210 OmniGothic 050"/>
                <a:cs typeface="210 OmniGothic 050"/>
              </a:rPr>
              <a:t>07. 비기능 요구사항(AI)</a:t>
            </a:r>
          </a:p>
        </p:txBody>
      </p:sp>
      <p:sp>
        <p:nvSpPr>
          <p:cNvPr id="5526" name="Subtitle"/>
          <p:cNvSpPr txBox="1"/>
          <p:nvPr/>
        </p:nvSpPr>
        <p:spPr>
          <a:xfrm>
            <a:off x="822960" y="1764792"/>
            <a:ext cx="16642080" cy="502920"/>
          </a:xfrm>
          <a:prstGeom prst="rect">
            <a:avLst/>
          </a:prstGeom>
          <a:noFill/>
        </p:spPr>
        <p:txBody>
          <a:bodyPr wrap="square" lIns="0" tIns="0" rIns="0" bIns="0" anchor="ctr">
            <a:spAutoFit/>
          </a:bodyPr>
          <a:lstStyle/>
          <a:p>
            <a:pPr algn="ctr"/>
            <a:r>
              <a:rPr sz="2600" b="1">
                <a:solidFill>
                  <a:srgbClr val="FF0000"/>
                </a:solidFill>
                <a:latin typeface="210 OmniGothic 040"/>
                <a:ea typeface="210 OmniGothic 040"/>
                <a:cs typeface="210 OmniGothic 040"/>
              </a:rPr>
              <a:t>대응 제안 성능 지표 및 하한선</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sz="quarter" idx="12"/>
          </p:nvPr>
        </p:nvSpPr>
        <p:spPr/>
        <p:txBody>
          <a:bodyPr/>
          <a:lstStyle/>
          <a:p>
            <a:fld id="{B6F15528-21DE-4FAA-801E-634DDDAF4B2B}" type="slidenum">
              <a:rPr lang="en-US" smtClean="0"/>
              <a:pPr/>
              <a:t>104</a:t>
            </a:fld>
            <a:endParaRPr lang="en-US"/>
          </a:p>
        </p:txBody>
      </p:sp>
      <p:graphicFrame>
        <p:nvGraphicFramePr>
          <p:cNvPr id="5527" name="Table 5526"/>
          <p:cNvGraphicFramePr>
            <a:graphicFrameLocks noGrp="1"/>
          </p:cNvGraphicFramePr>
          <p:nvPr/>
        </p:nvGraphicFramePr>
        <p:xfrm>
          <a:off x="822960" y="2496312"/>
          <a:ext cx="16459200" cy="3342219"/>
        </p:xfrm>
        <a:graphic>
          <a:graphicData uri="http://schemas.openxmlformats.org/drawingml/2006/table">
            <a:tbl>
              <a:tblPr>
                <a:tableStyleId>{2D5ABB26-0587-4C30-8999-92F81FD0307C}</a:tableStyleId>
              </a:tblPr>
              <a:tblGrid>
                <a:gridCol w="210312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gridCol w="7178040">
                  <a:extLst>
                    <a:ext uri="{9D8B030D-6E8A-4147-A177-3AD203B41FA5}">
                      <a16:colId xmlns:a16="http://schemas.microsoft.com/office/drawing/2014/main" val="20004"/>
                    </a:ext>
                  </a:extLst>
                </a:gridCol>
              </a:tblGrid>
              <a:tr h="382219">
                <a:tc>
                  <a:txBody>
                    <a:bodyPr/>
                    <a:lstStyle/>
                    <a:p>
                      <a:pPr algn="ctr"/>
                      <a:r>
                        <a:rPr lang="ko-KR" sz="1400" b="1">
                          <a:solidFill>
                            <a:srgbClr val="FF7B7B"/>
                          </a:solidFill>
                          <a:latin typeface="210 OmniGothic 040"/>
                          <a:ea typeface="210 OmniGothic 040"/>
                          <a:cs typeface="210 OmniGothic 040"/>
                        </a:rPr>
                        <a:t>성능</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tc>
                  <a:txBody>
                    <a:bodyPr/>
                    <a:lstStyle/>
                    <a:p>
                      <a:pPr algn="ctr"/>
                      <a:r>
                        <a:rPr lang="ko-KR" sz="1400" b="1">
                          <a:solidFill>
                            <a:srgbClr val="FF7B7B"/>
                          </a:solidFill>
                          <a:latin typeface="210 OmniGothic 040"/>
                          <a:ea typeface="210 OmniGothic 040"/>
                          <a:cs typeface="210 OmniGothic 040"/>
                        </a:rPr>
                        <a:t>성능 지표 (RAGAS)</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tc>
                  <a:txBody>
                    <a:bodyPr/>
                    <a:lstStyle/>
                    <a:p>
                      <a:pPr algn="ctr"/>
                      <a:r>
                        <a:rPr lang="ko-KR" sz="1400" b="1">
                          <a:solidFill>
                            <a:srgbClr val="FF7B7B"/>
                          </a:solidFill>
                          <a:latin typeface="210 OmniGothic 040"/>
                          <a:ea typeface="210 OmniGothic 040"/>
                          <a:cs typeface="210 OmniGothic 040"/>
                        </a:rPr>
                        <a:t>의미</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tc>
                  <a:txBody>
                    <a:bodyPr/>
                    <a:lstStyle/>
                    <a:p>
                      <a:pPr algn="ctr"/>
                      <a:r>
                        <a:rPr lang="ko-KR" sz="1400" b="1">
                          <a:solidFill>
                            <a:srgbClr val="FF7B7B"/>
                          </a:solidFill>
                          <a:latin typeface="210 OmniGothic 040"/>
                          <a:ea typeface="210 OmniGothic 040"/>
                          <a:cs typeface="210 OmniGothic 040"/>
                        </a:rPr>
                        <a:t>하한</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tc>
                  <a:txBody>
                    <a:bodyPr/>
                    <a:lstStyle/>
                    <a:p>
                      <a:pPr algn="ctr"/>
                      <a:r>
                        <a:rPr lang="ko-KR" sz="1400" b="1">
                          <a:solidFill>
                            <a:srgbClr val="FF7B7B"/>
                          </a:solidFill>
                          <a:latin typeface="210 OmniGothic 040"/>
                          <a:ea typeface="210 OmniGothic 040"/>
                          <a:cs typeface="210 OmniGothic 040"/>
                        </a:rPr>
                        <a:t>설정 근거 (하한이 뜻하는 것)</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extLst>
                  <a:ext uri="{0D108BD9-81ED-4DB2-BD59-A6C34878D82A}">
                    <a16:rowId xmlns:a16="http://schemas.microsoft.com/office/drawing/2014/main" val="10000"/>
                  </a:ext>
                </a:extLst>
              </a:tr>
              <a:tr h="740000">
                <a:tc>
                  <a:txBody>
                    <a:bodyPr/>
                    <a:lstStyle/>
                    <a:p>
                      <a:pPr algn="ctr"/>
                      <a:r>
                        <a:rPr lang="ko-KR" sz="1300" b="1">
                          <a:solidFill>
                            <a:srgbClr val="FF0000"/>
                          </a:solidFill>
                          <a:latin typeface="210 OmniGothic 040"/>
                          <a:ea typeface="210 OmniGothic 040"/>
                          <a:cs typeface="210 OmniGothic 040"/>
                        </a:rPr>
                        <a:t>제안 근거 충실도</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lang="ko-KR" sz="1300" b="1">
                          <a:solidFill>
                            <a:srgbClr val="FF0000"/>
                          </a:solidFill>
                          <a:latin typeface="210 OmniGothic 040"/>
                          <a:ea typeface="210 OmniGothic 040"/>
                          <a:cs typeface="210 OmniGothic 040"/>
                        </a:rPr>
                        <a:t>Faithfulness</a:t>
                      </a:r>
                    </a:p>
                    <a:p>
                      <a:pPr algn="ctr"/>
                      <a:r>
                        <a:rPr lang="ko-KR" sz="1300" b="1">
                          <a:solidFill>
                            <a:srgbClr val="FF0000"/>
                          </a:solidFill>
                          <a:latin typeface="210 OmniGothic 040"/>
                          <a:ea typeface="210 OmniGothic 040"/>
                          <a:cs typeface="210 OmniGothic 040"/>
                        </a:rPr>
                        <a:t>(생성)</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lang="ko-KR" sz="1200" b="0">
                          <a:solidFill>
                            <a:srgbClr val="FF0000"/>
                          </a:solidFill>
                          <a:latin typeface="210 OmniGothic 040"/>
                          <a:ea typeface="210 OmniGothic 040"/>
                          <a:cs typeface="210 OmniGothic 040"/>
                        </a:rPr>
                        <a:t>제안 문장의 주장 중 검색한 매뉴얼 근거로 뒷받침되는 비율. 낮으면 근거 없는 내용(환각)을 덧붙인 것</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lang="ko-KR" sz="1500" b="1">
                          <a:solidFill>
                            <a:srgbClr val="FF0000"/>
                          </a:solidFill>
                          <a:latin typeface="210 OmniGothic 040"/>
                          <a:ea typeface="210 OmniGothic 040"/>
                          <a:cs typeface="210 OmniGothic 040"/>
                        </a:rPr>
                        <a:t>≥ 0.79</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lang="ko-KR" sz="1200" b="0">
                          <a:solidFill>
                            <a:srgbClr val="FF0000"/>
                          </a:solidFill>
                          <a:latin typeface="210 OmniGothic 040"/>
                          <a:ea typeface="210 OmniGothic 040"/>
                          <a:cs typeface="210 OmniGothic 040"/>
                        </a:rPr>
                        <a:t>재난·공공 분야 RAG 연구 11편 중 하위 25% 수준(중앙값 0.845): 제안 속 주장의 약 80% 이상이 매뉴얼로 뒷받침돼야 함. 예: 자연재해 대응 권고 0.87(Chernysheva 외, 2026)</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1"/>
                  </a:ext>
                </a:extLst>
              </a:tr>
              <a:tr h="740000">
                <a:tc>
                  <a:txBody>
                    <a:bodyPr/>
                    <a:lstStyle/>
                    <a:p>
                      <a:pPr algn="ctr"/>
                      <a:r>
                        <a:rPr lang="ko-KR" sz="1300" b="1">
                          <a:solidFill>
                            <a:srgbClr val="FF0000"/>
                          </a:solidFill>
                          <a:latin typeface="210 OmniGothic 040"/>
                          <a:ea typeface="210 OmniGothic 040"/>
                          <a:cs typeface="210 OmniGothic 040"/>
                        </a:rPr>
                        <a:t>제안 질의 관련도</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ctr"/>
                      <a:r>
                        <a:rPr lang="ko-KR" sz="1300" b="1">
                          <a:solidFill>
                            <a:srgbClr val="FF0000"/>
                          </a:solidFill>
                          <a:latin typeface="210 OmniGothic 040"/>
                          <a:ea typeface="210 OmniGothic 040"/>
                          <a:cs typeface="210 OmniGothic 040"/>
                        </a:rPr>
                        <a:t>Answer Relevancy</a:t>
                      </a:r>
                    </a:p>
                    <a:p>
                      <a:pPr algn="ctr"/>
                      <a:r>
                        <a:rPr lang="ko-KR" sz="1300" b="1">
                          <a:solidFill>
                            <a:srgbClr val="FF0000"/>
                          </a:solidFill>
                          <a:latin typeface="210 OmniGothic 040"/>
                          <a:ea typeface="210 OmniGothic 040"/>
                          <a:cs typeface="210 OmniGothic 040"/>
                        </a:rPr>
                        <a:t>(생성)</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r>
                        <a:rPr lang="ko-KR" sz="1200" b="0">
                          <a:solidFill>
                            <a:srgbClr val="FF0000"/>
                          </a:solidFill>
                          <a:latin typeface="210 OmniGothic 040"/>
                          <a:ea typeface="210 OmniGothic 040"/>
                          <a:cs typeface="210 OmniGothic 040"/>
                        </a:rPr>
                        <a:t>제안이 항목 질문(지금 무엇을 해야 하나)에 맞게 답한 정도. 질문에서 벗어나거나 여러 항목을 뭉치면 낮음</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ctr"/>
                      <a:r>
                        <a:rPr lang="ko-KR" sz="1500" b="1">
                          <a:solidFill>
                            <a:srgbClr val="FF0000"/>
                          </a:solidFill>
                          <a:latin typeface="210 OmniGothic 040"/>
                          <a:ea typeface="210 OmniGothic 040"/>
                          <a:cs typeface="210 OmniGothic 040"/>
                        </a:rPr>
                        <a:t>≥ 0.82</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r>
                        <a:rPr lang="ko-KR" sz="1200" b="0">
                          <a:solidFill>
                            <a:srgbClr val="FF0000"/>
                          </a:solidFill>
                          <a:latin typeface="210 OmniGothic 040"/>
                          <a:ea typeface="210 OmniGothic 040"/>
                          <a:cs typeface="210 OmniGothic 040"/>
                        </a:rPr>
                        <a:t>10편 중 하위 25% 수준(중앙값 0.85): 제안만 보고 되짚은 질문이 원래 질문과 0.82 이상 비슷해야 함. 예: 자연재해 대응 권고 0.86(Chernysheva 외, 2026)</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2"/>
                  </a:ext>
                </a:extLst>
              </a:tr>
              <a:tr h="740000">
                <a:tc>
                  <a:txBody>
                    <a:bodyPr/>
                    <a:lstStyle/>
                    <a:p>
                      <a:pPr algn="ctr"/>
                      <a:r>
                        <a:rPr lang="ko-KR" sz="1300" b="1">
                          <a:solidFill>
                            <a:srgbClr val="FF0000"/>
                          </a:solidFill>
                          <a:latin typeface="210 OmniGothic 040"/>
                          <a:ea typeface="210 OmniGothic 040"/>
                          <a:cs typeface="210 OmniGothic 040"/>
                        </a:rPr>
                        <a:t>근거 순위 정밀도@K</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lang="ko-KR" sz="1300" b="1">
                          <a:solidFill>
                            <a:srgbClr val="FF0000"/>
                          </a:solidFill>
                          <a:latin typeface="210 OmniGothic 040"/>
                          <a:ea typeface="210 OmniGothic 040"/>
                          <a:cs typeface="210 OmniGothic 040"/>
                        </a:rPr>
                        <a:t>Context Precision@K</a:t>
                      </a:r>
                    </a:p>
                    <a:p>
                      <a:pPr algn="ctr"/>
                      <a:r>
                        <a:rPr lang="ko-KR" sz="1300" b="1">
                          <a:solidFill>
                            <a:srgbClr val="FF0000"/>
                          </a:solidFill>
                          <a:latin typeface="210 OmniGothic 040"/>
                          <a:ea typeface="210 OmniGothic 040"/>
                          <a:cs typeface="210 OmniGothic 040"/>
                        </a:rPr>
                        <a:t>(검색)</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lang="ko-KR" sz="1200" b="0">
                          <a:solidFill>
                            <a:srgbClr val="FF0000"/>
                          </a:solidFill>
                          <a:latin typeface="210 OmniGothic 040"/>
                          <a:ea typeface="210 OmniGothic 040"/>
                          <a:cs typeface="210 OmniGothic 040"/>
                        </a:rPr>
                        <a:t>검색한 상위 K개 중 쓸모 있는 근거가 앞 순위에 놓인 정도. 낮으면 엉뚱한 조항이 위에 옴</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lang="ko-KR" sz="1500" b="1">
                          <a:solidFill>
                            <a:srgbClr val="FF0000"/>
                          </a:solidFill>
                          <a:latin typeface="210 OmniGothic 040"/>
                          <a:ea typeface="210 OmniGothic 040"/>
                          <a:cs typeface="210 OmniGothic 040"/>
                        </a:rPr>
                        <a:t>≥ 0.82</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lang="ko-KR" sz="1200" b="0">
                          <a:solidFill>
                            <a:srgbClr val="FF0000"/>
                          </a:solidFill>
                          <a:latin typeface="210 OmniGothic 040"/>
                          <a:ea typeface="210 OmniGothic 040"/>
                          <a:cs typeface="210 OmniGothic 040"/>
                        </a:rPr>
                        <a:t>7편 중 하위 25% 수준(중앙값 0.87): 쓸모 있는 근거가 대부분 상위에 와야 함. 예: 비상대응계획·법규 0.87(Ma 외, 2026)</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3"/>
                  </a:ext>
                </a:extLst>
              </a:tr>
              <a:tr h="740000">
                <a:tc>
                  <a:txBody>
                    <a:bodyPr/>
                    <a:lstStyle/>
                    <a:p>
                      <a:pPr algn="ctr"/>
                      <a:r>
                        <a:rPr lang="ko-KR" sz="1300" b="1">
                          <a:solidFill>
                            <a:srgbClr val="FF0000"/>
                          </a:solidFill>
                          <a:latin typeface="210 OmniGothic 040"/>
                          <a:ea typeface="210 OmniGothic 040"/>
                          <a:cs typeface="210 OmniGothic 040"/>
                        </a:rPr>
                        <a:t>필요 근거 확보율@K</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ctr"/>
                      <a:r>
                        <a:rPr lang="ko-KR" sz="1300" b="1">
                          <a:solidFill>
                            <a:srgbClr val="FF0000"/>
                          </a:solidFill>
                          <a:latin typeface="210 OmniGothic 040"/>
                          <a:ea typeface="210 OmniGothic 040"/>
                          <a:cs typeface="210 OmniGothic 040"/>
                        </a:rPr>
                        <a:t>Context Recall@K</a:t>
                      </a:r>
                    </a:p>
                    <a:p>
                      <a:pPr algn="ctr"/>
                      <a:r>
                        <a:rPr lang="ko-KR" sz="1300" b="1">
                          <a:solidFill>
                            <a:srgbClr val="FF0000"/>
                          </a:solidFill>
                          <a:latin typeface="210 OmniGothic 040"/>
                          <a:ea typeface="210 OmniGothic 040"/>
                          <a:cs typeface="210 OmniGothic 040"/>
                        </a:rPr>
                        <a:t>(검색, K 선택 기준)</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r>
                        <a:rPr lang="ko-KR" sz="1200" b="0">
                          <a:solidFill>
                            <a:srgbClr val="FF0000"/>
                          </a:solidFill>
                          <a:latin typeface="210 OmniGothic 040"/>
                          <a:ea typeface="210 OmniGothic 040"/>
                          <a:cs typeface="210 OmniGothic 040"/>
                        </a:rPr>
                        <a:t>정답 제안에 필요한 매뉴얼 근거를 상위 K개 안에 가져온 비율. 낮으면 제안이 근거 부족으로 비거나 틀림</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ctr"/>
                      <a:r>
                        <a:rPr lang="ko-KR" sz="1500" b="1">
                          <a:solidFill>
                            <a:srgbClr val="FF0000"/>
                          </a:solidFill>
                          <a:latin typeface="210 OmniGothic 040"/>
                          <a:ea typeface="210 OmniGothic 040"/>
                          <a:cs typeface="210 OmniGothic 040"/>
                        </a:rPr>
                        <a:t>≥ 0.80</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r>
                        <a:rPr lang="ko-KR" sz="1200" b="0">
                          <a:solidFill>
                            <a:srgbClr val="FF0000"/>
                          </a:solidFill>
                          <a:latin typeface="210 OmniGothic 040"/>
                          <a:ea typeface="210 OmniGothic 040"/>
                          <a:cs typeface="210 OmniGothic 040"/>
                        </a:rPr>
                        <a:t>6편 중 하위 25% 수준(중앙값 0.90): 필요한 근거의 80% 이상을 가져와야 하며, 검색 청크 수 K를 고르는 문턱 조건. 예: 자연재해 대응 권고 0.91(Chernysheva 외, 2026)</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4"/>
                  </a:ext>
                </a:extLst>
              </a:tr>
            </a:tbl>
          </a:graphicData>
        </a:graphic>
      </p:graphicFrame>
      <p:sp>
        <p:nvSpPr>
          <p:cNvPr id="9813" name="Card 9813"/>
          <p:cNvSpPr/>
          <p:nvPr/>
        </p:nvSpPr>
        <p:spPr>
          <a:xfrm>
            <a:off x="822960" y="6263640"/>
            <a:ext cx="3989070" cy="2331720"/>
          </a:xfrm>
          <a:prstGeom prst="roundRect">
            <a:avLst>
              <a:gd name="adj" fmla="val 10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endParaRPr/>
          </a:p>
        </p:txBody>
      </p:sp>
      <p:sp>
        <p:nvSpPr>
          <p:cNvPr id="9814" name="Card 9814"/>
          <p:cNvSpPr/>
          <p:nvPr/>
        </p:nvSpPr>
        <p:spPr>
          <a:xfrm>
            <a:off x="1097280" y="6492240"/>
            <a:ext cx="457200" cy="45720"/>
          </a:xfrm>
          <a:prstGeom prst="rect">
            <a:avLst/>
          </a:prstGeom>
          <a:solidFill>
            <a:srgbClr val="FAA95A"/>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endParaRPr/>
          </a:p>
        </p:txBody>
      </p:sp>
      <p:sp>
        <p:nvSpPr>
          <p:cNvPr id="9815" name="Card 9815"/>
          <p:cNvSpPr txBox="1"/>
          <p:nvPr/>
        </p:nvSpPr>
        <p:spPr>
          <a:xfrm>
            <a:off x="1097280" y="6611112"/>
            <a:ext cx="3440429" cy="274320"/>
          </a:xfrm>
          <a:prstGeom prst="rect">
            <a:avLst/>
          </a:prstGeom>
          <a:noFill/>
        </p:spPr>
        <p:txBody>
          <a:bodyPr wrap="square" lIns="0" tIns="0" rIns="0" bIns="0" anchor="t">
            <a:spAutoFit/>
          </a:bodyPr>
          <a:lstStyle/>
          <a:p>
            <a:pPr algn="l"/>
            <a:r>
              <a:rPr sz="1400" b="1">
                <a:solidFill>
                  <a:srgbClr val="FF0000"/>
                </a:solidFill>
                <a:latin typeface="210 OmniGothic 040"/>
                <a:ea typeface="210 OmniGothic 040"/>
                <a:cs typeface="210 OmniGothic 040"/>
              </a:rPr>
              <a:t>평가 단위</a:t>
            </a:r>
          </a:p>
        </p:txBody>
      </p:sp>
      <p:sp>
        <p:nvSpPr>
          <p:cNvPr id="9816" name="Card 9816"/>
          <p:cNvSpPr txBox="1"/>
          <p:nvPr/>
        </p:nvSpPr>
        <p:spPr>
          <a:xfrm>
            <a:off x="1097280" y="6995159"/>
            <a:ext cx="3440429" cy="1417319"/>
          </a:xfrm>
          <a:prstGeom prst="rect">
            <a:avLst/>
          </a:prstGeom>
          <a:noFill/>
        </p:spPr>
        <p:txBody>
          <a:bodyPr wrap="square" lIns="0" tIns="0" rIns="0" bIns="0" anchor="t">
            <a:spAutoFit/>
          </a:bodyPr>
          <a:lstStyle/>
          <a:p>
            <a:pPr algn="l">
              <a:lnSpc>
                <a:spcPct val="120000"/>
              </a:lnSpc>
            </a:pPr>
            <a:r>
              <a:rPr sz="1150" b="0">
                <a:solidFill>
                  <a:srgbClr val="FF0000"/>
                </a:solidFill>
                <a:latin typeface="210 OmniGothic 040"/>
                <a:ea typeface="210 OmniGothic 040"/>
                <a:cs typeface="210 OmniGothic 040"/>
              </a:rPr>
              <a:t>시나리오 시점 × 진화 S1~S7·대피 E1~E7 항목 1건 = 항목 질문 + 상위 K 청크 + 제안 문장 + 정답 답변</a:t>
            </a:r>
          </a:p>
        </p:txBody>
      </p:sp>
      <p:sp>
        <p:nvSpPr>
          <p:cNvPr id="9817" name="Card 9817"/>
          <p:cNvSpPr/>
          <p:nvPr/>
        </p:nvSpPr>
        <p:spPr>
          <a:xfrm>
            <a:off x="5040630" y="6263640"/>
            <a:ext cx="3989070" cy="2331720"/>
          </a:xfrm>
          <a:prstGeom prst="roundRect">
            <a:avLst>
              <a:gd name="adj" fmla="val 10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endParaRPr/>
          </a:p>
        </p:txBody>
      </p:sp>
      <p:sp>
        <p:nvSpPr>
          <p:cNvPr id="9818" name="Card 9818"/>
          <p:cNvSpPr/>
          <p:nvPr/>
        </p:nvSpPr>
        <p:spPr>
          <a:xfrm>
            <a:off x="5314950" y="6492240"/>
            <a:ext cx="457200" cy="45720"/>
          </a:xfrm>
          <a:prstGeom prst="rect">
            <a:avLst/>
          </a:prstGeom>
          <a:solidFill>
            <a:srgbClr val="FAA95A"/>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endParaRPr/>
          </a:p>
        </p:txBody>
      </p:sp>
      <p:sp>
        <p:nvSpPr>
          <p:cNvPr id="9819" name="Card 9819"/>
          <p:cNvSpPr txBox="1"/>
          <p:nvPr/>
        </p:nvSpPr>
        <p:spPr>
          <a:xfrm>
            <a:off x="5314950" y="6611112"/>
            <a:ext cx="3440429" cy="274320"/>
          </a:xfrm>
          <a:prstGeom prst="rect">
            <a:avLst/>
          </a:prstGeom>
          <a:noFill/>
        </p:spPr>
        <p:txBody>
          <a:bodyPr wrap="square" lIns="0" tIns="0" rIns="0" bIns="0" anchor="t">
            <a:spAutoFit/>
          </a:bodyPr>
          <a:lstStyle/>
          <a:p>
            <a:pPr algn="l"/>
            <a:r>
              <a:rPr sz="1400" b="1">
                <a:solidFill>
                  <a:srgbClr val="FF0000"/>
                </a:solidFill>
                <a:latin typeface="210 OmniGothic 040"/>
                <a:ea typeface="210 OmniGothic 040"/>
                <a:cs typeface="210 OmniGothic 040"/>
              </a:rPr>
              <a:t>하한 = 유사 연구 하위 25%</a:t>
            </a:r>
          </a:p>
        </p:txBody>
      </p:sp>
      <p:sp>
        <p:nvSpPr>
          <p:cNvPr id="9820" name="Card 9820"/>
          <p:cNvSpPr txBox="1"/>
          <p:nvPr/>
        </p:nvSpPr>
        <p:spPr>
          <a:xfrm>
            <a:off x="5314950" y="6995159"/>
            <a:ext cx="3440429" cy="1417319"/>
          </a:xfrm>
          <a:prstGeom prst="rect">
            <a:avLst/>
          </a:prstGeom>
          <a:noFill/>
        </p:spPr>
        <p:txBody>
          <a:bodyPr wrap="square" lIns="0" tIns="0" rIns="0" bIns="0" anchor="t">
            <a:spAutoFit/>
          </a:bodyPr>
          <a:lstStyle/>
          <a:p>
            <a:pPr algn="l">
              <a:lnSpc>
                <a:spcPct val="120000"/>
              </a:lnSpc>
            </a:pPr>
            <a:r>
              <a:rPr sz="1150" b="0">
                <a:solidFill>
                  <a:srgbClr val="FF0000"/>
                </a:solidFill>
                <a:latin typeface="210 OmniGothic 040"/>
                <a:ea typeface="210 OmniGothic 040"/>
                <a:cs typeface="210 OmniGothic 040"/>
              </a:rPr>
              <a:t>산불 분야 RAGAS 선례가 없어 가장 가까운 재난·공공 규정·한국어 공공 문서 RAG 연구값을 모음. 단순 벡터 검색·4비트 로컬 모델인 우리 구성을 고려해 논문 최고 구성의 중앙값 대신 하위 25%(넷 중 셋 수준)를 최소 기준으로, 중앙값은 목표로 둠</a:t>
            </a:r>
          </a:p>
        </p:txBody>
      </p:sp>
      <p:sp>
        <p:nvSpPr>
          <p:cNvPr id="9821" name="Card 9821"/>
          <p:cNvSpPr/>
          <p:nvPr/>
        </p:nvSpPr>
        <p:spPr>
          <a:xfrm>
            <a:off x="9258300" y="6263640"/>
            <a:ext cx="3989070" cy="2331720"/>
          </a:xfrm>
          <a:prstGeom prst="roundRect">
            <a:avLst>
              <a:gd name="adj" fmla="val 10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endParaRPr/>
          </a:p>
        </p:txBody>
      </p:sp>
      <p:sp>
        <p:nvSpPr>
          <p:cNvPr id="9822" name="Card 9822"/>
          <p:cNvSpPr/>
          <p:nvPr/>
        </p:nvSpPr>
        <p:spPr>
          <a:xfrm>
            <a:off x="9532620" y="6492240"/>
            <a:ext cx="457200" cy="45720"/>
          </a:xfrm>
          <a:prstGeom prst="rect">
            <a:avLst/>
          </a:prstGeom>
          <a:solidFill>
            <a:srgbClr val="FAA95A"/>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endParaRPr/>
          </a:p>
        </p:txBody>
      </p:sp>
      <p:sp>
        <p:nvSpPr>
          <p:cNvPr id="9823" name="Card 9823"/>
          <p:cNvSpPr txBox="1"/>
          <p:nvPr/>
        </p:nvSpPr>
        <p:spPr>
          <a:xfrm>
            <a:off x="9532620" y="6611112"/>
            <a:ext cx="3440429" cy="274320"/>
          </a:xfrm>
          <a:prstGeom prst="rect">
            <a:avLst/>
          </a:prstGeom>
          <a:noFill/>
        </p:spPr>
        <p:txBody>
          <a:bodyPr wrap="square" lIns="0" tIns="0" rIns="0" bIns="0" anchor="t">
            <a:spAutoFit/>
          </a:bodyPr>
          <a:lstStyle/>
          <a:p>
            <a:pPr algn="l"/>
            <a:r>
              <a:rPr sz="1400" b="1">
                <a:solidFill>
                  <a:srgbClr val="FF0000"/>
                </a:solidFill>
                <a:latin typeface="210 OmniGothic 040"/>
                <a:ea typeface="210 OmniGothic 040"/>
                <a:cs typeface="210 OmniGothic 040"/>
              </a:rPr>
              <a:t>K 선택</a:t>
            </a:r>
          </a:p>
        </p:txBody>
      </p:sp>
      <p:sp>
        <p:nvSpPr>
          <p:cNvPr id="9824" name="Card 9824"/>
          <p:cNvSpPr txBox="1"/>
          <p:nvPr/>
        </p:nvSpPr>
        <p:spPr>
          <a:xfrm>
            <a:off x="9532620" y="6995159"/>
            <a:ext cx="3440429" cy="1417319"/>
          </a:xfrm>
          <a:prstGeom prst="rect">
            <a:avLst/>
          </a:prstGeom>
          <a:noFill/>
        </p:spPr>
        <p:txBody>
          <a:bodyPr wrap="square" lIns="0" tIns="0" rIns="0" bIns="0" anchor="t">
            <a:spAutoFit/>
          </a:bodyPr>
          <a:lstStyle/>
          <a:p>
            <a:pPr algn="l">
              <a:lnSpc>
                <a:spcPct val="120000"/>
              </a:lnSpc>
            </a:pPr>
            <a:r>
              <a:rPr sz="1150" b="0">
                <a:solidFill>
                  <a:srgbClr val="FF0000"/>
                </a:solidFill>
                <a:latin typeface="210 OmniGothic 040"/>
                <a:ea typeface="210 OmniGothic 040"/>
                <a:cs typeface="210 OmniGothic 040"/>
              </a:rPr>
              <a:t>개발용 시나리오에서 K = 3·5·7·10 비교 → 확보율@K ≥ 0.80인 K 중 (충실도 + 관련도) ÷ 2가 가장 높은 K, 차이 0.01 이내면 작은 K. 하한 판정은 시험용 시나리오 평균</a:t>
            </a:r>
          </a:p>
        </p:txBody>
      </p:sp>
      <p:sp>
        <p:nvSpPr>
          <p:cNvPr id="9825" name="Card 9825"/>
          <p:cNvSpPr/>
          <p:nvPr/>
        </p:nvSpPr>
        <p:spPr>
          <a:xfrm>
            <a:off x="13475969" y="6263640"/>
            <a:ext cx="3989070" cy="2331720"/>
          </a:xfrm>
          <a:prstGeom prst="roundRect">
            <a:avLst>
              <a:gd name="adj" fmla="val 10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endParaRPr/>
          </a:p>
        </p:txBody>
      </p:sp>
      <p:sp>
        <p:nvSpPr>
          <p:cNvPr id="9826" name="Card 9826"/>
          <p:cNvSpPr/>
          <p:nvPr/>
        </p:nvSpPr>
        <p:spPr>
          <a:xfrm>
            <a:off x="13750290" y="6492240"/>
            <a:ext cx="457200" cy="45720"/>
          </a:xfrm>
          <a:prstGeom prst="rect">
            <a:avLst/>
          </a:prstGeom>
          <a:solidFill>
            <a:srgbClr val="FAA95A"/>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endParaRPr/>
          </a:p>
        </p:txBody>
      </p:sp>
      <p:sp>
        <p:nvSpPr>
          <p:cNvPr id="9827" name="Card 9827"/>
          <p:cNvSpPr txBox="1"/>
          <p:nvPr/>
        </p:nvSpPr>
        <p:spPr>
          <a:xfrm>
            <a:off x="13750290" y="6611112"/>
            <a:ext cx="3440429" cy="274320"/>
          </a:xfrm>
          <a:prstGeom prst="rect">
            <a:avLst/>
          </a:prstGeom>
          <a:noFill/>
        </p:spPr>
        <p:txBody>
          <a:bodyPr wrap="square" lIns="0" tIns="0" rIns="0" bIns="0" anchor="t">
            <a:spAutoFit/>
          </a:bodyPr>
          <a:lstStyle/>
          <a:p>
            <a:pPr algn="l"/>
            <a:r>
              <a:rPr sz="1400" b="1">
                <a:solidFill>
                  <a:srgbClr val="FF0000"/>
                </a:solidFill>
                <a:latin typeface="210 OmniGothic 040"/>
                <a:ea typeface="210 OmniGothic 040"/>
                <a:cs typeface="210 OmniGothic 040"/>
              </a:rPr>
              <a:t>자동 채점 (LLM-as-a-Judge)</a:t>
            </a:r>
          </a:p>
        </p:txBody>
      </p:sp>
      <p:sp>
        <p:nvSpPr>
          <p:cNvPr id="9828" name="Card 9828"/>
          <p:cNvSpPr txBox="1"/>
          <p:nvPr/>
        </p:nvSpPr>
        <p:spPr>
          <a:xfrm>
            <a:off x="13750290" y="6995159"/>
            <a:ext cx="3440429" cy="1417319"/>
          </a:xfrm>
          <a:prstGeom prst="rect">
            <a:avLst/>
          </a:prstGeom>
          <a:noFill/>
        </p:spPr>
        <p:txBody>
          <a:bodyPr wrap="square" lIns="0" tIns="0" rIns="0" bIns="0" anchor="t">
            <a:spAutoFit/>
          </a:bodyPr>
          <a:lstStyle/>
          <a:p>
            <a:pPr algn="l">
              <a:lnSpc>
                <a:spcPct val="120000"/>
              </a:lnSpc>
            </a:pPr>
            <a:r>
              <a:rPr sz="1150" b="0">
                <a:solidFill>
                  <a:srgbClr val="FF0000"/>
                </a:solidFill>
                <a:latin typeface="210 OmniGothic 040"/>
                <a:ea typeface="210 OmniGothic 040"/>
                <a:cs typeface="210 OmniGothic 040"/>
              </a:rPr>
              <a:t>로컬 EXAONE 4.0 32B가 RAGAS v0.4.3 한국어 프롬프트로 채점. 생성 2종은 정답 없이, 검색 2종은 팀이 매뉴얼 쪽수로 미리 쓴 정답 답변을 기준으로 청크·문장마다 판정해, 사람은 정답만 작성하고 채점은 자동. 채점 실패율·95% 신뢰구간 함께 보고</a:t>
            </a:r>
          </a:p>
        </p:txBody>
      </p:sp>
      <p:sp>
        <p:nvSpPr>
          <p:cNvPr id="9829" name="Note Ref"/>
          <p:cNvSpPr txBox="1"/>
          <p:nvPr/>
        </p:nvSpPr>
        <p:spPr>
          <a:xfrm>
            <a:off x="822960" y="8759952"/>
            <a:ext cx="16642080" cy="274320"/>
          </a:xfrm>
          <a:prstGeom prst="rect">
            <a:avLst/>
          </a:prstGeom>
          <a:noFill/>
        </p:spPr>
        <p:txBody>
          <a:bodyPr wrap="square" lIns="0" tIns="0" rIns="0" bIns="0" anchor="t">
            <a:spAutoFit/>
          </a:bodyPr>
          <a:lstStyle/>
          <a:p>
            <a:pPr algn="l">
              <a:buNone/>
            </a:pPr>
            <a:r>
              <a:rPr lang="ko-KR" altLang="en-US" sz="1050" b="0">
                <a:solidFill>
                  <a:srgbClr val="FF0000"/>
                </a:solidFill>
                <a:latin typeface="210 OmniGothic 030"/>
                <a:ea typeface="210 OmniGothic 030"/>
                <a:cs typeface="210 OmniGothic 030"/>
              </a:rPr>
              <a:t>근거 부족으로 비운 칸은 4개 지표 평균에서 빼고 건수만 따로 적음 · 참고: Es 외(2024) RAGAS, EACL 2024 System Demonstrations</a:t>
            </a:r>
            <a:endParaRPr lang="ko-KR" sz="105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16"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2700" y="-12700"/>
            <a:ext cx="18313400" cy="1638300"/>
          </a:xfrm>
          <a:prstGeom prst="rect">
            <a:avLst/>
          </a:prstGeom>
        </p:spPr>
      </p:pic>
      <p:pic>
        <p:nvPicPr>
          <p:cNvPr id="5517"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628" y="1618343"/>
            <a:ext cx="18313400" cy="8699500"/>
          </a:xfrm>
          <a:prstGeom prst="rect">
            <a:avLst/>
          </a:prstGeom>
        </p:spPr>
      </p:pic>
      <p:pic>
        <p:nvPicPr>
          <p:cNvPr id="5518"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58800" y="9271000"/>
            <a:ext cx="17170400" cy="50800"/>
          </a:xfrm>
          <a:prstGeom prst="rect">
            <a:avLst/>
          </a:prstGeom>
        </p:spPr>
      </p:pic>
      <p:pic>
        <p:nvPicPr>
          <p:cNvPr id="5519" name="Picture 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278100" y="203200"/>
            <a:ext cx="1676400" cy="1409700"/>
          </a:xfrm>
          <a:prstGeom prst="rect">
            <a:avLst/>
          </a:prstGeom>
        </p:spPr>
      </p:pic>
      <p:sp>
        <p:nvSpPr>
          <p:cNvPr id="5520" name="Title"/>
          <p:cNvSpPr txBox="1"/>
          <p:nvPr/>
        </p:nvSpPr>
        <p:spPr>
          <a:xfrm>
            <a:off x="822960" y="384048"/>
            <a:ext cx="13258800" cy="877824"/>
          </a:xfrm>
          <a:prstGeom prst="rect">
            <a:avLst/>
          </a:prstGeom>
          <a:noFill/>
        </p:spPr>
        <p:txBody>
          <a:bodyPr wrap="square" lIns="0" tIns="0" rIns="0" bIns="0" anchor="ctr">
            <a:spAutoFit/>
          </a:bodyPr>
          <a:lstStyle/>
          <a:p>
            <a:pPr algn="l"/>
            <a:r>
              <a:rPr sz="4400" b="0">
                <a:solidFill>
                  <a:srgbClr val="FAA95A"/>
                </a:solidFill>
                <a:latin typeface="210 OmniGothic 050"/>
                <a:ea typeface="210 OmniGothic 050"/>
                <a:cs typeface="210 OmniGothic 050"/>
              </a:rPr>
              <a:t>07. 비기능 요구사항(AI)</a:t>
            </a:r>
          </a:p>
        </p:txBody>
      </p:sp>
      <p:sp>
        <p:nvSpPr>
          <p:cNvPr id="5521" name="Subtitle"/>
          <p:cNvSpPr txBox="1"/>
          <p:nvPr/>
        </p:nvSpPr>
        <p:spPr>
          <a:xfrm>
            <a:off x="822960" y="1764792"/>
            <a:ext cx="16642080" cy="502920"/>
          </a:xfrm>
          <a:prstGeom prst="rect">
            <a:avLst/>
          </a:prstGeom>
          <a:noFill/>
        </p:spPr>
        <p:txBody>
          <a:bodyPr wrap="square" lIns="0" tIns="0" rIns="0" bIns="0" anchor="ctr">
            <a:spAutoFit/>
          </a:bodyPr>
          <a:lstStyle/>
          <a:p>
            <a:pPr algn="ctr"/>
            <a:r>
              <a:rPr sz="2600" b="1">
                <a:solidFill>
                  <a:srgbClr val="363A52"/>
                </a:solidFill>
                <a:latin typeface="210 OmniGothic 040"/>
                <a:ea typeface="210 OmniGothic 040"/>
                <a:cs typeface="210 OmniGothic 040"/>
              </a:rPr>
              <a:t>데이터 셋 및 구조</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sz="quarter" idx="12"/>
          </p:nvPr>
        </p:nvSpPr>
        <p:spPr/>
        <p:txBody>
          <a:bodyPr/>
          <a:lstStyle/>
          <a:p>
            <a:fld id="{B6F15528-21DE-4FAA-801E-634DDDAF4B2B}" type="slidenum">
              <a:rPr lang="en-US" smtClean="0"/>
              <a:pPr/>
              <a:t>105</a:t>
            </a:fld>
            <a:endParaRPr lang="en-US"/>
          </a:p>
        </p:txBody>
      </p:sp>
      <p:graphicFrame>
        <p:nvGraphicFramePr>
          <p:cNvPr id="5522" name="Table 5521"/>
          <p:cNvGraphicFramePr>
            <a:graphicFrameLocks noGrp="1"/>
          </p:cNvGraphicFramePr>
          <p:nvPr/>
        </p:nvGraphicFramePr>
        <p:xfrm>
          <a:off x="822960" y="2496312"/>
          <a:ext cx="16459200" cy="4325108"/>
        </p:xfrm>
        <a:graphic>
          <a:graphicData uri="http://schemas.openxmlformats.org/drawingml/2006/table">
            <a:tbl>
              <a:tblPr>
                <a:tableStyleId>{2D5ABB26-0587-4C30-8999-92F81FD0307C}</a:tableStyleId>
              </a:tblPr>
              <a:tblGrid>
                <a:gridCol w="1828800">
                  <a:extLst>
                    <a:ext uri="{9D8B030D-6E8A-4147-A177-3AD203B41FA5}">
                      <a16:colId xmlns:a16="http://schemas.microsoft.com/office/drawing/2014/main" val="20000"/>
                    </a:ext>
                  </a:extLst>
                </a:gridCol>
                <a:gridCol w="4686300">
                  <a:extLst>
                    <a:ext uri="{9D8B030D-6E8A-4147-A177-3AD203B41FA5}">
                      <a16:colId xmlns:a16="http://schemas.microsoft.com/office/drawing/2014/main" val="20001"/>
                    </a:ext>
                  </a:extLst>
                </a:gridCol>
                <a:gridCol w="4457700">
                  <a:extLst>
                    <a:ext uri="{9D8B030D-6E8A-4147-A177-3AD203B41FA5}">
                      <a16:colId xmlns:a16="http://schemas.microsoft.com/office/drawing/2014/main" val="20002"/>
                    </a:ext>
                  </a:extLst>
                </a:gridCol>
                <a:gridCol w="5486400">
                  <a:extLst>
                    <a:ext uri="{9D8B030D-6E8A-4147-A177-3AD203B41FA5}">
                      <a16:colId xmlns:a16="http://schemas.microsoft.com/office/drawing/2014/main" val="20003"/>
                    </a:ext>
                  </a:extLst>
                </a:gridCol>
              </a:tblGrid>
              <a:tr h="382219">
                <a:tc>
                  <a:txBody>
                    <a:bodyPr/>
                    <a:lstStyle/>
                    <a:p>
                      <a:pPr algn="ctr"/>
                      <a:r>
                        <a:rPr sz="1300" b="1" dirty="0">
                          <a:solidFill>
                            <a:srgbClr val="FFFFFF"/>
                          </a:solidFill>
                          <a:latin typeface="210 OmniGothic 040"/>
                          <a:ea typeface="210 OmniGothic 040"/>
                          <a:cs typeface="210 OmniGothic 040"/>
                        </a:rPr>
                        <a:t>구분</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tc>
                  <a:txBody>
                    <a:bodyPr/>
                    <a:lstStyle/>
                    <a:p>
                      <a:pPr algn="ctr"/>
                      <a:r>
                        <a:rPr sz="1300" b="1" dirty="0">
                          <a:solidFill>
                            <a:srgbClr val="FFFFFF"/>
                          </a:solidFill>
                          <a:latin typeface="210 OmniGothic 040"/>
                          <a:ea typeface="210 OmniGothic 040"/>
                          <a:cs typeface="210 OmniGothic 040"/>
                        </a:rPr>
                        <a:t>데이터</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tc>
                  <a:txBody>
                    <a:bodyPr/>
                    <a:lstStyle/>
                    <a:p>
                      <a:pPr algn="ctr"/>
                      <a:r>
                        <a:rPr sz="1300" b="1" dirty="0">
                          <a:solidFill>
                            <a:srgbClr val="FFFFFF"/>
                          </a:solidFill>
                          <a:latin typeface="210 OmniGothic 040"/>
                          <a:ea typeface="210 OmniGothic 040"/>
                          <a:cs typeface="210 OmniGothic 040"/>
                        </a:rPr>
                        <a:t>규모·형태</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tc>
                  <a:txBody>
                    <a:bodyPr/>
                    <a:lstStyle/>
                    <a:p>
                      <a:pPr algn="ctr"/>
                      <a:r>
                        <a:rPr sz="1300" b="1" dirty="0">
                          <a:solidFill>
                            <a:srgbClr val="FFFFFF"/>
                          </a:solidFill>
                          <a:latin typeface="210 OmniGothic 040"/>
                          <a:ea typeface="210 OmniGothic 040"/>
                          <a:cs typeface="210 OmniGothic 040"/>
                        </a:rPr>
                        <a:t>본 과제에서의 활용</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extLst>
                  <a:ext uri="{0D108BD9-81ED-4DB2-BD59-A6C34878D82A}">
                    <a16:rowId xmlns:a16="http://schemas.microsoft.com/office/drawing/2014/main" val="10000"/>
                  </a:ext>
                </a:extLst>
              </a:tr>
              <a:tr h="563270">
                <a:tc>
                  <a:txBody>
                    <a:bodyPr/>
                    <a:lstStyle/>
                    <a:p>
                      <a:pPr algn="l"/>
                      <a:r>
                        <a:rPr sz="1250" b="1" dirty="0">
                          <a:solidFill>
                            <a:srgbClr val="2E3142"/>
                          </a:solidFill>
                          <a:latin typeface="210 OmniGothic 040"/>
                          <a:ea typeface="210 OmniGothic 040"/>
                          <a:cs typeface="210 OmniGothic 040"/>
                        </a:rPr>
                        <a:t>학습·보정</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250" b="0" dirty="0">
                          <a:solidFill>
                            <a:srgbClr val="2E3142"/>
                          </a:solidFill>
                          <a:latin typeface="210 OmniGothic 040"/>
                          <a:ea typeface="210 OmniGothic 040"/>
                          <a:cs typeface="210 OmniGothic 040"/>
                        </a:rPr>
                        <a:t>AI Hub 산불 확산 위험 대응방안 추론 데이터</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250" b="0" dirty="0">
                          <a:solidFill>
                            <a:srgbClr val="2E3142"/>
                          </a:solidFill>
                          <a:latin typeface="210 OmniGothic 040"/>
                          <a:ea typeface="210 OmniGothic 040"/>
                          <a:cs typeface="210 OmniGothic 040"/>
                        </a:rPr>
                        <a:t>실제 산불 101건, 최종 소실 경계(시계열 없음)</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250" b="0" dirty="0">
                          <a:solidFill>
                            <a:srgbClr val="2E3142"/>
                          </a:solidFill>
                          <a:latin typeface="210 OmniGothic 040"/>
                          <a:ea typeface="210 OmniGothic 040"/>
                          <a:cs typeface="210 OmniGothic 040"/>
                        </a:rPr>
                        <a:t>ELMFIRE 연료 파라미터 보정</a:t>
                      </a:r>
                      <a:r>
                        <a:rPr sz="1250" b="0" dirty="0">
                          <a:solidFill>
                            <a:srgbClr val="FF0000"/>
                          </a:solidFill>
                          <a:latin typeface="210 OmniGothic 040"/>
                          <a:ea typeface="210 OmniGothic 040"/>
                          <a:cs typeface="210 OmniGothic 040"/>
                        </a:rPr>
                        <a:t>(</a:t>
                      </a:r>
                      <a:r>
                        <a:rPr sz="1250" b="0" dirty="0">
                          <a:solidFill>
                            <a:srgbClr val="2E3142"/>
                          </a:solidFill>
                          <a:latin typeface="210 OmniGothic 040"/>
                          <a:ea typeface="210 OmniGothic 040"/>
                          <a:cs typeface="210 OmniGothic 040"/>
                        </a:rPr>
                        <a:t>IoU</a:t>
                      </a:r>
                      <a:r>
                        <a:rPr sz="1250" b="0" dirty="0">
                          <a:solidFill>
                            <a:srgbClr val="FF0000"/>
                          </a:solidFill>
                          <a:latin typeface="210 OmniGothic 040"/>
                          <a:ea typeface="210 OmniGothic 040"/>
                          <a:cs typeface="210 OmniGothic 040"/>
                        </a:rPr>
                        <a:t>)·5개 지표</a:t>
                      </a:r>
                      <a:r>
                        <a:rPr sz="1250" b="0" dirty="0">
                          <a:solidFill>
                            <a:srgbClr val="2E3142"/>
                          </a:solidFill>
                          <a:latin typeface="210 OmniGothic 040"/>
                          <a:ea typeface="210 OmniGothic 040"/>
                          <a:cs typeface="210 OmniGothic 040"/>
                        </a:rPr>
                        <a:t> 검증, 위험도 </a:t>
                      </a:r>
                      <a:r>
                        <a:rPr sz="1250" b="0" dirty="0">
                          <a:solidFill>
                            <a:srgbClr val="FF0000"/>
                          </a:solidFill>
                          <a:latin typeface="210 OmniGothic 040"/>
                          <a:ea typeface="210 OmniGothic 040"/>
                          <a:cs typeface="210 OmniGothic 040"/>
                        </a:rPr>
                        <a:t>기준표(CSV) </a:t>
                      </a:r>
                      <a:r>
                        <a:rPr sz="1250" b="0" dirty="0">
                          <a:solidFill>
                            <a:srgbClr val="FF0000"/>
                          </a:solidFill>
                          <a:latin typeface="210 OmniGothic 040"/>
                          <a:ea typeface="210 OmniGothic 040"/>
                          <a:cs typeface="210 OmniGothic 040"/>
                        </a:rPr>
                        <a:t>2</a:t>
                      </a:r>
                      <a:r>
                        <a:rPr sz="1250" b="0" dirty="0">
                          <a:solidFill>
                            <a:srgbClr val="FF0000"/>
                          </a:solidFill>
                          <a:latin typeface="210 OmniGothic 040"/>
                          <a:ea typeface="210 OmniGothic 040"/>
                          <a:cs typeface="210 OmniGothic 040"/>
                        </a:rPr>
                        <a:t>3개 </a:t>
                      </a:r>
                      <a:r>
                        <a:rPr sz="1250" b="0" dirty="0">
                          <a:solidFill>
                            <a:srgbClr val="FF0000"/>
                          </a:solidFill>
                          <a:latin typeface="210 OmniGothic 040"/>
                          <a:ea typeface="210 OmniGothic 040"/>
                          <a:cs typeface="210 OmniGothic 040"/>
                        </a:rPr>
                        <a:t>변수</a:t>
                      </a:r>
                      <a:r>
                        <a:rPr sz="1250" b="0" dirty="0">
                          <a:solidFill>
                            <a:srgbClr val="FF0000"/>
                          </a:solidFill>
                          <a:latin typeface="210 OmniGothic 040"/>
                          <a:ea typeface="210 OmniGothic 040"/>
                          <a:cs typeface="210 OmniGothic 040"/>
                        </a:rPr>
                        <a:t>·구간·가중치</a:t>
                      </a:r>
                      <a:r>
                        <a:rPr sz="1250" b="0" dirty="0">
                          <a:solidFill>
                            <a:srgbClr val="2E3142"/>
                          </a:solidFill>
                          <a:latin typeface="210 OmniGothic 040"/>
                          <a:ea typeface="210 OmniGothic 040"/>
                          <a:cs typeface="210 OmniGothic 040"/>
                        </a:rPr>
                        <a:t> 계승</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1"/>
                  </a:ext>
                </a:extLst>
              </a:tr>
              <a:tr h="563270">
                <a:tc>
                  <a:txBody>
                    <a:bodyPr/>
                    <a:lstStyle/>
                    <a:p>
                      <a:pPr algn="l"/>
                      <a:r>
                        <a:rPr sz="1250" b="1" dirty="0">
                          <a:solidFill>
                            <a:srgbClr val="2E3142"/>
                          </a:solidFill>
                          <a:latin typeface="210 OmniGothic 040"/>
                          <a:ea typeface="210 OmniGothic 040"/>
                          <a:cs typeface="210 OmniGothic 040"/>
                        </a:rPr>
                        <a:t>예측 입력</a:t>
                      </a:r>
                    </a:p>
                  </a:txBody>
                  <a:tcPr marT="40233" marB="40233" anchor="ctr">
                    <a:lnL w="9525">
                      <a:solidFill>
                        <a:srgbClr val="D9DCE5"/>
                      </a:solidFill>
                    </a:lnL>
                    <a:lnR w="9525" cap="flat" cmpd="sng" algn="ctr">
                      <a:solidFill>
                        <a:srgbClr val="D9DCE5"/>
                      </a:solidFill>
                      <a:prstDash val="solid"/>
                      <a:round/>
                      <a:headEnd type="none" w="med" len="med"/>
                      <a:tailEnd type="none" w="med" len="med"/>
                    </a:lnR>
                    <a:lnT w="9525" cap="flat" cmpd="sng" algn="ctr">
                      <a:solidFill>
                        <a:srgbClr val="D9DCE5"/>
                      </a:solidFill>
                      <a:prstDash val="solid"/>
                      <a:round/>
                      <a:headEnd type="none" w="med" len="med"/>
                      <a:tailEnd type="none" w="med" len="med"/>
                    </a:lnT>
                    <a:lnB w="9525">
                      <a:solidFill>
                        <a:srgbClr val="D9DCE5"/>
                      </a:solidFill>
                    </a:lnB>
                    <a:solidFill>
                      <a:srgbClr val="F8F9FB"/>
                    </a:solidFill>
                  </a:tcPr>
                </a:tc>
                <a:tc>
                  <a:txBody>
                    <a:bodyPr/>
                    <a:lstStyle/>
                    <a:p>
                      <a:pPr algn="l"/>
                      <a:r>
                        <a:rPr sz="1250" b="0" dirty="0">
                          <a:solidFill>
                            <a:srgbClr val="2E3142"/>
                          </a:solidFill>
                          <a:latin typeface="210 OmniGothic 040"/>
                          <a:ea typeface="210 OmniGothic 040"/>
                          <a:cs typeface="210 OmniGothic 040"/>
                        </a:rPr>
                        <a:t>DEM·임상도·인프라, 기상청 단기예보</a:t>
                      </a:r>
                    </a:p>
                  </a:txBody>
                  <a:tcPr marT="40233" marB="40233" anchor="ctr">
                    <a:lnL w="9525" cap="flat" cmpd="sng" algn="ctr">
                      <a:solidFill>
                        <a:srgbClr val="D9DCE5"/>
                      </a:solidFill>
                      <a:prstDash val="solid"/>
                      <a:round/>
                      <a:headEnd type="none" w="med" len="med"/>
                      <a:tailEnd type="none" w="med" len="med"/>
                    </a:lnL>
                    <a:lnR w="9525" cap="flat" cmpd="sng" algn="ctr">
                      <a:solidFill>
                        <a:srgbClr val="D9DCE5"/>
                      </a:solidFill>
                      <a:prstDash val="solid"/>
                      <a:round/>
                      <a:headEnd type="none" w="med" len="med"/>
                      <a:tailEnd type="none" w="med" len="med"/>
                    </a:lnR>
                    <a:lnT w="9525" cap="flat" cmpd="sng" algn="ctr">
                      <a:solidFill>
                        <a:srgbClr val="D9DCE5"/>
                      </a:solidFill>
                      <a:prstDash val="solid"/>
                      <a:round/>
                      <a:headEnd type="none" w="med" len="med"/>
                      <a:tailEnd type="none" w="med" len="med"/>
                    </a:lnT>
                    <a:lnB w="9525">
                      <a:solidFill>
                        <a:srgbClr val="D9DCE5"/>
                      </a:solidFill>
                    </a:lnB>
                    <a:solidFill>
                      <a:srgbClr val="F8F9FB"/>
                    </a:solidFill>
                  </a:tcPr>
                </a:tc>
                <a:tc>
                  <a:txBody>
                    <a:bodyPr/>
                    <a:lstStyle/>
                    <a:p>
                      <a:pPr algn="l"/>
                      <a:r>
                        <a:rPr sz="1250" b="0" dirty="0">
                          <a:solidFill>
                            <a:srgbClr val="2E3142"/>
                          </a:solidFill>
                          <a:latin typeface="210 OmniGothic 040"/>
                          <a:ea typeface="210 OmniGothic 040"/>
                          <a:cs typeface="210 OmniGothic 040"/>
                        </a:rPr>
                        <a:t>30 m 격자(GeoTIFF), 1시간 예보</a:t>
                      </a:r>
                    </a:p>
                  </a:txBody>
                  <a:tcPr marT="40233" marB="40233" anchor="ctr">
                    <a:lnL w="9525" cap="flat" cmpd="sng" algn="ctr">
                      <a:solidFill>
                        <a:srgbClr val="D9DCE5"/>
                      </a:solidFill>
                      <a:prstDash val="solid"/>
                      <a:round/>
                      <a:headEnd type="none" w="med" len="med"/>
                      <a:tailEnd type="none" w="med" len="med"/>
                    </a:lnL>
                    <a:lnR w="9525" cap="flat" cmpd="sng" algn="ctr">
                      <a:solidFill>
                        <a:srgbClr val="D9DCE5"/>
                      </a:solidFill>
                      <a:prstDash val="solid"/>
                      <a:round/>
                      <a:headEnd type="none" w="med" len="med"/>
                      <a:tailEnd type="none" w="med" len="med"/>
                    </a:lnR>
                    <a:lnT w="9525" cap="flat" cmpd="sng" algn="ctr">
                      <a:solidFill>
                        <a:srgbClr val="D9DCE5"/>
                      </a:solidFill>
                      <a:prstDash val="solid"/>
                      <a:round/>
                      <a:headEnd type="none" w="med" len="med"/>
                      <a:tailEnd type="none" w="med" len="med"/>
                    </a:lnT>
                    <a:lnB w="9525">
                      <a:solidFill>
                        <a:srgbClr val="D9DCE5"/>
                      </a:solidFill>
                    </a:lnB>
                    <a:solidFill>
                      <a:srgbClr val="F8F9FB"/>
                    </a:solidFill>
                  </a:tcPr>
                </a:tc>
                <a:tc>
                  <a:txBody>
                    <a:bodyPr/>
                    <a:lstStyle/>
                    <a:p>
                      <a:pPr algn="l"/>
                      <a:r>
                        <a:rPr sz="1250" b="0" dirty="0">
                          <a:solidFill>
                            <a:srgbClr val="2E3142"/>
                          </a:solidFill>
                          <a:latin typeface="210 OmniGothic 040"/>
                          <a:ea typeface="210 OmniGothic 040"/>
                          <a:cs typeface="210 OmniGothic 040"/>
                        </a:rPr>
                        <a:t>확산 예측 입력, 위험도 계산</a:t>
                      </a:r>
                      <a:r>
                        <a:rPr sz="1250" b="0" dirty="0">
                          <a:solidFill>
                            <a:srgbClr val="FF0000"/>
                          </a:solidFill>
                          <a:latin typeface="210 OmniGothic 040"/>
                          <a:ea typeface="210 OmniGothic 040"/>
                          <a:cs typeface="210 OmniGothic 040"/>
                        </a:rPr>
                        <a:t>(P5 범위 겹침 가중)</a:t>
                      </a:r>
                    </a:p>
                  </a:txBody>
                  <a:tcPr marT="40233" marB="40233" anchor="ctr">
                    <a:lnL w="9525" cap="flat" cmpd="sng" algn="ctr">
                      <a:solidFill>
                        <a:srgbClr val="D9DCE5"/>
                      </a:solidFill>
                      <a:prstDash val="solid"/>
                      <a:round/>
                      <a:headEnd type="none" w="med" len="med"/>
                      <a:tailEnd type="none" w="med" len="med"/>
                    </a:lnL>
                    <a:lnR w="9525">
                      <a:solidFill>
                        <a:srgbClr val="D9DCE5"/>
                      </a:solidFill>
                    </a:lnR>
                    <a:lnT w="9525" cap="flat" cmpd="sng" algn="ctr">
                      <a:solidFill>
                        <a:srgbClr val="D9DCE5"/>
                      </a:solidFill>
                      <a:prstDash val="solid"/>
                      <a:round/>
                      <a:headEnd type="none" w="med" len="med"/>
                      <a:tailEnd type="none" w="med" len="med"/>
                    </a:lnT>
                    <a:lnB w="9525">
                      <a:solidFill>
                        <a:srgbClr val="D9DCE5"/>
                      </a:solidFill>
                    </a:lnB>
                    <a:solidFill>
                      <a:srgbClr val="F8F9FB"/>
                    </a:solidFill>
                  </a:tcPr>
                </a:tc>
                <a:extLst>
                  <a:ext uri="{0D108BD9-81ED-4DB2-BD59-A6C34878D82A}">
                    <a16:rowId xmlns:a16="http://schemas.microsoft.com/office/drawing/2014/main" val="10002"/>
                  </a:ext>
                </a:extLst>
              </a:tr>
              <a:tr h="563270">
                <a:tc>
                  <a:txBody>
                    <a:bodyPr/>
                    <a:lstStyle/>
                    <a:p>
                      <a:pPr algn="l"/>
                      <a:r>
                        <a:rPr sz="1250" b="1" dirty="0">
                          <a:solidFill>
                            <a:srgbClr val="2E3142"/>
                          </a:solidFill>
                          <a:latin typeface="210 OmniGothic 040"/>
                          <a:ea typeface="210 OmniGothic 040"/>
                          <a:cs typeface="210 OmniGothic 040"/>
                        </a:rPr>
                        <a:t>현장 입력</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lvl="0" algn="l">
                        <a:buNone/>
                      </a:pPr>
                      <a:r>
                        <a:rPr lang="ko-KR" altLang="en-US" sz="1250" b="0" i="0" u="none" strike="noStrike" noProof="0" dirty="0">
                          <a:solidFill>
                            <a:srgbClr val="2E3142"/>
                          </a:solidFill>
                          <a:latin typeface="210 OmniGothic 040"/>
                          <a:ea typeface="210 OmniGothic 040"/>
                          <a:cs typeface="210 OmniGothic 040"/>
                        </a:rPr>
                        <a:t>상황 보고자의 발화 위치</a:t>
                      </a:r>
                      <a:r>
                        <a:rPr lang="en-US" altLang="ko-KR" sz="1250" b="0" i="0" u="none" strike="noStrike" noProof="0" dirty="0">
                          <a:solidFill>
                            <a:srgbClr val="2E3142"/>
                          </a:solidFill>
                          <a:latin typeface="210 OmniGothic 040"/>
                          <a:ea typeface="210 OmniGothic 040"/>
                          <a:cs typeface="210 OmniGothic 040"/>
                        </a:rPr>
                        <a:t>·</a:t>
                      </a:r>
                      <a:r>
                        <a:rPr lang="ko-KR" altLang="en-US" sz="1250" b="0" i="0" u="none" strike="noStrike" noProof="0" dirty="0">
                          <a:solidFill>
                            <a:srgbClr val="2E3142"/>
                          </a:solidFill>
                          <a:latin typeface="210 OmniGothic 040"/>
                          <a:ea typeface="210 OmniGothic 040"/>
                          <a:cs typeface="210 OmniGothic 040"/>
                        </a:rPr>
                        <a:t>발생 일시</a:t>
                      </a:r>
                      <a:r>
                        <a:rPr lang="en-US" altLang="ko-KR" sz="1250" b="0" i="0" u="none" strike="noStrike" noProof="0" dirty="0">
                          <a:solidFill>
                            <a:srgbClr val="2E3142"/>
                          </a:solidFill>
                          <a:latin typeface="210 OmniGothic 040"/>
                          <a:ea typeface="210 OmniGothic 040"/>
                          <a:cs typeface="210 OmniGothic 040"/>
                        </a:rPr>
                        <a:t>·</a:t>
                      </a:r>
                      <a:r>
                        <a:rPr lang="ko-KR" altLang="en-US" sz="1250" b="0" i="0" u="none" strike="noStrike" noProof="0" dirty="0">
                          <a:solidFill>
                            <a:srgbClr val="2E3142"/>
                          </a:solidFill>
                          <a:latin typeface="210 OmniGothic 040"/>
                          <a:ea typeface="210 OmniGothic 040"/>
                          <a:cs typeface="210 OmniGothic 040"/>
                        </a:rPr>
                        <a:t>실측 화선</a:t>
                      </a:r>
                      <a:r>
                        <a:rPr lang="en-US" altLang="ko-KR" sz="1250" b="0" i="0" u="none" strike="noStrike" noProof="0" dirty="0">
                          <a:solidFill>
                            <a:srgbClr val="2E3142"/>
                          </a:solidFill>
                          <a:latin typeface="210 OmniGothic 040"/>
                          <a:ea typeface="210 OmniGothic 040"/>
                          <a:cs typeface="210 OmniGothic 040"/>
                        </a:rPr>
                        <a:t>(GeoJSON</a:t>
                      </a:r>
                      <a:r>
                        <a:rPr lang="ko-KR" altLang="en-US" sz="1250" b="0" i="0" u="none" strike="noStrike" noProof="0" dirty="0">
                          <a:solidFill>
                            <a:srgbClr val="2E3142"/>
                          </a:solidFill>
                          <a:latin typeface="210 OmniGothic 040"/>
                          <a:ea typeface="210 OmniGothic 040"/>
                          <a:cs typeface="210 OmniGothic 040"/>
                        </a:rPr>
                        <a:t> </a:t>
                      </a:r>
                      <a:r>
                        <a:rPr lang="en-US" altLang="ko-KR" sz="1250" b="0" i="0" u="none" strike="noStrike" noProof="0" dirty="0">
                          <a:solidFill>
                            <a:srgbClr val="2E3142"/>
                          </a:solidFill>
                          <a:latin typeface="210 OmniGothic 040"/>
                          <a:ea typeface="210 OmniGothic 040"/>
                          <a:cs typeface="210 OmniGothic 040"/>
                        </a:rPr>
                        <a:t>Polygon)</a:t>
                      </a:r>
                      <a:endParaRPr sz="1250">
                        <a:latin typeface="210 OmniGothic 040"/>
                        <a:ea typeface="210 OmniGothic 040"/>
                      </a:endParaRP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250" b="0" dirty="0">
                          <a:solidFill>
                            <a:srgbClr val="2E3142"/>
                          </a:solidFill>
                          <a:latin typeface="210 OmniGothic 040"/>
                          <a:ea typeface="210 OmniGothic 040"/>
                          <a:cs typeface="210 OmniGothic 040"/>
                        </a:rPr>
                        <a:t>지도 그리기·GeoJSON 폴리곤(입력 시각별)</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250" b="0" dirty="0">
                          <a:solidFill>
                            <a:srgbClr val="2E3142"/>
                          </a:solidFill>
                          <a:latin typeface="210 OmniGothic 040"/>
                          <a:ea typeface="210 OmniGothic 040"/>
                          <a:cs typeface="210 OmniGothic 040"/>
                        </a:rPr>
                        <a:t>예측 초기 연소 범위, 통합 상황도 표시</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3"/>
                  </a:ext>
                </a:extLst>
              </a:tr>
              <a:tr h="563270">
                <a:tc>
                  <a:txBody>
                    <a:bodyPr/>
                    <a:lstStyle/>
                    <a:p>
                      <a:pPr lvl="0" algn="l">
                        <a:buNone/>
                      </a:pPr>
                      <a:r>
                        <a:rPr lang="ko-KR" altLang="en-US" sz="1250" b="1" dirty="0">
                          <a:latin typeface="210 OmniGothic 040"/>
                          <a:ea typeface="210 OmniGothic 040"/>
                        </a:rPr>
                        <a:t>공간</a:t>
                      </a:r>
                      <a:r>
                        <a:rPr lang="en-US" altLang="ko-KR" sz="1250" b="1" dirty="0">
                          <a:latin typeface="210 OmniGothic 040"/>
                          <a:ea typeface="210 OmniGothic 040"/>
                        </a:rPr>
                        <a:t> </a:t>
                      </a:r>
                      <a:r>
                        <a:rPr lang="ko-KR" altLang="en-US" sz="1250" b="1" dirty="0">
                          <a:latin typeface="210 OmniGothic 040"/>
                          <a:ea typeface="210 OmniGothic 040"/>
                        </a:rPr>
                        <a:t>레이어</a:t>
                      </a:r>
                      <a:endParaRPr lang="ko-KR" sz="1250" b="1">
                        <a:latin typeface="210 OmniGothic 040"/>
                        <a:ea typeface="210 OmniGothic 040"/>
                      </a:endParaRP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lvl="0" algn="l">
                        <a:buNone/>
                      </a:pPr>
                      <a:r>
                        <a:rPr lang="ko-KR" sz="1250" dirty="0">
                          <a:latin typeface="210 OmniGothic 040"/>
                          <a:ea typeface="210 OmniGothic 040"/>
                        </a:rPr>
                        <a:t>SGIS </a:t>
                      </a:r>
                      <a:r>
                        <a:rPr lang="ko-KR" altLang="en-US" sz="1250" b="0" i="0" u="none" strike="noStrike" noProof="0" dirty="0">
                          <a:solidFill>
                            <a:srgbClr val="2E3142"/>
                          </a:solidFill>
                          <a:latin typeface="210 OmniGothic 040"/>
                          <a:ea typeface="210 OmniGothic 040"/>
                        </a:rPr>
                        <a:t>행정경계</a:t>
                      </a:r>
                      <a:r>
                        <a:rPr lang="en-US" altLang="ko-KR" sz="1250" b="0" i="0" u="none" strike="noStrike" noProof="0" dirty="0">
                          <a:solidFill>
                            <a:srgbClr val="FF0000"/>
                          </a:solidFill>
                          <a:latin typeface="210 OmniGothic 040"/>
                          <a:ea typeface="210 OmniGothic 040"/>
                        </a:rPr>
                        <a:t>·성·연령별 인구(행정동)</a:t>
                      </a:r>
                      <a:r>
                        <a:rPr lang="en-US" altLang="ko-KR" sz="1250" b="0" i="0" u="none" strike="noStrike" noProof="0" dirty="0">
                          <a:solidFill>
                            <a:srgbClr val="2E3142"/>
                          </a:solidFill>
                          <a:latin typeface="210 OmniGothic 040"/>
                          <a:ea typeface="210 OmniGothic 040"/>
                        </a:rPr>
                        <a:t>, 마을·시설·대피소·도로·유관기관</a:t>
                      </a:r>
                      <a:r>
                        <a:rPr lang="en-US" altLang="ko-KR" sz="1250" b="0" i="0" u="none" strike="noStrike" noProof="0" dirty="0">
                          <a:solidFill>
                            <a:srgbClr val="FF0000"/>
                          </a:solidFill>
                          <a:latin typeface="210 OmniGothic 040"/>
                          <a:ea typeface="210 OmniGothic 040"/>
                        </a:rPr>
                        <a:t>(소방서 포함)</a:t>
                      </a:r>
                      <a:endParaRPr sz="1250">
                        <a:latin typeface="210 OmniGothic 040"/>
                        <a:ea typeface="210 OmniGothic 040"/>
                      </a:endParaRP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lvl="0" algn="l">
                        <a:buNone/>
                      </a:pPr>
                      <a:r>
                        <a:rPr lang="ko-KR" sz="1250" dirty="0" err="1">
                          <a:latin typeface="210 OmniGothic 040"/>
                          <a:ea typeface="210 OmniGothic 040"/>
                        </a:rPr>
                        <a:t>PostGIS</a:t>
                      </a:r>
                      <a:r>
                        <a:rPr lang="ko-KR" sz="1250" dirty="0">
                          <a:latin typeface="210 OmniGothic 040"/>
                          <a:ea typeface="210 OmniGothic 040"/>
                        </a:rPr>
                        <a:t> 테이블</a:t>
                      </a:r>
                      <a:endParaRPr sz="1250">
                        <a:latin typeface="210 OmniGothic 040"/>
                        <a:ea typeface="210 OmniGothic 040"/>
                      </a:endParaRP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lvl="0" algn="l">
                        <a:buNone/>
                      </a:pPr>
                      <a:r>
                        <a:rPr lang="ko-KR" sz="1250" dirty="0">
                          <a:latin typeface="210 OmniGothic 040"/>
                          <a:ea typeface="210 OmniGothic 040"/>
                        </a:rPr>
                        <a:t>지도 표시</a:t>
                      </a:r>
                      <a:r>
                        <a:rPr lang="en-US" sz="1250" dirty="0">
                          <a:latin typeface="210 OmniGothic 040"/>
                          <a:ea typeface="210 OmniGothic 040"/>
                        </a:rPr>
                        <a:t>, </a:t>
                      </a:r>
                      <a:r>
                        <a:rPr lang="ko-KR" sz="1250" dirty="0">
                          <a:latin typeface="210 OmniGothic 040"/>
                          <a:ea typeface="210 OmniGothic 040"/>
                        </a:rPr>
                        <a:t>도달 슬라이스</a:t>
                      </a:r>
                      <a:r>
                        <a:rPr lang="en-US" sz="1250" dirty="0">
                          <a:latin typeface="210 OmniGothic 040"/>
                          <a:ea typeface="210 OmniGothic 040"/>
                        </a:rPr>
                        <a:t>·</a:t>
                      </a:r>
                      <a:r>
                        <a:rPr lang="ko-KR" sz="1250" dirty="0">
                          <a:latin typeface="210 OmniGothic 040"/>
                          <a:ea typeface="210 OmniGothic 040"/>
                        </a:rPr>
                        <a:t>교차</a:t>
                      </a:r>
                      <a:r>
                        <a:rPr lang="en-US" sz="1250" dirty="0">
                          <a:latin typeface="210 OmniGothic 040"/>
                          <a:ea typeface="210 OmniGothic 040"/>
                        </a:rPr>
                        <a:t>·</a:t>
                      </a:r>
                      <a:r>
                        <a:rPr lang="ko-KR" sz="1250" dirty="0">
                          <a:latin typeface="210 OmniGothic 040"/>
                          <a:ea typeface="210 OmniGothic 040"/>
                        </a:rPr>
                        <a:t>경로 계산</a:t>
                      </a:r>
                      <a:r>
                        <a:rPr lang="ko-KR" sz="1250" dirty="0">
                          <a:solidFill>
                            <a:srgbClr val="FF0000"/>
                          </a:solidFill>
                          <a:latin typeface="210 OmniGothic 040"/>
                          <a:ea typeface="210 OmniGothic 040"/>
                        </a:rPr>
                        <a:t>, 위험도 취약계층 수·소방서 거리</a:t>
                      </a:r>
                      <a:endParaRPr sz="1250">
                        <a:latin typeface="210 OmniGothic 040"/>
                        <a:ea typeface="210 OmniGothic 040"/>
                      </a:endParaRP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4"/>
                  </a:ext>
                </a:extLst>
              </a:tr>
              <a:tr h="563269">
                <a:tc>
                  <a:txBody>
                    <a:bodyPr/>
                    <a:lstStyle/>
                    <a:p>
                      <a:pPr lvl="0" algn="l">
                        <a:buNone/>
                      </a:pPr>
                      <a:r>
                        <a:rPr lang="ko-KR" altLang="en-US" sz="1250" b="1" dirty="0">
                          <a:solidFill>
                            <a:srgbClr val="2E3142"/>
                          </a:solidFill>
                          <a:latin typeface="210 OmniGothic 040"/>
                          <a:ea typeface="210 OmniGothic 040"/>
                        </a:rPr>
                        <a:t>진화자원</a:t>
                      </a:r>
                      <a:endParaRPr sz="1250" b="1">
                        <a:solidFill>
                          <a:srgbClr val="2E3142"/>
                        </a:solidFill>
                        <a:latin typeface="210 OmniGothic 040"/>
                        <a:ea typeface="210 OmniGothic 040"/>
                      </a:endParaRPr>
                    </a:p>
                  </a:txBody>
                  <a:tcPr marT="40233" marB="40233" anchor="ctr">
                    <a:lnL w="9524">
                      <a:solidFill>
                        <a:srgbClr val="D9DCE5"/>
                      </a:solidFill>
                    </a:lnL>
                    <a:lnR w="9524">
                      <a:solidFill>
                        <a:srgbClr val="D9DCE5"/>
                      </a:solidFill>
                    </a:lnR>
                    <a:lnT w="9525" cap="flat" cmpd="sng" algn="ctr">
                      <a:solidFill>
                        <a:srgbClr val="D9DCE5"/>
                      </a:solidFill>
                      <a:prstDash val="solid"/>
                      <a:round/>
                      <a:headEnd type="none" w="med" len="med"/>
                      <a:tailEnd type="none" w="med" len="med"/>
                    </a:lnT>
                    <a:lnB w="9524">
                      <a:solidFill>
                        <a:srgbClr val="D9DCE5"/>
                      </a:solidFill>
                    </a:lnB>
                    <a:solidFill>
                      <a:srgbClr val="FFFFFF"/>
                    </a:solidFill>
                  </a:tcPr>
                </a:tc>
                <a:tc>
                  <a:txBody>
                    <a:bodyPr/>
                    <a:lstStyle/>
                    <a:p>
                      <a:pPr lvl="0" algn="l">
                        <a:buNone/>
                      </a:pPr>
                      <a:r>
                        <a:rPr lang="ko-KR" altLang="en-US" sz="1250" b="0" i="0" u="none" strike="noStrike" noProof="0" dirty="0">
                          <a:solidFill>
                            <a:srgbClr val="2E3142"/>
                          </a:solidFill>
                          <a:latin typeface="210 OmniGothic 040"/>
                          <a:ea typeface="210 OmniGothic 040"/>
                        </a:rPr>
                        <a:t>헬기</a:t>
                      </a:r>
                      <a:r>
                        <a:rPr lang="en-US" altLang="ko-KR" sz="1250" b="0" i="0" u="none" strike="noStrike" noProof="0" dirty="0">
                          <a:solidFill>
                            <a:srgbClr val="2E3142"/>
                          </a:solidFill>
                          <a:latin typeface="210 OmniGothic 040"/>
                          <a:ea typeface="210 OmniGothic 040"/>
                        </a:rPr>
                        <a:t>·</a:t>
                      </a:r>
                      <a:r>
                        <a:rPr lang="ko-KR" altLang="en-US" sz="1250" b="0" i="0" u="none" strike="noStrike" noProof="0" dirty="0">
                          <a:solidFill>
                            <a:srgbClr val="2E3142"/>
                          </a:solidFill>
                          <a:latin typeface="210 OmniGothic 040"/>
                          <a:ea typeface="210 OmniGothic 040"/>
                        </a:rPr>
                        <a:t>차량</a:t>
                      </a:r>
                      <a:r>
                        <a:rPr lang="en-US" altLang="ko-KR" sz="1250" b="0" i="0" u="none" strike="noStrike" noProof="0" dirty="0">
                          <a:solidFill>
                            <a:srgbClr val="2E3142"/>
                          </a:solidFill>
                          <a:latin typeface="210 OmniGothic 040"/>
                          <a:ea typeface="210 OmniGothic 040"/>
                        </a:rPr>
                        <a:t>·</a:t>
                      </a:r>
                      <a:r>
                        <a:rPr lang="ko-KR" altLang="en-US" sz="1250" b="0" i="0" u="none" strike="noStrike" noProof="0" dirty="0">
                          <a:solidFill>
                            <a:srgbClr val="2E3142"/>
                          </a:solidFill>
                          <a:latin typeface="210 OmniGothic 040"/>
                          <a:ea typeface="210 OmniGothic 040"/>
                        </a:rPr>
                        <a:t>인력</a:t>
                      </a:r>
                      <a:r>
                        <a:rPr lang="en-US" altLang="ko-KR" sz="1250" b="0" i="0" u="none" strike="noStrike" noProof="0" dirty="0">
                          <a:solidFill>
                            <a:srgbClr val="2E3142"/>
                          </a:solidFill>
                          <a:latin typeface="210 OmniGothic 040"/>
                          <a:ea typeface="210 OmniGothic 040"/>
                        </a:rPr>
                        <a:t>·</a:t>
                      </a:r>
                      <a:r>
                        <a:rPr lang="ko-KR" altLang="en-US" sz="1250" b="0" i="0" u="none" strike="noStrike" noProof="0" dirty="0">
                          <a:solidFill>
                            <a:srgbClr val="2E3142"/>
                          </a:solidFill>
                          <a:latin typeface="210 OmniGothic 040"/>
                          <a:ea typeface="210 OmniGothic 040"/>
                        </a:rPr>
                        <a:t>소속</a:t>
                      </a:r>
                      <a:r>
                        <a:rPr lang="en-US" altLang="ko-KR" sz="1250" b="0" i="0" u="none" strike="noStrike" noProof="0" dirty="0">
                          <a:solidFill>
                            <a:srgbClr val="2E3142"/>
                          </a:solidFill>
                          <a:latin typeface="210 OmniGothic 040"/>
                          <a:ea typeface="210 OmniGothic 040"/>
                        </a:rPr>
                        <a:t> </a:t>
                      </a:r>
                      <a:r>
                        <a:rPr lang="ko-KR" altLang="en-US" sz="1250" b="0" i="0" u="none" strike="noStrike" noProof="0" dirty="0">
                          <a:solidFill>
                            <a:srgbClr val="2E3142"/>
                          </a:solidFill>
                          <a:latin typeface="210 OmniGothic 040"/>
                          <a:ea typeface="210 OmniGothic 040"/>
                        </a:rPr>
                        <a:t>기관</a:t>
                      </a:r>
                      <a:r>
                        <a:rPr lang="en-US" altLang="ko-KR" sz="1250" b="0" i="0" u="none" strike="noStrike" noProof="0" dirty="0">
                          <a:solidFill>
                            <a:srgbClr val="2E3142"/>
                          </a:solidFill>
                          <a:latin typeface="210 OmniGothic 040"/>
                          <a:ea typeface="210 OmniGothic 040"/>
                        </a:rPr>
                        <a:t>·</a:t>
                      </a:r>
                      <a:r>
                        <a:rPr lang="ko-KR" altLang="en-US" sz="1250" b="0" i="0" u="none" strike="noStrike" noProof="0" dirty="0">
                          <a:solidFill>
                            <a:srgbClr val="2E3142"/>
                          </a:solidFill>
                          <a:latin typeface="210 OmniGothic 040"/>
                          <a:ea typeface="210 OmniGothic 040"/>
                        </a:rPr>
                        <a:t>자원</a:t>
                      </a:r>
                      <a:r>
                        <a:rPr lang="en-US" altLang="ko-KR" sz="1250" b="0" i="0" u="none" strike="noStrike" noProof="0" dirty="0">
                          <a:solidFill>
                            <a:srgbClr val="2E3142"/>
                          </a:solidFill>
                          <a:latin typeface="210 OmniGothic 040"/>
                          <a:ea typeface="210 OmniGothic 040"/>
                        </a:rPr>
                        <a:t> </a:t>
                      </a:r>
                      <a:r>
                        <a:rPr lang="ko-KR" altLang="en-US" sz="1250" b="0" i="0" u="none" strike="noStrike" noProof="0" dirty="0">
                          <a:solidFill>
                            <a:srgbClr val="2E3142"/>
                          </a:solidFill>
                          <a:latin typeface="210 OmniGothic 040"/>
                          <a:ea typeface="210 OmniGothic 040"/>
                        </a:rPr>
                        <a:t>상태</a:t>
                      </a:r>
                      <a:endParaRPr>
                        <a:latin typeface="210 OmniGothic 040"/>
                        <a:ea typeface="210 OmniGothic 040"/>
                      </a:endParaRPr>
                    </a:p>
                  </a:txBody>
                  <a:tcPr marT="40233" marB="40233" anchor="ctr">
                    <a:lnL w="9524">
                      <a:solidFill>
                        <a:srgbClr val="D9DCE5"/>
                      </a:solidFill>
                    </a:lnL>
                    <a:lnR w="9524">
                      <a:solidFill>
                        <a:srgbClr val="D9DCE5"/>
                      </a:solidFill>
                    </a:lnR>
                    <a:lnT w="9525" cap="flat" cmpd="sng" algn="ctr">
                      <a:solidFill>
                        <a:srgbClr val="D9DCE5"/>
                      </a:solidFill>
                      <a:prstDash val="solid"/>
                      <a:round/>
                      <a:headEnd type="none" w="med" len="med"/>
                      <a:tailEnd type="none" w="med" len="med"/>
                    </a:lnT>
                    <a:lnB w="9524">
                      <a:solidFill>
                        <a:srgbClr val="D9DCE5"/>
                      </a:solidFill>
                    </a:lnB>
                    <a:solidFill>
                      <a:srgbClr val="FFFFFF"/>
                    </a:solidFill>
                  </a:tcPr>
                </a:tc>
                <a:tc>
                  <a:txBody>
                    <a:bodyPr/>
                    <a:lstStyle/>
                    <a:p>
                      <a:pPr lvl="0" algn="l">
                        <a:buNone/>
                      </a:pPr>
                      <a:r>
                        <a:rPr lang="ko-KR" altLang="en-US" sz="1250" b="0" i="0" u="none" strike="noStrike" noProof="0" dirty="0">
                          <a:solidFill>
                            <a:srgbClr val="2E3142"/>
                          </a:solidFill>
                          <a:latin typeface="210 OmniGothic 040"/>
                          <a:ea typeface="210 OmniGothic 040"/>
                        </a:rPr>
                        <a:t>관계형</a:t>
                      </a:r>
                      <a:r>
                        <a:rPr lang="en-US" altLang="ko-KR" sz="1250" b="0" i="0" u="none" strike="noStrike" noProof="0" dirty="0">
                          <a:solidFill>
                            <a:srgbClr val="2E3142"/>
                          </a:solidFill>
                          <a:latin typeface="210 OmniGothic 040"/>
                          <a:ea typeface="210 OmniGothic 040"/>
                        </a:rPr>
                        <a:t> </a:t>
                      </a:r>
                      <a:r>
                        <a:rPr lang="ko-KR" altLang="en-US" sz="1250" b="0" i="0" u="none" strike="noStrike" noProof="0" dirty="0">
                          <a:solidFill>
                            <a:srgbClr val="2E3142"/>
                          </a:solidFill>
                          <a:latin typeface="210 OmniGothic 040"/>
                          <a:ea typeface="210 OmniGothic 040"/>
                        </a:rPr>
                        <a:t>데이터</a:t>
                      </a:r>
                      <a:r>
                        <a:rPr lang="en-US" altLang="ko-KR" sz="1250" b="0" i="0" u="none" strike="noStrike" noProof="0" dirty="0">
                          <a:solidFill>
                            <a:srgbClr val="2E3142"/>
                          </a:solidFill>
                          <a:latin typeface="210 OmniGothic 040"/>
                          <a:ea typeface="210 OmniGothic 040"/>
                        </a:rPr>
                        <a:t> </a:t>
                      </a:r>
                      <a:r>
                        <a:rPr lang="ko-KR" altLang="en-US" sz="1250" b="0" i="0" u="none" strike="noStrike" noProof="0" dirty="0">
                          <a:solidFill>
                            <a:srgbClr val="2E3142"/>
                          </a:solidFill>
                          <a:latin typeface="210 OmniGothic 040"/>
                          <a:ea typeface="210 OmniGothic 040"/>
                        </a:rPr>
                        <a:t>또는</a:t>
                      </a:r>
                      <a:r>
                        <a:rPr lang="en-US" altLang="ko-KR" sz="1250" b="0" i="0" u="none" strike="noStrike" noProof="0" dirty="0">
                          <a:solidFill>
                            <a:srgbClr val="2E3142"/>
                          </a:solidFill>
                          <a:latin typeface="210 OmniGothic 040"/>
                          <a:ea typeface="210 OmniGothic 040"/>
                        </a:rPr>
                        <a:t> </a:t>
                      </a:r>
                      <a:r>
                        <a:rPr lang="ko-KR" altLang="en-US" sz="1250" b="0" i="0" u="none" strike="noStrike" noProof="0" dirty="0">
                          <a:solidFill>
                            <a:srgbClr val="2E3142"/>
                          </a:solidFill>
                          <a:latin typeface="210 OmniGothic 040"/>
                          <a:ea typeface="210 OmniGothic 040"/>
                        </a:rPr>
                        <a:t>운영</a:t>
                      </a:r>
                      <a:r>
                        <a:rPr lang="en-US" altLang="ko-KR" sz="1250" b="0" i="0" u="none" strike="noStrike" noProof="0" dirty="0">
                          <a:solidFill>
                            <a:srgbClr val="2E3142"/>
                          </a:solidFill>
                          <a:latin typeface="210 OmniGothic 040"/>
                          <a:ea typeface="210 OmniGothic 040"/>
                        </a:rPr>
                        <a:t> DB, </a:t>
                      </a:r>
                      <a:r>
                        <a:rPr lang="ko-KR" altLang="en-US" sz="1250" b="0" i="0" u="none" strike="noStrike" noProof="0" dirty="0">
                          <a:solidFill>
                            <a:srgbClr val="2E3142"/>
                          </a:solidFill>
                          <a:latin typeface="210 OmniGothic 040"/>
                          <a:ea typeface="210 OmniGothic 040"/>
                        </a:rPr>
                        <a:t>보유</a:t>
                      </a:r>
                      <a:r>
                        <a:rPr lang="en-US" altLang="ko-KR" sz="1250" b="0" i="0" u="none" strike="noStrike" noProof="0" dirty="0">
                          <a:solidFill>
                            <a:srgbClr val="2E3142"/>
                          </a:solidFill>
                          <a:latin typeface="210 OmniGothic 040"/>
                          <a:ea typeface="210 OmniGothic 040"/>
                        </a:rPr>
                        <a:t>·</a:t>
                      </a:r>
                      <a:r>
                        <a:rPr lang="ko-KR" altLang="en-US" sz="1250" b="0" i="0" u="none" strike="noStrike" noProof="0" dirty="0">
                          <a:solidFill>
                            <a:srgbClr val="2E3142"/>
                          </a:solidFill>
                          <a:latin typeface="210 OmniGothic 040"/>
                          <a:ea typeface="210 OmniGothic 040"/>
                        </a:rPr>
                        <a:t>투입</a:t>
                      </a:r>
                      <a:r>
                        <a:rPr lang="en-US" altLang="ko-KR" sz="1250" b="0" i="0" u="none" strike="noStrike" noProof="0" dirty="0">
                          <a:solidFill>
                            <a:srgbClr val="2E3142"/>
                          </a:solidFill>
                          <a:latin typeface="210 OmniGothic 040"/>
                          <a:ea typeface="210 OmniGothic 040"/>
                        </a:rPr>
                        <a:t>·</a:t>
                      </a:r>
                      <a:r>
                        <a:rPr lang="ko-KR" altLang="en-US" sz="1250" b="0" i="0" u="none" strike="noStrike" noProof="0" dirty="0">
                          <a:solidFill>
                            <a:srgbClr val="2E3142"/>
                          </a:solidFill>
                          <a:latin typeface="210 OmniGothic 040"/>
                          <a:ea typeface="210 OmniGothic 040"/>
                        </a:rPr>
                        <a:t>대기</a:t>
                      </a:r>
                      <a:r>
                        <a:rPr lang="en-US" altLang="ko-KR" sz="1250" b="0" i="0" u="none" strike="noStrike" noProof="0" dirty="0">
                          <a:solidFill>
                            <a:srgbClr val="2E3142"/>
                          </a:solidFill>
                          <a:latin typeface="210 OmniGothic 040"/>
                          <a:ea typeface="210 OmniGothic 040"/>
                        </a:rPr>
                        <a:t>·</a:t>
                      </a:r>
                      <a:r>
                        <a:rPr lang="ko-KR" altLang="en-US" sz="1250" b="0" i="0" u="none" strike="noStrike" noProof="0" dirty="0">
                          <a:solidFill>
                            <a:srgbClr val="2E3142"/>
                          </a:solidFill>
                          <a:latin typeface="210 OmniGothic 040"/>
                          <a:ea typeface="210 OmniGothic 040"/>
                        </a:rPr>
                        <a:t>가용</a:t>
                      </a:r>
                      <a:r>
                        <a:rPr lang="en-US" altLang="ko-KR" sz="1250" b="0" i="0" u="none" strike="noStrike" noProof="0" dirty="0">
                          <a:solidFill>
                            <a:srgbClr val="2E3142"/>
                          </a:solidFill>
                          <a:latin typeface="210 OmniGothic 040"/>
                          <a:ea typeface="210 OmniGothic 040"/>
                        </a:rPr>
                        <a:t> </a:t>
                      </a:r>
                      <a:r>
                        <a:rPr lang="ko-KR" altLang="en-US" sz="1250" b="0" i="0" u="none" strike="noStrike" noProof="0" dirty="0">
                          <a:solidFill>
                            <a:srgbClr val="2E3142"/>
                          </a:solidFill>
                          <a:latin typeface="210 OmniGothic 040"/>
                          <a:ea typeface="210 OmniGothic 040"/>
                        </a:rPr>
                        <a:t>상태</a:t>
                      </a:r>
                      <a:endParaRPr>
                        <a:latin typeface="210 OmniGothic 040"/>
                        <a:ea typeface="210 OmniGothic 040"/>
                      </a:endParaRPr>
                    </a:p>
                  </a:txBody>
                  <a:tcPr marT="40233" marB="40233" anchor="ctr">
                    <a:lnL w="9524">
                      <a:solidFill>
                        <a:srgbClr val="D9DCE5"/>
                      </a:solidFill>
                    </a:lnL>
                    <a:lnR w="9524">
                      <a:solidFill>
                        <a:srgbClr val="D9DCE5"/>
                      </a:solidFill>
                    </a:lnR>
                    <a:lnT w="9525" cap="flat" cmpd="sng" algn="ctr">
                      <a:solidFill>
                        <a:srgbClr val="D9DCE5"/>
                      </a:solidFill>
                      <a:prstDash val="solid"/>
                      <a:round/>
                      <a:headEnd type="none" w="med" len="med"/>
                      <a:tailEnd type="none" w="med" len="med"/>
                    </a:lnT>
                    <a:lnB w="9524">
                      <a:solidFill>
                        <a:srgbClr val="D9DCE5"/>
                      </a:solidFill>
                    </a:lnB>
                    <a:solidFill>
                      <a:srgbClr val="FFFFFF"/>
                    </a:solidFill>
                  </a:tcPr>
                </a:tc>
                <a:tc>
                  <a:txBody>
                    <a:bodyPr/>
                    <a:lstStyle/>
                    <a:p>
                      <a:pPr lvl="0" algn="l">
                        <a:buNone/>
                      </a:pPr>
                      <a:r>
                        <a:rPr lang="ko-KR" altLang="en-US" sz="1250" b="0" i="0" u="none" strike="noStrike" noProof="0" dirty="0">
                          <a:solidFill>
                            <a:srgbClr val="2E3142"/>
                          </a:solidFill>
                        </a:rPr>
                        <a:t>통합</a:t>
                      </a:r>
                      <a:r>
                        <a:rPr lang="en-US" altLang="ko-KR" sz="1250" b="0" i="0" u="none" strike="noStrike" noProof="0" dirty="0">
                          <a:solidFill>
                            <a:srgbClr val="2E3142"/>
                          </a:solidFill>
                        </a:rPr>
                        <a:t> </a:t>
                      </a:r>
                      <a:r>
                        <a:rPr lang="ko-KR" altLang="en-US" sz="1250" b="0" i="0" u="none" strike="noStrike" noProof="0" dirty="0">
                          <a:solidFill>
                            <a:srgbClr val="2E3142"/>
                          </a:solidFill>
                        </a:rPr>
                        <a:t>상황도</a:t>
                      </a:r>
                      <a:r>
                        <a:rPr lang="en-US" altLang="ko-KR" sz="1250" b="0" i="0" u="none" strike="noStrike" noProof="0" dirty="0">
                          <a:solidFill>
                            <a:srgbClr val="2E3142"/>
                          </a:solidFill>
                        </a:rPr>
                        <a:t> </a:t>
                      </a:r>
                      <a:r>
                        <a:rPr lang="ko-KR" altLang="en-US" sz="1250" b="0" i="0" u="none" strike="noStrike" noProof="0" dirty="0">
                          <a:solidFill>
                            <a:srgbClr val="2E3142"/>
                          </a:solidFill>
                        </a:rPr>
                        <a:t>자원</a:t>
                      </a:r>
                      <a:r>
                        <a:rPr lang="en-US" altLang="ko-KR" sz="1250" b="0" i="0" u="none" strike="noStrike" noProof="0" dirty="0">
                          <a:solidFill>
                            <a:srgbClr val="2E3142"/>
                          </a:solidFill>
                        </a:rPr>
                        <a:t> </a:t>
                      </a:r>
                      <a:r>
                        <a:rPr lang="ko-KR" altLang="en-US" sz="1250" b="0" i="0" u="none" strike="noStrike" noProof="0" dirty="0">
                          <a:solidFill>
                            <a:srgbClr val="2E3142"/>
                          </a:solidFill>
                        </a:rPr>
                        <a:t>현황</a:t>
                      </a:r>
                      <a:r>
                        <a:rPr lang="en-US" altLang="ko-KR" sz="1250" b="0" i="0" u="none" strike="noStrike" noProof="0" dirty="0">
                          <a:solidFill>
                            <a:srgbClr val="2E3142"/>
                          </a:solidFill>
                        </a:rPr>
                        <a:t> </a:t>
                      </a:r>
                      <a:r>
                        <a:rPr lang="ko-KR" altLang="en-US" sz="1250" b="0" i="0" u="none" strike="noStrike" noProof="0" dirty="0">
                          <a:solidFill>
                            <a:srgbClr val="2E3142"/>
                          </a:solidFill>
                        </a:rPr>
                        <a:t>표시</a:t>
                      </a:r>
                      <a:r>
                        <a:rPr lang="en-US" altLang="ko-KR" sz="1250" b="0" i="0" u="none" strike="noStrike" noProof="0" dirty="0">
                          <a:solidFill>
                            <a:srgbClr val="2E3142"/>
                          </a:solidFill>
                        </a:rPr>
                        <a:t>(가용만 보기 필터, 해제 시 보유·투입·대기 포함), </a:t>
                      </a:r>
                      <a:r>
                        <a:rPr lang="ko-KR" altLang="en-US" sz="1250" b="0" i="0" u="none" strike="noStrike" noProof="0" dirty="0">
                          <a:solidFill>
                            <a:srgbClr val="2E3142"/>
                          </a:solidFill>
                        </a:rPr>
                        <a:t>진화자원</a:t>
                      </a:r>
                      <a:r>
                        <a:rPr lang="en-US" altLang="ko-KR" sz="1250" b="0" i="0" u="none" strike="noStrike" noProof="0" dirty="0">
                          <a:solidFill>
                            <a:srgbClr val="2E3142"/>
                          </a:solidFill>
                        </a:rPr>
                        <a:t> </a:t>
                      </a:r>
                      <a:r>
                        <a:rPr lang="ko-KR" altLang="en-US" sz="1250" b="0" i="0" u="none" strike="noStrike" noProof="0" dirty="0">
                          <a:solidFill>
                            <a:srgbClr val="2E3142"/>
                          </a:solidFill>
                        </a:rPr>
                        <a:t>투입</a:t>
                      </a:r>
                      <a:r>
                        <a:rPr lang="en-US" altLang="ko-KR" sz="1250" b="0" i="0" u="none" strike="noStrike" noProof="0" dirty="0">
                          <a:solidFill>
                            <a:srgbClr val="2E3142"/>
                          </a:solidFill>
                        </a:rPr>
                        <a:t>·</a:t>
                      </a:r>
                      <a:r>
                        <a:rPr lang="ko-KR" altLang="en-US" sz="1250" b="0" i="0" u="none" strike="noStrike" noProof="0" dirty="0">
                          <a:solidFill>
                            <a:srgbClr val="2E3142"/>
                          </a:solidFill>
                        </a:rPr>
                        <a:t>배분</a:t>
                      </a:r>
                      <a:r>
                        <a:rPr lang="en-US" altLang="ko-KR" sz="1250" b="0" i="0" u="none" strike="noStrike" noProof="0" dirty="0">
                          <a:solidFill>
                            <a:srgbClr val="2E3142"/>
                          </a:solidFill>
                        </a:rPr>
                        <a:t>·</a:t>
                      </a:r>
                      <a:r>
                        <a:rPr lang="ko-KR" altLang="en-US" sz="1250" b="0" i="0" u="none" strike="noStrike" noProof="0" dirty="0">
                          <a:solidFill>
                            <a:srgbClr val="2E3142"/>
                          </a:solidFill>
                        </a:rPr>
                        <a:t>재배치</a:t>
                      </a:r>
                      <a:r>
                        <a:rPr lang="en-US" altLang="ko-KR" sz="1250" b="0" i="0" u="none" strike="noStrike" noProof="0" dirty="0">
                          <a:solidFill>
                            <a:srgbClr val="2E3142"/>
                          </a:solidFill>
                        </a:rPr>
                        <a:t>(S3) </a:t>
                      </a:r>
                      <a:r>
                        <a:rPr lang="ko-KR" altLang="en-US" sz="1250" b="0" i="0" u="none" strike="noStrike" noProof="0" dirty="0">
                          <a:solidFill>
                            <a:srgbClr val="2E3142"/>
                          </a:solidFill>
                        </a:rPr>
                        <a:t>제안</a:t>
                      </a:r>
                      <a:r>
                        <a:rPr lang="en-US" altLang="ko-KR" sz="1250" b="0" i="0" u="none" strike="noStrike" noProof="0" dirty="0">
                          <a:solidFill>
                            <a:srgbClr val="2E3142"/>
                          </a:solidFill>
                        </a:rPr>
                        <a:t> </a:t>
                      </a:r>
                      <a:r>
                        <a:rPr lang="ko-KR" altLang="en-US" sz="1250" b="0" i="0" u="none" strike="noStrike" noProof="0" dirty="0">
                          <a:solidFill>
                            <a:srgbClr val="2E3142"/>
                          </a:solidFill>
                        </a:rPr>
                        <a:t>입력</a:t>
                      </a:r>
                      <a:endParaRPr/>
                    </a:p>
                  </a:txBody>
                  <a:tcPr marT="40233" marB="40233" anchor="ctr">
                    <a:lnL w="9524">
                      <a:solidFill>
                        <a:srgbClr val="D9DCE5"/>
                      </a:solidFill>
                    </a:lnL>
                    <a:lnR w="9524">
                      <a:solidFill>
                        <a:srgbClr val="D9DCE5"/>
                      </a:solidFill>
                    </a:lnR>
                    <a:lnT w="9525" cap="flat" cmpd="sng" algn="ctr">
                      <a:solidFill>
                        <a:srgbClr val="D9DCE5"/>
                      </a:solidFill>
                      <a:prstDash val="solid"/>
                      <a:round/>
                      <a:headEnd type="none" w="med" len="med"/>
                      <a:tailEnd type="none" w="med" len="med"/>
                    </a:lnT>
                    <a:lnB w="9524">
                      <a:solidFill>
                        <a:srgbClr val="D9DCE5"/>
                      </a:solidFill>
                    </a:lnB>
                    <a:solidFill>
                      <a:srgbClr val="FFFFFF"/>
                    </a:solidFill>
                  </a:tcPr>
                </a:tc>
                <a:extLst>
                  <a:ext uri="{0D108BD9-81ED-4DB2-BD59-A6C34878D82A}">
                    <a16:rowId xmlns:a16="http://schemas.microsoft.com/office/drawing/2014/main" val="3979909462"/>
                  </a:ext>
                </a:extLst>
              </a:tr>
              <a:tr h="563270">
                <a:tc>
                  <a:txBody>
                    <a:bodyPr/>
                    <a:lstStyle/>
                    <a:p>
                      <a:pPr algn="l"/>
                      <a:r>
                        <a:rPr sz="1250" b="1" dirty="0">
                          <a:solidFill>
                            <a:srgbClr val="2E3142"/>
                          </a:solidFill>
                          <a:latin typeface="210 OmniGothic 040"/>
                          <a:ea typeface="210 OmniGothic 040"/>
                          <a:cs typeface="210 OmniGothic 040"/>
                        </a:rPr>
                        <a:t>근거 코퍼스</a:t>
                      </a:r>
                    </a:p>
                  </a:txBody>
                  <a:tcPr marT="40233" marB="40233" anchor="ctr">
                    <a:lnL w="9525">
                      <a:solidFill>
                        <a:srgbClr val="D9DCE5"/>
                      </a:solidFill>
                    </a:lnL>
                    <a:lnR w="9525" cap="flat" cmpd="sng" algn="ctr">
                      <a:solidFill>
                        <a:srgbClr val="D9DCE5"/>
                      </a:solidFill>
                      <a:prstDash val="solid"/>
                      <a:round/>
                      <a:headEnd type="none" w="med" len="med"/>
                      <a:tailEnd type="none" w="med" len="med"/>
                    </a:lnR>
                    <a:lnT w="9524" cap="flat" cmpd="sng" algn="ctr">
                      <a:solidFill>
                        <a:srgbClr val="D9DCE5"/>
                      </a:solidFill>
                      <a:prstDash val="solid"/>
                      <a:round/>
                      <a:headEnd type="none" w="med" len="med"/>
                      <a:tailEnd type="none" w="med" len="med"/>
                    </a:lnT>
                    <a:lnB w="9525" cap="flat" cmpd="sng" algn="ctr">
                      <a:solidFill>
                        <a:srgbClr val="D9DCE5"/>
                      </a:solidFill>
                      <a:prstDash val="solid"/>
                      <a:round/>
                      <a:headEnd type="none" w="med" len="med"/>
                      <a:tailEnd type="none" w="med" len="med"/>
                    </a:lnB>
                    <a:solidFill>
                      <a:srgbClr val="FFFFFF"/>
                    </a:solidFill>
                  </a:tcPr>
                </a:tc>
                <a:tc>
                  <a:txBody>
                    <a:bodyPr/>
                    <a:lstStyle/>
                    <a:p>
                      <a:pPr algn="l"/>
                      <a:r>
                        <a:rPr sz="1250" b="0" dirty="0">
                          <a:solidFill>
                            <a:srgbClr val="2E3142"/>
                          </a:solidFill>
                          <a:latin typeface="210 OmniGothic 040"/>
                          <a:ea typeface="210 OmniGothic 040"/>
                          <a:cs typeface="210 OmniGothic 040"/>
                        </a:rPr>
                        <a:t>표준매뉴얼(2026.6) 본문, 예규 제733호, 통합규정·산림재난방지법</a:t>
                      </a:r>
                    </a:p>
                  </a:txBody>
                  <a:tcPr marT="40233" marB="40233" anchor="ctr">
                    <a:lnL w="9525" cap="flat" cmpd="sng" algn="ctr">
                      <a:solidFill>
                        <a:srgbClr val="D9DCE5"/>
                      </a:solidFill>
                      <a:prstDash val="solid"/>
                      <a:round/>
                      <a:headEnd type="none" w="med" len="med"/>
                      <a:tailEnd type="none" w="med" len="med"/>
                    </a:lnL>
                    <a:lnR w="9525" cap="flat" cmpd="sng" algn="ctr">
                      <a:solidFill>
                        <a:srgbClr val="D9DCE5"/>
                      </a:solidFill>
                      <a:prstDash val="solid"/>
                      <a:round/>
                      <a:headEnd type="none" w="med" len="med"/>
                      <a:tailEnd type="none" w="med" len="med"/>
                    </a:lnR>
                    <a:lnT w="9524" cap="flat" cmpd="sng" algn="ctr">
                      <a:solidFill>
                        <a:srgbClr val="D9DCE5"/>
                      </a:solidFill>
                      <a:prstDash val="solid"/>
                      <a:round/>
                      <a:headEnd type="none" w="med" len="med"/>
                      <a:tailEnd type="none" w="med" len="med"/>
                    </a:lnT>
                    <a:lnB w="9525" cap="flat" cmpd="sng" algn="ctr">
                      <a:solidFill>
                        <a:srgbClr val="D9DCE5"/>
                      </a:solidFill>
                      <a:prstDash val="solid"/>
                      <a:round/>
                      <a:headEnd type="none" w="med" len="med"/>
                      <a:tailEnd type="none" w="med" len="med"/>
                    </a:lnB>
                    <a:solidFill>
                      <a:srgbClr val="FFFFFF"/>
                    </a:solidFill>
                  </a:tcPr>
                </a:tc>
                <a:tc>
                  <a:txBody>
                    <a:bodyPr/>
                    <a:lstStyle/>
                    <a:p>
                      <a:pPr algn="l"/>
                      <a:r>
                        <a:rPr sz="1250" b="0" dirty="0">
                          <a:solidFill>
                            <a:srgbClr val="2E3142"/>
                          </a:solidFill>
                          <a:latin typeface="210 OmniGothic 040"/>
                          <a:ea typeface="210 OmniGothic 040"/>
                          <a:cs typeface="210 OmniGothic 040"/>
                        </a:rPr>
                        <a:t>절·표 행·조문 단위 청크(약 400자)</a:t>
                      </a:r>
                    </a:p>
                  </a:txBody>
                  <a:tcPr marT="40233" marB="40233" anchor="ctr">
                    <a:lnL w="9525" cap="flat" cmpd="sng" algn="ctr">
                      <a:solidFill>
                        <a:srgbClr val="D9DCE5"/>
                      </a:solidFill>
                      <a:prstDash val="solid"/>
                      <a:round/>
                      <a:headEnd type="none" w="med" len="med"/>
                      <a:tailEnd type="none" w="med" len="med"/>
                    </a:lnL>
                    <a:lnR w="9525" cap="flat" cmpd="sng" algn="ctr">
                      <a:solidFill>
                        <a:srgbClr val="D9DCE5"/>
                      </a:solidFill>
                      <a:prstDash val="solid"/>
                      <a:round/>
                      <a:headEnd type="none" w="med" len="med"/>
                      <a:tailEnd type="none" w="med" len="med"/>
                    </a:lnR>
                    <a:lnT w="9524" cap="flat" cmpd="sng" algn="ctr">
                      <a:solidFill>
                        <a:srgbClr val="D9DCE5"/>
                      </a:solidFill>
                      <a:prstDash val="solid"/>
                      <a:round/>
                      <a:headEnd type="none" w="med" len="med"/>
                      <a:tailEnd type="none" w="med" len="med"/>
                    </a:lnT>
                    <a:lnB w="9525" cap="flat" cmpd="sng" algn="ctr">
                      <a:solidFill>
                        <a:srgbClr val="D9DCE5"/>
                      </a:solidFill>
                      <a:prstDash val="solid"/>
                      <a:round/>
                      <a:headEnd type="none" w="med" len="med"/>
                      <a:tailEnd type="none" w="med" len="med"/>
                    </a:lnB>
                    <a:solidFill>
                      <a:srgbClr val="FFFFFF"/>
                    </a:solidFill>
                  </a:tcPr>
                </a:tc>
                <a:tc>
                  <a:txBody>
                    <a:bodyPr/>
                    <a:lstStyle/>
                    <a:p>
                      <a:pPr algn="l"/>
                      <a:r>
                        <a:rPr sz="1250" b="0" dirty="0">
                          <a:solidFill>
                            <a:srgbClr val="2E3142"/>
                          </a:solidFill>
                          <a:latin typeface="210 OmniGothic 040"/>
                          <a:ea typeface="210 OmniGothic 040"/>
                          <a:cs typeface="210 OmniGothic 040"/>
                        </a:rPr>
                        <a:t>근거 검색(KURE-v1 + FAISS), 제안 문장 인용</a:t>
                      </a:r>
                    </a:p>
                  </a:txBody>
                  <a:tcPr marT="40233" marB="40233" anchor="ctr">
                    <a:lnL w="9525" cap="flat" cmpd="sng" algn="ctr">
                      <a:solidFill>
                        <a:srgbClr val="D9DCE5"/>
                      </a:solidFill>
                      <a:prstDash val="solid"/>
                      <a:round/>
                      <a:headEnd type="none" w="med" len="med"/>
                      <a:tailEnd type="none" w="med" len="med"/>
                    </a:lnL>
                    <a:lnR w="9525">
                      <a:solidFill>
                        <a:srgbClr val="D9DCE5"/>
                      </a:solidFill>
                    </a:lnR>
                    <a:lnT w="9524" cap="flat" cmpd="sng" algn="ctr">
                      <a:solidFill>
                        <a:srgbClr val="D9DCE5"/>
                      </a:solidFill>
                      <a:prstDash val="solid"/>
                      <a:round/>
                      <a:headEnd type="none" w="med" len="med"/>
                      <a:tailEnd type="none" w="med" len="med"/>
                    </a:lnT>
                    <a:lnB w="9525" cap="flat" cmpd="sng" algn="ctr">
                      <a:solidFill>
                        <a:srgbClr val="D9DCE5"/>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63270">
                <a:tc>
                  <a:txBody>
                    <a:bodyPr/>
                    <a:lstStyle/>
                    <a:p>
                      <a:pPr algn="l"/>
                      <a:r>
                        <a:rPr sz="1250" b="1" dirty="0">
                          <a:solidFill>
                            <a:srgbClr val="FF0000"/>
                          </a:solidFill>
                          <a:latin typeface="210 OmniGothic 040"/>
                          <a:ea typeface="210 OmniGothic 040"/>
                          <a:cs typeface="210 OmniGothic 040"/>
                        </a:rPr>
                        <a:t>평가 세트</a:t>
                      </a:r>
                    </a:p>
                  </a:txBody>
                  <a:tcPr marT="40233" marB="40233" anchor="ctr">
                    <a:lnL w="9525">
                      <a:solidFill>
                        <a:srgbClr val="D9DCE5"/>
                      </a:solidFill>
                    </a:lnL>
                    <a:lnR w="9525" cap="flat" cmpd="sng" algn="ctr">
                      <a:solidFill>
                        <a:srgbClr val="D9DCE5"/>
                      </a:solidFill>
                      <a:prstDash val="solid"/>
                      <a:round/>
                      <a:headEnd type="none" w="med" len="med"/>
                      <a:tailEnd type="none" w="med" len="med"/>
                    </a:lnR>
                    <a:lnT w="9525" cap="flat" cmpd="sng" algn="ctr">
                      <a:solidFill>
                        <a:srgbClr val="D9DCE5"/>
                      </a:solidFill>
                      <a:prstDash val="solid"/>
                      <a:round/>
                      <a:headEnd type="none" w="med" len="med"/>
                      <a:tailEnd type="none" w="med" len="med"/>
                    </a:lnT>
                    <a:lnB w="9525" cap="flat" cmpd="sng" algn="ctr">
                      <a:solidFill>
                        <a:srgbClr val="D9DCE5"/>
                      </a:solidFill>
                      <a:prstDash val="solid"/>
                      <a:round/>
                      <a:headEnd type="none" w="med" len="med"/>
                      <a:tailEnd type="none" w="med" len="med"/>
                    </a:lnB>
                    <a:solidFill>
                      <a:srgbClr val="FFFFFF"/>
                    </a:solidFill>
                  </a:tcPr>
                </a:tc>
                <a:tc>
                  <a:txBody>
                    <a:bodyPr/>
                    <a:lstStyle/>
                    <a:p>
                      <a:pPr algn="l"/>
                      <a:r>
                        <a:rPr sz="1250" b="0" dirty="0">
                          <a:solidFill>
                            <a:srgbClr val="FF0000"/>
                          </a:solidFill>
                          <a:latin typeface="210 OmniGothic 040"/>
                          <a:ea typeface="210 OmniGothic 040"/>
                          <a:cs typeface="210 OmniGothic 040"/>
                        </a:rPr>
                        <a:t>대응 제안 평가: 시나리오 시점 × 진화 S1~S7·대피 E1~E7 항목 질문, 팀이 매뉴얼 쪽수로 쓴 정답 답변</a:t>
                      </a:r>
                    </a:p>
                  </a:txBody>
                  <a:tcPr marT="40233" marB="40233" anchor="ctr">
                    <a:lnL w="9525" cap="flat" cmpd="sng" algn="ctr">
                      <a:solidFill>
                        <a:srgbClr val="D9DCE5"/>
                      </a:solidFill>
                      <a:prstDash val="solid"/>
                      <a:round/>
                      <a:headEnd type="none" w="med" len="med"/>
                      <a:tailEnd type="none" w="med" len="med"/>
                    </a:lnL>
                    <a:lnR w="9525" cap="flat" cmpd="sng" algn="ctr">
                      <a:solidFill>
                        <a:srgbClr val="D9DCE5"/>
                      </a:solidFill>
                      <a:prstDash val="solid"/>
                      <a:round/>
                      <a:headEnd type="none" w="med" len="med"/>
                      <a:tailEnd type="none" w="med" len="med"/>
                    </a:lnR>
                    <a:lnT w="9525" cap="flat" cmpd="sng" algn="ctr">
                      <a:solidFill>
                        <a:srgbClr val="D9DCE5"/>
                      </a:solidFill>
                      <a:prstDash val="solid"/>
                      <a:round/>
                      <a:headEnd type="none" w="med" len="med"/>
                      <a:tailEnd type="none" w="med" len="med"/>
                    </a:lnT>
                    <a:lnB w="9525" cap="flat" cmpd="sng" algn="ctr">
                      <a:solidFill>
                        <a:srgbClr val="D9DCE5"/>
                      </a:solidFill>
                      <a:prstDash val="solid"/>
                      <a:round/>
                      <a:headEnd type="none" w="med" len="med"/>
                      <a:tailEnd type="none" w="med" len="med"/>
                    </a:lnB>
                    <a:solidFill>
                      <a:srgbClr val="FFFFFF"/>
                    </a:solidFill>
                  </a:tcPr>
                </a:tc>
                <a:tc>
                  <a:txBody>
                    <a:bodyPr/>
                    <a:lstStyle/>
                    <a:p>
                      <a:pPr algn="l"/>
                      <a:r>
                        <a:rPr sz="1250" b="0" dirty="0">
                          <a:solidFill>
                            <a:srgbClr val="FF0000"/>
                          </a:solidFill>
                          <a:latin typeface="210 OmniGothic 040"/>
                          <a:ea typeface="210 OmniGothic 040"/>
                          <a:cs typeface="210 OmniGothic 040"/>
                        </a:rPr>
                        <a:t>항목 단위 1건(질문·상위 K 청크·제안 문장·정답 답변), 개발용·시험용 분리</a:t>
                      </a:r>
                    </a:p>
                  </a:txBody>
                  <a:tcPr marT="40233" marB="40233" anchor="ctr">
                    <a:lnL w="9525" cap="flat" cmpd="sng" algn="ctr">
                      <a:solidFill>
                        <a:srgbClr val="D9DCE5"/>
                      </a:solidFill>
                      <a:prstDash val="solid"/>
                      <a:round/>
                      <a:headEnd type="none" w="med" len="med"/>
                      <a:tailEnd type="none" w="med" len="med"/>
                    </a:lnL>
                    <a:lnR w="9525" cap="flat" cmpd="sng" algn="ctr">
                      <a:solidFill>
                        <a:srgbClr val="D9DCE5"/>
                      </a:solidFill>
                      <a:prstDash val="solid"/>
                      <a:round/>
                      <a:headEnd type="none" w="med" len="med"/>
                      <a:tailEnd type="none" w="med" len="med"/>
                    </a:lnR>
                    <a:lnT w="9525" cap="flat" cmpd="sng" algn="ctr">
                      <a:solidFill>
                        <a:srgbClr val="D9DCE5"/>
                      </a:solidFill>
                      <a:prstDash val="solid"/>
                      <a:round/>
                      <a:headEnd type="none" w="med" len="med"/>
                      <a:tailEnd type="none" w="med" len="med"/>
                    </a:lnT>
                    <a:lnB w="9525" cap="flat" cmpd="sng" algn="ctr">
                      <a:solidFill>
                        <a:srgbClr val="D9DCE5"/>
                      </a:solidFill>
                      <a:prstDash val="solid"/>
                      <a:round/>
                      <a:headEnd type="none" w="med" len="med"/>
                      <a:tailEnd type="none" w="med" len="med"/>
                    </a:lnB>
                    <a:solidFill>
                      <a:srgbClr val="FFFFFF"/>
                    </a:solidFill>
                  </a:tcPr>
                </a:tc>
                <a:tc>
                  <a:txBody>
                    <a:bodyPr/>
                    <a:lstStyle/>
                    <a:p>
                      <a:pPr algn="l"/>
                      <a:r>
                        <a:rPr sz="1250" b="0" dirty="0">
                          <a:solidFill>
                            <a:srgbClr val="FF0000"/>
                          </a:solidFill>
                          <a:latin typeface="210 OmniGothic 040"/>
                          <a:ea typeface="210 OmniGothic 040"/>
                          <a:cs typeface="210 OmniGothic 040"/>
                        </a:rPr>
                        <a:t>K 선택(개발용), 대응 제안 성능 4종 하한선 판정(시험용)</a:t>
                      </a:r>
                    </a:p>
                  </a:txBody>
                  <a:tcPr marT="40233" marB="40233" anchor="ctr">
                    <a:lnL w="9525" cap="flat" cmpd="sng" algn="ctr">
                      <a:solidFill>
                        <a:srgbClr val="D9DCE5"/>
                      </a:solidFill>
                      <a:prstDash val="solid"/>
                      <a:round/>
                      <a:headEnd type="none" w="med" len="med"/>
                      <a:tailEnd type="none" w="med" len="med"/>
                    </a:lnL>
                    <a:lnR w="9525">
                      <a:solidFill>
                        <a:srgbClr val="D9DCE5"/>
                      </a:solidFill>
                    </a:lnR>
                    <a:lnT w="9525" cap="flat" cmpd="sng" algn="ctr">
                      <a:solidFill>
                        <a:srgbClr val="D9DCE5"/>
                      </a:solidFill>
                      <a:prstDash val="solid"/>
                      <a:round/>
                      <a:headEnd type="none" w="med" len="med"/>
                      <a:tailEnd type="none" w="med" len="med"/>
                    </a:lnT>
                    <a:lnB w="9525" cap="flat" cmpd="sng" algn="ctr">
                      <a:solidFill>
                        <a:srgbClr val="D9DCE5"/>
                      </a:solidFill>
                      <a:prstDash val="solid"/>
                      <a:round/>
                      <a:headEnd type="none" w="med" len="med"/>
                      <a:tailEnd type="none" w="med" len="med"/>
                    </a:lnB>
                    <a:solidFill>
                      <a:srgbClr val="FFFFFF"/>
                    </a:solidFill>
                  </a:tcPr>
                </a:tc>
                <a:extLst>
                  <a:ext uri="{0D108BD9-81ED-4DB2-BD59-A6C34878D82A}">
                    <a16:rowId xmlns:a16="http://schemas.microsoft.com/office/drawing/2014/main" val="2189201713"/>
                  </a:ext>
                </a:extLst>
              </a:tr>
            </a:tbl>
          </a:graphicData>
        </a:graphic>
      </p:graphicFrame>
      <p:sp>
        <p:nvSpPr>
          <p:cNvPr id="5523" name="Rounded Rectangle 5522"/>
          <p:cNvSpPr/>
          <p:nvPr/>
        </p:nvSpPr>
        <p:spPr>
          <a:xfrm>
            <a:off x="822960" y="7248633"/>
            <a:ext cx="5257800" cy="1508760"/>
          </a:xfrm>
          <a:prstGeom prst="roundRect">
            <a:avLst>
              <a:gd name="adj" fmla="val 10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endParaRPr/>
          </a:p>
        </p:txBody>
      </p:sp>
      <p:sp>
        <p:nvSpPr>
          <p:cNvPr id="5524" name="TextBox 5523"/>
          <p:cNvSpPr txBox="1"/>
          <p:nvPr/>
        </p:nvSpPr>
        <p:spPr>
          <a:xfrm>
            <a:off x="1108710" y="7419625"/>
            <a:ext cx="4686300" cy="352044"/>
          </a:xfrm>
          <a:prstGeom prst="rect">
            <a:avLst/>
          </a:prstGeom>
          <a:noFill/>
        </p:spPr>
        <p:txBody>
          <a:bodyPr wrap="square" lIns="0" tIns="0" rIns="0" bIns="0" anchor="t">
            <a:spAutoFit/>
          </a:bodyPr>
          <a:lstStyle/>
          <a:p>
            <a:pPr algn="l"/>
            <a:r>
              <a:rPr sz="1600" b="1">
                <a:solidFill>
                  <a:srgbClr val="FAA95A"/>
                </a:solidFill>
                <a:latin typeface="210 OmniGothic 040"/>
                <a:ea typeface="210 OmniGothic 040"/>
                <a:cs typeface="210 OmniGothic 040"/>
              </a:rPr>
              <a:t>사후 정보 누출 방지</a:t>
            </a:r>
          </a:p>
        </p:txBody>
      </p:sp>
      <p:sp>
        <p:nvSpPr>
          <p:cNvPr id="5525" name="TextBox 5524"/>
          <p:cNvSpPr txBox="1"/>
          <p:nvPr/>
        </p:nvSpPr>
        <p:spPr>
          <a:xfrm>
            <a:off x="1108710" y="7821961"/>
            <a:ext cx="4686300" cy="905256"/>
          </a:xfrm>
          <a:prstGeom prst="rect">
            <a:avLst/>
          </a:prstGeom>
          <a:noFill/>
        </p:spPr>
        <p:txBody>
          <a:bodyPr wrap="square" lIns="0" tIns="0" rIns="0" bIns="0" anchor="t">
            <a:spAutoFit/>
          </a:bodyPr>
          <a:lstStyle/>
          <a:p>
            <a:pPr algn="l">
              <a:lnSpc>
                <a:spcPct val="115000"/>
              </a:lnSpc>
            </a:pPr>
            <a:r>
              <a:rPr sz="1300" b="0">
                <a:solidFill>
                  <a:srgbClr val="363A52"/>
                </a:solidFill>
                <a:latin typeface="210 OmniGothic 040"/>
                <a:ea typeface="210 OmniGothic 040"/>
                <a:cs typeface="210 OmniGothic 040"/>
              </a:rPr>
              <a:t>화재 강도·화선 길이·영향 면적 등 사후 확정값 4개 변수는 예측 입력에서 제외</a:t>
            </a:r>
          </a:p>
        </p:txBody>
      </p:sp>
      <p:sp>
        <p:nvSpPr>
          <p:cNvPr id="5526" name="Rounded Rectangle 5525"/>
          <p:cNvSpPr/>
          <p:nvPr/>
        </p:nvSpPr>
        <p:spPr>
          <a:xfrm>
            <a:off x="6389370" y="7248633"/>
            <a:ext cx="5257800" cy="1508760"/>
          </a:xfrm>
          <a:prstGeom prst="roundRect">
            <a:avLst>
              <a:gd name="adj" fmla="val 10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endParaRPr/>
          </a:p>
        </p:txBody>
      </p:sp>
      <p:sp>
        <p:nvSpPr>
          <p:cNvPr id="5527" name="TextBox 5526"/>
          <p:cNvSpPr txBox="1"/>
          <p:nvPr/>
        </p:nvSpPr>
        <p:spPr>
          <a:xfrm>
            <a:off x="6675120" y="7419625"/>
            <a:ext cx="4686300" cy="352044"/>
          </a:xfrm>
          <a:prstGeom prst="rect">
            <a:avLst/>
          </a:prstGeom>
          <a:noFill/>
        </p:spPr>
        <p:txBody>
          <a:bodyPr wrap="square" lIns="0" tIns="0" rIns="0" bIns="0" anchor="t">
            <a:spAutoFit/>
          </a:bodyPr>
          <a:lstStyle/>
          <a:p>
            <a:pPr algn="l"/>
            <a:r>
              <a:rPr sz="1600" b="1">
                <a:solidFill>
                  <a:srgbClr val="FAA95A"/>
                </a:solidFill>
                <a:latin typeface="210 OmniGothic 040"/>
                <a:ea typeface="210 OmniGothic 040"/>
                <a:cs typeface="210 OmniGothic 040"/>
              </a:rPr>
              <a:t>라벨 신뢰도</a:t>
            </a:r>
          </a:p>
        </p:txBody>
      </p:sp>
      <p:sp>
        <p:nvSpPr>
          <p:cNvPr id="5528" name="TextBox 5527"/>
          <p:cNvSpPr txBox="1"/>
          <p:nvPr/>
        </p:nvSpPr>
        <p:spPr>
          <a:xfrm>
            <a:off x="6675120" y="7821961"/>
            <a:ext cx="4686300" cy="905256"/>
          </a:xfrm>
          <a:prstGeom prst="rect">
            <a:avLst/>
          </a:prstGeom>
          <a:noFill/>
        </p:spPr>
        <p:txBody>
          <a:bodyPr wrap="square" lIns="0" tIns="0" rIns="0" bIns="0" anchor="t">
            <a:spAutoFit/>
          </a:bodyPr>
          <a:lstStyle/>
          <a:p>
            <a:pPr algn="l">
              <a:lnSpc>
                <a:spcPct val="115000"/>
              </a:lnSpc>
            </a:pPr>
            <a:r>
              <a:rPr sz="1300" b="0">
                <a:solidFill>
                  <a:srgbClr val="363A52"/>
                </a:solidFill>
                <a:latin typeface="210 OmniGothic 040"/>
                <a:ea typeface="210 OmniGothic 040"/>
                <a:cs typeface="210 OmniGothic 040"/>
              </a:rPr>
              <a:t>AI Hub 위험도 라벨값</a:t>
            </a:r>
            <a:r>
              <a:rPr sz="1300" b="0">
                <a:solidFill>
                  <a:srgbClr val="FF0000"/>
                </a:solidFill>
                <a:latin typeface="210 OmniGothic 040"/>
                <a:ea typeface="210 OmniGothic 040"/>
                <a:cs typeface="210 OmniGothic 040"/>
              </a:rPr>
              <a:t>·인프라 값</a:t>
            </a:r>
            <a:r>
              <a:rPr sz="1300" b="0">
                <a:solidFill>
                  <a:srgbClr val="363A52"/>
                </a:solidFill>
                <a:latin typeface="210 OmniGothic 040"/>
                <a:ea typeface="210 OmniGothic 040"/>
                <a:cs typeface="210 OmniGothic 040"/>
              </a:rPr>
              <a:t>은 쓰지 않고 </a:t>
            </a:r>
            <a:r>
              <a:rPr sz="1300" b="0">
                <a:solidFill>
                  <a:srgbClr val="FF0000"/>
                </a:solidFill>
                <a:latin typeface="210 OmniGothic 040"/>
                <a:ea typeface="210 OmniGothic 040"/>
                <a:cs typeface="210 OmniGothic 040"/>
              </a:rPr>
              <a:t>CSV 기준표의 </a:t>
            </a:r>
            <a:r>
              <a:rPr sz="1300" b="0">
                <a:solidFill>
                  <a:srgbClr val="FF0000"/>
                </a:solidFill>
                <a:latin typeface="210 OmniGothic 040"/>
                <a:ea typeface="210 OmniGothic 040"/>
                <a:cs typeface="210 OmniGothic 040"/>
              </a:rPr>
              <a:t>2</a:t>
            </a:r>
            <a:r>
              <a:rPr sz="1300" b="0">
                <a:solidFill>
                  <a:srgbClr val="FF0000"/>
                </a:solidFill>
                <a:latin typeface="210 OmniGothic 040"/>
                <a:ea typeface="210 OmniGothic 040"/>
                <a:cs typeface="210 OmniGothic 040"/>
              </a:rPr>
              <a:t>3</a:t>
            </a:r>
            <a:r>
              <a:rPr sz="1300" b="0">
                <a:solidFill>
                  <a:srgbClr val="363A52"/>
                </a:solidFill>
                <a:latin typeface="210 OmniGothic 040"/>
                <a:ea typeface="210 OmniGothic 040"/>
                <a:cs typeface="210 OmniGothic 040"/>
              </a:rPr>
              <a:t>개 변수 체계만 계승</a:t>
            </a:r>
          </a:p>
        </p:txBody>
      </p:sp>
      <p:sp>
        <p:nvSpPr>
          <p:cNvPr id="5529" name="Rounded Rectangle 5528"/>
          <p:cNvSpPr/>
          <p:nvPr/>
        </p:nvSpPr>
        <p:spPr>
          <a:xfrm>
            <a:off x="11955780" y="7248633"/>
            <a:ext cx="5257800" cy="1508760"/>
          </a:xfrm>
          <a:prstGeom prst="roundRect">
            <a:avLst>
              <a:gd name="adj" fmla="val 10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endParaRPr/>
          </a:p>
        </p:txBody>
      </p:sp>
      <p:sp>
        <p:nvSpPr>
          <p:cNvPr id="5530" name="TextBox 5529"/>
          <p:cNvSpPr txBox="1"/>
          <p:nvPr/>
        </p:nvSpPr>
        <p:spPr>
          <a:xfrm>
            <a:off x="12241530" y="7419625"/>
            <a:ext cx="4686300" cy="352044"/>
          </a:xfrm>
          <a:prstGeom prst="rect">
            <a:avLst/>
          </a:prstGeom>
          <a:noFill/>
        </p:spPr>
        <p:txBody>
          <a:bodyPr wrap="square" lIns="0" tIns="0" rIns="0" bIns="0" anchor="t">
            <a:spAutoFit/>
          </a:bodyPr>
          <a:lstStyle/>
          <a:p>
            <a:pPr algn="l"/>
            <a:r>
              <a:rPr sz="1600" b="1">
                <a:solidFill>
                  <a:srgbClr val="FAA95A"/>
                </a:solidFill>
                <a:latin typeface="210 OmniGothic 040"/>
                <a:ea typeface="210 OmniGothic 040"/>
                <a:cs typeface="210 OmniGothic 040"/>
              </a:rPr>
              <a:t>내부 자료</a:t>
            </a:r>
          </a:p>
        </p:txBody>
      </p:sp>
      <p:sp>
        <p:nvSpPr>
          <p:cNvPr id="5531" name="TextBox 5530"/>
          <p:cNvSpPr txBox="1"/>
          <p:nvPr/>
        </p:nvSpPr>
        <p:spPr>
          <a:xfrm>
            <a:off x="12241530" y="7821961"/>
            <a:ext cx="4686300" cy="905256"/>
          </a:xfrm>
          <a:prstGeom prst="rect">
            <a:avLst/>
          </a:prstGeom>
          <a:noFill/>
        </p:spPr>
        <p:txBody>
          <a:bodyPr wrap="square" lIns="0" tIns="0" rIns="0" bIns="0" anchor="t">
            <a:spAutoFit/>
          </a:bodyPr>
          <a:lstStyle/>
          <a:p>
            <a:pPr algn="l">
              <a:lnSpc>
                <a:spcPct val="115000"/>
              </a:lnSpc>
            </a:pPr>
            <a:r>
              <a:rPr sz="1300" b="0">
                <a:solidFill>
                  <a:srgbClr val="363A52"/>
                </a:solidFill>
                <a:latin typeface="210 OmniGothic 040"/>
                <a:ea typeface="210 OmniGothic 040"/>
                <a:cs typeface="210 OmniGothic 040"/>
              </a:rPr>
              <a:t>표준매뉴얼은 정부 내부 열람 자료 — OCR 후 사람 검수, 로컬에서만 색인</a:t>
            </a: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21"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2700" y="-12700"/>
            <a:ext cx="18313400" cy="1638300"/>
          </a:xfrm>
          <a:prstGeom prst="rect">
            <a:avLst/>
          </a:prstGeom>
        </p:spPr>
      </p:pic>
      <p:pic>
        <p:nvPicPr>
          <p:cNvPr id="5522"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628" y="1618343"/>
            <a:ext cx="18313400" cy="8699500"/>
          </a:xfrm>
          <a:prstGeom prst="rect">
            <a:avLst/>
          </a:prstGeom>
        </p:spPr>
      </p:pic>
      <p:pic>
        <p:nvPicPr>
          <p:cNvPr id="5523"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58800" y="9271000"/>
            <a:ext cx="17170400" cy="50800"/>
          </a:xfrm>
          <a:prstGeom prst="rect">
            <a:avLst/>
          </a:prstGeom>
        </p:spPr>
      </p:pic>
      <p:pic>
        <p:nvPicPr>
          <p:cNvPr id="5524" name="Picture 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278100" y="203200"/>
            <a:ext cx="1676400" cy="1409700"/>
          </a:xfrm>
          <a:prstGeom prst="rect">
            <a:avLst/>
          </a:prstGeom>
        </p:spPr>
      </p:pic>
      <p:sp>
        <p:nvSpPr>
          <p:cNvPr id="5525" name="Title"/>
          <p:cNvSpPr txBox="1"/>
          <p:nvPr/>
        </p:nvSpPr>
        <p:spPr>
          <a:xfrm>
            <a:off x="822960" y="384048"/>
            <a:ext cx="13258800" cy="877824"/>
          </a:xfrm>
          <a:prstGeom prst="rect">
            <a:avLst/>
          </a:prstGeom>
          <a:noFill/>
        </p:spPr>
        <p:txBody>
          <a:bodyPr wrap="square" lIns="0" tIns="0" rIns="0" bIns="0" anchor="ctr">
            <a:spAutoFit/>
          </a:bodyPr>
          <a:lstStyle/>
          <a:p>
            <a:pPr algn="l"/>
            <a:r>
              <a:rPr sz="4400" b="0">
                <a:solidFill>
                  <a:srgbClr val="FAA95A"/>
                </a:solidFill>
                <a:latin typeface="210 OmniGothic 050"/>
                <a:ea typeface="210 OmniGothic 050"/>
                <a:cs typeface="210 OmniGothic 050"/>
              </a:rPr>
              <a:t>07. 비기능 요구사항(AI)</a:t>
            </a:r>
          </a:p>
        </p:txBody>
      </p:sp>
      <p:sp>
        <p:nvSpPr>
          <p:cNvPr id="5526" name="Subtitle"/>
          <p:cNvSpPr txBox="1"/>
          <p:nvPr/>
        </p:nvSpPr>
        <p:spPr>
          <a:xfrm>
            <a:off x="822960" y="1764792"/>
            <a:ext cx="16642080" cy="502920"/>
          </a:xfrm>
          <a:prstGeom prst="rect">
            <a:avLst/>
          </a:prstGeom>
          <a:noFill/>
        </p:spPr>
        <p:txBody>
          <a:bodyPr wrap="square" lIns="0" tIns="0" rIns="0" bIns="0" anchor="ctr">
            <a:spAutoFit/>
          </a:bodyPr>
          <a:lstStyle/>
          <a:p>
            <a:pPr algn="ctr"/>
            <a:r>
              <a:rPr sz="2600" b="1">
                <a:solidFill>
                  <a:srgbClr val="363A52"/>
                </a:solidFill>
                <a:latin typeface="210 OmniGothic 040"/>
                <a:ea typeface="210 OmniGothic 040"/>
                <a:cs typeface="210 OmniGothic 040"/>
              </a:rPr>
              <a:t>모델 구성 및 처리 방법</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sz="quarter" idx="12"/>
          </p:nvPr>
        </p:nvSpPr>
        <p:spPr/>
        <p:txBody>
          <a:bodyPr/>
          <a:lstStyle/>
          <a:p>
            <a:fld id="{B6F15528-21DE-4FAA-801E-634DDDAF4B2B}" type="slidenum">
              <a:rPr lang="en-US" smtClean="0"/>
              <a:pPr/>
              <a:t>106</a:t>
            </a:fld>
            <a:endParaRPr lang="en-US"/>
          </a:p>
        </p:txBody>
      </p:sp>
      <p:graphicFrame>
        <p:nvGraphicFramePr>
          <p:cNvPr id="5527" name="Table 5526"/>
          <p:cNvGraphicFramePr>
            <a:graphicFrameLocks noGrp="1"/>
          </p:cNvGraphicFramePr>
          <p:nvPr/>
        </p:nvGraphicFramePr>
        <p:xfrm>
          <a:off x="822960" y="2496312"/>
          <a:ext cx="16459200" cy="3902659"/>
        </p:xfrm>
        <a:graphic>
          <a:graphicData uri="http://schemas.openxmlformats.org/drawingml/2006/table">
            <a:tbl>
              <a:tblPr>
                <a:tableStyleId>{2D5ABB26-0587-4C30-8999-92F81FD0307C}</a:tableStyleId>
              </a:tblPr>
              <a:tblGrid>
                <a:gridCol w="2628900">
                  <a:extLst>
                    <a:ext uri="{9D8B030D-6E8A-4147-A177-3AD203B41FA5}">
                      <a16:colId xmlns:a16="http://schemas.microsoft.com/office/drawing/2014/main" val="20000"/>
                    </a:ext>
                  </a:extLst>
                </a:gridCol>
                <a:gridCol w="13830300">
                  <a:extLst>
                    <a:ext uri="{9D8B030D-6E8A-4147-A177-3AD203B41FA5}">
                      <a16:colId xmlns:a16="http://schemas.microsoft.com/office/drawing/2014/main" val="20001"/>
                    </a:ext>
                  </a:extLst>
                </a:gridCol>
              </a:tblGrid>
              <a:tr h="382219">
                <a:tc>
                  <a:txBody>
                    <a:bodyPr/>
                    <a:lstStyle/>
                    <a:p>
                      <a:pPr algn="ctr"/>
                      <a:r>
                        <a:rPr sz="1400" b="1">
                          <a:solidFill>
                            <a:srgbClr val="FFFFFF"/>
                          </a:solidFill>
                          <a:latin typeface="210 OmniGothic 040"/>
                          <a:ea typeface="210 OmniGothic 040"/>
                          <a:cs typeface="210 OmniGothic 040"/>
                        </a:rPr>
                        <a:t>항목</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tc>
                  <a:txBody>
                    <a:bodyPr/>
                    <a:lstStyle/>
                    <a:p>
                      <a:pPr algn="ctr"/>
                      <a:r>
                        <a:rPr sz="1400" b="1">
                          <a:solidFill>
                            <a:srgbClr val="FFFFFF"/>
                          </a:solidFill>
                          <a:latin typeface="210 OmniGothic 040"/>
                          <a:ea typeface="210 OmniGothic 040"/>
                          <a:cs typeface="210 OmniGothic 040"/>
                        </a:rPr>
                        <a:t>내용</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extLst>
                  <a:ext uri="{0D108BD9-81ED-4DB2-BD59-A6C34878D82A}">
                    <a16:rowId xmlns:a16="http://schemas.microsoft.com/office/drawing/2014/main" val="10000"/>
                  </a:ext>
                </a:extLst>
              </a:tr>
              <a:tr h="502920">
                <a:tc>
                  <a:txBody>
                    <a:bodyPr/>
                    <a:lstStyle/>
                    <a:p>
                      <a:pPr algn="ctr"/>
                      <a:r>
                        <a:rPr sz="1300" b="1">
                          <a:solidFill>
                            <a:srgbClr val="2E3142"/>
                          </a:solidFill>
                          <a:latin typeface="210 OmniGothic 040"/>
                          <a:ea typeface="210 OmniGothic 040"/>
                          <a:cs typeface="210 OmniGothic 040"/>
                        </a:rPr>
                        <a:t>확산 예측</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300" b="0">
                          <a:solidFill>
                            <a:srgbClr val="2E3142"/>
                          </a:solidFill>
                          <a:latin typeface="210 OmniGothic 040"/>
                          <a:ea typeface="210 OmniGothic 040"/>
                          <a:cs typeface="210 OmniGothic 040"/>
                        </a:rPr>
                        <a:t>ELMFIRE 1.1(Docker) — 실측 화선(없으면 발화점)에서 Rothermel 확산속도 + 레벨셋 전파, 도달 시각(TOA) 래스터 → 1시간 누적 폴리곤 P1~P8</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1"/>
                  </a:ext>
                </a:extLst>
              </a:tr>
              <a:tr h="502920">
                <a:tc>
                  <a:txBody>
                    <a:bodyPr/>
                    <a:lstStyle/>
                    <a:p>
                      <a:pPr algn="ctr"/>
                      <a:r>
                        <a:rPr sz="1300" b="1">
                          <a:solidFill>
                            <a:srgbClr val="2E3142"/>
                          </a:solidFill>
                          <a:latin typeface="210 OmniGothic 040"/>
                          <a:ea typeface="210 OmniGothic 040"/>
                          <a:cs typeface="210 OmniGothic 040"/>
                        </a:rPr>
                        <a:t>파라미터 보정</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r>
                        <a:rPr sz="1300" b="0">
                          <a:solidFill>
                            <a:srgbClr val="2E3142"/>
                          </a:solidFill>
                          <a:latin typeface="210 OmniGothic 040"/>
                          <a:ea typeface="210 OmniGothic 040"/>
                          <a:cs typeface="210 OmniGothic 040"/>
                        </a:rPr>
                        <a:t>fuel_models.csv 연료 파라미터를 AI Hub 실측 소실 경계와의 IoU로 베이지안 최적화</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2"/>
                  </a:ext>
                </a:extLst>
              </a:tr>
              <a:tr h="502920">
                <a:tc>
                  <a:txBody>
                    <a:bodyPr/>
                    <a:lstStyle/>
                    <a:p>
                      <a:pPr algn="ctr"/>
                      <a:r>
                        <a:rPr sz="1300" b="1">
                          <a:solidFill>
                            <a:srgbClr val="2E3142"/>
                          </a:solidFill>
                          <a:latin typeface="210 OmniGothic 040"/>
                          <a:ea typeface="210 OmniGothic 040"/>
                          <a:cs typeface="210 OmniGothic 040"/>
                        </a:rPr>
                        <a:t>위험도</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300" b="0">
                          <a:solidFill>
                            <a:srgbClr val="FF0000"/>
                          </a:solidFill>
                          <a:latin typeface="210 OmniGothic 040"/>
                          <a:ea typeface="210 OmniGothic 040"/>
                          <a:cs typeface="210 OmniGothic 040"/>
                        </a:rPr>
                        <a:t>위험도 R = Σ(가중치 × 변수 등급) ÷ Σ가중치 (1.00~5.00) — 예측마다 P5 범위 23개 변수, 변수 등급은 겹침 면적 비율로 가중(인원은 합산), 기상 0.372 · 지형 0.287 · 연료 0.266 · 인프라 0.074 (Σ가중치 = 0.94)</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3"/>
                  </a:ext>
                </a:extLst>
              </a:tr>
              <a:tr h="502920">
                <a:tc>
                  <a:txBody>
                    <a:bodyPr/>
                    <a:lstStyle/>
                    <a:p>
                      <a:pPr algn="ctr"/>
                      <a:r>
                        <a:rPr sz="1300" b="1">
                          <a:solidFill>
                            <a:srgbClr val="2E3142"/>
                          </a:solidFill>
                          <a:latin typeface="210 OmniGothic 040"/>
                          <a:ea typeface="210 OmniGothic 040"/>
                          <a:cs typeface="210 OmniGothic 040"/>
                        </a:rPr>
                        <a:t>규칙 엔진</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r>
                        <a:rPr sz="1300" b="0">
                          <a:solidFill>
                            <a:srgbClr val="2E3142"/>
                          </a:solidFill>
                          <a:latin typeface="210 OmniGothic 040"/>
                          <a:ea typeface="210 OmniGothic 040"/>
                          <a:cs typeface="210 OmniGothic 040"/>
                        </a:rPr>
                        <a:t>예상 피해면적·도달 슬라이스·공간 교차·경로로 대응단계·위험구역·배정 판정 (GeoPandas·Shapely·PostGIS)</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4"/>
                  </a:ext>
                </a:extLst>
              </a:tr>
              <a:tr h="502920">
                <a:tc>
                  <a:txBody>
                    <a:bodyPr/>
                    <a:lstStyle/>
                    <a:p>
                      <a:pPr algn="ctr"/>
                      <a:r>
                        <a:rPr sz="1300" b="1">
                          <a:solidFill>
                            <a:srgbClr val="2E3142"/>
                          </a:solidFill>
                          <a:latin typeface="210 OmniGothic 040"/>
                          <a:ea typeface="210 OmniGothic 040"/>
                          <a:cs typeface="210 OmniGothic 040"/>
                        </a:rPr>
                        <a:t>근거 검색</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300" b="0">
                          <a:solidFill>
                            <a:srgbClr val="2E3142"/>
                          </a:solidFill>
                          <a:latin typeface="210 OmniGothic 040"/>
                          <a:ea typeface="210 OmniGothic 040"/>
                          <a:cs typeface="210 OmniGothic 040"/>
                        </a:rPr>
                        <a:t>KURE-v1 임베딩 + FAISS IndexFlatIP, 단계·항목 메타데이터 필터, 상위 </a:t>
                      </a:r>
                      <a:r>
                        <a:rPr sz="1300" b="0">
                          <a:solidFill>
                            <a:srgbClr val="FF0000"/>
                          </a:solidFill>
                          <a:latin typeface="210 OmniGothic 040"/>
                          <a:ea typeface="210 OmniGothic 040"/>
                          <a:cs typeface="210 OmniGothic 040"/>
                        </a:rPr>
                        <a:t>K개(K = 3·</a:t>
                      </a:r>
                      <a:r>
                        <a:rPr sz="1300" b="0">
                          <a:solidFill>
                            <a:srgbClr val="FF0000"/>
                          </a:solidFill>
                          <a:latin typeface="210 OmniGothic 040"/>
                          <a:ea typeface="210 OmniGothic 040"/>
                          <a:cs typeface="210 OmniGothic 040"/>
                        </a:rPr>
                        <a:t>5</a:t>
                      </a:r>
                      <a:r>
                        <a:rPr sz="1300" b="0">
                          <a:solidFill>
                            <a:srgbClr val="FF0000"/>
                          </a:solidFill>
                          <a:latin typeface="210 OmniGothic 040"/>
                          <a:ea typeface="210 OmniGothic 040"/>
                          <a:cs typeface="210 OmniGothic 040"/>
                        </a:rPr>
                        <a:t>·7·10 비교 후 선택)</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5"/>
                  </a:ext>
                </a:extLst>
              </a:tr>
              <a:tr h="502920">
                <a:tc>
                  <a:txBody>
                    <a:bodyPr/>
                    <a:lstStyle/>
                    <a:p>
                      <a:pPr algn="ctr"/>
                      <a:r>
                        <a:rPr sz="1300" b="1">
                          <a:solidFill>
                            <a:srgbClr val="2E3142"/>
                          </a:solidFill>
                          <a:latin typeface="210 OmniGothic 040"/>
                          <a:ea typeface="210 OmniGothic 040"/>
                          <a:cs typeface="210 OmniGothic 040"/>
                        </a:rPr>
                        <a:t>LLM</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r>
                        <a:rPr sz="1300" b="0">
                          <a:solidFill>
                            <a:srgbClr val="2E3142"/>
                          </a:solidFill>
                          <a:latin typeface="210 OmniGothic 040"/>
                          <a:ea typeface="210 OmniGothic 040"/>
                          <a:cs typeface="210 OmniGothic 040"/>
                        </a:rPr>
                        <a:t>EXAONE 4.0 32B 4비트(vLLM, RTX A6000 48GB), 단일 모델 위에 에이전트 2개 — 상황판단(A1 질문·A2 답변·A3 충돌 검사·A4 종합)·어시스턴트(질의응답·상황 정정 해석), temperature 0</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6"/>
                  </a:ext>
                </a:extLst>
              </a:tr>
              <a:tr h="502920">
                <a:tc>
                  <a:txBody>
                    <a:bodyPr/>
                    <a:lstStyle/>
                    <a:p>
                      <a:pPr algn="ctr"/>
                      <a:r>
                        <a:rPr sz="1300" b="1">
                          <a:solidFill>
                            <a:srgbClr val="2E3142"/>
                          </a:solidFill>
                          <a:latin typeface="210 OmniGothic 040"/>
                          <a:ea typeface="210 OmniGothic 040"/>
                          <a:cs typeface="210 OmniGothic 040"/>
                        </a:rPr>
                        <a:t>출력 제약</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300" b="0">
                          <a:solidFill>
                            <a:srgbClr val="2E3142"/>
                          </a:solidFill>
                          <a:latin typeface="210 OmniGothic 040"/>
                          <a:ea typeface="210 OmniGothic 040"/>
                          <a:cs typeface="210 OmniGothic 040"/>
                        </a:rPr>
                        <a:t>수치 재계산 금지, 청크 밖 내용 금지, 문장 끝 근거 번호, 근거 없는 수량·문장은 출력하지 않고 「근거가 부족하여 표시하지 않았습니다」로 안내</a:t>
                      </a:r>
                    </a:p>
                  </a:txBody>
                  <a:tcPr marT="40233" marB="40233"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26"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2700" y="-12700"/>
            <a:ext cx="18313400" cy="1638300"/>
          </a:xfrm>
          <a:prstGeom prst="rect">
            <a:avLst/>
          </a:prstGeom>
        </p:spPr>
      </p:pic>
      <p:pic>
        <p:nvPicPr>
          <p:cNvPr id="5527"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628" y="1618343"/>
            <a:ext cx="18313400" cy="8699500"/>
          </a:xfrm>
          <a:prstGeom prst="rect">
            <a:avLst/>
          </a:prstGeom>
        </p:spPr>
      </p:pic>
      <p:pic>
        <p:nvPicPr>
          <p:cNvPr id="5528"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58800" y="9271000"/>
            <a:ext cx="17170400" cy="50800"/>
          </a:xfrm>
          <a:prstGeom prst="rect">
            <a:avLst/>
          </a:prstGeom>
        </p:spPr>
      </p:pic>
      <p:pic>
        <p:nvPicPr>
          <p:cNvPr id="5529" name="Picture 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278100" y="203200"/>
            <a:ext cx="1676400" cy="1409700"/>
          </a:xfrm>
          <a:prstGeom prst="rect">
            <a:avLst/>
          </a:prstGeom>
        </p:spPr>
      </p:pic>
      <p:sp>
        <p:nvSpPr>
          <p:cNvPr id="5530" name="Title"/>
          <p:cNvSpPr txBox="1"/>
          <p:nvPr/>
        </p:nvSpPr>
        <p:spPr>
          <a:xfrm>
            <a:off x="822960" y="384048"/>
            <a:ext cx="13258800" cy="877824"/>
          </a:xfrm>
          <a:prstGeom prst="rect">
            <a:avLst/>
          </a:prstGeom>
          <a:noFill/>
        </p:spPr>
        <p:txBody>
          <a:bodyPr wrap="square" lIns="0" tIns="0" rIns="0" bIns="0" anchor="ctr">
            <a:spAutoFit/>
          </a:bodyPr>
          <a:lstStyle/>
          <a:p>
            <a:pPr algn="l"/>
            <a:r>
              <a:rPr sz="4400" b="0">
                <a:solidFill>
                  <a:srgbClr val="FAA95A"/>
                </a:solidFill>
                <a:latin typeface="210 OmniGothic 050"/>
                <a:ea typeface="210 OmniGothic 050"/>
                <a:cs typeface="210 OmniGothic 050"/>
              </a:rPr>
              <a:t>07. 비기능 요구사항(AI)</a:t>
            </a:r>
          </a:p>
        </p:txBody>
      </p:sp>
      <p:sp>
        <p:nvSpPr>
          <p:cNvPr id="5531" name="Subtitle"/>
          <p:cNvSpPr txBox="1"/>
          <p:nvPr/>
        </p:nvSpPr>
        <p:spPr>
          <a:xfrm>
            <a:off x="822960" y="1764792"/>
            <a:ext cx="16642080" cy="502920"/>
          </a:xfrm>
          <a:prstGeom prst="rect">
            <a:avLst/>
          </a:prstGeom>
          <a:noFill/>
        </p:spPr>
        <p:txBody>
          <a:bodyPr wrap="square" lIns="0" tIns="0" rIns="0" bIns="0" anchor="ctr">
            <a:spAutoFit/>
          </a:bodyPr>
          <a:lstStyle/>
          <a:p>
            <a:pPr algn="ctr"/>
            <a:r>
              <a:rPr sz="2600" b="1">
                <a:solidFill>
                  <a:srgbClr val="363A52"/>
                </a:solidFill>
                <a:latin typeface="210 OmniGothic 040"/>
                <a:ea typeface="210 OmniGothic 040"/>
                <a:cs typeface="210 OmniGothic 040"/>
              </a:rPr>
              <a:t>평가 방법</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sz="quarter" idx="12"/>
          </p:nvPr>
        </p:nvSpPr>
        <p:spPr/>
        <p:txBody>
          <a:bodyPr/>
          <a:lstStyle/>
          <a:p>
            <a:fld id="{B6F15528-21DE-4FAA-801E-634DDDAF4B2B}" type="slidenum">
              <a:rPr lang="en-US" smtClean="0"/>
              <a:pPr/>
              <a:t>107</a:t>
            </a:fld>
            <a:endParaRPr lang="en-US"/>
          </a:p>
        </p:txBody>
      </p:sp>
      <p:sp>
        <p:nvSpPr>
          <p:cNvPr id="5532" name="Rounded Rectangle 5531"/>
          <p:cNvSpPr/>
          <p:nvPr/>
        </p:nvSpPr>
        <p:spPr>
          <a:xfrm>
            <a:off x="822960" y="2697480"/>
            <a:ext cx="5257800" cy="2112264"/>
          </a:xfrm>
          <a:prstGeom prst="roundRect">
            <a:avLst>
              <a:gd name="adj" fmla="val 10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endParaRPr/>
          </a:p>
        </p:txBody>
      </p:sp>
      <p:sp>
        <p:nvSpPr>
          <p:cNvPr id="5533" name="Rectangle 5532"/>
          <p:cNvSpPr/>
          <p:nvPr/>
        </p:nvSpPr>
        <p:spPr>
          <a:xfrm>
            <a:off x="1165860" y="2999232"/>
            <a:ext cx="571500" cy="50292"/>
          </a:xfrm>
          <a:prstGeom prst="rect">
            <a:avLst/>
          </a:prstGeom>
          <a:solidFill>
            <a:srgbClr val="FAA95A"/>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endParaRPr/>
          </a:p>
        </p:txBody>
      </p:sp>
      <p:sp>
        <p:nvSpPr>
          <p:cNvPr id="5534" name="TextBox 5533"/>
          <p:cNvSpPr txBox="1"/>
          <p:nvPr/>
        </p:nvSpPr>
        <p:spPr>
          <a:xfrm>
            <a:off x="1165860" y="3150108"/>
            <a:ext cx="4572000" cy="402336"/>
          </a:xfrm>
          <a:prstGeom prst="rect">
            <a:avLst/>
          </a:prstGeom>
          <a:noFill/>
        </p:spPr>
        <p:txBody>
          <a:bodyPr wrap="square" lIns="0" tIns="0" rIns="0" bIns="0" anchor="t">
            <a:spAutoFit/>
          </a:bodyPr>
          <a:lstStyle/>
          <a:p>
            <a:pPr algn="l"/>
            <a:r>
              <a:rPr sz="1850" b="1">
                <a:solidFill>
                  <a:srgbClr val="FF0000"/>
                </a:solidFill>
                <a:latin typeface="210 OmniGothic 040"/>
                <a:ea typeface="210 OmniGothic 040"/>
                <a:cs typeface="210 OmniGothic 040"/>
              </a:rPr>
              <a:t>평가 데이터 분리</a:t>
            </a:r>
          </a:p>
        </p:txBody>
      </p:sp>
      <p:sp>
        <p:nvSpPr>
          <p:cNvPr id="5535" name="TextBox 5534"/>
          <p:cNvSpPr txBox="1"/>
          <p:nvPr/>
        </p:nvSpPr>
        <p:spPr>
          <a:xfrm>
            <a:off x="1165860" y="3653028"/>
            <a:ext cx="4572000" cy="1005840"/>
          </a:xfrm>
          <a:prstGeom prst="rect">
            <a:avLst/>
          </a:prstGeom>
          <a:noFill/>
        </p:spPr>
        <p:txBody>
          <a:bodyPr wrap="square" lIns="0" tIns="0" rIns="0" bIns="0" anchor="t">
            <a:spAutoFit/>
          </a:bodyPr>
          <a:lstStyle/>
          <a:p>
            <a:pPr algn="l">
              <a:lnSpc>
                <a:spcPct val="120000"/>
              </a:lnSpc>
            </a:pPr>
            <a:r>
              <a:rPr sz="1400" b="0">
                <a:solidFill>
                  <a:srgbClr val="FF0000"/>
                </a:solidFill>
                <a:latin typeface="210 OmniGothic 040"/>
                <a:ea typeface="210 OmniGothic 040"/>
                <a:cs typeface="210 OmniGothic 040"/>
              </a:rPr>
              <a:t>확산 예측은 보정에 쓰지 않은 hold-out 산불 사건, 대응 제안은 K 선택(개발용)에 쓰지 않은 시험용 시나리오로 평가</a:t>
            </a:r>
          </a:p>
        </p:txBody>
      </p:sp>
      <p:sp>
        <p:nvSpPr>
          <p:cNvPr id="5536" name="Rounded Rectangle 5535"/>
          <p:cNvSpPr/>
          <p:nvPr/>
        </p:nvSpPr>
        <p:spPr>
          <a:xfrm>
            <a:off x="6389370" y="2697480"/>
            <a:ext cx="5257800" cy="2112264"/>
          </a:xfrm>
          <a:prstGeom prst="roundRect">
            <a:avLst>
              <a:gd name="adj" fmla="val 10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endParaRPr/>
          </a:p>
        </p:txBody>
      </p:sp>
      <p:sp>
        <p:nvSpPr>
          <p:cNvPr id="5537" name="Rectangle 5536"/>
          <p:cNvSpPr/>
          <p:nvPr/>
        </p:nvSpPr>
        <p:spPr>
          <a:xfrm>
            <a:off x="6732270" y="2999232"/>
            <a:ext cx="571500" cy="50292"/>
          </a:xfrm>
          <a:prstGeom prst="rect">
            <a:avLst/>
          </a:prstGeom>
          <a:solidFill>
            <a:srgbClr val="FAA95A"/>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endParaRPr/>
          </a:p>
        </p:txBody>
      </p:sp>
      <p:sp>
        <p:nvSpPr>
          <p:cNvPr id="5538" name="TextBox 5537"/>
          <p:cNvSpPr txBox="1"/>
          <p:nvPr/>
        </p:nvSpPr>
        <p:spPr>
          <a:xfrm>
            <a:off x="6732270" y="3150108"/>
            <a:ext cx="4572000" cy="402336"/>
          </a:xfrm>
          <a:prstGeom prst="rect">
            <a:avLst/>
          </a:prstGeom>
          <a:noFill/>
        </p:spPr>
        <p:txBody>
          <a:bodyPr wrap="square" lIns="0" tIns="0" rIns="0" bIns="0" anchor="t">
            <a:spAutoFit/>
          </a:bodyPr>
          <a:lstStyle/>
          <a:p>
            <a:pPr algn="l"/>
            <a:r>
              <a:rPr sz="1850" b="1">
                <a:solidFill>
                  <a:srgbClr val="363A52"/>
                </a:solidFill>
                <a:latin typeface="210 OmniGothic 040"/>
                <a:ea typeface="210 OmniGothic 040"/>
                <a:cs typeface="210 OmniGothic 040"/>
              </a:rPr>
              <a:t>주요 지표</a:t>
            </a:r>
          </a:p>
        </p:txBody>
      </p:sp>
      <p:sp>
        <p:nvSpPr>
          <p:cNvPr id="5539" name="TextBox 5538"/>
          <p:cNvSpPr txBox="1"/>
          <p:nvPr/>
        </p:nvSpPr>
        <p:spPr>
          <a:xfrm>
            <a:off x="6732270" y="3653028"/>
            <a:ext cx="4572000" cy="1005840"/>
          </a:xfrm>
          <a:prstGeom prst="rect">
            <a:avLst/>
          </a:prstGeom>
          <a:noFill/>
        </p:spPr>
        <p:txBody>
          <a:bodyPr wrap="square" lIns="0" tIns="0" rIns="0" bIns="0" anchor="t">
            <a:spAutoFit/>
          </a:bodyPr>
          <a:lstStyle/>
          <a:p>
            <a:pPr algn="l">
              <a:lnSpc>
                <a:spcPct val="120000"/>
              </a:lnSpc>
            </a:pPr>
            <a:r>
              <a:rPr sz="1400" b="0">
                <a:solidFill>
                  <a:srgbClr val="FF0000"/>
                </a:solidFill>
                <a:latin typeface="210 OmniGothic 040"/>
                <a:ea typeface="210 OmniGothic 040"/>
                <a:cs typeface="210 OmniGothic 040"/>
              </a:rPr>
              <a:t>확산 예측 5종(IoU·정밀도·재현율·F1·F2) · 대응 제안 4종(근거 충실도·질의 관련도·근거 순위 정밀도@K·필요 근거 확보율@K)</a:t>
            </a:r>
          </a:p>
        </p:txBody>
      </p:sp>
      <p:sp>
        <p:nvSpPr>
          <p:cNvPr id="5540" name="Rounded Rectangle 5539"/>
          <p:cNvSpPr/>
          <p:nvPr/>
        </p:nvSpPr>
        <p:spPr>
          <a:xfrm>
            <a:off x="11955780" y="2697480"/>
            <a:ext cx="5257800" cy="2112264"/>
          </a:xfrm>
          <a:prstGeom prst="roundRect">
            <a:avLst>
              <a:gd name="adj" fmla="val 10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endParaRPr/>
          </a:p>
        </p:txBody>
      </p:sp>
      <p:sp>
        <p:nvSpPr>
          <p:cNvPr id="5541" name="Rectangle 5540"/>
          <p:cNvSpPr/>
          <p:nvPr/>
        </p:nvSpPr>
        <p:spPr>
          <a:xfrm>
            <a:off x="12298680" y="2999232"/>
            <a:ext cx="571500" cy="50292"/>
          </a:xfrm>
          <a:prstGeom prst="rect">
            <a:avLst/>
          </a:prstGeom>
          <a:solidFill>
            <a:srgbClr val="FAA95A"/>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endParaRPr/>
          </a:p>
        </p:txBody>
      </p:sp>
      <p:sp>
        <p:nvSpPr>
          <p:cNvPr id="5542" name="TextBox 5541"/>
          <p:cNvSpPr txBox="1"/>
          <p:nvPr/>
        </p:nvSpPr>
        <p:spPr>
          <a:xfrm>
            <a:off x="12298680" y="3150108"/>
            <a:ext cx="4572000" cy="402336"/>
          </a:xfrm>
          <a:prstGeom prst="rect">
            <a:avLst/>
          </a:prstGeom>
          <a:noFill/>
        </p:spPr>
        <p:txBody>
          <a:bodyPr wrap="square" lIns="0" tIns="0" rIns="0" bIns="0" anchor="t">
            <a:spAutoFit/>
          </a:bodyPr>
          <a:lstStyle/>
          <a:p>
            <a:pPr algn="l"/>
            <a:r>
              <a:rPr sz="1850" b="1">
                <a:solidFill>
                  <a:srgbClr val="FF0000"/>
                </a:solidFill>
                <a:latin typeface="210 OmniGothic 040"/>
                <a:ea typeface="210 OmniGothic 040"/>
                <a:cs typeface="210 OmniGothic 040"/>
              </a:rPr>
              <a:t>Ablation</a:t>
            </a:r>
            <a:r>
              <a:rPr sz="1850" b="1">
                <a:solidFill>
                  <a:srgbClr val="FF0000"/>
                </a:solidFill>
                <a:latin typeface="210 OmniGothic 040"/>
                <a:ea typeface="210 OmniGothic 040"/>
                <a:cs typeface="210 OmniGothic 040"/>
              </a:rPr>
              <a:t> 실험</a:t>
            </a:r>
          </a:p>
        </p:txBody>
      </p:sp>
      <p:sp>
        <p:nvSpPr>
          <p:cNvPr id="5543" name="TextBox 5542"/>
          <p:cNvSpPr txBox="1"/>
          <p:nvPr/>
        </p:nvSpPr>
        <p:spPr>
          <a:xfrm>
            <a:off x="12298680" y="3653028"/>
            <a:ext cx="4572000" cy="1005840"/>
          </a:xfrm>
          <a:prstGeom prst="rect">
            <a:avLst/>
          </a:prstGeom>
          <a:noFill/>
        </p:spPr>
        <p:txBody>
          <a:bodyPr wrap="square" lIns="0" tIns="0" rIns="0" bIns="0" anchor="t">
            <a:spAutoFit/>
          </a:bodyPr>
          <a:lstStyle/>
          <a:p>
            <a:pPr algn="l">
              <a:lnSpc>
                <a:spcPct val="120000"/>
              </a:lnSpc>
            </a:pPr>
            <a:r>
              <a:rPr sz="1400" b="0">
                <a:solidFill>
                  <a:srgbClr val="6B7080"/>
                </a:solidFill>
                <a:latin typeface="210 OmniGothic 040"/>
                <a:ea typeface="210 OmniGothic 040"/>
                <a:cs typeface="210 OmniGothic 040"/>
              </a:rPr>
              <a:t>같은 질의·사건에서 RAG 유무를 비교해 근거 검색의 효과 확인</a:t>
            </a:r>
          </a:p>
        </p:txBody>
      </p:sp>
      <p:sp>
        <p:nvSpPr>
          <p:cNvPr id="5544" name="Rounded Rectangle 5543"/>
          <p:cNvSpPr/>
          <p:nvPr/>
        </p:nvSpPr>
        <p:spPr>
          <a:xfrm>
            <a:off x="822960" y="5161788"/>
            <a:ext cx="5257800" cy="2112264"/>
          </a:xfrm>
          <a:prstGeom prst="roundRect">
            <a:avLst>
              <a:gd name="adj" fmla="val 10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endParaRPr/>
          </a:p>
        </p:txBody>
      </p:sp>
      <p:sp>
        <p:nvSpPr>
          <p:cNvPr id="5545" name="Rectangle 5544"/>
          <p:cNvSpPr/>
          <p:nvPr/>
        </p:nvSpPr>
        <p:spPr>
          <a:xfrm>
            <a:off x="1165860" y="5463540"/>
            <a:ext cx="571500" cy="50292"/>
          </a:xfrm>
          <a:prstGeom prst="rect">
            <a:avLst/>
          </a:prstGeom>
          <a:solidFill>
            <a:srgbClr val="FAA95A"/>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endParaRPr/>
          </a:p>
        </p:txBody>
      </p:sp>
      <p:sp>
        <p:nvSpPr>
          <p:cNvPr id="5546" name="TextBox 5545"/>
          <p:cNvSpPr txBox="1"/>
          <p:nvPr/>
        </p:nvSpPr>
        <p:spPr>
          <a:xfrm>
            <a:off x="1165860" y="5614416"/>
            <a:ext cx="4572000" cy="402336"/>
          </a:xfrm>
          <a:prstGeom prst="rect">
            <a:avLst/>
          </a:prstGeom>
          <a:noFill/>
        </p:spPr>
        <p:txBody>
          <a:bodyPr wrap="square" lIns="0" tIns="0" rIns="0" bIns="0" anchor="t">
            <a:spAutoFit/>
          </a:bodyPr>
          <a:lstStyle/>
          <a:p>
            <a:pPr algn="l"/>
            <a:r>
              <a:rPr sz="1850" b="1">
                <a:solidFill>
                  <a:srgbClr val="363A52"/>
                </a:solidFill>
                <a:latin typeface="210 OmniGothic 040"/>
                <a:ea typeface="210 OmniGothic 040"/>
                <a:cs typeface="210 OmniGothic 040"/>
              </a:rPr>
              <a:t>로컬 채점</a:t>
            </a:r>
          </a:p>
        </p:txBody>
      </p:sp>
      <p:sp>
        <p:nvSpPr>
          <p:cNvPr id="5547" name="TextBox 5546"/>
          <p:cNvSpPr txBox="1"/>
          <p:nvPr/>
        </p:nvSpPr>
        <p:spPr>
          <a:xfrm>
            <a:off x="1165860" y="6117336"/>
            <a:ext cx="4572000" cy="1005840"/>
          </a:xfrm>
          <a:prstGeom prst="rect">
            <a:avLst/>
          </a:prstGeom>
          <a:noFill/>
        </p:spPr>
        <p:txBody>
          <a:bodyPr wrap="square" lIns="0" tIns="0" rIns="0" bIns="0" anchor="t">
            <a:spAutoFit/>
          </a:bodyPr>
          <a:lstStyle/>
          <a:p>
            <a:pPr algn="l">
              <a:lnSpc>
                <a:spcPct val="120000"/>
              </a:lnSpc>
            </a:pPr>
            <a:r>
              <a:rPr sz="1400" b="0">
                <a:solidFill>
                  <a:srgbClr val="FF0000"/>
                </a:solidFill>
                <a:latin typeface="210 OmniGothic 040"/>
                <a:ea typeface="210 OmniGothic 040"/>
                <a:cs typeface="210 OmniGothic 040"/>
              </a:rPr>
              <a:t>로컬 EXAONE 4.0 32B가 RAGAS 한국어 프롬프트로 자동 채점(</a:t>
            </a:r>
            <a:r>
              <a:rPr sz="1400" b="0">
                <a:solidFill>
                  <a:srgbClr val="FF0000"/>
                </a:solidFill>
                <a:latin typeface="210 OmniGothic 040"/>
                <a:ea typeface="210 OmniGothic 040"/>
                <a:cs typeface="210 OmniGothic 040"/>
              </a:rPr>
              <a:t>LLM-as-a-Judge). 정답 답변 기준과 채점 설정은 104쪽</a:t>
            </a:r>
          </a:p>
        </p:txBody>
      </p:sp>
      <p:sp>
        <p:nvSpPr>
          <p:cNvPr id="5548" name="Rounded Rectangle 5547"/>
          <p:cNvSpPr/>
          <p:nvPr/>
        </p:nvSpPr>
        <p:spPr>
          <a:xfrm>
            <a:off x="6389370" y="5161788"/>
            <a:ext cx="5257800" cy="2112264"/>
          </a:xfrm>
          <a:prstGeom prst="roundRect">
            <a:avLst>
              <a:gd name="adj" fmla="val 10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endParaRPr/>
          </a:p>
        </p:txBody>
      </p:sp>
      <p:sp>
        <p:nvSpPr>
          <p:cNvPr id="5549" name="Rectangle 5548"/>
          <p:cNvSpPr/>
          <p:nvPr/>
        </p:nvSpPr>
        <p:spPr>
          <a:xfrm>
            <a:off x="6732270" y="5463540"/>
            <a:ext cx="571500" cy="50292"/>
          </a:xfrm>
          <a:prstGeom prst="rect">
            <a:avLst/>
          </a:prstGeom>
          <a:solidFill>
            <a:srgbClr val="FAA95A"/>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endParaRPr/>
          </a:p>
        </p:txBody>
      </p:sp>
      <p:sp>
        <p:nvSpPr>
          <p:cNvPr id="5550" name="TextBox 5549"/>
          <p:cNvSpPr txBox="1"/>
          <p:nvPr/>
        </p:nvSpPr>
        <p:spPr>
          <a:xfrm>
            <a:off x="6732270" y="5614416"/>
            <a:ext cx="4572000" cy="402336"/>
          </a:xfrm>
          <a:prstGeom prst="rect">
            <a:avLst/>
          </a:prstGeom>
          <a:noFill/>
        </p:spPr>
        <p:txBody>
          <a:bodyPr wrap="square" lIns="0" tIns="0" rIns="0" bIns="0" anchor="t">
            <a:spAutoFit/>
          </a:bodyPr>
          <a:lstStyle/>
          <a:p>
            <a:pPr algn="l"/>
            <a:r>
              <a:rPr sz="1850" b="1">
                <a:solidFill>
                  <a:srgbClr val="363A52"/>
                </a:solidFill>
                <a:latin typeface="210 OmniGothic 040"/>
                <a:ea typeface="210 OmniGothic 040"/>
                <a:cs typeface="210 OmniGothic 040"/>
              </a:rPr>
              <a:t>형식 검증</a:t>
            </a:r>
          </a:p>
        </p:txBody>
      </p:sp>
      <p:sp>
        <p:nvSpPr>
          <p:cNvPr id="5551" name="TextBox 5550"/>
          <p:cNvSpPr txBox="1"/>
          <p:nvPr/>
        </p:nvSpPr>
        <p:spPr>
          <a:xfrm>
            <a:off x="6732270" y="6117336"/>
            <a:ext cx="4572000" cy="1005840"/>
          </a:xfrm>
          <a:prstGeom prst="rect">
            <a:avLst/>
          </a:prstGeom>
          <a:noFill/>
        </p:spPr>
        <p:txBody>
          <a:bodyPr wrap="square" lIns="0" tIns="0" rIns="0" bIns="0" anchor="t">
            <a:spAutoFit/>
          </a:bodyPr>
          <a:lstStyle/>
          <a:p>
            <a:pPr algn="l">
              <a:lnSpc>
                <a:spcPct val="120000"/>
              </a:lnSpc>
            </a:pPr>
            <a:r>
              <a:rPr sz="1400" b="0">
                <a:solidFill>
                  <a:srgbClr val="6B7080"/>
                </a:solidFill>
                <a:latin typeface="210 OmniGothic 040"/>
                <a:ea typeface="210 OmniGothic 040"/>
                <a:cs typeface="210 OmniGothic 040"/>
              </a:rPr>
              <a:t>항목 순서, 근거 번호 ↔ 근거 목록 일치, 권한 표기를 코드 규칙으로 검사</a:t>
            </a:r>
          </a:p>
        </p:txBody>
      </p:sp>
      <p:sp>
        <p:nvSpPr>
          <p:cNvPr id="9101" name="Rounded Rectangle 5547 (확산 예측 평가 기준)"/>
          <p:cNvSpPr/>
          <p:nvPr/>
        </p:nvSpPr>
        <p:spPr>
          <a:xfrm>
            <a:off x="11955780" y="5161788"/>
            <a:ext cx="5257800" cy="2112264"/>
          </a:xfrm>
          <a:prstGeom prst="roundRect">
            <a:avLst>
              <a:gd name="adj" fmla="val 10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endParaRPr/>
          </a:p>
        </p:txBody>
      </p:sp>
      <p:sp>
        <p:nvSpPr>
          <p:cNvPr id="9102" name="Rectangle 5548 (확산 예측 평가 기준)"/>
          <p:cNvSpPr/>
          <p:nvPr/>
        </p:nvSpPr>
        <p:spPr>
          <a:xfrm>
            <a:off x="12298680" y="5463540"/>
            <a:ext cx="571500" cy="50292"/>
          </a:xfrm>
          <a:prstGeom prst="rect">
            <a:avLst/>
          </a:prstGeom>
          <a:solidFill>
            <a:srgbClr val="FAA95A"/>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endParaRPr/>
          </a:p>
        </p:txBody>
      </p:sp>
      <p:sp>
        <p:nvSpPr>
          <p:cNvPr id="9103" name="TextBox 5549 (확산 예측 평가 기준)"/>
          <p:cNvSpPr txBox="1"/>
          <p:nvPr/>
        </p:nvSpPr>
        <p:spPr>
          <a:xfrm>
            <a:off x="12298680" y="5614416"/>
            <a:ext cx="4572000" cy="402336"/>
          </a:xfrm>
          <a:prstGeom prst="rect">
            <a:avLst/>
          </a:prstGeom>
          <a:noFill/>
        </p:spPr>
        <p:txBody>
          <a:bodyPr wrap="square" lIns="0" tIns="0" rIns="0" bIns="0" anchor="t">
            <a:spAutoFit/>
          </a:bodyPr>
          <a:lstStyle/>
          <a:p>
            <a:pPr algn="l"/>
            <a:r>
              <a:rPr sz="1850" b="1">
                <a:solidFill>
                  <a:srgbClr val="FF0000"/>
                </a:solidFill>
                <a:latin typeface="210 OmniGothic 040"/>
                <a:ea typeface="210 OmniGothic 040"/>
                <a:cs typeface="210 OmniGothic 040"/>
              </a:rPr>
              <a:t>판정 기준</a:t>
            </a:r>
          </a:p>
        </p:txBody>
      </p:sp>
      <p:sp>
        <p:nvSpPr>
          <p:cNvPr id="9104" name="TextBox 5550 (확산 예측 평가 기준)"/>
          <p:cNvSpPr txBox="1"/>
          <p:nvPr/>
        </p:nvSpPr>
        <p:spPr>
          <a:xfrm>
            <a:off x="12298680" y="6117336"/>
            <a:ext cx="4572000" cy="1005840"/>
          </a:xfrm>
          <a:prstGeom prst="rect">
            <a:avLst/>
          </a:prstGeom>
          <a:noFill/>
        </p:spPr>
        <p:txBody>
          <a:bodyPr wrap="square" lIns="0" tIns="0" rIns="0" bIns="0" anchor="t">
            <a:spAutoFit/>
          </a:bodyPr>
          <a:lstStyle/>
          <a:p>
            <a:pPr algn="l">
              <a:lnSpc>
                <a:spcPct val="120000"/>
              </a:lnSpc>
            </a:pPr>
            <a:r>
              <a:rPr sz="1400" b="0">
                <a:solidFill>
                  <a:srgbClr val="FF0000"/>
                </a:solidFill>
                <a:latin typeface="210 OmniGothic 040"/>
                <a:ea typeface="210 OmniGothic 040"/>
                <a:cs typeface="210 OmniGothic 040"/>
              </a:rPr>
              <a:t>확산: P8 예측 영역과 실측 최종 소실 경계로 TP·FP·FN을 구해 hold-out 평균을 하한선과 대조(103쪽). 대응 제안: 고른 K에서 시험용 평균이 하한선 이상이면 통과(104쪽)</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89" name="Picture 2">
            <a:extLst>
              <a:ext uri="{FF2B5EF4-FFF2-40B4-BE49-F238E27FC236}">
                <a16:creationId xmlns:a16="http://schemas.microsoft.com/office/drawing/2014/main" id="{F116F513-628E-CD59-0365-83BA34700620}"/>
              </a:ext>
            </a:extLst>
          </p:cNvPr>
          <p:cNvSpPr/>
          <p:nvPr/>
        </p:nvSpPr>
        <p:spPr>
          <a:xfrm>
            <a:off x="-12700" y="-12700"/>
            <a:ext cx="18300700" cy="10299700"/>
          </a:xfrm>
          <a:custGeom>
            <a:avLst/>
            <a:gdLst>
              <a:gd name="csX0" fmla="*/ 0 w 18281422"/>
              <a:gd name="csY0" fmla="*/ 10197723 h 10197722"/>
              <a:gd name="csX1" fmla="*/ 0 w 18281422"/>
              <a:gd name="csY1" fmla="*/ 0 h 10197722"/>
              <a:gd name="csX2" fmla="*/ 18281422 w 18281422"/>
              <a:gd name="csY2" fmla="*/ 0 h 10197722"/>
              <a:gd name="csX3" fmla="*/ 18281422 w 18281422"/>
              <a:gd name="csY3" fmla="*/ 10197723 h 10197722"/>
            </a:gdLst>
            <a:ahLst/>
            <a:cxnLst>
              <a:cxn ang="0">
                <a:pos x="csX0" y="csY0"/>
              </a:cxn>
              <a:cxn ang="0">
                <a:pos x="csX1" y="csY1"/>
              </a:cxn>
              <a:cxn ang="0">
                <a:pos x="csX2" y="csY2"/>
              </a:cxn>
              <a:cxn ang="0">
                <a:pos x="csX3" y="csY3"/>
              </a:cxn>
            </a:cxnLst>
            <a:rect l="l" t="t" r="r" b="b"/>
            <a:pathLst>
              <a:path w="18281422" h="10197722">
                <a:moveTo>
                  <a:pt x="0" y="10197723"/>
                </a:moveTo>
                <a:lnTo>
                  <a:pt x="0" y="0"/>
                </a:lnTo>
                <a:lnTo>
                  <a:pt x="18281422" y="0"/>
                </a:lnTo>
                <a:lnTo>
                  <a:pt x="18281422" y="10197723"/>
                </a:lnTo>
                <a:close/>
              </a:path>
            </a:pathLst>
          </a:custGeom>
          <a:solidFill>
            <a:srgbClr val="363A52"/>
          </a:solidFill>
          <a:ln w="16144" cap="flat">
            <a:noFill/>
            <a:prstDash val="solid"/>
            <a:miter/>
          </a:ln>
        </p:spPr>
        <p:txBody>
          <a:bodyPr/>
          <a:lstStyle/>
          <a:p>
            <a:endParaRPr lang="ko-KR" altLang="en-US"/>
          </a:p>
        </p:txBody>
      </p:sp>
      <p:sp>
        <p:nvSpPr>
          <p:cNvPr id="5390" name="TextBox 5389"/>
          <p:cNvSpPr txBox="1"/>
          <p:nvPr/>
        </p:nvSpPr>
        <p:spPr>
          <a:xfrm>
            <a:off x="914400" y="4572000"/>
            <a:ext cx="16459200" cy="1005840"/>
          </a:xfrm>
          <a:prstGeom prst="rect">
            <a:avLst/>
          </a:prstGeom>
          <a:noFill/>
        </p:spPr>
        <p:txBody>
          <a:bodyPr wrap="square" lIns="0" tIns="0" rIns="0" bIns="0" anchor="ctr">
            <a:spAutoFit/>
          </a:bodyPr>
          <a:lstStyle/>
          <a:p>
            <a:pPr algn="ctr"/>
            <a:r>
              <a:rPr sz="4800" b="0">
                <a:solidFill>
                  <a:srgbClr val="FF7B7B"/>
                </a:solidFill>
                <a:latin typeface="210 OmniGothic 050"/>
                <a:ea typeface="210 OmniGothic 050"/>
                <a:cs typeface="210 OmniGothic 050"/>
              </a:rPr>
              <a:t>08. 요구사항 추적표</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sz="quarter" idx="12"/>
          </p:nvPr>
        </p:nvSpPr>
        <p:spPr/>
        <p:txBody>
          <a:bodyPr/>
          <a:lstStyle/>
          <a:p>
            <a:fld id="{B6F15528-21DE-4FAA-801E-634DDDAF4B2B}" type="slidenum">
              <a:rPr lang="en-US" smtClean="0"/>
              <a:pPr/>
              <a:t>108</a:t>
            </a:fld>
            <a:endParaRPr lang="en-US"/>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21"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700" y="-12700"/>
            <a:ext cx="18313400" cy="1638300"/>
          </a:xfrm>
          <a:prstGeom prst="rect">
            <a:avLst/>
          </a:prstGeom>
        </p:spPr>
      </p:pic>
      <p:pic>
        <p:nvPicPr>
          <p:cNvPr id="5522"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28" y="1618343"/>
            <a:ext cx="18313400" cy="8699500"/>
          </a:xfrm>
          <a:prstGeom prst="rect">
            <a:avLst/>
          </a:prstGeom>
        </p:spPr>
      </p:pic>
      <p:pic>
        <p:nvPicPr>
          <p:cNvPr id="5523"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58800" y="9271000"/>
            <a:ext cx="17170400" cy="50800"/>
          </a:xfrm>
          <a:prstGeom prst="rect">
            <a:avLst/>
          </a:prstGeom>
        </p:spPr>
      </p:pic>
      <p:pic>
        <p:nvPicPr>
          <p:cNvPr id="5524" name="Picture 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278100" y="203200"/>
            <a:ext cx="1676400" cy="1409700"/>
          </a:xfrm>
          <a:prstGeom prst="rect">
            <a:avLst/>
          </a:prstGeom>
        </p:spPr>
      </p:pic>
      <p:sp>
        <p:nvSpPr>
          <p:cNvPr id="5525" name="Title"/>
          <p:cNvSpPr txBox="1"/>
          <p:nvPr/>
        </p:nvSpPr>
        <p:spPr>
          <a:xfrm>
            <a:off x="822960" y="384048"/>
            <a:ext cx="13258800" cy="877824"/>
          </a:xfrm>
          <a:prstGeom prst="rect">
            <a:avLst/>
          </a:prstGeom>
          <a:noFill/>
        </p:spPr>
        <p:txBody>
          <a:bodyPr wrap="square" lIns="0" tIns="0" rIns="0" bIns="0" anchor="ctr">
            <a:spAutoFit/>
          </a:bodyPr>
          <a:lstStyle/>
          <a:p>
            <a:pPr algn="l"/>
            <a:r>
              <a:rPr sz="4400" b="0">
                <a:solidFill>
                  <a:srgbClr val="FF7B7B"/>
                </a:solidFill>
                <a:latin typeface="210 OmniGothic 050"/>
                <a:ea typeface="210 OmniGothic 050"/>
                <a:cs typeface="210 OmniGothic 050"/>
              </a:rPr>
              <a:t>08. 요구사항 추적표</a:t>
            </a:r>
          </a:p>
        </p:txBody>
      </p:sp>
      <p:sp>
        <p:nvSpPr>
          <p:cNvPr id="5526" name="Subtitle"/>
          <p:cNvSpPr txBox="1"/>
          <p:nvPr/>
        </p:nvSpPr>
        <p:spPr>
          <a:xfrm>
            <a:off x="822960" y="1764792"/>
            <a:ext cx="16642080" cy="502920"/>
          </a:xfrm>
          <a:prstGeom prst="rect">
            <a:avLst/>
          </a:prstGeom>
          <a:noFill/>
        </p:spPr>
        <p:txBody>
          <a:bodyPr wrap="square" lIns="0" tIns="0" rIns="0" bIns="0" anchor="ctr">
            <a:spAutoFit/>
          </a:bodyPr>
          <a:lstStyle/>
          <a:p>
            <a:pPr algn="ctr"/>
            <a:r>
              <a:rPr sz="2600" b="1">
                <a:solidFill>
                  <a:srgbClr val="FF0000"/>
                </a:solidFill>
                <a:latin typeface="210 OmniGothic 040"/>
                <a:ea typeface="210 OmniGothic 040"/>
                <a:cs typeface="210 OmniGothic 040"/>
              </a:rPr>
              <a:t>기능 요구사항 추적표 (1/4) — F-01 ~ F-08</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sz="quarter" idx="12"/>
          </p:nvPr>
        </p:nvSpPr>
        <p:spPr/>
        <p:txBody>
          <a:bodyPr/>
          <a:lstStyle/>
          <a:p>
            <a:fld id="{B6F15528-21DE-4FAA-801E-634DDDAF4B2B}" type="slidenum">
              <a:rPr lang="en-US" smtClean="0"/>
              <a:pPr/>
              <a:t>109</a:t>
            </a:fld>
            <a:endParaRPr lang="en-US"/>
          </a:p>
        </p:txBody>
      </p:sp>
      <p:graphicFrame>
        <p:nvGraphicFramePr>
          <p:cNvPr id="5527" name="Table 5526"/>
          <p:cNvGraphicFramePr>
            <a:graphicFrameLocks noGrp="1"/>
          </p:cNvGraphicFramePr>
          <p:nvPr/>
        </p:nvGraphicFramePr>
        <p:xfrm>
          <a:off x="822960" y="2496312"/>
          <a:ext cx="16459200" cy="4525760"/>
        </p:xfrm>
        <a:graphic>
          <a:graphicData uri="http://schemas.openxmlformats.org/drawingml/2006/table">
            <a:tbl>
              <a:tblPr>
                <a:tableStyleId>{2D5ABB26-0587-4C30-8999-92F81FD0307C}</a:tableStyleId>
              </a:tblPr>
              <a:tblGrid>
                <a:gridCol w="82296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3291840">
                  <a:extLst>
                    <a:ext uri="{9D8B030D-6E8A-4147-A177-3AD203B41FA5}">
                      <a16:colId xmlns:a16="http://schemas.microsoft.com/office/drawing/2014/main" val="20002"/>
                    </a:ext>
                  </a:extLst>
                </a:gridCol>
                <a:gridCol w="3657600">
                  <a:extLst>
                    <a:ext uri="{9D8B030D-6E8A-4147-A177-3AD203B41FA5}">
                      <a16:colId xmlns:a16="http://schemas.microsoft.com/office/drawing/2014/main" val="20003"/>
                    </a:ext>
                  </a:extLst>
                </a:gridCol>
                <a:gridCol w="2468880">
                  <a:extLst>
                    <a:ext uri="{9D8B030D-6E8A-4147-A177-3AD203B41FA5}">
                      <a16:colId xmlns:a16="http://schemas.microsoft.com/office/drawing/2014/main" val="20004"/>
                    </a:ext>
                  </a:extLst>
                </a:gridCol>
                <a:gridCol w="1371600">
                  <a:extLst>
                    <a:ext uri="{9D8B030D-6E8A-4147-A177-3AD203B41FA5}">
                      <a16:colId xmlns:a16="http://schemas.microsoft.com/office/drawing/2014/main" val="20005"/>
                    </a:ext>
                  </a:extLst>
                </a:gridCol>
                <a:gridCol w="1005840">
                  <a:extLst>
                    <a:ext uri="{9D8B030D-6E8A-4147-A177-3AD203B41FA5}">
                      <a16:colId xmlns:a16="http://schemas.microsoft.com/office/drawing/2014/main" val="20006"/>
                    </a:ext>
                  </a:extLst>
                </a:gridCol>
                <a:gridCol w="1097280">
                  <a:extLst>
                    <a:ext uri="{9D8B030D-6E8A-4147-A177-3AD203B41FA5}">
                      <a16:colId xmlns:a16="http://schemas.microsoft.com/office/drawing/2014/main" val="20007"/>
                    </a:ext>
                  </a:extLst>
                </a:gridCol>
              </a:tblGrid>
              <a:tr h="365760">
                <a:tc>
                  <a:txBody>
                    <a:bodyPr/>
                    <a:lstStyle/>
                    <a:p>
                      <a:pPr algn="ctr"/>
                      <a:r>
                        <a:rPr lang="ko-KR" sz="1200" b="1">
                          <a:solidFill>
                            <a:srgbClr val="FF7B7B"/>
                          </a:solidFill>
                          <a:latin typeface="210 OmniGothic 040"/>
                          <a:ea typeface="210 OmniGothic 040"/>
                          <a:cs typeface="210 OmniGothic 040"/>
                        </a:rPr>
                        <a:t>요구사항 ID</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tc>
                  <a:txBody>
                    <a:bodyPr/>
                    <a:lstStyle/>
                    <a:p>
                      <a:pPr algn="ctr"/>
                      <a:r>
                        <a:rPr lang="ko-KR" sz="1200" b="1">
                          <a:solidFill>
                            <a:srgbClr val="FF7B7B"/>
                          </a:solidFill>
                          <a:latin typeface="210 OmniGothic 040"/>
                          <a:ea typeface="210 OmniGothic 040"/>
                          <a:cs typeface="210 OmniGothic 040"/>
                        </a:rPr>
                        <a:t>요구사항</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tc>
                  <a:txBody>
                    <a:bodyPr/>
                    <a:lstStyle/>
                    <a:p>
                      <a:pPr algn="ctr"/>
                      <a:r>
                        <a:rPr lang="ko-KR" sz="1200" b="1">
                          <a:solidFill>
                            <a:srgbClr val="FF7B7B"/>
                          </a:solidFill>
                          <a:latin typeface="210 OmniGothic 040"/>
                          <a:ea typeface="210 OmniGothic 040"/>
                          <a:cs typeface="210 OmniGothic 040"/>
                        </a:rPr>
                        <a:t>유스케이스 (시퀀스 쪽)</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tc>
                  <a:txBody>
                    <a:bodyPr/>
                    <a:lstStyle/>
                    <a:p>
                      <a:pPr algn="ctr"/>
                      <a:r>
                        <a:rPr lang="ko-KR" sz="1200" b="1">
                          <a:solidFill>
                            <a:srgbClr val="FF7B7B"/>
                          </a:solidFill>
                          <a:latin typeface="210 OmniGothic 040"/>
                          <a:ea typeface="210 OmniGothic 040"/>
                          <a:cs typeface="210 OmniGothic 040"/>
                        </a:rPr>
                        <a:t>구현 모듈 (논리 컴포넌트)</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tc>
                  <a:txBody>
                    <a:bodyPr/>
                    <a:lstStyle/>
                    <a:p>
                      <a:pPr algn="ctr"/>
                      <a:r>
                        <a:rPr lang="ko-KR" sz="1200" b="1">
                          <a:solidFill>
                            <a:srgbClr val="FF7B7B"/>
                          </a:solidFill>
                          <a:latin typeface="210 OmniGothic 040"/>
                          <a:ea typeface="210 OmniGothic 040"/>
                          <a:cs typeface="210 OmniGothic 040"/>
                        </a:rPr>
                        <a:t>데이터 (테이블)</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tc>
                  <a:txBody>
                    <a:bodyPr/>
                    <a:lstStyle/>
                    <a:p>
                      <a:pPr algn="ctr"/>
                      <a:r>
                        <a:rPr lang="ko-KR" sz="1200" b="1">
                          <a:solidFill>
                            <a:srgbClr val="FF7B7B"/>
                          </a:solidFill>
                          <a:latin typeface="210 OmniGothic 040"/>
                          <a:ea typeface="210 OmniGothic 040"/>
                          <a:cs typeface="210 OmniGothic 040"/>
                        </a:rPr>
                        <a:t>검증</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tc>
                  <a:txBody>
                    <a:bodyPr/>
                    <a:lstStyle/>
                    <a:p>
                      <a:pPr algn="ctr"/>
                      <a:r>
                        <a:rPr lang="ko-KR" sz="1200" b="1">
                          <a:solidFill>
                            <a:srgbClr val="FF7B7B"/>
                          </a:solidFill>
                          <a:latin typeface="210 OmniGothic 040"/>
                          <a:ea typeface="210 OmniGothic 040"/>
                          <a:cs typeface="210 OmniGothic 040"/>
                        </a:rPr>
                        <a:t>테스트 결과</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tc>
                  <a:txBody>
                    <a:bodyPr/>
                    <a:lstStyle/>
                    <a:p>
                      <a:pPr algn="ctr"/>
                      <a:r>
                        <a:rPr lang="ko-KR" sz="1200" b="1">
                          <a:solidFill>
                            <a:srgbClr val="FF7B7B"/>
                          </a:solidFill>
                          <a:latin typeface="210 OmniGothic 040"/>
                          <a:ea typeface="210 OmniGothic 040"/>
                          <a:cs typeface="210 OmniGothic 040"/>
                        </a:rPr>
                        <a:t>상태</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extLst>
                  <a:ext uri="{0D108BD9-81ED-4DB2-BD59-A6C34878D82A}">
                    <a16:rowId xmlns:a16="http://schemas.microsoft.com/office/drawing/2014/main" val="10000"/>
                  </a:ext>
                </a:extLst>
              </a:tr>
              <a:tr h="520000">
                <a:tc>
                  <a:txBody>
                    <a:bodyPr/>
                    <a:lstStyle/>
                    <a:p>
                      <a:pPr algn="ctr"/>
                      <a:r>
                        <a:rPr lang="ko-KR" sz="1100" b="1">
                          <a:solidFill>
                            <a:srgbClr val="FF0000"/>
                          </a:solidFill>
                          <a:latin typeface="210 OmniGothic 040"/>
                          <a:ea typeface="210 OmniGothic 040"/>
                          <a:cs typeface="210 OmniGothic 040"/>
                        </a:rPr>
                        <a:t>F-01</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lang="ko-KR" sz="1100" b="1">
                          <a:solidFill>
                            <a:srgbClr val="FF0000"/>
                          </a:solidFill>
                          <a:latin typeface="210 OmniGothic 040"/>
                          <a:ea typeface="210 OmniGothic 040"/>
                          <a:cs typeface="210 OmniGothic 040"/>
                        </a:rPr>
                        <a:t>로그인·계정·권한 관리</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lang="ko-KR" sz="1100" b="0">
                          <a:solidFill>
                            <a:srgbClr val="FF0000"/>
                          </a:solidFill>
                          <a:latin typeface="210 OmniGothic 040"/>
                          <a:ea typeface="210 OmniGothic 040"/>
                          <a:cs typeface="210 OmniGothic 040"/>
                        </a:rPr>
                        <a:t>UC-AUTH-01 (36)</a:t>
                      </a:r>
                    </a:p>
                    <a:p>
                      <a:pPr algn="l"/>
                      <a:r>
                        <a:rPr lang="ko-KR" sz="1100" b="0">
                          <a:solidFill>
                            <a:srgbClr val="FF0000"/>
                          </a:solidFill>
                          <a:latin typeface="210 OmniGothic 040"/>
                          <a:ea typeface="210 OmniGothic 040"/>
                          <a:cs typeface="210 OmniGothic 040"/>
                        </a:rPr>
                        <a:t>UC-ADMIN-01 (48)</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lang="ko-KR" sz="1100" b="0">
                          <a:solidFill>
                            <a:srgbClr val="FF0000"/>
                          </a:solidFill>
                          <a:latin typeface="210 OmniGothic 040"/>
                          <a:ea typeface="210 OmniGothic 040"/>
                          <a:cs typeface="210 OmniGothic 040"/>
                        </a:rPr>
                        <a:t>AuthRouter, SecurityService, AdminRouter</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lang="ko-KR" sz="1100" b="0">
                          <a:solidFill>
                            <a:srgbClr val="FF0000"/>
                          </a:solidFill>
                          <a:latin typeface="210 OmniGothic 040"/>
                          <a:ea typeface="210 OmniGothic 040"/>
                          <a:cs typeface="210 OmniGothic 040"/>
                        </a:rPr>
                        <a:t>users</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lang="ko-KR" sz="1100" b="0">
                          <a:solidFill>
                            <a:srgbClr val="FF0000"/>
                          </a:solidFill>
                          <a:latin typeface="210 OmniGothic 040"/>
                          <a:ea typeface="210 OmniGothic 040"/>
                          <a:cs typeface="210 OmniGothic 040"/>
                        </a:rPr>
                        <a:t>TER-001</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lang="ko-KR" sz="1100" b="0">
                          <a:solidFill>
                            <a:srgbClr val="FF0000"/>
                          </a:solidFill>
                          <a:latin typeface="210 OmniGothic 040"/>
                          <a:ea typeface="210 OmniGothic 040"/>
                          <a:cs typeface="210 OmniGothic 040"/>
                        </a:rPr>
                        <a:t>미수행</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lang="ko-KR" sz="1100" b="0">
                          <a:solidFill>
                            <a:srgbClr val="FF0000"/>
                          </a:solidFill>
                          <a:latin typeface="210 OmniGothic 040"/>
                          <a:ea typeface="210 OmniGothic 040"/>
                          <a:cs typeface="210 OmniGothic 040"/>
                        </a:rPr>
                        <a:t>설계 완료</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1"/>
                  </a:ext>
                </a:extLst>
              </a:tr>
              <a:tr h="520000">
                <a:tc>
                  <a:txBody>
                    <a:bodyPr/>
                    <a:lstStyle/>
                    <a:p>
                      <a:pPr algn="ctr"/>
                      <a:r>
                        <a:rPr lang="ko-KR" sz="1100" b="1">
                          <a:solidFill>
                            <a:srgbClr val="FF0000"/>
                          </a:solidFill>
                          <a:latin typeface="210 OmniGothic 040"/>
                          <a:ea typeface="210 OmniGothic 040"/>
                          <a:cs typeface="210 OmniGothic 040"/>
                        </a:rPr>
                        <a:t>F-02</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r>
                        <a:rPr lang="ko-KR" sz="1100" b="1">
                          <a:solidFill>
                            <a:srgbClr val="FF0000"/>
                          </a:solidFill>
                          <a:latin typeface="210 OmniGothic 040"/>
                          <a:ea typeface="210 OmniGothic 040"/>
                          <a:cs typeface="210 OmniGothic 040"/>
                        </a:rPr>
                        <a:t>산불 상황 보고(발화 정보·실측 화선)</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r>
                        <a:rPr lang="ko-KR" sz="1100" b="0">
                          <a:solidFill>
                            <a:srgbClr val="FF0000"/>
                          </a:solidFill>
                          <a:latin typeface="210 OmniGothic 040"/>
                          <a:ea typeface="210 OmniGothic 040"/>
                          <a:cs typeface="210 OmniGothic 040"/>
                        </a:rPr>
                        <a:t>UC-REPORT-01 (37)</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r>
                        <a:rPr lang="ko-KR" sz="1100" b="0">
                          <a:solidFill>
                            <a:srgbClr val="FF0000"/>
                          </a:solidFill>
                          <a:latin typeface="210 OmniGothic 040"/>
                          <a:ea typeface="210 OmniGothic 040"/>
                          <a:cs typeface="210 OmniGothic 040"/>
                        </a:rPr>
                        <a:t>IncidentRouter(save_incident)</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r>
                        <a:rPr lang="ko-KR" sz="1100" b="0">
                          <a:solidFill>
                            <a:srgbClr val="FF0000"/>
                          </a:solidFill>
                          <a:latin typeface="210 OmniGothic 040"/>
                          <a:ea typeface="210 OmniGothic 040"/>
                          <a:cs typeface="210 OmniGothic 040"/>
                        </a:rPr>
                        <a:t>incidents, intake_records, fire_perimeters</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ctr"/>
                      <a:r>
                        <a:rPr lang="ko-KR" sz="1100" b="0">
                          <a:solidFill>
                            <a:srgbClr val="FF0000"/>
                          </a:solidFill>
                          <a:latin typeface="210 OmniGothic 040"/>
                          <a:ea typeface="210 OmniGothic 040"/>
                          <a:cs typeface="210 OmniGothic 040"/>
                        </a:rPr>
                        <a:t>TER-001</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ctr"/>
                      <a:r>
                        <a:rPr lang="ko-KR" sz="1100" b="0">
                          <a:solidFill>
                            <a:srgbClr val="FF0000"/>
                          </a:solidFill>
                          <a:latin typeface="210 OmniGothic 040"/>
                          <a:ea typeface="210 OmniGothic 040"/>
                          <a:cs typeface="210 OmniGothic 040"/>
                        </a:rPr>
                        <a:t>미수행</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ctr"/>
                      <a:r>
                        <a:rPr lang="ko-KR" sz="1100" b="0">
                          <a:solidFill>
                            <a:srgbClr val="FF0000"/>
                          </a:solidFill>
                          <a:latin typeface="210 OmniGothic 040"/>
                          <a:ea typeface="210 OmniGothic 040"/>
                          <a:cs typeface="210 OmniGothic 040"/>
                        </a:rPr>
                        <a:t>설계 완료</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2"/>
                  </a:ext>
                </a:extLst>
              </a:tr>
              <a:tr h="520000">
                <a:tc>
                  <a:txBody>
                    <a:bodyPr/>
                    <a:lstStyle/>
                    <a:p>
                      <a:pPr algn="ctr"/>
                      <a:r>
                        <a:rPr lang="ko-KR" sz="1100" b="1">
                          <a:solidFill>
                            <a:srgbClr val="FF0000"/>
                          </a:solidFill>
                          <a:latin typeface="210 OmniGothic 040"/>
                          <a:ea typeface="210 OmniGothic 040"/>
                          <a:cs typeface="210 OmniGothic 040"/>
                        </a:rPr>
                        <a:t>F-03</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lang="ko-KR" sz="1100" b="1">
                          <a:solidFill>
                            <a:srgbClr val="FF0000"/>
                          </a:solidFill>
                          <a:latin typeface="210 OmniGothic 040"/>
                          <a:ea typeface="210 OmniGothic 040"/>
                          <a:cs typeface="210 OmniGothic 040"/>
                        </a:rPr>
                        <a:t>발화 종료 처리</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lang="ko-KR" sz="1100" b="0">
                          <a:solidFill>
                            <a:srgbClr val="FF0000"/>
                          </a:solidFill>
                          <a:latin typeface="210 OmniGothic 040"/>
                          <a:ea typeface="210 OmniGothic 040"/>
                          <a:cs typeface="210 OmniGothic 040"/>
                        </a:rPr>
                        <a:t>UC-SIT-01 (38)</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lang="ko-KR" sz="1100" b="0">
                          <a:solidFill>
                            <a:srgbClr val="FF0000"/>
                          </a:solidFill>
                          <a:latin typeface="210 OmniGothic 040"/>
                          <a:ea typeface="210 OmniGothic 040"/>
                          <a:cs typeface="210 OmniGothic 040"/>
                        </a:rPr>
                        <a:t>IncidentRouter(close_incident)</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lang="ko-KR" sz="1100" b="0">
                          <a:solidFill>
                            <a:srgbClr val="FF0000"/>
                          </a:solidFill>
                          <a:latin typeface="210 OmniGothic 040"/>
                          <a:ea typeface="210 OmniGothic 040"/>
                          <a:cs typeface="210 OmniGothic 040"/>
                        </a:rPr>
                        <a:t>incidents</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lang="ko-KR" sz="1100" b="0">
                          <a:solidFill>
                            <a:srgbClr val="FF0000"/>
                          </a:solidFill>
                          <a:latin typeface="210 OmniGothic 040"/>
                          <a:ea typeface="210 OmniGothic 040"/>
                          <a:cs typeface="210 OmniGothic 040"/>
                        </a:rPr>
                        <a:t>TER-001</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lang="ko-KR" sz="1100" b="0">
                          <a:solidFill>
                            <a:srgbClr val="FF0000"/>
                          </a:solidFill>
                          <a:latin typeface="210 OmniGothic 040"/>
                          <a:ea typeface="210 OmniGothic 040"/>
                          <a:cs typeface="210 OmniGothic 040"/>
                        </a:rPr>
                        <a:t>미수행</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lang="ko-KR" sz="1100" b="0">
                          <a:solidFill>
                            <a:srgbClr val="FF0000"/>
                          </a:solidFill>
                          <a:latin typeface="210 OmniGothic 040"/>
                          <a:ea typeface="210 OmniGothic 040"/>
                          <a:cs typeface="210 OmniGothic 040"/>
                        </a:rPr>
                        <a:t>설계 완료</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3"/>
                  </a:ext>
                </a:extLst>
              </a:tr>
              <a:tr h="520000">
                <a:tc>
                  <a:txBody>
                    <a:bodyPr/>
                    <a:lstStyle/>
                    <a:p>
                      <a:pPr algn="ctr"/>
                      <a:r>
                        <a:rPr lang="ko-KR" sz="1100" b="1">
                          <a:solidFill>
                            <a:srgbClr val="FF0000"/>
                          </a:solidFill>
                          <a:latin typeface="210 OmniGothic 040"/>
                          <a:ea typeface="210 OmniGothic 040"/>
                          <a:cs typeface="210 OmniGothic 040"/>
                        </a:rPr>
                        <a:t>F-04</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r>
                        <a:rPr lang="ko-KR" sz="1100" b="1">
                          <a:solidFill>
                            <a:srgbClr val="FF0000"/>
                          </a:solidFill>
                          <a:latin typeface="210 OmniGothic 040"/>
                          <a:ea typeface="210 OmniGothic 040"/>
                          <a:cs typeface="210 OmniGothic 040"/>
                        </a:rPr>
                        <a:t>산불 발생·접수 정보 조회</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r>
                        <a:rPr lang="ko-KR" sz="1100" b="0">
                          <a:solidFill>
                            <a:srgbClr val="FF0000"/>
                          </a:solidFill>
                          <a:latin typeface="210 OmniGothic 040"/>
                          <a:ea typeface="210 OmniGothic 040"/>
                          <a:cs typeface="210 OmniGothic 040"/>
                        </a:rPr>
                        <a:t>UC-SIT-02 (39)</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r>
                        <a:rPr lang="ko-KR" sz="1100" b="0">
                          <a:solidFill>
                            <a:srgbClr val="FF0000"/>
                          </a:solidFill>
                          <a:latin typeface="210 OmniGothic 040"/>
                          <a:ea typeface="210 OmniGothic 040"/>
                          <a:cs typeface="210 OmniGothic 040"/>
                        </a:rPr>
                        <a:t>IncidentRouter(list_incidents, get_incident)</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r>
                        <a:rPr lang="ko-KR" sz="1100" b="0">
                          <a:solidFill>
                            <a:srgbClr val="FF0000"/>
                          </a:solidFill>
                          <a:latin typeface="210 OmniGothic 040"/>
                          <a:ea typeface="210 OmniGothic 040"/>
                          <a:cs typeface="210 OmniGothic 040"/>
                        </a:rPr>
                        <a:t>incidents, intake_records</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ctr"/>
                      <a:r>
                        <a:rPr lang="ko-KR" sz="1100" b="0">
                          <a:solidFill>
                            <a:srgbClr val="FF0000"/>
                          </a:solidFill>
                          <a:latin typeface="210 OmniGothic 040"/>
                          <a:ea typeface="210 OmniGothic 040"/>
                          <a:cs typeface="210 OmniGothic 040"/>
                        </a:rPr>
                        <a:t>TER-001</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ctr"/>
                      <a:r>
                        <a:rPr lang="ko-KR" sz="1100" b="0">
                          <a:solidFill>
                            <a:srgbClr val="FF0000"/>
                          </a:solidFill>
                          <a:latin typeface="210 OmniGothic 040"/>
                          <a:ea typeface="210 OmniGothic 040"/>
                          <a:cs typeface="210 OmniGothic 040"/>
                        </a:rPr>
                        <a:t>미수행</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ctr"/>
                      <a:r>
                        <a:rPr lang="ko-KR" sz="1100" b="0">
                          <a:solidFill>
                            <a:srgbClr val="FF0000"/>
                          </a:solidFill>
                          <a:latin typeface="210 OmniGothic 040"/>
                          <a:ea typeface="210 OmniGothic 040"/>
                          <a:cs typeface="210 OmniGothic 040"/>
                        </a:rPr>
                        <a:t>설계 완료</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4"/>
                  </a:ext>
                </a:extLst>
              </a:tr>
              <a:tr h="520000">
                <a:tc>
                  <a:txBody>
                    <a:bodyPr/>
                    <a:lstStyle/>
                    <a:p>
                      <a:pPr algn="ctr"/>
                      <a:r>
                        <a:rPr lang="ko-KR" sz="1100" b="1">
                          <a:solidFill>
                            <a:srgbClr val="FF0000"/>
                          </a:solidFill>
                          <a:latin typeface="210 OmniGothic 040"/>
                          <a:ea typeface="210 OmniGothic 040"/>
                          <a:cs typeface="210 OmniGothic 040"/>
                        </a:rPr>
                        <a:t>F-05</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lang="ko-KR" sz="1100" b="1">
                          <a:solidFill>
                            <a:srgbClr val="FF0000"/>
                          </a:solidFill>
                          <a:latin typeface="210 OmniGothic 040"/>
                          <a:ea typeface="210 OmniGothic 040"/>
                          <a:cs typeface="210 OmniGothic 040"/>
                        </a:rPr>
                        <a:t>통합 상황도</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lang="ko-KR" sz="1100" b="0">
                          <a:solidFill>
                            <a:srgbClr val="FF0000"/>
                          </a:solidFill>
                          <a:latin typeface="210 OmniGothic 040"/>
                          <a:ea typeface="210 OmniGothic 040"/>
                          <a:cs typeface="210 OmniGothic 040"/>
                        </a:rPr>
                        <a:t>UC-SIT-03 (40)</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lang="ko-KR" sz="1100" b="0">
                          <a:solidFill>
                            <a:srgbClr val="FF0000"/>
                          </a:solidFill>
                          <a:latin typeface="210 OmniGothic 040"/>
                          <a:ea typeface="210 OmniGothic 040"/>
                          <a:cs typeface="210 OmniGothic 040"/>
                        </a:rPr>
                        <a:t>MapRouter(get_layers), PredictionRouter(get_slices)</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lang="ko-KR" sz="1100" b="0">
                          <a:solidFill>
                            <a:srgbClr val="FF0000"/>
                          </a:solidFill>
                          <a:latin typeface="210 OmniGothic 040"/>
                          <a:ea typeface="210 OmniGothic 040"/>
                          <a:cs typeface="210 OmniGothic 040"/>
                        </a:rPr>
                        <a:t>fire_perimeters, spread_slices</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lang="ko-KR" sz="1100" b="0">
                          <a:solidFill>
                            <a:srgbClr val="FF0000"/>
                          </a:solidFill>
                          <a:latin typeface="210 OmniGothic 040"/>
                          <a:ea typeface="210 OmniGothic 040"/>
                          <a:cs typeface="210 OmniGothic 040"/>
                        </a:rPr>
                        <a:t>TER-001</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lang="ko-KR" sz="1100" b="0">
                          <a:solidFill>
                            <a:srgbClr val="FF0000"/>
                          </a:solidFill>
                          <a:latin typeface="210 OmniGothic 040"/>
                          <a:ea typeface="210 OmniGothic 040"/>
                          <a:cs typeface="210 OmniGothic 040"/>
                        </a:rPr>
                        <a:t>미수행</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lang="ko-KR" sz="1100" b="0">
                          <a:solidFill>
                            <a:srgbClr val="FF0000"/>
                          </a:solidFill>
                          <a:latin typeface="210 OmniGothic 040"/>
                          <a:ea typeface="210 OmniGothic 040"/>
                          <a:cs typeface="210 OmniGothic 040"/>
                        </a:rPr>
                        <a:t>설계 완료</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5"/>
                  </a:ext>
                </a:extLst>
              </a:tr>
              <a:tr h="520000">
                <a:tc>
                  <a:txBody>
                    <a:bodyPr/>
                    <a:lstStyle/>
                    <a:p>
                      <a:pPr algn="ctr"/>
                      <a:r>
                        <a:rPr lang="ko-KR" sz="1100" b="1">
                          <a:solidFill>
                            <a:srgbClr val="FF0000"/>
                          </a:solidFill>
                          <a:latin typeface="210 OmniGothic 040"/>
                          <a:ea typeface="210 OmniGothic 040"/>
                          <a:cs typeface="210 OmniGothic 040"/>
                        </a:rPr>
                        <a:t>F-06</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r>
                        <a:rPr lang="ko-KR" sz="1100" b="1">
                          <a:solidFill>
                            <a:srgbClr val="FF0000"/>
                          </a:solidFill>
                          <a:latin typeface="210 OmniGothic 040"/>
                          <a:ea typeface="210 OmniGothic 040"/>
                          <a:cs typeface="210 OmniGothic 040"/>
                        </a:rPr>
                        <a:t>지도 레이어 선택</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r>
                        <a:rPr lang="ko-KR" sz="1100" b="0">
                          <a:solidFill>
                            <a:srgbClr val="FF0000"/>
                          </a:solidFill>
                          <a:latin typeface="210 OmniGothic 040"/>
                          <a:ea typeface="210 OmniGothic 040"/>
                          <a:cs typeface="210 OmniGothic 040"/>
                        </a:rPr>
                        <a:t>UC-SIT-03 (40)</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r>
                        <a:rPr lang="ko-KR" sz="1100" b="0">
                          <a:solidFill>
                            <a:srgbClr val="FF0000"/>
                          </a:solidFill>
                          <a:latin typeface="210 OmniGothic 040"/>
                          <a:ea typeface="210 OmniGothic 040"/>
                          <a:cs typeface="210 OmniGothic 040"/>
                        </a:rPr>
                        <a:t>MapRouter(get_layers)</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r>
                        <a:rPr lang="ko-KR" sz="1100" b="0">
                          <a:solidFill>
                            <a:srgbClr val="FF0000"/>
                          </a:solidFill>
                          <a:latin typeface="210 OmniGothic 040"/>
                          <a:ea typeface="210 OmniGothic 040"/>
                          <a:cs typeface="210 OmniGothic 040"/>
                        </a:rPr>
                        <a:t>villages, facilities</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ctr"/>
                      <a:r>
                        <a:rPr lang="ko-KR" sz="1100" b="0">
                          <a:solidFill>
                            <a:srgbClr val="FF0000"/>
                          </a:solidFill>
                          <a:latin typeface="210 OmniGothic 040"/>
                          <a:ea typeface="210 OmniGothic 040"/>
                          <a:cs typeface="210 OmniGothic 040"/>
                        </a:rPr>
                        <a:t>TER-001</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ctr"/>
                      <a:r>
                        <a:rPr lang="ko-KR" sz="1100" b="0">
                          <a:solidFill>
                            <a:srgbClr val="FF0000"/>
                          </a:solidFill>
                          <a:latin typeface="210 OmniGothic 040"/>
                          <a:ea typeface="210 OmniGothic 040"/>
                          <a:cs typeface="210 OmniGothic 040"/>
                        </a:rPr>
                        <a:t>미수행</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ctr"/>
                      <a:r>
                        <a:rPr lang="ko-KR" sz="1100" b="0">
                          <a:solidFill>
                            <a:srgbClr val="FF0000"/>
                          </a:solidFill>
                          <a:latin typeface="210 OmniGothic 040"/>
                          <a:ea typeface="210 OmniGothic 040"/>
                          <a:cs typeface="210 OmniGothic 040"/>
                        </a:rPr>
                        <a:t>설계 완료</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6"/>
                  </a:ext>
                </a:extLst>
              </a:tr>
              <a:tr h="520000">
                <a:tc>
                  <a:txBody>
                    <a:bodyPr/>
                    <a:lstStyle/>
                    <a:p>
                      <a:pPr algn="ctr"/>
                      <a:r>
                        <a:rPr lang="ko-KR" sz="1100" b="1">
                          <a:solidFill>
                            <a:srgbClr val="FF0000"/>
                          </a:solidFill>
                          <a:latin typeface="210 OmniGothic 040"/>
                          <a:ea typeface="210 OmniGothic 040"/>
                          <a:cs typeface="210 OmniGothic 040"/>
                        </a:rPr>
                        <a:t>F-07</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lang="ko-KR" sz="1100" b="1">
                          <a:solidFill>
                            <a:srgbClr val="FF0000"/>
                          </a:solidFill>
                          <a:latin typeface="210 OmniGothic 040"/>
                          <a:ea typeface="210 OmniGothic 040"/>
                          <a:cs typeface="210 OmniGothic 040"/>
                        </a:rPr>
                        <a:t>주요 시설 지도 표시</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lang="ko-KR" sz="1100" b="0">
                          <a:solidFill>
                            <a:srgbClr val="FF0000"/>
                          </a:solidFill>
                          <a:latin typeface="210 OmniGothic 040"/>
                          <a:ea typeface="210 OmniGothic 040"/>
                          <a:cs typeface="210 OmniGothic 040"/>
                        </a:rPr>
                        <a:t>UC-SIT-03 (40)</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lang="ko-KR" sz="1100" b="0">
                          <a:solidFill>
                            <a:srgbClr val="FF0000"/>
                          </a:solidFill>
                          <a:latin typeface="210 OmniGothic 040"/>
                          <a:ea typeface="210 OmniGothic 040"/>
                          <a:cs typeface="210 OmniGothic 040"/>
                        </a:rPr>
                        <a:t>MapRouter(get_layers)</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lang="ko-KR" sz="1100" b="0">
                          <a:solidFill>
                            <a:srgbClr val="FF0000"/>
                          </a:solidFill>
                          <a:latin typeface="210 OmniGothic 040"/>
                          <a:ea typeface="210 OmniGothic 040"/>
                          <a:cs typeface="210 OmniGothic 040"/>
                        </a:rPr>
                        <a:t>villages, facilities</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lang="ko-KR" sz="1100" b="0">
                          <a:solidFill>
                            <a:srgbClr val="FF0000"/>
                          </a:solidFill>
                          <a:latin typeface="210 OmniGothic 040"/>
                          <a:ea typeface="210 OmniGothic 040"/>
                          <a:cs typeface="210 OmniGothic 040"/>
                        </a:rPr>
                        <a:t>TER-001</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lang="ko-KR" sz="1100" b="0">
                          <a:solidFill>
                            <a:srgbClr val="FF0000"/>
                          </a:solidFill>
                          <a:latin typeface="210 OmniGothic 040"/>
                          <a:ea typeface="210 OmniGothic 040"/>
                          <a:cs typeface="210 OmniGothic 040"/>
                        </a:rPr>
                        <a:t>미수행</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lang="ko-KR" sz="1100" b="0">
                          <a:solidFill>
                            <a:srgbClr val="FF0000"/>
                          </a:solidFill>
                          <a:latin typeface="210 OmniGothic 040"/>
                          <a:ea typeface="210 OmniGothic 040"/>
                          <a:cs typeface="210 OmniGothic 040"/>
                        </a:rPr>
                        <a:t>설계 완료</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7"/>
                  </a:ext>
                </a:extLst>
              </a:tr>
              <a:tr h="520000">
                <a:tc>
                  <a:txBody>
                    <a:bodyPr/>
                    <a:lstStyle/>
                    <a:p>
                      <a:pPr algn="ctr"/>
                      <a:r>
                        <a:rPr lang="ko-KR" sz="1100" b="1">
                          <a:solidFill>
                            <a:srgbClr val="FF0000"/>
                          </a:solidFill>
                          <a:latin typeface="210 OmniGothic 040"/>
                          <a:ea typeface="210 OmniGothic 040"/>
                          <a:cs typeface="210 OmniGothic 040"/>
                        </a:rPr>
                        <a:t>F-08</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r>
                        <a:rPr lang="ko-KR" sz="1100" b="1">
                          <a:solidFill>
                            <a:srgbClr val="FF0000"/>
                          </a:solidFill>
                          <a:latin typeface="210 OmniGothic 040"/>
                          <a:ea typeface="210 OmniGothic 040"/>
                          <a:cs typeface="210 OmniGothic 040"/>
                        </a:rPr>
                        <a:t>가용 현황 확인</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r>
                        <a:rPr lang="ko-KR" sz="1100" b="0">
                          <a:solidFill>
                            <a:srgbClr val="FF0000"/>
                          </a:solidFill>
                          <a:latin typeface="210 OmniGothic 040"/>
                          <a:ea typeface="210 OmniGothic 040"/>
                          <a:cs typeface="210 OmniGothic 040"/>
                        </a:rPr>
                        <a:t>UC-SIT-03 (40)</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r>
                        <a:rPr lang="ko-KR" sz="1100" b="0">
                          <a:solidFill>
                            <a:srgbClr val="FF0000"/>
                          </a:solidFill>
                          <a:latin typeface="210 OmniGothic 040"/>
                          <a:ea typeface="210 OmniGothic 040"/>
                          <a:cs typeface="210 OmniGothic 040"/>
                        </a:rPr>
                        <a:t>MapRouter(get_resources)</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r>
                        <a:rPr lang="ko-KR" sz="1100" b="0">
                          <a:solidFill>
                            <a:srgbClr val="FF0000"/>
                          </a:solidFill>
                          <a:latin typeface="210 OmniGothic 040"/>
                          <a:ea typeface="210 OmniGothic 040"/>
                          <a:cs typeface="210 OmniGothic 040"/>
                        </a:rPr>
                        <a:t>resources</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ctr"/>
                      <a:r>
                        <a:rPr lang="ko-KR" sz="1100" b="0">
                          <a:solidFill>
                            <a:srgbClr val="FF0000"/>
                          </a:solidFill>
                          <a:latin typeface="210 OmniGothic 040"/>
                          <a:ea typeface="210 OmniGothic 040"/>
                          <a:cs typeface="210 OmniGothic 040"/>
                        </a:rPr>
                        <a:t>TER-001</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ctr"/>
                      <a:r>
                        <a:rPr lang="ko-KR" sz="1100" b="0">
                          <a:solidFill>
                            <a:srgbClr val="FF0000"/>
                          </a:solidFill>
                          <a:latin typeface="210 OmniGothic 040"/>
                          <a:ea typeface="210 OmniGothic 040"/>
                          <a:cs typeface="210 OmniGothic 040"/>
                        </a:rPr>
                        <a:t>미수행</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ctr"/>
                      <a:r>
                        <a:rPr lang="ko-KR" sz="1100" b="0">
                          <a:solidFill>
                            <a:srgbClr val="FF0000"/>
                          </a:solidFill>
                          <a:latin typeface="210 OmniGothic 040"/>
                          <a:ea typeface="210 OmniGothic 040"/>
                          <a:cs typeface="210 OmniGothic 040"/>
                        </a:rPr>
                        <a:t>설계 완료</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8"/>
                  </a:ext>
                </a:extLst>
              </a:tr>
            </a:tbl>
          </a:graphicData>
        </a:graphic>
      </p:graphicFrame>
      <p:sp>
        <p:nvSpPr>
          <p:cNvPr id="9301" name="Note 9301"/>
          <p:cNvSpPr txBox="1"/>
          <p:nvPr/>
        </p:nvSpPr>
        <p:spPr>
          <a:xfrm>
            <a:off x="822960" y="8000000"/>
            <a:ext cx="16459200" cy="310896"/>
          </a:xfrm>
          <a:prstGeom prst="rect">
            <a:avLst/>
          </a:prstGeom>
          <a:noFill/>
        </p:spPr>
        <p:txBody>
          <a:bodyPr wrap="square" lIns="0" tIns="0" rIns="0" bIns="0" anchor="t">
            <a:spAutoFit/>
          </a:bodyPr>
          <a:lstStyle/>
          <a:p>
            <a:pPr algn="l"/>
            <a:r>
              <a:rPr sz="1150" b="0">
                <a:solidFill>
                  <a:srgbClr val="FF0000"/>
                </a:solidFill>
                <a:latin typeface="210 OmniGothic 030"/>
                <a:ea typeface="210 OmniGothic 030"/>
                <a:cs typeface="210 OmniGothic 030"/>
              </a:rPr>
              <a:t>※ 요구사항 ID·요구사항은 기능 목록(12~14쪽), 유스케이스·시퀀스 쪽은 16~49쪽, 구현 모듈은 클래스 다이어그램(61~64쪽), 데이터는 관계형 데이터베이스(70쪽), 검증은 TER-001(기능·통합 테스트)·TER-002(AI 모델 평가) 기준입니다.</a:t>
            </a:r>
          </a:p>
        </p:txBody>
      </p:sp>
      <p:sp>
        <p:nvSpPr>
          <p:cNvPr id="9302" name="Note 9302"/>
          <p:cNvSpPr txBox="1"/>
          <p:nvPr/>
        </p:nvSpPr>
        <p:spPr>
          <a:xfrm>
            <a:off x="822960" y="8329184"/>
            <a:ext cx="16459200" cy="310896"/>
          </a:xfrm>
          <a:prstGeom prst="rect">
            <a:avLst/>
          </a:prstGeom>
          <a:noFill/>
        </p:spPr>
        <p:txBody>
          <a:bodyPr wrap="square" lIns="0" tIns="0" rIns="0" bIns="0" anchor="t">
            <a:spAutoFit/>
          </a:bodyPr>
          <a:lstStyle/>
          <a:p>
            <a:pPr algn="l"/>
            <a:r>
              <a:rPr sz="1150" b="0">
                <a:solidFill>
                  <a:srgbClr val="FF0000"/>
                </a:solidFill>
                <a:latin typeface="210 OmniGothic 030"/>
                <a:ea typeface="210 OmniGothic 030"/>
                <a:cs typeface="210 OmniGothic 030"/>
              </a:rPr>
              <a:t>※ 테스트 케이스 ID는 테스트 사양서 작성 시 부여하며, 구현·시험이 진행되면 테스트 결과(미수행 → Pass/Fail)와 상태를 갱신합니다.</a:t>
            </a: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21"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700" y="-12700"/>
            <a:ext cx="18313400" cy="1638300"/>
          </a:xfrm>
          <a:prstGeom prst="rect">
            <a:avLst/>
          </a:prstGeom>
        </p:spPr>
      </p:pic>
      <p:pic>
        <p:nvPicPr>
          <p:cNvPr id="5522"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28" y="1618343"/>
            <a:ext cx="18313400" cy="8699500"/>
          </a:xfrm>
          <a:prstGeom prst="rect">
            <a:avLst/>
          </a:prstGeom>
        </p:spPr>
      </p:pic>
      <p:pic>
        <p:nvPicPr>
          <p:cNvPr id="5523"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58800" y="9271000"/>
            <a:ext cx="17170400" cy="50800"/>
          </a:xfrm>
          <a:prstGeom prst="rect">
            <a:avLst/>
          </a:prstGeom>
        </p:spPr>
      </p:pic>
      <p:pic>
        <p:nvPicPr>
          <p:cNvPr id="5524" name="Picture 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278100" y="203200"/>
            <a:ext cx="1676400" cy="1409700"/>
          </a:xfrm>
          <a:prstGeom prst="rect">
            <a:avLst/>
          </a:prstGeom>
        </p:spPr>
      </p:pic>
      <p:sp>
        <p:nvSpPr>
          <p:cNvPr id="5525" name="Title"/>
          <p:cNvSpPr txBox="1"/>
          <p:nvPr/>
        </p:nvSpPr>
        <p:spPr>
          <a:xfrm>
            <a:off x="822960" y="384048"/>
            <a:ext cx="13258800" cy="877824"/>
          </a:xfrm>
          <a:prstGeom prst="rect">
            <a:avLst/>
          </a:prstGeom>
          <a:noFill/>
        </p:spPr>
        <p:txBody>
          <a:bodyPr wrap="square" lIns="0" tIns="0" rIns="0" bIns="0" anchor="ctr">
            <a:spAutoFit/>
          </a:bodyPr>
          <a:lstStyle/>
          <a:p>
            <a:pPr algn="l"/>
            <a:r>
              <a:rPr sz="4400" b="0">
                <a:solidFill>
                  <a:srgbClr val="FF7B7B"/>
                </a:solidFill>
                <a:latin typeface="210 OmniGothic 050"/>
                <a:ea typeface="210 OmniGothic 050"/>
                <a:cs typeface="210 OmniGothic 050"/>
              </a:rPr>
              <a:t>08. 요구사항 추적표</a:t>
            </a:r>
          </a:p>
        </p:txBody>
      </p:sp>
      <p:sp>
        <p:nvSpPr>
          <p:cNvPr id="5526" name="Subtitle"/>
          <p:cNvSpPr txBox="1"/>
          <p:nvPr/>
        </p:nvSpPr>
        <p:spPr>
          <a:xfrm>
            <a:off x="822960" y="1764792"/>
            <a:ext cx="16642080" cy="502920"/>
          </a:xfrm>
          <a:prstGeom prst="rect">
            <a:avLst/>
          </a:prstGeom>
          <a:noFill/>
        </p:spPr>
        <p:txBody>
          <a:bodyPr wrap="square" lIns="0" tIns="0" rIns="0" bIns="0" anchor="ctr">
            <a:spAutoFit/>
          </a:bodyPr>
          <a:lstStyle/>
          <a:p>
            <a:pPr algn="ctr"/>
            <a:r>
              <a:rPr sz="2600" b="1">
                <a:solidFill>
                  <a:srgbClr val="FF0000"/>
                </a:solidFill>
                <a:latin typeface="210 OmniGothic 040"/>
                <a:ea typeface="210 OmniGothic 040"/>
                <a:cs typeface="210 OmniGothic 040"/>
              </a:rPr>
              <a:t>기능 요구사항 추적표 (2/4) — F-09 ~ F-16</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sz="quarter" idx="12"/>
          </p:nvPr>
        </p:nvSpPr>
        <p:spPr/>
        <p:txBody>
          <a:bodyPr/>
          <a:lstStyle/>
          <a:p>
            <a:fld id="{B6F15528-21DE-4FAA-801E-634DDDAF4B2B}" type="slidenum">
              <a:rPr lang="en-US" smtClean="0"/>
              <a:pPr/>
              <a:t>110</a:t>
            </a:fld>
            <a:endParaRPr lang="en-US"/>
          </a:p>
        </p:txBody>
      </p:sp>
      <p:graphicFrame>
        <p:nvGraphicFramePr>
          <p:cNvPr id="5527" name="Table 5526"/>
          <p:cNvGraphicFramePr>
            <a:graphicFrameLocks noGrp="1"/>
          </p:cNvGraphicFramePr>
          <p:nvPr/>
        </p:nvGraphicFramePr>
        <p:xfrm>
          <a:off x="822960" y="2496312"/>
          <a:ext cx="16459200" cy="4525760"/>
        </p:xfrm>
        <a:graphic>
          <a:graphicData uri="http://schemas.openxmlformats.org/drawingml/2006/table">
            <a:tbl>
              <a:tblPr>
                <a:tableStyleId>{2D5ABB26-0587-4C30-8999-92F81FD0307C}</a:tableStyleId>
              </a:tblPr>
              <a:tblGrid>
                <a:gridCol w="82296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3291840">
                  <a:extLst>
                    <a:ext uri="{9D8B030D-6E8A-4147-A177-3AD203B41FA5}">
                      <a16:colId xmlns:a16="http://schemas.microsoft.com/office/drawing/2014/main" val="20002"/>
                    </a:ext>
                  </a:extLst>
                </a:gridCol>
                <a:gridCol w="3657600">
                  <a:extLst>
                    <a:ext uri="{9D8B030D-6E8A-4147-A177-3AD203B41FA5}">
                      <a16:colId xmlns:a16="http://schemas.microsoft.com/office/drawing/2014/main" val="20003"/>
                    </a:ext>
                  </a:extLst>
                </a:gridCol>
                <a:gridCol w="2468880">
                  <a:extLst>
                    <a:ext uri="{9D8B030D-6E8A-4147-A177-3AD203B41FA5}">
                      <a16:colId xmlns:a16="http://schemas.microsoft.com/office/drawing/2014/main" val="20004"/>
                    </a:ext>
                  </a:extLst>
                </a:gridCol>
                <a:gridCol w="1371600">
                  <a:extLst>
                    <a:ext uri="{9D8B030D-6E8A-4147-A177-3AD203B41FA5}">
                      <a16:colId xmlns:a16="http://schemas.microsoft.com/office/drawing/2014/main" val="20005"/>
                    </a:ext>
                  </a:extLst>
                </a:gridCol>
                <a:gridCol w="1005840">
                  <a:extLst>
                    <a:ext uri="{9D8B030D-6E8A-4147-A177-3AD203B41FA5}">
                      <a16:colId xmlns:a16="http://schemas.microsoft.com/office/drawing/2014/main" val="20006"/>
                    </a:ext>
                  </a:extLst>
                </a:gridCol>
                <a:gridCol w="1097280">
                  <a:extLst>
                    <a:ext uri="{9D8B030D-6E8A-4147-A177-3AD203B41FA5}">
                      <a16:colId xmlns:a16="http://schemas.microsoft.com/office/drawing/2014/main" val="20007"/>
                    </a:ext>
                  </a:extLst>
                </a:gridCol>
              </a:tblGrid>
              <a:tr h="365760">
                <a:tc>
                  <a:txBody>
                    <a:bodyPr/>
                    <a:lstStyle/>
                    <a:p>
                      <a:pPr algn="ctr"/>
                      <a:r>
                        <a:rPr lang="ko-KR" sz="1200" b="1">
                          <a:solidFill>
                            <a:srgbClr val="FF7B7B"/>
                          </a:solidFill>
                          <a:latin typeface="210 OmniGothic 040"/>
                          <a:ea typeface="210 OmniGothic 040"/>
                          <a:cs typeface="210 OmniGothic 040"/>
                        </a:rPr>
                        <a:t>요구사항 ID</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tc>
                  <a:txBody>
                    <a:bodyPr/>
                    <a:lstStyle/>
                    <a:p>
                      <a:pPr algn="ctr"/>
                      <a:r>
                        <a:rPr lang="ko-KR" sz="1200" b="1">
                          <a:solidFill>
                            <a:srgbClr val="FF7B7B"/>
                          </a:solidFill>
                          <a:latin typeface="210 OmniGothic 040"/>
                          <a:ea typeface="210 OmniGothic 040"/>
                          <a:cs typeface="210 OmniGothic 040"/>
                        </a:rPr>
                        <a:t>요구사항</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tc>
                  <a:txBody>
                    <a:bodyPr/>
                    <a:lstStyle/>
                    <a:p>
                      <a:pPr algn="ctr"/>
                      <a:r>
                        <a:rPr lang="ko-KR" sz="1200" b="1">
                          <a:solidFill>
                            <a:srgbClr val="FF7B7B"/>
                          </a:solidFill>
                          <a:latin typeface="210 OmniGothic 040"/>
                          <a:ea typeface="210 OmniGothic 040"/>
                          <a:cs typeface="210 OmniGothic 040"/>
                        </a:rPr>
                        <a:t>유스케이스 (시퀀스 쪽)</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tc>
                  <a:txBody>
                    <a:bodyPr/>
                    <a:lstStyle/>
                    <a:p>
                      <a:pPr algn="ctr"/>
                      <a:r>
                        <a:rPr lang="ko-KR" sz="1200" b="1">
                          <a:solidFill>
                            <a:srgbClr val="FF7B7B"/>
                          </a:solidFill>
                          <a:latin typeface="210 OmniGothic 040"/>
                          <a:ea typeface="210 OmniGothic 040"/>
                          <a:cs typeface="210 OmniGothic 040"/>
                        </a:rPr>
                        <a:t>구현 모듈 (논리 컴포넌트)</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tc>
                  <a:txBody>
                    <a:bodyPr/>
                    <a:lstStyle/>
                    <a:p>
                      <a:pPr algn="ctr"/>
                      <a:r>
                        <a:rPr lang="ko-KR" sz="1200" b="1">
                          <a:solidFill>
                            <a:srgbClr val="FF7B7B"/>
                          </a:solidFill>
                          <a:latin typeface="210 OmniGothic 040"/>
                          <a:ea typeface="210 OmniGothic 040"/>
                          <a:cs typeface="210 OmniGothic 040"/>
                        </a:rPr>
                        <a:t>데이터 (테이블)</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tc>
                  <a:txBody>
                    <a:bodyPr/>
                    <a:lstStyle/>
                    <a:p>
                      <a:pPr algn="ctr"/>
                      <a:r>
                        <a:rPr lang="ko-KR" sz="1200" b="1">
                          <a:solidFill>
                            <a:srgbClr val="FF7B7B"/>
                          </a:solidFill>
                          <a:latin typeface="210 OmniGothic 040"/>
                          <a:ea typeface="210 OmniGothic 040"/>
                          <a:cs typeface="210 OmniGothic 040"/>
                        </a:rPr>
                        <a:t>검증</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tc>
                  <a:txBody>
                    <a:bodyPr/>
                    <a:lstStyle/>
                    <a:p>
                      <a:pPr algn="ctr"/>
                      <a:r>
                        <a:rPr lang="ko-KR" sz="1200" b="1">
                          <a:solidFill>
                            <a:srgbClr val="FF7B7B"/>
                          </a:solidFill>
                          <a:latin typeface="210 OmniGothic 040"/>
                          <a:ea typeface="210 OmniGothic 040"/>
                          <a:cs typeface="210 OmniGothic 040"/>
                        </a:rPr>
                        <a:t>테스트 결과</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tc>
                  <a:txBody>
                    <a:bodyPr/>
                    <a:lstStyle/>
                    <a:p>
                      <a:pPr algn="ctr"/>
                      <a:r>
                        <a:rPr lang="ko-KR" sz="1200" b="1">
                          <a:solidFill>
                            <a:srgbClr val="FF7B7B"/>
                          </a:solidFill>
                          <a:latin typeface="210 OmniGothic 040"/>
                          <a:ea typeface="210 OmniGothic 040"/>
                          <a:cs typeface="210 OmniGothic 040"/>
                        </a:rPr>
                        <a:t>상태</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extLst>
                  <a:ext uri="{0D108BD9-81ED-4DB2-BD59-A6C34878D82A}">
                    <a16:rowId xmlns:a16="http://schemas.microsoft.com/office/drawing/2014/main" val="10000"/>
                  </a:ext>
                </a:extLst>
              </a:tr>
              <a:tr h="520000">
                <a:tc>
                  <a:txBody>
                    <a:bodyPr/>
                    <a:lstStyle/>
                    <a:p>
                      <a:pPr algn="ctr"/>
                      <a:r>
                        <a:rPr lang="ko-KR" sz="1100" b="1">
                          <a:solidFill>
                            <a:srgbClr val="FF0000"/>
                          </a:solidFill>
                          <a:latin typeface="210 OmniGothic 040"/>
                          <a:ea typeface="210 OmniGothic 040"/>
                          <a:cs typeface="210 OmniGothic 040"/>
                        </a:rPr>
                        <a:t>F-09</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lang="ko-KR" sz="1100" b="1">
                          <a:solidFill>
                            <a:srgbClr val="FF0000"/>
                          </a:solidFill>
                          <a:latin typeface="210 OmniGothic 040"/>
                          <a:ea typeface="210 OmniGothic 040"/>
                          <a:cs typeface="210 OmniGothic 040"/>
                        </a:rPr>
                        <a:t>확산 예측 실행·갱신</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lang="ko-KR" sz="1100" b="0">
                          <a:solidFill>
                            <a:srgbClr val="FF0000"/>
                          </a:solidFill>
                          <a:latin typeface="210 OmniGothic 040"/>
                          <a:ea typeface="210 OmniGothic 040"/>
                          <a:cs typeface="210 OmniGothic 040"/>
                        </a:rPr>
                        <a:t>UC-PRED-01 (41·42)</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lang="ko-KR" sz="1100" b="0">
                          <a:solidFill>
                            <a:srgbClr val="FF0000"/>
                          </a:solidFill>
                          <a:latin typeface="210 OmniGothic 040"/>
                          <a:ea typeface="210 OmniGothic 040"/>
                          <a:cs typeface="210 OmniGothic 040"/>
                        </a:rPr>
                        <a:t>PredictionRouter(run), PredictionService, ElmfireAdapter, WeatherClient, RiskService(compute)</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lang="ko-KR" sz="1100" b="0">
                          <a:solidFill>
                            <a:srgbClr val="FF0000"/>
                          </a:solidFill>
                          <a:latin typeface="210 OmniGothic 040"/>
                          <a:ea typeface="210 OmniGothic 040"/>
                          <a:cs typeface="210 OmniGothic 040"/>
                        </a:rPr>
                        <a:t>prediction_runs, spread_slices, weather_snapshots, risk_assessments</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lang="ko-KR" sz="1100" b="0">
                          <a:solidFill>
                            <a:srgbClr val="FF0000"/>
                          </a:solidFill>
                          <a:latin typeface="210 OmniGothic 040"/>
                          <a:ea typeface="210 OmniGothic 040"/>
                          <a:cs typeface="210 OmniGothic 040"/>
                        </a:rPr>
                        <a:t>TER-001</a:t>
                      </a:r>
                    </a:p>
                    <a:p>
                      <a:pPr algn="ctr"/>
                      <a:r>
                        <a:rPr lang="ko-KR" sz="1100" b="0">
                          <a:solidFill>
                            <a:srgbClr val="FF0000"/>
                          </a:solidFill>
                          <a:latin typeface="210 OmniGothic 040"/>
                          <a:ea typeface="210 OmniGothic 040"/>
                          <a:cs typeface="210 OmniGothic 040"/>
                        </a:rPr>
                        <a:t>TER-002</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lang="ko-KR" sz="1100" b="0">
                          <a:solidFill>
                            <a:srgbClr val="FF0000"/>
                          </a:solidFill>
                          <a:latin typeface="210 OmniGothic 040"/>
                          <a:ea typeface="210 OmniGothic 040"/>
                          <a:cs typeface="210 OmniGothic 040"/>
                        </a:rPr>
                        <a:t>미수행</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lang="ko-KR" sz="1100" b="0">
                          <a:solidFill>
                            <a:srgbClr val="FF0000"/>
                          </a:solidFill>
                          <a:latin typeface="210 OmniGothic 040"/>
                          <a:ea typeface="210 OmniGothic 040"/>
                          <a:cs typeface="210 OmniGothic 040"/>
                        </a:rPr>
                        <a:t>설계 완료</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1"/>
                  </a:ext>
                </a:extLst>
              </a:tr>
              <a:tr h="520000">
                <a:tc>
                  <a:txBody>
                    <a:bodyPr/>
                    <a:lstStyle/>
                    <a:p>
                      <a:pPr algn="ctr"/>
                      <a:r>
                        <a:rPr lang="ko-KR" sz="1100" b="1">
                          <a:solidFill>
                            <a:srgbClr val="FF0000"/>
                          </a:solidFill>
                          <a:latin typeface="210 OmniGothic 040"/>
                          <a:ea typeface="210 OmniGothic 040"/>
                          <a:cs typeface="210 OmniGothic 040"/>
                        </a:rPr>
                        <a:t>F-10</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r>
                        <a:rPr lang="ko-KR" sz="1100" b="1">
                          <a:solidFill>
                            <a:srgbClr val="FF0000"/>
                          </a:solidFill>
                          <a:latin typeface="210 OmniGothic 040"/>
                          <a:ea typeface="210 OmniGothic 040"/>
                          <a:cs typeface="210 OmniGothic 040"/>
                        </a:rPr>
                        <a:t>산불 위험도 조회</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r>
                        <a:rPr lang="ko-KR" sz="1100" b="0">
                          <a:solidFill>
                            <a:srgbClr val="FF0000"/>
                          </a:solidFill>
                          <a:latin typeface="210 OmniGothic 040"/>
                          <a:ea typeface="210 OmniGothic 040"/>
                          <a:cs typeface="210 OmniGothic 040"/>
                        </a:rPr>
                        <a:t>UC-PRED-02 (43)</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r>
                        <a:rPr lang="ko-KR" sz="1100" b="0">
                          <a:solidFill>
                            <a:srgbClr val="FF0000"/>
                          </a:solidFill>
                          <a:latin typeface="210 OmniGothic 040"/>
                          <a:ea typeface="210 OmniGothic 040"/>
                          <a:cs typeface="210 OmniGothic 040"/>
                        </a:rPr>
                        <a:t>PredictionRouter(get_risk), RiskService(get_latest)</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r>
                        <a:rPr lang="ko-KR" sz="1100" b="0">
                          <a:solidFill>
                            <a:srgbClr val="FF0000"/>
                          </a:solidFill>
                          <a:latin typeface="210 OmniGothic 040"/>
                          <a:ea typeface="210 OmniGothic 040"/>
                          <a:cs typeface="210 OmniGothic 040"/>
                        </a:rPr>
                        <a:t>risk_assessments, spread_slices</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ctr"/>
                      <a:r>
                        <a:rPr lang="ko-KR" sz="1100" b="0">
                          <a:solidFill>
                            <a:srgbClr val="FF0000"/>
                          </a:solidFill>
                          <a:latin typeface="210 OmniGothic 040"/>
                          <a:ea typeface="210 OmniGothic 040"/>
                          <a:cs typeface="210 OmniGothic 040"/>
                        </a:rPr>
                        <a:t>TER-001</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ctr"/>
                      <a:r>
                        <a:rPr lang="ko-KR" sz="1100" b="0">
                          <a:solidFill>
                            <a:srgbClr val="FF0000"/>
                          </a:solidFill>
                          <a:latin typeface="210 OmniGothic 040"/>
                          <a:ea typeface="210 OmniGothic 040"/>
                          <a:cs typeface="210 OmniGothic 040"/>
                        </a:rPr>
                        <a:t>미수행</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ctr"/>
                      <a:r>
                        <a:rPr lang="ko-KR" sz="1100" b="0">
                          <a:solidFill>
                            <a:srgbClr val="FF0000"/>
                          </a:solidFill>
                          <a:latin typeface="210 OmniGothic 040"/>
                          <a:ea typeface="210 OmniGothic 040"/>
                          <a:cs typeface="210 OmniGothic 040"/>
                        </a:rPr>
                        <a:t>설계 완료</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2"/>
                  </a:ext>
                </a:extLst>
              </a:tr>
              <a:tr h="520000">
                <a:tc>
                  <a:txBody>
                    <a:bodyPr/>
                    <a:lstStyle/>
                    <a:p>
                      <a:pPr algn="ctr"/>
                      <a:r>
                        <a:rPr lang="ko-KR" sz="1100" b="1">
                          <a:solidFill>
                            <a:srgbClr val="FF0000"/>
                          </a:solidFill>
                          <a:latin typeface="210 OmniGothic 040"/>
                          <a:ea typeface="210 OmniGothic 040"/>
                          <a:cs typeface="210 OmniGothic 040"/>
                        </a:rPr>
                        <a:t>F-11</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lang="ko-KR" sz="1100" b="1">
                          <a:solidFill>
                            <a:srgbClr val="FF0000"/>
                          </a:solidFill>
                          <a:latin typeface="210 OmniGothic 040"/>
                          <a:ea typeface="210 OmniGothic 040"/>
                          <a:cs typeface="210 OmniGothic 040"/>
                        </a:rPr>
                        <a:t>대응 제안 생성·갱신·상세 조회</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lang="ko-KR" sz="1100" b="0">
                          <a:solidFill>
                            <a:srgbClr val="FF0000"/>
                          </a:solidFill>
                          <a:latin typeface="210 OmniGothic 040"/>
                          <a:ea typeface="210 OmniGothic 040"/>
                          <a:cs typeface="210 OmniGothic 040"/>
                        </a:rPr>
                        <a:t>UC-PRED-01 (41·42)</a:t>
                      </a:r>
                    </a:p>
                    <a:p>
                      <a:pPr algn="l"/>
                      <a:r>
                        <a:rPr lang="ko-KR" sz="1100" b="0">
                          <a:solidFill>
                            <a:srgbClr val="FF0000"/>
                          </a:solidFill>
                          <a:latin typeface="210 OmniGothic 040"/>
                          <a:ea typeface="210 OmniGothic 040"/>
                          <a:cs typeface="210 OmniGothic 040"/>
                        </a:rPr>
                        <a:t>UC-PROP-01 (44)</a:t>
                      </a:r>
                    </a:p>
                    <a:p>
                      <a:pPr algn="l"/>
                      <a:r>
                        <a:rPr lang="ko-KR" sz="1100" b="0">
                          <a:solidFill>
                            <a:srgbClr val="FF0000"/>
                          </a:solidFill>
                          <a:latin typeface="210 OmniGothic 040"/>
                          <a:ea typeface="210 OmniGothic 040"/>
                          <a:cs typeface="210 OmniGothic 040"/>
                        </a:rPr>
                        <a:t>UC-PROP-02 (45)</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lang="ko-KR" sz="1100" b="0">
                          <a:solidFill>
                            <a:srgbClr val="FF0000"/>
                          </a:solidFill>
                          <a:latin typeface="210 OmniGothic 040"/>
                          <a:ea typeface="210 OmniGothic 040"/>
                          <a:cs typeface="210 OmniGothic 040"/>
                        </a:rPr>
                        <a:t>ProposalOrchestrator(generate), RuleEngine, Retriever, LLMClient, ProposalRouter</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lang="ko-KR" sz="1100" b="0">
                          <a:solidFill>
                            <a:srgbClr val="FF0000"/>
                          </a:solidFill>
                          <a:latin typeface="210 OmniGothic 040"/>
                          <a:ea typeface="210 OmniGothic 040"/>
                          <a:cs typeface="210 OmniGothic 040"/>
                        </a:rPr>
                        <a:t>proposals, proposal_items, citations</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lang="ko-KR" sz="1100" b="0">
                          <a:solidFill>
                            <a:srgbClr val="FF0000"/>
                          </a:solidFill>
                          <a:latin typeface="210 OmniGothic 040"/>
                          <a:ea typeface="210 OmniGothic 040"/>
                          <a:cs typeface="210 OmniGothic 040"/>
                        </a:rPr>
                        <a:t>TER-001</a:t>
                      </a:r>
                    </a:p>
                    <a:p>
                      <a:pPr algn="ctr"/>
                      <a:r>
                        <a:rPr lang="ko-KR" sz="1100" b="0">
                          <a:solidFill>
                            <a:srgbClr val="FF0000"/>
                          </a:solidFill>
                          <a:latin typeface="210 OmniGothic 040"/>
                          <a:ea typeface="210 OmniGothic 040"/>
                          <a:cs typeface="210 OmniGothic 040"/>
                        </a:rPr>
                        <a:t>TER-002</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lang="ko-KR" sz="1100" b="0">
                          <a:solidFill>
                            <a:srgbClr val="FF0000"/>
                          </a:solidFill>
                          <a:latin typeface="210 OmniGothic 040"/>
                          <a:ea typeface="210 OmniGothic 040"/>
                          <a:cs typeface="210 OmniGothic 040"/>
                        </a:rPr>
                        <a:t>미수행</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lang="ko-KR" sz="1100" b="0">
                          <a:solidFill>
                            <a:srgbClr val="FF0000"/>
                          </a:solidFill>
                          <a:latin typeface="210 OmniGothic 040"/>
                          <a:ea typeface="210 OmniGothic 040"/>
                          <a:cs typeface="210 OmniGothic 040"/>
                        </a:rPr>
                        <a:t>설계 완료</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3"/>
                  </a:ext>
                </a:extLst>
              </a:tr>
              <a:tr h="520000">
                <a:tc>
                  <a:txBody>
                    <a:bodyPr/>
                    <a:lstStyle/>
                    <a:p>
                      <a:pPr algn="ctr"/>
                      <a:r>
                        <a:rPr lang="ko-KR" sz="1100" b="1">
                          <a:solidFill>
                            <a:srgbClr val="FF0000"/>
                          </a:solidFill>
                          <a:latin typeface="210 OmniGothic 040"/>
                          <a:ea typeface="210 OmniGothic 040"/>
                          <a:cs typeface="210 OmniGothic 040"/>
                        </a:rPr>
                        <a:t>F-12</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r>
                        <a:rPr lang="ko-KR" sz="1100" b="1">
                          <a:solidFill>
                            <a:srgbClr val="FF0000"/>
                          </a:solidFill>
                          <a:latin typeface="210 OmniGothic 040"/>
                          <a:ea typeface="210 OmniGothic 040"/>
                          <a:cs typeface="210 OmniGothic 040"/>
                        </a:rPr>
                        <a:t>제안 분류</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r>
                        <a:rPr lang="ko-KR" sz="1100" b="0">
                          <a:solidFill>
                            <a:srgbClr val="FF0000"/>
                          </a:solidFill>
                          <a:latin typeface="210 OmniGothic 040"/>
                          <a:ea typeface="210 OmniGothic 040"/>
                          <a:cs typeface="210 OmniGothic 040"/>
                        </a:rPr>
                        <a:t>UC-PROP-01 (44)</a:t>
                      </a:r>
                    </a:p>
                    <a:p>
                      <a:pPr algn="l"/>
                      <a:r>
                        <a:rPr lang="ko-KR" sz="1100" b="0">
                          <a:solidFill>
                            <a:srgbClr val="FF0000"/>
                          </a:solidFill>
                          <a:latin typeface="210 OmniGothic 040"/>
                          <a:ea typeface="210 OmniGothic 040"/>
                          <a:cs typeface="210 OmniGothic 040"/>
                        </a:rPr>
                        <a:t>UC-PROP-02 (45)</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r>
                        <a:rPr lang="ko-KR" sz="1100" b="0">
                          <a:solidFill>
                            <a:srgbClr val="FF0000"/>
                          </a:solidFill>
                          <a:latin typeface="210 OmniGothic 040"/>
                          <a:ea typeface="210 OmniGothic 040"/>
                          <a:cs typeface="210 OmniGothic 040"/>
                        </a:rPr>
                        <a:t>ProposalRouter(get_latest)</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r>
                        <a:rPr lang="ko-KR" sz="1100" b="0">
                          <a:solidFill>
                            <a:srgbClr val="FF0000"/>
                          </a:solidFill>
                          <a:latin typeface="210 OmniGothic 040"/>
                          <a:ea typeface="210 OmniGothic 040"/>
                          <a:cs typeface="210 OmniGothic 040"/>
                        </a:rPr>
                        <a:t>proposal_items</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ctr"/>
                      <a:r>
                        <a:rPr lang="ko-KR" sz="1100" b="0">
                          <a:solidFill>
                            <a:srgbClr val="FF0000"/>
                          </a:solidFill>
                          <a:latin typeface="210 OmniGothic 040"/>
                          <a:ea typeface="210 OmniGothic 040"/>
                          <a:cs typeface="210 OmniGothic 040"/>
                        </a:rPr>
                        <a:t>TER-001</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ctr"/>
                      <a:r>
                        <a:rPr lang="ko-KR" sz="1100" b="0">
                          <a:solidFill>
                            <a:srgbClr val="FF0000"/>
                          </a:solidFill>
                          <a:latin typeface="210 OmniGothic 040"/>
                          <a:ea typeface="210 OmniGothic 040"/>
                          <a:cs typeface="210 OmniGothic 040"/>
                        </a:rPr>
                        <a:t>미수행</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ctr"/>
                      <a:r>
                        <a:rPr lang="ko-KR" sz="1100" b="0">
                          <a:solidFill>
                            <a:srgbClr val="FF0000"/>
                          </a:solidFill>
                          <a:latin typeface="210 OmniGothic 040"/>
                          <a:ea typeface="210 OmniGothic 040"/>
                          <a:cs typeface="210 OmniGothic 040"/>
                        </a:rPr>
                        <a:t>설계 완료</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4"/>
                  </a:ext>
                </a:extLst>
              </a:tr>
              <a:tr h="520000">
                <a:tc>
                  <a:txBody>
                    <a:bodyPr/>
                    <a:lstStyle/>
                    <a:p>
                      <a:pPr algn="ctr"/>
                      <a:r>
                        <a:rPr lang="ko-KR" sz="1100" b="1">
                          <a:solidFill>
                            <a:srgbClr val="FF0000"/>
                          </a:solidFill>
                          <a:latin typeface="210 OmniGothic 040"/>
                          <a:ea typeface="210 OmniGothic 040"/>
                          <a:cs typeface="210 OmniGothic 040"/>
                        </a:rPr>
                        <a:t>F-13</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lang="ko-KR" sz="1100" b="1">
                          <a:solidFill>
                            <a:srgbClr val="FF0000"/>
                          </a:solidFill>
                          <a:latin typeface="210 OmniGothic 040"/>
                          <a:ea typeface="210 OmniGothic 040"/>
                          <a:cs typeface="210 OmniGothic 040"/>
                        </a:rPr>
                        <a:t>대응 근거 조회</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lang="ko-KR" sz="1100" b="0">
                          <a:solidFill>
                            <a:srgbClr val="FF0000"/>
                          </a:solidFill>
                          <a:latin typeface="210 OmniGothic 040"/>
                          <a:ea typeface="210 OmniGothic 040"/>
                          <a:cs typeface="210 OmniGothic 040"/>
                        </a:rPr>
                        <a:t>UC-PROP-03 (44·45)</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lang="ko-KR" sz="1100" b="0">
                          <a:solidFill>
                            <a:srgbClr val="FF0000"/>
                          </a:solidFill>
                          <a:latin typeface="210 OmniGothic 040"/>
                          <a:ea typeface="210 OmniGothic 040"/>
                          <a:cs typeface="210 OmniGothic 040"/>
                        </a:rPr>
                        <a:t>ProposalRouter(get_citation)</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lang="ko-KR" sz="1100" b="0">
                          <a:solidFill>
                            <a:srgbClr val="FF0000"/>
                          </a:solidFill>
                          <a:latin typeface="210 OmniGothic 040"/>
                          <a:ea typeface="210 OmniGothic 040"/>
                          <a:cs typeface="210 OmniGothic 040"/>
                        </a:rPr>
                        <a:t>citations, evidence_chunks</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lang="ko-KR" sz="1100" b="0">
                          <a:solidFill>
                            <a:srgbClr val="FF0000"/>
                          </a:solidFill>
                          <a:latin typeface="210 OmniGothic 040"/>
                          <a:ea typeface="210 OmniGothic 040"/>
                          <a:cs typeface="210 OmniGothic 040"/>
                        </a:rPr>
                        <a:t>TER-001</a:t>
                      </a:r>
                    </a:p>
                    <a:p>
                      <a:pPr algn="ctr"/>
                      <a:r>
                        <a:rPr lang="ko-KR" sz="1100" b="0">
                          <a:solidFill>
                            <a:srgbClr val="FF0000"/>
                          </a:solidFill>
                          <a:latin typeface="210 OmniGothic 040"/>
                          <a:ea typeface="210 OmniGothic 040"/>
                          <a:cs typeface="210 OmniGothic 040"/>
                        </a:rPr>
                        <a:t>TER-002</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lang="ko-KR" sz="1100" b="0">
                          <a:solidFill>
                            <a:srgbClr val="FF0000"/>
                          </a:solidFill>
                          <a:latin typeface="210 OmniGothic 040"/>
                          <a:ea typeface="210 OmniGothic 040"/>
                          <a:cs typeface="210 OmniGothic 040"/>
                        </a:rPr>
                        <a:t>미수행</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lang="ko-KR" sz="1100" b="0">
                          <a:solidFill>
                            <a:srgbClr val="FF0000"/>
                          </a:solidFill>
                          <a:latin typeface="210 OmniGothic 040"/>
                          <a:ea typeface="210 OmniGothic 040"/>
                          <a:cs typeface="210 OmniGothic 040"/>
                        </a:rPr>
                        <a:t>설계 완료</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5"/>
                  </a:ext>
                </a:extLst>
              </a:tr>
              <a:tr h="520000">
                <a:tc>
                  <a:txBody>
                    <a:bodyPr/>
                    <a:lstStyle/>
                    <a:p>
                      <a:pPr algn="ctr"/>
                      <a:r>
                        <a:rPr lang="ko-KR" sz="1100" b="1">
                          <a:solidFill>
                            <a:srgbClr val="FF0000"/>
                          </a:solidFill>
                          <a:latin typeface="210 OmniGothic 040"/>
                          <a:ea typeface="210 OmniGothic 040"/>
                          <a:cs typeface="210 OmniGothic 040"/>
                        </a:rPr>
                        <a:t>F-14</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r>
                        <a:rPr lang="ko-KR" sz="1100" b="1">
                          <a:solidFill>
                            <a:srgbClr val="FF0000"/>
                          </a:solidFill>
                          <a:latin typeface="210 OmniGothic 040"/>
                          <a:ea typeface="210 OmniGothic 040"/>
                          <a:cs typeface="210 OmniGothic 040"/>
                        </a:rPr>
                        <a:t>제안 이력·변경사항 조회</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r>
                        <a:rPr lang="ko-KR" sz="1100" b="0">
                          <a:solidFill>
                            <a:srgbClr val="FF0000"/>
                          </a:solidFill>
                          <a:latin typeface="210 OmniGothic 040"/>
                          <a:ea typeface="210 OmniGothic 040"/>
                          <a:cs typeface="210 OmniGothic 040"/>
                        </a:rPr>
                        <a:t>UC-PROP-04 (44·45)</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r>
                        <a:rPr lang="ko-KR" sz="1100" b="0">
                          <a:solidFill>
                            <a:srgbClr val="FF0000"/>
                          </a:solidFill>
                          <a:latin typeface="210 OmniGothic 040"/>
                          <a:ea typeface="210 OmniGothic 040"/>
                          <a:cs typeface="210 OmniGothic 040"/>
                        </a:rPr>
                        <a:t>ProposalRouter(list_versions, get_diff), ProposalOrchestrator(diff)</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r>
                        <a:rPr lang="ko-KR" sz="1100" b="0">
                          <a:solidFill>
                            <a:srgbClr val="FF0000"/>
                          </a:solidFill>
                          <a:latin typeface="210 OmniGothic 040"/>
                          <a:ea typeface="210 OmniGothic 040"/>
                          <a:cs typeface="210 OmniGothic 040"/>
                        </a:rPr>
                        <a:t>proposals, proposal_items</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ctr"/>
                      <a:r>
                        <a:rPr lang="ko-KR" sz="1100" b="0">
                          <a:solidFill>
                            <a:srgbClr val="FF0000"/>
                          </a:solidFill>
                          <a:latin typeface="210 OmniGothic 040"/>
                          <a:ea typeface="210 OmniGothic 040"/>
                          <a:cs typeface="210 OmniGothic 040"/>
                        </a:rPr>
                        <a:t>TER-001</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ctr"/>
                      <a:r>
                        <a:rPr lang="ko-KR" sz="1100" b="0">
                          <a:solidFill>
                            <a:srgbClr val="FF0000"/>
                          </a:solidFill>
                          <a:latin typeface="210 OmniGothic 040"/>
                          <a:ea typeface="210 OmniGothic 040"/>
                          <a:cs typeface="210 OmniGothic 040"/>
                        </a:rPr>
                        <a:t>미수행</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ctr"/>
                      <a:r>
                        <a:rPr lang="ko-KR" sz="1100" b="0">
                          <a:solidFill>
                            <a:srgbClr val="FF0000"/>
                          </a:solidFill>
                          <a:latin typeface="210 OmniGothic 040"/>
                          <a:ea typeface="210 OmniGothic 040"/>
                          <a:cs typeface="210 OmniGothic 040"/>
                        </a:rPr>
                        <a:t>설계 완료</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6"/>
                  </a:ext>
                </a:extLst>
              </a:tr>
              <a:tr h="520000">
                <a:tc>
                  <a:txBody>
                    <a:bodyPr/>
                    <a:lstStyle/>
                    <a:p>
                      <a:pPr algn="ctr"/>
                      <a:r>
                        <a:rPr lang="ko-KR" sz="1100" b="1">
                          <a:solidFill>
                            <a:srgbClr val="FF0000"/>
                          </a:solidFill>
                          <a:latin typeface="210 OmniGothic 040"/>
                          <a:ea typeface="210 OmniGothic 040"/>
                          <a:cs typeface="210 OmniGothic 040"/>
                        </a:rPr>
                        <a:t>F-15</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lang="ko-KR" sz="1100" b="1">
                          <a:solidFill>
                            <a:srgbClr val="FF0000"/>
                          </a:solidFill>
                          <a:latin typeface="210 OmniGothic 040"/>
                          <a:ea typeface="210 OmniGothic 040"/>
                          <a:cs typeface="210 OmniGothic 040"/>
                        </a:rPr>
                        <a:t>대응단계 판단·격상 검토 (S1)</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lang="ko-KR" sz="1100" b="0">
                          <a:solidFill>
                            <a:srgbClr val="FF0000"/>
                          </a:solidFill>
                          <a:latin typeface="210 OmniGothic 040"/>
                          <a:ea typeface="210 OmniGothic 040"/>
                          <a:cs typeface="210 OmniGothic 040"/>
                        </a:rPr>
                        <a:t>UC-PRED-01 (41·42)</a:t>
                      </a:r>
                    </a:p>
                    <a:p>
                      <a:pPr algn="l"/>
                      <a:r>
                        <a:rPr lang="ko-KR" sz="1100" b="0">
                          <a:solidFill>
                            <a:srgbClr val="FF0000"/>
                          </a:solidFill>
                          <a:latin typeface="210 OmniGothic 040"/>
                          <a:ea typeface="210 OmniGothic 040"/>
                          <a:cs typeface="210 OmniGothic 040"/>
                        </a:rPr>
                        <a:t>UC-PROP-01 (44)</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lang="ko-KR" sz="1100" b="0">
                          <a:solidFill>
                            <a:srgbClr val="FF0000"/>
                          </a:solidFill>
                          <a:latin typeface="210 OmniGothic 040"/>
                          <a:ea typeface="210 OmniGothic 040"/>
                          <a:cs typeface="210 OmniGothic 040"/>
                        </a:rPr>
                        <a:t>RuleEngine(judge_fire), ProposalOrchestrator, Retriever, LLMClient</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lang="ko-KR" sz="1100" b="0">
                          <a:solidFill>
                            <a:srgbClr val="FF0000"/>
                          </a:solidFill>
                          <a:latin typeface="210 OmniGothic 040"/>
                          <a:ea typeface="210 OmniGothic 040"/>
                          <a:cs typeface="210 OmniGothic 040"/>
                        </a:rPr>
                        <a:t>proposal_items, citations</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lang="ko-KR" sz="1100" b="0">
                          <a:solidFill>
                            <a:srgbClr val="FF0000"/>
                          </a:solidFill>
                          <a:latin typeface="210 OmniGothic 040"/>
                          <a:ea typeface="210 OmniGothic 040"/>
                          <a:cs typeface="210 OmniGothic 040"/>
                        </a:rPr>
                        <a:t>TER-001</a:t>
                      </a:r>
                    </a:p>
                    <a:p>
                      <a:pPr algn="ctr"/>
                      <a:r>
                        <a:rPr lang="ko-KR" sz="1100" b="0">
                          <a:solidFill>
                            <a:srgbClr val="FF0000"/>
                          </a:solidFill>
                          <a:latin typeface="210 OmniGothic 040"/>
                          <a:ea typeface="210 OmniGothic 040"/>
                          <a:cs typeface="210 OmniGothic 040"/>
                        </a:rPr>
                        <a:t>TER-002</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lang="ko-KR" sz="1100" b="0">
                          <a:solidFill>
                            <a:srgbClr val="FF0000"/>
                          </a:solidFill>
                          <a:latin typeface="210 OmniGothic 040"/>
                          <a:ea typeface="210 OmniGothic 040"/>
                          <a:cs typeface="210 OmniGothic 040"/>
                        </a:rPr>
                        <a:t>미수행</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lang="ko-KR" sz="1100" b="0">
                          <a:solidFill>
                            <a:srgbClr val="FF0000"/>
                          </a:solidFill>
                          <a:latin typeface="210 OmniGothic 040"/>
                          <a:ea typeface="210 OmniGothic 040"/>
                          <a:cs typeface="210 OmniGothic 040"/>
                        </a:rPr>
                        <a:t>설계 완료</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7"/>
                  </a:ext>
                </a:extLst>
              </a:tr>
              <a:tr h="520000">
                <a:tc>
                  <a:txBody>
                    <a:bodyPr/>
                    <a:lstStyle/>
                    <a:p>
                      <a:pPr algn="ctr"/>
                      <a:r>
                        <a:rPr lang="ko-KR" sz="1100" b="1">
                          <a:solidFill>
                            <a:srgbClr val="FF0000"/>
                          </a:solidFill>
                          <a:latin typeface="210 OmniGothic 040"/>
                          <a:ea typeface="210 OmniGothic 040"/>
                          <a:cs typeface="210 OmniGothic 040"/>
                        </a:rPr>
                        <a:t>F-16</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r>
                        <a:rPr lang="ko-KR" sz="1100" b="1">
                          <a:solidFill>
                            <a:srgbClr val="FF0000"/>
                          </a:solidFill>
                          <a:latin typeface="210 OmniGothic 040"/>
                          <a:ea typeface="210 OmniGothic 040"/>
                          <a:cs typeface="210 OmniGothic 040"/>
                        </a:rPr>
                        <a:t>진화 우선지역·보호대상 선정 (S2)</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r>
                        <a:rPr lang="ko-KR" sz="1100" b="0">
                          <a:solidFill>
                            <a:srgbClr val="FF0000"/>
                          </a:solidFill>
                          <a:latin typeface="210 OmniGothic 040"/>
                          <a:ea typeface="210 OmniGothic 040"/>
                          <a:cs typeface="210 OmniGothic 040"/>
                        </a:rPr>
                        <a:t>UC-PRED-01 (41·42)</a:t>
                      </a:r>
                    </a:p>
                    <a:p>
                      <a:pPr algn="l"/>
                      <a:r>
                        <a:rPr lang="ko-KR" sz="1100" b="0">
                          <a:solidFill>
                            <a:srgbClr val="FF0000"/>
                          </a:solidFill>
                          <a:latin typeface="210 OmniGothic 040"/>
                          <a:ea typeface="210 OmniGothic 040"/>
                          <a:cs typeface="210 OmniGothic 040"/>
                        </a:rPr>
                        <a:t>UC-PROP-01 (44)</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r>
                        <a:rPr lang="ko-KR" sz="1100" b="0">
                          <a:solidFill>
                            <a:srgbClr val="FF0000"/>
                          </a:solidFill>
                          <a:latin typeface="210 OmniGothic 040"/>
                          <a:ea typeface="210 OmniGothic 040"/>
                          <a:cs typeface="210 OmniGothic 040"/>
                        </a:rPr>
                        <a:t>RuleEngine(judge_fire), ProposalOrchestrator, Retriever, LLMClient</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r>
                        <a:rPr lang="ko-KR" sz="1100" b="0">
                          <a:solidFill>
                            <a:srgbClr val="FF0000"/>
                          </a:solidFill>
                          <a:latin typeface="210 OmniGothic 040"/>
                          <a:ea typeface="210 OmniGothic 040"/>
                          <a:cs typeface="210 OmniGothic 040"/>
                        </a:rPr>
                        <a:t>proposal_items, citations</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ctr"/>
                      <a:r>
                        <a:rPr lang="ko-KR" sz="1100" b="0">
                          <a:solidFill>
                            <a:srgbClr val="FF0000"/>
                          </a:solidFill>
                          <a:latin typeface="210 OmniGothic 040"/>
                          <a:ea typeface="210 OmniGothic 040"/>
                          <a:cs typeface="210 OmniGothic 040"/>
                        </a:rPr>
                        <a:t>TER-001</a:t>
                      </a:r>
                    </a:p>
                    <a:p>
                      <a:pPr algn="ctr"/>
                      <a:r>
                        <a:rPr lang="ko-KR" sz="1100" b="0">
                          <a:solidFill>
                            <a:srgbClr val="FF0000"/>
                          </a:solidFill>
                          <a:latin typeface="210 OmniGothic 040"/>
                          <a:ea typeface="210 OmniGothic 040"/>
                          <a:cs typeface="210 OmniGothic 040"/>
                        </a:rPr>
                        <a:t>TER-002</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ctr"/>
                      <a:r>
                        <a:rPr lang="ko-KR" sz="1100" b="0">
                          <a:solidFill>
                            <a:srgbClr val="FF0000"/>
                          </a:solidFill>
                          <a:latin typeface="210 OmniGothic 040"/>
                          <a:ea typeface="210 OmniGothic 040"/>
                          <a:cs typeface="210 OmniGothic 040"/>
                        </a:rPr>
                        <a:t>미수행</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ctr"/>
                      <a:r>
                        <a:rPr lang="ko-KR" sz="1100" b="0">
                          <a:solidFill>
                            <a:srgbClr val="FF0000"/>
                          </a:solidFill>
                          <a:latin typeface="210 OmniGothic 040"/>
                          <a:ea typeface="210 OmniGothic 040"/>
                          <a:cs typeface="210 OmniGothic 040"/>
                        </a:rPr>
                        <a:t>설계 완료</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8"/>
                  </a:ext>
                </a:extLst>
              </a:tr>
            </a:tbl>
          </a:graphicData>
        </a:graphic>
      </p:graphicFrame>
      <p:sp>
        <p:nvSpPr>
          <p:cNvPr id="9301" name="Note 9301"/>
          <p:cNvSpPr txBox="1"/>
          <p:nvPr/>
        </p:nvSpPr>
        <p:spPr>
          <a:xfrm>
            <a:off x="822960" y="8000000"/>
            <a:ext cx="16459200" cy="310896"/>
          </a:xfrm>
          <a:prstGeom prst="rect">
            <a:avLst/>
          </a:prstGeom>
          <a:noFill/>
        </p:spPr>
        <p:txBody>
          <a:bodyPr wrap="square" lIns="0" tIns="0" rIns="0" bIns="0" anchor="t">
            <a:spAutoFit/>
          </a:bodyPr>
          <a:lstStyle/>
          <a:p>
            <a:pPr algn="l"/>
            <a:r>
              <a:rPr sz="1150" b="0">
                <a:solidFill>
                  <a:srgbClr val="FF0000"/>
                </a:solidFill>
                <a:latin typeface="210 OmniGothic 030"/>
                <a:ea typeface="210 OmniGothic 030"/>
                <a:cs typeface="210 OmniGothic 030"/>
              </a:rPr>
              <a:t>※ 요구사항 ID·요구사항은 기능 목록(12~14쪽), 유스케이스·시퀀스 쪽은 16~49쪽, 구현 모듈은 클래스 다이어그램(61~64쪽), 데이터는 관계형 데이터베이스(70쪽), 검증은 TER-001(기능·통합 테스트)·TER-002(AI 모델 평가) 기준입니다.</a:t>
            </a:r>
          </a:p>
        </p:txBody>
      </p:sp>
      <p:sp>
        <p:nvSpPr>
          <p:cNvPr id="9302" name="Note 9302"/>
          <p:cNvSpPr txBox="1"/>
          <p:nvPr/>
        </p:nvSpPr>
        <p:spPr>
          <a:xfrm>
            <a:off x="822960" y="8329184"/>
            <a:ext cx="16459200" cy="310896"/>
          </a:xfrm>
          <a:prstGeom prst="rect">
            <a:avLst/>
          </a:prstGeom>
          <a:noFill/>
        </p:spPr>
        <p:txBody>
          <a:bodyPr wrap="square" lIns="0" tIns="0" rIns="0" bIns="0" anchor="t">
            <a:spAutoFit/>
          </a:bodyPr>
          <a:lstStyle/>
          <a:p>
            <a:pPr algn="l"/>
            <a:r>
              <a:rPr sz="1150" b="0">
                <a:solidFill>
                  <a:srgbClr val="FF0000"/>
                </a:solidFill>
                <a:latin typeface="210 OmniGothic 030"/>
                <a:ea typeface="210 OmniGothic 030"/>
                <a:cs typeface="210 OmniGothic 030"/>
              </a:rPr>
              <a:t>※ 테스트 케이스 ID는 테스트 사양서 작성 시 부여하며, 구현·시험이 진행되면 테스트 결과(미수행 → Pass/Fail)와 상태를 갱신합니다.</a:t>
            </a: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21"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700" y="-12700"/>
            <a:ext cx="18313400" cy="1638300"/>
          </a:xfrm>
          <a:prstGeom prst="rect">
            <a:avLst/>
          </a:prstGeom>
        </p:spPr>
      </p:pic>
      <p:pic>
        <p:nvPicPr>
          <p:cNvPr id="5522"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28" y="1618343"/>
            <a:ext cx="18313400" cy="8699500"/>
          </a:xfrm>
          <a:prstGeom prst="rect">
            <a:avLst/>
          </a:prstGeom>
        </p:spPr>
      </p:pic>
      <p:pic>
        <p:nvPicPr>
          <p:cNvPr id="5523"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58800" y="9271000"/>
            <a:ext cx="17170400" cy="50800"/>
          </a:xfrm>
          <a:prstGeom prst="rect">
            <a:avLst/>
          </a:prstGeom>
        </p:spPr>
      </p:pic>
      <p:pic>
        <p:nvPicPr>
          <p:cNvPr id="5524" name="Picture 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278100" y="203200"/>
            <a:ext cx="1676400" cy="1409700"/>
          </a:xfrm>
          <a:prstGeom prst="rect">
            <a:avLst/>
          </a:prstGeom>
        </p:spPr>
      </p:pic>
      <p:sp>
        <p:nvSpPr>
          <p:cNvPr id="5525" name="Title"/>
          <p:cNvSpPr txBox="1"/>
          <p:nvPr/>
        </p:nvSpPr>
        <p:spPr>
          <a:xfrm>
            <a:off x="822960" y="384048"/>
            <a:ext cx="13258800" cy="877824"/>
          </a:xfrm>
          <a:prstGeom prst="rect">
            <a:avLst/>
          </a:prstGeom>
          <a:noFill/>
        </p:spPr>
        <p:txBody>
          <a:bodyPr wrap="square" lIns="0" tIns="0" rIns="0" bIns="0" anchor="ctr">
            <a:spAutoFit/>
          </a:bodyPr>
          <a:lstStyle/>
          <a:p>
            <a:pPr algn="l"/>
            <a:r>
              <a:rPr sz="4400" b="0">
                <a:solidFill>
                  <a:srgbClr val="FF7B7B"/>
                </a:solidFill>
                <a:latin typeface="210 OmniGothic 050"/>
                <a:ea typeface="210 OmniGothic 050"/>
                <a:cs typeface="210 OmniGothic 050"/>
              </a:rPr>
              <a:t>08. 요구사항 추적표</a:t>
            </a:r>
          </a:p>
        </p:txBody>
      </p:sp>
      <p:sp>
        <p:nvSpPr>
          <p:cNvPr id="5526" name="Subtitle"/>
          <p:cNvSpPr txBox="1"/>
          <p:nvPr/>
        </p:nvSpPr>
        <p:spPr>
          <a:xfrm>
            <a:off x="822960" y="1764792"/>
            <a:ext cx="16642080" cy="502920"/>
          </a:xfrm>
          <a:prstGeom prst="rect">
            <a:avLst/>
          </a:prstGeom>
          <a:noFill/>
        </p:spPr>
        <p:txBody>
          <a:bodyPr wrap="square" lIns="0" tIns="0" rIns="0" bIns="0" anchor="ctr">
            <a:spAutoFit/>
          </a:bodyPr>
          <a:lstStyle/>
          <a:p>
            <a:pPr algn="ctr"/>
            <a:r>
              <a:rPr sz="2600" b="1">
                <a:solidFill>
                  <a:srgbClr val="FF0000"/>
                </a:solidFill>
                <a:latin typeface="210 OmniGothic 040"/>
                <a:ea typeface="210 OmniGothic 040"/>
                <a:cs typeface="210 OmniGothic 040"/>
              </a:rPr>
              <a:t>기능 요구사항 추적표 (3/4) — F-17 ~ F-24</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sz="quarter" idx="12"/>
          </p:nvPr>
        </p:nvSpPr>
        <p:spPr/>
        <p:txBody>
          <a:bodyPr/>
          <a:lstStyle/>
          <a:p>
            <a:fld id="{B6F15528-21DE-4FAA-801E-634DDDAF4B2B}" type="slidenum">
              <a:rPr lang="en-US" smtClean="0"/>
              <a:pPr/>
              <a:t>111</a:t>
            </a:fld>
            <a:endParaRPr lang="en-US"/>
          </a:p>
        </p:txBody>
      </p:sp>
      <p:graphicFrame>
        <p:nvGraphicFramePr>
          <p:cNvPr id="5527" name="Table 5526"/>
          <p:cNvGraphicFramePr>
            <a:graphicFrameLocks noGrp="1"/>
          </p:cNvGraphicFramePr>
          <p:nvPr/>
        </p:nvGraphicFramePr>
        <p:xfrm>
          <a:off x="822960" y="2496312"/>
          <a:ext cx="16459200" cy="4525760"/>
        </p:xfrm>
        <a:graphic>
          <a:graphicData uri="http://schemas.openxmlformats.org/drawingml/2006/table">
            <a:tbl>
              <a:tblPr>
                <a:tableStyleId>{2D5ABB26-0587-4C30-8999-92F81FD0307C}</a:tableStyleId>
              </a:tblPr>
              <a:tblGrid>
                <a:gridCol w="82296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3291840">
                  <a:extLst>
                    <a:ext uri="{9D8B030D-6E8A-4147-A177-3AD203B41FA5}">
                      <a16:colId xmlns:a16="http://schemas.microsoft.com/office/drawing/2014/main" val="20002"/>
                    </a:ext>
                  </a:extLst>
                </a:gridCol>
                <a:gridCol w="3657600">
                  <a:extLst>
                    <a:ext uri="{9D8B030D-6E8A-4147-A177-3AD203B41FA5}">
                      <a16:colId xmlns:a16="http://schemas.microsoft.com/office/drawing/2014/main" val="20003"/>
                    </a:ext>
                  </a:extLst>
                </a:gridCol>
                <a:gridCol w="2468880">
                  <a:extLst>
                    <a:ext uri="{9D8B030D-6E8A-4147-A177-3AD203B41FA5}">
                      <a16:colId xmlns:a16="http://schemas.microsoft.com/office/drawing/2014/main" val="20004"/>
                    </a:ext>
                  </a:extLst>
                </a:gridCol>
                <a:gridCol w="1371600">
                  <a:extLst>
                    <a:ext uri="{9D8B030D-6E8A-4147-A177-3AD203B41FA5}">
                      <a16:colId xmlns:a16="http://schemas.microsoft.com/office/drawing/2014/main" val="20005"/>
                    </a:ext>
                  </a:extLst>
                </a:gridCol>
                <a:gridCol w="1005840">
                  <a:extLst>
                    <a:ext uri="{9D8B030D-6E8A-4147-A177-3AD203B41FA5}">
                      <a16:colId xmlns:a16="http://schemas.microsoft.com/office/drawing/2014/main" val="20006"/>
                    </a:ext>
                  </a:extLst>
                </a:gridCol>
                <a:gridCol w="1097280">
                  <a:extLst>
                    <a:ext uri="{9D8B030D-6E8A-4147-A177-3AD203B41FA5}">
                      <a16:colId xmlns:a16="http://schemas.microsoft.com/office/drawing/2014/main" val="20007"/>
                    </a:ext>
                  </a:extLst>
                </a:gridCol>
              </a:tblGrid>
              <a:tr h="365760">
                <a:tc>
                  <a:txBody>
                    <a:bodyPr/>
                    <a:lstStyle/>
                    <a:p>
                      <a:pPr algn="ctr"/>
                      <a:r>
                        <a:rPr lang="ko-KR" sz="1200" b="1">
                          <a:solidFill>
                            <a:srgbClr val="FF7B7B"/>
                          </a:solidFill>
                          <a:latin typeface="210 OmniGothic 040"/>
                          <a:ea typeface="210 OmniGothic 040"/>
                          <a:cs typeface="210 OmniGothic 040"/>
                        </a:rPr>
                        <a:t>요구사항 ID</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tc>
                  <a:txBody>
                    <a:bodyPr/>
                    <a:lstStyle/>
                    <a:p>
                      <a:pPr algn="ctr"/>
                      <a:r>
                        <a:rPr lang="ko-KR" sz="1200" b="1">
                          <a:solidFill>
                            <a:srgbClr val="FF7B7B"/>
                          </a:solidFill>
                          <a:latin typeface="210 OmniGothic 040"/>
                          <a:ea typeface="210 OmniGothic 040"/>
                          <a:cs typeface="210 OmniGothic 040"/>
                        </a:rPr>
                        <a:t>요구사항</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tc>
                  <a:txBody>
                    <a:bodyPr/>
                    <a:lstStyle/>
                    <a:p>
                      <a:pPr algn="ctr"/>
                      <a:r>
                        <a:rPr lang="ko-KR" sz="1200" b="1">
                          <a:solidFill>
                            <a:srgbClr val="FF7B7B"/>
                          </a:solidFill>
                          <a:latin typeface="210 OmniGothic 040"/>
                          <a:ea typeface="210 OmniGothic 040"/>
                          <a:cs typeface="210 OmniGothic 040"/>
                        </a:rPr>
                        <a:t>유스케이스 (시퀀스 쪽)</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tc>
                  <a:txBody>
                    <a:bodyPr/>
                    <a:lstStyle/>
                    <a:p>
                      <a:pPr algn="ctr"/>
                      <a:r>
                        <a:rPr lang="ko-KR" sz="1200" b="1">
                          <a:solidFill>
                            <a:srgbClr val="FF7B7B"/>
                          </a:solidFill>
                          <a:latin typeface="210 OmniGothic 040"/>
                          <a:ea typeface="210 OmniGothic 040"/>
                          <a:cs typeface="210 OmniGothic 040"/>
                        </a:rPr>
                        <a:t>구현 모듈 (논리 컴포넌트)</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tc>
                  <a:txBody>
                    <a:bodyPr/>
                    <a:lstStyle/>
                    <a:p>
                      <a:pPr algn="ctr"/>
                      <a:r>
                        <a:rPr lang="ko-KR" sz="1200" b="1">
                          <a:solidFill>
                            <a:srgbClr val="FF7B7B"/>
                          </a:solidFill>
                          <a:latin typeface="210 OmniGothic 040"/>
                          <a:ea typeface="210 OmniGothic 040"/>
                          <a:cs typeface="210 OmniGothic 040"/>
                        </a:rPr>
                        <a:t>데이터 (테이블)</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tc>
                  <a:txBody>
                    <a:bodyPr/>
                    <a:lstStyle/>
                    <a:p>
                      <a:pPr algn="ctr"/>
                      <a:r>
                        <a:rPr lang="ko-KR" sz="1200" b="1">
                          <a:solidFill>
                            <a:srgbClr val="FF7B7B"/>
                          </a:solidFill>
                          <a:latin typeface="210 OmniGothic 040"/>
                          <a:ea typeface="210 OmniGothic 040"/>
                          <a:cs typeface="210 OmniGothic 040"/>
                        </a:rPr>
                        <a:t>검증</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tc>
                  <a:txBody>
                    <a:bodyPr/>
                    <a:lstStyle/>
                    <a:p>
                      <a:pPr algn="ctr"/>
                      <a:r>
                        <a:rPr lang="ko-KR" sz="1200" b="1">
                          <a:solidFill>
                            <a:srgbClr val="FF7B7B"/>
                          </a:solidFill>
                          <a:latin typeface="210 OmniGothic 040"/>
                          <a:ea typeface="210 OmniGothic 040"/>
                          <a:cs typeface="210 OmniGothic 040"/>
                        </a:rPr>
                        <a:t>테스트 결과</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tc>
                  <a:txBody>
                    <a:bodyPr/>
                    <a:lstStyle/>
                    <a:p>
                      <a:pPr algn="ctr"/>
                      <a:r>
                        <a:rPr lang="ko-KR" sz="1200" b="1">
                          <a:solidFill>
                            <a:srgbClr val="FF7B7B"/>
                          </a:solidFill>
                          <a:latin typeface="210 OmniGothic 040"/>
                          <a:ea typeface="210 OmniGothic 040"/>
                          <a:cs typeface="210 OmniGothic 040"/>
                        </a:rPr>
                        <a:t>상태</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extLst>
                  <a:ext uri="{0D108BD9-81ED-4DB2-BD59-A6C34878D82A}">
                    <a16:rowId xmlns:a16="http://schemas.microsoft.com/office/drawing/2014/main" val="10000"/>
                  </a:ext>
                </a:extLst>
              </a:tr>
              <a:tr h="520000">
                <a:tc>
                  <a:txBody>
                    <a:bodyPr/>
                    <a:lstStyle/>
                    <a:p>
                      <a:pPr algn="ctr"/>
                      <a:r>
                        <a:rPr lang="ko-KR" sz="1100" b="1">
                          <a:solidFill>
                            <a:srgbClr val="FF0000"/>
                          </a:solidFill>
                          <a:latin typeface="210 OmniGothic 040"/>
                          <a:ea typeface="210 OmniGothic 040"/>
                          <a:cs typeface="210 OmniGothic 040"/>
                        </a:rPr>
                        <a:t>F-17</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lang="ko-KR" sz="1100" b="1">
                          <a:solidFill>
                            <a:srgbClr val="FF0000"/>
                          </a:solidFill>
                          <a:latin typeface="210 OmniGothic 040"/>
                          <a:ea typeface="210 OmniGothic 040"/>
                          <a:cs typeface="210 OmniGothic 040"/>
                        </a:rPr>
                        <a:t>진화자원 투입·배분·재배치 (S3)</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lang="ko-KR" sz="1100" b="0">
                          <a:solidFill>
                            <a:srgbClr val="FF0000"/>
                          </a:solidFill>
                          <a:latin typeface="210 OmniGothic 040"/>
                          <a:ea typeface="210 OmniGothic 040"/>
                          <a:cs typeface="210 OmniGothic 040"/>
                        </a:rPr>
                        <a:t>UC-PRED-01 (41·42)</a:t>
                      </a:r>
                    </a:p>
                    <a:p>
                      <a:pPr algn="l"/>
                      <a:r>
                        <a:rPr lang="ko-KR" sz="1100" b="0">
                          <a:solidFill>
                            <a:srgbClr val="FF0000"/>
                          </a:solidFill>
                          <a:latin typeface="210 OmniGothic 040"/>
                          <a:ea typeface="210 OmniGothic 040"/>
                          <a:cs typeface="210 OmniGothic 040"/>
                        </a:rPr>
                        <a:t>UC-PROP-01 (44)</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lang="ko-KR" sz="1100" b="0">
                          <a:solidFill>
                            <a:srgbClr val="FF0000"/>
                          </a:solidFill>
                          <a:latin typeface="210 OmniGothic 040"/>
                          <a:ea typeface="210 OmniGothic 040"/>
                          <a:cs typeface="210 OmniGothic 040"/>
                        </a:rPr>
                        <a:t>RuleEngine(judge_fire), ProposalOrchestrator, Retriever, LLMClient</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lang="ko-KR" sz="1100" b="0">
                          <a:solidFill>
                            <a:srgbClr val="FF0000"/>
                          </a:solidFill>
                          <a:latin typeface="210 OmniGothic 040"/>
                          <a:ea typeface="210 OmniGothic 040"/>
                          <a:cs typeface="210 OmniGothic 040"/>
                        </a:rPr>
                        <a:t>proposal_items, citations</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lang="ko-KR" sz="1100" b="0">
                          <a:solidFill>
                            <a:srgbClr val="FF0000"/>
                          </a:solidFill>
                          <a:latin typeface="210 OmniGothic 040"/>
                          <a:ea typeface="210 OmniGothic 040"/>
                          <a:cs typeface="210 OmniGothic 040"/>
                        </a:rPr>
                        <a:t>TER-001</a:t>
                      </a:r>
                    </a:p>
                    <a:p>
                      <a:pPr algn="ctr"/>
                      <a:r>
                        <a:rPr lang="ko-KR" sz="1100" b="0">
                          <a:solidFill>
                            <a:srgbClr val="FF0000"/>
                          </a:solidFill>
                          <a:latin typeface="210 OmniGothic 040"/>
                          <a:ea typeface="210 OmniGothic 040"/>
                          <a:cs typeface="210 OmniGothic 040"/>
                        </a:rPr>
                        <a:t>TER-002</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lang="ko-KR" sz="1100" b="0">
                          <a:solidFill>
                            <a:srgbClr val="FF0000"/>
                          </a:solidFill>
                          <a:latin typeface="210 OmniGothic 040"/>
                          <a:ea typeface="210 OmniGothic 040"/>
                          <a:cs typeface="210 OmniGothic 040"/>
                        </a:rPr>
                        <a:t>미수행</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lang="ko-KR" sz="1100" b="0">
                          <a:solidFill>
                            <a:srgbClr val="FF0000"/>
                          </a:solidFill>
                          <a:latin typeface="210 OmniGothic 040"/>
                          <a:ea typeface="210 OmniGothic 040"/>
                          <a:cs typeface="210 OmniGothic 040"/>
                        </a:rPr>
                        <a:t>설계 완료</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1"/>
                  </a:ext>
                </a:extLst>
              </a:tr>
              <a:tr h="520000">
                <a:tc>
                  <a:txBody>
                    <a:bodyPr/>
                    <a:lstStyle/>
                    <a:p>
                      <a:pPr algn="ctr"/>
                      <a:r>
                        <a:rPr lang="ko-KR" sz="1100" b="1">
                          <a:solidFill>
                            <a:srgbClr val="FF0000"/>
                          </a:solidFill>
                          <a:latin typeface="210 OmniGothic 040"/>
                          <a:ea typeface="210 OmniGothic 040"/>
                          <a:cs typeface="210 OmniGothic 040"/>
                        </a:rPr>
                        <a:t>F-18</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r>
                        <a:rPr lang="ko-KR" sz="1100" b="1">
                          <a:solidFill>
                            <a:srgbClr val="FF0000"/>
                          </a:solidFill>
                          <a:latin typeface="210 OmniGothic 040"/>
                          <a:ea typeface="210 OmniGothic 040"/>
                          <a:cs typeface="210 OmniGothic 040"/>
                        </a:rPr>
                        <a:t>진화 방식·시간대 전략 (S4)</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r>
                        <a:rPr lang="ko-KR" sz="1100" b="0">
                          <a:solidFill>
                            <a:srgbClr val="FF0000"/>
                          </a:solidFill>
                          <a:latin typeface="210 OmniGothic 040"/>
                          <a:ea typeface="210 OmniGothic 040"/>
                          <a:cs typeface="210 OmniGothic 040"/>
                        </a:rPr>
                        <a:t>UC-PRED-01 (41·42)</a:t>
                      </a:r>
                    </a:p>
                    <a:p>
                      <a:pPr algn="l"/>
                      <a:r>
                        <a:rPr lang="ko-KR" sz="1100" b="0">
                          <a:solidFill>
                            <a:srgbClr val="FF0000"/>
                          </a:solidFill>
                          <a:latin typeface="210 OmniGothic 040"/>
                          <a:ea typeface="210 OmniGothic 040"/>
                          <a:cs typeface="210 OmniGothic 040"/>
                        </a:rPr>
                        <a:t>UC-PROP-01 (44)</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r>
                        <a:rPr lang="ko-KR" sz="1100" b="0">
                          <a:solidFill>
                            <a:srgbClr val="FF0000"/>
                          </a:solidFill>
                          <a:latin typeface="210 OmniGothic 040"/>
                          <a:ea typeface="210 OmniGothic 040"/>
                          <a:cs typeface="210 OmniGothic 040"/>
                        </a:rPr>
                        <a:t>RuleEngine(judge_fire), ProposalOrchestrator, Retriever, LLMClient</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r>
                        <a:rPr lang="ko-KR" sz="1100" b="0">
                          <a:solidFill>
                            <a:srgbClr val="FF0000"/>
                          </a:solidFill>
                          <a:latin typeface="210 OmniGothic 040"/>
                          <a:ea typeface="210 OmniGothic 040"/>
                          <a:cs typeface="210 OmniGothic 040"/>
                        </a:rPr>
                        <a:t>proposal_items, citations</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ctr"/>
                      <a:r>
                        <a:rPr lang="ko-KR" sz="1100" b="0">
                          <a:solidFill>
                            <a:srgbClr val="FF0000"/>
                          </a:solidFill>
                          <a:latin typeface="210 OmniGothic 040"/>
                          <a:ea typeface="210 OmniGothic 040"/>
                          <a:cs typeface="210 OmniGothic 040"/>
                        </a:rPr>
                        <a:t>TER-001</a:t>
                      </a:r>
                    </a:p>
                    <a:p>
                      <a:pPr algn="ctr"/>
                      <a:r>
                        <a:rPr lang="ko-KR" sz="1100" b="0">
                          <a:solidFill>
                            <a:srgbClr val="FF0000"/>
                          </a:solidFill>
                          <a:latin typeface="210 OmniGothic 040"/>
                          <a:ea typeface="210 OmniGothic 040"/>
                          <a:cs typeface="210 OmniGothic 040"/>
                        </a:rPr>
                        <a:t>TER-002</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ctr"/>
                      <a:r>
                        <a:rPr lang="ko-KR" sz="1100" b="0">
                          <a:solidFill>
                            <a:srgbClr val="FF0000"/>
                          </a:solidFill>
                          <a:latin typeface="210 OmniGothic 040"/>
                          <a:ea typeface="210 OmniGothic 040"/>
                          <a:cs typeface="210 OmniGothic 040"/>
                        </a:rPr>
                        <a:t>미수행</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ctr"/>
                      <a:r>
                        <a:rPr lang="ko-KR" sz="1100" b="0">
                          <a:solidFill>
                            <a:srgbClr val="FF0000"/>
                          </a:solidFill>
                          <a:latin typeface="210 OmniGothic 040"/>
                          <a:ea typeface="210 OmniGothic 040"/>
                          <a:cs typeface="210 OmniGothic 040"/>
                        </a:rPr>
                        <a:t>설계 완료</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2"/>
                  </a:ext>
                </a:extLst>
              </a:tr>
              <a:tr h="520000">
                <a:tc>
                  <a:txBody>
                    <a:bodyPr/>
                    <a:lstStyle/>
                    <a:p>
                      <a:pPr algn="ctr"/>
                      <a:r>
                        <a:rPr lang="ko-KR" sz="1100" b="1">
                          <a:solidFill>
                            <a:srgbClr val="FF0000"/>
                          </a:solidFill>
                          <a:latin typeface="210 OmniGothic 040"/>
                          <a:ea typeface="210 OmniGothic 040"/>
                          <a:cs typeface="210 OmniGothic 040"/>
                        </a:rPr>
                        <a:t>F-19</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lang="ko-KR" sz="1100" b="1">
                          <a:solidFill>
                            <a:srgbClr val="FF0000"/>
                          </a:solidFill>
                          <a:latin typeface="210 OmniGothic 040"/>
                          <a:ea typeface="210 OmniGothic 040"/>
                          <a:cs typeface="210 OmniGothic 040"/>
                        </a:rPr>
                        <a:t>시설 보호 조치 (S5)</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lang="ko-KR" sz="1100" b="0">
                          <a:solidFill>
                            <a:srgbClr val="FF0000"/>
                          </a:solidFill>
                          <a:latin typeface="210 OmniGothic 040"/>
                          <a:ea typeface="210 OmniGothic 040"/>
                          <a:cs typeface="210 OmniGothic 040"/>
                        </a:rPr>
                        <a:t>UC-PRED-01 (41·42)</a:t>
                      </a:r>
                    </a:p>
                    <a:p>
                      <a:pPr algn="l"/>
                      <a:r>
                        <a:rPr lang="ko-KR" sz="1100" b="0">
                          <a:solidFill>
                            <a:srgbClr val="FF0000"/>
                          </a:solidFill>
                          <a:latin typeface="210 OmniGothic 040"/>
                          <a:ea typeface="210 OmniGothic 040"/>
                          <a:cs typeface="210 OmniGothic 040"/>
                        </a:rPr>
                        <a:t>UC-PROP-01 (44)</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lang="ko-KR" sz="1100" b="0">
                          <a:solidFill>
                            <a:srgbClr val="FF0000"/>
                          </a:solidFill>
                          <a:latin typeface="210 OmniGothic 040"/>
                          <a:ea typeface="210 OmniGothic 040"/>
                          <a:cs typeface="210 OmniGothic 040"/>
                        </a:rPr>
                        <a:t>RuleEngine(judge_fire), ProposalOrchestrator, Retriever, LLMClient</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lang="ko-KR" sz="1100" b="0">
                          <a:solidFill>
                            <a:srgbClr val="FF0000"/>
                          </a:solidFill>
                          <a:latin typeface="210 OmniGothic 040"/>
                          <a:ea typeface="210 OmniGothic 040"/>
                          <a:cs typeface="210 OmniGothic 040"/>
                        </a:rPr>
                        <a:t>proposal_items, citations</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lang="ko-KR" sz="1100" b="0">
                          <a:solidFill>
                            <a:srgbClr val="FF0000"/>
                          </a:solidFill>
                          <a:latin typeface="210 OmniGothic 040"/>
                          <a:ea typeface="210 OmniGothic 040"/>
                          <a:cs typeface="210 OmniGothic 040"/>
                        </a:rPr>
                        <a:t>TER-001</a:t>
                      </a:r>
                    </a:p>
                    <a:p>
                      <a:pPr algn="ctr"/>
                      <a:r>
                        <a:rPr lang="ko-KR" sz="1100" b="0">
                          <a:solidFill>
                            <a:srgbClr val="FF0000"/>
                          </a:solidFill>
                          <a:latin typeface="210 OmniGothic 040"/>
                          <a:ea typeface="210 OmniGothic 040"/>
                          <a:cs typeface="210 OmniGothic 040"/>
                        </a:rPr>
                        <a:t>TER-002</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lang="ko-KR" sz="1100" b="0">
                          <a:solidFill>
                            <a:srgbClr val="FF0000"/>
                          </a:solidFill>
                          <a:latin typeface="210 OmniGothic 040"/>
                          <a:ea typeface="210 OmniGothic 040"/>
                          <a:cs typeface="210 OmniGothic 040"/>
                        </a:rPr>
                        <a:t>미수행</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lang="ko-KR" sz="1100" b="0">
                          <a:solidFill>
                            <a:srgbClr val="FF0000"/>
                          </a:solidFill>
                          <a:latin typeface="210 OmniGothic 040"/>
                          <a:ea typeface="210 OmniGothic 040"/>
                          <a:cs typeface="210 OmniGothic 040"/>
                        </a:rPr>
                        <a:t>설계 완료</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3"/>
                  </a:ext>
                </a:extLst>
              </a:tr>
              <a:tr h="520000">
                <a:tc>
                  <a:txBody>
                    <a:bodyPr/>
                    <a:lstStyle/>
                    <a:p>
                      <a:pPr algn="ctr"/>
                      <a:r>
                        <a:rPr lang="ko-KR" sz="1100" b="1">
                          <a:solidFill>
                            <a:srgbClr val="FF0000"/>
                          </a:solidFill>
                          <a:latin typeface="210 OmniGothic 040"/>
                          <a:ea typeface="210 OmniGothic 040"/>
                          <a:cs typeface="210 OmniGothic 040"/>
                        </a:rPr>
                        <a:t>F-20</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r>
                        <a:rPr lang="ko-KR" sz="1100" b="1">
                          <a:solidFill>
                            <a:srgbClr val="FF0000"/>
                          </a:solidFill>
                          <a:latin typeface="210 OmniGothic 040"/>
                          <a:ea typeface="210 OmniGothic 040"/>
                          <a:cs typeface="210 OmniGothic 040"/>
                        </a:rPr>
                        <a:t>유관기관 동원·협조 요청 (S6)</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r>
                        <a:rPr lang="ko-KR" sz="1100" b="0">
                          <a:solidFill>
                            <a:srgbClr val="FF0000"/>
                          </a:solidFill>
                          <a:latin typeface="210 OmniGothic 040"/>
                          <a:ea typeface="210 OmniGothic 040"/>
                          <a:cs typeface="210 OmniGothic 040"/>
                        </a:rPr>
                        <a:t>UC-PRED-01 (41·42)</a:t>
                      </a:r>
                    </a:p>
                    <a:p>
                      <a:pPr algn="l"/>
                      <a:r>
                        <a:rPr lang="ko-KR" sz="1100" b="0">
                          <a:solidFill>
                            <a:srgbClr val="FF0000"/>
                          </a:solidFill>
                          <a:latin typeface="210 OmniGothic 040"/>
                          <a:ea typeface="210 OmniGothic 040"/>
                          <a:cs typeface="210 OmniGothic 040"/>
                        </a:rPr>
                        <a:t>UC-PROP-01 (44)</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r>
                        <a:rPr lang="ko-KR" sz="1100" b="0">
                          <a:solidFill>
                            <a:srgbClr val="FF0000"/>
                          </a:solidFill>
                          <a:latin typeface="210 OmniGothic 040"/>
                          <a:ea typeface="210 OmniGothic 040"/>
                          <a:cs typeface="210 OmniGothic 040"/>
                        </a:rPr>
                        <a:t>RuleEngine(judge_fire), ProposalOrchestrator, Retriever, LLMClient</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r>
                        <a:rPr lang="ko-KR" sz="1100" b="0">
                          <a:solidFill>
                            <a:srgbClr val="FF0000"/>
                          </a:solidFill>
                          <a:latin typeface="210 OmniGothic 040"/>
                          <a:ea typeface="210 OmniGothic 040"/>
                          <a:cs typeface="210 OmniGothic 040"/>
                        </a:rPr>
                        <a:t>proposal_items, citations</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ctr"/>
                      <a:r>
                        <a:rPr lang="ko-KR" sz="1100" b="0">
                          <a:solidFill>
                            <a:srgbClr val="FF0000"/>
                          </a:solidFill>
                          <a:latin typeface="210 OmniGothic 040"/>
                          <a:ea typeface="210 OmniGothic 040"/>
                          <a:cs typeface="210 OmniGothic 040"/>
                        </a:rPr>
                        <a:t>TER-001</a:t>
                      </a:r>
                    </a:p>
                    <a:p>
                      <a:pPr algn="ctr"/>
                      <a:r>
                        <a:rPr lang="ko-KR" sz="1100" b="0">
                          <a:solidFill>
                            <a:srgbClr val="FF0000"/>
                          </a:solidFill>
                          <a:latin typeface="210 OmniGothic 040"/>
                          <a:ea typeface="210 OmniGothic 040"/>
                          <a:cs typeface="210 OmniGothic 040"/>
                        </a:rPr>
                        <a:t>TER-002</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ctr"/>
                      <a:r>
                        <a:rPr lang="ko-KR" sz="1100" b="0">
                          <a:solidFill>
                            <a:srgbClr val="FF0000"/>
                          </a:solidFill>
                          <a:latin typeface="210 OmniGothic 040"/>
                          <a:ea typeface="210 OmniGothic 040"/>
                          <a:cs typeface="210 OmniGothic 040"/>
                        </a:rPr>
                        <a:t>미수행</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ctr"/>
                      <a:r>
                        <a:rPr lang="ko-KR" sz="1100" b="0">
                          <a:solidFill>
                            <a:srgbClr val="FF0000"/>
                          </a:solidFill>
                          <a:latin typeface="210 OmniGothic 040"/>
                          <a:ea typeface="210 OmniGothic 040"/>
                          <a:cs typeface="210 OmniGothic 040"/>
                        </a:rPr>
                        <a:t>설계 완료</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4"/>
                  </a:ext>
                </a:extLst>
              </a:tr>
              <a:tr h="520000">
                <a:tc>
                  <a:txBody>
                    <a:bodyPr/>
                    <a:lstStyle/>
                    <a:p>
                      <a:pPr algn="ctr"/>
                      <a:r>
                        <a:rPr lang="ko-KR" sz="1100" b="1">
                          <a:solidFill>
                            <a:srgbClr val="FF0000"/>
                          </a:solidFill>
                          <a:latin typeface="210 OmniGothic 040"/>
                          <a:ea typeface="210 OmniGothic 040"/>
                          <a:cs typeface="210 OmniGothic 040"/>
                        </a:rPr>
                        <a:t>F-21</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lang="ko-KR" sz="1100" b="1">
                          <a:solidFill>
                            <a:srgbClr val="FF0000"/>
                          </a:solidFill>
                          <a:latin typeface="210 OmniGothic 040"/>
                          <a:ea typeface="210 OmniGothic 040"/>
                          <a:cs typeface="210 OmniGothic 040"/>
                        </a:rPr>
                        <a:t>진화인력 안전·투입 관리 (S7)</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lang="ko-KR" sz="1100" b="0">
                          <a:solidFill>
                            <a:srgbClr val="FF0000"/>
                          </a:solidFill>
                          <a:latin typeface="210 OmniGothic 040"/>
                          <a:ea typeface="210 OmniGothic 040"/>
                          <a:cs typeface="210 OmniGothic 040"/>
                        </a:rPr>
                        <a:t>UC-PRED-01 (41·42)</a:t>
                      </a:r>
                    </a:p>
                    <a:p>
                      <a:pPr algn="l"/>
                      <a:r>
                        <a:rPr lang="ko-KR" sz="1100" b="0">
                          <a:solidFill>
                            <a:srgbClr val="FF0000"/>
                          </a:solidFill>
                          <a:latin typeface="210 OmniGothic 040"/>
                          <a:ea typeface="210 OmniGothic 040"/>
                          <a:cs typeface="210 OmniGothic 040"/>
                        </a:rPr>
                        <a:t>UC-PROP-01 (44)</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lang="ko-KR" sz="1100" b="0">
                          <a:solidFill>
                            <a:srgbClr val="FF0000"/>
                          </a:solidFill>
                          <a:latin typeface="210 OmniGothic 040"/>
                          <a:ea typeface="210 OmniGothic 040"/>
                          <a:cs typeface="210 OmniGothic 040"/>
                        </a:rPr>
                        <a:t>RuleEngine(judge_fire), ProposalOrchestrator, Retriever, LLMClient</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lang="ko-KR" sz="1100" b="0">
                          <a:solidFill>
                            <a:srgbClr val="FF0000"/>
                          </a:solidFill>
                          <a:latin typeface="210 OmniGothic 040"/>
                          <a:ea typeface="210 OmniGothic 040"/>
                          <a:cs typeface="210 OmniGothic 040"/>
                        </a:rPr>
                        <a:t>proposal_items, citations</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lang="ko-KR" sz="1100" b="0">
                          <a:solidFill>
                            <a:srgbClr val="FF0000"/>
                          </a:solidFill>
                          <a:latin typeface="210 OmniGothic 040"/>
                          <a:ea typeface="210 OmniGothic 040"/>
                          <a:cs typeface="210 OmniGothic 040"/>
                        </a:rPr>
                        <a:t>TER-001</a:t>
                      </a:r>
                    </a:p>
                    <a:p>
                      <a:pPr algn="ctr"/>
                      <a:r>
                        <a:rPr lang="ko-KR" sz="1100" b="0">
                          <a:solidFill>
                            <a:srgbClr val="FF0000"/>
                          </a:solidFill>
                          <a:latin typeface="210 OmniGothic 040"/>
                          <a:ea typeface="210 OmniGothic 040"/>
                          <a:cs typeface="210 OmniGothic 040"/>
                        </a:rPr>
                        <a:t>TER-002</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lang="ko-KR" sz="1100" b="0">
                          <a:solidFill>
                            <a:srgbClr val="FF0000"/>
                          </a:solidFill>
                          <a:latin typeface="210 OmniGothic 040"/>
                          <a:ea typeface="210 OmniGothic 040"/>
                          <a:cs typeface="210 OmniGothic 040"/>
                        </a:rPr>
                        <a:t>미수행</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lang="ko-KR" sz="1100" b="0">
                          <a:solidFill>
                            <a:srgbClr val="FF0000"/>
                          </a:solidFill>
                          <a:latin typeface="210 OmniGothic 040"/>
                          <a:ea typeface="210 OmniGothic 040"/>
                          <a:cs typeface="210 OmniGothic 040"/>
                        </a:rPr>
                        <a:t>설계 완료</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5"/>
                  </a:ext>
                </a:extLst>
              </a:tr>
              <a:tr h="520000">
                <a:tc>
                  <a:txBody>
                    <a:bodyPr/>
                    <a:lstStyle/>
                    <a:p>
                      <a:pPr algn="ctr"/>
                      <a:r>
                        <a:rPr lang="ko-KR" sz="1100" b="1">
                          <a:solidFill>
                            <a:srgbClr val="FF0000"/>
                          </a:solidFill>
                          <a:latin typeface="210 OmniGothic 040"/>
                          <a:ea typeface="210 OmniGothic 040"/>
                          <a:cs typeface="210 OmniGothic 040"/>
                        </a:rPr>
                        <a:t>F-22</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r>
                        <a:rPr lang="ko-KR" sz="1100" b="1">
                          <a:solidFill>
                            <a:srgbClr val="FF0000"/>
                          </a:solidFill>
                          <a:latin typeface="210 OmniGothic 040"/>
                          <a:ea typeface="210 OmniGothic 040"/>
                          <a:cs typeface="210 OmniGothic 040"/>
                        </a:rPr>
                        <a:t>위험구역 설정 (E1)</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r>
                        <a:rPr lang="ko-KR" sz="1100" b="0">
                          <a:solidFill>
                            <a:srgbClr val="FF0000"/>
                          </a:solidFill>
                          <a:latin typeface="210 OmniGothic 040"/>
                          <a:ea typeface="210 OmniGothic 040"/>
                          <a:cs typeface="210 OmniGothic 040"/>
                        </a:rPr>
                        <a:t>UC-PRED-01 (41·42)</a:t>
                      </a:r>
                    </a:p>
                    <a:p>
                      <a:pPr algn="l"/>
                      <a:r>
                        <a:rPr lang="ko-KR" sz="1100" b="0">
                          <a:solidFill>
                            <a:srgbClr val="FF0000"/>
                          </a:solidFill>
                          <a:latin typeface="210 OmniGothic 040"/>
                          <a:ea typeface="210 OmniGothic 040"/>
                          <a:cs typeface="210 OmniGothic 040"/>
                        </a:rPr>
                        <a:t>UC-PROP-02 (45)</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r>
                        <a:rPr lang="ko-KR" sz="1100" b="0">
                          <a:solidFill>
                            <a:srgbClr val="FF0000"/>
                          </a:solidFill>
                          <a:latin typeface="210 OmniGothic 040"/>
                          <a:ea typeface="210 OmniGothic 040"/>
                          <a:cs typeface="210 OmniGothic 040"/>
                        </a:rPr>
                        <a:t>RuleEngine(judge_evac), ProposalOrchestrator, Retriever, LLMClient</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r>
                        <a:rPr lang="ko-KR" sz="1100" b="0">
                          <a:solidFill>
                            <a:srgbClr val="FF0000"/>
                          </a:solidFill>
                          <a:latin typeface="210 OmniGothic 040"/>
                          <a:ea typeface="210 OmniGothic 040"/>
                          <a:cs typeface="210 OmniGothic 040"/>
                        </a:rPr>
                        <a:t>proposal_items, citations</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ctr"/>
                      <a:r>
                        <a:rPr lang="ko-KR" sz="1100" b="0">
                          <a:solidFill>
                            <a:srgbClr val="FF0000"/>
                          </a:solidFill>
                          <a:latin typeface="210 OmniGothic 040"/>
                          <a:ea typeface="210 OmniGothic 040"/>
                          <a:cs typeface="210 OmniGothic 040"/>
                        </a:rPr>
                        <a:t>TER-001</a:t>
                      </a:r>
                    </a:p>
                    <a:p>
                      <a:pPr algn="ctr"/>
                      <a:r>
                        <a:rPr lang="ko-KR" sz="1100" b="0">
                          <a:solidFill>
                            <a:srgbClr val="FF0000"/>
                          </a:solidFill>
                          <a:latin typeface="210 OmniGothic 040"/>
                          <a:ea typeface="210 OmniGothic 040"/>
                          <a:cs typeface="210 OmniGothic 040"/>
                        </a:rPr>
                        <a:t>TER-002</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ctr"/>
                      <a:r>
                        <a:rPr lang="ko-KR" sz="1100" b="0">
                          <a:solidFill>
                            <a:srgbClr val="FF0000"/>
                          </a:solidFill>
                          <a:latin typeface="210 OmniGothic 040"/>
                          <a:ea typeface="210 OmniGothic 040"/>
                          <a:cs typeface="210 OmniGothic 040"/>
                        </a:rPr>
                        <a:t>미수행</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ctr"/>
                      <a:r>
                        <a:rPr lang="ko-KR" sz="1100" b="0">
                          <a:solidFill>
                            <a:srgbClr val="FF0000"/>
                          </a:solidFill>
                          <a:latin typeface="210 OmniGothic 040"/>
                          <a:ea typeface="210 OmniGothic 040"/>
                          <a:cs typeface="210 OmniGothic 040"/>
                        </a:rPr>
                        <a:t>설계 완료</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6"/>
                  </a:ext>
                </a:extLst>
              </a:tr>
              <a:tr h="520000">
                <a:tc>
                  <a:txBody>
                    <a:bodyPr/>
                    <a:lstStyle/>
                    <a:p>
                      <a:pPr algn="ctr"/>
                      <a:r>
                        <a:rPr lang="ko-KR" sz="1100" b="1">
                          <a:solidFill>
                            <a:srgbClr val="FF0000"/>
                          </a:solidFill>
                          <a:latin typeface="210 OmniGothic 040"/>
                          <a:ea typeface="210 OmniGothic 040"/>
                          <a:cs typeface="210 OmniGothic 040"/>
                        </a:rPr>
                        <a:t>F-23</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lang="ko-KR" sz="1100" b="1">
                          <a:solidFill>
                            <a:srgbClr val="FF0000"/>
                          </a:solidFill>
                          <a:latin typeface="210 OmniGothic 040"/>
                          <a:ea typeface="210 OmniGothic 040"/>
                          <a:cs typeface="210 OmniGothic 040"/>
                        </a:rPr>
                        <a:t>대피 대상·순서·시점 결정 (E2)</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lang="ko-KR" sz="1100" b="0">
                          <a:solidFill>
                            <a:srgbClr val="FF0000"/>
                          </a:solidFill>
                          <a:latin typeface="210 OmniGothic 040"/>
                          <a:ea typeface="210 OmniGothic 040"/>
                          <a:cs typeface="210 OmniGothic 040"/>
                        </a:rPr>
                        <a:t>UC-PRED-01 (41·42)</a:t>
                      </a:r>
                    </a:p>
                    <a:p>
                      <a:pPr algn="l"/>
                      <a:r>
                        <a:rPr lang="ko-KR" sz="1100" b="0">
                          <a:solidFill>
                            <a:srgbClr val="FF0000"/>
                          </a:solidFill>
                          <a:latin typeface="210 OmniGothic 040"/>
                          <a:ea typeface="210 OmniGothic 040"/>
                          <a:cs typeface="210 OmniGothic 040"/>
                        </a:rPr>
                        <a:t>UC-PROP-02 (45)</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lang="ko-KR" sz="1100" b="0">
                          <a:solidFill>
                            <a:srgbClr val="FF0000"/>
                          </a:solidFill>
                          <a:latin typeface="210 OmniGothic 040"/>
                          <a:ea typeface="210 OmniGothic 040"/>
                          <a:cs typeface="210 OmniGothic 040"/>
                        </a:rPr>
                        <a:t>RuleEngine(judge_evac), ProposalOrchestrator, Retriever, LLMClient</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lang="ko-KR" sz="1100" b="0">
                          <a:solidFill>
                            <a:srgbClr val="FF0000"/>
                          </a:solidFill>
                          <a:latin typeface="210 OmniGothic 040"/>
                          <a:ea typeface="210 OmniGothic 040"/>
                          <a:cs typeface="210 OmniGothic 040"/>
                        </a:rPr>
                        <a:t>proposal_items, citations</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lang="ko-KR" sz="1100" b="0">
                          <a:solidFill>
                            <a:srgbClr val="FF0000"/>
                          </a:solidFill>
                          <a:latin typeface="210 OmniGothic 040"/>
                          <a:ea typeface="210 OmniGothic 040"/>
                          <a:cs typeface="210 OmniGothic 040"/>
                        </a:rPr>
                        <a:t>TER-001</a:t>
                      </a:r>
                    </a:p>
                    <a:p>
                      <a:pPr algn="ctr"/>
                      <a:r>
                        <a:rPr lang="ko-KR" sz="1100" b="0">
                          <a:solidFill>
                            <a:srgbClr val="FF0000"/>
                          </a:solidFill>
                          <a:latin typeface="210 OmniGothic 040"/>
                          <a:ea typeface="210 OmniGothic 040"/>
                          <a:cs typeface="210 OmniGothic 040"/>
                        </a:rPr>
                        <a:t>TER-002</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lang="ko-KR" sz="1100" b="0">
                          <a:solidFill>
                            <a:srgbClr val="FF0000"/>
                          </a:solidFill>
                          <a:latin typeface="210 OmniGothic 040"/>
                          <a:ea typeface="210 OmniGothic 040"/>
                          <a:cs typeface="210 OmniGothic 040"/>
                        </a:rPr>
                        <a:t>미수행</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lang="ko-KR" sz="1100" b="0">
                          <a:solidFill>
                            <a:srgbClr val="FF0000"/>
                          </a:solidFill>
                          <a:latin typeface="210 OmniGothic 040"/>
                          <a:ea typeface="210 OmniGothic 040"/>
                          <a:cs typeface="210 OmniGothic 040"/>
                        </a:rPr>
                        <a:t>설계 완료</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7"/>
                  </a:ext>
                </a:extLst>
              </a:tr>
              <a:tr h="520000">
                <a:tc>
                  <a:txBody>
                    <a:bodyPr/>
                    <a:lstStyle/>
                    <a:p>
                      <a:pPr algn="ctr"/>
                      <a:r>
                        <a:rPr lang="ko-KR" sz="1100" b="1">
                          <a:solidFill>
                            <a:srgbClr val="FF0000"/>
                          </a:solidFill>
                          <a:latin typeface="210 OmniGothic 040"/>
                          <a:ea typeface="210 OmniGothic 040"/>
                          <a:cs typeface="210 OmniGothic 040"/>
                        </a:rPr>
                        <a:t>F-24</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r>
                        <a:rPr lang="ko-KR" sz="1100" b="1">
                          <a:solidFill>
                            <a:srgbClr val="FF0000"/>
                          </a:solidFill>
                          <a:latin typeface="210 OmniGothic 040"/>
                          <a:ea typeface="210 OmniGothic 040"/>
                          <a:cs typeface="210 OmniGothic 040"/>
                        </a:rPr>
                        <a:t>취약시설·미대피 주민 조치 (E3)</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r>
                        <a:rPr lang="ko-KR" sz="1100" b="0">
                          <a:solidFill>
                            <a:srgbClr val="FF0000"/>
                          </a:solidFill>
                          <a:latin typeface="210 OmniGothic 040"/>
                          <a:ea typeface="210 OmniGothic 040"/>
                          <a:cs typeface="210 OmniGothic 040"/>
                        </a:rPr>
                        <a:t>UC-PRED-01 (41·42)</a:t>
                      </a:r>
                    </a:p>
                    <a:p>
                      <a:pPr algn="l"/>
                      <a:r>
                        <a:rPr lang="ko-KR" sz="1100" b="0">
                          <a:solidFill>
                            <a:srgbClr val="FF0000"/>
                          </a:solidFill>
                          <a:latin typeface="210 OmniGothic 040"/>
                          <a:ea typeface="210 OmniGothic 040"/>
                          <a:cs typeface="210 OmniGothic 040"/>
                        </a:rPr>
                        <a:t>UC-PROP-02 (45)</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r>
                        <a:rPr lang="ko-KR" sz="1100" b="0">
                          <a:solidFill>
                            <a:srgbClr val="FF0000"/>
                          </a:solidFill>
                          <a:latin typeface="210 OmniGothic 040"/>
                          <a:ea typeface="210 OmniGothic 040"/>
                          <a:cs typeface="210 OmniGothic 040"/>
                        </a:rPr>
                        <a:t>RuleEngine(judge_evac), ProposalOrchestrator, Retriever, LLMClient</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r>
                        <a:rPr lang="ko-KR" sz="1100" b="0">
                          <a:solidFill>
                            <a:srgbClr val="FF0000"/>
                          </a:solidFill>
                          <a:latin typeface="210 OmniGothic 040"/>
                          <a:ea typeface="210 OmniGothic 040"/>
                          <a:cs typeface="210 OmniGothic 040"/>
                        </a:rPr>
                        <a:t>proposal_items, citations</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ctr"/>
                      <a:r>
                        <a:rPr lang="ko-KR" sz="1100" b="0">
                          <a:solidFill>
                            <a:srgbClr val="FF0000"/>
                          </a:solidFill>
                          <a:latin typeface="210 OmniGothic 040"/>
                          <a:ea typeface="210 OmniGothic 040"/>
                          <a:cs typeface="210 OmniGothic 040"/>
                        </a:rPr>
                        <a:t>TER-001</a:t>
                      </a:r>
                    </a:p>
                    <a:p>
                      <a:pPr algn="ctr"/>
                      <a:r>
                        <a:rPr lang="ko-KR" sz="1100" b="0">
                          <a:solidFill>
                            <a:srgbClr val="FF0000"/>
                          </a:solidFill>
                          <a:latin typeface="210 OmniGothic 040"/>
                          <a:ea typeface="210 OmniGothic 040"/>
                          <a:cs typeface="210 OmniGothic 040"/>
                        </a:rPr>
                        <a:t>TER-002</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ctr"/>
                      <a:r>
                        <a:rPr lang="ko-KR" sz="1100" b="0">
                          <a:solidFill>
                            <a:srgbClr val="FF0000"/>
                          </a:solidFill>
                          <a:latin typeface="210 OmniGothic 040"/>
                          <a:ea typeface="210 OmniGothic 040"/>
                          <a:cs typeface="210 OmniGothic 040"/>
                        </a:rPr>
                        <a:t>미수행</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ctr"/>
                      <a:r>
                        <a:rPr lang="ko-KR" sz="1100" b="0">
                          <a:solidFill>
                            <a:srgbClr val="FF0000"/>
                          </a:solidFill>
                          <a:latin typeface="210 OmniGothic 040"/>
                          <a:ea typeface="210 OmniGothic 040"/>
                          <a:cs typeface="210 OmniGothic 040"/>
                        </a:rPr>
                        <a:t>설계 완료</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8"/>
                  </a:ext>
                </a:extLst>
              </a:tr>
            </a:tbl>
          </a:graphicData>
        </a:graphic>
      </p:graphicFrame>
      <p:sp>
        <p:nvSpPr>
          <p:cNvPr id="9301" name="Note 9301"/>
          <p:cNvSpPr txBox="1"/>
          <p:nvPr/>
        </p:nvSpPr>
        <p:spPr>
          <a:xfrm>
            <a:off x="822960" y="8000000"/>
            <a:ext cx="16459200" cy="310896"/>
          </a:xfrm>
          <a:prstGeom prst="rect">
            <a:avLst/>
          </a:prstGeom>
          <a:noFill/>
        </p:spPr>
        <p:txBody>
          <a:bodyPr wrap="square" lIns="0" tIns="0" rIns="0" bIns="0" anchor="t">
            <a:spAutoFit/>
          </a:bodyPr>
          <a:lstStyle/>
          <a:p>
            <a:pPr algn="l"/>
            <a:r>
              <a:rPr sz="1150" b="0">
                <a:solidFill>
                  <a:srgbClr val="FF0000"/>
                </a:solidFill>
                <a:latin typeface="210 OmniGothic 030"/>
                <a:ea typeface="210 OmniGothic 030"/>
                <a:cs typeface="210 OmniGothic 030"/>
              </a:rPr>
              <a:t>※ 요구사항 ID·요구사항은 기능 목록(12~14쪽), 유스케이스·시퀀스 쪽은 16~49쪽, 구현 모듈은 클래스 다이어그램(61~64쪽), 데이터는 관계형 데이터베이스(70쪽), 검증은 TER-001(기능·통합 테스트)·TER-002(AI 모델 평가) 기준입니다.</a:t>
            </a:r>
          </a:p>
        </p:txBody>
      </p:sp>
      <p:sp>
        <p:nvSpPr>
          <p:cNvPr id="9302" name="Note 9302"/>
          <p:cNvSpPr txBox="1"/>
          <p:nvPr/>
        </p:nvSpPr>
        <p:spPr>
          <a:xfrm>
            <a:off x="822960" y="8329184"/>
            <a:ext cx="16459200" cy="310896"/>
          </a:xfrm>
          <a:prstGeom prst="rect">
            <a:avLst/>
          </a:prstGeom>
          <a:noFill/>
        </p:spPr>
        <p:txBody>
          <a:bodyPr wrap="square" lIns="0" tIns="0" rIns="0" bIns="0" anchor="t">
            <a:spAutoFit/>
          </a:bodyPr>
          <a:lstStyle/>
          <a:p>
            <a:pPr algn="l"/>
            <a:r>
              <a:rPr sz="1150" b="0">
                <a:solidFill>
                  <a:srgbClr val="FF0000"/>
                </a:solidFill>
                <a:latin typeface="210 OmniGothic 030"/>
                <a:ea typeface="210 OmniGothic 030"/>
                <a:cs typeface="210 OmniGothic 030"/>
              </a:rPr>
              <a:t>※ 테스트 케이스 ID는 테스트 사양서 작성 시 부여하며, 구현·시험이 진행되면 테스트 결과(미수행 → Pass/Fail)와 상태를 갱신합니다.</a:t>
            </a: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21"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700" y="-12700"/>
            <a:ext cx="18313400" cy="1638300"/>
          </a:xfrm>
          <a:prstGeom prst="rect">
            <a:avLst/>
          </a:prstGeom>
        </p:spPr>
      </p:pic>
      <p:pic>
        <p:nvPicPr>
          <p:cNvPr id="5522"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28" y="1618343"/>
            <a:ext cx="18313400" cy="8699500"/>
          </a:xfrm>
          <a:prstGeom prst="rect">
            <a:avLst/>
          </a:prstGeom>
        </p:spPr>
      </p:pic>
      <p:pic>
        <p:nvPicPr>
          <p:cNvPr id="5523"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58800" y="9271000"/>
            <a:ext cx="17170400" cy="50800"/>
          </a:xfrm>
          <a:prstGeom prst="rect">
            <a:avLst/>
          </a:prstGeom>
        </p:spPr>
      </p:pic>
      <p:pic>
        <p:nvPicPr>
          <p:cNvPr id="5524" name="Picture 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278100" y="203200"/>
            <a:ext cx="1676400" cy="1409700"/>
          </a:xfrm>
          <a:prstGeom prst="rect">
            <a:avLst/>
          </a:prstGeom>
        </p:spPr>
      </p:pic>
      <p:sp>
        <p:nvSpPr>
          <p:cNvPr id="5525" name="Title"/>
          <p:cNvSpPr txBox="1"/>
          <p:nvPr/>
        </p:nvSpPr>
        <p:spPr>
          <a:xfrm>
            <a:off x="822960" y="384048"/>
            <a:ext cx="13258800" cy="877824"/>
          </a:xfrm>
          <a:prstGeom prst="rect">
            <a:avLst/>
          </a:prstGeom>
          <a:noFill/>
        </p:spPr>
        <p:txBody>
          <a:bodyPr wrap="square" lIns="0" tIns="0" rIns="0" bIns="0" anchor="ctr">
            <a:spAutoFit/>
          </a:bodyPr>
          <a:lstStyle/>
          <a:p>
            <a:pPr algn="l"/>
            <a:r>
              <a:rPr sz="4400" b="0">
                <a:solidFill>
                  <a:srgbClr val="FF7B7B"/>
                </a:solidFill>
                <a:latin typeface="210 OmniGothic 050"/>
                <a:ea typeface="210 OmniGothic 050"/>
                <a:cs typeface="210 OmniGothic 050"/>
              </a:rPr>
              <a:t>08. 요구사항 추적표</a:t>
            </a:r>
          </a:p>
        </p:txBody>
      </p:sp>
      <p:sp>
        <p:nvSpPr>
          <p:cNvPr id="5526" name="Subtitle"/>
          <p:cNvSpPr txBox="1"/>
          <p:nvPr/>
        </p:nvSpPr>
        <p:spPr>
          <a:xfrm>
            <a:off x="822960" y="1764792"/>
            <a:ext cx="16642080" cy="502920"/>
          </a:xfrm>
          <a:prstGeom prst="rect">
            <a:avLst/>
          </a:prstGeom>
          <a:noFill/>
        </p:spPr>
        <p:txBody>
          <a:bodyPr wrap="square" lIns="0" tIns="0" rIns="0" bIns="0" anchor="ctr">
            <a:spAutoFit/>
          </a:bodyPr>
          <a:lstStyle/>
          <a:p>
            <a:pPr algn="ctr"/>
            <a:r>
              <a:rPr sz="2600" b="1">
                <a:solidFill>
                  <a:srgbClr val="FF0000"/>
                </a:solidFill>
                <a:latin typeface="210 OmniGothic 040"/>
                <a:ea typeface="210 OmniGothic 040"/>
                <a:cs typeface="210 OmniGothic 040"/>
              </a:rPr>
              <a:t>기능 요구사항 추적표 (4/4) — F-25 ~ F-32</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sz="quarter" idx="12"/>
          </p:nvPr>
        </p:nvSpPr>
        <p:spPr/>
        <p:txBody>
          <a:bodyPr/>
          <a:lstStyle/>
          <a:p>
            <a:fld id="{B6F15528-21DE-4FAA-801E-634DDDAF4B2B}" type="slidenum">
              <a:rPr lang="en-US" smtClean="0"/>
              <a:pPr/>
              <a:t>112</a:t>
            </a:fld>
            <a:endParaRPr lang="en-US"/>
          </a:p>
        </p:txBody>
      </p:sp>
      <p:graphicFrame>
        <p:nvGraphicFramePr>
          <p:cNvPr id="5527" name="Table 5526"/>
          <p:cNvGraphicFramePr>
            <a:graphicFrameLocks noGrp="1"/>
          </p:cNvGraphicFramePr>
          <p:nvPr/>
        </p:nvGraphicFramePr>
        <p:xfrm>
          <a:off x="822960" y="2496312"/>
          <a:ext cx="16459200" cy="4525760"/>
        </p:xfrm>
        <a:graphic>
          <a:graphicData uri="http://schemas.openxmlformats.org/drawingml/2006/table">
            <a:tbl>
              <a:tblPr>
                <a:tableStyleId>{2D5ABB26-0587-4C30-8999-92F81FD0307C}</a:tableStyleId>
              </a:tblPr>
              <a:tblGrid>
                <a:gridCol w="82296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3291840">
                  <a:extLst>
                    <a:ext uri="{9D8B030D-6E8A-4147-A177-3AD203B41FA5}">
                      <a16:colId xmlns:a16="http://schemas.microsoft.com/office/drawing/2014/main" val="20002"/>
                    </a:ext>
                  </a:extLst>
                </a:gridCol>
                <a:gridCol w="3657600">
                  <a:extLst>
                    <a:ext uri="{9D8B030D-6E8A-4147-A177-3AD203B41FA5}">
                      <a16:colId xmlns:a16="http://schemas.microsoft.com/office/drawing/2014/main" val="20003"/>
                    </a:ext>
                  </a:extLst>
                </a:gridCol>
                <a:gridCol w="2468880">
                  <a:extLst>
                    <a:ext uri="{9D8B030D-6E8A-4147-A177-3AD203B41FA5}">
                      <a16:colId xmlns:a16="http://schemas.microsoft.com/office/drawing/2014/main" val="20004"/>
                    </a:ext>
                  </a:extLst>
                </a:gridCol>
                <a:gridCol w="1371600">
                  <a:extLst>
                    <a:ext uri="{9D8B030D-6E8A-4147-A177-3AD203B41FA5}">
                      <a16:colId xmlns:a16="http://schemas.microsoft.com/office/drawing/2014/main" val="20005"/>
                    </a:ext>
                  </a:extLst>
                </a:gridCol>
                <a:gridCol w="1005840">
                  <a:extLst>
                    <a:ext uri="{9D8B030D-6E8A-4147-A177-3AD203B41FA5}">
                      <a16:colId xmlns:a16="http://schemas.microsoft.com/office/drawing/2014/main" val="20006"/>
                    </a:ext>
                  </a:extLst>
                </a:gridCol>
                <a:gridCol w="1097280">
                  <a:extLst>
                    <a:ext uri="{9D8B030D-6E8A-4147-A177-3AD203B41FA5}">
                      <a16:colId xmlns:a16="http://schemas.microsoft.com/office/drawing/2014/main" val="20007"/>
                    </a:ext>
                  </a:extLst>
                </a:gridCol>
              </a:tblGrid>
              <a:tr h="365760">
                <a:tc>
                  <a:txBody>
                    <a:bodyPr/>
                    <a:lstStyle/>
                    <a:p>
                      <a:pPr algn="ctr"/>
                      <a:r>
                        <a:rPr lang="ko-KR" sz="1200" b="1">
                          <a:solidFill>
                            <a:srgbClr val="FF7B7B"/>
                          </a:solidFill>
                          <a:latin typeface="210 OmniGothic 040"/>
                          <a:ea typeface="210 OmniGothic 040"/>
                          <a:cs typeface="210 OmniGothic 040"/>
                        </a:rPr>
                        <a:t>요구사항 ID</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tc>
                  <a:txBody>
                    <a:bodyPr/>
                    <a:lstStyle/>
                    <a:p>
                      <a:pPr algn="ctr"/>
                      <a:r>
                        <a:rPr lang="ko-KR" sz="1200" b="1">
                          <a:solidFill>
                            <a:srgbClr val="FF7B7B"/>
                          </a:solidFill>
                          <a:latin typeface="210 OmniGothic 040"/>
                          <a:ea typeface="210 OmniGothic 040"/>
                          <a:cs typeface="210 OmniGothic 040"/>
                        </a:rPr>
                        <a:t>요구사항</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tc>
                  <a:txBody>
                    <a:bodyPr/>
                    <a:lstStyle/>
                    <a:p>
                      <a:pPr algn="ctr"/>
                      <a:r>
                        <a:rPr lang="ko-KR" sz="1200" b="1">
                          <a:solidFill>
                            <a:srgbClr val="FF7B7B"/>
                          </a:solidFill>
                          <a:latin typeface="210 OmniGothic 040"/>
                          <a:ea typeface="210 OmniGothic 040"/>
                          <a:cs typeface="210 OmniGothic 040"/>
                        </a:rPr>
                        <a:t>유스케이스 (시퀀스 쪽)</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tc>
                  <a:txBody>
                    <a:bodyPr/>
                    <a:lstStyle/>
                    <a:p>
                      <a:pPr algn="ctr"/>
                      <a:r>
                        <a:rPr lang="ko-KR" sz="1200" b="1">
                          <a:solidFill>
                            <a:srgbClr val="FF7B7B"/>
                          </a:solidFill>
                          <a:latin typeface="210 OmniGothic 040"/>
                          <a:ea typeface="210 OmniGothic 040"/>
                          <a:cs typeface="210 OmniGothic 040"/>
                        </a:rPr>
                        <a:t>구현 모듈 (논리 컴포넌트)</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tc>
                  <a:txBody>
                    <a:bodyPr/>
                    <a:lstStyle/>
                    <a:p>
                      <a:pPr algn="ctr"/>
                      <a:r>
                        <a:rPr lang="ko-KR" sz="1200" b="1">
                          <a:solidFill>
                            <a:srgbClr val="FF7B7B"/>
                          </a:solidFill>
                          <a:latin typeface="210 OmniGothic 040"/>
                          <a:ea typeface="210 OmniGothic 040"/>
                          <a:cs typeface="210 OmniGothic 040"/>
                        </a:rPr>
                        <a:t>데이터 (테이블)</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tc>
                  <a:txBody>
                    <a:bodyPr/>
                    <a:lstStyle/>
                    <a:p>
                      <a:pPr algn="ctr"/>
                      <a:r>
                        <a:rPr lang="ko-KR" sz="1200" b="1">
                          <a:solidFill>
                            <a:srgbClr val="FF7B7B"/>
                          </a:solidFill>
                          <a:latin typeface="210 OmniGothic 040"/>
                          <a:ea typeface="210 OmniGothic 040"/>
                          <a:cs typeface="210 OmniGothic 040"/>
                        </a:rPr>
                        <a:t>검증</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tc>
                  <a:txBody>
                    <a:bodyPr/>
                    <a:lstStyle/>
                    <a:p>
                      <a:pPr algn="ctr"/>
                      <a:r>
                        <a:rPr lang="ko-KR" sz="1200" b="1">
                          <a:solidFill>
                            <a:srgbClr val="FF7B7B"/>
                          </a:solidFill>
                          <a:latin typeface="210 OmniGothic 040"/>
                          <a:ea typeface="210 OmniGothic 040"/>
                          <a:cs typeface="210 OmniGothic 040"/>
                        </a:rPr>
                        <a:t>테스트 결과</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tc>
                  <a:txBody>
                    <a:bodyPr/>
                    <a:lstStyle/>
                    <a:p>
                      <a:pPr algn="ctr"/>
                      <a:r>
                        <a:rPr lang="ko-KR" sz="1200" b="1">
                          <a:solidFill>
                            <a:srgbClr val="FF7B7B"/>
                          </a:solidFill>
                          <a:latin typeface="210 OmniGothic 040"/>
                          <a:ea typeface="210 OmniGothic 040"/>
                          <a:cs typeface="210 OmniGothic 040"/>
                        </a:rPr>
                        <a:t>상태</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extLst>
                  <a:ext uri="{0D108BD9-81ED-4DB2-BD59-A6C34878D82A}">
                    <a16:rowId xmlns:a16="http://schemas.microsoft.com/office/drawing/2014/main" val="10000"/>
                  </a:ext>
                </a:extLst>
              </a:tr>
              <a:tr h="520000">
                <a:tc>
                  <a:txBody>
                    <a:bodyPr/>
                    <a:lstStyle/>
                    <a:p>
                      <a:pPr algn="ctr"/>
                      <a:r>
                        <a:rPr lang="ko-KR" sz="1100" b="1">
                          <a:solidFill>
                            <a:srgbClr val="FF0000"/>
                          </a:solidFill>
                          <a:latin typeface="210 OmniGothic 040"/>
                          <a:ea typeface="210 OmniGothic 040"/>
                          <a:cs typeface="210 OmniGothic 040"/>
                        </a:rPr>
                        <a:t>F-25</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lang="ko-KR" sz="1100" b="1">
                          <a:solidFill>
                            <a:srgbClr val="FF0000"/>
                          </a:solidFill>
                          <a:latin typeface="210 OmniGothic 040"/>
                          <a:ea typeface="210 OmniGothic 040"/>
                          <a:cs typeface="210 OmniGothic 040"/>
                        </a:rPr>
                        <a:t>대피소 배정·분산 (E4)</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lang="ko-KR" sz="1100" b="0">
                          <a:solidFill>
                            <a:srgbClr val="FF0000"/>
                          </a:solidFill>
                          <a:latin typeface="210 OmniGothic 040"/>
                          <a:ea typeface="210 OmniGothic 040"/>
                          <a:cs typeface="210 OmniGothic 040"/>
                        </a:rPr>
                        <a:t>UC-PRED-01 (41·42)</a:t>
                      </a:r>
                    </a:p>
                    <a:p>
                      <a:pPr algn="l"/>
                      <a:r>
                        <a:rPr lang="ko-KR" sz="1100" b="0">
                          <a:solidFill>
                            <a:srgbClr val="FF0000"/>
                          </a:solidFill>
                          <a:latin typeface="210 OmniGothic 040"/>
                          <a:ea typeface="210 OmniGothic 040"/>
                          <a:cs typeface="210 OmniGothic 040"/>
                        </a:rPr>
                        <a:t>UC-PROP-02 (45)</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lang="ko-KR" sz="1100" b="0">
                          <a:solidFill>
                            <a:srgbClr val="FF0000"/>
                          </a:solidFill>
                          <a:latin typeface="210 OmniGothic 040"/>
                          <a:ea typeface="210 OmniGothic 040"/>
                          <a:cs typeface="210 OmniGothic 040"/>
                        </a:rPr>
                        <a:t>RuleEngine(judge_evac), ProposalOrchestrator, Retriever, LLMClient</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lang="ko-KR" sz="1100" b="0">
                          <a:solidFill>
                            <a:srgbClr val="FF0000"/>
                          </a:solidFill>
                          <a:latin typeface="210 OmniGothic 040"/>
                          <a:ea typeface="210 OmniGothic 040"/>
                          <a:cs typeface="210 OmniGothic 040"/>
                        </a:rPr>
                        <a:t>proposal_items, citations</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lang="ko-KR" sz="1100" b="0">
                          <a:solidFill>
                            <a:srgbClr val="FF0000"/>
                          </a:solidFill>
                          <a:latin typeface="210 OmniGothic 040"/>
                          <a:ea typeface="210 OmniGothic 040"/>
                          <a:cs typeface="210 OmniGothic 040"/>
                        </a:rPr>
                        <a:t>TER-001</a:t>
                      </a:r>
                    </a:p>
                    <a:p>
                      <a:pPr algn="ctr"/>
                      <a:r>
                        <a:rPr lang="ko-KR" sz="1100" b="0">
                          <a:solidFill>
                            <a:srgbClr val="FF0000"/>
                          </a:solidFill>
                          <a:latin typeface="210 OmniGothic 040"/>
                          <a:ea typeface="210 OmniGothic 040"/>
                          <a:cs typeface="210 OmniGothic 040"/>
                        </a:rPr>
                        <a:t>TER-002</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lang="ko-KR" sz="1100" b="0">
                          <a:solidFill>
                            <a:srgbClr val="FF0000"/>
                          </a:solidFill>
                          <a:latin typeface="210 OmniGothic 040"/>
                          <a:ea typeface="210 OmniGothic 040"/>
                          <a:cs typeface="210 OmniGothic 040"/>
                        </a:rPr>
                        <a:t>미수행</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lang="ko-KR" sz="1100" b="0">
                          <a:solidFill>
                            <a:srgbClr val="FF0000"/>
                          </a:solidFill>
                          <a:latin typeface="210 OmniGothic 040"/>
                          <a:ea typeface="210 OmniGothic 040"/>
                          <a:cs typeface="210 OmniGothic 040"/>
                        </a:rPr>
                        <a:t>설계 완료</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1"/>
                  </a:ext>
                </a:extLst>
              </a:tr>
              <a:tr h="520000">
                <a:tc>
                  <a:txBody>
                    <a:bodyPr/>
                    <a:lstStyle/>
                    <a:p>
                      <a:pPr algn="ctr"/>
                      <a:r>
                        <a:rPr lang="ko-KR" sz="1100" b="1">
                          <a:solidFill>
                            <a:srgbClr val="FF0000"/>
                          </a:solidFill>
                          <a:latin typeface="210 OmniGothic 040"/>
                          <a:ea typeface="210 OmniGothic 040"/>
                          <a:cs typeface="210 OmniGothic 040"/>
                        </a:rPr>
                        <a:t>F-26</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r>
                        <a:rPr lang="ko-KR" sz="1100" b="1">
                          <a:solidFill>
                            <a:srgbClr val="FF0000"/>
                          </a:solidFill>
                          <a:latin typeface="210 OmniGothic 040"/>
                          <a:ea typeface="210 OmniGothic 040"/>
                          <a:cs typeface="210 OmniGothic 040"/>
                        </a:rPr>
                        <a:t>대피 경로·교통통제 (E5)</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r>
                        <a:rPr lang="ko-KR" sz="1100" b="0">
                          <a:solidFill>
                            <a:srgbClr val="FF0000"/>
                          </a:solidFill>
                          <a:latin typeface="210 OmniGothic 040"/>
                          <a:ea typeface="210 OmniGothic 040"/>
                          <a:cs typeface="210 OmniGothic 040"/>
                        </a:rPr>
                        <a:t>UC-PRED-01 (41·42)</a:t>
                      </a:r>
                    </a:p>
                    <a:p>
                      <a:pPr algn="l"/>
                      <a:r>
                        <a:rPr lang="ko-KR" sz="1100" b="0">
                          <a:solidFill>
                            <a:srgbClr val="FF0000"/>
                          </a:solidFill>
                          <a:latin typeface="210 OmniGothic 040"/>
                          <a:ea typeface="210 OmniGothic 040"/>
                          <a:cs typeface="210 OmniGothic 040"/>
                        </a:rPr>
                        <a:t>UC-PROP-02 (45)</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r>
                        <a:rPr lang="ko-KR" sz="1100" b="0">
                          <a:solidFill>
                            <a:srgbClr val="FF0000"/>
                          </a:solidFill>
                          <a:latin typeface="210 OmniGothic 040"/>
                          <a:ea typeface="210 OmniGothic 040"/>
                          <a:cs typeface="210 OmniGothic 040"/>
                        </a:rPr>
                        <a:t>RuleEngine(judge_evac), ProposalOrchestrator, Retriever, LLMClient</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r>
                        <a:rPr lang="ko-KR" sz="1100" b="0">
                          <a:solidFill>
                            <a:srgbClr val="FF0000"/>
                          </a:solidFill>
                          <a:latin typeface="210 OmniGothic 040"/>
                          <a:ea typeface="210 OmniGothic 040"/>
                          <a:cs typeface="210 OmniGothic 040"/>
                        </a:rPr>
                        <a:t>proposal_items, citations</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ctr"/>
                      <a:r>
                        <a:rPr lang="ko-KR" sz="1100" b="0">
                          <a:solidFill>
                            <a:srgbClr val="FF0000"/>
                          </a:solidFill>
                          <a:latin typeface="210 OmniGothic 040"/>
                          <a:ea typeface="210 OmniGothic 040"/>
                          <a:cs typeface="210 OmniGothic 040"/>
                        </a:rPr>
                        <a:t>TER-001</a:t>
                      </a:r>
                    </a:p>
                    <a:p>
                      <a:pPr algn="ctr"/>
                      <a:r>
                        <a:rPr lang="ko-KR" sz="1100" b="0">
                          <a:solidFill>
                            <a:srgbClr val="FF0000"/>
                          </a:solidFill>
                          <a:latin typeface="210 OmniGothic 040"/>
                          <a:ea typeface="210 OmniGothic 040"/>
                          <a:cs typeface="210 OmniGothic 040"/>
                        </a:rPr>
                        <a:t>TER-002</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ctr"/>
                      <a:r>
                        <a:rPr lang="ko-KR" sz="1100" b="0">
                          <a:solidFill>
                            <a:srgbClr val="FF0000"/>
                          </a:solidFill>
                          <a:latin typeface="210 OmniGothic 040"/>
                          <a:ea typeface="210 OmniGothic 040"/>
                          <a:cs typeface="210 OmniGothic 040"/>
                        </a:rPr>
                        <a:t>미수행</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ctr"/>
                      <a:r>
                        <a:rPr lang="ko-KR" sz="1100" b="0">
                          <a:solidFill>
                            <a:srgbClr val="FF0000"/>
                          </a:solidFill>
                          <a:latin typeface="210 OmniGothic 040"/>
                          <a:ea typeface="210 OmniGothic 040"/>
                          <a:cs typeface="210 OmniGothic 040"/>
                        </a:rPr>
                        <a:t>설계 완료</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2"/>
                  </a:ext>
                </a:extLst>
              </a:tr>
              <a:tr h="520000">
                <a:tc>
                  <a:txBody>
                    <a:bodyPr/>
                    <a:lstStyle/>
                    <a:p>
                      <a:pPr algn="ctr"/>
                      <a:r>
                        <a:rPr lang="ko-KR" sz="1100" b="1">
                          <a:solidFill>
                            <a:srgbClr val="FF0000"/>
                          </a:solidFill>
                          <a:latin typeface="210 OmniGothic 040"/>
                          <a:ea typeface="210 OmniGothic 040"/>
                          <a:cs typeface="210 OmniGothic 040"/>
                        </a:rPr>
                        <a:t>F-27</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lang="ko-KR" sz="1100" b="1">
                          <a:solidFill>
                            <a:srgbClr val="FF0000"/>
                          </a:solidFill>
                          <a:latin typeface="210 OmniGothic 040"/>
                          <a:ea typeface="210 OmniGothic 040"/>
                          <a:cs typeface="210 OmniGothic 040"/>
                        </a:rPr>
                        <a:t>재난문자·방송 전파 제안 (E6)</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lang="ko-KR" sz="1100" b="0">
                          <a:solidFill>
                            <a:srgbClr val="FF0000"/>
                          </a:solidFill>
                          <a:latin typeface="210 OmniGothic 040"/>
                          <a:ea typeface="210 OmniGothic 040"/>
                          <a:cs typeface="210 OmniGothic 040"/>
                        </a:rPr>
                        <a:t>UC-PRED-01 (41·42)</a:t>
                      </a:r>
                    </a:p>
                    <a:p>
                      <a:pPr algn="l"/>
                      <a:r>
                        <a:rPr lang="ko-KR" sz="1100" b="0">
                          <a:solidFill>
                            <a:srgbClr val="FF0000"/>
                          </a:solidFill>
                          <a:latin typeface="210 OmniGothic 040"/>
                          <a:ea typeface="210 OmniGothic 040"/>
                          <a:cs typeface="210 OmniGothic 040"/>
                        </a:rPr>
                        <a:t>UC-PROP-02 (45)</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lang="ko-KR" sz="1100" b="0">
                          <a:solidFill>
                            <a:srgbClr val="FF0000"/>
                          </a:solidFill>
                          <a:latin typeface="210 OmniGothic 040"/>
                          <a:ea typeface="210 OmniGothic 040"/>
                          <a:cs typeface="210 OmniGothic 040"/>
                        </a:rPr>
                        <a:t>RuleEngine(judge_evac), ProposalOrchestrator, Retriever, LLMClient</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lang="ko-KR" sz="1100" b="0">
                          <a:solidFill>
                            <a:srgbClr val="FF0000"/>
                          </a:solidFill>
                          <a:latin typeface="210 OmniGothic 040"/>
                          <a:ea typeface="210 OmniGothic 040"/>
                          <a:cs typeface="210 OmniGothic 040"/>
                        </a:rPr>
                        <a:t>proposal_items, citations</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lang="ko-KR" sz="1100" b="0">
                          <a:solidFill>
                            <a:srgbClr val="FF0000"/>
                          </a:solidFill>
                          <a:latin typeface="210 OmniGothic 040"/>
                          <a:ea typeface="210 OmniGothic 040"/>
                          <a:cs typeface="210 OmniGothic 040"/>
                        </a:rPr>
                        <a:t>TER-001</a:t>
                      </a:r>
                    </a:p>
                    <a:p>
                      <a:pPr algn="ctr"/>
                      <a:r>
                        <a:rPr lang="ko-KR" sz="1100" b="0">
                          <a:solidFill>
                            <a:srgbClr val="FF0000"/>
                          </a:solidFill>
                          <a:latin typeface="210 OmniGothic 040"/>
                          <a:ea typeface="210 OmniGothic 040"/>
                          <a:cs typeface="210 OmniGothic 040"/>
                        </a:rPr>
                        <a:t>TER-002</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lang="ko-KR" sz="1100" b="0">
                          <a:solidFill>
                            <a:srgbClr val="FF0000"/>
                          </a:solidFill>
                          <a:latin typeface="210 OmniGothic 040"/>
                          <a:ea typeface="210 OmniGothic 040"/>
                          <a:cs typeface="210 OmniGothic 040"/>
                        </a:rPr>
                        <a:t>미수행</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lang="ko-KR" sz="1100" b="0">
                          <a:solidFill>
                            <a:srgbClr val="FF0000"/>
                          </a:solidFill>
                          <a:latin typeface="210 OmniGothic 040"/>
                          <a:ea typeface="210 OmniGothic 040"/>
                          <a:cs typeface="210 OmniGothic 040"/>
                        </a:rPr>
                        <a:t>설계 완료</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3"/>
                  </a:ext>
                </a:extLst>
              </a:tr>
              <a:tr h="520000">
                <a:tc>
                  <a:txBody>
                    <a:bodyPr/>
                    <a:lstStyle/>
                    <a:p>
                      <a:pPr algn="ctr"/>
                      <a:r>
                        <a:rPr lang="ko-KR" sz="1100" b="1">
                          <a:solidFill>
                            <a:srgbClr val="FF0000"/>
                          </a:solidFill>
                          <a:latin typeface="210 OmniGothic 040"/>
                          <a:ea typeface="210 OmniGothic 040"/>
                          <a:cs typeface="210 OmniGothic 040"/>
                        </a:rPr>
                        <a:t>F-28</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r>
                        <a:rPr lang="ko-KR" sz="1100" b="1">
                          <a:solidFill>
                            <a:srgbClr val="FF0000"/>
                          </a:solidFill>
                          <a:latin typeface="210 OmniGothic 040"/>
                          <a:ea typeface="210 OmniGothic 040"/>
                          <a:cs typeface="210 OmniGothic 040"/>
                        </a:rPr>
                        <a:t>인명구조·긴급구조 요청 (E7)</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r>
                        <a:rPr lang="ko-KR" sz="1100" b="0">
                          <a:solidFill>
                            <a:srgbClr val="FF0000"/>
                          </a:solidFill>
                          <a:latin typeface="210 OmniGothic 040"/>
                          <a:ea typeface="210 OmniGothic 040"/>
                          <a:cs typeface="210 OmniGothic 040"/>
                        </a:rPr>
                        <a:t>UC-PRED-01 (41·42)</a:t>
                      </a:r>
                    </a:p>
                    <a:p>
                      <a:pPr algn="l"/>
                      <a:r>
                        <a:rPr lang="ko-KR" sz="1100" b="0">
                          <a:solidFill>
                            <a:srgbClr val="FF0000"/>
                          </a:solidFill>
                          <a:latin typeface="210 OmniGothic 040"/>
                          <a:ea typeface="210 OmniGothic 040"/>
                          <a:cs typeface="210 OmniGothic 040"/>
                        </a:rPr>
                        <a:t>UC-PROP-02 (45)</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r>
                        <a:rPr lang="ko-KR" sz="1100" b="0">
                          <a:solidFill>
                            <a:srgbClr val="FF0000"/>
                          </a:solidFill>
                          <a:latin typeface="210 OmniGothic 040"/>
                          <a:ea typeface="210 OmniGothic 040"/>
                          <a:cs typeface="210 OmniGothic 040"/>
                        </a:rPr>
                        <a:t>RuleEngine(judge_evac), ProposalOrchestrator, Retriever, LLMClient</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r>
                        <a:rPr lang="ko-KR" sz="1100" b="0">
                          <a:solidFill>
                            <a:srgbClr val="FF0000"/>
                          </a:solidFill>
                          <a:latin typeface="210 OmniGothic 040"/>
                          <a:ea typeface="210 OmniGothic 040"/>
                          <a:cs typeface="210 OmniGothic 040"/>
                        </a:rPr>
                        <a:t>proposal_items, citations</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ctr"/>
                      <a:r>
                        <a:rPr lang="ko-KR" sz="1100" b="0">
                          <a:solidFill>
                            <a:srgbClr val="FF0000"/>
                          </a:solidFill>
                          <a:latin typeface="210 OmniGothic 040"/>
                          <a:ea typeface="210 OmniGothic 040"/>
                          <a:cs typeface="210 OmniGothic 040"/>
                        </a:rPr>
                        <a:t>TER-001</a:t>
                      </a:r>
                    </a:p>
                    <a:p>
                      <a:pPr algn="ctr"/>
                      <a:r>
                        <a:rPr lang="ko-KR" sz="1100" b="0">
                          <a:solidFill>
                            <a:srgbClr val="FF0000"/>
                          </a:solidFill>
                          <a:latin typeface="210 OmniGothic 040"/>
                          <a:ea typeface="210 OmniGothic 040"/>
                          <a:cs typeface="210 OmniGothic 040"/>
                        </a:rPr>
                        <a:t>TER-002</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ctr"/>
                      <a:r>
                        <a:rPr lang="ko-KR" sz="1100" b="0">
                          <a:solidFill>
                            <a:srgbClr val="FF0000"/>
                          </a:solidFill>
                          <a:latin typeface="210 OmniGothic 040"/>
                          <a:ea typeface="210 OmniGothic 040"/>
                          <a:cs typeface="210 OmniGothic 040"/>
                        </a:rPr>
                        <a:t>미수행</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ctr"/>
                      <a:r>
                        <a:rPr lang="ko-KR" sz="1100" b="0">
                          <a:solidFill>
                            <a:srgbClr val="FF0000"/>
                          </a:solidFill>
                          <a:latin typeface="210 OmniGothic 040"/>
                          <a:ea typeface="210 OmniGothic 040"/>
                          <a:cs typeface="210 OmniGothic 040"/>
                        </a:rPr>
                        <a:t>설계 완료</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4"/>
                  </a:ext>
                </a:extLst>
              </a:tr>
              <a:tr h="520000">
                <a:tc>
                  <a:txBody>
                    <a:bodyPr/>
                    <a:lstStyle/>
                    <a:p>
                      <a:pPr algn="ctr"/>
                      <a:r>
                        <a:rPr lang="ko-KR" sz="1100" b="1">
                          <a:solidFill>
                            <a:srgbClr val="FF0000"/>
                          </a:solidFill>
                          <a:latin typeface="210 OmniGothic 040"/>
                          <a:ea typeface="210 OmniGothic 040"/>
                          <a:cs typeface="210 OmniGothic 040"/>
                        </a:rPr>
                        <a:t>F-29</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lang="ko-KR" sz="1100" b="1">
                          <a:solidFill>
                            <a:srgbClr val="FF0000"/>
                          </a:solidFill>
                          <a:latin typeface="210 OmniGothic 040"/>
                          <a:ea typeface="210 OmniGothic 040"/>
                          <a:cs typeface="210 OmniGothic 040"/>
                        </a:rPr>
                        <a:t>AI 질의응답</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lang="ko-KR" sz="1100" b="0">
                          <a:solidFill>
                            <a:srgbClr val="FF0000"/>
                          </a:solidFill>
                          <a:latin typeface="210 OmniGothic 040"/>
                          <a:ea typeface="210 OmniGothic 040"/>
                          <a:cs typeface="210 OmniGothic 040"/>
                        </a:rPr>
                        <a:t>UC-QA-01 (46)</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lang="ko-KR" sz="1100" b="0">
                          <a:solidFill>
                            <a:srgbClr val="FF0000"/>
                          </a:solidFill>
                          <a:latin typeface="210 OmniGothic 040"/>
                          <a:ea typeface="210 OmniGothic 040"/>
                          <a:cs typeface="210 OmniGothic 040"/>
                        </a:rPr>
                        <a:t>ChatRouter(ask, quick_questions), AssistantService(answer), Retriever, LLMClient</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lang="ko-KR" sz="1100" b="0">
                          <a:solidFill>
                            <a:srgbClr val="FF0000"/>
                          </a:solidFill>
                          <a:latin typeface="210 OmniGothic 040"/>
                          <a:ea typeface="210 OmniGothic 040"/>
                          <a:cs typeface="210 OmniGothic 040"/>
                        </a:rPr>
                        <a:t>chat_messages, citations</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lang="ko-KR" sz="1100" b="0">
                          <a:solidFill>
                            <a:srgbClr val="FF0000"/>
                          </a:solidFill>
                          <a:latin typeface="210 OmniGothic 040"/>
                          <a:ea typeface="210 OmniGothic 040"/>
                          <a:cs typeface="210 OmniGothic 040"/>
                        </a:rPr>
                        <a:t>TER-001</a:t>
                      </a:r>
                    </a:p>
                    <a:p>
                      <a:pPr algn="ctr"/>
                      <a:r>
                        <a:rPr lang="ko-KR" sz="1100" b="0">
                          <a:solidFill>
                            <a:srgbClr val="FF0000"/>
                          </a:solidFill>
                          <a:latin typeface="210 OmniGothic 040"/>
                          <a:ea typeface="210 OmniGothic 040"/>
                          <a:cs typeface="210 OmniGothic 040"/>
                        </a:rPr>
                        <a:t>TER-002</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lang="ko-KR" sz="1100" b="0">
                          <a:solidFill>
                            <a:srgbClr val="FF0000"/>
                          </a:solidFill>
                          <a:latin typeface="210 OmniGothic 040"/>
                          <a:ea typeface="210 OmniGothic 040"/>
                          <a:cs typeface="210 OmniGothic 040"/>
                        </a:rPr>
                        <a:t>미수행</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lang="ko-KR" sz="1100" b="0">
                          <a:solidFill>
                            <a:srgbClr val="FF0000"/>
                          </a:solidFill>
                          <a:latin typeface="210 OmniGothic 040"/>
                          <a:ea typeface="210 OmniGothic 040"/>
                          <a:cs typeface="210 OmniGothic 040"/>
                        </a:rPr>
                        <a:t>설계 완료</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5"/>
                  </a:ext>
                </a:extLst>
              </a:tr>
              <a:tr h="520000">
                <a:tc>
                  <a:txBody>
                    <a:bodyPr/>
                    <a:lstStyle/>
                    <a:p>
                      <a:pPr algn="ctr"/>
                      <a:r>
                        <a:rPr lang="ko-KR" sz="1100" b="1">
                          <a:solidFill>
                            <a:srgbClr val="FF0000"/>
                          </a:solidFill>
                          <a:latin typeface="210 OmniGothic 040"/>
                          <a:ea typeface="210 OmniGothic 040"/>
                          <a:cs typeface="210 OmniGothic 040"/>
                        </a:rPr>
                        <a:t>F-30</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r>
                        <a:rPr lang="ko-KR" sz="1100" b="1">
                          <a:solidFill>
                            <a:srgbClr val="FF0000"/>
                          </a:solidFill>
                          <a:latin typeface="210 OmniGothic 040"/>
                          <a:ea typeface="210 OmniGothic 040"/>
                          <a:cs typeface="210 OmniGothic 040"/>
                        </a:rPr>
                        <a:t>AI 상황 정정 요청</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r>
                        <a:rPr lang="ko-KR" sz="1100" b="0">
                          <a:solidFill>
                            <a:srgbClr val="FF0000"/>
                          </a:solidFill>
                          <a:latin typeface="210 OmniGothic 040"/>
                          <a:ea typeface="210 OmniGothic 040"/>
                          <a:cs typeface="210 OmniGothic 040"/>
                        </a:rPr>
                        <a:t>UC-QA-02 (47)</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r>
                        <a:rPr lang="ko-KR" sz="1100" b="0">
                          <a:solidFill>
                            <a:srgbClr val="FF0000"/>
                          </a:solidFill>
                          <a:latin typeface="210 OmniGothic 040"/>
                          <a:ea typeface="210 OmniGothic 040"/>
                          <a:cs typeface="210 OmniGothic 040"/>
                        </a:rPr>
                        <a:t>ChatRouter(confirm_correction), AssistantService(propose_correction, apply_correction), ProposalOrchestrator, RuleEngine</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r>
                        <a:rPr lang="ko-KR" sz="1100" b="0">
                          <a:solidFill>
                            <a:srgbClr val="FF0000"/>
                          </a:solidFill>
                          <a:latin typeface="210 OmniGothic 040"/>
                          <a:ea typeface="210 OmniGothic 040"/>
                          <a:cs typeface="210 OmniGothic 040"/>
                        </a:rPr>
                        <a:t>situation_corrections, proposals</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ctr"/>
                      <a:r>
                        <a:rPr lang="ko-KR" sz="1100" b="0">
                          <a:solidFill>
                            <a:srgbClr val="FF0000"/>
                          </a:solidFill>
                          <a:latin typeface="210 OmniGothic 040"/>
                          <a:ea typeface="210 OmniGothic 040"/>
                          <a:cs typeface="210 OmniGothic 040"/>
                        </a:rPr>
                        <a:t>TER-001</a:t>
                      </a:r>
                    </a:p>
                    <a:p>
                      <a:pPr algn="ctr"/>
                      <a:r>
                        <a:rPr lang="ko-KR" sz="1100" b="0">
                          <a:solidFill>
                            <a:srgbClr val="FF0000"/>
                          </a:solidFill>
                          <a:latin typeface="210 OmniGothic 040"/>
                          <a:ea typeface="210 OmniGothic 040"/>
                          <a:cs typeface="210 OmniGothic 040"/>
                        </a:rPr>
                        <a:t>TER-002</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ctr"/>
                      <a:r>
                        <a:rPr lang="ko-KR" sz="1100" b="0">
                          <a:solidFill>
                            <a:srgbClr val="FF0000"/>
                          </a:solidFill>
                          <a:latin typeface="210 OmniGothic 040"/>
                          <a:ea typeface="210 OmniGothic 040"/>
                          <a:cs typeface="210 OmniGothic 040"/>
                        </a:rPr>
                        <a:t>미수행</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ctr"/>
                      <a:r>
                        <a:rPr lang="ko-KR" sz="1100" b="0">
                          <a:solidFill>
                            <a:srgbClr val="FF0000"/>
                          </a:solidFill>
                          <a:latin typeface="210 OmniGothic 040"/>
                          <a:ea typeface="210 OmniGothic 040"/>
                          <a:cs typeface="210 OmniGothic 040"/>
                        </a:rPr>
                        <a:t>설계 완료</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6"/>
                  </a:ext>
                </a:extLst>
              </a:tr>
              <a:tr h="520000">
                <a:tc>
                  <a:txBody>
                    <a:bodyPr/>
                    <a:lstStyle/>
                    <a:p>
                      <a:pPr algn="ctr"/>
                      <a:r>
                        <a:rPr lang="ko-KR" sz="1100" b="1">
                          <a:solidFill>
                            <a:srgbClr val="FF0000"/>
                          </a:solidFill>
                          <a:latin typeface="210 OmniGothic 040"/>
                          <a:ea typeface="210 OmniGothic 040"/>
                          <a:cs typeface="210 OmniGothic 040"/>
                        </a:rPr>
                        <a:t>F-31</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lang="ko-KR" sz="1100" b="1">
                          <a:solidFill>
                            <a:srgbClr val="FF0000"/>
                          </a:solidFill>
                          <a:latin typeface="210 OmniGothic 040"/>
                          <a:ea typeface="210 OmniGothic 040"/>
                          <a:cs typeface="210 OmniGothic 040"/>
                        </a:rPr>
                        <a:t>진화자원 데이터 관리</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lang="ko-KR" sz="1100" b="0">
                          <a:solidFill>
                            <a:srgbClr val="FF0000"/>
                          </a:solidFill>
                          <a:latin typeface="210 OmniGothic 040"/>
                          <a:ea typeface="210 OmniGothic 040"/>
                          <a:cs typeface="210 OmniGothic 040"/>
                        </a:rPr>
                        <a:t>UC-ADMIN-02 (49)</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lang="ko-KR" sz="1100" b="0">
                          <a:solidFill>
                            <a:srgbClr val="FF0000"/>
                          </a:solidFill>
                          <a:latin typeface="210 OmniGothic 040"/>
                          <a:ea typeface="210 OmniGothic 040"/>
                          <a:cs typeface="210 OmniGothic 040"/>
                        </a:rPr>
                        <a:t>AdminRouter(save_resource, delete_resource)</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lang="ko-KR" sz="1100" b="0">
                          <a:solidFill>
                            <a:srgbClr val="FF0000"/>
                          </a:solidFill>
                          <a:latin typeface="210 OmniGothic 040"/>
                          <a:ea typeface="210 OmniGothic 040"/>
                          <a:cs typeface="210 OmniGothic 040"/>
                        </a:rPr>
                        <a:t>resources</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lang="ko-KR" sz="1100" b="0">
                          <a:solidFill>
                            <a:srgbClr val="FF0000"/>
                          </a:solidFill>
                          <a:latin typeface="210 OmniGothic 040"/>
                          <a:ea typeface="210 OmniGothic 040"/>
                          <a:cs typeface="210 OmniGothic 040"/>
                        </a:rPr>
                        <a:t>TER-001</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lang="ko-KR" sz="1100" b="0">
                          <a:solidFill>
                            <a:srgbClr val="FF0000"/>
                          </a:solidFill>
                          <a:latin typeface="210 OmniGothic 040"/>
                          <a:ea typeface="210 OmniGothic 040"/>
                          <a:cs typeface="210 OmniGothic 040"/>
                        </a:rPr>
                        <a:t>미수행</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lang="ko-KR" sz="1100" b="0">
                          <a:solidFill>
                            <a:srgbClr val="FF0000"/>
                          </a:solidFill>
                          <a:latin typeface="210 OmniGothic 040"/>
                          <a:ea typeface="210 OmniGothic 040"/>
                          <a:cs typeface="210 OmniGothic 040"/>
                        </a:rPr>
                        <a:t>설계 완료</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7"/>
                  </a:ext>
                </a:extLst>
              </a:tr>
              <a:tr h="520000">
                <a:tc>
                  <a:txBody>
                    <a:bodyPr/>
                    <a:lstStyle/>
                    <a:p>
                      <a:pPr algn="ctr"/>
                      <a:r>
                        <a:rPr lang="ko-KR" sz="1100" b="1">
                          <a:solidFill>
                            <a:srgbClr val="FF0000"/>
                          </a:solidFill>
                          <a:latin typeface="210 OmniGothic 040"/>
                          <a:ea typeface="210 OmniGothic 040"/>
                          <a:cs typeface="210 OmniGothic 040"/>
                        </a:rPr>
                        <a:t>F-32</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r>
                        <a:rPr lang="ko-KR" sz="1100" b="1">
                          <a:solidFill>
                            <a:srgbClr val="FF0000"/>
                          </a:solidFill>
                          <a:latin typeface="210 OmniGothic 040"/>
                          <a:ea typeface="210 OmniGothic 040"/>
                          <a:cs typeface="210 OmniGothic 040"/>
                        </a:rPr>
                        <a:t>이벤트 로그</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r>
                        <a:rPr lang="ko-KR" sz="1100" b="0">
                          <a:solidFill>
                            <a:srgbClr val="FF0000"/>
                          </a:solidFill>
                          <a:latin typeface="210 OmniGothic 040"/>
                          <a:ea typeface="210 OmniGothic 040"/>
                          <a:cs typeface="210 OmniGothic 040"/>
                        </a:rPr>
                        <a:t>전 유스케이스 (36~49)</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r>
                        <a:rPr lang="ko-KR" sz="1100" b="0">
                          <a:solidFill>
                            <a:srgbClr val="FF0000"/>
                          </a:solidFill>
                          <a:latin typeface="210 OmniGothic 040"/>
                          <a:ea typeface="210 OmniGothic 040"/>
                          <a:cs typeface="210 OmniGothic 040"/>
                        </a:rPr>
                        <a:t>EventLogger(record), ProposalRouter(list_events)</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r>
                        <a:rPr lang="ko-KR" sz="1100" b="0">
                          <a:solidFill>
                            <a:srgbClr val="FF0000"/>
                          </a:solidFill>
                          <a:latin typeface="210 OmniGothic 040"/>
                          <a:ea typeface="210 OmniGothic 040"/>
                          <a:cs typeface="210 OmniGothic 040"/>
                        </a:rPr>
                        <a:t>event_logs</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ctr"/>
                      <a:r>
                        <a:rPr lang="ko-KR" sz="1100" b="0">
                          <a:solidFill>
                            <a:srgbClr val="FF0000"/>
                          </a:solidFill>
                          <a:latin typeface="210 OmniGothic 040"/>
                          <a:ea typeface="210 OmniGothic 040"/>
                          <a:cs typeface="210 OmniGothic 040"/>
                        </a:rPr>
                        <a:t>TER-001</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ctr"/>
                      <a:r>
                        <a:rPr lang="ko-KR" sz="1100" b="0">
                          <a:solidFill>
                            <a:srgbClr val="FF0000"/>
                          </a:solidFill>
                          <a:latin typeface="210 OmniGothic 040"/>
                          <a:ea typeface="210 OmniGothic 040"/>
                          <a:cs typeface="210 OmniGothic 040"/>
                        </a:rPr>
                        <a:t>미수행</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ctr"/>
                      <a:r>
                        <a:rPr lang="ko-KR" sz="1100" b="0">
                          <a:solidFill>
                            <a:srgbClr val="FF0000"/>
                          </a:solidFill>
                          <a:latin typeface="210 OmniGothic 040"/>
                          <a:ea typeface="210 OmniGothic 040"/>
                          <a:cs typeface="210 OmniGothic 040"/>
                        </a:rPr>
                        <a:t>설계 완료</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8"/>
                  </a:ext>
                </a:extLst>
              </a:tr>
            </a:tbl>
          </a:graphicData>
        </a:graphic>
      </p:graphicFrame>
      <p:sp>
        <p:nvSpPr>
          <p:cNvPr id="9301" name="Note 9301"/>
          <p:cNvSpPr txBox="1"/>
          <p:nvPr/>
        </p:nvSpPr>
        <p:spPr>
          <a:xfrm>
            <a:off x="822960" y="8000000"/>
            <a:ext cx="16459200" cy="310896"/>
          </a:xfrm>
          <a:prstGeom prst="rect">
            <a:avLst/>
          </a:prstGeom>
          <a:noFill/>
        </p:spPr>
        <p:txBody>
          <a:bodyPr wrap="square" lIns="0" tIns="0" rIns="0" bIns="0" anchor="t">
            <a:spAutoFit/>
          </a:bodyPr>
          <a:lstStyle/>
          <a:p>
            <a:pPr algn="l"/>
            <a:r>
              <a:rPr sz="1150" b="0">
                <a:solidFill>
                  <a:srgbClr val="FF0000"/>
                </a:solidFill>
                <a:latin typeface="210 OmniGothic 030"/>
                <a:ea typeface="210 OmniGothic 030"/>
                <a:cs typeface="210 OmniGothic 030"/>
              </a:rPr>
              <a:t>※ 요구사항 ID·요구사항은 기능 목록(12~14쪽), 유스케이스·시퀀스 쪽은 16~49쪽, 구현 모듈은 클래스 다이어그램(61~64쪽), 데이터는 관계형 데이터베이스(70쪽), 검증은 TER-001(기능·통합 테스트)·TER-002(AI 모델 평가) 기준입니다.</a:t>
            </a:r>
          </a:p>
        </p:txBody>
      </p:sp>
      <p:sp>
        <p:nvSpPr>
          <p:cNvPr id="9302" name="Note 9302"/>
          <p:cNvSpPr txBox="1"/>
          <p:nvPr/>
        </p:nvSpPr>
        <p:spPr>
          <a:xfrm>
            <a:off x="822960" y="8329184"/>
            <a:ext cx="16459200" cy="310896"/>
          </a:xfrm>
          <a:prstGeom prst="rect">
            <a:avLst/>
          </a:prstGeom>
          <a:noFill/>
        </p:spPr>
        <p:txBody>
          <a:bodyPr wrap="square" lIns="0" tIns="0" rIns="0" bIns="0" anchor="t">
            <a:spAutoFit/>
          </a:bodyPr>
          <a:lstStyle/>
          <a:p>
            <a:pPr algn="l"/>
            <a:r>
              <a:rPr sz="1150" b="0">
                <a:solidFill>
                  <a:srgbClr val="FF0000"/>
                </a:solidFill>
                <a:latin typeface="210 OmniGothic 030"/>
                <a:ea typeface="210 OmniGothic 030"/>
                <a:cs typeface="210 OmniGothic 030"/>
              </a:rPr>
              <a:t>※ 테스트 케이스 ID는 테스트 사양서 작성 시 부여하며, 구현·시험이 진행되면 테스트 결과(미수행 → Pass/Fail)와 상태를 갱신합니다.</a:t>
            </a: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21"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700" y="-12700"/>
            <a:ext cx="18313400" cy="1638300"/>
          </a:xfrm>
          <a:prstGeom prst="rect">
            <a:avLst/>
          </a:prstGeom>
        </p:spPr>
      </p:pic>
      <p:pic>
        <p:nvPicPr>
          <p:cNvPr id="5522"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28" y="1618343"/>
            <a:ext cx="18313400" cy="8699500"/>
          </a:xfrm>
          <a:prstGeom prst="rect">
            <a:avLst/>
          </a:prstGeom>
        </p:spPr>
      </p:pic>
      <p:pic>
        <p:nvPicPr>
          <p:cNvPr id="5523"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58800" y="9271000"/>
            <a:ext cx="17170400" cy="50800"/>
          </a:xfrm>
          <a:prstGeom prst="rect">
            <a:avLst/>
          </a:prstGeom>
        </p:spPr>
      </p:pic>
      <p:pic>
        <p:nvPicPr>
          <p:cNvPr id="5524" name="Picture 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278100" y="203200"/>
            <a:ext cx="1676400" cy="1409700"/>
          </a:xfrm>
          <a:prstGeom prst="rect">
            <a:avLst/>
          </a:prstGeom>
        </p:spPr>
      </p:pic>
      <p:sp>
        <p:nvSpPr>
          <p:cNvPr id="5525" name="Title"/>
          <p:cNvSpPr txBox="1"/>
          <p:nvPr/>
        </p:nvSpPr>
        <p:spPr>
          <a:xfrm>
            <a:off x="822960" y="384048"/>
            <a:ext cx="13258800" cy="877824"/>
          </a:xfrm>
          <a:prstGeom prst="rect">
            <a:avLst/>
          </a:prstGeom>
          <a:noFill/>
        </p:spPr>
        <p:txBody>
          <a:bodyPr wrap="square" lIns="0" tIns="0" rIns="0" bIns="0" anchor="ctr">
            <a:spAutoFit/>
          </a:bodyPr>
          <a:lstStyle/>
          <a:p>
            <a:pPr algn="l"/>
            <a:r>
              <a:rPr sz="4400" b="0">
                <a:solidFill>
                  <a:srgbClr val="FF7B7B"/>
                </a:solidFill>
                <a:latin typeface="210 OmniGothic 050"/>
                <a:ea typeface="210 OmniGothic 050"/>
                <a:cs typeface="210 OmniGothic 050"/>
              </a:rPr>
              <a:t>08. 요구사항 추적표</a:t>
            </a:r>
          </a:p>
        </p:txBody>
      </p:sp>
      <p:sp>
        <p:nvSpPr>
          <p:cNvPr id="5526" name="Subtitle"/>
          <p:cNvSpPr txBox="1"/>
          <p:nvPr/>
        </p:nvSpPr>
        <p:spPr>
          <a:xfrm>
            <a:off x="822960" y="1764792"/>
            <a:ext cx="16642080" cy="502920"/>
          </a:xfrm>
          <a:prstGeom prst="rect">
            <a:avLst/>
          </a:prstGeom>
          <a:noFill/>
        </p:spPr>
        <p:txBody>
          <a:bodyPr wrap="square" lIns="0" tIns="0" rIns="0" bIns="0" anchor="ctr">
            <a:spAutoFit/>
          </a:bodyPr>
          <a:lstStyle/>
          <a:p>
            <a:pPr algn="ctr"/>
            <a:r>
              <a:rPr sz="2600" b="1">
                <a:solidFill>
                  <a:srgbClr val="FF0000"/>
                </a:solidFill>
                <a:latin typeface="210 OmniGothic 040"/>
                <a:ea typeface="210 OmniGothic 040"/>
                <a:cs typeface="210 OmniGothic 040"/>
              </a:rPr>
              <a:t>비기능 요구사항 추적표 (1/3) — INR-001 ~ PER-002</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sz="quarter" idx="12"/>
          </p:nvPr>
        </p:nvSpPr>
        <p:spPr/>
        <p:txBody>
          <a:bodyPr/>
          <a:lstStyle/>
          <a:p>
            <a:fld id="{B6F15528-21DE-4FAA-801E-634DDDAF4B2B}" type="slidenum">
              <a:rPr lang="en-US" smtClean="0"/>
              <a:pPr/>
              <a:t>113</a:t>
            </a:fld>
            <a:endParaRPr lang="en-US"/>
          </a:p>
        </p:txBody>
      </p:sp>
      <p:graphicFrame>
        <p:nvGraphicFramePr>
          <p:cNvPr id="5527" name="Table 5526"/>
          <p:cNvGraphicFramePr>
            <a:graphicFrameLocks noGrp="1"/>
          </p:cNvGraphicFramePr>
          <p:nvPr/>
        </p:nvGraphicFramePr>
        <p:xfrm>
          <a:off x="822960" y="2496312"/>
          <a:ext cx="16459200" cy="4525760"/>
        </p:xfrm>
        <a:graphic>
          <a:graphicData uri="http://schemas.openxmlformats.org/drawingml/2006/table">
            <a:tbl>
              <a:tblPr>
                <a:tableStyleId>{2D5ABB26-0587-4C30-8999-92F81FD0307C}</a:tableStyleId>
              </a:tblPr>
              <a:tblGrid>
                <a:gridCol w="100584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2651760">
                  <a:extLst>
                    <a:ext uri="{9D8B030D-6E8A-4147-A177-3AD203B41FA5}">
                      <a16:colId xmlns:a16="http://schemas.microsoft.com/office/drawing/2014/main" val="20003"/>
                    </a:ext>
                  </a:extLst>
                </a:gridCol>
                <a:gridCol w="4572000">
                  <a:extLst>
                    <a:ext uri="{9D8B030D-6E8A-4147-A177-3AD203B41FA5}">
                      <a16:colId xmlns:a16="http://schemas.microsoft.com/office/drawing/2014/main" val="20004"/>
                    </a:ext>
                  </a:extLst>
                </a:gridCol>
                <a:gridCol w="1280160">
                  <a:extLst>
                    <a:ext uri="{9D8B030D-6E8A-4147-A177-3AD203B41FA5}">
                      <a16:colId xmlns:a16="http://schemas.microsoft.com/office/drawing/2014/main" val="20005"/>
                    </a:ext>
                  </a:extLst>
                </a:gridCol>
                <a:gridCol w="1371600">
                  <a:extLst>
                    <a:ext uri="{9D8B030D-6E8A-4147-A177-3AD203B41FA5}">
                      <a16:colId xmlns:a16="http://schemas.microsoft.com/office/drawing/2014/main" val="20006"/>
                    </a:ext>
                  </a:extLst>
                </a:gridCol>
                <a:gridCol w="1188720">
                  <a:extLst>
                    <a:ext uri="{9D8B030D-6E8A-4147-A177-3AD203B41FA5}">
                      <a16:colId xmlns:a16="http://schemas.microsoft.com/office/drawing/2014/main" val="20007"/>
                    </a:ext>
                  </a:extLst>
                </a:gridCol>
              </a:tblGrid>
              <a:tr h="365760">
                <a:tc>
                  <a:txBody>
                    <a:bodyPr/>
                    <a:lstStyle/>
                    <a:p>
                      <a:pPr algn="ctr"/>
                      <a:r>
                        <a:rPr lang="ko-KR" sz="1200" b="1">
                          <a:solidFill>
                            <a:srgbClr val="FF7B7B"/>
                          </a:solidFill>
                          <a:latin typeface="210 OmniGothic 040"/>
                          <a:ea typeface="210 OmniGothic 040"/>
                          <a:cs typeface="210 OmniGothic 040"/>
                        </a:rPr>
                        <a:t>요구사항 ID</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tc>
                  <a:txBody>
                    <a:bodyPr/>
                    <a:lstStyle/>
                    <a:p>
                      <a:pPr algn="ctr"/>
                      <a:r>
                        <a:rPr lang="ko-KR" sz="1200" b="1">
                          <a:solidFill>
                            <a:srgbClr val="FF7B7B"/>
                          </a:solidFill>
                          <a:latin typeface="210 OmniGothic 040"/>
                          <a:ea typeface="210 OmniGothic 040"/>
                          <a:cs typeface="210 OmniGothic 040"/>
                        </a:rPr>
                        <a:t>요구사항</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tc>
                  <a:txBody>
                    <a:bodyPr/>
                    <a:lstStyle/>
                    <a:p>
                      <a:pPr algn="ctr"/>
                      <a:r>
                        <a:rPr lang="ko-KR" sz="1200" b="1">
                          <a:solidFill>
                            <a:srgbClr val="FF7B7B"/>
                          </a:solidFill>
                          <a:latin typeface="210 OmniGothic 040"/>
                          <a:ea typeface="210 OmniGothic 040"/>
                          <a:cs typeface="210 OmniGothic 040"/>
                        </a:rPr>
                        <a:t>분류</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tc>
                  <a:txBody>
                    <a:bodyPr/>
                    <a:lstStyle/>
                    <a:p>
                      <a:pPr algn="ctr"/>
                      <a:r>
                        <a:rPr lang="ko-KR" sz="1200" b="1">
                          <a:solidFill>
                            <a:srgbClr val="FF7B7B"/>
                          </a:solidFill>
                          <a:latin typeface="210 OmniGothic 040"/>
                          <a:ea typeface="210 OmniGothic 040"/>
                          <a:cs typeface="210 OmniGothic 040"/>
                        </a:rPr>
                        <a:t>관련 기능 요구사항</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tc>
                  <a:txBody>
                    <a:bodyPr/>
                    <a:lstStyle/>
                    <a:p>
                      <a:pPr algn="ctr"/>
                      <a:r>
                        <a:rPr lang="ko-KR" sz="1200" b="1">
                          <a:solidFill>
                            <a:srgbClr val="FF7B7B"/>
                          </a:solidFill>
                          <a:latin typeface="210 OmniGothic 040"/>
                          <a:ea typeface="210 OmniGothic 040"/>
                          <a:cs typeface="210 OmniGothic 040"/>
                        </a:rPr>
                        <a:t>설계 반영 (쪽·구성)</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tc>
                  <a:txBody>
                    <a:bodyPr/>
                    <a:lstStyle/>
                    <a:p>
                      <a:pPr algn="ctr"/>
                      <a:r>
                        <a:rPr lang="ko-KR" sz="1200" b="1">
                          <a:solidFill>
                            <a:srgbClr val="FF7B7B"/>
                          </a:solidFill>
                          <a:latin typeface="210 OmniGothic 040"/>
                          <a:ea typeface="210 OmniGothic 040"/>
                          <a:cs typeface="210 OmniGothic 040"/>
                        </a:rPr>
                        <a:t>검증</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tc>
                  <a:txBody>
                    <a:bodyPr/>
                    <a:lstStyle/>
                    <a:p>
                      <a:pPr algn="ctr"/>
                      <a:r>
                        <a:rPr lang="ko-KR" sz="1200" b="1">
                          <a:solidFill>
                            <a:srgbClr val="FF7B7B"/>
                          </a:solidFill>
                          <a:latin typeface="210 OmniGothic 040"/>
                          <a:ea typeface="210 OmniGothic 040"/>
                          <a:cs typeface="210 OmniGothic 040"/>
                        </a:rPr>
                        <a:t>테스트 결과</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tc>
                  <a:txBody>
                    <a:bodyPr/>
                    <a:lstStyle/>
                    <a:p>
                      <a:pPr algn="ctr"/>
                      <a:r>
                        <a:rPr lang="ko-KR" sz="1200" b="1">
                          <a:solidFill>
                            <a:srgbClr val="FF7B7B"/>
                          </a:solidFill>
                          <a:latin typeface="210 OmniGothic 040"/>
                          <a:ea typeface="210 OmniGothic 040"/>
                          <a:cs typeface="210 OmniGothic 040"/>
                        </a:rPr>
                        <a:t>상태</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extLst>
                  <a:ext uri="{0D108BD9-81ED-4DB2-BD59-A6C34878D82A}">
                    <a16:rowId xmlns:a16="http://schemas.microsoft.com/office/drawing/2014/main" val="10000"/>
                  </a:ext>
                </a:extLst>
              </a:tr>
              <a:tr h="520000">
                <a:tc>
                  <a:txBody>
                    <a:bodyPr/>
                    <a:lstStyle/>
                    <a:p>
                      <a:pPr algn="ctr"/>
                      <a:r>
                        <a:rPr lang="ko-KR" sz="1100" b="1">
                          <a:solidFill>
                            <a:srgbClr val="FF0000"/>
                          </a:solidFill>
                          <a:latin typeface="210 OmniGothic 040"/>
                          <a:ea typeface="210 OmniGothic 040"/>
                          <a:cs typeface="210 OmniGothic 040"/>
                        </a:rPr>
                        <a:t>INR-001</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lang="ko-KR" sz="1100" b="1">
                          <a:solidFill>
                            <a:srgbClr val="FF0000"/>
                          </a:solidFill>
                          <a:latin typeface="210 OmniGothic 040"/>
                          <a:ea typeface="210 OmniGothic 040"/>
                          <a:cs typeface="210 OmniGothic 040"/>
                        </a:rPr>
                        <a:t>UI/UX 화면 설계</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lang="ko-KR" sz="1100" b="0">
                          <a:solidFill>
                            <a:srgbClr val="FF0000"/>
                          </a:solidFill>
                          <a:latin typeface="210 OmniGothic 040"/>
                          <a:ea typeface="210 OmniGothic 040"/>
                          <a:cs typeface="210 OmniGothic 040"/>
                        </a:rPr>
                        <a:t>인터페이스</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lang="ko-KR" sz="1100" b="0">
                          <a:solidFill>
                            <a:srgbClr val="FF0000"/>
                          </a:solidFill>
                          <a:latin typeface="210 OmniGothic 040"/>
                          <a:ea typeface="210 OmniGothic 040"/>
                          <a:cs typeface="210 OmniGothic 040"/>
                        </a:rPr>
                        <a:t>F-04~F-08, F-12, F-13</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lang="ko-KR" sz="1100" b="0">
                          <a:solidFill>
                            <a:srgbClr val="FF0000"/>
                          </a:solidFill>
                          <a:latin typeface="210 OmniGothic 040"/>
                          <a:ea typeface="210 OmniGothic 040"/>
                          <a:cs typeface="210 OmniGothic 040"/>
                        </a:rPr>
                        <a:t>화면 설계서·UI 목업, 시퀀스 39~47쪽</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lang="ko-KR" sz="1100" b="0">
                          <a:solidFill>
                            <a:srgbClr val="FF0000"/>
                          </a:solidFill>
                          <a:latin typeface="210 OmniGothic 040"/>
                          <a:ea typeface="210 OmniGothic 040"/>
                          <a:cs typeface="210 OmniGothic 040"/>
                        </a:rPr>
                        <a:t>TER-001</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lang="ko-KR" sz="1100" b="0">
                          <a:solidFill>
                            <a:srgbClr val="FF0000"/>
                          </a:solidFill>
                          <a:latin typeface="210 OmniGothic 040"/>
                          <a:ea typeface="210 OmniGothic 040"/>
                          <a:cs typeface="210 OmniGothic 040"/>
                        </a:rPr>
                        <a:t>미수행</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lang="ko-KR" sz="1100" b="0">
                          <a:solidFill>
                            <a:srgbClr val="FF0000"/>
                          </a:solidFill>
                          <a:latin typeface="210 OmniGothic 040"/>
                          <a:ea typeface="210 OmniGothic 040"/>
                          <a:cs typeface="210 OmniGothic 040"/>
                        </a:rPr>
                        <a:t>설계 완료</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1"/>
                  </a:ext>
                </a:extLst>
              </a:tr>
              <a:tr h="520000">
                <a:tc>
                  <a:txBody>
                    <a:bodyPr/>
                    <a:lstStyle/>
                    <a:p>
                      <a:pPr algn="ctr"/>
                      <a:r>
                        <a:rPr lang="ko-KR" sz="1100" b="1">
                          <a:solidFill>
                            <a:srgbClr val="FF0000"/>
                          </a:solidFill>
                          <a:latin typeface="210 OmniGothic 040"/>
                          <a:ea typeface="210 OmniGothic 040"/>
                          <a:cs typeface="210 OmniGothic 040"/>
                        </a:rPr>
                        <a:t>INR-002</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r>
                        <a:rPr lang="ko-KR" sz="1100" b="1">
                          <a:solidFill>
                            <a:srgbClr val="FF0000"/>
                          </a:solidFill>
                          <a:latin typeface="210 OmniGothic 040"/>
                          <a:ea typeface="210 OmniGothic 040"/>
                          <a:cs typeface="210 OmniGothic 040"/>
                        </a:rPr>
                        <a:t>외부 시스템 인터페이스 정의</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ctr"/>
                      <a:r>
                        <a:rPr lang="ko-KR" sz="1100" b="0">
                          <a:solidFill>
                            <a:srgbClr val="FF0000"/>
                          </a:solidFill>
                          <a:latin typeface="210 OmniGothic 040"/>
                          <a:ea typeface="210 OmniGothic 040"/>
                          <a:cs typeface="210 OmniGothic 040"/>
                        </a:rPr>
                        <a:t>인터페이스</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r>
                        <a:rPr lang="ko-KR" sz="1100" b="0">
                          <a:solidFill>
                            <a:srgbClr val="FF0000"/>
                          </a:solidFill>
                          <a:latin typeface="210 OmniGothic 040"/>
                          <a:ea typeface="210 OmniGothic 040"/>
                          <a:cs typeface="210 OmniGothic 040"/>
                        </a:rPr>
                        <a:t>F-02, F-09</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r>
                        <a:rPr lang="ko-KR" sz="1100" b="0">
                          <a:solidFill>
                            <a:srgbClr val="FF0000"/>
                          </a:solidFill>
                          <a:latin typeface="210 OmniGothic 040"/>
                          <a:ea typeface="210 OmniGothic 040"/>
                          <a:cs typeface="210 OmniGothic 040"/>
                        </a:rPr>
                        <a:t>API 명세서, 시스템 구성도 8쪽, 시퀀스 37·41쪽</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ctr"/>
                      <a:r>
                        <a:rPr lang="ko-KR" sz="1100" b="0">
                          <a:solidFill>
                            <a:srgbClr val="FF0000"/>
                          </a:solidFill>
                          <a:latin typeface="210 OmniGothic 040"/>
                          <a:ea typeface="210 OmniGothic 040"/>
                          <a:cs typeface="210 OmniGothic 040"/>
                        </a:rPr>
                        <a:t>TER-001</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ctr"/>
                      <a:r>
                        <a:rPr lang="ko-KR" sz="1100" b="0">
                          <a:solidFill>
                            <a:srgbClr val="FF0000"/>
                          </a:solidFill>
                          <a:latin typeface="210 OmniGothic 040"/>
                          <a:ea typeface="210 OmniGothic 040"/>
                          <a:cs typeface="210 OmniGothic 040"/>
                        </a:rPr>
                        <a:t>미수행</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ctr"/>
                      <a:r>
                        <a:rPr lang="ko-KR" sz="1100" b="0">
                          <a:solidFill>
                            <a:srgbClr val="FF0000"/>
                          </a:solidFill>
                          <a:latin typeface="210 OmniGothic 040"/>
                          <a:ea typeface="210 OmniGothic 040"/>
                          <a:cs typeface="210 OmniGothic 040"/>
                        </a:rPr>
                        <a:t>설계 완료</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2"/>
                  </a:ext>
                </a:extLst>
              </a:tr>
              <a:tr h="520000">
                <a:tc>
                  <a:txBody>
                    <a:bodyPr/>
                    <a:lstStyle/>
                    <a:p>
                      <a:pPr algn="ctr"/>
                      <a:r>
                        <a:rPr lang="ko-KR" sz="1100" b="1">
                          <a:solidFill>
                            <a:srgbClr val="FF0000"/>
                          </a:solidFill>
                          <a:latin typeface="210 OmniGothic 040"/>
                          <a:ea typeface="210 OmniGothic 040"/>
                          <a:cs typeface="210 OmniGothic 040"/>
                        </a:rPr>
                        <a:t>INR-003</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lang="ko-KR" sz="1100" b="1">
                          <a:solidFill>
                            <a:srgbClr val="FF0000"/>
                          </a:solidFill>
                          <a:latin typeface="210 OmniGothic 040"/>
                          <a:ea typeface="210 OmniGothic 040"/>
                          <a:cs typeface="210 OmniGothic 040"/>
                        </a:rPr>
                        <a:t>사용자 단말 환경</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lang="ko-KR" sz="1100" b="0">
                          <a:solidFill>
                            <a:srgbClr val="FF0000"/>
                          </a:solidFill>
                          <a:latin typeface="210 OmniGothic 040"/>
                          <a:ea typeface="210 OmniGothic 040"/>
                          <a:cs typeface="210 OmniGothic 040"/>
                        </a:rPr>
                        <a:t>인터페이스</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lang="ko-KR" sz="1100" b="0">
                          <a:solidFill>
                            <a:srgbClr val="FF0000"/>
                          </a:solidFill>
                          <a:latin typeface="210 OmniGothic 040"/>
                          <a:ea typeface="210 OmniGothic 040"/>
                          <a:cs typeface="210 OmniGothic 040"/>
                        </a:rPr>
                        <a:t>전체</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lang="ko-KR" sz="1100" b="0">
                          <a:solidFill>
                            <a:srgbClr val="FF0000"/>
                          </a:solidFill>
                          <a:latin typeface="210 OmniGothic 040"/>
                          <a:ea typeface="210 OmniGothic 040"/>
                          <a:cs typeface="210 OmniGothic 040"/>
                        </a:rPr>
                        <a:t>브라우저·해상도 기준 (82쪽)</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lang="ko-KR" sz="1100" b="0">
                          <a:solidFill>
                            <a:srgbClr val="FF0000"/>
                          </a:solidFill>
                          <a:latin typeface="210 OmniGothic 040"/>
                          <a:ea typeface="210 OmniGothic 040"/>
                          <a:cs typeface="210 OmniGothic 040"/>
                        </a:rPr>
                        <a:t>호환성 시험</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lang="ko-KR" sz="1100" b="0">
                          <a:solidFill>
                            <a:srgbClr val="FF0000"/>
                          </a:solidFill>
                          <a:latin typeface="210 OmniGothic 040"/>
                          <a:ea typeface="210 OmniGothic 040"/>
                          <a:cs typeface="210 OmniGothic 040"/>
                        </a:rPr>
                        <a:t>미수행</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lang="ko-KR" sz="1100" b="0">
                          <a:solidFill>
                            <a:srgbClr val="FF0000"/>
                          </a:solidFill>
                          <a:latin typeface="210 OmniGothic 040"/>
                          <a:ea typeface="210 OmniGothic 040"/>
                          <a:cs typeface="210 OmniGothic 040"/>
                        </a:rPr>
                        <a:t>설계 완료</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3"/>
                  </a:ext>
                </a:extLst>
              </a:tr>
              <a:tr h="520000">
                <a:tc>
                  <a:txBody>
                    <a:bodyPr/>
                    <a:lstStyle/>
                    <a:p>
                      <a:pPr algn="ctr"/>
                      <a:r>
                        <a:rPr lang="ko-KR" sz="1100" b="1">
                          <a:solidFill>
                            <a:srgbClr val="FF0000"/>
                          </a:solidFill>
                          <a:latin typeface="210 OmniGothic 040"/>
                          <a:ea typeface="210 OmniGothic 040"/>
                          <a:cs typeface="210 OmniGothic 040"/>
                        </a:rPr>
                        <a:t>ECR-001</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r>
                        <a:rPr lang="ko-KR" sz="1100" b="1">
                          <a:solidFill>
                            <a:srgbClr val="FF0000"/>
                          </a:solidFill>
                          <a:latin typeface="210 OmniGothic 040"/>
                          <a:ea typeface="210 OmniGothic 040"/>
                          <a:cs typeface="210 OmniGothic 040"/>
                        </a:rPr>
                        <a:t>GPU 서버: 예측·AI 추론</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ctr"/>
                      <a:r>
                        <a:rPr lang="ko-KR" sz="1100" b="0">
                          <a:solidFill>
                            <a:srgbClr val="FF0000"/>
                          </a:solidFill>
                          <a:latin typeface="210 OmniGothic 040"/>
                          <a:ea typeface="210 OmniGothic 040"/>
                          <a:cs typeface="210 OmniGothic 040"/>
                        </a:rPr>
                        <a:t>시스템 장비</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r>
                        <a:rPr lang="ko-KR" sz="1100" b="0">
                          <a:solidFill>
                            <a:srgbClr val="FF0000"/>
                          </a:solidFill>
                          <a:latin typeface="210 OmniGothic 040"/>
                          <a:ea typeface="210 OmniGothic 040"/>
                          <a:cs typeface="210 OmniGothic 040"/>
                        </a:rPr>
                        <a:t>F-09, F-11, F-29, F-30</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r>
                        <a:rPr lang="ko-KR" sz="1100" b="0">
                          <a:solidFill>
                            <a:srgbClr val="FF0000"/>
                          </a:solidFill>
                          <a:latin typeface="210 OmniGothic 040"/>
                          <a:ea typeface="210 OmniGothic 040"/>
                          <a:cs typeface="210 OmniGothic 040"/>
                        </a:rPr>
                        <a:t>시스템 구성도 8쪽, 장비 요구사항 83쪽</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ctr"/>
                      <a:r>
                        <a:rPr lang="ko-KR" sz="1100" b="0">
                          <a:solidFill>
                            <a:srgbClr val="FF0000"/>
                          </a:solidFill>
                          <a:latin typeface="210 OmniGothic 040"/>
                          <a:ea typeface="210 OmniGothic 040"/>
                          <a:cs typeface="210 OmniGothic 040"/>
                        </a:rPr>
                        <a:t>구성 점검</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ctr"/>
                      <a:r>
                        <a:rPr lang="ko-KR" sz="1100" b="0">
                          <a:solidFill>
                            <a:srgbClr val="FF0000"/>
                          </a:solidFill>
                          <a:latin typeface="210 OmniGothic 040"/>
                          <a:ea typeface="210 OmniGothic 040"/>
                          <a:cs typeface="210 OmniGothic 040"/>
                        </a:rPr>
                        <a:t>미수행</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ctr"/>
                      <a:r>
                        <a:rPr lang="ko-KR" sz="1100" b="0">
                          <a:solidFill>
                            <a:srgbClr val="FF0000"/>
                          </a:solidFill>
                          <a:latin typeface="210 OmniGothic 040"/>
                          <a:ea typeface="210 OmniGothic 040"/>
                          <a:cs typeface="210 OmniGothic 040"/>
                        </a:rPr>
                        <a:t>설계 완료</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4"/>
                  </a:ext>
                </a:extLst>
              </a:tr>
              <a:tr h="520000">
                <a:tc>
                  <a:txBody>
                    <a:bodyPr/>
                    <a:lstStyle/>
                    <a:p>
                      <a:pPr algn="ctr"/>
                      <a:r>
                        <a:rPr lang="ko-KR" sz="1100" b="1">
                          <a:solidFill>
                            <a:srgbClr val="FF0000"/>
                          </a:solidFill>
                          <a:latin typeface="210 OmniGothic 040"/>
                          <a:ea typeface="210 OmniGothic 040"/>
                          <a:cs typeface="210 OmniGothic 040"/>
                        </a:rPr>
                        <a:t>ECR-002</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lang="ko-KR" sz="1100" b="1">
                          <a:solidFill>
                            <a:srgbClr val="FF0000"/>
                          </a:solidFill>
                          <a:latin typeface="210 OmniGothic 040"/>
                          <a:ea typeface="210 OmniGothic 040"/>
                          <a:cs typeface="210 OmniGothic 040"/>
                        </a:rPr>
                        <a:t>서비스 서버</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lang="ko-KR" sz="1100" b="0">
                          <a:solidFill>
                            <a:srgbClr val="FF0000"/>
                          </a:solidFill>
                          <a:latin typeface="210 OmniGothic 040"/>
                          <a:ea typeface="210 OmniGothic 040"/>
                          <a:cs typeface="210 OmniGothic 040"/>
                        </a:rPr>
                        <a:t>시스템 장비</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lang="ko-KR" sz="1100" b="0">
                          <a:solidFill>
                            <a:srgbClr val="FF0000"/>
                          </a:solidFill>
                          <a:latin typeface="210 OmniGothic 040"/>
                          <a:ea typeface="210 OmniGothic 040"/>
                          <a:cs typeface="210 OmniGothic 040"/>
                        </a:rPr>
                        <a:t>전체</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lang="ko-KR" sz="1100" b="0">
                          <a:solidFill>
                            <a:srgbClr val="FF0000"/>
                          </a:solidFill>
                          <a:latin typeface="210 OmniGothic 040"/>
                          <a:ea typeface="210 OmniGothic 040"/>
                          <a:cs typeface="210 OmniGothic 040"/>
                        </a:rPr>
                        <a:t>시스템 구성도 8쪽, 장비 요구사항 84쪽</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lang="ko-KR" sz="1100" b="0">
                          <a:solidFill>
                            <a:srgbClr val="FF0000"/>
                          </a:solidFill>
                          <a:latin typeface="210 OmniGothic 040"/>
                          <a:ea typeface="210 OmniGothic 040"/>
                          <a:cs typeface="210 OmniGothic 040"/>
                        </a:rPr>
                        <a:t>구성 점검</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lang="ko-KR" sz="1100" b="0">
                          <a:solidFill>
                            <a:srgbClr val="FF0000"/>
                          </a:solidFill>
                          <a:latin typeface="210 OmniGothic 040"/>
                          <a:ea typeface="210 OmniGothic 040"/>
                          <a:cs typeface="210 OmniGothic 040"/>
                        </a:rPr>
                        <a:t>미수행</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lang="ko-KR" sz="1100" b="0">
                          <a:solidFill>
                            <a:srgbClr val="FF0000"/>
                          </a:solidFill>
                          <a:latin typeface="210 OmniGothic 040"/>
                          <a:ea typeface="210 OmniGothic 040"/>
                          <a:cs typeface="210 OmniGothic 040"/>
                        </a:rPr>
                        <a:t>설계 완료</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5"/>
                  </a:ext>
                </a:extLst>
              </a:tr>
              <a:tr h="520000">
                <a:tc>
                  <a:txBody>
                    <a:bodyPr/>
                    <a:lstStyle/>
                    <a:p>
                      <a:pPr algn="ctr"/>
                      <a:r>
                        <a:rPr lang="ko-KR" sz="1100" b="1">
                          <a:solidFill>
                            <a:srgbClr val="FF0000"/>
                          </a:solidFill>
                          <a:latin typeface="210 OmniGothic 040"/>
                          <a:ea typeface="210 OmniGothic 040"/>
                          <a:cs typeface="210 OmniGothic 040"/>
                        </a:rPr>
                        <a:t>ECR-003</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r>
                        <a:rPr lang="ko-KR" sz="1100" b="1">
                          <a:solidFill>
                            <a:srgbClr val="FF0000"/>
                          </a:solidFill>
                          <a:latin typeface="210 OmniGothic 040"/>
                          <a:ea typeface="210 OmniGothic 040"/>
                          <a:cs typeface="210 OmniGothic 040"/>
                        </a:rPr>
                        <a:t>데이터베이스</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ctr"/>
                      <a:r>
                        <a:rPr lang="ko-KR" sz="1100" b="0">
                          <a:solidFill>
                            <a:srgbClr val="FF0000"/>
                          </a:solidFill>
                          <a:latin typeface="210 OmniGothic 040"/>
                          <a:ea typeface="210 OmniGothic 040"/>
                          <a:cs typeface="210 OmniGothic 040"/>
                        </a:rPr>
                        <a:t>시스템 장비</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r>
                        <a:rPr lang="ko-KR" sz="1100" b="0">
                          <a:solidFill>
                            <a:srgbClr val="FF0000"/>
                          </a:solidFill>
                          <a:latin typeface="210 OmniGothic 040"/>
                          <a:ea typeface="210 OmniGothic 040"/>
                          <a:cs typeface="210 OmniGothic 040"/>
                        </a:rPr>
                        <a:t>F-02~F-05, F-14, F-32</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r>
                        <a:rPr lang="ko-KR" sz="1100" b="0">
                          <a:solidFill>
                            <a:srgbClr val="FF0000"/>
                          </a:solidFill>
                          <a:latin typeface="210 OmniGothic 040"/>
                          <a:ea typeface="210 OmniGothic 040"/>
                          <a:cs typeface="210 OmniGothic 040"/>
                        </a:rPr>
                        <a:t>관계형 데이터베이스 70~77쪽 (ERD·테이블)</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ctr"/>
                      <a:r>
                        <a:rPr lang="ko-KR" sz="1100" b="0">
                          <a:solidFill>
                            <a:srgbClr val="FF0000"/>
                          </a:solidFill>
                          <a:latin typeface="210 OmniGothic 040"/>
                          <a:ea typeface="210 OmniGothic 040"/>
                          <a:cs typeface="210 OmniGothic 040"/>
                        </a:rPr>
                        <a:t>구성 점검</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ctr"/>
                      <a:r>
                        <a:rPr lang="ko-KR" sz="1100" b="0">
                          <a:solidFill>
                            <a:srgbClr val="FF0000"/>
                          </a:solidFill>
                          <a:latin typeface="210 OmniGothic 040"/>
                          <a:ea typeface="210 OmniGothic 040"/>
                          <a:cs typeface="210 OmniGothic 040"/>
                        </a:rPr>
                        <a:t>미수행</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ctr"/>
                      <a:r>
                        <a:rPr lang="ko-KR" sz="1100" b="0">
                          <a:solidFill>
                            <a:srgbClr val="FF0000"/>
                          </a:solidFill>
                          <a:latin typeface="210 OmniGothic 040"/>
                          <a:ea typeface="210 OmniGothic 040"/>
                          <a:cs typeface="210 OmniGothic 040"/>
                        </a:rPr>
                        <a:t>설계 완료</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6"/>
                  </a:ext>
                </a:extLst>
              </a:tr>
              <a:tr h="520000">
                <a:tc>
                  <a:txBody>
                    <a:bodyPr/>
                    <a:lstStyle/>
                    <a:p>
                      <a:pPr algn="ctr"/>
                      <a:r>
                        <a:rPr lang="ko-KR" sz="1100" b="1">
                          <a:solidFill>
                            <a:srgbClr val="FF0000"/>
                          </a:solidFill>
                          <a:latin typeface="210 OmniGothic 040"/>
                          <a:ea typeface="210 OmniGothic 040"/>
                          <a:cs typeface="210 OmniGothic 040"/>
                        </a:rPr>
                        <a:t>PER-001</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lang="ko-KR" sz="1100" b="1">
                          <a:solidFill>
                            <a:srgbClr val="FF0000"/>
                          </a:solidFill>
                          <a:latin typeface="210 OmniGothic 040"/>
                          <a:ea typeface="210 OmniGothic 040"/>
                          <a:cs typeface="210 OmniGothic 040"/>
                        </a:rPr>
                        <a:t>예측·제안 갱신 시간</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lang="ko-KR" sz="1100" b="0">
                          <a:solidFill>
                            <a:srgbClr val="FF0000"/>
                          </a:solidFill>
                          <a:latin typeface="210 OmniGothic 040"/>
                          <a:ea typeface="210 OmniGothic 040"/>
                          <a:cs typeface="210 OmniGothic 040"/>
                        </a:rPr>
                        <a:t>성능</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lang="ko-KR" sz="1100" b="0">
                          <a:solidFill>
                            <a:srgbClr val="FF0000"/>
                          </a:solidFill>
                          <a:latin typeface="210 OmniGothic 040"/>
                          <a:ea typeface="210 OmniGothic 040"/>
                          <a:cs typeface="210 OmniGothic 040"/>
                        </a:rPr>
                        <a:t>F-09, F-11, F-30</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lang="ko-KR" sz="1100" b="0">
                          <a:solidFill>
                            <a:srgbClr val="FF0000"/>
                          </a:solidFill>
                          <a:latin typeface="210 OmniGothic 040"/>
                          <a:ea typeface="210 OmniGothic 040"/>
                          <a:cs typeface="210 OmniGothic 040"/>
                        </a:rPr>
                        <a:t>시퀀스 41·42·47쪽</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lang="ko-KR" sz="1100" b="0">
                          <a:solidFill>
                            <a:srgbClr val="FF0000"/>
                          </a:solidFill>
                          <a:latin typeface="210 OmniGothic 040"/>
                          <a:ea typeface="210 OmniGothic 040"/>
                          <a:cs typeface="210 OmniGothic 040"/>
                        </a:rPr>
                        <a:t>성능 측정</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lang="ko-KR" sz="1100" b="0">
                          <a:solidFill>
                            <a:srgbClr val="FF0000"/>
                          </a:solidFill>
                          <a:latin typeface="210 OmniGothic 040"/>
                          <a:ea typeface="210 OmniGothic 040"/>
                          <a:cs typeface="210 OmniGothic 040"/>
                        </a:rPr>
                        <a:t>미수행</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lang="ko-KR" sz="1100" b="0">
                          <a:solidFill>
                            <a:srgbClr val="FF0000"/>
                          </a:solidFill>
                          <a:latin typeface="210 OmniGothic 040"/>
                          <a:ea typeface="210 OmniGothic 040"/>
                          <a:cs typeface="210 OmniGothic 040"/>
                        </a:rPr>
                        <a:t>설계 완료</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7"/>
                  </a:ext>
                </a:extLst>
              </a:tr>
              <a:tr h="520000">
                <a:tc>
                  <a:txBody>
                    <a:bodyPr/>
                    <a:lstStyle/>
                    <a:p>
                      <a:pPr algn="ctr"/>
                      <a:r>
                        <a:rPr lang="ko-KR" sz="1100" b="1">
                          <a:solidFill>
                            <a:srgbClr val="FF0000"/>
                          </a:solidFill>
                          <a:latin typeface="210 OmniGothic 040"/>
                          <a:ea typeface="210 OmniGothic 040"/>
                          <a:cs typeface="210 OmniGothic 040"/>
                        </a:rPr>
                        <a:t>PER-002</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r>
                        <a:rPr lang="ko-KR" sz="1100" b="1">
                          <a:solidFill>
                            <a:srgbClr val="FF0000"/>
                          </a:solidFill>
                          <a:latin typeface="210 OmniGothic 040"/>
                          <a:ea typeface="210 OmniGothic 040"/>
                          <a:cs typeface="210 OmniGothic 040"/>
                        </a:rPr>
                        <a:t>화면 응답 시간</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ctr"/>
                      <a:r>
                        <a:rPr lang="ko-KR" sz="1100" b="0">
                          <a:solidFill>
                            <a:srgbClr val="FF0000"/>
                          </a:solidFill>
                          <a:latin typeface="210 OmniGothic 040"/>
                          <a:ea typeface="210 OmniGothic 040"/>
                          <a:cs typeface="210 OmniGothic 040"/>
                        </a:rPr>
                        <a:t>성능</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r>
                        <a:rPr lang="ko-KR" sz="1100" b="0">
                          <a:solidFill>
                            <a:srgbClr val="FF0000"/>
                          </a:solidFill>
                          <a:latin typeface="210 OmniGothic 040"/>
                          <a:ea typeface="210 OmniGothic 040"/>
                          <a:cs typeface="210 OmniGothic 040"/>
                        </a:rPr>
                        <a:t>F-05, F-12, F-13, F-29</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r>
                        <a:rPr lang="ko-KR" sz="1100" b="0">
                          <a:solidFill>
                            <a:srgbClr val="FF0000"/>
                          </a:solidFill>
                          <a:latin typeface="210 OmniGothic 040"/>
                          <a:ea typeface="210 OmniGothic 040"/>
                          <a:cs typeface="210 OmniGothic 040"/>
                        </a:rPr>
                        <a:t>시퀀스 40·44~46쪽</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ctr"/>
                      <a:r>
                        <a:rPr lang="ko-KR" sz="1100" b="0">
                          <a:solidFill>
                            <a:srgbClr val="FF0000"/>
                          </a:solidFill>
                          <a:latin typeface="210 OmniGothic 040"/>
                          <a:ea typeface="210 OmniGothic 040"/>
                          <a:cs typeface="210 OmniGothic 040"/>
                        </a:rPr>
                        <a:t>성능 측정</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ctr"/>
                      <a:r>
                        <a:rPr lang="ko-KR" sz="1100" b="0">
                          <a:solidFill>
                            <a:srgbClr val="FF0000"/>
                          </a:solidFill>
                          <a:latin typeface="210 OmniGothic 040"/>
                          <a:ea typeface="210 OmniGothic 040"/>
                          <a:cs typeface="210 OmniGothic 040"/>
                        </a:rPr>
                        <a:t>미수행</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ctr"/>
                      <a:r>
                        <a:rPr lang="ko-KR" sz="1100" b="0">
                          <a:solidFill>
                            <a:srgbClr val="FF0000"/>
                          </a:solidFill>
                          <a:latin typeface="210 OmniGothic 040"/>
                          <a:ea typeface="210 OmniGothic 040"/>
                          <a:cs typeface="210 OmniGothic 040"/>
                        </a:rPr>
                        <a:t>설계 완료</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8"/>
                  </a:ext>
                </a:extLst>
              </a:tr>
            </a:tbl>
          </a:graphicData>
        </a:graphic>
      </p:graphicFrame>
      <p:sp>
        <p:nvSpPr>
          <p:cNvPr id="9303" name="Note 9303"/>
          <p:cNvSpPr txBox="1"/>
          <p:nvPr/>
        </p:nvSpPr>
        <p:spPr>
          <a:xfrm>
            <a:off x="822960" y="8000000"/>
            <a:ext cx="16459200" cy="310896"/>
          </a:xfrm>
          <a:prstGeom prst="rect">
            <a:avLst/>
          </a:prstGeom>
          <a:noFill/>
        </p:spPr>
        <p:txBody>
          <a:bodyPr wrap="square" lIns="0" tIns="0" rIns="0" bIns="0" anchor="t">
            <a:spAutoFit/>
          </a:bodyPr>
          <a:lstStyle/>
          <a:p>
            <a:pPr algn="l"/>
            <a:r>
              <a:rPr sz="1150" b="0">
                <a:solidFill>
                  <a:srgbClr val="FF0000"/>
                </a:solidFill>
                <a:latin typeface="210 OmniGothic 030"/>
                <a:ea typeface="210 OmniGothic 030"/>
                <a:cs typeface="210 OmniGothic 030"/>
              </a:rPr>
              <a:t>※ 비기능 요구사항 ID·요구사항은 80~102쪽, 관련 기능 요구사항은 기능 요구사항 추적표(F-ID), 검증은 TER-001·TER-002 또는 구현 후 별도 시험(성능 측정·구성 점검·호환성 시험·사용성 점검) 기준입니다.</a:t>
            </a:r>
          </a:p>
        </p:txBody>
      </p:sp>
      <p:sp>
        <p:nvSpPr>
          <p:cNvPr id="9304" name="Note 9304"/>
          <p:cNvSpPr txBox="1"/>
          <p:nvPr/>
        </p:nvSpPr>
        <p:spPr>
          <a:xfrm>
            <a:off x="822960" y="8329184"/>
            <a:ext cx="16459200" cy="310896"/>
          </a:xfrm>
          <a:prstGeom prst="rect">
            <a:avLst/>
          </a:prstGeom>
          <a:noFill/>
        </p:spPr>
        <p:txBody>
          <a:bodyPr wrap="square" lIns="0" tIns="0" rIns="0" bIns="0" anchor="t">
            <a:spAutoFit/>
          </a:bodyPr>
          <a:lstStyle/>
          <a:p>
            <a:pPr algn="l"/>
            <a:r>
              <a:rPr sz="1150" b="0">
                <a:solidFill>
                  <a:srgbClr val="FF0000"/>
                </a:solidFill>
                <a:latin typeface="210 OmniGothic 030"/>
                <a:ea typeface="210 OmniGothic 030"/>
                <a:cs typeface="210 OmniGothic 030"/>
              </a:rPr>
              <a:t>※ 테스트 케이스 ID는 테스트 사양서 작성 시 부여하며, 구현·시험이 진행되면 테스트 결과(미수행 → Pass/Fail)와 상태를 갱신합니다.</a:t>
            </a: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21"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700" y="-12700"/>
            <a:ext cx="18313400" cy="1638300"/>
          </a:xfrm>
          <a:prstGeom prst="rect">
            <a:avLst/>
          </a:prstGeom>
        </p:spPr>
      </p:pic>
      <p:pic>
        <p:nvPicPr>
          <p:cNvPr id="5522"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28" y="1618343"/>
            <a:ext cx="18313400" cy="8699500"/>
          </a:xfrm>
          <a:prstGeom prst="rect">
            <a:avLst/>
          </a:prstGeom>
        </p:spPr>
      </p:pic>
      <p:pic>
        <p:nvPicPr>
          <p:cNvPr id="5523"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58800" y="9271000"/>
            <a:ext cx="17170400" cy="50800"/>
          </a:xfrm>
          <a:prstGeom prst="rect">
            <a:avLst/>
          </a:prstGeom>
        </p:spPr>
      </p:pic>
      <p:pic>
        <p:nvPicPr>
          <p:cNvPr id="5524" name="Picture 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278100" y="203200"/>
            <a:ext cx="1676400" cy="1409700"/>
          </a:xfrm>
          <a:prstGeom prst="rect">
            <a:avLst/>
          </a:prstGeom>
        </p:spPr>
      </p:pic>
      <p:sp>
        <p:nvSpPr>
          <p:cNvPr id="5525" name="Title"/>
          <p:cNvSpPr txBox="1"/>
          <p:nvPr/>
        </p:nvSpPr>
        <p:spPr>
          <a:xfrm>
            <a:off x="822960" y="384048"/>
            <a:ext cx="13258800" cy="877824"/>
          </a:xfrm>
          <a:prstGeom prst="rect">
            <a:avLst/>
          </a:prstGeom>
          <a:noFill/>
        </p:spPr>
        <p:txBody>
          <a:bodyPr wrap="square" lIns="0" tIns="0" rIns="0" bIns="0" anchor="ctr">
            <a:spAutoFit/>
          </a:bodyPr>
          <a:lstStyle/>
          <a:p>
            <a:pPr algn="l"/>
            <a:r>
              <a:rPr sz="4400" b="0">
                <a:solidFill>
                  <a:srgbClr val="FF7B7B"/>
                </a:solidFill>
                <a:latin typeface="210 OmniGothic 050"/>
                <a:ea typeface="210 OmniGothic 050"/>
                <a:cs typeface="210 OmniGothic 050"/>
              </a:rPr>
              <a:t>08. 요구사항 추적표</a:t>
            </a:r>
          </a:p>
        </p:txBody>
      </p:sp>
      <p:sp>
        <p:nvSpPr>
          <p:cNvPr id="5526" name="Subtitle"/>
          <p:cNvSpPr txBox="1"/>
          <p:nvPr/>
        </p:nvSpPr>
        <p:spPr>
          <a:xfrm>
            <a:off x="822960" y="1764792"/>
            <a:ext cx="16642080" cy="502920"/>
          </a:xfrm>
          <a:prstGeom prst="rect">
            <a:avLst/>
          </a:prstGeom>
          <a:noFill/>
        </p:spPr>
        <p:txBody>
          <a:bodyPr wrap="square" lIns="0" tIns="0" rIns="0" bIns="0" anchor="ctr">
            <a:spAutoFit/>
          </a:bodyPr>
          <a:lstStyle/>
          <a:p>
            <a:pPr algn="ctr"/>
            <a:r>
              <a:rPr sz="2600" b="1">
                <a:solidFill>
                  <a:srgbClr val="FF0000"/>
                </a:solidFill>
                <a:latin typeface="210 OmniGothic 040"/>
                <a:ea typeface="210 OmniGothic 040"/>
                <a:cs typeface="210 OmniGothic 040"/>
              </a:rPr>
              <a:t>비기능 요구사항 추적표 (2/3) — PER-003 ~ QUR-001</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sz="quarter" idx="12"/>
          </p:nvPr>
        </p:nvSpPr>
        <p:spPr/>
        <p:txBody>
          <a:bodyPr/>
          <a:lstStyle/>
          <a:p>
            <a:fld id="{B6F15528-21DE-4FAA-801E-634DDDAF4B2B}" type="slidenum">
              <a:rPr lang="en-US" smtClean="0"/>
              <a:pPr/>
              <a:t>114</a:t>
            </a:fld>
            <a:endParaRPr lang="en-US"/>
          </a:p>
        </p:txBody>
      </p:sp>
      <p:graphicFrame>
        <p:nvGraphicFramePr>
          <p:cNvPr id="5527" name="Table 5526"/>
          <p:cNvGraphicFramePr>
            <a:graphicFrameLocks noGrp="1"/>
          </p:cNvGraphicFramePr>
          <p:nvPr/>
        </p:nvGraphicFramePr>
        <p:xfrm>
          <a:off x="822960" y="2496312"/>
          <a:ext cx="16459200" cy="4525760"/>
        </p:xfrm>
        <a:graphic>
          <a:graphicData uri="http://schemas.openxmlformats.org/drawingml/2006/table">
            <a:tbl>
              <a:tblPr>
                <a:tableStyleId>{2D5ABB26-0587-4C30-8999-92F81FD0307C}</a:tableStyleId>
              </a:tblPr>
              <a:tblGrid>
                <a:gridCol w="100584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2651760">
                  <a:extLst>
                    <a:ext uri="{9D8B030D-6E8A-4147-A177-3AD203B41FA5}">
                      <a16:colId xmlns:a16="http://schemas.microsoft.com/office/drawing/2014/main" val="20003"/>
                    </a:ext>
                  </a:extLst>
                </a:gridCol>
                <a:gridCol w="4572000">
                  <a:extLst>
                    <a:ext uri="{9D8B030D-6E8A-4147-A177-3AD203B41FA5}">
                      <a16:colId xmlns:a16="http://schemas.microsoft.com/office/drawing/2014/main" val="20004"/>
                    </a:ext>
                  </a:extLst>
                </a:gridCol>
                <a:gridCol w="1280160">
                  <a:extLst>
                    <a:ext uri="{9D8B030D-6E8A-4147-A177-3AD203B41FA5}">
                      <a16:colId xmlns:a16="http://schemas.microsoft.com/office/drawing/2014/main" val="20005"/>
                    </a:ext>
                  </a:extLst>
                </a:gridCol>
                <a:gridCol w="1371600">
                  <a:extLst>
                    <a:ext uri="{9D8B030D-6E8A-4147-A177-3AD203B41FA5}">
                      <a16:colId xmlns:a16="http://schemas.microsoft.com/office/drawing/2014/main" val="20006"/>
                    </a:ext>
                  </a:extLst>
                </a:gridCol>
                <a:gridCol w="1188720">
                  <a:extLst>
                    <a:ext uri="{9D8B030D-6E8A-4147-A177-3AD203B41FA5}">
                      <a16:colId xmlns:a16="http://schemas.microsoft.com/office/drawing/2014/main" val="20007"/>
                    </a:ext>
                  </a:extLst>
                </a:gridCol>
              </a:tblGrid>
              <a:tr h="365760">
                <a:tc>
                  <a:txBody>
                    <a:bodyPr/>
                    <a:lstStyle/>
                    <a:p>
                      <a:pPr algn="ctr"/>
                      <a:r>
                        <a:rPr lang="ko-KR" sz="1200" b="1">
                          <a:solidFill>
                            <a:srgbClr val="FF7B7B"/>
                          </a:solidFill>
                          <a:latin typeface="210 OmniGothic 040"/>
                          <a:ea typeface="210 OmniGothic 040"/>
                          <a:cs typeface="210 OmniGothic 040"/>
                        </a:rPr>
                        <a:t>요구사항 ID</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tc>
                  <a:txBody>
                    <a:bodyPr/>
                    <a:lstStyle/>
                    <a:p>
                      <a:pPr algn="ctr"/>
                      <a:r>
                        <a:rPr lang="ko-KR" sz="1200" b="1">
                          <a:solidFill>
                            <a:srgbClr val="FF7B7B"/>
                          </a:solidFill>
                          <a:latin typeface="210 OmniGothic 040"/>
                          <a:ea typeface="210 OmniGothic 040"/>
                          <a:cs typeface="210 OmniGothic 040"/>
                        </a:rPr>
                        <a:t>요구사항</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tc>
                  <a:txBody>
                    <a:bodyPr/>
                    <a:lstStyle/>
                    <a:p>
                      <a:pPr algn="ctr"/>
                      <a:r>
                        <a:rPr lang="ko-KR" sz="1200" b="1">
                          <a:solidFill>
                            <a:srgbClr val="FF7B7B"/>
                          </a:solidFill>
                          <a:latin typeface="210 OmniGothic 040"/>
                          <a:ea typeface="210 OmniGothic 040"/>
                          <a:cs typeface="210 OmniGothic 040"/>
                        </a:rPr>
                        <a:t>분류</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tc>
                  <a:txBody>
                    <a:bodyPr/>
                    <a:lstStyle/>
                    <a:p>
                      <a:pPr algn="ctr"/>
                      <a:r>
                        <a:rPr lang="ko-KR" sz="1200" b="1">
                          <a:solidFill>
                            <a:srgbClr val="FF7B7B"/>
                          </a:solidFill>
                          <a:latin typeface="210 OmniGothic 040"/>
                          <a:ea typeface="210 OmniGothic 040"/>
                          <a:cs typeface="210 OmniGothic 040"/>
                        </a:rPr>
                        <a:t>관련 기능 요구사항</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tc>
                  <a:txBody>
                    <a:bodyPr/>
                    <a:lstStyle/>
                    <a:p>
                      <a:pPr algn="ctr"/>
                      <a:r>
                        <a:rPr lang="ko-KR" sz="1200" b="1">
                          <a:solidFill>
                            <a:srgbClr val="FF7B7B"/>
                          </a:solidFill>
                          <a:latin typeface="210 OmniGothic 040"/>
                          <a:ea typeface="210 OmniGothic 040"/>
                          <a:cs typeface="210 OmniGothic 040"/>
                        </a:rPr>
                        <a:t>설계 반영 (쪽·구성)</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tc>
                  <a:txBody>
                    <a:bodyPr/>
                    <a:lstStyle/>
                    <a:p>
                      <a:pPr algn="ctr"/>
                      <a:r>
                        <a:rPr lang="ko-KR" sz="1200" b="1">
                          <a:solidFill>
                            <a:srgbClr val="FF7B7B"/>
                          </a:solidFill>
                          <a:latin typeface="210 OmniGothic 040"/>
                          <a:ea typeface="210 OmniGothic 040"/>
                          <a:cs typeface="210 OmniGothic 040"/>
                        </a:rPr>
                        <a:t>검증</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tc>
                  <a:txBody>
                    <a:bodyPr/>
                    <a:lstStyle/>
                    <a:p>
                      <a:pPr algn="ctr"/>
                      <a:r>
                        <a:rPr lang="ko-KR" sz="1200" b="1">
                          <a:solidFill>
                            <a:srgbClr val="FF7B7B"/>
                          </a:solidFill>
                          <a:latin typeface="210 OmniGothic 040"/>
                          <a:ea typeface="210 OmniGothic 040"/>
                          <a:cs typeface="210 OmniGothic 040"/>
                        </a:rPr>
                        <a:t>테스트 결과</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tc>
                  <a:txBody>
                    <a:bodyPr/>
                    <a:lstStyle/>
                    <a:p>
                      <a:pPr algn="ctr"/>
                      <a:r>
                        <a:rPr lang="ko-KR" sz="1200" b="1">
                          <a:solidFill>
                            <a:srgbClr val="FF7B7B"/>
                          </a:solidFill>
                          <a:latin typeface="210 OmniGothic 040"/>
                          <a:ea typeface="210 OmniGothic 040"/>
                          <a:cs typeface="210 OmniGothic 040"/>
                        </a:rPr>
                        <a:t>상태</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extLst>
                  <a:ext uri="{0D108BD9-81ED-4DB2-BD59-A6C34878D82A}">
                    <a16:rowId xmlns:a16="http://schemas.microsoft.com/office/drawing/2014/main" val="10000"/>
                  </a:ext>
                </a:extLst>
              </a:tr>
              <a:tr h="520000">
                <a:tc>
                  <a:txBody>
                    <a:bodyPr/>
                    <a:lstStyle/>
                    <a:p>
                      <a:pPr algn="ctr"/>
                      <a:r>
                        <a:rPr lang="ko-KR" sz="1100" b="1">
                          <a:solidFill>
                            <a:srgbClr val="FF0000"/>
                          </a:solidFill>
                          <a:latin typeface="210 OmniGothic 040"/>
                          <a:ea typeface="210 OmniGothic 040"/>
                          <a:cs typeface="210 OmniGothic 040"/>
                        </a:rPr>
                        <a:t>PER-003</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lang="ko-KR" sz="1100" b="1">
                          <a:solidFill>
                            <a:srgbClr val="FF0000"/>
                          </a:solidFill>
                          <a:latin typeface="210 OmniGothic 040"/>
                          <a:ea typeface="210 OmniGothic 040"/>
                          <a:cs typeface="210 OmniGothic 040"/>
                        </a:rPr>
                        <a:t>동시 사용자 처리</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lang="ko-KR" sz="1100" b="0">
                          <a:solidFill>
                            <a:srgbClr val="FF0000"/>
                          </a:solidFill>
                          <a:latin typeface="210 OmniGothic 040"/>
                          <a:ea typeface="210 OmniGothic 040"/>
                          <a:cs typeface="210 OmniGothic 040"/>
                        </a:rPr>
                        <a:t>성능</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lang="ko-KR" sz="1100" b="0">
                          <a:solidFill>
                            <a:srgbClr val="FF0000"/>
                          </a:solidFill>
                          <a:latin typeface="210 OmniGothic 040"/>
                          <a:ea typeface="210 OmniGothic 040"/>
                          <a:cs typeface="210 OmniGothic 040"/>
                        </a:rPr>
                        <a:t>F-09, F-11, F-30</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lang="ko-KR" sz="1100" b="0">
                          <a:solidFill>
                            <a:srgbClr val="FF0000"/>
                          </a:solidFill>
                          <a:latin typeface="210 OmniGothic 040"/>
                          <a:ea typeface="210 OmniGothic 040"/>
                          <a:cs typeface="210 OmniGothic 040"/>
                        </a:rPr>
                        <a:t>시퀀스 41·42·47쪽 (중복 실행 제어)</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lang="ko-KR" sz="1100" b="0">
                          <a:solidFill>
                            <a:srgbClr val="FF0000"/>
                          </a:solidFill>
                          <a:latin typeface="210 OmniGothic 040"/>
                          <a:ea typeface="210 OmniGothic 040"/>
                          <a:cs typeface="210 OmniGothic 040"/>
                        </a:rPr>
                        <a:t>성능 측정</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lang="ko-KR" sz="1100" b="0">
                          <a:solidFill>
                            <a:srgbClr val="FF0000"/>
                          </a:solidFill>
                          <a:latin typeface="210 OmniGothic 040"/>
                          <a:ea typeface="210 OmniGothic 040"/>
                          <a:cs typeface="210 OmniGothic 040"/>
                        </a:rPr>
                        <a:t>미수행</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lang="ko-KR" sz="1100" b="0">
                          <a:solidFill>
                            <a:srgbClr val="FF0000"/>
                          </a:solidFill>
                          <a:latin typeface="210 OmniGothic 040"/>
                          <a:ea typeface="210 OmniGothic 040"/>
                          <a:cs typeface="210 OmniGothic 040"/>
                        </a:rPr>
                        <a:t>설계 완료</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1"/>
                  </a:ext>
                </a:extLst>
              </a:tr>
              <a:tr h="520000">
                <a:tc>
                  <a:txBody>
                    <a:bodyPr/>
                    <a:lstStyle/>
                    <a:p>
                      <a:pPr algn="ctr"/>
                      <a:r>
                        <a:rPr lang="ko-KR" sz="1100" b="1">
                          <a:solidFill>
                            <a:srgbClr val="FF0000"/>
                          </a:solidFill>
                          <a:latin typeface="210 OmniGothic 040"/>
                          <a:ea typeface="210 OmniGothic 040"/>
                          <a:cs typeface="210 OmniGothic 040"/>
                        </a:rPr>
                        <a:t>SER-001</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r>
                        <a:rPr lang="ko-KR" sz="1100" b="1">
                          <a:solidFill>
                            <a:srgbClr val="FF0000"/>
                          </a:solidFill>
                          <a:latin typeface="210 OmniGothic 040"/>
                          <a:ea typeface="210 OmniGothic 040"/>
                          <a:cs typeface="210 OmniGothic 040"/>
                        </a:rPr>
                        <a:t>사용자 인증 및 접근 제어</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ctr"/>
                      <a:r>
                        <a:rPr lang="ko-KR" sz="1100" b="0">
                          <a:solidFill>
                            <a:srgbClr val="FF0000"/>
                          </a:solidFill>
                          <a:latin typeface="210 OmniGothic 040"/>
                          <a:ea typeface="210 OmniGothic 040"/>
                          <a:cs typeface="210 OmniGothic 040"/>
                        </a:rPr>
                        <a:t>보안</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r>
                        <a:rPr lang="ko-KR" sz="1100" b="0">
                          <a:solidFill>
                            <a:srgbClr val="FF0000"/>
                          </a:solidFill>
                          <a:latin typeface="210 OmniGothic 040"/>
                          <a:ea typeface="210 OmniGothic 040"/>
                          <a:cs typeface="210 OmniGothic 040"/>
                        </a:rPr>
                        <a:t>F-01</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r>
                        <a:rPr lang="ko-KR" sz="1100" b="0">
                          <a:solidFill>
                            <a:srgbClr val="FF0000"/>
                          </a:solidFill>
                          <a:latin typeface="210 OmniGothic 040"/>
                          <a:ea typeface="210 OmniGothic 040"/>
                          <a:cs typeface="210 OmniGothic 040"/>
                        </a:rPr>
                        <a:t>시퀀스 36·48쪽, AuthRouter·SecurityService</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ctr"/>
                      <a:r>
                        <a:rPr lang="ko-KR" sz="1100" b="0">
                          <a:solidFill>
                            <a:srgbClr val="FF0000"/>
                          </a:solidFill>
                          <a:latin typeface="210 OmniGothic 040"/>
                          <a:ea typeface="210 OmniGothic 040"/>
                          <a:cs typeface="210 OmniGothic 040"/>
                        </a:rPr>
                        <a:t>TER-001</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ctr"/>
                      <a:r>
                        <a:rPr lang="ko-KR" sz="1100" b="0">
                          <a:solidFill>
                            <a:srgbClr val="FF0000"/>
                          </a:solidFill>
                          <a:latin typeface="210 OmniGothic 040"/>
                          <a:ea typeface="210 OmniGothic 040"/>
                          <a:cs typeface="210 OmniGothic 040"/>
                        </a:rPr>
                        <a:t>미수행</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ctr"/>
                      <a:r>
                        <a:rPr lang="ko-KR" sz="1100" b="0">
                          <a:solidFill>
                            <a:srgbClr val="FF0000"/>
                          </a:solidFill>
                          <a:latin typeface="210 OmniGothic 040"/>
                          <a:ea typeface="210 OmniGothic 040"/>
                          <a:cs typeface="210 OmniGothic 040"/>
                        </a:rPr>
                        <a:t>설계 완료</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2"/>
                  </a:ext>
                </a:extLst>
              </a:tr>
              <a:tr h="520000">
                <a:tc>
                  <a:txBody>
                    <a:bodyPr/>
                    <a:lstStyle/>
                    <a:p>
                      <a:pPr algn="ctr"/>
                      <a:r>
                        <a:rPr lang="ko-KR" sz="1100" b="1">
                          <a:solidFill>
                            <a:srgbClr val="FF0000"/>
                          </a:solidFill>
                          <a:latin typeface="210 OmniGothic 040"/>
                          <a:ea typeface="210 OmniGothic 040"/>
                          <a:cs typeface="210 OmniGothic 040"/>
                        </a:rPr>
                        <a:t>SER-002</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lang="ko-KR" sz="1100" b="1">
                          <a:solidFill>
                            <a:srgbClr val="FF0000"/>
                          </a:solidFill>
                          <a:latin typeface="210 OmniGothic 040"/>
                          <a:ea typeface="210 OmniGothic 040"/>
                          <a:cs typeface="210 OmniGothic 040"/>
                        </a:rPr>
                        <a:t>내부 자료 보호</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lang="ko-KR" sz="1100" b="0">
                          <a:solidFill>
                            <a:srgbClr val="FF0000"/>
                          </a:solidFill>
                          <a:latin typeface="210 OmniGothic 040"/>
                          <a:ea typeface="210 OmniGothic 040"/>
                          <a:cs typeface="210 OmniGothic 040"/>
                        </a:rPr>
                        <a:t>보안</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lang="ko-KR" sz="1100" b="0">
                          <a:solidFill>
                            <a:srgbClr val="FF0000"/>
                          </a:solidFill>
                          <a:latin typeface="210 OmniGothic 040"/>
                          <a:ea typeface="210 OmniGothic 040"/>
                          <a:cs typeface="210 OmniGothic 040"/>
                        </a:rPr>
                        <a:t>F-11, F-13, F-29</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lang="ko-KR" sz="1100" b="0">
                          <a:solidFill>
                            <a:srgbClr val="FF0000"/>
                          </a:solidFill>
                          <a:latin typeface="210 OmniGothic 040"/>
                          <a:ea typeface="210 OmniGothic 040"/>
                          <a:cs typeface="210 OmniGothic 040"/>
                        </a:rPr>
                        <a:t>시스템 구성도 8쪽 (내부 GPU 서버 추론)</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lang="ko-KR" sz="1100" b="0">
                          <a:solidFill>
                            <a:srgbClr val="FF0000"/>
                          </a:solidFill>
                          <a:latin typeface="210 OmniGothic 040"/>
                          <a:ea typeface="210 OmniGothic 040"/>
                          <a:cs typeface="210 OmniGothic 040"/>
                        </a:rPr>
                        <a:t>구성 점검</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lang="ko-KR" sz="1100" b="0">
                          <a:solidFill>
                            <a:srgbClr val="FF0000"/>
                          </a:solidFill>
                          <a:latin typeface="210 OmniGothic 040"/>
                          <a:ea typeface="210 OmniGothic 040"/>
                          <a:cs typeface="210 OmniGothic 040"/>
                        </a:rPr>
                        <a:t>미수행</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lang="ko-KR" sz="1100" b="0">
                          <a:solidFill>
                            <a:srgbClr val="FF0000"/>
                          </a:solidFill>
                          <a:latin typeface="210 OmniGothic 040"/>
                          <a:ea typeface="210 OmniGothic 040"/>
                          <a:cs typeface="210 OmniGothic 040"/>
                        </a:rPr>
                        <a:t>설계 완료</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3"/>
                  </a:ext>
                </a:extLst>
              </a:tr>
              <a:tr h="520000">
                <a:tc>
                  <a:txBody>
                    <a:bodyPr/>
                    <a:lstStyle/>
                    <a:p>
                      <a:pPr algn="ctr"/>
                      <a:r>
                        <a:rPr lang="ko-KR" sz="1100" b="1">
                          <a:solidFill>
                            <a:srgbClr val="FF0000"/>
                          </a:solidFill>
                          <a:latin typeface="210 OmniGothic 040"/>
                          <a:ea typeface="210 OmniGothic 040"/>
                          <a:cs typeface="210 OmniGothic 040"/>
                        </a:rPr>
                        <a:t>SER-003</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r>
                        <a:rPr lang="ko-KR" sz="1100" b="1">
                          <a:solidFill>
                            <a:srgbClr val="FF0000"/>
                          </a:solidFill>
                          <a:latin typeface="210 OmniGothic 040"/>
                          <a:ea typeface="210 OmniGothic 040"/>
                          <a:cs typeface="210 OmniGothic 040"/>
                        </a:rPr>
                        <a:t>통신·데이터 보안</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ctr"/>
                      <a:r>
                        <a:rPr lang="ko-KR" sz="1100" b="0">
                          <a:solidFill>
                            <a:srgbClr val="FF0000"/>
                          </a:solidFill>
                          <a:latin typeface="210 OmniGothic 040"/>
                          <a:ea typeface="210 OmniGothic 040"/>
                          <a:cs typeface="210 OmniGothic 040"/>
                        </a:rPr>
                        <a:t>보안</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r>
                        <a:rPr lang="ko-KR" sz="1100" b="0">
                          <a:solidFill>
                            <a:srgbClr val="FF0000"/>
                          </a:solidFill>
                          <a:latin typeface="210 OmniGothic 040"/>
                          <a:ea typeface="210 OmniGothic 040"/>
                          <a:cs typeface="210 OmniGothic 040"/>
                        </a:rPr>
                        <a:t>F-01, F-32</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r>
                        <a:rPr lang="ko-KR" sz="1100" b="0">
                          <a:solidFill>
                            <a:srgbClr val="FF0000"/>
                          </a:solidFill>
                          <a:latin typeface="210 OmniGothic 040"/>
                          <a:ea typeface="210 OmniGothic 040"/>
                          <a:cs typeface="210 OmniGothic 040"/>
                        </a:rPr>
                        <a:t>HTTPS·해시 저장, 이벤트 로그 60쪽</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ctr"/>
                      <a:r>
                        <a:rPr lang="ko-KR" sz="1100" b="0">
                          <a:solidFill>
                            <a:srgbClr val="FF0000"/>
                          </a:solidFill>
                          <a:latin typeface="210 OmniGothic 040"/>
                          <a:ea typeface="210 OmniGothic 040"/>
                          <a:cs typeface="210 OmniGothic 040"/>
                        </a:rPr>
                        <a:t>구성 점검</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ctr"/>
                      <a:r>
                        <a:rPr lang="ko-KR" sz="1100" b="0">
                          <a:solidFill>
                            <a:srgbClr val="FF0000"/>
                          </a:solidFill>
                          <a:latin typeface="210 OmniGothic 040"/>
                          <a:ea typeface="210 OmniGothic 040"/>
                          <a:cs typeface="210 OmniGothic 040"/>
                        </a:rPr>
                        <a:t>미수행</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ctr"/>
                      <a:r>
                        <a:rPr lang="ko-KR" sz="1100" b="0">
                          <a:solidFill>
                            <a:srgbClr val="FF0000"/>
                          </a:solidFill>
                          <a:latin typeface="210 OmniGothic 040"/>
                          <a:ea typeface="210 OmniGothic 040"/>
                          <a:cs typeface="210 OmniGothic 040"/>
                        </a:rPr>
                        <a:t>설계 완료</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4"/>
                  </a:ext>
                </a:extLst>
              </a:tr>
              <a:tr h="520000">
                <a:tc>
                  <a:txBody>
                    <a:bodyPr/>
                    <a:lstStyle/>
                    <a:p>
                      <a:pPr algn="ctr"/>
                      <a:r>
                        <a:rPr lang="ko-KR" sz="1100" b="1">
                          <a:solidFill>
                            <a:srgbClr val="FF0000"/>
                          </a:solidFill>
                          <a:latin typeface="210 OmniGothic 040"/>
                          <a:ea typeface="210 OmniGothic 040"/>
                          <a:cs typeface="210 OmniGothic 040"/>
                        </a:rPr>
                        <a:t>LGR-001</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lang="ko-KR" sz="1100" b="1">
                          <a:solidFill>
                            <a:srgbClr val="FF0000"/>
                          </a:solidFill>
                          <a:latin typeface="210 OmniGothic 040"/>
                          <a:ea typeface="210 OmniGothic 040"/>
                          <a:cs typeface="210 OmniGothic 040"/>
                        </a:rPr>
                        <a:t>표준매뉴얼·법령 근거 준수</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lang="ko-KR" sz="1100" b="0">
                          <a:solidFill>
                            <a:srgbClr val="FF0000"/>
                          </a:solidFill>
                          <a:latin typeface="210 OmniGothic 040"/>
                          <a:ea typeface="210 OmniGothic 040"/>
                          <a:cs typeface="210 OmniGothic 040"/>
                        </a:rPr>
                        <a:t>법적/규제</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lang="ko-KR" sz="1100" b="0">
                          <a:solidFill>
                            <a:srgbClr val="FF0000"/>
                          </a:solidFill>
                          <a:latin typeface="210 OmniGothic 040"/>
                          <a:ea typeface="210 OmniGothic 040"/>
                          <a:cs typeface="210 OmniGothic 040"/>
                        </a:rPr>
                        <a:t>F-11, F-13, F-15~F-28</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lang="ko-KR" sz="1100" b="0">
                          <a:solidFill>
                            <a:srgbClr val="FF0000"/>
                          </a:solidFill>
                          <a:latin typeface="210 OmniGothic 040"/>
                          <a:ea typeface="210 OmniGothic 040"/>
                          <a:cs typeface="210 OmniGothic 040"/>
                        </a:rPr>
                        <a:t>근거 검색·인용 (시퀀스 42·44·45쪽)</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lang="ko-KR" sz="1100" b="0">
                          <a:solidFill>
                            <a:srgbClr val="FF0000"/>
                          </a:solidFill>
                          <a:latin typeface="210 OmniGothic 040"/>
                          <a:ea typeface="210 OmniGothic 040"/>
                          <a:cs typeface="210 OmniGothic 040"/>
                        </a:rPr>
                        <a:t>TER-002</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lang="ko-KR" sz="1100" b="0">
                          <a:solidFill>
                            <a:srgbClr val="FF0000"/>
                          </a:solidFill>
                          <a:latin typeface="210 OmniGothic 040"/>
                          <a:ea typeface="210 OmniGothic 040"/>
                          <a:cs typeface="210 OmniGothic 040"/>
                        </a:rPr>
                        <a:t>미수행</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lang="ko-KR" sz="1100" b="0">
                          <a:solidFill>
                            <a:srgbClr val="FF0000"/>
                          </a:solidFill>
                          <a:latin typeface="210 OmniGothic 040"/>
                          <a:ea typeface="210 OmniGothic 040"/>
                          <a:cs typeface="210 OmniGothic 040"/>
                        </a:rPr>
                        <a:t>설계 완료</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5"/>
                  </a:ext>
                </a:extLst>
              </a:tr>
              <a:tr h="520000">
                <a:tc>
                  <a:txBody>
                    <a:bodyPr/>
                    <a:lstStyle/>
                    <a:p>
                      <a:pPr algn="ctr"/>
                      <a:r>
                        <a:rPr lang="ko-KR" sz="1100" b="1">
                          <a:solidFill>
                            <a:srgbClr val="FF0000"/>
                          </a:solidFill>
                          <a:latin typeface="210 OmniGothic 040"/>
                          <a:ea typeface="210 OmniGothic 040"/>
                          <a:cs typeface="210 OmniGothic 040"/>
                        </a:rPr>
                        <a:t>LGR-002</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r>
                        <a:rPr lang="ko-KR" sz="1100" b="1">
                          <a:solidFill>
                            <a:srgbClr val="FF0000"/>
                          </a:solidFill>
                          <a:latin typeface="210 OmniGothic 040"/>
                          <a:ea typeface="210 OmniGothic 040"/>
                          <a:cs typeface="210 OmniGothic 040"/>
                        </a:rPr>
                        <a:t>권고 시스템 고지</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ctr"/>
                      <a:r>
                        <a:rPr lang="ko-KR" sz="1100" b="0">
                          <a:solidFill>
                            <a:srgbClr val="FF0000"/>
                          </a:solidFill>
                          <a:latin typeface="210 OmniGothic 040"/>
                          <a:ea typeface="210 OmniGothic 040"/>
                          <a:cs typeface="210 OmniGothic 040"/>
                        </a:rPr>
                        <a:t>법적/규제</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r>
                        <a:rPr lang="ko-KR" sz="1100" b="0">
                          <a:solidFill>
                            <a:srgbClr val="FF0000"/>
                          </a:solidFill>
                          <a:latin typeface="210 OmniGothic 040"/>
                          <a:ea typeface="210 OmniGothic 040"/>
                          <a:cs typeface="210 OmniGothic 040"/>
                        </a:rPr>
                        <a:t>F-11, F-30</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r>
                        <a:rPr lang="ko-KR" sz="1100" b="0">
                          <a:solidFill>
                            <a:srgbClr val="FF0000"/>
                          </a:solidFill>
                          <a:latin typeface="210 OmniGothic 040"/>
                          <a:ea typeface="210 OmniGothic 040"/>
                          <a:cs typeface="210 OmniGothic 040"/>
                        </a:rPr>
                        <a:t>권고 형태 제안, 정정 확인 후 저장 (시퀀스 47쪽)</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ctr"/>
                      <a:r>
                        <a:rPr lang="ko-KR" sz="1100" b="0">
                          <a:solidFill>
                            <a:srgbClr val="FF0000"/>
                          </a:solidFill>
                          <a:latin typeface="210 OmniGothic 040"/>
                          <a:ea typeface="210 OmniGothic 040"/>
                          <a:cs typeface="210 OmniGothic 040"/>
                        </a:rPr>
                        <a:t>TER-001</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ctr"/>
                      <a:r>
                        <a:rPr lang="ko-KR" sz="1100" b="0">
                          <a:solidFill>
                            <a:srgbClr val="FF0000"/>
                          </a:solidFill>
                          <a:latin typeface="210 OmniGothic 040"/>
                          <a:ea typeface="210 OmniGothic 040"/>
                          <a:cs typeface="210 OmniGothic 040"/>
                        </a:rPr>
                        <a:t>미수행</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ctr"/>
                      <a:r>
                        <a:rPr lang="ko-KR" sz="1100" b="0">
                          <a:solidFill>
                            <a:srgbClr val="FF0000"/>
                          </a:solidFill>
                          <a:latin typeface="210 OmniGothic 040"/>
                          <a:ea typeface="210 OmniGothic 040"/>
                          <a:cs typeface="210 OmniGothic 040"/>
                        </a:rPr>
                        <a:t>설계 완료</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6"/>
                  </a:ext>
                </a:extLst>
              </a:tr>
              <a:tr h="520000">
                <a:tc>
                  <a:txBody>
                    <a:bodyPr/>
                    <a:lstStyle/>
                    <a:p>
                      <a:pPr algn="ctr"/>
                      <a:r>
                        <a:rPr lang="ko-KR" sz="1100" b="1">
                          <a:solidFill>
                            <a:srgbClr val="FF0000"/>
                          </a:solidFill>
                          <a:latin typeface="210 OmniGothic 040"/>
                          <a:ea typeface="210 OmniGothic 040"/>
                          <a:cs typeface="210 OmniGothic 040"/>
                        </a:rPr>
                        <a:t>LGR-003</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lang="ko-KR" sz="1100" b="1">
                          <a:solidFill>
                            <a:srgbClr val="FF0000"/>
                          </a:solidFill>
                          <a:latin typeface="210 OmniGothic 040"/>
                          <a:ea typeface="210 OmniGothic 040"/>
                          <a:cs typeface="210 OmniGothic 040"/>
                        </a:rPr>
                        <a:t>데이터 이용 조건 준수</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lang="ko-KR" sz="1100" b="0">
                          <a:solidFill>
                            <a:srgbClr val="FF0000"/>
                          </a:solidFill>
                          <a:latin typeface="210 OmniGothic 040"/>
                          <a:ea typeface="210 OmniGothic 040"/>
                          <a:cs typeface="210 OmniGothic 040"/>
                        </a:rPr>
                        <a:t>법적/규제</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lang="ko-KR" sz="1100" b="0">
                          <a:solidFill>
                            <a:srgbClr val="FF0000"/>
                          </a:solidFill>
                          <a:latin typeface="210 OmniGothic 040"/>
                          <a:ea typeface="210 OmniGothic 040"/>
                          <a:cs typeface="210 OmniGothic 040"/>
                        </a:rPr>
                        <a:t>F-06, F-07</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lang="ko-KR" sz="1100" b="0">
                          <a:solidFill>
                            <a:srgbClr val="FF0000"/>
                          </a:solidFill>
                          <a:latin typeface="210 OmniGothic 040"/>
                          <a:ea typeface="210 OmniGothic 040"/>
                          <a:cs typeface="210 OmniGothic 040"/>
                        </a:rPr>
                        <a:t>데이터 셋 105쪽 (출처·라이선스)</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lang="ko-KR" sz="1100" b="0">
                          <a:solidFill>
                            <a:srgbClr val="FF0000"/>
                          </a:solidFill>
                          <a:latin typeface="210 OmniGothic 040"/>
                          <a:ea typeface="210 OmniGothic 040"/>
                          <a:cs typeface="210 OmniGothic 040"/>
                        </a:rPr>
                        <a:t>문서 점검</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lang="ko-KR" sz="1100" b="0">
                          <a:solidFill>
                            <a:srgbClr val="FF0000"/>
                          </a:solidFill>
                          <a:latin typeface="210 OmniGothic 040"/>
                          <a:ea typeface="210 OmniGothic 040"/>
                          <a:cs typeface="210 OmniGothic 040"/>
                        </a:rPr>
                        <a:t>미수행</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lang="ko-KR" sz="1100" b="0">
                          <a:solidFill>
                            <a:srgbClr val="FF0000"/>
                          </a:solidFill>
                          <a:latin typeface="210 OmniGothic 040"/>
                          <a:ea typeface="210 OmniGothic 040"/>
                          <a:cs typeface="210 OmniGothic 040"/>
                        </a:rPr>
                        <a:t>설계 완료</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7"/>
                  </a:ext>
                </a:extLst>
              </a:tr>
              <a:tr h="520000">
                <a:tc>
                  <a:txBody>
                    <a:bodyPr/>
                    <a:lstStyle/>
                    <a:p>
                      <a:pPr algn="ctr"/>
                      <a:r>
                        <a:rPr lang="ko-KR" sz="1100" b="1">
                          <a:solidFill>
                            <a:srgbClr val="FF0000"/>
                          </a:solidFill>
                          <a:latin typeface="210 OmniGothic 040"/>
                          <a:ea typeface="210 OmniGothic 040"/>
                          <a:cs typeface="210 OmniGothic 040"/>
                        </a:rPr>
                        <a:t>QUR-001</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r>
                        <a:rPr lang="ko-KR" sz="1100" b="1">
                          <a:solidFill>
                            <a:srgbClr val="FF0000"/>
                          </a:solidFill>
                          <a:latin typeface="210 OmniGothic 040"/>
                          <a:ea typeface="210 OmniGothic 040"/>
                          <a:cs typeface="210 OmniGothic 040"/>
                        </a:rPr>
                        <a:t>근거 부기와 문체</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ctr"/>
                      <a:r>
                        <a:rPr lang="ko-KR" sz="1100" b="0">
                          <a:solidFill>
                            <a:srgbClr val="FF0000"/>
                          </a:solidFill>
                          <a:latin typeface="210 OmniGothic 040"/>
                          <a:ea typeface="210 OmniGothic 040"/>
                          <a:cs typeface="210 OmniGothic 040"/>
                        </a:rPr>
                        <a:t>품질</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r>
                        <a:rPr lang="ko-KR" sz="1100" b="0">
                          <a:solidFill>
                            <a:srgbClr val="FF0000"/>
                          </a:solidFill>
                          <a:latin typeface="210 OmniGothic 040"/>
                          <a:ea typeface="210 OmniGothic 040"/>
                          <a:cs typeface="210 OmniGothic 040"/>
                        </a:rPr>
                        <a:t>F-11, F-13, F-29</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r>
                        <a:rPr lang="ko-KR" sz="1100" b="0">
                          <a:solidFill>
                            <a:srgbClr val="FF0000"/>
                          </a:solidFill>
                          <a:latin typeface="210 OmniGothic 040"/>
                          <a:ea typeface="210 OmniGothic 040"/>
                          <a:cs typeface="210 OmniGothic 040"/>
                        </a:rPr>
                        <a:t>근거 번호 [k]·인용 (시퀀스 44~46쪽)</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ctr"/>
                      <a:r>
                        <a:rPr lang="ko-KR" sz="1100" b="0">
                          <a:solidFill>
                            <a:srgbClr val="FF0000"/>
                          </a:solidFill>
                          <a:latin typeface="210 OmniGothic 040"/>
                          <a:ea typeface="210 OmniGothic 040"/>
                          <a:cs typeface="210 OmniGothic 040"/>
                        </a:rPr>
                        <a:t>TER-002</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ctr"/>
                      <a:r>
                        <a:rPr lang="ko-KR" sz="1100" b="0">
                          <a:solidFill>
                            <a:srgbClr val="FF0000"/>
                          </a:solidFill>
                          <a:latin typeface="210 OmniGothic 040"/>
                          <a:ea typeface="210 OmniGothic 040"/>
                          <a:cs typeface="210 OmniGothic 040"/>
                        </a:rPr>
                        <a:t>미수행</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ctr"/>
                      <a:r>
                        <a:rPr lang="ko-KR" sz="1100" b="0">
                          <a:solidFill>
                            <a:srgbClr val="FF0000"/>
                          </a:solidFill>
                          <a:latin typeface="210 OmniGothic 040"/>
                          <a:ea typeface="210 OmniGothic 040"/>
                          <a:cs typeface="210 OmniGothic 040"/>
                        </a:rPr>
                        <a:t>설계 완료</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8"/>
                  </a:ext>
                </a:extLst>
              </a:tr>
            </a:tbl>
          </a:graphicData>
        </a:graphic>
      </p:graphicFrame>
      <p:sp>
        <p:nvSpPr>
          <p:cNvPr id="9303" name="Note 9303"/>
          <p:cNvSpPr txBox="1"/>
          <p:nvPr/>
        </p:nvSpPr>
        <p:spPr>
          <a:xfrm>
            <a:off x="822960" y="8000000"/>
            <a:ext cx="16459200" cy="310896"/>
          </a:xfrm>
          <a:prstGeom prst="rect">
            <a:avLst/>
          </a:prstGeom>
          <a:noFill/>
        </p:spPr>
        <p:txBody>
          <a:bodyPr wrap="square" lIns="0" tIns="0" rIns="0" bIns="0" anchor="t">
            <a:spAutoFit/>
          </a:bodyPr>
          <a:lstStyle/>
          <a:p>
            <a:pPr algn="l"/>
            <a:r>
              <a:rPr sz="1150" b="0">
                <a:solidFill>
                  <a:srgbClr val="FF0000"/>
                </a:solidFill>
                <a:latin typeface="210 OmniGothic 030"/>
                <a:ea typeface="210 OmniGothic 030"/>
                <a:cs typeface="210 OmniGothic 030"/>
              </a:rPr>
              <a:t>※ 비기능 요구사항 ID·요구사항은 80~102쪽, 관련 기능 요구사항은 기능 요구사항 추적표(F-ID), 검증은 TER-001·TER-002 또는 구현 후 별도 시험(성능 측정·구성 점검·호환성 시험·사용성 점검) 기준입니다.</a:t>
            </a:r>
          </a:p>
        </p:txBody>
      </p:sp>
      <p:sp>
        <p:nvSpPr>
          <p:cNvPr id="9304" name="Note 9304"/>
          <p:cNvSpPr txBox="1"/>
          <p:nvPr/>
        </p:nvSpPr>
        <p:spPr>
          <a:xfrm>
            <a:off x="822960" y="8329184"/>
            <a:ext cx="16459200" cy="310896"/>
          </a:xfrm>
          <a:prstGeom prst="rect">
            <a:avLst/>
          </a:prstGeom>
          <a:noFill/>
        </p:spPr>
        <p:txBody>
          <a:bodyPr wrap="square" lIns="0" tIns="0" rIns="0" bIns="0" anchor="t">
            <a:spAutoFit/>
          </a:bodyPr>
          <a:lstStyle/>
          <a:p>
            <a:pPr algn="l"/>
            <a:r>
              <a:rPr sz="1150" b="0">
                <a:solidFill>
                  <a:srgbClr val="FF0000"/>
                </a:solidFill>
                <a:latin typeface="210 OmniGothic 030"/>
                <a:ea typeface="210 OmniGothic 030"/>
                <a:cs typeface="210 OmniGothic 030"/>
              </a:rPr>
              <a:t>※ 테스트 케이스 ID는 테스트 사양서 작성 시 부여하며, 구현·시험이 진행되면 테스트 결과(미수행 → Pass/Fail)와 상태를 갱신합니다.</a:t>
            </a: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21"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700" y="-12700"/>
            <a:ext cx="18313400" cy="1638300"/>
          </a:xfrm>
          <a:prstGeom prst="rect">
            <a:avLst/>
          </a:prstGeom>
        </p:spPr>
      </p:pic>
      <p:pic>
        <p:nvPicPr>
          <p:cNvPr id="5522"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28" y="1618343"/>
            <a:ext cx="18313400" cy="8699500"/>
          </a:xfrm>
          <a:prstGeom prst="rect">
            <a:avLst/>
          </a:prstGeom>
        </p:spPr>
      </p:pic>
      <p:pic>
        <p:nvPicPr>
          <p:cNvPr id="5523"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58800" y="9271000"/>
            <a:ext cx="17170400" cy="50800"/>
          </a:xfrm>
          <a:prstGeom prst="rect">
            <a:avLst/>
          </a:prstGeom>
        </p:spPr>
      </p:pic>
      <p:pic>
        <p:nvPicPr>
          <p:cNvPr id="5524" name="Picture 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278100" y="203200"/>
            <a:ext cx="1676400" cy="1409700"/>
          </a:xfrm>
          <a:prstGeom prst="rect">
            <a:avLst/>
          </a:prstGeom>
        </p:spPr>
      </p:pic>
      <p:sp>
        <p:nvSpPr>
          <p:cNvPr id="5525" name="Title"/>
          <p:cNvSpPr txBox="1"/>
          <p:nvPr/>
        </p:nvSpPr>
        <p:spPr>
          <a:xfrm>
            <a:off x="822960" y="384048"/>
            <a:ext cx="13258800" cy="877824"/>
          </a:xfrm>
          <a:prstGeom prst="rect">
            <a:avLst/>
          </a:prstGeom>
          <a:noFill/>
        </p:spPr>
        <p:txBody>
          <a:bodyPr wrap="square" lIns="0" tIns="0" rIns="0" bIns="0" anchor="ctr">
            <a:spAutoFit/>
          </a:bodyPr>
          <a:lstStyle/>
          <a:p>
            <a:pPr algn="l"/>
            <a:r>
              <a:rPr sz="4400" b="0">
                <a:solidFill>
                  <a:srgbClr val="FF7B7B"/>
                </a:solidFill>
                <a:latin typeface="210 OmniGothic 050"/>
                <a:ea typeface="210 OmniGothic 050"/>
                <a:cs typeface="210 OmniGothic 050"/>
              </a:rPr>
              <a:t>08. 요구사항 추적표</a:t>
            </a:r>
          </a:p>
        </p:txBody>
      </p:sp>
      <p:sp>
        <p:nvSpPr>
          <p:cNvPr id="5526" name="Subtitle"/>
          <p:cNvSpPr txBox="1"/>
          <p:nvPr/>
        </p:nvSpPr>
        <p:spPr>
          <a:xfrm>
            <a:off x="822960" y="1764792"/>
            <a:ext cx="16642080" cy="502920"/>
          </a:xfrm>
          <a:prstGeom prst="rect">
            <a:avLst/>
          </a:prstGeom>
          <a:noFill/>
        </p:spPr>
        <p:txBody>
          <a:bodyPr wrap="square" lIns="0" tIns="0" rIns="0" bIns="0" anchor="ctr">
            <a:spAutoFit/>
          </a:bodyPr>
          <a:lstStyle/>
          <a:p>
            <a:pPr algn="ctr"/>
            <a:r>
              <a:rPr sz="2600" b="1">
                <a:solidFill>
                  <a:srgbClr val="FF0000"/>
                </a:solidFill>
                <a:latin typeface="210 OmniGothic 040"/>
                <a:ea typeface="210 OmniGothic 040"/>
                <a:cs typeface="210 OmniGothic 040"/>
              </a:rPr>
              <a:t>비기능 요구사항 추적표 (3/3) — QUR-002 ~ TER-002</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sz="quarter" idx="12"/>
          </p:nvPr>
        </p:nvSpPr>
        <p:spPr/>
        <p:txBody>
          <a:bodyPr/>
          <a:lstStyle/>
          <a:p>
            <a:fld id="{B6F15528-21DE-4FAA-801E-634DDDAF4B2B}" type="slidenum">
              <a:rPr lang="en-US" smtClean="0"/>
              <a:pPr/>
              <a:t>115</a:t>
            </a:fld>
            <a:endParaRPr lang="en-US"/>
          </a:p>
        </p:txBody>
      </p:sp>
      <p:graphicFrame>
        <p:nvGraphicFramePr>
          <p:cNvPr id="5527" name="Table 5526"/>
          <p:cNvGraphicFramePr>
            <a:graphicFrameLocks noGrp="1"/>
          </p:cNvGraphicFramePr>
          <p:nvPr/>
        </p:nvGraphicFramePr>
        <p:xfrm>
          <a:off x="822960" y="2496312"/>
          <a:ext cx="16459200" cy="4005760"/>
        </p:xfrm>
        <a:graphic>
          <a:graphicData uri="http://schemas.openxmlformats.org/drawingml/2006/table">
            <a:tbl>
              <a:tblPr>
                <a:tableStyleId>{2D5ABB26-0587-4C30-8999-92F81FD0307C}</a:tableStyleId>
              </a:tblPr>
              <a:tblGrid>
                <a:gridCol w="100584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2651760">
                  <a:extLst>
                    <a:ext uri="{9D8B030D-6E8A-4147-A177-3AD203B41FA5}">
                      <a16:colId xmlns:a16="http://schemas.microsoft.com/office/drawing/2014/main" val="20003"/>
                    </a:ext>
                  </a:extLst>
                </a:gridCol>
                <a:gridCol w="4572000">
                  <a:extLst>
                    <a:ext uri="{9D8B030D-6E8A-4147-A177-3AD203B41FA5}">
                      <a16:colId xmlns:a16="http://schemas.microsoft.com/office/drawing/2014/main" val="20004"/>
                    </a:ext>
                  </a:extLst>
                </a:gridCol>
                <a:gridCol w="1280160">
                  <a:extLst>
                    <a:ext uri="{9D8B030D-6E8A-4147-A177-3AD203B41FA5}">
                      <a16:colId xmlns:a16="http://schemas.microsoft.com/office/drawing/2014/main" val="20005"/>
                    </a:ext>
                  </a:extLst>
                </a:gridCol>
                <a:gridCol w="1371600">
                  <a:extLst>
                    <a:ext uri="{9D8B030D-6E8A-4147-A177-3AD203B41FA5}">
                      <a16:colId xmlns:a16="http://schemas.microsoft.com/office/drawing/2014/main" val="20006"/>
                    </a:ext>
                  </a:extLst>
                </a:gridCol>
                <a:gridCol w="1188720">
                  <a:extLst>
                    <a:ext uri="{9D8B030D-6E8A-4147-A177-3AD203B41FA5}">
                      <a16:colId xmlns:a16="http://schemas.microsoft.com/office/drawing/2014/main" val="20007"/>
                    </a:ext>
                  </a:extLst>
                </a:gridCol>
              </a:tblGrid>
              <a:tr h="365760">
                <a:tc>
                  <a:txBody>
                    <a:bodyPr/>
                    <a:lstStyle/>
                    <a:p>
                      <a:pPr algn="ctr"/>
                      <a:r>
                        <a:rPr lang="ko-KR" sz="1200" b="1">
                          <a:solidFill>
                            <a:srgbClr val="FF7B7B"/>
                          </a:solidFill>
                          <a:latin typeface="210 OmniGothic 040"/>
                          <a:ea typeface="210 OmniGothic 040"/>
                          <a:cs typeface="210 OmniGothic 040"/>
                        </a:rPr>
                        <a:t>요구사항 ID</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tc>
                  <a:txBody>
                    <a:bodyPr/>
                    <a:lstStyle/>
                    <a:p>
                      <a:pPr algn="ctr"/>
                      <a:r>
                        <a:rPr lang="ko-KR" sz="1200" b="1">
                          <a:solidFill>
                            <a:srgbClr val="FF7B7B"/>
                          </a:solidFill>
                          <a:latin typeface="210 OmniGothic 040"/>
                          <a:ea typeface="210 OmniGothic 040"/>
                          <a:cs typeface="210 OmniGothic 040"/>
                        </a:rPr>
                        <a:t>요구사항</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tc>
                  <a:txBody>
                    <a:bodyPr/>
                    <a:lstStyle/>
                    <a:p>
                      <a:pPr algn="ctr"/>
                      <a:r>
                        <a:rPr lang="ko-KR" sz="1200" b="1">
                          <a:solidFill>
                            <a:srgbClr val="FF7B7B"/>
                          </a:solidFill>
                          <a:latin typeface="210 OmniGothic 040"/>
                          <a:ea typeface="210 OmniGothic 040"/>
                          <a:cs typeface="210 OmniGothic 040"/>
                        </a:rPr>
                        <a:t>분류</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tc>
                  <a:txBody>
                    <a:bodyPr/>
                    <a:lstStyle/>
                    <a:p>
                      <a:pPr algn="ctr"/>
                      <a:r>
                        <a:rPr lang="ko-KR" sz="1200" b="1">
                          <a:solidFill>
                            <a:srgbClr val="FF7B7B"/>
                          </a:solidFill>
                          <a:latin typeface="210 OmniGothic 040"/>
                          <a:ea typeface="210 OmniGothic 040"/>
                          <a:cs typeface="210 OmniGothic 040"/>
                        </a:rPr>
                        <a:t>관련 기능 요구사항</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tc>
                  <a:txBody>
                    <a:bodyPr/>
                    <a:lstStyle/>
                    <a:p>
                      <a:pPr algn="ctr"/>
                      <a:r>
                        <a:rPr lang="ko-KR" sz="1200" b="1">
                          <a:solidFill>
                            <a:srgbClr val="FF7B7B"/>
                          </a:solidFill>
                          <a:latin typeface="210 OmniGothic 040"/>
                          <a:ea typeface="210 OmniGothic 040"/>
                          <a:cs typeface="210 OmniGothic 040"/>
                        </a:rPr>
                        <a:t>설계 반영 (쪽·구성)</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tc>
                  <a:txBody>
                    <a:bodyPr/>
                    <a:lstStyle/>
                    <a:p>
                      <a:pPr algn="ctr"/>
                      <a:r>
                        <a:rPr lang="ko-KR" sz="1200" b="1">
                          <a:solidFill>
                            <a:srgbClr val="FF7B7B"/>
                          </a:solidFill>
                          <a:latin typeface="210 OmniGothic 040"/>
                          <a:ea typeface="210 OmniGothic 040"/>
                          <a:cs typeface="210 OmniGothic 040"/>
                        </a:rPr>
                        <a:t>검증</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tc>
                  <a:txBody>
                    <a:bodyPr/>
                    <a:lstStyle/>
                    <a:p>
                      <a:pPr algn="ctr"/>
                      <a:r>
                        <a:rPr lang="ko-KR" sz="1200" b="1">
                          <a:solidFill>
                            <a:srgbClr val="FF7B7B"/>
                          </a:solidFill>
                          <a:latin typeface="210 OmniGothic 040"/>
                          <a:ea typeface="210 OmniGothic 040"/>
                          <a:cs typeface="210 OmniGothic 040"/>
                        </a:rPr>
                        <a:t>테스트 결과</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tc>
                  <a:txBody>
                    <a:bodyPr/>
                    <a:lstStyle/>
                    <a:p>
                      <a:pPr algn="ctr"/>
                      <a:r>
                        <a:rPr lang="ko-KR" sz="1200" b="1">
                          <a:solidFill>
                            <a:srgbClr val="FF7B7B"/>
                          </a:solidFill>
                          <a:latin typeface="210 OmniGothic 040"/>
                          <a:ea typeface="210 OmniGothic 040"/>
                          <a:cs typeface="210 OmniGothic 040"/>
                        </a:rPr>
                        <a:t>상태</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extLst>
                  <a:ext uri="{0D108BD9-81ED-4DB2-BD59-A6C34878D82A}">
                    <a16:rowId xmlns:a16="http://schemas.microsoft.com/office/drawing/2014/main" val="10000"/>
                  </a:ext>
                </a:extLst>
              </a:tr>
              <a:tr h="520000">
                <a:tc>
                  <a:txBody>
                    <a:bodyPr/>
                    <a:lstStyle/>
                    <a:p>
                      <a:pPr algn="ctr"/>
                      <a:r>
                        <a:rPr lang="ko-KR" sz="1100" b="1">
                          <a:solidFill>
                            <a:srgbClr val="FF0000"/>
                          </a:solidFill>
                          <a:latin typeface="210 OmniGothic 040"/>
                          <a:ea typeface="210 OmniGothic 040"/>
                          <a:cs typeface="210 OmniGothic 040"/>
                        </a:rPr>
                        <a:t>QUR-002</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lang="ko-KR" sz="1100" b="1">
                          <a:solidFill>
                            <a:srgbClr val="FF0000"/>
                          </a:solidFill>
                          <a:latin typeface="210 OmniGothic 040"/>
                          <a:ea typeface="210 OmniGothic 040"/>
                          <a:cs typeface="210 OmniGothic 040"/>
                        </a:rPr>
                        <a:t>판단 일관성</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lang="ko-KR" sz="1100" b="0">
                          <a:solidFill>
                            <a:srgbClr val="FF0000"/>
                          </a:solidFill>
                          <a:latin typeface="210 OmniGothic 040"/>
                          <a:ea typeface="210 OmniGothic 040"/>
                          <a:cs typeface="210 OmniGothic 040"/>
                        </a:rPr>
                        <a:t>품질</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lang="ko-KR" sz="1100" b="0">
                          <a:solidFill>
                            <a:srgbClr val="FF0000"/>
                          </a:solidFill>
                          <a:latin typeface="210 OmniGothic 040"/>
                          <a:ea typeface="210 OmniGothic 040"/>
                          <a:cs typeface="210 OmniGothic 040"/>
                        </a:rPr>
                        <a:t>F-15~F-28</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lang="ko-KR" sz="1100" b="0">
                          <a:solidFill>
                            <a:srgbClr val="FF0000"/>
                          </a:solidFill>
                          <a:latin typeface="210 OmniGothic 040"/>
                          <a:ea typeface="210 OmniGothic 040"/>
                          <a:cs typeface="210 OmniGothic 040"/>
                        </a:rPr>
                        <a:t>RuleEngine, 고정 출력 구조 (시퀀스 42쪽)</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lang="ko-KR" sz="1100" b="0">
                          <a:solidFill>
                            <a:srgbClr val="FF0000"/>
                          </a:solidFill>
                          <a:latin typeface="210 OmniGothic 040"/>
                          <a:ea typeface="210 OmniGothic 040"/>
                          <a:cs typeface="210 OmniGothic 040"/>
                        </a:rPr>
                        <a:t>TER-001</a:t>
                      </a:r>
                    </a:p>
                    <a:p>
                      <a:pPr algn="ctr"/>
                      <a:r>
                        <a:rPr lang="ko-KR" sz="1100" b="0">
                          <a:solidFill>
                            <a:srgbClr val="FF0000"/>
                          </a:solidFill>
                          <a:latin typeface="210 OmniGothic 040"/>
                          <a:ea typeface="210 OmniGothic 040"/>
                          <a:cs typeface="210 OmniGothic 040"/>
                        </a:rPr>
                        <a:t>TER-002</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lang="ko-KR" sz="1100" b="0">
                          <a:solidFill>
                            <a:srgbClr val="FF0000"/>
                          </a:solidFill>
                          <a:latin typeface="210 OmniGothic 040"/>
                          <a:ea typeface="210 OmniGothic 040"/>
                          <a:cs typeface="210 OmniGothic 040"/>
                        </a:rPr>
                        <a:t>미수행</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lang="ko-KR" sz="1100" b="0">
                          <a:solidFill>
                            <a:srgbClr val="FF0000"/>
                          </a:solidFill>
                          <a:latin typeface="210 OmniGothic 040"/>
                          <a:ea typeface="210 OmniGothic 040"/>
                          <a:cs typeface="210 OmniGothic 040"/>
                        </a:rPr>
                        <a:t>설계 완료</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1"/>
                  </a:ext>
                </a:extLst>
              </a:tr>
              <a:tr h="520000">
                <a:tc>
                  <a:txBody>
                    <a:bodyPr/>
                    <a:lstStyle/>
                    <a:p>
                      <a:pPr algn="ctr"/>
                      <a:r>
                        <a:rPr lang="ko-KR" sz="1100" b="1">
                          <a:solidFill>
                            <a:srgbClr val="FF0000"/>
                          </a:solidFill>
                          <a:latin typeface="210 OmniGothic 040"/>
                          <a:ea typeface="210 OmniGothic 040"/>
                          <a:cs typeface="210 OmniGothic 040"/>
                        </a:rPr>
                        <a:t>QUR-003</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r>
                        <a:rPr lang="ko-KR" sz="1100" b="1">
                          <a:solidFill>
                            <a:srgbClr val="FF0000"/>
                          </a:solidFill>
                          <a:latin typeface="210 OmniGothic 040"/>
                          <a:ea typeface="210 OmniGothic 040"/>
                          <a:cs typeface="210 OmniGothic 040"/>
                        </a:rPr>
                        <a:t>사용성</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ctr"/>
                      <a:r>
                        <a:rPr lang="ko-KR" sz="1100" b="0">
                          <a:solidFill>
                            <a:srgbClr val="FF0000"/>
                          </a:solidFill>
                          <a:latin typeface="210 OmniGothic 040"/>
                          <a:ea typeface="210 OmniGothic 040"/>
                          <a:cs typeface="210 OmniGothic 040"/>
                        </a:rPr>
                        <a:t>품질</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r>
                        <a:rPr lang="ko-KR" sz="1100" b="0">
                          <a:solidFill>
                            <a:srgbClr val="FF0000"/>
                          </a:solidFill>
                          <a:latin typeface="210 OmniGothic 040"/>
                          <a:ea typeface="210 OmniGothic 040"/>
                          <a:cs typeface="210 OmniGothic 040"/>
                        </a:rPr>
                        <a:t>F-05, F-12, F-13</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r>
                        <a:rPr lang="ko-KR" sz="1100" b="0">
                          <a:solidFill>
                            <a:srgbClr val="FF0000"/>
                          </a:solidFill>
                          <a:latin typeface="210 OmniGothic 040"/>
                          <a:ea typeface="210 OmniGothic 040"/>
                          <a:cs typeface="210 OmniGothic 040"/>
                        </a:rPr>
                        <a:t>화면 설계서·UI 목업</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ctr"/>
                      <a:r>
                        <a:rPr lang="ko-KR" sz="1100" b="0">
                          <a:solidFill>
                            <a:srgbClr val="FF0000"/>
                          </a:solidFill>
                          <a:latin typeface="210 OmniGothic 040"/>
                          <a:ea typeface="210 OmniGothic 040"/>
                          <a:cs typeface="210 OmniGothic 040"/>
                        </a:rPr>
                        <a:t>사용성 점검</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ctr"/>
                      <a:r>
                        <a:rPr lang="ko-KR" sz="1100" b="0">
                          <a:solidFill>
                            <a:srgbClr val="FF0000"/>
                          </a:solidFill>
                          <a:latin typeface="210 OmniGothic 040"/>
                          <a:ea typeface="210 OmniGothic 040"/>
                          <a:cs typeface="210 OmniGothic 040"/>
                        </a:rPr>
                        <a:t>미수행</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ctr"/>
                      <a:r>
                        <a:rPr lang="ko-KR" sz="1100" b="0">
                          <a:solidFill>
                            <a:srgbClr val="FF0000"/>
                          </a:solidFill>
                          <a:latin typeface="210 OmniGothic 040"/>
                          <a:ea typeface="210 OmniGothic 040"/>
                          <a:cs typeface="210 OmniGothic 040"/>
                        </a:rPr>
                        <a:t>설계 완료</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2"/>
                  </a:ext>
                </a:extLst>
              </a:tr>
              <a:tr h="520000">
                <a:tc>
                  <a:txBody>
                    <a:bodyPr/>
                    <a:lstStyle/>
                    <a:p>
                      <a:pPr algn="ctr"/>
                      <a:r>
                        <a:rPr lang="ko-KR" sz="1100" b="1">
                          <a:solidFill>
                            <a:srgbClr val="FF0000"/>
                          </a:solidFill>
                          <a:latin typeface="210 OmniGothic 040"/>
                          <a:ea typeface="210 OmniGothic 040"/>
                          <a:cs typeface="210 OmniGothic 040"/>
                        </a:rPr>
                        <a:t>ORP-001</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lang="ko-KR" sz="1100" b="1">
                          <a:solidFill>
                            <a:srgbClr val="FF0000"/>
                          </a:solidFill>
                          <a:latin typeface="210 OmniGothic 040"/>
                          <a:ea typeface="210 OmniGothic 040"/>
                          <a:cs typeface="210 OmniGothic 040"/>
                        </a:rPr>
                        <a:t>이벤트 로그·오류 모니터링</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lang="ko-KR" sz="1100" b="0">
                          <a:solidFill>
                            <a:srgbClr val="FF0000"/>
                          </a:solidFill>
                          <a:latin typeface="210 OmniGothic 040"/>
                          <a:ea typeface="210 OmniGothic 040"/>
                          <a:cs typeface="210 OmniGothic 040"/>
                        </a:rPr>
                        <a:t>운영</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lang="ko-KR" sz="1100" b="0">
                          <a:solidFill>
                            <a:srgbClr val="FF0000"/>
                          </a:solidFill>
                          <a:latin typeface="210 OmniGothic 040"/>
                          <a:ea typeface="210 OmniGothic 040"/>
                          <a:cs typeface="210 OmniGothic 040"/>
                        </a:rPr>
                        <a:t>F-32</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lang="ko-KR" sz="1100" b="0">
                          <a:solidFill>
                            <a:srgbClr val="FF0000"/>
                          </a:solidFill>
                          <a:latin typeface="210 OmniGothic 040"/>
                          <a:ea typeface="210 OmniGothic 040"/>
                          <a:cs typeface="210 OmniGothic 040"/>
                        </a:rPr>
                        <a:t>EventLogger, event_logs (60쪽, 70쪽)</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lang="ko-KR" sz="1100" b="0">
                          <a:solidFill>
                            <a:srgbClr val="FF0000"/>
                          </a:solidFill>
                          <a:latin typeface="210 OmniGothic 040"/>
                          <a:ea typeface="210 OmniGothic 040"/>
                          <a:cs typeface="210 OmniGothic 040"/>
                        </a:rPr>
                        <a:t>TER-001</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lang="ko-KR" sz="1100" b="0">
                          <a:solidFill>
                            <a:srgbClr val="FF0000"/>
                          </a:solidFill>
                          <a:latin typeface="210 OmniGothic 040"/>
                          <a:ea typeface="210 OmniGothic 040"/>
                          <a:cs typeface="210 OmniGothic 040"/>
                        </a:rPr>
                        <a:t>미수행</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lang="ko-KR" sz="1100" b="0">
                          <a:solidFill>
                            <a:srgbClr val="FF0000"/>
                          </a:solidFill>
                          <a:latin typeface="210 OmniGothic 040"/>
                          <a:ea typeface="210 OmniGothic 040"/>
                          <a:cs typeface="210 OmniGothic 040"/>
                        </a:rPr>
                        <a:t>설계 완료</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3"/>
                  </a:ext>
                </a:extLst>
              </a:tr>
              <a:tr h="520000">
                <a:tc>
                  <a:txBody>
                    <a:bodyPr/>
                    <a:lstStyle/>
                    <a:p>
                      <a:pPr algn="ctr"/>
                      <a:r>
                        <a:rPr lang="ko-KR" sz="1100" b="1">
                          <a:solidFill>
                            <a:srgbClr val="FF0000"/>
                          </a:solidFill>
                          <a:latin typeface="210 OmniGothic 040"/>
                          <a:ea typeface="210 OmniGothic 040"/>
                          <a:cs typeface="210 OmniGothic 040"/>
                        </a:rPr>
                        <a:t>ORP-002</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r>
                        <a:rPr lang="ko-KR" sz="1100" b="1">
                          <a:solidFill>
                            <a:srgbClr val="FF0000"/>
                          </a:solidFill>
                          <a:latin typeface="210 OmniGothic 040"/>
                          <a:ea typeface="210 OmniGothic 040"/>
                          <a:cs typeface="210 OmniGothic 040"/>
                        </a:rPr>
                        <a:t>데이터 적재·갱신</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ctr"/>
                      <a:r>
                        <a:rPr lang="ko-KR" sz="1100" b="0">
                          <a:solidFill>
                            <a:srgbClr val="FF0000"/>
                          </a:solidFill>
                          <a:latin typeface="210 OmniGothic 040"/>
                          <a:ea typeface="210 OmniGothic 040"/>
                          <a:cs typeface="210 OmniGothic 040"/>
                        </a:rPr>
                        <a:t>운영</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r>
                        <a:rPr lang="ko-KR" sz="1100" b="0">
                          <a:solidFill>
                            <a:srgbClr val="FF0000"/>
                          </a:solidFill>
                          <a:latin typeface="210 OmniGothic 040"/>
                          <a:ea typeface="210 OmniGothic 040"/>
                          <a:cs typeface="210 OmniGothic 040"/>
                        </a:rPr>
                        <a:t>F-06~F-08, F-31</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r>
                        <a:rPr lang="ko-KR" sz="1100" b="0">
                          <a:solidFill>
                            <a:srgbClr val="FF0000"/>
                          </a:solidFill>
                          <a:latin typeface="210 OmniGothic 040"/>
                          <a:ea typeface="210 OmniGothic 040"/>
                          <a:cs typeface="210 OmniGothic 040"/>
                        </a:rPr>
                        <a:t>시스템 구성도 8쪽, 시퀀스 49쪽</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ctr"/>
                      <a:r>
                        <a:rPr lang="ko-KR" sz="1100" b="0">
                          <a:solidFill>
                            <a:srgbClr val="FF0000"/>
                          </a:solidFill>
                          <a:latin typeface="210 OmniGothic 040"/>
                          <a:ea typeface="210 OmniGothic 040"/>
                          <a:cs typeface="210 OmniGothic 040"/>
                        </a:rPr>
                        <a:t>구성 점검</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ctr"/>
                      <a:r>
                        <a:rPr lang="ko-KR" sz="1100" b="0">
                          <a:solidFill>
                            <a:srgbClr val="FF0000"/>
                          </a:solidFill>
                          <a:latin typeface="210 OmniGothic 040"/>
                          <a:ea typeface="210 OmniGothic 040"/>
                          <a:cs typeface="210 OmniGothic 040"/>
                        </a:rPr>
                        <a:t>미수행</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ctr"/>
                      <a:r>
                        <a:rPr lang="ko-KR" sz="1100" b="0">
                          <a:solidFill>
                            <a:srgbClr val="FF0000"/>
                          </a:solidFill>
                          <a:latin typeface="210 OmniGothic 040"/>
                          <a:ea typeface="210 OmniGothic 040"/>
                          <a:cs typeface="210 OmniGothic 040"/>
                        </a:rPr>
                        <a:t>설계 완료</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4"/>
                  </a:ext>
                </a:extLst>
              </a:tr>
              <a:tr h="520000">
                <a:tc>
                  <a:txBody>
                    <a:bodyPr/>
                    <a:lstStyle/>
                    <a:p>
                      <a:pPr algn="ctr"/>
                      <a:r>
                        <a:rPr lang="ko-KR" sz="1100" b="1">
                          <a:solidFill>
                            <a:srgbClr val="FF0000"/>
                          </a:solidFill>
                          <a:latin typeface="210 OmniGothic 040"/>
                          <a:ea typeface="210 OmniGothic 040"/>
                          <a:cs typeface="210 OmniGothic 040"/>
                        </a:rPr>
                        <a:t>DPR-001</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lang="ko-KR" sz="1100" b="1">
                          <a:solidFill>
                            <a:srgbClr val="FF0000"/>
                          </a:solidFill>
                          <a:latin typeface="210 OmniGothic 040"/>
                          <a:ea typeface="210 OmniGothic 040"/>
                          <a:cs typeface="210 OmniGothic 040"/>
                        </a:rPr>
                        <a:t>컨테이너 기반 배포</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lang="ko-KR" sz="1100" b="0">
                          <a:solidFill>
                            <a:srgbClr val="FF0000"/>
                          </a:solidFill>
                          <a:latin typeface="210 OmniGothic 040"/>
                          <a:ea typeface="210 OmniGothic 040"/>
                          <a:cs typeface="210 OmniGothic 040"/>
                        </a:rPr>
                        <a:t>배포</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lang="ko-KR" sz="1100" b="0">
                          <a:solidFill>
                            <a:srgbClr val="FF0000"/>
                          </a:solidFill>
                          <a:latin typeface="210 OmniGothic 040"/>
                          <a:ea typeface="210 OmniGothic 040"/>
                          <a:cs typeface="210 OmniGothic 040"/>
                        </a:rPr>
                        <a:t>전체</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lang="ko-KR" sz="1100" b="0">
                          <a:solidFill>
                            <a:srgbClr val="FF0000"/>
                          </a:solidFill>
                          <a:latin typeface="210 OmniGothic 040"/>
                          <a:ea typeface="210 OmniGothic 040"/>
                          <a:cs typeface="210 OmniGothic 040"/>
                        </a:rPr>
                        <a:t>시스템 구성도 8쪽, 모델 구성 106쪽</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lang="ko-KR" sz="1100" b="0">
                          <a:solidFill>
                            <a:srgbClr val="FF0000"/>
                          </a:solidFill>
                          <a:latin typeface="210 OmniGothic 040"/>
                          <a:ea typeface="210 OmniGothic 040"/>
                          <a:cs typeface="210 OmniGothic 040"/>
                        </a:rPr>
                        <a:t>구성 점검</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lang="ko-KR" sz="1100" b="0">
                          <a:solidFill>
                            <a:srgbClr val="FF0000"/>
                          </a:solidFill>
                          <a:latin typeface="210 OmniGothic 040"/>
                          <a:ea typeface="210 OmniGothic 040"/>
                          <a:cs typeface="210 OmniGothic 040"/>
                        </a:rPr>
                        <a:t>미수행</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lang="ko-KR" sz="1100" b="0">
                          <a:solidFill>
                            <a:srgbClr val="FF0000"/>
                          </a:solidFill>
                          <a:latin typeface="210 OmniGothic 040"/>
                          <a:ea typeface="210 OmniGothic 040"/>
                          <a:cs typeface="210 OmniGothic 040"/>
                        </a:rPr>
                        <a:t>설계 완료</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5"/>
                  </a:ext>
                </a:extLst>
              </a:tr>
              <a:tr h="520000">
                <a:tc>
                  <a:txBody>
                    <a:bodyPr/>
                    <a:lstStyle/>
                    <a:p>
                      <a:pPr algn="ctr"/>
                      <a:r>
                        <a:rPr lang="ko-KR" sz="1100" b="1">
                          <a:solidFill>
                            <a:srgbClr val="FF0000"/>
                          </a:solidFill>
                          <a:latin typeface="210 OmniGothic 040"/>
                          <a:ea typeface="210 OmniGothic 040"/>
                          <a:cs typeface="210 OmniGothic 040"/>
                        </a:rPr>
                        <a:t>TER-001</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r>
                        <a:rPr lang="ko-KR" sz="1100" b="1">
                          <a:solidFill>
                            <a:srgbClr val="FF0000"/>
                          </a:solidFill>
                          <a:latin typeface="210 OmniGothic 040"/>
                          <a:ea typeface="210 OmniGothic 040"/>
                          <a:cs typeface="210 OmniGothic 040"/>
                        </a:rPr>
                        <a:t>기능·통합 테스트</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ctr"/>
                      <a:r>
                        <a:rPr lang="ko-KR" sz="1100" b="0">
                          <a:solidFill>
                            <a:srgbClr val="FF0000"/>
                          </a:solidFill>
                          <a:latin typeface="210 OmniGothic 040"/>
                          <a:ea typeface="210 OmniGothic 040"/>
                          <a:cs typeface="210 OmniGothic 040"/>
                        </a:rPr>
                        <a:t>테스트</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r>
                        <a:rPr lang="ko-KR" sz="1100" b="0">
                          <a:solidFill>
                            <a:srgbClr val="FF0000"/>
                          </a:solidFill>
                          <a:latin typeface="210 OmniGothic 040"/>
                          <a:ea typeface="210 OmniGothic 040"/>
                          <a:cs typeface="210 OmniGothic 040"/>
                        </a:rPr>
                        <a:t>전체</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a:r>
                        <a:rPr lang="ko-KR" sz="1100" b="0">
                          <a:solidFill>
                            <a:srgbClr val="FF0000"/>
                          </a:solidFill>
                          <a:latin typeface="210 OmniGothic 040"/>
                          <a:ea typeface="210 OmniGothic 040"/>
                          <a:cs typeface="210 OmniGothic 040"/>
                        </a:rPr>
                        <a:t>테스트 사양서 (작성 예정)</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ctr"/>
                      <a:r>
                        <a:rPr lang="ko-KR" sz="1100" b="0">
                          <a:solidFill>
                            <a:srgbClr val="FF0000"/>
                          </a:solidFill>
                          <a:latin typeface="210 OmniGothic 040"/>
                          <a:ea typeface="210 OmniGothic 040"/>
                          <a:cs typeface="210 OmniGothic 040"/>
                        </a:rPr>
                        <a:t>—</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ctr"/>
                      <a:r>
                        <a:rPr lang="ko-KR" sz="1100" b="0">
                          <a:solidFill>
                            <a:srgbClr val="FF0000"/>
                          </a:solidFill>
                          <a:latin typeface="210 OmniGothic 040"/>
                          <a:ea typeface="210 OmniGothic 040"/>
                          <a:cs typeface="210 OmniGothic 040"/>
                        </a:rPr>
                        <a:t>미수행</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ctr"/>
                      <a:r>
                        <a:rPr lang="ko-KR" sz="1100" b="0">
                          <a:solidFill>
                            <a:srgbClr val="FF0000"/>
                          </a:solidFill>
                          <a:latin typeface="210 OmniGothic 040"/>
                          <a:ea typeface="210 OmniGothic 040"/>
                          <a:cs typeface="210 OmniGothic 040"/>
                        </a:rPr>
                        <a:t>설계 완료</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extLst>
                  <a:ext uri="{0D108BD9-81ED-4DB2-BD59-A6C34878D82A}">
                    <a16:rowId xmlns:a16="http://schemas.microsoft.com/office/drawing/2014/main" val="10006"/>
                  </a:ext>
                </a:extLst>
              </a:tr>
              <a:tr h="520000">
                <a:tc>
                  <a:txBody>
                    <a:bodyPr/>
                    <a:lstStyle/>
                    <a:p>
                      <a:pPr algn="ctr"/>
                      <a:r>
                        <a:rPr lang="ko-KR" sz="1100" b="1">
                          <a:solidFill>
                            <a:srgbClr val="FF0000"/>
                          </a:solidFill>
                          <a:latin typeface="210 OmniGothic 040"/>
                          <a:ea typeface="210 OmniGothic 040"/>
                          <a:cs typeface="210 OmniGothic 040"/>
                        </a:rPr>
                        <a:t>TER-002</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lang="ko-KR" sz="1100" b="1">
                          <a:solidFill>
                            <a:srgbClr val="FF0000"/>
                          </a:solidFill>
                          <a:latin typeface="210 OmniGothic 040"/>
                          <a:ea typeface="210 OmniGothic 040"/>
                          <a:cs typeface="210 OmniGothic 040"/>
                        </a:rPr>
                        <a:t>AI 모델 평가</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lang="ko-KR" sz="1100" b="0">
                          <a:solidFill>
                            <a:srgbClr val="FF0000"/>
                          </a:solidFill>
                          <a:latin typeface="210 OmniGothic 040"/>
                          <a:ea typeface="210 OmniGothic 040"/>
                          <a:cs typeface="210 OmniGothic 040"/>
                        </a:rPr>
                        <a:t>테스트</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lang="ko-KR" sz="1100" b="0">
                          <a:solidFill>
                            <a:srgbClr val="FF0000"/>
                          </a:solidFill>
                          <a:latin typeface="210 OmniGothic 040"/>
                          <a:ea typeface="210 OmniGothic 040"/>
                          <a:cs typeface="210 OmniGothic 040"/>
                        </a:rPr>
                        <a:t>F-09, F-11, F-13, F-15~F-30</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lang="ko-KR" sz="1100" b="0">
                          <a:solidFill>
                            <a:srgbClr val="FF0000"/>
                          </a:solidFill>
                          <a:latin typeface="210 OmniGothic 040"/>
                          <a:ea typeface="210 OmniGothic 040"/>
                          <a:cs typeface="210 OmniGothic 040"/>
                        </a:rPr>
                        <a:t>확산 예측 성능 지표 103쪽, 대응 제안 성능 지표 104쪽</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lang="ko-KR" sz="1100" b="0">
                          <a:solidFill>
                            <a:srgbClr val="FF0000"/>
                          </a:solidFill>
                          <a:latin typeface="210 OmniGothic 040"/>
                          <a:ea typeface="210 OmniGothic 040"/>
                          <a:cs typeface="210 OmniGothic 040"/>
                        </a:rPr>
                        <a:t>—</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lang="ko-KR" sz="1100" b="0">
                          <a:solidFill>
                            <a:srgbClr val="FF0000"/>
                          </a:solidFill>
                          <a:latin typeface="210 OmniGothic 040"/>
                          <a:ea typeface="210 OmniGothic 040"/>
                          <a:cs typeface="210 OmniGothic 040"/>
                        </a:rPr>
                        <a:t>미수행</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lang="ko-KR" sz="1100" b="0">
                          <a:solidFill>
                            <a:srgbClr val="FF0000"/>
                          </a:solidFill>
                          <a:latin typeface="210 OmniGothic 040"/>
                          <a:ea typeface="210 OmniGothic 040"/>
                          <a:cs typeface="210 OmniGothic 040"/>
                        </a:rPr>
                        <a:t>설계 완료</a:t>
                      </a:r>
                    </a:p>
                  </a:txBody>
                  <a:tcPr marL="64008" marR="64008"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7"/>
                  </a:ext>
                </a:extLst>
              </a:tr>
            </a:tbl>
          </a:graphicData>
        </a:graphic>
      </p:graphicFrame>
      <p:sp>
        <p:nvSpPr>
          <p:cNvPr id="9303" name="Note 9303"/>
          <p:cNvSpPr txBox="1"/>
          <p:nvPr/>
        </p:nvSpPr>
        <p:spPr>
          <a:xfrm>
            <a:off x="822960" y="8000000"/>
            <a:ext cx="16459200" cy="310896"/>
          </a:xfrm>
          <a:prstGeom prst="rect">
            <a:avLst/>
          </a:prstGeom>
          <a:noFill/>
        </p:spPr>
        <p:txBody>
          <a:bodyPr wrap="square" lIns="0" tIns="0" rIns="0" bIns="0" anchor="t">
            <a:spAutoFit/>
          </a:bodyPr>
          <a:lstStyle/>
          <a:p>
            <a:pPr algn="l"/>
            <a:r>
              <a:rPr sz="1150" b="0">
                <a:solidFill>
                  <a:srgbClr val="FF0000"/>
                </a:solidFill>
                <a:latin typeface="210 OmniGothic 030"/>
                <a:ea typeface="210 OmniGothic 030"/>
                <a:cs typeface="210 OmniGothic 030"/>
              </a:rPr>
              <a:t>※ 비기능 요구사항 ID·요구사항은 80~102쪽, 관련 기능 요구사항은 기능 요구사항 추적표(F-ID), 검증은 TER-001·TER-002 또는 구현 후 별도 시험(성능 측정·구성 점검·호환성 시험·사용성 점검) 기준입니다.</a:t>
            </a:r>
          </a:p>
        </p:txBody>
      </p:sp>
      <p:sp>
        <p:nvSpPr>
          <p:cNvPr id="9304" name="Note 9304"/>
          <p:cNvSpPr txBox="1"/>
          <p:nvPr/>
        </p:nvSpPr>
        <p:spPr>
          <a:xfrm>
            <a:off x="822960" y="8329184"/>
            <a:ext cx="16459200" cy="310896"/>
          </a:xfrm>
          <a:prstGeom prst="rect">
            <a:avLst/>
          </a:prstGeom>
          <a:noFill/>
        </p:spPr>
        <p:txBody>
          <a:bodyPr wrap="square" lIns="0" tIns="0" rIns="0" bIns="0" anchor="t">
            <a:spAutoFit/>
          </a:bodyPr>
          <a:lstStyle/>
          <a:p>
            <a:pPr algn="l"/>
            <a:r>
              <a:rPr sz="1150" b="0">
                <a:solidFill>
                  <a:srgbClr val="FF0000"/>
                </a:solidFill>
                <a:latin typeface="210 OmniGothic 030"/>
                <a:ea typeface="210 OmniGothic 030"/>
                <a:cs typeface="210 OmniGothic 030"/>
              </a:rPr>
              <a:t>※ 테스트 케이스 ID는 테스트 사양서 작성 시 부여하며, 구현·시험이 진행되면 테스트 결과(미수행 → Pass/Fail)와 상태를 갱신합니다.</a:t>
            </a: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21"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700" y="-12700"/>
            <a:ext cx="18313400" cy="1638300"/>
          </a:xfrm>
          <a:prstGeom prst="rect">
            <a:avLst/>
          </a:prstGeom>
        </p:spPr>
      </p:pic>
      <p:pic>
        <p:nvPicPr>
          <p:cNvPr id="5522"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28" y="1618343"/>
            <a:ext cx="18313400" cy="8699500"/>
          </a:xfrm>
          <a:prstGeom prst="rect">
            <a:avLst/>
          </a:prstGeom>
        </p:spPr>
      </p:pic>
      <p:pic>
        <p:nvPicPr>
          <p:cNvPr id="5523"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58800" y="9271000"/>
            <a:ext cx="17170400" cy="50800"/>
          </a:xfrm>
          <a:prstGeom prst="rect">
            <a:avLst/>
          </a:prstGeom>
        </p:spPr>
      </p:pic>
      <p:pic>
        <p:nvPicPr>
          <p:cNvPr id="5524" name="Picture 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278100" y="203200"/>
            <a:ext cx="1676400" cy="1409700"/>
          </a:xfrm>
          <a:prstGeom prst="rect">
            <a:avLst/>
          </a:prstGeom>
        </p:spPr>
      </p:pic>
      <p:sp>
        <p:nvSpPr>
          <p:cNvPr id="5525" name="Title"/>
          <p:cNvSpPr txBox="1"/>
          <p:nvPr/>
        </p:nvSpPr>
        <p:spPr>
          <a:xfrm>
            <a:off x="822960" y="384048"/>
            <a:ext cx="13258800" cy="877824"/>
          </a:xfrm>
          <a:prstGeom prst="rect">
            <a:avLst/>
          </a:prstGeom>
          <a:noFill/>
        </p:spPr>
        <p:txBody>
          <a:bodyPr wrap="square" lIns="0" tIns="0" rIns="0" bIns="0" anchor="ctr">
            <a:spAutoFit/>
          </a:bodyPr>
          <a:lstStyle/>
          <a:p>
            <a:pPr algn="l"/>
            <a:r>
              <a:rPr sz="4400" b="0">
                <a:solidFill>
                  <a:srgbClr val="FF7B7B"/>
                </a:solidFill>
                <a:latin typeface="210 OmniGothic 050"/>
                <a:ea typeface="210 OmniGothic 050"/>
                <a:cs typeface="210 OmniGothic 050"/>
              </a:rPr>
              <a:t>참고문헌</a:t>
            </a:r>
          </a:p>
        </p:txBody>
      </p:sp>
      <p:sp>
        <p:nvSpPr>
          <p:cNvPr id="5526" name="Subtitle"/>
          <p:cNvSpPr txBox="1"/>
          <p:nvPr/>
        </p:nvSpPr>
        <p:spPr>
          <a:xfrm>
            <a:off x="822960" y="1764792"/>
            <a:ext cx="16642080" cy="502920"/>
          </a:xfrm>
          <a:prstGeom prst="rect">
            <a:avLst/>
          </a:prstGeom>
          <a:noFill/>
        </p:spPr>
        <p:txBody>
          <a:bodyPr wrap="square" lIns="0" tIns="0" rIns="0" bIns="0" anchor="ctr">
            <a:spAutoFit/>
          </a:bodyPr>
          <a:lstStyle/>
          <a:p>
            <a:pPr algn="ctr"/>
            <a:r>
              <a:rPr sz="2600" b="1">
                <a:solidFill>
                  <a:srgbClr val="FF0000"/>
                </a:solidFill>
                <a:latin typeface="210 OmniGothic 040"/>
                <a:ea typeface="210 OmniGothic 040"/>
                <a:cs typeface="210 OmniGothic 040"/>
              </a:rPr>
              <a:t>참고문헌 (1/2) — 법령·문서 · 피해 통계 · 데이터 · 모델과 도구</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sz="quarter" idx="12"/>
          </p:nvPr>
        </p:nvSpPr>
        <p:spPr/>
        <p:txBody>
          <a:bodyPr/>
          <a:lstStyle/>
          <a:p>
            <a:fld id="{B6F15528-21DE-4FAA-801E-634DDDAF4B2B}" type="slidenum">
              <a:rPr lang="en-US" smtClean="0"/>
              <a:pPr/>
              <a:t>116</a:t>
            </a:fld>
            <a:endParaRPr lang="en-US"/>
          </a:p>
        </p:txBody>
      </p:sp>
      <p:sp>
        <p:nvSpPr>
          <p:cNvPr id="5527" name="Refs Left"/>
          <p:cNvSpPr txBox="1"/>
          <p:nvPr/>
        </p:nvSpPr>
        <p:spPr>
          <a:xfrm>
            <a:off x="822960" y="2468880"/>
            <a:ext cx="8092440" cy="6583680"/>
          </a:xfrm>
          <a:prstGeom prst="rect">
            <a:avLst/>
          </a:prstGeom>
          <a:noFill/>
        </p:spPr>
        <p:txBody>
          <a:bodyPr wrap="square" lIns="0" tIns="0" rIns="0" bIns="0" anchor="t">
            <a:spAutoFit/>
          </a:bodyPr>
          <a:lstStyle/>
          <a:p>
            <a:pPr algn="l">
              <a:spcAft>
                <a:spcPts val="300"/>
              </a:spcAft>
              <a:buNone/>
            </a:pPr>
            <a:r>
              <a:rPr lang="ko-KR" altLang="en-US" sz="1400" b="1">
                <a:solidFill>
                  <a:srgbClr val="FF0000"/>
                </a:solidFill>
                <a:latin typeface="210 OmniGothic 040"/>
                <a:ea typeface="210 OmniGothic 040"/>
                <a:cs typeface="210 OmniGothic 040"/>
              </a:rPr>
              <a:t>가. 법령·매뉴얼·공공 문서</a:t>
            </a:r>
            <a:endParaRPr lang="ko-KR" sz="1400"/>
          </a:p>
          <a:p>
            <a:pPr algn="l" marL="384048" indent="-384048">
              <a:lnSpc>
                <a:spcPct val="105000"/>
              </a:lnSpc>
              <a:spcAft>
                <a:spcPts val="350"/>
              </a:spcAft>
              <a:buNone/>
            </a:pPr>
            <a:r>
              <a:rPr lang="ko-KR" altLang="en-US" sz="1200" b="1">
                <a:solidFill>
                  <a:srgbClr val="FF0000"/>
                </a:solidFill>
                <a:latin typeface="210 OmniGothic 040"/>
                <a:ea typeface="210 OmniGothic 040"/>
                <a:cs typeface="210 OmniGothic 040"/>
              </a:rPr>
              <a:t>[1] </a:t>
            </a:r>
            <a:r>
              <a:rPr lang="ko-KR" altLang="en-US" sz="1200" b="0">
                <a:solidFill>
                  <a:srgbClr val="FF0000"/>
                </a:solidFill>
                <a:latin typeface="210 OmniGothic 040"/>
                <a:ea typeface="210 OmniGothic 040"/>
                <a:cs typeface="210 OmniGothic 040"/>
              </a:rPr>
              <a:t>산림청 (2026.6. 일부개정). 「산불 재난」 위기관리 표준매뉴얼. (본문 p.50·72~79·84·119 인용)</a:t>
            </a:r>
            <a:endParaRPr lang="ko-KR" sz="1200"/>
          </a:p>
          <a:p>
            <a:pPr algn="l" marL="384048" indent="-384048">
              <a:lnSpc>
                <a:spcPct val="105000"/>
              </a:lnSpc>
              <a:spcAft>
                <a:spcPts val="350"/>
              </a:spcAft>
              <a:buNone/>
            </a:pPr>
            <a:r>
              <a:rPr lang="ko-KR" altLang="en-US" sz="1200" b="1">
                <a:solidFill>
                  <a:srgbClr val="FF0000"/>
                </a:solidFill>
                <a:latin typeface="210 OmniGothic 040"/>
                <a:ea typeface="210 OmniGothic 040"/>
                <a:cs typeface="210 OmniGothic 040"/>
              </a:rPr>
              <a:t>[2] </a:t>
            </a:r>
            <a:r>
              <a:rPr lang="ko-KR" altLang="en-US" sz="1200" b="0">
                <a:solidFill>
                  <a:srgbClr val="FF0000"/>
                </a:solidFill>
                <a:latin typeface="210 OmniGothic 040"/>
                <a:ea typeface="210 OmniGothic 040"/>
                <a:cs typeface="210 OmniGothic 040"/>
              </a:rPr>
              <a:t>산림청 외 6개 부처 (2026.8.25. 개정). 산불진화기관의 임무와 역할에 관한 규정, 산림청예규 제733호.</a:t>
            </a:r>
            <a:endParaRPr lang="ko-KR" sz="1200"/>
          </a:p>
          <a:p>
            <a:pPr algn="l" marL="384048" indent="-384048">
              <a:lnSpc>
                <a:spcPct val="105000"/>
              </a:lnSpc>
              <a:spcAft>
                <a:spcPts val="350"/>
              </a:spcAft>
              <a:buNone/>
            </a:pPr>
            <a:r>
              <a:rPr lang="ko-KR" altLang="en-US" sz="1200" b="1">
                <a:solidFill>
                  <a:srgbClr val="FF0000"/>
                </a:solidFill>
                <a:latin typeface="210 OmniGothic 040"/>
                <a:ea typeface="210 OmniGothic 040"/>
                <a:cs typeface="210 OmniGothic 040"/>
              </a:rPr>
              <a:t>[3] </a:t>
            </a:r>
            <a:r>
              <a:rPr lang="ko-KR" altLang="en-US" sz="1200" b="0">
                <a:solidFill>
                  <a:srgbClr val="FF0000"/>
                </a:solidFill>
                <a:latin typeface="210 OmniGothic 040"/>
                <a:ea typeface="210 OmniGothic 040"/>
                <a:cs typeface="210 OmniGothic 040"/>
              </a:rPr>
              <a:t>산림청 (2026.5.4. 시행). 산불관리통합규정, 산림청훈령 제1720호.</a:t>
            </a:r>
            <a:endParaRPr lang="ko-KR" sz="1200"/>
          </a:p>
          <a:p>
            <a:pPr algn="l" marL="384048" indent="-384048">
              <a:lnSpc>
                <a:spcPct val="105000"/>
              </a:lnSpc>
              <a:spcAft>
                <a:spcPts val="350"/>
              </a:spcAft>
              <a:buNone/>
            </a:pPr>
            <a:r>
              <a:rPr lang="ko-KR" altLang="en-US" sz="1200" b="1">
                <a:solidFill>
                  <a:srgbClr val="FF0000"/>
                </a:solidFill>
                <a:latin typeface="210 OmniGothic 040"/>
                <a:ea typeface="210 OmniGothic 040"/>
                <a:cs typeface="210 OmniGothic 040"/>
              </a:rPr>
              <a:t>[4] </a:t>
            </a:r>
            <a:r>
              <a:rPr lang="ko-KR" altLang="en-US" sz="1200" b="0">
                <a:solidFill>
                  <a:srgbClr val="FF0000"/>
                </a:solidFill>
                <a:latin typeface="210 OmniGothic 040"/>
                <a:ea typeface="210 OmniGothic 040"/>
                <a:cs typeface="210 OmniGothic 040"/>
              </a:rPr>
              <a:t>산림재난방지법 제34조(통합지휘) 및 같은 법 시행령(대응단계), 2026.2.1. 시행. 국가법령정보센터 law.go.kr</a:t>
            </a:r>
            <a:endParaRPr lang="ko-KR" sz="1200"/>
          </a:p>
          <a:p>
            <a:pPr algn="l" marL="384048" indent="-384048">
              <a:lnSpc>
                <a:spcPct val="105000"/>
              </a:lnSpc>
              <a:spcAft>
                <a:spcPts val="350"/>
              </a:spcAft>
              <a:buNone/>
            </a:pPr>
            <a:r>
              <a:rPr lang="ko-KR" altLang="en-US" sz="1200" b="1">
                <a:solidFill>
                  <a:srgbClr val="FF0000"/>
                </a:solidFill>
                <a:latin typeface="210 OmniGothic 040"/>
                <a:ea typeface="210 OmniGothic 040"/>
                <a:cs typeface="210 OmniGothic 040"/>
              </a:rPr>
              <a:t>[5] </a:t>
            </a:r>
            <a:r>
              <a:rPr lang="ko-KR" altLang="en-US" sz="1200" b="0">
                <a:solidFill>
                  <a:srgbClr val="FF0000"/>
                </a:solidFill>
                <a:latin typeface="210 OmniGothic 040"/>
                <a:ea typeface="210 OmniGothic 040"/>
                <a:cs typeface="210 OmniGothic 040"/>
              </a:rPr>
              <a:t>재난 및 안전관리 기본법 제3조(정의) 및 같은 법 시행령 별표 1의3(재난관리주관기관). 국가법령정보센터 law.go.kr</a:t>
            </a:r>
            <a:endParaRPr lang="ko-KR" sz="1200"/>
          </a:p>
          <a:p>
            <a:pPr algn="l" marL="384048" indent="-384048">
              <a:lnSpc>
                <a:spcPct val="105000"/>
              </a:lnSpc>
              <a:spcAft>
                <a:spcPts val="350"/>
              </a:spcAft>
              <a:buNone/>
            </a:pPr>
            <a:r>
              <a:rPr lang="ko-KR" altLang="en-US" sz="1200" b="1">
                <a:solidFill>
                  <a:srgbClr val="FF0000"/>
                </a:solidFill>
                <a:latin typeface="210 OmniGothic 040"/>
                <a:ea typeface="210 OmniGothic 040"/>
                <a:cs typeface="210 OmniGothic 040"/>
              </a:rPr>
              <a:t>[6] </a:t>
            </a:r>
            <a:r>
              <a:rPr lang="ko-KR" altLang="en-US" sz="1200" b="0">
                <a:solidFill>
                  <a:srgbClr val="FF0000"/>
                </a:solidFill>
                <a:latin typeface="210 OmniGothic 040"/>
                <a:ea typeface="210 OmniGothic 040"/>
                <a:cs typeface="210 OmniGothic 040"/>
              </a:rPr>
              <a:t>배재현·유제범 (2025.6.27.). 산불 대응 및 지휘체계의 현황과 개선과제, NARS 현안분석 제355호. 국회입법조사처 산불대응연구TF.</a:t>
            </a:r>
            <a:endParaRPr lang="ko-KR" sz="1200"/>
          </a:p>
          <a:p>
            <a:pPr algn="l" marL="384048" indent="-384048">
              <a:lnSpc>
                <a:spcPct val="105000"/>
              </a:lnSpc>
              <a:spcAft>
                <a:spcPts val="350"/>
              </a:spcAft>
              <a:buNone/>
            </a:pPr>
            <a:r>
              <a:rPr lang="ko-KR" altLang="en-US" sz="1200" b="1">
                <a:solidFill>
                  <a:srgbClr val="FF0000"/>
                </a:solidFill>
                <a:latin typeface="210 OmniGothic 040"/>
                <a:ea typeface="210 OmniGothic 040"/>
                <a:cs typeface="210 OmniGothic 040"/>
              </a:rPr>
              <a:t>[7] </a:t>
            </a:r>
            <a:r>
              <a:rPr lang="ko-KR" altLang="en-US" sz="1200" b="0">
                <a:solidFill>
                  <a:srgbClr val="FF0000"/>
                </a:solidFill>
                <a:latin typeface="210 OmniGothic 040"/>
                <a:ea typeface="210 OmniGothic 040"/>
                <a:cs typeface="210 OmniGothic 040"/>
              </a:rPr>
              <a:t>국립산림과학원 (2026.6.). AI 기반 산불확산예측 알고리즘 설명서, 연구자료 제1207호. (표 10·11)</a:t>
            </a:r>
            <a:endParaRPr lang="ko-KR" sz="1200"/>
          </a:p>
          <a:p>
            <a:pPr algn="l" marL="384048" indent="-384048">
              <a:lnSpc>
                <a:spcPct val="105000"/>
              </a:lnSpc>
              <a:spcAft>
                <a:spcPts val="350"/>
              </a:spcAft>
              <a:buNone/>
            </a:pPr>
            <a:r>
              <a:rPr lang="ko-KR" altLang="en-US" sz="1200" b="1">
                <a:solidFill>
                  <a:srgbClr val="FF0000"/>
                </a:solidFill>
                <a:latin typeface="210 OmniGothic 040"/>
                <a:ea typeface="210 OmniGothic 040"/>
                <a:cs typeface="210 OmniGothic 040"/>
              </a:rPr>
              <a:t>[8] </a:t>
            </a:r>
            <a:r>
              <a:rPr lang="ko-KR" altLang="en-US" sz="1200" b="0">
                <a:solidFill>
                  <a:srgbClr val="FF0000"/>
                </a:solidFill>
                <a:latin typeface="210 OmniGothic 040"/>
                <a:ea typeface="210 OmniGothic 040"/>
                <a:cs typeface="210 OmniGothic 040"/>
              </a:rPr>
              <a:t>국립산림과학원 국가산불위험예보시스템(산불확산예측) forestfire.nifos.go.kr · 산림청 국가산불정보시스템 fd.forest.go.kr</a:t>
            </a:r>
            <a:endParaRPr lang="ko-KR" sz="1200"/>
          </a:p>
          <a:p>
            <a:pPr algn="l">
              <a:spcBef>
                <a:spcPts val="900"/>
              </a:spcBef>
              <a:spcAft>
                <a:spcPts val="300"/>
              </a:spcAft>
              <a:buNone/>
            </a:pPr>
            <a:r>
              <a:rPr lang="ko-KR" altLang="en-US" sz="1400" b="1">
                <a:solidFill>
                  <a:srgbClr val="FF0000"/>
                </a:solidFill>
                <a:latin typeface="210 OmniGothic 040"/>
                <a:ea typeface="210 OmniGothic 040"/>
                <a:cs typeface="210 OmniGothic 040"/>
              </a:rPr>
              <a:t>나. 피해 통계 (언론 보도)</a:t>
            </a:r>
            <a:endParaRPr lang="ko-KR" sz="1400"/>
          </a:p>
          <a:p>
            <a:pPr algn="l" marL="384048" indent="-384048">
              <a:lnSpc>
                <a:spcPct val="105000"/>
              </a:lnSpc>
              <a:spcAft>
                <a:spcPts val="350"/>
              </a:spcAft>
              <a:buNone/>
            </a:pPr>
            <a:r>
              <a:rPr lang="ko-KR" altLang="en-US" sz="1200" b="1">
                <a:solidFill>
                  <a:srgbClr val="FF0000"/>
                </a:solidFill>
                <a:latin typeface="210 OmniGothic 040"/>
                <a:ea typeface="210 OmniGothic 040"/>
                <a:cs typeface="210 OmniGothic 040"/>
              </a:rPr>
              <a:t>[9] </a:t>
            </a:r>
            <a:r>
              <a:rPr lang="ko-KR" altLang="en-US" sz="1200" b="0">
                <a:solidFill>
                  <a:srgbClr val="FF0000"/>
                </a:solidFill>
                <a:latin typeface="210 OmniGothic 040"/>
                <a:ea typeface="210 OmniGothic 040"/>
                <a:cs typeface="210 OmniGothic 040"/>
              </a:rPr>
              <a:t>경향신문 (2025.3.29.). 영남 산불 사망 30명·부상 43명, 피해 면적 482㎢…의성 재발화 진화 중. (중앙재난안전대책본부 집계)</a:t>
            </a:r>
            <a:endParaRPr lang="ko-KR" sz="1200"/>
          </a:p>
          <a:p>
            <a:pPr algn="l" marL="384048" indent="-384048">
              <a:lnSpc>
                <a:spcPct val="105000"/>
              </a:lnSpc>
              <a:spcAft>
                <a:spcPts val="350"/>
              </a:spcAft>
              <a:buNone/>
            </a:pPr>
            <a:r>
              <a:rPr lang="ko-KR" altLang="en-US" sz="1200" b="1">
                <a:solidFill>
                  <a:srgbClr val="FF0000"/>
                </a:solidFill>
                <a:latin typeface="210 OmniGothic 040"/>
                <a:ea typeface="210 OmniGothic 040"/>
                <a:cs typeface="210 OmniGothic 040"/>
              </a:rPr>
              <a:t>[10] </a:t>
            </a:r>
            <a:r>
              <a:rPr lang="ko-KR" altLang="en-US" sz="1200" b="0">
                <a:solidFill>
                  <a:srgbClr val="FF0000"/>
                </a:solidFill>
                <a:latin typeface="210 OmniGothic 040"/>
                <a:ea typeface="210 OmniGothic 040"/>
                <a:cs typeface="210 OmniGothic 040"/>
              </a:rPr>
              <a:t>한국경제 (2025.3.28.). [단독] '최악의 산불' 사망자 28명 중 26명, 거동 힘든 노인이었다. (경상북도 등 지자체 집계)</a:t>
            </a:r>
            <a:endParaRPr lang="ko-KR" sz="1200"/>
          </a:p>
          <a:p>
            <a:pPr algn="l" marL="384048" indent="-384048">
              <a:lnSpc>
                <a:spcPct val="105000"/>
              </a:lnSpc>
              <a:spcAft>
                <a:spcPts val="350"/>
              </a:spcAft>
              <a:buNone/>
            </a:pPr>
            <a:r>
              <a:rPr lang="ko-KR" altLang="en-US" sz="1200" b="1">
                <a:solidFill>
                  <a:srgbClr val="FF0000"/>
                </a:solidFill>
                <a:latin typeface="210 OmniGothic 040"/>
                <a:ea typeface="210 OmniGothic 040"/>
                <a:cs typeface="210 OmniGothic 040"/>
              </a:rPr>
              <a:t>[11] </a:t>
            </a:r>
            <a:r>
              <a:rPr lang="ko-KR" altLang="en-US" sz="1200" b="0">
                <a:solidFill>
                  <a:srgbClr val="FF0000"/>
                </a:solidFill>
                <a:latin typeface="210 OmniGothic 040"/>
                <a:ea typeface="210 OmniGothic 040"/>
                <a:cs typeface="210 OmniGothic 040"/>
              </a:rPr>
              <a:t>매일신문 (2025.6.29.). 인명 183명·재산 1조818억원…영남권 산불 피해 '역대 최악'. (중앙재난안전대책본부 피해 확정 집계)</a:t>
            </a:r>
            <a:endParaRPr lang="ko-KR" sz="1200"/>
          </a:p>
          <a:p>
            <a:pPr algn="l" marL="384048" indent="-384048">
              <a:lnSpc>
                <a:spcPct val="105000"/>
              </a:lnSpc>
              <a:spcAft>
                <a:spcPts val="350"/>
              </a:spcAft>
              <a:buNone/>
            </a:pPr>
            <a:r>
              <a:rPr lang="ko-KR" altLang="en-US" sz="1200" b="1">
                <a:solidFill>
                  <a:srgbClr val="FF0000"/>
                </a:solidFill>
                <a:latin typeface="210 OmniGothic 040"/>
                <a:ea typeface="210 OmniGothic 040"/>
                <a:cs typeface="210 OmniGothic 040"/>
              </a:rPr>
              <a:t>[12] </a:t>
            </a:r>
            <a:r>
              <a:rPr lang="ko-KR" altLang="en-US" sz="1200" b="0">
                <a:solidFill>
                  <a:srgbClr val="FF0000"/>
                </a:solidFill>
                <a:latin typeface="210 OmniGothic 040"/>
                <a:ea typeface="210 OmniGothic 040"/>
                <a:cs typeface="210 OmniGothic 040"/>
              </a:rPr>
              <a:t>YTN (2025.4.9.). '산불 예보' 적중했지만 '확산 예측 시스템' 역부족.</a:t>
            </a:r>
            <a:endParaRPr lang="ko-KR" sz="1200"/>
          </a:p>
        </p:txBody>
      </p:sp>
      <p:sp>
        <p:nvSpPr>
          <p:cNvPr id="5528" name="Refs Right"/>
          <p:cNvSpPr txBox="1"/>
          <p:nvPr/>
        </p:nvSpPr>
        <p:spPr>
          <a:xfrm>
            <a:off x="9372600" y="2468880"/>
            <a:ext cx="8092440" cy="6583680"/>
          </a:xfrm>
          <a:prstGeom prst="rect">
            <a:avLst/>
          </a:prstGeom>
          <a:noFill/>
        </p:spPr>
        <p:txBody>
          <a:bodyPr wrap="square" lIns="0" tIns="0" rIns="0" bIns="0" anchor="t">
            <a:spAutoFit/>
          </a:bodyPr>
          <a:lstStyle/>
          <a:p>
            <a:pPr algn="l">
              <a:spcAft>
                <a:spcPts val="300"/>
              </a:spcAft>
              <a:buNone/>
            </a:pPr>
            <a:r>
              <a:rPr lang="ko-KR" altLang="en-US" sz="1400" b="1">
                <a:solidFill>
                  <a:srgbClr val="FF0000"/>
                </a:solidFill>
                <a:latin typeface="210 OmniGothic 040"/>
                <a:ea typeface="210 OmniGothic 040"/>
                <a:cs typeface="210 OmniGothic 040"/>
              </a:rPr>
              <a:t>다. 데이터</a:t>
            </a:r>
            <a:endParaRPr lang="ko-KR" sz="1400"/>
          </a:p>
          <a:p>
            <a:pPr algn="l" marL="384048" indent="-384048">
              <a:lnSpc>
                <a:spcPct val="105000"/>
              </a:lnSpc>
              <a:spcAft>
                <a:spcPts val="350"/>
              </a:spcAft>
              <a:buNone/>
            </a:pPr>
            <a:r>
              <a:rPr lang="ko-KR" altLang="en-US" sz="1200" b="1">
                <a:solidFill>
                  <a:srgbClr val="FF0000"/>
                </a:solidFill>
                <a:latin typeface="210 OmniGothic 040"/>
                <a:ea typeface="210 OmniGothic 040"/>
                <a:cs typeface="210 OmniGothic 040"/>
              </a:rPr>
              <a:t>[13] </a:t>
            </a:r>
            <a:r>
              <a:rPr lang="ko-KR" altLang="en-US" sz="1200" b="0">
                <a:solidFill>
                  <a:srgbClr val="FF0000"/>
                </a:solidFill>
                <a:latin typeface="210 OmniGothic 040"/>
                <a:ea typeface="210 OmniGothic 040"/>
                <a:cs typeface="210 OmniGothic 040"/>
              </a:rPr>
              <a:t>AI Hub. 산불 확산 위험 대응방안 추론 데이터(데이터셋 71921). aihub.or.kr</a:t>
            </a:r>
            <a:endParaRPr lang="ko-KR" sz="1200"/>
          </a:p>
          <a:p>
            <a:pPr algn="l" marL="384048" indent="-384048">
              <a:lnSpc>
                <a:spcPct val="105000"/>
              </a:lnSpc>
              <a:spcAft>
                <a:spcPts val="350"/>
              </a:spcAft>
              <a:buNone/>
            </a:pPr>
            <a:r>
              <a:rPr lang="ko-KR" altLang="en-US" sz="1200" b="1">
                <a:solidFill>
                  <a:srgbClr val="FF0000"/>
                </a:solidFill>
                <a:latin typeface="210 OmniGothic 040"/>
                <a:ea typeface="210 OmniGothic 040"/>
                <a:cs typeface="210 OmniGothic 040"/>
              </a:rPr>
              <a:t>[14] </a:t>
            </a:r>
            <a:r>
              <a:rPr lang="ko-KR" altLang="en-US" sz="1200" b="0">
                <a:solidFill>
                  <a:srgbClr val="FF0000"/>
                </a:solidFill>
                <a:latin typeface="210 OmniGothic 040"/>
                <a:ea typeface="210 OmniGothic 040"/>
                <a:cs typeface="210 OmniGothic 040"/>
              </a:rPr>
              <a:t>기상청. 단기예보 조회서비스(공공데이터포털 15084084). data.go.kr</a:t>
            </a:r>
            <a:endParaRPr lang="ko-KR" sz="1200"/>
          </a:p>
          <a:p>
            <a:pPr algn="l" marL="384048" indent="-384048">
              <a:lnSpc>
                <a:spcPct val="105000"/>
              </a:lnSpc>
              <a:spcAft>
                <a:spcPts val="350"/>
              </a:spcAft>
              <a:buNone/>
            </a:pPr>
            <a:r>
              <a:rPr lang="ko-KR" altLang="en-US" sz="1200" b="1">
                <a:solidFill>
                  <a:srgbClr val="FF0000"/>
                </a:solidFill>
                <a:latin typeface="210 OmniGothic 040"/>
                <a:ea typeface="210 OmniGothic 040"/>
                <a:cs typeface="210 OmniGothic 040"/>
              </a:rPr>
              <a:t>[15] </a:t>
            </a:r>
            <a:r>
              <a:rPr lang="ko-KR" altLang="en-US" sz="1200" b="0">
                <a:solidFill>
                  <a:srgbClr val="FF0000"/>
                </a:solidFill>
                <a:latin typeface="210 OmniGothic 040"/>
                <a:ea typeface="210 OmniGothic 040"/>
                <a:cs typeface="210 OmniGothic 040"/>
              </a:rPr>
              <a:t>국토지리정보원. 수치표고모델 DEM 30 m(공공데이터포털 15059920). data.go.kr</a:t>
            </a:r>
            <a:endParaRPr lang="ko-KR" sz="1200"/>
          </a:p>
          <a:p>
            <a:pPr algn="l" marL="384048" indent="-384048">
              <a:lnSpc>
                <a:spcPct val="105000"/>
              </a:lnSpc>
              <a:spcAft>
                <a:spcPts val="350"/>
              </a:spcAft>
              <a:buNone/>
            </a:pPr>
            <a:r>
              <a:rPr lang="ko-KR" altLang="en-US" sz="1200" b="1">
                <a:solidFill>
                  <a:srgbClr val="FF0000"/>
                </a:solidFill>
                <a:latin typeface="210 OmniGothic 040"/>
                <a:ea typeface="210 OmniGothic 040"/>
                <a:cs typeface="210 OmniGothic 040"/>
              </a:rPr>
              <a:t>[16] </a:t>
            </a:r>
            <a:r>
              <a:rPr lang="ko-KR" altLang="en-US" sz="1200" b="0">
                <a:solidFill>
                  <a:srgbClr val="FF0000"/>
                </a:solidFill>
                <a:latin typeface="210 OmniGothic 040"/>
                <a:ea typeface="210 OmniGothic 040"/>
                <a:cs typeface="210 OmniGothic 040"/>
              </a:rPr>
              <a:t>산림청. 임상도 1:5,000(공공데이터포털 15093362). data.go.kr</a:t>
            </a:r>
            <a:endParaRPr lang="ko-KR" sz="1200"/>
          </a:p>
          <a:p>
            <a:pPr algn="l" marL="384048" indent="-384048">
              <a:lnSpc>
                <a:spcPct val="105000"/>
              </a:lnSpc>
              <a:spcAft>
                <a:spcPts val="350"/>
              </a:spcAft>
              <a:buNone/>
            </a:pPr>
            <a:r>
              <a:rPr lang="ko-KR" altLang="en-US" sz="1200" b="1">
                <a:solidFill>
                  <a:srgbClr val="FF0000"/>
                </a:solidFill>
                <a:latin typeface="210 OmniGothic 040"/>
                <a:ea typeface="210 OmniGothic 040"/>
                <a:cs typeface="210 OmniGothic 040"/>
              </a:rPr>
              <a:t>[17] </a:t>
            </a:r>
            <a:r>
              <a:rPr lang="ko-KR" altLang="en-US" sz="1200" b="0">
                <a:solidFill>
                  <a:srgbClr val="FF0000"/>
                </a:solidFill>
                <a:latin typeface="210 OmniGothic 040"/>
                <a:ea typeface="210 OmniGothic 040"/>
                <a:cs typeface="210 OmniGothic 040"/>
              </a:rPr>
              <a:t>국가데이터처. SGIS 행정구역 통계(성·연령별 인구, 행정동) 및 경계, 2025.6.30. 기준. sgis.kostat.go.kr</a:t>
            </a:r>
            <a:endParaRPr lang="ko-KR" sz="1200"/>
          </a:p>
          <a:p>
            <a:pPr algn="l" marL="384048" indent="-384048">
              <a:lnSpc>
                <a:spcPct val="105000"/>
              </a:lnSpc>
              <a:spcAft>
                <a:spcPts val="350"/>
              </a:spcAft>
              <a:buNone/>
            </a:pPr>
            <a:r>
              <a:rPr lang="ko-KR" altLang="en-US" sz="1200" b="1">
                <a:solidFill>
                  <a:srgbClr val="FF0000"/>
                </a:solidFill>
                <a:latin typeface="210 OmniGothic 040"/>
                <a:ea typeface="210 OmniGothic 040"/>
                <a:cs typeface="210 OmniGothic 040"/>
              </a:rPr>
              <a:t>[18] </a:t>
            </a:r>
            <a:r>
              <a:rPr lang="ko-KR" altLang="en-US" sz="1200" b="0">
                <a:solidFill>
                  <a:srgbClr val="FF0000"/>
                </a:solidFill>
                <a:latin typeface="210 OmniGothic 040"/>
                <a:ea typeface="210 OmniGothic 040"/>
                <a:cs typeface="210 OmniGothic 040"/>
              </a:rPr>
              <a:t>OpenStreetMap contributors. OpenStreetMap(ODbL 라이선스). openstreetmap.org</a:t>
            </a:r>
            <a:endParaRPr lang="ko-KR" sz="1200"/>
          </a:p>
          <a:p>
            <a:pPr algn="l">
              <a:spcBef>
                <a:spcPts val="900"/>
              </a:spcBef>
              <a:spcAft>
                <a:spcPts val="300"/>
              </a:spcAft>
              <a:buNone/>
            </a:pPr>
            <a:r>
              <a:rPr lang="ko-KR" altLang="en-US" sz="1400" b="1">
                <a:solidFill>
                  <a:srgbClr val="FF0000"/>
                </a:solidFill>
                <a:latin typeface="210 OmniGothic 040"/>
                <a:ea typeface="210 OmniGothic 040"/>
                <a:cs typeface="210 OmniGothic 040"/>
              </a:rPr>
              <a:t>라. 모델·도구</a:t>
            </a:r>
            <a:endParaRPr lang="ko-KR" sz="1400"/>
          </a:p>
          <a:p>
            <a:pPr algn="l" marL="384048" indent="-384048">
              <a:lnSpc>
                <a:spcPct val="105000"/>
              </a:lnSpc>
              <a:spcAft>
                <a:spcPts val="350"/>
              </a:spcAft>
              <a:buNone/>
            </a:pPr>
            <a:r>
              <a:rPr lang="ko-KR" altLang="en-US" sz="1200" b="1">
                <a:solidFill>
                  <a:srgbClr val="FF0000"/>
                </a:solidFill>
                <a:latin typeface="210 OmniGothic 040"/>
                <a:ea typeface="210 OmniGothic 040"/>
                <a:cs typeface="210 OmniGothic 040"/>
              </a:rPr>
              <a:t>[19] </a:t>
            </a:r>
            <a:r>
              <a:rPr lang="ko-KR" altLang="en-US" sz="1200" b="0">
                <a:solidFill>
                  <a:srgbClr val="FF0000"/>
                </a:solidFill>
                <a:latin typeface="210 OmniGothic 040"/>
                <a:ea typeface="210 OmniGothic 040"/>
                <a:cs typeface="210 OmniGothic 040"/>
              </a:rPr>
              <a:t>Lautenberger, C. (2013). Wildland fire modeling with an Eulerian level set method and automated calibration. Fire Safety Journal 62, 289–298. (ELMFIRE)</a:t>
            </a:r>
            <a:endParaRPr lang="ko-KR" sz="1200"/>
          </a:p>
          <a:p>
            <a:pPr algn="l" marL="384048" indent="-384048">
              <a:lnSpc>
                <a:spcPct val="105000"/>
              </a:lnSpc>
              <a:spcAft>
                <a:spcPts val="350"/>
              </a:spcAft>
              <a:buNone/>
            </a:pPr>
            <a:r>
              <a:rPr lang="ko-KR" altLang="en-US" sz="1200" b="1">
                <a:solidFill>
                  <a:srgbClr val="FF0000"/>
                </a:solidFill>
                <a:latin typeface="210 OmniGothic 040"/>
                <a:ea typeface="210 OmniGothic 040"/>
                <a:cs typeface="210 OmniGothic 040"/>
              </a:rPr>
              <a:t>[20] </a:t>
            </a:r>
            <a:r>
              <a:rPr lang="ko-KR" altLang="en-US" sz="1200" b="0">
                <a:solidFill>
                  <a:srgbClr val="FF0000"/>
                </a:solidFill>
                <a:latin typeface="210 OmniGothic 040"/>
                <a:ea typeface="210 OmniGothic 040"/>
                <a:cs typeface="210 OmniGothic 040"/>
              </a:rPr>
              <a:t>Rothermel, R. C. (1972). A mathematical model for predicting fire spread in wildland fuels. USDA Forest Service Research Paper INT-115.</a:t>
            </a:r>
            <a:endParaRPr lang="ko-KR" sz="1200"/>
          </a:p>
          <a:p>
            <a:pPr algn="l" marL="384048" indent="-384048">
              <a:lnSpc>
                <a:spcPct val="105000"/>
              </a:lnSpc>
              <a:spcAft>
                <a:spcPts val="350"/>
              </a:spcAft>
              <a:buNone/>
            </a:pPr>
            <a:r>
              <a:rPr lang="ko-KR" altLang="en-US" sz="1200" b="1">
                <a:solidFill>
                  <a:srgbClr val="FF0000"/>
                </a:solidFill>
                <a:latin typeface="210 OmniGothic 040"/>
                <a:ea typeface="210 OmniGothic 040"/>
                <a:cs typeface="210 OmniGothic 040"/>
              </a:rPr>
              <a:t>[21] </a:t>
            </a:r>
            <a:r>
              <a:rPr lang="ko-KR" altLang="en-US" sz="1200" b="0">
                <a:solidFill>
                  <a:srgbClr val="FF0000"/>
                </a:solidFill>
                <a:latin typeface="210 OmniGothic 040"/>
                <a:ea typeface="210 OmniGothic 040"/>
                <a:cs typeface="210 OmniGothic 040"/>
              </a:rPr>
              <a:t>Anderson, H. E. (1982). Aids to determining fuel models for estimating fire behavior. USDA Forest Service General Technical Report INT-122. (연료 모델 13종)</a:t>
            </a:r>
            <a:endParaRPr lang="ko-KR" sz="1200"/>
          </a:p>
          <a:p>
            <a:pPr algn="l" marL="384048" indent="-384048">
              <a:lnSpc>
                <a:spcPct val="105000"/>
              </a:lnSpc>
              <a:spcAft>
                <a:spcPts val="350"/>
              </a:spcAft>
              <a:buNone/>
            </a:pPr>
            <a:r>
              <a:rPr lang="ko-KR" altLang="en-US" sz="1200" b="1">
                <a:solidFill>
                  <a:srgbClr val="FF0000"/>
                </a:solidFill>
                <a:latin typeface="210 OmniGothic 040"/>
                <a:ea typeface="210 OmniGothic 040"/>
                <a:cs typeface="210 OmniGothic 040"/>
              </a:rPr>
              <a:t>[22] </a:t>
            </a:r>
            <a:r>
              <a:rPr lang="ko-KR" altLang="en-US" sz="1200" b="0">
                <a:solidFill>
                  <a:srgbClr val="FF0000"/>
                </a:solidFill>
                <a:latin typeface="210 OmniGothic 040"/>
                <a:ea typeface="210 OmniGothic 040"/>
                <a:cs typeface="210 OmniGothic 040"/>
              </a:rPr>
              <a:t>LG AI Research (2025). EXAONE 4.0: Unified Large Language Models Integrating Non-reasoning and Reasoning Modes. arXiv:2507.11407.</a:t>
            </a:r>
            <a:endParaRPr lang="ko-KR" sz="1200"/>
          </a:p>
          <a:p>
            <a:pPr algn="l" marL="384048" indent="-384048">
              <a:lnSpc>
                <a:spcPct val="105000"/>
              </a:lnSpc>
              <a:spcAft>
                <a:spcPts val="350"/>
              </a:spcAft>
              <a:buNone/>
            </a:pPr>
            <a:r>
              <a:rPr lang="ko-KR" altLang="en-US" sz="1200" b="1">
                <a:solidFill>
                  <a:srgbClr val="FF0000"/>
                </a:solidFill>
                <a:latin typeface="210 OmniGothic 040"/>
                <a:ea typeface="210 OmniGothic 040"/>
                <a:cs typeface="210 OmniGothic 040"/>
              </a:rPr>
              <a:t>[23] </a:t>
            </a:r>
            <a:r>
              <a:rPr lang="ko-KR" altLang="en-US" sz="1200" b="0">
                <a:solidFill>
                  <a:srgbClr val="FF0000"/>
                </a:solidFill>
                <a:latin typeface="210 OmniGothic 040"/>
                <a:ea typeface="210 OmniGothic 040"/>
                <a:cs typeface="210 OmniGothic 040"/>
              </a:rPr>
              <a:t>고려대학교 NLP&amp;AI 연구실. KURE-v1(한국어 검색 임베딩 모델). huggingface.co/nlpai-lab/KURE-v1</a:t>
            </a:r>
            <a:endParaRPr lang="ko-KR" sz="1200"/>
          </a:p>
          <a:p>
            <a:pPr algn="l" marL="384048" indent="-384048">
              <a:lnSpc>
                <a:spcPct val="105000"/>
              </a:lnSpc>
              <a:spcAft>
                <a:spcPts val="350"/>
              </a:spcAft>
              <a:buNone/>
            </a:pPr>
            <a:r>
              <a:rPr lang="ko-KR" altLang="en-US" sz="1200" b="1">
                <a:solidFill>
                  <a:srgbClr val="FF0000"/>
                </a:solidFill>
                <a:latin typeface="210 OmniGothic 040"/>
                <a:ea typeface="210 OmniGothic 040"/>
                <a:cs typeface="210 OmniGothic 040"/>
              </a:rPr>
              <a:t>[24] </a:t>
            </a:r>
            <a:r>
              <a:rPr lang="ko-KR" altLang="en-US" sz="1200" b="0">
                <a:solidFill>
                  <a:srgbClr val="FF0000"/>
                </a:solidFill>
                <a:latin typeface="210 OmniGothic 040"/>
                <a:ea typeface="210 OmniGothic 040"/>
                <a:cs typeface="210 OmniGothic 040"/>
              </a:rPr>
              <a:t>Johnson, J., Douze, M., Jégou, H. (2021). Billion-scale similarity search with GPUs. IEEE Transactions on Big Data 7(3), 535–547. (FAISS)</a:t>
            </a:r>
            <a:endParaRPr lang="ko-KR" sz="1200"/>
          </a:p>
          <a:p>
            <a:pPr algn="l" marL="384048" indent="-384048">
              <a:lnSpc>
                <a:spcPct val="105000"/>
              </a:lnSpc>
              <a:spcAft>
                <a:spcPts val="350"/>
              </a:spcAft>
              <a:buNone/>
            </a:pPr>
            <a:r>
              <a:rPr lang="ko-KR" altLang="en-US" sz="1200" b="1">
                <a:solidFill>
                  <a:srgbClr val="FF0000"/>
                </a:solidFill>
                <a:latin typeface="210 OmniGothic 040"/>
                <a:ea typeface="210 OmniGothic 040"/>
                <a:cs typeface="210 OmniGothic 040"/>
              </a:rPr>
              <a:t>[25] </a:t>
            </a:r>
            <a:r>
              <a:rPr lang="ko-KR" altLang="en-US" sz="1200" b="0">
                <a:solidFill>
                  <a:srgbClr val="FF0000"/>
                </a:solidFill>
                <a:latin typeface="210 OmniGothic 040"/>
                <a:ea typeface="210 OmniGothic 040"/>
                <a:cs typeface="210 OmniGothic 040"/>
              </a:rPr>
              <a:t>Kwon, W. 외 (2023). Efficient Memory Management for Large Language Model Serving with PagedAttention. SOSP 2023. (vLLM)</a:t>
            </a:r>
            <a:endParaRPr lang="ko-KR" sz="1200"/>
          </a:p>
          <a:p>
            <a:pPr algn="l" marL="384048" indent="-384048">
              <a:lnSpc>
                <a:spcPct val="105000"/>
              </a:lnSpc>
              <a:spcAft>
                <a:spcPts val="350"/>
              </a:spcAft>
              <a:buNone/>
            </a:pPr>
            <a:r>
              <a:rPr lang="ko-KR" altLang="en-US" sz="1200" b="1">
                <a:solidFill>
                  <a:srgbClr val="FF0000"/>
                </a:solidFill>
                <a:latin typeface="210 OmniGothic 040"/>
                <a:ea typeface="210 OmniGothic 040"/>
                <a:cs typeface="210 OmniGothic 040"/>
              </a:rPr>
              <a:t>[26] </a:t>
            </a:r>
            <a:r>
              <a:rPr lang="ko-KR" altLang="en-US" sz="1200" b="0">
                <a:solidFill>
                  <a:srgbClr val="FF0000"/>
                </a:solidFill>
                <a:latin typeface="210 OmniGothic 040"/>
                <a:ea typeface="210 OmniGothic 040"/>
                <a:cs typeface="210 OmniGothic 040"/>
              </a:rPr>
              <a:t>Es, S., James, J., Espinosa-Anke, L., Schockaert, S. (2024). RAGAs: Automated Evaluation of Retrieval Augmented Generation. EACL 2024 System Demonstrations. · RAGAS 공식 문서 v0.4.3 docs.ragas.io</a:t>
            </a:r>
            <a:endParaRPr lang="ko-KR" sz="1200"/>
          </a:p>
          <a:p>
            <a:pPr algn="l" marL="384048" indent="-384048">
              <a:lnSpc>
                <a:spcPct val="105000"/>
              </a:lnSpc>
              <a:spcAft>
                <a:spcPts val="350"/>
              </a:spcAft>
              <a:buNone/>
            </a:pPr>
            <a:r>
              <a:rPr lang="ko-KR" altLang="en-US" sz="1200" b="1">
                <a:solidFill>
                  <a:srgbClr val="FF0000"/>
                </a:solidFill>
                <a:latin typeface="210 OmniGothic 040"/>
                <a:ea typeface="210 OmniGothic 040"/>
                <a:cs typeface="210 OmniGothic 040"/>
              </a:rPr>
              <a:t>[27] </a:t>
            </a:r>
            <a:r>
              <a:rPr lang="ko-KR" altLang="en-US" sz="1200" b="0">
                <a:solidFill>
                  <a:srgbClr val="FF0000"/>
                </a:solidFill>
                <a:latin typeface="210 OmniGothic 040"/>
                <a:ea typeface="210 OmniGothic 040"/>
                <a:cs typeface="210 OmniGothic 040"/>
              </a:rPr>
              <a:t>오픈소스 도구 공식 문서: PostGIS, GeoPandas, Shapely, FastAPI, React, MapLibre GL JS, Docker, SQLite, JWT(RFC 7519), bcrypt.</a:t>
            </a:r>
            <a:endParaRPr lang="ko-KR" sz="120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21"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700" y="-12700"/>
            <a:ext cx="18313400" cy="1638300"/>
          </a:xfrm>
          <a:prstGeom prst="rect">
            <a:avLst/>
          </a:prstGeom>
        </p:spPr>
      </p:pic>
      <p:pic>
        <p:nvPicPr>
          <p:cNvPr id="5522"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28" y="1618343"/>
            <a:ext cx="18313400" cy="8699500"/>
          </a:xfrm>
          <a:prstGeom prst="rect">
            <a:avLst/>
          </a:prstGeom>
        </p:spPr>
      </p:pic>
      <p:pic>
        <p:nvPicPr>
          <p:cNvPr id="5523"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58800" y="9271000"/>
            <a:ext cx="17170400" cy="50800"/>
          </a:xfrm>
          <a:prstGeom prst="rect">
            <a:avLst/>
          </a:prstGeom>
        </p:spPr>
      </p:pic>
      <p:pic>
        <p:nvPicPr>
          <p:cNvPr id="5524" name="Picture 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278100" y="203200"/>
            <a:ext cx="1676400" cy="1409700"/>
          </a:xfrm>
          <a:prstGeom prst="rect">
            <a:avLst/>
          </a:prstGeom>
        </p:spPr>
      </p:pic>
      <p:sp>
        <p:nvSpPr>
          <p:cNvPr id="5525" name="Title"/>
          <p:cNvSpPr txBox="1"/>
          <p:nvPr/>
        </p:nvSpPr>
        <p:spPr>
          <a:xfrm>
            <a:off x="822960" y="384048"/>
            <a:ext cx="13258800" cy="877824"/>
          </a:xfrm>
          <a:prstGeom prst="rect">
            <a:avLst/>
          </a:prstGeom>
          <a:noFill/>
        </p:spPr>
        <p:txBody>
          <a:bodyPr wrap="square" lIns="0" tIns="0" rIns="0" bIns="0" anchor="ctr">
            <a:spAutoFit/>
          </a:bodyPr>
          <a:lstStyle/>
          <a:p>
            <a:pPr algn="l"/>
            <a:r>
              <a:rPr sz="4400" b="0">
                <a:solidFill>
                  <a:srgbClr val="FF7B7B"/>
                </a:solidFill>
                <a:latin typeface="210 OmniGothic 050"/>
                <a:ea typeface="210 OmniGothic 050"/>
                <a:cs typeface="210 OmniGothic 050"/>
              </a:rPr>
              <a:t>참고문헌</a:t>
            </a:r>
          </a:p>
        </p:txBody>
      </p:sp>
      <p:sp>
        <p:nvSpPr>
          <p:cNvPr id="5526" name="Subtitle"/>
          <p:cNvSpPr txBox="1"/>
          <p:nvPr/>
        </p:nvSpPr>
        <p:spPr>
          <a:xfrm>
            <a:off x="822960" y="1764792"/>
            <a:ext cx="16642080" cy="502920"/>
          </a:xfrm>
          <a:prstGeom prst="rect">
            <a:avLst/>
          </a:prstGeom>
          <a:noFill/>
        </p:spPr>
        <p:txBody>
          <a:bodyPr wrap="square" lIns="0" tIns="0" rIns="0" bIns="0" anchor="ctr">
            <a:spAutoFit/>
          </a:bodyPr>
          <a:lstStyle/>
          <a:p>
            <a:pPr algn="ctr"/>
            <a:r>
              <a:rPr sz="2600" b="1">
                <a:solidFill>
                  <a:srgbClr val="FF0000"/>
                </a:solidFill>
                <a:latin typeface="210 OmniGothic 040"/>
                <a:ea typeface="210 OmniGothic 040"/>
                <a:cs typeface="210 OmniGothic 040"/>
              </a:rPr>
              <a:t>참고문헌 (2/2) — 성능 지표 하한의 근거 연구</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sz="quarter" idx="12"/>
          </p:nvPr>
        </p:nvSpPr>
        <p:spPr/>
        <p:txBody>
          <a:bodyPr/>
          <a:lstStyle/>
          <a:p>
            <a:fld id="{B6F15528-21DE-4FAA-801E-634DDDAF4B2B}" type="slidenum">
              <a:rPr lang="en-US" smtClean="0"/>
              <a:pPr/>
              <a:t>117</a:t>
            </a:fld>
            <a:endParaRPr lang="en-US"/>
          </a:p>
        </p:txBody>
      </p:sp>
      <p:sp>
        <p:nvSpPr>
          <p:cNvPr id="5527" name="Refs Left"/>
          <p:cNvSpPr txBox="1"/>
          <p:nvPr/>
        </p:nvSpPr>
        <p:spPr>
          <a:xfrm>
            <a:off x="822960" y="2468880"/>
            <a:ext cx="8092440" cy="6583680"/>
          </a:xfrm>
          <a:prstGeom prst="rect">
            <a:avLst/>
          </a:prstGeom>
          <a:noFill/>
        </p:spPr>
        <p:txBody>
          <a:bodyPr wrap="square" lIns="0" tIns="0" rIns="0" bIns="0" anchor="t">
            <a:spAutoFit/>
          </a:bodyPr>
          <a:lstStyle/>
          <a:p>
            <a:pPr algn="l">
              <a:spcAft>
                <a:spcPts val="300"/>
              </a:spcAft>
              <a:buNone/>
            </a:pPr>
            <a:r>
              <a:rPr lang="ko-KR" altLang="en-US" sz="1400" b="1">
                <a:solidFill>
                  <a:srgbClr val="FF0000"/>
                </a:solidFill>
                <a:latin typeface="210 OmniGothic 040"/>
                <a:ea typeface="210 OmniGothic 040"/>
                <a:cs typeface="210 OmniGothic 040"/>
              </a:rPr>
              <a:t>마. 확산 예측 하한 — 유사 수준 검증 연구</a:t>
            </a:r>
            <a:endParaRPr lang="ko-KR" sz="1400"/>
          </a:p>
          <a:p>
            <a:pPr algn="l" marL="384048" indent="-384048">
              <a:lnSpc>
                <a:spcPct val="105000"/>
              </a:lnSpc>
              <a:spcAft>
                <a:spcPts val="350"/>
              </a:spcAft>
              <a:buNone/>
            </a:pPr>
            <a:r>
              <a:rPr lang="ko-KR" altLang="en-US" sz="1200" b="1">
                <a:solidFill>
                  <a:srgbClr val="FF0000"/>
                </a:solidFill>
                <a:latin typeface="210 OmniGothic 040"/>
                <a:ea typeface="210 OmniGothic 040"/>
                <a:cs typeface="210 OmniGothic 040"/>
              </a:rPr>
              <a:t>[28] </a:t>
            </a:r>
            <a:r>
              <a:rPr lang="ko-KR" altLang="en-US" sz="1200" b="0">
                <a:solidFill>
                  <a:srgbClr val="FF0000"/>
                </a:solidFill>
                <a:latin typeface="210 OmniGothic 040"/>
                <a:ea typeface="210 OmniGothic 040"/>
                <a:cs typeface="210 OmniGothic 040"/>
              </a:rPr>
              <a:t>Price, S. J., Germino, M. J. (2022). Modeling of fire spread in sagebrush steppe using FARSITE: an approach to improving input data and simulation accuracy. Fire Ecology 18, 23. doi:10.1186/s42408-022-00147-2</a:t>
            </a:r>
            <a:endParaRPr lang="ko-KR" sz="1200"/>
          </a:p>
          <a:p>
            <a:pPr algn="l" marL="384048" indent="-384048">
              <a:lnSpc>
                <a:spcPct val="105000"/>
              </a:lnSpc>
              <a:spcAft>
                <a:spcPts val="350"/>
              </a:spcAft>
              <a:buNone/>
            </a:pPr>
            <a:r>
              <a:rPr lang="ko-KR" altLang="en-US" sz="1200" b="1">
                <a:solidFill>
                  <a:srgbClr val="FF0000"/>
                </a:solidFill>
                <a:latin typeface="210 OmniGothic 040"/>
                <a:ea typeface="210 OmniGothic 040"/>
                <a:cs typeface="210 OmniGothic 040"/>
              </a:rPr>
              <a:t>[29] </a:t>
            </a:r>
            <a:r>
              <a:rPr lang="ko-KR" altLang="en-US" sz="1200" b="0">
                <a:solidFill>
                  <a:srgbClr val="FF0000"/>
                </a:solidFill>
                <a:latin typeface="210 OmniGothic 040"/>
                <a:ea typeface="210 OmniGothic 040"/>
                <a:cs typeface="210 OmniGothic 040"/>
              </a:rPr>
              <a:t>Jahdi, R., Salis, M., Darvishsefat, A. A. 외 (2015). Calibration of FARSITE simulator in northern Iranian forests. Natural Hazards and Earth System Sciences 15, 443–459. doi:10.5194/nhess-15-443-2015</a:t>
            </a:r>
            <a:endParaRPr lang="ko-KR" sz="1200"/>
          </a:p>
          <a:p>
            <a:pPr algn="l" marL="384048" indent="-384048">
              <a:lnSpc>
                <a:spcPct val="105000"/>
              </a:lnSpc>
              <a:spcAft>
                <a:spcPts val="350"/>
              </a:spcAft>
              <a:buNone/>
            </a:pPr>
            <a:r>
              <a:rPr lang="ko-KR" altLang="en-US" sz="1200" b="1">
                <a:solidFill>
                  <a:srgbClr val="FF0000"/>
                </a:solidFill>
                <a:latin typeface="210 OmniGothic 040"/>
                <a:ea typeface="210 OmniGothic 040"/>
                <a:cs typeface="210 OmniGothic 040"/>
              </a:rPr>
              <a:t>[30] </a:t>
            </a:r>
            <a:r>
              <a:rPr lang="ko-KR" altLang="en-US" sz="1200" b="0">
                <a:solidFill>
                  <a:srgbClr val="FF0000"/>
                </a:solidFill>
                <a:latin typeface="210 OmniGothic 040"/>
                <a:ea typeface="210 OmniGothic 040"/>
                <a:cs typeface="210 OmniGothic 040"/>
              </a:rPr>
              <a:t>Kuhnen, K., Andrade, M. S., Müller, M. M., Vacik, H. (2026). Comparative Analysis of Wildfire Spread Models Under Differing Environmental Conditions in Central Europe. Fire 9(7), 311. doi:10.3390/fire9070311</a:t>
            </a:r>
            <a:endParaRPr lang="ko-KR" sz="1200"/>
          </a:p>
          <a:p>
            <a:pPr algn="l">
              <a:spcBef>
                <a:spcPts val="900"/>
              </a:spcBef>
              <a:spcAft>
                <a:spcPts val="300"/>
              </a:spcAft>
              <a:buNone/>
            </a:pPr>
            <a:r>
              <a:rPr lang="ko-KR" altLang="en-US" sz="1400" b="1">
                <a:solidFill>
                  <a:srgbClr val="FF0000"/>
                </a:solidFill>
                <a:latin typeface="210 OmniGothic 040"/>
                <a:ea typeface="210 OmniGothic 040"/>
                <a:cs typeface="210 OmniGothic 040"/>
              </a:rPr>
              <a:t>바. 대응 제안 하한 — 유사 RAG 연구 (1/2)</a:t>
            </a:r>
            <a:endParaRPr lang="ko-KR" sz="1400"/>
          </a:p>
          <a:p>
            <a:pPr algn="l" marL="384048" indent="-384048">
              <a:lnSpc>
                <a:spcPct val="105000"/>
              </a:lnSpc>
              <a:spcAft>
                <a:spcPts val="350"/>
              </a:spcAft>
              <a:buNone/>
            </a:pPr>
            <a:r>
              <a:rPr lang="ko-KR" altLang="en-US" sz="1200" b="1">
                <a:solidFill>
                  <a:srgbClr val="FF0000"/>
                </a:solidFill>
                <a:latin typeface="210 OmniGothic 040"/>
                <a:ea typeface="210 OmniGothic 040"/>
                <a:cs typeface="210 OmniGothic 040"/>
              </a:rPr>
              <a:t>[31] </a:t>
            </a:r>
            <a:r>
              <a:rPr lang="ko-KR" altLang="en-US" sz="1200" b="0">
                <a:solidFill>
                  <a:srgbClr val="FF0000"/>
                </a:solidFill>
                <a:latin typeface="210 OmniGothic 040"/>
                <a:ea typeface="210 OmniGothic 040"/>
                <a:cs typeface="210 OmniGothic 040"/>
              </a:rPr>
              <a:t>Liu, M.-L., Chen, J. Y. (2026). Disaster response report generation system. ISARC 2026, 2142–2149. doi:10.22260/ISARC2026/0273</a:t>
            </a:r>
            <a:endParaRPr lang="ko-KR" sz="1200"/>
          </a:p>
          <a:p>
            <a:pPr algn="l" marL="384048" indent="-384048">
              <a:lnSpc>
                <a:spcPct val="105000"/>
              </a:lnSpc>
              <a:spcAft>
                <a:spcPts val="350"/>
              </a:spcAft>
              <a:buNone/>
            </a:pPr>
            <a:r>
              <a:rPr lang="ko-KR" altLang="en-US" sz="1200" b="1">
                <a:solidFill>
                  <a:srgbClr val="FF0000"/>
                </a:solidFill>
                <a:latin typeface="210 OmniGothic 040"/>
                <a:ea typeface="210 OmniGothic 040"/>
                <a:cs typeface="210 OmniGothic 040"/>
              </a:rPr>
              <a:t>[32] </a:t>
            </a:r>
            <a:r>
              <a:rPr lang="ko-KR" altLang="en-US" sz="1200" b="0">
                <a:solidFill>
                  <a:srgbClr val="FF0000"/>
                </a:solidFill>
                <a:latin typeface="210 OmniGothic 040"/>
                <a:ea typeface="210 OmniGothic 040"/>
                <a:cs typeface="210 OmniGothic 040"/>
              </a:rPr>
              <a:t>Chernysheva, T. 외 (2026). Application of large language models for generating recommendations during natural hazards. Artificial Societies 21(2). doi:10.18254/S207751800037532-4</a:t>
            </a:r>
            <a:endParaRPr lang="ko-KR" sz="1200"/>
          </a:p>
          <a:p>
            <a:pPr algn="l" marL="384048" indent="-384048">
              <a:lnSpc>
                <a:spcPct val="105000"/>
              </a:lnSpc>
              <a:spcAft>
                <a:spcPts val="350"/>
              </a:spcAft>
              <a:buNone/>
            </a:pPr>
            <a:r>
              <a:rPr lang="ko-KR" altLang="en-US" sz="1200" b="1">
                <a:solidFill>
                  <a:srgbClr val="FF0000"/>
                </a:solidFill>
                <a:latin typeface="210 OmniGothic 040"/>
                <a:ea typeface="210 OmniGothic 040"/>
                <a:cs typeface="210 OmniGothic 040"/>
              </a:rPr>
              <a:t>[33] </a:t>
            </a:r>
            <a:r>
              <a:rPr lang="ko-KR" altLang="en-US" sz="1200" b="0">
                <a:solidFill>
                  <a:srgbClr val="FF0000"/>
                </a:solidFill>
                <a:latin typeface="210 OmniGothic 040"/>
                <a:ea typeface="210 OmniGothic 040"/>
                <a:cs typeface="210 OmniGothic 040"/>
              </a:rPr>
              <a:t>Ma, B. 외 (2026). A tailings dam safety question answering framework integrating a knowledge graph with retrieval augmented generation. Scientific Reports. doi:10.1038/s41598-026-68988-4</a:t>
            </a:r>
            <a:endParaRPr lang="ko-KR" sz="1200"/>
          </a:p>
          <a:p>
            <a:pPr algn="l" marL="384048" indent="-384048">
              <a:lnSpc>
                <a:spcPct val="105000"/>
              </a:lnSpc>
              <a:spcAft>
                <a:spcPts val="350"/>
              </a:spcAft>
              <a:buNone/>
            </a:pPr>
            <a:r>
              <a:rPr lang="ko-KR" altLang="en-US" sz="1200" b="1">
                <a:solidFill>
                  <a:srgbClr val="FF0000"/>
                </a:solidFill>
                <a:latin typeface="210 OmniGothic 040"/>
                <a:ea typeface="210 OmniGothic 040"/>
                <a:cs typeface="210 OmniGothic 040"/>
              </a:rPr>
              <a:t>[34] </a:t>
            </a:r>
            <a:r>
              <a:rPr lang="ko-KR" altLang="en-US" sz="1200" b="0">
                <a:solidFill>
                  <a:srgbClr val="FF0000"/>
                </a:solidFill>
                <a:latin typeface="210 OmniGothic 040"/>
                <a:ea typeface="210 OmniGothic 040"/>
                <a:cs typeface="210 OmniGothic 040"/>
              </a:rPr>
              <a:t>Zhao, L. 외 (2026). An augmented structured evidence retrieval framework for generating chemical accident emergency-response plans using a large language model. Research Square(심사 전). doi:10.21203/rs.3.rs-10417423/v1</a:t>
            </a:r>
            <a:endParaRPr lang="ko-KR" sz="1200"/>
          </a:p>
          <a:p>
            <a:pPr algn="l" marL="384048" indent="-384048">
              <a:lnSpc>
                <a:spcPct val="105000"/>
              </a:lnSpc>
              <a:spcAft>
                <a:spcPts val="350"/>
              </a:spcAft>
              <a:buNone/>
            </a:pPr>
            <a:r>
              <a:rPr lang="ko-KR" altLang="en-US" sz="1200" b="1">
                <a:solidFill>
                  <a:srgbClr val="FF0000"/>
                </a:solidFill>
                <a:latin typeface="210 OmniGothic 040"/>
                <a:ea typeface="210 OmniGothic 040"/>
                <a:cs typeface="210 OmniGothic 040"/>
              </a:rPr>
              <a:t>[35] </a:t>
            </a:r>
            <a:r>
              <a:rPr lang="ko-KR" altLang="en-US" sz="1200" b="0">
                <a:solidFill>
                  <a:srgbClr val="FF0000"/>
                </a:solidFill>
                <a:latin typeface="210 OmniGothic 040"/>
                <a:ea typeface="210 OmniGothic 040"/>
                <a:cs typeface="210 OmniGothic 040"/>
              </a:rPr>
              <a:t>Febrian, G. F., Figueredo, G. (2024). KemenkeuGPT: Leveraging a large language model on Indonesia's government financial data and regulations to enhance decision making. arXiv:2407.21459</a:t>
            </a:r>
            <a:endParaRPr lang="ko-KR" sz="1200"/>
          </a:p>
        </p:txBody>
      </p:sp>
      <p:sp>
        <p:nvSpPr>
          <p:cNvPr id="5528" name="Refs Right"/>
          <p:cNvSpPr txBox="1"/>
          <p:nvPr/>
        </p:nvSpPr>
        <p:spPr>
          <a:xfrm>
            <a:off x="9372600" y="2468880"/>
            <a:ext cx="8092440" cy="6583680"/>
          </a:xfrm>
          <a:prstGeom prst="rect">
            <a:avLst/>
          </a:prstGeom>
          <a:noFill/>
        </p:spPr>
        <p:txBody>
          <a:bodyPr wrap="square" lIns="0" tIns="0" rIns="0" bIns="0" anchor="t">
            <a:spAutoFit/>
          </a:bodyPr>
          <a:lstStyle/>
          <a:p>
            <a:pPr algn="l">
              <a:spcAft>
                <a:spcPts val="300"/>
              </a:spcAft>
              <a:buNone/>
            </a:pPr>
            <a:r>
              <a:rPr lang="ko-KR" altLang="en-US" sz="1400" b="1">
                <a:solidFill>
                  <a:srgbClr val="FF0000"/>
                </a:solidFill>
                <a:latin typeface="210 OmniGothic 040"/>
                <a:ea typeface="210 OmniGothic 040"/>
                <a:cs typeface="210 OmniGothic 040"/>
              </a:rPr>
              <a:t>바. 대응 제안 하한 — 유사 RAG 연구 (2/2)</a:t>
            </a:r>
            <a:endParaRPr lang="ko-KR" sz="1400"/>
          </a:p>
          <a:p>
            <a:pPr algn="l" marL="384048" indent="-384048">
              <a:lnSpc>
                <a:spcPct val="105000"/>
              </a:lnSpc>
              <a:spcAft>
                <a:spcPts val="350"/>
              </a:spcAft>
              <a:buNone/>
            </a:pPr>
            <a:r>
              <a:rPr lang="ko-KR" altLang="en-US" sz="1200" b="1">
                <a:solidFill>
                  <a:srgbClr val="FF0000"/>
                </a:solidFill>
                <a:latin typeface="210 OmniGothic 040"/>
                <a:ea typeface="210 OmniGothic 040"/>
                <a:cs typeface="210 OmniGothic 040"/>
              </a:rPr>
              <a:t>[36] </a:t>
            </a:r>
            <a:r>
              <a:rPr lang="ko-KR" altLang="en-US" sz="1200" b="0">
                <a:solidFill>
                  <a:srgbClr val="FF0000"/>
                </a:solidFill>
                <a:latin typeface="210 OmniGothic 040"/>
                <a:ea typeface="210 OmniGothic 040"/>
                <a:cs typeface="210 OmniGothic 040"/>
              </a:rPr>
              <a:t>Maharjan, A., Yadav, U. (2026). Chunking, retrieval, and re-ranking: An empirical evaluation of RAG architectures for policy document question answering. arXiv:2601.15457</a:t>
            </a:r>
            <a:endParaRPr lang="ko-KR" sz="1200"/>
          </a:p>
          <a:p>
            <a:pPr algn="l" marL="384048" indent="-384048">
              <a:lnSpc>
                <a:spcPct val="105000"/>
              </a:lnSpc>
              <a:spcAft>
                <a:spcPts val="350"/>
              </a:spcAft>
              <a:buNone/>
            </a:pPr>
            <a:r>
              <a:rPr lang="ko-KR" altLang="en-US" sz="1200" b="1">
                <a:solidFill>
                  <a:srgbClr val="FF0000"/>
                </a:solidFill>
                <a:latin typeface="210 OmniGothic 040"/>
                <a:ea typeface="210 OmniGothic 040"/>
                <a:cs typeface="210 OmniGothic 040"/>
              </a:rPr>
              <a:t>[37] </a:t>
            </a:r>
            <a:r>
              <a:rPr lang="ko-KR" altLang="en-US" sz="1200" b="0">
                <a:solidFill>
                  <a:srgbClr val="FF0000"/>
                </a:solidFill>
                <a:latin typeface="210 OmniGothic 040"/>
                <a:ea typeface="210 OmniGothic 040"/>
                <a:cs typeface="210 OmniGothic 040"/>
              </a:rPr>
              <a:t>Jeon, M. 외 (2026). LLM-guided planning for multi-hop reasoning over multimodal nuclear regulatory documents. arXiv:2606.29399</a:t>
            </a:r>
            <a:endParaRPr lang="ko-KR" sz="1200"/>
          </a:p>
          <a:p>
            <a:pPr algn="l" marL="384048" indent="-384048">
              <a:lnSpc>
                <a:spcPct val="105000"/>
              </a:lnSpc>
              <a:spcAft>
                <a:spcPts val="350"/>
              </a:spcAft>
              <a:buNone/>
            </a:pPr>
            <a:r>
              <a:rPr lang="ko-KR" altLang="en-US" sz="1200" b="1">
                <a:solidFill>
                  <a:srgbClr val="FF0000"/>
                </a:solidFill>
                <a:latin typeface="210 OmniGothic 040"/>
                <a:ea typeface="210 OmniGothic 040"/>
                <a:cs typeface="210 OmniGothic 040"/>
              </a:rPr>
              <a:t>[38] </a:t>
            </a:r>
            <a:r>
              <a:rPr lang="ko-KR" altLang="en-US" sz="1200" b="0">
                <a:solidFill>
                  <a:srgbClr val="FF0000"/>
                </a:solidFill>
                <a:latin typeface="210 OmniGothic 040"/>
                <a:ea typeface="210 OmniGothic 040"/>
                <a:cs typeface="210 OmniGothic 040"/>
              </a:rPr>
              <a:t>Vickneswaran, K. 외 (2026). WaterCopilot: An AI-driven virtual assistant for water management. arXiv:2601.08559</a:t>
            </a:r>
            <a:endParaRPr lang="ko-KR" sz="1200"/>
          </a:p>
          <a:p>
            <a:pPr algn="l" marL="384048" indent="-384048">
              <a:lnSpc>
                <a:spcPct val="105000"/>
              </a:lnSpc>
              <a:spcAft>
                <a:spcPts val="350"/>
              </a:spcAft>
              <a:buNone/>
            </a:pPr>
            <a:r>
              <a:rPr lang="ko-KR" altLang="en-US" sz="1200" b="1">
                <a:solidFill>
                  <a:srgbClr val="FF0000"/>
                </a:solidFill>
                <a:latin typeface="210 OmniGothic 040"/>
                <a:ea typeface="210 OmniGothic 040"/>
                <a:cs typeface="210 OmniGothic 040"/>
              </a:rPr>
              <a:t>[39] </a:t>
            </a:r>
            <a:r>
              <a:rPr lang="ko-KR" altLang="en-US" sz="1200" b="0">
                <a:solidFill>
                  <a:srgbClr val="FF0000"/>
                </a:solidFill>
                <a:latin typeface="210 OmniGothic 040"/>
                <a:ea typeface="210 OmniGothic 040"/>
                <a:cs typeface="210 OmniGothic 040"/>
              </a:rPr>
              <a:t>Domingos Júnior, J. 외 (2025). BR-TaxQA-R: A dataset for question answering with references for Brazilian personal income tax law, including case law. arXiv:2505.15916</a:t>
            </a:r>
            <a:endParaRPr lang="ko-KR" sz="1200"/>
          </a:p>
          <a:p>
            <a:pPr algn="l" marL="384048" indent="-384048">
              <a:lnSpc>
                <a:spcPct val="105000"/>
              </a:lnSpc>
              <a:spcAft>
                <a:spcPts val="350"/>
              </a:spcAft>
              <a:buNone/>
            </a:pPr>
            <a:r>
              <a:rPr lang="ko-KR" altLang="en-US" sz="1200" b="1">
                <a:solidFill>
                  <a:srgbClr val="FF0000"/>
                </a:solidFill>
                <a:latin typeface="210 OmniGothic 040"/>
                <a:ea typeface="210 OmniGothic 040"/>
                <a:cs typeface="210 OmniGothic 040"/>
              </a:rPr>
              <a:t>[40] </a:t>
            </a:r>
            <a:r>
              <a:rPr lang="ko-KR" altLang="en-US" sz="1200" b="0">
                <a:solidFill>
                  <a:srgbClr val="FF0000"/>
                </a:solidFill>
                <a:latin typeface="210 OmniGothic 040"/>
                <a:ea typeface="210 OmniGothic 040"/>
                <a:cs typeface="210 OmniGothic 040"/>
              </a:rPr>
              <a:t>이상훈·이찬명·임회정 (2026). 대학 규정집 기반 RAG 질의응답 시스템에 대한 탐색적 연구. 스마트미디어저널 15(2), 151–164.</a:t>
            </a:r>
            <a:endParaRPr lang="ko-KR" sz="1200"/>
          </a:p>
          <a:p>
            <a:pPr algn="l" marL="384048" indent="-384048">
              <a:lnSpc>
                <a:spcPct val="105000"/>
              </a:lnSpc>
              <a:spcAft>
                <a:spcPts val="350"/>
              </a:spcAft>
              <a:buNone/>
            </a:pPr>
            <a:r>
              <a:rPr lang="ko-KR" altLang="en-US" sz="1200" b="1">
                <a:solidFill>
                  <a:srgbClr val="FF0000"/>
                </a:solidFill>
                <a:latin typeface="210 OmniGothic 040"/>
                <a:ea typeface="210 OmniGothic 040"/>
                <a:cs typeface="210 OmniGothic 040"/>
              </a:rPr>
              <a:t>[41] </a:t>
            </a:r>
            <a:r>
              <a:rPr lang="ko-KR" altLang="en-US" sz="1200" b="0">
                <a:solidFill>
                  <a:srgbClr val="FF0000"/>
                </a:solidFill>
                <a:latin typeface="210 OmniGothic 040"/>
                <a:ea typeface="210 OmniGothic 040"/>
                <a:cs typeface="210 OmniGothic 040"/>
              </a:rPr>
              <a:t>손서영·김채원·박민서 (2025). DualRAG: 장애인 복지정보 제공을 위한 2단계 RAG 시스템 개발. 문화기술의 융합 11(6), 473–478.</a:t>
            </a:r>
            <a:endParaRPr lang="ko-KR" sz="1200"/>
          </a:p>
          <a:p>
            <a:pPr algn="l" marL="384048" indent="-384048">
              <a:lnSpc>
                <a:spcPct val="105000"/>
              </a:lnSpc>
              <a:spcAft>
                <a:spcPts val="350"/>
              </a:spcAft>
              <a:buNone/>
            </a:pPr>
            <a:r>
              <a:rPr lang="ko-KR" altLang="en-US" sz="1200" b="1">
                <a:solidFill>
                  <a:srgbClr val="FF0000"/>
                </a:solidFill>
                <a:latin typeface="210 OmniGothic 040"/>
                <a:ea typeface="210 OmniGothic 040"/>
                <a:cs typeface="210 OmniGothic 040"/>
              </a:rPr>
              <a:t>[42] </a:t>
            </a:r>
            <a:r>
              <a:rPr lang="ko-KR" altLang="en-US" sz="1200" b="0">
                <a:solidFill>
                  <a:srgbClr val="FF0000"/>
                </a:solidFill>
                <a:latin typeface="210 OmniGothic 040"/>
                <a:ea typeface="210 OmniGothic 040"/>
                <a:cs typeface="210 OmniGothic 040"/>
              </a:rPr>
              <a:t>민윤정·안재경·임종덕 (2025). LLM 기반 RAG 시스템 성능 평가 및 실증 분석: 리크루팅 상담서비스를 중심으로. 한국IT서비스학회지 24(4), 175–188.</a:t>
            </a:r>
            <a:endParaRPr lang="ko-KR" sz="1200"/>
          </a:p>
        </p:txBody>
      </p:sp>
      <p:sp>
        <p:nvSpPr>
          <p:cNvPr id="5529" name="Note Refs"/>
          <p:cNvSpPr txBox="1"/>
          <p:nvPr/>
        </p:nvSpPr>
        <p:spPr>
          <a:xfrm>
            <a:off x="822960" y="8796528"/>
            <a:ext cx="16642080" cy="274320"/>
          </a:xfrm>
          <a:prstGeom prst="rect">
            <a:avLst/>
          </a:prstGeom>
          <a:noFill/>
        </p:spPr>
        <p:txBody>
          <a:bodyPr wrap="square" lIns="0" tIns="0" rIns="0" bIns="0" anchor="t">
            <a:spAutoFit/>
          </a:bodyPr>
          <a:lstStyle/>
          <a:p>
            <a:pPr algn="l">
              <a:buNone/>
            </a:pPr>
            <a:r>
              <a:rPr lang="ko-KR" altLang="en-US" sz="1050" b="0">
                <a:solidFill>
                  <a:srgbClr val="FF0000"/>
                </a:solidFill>
                <a:latin typeface="210 OmniGothic 030"/>
                <a:ea typeface="210 OmniGothic 030"/>
                <a:cs typeface="210 OmniGothic 030"/>
              </a:rPr>
              <a:t>※ 바 항목 12편은 104쪽 하한(유사 연구 대표값의 하위 25%)을 계산한 문헌입니다. 웹 자료는 2026.9.16.~10.8. 확인.</a:t>
            </a:r>
            <a:endParaRPr lang="ko-KR" sz="105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44" name="Picture 2"/>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8100" y="-2260600"/>
            <a:ext cx="18326100" cy="11264900"/>
          </a:xfrm>
          <a:prstGeom prst="rect">
            <a:avLst/>
          </a:prstGeom>
        </p:spPr>
      </p:pic>
      <p:pic>
        <p:nvPicPr>
          <p:cNvPr id="5545" name="Picture 3"/>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700" y="-12700"/>
            <a:ext cx="18313400" cy="215900"/>
          </a:xfrm>
          <a:prstGeom prst="rect">
            <a:avLst/>
          </a:prstGeom>
        </p:spPr>
      </p:pic>
      <p:pic>
        <p:nvPicPr>
          <p:cNvPr id="5546" name="Picture 4"/>
          <p:cNvPicPr>
            <a:picLocks noChangeAspect="1"/>
          </p:cNvPicPr>
          <p:nvPr/>
        </p:nvPicPr>
        <p:blipFill>
          <a:blip>
            <a:alphaModFix amt="15000"/>
            <a:extLst>
              <a:ext uri="{96DAC541-7B7A-43D3-8B79-37D633B846F1}">
                <asvg:svgBlip xmlns:asvg="http://schemas.microsoft.com/office/drawing/2016/SVG/main" r:embed="rId5"/>
              </a:ext>
            </a:extLst>
          </a:blip>
          <a:stretch>
            <a:fillRect/>
          </a:stretch>
        </p:blipFill>
        <p:spPr>
          <a:xfrm>
            <a:off x="14452600" y="7645400"/>
            <a:ext cx="8470900" cy="1358900"/>
          </a:xfrm>
          <a:prstGeom prst="rect">
            <a:avLst/>
          </a:prstGeom>
        </p:spPr>
      </p:pic>
      <p:pic>
        <p:nvPicPr>
          <p:cNvPr id="5547" name="Picture 5"/>
          <p:cNvPicPr>
            <a:picLocks noChangeAspect="1"/>
          </p:cNvPicPr>
          <p:nvPr/>
        </p:nvPicPr>
        <p:blipFill>
          <a:blip>
            <a:alphaModFix amt="15000"/>
            <a:extLst>
              <a:ext uri="{96DAC541-7B7A-43D3-8B79-37D633B846F1}">
                <asvg:svgBlip xmlns:asvg="http://schemas.microsoft.com/office/drawing/2016/SVG/main" r:embed="rId6"/>
              </a:ext>
            </a:extLst>
          </a:blip>
          <a:stretch>
            <a:fillRect/>
          </a:stretch>
        </p:blipFill>
        <p:spPr>
          <a:xfrm>
            <a:off x="7353300" y="7645400"/>
            <a:ext cx="8470900" cy="1358900"/>
          </a:xfrm>
          <a:prstGeom prst="rect">
            <a:avLst/>
          </a:prstGeom>
        </p:spPr>
      </p:pic>
      <p:pic>
        <p:nvPicPr>
          <p:cNvPr id="5548" name="Picture 6"/>
          <p:cNvPicPr>
            <a:picLocks noChangeAspect="1"/>
          </p:cNvPicPr>
          <p:nvPr/>
        </p:nvPicPr>
        <p:blipFill>
          <a:blip>
            <a:alphaModFix amt="15000"/>
            <a:extLst>
              <a:ext uri="{96DAC541-7B7A-43D3-8B79-37D633B846F1}">
                <asvg:svgBlip xmlns:asvg="http://schemas.microsoft.com/office/drawing/2016/SVG/main" r:embed="rId5"/>
              </a:ext>
            </a:extLst>
          </a:blip>
          <a:stretch>
            <a:fillRect/>
          </a:stretch>
        </p:blipFill>
        <p:spPr>
          <a:xfrm>
            <a:off x="165100" y="7645400"/>
            <a:ext cx="8470900" cy="1358900"/>
          </a:xfrm>
          <a:prstGeom prst="rect">
            <a:avLst/>
          </a:prstGeom>
        </p:spPr>
      </p:pic>
      <p:pic>
        <p:nvPicPr>
          <p:cNvPr id="5549" name="Picture 8"/>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2700" y="8940800"/>
            <a:ext cx="18313400" cy="1358900"/>
          </a:xfrm>
          <a:prstGeom prst="rect">
            <a:avLst/>
          </a:prstGeom>
        </p:spPr>
      </p:pic>
      <p:sp>
        <p:nvSpPr>
          <p:cNvPr id="5537" name="TextBox 5536">
            <a:extLst>
              <a:ext uri="{FF2B5EF4-FFF2-40B4-BE49-F238E27FC236}">
                <a16:creationId xmlns:a16="http://schemas.microsoft.com/office/drawing/2014/main" id="{A6CB4B50-BA46-4E69-9C88-7DD194A5EA85}"/>
              </a:ext>
            </a:extLst>
          </p:cNvPr>
          <p:cNvSpPr>
            <a:spLocks noGrp="1"/>
          </p:cNvSpPr>
          <p:nvPr/>
        </p:nvSpPr>
        <p:spPr>
          <a:xfrm>
            <a:off x="2167128" y="3621024"/>
            <a:ext cx="13917168" cy="1234440"/>
          </a:xfrm>
          <a:prstGeom prst="rect">
            <a:avLst/>
          </a:prstGeom>
          <a:noFill/>
        </p:spPr>
        <p:txBody>
          <a:bodyPr wrap="square" lIns="0" tIns="0" rIns="0" bIns="0" anchor="ctr">
            <a:spAutoFit/>
          </a:bodyPr>
          <a:lstStyle/>
          <a:p>
            <a:pPr algn="ctr">
              <a:buNone/>
            </a:pPr>
            <a:r>
              <a:rPr sz="6800" b="0">
                <a:solidFill>
                  <a:srgbClr val="363A52"/>
                </a:solidFill>
                <a:latin typeface="210 OmniGothic 050"/>
                <a:ea typeface="210 OmniGothic 050"/>
                <a:cs typeface="210 OmniGothic 050"/>
              </a:rPr>
              <a:t>감사합니다</a:t>
            </a:r>
          </a:p>
        </p:txBody>
      </p:sp>
    </p:spTree>
    <p:extLst>
      <p:ext uri="{BB962C8B-B14F-4D97-AF65-F5344CB8AC3E}">
        <p14:creationId xmlns:p14="http://schemas.microsoft.com/office/powerpoint/2010/main" val="1993578854"/>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21"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700" y="-12700"/>
            <a:ext cx="18313400" cy="1638300"/>
          </a:xfrm>
          <a:prstGeom prst="rect">
            <a:avLst/>
          </a:prstGeom>
        </p:spPr>
      </p:pic>
      <p:pic>
        <p:nvPicPr>
          <p:cNvPr id="5522"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28" y="1618343"/>
            <a:ext cx="18313400" cy="8699500"/>
          </a:xfrm>
          <a:prstGeom prst="rect">
            <a:avLst/>
          </a:prstGeom>
        </p:spPr>
      </p:pic>
      <p:pic>
        <p:nvPicPr>
          <p:cNvPr id="5523"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58800" y="9271000"/>
            <a:ext cx="17170400" cy="50800"/>
          </a:xfrm>
          <a:prstGeom prst="rect">
            <a:avLst/>
          </a:prstGeom>
        </p:spPr>
      </p:pic>
      <p:pic>
        <p:nvPicPr>
          <p:cNvPr id="5524" name="Picture 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278100" y="203200"/>
            <a:ext cx="1676400" cy="1409700"/>
          </a:xfrm>
          <a:prstGeom prst="rect">
            <a:avLst/>
          </a:prstGeom>
        </p:spPr>
      </p:pic>
      <p:sp>
        <p:nvSpPr>
          <p:cNvPr id="5525" name="Title"/>
          <p:cNvSpPr txBox="1"/>
          <p:nvPr/>
        </p:nvSpPr>
        <p:spPr>
          <a:xfrm>
            <a:off x="822960" y="384048"/>
            <a:ext cx="13258800" cy="877824"/>
          </a:xfrm>
          <a:prstGeom prst="rect">
            <a:avLst/>
          </a:prstGeom>
          <a:noFill/>
        </p:spPr>
        <p:txBody>
          <a:bodyPr wrap="square" lIns="0" tIns="0" rIns="0" bIns="0" anchor="ctr">
            <a:spAutoFit/>
          </a:bodyPr>
          <a:lstStyle/>
          <a:p>
            <a:pPr algn="l"/>
            <a:r>
              <a:rPr sz="4400" b="0">
                <a:solidFill>
                  <a:srgbClr val="FAA95A"/>
                </a:solidFill>
                <a:latin typeface="210 OmniGothic 050"/>
                <a:ea typeface="210 OmniGothic 050"/>
                <a:cs typeface="210 OmniGothic 050"/>
              </a:rPr>
              <a:t>삭제된 내용 (검토용)</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sz="quarter" idx="12"/>
          </p:nvPr>
        </p:nvSpPr>
        <p:spPr/>
        <p:txBody>
          <a:bodyPr/>
          <a:lstStyle/>
          <a:p>
            <a:fld id="{B6F15528-21DE-4FAA-801E-634DDDAF4B2B}" type="slidenum">
              <a:rPr lang="en-US" smtClean="0"/>
              <a:pPr/>
              <a:t>119</a:t>
            </a:fld>
            <a:endParaRPr lang="en-US"/>
          </a:p>
        </p:txBody>
      </p:sp>
      <p:sp>
        <p:nvSpPr>
          <p:cNvPr id="5526" name="Note Del"/>
          <p:cNvSpPr txBox="1"/>
          <p:nvPr/>
        </p:nvSpPr>
        <p:spPr>
          <a:xfrm>
            <a:off x="822960" y="1810512"/>
            <a:ext cx="16642080" cy="274320"/>
          </a:xfrm>
          <a:prstGeom prst="rect">
            <a:avLst/>
          </a:prstGeom>
          <a:noFill/>
        </p:spPr>
        <p:txBody>
          <a:bodyPr wrap="square" lIns="0" tIns="0" rIns="0" bIns="0" anchor="t">
            <a:spAutoFit/>
          </a:bodyPr>
          <a:lstStyle/>
          <a:p>
            <a:pPr algn="l">
              <a:buNone/>
            </a:pPr>
            <a:r>
              <a:rPr lang="ko-KR" altLang="en-US" sz="1100" b="0">
                <a:solidFill>
                  <a:srgbClr val="7B8094"/>
                </a:solidFill>
                <a:latin typeface="210 OmniGothic 030"/>
                <a:ea typeface="210 OmniGothic 030"/>
                <a:cs typeface="210 OmniGothic 030"/>
              </a:rPr>
              <a:t>※ 변경 표시본에만 넣은 쪽입니다. 원본(5조_분석서, 2026.10.01)에서 지우거나 다른 글로 바꾼 원래 내용을 수정본 쪽 순서로 모았습니다. 새로 쓴 글은 각 쪽에 빨간색으로 표시했습니다.</a:t>
            </a:r>
            <a:endParaRPr lang="ko-KR" sz="1100"/>
          </a:p>
        </p:txBody>
      </p:sp>
      <p:graphicFrame>
        <p:nvGraphicFramePr>
          <p:cNvPr id="5527" name="Table Del"/>
          <p:cNvGraphicFramePr>
            <a:graphicFrameLocks noGrp="1"/>
          </p:cNvGraphicFramePr>
          <p:nvPr/>
        </p:nvGraphicFramePr>
        <p:xfrm>
          <a:off x="822960" y="2212848"/>
          <a:ext cx="16642080" cy="4517136"/>
        </p:xfrm>
        <a:graphic>
          <a:graphicData uri="http://schemas.openxmlformats.org/drawingml/2006/table">
            <a:tbl>
              <a:tblPr>
                <a:tableStyleId>{2D5ABB26-0587-4C30-8999-92F81FD0307C}</a:tableStyleId>
              </a:tblPr>
              <a:tblGrid>
                <a:gridCol w="1417320"/>
                <a:gridCol w="15224759"/>
              </a:tblGrid>
              <a:tr h="237744">
                <a:tc>
                  <a:txBody>
                    <a:bodyPr/>
                    <a:lstStyle/>
                    <a:p>
                      <a:pPr algn="ctr">
                        <a:buNone/>
                      </a:pPr>
                      <a:r>
                        <a:rPr lang="ko-KR" altLang="en-US" sz="1050" b="1">
                          <a:solidFill>
                            <a:srgbClr val="FFFFFF"/>
                          </a:solidFill>
                          <a:latin typeface="210 OmniGothic 040"/>
                          <a:ea typeface="210 OmniGothic 040"/>
                          <a:cs typeface="210 OmniGothic 040"/>
                        </a:rPr>
                        <a:t>수정본 쪽 (원본 쪽)</a:t>
                      </a:r>
                      <a:endParaRPr lang="ko-KR" sz="1050"/>
                    </a:p>
                  </a:txBody>
                  <a:tcPr marL="64008" marR="6400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tc>
                  <a:txBody>
                    <a:bodyPr/>
                    <a:lstStyle/>
                    <a:p>
                      <a:pPr algn="ctr">
                        <a:buNone/>
                      </a:pPr>
                      <a:r>
                        <a:rPr lang="ko-KR" altLang="en-US" sz="1050" b="1">
                          <a:solidFill>
                            <a:srgbClr val="FFFFFF"/>
                          </a:solidFill>
                          <a:latin typeface="210 OmniGothic 040"/>
                          <a:ea typeface="210 OmniGothic 040"/>
                          <a:cs typeface="210 OmniGothic 040"/>
                        </a:rPr>
                        <a:t>삭제·교체된 원래 내용</a:t>
                      </a:r>
                      <a:endParaRPr lang="ko-KR" sz="1050"/>
                    </a:p>
                  </a:txBody>
                  <a:tcPr marL="64008" marR="6400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tr>
              <a:tr h="237744">
                <a:tc>
                  <a:txBody>
                    <a:bodyPr/>
                    <a:lstStyle/>
                    <a:p>
                      <a:pPr algn="ctr">
                        <a:buNone/>
                      </a:pPr>
                      <a:r>
                        <a:rPr lang="ko-KR" altLang="en-US" sz="950" b="1">
                          <a:solidFill>
                            <a:srgbClr val="2E3142"/>
                          </a:solidFill>
                          <a:latin typeface="210 OmniGothic 040"/>
                          <a:ea typeface="210 OmniGothic 040"/>
                          <a:cs typeface="210 OmniGothic 040"/>
                        </a:rPr>
                        <a:t>1 (1)</a:t>
                      </a:r>
                      <a:endParaRPr lang="ko-KR" sz="950"/>
                    </a:p>
                  </a:txBody>
                  <a:tcPr marL="64008" marR="6400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lang="ko-KR" altLang="en-US" sz="950" b="0">
                          <a:solidFill>
                            <a:srgbClr val="2E3142"/>
                          </a:solidFill>
                          <a:latin typeface="210 OmniGothic 040"/>
                          <a:ea typeface="210 OmniGothic 040"/>
                          <a:cs typeface="210 OmniGothic 040"/>
                        </a:rPr>
                        <a:t>표지 날짜 「2026.10.01」</a:t>
                      </a:r>
                      <a:endParaRPr lang="ko-KR" sz="950"/>
                    </a:p>
                  </a:txBody>
                  <a:tcPr marL="64008" marR="6400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r>
              <a:tr h="237744">
                <a:tc>
                  <a:txBody>
                    <a:bodyPr/>
                    <a:lstStyle/>
                    <a:p>
                      <a:pPr algn="ctr">
                        <a:buNone/>
                      </a:pPr>
                      <a:r>
                        <a:rPr lang="ko-KR" altLang="en-US" sz="950" b="1">
                          <a:solidFill>
                            <a:srgbClr val="2E3142"/>
                          </a:solidFill>
                          <a:latin typeface="210 OmniGothic 040"/>
                          <a:ea typeface="210 OmniGothic 040"/>
                          <a:cs typeface="210 OmniGothic 040"/>
                        </a:rPr>
                        <a:t>9 (8)</a:t>
                      </a:r>
                      <a:endParaRPr lang="ko-KR" sz="950"/>
                    </a:p>
                  </a:txBody>
                  <a:tcPr marL="64008" marR="6400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F6F7FA"/>
                    </a:solidFill>
                  </a:tcPr>
                </a:tc>
                <a:tc>
                  <a:txBody>
                    <a:bodyPr/>
                    <a:lstStyle/>
                    <a:p>
                      <a:pPr algn="l">
                        <a:buNone/>
                      </a:pPr>
                      <a:r>
                        <a:rPr lang="ko-KR" altLang="en-US" sz="950" b="0">
                          <a:solidFill>
                            <a:srgbClr val="2E3142"/>
                          </a:solidFill>
                          <a:latin typeface="210 OmniGothic 040"/>
                          <a:ea typeface="210 OmniGothic 040"/>
                          <a:cs typeface="210 OmniGothic 040"/>
                        </a:rPr>
                        <a:t>일정 10번 「조건위험도 규칙 엔진(25변수 가중합 이식)」, 19번 「평가 파이프라인(IoU·Recall@5·nDCG@5·RAGAS) 및 hold-out 검증」, 20번 「RAG 유무 절제 실험」의 「절제 실험」</a:t>
                      </a:r>
                      <a:endParaRPr lang="ko-KR" sz="950"/>
                    </a:p>
                  </a:txBody>
                  <a:tcPr marL="64008" marR="6400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F6F7FA"/>
                    </a:solidFill>
                  </a:tcPr>
                </a:tc>
              </a:tr>
              <a:tr h="237744">
                <a:tc>
                  <a:txBody>
                    <a:bodyPr/>
                    <a:lstStyle/>
                    <a:p>
                      <a:pPr algn="ctr">
                        <a:buNone/>
                      </a:pPr>
                      <a:r>
                        <a:rPr lang="ko-KR" altLang="en-US" sz="950" b="1">
                          <a:solidFill>
                            <a:srgbClr val="2E3142"/>
                          </a:solidFill>
                          <a:latin typeface="210 OmniGothic 040"/>
                          <a:ea typeface="210 OmniGothic 040"/>
                          <a:cs typeface="210 OmniGothic 040"/>
                        </a:rPr>
                        <a:t>11 (10)</a:t>
                      </a:r>
                      <a:endParaRPr lang="ko-KR" sz="950"/>
                    </a:p>
                  </a:txBody>
                  <a:tcPr marL="64008" marR="6400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lang="ko-KR" altLang="en-US" sz="950" b="0">
                          <a:solidFill>
                            <a:srgbClr val="2E3142"/>
                          </a:solidFill>
                          <a:latin typeface="210 OmniGothic 040"/>
                          <a:ea typeface="210 OmniGothic 040"/>
                          <a:cs typeface="210 OmniGothic 040"/>
                        </a:rPr>
                        <a:t>업무 절차 흐름 「지도 · 위험도 조회」 칸의 「25개 변수 → 0~100」</a:t>
                      </a:r>
                      <a:endParaRPr lang="ko-KR" sz="950"/>
                    </a:p>
                  </a:txBody>
                  <a:tcPr marL="64008" marR="6400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r>
              <a:tr h="237744">
                <a:tc>
                  <a:txBody>
                    <a:bodyPr/>
                    <a:lstStyle/>
                    <a:p>
                      <a:pPr algn="ctr">
                        <a:buNone/>
                      </a:pPr>
                      <a:r>
                        <a:rPr lang="ko-KR" altLang="en-US" sz="950" b="1">
                          <a:solidFill>
                            <a:srgbClr val="2E3142"/>
                          </a:solidFill>
                          <a:latin typeface="210 OmniGothic 040"/>
                          <a:ea typeface="210 OmniGothic 040"/>
                          <a:cs typeface="210 OmniGothic 040"/>
                        </a:rPr>
                        <a:t>12 (11)</a:t>
                      </a:r>
                      <a:endParaRPr lang="ko-KR" sz="950"/>
                    </a:p>
                  </a:txBody>
                  <a:tcPr marL="64008" marR="6400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F6F7FA"/>
                    </a:solidFill>
                  </a:tcPr>
                </a:tc>
                <a:tc>
                  <a:txBody>
                    <a:bodyPr/>
                    <a:lstStyle/>
                    <a:p>
                      <a:pPr algn="l">
                        <a:buNone/>
                      </a:pPr>
                      <a:r>
                        <a:rPr lang="ko-KR" altLang="en-US" sz="950" b="0">
                          <a:solidFill>
                            <a:srgbClr val="2E3142"/>
                          </a:solidFill>
                          <a:latin typeface="210 OmniGothic 040"/>
                          <a:ea typeface="210 OmniGothic 040"/>
                          <a:cs typeface="210 OmniGothic 040"/>
                        </a:rPr>
                        <a:t>F-10 설명 「위험 점수·등급과 위험에 영향을 주는 요인을 확인한다. 산불별 최대 위험도는 종료 후에도 확인한다」</a:t>
                      </a:r>
                      <a:endParaRPr lang="ko-KR" sz="950"/>
                    </a:p>
                  </a:txBody>
                  <a:tcPr marL="64008" marR="6400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F6F7FA"/>
                    </a:solidFill>
                  </a:tcPr>
                </a:tc>
              </a:tr>
              <a:tr h="237744">
                <a:tc>
                  <a:txBody>
                    <a:bodyPr/>
                    <a:lstStyle/>
                    <a:p>
                      <a:pPr algn="ctr">
                        <a:buNone/>
                      </a:pPr>
                      <a:r>
                        <a:rPr lang="ko-KR" altLang="en-US" sz="950" b="1">
                          <a:solidFill>
                            <a:srgbClr val="2E3142"/>
                          </a:solidFill>
                          <a:latin typeface="210 OmniGothic 040"/>
                          <a:ea typeface="210 OmniGothic 040"/>
                          <a:cs typeface="210 OmniGothic 040"/>
                        </a:rPr>
                        <a:t>17 (16)</a:t>
                      </a:r>
                      <a:endParaRPr lang="ko-KR" sz="950"/>
                    </a:p>
                  </a:txBody>
                  <a:tcPr marL="64008" marR="6400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lang="ko-KR" altLang="en-US" sz="950" b="0">
                          <a:solidFill>
                            <a:srgbClr val="2E3142"/>
                          </a:solidFill>
                          <a:latin typeface="210 OmniGothic 040"/>
                          <a:ea typeface="210 OmniGothic 040"/>
                          <a:cs typeface="210 OmniGothic 040"/>
                        </a:rPr>
                        <a:t>주요 흐름 ③ 「위험도를 확인하고(PRED-02) 확산 예측을 실행하면 제안서가 생성된다(PRED-01). 진화·대피 제안을 열람하고(PROP-01·02)」 (순서를 바꿔 다시 씀). 다이어그램 그림은 원본 그대로 두고(홍준서 판의 새 그림은 쓰지 않음) 아래에 생성형 AI 표기만 추가</a:t>
                      </a:r>
                      <a:endParaRPr lang="ko-KR" sz="950"/>
                    </a:p>
                  </a:txBody>
                  <a:tcPr marL="64008" marR="6400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r>
              <a:tr h="237744">
                <a:tc>
                  <a:txBody>
                    <a:bodyPr/>
                    <a:lstStyle/>
                    <a:p>
                      <a:pPr algn="ctr">
                        <a:buNone/>
                      </a:pPr>
                      <a:r>
                        <a:rPr lang="ko-KR" altLang="en-US" sz="950" b="1">
                          <a:solidFill>
                            <a:srgbClr val="2E3142"/>
                          </a:solidFill>
                          <a:latin typeface="210 OmniGothic 040"/>
                          <a:ea typeface="210 OmniGothic 040"/>
                          <a:cs typeface="210 OmniGothic 040"/>
                        </a:rPr>
                        <a:t>18 (17)</a:t>
                      </a:r>
                      <a:endParaRPr lang="ko-KR" sz="950"/>
                    </a:p>
                  </a:txBody>
                  <a:tcPr marL="64008" marR="6400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F6F7FA"/>
                    </a:solidFill>
                  </a:tcPr>
                </a:tc>
                <a:tc>
                  <a:txBody>
                    <a:bodyPr/>
                    <a:lstStyle/>
                    <a:p>
                      <a:pPr algn="l">
                        <a:buNone/>
                      </a:pPr>
                      <a:r>
                        <a:rPr lang="ko-KR" altLang="en-US" sz="950" b="0">
                          <a:solidFill>
                            <a:srgbClr val="2E3142"/>
                          </a:solidFill>
                          <a:latin typeface="210 OmniGothic 040"/>
                          <a:ea typeface="210 OmniGothic 040"/>
                          <a:cs typeface="210 OmniGothic 040"/>
                        </a:rPr>
                        <a:t>UC-PRED-02 설명 「발화 지점의 조건위험도(0~100)·등급·요인별 기여 확인, 산불별 최대 위험도 저장」</a:t>
                      </a:r>
                      <a:endParaRPr lang="ko-KR" sz="950"/>
                    </a:p>
                  </a:txBody>
                  <a:tcPr marL="64008" marR="6400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F6F7FA"/>
                    </a:solidFill>
                  </a:tcPr>
                </a:tc>
              </a:tr>
              <a:tr h="237744">
                <a:tc>
                  <a:txBody>
                    <a:bodyPr/>
                    <a:lstStyle/>
                    <a:p>
                      <a:pPr algn="ctr">
                        <a:buNone/>
                      </a:pPr>
                      <a:r>
                        <a:rPr lang="ko-KR" altLang="en-US" sz="950" b="1">
                          <a:solidFill>
                            <a:srgbClr val="2E3142"/>
                          </a:solidFill>
                          <a:latin typeface="210 OmniGothic 040"/>
                          <a:ea typeface="210 OmniGothic 040"/>
                          <a:cs typeface="210 OmniGothic 040"/>
                        </a:rPr>
                        <a:t>24 (23)</a:t>
                      </a:r>
                      <a:endParaRPr lang="ko-KR" sz="950"/>
                    </a:p>
                  </a:txBody>
                  <a:tcPr marL="64008" marR="6400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lang="ko-KR" altLang="en-US" sz="950" b="0">
                          <a:solidFill>
                            <a:srgbClr val="2E3142"/>
                          </a:solidFill>
                          <a:latin typeface="210 OmniGothic 040"/>
                          <a:ea typeface="210 OmniGothic 040"/>
                          <a:cs typeface="210 OmniGothic 040"/>
                        </a:rPr>
                        <a:t>UC-PRED-02 시나리오 — 개요 「통합지휘권자가 발화 지점이 얼마나 위험한 조건인지(조건위험도 0~100, 등급, 요인별 기여)를 확인해 … 시스템은 산불별 최대 위험도를 저장해 종료 후에도 보여준다」 · 시작 조건 「발화 정보가 입력된 상태 (UC-REPORT-01)」</a:t>
                      </a:r>
                      <a:endParaRPr lang="ko-KR" sz="950"/>
                    </a:p>
                    <a:p>
                      <a:pPr algn="l">
                        <a:buNone/>
                      </a:pPr>
                      <a:r>
                        <a:rPr lang="ko-KR" altLang="en-US" sz="950" b="0">
                          <a:solidFill>
                            <a:srgbClr val="2E3142"/>
                          </a:solidFill>
                          <a:latin typeface="210 OmniGothic 040"/>
                          <a:ea typeface="210 OmniGothic 040"/>
                          <a:cs typeface="210 OmniGothic 040"/>
                        </a:rPr>
                        <a:t>기본 흐름 「1. 통합지휘권자가 상황도의 「위험도」를 연다. 2. 시스템이 발화 지점의 기상(기상청 API)과 지형·연료·인프라(공공데이터) 값을 보여준다. 3. 시스템이 요인별 점수를 합산해 조건위험도(0~100)와 등급(낮음·보통·높음·매우 높음)을 계산하고, 산불별 최대 위험도를 갱신·저장한다. 4. 시스템이 점수·등급과 요인별 기여도를 막대로 표시한다.」</a:t>
                      </a:r>
                      <a:endParaRPr lang="ko-KR" sz="950"/>
                    </a:p>
                    <a:p>
                      <a:pPr algn="l">
                        <a:buNone/>
                      </a:pPr>
                      <a:r>
                        <a:rPr lang="ko-KR" altLang="en-US" sz="950" b="0">
                          <a:solidFill>
                            <a:srgbClr val="2E3142"/>
                          </a:solidFill>
                          <a:latin typeface="210 OmniGothic 040"/>
                          <a:ea typeface="210 OmniGothic 040"/>
                          <a:cs typeface="210 OmniGothic 040"/>
                        </a:rPr>
                        <a:t>대안 흐름 「A1. 발화 정보나 기상 값이 바뀔 시 → 위험도 재계산, 최대 위험도보다 높으면 갱신 / A2. 종료된 산불일 시 → 저장된 최대 위험도·등급·요인을 표시」 · 예외 흐름 「E1. 필수 변수가 없으면 … 재시도 창을 띄운다 / E3. 기상청 API 호출에 실패하면 시스템이 마지막으로 받은 기상 값과 수신 시각을 표시한다」 · 종료 조건 「위험도 점수·등급·요인이 표시되고, 산불별 최대 위험도가 저장된다」</a:t>
                      </a:r>
                      <a:endParaRPr lang="ko-KR" sz="950"/>
                    </a:p>
                  </a:txBody>
                  <a:tcPr marL="64008" marR="6400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r>
              <a:tr h="237744">
                <a:tc>
                  <a:txBody>
                    <a:bodyPr/>
                    <a:lstStyle/>
                    <a:p>
                      <a:pPr algn="ctr">
                        <a:buNone/>
                      </a:pPr>
                      <a:r>
                        <a:rPr lang="ko-KR" altLang="en-US" sz="950" b="1">
                          <a:solidFill>
                            <a:srgbClr val="2E3142"/>
                          </a:solidFill>
                          <a:latin typeface="210 OmniGothic 040"/>
                          <a:ea typeface="210 OmniGothic 040"/>
                          <a:cs typeface="210 OmniGothic 040"/>
                        </a:rPr>
                        <a:t>42·46 (41·45)</a:t>
                      </a:r>
                      <a:endParaRPr lang="ko-KR" sz="950"/>
                    </a:p>
                  </a:txBody>
                  <a:tcPr marL="64008" marR="6400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F6F7FA"/>
                    </a:solidFill>
                  </a:tcPr>
                </a:tc>
                <a:tc>
                  <a:txBody>
                    <a:bodyPr/>
                    <a:lstStyle/>
                    <a:p>
                      <a:pPr algn="l">
                        <a:buNone/>
                      </a:pPr>
                      <a:r>
                        <a:rPr lang="ko-KR" altLang="en-US" sz="950" b="0">
                          <a:solidFill>
                            <a:srgbClr val="2E3142"/>
                          </a:solidFill>
                          <a:latin typeface="210 OmniGothic 040"/>
                          <a:ea typeface="210 OmniGothic 040"/>
                          <a:cs typeface="210 OmniGothic 040"/>
                        </a:rPr>
                        <a:t>시퀀스 메시지 「search(질문, 단계·항목 필터, k=5)」의 「k=5」, 응답 「근거 청크 5개」</a:t>
                      </a:r>
                      <a:endParaRPr lang="ko-KR" sz="950"/>
                    </a:p>
                  </a:txBody>
                  <a:tcPr marL="64008" marR="6400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F6F7FA"/>
                    </a:solidFill>
                  </a:tcPr>
                </a:tc>
              </a:tr>
              <a:tr h="237744">
                <a:tc>
                  <a:txBody>
                    <a:bodyPr/>
                    <a:lstStyle/>
                    <a:p>
                      <a:pPr algn="ctr">
                        <a:buNone/>
                      </a:pPr>
                      <a:r>
                        <a:rPr lang="ko-KR" altLang="en-US" sz="950" b="1">
                          <a:solidFill>
                            <a:srgbClr val="2E3142"/>
                          </a:solidFill>
                          <a:latin typeface="210 OmniGothic 040"/>
                          <a:ea typeface="210 OmniGothic 040"/>
                          <a:cs typeface="210 OmniGothic 040"/>
                        </a:rPr>
                        <a:t>43 (42)</a:t>
                      </a:r>
                      <a:endParaRPr lang="ko-KR" sz="950"/>
                    </a:p>
                  </a:txBody>
                  <a:tcPr marL="64008" marR="6400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lang="ko-KR" altLang="en-US" sz="950" b="0">
                          <a:solidFill>
                            <a:srgbClr val="2E3142"/>
                          </a:solidFill>
                          <a:latin typeface="210 OmniGothic 040"/>
                          <a:ea typeface="210 OmniGothic 040"/>
                          <a:cs typeface="210 OmniGothic 040"/>
                        </a:rPr>
                        <a:t>시퀀스 UC-PRED-02 — 생명선 「기상청 API」, 메시지 「compute(incident_id)」 「단기예보 조회(발화 지점)」 「풍속·풍향·습도」 「격자 변수 조회(지형·연료·인프라)」 「25개 변수 값」 「조건위험도 = 25 × (가중평균 − 1), 등급(낮음·보통·높음·매우 높음)」 「결측 변수 제외 계산, 결측 목록 첨부」 「위험도·요인 점수 저장, 최대 위험도 갱신」 「점수·등급·요인별 기여」 「위험도·요인 막대 표시」</a:t>
                      </a:r>
                      <a:endParaRPr lang="ko-KR" sz="950"/>
                    </a:p>
                  </a:txBody>
                  <a:tcPr marL="64008" marR="6400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r>
              <a:tr h="237744">
                <a:tc>
                  <a:txBody>
                    <a:bodyPr/>
                    <a:lstStyle/>
                    <a:p>
                      <a:pPr algn="ctr">
                        <a:buNone/>
                      </a:pPr>
                      <a:r>
                        <a:rPr lang="ko-KR" altLang="en-US" sz="950" b="1">
                          <a:solidFill>
                            <a:srgbClr val="2E3142"/>
                          </a:solidFill>
                          <a:latin typeface="210 OmniGothic 040"/>
                          <a:ea typeface="210 OmniGothic 040"/>
                          <a:cs typeface="210 OmniGothic 040"/>
                        </a:rPr>
                        <a:t>54 (53)</a:t>
                      </a:r>
                      <a:endParaRPr lang="ko-KR" sz="950"/>
                    </a:p>
                  </a:txBody>
                  <a:tcPr marL="64008" marR="6400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F6F7FA"/>
                    </a:solidFill>
                  </a:tcPr>
                </a:tc>
                <a:tc>
                  <a:txBody>
                    <a:bodyPr/>
                    <a:lstStyle/>
                    <a:p>
                      <a:pPr algn="l">
                        <a:buNone/>
                      </a:pPr>
                      <a:r>
                        <a:rPr lang="ko-KR" altLang="en-US" sz="950" b="0">
                          <a:solidFill>
                            <a:srgbClr val="2E3142"/>
                          </a:solidFill>
                          <a:latin typeface="210 OmniGothic 040"/>
                          <a:ea typeface="210 OmniGothic 040"/>
                          <a:cs typeface="210 OmniGothic 040"/>
                        </a:rPr>
                        <a:t>RiskAssessment — score 설명 「조건위험도 0~100 = 25 × (가중평균 − 1)」, 행 「grade · GradeEnum · 등급 (실수 경계: 낮음 ≤50 · 보통 50 초과~65 · 높음 65 초과~85 · 매우 높음 85 초과)」, 행 「is_max · bool · False · 산불별 최대 위험도 여부 (더 높은 점수가 계산되면 갱신, 종료 후에도 표시)」, 요인 가중치 「0.35 · 0.30 · 0.25 · 0.10」</a:t>
                      </a:r>
                      <a:endParaRPr lang="ko-KR" sz="950"/>
                    </a:p>
                  </a:txBody>
                  <a:tcPr marL="64008" marR="6400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F6F7FA"/>
                    </a:solidFill>
                  </a:tcPr>
                </a:tc>
              </a:tr>
              <a:tr h="237744">
                <a:tc>
                  <a:txBody>
                    <a:bodyPr/>
                    <a:lstStyle/>
                    <a:p>
                      <a:pPr algn="ctr">
                        <a:buNone/>
                      </a:pPr>
                      <a:r>
                        <a:rPr lang="ko-KR" altLang="en-US" sz="950" b="1">
                          <a:solidFill>
                            <a:srgbClr val="2E3142"/>
                          </a:solidFill>
                          <a:latin typeface="210 OmniGothic 040"/>
                          <a:ea typeface="210 OmniGothic 040"/>
                          <a:cs typeface="210 OmniGothic 040"/>
                        </a:rPr>
                        <a:t>62·63 (61·62)</a:t>
                      </a:r>
                      <a:endParaRPr lang="ko-KR" sz="950"/>
                    </a:p>
                  </a:txBody>
                  <a:tcPr marL="64008" marR="6400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lang="ko-KR" altLang="en-US" sz="950" b="0">
                          <a:solidFill>
                            <a:srgbClr val="2E3142"/>
                          </a:solidFill>
                          <a:latin typeface="210 OmniGothic 040"/>
                          <a:ea typeface="210 OmniGothic 040"/>
                          <a:cs typeface="210 OmniGothic 040"/>
                        </a:rPr>
                        <a:t>RiskService.compute 파라미터 「incident_id」·설명 「25개 변수 가중평균 → 0~100 점수·등급」, PredictionRouter.get_risk 설명 「산불 위험도 (RiskService에 위임)」, Retriever.search 파라미터 「k=5」</a:t>
                      </a:r>
                      <a:endParaRPr lang="ko-KR" sz="950"/>
                    </a:p>
                  </a:txBody>
                  <a:tcPr marL="64008" marR="6400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r>
              <a:tr h="237744">
                <a:tc>
                  <a:txBody>
                    <a:bodyPr/>
                    <a:lstStyle/>
                    <a:p>
                      <a:pPr algn="ctr">
                        <a:buNone/>
                      </a:pPr>
                      <a:r>
                        <a:rPr lang="ko-KR" altLang="en-US" sz="950" b="1">
                          <a:solidFill>
                            <a:srgbClr val="2E3142"/>
                          </a:solidFill>
                          <a:latin typeface="210 OmniGothic 040"/>
                          <a:ea typeface="210 OmniGothic 040"/>
                          <a:cs typeface="210 OmniGothic 040"/>
                        </a:rPr>
                        <a:t>66~68 (65~67)</a:t>
                      </a:r>
                      <a:endParaRPr lang="ko-KR" sz="950"/>
                    </a:p>
                  </a:txBody>
                  <a:tcPr marL="64008" marR="6400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F6F7FA"/>
                    </a:solidFill>
                  </a:tcPr>
                </a:tc>
                <a:tc>
                  <a:txBody>
                    <a:bodyPr/>
                    <a:lstStyle/>
                    <a:p>
                      <a:pPr algn="l">
                        <a:buNone/>
                      </a:pPr>
                      <a:r>
                        <a:rPr lang="ko-KR" altLang="en-US" sz="950" b="0">
                          <a:solidFill>
                            <a:srgbClr val="2E3142"/>
                          </a:solidFill>
                          <a:latin typeface="210 OmniGothic 040"/>
                          <a:ea typeface="210 OmniGothic 040"/>
                          <a:cs typeface="210 OmniGothic 040"/>
                        </a:rPr>
                        <a:t>관계 「RiskService — WeatherClient, RiskAssessment : 예보 조회 후 위험도 계산」, 도메인 다이어그램 RiskAssessment 상자 「+ grade: GradeEnum」, 논리 컴포넌트 다이어그램 「RiskService → WeatherClient」 의존 화살표</a:t>
                      </a:r>
                      <a:endParaRPr lang="ko-KR" sz="950"/>
                    </a:p>
                  </a:txBody>
                  <a:tcPr marL="64008" marR="6400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F6F7FA"/>
                    </a:solidFill>
                  </a:tcPr>
                </a:tc>
              </a:tr>
              <a:tr h="237744">
                <a:tc>
                  <a:txBody>
                    <a:bodyPr/>
                    <a:lstStyle/>
                    <a:p>
                      <a:pPr algn="ctr">
                        <a:buNone/>
                      </a:pPr>
                      <a:r>
                        <a:rPr lang="ko-KR" altLang="en-US" sz="950" b="1">
                          <a:solidFill>
                            <a:srgbClr val="2E3142"/>
                          </a:solidFill>
                          <a:latin typeface="210 OmniGothic 040"/>
                          <a:ea typeface="210 OmniGothic 040"/>
                          <a:cs typeface="210 OmniGothic 040"/>
                        </a:rPr>
                        <a:t>72 (71)</a:t>
                      </a:r>
                      <a:endParaRPr lang="ko-KR" sz="950"/>
                    </a:p>
                  </a:txBody>
                  <a:tcPr marL="64008" marR="6400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lang="ko-KR" altLang="en-US" sz="950" b="0">
                          <a:solidFill>
                            <a:srgbClr val="2E3142"/>
                          </a:solidFill>
                          <a:latin typeface="210 OmniGothic 040"/>
                          <a:ea typeface="210 OmniGothic 040"/>
                          <a:cs typeface="210 OmniGothic 040"/>
                        </a:rPr>
                        <a:t>risk_assessments 예시 데이터 열 「grade」 「is_max」와 값 「score 69.1 · grade 높음 · is_max True」</a:t>
                      </a:r>
                      <a:endParaRPr lang="ko-KR" sz="950"/>
                    </a:p>
                  </a:txBody>
                  <a:tcPr marL="64008" marR="6400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r>
              <a:tr h="237744">
                <a:tc>
                  <a:txBody>
                    <a:bodyPr/>
                    <a:lstStyle/>
                    <a:p>
                      <a:pPr algn="ctr">
                        <a:buNone/>
                      </a:pPr>
                      <a:r>
                        <a:rPr lang="ko-KR" altLang="en-US" sz="950" b="1">
                          <a:solidFill>
                            <a:srgbClr val="2E3142"/>
                          </a:solidFill>
                          <a:latin typeface="210 OmniGothic 040"/>
                          <a:ea typeface="210 OmniGothic 040"/>
                          <a:cs typeface="210 OmniGothic 040"/>
                        </a:rPr>
                        <a:t>102 (101)</a:t>
                      </a:r>
                      <a:endParaRPr lang="ko-KR" sz="950"/>
                    </a:p>
                  </a:txBody>
                  <a:tcPr marL="64008" marR="6400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F6F7FA"/>
                    </a:solidFill>
                  </a:tcPr>
                </a:tc>
                <a:tc>
                  <a:txBody>
                    <a:bodyPr/>
                    <a:lstStyle/>
                    <a:p>
                      <a:pPr algn="l">
                        <a:buNone/>
                      </a:pPr>
                      <a:r>
                        <a:rPr lang="ko-KR" altLang="en-US" sz="950" b="0">
                          <a:solidFill>
                            <a:srgbClr val="2E3142"/>
                          </a:solidFill>
                          <a:latin typeface="210 OmniGothic 040"/>
                          <a:ea typeface="210 OmniGothic 040"/>
                          <a:cs typeface="210 OmniGothic 040"/>
                        </a:rPr>
                        <a:t>TER-002 정의 「예측·검색·생성 품질을 자동 지표로 평가」, 세부 「1. 학습·보정에 사용하지 않은 hold-out 산불 사건 활용」 「2. 확산예측 IoU 측정」 「3. 근거 검색 Recall@5·nDCG@5 측정」 「4. 제안·답변의 근거 충실도 및 관련성 평가」</a:t>
                      </a:r>
                      <a:endParaRPr lang="ko-KR" sz="950"/>
                    </a:p>
                  </a:txBody>
                  <a:tcPr marL="64008" marR="6400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F6F7FA"/>
                    </a:solidFill>
                  </a:tcPr>
                </a:tc>
              </a:tr>
              <a:tr h="237744">
                <a:tc>
                  <a:txBody>
                    <a:bodyPr/>
                    <a:lstStyle/>
                    <a:p>
                      <a:pPr algn="ctr">
                        <a:buNone/>
                      </a:pPr>
                      <a:r>
                        <a:rPr lang="ko-KR" altLang="en-US" sz="950" b="1">
                          <a:solidFill>
                            <a:srgbClr val="2E3142"/>
                          </a:solidFill>
                          <a:latin typeface="210 OmniGothic 040"/>
                          <a:ea typeface="210 OmniGothic 040"/>
                          <a:cs typeface="210 OmniGothic 040"/>
                        </a:rPr>
                        <a:t>삭제 (102)</a:t>
                      </a:r>
                      <a:endParaRPr lang="ko-KR" sz="950"/>
                    </a:p>
                  </a:txBody>
                  <a:tcPr marL="64008" marR="6400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lang="ko-KR" altLang="en-US" sz="950" b="0">
                          <a:solidFill>
                            <a:srgbClr val="2E3142"/>
                          </a:solidFill>
                          <a:latin typeface="210 OmniGothic 040"/>
                          <a:ea typeface="210 OmniGothic 040"/>
                          <a:cs typeface="210 OmniGothic 040"/>
                        </a:rPr>
                        <a:t>「AI 성능 목표 (잠정 내부 목표)」 쪽 전체 — 확산 예측 IoU ≥ 0.50(예측 경계 ∩ 실측 소실 경계 ÷ 합집합, hold-out 산불 사건 기준) · 근거 검색 Recall@5 ≥ 0.80(정답 청크가 상위 5개 안에 드는 비율, nDCG@5 함께 보고) · 제안 충실도 ≥ 0.90(제안·답변 주장이 검색 근거로 뒷받침되는 비율, RAGAS) · 답변 관련성 ≥ 0.80(제안·답변이 질문과 상황에 맞는 정도, RAGAS) / 측정 대상 hold-out 산불 사건(보정 미사용) · 비교 기준 같은 질의·사건에서 RAG 유무 절제 실험 · 채점 방식 로컬 EXAONE 채점 프롬프트(휴먼 평가 없음) / ※ 자동 지표는 대리 지표이며 현장 유효성 입증과 구분합니다. 목표치는 수정 과제계획서 5.4의 잠정 내부 목표이며, 외부 LLM으로 데이터를 보내지 않습니다.</a:t>
                      </a:r>
                      <a:endParaRPr lang="ko-KR" sz="950"/>
                    </a:p>
                  </a:txBody>
                  <a:tcPr marL="64008" marR="6400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r>
              <a:tr h="237744">
                <a:tc>
                  <a:txBody>
                    <a:bodyPr/>
                    <a:lstStyle/>
                    <a:p>
                      <a:pPr algn="ctr">
                        <a:buNone/>
                      </a:pPr>
                      <a:r>
                        <a:rPr lang="ko-KR" altLang="en-US" sz="950" b="1">
                          <a:solidFill>
                            <a:srgbClr val="2E3142"/>
                          </a:solidFill>
                          <a:latin typeface="210 OmniGothic 040"/>
                          <a:ea typeface="210 OmniGothic 040"/>
                          <a:cs typeface="210 OmniGothic 040"/>
                        </a:rPr>
                        <a:t>105 (103)</a:t>
                      </a:r>
                      <a:endParaRPr lang="ko-KR" sz="950"/>
                    </a:p>
                  </a:txBody>
                  <a:tcPr marL="64008" marR="6400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F6F7FA"/>
                    </a:solidFill>
                  </a:tcPr>
                </a:tc>
                <a:tc>
                  <a:txBody>
                    <a:bodyPr/>
                    <a:lstStyle/>
                    <a:p>
                      <a:pPr algn="l">
                        <a:buNone/>
                      </a:pPr>
                      <a:r>
                        <a:rPr lang="ko-KR" altLang="en-US" sz="950" b="0">
                          <a:solidFill>
                            <a:srgbClr val="2E3142"/>
                          </a:solidFill>
                          <a:latin typeface="210 OmniGothic 040"/>
                          <a:ea typeface="210 OmniGothic 040"/>
                          <a:cs typeface="210 OmniGothic 040"/>
                        </a:rPr>
                        <a:t>데이터 셋 「ELMFIRE 연료 파라미터 보정·IoU 검증, 위험도 25변수 기준 체계 계승」 「확산 예측 입력, 조건위험도 계산」 「SGIS 행정경계, 마을·시설·대피소·도로·유관기관」 「지도 표시, 도달 슬라이스·교차·경로 계산」, 라벨 신뢰도 「AI Hub 위험도 라벨값은 쓰지 않고 25개 변수 기준 체계만 계승」</a:t>
                      </a:r>
                      <a:endParaRPr lang="ko-KR" sz="950"/>
                    </a:p>
                  </a:txBody>
                  <a:tcPr marL="64008" marR="6400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F6F7FA"/>
                    </a:solidFill>
                  </a:tcPr>
                </a:tc>
              </a:tr>
              <a:tr h="237744">
                <a:tc>
                  <a:txBody>
                    <a:bodyPr/>
                    <a:lstStyle/>
                    <a:p>
                      <a:pPr algn="ctr">
                        <a:buNone/>
                      </a:pPr>
                      <a:r>
                        <a:rPr lang="ko-KR" altLang="en-US" sz="950" b="1">
                          <a:solidFill>
                            <a:srgbClr val="2E3142"/>
                          </a:solidFill>
                          <a:latin typeface="210 OmniGothic 040"/>
                          <a:ea typeface="210 OmniGothic 040"/>
                          <a:cs typeface="210 OmniGothic 040"/>
                        </a:rPr>
                        <a:t>106 (104)</a:t>
                      </a:r>
                      <a:endParaRPr lang="ko-KR" sz="950"/>
                    </a:p>
                  </a:txBody>
                  <a:tcPr marL="64008" marR="6400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buNone/>
                      </a:pPr>
                      <a:r>
                        <a:rPr lang="ko-KR" altLang="en-US" sz="950" b="0">
                          <a:solidFill>
                            <a:srgbClr val="2E3142"/>
                          </a:solidFill>
                          <a:latin typeface="210 OmniGothic 040"/>
                          <a:ea typeface="210 OmniGothic 040"/>
                          <a:cs typeface="210 OmniGothic 040"/>
                        </a:rPr>
                        <a:t>위험도 「조건위험도 = 25 × (Σ(변수 점수 1~5 × 가중치) ÷ Σ가중치 − 1), 기상 0.35 · 지형 0.30 · 연료 0.25 · 인프라 0.10」, 근거 검색 「상위 5개」</a:t>
                      </a:r>
                      <a:endParaRPr lang="ko-KR" sz="950"/>
                    </a:p>
                  </a:txBody>
                  <a:tcPr marL="64008" marR="6400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r>
              <a:tr h="237744">
                <a:tc>
                  <a:txBody>
                    <a:bodyPr/>
                    <a:lstStyle/>
                    <a:p>
                      <a:pPr algn="ctr">
                        <a:buNone/>
                      </a:pPr>
                      <a:r>
                        <a:rPr lang="ko-KR" altLang="en-US" sz="950" b="1">
                          <a:solidFill>
                            <a:srgbClr val="2E3142"/>
                          </a:solidFill>
                          <a:latin typeface="210 OmniGothic 040"/>
                          <a:ea typeface="210 OmniGothic 040"/>
                          <a:cs typeface="210 OmniGothic 040"/>
                        </a:rPr>
                        <a:t>107 (105)</a:t>
                      </a:r>
                      <a:endParaRPr lang="ko-KR" sz="950"/>
                    </a:p>
                  </a:txBody>
                  <a:tcPr marL="64008" marR="6400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F6F7FA"/>
                    </a:solidFill>
                  </a:tcPr>
                </a:tc>
                <a:tc>
                  <a:txBody>
                    <a:bodyPr/>
                    <a:lstStyle/>
                    <a:p>
                      <a:pPr algn="l">
                        <a:buNone/>
                      </a:pPr>
                      <a:r>
                        <a:rPr lang="ko-KR" altLang="en-US" sz="950" b="0">
                          <a:solidFill>
                            <a:srgbClr val="2E3142"/>
                          </a:solidFill>
                          <a:latin typeface="210 OmniGothic 040"/>
                          <a:ea typeface="210 OmniGothic 040"/>
                          <a:cs typeface="210 OmniGothic 040"/>
                        </a:rPr>
                        <a:t>평가 방법 「hold-out 사건 — 학습·보정에 쓰지 않은 실제 산불 사건으로 확산·검색·생성을 각각 평가」 「주요 지표 — 확산 IoU · 검색 Recall@5, nDCG@5 · RAGAS 충실도, 답변 관련성」 「로컬 채점 — 생성기와 분리한 EXAONE 채점 프롬프트로 자동 채점 (휴먼 평가 없음)」 「절제 실험」(카드 제목)</a:t>
                      </a:r>
                      <a:endParaRPr lang="ko-KR" sz="950"/>
                    </a:p>
                  </a:txBody>
                  <a:tcPr marL="64008" marR="6400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F6F7FA"/>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60</TotalTime>
  <Words>25852</Words>
  <Application>Microsoft Office PowerPoint</Application>
  <DocSecurity>0</DocSecurity>
  <PresentationFormat>사용자 지정</PresentationFormat>
  <Paragraphs>5564</Paragraphs>
  <Slides>116</Slides>
  <Notes>82</Notes>
  <HiddenSlides>0</HiddenSlides>
  <MMClips>0</MMClips>
  <ScaleCrop>false</ScaleCrop>
  <HeadingPairs>
    <vt:vector size="6" baseType="variant">
      <vt:variant>
        <vt:lpstr>사용한 글꼴</vt:lpstr>
      </vt:variant>
      <vt:variant>
        <vt:i4>9</vt:i4>
      </vt:variant>
      <vt:variant>
        <vt:lpstr>테마</vt:lpstr>
      </vt:variant>
      <vt:variant>
        <vt:i4>1</vt:i4>
      </vt:variant>
      <vt:variant>
        <vt:lpstr>슬라이드 제목</vt:lpstr>
      </vt:variant>
      <vt:variant>
        <vt:i4>116</vt:i4>
      </vt:variant>
    </vt:vector>
  </HeadingPairs>
  <TitlesOfParts>
    <vt:vector size="126" baseType="lpstr">
      <vt:lpstr>210 OmniGothic 040</vt:lpstr>
      <vt:lpstr>맑은 고딕</vt:lpstr>
      <vt:lpstr>Arial</vt:lpstr>
      <vt:lpstr>맑은 고딕</vt:lpstr>
      <vt:lpstr>210 OmniGothic 050</vt:lpstr>
      <vt:lpstr>Calibri</vt:lpstr>
      <vt:lpstr>210 OmniGothic 030</vt:lpstr>
      <vt:lpstr>Consolas</vt:lpstr>
      <vt:lpstr>Pretendard Bold</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김지오</cp:lastModifiedBy>
  <cp:revision>13</cp:revision>
  <dcterms:created xsi:type="dcterms:W3CDTF">2026-09-30T00:25:55Z</dcterms:created>
  <dcterms:modified xsi:type="dcterms:W3CDTF">2026-10-07T15:59:28Z</dcterms:modified>
</cp:coreProperties>
</file>