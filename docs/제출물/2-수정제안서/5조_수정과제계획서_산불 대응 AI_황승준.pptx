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64" r:id="rId3"/>
    <p:sldId id="312" r:id="rId4"/>
    <p:sldId id="313" r:id="rId5"/>
    <p:sldId id="293" r:id="rId6"/>
    <p:sldId id="294" r:id="rId7"/>
    <p:sldId id="295" r:id="rId8"/>
    <p:sldId id="292" r:id="rId9"/>
    <p:sldId id="314" r:id="rId10"/>
    <p:sldId id="298" r:id="rId11"/>
    <p:sldId id="291" r:id="rId12"/>
    <p:sldId id="299" r:id="rId13"/>
    <p:sldId id="290" r:id="rId14"/>
    <p:sldId id="300" r:id="rId15"/>
    <p:sldId id="315" r:id="rId16"/>
    <p:sldId id="267" r:id="rId17"/>
    <p:sldId id="265" r:id="rId18"/>
    <p:sldId id="281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268" r:id="rId30"/>
    <p:sldId id="266" r:id="rId31"/>
    <p:sldId id="270" r:id="rId32"/>
    <p:sldId id="316" r:id="rId33"/>
    <p:sldId id="269" r:id="rId34"/>
    <p:sldId id="272" r:id="rId35"/>
    <p:sldId id="311" r:id="rId36"/>
    <p:sldId id="273" r:id="rId37"/>
    <p:sldId id="263" r:id="rId38"/>
  </p:sldIdLst>
  <p:sldSz cx="18288000" cy="10287000"/>
  <p:notesSz cx="6858000" cy="9144000"/>
  <p:embeddedFontLst>
    <p:embeddedFont>
      <p:font typeface="210 OmniGothic 030" panose="020B0600000101010101" charset="-127"/>
      <p:regular r:id="rId40"/>
    </p:embeddedFont>
    <p:embeddedFont>
      <p:font typeface="210 OmniGothic 040" panose="020B0600000101010101" charset="-127"/>
      <p:regular r:id="rId41"/>
    </p:embeddedFont>
    <p:embeddedFont>
      <p:font typeface="210 OmniGothic 050" panose="020B0600000101010101" charset="-127"/>
      <p:regular r:id="rId42"/>
    </p:embeddedFont>
    <p:embeddedFont>
      <p:font typeface="Pretendard Bold" panose="020B0600000101010101" charset="-127"/>
      <p:bold r:id="rId43"/>
    </p:embeddedFont>
    <p:embeddedFont>
      <p:font typeface="Pretendard Light" panose="020B0600000101010101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맑은 고딕" panose="020B0503020000020004" pitchFamily="50" charset="-127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95A"/>
    <a:srgbClr val="FFFFFF"/>
    <a:srgbClr val="363A5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" dt="2026-09-17T02:51:04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3411" autoAdjust="0"/>
  </p:normalViewPr>
  <p:slideViewPr>
    <p:cSldViewPr>
      <p:cViewPr varScale="1">
        <p:scale>
          <a:sx n="52" d="100"/>
          <a:sy n="52" d="100"/>
        </p:scale>
        <p:origin x="211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C271-8C02-4EB7-99D8-094B235E4CEA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F5CA6-C40D-4640-B383-8E9A5F21C2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92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71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3C4C-6E46-5649-EA76-E4C18F67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DB000-6B89-59B7-E69C-48AAFA2FB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3755C-CD9E-C603-2510-FD4022890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874DF-0ADC-50EC-FE4E-80F8645B9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68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4BA4-3EB3-E5F5-A19F-DE524E3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E2869F-D25E-E2DA-8122-90F820247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B0FA19-2287-C538-6FA5-A566DC5D3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9E2A8-630E-98A3-8E56-83350B365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62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86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2B67-67F5-2E55-B855-DB9147D7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603128-A4DC-2F71-E52D-07555B15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18AD50-E32C-5A58-3C89-A704C85C7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6C3CA-DD93-E037-14D3-E4335D0C4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76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3CD1-B36F-C59A-4C57-A1057062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D7AE0C-8C17-E220-1701-D665BEACB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6F8AC-CB4F-737D-E7B4-1E48F1E50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CC51B-A371-3776-561E-65B9B1344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864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7674-BF19-D9A4-FFBD-52C46F01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5055DC-2F03-2E6C-D94B-6C3B9A144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0E78E4-546E-A048-D37C-440242A2E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1935D-C343-A2AB-F058-134B999C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348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7E13E-C63F-4D0B-BB23-D1F2A91FB568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EEC63-120E-4E59-8607-E1749C0E89F9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E3DD-F0A3-4F64-AA99-B4E912018FCA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8869-110A-41B2-8B60-C1668D7B64C0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72D2-F99A-4934-9072-4110418249BD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C468B-20E3-407E-85A7-522E1433ED6A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48AA-889C-443B-A93D-38FE1CFA7516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5943-17CB-412C-A291-60B219F832C8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0CD2-5E56-44C1-A1EF-E4FA14BF99E8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41CA-56D6-49C1-9EA6-589A66A6D619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F63-390B-4AA7-B117-B22D9F851814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rPr lang="en-US" altLang="ko-KR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9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29.png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30.svg"/><Relationship Id="rId4" Type="http://schemas.openxmlformats.org/officeDocument/2006/relationships/image" Target="../media/image14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1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324100"/>
            <a:ext cx="18326100" cy="1126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66900" y="6654800"/>
            <a:ext cx="7480300" cy="381000"/>
          </a:xfrm>
          <a:prstGeom prst="rect">
            <a:avLst/>
          </a:prstGeom>
        </p:spPr>
        <p:txBody>
          <a:bodyPr lIns="0" tIns="253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999" dirty="0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황승준 </a:t>
            </a:r>
            <a:r>
              <a:rPr lang="ko-KR" altLang="en-US" sz="1999" dirty="0" err="1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김지오</a:t>
            </a:r>
            <a:r>
              <a:rPr lang="ko-KR" altLang="en-US" sz="1999" dirty="0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 홍준서 임성민</a:t>
            </a:r>
            <a:endParaRPr lang="en-US" sz="1999" b="0" i="0" u="none" strike="noStrike" dirty="0">
              <a:solidFill>
                <a:srgbClr val="363A5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66900" y="6096000"/>
            <a:ext cx="7505700" cy="482600"/>
          </a:xfrm>
          <a:prstGeom prst="rect">
            <a:avLst/>
          </a:prstGeom>
        </p:spPr>
        <p:txBody>
          <a:bodyPr lIns="0" tIns="33019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25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</a:t>
            </a:r>
            <a:r>
              <a:rPr lang="en-US" sz="25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599" b="0" i="0" u="none" strike="noStrike" spc="-100" dirty="0" err="1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산불조심하조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89100" y="3022600"/>
            <a:ext cx="6946900" cy="1739900"/>
          </a:xfrm>
          <a:prstGeom prst="rect">
            <a:avLst/>
          </a:prstGeom>
        </p:spPr>
        <p:txBody>
          <a:bodyPr lIns="0" tIns="121917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9599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</a:t>
            </a:r>
            <a:r>
              <a:rPr lang="en-US" altLang="ko-KR" sz="9599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AI</a:t>
            </a:r>
            <a:endParaRPr lang="en-US" sz="9599" b="0" i="0" u="none" strike="noStrike" spc="-3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92300" y="2336800"/>
            <a:ext cx="75438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2026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학년도 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학기 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Capstone Design</a:t>
            </a:r>
            <a:endParaRPr 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96FEA-C9A3-7C34-2A6F-0739A93EA5B2}"/>
              </a:ext>
            </a:extLst>
          </p:cNvPr>
          <p:cNvSpPr txBox="1"/>
          <p:nvPr/>
        </p:nvSpPr>
        <p:spPr>
          <a:xfrm>
            <a:off x="1600200" y="4602490"/>
            <a:ext cx="9131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2800"/>
              </a:spcBef>
              <a:spcAft>
                <a:spcPts val="600"/>
              </a:spcAft>
              <a:buNone/>
            </a:pPr>
            <a:r>
              <a:rPr lang="ko-KR" altLang="ko-KR" sz="2800" b="1" dirty="0">
                <a:solidFill>
                  <a:srgbClr val="363A52"/>
                </a:solidFill>
                <a:effectLst/>
                <a:latin typeface="+mn-lt"/>
                <a:ea typeface="맑은 고딕" panose="020B0503020000020004" pitchFamily="50" charset="-127"/>
                <a:cs typeface="맑은 고딕" panose="020B0503020000020004" pitchFamily="50" charset="-127"/>
              </a:rPr>
              <a:t>산불 확산 예측과 근거 기반 대응 의사결정 지원 시스템</a:t>
            </a:r>
            <a:endParaRPr lang="ko-KR" altLang="ko-KR" sz="1200" dirty="0">
              <a:solidFill>
                <a:srgbClr val="363A5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1E07E-12DA-D086-F371-88ED65379275}"/>
              </a:ext>
            </a:extLst>
          </p:cNvPr>
          <p:cNvSpPr txBox="1"/>
          <p:nvPr/>
        </p:nvSpPr>
        <p:spPr>
          <a:xfrm>
            <a:off x="129843" y="9752947"/>
            <a:ext cx="130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2800"/>
              </a:spcBef>
              <a:spcAft>
                <a:spcPts val="600"/>
              </a:spcAft>
              <a:buNone/>
            </a:pPr>
            <a:r>
              <a:rPr lang="en-US" altLang="ko-KR" b="1" dirty="0">
                <a:solidFill>
                  <a:schemeClr val="bg1"/>
                </a:solidFill>
                <a:effectLst/>
                <a:latin typeface="+mn-lt"/>
                <a:ea typeface="맑은 고딕" panose="020B0503020000020004" pitchFamily="50" charset="-127"/>
                <a:cs typeface="맑은 고딕" panose="020B0503020000020004" pitchFamily="50" charset="-127"/>
              </a:rPr>
              <a:t>2026.09.17</a:t>
            </a:r>
            <a:endParaRPr lang="ko-KR" altLang="ko-KR" sz="10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26C6C94B-339A-208C-4831-3B38CDB4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3E34727-47F9-03BC-D9BE-9F7D0FF1978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0" y="393647"/>
            <a:ext cx="1016053" cy="1016053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248666E2-7712-8001-9DD7-F072F760F5BA}"/>
              </a:ext>
            </a:extLst>
          </p:cNvPr>
          <p:cNvSpPr txBox="1"/>
          <p:nvPr/>
        </p:nvSpPr>
        <p:spPr>
          <a:xfrm>
            <a:off x="11430000" y="779727"/>
            <a:ext cx="544132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200" kern="0" spc="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WILDFIRE RESPONSE </a:t>
            </a:r>
            <a:r>
              <a:rPr lang="af-ZA" altLang="ko-KR" sz="2200" kern="0" spc="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DA01-F59D-EA00-FDA2-C6A95413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1BFE8A-818C-73A8-CCD9-94D316B49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FD857E-21E5-FB5A-EADC-1CB295432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DE48305-C77C-5B67-9E9A-661941B47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8909617A-C1EB-4391-2E1C-A27B7E57BEE2}"/>
              </a:ext>
            </a:extLst>
          </p:cNvPr>
          <p:cNvSpPr txBox="1"/>
          <p:nvPr/>
        </p:nvSpPr>
        <p:spPr>
          <a:xfrm>
            <a:off x="825500" y="469900"/>
            <a:ext cx="725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578D96C-BFBC-B5FD-7D6D-41B3188C0677}"/>
              </a:ext>
            </a:extLst>
          </p:cNvPr>
          <p:cNvGrpSpPr/>
          <p:nvPr/>
        </p:nvGrpSpPr>
        <p:grpSpPr>
          <a:xfrm>
            <a:off x="1676400" y="2755900"/>
            <a:ext cx="15011400" cy="5537200"/>
            <a:chOff x="4876800" y="2959100"/>
            <a:chExt cx="10261600" cy="4238124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69B7B54-E475-DF39-28F4-44962A3DAE24}"/>
                </a:ext>
              </a:extLst>
            </p:cNvPr>
            <p:cNvSpPr txBox="1"/>
            <p:nvPr/>
          </p:nvSpPr>
          <p:spPr>
            <a:xfrm>
              <a:off x="4876800" y="2959100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1.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배경 및 중요성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CF8AC6D3-5B16-49AC-AF0C-342A4EC13B22}"/>
                </a:ext>
              </a:extLst>
            </p:cNvPr>
            <p:cNvSpPr txBox="1"/>
            <p:nvPr/>
          </p:nvSpPr>
          <p:spPr>
            <a:xfrm>
              <a:off x="4876800" y="4114132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3.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차별성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90A55529-3E03-3AC5-5A02-498BF1B72DE1}"/>
                </a:ext>
              </a:extLst>
            </p:cNvPr>
            <p:cNvSpPr txBox="1"/>
            <p:nvPr/>
          </p:nvSpPr>
          <p:spPr>
            <a:xfrm>
              <a:off x="4876800" y="52668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5.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방법 및 체계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0ECB81C1-47F1-8A6B-4CA3-AD6E3130AE87}"/>
                </a:ext>
              </a:extLst>
            </p:cNvPr>
            <p:cNvSpPr txBox="1"/>
            <p:nvPr/>
          </p:nvSpPr>
          <p:spPr>
            <a:xfrm>
              <a:off x="4876800" y="63590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7.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기대효과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4E1466BD-E1CD-9125-2122-BF2D5D588C21}"/>
                </a:ext>
              </a:extLst>
            </p:cNvPr>
            <p:cNvSpPr txBox="1"/>
            <p:nvPr/>
          </p:nvSpPr>
          <p:spPr>
            <a:xfrm>
              <a:off x="10058400" y="2959100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2.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목표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2" name="TextBox 15">
              <a:extLst>
                <a:ext uri="{FF2B5EF4-FFF2-40B4-BE49-F238E27FC236}">
                  <a16:creationId xmlns:a16="http://schemas.microsoft.com/office/drawing/2014/main" id="{F31DC41F-B017-320C-2AF2-CFD3C5210078}"/>
                </a:ext>
              </a:extLst>
            </p:cNvPr>
            <p:cNvSpPr txBox="1"/>
            <p:nvPr/>
          </p:nvSpPr>
          <p:spPr>
            <a:xfrm>
              <a:off x="10058400" y="4114132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4.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활용 데이터 및 활용 방안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4" name="TextBox 15">
              <a:extLst>
                <a:ext uri="{FF2B5EF4-FFF2-40B4-BE49-F238E27FC236}">
                  <a16:creationId xmlns:a16="http://schemas.microsoft.com/office/drawing/2014/main" id="{697FFC96-B3E3-30AD-E44C-3AF676421AD8}"/>
                </a:ext>
              </a:extLst>
            </p:cNvPr>
            <p:cNvSpPr txBox="1"/>
            <p:nvPr/>
          </p:nvSpPr>
          <p:spPr>
            <a:xfrm>
              <a:off x="10058400" y="52668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6.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추진 계획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DDFF1-62F1-2381-0752-38ED3A77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2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2F68-392D-5D08-4BCE-654D9F3AE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68C941-B28B-E8DF-65CC-B2294D5BE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138AF52-B330-359C-B088-BF2A95744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8103417-0A8F-4966-33D0-C57243F9B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58786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B0527B1-B487-8942-D584-2FDD34688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C1DE4030-62E3-3678-9317-EE2B83EFF9C1}"/>
              </a:ext>
            </a:extLst>
          </p:cNvPr>
          <p:cNvSpPr txBox="1"/>
          <p:nvPr/>
        </p:nvSpPr>
        <p:spPr>
          <a:xfrm>
            <a:off x="795020" y="469900"/>
            <a:ext cx="104201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r>
              <a:rPr lang="ko-KR" sz="4750" dirty="0">
                <a:solidFill>
                  <a:srgbClr val="FAA95A"/>
                </a:solidFill>
                <a:latin typeface="210 OmniGothic 050"/>
                <a:ea typeface="210 OmniGothic 050"/>
              </a:rPr>
              <a:t>교수 피드백 및 주요 </a:t>
            </a:r>
            <a:r>
              <a:rPr lang="ko-KR" sz="4750" dirty="0" err="1">
                <a:solidFill>
                  <a:srgbClr val="FAA95A"/>
                </a:solidFill>
                <a:latin typeface="210 OmniGothic 050"/>
                <a:ea typeface="210 OmniGothic 050"/>
              </a:rPr>
              <a:t>수정·보완</a:t>
            </a:r>
            <a:r>
              <a:rPr lang="ko-KR" sz="4750" dirty="0">
                <a:solidFill>
                  <a:srgbClr val="FAA95A"/>
                </a:solidFill>
                <a:latin typeface="210 OmniGothic 050"/>
                <a:ea typeface="210 OmniGothic 050"/>
              </a:rPr>
              <a:t> 사항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634EE7-D219-98BB-2D1A-114E904B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B002092-689F-1EAA-8756-F50189194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93861"/>
              </p:ext>
            </p:extLst>
          </p:nvPr>
        </p:nvGraphicFramePr>
        <p:xfrm>
          <a:off x="796954" y="1908496"/>
          <a:ext cx="16598133" cy="73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2728131761"/>
                    </a:ext>
                  </a:extLst>
                </a:gridCol>
                <a:gridCol w="2941966">
                  <a:extLst>
                    <a:ext uri="{9D8B030D-6E8A-4147-A177-3AD203B41FA5}">
                      <a16:colId xmlns:a16="http://schemas.microsoft.com/office/drawing/2014/main" val="4122215172"/>
                    </a:ext>
                  </a:extLst>
                </a:gridCol>
                <a:gridCol w="4239928">
                  <a:extLst>
                    <a:ext uri="{9D8B030D-6E8A-4147-A177-3AD203B41FA5}">
                      <a16:colId xmlns:a16="http://schemas.microsoft.com/office/drawing/2014/main" val="3106812392"/>
                    </a:ext>
                  </a:extLst>
                </a:gridCol>
                <a:gridCol w="7151614">
                  <a:extLst>
                    <a:ext uri="{9D8B030D-6E8A-4147-A177-3AD203B41FA5}">
                      <a16:colId xmlns:a16="http://schemas.microsoft.com/office/drawing/2014/main" val="793969629"/>
                    </a:ext>
                  </a:extLst>
                </a:gridCol>
                <a:gridCol w="1639395">
                  <a:extLst>
                    <a:ext uri="{9D8B030D-6E8A-4147-A177-3AD203B41FA5}">
                      <a16:colId xmlns:a16="http://schemas.microsoft.com/office/drawing/2014/main" val="3071389460"/>
                    </a:ext>
                  </a:extLst>
                </a:gridCol>
              </a:tblGrid>
              <a:tr h="238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latin typeface="210 OmniGothic 040"/>
                          <a:ea typeface="210 OmniGothic 040"/>
                        </a:rPr>
                        <a:t>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latin typeface="210 OmniGothic 040"/>
                          <a:ea typeface="210 OmniGothic 040"/>
                        </a:rPr>
                        <a:t>교수 피드백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err="1">
                          <a:latin typeface="210 OmniGothic 040"/>
                          <a:ea typeface="210 OmniGothic 040"/>
                        </a:rPr>
                        <a:t>기존안</a:t>
                      </a:r>
                      <a:endParaRPr lang="ko-KR" sz="1100" dirty="0" err="1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err="1">
                          <a:latin typeface="210 OmniGothic 040"/>
                          <a:ea typeface="210 OmniGothic 040"/>
                        </a:rPr>
                        <a:t>수정·보완</a:t>
                      </a:r>
                      <a:r>
                        <a:rPr lang="ko-KR" sz="1100" dirty="0">
                          <a:latin typeface="210 OmniGothic 040"/>
                          <a:ea typeface="210 OmniGothic 040"/>
                        </a:rPr>
                        <a:t>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latin typeface="210 OmniGothic 040"/>
                          <a:ea typeface="210 OmniGothic 040"/>
                        </a:rPr>
                        <a:t>반영 위치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657359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예측과 의사결정을 명확히 분리하고 의사결정의 세부 항목과 목표를 제시할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확산·위험도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계산, 대응보고서 생성,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표출·평가의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3개 목표로 구성되어 예측과 대응 의사결정의 경계가 다소 모호함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개발 목표를 ①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확산·위험도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예측 ② 역할별 대응 임무 자동 생성과 근거 검증 ③ 예측·대응 단일 화면 표출의 3개 단계로 재구성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2. 개발 목표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853253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의사결정을 중심에 두고 예측이 어떻게 활용되는지 명확히 제시할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예측 모델과 보고서 생성 모델이 각각 기술되어 있으나 두 모델 간 의사결정 관계가 충분히 강조되지 않음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시스템의 중심을 대응 의사결정으로 정의하고, 확산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방향·속도·도달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시각·위험도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등의 예측 결과가 역할별 임무 생성으로 직접 연결되도록 구조화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5.2 핵심 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52167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사용자·서버·내부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기능·외부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API가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모두 보이는 시스템 구성도를 작성할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사전 구축 계층과 실시간 계층 중심의 기술적 흐름을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사용자 인터페이스–서버–데이터 계층을 명확히 분리하고, 입력 → 예측 → 역할별 임무 생성·근거 검증 → 대시보드 반환 흐름을 전체 시스템 아키텍처로 재구성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5.1 전체 시스템 아키텍처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9715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업무 흐름도와 시스템 구조도를 구분할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처리 순서 중심의 설명이 시스템 구조와 혼재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서버 위치, 인터페이스, 데이터 계층 및 모델 모듈을 구조적으로 분리하고, 처리 흐름은 별도의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모델·파이프라인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설명으로 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5.1~5.2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148587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산림청 등 실제 산불 시스템과 현황을 직접 조사할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국가 시스템 일부 기능 및 기존 문헌을 중심으로 문제를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국가산불위험예보시스템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,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국가산불정보시스템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, 산불확산예측시스템 등 현행 국가 산불 대응 체계와 산출물을 직접 조사하여 별도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3.1 현행 산불 대응 체계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77945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현황 → 문제 → 목표가 자연스럽게 연결되도록 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피해 현황과 두 가지 공백을 상세히 설명했으나 내용량이 많아 핵심 문제가 분산됨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문제를 ‘예측과 대응 사이의 자동 연결고리 부재’ + ‘소수 인력의 수작업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병목’으로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압축하고 이를 2장의 개발 목표와 직접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1.2 / 2장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785130"/>
                  </a:ext>
                </a:extLst>
              </a:tr>
              <a:tr h="3977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차별성을 AS-IS → TO-BE 방식으로 기능 단위로 제시할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기존 시스템의 산출 방식과 본 과제 위치를 서술 중심으로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기존 국가 시스템 / 범용 LLM / 본 과제를 대응 생성, 역할별 산출, 근거 추적, 생성물 검증 측면에서 직접 비교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3.2 본 과제의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차별점</a:t>
                      </a:r>
                      <a:endParaRPr lang="ko-KR" sz="1100" b="0" dirty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39054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AI 모델 및 알고리즘의 선정 이유를 명시할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Qwen3.5 계열 소형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LLM과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자체 물리 확산 구현을 계획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확산 모델은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FARSITE와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ELMFIRE를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비교 후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ELMFIRE를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선정하고 선택 근거를 명시. LLM 역시 대안을 재검토하여 선정 근거를 별도 작성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5.2.1.1 / 5.5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849577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Qwen을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무료라는 이유만으로 선택하지 말고 대안을 검토할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Qwen3.5 계열 소형 모델 +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LoRA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파인튜닝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계획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Qwen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사용 계획을 철회하고 EXAONE 4.0 32B로 변경. 국내 공개 모델, GPU 적재 가능 규모, 추론 모드 지원 등을 선정 근거로 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5.5 개발환경 및 모델 명세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395569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개발 환경을 별도 항목으로 명확히 작성할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개발 기술이 각 구현 항목에 분산되어 있고 별도 개발환경 항목 부족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GPU 서버 / 서비스 서버 / 개발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PC를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구분하고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React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,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FastAPI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, ELMFIRE,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PostGIS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, KURE-v1, BM25, EXAONE,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vLLM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등 기술 스택을 별도 표로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5.5 개발환경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70182"/>
                  </a:ext>
                </a:extLst>
              </a:tr>
              <a:tr h="29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모델 성능과 목표를 정량적인 수치로 제시할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평가 지표는 있었으나 목표 수치와 근거가 충분하지 않음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확산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IoU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≥ 0.5, 검색 Recall@5 ≥ 0.80, 근거 충실도 ≥ 0.90, 답변 관련성 등 구체적 잠정 목표와 선정 근거를 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5.4 평가 지표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30781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‘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실시간’의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기준과 모델 처리 범위를 명확히 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요청 처리 및 응답 지연을 평가 대상으로만 기술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사전 구축 자산(격자·파라미터·근거 색인)과 요청 시 연산을 5.1 구성도에서 분리. 응답 지연 지표는 제외하고 근거 검증 정확도로 해석되는 지표만 사용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5.1 / 5.4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34355"/>
                  </a:ext>
                </a:extLst>
              </a:tr>
              <a:tr h="29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일정은 주차 나열형 표가 아니라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간트차트로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작성할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개발 항목과 수행 주차를 표 형태로 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개발 항목을 세부 태스크로 분해하여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간트차트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형식으로 재작성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6.2 개발 일정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269761"/>
                  </a:ext>
                </a:extLst>
              </a:tr>
              <a:tr h="43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간트차트에서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계획은 점선, 실제 수행은 실선으로 표시하고 담당자를 오른쪽에 둘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일반 일정 표시 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점선 화살표 = 계획 / 실선 화살표 = 실제 수행으로 정의하고 각 행 오른쪽에 담당자 배치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6.2 개발 일정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041955"/>
                  </a:ext>
                </a:extLst>
              </a:tr>
              <a:tr h="29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팀원별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개인 목표를 작성할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팀원의 개발 담당 역할 위주로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각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팀원별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구현 책임을 세분화하고, 별도로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기술·협업·기획·운영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역량에 대한 팀 및 개인 성장 목표를 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6.1 / 7.3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740658"/>
                  </a:ext>
                </a:extLst>
              </a:tr>
              <a:tr h="29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AI 사용 모델과 활용 지점을 문서에 명시할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일부 모델명이 구현 내용 안에 산재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예측, 위험도 판정, 근거 검색, 임무 생성 등 각 단계에서 어떤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모델·알고리즘을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사용하는지 명시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5장 전반 / 5.5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01153"/>
                  </a:ext>
                </a:extLst>
              </a:tr>
              <a:tr h="29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전체 구성이 발표 초반에 한눈에 전달되어야 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글 중심 설명 비중이 높음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시스템 개요도를 별도 구성하고 사용자 입력부터 </a:t>
                      </a:r>
                      <a:r>
                        <a:rPr lang="ko-KR" sz="1100" b="0" err="1">
                          <a:latin typeface="210 OmniGothic 040"/>
                          <a:ea typeface="210 OmniGothic 040"/>
                        </a:rPr>
                        <a:t>예측·대응·검증·표출까지의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전체 구조를 한 장에 표현하도록 수정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5.1 및 발표자료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91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7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A0A4A-2DB5-CFF4-8DC6-DF325AE2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768E4F3-A950-7E79-2FE0-F061442C48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4F131B6-3439-7C0D-8D9D-607FE38A7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57D2122-FD33-13AA-D428-EEEC1D6B8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58786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AFAB4DF-4F50-5606-058C-C3B1B498F3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A69D41B1-A86B-07B3-D8A7-F73981A8F291}"/>
              </a:ext>
            </a:extLst>
          </p:cNvPr>
          <p:cNvSpPr txBox="1"/>
          <p:nvPr/>
        </p:nvSpPr>
        <p:spPr>
          <a:xfrm>
            <a:off x="795020" y="469900"/>
            <a:ext cx="126299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r>
              <a:rPr lang="ko-KR" sz="4750" dirty="0">
                <a:solidFill>
                  <a:srgbClr val="FAA95A"/>
                </a:solidFill>
                <a:latin typeface="210 OmniGothic 050"/>
                <a:ea typeface="210 OmniGothic 050"/>
              </a:rPr>
              <a:t>교수 피드백 </a:t>
            </a:r>
            <a:r>
              <a:rPr lang="ko-KR" altLang="en-US" sz="4750" dirty="0">
                <a:solidFill>
                  <a:srgbClr val="FAA95A"/>
                </a:solidFill>
                <a:latin typeface="210 OmniGothic 050"/>
                <a:ea typeface="210 OmniGothic 050"/>
              </a:rPr>
              <a:t>외 </a:t>
            </a:r>
            <a:r>
              <a:rPr lang="ko-KR" sz="4750" dirty="0">
                <a:solidFill>
                  <a:srgbClr val="FAA95A"/>
                </a:solidFill>
                <a:latin typeface="210 OmniGothic 050"/>
                <a:ea typeface="210 OmniGothic 050"/>
              </a:rPr>
              <a:t>및 추가 주요 </a:t>
            </a:r>
            <a:r>
              <a:rPr lang="ko-KR" sz="4750" dirty="0" err="1">
                <a:solidFill>
                  <a:srgbClr val="FAA95A"/>
                </a:solidFill>
                <a:latin typeface="210 OmniGothic 050"/>
                <a:ea typeface="210 OmniGothic 050"/>
              </a:rPr>
              <a:t>수정·보완</a:t>
            </a:r>
            <a:r>
              <a:rPr lang="ko-KR" sz="4750" dirty="0">
                <a:solidFill>
                  <a:srgbClr val="FAA95A"/>
                </a:solidFill>
                <a:latin typeface="210 OmniGothic 050"/>
                <a:ea typeface="210 OmniGothic 050"/>
              </a:rPr>
              <a:t> 사항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DC1A48-01A9-E530-7645-77E6242F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C9E8463-B982-5097-571B-1AFA0B7F8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39847"/>
              </p:ext>
            </p:extLst>
          </p:nvPr>
        </p:nvGraphicFramePr>
        <p:xfrm>
          <a:off x="731520" y="1790700"/>
          <a:ext cx="16813850" cy="74273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9085">
                  <a:extLst>
                    <a:ext uri="{9D8B030D-6E8A-4147-A177-3AD203B41FA5}">
                      <a16:colId xmlns:a16="http://schemas.microsoft.com/office/drawing/2014/main" val="286993995"/>
                    </a:ext>
                  </a:extLst>
                </a:gridCol>
                <a:gridCol w="2950307">
                  <a:extLst>
                    <a:ext uri="{9D8B030D-6E8A-4147-A177-3AD203B41FA5}">
                      <a16:colId xmlns:a16="http://schemas.microsoft.com/office/drawing/2014/main" val="2664745607"/>
                    </a:ext>
                  </a:extLst>
                </a:gridCol>
                <a:gridCol w="4181230">
                  <a:extLst>
                    <a:ext uri="{9D8B030D-6E8A-4147-A177-3AD203B41FA5}">
                      <a16:colId xmlns:a16="http://schemas.microsoft.com/office/drawing/2014/main" val="632805682"/>
                    </a:ext>
                  </a:extLst>
                </a:gridCol>
                <a:gridCol w="6505725">
                  <a:extLst>
                    <a:ext uri="{9D8B030D-6E8A-4147-A177-3AD203B41FA5}">
                      <a16:colId xmlns:a16="http://schemas.microsoft.com/office/drawing/2014/main" val="3807093752"/>
                    </a:ext>
                  </a:extLst>
                </a:gridCol>
                <a:gridCol w="2427503">
                  <a:extLst>
                    <a:ext uri="{9D8B030D-6E8A-4147-A177-3AD203B41FA5}">
                      <a16:colId xmlns:a16="http://schemas.microsoft.com/office/drawing/2014/main" val="1621133756"/>
                    </a:ext>
                  </a:extLst>
                </a:gridCol>
              </a:tblGrid>
              <a:tr h="2349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dirty="0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dirty="0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수정 사유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dirty="0" err="1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기존안</a:t>
                      </a:r>
                      <a:endParaRPr lang="ko-KR" sz="1100" b="1" dirty="0">
                        <a:solidFill>
                          <a:schemeClr val="bg1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dirty="0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수정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1" dirty="0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보완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dirty="0">
                          <a:solidFill>
                            <a:schemeClr val="bg1"/>
                          </a:solidFill>
                          <a:latin typeface="210 OmniGothic 040"/>
                          <a:ea typeface="210 OmniGothic 040"/>
                        </a:rPr>
                        <a:t>반영 위치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42152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전체 데이터 확보 후 분석 결과 변경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공개 샘플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560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 파일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산불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18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건을 기준으로 데이터 특성 분석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전체 데이터 산불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101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건을 확보한 뒤 동일 분석을 다시 수행하여 데이터 특성 및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실측값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갱신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4.2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사전 분석에서 확인한 데이터 특성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74792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AI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Hub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데이터의 시계열 한계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데이터 기반 확산 학습 가능성을 일부 고려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 err="1">
                          <a:latin typeface="210 OmniGothic 040"/>
                          <a:ea typeface="210 OmniGothic 040"/>
                        </a:rPr>
                        <a:t>fire_spread_track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이 시간 변화 데이터가 아니라 최종 소실 경계임을 확인하여 지도학습 방식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4.2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264597"/>
                  </a:ext>
                </a:extLst>
              </a:tr>
              <a:tr h="3859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3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확산 예측 방법 현실화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Rothermel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타원 모델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Huygens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전파 알고리즘을 직접 구현하는 방향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공개 물리 기반 엔진을 비교하여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ELMFIRE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를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채택하고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국내 산불 최종 소실 경계로 파라미터를 보정하는 구조로 변경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5.2.1.1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20335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AI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Hub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활용 목적 재정의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AI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Hub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를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학습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검증 데이터로 폭넓게 활용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데이터를 그대로 학습하지 않고 확산 모델 보정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위험도 기준 계승에 활용하는 방향으로 변경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4.3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활용 방안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211798"/>
                  </a:ext>
                </a:extLst>
              </a:tr>
              <a:tr h="2349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사후 정보에 의한 정답 누출 방지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화재 강도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화선 길이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영향 면적 등 일부 데이터 활용 가능성 존재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사후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확정값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개 변수는 예측 입력에서 명시적으로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4.2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03483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6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위험도 라벨의 신뢰도 문제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라벨을 활용한 규칙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모델 학습 계획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위험도 라벨값 대신 기상·지형·연료·인프라 25변수 기준 체계만 계승. 산식은 25×(가중평균−1)로 0~100 선형 변환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4.2~4.3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5.2.1.2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122439"/>
                  </a:ext>
                </a:extLst>
              </a:tr>
              <a:tr h="3020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7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데이터셋 내 근거 정보 부재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데이터셋의 추론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답변을 생성 및 검증에 함께 활용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source,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reference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계열 필드가 없음을 확인하고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검증 근거를 법령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매뉴얼 외부 코퍼스로 완전히 분리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4.2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83457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8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RAG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구조 정교화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일반 벡터 검색과 법령 검증 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KURE-v1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BM25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하이브리드 검색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기관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대응단계 메타데이터 필터로 구체화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5768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9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대응 주체 범위 현실화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진압대원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구조요원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공무원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시민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직접적인 대응 임무 수행 주체를 소방요원·구조요원·공무원 3역할로 한정하고 시민 제거. 7.1의 B2C(주민 안내) 항목도 삭제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2.2 / 5.2.2.1 / 5.3 / 7.1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88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10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역할 구분을 실제 조직 체계와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역할별 보고서만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각 역할 아래 실제 대응 기관을 매핑하고 법령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매뉴얼에 따라 검색 대상 기관을 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5.2.2.1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역할 체계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495649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이 지휘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조직 판단을 임의 생성하는 위험 축소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이 예측 결과를 직접 역할별 보고서로 변환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대응 단계와 행정구역 경계 통과 여부를 규칙 엔진이 먼저 판정하고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은 서술만 담당하도록 역할 축소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5.2.2.2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역할 활성화 규칙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0776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의 책임 범위 축소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 판단 및 대응보고서 생성에 생성 모델 활용 비중이 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위험도와 확산 판단은 물리 모델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은 검색된 근거를 역할별 자연어 임무로 정리하는 역할로 제한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81842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13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생성 결과의 안전성 강화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종 가드레일 중심 검증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모든 임무에 근거를 연결하고 근거 5개 미만이면 ‘근거 부족’으로 표시. 검증을 별도 계층이 아닌 임무 생성(2.2)의 일부로 통합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2.2 / 5.2.2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4012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14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산출물 표현 단순화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8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필드 정형 대응보고서 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최종 사용자 화면에서 현장 분석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역할별 임무 목록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근거 조항을 직접 제시하는 방식으로 변경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5.3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표출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6951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15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지도 표출 범위 현실화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시민 대피 우선순위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골든타임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등 다양한 요소를 한 화면에 포함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핵심 산출물인 확산 방향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속도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도달 시각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위험도와 역할별 임무 중심으로 단순화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2.3 / 5.3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545782"/>
                  </a:ext>
                </a:extLst>
              </a:tr>
              <a:tr h="3020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16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검증 가능한 평가 체계 중심으로 재편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위험도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골든타임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가드레일 등 많은 평가 항목 존재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실제 보유 데이터로 검증 가능한 확산 </a:t>
                      </a:r>
                      <a:r>
                        <a:rPr lang="en-US" altLang="ko-KR" sz="1100" b="0" dirty="0" err="1">
                          <a:latin typeface="210 OmniGothic 040"/>
                          <a:ea typeface="210 OmniGothic 040"/>
                        </a:rPr>
                        <a:t>IoU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RAG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검색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근거 충실도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답변 관련성 중심으로 평가 구조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5.4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62236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17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실제 구현 환경 반영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GPU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사양이 확정되지 않은 상태에서 모델 후보 설계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실제 사용 가능한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RTX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A6000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48GB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를 기준으로 모델 크기와 서빙 방식을 결정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5.5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805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18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모델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파인튜닝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계획 변경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Qwen3.5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소형 모델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 err="1">
                          <a:latin typeface="210 OmniGothic 040"/>
                          <a:ea typeface="210 OmniGothic 040"/>
                        </a:rPr>
                        <a:t>LoRA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파인튜닝을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주요 개발 항목으로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EXAONE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4.0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32B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RAG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중심 구조로 전환하여 </a:t>
                      </a:r>
                      <a:r>
                        <a:rPr lang="ko-KR" sz="1100" b="0" dirty="0" err="1">
                          <a:latin typeface="210 OmniGothic 040"/>
                          <a:ea typeface="210 OmniGothic 040"/>
                        </a:rPr>
                        <a:t>파인튜닝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의존도를 낮춤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5.2.2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5.5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09437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19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모듈 간 통합 책임 명확화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팀 역할이 직무 단위로만 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데이터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·API·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규칙 판정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확산 예측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RAG·LLM,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대시보드를 각각 담당 모듈 단위로 재분배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6.1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팀 구성 및 역할 분담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43779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20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팀 개발 운영 방식 구체화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협업 방식에 대한 상세 항목 부족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Confluence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Jira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Google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Drive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GitHub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Discord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의 용도와 운영 규칙을 별도 정의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6.3</a:t>
                      </a: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 협업 체계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32749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21</a:t>
                      </a:r>
                      <a:endParaRPr lang="ko-KR" altLang="en-US" sz="1100" b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조건부 질의 논거 삭제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100" b="0" dirty="0">
                          <a:latin typeface="210 OmniGothic 040"/>
                          <a:ea typeface="210 OmniGothic 040"/>
                        </a:rPr>
                        <a:t>‘조건이 바뀌면 다시 답한다’ 등 조건부 물음을 차별점으로 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보고서 1회 생성 설계에 맞춰 조건부 물음 문장을 삭제하고 차별점을 역할별 대응 판단 자동 생성 / 근거 추적과 검증 2개로 한정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>
                          <a:latin typeface="210 OmniGothic 040"/>
                          <a:ea typeface="210 OmniGothic 040"/>
                        </a:rPr>
                        <a:t>3.1 / 3.2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8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69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1416-DAF5-1A7B-4E1B-1D4C6D74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53C1585-55A8-F559-9F8E-5963B9BCCE5B}"/>
              </a:ext>
            </a:extLst>
          </p:cNvPr>
          <p:cNvSpPr txBox="1"/>
          <p:nvPr/>
        </p:nvSpPr>
        <p:spPr>
          <a:xfrm>
            <a:off x="6197358" y="4705350"/>
            <a:ext cx="5880583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개발 배경 및 중요성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FDCC83-4678-2AF5-EE61-36CA6AF7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1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A376F77-C743-2AF0-D88C-6D46E9BD9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55" y="3746273"/>
            <a:ext cx="10355944" cy="5869669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837509" y="205703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산불은 덜 발생해도, 한 번의 피해는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더 커지고 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5500" y="469900"/>
            <a:ext cx="9218386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  <a:endParaRPr lang="ko-KR" altLang="en-US" sz="4750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FB409B1-C61A-51BE-D3DA-412837496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3886" y="3292702"/>
            <a:ext cx="8069944" cy="4545241"/>
          </a:xfrm>
          <a:prstGeom prst="rect">
            <a:avLst/>
          </a:prstGeom>
        </p:spPr>
      </p:pic>
      <p:sp>
        <p:nvSpPr>
          <p:cNvPr id="36" name="TextBox 21">
            <a:extLst>
              <a:ext uri="{FF2B5EF4-FFF2-40B4-BE49-F238E27FC236}">
                <a16:creationId xmlns:a16="http://schemas.microsoft.com/office/drawing/2014/main" id="{20F8EEF1-CBE0-DCE4-8300-D571C33F54F5}"/>
              </a:ext>
            </a:extLst>
          </p:cNvPr>
          <p:cNvSpPr txBox="1"/>
          <p:nvPr/>
        </p:nvSpPr>
        <p:spPr>
          <a:xfrm>
            <a:off x="1447800" y="3746273"/>
            <a:ext cx="10299700" cy="15330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발생 건수는 최근 10년 평균보다 적었지만,</a:t>
            </a:r>
            <a:endParaRPr lang="en-US" altLang="ko-KR" dirty="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피해면적은 약 7.3배</a:t>
            </a:r>
            <a:endParaRPr lang="en-US" altLang="ko-KR" dirty="0">
              <a:ea typeface="맑은 고딕"/>
              <a:cs typeface="Calibri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ED9F41E-2F6E-3DA7-9061-969D8E2574B1}"/>
              </a:ext>
            </a:extLst>
          </p:cNvPr>
          <p:cNvSpPr txBox="1"/>
          <p:nvPr/>
        </p:nvSpPr>
        <p:spPr>
          <a:xfrm>
            <a:off x="823686" y="84701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출처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 </a:t>
            </a: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산림청 산불발생통계서비스 </a:t>
            </a:r>
            <a:endParaRPr lang="ko-KR" altLang="en-US" sz="1600">
              <a:latin typeface="210 OmniGothic 050"/>
              <a:ea typeface="210 OmniGothic 05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1334108-5F75-A1E6-CCFE-8EACE21DE672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제작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 생성형 AI 활용</a:t>
            </a:r>
            <a:endParaRPr lang="en-US" sz="1600" spc="-100" dirty="0">
              <a:solidFill>
                <a:srgbClr val="363A52"/>
              </a:solidFill>
              <a:latin typeface="210 OmniGothic 050"/>
              <a:ea typeface="210 OmniGothic 050"/>
            </a:endParaRPr>
          </a:p>
        </p:txBody>
      </p:sp>
    </p:spTree>
    <p:extLst>
      <p:ext uri="{BB962C8B-B14F-4D97-AF65-F5344CB8AC3E}">
        <p14:creationId xmlns:p14="http://schemas.microsoft.com/office/powerpoint/2010/main" val="12208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617C-E0DE-EC60-555A-F44F8D1E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A9A071A-EC07-26E3-C296-6893F20ED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E9B0E9-C7CD-9062-A801-3611BF9E4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30AF172-5B16-3193-C1C1-B1C50AB31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1F297F-B0EB-8A19-4DD7-8348D099B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4A2E257B-56E8-03B5-783C-3012FB402D87}"/>
              </a:ext>
            </a:extLst>
          </p:cNvPr>
          <p:cNvSpPr txBox="1"/>
          <p:nvPr/>
        </p:nvSpPr>
        <p:spPr>
          <a:xfrm>
            <a:off x="1578429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확산은 예측하지만, 다음 행동까지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자동으로 연결되지 않는다</a:t>
            </a:r>
            <a:endParaRPr lang="en-US" altLang="ko-KR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7A31018-EF7F-1B01-4213-D1FEDE2591FB}"/>
              </a:ext>
            </a:extLst>
          </p:cNvPr>
          <p:cNvSpPr txBox="1"/>
          <p:nvPr/>
        </p:nvSpPr>
        <p:spPr>
          <a:xfrm>
            <a:off x="825500" y="469900"/>
            <a:ext cx="86233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FD101-E95B-BDF4-CD2B-0096597E8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023" y="2552338"/>
            <a:ext cx="9146539" cy="6828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CDD623-C8F3-C186-5513-7EC3DAEBB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7428" y="2730498"/>
            <a:ext cx="4336143" cy="647700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0033CE1-4D30-A749-32CC-57314FE7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99A315FE-3293-6FA6-1FCD-0D1DF4D6DCDC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 제작: 생성형 AI 활용</a:t>
            </a:r>
            <a:endParaRPr lang="ko-KR" sz="1600" spc="-100" dirty="0">
              <a:solidFill>
                <a:srgbClr val="000000"/>
              </a:solidFill>
              <a:latin typeface="210 OmniGothic 050"/>
              <a:ea typeface="210 OmniGothic 050"/>
            </a:endParaRPr>
          </a:p>
        </p:txBody>
      </p:sp>
    </p:spTree>
    <p:extLst>
      <p:ext uri="{BB962C8B-B14F-4D97-AF65-F5344CB8AC3E}">
        <p14:creationId xmlns:p14="http://schemas.microsoft.com/office/powerpoint/2010/main" val="70444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2C64-EA29-CB4A-83AE-6F2A4990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2">
            <a:extLst>
              <a:ext uri="{FF2B5EF4-FFF2-40B4-BE49-F238E27FC236}">
                <a16:creationId xmlns:a16="http://schemas.microsoft.com/office/drawing/2014/main" id="{E13F6686-2863-F408-771F-CB23E7DE1DE8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2036E3B-053A-DC33-C7CB-009BA548D9B1}"/>
              </a:ext>
            </a:extLst>
          </p:cNvPr>
          <p:cNvSpPr txBox="1"/>
          <p:nvPr/>
        </p:nvSpPr>
        <p:spPr>
          <a:xfrm>
            <a:off x="7454417" y="4648011"/>
            <a:ext cx="3379165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개발 목표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9A043-5E17-D38C-BA4B-37F6AFBF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76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7982-AA8A-E6D4-FCEB-F62D44E5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AAD9B01-819A-4C19-5CF2-C3CD09965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4D8665-3520-5A76-264D-BA8345C1D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29DDFA7-E95D-294E-3B95-CE98E4634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9B82862F-1B68-40C1-03A6-41B8B5A9A91B}"/>
              </a:ext>
            </a:extLst>
          </p:cNvPr>
          <p:cNvSpPr txBox="1"/>
          <p:nvPr/>
        </p:nvSpPr>
        <p:spPr>
          <a:xfrm>
            <a:off x="1846036" y="1890258"/>
            <a:ext cx="1463294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예측 결과를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'행동 가능한 대응 </a:t>
            </a:r>
            <a:r>
              <a:rPr lang="ko-KR" altLang="en-US" sz="40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정보'</a:t>
            </a:r>
            <a:r>
              <a:rPr lang="ko-KR" altLang="en-US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로</a:t>
            </a:r>
            <a:r>
              <a:rPr 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변환</a:t>
            </a:r>
            <a:endParaRPr lang="en-US" altLang="ko-KR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F87CC77-FB7C-6BDF-2993-7B7007895D3A}"/>
              </a:ext>
            </a:extLst>
          </p:cNvPr>
          <p:cNvSpPr txBox="1"/>
          <p:nvPr/>
        </p:nvSpPr>
        <p:spPr>
          <a:xfrm>
            <a:off x="825500" y="469900"/>
            <a:ext cx="400412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2.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목표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BBBE6A-4EE1-255C-2A44-09F93FC8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D86B9F45-21B6-3E0E-EB12-E4A8D8C4A963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제작: 생성형 AI 활용</a:t>
            </a:r>
            <a:endParaRPr lang="ko-KR" altLang="en-US" sz="1600" spc="-100" dirty="0">
              <a:solidFill>
                <a:srgbClr val="000000"/>
              </a:solidFill>
              <a:latin typeface="210 OmniGothic 050"/>
              <a:ea typeface="210 OmniGothic 050"/>
              <a:cs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E83773-4D50-5C7E-8F2A-2673B8F9A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970" y="2406785"/>
            <a:ext cx="10642062" cy="721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52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69DB-3D20-4653-C5D2-20BE9FAB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D8EE007-D247-690D-6E17-08AAA672D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1B95043-F8B3-9939-B3E6-F3708C326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D2D53EA-6996-2E5B-65F8-BF4AC0DA0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30767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CBD0B08-2AD3-D594-D0C4-6910ABBA6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00E117E3-F7C2-8359-3489-CA68E7DF0434}"/>
              </a:ext>
            </a:extLst>
          </p:cNvPr>
          <p:cNvSpPr txBox="1"/>
          <p:nvPr/>
        </p:nvSpPr>
        <p:spPr>
          <a:xfrm>
            <a:off x="825500" y="469900"/>
            <a:ext cx="400412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2.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목표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4D7249-47BA-672B-7350-BF4EC214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0" name="Picture 15">
            <a:extLst>
              <a:ext uri="{FF2B5EF4-FFF2-40B4-BE49-F238E27FC236}">
                <a16:creationId xmlns:a16="http://schemas.microsoft.com/office/drawing/2014/main" id="{36960206-A5AF-188F-9401-329CB60925E5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30100" y="3909060"/>
            <a:ext cx="4000500" cy="4486275"/>
          </a:xfrm>
          <a:prstGeom prst="rect">
            <a:avLst/>
          </a:prstGeom>
        </p:spPr>
      </p:pic>
      <p:sp>
        <p:nvSpPr>
          <p:cNvPr id="51" name="TextBox 25">
            <a:extLst>
              <a:ext uri="{FF2B5EF4-FFF2-40B4-BE49-F238E27FC236}">
                <a16:creationId xmlns:a16="http://schemas.microsoft.com/office/drawing/2014/main" id="{505EA2D0-3D7A-9F7A-B5BA-BF7FC00963D8}"/>
              </a:ext>
            </a:extLst>
          </p:cNvPr>
          <p:cNvSpPr txBox="1"/>
          <p:nvPr/>
        </p:nvSpPr>
        <p:spPr>
          <a:xfrm>
            <a:off x="12458700" y="5721686"/>
            <a:ext cx="3496189" cy="909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210 OmniGothic 030"/>
              </a:rPr>
              <a:t>예측과 대응의 </a:t>
            </a:r>
          </a:p>
          <a:p>
            <a:pPr algn="ctr">
              <a:lnSpc>
                <a:spcPct val="116199"/>
              </a:lnSpc>
            </a:pPr>
            <a:r>
              <a:rPr lang="ko-KR" altLang="en-US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210 OmniGothic 030"/>
              </a:rPr>
              <a:t>단일 화면 표출</a:t>
            </a:r>
            <a:endParaRPr lang="ko-KR" altLang="en-US" sz="2800" b="1" i="0" u="none" strike="noStrike" spc="-100" dirty="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210 OmniGothic 030"/>
            </a:endParaRPr>
          </a:p>
        </p:txBody>
      </p:sp>
      <p:pic>
        <p:nvPicPr>
          <p:cNvPr id="24" name="Picture 15">
            <a:extLst>
              <a:ext uri="{FF2B5EF4-FFF2-40B4-BE49-F238E27FC236}">
                <a16:creationId xmlns:a16="http://schemas.microsoft.com/office/drawing/2014/main" id="{E7E62269-3228-0F08-1114-66756C2B4F8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7400" y="3909060"/>
            <a:ext cx="4000500" cy="4486275"/>
          </a:xfrm>
          <a:prstGeom prst="rect">
            <a:avLst/>
          </a:prstGeom>
        </p:spPr>
      </p:pic>
      <p:sp>
        <p:nvSpPr>
          <p:cNvPr id="18" name="TextBox 25">
            <a:extLst>
              <a:ext uri="{FF2B5EF4-FFF2-40B4-BE49-F238E27FC236}">
                <a16:creationId xmlns:a16="http://schemas.microsoft.com/office/drawing/2014/main" id="{C1AADB55-9C6A-3719-DEB0-A28C65E27543}"/>
              </a:ext>
            </a:extLst>
          </p:cNvPr>
          <p:cNvSpPr txBox="1"/>
          <p:nvPr/>
        </p:nvSpPr>
        <p:spPr>
          <a:xfrm>
            <a:off x="2286000" y="4682191"/>
            <a:ext cx="3496189" cy="909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210 OmniGothic 030"/>
              </a:rPr>
              <a:t>좌표 기반 </a:t>
            </a:r>
            <a:endParaRPr lang="en-US" altLang="ko-KR" sz="2800" b="1" spc="-100" dirty="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  <a:p>
            <a:pPr algn="ctr">
              <a:lnSpc>
                <a:spcPct val="116199"/>
              </a:lnSpc>
            </a:pPr>
            <a:r>
              <a:rPr lang="ko-KR" altLang="en-US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210 OmniGothic 030"/>
              </a:rPr>
              <a:t>확산</a:t>
            </a:r>
            <a:r>
              <a:rPr lang="en-US" altLang="ko-KR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·위험도 예측</a:t>
            </a:r>
            <a:endParaRPr lang="en-US" altLang="ko-KR" sz="2800" b="1" i="0" u="none" strike="noStrike" spc="-100" dirty="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  <a:p>
            <a:pPr lvl="0" algn="ctr">
              <a:lnSpc>
                <a:spcPct val="116199"/>
              </a:lnSpc>
            </a:pPr>
            <a:endParaRPr lang="ko-KR" altLang="en-US" sz="2800" b="1" i="0" u="none" strike="noStrike" spc="-100" dirty="0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210 OmniGothic 03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01EBB1-1192-5C81-761F-CD5895BED3ED}"/>
              </a:ext>
            </a:extLst>
          </p:cNvPr>
          <p:cNvSpPr txBox="1"/>
          <p:nvPr/>
        </p:nvSpPr>
        <p:spPr>
          <a:xfrm>
            <a:off x="2609851" y="5980517"/>
            <a:ext cx="3733800" cy="13775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지형 </a:t>
            </a:r>
            <a:r>
              <a:rPr 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·</a:t>
            </a:r>
            <a:r>
              <a:rPr lang="en-US" altLang="ko-KR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 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연료 </a:t>
            </a:r>
            <a:r>
              <a:rPr 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·</a:t>
            </a:r>
            <a:r>
              <a:rPr lang="en-US" altLang="ko-KR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 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기상 </a:t>
            </a:r>
            <a:r>
              <a:rPr 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· 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인프라</a:t>
            </a:r>
            <a:endParaRPr lang="ko-KR" dirty="0"/>
          </a:p>
          <a:p>
            <a:pPr marL="285750" indent="-28575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방향 </a:t>
            </a:r>
            <a:r>
              <a:rPr 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 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속도</a:t>
            </a:r>
          </a:p>
          <a:p>
            <a:pPr marL="285750" indent="-28575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 도달 시각</a:t>
            </a:r>
          </a:p>
          <a:p>
            <a:pPr marL="285750" indent="-28575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 </a:t>
            </a:r>
            <a:r>
              <a:rPr 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변수</a:t>
            </a:r>
            <a:r>
              <a:rPr 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기여도</a:t>
            </a:r>
            <a:endParaRPr lang="ko-KR" sz="1800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41" name="Picture 15">
            <a:extLst>
              <a:ext uri="{FF2B5EF4-FFF2-40B4-BE49-F238E27FC236}">
                <a16:creationId xmlns:a16="http://schemas.microsoft.com/office/drawing/2014/main" id="{EBEB5CBD-FB6B-621A-13DC-E50B86910E1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3749" y="3923665"/>
            <a:ext cx="4000500" cy="4486275"/>
          </a:xfrm>
          <a:prstGeom prst="rect">
            <a:avLst/>
          </a:prstGeom>
        </p:spPr>
      </p:pic>
      <p:sp>
        <p:nvSpPr>
          <p:cNvPr id="42" name="TextBox 25">
            <a:extLst>
              <a:ext uri="{FF2B5EF4-FFF2-40B4-BE49-F238E27FC236}">
                <a16:creationId xmlns:a16="http://schemas.microsoft.com/office/drawing/2014/main" id="{D93DBB33-3E8A-0F2A-9FB8-93D508451075}"/>
              </a:ext>
            </a:extLst>
          </p:cNvPr>
          <p:cNvSpPr txBox="1"/>
          <p:nvPr/>
        </p:nvSpPr>
        <p:spPr>
          <a:xfrm>
            <a:off x="7361131" y="4681556"/>
            <a:ext cx="3496189" cy="909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210 OmniGothic 030"/>
              </a:rPr>
              <a:t>역할별 대응 임무</a:t>
            </a:r>
          </a:p>
          <a:p>
            <a:pPr algn="ctr">
              <a:lnSpc>
                <a:spcPct val="116199"/>
              </a:lnSpc>
            </a:pPr>
            <a:r>
              <a:rPr lang="ko-KR" altLang="en-US" sz="28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210 OmniGothic 030"/>
              </a:rPr>
              <a:t>자동 생성과 근거 검증</a:t>
            </a:r>
            <a:endParaRPr lang="ko-KR" altLang="en-US" sz="2800" b="1" i="0" u="none" strike="noStrike" spc="-100" dirty="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210 OmniGothic 03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AA1934-64D6-833F-3267-D9DA17D09C09}"/>
              </a:ext>
            </a:extLst>
          </p:cNvPr>
          <p:cNvSpPr txBox="1"/>
          <p:nvPr/>
        </p:nvSpPr>
        <p:spPr>
          <a:xfrm>
            <a:off x="7468297" y="5975743"/>
            <a:ext cx="3733800" cy="13775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소방·구조·행정 역할별 생성</a:t>
            </a:r>
            <a:endParaRPr lang="ko-KR" altLang="en-US" sz="1800" spc="-100" dirty="0" err="1">
              <a:solidFill>
                <a:srgbClr val="363A52"/>
              </a:solidFill>
              <a:latin typeface="210 OmniGothic 030"/>
              <a:ea typeface="210 OmniGothic 030"/>
            </a:endParaRP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RAG로 법령·매뉴얼 근거 연결</a:t>
            </a:r>
            <a:endParaRPr lang="ko-KR" altLang="en-US" sz="1800" spc="-100" dirty="0" err="1">
              <a:solidFill>
                <a:srgbClr val="363A52"/>
              </a:solidFill>
              <a:latin typeface="210 OmniGothic 030"/>
              <a:ea typeface="210 OmniGothic 030"/>
            </a:endParaRP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근거 5개 미만 → 근거 부족 표시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1800" spc="-100" dirty="0" err="1">
                <a:solidFill>
                  <a:srgbClr val="363A52"/>
                </a:solidFill>
                <a:latin typeface="210 OmniGothic 030"/>
                <a:ea typeface="210 OmniGothic 030"/>
              </a:rPr>
              <a:t>기관·단계는</a:t>
            </a:r>
            <a:r>
              <a:rPr lang="ko-KR" altLang="en-US" sz="180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 규칙으로 고정</a:t>
            </a:r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B525E6EA-B64A-F323-4412-6354A6442F3B}"/>
              </a:ext>
            </a:extLst>
          </p:cNvPr>
          <p:cNvSpPr txBox="1"/>
          <p:nvPr/>
        </p:nvSpPr>
        <p:spPr>
          <a:xfrm>
            <a:off x="938349" y="1874157"/>
            <a:ext cx="1641602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발화점 또는 현재 화선 위치만으로</a:t>
            </a: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 </a:t>
            </a:r>
            <a:r>
              <a:rPr lang="ko-KR" sz="40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예측</a:t>
            </a:r>
            <a:r>
              <a:rPr lang="ko-KR" sz="40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+mn-lt"/>
              </a:rPr>
              <a:t> → 대응 → 표출까지 자동화</a:t>
            </a:r>
            <a:endParaRPr lang="en-US" altLang="ko-KR" sz="4000" b="1">
              <a:solidFill>
                <a:srgbClr val="000000"/>
              </a:solidFill>
              <a:latin typeface="210 OmniGothic 040"/>
              <a:ea typeface="210 OmniGothic 040"/>
              <a:cs typeface="Calibri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8D53E95-197A-5983-0FD1-3F288D859EB6}"/>
              </a:ext>
            </a:extLst>
          </p:cNvPr>
          <p:cNvSpPr/>
          <p:nvPr/>
        </p:nvSpPr>
        <p:spPr>
          <a:xfrm>
            <a:off x="6324600" y="5756821"/>
            <a:ext cx="686978" cy="796247"/>
          </a:xfrm>
          <a:prstGeom prst="rightArrow">
            <a:avLst/>
          </a:prstGeom>
          <a:solidFill>
            <a:srgbClr val="363A52"/>
          </a:solidFill>
          <a:ln>
            <a:solidFill>
              <a:srgbClr val="363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363A52"/>
              </a:solidFill>
              <a:ea typeface="맑은 고딕"/>
              <a:cs typeface="Calibri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E0CF1FC-BF41-7ED6-8E46-1791C76CD804}"/>
              </a:ext>
            </a:extLst>
          </p:cNvPr>
          <p:cNvSpPr/>
          <p:nvPr/>
        </p:nvSpPr>
        <p:spPr>
          <a:xfrm>
            <a:off x="11430000" y="5786129"/>
            <a:ext cx="599411" cy="796247"/>
          </a:xfrm>
          <a:prstGeom prst="rightArrow">
            <a:avLst/>
          </a:prstGeom>
          <a:solidFill>
            <a:srgbClr val="363A52"/>
          </a:solidFill>
          <a:ln>
            <a:solidFill>
              <a:srgbClr val="363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363A52"/>
              </a:solidFill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43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B1E3-54EF-6480-1380-EBB8611B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A62AD02D-9A24-7327-0212-DD736D095455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24DC7E1-8E7F-F1F2-B22C-2D71393E855A}"/>
              </a:ext>
            </a:extLst>
          </p:cNvPr>
          <p:cNvSpPr txBox="1"/>
          <p:nvPr/>
        </p:nvSpPr>
        <p:spPr>
          <a:xfrm>
            <a:off x="7822235" y="4648011"/>
            <a:ext cx="2611552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3</a:t>
            </a:r>
            <a:r>
              <a:rPr lang="en-US" sz="4799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차별성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F441F0-947E-D9E8-3455-6E78F065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7104A-F85B-7A9D-EA50-2D4053C8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B21E08-3241-AF20-05D7-FA8013AF1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079946-2F11-7878-4EC2-DE7FA1BC4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1A56E97-DBFB-E1FB-7C50-89056A066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47A9A33-688E-FDA2-7120-8F57B4F00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0BE692E7-3DBB-9413-804D-2ABA9C913196}"/>
              </a:ext>
            </a:extLst>
          </p:cNvPr>
          <p:cNvSpPr txBox="1"/>
          <p:nvPr/>
        </p:nvSpPr>
        <p:spPr>
          <a:xfrm>
            <a:off x="825500" y="469900"/>
            <a:ext cx="62291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3.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차별성</a:t>
            </a:r>
            <a:endParaRPr lang="en-US" altLang="ko-KR" sz="4750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2C17245E-6CB0-818E-37B3-9739F312F2E1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009097" y="5793349"/>
            <a:ext cx="4813300" cy="25400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11EF1852-9DFF-C61F-6734-07E055A68473}"/>
              </a:ext>
            </a:extLst>
          </p:cNvPr>
          <p:cNvSpPr txBox="1"/>
          <p:nvPr/>
        </p:nvSpPr>
        <p:spPr>
          <a:xfrm>
            <a:off x="1116427" y="7163582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역할별 행동 지침 생성</a:t>
            </a:r>
            <a:endParaRPr lang="en-US" sz="28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DF76DB8E-F186-2A46-3717-9156BA709170}"/>
              </a:ext>
            </a:extLst>
          </p:cNvPr>
          <p:cNvSpPr txBox="1"/>
          <p:nvPr/>
        </p:nvSpPr>
        <p:spPr>
          <a:xfrm>
            <a:off x="1116427" y="5924061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대응 판단 자동화</a:t>
            </a:r>
            <a:endParaRPr lang="en-US" sz="20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FD8CEE00-2AC4-F13A-0C50-E30759D8F1C6}"/>
              </a:ext>
            </a:extLst>
          </p:cNvPr>
          <p:cNvSpPr txBox="1"/>
          <p:nvPr/>
        </p:nvSpPr>
        <p:spPr>
          <a:xfrm>
            <a:off x="1116427" y="4666761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예측 결과</a:t>
            </a:r>
            <a:endParaRPr lang="ko-KR" altLang="en-US" sz="2800" b="0" i="0" u="none" strike="noStrike" spc="-100">
              <a:solidFill>
                <a:srgbClr val="363A52"/>
              </a:solidFill>
              <a:latin typeface="210 OmniGothic 050"/>
              <a:ea typeface="210 OmniGothic 050"/>
              <a:cs typeface="210 OmniGothic 030"/>
            </a:endParaRPr>
          </a:p>
        </p:txBody>
      </p:sp>
      <p:pic>
        <p:nvPicPr>
          <p:cNvPr id="26" name="Picture 14">
            <a:extLst>
              <a:ext uri="{FF2B5EF4-FFF2-40B4-BE49-F238E27FC236}">
                <a16:creationId xmlns:a16="http://schemas.microsoft.com/office/drawing/2014/main" id="{607AA76E-54F7-AAA3-DBEE-19D42B90A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544667" y="5416061"/>
            <a:ext cx="266700" cy="457200"/>
          </a:xfrm>
          <a:prstGeom prst="rect">
            <a:avLst/>
          </a:prstGeom>
        </p:spPr>
      </p:pic>
      <p:pic>
        <p:nvPicPr>
          <p:cNvPr id="27" name="Picture 14">
            <a:extLst>
              <a:ext uri="{FF2B5EF4-FFF2-40B4-BE49-F238E27FC236}">
                <a16:creationId xmlns:a16="http://schemas.microsoft.com/office/drawing/2014/main" id="{BD6AB1E1-CA0C-6184-26A8-AE6B2FD6E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544667" y="6665742"/>
            <a:ext cx="266700" cy="4572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8A167692-BA19-8E51-13C9-52660E2E483F}"/>
              </a:ext>
            </a:extLst>
          </p:cNvPr>
          <p:cNvSpPr txBox="1"/>
          <p:nvPr/>
        </p:nvSpPr>
        <p:spPr>
          <a:xfrm>
            <a:off x="797755" y="3393050"/>
            <a:ext cx="5598160" cy="98552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과제의 핵심은 산불 확산을 </a:t>
            </a:r>
            <a:endParaRPr lang="en-US" altLang="ko-KR" sz="3200" b="1" dirty="0">
              <a:solidFill>
                <a:srgbClr val="363A52"/>
              </a:solidFill>
              <a:ea typeface="맑은 고딕"/>
              <a:cs typeface="Calibri"/>
            </a:endParaRP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새롭게 예측하는 것이 아니다</a:t>
            </a:r>
            <a:endParaRPr lang="ko-KR" sz="3200" b="1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CB61C7B-E523-3602-B5D3-0586009301CD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기존 시스템과 무엇이 </a:t>
            </a:r>
            <a:r>
              <a:rPr lang="ko-KR" altLang="en-US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다른가</a:t>
            </a: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?</a:t>
            </a:r>
            <a:endParaRPr lang="en-US" altLang="ko-KR" dirty="0">
              <a:cs typeface="Calibri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DCF06B-5A79-C5CA-8B65-FAF1D1C1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5596DE-EE8A-863B-46F4-9344AF259126}"/>
              </a:ext>
            </a:extLst>
          </p:cNvPr>
          <p:cNvGraphicFramePr>
            <a:graphicFrameLocks noGrp="1"/>
          </p:cNvGraphicFramePr>
          <p:nvPr/>
        </p:nvGraphicFramePr>
        <p:xfrm>
          <a:off x="7056120" y="3389376"/>
          <a:ext cx="10425005" cy="385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89">
                  <a:extLst>
                    <a:ext uri="{9D8B030D-6E8A-4147-A177-3AD203B41FA5}">
                      <a16:colId xmlns:a16="http://schemas.microsoft.com/office/drawing/2014/main" val="4037548728"/>
                    </a:ext>
                  </a:extLst>
                </a:gridCol>
                <a:gridCol w="2747113">
                  <a:extLst>
                    <a:ext uri="{9D8B030D-6E8A-4147-A177-3AD203B41FA5}">
                      <a16:colId xmlns:a16="http://schemas.microsoft.com/office/drawing/2014/main" val="2801287839"/>
                    </a:ext>
                  </a:extLst>
                </a:gridCol>
                <a:gridCol w="2266627">
                  <a:extLst>
                    <a:ext uri="{9D8B030D-6E8A-4147-A177-3AD203B41FA5}">
                      <a16:colId xmlns:a16="http://schemas.microsoft.com/office/drawing/2014/main" val="1667052571"/>
                    </a:ext>
                  </a:extLst>
                </a:gridCol>
                <a:gridCol w="2945876">
                  <a:extLst>
                    <a:ext uri="{9D8B030D-6E8A-4147-A177-3AD203B41FA5}">
                      <a16:colId xmlns:a16="http://schemas.microsoft.com/office/drawing/2014/main" val="3386174387"/>
                    </a:ext>
                  </a:extLst>
                </a:gridCol>
              </a:tblGrid>
              <a:tr h="866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비교 항목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기존 국가 시스템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범용 LLM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본 과제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7414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대응 문장 생성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수작업</a:t>
                      </a:r>
                      <a:endParaRPr lang="ko-KR" altLang="en-US" sz="200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자동</a:t>
                      </a:r>
                      <a:endParaRPr lang="ko-KR" sz="200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자동 + 근거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86081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 b="1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역할별 산출</a:t>
                      </a:r>
                      <a:endParaRPr lang="ko-KR" sz="2400" b="1" i="0" u="none" strike="noStrike" noProof="0"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진화·대피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구분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역할별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47256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근거 추적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불가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조</a:t>
                      </a:r>
                      <a:r>
                        <a:rPr lang="ko-KR" sz="2000" b="1" i="0" u="none" strike="noStrike" noProof="0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•</a:t>
                      </a:r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항</a:t>
                      </a:r>
                      <a:r>
                        <a:rPr 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 단위</a:t>
                      </a:r>
                      <a:endParaRPr lang="ko-KR" altLang="en-US" sz="2000" b="1" i="0" u="none" strike="noStrike" noProof="0" dirty="0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0002"/>
                  </a:ext>
                </a:extLst>
              </a:tr>
              <a:tr h="7848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생성물 검증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-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근거 부기 + 규칙 판정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31019"/>
                  </a:ext>
                </a:extLst>
              </a:tr>
            </a:tbl>
          </a:graphicData>
        </a:graphic>
      </p:graphicFrame>
      <p:sp>
        <p:nvSpPr>
          <p:cNvPr id="10" name="TextBox 16">
            <a:extLst>
              <a:ext uri="{FF2B5EF4-FFF2-40B4-BE49-F238E27FC236}">
                <a16:creationId xmlns:a16="http://schemas.microsoft.com/office/drawing/2014/main" id="{3887C551-3CB5-C0A3-2DC3-8D6A54531052}"/>
              </a:ext>
            </a:extLst>
          </p:cNvPr>
          <p:cNvSpPr txBox="1"/>
          <p:nvPr/>
        </p:nvSpPr>
        <p:spPr>
          <a:xfrm>
            <a:off x="7229035" y="7355450"/>
            <a:ext cx="10078720" cy="173228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기존의 '예측 제공' 단계를 넘어,  </a:t>
            </a:r>
            <a:endParaRPr lang="ko-KR" altLang="en-US" sz="3200" b="1" spc="-100" dirty="0">
              <a:solidFill>
                <a:srgbClr val="FAA95A"/>
              </a:solidFill>
              <a:latin typeface="210 OmniGothic 040"/>
              <a:ea typeface="210 OmniGothic 040"/>
              <a:cs typeface="Calibri"/>
            </a:endParaRP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예측을 실제 대응 행동으로 연결하는 것이 </a:t>
            </a: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본 과제의 차별성이다.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76733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6116-51C8-CF16-0BD3-0AC50E2C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666E5E5C-A96C-6051-D670-53A8A9353F51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75D7C3-028D-E63B-E6DA-B856810AE4DB}"/>
              </a:ext>
            </a:extLst>
          </p:cNvPr>
          <p:cNvSpPr txBox="1"/>
          <p:nvPr/>
        </p:nvSpPr>
        <p:spPr>
          <a:xfrm>
            <a:off x="5465648" y="4648011"/>
            <a:ext cx="7324725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활용 데이터 및 활용 방안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37442F-305A-75A3-EA8C-90C7B741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6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5798-C902-402E-4D5F-496EC76E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15BE608-BF89-4CCE-DFC2-C8C6DA901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AC6F65-044D-71AC-565E-3AF47800F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B6D061A-C352-BDF9-1D1F-35F92FFC6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7475BD1-F373-CF3F-7742-4852DD927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F640D07D-92AE-2EDA-4640-65EC19ED58B9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세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종류의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데이터를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en-US" altLang="ko-KR" sz="40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분리해서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사용한다</a:t>
            </a:r>
            <a:endParaRPr lang="en-US" altLang="ko-KR" sz="4000" b="1" spc="-100" dirty="0">
              <a:solidFill>
                <a:srgbClr val="363A52"/>
              </a:solidFill>
              <a:latin typeface="210 OmniGothic 040"/>
              <a:ea typeface="210 OmniGothic 040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14E1157-5E84-36A2-BEF4-D4DC2E8E9E10}"/>
              </a:ext>
            </a:extLst>
          </p:cNvPr>
          <p:cNvSpPr txBox="1"/>
          <p:nvPr/>
        </p:nvSpPr>
        <p:spPr>
          <a:xfrm>
            <a:off x="825500" y="469900"/>
            <a:ext cx="6122489" cy="876300"/>
          </a:xfrm>
          <a:prstGeom prst="rect">
            <a:avLst/>
          </a:prstGeom>
          <a:noFill/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4.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활용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데이터</a:t>
            </a:r>
            <a:endParaRPr lang="en-US" altLang="ko-KR" sz="4750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5DBB50-0518-EDC8-7FEB-BC89156A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787B1A46-8B85-DB66-A44B-63C44E84075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2864" y="3726180"/>
            <a:ext cx="4000500" cy="4486275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0D9545A8-C665-DD8C-2905-3462C5013641}"/>
              </a:ext>
            </a:extLst>
          </p:cNvPr>
          <p:cNvSpPr txBox="1"/>
          <p:nvPr/>
        </p:nvSpPr>
        <p:spPr>
          <a:xfrm>
            <a:off x="7648393" y="4270711"/>
            <a:ext cx="2971800" cy="6355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3600" b="1" spc="-100" dirty="0" err="1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운영</a:t>
            </a:r>
            <a:r>
              <a:rPr lang="en-US" altLang="ko-KR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altLang="ko-KR" sz="3600" b="1" spc="-100" dirty="0" err="1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데이터</a:t>
            </a:r>
            <a:endParaRPr lang="en-US" altLang="ko-KR" sz="3600" b="1" i="0" u="none" strike="noStrike" spc="-100" dirty="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F2866-5A77-BB3A-DA03-CDE74EDB6A68}"/>
              </a:ext>
            </a:extLst>
          </p:cNvPr>
          <p:cNvSpPr txBox="1"/>
          <p:nvPr/>
        </p:nvSpPr>
        <p:spPr>
          <a:xfrm>
            <a:off x="7620684" y="5974565"/>
            <a:ext cx="3733800" cy="15560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기상</a:t>
            </a:r>
            <a:endParaRPr lang="ko-KR"/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DEM</a:t>
            </a:r>
            <a:endParaRPr lang="ko-KR" dirty="0">
              <a:cs typeface="Calibri"/>
            </a:endParaRP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임상도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인구 </a:t>
            </a:r>
            <a:r>
              <a:rPr 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도로</a:t>
            </a:r>
            <a:r>
              <a:rPr 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en-US" sz="21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1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대피소</a:t>
            </a:r>
            <a:endParaRPr lang="en-US" sz="2100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C025D004-8425-4F11-87C1-445FC219EA3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0304" y="3741420"/>
            <a:ext cx="4000500" cy="4486275"/>
          </a:xfrm>
          <a:prstGeom prst="rect">
            <a:avLst/>
          </a:prstGeom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F752FE72-94AB-F619-914A-6D505AAC56B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12584" y="3832859"/>
            <a:ext cx="4000500" cy="4486275"/>
          </a:xfrm>
          <a:prstGeom prst="rect">
            <a:avLst/>
          </a:prstGeom>
        </p:spPr>
      </p:pic>
      <p:sp>
        <p:nvSpPr>
          <p:cNvPr id="18" name="TextBox 25">
            <a:extLst>
              <a:ext uri="{FF2B5EF4-FFF2-40B4-BE49-F238E27FC236}">
                <a16:creationId xmlns:a16="http://schemas.microsoft.com/office/drawing/2014/main" id="{56A0A995-40E0-AED1-3EE0-1BDD2A55A5F9}"/>
              </a:ext>
            </a:extLst>
          </p:cNvPr>
          <p:cNvSpPr txBox="1"/>
          <p:nvPr/>
        </p:nvSpPr>
        <p:spPr>
          <a:xfrm>
            <a:off x="7613757" y="5042930"/>
            <a:ext cx="2971800" cy="513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실시간</a:t>
            </a:r>
            <a:r>
              <a:rPr lang="en-US" altLang="ko-KR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입력용</a:t>
            </a:r>
            <a:endParaRPr lang="en-US" altLang="ko-KR" sz="2400" b="1" i="0" u="none" strike="noStrike" spc="-100" dirty="0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D223367F-683E-8B2D-AAA9-77362A6DF12C}"/>
              </a:ext>
            </a:extLst>
          </p:cNvPr>
          <p:cNvSpPr txBox="1"/>
          <p:nvPr/>
        </p:nvSpPr>
        <p:spPr>
          <a:xfrm>
            <a:off x="12982393" y="4331670"/>
            <a:ext cx="2971800" cy="6355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3600" b="1" spc="-100" dirty="0" err="1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법령</a:t>
            </a:r>
            <a:r>
              <a:rPr lang="en-US" altLang="ko-KR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· </a:t>
            </a:r>
            <a:r>
              <a:rPr lang="ko-KR" altLang="en-US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매뉴얼</a:t>
            </a:r>
            <a:endParaRPr lang="en-US" altLang="ko-KR" sz="3600" b="1" i="0" u="none" strike="noStrike" spc="-100">
              <a:solidFill>
                <a:srgbClr val="FAA95A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E374A6-03AC-CF79-4326-6B4497A075FB}"/>
              </a:ext>
            </a:extLst>
          </p:cNvPr>
          <p:cNvSpPr txBox="1"/>
          <p:nvPr/>
        </p:nvSpPr>
        <p:spPr>
          <a:xfrm>
            <a:off x="12954684" y="6096484"/>
            <a:ext cx="3733800" cy="1190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산림재난방지법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Calibri"/>
              </a:rPr>
              <a:t>재난안전법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매뉴얼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F298FAA7-25E4-BC16-7BDB-8767287D5DB7}"/>
              </a:ext>
            </a:extLst>
          </p:cNvPr>
          <p:cNvSpPr txBox="1"/>
          <p:nvPr/>
        </p:nvSpPr>
        <p:spPr>
          <a:xfrm>
            <a:off x="13041275" y="5042930"/>
            <a:ext cx="2971800" cy="513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근거</a:t>
            </a:r>
            <a:r>
              <a:rPr lang="en-US" altLang="ko-KR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검증용</a:t>
            </a:r>
            <a:endParaRPr lang="en-US" altLang="ko-KR" sz="2400" b="1" i="0" u="none" strike="noStrike" spc="-100" dirty="0" err="1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4331563-680D-2F4F-D3CC-67FA5BC6EA03}"/>
              </a:ext>
            </a:extLst>
          </p:cNvPr>
          <p:cNvSpPr txBox="1"/>
          <p:nvPr/>
        </p:nvSpPr>
        <p:spPr>
          <a:xfrm>
            <a:off x="2405833" y="4331670"/>
            <a:ext cx="2971800" cy="6355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3600" b="1" spc="-100" dirty="0">
                <a:solidFill>
                  <a:srgbClr val="FAA95A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AI Hub</a:t>
            </a:r>
            <a:endParaRPr lang="ko-KR" altLang="en-US" dirty="0">
              <a:latin typeface="210 OmniGothic 040" panose="020B0600000101010101" charset="-127"/>
              <a:ea typeface="210 OmniGothic 040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B8DBC5-4635-86CB-5E94-925F73FBEA5A}"/>
              </a:ext>
            </a:extLst>
          </p:cNvPr>
          <p:cNvSpPr txBox="1"/>
          <p:nvPr/>
        </p:nvSpPr>
        <p:spPr>
          <a:xfrm>
            <a:off x="2378124" y="5992941"/>
            <a:ext cx="3733800" cy="12079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실제 산불 101건</a:t>
            </a: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 </a:t>
            </a:r>
            <a:r>
              <a:rPr 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추론</a:t>
            </a:r>
            <a:r>
              <a:rPr lang="en-US" sz="205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en-US" sz="21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1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데이터</a:t>
            </a:r>
            <a:endParaRPr lang="en-US" sz="2100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marL="342900" indent="-342900">
              <a:lnSpc>
                <a:spcPct val="116199"/>
              </a:lnSpc>
              <a:buFont typeface="Wingdings" panose="05000000000000000000" pitchFamily="2" charset="2"/>
              <a:buChar char="ü"/>
            </a:pPr>
            <a:r>
              <a:rPr lang="ko-KR" altLang="en-US" sz="21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최종 소실 경계 활용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50A709A8-465C-0475-CC7C-A6D9605C0F16}"/>
              </a:ext>
            </a:extLst>
          </p:cNvPr>
          <p:cNvSpPr txBox="1"/>
          <p:nvPr/>
        </p:nvSpPr>
        <p:spPr>
          <a:xfrm>
            <a:off x="2336074" y="5043840"/>
            <a:ext cx="2971800" cy="513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2400" b="1" spc="-100" dirty="0" err="1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학습</a:t>
            </a:r>
            <a:r>
              <a:rPr lang="en-US" altLang="ko-KR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en-US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·</a:t>
            </a:r>
            <a:r>
              <a:rPr lang="en-US" altLang="ko-KR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 </a:t>
            </a:r>
            <a:r>
              <a:rPr lang="ko-KR" altLang="en-US" sz="2400" b="1" spc="-100" dirty="0">
                <a:solidFill>
                  <a:srgbClr val="363A52"/>
                </a:solidFill>
                <a:latin typeface="210 OmniGothic 040" panose="020B0600000101010101" charset="-127"/>
                <a:ea typeface="210 OmniGothic 040" panose="020B0600000101010101" charset="-127"/>
                <a:cs typeface="Calibri"/>
              </a:rPr>
              <a:t>검증용</a:t>
            </a:r>
            <a:endParaRPr lang="ko-KR" altLang="en-US" sz="2400" b="1" i="0" u="none" strike="noStrike" spc="-100" dirty="0">
              <a:solidFill>
                <a:srgbClr val="363A52"/>
              </a:solidFill>
              <a:latin typeface="210 OmniGothic 040" panose="020B0600000101010101" charset="-127"/>
              <a:ea typeface="210 OmniGothic 040" panose="020B0600000101010101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3873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7E32-B83D-9A2E-1299-120CA12D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23E8D87-8777-A1F4-F045-1D40018BF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A8CE697-8731-B987-2944-6745251DF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F92386C-42C5-042B-75B7-09D85444E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5FED8D4-0AEF-3184-FF75-575712C1B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E4323BAB-A6CB-23AB-A2E2-EC1BEC0154E7}"/>
              </a:ext>
            </a:extLst>
          </p:cNvPr>
          <p:cNvSpPr txBox="1"/>
          <p:nvPr/>
        </p:nvSpPr>
        <p:spPr>
          <a:xfrm>
            <a:off x="825500" y="469900"/>
            <a:ext cx="62291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r>
              <a:rPr lang="en-US" sz="480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4. </a:t>
            </a:r>
            <a:r>
              <a:rPr lang="en-US" sz="480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활용</a:t>
            </a:r>
            <a:r>
              <a:rPr lang="en-US" sz="480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sz="480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데이터</a:t>
            </a:r>
            <a:endParaRPr lang="en-US" sz="4800" spc="-100" dirty="0" err="1">
              <a:solidFill>
                <a:srgbClr val="000000"/>
              </a:solidFill>
              <a:latin typeface="210 OmniGothic 050"/>
              <a:ea typeface="210 OmniGothic 050"/>
              <a:cs typeface="Calibri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9596D1-58B3-B2B3-BE91-016C739F76E9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데이터를 어떻게 활용하는가?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B97697-46D1-0F8B-9140-16AF0996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229DFA7-8B63-6185-6B10-0F16D0CEA62E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154680"/>
          <a:ext cx="14168232" cy="385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1513">
                  <a:extLst>
                    <a:ext uri="{9D8B030D-6E8A-4147-A177-3AD203B41FA5}">
                      <a16:colId xmlns:a16="http://schemas.microsoft.com/office/drawing/2014/main" val="4037548728"/>
                    </a:ext>
                  </a:extLst>
                </a:gridCol>
                <a:gridCol w="4770769">
                  <a:extLst>
                    <a:ext uri="{9D8B030D-6E8A-4147-A177-3AD203B41FA5}">
                      <a16:colId xmlns:a16="http://schemas.microsoft.com/office/drawing/2014/main" val="2801287839"/>
                    </a:ext>
                  </a:extLst>
                </a:gridCol>
                <a:gridCol w="5115950">
                  <a:extLst>
                    <a:ext uri="{9D8B030D-6E8A-4147-A177-3AD203B41FA5}">
                      <a16:colId xmlns:a16="http://schemas.microsoft.com/office/drawing/2014/main" val="3386174387"/>
                    </a:ext>
                  </a:extLst>
                </a:gridCol>
              </a:tblGrid>
              <a:tr h="86659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데이터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데이터 특성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본 과제에서의 활용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7414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AI </a:t>
                      </a:r>
                      <a:r>
                        <a:rPr lang="ko-KR" altLang="en-US" sz="2400" b="1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Hub</a:t>
                      </a: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 소실 경계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시계열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물리 모델 </a:t>
                      </a:r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보정</a:t>
                      </a:r>
                      <a:r>
                        <a:rPr lang="ko-KR" sz="2000" b="1" i="0" u="none" strike="noStrike" noProof="0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•검증</a:t>
                      </a:r>
                      <a:endParaRPr lang="ko-KR" altLang="en-US" sz="2000" b="1" i="0" u="none" strike="noStrike" noProof="0" dirty="0" err="1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86081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2400" b="1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AI Hub </a:t>
                      </a:r>
                      <a:r>
                        <a:rPr lang="en-US" altLang="ko-KR" sz="2400" b="1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위험도</a:t>
                      </a:r>
                      <a:endParaRPr lang="ko-KR" sz="2400" b="1" i="0" u="none" strike="noStrike" noProof="0" dirty="0" err="1">
                        <a:solidFill>
                          <a:srgbClr val="363A5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위험도 라벨 신뢰도 낮음</a:t>
                      </a:r>
                      <a:endParaRPr lang="ko-KR" altLang="en-US" sz="2000" b="0" i="0" u="none" strike="noStrike" noProof="0" dirty="0">
                        <a:solidFill>
                          <a:srgbClr val="363A5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기준 체계만 계승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47256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운영 데이터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실시간 발화 환경 구성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예측 입력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0002"/>
                  </a:ext>
                </a:extLst>
              </a:tr>
              <a:tr h="7848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법령</a:t>
                      </a:r>
                      <a:r>
                        <a:rPr lang="ko-KR" sz="2400" b="1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2400" b="1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매뉴얼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데이터셋 내 근거 부재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RAG </a:t>
                      </a:r>
                      <a:r>
                        <a:rPr lang="en-US" altLang="ko-KR" sz="2000" b="1" i="0" u="none" strike="noStrike" noProof="0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 + </a:t>
                      </a:r>
                      <a:r>
                        <a:rPr lang="en-US" altLang="ko-KR" sz="2000" b="1" i="0" u="none" strike="noStrike" noProof="0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ko-KR" altLang="en-US" sz="2000" b="1" i="0" u="none" strike="noStrike" noProof="0" dirty="0" err="1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31019"/>
                  </a:ext>
                </a:extLst>
              </a:tr>
            </a:tbl>
          </a:graphicData>
        </a:graphic>
      </p:graphicFrame>
      <p:sp>
        <p:nvSpPr>
          <p:cNvPr id="10" name="TextBox 16">
            <a:extLst>
              <a:ext uri="{FF2B5EF4-FFF2-40B4-BE49-F238E27FC236}">
                <a16:creationId xmlns:a16="http://schemas.microsoft.com/office/drawing/2014/main" id="{5663023C-145C-7185-F4E6-4155021C9F2F}"/>
              </a:ext>
            </a:extLst>
          </p:cNvPr>
          <p:cNvSpPr txBox="1"/>
          <p:nvPr/>
        </p:nvSpPr>
        <p:spPr>
          <a:xfrm>
            <a:off x="3159955" y="7065890"/>
            <a:ext cx="11998960" cy="18542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AI </a:t>
            </a:r>
            <a:r>
              <a:rPr lang="ko-KR" altLang="en-US" sz="3600" b="1" spc="-100" dirty="0" err="1">
                <a:solidFill>
                  <a:srgbClr val="363A52"/>
                </a:solidFill>
                <a:latin typeface="210 OmniGothic 040"/>
                <a:ea typeface="210 OmniGothic 040"/>
              </a:rPr>
              <a:t>Hub를</a:t>
            </a:r>
            <a:r>
              <a:rPr lang="ko-KR" altLang="en-US" sz="36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 그대로 학습하지 않고</a:t>
            </a:r>
            <a:endParaRPr lang="ko-KR"/>
          </a:p>
          <a:p>
            <a:pPr algn="ctr">
              <a:lnSpc>
                <a:spcPct val="150000"/>
              </a:lnSpc>
            </a:pPr>
            <a:r>
              <a:rPr lang="ko-KR" sz="36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「보정 · 계승 · 예측 입력 · 근거 검증」</a:t>
            </a:r>
            <a:r>
              <a:rPr lang="ko-KR" altLang="en-US" sz="36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 </a:t>
            </a:r>
            <a:r>
              <a:rPr lang="ko-KR" sz="36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으로</a:t>
            </a:r>
            <a:r>
              <a:rPr lang="ko-KR" sz="36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 목적에 맞게 활용</a:t>
            </a:r>
          </a:p>
        </p:txBody>
      </p:sp>
    </p:spTree>
    <p:extLst>
      <p:ext uri="{BB962C8B-B14F-4D97-AF65-F5344CB8AC3E}">
        <p14:creationId xmlns:p14="http://schemas.microsoft.com/office/powerpoint/2010/main" val="353758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2800-6E3F-59DF-5184-1C88BC43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4C6A8A47-9FE8-2E89-CBE5-D4C249BBA1D9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C5FD047-B9F5-4F34-9B47-A188DF462504}"/>
              </a:ext>
            </a:extLst>
          </p:cNvPr>
          <p:cNvSpPr txBox="1"/>
          <p:nvPr/>
        </p:nvSpPr>
        <p:spPr>
          <a:xfrm>
            <a:off x="6153150" y="4699000"/>
            <a:ext cx="598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방법 및 체계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8BD47-9F3F-69E1-00BE-832442C5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41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66C7-E54E-735C-6137-8658B1DE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21647A-97EF-9D2F-19C1-D458FB1BC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B0203B8-CCF2-8C93-ACC9-8C0E422B6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9436100"/>
            <a:ext cx="17170400" cy="508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4A6FC2F3-85BF-C6B8-F468-BBAD7AC6BDFE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전체 시스템 아키텍처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0B7ED2-B05C-36C4-6659-39801B65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22" name="Picture 3">
            <a:extLst>
              <a:ext uri="{FF2B5EF4-FFF2-40B4-BE49-F238E27FC236}">
                <a16:creationId xmlns:a16="http://schemas.microsoft.com/office/drawing/2014/main" id="{3B6CFF76-50E3-AC35-4193-FAB4EF6FD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67783EE-7494-CEF9-58C8-7B275B317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79" y="1601355"/>
            <a:ext cx="16313441" cy="783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29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A2F6-FEA5-79E4-CB9C-FEE92BA2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D465FED-A175-0A56-B874-1252F2EA9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6381CCB-F2C4-A6F6-4952-0FDD2EE28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0D7E224-53DC-57B7-DA68-E6D692E3C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3E3F8316-BD4B-2788-AA67-3D94E05825D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0" y="2584450"/>
            <a:ext cx="4876800" cy="57277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DED31D5B-28CB-7E4D-2F0A-4C5F0C92DA59}"/>
              </a:ext>
            </a:extLst>
          </p:cNvPr>
          <p:cNvSpPr txBox="1"/>
          <p:nvPr/>
        </p:nvSpPr>
        <p:spPr>
          <a:xfrm>
            <a:off x="3947092" y="3404252"/>
            <a:ext cx="2997200" cy="42564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산불 예측 모델</a:t>
            </a: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B0A7A4C-4E9F-301B-E704-0959C3BAF358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핵심 모델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31F5B-13B3-DA65-3D31-511C13AA6A63}"/>
              </a:ext>
            </a:extLst>
          </p:cNvPr>
          <p:cNvSpPr txBox="1"/>
          <p:nvPr/>
        </p:nvSpPr>
        <p:spPr>
          <a:xfrm>
            <a:off x="3603398" y="5256796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도달시각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확산속도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화선강도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E731D6-FD68-5582-B6AE-2AF50ABC8230}"/>
              </a:ext>
            </a:extLst>
          </p:cNvPr>
          <p:cNvSpPr txBox="1"/>
          <p:nvPr/>
        </p:nvSpPr>
        <p:spPr>
          <a:xfrm>
            <a:off x="4293224" y="4690224"/>
            <a:ext cx="2395651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ELMFIRE 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확산 예측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05186D-EE87-0193-E7DD-0AEC63B9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B4476-7E10-0B40-7648-2E22CE53BD5A}"/>
              </a:ext>
            </a:extLst>
          </p:cNvPr>
          <p:cNvSpPr txBox="1"/>
          <p:nvPr/>
        </p:nvSpPr>
        <p:spPr>
          <a:xfrm>
            <a:off x="4407212" y="6423331"/>
            <a:ext cx="2082176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조건위험도 판정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E4595-CB2E-2C5E-557E-8F1523AFF25F}"/>
              </a:ext>
            </a:extLst>
          </p:cNvPr>
          <p:cNvSpPr txBox="1"/>
          <p:nvPr/>
        </p:nvSpPr>
        <p:spPr>
          <a:xfrm>
            <a:off x="3565298" y="701413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기상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지형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연료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인프라</a:t>
            </a: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75194738-9F26-1E6D-4457-CD81134921E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3200" y="2584450"/>
            <a:ext cx="4876800" cy="5727700"/>
          </a:xfrm>
          <a:prstGeom prst="rect">
            <a:avLst/>
          </a:prstGeom>
        </p:spPr>
      </p:pic>
      <p:sp>
        <p:nvSpPr>
          <p:cNvPr id="13" name="TextBox 25">
            <a:extLst>
              <a:ext uri="{FF2B5EF4-FFF2-40B4-BE49-F238E27FC236}">
                <a16:creationId xmlns:a16="http://schemas.microsoft.com/office/drawing/2014/main" id="{4444D691-7E74-6F91-25F9-E7AF6DF89781}"/>
              </a:ext>
            </a:extLst>
          </p:cNvPr>
          <p:cNvSpPr txBox="1"/>
          <p:nvPr/>
        </p:nvSpPr>
        <p:spPr>
          <a:xfrm>
            <a:off x="10711146" y="3396187"/>
            <a:ext cx="4180908" cy="4153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역할별 임무 생성 모델</a:t>
            </a:r>
          </a:p>
          <a:p>
            <a:pPr lvl="0" algn="ctr">
              <a:lnSpc>
                <a:spcPct val="116199"/>
              </a:lnSpc>
            </a:pP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723FD-162E-D573-F86F-35D287D769A4}"/>
              </a:ext>
            </a:extLst>
          </p:cNvPr>
          <p:cNvSpPr txBox="1"/>
          <p:nvPr/>
        </p:nvSpPr>
        <p:spPr>
          <a:xfrm>
            <a:off x="10918598" y="5256796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활성 기관과 지휘권 인계 판단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A30AF-B99F-4440-925F-5BA8F90090CC}"/>
              </a:ext>
            </a:extLst>
          </p:cNvPr>
          <p:cNvSpPr txBox="1"/>
          <p:nvPr/>
        </p:nvSpPr>
        <p:spPr>
          <a:xfrm>
            <a:off x="11282561" y="4690224"/>
            <a:ext cx="303807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대응 단계 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행정경계 규칙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370487-31B6-2964-262F-A52225745ED9}"/>
              </a:ext>
            </a:extLst>
          </p:cNvPr>
          <p:cNvSpPr txBox="1"/>
          <p:nvPr/>
        </p:nvSpPr>
        <p:spPr>
          <a:xfrm>
            <a:off x="10999873" y="6423331"/>
            <a:ext cx="359378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b="1" spc="-10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KURE-v1 + BM25 + EXAONE</a:t>
            </a:r>
            <a:endParaRPr lang="en-US" altLang="ko-KR" sz="2099" b="1" spc="-100" dirty="0">
              <a:solidFill>
                <a:srgbClr val="FAA95A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8AA395-EA31-3E40-0EED-C5A6699CDD74}"/>
              </a:ext>
            </a:extLst>
          </p:cNvPr>
          <p:cNvSpPr txBox="1"/>
          <p:nvPr/>
        </p:nvSpPr>
        <p:spPr>
          <a:xfrm>
            <a:off x="10711146" y="7014130"/>
            <a:ext cx="418090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소방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구조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행정 임무와 근거 인용</a:t>
            </a:r>
          </a:p>
        </p:txBody>
      </p:sp>
    </p:spTree>
    <p:extLst>
      <p:ext uri="{BB962C8B-B14F-4D97-AF65-F5344CB8AC3E}">
        <p14:creationId xmlns:p14="http://schemas.microsoft.com/office/powerpoint/2010/main" val="382493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E7FB-2C02-B367-0096-C28A2F31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1F3AAB3-8EB9-76E3-56CE-DDDDDE5F5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D438FEC-F7E4-A2BE-C695-E8A74FB81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9914492-8D08-C32F-2A47-D2E9DB5BC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77B04208-0707-E1E3-E301-B7AE0E8D9CFA}"/>
              </a:ext>
            </a:extLst>
          </p:cNvPr>
          <p:cNvSpPr txBox="1"/>
          <p:nvPr/>
        </p:nvSpPr>
        <p:spPr>
          <a:xfrm>
            <a:off x="825500" y="469900"/>
            <a:ext cx="83185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의사결정 구성도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D66CF-9AA3-FD38-3294-84EC8210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08" name="그림 307">
            <a:extLst>
              <a:ext uri="{FF2B5EF4-FFF2-40B4-BE49-F238E27FC236}">
                <a16:creationId xmlns:a16="http://schemas.microsoft.com/office/drawing/2014/main" id="{108E3AA2-11DF-B233-F39E-944B011AF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62300"/>
            <a:ext cx="17269930" cy="4724400"/>
          </a:xfrm>
          <a:prstGeom prst="rect">
            <a:avLst/>
          </a:prstGeom>
        </p:spPr>
      </p:pic>
      <p:sp>
        <p:nvSpPr>
          <p:cNvPr id="310" name="TextBox 309">
            <a:extLst>
              <a:ext uri="{FF2B5EF4-FFF2-40B4-BE49-F238E27FC236}">
                <a16:creationId xmlns:a16="http://schemas.microsoft.com/office/drawing/2014/main" id="{09F294BB-678B-AFD7-C39D-E8B7D4C761B5}"/>
              </a:ext>
            </a:extLst>
          </p:cNvPr>
          <p:cNvSpPr txBox="1"/>
          <p:nvPr/>
        </p:nvSpPr>
        <p:spPr>
          <a:xfrm>
            <a:off x="12407900" y="2378035"/>
            <a:ext cx="5321300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예시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: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강릉 옥계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,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발화 후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52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분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회색 값은 예시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67292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1005-CBBF-2B36-A52B-3C24992D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5">
            <a:extLst>
              <a:ext uri="{FF2B5EF4-FFF2-40B4-BE49-F238E27FC236}">
                <a16:creationId xmlns:a16="http://schemas.microsoft.com/office/drawing/2014/main" id="{5217C4D7-11C9-7745-8A58-FF2F5C2DDB80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8300" y="1967470"/>
            <a:ext cx="4876800" cy="5290065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9ADB5C2-5F0F-C6F0-2D05-A09B8E362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9A3ACB-4827-526A-BD33-883A97E32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78CD6BB-E071-DF59-3A96-A961521FF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617B740E-37A0-882B-E104-5B37D9E31113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0" y="1987035"/>
            <a:ext cx="4876800" cy="5290065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0FE18837-6122-C358-F118-C2B380757EFF}"/>
              </a:ext>
            </a:extLst>
          </p:cNvPr>
          <p:cNvSpPr txBox="1"/>
          <p:nvPr/>
        </p:nvSpPr>
        <p:spPr>
          <a:xfrm>
            <a:off x="4544899" y="2397912"/>
            <a:ext cx="1806802" cy="4153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FARSITE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8323007-FEBC-6B69-383D-999DC7074F6F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2.1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산불 예측 모델 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- ELMFIRE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B8F523-999B-3DF0-9DD0-461D08EA1380}"/>
              </a:ext>
            </a:extLst>
          </p:cNvPr>
          <p:cNvSpPr txBox="1"/>
          <p:nvPr/>
        </p:nvSpPr>
        <p:spPr>
          <a:xfrm>
            <a:off x="4582999" y="3555485"/>
            <a:ext cx="1806802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Windows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중심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856CB4-A3E2-9352-5EB2-701657AC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0F706-6453-D0BC-641D-5B6FAA9BFFD5}"/>
              </a:ext>
            </a:extLst>
          </p:cNvPr>
          <p:cNvSpPr txBox="1"/>
          <p:nvPr/>
        </p:nvSpPr>
        <p:spPr>
          <a:xfrm>
            <a:off x="3603398" y="441595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연료 파라미터 변경 시 소스 수정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94D44-4DA9-DE64-D11D-681A56C7F999}"/>
              </a:ext>
            </a:extLst>
          </p:cNvPr>
          <p:cNvSpPr txBox="1"/>
          <p:nvPr/>
        </p:nvSpPr>
        <p:spPr>
          <a:xfrm>
            <a:off x="3565298" y="5276415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경계점 좌표 별도 관리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7BB31-50AE-4B1C-8C98-3FBCE004EA3C}"/>
              </a:ext>
            </a:extLst>
          </p:cNvPr>
          <p:cNvSpPr txBox="1"/>
          <p:nvPr/>
        </p:nvSpPr>
        <p:spPr>
          <a:xfrm>
            <a:off x="3565298" y="619792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IoU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보정 루프 구현 부담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B95140E1-8A87-FF5E-5F2E-A6BB953F5D82}"/>
              </a:ext>
            </a:extLst>
          </p:cNvPr>
          <p:cNvSpPr txBox="1"/>
          <p:nvPr/>
        </p:nvSpPr>
        <p:spPr>
          <a:xfrm>
            <a:off x="12063299" y="2397912"/>
            <a:ext cx="1806802" cy="4153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ELMFIRE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0BA8F-3C95-405E-D00F-2F9664187168}"/>
              </a:ext>
            </a:extLst>
          </p:cNvPr>
          <p:cNvSpPr txBox="1"/>
          <p:nvPr/>
        </p:nvSpPr>
        <p:spPr>
          <a:xfrm>
            <a:off x="11435499" y="3555485"/>
            <a:ext cx="3138601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Linux · Docker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공식 지원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76A2FB-B4F0-8B1A-D3B6-26377ADBE8FC}"/>
              </a:ext>
            </a:extLst>
          </p:cNvPr>
          <p:cNvSpPr txBox="1"/>
          <p:nvPr/>
        </p:nvSpPr>
        <p:spPr>
          <a:xfrm>
            <a:off x="11121798" y="4415950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fuel_models.csv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외부 제어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CCD8AC-2D73-6503-E2CC-65252D9F58FA}"/>
              </a:ext>
            </a:extLst>
          </p:cNvPr>
          <p:cNvSpPr txBox="1"/>
          <p:nvPr/>
        </p:nvSpPr>
        <p:spPr>
          <a:xfrm>
            <a:off x="11083698" y="5276415"/>
            <a:ext cx="3766004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격자 기반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GeoTIFF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연동</a:t>
            </a:r>
            <a:endParaRPr lang="ko-KR" altLang="en-US" sz="2099" spc="-100" dirty="0" err="1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904605D-F9D1-8CE8-ED83-D8FA7ED27208}"/>
              </a:ext>
            </a:extLst>
          </p:cNvPr>
          <p:cNvGrpSpPr/>
          <p:nvPr/>
        </p:nvGrpSpPr>
        <p:grpSpPr>
          <a:xfrm>
            <a:off x="12001272" y="5946614"/>
            <a:ext cx="2007053" cy="1006121"/>
            <a:chOff x="5791200" y="7274276"/>
            <a:chExt cx="6629400" cy="1006121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6E1B0C3-7929-67DC-C83C-B09146997FEE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CD518C5-1906-4979-1641-5F4AE62FE547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i="0" u="none" strike="noStrike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채택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AC5B6FF-8001-EBB7-9183-0D4E07AD1845}"/>
              </a:ext>
            </a:extLst>
          </p:cNvPr>
          <p:cNvSpPr txBox="1"/>
          <p:nvPr/>
        </p:nvSpPr>
        <p:spPr>
          <a:xfrm>
            <a:off x="8854224" y="4415950"/>
            <a:ext cx="7446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VS</a:t>
            </a:r>
            <a:endParaRPr lang="ko-KR" altLang="en-US" sz="3000" b="1" spc="-100" dirty="0">
              <a:solidFill>
                <a:srgbClr val="363A52"/>
              </a:solidFill>
              <a:latin typeface="210 OmniGothic 030"/>
              <a:ea typeface="210 OmniGothic 030"/>
              <a:cs typeface="Pretendard Bold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BD50C51-E3B9-E1BC-F421-0CF3DDFAF87B}"/>
              </a:ext>
            </a:extLst>
          </p:cNvPr>
          <p:cNvSpPr/>
          <p:nvPr/>
        </p:nvSpPr>
        <p:spPr>
          <a:xfrm>
            <a:off x="3047999" y="7665560"/>
            <a:ext cx="12395201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17CB27-9627-40B3-373D-927F1AFF98D3}"/>
              </a:ext>
            </a:extLst>
          </p:cNvPr>
          <p:cNvSpPr txBox="1"/>
          <p:nvPr/>
        </p:nvSpPr>
        <p:spPr>
          <a:xfrm>
            <a:off x="3073051" y="7885180"/>
            <a:ext cx="1237014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선택 기준 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| 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서버 자동화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파라미터 보정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래스터 파이프라인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7D38A6-17CA-7750-85F4-75F2C6AF02E9}"/>
              </a:ext>
            </a:extLst>
          </p:cNvPr>
          <p:cNvSpPr/>
          <p:nvPr/>
        </p:nvSpPr>
        <p:spPr>
          <a:xfrm>
            <a:off x="10589216" y="2019814"/>
            <a:ext cx="4815883" cy="5175845"/>
          </a:xfrm>
          <a:prstGeom prst="rect">
            <a:avLst/>
          </a:prstGeom>
          <a:noFill/>
          <a:ln w="76200">
            <a:solidFill>
              <a:srgbClr val="FAA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58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244F-AEF1-5CE3-E8B8-1841B35F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5">
            <a:extLst>
              <a:ext uri="{FF2B5EF4-FFF2-40B4-BE49-F238E27FC236}">
                <a16:creationId xmlns:a16="http://schemas.microsoft.com/office/drawing/2014/main" id="{4E65CEDF-995B-6AA4-590C-962686DBCE65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9766" y="2986051"/>
            <a:ext cx="3038928" cy="25019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A58A233-28A5-384F-EE9F-F89C5B20D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45F8C67-5EFE-8B14-1E93-6AAFEB6EE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7A46943-27C3-036E-EDC2-8B003A14B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B10AC3C9-EF65-A76C-2D1F-6EE2137559F2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2.1 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ELMFIRE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처리 흐름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BC520-6E31-83FE-2504-C8E1FE45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E94078F-5347-113D-9F82-7ED32BB7E4D5}"/>
              </a:ext>
            </a:extLst>
          </p:cNvPr>
          <p:cNvSpPr/>
          <p:nvPr/>
        </p:nvSpPr>
        <p:spPr>
          <a:xfrm>
            <a:off x="2209801" y="6222328"/>
            <a:ext cx="14249400" cy="1892972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7FD0CA-9A13-4BCC-0791-1769E2583839}"/>
              </a:ext>
            </a:extLst>
          </p:cNvPr>
          <p:cNvSpPr txBox="1"/>
          <p:nvPr/>
        </p:nvSpPr>
        <p:spPr>
          <a:xfrm>
            <a:off x="2598361" y="6487032"/>
            <a:ext cx="342143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연료 파라미터 보정 루프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7EF5B5CC-FCAE-2EEF-6C0E-8264F206393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060" y="2969722"/>
            <a:ext cx="3038928" cy="2501900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6F2276C9-24C9-7E65-3DC1-1743985DD503}"/>
              </a:ext>
            </a:extLst>
          </p:cNvPr>
          <p:cNvSpPr txBox="1"/>
          <p:nvPr/>
        </p:nvSpPr>
        <p:spPr>
          <a:xfrm>
            <a:off x="1496315" y="3774358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 격자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9121E6-33E7-272F-8752-752CAE3B38CF}"/>
              </a:ext>
            </a:extLst>
          </p:cNvPr>
          <p:cNvSpPr txBox="1"/>
          <p:nvPr/>
        </p:nvSpPr>
        <p:spPr>
          <a:xfrm>
            <a:off x="1089660" y="4275101"/>
            <a:ext cx="2179729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DEM·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임상도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인프라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B380D6B-37E1-D1BB-45B2-9FE49C6EDC6F}"/>
              </a:ext>
            </a:extLst>
          </p:cNvPr>
          <p:cNvSpPr>
            <a:spLocks noGrp="1"/>
          </p:cNvSpPr>
          <p:nvPr/>
        </p:nvSpPr>
        <p:spPr>
          <a:xfrm>
            <a:off x="3644900" y="3886341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pic>
        <p:nvPicPr>
          <p:cNvPr id="55" name="Picture 15">
            <a:extLst>
              <a:ext uri="{FF2B5EF4-FFF2-40B4-BE49-F238E27FC236}">
                <a16:creationId xmlns:a16="http://schemas.microsoft.com/office/drawing/2014/main" id="{FBDE4076-F65B-4778-552F-B5E49EEAE66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4913" y="2986051"/>
            <a:ext cx="3038928" cy="2501900"/>
          </a:xfrm>
          <a:prstGeom prst="rect">
            <a:avLst/>
          </a:prstGeom>
        </p:spPr>
      </p:pic>
      <p:pic>
        <p:nvPicPr>
          <p:cNvPr id="57" name="Picture 15">
            <a:extLst>
              <a:ext uri="{FF2B5EF4-FFF2-40B4-BE49-F238E27FC236}">
                <a16:creationId xmlns:a16="http://schemas.microsoft.com/office/drawing/2014/main" id="{1E2EA1FA-0F7F-5E03-3571-9B84961C31C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619" y="2961368"/>
            <a:ext cx="3038928" cy="2501900"/>
          </a:xfrm>
          <a:prstGeom prst="rect">
            <a:avLst/>
          </a:prstGeom>
        </p:spPr>
      </p:pic>
      <p:pic>
        <p:nvPicPr>
          <p:cNvPr id="59" name="Picture 15">
            <a:extLst>
              <a:ext uri="{FF2B5EF4-FFF2-40B4-BE49-F238E27FC236}">
                <a16:creationId xmlns:a16="http://schemas.microsoft.com/office/drawing/2014/main" id="{C84B7FA1-F02C-EBA5-5A29-4AAAC1A6BAF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39472" y="2933700"/>
            <a:ext cx="3038928" cy="250190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894B80-FF05-C3AD-047E-537C16E57122}"/>
              </a:ext>
            </a:extLst>
          </p:cNvPr>
          <p:cNvSpPr>
            <a:spLocks noGrp="1"/>
          </p:cNvSpPr>
          <p:nvPr/>
        </p:nvSpPr>
        <p:spPr>
          <a:xfrm>
            <a:off x="7136053" y="388634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A24B16B-D6CA-83C5-2230-3C91D28C5717}"/>
              </a:ext>
            </a:extLst>
          </p:cNvPr>
          <p:cNvSpPr>
            <a:spLocks noGrp="1"/>
          </p:cNvSpPr>
          <p:nvPr/>
        </p:nvSpPr>
        <p:spPr>
          <a:xfrm>
            <a:off x="10627206" y="3886339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E3BF1A6-2D2F-02FA-2AB2-D91AC1D0C224}"/>
              </a:ext>
            </a:extLst>
          </p:cNvPr>
          <p:cNvSpPr>
            <a:spLocks noGrp="1"/>
          </p:cNvSpPr>
          <p:nvPr/>
        </p:nvSpPr>
        <p:spPr>
          <a:xfrm>
            <a:off x="14125760" y="3886339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1E5C23-F44B-2AB4-25F0-9398E22D9975}"/>
              </a:ext>
            </a:extLst>
          </p:cNvPr>
          <p:cNvSpPr txBox="1"/>
          <p:nvPr/>
        </p:nvSpPr>
        <p:spPr>
          <a:xfrm>
            <a:off x="1878353" y="3167220"/>
            <a:ext cx="6168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endParaRPr lang="ko-KR" altLang="en-US" dirty="0"/>
          </a:p>
        </p:txBody>
      </p:sp>
      <p:sp>
        <p:nvSpPr>
          <p:cNvPr id="71" name="TextBox 25">
            <a:extLst>
              <a:ext uri="{FF2B5EF4-FFF2-40B4-BE49-F238E27FC236}">
                <a16:creationId xmlns:a16="http://schemas.microsoft.com/office/drawing/2014/main" id="{EA895F64-C34C-14D7-4EC2-51A574963E8A}"/>
              </a:ext>
            </a:extLst>
          </p:cNvPr>
          <p:cNvSpPr txBox="1"/>
          <p:nvPr/>
        </p:nvSpPr>
        <p:spPr>
          <a:xfrm>
            <a:off x="4928167" y="3719961"/>
            <a:ext cx="1502054" cy="3721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Rothermel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2A7A11-8B33-649A-9D8B-B37C5A339CB0}"/>
              </a:ext>
            </a:extLst>
          </p:cNvPr>
          <p:cNvSpPr txBox="1"/>
          <p:nvPr/>
        </p:nvSpPr>
        <p:spPr>
          <a:xfrm>
            <a:off x="4361139" y="4233047"/>
            <a:ext cx="262647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격자별 최대 확산속도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CCBF10-3C7B-BF15-9503-B99631E09490}"/>
              </a:ext>
            </a:extLst>
          </p:cNvPr>
          <p:cNvSpPr txBox="1"/>
          <p:nvPr/>
        </p:nvSpPr>
        <p:spPr>
          <a:xfrm>
            <a:off x="5382384" y="3169034"/>
            <a:ext cx="7390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  <a:endParaRPr lang="ko-KR" altLang="en-US" dirty="0"/>
          </a:p>
        </p:txBody>
      </p:sp>
      <p:sp>
        <p:nvSpPr>
          <p:cNvPr id="77" name="TextBox 25">
            <a:extLst>
              <a:ext uri="{FF2B5EF4-FFF2-40B4-BE49-F238E27FC236}">
                <a16:creationId xmlns:a16="http://schemas.microsoft.com/office/drawing/2014/main" id="{7DBD7708-7A7E-0411-00DE-2AB598A1CBBE}"/>
              </a:ext>
            </a:extLst>
          </p:cNvPr>
          <p:cNvSpPr txBox="1"/>
          <p:nvPr/>
        </p:nvSpPr>
        <p:spPr>
          <a:xfrm>
            <a:off x="8455277" y="3774358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Anderson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06BC80-B642-40D0-33A7-C1B79E0CE9E5}"/>
              </a:ext>
            </a:extLst>
          </p:cNvPr>
          <p:cNvSpPr txBox="1"/>
          <p:nvPr/>
        </p:nvSpPr>
        <p:spPr>
          <a:xfrm>
            <a:off x="7855856" y="4275101"/>
            <a:ext cx="258821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풍속 기반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차원 방향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8722FA-93AA-C5E1-5D63-40CE2A9778C5}"/>
              </a:ext>
            </a:extLst>
          </p:cNvPr>
          <p:cNvSpPr txBox="1"/>
          <p:nvPr/>
        </p:nvSpPr>
        <p:spPr>
          <a:xfrm>
            <a:off x="8837315" y="3167220"/>
            <a:ext cx="7130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  <a:endParaRPr lang="ko-KR" altLang="en-US" dirty="0"/>
          </a:p>
        </p:txBody>
      </p:sp>
      <p:sp>
        <p:nvSpPr>
          <p:cNvPr id="85" name="TextBox 25">
            <a:extLst>
              <a:ext uri="{FF2B5EF4-FFF2-40B4-BE49-F238E27FC236}">
                <a16:creationId xmlns:a16="http://schemas.microsoft.com/office/drawing/2014/main" id="{1C2D86EB-CEC4-2E74-7F7B-9B9730262EA1}"/>
              </a:ext>
            </a:extLst>
          </p:cNvPr>
          <p:cNvSpPr txBox="1"/>
          <p:nvPr/>
        </p:nvSpPr>
        <p:spPr>
          <a:xfrm>
            <a:off x="11922631" y="3778470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레벨셋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982D041-0749-C757-C28B-25A30BDC582D}"/>
              </a:ext>
            </a:extLst>
          </p:cNvPr>
          <p:cNvSpPr txBox="1"/>
          <p:nvPr/>
        </p:nvSpPr>
        <p:spPr>
          <a:xfrm>
            <a:off x="11304647" y="4275101"/>
            <a:ext cx="260238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φ=0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경계의 시간 전진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D595AA-9202-FCAE-F9C6-2C0FD90098A7}"/>
              </a:ext>
            </a:extLst>
          </p:cNvPr>
          <p:cNvSpPr txBox="1"/>
          <p:nvPr/>
        </p:nvSpPr>
        <p:spPr>
          <a:xfrm>
            <a:off x="12304669" y="3171332"/>
            <a:ext cx="7707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  <a:endParaRPr lang="ko-KR" altLang="en-US" dirty="0"/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A573881E-B755-6BB5-6167-A6BDAB583CA2}"/>
              </a:ext>
            </a:extLst>
          </p:cNvPr>
          <p:cNvSpPr txBox="1"/>
          <p:nvPr/>
        </p:nvSpPr>
        <p:spPr>
          <a:xfrm>
            <a:off x="15473735" y="3774358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출력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0349742-F512-80D4-F061-471AD04439A9}"/>
              </a:ext>
            </a:extLst>
          </p:cNvPr>
          <p:cNvSpPr txBox="1"/>
          <p:nvPr/>
        </p:nvSpPr>
        <p:spPr>
          <a:xfrm>
            <a:off x="14958200" y="4275101"/>
            <a:ext cx="245926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TOA·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강도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화염 길이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DAF6B0-90A5-7885-A71B-B92E430199CC}"/>
              </a:ext>
            </a:extLst>
          </p:cNvPr>
          <p:cNvSpPr txBox="1"/>
          <p:nvPr/>
        </p:nvSpPr>
        <p:spPr>
          <a:xfrm>
            <a:off x="15855773" y="3167220"/>
            <a:ext cx="7751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556CC4-36D2-05C7-9BAA-7C9B6E4147CF}"/>
              </a:ext>
            </a:extLst>
          </p:cNvPr>
          <p:cNvSpPr txBox="1"/>
          <p:nvPr/>
        </p:nvSpPr>
        <p:spPr>
          <a:xfrm>
            <a:off x="6655508" y="6543857"/>
            <a:ext cx="257336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fuel_models.csv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설정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927912F-114E-E40E-7598-0FF9B4761AC0}"/>
              </a:ext>
            </a:extLst>
          </p:cNvPr>
          <p:cNvSpPr>
            <a:spLocks noGrp="1"/>
          </p:cNvSpPr>
          <p:nvPr/>
        </p:nvSpPr>
        <p:spPr>
          <a:xfrm>
            <a:off x="9208311" y="6487033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363A5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5FF4FE-990E-DFFD-75AC-0CB0C740DA61}"/>
              </a:ext>
            </a:extLst>
          </p:cNvPr>
          <p:cNvSpPr txBox="1"/>
          <p:nvPr/>
        </p:nvSpPr>
        <p:spPr>
          <a:xfrm>
            <a:off x="9589002" y="6549712"/>
            <a:ext cx="257336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E3DC13C-3681-6775-B858-BF265D193A04}"/>
              </a:ext>
            </a:extLst>
          </p:cNvPr>
          <p:cNvSpPr>
            <a:spLocks noGrp="1"/>
          </p:cNvSpPr>
          <p:nvPr/>
        </p:nvSpPr>
        <p:spPr>
          <a:xfrm>
            <a:off x="12017835" y="6487032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363A5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2BD9B51-D416-EF24-08D3-E03A08DF3343}"/>
              </a:ext>
            </a:extLst>
          </p:cNvPr>
          <p:cNvSpPr txBox="1"/>
          <p:nvPr/>
        </p:nvSpPr>
        <p:spPr>
          <a:xfrm>
            <a:off x="12514234" y="6558371"/>
            <a:ext cx="257336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 경계와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39FF644-8B3E-65C6-D098-C0CDB270D0BB}"/>
              </a:ext>
            </a:extLst>
          </p:cNvPr>
          <p:cNvSpPr txBox="1"/>
          <p:nvPr/>
        </p:nvSpPr>
        <p:spPr>
          <a:xfrm>
            <a:off x="8523266" y="7366486"/>
            <a:ext cx="4228242" cy="454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↻ 베이지안 최적화로 수렴까지 반복</a:t>
            </a:r>
          </a:p>
        </p:txBody>
      </p:sp>
    </p:spTree>
    <p:extLst>
      <p:ext uri="{BB962C8B-B14F-4D97-AF65-F5344CB8AC3E}">
        <p14:creationId xmlns:p14="http://schemas.microsoft.com/office/powerpoint/2010/main" val="1137908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4CA0-692F-203E-38EB-1CE23A7B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85B9D9-0388-CA22-B4B1-83BAC0A64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3E9E427-2A57-6391-F78B-91D79E77F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5AF7C38-A991-F759-88BB-DC98D36F5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2A22F187-A026-178E-D586-9AB2A194C9FF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2.1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발화 후 위험도 판정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277B19-8057-4036-5887-7B9E1A89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AEB2A37D-F16E-8943-C2A0-12AD7DE5E1E1}"/>
              </a:ext>
            </a:extLst>
          </p:cNvPr>
          <p:cNvSpPr txBox="1"/>
          <p:nvPr/>
        </p:nvSpPr>
        <p:spPr>
          <a:xfrm>
            <a:off x="5911850" y="1800579"/>
            <a:ext cx="646430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정적 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조건만 보지 않고 실제 확산을 함께 판단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FBB90D2-CD6D-2F05-C1BD-3AB28A1D8B35}"/>
              </a:ext>
            </a:extLst>
          </p:cNvPr>
          <p:cNvSpPr/>
          <p:nvPr/>
        </p:nvSpPr>
        <p:spPr>
          <a:xfrm>
            <a:off x="5143500" y="7995827"/>
            <a:ext cx="8001000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B6515-25C1-7235-5DC1-9998061C9932}"/>
              </a:ext>
            </a:extLst>
          </p:cNvPr>
          <p:cNvSpPr txBox="1"/>
          <p:nvPr/>
        </p:nvSpPr>
        <p:spPr>
          <a:xfrm>
            <a:off x="5541580" y="8217116"/>
            <a:ext cx="72048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최종 판단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=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 환경 위험도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번지는 속도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도달시간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F5E41A-CD87-5EE4-4DF1-721A73054B6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908" y="2799785"/>
            <a:ext cx="7517492" cy="4705915"/>
          </a:xfrm>
          <a:prstGeom prst="rect">
            <a:avLst/>
          </a:prstGeom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E378E627-4D42-ED1D-7B1E-4EBA47EA6F7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3602" y="2799785"/>
            <a:ext cx="7517492" cy="4705915"/>
          </a:xfrm>
          <a:prstGeom prst="rect">
            <a:avLst/>
          </a:prstGeom>
        </p:spPr>
      </p:pic>
      <p:sp>
        <p:nvSpPr>
          <p:cNvPr id="20" name="TextBox 25">
            <a:extLst>
              <a:ext uri="{FF2B5EF4-FFF2-40B4-BE49-F238E27FC236}">
                <a16:creationId xmlns:a16="http://schemas.microsoft.com/office/drawing/2014/main" id="{40D02F33-0CCA-4BE1-4087-3C0EAE5F1DFC}"/>
              </a:ext>
            </a:extLst>
          </p:cNvPr>
          <p:cNvSpPr txBox="1"/>
          <p:nvPr/>
        </p:nvSpPr>
        <p:spPr>
          <a:xfrm>
            <a:off x="1447800" y="3111500"/>
            <a:ext cx="3825308" cy="4181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조건위험도  </a:t>
            </a:r>
            <a:r>
              <a:rPr lang="en-US" altLang="ko-KR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0~100</a:t>
            </a: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92C201-BE0E-F918-3EF7-BF7230436330}"/>
              </a:ext>
            </a:extLst>
          </p:cNvPr>
          <p:cNvSpPr txBox="1"/>
          <p:nvPr/>
        </p:nvSpPr>
        <p:spPr>
          <a:xfrm>
            <a:off x="1447800" y="3695700"/>
            <a:ext cx="241554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25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변수의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가중합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2586DC-07BB-987A-A224-F4D84A290CEB}"/>
              </a:ext>
            </a:extLst>
          </p:cNvPr>
          <p:cNvSpPr txBox="1"/>
          <p:nvPr/>
        </p:nvSpPr>
        <p:spPr>
          <a:xfrm>
            <a:off x="1447800" y="4314295"/>
            <a:ext cx="976837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기상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D2B263-3FDC-1190-92E8-D97B93C4FDF4}"/>
              </a:ext>
            </a:extLst>
          </p:cNvPr>
          <p:cNvSpPr txBox="1"/>
          <p:nvPr/>
        </p:nvSpPr>
        <p:spPr>
          <a:xfrm>
            <a:off x="1447800" y="5014310"/>
            <a:ext cx="885389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지형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3C0AA-B656-5D1B-303C-9580800965D2}"/>
              </a:ext>
            </a:extLst>
          </p:cNvPr>
          <p:cNvSpPr txBox="1"/>
          <p:nvPr/>
        </p:nvSpPr>
        <p:spPr>
          <a:xfrm>
            <a:off x="1447799" y="5714325"/>
            <a:ext cx="885389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연료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D0EA41-A2D2-D3EE-1FB9-0AD3FF3A8983}"/>
              </a:ext>
            </a:extLst>
          </p:cNvPr>
          <p:cNvSpPr txBox="1"/>
          <p:nvPr/>
        </p:nvSpPr>
        <p:spPr>
          <a:xfrm>
            <a:off x="1447799" y="6414340"/>
            <a:ext cx="1143000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</a:rPr>
              <a:t>인프라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9CFE61-C04A-2CDF-8AA1-847EE2BD9A37}"/>
              </a:ext>
            </a:extLst>
          </p:cNvPr>
          <p:cNvSpPr txBox="1"/>
          <p:nvPr/>
        </p:nvSpPr>
        <p:spPr>
          <a:xfrm>
            <a:off x="2200000" y="7041324"/>
            <a:ext cx="5200000" cy="36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15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25 × ( Σ(변수점수 1~5 × 가중치) ÷ Σ가중치 − 1 )</a:t>
            </a:r>
          </a:p>
        </p:txBody>
      </p:sp>
      <p:pic>
        <p:nvPicPr>
          <p:cNvPr id="38" name="Picture 18">
            <a:extLst>
              <a:ext uri="{FF2B5EF4-FFF2-40B4-BE49-F238E27FC236}">
                <a16:creationId xmlns:a16="http://schemas.microsoft.com/office/drawing/2014/main" id="{E92DCC03-2315-82A0-B724-0D221D050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4936" y="4461313"/>
            <a:ext cx="4607099" cy="210809"/>
          </a:xfrm>
          <a:prstGeom prst="rect">
            <a:avLst/>
          </a:prstGeom>
        </p:spPr>
      </p:pic>
      <p:pic>
        <p:nvPicPr>
          <p:cNvPr id="40" name="Picture 18">
            <a:extLst>
              <a:ext uri="{FF2B5EF4-FFF2-40B4-BE49-F238E27FC236}">
                <a16:creationId xmlns:a16="http://schemas.microsoft.com/office/drawing/2014/main" id="{73F7C0B2-4371-D9D9-5CF6-71EA0E92B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4936" y="5139781"/>
            <a:ext cx="3645863" cy="210809"/>
          </a:xfrm>
          <a:prstGeom prst="rect">
            <a:avLst/>
          </a:prstGeom>
        </p:spPr>
      </p:pic>
      <p:pic>
        <p:nvPicPr>
          <p:cNvPr id="42" name="Picture 18">
            <a:extLst>
              <a:ext uri="{FF2B5EF4-FFF2-40B4-BE49-F238E27FC236}">
                <a16:creationId xmlns:a16="http://schemas.microsoft.com/office/drawing/2014/main" id="{83C1AB90-8C1D-799A-57BE-1AF9E5502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4937" y="5850261"/>
            <a:ext cx="2731464" cy="210809"/>
          </a:xfrm>
          <a:prstGeom prst="rect">
            <a:avLst/>
          </a:prstGeom>
        </p:spPr>
      </p:pic>
      <p:pic>
        <p:nvPicPr>
          <p:cNvPr id="44" name="Picture 18">
            <a:extLst>
              <a:ext uri="{FF2B5EF4-FFF2-40B4-BE49-F238E27FC236}">
                <a16:creationId xmlns:a16="http://schemas.microsoft.com/office/drawing/2014/main" id="{D4923087-FC4F-16C3-440D-97D4707E4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4937" y="6551197"/>
            <a:ext cx="978864" cy="2108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662D065-E72B-6280-184C-7B9FF773E7D5}"/>
              </a:ext>
            </a:extLst>
          </p:cNvPr>
          <p:cNvSpPr txBox="1"/>
          <p:nvPr/>
        </p:nvSpPr>
        <p:spPr>
          <a:xfrm>
            <a:off x="7467600" y="4350503"/>
            <a:ext cx="762000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0.35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FBAE92-0D0C-F587-2321-2F2CFDF9B7C9}"/>
              </a:ext>
            </a:extLst>
          </p:cNvPr>
          <p:cNvSpPr txBox="1"/>
          <p:nvPr/>
        </p:nvSpPr>
        <p:spPr>
          <a:xfrm>
            <a:off x="7467600" y="5048315"/>
            <a:ext cx="762000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0.30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C72204-9D32-05F6-500C-83228D83C8B5}"/>
              </a:ext>
            </a:extLst>
          </p:cNvPr>
          <p:cNvSpPr txBox="1"/>
          <p:nvPr/>
        </p:nvSpPr>
        <p:spPr>
          <a:xfrm>
            <a:off x="7462520" y="5746127"/>
            <a:ext cx="762000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0.25</a:t>
            </a:r>
            <a:endParaRPr lang="ko-KR" altLang="en-US" dirty="0"/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id="{9313813A-2CEB-EF38-2C45-40B297AD9982}"/>
              </a:ext>
            </a:extLst>
          </p:cNvPr>
          <p:cNvSpPr txBox="1"/>
          <p:nvPr/>
        </p:nvSpPr>
        <p:spPr>
          <a:xfrm>
            <a:off x="10134600" y="3111500"/>
            <a:ext cx="3825308" cy="4181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en-US" altLang="ko-KR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ELMFIRE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확산 보완</a:t>
            </a: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0A37C6-7265-35A4-E432-CB68783C0864}"/>
              </a:ext>
            </a:extLst>
          </p:cNvPr>
          <p:cNvSpPr txBox="1"/>
          <p:nvPr/>
        </p:nvSpPr>
        <p:spPr>
          <a:xfrm>
            <a:off x="10055071" y="3879669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조건위험도 ↔ 최종 피해면적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8498A2-1724-0016-7D01-71F9403A25F1}"/>
              </a:ext>
            </a:extLst>
          </p:cNvPr>
          <p:cNvSpPr txBox="1"/>
          <p:nvPr/>
        </p:nvSpPr>
        <p:spPr>
          <a:xfrm>
            <a:off x="10055071" y="5901394"/>
            <a:ext cx="261182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조건위험도 하위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20%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87DCAC-9436-7A4F-7BE3-C852AB5FD596}"/>
              </a:ext>
            </a:extLst>
          </p:cNvPr>
          <p:cNvSpPr txBox="1"/>
          <p:nvPr/>
        </p:nvSpPr>
        <p:spPr>
          <a:xfrm>
            <a:off x="11033580" y="6667500"/>
            <a:ext cx="513442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확산속도  </a:t>
            </a:r>
            <a:r>
              <a:rPr lang="en-US" altLang="ko-KR" sz="2500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+  </a:t>
            </a:r>
            <a:r>
              <a:rPr lang="ko-KR" altLang="en-US" sz="2500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주요시설 도달 예상시각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12E469-2CCF-A021-F3D6-86642DA5A4E5}"/>
              </a:ext>
            </a:extLst>
          </p:cNvPr>
          <p:cNvSpPr txBox="1"/>
          <p:nvPr/>
        </p:nvSpPr>
        <p:spPr>
          <a:xfrm>
            <a:off x="10134599" y="4960065"/>
            <a:ext cx="16002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강릉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2022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21B321-9D2F-8E58-F109-5C29A43766C3}"/>
              </a:ext>
            </a:extLst>
          </p:cNvPr>
          <p:cNvSpPr txBox="1"/>
          <p:nvPr/>
        </p:nvSpPr>
        <p:spPr>
          <a:xfrm>
            <a:off x="13781059" y="4986631"/>
            <a:ext cx="144377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0" i="0" u="none" strike="noStrike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4,190ha</a:t>
            </a:r>
            <a:endParaRPr lang="en-US" altLang="ko-KR" sz="2500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E43673ED-D30E-73A8-9EA9-79DBBB2CC280}"/>
              </a:ext>
            </a:extLst>
          </p:cNvPr>
          <p:cNvGrpSpPr/>
          <p:nvPr/>
        </p:nvGrpSpPr>
        <p:grpSpPr>
          <a:xfrm>
            <a:off x="14796565" y="3839953"/>
            <a:ext cx="2007053" cy="606408"/>
            <a:chOff x="14843881" y="3874052"/>
            <a:chExt cx="2007053" cy="606408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ADEDBD12-C6AD-E2CC-03BE-840F01EF4DCD}"/>
                </a:ext>
              </a:extLst>
            </p:cNvPr>
            <p:cNvSpPr/>
            <p:nvPr/>
          </p:nvSpPr>
          <p:spPr>
            <a:xfrm>
              <a:off x="14843881" y="3874052"/>
              <a:ext cx="2007053" cy="606408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D1F29CA-70B2-DED3-BACF-D0BB85F5D454}"/>
                </a:ext>
              </a:extLst>
            </p:cNvPr>
            <p:cNvSpPr txBox="1"/>
            <p:nvPr/>
          </p:nvSpPr>
          <p:spPr>
            <a:xfrm>
              <a:off x="14940416" y="3902313"/>
              <a:ext cx="1813982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l-GR" altLang="ko-KR" sz="25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ρ = 0.264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B2160761-DB17-76A3-7835-FBA649B05731}"/>
              </a:ext>
            </a:extLst>
          </p:cNvPr>
          <p:cNvSpPr txBox="1"/>
          <p:nvPr/>
        </p:nvSpPr>
        <p:spPr>
          <a:xfrm>
            <a:off x="15126537" y="4459025"/>
            <a:ext cx="1347107" cy="413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약한 상관</a:t>
            </a:r>
          </a:p>
        </p:txBody>
      </p:sp>
    </p:spTree>
    <p:extLst>
      <p:ext uri="{BB962C8B-B14F-4D97-AF65-F5344CB8AC3E}">
        <p14:creationId xmlns:p14="http://schemas.microsoft.com/office/powerpoint/2010/main" val="1160147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345E-D315-6DE0-8DE9-E80D8F1E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211A668-604B-0CFF-4AB1-112FA8A3E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D0AAA3F-5041-E509-E269-2CE84C1C5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9FD666B-58E4-A7A7-4849-3D3119275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9225AC34-A6EE-F4E4-7DA6-F0A6974ADE6F}"/>
              </a:ext>
            </a:extLst>
          </p:cNvPr>
          <p:cNvSpPr txBox="1"/>
          <p:nvPr/>
        </p:nvSpPr>
        <p:spPr>
          <a:xfrm>
            <a:off x="825500" y="469900"/>
            <a:ext cx="8166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역할 체계와 활성화 규칙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CF00E-149B-E60B-A601-4799E2A2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87EB16FA-52AF-7D1D-ACE7-B2A3DDA8E9FC}"/>
              </a:ext>
            </a:extLst>
          </p:cNvPr>
          <p:cNvSpPr txBox="1"/>
          <p:nvPr/>
        </p:nvSpPr>
        <p:spPr>
          <a:xfrm>
            <a:off x="5470525" y="1800579"/>
            <a:ext cx="734695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 역할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, 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 활성화는 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LLM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이 아닌 규칙으로 판정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1A036990-5078-8153-4AAF-7B87560D04D0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10" y="2815103"/>
            <a:ext cx="5200650" cy="2501900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95118CC5-B39F-F009-F0D4-3C59729C1CAF}"/>
              </a:ext>
            </a:extLst>
          </p:cNvPr>
          <p:cNvSpPr txBox="1"/>
          <p:nvPr/>
        </p:nvSpPr>
        <p:spPr>
          <a:xfrm>
            <a:off x="2300804" y="3285209"/>
            <a:ext cx="1492250" cy="3760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소방요원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AF09A-46C4-F112-8AC0-39F638516214}"/>
              </a:ext>
            </a:extLst>
          </p:cNvPr>
          <p:cNvSpPr txBox="1"/>
          <p:nvPr/>
        </p:nvSpPr>
        <p:spPr>
          <a:xfrm>
            <a:off x="1272550" y="4206858"/>
            <a:ext cx="429577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 우선지역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진입 위험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보호대상</a:t>
            </a:r>
          </a:p>
        </p:txBody>
      </p:sp>
      <p:pic>
        <p:nvPicPr>
          <p:cNvPr id="73" name="Picture 15">
            <a:extLst>
              <a:ext uri="{FF2B5EF4-FFF2-40B4-BE49-F238E27FC236}">
                <a16:creationId xmlns:a16="http://schemas.microsoft.com/office/drawing/2014/main" id="{A33655B2-8B52-B37A-793D-0D4A3F6D42C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5230" y="2789282"/>
            <a:ext cx="5200650" cy="2501900"/>
          </a:xfrm>
          <a:prstGeom prst="rect">
            <a:avLst/>
          </a:prstGeom>
        </p:spPr>
      </p:pic>
      <p:grpSp>
        <p:nvGrpSpPr>
          <p:cNvPr id="81" name="그룹 80">
            <a:extLst>
              <a:ext uri="{FF2B5EF4-FFF2-40B4-BE49-F238E27FC236}">
                <a16:creationId xmlns:a16="http://schemas.microsoft.com/office/drawing/2014/main" id="{74D94B8E-7001-9803-AD40-BA81C8F2B282}"/>
              </a:ext>
            </a:extLst>
          </p:cNvPr>
          <p:cNvGrpSpPr/>
          <p:nvPr/>
        </p:nvGrpSpPr>
        <p:grpSpPr>
          <a:xfrm>
            <a:off x="1176641" y="3106647"/>
            <a:ext cx="943075" cy="747849"/>
            <a:chOff x="3664305" y="6524778"/>
            <a:chExt cx="943075" cy="747849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F785789B-9F1F-CD21-0609-AB2FBFD1EA48}"/>
                </a:ext>
              </a:extLst>
            </p:cNvPr>
            <p:cNvSpPr/>
            <p:nvPr/>
          </p:nvSpPr>
          <p:spPr>
            <a:xfrm>
              <a:off x="3664305" y="6524778"/>
              <a:ext cx="94307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50E56FE-DFEF-4249-185E-61513CF80FF6}"/>
                </a:ext>
              </a:extLst>
            </p:cNvPr>
            <p:cNvSpPr txBox="1"/>
            <p:nvPr/>
          </p:nvSpPr>
          <p:spPr>
            <a:xfrm>
              <a:off x="3806462" y="6635556"/>
              <a:ext cx="6587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2500" b="1" i="0" u="none" strike="noStrike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FF</a:t>
              </a:r>
              <a:endPara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sp>
        <p:nvSpPr>
          <p:cNvPr id="82" name="TextBox 25">
            <a:extLst>
              <a:ext uri="{FF2B5EF4-FFF2-40B4-BE49-F238E27FC236}">
                <a16:creationId xmlns:a16="http://schemas.microsoft.com/office/drawing/2014/main" id="{36B379EB-B22E-5F5E-1D29-134F423CB291}"/>
              </a:ext>
            </a:extLst>
          </p:cNvPr>
          <p:cNvSpPr txBox="1"/>
          <p:nvPr/>
        </p:nvSpPr>
        <p:spPr>
          <a:xfrm>
            <a:off x="8096475" y="3285209"/>
            <a:ext cx="1492250" cy="3760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구조요원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A46B9C-82EF-7DDF-AD39-E966FDE0A91A}"/>
              </a:ext>
            </a:extLst>
          </p:cNvPr>
          <p:cNvSpPr txBox="1"/>
          <p:nvPr/>
        </p:nvSpPr>
        <p:spPr>
          <a:xfrm>
            <a:off x="6996112" y="4206858"/>
            <a:ext cx="429577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구조 우선순위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이송 계획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위험구간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0E20B92-E54F-5CBE-68C0-6338BEB52366}"/>
              </a:ext>
            </a:extLst>
          </p:cNvPr>
          <p:cNvGrpSpPr/>
          <p:nvPr/>
        </p:nvGrpSpPr>
        <p:grpSpPr>
          <a:xfrm>
            <a:off x="6972312" y="3106647"/>
            <a:ext cx="943075" cy="747849"/>
            <a:chOff x="7141658" y="3369717"/>
            <a:chExt cx="943075" cy="747849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ECC7E750-1A40-6DB0-23C2-46E59E03DD72}"/>
                </a:ext>
              </a:extLst>
            </p:cNvPr>
            <p:cNvSpPr/>
            <p:nvPr/>
          </p:nvSpPr>
          <p:spPr>
            <a:xfrm>
              <a:off x="7141658" y="3369717"/>
              <a:ext cx="94307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D945285-369A-9A6E-65FC-60664A56CD74}"/>
                </a:ext>
              </a:extLst>
            </p:cNvPr>
            <p:cNvSpPr txBox="1"/>
            <p:nvPr/>
          </p:nvSpPr>
          <p:spPr>
            <a:xfrm>
              <a:off x="7283815" y="3480495"/>
              <a:ext cx="6587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2500" b="1" i="0" u="none" strike="noStrike" spc="-10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RW</a:t>
              </a:r>
              <a:endParaRPr lang="en-US" altLang="ko-KR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pic>
        <p:nvPicPr>
          <p:cNvPr id="93" name="Picture 15">
            <a:extLst>
              <a:ext uri="{FF2B5EF4-FFF2-40B4-BE49-F238E27FC236}">
                <a16:creationId xmlns:a16="http://schemas.microsoft.com/office/drawing/2014/main" id="{4EA7F177-C548-8108-6A8E-0A3BC01075F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25350" y="2789282"/>
            <a:ext cx="5200650" cy="2501900"/>
          </a:xfrm>
          <a:prstGeom prst="rect">
            <a:avLst/>
          </a:prstGeom>
        </p:spPr>
      </p:pic>
      <p:sp>
        <p:nvSpPr>
          <p:cNvPr id="94" name="TextBox 25">
            <a:extLst>
              <a:ext uri="{FF2B5EF4-FFF2-40B4-BE49-F238E27FC236}">
                <a16:creationId xmlns:a16="http://schemas.microsoft.com/office/drawing/2014/main" id="{81B88989-2491-77CD-28C8-BDDCD865F82E}"/>
              </a:ext>
            </a:extLst>
          </p:cNvPr>
          <p:cNvSpPr txBox="1"/>
          <p:nvPr/>
        </p:nvSpPr>
        <p:spPr>
          <a:xfrm>
            <a:off x="13801044" y="3259388"/>
            <a:ext cx="1492250" cy="3760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공무원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7E658E4-A889-C73D-102E-D1DA2E329376}"/>
              </a:ext>
            </a:extLst>
          </p:cNvPr>
          <p:cNvSpPr txBox="1"/>
          <p:nvPr/>
        </p:nvSpPr>
        <p:spPr>
          <a:xfrm>
            <a:off x="13342742" y="4181037"/>
            <a:ext cx="316586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자원배분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행정 대응</a:t>
            </a: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26E80D7D-DDF5-D4D4-9782-1A766585F67C}"/>
              </a:ext>
            </a:extLst>
          </p:cNvPr>
          <p:cNvGrpSpPr/>
          <p:nvPr/>
        </p:nvGrpSpPr>
        <p:grpSpPr>
          <a:xfrm>
            <a:off x="12676881" y="3080826"/>
            <a:ext cx="943075" cy="747849"/>
            <a:chOff x="12846227" y="3343896"/>
            <a:chExt cx="943075" cy="7478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335A7036-3AAD-7467-5579-C0E5C94E46BD}"/>
                </a:ext>
              </a:extLst>
            </p:cNvPr>
            <p:cNvSpPr/>
            <p:nvPr/>
          </p:nvSpPr>
          <p:spPr>
            <a:xfrm>
              <a:off x="12846227" y="3343896"/>
              <a:ext cx="94307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BFF80B8-D938-BDE5-BE2E-210BE0DD4C7D}"/>
                </a:ext>
              </a:extLst>
            </p:cNvPr>
            <p:cNvSpPr txBox="1"/>
            <p:nvPr/>
          </p:nvSpPr>
          <p:spPr>
            <a:xfrm>
              <a:off x="12988384" y="3454674"/>
              <a:ext cx="6587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2500" b="1" i="0" u="none" strike="noStrike" spc="-10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GO</a:t>
              </a:r>
              <a:endParaRPr lang="en-US" altLang="ko-KR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pic>
        <p:nvPicPr>
          <p:cNvPr id="100" name="Picture 15">
            <a:extLst>
              <a:ext uri="{FF2B5EF4-FFF2-40B4-BE49-F238E27FC236}">
                <a16:creationId xmlns:a16="http://schemas.microsoft.com/office/drawing/2014/main" id="{CB27EEB2-C039-4EB6-5D08-72041D4B2465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10" y="5808201"/>
            <a:ext cx="8111154" cy="2688099"/>
          </a:xfrm>
          <a:prstGeom prst="rect">
            <a:avLst/>
          </a:prstGeom>
        </p:spPr>
      </p:pic>
      <p:pic>
        <p:nvPicPr>
          <p:cNvPr id="104" name="Picture 15">
            <a:extLst>
              <a:ext uri="{FF2B5EF4-FFF2-40B4-BE49-F238E27FC236}">
                <a16:creationId xmlns:a16="http://schemas.microsoft.com/office/drawing/2014/main" id="{9707CBA6-F522-8A8F-7E3B-B889C9D69720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4846" y="5802812"/>
            <a:ext cx="8111154" cy="2688099"/>
          </a:xfrm>
          <a:prstGeom prst="rect">
            <a:avLst/>
          </a:prstGeom>
        </p:spPr>
      </p:pic>
      <p:sp>
        <p:nvSpPr>
          <p:cNvPr id="106" name="TextBox 25">
            <a:extLst>
              <a:ext uri="{FF2B5EF4-FFF2-40B4-BE49-F238E27FC236}">
                <a16:creationId xmlns:a16="http://schemas.microsoft.com/office/drawing/2014/main" id="{4748FBDF-C2BA-7EF4-92CB-15B077507180}"/>
              </a:ext>
            </a:extLst>
          </p:cNvPr>
          <p:cNvSpPr txBox="1"/>
          <p:nvPr/>
        </p:nvSpPr>
        <p:spPr>
          <a:xfrm>
            <a:off x="1181169" y="6115150"/>
            <a:ext cx="2239269" cy="4255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단계 규칙</a:t>
            </a:r>
          </a:p>
        </p:txBody>
      </p:sp>
      <p:sp>
        <p:nvSpPr>
          <p:cNvPr id="108" name="TextBox 25">
            <a:extLst>
              <a:ext uri="{FF2B5EF4-FFF2-40B4-BE49-F238E27FC236}">
                <a16:creationId xmlns:a16="http://schemas.microsoft.com/office/drawing/2014/main" id="{54839E62-A07A-B3AE-ABEC-FE1396CD9CEE}"/>
              </a:ext>
            </a:extLst>
          </p:cNvPr>
          <p:cNvSpPr txBox="1"/>
          <p:nvPr/>
        </p:nvSpPr>
        <p:spPr>
          <a:xfrm>
            <a:off x="1247687" y="6815743"/>
            <a:ext cx="2445226" cy="4255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8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10ha 미만  초기대응</a:t>
            </a:r>
          </a:p>
        </p:txBody>
      </p:sp>
      <p:sp>
        <p:nvSpPr>
          <p:cNvPr id="110" name="TextBox 25">
            <a:extLst>
              <a:ext uri="{FF2B5EF4-FFF2-40B4-BE49-F238E27FC236}">
                <a16:creationId xmlns:a16="http://schemas.microsoft.com/office/drawing/2014/main" id="{CE8C721A-AD32-3357-1163-B83EED9892DC}"/>
              </a:ext>
            </a:extLst>
          </p:cNvPr>
          <p:cNvSpPr txBox="1"/>
          <p:nvPr/>
        </p:nvSpPr>
        <p:spPr>
          <a:xfrm>
            <a:off x="3810614" y="6815743"/>
            <a:ext cx="3200000" cy="4255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8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10ha 이상 100ha 미만  1</a:t>
            </a:r>
            <a:r>
              <a:rPr lang="ko-KR" altLang="en-US" sz="18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</a:t>
            </a:r>
          </a:p>
        </p:txBody>
      </p:sp>
      <p:sp>
        <p:nvSpPr>
          <p:cNvPr id="112" name="TextBox 25">
            <a:extLst>
              <a:ext uri="{FF2B5EF4-FFF2-40B4-BE49-F238E27FC236}">
                <a16:creationId xmlns:a16="http://schemas.microsoft.com/office/drawing/2014/main" id="{EE7FE297-4483-C550-6BB7-0B560B825C45}"/>
              </a:ext>
            </a:extLst>
          </p:cNvPr>
          <p:cNvSpPr txBox="1"/>
          <p:nvPr/>
        </p:nvSpPr>
        <p:spPr>
          <a:xfrm>
            <a:off x="7100000" y="6815738"/>
            <a:ext cx="1850000" cy="4255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8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100ha 이상  2</a:t>
            </a:r>
            <a:r>
              <a:rPr lang="ko-KR" altLang="en-US" sz="18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00FA263-3472-25DC-8A7B-D91D431767AF}"/>
              </a:ext>
            </a:extLst>
          </p:cNvPr>
          <p:cNvSpPr txBox="1"/>
          <p:nvPr/>
        </p:nvSpPr>
        <p:spPr>
          <a:xfrm>
            <a:off x="1809327" y="7547430"/>
            <a:ext cx="6142719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풍속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3·11m/s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또는 주요시설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20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동 우려 → 단계 상향</a:t>
            </a:r>
          </a:p>
        </p:txBody>
      </p:sp>
      <p:sp>
        <p:nvSpPr>
          <p:cNvPr id="116" name="TextBox 25">
            <a:extLst>
              <a:ext uri="{FF2B5EF4-FFF2-40B4-BE49-F238E27FC236}">
                <a16:creationId xmlns:a16="http://schemas.microsoft.com/office/drawing/2014/main" id="{E4E1C1E6-A4E9-EAFF-9B2E-0A5A59C88DB3}"/>
              </a:ext>
            </a:extLst>
          </p:cNvPr>
          <p:cNvSpPr txBox="1"/>
          <p:nvPr/>
        </p:nvSpPr>
        <p:spPr>
          <a:xfrm>
            <a:off x="9716017" y="6117041"/>
            <a:ext cx="2059863" cy="3760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행정경계 규칙</a:t>
            </a:r>
          </a:p>
        </p:txBody>
      </p:sp>
      <p:sp>
        <p:nvSpPr>
          <p:cNvPr id="118" name="TextBox 25">
            <a:extLst>
              <a:ext uri="{FF2B5EF4-FFF2-40B4-BE49-F238E27FC236}">
                <a16:creationId xmlns:a16="http://schemas.microsoft.com/office/drawing/2014/main" id="{6B1F2D48-4A73-4EF4-8F9C-40995E4A2F0D}"/>
              </a:ext>
            </a:extLst>
          </p:cNvPr>
          <p:cNvSpPr txBox="1"/>
          <p:nvPr/>
        </p:nvSpPr>
        <p:spPr>
          <a:xfrm>
            <a:off x="10761380" y="6832361"/>
            <a:ext cx="2310493" cy="3760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이상 시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군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</a:t>
            </a:r>
          </a:p>
        </p:txBody>
      </p:sp>
      <p:sp>
        <p:nvSpPr>
          <p:cNvPr id="120" name="TextBox 25">
            <a:extLst>
              <a:ext uri="{FF2B5EF4-FFF2-40B4-BE49-F238E27FC236}">
                <a16:creationId xmlns:a16="http://schemas.microsoft.com/office/drawing/2014/main" id="{22702FB2-CA79-6668-07A0-B6F25EBFEF7C}"/>
              </a:ext>
            </a:extLst>
          </p:cNvPr>
          <p:cNvSpPr txBox="1"/>
          <p:nvPr/>
        </p:nvSpPr>
        <p:spPr>
          <a:xfrm>
            <a:off x="10761380" y="7546430"/>
            <a:ext cx="1990887" cy="41537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이상 시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404334A-B63E-C7EF-B557-988DB4381D21}"/>
              </a:ext>
            </a:extLst>
          </p:cNvPr>
          <p:cNvSpPr txBox="1"/>
          <p:nvPr/>
        </p:nvSpPr>
        <p:spPr>
          <a:xfrm>
            <a:off x="14526790" y="6878671"/>
            <a:ext cx="1538320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→ 시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도지사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23EAD2B-6B42-45A7-EE26-07027FFB6310}"/>
              </a:ext>
            </a:extLst>
          </p:cNvPr>
          <p:cNvSpPr txBox="1"/>
          <p:nvPr/>
        </p:nvSpPr>
        <p:spPr>
          <a:xfrm>
            <a:off x="14526789" y="7589260"/>
            <a:ext cx="1538321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→ 산림청장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9536C65-B3F8-CA8C-1947-34E0491F38F8}"/>
              </a:ext>
            </a:extLst>
          </p:cNvPr>
          <p:cNvSpPr txBox="1"/>
          <p:nvPr/>
        </p:nvSpPr>
        <p:spPr>
          <a:xfrm>
            <a:off x="6982133" y="8847730"/>
            <a:ext cx="4018934" cy="39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공식 발령과 구분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: ‘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예측상 대응 권고 단계’</a:t>
            </a:r>
          </a:p>
        </p:txBody>
      </p:sp>
    </p:spTree>
    <p:extLst>
      <p:ext uri="{BB962C8B-B14F-4D97-AF65-F5344CB8AC3E}">
        <p14:creationId xmlns:p14="http://schemas.microsoft.com/office/powerpoint/2010/main" val="1025689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A49F-9AFE-A46E-0C51-7B0819AB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A443B8-84A0-CAFF-702B-D49BC6F9E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0887058-8B59-F502-7365-DA99F25F56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B4443C5-B529-B320-EC02-8841EE3E7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7540DA89-5245-94EC-CFE9-197EF94C1C18}"/>
              </a:ext>
            </a:extLst>
          </p:cNvPr>
          <p:cNvSpPr txBox="1"/>
          <p:nvPr/>
        </p:nvSpPr>
        <p:spPr>
          <a:xfrm>
            <a:off x="825500" y="469900"/>
            <a:ext cx="8547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역할별 임무 생성 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— RAG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FEAA0F-B9C0-56AF-BA3F-A0BB8F35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323FB034-6403-B558-FD0A-4FCC3F7EB725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086100"/>
            <a:ext cx="2159340" cy="2501900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49896245-A862-DF71-8798-18EE8817FC9D}"/>
              </a:ext>
            </a:extLst>
          </p:cNvPr>
          <p:cNvSpPr txBox="1"/>
          <p:nvPr/>
        </p:nvSpPr>
        <p:spPr>
          <a:xfrm>
            <a:off x="1476132" y="3980730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 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62675C-1306-82D5-FE46-76DF2935304A}"/>
              </a:ext>
            </a:extLst>
          </p:cNvPr>
          <p:cNvSpPr txBox="1"/>
          <p:nvPr/>
        </p:nvSpPr>
        <p:spPr>
          <a:xfrm>
            <a:off x="1404438" y="4592655"/>
            <a:ext cx="1509804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02153AC-7FE8-A97A-AF1B-B8181B6F939E}"/>
              </a:ext>
            </a:extLst>
          </p:cNvPr>
          <p:cNvSpPr>
            <a:spLocks noGrp="1"/>
          </p:cNvSpPr>
          <p:nvPr/>
        </p:nvSpPr>
        <p:spPr>
          <a:xfrm>
            <a:off x="3251880" y="4068782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02F7FD-6867-8021-D84A-FA3F307C88A7}"/>
              </a:ext>
            </a:extLst>
          </p:cNvPr>
          <p:cNvSpPr txBox="1"/>
          <p:nvPr/>
        </p:nvSpPr>
        <p:spPr>
          <a:xfrm>
            <a:off x="1838041" y="3256416"/>
            <a:ext cx="6168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endParaRPr lang="ko-KR" altLang="en-US" dirty="0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064A52DC-1701-5A68-BAFC-E906F37E2A52}"/>
              </a:ext>
            </a:extLst>
          </p:cNvPr>
          <p:cNvSpPr txBox="1"/>
          <p:nvPr/>
        </p:nvSpPr>
        <p:spPr>
          <a:xfrm>
            <a:off x="5470525" y="1800579"/>
            <a:ext cx="734695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확정된 예측값과 검색 근거만 역할별 문장으로 변환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4428471F-1562-7472-2F88-1D977F25FB1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429" y="6237646"/>
            <a:ext cx="7727632" cy="2206625"/>
          </a:xfrm>
          <a:prstGeom prst="rect">
            <a:avLst/>
          </a:prstGeom>
        </p:spPr>
      </p:pic>
      <p:sp>
        <p:nvSpPr>
          <p:cNvPr id="15" name="TextBox 25">
            <a:extLst>
              <a:ext uri="{FF2B5EF4-FFF2-40B4-BE49-F238E27FC236}">
                <a16:creationId xmlns:a16="http://schemas.microsoft.com/office/drawing/2014/main" id="{96238838-AB07-6B6D-2C23-01565C101E57}"/>
              </a:ext>
            </a:extLst>
          </p:cNvPr>
          <p:cNvSpPr txBox="1"/>
          <p:nvPr/>
        </p:nvSpPr>
        <p:spPr>
          <a:xfrm>
            <a:off x="1364513" y="6720900"/>
            <a:ext cx="2239269" cy="4255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코퍼스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E769B4-F886-B597-AAB7-A2FE150D330B}"/>
              </a:ext>
            </a:extLst>
          </p:cNvPr>
          <p:cNvSpPr txBox="1"/>
          <p:nvPr/>
        </p:nvSpPr>
        <p:spPr>
          <a:xfrm>
            <a:off x="1522594" y="7495683"/>
            <a:ext cx="679254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법령·지침 원문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항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호 분할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기관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/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 메타데이터</a:t>
            </a:r>
          </a:p>
        </p:txBody>
      </p:sp>
      <p:pic>
        <p:nvPicPr>
          <p:cNvPr id="66" name="Picture 15">
            <a:extLst>
              <a:ext uri="{FF2B5EF4-FFF2-40B4-BE49-F238E27FC236}">
                <a16:creationId xmlns:a16="http://schemas.microsoft.com/office/drawing/2014/main" id="{853137BB-B809-DB2F-724A-17798223E03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200" y="3086100"/>
            <a:ext cx="2159340" cy="2501900"/>
          </a:xfrm>
          <a:prstGeom prst="rect">
            <a:avLst/>
          </a:prstGeom>
        </p:spPr>
      </p:pic>
      <p:pic>
        <p:nvPicPr>
          <p:cNvPr id="70" name="Picture 15">
            <a:extLst>
              <a:ext uri="{FF2B5EF4-FFF2-40B4-BE49-F238E27FC236}">
                <a16:creationId xmlns:a16="http://schemas.microsoft.com/office/drawing/2014/main" id="{B0EDA115-78B1-2F1A-34CD-4005EB1FDFA9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9860" y="3086100"/>
            <a:ext cx="2159340" cy="2501900"/>
          </a:xfrm>
          <a:prstGeom prst="rect">
            <a:avLst/>
          </a:prstGeom>
        </p:spPr>
      </p:pic>
      <p:pic>
        <p:nvPicPr>
          <p:cNvPr id="74" name="Picture 15">
            <a:extLst>
              <a:ext uri="{FF2B5EF4-FFF2-40B4-BE49-F238E27FC236}">
                <a16:creationId xmlns:a16="http://schemas.microsoft.com/office/drawing/2014/main" id="{31495C3A-5818-50E5-64CC-4A59D019E015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9260" y="3092656"/>
            <a:ext cx="2159340" cy="2501900"/>
          </a:xfrm>
          <a:prstGeom prst="rect">
            <a:avLst/>
          </a:prstGeom>
        </p:spPr>
      </p:pic>
      <p:pic>
        <p:nvPicPr>
          <p:cNvPr id="78" name="Picture 15">
            <a:extLst>
              <a:ext uri="{FF2B5EF4-FFF2-40B4-BE49-F238E27FC236}">
                <a16:creationId xmlns:a16="http://schemas.microsoft.com/office/drawing/2014/main" id="{F41FAA8E-E457-6FDF-E934-D8BE91C4921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68200" y="3092656"/>
            <a:ext cx="2159340" cy="2501900"/>
          </a:xfrm>
          <a:prstGeom prst="rect">
            <a:avLst/>
          </a:prstGeom>
        </p:spPr>
      </p:pic>
      <p:pic>
        <p:nvPicPr>
          <p:cNvPr id="82" name="Picture 15">
            <a:extLst>
              <a:ext uri="{FF2B5EF4-FFF2-40B4-BE49-F238E27FC236}">
                <a16:creationId xmlns:a16="http://schemas.microsoft.com/office/drawing/2014/main" id="{25E59FFC-E3CB-EE27-8E65-6D30031D5A1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87600" y="3092656"/>
            <a:ext cx="2159340" cy="2501900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E56B609C-DCE8-46C0-4315-8A51AA2B3572}"/>
              </a:ext>
            </a:extLst>
          </p:cNvPr>
          <p:cNvSpPr>
            <a:spLocks noGrp="1"/>
          </p:cNvSpPr>
          <p:nvPr/>
        </p:nvSpPr>
        <p:spPr>
          <a:xfrm>
            <a:off x="6063342" y="4068781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1016318-D6DF-E01F-5A07-5210E6D50F17}"/>
              </a:ext>
            </a:extLst>
          </p:cNvPr>
          <p:cNvSpPr>
            <a:spLocks noGrp="1"/>
          </p:cNvSpPr>
          <p:nvPr/>
        </p:nvSpPr>
        <p:spPr>
          <a:xfrm>
            <a:off x="8877300" y="4072435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47A534A-3955-256F-8810-CB7F3A212C79}"/>
              </a:ext>
            </a:extLst>
          </p:cNvPr>
          <p:cNvSpPr>
            <a:spLocks noGrp="1"/>
          </p:cNvSpPr>
          <p:nvPr/>
        </p:nvSpPr>
        <p:spPr>
          <a:xfrm>
            <a:off x="11661210" y="4072434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297BE17-1171-6ACA-CA39-030D281F11DA}"/>
              </a:ext>
            </a:extLst>
          </p:cNvPr>
          <p:cNvSpPr>
            <a:spLocks noGrp="1"/>
          </p:cNvSpPr>
          <p:nvPr/>
        </p:nvSpPr>
        <p:spPr>
          <a:xfrm>
            <a:off x="14468987" y="4068780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6" name="TextBox 25">
            <a:extLst>
              <a:ext uri="{FF2B5EF4-FFF2-40B4-BE49-F238E27FC236}">
                <a16:creationId xmlns:a16="http://schemas.microsoft.com/office/drawing/2014/main" id="{B07581BF-DBE5-ABFA-306A-85E63C95ED43}"/>
              </a:ext>
            </a:extLst>
          </p:cNvPr>
          <p:cNvSpPr txBox="1"/>
          <p:nvPr/>
        </p:nvSpPr>
        <p:spPr>
          <a:xfrm>
            <a:off x="4312029" y="3998331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판정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1A3EB3A-C14F-CEE1-06A3-FC27EDDE47F2}"/>
              </a:ext>
            </a:extLst>
          </p:cNvPr>
          <p:cNvSpPr txBox="1"/>
          <p:nvPr/>
        </p:nvSpPr>
        <p:spPr>
          <a:xfrm>
            <a:off x="4240335" y="4610256"/>
            <a:ext cx="1509804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128B6E9-3BBB-8229-28A6-41F6DD29CAD9}"/>
              </a:ext>
            </a:extLst>
          </p:cNvPr>
          <p:cNvSpPr txBox="1"/>
          <p:nvPr/>
        </p:nvSpPr>
        <p:spPr>
          <a:xfrm>
            <a:off x="4673938" y="3274017"/>
            <a:ext cx="7509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  <a:endParaRPr lang="ko-KR" altLang="en-US" dirty="0"/>
          </a:p>
        </p:txBody>
      </p:sp>
      <p:sp>
        <p:nvSpPr>
          <p:cNvPr id="115" name="TextBox 25">
            <a:extLst>
              <a:ext uri="{FF2B5EF4-FFF2-40B4-BE49-F238E27FC236}">
                <a16:creationId xmlns:a16="http://schemas.microsoft.com/office/drawing/2014/main" id="{02B26D58-964F-7246-ED98-B01A02652383}"/>
              </a:ext>
            </a:extLst>
          </p:cNvPr>
          <p:cNvSpPr txBox="1"/>
          <p:nvPr/>
        </p:nvSpPr>
        <p:spPr>
          <a:xfrm>
            <a:off x="6929102" y="3980730"/>
            <a:ext cx="1724778" cy="35114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질의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C993807-A3FD-CA8B-53EB-7D5665A4A02A}"/>
              </a:ext>
            </a:extLst>
          </p:cNvPr>
          <p:cNvSpPr txBox="1"/>
          <p:nvPr/>
        </p:nvSpPr>
        <p:spPr>
          <a:xfrm>
            <a:off x="6722019" y="4592655"/>
            <a:ext cx="207604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질문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3E78B3E-B7F8-225F-2CB7-F2D6BBAB16BB}"/>
              </a:ext>
            </a:extLst>
          </p:cNvPr>
          <p:cNvSpPr txBox="1"/>
          <p:nvPr/>
        </p:nvSpPr>
        <p:spPr>
          <a:xfrm>
            <a:off x="7463971" y="3256416"/>
            <a:ext cx="6894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  <a:endParaRPr lang="ko-KR" altLang="en-US" dirty="0"/>
          </a:p>
        </p:txBody>
      </p:sp>
      <p:sp>
        <p:nvSpPr>
          <p:cNvPr id="123" name="TextBox 25">
            <a:extLst>
              <a:ext uri="{FF2B5EF4-FFF2-40B4-BE49-F238E27FC236}">
                <a16:creationId xmlns:a16="http://schemas.microsoft.com/office/drawing/2014/main" id="{AC067D5D-FF58-B51B-F056-4CA41E482B40}"/>
              </a:ext>
            </a:extLst>
          </p:cNvPr>
          <p:cNvSpPr txBox="1"/>
          <p:nvPr/>
        </p:nvSpPr>
        <p:spPr>
          <a:xfrm>
            <a:off x="9915509" y="3987286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혼합 검색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6CB6280-CC5C-AC6B-9575-87C189DA1AE4}"/>
              </a:ext>
            </a:extLst>
          </p:cNvPr>
          <p:cNvSpPr txBox="1"/>
          <p:nvPr/>
        </p:nvSpPr>
        <p:spPr>
          <a:xfrm>
            <a:off x="9441433" y="4569697"/>
            <a:ext cx="2293367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KURE-v1+BM25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기관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 필터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0A37CD4-BD81-C660-D6B9-F13D9E145018}"/>
              </a:ext>
            </a:extLst>
          </p:cNvPr>
          <p:cNvSpPr txBox="1"/>
          <p:nvPr/>
        </p:nvSpPr>
        <p:spPr>
          <a:xfrm>
            <a:off x="10277418" y="3262972"/>
            <a:ext cx="7237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  <a:endParaRPr lang="ko-KR" altLang="en-US" dirty="0"/>
          </a:p>
        </p:txBody>
      </p:sp>
      <p:sp>
        <p:nvSpPr>
          <p:cNvPr id="131" name="TextBox 25">
            <a:extLst>
              <a:ext uri="{FF2B5EF4-FFF2-40B4-BE49-F238E27FC236}">
                <a16:creationId xmlns:a16="http://schemas.microsoft.com/office/drawing/2014/main" id="{7D9F23E3-E7AA-635E-7262-CB2D1E44879D}"/>
              </a:ext>
            </a:extLst>
          </p:cNvPr>
          <p:cNvSpPr txBox="1"/>
          <p:nvPr/>
        </p:nvSpPr>
        <p:spPr>
          <a:xfrm>
            <a:off x="12671866" y="3987286"/>
            <a:ext cx="1366417" cy="3739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EXAONE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2D27618-F9B1-90B4-5C00-3CF1D4EE3159}"/>
              </a:ext>
            </a:extLst>
          </p:cNvPr>
          <p:cNvSpPr txBox="1"/>
          <p:nvPr/>
        </p:nvSpPr>
        <p:spPr>
          <a:xfrm>
            <a:off x="12279823" y="4581587"/>
            <a:ext cx="215934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4.0 32B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Reasoning mode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2B764FD-55F1-865C-3BB1-8976F6584674}"/>
              </a:ext>
            </a:extLst>
          </p:cNvPr>
          <p:cNvSpPr txBox="1"/>
          <p:nvPr/>
        </p:nvSpPr>
        <p:spPr>
          <a:xfrm>
            <a:off x="13033775" y="3262972"/>
            <a:ext cx="6822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  <a:endParaRPr lang="ko-KR" altLang="en-US" dirty="0"/>
          </a:p>
        </p:txBody>
      </p:sp>
      <p:sp>
        <p:nvSpPr>
          <p:cNvPr id="139" name="TextBox 25">
            <a:extLst>
              <a:ext uri="{FF2B5EF4-FFF2-40B4-BE49-F238E27FC236}">
                <a16:creationId xmlns:a16="http://schemas.microsoft.com/office/drawing/2014/main" id="{3F6F5220-0795-2196-91D5-4631DD3A48BC}"/>
              </a:ext>
            </a:extLst>
          </p:cNvPr>
          <p:cNvSpPr txBox="1"/>
          <p:nvPr/>
        </p:nvSpPr>
        <p:spPr>
          <a:xfrm>
            <a:off x="15401042" y="3987286"/>
            <a:ext cx="1544898" cy="31769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보고서 조립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FCD180F-3DF0-F970-6D97-B65D71866264}"/>
              </a:ext>
            </a:extLst>
          </p:cNvPr>
          <p:cNvSpPr txBox="1"/>
          <p:nvPr/>
        </p:nvSpPr>
        <p:spPr>
          <a:xfrm>
            <a:off x="15234536" y="4600196"/>
            <a:ext cx="1801628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문장별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[1]~[5]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각주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1F79CDC-A955-C03F-4443-26CF4F80F7FF}"/>
              </a:ext>
            </a:extLst>
          </p:cNvPr>
          <p:cNvSpPr txBox="1"/>
          <p:nvPr/>
        </p:nvSpPr>
        <p:spPr>
          <a:xfrm>
            <a:off x="15853175" y="3262972"/>
            <a:ext cx="6822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06</a:t>
            </a:r>
            <a:endParaRPr lang="ko-KR" altLang="en-US" dirty="0"/>
          </a:p>
        </p:txBody>
      </p:sp>
      <p:pic>
        <p:nvPicPr>
          <p:cNvPr id="151" name="Picture 15">
            <a:extLst>
              <a:ext uri="{FF2B5EF4-FFF2-40B4-BE49-F238E27FC236}">
                <a16:creationId xmlns:a16="http://schemas.microsoft.com/office/drawing/2014/main" id="{CF6775AF-A017-17AA-19E7-11671004009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9308" y="6233674"/>
            <a:ext cx="7727632" cy="2206625"/>
          </a:xfrm>
          <a:prstGeom prst="rect">
            <a:avLst/>
          </a:prstGeom>
        </p:spPr>
      </p:pic>
      <p:sp>
        <p:nvSpPr>
          <p:cNvPr id="153" name="TextBox 25">
            <a:extLst>
              <a:ext uri="{FF2B5EF4-FFF2-40B4-BE49-F238E27FC236}">
                <a16:creationId xmlns:a16="http://schemas.microsoft.com/office/drawing/2014/main" id="{59AE93C7-CC62-816F-1D46-B1B9B5144FAD}"/>
              </a:ext>
            </a:extLst>
          </p:cNvPr>
          <p:cNvSpPr txBox="1"/>
          <p:nvPr/>
        </p:nvSpPr>
        <p:spPr>
          <a:xfrm>
            <a:off x="9813392" y="6716928"/>
            <a:ext cx="2239269" cy="4255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LLM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 제한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AA58C61-B811-055C-4CEF-512D4B4A636D}"/>
              </a:ext>
            </a:extLst>
          </p:cNvPr>
          <p:cNvSpPr txBox="1"/>
          <p:nvPr/>
        </p:nvSpPr>
        <p:spPr>
          <a:xfrm>
            <a:off x="9915509" y="7491711"/>
            <a:ext cx="679254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확산값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재계산 없음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청크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인용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부족 표시</a:t>
            </a:r>
          </a:p>
        </p:txBody>
      </p:sp>
      <p:sp>
        <p:nvSpPr>
          <p:cNvPr id="159" name="TextBox 25">
            <a:extLst>
              <a:ext uri="{FF2B5EF4-FFF2-40B4-BE49-F238E27FC236}">
                <a16:creationId xmlns:a16="http://schemas.microsoft.com/office/drawing/2014/main" id="{C05E0981-2F6D-FD94-8AA9-B178C998DA12}"/>
              </a:ext>
            </a:extLst>
          </p:cNvPr>
          <p:cNvSpPr txBox="1"/>
          <p:nvPr/>
        </p:nvSpPr>
        <p:spPr>
          <a:xfrm>
            <a:off x="7951898" y="8614684"/>
            <a:ext cx="2384203" cy="5178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8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상위 </a:t>
            </a:r>
            <a:r>
              <a:rPr lang="en-US" altLang="ko-KR" sz="28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5</a:t>
            </a:r>
            <a:r>
              <a:rPr lang="ko-KR" altLang="en-US" sz="2800" b="1" i="0" u="none" strike="noStrike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개 </a:t>
            </a:r>
            <a:r>
              <a:rPr lang="ko-KR" altLang="en-US" sz="2800" b="1" i="0" u="none" strike="noStrike" dirty="0" err="1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청크</a:t>
            </a:r>
            <a:endParaRPr lang="ko-KR" altLang="en-US" sz="2800" b="1" i="0" u="none" strike="noStrike" dirty="0">
              <a:solidFill>
                <a:srgbClr val="FAA95A"/>
              </a:solidFill>
              <a:latin typeface="210 OmniGothic 050" panose="020B0600000101010101" charset="-127"/>
              <a:ea typeface="210 OmniGothic 050" panose="020B0600000101010101" charset="-127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773482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CFD1-22F0-003F-640E-F11E0025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E703CC-73F2-6B27-E019-09F922D07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4C89C45-08F7-5019-DEAA-141B92956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BC0608A-2B4A-8CBC-740B-8FEFF0854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227CD594-82CA-09C6-096F-F7655FADE97D}"/>
              </a:ext>
            </a:extLst>
          </p:cNvPr>
          <p:cNvSpPr txBox="1"/>
          <p:nvPr/>
        </p:nvSpPr>
        <p:spPr>
          <a:xfrm>
            <a:off x="825500" y="469900"/>
            <a:ext cx="8547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보고서 생성 절차와 출력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01389F-E2CA-D7B2-D6A9-3CD98FAF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B8E3C8CD-DBA4-B023-07AF-CAA5DFBA8BDE}"/>
              </a:ext>
            </a:extLst>
          </p:cNvPr>
          <p:cNvSpPr txBox="1"/>
          <p:nvPr/>
        </p:nvSpPr>
        <p:spPr>
          <a:xfrm>
            <a:off x="5470525" y="1800579"/>
            <a:ext cx="734695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 시점 기준 </a:t>
            </a:r>
            <a:r>
              <a:rPr lang="en-US" altLang="ko-KR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회 생성</a:t>
            </a:r>
            <a:r>
              <a:rPr lang="en-US" altLang="ko-KR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, </a:t>
            </a: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현장 분석과 임무를 분리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DD1DCF7-FA13-6342-F215-A7A7E0662A1E}"/>
              </a:ext>
            </a:extLst>
          </p:cNvPr>
          <p:cNvSpPr/>
          <p:nvPr/>
        </p:nvSpPr>
        <p:spPr>
          <a:xfrm>
            <a:off x="5143500" y="7995827"/>
            <a:ext cx="8001000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318F7-F08D-4B9A-937C-A041D390B60E}"/>
              </a:ext>
            </a:extLst>
          </p:cNvPr>
          <p:cNvSpPr txBox="1"/>
          <p:nvPr/>
        </p:nvSpPr>
        <p:spPr>
          <a:xfrm>
            <a:off x="5541580" y="8217116"/>
            <a:ext cx="72048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출력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: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 수치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우선 임무 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출처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1873A030-B31D-D612-9517-538BE1278713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908" y="2799785"/>
            <a:ext cx="7517492" cy="4705915"/>
          </a:xfrm>
          <a:prstGeom prst="rect">
            <a:avLst/>
          </a:prstGeom>
        </p:spPr>
      </p:pic>
      <p:pic>
        <p:nvPicPr>
          <p:cNvPr id="13" name="Picture 15">
            <a:extLst>
              <a:ext uri="{FF2B5EF4-FFF2-40B4-BE49-F238E27FC236}">
                <a16:creationId xmlns:a16="http://schemas.microsoft.com/office/drawing/2014/main" id="{5C52AE26-16BE-EC13-2678-AA3F9358874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3602" y="2799785"/>
            <a:ext cx="7517492" cy="4705915"/>
          </a:xfrm>
          <a:prstGeom prst="rect">
            <a:avLst/>
          </a:prstGeom>
        </p:spPr>
      </p:pic>
      <p:sp>
        <p:nvSpPr>
          <p:cNvPr id="14" name="TextBox 25">
            <a:extLst>
              <a:ext uri="{FF2B5EF4-FFF2-40B4-BE49-F238E27FC236}">
                <a16:creationId xmlns:a16="http://schemas.microsoft.com/office/drawing/2014/main" id="{EBF89DD4-50BC-47C5-4FCD-533716DB598C}"/>
              </a:ext>
            </a:extLst>
          </p:cNvPr>
          <p:cNvSpPr txBox="1"/>
          <p:nvPr/>
        </p:nvSpPr>
        <p:spPr>
          <a:xfrm>
            <a:off x="1524000" y="3111499"/>
            <a:ext cx="1996508" cy="47992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3000" b="1" spc="-100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A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현장 분석</a:t>
            </a: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2D3D7DC2-79CE-6812-43CD-FD75D0FE7370}"/>
              </a:ext>
            </a:extLst>
          </p:cNvPr>
          <p:cNvSpPr txBox="1"/>
          <p:nvPr/>
        </p:nvSpPr>
        <p:spPr>
          <a:xfrm>
            <a:off x="10163628" y="3111499"/>
            <a:ext cx="2286000" cy="46705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3000" b="1" spc="-100" dirty="0">
                <a:solidFill>
                  <a:srgbClr val="FAA95A"/>
                </a:solidFill>
                <a:latin typeface="210 OmniGothic 050" panose="020B0600000101010101" charset="-127"/>
                <a:ea typeface="210 OmniGothic 050" panose="020B0600000101010101" charset="-127"/>
                <a:cs typeface="Pretendard Bold"/>
              </a:rPr>
              <a:t>B</a:t>
            </a:r>
            <a:r>
              <a:rPr 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30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역할별 임무</a:t>
            </a:r>
            <a:endParaRPr lang="en-US" sz="3000" b="1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74DCBA-F12E-65A5-F07B-338E44FF63F0}"/>
              </a:ext>
            </a:extLst>
          </p:cNvPr>
          <p:cNvSpPr txBox="1"/>
          <p:nvPr/>
        </p:nvSpPr>
        <p:spPr>
          <a:xfrm>
            <a:off x="14557432" y="3937041"/>
            <a:ext cx="225697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진입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보호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244630-A7EF-C23F-0CE8-F2F4FD0560EA}"/>
              </a:ext>
            </a:extLst>
          </p:cNvPr>
          <p:cNvSpPr txBox="1"/>
          <p:nvPr/>
        </p:nvSpPr>
        <p:spPr>
          <a:xfrm>
            <a:off x="10882241" y="6751793"/>
            <a:ext cx="52676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0" i="0" u="none" strike="noStrike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총 </a:t>
            </a:r>
            <a:r>
              <a:rPr lang="en-US" altLang="ko-KR" sz="2500" b="0" i="0" u="none" strike="noStrike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10</a:t>
            </a:r>
            <a:r>
              <a:rPr lang="ko-KR" altLang="en-US" sz="2500" b="0" i="0" u="none" strike="noStrike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 질의  </a:t>
            </a:r>
            <a:r>
              <a:rPr lang="en-US" altLang="ko-KR" sz="2500" b="0" i="0" u="none" strike="noStrike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·  </a:t>
            </a:r>
            <a:r>
              <a:rPr lang="ko-KR" altLang="en-US" sz="2500" b="0" i="0" u="none" strike="noStrike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문장별 근거 조항 각주</a:t>
            </a:r>
            <a:endParaRPr lang="ko-KR" altLang="en-US" sz="2500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7228F3A-D821-A81F-EAAF-F36EAB1F98BC}"/>
              </a:ext>
            </a:extLst>
          </p:cNvPr>
          <p:cNvSpPr/>
          <p:nvPr/>
        </p:nvSpPr>
        <p:spPr>
          <a:xfrm>
            <a:off x="10163628" y="3869923"/>
            <a:ext cx="2007053" cy="606408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E7CF3A-7A2E-758A-9FB1-E32893330DFD}"/>
              </a:ext>
            </a:extLst>
          </p:cNvPr>
          <p:cNvSpPr txBox="1"/>
          <p:nvPr/>
        </p:nvSpPr>
        <p:spPr>
          <a:xfrm>
            <a:off x="10142737" y="3901263"/>
            <a:ext cx="200705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FF </a:t>
            </a:r>
            <a:r>
              <a:rPr lang="ko-KR" altLang="en-US" sz="2500" b="1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소방요원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76833-8121-CCFC-629B-16EC485AE646}"/>
              </a:ext>
            </a:extLst>
          </p:cNvPr>
          <p:cNvSpPr txBox="1"/>
          <p:nvPr/>
        </p:nvSpPr>
        <p:spPr>
          <a:xfrm>
            <a:off x="1451825" y="3819957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RAG 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없음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67D824-8577-647F-A72B-525EA6F2E9B9}"/>
              </a:ext>
            </a:extLst>
          </p:cNvPr>
          <p:cNvSpPr txBox="1"/>
          <p:nvPr/>
        </p:nvSpPr>
        <p:spPr>
          <a:xfrm>
            <a:off x="1451824" y="4425563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위치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시각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51DBC3-2C12-6391-4B92-DA7682E44536}"/>
              </a:ext>
            </a:extLst>
          </p:cNvPr>
          <p:cNvSpPr txBox="1"/>
          <p:nvPr/>
        </p:nvSpPr>
        <p:spPr>
          <a:xfrm>
            <a:off x="1451823" y="4981248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권고 단계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7678B-BEEF-B1CF-0B57-CB1F1B36FDFA}"/>
              </a:ext>
            </a:extLst>
          </p:cNvPr>
          <p:cNvSpPr txBox="1"/>
          <p:nvPr/>
        </p:nvSpPr>
        <p:spPr>
          <a:xfrm>
            <a:off x="1451822" y="5576335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방향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속도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166C6D-5451-1824-8C04-9E58A0228FF6}"/>
              </a:ext>
            </a:extLst>
          </p:cNvPr>
          <p:cNvSpPr txBox="1"/>
          <p:nvPr/>
        </p:nvSpPr>
        <p:spPr>
          <a:xfrm>
            <a:off x="1416745" y="6218883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 도달시간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 통과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2410EC-43C1-AA78-8601-5930E00BA393}"/>
              </a:ext>
            </a:extLst>
          </p:cNvPr>
          <p:cNvSpPr txBox="1"/>
          <p:nvPr/>
        </p:nvSpPr>
        <p:spPr>
          <a:xfrm>
            <a:off x="1451821" y="6852749"/>
            <a:ext cx="344276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LLM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 수치 재계산 금지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ED315860-8036-19B7-2538-5F39E603C273}"/>
              </a:ext>
            </a:extLst>
          </p:cNvPr>
          <p:cNvSpPr/>
          <p:nvPr/>
        </p:nvSpPr>
        <p:spPr>
          <a:xfrm>
            <a:off x="10160879" y="4819821"/>
            <a:ext cx="2007053" cy="606408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A68EF88-0846-EF08-43E9-8EBF4204E62E}"/>
              </a:ext>
            </a:extLst>
          </p:cNvPr>
          <p:cNvSpPr/>
          <p:nvPr/>
        </p:nvSpPr>
        <p:spPr>
          <a:xfrm>
            <a:off x="10160879" y="5769734"/>
            <a:ext cx="2007053" cy="606408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A26619-4D88-C129-D0CD-CB9BDCE41EB2}"/>
              </a:ext>
            </a:extLst>
          </p:cNvPr>
          <p:cNvSpPr txBox="1"/>
          <p:nvPr/>
        </p:nvSpPr>
        <p:spPr>
          <a:xfrm>
            <a:off x="10180484" y="4851176"/>
            <a:ext cx="200705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RW </a:t>
            </a:r>
            <a:r>
              <a:rPr lang="ko-KR" altLang="en-US" sz="2500" b="1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구조요원</a:t>
            </a:r>
            <a:endParaRPr lang="ko-KR" altLang="en-US" sz="2500" b="1" spc="-100" dirty="0">
              <a:solidFill>
                <a:schemeClr val="bg1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7967E0-E9DD-8A0B-5447-94ABA98799D0}"/>
              </a:ext>
            </a:extLst>
          </p:cNvPr>
          <p:cNvSpPr txBox="1"/>
          <p:nvPr/>
        </p:nvSpPr>
        <p:spPr>
          <a:xfrm>
            <a:off x="10139108" y="5801895"/>
            <a:ext cx="200705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GO </a:t>
            </a:r>
            <a:r>
              <a:rPr lang="ko-KR" altLang="en-US" sz="2500" b="1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공무원</a:t>
            </a:r>
            <a:endParaRPr lang="ko-KR" altLang="en-US" sz="2500" b="1" spc="-100" dirty="0">
              <a:solidFill>
                <a:schemeClr val="bg1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6DB82E-1A29-1496-7515-4DF00B0BFC81}"/>
              </a:ext>
            </a:extLst>
          </p:cNvPr>
          <p:cNvSpPr txBox="1"/>
          <p:nvPr/>
        </p:nvSpPr>
        <p:spPr>
          <a:xfrm>
            <a:off x="12413988" y="3942741"/>
            <a:ext cx="182237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질의</a:t>
            </a: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RAG</a:t>
            </a:r>
            <a:endParaRPr lang="ko-KR" altLang="en-US" sz="2099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5B71649-6F73-1752-1ACB-689B02ACFCCE}"/>
              </a:ext>
            </a:extLst>
          </p:cNvPr>
          <p:cNvSpPr txBox="1"/>
          <p:nvPr/>
        </p:nvSpPr>
        <p:spPr>
          <a:xfrm>
            <a:off x="12413988" y="4909974"/>
            <a:ext cx="182237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질의</a:t>
            </a: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RAG</a:t>
            </a:r>
            <a:endParaRPr lang="ko-KR" altLang="en-US" sz="2099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295B880-4032-2E91-C254-EF5F2250A39B}"/>
              </a:ext>
            </a:extLst>
          </p:cNvPr>
          <p:cNvSpPr txBox="1"/>
          <p:nvPr/>
        </p:nvSpPr>
        <p:spPr>
          <a:xfrm>
            <a:off x="12413988" y="5832254"/>
            <a:ext cx="182237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4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질의</a:t>
            </a:r>
            <a:r>
              <a:rPr lang="en-US" altLang="ko-KR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RAG</a:t>
            </a:r>
            <a:endParaRPr lang="ko-KR" altLang="en-US" sz="2099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1A84AB-4D2D-3D81-91FB-0A4B77265156}"/>
              </a:ext>
            </a:extLst>
          </p:cNvPr>
          <p:cNvSpPr txBox="1"/>
          <p:nvPr/>
        </p:nvSpPr>
        <p:spPr>
          <a:xfrm>
            <a:off x="14557432" y="4922734"/>
            <a:ext cx="225697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구조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이송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4428AD-C280-5D77-BC2C-1B6B816CC763}"/>
              </a:ext>
            </a:extLst>
          </p:cNvPr>
          <p:cNvSpPr txBox="1"/>
          <p:nvPr/>
        </p:nvSpPr>
        <p:spPr>
          <a:xfrm>
            <a:off x="14557432" y="5859685"/>
            <a:ext cx="225697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자원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행정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958868A-9B22-6D36-89D8-4908DE4DA698}"/>
              </a:ext>
            </a:extLst>
          </p:cNvPr>
          <p:cNvSpPr>
            <a:spLocks noGrp="1"/>
          </p:cNvSpPr>
          <p:nvPr/>
        </p:nvSpPr>
        <p:spPr>
          <a:xfrm>
            <a:off x="8882063" y="4881561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 dirty="0">
                <a:solidFill>
                  <a:srgbClr val="FFAA55"/>
                </a:solidFill>
                <a:latin typeface="210 OmniGothic 050" panose="020B0600000101010101" charset="-127"/>
                <a:ea typeface="210 OmniGothic 050" panose="020B0600000101010101" charset="-127"/>
                <a:cs typeface="Malgun Gothic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258572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D54E-45A2-CB03-3364-1A353CA3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2E5B597-8022-0FE6-A2EC-43E73BA93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747AEB9-19B2-EECA-AE58-69CCB24D7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1298245-6F86-E50F-7EE3-AF51D2EA7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0E7A4449-ED49-D82B-4B31-368F12BD3184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5.3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표출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491EC-CF8B-5142-BC5B-1C545976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09CB808F-6BB6-6F2B-12E6-081750210FCA}"/>
              </a:ext>
            </a:extLst>
          </p:cNvPr>
          <p:cNvSpPr txBox="1"/>
          <p:nvPr/>
        </p:nvSpPr>
        <p:spPr>
          <a:xfrm>
            <a:off x="5911850" y="1800579"/>
            <a:ext cx="646430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상황과 임무를 같은 화면에서 교차 확인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6FDCEE-4EB4-3F2A-7F93-829F2B0705D6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907" y="2799785"/>
            <a:ext cx="9651093" cy="5163115"/>
          </a:xfrm>
          <a:prstGeom prst="rect">
            <a:avLst/>
          </a:prstGeom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F6FE257A-1CF6-6634-8F9E-3F90EE150CE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9747" y="2799785"/>
            <a:ext cx="6181347" cy="51631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D4657FE-AA60-0AAB-796B-B9BD7BA1EC45}"/>
              </a:ext>
            </a:extLst>
          </p:cNvPr>
          <p:cNvSpPr txBox="1"/>
          <p:nvPr/>
        </p:nvSpPr>
        <p:spPr>
          <a:xfrm>
            <a:off x="12912622" y="3144743"/>
            <a:ext cx="2538599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역할별 임무 패널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3916073-FBCC-C376-953F-3044C1FB1E77}"/>
              </a:ext>
            </a:extLst>
          </p:cNvPr>
          <p:cNvGrpSpPr/>
          <p:nvPr/>
        </p:nvGrpSpPr>
        <p:grpSpPr>
          <a:xfrm>
            <a:off x="11277600" y="3785697"/>
            <a:ext cx="2007052" cy="511353"/>
            <a:chOff x="10363537" y="7624573"/>
            <a:chExt cx="2007052" cy="511353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839F95CA-C317-4CA9-8CA2-7BD083899941}"/>
                </a:ext>
              </a:extLst>
            </p:cNvPr>
            <p:cNvSpPr/>
            <p:nvPr/>
          </p:nvSpPr>
          <p:spPr>
            <a:xfrm>
              <a:off x="10591800" y="7624573"/>
              <a:ext cx="1550527" cy="511353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A8106F-F62A-2299-0433-8D952CDCF830}"/>
                </a:ext>
              </a:extLst>
            </p:cNvPr>
            <p:cNvSpPr txBox="1"/>
            <p:nvPr/>
          </p:nvSpPr>
          <p:spPr>
            <a:xfrm>
              <a:off x="10363537" y="7655572"/>
              <a:ext cx="2007052" cy="44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20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FF </a:t>
              </a:r>
              <a:r>
                <a:rPr lang="ko-KR" altLang="en-US" sz="20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소방요원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547AA0C-0A0D-69F6-8D80-EFF4DA18F2BD}"/>
              </a:ext>
            </a:extLst>
          </p:cNvPr>
          <p:cNvGrpSpPr/>
          <p:nvPr/>
        </p:nvGrpSpPr>
        <p:grpSpPr>
          <a:xfrm>
            <a:off x="13182600" y="3785697"/>
            <a:ext cx="2007052" cy="511353"/>
            <a:chOff x="10363537" y="7624573"/>
            <a:chExt cx="2007052" cy="511353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DCBDCB7E-139E-EB55-CDA1-680D34664CB9}"/>
                </a:ext>
              </a:extLst>
            </p:cNvPr>
            <p:cNvSpPr/>
            <p:nvPr/>
          </p:nvSpPr>
          <p:spPr>
            <a:xfrm>
              <a:off x="10591800" y="7624573"/>
              <a:ext cx="1550527" cy="511353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9AC4045-803C-8A2E-ADFF-4BD1E2C9255F}"/>
                </a:ext>
              </a:extLst>
            </p:cNvPr>
            <p:cNvSpPr txBox="1"/>
            <p:nvPr/>
          </p:nvSpPr>
          <p:spPr>
            <a:xfrm>
              <a:off x="10363537" y="7655572"/>
              <a:ext cx="2007052" cy="44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20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RW </a:t>
              </a:r>
              <a:r>
                <a:rPr lang="ko-KR" altLang="en-US" sz="20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구조요원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F96D6BE-B19E-E873-926D-CF1E54222061}"/>
              </a:ext>
            </a:extLst>
          </p:cNvPr>
          <p:cNvGrpSpPr/>
          <p:nvPr/>
        </p:nvGrpSpPr>
        <p:grpSpPr>
          <a:xfrm>
            <a:off x="15082521" y="3784547"/>
            <a:ext cx="2007052" cy="511353"/>
            <a:chOff x="10363537" y="7624573"/>
            <a:chExt cx="2007052" cy="511353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CB6CFE1-EA5D-006E-4FA1-172B592E4979}"/>
                </a:ext>
              </a:extLst>
            </p:cNvPr>
            <p:cNvSpPr/>
            <p:nvPr/>
          </p:nvSpPr>
          <p:spPr>
            <a:xfrm>
              <a:off x="10591800" y="7624573"/>
              <a:ext cx="1550527" cy="511353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BB2AA47-06D0-4A88-8C2E-8EAA54711E8C}"/>
                </a:ext>
              </a:extLst>
            </p:cNvPr>
            <p:cNvSpPr txBox="1"/>
            <p:nvPr/>
          </p:nvSpPr>
          <p:spPr>
            <a:xfrm>
              <a:off x="10363537" y="7655572"/>
              <a:ext cx="2007052" cy="44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20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GO </a:t>
              </a:r>
              <a:r>
                <a:rPr lang="ko-KR" altLang="en-US" sz="20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공무원</a:t>
              </a:r>
            </a:p>
          </p:txBody>
        </p:sp>
      </p:grpSp>
      <p:pic>
        <p:nvPicPr>
          <p:cNvPr id="51" name="Picture 13">
            <a:extLst>
              <a:ext uri="{FF2B5EF4-FFF2-40B4-BE49-F238E27FC236}">
                <a16:creationId xmlns:a16="http://schemas.microsoft.com/office/drawing/2014/main" id="{25BDD8CD-5318-2014-3B30-287715D3FD34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05863" y="4625592"/>
            <a:ext cx="5355448" cy="66309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5210AD1-1206-6E7A-91D8-A974673E4466}"/>
              </a:ext>
            </a:extLst>
          </p:cNvPr>
          <p:cNvSpPr txBox="1"/>
          <p:nvPr/>
        </p:nvSpPr>
        <p:spPr>
          <a:xfrm>
            <a:off x="11741592" y="4715619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우선 임무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01  [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1]</a:t>
            </a:r>
          </a:p>
        </p:txBody>
      </p:sp>
      <p:pic>
        <p:nvPicPr>
          <p:cNvPr id="56" name="Picture 13">
            <a:extLst>
              <a:ext uri="{FF2B5EF4-FFF2-40B4-BE49-F238E27FC236}">
                <a16:creationId xmlns:a16="http://schemas.microsoft.com/office/drawing/2014/main" id="{6E0F9A50-B484-3224-13A4-321D6C71E6E9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05863" y="5543600"/>
            <a:ext cx="5355448" cy="66309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ACD14C3-4C52-421A-CFCF-925E3000A744}"/>
              </a:ext>
            </a:extLst>
          </p:cNvPr>
          <p:cNvSpPr txBox="1"/>
          <p:nvPr/>
        </p:nvSpPr>
        <p:spPr>
          <a:xfrm>
            <a:off x="11741592" y="5633627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우선 임무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01  [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2]</a:t>
            </a:r>
          </a:p>
        </p:txBody>
      </p:sp>
      <p:pic>
        <p:nvPicPr>
          <p:cNvPr id="61" name="Picture 13">
            <a:extLst>
              <a:ext uri="{FF2B5EF4-FFF2-40B4-BE49-F238E27FC236}">
                <a16:creationId xmlns:a16="http://schemas.microsoft.com/office/drawing/2014/main" id="{D05DD1B9-CA18-8A80-66F0-462DC423BEC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09171" y="6461608"/>
            <a:ext cx="5355448" cy="66309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501CE52-F63D-4642-F0C5-DB04F6E97FA7}"/>
              </a:ext>
            </a:extLst>
          </p:cNvPr>
          <p:cNvSpPr txBox="1"/>
          <p:nvPr/>
        </p:nvSpPr>
        <p:spPr>
          <a:xfrm>
            <a:off x="11744900" y="6551635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우선 임무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01  [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0635C2-0C42-CA0B-0011-6298F7D05B3F}"/>
              </a:ext>
            </a:extLst>
          </p:cNvPr>
          <p:cNvSpPr txBox="1"/>
          <p:nvPr/>
        </p:nvSpPr>
        <p:spPr>
          <a:xfrm>
            <a:off x="13356556" y="7341278"/>
            <a:ext cx="2029262" cy="36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500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문서명 </a:t>
            </a:r>
            <a:r>
              <a:rPr lang="en-US" altLang="ko-KR" sz="1500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500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조항 각주</a:t>
            </a:r>
            <a:endParaRPr lang="ko-KR" altLang="en-US" sz="1500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71" name="Picture 13">
            <a:extLst>
              <a:ext uri="{FF2B5EF4-FFF2-40B4-BE49-F238E27FC236}">
                <a16:creationId xmlns:a16="http://schemas.microsoft.com/office/drawing/2014/main" id="{299F72AC-7DF4-257E-B33A-11C68CE30C1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2172" y="3119396"/>
            <a:ext cx="6181628" cy="4581981"/>
          </a:xfrm>
          <a:prstGeom prst="rect">
            <a:avLst/>
          </a:prstGeom>
        </p:spPr>
      </p:pic>
      <p:pic>
        <p:nvPicPr>
          <p:cNvPr id="74" name="Picture 13">
            <a:extLst>
              <a:ext uri="{FF2B5EF4-FFF2-40B4-BE49-F238E27FC236}">
                <a16:creationId xmlns:a16="http://schemas.microsoft.com/office/drawing/2014/main" id="{2DC12C27-83ED-2426-2C9D-A264B639E28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2939" y="3144743"/>
            <a:ext cx="2080490" cy="1312957"/>
          </a:xfrm>
          <a:prstGeom prst="rect">
            <a:avLst/>
          </a:prstGeom>
        </p:spPr>
      </p:pic>
      <p:pic>
        <p:nvPicPr>
          <p:cNvPr id="82" name="Picture 13">
            <a:extLst>
              <a:ext uri="{FF2B5EF4-FFF2-40B4-BE49-F238E27FC236}">
                <a16:creationId xmlns:a16="http://schemas.microsoft.com/office/drawing/2014/main" id="{B24D851F-91BE-E7C7-0A50-46AB59BEDB56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2939" y="4766453"/>
            <a:ext cx="2080490" cy="1312957"/>
          </a:xfrm>
          <a:prstGeom prst="rect">
            <a:avLst/>
          </a:prstGeom>
        </p:spPr>
      </p:pic>
      <p:pic>
        <p:nvPicPr>
          <p:cNvPr id="87" name="Picture 13">
            <a:extLst>
              <a:ext uri="{FF2B5EF4-FFF2-40B4-BE49-F238E27FC236}">
                <a16:creationId xmlns:a16="http://schemas.microsoft.com/office/drawing/2014/main" id="{AD6AA637-86F0-F141-59C3-87F8490B475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2939" y="6388163"/>
            <a:ext cx="2080490" cy="131295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8657649D-C25F-FC7C-0E62-3E1AD7EDD52C}"/>
              </a:ext>
            </a:extLst>
          </p:cNvPr>
          <p:cNvSpPr txBox="1"/>
          <p:nvPr/>
        </p:nvSpPr>
        <p:spPr>
          <a:xfrm>
            <a:off x="4879463" y="8293848"/>
            <a:ext cx="2064774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10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상황 계층</a:t>
            </a:r>
            <a:endParaRPr lang="ko-KR" alt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7530A0-6571-8155-3B92-2147567E3841}"/>
              </a:ext>
            </a:extLst>
          </p:cNvPr>
          <p:cNvSpPr txBox="1"/>
          <p:nvPr/>
        </p:nvSpPr>
        <p:spPr>
          <a:xfrm>
            <a:off x="13246010" y="8295850"/>
            <a:ext cx="2064774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임무</a:t>
            </a: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 계층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CBD80A-9957-2EF2-8546-7120B6E27E43}"/>
              </a:ext>
            </a:extLst>
          </p:cNvPr>
          <p:cNvSpPr txBox="1"/>
          <p:nvPr/>
        </p:nvSpPr>
        <p:spPr>
          <a:xfrm>
            <a:off x="3321627" y="4675453"/>
            <a:ext cx="2263684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확산 예측 지도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AAEB5C-68EB-6CA7-171B-914821CFDE94}"/>
              </a:ext>
            </a:extLst>
          </p:cNvPr>
          <p:cNvSpPr txBox="1"/>
          <p:nvPr/>
        </p:nvSpPr>
        <p:spPr>
          <a:xfrm>
            <a:off x="3309132" y="5287765"/>
            <a:ext cx="2263683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도달시각 등고선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시간별 소실 경계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DE3774-8FDE-934C-B96E-D886509751B1}"/>
              </a:ext>
            </a:extLst>
          </p:cNvPr>
          <p:cNvSpPr txBox="1"/>
          <p:nvPr/>
        </p:nvSpPr>
        <p:spPr>
          <a:xfrm>
            <a:off x="8152876" y="3288984"/>
            <a:ext cx="193366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조건위험도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89E9531-2EB5-1DD1-BB5F-54612B978DD8}"/>
              </a:ext>
            </a:extLst>
          </p:cNvPr>
          <p:cNvSpPr txBox="1"/>
          <p:nvPr/>
        </p:nvSpPr>
        <p:spPr>
          <a:xfrm>
            <a:off x="7804908" y="3807077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72 / 100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F1301FE-BAFA-32B9-0513-8B2F5C30C00B}"/>
              </a:ext>
            </a:extLst>
          </p:cNvPr>
          <p:cNvSpPr txBox="1"/>
          <p:nvPr/>
        </p:nvSpPr>
        <p:spPr>
          <a:xfrm>
            <a:off x="7829202" y="4929038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확산속도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D9B8705-17D5-9CB7-0B21-508EB334CE81}"/>
              </a:ext>
            </a:extLst>
          </p:cNvPr>
          <p:cNvSpPr txBox="1"/>
          <p:nvPr/>
        </p:nvSpPr>
        <p:spPr>
          <a:xfrm>
            <a:off x="7809537" y="5406443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ha/h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379C4C2-F031-510B-A5C4-1C931A45535B}"/>
              </a:ext>
            </a:extLst>
          </p:cNvPr>
          <p:cNvSpPr txBox="1"/>
          <p:nvPr/>
        </p:nvSpPr>
        <p:spPr>
          <a:xfrm>
            <a:off x="7788386" y="6548585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 도달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6A6D37D-A37B-480D-BB5D-521C6571CC9E}"/>
              </a:ext>
            </a:extLst>
          </p:cNvPr>
          <p:cNvSpPr txBox="1"/>
          <p:nvPr/>
        </p:nvSpPr>
        <p:spPr>
          <a:xfrm>
            <a:off x="7829489" y="7037784"/>
            <a:ext cx="262959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예상시각</a:t>
            </a:r>
          </a:p>
        </p:txBody>
      </p:sp>
    </p:spTree>
    <p:extLst>
      <p:ext uri="{BB962C8B-B14F-4D97-AF65-F5344CB8AC3E}">
        <p14:creationId xmlns:p14="http://schemas.microsoft.com/office/powerpoint/2010/main" val="291232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AAB1-CB8F-18BE-1500-D299E489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0AB1D26-25EC-A2E0-F190-1E78E2E8C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443403-A46F-9EEB-A538-B5DDA89F5A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DC81C2A-6412-3A94-E846-F52EC8ADB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077C5619-8817-CF11-967D-FEBBBEA0BE21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평가 지표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ECABC7-2518-B95F-8EAE-67C5A8F4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841118CB-FD46-DD62-AE41-17446BA8D974}"/>
              </a:ext>
            </a:extLst>
          </p:cNvPr>
          <p:cNvSpPr txBox="1"/>
          <p:nvPr/>
        </p:nvSpPr>
        <p:spPr>
          <a:xfrm>
            <a:off x="5911850" y="1800579"/>
            <a:ext cx="723265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hold-out 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사건으로 확산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검색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생성을 각각 자동 평가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08D5A8EE-4761-2D03-5395-BEA41455D91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110" y="3074657"/>
            <a:ext cx="5200650" cy="42786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8FC6EF-4732-8218-F16C-7C410D0FE3BC}"/>
              </a:ext>
            </a:extLst>
          </p:cNvPr>
          <p:cNvSpPr txBox="1"/>
          <p:nvPr/>
        </p:nvSpPr>
        <p:spPr>
          <a:xfrm>
            <a:off x="2042410" y="6169777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 경계 ∩ 실측 경계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÷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합집합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8A6E3195-0BC6-4050-84C2-770357F4C0A9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5230" y="3048836"/>
            <a:ext cx="5200650" cy="42786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41D4AD-016F-2EC2-8822-1E6790696586}"/>
              </a:ext>
            </a:extLst>
          </p:cNvPr>
          <p:cNvSpPr txBox="1"/>
          <p:nvPr/>
        </p:nvSpPr>
        <p:spPr>
          <a:xfrm>
            <a:off x="6185103" y="8741939"/>
            <a:ext cx="5980903" cy="454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자동 지표는 대리 지표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—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현장 유효성 입증과 구분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23" name="Picture 15">
            <a:extLst>
              <a:ext uri="{FF2B5EF4-FFF2-40B4-BE49-F238E27FC236}">
                <a16:creationId xmlns:a16="http://schemas.microsoft.com/office/drawing/2014/main" id="{9CD931EF-7AB2-C1FE-0859-6B95D2526A4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5350" y="3048836"/>
            <a:ext cx="5200650" cy="4278643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6F0D3FE-6EF9-BB7A-C26C-3245FCAFD1F6}"/>
              </a:ext>
            </a:extLst>
          </p:cNvPr>
          <p:cNvSpPr/>
          <p:nvPr/>
        </p:nvSpPr>
        <p:spPr>
          <a:xfrm>
            <a:off x="5143500" y="7658100"/>
            <a:ext cx="8001000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052FE6-0B52-4340-5B9D-816F14429432}"/>
              </a:ext>
            </a:extLst>
          </p:cNvPr>
          <p:cNvSpPr txBox="1"/>
          <p:nvPr/>
        </p:nvSpPr>
        <p:spPr>
          <a:xfrm>
            <a:off x="5374095" y="7879389"/>
            <a:ext cx="76029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Ablation  | 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 질의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사건에서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RAG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&gt;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무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RAG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FA2C95-0347-5CC4-90D8-779706D0B086}"/>
              </a:ext>
            </a:extLst>
          </p:cNvPr>
          <p:cNvSpPr txBox="1"/>
          <p:nvPr/>
        </p:nvSpPr>
        <p:spPr>
          <a:xfrm>
            <a:off x="7792530" y="6206731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관련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청크의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누락과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순위 품질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736649-CBDC-7B89-D07E-A7ABE351ECD1}"/>
              </a:ext>
            </a:extLst>
          </p:cNvPr>
          <p:cNvSpPr txBox="1"/>
          <p:nvPr/>
        </p:nvSpPr>
        <p:spPr>
          <a:xfrm>
            <a:off x="13542649" y="6211553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기반 주장과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질문 적합성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931418-E9BA-EE00-D5B1-34A9CB4D0272}"/>
              </a:ext>
            </a:extLst>
          </p:cNvPr>
          <p:cNvSpPr txBox="1"/>
          <p:nvPr/>
        </p:nvSpPr>
        <p:spPr>
          <a:xfrm>
            <a:off x="2652271" y="5163557"/>
            <a:ext cx="14922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≥ 0.50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866483-F51A-F240-70FE-BE7AC7C815AB}"/>
              </a:ext>
            </a:extLst>
          </p:cNvPr>
          <p:cNvSpPr txBox="1"/>
          <p:nvPr/>
        </p:nvSpPr>
        <p:spPr>
          <a:xfrm>
            <a:off x="2679310" y="4381500"/>
            <a:ext cx="14922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206E4C-7DA3-517D-612F-D8CD6D3807FA}"/>
              </a:ext>
            </a:extLst>
          </p:cNvPr>
          <p:cNvSpPr txBox="1"/>
          <p:nvPr/>
        </p:nvSpPr>
        <p:spPr>
          <a:xfrm>
            <a:off x="7877502" y="4354408"/>
            <a:ext cx="276605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Recall@5 · nDCG@5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3BECAF-D6AE-21C9-BCAD-3612652ED05A}"/>
              </a:ext>
            </a:extLst>
          </p:cNvPr>
          <p:cNvSpPr txBox="1"/>
          <p:nvPr/>
        </p:nvSpPr>
        <p:spPr>
          <a:xfrm>
            <a:off x="7836245" y="5472981"/>
            <a:ext cx="267861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Recall@5 ≥ 0.80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5EB810-5632-AF52-09A6-77940F2C0DC9}"/>
              </a:ext>
            </a:extLst>
          </p:cNvPr>
          <p:cNvSpPr txBox="1"/>
          <p:nvPr/>
        </p:nvSpPr>
        <p:spPr>
          <a:xfrm>
            <a:off x="14179549" y="4409260"/>
            <a:ext cx="14922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RAGAS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2B09E9-ED9A-6588-DCA8-7397586E4E30}"/>
              </a:ext>
            </a:extLst>
          </p:cNvPr>
          <p:cNvSpPr txBox="1"/>
          <p:nvPr/>
        </p:nvSpPr>
        <p:spPr>
          <a:xfrm>
            <a:off x="13785848" y="5062205"/>
            <a:ext cx="227965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충실도 ≥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0.90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관련성 ≥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0.80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A3AF3D0-957C-221A-992A-B672CEC1CCFF}"/>
              </a:ext>
            </a:extLst>
          </p:cNvPr>
          <p:cNvGrpSpPr/>
          <p:nvPr/>
        </p:nvGrpSpPr>
        <p:grpSpPr>
          <a:xfrm>
            <a:off x="13924780" y="3337410"/>
            <a:ext cx="2001785" cy="747849"/>
            <a:chOff x="13944600" y="3204344"/>
            <a:chExt cx="2001785" cy="74784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ED26130-594A-17B6-30F2-FC99CA537367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TextBox 21">
              <a:extLst>
                <a:ext uri="{FF2B5EF4-FFF2-40B4-BE49-F238E27FC236}">
                  <a16:creationId xmlns:a16="http://schemas.microsoft.com/office/drawing/2014/main" id="{48B7B056-70DE-785B-1CFE-2E3C663FD444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임무 생성</a:t>
              </a:r>
              <a:endPara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48F34A8-9C50-37C3-FDBD-6D76CD8731A8}"/>
              </a:ext>
            </a:extLst>
          </p:cNvPr>
          <p:cNvGrpSpPr/>
          <p:nvPr/>
        </p:nvGrpSpPr>
        <p:grpSpPr>
          <a:xfrm>
            <a:off x="8264339" y="3344350"/>
            <a:ext cx="2001785" cy="747849"/>
            <a:chOff x="13944600" y="3204344"/>
            <a:chExt cx="2001785" cy="7478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727E346B-7F83-9892-37EC-66D74156A606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D73CABF7-612B-AE32-3738-9A43E4F0FAE2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근거 검색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5795C0A-369D-C1A9-3D67-3DC73E2326D7}"/>
              </a:ext>
            </a:extLst>
          </p:cNvPr>
          <p:cNvGrpSpPr/>
          <p:nvPr/>
        </p:nvGrpSpPr>
        <p:grpSpPr>
          <a:xfrm>
            <a:off x="2424542" y="3336656"/>
            <a:ext cx="2001785" cy="747849"/>
            <a:chOff x="13944600" y="3204344"/>
            <a:chExt cx="2001785" cy="747849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DE640F45-EBAD-9036-C79D-FF7E675395AA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TextBox 21">
              <a:extLst>
                <a:ext uri="{FF2B5EF4-FFF2-40B4-BE49-F238E27FC236}">
                  <a16:creationId xmlns:a16="http://schemas.microsoft.com/office/drawing/2014/main" id="{10F9205C-33C8-DCCF-D277-9D4D5A4529DE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확산 예측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9189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A554-AB95-4D6C-9B8B-8C4E30FC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D057AB8-2ED8-DAA2-4DB9-F05499B3A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8D6AA64-170B-7C75-FE6F-10E57E6A5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EEEB78B-B5FF-C833-C7F3-2F7DCC76E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DCB94E50-9E3B-5DEA-17B4-E1846166BB3C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5.5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환경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F5A6F-0435-A6E7-582C-288FC964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A42E571A-05B9-0699-9E06-A928E2A1E76C}"/>
              </a:ext>
            </a:extLst>
          </p:cNvPr>
          <p:cNvSpPr txBox="1"/>
          <p:nvPr/>
        </p:nvSpPr>
        <p:spPr>
          <a:xfrm>
            <a:off x="5911850" y="1800579"/>
            <a:ext cx="7232650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GPU </a:t>
            </a: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연산과 서비스 배포를 분리한 자체 운영 구조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62A11031-2F04-3F69-CECA-0345899FEDC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110" y="2883321"/>
            <a:ext cx="5200650" cy="35420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926766-2AB8-1EDA-12B0-9E905D9E9B5C}"/>
              </a:ext>
            </a:extLst>
          </p:cNvPr>
          <p:cNvSpPr txBox="1"/>
          <p:nvPr/>
        </p:nvSpPr>
        <p:spPr>
          <a:xfrm>
            <a:off x="1767673" y="5180764"/>
            <a:ext cx="3315519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· EXAONE 32B 4bit · KURE-v1 ·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PostGIS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20445EC2-D6B1-630C-F49E-753ACFBB4C6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5230" y="2857500"/>
            <a:ext cx="5200650" cy="3542043"/>
          </a:xfrm>
          <a:prstGeom prst="rect">
            <a:avLst/>
          </a:prstGeom>
        </p:spPr>
      </p:pic>
      <p:pic>
        <p:nvPicPr>
          <p:cNvPr id="23" name="Picture 15">
            <a:extLst>
              <a:ext uri="{FF2B5EF4-FFF2-40B4-BE49-F238E27FC236}">
                <a16:creationId xmlns:a16="http://schemas.microsoft.com/office/drawing/2014/main" id="{546E361D-86F3-B306-B144-44FD2295219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5350" y="2857500"/>
            <a:ext cx="5200650" cy="3542043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782ABF6-90F9-453E-B8C7-8602D5C6D76C}"/>
              </a:ext>
            </a:extLst>
          </p:cNvPr>
          <p:cNvSpPr/>
          <p:nvPr/>
        </p:nvSpPr>
        <p:spPr>
          <a:xfrm>
            <a:off x="825110" y="6772321"/>
            <a:ext cx="16700890" cy="2178670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73D8A6-EF49-AFA2-F6AE-11942842D058}"/>
              </a:ext>
            </a:extLst>
          </p:cNvPr>
          <p:cNvSpPr txBox="1"/>
          <p:nvPr/>
        </p:nvSpPr>
        <p:spPr>
          <a:xfrm>
            <a:off x="990600" y="6907256"/>
            <a:ext cx="216970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TECH STACK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D650C1-5BB7-A950-AF77-55CE029EF70E}"/>
              </a:ext>
            </a:extLst>
          </p:cNvPr>
          <p:cNvSpPr txBox="1"/>
          <p:nvPr/>
        </p:nvSpPr>
        <p:spPr>
          <a:xfrm>
            <a:off x="7409127" y="5190524"/>
            <a:ext cx="371367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대시보드 배포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API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게이트웨이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FastAPI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프록시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AC864F-7A90-F486-8C84-44D5EF8C5BCD}"/>
              </a:ext>
            </a:extLst>
          </p:cNvPr>
          <p:cNvSpPr txBox="1"/>
          <p:nvPr/>
        </p:nvSpPr>
        <p:spPr>
          <a:xfrm>
            <a:off x="13542646" y="5190523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프론트엔드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백엔드 개발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원격 서버 작업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B12C97-B7A5-ECC0-E378-39AC2EC79F38}"/>
              </a:ext>
            </a:extLst>
          </p:cNvPr>
          <p:cNvSpPr txBox="1"/>
          <p:nvPr/>
        </p:nvSpPr>
        <p:spPr>
          <a:xfrm>
            <a:off x="2008802" y="4119679"/>
            <a:ext cx="283325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RTX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A6000 48GB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4587A6-909E-AC9A-AF95-D640EEB18A92}"/>
              </a:ext>
            </a:extLst>
          </p:cNvPr>
          <p:cNvSpPr txBox="1"/>
          <p:nvPr/>
        </p:nvSpPr>
        <p:spPr>
          <a:xfrm>
            <a:off x="7877502" y="4090808"/>
            <a:ext cx="27660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AWS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0ABFB8-4639-E0C9-8293-1AA1EB22B11A}"/>
              </a:ext>
            </a:extLst>
          </p:cNvPr>
          <p:cNvSpPr txBox="1"/>
          <p:nvPr/>
        </p:nvSpPr>
        <p:spPr>
          <a:xfrm>
            <a:off x="13924779" y="4093965"/>
            <a:ext cx="200178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Linux · SSH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CB68E66-E8A8-A04E-0647-02E2516F2AE9}"/>
              </a:ext>
            </a:extLst>
          </p:cNvPr>
          <p:cNvGrpSpPr/>
          <p:nvPr/>
        </p:nvGrpSpPr>
        <p:grpSpPr>
          <a:xfrm>
            <a:off x="13924780" y="3146074"/>
            <a:ext cx="2001785" cy="747849"/>
            <a:chOff x="13944600" y="3204344"/>
            <a:chExt cx="2001785" cy="74784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370B0DC0-B270-DF0B-A5D8-90FAFA5FB3F8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TextBox 21">
              <a:extLst>
                <a:ext uri="{FF2B5EF4-FFF2-40B4-BE49-F238E27FC236}">
                  <a16:creationId xmlns:a16="http://schemas.microsoft.com/office/drawing/2014/main" id="{F8420AAB-AF73-D863-3B29-BDDB08F85B2B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개발 </a:t>
              </a: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PC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8BE6628-08A3-0752-F9BA-3A236EFF6B18}"/>
              </a:ext>
            </a:extLst>
          </p:cNvPr>
          <p:cNvGrpSpPr/>
          <p:nvPr/>
        </p:nvGrpSpPr>
        <p:grpSpPr>
          <a:xfrm>
            <a:off x="8264339" y="3153014"/>
            <a:ext cx="2001785" cy="747849"/>
            <a:chOff x="13944600" y="3204344"/>
            <a:chExt cx="2001785" cy="7478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30B9DC6-703E-1395-502A-ABA5FF8B3F2C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DB09FDD9-3300-0320-1616-A44787C63460}"/>
                </a:ext>
              </a:extLst>
            </p:cNvPr>
            <p:cNvSpPr txBox="1"/>
            <p:nvPr/>
          </p:nvSpPr>
          <p:spPr>
            <a:xfrm>
              <a:off x="14036348" y="3309728"/>
              <a:ext cx="1808880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서비스 서버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B8C3B47-26E1-BCDA-0DB8-4FBB3F528188}"/>
              </a:ext>
            </a:extLst>
          </p:cNvPr>
          <p:cNvGrpSpPr/>
          <p:nvPr/>
        </p:nvGrpSpPr>
        <p:grpSpPr>
          <a:xfrm>
            <a:off x="2424542" y="3145320"/>
            <a:ext cx="2001785" cy="747849"/>
            <a:chOff x="13944600" y="3204344"/>
            <a:chExt cx="2001785" cy="747849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076AF96-C097-63DB-6B9D-8AC092CCA151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TextBox 21">
              <a:extLst>
                <a:ext uri="{FF2B5EF4-FFF2-40B4-BE49-F238E27FC236}">
                  <a16:creationId xmlns:a16="http://schemas.microsoft.com/office/drawing/2014/main" id="{AB9BF09A-CF84-AF4D-DA05-C7A2B375C864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GPU </a:t>
              </a:r>
              <a:r>
                <a:rPr lang="ko-KR" altLang="en-US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서버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321D0FC-F464-11AF-BD8E-664AC6212DA9}"/>
              </a:ext>
            </a:extLst>
          </p:cNvPr>
          <p:cNvSpPr txBox="1"/>
          <p:nvPr/>
        </p:nvSpPr>
        <p:spPr>
          <a:xfrm>
            <a:off x="3836770" y="6896100"/>
            <a:ext cx="7933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예측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789D5-A51E-B5FE-432A-D49AEF493316}"/>
              </a:ext>
            </a:extLst>
          </p:cNvPr>
          <p:cNvSpPr txBox="1"/>
          <p:nvPr/>
        </p:nvSpPr>
        <p:spPr>
          <a:xfrm>
            <a:off x="3836770" y="7353300"/>
            <a:ext cx="7933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공간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8D590-AFBB-B49D-9BD8-C9D44AAF9753}"/>
              </a:ext>
            </a:extLst>
          </p:cNvPr>
          <p:cNvSpPr txBox="1"/>
          <p:nvPr/>
        </p:nvSpPr>
        <p:spPr>
          <a:xfrm>
            <a:off x="3886200" y="7810500"/>
            <a:ext cx="60039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AI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39BB3A-D6F7-BE8B-232C-094FE65C3AEF}"/>
              </a:ext>
            </a:extLst>
          </p:cNvPr>
          <p:cNvSpPr txBox="1"/>
          <p:nvPr/>
        </p:nvSpPr>
        <p:spPr>
          <a:xfrm>
            <a:off x="3836770" y="8343900"/>
            <a:ext cx="10959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</a:rPr>
              <a:t>서비스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12A0C-2C69-0AF0-E8BD-D90AAC0682CA}"/>
              </a:ext>
            </a:extLst>
          </p:cNvPr>
          <p:cNvSpPr txBox="1"/>
          <p:nvPr/>
        </p:nvSpPr>
        <p:spPr>
          <a:xfrm>
            <a:off x="5083192" y="6901101"/>
            <a:ext cx="5465524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1.1 · Docker · Rothermel · Anderson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8A505-1913-B58F-92EB-506BC5F54718}"/>
              </a:ext>
            </a:extLst>
          </p:cNvPr>
          <p:cNvSpPr txBox="1"/>
          <p:nvPr/>
        </p:nvSpPr>
        <p:spPr>
          <a:xfrm>
            <a:off x="5083192" y="7350781"/>
            <a:ext cx="581340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PostGIS · GDAL · rasterio · GeoPandas · Shapely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70E110-4076-D540-606A-63A6091974FC}"/>
              </a:ext>
            </a:extLst>
          </p:cNvPr>
          <p:cNvSpPr txBox="1"/>
          <p:nvPr/>
        </p:nvSpPr>
        <p:spPr>
          <a:xfrm>
            <a:off x="5071772" y="7830354"/>
            <a:ext cx="5813408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 · BM25 · EXAONE 4.0 32B ·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vLLM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EEAFA1-9420-3327-0C3B-9D67B4457267}"/>
              </a:ext>
            </a:extLst>
          </p:cNvPr>
          <p:cNvSpPr txBox="1"/>
          <p:nvPr/>
        </p:nvSpPr>
        <p:spPr>
          <a:xfrm>
            <a:off x="5071771" y="8353903"/>
            <a:ext cx="605102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Python · FastAPI · React · MapLibre GL · GeoJSON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</p:spTree>
    <p:extLst>
      <p:ext uri="{BB962C8B-B14F-4D97-AF65-F5344CB8AC3E}">
        <p14:creationId xmlns:p14="http://schemas.microsoft.com/office/powerpoint/2010/main" val="990104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0824-2C74-8416-437A-848B58ED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116EA932-2006-2122-D058-392612A1BB78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3D0D09B-E668-0D7D-6A31-C08FD156CD59}"/>
              </a:ext>
            </a:extLst>
          </p:cNvPr>
          <p:cNvSpPr txBox="1"/>
          <p:nvPr/>
        </p:nvSpPr>
        <p:spPr>
          <a:xfrm>
            <a:off x="6819900" y="4699000"/>
            <a:ext cx="46482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추진 계획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067F4-622F-3B19-5938-DA6CAE33E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41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A05A-07EE-8D60-0734-50AF95BC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8">
            <a:extLst>
              <a:ext uri="{FF2B5EF4-FFF2-40B4-BE49-F238E27FC236}">
                <a16:creationId xmlns:a16="http://schemas.microsoft.com/office/drawing/2014/main" id="{11A0ECDC-A355-A7F4-033E-7F82BC07E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4392" y="3968539"/>
            <a:ext cx="3962400" cy="2964078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4264460-4822-2460-BA89-0CB0C6814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40A025F-FC71-1523-9799-91540917E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FD9AC1A-24CE-939C-EC4A-1F6650683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4E98307-B864-6393-3781-07C1F1AA5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3963983"/>
            <a:ext cx="3962400" cy="2964078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FFC6ADBB-038B-131B-A71A-D4A36EB8D747}"/>
              </a:ext>
            </a:extLst>
          </p:cNvPr>
          <p:cNvSpPr txBox="1"/>
          <p:nvPr/>
        </p:nvSpPr>
        <p:spPr>
          <a:xfrm>
            <a:off x="715749" y="5158655"/>
            <a:ext cx="36485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팀장 </a:t>
            </a:r>
            <a:r>
              <a:rPr lang="en-US" altLang="ko-KR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&amp; </a:t>
            </a:r>
            <a:r>
              <a:rPr lang="en-US" altLang="ko-KR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Backend Engineer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226604-5076-3966-F02A-778ED8450522}"/>
              </a:ext>
            </a:extLst>
          </p:cNvPr>
          <p:cNvSpPr txBox="1"/>
          <p:nvPr/>
        </p:nvSpPr>
        <p:spPr>
          <a:xfrm>
            <a:off x="1835802" y="4400874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b="0" i="0" u="none" strike="noStrike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황승준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23B46D0-72A1-534F-5481-BCA5A26FC445}"/>
              </a:ext>
            </a:extLst>
          </p:cNvPr>
          <p:cNvSpPr txBox="1"/>
          <p:nvPr/>
        </p:nvSpPr>
        <p:spPr>
          <a:xfrm>
            <a:off x="825500" y="469900"/>
            <a:ext cx="13347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.1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팀 구성 및 역할 분담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42" name="Picture 18">
            <a:extLst>
              <a:ext uri="{FF2B5EF4-FFF2-40B4-BE49-F238E27FC236}">
                <a16:creationId xmlns:a16="http://schemas.microsoft.com/office/drawing/2014/main" id="{FD7D5134-4CFB-37E6-404D-AF8A42306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600" y="3963983"/>
            <a:ext cx="3962400" cy="2964078"/>
          </a:xfrm>
          <a:prstGeom prst="rect">
            <a:avLst/>
          </a:prstGeom>
        </p:spPr>
      </p:pic>
      <p:pic>
        <p:nvPicPr>
          <p:cNvPr id="44" name="Picture 18">
            <a:extLst>
              <a:ext uri="{FF2B5EF4-FFF2-40B4-BE49-F238E27FC236}">
                <a16:creationId xmlns:a16="http://schemas.microsoft.com/office/drawing/2014/main" id="{CBBFF91A-FB6E-2110-4693-F2875E461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6800" y="3963983"/>
            <a:ext cx="3962400" cy="296407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D419019-1C5B-CC41-B9B0-AC8FF68C450C}"/>
              </a:ext>
            </a:extLst>
          </p:cNvPr>
          <p:cNvSpPr txBox="1"/>
          <p:nvPr/>
        </p:nvSpPr>
        <p:spPr>
          <a:xfrm>
            <a:off x="1309176" y="6004236"/>
            <a:ext cx="24006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PostGIS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·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API · </a:t>
            </a: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FastAPI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>
              <a:lnSpc>
                <a:spcPct val="100000"/>
              </a:lnSpc>
            </a:pP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조건위험도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/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 규칙</a:t>
            </a:r>
          </a:p>
        </p:txBody>
      </p:sp>
      <p:sp>
        <p:nvSpPr>
          <p:cNvPr id="76" name="TextBox 26">
            <a:extLst>
              <a:ext uri="{FF2B5EF4-FFF2-40B4-BE49-F238E27FC236}">
                <a16:creationId xmlns:a16="http://schemas.microsoft.com/office/drawing/2014/main" id="{DB79D889-2A85-D51D-7E67-504AECFEA549}"/>
              </a:ext>
            </a:extLst>
          </p:cNvPr>
          <p:cNvSpPr txBox="1"/>
          <p:nvPr/>
        </p:nvSpPr>
        <p:spPr>
          <a:xfrm>
            <a:off x="5988950" y="5167317"/>
            <a:ext cx="1887368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AI</a:t>
            </a:r>
            <a:r>
              <a:rPr lang="ko-KR" altLang="en-US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 </a:t>
            </a:r>
            <a:r>
              <a:rPr lang="en-US" altLang="ko-KR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Architect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8" name="TextBox 27">
            <a:extLst>
              <a:ext uri="{FF2B5EF4-FFF2-40B4-BE49-F238E27FC236}">
                <a16:creationId xmlns:a16="http://schemas.microsoft.com/office/drawing/2014/main" id="{62CBA780-D4BF-CC90-FA17-B90547AE3C8F}"/>
              </a:ext>
            </a:extLst>
          </p:cNvPr>
          <p:cNvSpPr txBox="1"/>
          <p:nvPr/>
        </p:nvSpPr>
        <p:spPr>
          <a:xfrm>
            <a:off x="6231394" y="4405430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spc="-100" dirty="0" err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김지오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EF245B-658C-91C4-967C-871757917CB2}"/>
              </a:ext>
            </a:extLst>
          </p:cNvPr>
          <p:cNvSpPr txBox="1"/>
          <p:nvPr/>
        </p:nvSpPr>
        <p:spPr>
          <a:xfrm>
            <a:off x="5042976" y="6004236"/>
            <a:ext cx="3772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KURE-v1+BM25 · EXAONE/vLLM</a:t>
            </a:r>
          </a:p>
          <a:p>
            <a:pPr lvl="0" algn="ctr">
              <a:lnSpc>
                <a:spcPct val="100000"/>
              </a:lnSpc>
            </a:pP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인용 프롬프트 </a:t>
            </a: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RAGAS </a:t>
            </a: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평가</a:t>
            </a:r>
            <a:endParaRPr lang="ko-KR" altLang="en-US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4" name="TextBox 26">
            <a:extLst>
              <a:ext uri="{FF2B5EF4-FFF2-40B4-BE49-F238E27FC236}">
                <a16:creationId xmlns:a16="http://schemas.microsoft.com/office/drawing/2014/main" id="{0F3ECDCF-C8EB-54AA-103C-E0BBD5DBD03E}"/>
              </a:ext>
            </a:extLst>
          </p:cNvPr>
          <p:cNvSpPr txBox="1"/>
          <p:nvPr/>
        </p:nvSpPr>
        <p:spPr>
          <a:xfrm>
            <a:off x="9371210" y="5158655"/>
            <a:ext cx="3962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altLang="ko-KR" sz="19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Backend</a:t>
            </a:r>
            <a:r>
              <a:rPr lang="ko-KR" altLang="en-US" sz="19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en-US" altLang="ko-KR" sz="19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&amp; Simulation Engineer</a:t>
            </a:r>
            <a:endParaRPr lang="en-US" sz="19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27">
            <a:extLst>
              <a:ext uri="{FF2B5EF4-FFF2-40B4-BE49-F238E27FC236}">
                <a16:creationId xmlns:a16="http://schemas.microsoft.com/office/drawing/2014/main" id="{AEB5F3CA-CD13-130F-F2CD-612173E516C1}"/>
              </a:ext>
            </a:extLst>
          </p:cNvPr>
          <p:cNvSpPr txBox="1"/>
          <p:nvPr/>
        </p:nvSpPr>
        <p:spPr>
          <a:xfrm>
            <a:off x="10649602" y="4405430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홍준서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A8620E-59E1-4816-E737-FAE17F5E02AD}"/>
              </a:ext>
            </a:extLst>
          </p:cNvPr>
          <p:cNvSpPr txBox="1"/>
          <p:nvPr/>
        </p:nvSpPr>
        <p:spPr>
          <a:xfrm>
            <a:off x="9461184" y="6004236"/>
            <a:ext cx="38724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30m </a:t>
            </a: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 </a:t>
            </a: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Anderson-13</a:t>
            </a:r>
          </a:p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· IoU </a:t>
            </a:r>
            <a:r>
              <a:rPr lang="ko-KR" altLang="en-US" sz="1500" b="0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베이지안 보정</a:t>
            </a:r>
            <a:endParaRPr lang="ko-KR" altLang="en-US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2" name="TextBox 26">
            <a:extLst>
              <a:ext uri="{FF2B5EF4-FFF2-40B4-BE49-F238E27FC236}">
                <a16:creationId xmlns:a16="http://schemas.microsoft.com/office/drawing/2014/main" id="{7DC43DB3-2CCE-282C-630B-45F99187B764}"/>
              </a:ext>
            </a:extLst>
          </p:cNvPr>
          <p:cNvSpPr txBox="1"/>
          <p:nvPr/>
        </p:nvSpPr>
        <p:spPr>
          <a:xfrm>
            <a:off x="14294570" y="5159662"/>
            <a:ext cx="2970819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Frontend Developer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4" name="TextBox 27">
            <a:extLst>
              <a:ext uri="{FF2B5EF4-FFF2-40B4-BE49-F238E27FC236}">
                <a16:creationId xmlns:a16="http://schemas.microsoft.com/office/drawing/2014/main" id="{AE727F82-8F1F-A793-12EC-0E35E01926E5}"/>
              </a:ext>
            </a:extLst>
          </p:cNvPr>
          <p:cNvSpPr txBox="1"/>
          <p:nvPr/>
        </p:nvSpPr>
        <p:spPr>
          <a:xfrm>
            <a:off x="15042758" y="4405430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b="0" i="0" u="none" strike="noStrike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임성민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D42585-59ED-F384-42A4-B9D35A1ACA09}"/>
              </a:ext>
            </a:extLst>
          </p:cNvPr>
          <p:cNvSpPr txBox="1"/>
          <p:nvPr/>
        </p:nvSpPr>
        <p:spPr>
          <a:xfrm>
            <a:off x="13798779" y="6004236"/>
            <a:ext cx="396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React · </a:t>
            </a: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MapLibre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GL</a:t>
            </a:r>
          </a:p>
          <a:p>
            <a:pPr lvl="0" algn="ctr">
              <a:lnSpc>
                <a:spcPct val="100000"/>
              </a:lnSpc>
            </a:pP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지도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임무 화면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D196D-1770-9EBF-FE18-8F1E6D0D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87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DDF7-E2E6-8448-6EB4-0F8BF6C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B277BE12-853C-DA4D-C5CF-EB5688CB673A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일정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463959"/>
              </p:ext>
            </p:extLst>
          </p:nvPr>
        </p:nvGraphicFramePr>
        <p:xfrm>
          <a:off x="381000" y="1790700"/>
          <a:ext cx="16634001" cy="8043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7974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756371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772575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796407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868807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868807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7893452"/>
                    </a:ext>
                  </a:extLst>
                </a:gridCol>
              </a:tblGrid>
              <a:tr h="3322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en-US" altLang="ko-KR" sz="1800" b="0" i="0" u="none" strike="noStrike" spc="-100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210 OmniGothic 040" panose="020B0600000101010101" charset="-127"/>
                          <a:ea typeface="210 OmniGothic 040" panose="020B0600000101010101" charset="-127"/>
                        </a:rPr>
                        <a:t>담당</a:t>
                      </a:r>
                      <a:endParaRPr lang="ko-KR" altLang="en-US" sz="1800" b="0" dirty="0">
                        <a:solidFill>
                          <a:srgbClr val="FFFFFF"/>
                        </a:solidFill>
                        <a:latin typeface="210 OmniGothic 040" panose="020B0600000101010101" charset="-127"/>
                        <a:ea typeface="210 OmniGothic 040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요구사항 분석 및 데이터 전수 분석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4983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공간 격자 구축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(DEM·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임상도→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Anderson-13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연료 코드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30m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정합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56591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</a:t>
                      </a:r>
                      <a:r>
                        <a:rPr lang="en-US" altLang="ko-KR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PostGIS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스키마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기상청 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API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어댑터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 캐시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595052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4.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코퍼스 구축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단위 </a:t>
                      </a:r>
                      <a:r>
                        <a:rPr lang="ko-KR" altLang="en-US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청킹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메타데이터 </a:t>
                      </a:r>
                      <a:r>
                        <a:rPr lang="ko-KR" altLang="en-US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태깅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9529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ELMFIRE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실행 환경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(Docker)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구축 및 시범 실행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892403"/>
                  </a:ext>
                </a:extLst>
              </a:tr>
              <a:tr h="5814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조건위험도 규칙 엔진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(25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변수 </a:t>
                      </a:r>
                      <a:r>
                        <a:rPr lang="ko-KR" altLang="en-US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가중합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이식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80047"/>
                  </a:ext>
                </a:extLst>
              </a:tr>
              <a:tr h="4983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7.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색인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하이브리드 검색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(KURE-v1 + BM25,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기관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단계 필터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28465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EXAONE 4.0 32B </a:t>
                      </a:r>
                      <a:r>
                        <a:rPr lang="en-US" altLang="ko-KR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vLLM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서빙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프롬프트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인용 형식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71925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역할 활성화 규칙 판정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대응 단계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행정경계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94143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</a:t>
                      </a:r>
                      <a:r>
                        <a:rPr lang="en-US" altLang="ko-KR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FastAPI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서버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상황 구성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응답 조립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20040"/>
                  </a:ext>
                </a:extLst>
              </a:tr>
              <a:tr h="4983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웹 대시보드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en-US" altLang="ko-KR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React·MapLibre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GL,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지도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보고서 탭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임성민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3123"/>
                  </a:ext>
                </a:extLst>
              </a:tr>
              <a:tr h="4983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파라미터 보정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(fuel_models.csv, </a:t>
                      </a:r>
                      <a:r>
                        <a:rPr lang="en-US" altLang="ko-KR" sz="13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IoU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베이지안 최적화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71509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모듈 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차 통합 및 프로토타입 발표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13515"/>
                  </a:ext>
                </a:extLst>
              </a:tr>
              <a:tr h="5814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보고서 생성 파이프라인 완성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현장 분석 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+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역할별 질의 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83387"/>
                  </a:ext>
                </a:extLst>
              </a:tr>
              <a:tr h="4983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평가 파이프라인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(IoU·Recall@5·nDCG@5·RAGAS)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및 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hold-out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검증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598170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RAG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유무 절제 실험</a:t>
                      </a:r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최종 통합 및 경진대회 준비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79277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SW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프로그램 등록 및 최종보고서 작성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82678"/>
                  </a:ext>
                </a:extLst>
              </a:tr>
              <a:tr h="3322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</a:t>
                      </a:r>
                      <a:r>
                        <a:rPr lang="ko-KR" altLang="en-US" sz="13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주간 보고서 작성 및 제출 </a:t>
                      </a:r>
                      <a:endParaRPr lang="ko-KR" alt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6490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001" name="TextBox 9001"/>
          <p:cNvSpPr txBox="1"/>
          <p:nvPr/>
        </p:nvSpPr>
        <p:spPr>
          <a:xfrm>
            <a:off x="381000" y="9880000"/>
            <a:ext cx="17424719" cy="32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ko-KR" altLang="en-US" sz="1100" b="0">
                <a:solidFill>
                  <a:srgbClr val="363A52"/>
                </a:solidFill>
                <a:latin typeface="210 OmniGothic 030"/>
                <a:ea typeface="210 OmniGothic 030"/>
              </a:rPr>
              <a:t>※ 점선 화살표 = 계획, 실선 화살표 = 실제 수행(진행하며 덧그림)  ·  주요 마일스톤: 3주차 수정 제안서(9/17) · 9주차 프로토타입(10/30) · 16주차 최종보고서(12/18)  ·  일정은 진행 상황에 따라 약간의 변동이 있을 수 있음</a:t>
            </a:r>
          </a:p>
        </p:txBody>
      </p:sp>
      <p:cxnSp>
        <p:nvCxnSpPr>
          <p:cNvPr id="22" name="plan-arrow-1">
            <a:extLst>
              <a:ext uri="{FF2B5EF4-FFF2-40B4-BE49-F238E27FC236}">
                <a16:creationId xmlns:a16="http://schemas.microsoft.com/office/drawing/2014/main" id="{041F206F-BD96-E65D-A320-65C6D4F7D1A5}"/>
              </a:ext>
            </a:extLst>
          </p:cNvPr>
          <p:cNvCxnSpPr/>
          <p:nvPr/>
        </p:nvCxnSpPr>
        <p:spPr>
          <a:xfrm>
            <a:off x="4207074" y="2339340"/>
            <a:ext cx="1983383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lan-arrow-2">
            <a:extLst>
              <a:ext uri="{FF2B5EF4-FFF2-40B4-BE49-F238E27FC236}">
                <a16:creationId xmlns:a16="http://schemas.microsoft.com/office/drawing/2014/main" id="{B63FE6D8-E370-18E0-1485-02DB51DAD335}"/>
              </a:ext>
            </a:extLst>
          </p:cNvPr>
          <p:cNvCxnSpPr/>
          <p:nvPr/>
        </p:nvCxnSpPr>
        <p:spPr>
          <a:xfrm>
            <a:off x="4963445" y="2771398"/>
            <a:ext cx="2530224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lan-arrow-3">
            <a:extLst>
              <a:ext uri="{FF2B5EF4-FFF2-40B4-BE49-F238E27FC236}">
                <a16:creationId xmlns:a16="http://schemas.microsoft.com/office/drawing/2014/main" id="{0A2F0866-23CC-148C-4C5C-7A750583CDCE}"/>
              </a:ext>
            </a:extLst>
          </p:cNvPr>
          <p:cNvCxnSpPr/>
          <p:nvPr/>
        </p:nvCxnSpPr>
        <p:spPr>
          <a:xfrm>
            <a:off x="4963445" y="3203456"/>
            <a:ext cx="2530224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lan-arrow-4">
            <a:extLst>
              <a:ext uri="{FF2B5EF4-FFF2-40B4-BE49-F238E27FC236}">
                <a16:creationId xmlns:a16="http://schemas.microsoft.com/office/drawing/2014/main" id="{EF5EC965-2011-4779-17D3-BA7F92793E90}"/>
              </a:ext>
            </a:extLst>
          </p:cNvPr>
          <p:cNvCxnSpPr/>
          <p:nvPr/>
        </p:nvCxnSpPr>
        <p:spPr>
          <a:xfrm>
            <a:off x="4963445" y="3569216"/>
            <a:ext cx="2530224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lan-arrow-5">
            <a:extLst>
              <a:ext uri="{FF2B5EF4-FFF2-40B4-BE49-F238E27FC236}">
                <a16:creationId xmlns:a16="http://schemas.microsoft.com/office/drawing/2014/main" id="{31564165-7853-8D14-5C6A-1CDA2B73139E}"/>
              </a:ext>
            </a:extLst>
          </p:cNvPr>
          <p:cNvCxnSpPr/>
          <p:nvPr/>
        </p:nvCxnSpPr>
        <p:spPr>
          <a:xfrm>
            <a:off x="5615051" y="3934976"/>
            <a:ext cx="2530224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plan-arrow-6">
            <a:extLst>
              <a:ext uri="{FF2B5EF4-FFF2-40B4-BE49-F238E27FC236}">
                <a16:creationId xmlns:a16="http://schemas.microsoft.com/office/drawing/2014/main" id="{83BB596E-5539-6ED2-B509-90B975443203}"/>
              </a:ext>
            </a:extLst>
          </p:cNvPr>
          <p:cNvCxnSpPr/>
          <p:nvPr/>
        </p:nvCxnSpPr>
        <p:spPr>
          <a:xfrm>
            <a:off x="6266657" y="4408564"/>
            <a:ext cx="1878618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lan-arrow-7">
            <a:extLst>
              <a:ext uri="{FF2B5EF4-FFF2-40B4-BE49-F238E27FC236}">
                <a16:creationId xmlns:a16="http://schemas.microsoft.com/office/drawing/2014/main" id="{D284320D-F8A3-CB8A-995B-B05ED422058C}"/>
              </a:ext>
            </a:extLst>
          </p:cNvPr>
          <p:cNvCxnSpPr/>
          <p:nvPr/>
        </p:nvCxnSpPr>
        <p:spPr>
          <a:xfrm>
            <a:off x="6266657" y="4948450"/>
            <a:ext cx="2602624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lan-arrow-8">
            <a:extLst>
              <a:ext uri="{FF2B5EF4-FFF2-40B4-BE49-F238E27FC236}">
                <a16:creationId xmlns:a16="http://schemas.microsoft.com/office/drawing/2014/main" id="{AC142528-9732-140D-3417-0E0B4D983AAB}"/>
              </a:ext>
            </a:extLst>
          </p:cNvPr>
          <p:cNvCxnSpPr/>
          <p:nvPr/>
        </p:nvCxnSpPr>
        <p:spPr>
          <a:xfrm>
            <a:off x="6918263" y="5380508"/>
            <a:ext cx="1951018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lan-arrow-9">
            <a:extLst>
              <a:ext uri="{FF2B5EF4-FFF2-40B4-BE49-F238E27FC236}">
                <a16:creationId xmlns:a16="http://schemas.microsoft.com/office/drawing/2014/main" id="{D25B77B6-74E7-0F09-BAEE-77921809BDB5}"/>
              </a:ext>
            </a:extLst>
          </p:cNvPr>
          <p:cNvCxnSpPr/>
          <p:nvPr/>
        </p:nvCxnSpPr>
        <p:spPr>
          <a:xfrm>
            <a:off x="6918263" y="5746268"/>
            <a:ext cx="1951018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lan-arrow-10">
            <a:extLst>
              <a:ext uri="{FF2B5EF4-FFF2-40B4-BE49-F238E27FC236}">
                <a16:creationId xmlns:a16="http://schemas.microsoft.com/office/drawing/2014/main" id="{2AC3B438-0296-5455-C7DB-AB2ED2AF6CBF}"/>
              </a:ext>
            </a:extLst>
          </p:cNvPr>
          <p:cNvCxnSpPr/>
          <p:nvPr/>
        </p:nvCxnSpPr>
        <p:spPr>
          <a:xfrm>
            <a:off x="6918263" y="6112028"/>
            <a:ext cx="2723593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lan-arrow-11">
            <a:extLst>
              <a:ext uri="{FF2B5EF4-FFF2-40B4-BE49-F238E27FC236}">
                <a16:creationId xmlns:a16="http://schemas.microsoft.com/office/drawing/2014/main" id="{E6F66795-4B83-8295-BE0C-5768651464D7}"/>
              </a:ext>
            </a:extLst>
          </p:cNvPr>
          <p:cNvCxnSpPr/>
          <p:nvPr/>
        </p:nvCxnSpPr>
        <p:spPr>
          <a:xfrm>
            <a:off x="6266657" y="6544086"/>
            <a:ext cx="4099205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lan-arrow-12">
            <a:extLst>
              <a:ext uri="{FF2B5EF4-FFF2-40B4-BE49-F238E27FC236}">
                <a16:creationId xmlns:a16="http://schemas.microsoft.com/office/drawing/2014/main" id="{9E32E602-11FE-0394-832E-AFE8FD25BD94}"/>
              </a:ext>
            </a:extLst>
          </p:cNvPr>
          <p:cNvCxnSpPr/>
          <p:nvPr/>
        </p:nvCxnSpPr>
        <p:spPr>
          <a:xfrm>
            <a:off x="8221475" y="7042441"/>
            <a:ext cx="2868393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lan-arrow-13">
            <a:extLst>
              <a:ext uri="{FF2B5EF4-FFF2-40B4-BE49-F238E27FC236}">
                <a16:creationId xmlns:a16="http://schemas.microsoft.com/office/drawing/2014/main" id="{38144E24-9590-24E8-38F3-3B1CDB57EDF1}"/>
              </a:ext>
            </a:extLst>
          </p:cNvPr>
          <p:cNvCxnSpPr/>
          <p:nvPr/>
        </p:nvCxnSpPr>
        <p:spPr>
          <a:xfrm>
            <a:off x="8945481" y="7474500"/>
            <a:ext cx="696375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lan-arrow-14">
            <a:extLst>
              <a:ext uri="{FF2B5EF4-FFF2-40B4-BE49-F238E27FC236}">
                <a16:creationId xmlns:a16="http://schemas.microsoft.com/office/drawing/2014/main" id="{BC61B76A-6A88-3A00-1093-B3F728141538}"/>
              </a:ext>
            </a:extLst>
          </p:cNvPr>
          <p:cNvCxnSpPr/>
          <p:nvPr/>
        </p:nvCxnSpPr>
        <p:spPr>
          <a:xfrm>
            <a:off x="9718056" y="7948088"/>
            <a:ext cx="2168219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lan-arrow-15">
            <a:extLst>
              <a:ext uri="{FF2B5EF4-FFF2-40B4-BE49-F238E27FC236}">
                <a16:creationId xmlns:a16="http://schemas.microsoft.com/office/drawing/2014/main" id="{3C46F0A5-8923-FA55-7F2C-D3BB1060F172}"/>
              </a:ext>
            </a:extLst>
          </p:cNvPr>
          <p:cNvCxnSpPr/>
          <p:nvPr/>
        </p:nvCxnSpPr>
        <p:spPr>
          <a:xfrm>
            <a:off x="10442062" y="8487974"/>
            <a:ext cx="2168219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lan-arrow-16">
            <a:extLst>
              <a:ext uri="{FF2B5EF4-FFF2-40B4-BE49-F238E27FC236}">
                <a16:creationId xmlns:a16="http://schemas.microsoft.com/office/drawing/2014/main" id="{A98F1BAE-2EF5-4E32-BA4C-B5F08D12EDC2}"/>
              </a:ext>
            </a:extLst>
          </p:cNvPr>
          <p:cNvCxnSpPr/>
          <p:nvPr/>
        </p:nvCxnSpPr>
        <p:spPr>
          <a:xfrm>
            <a:off x="11166068" y="8920032"/>
            <a:ext cx="2168219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lan-arrow-17">
            <a:extLst>
              <a:ext uri="{FF2B5EF4-FFF2-40B4-BE49-F238E27FC236}">
                <a16:creationId xmlns:a16="http://schemas.microsoft.com/office/drawing/2014/main" id="{94CAFE7F-1F45-7F2F-917C-60BB620CB482}"/>
              </a:ext>
            </a:extLst>
          </p:cNvPr>
          <p:cNvCxnSpPr/>
          <p:nvPr/>
        </p:nvCxnSpPr>
        <p:spPr>
          <a:xfrm>
            <a:off x="13410487" y="9285792"/>
            <a:ext cx="1661415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plan-arrow-18">
            <a:extLst>
              <a:ext uri="{FF2B5EF4-FFF2-40B4-BE49-F238E27FC236}">
                <a16:creationId xmlns:a16="http://schemas.microsoft.com/office/drawing/2014/main" id="{F0FBAF62-5A80-790B-F8BA-9E4D18633CF0}"/>
              </a:ext>
            </a:extLst>
          </p:cNvPr>
          <p:cNvCxnSpPr/>
          <p:nvPr/>
        </p:nvCxnSpPr>
        <p:spPr>
          <a:xfrm>
            <a:off x="6918263" y="9651552"/>
            <a:ext cx="8153639" cy="0"/>
          </a:xfrm>
          <a:prstGeom prst="straightConnector1">
            <a:avLst/>
          </a:prstGeom>
          <a:ln w="22225">
            <a:solidFill>
              <a:srgbClr val="00000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49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3B83-ACB7-8341-A566-AFC5CE3D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6ADACC-9BD5-687D-C476-41B1D5E32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D73E44B-B0C2-4379-79AC-21B0CD2E3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01D47328-1DDD-C31E-6E17-22377CBF6F26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/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6.2 </a:t>
            </a:r>
            <a:r>
              <a:rPr lang="ko-KR" altLang="en-US" sz="4800" b="1" dirty="0">
                <a:solidFill>
                  <a:srgbClr val="F6A146"/>
                </a:solidFill>
                <a:latin typeface="210 OmniGothic 050"/>
                <a:ea typeface="210 OmniGothic 050"/>
                <a:cs typeface="210 OmniGothic 050"/>
              </a:rPr>
              <a:t>협업 체계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8E0F319F-6A1C-BDE6-2576-566B6C2FB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7550" y="4838700"/>
            <a:ext cx="14312900" cy="977900"/>
          </a:xfrm>
          <a:prstGeom prst="rect">
            <a:avLst/>
          </a:prstGeom>
          <a:effectLst>
            <a:outerShdw dist="89682" dir="5400000">
              <a:srgbClr val="FAA95A">
                <a:alpha val="50000"/>
              </a:srgbClr>
            </a:outerShdw>
          </a:effectLst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2F7B2573-E2CD-8FF9-878E-83DE2503F566}"/>
              </a:ext>
            </a:extLst>
          </p:cNvPr>
          <p:cNvSpPr txBox="1"/>
          <p:nvPr/>
        </p:nvSpPr>
        <p:spPr>
          <a:xfrm>
            <a:off x="2293784" y="5139964"/>
            <a:ext cx="13817600" cy="586380"/>
          </a:xfrm>
          <a:prstGeom prst="rect">
            <a:avLst/>
          </a:prstGeom>
        </p:spPr>
        <p:txBody>
          <a:bodyPr lIns="0" tIns="38099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Confluence 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문서  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  Jira 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일정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/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이슈  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  Google Drive 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데이터  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  GitHub PR 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리뷰  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  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월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금 </a:t>
            </a:r>
            <a:r>
              <a:rPr lang="en-US" altLang="ko-KR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r>
              <a:rPr lang="ko-KR" altLang="en-US" sz="2400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시간 회의</a:t>
            </a:r>
            <a:endParaRPr lang="ko-KR" altLang="en-US" sz="2400" b="0" i="0" u="none" strike="noStrike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729231-9DB9-AA77-4D36-E0F443A5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FFD1FAB-1B7F-75F4-A654-132BCA626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91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7DC0-DBE7-0C09-88D7-7E6A397F0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6E0D7733-EFF0-C94A-9BDF-D4BFC70307D4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7E22D5-BACD-C7C6-8BBE-CA0CBBA3BE08}"/>
              </a:ext>
            </a:extLst>
          </p:cNvPr>
          <p:cNvSpPr txBox="1"/>
          <p:nvPr/>
        </p:nvSpPr>
        <p:spPr>
          <a:xfrm>
            <a:off x="7534275" y="4699000"/>
            <a:ext cx="321945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기대효과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65D5EC-7E37-921C-0D3A-43ED370F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44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4398A-FDED-36C8-2D40-6DD37458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24B7D5-4BB3-6CB4-5FAE-CBF883A19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EAF6CF6-7B88-40CB-426A-84620183D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DF565B-6F32-3AAF-8D38-E92589962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0C78BCB-4647-D540-7163-A01F9F935C40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724650" y="6184900"/>
            <a:ext cx="4813300" cy="254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7938ABCF-1E2A-E895-5919-9FB326609383}"/>
              </a:ext>
            </a:extLst>
          </p:cNvPr>
          <p:cNvSpPr txBox="1"/>
          <p:nvPr/>
        </p:nvSpPr>
        <p:spPr>
          <a:xfrm>
            <a:off x="9918700" y="5631996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B2B : 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타 재난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규정 분야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코퍼스와 활성화 규칙 </a:t>
            </a:r>
            <a:r>
              <a:rPr lang="ko-KR" altLang="en-US" sz="1999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교체로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구조 재사용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C6CC9D0-5DD7-A45F-74B9-129C47488B6A}"/>
              </a:ext>
            </a:extLst>
          </p:cNvPr>
          <p:cNvSpPr txBox="1"/>
          <p:nvPr/>
        </p:nvSpPr>
        <p:spPr>
          <a:xfrm>
            <a:off x="9918700" y="4267653"/>
            <a:ext cx="5080000" cy="111669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B2G : 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지자체</a:t>
            </a:r>
            <a:r>
              <a:rPr lang="en-US" altLang="ko-KR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산림청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공공데이터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정부 내부 자료 · 자체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GPU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기반 표준 판단 도구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02C498C-EBAA-9553-973F-8176EB4131F9}"/>
              </a:ext>
            </a:extLst>
          </p:cNvPr>
          <p:cNvSpPr txBox="1"/>
          <p:nvPr/>
        </p:nvSpPr>
        <p:spPr>
          <a:xfrm>
            <a:off x="9918700" y="3467100"/>
            <a:ext cx="4165600" cy="5588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산업적 효과</a:t>
            </a:r>
            <a:endParaRPr lang="en-US" sz="29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02245CD-B4AA-63E7-36ED-A6CCB7C6D914}"/>
              </a:ext>
            </a:extLst>
          </p:cNvPr>
          <p:cNvSpPr txBox="1"/>
          <p:nvPr/>
        </p:nvSpPr>
        <p:spPr>
          <a:xfrm>
            <a:off x="1841500" y="2019300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“</a:t>
            </a:r>
            <a:r>
              <a:rPr lang="ko-KR" altLang="en-US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예측을 행동 근거로 바꾸고</a:t>
            </a:r>
            <a:r>
              <a:rPr lang="en-US" altLang="ko-KR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, </a:t>
            </a:r>
            <a:r>
              <a:rPr lang="ko-KR" altLang="en-US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재난 대응 구조로 확장</a:t>
            </a:r>
            <a:r>
              <a:rPr lang="en-US" altLang="ko-KR" sz="3600" b="1" i="0" u="none" strike="noStrike" spc="-100" dirty="0">
                <a:solidFill>
                  <a:srgbClr val="363A52"/>
                </a:solidFill>
                <a:latin typeface="210 OmniGothic 050" panose="020B0600000101010101" charset="-127"/>
                <a:ea typeface="210 OmniGothic 050" panose="020B0600000101010101" charset="-127"/>
                <a:cs typeface="210 OmniGothic 040"/>
              </a:rPr>
              <a:t>”</a:t>
            </a:r>
            <a:endParaRPr lang="ko-KR" altLang="en-US" sz="3600" b="1" i="0" u="none" strike="noStrike" spc="-100" dirty="0">
              <a:solidFill>
                <a:srgbClr val="363A52"/>
              </a:solidFill>
              <a:latin typeface="210 OmniGothic 050" panose="020B0600000101010101" charset="-127"/>
              <a:ea typeface="210 OmniGothic 050" panose="020B0600000101010101" charset="-127"/>
              <a:cs typeface="210 OmniGothic 040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958304B-632D-EC52-F5D4-B3CA93A47B28}"/>
              </a:ext>
            </a:extLst>
          </p:cNvPr>
          <p:cNvSpPr txBox="1"/>
          <p:nvPr/>
        </p:nvSpPr>
        <p:spPr>
          <a:xfrm>
            <a:off x="825500" y="469900"/>
            <a:ext cx="725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7.1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사회적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산업적 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99997C8C-1C58-C274-4D9B-8C008163A403}"/>
              </a:ext>
            </a:extLst>
          </p:cNvPr>
          <p:cNvSpPr txBox="1"/>
          <p:nvPr/>
        </p:nvSpPr>
        <p:spPr>
          <a:xfrm>
            <a:off x="1663700" y="67691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지휘 공백 축소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 통과와 인계 준비 사전 권고</a:t>
            </a:r>
          </a:p>
          <a:p>
            <a:pPr lvl="0" algn="l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98063CFB-632C-FC9B-84B9-37F5992BD51D}"/>
              </a:ext>
            </a:extLst>
          </p:cNvPr>
          <p:cNvSpPr txBox="1"/>
          <p:nvPr/>
        </p:nvSpPr>
        <p:spPr>
          <a:xfrm>
            <a:off x="1663700" y="57277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역할별 상황 전환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소방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구조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행정 임무 분리</a:t>
            </a:r>
          </a:p>
          <a:p>
            <a:pPr lvl="0" algn="l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6A72AA8D-856B-192B-EDEA-5046DCA899E6}"/>
              </a:ext>
            </a:extLst>
          </p:cNvPr>
          <p:cNvSpPr txBox="1"/>
          <p:nvPr/>
        </p:nvSpPr>
        <p:spPr>
          <a:xfrm>
            <a:off x="1663700" y="46990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대피 판단 정량화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>
              <a:lnSpc>
                <a:spcPct val="116199"/>
              </a:lnSpc>
            </a:pPr>
            <a:r>
              <a:rPr lang="ko-KR" altLang="en-US" sz="19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확산속도 </a:t>
            </a:r>
            <a:r>
              <a:rPr lang="en-US" altLang="ko-KR" sz="19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9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 도달 예상시각</a:t>
            </a:r>
          </a:p>
          <a:p>
            <a:pPr lvl="0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10925268-D15B-80F3-CEA3-647FF6804225}"/>
              </a:ext>
            </a:extLst>
          </p:cNvPr>
          <p:cNvSpPr txBox="1"/>
          <p:nvPr/>
        </p:nvSpPr>
        <p:spPr>
          <a:xfrm>
            <a:off x="1676400" y="3479800"/>
            <a:ext cx="4165600" cy="5588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사회</a:t>
            </a:r>
            <a:r>
              <a:rPr lang="ko-KR" altLang="en-US" sz="29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적 효과</a:t>
            </a:r>
            <a:endParaRPr lang="en-US" sz="29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AB81C35-2C8C-A1E7-F13D-E7D5A8DD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93D03BDF-DA88-DD08-0BDC-48FFAAB956E1}"/>
              </a:ext>
            </a:extLst>
          </p:cNvPr>
          <p:cNvSpPr txBox="1"/>
          <p:nvPr/>
        </p:nvSpPr>
        <p:spPr>
          <a:xfrm>
            <a:off x="1663700" y="78867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판단 투명성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조항 인용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부족 표시</a:t>
            </a:r>
          </a:p>
          <a:p>
            <a:pPr lvl="0" algn="l">
              <a:lnSpc>
                <a:spcPct val="116199"/>
              </a:lnSpc>
            </a:pP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</p:spTree>
    <p:extLst>
      <p:ext uri="{BB962C8B-B14F-4D97-AF65-F5344CB8AC3E}">
        <p14:creationId xmlns:p14="http://schemas.microsoft.com/office/powerpoint/2010/main" val="910264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B047-83FD-C058-26B8-8F03C1F8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C650C60-B00B-1586-6005-5F5D5924A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C59BE89-ECAB-71D3-8652-74F08DCA6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9AB7ED8F-B2E9-AF04-37C8-E935939A0605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기술적 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73349-3B0F-7A22-C1FB-36B52A6C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C4DC20C5-9834-1272-AA27-D9087C0B046B}"/>
              </a:ext>
            </a:extLst>
          </p:cNvPr>
          <p:cNvSpPr txBox="1"/>
          <p:nvPr/>
        </p:nvSpPr>
        <p:spPr>
          <a:xfrm>
            <a:off x="5513701" y="1846889"/>
            <a:ext cx="7630799" cy="8476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spc="-1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서로 다른 세 기술을 한 요청 처리 파이프라인으로 결합</a:t>
            </a:r>
            <a:endParaRPr lang="ko-KR" altLang="en-US" sz="2599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26B4AB64-1997-91E9-2062-0EC6200477F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10" y="3074657"/>
            <a:ext cx="5200650" cy="3337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BCD218-2E3F-1AFA-B0E8-78BE5FDDE1AA}"/>
              </a:ext>
            </a:extLst>
          </p:cNvPr>
          <p:cNvSpPr txBox="1"/>
          <p:nvPr/>
        </p:nvSpPr>
        <p:spPr>
          <a:xfrm>
            <a:off x="2042410" y="5067300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시계열 라벨 없이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물리 모델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보정</a:t>
            </a: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5DD0289A-F2C9-17BB-E5BC-440BBC89405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5230" y="3048836"/>
            <a:ext cx="5200650" cy="33371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72D8DF-D735-37A7-FBEE-F01A8D4ED9AA}"/>
              </a:ext>
            </a:extLst>
          </p:cNvPr>
          <p:cNvSpPr txBox="1"/>
          <p:nvPr/>
        </p:nvSpPr>
        <p:spPr>
          <a:xfrm>
            <a:off x="5030251" y="8791251"/>
            <a:ext cx="8597697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hold-out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자동 평가 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| 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· Recall@5 · nDCG@5 · RAGAS · RAG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절제실험</a:t>
            </a:r>
          </a:p>
        </p:txBody>
      </p:sp>
      <p:pic>
        <p:nvPicPr>
          <p:cNvPr id="23" name="Picture 15">
            <a:extLst>
              <a:ext uri="{FF2B5EF4-FFF2-40B4-BE49-F238E27FC236}">
                <a16:creationId xmlns:a16="http://schemas.microsoft.com/office/drawing/2014/main" id="{7F0B374C-8678-5D4D-684A-8E34CC71F42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25350" y="3048836"/>
            <a:ext cx="5200650" cy="3337113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AE1573A-BB3D-6EE2-3D06-DC62DCEB8D2F}"/>
              </a:ext>
            </a:extLst>
          </p:cNvPr>
          <p:cNvSpPr/>
          <p:nvPr/>
        </p:nvSpPr>
        <p:spPr>
          <a:xfrm>
            <a:off x="1295400" y="6958685"/>
            <a:ext cx="15532100" cy="153457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EEF1CF-FB07-2ED5-903F-E91B05FF55E4}"/>
              </a:ext>
            </a:extLst>
          </p:cNvPr>
          <p:cNvSpPr txBox="1"/>
          <p:nvPr/>
        </p:nvSpPr>
        <p:spPr>
          <a:xfrm>
            <a:off x="1643179" y="7144954"/>
            <a:ext cx="250500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정량 산출물 경로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200C6A-AF4E-5238-F3E5-316C58BDEB89}"/>
              </a:ext>
            </a:extLst>
          </p:cNvPr>
          <p:cNvSpPr txBox="1"/>
          <p:nvPr/>
        </p:nvSpPr>
        <p:spPr>
          <a:xfrm>
            <a:off x="7792530" y="5104254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25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변수 가중합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단계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 결정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FBB7A2-E981-1F2A-B9F3-EA07CBA154C1}"/>
              </a:ext>
            </a:extLst>
          </p:cNvPr>
          <p:cNvSpPr txBox="1"/>
          <p:nvPr/>
        </p:nvSpPr>
        <p:spPr>
          <a:xfrm>
            <a:off x="13542649" y="5109076"/>
            <a:ext cx="276605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KURE-v1 + BM25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EXAONE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인용 생성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B6AFAD-0023-EB73-8141-5A527DCB470A}"/>
              </a:ext>
            </a:extLst>
          </p:cNvPr>
          <p:cNvSpPr txBox="1"/>
          <p:nvPr/>
        </p:nvSpPr>
        <p:spPr>
          <a:xfrm>
            <a:off x="2616201" y="4381500"/>
            <a:ext cx="15541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D17BFF-509B-072E-3F8F-87E7D617053C}"/>
              </a:ext>
            </a:extLst>
          </p:cNvPr>
          <p:cNvSpPr txBox="1"/>
          <p:nvPr/>
        </p:nvSpPr>
        <p:spPr>
          <a:xfrm>
            <a:off x="7877502" y="4381500"/>
            <a:ext cx="276605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 활성화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2FF400-0905-E45A-758F-8BEB4EA87AA4}"/>
              </a:ext>
            </a:extLst>
          </p:cNvPr>
          <p:cNvSpPr txBox="1"/>
          <p:nvPr/>
        </p:nvSpPr>
        <p:spPr>
          <a:xfrm>
            <a:off x="13483495" y="4414462"/>
            <a:ext cx="276604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기반 임무 생성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F405E58-47C7-D9C6-6E93-41F6EC289F11}"/>
              </a:ext>
            </a:extLst>
          </p:cNvPr>
          <p:cNvGrpSpPr/>
          <p:nvPr/>
        </p:nvGrpSpPr>
        <p:grpSpPr>
          <a:xfrm>
            <a:off x="13924780" y="3337410"/>
            <a:ext cx="2001785" cy="747849"/>
            <a:chOff x="13944600" y="3204344"/>
            <a:chExt cx="2001785" cy="74784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D00BBD9-BD0F-74F0-1E91-2BD2D19F2238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TextBox 21">
              <a:extLst>
                <a:ext uri="{FF2B5EF4-FFF2-40B4-BE49-F238E27FC236}">
                  <a16:creationId xmlns:a16="http://schemas.microsoft.com/office/drawing/2014/main" id="{C2CA2CD4-88DF-775B-1C17-02626773CF01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RAG</a:t>
              </a:r>
              <a:endPara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3CEB5BF-260B-BBD7-5358-6D4D31EC961B}"/>
              </a:ext>
            </a:extLst>
          </p:cNvPr>
          <p:cNvGrpSpPr/>
          <p:nvPr/>
        </p:nvGrpSpPr>
        <p:grpSpPr>
          <a:xfrm>
            <a:off x="8264339" y="3344350"/>
            <a:ext cx="2001785" cy="747849"/>
            <a:chOff x="13944600" y="3204344"/>
            <a:chExt cx="2001785" cy="7478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D7D5D05-8835-9A7D-5A45-5C6B5A61C1B3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DBFF1C6E-1406-CBAA-0949-6326423E187E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RULE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53AD58D-55C6-712C-B4A0-F4B2521DDE5E}"/>
              </a:ext>
            </a:extLst>
          </p:cNvPr>
          <p:cNvGrpSpPr/>
          <p:nvPr/>
        </p:nvGrpSpPr>
        <p:grpSpPr>
          <a:xfrm>
            <a:off x="2424542" y="3336656"/>
            <a:ext cx="2001785" cy="747849"/>
            <a:chOff x="13944600" y="3204344"/>
            <a:chExt cx="2001785" cy="747849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C792D669-C05D-4EE5-6A3C-7258A5F6E53B}"/>
                </a:ext>
              </a:extLst>
            </p:cNvPr>
            <p:cNvSpPr/>
            <p:nvPr/>
          </p:nvSpPr>
          <p:spPr>
            <a:xfrm>
              <a:off x="13944600" y="3204344"/>
              <a:ext cx="2001785" cy="747849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TextBox 21">
              <a:extLst>
                <a:ext uri="{FF2B5EF4-FFF2-40B4-BE49-F238E27FC236}">
                  <a16:creationId xmlns:a16="http://schemas.microsoft.com/office/drawing/2014/main" id="{8485516A-8803-7CDD-3182-2B5F7E074B50}"/>
                </a:ext>
              </a:extLst>
            </p:cNvPr>
            <p:cNvSpPr txBox="1"/>
            <p:nvPr/>
          </p:nvSpPr>
          <p:spPr>
            <a:xfrm>
              <a:off x="14137505" y="330972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599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PHYSICS</a:t>
              </a:r>
              <a:endParaRPr lang="ko-KR" altLang="en-US" sz="2599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72900C7-E3CA-77CB-A3B9-5B27F41FF350}"/>
              </a:ext>
            </a:extLst>
          </p:cNvPr>
          <p:cNvSpPr txBox="1"/>
          <p:nvPr/>
        </p:nvSpPr>
        <p:spPr>
          <a:xfrm>
            <a:off x="1790783" y="7787733"/>
            <a:ext cx="2209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LLM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생성 경로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BFCC8-3288-0210-F0B1-A61007CB654B}"/>
              </a:ext>
            </a:extLst>
          </p:cNvPr>
          <p:cNvSpPr txBox="1"/>
          <p:nvPr/>
        </p:nvSpPr>
        <p:spPr>
          <a:xfrm>
            <a:off x="5807274" y="7144954"/>
            <a:ext cx="414045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경계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DDBA8-75B3-3985-B438-E472A46A1B2C}"/>
              </a:ext>
            </a:extLst>
          </p:cNvPr>
          <p:cNvSpPr txBox="1"/>
          <p:nvPr/>
        </p:nvSpPr>
        <p:spPr>
          <a:xfrm>
            <a:off x="5807274" y="7805291"/>
            <a:ext cx="401253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확정값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서술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검색 </a:t>
            </a:r>
            <a:r>
              <a:rPr lang="ko-KR" altLang="en-US" sz="25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청크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인용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C30AA-51EB-918D-7BE3-574C053E8074}"/>
              </a:ext>
            </a:extLst>
          </p:cNvPr>
          <p:cNvSpPr txBox="1"/>
          <p:nvPr/>
        </p:nvSpPr>
        <p:spPr>
          <a:xfrm>
            <a:off x="12578400" y="7462831"/>
            <a:ext cx="334816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→  위험 노출 범위 제한</a:t>
            </a: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B222A6B1-6494-4CE3-C036-06FF723E0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41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349F-AD5A-1450-273F-AD455056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9F0AE27-AE37-1741-A9EB-08B3E32E7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BA94CC4-C102-5EC5-718E-247387CF1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E9ECD07C-0E78-EE5E-2216-CE7A1828F570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.3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팀 성장 목표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74" name="Picture 15">
            <a:extLst>
              <a:ext uri="{FF2B5EF4-FFF2-40B4-BE49-F238E27FC236}">
                <a16:creationId xmlns:a16="http://schemas.microsoft.com/office/drawing/2014/main" id="{42A125B2-418B-7878-4757-F3A3E207BDE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36" y="6948354"/>
            <a:ext cx="4000500" cy="2217192"/>
          </a:xfrm>
          <a:prstGeom prst="rect">
            <a:avLst/>
          </a:prstGeom>
        </p:spPr>
      </p:pic>
      <p:sp>
        <p:nvSpPr>
          <p:cNvPr id="76" name="TextBox 25">
            <a:extLst>
              <a:ext uri="{FF2B5EF4-FFF2-40B4-BE49-F238E27FC236}">
                <a16:creationId xmlns:a16="http://schemas.microsoft.com/office/drawing/2014/main" id="{11ABF34A-28B8-8BB2-6C1E-3B34108239D1}"/>
              </a:ext>
            </a:extLst>
          </p:cNvPr>
          <p:cNvSpPr txBox="1"/>
          <p:nvPr/>
        </p:nvSpPr>
        <p:spPr>
          <a:xfrm>
            <a:off x="1238250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86" name="Picture 15">
            <a:extLst>
              <a:ext uri="{FF2B5EF4-FFF2-40B4-BE49-F238E27FC236}">
                <a16:creationId xmlns:a16="http://schemas.microsoft.com/office/drawing/2014/main" id="{5CB7B857-C8BE-8E62-2CED-18AD7A897BE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172" y="6948354"/>
            <a:ext cx="4000500" cy="2217192"/>
          </a:xfrm>
          <a:prstGeom prst="rect">
            <a:avLst/>
          </a:prstGeom>
        </p:spPr>
      </p:pic>
      <p:pic>
        <p:nvPicPr>
          <p:cNvPr id="88" name="Picture 15">
            <a:extLst>
              <a:ext uri="{FF2B5EF4-FFF2-40B4-BE49-F238E27FC236}">
                <a16:creationId xmlns:a16="http://schemas.microsoft.com/office/drawing/2014/main" id="{CD0D154F-F4B4-5590-3D67-F2873D3C51B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6948354"/>
            <a:ext cx="4000500" cy="2217192"/>
          </a:xfrm>
          <a:prstGeom prst="rect">
            <a:avLst/>
          </a:prstGeom>
        </p:spPr>
      </p:pic>
      <p:pic>
        <p:nvPicPr>
          <p:cNvPr id="90" name="Picture 15">
            <a:extLst>
              <a:ext uri="{FF2B5EF4-FFF2-40B4-BE49-F238E27FC236}">
                <a16:creationId xmlns:a16="http://schemas.microsoft.com/office/drawing/2014/main" id="{DE090C75-4616-3A49-316B-AE2ED079988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6236" y="6948354"/>
            <a:ext cx="4000500" cy="22171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275E992-9B28-DE68-A4C3-D894C4565CF3}"/>
              </a:ext>
            </a:extLst>
          </p:cNvPr>
          <p:cNvSpPr txBox="1"/>
          <p:nvPr/>
        </p:nvSpPr>
        <p:spPr>
          <a:xfrm>
            <a:off x="857250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 데이터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·FastAPI·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검증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4" name="TextBox 25">
            <a:extLst>
              <a:ext uri="{FF2B5EF4-FFF2-40B4-BE49-F238E27FC236}">
                <a16:creationId xmlns:a16="http://schemas.microsoft.com/office/drawing/2014/main" id="{07C8C100-1871-5078-9AE5-221ECA6A4E05}"/>
              </a:ext>
            </a:extLst>
          </p:cNvPr>
          <p:cNvSpPr txBox="1"/>
          <p:nvPr/>
        </p:nvSpPr>
        <p:spPr>
          <a:xfrm>
            <a:off x="5519964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김지오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8A4411-98F6-A199-B5BE-3C4CDB8484FE}"/>
              </a:ext>
            </a:extLst>
          </p:cNvPr>
          <p:cNvSpPr txBox="1"/>
          <p:nvPr/>
        </p:nvSpPr>
        <p:spPr>
          <a:xfrm>
            <a:off x="5138964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RAG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 구간 정량 평가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8" name="TextBox 25">
            <a:extLst>
              <a:ext uri="{FF2B5EF4-FFF2-40B4-BE49-F238E27FC236}">
                <a16:creationId xmlns:a16="http://schemas.microsoft.com/office/drawing/2014/main" id="{71AD15CA-5980-5F4E-A842-A804B22DAE4A}"/>
              </a:ext>
            </a:extLst>
          </p:cNvPr>
          <p:cNvSpPr txBox="1"/>
          <p:nvPr/>
        </p:nvSpPr>
        <p:spPr>
          <a:xfrm>
            <a:off x="9823450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홍준서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A2B00A-53E9-6045-F15C-CEC5562445A7}"/>
              </a:ext>
            </a:extLst>
          </p:cNvPr>
          <p:cNvSpPr txBox="1"/>
          <p:nvPr/>
        </p:nvSpPr>
        <p:spPr>
          <a:xfrm>
            <a:off x="9442450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·IoU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보정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2" name="TextBox 25">
            <a:extLst>
              <a:ext uri="{FF2B5EF4-FFF2-40B4-BE49-F238E27FC236}">
                <a16:creationId xmlns:a16="http://schemas.microsoft.com/office/drawing/2014/main" id="{FE6E720D-0B30-9AB1-98AE-8E5ED6C76217}"/>
              </a:ext>
            </a:extLst>
          </p:cNvPr>
          <p:cNvSpPr txBox="1"/>
          <p:nvPr/>
        </p:nvSpPr>
        <p:spPr>
          <a:xfrm>
            <a:off x="14084300" y="7298575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임성민</a:t>
            </a:r>
          </a:p>
          <a:p>
            <a:pPr lvl="0" algn="ctr">
              <a:lnSpc>
                <a:spcPct val="116199"/>
              </a:lnSpc>
            </a:pP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6488CFB-A366-40F5-767E-272BF73006AA}"/>
              </a:ext>
            </a:extLst>
          </p:cNvPr>
          <p:cNvSpPr txBox="1"/>
          <p:nvPr/>
        </p:nvSpPr>
        <p:spPr>
          <a:xfrm>
            <a:off x="13703300" y="8050659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MapLibre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지도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UI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연동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127D39AC-E53F-48EE-4ABD-82A84D5B5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7550" y="1955800"/>
            <a:ext cx="14312900" cy="977900"/>
          </a:xfrm>
          <a:prstGeom prst="rect">
            <a:avLst/>
          </a:prstGeom>
          <a:effectLst>
            <a:outerShdw dist="89682" dir="5400000">
              <a:srgbClr val="FAA95A">
                <a:alpha val="50000"/>
              </a:srgbClr>
            </a:outerShdw>
          </a:effectLst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9E9094A4-542F-D0E3-B69E-D20CF4B74F70}"/>
              </a:ext>
            </a:extLst>
          </p:cNvPr>
          <p:cNvSpPr txBox="1"/>
          <p:nvPr/>
        </p:nvSpPr>
        <p:spPr>
          <a:xfrm>
            <a:off x="4261984" y="2209650"/>
            <a:ext cx="9477375" cy="586380"/>
          </a:xfrm>
          <a:prstGeom prst="rect">
            <a:avLst/>
          </a:prstGeom>
        </p:spPr>
        <p:txBody>
          <a:bodyPr lIns="0" tIns="380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999" b="0" i="0" u="none" strike="noStrike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모든 팀원이 전체 파이프라인의 원리와 실패 조건을 설명</a:t>
            </a:r>
            <a:endParaRPr lang="ko-KR" altLang="en-US" sz="2999" b="0" i="0" u="none" strike="noStrike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A1DDE933-23EA-3000-52E3-9BCB00FAC3EC}"/>
              </a:ext>
            </a:extLst>
          </p:cNvPr>
          <p:cNvSpPr txBox="1"/>
          <p:nvPr/>
        </p:nvSpPr>
        <p:spPr>
          <a:xfrm>
            <a:off x="690336" y="6438900"/>
            <a:ext cx="2281464" cy="54018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개인별 도달 목표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7F8DE2-FB92-21FE-212B-7A9DCE9F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83FBA6A5-CE21-74AA-195A-F41568B3E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13" name="Picture 15">
            <a:extLst>
              <a:ext uri="{FF2B5EF4-FFF2-40B4-BE49-F238E27FC236}">
                <a16:creationId xmlns:a16="http://schemas.microsoft.com/office/drawing/2014/main" id="{6C669D9E-584E-65F3-9671-6091319CF9F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36" y="3238500"/>
            <a:ext cx="4000500" cy="2737384"/>
          </a:xfrm>
          <a:prstGeom prst="rect">
            <a:avLst/>
          </a:prstGeom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39F2648A-B53C-E2CA-1580-F8EF3B308B3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172" y="3238500"/>
            <a:ext cx="4000500" cy="2737384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3EA9EBDF-B1B8-6972-D370-5198028E974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3238500"/>
            <a:ext cx="4000500" cy="2737384"/>
          </a:xfrm>
          <a:prstGeom prst="rect">
            <a:avLst/>
          </a:prstGeom>
        </p:spPr>
      </p:pic>
      <p:pic>
        <p:nvPicPr>
          <p:cNvPr id="25" name="Picture 15">
            <a:extLst>
              <a:ext uri="{FF2B5EF4-FFF2-40B4-BE49-F238E27FC236}">
                <a16:creationId xmlns:a16="http://schemas.microsoft.com/office/drawing/2014/main" id="{193958FF-DCAF-7A50-0462-82F8337FCF8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6236" y="3238500"/>
            <a:ext cx="4000500" cy="2737384"/>
          </a:xfrm>
          <a:prstGeom prst="rect">
            <a:avLst/>
          </a:prstGeom>
        </p:spPr>
      </p:pic>
      <p:sp>
        <p:nvSpPr>
          <p:cNvPr id="66" name="TextBox 25">
            <a:extLst>
              <a:ext uri="{FF2B5EF4-FFF2-40B4-BE49-F238E27FC236}">
                <a16:creationId xmlns:a16="http://schemas.microsoft.com/office/drawing/2014/main" id="{51F9BB79-200A-86B4-5B77-49DB3421A34E}"/>
              </a:ext>
            </a:extLst>
          </p:cNvPr>
          <p:cNvSpPr txBox="1"/>
          <p:nvPr/>
        </p:nvSpPr>
        <p:spPr>
          <a:xfrm>
            <a:off x="838200" y="4601252"/>
            <a:ext cx="3733800" cy="43258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ELMFIRE · </a:t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</a:t>
            </a: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RAG </a:t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C5AE17-2CC9-3174-78DD-10742E2F0D5B}"/>
              </a:ext>
            </a:extLst>
          </p:cNvPr>
          <p:cNvSpPr txBox="1"/>
          <p:nvPr/>
        </p:nvSpPr>
        <p:spPr>
          <a:xfrm>
            <a:off x="681264" y="5016772"/>
            <a:ext cx="3850792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담당 외 모듈의 입출력</a:t>
            </a: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한계 설명</a:t>
            </a:r>
          </a:p>
        </p:txBody>
      </p:sp>
      <p:sp>
        <p:nvSpPr>
          <p:cNvPr id="70" name="TextBox 25">
            <a:extLst>
              <a:ext uri="{FF2B5EF4-FFF2-40B4-BE49-F238E27FC236}">
                <a16:creationId xmlns:a16="http://schemas.microsoft.com/office/drawing/2014/main" id="{58281785-85D5-CEB5-2F8D-EB149236D04D}"/>
              </a:ext>
            </a:extLst>
          </p:cNvPr>
          <p:cNvSpPr txBox="1"/>
          <p:nvPr/>
        </p:nvSpPr>
        <p:spPr>
          <a:xfrm>
            <a:off x="4854121" y="4601252"/>
            <a:ext cx="4303486" cy="342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PR </a:t>
            </a:r>
            <a:r>
              <a:rPr lang="ko-KR" altLang="en-US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리뷰 </a:t>
            </a:r>
            <a:r>
              <a:rPr lang="en-US" altLang="ko-KR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</a:t>
            </a:r>
            <a:r>
              <a:rPr lang="ko-KR" altLang="en-US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명세 합의 </a:t>
            </a:r>
            <a:r>
              <a:rPr lang="en-US" altLang="ko-KR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 9</a:t>
            </a:r>
            <a:r>
              <a:rPr lang="ko-KR" altLang="en-US" sz="2300" b="1" spc="-10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주차 통합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94BF9D-3729-00E2-6054-621D8BDE741C}"/>
              </a:ext>
            </a:extLst>
          </p:cNvPr>
          <p:cNvSpPr txBox="1"/>
          <p:nvPr/>
        </p:nvSpPr>
        <p:spPr>
          <a:xfrm>
            <a:off x="4906297" y="5002059"/>
            <a:ext cx="418825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수정 없이 결합되는 인터페이스 경험</a:t>
            </a:r>
          </a:p>
        </p:txBody>
      </p:sp>
      <p:sp>
        <p:nvSpPr>
          <p:cNvPr id="75" name="TextBox 25">
            <a:extLst>
              <a:ext uri="{FF2B5EF4-FFF2-40B4-BE49-F238E27FC236}">
                <a16:creationId xmlns:a16="http://schemas.microsoft.com/office/drawing/2014/main" id="{1CEB2899-79CD-686C-8402-AC1C79B6AC00}"/>
              </a:ext>
            </a:extLst>
          </p:cNvPr>
          <p:cNvSpPr txBox="1"/>
          <p:nvPr/>
        </p:nvSpPr>
        <p:spPr>
          <a:xfrm>
            <a:off x="9367655" y="4601252"/>
            <a:ext cx="3799992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3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데이터 제약에서 설계 근거 도출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FA17B1-1CD7-C31B-33F3-E37930665738}"/>
              </a:ext>
            </a:extLst>
          </p:cNvPr>
          <p:cNvSpPr txBox="1"/>
          <p:nvPr/>
        </p:nvSpPr>
        <p:spPr>
          <a:xfrm>
            <a:off x="9296400" y="5002059"/>
            <a:ext cx="400050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 </a:t>
            </a: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3</a:t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</a:t>
            </a: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보고서 1회 등 범위 결정 설명</a:t>
            </a:r>
          </a:p>
        </p:txBody>
      </p:sp>
      <p:sp>
        <p:nvSpPr>
          <p:cNvPr id="80" name="TextBox 25">
            <a:extLst>
              <a:ext uri="{FF2B5EF4-FFF2-40B4-BE49-F238E27FC236}">
                <a16:creationId xmlns:a16="http://schemas.microsoft.com/office/drawing/2014/main" id="{45970472-0546-2950-5A5B-87B935A3C1F2}"/>
              </a:ext>
            </a:extLst>
          </p:cNvPr>
          <p:cNvSpPr txBox="1"/>
          <p:nvPr/>
        </p:nvSpPr>
        <p:spPr>
          <a:xfrm>
            <a:off x="13776633" y="4601252"/>
            <a:ext cx="3539642" cy="342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300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간트</a:t>
            </a: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·Jira·</a:t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주간보고</a:t>
            </a:r>
            <a:r>
              <a:rPr lang="en-US" altLang="ko-KR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3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서버 운영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DADF7D-2E9B-96FB-E199-59EC98D9C6E4}"/>
              </a:ext>
            </a:extLst>
          </p:cNvPr>
          <p:cNvSpPr txBox="1"/>
          <p:nvPr/>
        </p:nvSpPr>
        <p:spPr>
          <a:xfrm>
            <a:off x="13739586" y="5002059"/>
            <a:ext cx="373380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6</a:t>
            </a:r>
            <a:r>
              <a:rPr lang="ko-KR" altLang="en-US" sz="19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마일스톤 기한 내 제출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F23BBF6B-C817-5553-B1CC-9C92906FDEBC}"/>
              </a:ext>
            </a:extLst>
          </p:cNvPr>
          <p:cNvSpPr txBox="1"/>
          <p:nvPr/>
        </p:nvSpPr>
        <p:spPr>
          <a:xfrm>
            <a:off x="4118760" y="3684978"/>
            <a:ext cx="5125026" cy="7184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endParaRPr lang="ko-KR" altLang="en-US" sz="3200" spc="-1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D165C9-97EA-5493-DF6F-EFADDA34C1B4}"/>
              </a:ext>
            </a:extLst>
          </p:cNvPr>
          <p:cNvGrpSpPr/>
          <p:nvPr/>
        </p:nvGrpSpPr>
        <p:grpSpPr>
          <a:xfrm>
            <a:off x="1447800" y="3532578"/>
            <a:ext cx="2293885" cy="718454"/>
            <a:chOff x="14254995" y="3306058"/>
            <a:chExt cx="1615973" cy="538517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60490232-214F-18EE-2384-4630F866406C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983C78E8-844F-9B0A-2066-50D6422681A8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기술</a:t>
              </a:r>
              <a:endParaRPr lang="en-US" altLang="ko-KR" sz="3200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6B0CF63-209E-EBE3-1E0A-87E3A3C062D3}"/>
              </a:ext>
            </a:extLst>
          </p:cNvPr>
          <p:cNvGrpSpPr/>
          <p:nvPr/>
        </p:nvGrpSpPr>
        <p:grpSpPr>
          <a:xfrm>
            <a:off x="5859515" y="3532578"/>
            <a:ext cx="2293885" cy="718454"/>
            <a:chOff x="14254995" y="3306058"/>
            <a:chExt cx="1615973" cy="538517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A3AF900-1069-7554-9BF8-B49341BC7984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54464D48-CE31-F332-0C64-78DDB8CF3660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협업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7D7521C-F3DB-E152-3219-456B2B048138}"/>
              </a:ext>
            </a:extLst>
          </p:cNvPr>
          <p:cNvGrpSpPr/>
          <p:nvPr/>
        </p:nvGrpSpPr>
        <p:grpSpPr>
          <a:xfrm>
            <a:off x="10109201" y="3532578"/>
            <a:ext cx="2293885" cy="718454"/>
            <a:chOff x="14254995" y="3306058"/>
            <a:chExt cx="1615973" cy="53851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C501955-7440-FDD7-19F0-2CBDA9965A8E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FF4A7555-5A1B-95A3-030A-2B16C337D913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기획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B565F92-7B50-5A77-BF1A-A63DDBA4F9BD}"/>
              </a:ext>
            </a:extLst>
          </p:cNvPr>
          <p:cNvGrpSpPr/>
          <p:nvPr/>
        </p:nvGrpSpPr>
        <p:grpSpPr>
          <a:xfrm>
            <a:off x="14406337" y="3572994"/>
            <a:ext cx="2293885" cy="718454"/>
            <a:chOff x="14254995" y="3306058"/>
            <a:chExt cx="1615973" cy="53851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C00D344-CFB9-88AE-89DE-F25F963F16A5}"/>
                </a:ext>
              </a:extLst>
            </p:cNvPr>
            <p:cNvSpPr/>
            <p:nvPr/>
          </p:nvSpPr>
          <p:spPr>
            <a:xfrm>
              <a:off x="14701033" y="3306058"/>
              <a:ext cx="762000" cy="538517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0C62B117-9644-1393-B222-016E3DF47C4E}"/>
                </a:ext>
              </a:extLst>
            </p:cNvPr>
            <p:cNvSpPr txBox="1"/>
            <p:nvPr/>
          </p:nvSpPr>
          <p:spPr>
            <a:xfrm>
              <a:off x="14254995" y="3306058"/>
              <a:ext cx="1615973" cy="538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200" spc="-100" dirty="0">
                  <a:solidFill>
                    <a:srgbClr val="363A52"/>
                  </a:solidFill>
                  <a:latin typeface="210 OmniGothic 040"/>
                  <a:ea typeface="210 OmniGothic 040"/>
                  <a:cs typeface="210 OmniGothic 040"/>
                </a:rPr>
                <a:t>운영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2796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165350" y="3619500"/>
            <a:ext cx="13919200" cy="1231900"/>
          </a:xfrm>
          <a:prstGeom prst="rect">
            <a:avLst/>
          </a:prstGeom>
        </p:spPr>
        <p:txBody>
          <a:bodyPr lIns="0" tIns="86358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798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  <a:endParaRPr lang="en-US" sz="6798" b="0" i="0" u="none" strike="noStrike" spc="-3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B86E9C0-C14B-2A08-2561-F2D665D5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3549</Words>
  <Application>Microsoft Office PowerPoint</Application>
  <PresentationFormat>사용자 지정</PresentationFormat>
  <Paragraphs>711</Paragraphs>
  <Slides>37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8" baseType="lpstr">
      <vt:lpstr>210 OmniGothic 050</vt:lpstr>
      <vt:lpstr>Arial</vt:lpstr>
      <vt:lpstr>Wingdings</vt:lpstr>
      <vt:lpstr>210 OmniGothic 030</vt:lpstr>
      <vt:lpstr>Pretendard Bold</vt:lpstr>
      <vt:lpstr>Pretendard Light</vt:lpstr>
      <vt:lpstr>맑은 고딕</vt:lpstr>
      <vt:lpstr>Calibri</vt:lpstr>
      <vt:lpstr>맑은 고딕</vt:lpstr>
      <vt:lpstr>210 OmniGothic 040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PARKER</cp:lastModifiedBy>
  <cp:revision>68</cp:revision>
  <dcterms:created xsi:type="dcterms:W3CDTF">2006-08-16T00:00:00Z</dcterms:created>
  <dcterms:modified xsi:type="dcterms:W3CDTF">2026-09-17T04:44:59Z</dcterms:modified>
</cp:coreProperties>
</file>