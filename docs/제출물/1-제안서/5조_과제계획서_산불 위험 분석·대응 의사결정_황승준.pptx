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64" r:id="rId3"/>
    <p:sldId id="293" r:id="rId4"/>
    <p:sldId id="294" r:id="rId5"/>
    <p:sldId id="295" r:id="rId6"/>
    <p:sldId id="296" r:id="rId7"/>
    <p:sldId id="292" r:id="rId8"/>
    <p:sldId id="297" r:id="rId9"/>
    <p:sldId id="298" r:id="rId10"/>
    <p:sldId id="291" r:id="rId11"/>
    <p:sldId id="299" r:id="rId12"/>
    <p:sldId id="290" r:id="rId13"/>
    <p:sldId id="300" r:id="rId14"/>
    <p:sldId id="267" r:id="rId15"/>
    <p:sldId id="265" r:id="rId16"/>
    <p:sldId id="281" r:id="rId17"/>
    <p:sldId id="282" r:id="rId18"/>
    <p:sldId id="283" r:id="rId19"/>
    <p:sldId id="284" r:id="rId20"/>
    <p:sldId id="285" r:id="rId21"/>
    <p:sldId id="287" r:id="rId22"/>
    <p:sldId id="288" r:id="rId23"/>
    <p:sldId id="289" r:id="rId24"/>
    <p:sldId id="268" r:id="rId25"/>
    <p:sldId id="266" r:id="rId26"/>
    <p:sldId id="270" r:id="rId27"/>
    <p:sldId id="269" r:id="rId28"/>
    <p:sldId id="272" r:id="rId29"/>
    <p:sldId id="271" r:id="rId30"/>
    <p:sldId id="273" r:id="rId31"/>
    <p:sldId id="263" r:id="rId32"/>
  </p:sldIdLst>
  <p:sldSz cx="18288000" cy="10287000"/>
  <p:notesSz cx="6858000" cy="9144000"/>
  <p:embeddedFontLst>
    <p:embeddedFont>
      <p:font typeface="210 OmniGothic 030" panose="020B0600000101010101" charset="-127"/>
      <p:regular r:id="rId34"/>
    </p:embeddedFont>
    <p:embeddedFont>
      <p:font typeface="210 OmniGothic 040" panose="020B0600000101010101" charset="-127"/>
      <p:regular r:id="rId35"/>
    </p:embeddedFont>
    <p:embeddedFont>
      <p:font typeface="210 OmniGothic 050" panose="020B0600000101010101" charset="-127"/>
      <p:regular r:id="rId36"/>
    </p:embeddedFont>
    <p:embeddedFont>
      <p:font typeface="Pretendard Bold" panose="020B0600000101010101" charset="-127"/>
      <p:bold r:id="rId37"/>
    </p:embeddedFont>
    <p:embeddedFont>
      <p:font typeface="Pretendard Light" panose="020B0600000101010101" charset="-127"/>
      <p:regular r:id="rId38"/>
    </p:embeddedFont>
    <p:embeddedFont>
      <p:font typeface="맑은 고딕" panose="020B0503020000020004" pitchFamily="50" charset="-127"/>
      <p:regular r:id="rId39"/>
      <p:bold r:id="rId40"/>
    </p:embeddedFont>
    <p:embeddedFont>
      <p:font typeface="맑은 고딕" panose="020B0503020000020004" pitchFamily="50" charset="-127"/>
      <p:regular r:id="rId39"/>
      <p:bold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3A52"/>
    <a:srgbClr val="FAA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10T04:23:03.078"/>
    <p1510:client id="{35E860F6-FC67-440C-B6B7-E8FF6139A921}" v="666" dt="2026-09-09T19:47:27.023"/>
    <p1510:client id="{DF7D3A39-03EE-4611-AC5C-5BBEA78418DF}" v="12" dt="2026-09-09T19:06:36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53" d="100"/>
          <a:sy n="53" d="100"/>
        </p:scale>
        <p:origin x="82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0C271-8C02-4EB7-99D8-094B235E4CEA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F5CA6-C40D-4640-B383-8E9A5F21C2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92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78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002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87674-BF19-D9A4-FFBD-52C46F01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5055DC-2F03-2E6C-D94B-6C3B9A144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0E78E4-546E-A048-D37C-440242A2E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E1935D-C343-A2AB-F058-134B999C7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F5CA6-C40D-4640-B383-8E9A5F21C25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348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7E13E-C63F-4D0B-BB23-D1F2A91FB568}" type="datetime1">
              <a:rPr lang="en-US" altLang="ko-KR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EEC63-120E-4E59-8607-E1749C0E89F9}" type="datetime1">
              <a:rPr lang="en-US" altLang="ko-KR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E3DD-F0A3-4F64-AA99-B4E912018FCA}" type="datetime1">
              <a:rPr lang="en-US" altLang="ko-KR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8869-110A-41B2-8B60-C1668D7B64C0}" type="datetime1">
              <a:rPr lang="en-US" altLang="ko-KR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72D2-F99A-4934-9072-4110418249BD}" type="datetime1">
              <a:rPr lang="en-US" altLang="ko-KR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C468B-20E3-407E-85A7-522E1433ED6A}" type="datetime1">
              <a:rPr lang="en-US" altLang="ko-KR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48AA-889C-443B-A93D-38FE1CFA7516}" type="datetime1">
              <a:rPr lang="en-US" altLang="ko-KR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63A5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>
              <a:solidFill>
                <a:srgbClr val="363A5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D5943-17CB-412C-A291-60B219F832C8}" type="datetime1">
              <a:rPr lang="en-US" altLang="ko-KR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0CD2-5E56-44C1-A1EF-E4FA14BF99E8}" type="datetime1">
              <a:rPr lang="en-US" altLang="ko-KR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41CA-56D6-49C1-9EA6-589A66A6D619}" type="datetime1">
              <a:rPr lang="en-US" altLang="ko-KR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F63-390B-4AA7-B117-B22D9F851814}" type="datetime1">
              <a:rPr lang="en-US" altLang="ko-KR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25D06-E58F-424F-8E85-775C648B2EFD}" type="datetime1">
              <a:rPr lang="en-US" altLang="ko-KR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8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0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4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1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1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2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1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13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32.png"/><Relationship Id="rId4" Type="http://schemas.openxmlformats.org/officeDocument/2006/relationships/image" Target="../media/image11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13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1.sv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13.svg"/><Relationship Id="rId4" Type="http://schemas.openxmlformats.org/officeDocument/2006/relationships/image" Target="../media/image27.svg"/><Relationship Id="rId9" Type="http://schemas.openxmlformats.org/officeDocument/2006/relationships/image" Target="../media/image28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13.svg"/><Relationship Id="rId4" Type="http://schemas.openxmlformats.org/officeDocument/2006/relationships/image" Target="../media/image27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2298700"/>
            <a:ext cx="18326100" cy="11264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49000" y="3759200"/>
            <a:ext cx="304800" cy="30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90900" y="3098800"/>
            <a:ext cx="812800" cy="939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88700" y="2120900"/>
            <a:ext cx="1905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014700" y="1917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3487400" y="1612900"/>
            <a:ext cx="266700" cy="2667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866900" y="6654800"/>
            <a:ext cx="7480300" cy="381000"/>
          </a:xfrm>
          <a:prstGeom prst="rect">
            <a:avLst/>
          </a:prstGeom>
        </p:spPr>
        <p:txBody>
          <a:bodyPr lIns="0" tIns="25399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999" dirty="0">
                <a:solidFill>
                  <a:srgbClr val="363A52"/>
                </a:solidFill>
                <a:latin typeface="Pretendard Light"/>
                <a:ea typeface="Pretendard Light"/>
                <a:cs typeface="Pretendard Light"/>
              </a:rPr>
              <a:t>황승준 </a:t>
            </a:r>
            <a:r>
              <a:rPr lang="ko-KR" altLang="en-US" sz="1999" dirty="0" err="1">
                <a:solidFill>
                  <a:srgbClr val="363A52"/>
                </a:solidFill>
                <a:latin typeface="Pretendard Light"/>
                <a:ea typeface="Pretendard Light"/>
                <a:cs typeface="Pretendard Light"/>
              </a:rPr>
              <a:t>김지오</a:t>
            </a:r>
            <a:r>
              <a:rPr lang="ko-KR" altLang="en-US" sz="1999" dirty="0">
                <a:solidFill>
                  <a:srgbClr val="363A52"/>
                </a:solidFill>
                <a:latin typeface="Pretendard Light"/>
                <a:ea typeface="Pretendard Light"/>
                <a:cs typeface="Pretendard Light"/>
              </a:rPr>
              <a:t> 홍준서 임성민</a:t>
            </a:r>
            <a:endParaRPr lang="en-US" sz="1999" b="0" i="0" u="none" strike="noStrike" dirty="0">
              <a:solidFill>
                <a:srgbClr val="363A5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66900" y="6096000"/>
            <a:ext cx="7505700" cy="482600"/>
          </a:xfrm>
          <a:prstGeom prst="rect">
            <a:avLst/>
          </a:prstGeom>
        </p:spPr>
        <p:txBody>
          <a:bodyPr lIns="0" tIns="33019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25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5</a:t>
            </a:r>
            <a:r>
              <a:rPr lang="ko-KR" altLang="en-US" sz="25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</a:t>
            </a:r>
            <a:r>
              <a:rPr lang="en-US" sz="25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ko-KR" altLang="en-US" sz="2599" b="0" i="0" u="none" strike="noStrike" spc="-100" dirty="0" err="1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산불조심하조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89100" y="3022600"/>
            <a:ext cx="6946900" cy="1739900"/>
          </a:xfrm>
          <a:prstGeom prst="rect">
            <a:avLst/>
          </a:prstGeom>
        </p:spPr>
        <p:txBody>
          <a:bodyPr lIns="0" tIns="121917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9599" b="0" i="0" u="none" strike="noStrike" spc="-3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산불 대응 </a:t>
            </a:r>
            <a:r>
              <a:rPr lang="en-US" altLang="ko-KR" sz="9599" b="0" i="0" u="none" strike="noStrike" spc="-3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AI</a:t>
            </a:r>
            <a:endParaRPr lang="en-US" sz="9599" b="0" i="0" u="none" strike="noStrike" spc="-3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892300" y="2336800"/>
            <a:ext cx="7543800" cy="673100"/>
          </a:xfrm>
          <a:prstGeom prst="rect">
            <a:avLst/>
          </a:prstGeom>
        </p:spPr>
        <p:txBody>
          <a:bodyPr lIns="0" tIns="45719" rIns="0" bIns="45719" rtlCol="0" anchor="ctr"/>
          <a:lstStyle/>
          <a:p>
            <a:pPr lvl="0" algn="l">
              <a:lnSpc>
                <a:spcPct val="99600"/>
              </a:lnSpc>
            </a:pPr>
            <a:r>
              <a:rPr 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2026</a:t>
            </a:r>
            <a:r>
              <a:rPr lang="ko-KR" alt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학년도 </a:t>
            </a:r>
            <a:r>
              <a:rPr lang="en-US" altLang="ko-KR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2</a:t>
            </a:r>
            <a:r>
              <a:rPr lang="ko-KR" alt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학기 </a:t>
            </a:r>
            <a:r>
              <a:rPr lang="en-US" altLang="ko-KR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Capstone Design</a:t>
            </a:r>
            <a:endParaRPr lang="en-US" sz="35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96FEA-C9A3-7C34-2A6F-0739A93EA5B2}"/>
              </a:ext>
            </a:extLst>
          </p:cNvPr>
          <p:cNvSpPr txBox="1"/>
          <p:nvPr/>
        </p:nvSpPr>
        <p:spPr>
          <a:xfrm>
            <a:off x="1600200" y="4602490"/>
            <a:ext cx="9131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2800"/>
              </a:spcBef>
              <a:spcAft>
                <a:spcPts val="600"/>
              </a:spcAft>
              <a:buNone/>
            </a:pPr>
            <a:r>
              <a:rPr lang="ko-KR" altLang="ko-KR" sz="2800" b="1" dirty="0">
                <a:solidFill>
                  <a:srgbClr val="363A52"/>
                </a:solidFill>
                <a:effectLst/>
                <a:latin typeface="+mn-lt"/>
                <a:ea typeface="맑은 고딕" panose="020B0503020000020004" pitchFamily="50" charset="-127"/>
                <a:cs typeface="맑은 고딕" panose="020B0503020000020004" pitchFamily="50" charset="-127"/>
              </a:rPr>
              <a:t>산불 확산 예측과 근거 기반 대응 의사결정 지원 시스템</a:t>
            </a:r>
            <a:endParaRPr lang="ko-KR" altLang="ko-KR" sz="1200" dirty="0">
              <a:solidFill>
                <a:srgbClr val="363A5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11E07E-12DA-D086-F371-88ED65379275}"/>
              </a:ext>
            </a:extLst>
          </p:cNvPr>
          <p:cNvSpPr txBox="1"/>
          <p:nvPr/>
        </p:nvSpPr>
        <p:spPr>
          <a:xfrm>
            <a:off x="129843" y="9752947"/>
            <a:ext cx="1301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ct val="100000"/>
              </a:lnSpc>
              <a:spcBef>
                <a:spcPts val="2800"/>
              </a:spcBef>
              <a:spcAft>
                <a:spcPts val="600"/>
              </a:spcAft>
              <a:buNone/>
            </a:pPr>
            <a:r>
              <a:rPr lang="en-US" altLang="ko-KR" b="1" dirty="0">
                <a:solidFill>
                  <a:schemeClr val="bg1"/>
                </a:solidFill>
                <a:effectLst/>
                <a:latin typeface="+mn-lt"/>
                <a:ea typeface="맑은 고딕" panose="020B0503020000020004" pitchFamily="50" charset="-127"/>
                <a:cs typeface="맑은 고딕" panose="020B0503020000020004" pitchFamily="50" charset="-127"/>
              </a:rPr>
              <a:t>2026.09.11</a:t>
            </a:r>
            <a:endParaRPr lang="ko-KR" altLang="ko-KR" sz="10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26C6C94B-339A-208C-4831-3B38CDB4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DA01-F59D-EA00-FDA2-C6A95413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A1BFE8A-818C-73A8-CCD9-94D316B491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1FD857E-21E5-FB5A-EADC-1CB2954322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DE48305-C77C-5B67-9E9A-661941B47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8909617A-C1EB-4391-2E1C-A27B7E57BEE2}"/>
              </a:ext>
            </a:extLst>
          </p:cNvPr>
          <p:cNvSpPr txBox="1"/>
          <p:nvPr/>
        </p:nvSpPr>
        <p:spPr>
          <a:xfrm>
            <a:off x="825500" y="469900"/>
            <a:ext cx="72517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목차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578D96C-BFBC-B5FD-7D6D-41B3188C0677}"/>
              </a:ext>
            </a:extLst>
          </p:cNvPr>
          <p:cNvGrpSpPr/>
          <p:nvPr/>
        </p:nvGrpSpPr>
        <p:grpSpPr>
          <a:xfrm>
            <a:off x="1676400" y="2755900"/>
            <a:ext cx="15011400" cy="5537200"/>
            <a:chOff x="4876800" y="2959100"/>
            <a:chExt cx="10261600" cy="4238124"/>
          </a:xfrm>
        </p:grpSpPr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69B7B54-E475-DF39-28F4-44962A3DAE24}"/>
                </a:ext>
              </a:extLst>
            </p:cNvPr>
            <p:cNvSpPr txBox="1"/>
            <p:nvPr/>
          </p:nvSpPr>
          <p:spPr>
            <a:xfrm>
              <a:off x="4876800" y="2959100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1.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개발 배경 및 중요성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11" name="TextBox 15">
              <a:extLst>
                <a:ext uri="{FF2B5EF4-FFF2-40B4-BE49-F238E27FC236}">
                  <a16:creationId xmlns:a16="http://schemas.microsoft.com/office/drawing/2014/main" id="{CF8AC6D3-5B16-49AC-AF0C-342A4EC13B22}"/>
                </a:ext>
              </a:extLst>
            </p:cNvPr>
            <p:cNvSpPr txBox="1"/>
            <p:nvPr/>
          </p:nvSpPr>
          <p:spPr>
            <a:xfrm>
              <a:off x="4876800" y="4114132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3.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차별성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90A55529-3E03-3AC5-5A02-498BF1B72DE1}"/>
                </a:ext>
              </a:extLst>
            </p:cNvPr>
            <p:cNvSpPr txBox="1"/>
            <p:nvPr/>
          </p:nvSpPr>
          <p:spPr>
            <a:xfrm>
              <a:off x="4876800" y="5266824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5.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개발 방법 및 체계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0ECB81C1-47F1-8A6B-4CA3-AD6E3130AE87}"/>
                </a:ext>
              </a:extLst>
            </p:cNvPr>
            <p:cNvSpPr txBox="1"/>
            <p:nvPr/>
          </p:nvSpPr>
          <p:spPr>
            <a:xfrm>
              <a:off x="4876800" y="6359024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7.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기대효과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70" name="TextBox 15">
              <a:extLst>
                <a:ext uri="{FF2B5EF4-FFF2-40B4-BE49-F238E27FC236}">
                  <a16:creationId xmlns:a16="http://schemas.microsoft.com/office/drawing/2014/main" id="{4E1466BD-E1CD-9125-2122-BF2D5D588C21}"/>
                </a:ext>
              </a:extLst>
            </p:cNvPr>
            <p:cNvSpPr txBox="1"/>
            <p:nvPr/>
          </p:nvSpPr>
          <p:spPr>
            <a:xfrm>
              <a:off x="10058400" y="2959100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2.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개발 목표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72" name="TextBox 15">
              <a:extLst>
                <a:ext uri="{FF2B5EF4-FFF2-40B4-BE49-F238E27FC236}">
                  <a16:creationId xmlns:a16="http://schemas.microsoft.com/office/drawing/2014/main" id="{F31DC41F-B017-320C-2AF2-CFD3C5210078}"/>
                </a:ext>
              </a:extLst>
            </p:cNvPr>
            <p:cNvSpPr txBox="1"/>
            <p:nvPr/>
          </p:nvSpPr>
          <p:spPr>
            <a:xfrm>
              <a:off x="10058400" y="4114132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4.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활용 데이터 및 활용 방안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  <p:sp>
          <p:nvSpPr>
            <p:cNvPr id="74" name="TextBox 15">
              <a:extLst>
                <a:ext uri="{FF2B5EF4-FFF2-40B4-BE49-F238E27FC236}">
                  <a16:creationId xmlns:a16="http://schemas.microsoft.com/office/drawing/2014/main" id="{697FFC96-B3E3-30AD-E44C-3AF676421AD8}"/>
                </a:ext>
              </a:extLst>
            </p:cNvPr>
            <p:cNvSpPr txBox="1"/>
            <p:nvPr/>
          </p:nvSpPr>
          <p:spPr>
            <a:xfrm>
              <a:off x="10058400" y="5266824"/>
              <a:ext cx="5080000" cy="83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6. </a:t>
              </a:r>
              <a:r>
                <a:rPr lang="ko-KR" altLang="en-US" sz="4400" spc="-100" dirty="0">
                  <a:solidFill>
                    <a:srgbClr val="363A52"/>
                  </a:solidFill>
                  <a:latin typeface="210 OmniGothic 050"/>
                  <a:ea typeface="210 OmniGothic 050"/>
                  <a:cs typeface="210 OmniGothic 050"/>
                </a:rPr>
                <a:t>개발 추진 계획</a:t>
              </a:r>
              <a:endParaRPr lang="en-US" sz="4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endParaRPr>
            </a:p>
          </p:txBody>
        </p:sp>
      </p:grp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4DDFF1-62F1-2381-0752-38ED3A77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25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1416-DAF5-1A7B-4E1B-1D4C6D74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53C1585-55A8-F559-9F8E-5963B9BCCE5B}"/>
              </a:ext>
            </a:extLst>
          </p:cNvPr>
          <p:cNvSpPr txBox="1"/>
          <p:nvPr/>
        </p:nvSpPr>
        <p:spPr>
          <a:xfrm>
            <a:off x="6197358" y="4705350"/>
            <a:ext cx="5880583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1.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개발 배경 및 중요성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FDCC83-4678-2AF5-EE61-36CA6AF7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1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A376F77-C743-2AF0-D88C-6D46E9BD92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173" y="3746273"/>
            <a:ext cx="10355944" cy="5869669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837509" y="205703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산불은 덜 발생해도, 한 번의 피해는 </a:t>
            </a:r>
            <a:r>
              <a:rPr lang="ko-KR" altLang="en-US" sz="4000" b="1" spc="-100" dirty="0">
                <a:solidFill>
                  <a:srgbClr val="FAA95A"/>
                </a:solidFill>
                <a:latin typeface="210 OmniGothic 040"/>
                <a:ea typeface="210 OmniGothic 040"/>
              </a:rPr>
              <a:t>더 커지고 있다.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5500" y="469900"/>
            <a:ext cx="9218386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1. </a:t>
            </a:r>
            <a:r>
              <a:rPr lang="ko-KR" altLang="en-US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 배경 및 중요성</a:t>
            </a:r>
            <a:endParaRPr lang="ko-KR" altLang="en-US" sz="4750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Calibri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FB409B1-C61A-51BE-D3DA-4128374964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3886" y="3292702"/>
            <a:ext cx="8069944" cy="4545241"/>
          </a:xfrm>
          <a:prstGeom prst="rect">
            <a:avLst/>
          </a:prstGeom>
        </p:spPr>
      </p:pic>
      <p:sp>
        <p:nvSpPr>
          <p:cNvPr id="36" name="TextBox 21">
            <a:extLst>
              <a:ext uri="{FF2B5EF4-FFF2-40B4-BE49-F238E27FC236}">
                <a16:creationId xmlns:a16="http://schemas.microsoft.com/office/drawing/2014/main" id="{20F8EEF1-CBE0-DCE4-8300-D571C33F54F5}"/>
              </a:ext>
            </a:extLst>
          </p:cNvPr>
          <p:cNvSpPr txBox="1"/>
          <p:nvPr/>
        </p:nvSpPr>
        <p:spPr>
          <a:xfrm>
            <a:off x="961572" y="3742870"/>
            <a:ext cx="10299700" cy="153307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발생 건수는 최근 10년 평균보다 적었지만,</a:t>
            </a:r>
            <a:endParaRPr lang="en-US" altLang="ko-KR" dirty="0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pPr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FAA95A"/>
                </a:solidFill>
                <a:latin typeface="210 OmniGothic 040"/>
                <a:ea typeface="210 OmniGothic 040"/>
              </a:rPr>
              <a:t>피해면적은 약 7.3배</a:t>
            </a:r>
            <a:endParaRPr lang="en-US" altLang="ko-KR" dirty="0">
              <a:ea typeface="맑은 고딕"/>
              <a:cs typeface="Calibri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FED9F41E-2F6E-3DA7-9061-969D8E2574B1}"/>
              </a:ext>
            </a:extLst>
          </p:cNvPr>
          <p:cNvSpPr txBox="1"/>
          <p:nvPr/>
        </p:nvSpPr>
        <p:spPr>
          <a:xfrm>
            <a:off x="823686" y="84701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16199"/>
              </a:lnSpc>
            </a:pPr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출처 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: </a:t>
            </a:r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산림청 산불발생통계서비스 </a:t>
            </a:r>
            <a:endParaRPr lang="ko-KR" altLang="en-US" sz="1600">
              <a:latin typeface="210 OmniGothic 050"/>
              <a:ea typeface="210 OmniGothic 05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1334108-5F75-A1E6-CCFE-8EACE21DE672}"/>
              </a:ext>
            </a:extLst>
          </p:cNvPr>
          <p:cNvSpPr txBox="1"/>
          <p:nvPr/>
        </p:nvSpPr>
        <p:spPr>
          <a:xfrm>
            <a:off x="823686" y="87749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16199"/>
              </a:lnSpc>
            </a:pPr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Calibri"/>
              </a:rPr>
              <a:t>시각자료 제작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: 생성형 AI 활용</a:t>
            </a:r>
            <a:endParaRPr lang="en-US" sz="1600" spc="-100" dirty="0">
              <a:solidFill>
                <a:srgbClr val="363A52"/>
              </a:solidFill>
              <a:latin typeface="210 OmniGothic 050"/>
              <a:ea typeface="210 OmniGothic 050"/>
            </a:endParaRPr>
          </a:p>
        </p:txBody>
      </p:sp>
    </p:spTree>
    <p:extLst>
      <p:ext uri="{BB962C8B-B14F-4D97-AF65-F5344CB8AC3E}">
        <p14:creationId xmlns:p14="http://schemas.microsoft.com/office/powerpoint/2010/main" val="122086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617C-E0DE-EC60-555A-F44F8D1E2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A9A071A-EC07-26E3-C296-6893F20ED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4E9B0E9-C7CD-9062-A801-3611BF9E4F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30AF172-5B16-3193-C1C1-B1C50AB31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71F297F-B0EB-8A19-4DD7-8348D099B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4A2E257B-56E8-03B5-783C-3012FB402D87}"/>
              </a:ext>
            </a:extLst>
          </p:cNvPr>
          <p:cNvSpPr txBox="1"/>
          <p:nvPr/>
        </p:nvSpPr>
        <p:spPr>
          <a:xfrm>
            <a:off x="1578429" y="187415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</a:rPr>
              <a:t>확산은 예측하지만, 다음 행동까지 </a:t>
            </a:r>
            <a:r>
              <a:rPr lang="ko-KR" altLang="en-US" sz="4000" b="1" spc="-100" dirty="0">
                <a:solidFill>
                  <a:srgbClr val="FAA95A"/>
                </a:solidFill>
                <a:latin typeface="210 OmniGothic 040"/>
                <a:ea typeface="210 OmniGothic 040"/>
              </a:rPr>
              <a:t>자동으로 연결되지 않는다</a:t>
            </a:r>
            <a:endParaRPr lang="en-US" altLang="ko-KR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7A31018-EF7F-1B01-4213-D1FEDE2591FB}"/>
              </a:ext>
            </a:extLst>
          </p:cNvPr>
          <p:cNvSpPr txBox="1"/>
          <p:nvPr/>
        </p:nvSpPr>
        <p:spPr>
          <a:xfrm>
            <a:off x="825500" y="469900"/>
            <a:ext cx="86233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1. </a:t>
            </a:r>
            <a:r>
              <a:rPr lang="ko-KR" altLang="en-US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 배경 및 중요성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8FD101-E95B-BDF4-CD2B-0096597E89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023" y="2552338"/>
            <a:ext cx="9146539" cy="68289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CDD623-C8F3-C186-5513-7EC3DAEBB5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57428" y="2730498"/>
            <a:ext cx="4336143" cy="647700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0033CE1-4D30-A749-32CC-57314FE7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99A315FE-3293-6FA6-1FCD-0D1DF4D6DCDC}"/>
              </a:ext>
            </a:extLst>
          </p:cNvPr>
          <p:cNvSpPr txBox="1"/>
          <p:nvPr/>
        </p:nvSpPr>
        <p:spPr>
          <a:xfrm>
            <a:off x="823686" y="87749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Calibri"/>
              </a:rPr>
              <a:t>시각자료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 제작: 생성형 AI 활용</a:t>
            </a:r>
            <a:endParaRPr lang="ko-KR" sz="1600" spc="-100" dirty="0">
              <a:solidFill>
                <a:srgbClr val="000000"/>
              </a:solidFill>
              <a:latin typeface="210 OmniGothic 050"/>
              <a:ea typeface="210 OmniGothic 050"/>
            </a:endParaRPr>
          </a:p>
        </p:txBody>
      </p:sp>
    </p:spTree>
    <p:extLst>
      <p:ext uri="{BB962C8B-B14F-4D97-AF65-F5344CB8AC3E}">
        <p14:creationId xmlns:p14="http://schemas.microsoft.com/office/powerpoint/2010/main" val="70444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4E75-CEC5-C3EF-830E-EF8B01FD1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7CF62D4-1B34-9A0D-2AC7-13BF60B5E1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FF285A6-AFC0-37C6-59A8-E0EF9AEBBA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2FE549B-1CEF-C4CD-B0C8-B769DAF31F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1771" y="161834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F6EFC79-8FCC-EA81-BB53-1192A7510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8C08F1A2-10E6-0669-90EB-17E3BDFA5744}"/>
              </a:ext>
            </a:extLst>
          </p:cNvPr>
          <p:cNvSpPr txBox="1"/>
          <p:nvPr/>
        </p:nvSpPr>
        <p:spPr>
          <a:xfrm>
            <a:off x="1623786" y="187415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같은 산불이어도 사용자마다 </a:t>
            </a:r>
            <a:r>
              <a:rPr lang="ko-KR" altLang="en-US" sz="40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필요한 정보가 다르다</a:t>
            </a:r>
            <a:endParaRPr lang="en-US" altLang="ko-KR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54A9864-E2BF-6E48-949F-8B0C784D979B}"/>
              </a:ext>
            </a:extLst>
          </p:cNvPr>
          <p:cNvSpPr txBox="1"/>
          <p:nvPr/>
        </p:nvSpPr>
        <p:spPr>
          <a:xfrm>
            <a:off x="825500" y="469900"/>
            <a:ext cx="778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1. </a:t>
            </a:r>
            <a:r>
              <a:rPr lang="ko-KR" altLang="en-US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 배경 및 중요성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2F23A4-4F84-597A-C79A-7D3398557A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4694" y="2808878"/>
            <a:ext cx="8170092" cy="6213566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4586CF1-51B2-D606-585C-1A0EA023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2EA349-7884-40C6-5195-D98CE9B685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7015" y="2834640"/>
            <a:ext cx="4621530" cy="5882640"/>
          </a:xfrm>
          <a:prstGeom prst="rect">
            <a:avLst/>
          </a:prstGeom>
        </p:spPr>
      </p:pic>
      <p:sp>
        <p:nvSpPr>
          <p:cNvPr id="11" name="TextBox 15">
            <a:extLst>
              <a:ext uri="{FF2B5EF4-FFF2-40B4-BE49-F238E27FC236}">
                <a16:creationId xmlns:a16="http://schemas.microsoft.com/office/drawing/2014/main" id="{63CDA69A-E4CC-7F6E-0D21-80FB5DF005AD}"/>
              </a:ext>
            </a:extLst>
          </p:cNvPr>
          <p:cNvSpPr txBox="1"/>
          <p:nvPr/>
        </p:nvSpPr>
        <p:spPr>
          <a:xfrm>
            <a:off x="823686" y="87749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Calibri"/>
              </a:rPr>
              <a:t>시각자료 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제작: 생성형 AI 활용</a:t>
            </a:r>
            <a:endParaRPr lang="ko-KR" altLang="en-US" sz="1600" spc="-100" dirty="0">
              <a:solidFill>
                <a:srgbClr val="000000"/>
              </a:solidFill>
              <a:latin typeface="210 OmniGothic 050"/>
              <a:ea typeface="210 OmniGothic 050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378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2C64-EA29-CB4A-83AE-6F2A4990E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2">
            <a:extLst>
              <a:ext uri="{FF2B5EF4-FFF2-40B4-BE49-F238E27FC236}">
                <a16:creationId xmlns:a16="http://schemas.microsoft.com/office/drawing/2014/main" id="{E13F6686-2863-F408-771F-CB23E7DE1DE8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2036E3B-053A-DC33-C7CB-009BA548D9B1}"/>
              </a:ext>
            </a:extLst>
          </p:cNvPr>
          <p:cNvSpPr txBox="1"/>
          <p:nvPr/>
        </p:nvSpPr>
        <p:spPr>
          <a:xfrm>
            <a:off x="7454417" y="4648011"/>
            <a:ext cx="3379165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2.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개발 목표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49A043-5E17-D38C-BA4B-37F6AFBF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76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77982-AA8A-E6D4-FCEB-F62D44E58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AAD9B01-819A-4C19-5CF2-C3CD099658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14D8665-3520-5A76-264D-BA8345C1D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29DDFA7-E95D-294E-3B95-CE98E4634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9B82862F-1B68-40C1-03A6-41B8B5A9A91B}"/>
              </a:ext>
            </a:extLst>
          </p:cNvPr>
          <p:cNvSpPr txBox="1"/>
          <p:nvPr/>
        </p:nvSpPr>
        <p:spPr>
          <a:xfrm>
            <a:off x="1846036" y="1890258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예측 결과를 </a:t>
            </a:r>
            <a:r>
              <a:rPr lang="ko-KR" altLang="en-US" sz="40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'행동 가능한 대응 </a:t>
            </a:r>
            <a:r>
              <a:rPr lang="ko-KR" altLang="en-US" sz="4000" b="1" spc="-100" dirty="0" err="1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정보'</a:t>
            </a:r>
            <a:r>
              <a:rPr lang="ko-KR" altLang="en-US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로</a:t>
            </a:r>
            <a:r>
              <a:rPr 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 변환</a:t>
            </a:r>
            <a:endParaRPr lang="en-US" altLang="ko-KR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F87CC77-FB7C-6BDF-2993-7B7007895D3A}"/>
              </a:ext>
            </a:extLst>
          </p:cNvPr>
          <p:cNvSpPr txBox="1"/>
          <p:nvPr/>
        </p:nvSpPr>
        <p:spPr>
          <a:xfrm>
            <a:off x="825500" y="469900"/>
            <a:ext cx="400412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2.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</a:t>
            </a: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목표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BBBE6A-4EE1-255C-2A44-09F93FC8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D86B9F45-21B6-3E0E-EB12-E4A8D8C4A963}"/>
              </a:ext>
            </a:extLst>
          </p:cNvPr>
          <p:cNvSpPr txBox="1"/>
          <p:nvPr/>
        </p:nvSpPr>
        <p:spPr>
          <a:xfrm>
            <a:off x="823686" y="87749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Calibri"/>
              </a:rPr>
              <a:t>시각자료 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제작: 생성형 AI 활용</a:t>
            </a:r>
            <a:endParaRPr lang="ko-KR" altLang="en-US" sz="1600" spc="-100" dirty="0">
              <a:solidFill>
                <a:srgbClr val="000000"/>
              </a:solidFill>
              <a:latin typeface="210 OmniGothic 050"/>
              <a:ea typeface="210 OmniGothic 050"/>
              <a:cs typeface="+mn-lt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F64E13-C540-C0D2-A0E0-8D96621632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5974" y="2917508"/>
            <a:ext cx="10866120" cy="597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0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69DB-3D20-4653-C5D2-20BE9FAB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D8EE007-D247-690D-6E17-08AAA672D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1B95043-F8B3-9939-B3E6-F3708C326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D2D53EA-6996-2E5B-65F8-BF4AC0DA0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30767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CBD0B08-2AD3-D594-D0C4-6910ABBA6A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0C000FA8-E50C-184B-E4FE-45130F432E4E}"/>
              </a:ext>
            </a:extLst>
          </p:cNvPr>
          <p:cNvSpPr txBox="1"/>
          <p:nvPr/>
        </p:nvSpPr>
        <p:spPr>
          <a:xfrm>
            <a:off x="1837146" y="193511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시스템을 구성하는 </a:t>
            </a:r>
            <a:r>
              <a:rPr lang="ko-KR" altLang="en-US" sz="40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Calibri"/>
              </a:rPr>
              <a:t>3가지 핵심 목표</a:t>
            </a:r>
            <a:endParaRPr lang="ko-KR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0E117E3-F7C2-8359-3489-CA68E7DF0434}"/>
              </a:ext>
            </a:extLst>
          </p:cNvPr>
          <p:cNvSpPr txBox="1"/>
          <p:nvPr/>
        </p:nvSpPr>
        <p:spPr>
          <a:xfrm>
            <a:off x="825500" y="469900"/>
            <a:ext cx="400412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2.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개발</a:t>
            </a: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목표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0BCD5D-EBE2-5066-8185-072DCD4AEB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50" y="2960204"/>
            <a:ext cx="16809554" cy="5599043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4D7249-47BA-672B-7350-BF4EC214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F13BD70F-3E50-6A44-49B3-D46270234CCD}"/>
              </a:ext>
            </a:extLst>
          </p:cNvPr>
          <p:cNvSpPr txBox="1"/>
          <p:nvPr/>
        </p:nvSpPr>
        <p:spPr>
          <a:xfrm>
            <a:off x="823686" y="87749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Calibri"/>
              </a:rPr>
              <a:t>시각자료 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제작: 생성형 AI 활용</a:t>
            </a:r>
            <a:endParaRPr lang="ko-KR" altLang="en-US" sz="1600" spc="-100" dirty="0">
              <a:solidFill>
                <a:srgbClr val="000000"/>
              </a:solidFill>
              <a:latin typeface="210 OmniGothic 050"/>
              <a:ea typeface="210 OmniGothic 050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5432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6B1E3-54EF-6480-1380-EBB8611B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A62AD02D-9A24-7327-0212-DD736D095455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24DC7E1-8E7F-F1F2-B22C-2D71393E855A}"/>
              </a:ext>
            </a:extLst>
          </p:cNvPr>
          <p:cNvSpPr txBox="1"/>
          <p:nvPr/>
        </p:nvSpPr>
        <p:spPr>
          <a:xfrm>
            <a:off x="7822235" y="4648011"/>
            <a:ext cx="2611552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3</a:t>
            </a:r>
            <a:r>
              <a:rPr lang="en-US" sz="4799" spc="-10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차별성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F441F0-947E-D9E8-3455-6E78F065B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52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7104A-F85B-7A9D-EA50-2D4053C8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6B21E08-3241-AF20-05D7-FA8013AF1A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8079946-2F11-7878-4EC2-DE7FA1BC4D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1A56E97-DBFB-E1FB-7C50-89056A066E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47A9A33-688E-FDA2-7120-8F57B4F00C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0BE692E7-3DBB-9413-804D-2ABA9C913196}"/>
              </a:ext>
            </a:extLst>
          </p:cNvPr>
          <p:cNvSpPr txBox="1"/>
          <p:nvPr/>
        </p:nvSpPr>
        <p:spPr>
          <a:xfrm>
            <a:off x="825500" y="469900"/>
            <a:ext cx="6229169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3.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차별성</a:t>
            </a:r>
            <a:endParaRPr lang="en-US" altLang="ko-KR" sz="4750" spc="-100" dirty="0">
              <a:solidFill>
                <a:srgbClr val="FAA95A"/>
              </a:solidFill>
              <a:latin typeface="210 OmniGothic 050"/>
              <a:ea typeface="210 OmniGothic 050"/>
              <a:cs typeface="Calibri"/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2C17245E-6CB0-818E-37B3-9739F312F2E1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009097" y="5793349"/>
            <a:ext cx="4813300" cy="25400"/>
          </a:xfrm>
          <a:prstGeom prst="rect">
            <a:avLst/>
          </a:prstGeom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11EF1852-9DFF-C61F-6734-07E055A68473}"/>
              </a:ext>
            </a:extLst>
          </p:cNvPr>
          <p:cNvSpPr txBox="1"/>
          <p:nvPr/>
        </p:nvSpPr>
        <p:spPr>
          <a:xfrm>
            <a:off x="1116427" y="7163582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8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역할별 행동 지침</a:t>
            </a:r>
            <a:endParaRPr lang="en-US" sz="2800" b="0" i="0" u="none" strike="noStrike" spc="-10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DF76DB8E-F186-2A46-3717-9156BA709170}"/>
              </a:ext>
            </a:extLst>
          </p:cNvPr>
          <p:cNvSpPr txBox="1"/>
          <p:nvPr/>
        </p:nvSpPr>
        <p:spPr>
          <a:xfrm>
            <a:off x="1116427" y="5924061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8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대응 판단</a:t>
            </a:r>
            <a:endParaRPr lang="en-US" sz="2000" b="0" i="0" u="none" strike="noStrike" spc="-10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FD8CEE00-2AC4-F13A-0C50-E30759D8F1C6}"/>
              </a:ext>
            </a:extLst>
          </p:cNvPr>
          <p:cNvSpPr txBox="1"/>
          <p:nvPr/>
        </p:nvSpPr>
        <p:spPr>
          <a:xfrm>
            <a:off x="1116427" y="4666761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8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예측 결과</a:t>
            </a:r>
            <a:endParaRPr lang="ko-KR" altLang="en-US" sz="2800" b="0" i="0" u="none" strike="noStrike" spc="-100">
              <a:solidFill>
                <a:srgbClr val="363A52"/>
              </a:solidFill>
              <a:latin typeface="210 OmniGothic 050"/>
              <a:ea typeface="210 OmniGothic 050"/>
              <a:cs typeface="210 OmniGothic 030"/>
            </a:endParaRPr>
          </a:p>
        </p:txBody>
      </p:sp>
      <p:pic>
        <p:nvPicPr>
          <p:cNvPr id="26" name="Picture 14">
            <a:extLst>
              <a:ext uri="{FF2B5EF4-FFF2-40B4-BE49-F238E27FC236}">
                <a16:creationId xmlns:a16="http://schemas.microsoft.com/office/drawing/2014/main" id="{607AA76E-54F7-AAA3-DBEE-19D42B90A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3544667" y="5416061"/>
            <a:ext cx="266700" cy="457200"/>
          </a:xfrm>
          <a:prstGeom prst="rect">
            <a:avLst/>
          </a:prstGeom>
        </p:spPr>
      </p:pic>
      <p:pic>
        <p:nvPicPr>
          <p:cNvPr id="27" name="Picture 14">
            <a:extLst>
              <a:ext uri="{FF2B5EF4-FFF2-40B4-BE49-F238E27FC236}">
                <a16:creationId xmlns:a16="http://schemas.microsoft.com/office/drawing/2014/main" id="{BD6AB1E1-CA0C-6184-26A8-AE6B2FD6E8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3544667" y="6665742"/>
            <a:ext cx="266700" cy="457200"/>
          </a:xfrm>
          <a:prstGeom prst="rect">
            <a:avLst/>
          </a:prstGeom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8A167692-BA19-8E51-13C9-52660E2E483F}"/>
              </a:ext>
            </a:extLst>
          </p:cNvPr>
          <p:cNvSpPr txBox="1"/>
          <p:nvPr/>
        </p:nvSpPr>
        <p:spPr>
          <a:xfrm>
            <a:off x="797755" y="3393050"/>
            <a:ext cx="5598160" cy="98552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32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본 과제의 핵심은 산불 확산을 </a:t>
            </a:r>
            <a:endParaRPr lang="en-US" altLang="ko-KR" sz="3200" b="1">
              <a:solidFill>
                <a:srgbClr val="363A52"/>
              </a:solidFill>
              <a:ea typeface="맑은 고딕"/>
              <a:cs typeface="Calibri"/>
            </a:endParaRPr>
          </a:p>
          <a:p>
            <a:pPr algn="ctr">
              <a:lnSpc>
                <a:spcPct val="99600"/>
              </a:lnSpc>
            </a:pPr>
            <a:r>
              <a:rPr lang="ko-KR" altLang="en-US" sz="3200" b="1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새롭게 예측하는 것이 아니다</a:t>
            </a:r>
            <a:endParaRPr lang="ko-KR" sz="3200" b="1">
              <a:ea typeface="맑은 고딕"/>
              <a:cs typeface="Calibri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CB61C7B-E523-3602-B5D3-0586009301CD}"/>
              </a:ext>
            </a:extLst>
          </p:cNvPr>
          <p:cNvSpPr txBox="1"/>
          <p:nvPr/>
        </p:nvSpPr>
        <p:spPr>
          <a:xfrm>
            <a:off x="1623786" y="187415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기존 시스템과 무엇이 </a:t>
            </a:r>
            <a:r>
              <a:rPr lang="ko-KR" altLang="en-US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다른가</a:t>
            </a:r>
            <a:r>
              <a:rPr lang="ko-KR" altLang="en-US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Calibri"/>
              </a:rPr>
              <a:t>?</a:t>
            </a:r>
            <a:endParaRPr lang="en-US" altLang="ko-KR" dirty="0">
              <a:cs typeface="Calibri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DCF06B-5A79-C5CA-8B65-FAF1D1C1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25596DE-EE8A-863B-46F4-9344AF259126}"/>
              </a:ext>
            </a:extLst>
          </p:cNvPr>
          <p:cNvGraphicFramePr>
            <a:graphicFrameLocks noGrp="1"/>
          </p:cNvGraphicFramePr>
          <p:nvPr/>
        </p:nvGraphicFramePr>
        <p:xfrm>
          <a:off x="7056120" y="3648456"/>
          <a:ext cx="10425005" cy="3858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389">
                  <a:extLst>
                    <a:ext uri="{9D8B030D-6E8A-4147-A177-3AD203B41FA5}">
                      <a16:colId xmlns:a16="http://schemas.microsoft.com/office/drawing/2014/main" val="4037548728"/>
                    </a:ext>
                  </a:extLst>
                </a:gridCol>
                <a:gridCol w="2747113">
                  <a:extLst>
                    <a:ext uri="{9D8B030D-6E8A-4147-A177-3AD203B41FA5}">
                      <a16:colId xmlns:a16="http://schemas.microsoft.com/office/drawing/2014/main" val="2801287839"/>
                    </a:ext>
                  </a:extLst>
                </a:gridCol>
                <a:gridCol w="2266627">
                  <a:extLst>
                    <a:ext uri="{9D8B030D-6E8A-4147-A177-3AD203B41FA5}">
                      <a16:colId xmlns:a16="http://schemas.microsoft.com/office/drawing/2014/main" val="1667052571"/>
                    </a:ext>
                  </a:extLst>
                </a:gridCol>
                <a:gridCol w="2945876">
                  <a:extLst>
                    <a:ext uri="{9D8B030D-6E8A-4147-A177-3AD203B41FA5}">
                      <a16:colId xmlns:a16="http://schemas.microsoft.com/office/drawing/2014/main" val="3386174387"/>
                    </a:ext>
                  </a:extLst>
                </a:gridCol>
              </a:tblGrid>
              <a:tr h="8665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210 OmniGothic 040"/>
                          <a:ea typeface="210 OmniGothic 040"/>
                        </a:rPr>
                        <a:t>비교 항목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기존 국가 시스템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범용 LLM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210 OmniGothic 040"/>
                          <a:ea typeface="210 OmniGothic 040"/>
                        </a:rPr>
                        <a:t>본 과제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A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417414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대응 정보 생성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회차별</a:t>
                      </a: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 발행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자동 생성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자동 생성 + 근거 검증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686081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맞춤형 대응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진화</a:t>
                      </a:r>
                      <a:r>
                        <a:rPr lang="ko-KR" sz="2000" b="0" i="0" u="none" strike="noStrike" noProof="0" dirty="0" err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•대피</a:t>
                      </a:r>
                      <a:r>
                        <a:rPr lang="ko-KR" sz="2000" b="0" i="0" u="none" strike="noStrike" noProof="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 중심</a:t>
                      </a:r>
                      <a:endParaRPr lang="ko-KR" altLang="en-US" sz="2000" dirty="0">
                        <a:solidFill>
                          <a:srgbClr val="363A52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역할 구분 없음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조건</a:t>
                      </a:r>
                      <a:r>
                        <a:rPr lang="ko-KR" sz="2000" b="1" i="0" u="none" strike="noStrike" noProof="0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•역할•위치별</a:t>
                      </a:r>
                      <a:r>
                        <a:rPr lang="ko-KR" sz="2000" b="1" i="0" u="none" strike="noStrike" noProof="0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2000" b="1" i="0" u="none" strike="noStrike" noProof="0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047256"/>
                  </a:ext>
                </a:extLst>
              </a:tr>
              <a:tr h="7357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근거 확인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근거 추적 어려움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근거 확인 불가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조항</a:t>
                      </a:r>
                      <a:r>
                        <a:rPr lang="ko-KR" sz="2000" b="1" i="0" u="none" strike="noStrike" noProof="0" dirty="0" err="1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•문단</a:t>
                      </a:r>
                      <a:r>
                        <a:rPr lang="ko-KR" sz="2000" b="1" i="0" u="none" strike="noStrike" noProof="0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 단위 근거 </a:t>
                      </a:r>
                      <a:r>
                        <a:rPr lang="ko-KR" altLang="en-US" sz="2000" b="1" i="0" u="none" strike="noStrike" noProof="0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제시</a:t>
                      </a:r>
                      <a:endParaRPr lang="en-US" altLang="ko-KR" sz="2000" b="1" i="0" u="none" strike="noStrike" noProof="0">
                        <a:solidFill>
                          <a:srgbClr val="FAA95A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400002"/>
                  </a:ext>
                </a:extLst>
              </a:tr>
              <a:tr h="7848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400" b="1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생성 결과 검증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별도 검증 표시 없음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dirty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</a:rPr>
                        <a:t>검증 없음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rgbClr val="FAA95A"/>
                          </a:solidFill>
                          <a:latin typeface="210 OmniGothic 040"/>
                          <a:ea typeface="210 OmniGothic 040"/>
                        </a:rPr>
                        <a:t>5종 검증 + 조건 인식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531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331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86116-51C8-CF16-0BD3-0AC50E2C2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666E5E5C-A96C-6051-D670-53A8A9353F51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175D7C3-028D-E63B-E6DA-B856810AE4DB}"/>
              </a:ext>
            </a:extLst>
          </p:cNvPr>
          <p:cNvSpPr txBox="1"/>
          <p:nvPr/>
        </p:nvSpPr>
        <p:spPr>
          <a:xfrm>
            <a:off x="5465648" y="4648011"/>
            <a:ext cx="7324725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4.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활용 데이터 및 활용 방안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37442F-305A-75A3-EA8C-90C7B7413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63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15798-C902-402E-4D5F-496EC76E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15BE608-BF89-4CCE-DFC2-C8C6DA901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5AC6F65-044D-71AC-565E-3AF47800F4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B6D061A-C352-BDF9-1D1F-35F92FFC6F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7475BD1-F373-CF3F-7742-4852DD9278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F640D07D-92AE-2EDA-4640-65EC19ED58B9}"/>
              </a:ext>
            </a:extLst>
          </p:cNvPr>
          <p:cNvSpPr txBox="1"/>
          <p:nvPr/>
        </p:nvSpPr>
        <p:spPr>
          <a:xfrm>
            <a:off x="1623786" y="1874157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32800"/>
              </a:lnSpc>
            </a:pPr>
            <a:r>
              <a:rPr lang="en-US" alt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+mn-lt"/>
              </a:rPr>
              <a:t>세 </a:t>
            </a:r>
            <a:r>
              <a:rPr lang="en-US" altLang="ko-KR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+mn-lt"/>
              </a:rPr>
              <a:t>종류의</a:t>
            </a:r>
            <a:r>
              <a:rPr lang="en-US" alt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+mn-lt"/>
              </a:rPr>
              <a:t> </a:t>
            </a:r>
            <a:r>
              <a:rPr lang="en-US" altLang="ko-KR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+mn-lt"/>
              </a:rPr>
              <a:t>데이터를</a:t>
            </a:r>
            <a:r>
              <a:rPr lang="en-US" alt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+mn-lt"/>
              </a:rPr>
              <a:t> </a:t>
            </a:r>
            <a:r>
              <a:rPr lang="en-US" altLang="ko-KR" sz="4000" b="1" spc="-100" dirty="0" err="1">
                <a:solidFill>
                  <a:srgbClr val="FAA95A"/>
                </a:solidFill>
                <a:latin typeface="210 OmniGothic 040"/>
                <a:ea typeface="210 OmniGothic 040"/>
                <a:cs typeface="+mn-lt"/>
              </a:rPr>
              <a:t>분리해서</a:t>
            </a:r>
            <a:r>
              <a:rPr lang="en-US" altLang="ko-KR" sz="4000" b="1" spc="-100" dirty="0">
                <a:solidFill>
                  <a:srgbClr val="363A52"/>
                </a:solidFill>
                <a:latin typeface="210 OmniGothic 040"/>
                <a:ea typeface="210 OmniGothic 040"/>
                <a:cs typeface="+mn-lt"/>
              </a:rPr>
              <a:t> </a:t>
            </a:r>
            <a:r>
              <a:rPr lang="en-US" altLang="ko-KR" sz="4000" b="1" spc="-100" dirty="0" err="1">
                <a:solidFill>
                  <a:srgbClr val="363A52"/>
                </a:solidFill>
                <a:latin typeface="210 OmniGothic 040"/>
                <a:ea typeface="210 OmniGothic 040"/>
                <a:cs typeface="+mn-lt"/>
              </a:rPr>
              <a:t>사용한다</a:t>
            </a:r>
            <a:endParaRPr lang="en-US" altLang="ko-KR" sz="4000" b="1" spc="-100" dirty="0" err="1">
              <a:solidFill>
                <a:srgbClr val="363A52"/>
              </a:solidFill>
              <a:latin typeface="210 OmniGothic 040"/>
              <a:ea typeface="210 OmniGothic 040"/>
              <a:cs typeface="Calibri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14E1157-5E84-36A2-BEF4-D4DC2E8E9E10}"/>
              </a:ext>
            </a:extLst>
          </p:cNvPr>
          <p:cNvSpPr txBox="1"/>
          <p:nvPr/>
        </p:nvSpPr>
        <p:spPr>
          <a:xfrm>
            <a:off x="825500" y="469900"/>
            <a:ext cx="6122489" cy="876300"/>
          </a:xfrm>
          <a:prstGeom prst="rect">
            <a:avLst/>
          </a:prstGeom>
          <a:noFill/>
        </p:spPr>
        <p:txBody>
          <a:bodyPr lIns="0" tIns="60958" rIns="0" bIns="60958" rtlCol="0" anchor="ctr"/>
          <a:lstStyle/>
          <a:p>
            <a:pPr>
              <a:lnSpc>
                <a:spcPct val="99600"/>
              </a:lnSpc>
            </a:pP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4.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활용</a:t>
            </a:r>
            <a:r>
              <a:rPr lang="en-US" altLang="ko-KR" sz="4750" spc="-100" dirty="0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 </a:t>
            </a:r>
            <a:r>
              <a:rPr lang="en-US" altLang="ko-KR" sz="4750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Calibri"/>
              </a:rPr>
              <a:t>데이터</a:t>
            </a:r>
            <a:endParaRPr lang="en-US" altLang="ko-KR" sz="4750" spc="-100" dirty="0">
              <a:solidFill>
                <a:srgbClr val="FAA95A"/>
              </a:solidFill>
              <a:latin typeface="210 OmniGothic 050"/>
              <a:ea typeface="210 OmniGothic 050"/>
              <a:cs typeface="Calibri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FF8FFE-F658-6267-0604-65E9F92D5B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9562" y="2631465"/>
            <a:ext cx="12004432" cy="6677026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5DBB50-0518-EDC8-7FEB-BC89156A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28D03B46-9A03-693F-CD3D-CCB6D956B66D}"/>
              </a:ext>
            </a:extLst>
          </p:cNvPr>
          <p:cNvSpPr txBox="1"/>
          <p:nvPr/>
        </p:nvSpPr>
        <p:spPr>
          <a:xfrm>
            <a:off x="823686" y="8774974"/>
            <a:ext cx="5080000" cy="5486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Calibri"/>
              </a:rPr>
              <a:t>시각자료</a:t>
            </a:r>
            <a:r>
              <a:rPr 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 제작: 생성형 AI 활용</a:t>
            </a:r>
            <a:endParaRPr lang="ko-KR" sz="1600" spc="-100" dirty="0">
              <a:solidFill>
                <a:srgbClr val="000000"/>
              </a:solidFill>
              <a:latin typeface="210 OmniGothic 050"/>
              <a:ea typeface="210 OmniGothic 050"/>
            </a:endParaRPr>
          </a:p>
        </p:txBody>
      </p:sp>
    </p:spTree>
    <p:extLst>
      <p:ext uri="{BB962C8B-B14F-4D97-AF65-F5344CB8AC3E}">
        <p14:creationId xmlns:p14="http://schemas.microsoft.com/office/powerpoint/2010/main" val="1443873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02800-6E3F-59DF-5184-1C88BC434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4C6A8A47-9FE8-2E89-CBE5-D4C249BBA1D9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C5FD047-B9F5-4F34-9B47-A188DF462504}"/>
              </a:ext>
            </a:extLst>
          </p:cNvPr>
          <p:cNvSpPr txBox="1"/>
          <p:nvPr/>
        </p:nvSpPr>
        <p:spPr>
          <a:xfrm>
            <a:off x="6153150" y="4699000"/>
            <a:ext cx="59817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개발 방법 및 체계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B8BD47-9F3F-69E1-00BE-832442C5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41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466C7-E54E-735C-6137-8658B1DE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721647A-97EF-9D2F-19C1-D458FB1BC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31E9B55-B5D0-9B4C-6421-71C9646DF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1600200"/>
            <a:ext cx="18313400" cy="8699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B0203B8-CCF2-8C93-ACC9-8C0E422B6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436100"/>
            <a:ext cx="17170400" cy="508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4A6FC2F3-85BF-C6B8-F468-BBAD7AC6BDFE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1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전체 시스템 아키텍처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3" name="Picture 1" descr="전체 시스템 아키텍처">
            <a:extLst>
              <a:ext uri="{FF2B5EF4-FFF2-40B4-BE49-F238E27FC236}">
                <a16:creationId xmlns:a16="http://schemas.microsoft.com/office/drawing/2014/main" id="{5435C6D7-5410-A3A2-802F-4F71BE42F0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134"/>
          <a:stretch>
            <a:fillRect/>
          </a:stretch>
        </p:blipFill>
        <p:spPr>
          <a:xfrm>
            <a:off x="1905000" y="1688222"/>
            <a:ext cx="14080752" cy="7570078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B0B7ED2-B05C-36C4-6659-39801B65A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00AF55-9DFC-05FD-0179-853E58224C3B}"/>
              </a:ext>
            </a:extLst>
          </p:cNvPr>
          <p:cNvSpPr txBox="1"/>
          <p:nvPr/>
        </p:nvSpPr>
        <p:spPr>
          <a:xfrm>
            <a:off x="558800" y="9047682"/>
            <a:ext cx="287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아키텍처 이미지</a:t>
            </a:r>
            <a:r>
              <a:rPr lang="en-US" alt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:</a:t>
            </a:r>
            <a:r>
              <a:rPr lang="ko-KR" altLang="en-US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 </a:t>
            </a:r>
            <a:r>
              <a:rPr lang="ko-KR" altLang="ko-KR" sz="1600" spc="-100" dirty="0">
                <a:solidFill>
                  <a:srgbClr val="363A52"/>
                </a:solidFill>
                <a:latin typeface="210 OmniGothic 050"/>
                <a:ea typeface="210 OmniGothic 050"/>
                <a:cs typeface="+mn-lt"/>
              </a:rPr>
              <a:t>생성형 AI 활용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129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2A2F6-FEA5-79E4-CB9C-FEE92BA2B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D465FED-A175-0A56-B874-1252F2EA9D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6381CCB-F2C4-A6F6-4952-0FDD2EE283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0D7E224-53DC-57B7-DA68-E6D692E3C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3E3F8316-BD4B-2788-AA67-3D94E05825D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400" y="3263900"/>
            <a:ext cx="4876800" cy="5727700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DED31D5B-28CB-7E4D-2F0A-4C5F0C92DA59}"/>
              </a:ext>
            </a:extLst>
          </p:cNvPr>
          <p:cNvSpPr txBox="1"/>
          <p:nvPr/>
        </p:nvSpPr>
        <p:spPr>
          <a:xfrm>
            <a:off x="1371600" y="3911600"/>
            <a:ext cx="4140200" cy="1206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9" b="0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공간 격자 구축</a:t>
            </a:r>
            <a:endParaRPr lang="en-US" sz="2399" b="0" i="0" u="none" strike="noStrike" dirty="0">
              <a:solidFill>
                <a:srgbClr val="FAA95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2F2F175-5143-B5C7-FE72-BBC5AF1FE4DE}"/>
              </a:ext>
            </a:extLst>
          </p:cNvPr>
          <p:cNvSpPr txBox="1"/>
          <p:nvPr/>
        </p:nvSpPr>
        <p:spPr>
          <a:xfrm>
            <a:off x="1041400" y="2214331"/>
            <a:ext cx="7962900" cy="673100"/>
          </a:xfrm>
          <a:prstGeom prst="rect">
            <a:avLst/>
          </a:prstGeom>
        </p:spPr>
        <p:txBody>
          <a:bodyPr lIns="0" tIns="45719" rIns="0" bIns="45719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30m </a:t>
            </a:r>
            <a:r>
              <a:rPr lang="ko-KR" altLang="en-US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공간 격자와 독립 검증 근거의 구축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B0A7A4C-4E9F-301B-E704-0959C3BAF358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사전 구축 계층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331F5B-13B3-DA65-3D31-511C13AA6A63}"/>
              </a:ext>
            </a:extLst>
          </p:cNvPr>
          <p:cNvSpPr txBox="1"/>
          <p:nvPr/>
        </p:nvSpPr>
        <p:spPr>
          <a:xfrm>
            <a:off x="1596798" y="7184579"/>
            <a:ext cx="3766004" cy="73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경사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사면향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연료의 셀 단위 구성</a:t>
            </a:r>
          </a:p>
          <a:p>
            <a:pPr algn="ctr"/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2025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년 영남권 발생 시군 한정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E731D6-FD68-5582-B6AE-2AF50ABC8230}"/>
              </a:ext>
            </a:extLst>
          </p:cNvPr>
          <p:cNvSpPr txBox="1"/>
          <p:nvPr/>
        </p:nvSpPr>
        <p:spPr>
          <a:xfrm>
            <a:off x="2201749" y="5412932"/>
            <a:ext cx="2556102" cy="73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공개 지형</a:t>
            </a:r>
            <a:r>
              <a:rPr lang="en-US" altLang="ko-KR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·</a:t>
            </a:r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연료 자료</a:t>
            </a:r>
          </a:p>
          <a:p>
            <a:pPr algn="ctr"/>
            <a:r>
              <a:rPr lang="en-US" altLang="ko-KR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30m </a:t>
            </a:r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공통 격자 정합</a:t>
            </a:r>
          </a:p>
        </p:txBody>
      </p:sp>
      <p:pic>
        <p:nvPicPr>
          <p:cNvPr id="31" name="Picture 15">
            <a:extLst>
              <a:ext uri="{FF2B5EF4-FFF2-40B4-BE49-F238E27FC236}">
                <a16:creationId xmlns:a16="http://schemas.microsoft.com/office/drawing/2014/main" id="{3553022B-81A8-447B-3AB4-D685329E20C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4800" y="3263900"/>
            <a:ext cx="4876800" cy="5727700"/>
          </a:xfrm>
          <a:prstGeom prst="rect">
            <a:avLst/>
          </a:prstGeom>
        </p:spPr>
      </p:pic>
      <p:sp>
        <p:nvSpPr>
          <p:cNvPr id="33" name="TextBox 25">
            <a:extLst>
              <a:ext uri="{FF2B5EF4-FFF2-40B4-BE49-F238E27FC236}">
                <a16:creationId xmlns:a16="http://schemas.microsoft.com/office/drawing/2014/main" id="{ED583069-94ED-475F-C96B-22C57C2DCB8E}"/>
              </a:ext>
            </a:extLst>
          </p:cNvPr>
          <p:cNvSpPr txBox="1"/>
          <p:nvPr/>
        </p:nvSpPr>
        <p:spPr>
          <a:xfrm>
            <a:off x="6985000" y="3911600"/>
            <a:ext cx="4140200" cy="1206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9" b="0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02</a:t>
            </a:r>
            <a:r>
              <a:rPr 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검증 코퍼스 구축</a:t>
            </a:r>
            <a:endParaRPr lang="en-US" sz="2399" b="0" i="0" u="none" strike="noStrike" dirty="0">
              <a:solidFill>
                <a:srgbClr val="FAA95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6C26B6-AE2A-C0A3-B8E2-1DE29031CC11}"/>
              </a:ext>
            </a:extLst>
          </p:cNvPr>
          <p:cNvSpPr txBox="1"/>
          <p:nvPr/>
        </p:nvSpPr>
        <p:spPr>
          <a:xfrm>
            <a:off x="7210198" y="7184579"/>
            <a:ext cx="3766004" cy="73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조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항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호 분할 및 출처 저장</a:t>
            </a:r>
          </a:p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한국어 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임베딩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·BM25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병행 색인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ACE98A-D86E-78EC-9FED-C520016F370C}"/>
              </a:ext>
            </a:extLst>
          </p:cNvPr>
          <p:cNvSpPr txBox="1"/>
          <p:nvPr/>
        </p:nvSpPr>
        <p:spPr>
          <a:xfrm>
            <a:off x="7815149" y="5412932"/>
            <a:ext cx="2556102" cy="73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데이터셋과 독립된</a:t>
            </a:r>
          </a:p>
          <a:p>
            <a:pPr algn="ctr"/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공개 법령</a:t>
            </a:r>
            <a:r>
              <a:rPr lang="en-US" altLang="ko-KR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·</a:t>
            </a:r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지침</a:t>
            </a:r>
          </a:p>
        </p:txBody>
      </p:sp>
      <p:pic>
        <p:nvPicPr>
          <p:cNvPr id="39" name="Picture 15">
            <a:extLst>
              <a:ext uri="{FF2B5EF4-FFF2-40B4-BE49-F238E27FC236}">
                <a16:creationId xmlns:a16="http://schemas.microsoft.com/office/drawing/2014/main" id="{69D81E15-A9B5-E9B5-17E1-BA962FBDC78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68200" y="3271157"/>
            <a:ext cx="4876800" cy="5727700"/>
          </a:xfrm>
          <a:prstGeom prst="rect">
            <a:avLst/>
          </a:prstGeom>
        </p:spPr>
      </p:pic>
      <p:sp>
        <p:nvSpPr>
          <p:cNvPr id="41" name="TextBox 25">
            <a:extLst>
              <a:ext uri="{FF2B5EF4-FFF2-40B4-BE49-F238E27FC236}">
                <a16:creationId xmlns:a16="http://schemas.microsoft.com/office/drawing/2014/main" id="{70739548-8EFF-D62D-BFD1-F637C680330E}"/>
              </a:ext>
            </a:extLst>
          </p:cNvPr>
          <p:cNvSpPr txBox="1"/>
          <p:nvPr/>
        </p:nvSpPr>
        <p:spPr>
          <a:xfrm>
            <a:off x="12598400" y="3918857"/>
            <a:ext cx="4140200" cy="1206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9" b="0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03</a:t>
            </a:r>
            <a:r>
              <a:rPr 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품질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입력 통제</a:t>
            </a:r>
            <a:endParaRPr lang="en-US" sz="2399" b="0" i="0" u="none" strike="noStrike" dirty="0">
              <a:solidFill>
                <a:srgbClr val="FAA95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1F8C58-BD3E-10F7-70EA-CAFBA57B436C}"/>
              </a:ext>
            </a:extLst>
          </p:cNvPr>
          <p:cNvSpPr txBox="1"/>
          <p:nvPr/>
        </p:nvSpPr>
        <p:spPr>
          <a:xfrm>
            <a:off x="12545899" y="7184579"/>
            <a:ext cx="4321402" cy="73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격자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데이터셋 동일 지점 대조</a:t>
            </a:r>
          </a:p>
          <a:p>
            <a:pPr algn="ctr"/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사후 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확정값의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 위험도 입력 강제 배제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A20FF5-98BC-12C0-3A39-04A9C19511D2}"/>
              </a:ext>
            </a:extLst>
          </p:cNvPr>
          <p:cNvSpPr txBox="1"/>
          <p:nvPr/>
        </p:nvSpPr>
        <p:spPr>
          <a:xfrm>
            <a:off x="13428549" y="5420189"/>
            <a:ext cx="2556102" cy="73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지점 정합 오차 평가</a:t>
            </a:r>
          </a:p>
          <a:p>
            <a:pPr algn="ctr"/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사후 </a:t>
            </a:r>
            <a:r>
              <a:rPr lang="ko-KR" altLang="en-US" sz="2099" b="1" spc="-100" dirty="0" err="1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확정값</a:t>
            </a:r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 </a:t>
            </a:r>
            <a:r>
              <a:rPr lang="en-US" altLang="ko-KR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4</a:t>
            </a:r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  <a:cs typeface="Pretendard Bold"/>
              </a:rPr>
              <a:t>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05186D-EE87-0193-E7DD-0AEC63B9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37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28DE0-5ABE-CBE7-5D0A-72BF723D8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99D032E-C761-9D53-D7E1-7C446C47BE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DC74507-651F-2A8F-7E62-7C17B9FD27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C3E4C3F-67A1-4647-BF07-2F8C0FB91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80C45DC3-2AA2-5507-8A3F-DB72F22F4BA2}"/>
              </a:ext>
            </a:extLst>
          </p:cNvPr>
          <p:cNvSpPr txBox="1"/>
          <p:nvPr/>
        </p:nvSpPr>
        <p:spPr>
          <a:xfrm>
            <a:off x="1018722" y="2574925"/>
            <a:ext cx="7962900" cy="673100"/>
          </a:xfrm>
          <a:prstGeom prst="rect">
            <a:avLst/>
          </a:prstGeom>
        </p:spPr>
        <p:txBody>
          <a:bodyPr lIns="0" tIns="45719" rIns="0" bIns="4571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요청 한 건에서 상황 스키마까지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5F28D1E-65F7-85D2-D4A5-DE9A90E1DC32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5.3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실시간 연산 계층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AD7500D0-262E-63BD-A6EC-9C1EA4CBC892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336" y="3757612"/>
            <a:ext cx="4000500" cy="2501900"/>
          </a:xfrm>
          <a:prstGeom prst="rect">
            <a:avLst/>
          </a:prstGeom>
        </p:spPr>
      </p:pic>
      <p:sp>
        <p:nvSpPr>
          <p:cNvPr id="8" name="TextBox 25">
            <a:extLst>
              <a:ext uri="{FF2B5EF4-FFF2-40B4-BE49-F238E27FC236}">
                <a16:creationId xmlns:a16="http://schemas.microsoft.com/office/drawing/2014/main" id="{2018413B-8E40-9B04-3292-FC417830003F}"/>
              </a:ext>
            </a:extLst>
          </p:cNvPr>
          <p:cNvSpPr txBox="1"/>
          <p:nvPr/>
        </p:nvSpPr>
        <p:spPr>
          <a:xfrm>
            <a:off x="1238250" y="4107833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사용자 입력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10" name="Picture 15">
            <a:extLst>
              <a:ext uri="{FF2B5EF4-FFF2-40B4-BE49-F238E27FC236}">
                <a16:creationId xmlns:a16="http://schemas.microsoft.com/office/drawing/2014/main" id="{71A9928F-B2AC-D77A-B21C-97453D24803C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172" y="3757612"/>
            <a:ext cx="4000500" cy="2501900"/>
          </a:xfrm>
          <a:prstGeom prst="rect">
            <a:avLst/>
          </a:prstGeom>
        </p:spPr>
      </p:pic>
      <p:pic>
        <p:nvPicPr>
          <p:cNvPr id="12" name="Picture 15">
            <a:extLst>
              <a:ext uri="{FF2B5EF4-FFF2-40B4-BE49-F238E27FC236}">
                <a16:creationId xmlns:a16="http://schemas.microsoft.com/office/drawing/2014/main" id="{7CF9E3B9-3952-B3C8-E08B-0030FE965E87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6400" y="3757612"/>
            <a:ext cx="4000500" cy="2501900"/>
          </a:xfrm>
          <a:prstGeom prst="rect">
            <a:avLst/>
          </a:prstGeom>
        </p:spPr>
      </p:pic>
      <p:pic>
        <p:nvPicPr>
          <p:cNvPr id="14" name="Picture 15">
            <a:extLst>
              <a:ext uri="{FF2B5EF4-FFF2-40B4-BE49-F238E27FC236}">
                <a16:creationId xmlns:a16="http://schemas.microsoft.com/office/drawing/2014/main" id="{7EC5F9C1-3EA1-D104-FDEC-1DC757274ABC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06236" y="3757612"/>
            <a:ext cx="4000500" cy="2501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86D3775-C002-F6FE-3D14-6EC4158CF31B}"/>
              </a:ext>
            </a:extLst>
          </p:cNvPr>
          <p:cNvSpPr txBox="1"/>
          <p:nvPr/>
        </p:nvSpPr>
        <p:spPr>
          <a:xfrm>
            <a:off x="857250" y="4859917"/>
            <a:ext cx="3733800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 위치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관측 시각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사용자 역할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1DF96BDA-610F-B256-DDF0-896005D4ABDD}"/>
              </a:ext>
            </a:extLst>
          </p:cNvPr>
          <p:cNvSpPr txBox="1"/>
          <p:nvPr/>
        </p:nvSpPr>
        <p:spPr>
          <a:xfrm>
            <a:off x="5519964" y="4107833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요청 시점 기상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D8ED97-8E7A-F872-841A-2D2284CA013D}"/>
              </a:ext>
            </a:extLst>
          </p:cNvPr>
          <p:cNvSpPr txBox="1"/>
          <p:nvPr/>
        </p:nvSpPr>
        <p:spPr>
          <a:xfrm>
            <a:off x="5138964" y="4859917"/>
            <a:ext cx="3733800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기상청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API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풍속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풍향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기온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습도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0345E10F-DFC3-33F9-4488-6DCDE04E31F3}"/>
              </a:ext>
            </a:extLst>
          </p:cNvPr>
          <p:cNvSpPr txBox="1"/>
          <p:nvPr/>
        </p:nvSpPr>
        <p:spPr>
          <a:xfrm>
            <a:off x="9823450" y="4107833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사전 구축 격자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00D108-3B72-30E9-D6C5-63C48E93B2E2}"/>
              </a:ext>
            </a:extLst>
          </p:cNvPr>
          <p:cNvSpPr txBox="1"/>
          <p:nvPr/>
        </p:nvSpPr>
        <p:spPr>
          <a:xfrm>
            <a:off x="9442450" y="4859917"/>
            <a:ext cx="3733800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지형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연료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인프라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인구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대피소</a:t>
            </a: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27A08777-E102-8E46-06CD-5CDD5A8C75E7}"/>
              </a:ext>
            </a:extLst>
          </p:cNvPr>
          <p:cNvSpPr txBox="1"/>
          <p:nvPr/>
        </p:nvSpPr>
        <p:spPr>
          <a:xfrm>
            <a:off x="14084300" y="4107833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 </a:t>
            </a:r>
            <a:r>
              <a:rPr lang="en-US" altLang="ko-KR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JSON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  <a:p>
            <a:pPr lvl="0" algn="ctr">
              <a:lnSpc>
                <a:spcPct val="116199"/>
              </a:lnSpc>
            </a:pP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CAEA50-5C22-A42D-6360-2CA8DE3D0FE5}"/>
              </a:ext>
            </a:extLst>
          </p:cNvPr>
          <p:cNvSpPr txBox="1"/>
          <p:nvPr/>
        </p:nvSpPr>
        <p:spPr>
          <a:xfrm>
            <a:off x="13703300" y="4859917"/>
            <a:ext cx="3733800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좌표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시각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지형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연료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도로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인구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시설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E51F4A4-C7DF-738F-0313-08C53249B370}"/>
              </a:ext>
            </a:extLst>
          </p:cNvPr>
          <p:cNvSpPr>
            <a:spLocks noGrp="1"/>
          </p:cNvSpPr>
          <p:nvPr/>
        </p:nvSpPr>
        <p:spPr>
          <a:xfrm>
            <a:off x="4590371" y="4691062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D2E7734-31A2-F28C-7A5A-C26A6D1D5539}"/>
              </a:ext>
            </a:extLst>
          </p:cNvPr>
          <p:cNvSpPr>
            <a:spLocks noGrp="1"/>
          </p:cNvSpPr>
          <p:nvPr/>
        </p:nvSpPr>
        <p:spPr>
          <a:xfrm>
            <a:off x="13148582" y="4694691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8EE0058-8AB5-0C33-B433-8F47D4EC6DFD}"/>
              </a:ext>
            </a:extLst>
          </p:cNvPr>
          <p:cNvSpPr>
            <a:spLocks noGrp="1"/>
          </p:cNvSpPr>
          <p:nvPr/>
        </p:nvSpPr>
        <p:spPr>
          <a:xfrm>
            <a:off x="8894310" y="4691061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3E16D09E-311F-8767-8B9A-4238EEA1FD2D}"/>
              </a:ext>
            </a:extLst>
          </p:cNvPr>
          <p:cNvGrpSpPr/>
          <p:nvPr/>
        </p:nvGrpSpPr>
        <p:grpSpPr>
          <a:xfrm>
            <a:off x="5715000" y="7242238"/>
            <a:ext cx="6629400" cy="1006121"/>
            <a:chOff x="5791200" y="7274276"/>
            <a:chExt cx="6629400" cy="1006121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EBE4996F-64A2-8262-76BC-74F4D15DE1FB}"/>
                </a:ext>
              </a:extLst>
            </p:cNvPr>
            <p:cNvSpPr/>
            <p:nvPr/>
          </p:nvSpPr>
          <p:spPr>
            <a:xfrm>
              <a:off x="5791200" y="7274276"/>
              <a:ext cx="6629400" cy="1006121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A277746-9D15-D18E-7D2E-4EBF8CAEB6F2}"/>
                </a:ext>
              </a:extLst>
            </p:cNvPr>
            <p:cNvSpPr txBox="1"/>
            <p:nvPr/>
          </p:nvSpPr>
          <p:spPr>
            <a:xfrm>
              <a:off x="6160408" y="7521185"/>
              <a:ext cx="5991678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500" b="1" i="0" u="none" strike="noStrike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동일 입력 → 동일 결과 </a:t>
              </a:r>
              <a:r>
                <a:rPr lang="en-US" altLang="ko-KR" sz="2500" b="1" i="0" u="none" strike="noStrike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· </a:t>
              </a:r>
              <a:r>
                <a:rPr lang="ko-KR" altLang="en-US" sz="2500" b="1" i="0" u="none" strike="noStrike" spc="-100" dirty="0" err="1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임계값과</a:t>
              </a:r>
              <a:r>
                <a:rPr lang="ko-KR" altLang="en-US" sz="2500" b="1" i="0" u="none" strike="noStrike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 계수 추적</a:t>
              </a:r>
            </a:p>
          </p:txBody>
        </p:sp>
      </p:grp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6798D7-FBA5-0486-2ECB-DC10EF4A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20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D4650-42CB-1F35-71E4-DF36A0A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BFEF593-D18A-01CB-E757-E3847AE24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82C00C8-1559-A6D7-305C-F1BDF4D630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71178B3-6B79-EBCC-7B9A-C22FB17EE6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68A542A6-470E-161F-820A-B1E9A67959D0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953579" y="5435600"/>
            <a:ext cx="6362700" cy="254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343B0588-2E8B-F287-84FA-771203417980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5392" y="3121617"/>
            <a:ext cx="3550209" cy="2068915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D16A37B7-03A8-BBD2-F434-FD39BCB21D77}"/>
              </a:ext>
            </a:extLst>
          </p:cNvPr>
          <p:cNvSpPr txBox="1"/>
          <p:nvPr/>
        </p:nvSpPr>
        <p:spPr>
          <a:xfrm>
            <a:off x="1010557" y="4771924"/>
            <a:ext cx="1943100" cy="37192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99" b="1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2</a:t>
            </a:r>
            <a:r>
              <a:rPr lang="en-US" sz="2099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lang="ko-KR" altLang="en-US" sz="2099" b="1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비음수</a:t>
            </a:r>
            <a:r>
              <a:rPr lang="ko-KR" altLang="en-US" sz="2099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가중치</a:t>
            </a:r>
            <a:endParaRPr lang="en-US" sz="2099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F983412-62EA-094C-948C-E05CC92194B7}"/>
              </a:ext>
            </a:extLst>
          </p:cNvPr>
          <p:cNvSpPr txBox="1"/>
          <p:nvPr/>
        </p:nvSpPr>
        <p:spPr>
          <a:xfrm>
            <a:off x="1017814" y="3707105"/>
            <a:ext cx="1369786" cy="33972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99" b="1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1</a:t>
            </a:r>
            <a:r>
              <a:rPr lang="en-US" sz="2099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lang="ko-KR" altLang="en-US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등</a:t>
            </a:r>
            <a:r>
              <a:rPr lang="ko-KR" altLang="en-US" sz="2099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 회귀</a:t>
            </a:r>
            <a:endParaRPr lang="en-US" sz="2099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FEE5B1D-92C2-F5BB-CB7C-27A75FDCE0D6}"/>
              </a:ext>
            </a:extLst>
          </p:cNvPr>
          <p:cNvSpPr txBox="1"/>
          <p:nvPr/>
        </p:nvSpPr>
        <p:spPr>
          <a:xfrm>
            <a:off x="9505392" y="2336800"/>
            <a:ext cx="3302000" cy="673100"/>
          </a:xfrm>
          <a:prstGeom prst="rect">
            <a:avLst/>
          </a:prstGeom>
        </p:spPr>
        <p:txBody>
          <a:bodyPr lIns="0" tIns="45719" rIns="0" bIns="4571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확산 시뮬레이션</a:t>
            </a:r>
            <a:endParaRPr lang="en-US" sz="35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B092A68-C840-8B4B-B378-61B0EB07DA8F}"/>
              </a:ext>
            </a:extLst>
          </p:cNvPr>
          <p:cNvSpPr txBox="1"/>
          <p:nvPr/>
        </p:nvSpPr>
        <p:spPr>
          <a:xfrm>
            <a:off x="1028700" y="2336800"/>
            <a:ext cx="3162300" cy="673100"/>
          </a:xfrm>
          <a:prstGeom prst="rect">
            <a:avLst/>
          </a:prstGeom>
        </p:spPr>
        <p:txBody>
          <a:bodyPr lIns="0" tIns="45719" rIns="0" bIns="4571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위험도 산정</a:t>
            </a:r>
            <a:endParaRPr lang="en-US" sz="35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3CD72C6-C235-8C21-4A8D-84ACA38FEADC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5.3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실시간 연산 계층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BAF15E-EC94-A7CE-1262-2F13BA467AB0}"/>
              </a:ext>
            </a:extLst>
          </p:cNvPr>
          <p:cNvSpPr txBox="1"/>
          <p:nvPr/>
        </p:nvSpPr>
        <p:spPr>
          <a:xfrm>
            <a:off x="9677400" y="3478768"/>
            <a:ext cx="1826252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99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Rothermel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E51E0C-7378-B461-6DD9-1DCB774DF6D5}"/>
              </a:ext>
            </a:extLst>
          </p:cNvPr>
          <p:cNvSpPr txBox="1"/>
          <p:nvPr/>
        </p:nvSpPr>
        <p:spPr>
          <a:xfrm>
            <a:off x="9681760" y="4172694"/>
            <a:ext cx="232155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셀별 기본 확산속도</a:t>
            </a:r>
          </a:p>
        </p:txBody>
      </p:sp>
      <p:pic>
        <p:nvPicPr>
          <p:cNvPr id="53" name="Picture 13">
            <a:extLst>
              <a:ext uri="{FF2B5EF4-FFF2-40B4-BE49-F238E27FC236}">
                <a16:creationId xmlns:a16="http://schemas.microsoft.com/office/drawing/2014/main" id="{D8E610D4-0CDF-6017-B489-144E51C570B8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62699" y="3121617"/>
            <a:ext cx="3550209" cy="206891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253EF77-D95C-B102-B164-17D97316BF30}"/>
              </a:ext>
            </a:extLst>
          </p:cNvPr>
          <p:cNvSpPr txBox="1"/>
          <p:nvPr/>
        </p:nvSpPr>
        <p:spPr>
          <a:xfrm>
            <a:off x="13634706" y="3478768"/>
            <a:ext cx="2519693" cy="89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99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Anderson </a:t>
            </a:r>
            <a:r>
              <a:rPr lang="ko-KR" altLang="en-US" sz="2599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타원</a:t>
            </a:r>
          </a:p>
          <a:p>
            <a:endParaRPr lang="en-US" altLang="ko-KR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CEAD9E-4675-E437-1134-0086FDCCA9FB}"/>
              </a:ext>
            </a:extLst>
          </p:cNvPr>
          <p:cNvSpPr txBox="1"/>
          <p:nvPr/>
        </p:nvSpPr>
        <p:spPr>
          <a:xfrm>
            <a:off x="13639067" y="4172694"/>
            <a:ext cx="2515332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풍향별 장</a:t>
            </a:r>
            <a:r>
              <a:rPr lang="en-US" altLang="ko-KR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단축 형상</a:t>
            </a:r>
          </a:p>
        </p:txBody>
      </p:sp>
      <p:pic>
        <p:nvPicPr>
          <p:cNvPr id="59" name="Picture 13">
            <a:extLst>
              <a:ext uri="{FF2B5EF4-FFF2-40B4-BE49-F238E27FC236}">
                <a16:creationId xmlns:a16="http://schemas.microsoft.com/office/drawing/2014/main" id="{CC6F16C8-4E08-E728-D9C4-572985AAD67F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5392" y="5618615"/>
            <a:ext cx="3550209" cy="206891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5828FDE-E8D9-7C15-3F9E-CEFBB885EB48}"/>
              </a:ext>
            </a:extLst>
          </p:cNvPr>
          <p:cNvSpPr txBox="1"/>
          <p:nvPr/>
        </p:nvSpPr>
        <p:spPr>
          <a:xfrm>
            <a:off x="9677400" y="5975766"/>
            <a:ext cx="2405358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99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Huygens </a:t>
            </a:r>
            <a:r>
              <a:rPr lang="ko-KR" altLang="en-US" sz="2599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파면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81CD45-E1FE-AAD7-E4AB-6911BEDCF803}"/>
              </a:ext>
            </a:extLst>
          </p:cNvPr>
          <p:cNvSpPr txBox="1"/>
          <p:nvPr/>
        </p:nvSpPr>
        <p:spPr>
          <a:xfrm>
            <a:off x="9681760" y="6669692"/>
            <a:ext cx="2321555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시간대별 화선 전파</a:t>
            </a:r>
          </a:p>
        </p:txBody>
      </p:sp>
      <p:pic>
        <p:nvPicPr>
          <p:cNvPr id="65" name="Picture 13">
            <a:extLst>
              <a:ext uri="{FF2B5EF4-FFF2-40B4-BE49-F238E27FC236}">
                <a16:creationId xmlns:a16="http://schemas.microsoft.com/office/drawing/2014/main" id="{3F20FF2C-16E5-A3E3-F0CA-D1F40E67B7CC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62699" y="5618615"/>
            <a:ext cx="3550209" cy="2068915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EAE1B2FE-07BE-D325-16E7-7EF7A59C2B08}"/>
              </a:ext>
            </a:extLst>
          </p:cNvPr>
          <p:cNvSpPr txBox="1"/>
          <p:nvPr/>
        </p:nvSpPr>
        <p:spPr>
          <a:xfrm>
            <a:off x="13634707" y="5975766"/>
            <a:ext cx="1826252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99" b="0" i="0" u="none" strike="noStrike" spc="-100" dirty="0" err="1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IoU</a:t>
            </a:r>
            <a:r>
              <a:rPr lang="en-US" altLang="ko-KR" sz="2599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2599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보정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957D003-A60E-D98D-955E-FDFCD22207DE}"/>
              </a:ext>
            </a:extLst>
          </p:cNvPr>
          <p:cNvSpPr txBox="1"/>
          <p:nvPr/>
        </p:nvSpPr>
        <p:spPr>
          <a:xfrm>
            <a:off x="13639067" y="6669692"/>
            <a:ext cx="2896333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실제 경계와 겹침 최대화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92AA852A-AF96-633D-8A30-2AD79114598C}"/>
              </a:ext>
            </a:extLst>
          </p:cNvPr>
          <p:cNvSpPr/>
          <p:nvPr/>
        </p:nvSpPr>
        <p:spPr>
          <a:xfrm>
            <a:off x="9528628" y="7936089"/>
            <a:ext cx="7484279" cy="86501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C4EED35-5B2A-1A48-CC48-1939EDE4405A}"/>
              </a:ext>
            </a:extLst>
          </p:cNvPr>
          <p:cNvSpPr txBox="1"/>
          <p:nvPr/>
        </p:nvSpPr>
        <p:spPr>
          <a:xfrm>
            <a:off x="9561286" y="8128772"/>
            <a:ext cx="15993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공통 출력</a:t>
            </a:r>
            <a:endParaRPr lang="ko-KR" altLang="en-US" sz="2500" b="1" i="0" u="none" strike="noStrike" spc="-100" dirty="0">
              <a:solidFill>
                <a:schemeClr val="bg1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B7632F0-CC74-8F5E-690B-430A2AE9AC06}"/>
              </a:ext>
            </a:extLst>
          </p:cNvPr>
          <p:cNvSpPr txBox="1"/>
          <p:nvPr/>
        </p:nvSpPr>
        <p:spPr>
          <a:xfrm>
            <a:off x="11203038" y="8135068"/>
            <a:ext cx="5332362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</a:t>
            </a:r>
            <a:r>
              <a:rPr lang="en-US" altLang="ko-KR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기여도 </a:t>
            </a:r>
            <a:r>
              <a:rPr lang="en-US" altLang="ko-KR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시간대별 화선 </a:t>
            </a:r>
            <a:r>
              <a:rPr lang="en-US" altLang="ko-KR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도달시각</a:t>
            </a:r>
          </a:p>
        </p:txBody>
      </p:sp>
      <p:sp>
        <p:nvSpPr>
          <p:cNvPr id="77" name="TextBox 19">
            <a:extLst>
              <a:ext uri="{FF2B5EF4-FFF2-40B4-BE49-F238E27FC236}">
                <a16:creationId xmlns:a16="http://schemas.microsoft.com/office/drawing/2014/main" id="{F6F50DAD-66AA-D99B-0519-73852ACFC534}"/>
              </a:ext>
            </a:extLst>
          </p:cNvPr>
          <p:cNvSpPr txBox="1"/>
          <p:nvPr/>
        </p:nvSpPr>
        <p:spPr>
          <a:xfrm>
            <a:off x="1028700" y="5851417"/>
            <a:ext cx="1943100" cy="37192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99" b="1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3</a:t>
            </a:r>
            <a:r>
              <a:rPr lang="en-US" sz="2099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lang="en-US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QWK</a:t>
            </a:r>
            <a:r>
              <a:rPr lang="ko-KR" altLang="en-US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최대화</a:t>
            </a:r>
            <a:endParaRPr lang="en-US" sz="2099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9" name="TextBox 19">
            <a:extLst>
              <a:ext uri="{FF2B5EF4-FFF2-40B4-BE49-F238E27FC236}">
                <a16:creationId xmlns:a16="http://schemas.microsoft.com/office/drawing/2014/main" id="{1E875CAD-2BC0-156E-290F-203E01026AA2}"/>
              </a:ext>
            </a:extLst>
          </p:cNvPr>
          <p:cNvSpPr txBox="1"/>
          <p:nvPr/>
        </p:nvSpPr>
        <p:spPr>
          <a:xfrm>
            <a:off x="1028700" y="6946900"/>
            <a:ext cx="2131786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99" b="1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4</a:t>
            </a:r>
            <a:r>
              <a:rPr lang="en-US" sz="2099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lang="en-US" sz="2099" b="1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LightGBM</a:t>
            </a:r>
            <a:r>
              <a:rPr lang="en-US" sz="2099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ko-KR" altLang="en-US" sz="2099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비교</a:t>
            </a:r>
            <a:endParaRPr lang="en-US" sz="2099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1" name="TextBox 19">
            <a:extLst>
              <a:ext uri="{FF2B5EF4-FFF2-40B4-BE49-F238E27FC236}">
                <a16:creationId xmlns:a16="http://schemas.microsoft.com/office/drawing/2014/main" id="{1456E3A5-2E00-AD67-E6D5-B6EFD43844A9}"/>
              </a:ext>
            </a:extLst>
          </p:cNvPr>
          <p:cNvSpPr txBox="1"/>
          <p:nvPr/>
        </p:nvSpPr>
        <p:spPr>
          <a:xfrm>
            <a:off x="4103915" y="3709377"/>
            <a:ext cx="2322284" cy="33745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변수별 단조 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임계값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3" name="TextBox 19">
            <a:extLst>
              <a:ext uri="{FF2B5EF4-FFF2-40B4-BE49-F238E27FC236}">
                <a16:creationId xmlns:a16="http://schemas.microsoft.com/office/drawing/2014/main" id="{A4A4D53D-E504-F5F9-CF11-9A3638D57F61}"/>
              </a:ext>
            </a:extLst>
          </p:cNvPr>
          <p:cNvSpPr txBox="1"/>
          <p:nvPr/>
        </p:nvSpPr>
        <p:spPr>
          <a:xfrm>
            <a:off x="4103915" y="4756219"/>
            <a:ext cx="2322284" cy="33745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지형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연료 결합</a:t>
            </a:r>
          </a:p>
        </p:txBody>
      </p:sp>
      <p:sp>
        <p:nvSpPr>
          <p:cNvPr id="85" name="TextBox 19">
            <a:extLst>
              <a:ext uri="{FF2B5EF4-FFF2-40B4-BE49-F238E27FC236}">
                <a16:creationId xmlns:a16="http://schemas.microsoft.com/office/drawing/2014/main" id="{3ACEE22D-52E9-0729-BAB9-23DF786F5296}"/>
              </a:ext>
            </a:extLst>
          </p:cNvPr>
          <p:cNvSpPr txBox="1"/>
          <p:nvPr/>
        </p:nvSpPr>
        <p:spPr>
          <a:xfrm>
            <a:off x="4097146" y="5853971"/>
            <a:ext cx="2322284" cy="33745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 등급 경계</a:t>
            </a:r>
          </a:p>
        </p:txBody>
      </p:sp>
      <p:sp>
        <p:nvSpPr>
          <p:cNvPr id="87" name="TextBox 19">
            <a:extLst>
              <a:ext uri="{FF2B5EF4-FFF2-40B4-BE49-F238E27FC236}">
                <a16:creationId xmlns:a16="http://schemas.microsoft.com/office/drawing/2014/main" id="{DFF19D30-009F-63B6-9FF4-8DDC9F9CDB5B}"/>
              </a:ext>
            </a:extLst>
          </p:cNvPr>
          <p:cNvSpPr txBox="1"/>
          <p:nvPr/>
        </p:nvSpPr>
        <p:spPr>
          <a:xfrm>
            <a:off x="4103915" y="6946900"/>
            <a:ext cx="2564910" cy="33745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동일 조건의 비교 모델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8761A4-D3B6-0FF0-D89E-78D8E263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10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CA711-E787-14FE-BF43-C488CED8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B709AA5-7535-F9D5-D41A-9DE548E504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58D8696-DFF9-3A5F-0D24-8086122A4E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A966C6E-8B50-2906-0AB0-3B7DA8DC7D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4EA61EE1-5120-E558-77D4-25ED706B7DF0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5.3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실시간 연산 계층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8EBABDC5-5773-1C2D-1BCB-FC5E7F344418}"/>
              </a:ext>
            </a:extLst>
          </p:cNvPr>
          <p:cNvSpPr/>
          <p:nvPr/>
        </p:nvSpPr>
        <p:spPr>
          <a:xfrm>
            <a:off x="776514" y="3346450"/>
            <a:ext cx="16916400" cy="1292795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2161F8-E81A-BB1D-6E2D-C7F7A0C5455C}"/>
              </a:ext>
            </a:extLst>
          </p:cNvPr>
          <p:cNvSpPr txBox="1"/>
          <p:nvPr/>
        </p:nvSpPr>
        <p:spPr>
          <a:xfrm>
            <a:off x="1990272" y="3678915"/>
            <a:ext cx="14325600" cy="62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30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골든 타임            </a:t>
            </a:r>
            <a:r>
              <a:rPr lang="en-US" altLang="ko-KR" sz="30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=</a:t>
            </a:r>
            <a:r>
              <a:rPr lang="ko-KR" altLang="en-US" sz="3000" b="1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              </a:t>
            </a:r>
            <a:r>
              <a:rPr lang="ko-KR" altLang="en-US" sz="30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화선 도달 잔여 시간           </a:t>
            </a:r>
            <a:r>
              <a:rPr lang="en-US" altLang="ko-KR" sz="30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–            </a:t>
            </a:r>
            <a:r>
              <a:rPr lang="ko-KR" altLang="en-US" sz="30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대피 소요 시간</a:t>
            </a:r>
          </a:p>
        </p:txBody>
      </p:sp>
      <p:pic>
        <p:nvPicPr>
          <p:cNvPr id="9" name="Picture 15">
            <a:extLst>
              <a:ext uri="{FF2B5EF4-FFF2-40B4-BE49-F238E27FC236}">
                <a16:creationId xmlns:a16="http://schemas.microsoft.com/office/drawing/2014/main" id="{9C6323DA-E536-7639-670D-B19D1E53452C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514" y="5143500"/>
            <a:ext cx="4000500" cy="2501900"/>
          </a:xfrm>
          <a:prstGeom prst="rect">
            <a:avLst/>
          </a:prstGeom>
        </p:spPr>
      </p:pic>
      <p:sp>
        <p:nvSpPr>
          <p:cNvPr id="11" name="TextBox 25">
            <a:extLst>
              <a:ext uri="{FF2B5EF4-FFF2-40B4-BE49-F238E27FC236}">
                <a16:creationId xmlns:a16="http://schemas.microsoft.com/office/drawing/2014/main" id="{93A3E4F1-E591-512C-A565-9EB8A1EEF93B}"/>
              </a:ext>
            </a:extLst>
          </p:cNvPr>
          <p:cNvSpPr txBox="1"/>
          <p:nvPr/>
        </p:nvSpPr>
        <p:spPr>
          <a:xfrm>
            <a:off x="1324428" y="5493721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거리</a:t>
            </a:r>
            <a:r>
              <a:rPr lang="en-US" altLang="ko-KR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기준 이동속도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14" name="Picture 15">
            <a:extLst>
              <a:ext uri="{FF2B5EF4-FFF2-40B4-BE49-F238E27FC236}">
                <a16:creationId xmlns:a16="http://schemas.microsoft.com/office/drawing/2014/main" id="{2D7FF5EE-F520-9635-978E-36993474FF4B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6350" y="5143500"/>
            <a:ext cx="4000500" cy="2501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52B7C8-E4B0-4F7C-75E3-2068947AAA8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2578" y="5143500"/>
            <a:ext cx="4000500" cy="2501900"/>
          </a:xfrm>
          <a:prstGeom prst="rect">
            <a:avLst/>
          </a:prstGeom>
        </p:spPr>
      </p:pic>
      <p:pic>
        <p:nvPicPr>
          <p:cNvPr id="18" name="Picture 15">
            <a:extLst>
              <a:ext uri="{FF2B5EF4-FFF2-40B4-BE49-F238E27FC236}">
                <a16:creationId xmlns:a16="http://schemas.microsoft.com/office/drawing/2014/main" id="{0FF4E2AC-0BF9-1166-65A2-A5D57B21B2C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92414" y="5143500"/>
            <a:ext cx="4000500" cy="25019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465A57-E1DC-F4F3-166A-CEA524A0FF07}"/>
              </a:ext>
            </a:extLst>
          </p:cNvPr>
          <p:cNvSpPr txBox="1"/>
          <p:nvPr/>
        </p:nvSpPr>
        <p:spPr>
          <a:xfrm>
            <a:off x="943428" y="6515100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기본 대피시간 추정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55B070F-4116-06C7-0DE9-0E63DB899C5B}"/>
              </a:ext>
            </a:extLst>
          </p:cNvPr>
          <p:cNvSpPr txBox="1"/>
          <p:nvPr/>
        </p:nvSpPr>
        <p:spPr>
          <a:xfrm>
            <a:off x="5346246" y="5493721"/>
            <a:ext cx="3480708" cy="35813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도로 접근성</a:t>
            </a:r>
            <a:r>
              <a:rPr lang="en-US" altLang="ko-KR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취약계층 비율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EA7A65-FD40-4D54-8AAF-E3DB22D48482}"/>
              </a:ext>
            </a:extLst>
          </p:cNvPr>
          <p:cNvSpPr txBox="1"/>
          <p:nvPr/>
        </p:nvSpPr>
        <p:spPr>
          <a:xfrm>
            <a:off x="5225142" y="6515100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 소요시간 보정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2716EF33-0DA2-356F-B79A-C9F86A1F4034}"/>
              </a:ext>
            </a:extLst>
          </p:cNvPr>
          <p:cNvSpPr txBox="1"/>
          <p:nvPr/>
        </p:nvSpPr>
        <p:spPr>
          <a:xfrm>
            <a:off x="9909628" y="5493721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 우선순위</a:t>
            </a:r>
            <a:endParaRPr lang="ko-KR" altLang="en-US" sz="2500" b="1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F00598-954C-1FD3-18B7-E423B8A85D1D}"/>
              </a:ext>
            </a:extLst>
          </p:cNvPr>
          <p:cNvSpPr txBox="1"/>
          <p:nvPr/>
        </p:nvSpPr>
        <p:spPr>
          <a:xfrm>
            <a:off x="9528628" y="6515100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골든타임이 짧은 지점 우선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94AF6333-A410-388D-9164-AB1A423E68F3}"/>
              </a:ext>
            </a:extLst>
          </p:cNvPr>
          <p:cNvSpPr txBox="1"/>
          <p:nvPr/>
        </p:nvSpPr>
        <p:spPr>
          <a:xfrm>
            <a:off x="14170478" y="5493721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추정 계수</a:t>
            </a:r>
            <a:endParaRPr lang="ko-KR" altLang="en-US" sz="2500" b="1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429BCE-AB89-D27E-DC11-AAE37CF76F7B}"/>
              </a:ext>
            </a:extLst>
          </p:cNvPr>
          <p:cNvSpPr txBox="1"/>
          <p:nvPr/>
        </p:nvSpPr>
        <p:spPr>
          <a:xfrm>
            <a:off x="13789478" y="6515100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불확실성 범위 병기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C8E3DF0-DE66-2E63-7034-7F725CE6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648CE7-7DEF-96C6-2ACE-5A63F218E377}"/>
              </a:ext>
            </a:extLst>
          </p:cNvPr>
          <p:cNvSpPr txBox="1"/>
          <p:nvPr/>
        </p:nvSpPr>
        <p:spPr>
          <a:xfrm>
            <a:off x="6361338" y="2211253"/>
            <a:ext cx="574675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500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음수 </a:t>
            </a:r>
            <a:r>
              <a:rPr lang="ko-KR" altLang="en-US" sz="3500" b="0" i="0" u="none" strike="noStrike" spc="-100" dirty="0" err="1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골든타임</a:t>
            </a:r>
            <a:r>
              <a:rPr lang="ko-KR" altLang="en-US" sz="3500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→ 최우선 경고</a:t>
            </a:r>
            <a:endParaRPr lang="ko-KR" altLang="en-US" sz="3500" dirty="0"/>
          </a:p>
        </p:txBody>
      </p:sp>
    </p:spTree>
    <p:extLst>
      <p:ext uri="{BB962C8B-B14F-4D97-AF65-F5344CB8AC3E}">
        <p14:creationId xmlns:p14="http://schemas.microsoft.com/office/powerpoint/2010/main" val="399093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DD319-AD2D-D091-ADA4-91D1894C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753DC3F-9015-518A-0FF7-F702159A1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ADCF3E4-23FD-39DE-6A8A-324FEED96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0E099E5-ECE2-1B3B-5E4B-CA6AD84F14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D1A53BBD-9E98-F7A4-F8A0-5833CA1CD413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4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보고서 생성 및 근거 검증 계층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9" name="Picture 15">
            <a:extLst>
              <a:ext uri="{FF2B5EF4-FFF2-40B4-BE49-F238E27FC236}">
                <a16:creationId xmlns:a16="http://schemas.microsoft.com/office/drawing/2014/main" id="{33F1659C-53F5-9670-9F42-45A2A32924B3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514" y="2400300"/>
            <a:ext cx="4000500" cy="2501900"/>
          </a:xfrm>
          <a:prstGeom prst="rect">
            <a:avLst/>
          </a:prstGeom>
        </p:spPr>
      </p:pic>
      <p:sp>
        <p:nvSpPr>
          <p:cNvPr id="11" name="TextBox 25">
            <a:extLst>
              <a:ext uri="{FF2B5EF4-FFF2-40B4-BE49-F238E27FC236}">
                <a16:creationId xmlns:a16="http://schemas.microsoft.com/office/drawing/2014/main" id="{DCC7BCF3-AEF8-B630-806B-0EBCA24BF68B}"/>
              </a:ext>
            </a:extLst>
          </p:cNvPr>
          <p:cNvSpPr txBox="1"/>
          <p:nvPr/>
        </p:nvSpPr>
        <p:spPr>
          <a:xfrm>
            <a:off x="1324428" y="2750521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역할별 보고서 생성</a:t>
            </a:r>
          </a:p>
          <a:p>
            <a:pPr lvl="0" algn="ctr">
              <a:lnSpc>
                <a:spcPct val="116199"/>
              </a:lnSpc>
            </a:pP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14" name="Picture 15">
            <a:extLst>
              <a:ext uri="{FF2B5EF4-FFF2-40B4-BE49-F238E27FC236}">
                <a16:creationId xmlns:a16="http://schemas.microsoft.com/office/drawing/2014/main" id="{589F82FE-3101-9A39-29FA-7C19601DE4C3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6350" y="2400300"/>
            <a:ext cx="4000500" cy="2501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86F717A-BDF4-E334-FB82-DA70B795C3A6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2578" y="2400300"/>
            <a:ext cx="4000500" cy="2501900"/>
          </a:xfrm>
          <a:prstGeom prst="rect">
            <a:avLst/>
          </a:prstGeom>
        </p:spPr>
      </p:pic>
      <p:pic>
        <p:nvPicPr>
          <p:cNvPr id="18" name="Picture 15">
            <a:extLst>
              <a:ext uri="{FF2B5EF4-FFF2-40B4-BE49-F238E27FC236}">
                <a16:creationId xmlns:a16="http://schemas.microsoft.com/office/drawing/2014/main" id="{C8E3C71B-4DF3-01AA-F13E-A461CEA8E612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92414" y="2400300"/>
            <a:ext cx="4000500" cy="25019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1DB38D0-B047-977D-A6A0-A25DB3CB3DC9}"/>
              </a:ext>
            </a:extLst>
          </p:cNvPr>
          <p:cNvSpPr txBox="1"/>
          <p:nvPr/>
        </p:nvSpPr>
        <p:spPr>
          <a:xfrm>
            <a:off x="943428" y="3502605"/>
            <a:ext cx="373380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프롬프트 기준선</a:t>
            </a:r>
          </a:p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Qwen3.5 + LoRA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비교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93A1449-DD50-E664-BCBC-0C3C6272F6F7}"/>
              </a:ext>
            </a:extLst>
          </p:cNvPr>
          <p:cNvSpPr txBox="1"/>
          <p:nvPr/>
        </p:nvSpPr>
        <p:spPr>
          <a:xfrm>
            <a:off x="5606142" y="2750521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혼합 검색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1294E9-98D1-43BF-6E95-FA38B6C386FC}"/>
              </a:ext>
            </a:extLst>
          </p:cNvPr>
          <p:cNvSpPr txBox="1"/>
          <p:nvPr/>
        </p:nvSpPr>
        <p:spPr>
          <a:xfrm>
            <a:off x="5225142" y="3502605"/>
            <a:ext cx="373380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한국어 의미 검색 임베딩</a:t>
            </a:r>
          </a:p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+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키워드 검색 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BM25</a:t>
            </a:r>
            <a:endParaRPr lang="en-US" altLang="ko-KR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EC1CDF07-FF91-871D-416E-0B3919E15242}"/>
              </a:ext>
            </a:extLst>
          </p:cNvPr>
          <p:cNvSpPr txBox="1"/>
          <p:nvPr/>
        </p:nvSpPr>
        <p:spPr>
          <a:xfrm>
            <a:off x="9909628" y="2750521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문장 판정</a:t>
            </a:r>
            <a:endParaRPr lang="ko-KR" altLang="en-US" sz="2500" b="1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AF8965-D010-999C-76B7-F88A30EEA0C0}"/>
              </a:ext>
            </a:extLst>
          </p:cNvPr>
          <p:cNvSpPr txBox="1"/>
          <p:nvPr/>
        </p:nvSpPr>
        <p:spPr>
          <a:xfrm>
            <a:off x="9528628" y="3502605"/>
            <a:ext cx="373380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지지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무관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상충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권고 문장과 조항 대조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C14ABB40-6D7E-E8BD-A995-8AEF9C61152F}"/>
              </a:ext>
            </a:extLst>
          </p:cNvPr>
          <p:cNvSpPr txBox="1"/>
          <p:nvPr/>
        </p:nvSpPr>
        <p:spPr>
          <a:xfrm>
            <a:off x="14170478" y="2750521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규칙 적용</a:t>
            </a:r>
            <a:endParaRPr lang="ko-KR" altLang="en-US" sz="2500" b="1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498AA3-31F6-FA04-5053-2BED179D6F38}"/>
              </a:ext>
            </a:extLst>
          </p:cNvPr>
          <p:cNvSpPr txBox="1"/>
          <p:nvPr/>
        </p:nvSpPr>
        <p:spPr>
          <a:xfrm>
            <a:off x="13789478" y="3502605"/>
            <a:ext cx="373380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미확보 표시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오류 출력 통제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B3699F-AA2B-E978-B1B2-4F7CAF7E0C58}"/>
              </a:ext>
            </a:extLst>
          </p:cNvPr>
          <p:cNvSpPr>
            <a:spLocks noGrp="1"/>
          </p:cNvSpPr>
          <p:nvPr/>
        </p:nvSpPr>
        <p:spPr>
          <a:xfrm>
            <a:off x="4643664" y="3373496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03951A-72DE-220A-6005-384A42D98A13}"/>
              </a:ext>
            </a:extLst>
          </p:cNvPr>
          <p:cNvSpPr>
            <a:spLocks noGrp="1"/>
          </p:cNvSpPr>
          <p:nvPr/>
        </p:nvSpPr>
        <p:spPr>
          <a:xfrm>
            <a:off x="8944428" y="3293666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1026E4-9152-55DE-D840-10C11944EF24}"/>
              </a:ext>
            </a:extLst>
          </p:cNvPr>
          <p:cNvSpPr>
            <a:spLocks noGrp="1"/>
          </p:cNvSpPr>
          <p:nvPr/>
        </p:nvSpPr>
        <p:spPr>
          <a:xfrm>
            <a:off x="13262428" y="3293666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4D13A3-2DE9-18A5-147A-AE7E8C5B7478}"/>
              </a:ext>
            </a:extLst>
          </p:cNvPr>
          <p:cNvSpPr txBox="1"/>
          <p:nvPr/>
        </p:nvSpPr>
        <p:spPr>
          <a:xfrm>
            <a:off x="5401128" y="5209190"/>
            <a:ext cx="76581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8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개 필드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JSON 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기준선 구축 후 </a:t>
            </a: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LoRA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학습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생성 권고 문장만 검증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6EECB5-FC50-7D07-8A05-14A12B949EBE}"/>
              </a:ext>
            </a:extLst>
          </p:cNvPr>
          <p:cNvSpPr txBox="1"/>
          <p:nvPr/>
        </p:nvSpPr>
        <p:spPr>
          <a:xfrm>
            <a:off x="1024164" y="6612008"/>
            <a:ext cx="17526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5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 가드레일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C76D99B-6B62-291E-6D5A-F6EB7B4D2CE7}"/>
              </a:ext>
            </a:extLst>
          </p:cNvPr>
          <p:cNvGrpSpPr/>
          <p:nvPr/>
        </p:nvGrpSpPr>
        <p:grpSpPr>
          <a:xfrm>
            <a:off x="4038145" y="6302718"/>
            <a:ext cx="2007053" cy="1006121"/>
            <a:chOff x="5791200" y="7274276"/>
            <a:chExt cx="6629400" cy="1006121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51C623FD-6D4C-F1B7-A03D-18EBEF3B786E}"/>
                </a:ext>
              </a:extLst>
            </p:cNvPr>
            <p:cNvSpPr/>
            <p:nvPr/>
          </p:nvSpPr>
          <p:spPr>
            <a:xfrm>
              <a:off x="5791200" y="7274276"/>
              <a:ext cx="6629400" cy="1006121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E9BC825-025B-6C8E-DE3B-777557F57C48}"/>
                </a:ext>
              </a:extLst>
            </p:cNvPr>
            <p:cNvSpPr txBox="1"/>
            <p:nvPr/>
          </p:nvSpPr>
          <p:spPr>
            <a:xfrm>
              <a:off x="6110060" y="7508031"/>
              <a:ext cx="5991676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500" b="1" i="0" u="none" strike="noStrike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근거 부재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71C4555-42EF-ED7B-FC7D-93D29D7EBBB1}"/>
              </a:ext>
            </a:extLst>
          </p:cNvPr>
          <p:cNvGrpSpPr/>
          <p:nvPr/>
        </p:nvGrpSpPr>
        <p:grpSpPr>
          <a:xfrm>
            <a:off x="6628719" y="6302718"/>
            <a:ext cx="2007053" cy="1006121"/>
            <a:chOff x="5791200" y="7274276"/>
            <a:chExt cx="6629400" cy="1006121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9F6C7F7C-D37E-6FB7-D624-A7B2F9D4A705}"/>
                </a:ext>
              </a:extLst>
            </p:cNvPr>
            <p:cNvSpPr/>
            <p:nvPr/>
          </p:nvSpPr>
          <p:spPr>
            <a:xfrm>
              <a:off x="5791200" y="7274276"/>
              <a:ext cx="6629400" cy="1006121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25EF10C-EA72-1BB8-1A14-01117889BADD}"/>
                </a:ext>
              </a:extLst>
            </p:cNvPr>
            <p:cNvSpPr txBox="1"/>
            <p:nvPr/>
          </p:nvSpPr>
          <p:spPr>
            <a:xfrm>
              <a:off x="6110060" y="7508031"/>
              <a:ext cx="5991676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500" b="1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수치 환각</a:t>
              </a:r>
              <a:endParaRPr lang="ko-KR" altLang="en-US" sz="25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35A3C1A-8A67-B633-C05A-86D9ED767430}"/>
              </a:ext>
            </a:extLst>
          </p:cNvPr>
          <p:cNvGrpSpPr/>
          <p:nvPr/>
        </p:nvGrpSpPr>
        <p:grpSpPr>
          <a:xfrm>
            <a:off x="9236981" y="6302718"/>
            <a:ext cx="2007053" cy="1006121"/>
            <a:chOff x="5791200" y="7274276"/>
            <a:chExt cx="6629400" cy="1006121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88C25A97-1548-7C17-AEFE-94E7A7584A96}"/>
                </a:ext>
              </a:extLst>
            </p:cNvPr>
            <p:cNvSpPr/>
            <p:nvPr/>
          </p:nvSpPr>
          <p:spPr>
            <a:xfrm>
              <a:off x="5791200" y="7274276"/>
              <a:ext cx="6629400" cy="1006121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0F13DDA-7D39-D3B6-A04F-87A7B9BDAEED}"/>
                </a:ext>
              </a:extLst>
            </p:cNvPr>
            <p:cNvSpPr txBox="1"/>
            <p:nvPr/>
          </p:nvSpPr>
          <p:spPr>
            <a:xfrm>
              <a:off x="6110060" y="7508031"/>
              <a:ext cx="5991676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500" b="1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위험 조언</a:t>
              </a:r>
              <a:endParaRPr lang="ko-KR" altLang="en-US" sz="25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CDD3C6D-CC54-41C1-A13E-1C3CAF0985B0}"/>
              </a:ext>
            </a:extLst>
          </p:cNvPr>
          <p:cNvGrpSpPr/>
          <p:nvPr/>
        </p:nvGrpSpPr>
        <p:grpSpPr>
          <a:xfrm>
            <a:off x="11823472" y="6296600"/>
            <a:ext cx="2007053" cy="1006121"/>
            <a:chOff x="5791200" y="7274276"/>
            <a:chExt cx="6629400" cy="1006121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5CCF8341-F85A-DCD1-9BF0-3AD1F08B254B}"/>
                </a:ext>
              </a:extLst>
            </p:cNvPr>
            <p:cNvSpPr/>
            <p:nvPr/>
          </p:nvSpPr>
          <p:spPr>
            <a:xfrm>
              <a:off x="5791200" y="7274276"/>
              <a:ext cx="6629400" cy="1006121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63B3DAD-7BB2-CA7E-4144-BCA2F86E3F73}"/>
                </a:ext>
              </a:extLst>
            </p:cNvPr>
            <p:cNvSpPr txBox="1"/>
            <p:nvPr/>
          </p:nvSpPr>
          <p:spPr>
            <a:xfrm>
              <a:off x="6110060" y="7508031"/>
              <a:ext cx="5991676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500" b="1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논리 모순</a:t>
              </a:r>
              <a:endParaRPr lang="ko-KR" altLang="en-US" sz="25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5FDB58E-B955-19DF-CB1D-A03B6FB15656}"/>
              </a:ext>
            </a:extLst>
          </p:cNvPr>
          <p:cNvGrpSpPr/>
          <p:nvPr/>
        </p:nvGrpSpPr>
        <p:grpSpPr>
          <a:xfrm>
            <a:off x="14439673" y="6296598"/>
            <a:ext cx="2007053" cy="1006121"/>
            <a:chOff x="5791200" y="7274276"/>
            <a:chExt cx="6629400" cy="1006121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159767DD-BEDA-2690-A974-E5AD5A576C9D}"/>
                </a:ext>
              </a:extLst>
            </p:cNvPr>
            <p:cNvSpPr/>
            <p:nvPr/>
          </p:nvSpPr>
          <p:spPr>
            <a:xfrm>
              <a:off x="5791200" y="7274276"/>
              <a:ext cx="6629400" cy="1006121"/>
            </a:xfrm>
            <a:prstGeom prst="roundRect">
              <a:avLst/>
            </a:prstGeom>
            <a:solidFill>
              <a:srgbClr val="FAA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CF60505-39E5-9042-D714-A0271F1AEB66}"/>
                </a:ext>
              </a:extLst>
            </p:cNvPr>
            <p:cNvSpPr txBox="1"/>
            <p:nvPr/>
          </p:nvSpPr>
          <p:spPr>
            <a:xfrm>
              <a:off x="6110060" y="7508031"/>
              <a:ext cx="5991676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500" b="1" spc="-100" dirty="0">
                  <a:solidFill>
                    <a:schemeClr val="bg1"/>
                  </a:solidFill>
                  <a:latin typeface="210 OmniGothic 030"/>
                  <a:ea typeface="210 OmniGothic 030"/>
                  <a:cs typeface="210 OmniGothic 030"/>
                </a:rPr>
                <a:t>역할 위반</a:t>
              </a:r>
              <a:endParaRPr lang="ko-KR" altLang="en-US" sz="25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endParaRPr>
            </a:p>
          </p:txBody>
        </p:sp>
      </p:grpSp>
      <p:pic>
        <p:nvPicPr>
          <p:cNvPr id="45" name="Picture 15">
            <a:extLst>
              <a:ext uri="{FF2B5EF4-FFF2-40B4-BE49-F238E27FC236}">
                <a16:creationId xmlns:a16="http://schemas.microsoft.com/office/drawing/2014/main" id="{BB37E248-7E5F-7E68-84E2-BB6BDC4DC9BA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1720" y="7734300"/>
            <a:ext cx="15936916" cy="119065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5B0D5AC-0232-2038-87A4-8957773B6403}"/>
              </a:ext>
            </a:extLst>
          </p:cNvPr>
          <p:cNvSpPr txBox="1"/>
          <p:nvPr/>
        </p:nvSpPr>
        <p:spPr>
          <a:xfrm>
            <a:off x="1688688" y="8121941"/>
            <a:ext cx="1304998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</a:rPr>
              <a:t>검증 원칙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2ACA4B-C32A-DCA1-98D7-E94AB1B9FD60}"/>
              </a:ext>
            </a:extLst>
          </p:cNvPr>
          <p:cNvSpPr txBox="1"/>
          <p:nvPr/>
        </p:nvSpPr>
        <p:spPr>
          <a:xfrm>
            <a:off x="3489398" y="8068504"/>
            <a:ext cx="12665002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가정값과 생성 수치 구분 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없는 문장도 ‘근거 미확보’로 표시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D77C4D3-EEB5-B290-5997-0302AAA0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96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6E5CC-4156-572F-6E44-A8CFA9624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5">
            <a:extLst>
              <a:ext uri="{FF2B5EF4-FFF2-40B4-BE49-F238E27FC236}">
                <a16:creationId xmlns:a16="http://schemas.microsoft.com/office/drawing/2014/main" id="{C4103D0A-6EAB-FAC3-2845-16987A565FE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97164" y="5488661"/>
            <a:ext cx="4000500" cy="21849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20E5E8B-FC91-02BB-F24D-0C0F1EBDDF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E33B181-BE04-E2D6-64B7-0D247954E3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279BF3F-82B6-5914-F666-97DC2F705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D06DEB93-2E0F-A744-B2A9-A4451EDD4A93}"/>
              </a:ext>
            </a:extLst>
          </p:cNvPr>
          <p:cNvSpPr txBox="1"/>
          <p:nvPr/>
        </p:nvSpPr>
        <p:spPr>
          <a:xfrm>
            <a:off x="818243" y="2139043"/>
            <a:ext cx="8277678" cy="673100"/>
          </a:xfrm>
          <a:prstGeom prst="rect">
            <a:avLst/>
          </a:prstGeom>
        </p:spPr>
        <p:txBody>
          <a:bodyPr lIns="0" tIns="45719" rIns="0" bIns="4571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지도</a:t>
            </a:r>
            <a:r>
              <a:rPr lang="en-US" altLang="ko-KR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·</a:t>
            </a:r>
            <a:r>
              <a:rPr lang="ko-KR" altLang="en-US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보고서</a:t>
            </a:r>
            <a:r>
              <a:rPr lang="en-US" altLang="ko-KR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·</a:t>
            </a:r>
            <a:r>
              <a:rPr lang="ko-KR" altLang="en-US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근거를 한 화면에서 동시 확인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3AC3829-EB8A-53D3-037C-744F6791EDF4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/>
            <a:r>
              <a:rPr lang="en-US" altLang="ko-KR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5.5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표출 및 통합</a:t>
            </a:r>
            <a:endParaRPr lang="en-US" altLang="ko-KR" sz="4799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E50558AF-A871-6522-1196-B2B3BCF0200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0335" y="2958599"/>
            <a:ext cx="12233275" cy="4648971"/>
          </a:xfrm>
          <a:prstGeom prst="rect">
            <a:avLst/>
          </a:prstGeom>
        </p:spPr>
      </p:pic>
      <p:sp>
        <p:nvSpPr>
          <p:cNvPr id="8" name="TextBox 25">
            <a:extLst>
              <a:ext uri="{FF2B5EF4-FFF2-40B4-BE49-F238E27FC236}">
                <a16:creationId xmlns:a16="http://schemas.microsoft.com/office/drawing/2014/main" id="{F108AC69-2AC2-C2A1-9C28-C555B0C601D0}"/>
              </a:ext>
            </a:extLst>
          </p:cNvPr>
          <p:cNvSpPr txBox="1"/>
          <p:nvPr/>
        </p:nvSpPr>
        <p:spPr>
          <a:xfrm>
            <a:off x="1417864" y="3431828"/>
            <a:ext cx="1581150" cy="47123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 지도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12" name="Picture 15">
            <a:extLst>
              <a:ext uri="{FF2B5EF4-FFF2-40B4-BE49-F238E27FC236}">
                <a16:creationId xmlns:a16="http://schemas.microsoft.com/office/drawing/2014/main" id="{5AA25E32-3980-B0DA-CD6E-CBBA47F1C19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80837" y="2958600"/>
            <a:ext cx="4000500" cy="2184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5E9E912-49F8-D6A9-038E-663E48E1C9D6}"/>
              </a:ext>
            </a:extLst>
          </p:cNvPr>
          <p:cNvSpPr txBox="1"/>
          <p:nvPr/>
        </p:nvSpPr>
        <p:spPr>
          <a:xfrm>
            <a:off x="8843056" y="3090079"/>
            <a:ext cx="192858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주 확산 방향 →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7002B2E3-347E-C2A5-3288-9753685C77B1}"/>
              </a:ext>
            </a:extLst>
          </p:cNvPr>
          <p:cNvSpPr txBox="1"/>
          <p:nvPr/>
        </p:nvSpPr>
        <p:spPr>
          <a:xfrm>
            <a:off x="14111514" y="3223039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역할별 우선 조치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502B0C-2244-F888-FB56-F43E4627651C}"/>
              </a:ext>
            </a:extLst>
          </p:cNvPr>
          <p:cNvSpPr txBox="1"/>
          <p:nvPr/>
        </p:nvSpPr>
        <p:spPr>
          <a:xfrm>
            <a:off x="13730514" y="3903059"/>
            <a:ext cx="373380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진압대원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구조요원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공무원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시민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역할별 정보 깊이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우선 조치</a:t>
            </a: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C0BF3114-C7C3-BC91-16BB-40F00CE0583A}"/>
              </a:ext>
            </a:extLst>
          </p:cNvPr>
          <p:cNvSpPr txBox="1"/>
          <p:nvPr/>
        </p:nvSpPr>
        <p:spPr>
          <a:xfrm>
            <a:off x="14111514" y="5693916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열람 패널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D67755-1AFE-8E30-02AD-62E204B29334}"/>
              </a:ext>
            </a:extLst>
          </p:cNvPr>
          <p:cNvSpPr txBox="1"/>
          <p:nvPr/>
        </p:nvSpPr>
        <p:spPr>
          <a:xfrm>
            <a:off x="13714187" y="6255237"/>
            <a:ext cx="3733800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문장 선택 → 근거 조항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지지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무관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상충 판정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차단 사유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판단 기록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603CDA4B-F54A-A622-8C44-680C697C9C45}"/>
              </a:ext>
            </a:extLst>
          </p:cNvPr>
          <p:cNvSpPr/>
          <p:nvPr/>
        </p:nvSpPr>
        <p:spPr>
          <a:xfrm>
            <a:off x="1047752" y="7919972"/>
            <a:ext cx="16363949" cy="100612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005E30-0A20-046F-5BF7-4A4884103E3F}"/>
              </a:ext>
            </a:extLst>
          </p:cNvPr>
          <p:cNvSpPr txBox="1"/>
          <p:nvPr/>
        </p:nvSpPr>
        <p:spPr>
          <a:xfrm>
            <a:off x="7530424" y="8169980"/>
            <a:ext cx="7709576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실제 경계 비교 </a:t>
            </a:r>
            <a:r>
              <a:rPr lang="en-US" altLang="ko-KR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REST API </a:t>
            </a: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중계 및 산출물 저장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CD72E6-F013-5540-5081-59640CD63B94}"/>
              </a:ext>
            </a:extLst>
          </p:cNvPr>
          <p:cNvSpPr txBox="1"/>
          <p:nvPr/>
        </p:nvSpPr>
        <p:spPr>
          <a:xfrm>
            <a:off x="1434424" y="8169980"/>
            <a:ext cx="2160145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과거 사례 재현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25E48BA-7503-0F22-E58A-D37175A60385}"/>
              </a:ext>
            </a:extLst>
          </p:cNvPr>
          <p:cNvSpPr>
            <a:spLocks noGrp="1"/>
          </p:cNvSpPr>
          <p:nvPr/>
        </p:nvSpPr>
        <p:spPr>
          <a:xfrm>
            <a:off x="3404734" y="4192007"/>
            <a:ext cx="2857500" cy="1666875"/>
          </a:xfrm>
          <a:prstGeom prst="ellipse">
            <a:avLst/>
          </a:prstGeom>
          <a:solidFill>
            <a:srgbClr val="FFE0C0"/>
          </a:solidFill>
          <a:ln w="12383">
            <a:solidFill>
              <a:srgbClr val="FFAA5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B51D01F-17F5-8998-D004-017E10D931AB}"/>
              </a:ext>
            </a:extLst>
          </p:cNvPr>
          <p:cNvSpPr>
            <a:spLocks noGrp="1"/>
          </p:cNvSpPr>
          <p:nvPr/>
        </p:nvSpPr>
        <p:spPr>
          <a:xfrm>
            <a:off x="4881109" y="3763382"/>
            <a:ext cx="3714750" cy="2476500"/>
          </a:xfrm>
          <a:prstGeom prst="ellipse">
            <a:avLst/>
          </a:prstGeom>
          <a:solidFill>
            <a:srgbClr val="FFBF80">
              <a:alpha val="60000"/>
            </a:srgbClr>
          </a:solidFill>
          <a:ln w="12383">
            <a:solidFill>
              <a:srgbClr val="FFAA5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6BBFAFE-A14B-8D5F-30F1-8C0F6F220B95}"/>
              </a:ext>
            </a:extLst>
          </p:cNvPr>
          <p:cNvSpPr>
            <a:spLocks noGrp="1"/>
          </p:cNvSpPr>
          <p:nvPr/>
        </p:nvSpPr>
        <p:spPr>
          <a:xfrm>
            <a:off x="6547984" y="3477632"/>
            <a:ext cx="3381375" cy="3048000"/>
          </a:xfrm>
          <a:prstGeom prst="ellipse">
            <a:avLst/>
          </a:prstGeom>
          <a:solidFill>
            <a:srgbClr val="E04732">
              <a:alpha val="40000"/>
            </a:srgbClr>
          </a:solidFill>
          <a:ln w="12383">
            <a:solidFill>
              <a:srgbClr val="E0473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F12CB3-C020-043A-3F38-10332B857941}"/>
              </a:ext>
            </a:extLst>
          </p:cNvPr>
          <p:cNvSpPr txBox="1"/>
          <p:nvPr/>
        </p:nvSpPr>
        <p:spPr>
          <a:xfrm>
            <a:off x="10942411" y="3152187"/>
            <a:ext cx="1928586" cy="395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화면 구성 예시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681F3F-66D4-3326-F032-E1325389E2E4}"/>
              </a:ext>
            </a:extLst>
          </p:cNvPr>
          <p:cNvSpPr txBox="1"/>
          <p:nvPr/>
        </p:nvSpPr>
        <p:spPr>
          <a:xfrm>
            <a:off x="1676400" y="6949712"/>
            <a:ext cx="192858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이전 시점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CEC24B-3DEC-7951-5376-1D008D95B3DF}"/>
              </a:ext>
            </a:extLst>
          </p:cNvPr>
          <p:cNvSpPr txBox="1"/>
          <p:nvPr/>
        </p:nvSpPr>
        <p:spPr>
          <a:xfrm>
            <a:off x="3869191" y="6944263"/>
            <a:ext cx="192858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현재 시점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DCD9CB-A479-CE4F-31D5-74DFDEAEAEF8}"/>
              </a:ext>
            </a:extLst>
          </p:cNvPr>
          <p:cNvSpPr txBox="1"/>
          <p:nvPr/>
        </p:nvSpPr>
        <p:spPr>
          <a:xfrm>
            <a:off x="5886903" y="6955813"/>
            <a:ext cx="192858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미래 시점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9752F1-2031-CB12-8A9F-05813352230A}"/>
              </a:ext>
            </a:extLst>
          </p:cNvPr>
          <p:cNvSpPr txBox="1"/>
          <p:nvPr/>
        </p:nvSpPr>
        <p:spPr>
          <a:xfrm>
            <a:off x="622980" y="5744439"/>
            <a:ext cx="3714750" cy="395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 분포 </a:t>
            </a:r>
            <a:r>
              <a:rPr lang="en-US" altLang="ko-KR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대피소 </a:t>
            </a:r>
            <a:r>
              <a:rPr lang="en-US" altLang="ko-KR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1700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골든타임</a:t>
            </a:r>
            <a:endParaRPr lang="ko-KR" altLang="en-US" sz="1700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5AD05D-0E72-C660-43B5-68E37DD85B8F}"/>
              </a:ext>
            </a:extLst>
          </p:cNvPr>
          <p:cNvSpPr txBox="1"/>
          <p:nvPr/>
        </p:nvSpPr>
        <p:spPr>
          <a:xfrm>
            <a:off x="10273392" y="5363117"/>
            <a:ext cx="192858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대피소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D7E5478-F16B-BC1F-1232-D79C56772602}"/>
              </a:ext>
            </a:extLst>
          </p:cNvPr>
          <p:cNvSpPr>
            <a:spLocks noGrp="1"/>
          </p:cNvSpPr>
          <p:nvPr/>
        </p:nvSpPr>
        <p:spPr>
          <a:xfrm>
            <a:off x="1676400" y="6787486"/>
            <a:ext cx="6381750" cy="38100"/>
          </a:xfrm>
          <a:prstGeom prst="rect">
            <a:avLst/>
          </a:prstGeom>
          <a:solidFill>
            <a:srgbClr val="D6D7D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2156486-C91F-4567-B83C-0AB2A45EA175}"/>
              </a:ext>
            </a:extLst>
          </p:cNvPr>
          <p:cNvSpPr>
            <a:spLocks noGrp="1"/>
          </p:cNvSpPr>
          <p:nvPr/>
        </p:nvSpPr>
        <p:spPr>
          <a:xfrm>
            <a:off x="1676400" y="6787486"/>
            <a:ext cx="3190875" cy="38100"/>
          </a:xfrm>
          <a:prstGeom prst="rect">
            <a:avLst/>
          </a:prstGeom>
          <a:solidFill>
            <a:srgbClr val="FFAA5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332A546-B87C-71E7-39D0-6DA1EDBAD484}"/>
              </a:ext>
            </a:extLst>
          </p:cNvPr>
          <p:cNvSpPr>
            <a:spLocks noGrp="1"/>
          </p:cNvSpPr>
          <p:nvPr/>
        </p:nvSpPr>
        <p:spPr>
          <a:xfrm>
            <a:off x="4772025" y="6701761"/>
            <a:ext cx="209550" cy="209550"/>
          </a:xfrm>
          <a:prstGeom prst="ellipse">
            <a:avLst/>
          </a:prstGeom>
          <a:solidFill>
            <a:srgbClr val="FFAA5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4D77B99-7721-7AA2-A6DD-A9EE4E7CE287}"/>
              </a:ext>
            </a:extLst>
          </p:cNvPr>
          <p:cNvSpPr/>
          <p:nvPr/>
        </p:nvSpPr>
        <p:spPr>
          <a:xfrm>
            <a:off x="11096397" y="4970789"/>
            <a:ext cx="282576" cy="317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931679F-5E9C-69A0-2B2D-458585AA507F}"/>
              </a:ext>
            </a:extLst>
          </p:cNvPr>
          <p:cNvGrpSpPr/>
          <p:nvPr/>
        </p:nvGrpSpPr>
        <p:grpSpPr>
          <a:xfrm>
            <a:off x="8417036" y="6679471"/>
            <a:ext cx="2195174" cy="605981"/>
            <a:chOff x="9183799" y="6854673"/>
            <a:chExt cx="2195174" cy="605981"/>
          </a:xfrm>
        </p:grpSpPr>
        <p:sp>
          <p:nvSpPr>
            <p:cNvPr id="61" name="순서도: 수행의 시작/종료 60">
              <a:extLst>
                <a:ext uri="{FF2B5EF4-FFF2-40B4-BE49-F238E27FC236}">
                  <a16:creationId xmlns:a16="http://schemas.microsoft.com/office/drawing/2014/main" id="{2A080F45-0754-A0E4-D140-21C9911B2CC6}"/>
                </a:ext>
              </a:extLst>
            </p:cNvPr>
            <p:cNvSpPr/>
            <p:nvPr/>
          </p:nvSpPr>
          <p:spPr>
            <a:xfrm>
              <a:off x="9183799" y="6854673"/>
              <a:ext cx="2195174" cy="605981"/>
            </a:xfrm>
            <a:prstGeom prst="flowChartTermina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5B5B148-7363-B8D3-EBD0-565659349E3B}"/>
                </a:ext>
              </a:extLst>
            </p:cNvPr>
            <p:cNvSpPr txBox="1"/>
            <p:nvPr/>
          </p:nvSpPr>
          <p:spPr>
            <a:xfrm>
              <a:off x="9317093" y="6927934"/>
              <a:ext cx="1928586" cy="467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099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시간 슬라이더</a:t>
              </a:r>
            </a:p>
          </p:txBody>
        </p:sp>
      </p:grp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984DF54-5173-948F-5BAA-5A0D0B39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93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3B9EA-43BE-1221-6AA2-1D106C18D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1F316E4-E388-29CA-158D-AEB841F5EA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98E287E-D2BE-D8FE-08DD-C753CC9DF0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C2D0CF5-2991-FCBF-08EE-445D167413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B3301989-CABF-9806-6018-50C4C015BFE8}"/>
              </a:ext>
            </a:extLst>
          </p:cNvPr>
          <p:cNvSpPr txBox="1"/>
          <p:nvPr/>
        </p:nvSpPr>
        <p:spPr>
          <a:xfrm>
            <a:off x="1018722" y="2574925"/>
            <a:ext cx="7962900" cy="673100"/>
          </a:xfrm>
          <a:prstGeom prst="rect">
            <a:avLst/>
          </a:prstGeom>
        </p:spPr>
        <p:txBody>
          <a:bodyPr lIns="0" tIns="45719" rIns="0" bIns="4571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정확도</a:t>
            </a:r>
            <a:r>
              <a:rPr lang="en-US" altLang="ko-KR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·</a:t>
            </a:r>
            <a:r>
              <a:rPr lang="ko-KR" altLang="en-US" sz="3599" b="0" i="0" u="none" strike="noStrike" spc="-100" dirty="0" err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근거성</a:t>
            </a:r>
            <a:r>
              <a:rPr lang="en-US" altLang="ko-KR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·</a:t>
            </a:r>
            <a:r>
              <a:rPr lang="ko-KR" altLang="en-US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안전성</a:t>
            </a:r>
            <a:r>
              <a:rPr lang="en-US" altLang="ko-KR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·</a:t>
            </a:r>
            <a:r>
              <a:rPr lang="ko-KR" altLang="en-US" sz="35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속도의 분리 평가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87708E3-1324-8EAA-8F4D-CB1DD80CC151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평가 계획 및 활용 모델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B2B94975-3E5C-ADD9-B2F3-4E026549D4C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336" y="3757612"/>
            <a:ext cx="4000500" cy="2501900"/>
          </a:xfrm>
          <a:prstGeom prst="rect">
            <a:avLst/>
          </a:prstGeom>
        </p:spPr>
      </p:pic>
      <p:sp>
        <p:nvSpPr>
          <p:cNvPr id="8" name="TextBox 25">
            <a:extLst>
              <a:ext uri="{FF2B5EF4-FFF2-40B4-BE49-F238E27FC236}">
                <a16:creationId xmlns:a16="http://schemas.microsoft.com/office/drawing/2014/main" id="{21E1485E-5B06-FE58-6C6A-5ABB1BFA62ED}"/>
              </a:ext>
            </a:extLst>
          </p:cNvPr>
          <p:cNvSpPr txBox="1"/>
          <p:nvPr/>
        </p:nvSpPr>
        <p:spPr>
          <a:xfrm>
            <a:off x="1238250" y="4107833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</a:t>
            </a:r>
            <a:r>
              <a:rPr lang="en-US" altLang="ko-KR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</a:p>
        </p:txBody>
      </p:sp>
      <p:pic>
        <p:nvPicPr>
          <p:cNvPr id="10" name="Picture 15">
            <a:extLst>
              <a:ext uri="{FF2B5EF4-FFF2-40B4-BE49-F238E27FC236}">
                <a16:creationId xmlns:a16="http://schemas.microsoft.com/office/drawing/2014/main" id="{07FE26E6-B6D3-FBB8-076E-EAF8597693E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172" y="3757612"/>
            <a:ext cx="4000500" cy="2501900"/>
          </a:xfrm>
          <a:prstGeom prst="rect">
            <a:avLst/>
          </a:prstGeom>
        </p:spPr>
      </p:pic>
      <p:pic>
        <p:nvPicPr>
          <p:cNvPr id="12" name="Picture 15">
            <a:extLst>
              <a:ext uri="{FF2B5EF4-FFF2-40B4-BE49-F238E27FC236}">
                <a16:creationId xmlns:a16="http://schemas.microsoft.com/office/drawing/2014/main" id="{3C13A20C-BFA9-554D-20E6-031A4B3CD65D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6400" y="3757612"/>
            <a:ext cx="4000500" cy="2501900"/>
          </a:xfrm>
          <a:prstGeom prst="rect">
            <a:avLst/>
          </a:prstGeom>
        </p:spPr>
      </p:pic>
      <p:pic>
        <p:nvPicPr>
          <p:cNvPr id="14" name="Picture 15">
            <a:extLst>
              <a:ext uri="{FF2B5EF4-FFF2-40B4-BE49-F238E27FC236}">
                <a16:creationId xmlns:a16="http://schemas.microsoft.com/office/drawing/2014/main" id="{0EA71679-E264-4448-2CBE-E57AB4BD1CBA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06236" y="3757612"/>
            <a:ext cx="4000500" cy="2501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E0FE168-3F55-4C71-D51D-9FF5D77C5213}"/>
              </a:ext>
            </a:extLst>
          </p:cNvPr>
          <p:cNvSpPr txBox="1"/>
          <p:nvPr/>
        </p:nvSpPr>
        <p:spPr>
          <a:xfrm>
            <a:off x="857250" y="4859917"/>
            <a:ext cx="3733800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격자 정합 오차</a:t>
            </a:r>
          </a:p>
          <a:p>
            <a:pPr lvl="0" algn="ctr">
              <a:lnSpc>
                <a:spcPct val="116199"/>
              </a:lnSpc>
            </a:pP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macro-F1 · QWK</a:t>
            </a:r>
          </a:p>
          <a:p>
            <a:pPr lvl="0" algn="ctr">
              <a:lnSpc>
                <a:spcPct val="116199"/>
              </a:lnSpc>
            </a:pPr>
            <a:r>
              <a:rPr lang="en-US" altLang="ko-KR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IoU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·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면적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방향 오차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92B148C7-1E50-FACB-C792-B0964B9F5AE3}"/>
              </a:ext>
            </a:extLst>
          </p:cNvPr>
          <p:cNvSpPr txBox="1"/>
          <p:nvPr/>
        </p:nvSpPr>
        <p:spPr>
          <a:xfrm>
            <a:off x="5519964" y="4107833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골든타임</a:t>
            </a:r>
            <a:endParaRPr lang="ko-KR" altLang="en-US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E5881C-6415-52C3-BEE5-C46C47288CED}"/>
              </a:ext>
            </a:extLst>
          </p:cNvPr>
          <p:cNvSpPr txBox="1"/>
          <p:nvPr/>
        </p:nvSpPr>
        <p:spPr>
          <a:xfrm>
            <a:off x="5138964" y="4859917"/>
            <a:ext cx="3733800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도달 시각 오차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우선순위 순위상관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불확실성 범위 병기 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3CC4BF4-744C-8BCB-5C1A-66BD81BC7F25}"/>
              </a:ext>
            </a:extLst>
          </p:cNvPr>
          <p:cNvSpPr txBox="1"/>
          <p:nvPr/>
        </p:nvSpPr>
        <p:spPr>
          <a:xfrm>
            <a:off x="9823450" y="4107833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검색</a:t>
            </a:r>
            <a:r>
              <a:rPr lang="en-US" altLang="ko-KR" sz="2500" b="1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500" b="1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보고서</a:t>
            </a:r>
            <a:endParaRPr lang="ko-KR" altLang="en-US" sz="2500" b="1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47174D-6220-F749-E791-9D1B16BD40B1}"/>
              </a:ext>
            </a:extLst>
          </p:cNvPr>
          <p:cNvSpPr txBox="1"/>
          <p:nvPr/>
        </p:nvSpPr>
        <p:spPr>
          <a:xfrm>
            <a:off x="9442450" y="4859917"/>
            <a:ext cx="3733800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Recall@1/3/5 · MRR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충실도</a:t>
            </a: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인용 정확도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반복 대응 일관성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2665C691-B422-D98A-14DB-7361A44B1ADE}"/>
              </a:ext>
            </a:extLst>
          </p:cNvPr>
          <p:cNvSpPr txBox="1"/>
          <p:nvPr/>
        </p:nvSpPr>
        <p:spPr>
          <a:xfrm>
            <a:off x="14084300" y="4107833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운영</a:t>
            </a:r>
            <a:r>
              <a:rPr lang="en-US" altLang="ko-KR" sz="2500" b="1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500" b="1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안전</a:t>
            </a:r>
            <a:endParaRPr lang="ko-KR" altLang="en-US" sz="2500" b="1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1660F9-194A-1DE0-39CB-F97F8B381EEF}"/>
              </a:ext>
            </a:extLst>
          </p:cNvPr>
          <p:cNvSpPr txBox="1"/>
          <p:nvPr/>
        </p:nvSpPr>
        <p:spPr>
          <a:xfrm>
            <a:off x="13703300" y="4859917"/>
            <a:ext cx="3733800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가드레일 탐지율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오차단율</a:t>
            </a:r>
          </a:p>
          <a:p>
            <a:pPr lvl="0" algn="ctr">
              <a:lnSpc>
                <a:spcPct val="116199"/>
              </a:lnSpc>
            </a:pPr>
            <a:r>
              <a:rPr lang="en-US" altLang="ko-KR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p50·p95 </a:t>
            </a:r>
            <a:r>
              <a:rPr lang="ko-KR" altLang="en-US" sz="2099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지연시간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57319BF-D744-2E58-17FE-BC845B35943D}"/>
              </a:ext>
            </a:extLst>
          </p:cNvPr>
          <p:cNvSpPr>
            <a:spLocks noGrp="1"/>
          </p:cNvSpPr>
          <p:nvPr/>
        </p:nvSpPr>
        <p:spPr>
          <a:xfrm>
            <a:off x="4590371" y="4691062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E7F1E06-B88F-F45C-C385-B6D689EC157A}"/>
              </a:ext>
            </a:extLst>
          </p:cNvPr>
          <p:cNvSpPr>
            <a:spLocks noGrp="1"/>
          </p:cNvSpPr>
          <p:nvPr/>
        </p:nvSpPr>
        <p:spPr>
          <a:xfrm>
            <a:off x="13148582" y="4694691"/>
            <a:ext cx="571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812083D-A212-9A95-430C-3B6F7C0ACF2F}"/>
              </a:ext>
            </a:extLst>
          </p:cNvPr>
          <p:cNvSpPr>
            <a:spLocks noGrp="1"/>
          </p:cNvSpPr>
          <p:nvPr/>
        </p:nvSpPr>
        <p:spPr>
          <a:xfrm>
            <a:off x="8894310" y="4691061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FFA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FFAA55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8F18696-9ED8-A475-BD28-97E9ADDBE18D}"/>
              </a:ext>
            </a:extLst>
          </p:cNvPr>
          <p:cNvSpPr/>
          <p:nvPr/>
        </p:nvSpPr>
        <p:spPr>
          <a:xfrm>
            <a:off x="690336" y="7242238"/>
            <a:ext cx="16916399" cy="100612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619E13-54A1-2814-D688-9A21F57FE6E9}"/>
              </a:ext>
            </a:extLst>
          </p:cNvPr>
          <p:cNvSpPr txBox="1"/>
          <p:nvPr/>
        </p:nvSpPr>
        <p:spPr>
          <a:xfrm>
            <a:off x="1632453" y="7489147"/>
            <a:ext cx="1948947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재현 가능성</a:t>
            </a:r>
          </a:p>
        </p:txBody>
      </p:sp>
      <p:sp>
        <p:nvSpPr>
          <p:cNvPr id="11" name="TextBox 25">
            <a:extLst>
              <a:ext uri="{FF2B5EF4-FFF2-40B4-BE49-F238E27FC236}">
                <a16:creationId xmlns:a16="http://schemas.microsoft.com/office/drawing/2014/main" id="{8FE3F07D-1E41-5117-92EC-605B3AE5F878}"/>
              </a:ext>
            </a:extLst>
          </p:cNvPr>
          <p:cNvSpPr txBox="1"/>
          <p:nvPr/>
        </p:nvSpPr>
        <p:spPr>
          <a:xfrm>
            <a:off x="5519964" y="7544366"/>
            <a:ext cx="9296400" cy="48339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측정 스크립트 </a:t>
            </a:r>
            <a:r>
              <a:rPr lang="en-US" altLang="ko-KR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요청 조건 </a:t>
            </a:r>
            <a:r>
              <a:rPr lang="en-US" altLang="ko-KR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중간 산출물 </a:t>
            </a:r>
            <a:r>
              <a:rPr lang="en-US" altLang="ko-KR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차단 이력 </a:t>
            </a:r>
            <a:r>
              <a:rPr lang="en-US" altLang="ko-KR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소요 시간 저장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BD4EF0-6E42-B08A-D6CE-745EBB201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48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F1BC-E454-F910-62A1-8A98CB34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E191C9C-2C7B-F87A-525A-6743C7E522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3F0E15C-5E20-3144-BEF3-BBC359E6E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E23BD2A-DBE9-956A-2AA3-AB0B354526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465C57A1-46A0-13DA-2745-EA8EFDFB72F7}"/>
              </a:ext>
            </a:extLst>
          </p:cNvPr>
          <p:cNvSpPr txBox="1"/>
          <p:nvPr/>
        </p:nvSpPr>
        <p:spPr>
          <a:xfrm>
            <a:off x="825500" y="469900"/>
            <a:ext cx="71755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/>
            <a:r>
              <a:rPr lang="en-US" altLang="ko-KR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5.6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평가 계획 및 활용 모델</a:t>
            </a:r>
            <a:endParaRPr lang="en-US" altLang="ko-KR" sz="4799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C0FBE0-247E-1317-4A05-5C68F8865F2B}"/>
              </a:ext>
            </a:extLst>
          </p:cNvPr>
          <p:cNvSpPr txBox="1"/>
          <p:nvPr/>
        </p:nvSpPr>
        <p:spPr>
          <a:xfrm>
            <a:off x="1024164" y="6612008"/>
            <a:ext cx="17526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절제 실험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5AA4B5A-C002-57C6-861D-74050CD6075C}"/>
              </a:ext>
            </a:extLst>
          </p:cNvPr>
          <p:cNvSpPr/>
          <p:nvPr/>
        </p:nvSpPr>
        <p:spPr>
          <a:xfrm>
            <a:off x="3676422" y="6344225"/>
            <a:ext cx="2819855" cy="100612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B4EB43-617C-AA6B-E6E5-05842F79430B}"/>
              </a:ext>
            </a:extLst>
          </p:cNvPr>
          <p:cNvSpPr txBox="1"/>
          <p:nvPr/>
        </p:nvSpPr>
        <p:spPr>
          <a:xfrm>
            <a:off x="3724689" y="6589497"/>
            <a:ext cx="272332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프롬프트 기준선만</a:t>
            </a:r>
          </a:p>
        </p:txBody>
      </p:sp>
      <p:pic>
        <p:nvPicPr>
          <p:cNvPr id="45" name="Picture 15">
            <a:extLst>
              <a:ext uri="{FF2B5EF4-FFF2-40B4-BE49-F238E27FC236}">
                <a16:creationId xmlns:a16="http://schemas.microsoft.com/office/drawing/2014/main" id="{B1311E40-6D71-025D-46B2-6E38FEEE2DAA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1720" y="7734300"/>
            <a:ext cx="15936916" cy="119065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E0D0028-AAF1-4D32-BF5D-EA7E4743C42C}"/>
              </a:ext>
            </a:extLst>
          </p:cNvPr>
          <p:cNvSpPr txBox="1"/>
          <p:nvPr/>
        </p:nvSpPr>
        <p:spPr>
          <a:xfrm>
            <a:off x="6893172" y="8121941"/>
            <a:ext cx="5245512" cy="41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</a:rPr>
              <a:t>핵심 비교</a:t>
            </a:r>
            <a:r>
              <a:rPr lang="en-US" altLang="ko-KR" sz="2099" b="1" spc="-100" dirty="0">
                <a:solidFill>
                  <a:srgbClr val="FAA95A"/>
                </a:solidFill>
                <a:latin typeface="210 OmniGothic 030"/>
                <a:ea typeface="210 OmniGothic 030"/>
              </a:rPr>
              <a:t>: </a:t>
            </a:r>
            <a:r>
              <a:rPr lang="ko-KR" altLang="en-US" sz="2099" b="1" spc="-100" dirty="0">
                <a:solidFill>
                  <a:srgbClr val="FAA95A"/>
                </a:solidFill>
                <a:latin typeface="210 OmniGothic 030"/>
                <a:ea typeface="210 OmniGothic 030"/>
              </a:rPr>
              <a:t>프롬프트 기준선 ↔ </a:t>
            </a:r>
            <a:r>
              <a:rPr lang="en-US" altLang="ko-KR" sz="2099" b="1" spc="-100" dirty="0" err="1">
                <a:solidFill>
                  <a:srgbClr val="FAA95A"/>
                </a:solidFill>
                <a:latin typeface="210 OmniGothic 030"/>
                <a:ea typeface="210 OmniGothic 030"/>
              </a:rPr>
              <a:t>LoRA</a:t>
            </a:r>
            <a:r>
              <a:rPr lang="en-US" altLang="ko-KR" sz="2099" b="1" spc="-100" dirty="0">
                <a:solidFill>
                  <a:srgbClr val="FAA95A"/>
                </a:solidFill>
                <a:latin typeface="210 OmniGothic 030"/>
                <a:ea typeface="210 OmniGothic 030"/>
              </a:rPr>
              <a:t> </a:t>
            </a:r>
            <a:r>
              <a:rPr lang="ko-KR" altLang="en-US" sz="2099" b="1" spc="-100" dirty="0" err="1">
                <a:solidFill>
                  <a:srgbClr val="FAA95A"/>
                </a:solidFill>
                <a:latin typeface="210 OmniGothic 030"/>
                <a:ea typeface="210 OmniGothic 030"/>
              </a:rPr>
              <a:t>파인튜닝</a:t>
            </a:r>
            <a:endParaRPr lang="ko-KR" altLang="en-US" sz="2099" b="1" spc="-100" dirty="0">
              <a:solidFill>
                <a:srgbClr val="FAA95A"/>
              </a:solidFill>
              <a:latin typeface="210 OmniGothic 030"/>
              <a:ea typeface="210 OmniGothic 03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50D07A3-881B-639C-6C11-68D4F1A75DB4}"/>
              </a:ext>
            </a:extLst>
          </p:cNvPr>
          <p:cNvSpPr/>
          <p:nvPr/>
        </p:nvSpPr>
        <p:spPr>
          <a:xfrm>
            <a:off x="7089773" y="6331482"/>
            <a:ext cx="2819855" cy="100612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1BDF55-AFBF-8A82-6F7E-DD097D0295B3}"/>
              </a:ext>
            </a:extLst>
          </p:cNvPr>
          <p:cNvSpPr txBox="1"/>
          <p:nvPr/>
        </p:nvSpPr>
        <p:spPr>
          <a:xfrm>
            <a:off x="7138040" y="6576754"/>
            <a:ext cx="272332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확산 모델 제외</a:t>
            </a:r>
            <a:endParaRPr lang="ko-KR" altLang="en-US" sz="2500" b="1" i="0" u="none" strike="noStrike" spc="-100" dirty="0">
              <a:solidFill>
                <a:schemeClr val="bg1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B96F124-F845-0F94-D5B5-9B5DA60C4358}"/>
              </a:ext>
            </a:extLst>
          </p:cNvPr>
          <p:cNvSpPr/>
          <p:nvPr/>
        </p:nvSpPr>
        <p:spPr>
          <a:xfrm>
            <a:off x="10503124" y="6338782"/>
            <a:ext cx="2819855" cy="100612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C4698A-2F6F-1E2B-803E-1D85882CFBD6}"/>
              </a:ext>
            </a:extLst>
          </p:cNvPr>
          <p:cNvSpPr txBox="1"/>
          <p:nvPr/>
        </p:nvSpPr>
        <p:spPr>
          <a:xfrm>
            <a:off x="10551391" y="6584054"/>
            <a:ext cx="272332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2500" b="1" i="0" u="none" strike="noStrike" spc="-10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RAG </a:t>
            </a:r>
            <a:r>
              <a:rPr lang="ko-KR" altLang="en-US" sz="2500" b="1" i="0" u="none" strike="noStrike" spc="-10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검증 제외</a:t>
            </a:r>
            <a:endParaRPr lang="ko-KR" altLang="en-US" sz="2500" b="1" i="0" u="none" strike="noStrike" spc="-100" dirty="0">
              <a:solidFill>
                <a:schemeClr val="bg1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539CEFF-9BC8-D7AD-4895-60C9B0C5216B}"/>
              </a:ext>
            </a:extLst>
          </p:cNvPr>
          <p:cNvSpPr/>
          <p:nvPr/>
        </p:nvSpPr>
        <p:spPr>
          <a:xfrm>
            <a:off x="13868207" y="6331482"/>
            <a:ext cx="2819855" cy="1006121"/>
          </a:xfrm>
          <a:prstGeom prst="roundRect">
            <a:avLst/>
          </a:prstGeom>
          <a:solidFill>
            <a:srgbClr val="FAA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86CE52-6BBD-FD73-B512-30CE5C9393BD}"/>
              </a:ext>
            </a:extLst>
          </p:cNvPr>
          <p:cNvSpPr txBox="1"/>
          <p:nvPr/>
        </p:nvSpPr>
        <p:spPr>
          <a:xfrm>
            <a:off x="13916474" y="6576754"/>
            <a:ext cx="272332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chemeClr val="bg1"/>
                </a:solidFill>
                <a:latin typeface="210 OmniGothic 030"/>
                <a:ea typeface="210 OmniGothic 030"/>
                <a:cs typeface="210 OmniGothic 030"/>
              </a:rPr>
              <a:t>전체 시스템</a:t>
            </a:r>
            <a:endParaRPr lang="ko-KR" altLang="en-US" sz="2500" b="1" i="0" u="none" strike="noStrike" spc="-100" dirty="0">
              <a:solidFill>
                <a:schemeClr val="bg1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58" name="TextBox 26">
            <a:extLst>
              <a:ext uri="{FF2B5EF4-FFF2-40B4-BE49-F238E27FC236}">
                <a16:creationId xmlns:a16="http://schemas.microsoft.com/office/drawing/2014/main" id="{9AD91DB3-5845-D226-DCF2-F1EFD50B905B}"/>
              </a:ext>
            </a:extLst>
          </p:cNvPr>
          <p:cNvSpPr txBox="1"/>
          <p:nvPr/>
        </p:nvSpPr>
        <p:spPr>
          <a:xfrm>
            <a:off x="1024164" y="1971648"/>
            <a:ext cx="7962900" cy="673100"/>
          </a:xfrm>
          <a:prstGeom prst="rect">
            <a:avLst/>
          </a:prstGeom>
        </p:spPr>
        <p:txBody>
          <a:bodyPr lIns="0" tIns="45719" rIns="0" bIns="4571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599" b="0" i="0" u="none" strike="noStrike" spc="-10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모델별 책임과 비교 실험의 명시</a:t>
            </a:r>
            <a:endParaRPr lang="ko-KR" altLang="en-US" sz="35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540C6B98-552B-5B31-E1C1-764BEDF45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407191"/>
              </p:ext>
            </p:extLst>
          </p:nvPr>
        </p:nvGraphicFramePr>
        <p:xfrm>
          <a:off x="1024164" y="2862370"/>
          <a:ext cx="16501836" cy="3130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00612">
                  <a:extLst>
                    <a:ext uri="{9D8B030D-6E8A-4147-A177-3AD203B41FA5}">
                      <a16:colId xmlns:a16="http://schemas.microsoft.com/office/drawing/2014/main" val="2529885624"/>
                    </a:ext>
                  </a:extLst>
                </a:gridCol>
                <a:gridCol w="5500612">
                  <a:extLst>
                    <a:ext uri="{9D8B030D-6E8A-4147-A177-3AD203B41FA5}">
                      <a16:colId xmlns:a16="http://schemas.microsoft.com/office/drawing/2014/main" val="1905282406"/>
                    </a:ext>
                  </a:extLst>
                </a:gridCol>
                <a:gridCol w="5500612">
                  <a:extLst>
                    <a:ext uri="{9D8B030D-6E8A-4147-A177-3AD203B41FA5}">
                      <a16:colId xmlns:a16="http://schemas.microsoft.com/office/drawing/2014/main" val="2712443291"/>
                    </a:ext>
                  </a:extLst>
                </a:gridCol>
              </a:tblGrid>
              <a:tr h="521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u="none" strike="noStrike" spc="-100" dirty="0">
                          <a:solidFill>
                            <a:schemeClr val="bg1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기술 영역</a:t>
                      </a:r>
                    </a:p>
                  </a:txBody>
                  <a:tcPr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u="none" strike="noStrike" spc="-100" dirty="0">
                          <a:solidFill>
                            <a:schemeClr val="bg1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적용 기법</a:t>
                      </a:r>
                    </a:p>
                  </a:txBody>
                  <a:tcPr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u="none" strike="noStrike" spc="-100" dirty="0">
                          <a:solidFill>
                            <a:schemeClr val="bg1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설명 책임</a:t>
                      </a:r>
                    </a:p>
                  </a:txBody>
                  <a:tcPr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650734"/>
                  </a:ext>
                </a:extLst>
              </a:tr>
              <a:tr h="521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보고서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Qwen3.5 + </a:t>
                      </a:r>
                      <a:r>
                        <a:rPr lang="en-US" altLang="ko-KR" sz="1800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LoRA</a:t>
                      </a:r>
                      <a:endParaRPr lang="en-US" altLang="ko-KR" sz="1800" spc="-100" dirty="0">
                        <a:solidFill>
                          <a:srgbClr val="363A52"/>
                        </a:solidFill>
                        <a:latin typeface="210 OmniGothic 030"/>
                        <a:ea typeface="210 OmniGothic 030"/>
                        <a:cs typeface="210 OmniGothic 03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endParaRPr lang="ko-KR" altLang="en-US" sz="1800" spc="-100" dirty="0">
                        <a:solidFill>
                          <a:srgbClr val="363A52"/>
                        </a:solidFill>
                        <a:latin typeface="210 OmniGothic 030"/>
                        <a:ea typeface="210 OmniGothic 030"/>
                        <a:cs typeface="210 OmniGothic 03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128692"/>
                  </a:ext>
                </a:extLst>
              </a:tr>
              <a:tr h="521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한국어 문장 </a:t>
                      </a:r>
                      <a:r>
                        <a:rPr lang="ko-KR" altLang="en-US" sz="1800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임베딩</a:t>
                      </a:r>
                      <a:r>
                        <a:rPr lang="ko-KR" altLang="en-US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en-US" altLang="ko-KR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+ BM25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홍준서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337436"/>
                  </a:ext>
                </a:extLst>
              </a:tr>
              <a:tr h="521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자연어 추론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endParaRPr lang="ko-KR" altLang="en-US" sz="1800" spc="-100" dirty="0">
                        <a:solidFill>
                          <a:srgbClr val="363A52"/>
                        </a:solidFill>
                        <a:latin typeface="210 OmniGothic 030"/>
                        <a:ea typeface="210 OmniGothic 030"/>
                        <a:cs typeface="210 OmniGothic 03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385861"/>
                  </a:ext>
                </a:extLst>
              </a:tr>
              <a:tr h="521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위험도 </a:t>
                      </a:r>
                      <a:r>
                        <a:rPr lang="ko-KR" altLang="en-US" sz="1800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규칙표</a:t>
                      </a:r>
                      <a:endParaRPr lang="ko-KR" altLang="en-US" sz="1800" spc="-100" dirty="0">
                        <a:solidFill>
                          <a:srgbClr val="363A52"/>
                        </a:solidFill>
                        <a:latin typeface="210 OmniGothic 030"/>
                        <a:ea typeface="210 OmniGothic 030"/>
                        <a:cs typeface="210 OmniGothic 03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등위 회귀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381547"/>
                  </a:ext>
                </a:extLst>
              </a:tr>
              <a:tr h="521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위험도 기준선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LightGBM</a:t>
                      </a:r>
                      <a:endParaRPr lang="en-US" altLang="ko-KR" sz="1800" spc="-100" dirty="0">
                        <a:solidFill>
                          <a:srgbClr val="363A52"/>
                        </a:solidFill>
                        <a:latin typeface="210 OmniGothic 030"/>
                        <a:ea typeface="210 OmniGothic 030"/>
                        <a:cs typeface="210 OmniGothic 03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404093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D840C7-E0BD-3867-AA6F-0AECBD66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90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10824-2C74-8416-437A-848B58ED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116EA932-2006-2122-D058-392612A1BB78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3D0D09B-E668-0D7D-6A31-C08FD156CD59}"/>
              </a:ext>
            </a:extLst>
          </p:cNvPr>
          <p:cNvSpPr txBox="1"/>
          <p:nvPr/>
        </p:nvSpPr>
        <p:spPr>
          <a:xfrm>
            <a:off x="6819900" y="4699000"/>
            <a:ext cx="46482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6.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개발 추진 계획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067F4-622F-3B19-5938-DA6CAE33E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41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AA05A-07EE-8D60-0734-50AF95BC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18">
            <a:extLst>
              <a:ext uri="{FF2B5EF4-FFF2-40B4-BE49-F238E27FC236}">
                <a16:creationId xmlns:a16="http://schemas.microsoft.com/office/drawing/2014/main" id="{11A0ECDC-A355-A7F4-033E-7F82BC07ED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4392" y="2179421"/>
            <a:ext cx="3962400" cy="660399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4264460-4822-2460-BA89-0CB0C6814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40A025F-FC71-1523-9799-91540917E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FD9AC1A-24CE-939C-EC4A-1F6650683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94E98307-B864-6393-3781-07C1F1AA59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00" y="2174865"/>
            <a:ext cx="3962400" cy="6603999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FFC6ADBB-038B-131B-A71A-D4A36EB8D747}"/>
              </a:ext>
            </a:extLst>
          </p:cNvPr>
          <p:cNvSpPr txBox="1"/>
          <p:nvPr/>
        </p:nvSpPr>
        <p:spPr>
          <a:xfrm>
            <a:off x="715749" y="3369538"/>
            <a:ext cx="36485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ko-KR" altLang="en-US" sz="2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팀장 </a:t>
            </a:r>
            <a:r>
              <a:rPr lang="en-US" altLang="ko-KR" sz="2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&amp; </a:t>
            </a:r>
            <a:r>
              <a:rPr lang="en-US" altLang="ko-KR" sz="24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Backend Engineer</a:t>
            </a:r>
            <a:endParaRPr lang="en-US" sz="24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5226604-5076-3966-F02A-778ED8450522}"/>
              </a:ext>
            </a:extLst>
          </p:cNvPr>
          <p:cNvSpPr txBox="1"/>
          <p:nvPr/>
        </p:nvSpPr>
        <p:spPr>
          <a:xfrm>
            <a:off x="1835802" y="2611757"/>
            <a:ext cx="1408395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399" b="0" i="0" u="none" strike="noStrike" spc="-10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황승준</a:t>
            </a:r>
            <a:endParaRPr lang="en-US" sz="3399" b="0" i="0" u="none" strike="noStrike" spc="-100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23B46D0-72A1-534F-5481-BCA5A26FC445}"/>
              </a:ext>
            </a:extLst>
          </p:cNvPr>
          <p:cNvSpPr txBox="1"/>
          <p:nvPr/>
        </p:nvSpPr>
        <p:spPr>
          <a:xfrm>
            <a:off x="825500" y="469900"/>
            <a:ext cx="133477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.1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팀 구성 및 역할 분담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42" name="Picture 18">
            <a:extLst>
              <a:ext uri="{FF2B5EF4-FFF2-40B4-BE49-F238E27FC236}">
                <a16:creationId xmlns:a16="http://schemas.microsoft.com/office/drawing/2014/main" id="{FD7D5134-4CFB-37E6-404D-AF8A42306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2600" y="2174865"/>
            <a:ext cx="3962400" cy="6603999"/>
          </a:xfrm>
          <a:prstGeom prst="rect">
            <a:avLst/>
          </a:prstGeom>
        </p:spPr>
      </p:pic>
      <p:pic>
        <p:nvPicPr>
          <p:cNvPr id="44" name="Picture 18">
            <a:extLst>
              <a:ext uri="{FF2B5EF4-FFF2-40B4-BE49-F238E27FC236}">
                <a16:creationId xmlns:a16="http://schemas.microsoft.com/office/drawing/2014/main" id="{CBBFF91A-FB6E-2110-4693-F2875E461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66800" y="2174865"/>
            <a:ext cx="3962400" cy="660399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D419019-1C5B-CC41-B9B0-AC8FF68C450C}"/>
              </a:ext>
            </a:extLst>
          </p:cNvPr>
          <p:cNvSpPr txBox="1"/>
          <p:nvPr/>
        </p:nvSpPr>
        <p:spPr>
          <a:xfrm>
            <a:off x="647384" y="4715669"/>
            <a:ext cx="3962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프로젝트 총괄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일정 관리 및 산출물 문서 취합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FF66BE-8CDB-EDEE-E0E4-450D4246833C}"/>
              </a:ext>
            </a:extLst>
          </p:cNvPr>
          <p:cNvSpPr txBox="1"/>
          <p:nvPr/>
        </p:nvSpPr>
        <p:spPr>
          <a:xfrm>
            <a:off x="648428" y="5167792"/>
            <a:ext cx="38484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공간 기반자료 격자 구축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8882FF-CF12-DCBC-3054-8EAFE4FD7E3D}"/>
              </a:ext>
            </a:extLst>
          </p:cNvPr>
          <p:cNvSpPr txBox="1"/>
          <p:nvPr/>
        </p:nvSpPr>
        <p:spPr>
          <a:xfrm>
            <a:off x="647384" y="6688514"/>
            <a:ext cx="338286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 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REST API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서버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데이터베이스 구축 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FF9C0F-21A6-17D1-95D9-7819D54A1BEC}"/>
              </a:ext>
            </a:extLst>
          </p:cNvPr>
          <p:cNvSpPr txBox="1"/>
          <p:nvPr/>
        </p:nvSpPr>
        <p:spPr>
          <a:xfrm>
            <a:off x="647384" y="5662494"/>
            <a:ext cx="3962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데이터 정규화 파이프라인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관계형 스키마 설계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F43876-8E51-528D-20DA-B64B0F131359}"/>
              </a:ext>
            </a:extLst>
          </p:cNvPr>
          <p:cNvSpPr txBox="1"/>
          <p:nvPr/>
        </p:nvSpPr>
        <p:spPr>
          <a:xfrm>
            <a:off x="647384" y="6175243"/>
            <a:ext cx="3772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 </a:t>
            </a:r>
            <a:r>
              <a:rPr lang="ko-KR" altLang="en-US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규칙표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엔진과 기여도 분해 로직 구축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E17D79-26A2-6532-4FED-B73DBD1D012D}"/>
              </a:ext>
            </a:extLst>
          </p:cNvPr>
          <p:cNvSpPr txBox="1"/>
          <p:nvPr/>
        </p:nvSpPr>
        <p:spPr>
          <a:xfrm>
            <a:off x="647384" y="7192996"/>
            <a:ext cx="25208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기상청 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API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연동 어댑터 구축</a:t>
            </a:r>
            <a:endParaRPr lang="ko-KR" altLang="en-US" dirty="0"/>
          </a:p>
        </p:txBody>
      </p:sp>
      <p:sp>
        <p:nvSpPr>
          <p:cNvPr id="76" name="TextBox 26">
            <a:extLst>
              <a:ext uri="{FF2B5EF4-FFF2-40B4-BE49-F238E27FC236}">
                <a16:creationId xmlns:a16="http://schemas.microsoft.com/office/drawing/2014/main" id="{DB79D889-2A85-D51D-7E67-504AECFEA549}"/>
              </a:ext>
            </a:extLst>
          </p:cNvPr>
          <p:cNvSpPr txBox="1"/>
          <p:nvPr/>
        </p:nvSpPr>
        <p:spPr>
          <a:xfrm>
            <a:off x="5988950" y="3378200"/>
            <a:ext cx="1887368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4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AI</a:t>
            </a:r>
            <a:r>
              <a:rPr lang="ko-KR" altLang="en-US" sz="24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 </a:t>
            </a:r>
            <a:r>
              <a:rPr lang="en-US" altLang="ko-KR" sz="24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Architect</a:t>
            </a:r>
            <a:endParaRPr lang="en-US" sz="24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8" name="TextBox 27">
            <a:extLst>
              <a:ext uri="{FF2B5EF4-FFF2-40B4-BE49-F238E27FC236}">
                <a16:creationId xmlns:a16="http://schemas.microsoft.com/office/drawing/2014/main" id="{62CBA780-D4BF-CC90-FA17-B90547AE3C8F}"/>
              </a:ext>
            </a:extLst>
          </p:cNvPr>
          <p:cNvSpPr txBox="1"/>
          <p:nvPr/>
        </p:nvSpPr>
        <p:spPr>
          <a:xfrm>
            <a:off x="6231394" y="2616313"/>
            <a:ext cx="1408395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399" spc="-100" dirty="0" err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김지오</a:t>
            </a:r>
            <a:endParaRPr lang="en-US" sz="3399" b="0" i="0" u="none" strike="noStrike" spc="-100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4EF245B-658C-91C4-967C-871757917CB2}"/>
              </a:ext>
            </a:extLst>
          </p:cNvPr>
          <p:cNvSpPr txBox="1"/>
          <p:nvPr/>
        </p:nvSpPr>
        <p:spPr>
          <a:xfrm>
            <a:off x="5042976" y="4720225"/>
            <a:ext cx="37722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전체 인공지능 파이프라인 아키텍처 설계 및 모델 선정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CA1278D-7F03-DB70-C1D8-56A116A22037}"/>
              </a:ext>
            </a:extLst>
          </p:cNvPr>
          <p:cNvSpPr txBox="1"/>
          <p:nvPr/>
        </p:nvSpPr>
        <p:spPr>
          <a:xfrm>
            <a:off x="5041584" y="5333930"/>
            <a:ext cx="38484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구조화 프롬프트 기준선 설계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DFDBCF8-BC77-9B4E-5F86-B6B883D61574}"/>
              </a:ext>
            </a:extLst>
          </p:cNvPr>
          <p:cNvSpPr txBox="1"/>
          <p:nvPr/>
        </p:nvSpPr>
        <p:spPr>
          <a:xfrm>
            <a:off x="5041584" y="6227172"/>
            <a:ext cx="338286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기준선 대비 정량 비교 실험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0FD4851-4C5E-DBEF-C5C6-291A8C6ECBBD}"/>
              </a:ext>
            </a:extLst>
          </p:cNvPr>
          <p:cNvSpPr txBox="1"/>
          <p:nvPr/>
        </p:nvSpPr>
        <p:spPr>
          <a:xfrm>
            <a:off x="5042976" y="5780551"/>
            <a:ext cx="3772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Qwen3.5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계열 소형 모델 </a:t>
            </a:r>
            <a:r>
              <a:rPr lang="en-US" altLang="ko-KR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LoRA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ko-KR" altLang="en-US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파인튜닝</a:t>
            </a:r>
            <a:endParaRPr lang="ko-KR" alt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0C7BBB7-727E-807B-0A1E-EC0910A22AF9}"/>
              </a:ext>
            </a:extLst>
          </p:cNvPr>
          <p:cNvSpPr txBox="1"/>
          <p:nvPr/>
        </p:nvSpPr>
        <p:spPr>
          <a:xfrm>
            <a:off x="5038582" y="6673793"/>
            <a:ext cx="37722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- 5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종 안전 가드레일 규칙 엔진 </a:t>
            </a:r>
            <a:r>
              <a:rPr lang="ko-KR" altLang="en-US" sz="15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및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적대적 입력 세트 구축</a:t>
            </a:r>
            <a:endParaRPr lang="ko-KR" altLang="en-US" dirty="0"/>
          </a:p>
        </p:txBody>
      </p:sp>
      <p:sp>
        <p:nvSpPr>
          <p:cNvPr id="94" name="TextBox 26">
            <a:extLst>
              <a:ext uri="{FF2B5EF4-FFF2-40B4-BE49-F238E27FC236}">
                <a16:creationId xmlns:a16="http://schemas.microsoft.com/office/drawing/2014/main" id="{0F3ECDCF-C8EB-54AA-103C-E0BBD5DBD03E}"/>
              </a:ext>
            </a:extLst>
          </p:cNvPr>
          <p:cNvSpPr txBox="1"/>
          <p:nvPr/>
        </p:nvSpPr>
        <p:spPr>
          <a:xfrm>
            <a:off x="9371210" y="3369538"/>
            <a:ext cx="39624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altLang="ko-KR" sz="1900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Backend</a:t>
            </a:r>
            <a:r>
              <a:rPr lang="ko-KR" altLang="en-US" sz="19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en-US" altLang="ko-KR" sz="19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&amp; Simulation Engineer</a:t>
            </a:r>
            <a:endParaRPr lang="en-US" sz="19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6" name="TextBox 27">
            <a:extLst>
              <a:ext uri="{FF2B5EF4-FFF2-40B4-BE49-F238E27FC236}">
                <a16:creationId xmlns:a16="http://schemas.microsoft.com/office/drawing/2014/main" id="{AEB5F3CA-CD13-130F-F2CD-612173E516C1}"/>
              </a:ext>
            </a:extLst>
          </p:cNvPr>
          <p:cNvSpPr txBox="1"/>
          <p:nvPr/>
        </p:nvSpPr>
        <p:spPr>
          <a:xfrm>
            <a:off x="10649602" y="2616313"/>
            <a:ext cx="1408395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399" spc="-10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홍준서</a:t>
            </a:r>
            <a:endParaRPr lang="en-US" sz="3399" b="0" i="0" u="none" strike="noStrike" spc="-100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4A8620E-59E1-4816-E737-FAE17F5E02AD}"/>
              </a:ext>
            </a:extLst>
          </p:cNvPr>
          <p:cNvSpPr txBox="1"/>
          <p:nvPr/>
        </p:nvSpPr>
        <p:spPr>
          <a:xfrm>
            <a:off x="9461184" y="4720225"/>
            <a:ext cx="38724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Rothermel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확산속도 모델 및 타원형 화재 형상 모델 구현 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CD361ED-D5D5-0113-337B-0DF72E7B02E9}"/>
              </a:ext>
            </a:extLst>
          </p:cNvPr>
          <p:cNvSpPr txBox="1"/>
          <p:nvPr/>
        </p:nvSpPr>
        <p:spPr>
          <a:xfrm>
            <a:off x="9461184" y="6156628"/>
            <a:ext cx="338286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실측 소실 경계 기반 파라미터 최적화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A433812-5ECF-3856-439D-C89309E04E77}"/>
              </a:ext>
            </a:extLst>
          </p:cNvPr>
          <p:cNvSpPr txBox="1"/>
          <p:nvPr/>
        </p:nvSpPr>
        <p:spPr>
          <a:xfrm>
            <a:off x="9461184" y="5431661"/>
            <a:ext cx="3766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경사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사면향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보정 및 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Huygens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파면 전파 알고리즘 구현  </a:t>
            </a:r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5B32E5E-97CB-B7E4-89BB-FAF1DA8A51B5}"/>
              </a:ext>
            </a:extLst>
          </p:cNvPr>
          <p:cNvSpPr txBox="1"/>
          <p:nvPr/>
        </p:nvSpPr>
        <p:spPr>
          <a:xfrm>
            <a:off x="9455688" y="7150688"/>
            <a:ext cx="3772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법령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·SOP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코퍼스 수집</a:t>
            </a:r>
            <a:endParaRPr lang="ko-KR" altLang="en-US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AE816D8-E781-D563-1450-DC5AD5665A33}"/>
              </a:ext>
            </a:extLst>
          </p:cNvPr>
          <p:cNvSpPr txBox="1"/>
          <p:nvPr/>
        </p:nvSpPr>
        <p:spPr>
          <a:xfrm>
            <a:off x="9461184" y="6650762"/>
            <a:ext cx="35690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교차검증 및 대피 </a:t>
            </a:r>
            <a:r>
              <a:rPr lang="ko-KR" altLang="en-US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골든타임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산출 로직 구현</a:t>
            </a:r>
            <a:endParaRPr lang="ko-KR" altLang="en-US" dirty="0"/>
          </a:p>
        </p:txBody>
      </p:sp>
      <p:sp>
        <p:nvSpPr>
          <p:cNvPr id="112" name="TextBox 26">
            <a:extLst>
              <a:ext uri="{FF2B5EF4-FFF2-40B4-BE49-F238E27FC236}">
                <a16:creationId xmlns:a16="http://schemas.microsoft.com/office/drawing/2014/main" id="{7DC43DB3-2CCE-282C-630B-45F99187B764}"/>
              </a:ext>
            </a:extLst>
          </p:cNvPr>
          <p:cNvSpPr txBox="1"/>
          <p:nvPr/>
        </p:nvSpPr>
        <p:spPr>
          <a:xfrm>
            <a:off x="14294570" y="3370545"/>
            <a:ext cx="2970819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400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30"/>
              </a:rPr>
              <a:t>Frontend Developer</a:t>
            </a:r>
            <a:endParaRPr lang="en-US" sz="24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14" name="TextBox 27">
            <a:extLst>
              <a:ext uri="{FF2B5EF4-FFF2-40B4-BE49-F238E27FC236}">
                <a16:creationId xmlns:a16="http://schemas.microsoft.com/office/drawing/2014/main" id="{AE727F82-8F1F-A793-12EC-0E35E01926E5}"/>
              </a:ext>
            </a:extLst>
          </p:cNvPr>
          <p:cNvSpPr txBox="1"/>
          <p:nvPr/>
        </p:nvSpPr>
        <p:spPr>
          <a:xfrm>
            <a:off x="15042758" y="2616313"/>
            <a:ext cx="1408395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399" b="0" i="0" u="none" strike="noStrike" spc="-100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임성민</a:t>
            </a:r>
            <a:endParaRPr lang="en-US" sz="3399" b="0" i="0" u="none" strike="noStrike" spc="-100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6D42585-59ED-F384-42A4-B9D35A1ACA09}"/>
              </a:ext>
            </a:extLst>
          </p:cNvPr>
          <p:cNvSpPr txBox="1"/>
          <p:nvPr/>
        </p:nvSpPr>
        <p:spPr>
          <a:xfrm>
            <a:off x="13854340" y="4720225"/>
            <a:ext cx="3962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 적응형 대시보드 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UI/UX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설계 및 구현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81696CA-6236-F5B1-21D4-069292046D6D}"/>
              </a:ext>
            </a:extLst>
          </p:cNvPr>
          <p:cNvSpPr txBox="1"/>
          <p:nvPr/>
        </p:nvSpPr>
        <p:spPr>
          <a:xfrm>
            <a:off x="13855384" y="5172348"/>
            <a:ext cx="38484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지도 기반 확산 경로 시각화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EC945F5-0769-6A19-EB71-EBAD377850BE}"/>
              </a:ext>
            </a:extLst>
          </p:cNvPr>
          <p:cNvSpPr txBox="1"/>
          <p:nvPr/>
        </p:nvSpPr>
        <p:spPr>
          <a:xfrm>
            <a:off x="13854340" y="6693070"/>
            <a:ext cx="35954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열람 패널과 검증 결과 표시 화면 구현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3850E64-D011-233A-9723-CB8C2B89AAF3}"/>
              </a:ext>
            </a:extLst>
          </p:cNvPr>
          <p:cNvSpPr txBox="1"/>
          <p:nvPr/>
        </p:nvSpPr>
        <p:spPr>
          <a:xfrm>
            <a:off x="13854340" y="5667050"/>
            <a:ext cx="3962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시간축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재생 인터페이스</a:t>
            </a:r>
            <a:r>
              <a:rPr lang="en-US" altLang="ko-KR" sz="15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ko-KR" altLang="en-US" sz="15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구현</a:t>
            </a:r>
            <a:endParaRPr lang="ko-KR" alt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700F087-47D6-BDA7-F02C-EFE75BACE283}"/>
              </a:ext>
            </a:extLst>
          </p:cNvPr>
          <p:cNvSpPr txBox="1"/>
          <p:nvPr/>
        </p:nvSpPr>
        <p:spPr>
          <a:xfrm>
            <a:off x="13854340" y="6179799"/>
            <a:ext cx="3772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골든타임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기반 대피 우선순위 표출 화면 구현</a:t>
            </a:r>
            <a:endParaRPr lang="ko-KR" alt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CBBFC25-B713-B47D-9230-0BC81ECD52CA}"/>
              </a:ext>
            </a:extLst>
          </p:cNvPr>
          <p:cNvSpPr txBox="1"/>
          <p:nvPr/>
        </p:nvSpPr>
        <p:spPr>
          <a:xfrm>
            <a:off x="13854340" y="7197552"/>
            <a:ext cx="37722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과거 사례 재현 검증 모드 및 예측</a:t>
            </a: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실제 비교 뷰 구현</a:t>
            </a:r>
            <a:endParaRPr lang="ko-KR" alt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A400F52-7030-A14A-7E80-CB7A84F34EA8}"/>
              </a:ext>
            </a:extLst>
          </p:cNvPr>
          <p:cNvSpPr txBox="1"/>
          <p:nvPr/>
        </p:nvSpPr>
        <p:spPr>
          <a:xfrm>
            <a:off x="5041584" y="7321896"/>
            <a:ext cx="3772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평가 체계 설계 및 팀 내 기술 공유 세션 운영</a:t>
            </a:r>
            <a:endParaRPr lang="en-US" altLang="ko-KR" sz="15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F208468-E368-6CC2-E7D9-A5616DB2A187}"/>
              </a:ext>
            </a:extLst>
          </p:cNvPr>
          <p:cNvSpPr txBox="1"/>
          <p:nvPr/>
        </p:nvSpPr>
        <p:spPr>
          <a:xfrm>
            <a:off x="9455688" y="7650614"/>
            <a:ext cx="31935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조항 단위 색인 및 하이브리드 검색          </a:t>
            </a:r>
            <a:r>
              <a:rPr lang="en-US" altLang="ko-KR" sz="15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                      </a:t>
            </a:r>
            <a:r>
              <a:rPr lang="ko-KR" altLang="en-US" sz="1500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파이프라인 구축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8D196D-1770-9EBF-FE18-8F1E6D0D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87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DDF7-E2E6-8448-6EB4-0F8BF6CC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BC13C5-81A0-578C-DEB9-9D9E7C0EB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B277BE12-853C-DA4D-C5CF-EB5688CB673A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6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.2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개발 일정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graphicFrame>
        <p:nvGraphicFramePr>
          <p:cNvPr id="950" name="표 949">
            <a:extLst>
              <a:ext uri="{FF2B5EF4-FFF2-40B4-BE49-F238E27FC236}">
                <a16:creationId xmlns:a16="http://schemas.microsoft.com/office/drawing/2014/main" id="{1A117E05-4164-5A7E-69A8-C6E558CCB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448819"/>
              </p:ext>
            </p:extLst>
          </p:nvPr>
        </p:nvGraphicFramePr>
        <p:xfrm>
          <a:off x="692144" y="2179880"/>
          <a:ext cx="16903712" cy="761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167490904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07343461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985966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31406709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2300320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1967667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8801215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1885936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21439748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273767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09710594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025959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864045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535585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048487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80588412"/>
                    </a:ext>
                  </a:extLst>
                </a:gridCol>
                <a:gridCol w="698512">
                  <a:extLst>
                    <a:ext uri="{9D8B030D-6E8A-4147-A177-3AD203B41FA5}">
                      <a16:colId xmlns:a16="http://schemas.microsoft.com/office/drawing/2014/main" val="3623890791"/>
                    </a:ext>
                  </a:extLst>
                </a:gridCol>
              </a:tblGrid>
              <a:tr h="3805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개발 내용</a:t>
                      </a:r>
                      <a:endParaRPr lang="en-US" altLang="ko-KR" sz="1800" b="0" i="0" u="none" strike="noStrike" spc="-100" dirty="0">
                        <a:solidFill>
                          <a:srgbClr val="FFFFFF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담당</a:t>
                      </a:r>
                      <a:endParaRPr lang="en-US" altLang="ko-KR" sz="1800" b="0" i="0" u="none" strike="noStrike" spc="-100" dirty="0">
                        <a:solidFill>
                          <a:srgbClr val="FFFFFF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7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8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9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9729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요구사항 분석 및 데이터 전수 분석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전원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626196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공간 기반자료 수집 및 격자 구축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황승준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056591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3.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데이터 파이프라인 및 관계형 스키마 구축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황승준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595052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4.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법령</a:t>
                      </a:r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·SOP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코퍼스 구축 및 조항 색인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홍준서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9529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5.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물리 확산 시뮬레이터 구현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홍준서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892403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6.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위험도 </a:t>
                      </a:r>
                      <a:r>
                        <a:rPr lang="ko-KR" altLang="en-US" sz="18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규칙표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학습 및 산정 엔진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황승준</a:t>
                      </a:r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8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780047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7.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구조화 프롬프트 기준선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김지오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928465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8.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통합 </a:t>
                      </a:r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REST API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및 데이터베이스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황승준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71925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9.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역할 적응형 대시보드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임성민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694143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10. RAG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검색</a:t>
                      </a:r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판정 파이프라인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김지오</a:t>
                      </a:r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홍준서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120040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11.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안전 가드레일 규칙 엔진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김지오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243123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12.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확산 파라미터 보정 및 교차검증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홍준서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871509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13.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모듈 </a:t>
                      </a:r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차 통합 및 프로토타입 발표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전원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013515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14. </a:t>
                      </a:r>
                      <a:r>
                        <a:rPr lang="en-US" altLang="ko-KR" sz="18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LoRA</a:t>
                      </a:r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8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파인튜닝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및 기준선 대비 비교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김지오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83387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15. </a:t>
                      </a:r>
                      <a:r>
                        <a:rPr lang="ko-KR" altLang="en-US" sz="18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골든타임</a:t>
                      </a:r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사례 재현 검증 모드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홍준서</a:t>
                      </a:r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임성민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598170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16.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평가 파이프라인 구축 및 </a:t>
                      </a:r>
                      <a:r>
                        <a:rPr lang="ko-KR" altLang="en-US" sz="18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골드셋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검수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전원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79277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17.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절제 실험</a:t>
                      </a:r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,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최종 통합 및 경진대회 준비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전원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182678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18. SW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프로그램 등록 및 최종보고서 작성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전원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64908"/>
                  </a:ext>
                </a:extLst>
              </a:tr>
              <a:tr h="3805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19. </a:t>
                      </a:r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주간 보고서 작성 및 제출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</a:rPr>
                        <a:t>전원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683480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496E1E-A839-6AAA-E8BF-72E00D94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49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A7DC0-DBE7-0C09-88D7-7E6A397F0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2">
            <a:extLst>
              <a:ext uri="{FF2B5EF4-FFF2-40B4-BE49-F238E27FC236}">
                <a16:creationId xmlns:a16="http://schemas.microsoft.com/office/drawing/2014/main" id="{6E0D7733-EFF0-C94A-9BDF-D4BFC70307D4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97E22D5-BACD-C7C6-8BBE-CA0CBBA3BE08}"/>
              </a:ext>
            </a:extLst>
          </p:cNvPr>
          <p:cNvSpPr txBox="1"/>
          <p:nvPr/>
        </p:nvSpPr>
        <p:spPr>
          <a:xfrm>
            <a:off x="7534275" y="4699000"/>
            <a:ext cx="321945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7.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기대효과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65D5EC-7E37-921C-0D3A-43ED370F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443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4398A-FDED-36C8-2D40-6DD374582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924B7D5-4BB3-6CB4-5FAE-CBF883A19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EAF6CF6-7B88-40CB-426A-84620183DA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7DF565B-6F32-3AAF-8D38-E92589962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0C78BCB-4647-D540-7163-A01F9F935C40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724650" y="6184900"/>
            <a:ext cx="4813300" cy="254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4F07D98A-BB90-B1BE-A5F4-E16678BE0047}"/>
              </a:ext>
            </a:extLst>
          </p:cNvPr>
          <p:cNvSpPr txBox="1"/>
          <p:nvPr/>
        </p:nvSpPr>
        <p:spPr>
          <a:xfrm>
            <a:off x="9918700" y="7035346"/>
            <a:ext cx="70485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B2C :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잔여시간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행동지침 중심 최소 정보 화면을 통한 접근성 확보</a:t>
            </a: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938ABCF-1E2A-E895-5919-9FB326609383}"/>
              </a:ext>
            </a:extLst>
          </p:cNvPr>
          <p:cNvSpPr txBox="1"/>
          <p:nvPr/>
        </p:nvSpPr>
        <p:spPr>
          <a:xfrm>
            <a:off x="9918700" y="5949496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B2B :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코퍼스 교체를 통한 타 재난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규정 분야 확장</a:t>
            </a: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C6CC9D0-5DD7-A45F-74B9-129C47488B6A}"/>
              </a:ext>
            </a:extLst>
          </p:cNvPr>
          <p:cNvSpPr txBox="1"/>
          <p:nvPr/>
        </p:nvSpPr>
        <p:spPr>
          <a:xfrm>
            <a:off x="9918700" y="4585153"/>
            <a:ext cx="5080000" cy="111669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B2G :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자체 서버 운용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공공데이터 기반 비용 절감</a:t>
            </a:r>
            <a:b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</a:b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- 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지휘 변경에도 유지되는 표준 판단 근거</a:t>
            </a: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02C498C-EBAA-9553-973F-8176EB4131F9}"/>
              </a:ext>
            </a:extLst>
          </p:cNvPr>
          <p:cNvSpPr txBox="1"/>
          <p:nvPr/>
        </p:nvSpPr>
        <p:spPr>
          <a:xfrm>
            <a:off x="9918700" y="3784600"/>
            <a:ext cx="4165600" cy="55880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9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산업적 효과</a:t>
            </a:r>
            <a:endParaRPr lang="en-US" sz="29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02245CD-B4AA-63E7-36ED-A6CCB7C6D914}"/>
              </a:ext>
            </a:extLst>
          </p:cNvPr>
          <p:cNvSpPr txBox="1"/>
          <p:nvPr/>
        </p:nvSpPr>
        <p:spPr>
          <a:xfrm>
            <a:off x="1841500" y="2146300"/>
            <a:ext cx="146177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2599" b="0" i="0" u="none" strike="noStrike" spc="-1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현장 판단의 개선에서 재난 대응 서비스 확장까지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958304B-632D-EC52-F5D4-B3CA93A47B28}"/>
              </a:ext>
            </a:extLst>
          </p:cNvPr>
          <p:cNvSpPr txBox="1"/>
          <p:nvPr/>
        </p:nvSpPr>
        <p:spPr>
          <a:xfrm>
            <a:off x="825500" y="469900"/>
            <a:ext cx="72517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>
              <a:lnSpc>
                <a:spcPct val="996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7.1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사회적</a:t>
            </a:r>
            <a:r>
              <a:rPr lang="en-US" altLang="ko-KR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·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산업적 효과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99997C8C-1C58-C274-4D9B-8C008163A403}"/>
              </a:ext>
            </a:extLst>
          </p:cNvPr>
          <p:cNvSpPr txBox="1"/>
          <p:nvPr/>
        </p:nvSpPr>
        <p:spPr>
          <a:xfrm>
            <a:off x="1663700" y="6654800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신뢰성 확보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미확보 표시를 통한 판단 투명성</a:t>
            </a: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98063CFB-632C-FC9B-84B9-37F5992BD51D}"/>
              </a:ext>
            </a:extLst>
          </p:cNvPr>
          <p:cNvSpPr txBox="1"/>
          <p:nvPr/>
        </p:nvSpPr>
        <p:spPr>
          <a:xfrm>
            <a:off x="1663700" y="5613400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맞춤형 정보 전달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역할별 행동지침 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 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고령층 친화형 시민 화면</a:t>
            </a: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6A72AA8D-856B-192B-EDEA-5046DCA899E6}"/>
              </a:ext>
            </a:extLst>
          </p:cNvPr>
          <p:cNvSpPr txBox="1"/>
          <p:nvPr/>
        </p:nvSpPr>
        <p:spPr>
          <a:xfrm>
            <a:off x="1663700" y="4584700"/>
            <a:ext cx="50800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0000"/>
              </a:lnSpc>
            </a:pPr>
            <a:r>
              <a:rPr lang="ko-KR" altLang="en-US" sz="2599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대피 판단 정량화</a:t>
            </a:r>
            <a:endParaRPr lang="en-US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999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골든타임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기반 잔여 대피시간</a:t>
            </a:r>
            <a:r>
              <a:rPr lang="en-US" altLang="ko-KR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우선순위</a:t>
            </a:r>
            <a:endParaRPr lang="en-US" sz="19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10925268-D15B-80F3-CEA3-647FF6804225}"/>
              </a:ext>
            </a:extLst>
          </p:cNvPr>
          <p:cNvSpPr txBox="1"/>
          <p:nvPr/>
        </p:nvSpPr>
        <p:spPr>
          <a:xfrm>
            <a:off x="1676400" y="3784600"/>
            <a:ext cx="4165600" cy="55880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9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사회</a:t>
            </a:r>
            <a:r>
              <a:rPr lang="ko-KR" altLang="en-US" sz="2999" b="0" i="0" u="none" strike="noStrike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적 효과</a:t>
            </a:r>
            <a:endParaRPr lang="en-US" sz="29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AB81C35-2C8C-A1E7-F13D-E7D5A8DD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641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85C4F-9377-9E27-7E36-E679FC75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356062A-28B7-234B-40E1-869EA1AEE5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2FD437A-0FBA-514C-50B8-9C78D5322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6A9E0E1-744A-146E-09B4-634186F658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E067B35D-8533-ADA4-78EA-526B82DEB750}"/>
              </a:ext>
            </a:extLst>
          </p:cNvPr>
          <p:cNvSpPr txBox="1"/>
          <p:nvPr/>
        </p:nvSpPr>
        <p:spPr>
          <a:xfrm>
            <a:off x="4673600" y="2229757"/>
            <a:ext cx="9626600" cy="673100"/>
          </a:xfrm>
          <a:prstGeom prst="rect">
            <a:avLst/>
          </a:prstGeom>
        </p:spPr>
        <p:txBody>
          <a:bodyPr lIns="0" tIns="45719" rIns="0" bIns="4571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물리 계산부터 안전 검증까지</a:t>
            </a:r>
            <a:r>
              <a:rPr lang="en-US" altLang="ko-KR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, </a:t>
            </a:r>
            <a:r>
              <a:rPr lang="ko-KR" altLang="en-US" sz="3599" spc="-100" dirty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하나의 파이프라인</a:t>
            </a:r>
            <a:endParaRPr lang="en-US" sz="3599" b="0" i="0" u="none" strike="noStrike" spc="-100" dirty="0">
              <a:solidFill>
                <a:srgbClr val="FAA95A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54521F4-F0DB-9E58-9EA2-81287F112A67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7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</a:t>
            </a: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2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lang="ko-KR" alt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기술적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효과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49C95D4F-FE0A-1E89-787C-0666A24FD0A0}"/>
              </a:ext>
            </a:extLst>
          </p:cNvPr>
          <p:cNvGrpSpPr/>
          <p:nvPr/>
        </p:nvGrpSpPr>
        <p:grpSpPr>
          <a:xfrm>
            <a:off x="2616200" y="4000500"/>
            <a:ext cx="13144500" cy="1970314"/>
            <a:chOff x="1064986" y="3333750"/>
            <a:chExt cx="13144500" cy="1970314"/>
          </a:xfrm>
        </p:grpSpPr>
        <p:pic>
          <p:nvPicPr>
            <p:cNvPr id="45" name="Picture 6">
              <a:extLst>
                <a:ext uri="{FF2B5EF4-FFF2-40B4-BE49-F238E27FC236}">
                  <a16:creationId xmlns:a16="http://schemas.microsoft.com/office/drawing/2014/main" id="{B6AB7C85-1D9C-9ADD-82AF-AEE1106ED7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38786" y="3333750"/>
              <a:ext cx="3733800" cy="1130300"/>
            </a:xfrm>
            <a:prstGeom prst="rect">
              <a:avLst/>
            </a:prstGeom>
          </p:spPr>
        </p:pic>
        <p:pic>
          <p:nvPicPr>
            <p:cNvPr id="47" name="Picture 7">
              <a:extLst>
                <a:ext uri="{FF2B5EF4-FFF2-40B4-BE49-F238E27FC236}">
                  <a16:creationId xmlns:a16="http://schemas.microsoft.com/office/drawing/2014/main" id="{13163EDD-D60D-2448-BA5F-3F5C2F034B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01886" y="3333750"/>
              <a:ext cx="3733800" cy="1130300"/>
            </a:xfrm>
            <a:prstGeom prst="rect">
              <a:avLst/>
            </a:prstGeom>
          </p:spPr>
        </p:pic>
        <p:pic>
          <p:nvPicPr>
            <p:cNvPr id="49" name="Picture 8">
              <a:extLst>
                <a:ext uri="{FF2B5EF4-FFF2-40B4-BE49-F238E27FC236}">
                  <a16:creationId xmlns:a16="http://schemas.microsoft.com/office/drawing/2014/main" id="{01CA52DB-9EFE-DCD8-3223-FBCA5869A5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4986" y="3333750"/>
              <a:ext cx="3733800" cy="1130300"/>
            </a:xfrm>
            <a:prstGeom prst="rect">
              <a:avLst/>
            </a:prstGeom>
          </p:spPr>
        </p:pic>
        <p:sp>
          <p:nvSpPr>
            <p:cNvPr id="51" name="TextBox 16">
              <a:extLst>
                <a:ext uri="{FF2B5EF4-FFF2-40B4-BE49-F238E27FC236}">
                  <a16:creationId xmlns:a16="http://schemas.microsoft.com/office/drawing/2014/main" id="{44B3221A-1F8B-1CBA-F960-AF98BE183CA2}"/>
                </a:ext>
              </a:extLst>
            </p:cNvPr>
            <p:cNvSpPr txBox="1"/>
            <p:nvPr/>
          </p:nvSpPr>
          <p:spPr>
            <a:xfrm>
              <a:off x="7783286" y="4565650"/>
              <a:ext cx="28321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999" b="0" i="0" u="none" strike="noStrike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Qwen3.5</a:t>
              </a:r>
              <a:br>
                <a:rPr lang="en-US" sz="1999" b="0" i="0" u="none" strike="noStrike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</a:br>
              <a:r>
                <a:rPr lang="en-US" sz="1999" b="0" i="0" u="none" strike="noStrike" spc="-100" dirty="0" err="1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LoRA</a:t>
              </a:r>
              <a:endParaRPr 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endParaRPr>
            </a:p>
          </p:txBody>
        </p:sp>
        <p:sp>
          <p:nvSpPr>
            <p:cNvPr id="53" name="TextBox 17">
              <a:extLst>
                <a:ext uri="{FF2B5EF4-FFF2-40B4-BE49-F238E27FC236}">
                  <a16:creationId xmlns:a16="http://schemas.microsoft.com/office/drawing/2014/main" id="{D09F4AE3-5517-B857-D19C-AF511DB1F2B5}"/>
                </a:ext>
              </a:extLst>
            </p:cNvPr>
            <p:cNvSpPr txBox="1"/>
            <p:nvPr/>
          </p:nvSpPr>
          <p:spPr>
            <a:xfrm>
              <a:off x="4519386" y="4565650"/>
              <a:ext cx="30861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1999" spc="-100" dirty="0" err="1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규칙표</a:t>
              </a:r>
              <a:br>
                <a:rPr lang="en-US" altLang="ko-KR" sz="1999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</a:br>
              <a:r>
                <a:rPr lang="en-US" altLang="ko-KR" sz="1999" spc="-100" dirty="0" err="1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LightGBM</a:t>
              </a:r>
              <a:endParaRPr 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endParaRPr>
            </a:p>
          </p:txBody>
        </p:sp>
        <p:sp>
          <p:nvSpPr>
            <p:cNvPr id="55" name="TextBox 18">
              <a:extLst>
                <a:ext uri="{FF2B5EF4-FFF2-40B4-BE49-F238E27FC236}">
                  <a16:creationId xmlns:a16="http://schemas.microsoft.com/office/drawing/2014/main" id="{005B842A-4DED-1CAE-E527-9D81B23B5F7B}"/>
                </a:ext>
              </a:extLst>
            </p:cNvPr>
            <p:cNvSpPr txBox="1"/>
            <p:nvPr/>
          </p:nvSpPr>
          <p:spPr>
            <a:xfrm>
              <a:off x="1318986" y="4565650"/>
              <a:ext cx="32385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999" b="0" i="0" u="none" strike="noStrike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Rothermel</a:t>
              </a:r>
              <a:br>
                <a:rPr lang="en-US" sz="1999" b="0" i="0" u="none" strike="noStrike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</a:br>
              <a:r>
                <a:rPr lang="en-US" sz="1999" b="0" i="0" u="none" strike="noStrike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Huygens</a:t>
              </a:r>
            </a:p>
          </p:txBody>
        </p:sp>
        <p:sp>
          <p:nvSpPr>
            <p:cNvPr id="57" name="TextBox 19">
              <a:extLst>
                <a:ext uri="{FF2B5EF4-FFF2-40B4-BE49-F238E27FC236}">
                  <a16:creationId xmlns:a16="http://schemas.microsoft.com/office/drawing/2014/main" id="{F5360F3F-DBDD-B0D3-CB10-07C26A81BC65}"/>
                </a:ext>
              </a:extLst>
            </p:cNvPr>
            <p:cNvSpPr txBox="1"/>
            <p:nvPr/>
          </p:nvSpPr>
          <p:spPr>
            <a:xfrm>
              <a:off x="8049986" y="3702050"/>
              <a:ext cx="2311400" cy="482600"/>
            </a:xfrm>
            <a:prstGeom prst="rect">
              <a:avLst/>
            </a:prstGeom>
          </p:spPr>
          <p:txBody>
            <a:bodyPr lIns="0" tIns="16510" rIns="0" bIns="16510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2599" dirty="0">
                  <a:solidFill>
                    <a:srgbClr val="FFFFFF"/>
                  </a:solidFill>
                  <a:latin typeface="210 OmniGothic 040"/>
                  <a:ea typeface="210 OmniGothic 040"/>
                  <a:cs typeface="210 OmniGothic 040"/>
                </a:rPr>
                <a:t>역할별 보고서</a:t>
              </a:r>
              <a:endParaRPr lang="en-US" sz="2599" b="0" i="0" u="none" strike="noStrike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endParaRPr>
            </a:p>
          </p:txBody>
        </p:sp>
        <p:sp>
          <p:nvSpPr>
            <p:cNvPr id="59" name="TextBox 20">
              <a:extLst>
                <a:ext uri="{FF2B5EF4-FFF2-40B4-BE49-F238E27FC236}">
                  <a16:creationId xmlns:a16="http://schemas.microsoft.com/office/drawing/2014/main" id="{EAC5EEC6-302E-D23E-639E-59352776CC20}"/>
                </a:ext>
              </a:extLst>
            </p:cNvPr>
            <p:cNvSpPr txBox="1"/>
            <p:nvPr/>
          </p:nvSpPr>
          <p:spPr>
            <a:xfrm>
              <a:off x="4913086" y="3473450"/>
              <a:ext cx="2311400" cy="914400"/>
            </a:xfrm>
            <a:prstGeom prst="rect">
              <a:avLst/>
            </a:prstGeom>
          </p:spPr>
          <p:txBody>
            <a:bodyPr lIns="0" tIns="16510" rIns="0" bIns="16510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2599" b="0" i="0" u="none" strike="noStrike" dirty="0">
                  <a:solidFill>
                    <a:srgbClr val="FFFFFF"/>
                  </a:solidFill>
                  <a:latin typeface="210 OmniGothic 040"/>
                  <a:ea typeface="210 OmniGothic 040"/>
                  <a:cs typeface="210 OmniGothic 040"/>
                </a:rPr>
                <a:t>위험도 산정</a:t>
              </a:r>
              <a:endParaRPr lang="en-US" sz="2599" b="0" i="0" u="none" strike="noStrike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endParaRPr>
            </a:p>
          </p:txBody>
        </p:sp>
        <p:sp>
          <p:nvSpPr>
            <p:cNvPr id="61" name="TextBox 21">
              <a:extLst>
                <a:ext uri="{FF2B5EF4-FFF2-40B4-BE49-F238E27FC236}">
                  <a16:creationId xmlns:a16="http://schemas.microsoft.com/office/drawing/2014/main" id="{29F5AEFC-ECCD-2A96-BD0C-26D8FF0EB136}"/>
                </a:ext>
              </a:extLst>
            </p:cNvPr>
            <p:cNvSpPr txBox="1"/>
            <p:nvPr/>
          </p:nvSpPr>
          <p:spPr>
            <a:xfrm>
              <a:off x="1776186" y="3702050"/>
              <a:ext cx="2311400" cy="482600"/>
            </a:xfrm>
            <a:prstGeom prst="rect">
              <a:avLst/>
            </a:prstGeom>
          </p:spPr>
          <p:txBody>
            <a:bodyPr lIns="0" tIns="16510" rIns="0" bIns="16510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2599" dirty="0">
                  <a:solidFill>
                    <a:srgbClr val="FFFFFF"/>
                  </a:solidFill>
                  <a:latin typeface="210 OmniGothic 040"/>
                  <a:ea typeface="210 OmniGothic 040"/>
                  <a:cs typeface="210 OmniGothic 040"/>
                </a:rPr>
                <a:t>물리 기반 확산</a:t>
              </a:r>
              <a:endParaRPr lang="en-US" sz="2599" b="0" i="0" u="none" strike="noStrike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endParaRPr>
            </a:p>
          </p:txBody>
        </p:sp>
        <p:pic>
          <p:nvPicPr>
            <p:cNvPr id="65" name="Picture 6">
              <a:extLst>
                <a:ext uri="{FF2B5EF4-FFF2-40B4-BE49-F238E27FC236}">
                  <a16:creationId xmlns:a16="http://schemas.microsoft.com/office/drawing/2014/main" id="{33D4329D-0A81-C72C-14E8-4EDA15759F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475686" y="3335564"/>
              <a:ext cx="3733800" cy="1130300"/>
            </a:xfrm>
            <a:prstGeom prst="rect">
              <a:avLst/>
            </a:prstGeom>
          </p:spPr>
        </p:pic>
        <p:sp>
          <p:nvSpPr>
            <p:cNvPr id="67" name="TextBox 16">
              <a:extLst>
                <a:ext uri="{FF2B5EF4-FFF2-40B4-BE49-F238E27FC236}">
                  <a16:creationId xmlns:a16="http://schemas.microsoft.com/office/drawing/2014/main" id="{6AE64EAF-BF9B-460C-7131-FBC9AABB1C74}"/>
                </a:ext>
              </a:extLst>
            </p:cNvPr>
            <p:cNvSpPr txBox="1"/>
            <p:nvPr/>
          </p:nvSpPr>
          <p:spPr>
            <a:xfrm>
              <a:off x="10920186" y="4567464"/>
              <a:ext cx="28321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999" b="0" i="0" u="none" strike="noStrike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RAG</a:t>
              </a:r>
              <a:br>
                <a:rPr lang="en-US" sz="1999" b="0" i="0" u="none" strike="noStrike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</a:br>
              <a:r>
                <a:rPr lang="en-US" sz="1999" b="0" i="0" u="none" strike="noStrike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5</a:t>
              </a:r>
              <a:r>
                <a:rPr lang="ko-KR" altLang="en-US" sz="1999" b="0" i="0" u="none" strike="noStrike" spc="-100" dirty="0">
                  <a:solidFill>
                    <a:srgbClr val="363A52"/>
                  </a:solidFill>
                  <a:latin typeface="210 OmniGothic 030"/>
                  <a:ea typeface="210 OmniGothic 030"/>
                  <a:cs typeface="210 OmniGothic 030"/>
                </a:rPr>
                <a:t>대 가드레일</a:t>
              </a:r>
              <a:endParaRPr lang="en-US" sz="19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endParaRPr>
            </a:p>
          </p:txBody>
        </p:sp>
        <p:sp>
          <p:nvSpPr>
            <p:cNvPr id="69" name="TextBox 19">
              <a:extLst>
                <a:ext uri="{FF2B5EF4-FFF2-40B4-BE49-F238E27FC236}">
                  <a16:creationId xmlns:a16="http://schemas.microsoft.com/office/drawing/2014/main" id="{FD7EB862-90D1-6597-35BD-E5F72354FE2D}"/>
                </a:ext>
              </a:extLst>
            </p:cNvPr>
            <p:cNvSpPr txBox="1"/>
            <p:nvPr/>
          </p:nvSpPr>
          <p:spPr>
            <a:xfrm>
              <a:off x="11186886" y="3703864"/>
              <a:ext cx="2311400" cy="482600"/>
            </a:xfrm>
            <a:prstGeom prst="rect">
              <a:avLst/>
            </a:prstGeom>
          </p:spPr>
          <p:txBody>
            <a:bodyPr lIns="0" tIns="16510" rIns="0" bIns="16510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2599" dirty="0">
                  <a:solidFill>
                    <a:srgbClr val="FFFFFF"/>
                  </a:solidFill>
                  <a:latin typeface="210 OmniGothic 040"/>
                  <a:ea typeface="210 OmniGothic 040"/>
                  <a:cs typeface="210 OmniGothic 040"/>
                </a:rPr>
                <a:t>근거</a:t>
              </a:r>
              <a:r>
                <a:rPr lang="en-US" altLang="ko-KR" sz="2599" dirty="0">
                  <a:solidFill>
                    <a:srgbClr val="FFFFFF"/>
                  </a:solidFill>
                  <a:latin typeface="210 OmniGothic 040"/>
                  <a:ea typeface="210 OmniGothic 040"/>
                  <a:cs typeface="210 OmniGothic 040"/>
                </a:rPr>
                <a:t>·</a:t>
              </a:r>
              <a:r>
                <a:rPr lang="ko-KR" altLang="en-US" sz="2599" dirty="0">
                  <a:solidFill>
                    <a:srgbClr val="FFFFFF"/>
                  </a:solidFill>
                  <a:latin typeface="210 OmniGothic 040"/>
                  <a:ea typeface="210 OmniGothic 040"/>
                  <a:cs typeface="210 OmniGothic 040"/>
                </a:rPr>
                <a:t>안전 검증 </a:t>
              </a:r>
              <a:endParaRPr lang="en-US" sz="2599" b="0" i="0" u="none" strike="noStrike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A38B949F-778F-BE65-ED19-CFFEF7D7C18D}"/>
              </a:ext>
            </a:extLst>
          </p:cNvPr>
          <p:cNvSpPr txBox="1"/>
          <p:nvPr/>
        </p:nvSpPr>
        <p:spPr>
          <a:xfrm>
            <a:off x="7454900" y="3162300"/>
            <a:ext cx="3733800" cy="49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00000"/>
              </a:lnSpc>
            </a:pPr>
            <a:r>
              <a:rPr lang="ko-KR" altLang="en-US" sz="2599" b="0" i="0" u="none" strike="noStrike" spc="-1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서로 다른 네 기술의 연결</a:t>
            </a:r>
            <a:endParaRPr lang="en-US" altLang="ko-KR" sz="2599" b="0" i="0" u="none" strike="noStrike" spc="-1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74" name="Picture 15">
            <a:extLst>
              <a:ext uri="{FF2B5EF4-FFF2-40B4-BE49-F238E27FC236}">
                <a16:creationId xmlns:a16="http://schemas.microsoft.com/office/drawing/2014/main" id="{F5DC2D2E-A767-D16B-C5B0-CE2B953D0EA8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2386" y="6487886"/>
            <a:ext cx="4000500" cy="2501900"/>
          </a:xfrm>
          <a:prstGeom prst="rect">
            <a:avLst/>
          </a:prstGeom>
        </p:spPr>
      </p:pic>
      <p:sp>
        <p:nvSpPr>
          <p:cNvPr id="76" name="TextBox 25">
            <a:extLst>
              <a:ext uri="{FF2B5EF4-FFF2-40B4-BE49-F238E27FC236}">
                <a16:creationId xmlns:a16="http://schemas.microsoft.com/office/drawing/2014/main" id="{C6C10B0C-9E43-11A3-B81F-553AD0F63EEA}"/>
              </a:ext>
            </a:extLst>
          </p:cNvPr>
          <p:cNvSpPr txBox="1"/>
          <p:nvPr/>
        </p:nvSpPr>
        <p:spPr>
          <a:xfrm>
            <a:off x="1130300" y="6838107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9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01 </a:t>
            </a:r>
            <a:r>
              <a:rPr lang="ko-KR" altLang="en-US" sz="2099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정답 데이터 제약 대응</a:t>
            </a:r>
            <a:endParaRPr lang="en-US" altLang="ko-KR" sz="2099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86" name="Picture 15">
            <a:extLst>
              <a:ext uri="{FF2B5EF4-FFF2-40B4-BE49-F238E27FC236}">
                <a16:creationId xmlns:a16="http://schemas.microsoft.com/office/drawing/2014/main" id="{0A61AA2D-2FF8-E099-7DCD-AA4C20539D58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92222" y="6487886"/>
            <a:ext cx="4000500" cy="2501900"/>
          </a:xfrm>
          <a:prstGeom prst="rect">
            <a:avLst/>
          </a:prstGeom>
        </p:spPr>
      </p:pic>
      <p:pic>
        <p:nvPicPr>
          <p:cNvPr id="88" name="Picture 15">
            <a:extLst>
              <a:ext uri="{FF2B5EF4-FFF2-40B4-BE49-F238E27FC236}">
                <a16:creationId xmlns:a16="http://schemas.microsoft.com/office/drawing/2014/main" id="{0AED62C1-730A-4601-FE10-C4903AF78FE4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88450" y="6487886"/>
            <a:ext cx="4000500" cy="2501900"/>
          </a:xfrm>
          <a:prstGeom prst="rect">
            <a:avLst/>
          </a:prstGeom>
        </p:spPr>
      </p:pic>
      <p:pic>
        <p:nvPicPr>
          <p:cNvPr id="90" name="Picture 15">
            <a:extLst>
              <a:ext uri="{FF2B5EF4-FFF2-40B4-BE49-F238E27FC236}">
                <a16:creationId xmlns:a16="http://schemas.microsoft.com/office/drawing/2014/main" id="{85A1FE1F-1BA9-1C37-D694-CBBFBF77965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498286" y="6487886"/>
            <a:ext cx="4000500" cy="2501900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DC25C82F-8A88-E265-BA78-B21586833293}"/>
              </a:ext>
            </a:extLst>
          </p:cNvPr>
          <p:cNvSpPr txBox="1"/>
          <p:nvPr/>
        </p:nvSpPr>
        <p:spPr>
          <a:xfrm>
            <a:off x="749300" y="7590191"/>
            <a:ext cx="3733800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물리 모델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+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소수 파라미터 보정</a:t>
            </a:r>
            <a:endParaRPr lang="en-US" altLang="ko-KR" sz="20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4" name="TextBox 25">
            <a:extLst>
              <a:ext uri="{FF2B5EF4-FFF2-40B4-BE49-F238E27FC236}">
                <a16:creationId xmlns:a16="http://schemas.microsoft.com/office/drawing/2014/main" id="{8A84B97B-425C-530E-8304-717CAEADCD3B}"/>
              </a:ext>
            </a:extLst>
          </p:cNvPr>
          <p:cNvSpPr txBox="1"/>
          <p:nvPr/>
        </p:nvSpPr>
        <p:spPr>
          <a:xfrm>
            <a:off x="5412014" y="6838107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9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02 </a:t>
            </a:r>
            <a:r>
              <a:rPr lang="ko-KR" altLang="en-US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독립적 근거 검증</a:t>
            </a:r>
            <a:endParaRPr lang="en-US" altLang="ko-KR" sz="2099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741B552-F497-40BE-F2BC-1565A8FCA9BD}"/>
              </a:ext>
            </a:extLst>
          </p:cNvPr>
          <p:cNvSpPr txBox="1"/>
          <p:nvPr/>
        </p:nvSpPr>
        <p:spPr>
          <a:xfrm>
            <a:off x="5031014" y="7590191"/>
            <a:ext cx="3733800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보정학습 데이터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≠ 법령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매뉴얼 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근거원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  <a:p>
            <a:pPr lvl="0" algn="ctr">
              <a:lnSpc>
                <a:spcPct val="116199"/>
              </a:lnSpc>
            </a:pPr>
            <a:endParaRPr lang="en-US" altLang="ko-KR" sz="20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8" name="TextBox 25">
            <a:extLst>
              <a:ext uri="{FF2B5EF4-FFF2-40B4-BE49-F238E27FC236}">
                <a16:creationId xmlns:a16="http://schemas.microsoft.com/office/drawing/2014/main" id="{0F0E1912-E87B-763F-D85C-46940EFFC380}"/>
              </a:ext>
            </a:extLst>
          </p:cNvPr>
          <p:cNvSpPr txBox="1"/>
          <p:nvPr/>
        </p:nvSpPr>
        <p:spPr>
          <a:xfrm>
            <a:off x="9715500" y="6838107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9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03 </a:t>
            </a:r>
            <a:r>
              <a:rPr lang="en-US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LLM</a:t>
            </a:r>
            <a:r>
              <a:rPr lang="ko-KR" altLang="en-US" sz="2099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 위험 범위 제한</a:t>
            </a:r>
            <a:endParaRPr lang="en-US" altLang="ko-KR" sz="2099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973D936-C7D1-2B9F-BAE2-49143575A610}"/>
              </a:ext>
            </a:extLst>
          </p:cNvPr>
          <p:cNvSpPr txBox="1"/>
          <p:nvPr/>
        </p:nvSpPr>
        <p:spPr>
          <a:xfrm>
            <a:off x="9334500" y="7590191"/>
            <a:ext cx="3733800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 경계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골든타임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언어모델 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비경유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  <a:p>
            <a:pPr lvl="0" algn="ctr">
              <a:lnSpc>
                <a:spcPct val="116199"/>
              </a:lnSpc>
            </a:pPr>
            <a:endParaRPr lang="en-US" altLang="ko-KR" sz="20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2" name="TextBox 25">
            <a:extLst>
              <a:ext uri="{FF2B5EF4-FFF2-40B4-BE49-F238E27FC236}">
                <a16:creationId xmlns:a16="http://schemas.microsoft.com/office/drawing/2014/main" id="{DB547A7D-A574-8988-285F-0CB08DA3ED08}"/>
              </a:ext>
            </a:extLst>
          </p:cNvPr>
          <p:cNvSpPr txBox="1"/>
          <p:nvPr/>
        </p:nvSpPr>
        <p:spPr>
          <a:xfrm>
            <a:off x="13976350" y="6838107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9" b="1" i="0" u="none" strike="noStrike" dirty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04 </a:t>
            </a:r>
            <a:r>
              <a:rPr lang="ko-KR" altLang="en-US" sz="2099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정량 신뢰성 평가</a:t>
            </a:r>
          </a:p>
          <a:p>
            <a:pPr lvl="0" algn="ctr">
              <a:lnSpc>
                <a:spcPct val="116199"/>
              </a:lnSpc>
            </a:pPr>
            <a:endParaRPr lang="en-US" altLang="ko-KR" sz="2099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08E42CA-4EB8-6BD4-B4BA-02DC00C518E9}"/>
              </a:ext>
            </a:extLst>
          </p:cNvPr>
          <p:cNvSpPr txBox="1"/>
          <p:nvPr/>
        </p:nvSpPr>
        <p:spPr>
          <a:xfrm>
            <a:off x="13595350" y="7590191"/>
            <a:ext cx="373380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차단 규칙의 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검출율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+ 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오차단율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동시 측정</a:t>
            </a:r>
            <a:endParaRPr lang="en-US" altLang="ko-KR" sz="20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1ECED2-44AC-108F-6C28-1B8EEA92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55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349F-AD5A-1450-273F-AD4550560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9F0AE27-AE37-1741-A9EB-08B3E32E7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4785541-89E2-879D-C648-68D86441D2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BA94CC4-C102-5EC5-718E-247387CF14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E9ECD07C-0E78-EE5E-2216-CE7A1828F570}"/>
              </a:ext>
            </a:extLst>
          </p:cNvPr>
          <p:cNvSpPr txBox="1"/>
          <p:nvPr/>
        </p:nvSpPr>
        <p:spPr>
          <a:xfrm>
            <a:off x="825500" y="469900"/>
            <a:ext cx="11595100" cy="876300"/>
          </a:xfrm>
          <a:prstGeom prst="rect">
            <a:avLst/>
          </a:prstGeom>
        </p:spPr>
        <p:txBody>
          <a:bodyPr lIns="0" tIns="60958" rIns="0" bIns="60958" rtlCol="0" anchor="ctr"/>
          <a:lstStyle/>
          <a:p>
            <a:pPr lvl="0" algn="l">
              <a:lnSpc>
                <a:spcPct val="100000"/>
              </a:lnSpc>
            </a:pPr>
            <a:r>
              <a:rPr lang="en-US" sz="4799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7</a:t>
            </a:r>
            <a:r>
              <a:rPr 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.3 </a:t>
            </a:r>
            <a:r>
              <a:rPr lang="ko-KR" altLang="en-US" sz="4799" b="0" i="0" u="none" strike="noStrike" spc="-10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팀 성장 목표</a:t>
            </a:r>
            <a:endParaRPr lang="en-US" sz="4799" b="0" i="0" u="none" strike="noStrike" spc="-10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pic>
        <p:nvPicPr>
          <p:cNvPr id="74" name="Picture 15">
            <a:extLst>
              <a:ext uri="{FF2B5EF4-FFF2-40B4-BE49-F238E27FC236}">
                <a16:creationId xmlns:a16="http://schemas.microsoft.com/office/drawing/2014/main" id="{42A125B2-418B-7878-4757-F3A3E207BDEE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0336" y="4197350"/>
            <a:ext cx="4000500" cy="2501900"/>
          </a:xfrm>
          <a:prstGeom prst="rect">
            <a:avLst/>
          </a:prstGeom>
        </p:spPr>
      </p:pic>
      <p:sp>
        <p:nvSpPr>
          <p:cNvPr id="76" name="TextBox 25">
            <a:extLst>
              <a:ext uri="{FF2B5EF4-FFF2-40B4-BE49-F238E27FC236}">
                <a16:creationId xmlns:a16="http://schemas.microsoft.com/office/drawing/2014/main" id="{11ABF34A-28B8-8BB2-6C1E-3B34108239D1}"/>
              </a:ext>
            </a:extLst>
          </p:cNvPr>
          <p:cNvSpPr txBox="1"/>
          <p:nvPr/>
        </p:nvSpPr>
        <p:spPr>
          <a:xfrm>
            <a:off x="1238250" y="4547571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황승준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86" name="Picture 15">
            <a:extLst>
              <a:ext uri="{FF2B5EF4-FFF2-40B4-BE49-F238E27FC236}">
                <a16:creationId xmlns:a16="http://schemas.microsoft.com/office/drawing/2014/main" id="{5CB7B857-C8BE-8E62-2CED-18AD7A897BE7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0172" y="4197350"/>
            <a:ext cx="4000500" cy="2501900"/>
          </a:xfrm>
          <a:prstGeom prst="rect">
            <a:avLst/>
          </a:prstGeom>
        </p:spPr>
      </p:pic>
      <p:pic>
        <p:nvPicPr>
          <p:cNvPr id="88" name="Picture 15">
            <a:extLst>
              <a:ext uri="{FF2B5EF4-FFF2-40B4-BE49-F238E27FC236}">
                <a16:creationId xmlns:a16="http://schemas.microsoft.com/office/drawing/2014/main" id="{CD0D154F-F4B4-5590-3D67-F2873D3C51B1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96400" y="4197350"/>
            <a:ext cx="4000500" cy="2501900"/>
          </a:xfrm>
          <a:prstGeom prst="rect">
            <a:avLst/>
          </a:prstGeom>
        </p:spPr>
      </p:pic>
      <p:pic>
        <p:nvPicPr>
          <p:cNvPr id="90" name="Picture 15">
            <a:extLst>
              <a:ext uri="{FF2B5EF4-FFF2-40B4-BE49-F238E27FC236}">
                <a16:creationId xmlns:a16="http://schemas.microsoft.com/office/drawing/2014/main" id="{DE090C75-4616-3A49-316B-AE2ED079988B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06236" y="4197350"/>
            <a:ext cx="4000500" cy="2501900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275E992-9B28-DE68-A4C3-D894C4565CF3}"/>
              </a:ext>
            </a:extLst>
          </p:cNvPr>
          <p:cNvSpPr txBox="1"/>
          <p:nvPr/>
        </p:nvSpPr>
        <p:spPr>
          <a:xfrm>
            <a:off x="857250" y="5299655"/>
            <a:ext cx="3733800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공간 데이터 파이프라인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백엔드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통합 설계 경험</a:t>
            </a:r>
          </a:p>
          <a:p>
            <a:pPr lvl="0" algn="ctr">
              <a:lnSpc>
                <a:spcPct val="116199"/>
              </a:lnSpc>
            </a:pPr>
            <a:endParaRPr lang="en-US" altLang="ko-KR" sz="20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4" name="TextBox 25">
            <a:extLst>
              <a:ext uri="{FF2B5EF4-FFF2-40B4-BE49-F238E27FC236}">
                <a16:creationId xmlns:a16="http://schemas.microsoft.com/office/drawing/2014/main" id="{07C8C100-1871-5078-9AE5-221ECA6A4E05}"/>
              </a:ext>
            </a:extLst>
          </p:cNvPr>
          <p:cNvSpPr txBox="1"/>
          <p:nvPr/>
        </p:nvSpPr>
        <p:spPr>
          <a:xfrm>
            <a:off x="5519964" y="4547571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김지오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B8A4411-98F6-A199-B5BE-3C4CDB8484FE}"/>
              </a:ext>
            </a:extLst>
          </p:cNvPr>
          <p:cNvSpPr txBox="1"/>
          <p:nvPr/>
        </p:nvSpPr>
        <p:spPr>
          <a:xfrm>
            <a:off x="5138964" y="5299655"/>
            <a:ext cx="373380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소형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LLM </a:t>
            </a:r>
            <a:r>
              <a:rPr lang="ko-KR" altLang="en-US" sz="2099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파인튜닝</a:t>
            </a:r>
            <a:endParaRPr lang="ko-KR" altLang="en-US" sz="2099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가드레일 정량 평가</a:t>
            </a:r>
          </a:p>
        </p:txBody>
      </p:sp>
      <p:sp>
        <p:nvSpPr>
          <p:cNvPr id="98" name="TextBox 25">
            <a:extLst>
              <a:ext uri="{FF2B5EF4-FFF2-40B4-BE49-F238E27FC236}">
                <a16:creationId xmlns:a16="http://schemas.microsoft.com/office/drawing/2014/main" id="{71AD15CA-5980-5F4E-A842-A804B22DAE4A}"/>
              </a:ext>
            </a:extLst>
          </p:cNvPr>
          <p:cNvSpPr txBox="1"/>
          <p:nvPr/>
        </p:nvSpPr>
        <p:spPr>
          <a:xfrm>
            <a:off x="9823450" y="4547571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spc="-100" dirty="0">
                <a:solidFill>
                  <a:srgbClr val="363A52"/>
                </a:solidFill>
                <a:latin typeface="210 OmniGothic 030"/>
                <a:ea typeface="210 OmniGothic 030"/>
                <a:cs typeface="Pretendard Bold"/>
              </a:rPr>
              <a:t>홍준서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7A2B00A-53E9-6045-F15C-CEC5562445A7}"/>
              </a:ext>
            </a:extLst>
          </p:cNvPr>
          <p:cNvSpPr txBox="1"/>
          <p:nvPr/>
        </p:nvSpPr>
        <p:spPr>
          <a:xfrm>
            <a:off x="9442450" y="5299655"/>
            <a:ext cx="373380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물리 모델 구현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실측 기반 파라미터 최적화</a:t>
            </a:r>
          </a:p>
        </p:txBody>
      </p:sp>
      <p:sp>
        <p:nvSpPr>
          <p:cNvPr id="102" name="TextBox 25">
            <a:extLst>
              <a:ext uri="{FF2B5EF4-FFF2-40B4-BE49-F238E27FC236}">
                <a16:creationId xmlns:a16="http://schemas.microsoft.com/office/drawing/2014/main" id="{FE6E720D-0B30-9AB1-98AE-8E5ED6C76217}"/>
              </a:ext>
            </a:extLst>
          </p:cNvPr>
          <p:cNvSpPr txBox="1"/>
          <p:nvPr/>
        </p:nvSpPr>
        <p:spPr>
          <a:xfrm>
            <a:off x="14084300" y="4547571"/>
            <a:ext cx="2971800" cy="4018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500" b="1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임성민</a:t>
            </a:r>
          </a:p>
          <a:p>
            <a:pPr lvl="0" algn="ctr">
              <a:lnSpc>
                <a:spcPct val="116199"/>
              </a:lnSpc>
            </a:pP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6488CFB-A366-40F5-767E-272BF73006AA}"/>
              </a:ext>
            </a:extLst>
          </p:cNvPr>
          <p:cNvSpPr txBox="1"/>
          <p:nvPr/>
        </p:nvSpPr>
        <p:spPr>
          <a:xfrm>
            <a:off x="13703300" y="5299655"/>
            <a:ext cx="3733800" cy="84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지리 정보 시각화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역할 적응형 </a:t>
            </a:r>
            <a:r>
              <a:rPr lang="en-US" altLang="ko-KR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UI </a:t>
            </a: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설계</a:t>
            </a:r>
          </a:p>
        </p:txBody>
      </p:sp>
      <p:pic>
        <p:nvPicPr>
          <p:cNvPr id="6" name="Picture 14">
            <a:extLst>
              <a:ext uri="{FF2B5EF4-FFF2-40B4-BE49-F238E27FC236}">
                <a16:creationId xmlns:a16="http://schemas.microsoft.com/office/drawing/2014/main" id="{127D39AC-E53F-48EE-4ABD-82A84D5B50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87550" y="2324100"/>
            <a:ext cx="14312900" cy="977900"/>
          </a:xfrm>
          <a:prstGeom prst="rect">
            <a:avLst/>
          </a:prstGeom>
          <a:effectLst>
            <a:outerShdw dist="89682" dir="5400000">
              <a:srgbClr val="FAA95A">
                <a:alpha val="50000"/>
              </a:srgbClr>
            </a:outerShdw>
          </a:effectLst>
        </p:spPr>
      </p:pic>
      <p:sp>
        <p:nvSpPr>
          <p:cNvPr id="8" name="TextBox 22">
            <a:extLst>
              <a:ext uri="{FF2B5EF4-FFF2-40B4-BE49-F238E27FC236}">
                <a16:creationId xmlns:a16="http://schemas.microsoft.com/office/drawing/2014/main" id="{9E9094A4-542F-D0E3-B69E-D20CF4B74F70}"/>
              </a:ext>
            </a:extLst>
          </p:cNvPr>
          <p:cNvSpPr txBox="1"/>
          <p:nvPr/>
        </p:nvSpPr>
        <p:spPr>
          <a:xfrm>
            <a:off x="3317875" y="2578100"/>
            <a:ext cx="11652250" cy="500678"/>
          </a:xfrm>
          <a:prstGeom prst="rect">
            <a:avLst/>
          </a:prstGeom>
        </p:spPr>
        <p:txBody>
          <a:bodyPr lIns="0" tIns="38099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999" b="0" i="0" u="none" strike="noStrike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시스템에 적용된 인공지능 기술을 스스로 설명할 수 있는 수준</a:t>
            </a:r>
            <a:r>
              <a:rPr lang="ko-KR" altLang="en-US" sz="2999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에 도달</a:t>
            </a:r>
            <a:endParaRPr lang="en-US" sz="2999" b="0" i="0" u="none" strike="noStrike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A1DDE933-23EA-3000-52E3-9BCB00FAC3EC}"/>
              </a:ext>
            </a:extLst>
          </p:cNvPr>
          <p:cNvSpPr txBox="1"/>
          <p:nvPr/>
        </p:nvSpPr>
        <p:spPr>
          <a:xfrm>
            <a:off x="690336" y="6981005"/>
            <a:ext cx="927100" cy="47171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2500" b="1" i="0" u="none" strike="noStrike" spc="-10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산출물</a:t>
            </a:r>
            <a:endParaRPr lang="en-US" altLang="ko-KR" sz="2500" b="1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14" name="Picture 15">
            <a:extLst>
              <a:ext uri="{FF2B5EF4-FFF2-40B4-BE49-F238E27FC236}">
                <a16:creationId xmlns:a16="http://schemas.microsoft.com/office/drawing/2014/main" id="{86F43FC6-BC8A-DEFE-88E0-D4A2A509234A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0336" y="7505700"/>
            <a:ext cx="4000500" cy="15454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E308A2-A437-6BC3-99C1-B11459F3F284}"/>
              </a:ext>
            </a:extLst>
          </p:cNvPr>
          <p:cNvSpPr txBox="1"/>
          <p:nvPr/>
        </p:nvSpPr>
        <p:spPr>
          <a:xfrm>
            <a:off x="2113191" y="8038288"/>
            <a:ext cx="2494189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프로그램 등록 완료</a:t>
            </a:r>
            <a:endParaRPr lang="en-US" altLang="ko-KR" sz="20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pic>
        <p:nvPicPr>
          <p:cNvPr id="18" name="Picture 15">
            <a:extLst>
              <a:ext uri="{FF2B5EF4-FFF2-40B4-BE49-F238E27FC236}">
                <a16:creationId xmlns:a16="http://schemas.microsoft.com/office/drawing/2014/main" id="{5AFE8246-2F9F-99EB-628F-2C2403209989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0172" y="7501874"/>
            <a:ext cx="4000500" cy="1545426"/>
          </a:xfrm>
          <a:prstGeom prst="rect">
            <a:avLst/>
          </a:prstGeom>
        </p:spPr>
      </p:pic>
      <p:pic>
        <p:nvPicPr>
          <p:cNvPr id="20" name="Picture 15">
            <a:extLst>
              <a:ext uri="{FF2B5EF4-FFF2-40B4-BE49-F238E27FC236}">
                <a16:creationId xmlns:a16="http://schemas.microsoft.com/office/drawing/2014/main" id="{B2056A1B-4EAB-04CE-3F3A-FC6444E09BC4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10008" y="7501874"/>
            <a:ext cx="4000500" cy="1545426"/>
          </a:xfrm>
          <a:prstGeom prst="rect">
            <a:avLst/>
          </a:prstGeom>
        </p:spPr>
      </p:pic>
      <p:pic>
        <p:nvPicPr>
          <p:cNvPr id="22" name="Picture 15">
            <a:extLst>
              <a:ext uri="{FF2B5EF4-FFF2-40B4-BE49-F238E27FC236}">
                <a16:creationId xmlns:a16="http://schemas.microsoft.com/office/drawing/2014/main" id="{E1FF43D5-829A-2E75-9CEC-757129AB034F}"/>
              </a:ext>
            </a:extLst>
          </p:cNvPr>
          <p:cNvPicPr>
            <a:picLocks noChangeAspect="1"/>
          </p:cNvPicPr>
          <p:nvPr/>
        </p:nvPicPr>
        <p:blipFill>
          <a:blip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19844" y="7501874"/>
            <a:ext cx="4000500" cy="154542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84AA82-F607-7BFE-D8C5-A76DAB3227EE}"/>
              </a:ext>
            </a:extLst>
          </p:cNvPr>
          <p:cNvSpPr txBox="1"/>
          <p:nvPr/>
        </p:nvSpPr>
        <p:spPr>
          <a:xfrm>
            <a:off x="6853915" y="8038287"/>
            <a:ext cx="1842406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ko-KR" altLang="en-US" sz="2099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출품</a:t>
            </a:r>
            <a:endParaRPr lang="en-US" altLang="ko-KR" sz="20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6354D8-10E7-6604-76EA-471554F4461D}"/>
              </a:ext>
            </a:extLst>
          </p:cNvPr>
          <p:cNvSpPr txBox="1"/>
          <p:nvPr/>
        </p:nvSpPr>
        <p:spPr>
          <a:xfrm>
            <a:off x="10423526" y="8038286"/>
            <a:ext cx="2789917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규칙표</a:t>
            </a:r>
            <a:r>
              <a:rPr lang="ko-KR" altLang="en-US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lang="en-US" altLang="ko-KR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vs </a:t>
            </a:r>
            <a:r>
              <a:rPr lang="en-US" altLang="ko-KR" sz="2099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LightGBM</a:t>
            </a:r>
            <a:endParaRPr lang="en-US" altLang="ko-KR" sz="20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BA089B-872E-7B79-1A91-F1DE9F8EC589}"/>
              </a:ext>
            </a:extLst>
          </p:cNvPr>
          <p:cNvSpPr txBox="1"/>
          <p:nvPr/>
        </p:nvSpPr>
        <p:spPr>
          <a:xfrm>
            <a:off x="14860702" y="8052530"/>
            <a:ext cx="2789917" cy="46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프롬프트 </a:t>
            </a:r>
            <a:r>
              <a:rPr lang="en-US" altLang="ko-KR" sz="2099" b="0" i="0" u="none" strike="noStrike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vs </a:t>
            </a:r>
            <a:r>
              <a:rPr lang="ko-KR" altLang="en-US" sz="2099" b="0" i="0" u="none" strike="noStrike" spc="-10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파인튜닝</a:t>
            </a:r>
            <a:endParaRPr lang="en-US" altLang="ko-KR" sz="2099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E03396-55A5-D05E-67D1-386FD11D3C05}"/>
              </a:ext>
            </a:extLst>
          </p:cNvPr>
          <p:cNvSpPr txBox="1"/>
          <p:nvPr/>
        </p:nvSpPr>
        <p:spPr>
          <a:xfrm>
            <a:off x="800220" y="8043818"/>
            <a:ext cx="1378736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99" b="1" dirty="0">
                <a:solidFill>
                  <a:srgbClr val="FAA95A"/>
                </a:solidFill>
                <a:latin typeface="Pretendard Bold"/>
                <a:ea typeface="Pretendard Bold"/>
              </a:rPr>
              <a:t>SW</a:t>
            </a:r>
            <a:r>
              <a:rPr lang="ko-KR" altLang="en-US" sz="2399" b="1" dirty="0">
                <a:solidFill>
                  <a:srgbClr val="FAA95A"/>
                </a:solidFill>
                <a:latin typeface="Pretendard Bold"/>
                <a:ea typeface="Pretendard Bold"/>
              </a:rPr>
              <a:t> 등록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F26448-38E2-438E-933E-EAA87455C8DB}"/>
              </a:ext>
            </a:extLst>
          </p:cNvPr>
          <p:cNvSpPr txBox="1"/>
          <p:nvPr/>
        </p:nvSpPr>
        <p:spPr>
          <a:xfrm>
            <a:off x="5340867" y="8050479"/>
            <a:ext cx="1378736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399" b="1" dirty="0">
                <a:solidFill>
                  <a:srgbClr val="FAA95A"/>
                </a:solidFill>
                <a:latin typeface="Pretendard Bold"/>
                <a:ea typeface="Pretendard Bold"/>
              </a:rPr>
              <a:t>경진대회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E786B7-84FC-6CE8-D8E5-5310B610EA44}"/>
              </a:ext>
            </a:extLst>
          </p:cNvPr>
          <p:cNvSpPr txBox="1"/>
          <p:nvPr/>
        </p:nvSpPr>
        <p:spPr>
          <a:xfrm>
            <a:off x="9513264" y="8055288"/>
            <a:ext cx="1036800" cy="464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399" b="1" dirty="0">
                <a:solidFill>
                  <a:srgbClr val="FAA95A"/>
                </a:solidFill>
                <a:latin typeface="Pretendard Bold"/>
                <a:ea typeface="Pretendard Bold"/>
              </a:rPr>
              <a:t>실험 </a:t>
            </a:r>
            <a:r>
              <a:rPr lang="en-US" altLang="ko-KR" sz="2399" b="1" dirty="0">
                <a:solidFill>
                  <a:srgbClr val="FAA95A"/>
                </a:solidFill>
                <a:latin typeface="Pretendard Bold"/>
                <a:ea typeface="Pretendard Bold"/>
              </a:rPr>
              <a:t>1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93B0F1-0FD6-9A12-DE0A-B8A8E3922CA5}"/>
              </a:ext>
            </a:extLst>
          </p:cNvPr>
          <p:cNvSpPr txBox="1"/>
          <p:nvPr/>
        </p:nvSpPr>
        <p:spPr>
          <a:xfrm>
            <a:off x="13868691" y="8055288"/>
            <a:ext cx="1036800" cy="464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399" b="1" dirty="0">
                <a:solidFill>
                  <a:srgbClr val="FAA95A"/>
                </a:solidFill>
                <a:latin typeface="Pretendard Bold"/>
                <a:ea typeface="Pretendard Bold"/>
              </a:rPr>
              <a:t>실험 </a:t>
            </a:r>
            <a:r>
              <a:rPr lang="en-US" altLang="ko-KR" sz="2399" b="1" dirty="0">
                <a:solidFill>
                  <a:srgbClr val="FAA95A"/>
                </a:solidFill>
                <a:latin typeface="Pretendard Bold"/>
                <a:ea typeface="Pretendard Bold"/>
              </a:rPr>
              <a:t>2</a:t>
            </a:r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7F8DE2-FB92-21FE-212B-7A9DCE9F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4DC42-E09E-3313-8919-C003CD5BAE63}"/>
              </a:ext>
            </a:extLst>
          </p:cNvPr>
          <p:cNvSpPr txBox="1"/>
          <p:nvPr/>
        </p:nvSpPr>
        <p:spPr>
          <a:xfrm>
            <a:off x="12889593" y="3445171"/>
            <a:ext cx="342203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ko-KR" altLang="en-US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주 </a:t>
            </a:r>
            <a:r>
              <a:rPr lang="en-US" altLang="ko-KR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2</a:t>
            </a:r>
            <a:r>
              <a:rPr lang="ko-KR" altLang="en-US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회</a:t>
            </a:r>
            <a:r>
              <a:rPr lang="en-US" altLang="ko-KR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</a:t>
            </a:r>
            <a:r>
              <a:rPr lang="ko-KR" altLang="en-US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월</a:t>
            </a:r>
            <a:r>
              <a:rPr lang="en-US" altLang="ko-KR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·</a:t>
            </a:r>
            <a:r>
              <a:rPr lang="ko-KR" altLang="en-US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금</a:t>
            </a:r>
            <a:r>
              <a:rPr lang="en-US" altLang="ko-KR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) </a:t>
            </a:r>
            <a:r>
              <a:rPr lang="ko-KR" altLang="en-US" sz="1700" spc="-10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기술 공유 세션</a:t>
            </a:r>
            <a:endParaRPr lang="en-US" altLang="ko-KR" sz="1700" b="0" i="0" u="none" strike="noStrike" spc="-100" dirty="0">
              <a:solidFill>
                <a:srgbClr val="363A52"/>
              </a:solidFill>
              <a:latin typeface="210 OmniGothic 030"/>
              <a:ea typeface="210 OmniGothic 030"/>
              <a:cs typeface="210 OmniGothic 030"/>
            </a:endParaRPr>
          </a:p>
        </p:txBody>
      </p:sp>
    </p:spTree>
    <p:extLst>
      <p:ext uri="{BB962C8B-B14F-4D97-AF65-F5344CB8AC3E}">
        <p14:creationId xmlns:p14="http://schemas.microsoft.com/office/powerpoint/2010/main" val="4042796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8100" y="-2260600"/>
            <a:ext cx="18326100" cy="11264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52600" y="7645400"/>
            <a:ext cx="8470900" cy="1358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165350" y="3619500"/>
            <a:ext cx="13919200" cy="1231900"/>
          </a:xfrm>
          <a:prstGeom prst="rect">
            <a:avLst/>
          </a:prstGeom>
        </p:spPr>
        <p:txBody>
          <a:bodyPr lIns="0" tIns="86358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6798" b="0" i="0" u="none" strike="noStrike" spc="-300" dirty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감사합니다</a:t>
            </a:r>
            <a:endParaRPr lang="en-US" sz="6798" b="0" i="0" u="none" strike="noStrike" spc="-300" dirty="0">
              <a:solidFill>
                <a:srgbClr val="363A52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B86E9C0-C14B-2A08-2561-F2D665D5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1614</Words>
  <Application>Microsoft Office PowerPoint</Application>
  <PresentationFormat>사용자 지정</PresentationFormat>
  <Paragraphs>421</Paragraphs>
  <Slides>31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1" baseType="lpstr">
      <vt:lpstr>Arial</vt:lpstr>
      <vt:lpstr>210 OmniGothic 040</vt:lpstr>
      <vt:lpstr>Calibri</vt:lpstr>
      <vt:lpstr>맑은 고딕</vt:lpstr>
      <vt:lpstr>210 OmniGothic 050</vt:lpstr>
      <vt:lpstr>210 OmniGothic 030</vt:lpstr>
      <vt:lpstr>Pretendard Bold</vt:lpstr>
      <vt:lpstr>Pretendard Light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PARKER</cp:lastModifiedBy>
  <cp:revision>21</cp:revision>
  <dcterms:created xsi:type="dcterms:W3CDTF">2006-08-16T00:00:00Z</dcterms:created>
  <dcterms:modified xsi:type="dcterms:W3CDTF">2026-09-09T19:38:38Z</dcterms:modified>
</cp:coreProperties>
</file>