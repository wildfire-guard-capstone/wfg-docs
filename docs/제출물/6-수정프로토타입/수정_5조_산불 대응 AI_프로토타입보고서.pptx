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4"/>
  </p:notesMasterIdLst>
  <p:sldIdLst>
    <p:sldId id="402" r:id="rId2"/>
    <p:sldId id="403" r:id="rId3"/>
    <p:sldId id="485" r:id="rId4"/>
    <p:sldId id="405" r:id="rId5"/>
    <p:sldId id="406" r:id="rId6"/>
    <p:sldId id="454" r:id="rId7"/>
    <p:sldId id="453" r:id="rId8"/>
    <p:sldId id="407" r:id="rId9"/>
    <p:sldId id="408" r:id="rId10"/>
    <p:sldId id="409" r:id="rId11"/>
    <p:sldId id="455" r:id="rId12"/>
    <p:sldId id="410" r:id="rId13"/>
    <p:sldId id="411" r:id="rId14"/>
    <p:sldId id="413" r:id="rId15"/>
    <p:sldId id="412" r:id="rId16"/>
    <p:sldId id="417" r:id="rId17"/>
    <p:sldId id="418" r:id="rId18"/>
    <p:sldId id="456" r:id="rId19"/>
    <p:sldId id="419" r:id="rId20"/>
    <p:sldId id="420" r:id="rId21"/>
    <p:sldId id="421" r:id="rId22"/>
    <p:sldId id="457" r:id="rId23"/>
    <p:sldId id="424" r:id="rId24"/>
    <p:sldId id="425" r:id="rId25"/>
    <p:sldId id="458" r:id="rId26"/>
    <p:sldId id="459" r:id="rId27"/>
    <p:sldId id="460" r:id="rId28"/>
    <p:sldId id="461" r:id="rId29"/>
    <p:sldId id="462" r:id="rId30"/>
    <p:sldId id="463" r:id="rId31"/>
    <p:sldId id="464" r:id="rId32"/>
    <p:sldId id="465" r:id="rId33"/>
    <p:sldId id="466" r:id="rId34"/>
    <p:sldId id="467" r:id="rId35"/>
    <p:sldId id="468" r:id="rId36"/>
    <p:sldId id="469" r:id="rId37"/>
    <p:sldId id="470" r:id="rId38"/>
    <p:sldId id="471" r:id="rId39"/>
    <p:sldId id="472" r:id="rId40"/>
    <p:sldId id="473" r:id="rId41"/>
    <p:sldId id="474" r:id="rId42"/>
    <p:sldId id="475" r:id="rId43"/>
    <p:sldId id="444" r:id="rId44"/>
    <p:sldId id="476" r:id="rId45"/>
    <p:sldId id="483" r:id="rId46"/>
    <p:sldId id="484" r:id="rId47"/>
    <p:sldId id="478" r:id="rId48"/>
    <p:sldId id="479" r:id="rId49"/>
    <p:sldId id="480" r:id="rId50"/>
    <p:sldId id="481" r:id="rId51"/>
    <p:sldId id="482" r:id="rId52"/>
    <p:sldId id="452" r:id="rId53"/>
  </p:sldIdLst>
  <p:sldSz cx="18288000" cy="10287000"/>
  <p:notesSz cx="6858000" cy="9144000"/>
  <p:embeddedFontLst>
    <p:embeddedFont>
      <p:font typeface="210 OmniGothic 030" panose="02020603020101020101" pitchFamily="18" charset="-127"/>
      <p:regular r:id="rId55"/>
    </p:embeddedFont>
    <p:embeddedFont>
      <p:font typeface="210 OmniGothic 040" panose="02020603020101020101" pitchFamily="18" charset="-127"/>
      <p:regular r:id="rId56"/>
    </p:embeddedFont>
    <p:embeddedFont>
      <p:font typeface="210 OmniGothic 050" panose="02020603020101020101" pitchFamily="18" charset="-127"/>
      <p:regular r:id="rId57"/>
    </p:embeddedFont>
    <p:embeddedFont>
      <p:font typeface="맑은 고딕" panose="020B0503020000020004" pitchFamily="34" charset="-127"/>
      <p:regular r:id="rId58"/>
      <p:bold r:id="rId59"/>
    </p:embeddedFont>
    <p:embeddedFont>
      <p:font typeface="맑은 고딕" panose="020B0503020000020004" pitchFamily="34" charset="-127"/>
      <p:regular r:id="rId58"/>
      <p:bold r:id="rId59"/>
    </p:embeddedFont>
    <p:embeddedFont>
      <p:font typeface="Pretendard Bold" panose="02000503000000020004" pitchFamily="2" charset="-127"/>
      <p:bold r:id="rId60"/>
      <p:italic r:id="rId61"/>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79" d="100"/>
          <a:sy n="79" d="100"/>
        </p:scale>
        <p:origin x="55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0781C-36E6-446A-BA4D-6F3546F8AA0F}"/>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DE3B1B4D-E67A-490D-AAB5-1BA5399C8CAE}"/>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6F553DC7-E6FD-47B9-89A9-59DBDE85414C}"/>
              </a:ext>
            </a:extLst>
          </p:cNvPr>
          <p:cNvSpPr>
            <a:spLocks noGrp="1"/>
          </p:cNvSpPr>
          <p:nvPr>
            <p:ph type="dt" idx="10"/>
          </p:nvPr>
        </p:nvSpPr>
        <p:spPr/>
        <p:txBody>
          <a:bodyPr/>
          <a:lstStyle/>
          <a:p>
            <a:fld id="{FDF7E13E-C63F-4D0B-BB23-D1F2A91FB568}" type="datetime1">
              <a:t>2026. 10. 19.</a:t>
            </a:fld>
            <a:endParaRPr/>
          </a:p>
        </p:txBody>
      </p:sp>
      <p:sp>
        <p:nvSpPr>
          <p:cNvPr id="5" name="Footer Placeholder 4">
            <a:extLst>
              <a:ext uri="{FF2B5EF4-FFF2-40B4-BE49-F238E27FC236}">
                <a16:creationId xmlns:a16="http://schemas.microsoft.com/office/drawing/2014/main" id="{83AB85B6-844F-48F2-974F-A98ABADB678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4EFA048-3FE8-43B4-90CB-F12249212181}"/>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11C4-4173-4C47-8E47-A78C9E7181A1}"/>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1ABD424-8DA9-4CC0-BB4F-8C0114EB4B15}"/>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335BD7-E501-4B12-811C-861F4F366E69}"/>
              </a:ext>
            </a:extLst>
          </p:cNvPr>
          <p:cNvSpPr>
            <a:spLocks noGrp="1"/>
          </p:cNvSpPr>
          <p:nvPr>
            <p:ph type="dt" idx="10"/>
          </p:nvPr>
        </p:nvSpPr>
        <p:spPr/>
        <p:txBody>
          <a:bodyPr/>
          <a:lstStyle/>
          <a:p>
            <a:fld id="{825EEC63-120E-4E59-8607-E1749C0E89F9}" type="datetime1">
              <a:t>2026. 10. 19.</a:t>
            </a:fld>
            <a:endParaRPr/>
          </a:p>
        </p:txBody>
      </p:sp>
      <p:sp>
        <p:nvSpPr>
          <p:cNvPr id="5" name="Footer Placeholder 4">
            <a:extLst>
              <a:ext uri="{FF2B5EF4-FFF2-40B4-BE49-F238E27FC236}">
                <a16:creationId xmlns:a16="http://schemas.microsoft.com/office/drawing/2014/main" id="{87EDBAF2-CC93-4184-A58D-89C281A01EA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EC2F54A-5FBD-4A6B-A81C-10F350E58A8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4822-7CB1-450C-86E5-16F89FD822CD}"/>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6D7987BF-8FE6-46EE-8862-52C06F78A134}"/>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3A96285-D177-4913-92C3-1A76E73A7480}"/>
              </a:ext>
            </a:extLst>
          </p:cNvPr>
          <p:cNvSpPr>
            <a:spLocks noGrp="1"/>
          </p:cNvSpPr>
          <p:nvPr>
            <p:ph type="dt" idx="10"/>
          </p:nvPr>
        </p:nvSpPr>
        <p:spPr/>
        <p:txBody>
          <a:bodyPr/>
          <a:lstStyle/>
          <a:p>
            <a:fld id="{924DE3DD-F0A3-4F64-AA99-B4E912018FCA}" type="datetime1">
              <a:t>2026. 10. 19.</a:t>
            </a:fld>
            <a:endParaRPr/>
          </a:p>
        </p:txBody>
      </p:sp>
      <p:sp>
        <p:nvSpPr>
          <p:cNvPr id="5" name="Footer Placeholder 4">
            <a:extLst>
              <a:ext uri="{FF2B5EF4-FFF2-40B4-BE49-F238E27FC236}">
                <a16:creationId xmlns:a16="http://schemas.microsoft.com/office/drawing/2014/main" id="{AF95AAA2-29DD-4D2C-9B78-6387F16C615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2392DCE-617D-441B-B3CC-7262D607C71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08A2-DD13-4BAB-AC7D-1ADC373F915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6EBEDC8-2845-4DDB-8AA5-C8AFBEC61BCD}"/>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9F8FE8-5E9C-4033-8908-90BC783F3020}"/>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2AC934A-DFFC-4DDA-BF71-D7A96B102D0F}"/>
              </a:ext>
            </a:extLst>
          </p:cNvPr>
          <p:cNvSpPr>
            <a:spLocks noGrp="1"/>
          </p:cNvSpPr>
          <p:nvPr>
            <p:ph type="dt" idx="10"/>
          </p:nvPr>
        </p:nvSpPr>
        <p:spPr/>
        <p:txBody>
          <a:bodyPr/>
          <a:lstStyle/>
          <a:p>
            <a:fld id="{E8B98869-110A-41B2-8B60-C1668D7B64C0}" type="datetime1">
              <a:t>2026. 10. 19.</a:t>
            </a:fld>
            <a:endParaRPr/>
          </a:p>
        </p:txBody>
      </p:sp>
      <p:sp>
        <p:nvSpPr>
          <p:cNvPr id="6" name="Footer Placeholder 5">
            <a:extLst>
              <a:ext uri="{FF2B5EF4-FFF2-40B4-BE49-F238E27FC236}">
                <a16:creationId xmlns:a16="http://schemas.microsoft.com/office/drawing/2014/main" id="{787F85C7-B146-46A9-8E4A-6B25F62F74C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B1E51A1-2F49-4F53-A0EC-BE7853F439A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15CC-ED16-4E2F-A7BE-A8398C1F7DC6}"/>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1F6D049E-2DEB-44F9-934E-E1976BD9DFE0}"/>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8589948-3C65-4FED-B98D-471CBDC50CF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812E486-9414-4D64-B5AA-512425C08F52}"/>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B12651F4-1835-4738-A412-069ABDAC1C96}"/>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36873699-FF0F-493F-B674-0318BEB0F061}"/>
              </a:ext>
            </a:extLst>
          </p:cNvPr>
          <p:cNvSpPr>
            <a:spLocks noGrp="1"/>
          </p:cNvSpPr>
          <p:nvPr>
            <p:ph type="dt" idx="10"/>
          </p:nvPr>
        </p:nvSpPr>
        <p:spPr/>
        <p:txBody>
          <a:bodyPr/>
          <a:lstStyle/>
          <a:p>
            <a:fld id="{BB6E72D2-F99A-4934-9072-4110418249BD}" type="datetime1">
              <a:t>2026. 10. 19.</a:t>
            </a:fld>
            <a:endParaRPr/>
          </a:p>
        </p:txBody>
      </p:sp>
      <p:sp>
        <p:nvSpPr>
          <p:cNvPr id="8" name="Footer Placeholder 7">
            <a:extLst>
              <a:ext uri="{FF2B5EF4-FFF2-40B4-BE49-F238E27FC236}">
                <a16:creationId xmlns:a16="http://schemas.microsoft.com/office/drawing/2014/main" id="{2E12E9F4-04CB-45F5-894B-356B835723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83FA89A7-F12E-47C5-935F-EE6879C04EE8}"/>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376E5-EF73-494B-B47D-06423DCCDC1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D946BE7D-D259-42C5-9E0C-E81FEABF734D}"/>
              </a:ext>
            </a:extLst>
          </p:cNvPr>
          <p:cNvSpPr>
            <a:spLocks noGrp="1"/>
          </p:cNvSpPr>
          <p:nvPr>
            <p:ph type="dt" idx="10"/>
          </p:nvPr>
        </p:nvSpPr>
        <p:spPr/>
        <p:txBody>
          <a:bodyPr/>
          <a:lstStyle/>
          <a:p>
            <a:fld id="{312C468B-20E3-407E-85A7-522E1433ED6A}" type="datetime1">
              <a:t>2026. 10. 19.</a:t>
            </a:fld>
            <a:endParaRPr/>
          </a:p>
        </p:txBody>
      </p:sp>
      <p:sp>
        <p:nvSpPr>
          <p:cNvPr id="4" name="Footer Placeholder 3">
            <a:extLst>
              <a:ext uri="{FF2B5EF4-FFF2-40B4-BE49-F238E27FC236}">
                <a16:creationId xmlns:a16="http://schemas.microsoft.com/office/drawing/2014/main" id="{E6CB7044-008F-44C1-90F1-26C33D02A131}"/>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22F95A2A-E62D-4A7F-ADDC-E7E152F4BA30}"/>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102B01-E97B-4A20-B1B0-5191EE524C01}"/>
              </a:ext>
            </a:extLst>
          </p:cNvPr>
          <p:cNvSpPr>
            <a:spLocks noGrp="1"/>
          </p:cNvSpPr>
          <p:nvPr>
            <p:ph type="dt" idx="10"/>
          </p:nvPr>
        </p:nvSpPr>
        <p:spPr/>
        <p:txBody>
          <a:bodyPr/>
          <a:lstStyle/>
          <a:p>
            <a:fld id="{771548AA-889C-443B-A93D-38FE1CFA7516}" type="datetime1">
              <a:t>2026. 10. 19.</a:t>
            </a:fld>
            <a:endParaRPr/>
          </a:p>
        </p:txBody>
      </p:sp>
      <p:sp>
        <p:nvSpPr>
          <p:cNvPr id="3" name="Footer Placeholder 2">
            <a:extLst>
              <a:ext uri="{FF2B5EF4-FFF2-40B4-BE49-F238E27FC236}">
                <a16:creationId xmlns:a16="http://schemas.microsoft.com/office/drawing/2014/main" id="{76C4D336-5E53-43AB-A7BE-60A3636B3C20}"/>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4B8D0046-39CA-4E80-B221-566489DFB157}"/>
              </a:ext>
            </a:extLst>
          </p:cNvPr>
          <p:cNvSpPr>
            <a:spLocks noGrp="1"/>
          </p:cNvSpPr>
          <p:nvPr>
            <p:ph type="sldNum" idx="12"/>
          </p:nvPr>
        </p:nvSpPr>
        <p:spPr/>
        <p:txBody>
          <a:bodyPr/>
          <a:lstStyle>
            <a:lvl1pPr>
              <a:buNone/>
              <a:defRPr>
                <a:solidFill>
                  <a:srgbClr val="363A52"/>
                </a:solidFill>
              </a:defRPr>
            </a:lvl1pPr>
          </a:lstStyle>
          <a:p>
            <a:fld id="{B6F15528-21DE-4FAA-801E-634DDDAF4B2B}" type="slidenum">
              <a:t>‹#›</a:t>
            </a:fld>
            <a:endParaRPr>
              <a:solidFill>
                <a:srgbClr val="363A5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70EAD-069B-4CE6-B27C-FF2D07C77C5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D3C4826A-B34C-4658-BE34-A1E42CED477E}"/>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F3D345E-E058-4A19-9D36-4EF218572C5C}"/>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C416B60E-DC45-44B6-832E-5033C3B67183}"/>
              </a:ext>
            </a:extLst>
          </p:cNvPr>
          <p:cNvSpPr>
            <a:spLocks noGrp="1"/>
          </p:cNvSpPr>
          <p:nvPr>
            <p:ph type="dt" idx="10"/>
          </p:nvPr>
        </p:nvSpPr>
        <p:spPr/>
        <p:txBody>
          <a:bodyPr/>
          <a:lstStyle/>
          <a:p>
            <a:fld id="{8EED5943-17CB-412C-A291-60B219F832C8}" type="datetime1">
              <a:t>2026. 10. 19.</a:t>
            </a:fld>
            <a:endParaRPr/>
          </a:p>
        </p:txBody>
      </p:sp>
      <p:sp>
        <p:nvSpPr>
          <p:cNvPr id="6" name="Footer Placeholder 5">
            <a:extLst>
              <a:ext uri="{FF2B5EF4-FFF2-40B4-BE49-F238E27FC236}">
                <a16:creationId xmlns:a16="http://schemas.microsoft.com/office/drawing/2014/main" id="{AB394005-A743-4FE7-B7E3-2C505CDBFD9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4349389-4A71-47FB-B6DD-DDFFD7A7012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01991-0852-4FE1-8305-F94E461D7A3A}"/>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21CF6FEF-2EA1-4674-91B7-BA61613641B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426E5ADE-1D9B-4946-9DCA-55964FBA2C46}"/>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E02A1E9-16D8-4C5E-AEA6-7CE155D9D225}"/>
              </a:ext>
            </a:extLst>
          </p:cNvPr>
          <p:cNvSpPr>
            <a:spLocks noGrp="1"/>
          </p:cNvSpPr>
          <p:nvPr>
            <p:ph type="dt" idx="10"/>
          </p:nvPr>
        </p:nvSpPr>
        <p:spPr/>
        <p:txBody>
          <a:bodyPr/>
          <a:lstStyle/>
          <a:p>
            <a:fld id="{BE840CD2-5E56-44C1-A1EF-E4FA14BF99E8}" type="datetime1">
              <a:t>2026. 10. 19.</a:t>
            </a:fld>
            <a:endParaRPr/>
          </a:p>
        </p:txBody>
      </p:sp>
      <p:sp>
        <p:nvSpPr>
          <p:cNvPr id="6" name="Footer Placeholder 5">
            <a:extLst>
              <a:ext uri="{FF2B5EF4-FFF2-40B4-BE49-F238E27FC236}">
                <a16:creationId xmlns:a16="http://schemas.microsoft.com/office/drawing/2014/main" id="{8B8EE1CF-8EFA-4D87-B592-27F4298CAEF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16762B3-ECAA-4354-83E0-1A9496DC23F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F37C-CDA9-4EA8-A11C-9AAE27AEED07}"/>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A496858-9A5F-4A0C-B53D-5243A8F7208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DF0CBD0-2095-4D01-B6BF-B7074F08A97C}"/>
              </a:ext>
            </a:extLst>
          </p:cNvPr>
          <p:cNvSpPr>
            <a:spLocks noGrp="1"/>
          </p:cNvSpPr>
          <p:nvPr>
            <p:ph type="dt" idx="10"/>
          </p:nvPr>
        </p:nvSpPr>
        <p:spPr/>
        <p:txBody>
          <a:bodyPr/>
          <a:lstStyle/>
          <a:p>
            <a:fld id="{0B0541CA-56D6-49C1-9EA6-589A66A6D619}" type="datetime1">
              <a:t>2026. 10. 19.</a:t>
            </a:fld>
            <a:endParaRPr/>
          </a:p>
        </p:txBody>
      </p:sp>
      <p:sp>
        <p:nvSpPr>
          <p:cNvPr id="5" name="Footer Placeholder 4">
            <a:extLst>
              <a:ext uri="{FF2B5EF4-FFF2-40B4-BE49-F238E27FC236}">
                <a16:creationId xmlns:a16="http://schemas.microsoft.com/office/drawing/2014/main" id="{951169DD-D5D7-4552-B6CC-14BE43C9477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CCD92DC-822C-4521-823E-EB1350FC209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E48549-09FA-4275-BE61-ABAB710AB7C2}"/>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1629F079-B194-44DB-A842-58776470F6F9}"/>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50B8989-763D-4784-B18E-2FDDDC82A71B}"/>
              </a:ext>
            </a:extLst>
          </p:cNvPr>
          <p:cNvSpPr>
            <a:spLocks noGrp="1"/>
          </p:cNvSpPr>
          <p:nvPr>
            <p:ph type="dt" idx="10"/>
          </p:nvPr>
        </p:nvSpPr>
        <p:spPr/>
        <p:txBody>
          <a:bodyPr/>
          <a:lstStyle/>
          <a:p>
            <a:fld id="{1B158F63-390B-4AA7-B117-B22D9F851814}" type="datetime1">
              <a:t>2026. 10. 19.</a:t>
            </a:fld>
            <a:endParaRPr/>
          </a:p>
        </p:txBody>
      </p:sp>
      <p:sp>
        <p:nvSpPr>
          <p:cNvPr id="5" name="Footer Placeholder 4">
            <a:extLst>
              <a:ext uri="{FF2B5EF4-FFF2-40B4-BE49-F238E27FC236}">
                <a16:creationId xmlns:a16="http://schemas.microsoft.com/office/drawing/2014/main" id="{852710DB-454F-4708-93D5-584EE37425F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567A04-0E12-4CF5-B83A-EF81D55C94B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7B83D8-1EDF-45EB-9387-03AF7B286E17}"/>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21E5533-203D-4067-B0DB-585AA2DACDA4}"/>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58CC50D-AF01-4040-8961-A75CE77E250E}"/>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8525D06-E58F-424F-8E85-775C648B2EFD}" type="datetime1">
              <a:t>2026. 10. 19.</a:t>
            </a:fld>
            <a:endParaRPr/>
          </a:p>
        </p:txBody>
      </p:sp>
      <p:sp>
        <p:nvSpPr>
          <p:cNvPr id="5" name="Footer Placeholder 4">
            <a:extLst>
              <a:ext uri="{FF2B5EF4-FFF2-40B4-BE49-F238E27FC236}">
                <a16:creationId xmlns:a16="http://schemas.microsoft.com/office/drawing/2014/main" id="{4BEBE8BA-7177-4756-A186-AD5C39F7B751}"/>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25A1DCEE-0A11-47EC-B9BE-7D88590759E5}"/>
              </a:ext>
            </a:extLst>
          </p:cNvPr>
          <p:cNvSpPr>
            <a:spLocks noGrp="1"/>
          </p:cNvSpPr>
          <p:nvPr>
            <p:ph type="sldNum" idx="4"/>
          </p:nvPr>
        </p:nvSpPr>
        <p:spPr>
          <a:xfrm>
            <a:off x="16002000" y="9791700"/>
            <a:ext cx="2133600" cy="365125"/>
          </a:xfrm>
          <a:prstGeom prst="rect">
            <a:avLst/>
          </a:prstGeom>
        </p:spPr>
        <p:txBody>
          <a:bodyPr vert="horz" lIns="91440" tIns="45720" rIns="91440" bIns="45720" anchor="ctr"/>
          <a:lstStyle>
            <a:lvl1pPr algn="r">
              <a:buNone/>
              <a:defRPr sz="1800" b="1">
                <a:solidFill>
                  <a:schemeClr val="bg1"/>
                </a:solidFill>
              </a:defRPr>
            </a:lvl1pPr>
          </a:lstStyle>
          <a:p>
            <a:fld id="{B6F15528-21DE-4FAA-801E-634DDDAF4B2B}" type="slidenum">
              <a:t>‹#›</a:t>
            </a:fld>
            <a:endParaRPr b="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3.svg"/><Relationship Id="rId7" Type="http://schemas.openxmlformats.org/officeDocument/2006/relationships/image" Target="../media/image20.pn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5.sv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2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4.jpg"/><Relationship Id="rId5" Type="http://schemas.openxmlformats.org/officeDocument/2006/relationships/image" Target="../media/image15.svg"/><Relationship Id="rId4" Type="http://schemas.openxmlformats.org/officeDocument/2006/relationships/image" Target="../media/image14.svg"/></Relationships>
</file>

<file path=ppt/slides/_rels/slide26.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13.svg"/><Relationship Id="rId7" Type="http://schemas.openxmlformats.org/officeDocument/2006/relationships/image" Target="../media/image26.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5.jpg"/><Relationship Id="rId11" Type="http://schemas.openxmlformats.org/officeDocument/2006/relationships/image" Target="../media/image30.jpg"/><Relationship Id="rId5" Type="http://schemas.openxmlformats.org/officeDocument/2006/relationships/image" Target="../media/image15.svg"/><Relationship Id="rId10" Type="http://schemas.openxmlformats.org/officeDocument/2006/relationships/image" Target="../media/image29.jpg"/><Relationship Id="rId4" Type="http://schemas.openxmlformats.org/officeDocument/2006/relationships/image" Target="../media/image14.svg"/><Relationship Id="rId9" Type="http://schemas.openxmlformats.org/officeDocument/2006/relationships/image" Target="../media/image28.jpg"/></Relationships>
</file>

<file path=ppt/slides/_rels/slide27.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image" Target="../media/image13.svg"/><Relationship Id="rId7" Type="http://schemas.openxmlformats.org/officeDocument/2006/relationships/image" Target="../media/image32.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31.jpg"/><Relationship Id="rId5" Type="http://schemas.openxmlformats.org/officeDocument/2006/relationships/image" Target="../media/image15.svg"/><Relationship Id="rId4" Type="http://schemas.openxmlformats.org/officeDocument/2006/relationships/image" Target="../media/image14.svg"/></Relationships>
</file>

<file path=ppt/slides/_rels/slide28.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13.svg"/><Relationship Id="rId7" Type="http://schemas.openxmlformats.org/officeDocument/2006/relationships/image" Target="../media/image35.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34.jp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37.jpg"/></Relationships>
</file>

<file path=ppt/slides/_rels/slide29.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13.svg"/><Relationship Id="rId7" Type="http://schemas.openxmlformats.org/officeDocument/2006/relationships/image" Target="../media/image39.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38.jpg"/><Relationship Id="rId5" Type="http://schemas.openxmlformats.org/officeDocument/2006/relationships/image" Target="../media/image15.svg"/><Relationship Id="rId4" Type="http://schemas.openxmlformats.org/officeDocument/2006/relationships/image" Target="../media/image14.svg"/></Relationships>
</file>

<file path=ppt/slides/_rels/slide30.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42.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41.jpg"/><Relationship Id="rId5" Type="http://schemas.openxmlformats.org/officeDocument/2006/relationships/image" Target="../media/image15.svg"/><Relationship Id="rId4" Type="http://schemas.openxmlformats.org/officeDocument/2006/relationships/image" Target="../media/image14.svg"/></Relationships>
</file>

<file path=ppt/slides/_rels/slide31.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44.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43.jpg"/><Relationship Id="rId5" Type="http://schemas.openxmlformats.org/officeDocument/2006/relationships/image" Target="../media/image15.svg"/><Relationship Id="rId4" Type="http://schemas.openxmlformats.org/officeDocument/2006/relationships/image" Target="../media/image14.svg"/></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46.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45.jpg"/><Relationship Id="rId5" Type="http://schemas.openxmlformats.org/officeDocument/2006/relationships/image" Target="../media/image15.svg"/><Relationship Id="rId4" Type="http://schemas.openxmlformats.org/officeDocument/2006/relationships/image" Target="../media/image14.svg"/></Relationships>
</file>

<file path=ppt/slides/_rels/slide33.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48.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47.jpg"/><Relationship Id="rId5" Type="http://schemas.openxmlformats.org/officeDocument/2006/relationships/image" Target="../media/image15.svg"/><Relationship Id="rId4" Type="http://schemas.openxmlformats.org/officeDocument/2006/relationships/image" Target="../media/image14.svg"/></Relationships>
</file>

<file path=ppt/slides/_rels/slide3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49.jpg"/><Relationship Id="rId5" Type="http://schemas.openxmlformats.org/officeDocument/2006/relationships/image" Target="../media/image15.svg"/><Relationship Id="rId4" Type="http://schemas.openxmlformats.org/officeDocument/2006/relationships/image" Target="../media/image14.svg"/></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50.jpg"/><Relationship Id="rId5" Type="http://schemas.openxmlformats.org/officeDocument/2006/relationships/image" Target="../media/image15.svg"/><Relationship Id="rId4" Type="http://schemas.openxmlformats.org/officeDocument/2006/relationships/image" Target="../media/image14.svg"/></Relationships>
</file>

<file path=ppt/slides/_rels/slide36.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52.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51.jpg"/><Relationship Id="rId5" Type="http://schemas.openxmlformats.org/officeDocument/2006/relationships/image" Target="../media/image15.svg"/><Relationship Id="rId4" Type="http://schemas.openxmlformats.org/officeDocument/2006/relationships/image" Target="../media/image14.svg"/></Relationships>
</file>

<file path=ppt/slides/_rels/slide37.xml.rels><?xml version="1.0" encoding="UTF-8" standalone="yes"?>
<Relationships xmlns="http://schemas.openxmlformats.org/package/2006/relationships"><Relationship Id="rId8" Type="http://schemas.openxmlformats.org/officeDocument/2006/relationships/image" Target="../media/image55.jpg"/><Relationship Id="rId3" Type="http://schemas.openxmlformats.org/officeDocument/2006/relationships/image" Target="../media/image13.svg"/><Relationship Id="rId7" Type="http://schemas.openxmlformats.org/officeDocument/2006/relationships/image" Target="../media/image54.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53.jp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56.jpg"/></Relationships>
</file>

<file path=ppt/slides/_rels/slide38.xml.rels><?xml version="1.0" encoding="UTF-8" standalone="yes"?>
<Relationships xmlns="http://schemas.openxmlformats.org/package/2006/relationships"><Relationship Id="rId8" Type="http://schemas.openxmlformats.org/officeDocument/2006/relationships/image" Target="../media/image59.jpg"/><Relationship Id="rId3" Type="http://schemas.openxmlformats.org/officeDocument/2006/relationships/image" Target="../media/image13.svg"/><Relationship Id="rId7" Type="http://schemas.openxmlformats.org/officeDocument/2006/relationships/image" Target="../media/image58.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57.jpg"/><Relationship Id="rId5" Type="http://schemas.openxmlformats.org/officeDocument/2006/relationships/image" Target="../media/image15.svg"/><Relationship Id="rId4" Type="http://schemas.openxmlformats.org/officeDocument/2006/relationships/image" Target="../media/image14.svg"/><Relationship Id="rId9" Type="http://schemas.openxmlformats.org/officeDocument/2006/relationships/image" Target="../media/image60.jpg"/></Relationships>
</file>

<file path=ppt/slides/_rels/slide3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61.jpg"/><Relationship Id="rId5" Type="http://schemas.openxmlformats.org/officeDocument/2006/relationships/image" Target="../media/image15.svg"/><Relationship Id="rId4" Type="http://schemas.openxmlformats.org/officeDocument/2006/relationships/image" Target="../media/image14.svg"/></Relationships>
</file>

<file path=ppt/slides/_rels/slide40.xml.rels><?xml version="1.0" encoding="UTF-8" standalone="yes"?>
<Relationships xmlns="http://schemas.openxmlformats.org/package/2006/relationships"><Relationship Id="rId8" Type="http://schemas.openxmlformats.org/officeDocument/2006/relationships/image" Target="../media/image64.jpg"/><Relationship Id="rId3" Type="http://schemas.openxmlformats.org/officeDocument/2006/relationships/image" Target="../media/image13.svg"/><Relationship Id="rId7" Type="http://schemas.openxmlformats.org/officeDocument/2006/relationships/image" Target="../media/image63.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62.jpg"/><Relationship Id="rId11" Type="http://schemas.openxmlformats.org/officeDocument/2006/relationships/image" Target="../media/image67.jpg"/><Relationship Id="rId5" Type="http://schemas.openxmlformats.org/officeDocument/2006/relationships/image" Target="../media/image15.svg"/><Relationship Id="rId10" Type="http://schemas.openxmlformats.org/officeDocument/2006/relationships/image" Target="../media/image66.jpg"/><Relationship Id="rId4" Type="http://schemas.openxmlformats.org/officeDocument/2006/relationships/image" Target="../media/image14.svg"/><Relationship Id="rId9" Type="http://schemas.openxmlformats.org/officeDocument/2006/relationships/image" Target="../media/image65.jpg"/></Relationships>
</file>

<file path=ppt/slides/_rels/slide41.xml.rels><?xml version="1.0" encoding="UTF-8" standalone="yes"?>
<Relationships xmlns="http://schemas.openxmlformats.org/package/2006/relationships"><Relationship Id="rId8" Type="http://schemas.openxmlformats.org/officeDocument/2006/relationships/image" Target="../media/image70.jpg"/><Relationship Id="rId3" Type="http://schemas.openxmlformats.org/officeDocument/2006/relationships/image" Target="../media/image13.svg"/><Relationship Id="rId7" Type="http://schemas.openxmlformats.org/officeDocument/2006/relationships/image" Target="../media/image69.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68.jpg"/><Relationship Id="rId11" Type="http://schemas.openxmlformats.org/officeDocument/2006/relationships/image" Target="../media/image73.jpg"/><Relationship Id="rId5" Type="http://schemas.openxmlformats.org/officeDocument/2006/relationships/image" Target="../media/image15.svg"/><Relationship Id="rId10" Type="http://schemas.openxmlformats.org/officeDocument/2006/relationships/image" Target="../media/image72.jpg"/><Relationship Id="rId4" Type="http://schemas.openxmlformats.org/officeDocument/2006/relationships/image" Target="../media/image14.svg"/><Relationship Id="rId9" Type="http://schemas.openxmlformats.org/officeDocument/2006/relationships/image" Target="../media/image71.jpg"/></Relationships>
</file>

<file path=ppt/slides/_rels/slide42.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75.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74.jpg"/><Relationship Id="rId5" Type="http://schemas.openxmlformats.org/officeDocument/2006/relationships/image" Target="../media/image15.svg"/><Relationship Id="rId4" Type="http://schemas.openxmlformats.org/officeDocument/2006/relationships/image" Target="../media/image14.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4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4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4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77.jp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76.jpg"/><Relationship Id="rId5" Type="http://schemas.openxmlformats.org/officeDocument/2006/relationships/image" Target="../media/image15.svg"/><Relationship Id="rId4" Type="http://schemas.openxmlformats.org/officeDocument/2006/relationships/image" Target="../media/image14.svg"/></Relationships>
</file>

<file path=ppt/slides/_rels/slide4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5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5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32" name="Picture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0" y="-2324100"/>
            <a:ext cx="18326100" cy="11264900"/>
          </a:xfrm>
          <a:prstGeom prst="rect">
            <a:avLst/>
          </a:prstGeom>
        </p:spPr>
      </p:pic>
      <p:pic>
        <p:nvPicPr>
          <p:cNvPr id="5033" name="Pictur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215900"/>
          </a:xfrm>
          <a:prstGeom prst="rect">
            <a:avLst/>
          </a:prstGeom>
        </p:spPr>
      </p:pic>
      <p:pic>
        <p:nvPicPr>
          <p:cNvPr id="5034" name="Picture 4"/>
          <p:cNvPicPr>
            <a:picLocks noChangeAspect="1"/>
          </p:cNvPicPr>
          <p:nvPr/>
        </p:nvPicPr>
        <p:blipFill>
          <a:blip>
            <a:alphaModFix amt="15000"/>
            <a:extLst>
              <a:ext uri="{96DAC541-7B7A-43D3-8B79-37D633B846F1}">
                <asvg:svgBlip xmlns:asvg="http://schemas.microsoft.com/office/drawing/2016/SVG/main" r:embed="rId4"/>
              </a:ext>
            </a:extLst>
          </a:blip>
          <a:stretch>
            <a:fillRect/>
          </a:stretch>
        </p:blipFill>
        <p:spPr>
          <a:xfrm>
            <a:off x="7353300" y="7645400"/>
            <a:ext cx="8470900" cy="1358900"/>
          </a:xfrm>
          <a:prstGeom prst="rect">
            <a:avLst/>
          </a:prstGeom>
        </p:spPr>
      </p:pic>
      <p:pic>
        <p:nvPicPr>
          <p:cNvPr id="5035" name="Picture 5"/>
          <p:cNvPicPr>
            <a:picLocks noChangeAspect="1"/>
          </p:cNvPicPr>
          <p:nvPr/>
        </p:nvPicPr>
        <p:blipFill>
          <a:blip>
            <a:alphaModFix amt="15000"/>
            <a:extLst>
              <a:ext uri="{96DAC541-7B7A-43D3-8B79-37D633B846F1}">
                <asvg:svgBlip xmlns:asvg="http://schemas.microsoft.com/office/drawing/2016/SVG/main" r:embed="rId5"/>
              </a:ext>
            </a:extLst>
          </a:blip>
          <a:stretch>
            <a:fillRect/>
          </a:stretch>
        </p:blipFill>
        <p:spPr>
          <a:xfrm>
            <a:off x="165100" y="7645400"/>
            <a:ext cx="8470900" cy="1358900"/>
          </a:xfrm>
          <a:prstGeom prst="rect">
            <a:avLst/>
          </a:prstGeom>
        </p:spPr>
      </p:pic>
      <p:pic>
        <p:nvPicPr>
          <p:cNvPr id="5036" name="Picture 8"/>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700" y="8940800"/>
            <a:ext cx="18313400" cy="1358900"/>
          </a:xfrm>
          <a:prstGeom prst="rect">
            <a:avLst/>
          </a:prstGeom>
        </p:spPr>
      </p:pic>
      <p:pic>
        <p:nvPicPr>
          <p:cNvPr id="5037" name="Picture 9"/>
          <p:cNvPicPr>
            <a:picLocks noChangeAspect="1"/>
          </p:cNvPicPr>
          <p:nvPr/>
        </p:nvPicPr>
        <p:blipFill>
          <a:blip>
            <a:alphaModFix amt="20000"/>
            <a:extLst>
              <a:ext uri="{96DAC541-7B7A-43D3-8B79-37D633B846F1}">
                <asvg:svgBlip xmlns:asvg="http://schemas.microsoft.com/office/drawing/2016/SVG/main" r:embed="rId7"/>
              </a:ext>
            </a:extLst>
          </a:blip>
          <a:stretch>
            <a:fillRect/>
          </a:stretch>
        </p:blipFill>
        <p:spPr>
          <a:xfrm>
            <a:off x="11049000" y="3759200"/>
            <a:ext cx="304800" cy="304800"/>
          </a:xfrm>
          <a:prstGeom prst="rect">
            <a:avLst/>
          </a:prstGeom>
        </p:spPr>
      </p:pic>
      <p:pic>
        <p:nvPicPr>
          <p:cNvPr id="5038" name="Picture 10"/>
          <p:cNvPicPr>
            <a:picLocks noChangeAspect="1"/>
          </p:cNvPicPr>
          <p:nvPr/>
        </p:nvPicPr>
        <p:blipFill>
          <a:blip>
            <a:alphaModFix amt="20000"/>
            <a:extLst>
              <a:ext uri="{96DAC541-7B7A-43D3-8B79-37D633B846F1}">
                <asvg:svgBlip xmlns:asvg="http://schemas.microsoft.com/office/drawing/2016/SVG/main" r:embed="rId8"/>
              </a:ext>
            </a:extLst>
          </a:blip>
          <a:stretch>
            <a:fillRect/>
          </a:stretch>
        </p:blipFill>
        <p:spPr>
          <a:xfrm>
            <a:off x="16090900" y="3098800"/>
            <a:ext cx="812800" cy="939800"/>
          </a:xfrm>
          <a:prstGeom prst="rect">
            <a:avLst/>
          </a:prstGeom>
        </p:spPr>
      </p:pic>
      <p:pic>
        <p:nvPicPr>
          <p:cNvPr id="5039" name="Picture 11"/>
          <p:cNvPicPr>
            <a:picLocks noChangeAspect="1"/>
          </p:cNvPicPr>
          <p:nvPr/>
        </p:nvPicPr>
        <p:blipFill>
          <a:blip>
            <a:alphaModFix amt="20000"/>
            <a:extLst>
              <a:ext uri="{96DAC541-7B7A-43D3-8B79-37D633B846F1}">
                <asvg:svgBlip xmlns:asvg="http://schemas.microsoft.com/office/drawing/2016/SVG/main" r:embed="rId9"/>
              </a:ext>
            </a:extLst>
          </a:blip>
          <a:stretch>
            <a:fillRect/>
          </a:stretch>
        </p:blipFill>
        <p:spPr>
          <a:xfrm>
            <a:off x="11188700" y="2120900"/>
            <a:ext cx="190500" cy="190500"/>
          </a:xfrm>
          <a:prstGeom prst="rect">
            <a:avLst/>
          </a:prstGeom>
        </p:spPr>
      </p:pic>
      <p:pic>
        <p:nvPicPr>
          <p:cNvPr id="5040" name="Picture 12"/>
          <p:cNvPicPr>
            <a:picLocks noChangeAspect="1"/>
          </p:cNvPicPr>
          <p:nvPr/>
        </p:nvPicPr>
        <p:blipFill>
          <a:blip>
            <a:alphaModFix amt="20000"/>
            <a:extLst>
              <a:ext uri="{96DAC541-7B7A-43D3-8B79-37D633B846F1}">
                <asvg:svgBlip xmlns:asvg="http://schemas.microsoft.com/office/drawing/2016/SVG/main" r:embed="rId10"/>
              </a:ext>
            </a:extLst>
          </a:blip>
          <a:stretch>
            <a:fillRect/>
          </a:stretch>
        </p:blipFill>
        <p:spPr>
          <a:xfrm>
            <a:off x="16014700" y="1917700"/>
            <a:ext cx="228600" cy="228600"/>
          </a:xfrm>
          <a:prstGeom prst="rect">
            <a:avLst/>
          </a:prstGeom>
        </p:spPr>
      </p:pic>
      <p:pic>
        <p:nvPicPr>
          <p:cNvPr id="5041" name="Picture 13"/>
          <p:cNvPicPr>
            <a:picLocks noChangeAspect="1"/>
          </p:cNvPicPr>
          <p:nvPr/>
        </p:nvPicPr>
        <p:blipFill>
          <a:blip>
            <a:alphaModFix amt="20000"/>
            <a:extLst>
              <a:ext uri="{96DAC541-7B7A-43D3-8B79-37D633B846F1}">
                <asvg:svgBlip xmlns:asvg="http://schemas.microsoft.com/office/drawing/2016/SVG/main" r:embed="rId11"/>
              </a:ext>
            </a:extLst>
          </a:blip>
          <a:stretch>
            <a:fillRect/>
          </a:stretch>
        </p:blipFill>
        <p:spPr>
          <a:xfrm rot="2700000">
            <a:off x="13487400" y="1612900"/>
            <a:ext cx="266700" cy="266700"/>
          </a:xfrm>
          <a:prstGeom prst="rect">
            <a:avLst/>
          </a:prstGeom>
        </p:spPr>
      </p:pic>
      <p:pic>
        <p:nvPicPr>
          <p:cNvPr id="5042" name="그림 13"/>
          <p:cNvPicPr>
            <a:picLocks noChangeAspect="1"/>
          </p:cNvPicPr>
          <p:nvPr/>
        </p:nvPicPr>
        <p:blipFill>
          <a:blip r:embed="rId12"/>
          <a:stretch>
            <a:fillRect/>
          </a:stretch>
        </p:blipFill>
        <p:spPr>
          <a:xfrm>
            <a:off x="17068800" y="393647"/>
            <a:ext cx="1016053" cy="1016053"/>
          </a:xfrm>
          <a:prstGeom prst="rect">
            <a:avLst/>
          </a:prstGeom>
        </p:spPr>
      </p:pic>
      <p:sp>
        <p:nvSpPr>
          <p:cNvPr id="5012" name="Text 2">
            <a:extLst>
              <a:ext uri="{FF2B5EF4-FFF2-40B4-BE49-F238E27FC236}">
                <a16:creationId xmlns:a16="http://schemas.microsoft.com/office/drawing/2014/main" id="{248666E2-7712-8001-9DD7-F072F760F5BA}"/>
              </a:ext>
            </a:extLst>
          </p:cNvPr>
          <p:cNvSpPr>
            <a:spLocks noGrp="1"/>
          </p:cNvSpPr>
          <p:nvPr/>
        </p:nvSpPr>
        <p:spPr>
          <a:xfrm>
            <a:off x="11430000" y="779727"/>
            <a:ext cx="5441320" cy="363220"/>
          </a:xfrm>
          <a:prstGeom prst="rect">
            <a:avLst/>
          </a:prstGeom>
          <a:noFill/>
        </p:spPr>
        <p:txBody>
          <a:bodyPr wrap="square" lIns="0" tIns="0" rIns="0" bIns="0" anchor="ctr"/>
          <a:lstStyle/>
          <a:p>
            <a:pPr algn="r">
              <a:buNone/>
            </a:pPr>
            <a:r>
              <a:rPr sz="2200" spc="100">
                <a:solidFill>
                  <a:srgbClr val="6B7280"/>
                </a:solidFill>
                <a:latin typeface="Malgun Gothic"/>
                <a:ea typeface="Malgun Gothic"/>
                <a:cs typeface="Malgun Gothic"/>
              </a:rPr>
              <a:t>WILDFIRE RESPONSE AI</a:t>
            </a:r>
            <a:endParaRPr sz="2200"/>
          </a:p>
        </p:txBody>
      </p:sp>
      <p:sp>
        <p:nvSpPr>
          <p:cNvPr id="5013" name="TextBox 5012">
            <a:extLst>
              <a:ext uri="{FF2B5EF4-FFF2-40B4-BE49-F238E27FC236}">
                <a16:creationId xmlns:a16="http://schemas.microsoft.com/office/drawing/2014/main" id="{2927E57B-BC3B-42D9-A81A-42142CF34D29}"/>
              </a:ext>
            </a:extLst>
          </p:cNvPr>
          <p:cNvSpPr>
            <a:spLocks noGrp="1"/>
          </p:cNvSpPr>
          <p:nvPr/>
        </p:nvSpPr>
        <p:spPr>
          <a:xfrm>
            <a:off x="1892807" y="2057400"/>
            <a:ext cx="8686800" cy="658368"/>
          </a:xfrm>
          <a:prstGeom prst="rect">
            <a:avLst/>
          </a:prstGeom>
          <a:noFill/>
        </p:spPr>
        <p:txBody>
          <a:bodyPr wrap="square" lIns="0" tIns="0" rIns="0" bIns="0" anchor="t">
            <a:spAutoFit/>
          </a:bodyPr>
          <a:lstStyle/>
          <a:p>
            <a:pPr algn="l">
              <a:buNone/>
            </a:pPr>
            <a:r>
              <a:rPr sz="3600" b="0">
                <a:solidFill>
                  <a:srgbClr val="FAA95A"/>
                </a:solidFill>
                <a:latin typeface="210 OmniGothic 040"/>
                <a:ea typeface="210 OmniGothic 040"/>
                <a:cs typeface="210 OmniGothic 040"/>
              </a:rPr>
              <a:t>프로토타입 보고서</a:t>
            </a:r>
          </a:p>
        </p:txBody>
      </p:sp>
      <p:sp>
        <p:nvSpPr>
          <p:cNvPr id="5014" name="TextBox 5013">
            <a:extLst>
              <a:ext uri="{FF2B5EF4-FFF2-40B4-BE49-F238E27FC236}">
                <a16:creationId xmlns:a16="http://schemas.microsoft.com/office/drawing/2014/main" id="{C94447D1-CE54-4CB5-8FE4-1C6431530A31}"/>
              </a:ext>
            </a:extLst>
          </p:cNvPr>
          <p:cNvSpPr>
            <a:spLocks noGrp="1"/>
          </p:cNvSpPr>
          <p:nvPr/>
        </p:nvSpPr>
        <p:spPr>
          <a:xfrm>
            <a:off x="1691640" y="2697480"/>
            <a:ext cx="9144000" cy="1554480"/>
          </a:xfrm>
          <a:prstGeom prst="rect">
            <a:avLst/>
          </a:prstGeom>
          <a:noFill/>
        </p:spPr>
        <p:txBody>
          <a:bodyPr wrap="square" lIns="0" tIns="0" rIns="0" bIns="0" anchor="t">
            <a:spAutoFit/>
          </a:bodyPr>
          <a:lstStyle/>
          <a:p>
            <a:pPr algn="l">
              <a:buNone/>
            </a:pPr>
            <a:r>
              <a:rPr sz="9600" b="0">
                <a:solidFill>
                  <a:srgbClr val="363A52"/>
                </a:solidFill>
                <a:latin typeface="210 OmniGothic 050"/>
                <a:ea typeface="210 OmniGothic 050"/>
                <a:cs typeface="210 OmniGothic 050"/>
              </a:rPr>
              <a:t>산불 대응 AI</a:t>
            </a:r>
          </a:p>
        </p:txBody>
      </p:sp>
      <p:sp>
        <p:nvSpPr>
          <p:cNvPr id="5015" name="TextBox 5014">
            <a:extLst>
              <a:ext uri="{FF2B5EF4-FFF2-40B4-BE49-F238E27FC236}">
                <a16:creationId xmlns:a16="http://schemas.microsoft.com/office/drawing/2014/main" id="{88ACEC01-A0EE-4AA8-808E-A5E3E4BB33BC}"/>
              </a:ext>
            </a:extLst>
          </p:cNvPr>
          <p:cNvSpPr>
            <a:spLocks noGrp="1"/>
          </p:cNvSpPr>
          <p:nvPr/>
        </p:nvSpPr>
        <p:spPr>
          <a:xfrm>
            <a:off x="1874519" y="4224528"/>
            <a:ext cx="9601200" cy="548640"/>
          </a:xfrm>
          <a:prstGeom prst="rect">
            <a:avLst/>
          </a:prstGeom>
          <a:noFill/>
        </p:spPr>
        <p:txBody>
          <a:bodyPr wrap="square" lIns="0" tIns="0" rIns="0" bIns="0" anchor="t">
            <a:spAutoFit/>
          </a:bodyPr>
          <a:lstStyle/>
          <a:p>
            <a:pPr algn="l">
              <a:buNone/>
            </a:pPr>
            <a:r>
              <a:rPr sz="3000" b="1">
                <a:solidFill>
                  <a:srgbClr val="363A52"/>
                </a:solidFill>
                <a:latin typeface="210 OmniGothic 040"/>
                <a:ea typeface="210 OmniGothic 040"/>
                <a:cs typeface="210 OmniGothic 040"/>
              </a:rPr>
              <a:t>의사결정 지원 시스템</a:t>
            </a:r>
          </a:p>
        </p:txBody>
      </p:sp>
      <p:sp>
        <p:nvSpPr>
          <p:cNvPr id="5016" name="TextBox 5015">
            <a:extLst>
              <a:ext uri="{FF2B5EF4-FFF2-40B4-BE49-F238E27FC236}">
                <a16:creationId xmlns:a16="http://schemas.microsoft.com/office/drawing/2014/main" id="{0FAAB1E6-72C1-4F8E-B5B7-0B1870A7BEA7}"/>
              </a:ext>
            </a:extLst>
          </p:cNvPr>
          <p:cNvSpPr>
            <a:spLocks noGrp="1"/>
          </p:cNvSpPr>
          <p:nvPr/>
        </p:nvSpPr>
        <p:spPr>
          <a:xfrm>
            <a:off x="1874519" y="4754880"/>
            <a:ext cx="10058400" cy="457200"/>
          </a:xfrm>
          <a:prstGeom prst="rect">
            <a:avLst/>
          </a:prstGeom>
          <a:noFill/>
        </p:spPr>
        <p:txBody>
          <a:bodyPr wrap="square" lIns="0" tIns="0" rIns="0" bIns="0" anchor="t">
            <a:spAutoFit/>
          </a:bodyPr>
          <a:lstStyle/>
          <a:p>
            <a:pPr algn="l">
              <a:buNone/>
            </a:pPr>
            <a:r>
              <a:rPr sz="2000" b="0">
                <a:solidFill>
                  <a:srgbClr val="363A52"/>
                </a:solidFill>
                <a:latin typeface="210 OmniGothic 030"/>
                <a:ea typeface="210 OmniGothic 030"/>
                <a:cs typeface="210 OmniGothic 030"/>
              </a:rPr>
              <a:t>산불 확산 예측과 표준매뉴얼 근거 기반 진화·대피 대응 제안</a:t>
            </a:r>
          </a:p>
        </p:txBody>
      </p:sp>
      <p:sp>
        <p:nvSpPr>
          <p:cNvPr id="5017" name="TextBox 5016">
            <a:extLst>
              <a:ext uri="{FF2B5EF4-FFF2-40B4-BE49-F238E27FC236}">
                <a16:creationId xmlns:a16="http://schemas.microsoft.com/office/drawing/2014/main" id="{1E0F0DCB-F6A3-488C-A63A-C14C23862CA3}"/>
              </a:ext>
            </a:extLst>
          </p:cNvPr>
          <p:cNvSpPr>
            <a:spLocks noGrp="1"/>
          </p:cNvSpPr>
          <p:nvPr/>
        </p:nvSpPr>
        <p:spPr>
          <a:xfrm>
            <a:off x="1865376" y="5596128"/>
            <a:ext cx="8229600" cy="484632"/>
          </a:xfrm>
          <a:prstGeom prst="rect">
            <a:avLst/>
          </a:prstGeom>
          <a:noFill/>
        </p:spPr>
        <p:txBody>
          <a:bodyPr wrap="square" lIns="0" tIns="0" rIns="0" bIns="0" anchor="t">
            <a:spAutoFit/>
          </a:bodyPr>
          <a:lstStyle/>
          <a:p>
            <a:pPr algn="l">
              <a:buNone/>
            </a:pPr>
            <a:r>
              <a:rPr sz="2600" b="0">
                <a:solidFill>
                  <a:srgbClr val="363A52"/>
                </a:solidFill>
                <a:latin typeface="210 OmniGothic 030"/>
                <a:ea typeface="210 OmniGothic 030"/>
                <a:cs typeface="210 OmniGothic 030"/>
              </a:rPr>
              <a:t>5조 산불조심하조</a:t>
            </a:r>
          </a:p>
        </p:txBody>
      </p:sp>
      <p:sp>
        <p:nvSpPr>
          <p:cNvPr id="5018" name="TextBox 5017">
            <a:extLst>
              <a:ext uri="{FF2B5EF4-FFF2-40B4-BE49-F238E27FC236}">
                <a16:creationId xmlns:a16="http://schemas.microsoft.com/office/drawing/2014/main" id="{C3E6116A-3F88-490C-B3DF-8F3EB7963E23}"/>
              </a:ext>
            </a:extLst>
          </p:cNvPr>
          <p:cNvSpPr>
            <a:spLocks noGrp="1"/>
          </p:cNvSpPr>
          <p:nvPr/>
        </p:nvSpPr>
        <p:spPr>
          <a:xfrm>
            <a:off x="1865376" y="6108192"/>
            <a:ext cx="10058400" cy="384048"/>
          </a:xfrm>
          <a:prstGeom prst="rect">
            <a:avLst/>
          </a:prstGeom>
          <a:noFill/>
        </p:spPr>
        <p:txBody>
          <a:bodyPr wrap="square" lIns="0" tIns="0" rIns="0" bIns="0" anchor="t">
            <a:spAutoFit/>
          </a:bodyPr>
          <a:lstStyle/>
          <a:p>
            <a:pPr algn="l">
              <a:buNone/>
            </a:pPr>
            <a:r>
              <a:rPr sz="2000" b="0">
                <a:solidFill>
                  <a:srgbClr val="363A52"/>
                </a:solidFill>
                <a:latin typeface="210 OmniGothic 030"/>
                <a:ea typeface="210 OmniGothic 030"/>
                <a:cs typeface="210 OmniGothic 030"/>
              </a:rPr>
              <a:t>황승준(팀장) 김지오 홍준서 임성민</a:t>
            </a:r>
          </a:p>
        </p:txBody>
      </p:sp>
      <p:sp>
        <p:nvSpPr>
          <p:cNvPr id="5019" name="TextBox 5018">
            <a:extLst>
              <a:ext uri="{FF2B5EF4-FFF2-40B4-BE49-F238E27FC236}">
                <a16:creationId xmlns:a16="http://schemas.microsoft.com/office/drawing/2014/main" id="{96D0C81D-8A5C-46DE-8F0A-1FE0DBCF673D}"/>
              </a:ext>
            </a:extLst>
          </p:cNvPr>
          <p:cNvSpPr>
            <a:spLocks noGrp="1"/>
          </p:cNvSpPr>
          <p:nvPr/>
        </p:nvSpPr>
        <p:spPr>
          <a:xfrm>
            <a:off x="1865376" y="6510528"/>
            <a:ext cx="10972800" cy="384048"/>
          </a:xfrm>
          <a:prstGeom prst="rect">
            <a:avLst/>
          </a:prstGeom>
          <a:noFill/>
        </p:spPr>
        <p:txBody>
          <a:bodyPr wrap="square" lIns="0" tIns="0" rIns="0" bIns="0" anchor="t">
            <a:spAutoFit/>
          </a:bodyPr>
          <a:lstStyle/>
          <a:p>
            <a:pPr algn="l">
              <a:buNone/>
            </a:pPr>
            <a:r>
              <a:rPr sz="1600" b="0">
                <a:solidFill>
                  <a:srgbClr val="6B7080"/>
                </a:solidFill>
                <a:latin typeface="210 OmniGothic 030"/>
                <a:ea typeface="210 OmniGothic 030"/>
                <a:cs typeface="210 OmniGothic 030"/>
              </a:rPr>
              <a:t>세종대학교 컴퓨터공학과 · 2026학년도 2학기 캡스톤디자인 · 지도 교수 권기학 교수, 문현준 교수</a:t>
            </a:r>
          </a:p>
        </p:txBody>
      </p:sp>
      <p:sp>
        <p:nvSpPr>
          <p:cNvPr id="5020" name="TextBox 5019">
            <a:extLst>
              <a:ext uri="{FF2B5EF4-FFF2-40B4-BE49-F238E27FC236}">
                <a16:creationId xmlns:a16="http://schemas.microsoft.com/office/drawing/2014/main" id="{451E863D-3BBA-44E5-980D-3C117B9053DA}"/>
              </a:ext>
            </a:extLst>
          </p:cNvPr>
          <p:cNvSpPr>
            <a:spLocks noGrp="1"/>
          </p:cNvSpPr>
          <p:nvPr/>
        </p:nvSpPr>
        <p:spPr>
          <a:xfrm>
            <a:off x="128016" y="9756648"/>
            <a:ext cx="1828800" cy="215444"/>
          </a:xfrm>
          <a:prstGeom prst="rect">
            <a:avLst/>
          </a:prstGeom>
          <a:noFill/>
        </p:spPr>
        <p:txBody>
          <a:bodyPr wrap="square" lIns="0" tIns="0" rIns="0" bIns="0" anchor="t">
            <a:spAutoFit/>
          </a:bodyPr>
          <a:lstStyle/>
          <a:p>
            <a:pPr algn="l">
              <a:buNone/>
            </a:pPr>
            <a:r>
              <a:rPr sz="1400" b="1" dirty="0">
                <a:solidFill>
                  <a:srgbClr val="FFFFFF"/>
                </a:solidFill>
                <a:latin typeface="210 OmniGothic 040"/>
                <a:ea typeface="210 OmniGothic 040"/>
                <a:cs typeface="210 OmniGothic 040"/>
              </a:rPr>
              <a:t>2026.10.16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43" name="Picture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44" name="Picture 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45" name="Picture 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46" name="Picture 3"/>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17" name="TextBox 5016">
            <a:extLst>
              <a:ext uri="{FF2B5EF4-FFF2-40B4-BE49-F238E27FC236}">
                <a16:creationId xmlns:a16="http://schemas.microsoft.com/office/drawing/2014/main" id="{C85F8ABA-F59C-4AE4-B132-671B0E3B2099}"/>
              </a:ext>
            </a:extLst>
          </p:cNvPr>
          <p:cNvSpPr>
            <a:spLocks noGrp="1"/>
          </p:cNvSpPr>
          <p:nvPr/>
        </p:nvSpPr>
        <p:spPr>
          <a:xfrm>
            <a:off x="822960" y="384048"/>
            <a:ext cx="7315200" cy="877824"/>
          </a:xfrm>
          <a:prstGeom prst="rect">
            <a:avLst/>
          </a:prstGeom>
          <a:noFill/>
        </p:spPr>
        <p:txBody>
          <a:bodyPr wrap="square" lIns="0" tIns="0" rIns="0" bIns="0" anchor="ctr">
            <a:spAutoFit/>
          </a:bodyPr>
          <a:lstStyle/>
          <a:p>
            <a:pPr algn="l">
              <a:buNone/>
            </a:pPr>
            <a:r>
              <a:rPr sz="4800" b="0">
                <a:solidFill>
                  <a:srgbClr val="FAA95A"/>
                </a:solidFill>
                <a:latin typeface="210 OmniGothic 050"/>
                <a:ea typeface="210 OmniGothic 050"/>
                <a:cs typeface="210 OmniGothic 050"/>
              </a:rPr>
              <a:t>목차</a:t>
            </a:r>
          </a:p>
        </p:txBody>
      </p:sp>
      <p:sp>
        <p:nvSpPr>
          <p:cNvPr id="5018" name="TextBox 5017">
            <a:extLst>
              <a:ext uri="{FF2B5EF4-FFF2-40B4-BE49-F238E27FC236}">
                <a16:creationId xmlns:a16="http://schemas.microsoft.com/office/drawing/2014/main" id="{FDD0ED70-7E54-4181-88A1-D292EBFC365D}"/>
              </a:ext>
            </a:extLst>
          </p:cNvPr>
          <p:cNvSpPr>
            <a:spLocks noGrp="1"/>
          </p:cNvSpPr>
          <p:nvPr/>
        </p:nvSpPr>
        <p:spPr>
          <a:xfrm>
            <a:off x="2194560" y="347472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01</a:t>
            </a:r>
          </a:p>
        </p:txBody>
      </p:sp>
      <p:sp>
        <p:nvSpPr>
          <p:cNvPr id="5019" name="TextBox 5018">
            <a:extLst>
              <a:ext uri="{FF2B5EF4-FFF2-40B4-BE49-F238E27FC236}">
                <a16:creationId xmlns:a16="http://schemas.microsoft.com/office/drawing/2014/main" id="{245A6D84-18F9-4E89-8EC7-4E1987B84879}"/>
              </a:ext>
            </a:extLst>
          </p:cNvPr>
          <p:cNvSpPr>
            <a:spLocks noGrp="1"/>
          </p:cNvSpPr>
          <p:nvPr/>
        </p:nvSpPr>
        <p:spPr>
          <a:xfrm>
            <a:off x="3246120" y="347472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프로젝트 개요 및 목표</a:t>
            </a:r>
          </a:p>
        </p:txBody>
      </p:sp>
      <p:sp>
        <p:nvSpPr>
          <p:cNvPr id="5020" name="Rectangle 5019">
            <a:extLst>
              <a:ext uri="{FF2B5EF4-FFF2-40B4-BE49-F238E27FC236}">
                <a16:creationId xmlns:a16="http://schemas.microsoft.com/office/drawing/2014/main" id="{CDF006FC-B684-4F46-88EF-201A38BB4E8B}"/>
              </a:ext>
            </a:extLst>
          </p:cNvPr>
          <p:cNvSpPr>
            <a:spLocks noGrp="1"/>
          </p:cNvSpPr>
          <p:nvPr/>
        </p:nvSpPr>
        <p:spPr>
          <a:xfrm>
            <a:off x="2194560" y="4224527"/>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21" name="TextBox 5020">
            <a:extLst>
              <a:ext uri="{FF2B5EF4-FFF2-40B4-BE49-F238E27FC236}">
                <a16:creationId xmlns:a16="http://schemas.microsoft.com/office/drawing/2014/main" id="{C6E3A1CE-9D43-4267-BC27-229F3F5E36E7}"/>
              </a:ext>
            </a:extLst>
          </p:cNvPr>
          <p:cNvSpPr>
            <a:spLocks noGrp="1"/>
          </p:cNvSpPr>
          <p:nvPr/>
        </p:nvSpPr>
        <p:spPr>
          <a:xfrm>
            <a:off x="9692640" y="347472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02</a:t>
            </a:r>
          </a:p>
        </p:txBody>
      </p:sp>
      <p:sp>
        <p:nvSpPr>
          <p:cNvPr id="5022" name="TextBox 5021">
            <a:extLst>
              <a:ext uri="{FF2B5EF4-FFF2-40B4-BE49-F238E27FC236}">
                <a16:creationId xmlns:a16="http://schemas.microsoft.com/office/drawing/2014/main" id="{AA3227B1-F90E-47FF-BD96-423FFD0BD493}"/>
              </a:ext>
            </a:extLst>
          </p:cNvPr>
          <p:cNvSpPr>
            <a:spLocks noGrp="1"/>
          </p:cNvSpPr>
          <p:nvPr/>
        </p:nvSpPr>
        <p:spPr>
          <a:xfrm>
            <a:off x="10744200" y="347472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역할별 주요 기능</a:t>
            </a:r>
          </a:p>
        </p:txBody>
      </p:sp>
      <p:sp>
        <p:nvSpPr>
          <p:cNvPr id="5023" name="Rectangle 5022">
            <a:extLst>
              <a:ext uri="{FF2B5EF4-FFF2-40B4-BE49-F238E27FC236}">
                <a16:creationId xmlns:a16="http://schemas.microsoft.com/office/drawing/2014/main" id="{B62EAA4F-3801-43F3-90E8-96D72CFF0C25}"/>
              </a:ext>
            </a:extLst>
          </p:cNvPr>
          <p:cNvSpPr>
            <a:spLocks noGrp="1"/>
          </p:cNvSpPr>
          <p:nvPr/>
        </p:nvSpPr>
        <p:spPr>
          <a:xfrm>
            <a:off x="9692640" y="4224527"/>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24" name="TextBox 5023">
            <a:extLst>
              <a:ext uri="{FF2B5EF4-FFF2-40B4-BE49-F238E27FC236}">
                <a16:creationId xmlns:a16="http://schemas.microsoft.com/office/drawing/2014/main" id="{0DF4FA58-C28D-4EDF-A452-9A4537F51DDA}"/>
              </a:ext>
            </a:extLst>
          </p:cNvPr>
          <p:cNvSpPr>
            <a:spLocks noGrp="1"/>
          </p:cNvSpPr>
          <p:nvPr/>
        </p:nvSpPr>
        <p:spPr>
          <a:xfrm>
            <a:off x="2194560" y="489204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03</a:t>
            </a:r>
          </a:p>
        </p:txBody>
      </p:sp>
      <p:sp>
        <p:nvSpPr>
          <p:cNvPr id="5025" name="TextBox 5024">
            <a:extLst>
              <a:ext uri="{FF2B5EF4-FFF2-40B4-BE49-F238E27FC236}">
                <a16:creationId xmlns:a16="http://schemas.microsoft.com/office/drawing/2014/main" id="{2AA1F869-38D6-4CE6-B176-6F7A612B735A}"/>
              </a:ext>
            </a:extLst>
          </p:cNvPr>
          <p:cNvSpPr>
            <a:spLocks noGrp="1"/>
          </p:cNvSpPr>
          <p:nvPr/>
        </p:nvSpPr>
        <p:spPr>
          <a:xfrm>
            <a:off x="3246120" y="489204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요구사항 분석</a:t>
            </a:r>
          </a:p>
        </p:txBody>
      </p:sp>
      <p:sp>
        <p:nvSpPr>
          <p:cNvPr id="5026" name="Rectangle 5025">
            <a:extLst>
              <a:ext uri="{FF2B5EF4-FFF2-40B4-BE49-F238E27FC236}">
                <a16:creationId xmlns:a16="http://schemas.microsoft.com/office/drawing/2014/main" id="{989D7871-9DD0-44DE-ABFF-FA32F506493F}"/>
              </a:ext>
            </a:extLst>
          </p:cNvPr>
          <p:cNvSpPr>
            <a:spLocks noGrp="1"/>
          </p:cNvSpPr>
          <p:nvPr/>
        </p:nvSpPr>
        <p:spPr>
          <a:xfrm>
            <a:off x="2194560" y="564184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27" name="TextBox 5026">
            <a:extLst>
              <a:ext uri="{FF2B5EF4-FFF2-40B4-BE49-F238E27FC236}">
                <a16:creationId xmlns:a16="http://schemas.microsoft.com/office/drawing/2014/main" id="{9BBE15DC-E1CB-47C5-A443-C6855FFC53B6}"/>
              </a:ext>
            </a:extLst>
          </p:cNvPr>
          <p:cNvSpPr>
            <a:spLocks noGrp="1"/>
          </p:cNvSpPr>
          <p:nvPr/>
        </p:nvSpPr>
        <p:spPr>
          <a:xfrm>
            <a:off x="9692640" y="489204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04</a:t>
            </a:r>
          </a:p>
        </p:txBody>
      </p:sp>
      <p:sp>
        <p:nvSpPr>
          <p:cNvPr id="5028" name="TextBox 5027">
            <a:extLst>
              <a:ext uri="{FF2B5EF4-FFF2-40B4-BE49-F238E27FC236}">
                <a16:creationId xmlns:a16="http://schemas.microsoft.com/office/drawing/2014/main" id="{26FFB58B-2A54-4805-813E-09D5DB113E5F}"/>
              </a:ext>
            </a:extLst>
          </p:cNvPr>
          <p:cNvSpPr>
            <a:spLocks noGrp="1"/>
          </p:cNvSpPr>
          <p:nvPr/>
        </p:nvSpPr>
        <p:spPr>
          <a:xfrm>
            <a:off x="10744200" y="489204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프로토타입 개발</a:t>
            </a:r>
          </a:p>
        </p:txBody>
      </p:sp>
      <p:sp>
        <p:nvSpPr>
          <p:cNvPr id="5029" name="Rectangle 5028">
            <a:extLst>
              <a:ext uri="{FF2B5EF4-FFF2-40B4-BE49-F238E27FC236}">
                <a16:creationId xmlns:a16="http://schemas.microsoft.com/office/drawing/2014/main" id="{C20208A0-000B-4E30-BC65-FA509282BD46}"/>
              </a:ext>
            </a:extLst>
          </p:cNvPr>
          <p:cNvSpPr>
            <a:spLocks noGrp="1"/>
          </p:cNvSpPr>
          <p:nvPr/>
        </p:nvSpPr>
        <p:spPr>
          <a:xfrm>
            <a:off x="9692640" y="564184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30" name="TextBox 5029">
            <a:extLst>
              <a:ext uri="{FF2B5EF4-FFF2-40B4-BE49-F238E27FC236}">
                <a16:creationId xmlns:a16="http://schemas.microsoft.com/office/drawing/2014/main" id="{39735E4A-CBB8-459A-84E5-870B038163E5}"/>
              </a:ext>
            </a:extLst>
          </p:cNvPr>
          <p:cNvSpPr>
            <a:spLocks noGrp="1"/>
          </p:cNvSpPr>
          <p:nvPr/>
        </p:nvSpPr>
        <p:spPr>
          <a:xfrm>
            <a:off x="2194560" y="630936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05</a:t>
            </a:r>
          </a:p>
        </p:txBody>
      </p:sp>
      <p:sp>
        <p:nvSpPr>
          <p:cNvPr id="5031" name="TextBox 5030">
            <a:extLst>
              <a:ext uri="{FF2B5EF4-FFF2-40B4-BE49-F238E27FC236}">
                <a16:creationId xmlns:a16="http://schemas.microsoft.com/office/drawing/2014/main" id="{15407737-5FA6-4D6F-BA3C-03DBE139E02C}"/>
              </a:ext>
            </a:extLst>
          </p:cNvPr>
          <p:cNvSpPr>
            <a:spLocks noGrp="1"/>
          </p:cNvSpPr>
          <p:nvPr/>
        </p:nvSpPr>
        <p:spPr>
          <a:xfrm>
            <a:off x="3246120" y="630936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프로토타입 구현</a:t>
            </a:r>
          </a:p>
        </p:txBody>
      </p:sp>
      <p:sp>
        <p:nvSpPr>
          <p:cNvPr id="5032" name="Rectangle 5031">
            <a:extLst>
              <a:ext uri="{FF2B5EF4-FFF2-40B4-BE49-F238E27FC236}">
                <a16:creationId xmlns:a16="http://schemas.microsoft.com/office/drawing/2014/main" id="{2D881346-F3C5-4AB9-992E-0C221ED7992E}"/>
              </a:ext>
            </a:extLst>
          </p:cNvPr>
          <p:cNvSpPr>
            <a:spLocks noGrp="1"/>
          </p:cNvSpPr>
          <p:nvPr/>
        </p:nvSpPr>
        <p:spPr>
          <a:xfrm>
            <a:off x="2194560" y="705916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33" name="TextBox 5032">
            <a:extLst>
              <a:ext uri="{FF2B5EF4-FFF2-40B4-BE49-F238E27FC236}">
                <a16:creationId xmlns:a16="http://schemas.microsoft.com/office/drawing/2014/main" id="{23D4E630-B8AE-41C3-8DFB-A708F7ADF22A}"/>
              </a:ext>
            </a:extLst>
          </p:cNvPr>
          <p:cNvSpPr>
            <a:spLocks noGrp="1"/>
          </p:cNvSpPr>
          <p:nvPr/>
        </p:nvSpPr>
        <p:spPr>
          <a:xfrm>
            <a:off x="9692640" y="6309360"/>
            <a:ext cx="914400" cy="640080"/>
          </a:xfrm>
          <a:prstGeom prst="rect">
            <a:avLst/>
          </a:prstGeom>
          <a:noFill/>
        </p:spPr>
        <p:txBody>
          <a:bodyPr wrap="square" lIns="0" tIns="0" rIns="0" bIns="0" anchor="ctr">
            <a:spAutoFit/>
          </a:bodyPr>
          <a:lstStyle/>
          <a:p>
            <a:pPr algn="l">
              <a:buNone/>
            </a:pPr>
            <a:r>
              <a:rPr sz="3400" b="0">
                <a:solidFill>
                  <a:srgbClr val="FAA95A"/>
                </a:solidFill>
                <a:latin typeface="Pretendard Bold"/>
                <a:ea typeface="Pretendard Bold"/>
                <a:cs typeface="Pretendard Bold"/>
              </a:rPr>
              <a:t>06</a:t>
            </a:r>
          </a:p>
        </p:txBody>
      </p:sp>
      <p:sp>
        <p:nvSpPr>
          <p:cNvPr id="5034" name="TextBox 5033">
            <a:extLst>
              <a:ext uri="{FF2B5EF4-FFF2-40B4-BE49-F238E27FC236}">
                <a16:creationId xmlns:a16="http://schemas.microsoft.com/office/drawing/2014/main" id="{5D7A923B-E714-4E1C-8794-14F4661B18F9}"/>
              </a:ext>
            </a:extLst>
          </p:cNvPr>
          <p:cNvSpPr>
            <a:spLocks noGrp="1"/>
          </p:cNvSpPr>
          <p:nvPr/>
        </p:nvSpPr>
        <p:spPr>
          <a:xfrm>
            <a:off x="10744200" y="6309360"/>
            <a:ext cx="5943600" cy="640080"/>
          </a:xfrm>
          <a:prstGeom prst="rect">
            <a:avLst/>
          </a:prstGeom>
          <a:noFill/>
        </p:spPr>
        <p:txBody>
          <a:bodyPr wrap="square" lIns="0" tIns="0" rIns="0" bIns="0" anchor="ctr">
            <a:spAutoFit/>
          </a:bodyPr>
          <a:lstStyle/>
          <a:p>
            <a:pPr algn="l">
              <a:buNone/>
            </a:pPr>
            <a:r>
              <a:rPr sz="3000" b="0">
                <a:solidFill>
                  <a:srgbClr val="363A52"/>
                </a:solidFill>
                <a:latin typeface="210 OmniGothic 030"/>
                <a:ea typeface="210 OmniGothic 030"/>
                <a:cs typeface="210 OmniGothic 030"/>
              </a:rPr>
              <a:t>프로토타입 검증</a:t>
            </a:r>
          </a:p>
        </p:txBody>
      </p:sp>
      <p:sp>
        <p:nvSpPr>
          <p:cNvPr id="5035" name="Rectangle 5034">
            <a:extLst>
              <a:ext uri="{FF2B5EF4-FFF2-40B4-BE49-F238E27FC236}">
                <a16:creationId xmlns:a16="http://schemas.microsoft.com/office/drawing/2014/main" id="{0FC688CC-7773-47C4-86AF-A84FEE07273D}"/>
              </a:ext>
            </a:extLst>
          </p:cNvPr>
          <p:cNvSpPr>
            <a:spLocks noGrp="1"/>
          </p:cNvSpPr>
          <p:nvPr/>
        </p:nvSpPr>
        <p:spPr>
          <a:xfrm>
            <a:off x="9692640" y="7059168"/>
            <a:ext cx="6675120" cy="18288"/>
          </a:xfrm>
          <a:prstGeom prst="rect">
            <a:avLst/>
          </a:prstGeom>
          <a:solidFill>
            <a:srgbClr val="D9DCE5"/>
          </a:solidFill>
          <a:ln>
            <a:no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주요 수정·보완 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5023" name="TextBox 5022"/>
          <p:cNvSpPr txBox="1"/>
          <p:nvPr/>
        </p:nvSpPr>
        <p:spPr>
          <a:xfrm>
            <a:off x="822960" y="1792224"/>
            <a:ext cx="16642080" cy="292608"/>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400" b="1" dirty="0">
                <a:solidFill>
                  <a:srgbClr val="2E3142"/>
                </a:solidFill>
                <a:latin typeface="210 OmniGothic 040"/>
                <a:ea typeface="210 OmniGothic 040"/>
                <a:cs typeface="210 OmniGothic 040"/>
              </a:rPr>
              <a:t>1. 교수 피드백 및 주요 수정·보완 사항</a:t>
            </a:r>
            <a:endParaRPr lang="ko-KR" altLang="en-US" sz="1400"/>
          </a:p>
        </p:txBody>
      </p:sp>
      <p:graphicFrame>
        <p:nvGraphicFramePr>
          <p:cNvPr id="5024" name="Table 5023"/>
          <p:cNvGraphicFramePr>
            <a:graphicFrameLocks noGrp="1"/>
          </p:cNvGraphicFramePr>
          <p:nvPr/>
        </p:nvGraphicFramePr>
        <p:xfrm>
          <a:off x="822960" y="2103120"/>
          <a:ext cx="16642080" cy="2066544"/>
        </p:xfrm>
        <a:graphic>
          <a:graphicData uri="http://schemas.openxmlformats.org/drawingml/2006/table">
            <a:tbl>
              <a:tblPr/>
              <a:tblGrid>
                <a:gridCol w="4572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77724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10896">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번호</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교수 피드백</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기존안</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수정·보완 내용</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반영 위치</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621792">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1</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기존 시스템(산불상황관제시스템)과의 기능 차별화를 명시해야 함</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개발 절차 STEP 02에 「산불상황관제시스템 화면을 참고」라고만 적음</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 산불상황관제시스템은 화면 배치(UI)만 참고했음을 밝힘</a:t>
                      </a:r>
                      <a:endParaRPr lang="ko-KR" altLang="en-US" sz="1100"/>
                    </a:p>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 세부 기능은 개발 주관 기관(국립산림과학원·산림청)이 공개하지 않아 참고하지 않았고, 확산 예측 연계 규칙 판정·근거 기반 대응 제안·제안서 버전 관리는 직접 설계했음을 명시</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22쪽</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621792">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2</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AI를 활용한 부분과 범위를 명시해야 함</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수행 환경에 「UI 검증은 상용 에이전트(Claude)를 활용해…」 한 줄만 적음</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 「AI 활용 범위」 표 신설: 모델(Claude Opus 5.5 · Claude Code)과 단계(프로토타입 제작·실험·검증·개선 반영)별로 AI가 한 일과 팀이 한 일을 구분</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44쪽</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512064">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3</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유스케이스와 검증을 1:1로 대응시켜 보여줘야 함</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유스케이스별 검증 결과 표는 있었으나 1:1 대응이 눈에 띄지 않음</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 표 위에 「유스케이스 ↔ 검증 1:1 대응」 강조 띠 추가</a:t>
                      </a:r>
                      <a:endParaRPr lang="ko-KR" altLang="en-US" sz="1100"/>
                    </a:p>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 유스케이스 열 색 강조, 열 이름을 「유스케이스(요구사항분석서)」「검증 시나리오」로 바꿈</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47쪽</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025" name="TextBox 5024"/>
          <p:cNvSpPr txBox="1"/>
          <p:nvPr/>
        </p:nvSpPr>
        <p:spPr>
          <a:xfrm>
            <a:off x="822960" y="4462272"/>
            <a:ext cx="16642080" cy="292608"/>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400" b="1" dirty="0">
                <a:solidFill>
                  <a:srgbClr val="2E3142"/>
                </a:solidFill>
                <a:latin typeface="210 OmniGothic 040"/>
                <a:ea typeface="210 OmniGothic 040"/>
                <a:cs typeface="210 OmniGothic 040"/>
              </a:rPr>
              <a:t>2. 교수 피드백 외 및 추가 주요 수정·보완 사항</a:t>
            </a:r>
            <a:endParaRPr lang="ko-KR" altLang="en-US" sz="1400"/>
          </a:p>
        </p:txBody>
      </p:sp>
      <p:graphicFrame>
        <p:nvGraphicFramePr>
          <p:cNvPr id="5026" name="Table 5025"/>
          <p:cNvGraphicFramePr>
            <a:graphicFrameLocks noGrp="1"/>
          </p:cNvGraphicFramePr>
          <p:nvPr/>
        </p:nvGraphicFramePr>
        <p:xfrm>
          <a:off x="822960" y="4773168"/>
          <a:ext cx="16642080" cy="1737360"/>
        </p:xfrm>
        <a:graphic>
          <a:graphicData uri="http://schemas.openxmlformats.org/drawingml/2006/table">
            <a:tbl>
              <a:tblPr/>
              <a:tblGrid>
                <a:gridCol w="457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576072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310896">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번호</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항목</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수정 사유</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기존안</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수정·보완 내용</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100" b="1" dirty="0">
                          <a:solidFill>
                            <a:srgbClr val="FFFFFF"/>
                          </a:solidFill>
                          <a:latin typeface="210 OmniGothic 040"/>
                          <a:ea typeface="210 OmniGothic 040"/>
                          <a:cs typeface="210 OmniGothic 040"/>
                        </a:rPr>
                        <a:t>반영 위치</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475488">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1</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요구사항 반영 검증 쪽 분리</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요구사항 반영·권한별 화면·화면 배치를 한 쪽에 담아 항목별 결과가 잘 드러나지 않음</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한 쪽에 세 항목</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요구사항 반영을 따로 한 쪽으로 나누고 기능별 구현 상태 표를 추가, 권한별 화면 분리·화면 배치는 다음 쪽으로 분리</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45·46쪽</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475488">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2</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구현 상태 명칭</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「동작·혼합·연출」은 뜻이 바로 전달되지 않음</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동작 13 · 혼합 1 · 연출 18</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구현 13 · 부분 구현 1 · 미구현 18로 바꾸고 구분 기준(동작하는·혼합된·연출된 기능)을 설명, 덱 전체 통일</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21·22·44·45쪽</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475488">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3</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1" dirty="0">
                          <a:solidFill>
                            <a:srgbClr val="2E3142"/>
                          </a:solidFill>
                          <a:latin typeface="210 OmniGothic 040"/>
                          <a:ea typeface="210 OmniGothic 040"/>
                          <a:cs typeface="210 OmniGothic 040"/>
                        </a:rPr>
                        <a:t>개발 일정 진행 현황</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수정 프로토타입 제출(10/22) 시점 반영</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현재 10/16, 수정 프로토타입은 계획(점선)만</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현재 표시를 10/22로 옮기고 수정 프로토타입·1차 교류회(10/20) 실제 수행(실선) 추가</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00" b="0" dirty="0">
                          <a:solidFill>
                            <a:srgbClr val="2E3142"/>
                          </a:solidFill>
                          <a:latin typeface="210 OmniGothic 040"/>
                          <a:ea typeface="210 OmniGothic 040"/>
                          <a:cs typeface="210 OmniGothic 040"/>
                        </a:rPr>
                        <a:t>23쪽</a:t>
                      </a:r>
                      <a:endParaRPr lang="ko-KR" altLang="en-US" sz="110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01. 프로젝트 개요 및 목표</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 및 목표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프로젝트 개요</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5024" name="Lead"/>
          <p:cNvSpPr txBox="1"/>
          <p:nvPr/>
        </p:nvSpPr>
        <p:spPr>
          <a:xfrm>
            <a:off x="822960" y="2487168"/>
            <a:ext cx="16642080" cy="731520"/>
          </a:xfrm>
          <a:prstGeom prst="rect">
            <a:avLst/>
          </a:prstGeom>
          <a:noFill/>
        </p:spPr>
        <p:txBody>
          <a:bodyPr wrap="square" lIns="0" tIns="0" rIns="0" bIns="0" rtlCol="0" anchor="t">
            <a:noAutofit/>
          </a:bodyPr>
          <a:lstStyle/>
          <a:p>
            <a:pPr algn="ctr" latinLnBrk="0">
              <a:lnSpc>
                <a:spcPct val="135000"/>
              </a:lnSpc>
              <a:spcBef>
                <a:spcPts val="0"/>
              </a:spcBef>
              <a:spcAft>
                <a:spcPts val="0"/>
              </a:spcAft>
              <a:buNone/>
            </a:pPr>
            <a:r>
              <a:rPr lang="ko-KR" altLang="en-US" sz="1900" b="0">
                <a:solidFill>
                  <a:srgbClr val="363A52"/>
                </a:solidFill>
                <a:latin typeface="210 OmniGothic 030"/>
                <a:ea typeface="210 OmniGothic 030"/>
                <a:cs typeface="210 OmniGothic 030"/>
              </a:rPr>
              <a:t>산불 발생 직후부터 진화·대피 판단이 이어지는 8시간 안팎의 대응 과정에서,</a:t>
            </a:r>
          </a:p>
          <a:p>
            <a:pPr algn="ctr" latinLnBrk="0">
              <a:lnSpc>
                <a:spcPct val="135000"/>
              </a:lnSpc>
              <a:spcBef>
                <a:spcPts val="0"/>
              </a:spcBef>
              <a:spcAft>
                <a:spcPts val="0"/>
              </a:spcAft>
              <a:buNone/>
            </a:pPr>
            <a:r>
              <a:rPr lang="ko-KR" altLang="en-US" sz="1900" b="1">
                <a:solidFill>
                  <a:srgbClr val="363A52"/>
                </a:solidFill>
                <a:latin typeface="210 OmniGothic 040"/>
                <a:ea typeface="210 OmniGothic 040"/>
                <a:cs typeface="210 OmniGothic 040"/>
              </a:rPr>
              <a:t>산불현장 통합지휘권자(시장·군수·구청장)</a:t>
            </a:r>
            <a:r>
              <a:rPr lang="ko-KR" altLang="en-US" sz="1900" b="0">
                <a:solidFill>
                  <a:srgbClr val="363A52"/>
                </a:solidFill>
                <a:latin typeface="210 OmniGothic 030"/>
                <a:ea typeface="210 OmniGothic 030"/>
                <a:cs typeface="210 OmniGothic 030"/>
              </a:rPr>
              <a:t>에게 </a:t>
            </a:r>
            <a:r>
              <a:rPr lang="ko-KR" altLang="en-US" sz="1900" b="1">
                <a:solidFill>
                  <a:srgbClr val="E8893A"/>
                </a:solidFill>
                <a:latin typeface="210 OmniGothic 040"/>
                <a:ea typeface="210 OmniGothic 040"/>
                <a:cs typeface="210 OmniGothic 040"/>
              </a:rPr>
              <a:t>통합 상황도</a:t>
            </a:r>
            <a:r>
              <a:rPr lang="ko-KR" altLang="en-US" sz="1900" b="0">
                <a:solidFill>
                  <a:srgbClr val="363A52"/>
                </a:solidFill>
                <a:latin typeface="210 OmniGothic 030"/>
                <a:ea typeface="210 OmniGothic 030"/>
                <a:cs typeface="210 OmniGothic 030"/>
              </a:rPr>
              <a:t>와 </a:t>
            </a:r>
            <a:r>
              <a:rPr lang="ko-KR" altLang="en-US" sz="1900" b="1">
                <a:solidFill>
                  <a:srgbClr val="E8893A"/>
                </a:solidFill>
                <a:latin typeface="210 OmniGothic 040"/>
                <a:ea typeface="210 OmniGothic 040"/>
                <a:cs typeface="210 OmniGothic 040"/>
              </a:rPr>
              <a:t>판단 항목별 대응 제안서</a:t>
            </a:r>
            <a:r>
              <a:rPr lang="ko-KR" altLang="en-US" sz="1900" b="0">
                <a:solidFill>
                  <a:srgbClr val="363A52"/>
                </a:solidFill>
                <a:latin typeface="210 OmniGothic 030"/>
                <a:ea typeface="210 OmniGothic 030"/>
                <a:cs typeface="210 OmniGothic 030"/>
              </a:rPr>
              <a:t>를 </a:t>
            </a:r>
            <a:r>
              <a:rPr lang="ko-KR" altLang="en-US" sz="1900" b="1">
                <a:solidFill>
                  <a:srgbClr val="E8893A"/>
                </a:solidFill>
                <a:latin typeface="210 OmniGothic 040"/>
                <a:ea typeface="210 OmniGothic 040"/>
                <a:cs typeface="210 OmniGothic 040"/>
              </a:rPr>
              <a:t>표준매뉴얼 근거</a:t>
            </a:r>
            <a:r>
              <a:rPr lang="ko-KR" altLang="en-US" sz="1900" b="0">
                <a:solidFill>
                  <a:srgbClr val="363A52"/>
                </a:solidFill>
                <a:latin typeface="210 OmniGothic 030"/>
                <a:ea typeface="210 OmniGothic 030"/>
                <a:cs typeface="210 OmniGothic 030"/>
              </a:rPr>
              <a:t>와 함께 제공하는 웹 대시보드입니다.</a:t>
            </a:r>
          </a:p>
        </p:txBody>
      </p:sp>
      <p:sp>
        <p:nvSpPr>
          <p:cNvPr id="5025" name="Tech card 1"/>
          <p:cNvSpPr/>
          <p:nvPr/>
        </p:nvSpPr>
        <p:spPr>
          <a:xfrm>
            <a:off x="868680" y="3611880"/>
            <a:ext cx="393192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26" name="Oval 5025"/>
          <p:cNvSpPr/>
          <p:nvPr/>
        </p:nvSpPr>
        <p:spPr>
          <a:xfrm>
            <a:off x="1161288" y="390448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27" name="Picture 5026" descr="i39_363A52.png"/>
          <p:cNvPicPr>
            <a:picLocks noChangeAspect="1"/>
          </p:cNvPicPr>
          <p:nvPr/>
        </p:nvPicPr>
        <p:blipFill>
          <a:blip r:embed="rId6"/>
          <a:stretch>
            <a:fillRect/>
          </a:stretch>
        </p:blipFill>
        <p:spPr>
          <a:xfrm>
            <a:off x="1357884" y="4101084"/>
            <a:ext cx="393192" cy="393192"/>
          </a:xfrm>
          <a:prstGeom prst="rect">
            <a:avLst/>
          </a:prstGeom>
        </p:spPr>
      </p:pic>
      <p:sp>
        <p:nvSpPr>
          <p:cNvPr id="5028" name="TextBox 5027"/>
          <p:cNvSpPr txBox="1"/>
          <p:nvPr/>
        </p:nvSpPr>
        <p:spPr>
          <a:xfrm>
            <a:off x="2112264" y="3877056"/>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확산 예측</a:t>
            </a:r>
          </a:p>
        </p:txBody>
      </p:sp>
      <p:sp>
        <p:nvSpPr>
          <p:cNvPr id="5029" name="TextBox 5028"/>
          <p:cNvSpPr txBox="1"/>
          <p:nvPr/>
        </p:nvSpPr>
        <p:spPr>
          <a:xfrm>
            <a:off x="2112264" y="4114800"/>
            <a:ext cx="246888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물리 엔진</a:t>
            </a:r>
          </a:p>
        </p:txBody>
      </p:sp>
      <p:sp>
        <p:nvSpPr>
          <p:cNvPr id="5030" name="TextBox 5029"/>
          <p:cNvSpPr txBox="1"/>
          <p:nvPr/>
        </p:nvSpPr>
        <p:spPr>
          <a:xfrm>
            <a:off x="2112264" y="4526280"/>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ELMFIRE</a:t>
            </a:r>
          </a:p>
        </p:txBody>
      </p:sp>
      <p:sp>
        <p:nvSpPr>
          <p:cNvPr id="5031" name="TextBox 5030"/>
          <p:cNvSpPr txBox="1"/>
          <p:nvPr/>
        </p:nvSpPr>
        <p:spPr>
          <a:xfrm>
            <a:off x="1197864" y="5029200"/>
            <a:ext cx="3273552" cy="77724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650" b="0">
                <a:solidFill>
                  <a:srgbClr val="363A52"/>
                </a:solidFill>
                <a:latin typeface="210 OmniGothic 030"/>
                <a:ea typeface="210 OmniGothic 030"/>
                <a:cs typeface="210 OmniGothic 030"/>
              </a:rPr>
              <a:t>1시간 간격으로 8시간까지 확산 범위를 산출</a:t>
            </a:r>
          </a:p>
        </p:txBody>
      </p:sp>
      <p:sp>
        <p:nvSpPr>
          <p:cNvPr id="5032" name="Chevron 5031"/>
          <p:cNvSpPr/>
          <p:nvPr/>
        </p:nvSpPr>
        <p:spPr>
          <a:xfrm>
            <a:off x="4937760" y="4636008"/>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3" name="Tech card 2"/>
          <p:cNvSpPr/>
          <p:nvPr/>
        </p:nvSpPr>
        <p:spPr>
          <a:xfrm>
            <a:off x="5257800" y="3611880"/>
            <a:ext cx="393192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34" name="Oval 5033"/>
          <p:cNvSpPr/>
          <p:nvPr/>
        </p:nvSpPr>
        <p:spPr>
          <a:xfrm>
            <a:off x="5550408" y="390448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35" name="Picture 5034" descr="i41_363A52.png"/>
          <p:cNvPicPr>
            <a:picLocks noChangeAspect="1"/>
          </p:cNvPicPr>
          <p:nvPr/>
        </p:nvPicPr>
        <p:blipFill>
          <a:blip r:embed="rId7"/>
          <a:stretch>
            <a:fillRect/>
          </a:stretch>
        </p:blipFill>
        <p:spPr>
          <a:xfrm>
            <a:off x="5747004" y="4101084"/>
            <a:ext cx="393192" cy="393192"/>
          </a:xfrm>
          <a:prstGeom prst="rect">
            <a:avLst/>
          </a:prstGeom>
        </p:spPr>
      </p:pic>
      <p:sp>
        <p:nvSpPr>
          <p:cNvPr id="5036" name="TextBox 5035"/>
          <p:cNvSpPr txBox="1"/>
          <p:nvPr/>
        </p:nvSpPr>
        <p:spPr>
          <a:xfrm>
            <a:off x="6501384" y="3877056"/>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판정</a:t>
            </a:r>
          </a:p>
        </p:txBody>
      </p:sp>
      <p:sp>
        <p:nvSpPr>
          <p:cNvPr id="5037" name="TextBox 5036"/>
          <p:cNvSpPr txBox="1"/>
          <p:nvPr/>
        </p:nvSpPr>
        <p:spPr>
          <a:xfrm>
            <a:off x="6501384" y="4114800"/>
            <a:ext cx="246888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규칙 엔진</a:t>
            </a:r>
          </a:p>
        </p:txBody>
      </p:sp>
      <p:sp>
        <p:nvSpPr>
          <p:cNvPr id="5038" name="TextBox 5037"/>
          <p:cNvSpPr txBox="1"/>
          <p:nvPr/>
        </p:nvSpPr>
        <p:spPr>
          <a:xfrm>
            <a:off x="6501384" y="4526280"/>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Rule-Based</a:t>
            </a:r>
          </a:p>
        </p:txBody>
      </p:sp>
      <p:sp>
        <p:nvSpPr>
          <p:cNvPr id="5039" name="TextBox 5038"/>
          <p:cNvSpPr txBox="1"/>
          <p:nvPr/>
        </p:nvSpPr>
        <p:spPr>
          <a:xfrm>
            <a:off x="5586984" y="5029200"/>
            <a:ext cx="3273552" cy="77724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650" b="0">
                <a:solidFill>
                  <a:srgbClr val="363A52"/>
                </a:solidFill>
                <a:latin typeface="210 OmniGothic 030"/>
                <a:ea typeface="210 OmniGothic 030"/>
                <a:cs typeface="210 OmniGothic 030"/>
              </a:rPr>
              <a:t>근거 문서에 경계값·수치가 있는 값만 판정(대응단계·위험구역 등)</a:t>
            </a:r>
          </a:p>
        </p:txBody>
      </p:sp>
      <p:sp>
        <p:nvSpPr>
          <p:cNvPr id="5040" name="Chevron 5039"/>
          <p:cNvSpPr/>
          <p:nvPr/>
        </p:nvSpPr>
        <p:spPr>
          <a:xfrm>
            <a:off x="9326880" y="4636008"/>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1" name="Tech card 3"/>
          <p:cNvSpPr/>
          <p:nvPr/>
        </p:nvSpPr>
        <p:spPr>
          <a:xfrm>
            <a:off x="9646920" y="3611880"/>
            <a:ext cx="3931920" cy="2377440"/>
          </a:xfrm>
          <a:prstGeom prst="roundRect">
            <a:avLst>
              <a:gd name="adj" fmla="val 8461"/>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2" name="Oval 5041"/>
          <p:cNvSpPr/>
          <p:nvPr/>
        </p:nvSpPr>
        <p:spPr>
          <a:xfrm>
            <a:off x="9939528" y="390448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pic>
        <p:nvPicPr>
          <p:cNvPr id="5043" name="Picture 5042" descr="image.png"/>
          <p:cNvPicPr>
            <a:picLocks noChangeAspect="1"/>
          </p:cNvPicPr>
          <p:nvPr/>
        </p:nvPicPr>
        <p:blipFill>
          <a:blip r:embed="rId8"/>
          <a:stretch>
            <a:fillRect/>
          </a:stretch>
        </p:blipFill>
        <p:spPr>
          <a:xfrm>
            <a:off x="10112532" y="4077492"/>
            <a:ext cx="440375" cy="440375"/>
          </a:xfrm>
          <a:prstGeom prst="rect">
            <a:avLst/>
          </a:prstGeom>
        </p:spPr>
      </p:pic>
      <p:sp>
        <p:nvSpPr>
          <p:cNvPr id="5044" name="TextBox 5043"/>
          <p:cNvSpPr txBox="1"/>
          <p:nvPr/>
        </p:nvSpPr>
        <p:spPr>
          <a:xfrm>
            <a:off x="10890504" y="3877056"/>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제안서·답변 작성</a:t>
            </a:r>
          </a:p>
        </p:txBody>
      </p:sp>
      <p:sp>
        <p:nvSpPr>
          <p:cNvPr id="5045" name="TextBox 5044"/>
          <p:cNvSpPr txBox="1"/>
          <p:nvPr/>
        </p:nvSpPr>
        <p:spPr>
          <a:xfrm>
            <a:off x="10890504" y="4114800"/>
            <a:ext cx="2468880" cy="402336"/>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LLM 에이전트 2개</a:t>
            </a:r>
          </a:p>
        </p:txBody>
      </p:sp>
      <p:sp>
        <p:nvSpPr>
          <p:cNvPr id="5046" name="TextBox 5045"/>
          <p:cNvSpPr txBox="1"/>
          <p:nvPr/>
        </p:nvSpPr>
        <p:spPr>
          <a:xfrm>
            <a:off x="10890504" y="4526280"/>
            <a:ext cx="246888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EXAONE 4.0 32B</a:t>
            </a:r>
          </a:p>
        </p:txBody>
      </p:sp>
      <p:sp>
        <p:nvSpPr>
          <p:cNvPr id="5047" name="TextBox 5046"/>
          <p:cNvSpPr txBox="1"/>
          <p:nvPr/>
        </p:nvSpPr>
        <p:spPr>
          <a:xfrm>
            <a:off x="9976104" y="5029200"/>
            <a:ext cx="3273552" cy="77724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650" b="0">
                <a:solidFill>
                  <a:srgbClr val="363A52"/>
                </a:solidFill>
                <a:latin typeface="210 OmniGothic 030"/>
                <a:ea typeface="210 OmniGothic 030"/>
                <a:cs typeface="210 OmniGothic 030"/>
              </a:rPr>
              <a:t>판정 값과 검색 근거로 제안을 판단·작성, 조항 인용</a:t>
            </a:r>
          </a:p>
        </p:txBody>
      </p:sp>
      <p:sp>
        <p:nvSpPr>
          <p:cNvPr id="5048" name="Chevron 5047"/>
          <p:cNvSpPr/>
          <p:nvPr/>
        </p:nvSpPr>
        <p:spPr>
          <a:xfrm>
            <a:off x="13716000" y="4636008"/>
            <a:ext cx="182880" cy="329184"/>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9" name="Output A"/>
          <p:cNvSpPr/>
          <p:nvPr/>
        </p:nvSpPr>
        <p:spPr>
          <a:xfrm>
            <a:off x="14036040" y="3611880"/>
            <a:ext cx="3383280" cy="1097280"/>
          </a:xfrm>
          <a:prstGeom prst="roundRect">
            <a:avLst>
              <a:gd name="adj" fmla="val 15000"/>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0" name="Rounded Rectangle 5049"/>
          <p:cNvSpPr/>
          <p:nvPr/>
        </p:nvSpPr>
        <p:spPr>
          <a:xfrm>
            <a:off x="14292072" y="3813048"/>
            <a:ext cx="868680" cy="329184"/>
          </a:xfrm>
          <a:prstGeom prst="roundRect">
            <a:avLst>
              <a:gd name="adj" fmla="val 25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FFFFFF"/>
                </a:solidFill>
                <a:latin typeface="210 OmniGothic 040"/>
                <a:ea typeface="210 OmniGothic 040"/>
                <a:cs typeface="210 OmniGothic 040"/>
              </a:rPr>
              <a:t>출력 A</a:t>
            </a:r>
          </a:p>
        </p:txBody>
      </p:sp>
      <p:sp>
        <p:nvSpPr>
          <p:cNvPr id="5051" name="TextBox 5050"/>
          <p:cNvSpPr txBox="1"/>
          <p:nvPr/>
        </p:nvSpPr>
        <p:spPr>
          <a:xfrm>
            <a:off x="15316200" y="3785616"/>
            <a:ext cx="1920240" cy="38404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대응 제안서</a:t>
            </a:r>
          </a:p>
        </p:txBody>
      </p:sp>
      <p:sp>
        <p:nvSpPr>
          <p:cNvPr id="5052" name="TextBox 5051"/>
          <p:cNvSpPr txBox="1"/>
          <p:nvPr/>
        </p:nvSpPr>
        <p:spPr>
          <a:xfrm>
            <a:off x="14292072" y="4288536"/>
            <a:ext cx="2871216"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E6E9F1"/>
                </a:solidFill>
                <a:latin typeface="210 OmniGothic 040"/>
                <a:ea typeface="210 OmniGothic 040"/>
                <a:cs typeface="210 OmniGothic 040"/>
              </a:rPr>
              <a:t>진화 7 · 대피 7 판단 항목별 대응안</a:t>
            </a:r>
          </a:p>
        </p:txBody>
      </p:sp>
      <p:sp>
        <p:nvSpPr>
          <p:cNvPr id="5053" name="Output B"/>
          <p:cNvSpPr/>
          <p:nvPr/>
        </p:nvSpPr>
        <p:spPr>
          <a:xfrm>
            <a:off x="14036040" y="4892040"/>
            <a:ext cx="3383280" cy="1097280"/>
          </a:xfrm>
          <a:prstGeom prst="roundRect">
            <a:avLst>
              <a:gd name="adj" fmla="val 15000"/>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4" name="Rounded Rectangle 5053"/>
          <p:cNvSpPr/>
          <p:nvPr/>
        </p:nvSpPr>
        <p:spPr>
          <a:xfrm>
            <a:off x="14292072" y="5093208"/>
            <a:ext cx="868680" cy="329184"/>
          </a:xfrm>
          <a:prstGeom prst="roundRect">
            <a:avLst>
              <a:gd name="adj" fmla="val 25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FFFFFF"/>
                </a:solidFill>
                <a:latin typeface="210 OmniGothic 040"/>
                <a:ea typeface="210 OmniGothic 040"/>
                <a:cs typeface="210 OmniGothic 040"/>
              </a:rPr>
              <a:t>출력 B</a:t>
            </a:r>
          </a:p>
        </p:txBody>
      </p:sp>
      <p:sp>
        <p:nvSpPr>
          <p:cNvPr id="5055" name="TextBox 5054"/>
          <p:cNvSpPr txBox="1"/>
          <p:nvPr/>
        </p:nvSpPr>
        <p:spPr>
          <a:xfrm>
            <a:off x="15316200" y="5065776"/>
            <a:ext cx="1920240" cy="38404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AI 답변</a:t>
            </a:r>
          </a:p>
        </p:txBody>
      </p:sp>
      <p:sp>
        <p:nvSpPr>
          <p:cNvPr id="5056" name="TextBox 5055"/>
          <p:cNvSpPr txBox="1"/>
          <p:nvPr/>
        </p:nvSpPr>
        <p:spPr>
          <a:xfrm>
            <a:off x="14292072" y="5568696"/>
            <a:ext cx="2871216"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00" b="0">
                <a:solidFill>
                  <a:srgbClr val="E6E9F1"/>
                </a:solidFill>
                <a:latin typeface="210 OmniGothic 040"/>
                <a:ea typeface="210 OmniGothic 040"/>
                <a:cs typeface="210 OmniGothic 040"/>
              </a:rPr>
              <a:t>조항을 인용한 질의응답 · 상황 정정</a:t>
            </a:r>
          </a:p>
        </p:txBody>
      </p:sp>
      <p:sp>
        <p:nvSpPr>
          <p:cNvPr id="5057" name="Definition"/>
          <p:cNvSpPr/>
          <p:nvPr/>
        </p:nvSpPr>
        <p:spPr>
          <a:xfrm>
            <a:off x="868680" y="6355080"/>
            <a:ext cx="5212080" cy="2240280"/>
          </a:xfrm>
          <a:prstGeom prst="roundRect">
            <a:avLst>
              <a:gd name="adj" fmla="val 8979"/>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8" name="Rounded Rectangle 5057"/>
          <p:cNvSpPr/>
          <p:nvPr/>
        </p:nvSpPr>
        <p:spPr>
          <a:xfrm>
            <a:off x="1188720" y="6647688"/>
            <a:ext cx="731520" cy="347472"/>
          </a:xfrm>
          <a:prstGeom prst="roundRect">
            <a:avLst>
              <a:gd name="adj" fmla="val 23684"/>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00" b="1">
                <a:solidFill>
                  <a:srgbClr val="FFFFFF"/>
                </a:solidFill>
                <a:latin typeface="210 OmniGothic 040"/>
                <a:ea typeface="210 OmniGothic 040"/>
                <a:cs typeface="210 OmniGothic 040"/>
              </a:rPr>
              <a:t>정의</a:t>
            </a:r>
          </a:p>
        </p:txBody>
      </p:sp>
      <p:sp>
        <p:nvSpPr>
          <p:cNvPr id="5059" name="TextBox 5058"/>
          <p:cNvSpPr txBox="1"/>
          <p:nvPr/>
        </p:nvSpPr>
        <p:spPr>
          <a:xfrm>
            <a:off x="2075688" y="6620256"/>
            <a:ext cx="3749040"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FFFFFF"/>
                </a:solidFill>
                <a:latin typeface="210 OmniGothic 040"/>
                <a:ea typeface="210 OmniGothic 040"/>
                <a:cs typeface="210 OmniGothic 040"/>
              </a:rPr>
              <a:t>산불은 법령상 사회재난</a:t>
            </a:r>
          </a:p>
        </p:txBody>
      </p:sp>
      <p:sp>
        <p:nvSpPr>
          <p:cNvPr id="5060" name="TextBox 5059"/>
          <p:cNvSpPr txBox="1"/>
          <p:nvPr/>
        </p:nvSpPr>
        <p:spPr>
          <a:xfrm>
            <a:off x="1188720" y="7251192"/>
            <a:ext cx="4572000" cy="731520"/>
          </a:xfrm>
          <a:prstGeom prst="rect">
            <a:avLst/>
          </a:prstGeom>
          <a:noFill/>
        </p:spPr>
        <p:txBody>
          <a:bodyPr wrap="square" lIns="0" tIns="0" rIns="0" bIns="0" rtlCol="0" anchor="t">
            <a:noAutofit/>
          </a:bodyPr>
          <a:lstStyle/>
          <a:p>
            <a:pPr algn="l" latinLnBrk="0">
              <a:lnSpc>
                <a:spcPct val="128000"/>
              </a:lnSpc>
              <a:spcBef>
                <a:spcPts val="0"/>
              </a:spcBef>
              <a:spcAft>
                <a:spcPts val="0"/>
              </a:spcAft>
              <a:buNone/>
            </a:pPr>
            <a:r>
              <a:rPr lang="ko-KR" altLang="en-US" sz="1500" b="0">
                <a:solidFill>
                  <a:srgbClr val="E6E9F1"/>
                </a:solidFill>
                <a:latin typeface="210 OmniGothic 040"/>
                <a:ea typeface="210 OmniGothic 040"/>
                <a:cs typeface="210 OmniGothic 040"/>
              </a:rPr>
              <a:t>재난관리주관기관은 산림청, 현장 통합지휘와 주민대피 명령권자는 시장·군수·구청장</a:t>
            </a:r>
          </a:p>
        </p:txBody>
      </p:sp>
      <p:sp>
        <p:nvSpPr>
          <p:cNvPr id="5061" name="TextBox 5060"/>
          <p:cNvSpPr txBox="1"/>
          <p:nvPr/>
        </p:nvSpPr>
        <p:spPr>
          <a:xfrm>
            <a:off x="1188720" y="8138160"/>
            <a:ext cx="4572000"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00" b="0">
                <a:solidFill>
                  <a:srgbClr val="A3A8B8"/>
                </a:solidFill>
                <a:latin typeface="210 OmniGothic 030"/>
                <a:ea typeface="210 OmniGothic 030"/>
                <a:cs typeface="210 OmniGothic 030"/>
              </a:rPr>
              <a:t>재난안전법 시행령 별표 1의3 · 산림재난방지법 제34조</a:t>
            </a:r>
          </a:p>
        </p:txBody>
      </p:sp>
      <p:sp>
        <p:nvSpPr>
          <p:cNvPr id="5062" name="Scope"/>
          <p:cNvSpPr/>
          <p:nvPr/>
        </p:nvSpPr>
        <p:spPr>
          <a:xfrm>
            <a:off x="6309360" y="6355080"/>
            <a:ext cx="11109960" cy="2240280"/>
          </a:xfrm>
          <a:prstGeom prst="roundRect">
            <a:avLst>
              <a:gd name="adj" fmla="val 89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3" name="Rounded Rectangle 5062"/>
          <p:cNvSpPr/>
          <p:nvPr/>
        </p:nvSpPr>
        <p:spPr>
          <a:xfrm>
            <a:off x="6629400" y="6647688"/>
            <a:ext cx="731520" cy="347472"/>
          </a:xfrm>
          <a:prstGeom prst="roundRect">
            <a:avLst>
              <a:gd name="adj" fmla="val 23684"/>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00" b="1">
                <a:solidFill>
                  <a:srgbClr val="FFFFFF"/>
                </a:solidFill>
                <a:latin typeface="210 OmniGothic 040"/>
                <a:ea typeface="210 OmniGothic 040"/>
                <a:cs typeface="210 OmniGothic 040"/>
              </a:rPr>
              <a:t>범위</a:t>
            </a:r>
          </a:p>
        </p:txBody>
      </p:sp>
      <p:sp>
        <p:nvSpPr>
          <p:cNvPr id="5064" name="TextBox 5063"/>
          <p:cNvSpPr txBox="1"/>
          <p:nvPr/>
        </p:nvSpPr>
        <p:spPr>
          <a:xfrm>
            <a:off x="7516368" y="6620256"/>
            <a:ext cx="9646920"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900" b="1">
                <a:solidFill>
                  <a:srgbClr val="363A52"/>
                </a:solidFill>
                <a:latin typeface="210 OmniGothic 040"/>
                <a:ea typeface="210 OmniGothic 040"/>
                <a:cs typeface="210 OmniGothic 040"/>
              </a:rPr>
              <a:t>본 과제가 다루는 산불</a:t>
            </a:r>
          </a:p>
        </p:txBody>
      </p:sp>
      <p:sp>
        <p:nvSpPr>
          <p:cNvPr id="5065" name="Rounded Rectangle 5064"/>
          <p:cNvSpPr/>
          <p:nvPr/>
        </p:nvSpPr>
        <p:spPr>
          <a:xfrm>
            <a:off x="6629400" y="7342632"/>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시간</a:t>
            </a:r>
          </a:p>
        </p:txBody>
      </p:sp>
      <p:sp>
        <p:nvSpPr>
          <p:cNvPr id="5066" name="TextBox 5065"/>
          <p:cNvSpPr txBox="1"/>
          <p:nvPr/>
        </p:nvSpPr>
        <p:spPr>
          <a:xfrm>
            <a:off x="7927848" y="7287768"/>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초기대응 ~ 확산대응 1·2단계</a:t>
            </a:r>
          </a:p>
        </p:txBody>
      </p:sp>
      <p:sp>
        <p:nvSpPr>
          <p:cNvPr id="5067" name="Rounded Rectangle 5066"/>
          <p:cNvSpPr/>
          <p:nvPr/>
        </p:nvSpPr>
        <p:spPr>
          <a:xfrm>
            <a:off x="12001500" y="7342632"/>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지역</a:t>
            </a:r>
          </a:p>
        </p:txBody>
      </p:sp>
      <p:sp>
        <p:nvSpPr>
          <p:cNvPr id="5068" name="TextBox 5067"/>
          <p:cNvSpPr txBox="1"/>
          <p:nvPr/>
        </p:nvSpPr>
        <p:spPr>
          <a:xfrm>
            <a:off x="13299948" y="7287768"/>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경상북도 우선 · 시연은 2025년 의성 산불</a:t>
            </a:r>
          </a:p>
        </p:txBody>
      </p:sp>
      <p:sp>
        <p:nvSpPr>
          <p:cNvPr id="5069" name="Rounded Rectangle 5068"/>
          <p:cNvSpPr/>
          <p:nvPr/>
        </p:nvSpPr>
        <p:spPr>
          <a:xfrm>
            <a:off x="6629400" y="7946136"/>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공간</a:t>
            </a:r>
          </a:p>
        </p:txBody>
      </p:sp>
      <p:sp>
        <p:nvSpPr>
          <p:cNvPr id="5070" name="TextBox 5069"/>
          <p:cNvSpPr txBox="1"/>
          <p:nvPr/>
        </p:nvSpPr>
        <p:spPr>
          <a:xfrm>
            <a:off x="7927848" y="7891272"/>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8시간 도달권 안의 마을·시설·도로·대피소</a:t>
            </a:r>
          </a:p>
        </p:txBody>
      </p:sp>
      <p:sp>
        <p:nvSpPr>
          <p:cNvPr id="5071" name="Rounded Rectangle 5070"/>
          <p:cNvSpPr/>
          <p:nvPr/>
        </p:nvSpPr>
        <p:spPr>
          <a:xfrm>
            <a:off x="12001500" y="7946136"/>
            <a:ext cx="1143000" cy="365760"/>
          </a:xfrm>
          <a:prstGeom prst="roundRect">
            <a:avLst>
              <a:gd name="adj" fmla="val 22499"/>
            </a:avLst>
          </a:prstGeom>
          <a:solidFill>
            <a:srgbClr val="FDEB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350" b="1">
                <a:solidFill>
                  <a:srgbClr val="B5601C"/>
                </a:solidFill>
                <a:latin typeface="210 OmniGothic 040"/>
                <a:ea typeface="210 OmniGothic 040"/>
                <a:cs typeface="210 OmniGothic 040"/>
              </a:rPr>
              <a:t>판단 범위</a:t>
            </a:r>
          </a:p>
        </p:txBody>
      </p:sp>
      <p:sp>
        <p:nvSpPr>
          <p:cNvPr id="5072" name="TextBox 5071"/>
          <p:cNvSpPr txBox="1"/>
          <p:nvPr/>
        </p:nvSpPr>
        <p:spPr>
          <a:xfrm>
            <a:off x="13299948" y="7891272"/>
            <a:ext cx="3799332" cy="475488"/>
          </a:xfrm>
          <a:prstGeom prst="rect">
            <a:avLst/>
          </a:prstGeom>
          <a:noFill/>
        </p:spPr>
        <p:txBody>
          <a:bodyPr wrap="square" lIns="0" tIns="0" rIns="0" bIns="0" rtlCol="0" anchor="ctr">
            <a:noAutofit/>
          </a:bodyPr>
          <a:lstStyle/>
          <a:p>
            <a:pPr algn="l" latinLnBrk="0">
              <a:lnSpc>
                <a:spcPct val="110000"/>
              </a:lnSpc>
              <a:spcBef>
                <a:spcPts val="0"/>
              </a:spcBef>
              <a:spcAft>
                <a:spcPts val="0"/>
              </a:spcAft>
              <a:buNone/>
            </a:pPr>
            <a:r>
              <a:rPr lang="ko-KR" altLang="en-US" sz="1450" b="0">
                <a:solidFill>
                  <a:srgbClr val="2E3142"/>
                </a:solidFill>
                <a:latin typeface="210 OmniGothic 040"/>
                <a:ea typeface="210 OmniGothic 040"/>
                <a:cs typeface="210 OmniGothic 040"/>
              </a:rPr>
              <a:t>진화 7개 · 대피 7개 판단 항목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 및 목표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현재 문제점</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7000" name="TextBox 5028"/>
          <p:cNvSpPr txBox="1"/>
          <p:nvPr/>
        </p:nvSpPr>
        <p:spPr>
          <a:xfrm>
            <a:off x="868680" y="2468880"/>
            <a:ext cx="16550640" cy="347472"/>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850" b="1">
                <a:solidFill>
                  <a:srgbClr val="363A52"/>
                </a:solidFill>
                <a:latin typeface="210 OmniGothic 040"/>
                <a:ea typeface="210 OmniGothic 040"/>
                <a:cs typeface="210 OmniGothic 040"/>
              </a:rPr>
              <a:t>대형 산불에서는 판단의 속도가 인명 피해를 좌우합니다</a:t>
            </a:r>
          </a:p>
        </p:txBody>
      </p:sp>
      <p:sp>
        <p:nvSpPr>
          <p:cNvPr id="7001" name="Stat 1"/>
          <p:cNvSpPr/>
          <p:nvPr/>
        </p:nvSpPr>
        <p:spPr>
          <a:xfrm>
            <a:off x="868680" y="2944368"/>
            <a:ext cx="5394960" cy="1188720"/>
          </a:xfrm>
          <a:prstGeom prst="roundRect">
            <a:avLst>
              <a:gd name="adj" fmla="val 1384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02" name="TextBox 5030"/>
          <p:cNvSpPr txBox="1"/>
          <p:nvPr/>
        </p:nvSpPr>
        <p:spPr>
          <a:xfrm>
            <a:off x="1197864" y="3127248"/>
            <a:ext cx="4736592"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500" b="1">
                <a:solidFill>
                  <a:srgbClr val="E8893A"/>
                </a:solidFill>
                <a:latin typeface="Pretendard Bold"/>
                <a:ea typeface="Pretendard Bold"/>
                <a:cs typeface="Pretendard Bold"/>
              </a:rPr>
              <a:t>사망 30명 · 부상 43명</a:t>
            </a:r>
          </a:p>
        </p:txBody>
      </p:sp>
      <p:sp>
        <p:nvSpPr>
          <p:cNvPr id="7003" name="TextBox 5031"/>
          <p:cNvSpPr txBox="1"/>
          <p:nvPr/>
        </p:nvSpPr>
        <p:spPr>
          <a:xfrm>
            <a:off x="1197864" y="3675888"/>
            <a:ext cx="4736592" cy="27432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2025년 3월 의성발 영남권 산불</a:t>
            </a:r>
            <a:r>
              <a:rPr lang="ko-KR" altLang="en-US" sz="1200" b="0">
                <a:solidFill>
                  <a:srgbClr val="6B7080"/>
                </a:solidFill>
                <a:latin typeface="210 OmniGothic 040"/>
                <a:ea typeface="210 OmniGothic 040"/>
                <a:cs typeface="210 OmniGothic 040"/>
              </a:rPr>
              <a:t>   2025.3.29 기준</a:t>
            </a:r>
          </a:p>
        </p:txBody>
      </p:sp>
      <p:sp>
        <p:nvSpPr>
          <p:cNvPr id="7004" name="Stat 2"/>
          <p:cNvSpPr/>
          <p:nvPr/>
        </p:nvSpPr>
        <p:spPr>
          <a:xfrm>
            <a:off x="6446520" y="2944368"/>
            <a:ext cx="5394960" cy="1188720"/>
          </a:xfrm>
          <a:prstGeom prst="roundRect">
            <a:avLst>
              <a:gd name="adj" fmla="val 1384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05" name="TextBox 5033"/>
          <p:cNvSpPr txBox="1"/>
          <p:nvPr/>
        </p:nvSpPr>
        <p:spPr>
          <a:xfrm>
            <a:off x="6775704" y="3127248"/>
            <a:ext cx="4736592"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500" b="1">
                <a:solidFill>
                  <a:srgbClr val="E8893A"/>
                </a:solidFill>
                <a:latin typeface="Pretendard Bold"/>
                <a:ea typeface="Pretendard Bold"/>
                <a:cs typeface="Pretendard Bold"/>
              </a:rPr>
              <a:t>28명 중 26명</a:t>
            </a:r>
          </a:p>
        </p:txBody>
      </p:sp>
      <p:sp>
        <p:nvSpPr>
          <p:cNvPr id="7006" name="TextBox 5034"/>
          <p:cNvSpPr txBox="1"/>
          <p:nvPr/>
        </p:nvSpPr>
        <p:spPr>
          <a:xfrm>
            <a:off x="6775704" y="3675888"/>
            <a:ext cx="4736592" cy="27432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사망자 가운데 60대 이상 고령자</a:t>
            </a:r>
            <a:r>
              <a:rPr lang="ko-KR" altLang="en-US" sz="1200" b="0">
                <a:solidFill>
                  <a:srgbClr val="6B7080"/>
                </a:solidFill>
                <a:latin typeface="210 OmniGothic 040"/>
                <a:ea typeface="210 OmniGothic 040"/>
                <a:cs typeface="210 OmniGothic 040"/>
              </a:rPr>
              <a:t>   2025.3.28 기준</a:t>
            </a:r>
          </a:p>
        </p:txBody>
      </p:sp>
      <p:sp>
        <p:nvSpPr>
          <p:cNvPr id="7007" name="Stat 3"/>
          <p:cNvSpPr/>
          <p:nvPr/>
        </p:nvSpPr>
        <p:spPr>
          <a:xfrm>
            <a:off x="12024360" y="2944368"/>
            <a:ext cx="5394960" cy="1188720"/>
          </a:xfrm>
          <a:prstGeom prst="roundRect">
            <a:avLst>
              <a:gd name="adj" fmla="val 13846"/>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08" name="TextBox 5036"/>
          <p:cNvSpPr txBox="1"/>
          <p:nvPr/>
        </p:nvSpPr>
        <p:spPr>
          <a:xfrm>
            <a:off x="12353544" y="3127248"/>
            <a:ext cx="4736592"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500" b="1">
                <a:solidFill>
                  <a:srgbClr val="E8893A"/>
                </a:solidFill>
                <a:latin typeface="Pretendard Bold"/>
                <a:ea typeface="Pretendard Bold"/>
                <a:cs typeface="Pretendard Bold"/>
              </a:rPr>
              <a:t>약 1조 818억 원</a:t>
            </a:r>
          </a:p>
        </p:txBody>
      </p:sp>
      <p:sp>
        <p:nvSpPr>
          <p:cNvPr id="7009" name="TextBox 5037"/>
          <p:cNvSpPr txBox="1"/>
          <p:nvPr/>
        </p:nvSpPr>
        <p:spPr>
          <a:xfrm>
            <a:off x="12353544" y="3675888"/>
            <a:ext cx="4736592" cy="27432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영남권 산불 재산피해</a:t>
            </a:r>
            <a:r>
              <a:rPr lang="ko-KR" altLang="en-US" sz="1200" b="0">
                <a:solidFill>
                  <a:srgbClr val="6B7080"/>
                </a:solidFill>
                <a:latin typeface="210 OmniGothic 040"/>
                <a:ea typeface="210 OmniGothic 040"/>
                <a:cs typeface="210 OmniGothic 040"/>
              </a:rPr>
              <a:t>   피해 확정 집계</a:t>
            </a:r>
          </a:p>
        </p:txBody>
      </p:sp>
      <p:sp>
        <p:nvSpPr>
          <p:cNvPr id="7010" name="Problem 1"/>
          <p:cNvSpPr/>
          <p:nvPr/>
        </p:nvSpPr>
        <p:spPr>
          <a:xfrm>
            <a:off x="868680" y="4389120"/>
            <a:ext cx="8183880" cy="2286000"/>
          </a:xfrm>
          <a:prstGeom prst="roundRect">
            <a:avLst>
              <a:gd name="adj" fmla="val 88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11" name="Rounded Rectangle 5039"/>
          <p:cNvSpPr/>
          <p:nvPr/>
        </p:nvSpPr>
        <p:spPr>
          <a:xfrm>
            <a:off x="1234440" y="4709160"/>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문제 ①</a:t>
            </a:r>
          </a:p>
        </p:txBody>
      </p:sp>
      <p:sp>
        <p:nvSpPr>
          <p:cNvPr id="7012" name="TextBox 5040"/>
          <p:cNvSpPr txBox="1"/>
          <p:nvPr/>
        </p:nvSpPr>
        <p:spPr>
          <a:xfrm>
            <a:off x="2587752" y="4690872"/>
            <a:ext cx="6172200" cy="49377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300" b="1">
                <a:solidFill>
                  <a:srgbClr val="363A52"/>
                </a:solidFill>
                <a:latin typeface="210 OmniGothic 040"/>
                <a:ea typeface="210 OmniGothic 040"/>
                <a:cs typeface="210 OmniGothic 040"/>
              </a:rPr>
              <a:t>기관별로 분산된 자원·상황정보</a:t>
            </a:r>
          </a:p>
        </p:txBody>
      </p:sp>
      <p:sp>
        <p:nvSpPr>
          <p:cNvPr id="7013" name="TextBox 5041"/>
          <p:cNvSpPr txBox="1"/>
          <p:nvPr/>
        </p:nvSpPr>
        <p:spPr>
          <a:xfrm>
            <a:off x="1234440" y="5413248"/>
            <a:ext cx="7452360" cy="822960"/>
          </a:xfrm>
          <a:prstGeom prst="rect">
            <a:avLst/>
          </a:prstGeom>
          <a:noFill/>
        </p:spPr>
        <p:txBody>
          <a:bodyPr wrap="square" lIns="0" tIns="0" rIns="0" bIns="0" rtlCol="0" anchor="t">
            <a:noAutofit/>
          </a:bodyPr>
          <a:lstStyle/>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공중진화와 지상진화, 산림청과 소방청이 따로 움직이는 이원화 체계</a:t>
            </a:r>
          </a:p>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확산 예측은 별도 시스템에서 산출되어 대응 판단 반영이 늦어짐</a:t>
            </a:r>
          </a:p>
        </p:txBody>
      </p:sp>
      <p:sp>
        <p:nvSpPr>
          <p:cNvPr id="7014" name="TextBox 5042"/>
          <p:cNvSpPr txBox="1"/>
          <p:nvPr/>
        </p:nvSpPr>
        <p:spPr>
          <a:xfrm>
            <a:off x="1234440" y="6309360"/>
            <a:ext cx="7452360" cy="219456"/>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050" b="0">
                <a:solidFill>
                  <a:srgbClr val="6B7080"/>
                </a:solidFill>
                <a:latin typeface="210 OmniGothic 030"/>
                <a:ea typeface="210 OmniGothic 030"/>
                <a:cs typeface="210 OmniGothic 030"/>
              </a:rPr>
              <a:t>국회입법조사처 산불대응연구TF(2025.6) · YTN(2025.4.9)</a:t>
            </a:r>
          </a:p>
        </p:txBody>
      </p:sp>
      <p:sp>
        <p:nvSpPr>
          <p:cNvPr id="7015" name="Problem 2"/>
          <p:cNvSpPr/>
          <p:nvPr/>
        </p:nvSpPr>
        <p:spPr>
          <a:xfrm>
            <a:off x="9235440" y="4389120"/>
            <a:ext cx="8183880" cy="2286000"/>
          </a:xfrm>
          <a:prstGeom prst="roundRect">
            <a:avLst>
              <a:gd name="adj" fmla="val 88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16" name="Rounded Rectangle 5044"/>
          <p:cNvSpPr/>
          <p:nvPr/>
        </p:nvSpPr>
        <p:spPr>
          <a:xfrm>
            <a:off x="9601200" y="4709160"/>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문제 ②</a:t>
            </a:r>
          </a:p>
        </p:txBody>
      </p:sp>
      <p:sp>
        <p:nvSpPr>
          <p:cNvPr id="7017" name="TextBox 5045"/>
          <p:cNvSpPr txBox="1"/>
          <p:nvPr/>
        </p:nvSpPr>
        <p:spPr>
          <a:xfrm>
            <a:off x="10954512" y="4690872"/>
            <a:ext cx="6172200" cy="49377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300" b="1">
                <a:solidFill>
                  <a:srgbClr val="363A52"/>
                </a:solidFill>
                <a:latin typeface="210 OmniGothic 040"/>
                <a:ea typeface="210 OmniGothic 040"/>
                <a:cs typeface="210 OmniGothic 040"/>
              </a:rPr>
              <a:t>통합지휘권자의 전문성 한계</a:t>
            </a:r>
          </a:p>
        </p:txBody>
      </p:sp>
      <p:sp>
        <p:nvSpPr>
          <p:cNvPr id="7018" name="TextBox 5046"/>
          <p:cNvSpPr txBox="1"/>
          <p:nvPr/>
        </p:nvSpPr>
        <p:spPr>
          <a:xfrm>
            <a:off x="9601200" y="5413248"/>
            <a:ext cx="7452360" cy="822960"/>
          </a:xfrm>
          <a:prstGeom prst="rect">
            <a:avLst/>
          </a:prstGeom>
          <a:noFill/>
        </p:spPr>
        <p:txBody>
          <a:bodyPr wrap="square" lIns="0" tIns="0" rIns="0" bIns="0" rtlCol="0" anchor="t">
            <a:noAutofit/>
          </a:bodyPr>
          <a:lstStyle/>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산불 현장 경험이 거의 없는 지자체장에게 지휘권이 주어짐</a:t>
            </a:r>
          </a:p>
          <a:p>
            <a:pPr marL="201168" indent="-201168" algn="l" latinLnBrk="0">
              <a:lnSpc>
                <a:spcPct val="120000"/>
              </a:lnSpc>
              <a:spcBef>
                <a:spcPts val="500"/>
              </a:spcBef>
              <a:spcAft>
                <a:spcPts val="0"/>
              </a:spcAft>
              <a:buClr>
                <a:srgbClr val="FAA95A"/>
              </a:buClr>
              <a:buFont typeface="Arial"/>
              <a:buChar char="•"/>
            </a:pPr>
            <a:r>
              <a:rPr lang="ko-KR" altLang="en-US" sz="1550" b="0">
                <a:solidFill>
                  <a:srgbClr val="2E3142"/>
                </a:solidFill>
                <a:latin typeface="210 OmniGothic 040"/>
                <a:ea typeface="210 OmniGothic 040"/>
                <a:cs typeface="210 OmniGothic 040"/>
              </a:rPr>
              <a:t>100쪽 넘는 표준매뉴얼에서 맞는 조항을 찾아 적용해야 함</a:t>
            </a:r>
          </a:p>
        </p:txBody>
      </p:sp>
      <p:sp>
        <p:nvSpPr>
          <p:cNvPr id="7019" name="TextBox 5047"/>
          <p:cNvSpPr txBox="1"/>
          <p:nvPr/>
        </p:nvSpPr>
        <p:spPr>
          <a:xfrm>
            <a:off x="9601200" y="6309360"/>
            <a:ext cx="7452360" cy="219456"/>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050" b="0">
                <a:solidFill>
                  <a:srgbClr val="6B7080"/>
                </a:solidFill>
                <a:latin typeface="210 OmniGothic 030"/>
                <a:ea typeface="210 OmniGothic 030"/>
                <a:cs typeface="210 OmniGothic 030"/>
              </a:rPr>
              <a:t>국회입법조사처 산불대응연구TF(2025.6) · 「산불 재난」 위기관리 표준매뉴얼</a:t>
            </a:r>
          </a:p>
        </p:txBody>
      </p:sp>
      <p:sp>
        <p:nvSpPr>
          <p:cNvPr id="7020" name="TextBox 5048"/>
          <p:cNvSpPr txBox="1"/>
          <p:nvPr/>
        </p:nvSpPr>
        <p:spPr>
          <a:xfrm>
            <a:off x="868680" y="6949440"/>
            <a:ext cx="2606040" cy="1280160"/>
          </a:xfrm>
          <a:prstGeom prst="rect">
            <a:avLst/>
          </a:prstGeom>
          <a:noFill/>
        </p:spPr>
        <p:txBody>
          <a:bodyPr wrap="square" lIns="0" tIns="0" rIns="0" bIns="0" rtlCol="0" anchor="ctr">
            <a:noAutofit/>
          </a:bodyPr>
          <a:lstStyle/>
          <a:p>
            <a:pPr algn="l" latinLnBrk="0">
              <a:lnSpc>
                <a:spcPct val="125000"/>
              </a:lnSpc>
              <a:spcBef>
                <a:spcPts val="0"/>
              </a:spcBef>
              <a:spcAft>
                <a:spcPts val="0"/>
              </a:spcAft>
              <a:buNone/>
            </a:pPr>
            <a:r>
              <a:rPr lang="ko-KR" altLang="en-US" sz="1750" b="1">
                <a:solidFill>
                  <a:srgbClr val="363A52"/>
                </a:solidFill>
                <a:latin typeface="210 OmniGothic 040"/>
                <a:ea typeface="210 OmniGothic 040"/>
                <a:cs typeface="210 OmniGothic 040"/>
              </a:rPr>
              <a:t>비어 있는 것은</a:t>
            </a:r>
          </a:p>
          <a:p>
            <a:pPr algn="l" latinLnBrk="0">
              <a:lnSpc>
                <a:spcPct val="125000"/>
              </a:lnSpc>
              <a:spcBef>
                <a:spcPts val="0"/>
              </a:spcBef>
              <a:spcAft>
                <a:spcPts val="0"/>
              </a:spcAft>
              <a:buNone/>
            </a:pPr>
            <a:r>
              <a:rPr lang="ko-KR" altLang="en-US" sz="1750" b="1">
                <a:solidFill>
                  <a:srgbClr val="363A52"/>
                </a:solidFill>
                <a:latin typeface="210 OmniGothic 040"/>
                <a:ea typeface="210 OmniGothic 040"/>
                <a:cs typeface="210 OmniGothic 040"/>
              </a:rPr>
              <a:t>예측도 규칙도 아닙니다</a:t>
            </a:r>
          </a:p>
        </p:txBody>
      </p:sp>
      <p:sp>
        <p:nvSpPr>
          <p:cNvPr id="7021" name="Rounded Rectangle 5049"/>
          <p:cNvSpPr/>
          <p:nvPr/>
        </p:nvSpPr>
        <p:spPr>
          <a:xfrm>
            <a:off x="3566160" y="6949440"/>
            <a:ext cx="3657600" cy="1280160"/>
          </a:xfrm>
          <a:prstGeom prst="roundRect">
            <a:avLst>
              <a:gd name="adj" fmla="val 11428"/>
            </a:avLst>
          </a:prstGeom>
          <a:solidFill>
            <a:srgbClr val="FFFFFF"/>
          </a:solidFill>
          <a:ln w="15875">
            <a:solidFill>
              <a:srgbClr val="D9DC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22" name="TextBox 5050"/>
          <p:cNvSpPr txBox="1"/>
          <p:nvPr/>
        </p:nvSpPr>
        <p:spPr>
          <a:xfrm>
            <a:off x="3840480" y="7187184"/>
            <a:ext cx="219456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700" b="1">
                <a:solidFill>
                  <a:srgbClr val="363A52"/>
                </a:solidFill>
                <a:latin typeface="210 OmniGothic 040"/>
                <a:ea typeface="210 OmniGothic 040"/>
                <a:cs typeface="210 OmniGothic 040"/>
              </a:rPr>
              <a:t>확산 예측</a:t>
            </a:r>
          </a:p>
        </p:txBody>
      </p:sp>
      <p:sp>
        <p:nvSpPr>
          <p:cNvPr id="7023" name="Rounded Rectangle 5051"/>
          <p:cNvSpPr/>
          <p:nvPr/>
        </p:nvSpPr>
        <p:spPr>
          <a:xfrm>
            <a:off x="6172200" y="7187184"/>
            <a:ext cx="777240" cy="329184"/>
          </a:xfrm>
          <a:prstGeom prst="roundRect">
            <a:avLst>
              <a:gd name="adj" fmla="val 25000"/>
            </a:avLst>
          </a:prstGeom>
          <a:solidFill>
            <a:srgbClr val="E6E9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6B7080"/>
                </a:solidFill>
                <a:latin typeface="210 OmniGothic 040"/>
                <a:ea typeface="210 OmniGothic 040"/>
                <a:cs typeface="210 OmniGothic 040"/>
              </a:rPr>
              <a:t>있음</a:t>
            </a:r>
          </a:p>
        </p:txBody>
      </p:sp>
      <p:sp>
        <p:nvSpPr>
          <p:cNvPr id="7024" name="TextBox 5052"/>
          <p:cNvSpPr txBox="1"/>
          <p:nvPr/>
        </p:nvSpPr>
        <p:spPr>
          <a:xfrm>
            <a:off x="3840480" y="7699248"/>
            <a:ext cx="320040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산불확산예측시스템 등 국가 시스템</a:t>
            </a:r>
          </a:p>
        </p:txBody>
      </p:sp>
      <p:sp>
        <p:nvSpPr>
          <p:cNvPr id="7025" name="Chevron 5053"/>
          <p:cNvSpPr/>
          <p:nvPr/>
        </p:nvSpPr>
        <p:spPr>
          <a:xfrm>
            <a:off x="7324344" y="7443216"/>
            <a:ext cx="164592" cy="292608"/>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26" name="Rounded Rectangle 5054"/>
          <p:cNvSpPr/>
          <p:nvPr/>
        </p:nvSpPr>
        <p:spPr>
          <a:xfrm>
            <a:off x="7589520" y="6949440"/>
            <a:ext cx="3657600" cy="1280160"/>
          </a:xfrm>
          <a:prstGeom prst="roundRect">
            <a:avLst>
              <a:gd name="adj" fmla="val 11428"/>
            </a:avLst>
          </a:prstGeom>
          <a:solidFill>
            <a:srgbClr val="FFFFFF"/>
          </a:solidFill>
          <a:ln w="15875">
            <a:solidFill>
              <a:srgbClr val="D9DC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27" name="TextBox 5055"/>
          <p:cNvSpPr txBox="1"/>
          <p:nvPr/>
        </p:nvSpPr>
        <p:spPr>
          <a:xfrm>
            <a:off x="7863840" y="7187184"/>
            <a:ext cx="219456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700" b="1">
                <a:solidFill>
                  <a:srgbClr val="363A52"/>
                </a:solidFill>
                <a:latin typeface="210 OmniGothic 040"/>
                <a:ea typeface="210 OmniGothic 040"/>
                <a:cs typeface="210 OmniGothic 040"/>
              </a:rPr>
              <a:t>대응 규칙</a:t>
            </a:r>
          </a:p>
        </p:txBody>
      </p:sp>
      <p:sp>
        <p:nvSpPr>
          <p:cNvPr id="7028" name="Rounded Rectangle 5056"/>
          <p:cNvSpPr/>
          <p:nvPr/>
        </p:nvSpPr>
        <p:spPr>
          <a:xfrm>
            <a:off x="10195560" y="7187184"/>
            <a:ext cx="777240" cy="329184"/>
          </a:xfrm>
          <a:prstGeom prst="roundRect">
            <a:avLst>
              <a:gd name="adj" fmla="val 25000"/>
            </a:avLst>
          </a:prstGeom>
          <a:solidFill>
            <a:srgbClr val="E6E9F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6B7080"/>
                </a:solidFill>
                <a:latin typeface="210 OmniGothic 040"/>
                <a:ea typeface="210 OmniGothic 040"/>
                <a:cs typeface="210 OmniGothic 040"/>
              </a:rPr>
              <a:t>있음</a:t>
            </a:r>
          </a:p>
        </p:txBody>
      </p:sp>
      <p:sp>
        <p:nvSpPr>
          <p:cNvPr id="7029" name="TextBox 5057"/>
          <p:cNvSpPr txBox="1"/>
          <p:nvPr/>
        </p:nvSpPr>
        <p:spPr>
          <a:xfrm>
            <a:off x="7863840" y="7699248"/>
            <a:ext cx="320040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00" b="0">
                <a:solidFill>
                  <a:srgbClr val="6B7080"/>
                </a:solidFill>
                <a:latin typeface="210 OmniGothic 040"/>
                <a:ea typeface="210 OmniGothic 040"/>
                <a:cs typeface="210 OmniGothic 040"/>
              </a:rPr>
              <a:t>산림재난방지법 시행령 · 표준매뉴얼</a:t>
            </a:r>
          </a:p>
        </p:txBody>
      </p:sp>
      <p:sp>
        <p:nvSpPr>
          <p:cNvPr id="7030" name="Chevron 5058"/>
          <p:cNvSpPr/>
          <p:nvPr/>
        </p:nvSpPr>
        <p:spPr>
          <a:xfrm>
            <a:off x="11347704" y="7443216"/>
            <a:ext cx="164592" cy="292608"/>
          </a:xfrm>
          <a:prstGeom prst="chevron">
            <a:avLst>
              <a:gd name="adj" fmla="val 6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31" name="Gap"/>
          <p:cNvSpPr/>
          <p:nvPr/>
        </p:nvSpPr>
        <p:spPr>
          <a:xfrm>
            <a:off x="11612880" y="6949440"/>
            <a:ext cx="5806440" cy="1280160"/>
          </a:xfrm>
          <a:prstGeom prst="roundRect">
            <a:avLst>
              <a:gd name="adj" fmla="val 11428"/>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7032" name="TextBox 5060"/>
          <p:cNvSpPr txBox="1"/>
          <p:nvPr/>
        </p:nvSpPr>
        <p:spPr>
          <a:xfrm>
            <a:off x="11905488" y="7187184"/>
            <a:ext cx="306324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700" b="1">
                <a:solidFill>
                  <a:srgbClr val="FFFFFF"/>
                </a:solidFill>
                <a:latin typeface="210 OmniGothic 040"/>
                <a:ea typeface="210 OmniGothic 040"/>
                <a:cs typeface="210 OmniGothic 040"/>
              </a:rPr>
              <a:t>판단 항목별 대응안 + 근거</a:t>
            </a:r>
          </a:p>
        </p:txBody>
      </p:sp>
      <p:sp>
        <p:nvSpPr>
          <p:cNvPr id="7033" name="Rounded Rectangle 5061"/>
          <p:cNvSpPr/>
          <p:nvPr/>
        </p:nvSpPr>
        <p:spPr>
          <a:xfrm>
            <a:off x="15023592" y="7187184"/>
            <a:ext cx="2103120" cy="329184"/>
          </a:xfrm>
          <a:prstGeom prst="roundRect">
            <a:avLst>
              <a:gd name="adj" fmla="val 25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50" b="1">
                <a:solidFill>
                  <a:srgbClr val="FFFFFF"/>
                </a:solidFill>
                <a:latin typeface="210 OmniGothic 040"/>
                <a:ea typeface="210 OmniGothic 040"/>
                <a:cs typeface="210 OmniGothic 040"/>
              </a:rPr>
              <a:t>비어 있음 → 본 과제</a:t>
            </a:r>
          </a:p>
        </p:txBody>
      </p:sp>
      <p:sp>
        <p:nvSpPr>
          <p:cNvPr id="7034" name="TextBox 5062"/>
          <p:cNvSpPr txBox="1"/>
          <p:nvPr/>
        </p:nvSpPr>
        <p:spPr>
          <a:xfrm>
            <a:off x="11905488" y="7699248"/>
            <a:ext cx="525780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E6E9F1"/>
                </a:solidFill>
                <a:latin typeface="210 OmniGothic 040"/>
                <a:ea typeface="210 OmniGothic 040"/>
                <a:cs typeface="210 OmniGothic 040"/>
              </a:rPr>
              <a:t>「지금 무엇을 결정해야 하는가」를 근거와 함께 제시하는 단계</a:t>
            </a:r>
          </a:p>
        </p:txBody>
      </p:sp>
      <p:sp>
        <p:nvSpPr>
          <p:cNvPr id="7035" name="TextBox 5063"/>
          <p:cNvSpPr txBox="1"/>
          <p:nvPr/>
        </p:nvSpPr>
        <p:spPr>
          <a:xfrm>
            <a:off x="868680" y="8595360"/>
            <a:ext cx="16550640"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050" b="0">
                <a:solidFill>
                  <a:srgbClr val="7B8094"/>
                </a:solidFill>
                <a:latin typeface="210 OmniGothic 030"/>
                <a:ea typeface="210 OmniGothic 030"/>
                <a:cs typeface="210 OmniGothic 030"/>
              </a:rPr>
              <a:t>출처: 중앙재난안전대책본부 집계(경향신문 2025.3.29, 매일신문 2025.6.29) · 경상북도 등 지자체 집계(한국경제 2025.3.28)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 및 목표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차별점 — 기존 국가 시스템 · 범용 LLM과의 비교</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7</a:t>
            </a:fld>
            <a:endParaRPr lang="en-US"/>
          </a:p>
        </p:txBody>
      </p:sp>
      <p:graphicFrame>
        <p:nvGraphicFramePr>
          <p:cNvPr id="7033" name="Differentiation"/>
          <p:cNvGraphicFramePr>
            <a:graphicFrameLocks noGrp="1"/>
          </p:cNvGraphicFramePr>
          <p:nvPr/>
        </p:nvGraphicFramePr>
        <p:xfrm>
          <a:off x="868680" y="2560320"/>
          <a:ext cx="16550640" cy="6069325"/>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7315200">
                  <a:extLst>
                    <a:ext uri="{9D8B030D-6E8A-4147-A177-3AD203B41FA5}">
                      <a16:colId xmlns:a16="http://schemas.microsoft.com/office/drawing/2014/main" val="20003"/>
                    </a:ext>
                  </a:extLst>
                </a:gridCol>
              </a:tblGrid>
              <a:tr h="1028700">
                <a:tc>
                  <a:txBody>
                    <a:bodyPr/>
                    <a:lstStyle/>
                    <a:p>
                      <a:pPr algn="ctr" latinLnBrk="0">
                        <a:lnSpc>
                          <a:spcPct val="112000"/>
                        </a:lnSpc>
                        <a:spcBef>
                          <a:spcPts val="0"/>
                        </a:spcBef>
                        <a:spcAft>
                          <a:spcPts val="0"/>
                        </a:spcAft>
                        <a:buNone/>
                      </a:pPr>
                      <a:r>
                        <a:rPr lang="ko-KR" altLang="en-US" sz="2000" b="1">
                          <a:solidFill>
                            <a:srgbClr val="FFFFFF"/>
                          </a:solidFill>
                          <a:latin typeface="210 OmniGothic 040"/>
                          <a:ea typeface="210 OmniGothic 040"/>
                          <a:cs typeface="210 OmniGothic 040"/>
                        </a:rPr>
                        <a:t>차별점</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2000" b="1">
                          <a:solidFill>
                            <a:srgbClr val="FFFFFF"/>
                          </a:solidFill>
                          <a:latin typeface="210 OmniGothic 040"/>
                          <a:ea typeface="210 OmniGothic 040"/>
                          <a:cs typeface="210 OmniGothic 040"/>
                        </a:rPr>
                        <a:t>기존 국가 시스템</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2000" b="1">
                          <a:solidFill>
                            <a:srgbClr val="FFFFFF"/>
                          </a:solidFill>
                          <a:latin typeface="210 OmniGothic 040"/>
                          <a:ea typeface="210 OmniGothic 040"/>
                          <a:cs typeface="210 OmniGothic 040"/>
                        </a:rPr>
                        <a:t>범용 LLM 질의응답</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2000" b="1">
                          <a:solidFill>
                            <a:srgbClr val="FFFFFF"/>
                          </a:solidFill>
                          <a:latin typeface="210 OmniGothic 040"/>
                          <a:ea typeface="210 OmniGothic 040"/>
                          <a:cs typeface="210 OmniGothic 040"/>
                        </a:rPr>
                        <a:t>본 과제</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E8893A"/>
                    </a:solidFill>
                  </a:tcPr>
                </a:tc>
                <a:extLst>
                  <a:ext uri="{0D108BD9-81ED-4DB2-BD59-A6C34878D82A}">
                    <a16:rowId xmlns:a16="http://schemas.microsoft.com/office/drawing/2014/main" val="10000"/>
                  </a:ext>
                </a:extLst>
              </a:tr>
              <a:tr h="1008125">
                <a:tc>
                  <a:txBody>
                    <a:bodyPr/>
                    <a:lstStyle/>
                    <a:p>
                      <a:pPr algn="ctr" latinLnBrk="0">
                        <a:lnSpc>
                          <a:spcPct val="112000"/>
                        </a:lnSpc>
                        <a:spcBef>
                          <a:spcPts val="0"/>
                        </a:spcBef>
                        <a:spcAft>
                          <a:spcPts val="0"/>
                        </a:spcAft>
                        <a:buNone/>
                      </a:pPr>
                      <a:r>
                        <a:rPr lang="ko-KR" altLang="en-US" sz="2000" b="1">
                          <a:solidFill>
                            <a:srgbClr val="363A52"/>
                          </a:solidFill>
                          <a:latin typeface="210 OmniGothic 040"/>
                          <a:ea typeface="210 OmniGothic 040"/>
                          <a:cs typeface="210 OmniGothic 040"/>
                        </a:rPr>
                        <a:t>상황 통합</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시스템·기관별 분산</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2000" b="1">
                          <a:solidFill>
                            <a:srgbClr val="2E3142"/>
                          </a:solidFill>
                          <a:latin typeface="210 OmniGothic 040"/>
                          <a:ea typeface="210 OmniGothic 040"/>
                          <a:cs typeface="210 OmniGothic 040"/>
                        </a:rPr>
                        <a:t>통합 상황도 (예측·시설·진화자원)</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1"/>
                  </a:ext>
                </a:extLst>
              </a:tr>
              <a:tr h="1008125">
                <a:tc>
                  <a:txBody>
                    <a:bodyPr/>
                    <a:lstStyle/>
                    <a:p>
                      <a:pPr algn="ctr" latinLnBrk="0">
                        <a:lnSpc>
                          <a:spcPct val="112000"/>
                        </a:lnSpc>
                        <a:spcBef>
                          <a:spcPts val="0"/>
                        </a:spcBef>
                        <a:spcAft>
                          <a:spcPts val="0"/>
                        </a:spcAft>
                        <a:buNone/>
                      </a:pPr>
                      <a:r>
                        <a:rPr lang="ko-KR" altLang="en-US" sz="2000" b="1">
                          <a:solidFill>
                            <a:srgbClr val="363A52"/>
                          </a:solidFill>
                          <a:latin typeface="210 OmniGothic 040"/>
                          <a:ea typeface="210 OmniGothic 040"/>
                          <a:cs typeface="210 OmniGothic 040"/>
                        </a:rPr>
                        <a:t>대응안 생성</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회차별 발행 (수작업)</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자동 · 근거 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2000" b="1">
                          <a:solidFill>
                            <a:srgbClr val="2E3142"/>
                          </a:solidFill>
                          <a:latin typeface="210 OmniGothic 040"/>
                          <a:ea typeface="210 OmniGothic 040"/>
                          <a:cs typeface="210 OmniGothic 040"/>
                        </a:rPr>
                        <a:t>자동 · 규칙 판정 + 근거 인용</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2"/>
                  </a:ext>
                </a:extLst>
              </a:tr>
              <a:tr h="1008125">
                <a:tc>
                  <a:txBody>
                    <a:bodyPr/>
                    <a:lstStyle/>
                    <a:p>
                      <a:pPr algn="ctr" latinLnBrk="0">
                        <a:lnSpc>
                          <a:spcPct val="112000"/>
                        </a:lnSpc>
                        <a:spcBef>
                          <a:spcPts val="0"/>
                        </a:spcBef>
                        <a:spcAft>
                          <a:spcPts val="0"/>
                        </a:spcAft>
                        <a:buNone/>
                      </a:pPr>
                      <a:r>
                        <a:rPr lang="ko-KR" altLang="en-US" sz="2000" b="1">
                          <a:solidFill>
                            <a:srgbClr val="363A52"/>
                          </a:solidFill>
                          <a:latin typeface="210 OmniGothic 040"/>
                          <a:ea typeface="210 OmniGothic 040"/>
                          <a:cs typeface="210 OmniGothic 040"/>
                        </a:rPr>
                        <a:t>근거 추적</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조항 표기 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불가</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2000" b="1">
                          <a:solidFill>
                            <a:srgbClr val="2E3142"/>
                          </a:solidFill>
                          <a:latin typeface="210 OmniGothic 040"/>
                          <a:ea typeface="210 OmniGothic 040"/>
                          <a:cs typeface="210 OmniGothic 040"/>
                        </a:rPr>
                        <a:t>문서·쪽수·조항 + 요약</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3"/>
                  </a:ext>
                </a:extLst>
              </a:tr>
              <a:tr h="1008125">
                <a:tc>
                  <a:txBody>
                    <a:bodyPr/>
                    <a:lstStyle/>
                    <a:p>
                      <a:pPr algn="ctr" latinLnBrk="0">
                        <a:lnSpc>
                          <a:spcPct val="112000"/>
                        </a:lnSpc>
                        <a:spcBef>
                          <a:spcPts val="0"/>
                        </a:spcBef>
                        <a:spcAft>
                          <a:spcPts val="0"/>
                        </a:spcAft>
                        <a:buNone/>
                      </a:pPr>
                      <a:r>
                        <a:rPr lang="ko-KR" altLang="en-US" sz="2000" b="1">
                          <a:solidFill>
                            <a:srgbClr val="363A52"/>
                          </a:solidFill>
                          <a:latin typeface="210 OmniGothic 040"/>
                          <a:ea typeface="210 OmniGothic 040"/>
                          <a:cs typeface="210 OmniGothic 040"/>
                        </a:rPr>
                        <a:t>환각 방지</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표기 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없음</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2000" b="1">
                          <a:solidFill>
                            <a:srgbClr val="2E3142"/>
                          </a:solidFill>
                          <a:latin typeface="210 OmniGothic 040"/>
                          <a:ea typeface="210 OmniGothic 040"/>
                          <a:cs typeface="210 OmniGothic 040"/>
                        </a:rPr>
                        <a:t>판정 값은 규칙 엔진이 산출 · 근거 없는 내용은 미출력</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4"/>
                  </a:ext>
                </a:extLst>
              </a:tr>
              <a:tr h="1008125">
                <a:tc>
                  <a:txBody>
                    <a:bodyPr/>
                    <a:lstStyle/>
                    <a:p>
                      <a:pPr algn="ctr" latinLnBrk="0">
                        <a:lnSpc>
                          <a:spcPct val="112000"/>
                        </a:lnSpc>
                        <a:spcBef>
                          <a:spcPts val="0"/>
                        </a:spcBef>
                        <a:spcAft>
                          <a:spcPts val="0"/>
                        </a:spcAft>
                        <a:buNone/>
                      </a:pPr>
                      <a:r>
                        <a:rPr lang="ko-KR" altLang="en-US" sz="2000" b="1">
                          <a:solidFill>
                            <a:srgbClr val="363A52"/>
                          </a:solidFill>
                          <a:latin typeface="210 OmniGothic 040"/>
                          <a:ea typeface="210 OmniGothic 040"/>
                          <a:cs typeface="210 OmniGothic 040"/>
                        </a:rPr>
                        <a:t>상황 변화 반영</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다음 회차 발행</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latinLnBrk="0">
                        <a:lnSpc>
                          <a:spcPct val="112000"/>
                        </a:lnSpc>
                        <a:spcBef>
                          <a:spcPts val="0"/>
                        </a:spcBef>
                        <a:spcAft>
                          <a:spcPts val="0"/>
                        </a:spcAft>
                        <a:buNone/>
                      </a:pPr>
                      <a:r>
                        <a:rPr lang="ko-KR" altLang="en-US" sz="2000" b="0">
                          <a:solidFill>
                            <a:srgbClr val="6B7080"/>
                          </a:solidFill>
                          <a:latin typeface="210 OmniGothic 030"/>
                          <a:ea typeface="210 OmniGothic 030"/>
                          <a:cs typeface="210 OmniGothic 030"/>
                        </a:rPr>
                        <a:t>대화 문맥 한정</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2000" b="1">
                          <a:solidFill>
                            <a:srgbClr val="2E3142"/>
                          </a:solidFill>
                          <a:latin typeface="210 OmniGothic 040"/>
                          <a:ea typeface="210 OmniGothic 040"/>
                          <a:cs typeface="210 OmniGothic 040"/>
                        </a:rPr>
                        <a:t>예측 갱신·상황 정정 시 새 버전 생성</a:t>
                      </a:r>
                    </a:p>
                  </a:txBody>
                  <a:tcPr marL="274320" marR="109728" marT="36576" marB="36576"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33"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3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3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36"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37"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 및 목표</a:t>
            </a:r>
          </a:p>
        </p:txBody>
      </p:sp>
      <p:sp>
        <p:nvSpPr>
          <p:cNvPr id="5038"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목표 및 기대 효과</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5039" name="목표 ①"/>
          <p:cNvSpPr/>
          <p:nvPr/>
        </p:nvSpPr>
        <p:spPr>
          <a:xfrm>
            <a:off x="868680" y="2487168"/>
            <a:ext cx="5303520" cy="2240280"/>
          </a:xfrm>
          <a:prstGeom prst="roundRect">
            <a:avLst>
              <a:gd name="adj" fmla="val 89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0" name="Rounded Rectangle 5039"/>
          <p:cNvSpPr/>
          <p:nvPr/>
        </p:nvSpPr>
        <p:spPr>
          <a:xfrm>
            <a:off x="1216152" y="2807208"/>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목표 ①</a:t>
            </a:r>
          </a:p>
        </p:txBody>
      </p:sp>
      <p:sp>
        <p:nvSpPr>
          <p:cNvPr id="5041" name="Rounded Rectangle 5040"/>
          <p:cNvSpPr/>
          <p:nvPr/>
        </p:nvSpPr>
        <p:spPr>
          <a:xfrm>
            <a:off x="4453128" y="2871216"/>
            <a:ext cx="1371600" cy="32918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00" b="1">
                <a:solidFill>
                  <a:srgbClr val="B5601C"/>
                </a:solidFill>
                <a:latin typeface="210 OmniGothic 040"/>
                <a:ea typeface="210 OmniGothic 040"/>
                <a:cs typeface="210 OmniGothic 040"/>
              </a:rPr>
              <a:t>문제 ① 대응</a:t>
            </a:r>
          </a:p>
        </p:txBody>
      </p:sp>
      <p:sp>
        <p:nvSpPr>
          <p:cNvPr id="5042" name="TextBox 5041"/>
          <p:cNvSpPr txBox="1"/>
          <p:nvPr/>
        </p:nvSpPr>
        <p:spPr>
          <a:xfrm>
            <a:off x="1216152" y="3419856"/>
            <a:ext cx="4608576"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통합 상황 인식</a:t>
            </a:r>
          </a:p>
        </p:txBody>
      </p:sp>
      <p:sp>
        <p:nvSpPr>
          <p:cNvPr id="5043" name="TextBox 5042"/>
          <p:cNvSpPr txBox="1"/>
          <p:nvPr/>
        </p:nvSpPr>
        <p:spPr>
          <a:xfrm>
            <a:off x="1216152" y="3931920"/>
            <a:ext cx="4608576" cy="685800"/>
          </a:xfrm>
          <a:prstGeom prst="rect">
            <a:avLst/>
          </a:prstGeom>
          <a:noFill/>
        </p:spPr>
        <p:txBody>
          <a:bodyPr wrap="square" lIns="0" tIns="0" rIns="0" bIns="0" rtlCol="0" anchor="t">
            <a:noAutofit/>
          </a:bodyPr>
          <a:lstStyle/>
          <a:p>
            <a:pPr algn="l" latinLnBrk="0">
              <a:lnSpc>
                <a:spcPct val="125000"/>
              </a:lnSpc>
              <a:spcBef>
                <a:spcPts val="0"/>
              </a:spcBef>
              <a:spcAft>
                <a:spcPts val="0"/>
              </a:spcAft>
              <a:buNone/>
            </a:pPr>
            <a:r>
              <a:rPr lang="ko-KR" altLang="en-US" sz="1500" b="0">
                <a:solidFill>
                  <a:srgbClr val="2E3142"/>
                </a:solidFill>
                <a:latin typeface="210 OmniGothic 040"/>
                <a:ea typeface="210 OmniGothic 040"/>
                <a:cs typeface="210 OmniGothic 040"/>
              </a:rPr>
              <a:t>산불 위치·확산 예측·주변 시설·기상·진화자원을 하나의 지도에서 확인</a:t>
            </a:r>
          </a:p>
        </p:txBody>
      </p:sp>
      <p:sp>
        <p:nvSpPr>
          <p:cNvPr id="5044" name="목표 ②"/>
          <p:cNvSpPr/>
          <p:nvPr/>
        </p:nvSpPr>
        <p:spPr>
          <a:xfrm>
            <a:off x="868680" y="4910328"/>
            <a:ext cx="5303520" cy="2240280"/>
          </a:xfrm>
          <a:prstGeom prst="roundRect">
            <a:avLst>
              <a:gd name="adj" fmla="val 8979"/>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45" name="Rounded Rectangle 5044"/>
          <p:cNvSpPr/>
          <p:nvPr/>
        </p:nvSpPr>
        <p:spPr>
          <a:xfrm>
            <a:off x="1216152" y="5230368"/>
            <a:ext cx="1143000" cy="457200"/>
          </a:xfrm>
          <a:prstGeom prst="roundRect">
            <a:avLst>
              <a:gd name="adj" fmla="val 20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550" b="1">
                <a:solidFill>
                  <a:srgbClr val="FFFFFF"/>
                </a:solidFill>
                <a:latin typeface="210 OmniGothic 040"/>
                <a:ea typeface="210 OmniGothic 040"/>
                <a:cs typeface="210 OmniGothic 040"/>
              </a:rPr>
              <a:t>목표 ②</a:t>
            </a:r>
          </a:p>
        </p:txBody>
      </p:sp>
      <p:sp>
        <p:nvSpPr>
          <p:cNvPr id="5046" name="Rounded Rectangle 5045"/>
          <p:cNvSpPr/>
          <p:nvPr/>
        </p:nvSpPr>
        <p:spPr>
          <a:xfrm>
            <a:off x="4453128" y="5294376"/>
            <a:ext cx="1371600" cy="32918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latinLnBrk="0">
              <a:lnSpc>
                <a:spcPct val="120000"/>
              </a:lnSpc>
              <a:spcBef>
                <a:spcPts val="0"/>
              </a:spcBef>
              <a:spcAft>
                <a:spcPts val="0"/>
              </a:spcAft>
              <a:buNone/>
            </a:pPr>
            <a:r>
              <a:rPr lang="ko-KR" altLang="en-US" sz="1200" b="1">
                <a:solidFill>
                  <a:srgbClr val="B5601C"/>
                </a:solidFill>
                <a:latin typeface="210 OmniGothic 040"/>
                <a:ea typeface="210 OmniGothic 040"/>
                <a:cs typeface="210 OmniGothic 040"/>
              </a:rPr>
              <a:t>문제 ② 대응</a:t>
            </a:r>
          </a:p>
        </p:txBody>
      </p:sp>
      <p:sp>
        <p:nvSpPr>
          <p:cNvPr id="5047" name="TextBox 5046"/>
          <p:cNvSpPr txBox="1"/>
          <p:nvPr/>
        </p:nvSpPr>
        <p:spPr>
          <a:xfrm>
            <a:off x="1216152" y="5843016"/>
            <a:ext cx="4608576" cy="40233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2200" b="1">
                <a:solidFill>
                  <a:srgbClr val="363A52"/>
                </a:solidFill>
                <a:latin typeface="210 OmniGothic 040"/>
                <a:ea typeface="210 OmniGothic 040"/>
                <a:cs typeface="210 OmniGothic 040"/>
              </a:rPr>
              <a:t>전문적 의사결정 지원</a:t>
            </a:r>
          </a:p>
        </p:txBody>
      </p:sp>
      <p:sp>
        <p:nvSpPr>
          <p:cNvPr id="5048" name="TextBox 5047"/>
          <p:cNvSpPr txBox="1"/>
          <p:nvPr/>
        </p:nvSpPr>
        <p:spPr>
          <a:xfrm>
            <a:off x="1216152" y="6355080"/>
            <a:ext cx="4608576" cy="685800"/>
          </a:xfrm>
          <a:prstGeom prst="rect">
            <a:avLst/>
          </a:prstGeom>
          <a:noFill/>
        </p:spPr>
        <p:txBody>
          <a:bodyPr wrap="square" lIns="0" tIns="0" rIns="0" bIns="0" rtlCol="0" anchor="t">
            <a:noAutofit/>
          </a:bodyPr>
          <a:lstStyle/>
          <a:p>
            <a:pPr algn="l" latinLnBrk="0">
              <a:lnSpc>
                <a:spcPct val="125000"/>
              </a:lnSpc>
              <a:spcBef>
                <a:spcPts val="0"/>
              </a:spcBef>
              <a:spcAft>
                <a:spcPts val="0"/>
              </a:spcAft>
              <a:buNone/>
            </a:pPr>
            <a:r>
              <a:rPr lang="ko-KR" altLang="en-US" sz="1500" b="0">
                <a:solidFill>
                  <a:srgbClr val="2E3142"/>
                </a:solidFill>
                <a:latin typeface="210 OmniGothic 040"/>
                <a:ea typeface="210 OmniGothic 040"/>
                <a:cs typeface="210 OmniGothic 040"/>
              </a:rPr>
              <a:t>예측과 현재 상황을 표준매뉴얼 판단 항목에 대입해 대응안을 근거와 함께 제안</a:t>
            </a:r>
          </a:p>
        </p:txBody>
      </p:sp>
      <p:sp>
        <p:nvSpPr>
          <p:cNvPr id="5049" name="Principle"/>
          <p:cNvSpPr/>
          <p:nvPr/>
        </p:nvSpPr>
        <p:spPr>
          <a:xfrm>
            <a:off x="868680" y="7333488"/>
            <a:ext cx="5303520" cy="1417320"/>
          </a:xfrm>
          <a:prstGeom prst="roundRect">
            <a:avLst>
              <a:gd name="adj" fmla="val 14193"/>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0" name="TextBox 5049"/>
          <p:cNvSpPr txBox="1"/>
          <p:nvPr/>
        </p:nvSpPr>
        <p:spPr>
          <a:xfrm>
            <a:off x="1216152" y="7552944"/>
            <a:ext cx="4608576" cy="256032"/>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1">
                <a:solidFill>
                  <a:srgbClr val="FAA95A"/>
                </a:solidFill>
                <a:latin typeface="210 OmniGothic 040"/>
                <a:ea typeface="210 OmniGothic 040"/>
                <a:cs typeface="210 OmniGothic 040"/>
              </a:rPr>
              <a:t>운영 원칙</a:t>
            </a:r>
          </a:p>
        </p:txBody>
      </p:sp>
      <p:sp>
        <p:nvSpPr>
          <p:cNvPr id="5051" name="TextBox 5050"/>
          <p:cNvSpPr txBox="1"/>
          <p:nvPr/>
        </p:nvSpPr>
        <p:spPr>
          <a:xfrm>
            <a:off x="1216152" y="7882128"/>
            <a:ext cx="4608576" cy="731520"/>
          </a:xfrm>
          <a:prstGeom prst="rect">
            <a:avLst/>
          </a:prstGeom>
          <a:noFill/>
        </p:spPr>
        <p:txBody>
          <a:bodyPr wrap="square" lIns="0" tIns="0" rIns="0" bIns="0" rtlCol="0" anchor="t">
            <a:noAutofit/>
          </a:bodyPr>
          <a:lstStyle/>
          <a:p>
            <a:pPr algn="l" latinLnBrk="0">
              <a:lnSpc>
                <a:spcPct val="125000"/>
              </a:lnSpc>
              <a:spcBef>
                <a:spcPts val="0"/>
              </a:spcBef>
              <a:spcAft>
                <a:spcPts val="0"/>
              </a:spcAft>
              <a:buNone/>
            </a:pPr>
            <a:r>
              <a:rPr lang="ko-KR" altLang="en-US" sz="1550" b="1">
                <a:solidFill>
                  <a:srgbClr val="FFFFFF"/>
                </a:solidFill>
                <a:latin typeface="210 OmniGothic 040"/>
                <a:ea typeface="210 OmniGothic 040"/>
                <a:cs typeface="210 OmniGothic 040"/>
              </a:rPr>
              <a:t>AI는 근거 있는 초안을 제시하고, 최종 결정은 통합지휘권자가 내립니다</a:t>
            </a:r>
          </a:p>
        </p:txBody>
      </p:sp>
      <p:graphicFrame>
        <p:nvGraphicFramePr>
          <p:cNvPr id="5052" name="AsIs ToBe"/>
          <p:cNvGraphicFramePr>
            <a:graphicFrameLocks noGrp="1"/>
          </p:cNvGraphicFramePr>
          <p:nvPr/>
        </p:nvGraphicFramePr>
        <p:xfrm>
          <a:off x="6446520" y="2487168"/>
          <a:ext cx="10972800" cy="329184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457200">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구분</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As-Is (현행)</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latinLnBrk="0">
                        <a:lnSpc>
                          <a:spcPct val="112000"/>
                        </a:lnSpc>
                        <a:spcBef>
                          <a:spcPts val="0"/>
                        </a:spcBef>
                        <a:spcAft>
                          <a:spcPts val="0"/>
                        </a:spcAft>
                        <a:buNone/>
                      </a:pPr>
                      <a:r>
                        <a:rPr lang="ko-KR" altLang="en-US" sz="1450" b="1">
                          <a:solidFill>
                            <a:srgbClr val="FFFFFF"/>
                          </a:solidFill>
                          <a:latin typeface="210 OmniGothic 040"/>
                          <a:ea typeface="210 OmniGothic 040"/>
                          <a:cs typeface="210 OmniGothic 040"/>
                        </a:rPr>
                        <a:t>To-Be (본 서비스)</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E8893A"/>
                    </a:solidFill>
                  </a:tcPr>
                </a:tc>
                <a:extLst>
                  <a:ext uri="{0D108BD9-81ED-4DB2-BD59-A6C34878D82A}">
                    <a16:rowId xmlns:a16="http://schemas.microsoft.com/office/drawing/2014/main" val="10000"/>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상황 파악</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정보가 시스템·기관별로 분산</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통합 상황도 한 지도에서 확인, 보고·재예측 때마다 갱신</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1"/>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판단 근거</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100쪽 넘는 매뉴얼을 직접 찾아 확인</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판단 항목 14개별 제안과 근거를 자동 제시</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2"/>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대응안 작성</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회차별 수작업 발행, 조항 표기 없음</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예측 갱신·상황 정정마다 새 버전 자동 생성</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3"/>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AI 활용</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범용 LLM은 근거 없이 생성</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조항을 인용해 답변, 판정 값은 규칙 엔진이 고정</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4"/>
                  </a:ext>
                </a:extLst>
              </a:tr>
              <a:tr h="566928">
                <a:tc>
                  <a:txBody>
                    <a:bodyPr/>
                    <a:lstStyle/>
                    <a:p>
                      <a:pPr algn="ctr" latinLnBrk="0">
                        <a:lnSpc>
                          <a:spcPct val="112000"/>
                        </a:lnSpc>
                        <a:spcBef>
                          <a:spcPts val="0"/>
                        </a:spcBef>
                        <a:spcAft>
                          <a:spcPts val="0"/>
                        </a:spcAft>
                        <a:buNone/>
                      </a:pPr>
                      <a:r>
                        <a:rPr lang="ko-KR" altLang="en-US" sz="1450" b="1">
                          <a:solidFill>
                            <a:srgbClr val="363A52"/>
                          </a:solidFill>
                          <a:latin typeface="210 OmniGothic 040"/>
                          <a:ea typeface="210 OmniGothic 040"/>
                          <a:cs typeface="210 OmniGothic 040"/>
                        </a:rPr>
                        <a:t>보안·운용</a:t>
                      </a:r>
                    </a:p>
                  </a:txBody>
                  <a:tcPr marL="109728" marR="109728" anchor="ctr">
                    <a:lnL w="9525">
                      <a:solidFill>
                        <a:srgbClr val="D9DCE5"/>
                      </a:solidFill>
                    </a:lnL>
                    <a:lnR w="9525">
                      <a:solidFill>
                        <a:srgbClr val="D9DCE5"/>
                      </a:solidFill>
                    </a:lnR>
                    <a:lnT w="9525">
                      <a:solidFill>
                        <a:srgbClr val="D9DCE5"/>
                      </a:solidFill>
                    </a:lnT>
                    <a:lnB w="9525">
                      <a:solidFill>
                        <a:srgbClr val="D9DCE5"/>
                      </a:solidFill>
                    </a:lnB>
                    <a:solidFill>
                      <a:srgbClr val="F8F9FB"/>
                    </a:solidFill>
                  </a:tcPr>
                </a:tc>
                <a:tc>
                  <a:txBody>
                    <a:bodyPr/>
                    <a:lstStyle/>
                    <a:p>
                      <a:pPr algn="l" latinLnBrk="0">
                        <a:lnSpc>
                          <a:spcPct val="112000"/>
                        </a:lnSpc>
                        <a:spcBef>
                          <a:spcPts val="0"/>
                        </a:spcBef>
                        <a:spcAft>
                          <a:spcPts val="0"/>
                        </a:spcAft>
                        <a:buNone/>
                      </a:pPr>
                      <a:r>
                        <a:rPr lang="ko-KR" altLang="en-US" sz="1400" b="0">
                          <a:solidFill>
                            <a:srgbClr val="6B7080"/>
                          </a:solidFill>
                          <a:latin typeface="210 OmniGothic 030"/>
                          <a:ea typeface="210 OmniGothic 030"/>
                          <a:cs typeface="210 OmniGothic 030"/>
                        </a:rPr>
                        <a:t>상용 API는 자료 유출 우려</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latinLnBrk="0">
                        <a:lnSpc>
                          <a:spcPct val="112000"/>
                        </a:lnSpc>
                        <a:spcBef>
                          <a:spcPts val="0"/>
                        </a:spcBef>
                        <a:spcAft>
                          <a:spcPts val="0"/>
                        </a:spcAft>
                        <a:buNone/>
                      </a:pPr>
                      <a:r>
                        <a:rPr lang="ko-KR" altLang="en-US" sz="1400" b="1">
                          <a:solidFill>
                            <a:srgbClr val="2E3142"/>
                          </a:solidFill>
                          <a:latin typeface="210 OmniGothic 040"/>
                          <a:ea typeface="210 OmniGothic 040"/>
                          <a:cs typeface="210 OmniGothic 040"/>
                        </a:rPr>
                        <a:t>국내 공개 모델을 내부 서버에서 운용</a:t>
                      </a:r>
                    </a:p>
                  </a:txBody>
                  <a:tcPr marL="228600" marR="109728" anchor="ctr">
                    <a:lnL w="9525">
                      <a:solidFill>
                        <a:srgbClr val="D9DCE5"/>
                      </a:solidFill>
                    </a:lnL>
                    <a:lnR w="9525">
                      <a:solidFill>
                        <a:srgbClr val="D9DCE5"/>
                      </a:solidFill>
                    </a:lnR>
                    <a:lnT w="9525">
                      <a:solidFill>
                        <a:srgbClr val="D9DCE5"/>
                      </a:solidFill>
                    </a:lnT>
                    <a:lnB w="9525">
                      <a:solidFill>
                        <a:srgbClr val="D9DCE5"/>
                      </a:solidFill>
                    </a:lnB>
                    <a:solidFill>
                      <a:srgbClr val="FDEBD9"/>
                    </a:solidFill>
                  </a:tcPr>
                </a:tc>
                <a:extLst>
                  <a:ext uri="{0D108BD9-81ED-4DB2-BD59-A6C34878D82A}">
                    <a16:rowId xmlns:a16="http://schemas.microsoft.com/office/drawing/2014/main" val="10005"/>
                  </a:ext>
                </a:extLst>
              </a:tr>
            </a:tbl>
          </a:graphicData>
        </a:graphic>
      </p:graphicFrame>
      <p:sp>
        <p:nvSpPr>
          <p:cNvPr id="5053" name="TextBox 5052"/>
          <p:cNvSpPr txBox="1"/>
          <p:nvPr/>
        </p:nvSpPr>
        <p:spPr>
          <a:xfrm>
            <a:off x="6446520" y="6053328"/>
            <a:ext cx="36576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800" b="1">
                <a:solidFill>
                  <a:srgbClr val="363A52"/>
                </a:solidFill>
                <a:latin typeface="210 OmniGothic 040"/>
                <a:ea typeface="210 OmniGothic 040"/>
                <a:cs typeface="210 OmniGothic 040"/>
              </a:rPr>
              <a:t>주체별 기대 효과</a:t>
            </a:r>
          </a:p>
        </p:txBody>
      </p:sp>
      <p:sp>
        <p:nvSpPr>
          <p:cNvPr id="5054" name="TextBox 5053"/>
          <p:cNvSpPr txBox="1"/>
          <p:nvPr/>
        </p:nvSpPr>
        <p:spPr>
          <a:xfrm>
            <a:off x="10104120" y="6053328"/>
            <a:ext cx="7315200" cy="329184"/>
          </a:xfrm>
          <a:prstGeom prst="rect">
            <a:avLst/>
          </a:prstGeom>
          <a:noFill/>
        </p:spPr>
        <p:txBody>
          <a:bodyPr wrap="square" lIns="0" tIns="0" rIns="0" bIns="0" rtlCol="0" anchor="ctr">
            <a:noAutofit/>
          </a:bodyPr>
          <a:lstStyle/>
          <a:p>
            <a:pPr algn="r" latinLnBrk="0">
              <a:lnSpc>
                <a:spcPct val="120000"/>
              </a:lnSpc>
              <a:spcBef>
                <a:spcPts val="0"/>
              </a:spcBef>
              <a:spcAft>
                <a:spcPts val="0"/>
              </a:spcAft>
              <a:buNone/>
            </a:pPr>
            <a:r>
              <a:rPr lang="ko-KR" altLang="en-US" sz="1150" b="0">
                <a:solidFill>
                  <a:srgbClr val="7B8094"/>
                </a:solidFill>
                <a:latin typeface="210 OmniGothic 030"/>
                <a:ea typeface="210 OmniGothic 030"/>
                <a:cs typeface="210 OmniGothic 030"/>
              </a:rPr>
              <a:t>※ 측정한 수치가 아니라 시나리오 비교로 확인할 대상입니다</a:t>
            </a:r>
          </a:p>
        </p:txBody>
      </p:sp>
      <p:sp>
        <p:nvSpPr>
          <p:cNvPr id="5055" name="Effect 1"/>
          <p:cNvSpPr/>
          <p:nvPr/>
        </p:nvSpPr>
        <p:spPr>
          <a:xfrm>
            <a:off x="6446520" y="651967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6" name="TextBox 5055"/>
          <p:cNvSpPr txBox="1"/>
          <p:nvPr/>
        </p:nvSpPr>
        <p:spPr>
          <a:xfrm>
            <a:off x="6720840" y="670255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통합지휘권자</a:t>
            </a:r>
            <a:r>
              <a:rPr lang="ko-KR" altLang="en-US" sz="1200" b="0">
                <a:solidFill>
                  <a:srgbClr val="6B7080"/>
                </a:solidFill>
                <a:latin typeface="210 OmniGothic 040"/>
                <a:ea typeface="210 OmniGothic 040"/>
                <a:cs typeface="210 OmniGothic 040"/>
              </a:rPr>
              <a:t>   시장·군수·구청장</a:t>
            </a:r>
          </a:p>
        </p:txBody>
      </p:sp>
      <p:sp>
        <p:nvSpPr>
          <p:cNvPr id="5057" name="TextBox 5056"/>
          <p:cNvSpPr txBox="1"/>
          <p:nvPr/>
        </p:nvSpPr>
        <p:spPr>
          <a:xfrm>
            <a:off x="6720840" y="708660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근거와 함께 검토해 신속한 결정에 도움이 될 수 있음</a:t>
            </a:r>
          </a:p>
        </p:txBody>
      </p:sp>
      <p:sp>
        <p:nvSpPr>
          <p:cNvPr id="5058" name="Effect 2"/>
          <p:cNvSpPr/>
          <p:nvPr/>
        </p:nvSpPr>
        <p:spPr>
          <a:xfrm>
            <a:off x="12024360" y="651967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59" name="TextBox 5058"/>
          <p:cNvSpPr txBox="1"/>
          <p:nvPr/>
        </p:nvSpPr>
        <p:spPr>
          <a:xfrm>
            <a:off x="12298680" y="670255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지자체 실무자</a:t>
            </a:r>
            <a:r>
              <a:rPr lang="ko-KR" altLang="en-US" sz="1200" b="0">
                <a:solidFill>
                  <a:srgbClr val="6B7080"/>
                </a:solidFill>
                <a:latin typeface="210 OmniGothic 040"/>
                <a:ea typeface="210 OmniGothic 040"/>
                <a:cs typeface="210 OmniGothic 040"/>
              </a:rPr>
              <a:t>   상황 보고자·전산 관리자</a:t>
            </a:r>
          </a:p>
        </p:txBody>
      </p:sp>
      <p:sp>
        <p:nvSpPr>
          <p:cNvPr id="5060" name="TextBox 5059"/>
          <p:cNvSpPr txBox="1"/>
          <p:nvPr/>
        </p:nvSpPr>
        <p:spPr>
          <a:xfrm>
            <a:off x="12298680" y="708660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보고한 화선으로 재예측·제안이 이어져 보고 부담이 줄 수 있음</a:t>
            </a:r>
          </a:p>
        </p:txBody>
      </p:sp>
      <p:sp>
        <p:nvSpPr>
          <p:cNvPr id="5061" name="Effect 3"/>
          <p:cNvSpPr/>
          <p:nvPr/>
        </p:nvSpPr>
        <p:spPr>
          <a:xfrm>
            <a:off x="6446520" y="770839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2" name="TextBox 5061"/>
          <p:cNvSpPr txBox="1"/>
          <p:nvPr/>
        </p:nvSpPr>
        <p:spPr>
          <a:xfrm>
            <a:off x="6720840" y="789127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산림청·유관기관</a:t>
            </a:r>
            <a:r>
              <a:rPr lang="ko-KR" altLang="en-US" sz="1200" b="0">
                <a:solidFill>
                  <a:srgbClr val="6B7080"/>
                </a:solidFill>
                <a:latin typeface="210 OmniGothic 040"/>
                <a:ea typeface="210 OmniGothic 040"/>
                <a:cs typeface="210 OmniGothic 040"/>
              </a:rPr>
              <a:t>   소방·경찰·군 등</a:t>
            </a:r>
          </a:p>
        </p:txBody>
      </p:sp>
      <p:sp>
        <p:nvSpPr>
          <p:cNvPr id="5063" name="TextBox 5062"/>
          <p:cNvSpPr txBox="1"/>
          <p:nvPr/>
        </p:nvSpPr>
        <p:spPr>
          <a:xfrm>
            <a:off x="6720840" y="827532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같은 상황도를 보며 지원 여부를 판단할 수 있음</a:t>
            </a:r>
          </a:p>
        </p:txBody>
      </p:sp>
      <p:sp>
        <p:nvSpPr>
          <p:cNvPr id="5064" name="Effect 4"/>
          <p:cNvSpPr/>
          <p:nvPr/>
        </p:nvSpPr>
        <p:spPr>
          <a:xfrm>
            <a:off x="12024360" y="7708392"/>
            <a:ext cx="5394960" cy="1042416"/>
          </a:xfrm>
          <a:prstGeom prst="roundRect">
            <a:avLst>
              <a:gd name="adj" fmla="val 14035"/>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l" latinLnBrk="0">
              <a:lnSpc>
                <a:spcPct val="120000"/>
              </a:lnSpc>
              <a:spcBef>
                <a:spcPts val="0"/>
              </a:spcBef>
              <a:spcAft>
                <a:spcPts val="0"/>
              </a:spcAft>
              <a:buNone/>
            </a:pPr>
            <a:endParaRPr/>
          </a:p>
        </p:txBody>
      </p:sp>
      <p:sp>
        <p:nvSpPr>
          <p:cNvPr id="5065" name="TextBox 5064"/>
          <p:cNvSpPr txBox="1"/>
          <p:nvPr/>
        </p:nvSpPr>
        <p:spPr>
          <a:xfrm>
            <a:off x="12298680" y="7891272"/>
            <a:ext cx="484632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550" b="1">
                <a:solidFill>
                  <a:srgbClr val="363A52"/>
                </a:solidFill>
                <a:latin typeface="210 OmniGothic 040"/>
                <a:ea typeface="210 OmniGothic 040"/>
                <a:cs typeface="210 OmniGothic 040"/>
              </a:rPr>
              <a:t>지역 주민</a:t>
            </a:r>
            <a:r>
              <a:rPr lang="ko-KR" altLang="en-US" sz="1200" b="0">
                <a:solidFill>
                  <a:srgbClr val="6B7080"/>
                </a:solidFill>
                <a:latin typeface="210 OmniGothic 040"/>
                <a:ea typeface="210 OmniGothic 040"/>
                <a:cs typeface="210 OmniGothic 040"/>
              </a:rPr>
              <a:t>   간접 효과</a:t>
            </a:r>
          </a:p>
        </p:txBody>
      </p:sp>
      <p:sp>
        <p:nvSpPr>
          <p:cNvPr id="5066" name="TextBox 5065"/>
          <p:cNvSpPr txBox="1"/>
          <p:nvPr/>
        </p:nvSpPr>
        <p:spPr>
          <a:xfrm>
            <a:off x="12298680" y="8275320"/>
            <a:ext cx="484632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a:solidFill>
                  <a:srgbClr val="2E3142"/>
                </a:solidFill>
                <a:latin typeface="210 OmniGothic 040"/>
                <a:ea typeface="210 OmniGothic 040"/>
                <a:cs typeface="210 OmniGothic 040"/>
              </a:rPr>
              <a:t>대피 판단이 앞당겨지면 대피 지연 위험을 줄일 수 있음</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01. 프로젝트 개요 및 목표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업무 설명서</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5024" name="Rounded Rectangle 5023"/>
          <p:cNvSpPr/>
          <p:nvPr/>
        </p:nvSpPr>
        <p:spPr>
          <a:xfrm>
            <a:off x="822960" y="2487168"/>
            <a:ext cx="16642080" cy="6565392"/>
          </a:xfrm>
          <a:prstGeom prst="roundRect">
            <a:avLst>
              <a:gd name="adj" fmla="val 1671"/>
            </a:avLst>
          </a:prstGeom>
          <a:solidFill>
            <a:srgbClr val="FAFAFB"/>
          </a:solidFill>
          <a:ln w="12700">
            <a:solidFill>
              <a:srgbClr val="D5D8E0"/>
            </a:solidFill>
          </a:ln>
        </p:spPr>
        <p:txBody>
          <a:bodyPr wrap="square" lIns="0" tIns="0" rIns="0" bIns="0" rtlCol="0" anchor="ctr">
            <a:noAutofit/>
          </a:bodyPr>
          <a:lstStyle/>
          <a:p>
            <a:pPr algn="ctr"/>
            <a:endParaRPr/>
          </a:p>
        </p:txBody>
      </p:sp>
      <p:sp>
        <p:nvSpPr>
          <p:cNvPr id="5025" name="TextBox 5024"/>
          <p:cNvSpPr txBox="1"/>
          <p:nvPr/>
        </p:nvSpPr>
        <p:spPr>
          <a:xfrm>
            <a:off x="1188720" y="2724912"/>
            <a:ext cx="15910560" cy="6217920"/>
          </a:xfrm>
          <a:prstGeom prst="rect">
            <a:avLst/>
          </a:prstGeom>
          <a:noFill/>
        </p:spPr>
        <p:txBody>
          <a:bodyPr wrap="square" lIns="0" tIns="0" rIns="0" bIns="0" rtlCol="0" anchor="t">
            <a:noAutofit/>
          </a:bodyPr>
          <a:lstStyle/>
          <a:p>
            <a:pPr algn="just" latinLnBrk="0">
              <a:lnSpc>
                <a:spcPct val="142000"/>
              </a:lnSpc>
              <a:spcBef>
                <a:spcPts val="0"/>
              </a:spcBef>
              <a:spcAft>
                <a:spcPts val="1100"/>
              </a:spcAft>
              <a:buNone/>
            </a:pPr>
            <a:r>
              <a:rPr lang="ko-KR" altLang="en-US" sz="1650" b="1" dirty="0">
                <a:solidFill>
                  <a:srgbClr val="363A52"/>
                </a:solidFill>
                <a:latin typeface="210 OmniGothic 040"/>
                <a:ea typeface="210 OmniGothic 040"/>
                <a:cs typeface="210 OmniGothic 040"/>
              </a:rPr>
              <a:t>산불 대응 AI 의사결정 지원 시스템</a:t>
            </a:r>
            <a:r>
              <a:rPr lang="ko-KR" altLang="en-US" sz="1650" b="0" dirty="0">
                <a:solidFill>
                  <a:srgbClr val="2E3142"/>
                </a:solidFill>
                <a:latin typeface="210 OmniGothic 030"/>
                <a:ea typeface="210 OmniGothic 030"/>
                <a:cs typeface="210 OmniGothic 030"/>
              </a:rPr>
              <a:t>은 산불 발생 직후부터 진화·대피 판단이 이어지는 약 8시간의 대응 과정에서, 산불현장 </a:t>
            </a:r>
            <a:r>
              <a:rPr lang="ko-KR" altLang="en-US" sz="1650" b="1" dirty="0">
                <a:solidFill>
                  <a:srgbClr val="B5601C"/>
                </a:solidFill>
                <a:latin typeface="210 OmniGothic 040"/>
                <a:ea typeface="210 OmniGothic 040"/>
                <a:cs typeface="210 OmniGothic 040"/>
              </a:rPr>
              <a:t>통합지휘권자</a:t>
            </a:r>
            <a:r>
              <a:rPr lang="ko-KR" altLang="en-US" sz="1650" b="0" dirty="0">
                <a:solidFill>
                  <a:srgbClr val="2E3142"/>
                </a:solidFill>
                <a:latin typeface="210 OmniGothic 030"/>
                <a:ea typeface="210 OmniGothic 030"/>
                <a:cs typeface="210 OmniGothic 030"/>
              </a:rPr>
              <a:t>(시장·군수·구청장)에게 1시간 간격 확산 예측과 「산불 재난」 위기관리 표준매뉴얼 근거를 연결한 </a:t>
            </a:r>
            <a:r>
              <a:rPr lang="ko-KR" altLang="en-US" sz="1650" b="1" dirty="0">
                <a:solidFill>
                  <a:srgbClr val="363A52"/>
                </a:solidFill>
                <a:latin typeface="210 OmniGothic 040"/>
                <a:ea typeface="210 OmniGothic 040"/>
                <a:cs typeface="210 OmniGothic 040"/>
              </a:rPr>
              <a:t>진화·대피 대응 제안서</a:t>
            </a:r>
            <a:r>
              <a:rPr lang="ko-KR" altLang="en-US" sz="1650" b="0" dirty="0">
                <a:solidFill>
                  <a:srgbClr val="2E3142"/>
                </a:solidFill>
                <a:latin typeface="210 OmniGothic 030"/>
                <a:ea typeface="210 OmniGothic 030"/>
                <a:cs typeface="210 OmniGothic 030"/>
              </a:rPr>
              <a:t>를 제공하는 웹 기반 의사결정 지원 시스템이다. 기존 국가 시스템은 확산 예측과 위험도를 보여 주는 데서 끝나, 그 결과를 어떤 대응 행동으로 옮길지는 담당자가 119쪽 분량의 매뉴얼을 찾아 가며 수작업으로 판단해 왔다.</a:t>
            </a:r>
            <a:endParaRPr lang="ko-KR" altLang="en-US" sz="1650"/>
          </a:p>
          <a:p>
            <a:pPr algn="just" latinLnBrk="0">
              <a:lnSpc>
                <a:spcPct val="142000"/>
              </a:lnSpc>
              <a:spcBef>
                <a:spcPts val="0"/>
              </a:spcBef>
              <a:spcAft>
                <a:spcPts val="1100"/>
              </a:spcAft>
              <a:buNone/>
            </a:pPr>
            <a:r>
              <a:rPr lang="ko-KR" altLang="en-US" sz="1650" b="0" dirty="0">
                <a:solidFill>
                  <a:srgbClr val="2E3142"/>
                </a:solidFill>
                <a:latin typeface="210 OmniGothic 030"/>
                <a:ea typeface="210 OmniGothic 030"/>
                <a:cs typeface="210 OmniGothic 030"/>
              </a:rPr>
              <a:t>사용자는 네 가지 권한으로 나뉜다. </a:t>
            </a:r>
            <a:r>
              <a:rPr lang="ko-KR" altLang="en-US" sz="1650" b="1" dirty="0">
                <a:solidFill>
                  <a:srgbClr val="B5601C"/>
                </a:solidFill>
                <a:latin typeface="210 OmniGothic 040"/>
                <a:ea typeface="210 OmniGothic 040"/>
                <a:cs typeface="210 OmniGothic 040"/>
              </a:rPr>
              <a:t>상황 보고자</a:t>
            </a:r>
            <a:r>
              <a:rPr lang="ko-KR" altLang="en-US" sz="1650" b="0" dirty="0">
                <a:solidFill>
                  <a:srgbClr val="2E3142"/>
                </a:solidFill>
                <a:latin typeface="210 OmniGothic 030"/>
                <a:ea typeface="210 OmniGothic 030"/>
                <a:cs typeface="210 OmniGothic 030"/>
              </a:rPr>
              <a:t>(보고)는 산불을 처음 보고하며 발화 위치·발생 일시·신고 내용·신고자 정보·기관별 접수 기록을 입력하고, 이후 1시간마다 지금 타고 있는 범위를 </a:t>
            </a:r>
            <a:r>
              <a:rPr lang="ko-KR" altLang="en-US" sz="1650" b="1" dirty="0">
                <a:solidFill>
                  <a:srgbClr val="363A52"/>
                </a:solidFill>
                <a:latin typeface="210 OmniGothic 040"/>
                <a:ea typeface="210 OmniGothic 040"/>
                <a:cs typeface="210 OmniGothic 040"/>
              </a:rPr>
              <a:t>실측 화선</a:t>
            </a:r>
            <a:r>
              <a:rPr lang="ko-KR" altLang="en-US" sz="1650" b="0" dirty="0">
                <a:solidFill>
                  <a:srgbClr val="2E3142"/>
                </a:solidFill>
                <a:latin typeface="210 OmniGothic 030"/>
                <a:ea typeface="210 OmniGothic 030"/>
                <a:cs typeface="210 OmniGothic 030"/>
              </a:rPr>
              <a:t> 폴리곤으로 지도에 그려 보고한다. 처음 받은 보고가 화선 v1이 되고 새 보고는 v2, v3…으로 쌓이며, 잘못 보고한 화선은 정정해 이전 버전을 보존한다. </a:t>
            </a:r>
            <a:r>
              <a:rPr lang="ko-KR" altLang="en-US" sz="1650" b="1" dirty="0">
                <a:solidFill>
                  <a:srgbClr val="B5601C"/>
                </a:solidFill>
                <a:latin typeface="210 OmniGothic 040"/>
                <a:ea typeface="210 OmniGothic 040"/>
                <a:cs typeface="210 OmniGothic 040"/>
              </a:rPr>
              <a:t>열람자</a:t>
            </a:r>
            <a:r>
              <a:rPr lang="ko-KR" altLang="en-US" sz="1650" b="0" dirty="0">
                <a:solidFill>
                  <a:srgbClr val="2E3142"/>
                </a:solidFill>
                <a:latin typeface="210 OmniGothic 030"/>
                <a:ea typeface="210 OmniGothic 030"/>
                <a:cs typeface="210 OmniGothic 030"/>
              </a:rPr>
              <a:t>(열람)는 유관기관·상급 본부 담당자로 통합 상황도와 발생·접수 정보, 산불 위험도를 읽기 전용으로 본다. </a:t>
            </a:r>
            <a:r>
              <a:rPr lang="ko-KR" altLang="en-US" sz="1650" b="1" dirty="0">
                <a:solidFill>
                  <a:srgbClr val="B5601C"/>
                </a:solidFill>
                <a:latin typeface="210 OmniGothic 040"/>
                <a:ea typeface="210 OmniGothic 040"/>
                <a:cs typeface="210 OmniGothic 040"/>
              </a:rPr>
              <a:t>전산 관리자</a:t>
            </a:r>
            <a:r>
              <a:rPr lang="ko-KR" altLang="en-US" sz="1650" b="0" dirty="0">
                <a:solidFill>
                  <a:srgbClr val="2E3142"/>
                </a:solidFill>
                <a:latin typeface="210 OmniGothic 030"/>
                <a:ea typeface="210 OmniGothic 030"/>
                <a:cs typeface="210 OmniGothic 030"/>
              </a:rPr>
              <a:t>(관리)는 평시에 계정·권한과 진화자원 데이터를 관리한다.</a:t>
            </a:r>
            <a:endParaRPr lang="ko-KR" altLang="en-US" sz="1650"/>
          </a:p>
          <a:p>
            <a:pPr algn="just" latinLnBrk="0">
              <a:lnSpc>
                <a:spcPct val="142000"/>
              </a:lnSpc>
              <a:spcBef>
                <a:spcPts val="0"/>
              </a:spcBef>
              <a:spcAft>
                <a:spcPts val="1100"/>
              </a:spcAft>
              <a:buNone/>
            </a:pPr>
            <a:r>
              <a:rPr lang="ko-KR" altLang="en-US" sz="1650" b="1" dirty="0">
                <a:solidFill>
                  <a:srgbClr val="B5601C"/>
                </a:solidFill>
                <a:latin typeface="210 OmniGothic 040"/>
                <a:ea typeface="210 OmniGothic 040"/>
                <a:cs typeface="210 OmniGothic 040"/>
              </a:rPr>
              <a:t>통합지휘권자</a:t>
            </a:r>
            <a:r>
              <a:rPr lang="ko-KR" altLang="en-US" sz="1650" b="0" dirty="0">
                <a:solidFill>
                  <a:srgbClr val="2E3142"/>
                </a:solidFill>
                <a:latin typeface="210 OmniGothic 030"/>
                <a:ea typeface="210 OmniGothic 030"/>
                <a:cs typeface="210 OmniGothic 030"/>
              </a:rPr>
              <a:t>(조작)는 통합 상황도에서 발화점·실측 화선·주변 마을과 시설·기상·진화자원을 확인하고 확산 예측을 실행한다. </a:t>
            </a:r>
            <a:r>
              <a:rPr lang="ko-KR" altLang="en-US" sz="1650" b="1" dirty="0">
                <a:solidFill>
                  <a:srgbClr val="B5601C"/>
                </a:solidFill>
                <a:latin typeface="210 OmniGothic 040"/>
                <a:ea typeface="210 OmniGothic 040"/>
                <a:cs typeface="210 OmniGothic 040"/>
              </a:rPr>
              <a:t>확산예측 모듈</a:t>
            </a:r>
            <a:r>
              <a:rPr lang="ko-KR" altLang="en-US" sz="1650" b="0" dirty="0">
                <a:solidFill>
                  <a:srgbClr val="2E3142"/>
                </a:solidFill>
                <a:latin typeface="210 OmniGothic 030"/>
                <a:ea typeface="210 OmniGothic 030"/>
                <a:cs typeface="210 OmniGothic 030"/>
              </a:rPr>
              <a:t>이 최신 실측 화선과 기상으로 1시간 간격 확산 범위(P1~P8)를 계산하면, 시스템은 5시간 범위(P5)를 기준으로 </a:t>
            </a:r>
            <a:r>
              <a:rPr lang="ko-KR" altLang="en-US" sz="1650" b="1" dirty="0">
                <a:solidFill>
                  <a:srgbClr val="363A52"/>
                </a:solidFill>
                <a:latin typeface="210 OmniGothic 040"/>
                <a:ea typeface="210 OmniGothic 040"/>
                <a:cs typeface="210 OmniGothic 040"/>
              </a:rPr>
              <a:t>산불 위험도(1.00~5.00)</a:t>
            </a:r>
            <a:r>
              <a:rPr lang="ko-KR" altLang="en-US" sz="1650" b="0" dirty="0">
                <a:solidFill>
                  <a:srgbClr val="2E3142"/>
                </a:solidFill>
                <a:latin typeface="210 OmniGothic 030"/>
                <a:ea typeface="210 OmniGothic 030"/>
                <a:cs typeface="210 OmniGothic 030"/>
              </a:rPr>
              <a:t>를 산출한다. 이어 규칙 엔진이 대응단계·위험구역·대피소 배정처럼 경계값이 있는 값을 판정하고, </a:t>
            </a:r>
            <a:r>
              <a:rPr lang="ko-KR" altLang="en-US" sz="1650" b="1" dirty="0">
                <a:solidFill>
                  <a:srgbClr val="B5601C"/>
                </a:solidFill>
                <a:latin typeface="210 OmniGothic 040"/>
                <a:ea typeface="210 OmniGothic 040"/>
                <a:cs typeface="210 OmniGothic 040"/>
              </a:rPr>
              <a:t>AI 모델</a:t>
            </a:r>
            <a:r>
              <a:rPr lang="ko-KR" altLang="en-US" sz="1650" b="0" dirty="0">
                <a:solidFill>
                  <a:srgbClr val="2E3142"/>
                </a:solidFill>
                <a:latin typeface="210 OmniGothic 030"/>
                <a:ea typeface="210 OmniGothic 030"/>
                <a:cs typeface="210 OmniGothic 030"/>
              </a:rPr>
              <a:t>이 그 판정 값과 검색한 매뉴얼 근거로 진화 7개·대피 7개 항목의 제안 문장을 근거 번호와 함께 작성한다. 근거가 없는 수량이나 문장은 넣지 않고 「근거가 부족하여 표시하지 않았습니다」로 알린다.</a:t>
            </a:r>
            <a:endParaRPr lang="ko-KR" altLang="en-US" sz="1650"/>
          </a:p>
          <a:p>
            <a:pPr algn="just" latinLnBrk="0">
              <a:lnSpc>
                <a:spcPct val="142000"/>
              </a:lnSpc>
              <a:spcBef>
                <a:spcPts val="0"/>
              </a:spcBef>
              <a:spcAft>
                <a:spcPts val="1100"/>
              </a:spcAft>
              <a:buNone/>
            </a:pPr>
            <a:r>
              <a:rPr lang="ko-KR" altLang="en-US" sz="1650" b="0" dirty="0">
                <a:solidFill>
                  <a:srgbClr val="2E3142"/>
                </a:solidFill>
                <a:latin typeface="210 OmniGothic 030"/>
                <a:ea typeface="210 OmniGothic 030"/>
                <a:cs typeface="210 OmniGothic 030"/>
              </a:rPr>
              <a:t>통합지휘권자는 제안마다 판정 이유·대상·근거를 펼쳐 보고, AI 어시스턴트에 제안 이유를 묻거나 대피 완료·자원 투입 같은 </a:t>
            </a:r>
            <a:r>
              <a:rPr lang="ko-KR" altLang="en-US" sz="1650" b="1" dirty="0">
                <a:solidFill>
                  <a:srgbClr val="363A52"/>
                </a:solidFill>
                <a:latin typeface="210 OmniGothic 040"/>
                <a:ea typeface="210 OmniGothic 040"/>
                <a:cs typeface="210 OmniGothic 040"/>
              </a:rPr>
              <a:t>상황 변화를 정정</a:t>
            </a:r>
            <a:r>
              <a:rPr lang="ko-KR" altLang="en-US" sz="1650" b="0" dirty="0">
                <a:solidFill>
                  <a:srgbClr val="2E3142"/>
                </a:solidFill>
                <a:latin typeface="210 OmniGothic 030"/>
                <a:ea typeface="210 OmniGothic 030"/>
                <a:cs typeface="210 OmniGothic 030"/>
              </a:rPr>
              <a:t>한다. 정정은 확인 후 저장되어 제안서의 새 버전을 만들고, 바뀐 항목은 「변경」 태그와 버전 이력으로 비교한다. 진화가 끝나면 발화 종료 처리를 하며, 이후 보고·예측·정정은 막히고 제안서와 이력은 조회만 된다.</a:t>
            </a:r>
            <a:endParaRPr lang="ko-KR" altLang="en-US" sz="1650"/>
          </a:p>
          <a:p>
            <a:pPr algn="just" latinLnBrk="0">
              <a:lnSpc>
                <a:spcPct val="142000"/>
              </a:lnSpc>
              <a:spcBef>
                <a:spcPts val="0"/>
              </a:spcBef>
              <a:spcAft>
                <a:spcPts val="1100"/>
              </a:spcAft>
              <a:buNone/>
            </a:pPr>
            <a:r>
              <a:rPr lang="ko-KR" altLang="en-US" sz="1650" b="0" dirty="0">
                <a:solidFill>
                  <a:srgbClr val="2E3142"/>
                </a:solidFill>
                <a:latin typeface="210 OmniGothic 030"/>
                <a:ea typeface="210 OmniGothic 030"/>
                <a:cs typeface="210 OmniGothic 030"/>
              </a:rPr>
              <a:t>모든 로그인·입력·예측·제안·정정·종료·관리 이벤트는 추가 전용 이벤트 로그에 남는다. </a:t>
            </a:r>
            <a:r>
              <a:rPr lang="ko-KR" altLang="en-US" sz="1650" b="1" dirty="0">
                <a:solidFill>
                  <a:srgbClr val="363A52"/>
                </a:solidFill>
                <a:latin typeface="210 OmniGothic 040"/>
                <a:ea typeface="210 OmniGothic 040"/>
                <a:cs typeface="210 OmniGothic 040"/>
              </a:rPr>
              <a:t>시스템은 권고만 하며, 대응단계 발령과 대피명령 같은 최종 결정은 통합지휘권자가 내린다.</a:t>
            </a:r>
            <a:endParaRPr lang="ko-KR" altLang="en-US" sz="16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63" name="Picture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64" name="Picture 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65" name="Picture 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166" name="Picture 3"/>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82" name="Title">
            <a:extLst>
              <a:ext uri="{FF2B5EF4-FFF2-40B4-BE49-F238E27FC236}">
                <a16:creationId xmlns:a16="http://schemas.microsoft.com/office/drawing/2014/main" id="{8F63756B-60A2-4ECD-994A-D91036BD570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01. 프로젝트 개요 및 목표</a:t>
            </a:r>
          </a:p>
        </p:txBody>
      </p:sp>
      <p:sp>
        <p:nvSpPr>
          <p:cNvPr id="5083" name="Subtitle">
            <a:extLst>
              <a:ext uri="{FF2B5EF4-FFF2-40B4-BE49-F238E27FC236}">
                <a16:creationId xmlns:a16="http://schemas.microsoft.com/office/drawing/2014/main" id="{2EB428F3-54C5-4E65-8A81-A3BE531CFD57}"/>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업무 절차 흐름 (절차 기술)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10</a:t>
            </a:fld>
            <a:endParaRPr/>
          </a:p>
        </p:txBody>
      </p:sp>
      <p:sp>
        <p:nvSpPr>
          <p:cNvPr id="5084" name="Rectangle 5083">
            <a:extLst>
              <a:ext uri="{FF2B5EF4-FFF2-40B4-BE49-F238E27FC236}">
                <a16:creationId xmlns:a16="http://schemas.microsoft.com/office/drawing/2014/main" id="{F51F9E07-BFEB-4E10-9F93-44F08461CDF4}"/>
              </a:ext>
            </a:extLst>
          </p:cNvPr>
          <p:cNvSpPr>
            <a:spLocks noGrp="1"/>
          </p:cNvSpPr>
          <p:nvPr/>
        </p:nvSpPr>
        <p:spPr>
          <a:xfrm>
            <a:off x="822960" y="2446020"/>
            <a:ext cx="16459200" cy="2031796"/>
          </a:xfrm>
          <a:prstGeom prst="rect">
            <a:avLst/>
          </a:prstGeom>
          <a:solidFill>
            <a:srgbClr val="FFF8F2"/>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85" name="Rectangle 5084">
            <a:extLst>
              <a:ext uri="{FF2B5EF4-FFF2-40B4-BE49-F238E27FC236}">
                <a16:creationId xmlns:a16="http://schemas.microsoft.com/office/drawing/2014/main" id="{E8047996-2E3A-40BC-8776-8956BA0A1631}"/>
              </a:ext>
            </a:extLst>
          </p:cNvPr>
          <p:cNvSpPr>
            <a:spLocks noGrp="1"/>
          </p:cNvSpPr>
          <p:nvPr/>
        </p:nvSpPr>
        <p:spPr>
          <a:xfrm>
            <a:off x="822960" y="2446020"/>
            <a:ext cx="1257300" cy="2031796"/>
          </a:xfrm>
          <a:prstGeom prst="rect">
            <a:avLst/>
          </a:prstGeom>
          <a:solidFill>
            <a:srgbClr val="FDEBD9"/>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363A52"/>
                </a:solidFill>
                <a:latin typeface="210 OmniGothic 040"/>
                <a:ea typeface="210 OmniGothic 040"/>
                <a:cs typeface="210 OmniGothic 040"/>
              </a:rPr>
              <a:t>사용자</a:t>
            </a:r>
          </a:p>
          <a:p>
            <a:pPr algn="ctr">
              <a:buNone/>
            </a:pPr>
            <a:r>
              <a:rPr sz="1250" b="1">
                <a:solidFill>
                  <a:srgbClr val="363A52"/>
                </a:solidFill>
                <a:latin typeface="210 OmniGothic 040"/>
                <a:ea typeface="210 OmniGothic 040"/>
                <a:cs typeface="210 OmniGothic 040"/>
              </a:rPr>
              <a:t>(권한별)</a:t>
            </a:r>
          </a:p>
        </p:txBody>
      </p:sp>
      <p:sp>
        <p:nvSpPr>
          <p:cNvPr id="5086" name="Rectangle 5085">
            <a:extLst>
              <a:ext uri="{FF2B5EF4-FFF2-40B4-BE49-F238E27FC236}">
                <a16:creationId xmlns:a16="http://schemas.microsoft.com/office/drawing/2014/main" id="{7DAB4E53-3F86-4F7F-8E6A-6271310CBBE3}"/>
              </a:ext>
            </a:extLst>
          </p:cNvPr>
          <p:cNvSpPr>
            <a:spLocks noGrp="1"/>
          </p:cNvSpPr>
          <p:nvPr/>
        </p:nvSpPr>
        <p:spPr>
          <a:xfrm>
            <a:off x="822960" y="4477816"/>
            <a:ext cx="16459200" cy="2031796"/>
          </a:xfrm>
          <a:prstGeom prst="rect">
            <a:avLst/>
          </a:prstGeom>
          <a:solidFill>
            <a:srgbClr val="F6F7FA"/>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87" name="Rectangle 5086">
            <a:extLst>
              <a:ext uri="{FF2B5EF4-FFF2-40B4-BE49-F238E27FC236}">
                <a16:creationId xmlns:a16="http://schemas.microsoft.com/office/drawing/2014/main" id="{BC0DF840-4A43-4319-AB98-489DF71798C4}"/>
              </a:ext>
            </a:extLst>
          </p:cNvPr>
          <p:cNvSpPr>
            <a:spLocks noGrp="1"/>
          </p:cNvSpPr>
          <p:nvPr/>
        </p:nvSpPr>
        <p:spPr>
          <a:xfrm>
            <a:off x="822960" y="4477816"/>
            <a:ext cx="1257300" cy="2031796"/>
          </a:xfrm>
          <a:prstGeom prst="rect">
            <a:avLst/>
          </a:prstGeom>
          <a:solidFill>
            <a:srgbClr val="FDEBD9"/>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363A52"/>
                </a:solidFill>
                <a:latin typeface="210 OmniGothic 040"/>
                <a:ea typeface="210 OmniGothic 040"/>
                <a:cs typeface="210 OmniGothic 040"/>
              </a:rPr>
              <a:t>시스템</a:t>
            </a:r>
          </a:p>
          <a:p>
            <a:pPr algn="ctr">
              <a:buNone/>
            </a:pPr>
            <a:r>
              <a:rPr sz="1250" b="1">
                <a:solidFill>
                  <a:srgbClr val="363A52"/>
                </a:solidFill>
                <a:latin typeface="210 OmniGothic 040"/>
                <a:ea typeface="210 OmniGothic 040"/>
                <a:cs typeface="210 OmniGothic 040"/>
              </a:rPr>
              <a:t>(웹 · API 서버)</a:t>
            </a:r>
          </a:p>
        </p:txBody>
      </p:sp>
      <p:sp>
        <p:nvSpPr>
          <p:cNvPr id="5088" name="Rectangle 5087">
            <a:extLst>
              <a:ext uri="{FF2B5EF4-FFF2-40B4-BE49-F238E27FC236}">
                <a16:creationId xmlns:a16="http://schemas.microsoft.com/office/drawing/2014/main" id="{9B0B8B72-3514-47C9-AC35-87F5171F7707}"/>
              </a:ext>
            </a:extLst>
          </p:cNvPr>
          <p:cNvSpPr>
            <a:spLocks noGrp="1"/>
          </p:cNvSpPr>
          <p:nvPr/>
        </p:nvSpPr>
        <p:spPr>
          <a:xfrm>
            <a:off x="822960" y="6509613"/>
            <a:ext cx="16459200" cy="2031796"/>
          </a:xfrm>
          <a:prstGeom prst="rect">
            <a:avLst/>
          </a:prstGeom>
          <a:solidFill>
            <a:srgbClr val="EEF1F7"/>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89" name="Rectangle 5088">
            <a:extLst>
              <a:ext uri="{FF2B5EF4-FFF2-40B4-BE49-F238E27FC236}">
                <a16:creationId xmlns:a16="http://schemas.microsoft.com/office/drawing/2014/main" id="{920A4647-ECD5-4310-AC49-5D5E8B7AE256}"/>
              </a:ext>
            </a:extLst>
          </p:cNvPr>
          <p:cNvSpPr>
            <a:spLocks noGrp="1"/>
          </p:cNvSpPr>
          <p:nvPr/>
        </p:nvSpPr>
        <p:spPr>
          <a:xfrm>
            <a:off x="822960" y="6509613"/>
            <a:ext cx="1257300" cy="2031796"/>
          </a:xfrm>
          <a:prstGeom prst="rect">
            <a:avLst/>
          </a:prstGeom>
          <a:solidFill>
            <a:srgbClr val="FDEBD9"/>
          </a:solidFill>
          <a:ln w="10160">
            <a:solidFill>
              <a:srgbClr val="C3C8D4"/>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r>
              <a:rPr sz="1250" b="1">
                <a:solidFill>
                  <a:srgbClr val="363A52"/>
                </a:solidFill>
                <a:latin typeface="210 OmniGothic 040"/>
                <a:ea typeface="210 OmniGothic 040"/>
                <a:cs typeface="210 OmniGothic 040"/>
              </a:rPr>
              <a:t>외부 · AI 모듈</a:t>
            </a:r>
          </a:p>
        </p:txBody>
      </p:sp>
      <p:sp>
        <p:nvSpPr>
          <p:cNvPr id="5090" name="Rounded Rectangle 5089">
            <a:extLst>
              <a:ext uri="{FF2B5EF4-FFF2-40B4-BE49-F238E27FC236}">
                <a16:creationId xmlns:a16="http://schemas.microsoft.com/office/drawing/2014/main" id="{748E786E-A1BB-4201-9B2A-18E955EA00BE}"/>
              </a:ext>
            </a:extLst>
          </p:cNvPr>
          <p:cNvSpPr>
            <a:spLocks noGrp="1"/>
          </p:cNvSpPr>
          <p:nvPr/>
        </p:nvSpPr>
        <p:spPr>
          <a:xfrm>
            <a:off x="2217420"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1" name="TextBox 5090">
            <a:extLst>
              <a:ext uri="{FF2B5EF4-FFF2-40B4-BE49-F238E27FC236}">
                <a16:creationId xmlns:a16="http://schemas.microsoft.com/office/drawing/2014/main" id="{8BF51D12-3694-49E0-BFDA-6E1ED8296DBE}"/>
              </a:ext>
            </a:extLst>
          </p:cNvPr>
          <p:cNvSpPr>
            <a:spLocks noGrp="1"/>
          </p:cNvSpPr>
          <p:nvPr/>
        </p:nvSpPr>
        <p:spPr>
          <a:xfrm>
            <a:off x="2274570"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로그인</a:t>
            </a:r>
          </a:p>
          <a:p>
            <a:pPr algn="ctr">
              <a:lnSpc>
                <a:spcPct val="105000"/>
              </a:lnSpc>
              <a:buNone/>
            </a:pPr>
            <a:r>
              <a:rPr sz="1250" b="1">
                <a:solidFill>
                  <a:srgbClr val="2E3142"/>
                </a:solidFill>
                <a:latin typeface="210 OmniGothic 040"/>
                <a:ea typeface="210 OmniGothic 040"/>
                <a:cs typeface="210 OmniGothic 040"/>
              </a:rPr>
              <a:t>5회 실패 시 잠금</a:t>
            </a:r>
          </a:p>
          <a:p>
            <a:pPr algn="ctr">
              <a:lnSpc>
                <a:spcPct val="105000"/>
              </a:lnSpc>
              <a:buNone/>
            </a:pPr>
            <a:r>
              <a:rPr sz="1250" b="1">
                <a:solidFill>
                  <a:srgbClr val="2E3142"/>
                </a:solidFill>
                <a:latin typeface="210 OmniGothic 040"/>
                <a:ea typeface="210 OmniGothic 040"/>
                <a:cs typeface="210 OmniGothic 040"/>
              </a:rPr>
              <a:t>관리자 잠금 해제</a:t>
            </a:r>
          </a:p>
        </p:txBody>
      </p:sp>
      <p:sp>
        <p:nvSpPr>
          <p:cNvPr id="5092" name="Oval 5091">
            <a:extLst>
              <a:ext uri="{FF2B5EF4-FFF2-40B4-BE49-F238E27FC236}">
                <a16:creationId xmlns:a16="http://schemas.microsoft.com/office/drawing/2014/main" id="{0CC34AFF-8327-40CA-AE8B-B0B9D6F8D51E}"/>
              </a:ext>
            </a:extLst>
          </p:cNvPr>
          <p:cNvSpPr>
            <a:spLocks noGrp="1"/>
          </p:cNvSpPr>
          <p:nvPr/>
        </p:nvSpPr>
        <p:spPr>
          <a:xfrm>
            <a:off x="2089404"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1</a:t>
            </a:r>
          </a:p>
        </p:txBody>
      </p:sp>
      <p:sp>
        <p:nvSpPr>
          <p:cNvPr id="5093" name="Rounded Rectangle 5092">
            <a:extLst>
              <a:ext uri="{FF2B5EF4-FFF2-40B4-BE49-F238E27FC236}">
                <a16:creationId xmlns:a16="http://schemas.microsoft.com/office/drawing/2014/main" id="{1AC10288-D8E4-4B5A-9A98-CABE27411F69}"/>
              </a:ext>
            </a:extLst>
          </p:cNvPr>
          <p:cNvSpPr>
            <a:spLocks noGrp="1"/>
          </p:cNvSpPr>
          <p:nvPr/>
        </p:nvSpPr>
        <p:spPr>
          <a:xfrm>
            <a:off x="221742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4" name="TextBox 5093">
            <a:extLst>
              <a:ext uri="{FF2B5EF4-FFF2-40B4-BE49-F238E27FC236}">
                <a16:creationId xmlns:a16="http://schemas.microsoft.com/office/drawing/2014/main" id="{9F2E5775-9C08-4C2C-8398-136E965AC6A7}"/>
              </a:ext>
            </a:extLst>
          </p:cNvPr>
          <p:cNvSpPr>
            <a:spLocks noGrp="1"/>
          </p:cNvSpPr>
          <p:nvPr/>
        </p:nvSpPr>
        <p:spPr>
          <a:xfrm>
            <a:off x="2274570"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잠금 여부 확인</a:t>
            </a:r>
          </a:p>
          <a:p>
            <a:pPr algn="ctr">
              <a:lnSpc>
                <a:spcPct val="105000"/>
              </a:lnSpc>
              <a:buNone/>
            </a:pPr>
            <a:r>
              <a:rPr sz="1250" b="1">
                <a:solidFill>
                  <a:srgbClr val="2E3142"/>
                </a:solidFill>
                <a:latin typeface="210 OmniGothic 040"/>
                <a:ea typeface="210 OmniGothic 040"/>
                <a:cs typeface="210 OmniGothic 040"/>
              </a:rPr>
              <a:t>JWT · 권한 적용</a:t>
            </a:r>
          </a:p>
          <a:p>
            <a:pPr algn="ctr">
              <a:lnSpc>
                <a:spcPct val="105000"/>
              </a:lnSpc>
              <a:buNone/>
            </a:pPr>
            <a:r>
              <a:rPr sz="1250" b="1">
                <a:solidFill>
                  <a:srgbClr val="2E3142"/>
                </a:solidFill>
                <a:latin typeface="210 OmniGothic 040"/>
                <a:ea typeface="210 OmniGothic 040"/>
                <a:cs typeface="210 OmniGothic 040"/>
              </a:rPr>
              <a:t>실패 횟수 관리</a:t>
            </a:r>
          </a:p>
        </p:txBody>
      </p:sp>
      <p:sp>
        <p:nvSpPr>
          <p:cNvPr id="5095" name="Rounded Rectangle 5094">
            <a:extLst>
              <a:ext uri="{FF2B5EF4-FFF2-40B4-BE49-F238E27FC236}">
                <a16:creationId xmlns:a16="http://schemas.microsoft.com/office/drawing/2014/main" id="{8A2C5D3D-4991-46F5-A4D7-BC649C841535}"/>
              </a:ext>
            </a:extLst>
          </p:cNvPr>
          <p:cNvSpPr>
            <a:spLocks noGrp="1"/>
          </p:cNvSpPr>
          <p:nvPr/>
        </p:nvSpPr>
        <p:spPr>
          <a:xfrm>
            <a:off x="4097655"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6" name="TextBox 5095">
            <a:extLst>
              <a:ext uri="{FF2B5EF4-FFF2-40B4-BE49-F238E27FC236}">
                <a16:creationId xmlns:a16="http://schemas.microsoft.com/office/drawing/2014/main" id="{C548DDEE-8507-4864-B076-F77CD38A231D}"/>
              </a:ext>
            </a:extLst>
          </p:cNvPr>
          <p:cNvSpPr>
            <a:spLocks noGrp="1"/>
          </p:cNvSpPr>
          <p:nvPr/>
        </p:nvSpPr>
        <p:spPr>
          <a:xfrm>
            <a:off x="4154805"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산불 정보 입력</a:t>
            </a:r>
          </a:p>
          <a:p>
            <a:pPr algn="ctr">
              <a:lnSpc>
                <a:spcPct val="105000"/>
              </a:lnSpc>
              <a:buNone/>
            </a:pPr>
            <a:r>
              <a:rPr sz="1050" b="0">
                <a:solidFill>
                  <a:srgbClr val="6B7080"/>
                </a:solidFill>
                <a:latin typeface="210 OmniGothic 040"/>
                <a:ea typeface="210 OmniGothic 040"/>
                <a:cs typeface="210 OmniGothic 040"/>
              </a:rPr>
              <a:t>상황 보고자발화점·일시·실측 화선</a:t>
            </a:r>
            <a:br>
              <a:rPr sz="1050" b="0">
                <a:solidFill>
                  <a:srgbClr val="6B7080"/>
                </a:solidFill>
                <a:latin typeface="210 OmniGothic 040"/>
                <a:ea typeface="210 OmniGothic 040"/>
                <a:cs typeface="210 OmniGothic 040"/>
              </a:rPr>
            </a:br>
            <a:endParaRPr sz="1050" b="0">
              <a:solidFill>
                <a:srgbClr val="6B7080"/>
              </a:solidFill>
              <a:latin typeface="210 OmniGothic 040"/>
              <a:ea typeface="210 OmniGothic 040"/>
              <a:cs typeface="210 OmniGothic 040"/>
            </a:endParaRPr>
          </a:p>
        </p:txBody>
      </p:sp>
      <p:sp>
        <p:nvSpPr>
          <p:cNvPr id="5097" name="Oval 5096">
            <a:extLst>
              <a:ext uri="{FF2B5EF4-FFF2-40B4-BE49-F238E27FC236}">
                <a16:creationId xmlns:a16="http://schemas.microsoft.com/office/drawing/2014/main" id="{752BD9BA-8124-4FF0-BD9B-E07F9B117F1C}"/>
              </a:ext>
            </a:extLst>
          </p:cNvPr>
          <p:cNvSpPr>
            <a:spLocks noGrp="1"/>
          </p:cNvSpPr>
          <p:nvPr/>
        </p:nvSpPr>
        <p:spPr>
          <a:xfrm>
            <a:off x="3969639"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2</a:t>
            </a:r>
          </a:p>
        </p:txBody>
      </p:sp>
      <p:sp>
        <p:nvSpPr>
          <p:cNvPr id="5098" name="Rounded Rectangle 5097">
            <a:extLst>
              <a:ext uri="{FF2B5EF4-FFF2-40B4-BE49-F238E27FC236}">
                <a16:creationId xmlns:a16="http://schemas.microsoft.com/office/drawing/2014/main" id="{5B3D8B38-A29E-4970-9111-E40167CA7275}"/>
              </a:ext>
            </a:extLst>
          </p:cNvPr>
          <p:cNvSpPr>
            <a:spLocks noGrp="1"/>
          </p:cNvSpPr>
          <p:nvPr/>
        </p:nvSpPr>
        <p:spPr>
          <a:xfrm>
            <a:off x="4097655"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099" name="TextBox 5098">
            <a:extLst>
              <a:ext uri="{FF2B5EF4-FFF2-40B4-BE49-F238E27FC236}">
                <a16:creationId xmlns:a16="http://schemas.microsoft.com/office/drawing/2014/main" id="{BFAD2DB0-BA9C-41E5-BC87-03B678B71A5B}"/>
              </a:ext>
            </a:extLst>
          </p:cNvPr>
          <p:cNvSpPr>
            <a:spLocks noGrp="1"/>
          </p:cNvSpPr>
          <p:nvPr/>
        </p:nvSpPr>
        <p:spPr>
          <a:xfrm>
            <a:off x="4154805"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종료 여부 · 입력 검증</a:t>
            </a:r>
          </a:p>
          <a:p>
            <a:pPr algn="ctr">
              <a:lnSpc>
                <a:spcPct val="105000"/>
              </a:lnSpc>
              <a:buNone/>
            </a:pPr>
            <a:r>
              <a:rPr sz="1250" b="1">
                <a:solidFill>
                  <a:srgbClr val="2E3142"/>
                </a:solidFill>
                <a:latin typeface="210 OmniGothic 040"/>
                <a:ea typeface="210 OmniGothic 040"/>
                <a:cs typeface="210 OmniGothic 040"/>
              </a:rPr>
              <a:t>종료 사건 수정 차단</a:t>
            </a:r>
          </a:p>
          <a:p>
            <a:pPr algn="ctr">
              <a:lnSpc>
                <a:spcPct val="105000"/>
              </a:lnSpc>
              <a:buNone/>
            </a:pPr>
            <a:r>
              <a:rPr sz="1250" b="1">
                <a:solidFill>
                  <a:srgbClr val="2E3142"/>
                </a:solidFill>
                <a:latin typeface="210 OmniGothic 040"/>
                <a:ea typeface="210 OmniGothic 040"/>
                <a:cs typeface="210 OmniGothic 040"/>
              </a:rPr>
              <a:t>저장 · 로그 기록</a:t>
            </a:r>
          </a:p>
        </p:txBody>
      </p:sp>
      <p:sp>
        <p:nvSpPr>
          <p:cNvPr id="5100" name="Rounded Rectangle 5099">
            <a:extLst>
              <a:ext uri="{FF2B5EF4-FFF2-40B4-BE49-F238E27FC236}">
                <a16:creationId xmlns:a16="http://schemas.microsoft.com/office/drawing/2014/main" id="{87991827-7ACD-4255-90A0-026EEB7EAA5A}"/>
              </a:ext>
            </a:extLst>
          </p:cNvPr>
          <p:cNvSpPr>
            <a:spLocks noGrp="1"/>
          </p:cNvSpPr>
          <p:nvPr/>
        </p:nvSpPr>
        <p:spPr>
          <a:xfrm>
            <a:off x="5977890"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1" name="TextBox 5100">
            <a:extLst>
              <a:ext uri="{FF2B5EF4-FFF2-40B4-BE49-F238E27FC236}">
                <a16:creationId xmlns:a16="http://schemas.microsoft.com/office/drawing/2014/main" id="{95FC87AB-5B94-4304-9AFC-30EDFEDC123A}"/>
              </a:ext>
            </a:extLst>
          </p:cNvPr>
          <p:cNvSpPr>
            <a:spLocks noGrp="1"/>
          </p:cNvSpPr>
          <p:nvPr/>
        </p:nvSpPr>
        <p:spPr>
          <a:xfrm>
            <a:off x="6035040"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상황 확인</a:t>
            </a:r>
          </a:p>
          <a:p>
            <a:pPr algn="ctr">
              <a:lnSpc>
                <a:spcPct val="105000"/>
              </a:lnSpc>
              <a:buNone/>
            </a:pPr>
            <a:r>
              <a:rPr sz="1050" b="0">
                <a:solidFill>
                  <a:srgbClr val="6B7080"/>
                </a:solidFill>
                <a:latin typeface="210 OmniGothic 040"/>
                <a:ea typeface="210 OmniGothic 040"/>
                <a:cs typeface="210 OmniGothic 040"/>
              </a:rPr>
              <a:t>통합 상황도 · 접수</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자원 · 위험도</a:t>
            </a:r>
          </a:p>
        </p:txBody>
      </p:sp>
      <p:sp>
        <p:nvSpPr>
          <p:cNvPr id="5102" name="Oval 5101">
            <a:extLst>
              <a:ext uri="{FF2B5EF4-FFF2-40B4-BE49-F238E27FC236}">
                <a16:creationId xmlns:a16="http://schemas.microsoft.com/office/drawing/2014/main" id="{478B2D84-274F-48E8-8360-CB1DE28F9E9C}"/>
              </a:ext>
            </a:extLst>
          </p:cNvPr>
          <p:cNvSpPr>
            <a:spLocks noGrp="1"/>
          </p:cNvSpPr>
          <p:nvPr/>
        </p:nvSpPr>
        <p:spPr>
          <a:xfrm>
            <a:off x="5849874"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3</a:t>
            </a:r>
          </a:p>
        </p:txBody>
      </p:sp>
      <p:sp>
        <p:nvSpPr>
          <p:cNvPr id="5103" name="Rounded Rectangle 5102">
            <a:extLst>
              <a:ext uri="{FF2B5EF4-FFF2-40B4-BE49-F238E27FC236}">
                <a16:creationId xmlns:a16="http://schemas.microsoft.com/office/drawing/2014/main" id="{293BE0A2-4395-4C3A-8AF5-9FB727EE767E}"/>
              </a:ext>
            </a:extLst>
          </p:cNvPr>
          <p:cNvSpPr>
            <a:spLocks noGrp="1"/>
          </p:cNvSpPr>
          <p:nvPr/>
        </p:nvSpPr>
        <p:spPr>
          <a:xfrm>
            <a:off x="597789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4" name="TextBox 5103">
            <a:extLst>
              <a:ext uri="{FF2B5EF4-FFF2-40B4-BE49-F238E27FC236}">
                <a16:creationId xmlns:a16="http://schemas.microsoft.com/office/drawing/2014/main" id="{B4C39432-011F-43E0-96A5-F12359D593CF}"/>
              </a:ext>
            </a:extLst>
          </p:cNvPr>
          <p:cNvSpPr>
            <a:spLocks noGrp="1"/>
          </p:cNvSpPr>
          <p:nvPr/>
        </p:nvSpPr>
        <p:spPr>
          <a:xfrm>
            <a:off x="6035040" y="5158349"/>
            <a:ext cx="1600200" cy="710964"/>
          </a:xfrm>
          <a:prstGeom prst="rect">
            <a:avLst/>
          </a:prstGeom>
          <a:noFill/>
        </p:spPr>
        <p:txBody>
          <a:bodyPr wrap="square" lIns="0" tIns="0" rIns="0" bIns="0" anchor="ctr">
            <a:spAutoFit/>
          </a:bodyPr>
          <a:lstStyle/>
          <a:p>
            <a:pPr algn="ctr">
              <a:lnSpc>
                <a:spcPct val="105000"/>
              </a:lnSpc>
              <a:buNone/>
            </a:pPr>
            <a:r>
              <a:rPr sz="1250" b="1" dirty="0" err="1">
                <a:solidFill>
                  <a:srgbClr val="2E3142"/>
                </a:solidFill>
                <a:latin typeface="210 OmniGothic 040"/>
                <a:ea typeface="210 OmniGothic 040"/>
                <a:cs typeface="210 OmniGothic 040"/>
              </a:rPr>
              <a:t>지도</a:t>
            </a:r>
            <a:r>
              <a:rPr sz="1250" b="1" dirty="0">
                <a:solidFill>
                  <a:srgbClr val="2E3142"/>
                </a:solidFill>
                <a:latin typeface="210 OmniGothic 040"/>
                <a:ea typeface="210 OmniGothic 040"/>
                <a:cs typeface="210 OmniGothic 040"/>
              </a:rPr>
              <a:t> · </a:t>
            </a:r>
            <a:r>
              <a:rPr sz="1250" b="1" dirty="0" err="1">
                <a:solidFill>
                  <a:srgbClr val="2E3142"/>
                </a:solidFill>
                <a:latin typeface="210 OmniGothic 040"/>
                <a:ea typeface="210 OmniGothic 040"/>
                <a:cs typeface="210 OmniGothic 040"/>
              </a:rPr>
              <a:t>위험도</a:t>
            </a:r>
            <a:r>
              <a:rPr sz="1250" b="1" dirty="0">
                <a:solidFill>
                  <a:srgbClr val="2E3142"/>
                </a:solidFill>
                <a:latin typeface="210 OmniGothic 040"/>
                <a:ea typeface="210 OmniGothic 040"/>
                <a:cs typeface="210 OmniGothic 040"/>
              </a:rPr>
              <a:t> </a:t>
            </a:r>
            <a:r>
              <a:rPr sz="1250" b="1" dirty="0" err="1">
                <a:solidFill>
                  <a:srgbClr val="2E3142"/>
                </a:solidFill>
                <a:latin typeface="210 OmniGothic 040"/>
                <a:ea typeface="210 OmniGothic 040"/>
                <a:cs typeface="210 OmniGothic 040"/>
              </a:rPr>
              <a:t>조회</a:t>
            </a:r>
            <a:endParaRPr sz="1250" b="1" dirty="0">
              <a:solidFill>
                <a:srgbClr val="2E3142"/>
              </a:solidFill>
              <a:latin typeface="210 OmniGothic 040"/>
              <a:ea typeface="210 OmniGothic 040"/>
              <a:cs typeface="210 OmniGothic 040"/>
            </a:endParaRPr>
          </a:p>
          <a:p>
            <a:pPr algn="ctr">
              <a:lnSpc>
                <a:spcPct val="105000"/>
              </a:lnSpc>
              <a:buNone/>
            </a:pPr>
            <a:r>
              <a:rPr sz="1050" b="0" dirty="0" err="1">
                <a:solidFill>
                  <a:srgbClr val="6B7080"/>
                </a:solidFill>
                <a:latin typeface="210 OmniGothic 040"/>
                <a:ea typeface="210 OmniGothic 040"/>
                <a:cs typeface="210 OmniGothic 040"/>
              </a:rPr>
              <a:t>시설</a:t>
            </a:r>
            <a:r>
              <a:rPr sz="1050" b="0" dirty="0">
                <a:solidFill>
                  <a:srgbClr val="6B7080"/>
                </a:solidFill>
                <a:latin typeface="210 OmniGothic 040"/>
                <a:ea typeface="210 OmniGothic 040"/>
                <a:cs typeface="210 OmniGothic 040"/>
              </a:rPr>
              <a:t> </a:t>
            </a:r>
            <a:r>
              <a:rPr sz="1050" b="0" dirty="0" err="1">
                <a:solidFill>
                  <a:srgbClr val="6B7080"/>
                </a:solidFill>
                <a:latin typeface="210 OmniGothic 040"/>
                <a:ea typeface="210 OmniGothic 040"/>
                <a:cs typeface="210 OmniGothic 040"/>
              </a:rPr>
              <a:t>위치</a:t>
            </a:r>
            <a:r>
              <a:rPr sz="1050" b="0" dirty="0">
                <a:solidFill>
                  <a:srgbClr val="6B7080"/>
                </a:solidFill>
                <a:latin typeface="210 OmniGothic 040"/>
                <a:ea typeface="210 OmniGothic 040"/>
                <a:cs typeface="210 OmniGothic 040"/>
              </a:rPr>
              <a:t> · </a:t>
            </a:r>
            <a:r>
              <a:rPr sz="1050" b="0" dirty="0" err="1">
                <a:solidFill>
                  <a:srgbClr val="6B7080"/>
                </a:solidFill>
                <a:latin typeface="210 OmniGothic 040"/>
                <a:ea typeface="210 OmniGothic 040"/>
                <a:cs typeface="210 OmniGothic 040"/>
              </a:rPr>
              <a:t>자원</a:t>
            </a:r>
            <a:r>
              <a:rPr sz="1050" b="0" dirty="0">
                <a:solidFill>
                  <a:srgbClr val="6B7080"/>
                </a:solidFill>
                <a:latin typeface="210 OmniGothic 040"/>
                <a:ea typeface="210 OmniGothic 040"/>
                <a:cs typeface="210 OmniGothic 040"/>
              </a:rPr>
              <a:t> 합계P5 </a:t>
            </a:r>
            <a:br>
              <a:rPr lang="en-US" sz="1050" b="0" dirty="0">
                <a:solidFill>
                  <a:srgbClr val="6B7080"/>
                </a:solidFill>
                <a:latin typeface="210 OmniGothic 040"/>
                <a:ea typeface="210 OmniGothic 040"/>
                <a:cs typeface="210 OmniGothic 040"/>
              </a:rPr>
            </a:br>
            <a:r>
              <a:rPr sz="1050" b="0" dirty="0" err="1">
                <a:solidFill>
                  <a:srgbClr val="6B7080"/>
                </a:solidFill>
                <a:latin typeface="210 OmniGothic 040"/>
                <a:ea typeface="210 OmniGothic 040"/>
                <a:cs typeface="210 OmniGothic 040"/>
              </a:rPr>
              <a:t>위험도</a:t>
            </a:r>
            <a:r>
              <a:rPr sz="1050" b="0" dirty="0">
                <a:solidFill>
                  <a:srgbClr val="6B7080"/>
                </a:solidFill>
                <a:latin typeface="210 OmniGothic 040"/>
                <a:ea typeface="210 OmniGothic 040"/>
                <a:cs typeface="210 OmniGothic 040"/>
              </a:rPr>
              <a:t> (1.00~5.00)</a:t>
            </a:r>
            <a:br>
              <a:rPr sz="1050" b="0" dirty="0">
                <a:solidFill>
                  <a:srgbClr val="6B7080"/>
                </a:solidFill>
                <a:latin typeface="210 OmniGothic 040"/>
                <a:ea typeface="210 OmniGothic 040"/>
                <a:cs typeface="210 OmniGothic 040"/>
              </a:rPr>
            </a:br>
            <a:endParaRPr sz="1050" b="0" dirty="0">
              <a:solidFill>
                <a:srgbClr val="6B7080"/>
              </a:solidFill>
              <a:latin typeface="210 OmniGothic 040"/>
              <a:ea typeface="210 OmniGothic 040"/>
              <a:cs typeface="210 OmniGothic 040"/>
            </a:endParaRPr>
          </a:p>
        </p:txBody>
      </p:sp>
      <p:sp>
        <p:nvSpPr>
          <p:cNvPr id="5105" name="Rounded Rectangle 5104">
            <a:extLst>
              <a:ext uri="{FF2B5EF4-FFF2-40B4-BE49-F238E27FC236}">
                <a16:creationId xmlns:a16="http://schemas.microsoft.com/office/drawing/2014/main" id="{E7C61568-321E-4C0E-98AB-CA4A58ED0433}"/>
              </a:ext>
            </a:extLst>
          </p:cNvPr>
          <p:cNvSpPr>
            <a:spLocks noGrp="1"/>
          </p:cNvSpPr>
          <p:nvPr/>
        </p:nvSpPr>
        <p:spPr>
          <a:xfrm>
            <a:off x="5977890" y="6871716"/>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6" name="TextBox 5105">
            <a:extLst>
              <a:ext uri="{FF2B5EF4-FFF2-40B4-BE49-F238E27FC236}">
                <a16:creationId xmlns:a16="http://schemas.microsoft.com/office/drawing/2014/main" id="{13C03EED-751D-4A31-90AB-3A8F7DF730CE}"/>
              </a:ext>
            </a:extLst>
          </p:cNvPr>
          <p:cNvSpPr>
            <a:spLocks noGrp="1"/>
          </p:cNvSpPr>
          <p:nvPr/>
        </p:nvSpPr>
        <p:spPr>
          <a:xfrm>
            <a:off x="6035040"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지도 타일 · 기상청</a:t>
            </a:r>
          </a:p>
          <a:p>
            <a:pPr algn="ctr">
              <a:lnSpc>
                <a:spcPct val="105000"/>
              </a:lnSpc>
              <a:buNone/>
            </a:pPr>
            <a:r>
              <a:rPr sz="1050" b="0">
                <a:solidFill>
                  <a:srgbClr val="6B7080"/>
                </a:solidFill>
                <a:latin typeface="210 OmniGothic 040"/>
                <a:ea typeface="210 OmniGothic 040"/>
                <a:cs typeface="210 OmniGothic 040"/>
              </a:rPr>
              <a:t>위성영상 · 공공데이터</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단기예보</a:t>
            </a:r>
          </a:p>
        </p:txBody>
      </p:sp>
      <p:sp>
        <p:nvSpPr>
          <p:cNvPr id="5107" name="Rounded Rectangle 5106">
            <a:extLst>
              <a:ext uri="{FF2B5EF4-FFF2-40B4-BE49-F238E27FC236}">
                <a16:creationId xmlns:a16="http://schemas.microsoft.com/office/drawing/2014/main" id="{065CC321-340F-45D3-B615-C36C6B023D35}"/>
              </a:ext>
            </a:extLst>
          </p:cNvPr>
          <p:cNvSpPr>
            <a:spLocks noGrp="1"/>
          </p:cNvSpPr>
          <p:nvPr/>
        </p:nvSpPr>
        <p:spPr>
          <a:xfrm>
            <a:off x="7858125"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08" name="TextBox 5107">
            <a:extLst>
              <a:ext uri="{FF2B5EF4-FFF2-40B4-BE49-F238E27FC236}">
                <a16:creationId xmlns:a16="http://schemas.microsoft.com/office/drawing/2014/main" id="{EBAE2E83-81D0-49D5-8433-6915ABDF24C0}"/>
              </a:ext>
            </a:extLst>
          </p:cNvPr>
          <p:cNvSpPr>
            <a:spLocks noGrp="1"/>
          </p:cNvSpPr>
          <p:nvPr/>
        </p:nvSpPr>
        <p:spPr>
          <a:xfrm>
            <a:off x="7915275"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확산 예측 실행</a:t>
            </a:r>
          </a:p>
          <a:p>
            <a:pPr algn="ctr">
              <a:lnSpc>
                <a:spcPct val="105000"/>
              </a:lnSpc>
              <a:buNone/>
            </a:pPr>
            <a:r>
              <a:rPr sz="1050" b="0">
                <a:solidFill>
                  <a:srgbClr val="6B7080"/>
                </a:solidFill>
                <a:latin typeface="210 OmniGothic 040"/>
                <a:ea typeface="210 OmniGothic 040"/>
                <a:cs typeface="210 OmniGothic 040"/>
              </a:rPr>
              <a:t>통합지휘권자</a:t>
            </a:r>
          </a:p>
        </p:txBody>
      </p:sp>
      <p:sp>
        <p:nvSpPr>
          <p:cNvPr id="5109" name="Oval 5108">
            <a:extLst>
              <a:ext uri="{FF2B5EF4-FFF2-40B4-BE49-F238E27FC236}">
                <a16:creationId xmlns:a16="http://schemas.microsoft.com/office/drawing/2014/main" id="{41109E80-BAE6-48B7-9E10-EA59D308C7B1}"/>
              </a:ext>
            </a:extLst>
          </p:cNvPr>
          <p:cNvSpPr>
            <a:spLocks noGrp="1"/>
          </p:cNvSpPr>
          <p:nvPr/>
        </p:nvSpPr>
        <p:spPr>
          <a:xfrm>
            <a:off x="7730109"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4</a:t>
            </a:r>
          </a:p>
        </p:txBody>
      </p:sp>
      <p:sp>
        <p:nvSpPr>
          <p:cNvPr id="5110" name="Rounded Rectangle 5109">
            <a:extLst>
              <a:ext uri="{FF2B5EF4-FFF2-40B4-BE49-F238E27FC236}">
                <a16:creationId xmlns:a16="http://schemas.microsoft.com/office/drawing/2014/main" id="{DFF4A30B-836E-4E15-88DD-497504673B2B}"/>
              </a:ext>
            </a:extLst>
          </p:cNvPr>
          <p:cNvSpPr>
            <a:spLocks noGrp="1"/>
          </p:cNvSpPr>
          <p:nvPr/>
        </p:nvSpPr>
        <p:spPr>
          <a:xfrm>
            <a:off x="7858125"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1" name="TextBox 5110">
            <a:extLst>
              <a:ext uri="{FF2B5EF4-FFF2-40B4-BE49-F238E27FC236}">
                <a16:creationId xmlns:a16="http://schemas.microsoft.com/office/drawing/2014/main" id="{EAAD32BB-92B3-480E-B506-AB03D5110FB2}"/>
              </a:ext>
            </a:extLst>
          </p:cNvPr>
          <p:cNvSpPr>
            <a:spLocks noGrp="1"/>
          </p:cNvSpPr>
          <p:nvPr/>
        </p:nvSpPr>
        <p:spPr>
          <a:xfrm>
            <a:off x="7915275" y="5243180"/>
            <a:ext cx="1600200" cy="541302"/>
          </a:xfrm>
          <a:prstGeom prst="rect">
            <a:avLst/>
          </a:prstGeom>
          <a:noFill/>
        </p:spPr>
        <p:txBody>
          <a:bodyPr wrap="square" lIns="0" tIns="0" rIns="0" bIns="0" anchor="ctr">
            <a:spAutoFit/>
          </a:bodyPr>
          <a:lstStyle/>
          <a:p>
            <a:pPr algn="ctr">
              <a:lnSpc>
                <a:spcPct val="105000"/>
              </a:lnSpc>
              <a:buNone/>
            </a:pPr>
            <a:r>
              <a:rPr sz="1250" b="1" dirty="0" err="1">
                <a:solidFill>
                  <a:srgbClr val="2E3142"/>
                </a:solidFill>
                <a:latin typeface="210 OmniGothic 040"/>
                <a:ea typeface="210 OmniGothic 040"/>
                <a:cs typeface="210 OmniGothic 040"/>
              </a:rPr>
              <a:t>예측</a:t>
            </a:r>
            <a:r>
              <a:rPr sz="1250" b="1" dirty="0">
                <a:solidFill>
                  <a:srgbClr val="2E3142"/>
                </a:solidFill>
                <a:latin typeface="210 OmniGothic 040"/>
                <a:ea typeface="210 OmniGothic 040"/>
                <a:cs typeface="210 OmniGothic 040"/>
              </a:rPr>
              <a:t> </a:t>
            </a:r>
            <a:r>
              <a:rPr sz="1250" b="1" dirty="0" err="1">
                <a:solidFill>
                  <a:srgbClr val="2E3142"/>
                </a:solidFill>
                <a:latin typeface="210 OmniGothic 040"/>
                <a:ea typeface="210 OmniGothic 040"/>
                <a:cs typeface="210 OmniGothic 040"/>
              </a:rPr>
              <a:t>저장</a:t>
            </a:r>
            <a:endParaRPr sz="1250" b="1" dirty="0">
              <a:solidFill>
                <a:srgbClr val="2E3142"/>
              </a:solidFill>
              <a:latin typeface="210 OmniGothic 040"/>
              <a:ea typeface="210 OmniGothic 040"/>
              <a:cs typeface="210 OmniGothic 040"/>
            </a:endParaRPr>
          </a:p>
          <a:p>
            <a:pPr algn="ctr">
              <a:lnSpc>
                <a:spcPct val="105000"/>
              </a:lnSpc>
              <a:buNone/>
            </a:pPr>
            <a:r>
              <a:rPr sz="1050" b="0" dirty="0">
                <a:solidFill>
                  <a:srgbClr val="6B7080"/>
                </a:solidFill>
                <a:latin typeface="210 OmniGothic 040"/>
                <a:ea typeface="210 OmniGothic 040"/>
                <a:cs typeface="210 OmniGothic 040"/>
              </a:rPr>
              <a:t>P1~P8 · </a:t>
            </a:r>
            <a:r>
              <a:rPr sz="1050" b="0" dirty="0" err="1">
                <a:solidFill>
                  <a:srgbClr val="6B7080"/>
                </a:solidFill>
                <a:latin typeface="210 OmniGothic 040"/>
                <a:ea typeface="210 OmniGothic 040"/>
                <a:cs typeface="210 OmniGothic 040"/>
              </a:rPr>
              <a:t>누적성</a:t>
            </a:r>
            <a:r>
              <a:rPr sz="1050" b="0" dirty="0">
                <a:solidFill>
                  <a:srgbClr val="6B7080"/>
                </a:solidFill>
                <a:latin typeface="210 OmniGothic 040"/>
                <a:ea typeface="210 OmniGothic 040"/>
                <a:cs typeface="210 OmniGothic 040"/>
              </a:rPr>
              <a:t> </a:t>
            </a:r>
            <a:r>
              <a:rPr sz="1050" b="0" dirty="0" err="1">
                <a:solidFill>
                  <a:srgbClr val="6B7080"/>
                </a:solidFill>
                <a:latin typeface="210 OmniGothic 040"/>
                <a:ea typeface="210 OmniGothic 040"/>
                <a:cs typeface="210 OmniGothic 040"/>
              </a:rPr>
              <a:t>검증</a:t>
            </a:r>
            <a:r>
              <a:rPr sz="1050" b="0" dirty="0">
                <a:solidFill>
                  <a:srgbClr val="6B7080"/>
                </a:solidFill>
                <a:latin typeface="210 OmniGothic 040"/>
                <a:ea typeface="210 OmniGothic 040"/>
                <a:cs typeface="210 OmniGothic 040"/>
              </a:rPr>
              <a:t> · </a:t>
            </a:r>
            <a:br>
              <a:rPr lang="en-US" sz="1050" b="0" dirty="0">
                <a:solidFill>
                  <a:srgbClr val="6B7080"/>
                </a:solidFill>
                <a:latin typeface="210 OmniGothic 040"/>
                <a:ea typeface="210 OmniGothic 040"/>
                <a:cs typeface="210 OmniGothic 040"/>
              </a:rPr>
            </a:br>
            <a:r>
              <a:rPr sz="1050" b="0" dirty="0">
                <a:solidFill>
                  <a:srgbClr val="6B7080"/>
                </a:solidFill>
                <a:latin typeface="210 OmniGothic 040"/>
                <a:ea typeface="210 OmniGothic 040"/>
                <a:cs typeface="210 OmniGothic 040"/>
              </a:rPr>
              <a:t>P5 </a:t>
            </a:r>
            <a:r>
              <a:rPr sz="1050" b="0" dirty="0" err="1">
                <a:solidFill>
                  <a:srgbClr val="6B7080"/>
                </a:solidFill>
                <a:latin typeface="210 OmniGothic 040"/>
                <a:ea typeface="210 OmniGothic 040"/>
                <a:cs typeface="210 OmniGothic 040"/>
              </a:rPr>
              <a:t>위험도</a:t>
            </a:r>
            <a:r>
              <a:rPr sz="1050" b="0" dirty="0">
                <a:solidFill>
                  <a:srgbClr val="6B7080"/>
                </a:solidFill>
                <a:latin typeface="210 OmniGothic 040"/>
                <a:ea typeface="210 OmniGothic 040"/>
                <a:cs typeface="210 OmniGothic 040"/>
              </a:rPr>
              <a:t> </a:t>
            </a:r>
            <a:r>
              <a:rPr sz="1050" b="0" dirty="0" err="1">
                <a:solidFill>
                  <a:srgbClr val="6B7080"/>
                </a:solidFill>
                <a:latin typeface="210 OmniGothic 040"/>
                <a:ea typeface="210 OmniGothic 040"/>
                <a:cs typeface="210 OmniGothic 040"/>
              </a:rPr>
              <a:t>계산</a:t>
            </a:r>
            <a:endParaRPr sz="1050" b="0" dirty="0">
              <a:solidFill>
                <a:srgbClr val="6B7080"/>
              </a:solidFill>
              <a:latin typeface="210 OmniGothic 040"/>
              <a:ea typeface="210 OmniGothic 040"/>
              <a:cs typeface="210 OmniGothic 040"/>
            </a:endParaRPr>
          </a:p>
        </p:txBody>
      </p:sp>
      <p:sp>
        <p:nvSpPr>
          <p:cNvPr id="5112" name="Rounded Rectangle 5111">
            <a:extLst>
              <a:ext uri="{FF2B5EF4-FFF2-40B4-BE49-F238E27FC236}">
                <a16:creationId xmlns:a16="http://schemas.microsoft.com/office/drawing/2014/main" id="{1329F2AB-506B-4725-BD3F-236E22B37958}"/>
              </a:ext>
            </a:extLst>
          </p:cNvPr>
          <p:cNvSpPr>
            <a:spLocks noGrp="1"/>
          </p:cNvSpPr>
          <p:nvPr/>
        </p:nvSpPr>
        <p:spPr>
          <a:xfrm>
            <a:off x="7858125" y="6871716"/>
            <a:ext cx="1714500" cy="1307592"/>
          </a:xfrm>
          <a:prstGeom prst="roundRect">
            <a:avLst>
              <a:gd name="adj" fmla="val 8000"/>
            </a:avLst>
          </a:prstGeom>
          <a:solidFill>
            <a:srgbClr val="363A52"/>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3" name="TextBox 5112">
            <a:extLst>
              <a:ext uri="{FF2B5EF4-FFF2-40B4-BE49-F238E27FC236}">
                <a16:creationId xmlns:a16="http://schemas.microsoft.com/office/drawing/2014/main" id="{E6DC5BE2-06FB-4A8B-B375-11AD89B8F4CD}"/>
              </a:ext>
            </a:extLst>
          </p:cNvPr>
          <p:cNvSpPr>
            <a:spLocks noGrp="1"/>
          </p:cNvSpPr>
          <p:nvPr/>
        </p:nvSpPr>
        <p:spPr>
          <a:xfrm>
            <a:off x="7915275"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FFFFFF"/>
                </a:solidFill>
                <a:latin typeface="210 OmniGothic 040"/>
                <a:ea typeface="210 OmniGothic 040"/>
                <a:cs typeface="210 OmniGothic 040"/>
              </a:rPr>
              <a:t>ELMFIRE</a:t>
            </a:r>
          </a:p>
          <a:p>
            <a:pPr algn="ctr">
              <a:lnSpc>
                <a:spcPct val="105000"/>
              </a:lnSpc>
              <a:buNone/>
            </a:pPr>
            <a:r>
              <a:rPr sz="1050" b="0">
                <a:solidFill>
                  <a:srgbClr val="D8D8D8"/>
                </a:solidFill>
                <a:latin typeface="210 OmniGothic 040"/>
                <a:ea typeface="210 OmniGothic 040"/>
                <a:cs typeface="210 OmniGothic 040"/>
              </a:rPr>
              <a:t>실측 화선 → P1~P8</a:t>
            </a:r>
          </a:p>
        </p:txBody>
      </p:sp>
      <p:sp>
        <p:nvSpPr>
          <p:cNvPr id="5114" name="Rounded Rectangle 5113">
            <a:extLst>
              <a:ext uri="{FF2B5EF4-FFF2-40B4-BE49-F238E27FC236}">
                <a16:creationId xmlns:a16="http://schemas.microsoft.com/office/drawing/2014/main" id="{280CA83C-3A6A-437E-9C01-7F9DD4178C5B}"/>
              </a:ext>
            </a:extLst>
          </p:cNvPr>
          <p:cNvSpPr>
            <a:spLocks noGrp="1"/>
          </p:cNvSpPr>
          <p:nvPr/>
        </p:nvSpPr>
        <p:spPr>
          <a:xfrm>
            <a:off x="973836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5" name="TextBox 5114">
            <a:extLst>
              <a:ext uri="{FF2B5EF4-FFF2-40B4-BE49-F238E27FC236}">
                <a16:creationId xmlns:a16="http://schemas.microsoft.com/office/drawing/2014/main" id="{81B1A0A1-3B43-4202-991C-640C1AB3DD0E}"/>
              </a:ext>
            </a:extLst>
          </p:cNvPr>
          <p:cNvSpPr>
            <a:spLocks noGrp="1"/>
          </p:cNvSpPr>
          <p:nvPr/>
        </p:nvSpPr>
        <p:spPr>
          <a:xfrm>
            <a:off x="9795510"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규칙 판정</a:t>
            </a:r>
          </a:p>
          <a:p>
            <a:pPr algn="ctr">
              <a:lnSpc>
                <a:spcPct val="105000"/>
              </a:lnSpc>
              <a:buNone/>
            </a:pPr>
            <a:r>
              <a:rPr sz="1050" b="0">
                <a:solidFill>
                  <a:srgbClr val="6B7080"/>
                </a:solidFill>
                <a:latin typeface="210 OmniGothic 040"/>
                <a:ea typeface="210 OmniGothic 040"/>
                <a:cs typeface="210 OmniGothic 040"/>
              </a:rPr>
              <a:t>진화 7 · 대피 7 발동</a:t>
            </a:r>
          </a:p>
        </p:txBody>
      </p:sp>
      <p:sp>
        <p:nvSpPr>
          <p:cNvPr id="5116" name="Oval 5115">
            <a:extLst>
              <a:ext uri="{FF2B5EF4-FFF2-40B4-BE49-F238E27FC236}">
                <a16:creationId xmlns:a16="http://schemas.microsoft.com/office/drawing/2014/main" id="{7234A965-DFDA-4319-B1C3-8174F506AF9D}"/>
              </a:ext>
            </a:extLst>
          </p:cNvPr>
          <p:cNvSpPr>
            <a:spLocks noGrp="1"/>
          </p:cNvSpPr>
          <p:nvPr/>
        </p:nvSpPr>
        <p:spPr>
          <a:xfrm>
            <a:off x="9610344" y="4709160"/>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5</a:t>
            </a:r>
          </a:p>
        </p:txBody>
      </p:sp>
      <p:sp>
        <p:nvSpPr>
          <p:cNvPr id="5117" name="Rounded Rectangle 5116">
            <a:extLst>
              <a:ext uri="{FF2B5EF4-FFF2-40B4-BE49-F238E27FC236}">
                <a16:creationId xmlns:a16="http://schemas.microsoft.com/office/drawing/2014/main" id="{36BA8F14-5D74-404E-973C-CA526C0477CF}"/>
              </a:ext>
            </a:extLst>
          </p:cNvPr>
          <p:cNvSpPr>
            <a:spLocks noGrp="1"/>
          </p:cNvSpPr>
          <p:nvPr/>
        </p:nvSpPr>
        <p:spPr>
          <a:xfrm>
            <a:off x="9738360" y="6871716"/>
            <a:ext cx="1714500" cy="1307592"/>
          </a:xfrm>
          <a:prstGeom prst="roundRect">
            <a:avLst>
              <a:gd name="adj" fmla="val 8000"/>
            </a:avLst>
          </a:prstGeom>
          <a:solidFill>
            <a:srgbClr val="363A52"/>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18" name="TextBox 5117">
            <a:extLst>
              <a:ext uri="{FF2B5EF4-FFF2-40B4-BE49-F238E27FC236}">
                <a16:creationId xmlns:a16="http://schemas.microsoft.com/office/drawing/2014/main" id="{EDEB9238-27EA-408E-85CD-6A5FC4AF0157}"/>
              </a:ext>
            </a:extLst>
          </p:cNvPr>
          <p:cNvSpPr>
            <a:spLocks noGrp="1"/>
          </p:cNvSpPr>
          <p:nvPr/>
        </p:nvSpPr>
        <p:spPr>
          <a:xfrm>
            <a:off x="9795510"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FFFFFF"/>
                </a:solidFill>
                <a:latin typeface="210 OmniGothic 040"/>
                <a:ea typeface="210 OmniGothic 040"/>
                <a:cs typeface="210 OmniGothic 040"/>
              </a:rPr>
              <a:t>근거 검색 + EXAONE</a:t>
            </a:r>
          </a:p>
          <a:p>
            <a:pPr algn="ctr">
              <a:lnSpc>
                <a:spcPct val="105000"/>
              </a:lnSpc>
              <a:buNone/>
            </a:pPr>
            <a:r>
              <a:rPr sz="1050" b="0">
                <a:solidFill>
                  <a:srgbClr val="D8D8D8"/>
                </a:solidFill>
                <a:latin typeface="210 OmniGothic 040"/>
                <a:ea typeface="210 OmniGothic 040"/>
                <a:cs typeface="210 OmniGothic 040"/>
              </a:rPr>
              <a:t>근거 인용 제안 문장</a:t>
            </a:r>
          </a:p>
        </p:txBody>
      </p:sp>
      <p:sp>
        <p:nvSpPr>
          <p:cNvPr id="5119" name="Rounded Rectangle 5118">
            <a:extLst>
              <a:ext uri="{FF2B5EF4-FFF2-40B4-BE49-F238E27FC236}">
                <a16:creationId xmlns:a16="http://schemas.microsoft.com/office/drawing/2014/main" id="{8AC45B09-EB00-4D29-A9FD-1B0BFD30C099}"/>
              </a:ext>
            </a:extLst>
          </p:cNvPr>
          <p:cNvSpPr>
            <a:spLocks noGrp="1"/>
          </p:cNvSpPr>
          <p:nvPr/>
        </p:nvSpPr>
        <p:spPr>
          <a:xfrm>
            <a:off x="11618594"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0" name="TextBox 5119">
            <a:extLst>
              <a:ext uri="{FF2B5EF4-FFF2-40B4-BE49-F238E27FC236}">
                <a16:creationId xmlns:a16="http://schemas.microsoft.com/office/drawing/2014/main" id="{E394BE2A-61A9-442A-8DBF-50A86616F1FD}"/>
              </a:ext>
            </a:extLst>
          </p:cNvPr>
          <p:cNvSpPr>
            <a:spLocks noGrp="1"/>
          </p:cNvSpPr>
          <p:nvPr/>
        </p:nvSpPr>
        <p:spPr>
          <a:xfrm>
            <a:off x="11675744"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새 버전 저장</a:t>
            </a:r>
          </a:p>
          <a:p>
            <a:pPr algn="ctr">
              <a:lnSpc>
                <a:spcPct val="105000"/>
              </a:lnSpc>
              <a:buNone/>
            </a:pPr>
            <a:r>
              <a:rPr sz="1050" b="0">
                <a:solidFill>
                  <a:srgbClr val="6B7080"/>
                </a:solidFill>
                <a:latin typeface="210 OmniGothic 040"/>
                <a:ea typeface="210 OmniGothic 040"/>
                <a:cs typeface="210 OmniGothic 040"/>
              </a:rPr>
              <a:t>변경 항목 · 이력</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이벤트 로그</a:t>
            </a:r>
          </a:p>
        </p:txBody>
      </p:sp>
      <p:sp>
        <p:nvSpPr>
          <p:cNvPr id="5121" name="Rounded Rectangle 5120">
            <a:extLst>
              <a:ext uri="{FF2B5EF4-FFF2-40B4-BE49-F238E27FC236}">
                <a16:creationId xmlns:a16="http://schemas.microsoft.com/office/drawing/2014/main" id="{1F719A12-A6F5-4106-965A-9619264F5CBA}"/>
              </a:ext>
            </a:extLst>
          </p:cNvPr>
          <p:cNvSpPr>
            <a:spLocks noGrp="1"/>
          </p:cNvSpPr>
          <p:nvPr/>
        </p:nvSpPr>
        <p:spPr>
          <a:xfrm>
            <a:off x="11618594"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2" name="TextBox 5121">
            <a:extLst>
              <a:ext uri="{FF2B5EF4-FFF2-40B4-BE49-F238E27FC236}">
                <a16:creationId xmlns:a16="http://schemas.microsoft.com/office/drawing/2014/main" id="{8AF262E3-1914-4774-B4F8-3B51CA063D55}"/>
              </a:ext>
            </a:extLst>
          </p:cNvPr>
          <p:cNvSpPr>
            <a:spLocks noGrp="1"/>
          </p:cNvSpPr>
          <p:nvPr/>
        </p:nvSpPr>
        <p:spPr>
          <a:xfrm>
            <a:off x="11675744"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제안 검토</a:t>
            </a:r>
          </a:p>
          <a:p>
            <a:pPr algn="ctr">
              <a:lnSpc>
                <a:spcPct val="105000"/>
              </a:lnSpc>
              <a:buNone/>
            </a:pPr>
            <a:r>
              <a:rPr sz="1050" b="0">
                <a:solidFill>
                  <a:srgbClr val="6B7080"/>
                </a:solidFill>
                <a:latin typeface="210 OmniGothic 040"/>
                <a:ea typeface="210 OmniGothic 040"/>
                <a:cs typeface="210 OmniGothic 040"/>
              </a:rPr>
              <a:t>진화 · 대피 열람</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근거 · 이력·변경</a:t>
            </a:r>
          </a:p>
        </p:txBody>
      </p:sp>
      <p:sp>
        <p:nvSpPr>
          <p:cNvPr id="5123" name="Oval 5122">
            <a:extLst>
              <a:ext uri="{FF2B5EF4-FFF2-40B4-BE49-F238E27FC236}">
                <a16:creationId xmlns:a16="http://schemas.microsoft.com/office/drawing/2014/main" id="{EF43A692-B5EF-410E-BA9D-9A2104D9180D}"/>
              </a:ext>
            </a:extLst>
          </p:cNvPr>
          <p:cNvSpPr>
            <a:spLocks noGrp="1"/>
          </p:cNvSpPr>
          <p:nvPr/>
        </p:nvSpPr>
        <p:spPr>
          <a:xfrm>
            <a:off x="11490578"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6</a:t>
            </a:r>
          </a:p>
        </p:txBody>
      </p:sp>
      <p:sp>
        <p:nvSpPr>
          <p:cNvPr id="5124" name="Rounded Rectangle 5123">
            <a:extLst>
              <a:ext uri="{FF2B5EF4-FFF2-40B4-BE49-F238E27FC236}">
                <a16:creationId xmlns:a16="http://schemas.microsoft.com/office/drawing/2014/main" id="{C37A7525-F26B-4F3F-89F8-55F6E1F85195}"/>
              </a:ext>
            </a:extLst>
          </p:cNvPr>
          <p:cNvSpPr>
            <a:spLocks noGrp="1"/>
          </p:cNvSpPr>
          <p:nvPr/>
        </p:nvSpPr>
        <p:spPr>
          <a:xfrm>
            <a:off x="13498830"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5" name="TextBox 5124">
            <a:extLst>
              <a:ext uri="{FF2B5EF4-FFF2-40B4-BE49-F238E27FC236}">
                <a16:creationId xmlns:a16="http://schemas.microsoft.com/office/drawing/2014/main" id="{1D052B5D-FA0E-4432-9558-FF563A62D1D2}"/>
              </a:ext>
            </a:extLst>
          </p:cNvPr>
          <p:cNvSpPr>
            <a:spLocks noGrp="1"/>
          </p:cNvSpPr>
          <p:nvPr/>
        </p:nvSpPr>
        <p:spPr>
          <a:xfrm>
            <a:off x="13555980"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AI 질의 · 정정</a:t>
            </a:r>
          </a:p>
          <a:p>
            <a:pPr algn="ctr">
              <a:lnSpc>
                <a:spcPct val="105000"/>
              </a:lnSpc>
              <a:buNone/>
            </a:pPr>
            <a:r>
              <a:rPr sz="1050" b="0">
                <a:solidFill>
                  <a:srgbClr val="6B7080"/>
                </a:solidFill>
                <a:latin typeface="210 OmniGothic 040"/>
                <a:ea typeface="210 OmniGothic 040"/>
                <a:cs typeface="210 OmniGothic 040"/>
              </a:rPr>
              <a:t>질문 · 상황 변화 입력</a:t>
            </a:r>
            <a:br>
              <a:rPr sz="1050" b="0">
                <a:solidFill>
                  <a:srgbClr val="6B7080"/>
                </a:solidFill>
                <a:latin typeface="210 OmniGothic 040"/>
                <a:ea typeface="210 OmniGothic 040"/>
                <a:cs typeface="210 OmniGothic 040"/>
              </a:rPr>
            </a:br>
            <a:r>
              <a:rPr sz="1050" b="0">
                <a:solidFill>
                  <a:srgbClr val="6B7080"/>
                </a:solidFill>
                <a:latin typeface="210 OmniGothic 040"/>
                <a:ea typeface="210 OmniGothic 040"/>
                <a:cs typeface="210 OmniGothic 040"/>
              </a:rPr>
              <a:t>(통합지휘권자)</a:t>
            </a:r>
          </a:p>
        </p:txBody>
      </p:sp>
      <p:sp>
        <p:nvSpPr>
          <p:cNvPr id="5126" name="Oval 5125">
            <a:extLst>
              <a:ext uri="{FF2B5EF4-FFF2-40B4-BE49-F238E27FC236}">
                <a16:creationId xmlns:a16="http://schemas.microsoft.com/office/drawing/2014/main" id="{FB332E18-FE12-4BCB-984A-ACA34A4B119F}"/>
              </a:ext>
            </a:extLst>
          </p:cNvPr>
          <p:cNvSpPr>
            <a:spLocks noGrp="1"/>
          </p:cNvSpPr>
          <p:nvPr/>
        </p:nvSpPr>
        <p:spPr>
          <a:xfrm>
            <a:off x="13370814"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7</a:t>
            </a:r>
          </a:p>
        </p:txBody>
      </p:sp>
      <p:sp>
        <p:nvSpPr>
          <p:cNvPr id="5127" name="Rounded Rectangle 5126">
            <a:extLst>
              <a:ext uri="{FF2B5EF4-FFF2-40B4-BE49-F238E27FC236}">
                <a16:creationId xmlns:a16="http://schemas.microsoft.com/office/drawing/2014/main" id="{651711E0-F081-44E3-A763-F07FD7857E85}"/>
              </a:ext>
            </a:extLst>
          </p:cNvPr>
          <p:cNvSpPr>
            <a:spLocks noGrp="1"/>
          </p:cNvSpPr>
          <p:nvPr/>
        </p:nvSpPr>
        <p:spPr>
          <a:xfrm>
            <a:off x="13498830"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28" name="TextBox 5127">
            <a:extLst>
              <a:ext uri="{FF2B5EF4-FFF2-40B4-BE49-F238E27FC236}">
                <a16:creationId xmlns:a16="http://schemas.microsoft.com/office/drawing/2014/main" id="{E98EDEAB-41AA-4629-BF98-581729A3161E}"/>
              </a:ext>
            </a:extLst>
          </p:cNvPr>
          <p:cNvSpPr>
            <a:spLocks noGrp="1"/>
          </p:cNvSpPr>
          <p:nvPr/>
        </p:nvSpPr>
        <p:spPr>
          <a:xfrm>
            <a:off x="13555980"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정정 확인 · 저장</a:t>
            </a:r>
          </a:p>
          <a:p>
            <a:pPr algn="ctr">
              <a:lnSpc>
                <a:spcPct val="105000"/>
              </a:lnSpc>
              <a:buNone/>
            </a:pPr>
            <a:r>
              <a:rPr sz="1250" b="1">
                <a:solidFill>
                  <a:srgbClr val="2E3142"/>
                </a:solidFill>
                <a:latin typeface="210 OmniGothic 040"/>
                <a:ea typeface="210 OmniGothic 040"/>
                <a:cs typeface="210 OmniGothic 040"/>
              </a:rPr>
              <a:t>예측 유지</a:t>
            </a:r>
          </a:p>
          <a:p>
            <a:pPr algn="ctr">
              <a:lnSpc>
                <a:spcPct val="105000"/>
              </a:lnSpc>
              <a:buNone/>
            </a:pPr>
            <a:r>
              <a:rPr sz="1250" b="1">
                <a:solidFill>
                  <a:srgbClr val="2E3142"/>
                </a:solidFill>
                <a:latin typeface="210 OmniGothic 040"/>
                <a:ea typeface="210 OmniGothic 040"/>
                <a:cs typeface="210 OmniGothic 040"/>
              </a:rPr>
              <a:t>제안 재생성 · 로그</a:t>
            </a:r>
          </a:p>
        </p:txBody>
      </p:sp>
      <p:sp>
        <p:nvSpPr>
          <p:cNvPr id="5129" name="Rounded Rectangle 5128">
            <a:extLst>
              <a:ext uri="{FF2B5EF4-FFF2-40B4-BE49-F238E27FC236}">
                <a16:creationId xmlns:a16="http://schemas.microsoft.com/office/drawing/2014/main" id="{73AE9440-2F8A-4119-B6EB-B582AA18F7B6}"/>
              </a:ext>
            </a:extLst>
          </p:cNvPr>
          <p:cNvSpPr>
            <a:spLocks noGrp="1"/>
          </p:cNvSpPr>
          <p:nvPr/>
        </p:nvSpPr>
        <p:spPr>
          <a:xfrm>
            <a:off x="13498830" y="6871716"/>
            <a:ext cx="1714500" cy="1307592"/>
          </a:xfrm>
          <a:prstGeom prst="roundRect">
            <a:avLst>
              <a:gd name="adj" fmla="val 8000"/>
            </a:avLst>
          </a:prstGeom>
          <a:solidFill>
            <a:srgbClr val="363A52"/>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30" name="TextBox 5129">
            <a:extLst>
              <a:ext uri="{FF2B5EF4-FFF2-40B4-BE49-F238E27FC236}">
                <a16:creationId xmlns:a16="http://schemas.microsoft.com/office/drawing/2014/main" id="{F67307A7-4FF7-426B-9691-B84F43E429B3}"/>
              </a:ext>
            </a:extLst>
          </p:cNvPr>
          <p:cNvSpPr>
            <a:spLocks noGrp="1"/>
          </p:cNvSpPr>
          <p:nvPr/>
        </p:nvSpPr>
        <p:spPr>
          <a:xfrm>
            <a:off x="13555980" y="6952183"/>
            <a:ext cx="1600200" cy="1186891"/>
          </a:xfrm>
          <a:prstGeom prst="rect">
            <a:avLst/>
          </a:prstGeom>
          <a:noFill/>
        </p:spPr>
        <p:txBody>
          <a:bodyPr wrap="square" lIns="0" tIns="0" rIns="0" bIns="0" anchor="ctr">
            <a:spAutoFit/>
          </a:bodyPr>
          <a:lstStyle/>
          <a:p>
            <a:pPr algn="ctr">
              <a:lnSpc>
                <a:spcPct val="105000"/>
              </a:lnSpc>
              <a:buNone/>
            </a:pPr>
            <a:r>
              <a:rPr sz="1250" b="1">
                <a:solidFill>
                  <a:srgbClr val="FFFFFF"/>
                </a:solidFill>
                <a:latin typeface="210 OmniGothic 040"/>
                <a:ea typeface="210 OmniGothic 040"/>
                <a:cs typeface="210 OmniGothic 040"/>
              </a:rPr>
              <a:t>EXAONE</a:t>
            </a:r>
          </a:p>
          <a:p>
            <a:pPr algn="ctr">
              <a:lnSpc>
                <a:spcPct val="105000"/>
              </a:lnSpc>
              <a:buNone/>
            </a:pPr>
            <a:r>
              <a:rPr sz="1050" b="0">
                <a:solidFill>
                  <a:srgbClr val="D8D8D8"/>
                </a:solidFill>
                <a:latin typeface="210 OmniGothic 040"/>
                <a:ea typeface="210 OmniGothic 040"/>
                <a:cs typeface="210 OmniGothic 040"/>
              </a:rPr>
              <a:t>답변 · 정정 해석</a:t>
            </a:r>
          </a:p>
        </p:txBody>
      </p:sp>
      <p:sp>
        <p:nvSpPr>
          <p:cNvPr id="5131" name="Rounded Rectangle 5130">
            <a:extLst>
              <a:ext uri="{FF2B5EF4-FFF2-40B4-BE49-F238E27FC236}">
                <a16:creationId xmlns:a16="http://schemas.microsoft.com/office/drawing/2014/main" id="{31B5B6B3-C0EC-495C-BB69-0D8AFC4958ED}"/>
              </a:ext>
            </a:extLst>
          </p:cNvPr>
          <p:cNvSpPr>
            <a:spLocks noGrp="1"/>
          </p:cNvSpPr>
          <p:nvPr/>
        </p:nvSpPr>
        <p:spPr>
          <a:xfrm>
            <a:off x="15379064" y="2808122"/>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32" name="TextBox 5131">
            <a:extLst>
              <a:ext uri="{FF2B5EF4-FFF2-40B4-BE49-F238E27FC236}">
                <a16:creationId xmlns:a16="http://schemas.microsoft.com/office/drawing/2014/main" id="{8CED6BF5-8181-49D4-915D-BD2DD0F51046}"/>
              </a:ext>
            </a:extLst>
          </p:cNvPr>
          <p:cNvSpPr>
            <a:spLocks noGrp="1"/>
          </p:cNvSpPr>
          <p:nvPr/>
        </p:nvSpPr>
        <p:spPr>
          <a:xfrm>
            <a:off x="15436214" y="2888589"/>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발화 종료 처리</a:t>
            </a:r>
          </a:p>
          <a:p>
            <a:pPr algn="ctr">
              <a:lnSpc>
                <a:spcPct val="105000"/>
              </a:lnSpc>
              <a:buNone/>
            </a:pPr>
            <a:r>
              <a:rPr sz="1050" b="0">
                <a:solidFill>
                  <a:srgbClr val="6B7080"/>
                </a:solidFill>
                <a:latin typeface="210 OmniGothic 040"/>
                <a:ea typeface="210 OmniGothic 040"/>
                <a:cs typeface="210 OmniGothic 040"/>
              </a:rPr>
              <a:t>통합지휘권자</a:t>
            </a:r>
          </a:p>
        </p:txBody>
      </p:sp>
      <p:sp>
        <p:nvSpPr>
          <p:cNvPr id="5133" name="Oval 5132">
            <a:extLst>
              <a:ext uri="{FF2B5EF4-FFF2-40B4-BE49-F238E27FC236}">
                <a16:creationId xmlns:a16="http://schemas.microsoft.com/office/drawing/2014/main" id="{FC4E089B-C501-4D50-97DD-A609C3ED4009}"/>
              </a:ext>
            </a:extLst>
          </p:cNvPr>
          <p:cNvSpPr>
            <a:spLocks noGrp="1"/>
          </p:cNvSpPr>
          <p:nvPr/>
        </p:nvSpPr>
        <p:spPr>
          <a:xfrm>
            <a:off x="15251048" y="2677363"/>
            <a:ext cx="301752" cy="301752"/>
          </a:xfrm>
          <a:prstGeom prst="ellipse">
            <a:avLst/>
          </a:prstGeom>
          <a:solidFill>
            <a:srgbClr val="FAA95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algn="ctr">
              <a:buNone/>
            </a:pPr>
            <a:r>
              <a:rPr sz="1150" b="1">
                <a:solidFill>
                  <a:srgbClr val="FFFFFF"/>
                </a:solidFill>
                <a:latin typeface="210 OmniGothic 040"/>
                <a:ea typeface="210 OmniGothic 040"/>
                <a:cs typeface="210 OmniGothic 040"/>
              </a:rPr>
              <a:t>8</a:t>
            </a:r>
          </a:p>
        </p:txBody>
      </p:sp>
      <p:sp>
        <p:nvSpPr>
          <p:cNvPr id="5134" name="Rounded Rectangle 5133">
            <a:extLst>
              <a:ext uri="{FF2B5EF4-FFF2-40B4-BE49-F238E27FC236}">
                <a16:creationId xmlns:a16="http://schemas.microsoft.com/office/drawing/2014/main" id="{37DF55D4-8C75-4BEA-BB64-78F5F70F27B0}"/>
              </a:ext>
            </a:extLst>
          </p:cNvPr>
          <p:cNvSpPr>
            <a:spLocks noGrp="1"/>
          </p:cNvSpPr>
          <p:nvPr/>
        </p:nvSpPr>
        <p:spPr>
          <a:xfrm>
            <a:off x="15379064" y="4839919"/>
            <a:ext cx="1714500" cy="1307592"/>
          </a:xfrm>
          <a:prstGeom prst="roundRect">
            <a:avLst>
              <a:gd name="adj" fmla="val 8000"/>
            </a:avLst>
          </a:prstGeom>
          <a:solidFill>
            <a:srgbClr val="FFFFFF"/>
          </a:solidFill>
          <a:ln w="11430">
            <a:solidFill>
              <a:srgbClr val="B6BCCB"/>
            </a:solidFill>
          </a:ln>
        </p:spPr>
        <p:style>
          <a:lnRef idx="1">
            <a:schemeClr val="accent1"/>
          </a:lnRef>
          <a:fillRef idx="3">
            <a:schemeClr val="accent1"/>
          </a:fillRef>
          <a:effectRef idx="2">
            <a:schemeClr val="accent1"/>
          </a:effectRef>
          <a:fontRef idx="minor">
            <a:schemeClr val="lt1"/>
          </a:fontRef>
        </p:style>
        <p:txBody>
          <a:bodyPr wrap="square" lIns="45720" rIns="45720" anchor="ctr"/>
          <a:lstStyle/>
          <a:p>
            <a:pPr algn="ctr">
              <a:buNone/>
            </a:pPr>
            <a:endParaRPr/>
          </a:p>
        </p:txBody>
      </p:sp>
      <p:sp>
        <p:nvSpPr>
          <p:cNvPr id="5135" name="TextBox 5134">
            <a:extLst>
              <a:ext uri="{FF2B5EF4-FFF2-40B4-BE49-F238E27FC236}">
                <a16:creationId xmlns:a16="http://schemas.microsoft.com/office/drawing/2014/main" id="{89FE960B-EE2C-4F11-B133-182194DA928B}"/>
              </a:ext>
            </a:extLst>
          </p:cNvPr>
          <p:cNvSpPr>
            <a:spLocks noGrp="1"/>
          </p:cNvSpPr>
          <p:nvPr/>
        </p:nvSpPr>
        <p:spPr>
          <a:xfrm>
            <a:off x="15436214" y="4920386"/>
            <a:ext cx="1600200" cy="1186891"/>
          </a:xfrm>
          <a:prstGeom prst="rect">
            <a:avLst/>
          </a:prstGeom>
          <a:noFill/>
        </p:spPr>
        <p:txBody>
          <a:bodyPr wrap="square" lIns="0" tIns="0" rIns="0" bIns="0" anchor="ctr">
            <a:spAutoFit/>
          </a:bodyPr>
          <a:lstStyle/>
          <a:p>
            <a:pPr algn="ctr">
              <a:lnSpc>
                <a:spcPct val="105000"/>
              </a:lnSpc>
              <a:buNone/>
            </a:pPr>
            <a:r>
              <a:rPr sz="1250" b="1">
                <a:solidFill>
                  <a:srgbClr val="2E3142"/>
                </a:solidFill>
                <a:latin typeface="210 OmniGothic 040"/>
                <a:ea typeface="210 OmniGothic 040"/>
                <a:cs typeface="210 OmniGothic 040"/>
              </a:rPr>
              <a:t>종료 · 처리자 저장</a:t>
            </a:r>
          </a:p>
          <a:p>
            <a:pPr algn="ctr">
              <a:lnSpc>
                <a:spcPct val="105000"/>
              </a:lnSpc>
              <a:buNone/>
            </a:pPr>
            <a:r>
              <a:rPr sz="1250" b="1">
                <a:solidFill>
                  <a:srgbClr val="2E3142"/>
                </a:solidFill>
                <a:latin typeface="210 OmniGothic 040"/>
                <a:ea typeface="210 OmniGothic 040"/>
                <a:cs typeface="210 OmniGothic 040"/>
              </a:rPr>
              <a:t>변경 작업 차단</a:t>
            </a:r>
          </a:p>
          <a:p>
            <a:pPr algn="ctr">
              <a:lnSpc>
                <a:spcPct val="105000"/>
              </a:lnSpc>
              <a:buNone/>
            </a:pPr>
            <a:r>
              <a:rPr sz="1250" b="1">
                <a:solidFill>
                  <a:srgbClr val="2E3142"/>
                </a:solidFill>
                <a:latin typeface="210 OmniGothic 040"/>
                <a:ea typeface="210 OmniGothic 040"/>
                <a:cs typeface="210 OmniGothic 040"/>
              </a:rPr>
              <a:t>제안 이력만 열람</a:t>
            </a:r>
          </a:p>
        </p:txBody>
      </p:sp>
      <p:sp>
        <p:nvSpPr>
          <p:cNvPr id="5136" name="Connector 5135">
            <a:extLst>
              <a:ext uri="{FF2B5EF4-FFF2-40B4-BE49-F238E27FC236}">
                <a16:creationId xmlns:a16="http://schemas.microsoft.com/office/drawing/2014/main" id="{8100A54E-0934-4E44-802D-6214EDED71C6}"/>
              </a:ext>
            </a:extLst>
          </p:cNvPr>
          <p:cNvSpPr>
            <a:spLocks noGrp="1"/>
          </p:cNvSpPr>
          <p:nvPr/>
        </p:nvSpPr>
        <p:spPr>
          <a:xfrm>
            <a:off x="3074670"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37" name="Connector 5136">
            <a:extLst>
              <a:ext uri="{FF2B5EF4-FFF2-40B4-BE49-F238E27FC236}">
                <a16:creationId xmlns:a16="http://schemas.microsoft.com/office/drawing/2014/main" id="{373DE3D0-7AC8-4317-B709-F393FF43A489}"/>
              </a:ext>
            </a:extLst>
          </p:cNvPr>
          <p:cNvSpPr>
            <a:spLocks noGrp="1"/>
          </p:cNvSpPr>
          <p:nvPr/>
        </p:nvSpPr>
        <p:spPr>
          <a:xfrm>
            <a:off x="3931920" y="5493715"/>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38" name="Connector 5137">
            <a:extLst>
              <a:ext uri="{FF2B5EF4-FFF2-40B4-BE49-F238E27FC236}">
                <a16:creationId xmlns:a16="http://schemas.microsoft.com/office/drawing/2014/main" id="{CB39E090-543B-4786-AD97-ED5EC0C9CDEA}"/>
              </a:ext>
            </a:extLst>
          </p:cNvPr>
          <p:cNvSpPr>
            <a:spLocks noGrp="1"/>
          </p:cNvSpPr>
          <p:nvPr/>
        </p:nvSpPr>
        <p:spPr>
          <a:xfrm>
            <a:off x="4954905"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39" name="Connector 5138">
            <a:extLst>
              <a:ext uri="{FF2B5EF4-FFF2-40B4-BE49-F238E27FC236}">
                <a16:creationId xmlns:a16="http://schemas.microsoft.com/office/drawing/2014/main" id="{80092074-1C99-41D5-8875-903F1A256A74}"/>
              </a:ext>
            </a:extLst>
          </p:cNvPr>
          <p:cNvSpPr>
            <a:spLocks noGrp="1"/>
          </p:cNvSpPr>
          <p:nvPr/>
        </p:nvSpPr>
        <p:spPr>
          <a:xfrm>
            <a:off x="5812155" y="5493715"/>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0" name="Connector 5139">
            <a:extLst>
              <a:ext uri="{FF2B5EF4-FFF2-40B4-BE49-F238E27FC236}">
                <a16:creationId xmlns:a16="http://schemas.microsoft.com/office/drawing/2014/main" id="{D9EA285C-F56E-4040-96A3-593907C23B90}"/>
              </a:ext>
            </a:extLst>
          </p:cNvPr>
          <p:cNvSpPr>
            <a:spLocks noGrp="1"/>
          </p:cNvSpPr>
          <p:nvPr/>
        </p:nvSpPr>
        <p:spPr>
          <a:xfrm flipV="1">
            <a:off x="6835140"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1" name="Connector 5140">
            <a:extLst>
              <a:ext uri="{FF2B5EF4-FFF2-40B4-BE49-F238E27FC236}">
                <a16:creationId xmlns:a16="http://schemas.microsoft.com/office/drawing/2014/main" id="{E8293D22-2FF9-41CD-AE19-5AC86CDAF940}"/>
              </a:ext>
            </a:extLst>
          </p:cNvPr>
          <p:cNvSpPr>
            <a:spLocks noGrp="1"/>
          </p:cNvSpPr>
          <p:nvPr/>
        </p:nvSpPr>
        <p:spPr>
          <a:xfrm>
            <a:off x="6835140"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2" name="Connector 5141">
            <a:extLst>
              <a:ext uri="{FF2B5EF4-FFF2-40B4-BE49-F238E27FC236}">
                <a16:creationId xmlns:a16="http://schemas.microsoft.com/office/drawing/2014/main" id="{F07CC773-435C-4681-A03A-EE0DA7543FFB}"/>
              </a:ext>
            </a:extLst>
          </p:cNvPr>
          <p:cNvSpPr>
            <a:spLocks noGrp="1"/>
          </p:cNvSpPr>
          <p:nvPr/>
        </p:nvSpPr>
        <p:spPr>
          <a:xfrm>
            <a:off x="7692390" y="3461918"/>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3" name="Connector 5142">
            <a:extLst>
              <a:ext uri="{FF2B5EF4-FFF2-40B4-BE49-F238E27FC236}">
                <a16:creationId xmlns:a16="http://schemas.microsoft.com/office/drawing/2014/main" id="{15CC2D92-C9CC-4AFD-85F7-D9F896A1B6C5}"/>
              </a:ext>
            </a:extLst>
          </p:cNvPr>
          <p:cNvSpPr>
            <a:spLocks noGrp="1"/>
          </p:cNvSpPr>
          <p:nvPr/>
        </p:nvSpPr>
        <p:spPr>
          <a:xfrm>
            <a:off x="8715375"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4" name="Connector 5143">
            <a:extLst>
              <a:ext uri="{FF2B5EF4-FFF2-40B4-BE49-F238E27FC236}">
                <a16:creationId xmlns:a16="http://schemas.microsoft.com/office/drawing/2014/main" id="{F6950D8F-C214-42BD-A001-5381B83C1816}"/>
              </a:ext>
            </a:extLst>
          </p:cNvPr>
          <p:cNvSpPr>
            <a:spLocks noGrp="1"/>
          </p:cNvSpPr>
          <p:nvPr/>
        </p:nvSpPr>
        <p:spPr>
          <a:xfrm>
            <a:off x="8715375"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5" name="Connector 5144">
            <a:extLst>
              <a:ext uri="{FF2B5EF4-FFF2-40B4-BE49-F238E27FC236}">
                <a16:creationId xmlns:a16="http://schemas.microsoft.com/office/drawing/2014/main" id="{C5C60447-9DD1-4619-9510-1046D3AB6025}"/>
              </a:ext>
            </a:extLst>
          </p:cNvPr>
          <p:cNvSpPr>
            <a:spLocks noGrp="1"/>
          </p:cNvSpPr>
          <p:nvPr/>
        </p:nvSpPr>
        <p:spPr>
          <a:xfrm>
            <a:off x="9572625" y="7525512"/>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6" name="Connector 5145">
            <a:extLst>
              <a:ext uri="{FF2B5EF4-FFF2-40B4-BE49-F238E27FC236}">
                <a16:creationId xmlns:a16="http://schemas.microsoft.com/office/drawing/2014/main" id="{8E88DFBB-49A2-4503-BA2A-7D5B1C3DC781}"/>
              </a:ext>
            </a:extLst>
          </p:cNvPr>
          <p:cNvSpPr>
            <a:spLocks noGrp="1"/>
          </p:cNvSpPr>
          <p:nvPr/>
        </p:nvSpPr>
        <p:spPr>
          <a:xfrm>
            <a:off x="9572625" y="5493715"/>
            <a:ext cx="165735"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7" name="Connector 5146">
            <a:extLst>
              <a:ext uri="{FF2B5EF4-FFF2-40B4-BE49-F238E27FC236}">
                <a16:creationId xmlns:a16="http://schemas.microsoft.com/office/drawing/2014/main" id="{65A9BA24-8303-44F3-BA67-9D173844C85D}"/>
              </a:ext>
            </a:extLst>
          </p:cNvPr>
          <p:cNvSpPr>
            <a:spLocks noGrp="1"/>
          </p:cNvSpPr>
          <p:nvPr/>
        </p:nvSpPr>
        <p:spPr>
          <a:xfrm>
            <a:off x="10595609"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8" name="Connector 5147">
            <a:extLst>
              <a:ext uri="{FF2B5EF4-FFF2-40B4-BE49-F238E27FC236}">
                <a16:creationId xmlns:a16="http://schemas.microsoft.com/office/drawing/2014/main" id="{9B27632B-79F8-4FC7-AB1C-271722ECB8C7}"/>
              </a:ext>
            </a:extLst>
          </p:cNvPr>
          <p:cNvSpPr>
            <a:spLocks noGrp="1"/>
          </p:cNvSpPr>
          <p:nvPr/>
        </p:nvSpPr>
        <p:spPr>
          <a:xfrm flipV="1">
            <a:off x="11452859" y="5493715"/>
            <a:ext cx="165735" cy="2031797"/>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49" name="Connector 5148">
            <a:extLst>
              <a:ext uri="{FF2B5EF4-FFF2-40B4-BE49-F238E27FC236}">
                <a16:creationId xmlns:a16="http://schemas.microsoft.com/office/drawing/2014/main" id="{8C5BC145-976D-48E9-B0E8-0011772C3625}"/>
              </a:ext>
            </a:extLst>
          </p:cNvPr>
          <p:cNvSpPr>
            <a:spLocks noGrp="1"/>
          </p:cNvSpPr>
          <p:nvPr/>
        </p:nvSpPr>
        <p:spPr>
          <a:xfrm flipV="1">
            <a:off x="12475844"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0" name="Connector 5149">
            <a:extLst>
              <a:ext uri="{FF2B5EF4-FFF2-40B4-BE49-F238E27FC236}">
                <a16:creationId xmlns:a16="http://schemas.microsoft.com/office/drawing/2014/main" id="{60927617-E85C-405D-8783-492FB9CC04D7}"/>
              </a:ext>
            </a:extLst>
          </p:cNvPr>
          <p:cNvSpPr>
            <a:spLocks noGrp="1"/>
          </p:cNvSpPr>
          <p:nvPr/>
        </p:nvSpPr>
        <p:spPr>
          <a:xfrm>
            <a:off x="13333094" y="3461918"/>
            <a:ext cx="165736"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1" name="Connector 5150">
            <a:extLst>
              <a:ext uri="{FF2B5EF4-FFF2-40B4-BE49-F238E27FC236}">
                <a16:creationId xmlns:a16="http://schemas.microsoft.com/office/drawing/2014/main" id="{67FFB246-BA03-4BC0-B4CA-6FB96863E354}"/>
              </a:ext>
            </a:extLst>
          </p:cNvPr>
          <p:cNvSpPr>
            <a:spLocks noGrp="1"/>
          </p:cNvSpPr>
          <p:nvPr/>
        </p:nvSpPr>
        <p:spPr>
          <a:xfrm>
            <a:off x="14356080"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2" name="Connector 5151">
            <a:extLst>
              <a:ext uri="{FF2B5EF4-FFF2-40B4-BE49-F238E27FC236}">
                <a16:creationId xmlns:a16="http://schemas.microsoft.com/office/drawing/2014/main" id="{2DEC0E36-0679-4D40-9A2A-345BCD1D87E9}"/>
              </a:ext>
            </a:extLst>
          </p:cNvPr>
          <p:cNvSpPr>
            <a:spLocks noGrp="1"/>
          </p:cNvSpPr>
          <p:nvPr/>
        </p:nvSpPr>
        <p:spPr>
          <a:xfrm>
            <a:off x="14356080" y="6147511"/>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3" name="Connector 5152">
            <a:extLst>
              <a:ext uri="{FF2B5EF4-FFF2-40B4-BE49-F238E27FC236}">
                <a16:creationId xmlns:a16="http://schemas.microsoft.com/office/drawing/2014/main" id="{5CEF7050-9C53-4D95-9626-C5D2818DFF01}"/>
              </a:ext>
            </a:extLst>
          </p:cNvPr>
          <p:cNvSpPr>
            <a:spLocks noGrp="1"/>
          </p:cNvSpPr>
          <p:nvPr/>
        </p:nvSpPr>
        <p:spPr>
          <a:xfrm>
            <a:off x="13898880" y="6147511"/>
            <a:ext cx="0" cy="160934"/>
          </a:xfrm>
          <a:prstGeom prst="line">
            <a:avLst/>
          </a:prstGeom>
          <a:ln w="16510">
            <a:solidFill>
              <a:srgbClr val="363A52"/>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4" name="Connector 5153">
            <a:extLst>
              <a:ext uri="{FF2B5EF4-FFF2-40B4-BE49-F238E27FC236}">
                <a16:creationId xmlns:a16="http://schemas.microsoft.com/office/drawing/2014/main" id="{5545000E-904F-41E4-B807-F6B679BFD770}"/>
              </a:ext>
            </a:extLst>
          </p:cNvPr>
          <p:cNvSpPr>
            <a:spLocks noGrp="1"/>
          </p:cNvSpPr>
          <p:nvPr/>
        </p:nvSpPr>
        <p:spPr>
          <a:xfrm flipH="1">
            <a:off x="12933044" y="6308445"/>
            <a:ext cx="965836" cy="0"/>
          </a:xfrm>
          <a:prstGeom prst="line">
            <a:avLst/>
          </a:prstGeom>
          <a:ln w="16510">
            <a:solidFill>
              <a:srgbClr val="363A52"/>
            </a:solidFill>
            <a:prstDash val="dash"/>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5" name="Connector 5154">
            <a:extLst>
              <a:ext uri="{FF2B5EF4-FFF2-40B4-BE49-F238E27FC236}">
                <a16:creationId xmlns:a16="http://schemas.microsoft.com/office/drawing/2014/main" id="{CF0CF319-7A1C-4490-B9FD-6EFA274FFD33}"/>
              </a:ext>
            </a:extLst>
          </p:cNvPr>
          <p:cNvSpPr>
            <a:spLocks noGrp="1"/>
          </p:cNvSpPr>
          <p:nvPr/>
        </p:nvSpPr>
        <p:spPr>
          <a:xfrm flipV="1">
            <a:off x="12933044" y="6147511"/>
            <a:ext cx="0" cy="160934"/>
          </a:xfrm>
          <a:prstGeom prst="line">
            <a:avLst/>
          </a:prstGeom>
          <a:ln w="16510">
            <a:solidFill>
              <a:srgbClr val="363A52"/>
            </a:solidFill>
            <a:prstDash val="dash"/>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6" name="Connector 5155">
            <a:extLst>
              <a:ext uri="{FF2B5EF4-FFF2-40B4-BE49-F238E27FC236}">
                <a16:creationId xmlns:a16="http://schemas.microsoft.com/office/drawing/2014/main" id="{5FFA5488-D343-4C98-A9BC-8A141106D94C}"/>
              </a:ext>
            </a:extLst>
          </p:cNvPr>
          <p:cNvSpPr>
            <a:spLocks noGrp="1"/>
          </p:cNvSpPr>
          <p:nvPr/>
        </p:nvSpPr>
        <p:spPr>
          <a:xfrm>
            <a:off x="15213330" y="3461918"/>
            <a:ext cx="165734" cy="0"/>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7" name="Connector 5156">
            <a:extLst>
              <a:ext uri="{FF2B5EF4-FFF2-40B4-BE49-F238E27FC236}">
                <a16:creationId xmlns:a16="http://schemas.microsoft.com/office/drawing/2014/main" id="{C1735012-3C70-4BA6-A98C-C75BF1833BC7}"/>
              </a:ext>
            </a:extLst>
          </p:cNvPr>
          <p:cNvSpPr>
            <a:spLocks noGrp="1"/>
          </p:cNvSpPr>
          <p:nvPr/>
        </p:nvSpPr>
        <p:spPr>
          <a:xfrm>
            <a:off x="16236314" y="4115714"/>
            <a:ext cx="0" cy="724205"/>
          </a:xfrm>
          <a:prstGeom prst="line">
            <a:avLst/>
          </a:prstGeom>
          <a:ln w="16510">
            <a:solidFill>
              <a:srgbClr val="363A52"/>
            </a:solidFill>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ko-KR" altLang="en-US"/>
          </a:p>
        </p:txBody>
      </p:sp>
      <p:sp>
        <p:nvSpPr>
          <p:cNvPr id="5158" name="TextBox 5157">
            <a:extLst>
              <a:ext uri="{FF2B5EF4-FFF2-40B4-BE49-F238E27FC236}">
                <a16:creationId xmlns:a16="http://schemas.microsoft.com/office/drawing/2014/main" id="{7D49C784-4E89-410B-99B4-C9370C79A160}"/>
              </a:ext>
            </a:extLst>
          </p:cNvPr>
          <p:cNvSpPr>
            <a:spLocks noGrp="1"/>
          </p:cNvSpPr>
          <p:nvPr/>
        </p:nvSpPr>
        <p:spPr>
          <a:xfrm>
            <a:off x="822960" y="8682228"/>
            <a:ext cx="16459200" cy="449580"/>
          </a:xfrm>
          <a:prstGeom prst="rect">
            <a:avLst/>
          </a:prstGeom>
          <a:noFill/>
        </p:spPr>
        <p:txBody>
          <a:bodyPr wrap="square" lIns="0" tIns="0" rIns="0" bIns="0" anchor="t">
            <a:spAutoFit/>
          </a:bodyPr>
          <a:lstStyle/>
          <a:p>
            <a:pPr algn="l">
              <a:buNone/>
            </a:pPr>
            <a:r>
              <a:rPr sz="1150" b="0">
                <a:solidFill>
                  <a:srgbClr val="7B8094"/>
                </a:solidFill>
                <a:latin typeface="210 OmniGothic 030"/>
                <a:ea typeface="210 OmniGothic 030"/>
                <a:cs typeface="210 OmniGothic 030"/>
              </a:rPr>
              <a:t>※ 정정 확정 시 예측은 유지하고 규칙 판정·제안 생성만 재실행해 새 버전을 만든다. 종료 사건은 발화 정보 수정·예측·정정·제안 재생성을 차단한다.</a:t>
            </a:r>
          </a:p>
          <a:p>
            <a:pPr algn="l">
              <a:buNone/>
            </a:pPr>
            <a:r>
              <a:rPr sz="1150" b="0">
                <a:solidFill>
                  <a:srgbClr val="7B8094"/>
                </a:solidFill>
                <a:latin typeface="210 OmniGothic 030"/>
                <a:ea typeface="210 OmniGothic 030"/>
                <a:cs typeface="210 OmniGothic 030"/>
              </a:rPr>
              <a:t>※ 이벤트 로그는 로그인·로그아웃·입력·예측·제안·정정·종료·계정 및 자원 변경을 추가 전용으로 기록하고, 상단 「이벤트 로그」 창에서 읽기 전용 열람한다.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63" name="Picture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164" name="Picture 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166" name="Picture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78100" y="203200"/>
            <a:ext cx="1676400" cy="1409700"/>
          </a:xfrm>
          <a:prstGeom prst="rect">
            <a:avLst/>
          </a:prstGeom>
        </p:spPr>
      </p:pic>
      <p:sp>
        <p:nvSpPr>
          <p:cNvPr id="5082" name="Title">
            <a:extLst>
              <a:ext uri="{FF2B5EF4-FFF2-40B4-BE49-F238E27FC236}">
                <a16:creationId xmlns:a16="http://schemas.microsoft.com/office/drawing/2014/main" id="{8F63756B-60A2-4ECD-994A-D91036BD5709}"/>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a:solidFill>
                  <a:srgbClr val="FAA95A"/>
                </a:solidFill>
                <a:latin typeface="210 OmniGothic 050"/>
                <a:ea typeface="210 OmniGothic 050"/>
                <a:cs typeface="210 OmniGothic 050"/>
              </a:rPr>
              <a:t>01. 프로젝트 개요 및 목표</a:t>
            </a:r>
          </a:p>
        </p:txBody>
      </p:sp>
      <p:sp>
        <p:nvSpPr>
          <p:cNvPr id="5083" name="Subtitle">
            <a:extLst>
              <a:ext uri="{FF2B5EF4-FFF2-40B4-BE49-F238E27FC236}">
                <a16:creationId xmlns:a16="http://schemas.microsoft.com/office/drawing/2014/main" id="{2EB428F3-54C5-4E65-8A81-A3BE531CFD57}"/>
              </a:ext>
            </a:extLst>
          </p:cNvPr>
          <p:cNvSpPr>
            <a:spLocks noGrp="1"/>
          </p:cNvSpPr>
          <p:nvPr/>
        </p:nvSpPr>
        <p:spPr>
          <a:xfrm>
            <a:off x="822960" y="1764792"/>
            <a:ext cx="16642080" cy="502920"/>
          </a:xfrm>
          <a:prstGeom prst="rect">
            <a:avLst/>
          </a:prstGeom>
          <a:noFill/>
        </p:spPr>
        <p:txBody>
          <a:bodyPr wrap="square" lIns="0" tIns="0" rIns="0" bIns="0" anchor="ctr">
            <a:spAutoFit/>
          </a:bodyPr>
          <a:lstStyle/>
          <a:p>
            <a:pPr algn="ctr">
              <a:buNone/>
            </a:pPr>
            <a:r>
              <a:rPr sz="2600" b="1">
                <a:solidFill>
                  <a:srgbClr val="363A52"/>
                </a:solidFill>
                <a:latin typeface="210 OmniGothic 040"/>
                <a:ea typeface="210 OmniGothic 040"/>
                <a:cs typeface="210 OmniGothic 040"/>
              </a:rPr>
              <a:t>시스템 구성도 — 물리 엔진 · 규칙 엔진 · LLM 에이전트 2개, 인터페이스 / 서버 / 데이터 3계층</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idx="12"/>
          </p:nvPr>
        </p:nvSpPr>
        <p:spPr/>
        <p:txBody>
          <a:bodyPr/>
          <a:lstStyle/>
          <a:p>
            <a:fld id="{B6F15528-21DE-4FAA-801E-634DDDAF4B2B}" type="slidenum">
              <a:rPr/>
              <a:t>11</a:t>
            </a:fld>
            <a:endParaRPr/>
          </a:p>
        </p:txBody>
      </p:sp>
      <p:sp>
        <p:nvSpPr>
          <p:cNvPr id="7000" name="직사각형 119">
            <a:extLst>
              <a:ext uri="{FF2B5EF4-FFF2-40B4-BE49-F238E27FC236}">
                <a16:creationId xmlns:a16="http://schemas.microsoft.com/office/drawing/2014/main" id="{D7352F98-9233-911B-FFAC-BFE6C6C9301D}"/>
              </a:ext>
            </a:extLst>
          </p:cNvPr>
          <p:cNvSpPr/>
          <p:nvPr/>
        </p:nvSpPr>
        <p:spPr>
          <a:xfrm>
            <a:off x="2887998" y="4399444"/>
            <a:ext cx="12509297" cy="2602583"/>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7001" name="직사각형 117">
            <a:extLst>
              <a:ext uri="{FF2B5EF4-FFF2-40B4-BE49-F238E27FC236}">
                <a16:creationId xmlns:a16="http://schemas.microsoft.com/office/drawing/2014/main" id="{2541B13E-CB90-AF34-5C16-6698380B6599}"/>
              </a:ext>
            </a:extLst>
          </p:cNvPr>
          <p:cNvSpPr/>
          <p:nvPr/>
        </p:nvSpPr>
        <p:spPr>
          <a:xfrm>
            <a:off x="2887998" y="2377440"/>
            <a:ext cx="12509297" cy="1774045"/>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7002" name="TextBox 2"/>
          <p:cNvSpPr txBox="1"/>
          <p:nvPr/>
        </p:nvSpPr>
        <p:spPr>
          <a:xfrm>
            <a:off x="2978704" y="2611380"/>
            <a:ext cx="1364651" cy="779800"/>
          </a:xfrm>
          <a:prstGeom prst="rect">
            <a:avLst/>
          </a:prstGeom>
          <a:noFill/>
        </p:spPr>
        <p:txBody>
          <a:bodyPr wrap="square" lIns="0" tIns="0" rIns="0" bIns="0" anchor="t">
            <a:noAutofit/>
          </a:bodyPr>
          <a:lstStyle/>
          <a:p>
            <a:pPr algn="l">
              <a:lnSpc>
                <a:spcPts val="1710"/>
              </a:lnSpc>
              <a:spcBef>
                <a:spcPts val="0"/>
              </a:spcBef>
              <a:spcAft>
                <a:spcPts val="0"/>
              </a:spcAft>
            </a:pPr>
            <a:r>
              <a:rPr lang="ko-KR" altLang="en-US" sz="1500" b="1">
                <a:solidFill>
                  <a:srgbClr val="1F2937"/>
                </a:solidFill>
                <a:latin typeface="Arial"/>
                <a:ea typeface="맑은 고딕"/>
                <a:cs typeface="Arial"/>
              </a:rPr>
              <a:t>인터페이스</a:t>
            </a:r>
          </a:p>
          <a:p>
            <a:pPr algn="l">
              <a:lnSpc>
                <a:spcPts val="1160"/>
              </a:lnSpc>
              <a:spcBef>
                <a:spcPts val="200"/>
              </a:spcBef>
              <a:spcAft>
                <a:spcPts val="0"/>
              </a:spcAft>
            </a:pPr>
            <a:r>
              <a:rPr lang="ko-KR" altLang="en-US" sz="1000" b="0">
                <a:solidFill>
                  <a:srgbClr val="1F2937"/>
                </a:solidFill>
                <a:latin typeface="Arial"/>
                <a:ea typeface="맑은 고딕"/>
                <a:cs typeface="Arial"/>
              </a:rPr>
              <a:t>Client UI</a:t>
            </a:r>
          </a:p>
        </p:txBody>
      </p:sp>
      <p:sp>
        <p:nvSpPr>
          <p:cNvPr id="7003" name="Rectangle 3"/>
          <p:cNvSpPr/>
          <p:nvPr/>
        </p:nvSpPr>
        <p:spPr>
          <a:xfrm>
            <a:off x="4343354" y="2611380"/>
            <a:ext cx="1900763" cy="1218438"/>
          </a:xfrm>
          <a:prstGeom prst="rect">
            <a:avLst/>
          </a:prstGeom>
          <a:solidFill>
            <a:srgbClr val="FFFFFF"/>
          </a:solidFill>
          <a:ln w="15875">
            <a:solidFill>
              <a:srgbClr val="1F2937"/>
            </a:solidFill>
          </a:ln>
        </p:spPr>
        <p:txBody>
          <a:bodyPr rtlCol="0" anchor="ctr"/>
          <a:lstStyle/>
          <a:p>
            <a:pPr algn="ctr"/>
            <a:endParaRPr/>
          </a:p>
        </p:txBody>
      </p:sp>
      <p:sp>
        <p:nvSpPr>
          <p:cNvPr id="7004" name="TextBox 4"/>
          <p:cNvSpPr txBox="1"/>
          <p:nvPr/>
        </p:nvSpPr>
        <p:spPr>
          <a:xfrm>
            <a:off x="4343354" y="2611380"/>
            <a:ext cx="1900763" cy="555608"/>
          </a:xfrm>
          <a:prstGeom prst="rect">
            <a:avLst/>
          </a:prstGeom>
          <a:noFill/>
        </p:spPr>
        <p:txBody>
          <a:bodyPr wrap="square" lIns="0" tIns="0" rIns="0"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사용자 (4 역할)</a:t>
            </a:r>
          </a:p>
        </p:txBody>
      </p:sp>
      <p:sp>
        <p:nvSpPr>
          <p:cNvPr id="7005" name="Rectangle 5"/>
          <p:cNvSpPr/>
          <p:nvPr/>
        </p:nvSpPr>
        <p:spPr>
          <a:xfrm>
            <a:off x="4343354" y="3166988"/>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통합지휘권자</a:t>
            </a:r>
          </a:p>
        </p:txBody>
      </p:sp>
      <p:sp>
        <p:nvSpPr>
          <p:cNvPr id="7006" name="Rectangle 6"/>
          <p:cNvSpPr/>
          <p:nvPr/>
        </p:nvSpPr>
        <p:spPr>
          <a:xfrm>
            <a:off x="5293736" y="3166988"/>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상황 보고자</a:t>
            </a:r>
          </a:p>
        </p:txBody>
      </p:sp>
      <p:sp>
        <p:nvSpPr>
          <p:cNvPr id="7007" name="Rectangle 7"/>
          <p:cNvSpPr/>
          <p:nvPr/>
        </p:nvSpPr>
        <p:spPr>
          <a:xfrm>
            <a:off x="4343354" y="3498403"/>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전산 관리자</a:t>
            </a:r>
          </a:p>
        </p:txBody>
      </p:sp>
      <p:sp>
        <p:nvSpPr>
          <p:cNvPr id="7008" name="Rectangle 8"/>
          <p:cNvSpPr/>
          <p:nvPr/>
        </p:nvSpPr>
        <p:spPr>
          <a:xfrm>
            <a:off x="5293736" y="3498403"/>
            <a:ext cx="950382"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열람자</a:t>
            </a:r>
          </a:p>
        </p:txBody>
      </p:sp>
      <p:sp>
        <p:nvSpPr>
          <p:cNvPr id="7009" name="Rectangle 9"/>
          <p:cNvSpPr/>
          <p:nvPr/>
        </p:nvSpPr>
        <p:spPr>
          <a:xfrm>
            <a:off x="6634018" y="2611380"/>
            <a:ext cx="3177686" cy="1218438"/>
          </a:xfrm>
          <a:prstGeom prst="rect">
            <a:avLst/>
          </a:prstGeom>
          <a:solidFill>
            <a:srgbClr val="FFFFFF"/>
          </a:solidFill>
          <a:ln w="15875">
            <a:solidFill>
              <a:srgbClr val="1F2937"/>
            </a:solidFill>
          </a:ln>
        </p:spPr>
        <p:txBody>
          <a:bodyPr rtlCol="0" anchor="ctr"/>
          <a:lstStyle/>
          <a:p>
            <a:pPr algn="ctr"/>
            <a:endParaRPr/>
          </a:p>
        </p:txBody>
      </p:sp>
      <p:sp>
        <p:nvSpPr>
          <p:cNvPr id="7010" name="TextBox 10"/>
          <p:cNvSpPr txBox="1"/>
          <p:nvPr/>
        </p:nvSpPr>
        <p:spPr>
          <a:xfrm>
            <a:off x="6634018" y="2611380"/>
            <a:ext cx="3177686" cy="887023"/>
          </a:xfrm>
          <a:prstGeom prst="rect">
            <a:avLst/>
          </a:prstGeom>
          <a:noFill/>
        </p:spPr>
        <p:txBody>
          <a:bodyPr wrap="square" lIns="0" tIns="0" rIns="0"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웹 대시보드</a:t>
            </a:r>
            <a:r>
              <a:rPr lang="ko-KR" altLang="en-US" sz="1050" b="0">
                <a:solidFill>
                  <a:srgbClr val="1F2937"/>
                </a:solidFill>
                <a:latin typeface="Arial"/>
                <a:ea typeface="맑은 고딕"/>
                <a:cs typeface="Arial"/>
              </a:rPr>
              <a:t>   React · MapLibre GL</a:t>
            </a:r>
          </a:p>
        </p:txBody>
      </p:sp>
      <p:sp>
        <p:nvSpPr>
          <p:cNvPr id="7011" name="Rectangle 11"/>
          <p:cNvSpPr/>
          <p:nvPr/>
        </p:nvSpPr>
        <p:spPr>
          <a:xfrm>
            <a:off x="6634018" y="3498403"/>
            <a:ext cx="779800"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통합 상황도</a:t>
            </a:r>
          </a:p>
        </p:txBody>
      </p:sp>
      <p:sp>
        <p:nvSpPr>
          <p:cNvPr id="7012" name="Rectangle 12"/>
          <p:cNvSpPr/>
          <p:nvPr/>
        </p:nvSpPr>
        <p:spPr>
          <a:xfrm>
            <a:off x="7413818" y="3498403"/>
            <a:ext cx="740810"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대응 제안서</a:t>
            </a:r>
          </a:p>
        </p:txBody>
      </p:sp>
      <p:sp>
        <p:nvSpPr>
          <p:cNvPr id="7013" name="Rectangle 13"/>
          <p:cNvSpPr/>
          <p:nvPr/>
        </p:nvSpPr>
        <p:spPr>
          <a:xfrm>
            <a:off x="8154628" y="3498403"/>
            <a:ext cx="643335"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근거 패널</a:t>
            </a:r>
          </a:p>
        </p:txBody>
      </p:sp>
      <p:sp>
        <p:nvSpPr>
          <p:cNvPr id="7014" name="Rectangle 14"/>
          <p:cNvSpPr/>
          <p:nvPr/>
        </p:nvSpPr>
        <p:spPr>
          <a:xfrm>
            <a:off x="8797964" y="3498403"/>
            <a:ext cx="1013740" cy="331415"/>
          </a:xfrm>
          <a:prstGeom prst="rect">
            <a:avLst/>
          </a:prstGeom>
          <a:solidFill>
            <a:srgbClr val="FFFFFF"/>
          </a:solidFill>
          <a:ln w="15875">
            <a:solidFill>
              <a:srgbClr val="1F2937"/>
            </a:solidFill>
          </a:ln>
        </p:spPr>
        <p:txBody>
          <a:bodyPr wrap="square" lIns="18288" tIns="0" rIns="18288" bIns="0" rtlCol="0" anchor="ctr">
            <a:noAutofit/>
          </a:bodyPr>
          <a:lstStyle/>
          <a:p>
            <a:pPr algn="ctr">
              <a:lnSpc>
                <a:spcPts val="1040"/>
              </a:lnSpc>
              <a:spcBef>
                <a:spcPts val="0"/>
              </a:spcBef>
              <a:spcAft>
                <a:spcPts val="0"/>
              </a:spcAft>
            </a:pPr>
            <a:r>
              <a:rPr lang="ko-KR" altLang="en-US" sz="900" b="0">
                <a:solidFill>
                  <a:srgbClr val="1F2937"/>
                </a:solidFill>
                <a:latin typeface="Arial"/>
                <a:ea typeface="맑은 고딕"/>
                <a:cs typeface="Arial"/>
              </a:rPr>
              <a:t>어시스턴트 대화</a:t>
            </a:r>
          </a:p>
        </p:txBody>
      </p:sp>
      <p:cxnSp>
        <p:nvCxnSpPr>
          <p:cNvPr id="7015" name="Connector 15"/>
          <p:cNvCxnSpPr/>
          <p:nvPr/>
        </p:nvCxnSpPr>
        <p:spPr>
          <a:xfrm>
            <a:off x="6244118" y="3220599"/>
            <a:ext cx="389900" cy="0"/>
          </a:xfrm>
          <a:prstGeom prst="line">
            <a:avLst/>
          </a:prstGeom>
          <a:ln w="22225">
            <a:solidFill>
              <a:srgbClr val="1F2937"/>
            </a:solidFill>
            <a:tailEnd type="triangle" w="med" len="med"/>
          </a:ln>
        </p:spPr>
      </p:cxnSp>
      <p:sp>
        <p:nvSpPr>
          <p:cNvPr id="7016" name="Rectangle 16"/>
          <p:cNvSpPr/>
          <p:nvPr/>
        </p:nvSpPr>
        <p:spPr>
          <a:xfrm>
            <a:off x="10201604" y="2611380"/>
            <a:ext cx="4912742" cy="1218438"/>
          </a:xfrm>
          <a:prstGeom prst="rect">
            <a:avLst/>
          </a:prstGeom>
          <a:noFill/>
          <a:ln w="12700">
            <a:solidFill>
              <a:srgbClr val="9CA3AF"/>
            </a:solidFill>
          </a:ln>
        </p:spPr>
        <p:txBody>
          <a:bodyPr rtlCol="0" anchor="ctr"/>
          <a:lstStyle/>
          <a:p>
            <a:pPr algn="ctr"/>
            <a:endParaRPr/>
          </a:p>
        </p:txBody>
      </p:sp>
      <p:sp>
        <p:nvSpPr>
          <p:cNvPr id="7017" name="TextBox 17"/>
          <p:cNvSpPr txBox="1"/>
          <p:nvPr/>
        </p:nvSpPr>
        <p:spPr>
          <a:xfrm>
            <a:off x="10279584" y="2650370"/>
            <a:ext cx="4756782"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Arial"/>
                <a:ea typeface="맑은 고딕"/>
                <a:cs typeface="Arial"/>
              </a:rPr>
              <a:t>응답</a:t>
            </a:r>
          </a:p>
        </p:txBody>
      </p:sp>
      <p:cxnSp>
        <p:nvCxnSpPr>
          <p:cNvPr id="7018" name="Connector 25"/>
          <p:cNvCxnSpPr/>
          <p:nvPr/>
        </p:nvCxnSpPr>
        <p:spPr>
          <a:xfrm flipH="1">
            <a:off x="9811704" y="3220599"/>
            <a:ext cx="389900" cy="0"/>
          </a:xfrm>
          <a:prstGeom prst="line">
            <a:avLst/>
          </a:prstGeom>
          <a:ln w="22225">
            <a:solidFill>
              <a:srgbClr val="1F2937"/>
            </a:solidFill>
            <a:tailEnd type="triangle" w="med" len="med"/>
          </a:ln>
        </p:spPr>
      </p:cxnSp>
      <p:sp>
        <p:nvSpPr>
          <p:cNvPr id="7019" name="Oval 26"/>
          <p:cNvSpPr/>
          <p:nvPr/>
        </p:nvSpPr>
        <p:spPr>
          <a:xfrm>
            <a:off x="9899432" y="2869689"/>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7</a:t>
            </a:r>
          </a:p>
        </p:txBody>
      </p:sp>
      <p:sp>
        <p:nvSpPr>
          <p:cNvPr id="7020" name="TextBox 27"/>
          <p:cNvSpPr txBox="1"/>
          <p:nvPr/>
        </p:nvSpPr>
        <p:spPr>
          <a:xfrm>
            <a:off x="2978704" y="4519454"/>
            <a:ext cx="1364651" cy="779800"/>
          </a:xfrm>
          <a:prstGeom prst="rect">
            <a:avLst/>
          </a:prstGeom>
          <a:noFill/>
        </p:spPr>
        <p:txBody>
          <a:bodyPr wrap="square" lIns="0" tIns="0" rIns="0" bIns="0" anchor="t">
            <a:noAutofit/>
          </a:bodyPr>
          <a:lstStyle/>
          <a:p>
            <a:pPr algn="l">
              <a:lnSpc>
                <a:spcPts val="1710"/>
              </a:lnSpc>
              <a:spcBef>
                <a:spcPts val="0"/>
              </a:spcBef>
              <a:spcAft>
                <a:spcPts val="0"/>
              </a:spcAft>
            </a:pPr>
            <a:r>
              <a:rPr lang="ko-KR" altLang="en-US" sz="1500" b="1" dirty="0">
                <a:solidFill>
                  <a:srgbClr val="1F2937"/>
                </a:solidFill>
                <a:latin typeface="Arial"/>
                <a:ea typeface="맑은 고딕"/>
                <a:cs typeface="Arial"/>
              </a:rPr>
              <a:t>서버</a:t>
            </a:r>
          </a:p>
          <a:p>
            <a:pPr algn="l">
              <a:lnSpc>
                <a:spcPts val="1160"/>
              </a:lnSpc>
              <a:spcBef>
                <a:spcPts val="200"/>
              </a:spcBef>
              <a:spcAft>
                <a:spcPts val="0"/>
              </a:spcAft>
            </a:pPr>
            <a:r>
              <a:rPr lang="ko-KR" altLang="en-US" sz="1000" b="0" dirty="0" err="1">
                <a:solidFill>
                  <a:srgbClr val="1F2937"/>
                </a:solidFill>
                <a:latin typeface="Arial"/>
                <a:ea typeface="맑은 고딕"/>
                <a:cs typeface="Arial"/>
              </a:rPr>
              <a:t>Application</a:t>
            </a:r>
            <a:r>
              <a:rPr lang="ko-KR" altLang="en-US" sz="1000" b="0" dirty="0">
                <a:solidFill>
                  <a:srgbClr val="1F2937"/>
                </a:solidFill>
                <a:latin typeface="Arial"/>
                <a:ea typeface="맑은 고딕"/>
                <a:cs typeface="Arial"/>
              </a:rPr>
              <a:t> Server</a:t>
            </a:r>
          </a:p>
        </p:txBody>
      </p:sp>
      <p:sp>
        <p:nvSpPr>
          <p:cNvPr id="7021" name="Rectangle 28"/>
          <p:cNvSpPr/>
          <p:nvPr/>
        </p:nvSpPr>
        <p:spPr>
          <a:xfrm>
            <a:off x="6517048" y="4519454"/>
            <a:ext cx="1891016" cy="1364651"/>
          </a:xfrm>
          <a:prstGeom prst="rect">
            <a:avLst/>
          </a:prstGeom>
          <a:noFill/>
          <a:ln w="12700">
            <a:solidFill>
              <a:srgbClr val="9CA3AF"/>
            </a:solidFill>
          </a:ln>
        </p:spPr>
        <p:txBody>
          <a:bodyPr rtlCol="0" anchor="ctr"/>
          <a:lstStyle/>
          <a:p>
            <a:pPr algn="ctr"/>
            <a:endParaRPr/>
          </a:p>
        </p:txBody>
      </p:sp>
      <p:sp>
        <p:nvSpPr>
          <p:cNvPr id="7022" name="TextBox 29"/>
          <p:cNvSpPr txBox="1"/>
          <p:nvPr/>
        </p:nvSpPr>
        <p:spPr>
          <a:xfrm>
            <a:off x="6595028" y="4558444"/>
            <a:ext cx="1735056"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맑은 고딕"/>
                <a:ea typeface="맑은 고딕"/>
                <a:cs typeface="Arial"/>
              </a:rPr>
              <a:t>① 산불 예측 모델 (물리 엔진)</a:t>
            </a:r>
          </a:p>
        </p:txBody>
      </p:sp>
      <p:sp>
        <p:nvSpPr>
          <p:cNvPr id="7023" name="Rectangle 30"/>
          <p:cNvSpPr/>
          <p:nvPr/>
        </p:nvSpPr>
        <p:spPr>
          <a:xfrm>
            <a:off x="8632256" y="4519454"/>
            <a:ext cx="4093952" cy="2397886"/>
          </a:xfrm>
          <a:prstGeom prst="rect">
            <a:avLst/>
          </a:prstGeom>
          <a:noFill/>
          <a:ln w="12700">
            <a:solidFill>
              <a:srgbClr val="9CA3AF"/>
            </a:solidFill>
          </a:ln>
        </p:spPr>
        <p:txBody>
          <a:bodyPr rtlCol="0" anchor="ctr"/>
          <a:lstStyle/>
          <a:p>
            <a:pPr algn="ctr"/>
            <a:endParaRPr/>
          </a:p>
        </p:txBody>
      </p:sp>
      <p:sp>
        <p:nvSpPr>
          <p:cNvPr id="7024" name="TextBox 31"/>
          <p:cNvSpPr txBox="1"/>
          <p:nvPr/>
        </p:nvSpPr>
        <p:spPr>
          <a:xfrm>
            <a:off x="8710236" y="4558444"/>
            <a:ext cx="3937992"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맑은 고딕"/>
                <a:ea typeface="맑은 고딕"/>
                <a:cs typeface="Arial"/>
              </a:rPr>
              <a:t>② 대응 제안 생성 모델 (규칙 엔진 + LLM 에이전트 2개)</a:t>
            </a:r>
          </a:p>
        </p:txBody>
      </p:sp>
      <p:sp>
        <p:nvSpPr>
          <p:cNvPr id="7025" name="Rectangle 32"/>
          <p:cNvSpPr/>
          <p:nvPr/>
        </p:nvSpPr>
        <p:spPr>
          <a:xfrm>
            <a:off x="4343354" y="4841122"/>
            <a:ext cx="1900763" cy="926013"/>
          </a:xfrm>
          <a:prstGeom prst="rect">
            <a:avLst/>
          </a:prstGeom>
          <a:solidFill>
            <a:srgbClr val="FFFFFF"/>
          </a:solidFill>
          <a:ln w="15875">
            <a:solidFill>
              <a:srgbClr val="1F2937"/>
            </a:solidFill>
          </a:ln>
        </p:spPr>
        <p:txBody>
          <a:bodyPr rtlCol="0" anchor="ctr"/>
          <a:lstStyle/>
          <a:p>
            <a:pPr algn="ctr"/>
            <a:endParaRPr/>
          </a:p>
        </p:txBody>
      </p:sp>
      <p:sp>
        <p:nvSpPr>
          <p:cNvPr id="7026" name="TextBox 33"/>
          <p:cNvSpPr txBox="1"/>
          <p:nvPr/>
        </p:nvSpPr>
        <p:spPr>
          <a:xfrm>
            <a:off x="4343354" y="4841122"/>
            <a:ext cx="1900763"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API 서버 · 상황 구성</a:t>
            </a:r>
          </a:p>
          <a:p>
            <a:pPr algn="ctr">
              <a:lnSpc>
                <a:spcPts val="1220"/>
              </a:lnSpc>
              <a:spcBef>
                <a:spcPts val="100"/>
              </a:spcBef>
              <a:spcAft>
                <a:spcPts val="0"/>
              </a:spcAft>
            </a:pPr>
            <a:r>
              <a:rPr lang="ko-KR" altLang="en-US" sz="1050" b="0">
                <a:solidFill>
                  <a:srgbClr val="1F2937"/>
                </a:solidFill>
                <a:latin typeface="Arial"/>
                <a:ea typeface="맑은 고딕"/>
                <a:cs typeface="Arial"/>
              </a:rPr>
              <a:t>FastAPI</a:t>
            </a:r>
          </a:p>
        </p:txBody>
      </p:sp>
      <p:sp>
        <p:nvSpPr>
          <p:cNvPr id="7027" name="Rectangle 34"/>
          <p:cNvSpPr/>
          <p:nvPr/>
        </p:nvSpPr>
        <p:spPr>
          <a:xfrm>
            <a:off x="6634018" y="4841122"/>
            <a:ext cx="1657076" cy="926013"/>
          </a:xfrm>
          <a:prstGeom prst="rect">
            <a:avLst/>
          </a:prstGeom>
          <a:solidFill>
            <a:srgbClr val="FFFFFF"/>
          </a:solidFill>
          <a:ln w="15875">
            <a:solidFill>
              <a:srgbClr val="1F2937"/>
            </a:solidFill>
          </a:ln>
        </p:spPr>
        <p:txBody>
          <a:bodyPr rtlCol="0" anchor="ctr"/>
          <a:lstStyle/>
          <a:p>
            <a:pPr algn="ctr"/>
            <a:endParaRPr/>
          </a:p>
        </p:txBody>
      </p:sp>
      <p:sp>
        <p:nvSpPr>
          <p:cNvPr id="7028" name="TextBox 35"/>
          <p:cNvSpPr txBox="1"/>
          <p:nvPr/>
        </p:nvSpPr>
        <p:spPr>
          <a:xfrm>
            <a:off x="6634018" y="4841122"/>
            <a:ext cx="1657076"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확산 예측</a:t>
            </a:r>
          </a:p>
          <a:p>
            <a:pPr algn="ctr">
              <a:lnSpc>
                <a:spcPts val="1220"/>
              </a:lnSpc>
              <a:spcBef>
                <a:spcPts val="100"/>
              </a:spcBef>
              <a:spcAft>
                <a:spcPts val="0"/>
              </a:spcAft>
            </a:pPr>
            <a:r>
              <a:rPr lang="ko-KR" altLang="en-US" sz="1050" b="0">
                <a:solidFill>
                  <a:srgbClr val="1F2937"/>
                </a:solidFill>
                <a:latin typeface="Arial"/>
                <a:ea typeface="맑은 고딕"/>
                <a:cs typeface="Arial"/>
              </a:rPr>
              <a:t>ELMFIRE</a:t>
            </a:r>
          </a:p>
        </p:txBody>
      </p:sp>
      <p:sp>
        <p:nvSpPr>
          <p:cNvPr id="7029" name="Rectangle 36"/>
          <p:cNvSpPr/>
          <p:nvPr/>
        </p:nvSpPr>
        <p:spPr>
          <a:xfrm>
            <a:off x="8729731" y="4841122"/>
            <a:ext cx="1413388" cy="926013"/>
          </a:xfrm>
          <a:prstGeom prst="rect">
            <a:avLst/>
          </a:prstGeom>
          <a:solidFill>
            <a:srgbClr val="FFFFFF"/>
          </a:solidFill>
          <a:ln w="15875">
            <a:solidFill>
              <a:srgbClr val="1F2937"/>
            </a:solidFill>
          </a:ln>
        </p:spPr>
        <p:txBody>
          <a:bodyPr rtlCol="0" anchor="ctr"/>
          <a:lstStyle/>
          <a:p>
            <a:pPr algn="ctr"/>
            <a:endParaRPr/>
          </a:p>
        </p:txBody>
      </p:sp>
      <p:sp>
        <p:nvSpPr>
          <p:cNvPr id="7030" name="TextBox 37"/>
          <p:cNvSpPr txBox="1"/>
          <p:nvPr/>
        </p:nvSpPr>
        <p:spPr>
          <a:xfrm>
            <a:off x="8729731" y="4841122"/>
            <a:ext cx="1413388"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규칙 판정</a:t>
            </a:r>
          </a:p>
          <a:p>
            <a:pPr algn="ctr">
              <a:lnSpc>
                <a:spcPts val="1220"/>
              </a:lnSpc>
              <a:spcBef>
                <a:spcPts val="100"/>
              </a:spcBef>
              <a:spcAft>
                <a:spcPts val="0"/>
              </a:spcAft>
            </a:pPr>
            <a:r>
              <a:rPr lang="ko-KR" altLang="en-US" sz="1050" b="0">
                <a:solidFill>
                  <a:srgbClr val="1F2937"/>
                </a:solidFill>
                <a:latin typeface="Arial"/>
                <a:ea typeface="맑은 고딕"/>
                <a:cs typeface="Arial"/>
              </a:rPr>
              <a:t>Rule-Based</a:t>
            </a:r>
          </a:p>
        </p:txBody>
      </p:sp>
      <p:sp>
        <p:nvSpPr>
          <p:cNvPr id="7031" name="Rectangle 38"/>
          <p:cNvSpPr/>
          <p:nvPr/>
        </p:nvSpPr>
        <p:spPr>
          <a:xfrm>
            <a:off x="10533019" y="4841122"/>
            <a:ext cx="2095713" cy="926013"/>
          </a:xfrm>
          <a:prstGeom prst="rect">
            <a:avLst/>
          </a:prstGeom>
          <a:solidFill>
            <a:srgbClr val="FFFFFF"/>
          </a:solidFill>
          <a:ln w="15875">
            <a:solidFill>
              <a:srgbClr val="2563EB"/>
            </a:solidFill>
          </a:ln>
        </p:spPr>
        <p:txBody>
          <a:bodyPr rtlCol="0" anchor="ctr"/>
          <a:lstStyle/>
          <a:p>
            <a:pPr algn="ctr"/>
            <a:endParaRPr/>
          </a:p>
        </p:txBody>
      </p:sp>
      <p:pic>
        <p:nvPicPr>
          <p:cNvPr id="7032" name="Picture 39" descr="image.png"/>
          <p:cNvPicPr>
            <a:picLocks noChangeAspect="1"/>
          </p:cNvPicPr>
          <p:nvPr/>
        </p:nvPicPr>
        <p:blipFill>
          <a:blip r:embed="rId5"/>
          <a:stretch>
            <a:fillRect/>
          </a:stretch>
        </p:blipFill>
        <p:spPr>
          <a:xfrm>
            <a:off x="10649989" y="5148168"/>
            <a:ext cx="311920" cy="311920"/>
          </a:xfrm>
          <a:prstGeom prst="rect">
            <a:avLst/>
          </a:prstGeom>
        </p:spPr>
      </p:pic>
      <p:sp>
        <p:nvSpPr>
          <p:cNvPr id="7033" name="TextBox 40"/>
          <p:cNvSpPr txBox="1"/>
          <p:nvPr/>
        </p:nvSpPr>
        <p:spPr>
          <a:xfrm>
            <a:off x="10961909" y="4841122"/>
            <a:ext cx="1666823"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dirty="0">
                <a:solidFill>
                  <a:srgbClr val="2563EB"/>
                </a:solidFill>
                <a:latin typeface="Arial"/>
                <a:ea typeface="맑은 고딕"/>
                <a:cs typeface="Arial"/>
              </a:rPr>
              <a:t>상황판단 에이전트</a:t>
            </a:r>
          </a:p>
          <a:p>
            <a:pPr algn="ctr">
              <a:lnSpc>
                <a:spcPts val="1220"/>
              </a:lnSpc>
              <a:spcBef>
                <a:spcPts val="100"/>
              </a:spcBef>
              <a:spcAft>
                <a:spcPts val="0"/>
              </a:spcAft>
            </a:pPr>
            <a:r>
              <a:rPr lang="ko-KR" altLang="en-US" sz="1050" b="0" dirty="0">
                <a:solidFill>
                  <a:srgbClr val="1F2937"/>
                </a:solidFill>
                <a:latin typeface="Arial"/>
                <a:ea typeface="맑은 고딕"/>
                <a:cs typeface="Arial"/>
              </a:rPr>
              <a:t>EXAONE 4.0 32B</a:t>
            </a:r>
          </a:p>
        </p:txBody>
      </p:sp>
      <p:sp>
        <p:nvSpPr>
          <p:cNvPr id="7034" name="Rectangle 41"/>
          <p:cNvSpPr/>
          <p:nvPr/>
        </p:nvSpPr>
        <p:spPr>
          <a:xfrm>
            <a:off x="13116108" y="4841122"/>
            <a:ext cx="1998238" cy="926013"/>
          </a:xfrm>
          <a:prstGeom prst="rect">
            <a:avLst/>
          </a:prstGeom>
          <a:solidFill>
            <a:srgbClr val="FFFFFF"/>
          </a:solidFill>
          <a:ln w="15875">
            <a:solidFill>
              <a:srgbClr val="1F2937"/>
            </a:solidFill>
          </a:ln>
        </p:spPr>
        <p:txBody>
          <a:bodyPr rtlCol="0" anchor="ctr"/>
          <a:lstStyle/>
          <a:p>
            <a:pPr algn="ctr"/>
            <a:endParaRPr/>
          </a:p>
        </p:txBody>
      </p:sp>
      <p:sp>
        <p:nvSpPr>
          <p:cNvPr id="7035" name="TextBox 42"/>
          <p:cNvSpPr txBox="1"/>
          <p:nvPr/>
        </p:nvSpPr>
        <p:spPr>
          <a:xfrm>
            <a:off x="13116108" y="4841122"/>
            <a:ext cx="1998238" cy="926013"/>
          </a:xfrm>
          <a:prstGeom prst="rect">
            <a:avLst/>
          </a:prstGeom>
          <a:noFill/>
        </p:spPr>
        <p:txBody>
          <a:bodyPr wrap="square" lIns="36576" tIns="0" rIns="36576" bIns="0" anchor="ctr">
            <a:noAutofit/>
          </a:bodyPr>
          <a:lstStyle/>
          <a:p>
            <a:pPr algn="ctr">
              <a:lnSpc>
                <a:spcPts val="1460"/>
              </a:lnSpc>
              <a:spcBef>
                <a:spcPts val="0"/>
              </a:spcBef>
              <a:spcAft>
                <a:spcPts val="0"/>
              </a:spcAft>
            </a:pPr>
            <a:r>
              <a:rPr lang="ko-KR" altLang="en-US" sz="1300" b="1">
                <a:solidFill>
                  <a:srgbClr val="1F2937"/>
                </a:solidFill>
                <a:latin typeface="Arial"/>
                <a:ea typeface="맑은 고딕"/>
                <a:cs typeface="Arial"/>
              </a:rPr>
              <a:t>응답 조립</a:t>
            </a:r>
          </a:p>
          <a:p>
            <a:pPr algn="ctr">
              <a:lnSpc>
                <a:spcPts val="1220"/>
              </a:lnSpc>
              <a:spcBef>
                <a:spcPts val="100"/>
              </a:spcBef>
              <a:spcAft>
                <a:spcPts val="0"/>
              </a:spcAft>
            </a:pPr>
            <a:r>
              <a:rPr lang="ko-KR" altLang="en-US" sz="1050" b="0">
                <a:solidFill>
                  <a:srgbClr val="1F2937"/>
                </a:solidFill>
                <a:latin typeface="Arial"/>
                <a:ea typeface="맑은 고딕"/>
                <a:cs typeface="Arial"/>
              </a:rPr>
              <a:t>REST API</a:t>
            </a:r>
          </a:p>
        </p:txBody>
      </p:sp>
      <p:sp>
        <p:nvSpPr>
          <p:cNvPr id="7036" name="Rectangle 43"/>
          <p:cNvSpPr/>
          <p:nvPr/>
        </p:nvSpPr>
        <p:spPr>
          <a:xfrm>
            <a:off x="13116108" y="5981580"/>
            <a:ext cx="1998238" cy="838285"/>
          </a:xfrm>
          <a:prstGeom prst="rect">
            <a:avLst/>
          </a:prstGeom>
          <a:solidFill>
            <a:srgbClr val="FFFFFF"/>
          </a:solidFill>
          <a:ln w="15875">
            <a:solidFill>
              <a:srgbClr val="2563EB"/>
            </a:solidFill>
          </a:ln>
        </p:spPr>
        <p:txBody>
          <a:bodyPr rtlCol="0" anchor="ctr"/>
          <a:lstStyle/>
          <a:p>
            <a:pPr algn="ctr"/>
            <a:endParaRPr/>
          </a:p>
        </p:txBody>
      </p:sp>
      <p:pic>
        <p:nvPicPr>
          <p:cNvPr id="7037" name="Picture 44" descr="image.png"/>
          <p:cNvPicPr>
            <a:picLocks noChangeAspect="1"/>
          </p:cNvPicPr>
          <p:nvPr/>
        </p:nvPicPr>
        <p:blipFill>
          <a:blip r:embed="rId5"/>
          <a:stretch>
            <a:fillRect/>
          </a:stretch>
        </p:blipFill>
        <p:spPr>
          <a:xfrm>
            <a:off x="13203835" y="6127792"/>
            <a:ext cx="272930" cy="272930"/>
          </a:xfrm>
          <a:prstGeom prst="rect">
            <a:avLst/>
          </a:prstGeom>
        </p:spPr>
      </p:pic>
      <p:sp>
        <p:nvSpPr>
          <p:cNvPr id="7038" name="TextBox 45"/>
          <p:cNvSpPr txBox="1"/>
          <p:nvPr/>
        </p:nvSpPr>
        <p:spPr>
          <a:xfrm>
            <a:off x="13515756" y="5981580"/>
            <a:ext cx="1579096" cy="565355"/>
          </a:xfrm>
          <a:prstGeom prst="rect">
            <a:avLst/>
          </a:prstGeom>
          <a:noFill/>
        </p:spPr>
        <p:txBody>
          <a:bodyPr wrap="none" lIns="0" tIns="0" rIns="0" bIns="0" anchor="ctr">
            <a:noAutofit/>
          </a:bodyPr>
          <a:lstStyle/>
          <a:p>
            <a:pPr algn="l">
              <a:lnSpc>
                <a:spcPts val="1460"/>
              </a:lnSpc>
              <a:spcBef>
                <a:spcPts val="0"/>
              </a:spcBef>
              <a:spcAft>
                <a:spcPts val="0"/>
              </a:spcAft>
            </a:pPr>
            <a:r>
              <a:rPr lang="ko-KR" altLang="en-US" sz="1300" b="1" dirty="0">
                <a:solidFill>
                  <a:srgbClr val="2563EB"/>
                </a:solidFill>
                <a:latin typeface="Arial"/>
                <a:ea typeface="맑은 고딕"/>
                <a:cs typeface="Arial"/>
              </a:rPr>
              <a:t>어시스턴트 에이전트</a:t>
            </a:r>
          </a:p>
          <a:p>
            <a:pPr algn="ctr">
              <a:lnSpc>
                <a:spcPts val="1220"/>
              </a:lnSpc>
              <a:spcBef>
                <a:spcPts val="100"/>
              </a:spcBef>
              <a:spcAft>
                <a:spcPts val="0"/>
              </a:spcAft>
            </a:pPr>
            <a:r>
              <a:rPr lang="ko-KR" altLang="en-US" sz="1050" dirty="0">
                <a:solidFill>
                  <a:srgbClr val="1F2937"/>
                </a:solidFill>
                <a:latin typeface="Arial"/>
                <a:ea typeface="맑은 고딕"/>
                <a:cs typeface="Arial"/>
              </a:rPr>
              <a:t>EXAONE 4.0 32B</a:t>
            </a:r>
          </a:p>
        </p:txBody>
      </p:sp>
      <p:sp>
        <p:nvSpPr>
          <p:cNvPr id="7039" name="Rectangle 46"/>
          <p:cNvSpPr/>
          <p:nvPr/>
        </p:nvSpPr>
        <p:spPr>
          <a:xfrm>
            <a:off x="13116108" y="6546935"/>
            <a:ext cx="999119" cy="272930"/>
          </a:xfrm>
          <a:prstGeom prst="rect">
            <a:avLst/>
          </a:prstGeom>
          <a:solidFill>
            <a:srgbClr val="FFFFFF"/>
          </a:solidFill>
          <a:ln w="15875">
            <a:solidFill>
              <a:srgbClr val="2563EB"/>
            </a:solidFill>
          </a:ln>
        </p:spPr>
        <p:txBody>
          <a:bodyPr wrap="square" lIns="18288" tIns="0" rIns="18288" bIns="0" rtlCol="0" anchor="ctr">
            <a:noAutofit/>
          </a:bodyPr>
          <a:lstStyle/>
          <a:p>
            <a:pPr algn="ctr">
              <a:lnSpc>
                <a:spcPts val="1040"/>
              </a:lnSpc>
              <a:spcBef>
                <a:spcPts val="0"/>
              </a:spcBef>
              <a:spcAft>
                <a:spcPts val="0"/>
              </a:spcAft>
            </a:pPr>
            <a:r>
              <a:rPr lang="ko-KR" altLang="en-US" sz="900" b="1" dirty="0">
                <a:solidFill>
                  <a:srgbClr val="1F2937"/>
                </a:solidFill>
                <a:latin typeface="Arial"/>
                <a:ea typeface="맑은 고딕"/>
                <a:cs typeface="Arial"/>
              </a:rPr>
              <a:t>상황 정정</a:t>
            </a:r>
          </a:p>
        </p:txBody>
      </p:sp>
      <p:sp>
        <p:nvSpPr>
          <p:cNvPr id="7040" name="Rectangle 47"/>
          <p:cNvSpPr/>
          <p:nvPr/>
        </p:nvSpPr>
        <p:spPr>
          <a:xfrm>
            <a:off x="14115227" y="6546935"/>
            <a:ext cx="999119" cy="272930"/>
          </a:xfrm>
          <a:prstGeom prst="rect">
            <a:avLst/>
          </a:prstGeom>
          <a:solidFill>
            <a:srgbClr val="FFFFFF"/>
          </a:solidFill>
          <a:ln w="15875">
            <a:solidFill>
              <a:srgbClr val="2563EB"/>
            </a:solidFill>
          </a:ln>
        </p:spPr>
        <p:txBody>
          <a:bodyPr wrap="square" lIns="18288" tIns="0" rIns="18288" bIns="0" rtlCol="0" anchor="ctr">
            <a:noAutofit/>
          </a:bodyPr>
          <a:lstStyle/>
          <a:p>
            <a:pPr algn="ctr">
              <a:lnSpc>
                <a:spcPts val="1040"/>
              </a:lnSpc>
              <a:spcBef>
                <a:spcPts val="0"/>
              </a:spcBef>
              <a:spcAft>
                <a:spcPts val="0"/>
              </a:spcAft>
            </a:pPr>
            <a:r>
              <a:rPr lang="ko-KR" altLang="en-US" sz="900" b="1" dirty="0">
                <a:solidFill>
                  <a:srgbClr val="1F2937"/>
                </a:solidFill>
                <a:latin typeface="Arial"/>
                <a:ea typeface="맑은 고딕"/>
                <a:cs typeface="Arial"/>
              </a:rPr>
              <a:t>질의응답</a:t>
            </a:r>
          </a:p>
        </p:txBody>
      </p:sp>
      <p:cxnSp>
        <p:nvCxnSpPr>
          <p:cNvPr id="7041" name="Connector 48"/>
          <p:cNvCxnSpPr/>
          <p:nvPr/>
        </p:nvCxnSpPr>
        <p:spPr>
          <a:xfrm>
            <a:off x="5293736" y="3829818"/>
            <a:ext cx="0" cy="1072225"/>
          </a:xfrm>
          <a:prstGeom prst="line">
            <a:avLst/>
          </a:prstGeom>
          <a:ln w="22225">
            <a:solidFill>
              <a:srgbClr val="1F2937"/>
            </a:solidFill>
            <a:tailEnd type="triangle" w="med" len="med"/>
          </a:ln>
        </p:spPr>
      </p:cxnSp>
      <p:sp>
        <p:nvSpPr>
          <p:cNvPr id="7042" name="Oval 49"/>
          <p:cNvSpPr/>
          <p:nvPr/>
        </p:nvSpPr>
        <p:spPr>
          <a:xfrm>
            <a:off x="5186513" y="42197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1</a:t>
            </a:r>
          </a:p>
        </p:txBody>
      </p:sp>
      <p:sp>
        <p:nvSpPr>
          <p:cNvPr id="7043" name="TextBox 50"/>
          <p:cNvSpPr txBox="1"/>
          <p:nvPr/>
        </p:nvSpPr>
        <p:spPr>
          <a:xfrm>
            <a:off x="4318986" y="4178291"/>
            <a:ext cx="799295" cy="175455"/>
          </a:xfrm>
          <a:prstGeom prst="rect">
            <a:avLst/>
          </a:prstGeom>
          <a:noFill/>
        </p:spPr>
        <p:txBody>
          <a:bodyPr wrap="square" lIns="0" tIns="0" rIns="0" bIns="0" anchor="ctr">
            <a:noAutofit/>
          </a:bodyPr>
          <a:lstStyle/>
          <a:p>
            <a:pPr algn="r">
              <a:lnSpc>
                <a:spcPts val="1100"/>
              </a:lnSpc>
              <a:spcBef>
                <a:spcPts val="0"/>
              </a:spcBef>
              <a:spcAft>
                <a:spcPts val="0"/>
              </a:spcAft>
            </a:pPr>
            <a:r>
              <a:rPr lang="ko-KR" altLang="en-US" sz="950" b="0">
                <a:solidFill>
                  <a:srgbClr val="1F2937"/>
                </a:solidFill>
                <a:latin typeface="Arial"/>
                <a:ea typeface="맑은 고딕"/>
                <a:cs typeface="Arial"/>
              </a:rPr>
              <a:t>요청 · 대화</a:t>
            </a:r>
          </a:p>
        </p:txBody>
      </p:sp>
      <p:cxnSp>
        <p:nvCxnSpPr>
          <p:cNvPr id="7044" name="Connector 51"/>
          <p:cNvCxnSpPr/>
          <p:nvPr/>
        </p:nvCxnSpPr>
        <p:spPr>
          <a:xfrm>
            <a:off x="6244118" y="5304128"/>
            <a:ext cx="389900" cy="0"/>
          </a:xfrm>
          <a:prstGeom prst="line">
            <a:avLst/>
          </a:prstGeom>
          <a:ln w="22225">
            <a:solidFill>
              <a:srgbClr val="1F2937"/>
            </a:solidFill>
            <a:tailEnd type="triangle" w="med" len="med"/>
          </a:ln>
        </p:spPr>
      </p:cxnSp>
      <p:sp>
        <p:nvSpPr>
          <p:cNvPr id="7045" name="Oval 52"/>
          <p:cNvSpPr/>
          <p:nvPr/>
        </p:nvSpPr>
        <p:spPr>
          <a:xfrm>
            <a:off x="6331845"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2</a:t>
            </a:r>
          </a:p>
        </p:txBody>
      </p:sp>
      <p:cxnSp>
        <p:nvCxnSpPr>
          <p:cNvPr id="7046" name="Connector 53"/>
          <p:cNvCxnSpPr/>
          <p:nvPr/>
        </p:nvCxnSpPr>
        <p:spPr>
          <a:xfrm>
            <a:off x="8291093" y="5304128"/>
            <a:ext cx="438638" cy="0"/>
          </a:xfrm>
          <a:prstGeom prst="line">
            <a:avLst/>
          </a:prstGeom>
          <a:ln w="22225">
            <a:solidFill>
              <a:srgbClr val="1F2937"/>
            </a:solidFill>
            <a:tailEnd type="triangle" w="med" len="med"/>
          </a:ln>
        </p:spPr>
      </p:cxnSp>
      <p:sp>
        <p:nvSpPr>
          <p:cNvPr id="7047" name="Oval 54"/>
          <p:cNvSpPr/>
          <p:nvPr/>
        </p:nvSpPr>
        <p:spPr>
          <a:xfrm>
            <a:off x="8403190"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3</a:t>
            </a:r>
          </a:p>
        </p:txBody>
      </p:sp>
      <p:cxnSp>
        <p:nvCxnSpPr>
          <p:cNvPr id="7048" name="Connector 55"/>
          <p:cNvCxnSpPr/>
          <p:nvPr/>
        </p:nvCxnSpPr>
        <p:spPr>
          <a:xfrm>
            <a:off x="10143119" y="5304128"/>
            <a:ext cx="389900" cy="0"/>
          </a:xfrm>
          <a:prstGeom prst="line">
            <a:avLst/>
          </a:prstGeom>
          <a:ln w="22225">
            <a:solidFill>
              <a:srgbClr val="1F2937"/>
            </a:solidFill>
            <a:tailEnd type="triangle" w="med" len="med"/>
          </a:ln>
        </p:spPr>
      </p:cxnSp>
      <p:sp>
        <p:nvSpPr>
          <p:cNvPr id="7049" name="Oval 56"/>
          <p:cNvSpPr/>
          <p:nvPr/>
        </p:nvSpPr>
        <p:spPr>
          <a:xfrm>
            <a:off x="10230847"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4</a:t>
            </a:r>
          </a:p>
        </p:txBody>
      </p:sp>
      <p:cxnSp>
        <p:nvCxnSpPr>
          <p:cNvPr id="7050" name="Connector 57"/>
          <p:cNvCxnSpPr/>
          <p:nvPr/>
        </p:nvCxnSpPr>
        <p:spPr>
          <a:xfrm>
            <a:off x="12628733" y="5304128"/>
            <a:ext cx="487375" cy="0"/>
          </a:xfrm>
          <a:prstGeom prst="line">
            <a:avLst/>
          </a:prstGeom>
          <a:ln w="22225">
            <a:solidFill>
              <a:srgbClr val="1F2937"/>
            </a:solidFill>
            <a:tailEnd type="triangle" w="med" len="med"/>
          </a:ln>
        </p:spPr>
      </p:cxnSp>
      <p:sp>
        <p:nvSpPr>
          <p:cNvPr id="7051" name="Oval 58"/>
          <p:cNvSpPr/>
          <p:nvPr/>
        </p:nvSpPr>
        <p:spPr>
          <a:xfrm>
            <a:off x="12765198" y="49532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5</a:t>
            </a:r>
          </a:p>
        </p:txBody>
      </p:sp>
      <p:cxnSp>
        <p:nvCxnSpPr>
          <p:cNvPr id="7052" name="Connector 59"/>
          <p:cNvCxnSpPr/>
          <p:nvPr/>
        </p:nvCxnSpPr>
        <p:spPr>
          <a:xfrm flipV="1">
            <a:off x="14115227" y="3829818"/>
            <a:ext cx="0" cy="1072225"/>
          </a:xfrm>
          <a:prstGeom prst="line">
            <a:avLst/>
          </a:prstGeom>
          <a:ln w="22225">
            <a:solidFill>
              <a:srgbClr val="1F2937"/>
            </a:solidFill>
            <a:tailEnd type="triangle" w="med" len="med"/>
          </a:ln>
        </p:spPr>
      </p:cxnSp>
      <p:sp>
        <p:nvSpPr>
          <p:cNvPr id="7053" name="Oval 60"/>
          <p:cNvSpPr/>
          <p:nvPr/>
        </p:nvSpPr>
        <p:spPr>
          <a:xfrm>
            <a:off x="14008004" y="4219718"/>
            <a:ext cx="214445" cy="214445"/>
          </a:xfrm>
          <a:prstGeom prst="ellipse">
            <a:avLst/>
          </a:prstGeom>
          <a:solidFill>
            <a:srgbClr val="1F2937"/>
          </a:solidFill>
          <a:ln>
            <a:noFill/>
          </a:ln>
        </p:spPr>
        <p:txBody>
          <a:bodyPr wrap="square" lIns="0" tIns="0" rIns="0" bIns="0" rtlCol="0" anchor="ctr">
            <a:noAutofit/>
          </a:bodyPr>
          <a:lstStyle/>
          <a:p>
            <a:pPr algn="ctr">
              <a:lnSpc>
                <a:spcPts val="1100"/>
              </a:lnSpc>
              <a:spcBef>
                <a:spcPts val="0"/>
              </a:spcBef>
              <a:spcAft>
                <a:spcPts val="0"/>
              </a:spcAft>
            </a:pPr>
            <a:r>
              <a:rPr lang="ko-KR" altLang="en-US" sz="950" b="1">
                <a:solidFill>
                  <a:srgbClr val="FFFFFF"/>
                </a:solidFill>
                <a:latin typeface="Arial"/>
                <a:ea typeface="맑은 고딕"/>
                <a:cs typeface="Arial"/>
              </a:rPr>
              <a:t>6</a:t>
            </a:r>
          </a:p>
        </p:txBody>
      </p:sp>
      <p:sp>
        <p:nvSpPr>
          <p:cNvPr id="7054" name="TextBox 61"/>
          <p:cNvSpPr txBox="1"/>
          <p:nvPr/>
        </p:nvSpPr>
        <p:spPr>
          <a:xfrm>
            <a:off x="14290682" y="4178291"/>
            <a:ext cx="584850"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응답</a:t>
            </a:r>
          </a:p>
        </p:txBody>
      </p:sp>
      <p:cxnSp>
        <p:nvCxnSpPr>
          <p:cNvPr id="7055" name="Connector 62"/>
          <p:cNvCxnSpPr/>
          <p:nvPr/>
        </p:nvCxnSpPr>
        <p:spPr>
          <a:xfrm flipV="1">
            <a:off x="14614787" y="5767135"/>
            <a:ext cx="0" cy="214445"/>
          </a:xfrm>
          <a:prstGeom prst="line">
            <a:avLst/>
          </a:prstGeom>
          <a:ln w="12700">
            <a:solidFill>
              <a:srgbClr val="1F2937"/>
            </a:solidFill>
            <a:tailEnd type="triangle" w="med" len="med"/>
          </a:ln>
        </p:spPr>
      </p:cxnSp>
      <p:sp>
        <p:nvSpPr>
          <p:cNvPr id="7056" name="TextBox 63"/>
          <p:cNvSpPr txBox="1"/>
          <p:nvPr/>
        </p:nvSpPr>
        <p:spPr>
          <a:xfrm>
            <a:off x="14010441" y="5786630"/>
            <a:ext cx="536113" cy="175455"/>
          </a:xfrm>
          <a:prstGeom prst="rect">
            <a:avLst/>
          </a:prstGeom>
          <a:noFill/>
        </p:spPr>
        <p:txBody>
          <a:bodyPr wrap="square" lIns="0" tIns="0" rIns="0" bIns="0" anchor="ctr">
            <a:noAutofit/>
          </a:bodyPr>
          <a:lstStyle/>
          <a:p>
            <a:pPr algn="r">
              <a:lnSpc>
                <a:spcPts val="1100"/>
              </a:lnSpc>
              <a:spcBef>
                <a:spcPts val="0"/>
              </a:spcBef>
              <a:spcAft>
                <a:spcPts val="0"/>
              </a:spcAft>
            </a:pPr>
            <a:r>
              <a:rPr lang="ko-KR" altLang="en-US" sz="950" b="0">
                <a:solidFill>
                  <a:srgbClr val="1F2937"/>
                </a:solidFill>
                <a:latin typeface="Arial"/>
                <a:ea typeface="맑은 고딕"/>
                <a:cs typeface="Arial"/>
              </a:rPr>
              <a:t>답변</a:t>
            </a:r>
          </a:p>
        </p:txBody>
      </p:sp>
      <p:sp>
        <p:nvSpPr>
          <p:cNvPr id="7057" name="Freeform 64"/>
          <p:cNvSpPr/>
          <p:nvPr/>
        </p:nvSpPr>
        <p:spPr>
          <a:xfrm>
            <a:off x="10143119" y="5601427"/>
            <a:ext cx="2972989" cy="1081973"/>
          </a:xfrm>
          <a:custGeom>
            <a:avLst/>
            <a:gdLst/>
            <a:ahLst/>
            <a:cxnLst/>
            <a:rect l="l" t="t" r="r" b="b"/>
            <a:pathLst>
              <a:path w="2788920" h="1014984">
                <a:moveTo>
                  <a:pt x="2788920" y="1014984"/>
                </a:moveTo>
                <a:lnTo>
                  <a:pt x="182880" y="1014984"/>
                </a:lnTo>
                <a:lnTo>
                  <a:pt x="182880" y="0"/>
                </a:lnTo>
                <a:lnTo>
                  <a:pt x="0" y="0"/>
                </a:lnTo>
              </a:path>
            </a:pathLst>
          </a:custGeom>
          <a:noFill/>
          <a:ln w="12700">
            <a:solidFill>
              <a:srgbClr val="1F2937"/>
            </a:solidFill>
            <a:tailEnd type="triangle" w="med" len="med"/>
          </a:ln>
        </p:spPr>
        <p:txBody>
          <a:bodyPr rtlCol="0" anchor="ctr"/>
          <a:lstStyle/>
          <a:p>
            <a:pPr algn="ctr"/>
            <a:endParaRPr/>
          </a:p>
        </p:txBody>
      </p:sp>
      <p:sp>
        <p:nvSpPr>
          <p:cNvPr id="7058" name="TextBox 65"/>
          <p:cNvSpPr txBox="1"/>
          <p:nvPr/>
        </p:nvSpPr>
        <p:spPr>
          <a:xfrm>
            <a:off x="10455039" y="6478702"/>
            <a:ext cx="27293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확인된 정정 → 재판정 (상황 정정)</a:t>
            </a:r>
          </a:p>
        </p:txBody>
      </p:sp>
      <p:sp>
        <p:nvSpPr>
          <p:cNvPr id="7059" name="TextBox 66"/>
          <p:cNvSpPr txBox="1"/>
          <p:nvPr/>
        </p:nvSpPr>
        <p:spPr>
          <a:xfrm>
            <a:off x="2978704" y="7285850"/>
            <a:ext cx="1364651" cy="779800"/>
          </a:xfrm>
          <a:prstGeom prst="rect">
            <a:avLst/>
          </a:prstGeom>
          <a:noFill/>
        </p:spPr>
        <p:txBody>
          <a:bodyPr wrap="square" lIns="0" tIns="0" rIns="0" bIns="0" anchor="t">
            <a:noAutofit/>
          </a:bodyPr>
          <a:lstStyle/>
          <a:p>
            <a:pPr algn="l">
              <a:lnSpc>
                <a:spcPts val="1710"/>
              </a:lnSpc>
              <a:spcBef>
                <a:spcPts val="0"/>
              </a:spcBef>
              <a:spcAft>
                <a:spcPts val="0"/>
              </a:spcAft>
            </a:pPr>
            <a:r>
              <a:rPr lang="ko-KR" altLang="en-US" sz="1500" b="1" dirty="0">
                <a:solidFill>
                  <a:srgbClr val="1F2937"/>
                </a:solidFill>
                <a:latin typeface="Arial"/>
                <a:ea typeface="맑은 고딕"/>
                <a:cs typeface="Arial"/>
              </a:rPr>
              <a:t>데이터 </a:t>
            </a:r>
            <a:r>
              <a:rPr lang="ko-KR" altLang="en-US" sz="1000" b="0" dirty="0">
                <a:solidFill>
                  <a:srgbClr val="1F2937"/>
                </a:solidFill>
                <a:latin typeface="Arial"/>
                <a:ea typeface="맑은 고딕"/>
                <a:cs typeface="Arial"/>
              </a:rPr>
              <a:t>Data </a:t>
            </a:r>
            <a:br>
              <a:rPr lang="en-US" altLang="ko-KR" sz="1000" dirty="0">
                <a:solidFill>
                  <a:srgbClr val="1F2937"/>
                </a:solidFill>
                <a:latin typeface="Arial"/>
                <a:ea typeface="맑은 고딕"/>
                <a:cs typeface="Arial"/>
              </a:rPr>
            </a:br>
            <a:r>
              <a:rPr lang="ko-KR" altLang="en-US" sz="900" b="0" dirty="0">
                <a:solidFill>
                  <a:srgbClr val="1F2937"/>
                </a:solidFill>
                <a:latin typeface="Arial"/>
                <a:ea typeface="맑은 고딕"/>
                <a:cs typeface="Arial"/>
              </a:rPr>
              <a:t>실시간 수집 + 사전 구축</a:t>
            </a:r>
          </a:p>
        </p:txBody>
      </p:sp>
      <p:sp>
        <p:nvSpPr>
          <p:cNvPr id="7060" name="Rectangle 67"/>
          <p:cNvSpPr/>
          <p:nvPr/>
        </p:nvSpPr>
        <p:spPr>
          <a:xfrm>
            <a:off x="4343354" y="7285850"/>
            <a:ext cx="1608338" cy="1393893"/>
          </a:xfrm>
          <a:prstGeom prst="rect">
            <a:avLst/>
          </a:prstGeom>
          <a:noFill/>
          <a:ln w="12700">
            <a:solidFill>
              <a:srgbClr val="9CA3AF"/>
            </a:solidFill>
          </a:ln>
        </p:spPr>
        <p:txBody>
          <a:bodyPr rtlCol="0" anchor="ctr"/>
          <a:lstStyle/>
          <a:p>
            <a:pPr algn="ctr"/>
            <a:endParaRPr/>
          </a:p>
        </p:txBody>
      </p:sp>
      <p:sp>
        <p:nvSpPr>
          <p:cNvPr id="7061" name="TextBox 68"/>
          <p:cNvSpPr txBox="1"/>
          <p:nvPr/>
        </p:nvSpPr>
        <p:spPr>
          <a:xfrm>
            <a:off x="4421334" y="7324840"/>
            <a:ext cx="1744803"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1" dirty="0">
                <a:solidFill>
                  <a:srgbClr val="1F2937"/>
                </a:solidFill>
                <a:latin typeface="Arial"/>
                <a:ea typeface="맑은 고딕"/>
                <a:cs typeface="Arial"/>
              </a:rPr>
              <a:t>실시간 수집</a:t>
            </a:r>
          </a:p>
        </p:txBody>
      </p:sp>
      <p:sp>
        <p:nvSpPr>
          <p:cNvPr id="7062" name="Rectangle 69"/>
          <p:cNvSpPr/>
          <p:nvPr/>
        </p:nvSpPr>
        <p:spPr>
          <a:xfrm>
            <a:off x="6097905" y="7285850"/>
            <a:ext cx="8918966" cy="1393893"/>
          </a:xfrm>
          <a:prstGeom prst="rect">
            <a:avLst/>
          </a:prstGeom>
          <a:noFill/>
          <a:ln w="12700">
            <a:solidFill>
              <a:srgbClr val="9CA3AF"/>
            </a:solidFill>
          </a:ln>
        </p:spPr>
        <p:txBody>
          <a:bodyPr rtlCol="0" anchor="ctr"/>
          <a:lstStyle/>
          <a:p>
            <a:pPr algn="ctr"/>
            <a:endParaRPr/>
          </a:p>
        </p:txBody>
      </p:sp>
      <p:sp>
        <p:nvSpPr>
          <p:cNvPr id="7063" name="TextBox 70"/>
          <p:cNvSpPr txBox="1"/>
          <p:nvPr/>
        </p:nvSpPr>
        <p:spPr>
          <a:xfrm>
            <a:off x="6175885" y="7324840"/>
            <a:ext cx="8343863"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1" dirty="0">
                <a:solidFill>
                  <a:srgbClr val="1F2937"/>
                </a:solidFill>
                <a:latin typeface="Arial"/>
                <a:ea typeface="맑은 고딕"/>
                <a:cs typeface="Arial"/>
              </a:rPr>
              <a:t>사전 구축</a:t>
            </a:r>
          </a:p>
        </p:txBody>
      </p:sp>
      <p:sp>
        <p:nvSpPr>
          <p:cNvPr id="7064" name="TextBox 71"/>
          <p:cNvSpPr txBox="1"/>
          <p:nvPr/>
        </p:nvSpPr>
        <p:spPr>
          <a:xfrm>
            <a:off x="7121393" y="7324840"/>
            <a:ext cx="2924251" cy="194950"/>
          </a:xfrm>
          <a:prstGeom prst="rect">
            <a:avLst/>
          </a:prstGeom>
          <a:noFill/>
        </p:spPr>
        <p:txBody>
          <a:bodyPr wrap="square" lIns="0" tIns="0" rIns="0" bIns="0" anchor="ctr">
            <a:noAutofit/>
          </a:bodyPr>
          <a:lstStyle/>
          <a:p>
            <a:pPr algn="l">
              <a:lnSpc>
                <a:spcPts val="1160"/>
              </a:lnSpc>
              <a:spcBef>
                <a:spcPts val="0"/>
              </a:spcBef>
              <a:spcAft>
                <a:spcPts val="0"/>
              </a:spcAft>
            </a:pPr>
            <a:r>
              <a:rPr lang="ko-KR" altLang="en-US" sz="1000" b="0">
                <a:solidFill>
                  <a:srgbClr val="1F2937"/>
                </a:solidFill>
                <a:latin typeface="Arial"/>
                <a:ea typeface="맑은 고딕"/>
                <a:cs typeface="Arial"/>
              </a:rPr>
              <a:t>(운영 전 1회 + 주기 갱신)</a:t>
            </a:r>
          </a:p>
        </p:txBody>
      </p:sp>
      <p:sp>
        <p:nvSpPr>
          <p:cNvPr id="7065" name="Rectangle 72"/>
          <p:cNvSpPr/>
          <p:nvPr/>
        </p:nvSpPr>
        <p:spPr>
          <a:xfrm>
            <a:off x="4421334" y="7539285"/>
            <a:ext cx="1452378"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기상 캐시</a:t>
            </a:r>
          </a:p>
        </p:txBody>
      </p:sp>
      <p:sp>
        <p:nvSpPr>
          <p:cNvPr id="7066" name="Rectangle 73"/>
          <p:cNvSpPr/>
          <p:nvPr/>
        </p:nvSpPr>
        <p:spPr>
          <a:xfrm>
            <a:off x="4421334" y="8182620"/>
            <a:ext cx="1452378"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7067" name="Picture 74" descr="image.png"/>
          <p:cNvPicPr>
            <a:picLocks noChangeAspect="1"/>
          </p:cNvPicPr>
          <p:nvPr/>
        </p:nvPicPr>
        <p:blipFill>
          <a:blip r:embed="rId6"/>
          <a:stretch>
            <a:fillRect/>
          </a:stretch>
        </p:blipFill>
        <p:spPr>
          <a:xfrm>
            <a:off x="4509061" y="8260600"/>
            <a:ext cx="253435" cy="253435"/>
          </a:xfrm>
          <a:prstGeom prst="rect">
            <a:avLst/>
          </a:prstGeom>
        </p:spPr>
      </p:pic>
      <p:sp>
        <p:nvSpPr>
          <p:cNvPr id="7068" name="TextBox 75"/>
          <p:cNvSpPr txBox="1"/>
          <p:nvPr/>
        </p:nvSpPr>
        <p:spPr>
          <a:xfrm>
            <a:off x="4811234" y="8182620"/>
            <a:ext cx="1042983"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기상청 API</a:t>
            </a:r>
          </a:p>
        </p:txBody>
      </p:sp>
      <p:cxnSp>
        <p:nvCxnSpPr>
          <p:cNvPr id="7069" name="Connector 76"/>
          <p:cNvCxnSpPr/>
          <p:nvPr/>
        </p:nvCxnSpPr>
        <p:spPr>
          <a:xfrm flipV="1">
            <a:off x="5152397" y="7948680"/>
            <a:ext cx="0" cy="233940"/>
          </a:xfrm>
          <a:prstGeom prst="line">
            <a:avLst/>
          </a:prstGeom>
          <a:ln w="12700">
            <a:solidFill>
              <a:srgbClr val="9CA3AF"/>
            </a:solidFill>
            <a:prstDash val="dash"/>
            <a:tailEnd type="triangle" w="med" len="med"/>
          </a:ln>
        </p:spPr>
      </p:cxnSp>
      <p:sp>
        <p:nvSpPr>
          <p:cNvPr id="7070" name="Rectangle 77"/>
          <p:cNvSpPr/>
          <p:nvPr/>
        </p:nvSpPr>
        <p:spPr>
          <a:xfrm>
            <a:off x="6214875" y="7539285"/>
            <a:ext cx="2856019"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공간 DB · 파라미터</a:t>
            </a:r>
          </a:p>
        </p:txBody>
      </p:sp>
      <p:sp>
        <p:nvSpPr>
          <p:cNvPr id="7071" name="Rectangle 78"/>
          <p:cNvSpPr/>
          <p:nvPr/>
        </p:nvSpPr>
        <p:spPr>
          <a:xfrm>
            <a:off x="6214875" y="8182620"/>
            <a:ext cx="1413388"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7072" name="Picture 79" descr="v5_Picture_153.png"/>
          <p:cNvPicPr>
            <a:picLocks noChangeAspect="1"/>
          </p:cNvPicPr>
          <p:nvPr/>
        </p:nvPicPr>
        <p:blipFill>
          <a:blip r:embed="rId7"/>
          <a:stretch>
            <a:fillRect/>
          </a:stretch>
        </p:blipFill>
        <p:spPr>
          <a:xfrm>
            <a:off x="6302602" y="8260600"/>
            <a:ext cx="253435" cy="253435"/>
          </a:xfrm>
          <a:prstGeom prst="rect">
            <a:avLst/>
          </a:prstGeom>
        </p:spPr>
      </p:pic>
      <p:sp>
        <p:nvSpPr>
          <p:cNvPr id="7073" name="TextBox 80"/>
          <p:cNvSpPr txBox="1"/>
          <p:nvPr/>
        </p:nvSpPr>
        <p:spPr>
          <a:xfrm>
            <a:off x="6604775" y="8182620"/>
            <a:ext cx="1003993"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공공데이터포털</a:t>
            </a:r>
          </a:p>
        </p:txBody>
      </p:sp>
      <p:cxnSp>
        <p:nvCxnSpPr>
          <p:cNvPr id="7074" name="Connector 81"/>
          <p:cNvCxnSpPr/>
          <p:nvPr/>
        </p:nvCxnSpPr>
        <p:spPr>
          <a:xfrm flipV="1">
            <a:off x="6926443" y="7948680"/>
            <a:ext cx="0" cy="233940"/>
          </a:xfrm>
          <a:prstGeom prst="line">
            <a:avLst/>
          </a:prstGeom>
          <a:ln w="12700">
            <a:solidFill>
              <a:srgbClr val="9CA3AF"/>
            </a:solidFill>
            <a:prstDash val="dash"/>
            <a:tailEnd type="triangle" w="med" len="med"/>
          </a:ln>
        </p:spPr>
      </p:cxnSp>
      <p:sp>
        <p:nvSpPr>
          <p:cNvPr id="7075" name="TextBox 82"/>
          <p:cNvSpPr txBox="1"/>
          <p:nvPr/>
        </p:nvSpPr>
        <p:spPr>
          <a:xfrm>
            <a:off x="6984928" y="7987670"/>
            <a:ext cx="604345" cy="15596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격자 정합</a:t>
            </a:r>
          </a:p>
        </p:txBody>
      </p:sp>
      <p:sp>
        <p:nvSpPr>
          <p:cNvPr id="7076" name="Rectangle 83"/>
          <p:cNvSpPr/>
          <p:nvPr/>
        </p:nvSpPr>
        <p:spPr>
          <a:xfrm>
            <a:off x="9314581" y="7539285"/>
            <a:ext cx="1364651"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진화자원 데이터</a:t>
            </a:r>
          </a:p>
        </p:txBody>
      </p:sp>
      <p:sp>
        <p:nvSpPr>
          <p:cNvPr id="7077" name="TextBox 84"/>
          <p:cNvSpPr txBox="1"/>
          <p:nvPr/>
        </p:nvSpPr>
        <p:spPr>
          <a:xfrm>
            <a:off x="9168369" y="7987670"/>
            <a:ext cx="1657076" cy="155960"/>
          </a:xfrm>
          <a:prstGeom prst="rect">
            <a:avLst/>
          </a:prstGeom>
          <a:noFill/>
        </p:spPr>
        <p:txBody>
          <a:bodyPr wrap="square" lIns="0" tIns="0" rIns="0" bIns="0" anchor="ctr">
            <a:noAutofit/>
          </a:bodyPr>
          <a:lstStyle/>
          <a:p>
            <a:pPr algn="ctr">
              <a:lnSpc>
                <a:spcPts val="1100"/>
              </a:lnSpc>
              <a:spcBef>
                <a:spcPts val="0"/>
              </a:spcBef>
              <a:spcAft>
                <a:spcPts val="0"/>
              </a:spcAft>
            </a:pPr>
            <a:r>
              <a:rPr lang="ko-KR" altLang="en-US" sz="950" b="0">
                <a:solidFill>
                  <a:srgbClr val="1F2937"/>
                </a:solidFill>
                <a:latin typeface="Arial"/>
                <a:ea typeface="맑은 고딕"/>
                <a:cs typeface="Arial"/>
              </a:rPr>
              <a:t>전산 관리자 갱신</a:t>
            </a:r>
          </a:p>
        </p:txBody>
      </p:sp>
      <p:sp>
        <p:nvSpPr>
          <p:cNvPr id="7078" name="Rectangle 85"/>
          <p:cNvSpPr/>
          <p:nvPr/>
        </p:nvSpPr>
        <p:spPr>
          <a:xfrm>
            <a:off x="10922919" y="7539285"/>
            <a:ext cx="2046976"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근거 색인 (KURE-v1 · FAISS)</a:t>
            </a:r>
          </a:p>
        </p:txBody>
      </p:sp>
      <p:sp>
        <p:nvSpPr>
          <p:cNvPr id="7079" name="Rectangle 86"/>
          <p:cNvSpPr/>
          <p:nvPr/>
        </p:nvSpPr>
        <p:spPr>
          <a:xfrm>
            <a:off x="10922919" y="8182620"/>
            <a:ext cx="2046976"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7080" name="Picture 87" descr="image.png"/>
          <p:cNvPicPr>
            <a:picLocks noChangeAspect="1"/>
          </p:cNvPicPr>
          <p:nvPr/>
        </p:nvPicPr>
        <p:blipFill>
          <a:blip r:embed="rId6"/>
          <a:stretch>
            <a:fillRect/>
          </a:stretch>
        </p:blipFill>
        <p:spPr>
          <a:xfrm>
            <a:off x="11010647" y="8260600"/>
            <a:ext cx="253435" cy="253435"/>
          </a:xfrm>
          <a:prstGeom prst="rect">
            <a:avLst/>
          </a:prstGeom>
        </p:spPr>
      </p:pic>
      <p:sp>
        <p:nvSpPr>
          <p:cNvPr id="7081" name="TextBox 88"/>
          <p:cNvSpPr txBox="1"/>
          <p:nvPr/>
        </p:nvSpPr>
        <p:spPr>
          <a:xfrm>
            <a:off x="11312820" y="8182620"/>
            <a:ext cx="1637581"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법령 · 표준매뉴얼 · 예규</a:t>
            </a:r>
          </a:p>
        </p:txBody>
      </p:sp>
      <p:cxnSp>
        <p:nvCxnSpPr>
          <p:cNvPr id="7082" name="Connector 89"/>
          <p:cNvCxnSpPr/>
          <p:nvPr/>
        </p:nvCxnSpPr>
        <p:spPr>
          <a:xfrm flipV="1">
            <a:off x="11946407" y="7948680"/>
            <a:ext cx="0" cy="233940"/>
          </a:xfrm>
          <a:prstGeom prst="line">
            <a:avLst/>
          </a:prstGeom>
          <a:ln w="12700">
            <a:solidFill>
              <a:srgbClr val="9CA3AF"/>
            </a:solidFill>
            <a:prstDash val="dash"/>
            <a:tailEnd type="triangle" w="med" len="med"/>
          </a:ln>
        </p:spPr>
      </p:cxnSp>
      <p:sp>
        <p:nvSpPr>
          <p:cNvPr id="7083" name="TextBox 90"/>
          <p:cNvSpPr txBox="1"/>
          <p:nvPr/>
        </p:nvSpPr>
        <p:spPr>
          <a:xfrm>
            <a:off x="12024387" y="7987670"/>
            <a:ext cx="1169700" cy="15596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청킹 · 임베딩</a:t>
            </a:r>
          </a:p>
        </p:txBody>
      </p:sp>
      <p:sp>
        <p:nvSpPr>
          <p:cNvPr id="7084" name="Rectangle 91"/>
          <p:cNvSpPr/>
          <p:nvPr/>
        </p:nvSpPr>
        <p:spPr>
          <a:xfrm>
            <a:off x="13311058" y="7539285"/>
            <a:ext cx="1608338" cy="409395"/>
          </a:xfrm>
          <a:prstGeom prst="rect">
            <a:avLst/>
          </a:prstGeom>
          <a:solidFill>
            <a:srgbClr val="FFFFFF"/>
          </a:solidFill>
          <a:ln w="15875">
            <a:solidFill>
              <a:srgbClr val="1F2937"/>
            </a:solidFill>
          </a:ln>
        </p:spPr>
        <p:txBody>
          <a:bodyPr wrap="square" lIns="45720" tIns="27432" rIns="45720" bIns="27432" rtlCol="0" anchor="ctr">
            <a:noAutofit/>
          </a:bodyPr>
          <a:lstStyle/>
          <a:p>
            <a:pPr algn="ctr">
              <a:lnSpc>
                <a:spcPts val="1220"/>
              </a:lnSpc>
              <a:spcBef>
                <a:spcPts val="0"/>
              </a:spcBef>
              <a:spcAft>
                <a:spcPts val="0"/>
              </a:spcAft>
            </a:pPr>
            <a:r>
              <a:rPr lang="ko-KR" altLang="en-US" sz="1050" b="1">
                <a:solidFill>
                  <a:srgbClr val="1F2937"/>
                </a:solidFill>
                <a:latin typeface="Arial"/>
                <a:ea typeface="맑은 고딕"/>
                <a:cs typeface="Arial"/>
              </a:rPr>
              <a:t>이벤트 로그</a:t>
            </a:r>
          </a:p>
        </p:txBody>
      </p:sp>
      <p:cxnSp>
        <p:nvCxnSpPr>
          <p:cNvPr id="7085" name="Connector 92"/>
          <p:cNvCxnSpPr>
            <a:cxnSpLocks/>
          </p:cNvCxnSpPr>
          <p:nvPr/>
        </p:nvCxnSpPr>
        <p:spPr>
          <a:xfrm flipV="1">
            <a:off x="5152397" y="5828056"/>
            <a:ext cx="0" cy="1711228"/>
          </a:xfrm>
          <a:prstGeom prst="line">
            <a:avLst/>
          </a:prstGeom>
          <a:ln w="12700">
            <a:solidFill>
              <a:srgbClr val="1F2937"/>
            </a:solidFill>
            <a:prstDash val="dash"/>
            <a:tailEnd type="triangle" w="med" len="med"/>
          </a:ln>
        </p:spPr>
      </p:cxnSp>
      <p:sp>
        <p:nvSpPr>
          <p:cNvPr id="7086" name="TextBox 93"/>
          <p:cNvSpPr txBox="1"/>
          <p:nvPr/>
        </p:nvSpPr>
        <p:spPr>
          <a:xfrm>
            <a:off x="5230377" y="7071405"/>
            <a:ext cx="19495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dirty="0">
                <a:solidFill>
                  <a:srgbClr val="1F2937"/>
                </a:solidFill>
                <a:latin typeface="Arial"/>
                <a:ea typeface="맑은 고딕"/>
                <a:cs typeface="Arial"/>
              </a:rPr>
              <a:t>기상(단기예보)</a:t>
            </a:r>
          </a:p>
        </p:txBody>
      </p:sp>
      <p:cxnSp>
        <p:nvCxnSpPr>
          <p:cNvPr id="7087" name="Connector 94"/>
          <p:cNvCxnSpPr>
            <a:cxnSpLocks/>
          </p:cNvCxnSpPr>
          <p:nvPr/>
        </p:nvCxnSpPr>
        <p:spPr>
          <a:xfrm flipV="1">
            <a:off x="7462556" y="5828056"/>
            <a:ext cx="0" cy="1711228"/>
          </a:xfrm>
          <a:prstGeom prst="line">
            <a:avLst/>
          </a:prstGeom>
          <a:ln w="12700">
            <a:solidFill>
              <a:srgbClr val="1F2937"/>
            </a:solidFill>
            <a:prstDash val="dash"/>
            <a:tailEnd type="triangle" w="med" len="med"/>
          </a:ln>
        </p:spPr>
      </p:cxnSp>
      <p:sp>
        <p:nvSpPr>
          <p:cNvPr id="7088" name="TextBox 95"/>
          <p:cNvSpPr txBox="1"/>
          <p:nvPr/>
        </p:nvSpPr>
        <p:spPr>
          <a:xfrm>
            <a:off x="7540536" y="7071405"/>
            <a:ext cx="19495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격자 · 연료 계수</a:t>
            </a:r>
          </a:p>
        </p:txBody>
      </p:sp>
      <p:cxnSp>
        <p:nvCxnSpPr>
          <p:cNvPr id="7089" name="Connector 96"/>
          <p:cNvCxnSpPr>
            <a:cxnSpLocks/>
          </p:cNvCxnSpPr>
          <p:nvPr/>
        </p:nvCxnSpPr>
        <p:spPr>
          <a:xfrm flipV="1">
            <a:off x="9996907" y="5828056"/>
            <a:ext cx="0" cy="1711228"/>
          </a:xfrm>
          <a:prstGeom prst="line">
            <a:avLst/>
          </a:prstGeom>
          <a:ln w="12700">
            <a:solidFill>
              <a:srgbClr val="1F2937"/>
            </a:solidFill>
            <a:prstDash val="dash"/>
            <a:tailEnd type="triangle" w="med" len="med"/>
          </a:ln>
        </p:spPr>
      </p:cxnSp>
      <p:sp>
        <p:nvSpPr>
          <p:cNvPr id="7090" name="TextBox 97"/>
          <p:cNvSpPr txBox="1"/>
          <p:nvPr/>
        </p:nvSpPr>
        <p:spPr>
          <a:xfrm>
            <a:off x="10074887" y="7071405"/>
            <a:ext cx="1803288"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시설 · 행정경계 · 자원</a:t>
            </a:r>
          </a:p>
        </p:txBody>
      </p:sp>
      <p:cxnSp>
        <p:nvCxnSpPr>
          <p:cNvPr id="7091" name="Connector 98"/>
          <p:cNvCxnSpPr>
            <a:cxnSpLocks/>
          </p:cNvCxnSpPr>
          <p:nvPr/>
        </p:nvCxnSpPr>
        <p:spPr>
          <a:xfrm flipV="1">
            <a:off x="11946407" y="6934940"/>
            <a:ext cx="0" cy="604345"/>
          </a:xfrm>
          <a:prstGeom prst="line">
            <a:avLst/>
          </a:prstGeom>
          <a:ln w="12700">
            <a:solidFill>
              <a:srgbClr val="1F2937"/>
            </a:solidFill>
            <a:prstDash val="dash"/>
            <a:tailEnd type="triangle" w="med" len="med"/>
          </a:ln>
        </p:spPr>
      </p:cxnSp>
      <p:sp>
        <p:nvSpPr>
          <p:cNvPr id="7092" name="TextBox 99"/>
          <p:cNvSpPr txBox="1"/>
          <p:nvPr/>
        </p:nvSpPr>
        <p:spPr>
          <a:xfrm>
            <a:off x="12024387" y="7071405"/>
            <a:ext cx="1949501"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근거 청크 → 에이전트 2개</a:t>
            </a:r>
          </a:p>
        </p:txBody>
      </p:sp>
      <p:cxnSp>
        <p:nvCxnSpPr>
          <p:cNvPr id="7093" name="Connector 100"/>
          <p:cNvCxnSpPr>
            <a:cxnSpLocks/>
          </p:cNvCxnSpPr>
          <p:nvPr/>
        </p:nvCxnSpPr>
        <p:spPr>
          <a:xfrm>
            <a:off x="13615667" y="6819865"/>
            <a:ext cx="0" cy="719420"/>
          </a:xfrm>
          <a:prstGeom prst="line">
            <a:avLst/>
          </a:prstGeom>
          <a:ln w="12700">
            <a:solidFill>
              <a:srgbClr val="1F2937"/>
            </a:solidFill>
            <a:prstDash val="dash"/>
            <a:tailEnd type="triangle" w="med" len="med"/>
          </a:ln>
        </p:spPr>
      </p:cxnSp>
      <p:sp>
        <p:nvSpPr>
          <p:cNvPr id="7094" name="TextBox 101"/>
          <p:cNvSpPr txBox="1"/>
          <p:nvPr/>
        </p:nvSpPr>
        <p:spPr>
          <a:xfrm>
            <a:off x="13693647" y="7071405"/>
            <a:ext cx="779800" cy="175455"/>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a:solidFill>
                  <a:srgbClr val="1F2937"/>
                </a:solidFill>
                <a:latin typeface="Arial"/>
                <a:ea typeface="맑은 고딕"/>
                <a:cs typeface="Arial"/>
              </a:rPr>
              <a:t>정정 저장</a:t>
            </a:r>
          </a:p>
        </p:txBody>
      </p:sp>
      <p:sp>
        <p:nvSpPr>
          <p:cNvPr id="7095" name="Freeform 102"/>
          <p:cNvSpPr/>
          <p:nvPr/>
        </p:nvSpPr>
        <p:spPr>
          <a:xfrm>
            <a:off x="14919396" y="5365050"/>
            <a:ext cx="370405" cy="2324780"/>
          </a:xfrm>
          <a:custGeom>
            <a:avLst/>
            <a:gdLst/>
            <a:ahLst/>
            <a:cxnLst/>
            <a:rect l="l" t="t" r="r" b="b"/>
            <a:pathLst>
              <a:path w="347472" h="2180844">
                <a:moveTo>
                  <a:pt x="182880" y="0"/>
                </a:moveTo>
                <a:lnTo>
                  <a:pt x="347472" y="0"/>
                </a:lnTo>
                <a:lnTo>
                  <a:pt x="347472" y="2180844"/>
                </a:lnTo>
                <a:lnTo>
                  <a:pt x="0" y="2180844"/>
                </a:lnTo>
              </a:path>
            </a:pathLst>
          </a:custGeom>
          <a:noFill/>
          <a:ln w="12700">
            <a:solidFill>
              <a:srgbClr val="1F2937"/>
            </a:solidFill>
            <a:prstDash val="dash"/>
            <a:headEnd type="triangle" w="med" len="med"/>
            <a:tailEnd type="triangle" w="med" len="med"/>
          </a:ln>
        </p:spPr>
        <p:txBody>
          <a:bodyPr rtlCol="0" anchor="ctr"/>
          <a:lstStyle/>
          <a:p>
            <a:pPr algn="ctr"/>
            <a:endParaRPr/>
          </a:p>
        </p:txBody>
      </p:sp>
      <p:sp>
        <p:nvSpPr>
          <p:cNvPr id="7096" name="TextBox 103"/>
          <p:cNvSpPr txBox="1"/>
          <p:nvPr/>
        </p:nvSpPr>
        <p:spPr>
          <a:xfrm>
            <a:off x="14587981" y="7071405"/>
            <a:ext cx="643335" cy="175455"/>
          </a:xfrm>
          <a:prstGeom prst="rect">
            <a:avLst/>
          </a:prstGeom>
          <a:noFill/>
        </p:spPr>
        <p:txBody>
          <a:bodyPr wrap="square" lIns="0" tIns="0" rIns="0" bIns="0" anchor="ctr">
            <a:noAutofit/>
          </a:bodyPr>
          <a:lstStyle/>
          <a:p>
            <a:pPr algn="r">
              <a:lnSpc>
                <a:spcPts val="1100"/>
              </a:lnSpc>
              <a:spcBef>
                <a:spcPts val="0"/>
              </a:spcBef>
              <a:spcAft>
                <a:spcPts val="0"/>
              </a:spcAft>
            </a:pPr>
            <a:r>
              <a:rPr lang="ko-KR" altLang="en-US" sz="950">
                <a:solidFill>
                  <a:srgbClr val="1F2937"/>
                </a:solidFill>
                <a:latin typeface="Arial"/>
                <a:ea typeface="맑은 고딕"/>
                <a:cs typeface="Arial"/>
              </a:rPr>
              <a:t>이력 기록</a:t>
            </a:r>
          </a:p>
        </p:txBody>
      </p:sp>
      <p:sp>
        <p:nvSpPr>
          <p:cNvPr id="7097" name="TextBox 104"/>
          <p:cNvSpPr txBox="1"/>
          <p:nvPr/>
        </p:nvSpPr>
        <p:spPr>
          <a:xfrm>
            <a:off x="4343354" y="8874151"/>
            <a:ext cx="487375" cy="194950"/>
          </a:xfrm>
          <a:prstGeom prst="rect">
            <a:avLst/>
          </a:prstGeom>
          <a:noFill/>
        </p:spPr>
        <p:txBody>
          <a:bodyPr wrap="squar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범례</a:t>
            </a:r>
          </a:p>
        </p:txBody>
      </p:sp>
      <p:cxnSp>
        <p:nvCxnSpPr>
          <p:cNvPr id="7098" name="Connector 105"/>
          <p:cNvCxnSpPr/>
          <p:nvPr/>
        </p:nvCxnSpPr>
        <p:spPr>
          <a:xfrm>
            <a:off x="4879467" y="8971626"/>
            <a:ext cx="487375" cy="0"/>
          </a:xfrm>
          <a:prstGeom prst="line">
            <a:avLst/>
          </a:prstGeom>
          <a:ln w="22225">
            <a:solidFill>
              <a:srgbClr val="1F2937"/>
            </a:solidFill>
            <a:tailEnd type="triangle" w="med" len="med"/>
          </a:ln>
        </p:spPr>
      </p:cxnSp>
      <p:sp>
        <p:nvSpPr>
          <p:cNvPr id="7099" name="Oval 106"/>
          <p:cNvSpPr/>
          <p:nvPr/>
        </p:nvSpPr>
        <p:spPr>
          <a:xfrm>
            <a:off x="4976942" y="8874151"/>
            <a:ext cx="194950" cy="194950"/>
          </a:xfrm>
          <a:prstGeom prst="ellipse">
            <a:avLst/>
          </a:prstGeom>
          <a:solidFill>
            <a:srgbClr val="1F2937"/>
          </a:solidFill>
          <a:ln>
            <a:noFill/>
          </a:ln>
        </p:spPr>
        <p:txBody>
          <a:bodyPr wrap="square" lIns="0" tIns="0" rIns="0" bIns="0" rtlCol="0" anchor="ctr">
            <a:noAutofit/>
          </a:bodyPr>
          <a:lstStyle/>
          <a:p>
            <a:pPr algn="ctr">
              <a:lnSpc>
                <a:spcPts val="980"/>
              </a:lnSpc>
              <a:spcBef>
                <a:spcPts val="0"/>
              </a:spcBef>
              <a:spcAft>
                <a:spcPts val="0"/>
              </a:spcAft>
            </a:pPr>
            <a:r>
              <a:rPr lang="ko-KR" altLang="en-US" sz="850" b="1">
                <a:solidFill>
                  <a:srgbClr val="FFFFFF"/>
                </a:solidFill>
                <a:latin typeface="Arial"/>
                <a:ea typeface="맑은 고딕"/>
                <a:cs typeface="Arial"/>
              </a:rPr>
              <a:t>n</a:t>
            </a:r>
          </a:p>
        </p:txBody>
      </p:sp>
      <p:sp>
        <p:nvSpPr>
          <p:cNvPr id="7100" name="TextBox 107"/>
          <p:cNvSpPr txBox="1"/>
          <p:nvPr/>
        </p:nvSpPr>
        <p:spPr>
          <a:xfrm>
            <a:off x="5444822"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요청·응답</a:t>
            </a:r>
          </a:p>
        </p:txBody>
      </p:sp>
      <p:cxnSp>
        <p:nvCxnSpPr>
          <p:cNvPr id="7101" name="Connector 108"/>
          <p:cNvCxnSpPr/>
          <p:nvPr/>
        </p:nvCxnSpPr>
        <p:spPr>
          <a:xfrm>
            <a:off x="6341593" y="8971626"/>
            <a:ext cx="487375" cy="0"/>
          </a:xfrm>
          <a:prstGeom prst="line">
            <a:avLst/>
          </a:prstGeom>
          <a:ln w="12700">
            <a:solidFill>
              <a:srgbClr val="1F2937"/>
            </a:solidFill>
            <a:prstDash val="dash"/>
            <a:tailEnd type="triangle" w="med" len="med"/>
          </a:ln>
        </p:spPr>
      </p:cxnSp>
      <p:sp>
        <p:nvSpPr>
          <p:cNvPr id="7102" name="TextBox 109"/>
          <p:cNvSpPr txBox="1"/>
          <p:nvPr/>
        </p:nvSpPr>
        <p:spPr>
          <a:xfrm>
            <a:off x="6906948"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데이터 조회</a:t>
            </a:r>
          </a:p>
        </p:txBody>
      </p:sp>
      <p:cxnSp>
        <p:nvCxnSpPr>
          <p:cNvPr id="7103" name="Connector 110"/>
          <p:cNvCxnSpPr/>
          <p:nvPr/>
        </p:nvCxnSpPr>
        <p:spPr>
          <a:xfrm>
            <a:off x="7852456" y="8971626"/>
            <a:ext cx="487375" cy="0"/>
          </a:xfrm>
          <a:prstGeom prst="line">
            <a:avLst/>
          </a:prstGeom>
          <a:ln w="12700">
            <a:solidFill>
              <a:srgbClr val="9CA3AF"/>
            </a:solidFill>
            <a:prstDash val="dash"/>
            <a:tailEnd type="triangle" w="med" len="med"/>
          </a:ln>
        </p:spPr>
      </p:cxnSp>
      <p:sp>
        <p:nvSpPr>
          <p:cNvPr id="7104" name="TextBox 111"/>
          <p:cNvSpPr txBox="1"/>
          <p:nvPr/>
        </p:nvSpPr>
        <p:spPr>
          <a:xfrm>
            <a:off x="8417811"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수집·구축</a:t>
            </a:r>
          </a:p>
        </p:txBody>
      </p:sp>
      <p:sp>
        <p:nvSpPr>
          <p:cNvPr id="7105" name="Rectangle 112"/>
          <p:cNvSpPr/>
          <p:nvPr/>
        </p:nvSpPr>
        <p:spPr>
          <a:xfrm>
            <a:off x="9265844" y="8893646"/>
            <a:ext cx="487375" cy="155960"/>
          </a:xfrm>
          <a:prstGeom prst="rect">
            <a:avLst/>
          </a:prstGeom>
          <a:solidFill>
            <a:srgbClr val="FFFFFF"/>
          </a:solidFill>
          <a:ln w="15875">
            <a:solidFill>
              <a:srgbClr val="9CA3AF"/>
            </a:solidFill>
            <a:prstDash val="dash"/>
          </a:ln>
        </p:spPr>
        <p:txBody>
          <a:bodyPr rtlCol="0" anchor="ctr"/>
          <a:lstStyle/>
          <a:p>
            <a:pPr algn="ctr"/>
            <a:endParaRPr/>
          </a:p>
        </p:txBody>
      </p:sp>
      <p:sp>
        <p:nvSpPr>
          <p:cNvPr id="7106" name="TextBox 113"/>
          <p:cNvSpPr txBox="1"/>
          <p:nvPr/>
        </p:nvSpPr>
        <p:spPr>
          <a:xfrm>
            <a:off x="9831199" y="8874151"/>
            <a:ext cx="877275"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외부 원천</a:t>
            </a:r>
          </a:p>
        </p:txBody>
      </p:sp>
      <p:sp>
        <p:nvSpPr>
          <p:cNvPr id="7107" name="TextBox 114"/>
          <p:cNvSpPr txBox="1"/>
          <p:nvPr/>
        </p:nvSpPr>
        <p:spPr>
          <a:xfrm>
            <a:off x="10679232" y="8874151"/>
            <a:ext cx="1754551" cy="19495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굵은 선 제안서 흐름</a:t>
            </a:r>
          </a:p>
        </p:txBody>
      </p:sp>
      <p:pic>
        <p:nvPicPr>
          <p:cNvPr id="7108" name="Picture 115" descr="image.png"/>
          <p:cNvPicPr>
            <a:picLocks noChangeAspect="1"/>
          </p:cNvPicPr>
          <p:nvPr/>
        </p:nvPicPr>
        <p:blipFill>
          <a:blip r:embed="rId8"/>
          <a:stretch>
            <a:fillRect/>
          </a:stretch>
        </p:blipFill>
        <p:spPr>
          <a:xfrm>
            <a:off x="14685456" y="8757181"/>
            <a:ext cx="428890" cy="428890"/>
          </a:xfrm>
          <a:prstGeom prst="rect">
            <a:avLst/>
          </a:prstGeom>
        </p:spPr>
      </p:pic>
      <p:sp>
        <p:nvSpPr>
          <p:cNvPr id="7109" name="TextBox 116"/>
          <p:cNvSpPr txBox="1"/>
          <p:nvPr/>
        </p:nvSpPr>
        <p:spPr>
          <a:xfrm>
            <a:off x="12677470" y="8874151"/>
            <a:ext cx="1949501" cy="194950"/>
          </a:xfrm>
          <a:prstGeom prst="rect">
            <a:avLst/>
          </a:prstGeom>
          <a:noFill/>
        </p:spPr>
        <p:txBody>
          <a:bodyPr wrap="square" lIns="0" tIns="0" rIns="0" bIns="0" anchor="ctr">
            <a:noAutofit/>
          </a:bodyPr>
          <a:lstStyle/>
          <a:p>
            <a:pPr algn="r">
              <a:lnSpc>
                <a:spcPts val="980"/>
              </a:lnSpc>
              <a:spcBef>
                <a:spcPts val="0"/>
              </a:spcBef>
              <a:spcAft>
                <a:spcPts val="0"/>
              </a:spcAft>
            </a:pPr>
            <a:r>
              <a:rPr lang="ko-KR" altLang="en-US" sz="850" b="0">
                <a:solidFill>
                  <a:srgbClr val="1F2937"/>
                </a:solidFill>
                <a:latin typeface="Arial"/>
                <a:ea typeface="맑은 고딕"/>
                <a:cs typeface="Arial"/>
              </a:rPr>
              <a:t>WILDFIRE RESPONSE AI</a:t>
            </a:r>
          </a:p>
        </p:txBody>
      </p:sp>
      <p:sp>
        <p:nvSpPr>
          <p:cNvPr id="7110" name="Rectangle 20">
            <a:extLst>
              <a:ext uri="{FF2B5EF4-FFF2-40B4-BE49-F238E27FC236}">
                <a16:creationId xmlns:a16="http://schemas.microsoft.com/office/drawing/2014/main" id="{DCF286CC-37EB-24FE-7005-F0CB3FAC0EE2}"/>
              </a:ext>
            </a:extLst>
          </p:cNvPr>
          <p:cNvSpPr/>
          <p:nvPr/>
        </p:nvSpPr>
        <p:spPr>
          <a:xfrm>
            <a:off x="10248717" y="3009403"/>
            <a:ext cx="1544167" cy="740810"/>
          </a:xfrm>
          <a:prstGeom prst="rect">
            <a:avLst/>
          </a:prstGeom>
          <a:solidFill>
            <a:srgbClr val="FFFFFF"/>
          </a:solidFill>
          <a:ln w="15875">
            <a:solidFill>
              <a:srgbClr val="1F2937"/>
            </a:solidFill>
          </a:ln>
        </p:spPr>
        <p:txBody>
          <a:bodyPr rtlCol="0" anchor="ctr"/>
          <a:lstStyle/>
          <a:p>
            <a:pPr algn="ctr"/>
            <a:endParaRPr/>
          </a:p>
        </p:txBody>
      </p:sp>
      <p:sp>
        <p:nvSpPr>
          <p:cNvPr id="7111" name="Rectangle 20">
            <a:extLst>
              <a:ext uri="{FF2B5EF4-FFF2-40B4-BE49-F238E27FC236}">
                <a16:creationId xmlns:a16="http://schemas.microsoft.com/office/drawing/2014/main" id="{4E81619E-0F0F-A5CA-9994-A1C28F9CDC6A}"/>
              </a:ext>
            </a:extLst>
          </p:cNvPr>
          <p:cNvSpPr/>
          <p:nvPr/>
        </p:nvSpPr>
        <p:spPr>
          <a:xfrm>
            <a:off x="11886298" y="3003717"/>
            <a:ext cx="1544167" cy="740810"/>
          </a:xfrm>
          <a:prstGeom prst="rect">
            <a:avLst/>
          </a:prstGeom>
          <a:solidFill>
            <a:srgbClr val="FFFFFF"/>
          </a:solidFill>
          <a:ln w="15875">
            <a:solidFill>
              <a:srgbClr val="1F2937"/>
            </a:solidFill>
          </a:ln>
        </p:spPr>
        <p:txBody>
          <a:bodyPr rtlCol="0" anchor="ctr"/>
          <a:lstStyle/>
          <a:p>
            <a:pPr algn="ctr"/>
            <a:endParaRPr/>
          </a:p>
        </p:txBody>
      </p:sp>
      <p:sp>
        <p:nvSpPr>
          <p:cNvPr id="7112" name="Rectangle 20">
            <a:extLst>
              <a:ext uri="{FF2B5EF4-FFF2-40B4-BE49-F238E27FC236}">
                <a16:creationId xmlns:a16="http://schemas.microsoft.com/office/drawing/2014/main" id="{DC64922A-3AE5-FDB9-59E6-DBD13F65A87E}"/>
              </a:ext>
            </a:extLst>
          </p:cNvPr>
          <p:cNvSpPr/>
          <p:nvPr/>
        </p:nvSpPr>
        <p:spPr>
          <a:xfrm>
            <a:off x="13519275" y="3004529"/>
            <a:ext cx="1544167" cy="740810"/>
          </a:xfrm>
          <a:prstGeom prst="rect">
            <a:avLst/>
          </a:prstGeom>
          <a:solidFill>
            <a:srgbClr val="FFFFFF"/>
          </a:solidFill>
          <a:ln w="15875">
            <a:solidFill>
              <a:srgbClr val="1F2937"/>
            </a:solidFill>
          </a:ln>
        </p:spPr>
        <p:txBody>
          <a:bodyPr rtlCol="0" anchor="ctr"/>
          <a:lstStyle/>
          <a:p>
            <a:pPr algn="ctr"/>
            <a:endParaRPr/>
          </a:p>
        </p:txBody>
      </p:sp>
      <p:sp>
        <p:nvSpPr>
          <p:cNvPr id="7113" name="TextBox 19"/>
          <p:cNvSpPr txBox="1"/>
          <p:nvPr/>
        </p:nvSpPr>
        <p:spPr>
          <a:xfrm>
            <a:off x="10237345" y="3015631"/>
            <a:ext cx="1559601" cy="740810"/>
          </a:xfrm>
          <a:prstGeom prst="rect">
            <a:avLst/>
          </a:prstGeom>
          <a:noFill/>
        </p:spPr>
        <p:txBody>
          <a:bodyPr wrap="square" lIns="36576" tIns="0" rIns="36576" bIns="0" anchor="ctr">
            <a:noAutofit/>
          </a:bodyPr>
          <a:lstStyle/>
          <a:p>
            <a:pPr algn="ctr">
              <a:lnSpc>
                <a:spcPts val="1340"/>
              </a:lnSpc>
              <a:spcBef>
                <a:spcPts val="0"/>
              </a:spcBef>
              <a:spcAft>
                <a:spcPts val="0"/>
              </a:spcAft>
            </a:pPr>
            <a:r>
              <a:rPr lang="ko-KR" altLang="en-US" sz="1150" b="1" dirty="0">
                <a:solidFill>
                  <a:srgbClr val="1F2937"/>
                </a:solidFill>
                <a:latin typeface="Arial"/>
                <a:ea typeface="맑은 고딕"/>
                <a:cs typeface="Arial"/>
              </a:rPr>
              <a:t>확산 </a:t>
            </a:r>
            <a:r>
              <a:rPr lang="ko-KR" altLang="en-US" sz="1150" b="1" dirty="0" err="1">
                <a:solidFill>
                  <a:srgbClr val="1F2937"/>
                </a:solidFill>
                <a:latin typeface="Arial"/>
                <a:ea typeface="맑은 고딕"/>
                <a:cs typeface="Arial"/>
              </a:rPr>
              <a:t>폴리곤</a:t>
            </a:r>
            <a:r>
              <a:rPr lang="ko-KR" altLang="en-US" sz="1150" b="1" dirty="0">
                <a:solidFill>
                  <a:srgbClr val="1F2937"/>
                </a:solidFill>
                <a:latin typeface="Arial"/>
                <a:ea typeface="맑은 고딕"/>
                <a:cs typeface="Arial"/>
              </a:rPr>
              <a:t> · 위험도</a:t>
            </a:r>
          </a:p>
        </p:txBody>
      </p:sp>
      <p:sp>
        <p:nvSpPr>
          <p:cNvPr id="7114" name="TextBox 21"/>
          <p:cNvSpPr txBox="1"/>
          <p:nvPr/>
        </p:nvSpPr>
        <p:spPr>
          <a:xfrm>
            <a:off x="11886298" y="3009403"/>
            <a:ext cx="1544167" cy="740810"/>
          </a:xfrm>
          <a:prstGeom prst="rect">
            <a:avLst/>
          </a:prstGeom>
          <a:noFill/>
        </p:spPr>
        <p:txBody>
          <a:bodyPr wrap="square" lIns="36576" tIns="0" rIns="36576" bIns="0" anchor="ctr">
            <a:noAutofit/>
          </a:bodyPr>
          <a:lstStyle/>
          <a:p>
            <a:pPr algn="ctr">
              <a:lnSpc>
                <a:spcPts val="1340"/>
              </a:lnSpc>
              <a:spcBef>
                <a:spcPts val="0"/>
              </a:spcBef>
              <a:spcAft>
                <a:spcPts val="0"/>
              </a:spcAft>
            </a:pPr>
            <a:r>
              <a:rPr lang="ko-KR" altLang="en-US" sz="1150" b="1" dirty="0">
                <a:solidFill>
                  <a:srgbClr val="1F2937"/>
                </a:solidFill>
                <a:latin typeface="Arial"/>
                <a:ea typeface="맑은 고딕"/>
                <a:cs typeface="Arial"/>
              </a:rPr>
              <a:t>출력 </a:t>
            </a:r>
            <a:r>
              <a:rPr lang="ko-KR" altLang="en-US" sz="1150" b="1" dirty="0" err="1">
                <a:solidFill>
                  <a:srgbClr val="1F2937"/>
                </a:solidFill>
                <a:latin typeface="Arial"/>
                <a:ea typeface="맑은 고딕"/>
                <a:cs typeface="Arial"/>
              </a:rPr>
              <a:t>A</a:t>
            </a:r>
            <a:r>
              <a:rPr lang="ko-KR" altLang="en-US" sz="1150" b="1" dirty="0">
                <a:solidFill>
                  <a:srgbClr val="1F2937"/>
                </a:solidFill>
                <a:latin typeface="Arial"/>
                <a:ea typeface="맑은 고딕"/>
                <a:cs typeface="Arial"/>
              </a:rPr>
              <a:t>  대응 제안서</a:t>
            </a:r>
          </a:p>
        </p:txBody>
      </p:sp>
      <p:sp>
        <p:nvSpPr>
          <p:cNvPr id="7115" name="TextBox 24"/>
          <p:cNvSpPr txBox="1"/>
          <p:nvPr/>
        </p:nvSpPr>
        <p:spPr>
          <a:xfrm>
            <a:off x="13543644" y="3014548"/>
            <a:ext cx="1519798" cy="740810"/>
          </a:xfrm>
          <a:prstGeom prst="rect">
            <a:avLst/>
          </a:prstGeom>
          <a:noFill/>
        </p:spPr>
        <p:txBody>
          <a:bodyPr wrap="square" lIns="36576" tIns="0" rIns="36576" bIns="0" anchor="ctr">
            <a:noAutofit/>
          </a:bodyPr>
          <a:lstStyle/>
          <a:p>
            <a:pPr algn="ctr">
              <a:lnSpc>
                <a:spcPts val="1340"/>
              </a:lnSpc>
              <a:spcBef>
                <a:spcPts val="0"/>
              </a:spcBef>
              <a:spcAft>
                <a:spcPts val="0"/>
              </a:spcAft>
            </a:pPr>
            <a:r>
              <a:rPr lang="ko-KR" altLang="en-US" sz="1150" b="1" dirty="0">
                <a:solidFill>
                  <a:srgbClr val="1F2937"/>
                </a:solidFill>
                <a:latin typeface="Arial"/>
                <a:ea typeface="맑은 고딕"/>
                <a:cs typeface="Arial"/>
              </a:rPr>
              <a:t>출력 </a:t>
            </a:r>
            <a:r>
              <a:rPr lang="ko-KR" altLang="en-US" sz="1150" b="1" dirty="0" err="1">
                <a:solidFill>
                  <a:srgbClr val="1F2937"/>
                </a:solidFill>
                <a:latin typeface="Arial"/>
                <a:ea typeface="맑은 고딕"/>
                <a:cs typeface="Arial"/>
              </a:rPr>
              <a:t>B</a:t>
            </a:r>
            <a:r>
              <a:rPr lang="ko-KR" altLang="en-US" sz="1150" b="1" dirty="0">
                <a:solidFill>
                  <a:srgbClr val="1F2937"/>
                </a:solidFill>
                <a:latin typeface="Arial"/>
                <a:ea typeface="맑은 고딕"/>
                <a:cs typeface="Arial"/>
              </a:rPr>
              <a:t>  AI 답변</a:t>
            </a:r>
          </a:p>
        </p:txBody>
      </p:sp>
      <p:sp>
        <p:nvSpPr>
          <p:cNvPr id="7116" name="Rectangle AIHub"/>
          <p:cNvSpPr/>
          <p:nvPr/>
        </p:nvSpPr>
        <p:spPr>
          <a:xfrm>
            <a:off x="7725738" y="8186952"/>
            <a:ext cx="1345156" cy="409395"/>
          </a:xfrm>
          <a:prstGeom prst="rect">
            <a:avLst/>
          </a:prstGeom>
          <a:solidFill>
            <a:srgbClr val="FFFFFF"/>
          </a:solidFill>
          <a:ln w="15875">
            <a:solidFill>
              <a:srgbClr val="9CA3AF"/>
            </a:solidFill>
            <a:prstDash val="dash"/>
          </a:ln>
        </p:spPr>
        <p:txBody>
          <a:bodyPr rtlCol="0" anchor="ctr"/>
          <a:lstStyle/>
          <a:p>
            <a:pPr algn="ctr"/>
            <a:endParaRPr/>
          </a:p>
        </p:txBody>
      </p:sp>
      <p:pic>
        <p:nvPicPr>
          <p:cNvPr id="7117" name="Picture AIHub" descr="aihub_crop.png"/>
          <p:cNvPicPr>
            <a:picLocks noChangeAspect="1"/>
          </p:cNvPicPr>
          <p:nvPr/>
        </p:nvPicPr>
        <p:blipFill>
          <a:blip r:embed="rId9"/>
          <a:stretch>
            <a:fillRect/>
          </a:stretch>
        </p:blipFill>
        <p:spPr>
          <a:xfrm>
            <a:off x="7803718" y="8321792"/>
            <a:ext cx="487375" cy="139714"/>
          </a:xfrm>
          <a:prstGeom prst="rect">
            <a:avLst/>
          </a:prstGeom>
        </p:spPr>
      </p:pic>
      <p:sp>
        <p:nvSpPr>
          <p:cNvPr id="7118" name="TextBox AIHub"/>
          <p:cNvSpPr txBox="1"/>
          <p:nvPr/>
        </p:nvSpPr>
        <p:spPr>
          <a:xfrm>
            <a:off x="8310588" y="8186952"/>
            <a:ext cx="740810" cy="409395"/>
          </a:xfrm>
          <a:prstGeom prst="rect">
            <a:avLst/>
          </a:prstGeom>
          <a:noFill/>
        </p:spPr>
        <p:txBody>
          <a:bodyPr wrap="none" lIns="0" tIns="0" rIns="0" bIns="0" anchor="ctr">
            <a:noAutofit/>
          </a:bodyPr>
          <a:lstStyle/>
          <a:p>
            <a:pPr algn="l">
              <a:lnSpc>
                <a:spcPts val="1220"/>
              </a:lnSpc>
              <a:spcBef>
                <a:spcPts val="0"/>
              </a:spcBef>
              <a:spcAft>
                <a:spcPts val="0"/>
              </a:spcAft>
            </a:pPr>
            <a:r>
              <a:rPr lang="ko-KR" altLang="en-US" sz="1050" b="1">
                <a:solidFill>
                  <a:srgbClr val="1F2937"/>
                </a:solidFill>
                <a:latin typeface="Arial"/>
                <a:ea typeface="맑은 고딕"/>
                <a:cs typeface="Arial"/>
              </a:rPr>
              <a:t>소실 경계</a:t>
            </a:r>
          </a:p>
        </p:txBody>
      </p:sp>
      <p:cxnSp>
        <p:nvCxnSpPr>
          <p:cNvPr id="7119" name="Connector AIHub"/>
          <p:cNvCxnSpPr/>
          <p:nvPr/>
        </p:nvCxnSpPr>
        <p:spPr>
          <a:xfrm flipV="1">
            <a:off x="8398316" y="7953012"/>
            <a:ext cx="0" cy="233940"/>
          </a:xfrm>
          <a:prstGeom prst="line">
            <a:avLst/>
          </a:prstGeom>
          <a:ln w="12700">
            <a:solidFill>
              <a:srgbClr val="9CA3AF"/>
            </a:solidFill>
            <a:prstDash val="dash"/>
            <a:tailEnd type="triangle" w="med" len="med"/>
          </a:ln>
        </p:spPr>
      </p:cxnSp>
      <p:sp>
        <p:nvSpPr>
          <p:cNvPr id="7120" name="TextBox AIHub2"/>
          <p:cNvSpPr txBox="1"/>
          <p:nvPr/>
        </p:nvSpPr>
        <p:spPr>
          <a:xfrm>
            <a:off x="8456801" y="7992002"/>
            <a:ext cx="604345" cy="155960"/>
          </a:xfrm>
          <a:prstGeom prst="rect">
            <a:avLst/>
          </a:prstGeom>
          <a:noFill/>
        </p:spPr>
        <p:txBody>
          <a:bodyPr wrap="square" lIns="0" tIns="0" rIns="0" bIns="0" anchor="ctr">
            <a:noAutofit/>
          </a:bodyPr>
          <a:lstStyle/>
          <a:p>
            <a:pPr algn="l">
              <a:lnSpc>
                <a:spcPts val="1100"/>
              </a:lnSpc>
              <a:spcBef>
                <a:spcPts val="0"/>
              </a:spcBef>
              <a:spcAft>
                <a:spcPts val="0"/>
              </a:spcAft>
            </a:pPr>
            <a:r>
              <a:rPr lang="ko-KR" altLang="en-US" sz="950" b="0">
                <a:solidFill>
                  <a:srgbClr val="1F2937"/>
                </a:solidFill>
                <a:latin typeface="Arial"/>
                <a:ea typeface="맑은 고딕"/>
                <a:cs typeface="Arial"/>
              </a:rPr>
              <a:t>IoU 보정</a:t>
            </a:r>
          </a:p>
        </p:txBody>
      </p:sp>
      <p:pic>
        <p:nvPicPr>
          <p:cNvPr id="7121" name="그림 12">
            <a:extLst>
              <a:ext uri="{FF2B5EF4-FFF2-40B4-BE49-F238E27FC236}">
                <a16:creationId xmlns:a16="http://schemas.microsoft.com/office/drawing/2014/main" id="{8DB222FD-1315-24B2-68EC-C9AFAD908B1B}"/>
              </a:ext>
            </a:extLst>
          </p:cNvPr>
          <p:cNvPicPr>
            <a:picLocks noChangeAspect="1"/>
          </p:cNvPicPr>
          <p:nvPr/>
        </p:nvPicPr>
        <p:blipFill>
          <a:blip r:embed="rId10"/>
          <a:srcRect b="469"/>
          <a:stretch>
            <a:fillRect/>
          </a:stretch>
        </p:blipFill>
        <p:spPr>
          <a:xfrm>
            <a:off x="1847850" y="2197876"/>
            <a:ext cx="15009656" cy="80891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02. 역할별 주요 기능</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4121584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00" y="1625600"/>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4" name="액터 칸 1">
            <a:extLst>
              <a:ext uri="{FF2B5EF4-FFF2-40B4-BE49-F238E27FC236}">
                <a16:creationId xmlns:a16="http://schemas.microsoft.com/office/drawing/2014/main" id="{F896148D-D052-54E9-8F35-DFCCFB51FBFA}"/>
              </a:ext>
            </a:extLst>
          </p:cNvPr>
          <p:cNvSpPr/>
          <p:nvPr/>
        </p:nvSpPr>
        <p:spPr>
          <a:xfrm>
            <a:off x="822960" y="2231136"/>
            <a:ext cx="4023360" cy="5815584"/>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4" name="액터 칸 2"/>
          <p:cNvSpPr/>
          <p:nvPr/>
        </p:nvSpPr>
        <p:spPr>
          <a:xfrm>
            <a:off x="5029200" y="2231136"/>
            <a:ext cx="4023360" cy="5815584"/>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5" name="액터 칸 3"/>
          <p:cNvSpPr/>
          <p:nvPr/>
        </p:nvSpPr>
        <p:spPr>
          <a:xfrm>
            <a:off x="9235440" y="2231136"/>
            <a:ext cx="4023360" cy="5815584"/>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6" name="액터 칸 4"/>
          <p:cNvSpPr/>
          <p:nvPr/>
        </p:nvSpPr>
        <p:spPr>
          <a:xfrm>
            <a:off x="13441680" y="2231136"/>
            <a:ext cx="4023360" cy="5815584"/>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02. 역할별 주요 기능</a:t>
            </a:r>
          </a:p>
        </p:txBody>
      </p:sp>
      <p:sp>
        <p:nvSpPr>
          <p:cNvPr id="5023" name="Subtitle"/>
          <p:cNvSpPr txBox="1"/>
          <p:nvPr/>
        </p:nvSpPr>
        <p:spPr>
          <a:xfrm>
            <a:off x="822960" y="1816197"/>
            <a:ext cx="16642080" cy="400110"/>
          </a:xfrm>
          <a:prstGeom prst="rect">
            <a:avLst/>
          </a:prstGeom>
          <a:noFill/>
        </p:spPr>
        <p:txBody>
          <a:bodyPr wrap="square" lIns="0" tIns="0" rIns="0" bIns="0" anchor="ctr">
            <a:spAutoFit/>
          </a:bodyPr>
          <a:lstStyle/>
          <a:p>
            <a:pPr algn="ctr"/>
            <a:r>
              <a:rPr sz="2600" b="1" dirty="0" err="1">
                <a:solidFill>
                  <a:srgbClr val="363A52"/>
                </a:solidFill>
                <a:latin typeface="210 OmniGothic 040"/>
                <a:ea typeface="210 OmniGothic 040"/>
                <a:cs typeface="210 OmniGothic 040"/>
              </a:rPr>
              <a:t>역할</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정의와</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역할별</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주요</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기능</a:t>
            </a:r>
            <a:r>
              <a:rPr sz="2600" b="1" dirty="0">
                <a:solidFill>
                  <a:srgbClr val="363A52"/>
                </a:solidFill>
                <a:latin typeface="210 OmniGothic 040"/>
                <a:ea typeface="210 OmniGothic 040"/>
                <a:cs typeface="210 OmniGothic 040"/>
              </a:rPr>
              <a:t>  </a:t>
            </a:r>
            <a:r>
              <a:rPr lang="en-US" sz="2600" b="1" dirty="0">
                <a:solidFill>
                  <a:srgbClr val="363A52"/>
                </a:solidFill>
                <a:latin typeface="210 OmniGothic 040"/>
                <a:ea typeface="210 OmniGothic 040"/>
                <a:cs typeface="210 OmniGothic 040"/>
              </a:rPr>
              <a:t>(</a:t>
            </a:r>
            <a:r>
              <a:rPr sz="2600" b="1" dirty="0" err="1">
                <a:solidFill>
                  <a:srgbClr val="363A52"/>
                </a:solidFill>
                <a:latin typeface="210 OmniGothic 040"/>
                <a:ea typeface="210 OmniGothic 040"/>
                <a:cs typeface="210 OmniGothic 040"/>
              </a:rPr>
              <a:t>사람</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액터</a:t>
            </a:r>
            <a:r>
              <a:rPr sz="2600" b="1" dirty="0">
                <a:solidFill>
                  <a:srgbClr val="363A52"/>
                </a:solidFill>
                <a:latin typeface="210 OmniGothic 040"/>
                <a:ea typeface="210 OmniGothic 040"/>
                <a:cs typeface="210 OmniGothic 040"/>
              </a:rPr>
              <a:t> 4 · </a:t>
            </a:r>
            <a:r>
              <a:rPr sz="2600" b="1" dirty="0" err="1">
                <a:solidFill>
                  <a:srgbClr val="363A52"/>
                </a:solidFill>
                <a:latin typeface="210 OmniGothic 040"/>
                <a:ea typeface="210 OmniGothic 040"/>
                <a:cs typeface="210 OmniGothic 040"/>
              </a:rPr>
              <a:t>시스템</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액터</a:t>
            </a:r>
            <a:r>
              <a:rPr sz="2600" b="1" dirty="0">
                <a:solidFill>
                  <a:srgbClr val="363A52"/>
                </a:solidFill>
                <a:latin typeface="210 OmniGothic 040"/>
                <a:ea typeface="210 OmniGothic 040"/>
                <a:cs typeface="210 OmniGothic 040"/>
              </a:rPr>
              <a:t> 3</a:t>
            </a:r>
            <a:r>
              <a:rPr lang="en-US" sz="2600" b="1" dirty="0">
                <a:solidFill>
                  <a:srgbClr val="363A52"/>
                </a:solidFill>
                <a:latin typeface="210 OmniGothic 040"/>
                <a:ea typeface="210 OmniGothic 040"/>
                <a:cs typeface="210 OmniGothic 040"/>
              </a:rPr>
              <a:t>)</a:t>
            </a:r>
            <a:endParaRPr sz="2600" b="1" dirty="0">
              <a:solidFill>
                <a:srgbClr val="363A52"/>
              </a:solidFill>
              <a:latin typeface="210 OmniGothic 040"/>
              <a:ea typeface="210 OmniGothic 040"/>
              <a:cs typeface="210 OmniGothic 040"/>
            </a:endParaRP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5024" name="Oval 5023"/>
          <p:cNvSpPr/>
          <p:nvPr/>
        </p:nvSpPr>
        <p:spPr>
          <a:xfrm>
            <a:off x="1851660" y="2390140"/>
            <a:ext cx="1874519" cy="1874519"/>
          </a:xfrm>
          <a:prstGeom prst="ellipse">
            <a:avLst/>
          </a:prstGeom>
          <a:solidFill>
            <a:srgbClr val="FFFFFF"/>
          </a:solidFill>
          <a:ln w="76200">
            <a:solidFill>
              <a:srgbClr val="363A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5" name="TextBox 5024"/>
          <p:cNvSpPr txBox="1"/>
          <p:nvPr/>
        </p:nvSpPr>
        <p:spPr>
          <a:xfrm>
            <a:off x="1851660" y="3091338"/>
            <a:ext cx="1874519" cy="492443"/>
          </a:xfrm>
          <a:prstGeom prst="rect">
            <a:avLst/>
          </a:prstGeom>
          <a:noFill/>
        </p:spPr>
        <p:txBody>
          <a:bodyPr wrap="square" lIns="0" tIns="0" rIns="0" bIns="0" anchor="ctr">
            <a:spAutoFit/>
          </a:bodyPr>
          <a:lstStyle/>
          <a:p>
            <a:pPr algn="ctr"/>
            <a:r>
              <a:rPr sz="2000" b="1" dirty="0" err="1">
                <a:solidFill>
                  <a:srgbClr val="363A52"/>
                </a:solidFill>
                <a:latin typeface="210 OmniGothic 040"/>
                <a:ea typeface="210 OmniGothic 040"/>
                <a:cs typeface="210 OmniGothic 040"/>
              </a:rPr>
              <a:t>통합지휘권자</a:t>
            </a:r>
            <a:endParaRPr sz="2000" b="1" dirty="0">
              <a:solidFill>
                <a:srgbClr val="363A52"/>
              </a:solidFill>
              <a:latin typeface="210 OmniGothic 040"/>
              <a:ea typeface="210 OmniGothic 040"/>
              <a:cs typeface="210 OmniGothic 040"/>
            </a:endParaRPr>
          </a:p>
          <a:p>
            <a:pPr algn="ctr"/>
            <a:r>
              <a:rPr sz="1200" b="0" dirty="0" err="1">
                <a:solidFill>
                  <a:srgbClr val="6B7080"/>
                </a:solidFill>
                <a:latin typeface="210 OmniGothic 040"/>
                <a:ea typeface="210 OmniGothic 040"/>
                <a:cs typeface="210 OmniGothic 040"/>
              </a:rPr>
              <a:t>조작</a:t>
            </a:r>
            <a:r>
              <a:rPr sz="1200" b="0" dirty="0">
                <a:solidFill>
                  <a:srgbClr val="6B7080"/>
                </a:solidFill>
                <a:latin typeface="210 OmniGothic 040"/>
                <a:ea typeface="210 OmniGothic 040"/>
                <a:cs typeface="210 OmniGothic 040"/>
              </a:rPr>
              <a:t> </a:t>
            </a:r>
            <a:r>
              <a:rPr sz="1200" b="0" dirty="0" err="1">
                <a:solidFill>
                  <a:srgbClr val="6B7080"/>
                </a:solidFill>
                <a:latin typeface="210 OmniGothic 040"/>
                <a:ea typeface="210 OmniGothic 040"/>
                <a:cs typeface="210 OmniGothic 040"/>
              </a:rPr>
              <a:t>권한</a:t>
            </a:r>
            <a:endParaRPr sz="1200" b="0" dirty="0">
              <a:solidFill>
                <a:srgbClr val="6B7080"/>
              </a:solidFill>
              <a:latin typeface="210 OmniGothic 040"/>
              <a:ea typeface="210 OmniGothic 040"/>
              <a:cs typeface="210 OmniGothic 040"/>
            </a:endParaRPr>
          </a:p>
        </p:txBody>
      </p:sp>
      <p:sp>
        <p:nvSpPr>
          <p:cNvPr id="5026" name="TextBox 5025"/>
          <p:cNvSpPr txBox="1"/>
          <p:nvPr/>
        </p:nvSpPr>
        <p:spPr>
          <a:xfrm>
            <a:off x="822960" y="4370832"/>
            <a:ext cx="3931920" cy="274320"/>
          </a:xfrm>
          <a:prstGeom prst="rect">
            <a:avLst/>
          </a:prstGeom>
          <a:noFill/>
        </p:spPr>
        <p:txBody>
          <a:bodyPr wrap="square" lIns="0" tIns="0" rIns="0" bIns="0" anchor="t">
            <a:spAutoFit/>
          </a:bodyPr>
          <a:lstStyle/>
          <a:p>
            <a:pPr algn="ctr"/>
            <a:r>
              <a:rPr sz="1200" b="1">
                <a:solidFill>
                  <a:srgbClr val="2E3142"/>
                </a:solidFill>
                <a:latin typeface="210 OmniGothic 040"/>
                <a:ea typeface="210 OmniGothic 040"/>
                <a:cs typeface="210 OmniGothic 040"/>
              </a:rPr>
              <a:t>시장·군수·구청장 (주 액터)</a:t>
            </a:r>
          </a:p>
        </p:txBody>
      </p:sp>
      <p:sp>
        <p:nvSpPr>
          <p:cNvPr id="5027" name="TextBox 5026"/>
          <p:cNvSpPr txBox="1"/>
          <p:nvPr/>
        </p:nvSpPr>
        <p:spPr>
          <a:xfrm>
            <a:off x="822960" y="4663440"/>
            <a:ext cx="3931920" cy="274320"/>
          </a:xfrm>
          <a:prstGeom prst="rect">
            <a:avLst/>
          </a:prstGeom>
          <a:noFill/>
        </p:spPr>
        <p:txBody>
          <a:bodyPr wrap="square" lIns="0" tIns="0" rIns="0" bIns="0" anchor="t">
            <a:spAutoFit/>
          </a:bodyPr>
          <a:lstStyle/>
          <a:p>
            <a:pPr algn="ctr"/>
            <a:r>
              <a:rPr sz="1100" b="1">
                <a:solidFill>
                  <a:srgbClr val="363A52"/>
                </a:solidFill>
                <a:latin typeface="210 OmniGothic 040"/>
                <a:ea typeface="210 OmniGothic 040"/>
                <a:cs typeface="210 OmniGothic 040"/>
              </a:rPr>
              <a:t>화면 </a:t>
            </a:r>
            <a:r>
              <a:rPr sz="1100" b="0">
                <a:solidFill>
                  <a:srgbClr val="6B7080"/>
                </a:solidFill>
                <a:latin typeface="210 OmniGothic 040"/>
                <a:ea typeface="210 OmniGothic 040"/>
                <a:cs typeface="210 OmniGothic 040"/>
              </a:rPr>
              <a:t>통합 상황도 + 대응 제안</a:t>
            </a:r>
          </a:p>
        </p:txBody>
      </p:sp>
      <p:sp>
        <p:nvSpPr>
          <p:cNvPr id="5028" name="Oval 5027"/>
          <p:cNvSpPr/>
          <p:nvPr/>
        </p:nvSpPr>
        <p:spPr>
          <a:xfrm>
            <a:off x="960120" y="5138927"/>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9" name="TextBox 5028"/>
          <p:cNvSpPr txBox="1"/>
          <p:nvPr/>
        </p:nvSpPr>
        <p:spPr>
          <a:xfrm>
            <a:off x="960120" y="5138927"/>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1</a:t>
            </a:r>
          </a:p>
        </p:txBody>
      </p:sp>
      <p:sp>
        <p:nvSpPr>
          <p:cNvPr id="5030" name="TextBox 5029"/>
          <p:cNvSpPr txBox="1"/>
          <p:nvPr/>
        </p:nvSpPr>
        <p:spPr>
          <a:xfrm>
            <a:off x="1325880" y="5120640"/>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발생·접수 정보·통합 상황도 조회</a:t>
            </a:r>
          </a:p>
        </p:txBody>
      </p:sp>
      <p:sp>
        <p:nvSpPr>
          <p:cNvPr id="5031" name="TextBox 5030"/>
          <p:cNvSpPr txBox="1"/>
          <p:nvPr/>
        </p:nvSpPr>
        <p:spPr>
          <a:xfrm>
            <a:off x="1325880" y="5385816"/>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산불 진행 상태, 확산 범위·시설·진화자원 현황</a:t>
            </a:r>
          </a:p>
        </p:txBody>
      </p:sp>
      <p:sp>
        <p:nvSpPr>
          <p:cNvPr id="5032" name="Oval 5031"/>
          <p:cNvSpPr/>
          <p:nvPr/>
        </p:nvSpPr>
        <p:spPr>
          <a:xfrm>
            <a:off x="960120" y="5705855"/>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3" name="TextBox 5032"/>
          <p:cNvSpPr txBox="1"/>
          <p:nvPr/>
        </p:nvSpPr>
        <p:spPr>
          <a:xfrm>
            <a:off x="960120" y="5705855"/>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2</a:t>
            </a:r>
          </a:p>
        </p:txBody>
      </p:sp>
      <p:sp>
        <p:nvSpPr>
          <p:cNvPr id="5034" name="TextBox 5033"/>
          <p:cNvSpPr txBox="1"/>
          <p:nvPr/>
        </p:nvSpPr>
        <p:spPr>
          <a:xfrm>
            <a:off x="1325880" y="5687568"/>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확산 예측 실행</a:t>
            </a:r>
          </a:p>
        </p:txBody>
      </p:sp>
      <p:sp>
        <p:nvSpPr>
          <p:cNvPr id="5035" name="TextBox 5034"/>
          <p:cNvSpPr txBox="1"/>
          <p:nvPr/>
        </p:nvSpPr>
        <p:spPr>
          <a:xfrm>
            <a:off x="1325880" y="5952744"/>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1시간 간격 P1~P8 → 위험도 R·제안서 생성</a:t>
            </a:r>
          </a:p>
        </p:txBody>
      </p:sp>
      <p:sp>
        <p:nvSpPr>
          <p:cNvPr id="5036" name="Oval 5035"/>
          <p:cNvSpPr/>
          <p:nvPr/>
        </p:nvSpPr>
        <p:spPr>
          <a:xfrm>
            <a:off x="960120" y="6272783"/>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7" name="TextBox 5036"/>
          <p:cNvSpPr txBox="1"/>
          <p:nvPr/>
        </p:nvSpPr>
        <p:spPr>
          <a:xfrm>
            <a:off x="960120" y="6272783"/>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3</a:t>
            </a:r>
          </a:p>
        </p:txBody>
      </p:sp>
      <p:sp>
        <p:nvSpPr>
          <p:cNvPr id="5038" name="TextBox 5037"/>
          <p:cNvSpPr txBox="1"/>
          <p:nvPr/>
        </p:nvSpPr>
        <p:spPr>
          <a:xfrm>
            <a:off x="1325880" y="6254496"/>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대응 제안 검토</a:t>
            </a:r>
          </a:p>
        </p:txBody>
      </p:sp>
      <p:sp>
        <p:nvSpPr>
          <p:cNvPr id="5039" name="TextBox 5038"/>
          <p:cNvSpPr txBox="1"/>
          <p:nvPr/>
        </p:nvSpPr>
        <p:spPr>
          <a:xfrm>
            <a:off x="1325880" y="6519672"/>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진화 S1~S7 · 대피 E1~E7, 근거 [k] 조회</a:t>
            </a:r>
          </a:p>
        </p:txBody>
      </p:sp>
      <p:sp>
        <p:nvSpPr>
          <p:cNvPr id="5040" name="Oval 5039"/>
          <p:cNvSpPr/>
          <p:nvPr/>
        </p:nvSpPr>
        <p:spPr>
          <a:xfrm>
            <a:off x="960120" y="6839711"/>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1" name="TextBox 5040"/>
          <p:cNvSpPr txBox="1"/>
          <p:nvPr/>
        </p:nvSpPr>
        <p:spPr>
          <a:xfrm>
            <a:off x="960120" y="6839711"/>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4</a:t>
            </a:r>
          </a:p>
        </p:txBody>
      </p:sp>
      <p:sp>
        <p:nvSpPr>
          <p:cNvPr id="5042" name="TextBox 5041"/>
          <p:cNvSpPr txBox="1"/>
          <p:nvPr/>
        </p:nvSpPr>
        <p:spPr>
          <a:xfrm>
            <a:off x="1325880" y="6821423"/>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AI 질의·상황 정정</a:t>
            </a:r>
          </a:p>
        </p:txBody>
      </p:sp>
      <p:sp>
        <p:nvSpPr>
          <p:cNvPr id="5043" name="TextBox 5042"/>
          <p:cNvSpPr txBox="1"/>
          <p:nvPr/>
        </p:nvSpPr>
        <p:spPr>
          <a:xfrm>
            <a:off x="1325880" y="7086599"/>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정정을 확정하면 제안서 새 버전</a:t>
            </a:r>
          </a:p>
        </p:txBody>
      </p:sp>
      <p:sp>
        <p:nvSpPr>
          <p:cNvPr id="5044" name="Oval 5043"/>
          <p:cNvSpPr/>
          <p:nvPr/>
        </p:nvSpPr>
        <p:spPr>
          <a:xfrm>
            <a:off x="960120" y="7406640"/>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5" name="TextBox 5044"/>
          <p:cNvSpPr txBox="1"/>
          <p:nvPr/>
        </p:nvSpPr>
        <p:spPr>
          <a:xfrm>
            <a:off x="960120" y="7406640"/>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5</a:t>
            </a:r>
          </a:p>
        </p:txBody>
      </p:sp>
      <p:sp>
        <p:nvSpPr>
          <p:cNvPr id="5046" name="TextBox 5045"/>
          <p:cNvSpPr txBox="1"/>
          <p:nvPr/>
        </p:nvSpPr>
        <p:spPr>
          <a:xfrm>
            <a:off x="1325880" y="7388352"/>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이력 열람·종료 처리</a:t>
            </a:r>
          </a:p>
        </p:txBody>
      </p:sp>
      <p:sp>
        <p:nvSpPr>
          <p:cNvPr id="5047" name="TextBox 5046"/>
          <p:cNvSpPr txBox="1"/>
          <p:nvPr/>
        </p:nvSpPr>
        <p:spPr>
          <a:xfrm>
            <a:off x="1325880" y="7653527"/>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버전 이력·변경사항·이벤트 로그, 발화 종료</a:t>
            </a:r>
          </a:p>
        </p:txBody>
      </p:sp>
      <p:sp>
        <p:nvSpPr>
          <p:cNvPr id="5048" name="Oval 5047"/>
          <p:cNvSpPr/>
          <p:nvPr/>
        </p:nvSpPr>
        <p:spPr>
          <a:xfrm>
            <a:off x="6085332" y="2377440"/>
            <a:ext cx="1874519" cy="1874519"/>
          </a:xfrm>
          <a:prstGeom prst="ellipse">
            <a:avLst/>
          </a:prstGeom>
          <a:solidFill>
            <a:srgbClr val="FFFFFF"/>
          </a:solidFill>
          <a:ln w="76200">
            <a:solidFill>
              <a:srgbClr val="C060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9" name="TextBox 5048"/>
          <p:cNvSpPr txBox="1"/>
          <p:nvPr/>
        </p:nvSpPr>
        <p:spPr>
          <a:xfrm>
            <a:off x="6085332" y="3091338"/>
            <a:ext cx="1874519" cy="492443"/>
          </a:xfrm>
          <a:prstGeom prst="rect">
            <a:avLst/>
          </a:prstGeom>
          <a:noFill/>
        </p:spPr>
        <p:txBody>
          <a:bodyPr wrap="square" lIns="0" tIns="0" rIns="0" bIns="0" anchor="ctr">
            <a:spAutoFit/>
          </a:bodyPr>
          <a:lstStyle/>
          <a:p>
            <a:pPr algn="ctr"/>
            <a:r>
              <a:rPr sz="2000" b="1" dirty="0" err="1">
                <a:solidFill>
                  <a:srgbClr val="C0602A"/>
                </a:solidFill>
                <a:latin typeface="210 OmniGothic 040"/>
                <a:ea typeface="210 OmniGothic 040"/>
                <a:cs typeface="210 OmniGothic 040"/>
              </a:rPr>
              <a:t>상황</a:t>
            </a:r>
            <a:r>
              <a:rPr sz="2000" b="1" dirty="0">
                <a:solidFill>
                  <a:srgbClr val="C0602A"/>
                </a:solidFill>
                <a:latin typeface="210 OmniGothic 040"/>
                <a:ea typeface="210 OmniGothic 040"/>
                <a:cs typeface="210 OmniGothic 040"/>
              </a:rPr>
              <a:t> </a:t>
            </a:r>
            <a:r>
              <a:rPr sz="2000" b="1" dirty="0" err="1">
                <a:solidFill>
                  <a:srgbClr val="C0602A"/>
                </a:solidFill>
                <a:latin typeface="210 OmniGothic 040"/>
                <a:ea typeface="210 OmniGothic 040"/>
                <a:cs typeface="210 OmniGothic 040"/>
              </a:rPr>
              <a:t>보고자</a:t>
            </a:r>
            <a:endParaRPr sz="2000" b="1" dirty="0">
              <a:solidFill>
                <a:srgbClr val="C0602A"/>
              </a:solidFill>
              <a:latin typeface="210 OmniGothic 040"/>
              <a:ea typeface="210 OmniGothic 040"/>
              <a:cs typeface="210 OmniGothic 040"/>
            </a:endParaRPr>
          </a:p>
          <a:p>
            <a:pPr algn="ctr"/>
            <a:r>
              <a:rPr sz="1200" b="0" dirty="0" err="1">
                <a:solidFill>
                  <a:srgbClr val="6B7080"/>
                </a:solidFill>
                <a:latin typeface="210 OmniGothic 040"/>
                <a:ea typeface="210 OmniGothic 040"/>
                <a:cs typeface="210 OmniGothic 040"/>
              </a:rPr>
              <a:t>보고</a:t>
            </a:r>
            <a:r>
              <a:rPr sz="1200" b="0" dirty="0">
                <a:solidFill>
                  <a:srgbClr val="6B7080"/>
                </a:solidFill>
                <a:latin typeface="210 OmniGothic 040"/>
                <a:ea typeface="210 OmniGothic 040"/>
                <a:cs typeface="210 OmniGothic 040"/>
              </a:rPr>
              <a:t> </a:t>
            </a:r>
            <a:r>
              <a:rPr sz="1200" b="0" dirty="0" err="1">
                <a:solidFill>
                  <a:srgbClr val="6B7080"/>
                </a:solidFill>
                <a:latin typeface="210 OmniGothic 040"/>
                <a:ea typeface="210 OmniGothic 040"/>
                <a:cs typeface="210 OmniGothic 040"/>
              </a:rPr>
              <a:t>권한</a:t>
            </a:r>
            <a:endParaRPr sz="1200" b="0" dirty="0">
              <a:solidFill>
                <a:srgbClr val="6B7080"/>
              </a:solidFill>
              <a:latin typeface="210 OmniGothic 040"/>
              <a:ea typeface="210 OmniGothic 040"/>
              <a:cs typeface="210 OmniGothic 040"/>
            </a:endParaRPr>
          </a:p>
        </p:txBody>
      </p:sp>
      <p:sp>
        <p:nvSpPr>
          <p:cNvPr id="5050" name="TextBox 5049"/>
          <p:cNvSpPr txBox="1"/>
          <p:nvPr/>
        </p:nvSpPr>
        <p:spPr>
          <a:xfrm>
            <a:off x="5056632" y="4370832"/>
            <a:ext cx="3931920" cy="274320"/>
          </a:xfrm>
          <a:prstGeom prst="rect">
            <a:avLst/>
          </a:prstGeom>
          <a:noFill/>
        </p:spPr>
        <p:txBody>
          <a:bodyPr wrap="square" lIns="0" tIns="0" rIns="0" bIns="0" anchor="t">
            <a:spAutoFit/>
          </a:bodyPr>
          <a:lstStyle/>
          <a:p>
            <a:pPr algn="ctr"/>
            <a:r>
              <a:rPr sz="1200" b="1">
                <a:solidFill>
                  <a:srgbClr val="2E3142"/>
                </a:solidFill>
                <a:latin typeface="210 OmniGothic 040"/>
                <a:ea typeface="210 OmniGothic 040"/>
                <a:cs typeface="210 OmniGothic 040"/>
              </a:rPr>
              <a:t>현장 상황 보고 전담</a:t>
            </a:r>
          </a:p>
        </p:txBody>
      </p:sp>
      <p:sp>
        <p:nvSpPr>
          <p:cNvPr id="5051" name="TextBox 5050"/>
          <p:cNvSpPr txBox="1"/>
          <p:nvPr/>
        </p:nvSpPr>
        <p:spPr>
          <a:xfrm>
            <a:off x="5056632" y="4663440"/>
            <a:ext cx="3931920" cy="274320"/>
          </a:xfrm>
          <a:prstGeom prst="rect">
            <a:avLst/>
          </a:prstGeom>
          <a:noFill/>
        </p:spPr>
        <p:txBody>
          <a:bodyPr wrap="square" lIns="0" tIns="0" rIns="0" bIns="0" anchor="t">
            <a:spAutoFit/>
          </a:bodyPr>
          <a:lstStyle/>
          <a:p>
            <a:pPr algn="ctr"/>
            <a:r>
              <a:rPr sz="1100" b="1">
                <a:solidFill>
                  <a:srgbClr val="C0602A"/>
                </a:solidFill>
                <a:latin typeface="210 OmniGothic 040"/>
                <a:ea typeface="210 OmniGothic 040"/>
                <a:cs typeface="210 OmniGothic 040"/>
              </a:rPr>
              <a:t>화면 </a:t>
            </a:r>
            <a:r>
              <a:rPr sz="1100" b="0">
                <a:solidFill>
                  <a:srgbClr val="6B7080"/>
                </a:solidFill>
                <a:latin typeface="210 OmniGothic 040"/>
                <a:ea typeface="210 OmniGothic 040"/>
                <a:cs typeface="210 OmniGothic 040"/>
              </a:rPr>
              <a:t>지도 + 상황 입력 판</a:t>
            </a:r>
          </a:p>
        </p:txBody>
      </p:sp>
      <p:sp>
        <p:nvSpPr>
          <p:cNvPr id="5052" name="Oval 5051"/>
          <p:cNvSpPr/>
          <p:nvPr/>
        </p:nvSpPr>
        <p:spPr>
          <a:xfrm>
            <a:off x="5193792" y="5138927"/>
            <a:ext cx="256032" cy="256032"/>
          </a:xfrm>
          <a:prstGeom prst="ellipse">
            <a:avLst/>
          </a:prstGeom>
          <a:solidFill>
            <a:srgbClr val="C06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3" name="TextBox 5052"/>
          <p:cNvSpPr txBox="1"/>
          <p:nvPr/>
        </p:nvSpPr>
        <p:spPr>
          <a:xfrm>
            <a:off x="5193792" y="5138927"/>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1</a:t>
            </a:r>
          </a:p>
        </p:txBody>
      </p:sp>
      <p:sp>
        <p:nvSpPr>
          <p:cNvPr id="5054" name="TextBox 5053"/>
          <p:cNvSpPr txBox="1"/>
          <p:nvPr/>
        </p:nvSpPr>
        <p:spPr>
          <a:xfrm>
            <a:off x="5559552" y="5120640"/>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산불 최초 보고</a:t>
            </a:r>
          </a:p>
        </p:txBody>
      </p:sp>
      <p:sp>
        <p:nvSpPr>
          <p:cNvPr id="5055" name="TextBox 5054"/>
          <p:cNvSpPr txBox="1"/>
          <p:nvPr/>
        </p:nvSpPr>
        <p:spPr>
          <a:xfrm>
            <a:off x="5559552" y="5385816"/>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발화 위치·일시·신고 내용·신고자 정보·접수 기관</a:t>
            </a:r>
          </a:p>
        </p:txBody>
      </p:sp>
      <p:sp>
        <p:nvSpPr>
          <p:cNvPr id="5056" name="Oval 5055"/>
          <p:cNvSpPr/>
          <p:nvPr/>
        </p:nvSpPr>
        <p:spPr>
          <a:xfrm>
            <a:off x="5193792" y="5705855"/>
            <a:ext cx="256032" cy="256032"/>
          </a:xfrm>
          <a:prstGeom prst="ellipse">
            <a:avLst/>
          </a:prstGeom>
          <a:solidFill>
            <a:srgbClr val="C06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7" name="TextBox 5056"/>
          <p:cNvSpPr txBox="1"/>
          <p:nvPr/>
        </p:nvSpPr>
        <p:spPr>
          <a:xfrm>
            <a:off x="5193792" y="5705855"/>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2</a:t>
            </a:r>
          </a:p>
        </p:txBody>
      </p:sp>
      <p:sp>
        <p:nvSpPr>
          <p:cNvPr id="5058" name="TextBox 5057"/>
          <p:cNvSpPr txBox="1"/>
          <p:nvPr/>
        </p:nvSpPr>
        <p:spPr>
          <a:xfrm>
            <a:off x="5559552" y="5687568"/>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실측 화선 보고</a:t>
            </a:r>
          </a:p>
        </p:txBody>
      </p:sp>
      <p:sp>
        <p:nvSpPr>
          <p:cNvPr id="5059" name="TextBox 5058"/>
          <p:cNvSpPr txBox="1"/>
          <p:nvPr/>
        </p:nvSpPr>
        <p:spPr>
          <a:xfrm>
            <a:off x="5559552" y="5952744"/>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1시간마다 폴리곤, 초기대응에서는 생략 가능</a:t>
            </a:r>
          </a:p>
        </p:txBody>
      </p:sp>
      <p:sp>
        <p:nvSpPr>
          <p:cNvPr id="5060" name="Oval 5059"/>
          <p:cNvSpPr/>
          <p:nvPr/>
        </p:nvSpPr>
        <p:spPr>
          <a:xfrm>
            <a:off x="5193792" y="6272783"/>
            <a:ext cx="256032" cy="256032"/>
          </a:xfrm>
          <a:prstGeom prst="ellipse">
            <a:avLst/>
          </a:prstGeom>
          <a:solidFill>
            <a:srgbClr val="C06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1" name="TextBox 5060"/>
          <p:cNvSpPr txBox="1"/>
          <p:nvPr/>
        </p:nvSpPr>
        <p:spPr>
          <a:xfrm>
            <a:off x="5193792" y="6272783"/>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3</a:t>
            </a:r>
          </a:p>
        </p:txBody>
      </p:sp>
      <p:sp>
        <p:nvSpPr>
          <p:cNvPr id="5062" name="TextBox 5061"/>
          <p:cNvSpPr txBox="1"/>
          <p:nvPr/>
        </p:nvSpPr>
        <p:spPr>
          <a:xfrm>
            <a:off x="5559552" y="6254496"/>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발생·접수 정보 조회</a:t>
            </a:r>
          </a:p>
        </p:txBody>
      </p:sp>
      <p:sp>
        <p:nvSpPr>
          <p:cNvPr id="5063" name="TextBox 5062"/>
          <p:cNvSpPr txBox="1"/>
          <p:nvPr/>
        </p:nvSpPr>
        <p:spPr>
          <a:xfrm>
            <a:off x="5559552" y="6519672"/>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보고한 산불의 진행 상태 확인</a:t>
            </a:r>
          </a:p>
        </p:txBody>
      </p:sp>
      <p:sp>
        <p:nvSpPr>
          <p:cNvPr id="5064" name="Oval 5063"/>
          <p:cNvSpPr/>
          <p:nvPr/>
        </p:nvSpPr>
        <p:spPr>
          <a:xfrm>
            <a:off x="10319004" y="2377440"/>
            <a:ext cx="1874519" cy="1874519"/>
          </a:xfrm>
          <a:prstGeom prst="ellipse">
            <a:avLst/>
          </a:prstGeom>
          <a:solidFill>
            <a:srgbClr val="FFFFFF"/>
          </a:solidFill>
          <a:ln w="76200">
            <a:solidFill>
              <a:srgbClr val="5B7F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5" name="TextBox 5064"/>
          <p:cNvSpPr txBox="1"/>
          <p:nvPr/>
        </p:nvSpPr>
        <p:spPr>
          <a:xfrm>
            <a:off x="10325354" y="3080829"/>
            <a:ext cx="1874519" cy="492443"/>
          </a:xfrm>
          <a:prstGeom prst="rect">
            <a:avLst/>
          </a:prstGeom>
          <a:noFill/>
        </p:spPr>
        <p:txBody>
          <a:bodyPr wrap="square" lIns="0" tIns="0" rIns="0" bIns="0" anchor="ctr">
            <a:spAutoFit/>
          </a:bodyPr>
          <a:lstStyle/>
          <a:p>
            <a:pPr algn="ctr"/>
            <a:r>
              <a:rPr lang="ko-KR" altLang="en-US" sz="2000" b="1" dirty="0">
                <a:solidFill>
                  <a:srgbClr val="5B7FA6"/>
                </a:solidFill>
                <a:latin typeface="210 OmniGothic 040"/>
                <a:ea typeface="210 OmniGothic 040"/>
                <a:cs typeface="210 OmniGothic 040"/>
              </a:rPr>
              <a:t>열람자</a:t>
            </a:r>
          </a:p>
          <a:p>
            <a:pPr algn="ctr"/>
            <a:r>
              <a:rPr lang="ko-KR" altLang="en-US" sz="1200" dirty="0">
                <a:solidFill>
                  <a:srgbClr val="6B7080"/>
                </a:solidFill>
                <a:latin typeface="210 OmniGothic 040"/>
                <a:ea typeface="210 OmniGothic 040"/>
                <a:cs typeface="210 OmniGothic 040"/>
              </a:rPr>
              <a:t>열람 권한</a:t>
            </a:r>
          </a:p>
        </p:txBody>
      </p:sp>
      <p:sp>
        <p:nvSpPr>
          <p:cNvPr id="5066" name="TextBox 5065"/>
          <p:cNvSpPr txBox="1"/>
          <p:nvPr/>
        </p:nvSpPr>
        <p:spPr>
          <a:xfrm>
            <a:off x="9290304" y="4370832"/>
            <a:ext cx="3931920" cy="274320"/>
          </a:xfrm>
          <a:prstGeom prst="rect">
            <a:avLst/>
          </a:prstGeom>
          <a:noFill/>
        </p:spPr>
        <p:txBody>
          <a:bodyPr wrap="square" lIns="0" tIns="0" rIns="0" bIns="0" anchor="t">
            <a:spAutoFit/>
          </a:bodyPr>
          <a:lstStyle/>
          <a:p>
            <a:pPr algn="ctr"/>
            <a:r>
              <a:rPr sz="1200" b="1">
                <a:solidFill>
                  <a:srgbClr val="2E3142"/>
                </a:solidFill>
                <a:latin typeface="210 OmniGothic 040"/>
                <a:ea typeface="210 OmniGothic 040"/>
                <a:cs typeface="210 OmniGothic 040"/>
              </a:rPr>
              <a:t>유관기관·상급 본부 담당자</a:t>
            </a:r>
          </a:p>
        </p:txBody>
      </p:sp>
      <p:sp>
        <p:nvSpPr>
          <p:cNvPr id="5067" name="TextBox 5066"/>
          <p:cNvSpPr txBox="1"/>
          <p:nvPr/>
        </p:nvSpPr>
        <p:spPr>
          <a:xfrm>
            <a:off x="9290304" y="4663440"/>
            <a:ext cx="3931920" cy="274320"/>
          </a:xfrm>
          <a:prstGeom prst="rect">
            <a:avLst/>
          </a:prstGeom>
          <a:noFill/>
        </p:spPr>
        <p:txBody>
          <a:bodyPr wrap="square" lIns="0" tIns="0" rIns="0" bIns="0" anchor="t">
            <a:spAutoFit/>
          </a:bodyPr>
          <a:lstStyle/>
          <a:p>
            <a:pPr algn="ctr"/>
            <a:r>
              <a:rPr sz="1100" b="1">
                <a:solidFill>
                  <a:srgbClr val="5B7FA6"/>
                </a:solidFill>
                <a:latin typeface="210 OmniGothic 040"/>
                <a:ea typeface="210 OmniGothic 040"/>
                <a:cs typeface="210 OmniGothic 040"/>
              </a:rPr>
              <a:t>화면 </a:t>
            </a:r>
            <a:r>
              <a:rPr sz="1100" b="0">
                <a:solidFill>
                  <a:srgbClr val="6B7080"/>
                </a:solidFill>
                <a:latin typeface="210 OmniGothic 040"/>
                <a:ea typeface="210 OmniGothic 040"/>
                <a:cs typeface="210 OmniGothic 040"/>
              </a:rPr>
              <a:t>통합 상황도 (읽기 전용)</a:t>
            </a:r>
          </a:p>
        </p:txBody>
      </p:sp>
      <p:sp>
        <p:nvSpPr>
          <p:cNvPr id="5068" name="Oval 5067"/>
          <p:cNvSpPr/>
          <p:nvPr/>
        </p:nvSpPr>
        <p:spPr>
          <a:xfrm>
            <a:off x="9427464" y="5138927"/>
            <a:ext cx="256032" cy="256032"/>
          </a:xfrm>
          <a:prstGeom prst="ellipse">
            <a:avLst/>
          </a:prstGeom>
          <a:solidFill>
            <a:srgbClr val="5B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9" name="TextBox 5068"/>
          <p:cNvSpPr txBox="1"/>
          <p:nvPr/>
        </p:nvSpPr>
        <p:spPr>
          <a:xfrm>
            <a:off x="9427464" y="5138927"/>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1</a:t>
            </a:r>
          </a:p>
        </p:txBody>
      </p:sp>
      <p:sp>
        <p:nvSpPr>
          <p:cNvPr id="5070" name="TextBox 5069"/>
          <p:cNvSpPr txBox="1"/>
          <p:nvPr/>
        </p:nvSpPr>
        <p:spPr>
          <a:xfrm>
            <a:off x="9793224" y="5120640"/>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발생·접수 정보 조회</a:t>
            </a:r>
          </a:p>
        </p:txBody>
      </p:sp>
      <p:sp>
        <p:nvSpPr>
          <p:cNvPr id="5071" name="TextBox 5070"/>
          <p:cNvSpPr txBox="1"/>
          <p:nvPr/>
        </p:nvSpPr>
        <p:spPr>
          <a:xfrm>
            <a:off x="9793224" y="5385816"/>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발생 장소·신고 내용·신고자·진행 상태</a:t>
            </a:r>
          </a:p>
        </p:txBody>
      </p:sp>
      <p:sp>
        <p:nvSpPr>
          <p:cNvPr id="5072" name="Oval 5071"/>
          <p:cNvSpPr/>
          <p:nvPr/>
        </p:nvSpPr>
        <p:spPr>
          <a:xfrm>
            <a:off x="9427464" y="5705855"/>
            <a:ext cx="256032" cy="256032"/>
          </a:xfrm>
          <a:prstGeom prst="ellipse">
            <a:avLst/>
          </a:prstGeom>
          <a:solidFill>
            <a:srgbClr val="5B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3" name="TextBox 5072"/>
          <p:cNvSpPr txBox="1"/>
          <p:nvPr/>
        </p:nvSpPr>
        <p:spPr>
          <a:xfrm>
            <a:off x="9427464" y="5705855"/>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2</a:t>
            </a:r>
          </a:p>
        </p:txBody>
      </p:sp>
      <p:sp>
        <p:nvSpPr>
          <p:cNvPr id="5074" name="TextBox 5073"/>
          <p:cNvSpPr txBox="1"/>
          <p:nvPr/>
        </p:nvSpPr>
        <p:spPr>
          <a:xfrm>
            <a:off x="9793224" y="5687568"/>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통합 상황도 조회</a:t>
            </a:r>
          </a:p>
        </p:txBody>
      </p:sp>
      <p:sp>
        <p:nvSpPr>
          <p:cNvPr id="5075" name="TextBox 5074"/>
          <p:cNvSpPr txBox="1"/>
          <p:nvPr/>
        </p:nvSpPr>
        <p:spPr>
          <a:xfrm>
            <a:off x="9793224" y="5952744"/>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확산 범위 P1~P8·시설·레이어</a:t>
            </a:r>
          </a:p>
        </p:txBody>
      </p:sp>
      <p:sp>
        <p:nvSpPr>
          <p:cNvPr id="5076" name="Oval 5075"/>
          <p:cNvSpPr/>
          <p:nvPr/>
        </p:nvSpPr>
        <p:spPr>
          <a:xfrm>
            <a:off x="9427464" y="6272783"/>
            <a:ext cx="256032" cy="256032"/>
          </a:xfrm>
          <a:prstGeom prst="ellipse">
            <a:avLst/>
          </a:prstGeom>
          <a:solidFill>
            <a:srgbClr val="5B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0" name="Oval 5075"/>
          <p:cNvSpPr/>
          <p:nvPr/>
        </p:nvSpPr>
        <p:spPr>
          <a:xfrm>
            <a:off x="9427464" y="6839711"/>
            <a:ext cx="256032" cy="256032"/>
          </a:xfrm>
          <a:prstGeom prst="ellipse">
            <a:avLst/>
          </a:prstGeom>
          <a:solidFill>
            <a:srgbClr val="5B7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7" name="TextBox 5076"/>
          <p:cNvSpPr txBox="1"/>
          <p:nvPr/>
        </p:nvSpPr>
        <p:spPr>
          <a:xfrm>
            <a:off x="9427464" y="6272783"/>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3</a:t>
            </a:r>
          </a:p>
        </p:txBody>
      </p:sp>
      <p:sp>
        <p:nvSpPr>
          <p:cNvPr id="5101" name="TextBox 5076"/>
          <p:cNvSpPr txBox="1"/>
          <p:nvPr/>
        </p:nvSpPr>
        <p:spPr>
          <a:xfrm>
            <a:off x="9427464" y="6839711"/>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4</a:t>
            </a:r>
          </a:p>
        </p:txBody>
      </p:sp>
      <p:sp>
        <p:nvSpPr>
          <p:cNvPr id="5078" name="TextBox 5077"/>
          <p:cNvSpPr txBox="1"/>
          <p:nvPr/>
        </p:nvSpPr>
        <p:spPr>
          <a:xfrm>
            <a:off x="9793224" y="6254496"/>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진화자원 현황</a:t>
            </a:r>
          </a:p>
        </p:txBody>
      </p:sp>
      <p:sp>
        <p:nvSpPr>
          <p:cNvPr id="5102" name="TextBox 5077"/>
          <p:cNvSpPr txBox="1"/>
          <p:nvPr/>
        </p:nvSpPr>
        <p:spPr>
          <a:xfrm>
            <a:off x="9793224" y="6821424"/>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산불 위험도 조회</a:t>
            </a:r>
          </a:p>
        </p:txBody>
      </p:sp>
      <p:sp>
        <p:nvSpPr>
          <p:cNvPr id="5079" name="TextBox 5078"/>
          <p:cNvSpPr txBox="1"/>
          <p:nvPr/>
        </p:nvSpPr>
        <p:spPr>
          <a:xfrm>
            <a:off x="9793224" y="6519672"/>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헬기·인력·차량, 대기·투입·정비 상태 확인</a:t>
            </a:r>
          </a:p>
        </p:txBody>
      </p:sp>
      <p:sp>
        <p:nvSpPr>
          <p:cNvPr id="5103" name="TextBox 5078"/>
          <p:cNvSpPr txBox="1"/>
          <p:nvPr/>
        </p:nvSpPr>
        <p:spPr>
          <a:xfrm>
            <a:off x="9793224" y="7086600"/>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위험도 R·요소별 지표 (읽기 전용)</a:t>
            </a:r>
          </a:p>
        </p:txBody>
      </p:sp>
      <p:sp>
        <p:nvSpPr>
          <p:cNvPr id="5080" name="Oval 5079"/>
          <p:cNvSpPr/>
          <p:nvPr/>
        </p:nvSpPr>
        <p:spPr>
          <a:xfrm>
            <a:off x="14552676" y="2377440"/>
            <a:ext cx="1874519" cy="1874519"/>
          </a:xfrm>
          <a:prstGeom prst="ellipse">
            <a:avLst/>
          </a:prstGeom>
          <a:solidFill>
            <a:srgbClr val="FFFFFF"/>
          </a:solidFill>
          <a:ln w="76200">
            <a:solidFill>
              <a:srgbClr val="4A4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1" name="TextBox 5080"/>
          <p:cNvSpPr txBox="1"/>
          <p:nvPr/>
        </p:nvSpPr>
        <p:spPr>
          <a:xfrm>
            <a:off x="14552676" y="3091339"/>
            <a:ext cx="1874519" cy="492443"/>
          </a:xfrm>
          <a:prstGeom prst="rect">
            <a:avLst/>
          </a:prstGeom>
          <a:noFill/>
        </p:spPr>
        <p:txBody>
          <a:bodyPr wrap="square" lIns="0" tIns="0" rIns="0" bIns="0" anchor="ctr">
            <a:spAutoFit/>
          </a:bodyPr>
          <a:lstStyle/>
          <a:p>
            <a:pPr algn="ctr"/>
            <a:r>
              <a:rPr sz="2000" b="1" dirty="0" err="1">
                <a:solidFill>
                  <a:srgbClr val="4A4F63"/>
                </a:solidFill>
                <a:latin typeface="210 OmniGothic 040"/>
                <a:ea typeface="210 OmniGothic 040"/>
                <a:cs typeface="210 OmniGothic 040"/>
              </a:rPr>
              <a:t>전산</a:t>
            </a:r>
            <a:r>
              <a:rPr sz="2000" b="1" dirty="0">
                <a:solidFill>
                  <a:srgbClr val="4A4F63"/>
                </a:solidFill>
                <a:latin typeface="210 OmniGothic 040"/>
                <a:ea typeface="210 OmniGothic 040"/>
                <a:cs typeface="210 OmniGothic 040"/>
              </a:rPr>
              <a:t> </a:t>
            </a:r>
            <a:r>
              <a:rPr sz="2000" b="1" dirty="0" err="1">
                <a:solidFill>
                  <a:srgbClr val="4A4F63"/>
                </a:solidFill>
                <a:latin typeface="210 OmniGothic 040"/>
                <a:ea typeface="210 OmniGothic 040"/>
                <a:cs typeface="210 OmniGothic 040"/>
              </a:rPr>
              <a:t>관리자</a:t>
            </a:r>
            <a:endParaRPr sz="2000" b="1" dirty="0">
              <a:solidFill>
                <a:srgbClr val="4A4F63"/>
              </a:solidFill>
              <a:latin typeface="210 OmniGothic 040"/>
              <a:ea typeface="210 OmniGothic 040"/>
              <a:cs typeface="210 OmniGothic 040"/>
            </a:endParaRPr>
          </a:p>
          <a:p>
            <a:pPr algn="ctr"/>
            <a:r>
              <a:rPr sz="1200" b="0" dirty="0" err="1">
                <a:solidFill>
                  <a:srgbClr val="6B7080"/>
                </a:solidFill>
                <a:latin typeface="210 OmniGothic 040"/>
                <a:ea typeface="210 OmniGothic 040"/>
                <a:cs typeface="210 OmniGothic 040"/>
              </a:rPr>
              <a:t>관리</a:t>
            </a:r>
            <a:r>
              <a:rPr sz="1200" b="0" dirty="0">
                <a:solidFill>
                  <a:srgbClr val="6B7080"/>
                </a:solidFill>
                <a:latin typeface="210 OmniGothic 040"/>
                <a:ea typeface="210 OmniGothic 040"/>
                <a:cs typeface="210 OmniGothic 040"/>
              </a:rPr>
              <a:t> </a:t>
            </a:r>
            <a:r>
              <a:rPr sz="1200" b="0" dirty="0" err="1">
                <a:solidFill>
                  <a:srgbClr val="6B7080"/>
                </a:solidFill>
                <a:latin typeface="210 OmniGothic 040"/>
                <a:ea typeface="210 OmniGothic 040"/>
                <a:cs typeface="210 OmniGothic 040"/>
              </a:rPr>
              <a:t>권한</a:t>
            </a:r>
            <a:endParaRPr sz="1200" b="0" dirty="0">
              <a:solidFill>
                <a:srgbClr val="6B7080"/>
              </a:solidFill>
              <a:latin typeface="210 OmniGothic 040"/>
              <a:ea typeface="210 OmniGothic 040"/>
              <a:cs typeface="210 OmniGothic 040"/>
            </a:endParaRPr>
          </a:p>
        </p:txBody>
      </p:sp>
      <p:sp>
        <p:nvSpPr>
          <p:cNvPr id="5082" name="TextBox 5081"/>
          <p:cNvSpPr txBox="1"/>
          <p:nvPr/>
        </p:nvSpPr>
        <p:spPr>
          <a:xfrm>
            <a:off x="13523976" y="4370832"/>
            <a:ext cx="3931920" cy="274320"/>
          </a:xfrm>
          <a:prstGeom prst="rect">
            <a:avLst/>
          </a:prstGeom>
          <a:noFill/>
        </p:spPr>
        <p:txBody>
          <a:bodyPr wrap="square" lIns="0" tIns="0" rIns="0" bIns="0" anchor="t">
            <a:spAutoFit/>
          </a:bodyPr>
          <a:lstStyle/>
          <a:p>
            <a:pPr algn="ctr"/>
            <a:r>
              <a:rPr sz="1200" b="1">
                <a:solidFill>
                  <a:srgbClr val="2E3142"/>
                </a:solidFill>
                <a:latin typeface="210 OmniGothic 040"/>
                <a:ea typeface="210 OmniGothic 040"/>
                <a:cs typeface="210 OmniGothic 040"/>
              </a:rPr>
              <a:t>평시 전산 시스템 관리 (개발자 아님)</a:t>
            </a:r>
          </a:p>
        </p:txBody>
      </p:sp>
      <p:sp>
        <p:nvSpPr>
          <p:cNvPr id="5083" name="TextBox 5082"/>
          <p:cNvSpPr txBox="1"/>
          <p:nvPr/>
        </p:nvSpPr>
        <p:spPr>
          <a:xfrm>
            <a:off x="13523976" y="4663440"/>
            <a:ext cx="3931920" cy="274320"/>
          </a:xfrm>
          <a:prstGeom prst="rect">
            <a:avLst/>
          </a:prstGeom>
          <a:noFill/>
        </p:spPr>
        <p:txBody>
          <a:bodyPr wrap="square" lIns="0" tIns="0" rIns="0" bIns="0" anchor="t">
            <a:spAutoFit/>
          </a:bodyPr>
          <a:lstStyle/>
          <a:p>
            <a:pPr algn="ctr"/>
            <a:r>
              <a:rPr sz="1100" b="1">
                <a:solidFill>
                  <a:srgbClr val="4A4F63"/>
                </a:solidFill>
                <a:latin typeface="210 OmniGothic 040"/>
                <a:ea typeface="210 OmniGothic 040"/>
                <a:cs typeface="210 OmniGothic 040"/>
              </a:rPr>
              <a:t>화면 </a:t>
            </a:r>
            <a:r>
              <a:rPr sz="1100" b="0">
                <a:solidFill>
                  <a:srgbClr val="6B7080"/>
                </a:solidFill>
                <a:latin typeface="210 OmniGothic 040"/>
                <a:ea typeface="210 OmniGothic 040"/>
                <a:cs typeface="210 OmniGothic 040"/>
              </a:rPr>
              <a:t>관리 화면</a:t>
            </a:r>
          </a:p>
        </p:txBody>
      </p:sp>
      <p:sp>
        <p:nvSpPr>
          <p:cNvPr id="5084" name="Oval 5083"/>
          <p:cNvSpPr/>
          <p:nvPr/>
        </p:nvSpPr>
        <p:spPr>
          <a:xfrm>
            <a:off x="13661136" y="5138927"/>
            <a:ext cx="256032" cy="256032"/>
          </a:xfrm>
          <a:prstGeom prst="ellipse">
            <a:avLst/>
          </a:prstGeom>
          <a:solidFill>
            <a:srgbClr val="4A4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5" name="TextBox 5084"/>
          <p:cNvSpPr txBox="1"/>
          <p:nvPr/>
        </p:nvSpPr>
        <p:spPr>
          <a:xfrm>
            <a:off x="13661136" y="5138927"/>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1</a:t>
            </a:r>
          </a:p>
        </p:txBody>
      </p:sp>
      <p:sp>
        <p:nvSpPr>
          <p:cNvPr id="5086" name="TextBox 5085"/>
          <p:cNvSpPr txBox="1"/>
          <p:nvPr/>
        </p:nvSpPr>
        <p:spPr>
          <a:xfrm>
            <a:off x="14026896" y="5120640"/>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계정·권한 관리</a:t>
            </a:r>
          </a:p>
        </p:txBody>
      </p:sp>
      <p:sp>
        <p:nvSpPr>
          <p:cNvPr id="5087" name="TextBox 5086"/>
          <p:cNvSpPr txBox="1"/>
          <p:nvPr/>
        </p:nvSpPr>
        <p:spPr>
          <a:xfrm>
            <a:off x="14026896" y="5385816"/>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계정 발급·회수, 조작·열람·보고 권한 지정</a:t>
            </a:r>
          </a:p>
        </p:txBody>
      </p:sp>
      <p:sp>
        <p:nvSpPr>
          <p:cNvPr id="5088" name="Oval 5087"/>
          <p:cNvSpPr/>
          <p:nvPr/>
        </p:nvSpPr>
        <p:spPr>
          <a:xfrm>
            <a:off x="13661136" y="5705855"/>
            <a:ext cx="256032" cy="256032"/>
          </a:xfrm>
          <a:prstGeom prst="ellipse">
            <a:avLst/>
          </a:prstGeom>
          <a:solidFill>
            <a:srgbClr val="4A4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9" name="TextBox 5088"/>
          <p:cNvSpPr txBox="1"/>
          <p:nvPr/>
        </p:nvSpPr>
        <p:spPr>
          <a:xfrm>
            <a:off x="13661136" y="5705855"/>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2</a:t>
            </a:r>
          </a:p>
        </p:txBody>
      </p:sp>
      <p:sp>
        <p:nvSpPr>
          <p:cNvPr id="5090" name="TextBox 5089"/>
          <p:cNvSpPr txBox="1"/>
          <p:nvPr/>
        </p:nvSpPr>
        <p:spPr>
          <a:xfrm>
            <a:off x="14026896" y="5687568"/>
            <a:ext cx="3383279" cy="274320"/>
          </a:xfrm>
          <a:prstGeom prst="rect">
            <a:avLst/>
          </a:prstGeom>
          <a:noFill/>
        </p:spPr>
        <p:txBody>
          <a:bodyPr wrap="square" lIns="0" tIns="0" rIns="0" bIns="0" anchor="t">
            <a:spAutoFit/>
          </a:bodyPr>
          <a:lstStyle/>
          <a:p>
            <a:pPr algn="l"/>
            <a:r>
              <a:rPr sz="1350" b="1">
                <a:solidFill>
                  <a:srgbClr val="2E3142"/>
                </a:solidFill>
                <a:latin typeface="210 OmniGothic 040"/>
                <a:ea typeface="210 OmniGothic 040"/>
                <a:cs typeface="210 OmniGothic 040"/>
              </a:rPr>
              <a:t>진화자원 데이터 관리</a:t>
            </a:r>
          </a:p>
        </p:txBody>
      </p:sp>
      <p:sp>
        <p:nvSpPr>
          <p:cNvPr id="5091" name="TextBox 5090"/>
          <p:cNvSpPr txBox="1"/>
          <p:nvPr/>
        </p:nvSpPr>
        <p:spPr>
          <a:xfrm>
            <a:off x="14026896" y="5952744"/>
            <a:ext cx="3383279" cy="256032"/>
          </a:xfrm>
          <a:prstGeom prst="rect">
            <a:avLst/>
          </a:prstGeom>
          <a:noFill/>
        </p:spPr>
        <p:txBody>
          <a:bodyPr wrap="square" lIns="0" tIns="0" rIns="0" bIns="0" anchor="t">
            <a:spAutoFit/>
          </a:bodyPr>
          <a:lstStyle/>
          <a:p>
            <a:pPr algn="l"/>
            <a:r>
              <a:rPr sz="1100" b="0">
                <a:solidFill>
                  <a:srgbClr val="6B7080"/>
                </a:solidFill>
                <a:latin typeface="210 OmniGothic 040"/>
                <a:ea typeface="210 OmniGothic 040"/>
                <a:cs typeface="210 OmniGothic 040"/>
              </a:rPr>
              <a:t>헬기·차량·인력 등록·수정·삭제</a:t>
            </a:r>
          </a:p>
        </p:txBody>
      </p:sp>
      <p:sp>
        <p:nvSpPr>
          <p:cNvPr id="5092" name="Rounded Rectangle 5091"/>
          <p:cNvSpPr/>
          <p:nvPr/>
        </p:nvSpPr>
        <p:spPr>
          <a:xfrm>
            <a:off x="822960" y="8257031"/>
            <a:ext cx="1554480" cy="457200"/>
          </a:xfrm>
          <a:prstGeom prst="roundRect">
            <a:avLst>
              <a:gd name="adj" fmla="val 6000"/>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3" name="TextBox 5092"/>
          <p:cNvSpPr txBox="1"/>
          <p:nvPr/>
        </p:nvSpPr>
        <p:spPr>
          <a:xfrm>
            <a:off x="822960" y="8257031"/>
            <a:ext cx="1554480" cy="457200"/>
          </a:xfrm>
          <a:prstGeom prst="rect">
            <a:avLst/>
          </a:prstGeom>
          <a:noFill/>
        </p:spPr>
        <p:txBody>
          <a:bodyPr wrap="square" lIns="0" tIns="0" rIns="0" bIns="0" anchor="ctr">
            <a:spAutoFit/>
          </a:bodyPr>
          <a:lstStyle/>
          <a:p>
            <a:pPr algn="ctr"/>
            <a:r>
              <a:rPr sz="1300" b="1">
                <a:solidFill>
                  <a:srgbClr val="FFFFFF"/>
                </a:solidFill>
                <a:latin typeface="210 OmniGothic 040"/>
                <a:ea typeface="210 OmniGothic 040"/>
                <a:cs typeface="210 OmniGothic 040"/>
              </a:rPr>
              <a:t>시스템 액터</a:t>
            </a:r>
          </a:p>
        </p:txBody>
      </p:sp>
      <p:sp>
        <p:nvSpPr>
          <p:cNvPr id="5094" name="Rounded Rectangle 5093"/>
          <p:cNvSpPr/>
          <p:nvPr/>
        </p:nvSpPr>
        <p:spPr>
          <a:xfrm>
            <a:off x="2606040" y="8211312"/>
            <a:ext cx="4831080" cy="548640"/>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5" name="TextBox 5094"/>
          <p:cNvSpPr txBox="1"/>
          <p:nvPr/>
        </p:nvSpPr>
        <p:spPr>
          <a:xfrm>
            <a:off x="2788920" y="8211312"/>
            <a:ext cx="4465320" cy="548640"/>
          </a:xfrm>
          <a:prstGeom prst="rect">
            <a:avLst/>
          </a:prstGeom>
          <a:noFill/>
        </p:spPr>
        <p:txBody>
          <a:bodyPr wrap="square" lIns="0" tIns="0" rIns="0" bIns="0" anchor="ctr">
            <a:spAutoFit/>
          </a:bodyPr>
          <a:lstStyle/>
          <a:p>
            <a:pPr algn="l"/>
            <a:r>
              <a:rPr sz="1250" b="1">
                <a:solidFill>
                  <a:srgbClr val="2E3142"/>
                </a:solidFill>
                <a:latin typeface="210 OmniGothic 040"/>
                <a:ea typeface="210 OmniGothic 040"/>
                <a:cs typeface="210 OmniGothic 040"/>
              </a:rPr>
              <a:t>확산예측 모듈  </a:t>
            </a:r>
            <a:r>
              <a:rPr sz="1100" b="0">
                <a:solidFill>
                  <a:srgbClr val="2E3142"/>
                </a:solidFill>
                <a:latin typeface="210 OmniGothic 040"/>
                <a:ea typeface="210 OmniGothic 040"/>
                <a:cs typeface="210 OmniGothic 040"/>
              </a:rPr>
              <a:t>실측 화선·기상·지형·연료 → 1시간 간격 P1~P8</a:t>
            </a:r>
          </a:p>
        </p:txBody>
      </p:sp>
      <p:sp>
        <p:nvSpPr>
          <p:cNvPr id="5096" name="Rounded Rectangle 5095"/>
          <p:cNvSpPr/>
          <p:nvPr/>
        </p:nvSpPr>
        <p:spPr>
          <a:xfrm>
            <a:off x="7620000" y="8211312"/>
            <a:ext cx="4831080" cy="548640"/>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7" name="TextBox 5096"/>
          <p:cNvSpPr txBox="1"/>
          <p:nvPr/>
        </p:nvSpPr>
        <p:spPr>
          <a:xfrm>
            <a:off x="7802880" y="8211312"/>
            <a:ext cx="4465320" cy="548640"/>
          </a:xfrm>
          <a:prstGeom prst="rect">
            <a:avLst/>
          </a:prstGeom>
          <a:noFill/>
        </p:spPr>
        <p:txBody>
          <a:bodyPr wrap="square" lIns="0" tIns="0" rIns="0" bIns="0" anchor="ctr">
            <a:spAutoFit/>
          </a:bodyPr>
          <a:lstStyle/>
          <a:p>
            <a:pPr algn="l"/>
            <a:r>
              <a:rPr sz="1250" b="1">
                <a:solidFill>
                  <a:srgbClr val="2E3142"/>
                </a:solidFill>
                <a:latin typeface="210 OmniGothic 040"/>
                <a:ea typeface="210 OmniGothic 040"/>
                <a:cs typeface="210 OmniGothic 040"/>
              </a:rPr>
              <a:t>AI 모델  </a:t>
            </a:r>
            <a:r>
              <a:rPr sz="1100" b="0">
                <a:solidFill>
                  <a:srgbClr val="2E3142"/>
                </a:solidFill>
                <a:latin typeface="210 OmniGothic 040"/>
                <a:ea typeface="210 OmniGothic 040"/>
                <a:cs typeface="210 OmniGothic 040"/>
              </a:rPr>
              <a:t>규칙 판정 값은 바꾸지 않고, 근거로 제안·답변 작성·정정 해석</a:t>
            </a:r>
          </a:p>
        </p:txBody>
      </p:sp>
      <p:sp>
        <p:nvSpPr>
          <p:cNvPr id="5098" name="Rounded Rectangle 5097"/>
          <p:cNvSpPr/>
          <p:nvPr/>
        </p:nvSpPr>
        <p:spPr>
          <a:xfrm>
            <a:off x="12633960" y="8211312"/>
            <a:ext cx="4831080" cy="548640"/>
          </a:xfrm>
          <a:prstGeom prst="roundRect">
            <a:avLst>
              <a:gd name="adj" fmla="val 6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9" name="TextBox 5098"/>
          <p:cNvSpPr txBox="1"/>
          <p:nvPr/>
        </p:nvSpPr>
        <p:spPr>
          <a:xfrm>
            <a:off x="12816840" y="8211312"/>
            <a:ext cx="4465320" cy="548640"/>
          </a:xfrm>
          <a:prstGeom prst="rect">
            <a:avLst/>
          </a:prstGeom>
          <a:noFill/>
        </p:spPr>
        <p:txBody>
          <a:bodyPr wrap="square" lIns="0" tIns="0" rIns="0" bIns="0" anchor="ctr">
            <a:spAutoFit/>
          </a:bodyPr>
          <a:lstStyle/>
          <a:p>
            <a:pPr algn="l"/>
            <a:r>
              <a:rPr sz="1250" b="1">
                <a:solidFill>
                  <a:srgbClr val="2E3142"/>
                </a:solidFill>
                <a:latin typeface="210 OmniGothic 040"/>
                <a:ea typeface="210 OmniGothic 040"/>
                <a:cs typeface="210 OmniGothic 040"/>
              </a:rPr>
              <a:t>기상청 API·공공데이터  </a:t>
            </a:r>
            <a:r>
              <a:rPr sz="1100" b="0">
                <a:solidFill>
                  <a:srgbClr val="2E3142"/>
                </a:solidFill>
                <a:latin typeface="210 OmniGothic 040"/>
                <a:ea typeface="210 OmniGothic 040"/>
                <a:cs typeface="210 OmniGothic 040"/>
              </a:rPr>
              <a:t>기상, 마을·시설·도로·지형 공간 데이터</a:t>
            </a:r>
          </a:p>
        </p:txBody>
      </p:sp>
    </p:spTree>
    <p:extLst>
      <p:ext uri="{BB962C8B-B14F-4D97-AF65-F5344CB8AC3E}">
        <p14:creationId xmlns:p14="http://schemas.microsoft.com/office/powerpoint/2010/main" val="1172650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03. 요구사항 분석</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1247417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요구사항 분석</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기능 요구사항 — 역할별 필요 기능과 요구사항 ID</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5024" name="Rounded Rectangle 5023"/>
          <p:cNvSpPr/>
          <p:nvPr/>
        </p:nvSpPr>
        <p:spPr>
          <a:xfrm>
            <a:off x="822960" y="2423160"/>
            <a:ext cx="4343400" cy="65379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5" name="TextBox 5024"/>
          <p:cNvSpPr txBox="1"/>
          <p:nvPr/>
        </p:nvSpPr>
        <p:spPr>
          <a:xfrm>
            <a:off x="1005840" y="2606040"/>
            <a:ext cx="1280160" cy="548640"/>
          </a:xfrm>
          <a:prstGeom prst="rect">
            <a:avLst/>
          </a:prstGeom>
          <a:noFill/>
        </p:spPr>
        <p:txBody>
          <a:bodyPr wrap="square" lIns="0" tIns="0" rIns="0" bIns="0" anchor="t">
            <a:spAutoFit/>
          </a:bodyPr>
          <a:lstStyle/>
          <a:p>
            <a:pPr algn="ctr"/>
            <a:r>
              <a:rPr sz="3000" b="1">
                <a:solidFill>
                  <a:srgbClr val="C0602A"/>
                </a:solidFill>
                <a:latin typeface="210 OmniGothic 040"/>
                <a:ea typeface="210 OmniGothic 040"/>
                <a:cs typeface="210 OmniGothic 040"/>
              </a:rPr>
              <a:t>4</a:t>
            </a:r>
          </a:p>
        </p:txBody>
      </p:sp>
      <p:sp>
        <p:nvSpPr>
          <p:cNvPr id="5026" name="TextBox 5025"/>
          <p:cNvSpPr txBox="1"/>
          <p:nvPr/>
        </p:nvSpPr>
        <p:spPr>
          <a:xfrm>
            <a:off x="1005840" y="3200400"/>
            <a:ext cx="1280160" cy="274320"/>
          </a:xfrm>
          <a:prstGeom prst="rect">
            <a:avLst/>
          </a:prstGeom>
          <a:noFill/>
        </p:spPr>
        <p:txBody>
          <a:bodyPr wrap="square" lIns="0" tIns="0" rIns="0" bIns="0" anchor="t">
            <a:spAutoFit/>
          </a:bodyPr>
          <a:lstStyle/>
          <a:p>
            <a:pPr algn="ctr"/>
            <a:r>
              <a:rPr sz="1100" b="0">
                <a:solidFill>
                  <a:srgbClr val="6B7080"/>
                </a:solidFill>
                <a:latin typeface="210 OmniGothic 040"/>
                <a:ea typeface="210 OmniGothic 040"/>
                <a:cs typeface="210 OmniGothic 040"/>
              </a:rPr>
              <a:t>역할</a:t>
            </a:r>
          </a:p>
        </p:txBody>
      </p:sp>
      <p:sp>
        <p:nvSpPr>
          <p:cNvPr id="5027" name="TextBox 5026"/>
          <p:cNvSpPr txBox="1"/>
          <p:nvPr/>
        </p:nvSpPr>
        <p:spPr>
          <a:xfrm>
            <a:off x="2377440" y="2606040"/>
            <a:ext cx="1280160" cy="548640"/>
          </a:xfrm>
          <a:prstGeom prst="rect">
            <a:avLst/>
          </a:prstGeom>
          <a:noFill/>
        </p:spPr>
        <p:txBody>
          <a:bodyPr wrap="square" lIns="0" tIns="0" rIns="0" bIns="0" anchor="t">
            <a:spAutoFit/>
          </a:bodyPr>
          <a:lstStyle/>
          <a:p>
            <a:pPr algn="ctr"/>
            <a:r>
              <a:rPr sz="3000" b="1">
                <a:solidFill>
                  <a:srgbClr val="C0602A"/>
                </a:solidFill>
                <a:latin typeface="210 OmniGothic 040"/>
                <a:ea typeface="210 OmniGothic 040"/>
                <a:cs typeface="210 OmniGothic 040"/>
              </a:rPr>
              <a:t>32</a:t>
            </a:r>
          </a:p>
        </p:txBody>
      </p:sp>
      <p:sp>
        <p:nvSpPr>
          <p:cNvPr id="5028" name="TextBox 5027"/>
          <p:cNvSpPr txBox="1"/>
          <p:nvPr/>
        </p:nvSpPr>
        <p:spPr>
          <a:xfrm>
            <a:off x="2377440" y="3200400"/>
            <a:ext cx="1280160" cy="274320"/>
          </a:xfrm>
          <a:prstGeom prst="rect">
            <a:avLst/>
          </a:prstGeom>
          <a:noFill/>
        </p:spPr>
        <p:txBody>
          <a:bodyPr wrap="square" lIns="0" tIns="0" rIns="0" bIns="0" anchor="t">
            <a:spAutoFit/>
          </a:bodyPr>
          <a:lstStyle/>
          <a:p>
            <a:pPr algn="ctr"/>
            <a:r>
              <a:rPr sz="1100" b="0">
                <a:solidFill>
                  <a:srgbClr val="6B7080"/>
                </a:solidFill>
                <a:latin typeface="210 OmniGothic 040"/>
                <a:ea typeface="210 OmniGothic 040"/>
                <a:cs typeface="210 OmniGothic 040"/>
              </a:rPr>
              <a:t>기능 요구사항</a:t>
            </a:r>
          </a:p>
        </p:txBody>
      </p:sp>
      <p:sp>
        <p:nvSpPr>
          <p:cNvPr id="5029" name="TextBox 5028"/>
          <p:cNvSpPr txBox="1"/>
          <p:nvPr/>
        </p:nvSpPr>
        <p:spPr>
          <a:xfrm>
            <a:off x="3749039" y="2606040"/>
            <a:ext cx="1280160" cy="548640"/>
          </a:xfrm>
          <a:prstGeom prst="rect">
            <a:avLst/>
          </a:prstGeom>
          <a:noFill/>
        </p:spPr>
        <p:txBody>
          <a:bodyPr wrap="square" lIns="0" tIns="0" rIns="0" bIns="0" anchor="t">
            <a:spAutoFit/>
          </a:bodyPr>
          <a:lstStyle/>
          <a:p>
            <a:pPr algn="ctr"/>
            <a:r>
              <a:rPr sz="3000" b="1">
                <a:solidFill>
                  <a:srgbClr val="C0602A"/>
                </a:solidFill>
                <a:latin typeface="210 OmniGothic 040"/>
                <a:ea typeface="210 OmniGothic 040"/>
                <a:cs typeface="210 OmniGothic 040"/>
              </a:rPr>
              <a:t>15</a:t>
            </a:r>
          </a:p>
        </p:txBody>
      </p:sp>
      <p:sp>
        <p:nvSpPr>
          <p:cNvPr id="5030" name="TextBox 5029"/>
          <p:cNvSpPr txBox="1"/>
          <p:nvPr/>
        </p:nvSpPr>
        <p:spPr>
          <a:xfrm>
            <a:off x="3749039" y="3200400"/>
            <a:ext cx="1280160" cy="274320"/>
          </a:xfrm>
          <a:prstGeom prst="rect">
            <a:avLst/>
          </a:prstGeom>
          <a:noFill/>
        </p:spPr>
        <p:txBody>
          <a:bodyPr wrap="square" lIns="0" tIns="0" rIns="0" bIns="0" anchor="t">
            <a:spAutoFit/>
          </a:bodyPr>
          <a:lstStyle/>
          <a:p>
            <a:pPr algn="ctr"/>
            <a:r>
              <a:rPr sz="1100" b="0">
                <a:solidFill>
                  <a:srgbClr val="6B7080"/>
                </a:solidFill>
                <a:latin typeface="210 OmniGothic 040"/>
                <a:ea typeface="210 OmniGothic 040"/>
                <a:cs typeface="210 OmniGothic 040"/>
              </a:rPr>
              <a:t>유스케이스</a:t>
            </a:r>
          </a:p>
        </p:txBody>
      </p:sp>
      <p:sp>
        <p:nvSpPr>
          <p:cNvPr id="5031" name="Rectangle 5030"/>
          <p:cNvSpPr/>
          <p:nvPr/>
        </p:nvSpPr>
        <p:spPr>
          <a:xfrm>
            <a:off x="1097280" y="37033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2" name="TextBox 5031"/>
          <p:cNvSpPr txBox="1"/>
          <p:nvPr/>
        </p:nvSpPr>
        <p:spPr>
          <a:xfrm>
            <a:off x="1097280" y="3840480"/>
            <a:ext cx="384048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서비스 핵심 흐름 — 통합지휘권자</a:t>
            </a:r>
          </a:p>
        </p:txBody>
      </p:sp>
      <p:sp>
        <p:nvSpPr>
          <p:cNvPr id="5033" name="Oval 5032"/>
          <p:cNvSpPr/>
          <p:nvPr/>
        </p:nvSpPr>
        <p:spPr>
          <a:xfrm>
            <a:off x="1097280" y="4334256"/>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4" name="TextBox 5033"/>
          <p:cNvSpPr txBox="1"/>
          <p:nvPr/>
        </p:nvSpPr>
        <p:spPr>
          <a:xfrm>
            <a:off x="1097280" y="4334256"/>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1</a:t>
            </a:r>
          </a:p>
        </p:txBody>
      </p:sp>
      <p:sp>
        <p:nvSpPr>
          <p:cNvPr id="5035" name="TextBox 5034"/>
          <p:cNvSpPr txBox="1"/>
          <p:nvPr/>
        </p:nvSpPr>
        <p:spPr>
          <a:xfrm>
            <a:off x="1463040" y="4343400"/>
            <a:ext cx="3566160" cy="274320"/>
          </a:xfrm>
          <a:prstGeom prst="rect">
            <a:avLst/>
          </a:prstGeom>
          <a:noFill/>
        </p:spPr>
        <p:txBody>
          <a:bodyPr wrap="square" lIns="0" tIns="0" rIns="0" bIns="0" anchor="t">
            <a:spAutoFit/>
          </a:bodyPr>
          <a:lstStyle/>
          <a:p>
            <a:pPr algn="l"/>
            <a:r>
              <a:rPr sz="1200" b="1">
                <a:solidFill>
                  <a:srgbClr val="2E3142"/>
                </a:solidFill>
                <a:latin typeface="210 OmniGothic 040"/>
                <a:ea typeface="210 OmniGothic 040"/>
                <a:cs typeface="210 OmniGothic 040"/>
              </a:rPr>
              <a:t>확산 예측 실행  </a:t>
            </a:r>
            <a:r>
              <a:rPr sz="1100" b="0">
                <a:solidFill>
                  <a:srgbClr val="C0602A"/>
                </a:solidFill>
                <a:latin typeface="210 OmniGothic 040"/>
                <a:ea typeface="210 OmniGothic 040"/>
                <a:cs typeface="210 OmniGothic 040"/>
              </a:rPr>
              <a:t>F-09</a:t>
            </a:r>
          </a:p>
        </p:txBody>
      </p:sp>
      <p:sp>
        <p:nvSpPr>
          <p:cNvPr id="5036" name="Oval 5035"/>
          <p:cNvSpPr/>
          <p:nvPr/>
        </p:nvSpPr>
        <p:spPr>
          <a:xfrm>
            <a:off x="1097280" y="4791456"/>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7" name="TextBox 5036"/>
          <p:cNvSpPr txBox="1"/>
          <p:nvPr/>
        </p:nvSpPr>
        <p:spPr>
          <a:xfrm>
            <a:off x="1097280" y="4791456"/>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2</a:t>
            </a:r>
          </a:p>
        </p:txBody>
      </p:sp>
      <p:sp>
        <p:nvSpPr>
          <p:cNvPr id="5038" name="TextBox 5037"/>
          <p:cNvSpPr txBox="1"/>
          <p:nvPr/>
        </p:nvSpPr>
        <p:spPr>
          <a:xfrm>
            <a:off x="1463040" y="4800600"/>
            <a:ext cx="3566160" cy="274320"/>
          </a:xfrm>
          <a:prstGeom prst="rect">
            <a:avLst/>
          </a:prstGeom>
          <a:noFill/>
        </p:spPr>
        <p:txBody>
          <a:bodyPr wrap="square" lIns="0" tIns="0" rIns="0" bIns="0" anchor="t">
            <a:spAutoFit/>
          </a:bodyPr>
          <a:lstStyle/>
          <a:p>
            <a:pPr algn="l"/>
            <a:r>
              <a:rPr sz="1200" b="1">
                <a:solidFill>
                  <a:srgbClr val="2E3142"/>
                </a:solidFill>
                <a:latin typeface="210 OmniGothic 040"/>
                <a:ea typeface="210 OmniGothic 040"/>
                <a:cs typeface="210 OmniGothic 040"/>
              </a:rPr>
              <a:t>산불 위험도 확인  </a:t>
            </a:r>
            <a:r>
              <a:rPr sz="1100" b="0">
                <a:solidFill>
                  <a:srgbClr val="C0602A"/>
                </a:solidFill>
                <a:latin typeface="210 OmniGothic 040"/>
                <a:ea typeface="210 OmniGothic 040"/>
                <a:cs typeface="210 OmniGothic 040"/>
              </a:rPr>
              <a:t>F-10</a:t>
            </a:r>
          </a:p>
        </p:txBody>
      </p:sp>
      <p:sp>
        <p:nvSpPr>
          <p:cNvPr id="5039" name="Oval 5038"/>
          <p:cNvSpPr/>
          <p:nvPr/>
        </p:nvSpPr>
        <p:spPr>
          <a:xfrm>
            <a:off x="1097280" y="5248656"/>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0" name="TextBox 5039"/>
          <p:cNvSpPr txBox="1"/>
          <p:nvPr/>
        </p:nvSpPr>
        <p:spPr>
          <a:xfrm>
            <a:off x="1097280" y="5248656"/>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3</a:t>
            </a:r>
          </a:p>
        </p:txBody>
      </p:sp>
      <p:sp>
        <p:nvSpPr>
          <p:cNvPr id="5041" name="TextBox 5040"/>
          <p:cNvSpPr txBox="1"/>
          <p:nvPr/>
        </p:nvSpPr>
        <p:spPr>
          <a:xfrm>
            <a:off x="1463040" y="5257800"/>
            <a:ext cx="3566160" cy="274320"/>
          </a:xfrm>
          <a:prstGeom prst="rect">
            <a:avLst/>
          </a:prstGeom>
          <a:noFill/>
        </p:spPr>
        <p:txBody>
          <a:bodyPr wrap="square" lIns="0" tIns="0" rIns="0" bIns="0" anchor="t">
            <a:spAutoFit/>
          </a:bodyPr>
          <a:lstStyle/>
          <a:p>
            <a:pPr algn="l"/>
            <a:r>
              <a:rPr sz="1200" b="1">
                <a:solidFill>
                  <a:srgbClr val="2E3142"/>
                </a:solidFill>
                <a:latin typeface="210 OmniGothic 040"/>
                <a:ea typeface="210 OmniGothic 040"/>
                <a:cs typeface="210 OmniGothic 040"/>
              </a:rPr>
              <a:t>진화·대피 대응 제안 검토  </a:t>
            </a:r>
            <a:r>
              <a:rPr sz="1100" b="0">
                <a:solidFill>
                  <a:srgbClr val="C0602A"/>
                </a:solidFill>
                <a:latin typeface="210 OmniGothic 040"/>
                <a:ea typeface="210 OmniGothic 040"/>
                <a:cs typeface="210 OmniGothic 040"/>
              </a:rPr>
              <a:t>F-11·12, F-15~28</a:t>
            </a:r>
          </a:p>
        </p:txBody>
      </p:sp>
      <p:sp>
        <p:nvSpPr>
          <p:cNvPr id="5042" name="Oval 5041"/>
          <p:cNvSpPr/>
          <p:nvPr/>
        </p:nvSpPr>
        <p:spPr>
          <a:xfrm>
            <a:off x="1097280" y="5705856"/>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3" name="TextBox 5042"/>
          <p:cNvSpPr txBox="1"/>
          <p:nvPr/>
        </p:nvSpPr>
        <p:spPr>
          <a:xfrm>
            <a:off x="1097280" y="5705856"/>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4</a:t>
            </a:r>
          </a:p>
        </p:txBody>
      </p:sp>
      <p:sp>
        <p:nvSpPr>
          <p:cNvPr id="5044" name="TextBox 5043"/>
          <p:cNvSpPr txBox="1"/>
          <p:nvPr/>
        </p:nvSpPr>
        <p:spPr>
          <a:xfrm>
            <a:off x="1463040" y="5715000"/>
            <a:ext cx="3566160" cy="274320"/>
          </a:xfrm>
          <a:prstGeom prst="rect">
            <a:avLst/>
          </a:prstGeom>
          <a:noFill/>
        </p:spPr>
        <p:txBody>
          <a:bodyPr wrap="square" lIns="0" tIns="0" rIns="0" bIns="0" anchor="t">
            <a:spAutoFit/>
          </a:bodyPr>
          <a:lstStyle/>
          <a:p>
            <a:pPr algn="l"/>
            <a:r>
              <a:rPr sz="1200" b="1">
                <a:solidFill>
                  <a:srgbClr val="2E3142"/>
                </a:solidFill>
                <a:latin typeface="210 OmniGothic 040"/>
                <a:ea typeface="210 OmniGothic 040"/>
                <a:cs typeface="210 OmniGothic 040"/>
              </a:rPr>
              <a:t>근거 조회  </a:t>
            </a:r>
            <a:r>
              <a:rPr sz="1100" b="0">
                <a:solidFill>
                  <a:srgbClr val="C0602A"/>
                </a:solidFill>
                <a:latin typeface="210 OmniGothic 040"/>
                <a:ea typeface="210 OmniGothic 040"/>
                <a:cs typeface="210 OmniGothic 040"/>
              </a:rPr>
              <a:t>F-13</a:t>
            </a:r>
          </a:p>
        </p:txBody>
      </p:sp>
      <p:sp>
        <p:nvSpPr>
          <p:cNvPr id="5045" name="Oval 5044"/>
          <p:cNvSpPr/>
          <p:nvPr/>
        </p:nvSpPr>
        <p:spPr>
          <a:xfrm>
            <a:off x="1097280" y="6163056"/>
            <a:ext cx="256032" cy="256032"/>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6" name="TextBox 5045"/>
          <p:cNvSpPr txBox="1"/>
          <p:nvPr/>
        </p:nvSpPr>
        <p:spPr>
          <a:xfrm>
            <a:off x="1097280" y="6163056"/>
            <a:ext cx="256032" cy="256032"/>
          </a:xfrm>
          <a:prstGeom prst="rect">
            <a:avLst/>
          </a:prstGeom>
          <a:noFill/>
        </p:spPr>
        <p:txBody>
          <a:bodyPr wrap="square" lIns="0" tIns="0" rIns="0" bIns="0" anchor="ctr">
            <a:spAutoFit/>
          </a:bodyPr>
          <a:lstStyle/>
          <a:p>
            <a:pPr algn="ctr"/>
            <a:r>
              <a:rPr sz="1050" b="1">
                <a:solidFill>
                  <a:srgbClr val="FFFFFF"/>
                </a:solidFill>
                <a:latin typeface="210 OmniGothic 040"/>
                <a:ea typeface="210 OmniGothic 040"/>
                <a:cs typeface="210 OmniGothic 040"/>
              </a:rPr>
              <a:t>5</a:t>
            </a:r>
          </a:p>
        </p:txBody>
      </p:sp>
      <p:sp>
        <p:nvSpPr>
          <p:cNvPr id="5047" name="TextBox 5046"/>
          <p:cNvSpPr txBox="1"/>
          <p:nvPr/>
        </p:nvSpPr>
        <p:spPr>
          <a:xfrm>
            <a:off x="1463040" y="6172200"/>
            <a:ext cx="3566160" cy="274320"/>
          </a:xfrm>
          <a:prstGeom prst="rect">
            <a:avLst/>
          </a:prstGeom>
          <a:noFill/>
        </p:spPr>
        <p:txBody>
          <a:bodyPr wrap="square" lIns="0" tIns="0" rIns="0" bIns="0" anchor="t">
            <a:spAutoFit/>
          </a:bodyPr>
          <a:lstStyle/>
          <a:p>
            <a:pPr algn="l"/>
            <a:r>
              <a:rPr sz="1200" b="1">
                <a:solidFill>
                  <a:srgbClr val="2E3142"/>
                </a:solidFill>
                <a:latin typeface="210 OmniGothic 040"/>
                <a:ea typeface="210 OmniGothic 040"/>
                <a:cs typeface="210 OmniGothic 040"/>
              </a:rPr>
              <a:t>AI 질의응답 · 상황 정정  </a:t>
            </a:r>
            <a:r>
              <a:rPr sz="1100" b="0">
                <a:solidFill>
                  <a:srgbClr val="C0602A"/>
                </a:solidFill>
                <a:latin typeface="210 OmniGothic 040"/>
                <a:ea typeface="210 OmniGothic 040"/>
                <a:cs typeface="210 OmniGothic 040"/>
              </a:rPr>
              <a:t>F-29·30</a:t>
            </a:r>
          </a:p>
        </p:txBody>
      </p:sp>
      <p:sp>
        <p:nvSpPr>
          <p:cNvPr id="5048" name="Rectangle 5047"/>
          <p:cNvSpPr/>
          <p:nvPr/>
        </p:nvSpPr>
        <p:spPr>
          <a:xfrm>
            <a:off x="1097280" y="672084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9" name="TextBox 5048"/>
          <p:cNvSpPr txBox="1"/>
          <p:nvPr/>
        </p:nvSpPr>
        <p:spPr>
          <a:xfrm>
            <a:off x="1097280" y="6858000"/>
            <a:ext cx="384048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역할 사이의 흐름</a:t>
            </a:r>
          </a:p>
        </p:txBody>
      </p:sp>
      <p:sp>
        <p:nvSpPr>
          <p:cNvPr id="5050" name="TextBox 5049"/>
          <p:cNvSpPr txBox="1"/>
          <p:nvPr/>
        </p:nvSpPr>
        <p:spPr>
          <a:xfrm>
            <a:off x="1097280" y="7269480"/>
            <a:ext cx="3840480" cy="1554480"/>
          </a:xfrm>
          <a:prstGeom prst="rect">
            <a:avLst/>
          </a:prstGeom>
          <a:noFill/>
        </p:spPr>
        <p:txBody>
          <a:bodyPr wrap="square" lIns="0" tIns="0" rIns="0" bIns="0" anchor="t">
            <a:spAutoFit/>
          </a:bodyPr>
          <a:lstStyle/>
          <a:p>
            <a:pPr algn="l">
              <a:lnSpc>
                <a:spcPct val="135000"/>
              </a:lnSpc>
            </a:pPr>
            <a:r>
              <a:rPr sz="1150" b="1">
                <a:solidFill>
                  <a:srgbClr val="4A4F63"/>
                </a:solidFill>
                <a:latin typeface="210 OmniGothic 040"/>
                <a:ea typeface="210 OmniGothic 040"/>
                <a:cs typeface="210 OmniGothic 040"/>
              </a:rPr>
              <a:t>평시 </a:t>
            </a:r>
            <a:r>
              <a:rPr sz="1150" b="0">
                <a:solidFill>
                  <a:srgbClr val="6B7080"/>
                </a:solidFill>
                <a:latin typeface="210 OmniGothic 040"/>
                <a:ea typeface="210 OmniGothic 040"/>
                <a:cs typeface="210 OmniGothic 040"/>
              </a:rPr>
              <a:t>전산 관리자가 계정·진화자원 준비</a:t>
            </a:r>
          </a:p>
          <a:p>
            <a:pPr algn="l">
              <a:lnSpc>
                <a:spcPct val="135000"/>
              </a:lnSpc>
            </a:pPr>
            <a:r>
              <a:rPr sz="1150" b="1">
                <a:solidFill>
                  <a:srgbClr val="C0602A"/>
                </a:solidFill>
                <a:latin typeface="210 OmniGothic 040"/>
                <a:ea typeface="210 OmniGothic 040"/>
                <a:cs typeface="210 OmniGothic 040"/>
              </a:rPr>
              <a:t>발생 </a:t>
            </a:r>
            <a:r>
              <a:rPr sz="1150" b="0">
                <a:solidFill>
                  <a:srgbClr val="6B7080"/>
                </a:solidFill>
                <a:latin typeface="210 OmniGothic 040"/>
                <a:ea typeface="210 OmniGothic 040"/>
                <a:cs typeface="210 OmniGothic 040"/>
              </a:rPr>
              <a:t>상황 보고자가 발화 정보·실측 화선 보고</a:t>
            </a:r>
          </a:p>
          <a:p>
            <a:pPr algn="l">
              <a:lnSpc>
                <a:spcPct val="135000"/>
              </a:lnSpc>
            </a:pPr>
            <a:r>
              <a:rPr sz="1150" b="1">
                <a:solidFill>
                  <a:srgbClr val="363A52"/>
                </a:solidFill>
                <a:latin typeface="210 OmniGothic 040"/>
                <a:ea typeface="210 OmniGothic 040"/>
                <a:cs typeface="210 OmniGothic 040"/>
              </a:rPr>
              <a:t>대응 </a:t>
            </a:r>
            <a:r>
              <a:rPr sz="1150" b="0">
                <a:solidFill>
                  <a:srgbClr val="6B7080"/>
                </a:solidFill>
                <a:latin typeface="210 OmniGothic 040"/>
                <a:ea typeface="210 OmniGothic 040"/>
                <a:cs typeface="210 OmniGothic 040"/>
              </a:rPr>
              <a:t>통합지휘권자가 예측·제안·정정</a:t>
            </a:r>
          </a:p>
          <a:p>
            <a:pPr algn="l">
              <a:lnSpc>
                <a:spcPct val="135000"/>
              </a:lnSpc>
            </a:pPr>
            <a:r>
              <a:rPr sz="1150" b="1">
                <a:solidFill>
                  <a:srgbClr val="5B7FA6"/>
                </a:solidFill>
                <a:latin typeface="210 OmniGothic 040"/>
                <a:ea typeface="210 OmniGothic 040"/>
                <a:cs typeface="210 OmniGothic 040"/>
              </a:rPr>
              <a:t>공유 </a:t>
            </a:r>
            <a:r>
              <a:rPr sz="1150" b="0">
                <a:solidFill>
                  <a:srgbClr val="6B7080"/>
                </a:solidFill>
                <a:latin typeface="210 OmniGothic 040"/>
                <a:ea typeface="210 OmniGothic 040"/>
                <a:cs typeface="210 OmniGothic 040"/>
              </a:rPr>
              <a:t>열람자는 같은 상황도를 읽기 전용으로</a:t>
            </a:r>
          </a:p>
        </p:txBody>
      </p:sp>
      <p:graphicFrame>
        <p:nvGraphicFramePr>
          <p:cNvPr id="5051" name="Table 5050"/>
          <p:cNvGraphicFramePr>
            <a:graphicFrameLocks noGrp="1"/>
          </p:cNvGraphicFramePr>
          <p:nvPr/>
        </p:nvGraphicFramePr>
        <p:xfrm>
          <a:off x="5440680" y="2423160"/>
          <a:ext cx="12024360" cy="6126480"/>
        </p:xfrm>
        <a:graphic>
          <a:graphicData uri="http://schemas.openxmlformats.org/drawingml/2006/table">
            <a:tbl>
              <a:tblPr>
                <a:tableStyleId>{5C22544A-7EE6-4342-B048-85BDC9FD1C3A}</a:tableStyleId>
              </a:tblPr>
              <a:tblGrid>
                <a:gridCol w="251460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29768">
                <a:tc>
                  <a:txBody>
                    <a:bodyPr/>
                    <a:lstStyle/>
                    <a:p>
                      <a:pPr algn="ctr"/>
                      <a:r>
                        <a:rPr sz="1250" b="1">
                          <a:solidFill>
                            <a:srgbClr val="FFFFFF"/>
                          </a:solidFill>
                          <a:latin typeface="210 OmniGothic 040"/>
                          <a:ea typeface="210 OmniGothic 040"/>
                          <a:cs typeface="210 OmniGothic 040"/>
                        </a:rPr>
                        <a:t>역할</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50" b="1">
                          <a:solidFill>
                            <a:srgbClr val="FFFFFF"/>
                          </a:solidFill>
                          <a:latin typeface="210 OmniGothic 040"/>
                          <a:ea typeface="210 OmniGothic 040"/>
                          <a:cs typeface="210 OmniGothic 040"/>
                        </a:rPr>
                        <a:t>필요 기능</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50" b="1">
                          <a:solidFill>
                            <a:srgbClr val="FFFFFF"/>
                          </a:solidFill>
                          <a:latin typeface="210 OmniGothic 040"/>
                          <a:ea typeface="210 OmniGothic 040"/>
                          <a:cs typeface="210 OmniGothic 040"/>
                        </a:rPr>
                        <a:t>관련 요구사항 ID</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50" b="1">
                          <a:solidFill>
                            <a:srgbClr val="FFFFFF"/>
                          </a:solidFill>
                          <a:latin typeface="210 OmniGothic 040"/>
                          <a:ea typeface="210 OmniGothic 040"/>
                          <a:cs typeface="210 OmniGothic 040"/>
                        </a:rPr>
                        <a:t>유스케이스</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406908">
                <a:tc>
                  <a:txBody>
                    <a:bodyPr/>
                    <a:lstStyle/>
                    <a:p>
                      <a:pPr algn="ctr"/>
                      <a:r>
                        <a:rPr sz="1150" b="1">
                          <a:solidFill>
                            <a:srgbClr val="2E3142"/>
                          </a:solidFill>
                          <a:latin typeface="210 OmniGothic 040"/>
                          <a:ea typeface="210 OmniGothic 040"/>
                          <a:cs typeface="210 OmniGothic 040"/>
                        </a:rPr>
                        <a:t>공통 (4개 역할)</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로그인·로그아웃, 권한별 첫 화면</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UC-AUTH-01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406908">
                <a:tc>
                  <a:txBody>
                    <a:bodyPr/>
                    <a:lstStyle/>
                    <a:p>
                      <a:pPr algn="ctr"/>
                      <a:r>
                        <a:rPr sz="1150" b="1">
                          <a:solidFill>
                            <a:srgbClr val="C0602A"/>
                          </a:solidFill>
                          <a:latin typeface="210 OmniGothic 040"/>
                          <a:ea typeface="210 OmniGothic 040"/>
                          <a:cs typeface="210 OmniGothic 040"/>
                        </a:rPr>
                        <a:t>상황 보고자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산불 최초 보고(신고자 정보 포함), 실측 화선 보고 (새 버전·정정)</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F-02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UC-REPORT-01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406908">
                <a:tc>
                  <a:txBody>
                    <a:bodyPr/>
                    <a:lstStyle/>
                    <a:p>
                      <a:pPr algn="ctr"/>
                      <a:r>
                        <a:rPr sz="1150" b="1">
                          <a:solidFill>
                            <a:srgbClr val="2E3142"/>
                          </a:solidFill>
                          <a:latin typeface="210 OmniGothic 040"/>
                          <a:ea typeface="210 OmniGothic 040"/>
                          <a:cs typeface="210 OmniGothic 040"/>
                        </a:rPr>
                        <a:t>보고자·지휘권자·열람자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산불 발생·접수 정보 조회</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F-04</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UC-SIT-02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406908">
                <a:tc>
                  <a:txBody>
                    <a:bodyPr/>
                    <a:lstStyle/>
                    <a:p>
                      <a:pPr algn="ctr"/>
                      <a:r>
                        <a:rPr sz="1150" b="1">
                          <a:solidFill>
                            <a:srgbClr val="2E3142"/>
                          </a:solidFill>
                          <a:latin typeface="210 OmniGothic 040"/>
                          <a:ea typeface="210 OmniGothic 040"/>
                          <a:cs typeface="210 OmniGothic 040"/>
                        </a:rPr>
                        <a:t>지휘권자·열람자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통합 상황도, 레이어, 주요 시설, 가용 현황</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F-05 ~ F-08</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UC-SIT-03</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406908">
                <a:tc>
                  <a:txBody>
                    <a:bodyPr/>
                    <a:lstStyle/>
                    <a:p>
                      <a:pPr algn="ctr"/>
                      <a:r>
                        <a:rPr sz="1150" b="1">
                          <a:solidFill>
                            <a:srgbClr val="363A52"/>
                          </a:solidFill>
                          <a:latin typeface="210 OmniGothic 040"/>
                          <a:ea typeface="210 OmniGothic 040"/>
                          <a:cs typeface="210 OmniGothic 040"/>
                        </a:rPr>
                        <a:t>통합지휘권자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50" b="0">
                          <a:solidFill>
                            <a:srgbClr val="2E3142"/>
                          </a:solidFill>
                          <a:latin typeface="210 OmniGothic 040"/>
                          <a:ea typeface="210 OmniGothic 040"/>
                          <a:cs typeface="210 OmniGothic 040"/>
                        </a:rPr>
                        <a:t>확산 예측 실행·갱신</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F-09</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UC-PRED-01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extLst>
                  <a:ext uri="{0D108BD9-81ED-4DB2-BD59-A6C34878D82A}">
                    <a16:rowId xmlns:a16="http://schemas.microsoft.com/office/drawing/2014/main" val="10005"/>
                  </a:ext>
                </a:extLst>
              </a:tr>
              <a:tr h="406908">
                <a:tc>
                  <a:txBody>
                    <a:bodyPr/>
                    <a:lstStyle/>
                    <a:p>
                      <a:pPr algn="ctr"/>
                      <a:r>
                        <a:rPr sz="1150" b="1">
                          <a:solidFill>
                            <a:srgbClr val="363A52"/>
                          </a:solidFill>
                          <a:latin typeface="210 OmniGothic 040"/>
                          <a:ea typeface="210 OmniGothic 040"/>
                          <a:cs typeface="210 OmniGothic 040"/>
                        </a:rPr>
                        <a:t>지휘권자·열람자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50" b="0">
                          <a:solidFill>
                            <a:srgbClr val="2E3142"/>
                          </a:solidFill>
                          <a:latin typeface="210 OmniGothic 040"/>
                          <a:ea typeface="210 OmniGothic 040"/>
                          <a:cs typeface="210 OmniGothic 040"/>
                        </a:rPr>
                        <a:t>산불 위험도 조회</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F-10</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UC-PRED-02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extLst>
                  <a:ext uri="{0D108BD9-81ED-4DB2-BD59-A6C34878D82A}">
                    <a16:rowId xmlns:a16="http://schemas.microsoft.com/office/drawing/2014/main" val="10006"/>
                  </a:ext>
                </a:extLst>
              </a:tr>
              <a:tr h="406908">
                <a:tc>
                  <a:txBody>
                    <a:bodyPr/>
                    <a:lstStyle/>
                    <a:p>
                      <a:pPr algn="ctr"/>
                      <a:r>
                        <a:rPr sz="1150" b="1">
                          <a:solidFill>
                            <a:srgbClr val="363A52"/>
                          </a:solidFill>
                          <a:latin typeface="210 OmniGothic 040"/>
                          <a:ea typeface="210 OmniGothic 040"/>
                          <a:cs typeface="210 OmniGothic 040"/>
                        </a:rPr>
                        <a:t>통합지휘권자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50" b="0">
                          <a:solidFill>
                            <a:srgbClr val="2E3142"/>
                          </a:solidFill>
                          <a:latin typeface="210 OmniGothic 040"/>
                          <a:ea typeface="210 OmniGothic 040"/>
                          <a:cs typeface="210 OmniGothic 040"/>
                        </a:rPr>
                        <a:t>대응 제안 생성·분류 (진화 S1~S7 · 대피 E1~E7)</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F-11, F-12, F-15 ~ F-28</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UC-PRED-01</a:t>
                      </a:r>
                    </a:p>
                    <a:p>
                      <a:pPr algn="ctr"/>
                      <a:r>
                        <a:rPr sz="1150" b="0">
                          <a:solidFill>
                            <a:srgbClr val="2E3142"/>
                          </a:solidFill>
                          <a:latin typeface="210 OmniGothic 040"/>
                          <a:ea typeface="210 OmniGothic 040"/>
                          <a:cs typeface="210 OmniGothic 040"/>
                        </a:rPr>
                        <a:t>UC-PROP-01·02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extLst>
                  <a:ext uri="{0D108BD9-81ED-4DB2-BD59-A6C34878D82A}">
                    <a16:rowId xmlns:a16="http://schemas.microsoft.com/office/drawing/2014/main" val="10007"/>
                  </a:ext>
                </a:extLst>
              </a:tr>
              <a:tr h="406908">
                <a:tc>
                  <a:txBody>
                    <a:bodyPr/>
                    <a:lstStyle/>
                    <a:p>
                      <a:pPr algn="ctr"/>
                      <a:r>
                        <a:rPr sz="1150" b="1">
                          <a:solidFill>
                            <a:srgbClr val="363A52"/>
                          </a:solidFill>
                          <a:latin typeface="210 OmniGothic 040"/>
                          <a:ea typeface="210 OmniGothic 040"/>
                          <a:cs typeface="210 OmniGothic 040"/>
                        </a:rPr>
                        <a:t>통합지휘권자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50" b="0">
                          <a:solidFill>
                            <a:srgbClr val="2E3142"/>
                          </a:solidFill>
                          <a:latin typeface="210 OmniGothic 040"/>
                          <a:ea typeface="210 OmniGothic 040"/>
                          <a:cs typeface="210 OmniGothic 040"/>
                        </a:rPr>
                        <a:t>대응 근거 조회</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F-13</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UC-PROP-03</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extLst>
                  <a:ext uri="{0D108BD9-81ED-4DB2-BD59-A6C34878D82A}">
                    <a16:rowId xmlns:a16="http://schemas.microsoft.com/office/drawing/2014/main" val="10008"/>
                  </a:ext>
                </a:extLst>
              </a:tr>
              <a:tr h="406908">
                <a:tc>
                  <a:txBody>
                    <a:bodyPr/>
                    <a:lstStyle/>
                    <a:p>
                      <a:pPr algn="ctr"/>
                      <a:r>
                        <a:rPr sz="1150" b="1">
                          <a:solidFill>
                            <a:srgbClr val="363A52"/>
                          </a:solidFill>
                          <a:latin typeface="210 OmniGothic 040"/>
                          <a:ea typeface="210 OmniGothic 040"/>
                          <a:cs typeface="210 OmniGothic 040"/>
                        </a:rPr>
                        <a:t>통합지휘권자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제안 이력·변경사항, 이벤트 로그 열람</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F-14, F-32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UC-PROP-04</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9"/>
                  </a:ext>
                </a:extLst>
              </a:tr>
              <a:tr h="406908">
                <a:tc>
                  <a:txBody>
                    <a:bodyPr/>
                    <a:lstStyle/>
                    <a:p>
                      <a:pPr algn="ctr"/>
                      <a:r>
                        <a:rPr sz="1150" b="1">
                          <a:solidFill>
                            <a:srgbClr val="363A52"/>
                          </a:solidFill>
                          <a:latin typeface="210 OmniGothic 040"/>
                          <a:ea typeface="210 OmniGothic 040"/>
                          <a:cs typeface="210 OmniGothic 040"/>
                        </a:rPr>
                        <a:t>통합지휘권자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50" b="0">
                          <a:solidFill>
                            <a:srgbClr val="2E3142"/>
                          </a:solidFill>
                          <a:latin typeface="210 OmniGothic 040"/>
                          <a:ea typeface="210 OmniGothic 040"/>
                          <a:cs typeface="210 OmniGothic 040"/>
                        </a:rPr>
                        <a:t>AI 질의응답, AI 상황 정정</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F-29, F-30</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50" b="0">
                          <a:solidFill>
                            <a:srgbClr val="2E3142"/>
                          </a:solidFill>
                          <a:latin typeface="210 OmniGothic 040"/>
                          <a:ea typeface="210 OmniGothic 040"/>
                          <a:cs typeface="210 OmniGothic 040"/>
                        </a:rPr>
                        <a:t>UC-QA-01·02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extLst>
                  <a:ext uri="{0D108BD9-81ED-4DB2-BD59-A6C34878D82A}">
                    <a16:rowId xmlns:a16="http://schemas.microsoft.com/office/drawing/2014/main" val="10010"/>
                  </a:ext>
                </a:extLst>
              </a:tr>
              <a:tr h="406908">
                <a:tc>
                  <a:txBody>
                    <a:bodyPr/>
                    <a:lstStyle/>
                    <a:p>
                      <a:pPr algn="ctr"/>
                      <a:r>
                        <a:rPr sz="1150" b="1">
                          <a:solidFill>
                            <a:srgbClr val="363A52"/>
                          </a:solidFill>
                          <a:latin typeface="210 OmniGothic 040"/>
                          <a:ea typeface="210 OmniGothic 040"/>
                          <a:cs typeface="210 OmniGothic 040"/>
                        </a:rPr>
                        <a:t>통합지휘권자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발화 종료 처리</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F-03</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UC-SIT-01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1"/>
                  </a:ext>
                </a:extLst>
              </a:tr>
              <a:tr h="406908">
                <a:tc>
                  <a:txBody>
                    <a:bodyPr/>
                    <a:lstStyle/>
                    <a:p>
                      <a:pPr algn="ctr"/>
                      <a:r>
                        <a:rPr sz="1150" b="1">
                          <a:solidFill>
                            <a:srgbClr val="4A4F63"/>
                          </a:solidFill>
                          <a:latin typeface="210 OmniGothic 040"/>
                          <a:ea typeface="210 OmniGothic 040"/>
                          <a:cs typeface="210 OmniGothic 040"/>
                        </a:rPr>
                        <a:t>전산 관리자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계정 발급·회수, 권한 지정</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UC-ADMIN-01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2"/>
                  </a:ext>
                </a:extLst>
              </a:tr>
              <a:tr h="406908">
                <a:tc>
                  <a:txBody>
                    <a:bodyPr/>
                    <a:lstStyle/>
                    <a:p>
                      <a:pPr algn="ctr"/>
                      <a:r>
                        <a:rPr sz="1150" b="1">
                          <a:solidFill>
                            <a:srgbClr val="4A4F63"/>
                          </a:solidFill>
                          <a:latin typeface="210 OmniGothic 040"/>
                          <a:ea typeface="210 OmniGothic 040"/>
                          <a:cs typeface="210 OmniGothic 040"/>
                        </a:rPr>
                        <a:t>전산 관리자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진화자원 데이터 관리</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F-31</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UC-ADMIN-02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3"/>
                  </a:ext>
                </a:extLst>
              </a:tr>
              <a:tr h="406908">
                <a:tc>
                  <a:txBody>
                    <a:bodyPr/>
                    <a:lstStyle/>
                    <a:p>
                      <a:pPr algn="ctr"/>
                      <a:r>
                        <a:rPr sz="1150" b="1">
                          <a:solidFill>
                            <a:srgbClr val="2E3142"/>
                          </a:solidFill>
                          <a:latin typeface="210 OmniGothic 040"/>
                          <a:ea typeface="210 OmniGothic 040"/>
                          <a:cs typeface="210 OmniGothic 040"/>
                        </a:rPr>
                        <a:t>시스템</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50" b="0">
                          <a:solidFill>
                            <a:srgbClr val="2E3142"/>
                          </a:solidFill>
                          <a:latin typeface="210 OmniGothic 040"/>
                          <a:ea typeface="210 OmniGothic 040"/>
                          <a:cs typeface="210 OmniGothic 040"/>
                        </a:rPr>
                        <a:t>이벤트 로그 추가 전용 기록</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F-32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50" b="0">
                          <a:solidFill>
                            <a:srgbClr val="2E3142"/>
                          </a:solidFill>
                          <a:latin typeface="210 OmniGothic 040"/>
                          <a:ea typeface="210 OmniGothic 040"/>
                          <a:cs typeface="210 OmniGothic 040"/>
                        </a:rPr>
                        <a:t>-</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14"/>
                  </a:ext>
                </a:extLst>
              </a:tr>
            </a:tbl>
          </a:graphicData>
        </a:graphic>
      </p:graphicFrame>
      <p:sp>
        <p:nvSpPr>
          <p:cNvPr id="5052" name="TextBox 5051"/>
          <p:cNvSpPr txBox="1"/>
          <p:nvPr/>
        </p:nvSpPr>
        <p:spPr>
          <a:xfrm>
            <a:off x="5440680" y="8686800"/>
            <a:ext cx="12024360" cy="169277"/>
          </a:xfrm>
          <a:prstGeom prst="rect">
            <a:avLst/>
          </a:prstGeom>
          <a:noFill/>
        </p:spPr>
        <p:txBody>
          <a:bodyPr wrap="square" lIns="0" tIns="0" rIns="0" bIns="0" anchor="t">
            <a:spAutoFit/>
          </a:bodyPr>
          <a:lstStyle/>
          <a:p>
            <a:pPr algn="l"/>
            <a:r>
              <a:rPr sz="1100" b="1" dirty="0">
                <a:solidFill>
                  <a:srgbClr val="F7C99A"/>
                </a:solidFill>
                <a:latin typeface="210 OmniGothic 040"/>
                <a:ea typeface="210 OmniGothic 040"/>
                <a:cs typeface="210 OmniGothic 040"/>
              </a:rPr>
              <a:t>■ </a:t>
            </a:r>
            <a:r>
              <a:rPr sz="1100" b="0" dirty="0" err="1">
                <a:solidFill>
                  <a:srgbClr val="6B7080"/>
                </a:solidFill>
                <a:latin typeface="210 OmniGothic 040"/>
                <a:ea typeface="210 OmniGothic 040"/>
                <a:cs typeface="210 OmniGothic 040"/>
              </a:rPr>
              <a:t>주황</a:t>
            </a:r>
            <a:r>
              <a:rPr lang="ko-KR" altLang="en-US" sz="1100" b="0" dirty="0">
                <a:solidFill>
                  <a:srgbClr val="6B7080"/>
                </a:solidFill>
                <a:latin typeface="210 OmniGothic 040"/>
                <a:ea typeface="210 OmniGothic 040"/>
                <a:cs typeface="210 OmniGothic 040"/>
              </a:rPr>
              <a:t>색</a:t>
            </a:r>
            <a:r>
              <a:rPr sz="1100" b="0" dirty="0">
                <a:solidFill>
                  <a:srgbClr val="6B7080"/>
                </a:solidFill>
                <a:latin typeface="210 OmniGothic 040"/>
                <a:ea typeface="210 OmniGothic 040"/>
                <a:cs typeface="210 OmniGothic 040"/>
              </a:rPr>
              <a:t> 행 = </a:t>
            </a:r>
            <a:r>
              <a:rPr sz="1100" b="0" dirty="0" err="1">
                <a:solidFill>
                  <a:srgbClr val="6B7080"/>
                </a:solidFill>
                <a:latin typeface="210 OmniGothic 040"/>
                <a:ea typeface="210 OmniGothic 040"/>
                <a:cs typeface="210 OmniGothic 040"/>
              </a:rPr>
              <a:t>서비스</a:t>
            </a:r>
            <a:r>
              <a:rPr sz="1100" b="0" dirty="0">
                <a:solidFill>
                  <a:srgbClr val="6B7080"/>
                </a:solidFill>
                <a:latin typeface="210 OmniGothic 040"/>
                <a:ea typeface="210 OmniGothic 040"/>
                <a:cs typeface="210 OmniGothic 040"/>
              </a:rPr>
              <a:t> </a:t>
            </a:r>
            <a:r>
              <a:rPr sz="1100" b="0" dirty="0" err="1">
                <a:solidFill>
                  <a:srgbClr val="6B7080"/>
                </a:solidFill>
                <a:latin typeface="210 OmniGothic 040"/>
                <a:ea typeface="210 OmniGothic 040"/>
                <a:cs typeface="210 OmniGothic 040"/>
              </a:rPr>
              <a:t>핵심</a:t>
            </a:r>
            <a:r>
              <a:rPr sz="1100" b="0" dirty="0">
                <a:solidFill>
                  <a:srgbClr val="6B7080"/>
                </a:solidFill>
                <a:latin typeface="210 OmniGothic 040"/>
                <a:ea typeface="210 OmniGothic 040"/>
                <a:cs typeface="210 OmniGothic 040"/>
              </a:rPr>
              <a:t> </a:t>
            </a:r>
            <a:r>
              <a:rPr sz="1100" b="0" dirty="0" err="1">
                <a:solidFill>
                  <a:srgbClr val="6B7080"/>
                </a:solidFill>
                <a:latin typeface="210 OmniGothic 040"/>
                <a:ea typeface="210 OmniGothic 040"/>
                <a:cs typeface="210 OmniGothic 040"/>
              </a:rPr>
              <a:t>흐름</a:t>
            </a:r>
            <a:r>
              <a:rPr sz="1100" b="0" dirty="0">
                <a:solidFill>
                  <a:srgbClr val="6B7080"/>
                </a:solidFill>
                <a:latin typeface="210 OmniGothic 040"/>
                <a:ea typeface="210 OmniGothic 040"/>
                <a:cs typeface="210 OmniGothic 040"/>
              </a:rPr>
              <a:t> (</a:t>
            </a:r>
            <a:r>
              <a:rPr sz="1100" b="0" dirty="0" err="1">
                <a:solidFill>
                  <a:srgbClr val="6B7080"/>
                </a:solidFill>
                <a:latin typeface="210 OmniGothic 040"/>
                <a:ea typeface="210 OmniGothic 040"/>
                <a:cs typeface="210 OmniGothic 040"/>
              </a:rPr>
              <a:t>왼쪽</a:t>
            </a:r>
            <a:r>
              <a:rPr sz="1100" b="0" dirty="0">
                <a:solidFill>
                  <a:srgbClr val="6B7080"/>
                </a:solidFill>
                <a:latin typeface="210 OmniGothic 040"/>
                <a:ea typeface="210 OmniGothic 040"/>
                <a:cs typeface="210 OmniGothic 040"/>
              </a:rPr>
              <a:t> 1~5</a:t>
            </a:r>
            <a:r>
              <a:rPr lang="ko-KR" altLang="en-US" sz="1100" b="0" dirty="0">
                <a:solidFill>
                  <a:srgbClr val="6B7080"/>
                </a:solidFill>
                <a:latin typeface="210 OmniGothic 040"/>
                <a:ea typeface="210 OmniGothic 040"/>
                <a:cs typeface="210 OmniGothic 040"/>
              </a:rPr>
              <a:t>에 대응</a:t>
            </a:r>
            <a:r>
              <a:rPr sz="1100" b="0" dirty="0">
                <a:solidFill>
                  <a:srgbClr val="6B7080"/>
                </a:solidFill>
                <a:latin typeface="210 OmniGothic 040"/>
                <a:ea typeface="210 OmniGothic 040"/>
                <a:cs typeface="210 OmniGothic 040"/>
              </a:rPr>
              <a:t>)</a:t>
            </a:r>
          </a:p>
        </p:txBody>
      </p:sp>
    </p:spTree>
    <p:extLst>
      <p:ext uri="{BB962C8B-B14F-4D97-AF65-F5344CB8AC3E}">
        <p14:creationId xmlns:p14="http://schemas.microsoft.com/office/powerpoint/2010/main" val="4218256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요구사항 분석</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AI 성능 요구사항 ① 확산 예측 성능 지표 및 하한선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16</a:t>
            </a:fld>
            <a:endParaRPr lang="en-US"/>
          </a:p>
        </p:txBody>
      </p:sp>
      <p:graphicFrame>
        <p:nvGraphicFramePr>
          <p:cNvPr id="5527" name="Table 5526"/>
          <p:cNvGraphicFramePr>
            <a:graphicFrameLocks noGrp="1"/>
          </p:cNvGraphicFramePr>
          <p:nvPr>
            <p:extLst>
              <p:ext uri="{D42A27DB-BD31-4B8C-83A1-F6EECF244321}">
                <p14:modId xmlns:p14="http://schemas.microsoft.com/office/powerpoint/2010/main" val="3409901608"/>
              </p:ext>
            </p:extLst>
          </p:nvPr>
        </p:nvGraphicFramePr>
        <p:xfrm>
          <a:off x="822960" y="2395728"/>
          <a:ext cx="16642080" cy="3264408"/>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635240">
                  <a:extLst>
                    <a:ext uri="{9D8B030D-6E8A-4147-A177-3AD203B41FA5}">
                      <a16:colId xmlns:a16="http://schemas.microsoft.com/office/drawing/2014/main" val="20004"/>
                    </a:ext>
                  </a:extLst>
                </a:gridCol>
              </a:tblGrid>
              <a:tr h="429768">
                <a:tc>
                  <a:txBody>
                    <a:bodyPr/>
                    <a:lstStyle/>
                    <a:p>
                      <a:pPr algn="ctr"/>
                      <a:r>
                        <a:rPr sz="1200" b="1" dirty="0" err="1">
                          <a:solidFill>
                            <a:srgbClr val="FFFFFF"/>
                          </a:solidFill>
                          <a:latin typeface="210 OmniGothic 040"/>
                          <a:ea typeface="210 OmniGothic 040"/>
                          <a:cs typeface="210 OmniGothic 040"/>
                        </a:rPr>
                        <a:t>성능</a:t>
                      </a:r>
                      <a:endParaRPr sz="1200" b="1" dirty="0">
                        <a:solidFill>
                          <a:srgbClr val="FFFFFF"/>
                        </a:solidFill>
                        <a:latin typeface="210 OmniGothic 040"/>
                        <a:ea typeface="210 OmniGothic 040"/>
                        <a:cs typeface="210 OmniGothic 040"/>
                      </a:endParaRP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a:solidFill>
                            <a:srgbClr val="FFFFFF"/>
                          </a:solidFill>
                          <a:latin typeface="210 OmniGothic 040"/>
                          <a:ea typeface="210 OmniGothic 040"/>
                          <a:cs typeface="210 OmniGothic 040"/>
                        </a:rPr>
                        <a:t>성능 지표</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a:solidFill>
                            <a:srgbClr val="FFFFFF"/>
                          </a:solidFill>
                          <a:latin typeface="210 OmniGothic 040"/>
                          <a:ea typeface="210 OmniGothic 040"/>
                          <a:cs typeface="210 OmniGothic 040"/>
                        </a:rPr>
                        <a:t>의미</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a:solidFill>
                            <a:srgbClr val="FFFFFF"/>
                          </a:solidFill>
                          <a:latin typeface="210 OmniGothic 040"/>
                          <a:ea typeface="210 OmniGothic 040"/>
                          <a:cs typeface="210 OmniGothic 040"/>
                        </a:rPr>
                        <a:t>하한</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dirty="0" err="1">
                          <a:solidFill>
                            <a:srgbClr val="FFFFFF"/>
                          </a:solidFill>
                          <a:latin typeface="210 OmniGothic 040"/>
                          <a:ea typeface="210 OmniGothic 040"/>
                          <a:cs typeface="210 OmniGothic 040"/>
                        </a:rPr>
                        <a:t>설정</a:t>
                      </a:r>
                      <a:r>
                        <a:rPr sz="1200" b="1" dirty="0">
                          <a:solidFill>
                            <a:srgbClr val="FFFFFF"/>
                          </a:solidFill>
                          <a:latin typeface="210 OmniGothic 040"/>
                          <a:ea typeface="210 OmniGothic 040"/>
                          <a:cs typeface="210 OmniGothic 040"/>
                        </a:rPr>
                        <a:t> </a:t>
                      </a:r>
                      <a:r>
                        <a:rPr sz="1200" b="1" dirty="0" err="1">
                          <a:solidFill>
                            <a:srgbClr val="FFFFFF"/>
                          </a:solidFill>
                          <a:latin typeface="210 OmniGothic 040"/>
                          <a:ea typeface="210 OmniGothic 040"/>
                          <a:cs typeface="210 OmniGothic 040"/>
                        </a:rPr>
                        <a:t>근거</a:t>
                      </a:r>
                      <a:r>
                        <a:rPr sz="1200" b="1" dirty="0">
                          <a:solidFill>
                            <a:srgbClr val="FFFFFF"/>
                          </a:solidFill>
                          <a:latin typeface="210 OmniGothic 040"/>
                          <a:ea typeface="210 OmniGothic 040"/>
                          <a:cs typeface="210 OmniGothic 040"/>
                        </a:rPr>
                        <a:t> (</a:t>
                      </a:r>
                      <a:r>
                        <a:rPr sz="1200" b="1" dirty="0" err="1">
                          <a:solidFill>
                            <a:srgbClr val="FFFFFF"/>
                          </a:solidFill>
                          <a:latin typeface="210 OmniGothic 040"/>
                          <a:ea typeface="210 OmniGothic 040"/>
                          <a:cs typeface="210 OmniGothic 040"/>
                        </a:rPr>
                        <a:t>하한이</a:t>
                      </a:r>
                      <a:r>
                        <a:rPr sz="1200" b="1" dirty="0">
                          <a:solidFill>
                            <a:srgbClr val="FFFFFF"/>
                          </a:solidFill>
                          <a:latin typeface="210 OmniGothic 040"/>
                          <a:ea typeface="210 OmniGothic 040"/>
                          <a:cs typeface="210 OmniGothic 040"/>
                        </a:rPr>
                        <a:t> </a:t>
                      </a:r>
                      <a:r>
                        <a:rPr lang="ko-KR" altLang="en-US" sz="1200" b="1" dirty="0">
                          <a:solidFill>
                            <a:srgbClr val="FFFFFF"/>
                          </a:solidFill>
                          <a:latin typeface="210 OmniGothic 040"/>
                          <a:ea typeface="210 OmniGothic 040"/>
                          <a:cs typeface="210 OmniGothic 040"/>
                        </a:rPr>
                        <a:t>의미</a:t>
                      </a:r>
                      <a:r>
                        <a:rPr sz="1200" b="1" dirty="0" err="1">
                          <a:solidFill>
                            <a:srgbClr val="FFFFFF"/>
                          </a:solidFill>
                          <a:latin typeface="210 OmniGothic 040"/>
                          <a:ea typeface="210 OmniGothic 040"/>
                          <a:cs typeface="210 OmniGothic 040"/>
                        </a:rPr>
                        <a:t>하는</a:t>
                      </a:r>
                      <a:r>
                        <a:rPr sz="1200" b="1" dirty="0">
                          <a:solidFill>
                            <a:srgbClr val="FFFFFF"/>
                          </a:solidFill>
                          <a:latin typeface="210 OmniGothic 040"/>
                          <a:ea typeface="210 OmniGothic 040"/>
                          <a:cs typeface="210 OmniGothic 040"/>
                        </a:rPr>
                        <a:t> 것)</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566928">
                <a:tc>
                  <a:txBody>
                    <a:bodyPr/>
                    <a:lstStyle/>
                    <a:p>
                      <a:pPr algn="ctr"/>
                      <a:r>
                        <a:rPr sz="1100" b="1">
                          <a:solidFill>
                            <a:srgbClr val="2E3142"/>
                          </a:solidFill>
                          <a:latin typeface="210 OmniGothic 040"/>
                          <a:ea typeface="210 OmniGothic 040"/>
                          <a:cs typeface="210 OmniGothic 040"/>
                        </a:rPr>
                        <a:t>예측 영역 일치도</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IoU</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예측 범위와 실제로 탄 범위가 겹친 정도. 넓게 잡아도, 좁게 잡아도 깎임</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0.582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국립산림과학원이 국내 산불 35건으로 검증한 과정 기반(물리) 모형의 일치도 58.2%. 같은 계열인 본 과제 모형이 이보다 낮으면 기존 물리 모형보다 못함. FARSITE 사례 0.535*~0.616*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566928">
                <a:tc>
                  <a:txBody>
                    <a:bodyPr/>
                    <a:lstStyle/>
                    <a:p>
                      <a:pPr algn="ctr"/>
                      <a:r>
                        <a:rPr sz="1100" b="1">
                          <a:solidFill>
                            <a:srgbClr val="2E3142"/>
                          </a:solidFill>
                          <a:latin typeface="210 OmniGothic 040"/>
                          <a:ea typeface="210 OmniGothic 040"/>
                          <a:cs typeface="210 OmniGothic 040"/>
                        </a:rPr>
                        <a:t>예측 적중률</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정밀도</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예측한 범위 중 실제로 탄 비율. 낮으면 불필요한 대피·진화 자원 분산</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0.599</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dirty="0" err="1">
                          <a:solidFill>
                            <a:srgbClr val="2E3142"/>
                          </a:solidFill>
                          <a:latin typeface="210 OmniGothic 040"/>
                          <a:ea typeface="210 OmniGothic 040"/>
                          <a:cs typeface="210 OmniGothic 040"/>
                        </a:rPr>
                        <a:t>같은</a:t>
                      </a:r>
                      <a:r>
                        <a:rPr sz="1100" b="0" dirty="0">
                          <a:solidFill>
                            <a:srgbClr val="2E3142"/>
                          </a:solidFill>
                          <a:latin typeface="210 OmniGothic 040"/>
                          <a:ea typeface="210 OmniGothic 040"/>
                          <a:cs typeface="210 OmniGothic 040"/>
                        </a:rPr>
                        <a:t> </a:t>
                      </a:r>
                      <a:r>
                        <a:rPr sz="1100" b="0" dirty="0" err="1">
                          <a:solidFill>
                            <a:srgbClr val="2E3142"/>
                          </a:solidFill>
                          <a:latin typeface="210 OmniGothic 040"/>
                          <a:ea typeface="210 OmniGothic 040"/>
                          <a:cs typeface="210 OmniGothic 040"/>
                        </a:rPr>
                        <a:t>검증</a:t>
                      </a:r>
                      <a:r>
                        <a:rPr sz="1100" b="0" dirty="0">
                          <a:solidFill>
                            <a:srgbClr val="2E3142"/>
                          </a:solidFill>
                          <a:latin typeface="210 OmniGothic 040"/>
                          <a:ea typeface="210 OmniGothic 040"/>
                          <a:cs typeface="210 OmniGothic 040"/>
                        </a:rPr>
                        <a:t> 59.9%: </a:t>
                      </a:r>
                      <a:r>
                        <a:rPr sz="1100" b="0" dirty="0" err="1">
                          <a:solidFill>
                            <a:srgbClr val="2E3142"/>
                          </a:solidFill>
                          <a:latin typeface="210 OmniGothic 040"/>
                          <a:ea typeface="210 OmniGothic 040"/>
                          <a:cs typeface="210 OmniGothic 040"/>
                        </a:rPr>
                        <a:t>예측</a:t>
                      </a:r>
                      <a:r>
                        <a:rPr sz="1100" b="0" dirty="0">
                          <a:solidFill>
                            <a:srgbClr val="2E3142"/>
                          </a:solidFill>
                          <a:latin typeface="210 OmniGothic 040"/>
                          <a:ea typeface="210 OmniGothic 040"/>
                          <a:cs typeface="210 OmniGothic 040"/>
                        </a:rPr>
                        <a:t> </a:t>
                      </a:r>
                      <a:r>
                        <a:rPr sz="1100" b="0" dirty="0" err="1">
                          <a:solidFill>
                            <a:srgbClr val="2E3142"/>
                          </a:solidFill>
                          <a:latin typeface="210 OmniGothic 040"/>
                          <a:ea typeface="210 OmniGothic 040"/>
                          <a:cs typeface="210 OmniGothic 040"/>
                        </a:rPr>
                        <a:t>범위의</a:t>
                      </a:r>
                      <a:r>
                        <a:rPr sz="1100" b="0" dirty="0">
                          <a:solidFill>
                            <a:srgbClr val="2E3142"/>
                          </a:solidFill>
                          <a:latin typeface="210 OmniGothic 040"/>
                          <a:ea typeface="210 OmniGothic 040"/>
                          <a:cs typeface="210 OmniGothic 040"/>
                        </a:rPr>
                        <a:t> 약 40%는 </a:t>
                      </a:r>
                      <a:r>
                        <a:rPr sz="1100" b="0" dirty="0" err="1">
                          <a:solidFill>
                            <a:srgbClr val="2E3142"/>
                          </a:solidFill>
                          <a:latin typeface="210 OmniGothic 040"/>
                          <a:ea typeface="210 OmniGothic 040"/>
                          <a:cs typeface="210 OmniGothic 040"/>
                        </a:rPr>
                        <a:t>실제로</a:t>
                      </a:r>
                      <a:r>
                        <a:rPr sz="1100" b="0" dirty="0">
                          <a:solidFill>
                            <a:srgbClr val="2E3142"/>
                          </a:solidFill>
                          <a:latin typeface="210 OmniGothic 040"/>
                          <a:ea typeface="210 OmniGothic 040"/>
                          <a:cs typeface="210 OmniGothic 040"/>
                        </a:rPr>
                        <a:t> </a:t>
                      </a:r>
                      <a:r>
                        <a:rPr sz="1100" b="0" dirty="0" err="1">
                          <a:solidFill>
                            <a:srgbClr val="2E3142"/>
                          </a:solidFill>
                          <a:latin typeface="210 OmniGothic 040"/>
                          <a:ea typeface="210 OmniGothic 040"/>
                          <a:cs typeface="210 OmniGothic 040"/>
                        </a:rPr>
                        <a:t>타지</a:t>
                      </a:r>
                      <a:r>
                        <a:rPr sz="1100" b="0" dirty="0">
                          <a:solidFill>
                            <a:srgbClr val="2E3142"/>
                          </a:solidFill>
                          <a:latin typeface="210 OmniGothic 040"/>
                          <a:ea typeface="210 OmniGothic 040"/>
                          <a:cs typeface="210 OmniGothic 040"/>
                        </a:rPr>
                        <a:t> </a:t>
                      </a:r>
                      <a:r>
                        <a:rPr sz="1100" b="0" dirty="0" err="1">
                          <a:solidFill>
                            <a:srgbClr val="2E3142"/>
                          </a:solidFill>
                          <a:latin typeface="210 OmniGothic 040"/>
                          <a:ea typeface="210 OmniGothic 040"/>
                          <a:cs typeface="210 OmniGothic 040"/>
                        </a:rPr>
                        <a:t>않은</a:t>
                      </a:r>
                      <a:r>
                        <a:rPr lang="en-US" sz="1100" b="0" dirty="0">
                          <a:solidFill>
                            <a:srgbClr val="2E3142"/>
                          </a:solidFill>
                          <a:latin typeface="210 OmniGothic 040"/>
                          <a:ea typeface="210 OmniGothic 040"/>
                          <a:cs typeface="210 OmniGothic 040"/>
                        </a:rPr>
                        <a:t>,</a:t>
                      </a:r>
                      <a:r>
                        <a:rPr sz="1100" b="0" dirty="0">
                          <a:solidFill>
                            <a:srgbClr val="2E3142"/>
                          </a:solidFill>
                          <a:latin typeface="210 OmniGothic 040"/>
                          <a:ea typeface="210 OmniGothic 040"/>
                          <a:cs typeface="210 OmniGothic 040"/>
                        </a:rPr>
                        <a:t> </a:t>
                      </a:r>
                      <a:r>
                        <a:rPr sz="1100" b="0" dirty="0" err="1">
                          <a:solidFill>
                            <a:srgbClr val="2E3142"/>
                          </a:solidFill>
                          <a:latin typeface="210 OmniGothic 040"/>
                          <a:ea typeface="210 OmniGothic 040"/>
                          <a:cs typeface="210 OmniGothic 040"/>
                        </a:rPr>
                        <a:t>과대</a:t>
                      </a:r>
                      <a:r>
                        <a:rPr lang="en-US" sz="1100" b="0" dirty="0">
                          <a:solidFill>
                            <a:srgbClr val="2E3142"/>
                          </a:solidFill>
                          <a:latin typeface="210 OmniGothic 040"/>
                          <a:ea typeface="210 OmniGothic 040"/>
                          <a:cs typeface="210 OmniGothic 040"/>
                        </a:rPr>
                        <a:t> </a:t>
                      </a:r>
                      <a:r>
                        <a:rPr sz="1100" b="0" dirty="0" err="1">
                          <a:solidFill>
                            <a:srgbClr val="2E3142"/>
                          </a:solidFill>
                          <a:latin typeface="210 OmniGothic 040"/>
                          <a:ea typeface="210 OmniGothic 040"/>
                          <a:cs typeface="210 OmniGothic 040"/>
                        </a:rPr>
                        <a:t>예측이었다는</a:t>
                      </a:r>
                      <a:r>
                        <a:rPr sz="1100" b="0" dirty="0">
                          <a:solidFill>
                            <a:srgbClr val="2E3142"/>
                          </a:solidFill>
                          <a:latin typeface="210 OmniGothic 040"/>
                          <a:ea typeface="210 OmniGothic 040"/>
                          <a:cs typeface="210 OmniGothic 040"/>
                        </a:rPr>
                        <a:t> </a:t>
                      </a:r>
                      <a:r>
                        <a:rPr lang="ko-KR" altLang="en-US" sz="1100" b="0" dirty="0">
                          <a:solidFill>
                            <a:srgbClr val="2E3142"/>
                          </a:solidFill>
                          <a:latin typeface="210 OmniGothic 040"/>
                          <a:ea typeface="210 OmniGothic 040"/>
                          <a:cs typeface="210 OmniGothic 040"/>
                        </a:rPr>
                        <a:t>의미</a:t>
                      </a:r>
                      <a:r>
                        <a:rPr sz="1100" b="0" dirty="0">
                          <a:solidFill>
                            <a:srgbClr val="2E3142"/>
                          </a:solidFill>
                          <a:latin typeface="210 OmniGothic 040"/>
                          <a:ea typeface="210 OmniGothic 040"/>
                          <a:cs typeface="210 OmniGothic 040"/>
                        </a:rPr>
                        <a:t>. FARSITE </a:t>
                      </a:r>
                      <a:r>
                        <a:rPr sz="1100" b="0" dirty="0" err="1">
                          <a:solidFill>
                            <a:srgbClr val="2E3142"/>
                          </a:solidFill>
                          <a:latin typeface="210 OmniGothic 040"/>
                          <a:ea typeface="210 OmniGothic 040"/>
                          <a:cs typeface="210 OmniGothic 040"/>
                        </a:rPr>
                        <a:t>사례</a:t>
                      </a:r>
                      <a:r>
                        <a:rPr sz="1100" b="0" dirty="0">
                          <a:solidFill>
                            <a:srgbClr val="2E3142"/>
                          </a:solidFill>
                          <a:latin typeface="210 OmniGothic 040"/>
                          <a:ea typeface="210 OmniGothic 040"/>
                          <a:cs typeface="210 OmniGothic 040"/>
                        </a:rPr>
                        <a:t> 0.550~0.553*</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566928">
                <a:tc>
                  <a:txBody>
                    <a:bodyPr/>
                    <a:lstStyle/>
                    <a:p>
                      <a:pPr algn="ctr"/>
                      <a:r>
                        <a:rPr sz="1100" b="1">
                          <a:solidFill>
                            <a:srgbClr val="2E3142"/>
                          </a:solidFill>
                          <a:latin typeface="210 OmniGothic 040"/>
                          <a:ea typeface="210 OmniGothic 040"/>
                          <a:cs typeface="210 OmniGothic 040"/>
                        </a:rPr>
                        <a:t>연소 영역 탐지율</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재현율</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실제로 탄 범위 중 예측이 잡아낸 비율. 낮으면 놓친 화선으로 인명 위험</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0.956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같은 검증 95.6%: 실제로 탄 범위의 4% 남짓만 놓침. 물리 모형은 넓게 예측해 높게 나오므로 적중률과 함께 봄. FARSITE 사례 0.942*~0.998*</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566928">
                <a:tc>
                  <a:txBody>
                    <a:bodyPr/>
                    <a:lstStyle/>
                    <a:p>
                      <a:pPr algn="ctr"/>
                      <a:r>
                        <a:rPr sz="1100" b="1">
                          <a:solidFill>
                            <a:srgbClr val="2E3142"/>
                          </a:solidFill>
                          <a:latin typeface="210 OmniGothic 040"/>
                          <a:ea typeface="210 OmniGothic 040"/>
                          <a:cs typeface="210 OmniGothic 040"/>
                        </a:rPr>
                        <a:t>예측 종합 점수</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F1-Score</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적중률과 탐지율을 같은 비중으로 합친 점수. 한쪽만 높으면 낮게 나옴</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0.699</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같은 검증 69.9%. FARSITE 사례 Sørensen(= F1) 0.69~0.70</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r h="566928">
                <a:tc>
                  <a:txBody>
                    <a:bodyPr/>
                    <a:lstStyle/>
                    <a:p>
                      <a:pPr algn="ctr"/>
                      <a:r>
                        <a:rPr sz="1100" b="1">
                          <a:solidFill>
                            <a:srgbClr val="2E3142"/>
                          </a:solidFill>
                          <a:latin typeface="210 OmniGothic 040"/>
                          <a:ea typeface="210 OmniGothic 040"/>
                          <a:cs typeface="210 OmniGothic 040"/>
                        </a:rPr>
                        <a:t>탐지 중심 종합 점수</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00" b="1">
                          <a:solidFill>
                            <a:srgbClr val="2E3142"/>
                          </a:solidFill>
                          <a:latin typeface="210 OmniGothic 040"/>
                          <a:ea typeface="210 OmniGothic 040"/>
                          <a:cs typeface="210 OmniGothic 040"/>
                        </a:rPr>
                        <a:t>F2-Score</a:t>
                      </a:r>
                    </a:p>
                    <a:p>
                      <a:pPr algn="ctr"/>
                      <a:r>
                        <a:rPr sz="1100" b="1">
                          <a:solidFill>
                            <a:srgbClr val="2E3142"/>
                          </a:solidFill>
                          <a:latin typeface="210 OmniGothic 040"/>
                          <a:ea typeface="210 OmniGothic 040"/>
                          <a:cs typeface="210 OmniGothic 040"/>
                        </a:rPr>
                        <a:t>(핵심 지표)</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00" b="0">
                          <a:solidFill>
                            <a:srgbClr val="2E3142"/>
                          </a:solidFill>
                          <a:latin typeface="210 OmniGothic 040"/>
                          <a:ea typeface="210 OmniGothic 040"/>
                          <a:cs typeface="210 OmniGothic 040"/>
                        </a:rPr>
                        <a:t>탐지율에 적중률의 4배 비중을 둔 종합 점수. 놓친 범위를 더 크게 감점</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ctr"/>
                      <a:r>
                        <a:rPr sz="1100" b="1">
                          <a:solidFill>
                            <a:srgbClr val="C0602A"/>
                          </a:solidFill>
                          <a:latin typeface="210 OmniGothic 040"/>
                          <a:ea typeface="210 OmniGothic 040"/>
                          <a:cs typeface="210 OmniGothic 040"/>
                        </a:rPr>
                        <a:t>≥ 0.805</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tc>
                  <a:txBody>
                    <a:bodyPr/>
                    <a:lstStyle/>
                    <a:p>
                      <a:pPr algn="l"/>
                      <a:r>
                        <a:rPr sz="1100" b="0">
                          <a:solidFill>
                            <a:srgbClr val="2E3142"/>
                          </a:solidFill>
                          <a:latin typeface="210 OmniGothic 040"/>
                          <a:ea typeface="210 OmniGothic 040"/>
                          <a:cs typeface="210 OmniGothic 040"/>
                        </a:rPr>
                        <a:t>같은 검증 80.5%로, 설명서도 미탐지가 인명 피해로 이어진다는 이유로 핵심 지표로 지정. FARSITE 사례 0.802*~0.826*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4E8"/>
                    </a:solidFill>
                  </a:tcPr>
                </a:tc>
                <a:extLst>
                  <a:ext uri="{0D108BD9-81ED-4DB2-BD59-A6C34878D82A}">
                    <a16:rowId xmlns:a16="http://schemas.microsoft.com/office/drawing/2014/main" val="10005"/>
                  </a:ext>
                </a:extLst>
              </a:tr>
            </a:tbl>
          </a:graphicData>
        </a:graphic>
      </p:graphicFrame>
      <p:sp>
        <p:nvSpPr>
          <p:cNvPr id="5528" name="Rounded Rectangle 5527"/>
          <p:cNvSpPr/>
          <p:nvPr/>
        </p:nvSpPr>
        <p:spPr>
          <a:xfrm>
            <a:off x="822960" y="6080760"/>
            <a:ext cx="5364480" cy="21031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9" name="Rectangle 5528"/>
          <p:cNvSpPr/>
          <p:nvPr/>
        </p:nvSpPr>
        <p:spPr>
          <a:xfrm>
            <a:off x="1097280" y="630936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0" name="TextBox 5529"/>
          <p:cNvSpPr txBox="1"/>
          <p:nvPr/>
        </p:nvSpPr>
        <p:spPr>
          <a:xfrm>
            <a:off x="1097280" y="6446520"/>
            <a:ext cx="48158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하한 = 국내 물리 모형 검증치</a:t>
            </a:r>
          </a:p>
        </p:txBody>
      </p:sp>
      <p:sp>
        <p:nvSpPr>
          <p:cNvPr id="5531" name="TextBox 5530"/>
          <p:cNvSpPr txBox="1"/>
          <p:nvPr/>
        </p:nvSpPr>
        <p:spPr>
          <a:xfrm>
            <a:off x="1097280" y="6830568"/>
            <a:ext cx="4815840" cy="1188719"/>
          </a:xfrm>
          <a:prstGeom prst="rect">
            <a:avLst/>
          </a:prstGeom>
          <a:noFill/>
        </p:spPr>
        <p:txBody>
          <a:bodyPr wrap="square" lIns="0" tIns="0" rIns="0" bIns="0" anchor="t">
            <a:spAutoFit/>
          </a:bodyPr>
          <a:lstStyle/>
          <a:p>
            <a:pPr algn="l">
              <a:lnSpc>
                <a:spcPct val="120000"/>
              </a:lnSpc>
            </a:pPr>
            <a:r>
              <a:rPr sz="1150" b="0">
                <a:solidFill>
                  <a:srgbClr val="6B7080"/>
                </a:solidFill>
                <a:latin typeface="210 OmniGothic 040"/>
                <a:ea typeface="210 OmniGothic 040"/>
                <a:cs typeface="210 OmniGothic 040"/>
              </a:rPr>
              <a:t>국립산림과학원이 국내 산불 35건(화선 335개)에서 과정 기반(물리) 확산모형을 실제 화선과 비교한 성능. 본 과제도 물리 모형(ELMFIRE)을 보정해 쓰므로 최소한 이 수준은 넘어야 함. 같은 검증의 AI 모형(일치도 67.1%, 탐지 중심 종합 점수 84.0%)은 목표 참고값</a:t>
            </a:r>
          </a:p>
        </p:txBody>
      </p:sp>
      <p:sp>
        <p:nvSpPr>
          <p:cNvPr id="5532" name="Rounded Rectangle 5531"/>
          <p:cNvSpPr/>
          <p:nvPr/>
        </p:nvSpPr>
        <p:spPr>
          <a:xfrm>
            <a:off x="6461760" y="6080760"/>
            <a:ext cx="5364480" cy="21031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3" name="Rectangle 5532"/>
          <p:cNvSpPr/>
          <p:nvPr/>
        </p:nvSpPr>
        <p:spPr>
          <a:xfrm>
            <a:off x="6736080" y="630936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4" name="TextBox 5533"/>
          <p:cNvSpPr txBox="1"/>
          <p:nvPr/>
        </p:nvSpPr>
        <p:spPr>
          <a:xfrm>
            <a:off x="6736080" y="6446520"/>
            <a:ext cx="48158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평가 데이터·시점</a:t>
            </a:r>
          </a:p>
        </p:txBody>
      </p:sp>
      <p:sp>
        <p:nvSpPr>
          <p:cNvPr id="5535" name="TextBox 5534"/>
          <p:cNvSpPr txBox="1"/>
          <p:nvPr/>
        </p:nvSpPr>
        <p:spPr>
          <a:xfrm>
            <a:off x="6736080" y="6830568"/>
            <a:ext cx="4815840" cy="1188719"/>
          </a:xfrm>
          <a:prstGeom prst="rect">
            <a:avLst/>
          </a:prstGeom>
          <a:noFill/>
        </p:spPr>
        <p:txBody>
          <a:bodyPr wrap="square" lIns="0" tIns="0" rIns="0" bIns="0" anchor="t">
            <a:spAutoFit/>
          </a:bodyPr>
          <a:lstStyle/>
          <a:p>
            <a:pPr algn="l">
              <a:lnSpc>
                <a:spcPct val="120000"/>
              </a:lnSpc>
            </a:pPr>
            <a:r>
              <a:rPr sz="1150" b="0">
                <a:solidFill>
                  <a:srgbClr val="6B7080"/>
                </a:solidFill>
                <a:latin typeface="210 OmniGothic 040"/>
                <a:ea typeface="210 OmniGothic 040"/>
                <a:cs typeface="210 OmniGothic 040"/>
              </a:rPr>
              <a:t>연료 파라미터는 일치도(IoU)로 보정하고, 성능은 보정에 쓰지 않은 hold-out 산불 사건의 평균으로 판정. 예측 최종 시점 P8(누적 8시간)을 AI Hub 실측 최종 소실 경계와 비교(설명서는 시점별 진화상황도 화선과 비교)</a:t>
            </a:r>
          </a:p>
        </p:txBody>
      </p:sp>
      <p:sp>
        <p:nvSpPr>
          <p:cNvPr id="5536" name="Rounded Rectangle 5535"/>
          <p:cNvSpPr/>
          <p:nvPr/>
        </p:nvSpPr>
        <p:spPr>
          <a:xfrm>
            <a:off x="12100560" y="6080760"/>
            <a:ext cx="5364480" cy="21031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7" name="Rectangle 5536"/>
          <p:cNvSpPr/>
          <p:nvPr/>
        </p:nvSpPr>
        <p:spPr>
          <a:xfrm>
            <a:off x="12374880" y="630936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8" name="TextBox 5537"/>
          <p:cNvSpPr txBox="1"/>
          <p:nvPr/>
        </p:nvSpPr>
        <p:spPr>
          <a:xfrm>
            <a:off x="12374880" y="6446520"/>
            <a:ext cx="48158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핵심 지표: 탐지 중심 종합 점수</a:t>
            </a:r>
          </a:p>
        </p:txBody>
      </p:sp>
      <p:sp>
        <p:nvSpPr>
          <p:cNvPr id="5539" name="TextBox 5538"/>
          <p:cNvSpPr txBox="1"/>
          <p:nvPr/>
        </p:nvSpPr>
        <p:spPr>
          <a:xfrm>
            <a:off x="12374880" y="6830568"/>
            <a:ext cx="4815840" cy="1188719"/>
          </a:xfrm>
          <a:prstGeom prst="rect">
            <a:avLst/>
          </a:prstGeom>
          <a:noFill/>
        </p:spPr>
        <p:txBody>
          <a:bodyPr wrap="square" lIns="0" tIns="0" rIns="0" bIns="0" anchor="t">
            <a:spAutoFit/>
          </a:bodyPr>
          <a:lstStyle/>
          <a:p>
            <a:pPr algn="l">
              <a:lnSpc>
                <a:spcPct val="120000"/>
              </a:lnSpc>
            </a:pPr>
            <a:r>
              <a:rPr sz="1150" b="0">
                <a:solidFill>
                  <a:srgbClr val="6B7080"/>
                </a:solidFill>
                <a:latin typeface="210 OmniGothic 040"/>
                <a:ea typeface="210 OmniGothic 040"/>
                <a:cs typeface="210 OmniGothic 040"/>
              </a:rPr>
              <a:t>놓친 화선은 인명 피해로 이어지므로 탐지율에 4배 비중을 둔 F2를 핵심으로 봄. 탐지율은 넓게 예측하면 오르므로 적중률과 함께 판단</a:t>
            </a:r>
          </a:p>
        </p:txBody>
      </p:sp>
      <p:sp>
        <p:nvSpPr>
          <p:cNvPr id="5540" name="TextBox 5539"/>
          <p:cNvSpPr txBox="1"/>
          <p:nvPr/>
        </p:nvSpPr>
        <p:spPr>
          <a:xfrm>
            <a:off x="822960" y="8339327"/>
            <a:ext cx="16642080" cy="146194"/>
          </a:xfrm>
          <a:prstGeom prst="rect">
            <a:avLst/>
          </a:prstGeom>
          <a:noFill/>
        </p:spPr>
        <p:txBody>
          <a:bodyPr wrap="square" lIns="0" tIns="0" rIns="0" bIns="0" anchor="t">
            <a:spAutoFit/>
          </a:bodyPr>
          <a:lstStyle/>
          <a:p>
            <a:pPr algn="l"/>
            <a:r>
              <a:rPr sz="950" b="0" dirty="0">
                <a:solidFill>
                  <a:srgbClr val="6B7080"/>
                </a:solidFill>
                <a:latin typeface="210 OmniGothic 040"/>
                <a:ea typeface="210 OmniGothic 040"/>
                <a:cs typeface="210 OmniGothic 040"/>
              </a:rPr>
              <a:t>* </a:t>
            </a:r>
            <a:r>
              <a:rPr sz="950" b="0" dirty="0" err="1">
                <a:solidFill>
                  <a:srgbClr val="6B7080"/>
                </a:solidFill>
                <a:latin typeface="210 OmniGothic 040"/>
                <a:ea typeface="210 OmniGothic 040"/>
                <a:cs typeface="210 OmniGothic 040"/>
              </a:rPr>
              <a:t>논문의</a:t>
            </a:r>
            <a:r>
              <a:rPr sz="950" b="0" dirty="0">
                <a:solidFill>
                  <a:srgbClr val="6B7080"/>
                </a:solidFill>
                <a:latin typeface="210 OmniGothic 040"/>
                <a:ea typeface="210 OmniGothic 040"/>
                <a:cs typeface="210 OmniGothic 040"/>
              </a:rPr>
              <a:t> </a:t>
            </a:r>
            <a:r>
              <a:rPr sz="950" b="0" dirty="0" err="1">
                <a:solidFill>
                  <a:srgbClr val="6B7080"/>
                </a:solidFill>
                <a:latin typeface="210 OmniGothic 040"/>
                <a:ea typeface="210 OmniGothic 040"/>
                <a:cs typeface="210 OmniGothic 040"/>
              </a:rPr>
              <a:t>일치·과대·과소</a:t>
            </a:r>
            <a:r>
              <a:rPr sz="950" b="0" dirty="0">
                <a:solidFill>
                  <a:srgbClr val="6B7080"/>
                </a:solidFill>
                <a:latin typeface="210 OmniGothic 040"/>
                <a:ea typeface="210 OmniGothic 040"/>
                <a:cs typeface="210 OmniGothic 040"/>
              </a:rPr>
              <a:t> </a:t>
            </a:r>
            <a:r>
              <a:rPr sz="950" b="0" dirty="0" err="1">
                <a:solidFill>
                  <a:srgbClr val="6B7080"/>
                </a:solidFill>
                <a:latin typeface="210 OmniGothic 040"/>
                <a:ea typeface="210 OmniGothic 040"/>
                <a:cs typeface="210 OmniGothic 040"/>
              </a:rPr>
              <a:t>면적으로</a:t>
            </a:r>
            <a:r>
              <a:rPr sz="950" b="0" dirty="0">
                <a:solidFill>
                  <a:srgbClr val="6B7080"/>
                </a:solidFill>
                <a:latin typeface="210 OmniGothic 040"/>
                <a:ea typeface="210 OmniGothic 040"/>
                <a:cs typeface="210 OmniGothic 040"/>
              </a:rPr>
              <a:t> </a:t>
            </a:r>
            <a:r>
              <a:rPr sz="950" b="0" dirty="0" err="1">
                <a:solidFill>
                  <a:srgbClr val="6B7080"/>
                </a:solidFill>
                <a:latin typeface="210 OmniGothic 040"/>
                <a:ea typeface="210 OmniGothic 040"/>
                <a:cs typeface="210 OmniGothic 040"/>
              </a:rPr>
              <a:t>환산한</a:t>
            </a:r>
            <a:r>
              <a:rPr sz="950" b="0" dirty="0">
                <a:solidFill>
                  <a:srgbClr val="6B7080"/>
                </a:solidFill>
                <a:latin typeface="210 OmniGothic 040"/>
                <a:ea typeface="210 OmniGothic 040"/>
                <a:cs typeface="210 OmniGothic 040"/>
              </a:rPr>
              <a:t> 값 </a:t>
            </a:r>
            <a:r>
              <a:rPr lang="en-US" sz="950" b="0" dirty="0">
                <a:solidFill>
                  <a:srgbClr val="6B7080"/>
                </a:solidFill>
                <a:latin typeface="210 OmniGothic 040"/>
                <a:ea typeface="210 OmniGothic 040"/>
                <a:cs typeface="210 OmniGothic 040"/>
              </a:rPr>
              <a:t>/</a:t>
            </a:r>
            <a:r>
              <a:rPr sz="950" b="0" dirty="0">
                <a:solidFill>
                  <a:srgbClr val="6B7080"/>
                </a:solidFill>
                <a:latin typeface="210 OmniGothic 040"/>
                <a:ea typeface="210 OmniGothic 040"/>
                <a:cs typeface="210 OmniGothic 040"/>
              </a:rPr>
              <a:t>  </a:t>
            </a:r>
            <a:r>
              <a:rPr sz="950" b="0" dirty="0" err="1">
                <a:solidFill>
                  <a:srgbClr val="6B7080"/>
                </a:solidFill>
                <a:latin typeface="210 OmniGothic 040"/>
                <a:ea typeface="210 OmniGothic 040"/>
                <a:cs typeface="210 OmniGothic 040"/>
              </a:rPr>
              <a:t>검증치</a:t>
            </a:r>
            <a:r>
              <a:rPr sz="950" b="0" dirty="0">
                <a:solidFill>
                  <a:srgbClr val="6B7080"/>
                </a:solidFill>
                <a:latin typeface="210 OmniGothic 040"/>
                <a:ea typeface="210 OmniGothic 040"/>
                <a:cs typeface="210 OmniGothic 040"/>
              </a:rPr>
              <a:t>: </a:t>
            </a:r>
            <a:r>
              <a:rPr sz="950" b="1" dirty="0" err="1">
                <a:solidFill>
                  <a:srgbClr val="6B7080"/>
                </a:solidFill>
                <a:latin typeface="210 OmniGothic 040"/>
                <a:ea typeface="210 OmniGothic 040"/>
                <a:cs typeface="210 OmniGothic 040"/>
              </a:rPr>
              <a:t>국립산림과학원</a:t>
            </a:r>
            <a:r>
              <a:rPr sz="950" b="1" dirty="0">
                <a:solidFill>
                  <a:srgbClr val="6B7080"/>
                </a:solidFill>
                <a:latin typeface="210 OmniGothic 040"/>
                <a:ea typeface="210 OmniGothic 040"/>
                <a:cs typeface="210 OmniGothic 040"/>
              </a:rPr>
              <a:t>(2026) 「AI </a:t>
            </a:r>
            <a:r>
              <a:rPr sz="950" b="1" dirty="0" err="1">
                <a:solidFill>
                  <a:srgbClr val="6B7080"/>
                </a:solidFill>
                <a:latin typeface="210 OmniGothic 040"/>
                <a:ea typeface="210 OmniGothic 040"/>
                <a:cs typeface="210 OmniGothic 040"/>
              </a:rPr>
              <a:t>기반</a:t>
            </a:r>
            <a:r>
              <a:rPr sz="950" b="1" dirty="0">
                <a:solidFill>
                  <a:srgbClr val="6B7080"/>
                </a:solidFill>
                <a:latin typeface="210 OmniGothic 040"/>
                <a:ea typeface="210 OmniGothic 040"/>
                <a:cs typeface="210 OmniGothic 040"/>
              </a:rPr>
              <a:t> </a:t>
            </a:r>
            <a:r>
              <a:rPr sz="950" b="1" dirty="0" err="1">
                <a:solidFill>
                  <a:srgbClr val="6B7080"/>
                </a:solidFill>
                <a:latin typeface="210 OmniGothic 040"/>
                <a:ea typeface="210 OmniGothic 040"/>
                <a:cs typeface="210 OmniGothic 040"/>
              </a:rPr>
              <a:t>산불확산예측</a:t>
            </a:r>
            <a:r>
              <a:rPr sz="950" b="1" dirty="0">
                <a:solidFill>
                  <a:srgbClr val="6B7080"/>
                </a:solidFill>
                <a:latin typeface="210 OmniGothic 040"/>
                <a:ea typeface="210 OmniGothic 040"/>
                <a:cs typeface="210 OmniGothic 040"/>
              </a:rPr>
              <a:t> </a:t>
            </a:r>
            <a:r>
              <a:rPr sz="950" b="1" dirty="0" err="1">
                <a:solidFill>
                  <a:srgbClr val="6B7080"/>
                </a:solidFill>
                <a:latin typeface="210 OmniGothic 040"/>
                <a:ea typeface="210 OmniGothic 040"/>
                <a:cs typeface="210 OmniGothic 040"/>
              </a:rPr>
              <a:t>알고리즘</a:t>
            </a:r>
            <a:r>
              <a:rPr sz="950" b="1" dirty="0">
                <a:solidFill>
                  <a:srgbClr val="6B7080"/>
                </a:solidFill>
                <a:latin typeface="210 OmniGothic 040"/>
                <a:ea typeface="210 OmniGothic 040"/>
                <a:cs typeface="210 OmniGothic 040"/>
              </a:rPr>
              <a:t> </a:t>
            </a:r>
            <a:r>
              <a:rPr sz="950" b="1" dirty="0" err="1">
                <a:solidFill>
                  <a:srgbClr val="6B7080"/>
                </a:solidFill>
                <a:latin typeface="210 OmniGothic 040"/>
                <a:ea typeface="210 OmniGothic 040"/>
                <a:cs typeface="210 OmniGothic 040"/>
              </a:rPr>
              <a:t>설명서</a:t>
            </a:r>
            <a:r>
              <a:rPr sz="950" b="1" dirty="0">
                <a:solidFill>
                  <a:srgbClr val="6B7080"/>
                </a:solidFill>
                <a:latin typeface="210 OmniGothic 040"/>
                <a:ea typeface="210 OmniGothic 040"/>
                <a:cs typeface="210 OmniGothic 040"/>
              </a:rPr>
              <a:t>」 </a:t>
            </a:r>
            <a:r>
              <a:rPr sz="950" b="1" dirty="0" err="1">
                <a:solidFill>
                  <a:srgbClr val="6B7080"/>
                </a:solidFill>
                <a:latin typeface="210 OmniGothic 040"/>
                <a:ea typeface="210 OmniGothic 040"/>
                <a:cs typeface="210 OmniGothic 040"/>
              </a:rPr>
              <a:t>연구자료</a:t>
            </a:r>
            <a:r>
              <a:rPr sz="950" b="1" dirty="0">
                <a:solidFill>
                  <a:srgbClr val="6B7080"/>
                </a:solidFill>
                <a:latin typeface="210 OmniGothic 040"/>
                <a:ea typeface="210 OmniGothic 040"/>
                <a:cs typeface="210 OmniGothic 040"/>
              </a:rPr>
              <a:t> 제1207호 p.45 표 11 </a:t>
            </a:r>
            <a:r>
              <a:rPr lang="en-US" sz="950" b="1" dirty="0">
                <a:solidFill>
                  <a:srgbClr val="6B7080"/>
                </a:solidFill>
                <a:latin typeface="210 OmniGothic 040"/>
                <a:ea typeface="210 OmniGothic 040"/>
                <a:cs typeface="210 OmniGothic 040"/>
              </a:rPr>
              <a:t>/</a:t>
            </a:r>
            <a:r>
              <a:rPr sz="950" b="0" dirty="0">
                <a:solidFill>
                  <a:srgbClr val="6B7080"/>
                </a:solidFill>
                <a:latin typeface="210 OmniGothic 040"/>
                <a:ea typeface="210 OmniGothic 040"/>
                <a:cs typeface="210 OmniGothic 040"/>
              </a:rPr>
              <a:t>  FARSITE </a:t>
            </a:r>
            <a:r>
              <a:rPr sz="950" b="0" dirty="0" err="1">
                <a:solidFill>
                  <a:srgbClr val="6B7080"/>
                </a:solidFill>
                <a:latin typeface="210 OmniGothic 040"/>
                <a:ea typeface="210 OmniGothic 040"/>
                <a:cs typeface="210 OmniGothic 040"/>
              </a:rPr>
              <a:t>사례</a:t>
            </a:r>
            <a:r>
              <a:rPr sz="950" b="0" dirty="0">
                <a:solidFill>
                  <a:srgbClr val="6B7080"/>
                </a:solidFill>
                <a:latin typeface="210 OmniGothic 040"/>
                <a:ea typeface="210 OmniGothic 040"/>
                <a:cs typeface="210 OmniGothic 040"/>
              </a:rPr>
              <a:t>: Price &amp; Germino(2022) Fire Ecology 18:23 표 2 · </a:t>
            </a:r>
            <a:r>
              <a:rPr sz="950" b="0" dirty="0" err="1">
                <a:solidFill>
                  <a:srgbClr val="6B7080"/>
                </a:solidFill>
                <a:latin typeface="210 OmniGothic 040"/>
                <a:ea typeface="210 OmniGothic 040"/>
                <a:cs typeface="210 OmniGothic 040"/>
              </a:rPr>
              <a:t>Jahdi</a:t>
            </a:r>
            <a:r>
              <a:rPr sz="950" b="0" dirty="0">
                <a:solidFill>
                  <a:srgbClr val="6B7080"/>
                </a:solidFill>
                <a:latin typeface="210 OmniGothic 040"/>
                <a:ea typeface="210 OmniGothic 040"/>
                <a:cs typeface="210 OmniGothic 040"/>
              </a:rPr>
              <a:t> 외(2015) NHESS 15:443 표 4 · Kuhnen 외(2026) Fire 9:311 표 3</a:t>
            </a:r>
          </a:p>
        </p:txBody>
      </p:sp>
    </p:spTree>
    <p:extLst>
      <p:ext uri="{BB962C8B-B14F-4D97-AF65-F5344CB8AC3E}">
        <p14:creationId xmlns:p14="http://schemas.microsoft.com/office/powerpoint/2010/main" val="326223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요구사항 분석</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AI 성능 요구사항 ② 대응 제안 성능 지표 및 하한선</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17</a:t>
            </a:fld>
            <a:endParaRPr lang="en-US"/>
          </a:p>
        </p:txBody>
      </p:sp>
      <p:graphicFrame>
        <p:nvGraphicFramePr>
          <p:cNvPr id="5527" name="Table 5526"/>
          <p:cNvGraphicFramePr>
            <a:graphicFrameLocks noGrp="1"/>
          </p:cNvGraphicFramePr>
          <p:nvPr>
            <p:extLst>
              <p:ext uri="{D42A27DB-BD31-4B8C-83A1-F6EECF244321}">
                <p14:modId xmlns:p14="http://schemas.microsoft.com/office/powerpoint/2010/main" val="1827168465"/>
              </p:ext>
            </p:extLst>
          </p:nvPr>
        </p:nvGraphicFramePr>
        <p:xfrm>
          <a:off x="822960" y="2395728"/>
          <a:ext cx="16642080" cy="306324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995160">
                  <a:extLst>
                    <a:ext uri="{9D8B030D-6E8A-4147-A177-3AD203B41FA5}">
                      <a16:colId xmlns:a16="http://schemas.microsoft.com/office/drawing/2014/main" val="20004"/>
                    </a:ext>
                  </a:extLst>
                </a:gridCol>
              </a:tblGrid>
              <a:tr h="429768">
                <a:tc>
                  <a:txBody>
                    <a:bodyPr/>
                    <a:lstStyle/>
                    <a:p>
                      <a:pPr algn="ctr"/>
                      <a:r>
                        <a:rPr sz="1200" b="1" dirty="0" err="1">
                          <a:solidFill>
                            <a:srgbClr val="FFFFFF"/>
                          </a:solidFill>
                          <a:latin typeface="210 OmniGothic 040"/>
                          <a:ea typeface="210 OmniGothic 040"/>
                          <a:cs typeface="210 OmniGothic 040"/>
                        </a:rPr>
                        <a:t>성능</a:t>
                      </a:r>
                      <a:endParaRPr sz="1200" b="1" dirty="0">
                        <a:solidFill>
                          <a:srgbClr val="FFFFFF"/>
                        </a:solidFill>
                        <a:latin typeface="210 OmniGothic 040"/>
                        <a:ea typeface="210 OmniGothic 040"/>
                        <a:cs typeface="210 OmniGothic 040"/>
                      </a:endParaRP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a:solidFill>
                            <a:srgbClr val="FFFFFF"/>
                          </a:solidFill>
                          <a:latin typeface="210 OmniGothic 040"/>
                          <a:ea typeface="210 OmniGothic 040"/>
                          <a:cs typeface="210 OmniGothic 040"/>
                        </a:rPr>
                        <a:t>성능 지표 (RAGAS)</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a:solidFill>
                            <a:srgbClr val="FFFFFF"/>
                          </a:solidFill>
                          <a:latin typeface="210 OmniGothic 040"/>
                          <a:ea typeface="210 OmniGothic 040"/>
                          <a:cs typeface="210 OmniGothic 040"/>
                        </a:rPr>
                        <a:t>의미</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a:solidFill>
                            <a:srgbClr val="FFFFFF"/>
                          </a:solidFill>
                          <a:latin typeface="210 OmniGothic 040"/>
                          <a:ea typeface="210 OmniGothic 040"/>
                          <a:cs typeface="210 OmniGothic 040"/>
                        </a:rPr>
                        <a:t>하한</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tc>
                  <a:txBody>
                    <a:bodyPr/>
                    <a:lstStyle/>
                    <a:p>
                      <a:pPr algn="ctr"/>
                      <a:r>
                        <a:rPr sz="1200" b="1" dirty="0" err="1">
                          <a:solidFill>
                            <a:srgbClr val="FFFFFF"/>
                          </a:solidFill>
                          <a:latin typeface="210 OmniGothic 040"/>
                          <a:ea typeface="210 OmniGothic 040"/>
                          <a:cs typeface="210 OmniGothic 040"/>
                        </a:rPr>
                        <a:t>설정</a:t>
                      </a:r>
                      <a:r>
                        <a:rPr sz="1200" b="1" dirty="0">
                          <a:solidFill>
                            <a:srgbClr val="FFFFFF"/>
                          </a:solidFill>
                          <a:latin typeface="210 OmniGothic 040"/>
                          <a:ea typeface="210 OmniGothic 040"/>
                          <a:cs typeface="210 OmniGothic 040"/>
                        </a:rPr>
                        <a:t> </a:t>
                      </a:r>
                      <a:r>
                        <a:rPr sz="1200" b="1" dirty="0" err="1">
                          <a:solidFill>
                            <a:srgbClr val="FFFFFF"/>
                          </a:solidFill>
                          <a:latin typeface="210 OmniGothic 040"/>
                          <a:ea typeface="210 OmniGothic 040"/>
                          <a:cs typeface="210 OmniGothic 040"/>
                        </a:rPr>
                        <a:t>근거</a:t>
                      </a:r>
                      <a:r>
                        <a:rPr sz="1200" b="1" dirty="0">
                          <a:solidFill>
                            <a:srgbClr val="FFFFFF"/>
                          </a:solidFill>
                          <a:latin typeface="210 OmniGothic 040"/>
                          <a:ea typeface="210 OmniGothic 040"/>
                          <a:cs typeface="210 OmniGothic 040"/>
                        </a:rPr>
                        <a:t> (</a:t>
                      </a:r>
                      <a:r>
                        <a:rPr sz="1200" b="1" dirty="0" err="1">
                          <a:solidFill>
                            <a:srgbClr val="FFFFFF"/>
                          </a:solidFill>
                          <a:latin typeface="210 OmniGothic 040"/>
                          <a:ea typeface="210 OmniGothic 040"/>
                          <a:cs typeface="210 OmniGothic 040"/>
                        </a:rPr>
                        <a:t>하한이</a:t>
                      </a:r>
                      <a:r>
                        <a:rPr sz="1200" b="1" dirty="0">
                          <a:solidFill>
                            <a:srgbClr val="FFFFFF"/>
                          </a:solidFill>
                          <a:latin typeface="210 OmniGothic 040"/>
                          <a:ea typeface="210 OmniGothic 040"/>
                          <a:cs typeface="210 OmniGothic 040"/>
                        </a:rPr>
                        <a:t> </a:t>
                      </a:r>
                      <a:r>
                        <a:rPr lang="ko-KR" altLang="en-US" sz="1200" b="1" dirty="0">
                          <a:solidFill>
                            <a:srgbClr val="FFFFFF"/>
                          </a:solidFill>
                          <a:latin typeface="210 OmniGothic 040"/>
                          <a:ea typeface="210 OmniGothic 040"/>
                          <a:cs typeface="210 OmniGothic 040"/>
                        </a:rPr>
                        <a:t>의미</a:t>
                      </a:r>
                      <a:r>
                        <a:rPr sz="1200" b="1" dirty="0" err="1">
                          <a:solidFill>
                            <a:srgbClr val="FFFFFF"/>
                          </a:solidFill>
                          <a:latin typeface="210 OmniGothic 040"/>
                          <a:ea typeface="210 OmniGothic 040"/>
                          <a:cs typeface="210 OmniGothic 040"/>
                        </a:rPr>
                        <a:t>하는</a:t>
                      </a:r>
                      <a:r>
                        <a:rPr sz="1200" b="1" dirty="0">
                          <a:solidFill>
                            <a:srgbClr val="FFFFFF"/>
                          </a:solidFill>
                          <a:latin typeface="210 OmniGothic 040"/>
                          <a:ea typeface="210 OmniGothic 040"/>
                          <a:cs typeface="210 OmniGothic 040"/>
                        </a:rPr>
                        <a:t> 것)</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363A52"/>
                    </a:solidFill>
                  </a:tcPr>
                </a:tc>
                <a:extLst>
                  <a:ext uri="{0D108BD9-81ED-4DB2-BD59-A6C34878D82A}">
                    <a16:rowId xmlns:a16="http://schemas.microsoft.com/office/drawing/2014/main" val="10000"/>
                  </a:ext>
                </a:extLst>
              </a:tr>
              <a:tr h="658368">
                <a:tc>
                  <a:txBody>
                    <a:bodyPr/>
                    <a:lstStyle/>
                    <a:p>
                      <a:pPr algn="ctr"/>
                      <a:r>
                        <a:rPr sz="1100" b="1">
                          <a:solidFill>
                            <a:srgbClr val="2E3142"/>
                          </a:solidFill>
                          <a:latin typeface="210 OmniGothic 040"/>
                          <a:ea typeface="210 OmniGothic 040"/>
                          <a:cs typeface="210 OmniGothic 040"/>
                        </a:rPr>
                        <a:t>제안 근거 충실도</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Faithfulness</a:t>
                      </a:r>
                    </a:p>
                    <a:p>
                      <a:pPr algn="ctr"/>
                      <a:r>
                        <a:rPr sz="1100" b="1">
                          <a:solidFill>
                            <a:srgbClr val="2E3142"/>
                          </a:solidFill>
                          <a:latin typeface="210 OmniGothic 040"/>
                          <a:ea typeface="210 OmniGothic 040"/>
                          <a:cs typeface="210 OmniGothic 040"/>
                        </a:rPr>
                        <a:t>(생성)</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제안 문장의 주장 중 검색한 매뉴얼 근거로 뒷받침되는 비율. 낮으면 근거 없는 내용(환각)을 덧붙인 것</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0.79</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재난·공공 분야 RAG 연구 11편 중 하위 25% 수준(중앙값 0.845): 제안 속 주장의 약 80% 이상이 매뉴얼로 뒷받침돼야 함. 예: 자연재해 대응 권고 0.87(Chernysheva 외, 2026)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1"/>
                  </a:ext>
                </a:extLst>
              </a:tr>
              <a:tr h="658368">
                <a:tc>
                  <a:txBody>
                    <a:bodyPr/>
                    <a:lstStyle/>
                    <a:p>
                      <a:pPr algn="ctr"/>
                      <a:r>
                        <a:rPr sz="1100" b="1">
                          <a:solidFill>
                            <a:srgbClr val="2E3142"/>
                          </a:solidFill>
                          <a:latin typeface="210 OmniGothic 040"/>
                          <a:ea typeface="210 OmniGothic 040"/>
                          <a:cs typeface="210 OmniGothic 040"/>
                        </a:rPr>
                        <a:t>제안 질의 관련도</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Answer Relevancy</a:t>
                      </a:r>
                    </a:p>
                    <a:p>
                      <a:pPr algn="ctr"/>
                      <a:r>
                        <a:rPr sz="1100" b="1">
                          <a:solidFill>
                            <a:srgbClr val="2E3142"/>
                          </a:solidFill>
                          <a:latin typeface="210 OmniGothic 040"/>
                          <a:ea typeface="210 OmniGothic 040"/>
                          <a:cs typeface="210 OmniGothic 040"/>
                        </a:rPr>
                        <a:t>(생성)</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제안이 항목 질문(지금 무엇을 해야 하나)에 맞게 답한 정도. 질문에서 벗어나거나 여러 항목을 뭉치면 낮음</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0.82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10편 중 하위 25% 수준(중앙값 0.85): 제안만 보고 되짚은 질문이 원래 질문과 0.82 이상 비슷해야 함. 예: 자연재해 대응 권고 0.86(Chernysheva 외, 2026)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2"/>
                  </a:ext>
                </a:extLst>
              </a:tr>
              <a:tr h="658368">
                <a:tc>
                  <a:txBody>
                    <a:bodyPr/>
                    <a:lstStyle/>
                    <a:p>
                      <a:pPr algn="ctr"/>
                      <a:r>
                        <a:rPr sz="1100" b="1">
                          <a:solidFill>
                            <a:srgbClr val="2E3142"/>
                          </a:solidFill>
                          <a:latin typeface="210 OmniGothic 040"/>
                          <a:ea typeface="210 OmniGothic 040"/>
                          <a:cs typeface="210 OmniGothic 040"/>
                        </a:rPr>
                        <a:t>근거 순위 정밀도@K</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Context Precision@K</a:t>
                      </a:r>
                    </a:p>
                    <a:p>
                      <a:pPr algn="ctr"/>
                      <a:r>
                        <a:rPr sz="1100" b="1">
                          <a:solidFill>
                            <a:srgbClr val="2E3142"/>
                          </a:solidFill>
                          <a:latin typeface="210 OmniGothic 040"/>
                          <a:ea typeface="210 OmniGothic 040"/>
                          <a:cs typeface="210 OmniGothic 040"/>
                        </a:rPr>
                        <a:t>(검색)</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검색한 상위 K개 중 쓸모 있는 근거가 앞 순위에 놓인 정도. 낮으면 엉뚱한 조항이 위에 옴</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0.82</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7편 중 하위 25% 수준(중앙값 0.87): 쓸모 있는 근거가 대부분 상위에 와야 함. 예: 비상대응계획·법규 0.87(Ma 외, 2026)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3"/>
                  </a:ext>
                </a:extLst>
              </a:tr>
              <a:tr h="658368">
                <a:tc>
                  <a:txBody>
                    <a:bodyPr/>
                    <a:lstStyle/>
                    <a:p>
                      <a:pPr algn="ctr"/>
                      <a:r>
                        <a:rPr sz="1100" b="1">
                          <a:solidFill>
                            <a:srgbClr val="2E3142"/>
                          </a:solidFill>
                          <a:latin typeface="210 OmniGothic 040"/>
                          <a:ea typeface="210 OmniGothic 040"/>
                          <a:cs typeface="210 OmniGothic 040"/>
                        </a:rPr>
                        <a:t>필요 근거 확보율@K</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2E3142"/>
                          </a:solidFill>
                          <a:latin typeface="210 OmniGothic 040"/>
                          <a:ea typeface="210 OmniGothic 040"/>
                          <a:cs typeface="210 OmniGothic 040"/>
                        </a:rPr>
                        <a:t>Context Recall@K</a:t>
                      </a:r>
                    </a:p>
                    <a:p>
                      <a:pPr algn="ctr"/>
                      <a:r>
                        <a:rPr sz="1100" b="1">
                          <a:solidFill>
                            <a:srgbClr val="2E3142"/>
                          </a:solidFill>
                          <a:latin typeface="210 OmniGothic 040"/>
                          <a:ea typeface="210 OmniGothic 040"/>
                          <a:cs typeface="210 OmniGothic 040"/>
                        </a:rPr>
                        <a:t>(검색, K 선택 기준)</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정답 제안에 필요한 매뉴얼 근거를 상위 K개 안에 가져온 비율. 낮으면 제안이 근거 부족으로 비거나 틀림</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ctr"/>
                      <a:r>
                        <a:rPr sz="1100" b="1">
                          <a:solidFill>
                            <a:srgbClr val="C0602A"/>
                          </a:solidFill>
                          <a:latin typeface="210 OmniGothic 040"/>
                          <a:ea typeface="210 OmniGothic 040"/>
                          <a:cs typeface="210 OmniGothic 040"/>
                        </a:rPr>
                        <a:t>≥ 0.80</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tc>
                  <a:txBody>
                    <a:bodyPr/>
                    <a:lstStyle/>
                    <a:p>
                      <a:pPr algn="l"/>
                      <a:r>
                        <a:rPr sz="1100" b="0">
                          <a:solidFill>
                            <a:srgbClr val="2E3142"/>
                          </a:solidFill>
                          <a:latin typeface="210 OmniGothic 040"/>
                          <a:ea typeface="210 OmniGothic 040"/>
                          <a:cs typeface="210 OmniGothic 040"/>
                        </a:rPr>
                        <a:t>6편 중 하위 25% 수준(중앙값 0.90): 필요한 근거의 80% 이상을 가져와야 하며, 검색 청크 수 K를 고르는 문턱 조건. 예: 자연재해 대응 권고 0.91(Chernysheva 외, 2026)</a:t>
                      </a:r>
                    </a:p>
                  </a:txBody>
                  <a:tcPr marL="73152" marR="73152" marT="27432" marB="27432" anchor="ctr">
                    <a:lnL w="9525">
                      <a:solidFill>
                        <a:srgbClr val="D9DCE5"/>
                      </a:solidFill>
                    </a:lnL>
                    <a:lnR w="9525">
                      <a:solidFill>
                        <a:srgbClr val="D9DCE5"/>
                      </a:solidFill>
                    </a:lnR>
                    <a:lnT w="9525">
                      <a:solidFill>
                        <a:srgbClr val="D9DCE5"/>
                      </a:solidFill>
                    </a:lnT>
                    <a:lnB w="9525">
                      <a:solidFill>
                        <a:srgbClr val="D9DCE5"/>
                      </a:solidFill>
                    </a:lnB>
                    <a:solidFill>
                      <a:srgbClr val="FFFFFF"/>
                    </a:solidFill>
                  </a:tcPr>
                </a:tc>
                <a:extLst>
                  <a:ext uri="{0D108BD9-81ED-4DB2-BD59-A6C34878D82A}">
                    <a16:rowId xmlns:a16="http://schemas.microsoft.com/office/drawing/2014/main" val="10004"/>
                  </a:ext>
                </a:extLst>
              </a:tr>
            </a:tbl>
          </a:graphicData>
        </a:graphic>
      </p:graphicFrame>
      <p:sp>
        <p:nvSpPr>
          <p:cNvPr id="5528" name="Rounded Rectangle 5527"/>
          <p:cNvSpPr/>
          <p:nvPr/>
        </p:nvSpPr>
        <p:spPr>
          <a:xfrm>
            <a:off x="822960" y="5989320"/>
            <a:ext cx="3954780" cy="228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9" name="Rectangle 5528"/>
          <p:cNvSpPr/>
          <p:nvPr/>
        </p:nvSpPr>
        <p:spPr>
          <a:xfrm>
            <a:off x="1097280" y="62179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0" name="TextBox 5529"/>
          <p:cNvSpPr txBox="1"/>
          <p:nvPr/>
        </p:nvSpPr>
        <p:spPr>
          <a:xfrm>
            <a:off x="1097280" y="6355080"/>
            <a:ext cx="34061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평가 단위</a:t>
            </a:r>
          </a:p>
        </p:txBody>
      </p:sp>
      <p:sp>
        <p:nvSpPr>
          <p:cNvPr id="5531" name="TextBox 5530"/>
          <p:cNvSpPr txBox="1"/>
          <p:nvPr/>
        </p:nvSpPr>
        <p:spPr>
          <a:xfrm>
            <a:off x="1097280" y="6739128"/>
            <a:ext cx="3406140" cy="1371600"/>
          </a:xfrm>
          <a:prstGeom prst="rect">
            <a:avLst/>
          </a:prstGeom>
          <a:noFill/>
        </p:spPr>
        <p:txBody>
          <a:bodyPr wrap="square" lIns="0" tIns="0" rIns="0" bIns="0" anchor="t">
            <a:spAutoFit/>
          </a:bodyPr>
          <a:lstStyle/>
          <a:p>
            <a:pPr algn="l">
              <a:lnSpc>
                <a:spcPct val="120000"/>
              </a:lnSpc>
            </a:pPr>
            <a:r>
              <a:rPr sz="1100" b="0">
                <a:solidFill>
                  <a:srgbClr val="6B7080"/>
                </a:solidFill>
                <a:latin typeface="210 OmniGothic 040"/>
                <a:ea typeface="210 OmniGothic 040"/>
                <a:cs typeface="210 OmniGothic 040"/>
              </a:rPr>
              <a:t>시나리오 시점 × 진화 S1~S7·대피 E1~E7 항목 1건 = 항목 질문 + 상위 K 청크 + 제안 문장 + 정답 답변</a:t>
            </a:r>
          </a:p>
        </p:txBody>
      </p:sp>
      <p:sp>
        <p:nvSpPr>
          <p:cNvPr id="5532" name="Rounded Rectangle 5531"/>
          <p:cNvSpPr/>
          <p:nvPr/>
        </p:nvSpPr>
        <p:spPr>
          <a:xfrm>
            <a:off x="5052060" y="5989320"/>
            <a:ext cx="3954780" cy="228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3" name="Rectangle 5532"/>
          <p:cNvSpPr/>
          <p:nvPr/>
        </p:nvSpPr>
        <p:spPr>
          <a:xfrm>
            <a:off x="5326380" y="62179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4" name="TextBox 5533"/>
          <p:cNvSpPr txBox="1"/>
          <p:nvPr/>
        </p:nvSpPr>
        <p:spPr>
          <a:xfrm>
            <a:off x="5326380" y="6355080"/>
            <a:ext cx="34061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하한 = 유사 연구 하위 25%</a:t>
            </a:r>
          </a:p>
        </p:txBody>
      </p:sp>
      <p:sp>
        <p:nvSpPr>
          <p:cNvPr id="5535" name="TextBox 5534"/>
          <p:cNvSpPr txBox="1"/>
          <p:nvPr/>
        </p:nvSpPr>
        <p:spPr>
          <a:xfrm>
            <a:off x="5326380" y="6739128"/>
            <a:ext cx="3406140" cy="1371600"/>
          </a:xfrm>
          <a:prstGeom prst="rect">
            <a:avLst/>
          </a:prstGeom>
          <a:noFill/>
        </p:spPr>
        <p:txBody>
          <a:bodyPr wrap="square" lIns="0" tIns="0" rIns="0" bIns="0" anchor="t">
            <a:spAutoFit/>
          </a:bodyPr>
          <a:lstStyle/>
          <a:p>
            <a:pPr algn="l">
              <a:lnSpc>
                <a:spcPct val="120000"/>
              </a:lnSpc>
            </a:pPr>
            <a:r>
              <a:rPr sz="1100" b="0">
                <a:solidFill>
                  <a:srgbClr val="6B7080"/>
                </a:solidFill>
                <a:latin typeface="210 OmniGothic 040"/>
                <a:ea typeface="210 OmniGothic 040"/>
                <a:cs typeface="210 OmniGothic 040"/>
              </a:rPr>
              <a:t>산불 분야 RAGAS 선례가 없어 가장 가까운 재난·공공 규정·한국어 공공 문서 RAG 연구값을 모음. 단순 벡터 검색·4비트 로컬 모델인 우리 구성을 고려해 논문 최고 구성의 중앙값 대신 하위 25%(넷 중 셋 수준)를 최소 기준으로, 중앙값은 목표로 둠</a:t>
            </a:r>
          </a:p>
        </p:txBody>
      </p:sp>
      <p:sp>
        <p:nvSpPr>
          <p:cNvPr id="5536" name="Rounded Rectangle 5535"/>
          <p:cNvSpPr/>
          <p:nvPr/>
        </p:nvSpPr>
        <p:spPr>
          <a:xfrm>
            <a:off x="9281160" y="5989320"/>
            <a:ext cx="3954780" cy="228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7" name="Rectangle 5536"/>
          <p:cNvSpPr/>
          <p:nvPr/>
        </p:nvSpPr>
        <p:spPr>
          <a:xfrm>
            <a:off x="9555480" y="62179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8" name="TextBox 5537"/>
          <p:cNvSpPr txBox="1"/>
          <p:nvPr/>
        </p:nvSpPr>
        <p:spPr>
          <a:xfrm>
            <a:off x="9555480" y="6355080"/>
            <a:ext cx="34061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K 선택</a:t>
            </a:r>
          </a:p>
        </p:txBody>
      </p:sp>
      <p:sp>
        <p:nvSpPr>
          <p:cNvPr id="5539" name="TextBox 5538"/>
          <p:cNvSpPr txBox="1"/>
          <p:nvPr/>
        </p:nvSpPr>
        <p:spPr>
          <a:xfrm>
            <a:off x="9555480" y="6739128"/>
            <a:ext cx="3406140" cy="1371600"/>
          </a:xfrm>
          <a:prstGeom prst="rect">
            <a:avLst/>
          </a:prstGeom>
          <a:noFill/>
        </p:spPr>
        <p:txBody>
          <a:bodyPr wrap="square" lIns="0" tIns="0" rIns="0" bIns="0" anchor="t">
            <a:spAutoFit/>
          </a:bodyPr>
          <a:lstStyle/>
          <a:p>
            <a:pPr algn="l">
              <a:lnSpc>
                <a:spcPct val="120000"/>
              </a:lnSpc>
            </a:pPr>
            <a:r>
              <a:rPr sz="1100" b="0">
                <a:solidFill>
                  <a:srgbClr val="6B7080"/>
                </a:solidFill>
                <a:latin typeface="210 OmniGothic 040"/>
                <a:ea typeface="210 OmniGothic 040"/>
                <a:cs typeface="210 OmniGothic 040"/>
              </a:rPr>
              <a:t>개발용 시나리오에서 K = 3·5·7·10 비교 → 확보율@K ≥ 0.80인 K 중 (충실도 + 관련도) ÷ 2가 가장 높은 K, 차이 0.01 이내면 작은 K. 하한 판정은 시험용 시나리오 평균</a:t>
            </a:r>
          </a:p>
        </p:txBody>
      </p:sp>
      <p:sp>
        <p:nvSpPr>
          <p:cNvPr id="5540" name="Rounded Rectangle 5539"/>
          <p:cNvSpPr/>
          <p:nvPr/>
        </p:nvSpPr>
        <p:spPr>
          <a:xfrm>
            <a:off x="13510260" y="5989320"/>
            <a:ext cx="3954780" cy="228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1" name="Rectangle 5540"/>
          <p:cNvSpPr/>
          <p:nvPr/>
        </p:nvSpPr>
        <p:spPr>
          <a:xfrm>
            <a:off x="13784580" y="6217920"/>
            <a:ext cx="457200" cy="45720"/>
          </a:xfrm>
          <a:prstGeom prst="rect">
            <a:avLst/>
          </a:prstGeom>
          <a:solidFill>
            <a:srgbClr val="FAA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2" name="TextBox 5541"/>
          <p:cNvSpPr txBox="1"/>
          <p:nvPr/>
        </p:nvSpPr>
        <p:spPr>
          <a:xfrm>
            <a:off x="13784580" y="6355080"/>
            <a:ext cx="3406140" cy="320040"/>
          </a:xfrm>
          <a:prstGeom prst="rect">
            <a:avLst/>
          </a:prstGeom>
          <a:noFill/>
        </p:spPr>
        <p:txBody>
          <a:bodyPr wrap="square" lIns="0" tIns="0" rIns="0" bIns="0" anchor="t">
            <a:spAutoFit/>
          </a:bodyPr>
          <a:lstStyle/>
          <a:p>
            <a:pPr algn="l"/>
            <a:r>
              <a:rPr sz="1400" b="1">
                <a:solidFill>
                  <a:srgbClr val="363A52"/>
                </a:solidFill>
                <a:latin typeface="210 OmniGothic 040"/>
                <a:ea typeface="210 OmniGothic 040"/>
                <a:cs typeface="210 OmniGothic 040"/>
              </a:rPr>
              <a:t>자동 채점 (LLM-as-a-Judge)</a:t>
            </a:r>
          </a:p>
        </p:txBody>
      </p:sp>
      <p:sp>
        <p:nvSpPr>
          <p:cNvPr id="5543" name="TextBox 5542"/>
          <p:cNvSpPr txBox="1"/>
          <p:nvPr/>
        </p:nvSpPr>
        <p:spPr>
          <a:xfrm>
            <a:off x="13784580" y="6739128"/>
            <a:ext cx="3406140" cy="1371600"/>
          </a:xfrm>
          <a:prstGeom prst="rect">
            <a:avLst/>
          </a:prstGeom>
          <a:noFill/>
        </p:spPr>
        <p:txBody>
          <a:bodyPr wrap="square" lIns="0" tIns="0" rIns="0" bIns="0" anchor="t">
            <a:spAutoFit/>
          </a:bodyPr>
          <a:lstStyle/>
          <a:p>
            <a:pPr algn="l">
              <a:lnSpc>
                <a:spcPct val="120000"/>
              </a:lnSpc>
            </a:pPr>
            <a:r>
              <a:rPr sz="1100" b="0">
                <a:solidFill>
                  <a:srgbClr val="6B7080"/>
                </a:solidFill>
                <a:latin typeface="210 OmniGothic 040"/>
                <a:ea typeface="210 OmniGothic 040"/>
                <a:cs typeface="210 OmniGothic 040"/>
              </a:rPr>
              <a:t>로컬 EXAONE 4.0 32B가 RAGAS v0.4.3 한국어 프롬프트로 채점. 생성 2종은 정답 없이, 검색 2종은 팀이 매뉴얼 쪽수로 미리 쓴 정답 답변을 기준으로 청크·문장마다 판정해, 사람은 정답만 작성하고 채점은 자동. 채점 실패율·95% 신뢰구간 함께 보고</a:t>
            </a:r>
          </a:p>
        </p:txBody>
      </p:sp>
      <p:sp>
        <p:nvSpPr>
          <p:cNvPr id="5544" name="TextBox 5543"/>
          <p:cNvSpPr txBox="1"/>
          <p:nvPr/>
        </p:nvSpPr>
        <p:spPr>
          <a:xfrm>
            <a:off x="822960" y="8430768"/>
            <a:ext cx="16642080" cy="365760"/>
          </a:xfrm>
          <a:prstGeom prst="rect">
            <a:avLst/>
          </a:prstGeom>
          <a:noFill/>
        </p:spPr>
        <p:txBody>
          <a:bodyPr wrap="square" lIns="0" tIns="0" rIns="0" bIns="0" anchor="t">
            <a:spAutoFit/>
          </a:bodyPr>
          <a:lstStyle/>
          <a:p>
            <a:pPr algn="l"/>
            <a:r>
              <a:rPr sz="950" b="0">
                <a:solidFill>
                  <a:srgbClr val="6B7080"/>
                </a:solidFill>
                <a:latin typeface="210 OmniGothic 040"/>
                <a:ea typeface="210 OmniGothic 040"/>
                <a:cs typeface="210 OmniGothic 040"/>
              </a:rPr>
              <a:t>근거 부족으로 비운 칸은 4개 지표 평균에서 빼고 건수만 따로 적음 · 참고: Es 외(2024) RAGAS, EACL 2024 System Demonstrations</a:t>
            </a:r>
          </a:p>
        </p:txBody>
      </p:sp>
    </p:spTree>
    <p:extLst>
      <p:ext uri="{BB962C8B-B14F-4D97-AF65-F5344CB8AC3E}">
        <p14:creationId xmlns:p14="http://schemas.microsoft.com/office/powerpoint/2010/main" val="4241379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1"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522"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523"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524"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525"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03. 요구사항 분석</a:t>
            </a:r>
          </a:p>
        </p:txBody>
      </p:sp>
      <p:sp>
        <p:nvSpPr>
          <p:cNvPr id="5526"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AI 성능 요구사항 ③ 평가 방법</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5527" name="Rounded Rectangle 5526"/>
          <p:cNvSpPr/>
          <p:nvPr/>
        </p:nvSpPr>
        <p:spPr>
          <a:xfrm>
            <a:off x="822960" y="2651760"/>
            <a:ext cx="5364480" cy="22402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8" name="Oval 5527"/>
          <p:cNvSpPr/>
          <p:nvPr/>
        </p:nvSpPr>
        <p:spPr>
          <a:xfrm>
            <a:off x="1143000" y="2944368"/>
            <a:ext cx="502920" cy="502920"/>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9" name="TextBox 5528"/>
          <p:cNvSpPr txBox="1"/>
          <p:nvPr/>
        </p:nvSpPr>
        <p:spPr>
          <a:xfrm>
            <a:off x="1143000" y="2944368"/>
            <a:ext cx="502920" cy="502920"/>
          </a:xfrm>
          <a:prstGeom prst="rect">
            <a:avLst/>
          </a:prstGeom>
          <a:noFill/>
        </p:spPr>
        <p:txBody>
          <a:bodyPr wrap="square" lIns="0" tIns="0" rIns="0" bIns="0" anchor="ctr">
            <a:spAutoFit/>
          </a:bodyPr>
          <a:lstStyle/>
          <a:p>
            <a:pPr algn="ctr"/>
            <a:r>
              <a:rPr sz="1400" b="1">
                <a:solidFill>
                  <a:srgbClr val="FFFFFF"/>
                </a:solidFill>
                <a:latin typeface="210 OmniGothic 040"/>
                <a:ea typeface="210 OmniGothic 040"/>
                <a:cs typeface="210 OmniGothic 040"/>
              </a:rPr>
              <a:t>1</a:t>
            </a:r>
          </a:p>
        </p:txBody>
      </p:sp>
      <p:sp>
        <p:nvSpPr>
          <p:cNvPr id="5530" name="TextBox 5529"/>
          <p:cNvSpPr txBox="1"/>
          <p:nvPr/>
        </p:nvSpPr>
        <p:spPr>
          <a:xfrm>
            <a:off x="1828800" y="3035808"/>
            <a:ext cx="4084320" cy="365760"/>
          </a:xfrm>
          <a:prstGeom prst="rect">
            <a:avLst/>
          </a:prstGeom>
          <a:noFill/>
        </p:spPr>
        <p:txBody>
          <a:bodyPr wrap="square" lIns="0" tIns="0" rIns="0" bIns="0" anchor="t">
            <a:spAutoFit/>
          </a:bodyPr>
          <a:lstStyle/>
          <a:p>
            <a:pPr algn="l"/>
            <a:r>
              <a:rPr sz="1600" b="1">
                <a:solidFill>
                  <a:srgbClr val="363A52"/>
                </a:solidFill>
                <a:latin typeface="210 OmniGothic 040"/>
                <a:ea typeface="210 OmniGothic 040"/>
                <a:cs typeface="210 OmniGothic 040"/>
              </a:rPr>
              <a:t>평가 데이터 분리</a:t>
            </a:r>
          </a:p>
        </p:txBody>
      </p:sp>
      <p:sp>
        <p:nvSpPr>
          <p:cNvPr id="5531" name="TextBox 5530"/>
          <p:cNvSpPr txBox="1"/>
          <p:nvPr/>
        </p:nvSpPr>
        <p:spPr>
          <a:xfrm>
            <a:off x="1143000" y="3703320"/>
            <a:ext cx="4724399" cy="1554480"/>
          </a:xfrm>
          <a:prstGeom prst="rect">
            <a:avLst/>
          </a:prstGeom>
          <a:noFill/>
        </p:spPr>
        <p:txBody>
          <a:bodyPr wrap="square" lIns="0" tIns="0" rIns="0" bIns="0" anchor="t">
            <a:spAutoFit/>
          </a:bodyPr>
          <a:lstStyle/>
          <a:p>
            <a:pPr algn="l">
              <a:lnSpc>
                <a:spcPct val="130000"/>
              </a:lnSpc>
            </a:pPr>
            <a:r>
              <a:rPr sz="1300" b="0">
                <a:solidFill>
                  <a:srgbClr val="2E3142"/>
                </a:solidFill>
                <a:latin typeface="210 OmniGothic 040"/>
                <a:ea typeface="210 OmniGothic 040"/>
                <a:cs typeface="210 OmniGothic 040"/>
              </a:rPr>
              <a:t>확산 예측은 보정에 쓰지 않은 hold-out 산불 사건, 대응 제안은 K 선택(개발용)에 쓰지 않은 시험용 시나리오로 평가</a:t>
            </a:r>
          </a:p>
        </p:txBody>
      </p:sp>
      <p:sp>
        <p:nvSpPr>
          <p:cNvPr id="5532" name="Rounded Rectangle 5531"/>
          <p:cNvSpPr/>
          <p:nvPr/>
        </p:nvSpPr>
        <p:spPr>
          <a:xfrm>
            <a:off x="6461760" y="2651760"/>
            <a:ext cx="5364480" cy="22402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3" name="Oval 5532"/>
          <p:cNvSpPr/>
          <p:nvPr/>
        </p:nvSpPr>
        <p:spPr>
          <a:xfrm>
            <a:off x="6781799" y="2944368"/>
            <a:ext cx="502920" cy="502920"/>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4" name="TextBox 5533"/>
          <p:cNvSpPr txBox="1"/>
          <p:nvPr/>
        </p:nvSpPr>
        <p:spPr>
          <a:xfrm>
            <a:off x="6781799" y="2944368"/>
            <a:ext cx="502920" cy="502920"/>
          </a:xfrm>
          <a:prstGeom prst="rect">
            <a:avLst/>
          </a:prstGeom>
          <a:noFill/>
        </p:spPr>
        <p:txBody>
          <a:bodyPr wrap="square" lIns="0" tIns="0" rIns="0" bIns="0" anchor="ctr">
            <a:spAutoFit/>
          </a:bodyPr>
          <a:lstStyle/>
          <a:p>
            <a:pPr algn="ctr"/>
            <a:r>
              <a:rPr sz="1400" b="1">
                <a:solidFill>
                  <a:srgbClr val="FFFFFF"/>
                </a:solidFill>
                <a:latin typeface="210 OmniGothic 040"/>
                <a:ea typeface="210 OmniGothic 040"/>
                <a:cs typeface="210 OmniGothic 040"/>
              </a:rPr>
              <a:t>2</a:t>
            </a:r>
          </a:p>
        </p:txBody>
      </p:sp>
      <p:sp>
        <p:nvSpPr>
          <p:cNvPr id="5535" name="TextBox 5534"/>
          <p:cNvSpPr txBox="1"/>
          <p:nvPr/>
        </p:nvSpPr>
        <p:spPr>
          <a:xfrm>
            <a:off x="7467599" y="3035808"/>
            <a:ext cx="4084320" cy="365760"/>
          </a:xfrm>
          <a:prstGeom prst="rect">
            <a:avLst/>
          </a:prstGeom>
          <a:noFill/>
        </p:spPr>
        <p:txBody>
          <a:bodyPr wrap="square" lIns="0" tIns="0" rIns="0" bIns="0" anchor="t">
            <a:spAutoFit/>
          </a:bodyPr>
          <a:lstStyle/>
          <a:p>
            <a:pPr algn="l"/>
            <a:r>
              <a:rPr sz="1600" b="1">
                <a:solidFill>
                  <a:srgbClr val="363A52"/>
                </a:solidFill>
                <a:latin typeface="210 OmniGothic 040"/>
                <a:ea typeface="210 OmniGothic 040"/>
                <a:cs typeface="210 OmniGothic 040"/>
              </a:rPr>
              <a:t>주요 지표</a:t>
            </a:r>
          </a:p>
        </p:txBody>
      </p:sp>
      <p:sp>
        <p:nvSpPr>
          <p:cNvPr id="5536" name="TextBox 5535"/>
          <p:cNvSpPr txBox="1"/>
          <p:nvPr/>
        </p:nvSpPr>
        <p:spPr>
          <a:xfrm>
            <a:off x="6781799" y="3703320"/>
            <a:ext cx="4724399" cy="1554480"/>
          </a:xfrm>
          <a:prstGeom prst="rect">
            <a:avLst/>
          </a:prstGeom>
          <a:noFill/>
        </p:spPr>
        <p:txBody>
          <a:bodyPr wrap="square" lIns="0" tIns="0" rIns="0" bIns="0" anchor="t">
            <a:spAutoFit/>
          </a:bodyPr>
          <a:lstStyle/>
          <a:p>
            <a:pPr algn="l">
              <a:lnSpc>
                <a:spcPct val="130000"/>
              </a:lnSpc>
            </a:pPr>
            <a:r>
              <a:rPr sz="1300" b="0">
                <a:solidFill>
                  <a:srgbClr val="2E3142"/>
                </a:solidFill>
                <a:latin typeface="210 OmniGothic 040"/>
                <a:ea typeface="210 OmniGothic 040"/>
                <a:cs typeface="210 OmniGothic 040"/>
              </a:rPr>
              <a:t>확산 예측 5종(IoU·정밀도·재현율·F1·F2) · 대응 제안 4종(근거 충실도·질의 관련도·근거 순위 정밀도@K·필요 근거 확보율@K)</a:t>
            </a:r>
          </a:p>
        </p:txBody>
      </p:sp>
      <p:sp>
        <p:nvSpPr>
          <p:cNvPr id="5537" name="Rounded Rectangle 5536"/>
          <p:cNvSpPr/>
          <p:nvPr/>
        </p:nvSpPr>
        <p:spPr>
          <a:xfrm>
            <a:off x="12100560" y="2651760"/>
            <a:ext cx="5364480" cy="22402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8" name="Oval 5537"/>
          <p:cNvSpPr/>
          <p:nvPr/>
        </p:nvSpPr>
        <p:spPr>
          <a:xfrm>
            <a:off x="12420599" y="2944368"/>
            <a:ext cx="502920" cy="502920"/>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9" name="TextBox 5538"/>
          <p:cNvSpPr txBox="1"/>
          <p:nvPr/>
        </p:nvSpPr>
        <p:spPr>
          <a:xfrm>
            <a:off x="12420599" y="2944368"/>
            <a:ext cx="502920" cy="502920"/>
          </a:xfrm>
          <a:prstGeom prst="rect">
            <a:avLst/>
          </a:prstGeom>
          <a:noFill/>
        </p:spPr>
        <p:txBody>
          <a:bodyPr wrap="square" lIns="0" tIns="0" rIns="0" bIns="0" anchor="ctr">
            <a:spAutoFit/>
          </a:bodyPr>
          <a:lstStyle/>
          <a:p>
            <a:pPr algn="ctr"/>
            <a:r>
              <a:rPr sz="1400" b="1">
                <a:solidFill>
                  <a:srgbClr val="FFFFFF"/>
                </a:solidFill>
                <a:latin typeface="210 OmniGothic 040"/>
                <a:ea typeface="210 OmniGothic 040"/>
                <a:cs typeface="210 OmniGothic 040"/>
              </a:rPr>
              <a:t>3</a:t>
            </a:r>
          </a:p>
        </p:txBody>
      </p:sp>
      <p:sp>
        <p:nvSpPr>
          <p:cNvPr id="5540" name="TextBox 5539"/>
          <p:cNvSpPr txBox="1"/>
          <p:nvPr/>
        </p:nvSpPr>
        <p:spPr>
          <a:xfrm>
            <a:off x="13106399" y="3035808"/>
            <a:ext cx="4084320" cy="365760"/>
          </a:xfrm>
          <a:prstGeom prst="rect">
            <a:avLst/>
          </a:prstGeom>
          <a:noFill/>
        </p:spPr>
        <p:txBody>
          <a:bodyPr wrap="square" lIns="0" tIns="0" rIns="0" bIns="0" anchor="t">
            <a:spAutoFit/>
          </a:bodyPr>
          <a:lstStyle/>
          <a:p>
            <a:pPr algn="l"/>
            <a:r>
              <a:rPr sz="1600" b="1">
                <a:solidFill>
                  <a:srgbClr val="363A52"/>
                </a:solidFill>
                <a:latin typeface="210 OmniGothic 040"/>
                <a:ea typeface="210 OmniGothic 040"/>
                <a:cs typeface="210 OmniGothic 040"/>
              </a:rPr>
              <a:t>Ablation 실험</a:t>
            </a:r>
          </a:p>
        </p:txBody>
      </p:sp>
      <p:sp>
        <p:nvSpPr>
          <p:cNvPr id="5541" name="TextBox 5540"/>
          <p:cNvSpPr txBox="1"/>
          <p:nvPr/>
        </p:nvSpPr>
        <p:spPr>
          <a:xfrm>
            <a:off x="12420599" y="3703320"/>
            <a:ext cx="4724399" cy="1554480"/>
          </a:xfrm>
          <a:prstGeom prst="rect">
            <a:avLst/>
          </a:prstGeom>
          <a:noFill/>
        </p:spPr>
        <p:txBody>
          <a:bodyPr wrap="square" lIns="0" tIns="0" rIns="0" bIns="0" anchor="t">
            <a:spAutoFit/>
          </a:bodyPr>
          <a:lstStyle/>
          <a:p>
            <a:pPr algn="l">
              <a:lnSpc>
                <a:spcPct val="130000"/>
              </a:lnSpc>
            </a:pPr>
            <a:r>
              <a:rPr sz="1300" b="0">
                <a:solidFill>
                  <a:srgbClr val="2E3142"/>
                </a:solidFill>
                <a:latin typeface="210 OmniGothic 040"/>
                <a:ea typeface="210 OmniGothic 040"/>
                <a:cs typeface="210 OmniGothic 040"/>
              </a:rPr>
              <a:t>같은 질의·사건에서 RAG 유무를 비교해 근거 검색의 효과 확인</a:t>
            </a:r>
          </a:p>
        </p:txBody>
      </p:sp>
      <p:sp>
        <p:nvSpPr>
          <p:cNvPr id="5542" name="Rounded Rectangle 5541"/>
          <p:cNvSpPr/>
          <p:nvPr/>
        </p:nvSpPr>
        <p:spPr>
          <a:xfrm>
            <a:off x="822960" y="5212080"/>
            <a:ext cx="5364480" cy="22402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3" name="Oval 5542"/>
          <p:cNvSpPr/>
          <p:nvPr/>
        </p:nvSpPr>
        <p:spPr>
          <a:xfrm>
            <a:off x="1143000" y="5504688"/>
            <a:ext cx="502920" cy="502920"/>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4" name="TextBox 5543"/>
          <p:cNvSpPr txBox="1"/>
          <p:nvPr/>
        </p:nvSpPr>
        <p:spPr>
          <a:xfrm>
            <a:off x="1143000" y="5504688"/>
            <a:ext cx="502920" cy="502920"/>
          </a:xfrm>
          <a:prstGeom prst="rect">
            <a:avLst/>
          </a:prstGeom>
          <a:noFill/>
        </p:spPr>
        <p:txBody>
          <a:bodyPr wrap="square" lIns="0" tIns="0" rIns="0" bIns="0" anchor="ctr">
            <a:spAutoFit/>
          </a:bodyPr>
          <a:lstStyle/>
          <a:p>
            <a:pPr algn="ctr"/>
            <a:r>
              <a:rPr sz="1400" b="1">
                <a:solidFill>
                  <a:srgbClr val="FFFFFF"/>
                </a:solidFill>
                <a:latin typeface="210 OmniGothic 040"/>
                <a:ea typeface="210 OmniGothic 040"/>
                <a:cs typeface="210 OmniGothic 040"/>
              </a:rPr>
              <a:t>4</a:t>
            </a:r>
          </a:p>
        </p:txBody>
      </p:sp>
      <p:sp>
        <p:nvSpPr>
          <p:cNvPr id="5545" name="TextBox 5544"/>
          <p:cNvSpPr txBox="1"/>
          <p:nvPr/>
        </p:nvSpPr>
        <p:spPr>
          <a:xfrm>
            <a:off x="1828800" y="5596128"/>
            <a:ext cx="4084320" cy="365760"/>
          </a:xfrm>
          <a:prstGeom prst="rect">
            <a:avLst/>
          </a:prstGeom>
          <a:noFill/>
        </p:spPr>
        <p:txBody>
          <a:bodyPr wrap="square" lIns="0" tIns="0" rIns="0" bIns="0" anchor="t">
            <a:spAutoFit/>
          </a:bodyPr>
          <a:lstStyle/>
          <a:p>
            <a:pPr algn="l"/>
            <a:r>
              <a:rPr sz="1600" b="1">
                <a:solidFill>
                  <a:srgbClr val="363A52"/>
                </a:solidFill>
                <a:latin typeface="210 OmniGothic 040"/>
                <a:ea typeface="210 OmniGothic 040"/>
                <a:cs typeface="210 OmniGothic 040"/>
              </a:rPr>
              <a:t>로컬 채점</a:t>
            </a:r>
          </a:p>
        </p:txBody>
      </p:sp>
      <p:sp>
        <p:nvSpPr>
          <p:cNvPr id="5546" name="TextBox 5545"/>
          <p:cNvSpPr txBox="1"/>
          <p:nvPr/>
        </p:nvSpPr>
        <p:spPr>
          <a:xfrm>
            <a:off x="1143000" y="6263640"/>
            <a:ext cx="4724399" cy="1554480"/>
          </a:xfrm>
          <a:prstGeom prst="rect">
            <a:avLst/>
          </a:prstGeom>
          <a:noFill/>
        </p:spPr>
        <p:txBody>
          <a:bodyPr wrap="square" lIns="0" tIns="0" rIns="0" bIns="0" anchor="t">
            <a:spAutoFit/>
          </a:bodyPr>
          <a:lstStyle/>
          <a:p>
            <a:pPr algn="l">
              <a:lnSpc>
                <a:spcPct val="130000"/>
              </a:lnSpc>
            </a:pPr>
            <a:r>
              <a:rPr sz="1300" b="0">
                <a:solidFill>
                  <a:srgbClr val="2E3142"/>
                </a:solidFill>
                <a:latin typeface="210 OmniGothic 040"/>
                <a:ea typeface="210 OmniGothic 040"/>
                <a:cs typeface="210 OmniGothic 040"/>
              </a:rPr>
              <a:t>로컬 EXAONE 4.0 32B가 RAGAS 한국어 프롬프트로 자동 채점(LLM-as-a-Judge). 정답 답변 기준과 채점 설정은 104쪽</a:t>
            </a:r>
          </a:p>
        </p:txBody>
      </p:sp>
      <p:sp>
        <p:nvSpPr>
          <p:cNvPr id="5547" name="Rounded Rectangle 5546"/>
          <p:cNvSpPr/>
          <p:nvPr/>
        </p:nvSpPr>
        <p:spPr>
          <a:xfrm>
            <a:off x="6461760" y="5212080"/>
            <a:ext cx="5364480" cy="22402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8" name="Oval 5547"/>
          <p:cNvSpPr/>
          <p:nvPr/>
        </p:nvSpPr>
        <p:spPr>
          <a:xfrm>
            <a:off x="6781799" y="5504688"/>
            <a:ext cx="502920" cy="502920"/>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9" name="TextBox 5548"/>
          <p:cNvSpPr txBox="1"/>
          <p:nvPr/>
        </p:nvSpPr>
        <p:spPr>
          <a:xfrm>
            <a:off x="6781799" y="5504688"/>
            <a:ext cx="502920" cy="502920"/>
          </a:xfrm>
          <a:prstGeom prst="rect">
            <a:avLst/>
          </a:prstGeom>
          <a:noFill/>
        </p:spPr>
        <p:txBody>
          <a:bodyPr wrap="square" lIns="0" tIns="0" rIns="0" bIns="0" anchor="ctr">
            <a:spAutoFit/>
          </a:bodyPr>
          <a:lstStyle/>
          <a:p>
            <a:pPr algn="ctr"/>
            <a:r>
              <a:rPr sz="1400" b="1">
                <a:solidFill>
                  <a:srgbClr val="FFFFFF"/>
                </a:solidFill>
                <a:latin typeface="210 OmniGothic 040"/>
                <a:ea typeface="210 OmniGothic 040"/>
                <a:cs typeface="210 OmniGothic 040"/>
              </a:rPr>
              <a:t>5</a:t>
            </a:r>
          </a:p>
        </p:txBody>
      </p:sp>
      <p:sp>
        <p:nvSpPr>
          <p:cNvPr id="5550" name="TextBox 5549"/>
          <p:cNvSpPr txBox="1"/>
          <p:nvPr/>
        </p:nvSpPr>
        <p:spPr>
          <a:xfrm>
            <a:off x="7467599" y="5596128"/>
            <a:ext cx="4084320" cy="365760"/>
          </a:xfrm>
          <a:prstGeom prst="rect">
            <a:avLst/>
          </a:prstGeom>
          <a:noFill/>
        </p:spPr>
        <p:txBody>
          <a:bodyPr wrap="square" lIns="0" tIns="0" rIns="0" bIns="0" anchor="t">
            <a:spAutoFit/>
          </a:bodyPr>
          <a:lstStyle/>
          <a:p>
            <a:pPr algn="l"/>
            <a:r>
              <a:rPr sz="1600" b="1">
                <a:solidFill>
                  <a:srgbClr val="363A52"/>
                </a:solidFill>
                <a:latin typeface="210 OmniGothic 040"/>
                <a:ea typeface="210 OmniGothic 040"/>
                <a:cs typeface="210 OmniGothic 040"/>
              </a:rPr>
              <a:t>형식 검증</a:t>
            </a:r>
          </a:p>
        </p:txBody>
      </p:sp>
      <p:sp>
        <p:nvSpPr>
          <p:cNvPr id="5551" name="TextBox 5550"/>
          <p:cNvSpPr txBox="1"/>
          <p:nvPr/>
        </p:nvSpPr>
        <p:spPr>
          <a:xfrm>
            <a:off x="6781799" y="6263640"/>
            <a:ext cx="4724399" cy="1554480"/>
          </a:xfrm>
          <a:prstGeom prst="rect">
            <a:avLst/>
          </a:prstGeom>
          <a:noFill/>
        </p:spPr>
        <p:txBody>
          <a:bodyPr wrap="square" lIns="0" tIns="0" rIns="0" bIns="0" anchor="t">
            <a:spAutoFit/>
          </a:bodyPr>
          <a:lstStyle/>
          <a:p>
            <a:pPr algn="l">
              <a:lnSpc>
                <a:spcPct val="130000"/>
              </a:lnSpc>
            </a:pPr>
            <a:r>
              <a:rPr sz="1300" b="0">
                <a:solidFill>
                  <a:srgbClr val="2E3142"/>
                </a:solidFill>
                <a:latin typeface="210 OmniGothic 040"/>
                <a:ea typeface="210 OmniGothic 040"/>
                <a:cs typeface="210 OmniGothic 040"/>
              </a:rPr>
              <a:t>항목 순서, 근거 번호 ↔ 근거 목록 일치, 권한 표기를 코드 규칙으로 검사</a:t>
            </a:r>
          </a:p>
        </p:txBody>
      </p:sp>
      <p:sp>
        <p:nvSpPr>
          <p:cNvPr id="5552" name="Rounded Rectangle 5551"/>
          <p:cNvSpPr/>
          <p:nvPr/>
        </p:nvSpPr>
        <p:spPr>
          <a:xfrm>
            <a:off x="12100560" y="5212080"/>
            <a:ext cx="5364480" cy="22402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3" name="Oval 5552"/>
          <p:cNvSpPr/>
          <p:nvPr/>
        </p:nvSpPr>
        <p:spPr>
          <a:xfrm>
            <a:off x="12420599" y="5504688"/>
            <a:ext cx="502920" cy="502920"/>
          </a:xfrm>
          <a:prstGeom prst="ellipse">
            <a:avLst/>
          </a:prstGeom>
          <a:solidFill>
            <a:srgbClr val="363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4" name="TextBox 5553"/>
          <p:cNvSpPr txBox="1"/>
          <p:nvPr/>
        </p:nvSpPr>
        <p:spPr>
          <a:xfrm>
            <a:off x="12420599" y="5504688"/>
            <a:ext cx="502920" cy="502920"/>
          </a:xfrm>
          <a:prstGeom prst="rect">
            <a:avLst/>
          </a:prstGeom>
          <a:noFill/>
        </p:spPr>
        <p:txBody>
          <a:bodyPr wrap="square" lIns="0" tIns="0" rIns="0" bIns="0" anchor="ctr">
            <a:spAutoFit/>
          </a:bodyPr>
          <a:lstStyle/>
          <a:p>
            <a:pPr algn="ctr"/>
            <a:r>
              <a:rPr sz="1400" b="1">
                <a:solidFill>
                  <a:srgbClr val="FFFFFF"/>
                </a:solidFill>
                <a:latin typeface="210 OmniGothic 040"/>
                <a:ea typeface="210 OmniGothic 040"/>
                <a:cs typeface="210 OmniGothic 040"/>
              </a:rPr>
              <a:t>6</a:t>
            </a:r>
          </a:p>
        </p:txBody>
      </p:sp>
      <p:sp>
        <p:nvSpPr>
          <p:cNvPr id="5555" name="TextBox 5554"/>
          <p:cNvSpPr txBox="1"/>
          <p:nvPr/>
        </p:nvSpPr>
        <p:spPr>
          <a:xfrm>
            <a:off x="13106399" y="5596128"/>
            <a:ext cx="4084320" cy="365760"/>
          </a:xfrm>
          <a:prstGeom prst="rect">
            <a:avLst/>
          </a:prstGeom>
          <a:noFill/>
        </p:spPr>
        <p:txBody>
          <a:bodyPr wrap="square" lIns="0" tIns="0" rIns="0" bIns="0" anchor="t">
            <a:spAutoFit/>
          </a:bodyPr>
          <a:lstStyle/>
          <a:p>
            <a:pPr algn="l"/>
            <a:r>
              <a:rPr sz="1600" b="1">
                <a:solidFill>
                  <a:srgbClr val="363A52"/>
                </a:solidFill>
                <a:latin typeface="210 OmniGothic 040"/>
                <a:ea typeface="210 OmniGothic 040"/>
                <a:cs typeface="210 OmniGothic 040"/>
              </a:rPr>
              <a:t>판정 기준</a:t>
            </a:r>
          </a:p>
        </p:txBody>
      </p:sp>
      <p:sp>
        <p:nvSpPr>
          <p:cNvPr id="5556" name="TextBox 5555"/>
          <p:cNvSpPr txBox="1"/>
          <p:nvPr/>
        </p:nvSpPr>
        <p:spPr>
          <a:xfrm>
            <a:off x="12420599" y="6263640"/>
            <a:ext cx="4724399" cy="1554480"/>
          </a:xfrm>
          <a:prstGeom prst="rect">
            <a:avLst/>
          </a:prstGeom>
          <a:noFill/>
        </p:spPr>
        <p:txBody>
          <a:bodyPr wrap="square" lIns="0" tIns="0" rIns="0" bIns="0" anchor="t">
            <a:spAutoFit/>
          </a:bodyPr>
          <a:lstStyle/>
          <a:p>
            <a:pPr algn="l">
              <a:lnSpc>
                <a:spcPct val="130000"/>
              </a:lnSpc>
            </a:pPr>
            <a:r>
              <a:rPr sz="1300" b="0">
                <a:solidFill>
                  <a:srgbClr val="2E3142"/>
                </a:solidFill>
                <a:latin typeface="210 OmniGothic 040"/>
                <a:ea typeface="210 OmniGothic 040"/>
                <a:cs typeface="210 OmniGothic 040"/>
              </a:rPr>
              <a:t>확산: P8 예측 영역과 실측 최종 소실 경계로 TP·FP·FN을 구해 hold-out 평균을 하한선과 대조(103쪽). 대응 제안: 고른 K에서 시험용 평균이 하한선 이상이면 통과(104쪽)</a:t>
            </a:r>
          </a:p>
        </p:txBody>
      </p:sp>
      <p:sp>
        <p:nvSpPr>
          <p:cNvPr id="5557" name="TextBox 5556"/>
          <p:cNvSpPr txBox="1"/>
          <p:nvPr/>
        </p:nvSpPr>
        <p:spPr>
          <a:xfrm>
            <a:off x="822960" y="8001000"/>
            <a:ext cx="16642080" cy="320040"/>
          </a:xfrm>
          <a:prstGeom prst="rect">
            <a:avLst/>
          </a:prstGeom>
          <a:noFill/>
        </p:spPr>
        <p:txBody>
          <a:bodyPr wrap="square" lIns="0" tIns="0" rIns="0" bIns="0" anchor="t">
            <a:spAutoFit/>
          </a:bodyPr>
          <a:lstStyle/>
          <a:p>
            <a:pPr algn="l"/>
            <a:r>
              <a:rPr sz="950" b="0">
                <a:solidFill>
                  <a:srgbClr val="6B7080"/>
                </a:solidFill>
                <a:latin typeface="210 OmniGothic 040"/>
                <a:ea typeface="210 OmniGothic 040"/>
                <a:cs typeface="210 OmniGothic 040"/>
              </a:rPr>
              <a:t>출처: 수정 요구사항 분석서 107쪽 「평가 방법」 (본문의 103·104쪽은 분석서 쪽 번호 — 이 보고서의 AI 성능 요구사항 ①·②)</a:t>
            </a:r>
          </a:p>
        </p:txBody>
      </p:sp>
    </p:spTree>
    <p:extLst>
      <p:ext uri="{BB962C8B-B14F-4D97-AF65-F5344CB8AC3E}">
        <p14:creationId xmlns:p14="http://schemas.microsoft.com/office/powerpoint/2010/main" val="3112839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04. 프로토타입 개발</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3712420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04. 프로토타입 개발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개발 방법론 — 애자일 적용과 로드맵</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5024" name="Rounded Rectangle 5023"/>
          <p:cNvSpPr/>
          <p:nvPr/>
        </p:nvSpPr>
        <p:spPr>
          <a:xfrm>
            <a:off x="822960" y="2432304"/>
            <a:ext cx="9692640" cy="2395728"/>
          </a:xfrm>
          <a:prstGeom prst="roundRect">
            <a:avLst>
              <a:gd name="adj" fmla="val 4580"/>
            </a:avLst>
          </a:prstGeom>
          <a:solidFill>
            <a:srgbClr val="F2F2F2"/>
          </a:solidFill>
          <a:ln>
            <a:noFill/>
          </a:ln>
        </p:spPr>
        <p:txBody>
          <a:bodyPr wrap="square" lIns="0" tIns="0" rIns="0" bIns="0" rtlCol="0" anchor="ctr">
            <a:noAutofit/>
          </a:bodyPr>
          <a:lstStyle/>
          <a:p>
            <a:pPr algn="ctr"/>
            <a:endParaRPr lang="ko-KR"/>
          </a:p>
        </p:txBody>
      </p:sp>
      <p:sp>
        <p:nvSpPr>
          <p:cNvPr id="5025" name="TextBox 5024"/>
          <p:cNvSpPr txBox="1"/>
          <p:nvPr/>
        </p:nvSpPr>
        <p:spPr>
          <a:xfrm>
            <a:off x="1097280" y="2560320"/>
            <a:ext cx="54864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650" b="1" dirty="0">
                <a:solidFill>
                  <a:srgbClr val="363A52"/>
                </a:solidFill>
                <a:latin typeface="210 OmniGothic 040"/>
                <a:ea typeface="210 OmniGothic 040"/>
                <a:cs typeface="210 OmniGothic 040"/>
              </a:rPr>
              <a:t>방법론 적용 구조</a:t>
            </a:r>
            <a:endParaRPr lang="ko-KR" altLang="en-US" sz="1650"/>
          </a:p>
        </p:txBody>
      </p:sp>
      <p:sp>
        <p:nvSpPr>
          <p:cNvPr id="5026" name="Rounded Rectangle 5025"/>
          <p:cNvSpPr/>
          <p:nvPr/>
        </p:nvSpPr>
        <p:spPr>
          <a:xfrm>
            <a:off x="1097280" y="3035808"/>
            <a:ext cx="1325880" cy="384048"/>
          </a:xfrm>
          <a:prstGeom prst="roundRect">
            <a:avLst>
              <a:gd name="adj" fmla="val 50000"/>
            </a:avLst>
          </a:prstGeom>
          <a:solidFill>
            <a:srgbClr val="4A4F63"/>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문서 절차</a:t>
            </a:r>
            <a:endParaRPr lang="ko-KR" altLang="en-US" sz="1250"/>
          </a:p>
        </p:txBody>
      </p:sp>
      <p:sp>
        <p:nvSpPr>
          <p:cNvPr id="5027" name="TextBox 5026"/>
          <p:cNvSpPr txBox="1"/>
          <p:nvPr/>
        </p:nvSpPr>
        <p:spPr>
          <a:xfrm>
            <a:off x="2560320" y="3063240"/>
            <a:ext cx="1463040" cy="365760"/>
          </a:xfrm>
          <a:prstGeom prst="rect">
            <a:avLst/>
          </a:prstGeom>
          <a:noFill/>
        </p:spPr>
        <p:txBody>
          <a:bodyPr wrap="square" lIns="0" tIns="0" rIns="0" bIns="0" rtlCol="0" anchor="t">
            <a:noAutofit/>
          </a:bodyPr>
          <a:lstStyle/>
          <a:p>
            <a:pPr>
              <a:lnSpc>
                <a:spcPct val="120000"/>
              </a:lnSpc>
            </a:pPr>
            <a:r>
              <a:rPr lang="ko-KR" altLang="en-US" sz="1500" b="1" dirty="0">
                <a:solidFill>
                  <a:srgbClr val="4A4F63"/>
                </a:solidFill>
                <a:latin typeface="210 OmniGothic 040"/>
                <a:ea typeface="210 OmniGothic 040"/>
              </a:rPr>
              <a:t>CBD</a:t>
            </a:r>
            <a:endParaRPr lang="ko-KR" altLang="en-US" sz="1500"/>
          </a:p>
        </p:txBody>
      </p:sp>
      <p:sp>
        <p:nvSpPr>
          <p:cNvPr id="5028" name="TextBox 5027"/>
          <p:cNvSpPr txBox="1"/>
          <p:nvPr/>
        </p:nvSpPr>
        <p:spPr>
          <a:xfrm>
            <a:off x="3977640" y="3081528"/>
            <a:ext cx="64008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계획 → 요구 분석 → 프로토타입 → 구현 → 검증 (수업 산출물 기준)</a:t>
            </a:r>
            <a:endParaRPr lang="ko-KR" altLang="en-US" sz="1350"/>
          </a:p>
        </p:txBody>
      </p:sp>
      <p:sp>
        <p:nvSpPr>
          <p:cNvPr id="5029" name="Rounded Rectangle 5028"/>
          <p:cNvSpPr/>
          <p:nvPr/>
        </p:nvSpPr>
        <p:spPr>
          <a:xfrm>
            <a:off x="1097280" y="3602736"/>
            <a:ext cx="1325880" cy="384048"/>
          </a:xfrm>
          <a:prstGeom prst="roundRect">
            <a:avLst>
              <a:gd name="adj" fmla="val 50000"/>
            </a:avLst>
          </a:prstGeom>
          <a:solidFill>
            <a:srgbClr val="C0602A"/>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운영 방식</a:t>
            </a:r>
            <a:endParaRPr lang="ko-KR" altLang="en-US" sz="1250"/>
          </a:p>
        </p:txBody>
      </p:sp>
      <p:sp>
        <p:nvSpPr>
          <p:cNvPr id="5030" name="TextBox 5029"/>
          <p:cNvSpPr txBox="1"/>
          <p:nvPr/>
        </p:nvSpPr>
        <p:spPr>
          <a:xfrm>
            <a:off x="2560320" y="3630168"/>
            <a:ext cx="146304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00" b="1" dirty="0">
                <a:solidFill>
                  <a:srgbClr val="C0602A"/>
                </a:solidFill>
                <a:latin typeface="210 OmniGothic 040"/>
                <a:ea typeface="210 OmniGothic 040"/>
                <a:cs typeface="210 OmniGothic 040"/>
              </a:rPr>
              <a:t>애자일</a:t>
            </a:r>
            <a:endParaRPr lang="ko-KR" altLang="en-US" sz="1500"/>
          </a:p>
        </p:txBody>
      </p:sp>
      <p:sp>
        <p:nvSpPr>
          <p:cNvPr id="5031" name="TextBox 5030"/>
          <p:cNvSpPr txBox="1"/>
          <p:nvPr/>
        </p:nvSpPr>
        <p:spPr>
          <a:xfrm>
            <a:off x="3977640" y="3648456"/>
            <a:ext cx="64008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1주 스프린트 · 제품 백로그 · 주간 회의 · 주간 개발 보고서 = 스프린트 리뷰</a:t>
            </a:r>
            <a:endParaRPr lang="ko-KR" altLang="en-US" sz="1350"/>
          </a:p>
        </p:txBody>
      </p:sp>
      <p:sp>
        <p:nvSpPr>
          <p:cNvPr id="5032" name="Rounded Rectangle 5031"/>
          <p:cNvSpPr/>
          <p:nvPr/>
        </p:nvSpPr>
        <p:spPr>
          <a:xfrm>
            <a:off x="1097280" y="4169664"/>
            <a:ext cx="1325880" cy="384048"/>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요구 검증</a:t>
            </a:r>
            <a:endParaRPr lang="ko-KR" altLang="en-US" sz="1250"/>
          </a:p>
        </p:txBody>
      </p:sp>
      <p:sp>
        <p:nvSpPr>
          <p:cNvPr id="5033" name="TextBox 5032"/>
          <p:cNvSpPr txBox="1"/>
          <p:nvPr/>
        </p:nvSpPr>
        <p:spPr>
          <a:xfrm>
            <a:off x="2560320" y="4197096"/>
            <a:ext cx="146304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00" b="1" dirty="0">
                <a:solidFill>
                  <a:srgbClr val="363A52"/>
                </a:solidFill>
                <a:latin typeface="210 OmniGothic 040"/>
                <a:ea typeface="210 OmniGothic 040"/>
                <a:cs typeface="210 OmniGothic 040"/>
              </a:rPr>
              <a:t>프로토타입</a:t>
            </a:r>
            <a:endParaRPr lang="ko-KR" altLang="en-US" sz="1500"/>
          </a:p>
        </p:txBody>
      </p:sp>
      <p:sp>
        <p:nvSpPr>
          <p:cNvPr id="5034" name="TextBox 5033"/>
          <p:cNvSpPr txBox="1"/>
          <p:nvPr/>
        </p:nvSpPr>
        <p:spPr>
          <a:xfrm>
            <a:off x="3977640" y="4215384"/>
            <a:ext cx="64008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만들고 → 보여 주고 → 고치는 반복으로 요구사항을 화면에서 구체화</a:t>
            </a:r>
            <a:endParaRPr lang="ko-KR" altLang="en-US" sz="1350"/>
          </a:p>
        </p:txBody>
      </p:sp>
      <p:sp>
        <p:nvSpPr>
          <p:cNvPr id="5035" name="Rounded Rectangle 5034"/>
          <p:cNvSpPr/>
          <p:nvPr/>
        </p:nvSpPr>
        <p:spPr>
          <a:xfrm>
            <a:off x="10698480" y="2432304"/>
            <a:ext cx="6766560" cy="2395728"/>
          </a:xfrm>
          <a:prstGeom prst="roundRect">
            <a:avLst>
              <a:gd name="adj" fmla="val 4580"/>
            </a:avLst>
          </a:prstGeom>
          <a:solidFill>
            <a:srgbClr val="363A52"/>
          </a:solidFill>
          <a:ln>
            <a:noFill/>
          </a:ln>
        </p:spPr>
        <p:txBody>
          <a:bodyPr wrap="square" lIns="0" tIns="0" rIns="0" bIns="0" rtlCol="0" anchor="ctr">
            <a:noAutofit/>
          </a:bodyPr>
          <a:lstStyle/>
          <a:p>
            <a:pPr algn="ctr"/>
            <a:endParaRPr/>
          </a:p>
        </p:txBody>
      </p:sp>
      <p:sp>
        <p:nvSpPr>
          <p:cNvPr id="5036" name="TextBox 5035"/>
          <p:cNvSpPr txBox="1"/>
          <p:nvPr/>
        </p:nvSpPr>
        <p:spPr>
          <a:xfrm>
            <a:off x="10972800" y="2560320"/>
            <a:ext cx="621792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650" b="1" dirty="0">
                <a:solidFill>
                  <a:srgbClr val="FFFFFF"/>
                </a:solidFill>
                <a:latin typeface="210 OmniGothic 040"/>
                <a:ea typeface="210 OmniGothic 040"/>
                <a:cs typeface="210 OmniGothic 040"/>
              </a:rPr>
              <a:t>왜 애자일인가</a:t>
            </a:r>
            <a:endParaRPr lang="ko-KR" altLang="en-US" sz="1650"/>
          </a:p>
        </p:txBody>
      </p:sp>
      <p:sp>
        <p:nvSpPr>
          <p:cNvPr id="5037" name="TextBox 5036"/>
          <p:cNvSpPr txBox="1"/>
          <p:nvPr/>
        </p:nvSpPr>
        <p:spPr>
          <a:xfrm>
            <a:off x="10972800" y="3017520"/>
            <a:ext cx="6263640" cy="1737360"/>
          </a:xfrm>
          <a:prstGeom prst="rect">
            <a:avLst/>
          </a:prstGeom>
          <a:noFill/>
        </p:spPr>
        <p:txBody>
          <a:bodyPr wrap="square" lIns="0" tIns="0" rIns="0" bIns="0" rtlCol="0" anchor="t">
            <a:noAutofit/>
          </a:bodyPr>
          <a:lstStyle/>
          <a:p>
            <a:pPr marL="201168" indent="-201168" algn="l" latinLnBrk="0">
              <a:lnSpc>
                <a:spcPct val="125000"/>
              </a:lnSpc>
              <a:spcBef>
                <a:spcPts val="0"/>
              </a:spcBef>
              <a:spcAft>
                <a:spcPts val="500"/>
              </a:spcAft>
              <a:buClr>
                <a:srgbClr val="FAA95A"/>
              </a:buClr>
              <a:buFont typeface="Arial"/>
              <a:buChar char="•"/>
            </a:pPr>
            <a:r>
              <a:rPr lang="ko-KR" altLang="en-US" sz="1350" b="0" dirty="0">
                <a:solidFill>
                  <a:srgbClr val="E6E9F1"/>
                </a:solidFill>
                <a:latin typeface="210 OmniGothic 030"/>
                <a:ea typeface="210 OmniGothic 030"/>
                <a:cs typeface="210 OmniGothic 030"/>
              </a:rPr>
              <a:t>AI 성능(IoU·RAGAS)은 실험 전 알 수 없음 → 매주 측정하고 하한·파라미터 조정</a:t>
            </a:r>
            <a:endParaRPr lang="ko-KR" altLang="en-US" sz="1350"/>
          </a:p>
          <a:p>
            <a:pPr marL="201168" indent="-201168" algn="l" latinLnBrk="0">
              <a:lnSpc>
                <a:spcPct val="125000"/>
              </a:lnSpc>
              <a:spcBef>
                <a:spcPts val="0"/>
              </a:spcBef>
              <a:spcAft>
                <a:spcPts val="500"/>
              </a:spcAft>
              <a:buClr>
                <a:srgbClr val="FAA95A"/>
              </a:buClr>
              <a:buFont typeface="Arial"/>
              <a:buChar char="•"/>
            </a:pPr>
            <a:r>
              <a:rPr lang="ko-KR" altLang="en-US" sz="1350" b="0" dirty="0">
                <a:solidFill>
                  <a:srgbClr val="E6E9F1"/>
                </a:solidFill>
                <a:latin typeface="210 OmniGothic 030"/>
                <a:ea typeface="210 OmniGothic 030"/>
                <a:cs typeface="210 OmniGothic 030"/>
              </a:rPr>
              <a:t>확산·규칙·RAG·대시보드 4개 모듈 병렬 개발 → 주 단위 통합으로 조기 확인</a:t>
            </a:r>
            <a:endParaRPr lang="ko-KR" altLang="en-US" sz="1350"/>
          </a:p>
          <a:p>
            <a:pPr marL="201168" indent="-201168" algn="l" latinLnBrk="0">
              <a:lnSpc>
                <a:spcPct val="125000"/>
              </a:lnSpc>
              <a:spcBef>
                <a:spcPts val="0"/>
              </a:spcBef>
              <a:spcAft>
                <a:spcPts val="500"/>
              </a:spcAft>
              <a:buClr>
                <a:srgbClr val="FAA95A"/>
              </a:buClr>
              <a:buFont typeface="Arial"/>
              <a:buChar char="•"/>
            </a:pPr>
            <a:r>
              <a:rPr lang="ko-KR" altLang="en-US" sz="1350" b="0" dirty="0">
                <a:solidFill>
                  <a:srgbClr val="E6E9F1"/>
                </a:solidFill>
                <a:latin typeface="210 OmniGothic 030"/>
                <a:ea typeface="210 OmniGothic 030"/>
                <a:cs typeface="210 OmniGothic 030"/>
              </a:rPr>
              <a:t>교수·산림청·팀 회의 피드백을 다음 스프린트 백로그로 바로 반영</a:t>
            </a:r>
            <a:endParaRPr lang="ko-KR" altLang="en-US" sz="1350"/>
          </a:p>
        </p:txBody>
      </p:sp>
      <p:sp>
        <p:nvSpPr>
          <p:cNvPr id="5038" name="TextBox 5037"/>
          <p:cNvSpPr txBox="1"/>
          <p:nvPr/>
        </p:nvSpPr>
        <p:spPr>
          <a:xfrm>
            <a:off x="822960" y="5010912"/>
            <a:ext cx="109728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600" b="1" dirty="0">
                <a:solidFill>
                  <a:srgbClr val="363A52"/>
                </a:solidFill>
                <a:latin typeface="210 OmniGothic 040"/>
                <a:ea typeface="210 OmniGothic 040"/>
                <a:cs typeface="210 OmniGothic 040"/>
              </a:rPr>
              <a:t>지금까지의 반복</a:t>
            </a:r>
            <a:r>
              <a:rPr lang="ko-KR" altLang="en-US" sz="1600" b="0" dirty="0">
                <a:solidFill>
                  <a:srgbClr val="6B7080"/>
                </a:solidFill>
                <a:latin typeface="210 OmniGothic 030"/>
                <a:ea typeface="210 OmniGothic 030"/>
                <a:cs typeface="210 OmniGothic 030"/>
              </a:rPr>
              <a:t>  프로토타입 단계 · 6회 (9/26 ~ 10/13)</a:t>
            </a:r>
            <a:endParaRPr lang="ko-KR" altLang="en-US" sz="1600"/>
          </a:p>
        </p:txBody>
      </p:sp>
      <p:sp>
        <p:nvSpPr>
          <p:cNvPr id="5039" name="Pentagon 5038"/>
          <p:cNvSpPr/>
          <p:nvPr/>
        </p:nvSpPr>
        <p:spPr>
          <a:xfrm>
            <a:off x="822960" y="5449824"/>
            <a:ext cx="2641092" cy="713232"/>
          </a:xfrm>
          <a:prstGeom prst="homePlate">
            <a:avLst/>
          </a:prstGeom>
          <a:solidFill>
            <a:srgbClr val="FDF1E6"/>
          </a:solidFill>
          <a:ln>
            <a:noFill/>
          </a:ln>
        </p:spPr>
        <p:txBody>
          <a:bodyPr wrap="square" lIns="0" tIns="0" rIns="0" bIns="0" rtlCol="0" anchor="ctr">
            <a:noAutofit/>
          </a:bodyPr>
          <a:lstStyle/>
          <a:p>
            <a:pPr algn="ctr"/>
            <a:endParaRPr/>
          </a:p>
        </p:txBody>
      </p:sp>
      <p:sp>
        <p:nvSpPr>
          <p:cNvPr id="5040" name="TextBox 5039"/>
          <p:cNvSpPr txBox="1"/>
          <p:nvPr/>
        </p:nvSpPr>
        <p:spPr>
          <a:xfrm>
            <a:off x="960120" y="5495544"/>
            <a:ext cx="2275332"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B5601C"/>
                </a:solidFill>
                <a:latin typeface="210 OmniGothic 040"/>
                <a:ea typeface="210 OmniGothic 040"/>
                <a:cs typeface="210 OmniGothic 040"/>
              </a:rPr>
              <a:t>1차 · 9/26</a:t>
            </a:r>
            <a:endParaRPr lang="ko-KR" altLang="en-US" sz="1200"/>
          </a:p>
        </p:txBody>
      </p:sp>
      <p:sp>
        <p:nvSpPr>
          <p:cNvPr id="5041" name="TextBox 5040"/>
          <p:cNvSpPr txBox="1"/>
          <p:nvPr/>
        </p:nvSpPr>
        <p:spPr>
          <a:xfrm>
            <a:off x="960120" y="5779008"/>
            <a:ext cx="2275332"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핵심 기능 화면 초안</a:t>
            </a:r>
            <a:endParaRPr lang="ko-KR" altLang="en-US" sz="1350"/>
          </a:p>
        </p:txBody>
      </p:sp>
      <p:sp>
        <p:nvSpPr>
          <p:cNvPr id="5042" name="Pentagon 5041"/>
          <p:cNvSpPr/>
          <p:nvPr/>
        </p:nvSpPr>
        <p:spPr>
          <a:xfrm>
            <a:off x="3619499" y="5449824"/>
            <a:ext cx="2641092" cy="713232"/>
          </a:xfrm>
          <a:prstGeom prst="homePlate">
            <a:avLst/>
          </a:prstGeom>
          <a:solidFill>
            <a:srgbClr val="FDF1E6"/>
          </a:solidFill>
          <a:ln>
            <a:noFill/>
          </a:ln>
        </p:spPr>
        <p:txBody>
          <a:bodyPr wrap="square" lIns="0" tIns="0" rIns="0" bIns="0" rtlCol="0" anchor="ctr">
            <a:noAutofit/>
          </a:bodyPr>
          <a:lstStyle/>
          <a:p>
            <a:pPr algn="ctr"/>
            <a:endParaRPr/>
          </a:p>
        </p:txBody>
      </p:sp>
      <p:sp>
        <p:nvSpPr>
          <p:cNvPr id="5043" name="TextBox 5042"/>
          <p:cNvSpPr txBox="1"/>
          <p:nvPr/>
        </p:nvSpPr>
        <p:spPr>
          <a:xfrm>
            <a:off x="3756660" y="5495544"/>
            <a:ext cx="2275332"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B5601C"/>
                </a:solidFill>
                <a:latin typeface="210 OmniGothic 040"/>
                <a:ea typeface="210 OmniGothic 040"/>
                <a:cs typeface="210 OmniGothic 040"/>
              </a:rPr>
              <a:t>2차 · 9/28</a:t>
            </a:r>
            <a:endParaRPr lang="ko-KR" altLang="en-US" sz="1200"/>
          </a:p>
        </p:txBody>
      </p:sp>
      <p:sp>
        <p:nvSpPr>
          <p:cNvPr id="5044" name="TextBox 5043"/>
          <p:cNvSpPr txBox="1"/>
          <p:nvPr/>
        </p:nvSpPr>
        <p:spPr>
          <a:xfrm>
            <a:off x="3756660" y="5779008"/>
            <a:ext cx="2275332"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유스케이스 15개·권한 4종</a:t>
            </a:r>
            <a:endParaRPr lang="ko-KR" altLang="en-US" sz="1350"/>
          </a:p>
        </p:txBody>
      </p:sp>
      <p:sp>
        <p:nvSpPr>
          <p:cNvPr id="5045" name="Pentagon 5044"/>
          <p:cNvSpPr/>
          <p:nvPr/>
        </p:nvSpPr>
        <p:spPr>
          <a:xfrm>
            <a:off x="6416040" y="5449824"/>
            <a:ext cx="2641092" cy="713232"/>
          </a:xfrm>
          <a:prstGeom prst="homePlate">
            <a:avLst/>
          </a:prstGeom>
          <a:solidFill>
            <a:srgbClr val="FDF1E6"/>
          </a:solidFill>
          <a:ln>
            <a:noFill/>
          </a:ln>
        </p:spPr>
        <p:txBody>
          <a:bodyPr wrap="square" lIns="0" tIns="0" rIns="0" bIns="0" rtlCol="0" anchor="ctr">
            <a:noAutofit/>
          </a:bodyPr>
          <a:lstStyle/>
          <a:p>
            <a:pPr algn="ctr"/>
            <a:endParaRPr/>
          </a:p>
        </p:txBody>
      </p:sp>
      <p:sp>
        <p:nvSpPr>
          <p:cNvPr id="5046" name="TextBox 5045"/>
          <p:cNvSpPr txBox="1"/>
          <p:nvPr/>
        </p:nvSpPr>
        <p:spPr>
          <a:xfrm>
            <a:off x="6553200" y="5495544"/>
            <a:ext cx="2275332"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B5601C"/>
                </a:solidFill>
                <a:latin typeface="210 OmniGothic 040"/>
                <a:ea typeface="210 OmniGothic 040"/>
                <a:cs typeface="210 OmniGothic 040"/>
              </a:rPr>
              <a:t>3차 · 10/5</a:t>
            </a:r>
            <a:endParaRPr lang="ko-KR" altLang="en-US" sz="1200"/>
          </a:p>
        </p:txBody>
      </p:sp>
      <p:sp>
        <p:nvSpPr>
          <p:cNvPr id="5047" name="TextBox 5046"/>
          <p:cNvSpPr txBox="1"/>
          <p:nvPr/>
        </p:nvSpPr>
        <p:spPr>
          <a:xfrm>
            <a:off x="6553200" y="5779008"/>
            <a:ext cx="2275332"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요구사항분석서와 정합</a:t>
            </a:r>
            <a:endParaRPr lang="ko-KR" altLang="en-US" sz="1350"/>
          </a:p>
        </p:txBody>
      </p:sp>
      <p:sp>
        <p:nvSpPr>
          <p:cNvPr id="5048" name="Pentagon 5047"/>
          <p:cNvSpPr/>
          <p:nvPr/>
        </p:nvSpPr>
        <p:spPr>
          <a:xfrm>
            <a:off x="9212580" y="5449824"/>
            <a:ext cx="2641092" cy="713232"/>
          </a:xfrm>
          <a:prstGeom prst="homePlate">
            <a:avLst/>
          </a:prstGeom>
          <a:solidFill>
            <a:srgbClr val="FDF1E6"/>
          </a:solidFill>
          <a:ln>
            <a:noFill/>
          </a:ln>
        </p:spPr>
        <p:txBody>
          <a:bodyPr wrap="square" lIns="0" tIns="0" rIns="0" bIns="0" rtlCol="0" anchor="ctr">
            <a:noAutofit/>
          </a:bodyPr>
          <a:lstStyle/>
          <a:p>
            <a:pPr algn="ctr"/>
            <a:endParaRPr/>
          </a:p>
        </p:txBody>
      </p:sp>
      <p:sp>
        <p:nvSpPr>
          <p:cNvPr id="5049" name="TextBox 5048"/>
          <p:cNvSpPr txBox="1"/>
          <p:nvPr/>
        </p:nvSpPr>
        <p:spPr>
          <a:xfrm>
            <a:off x="9349740" y="5495544"/>
            <a:ext cx="2275332"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B5601C"/>
                </a:solidFill>
                <a:latin typeface="210 OmniGothic 040"/>
                <a:ea typeface="210 OmniGothic 040"/>
                <a:cs typeface="210 OmniGothic 040"/>
              </a:rPr>
              <a:t>4차 · 10/8~9</a:t>
            </a:r>
            <a:endParaRPr lang="ko-KR" altLang="en-US" sz="1200"/>
          </a:p>
        </p:txBody>
      </p:sp>
      <p:sp>
        <p:nvSpPr>
          <p:cNvPr id="5050" name="TextBox 5049"/>
          <p:cNvSpPr txBox="1"/>
          <p:nvPr/>
        </p:nvSpPr>
        <p:spPr>
          <a:xfrm>
            <a:off x="9349740" y="5779008"/>
            <a:ext cx="2275332"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위험도 재정의·실패 상태</a:t>
            </a:r>
            <a:endParaRPr lang="ko-KR" altLang="en-US" sz="1350"/>
          </a:p>
        </p:txBody>
      </p:sp>
      <p:sp>
        <p:nvSpPr>
          <p:cNvPr id="5051" name="Rounded Rectangle 5050"/>
          <p:cNvSpPr/>
          <p:nvPr/>
        </p:nvSpPr>
        <p:spPr>
          <a:xfrm>
            <a:off x="12009120" y="5449824"/>
            <a:ext cx="2641092" cy="713232"/>
          </a:xfrm>
          <a:prstGeom prst="homePlate">
            <a:avLst/>
          </a:prstGeom>
          <a:solidFill>
            <a:srgbClr val="FDF1E6"/>
          </a:solidFill>
          <a:ln>
            <a:noFill/>
          </a:ln>
        </p:spPr>
        <p:txBody>
          <a:bodyPr wrap="square" lIns="0" tIns="0" rIns="0" bIns="0" rtlCol="0" anchor="ctr">
            <a:noAutofit/>
          </a:bodyPr>
          <a:lstStyle/>
          <a:p>
            <a:pPr algn="ctr"/>
            <a:endParaRPr/>
          </a:p>
        </p:txBody>
      </p:sp>
      <p:sp>
        <p:nvSpPr>
          <p:cNvPr id="5052" name="TextBox 5051"/>
          <p:cNvSpPr txBox="1"/>
          <p:nvPr/>
        </p:nvSpPr>
        <p:spPr>
          <a:xfrm>
            <a:off x="12146280" y="5495544"/>
            <a:ext cx="2275332"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B5601C"/>
                </a:solidFill>
                <a:latin typeface="210 OmniGothic 040"/>
                <a:ea typeface="210 OmniGothic 040"/>
                <a:cs typeface="210 OmniGothic 040"/>
              </a:rPr>
              <a:t>5차 · 10/11</a:t>
            </a:r>
            <a:endParaRPr lang="ko-KR" altLang="en-US" sz="1200"/>
          </a:p>
        </p:txBody>
      </p:sp>
      <p:sp>
        <p:nvSpPr>
          <p:cNvPr id="5053" name="TextBox 5052"/>
          <p:cNvSpPr txBox="1"/>
          <p:nvPr/>
        </p:nvSpPr>
        <p:spPr>
          <a:xfrm>
            <a:off x="12146280" y="5779008"/>
            <a:ext cx="2275332"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팀 회의 정정</a:t>
            </a:r>
            <a:endParaRPr lang="ko-KR" altLang="en-US" sz="1350" dirty="0"/>
          </a:p>
        </p:txBody>
      </p:sp>
      <p:sp>
        <p:nvSpPr>
          <p:cNvPr id="5054" name="TextBox 5053"/>
          <p:cNvSpPr txBox="1"/>
          <p:nvPr/>
        </p:nvSpPr>
        <p:spPr>
          <a:xfrm>
            <a:off x="822960" y="6382512"/>
            <a:ext cx="109728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600" b="1" dirty="0">
                <a:solidFill>
                  <a:srgbClr val="363A52"/>
                </a:solidFill>
                <a:latin typeface="210 OmniGothic 040"/>
                <a:ea typeface="210 OmniGothic 040"/>
                <a:cs typeface="210 OmniGothic 040"/>
              </a:rPr>
              <a:t>애자일 로드맵</a:t>
            </a:r>
            <a:r>
              <a:rPr lang="ko-KR" altLang="en-US" sz="1600" b="0" dirty="0">
                <a:solidFill>
                  <a:srgbClr val="6B7080"/>
                </a:solidFill>
                <a:latin typeface="210 OmniGothic 030"/>
                <a:ea typeface="210 OmniGothic 030"/>
                <a:cs typeface="210 OmniGothic 030"/>
              </a:rPr>
              <a:t>  1주 스프린트 5회(8~12주) · 매주 개발 보고서로 리뷰</a:t>
            </a:r>
            <a:endParaRPr lang="ko-KR" altLang="en-US" sz="1600"/>
          </a:p>
        </p:txBody>
      </p:sp>
      <p:sp>
        <p:nvSpPr>
          <p:cNvPr id="5055" name="Rounded Rectangle 5054"/>
          <p:cNvSpPr/>
          <p:nvPr/>
        </p:nvSpPr>
        <p:spPr>
          <a:xfrm>
            <a:off x="10030968" y="6437376"/>
            <a:ext cx="1554480" cy="292608"/>
          </a:xfrm>
          <a:prstGeom prst="roundRect">
            <a:avLst>
              <a:gd name="adj" fmla="val 50000"/>
            </a:avLst>
          </a:prstGeom>
          <a:solidFill>
            <a:srgbClr val="2E7D4F"/>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50" b="1" dirty="0">
                <a:solidFill>
                  <a:srgbClr val="FFFFFF"/>
                </a:solidFill>
                <a:latin typeface="210 OmniGothic 040"/>
                <a:ea typeface="210 OmniGothic 040"/>
                <a:cs typeface="210 OmniGothic 040"/>
              </a:rPr>
              <a:t>개발 완료 11/20</a:t>
            </a:r>
            <a:endParaRPr lang="ko-KR" altLang="en-US" sz="1150"/>
          </a:p>
        </p:txBody>
      </p:sp>
      <p:sp>
        <p:nvSpPr>
          <p:cNvPr id="5056" name="Rectangle 5055"/>
          <p:cNvSpPr/>
          <p:nvPr/>
        </p:nvSpPr>
        <p:spPr>
          <a:xfrm>
            <a:off x="850392" y="6839712"/>
            <a:ext cx="1609344" cy="457200"/>
          </a:xfrm>
          <a:prstGeom prst="rect">
            <a:avLst/>
          </a:prstGeom>
          <a:solidFill>
            <a:srgbClr val="FAA95A"/>
          </a:solidFill>
          <a:ln>
            <a:noFill/>
          </a:ln>
        </p:spPr>
        <p:txBody>
          <a:bodyPr wrap="square" lIns="0" tIns="0" rIns="0" bIns="0" rtlCol="0" anchor="ctr">
            <a:noAutofit/>
          </a:bodyPr>
          <a:lstStyle/>
          <a:p>
            <a:pPr algn="ctr"/>
            <a:endParaRPr/>
          </a:p>
        </p:txBody>
      </p:sp>
      <p:sp>
        <p:nvSpPr>
          <p:cNvPr id="5057" name="TextBox 5056"/>
          <p:cNvSpPr txBox="1"/>
          <p:nvPr/>
        </p:nvSpPr>
        <p:spPr>
          <a:xfrm>
            <a:off x="850392"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발표</a:t>
            </a:r>
            <a:r>
              <a:rPr lang="ko-KR" altLang="en-US" sz="1100" b="0" dirty="0">
                <a:solidFill>
                  <a:srgbClr val="FFFFFF"/>
                </a:solidFill>
                <a:latin typeface="210 OmniGothic 030"/>
                <a:ea typeface="210 OmniGothic 030"/>
                <a:cs typeface="210 OmniGothic 030"/>
              </a:rPr>
              <a:t>  7주</a:t>
            </a:r>
            <a:endParaRPr lang="ko-KR" altLang="en-US" sz="1400"/>
          </a:p>
        </p:txBody>
      </p:sp>
      <p:sp>
        <p:nvSpPr>
          <p:cNvPr id="5058" name="TextBox 5057"/>
          <p:cNvSpPr txBox="1"/>
          <p:nvPr/>
        </p:nvSpPr>
        <p:spPr>
          <a:xfrm>
            <a:off x="896112"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10/12 ~</a:t>
            </a:r>
            <a:endParaRPr lang="ko-KR" altLang="en-US" sz="1050"/>
          </a:p>
        </p:txBody>
      </p:sp>
      <p:sp>
        <p:nvSpPr>
          <p:cNvPr id="5059" name="TextBox 5058"/>
          <p:cNvSpPr txBox="1"/>
          <p:nvPr/>
        </p:nvSpPr>
        <p:spPr>
          <a:xfrm>
            <a:off x="896112"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프로토타입 발표(10/16)</a:t>
            </a:r>
            <a:endParaRPr lang="ko-KR" altLang="en-US" sz="1150"/>
          </a:p>
        </p:txBody>
      </p:sp>
      <p:sp>
        <p:nvSpPr>
          <p:cNvPr id="5060" name="Rectangle 5059"/>
          <p:cNvSpPr/>
          <p:nvPr/>
        </p:nvSpPr>
        <p:spPr>
          <a:xfrm>
            <a:off x="2514600" y="6839712"/>
            <a:ext cx="1609344" cy="457200"/>
          </a:xfrm>
          <a:prstGeom prst="rect">
            <a:avLst/>
          </a:prstGeom>
          <a:solidFill>
            <a:srgbClr val="6D7290"/>
          </a:solidFill>
          <a:ln>
            <a:noFill/>
          </a:ln>
        </p:spPr>
        <p:txBody>
          <a:bodyPr wrap="square" lIns="0" tIns="0" rIns="0" bIns="0" rtlCol="0" anchor="ctr">
            <a:noAutofit/>
          </a:bodyPr>
          <a:lstStyle/>
          <a:p>
            <a:pPr algn="ctr"/>
            <a:endParaRPr/>
          </a:p>
        </p:txBody>
      </p:sp>
      <p:sp>
        <p:nvSpPr>
          <p:cNvPr id="5061" name="TextBox 5060"/>
          <p:cNvSpPr txBox="1"/>
          <p:nvPr/>
        </p:nvSpPr>
        <p:spPr>
          <a:xfrm>
            <a:off x="2514600"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SP1</a:t>
            </a:r>
            <a:r>
              <a:rPr lang="ko-KR" altLang="en-US" sz="1100" b="0" dirty="0">
                <a:solidFill>
                  <a:srgbClr val="FFFFFF"/>
                </a:solidFill>
                <a:latin typeface="210 OmniGothic 030"/>
                <a:ea typeface="210 OmniGothic 030"/>
                <a:cs typeface="210 OmniGothic 030"/>
              </a:rPr>
              <a:t>  8주</a:t>
            </a:r>
            <a:endParaRPr lang="ko-KR" altLang="en-US" sz="1400"/>
          </a:p>
        </p:txBody>
      </p:sp>
      <p:sp>
        <p:nvSpPr>
          <p:cNvPr id="5062" name="TextBox 5061"/>
          <p:cNvSpPr txBox="1"/>
          <p:nvPr/>
        </p:nvSpPr>
        <p:spPr>
          <a:xfrm>
            <a:off x="2560320"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10/19 ~</a:t>
            </a:r>
            <a:endParaRPr lang="ko-KR" altLang="en-US" sz="1050"/>
          </a:p>
        </p:txBody>
      </p:sp>
      <p:sp>
        <p:nvSpPr>
          <p:cNvPr id="5063" name="TextBox 5062"/>
          <p:cNvSpPr txBox="1"/>
          <p:nvPr/>
        </p:nvSpPr>
        <p:spPr>
          <a:xfrm>
            <a:off x="2560320"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수정 프로토타입(10/22)·격자·DB 스키마·근거 코퍼스</a:t>
            </a:r>
            <a:endParaRPr lang="ko-KR" altLang="en-US" sz="1150"/>
          </a:p>
        </p:txBody>
      </p:sp>
      <p:sp>
        <p:nvSpPr>
          <p:cNvPr id="5064" name="Rectangle 5063"/>
          <p:cNvSpPr/>
          <p:nvPr/>
        </p:nvSpPr>
        <p:spPr>
          <a:xfrm>
            <a:off x="4178808" y="6839712"/>
            <a:ext cx="1609344" cy="457200"/>
          </a:xfrm>
          <a:prstGeom prst="rect">
            <a:avLst/>
          </a:prstGeom>
          <a:solidFill>
            <a:srgbClr val="6D7290"/>
          </a:solidFill>
          <a:ln>
            <a:noFill/>
          </a:ln>
        </p:spPr>
        <p:txBody>
          <a:bodyPr wrap="square" lIns="0" tIns="0" rIns="0" bIns="0" rtlCol="0" anchor="ctr">
            <a:noAutofit/>
          </a:bodyPr>
          <a:lstStyle/>
          <a:p>
            <a:pPr algn="ctr"/>
            <a:endParaRPr/>
          </a:p>
        </p:txBody>
      </p:sp>
      <p:sp>
        <p:nvSpPr>
          <p:cNvPr id="5065" name="TextBox 5064"/>
          <p:cNvSpPr txBox="1"/>
          <p:nvPr/>
        </p:nvSpPr>
        <p:spPr>
          <a:xfrm>
            <a:off x="4178808"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SP2</a:t>
            </a:r>
            <a:r>
              <a:rPr lang="ko-KR" altLang="en-US" sz="1100" b="0" dirty="0">
                <a:solidFill>
                  <a:srgbClr val="FFFFFF"/>
                </a:solidFill>
                <a:latin typeface="210 OmniGothic 030"/>
                <a:ea typeface="210 OmniGothic 030"/>
                <a:cs typeface="210 OmniGothic 030"/>
              </a:rPr>
              <a:t>  9주</a:t>
            </a:r>
            <a:endParaRPr lang="ko-KR" altLang="en-US" sz="1400"/>
          </a:p>
        </p:txBody>
      </p:sp>
      <p:sp>
        <p:nvSpPr>
          <p:cNvPr id="5066" name="TextBox 5065"/>
          <p:cNvSpPr txBox="1"/>
          <p:nvPr/>
        </p:nvSpPr>
        <p:spPr>
          <a:xfrm>
            <a:off x="4224528"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10/26 ~</a:t>
            </a:r>
            <a:endParaRPr lang="ko-KR" altLang="en-US" sz="1050"/>
          </a:p>
        </p:txBody>
      </p:sp>
      <p:sp>
        <p:nvSpPr>
          <p:cNvPr id="5067" name="TextBox 5066"/>
          <p:cNvSpPr txBox="1"/>
          <p:nvPr/>
        </p:nvSpPr>
        <p:spPr>
          <a:xfrm>
            <a:off x="4224528"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ELMFIRE 환경·근거 색인·규칙 엔진</a:t>
            </a:r>
            <a:endParaRPr lang="ko-KR" altLang="en-US" sz="1150"/>
          </a:p>
        </p:txBody>
      </p:sp>
      <p:sp>
        <p:nvSpPr>
          <p:cNvPr id="5068" name="Rectangle 5067"/>
          <p:cNvSpPr/>
          <p:nvPr/>
        </p:nvSpPr>
        <p:spPr>
          <a:xfrm>
            <a:off x="5843016" y="6839712"/>
            <a:ext cx="1609344" cy="457200"/>
          </a:xfrm>
          <a:prstGeom prst="rect">
            <a:avLst/>
          </a:prstGeom>
          <a:solidFill>
            <a:srgbClr val="6D7290"/>
          </a:solidFill>
          <a:ln>
            <a:noFill/>
          </a:ln>
        </p:spPr>
        <p:txBody>
          <a:bodyPr wrap="square" lIns="0" tIns="0" rIns="0" bIns="0" rtlCol="0" anchor="ctr">
            <a:noAutofit/>
          </a:bodyPr>
          <a:lstStyle/>
          <a:p>
            <a:pPr algn="ctr"/>
            <a:endParaRPr/>
          </a:p>
        </p:txBody>
      </p:sp>
      <p:sp>
        <p:nvSpPr>
          <p:cNvPr id="5069" name="TextBox 5068"/>
          <p:cNvSpPr txBox="1"/>
          <p:nvPr/>
        </p:nvSpPr>
        <p:spPr>
          <a:xfrm>
            <a:off x="5843016"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SP3</a:t>
            </a:r>
            <a:r>
              <a:rPr lang="ko-KR" altLang="en-US" sz="1100" b="0" dirty="0">
                <a:solidFill>
                  <a:srgbClr val="FFFFFF"/>
                </a:solidFill>
                <a:latin typeface="210 OmniGothic 030"/>
                <a:ea typeface="210 OmniGothic 030"/>
                <a:cs typeface="210 OmniGothic 030"/>
              </a:rPr>
              <a:t>  10주</a:t>
            </a:r>
            <a:endParaRPr lang="ko-KR" altLang="en-US" sz="1400"/>
          </a:p>
        </p:txBody>
      </p:sp>
      <p:sp>
        <p:nvSpPr>
          <p:cNvPr id="5070" name="TextBox 5069"/>
          <p:cNvSpPr txBox="1"/>
          <p:nvPr/>
        </p:nvSpPr>
        <p:spPr>
          <a:xfrm>
            <a:off x="5888736"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11/2 ~</a:t>
            </a:r>
            <a:endParaRPr lang="ko-KR" altLang="en-US" sz="1050"/>
          </a:p>
        </p:txBody>
      </p:sp>
      <p:sp>
        <p:nvSpPr>
          <p:cNvPr id="5071" name="TextBox 5070"/>
          <p:cNvSpPr txBox="1"/>
          <p:nvPr/>
        </p:nvSpPr>
        <p:spPr>
          <a:xfrm>
            <a:off x="5888736"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위험도 계산·EXAONE 서빙·FastAPI 서버</a:t>
            </a:r>
            <a:endParaRPr lang="ko-KR" altLang="en-US" sz="1150"/>
          </a:p>
        </p:txBody>
      </p:sp>
      <p:sp>
        <p:nvSpPr>
          <p:cNvPr id="5072" name="Rectangle 5071"/>
          <p:cNvSpPr/>
          <p:nvPr/>
        </p:nvSpPr>
        <p:spPr>
          <a:xfrm>
            <a:off x="7507224" y="6839712"/>
            <a:ext cx="1609344" cy="457200"/>
          </a:xfrm>
          <a:prstGeom prst="rect">
            <a:avLst/>
          </a:prstGeom>
          <a:solidFill>
            <a:srgbClr val="6D7290"/>
          </a:solidFill>
          <a:ln>
            <a:noFill/>
          </a:ln>
        </p:spPr>
        <p:txBody>
          <a:bodyPr wrap="square" lIns="0" tIns="0" rIns="0" bIns="0" rtlCol="0" anchor="ctr">
            <a:noAutofit/>
          </a:bodyPr>
          <a:lstStyle/>
          <a:p>
            <a:pPr algn="ctr"/>
            <a:endParaRPr/>
          </a:p>
        </p:txBody>
      </p:sp>
      <p:sp>
        <p:nvSpPr>
          <p:cNvPr id="5073" name="TextBox 5072"/>
          <p:cNvSpPr txBox="1"/>
          <p:nvPr/>
        </p:nvSpPr>
        <p:spPr>
          <a:xfrm>
            <a:off x="7507224"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SP4</a:t>
            </a:r>
            <a:r>
              <a:rPr lang="ko-KR" altLang="en-US" sz="1100" b="0" dirty="0">
                <a:solidFill>
                  <a:srgbClr val="FFFFFF"/>
                </a:solidFill>
                <a:latin typeface="210 OmniGothic 030"/>
                <a:ea typeface="210 OmniGothic 030"/>
                <a:cs typeface="210 OmniGothic 030"/>
              </a:rPr>
              <a:t>  11주</a:t>
            </a:r>
            <a:endParaRPr lang="ko-KR" altLang="en-US" sz="1400"/>
          </a:p>
        </p:txBody>
      </p:sp>
      <p:sp>
        <p:nvSpPr>
          <p:cNvPr id="5074" name="TextBox 5073"/>
          <p:cNvSpPr txBox="1"/>
          <p:nvPr/>
        </p:nvSpPr>
        <p:spPr>
          <a:xfrm>
            <a:off x="7552944"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11/9 ~</a:t>
            </a:r>
            <a:endParaRPr lang="ko-KR" altLang="en-US" sz="1050"/>
          </a:p>
        </p:txBody>
      </p:sp>
      <p:sp>
        <p:nvSpPr>
          <p:cNvPr id="5075" name="TextBox 5074"/>
          <p:cNvSpPr txBox="1"/>
          <p:nvPr/>
        </p:nvSpPr>
        <p:spPr>
          <a:xfrm>
            <a:off x="7552944"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모듈 1차 통합·제안 생성 파이프라인·확산 보정</a:t>
            </a:r>
            <a:endParaRPr lang="ko-KR" altLang="en-US" sz="1150"/>
          </a:p>
        </p:txBody>
      </p:sp>
      <p:sp>
        <p:nvSpPr>
          <p:cNvPr id="5076" name="Rectangle 5075"/>
          <p:cNvSpPr/>
          <p:nvPr/>
        </p:nvSpPr>
        <p:spPr>
          <a:xfrm>
            <a:off x="9171432" y="6839712"/>
            <a:ext cx="1609344" cy="457200"/>
          </a:xfrm>
          <a:prstGeom prst="rect">
            <a:avLst/>
          </a:prstGeom>
          <a:solidFill>
            <a:srgbClr val="363A52"/>
          </a:solidFill>
          <a:ln>
            <a:noFill/>
          </a:ln>
        </p:spPr>
        <p:txBody>
          <a:bodyPr wrap="square" lIns="0" tIns="0" rIns="0" bIns="0" rtlCol="0" anchor="ctr">
            <a:noAutofit/>
          </a:bodyPr>
          <a:lstStyle/>
          <a:p>
            <a:pPr algn="ctr"/>
            <a:endParaRPr/>
          </a:p>
        </p:txBody>
      </p:sp>
      <p:sp>
        <p:nvSpPr>
          <p:cNvPr id="5077" name="TextBox 5076"/>
          <p:cNvSpPr txBox="1"/>
          <p:nvPr/>
        </p:nvSpPr>
        <p:spPr>
          <a:xfrm>
            <a:off x="9171432"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SP5</a:t>
            </a:r>
            <a:r>
              <a:rPr lang="ko-KR" altLang="en-US" sz="1100" b="0" dirty="0">
                <a:solidFill>
                  <a:srgbClr val="FFFFFF"/>
                </a:solidFill>
                <a:latin typeface="210 OmniGothic 030"/>
                <a:ea typeface="210 OmniGothic 030"/>
                <a:cs typeface="210 OmniGothic 030"/>
              </a:rPr>
              <a:t>  12주</a:t>
            </a:r>
            <a:endParaRPr lang="ko-KR" altLang="en-US" sz="1400"/>
          </a:p>
        </p:txBody>
      </p:sp>
      <p:sp>
        <p:nvSpPr>
          <p:cNvPr id="5078" name="TextBox 5077"/>
          <p:cNvSpPr txBox="1"/>
          <p:nvPr/>
        </p:nvSpPr>
        <p:spPr>
          <a:xfrm>
            <a:off x="9217152"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11/16 ~</a:t>
            </a:r>
            <a:endParaRPr lang="ko-KR" altLang="en-US" sz="1050"/>
          </a:p>
        </p:txBody>
      </p:sp>
      <p:sp>
        <p:nvSpPr>
          <p:cNvPr id="5079" name="TextBox 5078"/>
          <p:cNvSpPr txBox="1"/>
          <p:nvPr/>
        </p:nvSpPr>
        <p:spPr>
          <a:xfrm>
            <a:off x="9217152"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평가·Ablation 실험·최종 통합 → 개발 완료</a:t>
            </a:r>
            <a:endParaRPr lang="ko-KR" altLang="en-US" sz="1150"/>
          </a:p>
        </p:txBody>
      </p:sp>
      <p:sp>
        <p:nvSpPr>
          <p:cNvPr id="5080" name="Rectangle 5079"/>
          <p:cNvSpPr/>
          <p:nvPr/>
        </p:nvSpPr>
        <p:spPr>
          <a:xfrm>
            <a:off x="10835640" y="6839712"/>
            <a:ext cx="1609344" cy="457200"/>
          </a:xfrm>
          <a:prstGeom prst="rect">
            <a:avLst/>
          </a:prstGeom>
          <a:solidFill>
            <a:srgbClr val="C0602A"/>
          </a:solidFill>
          <a:ln>
            <a:noFill/>
          </a:ln>
        </p:spPr>
        <p:txBody>
          <a:bodyPr wrap="square" lIns="0" tIns="0" rIns="0" bIns="0" rtlCol="0" anchor="ctr">
            <a:noAutofit/>
          </a:bodyPr>
          <a:lstStyle/>
          <a:p>
            <a:pPr algn="ctr"/>
            <a:endParaRPr/>
          </a:p>
        </p:txBody>
      </p:sp>
      <p:sp>
        <p:nvSpPr>
          <p:cNvPr id="5081" name="TextBox 5080"/>
          <p:cNvSpPr txBox="1"/>
          <p:nvPr/>
        </p:nvSpPr>
        <p:spPr>
          <a:xfrm>
            <a:off x="10835640"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준비</a:t>
            </a:r>
            <a:r>
              <a:rPr lang="ko-KR" altLang="en-US" sz="1100" b="0" dirty="0">
                <a:solidFill>
                  <a:srgbClr val="FFFFFF"/>
                </a:solidFill>
                <a:latin typeface="210 OmniGothic 030"/>
                <a:ea typeface="210 OmniGothic 030"/>
                <a:cs typeface="210 OmniGothic 030"/>
              </a:rPr>
              <a:t>  13주</a:t>
            </a:r>
            <a:endParaRPr lang="ko-KR" altLang="en-US" sz="1400"/>
          </a:p>
        </p:txBody>
      </p:sp>
      <p:sp>
        <p:nvSpPr>
          <p:cNvPr id="5082" name="TextBox 5081"/>
          <p:cNvSpPr txBox="1"/>
          <p:nvPr/>
        </p:nvSpPr>
        <p:spPr>
          <a:xfrm>
            <a:off x="10881360"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11/23 ~</a:t>
            </a:r>
            <a:endParaRPr lang="ko-KR" altLang="en-US" sz="1050"/>
          </a:p>
        </p:txBody>
      </p:sp>
      <p:sp>
        <p:nvSpPr>
          <p:cNvPr id="5083" name="TextBox 5082"/>
          <p:cNvSpPr txBox="1"/>
          <p:nvPr/>
        </p:nvSpPr>
        <p:spPr>
          <a:xfrm>
            <a:off x="10881360"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경진대회 준비(발표 자료·시연) — 개발 없음</a:t>
            </a:r>
            <a:endParaRPr lang="ko-KR" altLang="en-US" sz="1150"/>
          </a:p>
        </p:txBody>
      </p:sp>
      <p:sp>
        <p:nvSpPr>
          <p:cNvPr id="5084" name="Rectangle 5083"/>
          <p:cNvSpPr/>
          <p:nvPr/>
        </p:nvSpPr>
        <p:spPr>
          <a:xfrm>
            <a:off x="12499848" y="6839712"/>
            <a:ext cx="1609344" cy="457200"/>
          </a:xfrm>
          <a:prstGeom prst="rect">
            <a:avLst/>
          </a:prstGeom>
          <a:solidFill>
            <a:srgbClr val="FAA95A"/>
          </a:solidFill>
          <a:ln>
            <a:noFill/>
          </a:ln>
        </p:spPr>
        <p:txBody>
          <a:bodyPr wrap="square" lIns="0" tIns="0" rIns="0" bIns="0" rtlCol="0" anchor="ctr">
            <a:noAutofit/>
          </a:bodyPr>
          <a:lstStyle/>
          <a:p>
            <a:pPr algn="ctr"/>
            <a:endParaRPr/>
          </a:p>
        </p:txBody>
      </p:sp>
      <p:sp>
        <p:nvSpPr>
          <p:cNvPr id="5085" name="TextBox 5084"/>
          <p:cNvSpPr txBox="1"/>
          <p:nvPr/>
        </p:nvSpPr>
        <p:spPr>
          <a:xfrm>
            <a:off x="12499848"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대회</a:t>
            </a:r>
            <a:r>
              <a:rPr lang="ko-KR" altLang="en-US" sz="1100" b="0" dirty="0">
                <a:solidFill>
                  <a:srgbClr val="FFFFFF"/>
                </a:solidFill>
                <a:latin typeface="210 OmniGothic 030"/>
                <a:ea typeface="210 OmniGothic 030"/>
                <a:cs typeface="210 OmniGothic 030"/>
              </a:rPr>
              <a:t>  14주</a:t>
            </a:r>
            <a:endParaRPr lang="ko-KR" altLang="en-US" sz="1400"/>
          </a:p>
        </p:txBody>
      </p:sp>
      <p:sp>
        <p:nvSpPr>
          <p:cNvPr id="5086" name="TextBox 5085"/>
          <p:cNvSpPr txBox="1"/>
          <p:nvPr/>
        </p:nvSpPr>
        <p:spPr>
          <a:xfrm>
            <a:off x="12545568"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11/30 ~</a:t>
            </a:r>
            <a:endParaRPr lang="ko-KR" altLang="en-US" sz="1050"/>
          </a:p>
        </p:txBody>
      </p:sp>
      <p:sp>
        <p:nvSpPr>
          <p:cNvPr id="5087" name="TextBox 5086"/>
          <p:cNvSpPr txBox="1"/>
          <p:nvPr/>
        </p:nvSpPr>
        <p:spPr>
          <a:xfrm>
            <a:off x="12545568"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창의설계 경진대회(12/4)</a:t>
            </a:r>
            <a:endParaRPr lang="ko-KR" altLang="en-US" sz="1150"/>
          </a:p>
        </p:txBody>
      </p:sp>
      <p:sp>
        <p:nvSpPr>
          <p:cNvPr id="5088" name="Rectangle 5087"/>
          <p:cNvSpPr/>
          <p:nvPr/>
        </p:nvSpPr>
        <p:spPr>
          <a:xfrm>
            <a:off x="14164056" y="6839712"/>
            <a:ext cx="1609344" cy="457200"/>
          </a:xfrm>
          <a:prstGeom prst="rect">
            <a:avLst/>
          </a:prstGeom>
          <a:solidFill>
            <a:srgbClr val="9AA0B4"/>
          </a:solidFill>
          <a:ln>
            <a:noFill/>
          </a:ln>
        </p:spPr>
        <p:txBody>
          <a:bodyPr wrap="square" lIns="0" tIns="0" rIns="0" bIns="0" rtlCol="0" anchor="ctr">
            <a:noAutofit/>
          </a:bodyPr>
          <a:lstStyle/>
          <a:p>
            <a:pPr algn="ctr"/>
            <a:endParaRPr/>
          </a:p>
        </p:txBody>
      </p:sp>
      <p:sp>
        <p:nvSpPr>
          <p:cNvPr id="5089" name="TextBox 5088"/>
          <p:cNvSpPr txBox="1"/>
          <p:nvPr/>
        </p:nvSpPr>
        <p:spPr>
          <a:xfrm>
            <a:off x="14164056"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보완</a:t>
            </a:r>
            <a:r>
              <a:rPr lang="ko-KR" altLang="en-US" sz="1100" b="0" dirty="0">
                <a:solidFill>
                  <a:srgbClr val="FFFFFF"/>
                </a:solidFill>
                <a:latin typeface="210 OmniGothic 030"/>
                <a:ea typeface="210 OmniGothic 030"/>
                <a:cs typeface="210 OmniGothic 030"/>
              </a:rPr>
              <a:t>  15주</a:t>
            </a:r>
            <a:endParaRPr lang="ko-KR" altLang="en-US" sz="1400"/>
          </a:p>
        </p:txBody>
      </p:sp>
      <p:sp>
        <p:nvSpPr>
          <p:cNvPr id="5090" name="TextBox 5089"/>
          <p:cNvSpPr txBox="1"/>
          <p:nvPr/>
        </p:nvSpPr>
        <p:spPr>
          <a:xfrm>
            <a:off x="14209776"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12/7 ~</a:t>
            </a:r>
            <a:endParaRPr lang="ko-KR" altLang="en-US" sz="1050"/>
          </a:p>
        </p:txBody>
      </p:sp>
      <p:sp>
        <p:nvSpPr>
          <p:cNvPr id="5091" name="TextBox 5090"/>
          <p:cNvSpPr txBox="1"/>
          <p:nvPr/>
        </p:nvSpPr>
        <p:spPr>
          <a:xfrm>
            <a:off x="14209776"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문제점 보완·SW 등록(지재권)</a:t>
            </a:r>
            <a:endParaRPr lang="ko-KR" altLang="en-US" sz="1150"/>
          </a:p>
        </p:txBody>
      </p:sp>
      <p:sp>
        <p:nvSpPr>
          <p:cNvPr id="5092" name="Rectangle 5091"/>
          <p:cNvSpPr/>
          <p:nvPr/>
        </p:nvSpPr>
        <p:spPr>
          <a:xfrm>
            <a:off x="15828264" y="6839712"/>
            <a:ext cx="1609344" cy="457200"/>
          </a:xfrm>
          <a:prstGeom prst="rect">
            <a:avLst/>
          </a:prstGeom>
          <a:solidFill>
            <a:srgbClr val="9AA0B4"/>
          </a:solidFill>
          <a:ln>
            <a:noFill/>
          </a:ln>
        </p:spPr>
        <p:txBody>
          <a:bodyPr wrap="square" lIns="0" tIns="0" rIns="0" bIns="0" rtlCol="0" anchor="ctr">
            <a:noAutofit/>
          </a:bodyPr>
          <a:lstStyle/>
          <a:p>
            <a:pPr algn="ctr"/>
            <a:endParaRPr/>
          </a:p>
        </p:txBody>
      </p:sp>
      <p:sp>
        <p:nvSpPr>
          <p:cNvPr id="5093" name="TextBox 5092"/>
          <p:cNvSpPr txBox="1"/>
          <p:nvPr/>
        </p:nvSpPr>
        <p:spPr>
          <a:xfrm>
            <a:off x="15828264" y="6839712"/>
            <a:ext cx="1609344" cy="457200"/>
          </a:xfrm>
          <a:prstGeom prst="rect">
            <a:avLst/>
          </a:prstGeom>
          <a:noFill/>
        </p:spPr>
        <p:txBody>
          <a:bodyPr wrap="square" lIns="0" tIns="0" rIns="0" bIns="0" rtlCol="0" anchor="ctr">
            <a:noAutofit/>
          </a:bodyPr>
          <a:lstStyle/>
          <a:p>
            <a:pPr algn="ctr" latinLnBrk="0">
              <a:lnSpc>
                <a:spcPct val="120000"/>
              </a:lnSpc>
              <a:spcBef>
                <a:spcPts val="0"/>
              </a:spcBef>
              <a:spcAft>
                <a:spcPts val="0"/>
              </a:spcAft>
              <a:buNone/>
            </a:pPr>
            <a:r>
              <a:rPr lang="ko-KR" altLang="en-US" sz="1500" b="1" dirty="0">
                <a:solidFill>
                  <a:srgbClr val="FFFFFF"/>
                </a:solidFill>
                <a:latin typeface="210 OmniGothic 040"/>
                <a:ea typeface="210 OmniGothic 040"/>
                <a:cs typeface="210 OmniGothic 040"/>
              </a:rPr>
              <a:t>최종</a:t>
            </a:r>
            <a:r>
              <a:rPr lang="ko-KR" altLang="en-US" sz="1100" b="0" dirty="0">
                <a:solidFill>
                  <a:srgbClr val="FFFFFF"/>
                </a:solidFill>
                <a:latin typeface="210 OmniGothic 030"/>
                <a:ea typeface="210 OmniGothic 030"/>
                <a:cs typeface="210 OmniGothic 030"/>
              </a:rPr>
              <a:t>  16주</a:t>
            </a:r>
            <a:endParaRPr lang="ko-KR" altLang="en-US" sz="1400"/>
          </a:p>
        </p:txBody>
      </p:sp>
      <p:sp>
        <p:nvSpPr>
          <p:cNvPr id="5094" name="TextBox 5093"/>
          <p:cNvSpPr txBox="1"/>
          <p:nvPr/>
        </p:nvSpPr>
        <p:spPr>
          <a:xfrm>
            <a:off x="15873984" y="7342632"/>
            <a:ext cx="1517904" cy="237744"/>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050" b="0" dirty="0">
                <a:solidFill>
                  <a:srgbClr val="6B7080"/>
                </a:solidFill>
                <a:latin typeface="210 OmniGothic 030"/>
                <a:ea typeface="210 OmniGothic 030"/>
                <a:cs typeface="210 OmniGothic 030"/>
              </a:rPr>
              <a:t>12/14 ~</a:t>
            </a:r>
            <a:endParaRPr lang="ko-KR" altLang="en-US" sz="1050"/>
          </a:p>
        </p:txBody>
      </p:sp>
      <p:sp>
        <p:nvSpPr>
          <p:cNvPr id="5095" name="TextBox 5094"/>
          <p:cNvSpPr txBox="1"/>
          <p:nvPr/>
        </p:nvSpPr>
        <p:spPr>
          <a:xfrm>
            <a:off x="15873984" y="7589520"/>
            <a:ext cx="1517904" cy="868680"/>
          </a:xfrm>
          <a:prstGeom prst="rect">
            <a:avLst/>
          </a:prstGeom>
          <a:noFill/>
        </p:spPr>
        <p:txBody>
          <a:bodyPr wrap="square" lIns="0" tIns="0" rIns="0" bIns="0" rtlCol="0" anchor="t">
            <a:noAutofit/>
          </a:bodyPr>
          <a:lstStyle/>
          <a:p>
            <a:pPr algn="ctr" latinLnBrk="0">
              <a:lnSpc>
                <a:spcPct val="114999"/>
              </a:lnSpc>
              <a:spcBef>
                <a:spcPts val="0"/>
              </a:spcBef>
              <a:spcAft>
                <a:spcPts val="0"/>
              </a:spcAft>
              <a:buNone/>
            </a:pPr>
            <a:r>
              <a:rPr lang="ko-KR" altLang="en-US" sz="1150" b="0" dirty="0">
                <a:solidFill>
                  <a:srgbClr val="2E3142"/>
                </a:solidFill>
                <a:latin typeface="210 OmniGothic 030"/>
                <a:ea typeface="210 OmniGothic 030"/>
                <a:cs typeface="210 OmniGothic 030"/>
              </a:rPr>
              <a:t>최종보고서(12/18)</a:t>
            </a:r>
            <a:endParaRPr lang="ko-KR" altLang="en-US" sz="1150"/>
          </a:p>
        </p:txBody>
      </p:sp>
      <p:cxnSp>
        <p:nvCxnSpPr>
          <p:cNvPr id="5096" name="Connector 5095"/>
          <p:cNvCxnSpPr/>
          <p:nvPr/>
        </p:nvCxnSpPr>
        <p:spPr>
          <a:xfrm>
            <a:off x="10808208" y="6766560"/>
            <a:ext cx="0" cy="1719072"/>
          </a:xfrm>
          <a:prstGeom prst="line">
            <a:avLst/>
          </a:prstGeom>
          <a:ln w="25400">
            <a:solidFill>
              <a:srgbClr val="2E7D4F"/>
            </a:solidFill>
            <a:prstDash val="dash"/>
          </a:ln>
        </p:spPr>
      </p:cxnSp>
      <p:sp>
        <p:nvSpPr>
          <p:cNvPr id="5097" name="Rounded Rectangle 5096"/>
          <p:cNvSpPr/>
          <p:nvPr/>
        </p:nvSpPr>
        <p:spPr>
          <a:xfrm>
            <a:off x="822960" y="8613648"/>
            <a:ext cx="16642080" cy="457200"/>
          </a:xfrm>
          <a:prstGeom prst="roundRect">
            <a:avLst>
              <a:gd name="adj" fmla="val 20000"/>
            </a:avLst>
          </a:prstGeom>
          <a:solidFill>
            <a:srgbClr val="F2F2F2"/>
          </a:solidFill>
          <a:ln>
            <a:noFill/>
          </a:ln>
        </p:spPr>
        <p:txBody>
          <a:bodyPr wrap="square" lIns="0" tIns="0" rIns="0" bIns="0" rtlCol="0" anchor="ctr">
            <a:noAutofit/>
          </a:bodyPr>
          <a:lstStyle/>
          <a:p>
            <a:pPr algn="ctr"/>
            <a:endParaRPr/>
          </a:p>
        </p:txBody>
      </p:sp>
      <p:sp>
        <p:nvSpPr>
          <p:cNvPr id="5098" name="TextBox 5097"/>
          <p:cNvSpPr txBox="1"/>
          <p:nvPr/>
        </p:nvSpPr>
        <p:spPr>
          <a:xfrm>
            <a:off x="1051560" y="8613648"/>
            <a:ext cx="16276320" cy="45720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스프린트 주기  </a:t>
            </a:r>
            <a:r>
              <a:rPr lang="ko-KR" altLang="en-US" sz="1250" b="0" dirty="0">
                <a:solidFill>
                  <a:srgbClr val="2E3142"/>
                </a:solidFill>
                <a:latin typeface="210 OmniGothic 030"/>
                <a:ea typeface="210 OmniGothic 030"/>
                <a:cs typeface="210 OmniGothic 030"/>
              </a:rPr>
              <a:t>월: 백로그에서 이번 주 목표 선정 → 개발·모듈별 단위 시험 → 금: 주간 개발 보고서·면담(리뷰) → 회고, </a:t>
            </a:r>
            <a:r>
              <a:rPr lang="ko-KR" altLang="en-US" sz="1250" b="0" dirty="0" err="1">
                <a:solidFill>
                  <a:srgbClr val="2E3142"/>
                </a:solidFill>
                <a:latin typeface="210 OmniGothic 030"/>
                <a:ea typeface="210 OmniGothic 030"/>
                <a:cs typeface="210 OmniGothic 030"/>
              </a:rPr>
              <a:t>백로그</a:t>
            </a:r>
            <a:r>
              <a:rPr lang="ko-KR" altLang="en-US" sz="1250" b="0" dirty="0">
                <a:solidFill>
                  <a:srgbClr val="2E3142"/>
                </a:solidFill>
                <a:latin typeface="210 OmniGothic 030"/>
                <a:ea typeface="210 OmniGothic 030"/>
                <a:cs typeface="210 OmniGothic 030"/>
              </a:rPr>
              <a:t> 갱신</a:t>
            </a:r>
            <a:endParaRPr lang="ko-KR" altLang="en-US" sz="1250" strike="sngStrike" dirty="0"/>
          </a:p>
        </p:txBody>
      </p:sp>
      <p:sp>
        <p:nvSpPr>
          <p:cNvPr id="3" name="TextBox 2">
            <a:extLst>
              <a:ext uri="{FF2B5EF4-FFF2-40B4-BE49-F238E27FC236}">
                <a16:creationId xmlns:a16="http://schemas.microsoft.com/office/drawing/2014/main" id="{31AF442C-D559-A8B0-9478-738734464D1C}"/>
              </a:ext>
            </a:extLst>
          </p:cNvPr>
          <p:cNvSpPr txBox="1"/>
          <p:nvPr/>
        </p:nvSpPr>
        <p:spPr>
          <a:xfrm>
            <a:off x="5669280" y="2596896"/>
            <a:ext cx="4663440" cy="329184"/>
          </a:xfrm>
          <a:prstGeom prst="rect">
            <a:avLst/>
          </a:prstGeom>
          <a:noFill/>
        </p:spPr>
        <p:txBody>
          <a:bodyPr wrap="none" lIns="0" tIns="0" rIns="0" bIns="0" rtlCol="0" anchor="t">
            <a:noAutofit/>
          </a:bodyPr>
          <a:lstStyle/>
          <a:p>
            <a:pPr algn="r">
              <a:lnSpc>
                <a:spcPct val="120000"/>
              </a:lnSpc>
            </a:pPr>
            <a:r>
              <a:rPr lang="ko-KR" altLang="en-US" sz="1100">
                <a:solidFill>
                  <a:srgbClr val="6B7080"/>
                </a:solidFill>
                <a:latin typeface="210 OmniGothic 030"/>
                <a:ea typeface="210 OmniGothic 030"/>
              </a:rPr>
              <a:t>※ CBD (Component Based Development)</a:t>
            </a:r>
          </a:p>
        </p:txBody>
      </p:sp>
      <p:sp>
        <p:nvSpPr>
          <p:cNvPr id="5099" name="Rounded Rectangle 5050"/>
          <p:cNvSpPr/>
          <p:nvPr/>
        </p:nvSpPr>
        <p:spPr>
          <a:xfrm>
            <a:off x="14805660" y="5449824"/>
            <a:ext cx="2641092" cy="713232"/>
          </a:xfrm>
          <a:prstGeom prst="roundRect">
            <a:avLst>
              <a:gd name="adj" fmla="val 12820"/>
            </a:avLst>
          </a:prstGeom>
          <a:solidFill>
            <a:srgbClr val="FAA95A"/>
          </a:solidFill>
          <a:ln>
            <a:noFill/>
          </a:ln>
        </p:spPr>
        <p:txBody>
          <a:bodyPr wrap="square" lIns="0" tIns="0" rIns="0" bIns="0" rtlCol="0" anchor="ctr">
            <a:noAutofit/>
          </a:bodyPr>
          <a:lstStyle/>
          <a:p>
            <a:pPr algn="ctr"/>
            <a:endParaRPr/>
          </a:p>
        </p:txBody>
      </p:sp>
      <p:sp>
        <p:nvSpPr>
          <p:cNvPr id="5100" name="TextBox 5051"/>
          <p:cNvSpPr txBox="1"/>
          <p:nvPr/>
        </p:nvSpPr>
        <p:spPr>
          <a:xfrm>
            <a:off x="14942819" y="5495544"/>
            <a:ext cx="2275332"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FFFFFF"/>
                </a:solidFill>
                <a:latin typeface="210 OmniGothic 040"/>
                <a:ea typeface="210 OmniGothic 040"/>
                <a:cs typeface="210 OmniGothic 040"/>
              </a:rPr>
              <a:t>6차 · 10/13</a:t>
            </a:r>
            <a:endParaRPr lang="ko-KR" altLang="en-US" sz="1200"/>
          </a:p>
        </p:txBody>
      </p:sp>
      <p:sp>
        <p:nvSpPr>
          <p:cNvPr id="5101" name="TextBox 5052"/>
          <p:cNvSpPr txBox="1"/>
          <p:nvPr/>
        </p:nvSpPr>
        <p:spPr>
          <a:xfrm>
            <a:off x="14942819" y="5779008"/>
            <a:ext cx="2275332"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FFFFFF"/>
                </a:solidFill>
                <a:latin typeface="210 OmniGothic 040"/>
                <a:ea typeface="210 OmniGothic 040"/>
                <a:cs typeface="210 OmniGothic 040"/>
              </a:rPr>
              <a:t>검증 결과 반영·신고자 정보</a:t>
            </a:r>
            <a:endParaRPr lang="ko-KR" altLang="en-US" sz="1350"/>
          </a:p>
        </p:txBody>
      </p:sp>
    </p:spTree>
    <p:extLst>
      <p:ext uri="{BB962C8B-B14F-4D97-AF65-F5344CB8AC3E}">
        <p14:creationId xmlns:p14="http://schemas.microsoft.com/office/powerpoint/2010/main" val="283866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04. 프로토타입 개발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기술 스택 — 프로토타입과 본 개발</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21</a:t>
            </a:fld>
            <a:endParaRPr lang="en-US"/>
          </a:p>
        </p:txBody>
      </p:sp>
      <p:graphicFrame>
        <p:nvGraphicFramePr>
          <p:cNvPr id="5024" name="Table 5023"/>
          <p:cNvGraphicFramePr>
            <a:graphicFrameLocks noGrp="1"/>
          </p:cNvGraphicFramePr>
          <p:nvPr>
            <p:extLst>
              <p:ext uri="{D42A27DB-BD31-4B8C-83A1-F6EECF244321}">
                <p14:modId xmlns:p14="http://schemas.microsoft.com/office/powerpoint/2010/main" val="2035232297"/>
              </p:ext>
            </p:extLst>
          </p:nvPr>
        </p:nvGraphicFramePr>
        <p:xfrm>
          <a:off x="822960" y="2468880"/>
          <a:ext cx="11430000" cy="6035040"/>
        </p:xfrm>
        <a:graphic>
          <a:graphicData uri="http://schemas.openxmlformats.org/drawingml/2006/table">
            <a:tbl>
              <a:tblPr/>
              <a:tblGrid>
                <a:gridCol w="20116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548640">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구분</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프로토타입 (현재)</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본 개발 (계획)</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화면</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HTML·CSS·JavaScript 정적 웹(빌드 없음)</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React + MapLibre GL JS</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1"/>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지도·공간 자료</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MapLibre GL JS, Esri 위성영상·OpenFreeMap 라벨, SGIS 경계·OSM 시설·도로</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동일 + PostGIS 공간 레이어</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2"/>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서버·API</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없음(브라우저 메모리, 정적 호스팅)</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FastAPI(Python) REST API</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3"/>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확산 예측</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합성 타원 모델(풍향·풍속 기반, 1시간 간격 P1~P8)</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ELMFIRE(Docker), 30 m 격자(DEM·임상도)</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4"/>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판정·제안 생성</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규칙 판정(JavaScript) + 문장 템플릿</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규칙 엔진(Python) + EXAONE 4.0 32B(vLLM)</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5"/>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근거 검색</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표준매뉴얼 쪽수별 요약</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KURE-v1 임베딩 + FAISS, 조항 단위 청킹</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6"/>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AI 어시스턴트</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키워드 대본 답변 · 정규식 정정 해석</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EXAONE + RAG 답변 · 정정 해석</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7"/>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데이터</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시나리오 파일(2025-03-22 의성 산불)</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PostgreSQL + PostGIS, 기상청 단기예보 API</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8"/>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인증</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브라우저 세션 저장소 토큰</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JWT, 서버 측 잠금·권한 검사</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9"/>
                  </a:ext>
                </a:extLst>
              </a:tr>
              <a:tr h="548640">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배포</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GitHub Pages · 로컬 정적 서버</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Docker 컨테이너, GPU 서버(예측·AI 추론)</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10"/>
                  </a:ext>
                </a:extLst>
              </a:tr>
            </a:tbl>
          </a:graphicData>
        </a:graphic>
      </p:graphicFrame>
      <p:sp>
        <p:nvSpPr>
          <p:cNvPr id="5025" name="Rounded Rectangle 5024"/>
          <p:cNvSpPr/>
          <p:nvPr/>
        </p:nvSpPr>
        <p:spPr>
          <a:xfrm>
            <a:off x="12573000" y="2468880"/>
            <a:ext cx="4892040" cy="6583680"/>
          </a:xfrm>
          <a:prstGeom prst="roundRect">
            <a:avLst>
              <a:gd name="adj" fmla="val 2616"/>
            </a:avLst>
          </a:prstGeom>
          <a:solidFill>
            <a:srgbClr val="363A52"/>
          </a:solidFill>
          <a:ln>
            <a:noFill/>
          </a:ln>
        </p:spPr>
        <p:txBody>
          <a:bodyPr wrap="square" lIns="0" tIns="0" rIns="0" bIns="0" rtlCol="0" anchor="ctr">
            <a:noAutofit/>
          </a:bodyPr>
          <a:lstStyle/>
          <a:p>
            <a:pPr algn="ctr"/>
            <a:endParaRPr/>
          </a:p>
        </p:txBody>
      </p:sp>
      <p:sp>
        <p:nvSpPr>
          <p:cNvPr id="5026" name="TextBox 5025"/>
          <p:cNvSpPr txBox="1"/>
          <p:nvPr/>
        </p:nvSpPr>
        <p:spPr>
          <a:xfrm>
            <a:off x="12847320" y="2633472"/>
            <a:ext cx="438912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FFFFFF"/>
                </a:solidFill>
                <a:latin typeface="210 OmniGothic 040"/>
                <a:ea typeface="210 OmniGothic 040"/>
                <a:cs typeface="210 OmniGothic 040"/>
              </a:rPr>
              <a:t>프로토타입 구현 원칙</a:t>
            </a:r>
            <a:endParaRPr lang="ko-KR" altLang="en-US" sz="1800"/>
          </a:p>
        </p:txBody>
      </p:sp>
      <p:sp>
        <p:nvSpPr>
          <p:cNvPr id="5027" name="TextBox 5026"/>
          <p:cNvSpPr txBox="1"/>
          <p:nvPr/>
        </p:nvSpPr>
        <p:spPr>
          <a:xfrm>
            <a:off x="12847320" y="3017520"/>
            <a:ext cx="4389120" cy="292608"/>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0" dirty="0">
                <a:solidFill>
                  <a:srgbClr val="FAA95A"/>
                </a:solidFill>
                <a:latin typeface="210 OmniGothic 030"/>
                <a:ea typeface="210 OmniGothic 030"/>
                <a:cs typeface="210 OmniGothic 030"/>
              </a:rPr>
              <a:t>누구나 같은 화면을 열어 검토할 수 있게</a:t>
            </a:r>
            <a:endParaRPr lang="ko-KR" altLang="en-US" sz="1200"/>
          </a:p>
        </p:txBody>
      </p:sp>
      <p:sp>
        <p:nvSpPr>
          <p:cNvPr id="5028" name="Oval 5027"/>
          <p:cNvSpPr/>
          <p:nvPr/>
        </p:nvSpPr>
        <p:spPr>
          <a:xfrm>
            <a:off x="12847320" y="3520440"/>
            <a:ext cx="310896" cy="310896"/>
          </a:xfrm>
          <a:prstGeom prst="ellipse">
            <a:avLst/>
          </a:prstGeom>
          <a:solidFill>
            <a:srgbClr val="FAA95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9" name="TextBox 5028"/>
          <p:cNvSpPr txBox="1"/>
          <p:nvPr/>
        </p:nvSpPr>
        <p:spPr>
          <a:xfrm>
            <a:off x="13286232" y="3502152"/>
            <a:ext cx="393192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50" b="1" dirty="0">
                <a:solidFill>
                  <a:srgbClr val="FFFFFF"/>
                </a:solidFill>
                <a:latin typeface="210 OmniGothic 040"/>
                <a:ea typeface="210 OmniGothic 040"/>
                <a:cs typeface="210 OmniGothic 040"/>
              </a:rPr>
              <a:t>설치 없이 열리는 정적 웹</a:t>
            </a:r>
            <a:endParaRPr lang="ko-KR" altLang="en-US" sz="1550"/>
          </a:p>
        </p:txBody>
      </p:sp>
      <p:sp>
        <p:nvSpPr>
          <p:cNvPr id="5030" name="TextBox 5029"/>
          <p:cNvSpPr txBox="1"/>
          <p:nvPr/>
        </p:nvSpPr>
        <p:spPr>
          <a:xfrm>
            <a:off x="13286232" y="3886200"/>
            <a:ext cx="3931920" cy="73152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DDE0EA"/>
                </a:solidFill>
                <a:latin typeface="210 OmniGothic 030"/>
                <a:ea typeface="210 OmniGothic 030"/>
                <a:cs typeface="210 OmniGothic 030"/>
              </a:rPr>
              <a:t>빌드·서버 없이 정적 서버나 GitHub Pages 주소로 접속해 팀원 누구나 같은 화면을 검토</a:t>
            </a:r>
            <a:endParaRPr lang="ko-KR" altLang="en-US" sz="1300"/>
          </a:p>
        </p:txBody>
      </p:sp>
      <p:sp>
        <p:nvSpPr>
          <p:cNvPr id="5031" name="Oval 5030"/>
          <p:cNvSpPr/>
          <p:nvPr/>
        </p:nvSpPr>
        <p:spPr>
          <a:xfrm>
            <a:off x="12847320" y="4663440"/>
            <a:ext cx="310896" cy="310896"/>
          </a:xfrm>
          <a:prstGeom prst="ellipse">
            <a:avLst/>
          </a:prstGeom>
          <a:solidFill>
            <a:srgbClr val="FAA95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2" name="TextBox 5031"/>
          <p:cNvSpPr txBox="1"/>
          <p:nvPr/>
        </p:nvSpPr>
        <p:spPr>
          <a:xfrm>
            <a:off x="13286232" y="4645152"/>
            <a:ext cx="393192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50" b="1" dirty="0">
                <a:solidFill>
                  <a:srgbClr val="FFFFFF"/>
                </a:solidFill>
                <a:latin typeface="210 OmniGothic 040"/>
                <a:ea typeface="210 OmniGothic 040"/>
                <a:cs typeface="210 OmniGothic 040"/>
              </a:rPr>
              <a:t>구현과 미구현 구분</a:t>
            </a:r>
            <a:endParaRPr lang="ko-KR" altLang="en-US" sz="1550"/>
          </a:p>
        </p:txBody>
      </p:sp>
      <p:sp>
        <p:nvSpPr>
          <p:cNvPr id="5033" name="TextBox 5032"/>
          <p:cNvSpPr txBox="1"/>
          <p:nvPr/>
        </p:nvSpPr>
        <p:spPr>
          <a:xfrm>
            <a:off x="13286232" y="5029200"/>
            <a:ext cx="3931920" cy="73152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DDE0EA"/>
                </a:solidFill>
                <a:latin typeface="210 OmniGothic 030"/>
                <a:ea typeface="210 OmniGothic 030"/>
                <a:cs typeface="210 OmniGothic 030"/>
              </a:rPr>
              <a:t>판정·버전·이력·권한·입력 검사는 실제 계산(구현), 확산 모델·AI 문장은 정해 둔 값으로 연출(미구현)</a:t>
            </a:r>
            <a:endParaRPr lang="ko-KR" altLang="en-US" sz="1300"/>
          </a:p>
        </p:txBody>
      </p:sp>
      <p:sp>
        <p:nvSpPr>
          <p:cNvPr id="5034" name="Oval 5033"/>
          <p:cNvSpPr/>
          <p:nvPr/>
        </p:nvSpPr>
        <p:spPr>
          <a:xfrm>
            <a:off x="12847320" y="5806440"/>
            <a:ext cx="310896" cy="310896"/>
          </a:xfrm>
          <a:prstGeom prst="ellipse">
            <a:avLst/>
          </a:prstGeom>
          <a:solidFill>
            <a:srgbClr val="FAA95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5" name="TextBox 5034"/>
          <p:cNvSpPr txBox="1"/>
          <p:nvPr/>
        </p:nvSpPr>
        <p:spPr>
          <a:xfrm>
            <a:off x="13286232" y="5788152"/>
            <a:ext cx="393192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50" b="1" dirty="0">
                <a:solidFill>
                  <a:srgbClr val="FFFFFF"/>
                </a:solidFill>
                <a:latin typeface="210 OmniGothic 040"/>
                <a:ea typeface="210 OmniGothic 040"/>
                <a:cs typeface="210 OmniGothic 040"/>
              </a:rPr>
              <a:t>실제 지역 자료 사용</a:t>
            </a:r>
            <a:endParaRPr lang="ko-KR" altLang="en-US" sz="1550"/>
          </a:p>
        </p:txBody>
      </p:sp>
      <p:sp>
        <p:nvSpPr>
          <p:cNvPr id="5036" name="TextBox 5035"/>
          <p:cNvSpPr txBox="1"/>
          <p:nvPr/>
        </p:nvSpPr>
        <p:spPr>
          <a:xfrm>
            <a:off x="13286232" y="6172200"/>
            <a:ext cx="3931920" cy="73152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DDE0EA"/>
                </a:solidFill>
                <a:latin typeface="210 OmniGothic 030"/>
                <a:ea typeface="210 OmniGothic 030"/>
                <a:cs typeface="210 OmniGothic 030"/>
              </a:rPr>
              <a:t>2025-03-22 의성 산불 경과, SGIS 경계·OSM 시설·도로는 실제 자료, 인구·자원 수는 가상값</a:t>
            </a:r>
            <a:endParaRPr lang="ko-KR" altLang="en-US" sz="1300"/>
          </a:p>
        </p:txBody>
      </p:sp>
      <p:sp>
        <p:nvSpPr>
          <p:cNvPr id="5037" name="Oval 5036"/>
          <p:cNvSpPr/>
          <p:nvPr/>
        </p:nvSpPr>
        <p:spPr>
          <a:xfrm>
            <a:off x="12847320" y="6949440"/>
            <a:ext cx="310896" cy="310896"/>
          </a:xfrm>
          <a:prstGeom prst="ellipse">
            <a:avLst/>
          </a:prstGeom>
          <a:solidFill>
            <a:srgbClr val="FAA95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8" name="TextBox 5037"/>
          <p:cNvSpPr txBox="1"/>
          <p:nvPr/>
        </p:nvSpPr>
        <p:spPr>
          <a:xfrm>
            <a:off x="13286232" y="6931152"/>
            <a:ext cx="393192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50" b="1" dirty="0">
                <a:solidFill>
                  <a:srgbClr val="FFFFFF"/>
                </a:solidFill>
                <a:latin typeface="210 OmniGothic 040"/>
                <a:ea typeface="210 OmniGothic 040"/>
                <a:cs typeface="210 OmniGothic 040"/>
              </a:rPr>
              <a:t>본 개발과 같은 지도 엔진</a:t>
            </a:r>
            <a:endParaRPr lang="ko-KR" altLang="en-US" sz="1550"/>
          </a:p>
        </p:txBody>
      </p:sp>
      <p:sp>
        <p:nvSpPr>
          <p:cNvPr id="5039" name="TextBox 5038"/>
          <p:cNvSpPr txBox="1"/>
          <p:nvPr/>
        </p:nvSpPr>
        <p:spPr>
          <a:xfrm>
            <a:off x="13286232" y="7315200"/>
            <a:ext cx="3931920" cy="73152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DDE0EA"/>
                </a:solidFill>
                <a:latin typeface="210 OmniGothic 030"/>
                <a:ea typeface="210 OmniGothic 030"/>
                <a:cs typeface="210 OmniGothic 030"/>
              </a:rPr>
              <a:t>MapLibre GL JS를 그대로 쓰므로 화면 배치와 레이어 구성을 React 화면으로 옮길 수 있음</a:t>
            </a:r>
            <a:endParaRPr lang="ko-KR" altLang="en-US" sz="1300"/>
          </a:p>
        </p:txBody>
      </p:sp>
      <p:cxnSp>
        <p:nvCxnSpPr>
          <p:cNvPr id="5040" name="Connector 5039"/>
          <p:cNvCxnSpPr/>
          <p:nvPr/>
        </p:nvCxnSpPr>
        <p:spPr>
          <a:xfrm>
            <a:off x="12847320" y="8229600"/>
            <a:ext cx="4343400" cy="0"/>
          </a:xfrm>
          <a:prstGeom prst="line">
            <a:avLst/>
          </a:prstGeom>
          <a:ln w="12700">
            <a:solidFill>
              <a:srgbClr val="6D7290"/>
            </a:solidFill>
          </a:ln>
        </p:spPr>
      </p:cxnSp>
    </p:spTree>
    <p:extLst>
      <p:ext uri="{BB962C8B-B14F-4D97-AF65-F5344CB8AC3E}">
        <p14:creationId xmlns:p14="http://schemas.microsoft.com/office/powerpoint/2010/main" val="2855100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04. 프로토타입 개발</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프로토타입 개발 절차</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5024" name="Rounded Rectangle 5023"/>
          <p:cNvSpPr/>
          <p:nvPr/>
        </p:nvSpPr>
        <p:spPr>
          <a:xfrm>
            <a:off x="822960" y="248716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25" name="Rectangle 5024"/>
          <p:cNvSpPr/>
          <p:nvPr/>
        </p:nvSpPr>
        <p:spPr>
          <a:xfrm>
            <a:off x="822960" y="2487168"/>
            <a:ext cx="3794760" cy="82296"/>
          </a:xfrm>
          <a:prstGeom prst="rect">
            <a:avLst/>
          </a:prstGeom>
          <a:solidFill>
            <a:srgbClr val="363A52"/>
          </a:solidFill>
          <a:ln>
            <a:noFill/>
          </a:ln>
        </p:spPr>
        <p:txBody>
          <a:bodyPr wrap="square" lIns="0" tIns="0" rIns="0" bIns="0" rtlCol="0" anchor="ctr">
            <a:noAutofit/>
          </a:bodyPr>
          <a:lstStyle/>
          <a:p>
            <a:pPr algn="ctr"/>
            <a:endParaRPr/>
          </a:p>
        </p:txBody>
      </p:sp>
      <p:sp>
        <p:nvSpPr>
          <p:cNvPr id="5026" name="TextBox 5025"/>
          <p:cNvSpPr txBox="1"/>
          <p:nvPr/>
        </p:nvSpPr>
        <p:spPr>
          <a:xfrm>
            <a:off x="1078992" y="267004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363A52"/>
                </a:solidFill>
                <a:latin typeface="210 OmniGothic 040"/>
                <a:ea typeface="210 OmniGothic 040"/>
                <a:cs typeface="210 OmniGothic 040"/>
              </a:rPr>
              <a:t>STEP 01</a:t>
            </a:r>
            <a:endParaRPr lang="ko-KR" altLang="en-US" sz="1200"/>
          </a:p>
        </p:txBody>
      </p:sp>
      <p:sp>
        <p:nvSpPr>
          <p:cNvPr id="5027" name="TextBox 5026"/>
          <p:cNvSpPr txBox="1"/>
          <p:nvPr/>
        </p:nvSpPr>
        <p:spPr>
          <a:xfrm>
            <a:off x="1078992" y="296265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요구사항 확인</a:t>
            </a:r>
            <a:endParaRPr lang="ko-KR" altLang="en-US" sz="1800"/>
          </a:p>
        </p:txBody>
      </p:sp>
      <p:sp>
        <p:nvSpPr>
          <p:cNvPr id="5028" name="TextBox 5027"/>
          <p:cNvSpPr txBox="1"/>
          <p:nvPr/>
        </p:nvSpPr>
        <p:spPr>
          <a:xfrm>
            <a:off x="1078992" y="340156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요구사항분석서의 기능 32개·유스케이스 15개·권한 4종을 화면 단위로 정리</a:t>
            </a:r>
            <a:endParaRPr lang="ko-KR" altLang="en-US" sz="1350"/>
          </a:p>
        </p:txBody>
      </p:sp>
      <p:sp>
        <p:nvSpPr>
          <p:cNvPr id="5029" name="Chevron 5028"/>
          <p:cNvSpPr/>
          <p:nvPr/>
        </p:nvSpPr>
        <p:spPr>
          <a:xfrm>
            <a:off x="4764024" y="3419856"/>
            <a:ext cx="182880" cy="329184"/>
          </a:xfrm>
          <a:prstGeom prst="chevron">
            <a:avLst/>
          </a:prstGeom>
          <a:solidFill>
            <a:srgbClr val="FAA95A"/>
          </a:solidFill>
          <a:ln>
            <a:noFill/>
          </a:ln>
        </p:spPr>
        <p:txBody>
          <a:bodyPr wrap="square" lIns="0" tIns="0" rIns="0" bIns="0" rtlCol="0" anchor="ctr">
            <a:noAutofit/>
          </a:bodyPr>
          <a:lstStyle/>
          <a:p>
            <a:pPr algn="ctr"/>
            <a:endParaRPr/>
          </a:p>
        </p:txBody>
      </p:sp>
      <p:sp>
        <p:nvSpPr>
          <p:cNvPr id="5030" name="Rounded Rectangle 5029"/>
          <p:cNvSpPr/>
          <p:nvPr/>
        </p:nvSpPr>
        <p:spPr>
          <a:xfrm>
            <a:off x="5102352" y="248716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31" name="Rectangle 5030"/>
          <p:cNvSpPr/>
          <p:nvPr/>
        </p:nvSpPr>
        <p:spPr>
          <a:xfrm>
            <a:off x="5102352" y="2487168"/>
            <a:ext cx="3794760" cy="82296"/>
          </a:xfrm>
          <a:prstGeom prst="rect">
            <a:avLst/>
          </a:prstGeom>
          <a:solidFill>
            <a:srgbClr val="363A52"/>
          </a:solidFill>
          <a:ln>
            <a:noFill/>
          </a:ln>
        </p:spPr>
        <p:txBody>
          <a:bodyPr wrap="square" lIns="0" tIns="0" rIns="0" bIns="0" rtlCol="0" anchor="ctr">
            <a:noAutofit/>
          </a:bodyPr>
          <a:lstStyle/>
          <a:p>
            <a:pPr algn="ctr"/>
            <a:endParaRPr/>
          </a:p>
        </p:txBody>
      </p:sp>
      <p:sp>
        <p:nvSpPr>
          <p:cNvPr id="5032" name="TextBox 5031"/>
          <p:cNvSpPr txBox="1"/>
          <p:nvPr/>
        </p:nvSpPr>
        <p:spPr>
          <a:xfrm>
            <a:off x="5358384" y="267004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363A52"/>
                </a:solidFill>
                <a:latin typeface="210 OmniGothic 040"/>
                <a:ea typeface="210 OmniGothic 040"/>
                <a:cs typeface="210 OmniGothic 040"/>
              </a:rPr>
              <a:t>STEP 02</a:t>
            </a:r>
            <a:endParaRPr lang="ko-KR" altLang="en-US" sz="1200"/>
          </a:p>
        </p:txBody>
      </p:sp>
      <p:sp>
        <p:nvSpPr>
          <p:cNvPr id="5033" name="TextBox 5032"/>
          <p:cNvSpPr txBox="1"/>
          <p:nvPr/>
        </p:nvSpPr>
        <p:spPr>
          <a:xfrm>
            <a:off x="5358384" y="296265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화면 구조 설계</a:t>
            </a:r>
            <a:endParaRPr lang="ko-KR" altLang="en-US" sz="1800"/>
          </a:p>
        </p:txBody>
      </p:sp>
      <p:sp>
        <p:nvSpPr>
          <p:cNvPr id="5034" name="TextBox 5033"/>
          <p:cNvSpPr txBox="1"/>
          <p:nvPr/>
        </p:nvSpPr>
        <p:spPr>
          <a:xfrm>
            <a:off x="5358384" y="340156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산림청 산불상황관제시스템 화면을 참고해 지도 중심 배치, 권한별 첫 화면 정의</a:t>
            </a:r>
            <a:endParaRPr lang="ko-KR" altLang="en-US" sz="1350"/>
          </a:p>
        </p:txBody>
      </p:sp>
      <p:sp>
        <p:nvSpPr>
          <p:cNvPr id="5035" name="Chevron 5034"/>
          <p:cNvSpPr/>
          <p:nvPr/>
        </p:nvSpPr>
        <p:spPr>
          <a:xfrm>
            <a:off x="9043416" y="3419856"/>
            <a:ext cx="182880" cy="329184"/>
          </a:xfrm>
          <a:prstGeom prst="chevron">
            <a:avLst/>
          </a:prstGeom>
          <a:solidFill>
            <a:srgbClr val="FAA95A"/>
          </a:solidFill>
          <a:ln>
            <a:noFill/>
          </a:ln>
        </p:spPr>
        <p:txBody>
          <a:bodyPr wrap="square" lIns="0" tIns="0" rIns="0" bIns="0" rtlCol="0" anchor="ctr">
            <a:noAutofit/>
          </a:bodyPr>
          <a:lstStyle/>
          <a:p>
            <a:pPr algn="ctr"/>
            <a:endParaRPr/>
          </a:p>
        </p:txBody>
      </p:sp>
      <p:sp>
        <p:nvSpPr>
          <p:cNvPr id="5036" name="Rounded Rectangle 5035"/>
          <p:cNvSpPr/>
          <p:nvPr/>
        </p:nvSpPr>
        <p:spPr>
          <a:xfrm>
            <a:off x="9381744" y="248716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37" name="Rectangle 5036"/>
          <p:cNvSpPr/>
          <p:nvPr/>
        </p:nvSpPr>
        <p:spPr>
          <a:xfrm>
            <a:off x="9381744" y="2487168"/>
            <a:ext cx="3794760" cy="82296"/>
          </a:xfrm>
          <a:prstGeom prst="rect">
            <a:avLst/>
          </a:prstGeom>
          <a:solidFill>
            <a:srgbClr val="363A52"/>
          </a:solidFill>
          <a:ln>
            <a:noFill/>
          </a:ln>
        </p:spPr>
        <p:txBody>
          <a:bodyPr wrap="square" lIns="0" tIns="0" rIns="0" bIns="0" rtlCol="0" anchor="ctr">
            <a:noAutofit/>
          </a:bodyPr>
          <a:lstStyle/>
          <a:p>
            <a:pPr algn="ctr"/>
            <a:endParaRPr/>
          </a:p>
        </p:txBody>
      </p:sp>
      <p:sp>
        <p:nvSpPr>
          <p:cNvPr id="5038" name="TextBox 5037"/>
          <p:cNvSpPr txBox="1"/>
          <p:nvPr/>
        </p:nvSpPr>
        <p:spPr>
          <a:xfrm>
            <a:off x="9637776" y="267004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363A52"/>
                </a:solidFill>
                <a:latin typeface="210 OmniGothic 040"/>
                <a:ea typeface="210 OmniGothic 040"/>
                <a:cs typeface="210 OmniGothic 040"/>
              </a:rPr>
              <a:t>STEP 03</a:t>
            </a:r>
            <a:endParaRPr lang="ko-KR" altLang="en-US" sz="1200"/>
          </a:p>
        </p:txBody>
      </p:sp>
      <p:sp>
        <p:nvSpPr>
          <p:cNvPr id="5039" name="TextBox 5038"/>
          <p:cNvSpPr txBox="1"/>
          <p:nvPr/>
        </p:nvSpPr>
        <p:spPr>
          <a:xfrm>
            <a:off x="9637776" y="296265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시나리오 데이터 구성</a:t>
            </a:r>
            <a:endParaRPr lang="ko-KR" altLang="en-US" sz="1800"/>
          </a:p>
        </p:txBody>
      </p:sp>
      <p:sp>
        <p:nvSpPr>
          <p:cNvPr id="5040" name="TextBox 5039"/>
          <p:cNvSpPr txBox="1"/>
          <p:nvPr/>
        </p:nvSpPr>
        <p:spPr>
          <a:xfrm>
            <a:off x="9637776" y="340156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2025-03-22 의성 산불 8시간, SGIS 경계·OSM 시설은 실제, 인구·자원 수 등은 가상값으로 구분</a:t>
            </a:r>
            <a:endParaRPr lang="ko-KR" altLang="en-US" sz="1350"/>
          </a:p>
        </p:txBody>
      </p:sp>
      <p:sp>
        <p:nvSpPr>
          <p:cNvPr id="5041" name="Chevron 5040"/>
          <p:cNvSpPr/>
          <p:nvPr/>
        </p:nvSpPr>
        <p:spPr>
          <a:xfrm>
            <a:off x="13322808" y="3419856"/>
            <a:ext cx="182880" cy="329184"/>
          </a:xfrm>
          <a:prstGeom prst="chevron">
            <a:avLst/>
          </a:prstGeom>
          <a:solidFill>
            <a:srgbClr val="FAA95A"/>
          </a:solidFill>
          <a:ln>
            <a:noFill/>
          </a:ln>
        </p:spPr>
        <p:txBody>
          <a:bodyPr wrap="square" lIns="0" tIns="0" rIns="0" bIns="0" rtlCol="0" anchor="ctr">
            <a:noAutofit/>
          </a:bodyPr>
          <a:lstStyle/>
          <a:p>
            <a:pPr algn="ctr"/>
            <a:endParaRPr/>
          </a:p>
        </p:txBody>
      </p:sp>
      <p:sp>
        <p:nvSpPr>
          <p:cNvPr id="5042" name="Rounded Rectangle 5041"/>
          <p:cNvSpPr/>
          <p:nvPr/>
        </p:nvSpPr>
        <p:spPr>
          <a:xfrm>
            <a:off x="13661136" y="248716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43" name="Rectangle 5042"/>
          <p:cNvSpPr/>
          <p:nvPr/>
        </p:nvSpPr>
        <p:spPr>
          <a:xfrm>
            <a:off x="13661136" y="2487168"/>
            <a:ext cx="3794760" cy="82296"/>
          </a:xfrm>
          <a:prstGeom prst="rect">
            <a:avLst/>
          </a:prstGeom>
          <a:solidFill>
            <a:srgbClr val="363A52"/>
          </a:solidFill>
          <a:ln>
            <a:noFill/>
          </a:ln>
        </p:spPr>
        <p:txBody>
          <a:bodyPr wrap="square" lIns="0" tIns="0" rIns="0" bIns="0" rtlCol="0" anchor="ctr">
            <a:noAutofit/>
          </a:bodyPr>
          <a:lstStyle/>
          <a:p>
            <a:pPr algn="ctr"/>
            <a:endParaRPr/>
          </a:p>
        </p:txBody>
      </p:sp>
      <p:sp>
        <p:nvSpPr>
          <p:cNvPr id="5044" name="TextBox 5043"/>
          <p:cNvSpPr txBox="1"/>
          <p:nvPr/>
        </p:nvSpPr>
        <p:spPr>
          <a:xfrm>
            <a:off x="13917168" y="267004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363A52"/>
                </a:solidFill>
                <a:latin typeface="210 OmniGothic 040"/>
                <a:ea typeface="210 OmniGothic 040"/>
                <a:cs typeface="210 OmniGothic 040"/>
              </a:rPr>
              <a:t>STEP 04</a:t>
            </a:r>
            <a:endParaRPr lang="ko-KR" altLang="en-US" sz="1200"/>
          </a:p>
        </p:txBody>
      </p:sp>
      <p:sp>
        <p:nvSpPr>
          <p:cNvPr id="5045" name="TextBox 5044"/>
          <p:cNvSpPr txBox="1"/>
          <p:nvPr/>
        </p:nvSpPr>
        <p:spPr>
          <a:xfrm>
            <a:off x="13917168" y="296265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화면 구현</a:t>
            </a:r>
            <a:endParaRPr lang="ko-KR" altLang="en-US" sz="1800"/>
          </a:p>
        </p:txBody>
      </p:sp>
      <p:sp>
        <p:nvSpPr>
          <p:cNvPr id="5046" name="TextBox 5045"/>
          <p:cNvSpPr txBox="1"/>
          <p:nvPr/>
        </p:nvSpPr>
        <p:spPr>
          <a:xfrm>
            <a:off x="13917168" y="340156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정적 웹 + MapLibre 지도. 판정·버전·이력은 실제 계산(구현), AI 문장은 템플릿(미구현)</a:t>
            </a:r>
            <a:endParaRPr lang="ko-KR" altLang="en-US" sz="1350"/>
          </a:p>
        </p:txBody>
      </p:sp>
      <p:sp>
        <p:nvSpPr>
          <p:cNvPr id="5047" name="Rounded Rectangle 5046"/>
          <p:cNvSpPr/>
          <p:nvPr/>
        </p:nvSpPr>
        <p:spPr>
          <a:xfrm>
            <a:off x="822960" y="491032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48" name="Rectangle 5047"/>
          <p:cNvSpPr/>
          <p:nvPr/>
        </p:nvSpPr>
        <p:spPr>
          <a:xfrm>
            <a:off x="822960" y="4910328"/>
            <a:ext cx="3794760" cy="82296"/>
          </a:xfrm>
          <a:prstGeom prst="rect">
            <a:avLst/>
          </a:prstGeom>
          <a:solidFill>
            <a:srgbClr val="FAA95A"/>
          </a:solidFill>
          <a:ln>
            <a:noFill/>
          </a:ln>
        </p:spPr>
        <p:txBody>
          <a:bodyPr wrap="square" lIns="0" tIns="0" rIns="0" bIns="0" rtlCol="0" anchor="ctr">
            <a:noAutofit/>
          </a:bodyPr>
          <a:lstStyle/>
          <a:p>
            <a:pPr algn="ctr"/>
            <a:endParaRPr/>
          </a:p>
        </p:txBody>
      </p:sp>
      <p:sp>
        <p:nvSpPr>
          <p:cNvPr id="5049" name="TextBox 5048"/>
          <p:cNvSpPr txBox="1"/>
          <p:nvPr/>
        </p:nvSpPr>
        <p:spPr>
          <a:xfrm>
            <a:off x="1078992" y="509320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B5601C"/>
                </a:solidFill>
                <a:latin typeface="210 OmniGothic 040"/>
                <a:ea typeface="210 OmniGothic 040"/>
                <a:cs typeface="210 OmniGothic 040"/>
              </a:rPr>
              <a:t>STEP 05</a:t>
            </a:r>
            <a:endParaRPr lang="ko-KR" altLang="en-US" sz="1200"/>
          </a:p>
        </p:txBody>
      </p:sp>
      <p:sp>
        <p:nvSpPr>
          <p:cNvPr id="5050" name="TextBox 5049"/>
          <p:cNvSpPr txBox="1"/>
          <p:nvPr/>
        </p:nvSpPr>
        <p:spPr>
          <a:xfrm>
            <a:off x="1078992" y="538581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시나리오 연결</a:t>
            </a:r>
            <a:endParaRPr lang="ko-KR" altLang="en-US" sz="1800"/>
          </a:p>
        </p:txBody>
      </p:sp>
      <p:sp>
        <p:nvSpPr>
          <p:cNvPr id="5051" name="TextBox 5050"/>
          <p:cNvSpPr txBox="1"/>
          <p:nvPr/>
        </p:nvSpPr>
        <p:spPr>
          <a:xfrm>
            <a:off x="1078992" y="582472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보고 → 예측 → 위험도 → 제안 → 근거 → 질의·정정 → 이력 → 종료, 실패·병합 장면</a:t>
            </a:r>
            <a:endParaRPr lang="ko-KR" altLang="en-US" sz="1350"/>
          </a:p>
        </p:txBody>
      </p:sp>
      <p:sp>
        <p:nvSpPr>
          <p:cNvPr id="5052" name="Chevron 5051"/>
          <p:cNvSpPr/>
          <p:nvPr/>
        </p:nvSpPr>
        <p:spPr>
          <a:xfrm>
            <a:off x="4764024" y="5843016"/>
            <a:ext cx="182880" cy="329184"/>
          </a:xfrm>
          <a:prstGeom prst="chevron">
            <a:avLst/>
          </a:prstGeom>
          <a:solidFill>
            <a:srgbClr val="FAA95A"/>
          </a:solidFill>
          <a:ln>
            <a:noFill/>
          </a:ln>
        </p:spPr>
        <p:txBody>
          <a:bodyPr wrap="square" lIns="0" tIns="0" rIns="0" bIns="0" rtlCol="0" anchor="ctr">
            <a:noAutofit/>
          </a:bodyPr>
          <a:lstStyle/>
          <a:p>
            <a:pPr algn="ctr"/>
            <a:endParaRPr/>
          </a:p>
        </p:txBody>
      </p:sp>
      <p:sp>
        <p:nvSpPr>
          <p:cNvPr id="5053" name="Rounded Rectangle 5052"/>
          <p:cNvSpPr/>
          <p:nvPr/>
        </p:nvSpPr>
        <p:spPr>
          <a:xfrm>
            <a:off x="5102352" y="491032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54" name="Rectangle 5053"/>
          <p:cNvSpPr/>
          <p:nvPr/>
        </p:nvSpPr>
        <p:spPr>
          <a:xfrm>
            <a:off x="5102352" y="4910328"/>
            <a:ext cx="3794760" cy="82296"/>
          </a:xfrm>
          <a:prstGeom prst="rect">
            <a:avLst/>
          </a:prstGeom>
          <a:solidFill>
            <a:srgbClr val="FAA95A"/>
          </a:solidFill>
          <a:ln>
            <a:noFill/>
          </a:ln>
        </p:spPr>
        <p:txBody>
          <a:bodyPr wrap="square" lIns="0" tIns="0" rIns="0" bIns="0" rtlCol="0" anchor="ctr">
            <a:noAutofit/>
          </a:bodyPr>
          <a:lstStyle/>
          <a:p>
            <a:pPr algn="ctr"/>
            <a:endParaRPr/>
          </a:p>
        </p:txBody>
      </p:sp>
      <p:sp>
        <p:nvSpPr>
          <p:cNvPr id="5055" name="TextBox 5054"/>
          <p:cNvSpPr txBox="1"/>
          <p:nvPr/>
        </p:nvSpPr>
        <p:spPr>
          <a:xfrm>
            <a:off x="5358384" y="509320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B5601C"/>
                </a:solidFill>
                <a:latin typeface="210 OmniGothic 040"/>
                <a:ea typeface="210 OmniGothic 040"/>
                <a:cs typeface="210 OmniGothic 040"/>
              </a:rPr>
              <a:t>STEP 06</a:t>
            </a:r>
            <a:endParaRPr lang="ko-KR" altLang="en-US" sz="1200"/>
          </a:p>
        </p:txBody>
      </p:sp>
      <p:sp>
        <p:nvSpPr>
          <p:cNvPr id="5056" name="TextBox 5055"/>
          <p:cNvSpPr txBox="1"/>
          <p:nvPr/>
        </p:nvSpPr>
        <p:spPr>
          <a:xfrm>
            <a:off x="5358384" y="538581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팀 검토</a:t>
            </a:r>
            <a:endParaRPr lang="ko-KR" altLang="en-US" sz="1800"/>
          </a:p>
        </p:txBody>
      </p:sp>
      <p:sp>
        <p:nvSpPr>
          <p:cNvPr id="5057" name="TextBox 5056"/>
          <p:cNvSpPr txBox="1"/>
          <p:nvPr/>
        </p:nvSpPr>
        <p:spPr>
          <a:xfrm>
            <a:off x="5358384" y="582472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주간 회의에서 요구사항분석서와 화면을 대조, 정정 사항을 목록으로 정리</a:t>
            </a:r>
            <a:endParaRPr lang="ko-KR" altLang="en-US" sz="1350"/>
          </a:p>
        </p:txBody>
      </p:sp>
      <p:sp>
        <p:nvSpPr>
          <p:cNvPr id="5058" name="Chevron 5057"/>
          <p:cNvSpPr/>
          <p:nvPr/>
        </p:nvSpPr>
        <p:spPr>
          <a:xfrm>
            <a:off x="9043416" y="5843016"/>
            <a:ext cx="182880" cy="329184"/>
          </a:xfrm>
          <a:prstGeom prst="chevron">
            <a:avLst/>
          </a:prstGeom>
          <a:solidFill>
            <a:srgbClr val="FAA95A"/>
          </a:solidFill>
          <a:ln>
            <a:noFill/>
          </a:ln>
        </p:spPr>
        <p:txBody>
          <a:bodyPr wrap="square" lIns="0" tIns="0" rIns="0" bIns="0" rtlCol="0" anchor="ctr">
            <a:noAutofit/>
          </a:bodyPr>
          <a:lstStyle/>
          <a:p>
            <a:pPr algn="ctr"/>
            <a:endParaRPr/>
          </a:p>
        </p:txBody>
      </p:sp>
      <p:sp>
        <p:nvSpPr>
          <p:cNvPr id="5059" name="Rounded Rectangle 5058"/>
          <p:cNvSpPr/>
          <p:nvPr/>
        </p:nvSpPr>
        <p:spPr>
          <a:xfrm>
            <a:off x="9381744" y="491032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60" name="Rectangle 5059"/>
          <p:cNvSpPr/>
          <p:nvPr/>
        </p:nvSpPr>
        <p:spPr>
          <a:xfrm>
            <a:off x="9381744" y="4910328"/>
            <a:ext cx="3794760" cy="82296"/>
          </a:xfrm>
          <a:prstGeom prst="rect">
            <a:avLst/>
          </a:prstGeom>
          <a:solidFill>
            <a:srgbClr val="FAA95A"/>
          </a:solidFill>
          <a:ln>
            <a:noFill/>
          </a:ln>
        </p:spPr>
        <p:txBody>
          <a:bodyPr wrap="square" lIns="0" tIns="0" rIns="0" bIns="0" rtlCol="0" anchor="ctr">
            <a:noAutofit/>
          </a:bodyPr>
          <a:lstStyle/>
          <a:p>
            <a:pPr algn="ctr"/>
            <a:endParaRPr/>
          </a:p>
        </p:txBody>
      </p:sp>
      <p:sp>
        <p:nvSpPr>
          <p:cNvPr id="5061" name="TextBox 5060"/>
          <p:cNvSpPr txBox="1"/>
          <p:nvPr/>
        </p:nvSpPr>
        <p:spPr>
          <a:xfrm>
            <a:off x="9637776" y="509320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B5601C"/>
                </a:solidFill>
                <a:latin typeface="210 OmniGothic 040"/>
                <a:ea typeface="210 OmniGothic 040"/>
                <a:cs typeface="210 OmniGothic 040"/>
              </a:rPr>
              <a:t>STEP 07</a:t>
            </a:r>
            <a:endParaRPr lang="ko-KR" altLang="en-US" sz="1200" dirty="0"/>
          </a:p>
        </p:txBody>
      </p:sp>
      <p:sp>
        <p:nvSpPr>
          <p:cNvPr id="5062" name="TextBox 5061"/>
          <p:cNvSpPr txBox="1"/>
          <p:nvPr/>
        </p:nvSpPr>
        <p:spPr>
          <a:xfrm>
            <a:off x="9637776" y="538581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수정·보완 (반복)</a:t>
            </a:r>
            <a:endParaRPr lang="ko-KR" altLang="en-US" sz="1800"/>
          </a:p>
        </p:txBody>
      </p:sp>
      <p:sp>
        <p:nvSpPr>
          <p:cNvPr id="5063" name="TextBox 5062"/>
          <p:cNvSpPr txBox="1"/>
          <p:nvPr/>
        </p:nvSpPr>
        <p:spPr>
          <a:xfrm>
            <a:off x="9637776" y="582472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6회 반복(9/26 → 10/13)</a:t>
            </a:r>
            <a:endParaRPr lang="ko-KR" altLang="en-US" sz="1350" dirty="0"/>
          </a:p>
        </p:txBody>
      </p:sp>
      <p:sp>
        <p:nvSpPr>
          <p:cNvPr id="5064" name="Chevron 5063"/>
          <p:cNvSpPr/>
          <p:nvPr/>
        </p:nvSpPr>
        <p:spPr>
          <a:xfrm>
            <a:off x="13322808" y="5843016"/>
            <a:ext cx="182880" cy="329184"/>
          </a:xfrm>
          <a:prstGeom prst="chevron">
            <a:avLst/>
          </a:prstGeom>
          <a:solidFill>
            <a:srgbClr val="FAA95A"/>
          </a:solidFill>
          <a:ln>
            <a:noFill/>
          </a:ln>
        </p:spPr>
        <p:txBody>
          <a:bodyPr wrap="square" lIns="0" tIns="0" rIns="0" bIns="0" rtlCol="0" anchor="ctr">
            <a:noAutofit/>
          </a:bodyPr>
          <a:lstStyle/>
          <a:p>
            <a:pPr algn="ctr"/>
            <a:endParaRPr/>
          </a:p>
        </p:txBody>
      </p:sp>
      <p:sp>
        <p:nvSpPr>
          <p:cNvPr id="5065" name="Rounded Rectangle 5064"/>
          <p:cNvSpPr/>
          <p:nvPr/>
        </p:nvSpPr>
        <p:spPr>
          <a:xfrm>
            <a:off x="13661136" y="4910328"/>
            <a:ext cx="3794760" cy="2194560"/>
          </a:xfrm>
          <a:prstGeom prst="roundRect">
            <a:avLst>
              <a:gd name="adj" fmla="val 4067"/>
            </a:avLst>
          </a:prstGeom>
          <a:solidFill>
            <a:srgbClr val="F2F2F2"/>
          </a:solidFill>
          <a:ln>
            <a:noFill/>
          </a:ln>
        </p:spPr>
        <p:txBody>
          <a:bodyPr wrap="square" lIns="0" tIns="0" rIns="0" bIns="0" rtlCol="0" anchor="ctr">
            <a:noAutofit/>
          </a:bodyPr>
          <a:lstStyle/>
          <a:p>
            <a:pPr algn="ctr"/>
            <a:endParaRPr/>
          </a:p>
        </p:txBody>
      </p:sp>
      <p:sp>
        <p:nvSpPr>
          <p:cNvPr id="5066" name="Rectangle 5065"/>
          <p:cNvSpPr/>
          <p:nvPr/>
        </p:nvSpPr>
        <p:spPr>
          <a:xfrm>
            <a:off x="13661136" y="4910328"/>
            <a:ext cx="3794760" cy="82296"/>
          </a:xfrm>
          <a:prstGeom prst="rect">
            <a:avLst/>
          </a:prstGeom>
          <a:solidFill>
            <a:srgbClr val="FAA95A"/>
          </a:solidFill>
          <a:ln>
            <a:noFill/>
          </a:ln>
        </p:spPr>
        <p:txBody>
          <a:bodyPr wrap="square" lIns="0" tIns="0" rIns="0" bIns="0" rtlCol="0" anchor="ctr">
            <a:noAutofit/>
          </a:bodyPr>
          <a:lstStyle/>
          <a:p>
            <a:pPr algn="ctr"/>
            <a:endParaRPr/>
          </a:p>
        </p:txBody>
      </p:sp>
      <p:sp>
        <p:nvSpPr>
          <p:cNvPr id="5067" name="TextBox 5066"/>
          <p:cNvSpPr txBox="1"/>
          <p:nvPr/>
        </p:nvSpPr>
        <p:spPr>
          <a:xfrm>
            <a:off x="13917168" y="5093208"/>
            <a:ext cx="10972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B5601C"/>
                </a:solidFill>
                <a:latin typeface="210 OmniGothic 040"/>
                <a:ea typeface="210 OmniGothic 040"/>
                <a:cs typeface="210 OmniGothic 040"/>
              </a:rPr>
              <a:t>STEP 08</a:t>
            </a:r>
            <a:endParaRPr lang="ko-KR" altLang="en-US" sz="1200"/>
          </a:p>
        </p:txBody>
      </p:sp>
      <p:sp>
        <p:nvSpPr>
          <p:cNvPr id="5068" name="TextBox 5067"/>
          <p:cNvSpPr txBox="1"/>
          <p:nvPr/>
        </p:nvSpPr>
        <p:spPr>
          <a:xfrm>
            <a:off x="13917168" y="5385816"/>
            <a:ext cx="3337560" cy="41148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800" b="1" dirty="0">
                <a:solidFill>
                  <a:srgbClr val="363A52"/>
                </a:solidFill>
                <a:latin typeface="210 OmniGothic 040"/>
                <a:ea typeface="210 OmniGothic 040"/>
                <a:cs typeface="210 OmniGothic 040"/>
              </a:rPr>
              <a:t>검증·개발 연계</a:t>
            </a:r>
            <a:endParaRPr lang="ko-KR" altLang="en-US" sz="1800"/>
          </a:p>
        </p:txBody>
      </p:sp>
      <p:sp>
        <p:nvSpPr>
          <p:cNvPr id="5069" name="TextBox 5068"/>
          <p:cNvSpPr txBox="1"/>
          <p:nvPr/>
        </p:nvSpPr>
        <p:spPr>
          <a:xfrm>
            <a:off x="13917168" y="5824728"/>
            <a:ext cx="3337560" cy="1188720"/>
          </a:xfrm>
          <a:prstGeom prst="rect">
            <a:avLst/>
          </a:prstGeom>
          <a:noFill/>
        </p:spPr>
        <p:txBody>
          <a:bodyPr wrap="square" lIns="0" tIns="0" rIns="0" bIns="0" rtlCol="0" anchor="t">
            <a:noAutofit/>
          </a:bodyPr>
          <a:lstStyle/>
          <a:p>
            <a:pPr algn="l" latinLnBrk="0">
              <a:lnSpc>
                <a:spcPct val="130000"/>
              </a:lnSpc>
              <a:spcBef>
                <a:spcPts val="0"/>
              </a:spcBef>
              <a:spcAft>
                <a:spcPts val="0"/>
              </a:spcAft>
              <a:buNone/>
            </a:pPr>
            <a:r>
              <a:rPr lang="ko-KR" altLang="en-US" sz="1350" b="0" dirty="0">
                <a:solidFill>
                  <a:srgbClr val="4A4F63"/>
                </a:solidFill>
                <a:latin typeface="210 OmniGothic 030"/>
                <a:ea typeface="210 OmniGothic 030"/>
                <a:cs typeface="210 OmniGothic 030"/>
              </a:rPr>
              <a:t>유스케이스·추가 시나리오 점검(06장), </a:t>
            </a:r>
            <a:br>
              <a:rPr lang="en-US" altLang="ko-KR" sz="1350" b="0" dirty="0">
                <a:solidFill>
                  <a:srgbClr val="4A4F63"/>
                </a:solidFill>
                <a:latin typeface="210 OmniGothic 030"/>
                <a:ea typeface="210 OmniGothic 030"/>
                <a:cs typeface="210 OmniGothic 030"/>
              </a:rPr>
            </a:br>
            <a:r>
              <a:rPr lang="ko-KR" altLang="en-US" sz="1350" b="0" dirty="0">
                <a:solidFill>
                  <a:srgbClr val="4A4F63"/>
                </a:solidFill>
                <a:latin typeface="210 OmniGothic 030"/>
                <a:ea typeface="210 OmniGothic 030"/>
                <a:cs typeface="210 OmniGothic 030"/>
              </a:rPr>
              <a:t>미구현 부분을 실제 모듈로 바꿀 목록 작성</a:t>
            </a:r>
            <a:endParaRPr lang="ko-KR" altLang="en-US" sz="1350" dirty="0"/>
          </a:p>
        </p:txBody>
      </p:sp>
      <p:sp>
        <p:nvSpPr>
          <p:cNvPr id="5070" name="TextBox 5069"/>
          <p:cNvSpPr txBox="1"/>
          <p:nvPr/>
        </p:nvSpPr>
        <p:spPr>
          <a:xfrm>
            <a:off x="822960" y="8796528"/>
            <a:ext cx="16642080" cy="292608"/>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
        <p:nvSpPr>
          <p:cNvPr id="5071" name="Rounded Rectangle 5070"/>
          <p:cNvSpPr/>
          <p:nvPr/>
        </p:nvSpPr>
        <p:spPr>
          <a:xfrm>
            <a:off x="822960" y="7306056"/>
            <a:ext cx="16642080" cy="1380744"/>
          </a:xfrm>
          <a:prstGeom prst="roundRect">
            <a:avLst>
              <a:gd name="adj" fmla="val 6622"/>
            </a:avLst>
          </a:prstGeom>
          <a:solidFill>
            <a:srgbClr val="363A52"/>
          </a:solidFill>
          <a:ln>
            <a:noFill/>
          </a:ln>
        </p:spPr>
        <p:txBody>
          <a:bodyPr wrap="square" lIns="0" tIns="0" rIns="0" bIns="0" rtlCol="0" anchor="ctr">
            <a:noAutofit/>
          </a:bodyPr>
          <a:lstStyle/>
          <a:p>
            <a:pPr algn="ctr"/>
            <a:endParaRPr/>
          </a:p>
        </p:txBody>
      </p:sp>
      <p:sp>
        <p:nvSpPr>
          <p:cNvPr id="5072" name="TextBox 5071"/>
          <p:cNvSpPr txBox="1"/>
          <p:nvPr/>
        </p:nvSpPr>
        <p:spPr>
          <a:xfrm>
            <a:off x="1143000" y="7306056"/>
            <a:ext cx="16002000" cy="1380744"/>
          </a:xfrm>
          <a:prstGeom prst="rect">
            <a:avLst/>
          </a:prstGeom>
          <a:noFill/>
        </p:spPr>
        <p:txBody>
          <a:bodyPr wrap="square" lIns="0" tIns="0" rIns="0" bIns="0" rtlCol="0" anchor="ctr">
            <a:noAutofit/>
          </a:bodyPr>
          <a:lstStyle/>
          <a:p>
            <a:pPr algn="l" latinLnBrk="0">
              <a:lnSpc>
                <a:spcPct val="130000"/>
              </a:lnSpc>
              <a:spcBef>
                <a:spcPts val="0"/>
              </a:spcBef>
              <a:spcAft>
                <a:spcPts val="400"/>
              </a:spcAft>
              <a:buNone/>
            </a:pPr>
            <a:r>
              <a:rPr lang="ko-KR" altLang="en-US" sz="1350" b="1" dirty="0">
                <a:solidFill>
                  <a:srgbClr val="FAA95A"/>
                </a:solidFill>
                <a:latin typeface="210 OmniGothic 040"/>
                <a:ea typeface="210 OmniGothic 040"/>
                <a:cs typeface="210 OmniGothic 040"/>
              </a:rPr>
              <a:t>기존 시스템과의 차별화 — 산림청 「산불상황관제시스템」은 UI만 참고</a:t>
            </a:r>
            <a:endParaRPr lang="ko-KR" altLang="en-US" sz="1350"/>
          </a:p>
          <a:p>
            <a:pPr algn="l" latinLnBrk="0">
              <a:lnSpc>
                <a:spcPct val="130000"/>
              </a:lnSpc>
              <a:spcBef>
                <a:spcPts val="0"/>
              </a:spcBef>
              <a:spcAft>
                <a:spcPts val="400"/>
              </a:spcAft>
              <a:buNone/>
            </a:pPr>
            <a:r>
              <a:rPr lang="ko-KR" altLang="en-US" sz="1350" b="0" dirty="0">
                <a:solidFill>
                  <a:srgbClr val="FFFFFF"/>
                </a:solidFill>
                <a:latin typeface="210 OmniGothic 030"/>
                <a:ea typeface="210 OmniGothic 030"/>
                <a:cs typeface="210 OmniGothic 030"/>
              </a:rPr>
              <a:t>산불상황관제시스템은 지도 중심의 화면 배치(UI)만 참고함. 세부 기능은 개발을 주도한 국립산림과학원과 산림청이 공개를 허용하지 않아 참고하지 않았으며, 확산 예측과 연계한 규칙 판정, 표준매뉴얼 근거 기반 대응 제안, 제안서 버전 관리는 요구사항분석서를 바탕으로 팀이 직접 설계함.</a:t>
            </a:r>
            <a:endParaRPr lang="ko-KR" altLang="en-US" sz="1350"/>
          </a:p>
        </p:txBody>
      </p:sp>
    </p:spTree>
    <p:extLst>
      <p:ext uri="{BB962C8B-B14F-4D97-AF65-F5344CB8AC3E}">
        <p14:creationId xmlns:p14="http://schemas.microsoft.com/office/powerpoint/2010/main" val="3668205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1BC13C5-81A0-578C-DEB9-9D9E7C0EBA0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graphicFrame>
        <p:nvGraphicFramePr>
          <p:cNvPr id="950" name="표 949">
            <a:extLst>
              <a:ext uri="{FF2B5EF4-FFF2-40B4-BE49-F238E27FC236}">
                <a16:creationId xmlns:a16="http://schemas.microsoft.com/office/drawing/2014/main" id="{1A117E05-4164-5A7E-69A8-C6E558CCB2C0}"/>
              </a:ext>
            </a:extLst>
          </p:cNvPr>
          <p:cNvGraphicFramePr>
            <a:graphicFrameLocks noGrp="1"/>
          </p:cNvGraphicFramePr>
          <p:nvPr>
            <p:extLst>
              <p:ext uri="{D42A27DB-BD31-4B8C-83A1-F6EECF244321}">
                <p14:modId xmlns:p14="http://schemas.microsoft.com/office/powerpoint/2010/main" val="1000745308"/>
              </p:ext>
            </p:extLst>
          </p:nvPr>
        </p:nvGraphicFramePr>
        <p:xfrm>
          <a:off x="746764" y="2331720"/>
          <a:ext cx="16632936" cy="6931152"/>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674909047"/>
                    </a:ext>
                  </a:extLst>
                </a:gridCol>
                <a:gridCol w="640080">
                  <a:extLst>
                    <a:ext uri="{9D8B030D-6E8A-4147-A177-3AD203B41FA5}">
                      <a16:colId xmlns:a16="http://schemas.microsoft.com/office/drawing/2014/main" val="599859663"/>
                    </a:ext>
                  </a:extLst>
                </a:gridCol>
                <a:gridCol w="640080">
                  <a:extLst>
                    <a:ext uri="{9D8B030D-6E8A-4147-A177-3AD203B41FA5}">
                      <a16:colId xmlns:a16="http://schemas.microsoft.com/office/drawing/2014/main" val="2314067092"/>
                    </a:ext>
                  </a:extLst>
                </a:gridCol>
                <a:gridCol w="640080">
                  <a:extLst>
                    <a:ext uri="{9D8B030D-6E8A-4147-A177-3AD203B41FA5}">
                      <a16:colId xmlns:a16="http://schemas.microsoft.com/office/drawing/2014/main" val="1230032074"/>
                    </a:ext>
                  </a:extLst>
                </a:gridCol>
                <a:gridCol w="640080">
                  <a:extLst>
                    <a:ext uri="{9D8B030D-6E8A-4147-A177-3AD203B41FA5}">
                      <a16:colId xmlns:a16="http://schemas.microsoft.com/office/drawing/2014/main" val="1419676675"/>
                    </a:ext>
                  </a:extLst>
                </a:gridCol>
                <a:gridCol w="640080">
                  <a:extLst>
                    <a:ext uri="{9D8B030D-6E8A-4147-A177-3AD203B41FA5}">
                      <a16:colId xmlns:a16="http://schemas.microsoft.com/office/drawing/2014/main" val="188012159"/>
                    </a:ext>
                  </a:extLst>
                </a:gridCol>
                <a:gridCol w="640080">
                  <a:extLst>
                    <a:ext uri="{9D8B030D-6E8A-4147-A177-3AD203B41FA5}">
                      <a16:colId xmlns:a16="http://schemas.microsoft.com/office/drawing/2014/main" val="1118859367"/>
                    </a:ext>
                  </a:extLst>
                </a:gridCol>
                <a:gridCol w="640080">
                  <a:extLst>
                    <a:ext uri="{9D8B030D-6E8A-4147-A177-3AD203B41FA5}">
                      <a16:colId xmlns:a16="http://schemas.microsoft.com/office/drawing/2014/main" val="4214397482"/>
                    </a:ext>
                  </a:extLst>
                </a:gridCol>
                <a:gridCol w="640080">
                  <a:extLst>
                    <a:ext uri="{9D8B030D-6E8A-4147-A177-3AD203B41FA5}">
                      <a16:colId xmlns:a16="http://schemas.microsoft.com/office/drawing/2014/main" val="327376728"/>
                    </a:ext>
                  </a:extLst>
                </a:gridCol>
                <a:gridCol w="640080">
                  <a:extLst>
                    <a:ext uri="{9D8B030D-6E8A-4147-A177-3AD203B41FA5}">
                      <a16:colId xmlns:a16="http://schemas.microsoft.com/office/drawing/2014/main" val="4097105941"/>
                    </a:ext>
                  </a:extLst>
                </a:gridCol>
                <a:gridCol w="640080">
                  <a:extLst>
                    <a:ext uri="{9D8B030D-6E8A-4147-A177-3AD203B41FA5}">
                      <a16:colId xmlns:a16="http://schemas.microsoft.com/office/drawing/2014/main" val="1402595917"/>
                    </a:ext>
                  </a:extLst>
                </a:gridCol>
                <a:gridCol w="640080">
                  <a:extLst>
                    <a:ext uri="{9D8B030D-6E8A-4147-A177-3AD203B41FA5}">
                      <a16:colId xmlns:a16="http://schemas.microsoft.com/office/drawing/2014/main" val="78640459"/>
                    </a:ext>
                  </a:extLst>
                </a:gridCol>
                <a:gridCol w="640080">
                  <a:extLst>
                    <a:ext uri="{9D8B030D-6E8A-4147-A177-3AD203B41FA5}">
                      <a16:colId xmlns:a16="http://schemas.microsoft.com/office/drawing/2014/main" val="2553558577"/>
                    </a:ext>
                  </a:extLst>
                </a:gridCol>
                <a:gridCol w="640080">
                  <a:extLst>
                    <a:ext uri="{9D8B030D-6E8A-4147-A177-3AD203B41FA5}">
                      <a16:colId xmlns:a16="http://schemas.microsoft.com/office/drawing/2014/main" val="340484870"/>
                    </a:ext>
                  </a:extLst>
                </a:gridCol>
                <a:gridCol w="640080">
                  <a:extLst>
                    <a:ext uri="{9D8B030D-6E8A-4147-A177-3AD203B41FA5}">
                      <a16:colId xmlns:a16="http://schemas.microsoft.com/office/drawing/2014/main" val="2480588412"/>
                    </a:ext>
                  </a:extLst>
                </a:gridCol>
                <a:gridCol w="640080">
                  <a:extLst>
                    <a:ext uri="{9D8B030D-6E8A-4147-A177-3AD203B41FA5}">
                      <a16:colId xmlns:a16="http://schemas.microsoft.com/office/drawing/2014/main" val="3623890791"/>
                    </a:ext>
                  </a:extLst>
                </a:gridCol>
                <a:gridCol w="1545336">
                  <a:extLst>
                    <a:ext uri="{9D8B030D-6E8A-4147-A177-3AD203B41FA5}">
                      <a16:colId xmlns:a16="http://schemas.microsoft.com/office/drawing/2014/main" val="17893452"/>
                    </a:ext>
                  </a:extLst>
                </a:gridCol>
              </a:tblGrid>
              <a:tr h="301752">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개발 내용</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2</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3</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4</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5</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6</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7</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8</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9</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10</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11</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12</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13</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14</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15</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16</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400" b="0" dirty="0">
                          <a:solidFill>
                            <a:srgbClr val="FFFFFF"/>
                          </a:solidFill>
                          <a:latin typeface="210 OmniGothic 040"/>
                          <a:ea typeface="210 OmniGothic 040"/>
                          <a:cs typeface="210 OmniGothic 040"/>
                        </a:rPr>
                        <a:t>담당</a:t>
                      </a:r>
                      <a:endParaRPr lang="ko-KR" altLang="en-US" sz="14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extLst>
                  <a:ext uri="{0D108BD9-81ED-4DB2-BD59-A6C34878D82A}">
                    <a16:rowId xmlns:a16="http://schemas.microsoft.com/office/drawing/2014/main" val="251349729"/>
                  </a:ext>
                </a:extLst>
              </a:tr>
              <a:tr h="228600">
                <a:tc>
                  <a:txBody>
                    <a:bodyPr/>
                    <a:lstStyle/>
                    <a:p>
                      <a:pPr algn="l" latinLnBrk="0">
                        <a:lnSpc>
                          <a:spcPct val="100000"/>
                        </a:lnSpc>
                        <a:spcBef>
                          <a:spcPts val="0"/>
                        </a:spcBef>
                        <a:spcAft>
                          <a:spcPts val="0"/>
                        </a:spcAft>
                        <a:buNone/>
                      </a:pPr>
                      <a:r>
                        <a:rPr lang="ko-KR" altLang="en-US" sz="1100" b="1" dirty="0">
                          <a:solidFill>
                            <a:srgbClr val="B5601C"/>
                          </a:solidFill>
                          <a:latin typeface="210 OmniGothic 040"/>
                          <a:ea typeface="210 OmniGothic 040"/>
                          <a:cs typeface="210 OmniGothic 040"/>
                        </a:rPr>
                        <a:t>애자일 스프린트 (1주, 주간 개발 보고서 = 리뷰)</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F1E6"/>
                    </a:solidFill>
                  </a:tcPr>
                </a:tc>
                <a:tc>
                  <a:txBody>
                    <a:bodyPr/>
                    <a:lstStyle/>
                    <a:p>
                      <a:pPr algn="ctr" latinLnBrk="0">
                        <a:lnSpc>
                          <a:spcPct val="100000"/>
                        </a:lnSpc>
                        <a:spcBef>
                          <a:spcPts val="0"/>
                        </a:spcBef>
                        <a:spcAft>
                          <a:spcPts val="0"/>
                        </a:spcAft>
                        <a:buNone/>
                      </a:pP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2F5"/>
                    </a:solidFill>
                  </a:tcPr>
                </a:tc>
                <a:tc>
                  <a:txBody>
                    <a:bodyPr/>
                    <a:lstStyle/>
                    <a:p>
                      <a:pPr algn="ctr" latinLnBrk="0">
                        <a:lnSpc>
                          <a:spcPct val="100000"/>
                        </a:lnSpc>
                        <a:spcBef>
                          <a:spcPts val="0"/>
                        </a:spcBef>
                        <a:spcAft>
                          <a:spcPts val="0"/>
                        </a:spcAft>
                        <a:buNone/>
                      </a:pP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2F5"/>
                    </a:solidFill>
                  </a:tcPr>
                </a:tc>
                <a:tc>
                  <a:txBody>
                    <a:bodyPr/>
                    <a:lstStyle/>
                    <a:p>
                      <a:pPr algn="ctr" latinLnBrk="0">
                        <a:lnSpc>
                          <a:spcPct val="100000"/>
                        </a:lnSpc>
                        <a:spcBef>
                          <a:spcPts val="0"/>
                        </a:spcBef>
                        <a:spcAft>
                          <a:spcPts val="0"/>
                        </a:spcAft>
                        <a:buNone/>
                      </a:pP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2F5"/>
                    </a:solidFill>
                  </a:tcPr>
                </a:tc>
                <a:tc>
                  <a:txBody>
                    <a:bodyPr/>
                    <a:lstStyle/>
                    <a:p>
                      <a:pPr algn="ctr" latinLnBrk="0">
                        <a:lnSpc>
                          <a:spcPct val="100000"/>
                        </a:lnSpc>
                        <a:spcBef>
                          <a:spcPts val="0"/>
                        </a:spcBef>
                        <a:spcAft>
                          <a:spcPts val="0"/>
                        </a:spcAft>
                        <a:buNone/>
                      </a:pP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2F5"/>
                    </a:solidFill>
                  </a:tcPr>
                </a:tc>
                <a:tc>
                  <a:txBody>
                    <a:bodyPr/>
                    <a:lstStyle/>
                    <a:p>
                      <a:pPr algn="ctr" latinLnBrk="0">
                        <a:lnSpc>
                          <a:spcPct val="100000"/>
                        </a:lnSpc>
                        <a:spcBef>
                          <a:spcPts val="0"/>
                        </a:spcBef>
                        <a:spcAft>
                          <a:spcPts val="0"/>
                        </a:spcAft>
                        <a:buNone/>
                      </a:pP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1F2F5"/>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발표</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A95A"/>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SP1</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SP2</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SP3</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SP4</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SP5</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준비</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602A"/>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대회</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A95A"/>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보완</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AA0B4"/>
                    </a:solidFill>
                  </a:tcPr>
                </a:tc>
                <a:tc>
                  <a:txBody>
                    <a:bodyPr/>
                    <a:lstStyle/>
                    <a:p>
                      <a:pPr algn="ctr" latinLnBrk="0">
                        <a:lnSpc>
                          <a:spcPct val="100000"/>
                        </a:lnSpc>
                        <a:spcBef>
                          <a:spcPts val="0"/>
                        </a:spcBef>
                        <a:spcAft>
                          <a:spcPts val="0"/>
                        </a:spcAft>
                        <a:buNone/>
                      </a:pPr>
                      <a:r>
                        <a:rPr lang="ko-KR" altLang="en-US" sz="1050" b="1" dirty="0">
                          <a:solidFill>
                            <a:srgbClr val="FFFFFF"/>
                          </a:solidFill>
                          <a:latin typeface="210 OmniGothic 040"/>
                          <a:ea typeface="210 OmniGothic 040"/>
                          <a:cs typeface="210 OmniGothic 040"/>
                        </a:rPr>
                        <a:t>최종</a:t>
                      </a:r>
                      <a:endParaRPr lang="ko-KR" altLang="en-US" sz="105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AA0B4"/>
                    </a:solid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DF1E6"/>
                    </a:solidFill>
                  </a:tcPr>
                </a:tc>
                <a:extLst>
                  <a:ext uri="{0D108BD9-81ED-4DB2-BD59-A6C34878D82A}">
                    <a16:rowId xmlns:a16="http://schemas.microsoft.com/office/drawing/2014/main" val="3494626196"/>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 과제계획서 작성</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3795635"/>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 수정 과제계획서 작성</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616082"/>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3. 요구사항분석서 작성</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2278456"/>
                  </a:ext>
                </a:extLst>
              </a:tr>
              <a:tr h="228600">
                <a:tc>
                  <a:txBody>
                    <a:bodyPr/>
                    <a:lstStyle/>
                    <a:p>
                      <a:pPr algn="l" latinLnBrk="0">
                        <a:lnSpc>
                          <a:spcPct val="100000"/>
                        </a:lnSpc>
                        <a:spcBef>
                          <a:spcPts val="0"/>
                        </a:spcBef>
                        <a:spcAft>
                          <a:spcPts val="0"/>
                        </a:spcAft>
                        <a:buNone/>
                      </a:pPr>
                      <a:r>
                        <a:rPr lang="ko-KR" altLang="en-US" sz="1100" b="1" dirty="0">
                          <a:solidFill>
                            <a:srgbClr val="B5601C"/>
                          </a:solidFill>
                          <a:latin typeface="210 OmniGothic 040"/>
                          <a:ea typeface="210 OmniGothic 040"/>
                          <a:cs typeface="210 OmniGothic 040"/>
                        </a:rPr>
                        <a:t>4. 수정 요구사항분석서 작성(교수 피드백 반영, 10/8)</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3577566"/>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5. 상세설계서·설계사양서·프로토타입 계획서 작성</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6293031"/>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6. 테스트 사양서 작성 및 1차 프로토타입 구현·발표(10/16)</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0874255"/>
                  </a:ext>
                </a:extLst>
              </a:tr>
              <a:tr h="228600">
                <a:tc>
                  <a:txBody>
                    <a:bodyPr/>
                    <a:lstStyle/>
                    <a:p>
                      <a:pPr algn="l" latinLnBrk="0">
                        <a:lnSpc>
                          <a:spcPct val="100000"/>
                        </a:lnSpc>
                        <a:spcBef>
                          <a:spcPts val="0"/>
                        </a:spcBef>
                        <a:spcAft>
                          <a:spcPts val="0"/>
                        </a:spcAft>
                        <a:buNone/>
                      </a:pPr>
                      <a:r>
                        <a:rPr lang="ko-KR" altLang="en-US" sz="1100" b="1" dirty="0">
                          <a:solidFill>
                            <a:srgbClr val="B5601C"/>
                          </a:solidFill>
                          <a:latin typeface="210 OmniGothic 040"/>
                          <a:ea typeface="210 OmniGothic 040"/>
                          <a:cs typeface="210 OmniGothic 040"/>
                        </a:rPr>
                        <a:t>7. 수정 프로토타입 작성·제출(10/22)</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9247695"/>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8. 공간 격자 구축(DEM·임상도 → Anderson-13 연료, 30 m)</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홍준서</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9681760"/>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9. PostGIS 스키마·기상청 API 어댑터·기상 캐시</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황승준</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5557960"/>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10. 근거 코퍼스 구축(조항 단위 청킹·메타데이터 태깅)</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김지오</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0821117"/>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11. ELMFIRE 실행 환경(Docker) 구축 및 시범 실행</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홍준서</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0914476"/>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12. 위험도 계산(P5 기준 23개 변수 가중평균·인구 겹침)</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황승준·김지오</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9924289"/>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13. 근거 색인·검색(KURE-v1 + FAISS, 단계·항목 필터)</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김지오</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5678323"/>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14. EXAONE 4.0 32B vLLM 서빙·프롬프트·인용 형식</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김지오</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6534979"/>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15. 규칙 엔진 판정(대응단계·위험구역 등 경계값이 있는 값)</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황승준</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2322923"/>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16. FastAPI 서버·상황 구성·응답 조립</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황승준</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63156"/>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17. 웹 대시보드(React·MapLibre GL, 상황도·위험도·제안·AI)</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임성민</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8598181"/>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18. 확산 파라미터 보정(fuel_models.csv, IoU 베이지안 최적화)</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홍준서</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9624832"/>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19. 모듈 1차 통합 및 통합 프로토타입 시연</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0806966"/>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20. 대응 제안 생성 파이프라인 완성(항목별 질문·근거 인용·종합)</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황승준·김지오</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0352314"/>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21. 평가 파이프라인(확산 5종·대응 제안 4종) 및 hold-out 검증</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1310364"/>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22. RAG 유무 Ablation 실험 및 최종 통합 — 개발 완료(11/20)</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7853577"/>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23. 창의설계 경진대회 준비(발표 자료·시연)·참가(12/4)</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0490209"/>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24. 문제점 보완·SW 프로그램 등록 및 최종보고서 작성</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6839828"/>
                  </a:ext>
                </a:extLst>
              </a:tr>
              <a:tr h="228600">
                <a:tc>
                  <a:txBody>
                    <a:bodyPr/>
                    <a:lstStyle/>
                    <a:p>
                      <a:pPr algn="l"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25. 주간 보고서 </a:t>
                      </a:r>
                      <a:r>
                        <a:rPr lang="ko-KR" altLang="en-US" sz="1100" b="0" dirty="0" err="1">
                          <a:solidFill>
                            <a:srgbClr val="363A52"/>
                          </a:solidFill>
                          <a:latin typeface="210 OmniGothic 030"/>
                          <a:ea typeface="210 OmniGothic 030"/>
                          <a:cs typeface="210 OmniGothic 030"/>
                        </a:rPr>
                        <a:t>작성·제출</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0" dirty="0">
                          <a:solidFill>
                            <a:srgbClr val="363A52"/>
                          </a:solidFill>
                          <a:latin typeface="210 OmniGothic 030"/>
                          <a:ea typeface="210 OmniGothic 030"/>
                          <a:cs typeface="210 OmniGothic 030"/>
                        </a:rPr>
                        <a:t>전원</a:t>
                      </a:r>
                      <a:endParaRPr lang="ko-KR" altLang="en-US" sz="1100" dirty="0"/>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509836"/>
                  </a:ext>
                </a:extLst>
              </a:tr>
              <a:tr h="228600">
                <a:tc>
                  <a:txBody>
                    <a:bodyPr/>
                    <a:lstStyle/>
                    <a:p>
                      <a:pPr algn="l" latinLnBrk="0">
                        <a:lnSpc>
                          <a:spcPct val="100000"/>
                        </a:lnSpc>
                        <a:spcBef>
                          <a:spcPts val="0"/>
                        </a:spcBef>
                        <a:spcAft>
                          <a:spcPts val="0"/>
                        </a:spcAft>
                        <a:buNone/>
                      </a:pPr>
                      <a:r>
                        <a:rPr lang="ko-KR" altLang="en-US" sz="1100" b="1" dirty="0">
                          <a:solidFill>
                            <a:schemeClr val="tx2">
                              <a:lumMod val="60000"/>
                              <a:lumOff val="40000"/>
                            </a:schemeClr>
                          </a:solidFill>
                          <a:latin typeface="210 OmniGothic 040"/>
                          <a:ea typeface="210 OmniGothic 040"/>
                          <a:cs typeface="210 OmniGothic 040"/>
                        </a:rPr>
                        <a:t>26. [공모전] 예선 서류(참가신청서) 제출 9/30 · 통과 발표 10/7</a:t>
                      </a:r>
                      <a:endParaRPr lang="ko-KR" altLang="en-US" sz="11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950" b="1" dirty="0">
                          <a:solidFill>
                            <a:schemeClr val="tx2">
                              <a:lumMod val="60000"/>
                              <a:lumOff val="40000"/>
                            </a:schemeClr>
                          </a:solidFill>
                          <a:latin typeface="210 OmniGothic 040"/>
                          <a:ea typeface="210 OmniGothic 040"/>
                          <a:cs typeface="210 OmniGothic 040"/>
                        </a:rPr>
                        <a:t>10/7</a:t>
                      </a:r>
                      <a:endParaRPr lang="ko-KR" altLang="en-US" sz="95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1" dirty="0">
                          <a:solidFill>
                            <a:schemeClr val="tx2">
                              <a:lumMod val="60000"/>
                              <a:lumOff val="40000"/>
                            </a:schemeClr>
                          </a:solidFill>
                          <a:latin typeface="210 OmniGothic 040"/>
                          <a:ea typeface="210 OmniGothic 040"/>
                          <a:cs typeface="210 OmniGothic 040"/>
                        </a:rPr>
                        <a:t>김지오</a:t>
                      </a:r>
                      <a:endParaRPr lang="ko-KR" altLang="en-US" sz="11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2964332"/>
                  </a:ext>
                </a:extLst>
              </a:tr>
              <a:tr h="228600">
                <a:tc>
                  <a:txBody>
                    <a:bodyPr/>
                    <a:lstStyle/>
                    <a:p>
                      <a:pPr algn="l" latinLnBrk="0">
                        <a:lnSpc>
                          <a:spcPct val="100000"/>
                        </a:lnSpc>
                        <a:spcBef>
                          <a:spcPts val="0"/>
                        </a:spcBef>
                        <a:spcAft>
                          <a:spcPts val="0"/>
                        </a:spcAft>
                        <a:buNone/>
                      </a:pPr>
                      <a:r>
                        <a:rPr lang="ko-KR" altLang="en-US" sz="1100" b="1" dirty="0">
                          <a:solidFill>
                            <a:schemeClr val="tx2">
                              <a:lumMod val="60000"/>
                              <a:lumOff val="40000"/>
                            </a:schemeClr>
                          </a:solidFill>
                          <a:latin typeface="210 OmniGothic 040"/>
                          <a:ea typeface="210 OmniGothic 040"/>
                          <a:cs typeface="210 OmniGothic 040"/>
                        </a:rPr>
                        <a:t>27. [공모전] 1차 교류회 주제 발표(NIA 본부, 10/20)</a:t>
                      </a:r>
                      <a:endParaRPr lang="ko-KR" altLang="en-US" sz="11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950" b="1" dirty="0">
                          <a:solidFill>
                            <a:schemeClr val="tx2">
                              <a:lumMod val="60000"/>
                              <a:lumOff val="40000"/>
                            </a:schemeClr>
                          </a:solidFill>
                          <a:latin typeface="210 OmniGothic 040"/>
                          <a:ea typeface="210 OmniGothic 040"/>
                          <a:cs typeface="210 OmniGothic 040"/>
                        </a:rPr>
                        <a:t>10/20</a:t>
                      </a:r>
                      <a:endParaRPr lang="ko-KR" altLang="en-US" sz="95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1" dirty="0">
                          <a:solidFill>
                            <a:schemeClr val="tx2">
                              <a:lumMod val="60000"/>
                              <a:lumOff val="40000"/>
                            </a:schemeClr>
                          </a:solidFill>
                          <a:latin typeface="210 OmniGothic 040"/>
                          <a:ea typeface="210 OmniGothic 040"/>
                          <a:cs typeface="210 OmniGothic 040"/>
                        </a:rPr>
                        <a:t>홍준서</a:t>
                      </a:r>
                      <a:endParaRPr lang="ko-KR" altLang="en-US" sz="11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9224217"/>
                  </a:ext>
                </a:extLst>
              </a:tr>
              <a:tr h="228600">
                <a:tc>
                  <a:txBody>
                    <a:bodyPr/>
                    <a:lstStyle/>
                    <a:p>
                      <a:pPr algn="l" latinLnBrk="0">
                        <a:lnSpc>
                          <a:spcPct val="100000"/>
                        </a:lnSpc>
                        <a:spcBef>
                          <a:spcPts val="0"/>
                        </a:spcBef>
                        <a:spcAft>
                          <a:spcPts val="0"/>
                        </a:spcAft>
                        <a:buNone/>
                      </a:pPr>
                      <a:r>
                        <a:rPr lang="ko-KR" altLang="en-US" sz="1100" b="1" dirty="0">
                          <a:solidFill>
                            <a:schemeClr val="tx2">
                              <a:lumMod val="60000"/>
                              <a:lumOff val="40000"/>
                            </a:schemeClr>
                          </a:solidFill>
                          <a:latin typeface="210 OmniGothic 040"/>
                          <a:ea typeface="210 OmniGothic 040"/>
                          <a:cs typeface="210 OmniGothic 040"/>
                        </a:rPr>
                        <a:t>28. [공모전] 상세기획서 제출(프로토타입 포함, 11/3)</a:t>
                      </a:r>
                      <a:endParaRPr lang="ko-KR" altLang="en-US" sz="11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950" b="1" dirty="0">
                          <a:solidFill>
                            <a:schemeClr val="tx2">
                              <a:lumMod val="60000"/>
                              <a:lumOff val="40000"/>
                            </a:schemeClr>
                          </a:solidFill>
                          <a:latin typeface="210 OmniGothic 040"/>
                          <a:ea typeface="210 OmniGothic 040"/>
                          <a:cs typeface="210 OmniGothic 040"/>
                        </a:rPr>
                        <a:t>11/3</a:t>
                      </a:r>
                      <a:endParaRPr lang="ko-KR" altLang="en-US" sz="95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lnSpc>
                          <a:spcPct val="100000"/>
                        </a:lnSpc>
                        <a:spcBef>
                          <a:spcPts val="0"/>
                        </a:spcBef>
                        <a:spcAft>
                          <a:spcPts val="0"/>
                        </a:spcAft>
                        <a:buNone/>
                      </a:pPr>
                      <a:endParaRPr lang="ko-KR" altLang="en-US" sz="100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ct val="100000"/>
                        </a:lnSpc>
                        <a:spcBef>
                          <a:spcPts val="0"/>
                        </a:spcBef>
                        <a:spcAft>
                          <a:spcPts val="0"/>
                        </a:spcAft>
                        <a:buNone/>
                      </a:pPr>
                      <a:r>
                        <a:rPr lang="ko-KR" altLang="en-US" sz="1100" b="1" dirty="0">
                          <a:solidFill>
                            <a:schemeClr val="tx2">
                              <a:lumMod val="60000"/>
                              <a:lumOff val="40000"/>
                            </a:schemeClr>
                          </a:solidFill>
                          <a:latin typeface="210 OmniGothic 040"/>
                          <a:ea typeface="210 OmniGothic 040"/>
                          <a:cs typeface="210 OmniGothic 040"/>
                        </a:rPr>
                        <a:t>전원</a:t>
                      </a:r>
                      <a:endParaRPr lang="ko-KR" altLang="en-US" sz="1100" dirty="0">
                        <a:solidFill>
                          <a:schemeClr val="tx2">
                            <a:lumMod val="60000"/>
                            <a:lumOff val="40000"/>
                          </a:schemeClr>
                        </a:solidFill>
                      </a:endParaRPr>
                    </a:p>
                  </a:txBody>
                  <a:tcPr marT="1905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2049059"/>
                  </a:ext>
                </a:extLst>
              </a:tr>
            </a:tbl>
          </a:graphicData>
        </a:graphic>
      </p:graphicFrame>
      <p:sp>
        <p:nvSpPr>
          <p:cNvPr id="5" name="슬라이드 번호 개체 틀 4">
            <a:extLst>
              <a:ext uri="{FF2B5EF4-FFF2-40B4-BE49-F238E27FC236}">
                <a16:creationId xmlns:a16="http://schemas.microsoft.com/office/drawing/2014/main" id="{49496E1E-A839-6AAA-E8BF-72E00D940688}"/>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9001" name="TextBox 9001"/>
          <p:cNvSpPr txBox="1"/>
          <p:nvPr/>
        </p:nvSpPr>
        <p:spPr>
          <a:xfrm>
            <a:off x="746764" y="9592056"/>
            <a:ext cx="16632937" cy="558614"/>
          </a:xfrm>
          <a:prstGeom prst="rect">
            <a:avLst/>
          </a:prstGeom>
        </p:spPr>
        <p:txBody>
          <a:bodyPr wrap="square" lIns="0" tIns="0" rIns="0" bIns="0" anchor="t">
            <a:spAutoFit/>
          </a:bodyPr>
          <a:lstStyle/>
          <a:p>
            <a:pPr algn="l" latinLnBrk="0">
              <a:lnSpc>
                <a:spcPct val="110000"/>
              </a:lnSpc>
              <a:spcBef>
                <a:spcPts val="0"/>
              </a:spcBef>
              <a:spcAft>
                <a:spcPts val="0"/>
              </a:spcAft>
              <a:buNone/>
            </a:pPr>
            <a:r>
              <a:rPr lang="ko-KR" altLang="en-US" sz="1100" b="0" dirty="0">
                <a:solidFill>
                  <a:srgbClr val="363A52"/>
                </a:solidFill>
                <a:latin typeface="210 OmniGothic 030"/>
                <a:ea typeface="210 OmniGothic 030"/>
                <a:cs typeface="210 OmniGothic 030"/>
              </a:rPr>
              <a:t>※ 점선 화살표 = 계획, 실선 화살표 = 실제 수행. 문서·1차 프로토타입(발표 10/16)·수정 프로토타입(제출 10/22)은 완료. 개발은 8~12주 1주 스프린트 5회로 진행해 13주 경진대회 준비 전에 끝내고, 매주 개발 보고서를 제출한다.</a:t>
            </a:r>
            <a:endParaRPr lang="ko-KR" altLang="en-US" sz="1100" dirty="0"/>
          </a:p>
          <a:p>
            <a:pPr algn="l" latinLnBrk="0">
              <a:lnSpc>
                <a:spcPct val="110000"/>
              </a:lnSpc>
              <a:spcBef>
                <a:spcPts val="0"/>
              </a:spcBef>
              <a:spcAft>
                <a:spcPts val="0"/>
              </a:spcAft>
              <a:buNone/>
            </a:pPr>
            <a:r>
              <a:rPr lang="ko-KR" altLang="en-US" sz="1100" b="0" dirty="0">
                <a:solidFill>
                  <a:srgbClr val="363A52"/>
                </a:solidFill>
                <a:latin typeface="210 OmniGothic 030"/>
                <a:ea typeface="210 OmniGothic 030"/>
                <a:cs typeface="210 OmniGothic 030"/>
              </a:rPr>
              <a:t>※ 주요 마일스톤: 7주 프로토타입 발표(10/16) · 8주 수정 프로토타입(10/22) · 11주 모듈 1차 통합 · 12주 개발 완료(11/20) · 13주 경진대회 준비 · 14주 창의설계 경진대회(12/4) · 16주 최종보고서(12/18)</a:t>
            </a:r>
            <a:endParaRPr lang="ko-KR" altLang="en-US" sz="1100" dirty="0"/>
          </a:p>
          <a:p>
            <a:pPr algn="l" latinLnBrk="0">
              <a:lnSpc>
                <a:spcPct val="110000"/>
              </a:lnSpc>
              <a:spcBef>
                <a:spcPts val="0"/>
              </a:spcBef>
              <a:spcAft>
                <a:spcPts val="0"/>
              </a:spcAft>
              <a:buNone/>
            </a:pPr>
            <a:r>
              <a:rPr lang="ko-KR" altLang="en-US" sz="1100" b="0" dirty="0">
                <a:solidFill>
                  <a:srgbClr val="7A3E9D"/>
                </a:solidFill>
                <a:latin typeface="210 OmniGothic 030"/>
                <a:ea typeface="210 OmniGothic 030"/>
                <a:cs typeface="210 OmniGothic 030"/>
              </a:rPr>
              <a:t>※ </a:t>
            </a:r>
            <a:r>
              <a:rPr lang="ko-KR" altLang="en-US" sz="1100" b="1" dirty="0">
                <a:solidFill>
                  <a:schemeClr val="tx2">
                    <a:lumMod val="60000"/>
                    <a:lumOff val="40000"/>
                  </a:schemeClr>
                </a:solidFill>
                <a:latin typeface="210 OmniGothic 030"/>
                <a:ea typeface="210 OmniGothic 030"/>
                <a:cs typeface="210 OmniGothic 030"/>
              </a:rPr>
              <a:t>[공모전] = 2026 AI·디지털 기반 사회문제 해결 챌린지 일정(캡스톤 과제와 별도 트랙)</a:t>
            </a:r>
            <a:endParaRPr lang="ko-KR" altLang="en-US" sz="1100" b="1" dirty="0">
              <a:solidFill>
                <a:schemeClr val="tx2">
                  <a:lumMod val="60000"/>
                  <a:lumOff val="40000"/>
                </a:schemeClr>
              </a:solidFill>
            </a:endParaRPr>
          </a:p>
        </p:txBody>
      </p:sp>
      <p:sp>
        <p:nvSpPr>
          <p:cNvPr id="4" name="Title">
            <a:extLst>
              <a:ext uri="{FF2B5EF4-FFF2-40B4-BE49-F238E27FC236}">
                <a16:creationId xmlns:a16="http://schemas.microsoft.com/office/drawing/2014/main" id="{186D1F1F-7F50-2C1A-59EC-DB2714C7B1E5}"/>
              </a:ext>
            </a:extLst>
          </p:cNvPr>
          <p:cNvSpPr>
            <a:spLocks noGrp="1"/>
          </p:cNvSpPr>
          <p:nvPr/>
        </p:nvSpPr>
        <p:spPr>
          <a:xfrm>
            <a:off x="822960" y="384048"/>
            <a:ext cx="13258800" cy="877824"/>
          </a:xfrm>
          <a:prstGeom prst="rect">
            <a:avLst/>
          </a:prstGeom>
          <a:noFill/>
        </p:spPr>
        <p:txBody>
          <a:bodyPr wrap="square" lIns="0" tIns="0" rIns="0" bIns="0" anchor="ctr">
            <a:spAutoFit/>
          </a:bodyPr>
          <a:lstStyle/>
          <a:p>
            <a:pPr algn="l">
              <a:buNone/>
            </a:pPr>
            <a:r>
              <a:rPr sz="4400" b="0" dirty="0">
                <a:solidFill>
                  <a:srgbClr val="FAA95A"/>
                </a:solidFill>
                <a:latin typeface="210 OmniGothic 050"/>
                <a:ea typeface="210 OmniGothic 050"/>
                <a:cs typeface="210 OmniGothic 050"/>
              </a:rPr>
              <a:t>04. 프로토타입 개발</a:t>
            </a:r>
          </a:p>
        </p:txBody>
      </p:sp>
      <p:sp>
        <p:nvSpPr>
          <p:cNvPr id="3" name="Subtitle">
            <a:extLst>
              <a:ext uri="{FF2B5EF4-FFF2-40B4-BE49-F238E27FC236}">
                <a16:creationId xmlns:a16="http://schemas.microsoft.com/office/drawing/2014/main" id="{FE75D791-51C2-D9C9-43FC-4986B50F31C9}"/>
              </a:ext>
            </a:extLst>
          </p:cNvPr>
          <p:cNvSpPr>
            <a:spLocks noGrp="1"/>
          </p:cNvSpPr>
          <p:nvPr/>
        </p:nvSpPr>
        <p:spPr>
          <a:xfrm>
            <a:off x="822960" y="1816197"/>
            <a:ext cx="16642080" cy="400110"/>
          </a:xfrm>
          <a:prstGeom prst="rect">
            <a:avLst/>
          </a:prstGeom>
          <a:noFill/>
        </p:spPr>
        <p:txBody>
          <a:bodyPr wrap="square" lIns="0" tIns="0" rIns="0" bIns="0" anchor="ctr">
            <a:spAutoFit/>
          </a:bodyPr>
          <a:lstStyle/>
          <a:p>
            <a:pPr algn="ctr">
              <a:buNone/>
            </a:pPr>
            <a:r>
              <a:rPr lang="ko-KR" altLang="en-US" sz="2600" b="1" dirty="0">
                <a:solidFill>
                  <a:srgbClr val="363A52"/>
                </a:solidFill>
                <a:latin typeface="210 OmniGothic 040"/>
                <a:ea typeface="210 OmniGothic 040"/>
                <a:cs typeface="210 OmniGothic 040"/>
              </a:rPr>
              <a:t>개발 일정 및 진행 현황</a:t>
            </a:r>
            <a:endParaRPr sz="2600" b="1" dirty="0">
              <a:solidFill>
                <a:srgbClr val="363A52"/>
              </a:solidFill>
              <a:latin typeface="210 OmniGothic 040"/>
              <a:ea typeface="210 OmniGothic 040"/>
              <a:cs typeface="210 OmniGothic 040"/>
            </a:endParaRPr>
          </a:p>
        </p:txBody>
      </p:sp>
      <p:cxnSp>
        <p:nvCxnSpPr>
          <p:cNvPr id="9002" name="Connector 9001"/>
          <p:cNvCxnSpPr>
            <a:cxnSpLocks/>
          </p:cNvCxnSpPr>
          <p:nvPr/>
        </p:nvCxnSpPr>
        <p:spPr>
          <a:xfrm>
            <a:off x="6237609" y="2931468"/>
            <a:ext cx="640080" cy="0"/>
          </a:xfrm>
          <a:prstGeom prst="line">
            <a:avLst/>
          </a:prstGeom>
          <a:ln w="22225">
            <a:solidFill>
              <a:srgbClr val="000000"/>
            </a:solidFill>
            <a:prstDash val="sysDot"/>
            <a:tailEnd type="triangle" w="med" len="med"/>
          </a:ln>
        </p:spPr>
      </p:cxnSp>
      <p:cxnSp>
        <p:nvCxnSpPr>
          <p:cNvPr id="9003" name="Connector 9002"/>
          <p:cNvCxnSpPr>
            <a:cxnSpLocks/>
          </p:cNvCxnSpPr>
          <p:nvPr/>
        </p:nvCxnSpPr>
        <p:spPr>
          <a:xfrm>
            <a:off x="6235958" y="3029440"/>
            <a:ext cx="641731" cy="0"/>
          </a:xfrm>
          <a:prstGeom prst="line">
            <a:avLst/>
          </a:prstGeom>
          <a:ln w="31750">
            <a:solidFill>
              <a:srgbClr val="363A52"/>
            </a:solidFill>
            <a:tailEnd type="triangle" w="med" len="med"/>
          </a:ln>
        </p:spPr>
      </p:cxnSp>
      <p:cxnSp>
        <p:nvCxnSpPr>
          <p:cNvPr id="9004" name="Connector 9003"/>
          <p:cNvCxnSpPr>
            <a:cxnSpLocks/>
          </p:cNvCxnSpPr>
          <p:nvPr/>
        </p:nvCxnSpPr>
        <p:spPr>
          <a:xfrm>
            <a:off x="6877689" y="3160068"/>
            <a:ext cx="641604" cy="0"/>
          </a:xfrm>
          <a:prstGeom prst="line">
            <a:avLst/>
          </a:prstGeom>
          <a:ln w="22225">
            <a:solidFill>
              <a:srgbClr val="000000"/>
            </a:solidFill>
            <a:prstDash val="sysDot"/>
            <a:tailEnd type="triangle" w="med" len="med"/>
          </a:ln>
        </p:spPr>
      </p:cxnSp>
      <p:cxnSp>
        <p:nvCxnSpPr>
          <p:cNvPr id="9005" name="Connector 9004"/>
          <p:cNvCxnSpPr>
            <a:cxnSpLocks/>
          </p:cNvCxnSpPr>
          <p:nvPr/>
        </p:nvCxnSpPr>
        <p:spPr>
          <a:xfrm>
            <a:off x="6881626" y="3258040"/>
            <a:ext cx="637667" cy="0"/>
          </a:xfrm>
          <a:prstGeom prst="line">
            <a:avLst/>
          </a:prstGeom>
          <a:ln w="31750">
            <a:solidFill>
              <a:srgbClr val="363A52"/>
            </a:solidFill>
            <a:tailEnd type="triangle" w="med" len="med"/>
          </a:ln>
        </p:spPr>
      </p:cxnSp>
      <p:cxnSp>
        <p:nvCxnSpPr>
          <p:cNvPr id="9006" name="Connector 9005"/>
          <p:cNvCxnSpPr>
            <a:cxnSpLocks/>
          </p:cNvCxnSpPr>
          <p:nvPr/>
        </p:nvCxnSpPr>
        <p:spPr>
          <a:xfrm>
            <a:off x="7525643" y="3382999"/>
            <a:ext cx="1272286" cy="0"/>
          </a:xfrm>
          <a:prstGeom prst="line">
            <a:avLst/>
          </a:prstGeom>
          <a:ln w="22225">
            <a:solidFill>
              <a:srgbClr val="000000"/>
            </a:solidFill>
            <a:prstDash val="sysDot"/>
            <a:tailEnd type="triangle" w="med" len="med"/>
          </a:ln>
        </p:spPr>
      </p:cxnSp>
      <p:cxnSp>
        <p:nvCxnSpPr>
          <p:cNvPr id="9007" name="Connector 9006"/>
          <p:cNvCxnSpPr>
            <a:cxnSpLocks/>
          </p:cNvCxnSpPr>
          <p:nvPr/>
        </p:nvCxnSpPr>
        <p:spPr>
          <a:xfrm>
            <a:off x="7519293" y="3486640"/>
            <a:ext cx="1278636" cy="0"/>
          </a:xfrm>
          <a:prstGeom prst="line">
            <a:avLst/>
          </a:prstGeom>
          <a:ln w="31750">
            <a:solidFill>
              <a:srgbClr val="363A52"/>
            </a:solidFill>
            <a:tailEnd type="triangle" w="med" len="med"/>
          </a:ln>
        </p:spPr>
      </p:cxnSp>
      <p:cxnSp>
        <p:nvCxnSpPr>
          <p:cNvPr id="9008" name="Connector 9007"/>
          <p:cNvCxnSpPr>
            <a:cxnSpLocks/>
          </p:cNvCxnSpPr>
          <p:nvPr/>
        </p:nvCxnSpPr>
        <p:spPr>
          <a:xfrm>
            <a:off x="8797929" y="3703447"/>
            <a:ext cx="635635" cy="0"/>
          </a:xfrm>
          <a:prstGeom prst="line">
            <a:avLst/>
          </a:prstGeom>
          <a:ln w="31750">
            <a:solidFill>
              <a:srgbClr val="363A52"/>
            </a:solidFill>
            <a:tailEnd type="triangle" w="med" len="med"/>
          </a:ln>
        </p:spPr>
      </p:cxnSp>
      <p:cxnSp>
        <p:nvCxnSpPr>
          <p:cNvPr id="9009" name="Connector 9008"/>
          <p:cNvCxnSpPr>
            <a:cxnSpLocks/>
          </p:cNvCxnSpPr>
          <p:nvPr/>
        </p:nvCxnSpPr>
        <p:spPr>
          <a:xfrm>
            <a:off x="8797929" y="3840312"/>
            <a:ext cx="1279521" cy="0"/>
          </a:xfrm>
          <a:prstGeom prst="line">
            <a:avLst/>
          </a:prstGeom>
          <a:ln w="22225">
            <a:solidFill>
              <a:srgbClr val="000000"/>
            </a:solidFill>
            <a:prstDash val="sysDot"/>
            <a:tailEnd type="triangle" w="med" len="med"/>
          </a:ln>
        </p:spPr>
      </p:cxnSp>
      <p:cxnSp>
        <p:nvCxnSpPr>
          <p:cNvPr id="9010" name="Connector 9009"/>
          <p:cNvCxnSpPr>
            <a:cxnSpLocks/>
          </p:cNvCxnSpPr>
          <p:nvPr/>
        </p:nvCxnSpPr>
        <p:spPr>
          <a:xfrm>
            <a:off x="9433564" y="4077303"/>
            <a:ext cx="1282061" cy="0"/>
          </a:xfrm>
          <a:prstGeom prst="line">
            <a:avLst/>
          </a:prstGeom>
          <a:ln w="22225">
            <a:solidFill>
              <a:srgbClr val="000000"/>
            </a:solidFill>
            <a:prstDash val="sysDot"/>
            <a:tailEnd type="triangle" w="med" len="med"/>
          </a:ln>
        </p:spPr>
      </p:cxnSp>
      <p:cxnSp>
        <p:nvCxnSpPr>
          <p:cNvPr id="9011" name="Connector 9010"/>
          <p:cNvCxnSpPr>
            <a:cxnSpLocks/>
          </p:cNvCxnSpPr>
          <p:nvPr/>
        </p:nvCxnSpPr>
        <p:spPr>
          <a:xfrm>
            <a:off x="8141974" y="4172440"/>
            <a:ext cx="1935476" cy="0"/>
          </a:xfrm>
          <a:prstGeom prst="line">
            <a:avLst/>
          </a:prstGeom>
          <a:ln w="31750">
            <a:solidFill>
              <a:srgbClr val="363A52"/>
            </a:solidFill>
            <a:tailEnd type="triangle" w="med" len="med"/>
          </a:ln>
        </p:spPr>
      </p:cxnSp>
      <p:cxnSp>
        <p:nvCxnSpPr>
          <p:cNvPr id="9039" name="실제 7 수정 프로토타입"/>
          <p:cNvCxnSpPr>
            <a:cxnSpLocks/>
          </p:cNvCxnSpPr>
          <p:nvPr/>
        </p:nvCxnSpPr>
        <p:spPr>
          <a:xfrm>
            <a:off x="9848088" y="4416552"/>
            <a:ext cx="548640" cy="0"/>
          </a:xfrm>
          <a:prstGeom prst="line">
            <a:avLst/>
          </a:prstGeom>
          <a:ln w="31750">
            <a:solidFill>
              <a:srgbClr val="363A52"/>
            </a:solidFill>
            <a:tailEnd type="triangle" w="med" len="med"/>
          </a:ln>
        </p:spPr>
      </p:cxnSp>
      <p:cxnSp>
        <p:nvCxnSpPr>
          <p:cNvPr id="9012" name="Connector 9011"/>
          <p:cNvCxnSpPr>
            <a:cxnSpLocks/>
          </p:cNvCxnSpPr>
          <p:nvPr/>
        </p:nvCxnSpPr>
        <p:spPr>
          <a:xfrm>
            <a:off x="10077450" y="4325293"/>
            <a:ext cx="638175" cy="0"/>
          </a:xfrm>
          <a:prstGeom prst="line">
            <a:avLst/>
          </a:prstGeom>
          <a:ln w="22225">
            <a:solidFill>
              <a:srgbClr val="000000"/>
            </a:solidFill>
            <a:prstDash val="sysDot"/>
            <a:tailEnd type="triangle" w="med" len="med"/>
          </a:ln>
        </p:spPr>
      </p:cxnSp>
      <p:cxnSp>
        <p:nvCxnSpPr>
          <p:cNvPr id="9013" name="Connector 9012"/>
          <p:cNvCxnSpPr>
            <a:cxnSpLocks/>
          </p:cNvCxnSpPr>
          <p:nvPr/>
        </p:nvCxnSpPr>
        <p:spPr>
          <a:xfrm>
            <a:off x="10071739" y="4576572"/>
            <a:ext cx="1288411" cy="0"/>
          </a:xfrm>
          <a:prstGeom prst="line">
            <a:avLst/>
          </a:prstGeom>
          <a:ln w="22225">
            <a:solidFill>
              <a:srgbClr val="000000"/>
            </a:solidFill>
            <a:prstDash val="sysDot"/>
            <a:tailEnd type="triangle" w="med" len="med"/>
          </a:ln>
        </p:spPr>
      </p:cxnSp>
      <p:cxnSp>
        <p:nvCxnSpPr>
          <p:cNvPr id="9014" name="Connector 9013"/>
          <p:cNvCxnSpPr>
            <a:cxnSpLocks/>
          </p:cNvCxnSpPr>
          <p:nvPr/>
        </p:nvCxnSpPr>
        <p:spPr>
          <a:xfrm>
            <a:off x="10071739" y="4805172"/>
            <a:ext cx="1285236" cy="0"/>
          </a:xfrm>
          <a:prstGeom prst="line">
            <a:avLst/>
          </a:prstGeom>
          <a:ln w="22225">
            <a:solidFill>
              <a:srgbClr val="000000"/>
            </a:solidFill>
            <a:prstDash val="sysDot"/>
            <a:tailEnd type="triangle" w="med" len="med"/>
          </a:ln>
        </p:spPr>
      </p:cxnSp>
      <p:cxnSp>
        <p:nvCxnSpPr>
          <p:cNvPr id="9015" name="Connector 9014"/>
          <p:cNvCxnSpPr>
            <a:cxnSpLocks/>
          </p:cNvCxnSpPr>
          <p:nvPr/>
        </p:nvCxnSpPr>
        <p:spPr>
          <a:xfrm>
            <a:off x="10071739" y="5033772"/>
            <a:ext cx="1282061" cy="0"/>
          </a:xfrm>
          <a:prstGeom prst="line">
            <a:avLst/>
          </a:prstGeom>
          <a:ln w="22225">
            <a:solidFill>
              <a:srgbClr val="000000"/>
            </a:solidFill>
            <a:prstDash val="sysDot"/>
            <a:tailEnd type="triangle" w="med" len="med"/>
          </a:ln>
        </p:spPr>
      </p:cxnSp>
      <p:cxnSp>
        <p:nvCxnSpPr>
          <p:cNvPr id="9016" name="Connector 9015"/>
          <p:cNvCxnSpPr>
            <a:cxnSpLocks/>
          </p:cNvCxnSpPr>
          <p:nvPr/>
        </p:nvCxnSpPr>
        <p:spPr>
          <a:xfrm>
            <a:off x="10714994" y="5262372"/>
            <a:ext cx="1273806" cy="0"/>
          </a:xfrm>
          <a:prstGeom prst="line">
            <a:avLst/>
          </a:prstGeom>
          <a:ln w="22225">
            <a:solidFill>
              <a:srgbClr val="000000"/>
            </a:solidFill>
            <a:prstDash val="sysDot"/>
            <a:tailEnd type="triangle" w="med" len="med"/>
          </a:ln>
        </p:spPr>
      </p:cxnSp>
      <p:cxnSp>
        <p:nvCxnSpPr>
          <p:cNvPr id="9017" name="Connector 9016"/>
          <p:cNvCxnSpPr>
            <a:cxnSpLocks/>
          </p:cNvCxnSpPr>
          <p:nvPr/>
        </p:nvCxnSpPr>
        <p:spPr>
          <a:xfrm>
            <a:off x="11355074" y="5490972"/>
            <a:ext cx="633726" cy="0"/>
          </a:xfrm>
          <a:prstGeom prst="line">
            <a:avLst/>
          </a:prstGeom>
          <a:ln w="22225">
            <a:solidFill>
              <a:srgbClr val="000000"/>
            </a:solidFill>
            <a:prstDash val="sysDot"/>
            <a:tailEnd type="triangle" w="med" len="med"/>
          </a:ln>
        </p:spPr>
      </p:cxnSp>
      <p:cxnSp>
        <p:nvCxnSpPr>
          <p:cNvPr id="9018" name="Connector 9017"/>
          <p:cNvCxnSpPr>
            <a:cxnSpLocks/>
          </p:cNvCxnSpPr>
          <p:nvPr/>
        </p:nvCxnSpPr>
        <p:spPr>
          <a:xfrm>
            <a:off x="10714994" y="5719572"/>
            <a:ext cx="1273806" cy="0"/>
          </a:xfrm>
          <a:prstGeom prst="line">
            <a:avLst/>
          </a:prstGeom>
          <a:ln w="22225">
            <a:solidFill>
              <a:srgbClr val="000000"/>
            </a:solidFill>
            <a:prstDash val="sysDot"/>
            <a:tailEnd type="triangle" w="med" len="med"/>
          </a:ln>
        </p:spPr>
      </p:cxnSp>
      <p:cxnSp>
        <p:nvCxnSpPr>
          <p:cNvPr id="9019" name="Connector 9018"/>
          <p:cNvCxnSpPr>
            <a:cxnSpLocks/>
          </p:cNvCxnSpPr>
          <p:nvPr/>
        </p:nvCxnSpPr>
        <p:spPr>
          <a:xfrm>
            <a:off x="11355074" y="5948172"/>
            <a:ext cx="633726" cy="0"/>
          </a:xfrm>
          <a:prstGeom prst="line">
            <a:avLst/>
          </a:prstGeom>
          <a:ln w="22225">
            <a:solidFill>
              <a:srgbClr val="000000"/>
            </a:solidFill>
            <a:prstDash val="sysDot"/>
            <a:tailEnd type="triangle" w="med" len="med"/>
          </a:ln>
        </p:spPr>
      </p:cxnSp>
      <p:cxnSp>
        <p:nvCxnSpPr>
          <p:cNvPr id="9020" name="Connector 9019"/>
          <p:cNvCxnSpPr>
            <a:cxnSpLocks/>
          </p:cNvCxnSpPr>
          <p:nvPr/>
        </p:nvCxnSpPr>
        <p:spPr>
          <a:xfrm>
            <a:off x="10714994" y="6176772"/>
            <a:ext cx="1273806" cy="0"/>
          </a:xfrm>
          <a:prstGeom prst="line">
            <a:avLst/>
          </a:prstGeom>
          <a:ln w="22225">
            <a:solidFill>
              <a:srgbClr val="000000"/>
            </a:solidFill>
            <a:prstDash val="sysDot"/>
            <a:tailEnd type="triangle" w="med" len="med"/>
          </a:ln>
        </p:spPr>
      </p:cxnSp>
      <p:cxnSp>
        <p:nvCxnSpPr>
          <p:cNvPr id="9021" name="Connector 9020"/>
          <p:cNvCxnSpPr>
            <a:cxnSpLocks/>
          </p:cNvCxnSpPr>
          <p:nvPr/>
        </p:nvCxnSpPr>
        <p:spPr>
          <a:xfrm>
            <a:off x="11355074" y="6405372"/>
            <a:ext cx="1280160" cy="0"/>
          </a:xfrm>
          <a:prstGeom prst="line">
            <a:avLst/>
          </a:prstGeom>
          <a:ln w="22225">
            <a:solidFill>
              <a:srgbClr val="000000"/>
            </a:solidFill>
            <a:prstDash val="sysDot"/>
            <a:tailEnd type="triangle" w="med" len="med"/>
          </a:ln>
        </p:spPr>
      </p:cxnSp>
      <p:cxnSp>
        <p:nvCxnSpPr>
          <p:cNvPr id="9022" name="Connector 9021"/>
          <p:cNvCxnSpPr>
            <a:cxnSpLocks/>
          </p:cNvCxnSpPr>
          <p:nvPr/>
        </p:nvCxnSpPr>
        <p:spPr>
          <a:xfrm>
            <a:off x="10074914" y="6633972"/>
            <a:ext cx="3199130" cy="0"/>
          </a:xfrm>
          <a:prstGeom prst="line">
            <a:avLst/>
          </a:prstGeom>
          <a:ln w="22225">
            <a:solidFill>
              <a:srgbClr val="000000"/>
            </a:solidFill>
            <a:prstDash val="sysDot"/>
            <a:tailEnd type="triangle" w="med" len="med"/>
          </a:ln>
        </p:spPr>
      </p:cxnSp>
      <p:cxnSp>
        <p:nvCxnSpPr>
          <p:cNvPr id="9023" name="Connector 9022"/>
          <p:cNvCxnSpPr>
            <a:cxnSpLocks/>
          </p:cNvCxnSpPr>
          <p:nvPr/>
        </p:nvCxnSpPr>
        <p:spPr>
          <a:xfrm>
            <a:off x="11995154" y="6862572"/>
            <a:ext cx="1278890" cy="0"/>
          </a:xfrm>
          <a:prstGeom prst="line">
            <a:avLst/>
          </a:prstGeom>
          <a:ln w="22225">
            <a:solidFill>
              <a:srgbClr val="000000"/>
            </a:solidFill>
            <a:prstDash val="sysDot"/>
            <a:tailEnd type="triangle" w="med" len="med"/>
          </a:ln>
        </p:spPr>
      </p:cxnSp>
      <p:cxnSp>
        <p:nvCxnSpPr>
          <p:cNvPr id="9024" name="Connector 9023"/>
          <p:cNvCxnSpPr>
            <a:cxnSpLocks/>
          </p:cNvCxnSpPr>
          <p:nvPr/>
        </p:nvCxnSpPr>
        <p:spPr>
          <a:xfrm>
            <a:off x="11995154" y="7091172"/>
            <a:ext cx="640080" cy="0"/>
          </a:xfrm>
          <a:prstGeom prst="line">
            <a:avLst/>
          </a:prstGeom>
          <a:ln w="22225">
            <a:solidFill>
              <a:srgbClr val="000000"/>
            </a:solidFill>
            <a:prstDash val="sysDot"/>
            <a:tailEnd type="triangle" w="med" len="med"/>
          </a:ln>
        </p:spPr>
      </p:cxnSp>
      <p:cxnSp>
        <p:nvCxnSpPr>
          <p:cNvPr id="9025" name="Connector 9024"/>
          <p:cNvCxnSpPr>
            <a:cxnSpLocks/>
          </p:cNvCxnSpPr>
          <p:nvPr/>
        </p:nvCxnSpPr>
        <p:spPr>
          <a:xfrm>
            <a:off x="11995154" y="7319772"/>
            <a:ext cx="640080" cy="0"/>
          </a:xfrm>
          <a:prstGeom prst="line">
            <a:avLst/>
          </a:prstGeom>
          <a:ln w="22225">
            <a:solidFill>
              <a:srgbClr val="000000"/>
            </a:solidFill>
            <a:prstDash val="sysDot"/>
            <a:tailEnd type="triangle" w="med" len="med"/>
          </a:ln>
        </p:spPr>
      </p:cxnSp>
      <p:cxnSp>
        <p:nvCxnSpPr>
          <p:cNvPr id="9026" name="Connector 9025"/>
          <p:cNvCxnSpPr>
            <a:cxnSpLocks/>
          </p:cNvCxnSpPr>
          <p:nvPr/>
        </p:nvCxnSpPr>
        <p:spPr>
          <a:xfrm>
            <a:off x="12635234" y="7548372"/>
            <a:ext cx="638810" cy="0"/>
          </a:xfrm>
          <a:prstGeom prst="line">
            <a:avLst/>
          </a:prstGeom>
          <a:ln w="22225">
            <a:solidFill>
              <a:srgbClr val="000000"/>
            </a:solidFill>
            <a:prstDash val="sysDot"/>
            <a:tailEnd type="triangle" w="med" len="med"/>
          </a:ln>
        </p:spPr>
      </p:cxnSp>
      <p:cxnSp>
        <p:nvCxnSpPr>
          <p:cNvPr id="9027" name="Connector 9026"/>
          <p:cNvCxnSpPr>
            <a:cxnSpLocks/>
          </p:cNvCxnSpPr>
          <p:nvPr/>
        </p:nvCxnSpPr>
        <p:spPr>
          <a:xfrm>
            <a:off x="12635234" y="7776972"/>
            <a:ext cx="638810" cy="0"/>
          </a:xfrm>
          <a:prstGeom prst="line">
            <a:avLst/>
          </a:prstGeom>
          <a:ln w="22225">
            <a:solidFill>
              <a:srgbClr val="000000"/>
            </a:solidFill>
            <a:prstDash val="sysDot"/>
            <a:tailEnd type="triangle" w="med" len="med"/>
          </a:ln>
        </p:spPr>
      </p:cxnSp>
      <p:cxnSp>
        <p:nvCxnSpPr>
          <p:cNvPr id="9028" name="Connector 9027"/>
          <p:cNvCxnSpPr>
            <a:cxnSpLocks/>
          </p:cNvCxnSpPr>
          <p:nvPr/>
        </p:nvCxnSpPr>
        <p:spPr>
          <a:xfrm>
            <a:off x="13275314" y="8005572"/>
            <a:ext cx="1280160" cy="0"/>
          </a:xfrm>
          <a:prstGeom prst="line">
            <a:avLst/>
          </a:prstGeom>
          <a:ln w="22225">
            <a:solidFill>
              <a:srgbClr val="000000"/>
            </a:solidFill>
            <a:prstDash val="sysDot"/>
            <a:tailEnd type="triangle" w="med" len="med"/>
          </a:ln>
        </p:spPr>
      </p:cxnSp>
      <p:cxnSp>
        <p:nvCxnSpPr>
          <p:cNvPr id="9029" name="Connector 9028"/>
          <p:cNvCxnSpPr>
            <a:cxnSpLocks/>
          </p:cNvCxnSpPr>
          <p:nvPr/>
        </p:nvCxnSpPr>
        <p:spPr>
          <a:xfrm>
            <a:off x="14555474" y="8234172"/>
            <a:ext cx="1275076" cy="0"/>
          </a:xfrm>
          <a:prstGeom prst="line">
            <a:avLst/>
          </a:prstGeom>
          <a:ln w="22225">
            <a:solidFill>
              <a:srgbClr val="000000"/>
            </a:solidFill>
            <a:prstDash val="sysDot"/>
            <a:tailEnd type="triangle" w="med" len="med"/>
          </a:ln>
        </p:spPr>
      </p:cxnSp>
      <p:cxnSp>
        <p:nvCxnSpPr>
          <p:cNvPr id="9030" name="Connector 9029"/>
          <p:cNvCxnSpPr>
            <a:cxnSpLocks/>
          </p:cNvCxnSpPr>
          <p:nvPr/>
        </p:nvCxnSpPr>
        <p:spPr>
          <a:xfrm>
            <a:off x="10077450" y="8462318"/>
            <a:ext cx="5753100" cy="0"/>
          </a:xfrm>
          <a:prstGeom prst="line">
            <a:avLst/>
          </a:prstGeom>
          <a:ln w="22225">
            <a:solidFill>
              <a:srgbClr val="000000"/>
            </a:solidFill>
            <a:prstDash val="sysDot"/>
            <a:tailEnd type="triangle" w="med" len="med"/>
          </a:ln>
        </p:spPr>
      </p:cxnSp>
      <p:cxnSp>
        <p:nvCxnSpPr>
          <p:cNvPr id="9032" name="Connector 9031"/>
          <p:cNvCxnSpPr/>
          <p:nvPr/>
        </p:nvCxnSpPr>
        <p:spPr>
          <a:xfrm>
            <a:off x="10396728" y="2862072"/>
            <a:ext cx="0" cy="6473952"/>
          </a:xfrm>
          <a:prstGeom prst="line">
            <a:avLst/>
          </a:prstGeom>
          <a:ln w="25400">
            <a:solidFill>
              <a:srgbClr val="E8742A"/>
            </a:solidFill>
            <a:prstDash val="dash"/>
          </a:ln>
        </p:spPr>
      </p:cxnSp>
      <p:sp>
        <p:nvSpPr>
          <p:cNvPr id="9033" name="Rounded Rectangle 9032"/>
          <p:cNvSpPr/>
          <p:nvPr/>
        </p:nvSpPr>
        <p:spPr>
          <a:xfrm>
            <a:off x="9848088" y="9317736"/>
            <a:ext cx="1097280" cy="256032"/>
          </a:xfrm>
          <a:prstGeom prst="roundRect">
            <a:avLst>
              <a:gd name="adj" fmla="val 50000"/>
            </a:avLst>
          </a:prstGeom>
          <a:solidFill>
            <a:srgbClr val="E8742A"/>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050" b="1" dirty="0">
                <a:solidFill>
                  <a:srgbClr val="FFFFFF"/>
                </a:solidFill>
                <a:latin typeface="210 OmniGothic 040"/>
                <a:ea typeface="210 OmniGothic 040"/>
                <a:cs typeface="210 OmniGothic 040"/>
              </a:rPr>
              <a:t>현재 10/22</a:t>
            </a:r>
            <a:endParaRPr lang="ko-KR" altLang="en-US" sz="1050"/>
          </a:p>
        </p:txBody>
      </p:sp>
      <p:cxnSp>
        <p:nvCxnSpPr>
          <p:cNvPr id="9034" name="Connector 9033"/>
          <p:cNvCxnSpPr/>
          <p:nvPr/>
        </p:nvCxnSpPr>
        <p:spPr>
          <a:xfrm>
            <a:off x="13274044" y="2286000"/>
            <a:ext cx="0" cy="7050024"/>
          </a:xfrm>
          <a:prstGeom prst="line">
            <a:avLst/>
          </a:prstGeom>
          <a:ln w="25400">
            <a:solidFill>
              <a:srgbClr val="2E7D4F"/>
            </a:solidFill>
            <a:prstDash val="dash"/>
          </a:ln>
        </p:spPr>
      </p:cxnSp>
      <p:sp>
        <p:nvSpPr>
          <p:cNvPr id="9035" name="Rounded Rectangle 9034"/>
          <p:cNvSpPr/>
          <p:nvPr/>
        </p:nvSpPr>
        <p:spPr>
          <a:xfrm>
            <a:off x="12542524" y="9317736"/>
            <a:ext cx="1463040" cy="256032"/>
          </a:xfrm>
          <a:prstGeom prst="roundRect">
            <a:avLst>
              <a:gd name="adj" fmla="val 50000"/>
            </a:avLst>
          </a:prstGeom>
          <a:solidFill>
            <a:srgbClr val="2E7D4F"/>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050" b="1" dirty="0">
                <a:solidFill>
                  <a:srgbClr val="FFFFFF"/>
                </a:solidFill>
                <a:latin typeface="210 OmniGothic 040"/>
                <a:ea typeface="210 OmniGothic 040"/>
                <a:cs typeface="210 OmniGothic 040"/>
              </a:rPr>
              <a:t>개발 완료 11/20</a:t>
            </a:r>
            <a:endParaRPr lang="ko-KR" altLang="en-US" sz="1050"/>
          </a:p>
        </p:txBody>
      </p:sp>
      <p:cxnSp>
        <p:nvCxnSpPr>
          <p:cNvPr id="9036" name="Connector 9035"/>
          <p:cNvCxnSpPr/>
          <p:nvPr/>
        </p:nvCxnSpPr>
        <p:spPr>
          <a:xfrm>
            <a:off x="8157976" y="8691372"/>
            <a:ext cx="630936" cy="0"/>
          </a:xfrm>
          <a:prstGeom prst="line">
            <a:avLst/>
          </a:prstGeom>
          <a:ln w="31750">
            <a:solidFill>
              <a:srgbClr val="363A52"/>
            </a:solidFill>
            <a:tailEnd type="triangle" w="med" len="med"/>
          </a:ln>
        </p:spPr>
      </p:cxnSp>
      <p:cxnSp>
        <p:nvCxnSpPr>
          <p:cNvPr id="9037" name="Connector 9036"/>
          <p:cNvCxnSpPr/>
          <p:nvPr/>
        </p:nvCxnSpPr>
        <p:spPr>
          <a:xfrm>
            <a:off x="9438136" y="8878824"/>
            <a:ext cx="630936" cy="0"/>
          </a:xfrm>
          <a:prstGeom prst="line">
            <a:avLst/>
          </a:prstGeom>
          <a:ln w="22225">
            <a:solidFill>
              <a:srgbClr val="000000"/>
            </a:solidFill>
            <a:prstDash val="sysDot"/>
            <a:tailEnd type="triangle" w="med" len="med"/>
          </a:ln>
        </p:spPr>
      </p:cxnSp>
      <p:cxnSp>
        <p:nvCxnSpPr>
          <p:cNvPr id="9040" name="실제 27 교류회"/>
          <p:cNvCxnSpPr>
            <a:cxnSpLocks/>
          </p:cNvCxnSpPr>
          <p:nvPr/>
        </p:nvCxnSpPr>
        <p:spPr>
          <a:xfrm>
            <a:off x="9436608" y="8970264"/>
            <a:ext cx="713231" cy="0"/>
          </a:xfrm>
          <a:prstGeom prst="line">
            <a:avLst/>
          </a:prstGeom>
          <a:ln w="31750">
            <a:solidFill>
              <a:srgbClr val="363A52"/>
            </a:solidFill>
            <a:tailEnd type="triangle" w="med" len="med"/>
          </a:ln>
        </p:spPr>
      </p:cxnSp>
      <p:cxnSp>
        <p:nvCxnSpPr>
          <p:cNvPr id="9038" name="Connector 9037"/>
          <p:cNvCxnSpPr/>
          <p:nvPr/>
        </p:nvCxnSpPr>
        <p:spPr>
          <a:xfrm>
            <a:off x="9438136" y="9148572"/>
            <a:ext cx="1911096" cy="0"/>
          </a:xfrm>
          <a:prstGeom prst="line">
            <a:avLst/>
          </a:prstGeom>
          <a:ln w="22225">
            <a:solidFill>
              <a:srgbClr val="000000"/>
            </a:solidFill>
            <a:prstDash val="sysDot"/>
            <a:tailEnd type="triangle" w="med" len="med"/>
          </a:ln>
        </p:spPr>
      </p:cxnSp>
      <p:cxnSp>
        <p:nvCxnSpPr>
          <p:cNvPr id="8" name="Connector 9007">
            <a:extLst>
              <a:ext uri="{FF2B5EF4-FFF2-40B4-BE49-F238E27FC236}">
                <a16:creationId xmlns:a16="http://schemas.microsoft.com/office/drawing/2014/main" id="{E103FC65-FBC8-65D3-9064-8C5A4F5F6026}"/>
              </a:ext>
            </a:extLst>
          </p:cNvPr>
          <p:cNvCxnSpPr>
            <a:cxnSpLocks/>
          </p:cNvCxnSpPr>
          <p:nvPr/>
        </p:nvCxnSpPr>
        <p:spPr>
          <a:xfrm>
            <a:off x="8797929" y="3935222"/>
            <a:ext cx="1279521" cy="0"/>
          </a:xfrm>
          <a:prstGeom prst="line">
            <a:avLst/>
          </a:prstGeom>
          <a:ln w="31750">
            <a:solidFill>
              <a:srgbClr val="363A52"/>
            </a:solidFill>
            <a:tailEnd type="triangle" w="med" len="med"/>
          </a:ln>
        </p:spPr>
      </p:cxnSp>
      <p:cxnSp>
        <p:nvCxnSpPr>
          <p:cNvPr id="9" name="Connector 9008">
            <a:extLst>
              <a:ext uri="{FF2B5EF4-FFF2-40B4-BE49-F238E27FC236}">
                <a16:creationId xmlns:a16="http://schemas.microsoft.com/office/drawing/2014/main" id="{5B8D5239-BB4A-70C8-74D2-3D04EC4E85B2}"/>
              </a:ext>
            </a:extLst>
          </p:cNvPr>
          <p:cNvCxnSpPr>
            <a:cxnSpLocks/>
          </p:cNvCxnSpPr>
          <p:nvPr/>
        </p:nvCxnSpPr>
        <p:spPr>
          <a:xfrm>
            <a:off x="8797929" y="3605362"/>
            <a:ext cx="635635" cy="0"/>
          </a:xfrm>
          <a:prstGeom prst="line">
            <a:avLst/>
          </a:prstGeom>
          <a:ln w="22225">
            <a:solidFill>
              <a:srgbClr val="000000"/>
            </a:solidFill>
            <a:prstDash val="sysDot"/>
            <a:tailEnd type="triangle" w="med" len="med"/>
          </a:ln>
        </p:spPr>
      </p:cxnSp>
    </p:spTree>
    <p:extLst>
      <p:ext uri="{BB962C8B-B14F-4D97-AF65-F5344CB8AC3E}">
        <p14:creationId xmlns:p14="http://schemas.microsoft.com/office/powerpoint/2010/main" val="128968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05. 프로토타입 구현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887264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화면 구성 — 통합지휘권자 기준 (확산 예측 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25</a:t>
            </a:fld>
            <a:endParaRPr lang="en-US"/>
          </a:p>
        </p:txBody>
      </p:sp>
      <p:pic>
        <p:nvPicPr>
          <p:cNvPr id="5024" name="Picture 5023" descr="G_05_predicted_t5.jpg"/>
          <p:cNvPicPr>
            <a:picLocks noChangeAspect="1"/>
          </p:cNvPicPr>
          <p:nvPr/>
        </p:nvPicPr>
        <p:blipFill>
          <a:blip r:embed="rId6"/>
          <a:stretch>
            <a:fillRect/>
          </a:stretch>
        </p:blipFill>
        <p:spPr>
          <a:xfrm>
            <a:off x="822960" y="2433733"/>
            <a:ext cx="11292840" cy="6352222"/>
          </a:xfrm>
          <a:prstGeom prst="rect">
            <a:avLst/>
          </a:prstGeom>
          <a:ln w="9525">
            <a:solidFill>
              <a:srgbClr val="D5D8E0"/>
            </a:solidFill>
          </a:ln>
        </p:spPr>
      </p:pic>
      <p:sp>
        <p:nvSpPr>
          <p:cNvPr id="5025" name="Rounded Rectangle 5024"/>
          <p:cNvSpPr/>
          <p:nvPr/>
        </p:nvSpPr>
        <p:spPr>
          <a:xfrm>
            <a:off x="822960" y="2433733"/>
            <a:ext cx="11292840" cy="247031"/>
          </a:xfrm>
          <a:prstGeom prst="roundRect">
            <a:avLst>
              <a:gd name="adj" fmla="val 18507"/>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667512" y="227828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822960" y="2669000"/>
            <a:ext cx="6463975" cy="211741"/>
          </a:xfrm>
          <a:prstGeom prst="roundRect">
            <a:avLst>
              <a:gd name="adj" fmla="val 21592"/>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7323511" y="261942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9280827" y="2680764"/>
            <a:ext cx="2799683" cy="188214"/>
          </a:xfrm>
          <a:prstGeom prst="roundRect">
            <a:avLst>
              <a:gd name="adj" fmla="val 24291"/>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9109834" y="272907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822960" y="2916031"/>
            <a:ext cx="141161" cy="317611"/>
          </a:xfrm>
          <a:prstGeom prst="roundRect">
            <a:avLst>
              <a:gd name="adj" fmla="val 32388"/>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1000697" y="291938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952357" y="2868978"/>
            <a:ext cx="2699695" cy="5916978"/>
          </a:xfrm>
          <a:prstGeom prst="roundRect">
            <a:avLst>
              <a:gd name="adj" fmla="val 1693"/>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3512148" y="269798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Rounded Rectangle 5034"/>
          <p:cNvSpPr/>
          <p:nvPr/>
        </p:nvSpPr>
        <p:spPr>
          <a:xfrm>
            <a:off x="6104715" y="4127659"/>
            <a:ext cx="2670286" cy="1905667"/>
          </a:xfrm>
          <a:prstGeom prst="roundRect">
            <a:avLst>
              <a:gd name="adj" fmla="val 2399"/>
            </a:avLst>
          </a:prstGeom>
          <a:noFill/>
          <a:ln w="28575">
            <a:solidFill>
              <a:srgbClr val="E8742A"/>
            </a:solidFill>
          </a:ln>
        </p:spPr>
        <p:txBody>
          <a:bodyPr wrap="square" lIns="0" tIns="0" rIns="0" bIns="0" rtlCol="0" anchor="ctr">
            <a:noAutofit/>
          </a:bodyPr>
          <a:lstStyle/>
          <a:p>
            <a:pPr algn="ctr"/>
            <a:endParaRPr/>
          </a:p>
        </p:txBody>
      </p:sp>
      <p:sp>
        <p:nvSpPr>
          <p:cNvPr id="5036" name="Oval 5035"/>
          <p:cNvSpPr/>
          <p:nvPr/>
        </p:nvSpPr>
        <p:spPr>
          <a:xfrm>
            <a:off x="8635098" y="3956666"/>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7" name="Rounded Rectangle 5036"/>
          <p:cNvSpPr/>
          <p:nvPr/>
        </p:nvSpPr>
        <p:spPr>
          <a:xfrm>
            <a:off x="11668792" y="2927794"/>
            <a:ext cx="399955" cy="399955"/>
          </a:xfrm>
          <a:prstGeom prst="roundRect">
            <a:avLst>
              <a:gd name="adj" fmla="val 11431"/>
            </a:avLst>
          </a:prstGeom>
          <a:noFill/>
          <a:ln w="28575">
            <a:solidFill>
              <a:srgbClr val="E8742A"/>
            </a:solidFill>
          </a:ln>
        </p:spPr>
        <p:txBody>
          <a:bodyPr wrap="square" lIns="0" tIns="0" rIns="0" bIns="0" rtlCol="0" anchor="ctr">
            <a:noAutofit/>
          </a:bodyPr>
          <a:lstStyle/>
          <a:p>
            <a:pPr algn="ctr"/>
            <a:endParaRPr/>
          </a:p>
        </p:txBody>
      </p:sp>
      <p:sp>
        <p:nvSpPr>
          <p:cNvPr id="5038" name="Oval 5037"/>
          <p:cNvSpPr/>
          <p:nvPr/>
        </p:nvSpPr>
        <p:spPr>
          <a:xfrm>
            <a:off x="11321320" y="297232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7</a:t>
            </a:r>
            <a:endParaRPr lang="ko-KR" altLang="en-US" sz="1292"/>
          </a:p>
        </p:txBody>
      </p:sp>
      <p:sp>
        <p:nvSpPr>
          <p:cNvPr id="5039" name="Rounded Rectangle 5038"/>
          <p:cNvSpPr/>
          <p:nvPr/>
        </p:nvSpPr>
        <p:spPr>
          <a:xfrm>
            <a:off x="11798189" y="6715601"/>
            <a:ext cx="317611" cy="1964484"/>
          </a:xfrm>
          <a:prstGeom prst="roundRect">
            <a:avLst>
              <a:gd name="adj" fmla="val 14394"/>
            </a:avLst>
          </a:prstGeom>
          <a:noFill/>
          <a:ln w="28575">
            <a:solidFill>
              <a:srgbClr val="E8742A"/>
            </a:solidFill>
          </a:ln>
        </p:spPr>
        <p:txBody>
          <a:bodyPr wrap="square" lIns="0" tIns="0" rIns="0" bIns="0" rtlCol="0" anchor="ctr">
            <a:noAutofit/>
          </a:bodyPr>
          <a:lstStyle/>
          <a:p>
            <a:pPr algn="ctr"/>
            <a:endParaRPr/>
          </a:p>
        </p:txBody>
      </p:sp>
      <p:sp>
        <p:nvSpPr>
          <p:cNvPr id="5040" name="Oval 5039"/>
          <p:cNvSpPr/>
          <p:nvPr/>
        </p:nvSpPr>
        <p:spPr>
          <a:xfrm>
            <a:off x="11450717" y="754239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8</a:t>
            </a:r>
            <a:endParaRPr lang="ko-KR" altLang="en-US" sz="1292"/>
          </a:p>
        </p:txBody>
      </p:sp>
      <p:sp>
        <p:nvSpPr>
          <p:cNvPr id="5041" name="Rounded Rectangle 5040"/>
          <p:cNvSpPr/>
          <p:nvPr/>
        </p:nvSpPr>
        <p:spPr>
          <a:xfrm>
            <a:off x="10951226" y="8327184"/>
            <a:ext cx="741093" cy="211741"/>
          </a:xfrm>
          <a:prstGeom prst="roundRect">
            <a:avLst>
              <a:gd name="adj" fmla="val 21592"/>
            </a:avLst>
          </a:prstGeom>
          <a:noFill/>
          <a:ln w="28575">
            <a:solidFill>
              <a:srgbClr val="E8742A"/>
            </a:solidFill>
          </a:ln>
        </p:spPr>
        <p:txBody>
          <a:bodyPr wrap="square" lIns="0" tIns="0" rIns="0" bIns="0" rtlCol="0" anchor="ctr">
            <a:noAutofit/>
          </a:bodyPr>
          <a:lstStyle/>
          <a:p>
            <a:pPr algn="ctr"/>
            <a:endParaRPr/>
          </a:p>
        </p:txBody>
      </p:sp>
      <p:sp>
        <p:nvSpPr>
          <p:cNvPr id="5042" name="Oval 5041"/>
          <p:cNvSpPr/>
          <p:nvPr/>
        </p:nvSpPr>
        <p:spPr>
          <a:xfrm>
            <a:off x="10780233" y="815619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9</a:t>
            </a:r>
            <a:endParaRPr lang="ko-KR" altLang="en-US" sz="1292"/>
          </a:p>
        </p:txBody>
      </p:sp>
      <p:sp>
        <p:nvSpPr>
          <p:cNvPr id="5043" name="Oval 5042"/>
          <p:cNvSpPr/>
          <p:nvPr/>
        </p:nvSpPr>
        <p:spPr>
          <a:xfrm>
            <a:off x="12435840" y="247802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1</a:t>
            </a:r>
            <a:endParaRPr lang="ko-KR" altLang="en-US" sz="1216"/>
          </a:p>
        </p:txBody>
      </p:sp>
      <p:sp>
        <p:nvSpPr>
          <p:cNvPr id="5044" name="TextBox 5043"/>
          <p:cNvSpPr txBox="1"/>
          <p:nvPr/>
        </p:nvSpPr>
        <p:spPr>
          <a:xfrm>
            <a:off x="12856464" y="2459736"/>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상단 1줄</a:t>
            </a:r>
            <a:endParaRPr lang="ko-KR" altLang="en-US" sz="1450"/>
          </a:p>
        </p:txBody>
      </p:sp>
      <p:sp>
        <p:nvSpPr>
          <p:cNvPr id="5045" name="TextBox 5044"/>
          <p:cNvSpPr txBox="1"/>
          <p:nvPr/>
        </p:nvSpPr>
        <p:spPr>
          <a:xfrm>
            <a:off x="12856464" y="2726500"/>
            <a:ext cx="46085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시스템명·현재 시각, 「진화자원」, 빨간 「이벤트 로그」, 사용자(권한)</a:t>
            </a:r>
            <a:endParaRPr lang="ko-KR" altLang="en-US" sz="1250"/>
          </a:p>
        </p:txBody>
      </p:sp>
      <p:sp>
        <p:nvSpPr>
          <p:cNvPr id="5046" name="Oval 5045"/>
          <p:cNvSpPr/>
          <p:nvPr/>
        </p:nvSpPr>
        <p:spPr>
          <a:xfrm>
            <a:off x="12435840" y="3255328"/>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2</a:t>
            </a:r>
            <a:endParaRPr lang="ko-KR" altLang="en-US" sz="1216"/>
          </a:p>
        </p:txBody>
      </p:sp>
      <p:sp>
        <p:nvSpPr>
          <p:cNvPr id="5047" name="TextBox 5046"/>
          <p:cNvSpPr txBox="1"/>
          <p:nvPr/>
        </p:nvSpPr>
        <p:spPr>
          <a:xfrm>
            <a:off x="12856464" y="3237040"/>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레이어 묶음</a:t>
            </a:r>
            <a:endParaRPr lang="ko-KR" altLang="en-US" sz="1450"/>
          </a:p>
        </p:txBody>
      </p:sp>
      <p:sp>
        <p:nvSpPr>
          <p:cNvPr id="5048" name="TextBox 5047"/>
          <p:cNvSpPr txBox="1"/>
          <p:nvPr/>
        </p:nvSpPr>
        <p:spPr>
          <a:xfrm>
            <a:off x="12856464" y="3503803"/>
            <a:ext cx="46085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예측·인구·시설·도로 묶음별로 켜고 끔, 버튼의 색 견본이 지도 범례</a:t>
            </a:r>
            <a:endParaRPr lang="ko-KR" altLang="en-US" sz="1250"/>
          </a:p>
        </p:txBody>
      </p:sp>
      <p:sp>
        <p:nvSpPr>
          <p:cNvPr id="5049" name="Oval 5048"/>
          <p:cNvSpPr/>
          <p:nvPr/>
        </p:nvSpPr>
        <p:spPr>
          <a:xfrm>
            <a:off x="12435840" y="4032631"/>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3</a:t>
            </a:r>
            <a:endParaRPr lang="ko-KR" altLang="en-US" sz="1216"/>
          </a:p>
        </p:txBody>
      </p:sp>
      <p:sp>
        <p:nvSpPr>
          <p:cNvPr id="5050" name="TextBox 5049"/>
          <p:cNvSpPr txBox="1"/>
          <p:nvPr/>
        </p:nvSpPr>
        <p:spPr>
          <a:xfrm>
            <a:off x="12856464" y="4014343"/>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확산 예측 실행 · 시간별 재생</a:t>
            </a:r>
            <a:endParaRPr lang="ko-KR" altLang="en-US" sz="1450"/>
          </a:p>
        </p:txBody>
      </p:sp>
      <p:sp>
        <p:nvSpPr>
          <p:cNvPr id="5051" name="TextBox 5050"/>
          <p:cNvSpPr txBox="1"/>
          <p:nvPr/>
        </p:nvSpPr>
        <p:spPr>
          <a:xfrm>
            <a:off x="12856464" y="4281106"/>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예측 후 「다시 예측」과 재생 막대가 나타남</a:t>
            </a:r>
            <a:endParaRPr lang="ko-KR" altLang="en-US" sz="1250"/>
          </a:p>
        </p:txBody>
      </p:sp>
      <p:sp>
        <p:nvSpPr>
          <p:cNvPr id="5052" name="Oval 5051"/>
          <p:cNvSpPr/>
          <p:nvPr/>
        </p:nvSpPr>
        <p:spPr>
          <a:xfrm>
            <a:off x="12435840" y="460038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4</a:t>
            </a:r>
            <a:endParaRPr lang="ko-KR" altLang="en-US" sz="1216"/>
          </a:p>
        </p:txBody>
      </p:sp>
      <p:sp>
        <p:nvSpPr>
          <p:cNvPr id="5053" name="TextBox 5052"/>
          <p:cNvSpPr txBox="1"/>
          <p:nvPr/>
        </p:nvSpPr>
        <p:spPr>
          <a:xfrm>
            <a:off x="12856464" y="4582096"/>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「산불」 날개</a:t>
            </a:r>
            <a:endParaRPr lang="ko-KR" altLang="en-US" sz="1450"/>
          </a:p>
        </p:txBody>
      </p:sp>
      <p:sp>
        <p:nvSpPr>
          <p:cNvPr id="5054" name="TextBox 5053"/>
          <p:cNvSpPr txBox="1"/>
          <p:nvPr/>
        </p:nvSpPr>
        <p:spPr>
          <a:xfrm>
            <a:off x="12856464" y="4848860"/>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누르면 산불 목록이 고정 창 위로 펼쳐짐</a:t>
            </a:r>
            <a:endParaRPr lang="ko-KR" altLang="en-US" sz="1250"/>
          </a:p>
        </p:txBody>
      </p:sp>
      <p:sp>
        <p:nvSpPr>
          <p:cNvPr id="5055" name="Oval 5054"/>
          <p:cNvSpPr/>
          <p:nvPr/>
        </p:nvSpPr>
        <p:spPr>
          <a:xfrm>
            <a:off x="12435840" y="5168138"/>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5</a:t>
            </a:r>
            <a:endParaRPr lang="ko-KR" altLang="en-US" sz="1216"/>
          </a:p>
        </p:txBody>
      </p:sp>
      <p:sp>
        <p:nvSpPr>
          <p:cNvPr id="5056" name="TextBox 5055"/>
          <p:cNvSpPr txBox="1"/>
          <p:nvPr/>
        </p:nvSpPr>
        <p:spPr>
          <a:xfrm>
            <a:off x="12856464" y="5149850"/>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왼쪽 고정 창(화면 1/4)</a:t>
            </a:r>
            <a:endParaRPr lang="ko-KR" altLang="en-US" sz="1450"/>
          </a:p>
        </p:txBody>
      </p:sp>
      <p:sp>
        <p:nvSpPr>
          <p:cNvPr id="5057" name="TextBox 5056"/>
          <p:cNvSpPr txBox="1"/>
          <p:nvPr/>
        </p:nvSpPr>
        <p:spPr>
          <a:xfrm>
            <a:off x="12856464" y="5416613"/>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산불현황 · 대응제안 두 탭</a:t>
            </a:r>
            <a:endParaRPr lang="ko-KR" altLang="en-US" sz="1250"/>
          </a:p>
        </p:txBody>
      </p:sp>
      <p:sp>
        <p:nvSpPr>
          <p:cNvPr id="5058" name="Oval 5057"/>
          <p:cNvSpPr/>
          <p:nvPr/>
        </p:nvSpPr>
        <p:spPr>
          <a:xfrm>
            <a:off x="12435840" y="5735891"/>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6</a:t>
            </a:r>
            <a:endParaRPr lang="ko-KR" altLang="en-US" sz="1216"/>
          </a:p>
        </p:txBody>
      </p:sp>
      <p:sp>
        <p:nvSpPr>
          <p:cNvPr id="5059" name="TextBox 5058"/>
          <p:cNvSpPr txBox="1"/>
          <p:nvPr/>
        </p:nvSpPr>
        <p:spPr>
          <a:xfrm>
            <a:off x="12856464" y="5717603"/>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통합 상황도</a:t>
            </a:r>
            <a:endParaRPr lang="ko-KR" altLang="en-US" sz="1450"/>
          </a:p>
        </p:txBody>
      </p:sp>
      <p:sp>
        <p:nvSpPr>
          <p:cNvPr id="5060" name="TextBox 5059"/>
          <p:cNvSpPr txBox="1"/>
          <p:nvPr/>
        </p:nvSpPr>
        <p:spPr>
          <a:xfrm>
            <a:off x="12856464" y="5984367"/>
            <a:ext cx="46085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실측 화선, 1시간 간격 확산 범위, 위험구역(P5)·잠재 위험구역(P8)</a:t>
            </a:r>
            <a:endParaRPr lang="ko-KR" altLang="en-US" sz="1250"/>
          </a:p>
        </p:txBody>
      </p:sp>
      <p:sp>
        <p:nvSpPr>
          <p:cNvPr id="5061" name="Oval 5060"/>
          <p:cNvSpPr/>
          <p:nvPr/>
        </p:nvSpPr>
        <p:spPr>
          <a:xfrm>
            <a:off x="12435840" y="6513195"/>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7</a:t>
            </a:r>
            <a:endParaRPr lang="ko-KR" altLang="en-US" sz="1216"/>
          </a:p>
        </p:txBody>
      </p:sp>
      <p:sp>
        <p:nvSpPr>
          <p:cNvPr id="5062" name="TextBox 5061"/>
          <p:cNvSpPr txBox="1"/>
          <p:nvPr/>
        </p:nvSpPr>
        <p:spPr>
          <a:xfrm>
            <a:off x="12856464" y="6494907"/>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산불 위험도</a:t>
            </a:r>
            <a:endParaRPr lang="ko-KR" altLang="en-US" sz="1450"/>
          </a:p>
        </p:txBody>
      </p:sp>
      <p:sp>
        <p:nvSpPr>
          <p:cNvPr id="5063" name="TextBox 5062"/>
          <p:cNvSpPr txBox="1"/>
          <p:nvPr/>
        </p:nvSpPr>
        <p:spPr>
          <a:xfrm>
            <a:off x="12856464" y="6761670"/>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숫자 하나(1.00~5.00), 구간 색, 열람자도 표시</a:t>
            </a:r>
            <a:endParaRPr lang="ko-KR" altLang="en-US" sz="1250"/>
          </a:p>
        </p:txBody>
      </p:sp>
      <p:sp>
        <p:nvSpPr>
          <p:cNvPr id="5064" name="Oval 5063"/>
          <p:cNvSpPr/>
          <p:nvPr/>
        </p:nvSpPr>
        <p:spPr>
          <a:xfrm>
            <a:off x="12435840" y="7080948"/>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8</a:t>
            </a:r>
            <a:endParaRPr lang="ko-KR" altLang="en-US" sz="1216"/>
          </a:p>
        </p:txBody>
      </p:sp>
      <p:sp>
        <p:nvSpPr>
          <p:cNvPr id="5065" name="TextBox 5064"/>
          <p:cNvSpPr txBox="1"/>
          <p:nvPr/>
        </p:nvSpPr>
        <p:spPr>
          <a:xfrm>
            <a:off x="12856464" y="7062660"/>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지도 도구</a:t>
            </a:r>
            <a:endParaRPr lang="ko-KR" altLang="en-US" sz="1450"/>
          </a:p>
        </p:txBody>
      </p:sp>
      <p:sp>
        <p:nvSpPr>
          <p:cNvPr id="5066" name="TextBox 5065"/>
          <p:cNvSpPr txBox="1"/>
          <p:nvPr/>
        </p:nvSpPr>
        <p:spPr>
          <a:xfrm>
            <a:off x="12856464" y="7329424"/>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확대·축소·범위 맞춤·위성/일반·나침반</a:t>
            </a:r>
            <a:endParaRPr lang="ko-KR" altLang="en-US" sz="1250"/>
          </a:p>
        </p:txBody>
      </p:sp>
      <p:sp>
        <p:nvSpPr>
          <p:cNvPr id="5067" name="Oval 5066"/>
          <p:cNvSpPr/>
          <p:nvPr/>
        </p:nvSpPr>
        <p:spPr>
          <a:xfrm>
            <a:off x="12435840" y="7648702"/>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9</a:t>
            </a:r>
            <a:endParaRPr lang="ko-KR" altLang="en-US" sz="1216"/>
          </a:p>
        </p:txBody>
      </p:sp>
      <p:sp>
        <p:nvSpPr>
          <p:cNvPr id="5068" name="TextBox 5067"/>
          <p:cNvSpPr txBox="1"/>
          <p:nvPr/>
        </p:nvSpPr>
        <p:spPr>
          <a:xfrm>
            <a:off x="12856464" y="7630414"/>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AI 어시스턴트</a:t>
            </a:r>
            <a:endParaRPr lang="ko-KR" altLang="en-US" sz="1450"/>
          </a:p>
        </p:txBody>
      </p:sp>
      <p:sp>
        <p:nvSpPr>
          <p:cNvPr id="5069" name="TextBox 5068"/>
          <p:cNvSpPr txBox="1"/>
          <p:nvPr/>
        </p:nvSpPr>
        <p:spPr>
          <a:xfrm>
            <a:off x="12856464" y="7897177"/>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질의응답·상황 정정 창 열기</a:t>
            </a:r>
            <a:endParaRPr lang="ko-KR" altLang="en-US" sz="1250"/>
          </a:p>
        </p:txBody>
      </p:sp>
      <p:sp>
        <p:nvSpPr>
          <p:cNvPr id="5070" name="Rounded Rectangle 5069"/>
          <p:cNvSpPr/>
          <p:nvPr/>
        </p:nvSpPr>
        <p:spPr>
          <a:xfrm>
            <a:off x="822960" y="886968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71" name="TextBox 5070"/>
          <p:cNvSpPr txBox="1"/>
          <p:nvPr/>
        </p:nvSpPr>
        <p:spPr>
          <a:xfrm>
            <a:off x="1965960" y="8860536"/>
            <a:ext cx="1549908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F-05 통합 상황도 · F-06 레이어 · F-07 주요 시설 · UC-SIT-03   |   권한별 첫 화면: 지휘권자·열람자 = 상황도, 보고자 = 상황 입력 판, 관리자 = 관리 화면</a:t>
            </a:r>
            <a:endParaRPr lang="ko-KR" altLang="en-US" sz="1200"/>
          </a:p>
        </p:txBody>
      </p:sp>
      <p:sp>
        <p:nvSpPr>
          <p:cNvPr id="4" name="TextBox 3">
            <a:extLst>
              <a:ext uri="{FF2B5EF4-FFF2-40B4-BE49-F238E27FC236}">
                <a16:creationId xmlns:a16="http://schemas.microsoft.com/office/drawing/2014/main" id="{1A438AC9-7E27-8FC1-B382-B165857D24EF}"/>
              </a:ext>
            </a:extLst>
          </p:cNvPr>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3509880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로그인 · 권한별 첫 화면</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5024" name="Rectangle 5023"/>
          <p:cNvSpPr/>
          <p:nvPr/>
        </p:nvSpPr>
        <p:spPr>
          <a:xfrm>
            <a:off x="822960" y="2432304"/>
            <a:ext cx="649224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로그인 (발급 계정 · 회원가입 없음)</a:t>
            </a:r>
            <a:endParaRPr lang="ko-KR" altLang="en-US" sz="1250"/>
          </a:p>
        </p:txBody>
      </p:sp>
      <p:pic>
        <p:nvPicPr>
          <p:cNvPr id="5025" name="Picture 5024" descr="image.jpg"/>
          <p:cNvPicPr>
            <a:picLocks noChangeAspect="1"/>
          </p:cNvPicPr>
          <p:nvPr/>
        </p:nvPicPr>
        <p:blipFill>
          <a:blip r:embed="rId6"/>
          <a:stretch>
            <a:fillRect/>
          </a:stretch>
        </p:blipFill>
        <p:spPr>
          <a:xfrm>
            <a:off x="822960" y="2743200"/>
            <a:ext cx="6492240" cy="4185786"/>
          </a:xfrm>
          <a:prstGeom prst="rect">
            <a:avLst/>
          </a:prstGeom>
          <a:ln w="9525">
            <a:solidFill>
              <a:srgbClr val="D5D8E0"/>
            </a:solidFill>
          </a:ln>
        </p:spPr>
      </p:pic>
      <p:sp>
        <p:nvSpPr>
          <p:cNvPr id="5026" name="Rounded Rectangle 5025"/>
          <p:cNvSpPr/>
          <p:nvPr/>
        </p:nvSpPr>
        <p:spPr>
          <a:xfrm>
            <a:off x="4479116" y="5536572"/>
            <a:ext cx="2767744" cy="469833"/>
          </a:xfrm>
          <a:prstGeom prst="roundRect">
            <a:avLst>
              <a:gd name="adj" fmla="val 9731"/>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4131644" y="561604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4479116" y="4374802"/>
            <a:ext cx="2767744" cy="1093430"/>
          </a:xfrm>
          <a:prstGeom prst="roundRect">
            <a:avLst>
              <a:gd name="adj" fmla="val 4181"/>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4131644" y="476606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ounded Rectangle 5029"/>
          <p:cNvSpPr/>
          <p:nvPr/>
        </p:nvSpPr>
        <p:spPr>
          <a:xfrm>
            <a:off x="4479116" y="6228508"/>
            <a:ext cx="2767744" cy="495460"/>
          </a:xfrm>
          <a:prstGeom prst="roundRect">
            <a:avLst>
              <a:gd name="adj" fmla="val 9227"/>
            </a:avLst>
          </a:prstGeom>
          <a:noFill/>
          <a:ln w="28575">
            <a:solidFill>
              <a:srgbClr val="E8742A"/>
            </a:solidFill>
          </a:ln>
        </p:spPr>
        <p:txBody>
          <a:bodyPr wrap="square" lIns="0" tIns="0" rIns="0" bIns="0" rtlCol="0" anchor="ctr">
            <a:noAutofit/>
          </a:bodyPr>
          <a:lstStyle/>
          <a:p>
            <a:pPr algn="ctr"/>
            <a:endParaRPr/>
          </a:p>
        </p:txBody>
      </p:sp>
      <p:sp>
        <p:nvSpPr>
          <p:cNvPr id="5031" name="Oval 5030"/>
          <p:cNvSpPr/>
          <p:nvPr/>
        </p:nvSpPr>
        <p:spPr>
          <a:xfrm>
            <a:off x="4131644" y="632079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pic>
        <p:nvPicPr>
          <p:cNvPr id="5032" name="Picture 5031" descr="image.jpg"/>
          <p:cNvPicPr>
            <a:picLocks noChangeAspect="1"/>
          </p:cNvPicPr>
          <p:nvPr/>
        </p:nvPicPr>
        <p:blipFill>
          <a:blip r:embed="rId7"/>
          <a:stretch>
            <a:fillRect/>
          </a:stretch>
        </p:blipFill>
        <p:spPr>
          <a:xfrm>
            <a:off x="822960" y="7020426"/>
            <a:ext cx="6492240" cy="408771"/>
          </a:xfrm>
          <a:prstGeom prst="rect">
            <a:avLst/>
          </a:prstGeom>
          <a:ln w="9525">
            <a:solidFill>
              <a:srgbClr val="D5D8E0"/>
            </a:solidFill>
          </a:ln>
        </p:spPr>
      </p:pic>
      <p:sp>
        <p:nvSpPr>
          <p:cNvPr id="5033" name="Rounded Rectangle 5032"/>
          <p:cNvSpPr/>
          <p:nvPr/>
        </p:nvSpPr>
        <p:spPr>
          <a:xfrm>
            <a:off x="2145453" y="7056494"/>
            <a:ext cx="3847253" cy="348657"/>
          </a:xfrm>
          <a:prstGeom prst="roundRect">
            <a:avLst>
              <a:gd name="adj" fmla="val 13113"/>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1797981" y="707537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5" name="Oval 5034"/>
          <p:cNvSpPr/>
          <p:nvPr/>
        </p:nvSpPr>
        <p:spPr>
          <a:xfrm>
            <a:off x="868680" y="7593789"/>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1</a:t>
            </a:r>
            <a:endParaRPr lang="ko-KR" altLang="en-US" sz="1064"/>
          </a:p>
        </p:txBody>
      </p:sp>
      <p:sp>
        <p:nvSpPr>
          <p:cNvPr id="5036" name="TextBox 5035"/>
          <p:cNvSpPr txBox="1"/>
          <p:nvPr/>
        </p:nvSpPr>
        <p:spPr>
          <a:xfrm>
            <a:off x="1216152" y="7575501"/>
            <a:ext cx="612648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사용자 구분  </a:t>
            </a:r>
            <a:r>
              <a:rPr lang="ko-KR" altLang="en-US" sz="1250" b="0" dirty="0">
                <a:solidFill>
                  <a:srgbClr val="4A4F63"/>
                </a:solidFill>
                <a:latin typeface="210 OmniGothic 030"/>
                <a:ea typeface="210 OmniGothic 030"/>
                <a:cs typeface="210 OmniGothic 030"/>
              </a:rPr>
              <a:t>통합지휘권자·열람자·상황 보고자·전산 관리자</a:t>
            </a:r>
            <a:endParaRPr lang="ko-KR" altLang="en-US" sz="1250"/>
          </a:p>
        </p:txBody>
      </p:sp>
      <p:sp>
        <p:nvSpPr>
          <p:cNvPr id="5037" name="Oval 5036"/>
          <p:cNvSpPr/>
          <p:nvPr/>
        </p:nvSpPr>
        <p:spPr>
          <a:xfrm>
            <a:off x="868680" y="7941261"/>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2</a:t>
            </a:r>
            <a:endParaRPr lang="ko-KR" altLang="en-US" sz="1064"/>
          </a:p>
        </p:txBody>
      </p:sp>
      <p:sp>
        <p:nvSpPr>
          <p:cNvPr id="5038" name="TextBox 5037"/>
          <p:cNvSpPr txBox="1"/>
          <p:nvPr/>
        </p:nvSpPr>
        <p:spPr>
          <a:xfrm>
            <a:off x="1216152" y="7922973"/>
            <a:ext cx="612648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아이디·비밀번호  </a:t>
            </a:r>
            <a:r>
              <a:rPr lang="ko-KR" altLang="en-US" sz="1250" b="0" dirty="0">
                <a:solidFill>
                  <a:srgbClr val="4A4F63"/>
                </a:solidFill>
                <a:latin typeface="210 OmniGothic 030"/>
                <a:ea typeface="210 OmniGothic 030"/>
                <a:cs typeface="210 OmniGothic 030"/>
              </a:rPr>
              <a:t>전산 관리자가 발급한 계정</a:t>
            </a:r>
            <a:endParaRPr lang="ko-KR" altLang="en-US" sz="1250"/>
          </a:p>
        </p:txBody>
      </p:sp>
      <p:sp>
        <p:nvSpPr>
          <p:cNvPr id="5039" name="Oval 5038"/>
          <p:cNvSpPr/>
          <p:nvPr/>
        </p:nvSpPr>
        <p:spPr>
          <a:xfrm>
            <a:off x="868680" y="8288733"/>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3</a:t>
            </a:r>
            <a:endParaRPr lang="ko-KR" altLang="en-US" sz="1064"/>
          </a:p>
        </p:txBody>
      </p:sp>
      <p:sp>
        <p:nvSpPr>
          <p:cNvPr id="5040" name="TextBox 5039"/>
          <p:cNvSpPr txBox="1"/>
          <p:nvPr/>
        </p:nvSpPr>
        <p:spPr>
          <a:xfrm>
            <a:off x="1216152" y="8270445"/>
            <a:ext cx="612648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로그인  </a:t>
            </a:r>
            <a:r>
              <a:rPr lang="ko-KR" altLang="en-US" sz="1250" b="0" dirty="0">
                <a:solidFill>
                  <a:srgbClr val="4A4F63"/>
                </a:solidFill>
                <a:latin typeface="210 OmniGothic 030"/>
                <a:ea typeface="210 OmniGothic 030"/>
                <a:cs typeface="210 OmniGothic 030"/>
              </a:rPr>
              <a:t>권한 토큰 발급 → 권한별 첫 화면(새로고침해도 유지)</a:t>
            </a:r>
            <a:endParaRPr lang="ko-KR" altLang="en-US" sz="1250"/>
          </a:p>
        </p:txBody>
      </p:sp>
      <p:sp>
        <p:nvSpPr>
          <p:cNvPr id="5041" name="Oval 5040"/>
          <p:cNvSpPr/>
          <p:nvPr/>
        </p:nvSpPr>
        <p:spPr>
          <a:xfrm>
            <a:off x="868680" y="8636205"/>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4</a:t>
            </a:r>
            <a:endParaRPr lang="ko-KR" altLang="en-US" sz="1064"/>
          </a:p>
        </p:txBody>
      </p:sp>
      <p:sp>
        <p:nvSpPr>
          <p:cNvPr id="5042" name="TextBox 5041"/>
          <p:cNvSpPr txBox="1"/>
          <p:nvPr/>
        </p:nvSpPr>
        <p:spPr>
          <a:xfrm>
            <a:off x="1216152" y="8617917"/>
            <a:ext cx="6126480" cy="292608"/>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1" dirty="0">
                <a:solidFill>
                  <a:srgbClr val="363A52"/>
                </a:solidFill>
                <a:latin typeface="210 OmniGothic 040"/>
                <a:ea typeface="210 OmniGothic 040"/>
                <a:cs typeface="210 OmniGothic 040"/>
              </a:rPr>
              <a:t>오류 안내  </a:t>
            </a:r>
            <a:r>
              <a:rPr lang="ko-KR" altLang="en-US" sz="1250" b="0" dirty="0">
                <a:solidFill>
                  <a:srgbClr val="4A4F63"/>
                </a:solidFill>
                <a:latin typeface="210 OmniGothic 030"/>
                <a:ea typeface="210 OmniGothic 030"/>
                <a:cs typeface="210 OmniGothic 030"/>
              </a:rPr>
              <a:t>5회 연속 실패 시 잠금, 회수 계정 차단</a:t>
            </a:r>
            <a:endParaRPr lang="ko-KR" altLang="en-US" sz="1250"/>
          </a:p>
        </p:txBody>
      </p:sp>
      <p:sp>
        <p:nvSpPr>
          <p:cNvPr id="5043" name="Rectangle 5042"/>
          <p:cNvSpPr/>
          <p:nvPr/>
        </p:nvSpPr>
        <p:spPr>
          <a:xfrm>
            <a:off x="7635240" y="2432304"/>
            <a:ext cx="484632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통합지휘권자 · 조작 — 통합 상황도</a:t>
            </a:r>
            <a:endParaRPr lang="ko-KR" altLang="en-US" sz="1250"/>
          </a:p>
        </p:txBody>
      </p:sp>
      <p:pic>
        <p:nvPicPr>
          <p:cNvPr id="5044" name="Picture 5043" descr="G_02_cmd_main.jpg"/>
          <p:cNvPicPr>
            <a:picLocks noChangeAspect="1"/>
          </p:cNvPicPr>
          <p:nvPr/>
        </p:nvPicPr>
        <p:blipFill>
          <a:blip r:embed="rId8"/>
          <a:stretch>
            <a:fillRect/>
          </a:stretch>
        </p:blipFill>
        <p:spPr>
          <a:xfrm>
            <a:off x="7635240" y="2743200"/>
            <a:ext cx="4846320" cy="2726055"/>
          </a:xfrm>
          <a:prstGeom prst="rect">
            <a:avLst/>
          </a:prstGeom>
          <a:ln w="9525">
            <a:solidFill>
              <a:srgbClr val="D5D8E0"/>
            </a:solidFill>
          </a:ln>
        </p:spPr>
      </p:pic>
      <p:sp>
        <p:nvSpPr>
          <p:cNvPr id="5045" name="Rectangle 5044"/>
          <p:cNvSpPr/>
          <p:nvPr/>
        </p:nvSpPr>
        <p:spPr>
          <a:xfrm>
            <a:off x="12618720" y="2432304"/>
            <a:ext cx="4846320" cy="310896"/>
          </a:xfrm>
          <a:prstGeom prst="rect">
            <a:avLst/>
          </a:prstGeom>
          <a:solidFill>
            <a:srgbClr val="C0602A"/>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상황 보고자 · 보고 — 상황 입력 판</a:t>
            </a:r>
            <a:endParaRPr lang="ko-KR" altLang="en-US" sz="1250"/>
          </a:p>
        </p:txBody>
      </p:sp>
      <p:pic>
        <p:nvPicPr>
          <p:cNvPr id="5046" name="Picture 5045" descr="G_20_rep_main.jpg"/>
          <p:cNvPicPr>
            <a:picLocks noChangeAspect="1"/>
          </p:cNvPicPr>
          <p:nvPr/>
        </p:nvPicPr>
        <p:blipFill>
          <a:blip r:embed="rId9"/>
          <a:stretch>
            <a:fillRect/>
          </a:stretch>
        </p:blipFill>
        <p:spPr>
          <a:xfrm>
            <a:off x="12618720" y="2743200"/>
            <a:ext cx="4846320" cy="2726055"/>
          </a:xfrm>
          <a:prstGeom prst="rect">
            <a:avLst/>
          </a:prstGeom>
          <a:ln w="9525">
            <a:solidFill>
              <a:srgbClr val="D5D8E0"/>
            </a:solidFill>
          </a:ln>
        </p:spPr>
      </p:pic>
      <p:sp>
        <p:nvSpPr>
          <p:cNvPr id="5047" name="Rectangle 5046"/>
          <p:cNvSpPr/>
          <p:nvPr/>
        </p:nvSpPr>
        <p:spPr>
          <a:xfrm>
            <a:off x="7635240" y="5559552"/>
            <a:ext cx="4846320" cy="310896"/>
          </a:xfrm>
          <a:prstGeom prst="rect">
            <a:avLst/>
          </a:prstGeom>
          <a:solidFill>
            <a:srgbClr val="5B7FA6"/>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열람자 · 열람 — 읽기 전용 상황도</a:t>
            </a:r>
            <a:endParaRPr lang="ko-KR" altLang="en-US" sz="1250"/>
          </a:p>
        </p:txBody>
      </p:sp>
      <p:pic>
        <p:nvPicPr>
          <p:cNvPr id="5048" name="Picture 5047" descr="G_40_viewer.jpg"/>
          <p:cNvPicPr>
            <a:picLocks noChangeAspect="1"/>
          </p:cNvPicPr>
          <p:nvPr/>
        </p:nvPicPr>
        <p:blipFill>
          <a:blip r:embed="rId10"/>
          <a:stretch>
            <a:fillRect/>
          </a:stretch>
        </p:blipFill>
        <p:spPr>
          <a:xfrm>
            <a:off x="7635240" y="5870448"/>
            <a:ext cx="4846320" cy="2726055"/>
          </a:xfrm>
          <a:prstGeom prst="rect">
            <a:avLst/>
          </a:prstGeom>
          <a:ln w="9525">
            <a:solidFill>
              <a:srgbClr val="D5D8E0"/>
            </a:solidFill>
          </a:ln>
        </p:spPr>
      </p:pic>
      <p:sp>
        <p:nvSpPr>
          <p:cNvPr id="5049" name="Rectangle 5048"/>
          <p:cNvSpPr/>
          <p:nvPr/>
        </p:nvSpPr>
        <p:spPr>
          <a:xfrm>
            <a:off x="12618720" y="5559552"/>
            <a:ext cx="4846320" cy="310896"/>
          </a:xfrm>
          <a:prstGeom prst="rect">
            <a:avLst/>
          </a:prstGeom>
          <a:solidFill>
            <a:srgbClr val="4A4F63"/>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전산 관리자 · 관리 — 관리 화면</a:t>
            </a:r>
            <a:endParaRPr lang="ko-KR" altLang="en-US" sz="1250"/>
          </a:p>
        </p:txBody>
      </p:sp>
      <p:pic>
        <p:nvPicPr>
          <p:cNvPr id="5050" name="Picture 5049" descr="image.jpg"/>
          <p:cNvPicPr>
            <a:picLocks noChangeAspect="1"/>
          </p:cNvPicPr>
          <p:nvPr/>
        </p:nvPicPr>
        <p:blipFill>
          <a:blip r:embed="rId11"/>
          <a:stretch>
            <a:fillRect/>
          </a:stretch>
        </p:blipFill>
        <p:spPr>
          <a:xfrm>
            <a:off x="12618720" y="5870448"/>
            <a:ext cx="4846320" cy="2726055"/>
          </a:xfrm>
          <a:prstGeom prst="rect">
            <a:avLst/>
          </a:prstGeom>
          <a:ln w="9525">
            <a:solidFill>
              <a:srgbClr val="D5D8E0"/>
            </a:solidFill>
          </a:ln>
        </p:spPr>
      </p:pic>
      <p:sp>
        <p:nvSpPr>
          <p:cNvPr id="5051" name="Rounded Rectangle 5050"/>
          <p:cNvSpPr/>
          <p:nvPr/>
        </p:nvSpPr>
        <p:spPr>
          <a:xfrm>
            <a:off x="7635240" y="8796528"/>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2" name="TextBox 5051"/>
          <p:cNvSpPr txBox="1"/>
          <p:nvPr/>
        </p:nvSpPr>
        <p:spPr>
          <a:xfrm>
            <a:off x="8778240" y="8787384"/>
            <a:ext cx="86868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F-01 로그인·계정·권한 관리 · UC-AUTH-01 · SER-001</a:t>
            </a:r>
            <a:endParaRPr lang="ko-KR" altLang="en-US" sz="1200"/>
          </a:p>
        </p:txBody>
      </p:sp>
      <p:sp>
        <p:nvSpPr>
          <p:cNvPr id="5053"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2697835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상황 보고자 ① 새 산불 보고 (UC-REPORT-01)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27</a:t>
            </a:fld>
            <a:endParaRPr lang="en-US"/>
          </a:p>
        </p:txBody>
      </p:sp>
      <p:pic>
        <p:nvPicPr>
          <p:cNvPr id="5024" name="Picture 5023" descr="G_24_rep_new_filled_c0_40_1500_1080.jpg"/>
          <p:cNvPicPr>
            <a:picLocks noChangeAspect="1"/>
          </p:cNvPicPr>
          <p:nvPr/>
        </p:nvPicPr>
        <p:blipFill>
          <a:blip r:embed="rId6"/>
          <a:stretch>
            <a:fillRect/>
          </a:stretch>
        </p:blipFill>
        <p:spPr>
          <a:xfrm>
            <a:off x="822960" y="2432304"/>
            <a:ext cx="9495692" cy="6583680"/>
          </a:xfrm>
          <a:prstGeom prst="rect">
            <a:avLst/>
          </a:prstGeom>
          <a:ln w="9525">
            <a:solidFill>
              <a:srgbClr val="D5D8E0"/>
            </a:solidFill>
          </a:ln>
        </p:spPr>
      </p:pic>
      <p:sp>
        <p:nvSpPr>
          <p:cNvPr id="5025" name="Rounded Rectangle 5024"/>
          <p:cNvSpPr/>
          <p:nvPr/>
        </p:nvSpPr>
        <p:spPr>
          <a:xfrm>
            <a:off x="1000213" y="2913419"/>
            <a:ext cx="1430684" cy="196244"/>
          </a:xfrm>
          <a:prstGeom prst="roundRect">
            <a:avLst>
              <a:gd name="adj" fmla="val 23297"/>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829220" y="2742426"/>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1000213" y="3267925"/>
            <a:ext cx="2829716" cy="759655"/>
          </a:xfrm>
          <a:prstGeom prst="roundRect">
            <a:avLst>
              <a:gd name="adj" fmla="val 6018"/>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3690026" y="309693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1000213" y="4154190"/>
            <a:ext cx="2829716" cy="221566"/>
          </a:xfrm>
          <a:prstGeom prst="roundRect">
            <a:avLst>
              <a:gd name="adj" fmla="val 20634"/>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667512" y="410952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1000213" y="4331442"/>
            <a:ext cx="2829716" cy="822960"/>
          </a:xfrm>
          <a:prstGeom prst="roundRect">
            <a:avLst>
              <a:gd name="adj" fmla="val 5555"/>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3690026" y="416045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1000213" y="5129081"/>
            <a:ext cx="2829716" cy="784977"/>
          </a:xfrm>
          <a:prstGeom prst="roundRect">
            <a:avLst>
              <a:gd name="adj" fmla="val 5824"/>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3690026" y="4958088"/>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Rounded Rectangle 5034"/>
          <p:cNvSpPr/>
          <p:nvPr/>
        </p:nvSpPr>
        <p:spPr>
          <a:xfrm>
            <a:off x="1000213" y="5888736"/>
            <a:ext cx="2829716" cy="759655"/>
          </a:xfrm>
          <a:prstGeom prst="roundRect">
            <a:avLst>
              <a:gd name="adj" fmla="val 6018"/>
            </a:avLst>
          </a:prstGeom>
          <a:noFill/>
          <a:ln w="28575">
            <a:solidFill>
              <a:srgbClr val="E8742A"/>
            </a:solidFill>
          </a:ln>
        </p:spPr>
        <p:txBody>
          <a:bodyPr wrap="square" lIns="0" tIns="0" rIns="0" bIns="0" rtlCol="0" anchor="ctr">
            <a:noAutofit/>
          </a:bodyPr>
          <a:lstStyle/>
          <a:p>
            <a:pPr algn="ctr"/>
            <a:endParaRPr/>
          </a:p>
        </p:txBody>
      </p:sp>
      <p:sp>
        <p:nvSpPr>
          <p:cNvPr id="5036" name="Oval 5035"/>
          <p:cNvSpPr/>
          <p:nvPr/>
        </p:nvSpPr>
        <p:spPr>
          <a:xfrm>
            <a:off x="3690026" y="571774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7" name="Rounded Rectangle 5036"/>
          <p:cNvSpPr/>
          <p:nvPr/>
        </p:nvSpPr>
        <p:spPr>
          <a:xfrm>
            <a:off x="1000213" y="7237124"/>
            <a:ext cx="2829716" cy="208905"/>
          </a:xfrm>
          <a:prstGeom prst="roundRect">
            <a:avLst>
              <a:gd name="adj" fmla="val 21885"/>
            </a:avLst>
          </a:prstGeom>
          <a:noFill/>
          <a:ln w="28575">
            <a:solidFill>
              <a:srgbClr val="E8742A"/>
            </a:solidFill>
          </a:ln>
        </p:spPr>
        <p:txBody>
          <a:bodyPr wrap="square" lIns="0" tIns="0" rIns="0" bIns="0" rtlCol="0" anchor="ctr">
            <a:noAutofit/>
          </a:bodyPr>
          <a:lstStyle/>
          <a:p>
            <a:pPr algn="ctr"/>
            <a:endParaRPr/>
          </a:p>
        </p:txBody>
      </p:sp>
      <p:sp>
        <p:nvSpPr>
          <p:cNvPr id="5038" name="Oval 5037"/>
          <p:cNvSpPr/>
          <p:nvPr/>
        </p:nvSpPr>
        <p:spPr>
          <a:xfrm>
            <a:off x="3690026" y="706613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7</a:t>
            </a:r>
            <a:endParaRPr lang="ko-KR" altLang="en-US" sz="1292"/>
          </a:p>
        </p:txBody>
      </p:sp>
      <p:sp>
        <p:nvSpPr>
          <p:cNvPr id="5039" name="Oval 5038"/>
          <p:cNvSpPr/>
          <p:nvPr/>
        </p:nvSpPr>
        <p:spPr>
          <a:xfrm>
            <a:off x="10638692" y="247802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40" name="TextBox 5039"/>
          <p:cNvSpPr txBox="1"/>
          <p:nvPr/>
        </p:nvSpPr>
        <p:spPr>
          <a:xfrm>
            <a:off x="11041028" y="2459736"/>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「새 산불 보고」</a:t>
            </a:r>
            <a:endParaRPr lang="ko-KR" altLang="en-US" sz="1350"/>
          </a:p>
        </p:txBody>
      </p:sp>
      <p:sp>
        <p:nvSpPr>
          <p:cNvPr id="5041" name="TextBox 5040"/>
          <p:cNvSpPr txBox="1"/>
          <p:nvPr/>
        </p:nvSpPr>
        <p:spPr>
          <a:xfrm>
            <a:off x="11041028" y="2710624"/>
            <a:ext cx="642401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처음 보고할 때 새 양식을 엶</a:t>
            </a:r>
            <a:endParaRPr lang="ko-KR" altLang="en-US" sz="1150"/>
          </a:p>
        </p:txBody>
      </p:sp>
      <p:sp>
        <p:nvSpPr>
          <p:cNvPr id="5042" name="Oval 5041"/>
          <p:cNvSpPr/>
          <p:nvPr/>
        </p:nvSpPr>
        <p:spPr>
          <a:xfrm>
            <a:off x="10638692" y="2967418"/>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3" name="TextBox 5042"/>
          <p:cNvSpPr txBox="1"/>
          <p:nvPr/>
        </p:nvSpPr>
        <p:spPr>
          <a:xfrm>
            <a:off x="11041028" y="2949131"/>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산불명·주소·발화 위치</a:t>
            </a:r>
            <a:endParaRPr lang="ko-KR" altLang="en-US" sz="1350"/>
          </a:p>
        </p:txBody>
      </p:sp>
      <p:sp>
        <p:nvSpPr>
          <p:cNvPr id="5044" name="TextBox 5043"/>
          <p:cNvSpPr txBox="1"/>
          <p:nvPr/>
        </p:nvSpPr>
        <p:spPr>
          <a:xfrm>
            <a:off x="11041028" y="3200019"/>
            <a:ext cx="642401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경도·위도 직접 입력 또는 지도 지정</a:t>
            </a:r>
            <a:endParaRPr lang="ko-KR" altLang="en-US" sz="1150"/>
          </a:p>
        </p:txBody>
      </p:sp>
      <p:sp>
        <p:nvSpPr>
          <p:cNvPr id="5045" name="Oval 5044"/>
          <p:cNvSpPr/>
          <p:nvPr/>
        </p:nvSpPr>
        <p:spPr>
          <a:xfrm>
            <a:off x="10638692" y="3456813"/>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46" name="TextBox 5045"/>
          <p:cNvSpPr txBox="1"/>
          <p:nvPr/>
        </p:nvSpPr>
        <p:spPr>
          <a:xfrm>
            <a:off x="11041028" y="3438525"/>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지도에서 발화 위치 지정</a:t>
            </a:r>
            <a:endParaRPr lang="ko-KR" altLang="en-US" sz="1350"/>
          </a:p>
        </p:txBody>
      </p:sp>
      <p:sp>
        <p:nvSpPr>
          <p:cNvPr id="5047" name="TextBox 5046"/>
          <p:cNvSpPr txBox="1"/>
          <p:nvPr/>
        </p:nvSpPr>
        <p:spPr>
          <a:xfrm>
            <a:off x="11041028" y="3689414"/>
            <a:ext cx="642401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누른 뒤 지도를 찍으면 좌표가 채워지고 표식 표시</a:t>
            </a:r>
            <a:endParaRPr lang="ko-KR" altLang="en-US" sz="1150"/>
          </a:p>
        </p:txBody>
      </p:sp>
      <p:sp>
        <p:nvSpPr>
          <p:cNvPr id="5048" name="Oval 5047"/>
          <p:cNvSpPr/>
          <p:nvPr/>
        </p:nvSpPr>
        <p:spPr>
          <a:xfrm>
            <a:off x="10638692" y="3946208"/>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49" name="TextBox 5048"/>
          <p:cNvSpPr txBox="1"/>
          <p:nvPr/>
        </p:nvSpPr>
        <p:spPr>
          <a:xfrm>
            <a:off x="11041028" y="3927920"/>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발생 일시·신고 접수 일시·신고 내용</a:t>
            </a:r>
            <a:endParaRPr lang="ko-KR" altLang="en-US" sz="1350"/>
          </a:p>
        </p:txBody>
      </p:sp>
      <p:sp>
        <p:nvSpPr>
          <p:cNvPr id="5050" name="TextBox 5049"/>
          <p:cNvSpPr txBox="1"/>
          <p:nvPr/>
        </p:nvSpPr>
        <p:spPr>
          <a:xfrm>
            <a:off x="11041028" y="4178808"/>
            <a:ext cx="642401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신고 접수 일시는 필수, 발생 일시는 선택</a:t>
            </a:r>
            <a:endParaRPr lang="ko-KR" altLang="en-US" sz="1150"/>
          </a:p>
        </p:txBody>
      </p:sp>
      <p:sp>
        <p:nvSpPr>
          <p:cNvPr id="5051" name="Oval 5050"/>
          <p:cNvSpPr/>
          <p:nvPr/>
        </p:nvSpPr>
        <p:spPr>
          <a:xfrm>
            <a:off x="10638692" y="4435602"/>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2" name="TextBox 5051"/>
          <p:cNvSpPr txBox="1"/>
          <p:nvPr/>
        </p:nvSpPr>
        <p:spPr>
          <a:xfrm>
            <a:off x="11041028" y="4417314"/>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신고자 정보</a:t>
            </a:r>
            <a:endParaRPr lang="ko-KR" altLang="en-US" sz="1350"/>
          </a:p>
        </p:txBody>
      </p:sp>
      <p:sp>
        <p:nvSpPr>
          <p:cNvPr id="5053" name="TextBox 5052"/>
          <p:cNvSpPr txBox="1"/>
          <p:nvPr/>
        </p:nvSpPr>
        <p:spPr>
          <a:xfrm>
            <a:off x="11041028" y="4668202"/>
            <a:ext cx="6424012" cy="38557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신고 기관명·신고자 성명·연락처(선택, 연락처 형식 검사) — 「산불진화기관의 임무와 역할에 관한 규정」 제6조제1항제1호</a:t>
            </a:r>
            <a:endParaRPr lang="ko-KR" altLang="en-US" sz="1150"/>
          </a:p>
        </p:txBody>
      </p:sp>
      <p:sp>
        <p:nvSpPr>
          <p:cNvPr id="5054" name="Oval 5053"/>
          <p:cNvSpPr/>
          <p:nvPr/>
        </p:nvSpPr>
        <p:spPr>
          <a:xfrm>
            <a:off x="10638692" y="5117782"/>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55" name="TextBox 5054"/>
          <p:cNvSpPr txBox="1"/>
          <p:nvPr/>
        </p:nvSpPr>
        <p:spPr>
          <a:xfrm>
            <a:off x="11041028" y="5099494"/>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기관별 접수 기록</a:t>
            </a:r>
            <a:endParaRPr lang="ko-KR" altLang="en-US" sz="1350"/>
          </a:p>
        </p:txBody>
      </p:sp>
      <p:sp>
        <p:nvSpPr>
          <p:cNvPr id="5056" name="TextBox 5055"/>
          <p:cNvSpPr txBox="1"/>
          <p:nvPr/>
        </p:nvSpPr>
        <p:spPr>
          <a:xfrm>
            <a:off x="11041028" y="5350383"/>
            <a:ext cx="642401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접수 기관·시각·경로를 줄 단위로 추가·삭제</a:t>
            </a:r>
            <a:endParaRPr lang="ko-KR" altLang="en-US" sz="1150"/>
          </a:p>
        </p:txBody>
      </p:sp>
      <p:sp>
        <p:nvSpPr>
          <p:cNvPr id="5057" name="Oval 5056"/>
          <p:cNvSpPr/>
          <p:nvPr/>
        </p:nvSpPr>
        <p:spPr>
          <a:xfrm>
            <a:off x="10638692" y="5607177"/>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7</a:t>
            </a:r>
            <a:endParaRPr lang="ko-KR" altLang="en-US" sz="1140"/>
          </a:p>
        </p:txBody>
      </p:sp>
      <p:sp>
        <p:nvSpPr>
          <p:cNvPr id="5058" name="TextBox 5057"/>
          <p:cNvSpPr txBox="1"/>
          <p:nvPr/>
        </p:nvSpPr>
        <p:spPr>
          <a:xfrm>
            <a:off x="11041028" y="5588889"/>
            <a:ext cx="642401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저장(제출)</a:t>
            </a:r>
            <a:endParaRPr lang="ko-KR" altLang="en-US" sz="1350"/>
          </a:p>
        </p:txBody>
      </p:sp>
      <p:sp>
        <p:nvSpPr>
          <p:cNvPr id="5059" name="TextBox 5058"/>
          <p:cNvSpPr txBox="1"/>
          <p:nvPr/>
        </p:nvSpPr>
        <p:spPr>
          <a:xfrm>
            <a:off x="11041028" y="5839778"/>
            <a:ext cx="642401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입력 검사 후 산불을 「접수」 상태로 생성, 이벤트 로그 기록</a:t>
            </a:r>
            <a:endParaRPr lang="ko-KR" altLang="en-US" sz="1150"/>
          </a:p>
        </p:txBody>
      </p:sp>
      <p:sp>
        <p:nvSpPr>
          <p:cNvPr id="5060" name="Rectangle 5059"/>
          <p:cNvSpPr/>
          <p:nvPr/>
        </p:nvSpPr>
        <p:spPr>
          <a:xfrm>
            <a:off x="10638692" y="6114860"/>
            <a:ext cx="6826348" cy="310896"/>
          </a:xfrm>
          <a:prstGeom prst="rect">
            <a:avLst/>
          </a:prstGeom>
          <a:solidFill>
            <a:srgbClr val="D0342C"/>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필수 값이 빠지면</a:t>
            </a:r>
            <a:endParaRPr lang="ko-KR" altLang="en-US" sz="1250"/>
          </a:p>
        </p:txBody>
      </p:sp>
      <p:pic>
        <p:nvPicPr>
          <p:cNvPr id="5061" name="Picture 5060" descr="image.jpg"/>
          <p:cNvPicPr>
            <a:picLocks noChangeAspect="1"/>
          </p:cNvPicPr>
          <p:nvPr/>
        </p:nvPicPr>
        <p:blipFill>
          <a:blip r:embed="rId7"/>
          <a:stretch>
            <a:fillRect/>
          </a:stretch>
        </p:blipFill>
        <p:spPr>
          <a:xfrm>
            <a:off x="10638692" y="6425756"/>
            <a:ext cx="3840480" cy="1162251"/>
          </a:xfrm>
          <a:prstGeom prst="rect">
            <a:avLst/>
          </a:prstGeom>
          <a:ln w="9525">
            <a:solidFill>
              <a:srgbClr val="D5D8E0"/>
            </a:solidFill>
          </a:ln>
        </p:spPr>
      </p:pic>
      <p:pic>
        <p:nvPicPr>
          <p:cNvPr id="5062" name="Picture 5061" descr="G_23_rep_invalid_c735_985_1185_1024.jpg"/>
          <p:cNvPicPr>
            <a:picLocks noChangeAspect="1"/>
          </p:cNvPicPr>
          <p:nvPr/>
        </p:nvPicPr>
        <p:blipFill>
          <a:blip r:embed="rId8"/>
          <a:stretch>
            <a:fillRect/>
          </a:stretch>
        </p:blipFill>
        <p:spPr>
          <a:xfrm>
            <a:off x="10638692" y="7642870"/>
            <a:ext cx="3840480" cy="332842"/>
          </a:xfrm>
          <a:prstGeom prst="rect">
            <a:avLst/>
          </a:prstGeom>
          <a:ln w="9525">
            <a:solidFill>
              <a:srgbClr val="D5D8E0"/>
            </a:solidFill>
          </a:ln>
        </p:spPr>
      </p:pic>
      <p:sp>
        <p:nvSpPr>
          <p:cNvPr id="5063" name="Rounded Rectangle 5062"/>
          <p:cNvSpPr/>
          <p:nvPr/>
        </p:nvSpPr>
        <p:spPr>
          <a:xfrm>
            <a:off x="10638692"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64" name="TextBox 5063"/>
          <p:cNvSpPr txBox="1"/>
          <p:nvPr/>
        </p:nvSpPr>
        <p:spPr>
          <a:xfrm>
            <a:off x="11781692" y="8769096"/>
            <a:ext cx="5683348"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F-02 산불 상황 보고 · F-04 발생·접수 정보 · UC-REPORT-01</a:t>
            </a:r>
            <a:endParaRPr lang="ko-KR" altLang="en-US" sz="1200"/>
          </a:p>
        </p:txBody>
      </p:sp>
      <p:sp>
        <p:nvSpPr>
          <p:cNvPr id="5065"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2393467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상황 보고자 ② 실측 화선 보고 — 1시간마다 (UC-REPORT-01 대안 흐름)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28</a:t>
            </a:fld>
            <a:endParaRPr lang="en-US"/>
          </a:p>
        </p:txBody>
      </p:sp>
      <p:pic>
        <p:nvPicPr>
          <p:cNvPr id="5024" name="Picture 5023" descr="G_21_rep_drawing_c0_40_1500_1000.jpg"/>
          <p:cNvPicPr>
            <a:picLocks noChangeAspect="1"/>
          </p:cNvPicPr>
          <p:nvPr/>
        </p:nvPicPr>
        <p:blipFill>
          <a:blip r:embed="rId6"/>
          <a:stretch>
            <a:fillRect/>
          </a:stretch>
        </p:blipFill>
        <p:spPr>
          <a:xfrm>
            <a:off x="822960" y="2432304"/>
            <a:ext cx="7072312" cy="4526280"/>
          </a:xfrm>
          <a:prstGeom prst="rect">
            <a:avLst/>
          </a:prstGeom>
          <a:ln w="9525">
            <a:solidFill>
              <a:srgbClr val="D5D8E0"/>
            </a:solidFill>
          </a:ln>
        </p:spPr>
      </p:pic>
      <p:sp>
        <p:nvSpPr>
          <p:cNvPr id="5025" name="Rounded Rectangle 5024"/>
          <p:cNvSpPr/>
          <p:nvPr/>
        </p:nvSpPr>
        <p:spPr>
          <a:xfrm>
            <a:off x="2001679" y="2790635"/>
            <a:ext cx="1065562" cy="146161"/>
          </a:xfrm>
          <a:prstGeom prst="roundRect">
            <a:avLst>
              <a:gd name="adj" fmla="val 31280"/>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2927337" y="261964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954976" y="6194774"/>
            <a:ext cx="886396" cy="155591"/>
          </a:xfrm>
          <a:prstGeom prst="roundRect">
            <a:avLst>
              <a:gd name="adj" fmla="val 29384"/>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1701470" y="602378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4128087" y="4205097"/>
            <a:ext cx="3102388" cy="2206562"/>
          </a:xfrm>
          <a:prstGeom prst="roundRect">
            <a:avLst>
              <a:gd name="adj" fmla="val 2072"/>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7090572" y="403410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954976" y="6322076"/>
            <a:ext cx="2107549" cy="132017"/>
          </a:xfrm>
          <a:prstGeom prst="roundRect">
            <a:avLst>
              <a:gd name="adj" fmla="val 34632"/>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2922622" y="631418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ectangle 5032"/>
          <p:cNvSpPr/>
          <p:nvPr/>
        </p:nvSpPr>
        <p:spPr>
          <a:xfrm>
            <a:off x="8215312" y="2432304"/>
            <a:ext cx="9249728"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그리기 완료 후 제출 방식 선택</a:t>
            </a:r>
            <a:endParaRPr lang="ko-KR" altLang="en-US" sz="1250"/>
          </a:p>
        </p:txBody>
      </p:sp>
      <p:pic>
        <p:nvPicPr>
          <p:cNvPr id="5034" name="Picture 5033" descr="G_21b_rep_drawn_c24_812_480_945.jpg"/>
          <p:cNvPicPr>
            <a:picLocks noChangeAspect="1"/>
          </p:cNvPicPr>
          <p:nvPr/>
        </p:nvPicPr>
        <p:blipFill>
          <a:blip r:embed="rId7"/>
          <a:stretch>
            <a:fillRect/>
          </a:stretch>
        </p:blipFill>
        <p:spPr>
          <a:xfrm>
            <a:off x="8215312" y="2743200"/>
            <a:ext cx="9249728" cy="2697837"/>
          </a:xfrm>
          <a:prstGeom prst="rect">
            <a:avLst/>
          </a:prstGeom>
          <a:ln w="9525">
            <a:solidFill>
              <a:srgbClr val="D5D8E0"/>
            </a:solidFill>
          </a:ln>
        </p:spPr>
      </p:pic>
      <p:sp>
        <p:nvSpPr>
          <p:cNvPr id="5035" name="Rounded Rectangle 5034"/>
          <p:cNvSpPr/>
          <p:nvPr/>
        </p:nvSpPr>
        <p:spPr>
          <a:xfrm>
            <a:off x="8296450" y="4244252"/>
            <a:ext cx="9067167" cy="649104"/>
          </a:xfrm>
          <a:prstGeom prst="roundRect">
            <a:avLst>
              <a:gd name="adj" fmla="val 7043"/>
            </a:avLst>
          </a:prstGeom>
          <a:noFill/>
          <a:ln w="28575">
            <a:solidFill>
              <a:srgbClr val="E8742A"/>
            </a:solidFill>
          </a:ln>
        </p:spPr>
        <p:txBody>
          <a:bodyPr wrap="square" lIns="0" tIns="0" rIns="0" bIns="0" rtlCol="0" anchor="ctr">
            <a:noAutofit/>
          </a:bodyPr>
          <a:lstStyle/>
          <a:p>
            <a:pPr algn="ctr"/>
            <a:endParaRPr/>
          </a:p>
        </p:txBody>
      </p:sp>
      <p:sp>
        <p:nvSpPr>
          <p:cNvPr id="5036" name="Oval 5035"/>
          <p:cNvSpPr/>
          <p:nvPr/>
        </p:nvSpPr>
        <p:spPr>
          <a:xfrm>
            <a:off x="17223714" y="407325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7" name="Rounded Rectangle 5036"/>
          <p:cNvSpPr/>
          <p:nvPr/>
        </p:nvSpPr>
        <p:spPr>
          <a:xfrm>
            <a:off x="8296450" y="4812218"/>
            <a:ext cx="9067167" cy="628819"/>
          </a:xfrm>
          <a:prstGeom prst="roundRect">
            <a:avLst>
              <a:gd name="adj" fmla="val 7270"/>
            </a:avLst>
          </a:prstGeom>
          <a:noFill/>
          <a:ln w="28575">
            <a:solidFill>
              <a:srgbClr val="E8742A"/>
            </a:solidFill>
          </a:ln>
        </p:spPr>
        <p:txBody>
          <a:bodyPr wrap="square" lIns="0" tIns="0" rIns="0" bIns="0" rtlCol="0" anchor="ctr">
            <a:noAutofit/>
          </a:bodyPr>
          <a:lstStyle/>
          <a:p>
            <a:pPr algn="ctr"/>
            <a:endParaRPr/>
          </a:p>
        </p:txBody>
      </p:sp>
      <p:sp>
        <p:nvSpPr>
          <p:cNvPr id="5038" name="Oval 5037"/>
          <p:cNvSpPr/>
          <p:nvPr/>
        </p:nvSpPr>
        <p:spPr>
          <a:xfrm>
            <a:off x="17223714" y="528558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9" name="Oval 5038"/>
          <p:cNvSpPr/>
          <p:nvPr/>
        </p:nvSpPr>
        <p:spPr>
          <a:xfrm>
            <a:off x="8215312" y="5651349"/>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40" name="TextBox 5039"/>
          <p:cNvSpPr txBox="1"/>
          <p:nvPr/>
        </p:nvSpPr>
        <p:spPr>
          <a:xfrm>
            <a:off x="8617649" y="5633061"/>
            <a:ext cx="884739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「실측 화선 보고」</a:t>
            </a:r>
            <a:endParaRPr lang="ko-KR" altLang="en-US" sz="1400"/>
          </a:p>
        </p:txBody>
      </p:sp>
      <p:sp>
        <p:nvSpPr>
          <p:cNvPr id="5041" name="TextBox 5040"/>
          <p:cNvSpPr txBox="1"/>
          <p:nvPr/>
        </p:nvSpPr>
        <p:spPr>
          <a:xfrm>
            <a:off x="8617649" y="5891887"/>
            <a:ext cx="884739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직전 화선을 불러와 이어서 수정</a:t>
            </a:r>
            <a:endParaRPr lang="ko-KR" altLang="en-US" sz="1200"/>
          </a:p>
        </p:txBody>
      </p:sp>
      <p:sp>
        <p:nvSpPr>
          <p:cNvPr id="5042" name="Oval 5041"/>
          <p:cNvSpPr/>
          <p:nvPr/>
        </p:nvSpPr>
        <p:spPr>
          <a:xfrm>
            <a:off x="8215312" y="6166207"/>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3" name="TextBox 5042"/>
          <p:cNvSpPr txBox="1"/>
          <p:nvPr/>
        </p:nvSpPr>
        <p:spPr>
          <a:xfrm>
            <a:off x="8617649" y="6147919"/>
            <a:ext cx="884739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지도에서 그리기 / GeoJSON</a:t>
            </a:r>
            <a:endParaRPr lang="ko-KR" altLang="en-US" sz="1400"/>
          </a:p>
        </p:txBody>
      </p:sp>
      <p:sp>
        <p:nvSpPr>
          <p:cNvPr id="5044" name="TextBox 5043"/>
          <p:cNvSpPr txBox="1"/>
          <p:nvPr/>
        </p:nvSpPr>
        <p:spPr>
          <a:xfrm>
            <a:off x="8617649" y="6406745"/>
            <a:ext cx="884739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꼭짓점을 차례로 찍고 「그리기 완료」</a:t>
            </a:r>
            <a:endParaRPr lang="ko-KR" altLang="en-US" sz="1200"/>
          </a:p>
        </p:txBody>
      </p:sp>
      <p:sp>
        <p:nvSpPr>
          <p:cNvPr id="5045" name="Oval 5044"/>
          <p:cNvSpPr/>
          <p:nvPr/>
        </p:nvSpPr>
        <p:spPr>
          <a:xfrm>
            <a:off x="8215312" y="6681065"/>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46" name="TextBox 5045"/>
          <p:cNvSpPr txBox="1"/>
          <p:nvPr/>
        </p:nvSpPr>
        <p:spPr>
          <a:xfrm>
            <a:off x="8617649" y="6662777"/>
            <a:ext cx="884739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그리는 중 안내·미리보기</a:t>
            </a:r>
            <a:endParaRPr lang="ko-KR" altLang="en-US" sz="1400"/>
          </a:p>
        </p:txBody>
      </p:sp>
      <p:sp>
        <p:nvSpPr>
          <p:cNvPr id="5047" name="TextBox 5046"/>
          <p:cNvSpPr txBox="1"/>
          <p:nvPr/>
        </p:nvSpPr>
        <p:spPr>
          <a:xfrm>
            <a:off x="8617649" y="6921603"/>
            <a:ext cx="884739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주황 다각형, Esc로 취소</a:t>
            </a:r>
            <a:endParaRPr lang="ko-KR" altLang="en-US" sz="1200"/>
          </a:p>
        </p:txBody>
      </p:sp>
      <p:sp>
        <p:nvSpPr>
          <p:cNvPr id="5048" name="Oval 5047"/>
          <p:cNvSpPr/>
          <p:nvPr/>
        </p:nvSpPr>
        <p:spPr>
          <a:xfrm>
            <a:off x="8215312" y="7195923"/>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49" name="TextBox 5048"/>
          <p:cNvSpPr txBox="1"/>
          <p:nvPr/>
        </p:nvSpPr>
        <p:spPr>
          <a:xfrm>
            <a:off x="8617649" y="7177635"/>
            <a:ext cx="884739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꼭짓점 수·면적(ha) 자동 계산</a:t>
            </a:r>
            <a:endParaRPr lang="ko-KR" altLang="en-US" sz="1400"/>
          </a:p>
        </p:txBody>
      </p:sp>
      <p:sp>
        <p:nvSpPr>
          <p:cNvPr id="5050" name="Oval 5049"/>
          <p:cNvSpPr/>
          <p:nvPr/>
        </p:nvSpPr>
        <p:spPr>
          <a:xfrm>
            <a:off x="8215312" y="7534251"/>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1" name="TextBox 5050"/>
          <p:cNvSpPr txBox="1"/>
          <p:nvPr/>
        </p:nvSpPr>
        <p:spPr>
          <a:xfrm>
            <a:off x="8617649" y="7515963"/>
            <a:ext cx="884739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새 버전 또는 정정</a:t>
            </a:r>
            <a:endParaRPr lang="ko-KR" altLang="en-US" sz="1400"/>
          </a:p>
        </p:txBody>
      </p:sp>
      <p:sp>
        <p:nvSpPr>
          <p:cNvPr id="5052" name="TextBox 5051"/>
          <p:cNvSpPr txBox="1"/>
          <p:nvPr/>
        </p:nvSpPr>
        <p:spPr>
          <a:xfrm>
            <a:off x="8617649" y="7774789"/>
            <a:ext cx="884739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처음 받은 보고가 v1, 새 보고는 v2·v3…, 정정 시 이전 버전 「정정됨」 보존</a:t>
            </a:r>
            <a:endParaRPr lang="ko-KR" altLang="en-US" sz="1200"/>
          </a:p>
        </p:txBody>
      </p:sp>
      <p:sp>
        <p:nvSpPr>
          <p:cNvPr id="5053" name="Oval 5052"/>
          <p:cNvSpPr/>
          <p:nvPr/>
        </p:nvSpPr>
        <p:spPr>
          <a:xfrm>
            <a:off x="8215312" y="8049109"/>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54" name="TextBox 5053"/>
          <p:cNvSpPr txBox="1"/>
          <p:nvPr/>
        </p:nvSpPr>
        <p:spPr>
          <a:xfrm>
            <a:off x="8617649" y="8030821"/>
            <a:ext cx="884739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저장 → 「진행 중」</a:t>
            </a:r>
            <a:endParaRPr lang="ko-KR" altLang="en-US" sz="1400"/>
          </a:p>
        </p:txBody>
      </p:sp>
      <p:sp>
        <p:nvSpPr>
          <p:cNvPr id="5055" name="TextBox 5054"/>
          <p:cNvSpPr txBox="1"/>
          <p:nvPr/>
        </p:nvSpPr>
        <p:spPr>
          <a:xfrm>
            <a:off x="8617649" y="8289647"/>
            <a:ext cx="884739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통합지휘권자 화면의 「다시 예측」 버튼 옆과 산불현황에 「재예측 필요」 표시</a:t>
            </a:r>
            <a:endParaRPr lang="ko-KR" altLang="en-US" sz="1200"/>
          </a:p>
        </p:txBody>
      </p:sp>
      <p:sp>
        <p:nvSpPr>
          <p:cNvPr id="5056" name="Rectangle 5055"/>
          <p:cNvSpPr/>
          <p:nvPr/>
        </p:nvSpPr>
        <p:spPr>
          <a:xfrm>
            <a:off x="822960" y="7050024"/>
            <a:ext cx="7072312" cy="310896"/>
          </a:xfrm>
          <a:prstGeom prst="rect">
            <a:avLst/>
          </a:prstGeom>
          <a:solidFill>
            <a:srgbClr val="C0602A"/>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저장 후 — 통합지휘권자: 버튼 옆·산불현황에 「재예측 필요」</a:t>
            </a:r>
            <a:endParaRPr lang="ko-KR" altLang="en-US" sz="1250"/>
          </a:p>
        </p:txBody>
      </p:sp>
      <p:pic>
        <p:nvPicPr>
          <p:cNvPr id="5057" name="Picture 5056" descr="G_31_need_repredict_c1100_42_1580_74.jpg"/>
          <p:cNvPicPr>
            <a:picLocks noChangeAspect="1"/>
          </p:cNvPicPr>
          <p:nvPr/>
        </p:nvPicPr>
        <p:blipFill>
          <a:blip r:embed="rId8"/>
          <a:stretch>
            <a:fillRect/>
          </a:stretch>
        </p:blipFill>
        <p:spPr>
          <a:xfrm>
            <a:off x="822960" y="7360920"/>
            <a:ext cx="5486400" cy="365760"/>
          </a:xfrm>
          <a:prstGeom prst="rect">
            <a:avLst/>
          </a:prstGeom>
          <a:ln w="9525">
            <a:solidFill>
              <a:srgbClr val="D5D8E0"/>
            </a:solidFill>
          </a:ln>
        </p:spPr>
      </p:pic>
      <p:pic>
        <p:nvPicPr>
          <p:cNvPr id="5058" name="Picture 5057" descr="G_31_need_repredict_c24_444_480_523.jpg"/>
          <p:cNvPicPr>
            <a:picLocks noChangeAspect="1"/>
          </p:cNvPicPr>
          <p:nvPr/>
        </p:nvPicPr>
        <p:blipFill>
          <a:blip r:embed="rId9"/>
          <a:stretch>
            <a:fillRect/>
          </a:stretch>
        </p:blipFill>
        <p:spPr>
          <a:xfrm>
            <a:off x="822960" y="7781544"/>
            <a:ext cx="5486400" cy="950495"/>
          </a:xfrm>
          <a:prstGeom prst="rect">
            <a:avLst/>
          </a:prstGeom>
          <a:ln w="9525">
            <a:solidFill>
              <a:srgbClr val="D5D8E0"/>
            </a:solidFill>
          </a:ln>
        </p:spPr>
      </p:pic>
      <p:sp>
        <p:nvSpPr>
          <p:cNvPr id="5059" name="Rounded Rectangle 5058"/>
          <p:cNvSpPr/>
          <p:nvPr/>
        </p:nvSpPr>
        <p:spPr>
          <a:xfrm>
            <a:off x="8215312"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60" name="TextBox 5059"/>
          <p:cNvSpPr txBox="1"/>
          <p:nvPr/>
        </p:nvSpPr>
        <p:spPr>
          <a:xfrm>
            <a:off x="9358312" y="8769096"/>
            <a:ext cx="8106728"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F-02 · UC-REPORT-01 · UC-PRED-01(재예측)</a:t>
            </a:r>
            <a:endParaRPr lang="ko-KR" altLang="en-US" sz="1200"/>
          </a:p>
        </p:txBody>
      </p:sp>
      <p:sp>
        <p:nvSpPr>
          <p:cNvPr id="5061"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40207076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① 산불 목록 · 산불현황 (UC-SIT-02)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5024" name="Rectangle 5023"/>
          <p:cNvSpPr/>
          <p:nvPr/>
        </p:nvSpPr>
        <p:spPr>
          <a:xfrm>
            <a:off x="822960" y="2432304"/>
            <a:ext cx="521208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「산불」 날개 → 산불 목록</a:t>
            </a:r>
            <a:endParaRPr lang="ko-KR" altLang="en-US" sz="1250"/>
          </a:p>
        </p:txBody>
      </p:sp>
      <p:pic>
        <p:nvPicPr>
          <p:cNvPr id="5025" name="Picture 5024" descr="image.jpg"/>
          <p:cNvPicPr>
            <a:picLocks noChangeAspect="1"/>
          </p:cNvPicPr>
          <p:nvPr/>
        </p:nvPicPr>
        <p:blipFill>
          <a:blip r:embed="rId6"/>
          <a:stretch>
            <a:fillRect/>
          </a:stretch>
        </p:blipFill>
        <p:spPr>
          <a:xfrm>
            <a:off x="822960" y="2743200"/>
            <a:ext cx="5212080" cy="2432304"/>
          </a:xfrm>
          <a:prstGeom prst="rect">
            <a:avLst/>
          </a:prstGeom>
          <a:ln w="9525">
            <a:solidFill>
              <a:srgbClr val="D5D8E0"/>
            </a:solidFill>
          </a:ln>
        </p:spPr>
      </p:pic>
      <p:sp>
        <p:nvSpPr>
          <p:cNvPr id="5026" name="Rounded Rectangle 5025"/>
          <p:cNvSpPr/>
          <p:nvPr/>
        </p:nvSpPr>
        <p:spPr>
          <a:xfrm>
            <a:off x="822960" y="2786634"/>
            <a:ext cx="282321" cy="629793"/>
          </a:xfrm>
          <a:prstGeom prst="roundRect">
            <a:avLst>
              <a:gd name="adj" fmla="val 16194"/>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1141857" y="294608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1821942" y="2743200"/>
            <a:ext cx="1346454" cy="325755"/>
          </a:xfrm>
          <a:prstGeom prst="roundRect">
            <a:avLst>
              <a:gd name="adj" fmla="val 14035"/>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3028493" y="258775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ounded Rectangle 5029"/>
          <p:cNvSpPr/>
          <p:nvPr/>
        </p:nvSpPr>
        <p:spPr>
          <a:xfrm>
            <a:off x="1126998" y="3405568"/>
            <a:ext cx="4842891" cy="586359"/>
          </a:xfrm>
          <a:prstGeom prst="roundRect">
            <a:avLst>
              <a:gd name="adj" fmla="val 7797"/>
            </a:avLst>
          </a:prstGeom>
          <a:noFill/>
          <a:ln w="28575">
            <a:solidFill>
              <a:srgbClr val="E8742A"/>
            </a:solidFill>
          </a:ln>
        </p:spPr>
        <p:txBody>
          <a:bodyPr wrap="square" lIns="0" tIns="0" rIns="0" bIns="0" rtlCol="0" anchor="ctr">
            <a:noAutofit/>
          </a:bodyPr>
          <a:lstStyle/>
          <a:p>
            <a:pPr algn="ctr"/>
            <a:endParaRPr/>
          </a:p>
        </p:txBody>
      </p:sp>
      <p:sp>
        <p:nvSpPr>
          <p:cNvPr id="5031" name="Oval 5030"/>
          <p:cNvSpPr/>
          <p:nvPr/>
        </p:nvSpPr>
        <p:spPr>
          <a:xfrm>
            <a:off x="5829986" y="385202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2" name="TextBox 5031"/>
          <p:cNvSpPr txBox="1"/>
          <p:nvPr/>
        </p:nvSpPr>
        <p:spPr>
          <a:xfrm>
            <a:off x="822960" y="5221224"/>
            <a:ext cx="5212080" cy="274320"/>
          </a:xfrm>
          <a:prstGeom prst="rect">
            <a:avLst/>
          </a:prstGeom>
          <a:noFill/>
        </p:spPr>
        <p:txBody>
          <a:bodyPr wrap="square" lIns="0" tIns="0" rIns="0" bIns="0" rtlCol="0" anchor="t">
            <a:noAutofit/>
          </a:bodyPr>
          <a:lstStyle/>
          <a:p>
            <a:pPr algn="ctr"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접수·진행 중 / 종료 목록 전환</a:t>
            </a:r>
            <a:endParaRPr lang="ko-KR" altLang="en-US" sz="1200"/>
          </a:p>
        </p:txBody>
      </p:sp>
      <p:sp>
        <p:nvSpPr>
          <p:cNvPr id="5033" name="Rectangle 5032"/>
          <p:cNvSpPr/>
          <p:nvPr/>
        </p:nvSpPr>
        <p:spPr>
          <a:xfrm>
            <a:off x="822960" y="5586984"/>
            <a:ext cx="5212080" cy="310896"/>
          </a:xfrm>
          <a:prstGeom prst="rect">
            <a:avLst/>
          </a:prstGeom>
          <a:solidFill>
            <a:srgbClr val="C0602A"/>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새 산불이 보고되면 목록에 「접수」로 추가</a:t>
            </a:r>
            <a:endParaRPr lang="ko-KR" altLang="en-US" sz="1250"/>
          </a:p>
        </p:txBody>
      </p:sp>
      <p:pic>
        <p:nvPicPr>
          <p:cNvPr id="5034" name="Picture 5033" descr="image.jpg"/>
          <p:cNvPicPr>
            <a:picLocks noChangeAspect="1"/>
          </p:cNvPicPr>
          <p:nvPr/>
        </p:nvPicPr>
        <p:blipFill>
          <a:blip r:embed="rId7"/>
          <a:stretch>
            <a:fillRect/>
          </a:stretch>
        </p:blipFill>
        <p:spPr>
          <a:xfrm>
            <a:off x="822960" y="5897880"/>
            <a:ext cx="5212080" cy="1965960"/>
          </a:xfrm>
          <a:prstGeom prst="rect">
            <a:avLst/>
          </a:prstGeom>
          <a:ln w="9525">
            <a:solidFill>
              <a:srgbClr val="D5D8E0"/>
            </a:solidFill>
          </a:ln>
        </p:spPr>
      </p:pic>
      <p:sp>
        <p:nvSpPr>
          <p:cNvPr id="5035" name="Rectangle 5034"/>
          <p:cNvSpPr/>
          <p:nvPr/>
        </p:nvSpPr>
        <p:spPr>
          <a:xfrm>
            <a:off x="6309360" y="2432304"/>
            <a:ext cx="6071616"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산불현황 탭 — 한 표로 확인</a:t>
            </a:r>
            <a:endParaRPr lang="ko-KR" altLang="en-US" sz="1250"/>
          </a:p>
        </p:txBody>
      </p:sp>
      <p:pic>
        <p:nvPicPr>
          <p:cNvPr id="5036" name="Picture 5035" descr="G_02_cmd_main_c24_76_480_536.jpg"/>
          <p:cNvPicPr>
            <a:picLocks noChangeAspect="1"/>
          </p:cNvPicPr>
          <p:nvPr/>
        </p:nvPicPr>
        <p:blipFill>
          <a:blip r:embed="rId8"/>
          <a:stretch>
            <a:fillRect/>
          </a:stretch>
        </p:blipFill>
        <p:spPr>
          <a:xfrm>
            <a:off x="6309360" y="2743200"/>
            <a:ext cx="6073206" cy="6126480"/>
          </a:xfrm>
          <a:prstGeom prst="rect">
            <a:avLst/>
          </a:prstGeom>
          <a:ln w="9525">
            <a:solidFill>
              <a:srgbClr val="D5D8E0"/>
            </a:solidFill>
          </a:ln>
        </p:spPr>
      </p:pic>
      <p:sp>
        <p:nvSpPr>
          <p:cNvPr id="5037" name="Rounded Rectangle 5036"/>
          <p:cNvSpPr/>
          <p:nvPr/>
        </p:nvSpPr>
        <p:spPr>
          <a:xfrm>
            <a:off x="6389271" y="3169390"/>
            <a:ext cx="2983329" cy="479464"/>
          </a:xfrm>
          <a:prstGeom prst="roundRect">
            <a:avLst>
              <a:gd name="adj" fmla="val 9535"/>
            </a:avLst>
          </a:prstGeom>
          <a:noFill/>
          <a:ln w="28575">
            <a:solidFill>
              <a:srgbClr val="E8742A"/>
            </a:solidFill>
          </a:ln>
        </p:spPr>
        <p:txBody>
          <a:bodyPr wrap="square" lIns="0" tIns="0" rIns="0" bIns="0" rtlCol="0" anchor="ctr">
            <a:noAutofit/>
          </a:bodyPr>
          <a:lstStyle/>
          <a:p>
            <a:pPr algn="ctr"/>
            <a:endParaRPr/>
          </a:p>
        </p:txBody>
      </p:sp>
      <p:sp>
        <p:nvSpPr>
          <p:cNvPr id="5038" name="Oval 5037"/>
          <p:cNvSpPr/>
          <p:nvPr/>
        </p:nvSpPr>
        <p:spPr>
          <a:xfrm>
            <a:off x="9249156" y="301851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39" name="Rounded Rectangle 5038"/>
          <p:cNvSpPr/>
          <p:nvPr/>
        </p:nvSpPr>
        <p:spPr>
          <a:xfrm>
            <a:off x="6389271" y="3675490"/>
            <a:ext cx="5900067" cy="1571575"/>
          </a:xfrm>
          <a:prstGeom prst="roundRect">
            <a:avLst>
              <a:gd name="adj" fmla="val 2909"/>
            </a:avLst>
          </a:prstGeom>
          <a:noFill/>
          <a:ln w="28575">
            <a:solidFill>
              <a:srgbClr val="E8742A"/>
            </a:solidFill>
          </a:ln>
        </p:spPr>
        <p:txBody>
          <a:bodyPr wrap="square" lIns="0" tIns="0" rIns="0" bIns="0" rtlCol="0" anchor="ctr">
            <a:noAutofit/>
          </a:bodyPr>
          <a:lstStyle/>
          <a:p>
            <a:pPr algn="ctr"/>
            <a:endParaRPr/>
          </a:p>
        </p:txBody>
      </p:sp>
      <p:sp>
        <p:nvSpPr>
          <p:cNvPr id="5040" name="Oval 5039"/>
          <p:cNvSpPr/>
          <p:nvPr/>
        </p:nvSpPr>
        <p:spPr>
          <a:xfrm>
            <a:off x="6172200" y="4324118"/>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41" name="Rounded Rectangle 5040"/>
          <p:cNvSpPr/>
          <p:nvPr/>
        </p:nvSpPr>
        <p:spPr>
          <a:xfrm>
            <a:off x="6389271" y="5193792"/>
            <a:ext cx="5900067" cy="399553"/>
          </a:xfrm>
          <a:prstGeom prst="roundRect">
            <a:avLst>
              <a:gd name="adj" fmla="val 11442"/>
            </a:avLst>
          </a:prstGeom>
          <a:noFill/>
          <a:ln w="28575">
            <a:solidFill>
              <a:srgbClr val="E8742A"/>
            </a:solidFill>
          </a:ln>
        </p:spPr>
        <p:txBody>
          <a:bodyPr wrap="square" lIns="0" tIns="0" rIns="0" bIns="0" rtlCol="0" anchor="ctr">
            <a:noAutofit/>
          </a:bodyPr>
          <a:lstStyle/>
          <a:p>
            <a:pPr algn="ctr"/>
            <a:endParaRPr/>
          </a:p>
        </p:txBody>
      </p:sp>
      <p:sp>
        <p:nvSpPr>
          <p:cNvPr id="5042" name="Oval 5041"/>
          <p:cNvSpPr/>
          <p:nvPr/>
        </p:nvSpPr>
        <p:spPr>
          <a:xfrm>
            <a:off x="6172200" y="5256409"/>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43" name="Rounded Rectangle 5042"/>
          <p:cNvSpPr/>
          <p:nvPr/>
        </p:nvSpPr>
        <p:spPr>
          <a:xfrm>
            <a:off x="6389271" y="5553390"/>
            <a:ext cx="5900067" cy="1584894"/>
          </a:xfrm>
          <a:prstGeom prst="roundRect">
            <a:avLst>
              <a:gd name="adj" fmla="val 2884"/>
            </a:avLst>
          </a:prstGeom>
          <a:noFill/>
          <a:ln w="28575">
            <a:solidFill>
              <a:srgbClr val="E8742A"/>
            </a:solidFill>
          </a:ln>
        </p:spPr>
        <p:txBody>
          <a:bodyPr wrap="square" lIns="0" tIns="0" rIns="0" bIns="0" rtlCol="0" anchor="ctr">
            <a:noAutofit/>
          </a:bodyPr>
          <a:lstStyle/>
          <a:p>
            <a:pPr algn="ctr"/>
            <a:endParaRPr/>
          </a:p>
        </p:txBody>
      </p:sp>
      <p:sp>
        <p:nvSpPr>
          <p:cNvPr id="5044" name="Oval 5043"/>
          <p:cNvSpPr/>
          <p:nvPr/>
        </p:nvSpPr>
        <p:spPr>
          <a:xfrm>
            <a:off x="6172200" y="6208677"/>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7</a:t>
            </a:r>
            <a:endParaRPr lang="ko-KR" altLang="en-US" sz="1140"/>
          </a:p>
        </p:txBody>
      </p:sp>
      <p:sp>
        <p:nvSpPr>
          <p:cNvPr id="5045" name="Rounded Rectangle 5044"/>
          <p:cNvSpPr/>
          <p:nvPr/>
        </p:nvSpPr>
        <p:spPr>
          <a:xfrm>
            <a:off x="6389271" y="7085010"/>
            <a:ext cx="5900067" cy="639285"/>
          </a:xfrm>
          <a:prstGeom prst="roundRect">
            <a:avLst>
              <a:gd name="adj" fmla="val 7151"/>
            </a:avLst>
          </a:prstGeom>
          <a:noFill/>
          <a:ln w="28575">
            <a:solidFill>
              <a:srgbClr val="E8742A"/>
            </a:solidFill>
          </a:ln>
        </p:spPr>
        <p:txBody>
          <a:bodyPr wrap="square" lIns="0" tIns="0" rIns="0" bIns="0" rtlCol="0" anchor="ctr">
            <a:noAutofit/>
          </a:bodyPr>
          <a:lstStyle/>
          <a:p>
            <a:pPr algn="ctr"/>
            <a:endParaRPr/>
          </a:p>
        </p:txBody>
      </p:sp>
      <p:sp>
        <p:nvSpPr>
          <p:cNvPr id="5046" name="Oval 5045"/>
          <p:cNvSpPr/>
          <p:nvPr/>
        </p:nvSpPr>
        <p:spPr>
          <a:xfrm>
            <a:off x="6172200" y="7267492"/>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8</a:t>
            </a:r>
            <a:endParaRPr lang="ko-KR" altLang="en-US" sz="1140"/>
          </a:p>
        </p:txBody>
      </p:sp>
      <p:sp>
        <p:nvSpPr>
          <p:cNvPr id="5047" name="Rounded Rectangle 5046"/>
          <p:cNvSpPr/>
          <p:nvPr/>
        </p:nvSpPr>
        <p:spPr>
          <a:xfrm>
            <a:off x="6389271" y="7671021"/>
            <a:ext cx="5900067" cy="759151"/>
          </a:xfrm>
          <a:prstGeom prst="roundRect">
            <a:avLst>
              <a:gd name="adj" fmla="val 6022"/>
            </a:avLst>
          </a:prstGeom>
          <a:noFill/>
          <a:ln w="28575">
            <a:solidFill>
              <a:srgbClr val="E8742A"/>
            </a:solidFill>
          </a:ln>
        </p:spPr>
        <p:txBody>
          <a:bodyPr wrap="square" lIns="0" tIns="0" rIns="0" bIns="0" rtlCol="0" anchor="ctr">
            <a:noAutofit/>
          </a:bodyPr>
          <a:lstStyle/>
          <a:p>
            <a:pPr algn="ctr"/>
            <a:endParaRPr/>
          </a:p>
        </p:txBody>
      </p:sp>
      <p:sp>
        <p:nvSpPr>
          <p:cNvPr id="5048" name="Oval 5047"/>
          <p:cNvSpPr/>
          <p:nvPr/>
        </p:nvSpPr>
        <p:spPr>
          <a:xfrm>
            <a:off x="6172200" y="7913436"/>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9</a:t>
            </a:r>
            <a:endParaRPr lang="ko-KR" altLang="en-US" sz="1140"/>
          </a:p>
        </p:txBody>
      </p:sp>
      <p:sp>
        <p:nvSpPr>
          <p:cNvPr id="5049" name="Rounded Rectangle 5048"/>
          <p:cNvSpPr/>
          <p:nvPr/>
        </p:nvSpPr>
        <p:spPr>
          <a:xfrm>
            <a:off x="6362634" y="8430172"/>
            <a:ext cx="958927" cy="386235"/>
          </a:xfrm>
          <a:prstGeom prst="roundRect">
            <a:avLst>
              <a:gd name="adj" fmla="val 11837"/>
            </a:avLst>
          </a:prstGeom>
          <a:noFill/>
          <a:ln w="28575">
            <a:solidFill>
              <a:srgbClr val="E8742A"/>
            </a:solidFill>
          </a:ln>
        </p:spPr>
        <p:txBody>
          <a:bodyPr wrap="square" lIns="0" tIns="0" rIns="0" bIns="0" rtlCol="0" anchor="ctr">
            <a:noAutofit/>
          </a:bodyPr>
          <a:lstStyle/>
          <a:p>
            <a:pPr algn="ctr"/>
            <a:endParaRPr/>
          </a:p>
        </p:txBody>
      </p:sp>
      <p:sp>
        <p:nvSpPr>
          <p:cNvPr id="5050" name="Oval 5049"/>
          <p:cNvSpPr/>
          <p:nvPr/>
        </p:nvSpPr>
        <p:spPr>
          <a:xfrm>
            <a:off x="7358137" y="8486129"/>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10</a:t>
            </a:r>
            <a:endParaRPr lang="ko-KR" altLang="en-US" sz="1140"/>
          </a:p>
        </p:txBody>
      </p:sp>
      <p:sp>
        <p:nvSpPr>
          <p:cNvPr id="5051" name="Rounded Rectangle 5050"/>
          <p:cNvSpPr/>
          <p:nvPr/>
        </p:nvSpPr>
        <p:spPr>
          <a:xfrm>
            <a:off x="11929739" y="2769837"/>
            <a:ext cx="399553" cy="372916"/>
          </a:xfrm>
          <a:prstGeom prst="roundRect">
            <a:avLst>
              <a:gd name="adj" fmla="val 12260"/>
            </a:avLst>
          </a:prstGeom>
          <a:noFill/>
          <a:ln w="28575">
            <a:solidFill>
              <a:srgbClr val="E8742A"/>
            </a:solidFill>
          </a:ln>
        </p:spPr>
        <p:txBody>
          <a:bodyPr wrap="square" lIns="0" tIns="0" rIns="0" bIns="0" rtlCol="0" anchor="ctr">
            <a:noAutofit/>
          </a:bodyPr>
          <a:lstStyle/>
          <a:p>
            <a:pPr algn="ctr"/>
            <a:endParaRPr/>
          </a:p>
        </p:txBody>
      </p:sp>
      <p:sp>
        <p:nvSpPr>
          <p:cNvPr id="5052" name="Oval 5051"/>
          <p:cNvSpPr/>
          <p:nvPr/>
        </p:nvSpPr>
        <p:spPr>
          <a:xfrm>
            <a:off x="11618843" y="2819135"/>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11</a:t>
            </a:r>
            <a:endParaRPr lang="ko-KR" altLang="en-US" sz="1140"/>
          </a:p>
        </p:txBody>
      </p:sp>
      <p:sp>
        <p:nvSpPr>
          <p:cNvPr id="5053" name="Oval 5052"/>
          <p:cNvSpPr/>
          <p:nvPr/>
        </p:nvSpPr>
        <p:spPr>
          <a:xfrm>
            <a:off x="12573000" y="2478024"/>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1</a:t>
            </a:r>
            <a:endParaRPr lang="ko-KR" altLang="en-US" sz="1064"/>
          </a:p>
        </p:txBody>
      </p:sp>
      <p:sp>
        <p:nvSpPr>
          <p:cNvPr id="5054" name="TextBox 5053"/>
          <p:cNvSpPr txBox="1"/>
          <p:nvPr/>
        </p:nvSpPr>
        <p:spPr>
          <a:xfrm>
            <a:off x="12957048" y="2459736"/>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「산불」 날개</a:t>
            </a:r>
            <a:endParaRPr lang="ko-KR" altLang="en-US" sz="1350"/>
          </a:p>
        </p:txBody>
      </p:sp>
      <p:sp>
        <p:nvSpPr>
          <p:cNvPr id="5055" name="TextBox 5054"/>
          <p:cNvSpPr txBox="1"/>
          <p:nvPr/>
        </p:nvSpPr>
        <p:spPr>
          <a:xfrm>
            <a:off x="12957048" y="2710624"/>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화면 맨 왼쪽, 누르면 목록이 고정 창 위로 펼쳐짐</a:t>
            </a:r>
            <a:endParaRPr lang="ko-KR" altLang="en-US" sz="1150"/>
          </a:p>
        </p:txBody>
      </p:sp>
      <p:sp>
        <p:nvSpPr>
          <p:cNvPr id="5056" name="Oval 5055"/>
          <p:cNvSpPr/>
          <p:nvPr/>
        </p:nvSpPr>
        <p:spPr>
          <a:xfrm>
            <a:off x="12573000" y="2958274"/>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2</a:t>
            </a:r>
            <a:endParaRPr lang="ko-KR" altLang="en-US" sz="1064"/>
          </a:p>
        </p:txBody>
      </p:sp>
      <p:sp>
        <p:nvSpPr>
          <p:cNvPr id="5057" name="TextBox 5056"/>
          <p:cNvSpPr txBox="1"/>
          <p:nvPr/>
        </p:nvSpPr>
        <p:spPr>
          <a:xfrm>
            <a:off x="12957048" y="2939987"/>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목록 전환</a:t>
            </a:r>
            <a:endParaRPr lang="ko-KR" altLang="en-US" sz="1350"/>
          </a:p>
        </p:txBody>
      </p:sp>
      <p:sp>
        <p:nvSpPr>
          <p:cNvPr id="5058" name="TextBox 5057"/>
          <p:cNvSpPr txBox="1"/>
          <p:nvPr/>
        </p:nvSpPr>
        <p:spPr>
          <a:xfrm>
            <a:off x="12957048" y="3190875"/>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접수·진행 중 / 종료</a:t>
            </a:r>
            <a:endParaRPr lang="ko-KR" altLang="en-US" sz="1150"/>
          </a:p>
        </p:txBody>
      </p:sp>
      <p:sp>
        <p:nvSpPr>
          <p:cNvPr id="5059" name="Oval 5058"/>
          <p:cNvSpPr/>
          <p:nvPr/>
        </p:nvSpPr>
        <p:spPr>
          <a:xfrm>
            <a:off x="12573000" y="3438525"/>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3</a:t>
            </a:r>
            <a:endParaRPr lang="ko-KR" altLang="en-US" sz="1064"/>
          </a:p>
        </p:txBody>
      </p:sp>
      <p:sp>
        <p:nvSpPr>
          <p:cNvPr id="5060" name="TextBox 5059"/>
          <p:cNvSpPr txBox="1"/>
          <p:nvPr/>
        </p:nvSpPr>
        <p:spPr>
          <a:xfrm>
            <a:off x="12957048" y="3420237"/>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산불 선택</a:t>
            </a:r>
            <a:endParaRPr lang="ko-KR" altLang="en-US" sz="1350"/>
          </a:p>
        </p:txBody>
      </p:sp>
      <p:sp>
        <p:nvSpPr>
          <p:cNvPr id="5061" name="TextBox 5060"/>
          <p:cNvSpPr txBox="1"/>
          <p:nvPr/>
        </p:nvSpPr>
        <p:spPr>
          <a:xfrm>
            <a:off x="12957048" y="3671126"/>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발생 장소·발생 시각·상태, 누르면 지도 이동</a:t>
            </a:r>
            <a:endParaRPr lang="ko-KR" altLang="en-US" sz="1150"/>
          </a:p>
        </p:txBody>
      </p:sp>
      <p:sp>
        <p:nvSpPr>
          <p:cNvPr id="5062" name="Oval 5061"/>
          <p:cNvSpPr/>
          <p:nvPr/>
        </p:nvSpPr>
        <p:spPr>
          <a:xfrm>
            <a:off x="12573000" y="3918776"/>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4</a:t>
            </a:r>
            <a:endParaRPr lang="ko-KR" altLang="en-US" sz="1064"/>
          </a:p>
        </p:txBody>
      </p:sp>
      <p:sp>
        <p:nvSpPr>
          <p:cNvPr id="5063" name="TextBox 5062"/>
          <p:cNvSpPr txBox="1"/>
          <p:nvPr/>
        </p:nvSpPr>
        <p:spPr>
          <a:xfrm>
            <a:off x="12957048" y="3900488"/>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산불현황 탭</a:t>
            </a:r>
            <a:endParaRPr lang="ko-KR" altLang="en-US" sz="1350"/>
          </a:p>
        </p:txBody>
      </p:sp>
      <p:sp>
        <p:nvSpPr>
          <p:cNvPr id="5064" name="TextBox 5063"/>
          <p:cNvSpPr txBox="1"/>
          <p:nvPr/>
        </p:nvSpPr>
        <p:spPr>
          <a:xfrm>
            <a:off x="12957048" y="4151376"/>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열람자는 이 탭만 보임</a:t>
            </a:r>
            <a:endParaRPr lang="ko-KR" altLang="en-US" sz="1150"/>
          </a:p>
        </p:txBody>
      </p:sp>
      <p:sp>
        <p:nvSpPr>
          <p:cNvPr id="5065" name="Oval 5064"/>
          <p:cNvSpPr/>
          <p:nvPr/>
        </p:nvSpPr>
        <p:spPr>
          <a:xfrm>
            <a:off x="12573000" y="4399026"/>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5</a:t>
            </a:r>
            <a:endParaRPr lang="ko-KR" altLang="en-US" sz="1064"/>
          </a:p>
        </p:txBody>
      </p:sp>
      <p:sp>
        <p:nvSpPr>
          <p:cNvPr id="5066" name="TextBox 5065"/>
          <p:cNvSpPr txBox="1"/>
          <p:nvPr/>
        </p:nvSpPr>
        <p:spPr>
          <a:xfrm>
            <a:off x="12957048" y="4380738"/>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발생·신고</a:t>
            </a:r>
            <a:endParaRPr lang="ko-KR" altLang="en-US" sz="1350"/>
          </a:p>
        </p:txBody>
      </p:sp>
      <p:sp>
        <p:nvSpPr>
          <p:cNvPr id="5067" name="TextBox 5066"/>
          <p:cNvSpPr txBox="1"/>
          <p:nvPr/>
        </p:nvSpPr>
        <p:spPr>
          <a:xfrm>
            <a:off x="12957048" y="4631627"/>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발생 장소·일시, 신고 접수 일시, 신고 내용</a:t>
            </a:r>
            <a:endParaRPr lang="ko-KR" altLang="en-US" sz="1150"/>
          </a:p>
        </p:txBody>
      </p:sp>
      <p:sp>
        <p:nvSpPr>
          <p:cNvPr id="5068" name="Oval 5067"/>
          <p:cNvSpPr/>
          <p:nvPr/>
        </p:nvSpPr>
        <p:spPr>
          <a:xfrm>
            <a:off x="12573000" y="4879277"/>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6</a:t>
            </a:r>
            <a:endParaRPr lang="ko-KR" altLang="en-US" sz="1064"/>
          </a:p>
        </p:txBody>
      </p:sp>
      <p:sp>
        <p:nvSpPr>
          <p:cNvPr id="5069" name="TextBox 5068"/>
          <p:cNvSpPr txBox="1"/>
          <p:nvPr/>
        </p:nvSpPr>
        <p:spPr>
          <a:xfrm>
            <a:off x="12957048" y="4860989"/>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신고자</a:t>
            </a:r>
            <a:endParaRPr lang="ko-KR" altLang="en-US" sz="1350"/>
          </a:p>
        </p:txBody>
      </p:sp>
      <p:sp>
        <p:nvSpPr>
          <p:cNvPr id="5070" name="TextBox 5069"/>
          <p:cNvSpPr txBox="1"/>
          <p:nvPr/>
        </p:nvSpPr>
        <p:spPr>
          <a:xfrm>
            <a:off x="12957048" y="5111877"/>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신고 기관명·성명·연락처, 모르면 「미확인」(규정 제6조제1항제1호)</a:t>
            </a:r>
            <a:endParaRPr lang="ko-KR" altLang="en-US" sz="1150"/>
          </a:p>
        </p:txBody>
      </p:sp>
      <p:sp>
        <p:nvSpPr>
          <p:cNvPr id="5071" name="Oval 5070"/>
          <p:cNvSpPr/>
          <p:nvPr/>
        </p:nvSpPr>
        <p:spPr>
          <a:xfrm>
            <a:off x="12573000" y="5359527"/>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7</a:t>
            </a:r>
            <a:endParaRPr lang="ko-KR" altLang="en-US" sz="1064"/>
          </a:p>
        </p:txBody>
      </p:sp>
      <p:sp>
        <p:nvSpPr>
          <p:cNvPr id="5072" name="TextBox 5071"/>
          <p:cNvSpPr txBox="1"/>
          <p:nvPr/>
        </p:nvSpPr>
        <p:spPr>
          <a:xfrm>
            <a:off x="12957048" y="5341239"/>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기관별 접수 기록 · 진행상태</a:t>
            </a:r>
            <a:endParaRPr lang="ko-KR" altLang="en-US" sz="1350"/>
          </a:p>
        </p:txBody>
      </p:sp>
      <p:sp>
        <p:nvSpPr>
          <p:cNvPr id="5073" name="TextBox 5072"/>
          <p:cNvSpPr txBox="1"/>
          <p:nvPr/>
        </p:nvSpPr>
        <p:spPr>
          <a:xfrm>
            <a:off x="12957048" y="5592128"/>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기관·시각·경로, 진행상태·공식 단계</a:t>
            </a:r>
            <a:endParaRPr lang="ko-KR" altLang="en-US" sz="1150"/>
          </a:p>
        </p:txBody>
      </p:sp>
      <p:sp>
        <p:nvSpPr>
          <p:cNvPr id="5074" name="Oval 5073"/>
          <p:cNvSpPr/>
          <p:nvPr/>
        </p:nvSpPr>
        <p:spPr>
          <a:xfrm>
            <a:off x="12573000" y="5839778"/>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8</a:t>
            </a:r>
            <a:endParaRPr lang="ko-KR" altLang="en-US" sz="1064"/>
          </a:p>
        </p:txBody>
      </p:sp>
      <p:sp>
        <p:nvSpPr>
          <p:cNvPr id="5075" name="TextBox 5074"/>
          <p:cNvSpPr txBox="1"/>
          <p:nvPr/>
        </p:nvSpPr>
        <p:spPr>
          <a:xfrm>
            <a:off x="12957048" y="5821490"/>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기상</a:t>
            </a:r>
            <a:endParaRPr lang="ko-KR" altLang="en-US" sz="1350"/>
          </a:p>
        </p:txBody>
      </p:sp>
      <p:sp>
        <p:nvSpPr>
          <p:cNvPr id="5076" name="TextBox 5075"/>
          <p:cNvSpPr txBox="1"/>
          <p:nvPr/>
        </p:nvSpPr>
        <p:spPr>
          <a:xfrm>
            <a:off x="12957048" y="6072378"/>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풍향·풍속·습도·기온·시정·특보 + 발표·수신 시각</a:t>
            </a:r>
            <a:endParaRPr lang="ko-KR" altLang="en-US" sz="1150"/>
          </a:p>
        </p:txBody>
      </p:sp>
      <p:sp>
        <p:nvSpPr>
          <p:cNvPr id="5077" name="Oval 5076"/>
          <p:cNvSpPr/>
          <p:nvPr/>
        </p:nvSpPr>
        <p:spPr>
          <a:xfrm>
            <a:off x="12573000" y="6320028"/>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9</a:t>
            </a:r>
            <a:endParaRPr lang="ko-KR" altLang="en-US" sz="1064"/>
          </a:p>
        </p:txBody>
      </p:sp>
      <p:sp>
        <p:nvSpPr>
          <p:cNvPr id="5078" name="TextBox 5077"/>
          <p:cNvSpPr txBox="1"/>
          <p:nvPr/>
        </p:nvSpPr>
        <p:spPr>
          <a:xfrm>
            <a:off x="12957048" y="6301740"/>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실측 화선·예측</a:t>
            </a:r>
            <a:endParaRPr lang="ko-KR" altLang="en-US" sz="1350"/>
          </a:p>
        </p:txBody>
      </p:sp>
      <p:sp>
        <p:nvSpPr>
          <p:cNvPr id="5079" name="TextBox 5078"/>
          <p:cNvSpPr txBox="1"/>
          <p:nvPr/>
        </p:nvSpPr>
        <p:spPr>
          <a:xfrm>
            <a:off x="12957048" y="6552629"/>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최신 화선 버전·면적, 5h·8h 예측 면적과 기준 화선</a:t>
            </a:r>
            <a:endParaRPr lang="ko-KR" altLang="en-US" sz="1150"/>
          </a:p>
        </p:txBody>
      </p:sp>
      <p:sp>
        <p:nvSpPr>
          <p:cNvPr id="5080" name="Oval 5079"/>
          <p:cNvSpPr/>
          <p:nvPr/>
        </p:nvSpPr>
        <p:spPr>
          <a:xfrm>
            <a:off x="12573000" y="6800279"/>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10</a:t>
            </a:r>
            <a:endParaRPr lang="ko-KR" altLang="en-US" sz="1064"/>
          </a:p>
        </p:txBody>
      </p:sp>
      <p:sp>
        <p:nvSpPr>
          <p:cNvPr id="5081" name="TextBox 5080"/>
          <p:cNvSpPr txBox="1"/>
          <p:nvPr/>
        </p:nvSpPr>
        <p:spPr>
          <a:xfrm>
            <a:off x="12957048" y="6781991"/>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종료 처리</a:t>
            </a:r>
            <a:endParaRPr lang="ko-KR" altLang="en-US" sz="1350"/>
          </a:p>
        </p:txBody>
      </p:sp>
      <p:sp>
        <p:nvSpPr>
          <p:cNvPr id="5082" name="TextBox 5081"/>
          <p:cNvSpPr txBox="1"/>
          <p:nvPr/>
        </p:nvSpPr>
        <p:spPr>
          <a:xfrm>
            <a:off x="12957048" y="7032879"/>
            <a:ext cx="4507992"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「진행 중」 산불에만 표시</a:t>
            </a:r>
            <a:endParaRPr lang="ko-KR" altLang="en-US" sz="1150"/>
          </a:p>
        </p:txBody>
      </p:sp>
      <p:sp>
        <p:nvSpPr>
          <p:cNvPr id="5083" name="Oval 5082"/>
          <p:cNvSpPr/>
          <p:nvPr/>
        </p:nvSpPr>
        <p:spPr>
          <a:xfrm>
            <a:off x="12573000" y="7280529"/>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11</a:t>
            </a:r>
            <a:endParaRPr lang="ko-KR" altLang="en-US" sz="1064"/>
          </a:p>
        </p:txBody>
      </p:sp>
      <p:sp>
        <p:nvSpPr>
          <p:cNvPr id="5084" name="TextBox 5083"/>
          <p:cNvSpPr txBox="1"/>
          <p:nvPr/>
        </p:nvSpPr>
        <p:spPr>
          <a:xfrm>
            <a:off x="12957048" y="7262241"/>
            <a:ext cx="4507992"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발화점으로 이동</a:t>
            </a:r>
            <a:endParaRPr lang="ko-KR" altLang="en-US" sz="1350"/>
          </a:p>
        </p:txBody>
      </p:sp>
      <p:sp>
        <p:nvSpPr>
          <p:cNvPr id="5085" name="Rounded Rectangle 5084"/>
          <p:cNvSpPr/>
          <p:nvPr/>
        </p:nvSpPr>
        <p:spPr>
          <a:xfrm>
            <a:off x="1257300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86" name="TextBox 5085"/>
          <p:cNvSpPr txBox="1"/>
          <p:nvPr/>
        </p:nvSpPr>
        <p:spPr>
          <a:xfrm>
            <a:off x="13716000" y="8769096"/>
            <a:ext cx="374904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F-04 산불 발생·접수 정보 조회 · F-05 · UC-SIT-02 · UC-SIT-03</a:t>
            </a:r>
            <a:endParaRPr lang="ko-KR" altLang="en-US" sz="1200"/>
          </a:p>
        </p:txBody>
      </p:sp>
      <p:sp>
        <p:nvSpPr>
          <p:cNvPr id="5087"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3384206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② 확산 예측 실행 · 시간별 재생 (UC-PRED-01)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5024" name="Picture 5023" descr="G_05_predicted_t5_c430_40_1920_1080.jpg"/>
          <p:cNvPicPr>
            <a:picLocks noChangeAspect="1"/>
          </p:cNvPicPr>
          <p:nvPr/>
        </p:nvPicPr>
        <p:blipFill>
          <a:blip r:embed="rId6"/>
          <a:stretch>
            <a:fillRect/>
          </a:stretch>
        </p:blipFill>
        <p:spPr>
          <a:xfrm>
            <a:off x="822960" y="2432304"/>
            <a:ext cx="9432388" cy="6583680"/>
          </a:xfrm>
          <a:prstGeom prst="rect">
            <a:avLst/>
          </a:prstGeom>
          <a:ln w="9525">
            <a:solidFill>
              <a:srgbClr val="D5D8E0"/>
            </a:solidFill>
          </a:ln>
        </p:spPr>
      </p:pic>
      <p:sp>
        <p:nvSpPr>
          <p:cNvPr id="5025" name="Rounded Rectangle 5024"/>
          <p:cNvSpPr/>
          <p:nvPr/>
        </p:nvSpPr>
        <p:spPr>
          <a:xfrm>
            <a:off x="7191404" y="2432304"/>
            <a:ext cx="734334" cy="221566"/>
          </a:xfrm>
          <a:prstGeom prst="roundRect">
            <a:avLst>
              <a:gd name="adj" fmla="val 20634"/>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7020412" y="251396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7894086" y="2432304"/>
            <a:ext cx="2342271" cy="227897"/>
          </a:xfrm>
          <a:prstGeom prst="roundRect">
            <a:avLst>
              <a:gd name="adj" fmla="val 20061"/>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7723093" y="252029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3899564" y="4052902"/>
            <a:ext cx="2709438" cy="1886478"/>
          </a:xfrm>
          <a:prstGeom prst="roundRect">
            <a:avLst>
              <a:gd name="adj" fmla="val 2423"/>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3728572" y="388190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Oval 5030"/>
          <p:cNvSpPr/>
          <p:nvPr/>
        </p:nvSpPr>
        <p:spPr>
          <a:xfrm>
            <a:off x="7798496" y="299564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2" name="Rounded Rectangle 5031"/>
          <p:cNvSpPr/>
          <p:nvPr/>
        </p:nvSpPr>
        <p:spPr>
          <a:xfrm>
            <a:off x="6241835" y="3989598"/>
            <a:ext cx="303862" cy="303862"/>
          </a:xfrm>
          <a:prstGeom prst="roundRect">
            <a:avLst>
              <a:gd name="adj" fmla="val 15046"/>
            </a:avLst>
          </a:prstGeom>
          <a:noFill/>
          <a:ln w="28575">
            <a:solidFill>
              <a:srgbClr val="E8742A"/>
            </a:solidFill>
          </a:ln>
        </p:spPr>
        <p:txBody>
          <a:bodyPr wrap="square" lIns="0" tIns="0" rIns="0" bIns="0" rtlCol="0" anchor="ctr">
            <a:noAutofit/>
          </a:bodyPr>
          <a:lstStyle/>
          <a:p>
            <a:pPr algn="ctr"/>
            <a:endParaRPr/>
          </a:p>
        </p:txBody>
      </p:sp>
      <p:sp>
        <p:nvSpPr>
          <p:cNvPr id="5033" name="Oval 5032"/>
          <p:cNvSpPr/>
          <p:nvPr/>
        </p:nvSpPr>
        <p:spPr>
          <a:xfrm>
            <a:off x="6582273" y="398608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4" name="Rounded Rectangle 5033"/>
          <p:cNvSpPr/>
          <p:nvPr/>
        </p:nvSpPr>
        <p:spPr>
          <a:xfrm>
            <a:off x="9761572" y="2698183"/>
            <a:ext cx="455793" cy="455793"/>
          </a:xfrm>
          <a:prstGeom prst="roundRect">
            <a:avLst>
              <a:gd name="adj" fmla="val 10030"/>
            </a:avLst>
          </a:prstGeom>
          <a:noFill/>
          <a:ln w="28575">
            <a:solidFill>
              <a:srgbClr val="E8742A"/>
            </a:solidFill>
          </a:ln>
        </p:spPr>
        <p:txBody>
          <a:bodyPr wrap="square" lIns="0" tIns="0" rIns="0" bIns="0" rtlCol="0" anchor="ctr">
            <a:noAutofit/>
          </a:bodyPr>
          <a:lstStyle/>
          <a:p>
            <a:pPr algn="ctr"/>
            <a:endParaRPr/>
          </a:p>
        </p:txBody>
      </p:sp>
      <p:sp>
        <p:nvSpPr>
          <p:cNvPr id="5035" name="Oval 5034"/>
          <p:cNvSpPr/>
          <p:nvPr/>
        </p:nvSpPr>
        <p:spPr>
          <a:xfrm>
            <a:off x="9414100" y="277063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6" name="Rectangle 5035"/>
          <p:cNvSpPr/>
          <p:nvPr/>
        </p:nvSpPr>
        <p:spPr>
          <a:xfrm>
            <a:off x="10575388" y="2432304"/>
            <a:ext cx="6889652"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실행 중 — 진행률 표시</a:t>
            </a:r>
            <a:endParaRPr lang="ko-KR" altLang="en-US" sz="1250"/>
          </a:p>
        </p:txBody>
      </p:sp>
      <p:pic>
        <p:nvPicPr>
          <p:cNvPr id="5037" name="Picture 5036" descr="image.jpg"/>
          <p:cNvPicPr>
            <a:picLocks noChangeAspect="1"/>
          </p:cNvPicPr>
          <p:nvPr/>
        </p:nvPicPr>
        <p:blipFill>
          <a:blip r:embed="rId7"/>
          <a:stretch>
            <a:fillRect/>
          </a:stretch>
        </p:blipFill>
        <p:spPr>
          <a:xfrm>
            <a:off x="10575388" y="2743200"/>
            <a:ext cx="6889652" cy="688965"/>
          </a:xfrm>
          <a:prstGeom prst="rect">
            <a:avLst/>
          </a:prstGeom>
          <a:ln w="9525">
            <a:solidFill>
              <a:srgbClr val="D5D8E0"/>
            </a:solidFill>
          </a:ln>
        </p:spPr>
      </p:pic>
      <p:sp>
        <p:nvSpPr>
          <p:cNvPr id="5038" name="Oval 5037"/>
          <p:cNvSpPr/>
          <p:nvPr/>
        </p:nvSpPr>
        <p:spPr>
          <a:xfrm>
            <a:off x="10575388" y="3669909"/>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39" name="TextBox 5038"/>
          <p:cNvSpPr txBox="1"/>
          <p:nvPr/>
        </p:nvSpPr>
        <p:spPr>
          <a:xfrm>
            <a:off x="10977724" y="3651621"/>
            <a:ext cx="6487316"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확산 예측 실행 → 「다시 예측」</a:t>
            </a:r>
            <a:endParaRPr lang="ko-KR" altLang="en-US" sz="1400"/>
          </a:p>
        </p:txBody>
      </p:sp>
      <p:sp>
        <p:nvSpPr>
          <p:cNvPr id="5040" name="TextBox 5039"/>
          <p:cNvSpPr txBox="1"/>
          <p:nvPr/>
        </p:nvSpPr>
        <p:spPr>
          <a:xfrm>
            <a:off x="10977724" y="3910447"/>
            <a:ext cx="648731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통합지휘권자가 누를 때만 실행(자동 갱신 없음), 실패하면 이전 결과 유지. 새 실측 화선이 보고되면 버튼 옆에 「재예측 필요」</a:t>
            </a:r>
            <a:endParaRPr lang="ko-KR" altLang="en-US" sz="1250"/>
          </a:p>
        </p:txBody>
      </p:sp>
      <p:sp>
        <p:nvSpPr>
          <p:cNvPr id="5041" name="Oval 5040"/>
          <p:cNvSpPr/>
          <p:nvPr/>
        </p:nvSpPr>
        <p:spPr>
          <a:xfrm>
            <a:off x="10575388" y="4430131"/>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2" name="TextBox 5041"/>
          <p:cNvSpPr txBox="1"/>
          <p:nvPr/>
        </p:nvSpPr>
        <p:spPr>
          <a:xfrm>
            <a:off x="10977724" y="4411843"/>
            <a:ext cx="6487316"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시간별 재생</a:t>
            </a:r>
            <a:endParaRPr lang="ko-KR" altLang="en-US" sz="1400"/>
          </a:p>
        </p:txBody>
      </p:sp>
      <p:sp>
        <p:nvSpPr>
          <p:cNvPr id="5043" name="TextBox 5042"/>
          <p:cNvSpPr txBox="1"/>
          <p:nvPr/>
        </p:nvSpPr>
        <p:spPr>
          <a:xfrm>
            <a:off x="10977724" y="4670669"/>
            <a:ext cx="648731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재생·처음으로·시간 막대·속도(1×·2×·4×), 재생 시각까지 범위를 채움</a:t>
            </a:r>
            <a:endParaRPr lang="ko-KR" altLang="en-US" sz="1250"/>
          </a:p>
        </p:txBody>
      </p:sp>
      <p:sp>
        <p:nvSpPr>
          <p:cNvPr id="5044" name="Oval 5043"/>
          <p:cNvSpPr/>
          <p:nvPr/>
        </p:nvSpPr>
        <p:spPr>
          <a:xfrm>
            <a:off x="10575388" y="4980803"/>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45" name="TextBox 5044"/>
          <p:cNvSpPr txBox="1"/>
          <p:nvPr/>
        </p:nvSpPr>
        <p:spPr>
          <a:xfrm>
            <a:off x="10977724" y="4962515"/>
            <a:ext cx="6487316"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1시간 간격 확산 범위 P1~P8</a:t>
            </a:r>
            <a:endParaRPr lang="ko-KR" altLang="en-US" sz="1400"/>
          </a:p>
        </p:txBody>
      </p:sp>
      <p:sp>
        <p:nvSpPr>
          <p:cNvPr id="5046" name="TextBox 5045"/>
          <p:cNvSpPr txBox="1"/>
          <p:nvPr/>
        </p:nvSpPr>
        <p:spPr>
          <a:xfrm>
            <a:off x="10977724" y="5221341"/>
            <a:ext cx="648731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최신 실측 화선(없으면 발화점)과 기상으로 계산, 5h 1,593 ha</a:t>
            </a:r>
            <a:endParaRPr lang="ko-KR" altLang="en-US" sz="1250"/>
          </a:p>
        </p:txBody>
      </p:sp>
      <p:sp>
        <p:nvSpPr>
          <p:cNvPr id="5047" name="Oval 5046"/>
          <p:cNvSpPr/>
          <p:nvPr/>
        </p:nvSpPr>
        <p:spPr>
          <a:xfrm>
            <a:off x="10575388" y="5531475"/>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48" name="TextBox 5047"/>
          <p:cNvSpPr txBox="1"/>
          <p:nvPr/>
        </p:nvSpPr>
        <p:spPr>
          <a:xfrm>
            <a:off x="10977724" y="5513187"/>
            <a:ext cx="6487316"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위험구역(P5) · 잠재 위험구역(P8)</a:t>
            </a:r>
            <a:endParaRPr lang="ko-KR" altLang="en-US" sz="1400"/>
          </a:p>
        </p:txBody>
      </p:sp>
      <p:sp>
        <p:nvSpPr>
          <p:cNvPr id="5049" name="TextBox 5048"/>
          <p:cNvSpPr txBox="1"/>
          <p:nvPr/>
        </p:nvSpPr>
        <p:spPr>
          <a:xfrm>
            <a:off x="10977724" y="5772013"/>
            <a:ext cx="648731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P5 붉은 면, P8 점선</a:t>
            </a:r>
            <a:endParaRPr lang="ko-KR" altLang="en-US" sz="1250"/>
          </a:p>
        </p:txBody>
      </p:sp>
      <p:sp>
        <p:nvSpPr>
          <p:cNvPr id="5050" name="Oval 5049"/>
          <p:cNvSpPr/>
          <p:nvPr/>
        </p:nvSpPr>
        <p:spPr>
          <a:xfrm>
            <a:off x="10575388" y="6082147"/>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1" name="TextBox 5050"/>
          <p:cNvSpPr txBox="1"/>
          <p:nvPr/>
        </p:nvSpPr>
        <p:spPr>
          <a:xfrm>
            <a:off x="10977724" y="6063859"/>
            <a:ext cx="6487316"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확산 범위에 든 마을</a:t>
            </a:r>
            <a:endParaRPr lang="ko-KR" altLang="en-US" sz="1400"/>
          </a:p>
        </p:txBody>
      </p:sp>
      <p:sp>
        <p:nvSpPr>
          <p:cNvPr id="5052" name="TextBox 5051"/>
          <p:cNvSpPr txBox="1"/>
          <p:nvPr/>
        </p:nvSpPr>
        <p:spPr>
          <a:xfrm>
            <a:off x="10977724" y="6322685"/>
            <a:ext cx="648731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재생 시각에 화선이 닿은 마을은 붉게</a:t>
            </a:r>
            <a:endParaRPr lang="ko-KR" altLang="en-US" sz="1250"/>
          </a:p>
        </p:txBody>
      </p:sp>
      <p:sp>
        <p:nvSpPr>
          <p:cNvPr id="5053" name="Oval 5052"/>
          <p:cNvSpPr/>
          <p:nvPr/>
        </p:nvSpPr>
        <p:spPr>
          <a:xfrm>
            <a:off x="10575388" y="6632819"/>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54" name="TextBox 5053"/>
          <p:cNvSpPr txBox="1"/>
          <p:nvPr/>
        </p:nvSpPr>
        <p:spPr>
          <a:xfrm>
            <a:off x="10977724" y="6614531"/>
            <a:ext cx="6487316"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산불 위험도 생성</a:t>
            </a:r>
            <a:endParaRPr lang="ko-KR" altLang="en-US" sz="1400"/>
          </a:p>
        </p:txBody>
      </p:sp>
      <p:sp>
        <p:nvSpPr>
          <p:cNvPr id="5055" name="TextBox 5054"/>
          <p:cNvSpPr txBox="1"/>
          <p:nvPr/>
        </p:nvSpPr>
        <p:spPr>
          <a:xfrm>
            <a:off x="10977724" y="6873357"/>
            <a:ext cx="648731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예측 1회마다 P5 기준 위험도 1개</a:t>
            </a:r>
            <a:endParaRPr lang="ko-KR" altLang="en-US" sz="1250"/>
          </a:p>
        </p:txBody>
      </p:sp>
      <p:sp>
        <p:nvSpPr>
          <p:cNvPr id="5056" name="Rounded Rectangle 5055"/>
          <p:cNvSpPr/>
          <p:nvPr/>
        </p:nvSpPr>
        <p:spPr>
          <a:xfrm>
            <a:off x="10575388"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7" name="TextBox 5056"/>
          <p:cNvSpPr txBox="1"/>
          <p:nvPr/>
        </p:nvSpPr>
        <p:spPr>
          <a:xfrm>
            <a:off x="11718388" y="8769096"/>
            <a:ext cx="5746652"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F-09 확산 예측 실행·갱신 · F-05 · UC-PRED-01 · UC-SIT-03</a:t>
            </a:r>
            <a:endParaRPr lang="ko-KR" altLang="en-US" sz="1200"/>
          </a:p>
        </p:txBody>
      </p:sp>
      <p:sp>
        <p:nvSpPr>
          <p:cNvPr id="5058"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746711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③ 산불 위험도 — 열람자도 열람 (UC-PRED-02)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5024" name="Rectangle 5023"/>
          <p:cNvSpPr/>
          <p:nvPr/>
        </p:nvSpPr>
        <p:spPr>
          <a:xfrm>
            <a:off x="822960" y="2432304"/>
            <a:ext cx="566928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지도 오른쪽 위 네모 → 상세 팝업</a:t>
            </a:r>
            <a:endParaRPr lang="ko-KR" altLang="en-US" sz="1250"/>
          </a:p>
        </p:txBody>
      </p:sp>
      <p:pic>
        <p:nvPicPr>
          <p:cNvPr id="5025" name="Picture 5024" descr="image.jpg"/>
          <p:cNvPicPr>
            <a:picLocks noChangeAspect="1"/>
          </p:cNvPicPr>
          <p:nvPr/>
        </p:nvPicPr>
        <p:blipFill>
          <a:blip r:embed="rId6"/>
          <a:stretch>
            <a:fillRect/>
          </a:stretch>
        </p:blipFill>
        <p:spPr>
          <a:xfrm>
            <a:off x="822960" y="2743200"/>
            <a:ext cx="5318185" cy="6263640"/>
          </a:xfrm>
          <a:prstGeom prst="rect">
            <a:avLst/>
          </a:prstGeom>
          <a:ln w="9525">
            <a:solidFill>
              <a:srgbClr val="D5D8E0"/>
            </a:solidFill>
          </a:ln>
        </p:spPr>
      </p:pic>
      <p:sp>
        <p:nvSpPr>
          <p:cNvPr id="5026" name="Rounded Rectangle 5025"/>
          <p:cNvSpPr/>
          <p:nvPr/>
        </p:nvSpPr>
        <p:spPr>
          <a:xfrm>
            <a:off x="4988872" y="2831836"/>
            <a:ext cx="1063637" cy="1063637"/>
          </a:xfrm>
          <a:prstGeom prst="roundRect">
            <a:avLst>
              <a:gd name="adj" fmla="val 4298"/>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4641400" y="320820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1207051" y="3895473"/>
            <a:ext cx="4845457" cy="1226137"/>
          </a:xfrm>
          <a:prstGeom prst="roundRect">
            <a:avLst>
              <a:gd name="adj" fmla="val 3728"/>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859579" y="435309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ounded Rectangle 5029"/>
          <p:cNvSpPr/>
          <p:nvPr/>
        </p:nvSpPr>
        <p:spPr>
          <a:xfrm>
            <a:off x="1207051" y="5047747"/>
            <a:ext cx="4845457" cy="2186365"/>
          </a:xfrm>
          <a:prstGeom prst="roundRect">
            <a:avLst>
              <a:gd name="adj" fmla="val 2091"/>
            </a:avLst>
          </a:prstGeom>
          <a:noFill/>
          <a:ln w="28575">
            <a:solidFill>
              <a:srgbClr val="E8742A"/>
            </a:solidFill>
          </a:ln>
        </p:spPr>
        <p:txBody>
          <a:bodyPr wrap="square" lIns="0" tIns="0" rIns="0" bIns="0" rtlCol="0" anchor="ctr">
            <a:noAutofit/>
          </a:bodyPr>
          <a:lstStyle/>
          <a:p>
            <a:pPr algn="ctr"/>
            <a:endParaRPr/>
          </a:p>
        </p:txBody>
      </p:sp>
      <p:sp>
        <p:nvSpPr>
          <p:cNvPr id="5031" name="Oval 5030"/>
          <p:cNvSpPr/>
          <p:nvPr/>
        </p:nvSpPr>
        <p:spPr>
          <a:xfrm>
            <a:off x="859579" y="598548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2" name="Rounded Rectangle 5031"/>
          <p:cNvSpPr/>
          <p:nvPr/>
        </p:nvSpPr>
        <p:spPr>
          <a:xfrm>
            <a:off x="1207051" y="7145475"/>
            <a:ext cx="4845457" cy="1152273"/>
          </a:xfrm>
          <a:prstGeom prst="roundRect">
            <a:avLst>
              <a:gd name="adj" fmla="val 3967"/>
            </a:avLst>
          </a:prstGeom>
          <a:noFill/>
          <a:ln w="28575">
            <a:solidFill>
              <a:srgbClr val="E8742A"/>
            </a:solidFill>
          </a:ln>
        </p:spPr>
        <p:txBody>
          <a:bodyPr wrap="square" lIns="0" tIns="0" rIns="0" bIns="0" rtlCol="0" anchor="ctr">
            <a:noAutofit/>
          </a:bodyPr>
          <a:lstStyle/>
          <a:p>
            <a:pPr algn="ctr"/>
            <a:endParaRPr/>
          </a:p>
        </p:txBody>
      </p:sp>
      <p:sp>
        <p:nvSpPr>
          <p:cNvPr id="5033" name="Oval 5032"/>
          <p:cNvSpPr/>
          <p:nvPr/>
        </p:nvSpPr>
        <p:spPr>
          <a:xfrm>
            <a:off x="859579" y="756616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4" name="Rounded Rectangle 5033"/>
          <p:cNvSpPr/>
          <p:nvPr/>
        </p:nvSpPr>
        <p:spPr>
          <a:xfrm>
            <a:off x="1310460" y="8223885"/>
            <a:ext cx="4638639" cy="487500"/>
          </a:xfrm>
          <a:prstGeom prst="roundRect">
            <a:avLst>
              <a:gd name="adj" fmla="val 9378"/>
            </a:avLst>
          </a:prstGeom>
          <a:noFill/>
          <a:ln w="28575">
            <a:solidFill>
              <a:srgbClr val="E8742A"/>
            </a:solidFill>
          </a:ln>
        </p:spPr>
        <p:txBody>
          <a:bodyPr wrap="square" lIns="0" tIns="0" rIns="0" bIns="0" rtlCol="0" anchor="ctr">
            <a:noAutofit/>
          </a:bodyPr>
          <a:lstStyle/>
          <a:p>
            <a:pPr algn="ctr"/>
            <a:endParaRPr/>
          </a:p>
        </p:txBody>
      </p:sp>
      <p:sp>
        <p:nvSpPr>
          <p:cNvPr id="5035" name="Oval 5034"/>
          <p:cNvSpPr/>
          <p:nvPr/>
        </p:nvSpPr>
        <p:spPr>
          <a:xfrm>
            <a:off x="962988" y="831218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6" name="Rectangle 5035"/>
          <p:cNvSpPr/>
          <p:nvPr/>
        </p:nvSpPr>
        <p:spPr>
          <a:xfrm>
            <a:off x="6766560" y="2432304"/>
            <a:ext cx="548640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「요소별 지표」 — 23개 변수 표</a:t>
            </a:r>
            <a:endParaRPr lang="ko-KR" altLang="en-US" sz="1250"/>
          </a:p>
        </p:txBody>
      </p:sp>
      <p:pic>
        <p:nvPicPr>
          <p:cNvPr id="5037" name="Picture 5036" descr="image.jpg"/>
          <p:cNvPicPr>
            <a:picLocks noChangeAspect="1"/>
          </p:cNvPicPr>
          <p:nvPr/>
        </p:nvPicPr>
        <p:blipFill>
          <a:blip r:embed="rId7"/>
          <a:stretch>
            <a:fillRect/>
          </a:stretch>
        </p:blipFill>
        <p:spPr>
          <a:xfrm>
            <a:off x="6766560" y="2743200"/>
            <a:ext cx="5669078" cy="6263640"/>
          </a:xfrm>
          <a:prstGeom prst="rect">
            <a:avLst/>
          </a:prstGeom>
          <a:ln w="9525">
            <a:solidFill>
              <a:srgbClr val="D5D8E0"/>
            </a:solidFill>
          </a:ln>
        </p:spPr>
      </p:pic>
      <p:sp>
        <p:nvSpPr>
          <p:cNvPr id="5038" name="Rounded Rectangle 5037"/>
          <p:cNvSpPr/>
          <p:nvPr/>
        </p:nvSpPr>
        <p:spPr>
          <a:xfrm>
            <a:off x="6808041" y="2943692"/>
            <a:ext cx="5586116" cy="262713"/>
          </a:xfrm>
          <a:prstGeom prst="roundRect">
            <a:avLst>
              <a:gd name="adj" fmla="val 17402"/>
            </a:avLst>
          </a:prstGeom>
          <a:noFill/>
          <a:ln w="28575">
            <a:solidFill>
              <a:srgbClr val="E8742A"/>
            </a:solidFill>
          </a:ln>
        </p:spPr>
        <p:txBody>
          <a:bodyPr wrap="square" lIns="0" tIns="0" rIns="0" bIns="0" rtlCol="0" anchor="ctr">
            <a:noAutofit/>
          </a:bodyPr>
          <a:lstStyle/>
          <a:p>
            <a:pPr algn="ctr"/>
            <a:endParaRPr/>
          </a:p>
        </p:txBody>
      </p:sp>
      <p:sp>
        <p:nvSpPr>
          <p:cNvPr id="5039" name="Oval 5038"/>
          <p:cNvSpPr/>
          <p:nvPr/>
        </p:nvSpPr>
        <p:spPr>
          <a:xfrm>
            <a:off x="6637048" y="277269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40" name="Oval 5039"/>
          <p:cNvSpPr/>
          <p:nvPr/>
        </p:nvSpPr>
        <p:spPr>
          <a:xfrm>
            <a:off x="12573000" y="247802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41" name="TextBox 5040"/>
          <p:cNvSpPr txBox="1"/>
          <p:nvPr/>
        </p:nvSpPr>
        <p:spPr>
          <a:xfrm>
            <a:off x="12975336" y="2459736"/>
            <a:ext cx="448970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위험도 네모</a:t>
            </a:r>
            <a:endParaRPr lang="ko-KR" altLang="en-US" sz="1400"/>
          </a:p>
        </p:txBody>
      </p:sp>
      <p:sp>
        <p:nvSpPr>
          <p:cNvPr id="5042" name="TextBox 5041"/>
          <p:cNvSpPr txBox="1"/>
          <p:nvPr/>
        </p:nvSpPr>
        <p:spPr>
          <a:xfrm>
            <a:off x="12975336" y="2718562"/>
            <a:ext cx="4489704"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숫자 하나(1.00~5.00), 구간 색 — 4 이상 빨강·3 이상 주황·2 이상 노랑·그 아래 파랑</a:t>
            </a:r>
            <a:endParaRPr lang="ko-KR" altLang="en-US" sz="1250"/>
          </a:p>
        </p:txBody>
      </p:sp>
      <p:sp>
        <p:nvSpPr>
          <p:cNvPr id="5043" name="Oval 5042"/>
          <p:cNvSpPr/>
          <p:nvPr/>
        </p:nvSpPr>
        <p:spPr>
          <a:xfrm>
            <a:off x="12573000" y="3238246"/>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4" name="TextBox 5043"/>
          <p:cNvSpPr txBox="1"/>
          <p:nvPr/>
        </p:nvSpPr>
        <p:spPr>
          <a:xfrm>
            <a:off x="12975336" y="3219958"/>
            <a:ext cx="448970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위험도와 1~5 눈금</a:t>
            </a:r>
            <a:endParaRPr lang="ko-KR" altLang="en-US" sz="1400"/>
          </a:p>
        </p:txBody>
      </p:sp>
      <p:sp>
        <p:nvSpPr>
          <p:cNvPr id="5045" name="Oval 5044"/>
          <p:cNvSpPr/>
          <p:nvPr/>
        </p:nvSpPr>
        <p:spPr>
          <a:xfrm>
            <a:off x="12573000" y="3604006"/>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46" name="TextBox 5045"/>
          <p:cNvSpPr txBox="1"/>
          <p:nvPr/>
        </p:nvSpPr>
        <p:spPr>
          <a:xfrm>
            <a:off x="12975336" y="3585718"/>
            <a:ext cx="448970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4요소 점수·가중치</a:t>
            </a:r>
            <a:endParaRPr lang="ko-KR" altLang="en-US" sz="1400"/>
          </a:p>
        </p:txBody>
      </p:sp>
      <p:sp>
        <p:nvSpPr>
          <p:cNvPr id="5047" name="TextBox 5046"/>
          <p:cNvSpPr txBox="1"/>
          <p:nvPr/>
        </p:nvSpPr>
        <p:spPr>
          <a:xfrm>
            <a:off x="12975336" y="3844544"/>
            <a:ext cx="4489704"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기상 0.372 · 지형 0.287 · 연료 0.266 · 인프라 0.074</a:t>
            </a:r>
            <a:endParaRPr lang="ko-KR" altLang="en-US" sz="1250"/>
          </a:p>
        </p:txBody>
      </p:sp>
      <p:sp>
        <p:nvSpPr>
          <p:cNvPr id="5048" name="Oval 5047"/>
          <p:cNvSpPr/>
          <p:nvPr/>
        </p:nvSpPr>
        <p:spPr>
          <a:xfrm>
            <a:off x="12573000" y="4154678"/>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49" name="TextBox 5048"/>
          <p:cNvSpPr txBox="1"/>
          <p:nvPr/>
        </p:nvSpPr>
        <p:spPr>
          <a:xfrm>
            <a:off x="12975336" y="4136390"/>
            <a:ext cx="448970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기준 화선·P5·계산 시각</a:t>
            </a:r>
            <a:endParaRPr lang="ko-KR" altLang="en-US" sz="1400"/>
          </a:p>
        </p:txBody>
      </p:sp>
      <p:sp>
        <p:nvSpPr>
          <p:cNvPr id="5050" name="TextBox 5049"/>
          <p:cNvSpPr txBox="1"/>
          <p:nvPr/>
        </p:nvSpPr>
        <p:spPr>
          <a:xfrm>
            <a:off x="12975336" y="4395216"/>
            <a:ext cx="4489704"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어느 예측 결과로 계산했는지 표시</a:t>
            </a:r>
            <a:endParaRPr lang="ko-KR" altLang="en-US" sz="1250"/>
          </a:p>
        </p:txBody>
      </p:sp>
      <p:sp>
        <p:nvSpPr>
          <p:cNvPr id="5051" name="Oval 5050"/>
          <p:cNvSpPr/>
          <p:nvPr/>
        </p:nvSpPr>
        <p:spPr>
          <a:xfrm>
            <a:off x="12573000" y="4705350"/>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2" name="TextBox 5051"/>
          <p:cNvSpPr txBox="1"/>
          <p:nvPr/>
        </p:nvSpPr>
        <p:spPr>
          <a:xfrm>
            <a:off x="12975336" y="4687062"/>
            <a:ext cx="448970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「요소별 지표」</a:t>
            </a:r>
            <a:endParaRPr lang="ko-KR" altLang="en-US" sz="1400"/>
          </a:p>
        </p:txBody>
      </p:sp>
      <p:sp>
        <p:nvSpPr>
          <p:cNvPr id="5053" name="TextBox 5052"/>
          <p:cNvSpPr txBox="1"/>
          <p:nvPr/>
        </p:nvSpPr>
        <p:spPr>
          <a:xfrm>
            <a:off x="12975336" y="4945888"/>
            <a:ext cx="4489704"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팝업으로 23개 변수 표를 엶</a:t>
            </a:r>
            <a:endParaRPr lang="ko-KR" altLang="en-US" sz="1250"/>
          </a:p>
        </p:txBody>
      </p:sp>
      <p:sp>
        <p:nvSpPr>
          <p:cNvPr id="5054" name="Oval 5053"/>
          <p:cNvSpPr/>
          <p:nvPr/>
        </p:nvSpPr>
        <p:spPr>
          <a:xfrm>
            <a:off x="12573000" y="5256022"/>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55" name="TextBox 5054"/>
          <p:cNvSpPr txBox="1"/>
          <p:nvPr/>
        </p:nvSpPr>
        <p:spPr>
          <a:xfrm>
            <a:off x="12975336" y="5237734"/>
            <a:ext cx="448970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변수명·값·단위·가중치·등급</a:t>
            </a:r>
            <a:endParaRPr lang="ko-KR" altLang="en-US" sz="1400"/>
          </a:p>
        </p:txBody>
      </p:sp>
      <p:sp>
        <p:nvSpPr>
          <p:cNvPr id="5056" name="TextBox 5055"/>
          <p:cNvSpPr txBox="1"/>
          <p:nvPr/>
        </p:nvSpPr>
        <p:spPr>
          <a:xfrm>
            <a:off x="12975336" y="5496560"/>
            <a:ext cx="4489704"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가져오지 못한 변수는 빼고 계산하고 경고 표시</a:t>
            </a:r>
            <a:endParaRPr lang="ko-KR" altLang="en-US" sz="1250"/>
          </a:p>
        </p:txBody>
      </p:sp>
      <p:sp>
        <p:nvSpPr>
          <p:cNvPr id="5057" name="Rounded Rectangle 5056"/>
          <p:cNvSpPr/>
          <p:nvPr/>
        </p:nvSpPr>
        <p:spPr>
          <a:xfrm>
            <a:off x="12573000" y="5843270"/>
            <a:ext cx="4892040" cy="868680"/>
          </a:xfrm>
          <a:prstGeom prst="roundRect">
            <a:avLst>
              <a:gd name="adj" fmla="val 10526"/>
            </a:avLst>
          </a:prstGeom>
          <a:solidFill>
            <a:srgbClr val="FDF1E6"/>
          </a:solidFill>
          <a:ln>
            <a:noFill/>
          </a:ln>
        </p:spPr>
        <p:txBody>
          <a:bodyPr wrap="square" lIns="0" tIns="0" rIns="0" bIns="0" rtlCol="0" anchor="ctr">
            <a:noAutofit/>
          </a:bodyPr>
          <a:lstStyle/>
          <a:p>
            <a:pPr algn="ctr"/>
            <a:endParaRPr/>
          </a:p>
        </p:txBody>
      </p:sp>
      <p:sp>
        <p:nvSpPr>
          <p:cNvPr id="5058" name="TextBox 5057"/>
          <p:cNvSpPr txBox="1"/>
          <p:nvPr/>
        </p:nvSpPr>
        <p:spPr>
          <a:xfrm>
            <a:off x="12755880" y="5888990"/>
            <a:ext cx="4526280" cy="77724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0" dirty="0">
                <a:solidFill>
                  <a:srgbClr val="B5601C"/>
                </a:solidFill>
                <a:latin typeface="210 OmniGothic 030"/>
                <a:ea typeface="210 OmniGothic 030"/>
                <a:cs typeface="210 OmniGothic 030"/>
              </a:rPr>
              <a:t>예측 전, 산불 미선택, 종료된 산불에서는 네모를 숨긴다. 열람자도 같은 네모·팝업을 본다.</a:t>
            </a:r>
            <a:endParaRPr lang="ko-KR" altLang="en-US" sz="1250"/>
          </a:p>
        </p:txBody>
      </p:sp>
      <p:sp>
        <p:nvSpPr>
          <p:cNvPr id="5059" name="Rounded Rectangle 5058"/>
          <p:cNvSpPr/>
          <p:nvPr/>
        </p:nvSpPr>
        <p:spPr>
          <a:xfrm>
            <a:off x="1257300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60" name="TextBox 5059"/>
          <p:cNvSpPr txBox="1"/>
          <p:nvPr/>
        </p:nvSpPr>
        <p:spPr>
          <a:xfrm>
            <a:off x="13716000" y="8769096"/>
            <a:ext cx="374904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F-10 산불 위험도 조회 · UC-PRED-02(통합지휘권자·열람자)</a:t>
            </a:r>
            <a:endParaRPr lang="ko-KR" altLang="en-US" sz="1200"/>
          </a:p>
        </p:txBody>
      </p:sp>
      <p:sp>
        <p:nvSpPr>
          <p:cNvPr id="5061"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2989973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④ 진화 대응 제안 S1~S7 (UC-PROP-01)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32</a:t>
            </a:fld>
            <a:endParaRPr lang="en-US"/>
          </a:p>
        </p:txBody>
      </p:sp>
      <p:pic>
        <p:nvPicPr>
          <p:cNvPr id="5024" name="Picture 5023" descr="image.jpg"/>
          <p:cNvPicPr>
            <a:picLocks noChangeAspect="1"/>
          </p:cNvPicPr>
          <p:nvPr/>
        </p:nvPicPr>
        <p:blipFill>
          <a:blip r:embed="rId6"/>
          <a:stretch>
            <a:fillRect/>
          </a:stretch>
        </p:blipFill>
        <p:spPr>
          <a:xfrm>
            <a:off x="822960" y="2432304"/>
            <a:ext cx="3802524" cy="6629400"/>
          </a:xfrm>
          <a:prstGeom prst="rect">
            <a:avLst/>
          </a:prstGeom>
          <a:ln w="9525">
            <a:solidFill>
              <a:srgbClr val="D5D8E0"/>
            </a:solidFill>
          </a:ln>
        </p:spPr>
      </p:pic>
      <p:sp>
        <p:nvSpPr>
          <p:cNvPr id="5025" name="Rounded Rectangle 5024"/>
          <p:cNvSpPr/>
          <p:nvPr/>
        </p:nvSpPr>
        <p:spPr>
          <a:xfrm>
            <a:off x="872993" y="2448982"/>
            <a:ext cx="3694118" cy="216811"/>
          </a:xfrm>
          <a:prstGeom prst="roundRect">
            <a:avLst>
              <a:gd name="adj" fmla="val 21087"/>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702000" y="227798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872993" y="2640776"/>
            <a:ext cx="3694118" cy="600398"/>
          </a:xfrm>
          <a:prstGeom prst="roundRect">
            <a:avLst>
              <a:gd name="adj" fmla="val 7614"/>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4427208" y="246978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872993" y="3224496"/>
            <a:ext cx="3694118" cy="466977"/>
          </a:xfrm>
          <a:prstGeom prst="roundRect">
            <a:avLst>
              <a:gd name="adj" fmla="val 9790"/>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4427208" y="305350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872993" y="3699812"/>
            <a:ext cx="3694118" cy="1384252"/>
          </a:xfrm>
          <a:prstGeom prst="roundRect">
            <a:avLst>
              <a:gd name="adj" fmla="val 3302"/>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4427208" y="352881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906349" y="7185459"/>
            <a:ext cx="3652424" cy="1784518"/>
          </a:xfrm>
          <a:prstGeom prst="roundRect">
            <a:avLst>
              <a:gd name="adj" fmla="val 2562"/>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4418870" y="7014466"/>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Rounded Rectangle 5034"/>
          <p:cNvSpPr/>
          <p:nvPr/>
        </p:nvSpPr>
        <p:spPr>
          <a:xfrm>
            <a:off x="939704" y="7002004"/>
            <a:ext cx="3585713" cy="266844"/>
          </a:xfrm>
          <a:prstGeom prst="roundRect">
            <a:avLst>
              <a:gd name="adj" fmla="val 17133"/>
            </a:avLst>
          </a:prstGeom>
          <a:noFill/>
          <a:ln w="28575">
            <a:solidFill>
              <a:srgbClr val="E8742A"/>
            </a:solidFill>
          </a:ln>
        </p:spPr>
        <p:txBody>
          <a:bodyPr wrap="square" lIns="0" tIns="0" rIns="0" bIns="0" rtlCol="0" anchor="ctr">
            <a:noAutofit/>
          </a:bodyPr>
          <a:lstStyle/>
          <a:p>
            <a:pPr algn="ctr"/>
            <a:endParaRPr/>
          </a:p>
        </p:txBody>
      </p:sp>
      <p:sp>
        <p:nvSpPr>
          <p:cNvPr id="5036" name="Oval 5035"/>
          <p:cNvSpPr/>
          <p:nvPr/>
        </p:nvSpPr>
        <p:spPr>
          <a:xfrm>
            <a:off x="768711" y="683101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7" name="Rectangle 5036"/>
          <p:cNvSpPr/>
          <p:nvPr/>
        </p:nvSpPr>
        <p:spPr>
          <a:xfrm>
            <a:off x="4991244" y="2432304"/>
            <a:ext cx="12473796"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제안 문장 예시 (S3 진화자원 투입·배분·재배치, 펼친 상태)</a:t>
            </a:r>
            <a:endParaRPr lang="ko-KR" altLang="en-US" sz="1250"/>
          </a:p>
        </p:txBody>
      </p:sp>
      <p:pic>
        <p:nvPicPr>
          <p:cNvPr id="5038" name="Picture 5037" descr="image.jpg"/>
          <p:cNvPicPr>
            <a:picLocks noChangeAspect="1"/>
          </p:cNvPicPr>
          <p:nvPr/>
        </p:nvPicPr>
        <p:blipFill>
          <a:blip r:embed="rId7"/>
          <a:stretch>
            <a:fillRect/>
          </a:stretch>
        </p:blipFill>
        <p:spPr>
          <a:xfrm>
            <a:off x="4991244" y="2743200"/>
            <a:ext cx="9429750" cy="3429000"/>
          </a:xfrm>
          <a:prstGeom prst="rect">
            <a:avLst/>
          </a:prstGeom>
          <a:ln w="9525">
            <a:solidFill>
              <a:srgbClr val="D5D8E0"/>
            </a:solidFill>
          </a:ln>
        </p:spPr>
      </p:pic>
      <p:sp>
        <p:nvSpPr>
          <p:cNvPr id="5039" name="Oval 5038"/>
          <p:cNvSpPr/>
          <p:nvPr/>
        </p:nvSpPr>
        <p:spPr>
          <a:xfrm>
            <a:off x="4991244" y="640994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40" name="TextBox 5039"/>
          <p:cNvSpPr txBox="1"/>
          <p:nvPr/>
        </p:nvSpPr>
        <p:spPr>
          <a:xfrm>
            <a:off x="5393580" y="6391656"/>
            <a:ext cx="569740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제안서 버전·기준</a:t>
            </a:r>
            <a:endParaRPr lang="ko-KR" altLang="en-US" sz="1400"/>
          </a:p>
        </p:txBody>
      </p:sp>
      <p:sp>
        <p:nvSpPr>
          <p:cNvPr id="5041" name="TextBox 5040"/>
          <p:cNvSpPr txBox="1"/>
          <p:nvPr/>
        </p:nvSpPr>
        <p:spPr>
          <a:xfrm>
            <a:off x="5393580" y="6650482"/>
            <a:ext cx="569740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v1.1 · 생성 시각·계기 · 기준 화선 · 공식 단계 · 판정 단계</a:t>
            </a:r>
            <a:endParaRPr lang="ko-KR" altLang="en-US" sz="1200"/>
          </a:p>
        </p:txBody>
      </p:sp>
      <p:sp>
        <p:nvSpPr>
          <p:cNvPr id="5042" name="Oval 5041"/>
          <p:cNvSpPr/>
          <p:nvPr/>
        </p:nvSpPr>
        <p:spPr>
          <a:xfrm>
            <a:off x="4991244" y="695223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3" name="TextBox 5042"/>
          <p:cNvSpPr txBox="1"/>
          <p:nvPr/>
        </p:nvSpPr>
        <p:spPr>
          <a:xfrm>
            <a:off x="5393580" y="6933946"/>
            <a:ext cx="569740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격상 검토 권고</a:t>
            </a:r>
            <a:endParaRPr lang="ko-KR" altLang="en-US" sz="1400"/>
          </a:p>
        </p:txBody>
      </p:sp>
      <p:sp>
        <p:nvSpPr>
          <p:cNvPr id="5044" name="TextBox 5043"/>
          <p:cNvSpPr txBox="1"/>
          <p:nvPr/>
        </p:nvSpPr>
        <p:spPr>
          <a:xfrm>
            <a:off x="5393580" y="7192772"/>
            <a:ext cx="569740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S1 판정이 공식 단계보다 높으면 상단 배너, 지휘권 인계 안내</a:t>
            </a:r>
            <a:endParaRPr lang="ko-KR" altLang="en-US" sz="1200"/>
          </a:p>
        </p:txBody>
      </p:sp>
      <p:sp>
        <p:nvSpPr>
          <p:cNvPr id="5045" name="Oval 5044"/>
          <p:cNvSpPr/>
          <p:nvPr/>
        </p:nvSpPr>
        <p:spPr>
          <a:xfrm>
            <a:off x="4991244" y="749452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46" name="TextBox 5045"/>
          <p:cNvSpPr txBox="1"/>
          <p:nvPr/>
        </p:nvSpPr>
        <p:spPr>
          <a:xfrm>
            <a:off x="5393580" y="7476236"/>
            <a:ext cx="569740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진화/대피 탭 · 구분 필터</a:t>
            </a:r>
            <a:endParaRPr lang="ko-KR" altLang="en-US" sz="1400"/>
          </a:p>
        </p:txBody>
      </p:sp>
      <p:sp>
        <p:nvSpPr>
          <p:cNvPr id="5047" name="TextBox 5046"/>
          <p:cNvSpPr txBox="1"/>
          <p:nvPr/>
        </p:nvSpPr>
        <p:spPr>
          <a:xfrm>
            <a:off x="5393580" y="7735062"/>
            <a:ext cx="569740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즉시·대기·협의·요청</a:t>
            </a:r>
            <a:endParaRPr lang="ko-KR" altLang="en-US" sz="1200"/>
          </a:p>
        </p:txBody>
      </p:sp>
      <p:sp>
        <p:nvSpPr>
          <p:cNvPr id="5048" name="Oval 5047"/>
          <p:cNvSpPr/>
          <p:nvPr/>
        </p:nvSpPr>
        <p:spPr>
          <a:xfrm>
            <a:off x="11365302" y="640994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49" name="TextBox 5048"/>
          <p:cNvSpPr txBox="1"/>
          <p:nvPr/>
        </p:nvSpPr>
        <p:spPr>
          <a:xfrm>
            <a:off x="11767638" y="6391656"/>
            <a:ext cx="569740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제안 카드</a:t>
            </a:r>
            <a:endParaRPr lang="ko-KR" altLang="en-US" sz="1400"/>
          </a:p>
        </p:txBody>
      </p:sp>
      <p:sp>
        <p:nvSpPr>
          <p:cNvPr id="5050" name="TextBox 5049"/>
          <p:cNvSpPr txBox="1"/>
          <p:nvPr/>
        </p:nvSpPr>
        <p:spPr>
          <a:xfrm>
            <a:off x="11767638" y="6650482"/>
            <a:ext cx="569740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항목명 + 구분 + 제안 문장, 문장 끝 근거 번호</a:t>
            </a:r>
            <a:endParaRPr lang="ko-KR" altLang="en-US" sz="1200"/>
          </a:p>
        </p:txBody>
      </p:sp>
      <p:sp>
        <p:nvSpPr>
          <p:cNvPr id="5051" name="Oval 5050"/>
          <p:cNvSpPr/>
          <p:nvPr/>
        </p:nvSpPr>
        <p:spPr>
          <a:xfrm>
            <a:off x="11365302" y="695223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2" name="TextBox 5051"/>
          <p:cNvSpPr txBox="1"/>
          <p:nvPr/>
        </p:nvSpPr>
        <p:spPr>
          <a:xfrm>
            <a:off x="11767638" y="6933946"/>
            <a:ext cx="569740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펼침 상세</a:t>
            </a:r>
            <a:endParaRPr lang="ko-KR" altLang="en-US" sz="1400"/>
          </a:p>
        </p:txBody>
      </p:sp>
      <p:sp>
        <p:nvSpPr>
          <p:cNvPr id="5053" name="TextBox 5052"/>
          <p:cNvSpPr txBox="1"/>
          <p:nvPr/>
        </p:nvSpPr>
        <p:spPr>
          <a:xfrm>
            <a:off x="11767638" y="7192772"/>
            <a:ext cx="569740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판정 이유·대상·권한·근거 목록·「이 항목 질문」, 펼치면 지도에 대상 위치 강조</a:t>
            </a:r>
            <a:endParaRPr lang="ko-KR" altLang="en-US" sz="1200"/>
          </a:p>
        </p:txBody>
      </p:sp>
      <p:sp>
        <p:nvSpPr>
          <p:cNvPr id="5054" name="Oval 5053"/>
          <p:cNvSpPr/>
          <p:nvPr/>
        </p:nvSpPr>
        <p:spPr>
          <a:xfrm>
            <a:off x="11365302" y="749452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55" name="TextBox 5054"/>
          <p:cNvSpPr txBox="1"/>
          <p:nvPr/>
        </p:nvSpPr>
        <p:spPr>
          <a:xfrm>
            <a:off x="11767638" y="7476236"/>
            <a:ext cx="5697402"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근거 없는 수량은 비표시</a:t>
            </a:r>
            <a:endParaRPr lang="ko-KR" altLang="en-US" sz="1400"/>
          </a:p>
        </p:txBody>
      </p:sp>
      <p:sp>
        <p:nvSpPr>
          <p:cNvPr id="5056" name="TextBox 5055"/>
          <p:cNvSpPr txBox="1"/>
          <p:nvPr/>
        </p:nvSpPr>
        <p:spPr>
          <a:xfrm>
            <a:off x="11767638" y="7735062"/>
            <a:ext cx="5697402"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「근거가 부족하여 표시하지 않았습니다」 + 이벤트 로그</a:t>
            </a:r>
            <a:endParaRPr lang="ko-KR" altLang="en-US" sz="1200"/>
          </a:p>
        </p:txBody>
      </p:sp>
      <p:sp>
        <p:nvSpPr>
          <p:cNvPr id="5057" name="Rounded Rectangle 5056"/>
          <p:cNvSpPr/>
          <p:nvPr/>
        </p:nvSpPr>
        <p:spPr>
          <a:xfrm>
            <a:off x="4991244"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8" name="TextBox 5057"/>
          <p:cNvSpPr txBox="1"/>
          <p:nvPr/>
        </p:nvSpPr>
        <p:spPr>
          <a:xfrm>
            <a:off x="6134244" y="8769096"/>
            <a:ext cx="11330796"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F-11 대응 제안 · F-12 제안 분류 · F-15~F-21 진화 S1~S7 · UC-PRED-01 · UC-PROP-01</a:t>
            </a:r>
            <a:endParaRPr lang="ko-KR" altLang="en-US" sz="1200"/>
          </a:p>
        </p:txBody>
      </p:sp>
      <p:sp>
        <p:nvSpPr>
          <p:cNvPr id="5059"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355836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⑤ 대피 대응 제안 E1~E7 · 카드와 지도 연동 (UC-PROP-02)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5024" name="Rectangle 5023"/>
          <p:cNvSpPr/>
          <p:nvPr/>
        </p:nvSpPr>
        <p:spPr>
          <a:xfrm>
            <a:off x="822960" y="2432304"/>
            <a:ext cx="416052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대피 탭 (7항목 중 발동 5)</a:t>
            </a:r>
            <a:endParaRPr lang="ko-KR" altLang="en-US" sz="1250"/>
          </a:p>
        </p:txBody>
      </p:sp>
      <p:pic>
        <p:nvPicPr>
          <p:cNvPr id="5025" name="Picture 5024" descr="G_09_prop_evac_c24_230_480_920.jpg"/>
          <p:cNvPicPr>
            <a:picLocks noChangeAspect="1"/>
          </p:cNvPicPr>
          <p:nvPr/>
        </p:nvPicPr>
        <p:blipFill>
          <a:blip r:embed="rId6"/>
          <a:stretch>
            <a:fillRect/>
          </a:stretch>
        </p:blipFill>
        <p:spPr>
          <a:xfrm>
            <a:off x="822960" y="2743200"/>
            <a:ext cx="4139449" cy="6263640"/>
          </a:xfrm>
          <a:prstGeom prst="rect">
            <a:avLst/>
          </a:prstGeom>
          <a:ln w="9525">
            <a:solidFill>
              <a:srgbClr val="D5D8E0"/>
            </a:solidFill>
          </a:ln>
        </p:spPr>
      </p:pic>
      <p:sp>
        <p:nvSpPr>
          <p:cNvPr id="5026" name="Rounded Rectangle 5025"/>
          <p:cNvSpPr/>
          <p:nvPr/>
        </p:nvSpPr>
        <p:spPr>
          <a:xfrm>
            <a:off x="2874529" y="2788589"/>
            <a:ext cx="2042491" cy="290488"/>
          </a:xfrm>
          <a:prstGeom prst="roundRect">
            <a:avLst>
              <a:gd name="adj" fmla="val 15739"/>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4777117" y="2617596"/>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877426" y="3278787"/>
            <a:ext cx="4021438" cy="880541"/>
          </a:xfrm>
          <a:prstGeom prst="roundRect">
            <a:avLst>
              <a:gd name="adj" fmla="val 5192"/>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4758962" y="310779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ounded Rectangle 5029"/>
          <p:cNvSpPr/>
          <p:nvPr/>
        </p:nvSpPr>
        <p:spPr>
          <a:xfrm>
            <a:off x="877426" y="4159327"/>
            <a:ext cx="4021438" cy="1234573"/>
          </a:xfrm>
          <a:prstGeom prst="roundRect">
            <a:avLst>
              <a:gd name="adj" fmla="val 3703"/>
            </a:avLst>
          </a:prstGeom>
          <a:noFill/>
          <a:ln w="28575">
            <a:solidFill>
              <a:srgbClr val="E8742A"/>
            </a:solidFill>
          </a:ln>
        </p:spPr>
        <p:txBody>
          <a:bodyPr wrap="square" lIns="0" tIns="0" rIns="0" bIns="0" rtlCol="0" anchor="ctr">
            <a:noAutofit/>
          </a:bodyPr>
          <a:lstStyle/>
          <a:p>
            <a:pPr algn="ctr"/>
            <a:endParaRPr/>
          </a:p>
        </p:txBody>
      </p:sp>
      <p:sp>
        <p:nvSpPr>
          <p:cNvPr id="5031" name="Oval 5030"/>
          <p:cNvSpPr/>
          <p:nvPr/>
        </p:nvSpPr>
        <p:spPr>
          <a:xfrm>
            <a:off x="4758962" y="398833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2" name="Rounded Rectangle 5031"/>
          <p:cNvSpPr/>
          <p:nvPr/>
        </p:nvSpPr>
        <p:spPr>
          <a:xfrm>
            <a:off x="877426" y="8371398"/>
            <a:ext cx="4021438" cy="272332"/>
          </a:xfrm>
          <a:prstGeom prst="roundRect">
            <a:avLst>
              <a:gd name="adj" fmla="val 16788"/>
            </a:avLst>
          </a:prstGeom>
          <a:noFill/>
          <a:ln w="28575">
            <a:solidFill>
              <a:srgbClr val="E8742A"/>
            </a:solidFill>
          </a:ln>
        </p:spPr>
        <p:txBody>
          <a:bodyPr wrap="square" lIns="0" tIns="0" rIns="0" bIns="0" rtlCol="0" anchor="ctr">
            <a:noAutofit/>
          </a:bodyPr>
          <a:lstStyle/>
          <a:p>
            <a:pPr algn="ctr"/>
            <a:endParaRPr/>
          </a:p>
        </p:txBody>
      </p:sp>
      <p:sp>
        <p:nvSpPr>
          <p:cNvPr id="5033" name="Oval 5032"/>
          <p:cNvSpPr/>
          <p:nvPr/>
        </p:nvSpPr>
        <p:spPr>
          <a:xfrm>
            <a:off x="4758962" y="820040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4" name="Rounded Rectangle 5033"/>
          <p:cNvSpPr/>
          <p:nvPr/>
        </p:nvSpPr>
        <p:spPr>
          <a:xfrm>
            <a:off x="877426" y="8661886"/>
            <a:ext cx="4021438" cy="326799"/>
          </a:xfrm>
          <a:prstGeom prst="roundRect">
            <a:avLst>
              <a:gd name="adj" fmla="val 13990"/>
            </a:avLst>
          </a:prstGeom>
          <a:noFill/>
          <a:ln w="28575">
            <a:solidFill>
              <a:srgbClr val="E8742A"/>
            </a:solidFill>
          </a:ln>
        </p:spPr>
        <p:txBody>
          <a:bodyPr wrap="square" lIns="0" tIns="0" rIns="0" bIns="0" rtlCol="0" anchor="ctr">
            <a:noAutofit/>
          </a:bodyPr>
          <a:lstStyle/>
          <a:p>
            <a:pPr algn="ctr"/>
            <a:endParaRPr/>
          </a:p>
        </p:txBody>
      </p:sp>
      <p:sp>
        <p:nvSpPr>
          <p:cNvPr id="5035" name="Oval 5034"/>
          <p:cNvSpPr/>
          <p:nvPr/>
        </p:nvSpPr>
        <p:spPr>
          <a:xfrm>
            <a:off x="4758962" y="884878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6" name="Rounded Rectangle 5035"/>
          <p:cNvSpPr/>
          <p:nvPr/>
        </p:nvSpPr>
        <p:spPr>
          <a:xfrm>
            <a:off x="877426" y="3042765"/>
            <a:ext cx="1942636" cy="254177"/>
          </a:xfrm>
          <a:prstGeom prst="roundRect">
            <a:avLst>
              <a:gd name="adj" fmla="val 17987"/>
            </a:avLst>
          </a:prstGeom>
          <a:noFill/>
          <a:ln w="28575">
            <a:solidFill>
              <a:srgbClr val="E8742A"/>
            </a:solidFill>
          </a:ln>
        </p:spPr>
        <p:txBody>
          <a:bodyPr wrap="square" lIns="0" tIns="0" rIns="0" bIns="0" rtlCol="0" anchor="ctr">
            <a:noAutofit/>
          </a:bodyPr>
          <a:lstStyle/>
          <a:p>
            <a:pPr algn="ctr"/>
            <a:endParaRPr/>
          </a:p>
        </p:txBody>
      </p:sp>
      <p:sp>
        <p:nvSpPr>
          <p:cNvPr id="5037" name="Oval 5036"/>
          <p:cNvSpPr/>
          <p:nvPr/>
        </p:nvSpPr>
        <p:spPr>
          <a:xfrm>
            <a:off x="2680159" y="287177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8" name="Rectangle 5037"/>
          <p:cNvSpPr/>
          <p:nvPr/>
        </p:nvSpPr>
        <p:spPr>
          <a:xfrm>
            <a:off x="5236729" y="2432304"/>
            <a:ext cx="800100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카드를 펼치면 — 지도에 대상 위치 강조(E1 위험구역 마을 5곳)</a:t>
            </a:r>
            <a:endParaRPr lang="ko-KR" altLang="en-US" sz="1250"/>
          </a:p>
        </p:txBody>
      </p:sp>
      <p:pic>
        <p:nvPicPr>
          <p:cNvPr id="5039" name="Picture 5038" descr="G_09c_card_map_c480_76_1920_1080.jpg"/>
          <p:cNvPicPr>
            <a:picLocks noChangeAspect="1"/>
          </p:cNvPicPr>
          <p:nvPr/>
        </p:nvPicPr>
        <p:blipFill>
          <a:blip r:embed="rId7"/>
          <a:stretch>
            <a:fillRect/>
          </a:stretch>
        </p:blipFill>
        <p:spPr>
          <a:xfrm>
            <a:off x="5236729" y="2743200"/>
            <a:ext cx="8001000" cy="5578475"/>
          </a:xfrm>
          <a:prstGeom prst="rect">
            <a:avLst/>
          </a:prstGeom>
          <a:ln w="9525">
            <a:solidFill>
              <a:srgbClr val="D5D8E0"/>
            </a:solidFill>
          </a:ln>
        </p:spPr>
      </p:pic>
      <p:sp>
        <p:nvSpPr>
          <p:cNvPr id="5040" name="Rounded Rectangle 5039"/>
          <p:cNvSpPr/>
          <p:nvPr/>
        </p:nvSpPr>
        <p:spPr>
          <a:xfrm>
            <a:off x="10298473" y="4721225"/>
            <a:ext cx="322262" cy="322262"/>
          </a:xfrm>
          <a:prstGeom prst="roundRect">
            <a:avLst>
              <a:gd name="adj" fmla="val 14187"/>
            </a:avLst>
          </a:prstGeom>
          <a:noFill/>
          <a:ln w="28575">
            <a:solidFill>
              <a:srgbClr val="E8742A"/>
            </a:solidFill>
          </a:ln>
        </p:spPr>
        <p:txBody>
          <a:bodyPr wrap="square" lIns="0" tIns="0" rIns="0" bIns="0" rtlCol="0" anchor="ctr">
            <a:noAutofit/>
          </a:bodyPr>
          <a:lstStyle/>
          <a:p>
            <a:pPr algn="ctr"/>
            <a:endParaRPr/>
          </a:p>
        </p:txBody>
      </p:sp>
      <p:sp>
        <p:nvSpPr>
          <p:cNvPr id="5041" name="Oval 5040"/>
          <p:cNvSpPr/>
          <p:nvPr/>
        </p:nvSpPr>
        <p:spPr>
          <a:xfrm>
            <a:off x="10480832" y="455023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7</a:t>
            </a:r>
            <a:endParaRPr lang="ko-KR" altLang="en-US" sz="1292"/>
          </a:p>
        </p:txBody>
      </p:sp>
      <p:sp>
        <p:nvSpPr>
          <p:cNvPr id="5042" name="Rounded Rectangle 5041"/>
          <p:cNvSpPr/>
          <p:nvPr/>
        </p:nvSpPr>
        <p:spPr>
          <a:xfrm>
            <a:off x="6459104" y="7793831"/>
            <a:ext cx="2889250" cy="216694"/>
          </a:xfrm>
          <a:prstGeom prst="roundRect">
            <a:avLst>
              <a:gd name="adj" fmla="val 21098"/>
            </a:avLst>
          </a:prstGeom>
          <a:noFill/>
          <a:ln w="28575">
            <a:solidFill>
              <a:srgbClr val="E8742A"/>
            </a:solidFill>
          </a:ln>
        </p:spPr>
        <p:txBody>
          <a:bodyPr wrap="square" lIns="0" tIns="0" rIns="0" bIns="0" rtlCol="0" anchor="ctr">
            <a:noAutofit/>
          </a:bodyPr>
          <a:lstStyle/>
          <a:p>
            <a:pPr algn="ctr"/>
            <a:endParaRPr/>
          </a:p>
        </p:txBody>
      </p:sp>
      <p:sp>
        <p:nvSpPr>
          <p:cNvPr id="5043" name="Oval 5042"/>
          <p:cNvSpPr/>
          <p:nvPr/>
        </p:nvSpPr>
        <p:spPr>
          <a:xfrm>
            <a:off x="6288111" y="7622838"/>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8</a:t>
            </a:r>
            <a:endParaRPr lang="ko-KR" altLang="en-US" sz="1292"/>
          </a:p>
        </p:txBody>
      </p:sp>
      <p:sp>
        <p:nvSpPr>
          <p:cNvPr id="5044" name="Oval 5043"/>
          <p:cNvSpPr/>
          <p:nvPr/>
        </p:nvSpPr>
        <p:spPr>
          <a:xfrm>
            <a:off x="13512049" y="2478024"/>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1</a:t>
            </a:r>
            <a:endParaRPr lang="ko-KR" altLang="en-US" sz="1064"/>
          </a:p>
        </p:txBody>
      </p:sp>
      <p:sp>
        <p:nvSpPr>
          <p:cNvPr id="5045" name="TextBox 5044"/>
          <p:cNvSpPr txBox="1"/>
          <p:nvPr/>
        </p:nvSpPr>
        <p:spPr>
          <a:xfrm>
            <a:off x="13896097" y="2459736"/>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대피 탭</a:t>
            </a:r>
            <a:endParaRPr lang="ko-KR" altLang="en-US" sz="1300"/>
          </a:p>
        </p:txBody>
      </p:sp>
      <p:sp>
        <p:nvSpPr>
          <p:cNvPr id="5046" name="TextBox 5045"/>
          <p:cNvSpPr txBox="1"/>
          <p:nvPr/>
        </p:nvSpPr>
        <p:spPr>
          <a:xfrm>
            <a:off x="13896097" y="2702687"/>
            <a:ext cx="3568943" cy="184404"/>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E1~E7 중 발동한 항목만 제안서에 포함</a:t>
            </a:r>
            <a:endParaRPr lang="ko-KR" altLang="en-US" sz="1100"/>
          </a:p>
        </p:txBody>
      </p:sp>
      <p:sp>
        <p:nvSpPr>
          <p:cNvPr id="5047" name="Oval 5046"/>
          <p:cNvSpPr/>
          <p:nvPr/>
        </p:nvSpPr>
        <p:spPr>
          <a:xfrm>
            <a:off x="13512049" y="2941955"/>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2</a:t>
            </a:r>
            <a:endParaRPr lang="ko-KR" altLang="en-US" sz="1064"/>
          </a:p>
        </p:txBody>
      </p:sp>
      <p:sp>
        <p:nvSpPr>
          <p:cNvPr id="5048" name="TextBox 5047"/>
          <p:cNvSpPr txBox="1"/>
          <p:nvPr/>
        </p:nvSpPr>
        <p:spPr>
          <a:xfrm>
            <a:off x="13896097" y="2923667"/>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E1 위험구역 설정</a:t>
            </a:r>
            <a:endParaRPr lang="ko-KR" altLang="en-US" sz="1300"/>
          </a:p>
        </p:txBody>
      </p:sp>
      <p:sp>
        <p:nvSpPr>
          <p:cNvPr id="5049" name="TextBox 5048"/>
          <p:cNvSpPr txBox="1"/>
          <p:nvPr/>
        </p:nvSpPr>
        <p:spPr>
          <a:xfrm>
            <a:off x="13896097" y="3166618"/>
            <a:ext cx="3568943" cy="36880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도달 5시간 이내 마을 = 위험구역(즉시), 8시간 이내 = 잠재(대기)</a:t>
            </a:r>
            <a:endParaRPr lang="ko-KR" altLang="en-US" sz="1100"/>
          </a:p>
        </p:txBody>
      </p:sp>
      <p:sp>
        <p:nvSpPr>
          <p:cNvPr id="5050" name="Oval 5049"/>
          <p:cNvSpPr/>
          <p:nvPr/>
        </p:nvSpPr>
        <p:spPr>
          <a:xfrm>
            <a:off x="13512049" y="3590290"/>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3</a:t>
            </a:r>
            <a:endParaRPr lang="ko-KR" altLang="en-US" sz="1064"/>
          </a:p>
        </p:txBody>
      </p:sp>
      <p:sp>
        <p:nvSpPr>
          <p:cNvPr id="5051" name="TextBox 5050"/>
          <p:cNvSpPr txBox="1"/>
          <p:nvPr/>
        </p:nvSpPr>
        <p:spPr>
          <a:xfrm>
            <a:off x="13896097" y="3572002"/>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E2 대피 대상·순서·시점</a:t>
            </a:r>
            <a:endParaRPr lang="ko-KR" altLang="en-US" sz="1300"/>
          </a:p>
        </p:txBody>
      </p:sp>
      <p:sp>
        <p:nvSpPr>
          <p:cNvPr id="5052" name="TextBox 5051"/>
          <p:cNvSpPr txBox="1"/>
          <p:nvPr/>
        </p:nvSpPr>
        <p:spPr>
          <a:xfrm>
            <a:off x="13896097" y="3814953"/>
            <a:ext cx="3568943" cy="36880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도달 시각·취약계층순,</a:t>
            </a:r>
            <a:endParaRPr lang="ko-KR" altLang="en-US" sz="1100"/>
          </a:p>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야간 도달 마을은 일몰 전 사전대피</a:t>
            </a:r>
            <a:endParaRPr lang="ko-KR" altLang="en-US" sz="1100"/>
          </a:p>
        </p:txBody>
      </p:sp>
      <p:sp>
        <p:nvSpPr>
          <p:cNvPr id="5053" name="Oval 5052"/>
          <p:cNvSpPr/>
          <p:nvPr/>
        </p:nvSpPr>
        <p:spPr>
          <a:xfrm>
            <a:off x="13512049" y="4238625"/>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4</a:t>
            </a:r>
            <a:endParaRPr lang="ko-KR" altLang="en-US" sz="1064"/>
          </a:p>
        </p:txBody>
      </p:sp>
      <p:sp>
        <p:nvSpPr>
          <p:cNvPr id="5054" name="TextBox 5053"/>
          <p:cNvSpPr txBox="1"/>
          <p:nvPr/>
        </p:nvSpPr>
        <p:spPr>
          <a:xfrm>
            <a:off x="13896097" y="4220337"/>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구분별 건수 · 발동 수</a:t>
            </a:r>
            <a:endParaRPr lang="ko-KR" altLang="en-US" sz="1300"/>
          </a:p>
        </p:txBody>
      </p:sp>
      <p:sp>
        <p:nvSpPr>
          <p:cNvPr id="5055" name="TextBox 5054"/>
          <p:cNvSpPr txBox="1"/>
          <p:nvPr/>
        </p:nvSpPr>
        <p:spPr>
          <a:xfrm>
            <a:off x="13896097" y="4463288"/>
            <a:ext cx="3568943" cy="184404"/>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지금 보는 탭의 즉시·대기·협의·요청 건수</a:t>
            </a:r>
            <a:endParaRPr lang="ko-KR" altLang="en-US" sz="1100"/>
          </a:p>
        </p:txBody>
      </p:sp>
      <p:sp>
        <p:nvSpPr>
          <p:cNvPr id="5056" name="Oval 5055"/>
          <p:cNvSpPr/>
          <p:nvPr/>
        </p:nvSpPr>
        <p:spPr>
          <a:xfrm>
            <a:off x="13512049" y="4702556"/>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5</a:t>
            </a:r>
            <a:endParaRPr lang="ko-KR" altLang="en-US" sz="1064"/>
          </a:p>
        </p:txBody>
      </p:sp>
      <p:sp>
        <p:nvSpPr>
          <p:cNvPr id="5057" name="TextBox 5056"/>
          <p:cNvSpPr txBox="1"/>
          <p:nvPr/>
        </p:nvSpPr>
        <p:spPr>
          <a:xfrm>
            <a:off x="13896097" y="4684268"/>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제안서 버전 이력</a:t>
            </a:r>
            <a:endParaRPr lang="ko-KR" altLang="en-US" sz="1300"/>
          </a:p>
        </p:txBody>
      </p:sp>
      <p:sp>
        <p:nvSpPr>
          <p:cNvPr id="5058" name="TextBox 5057"/>
          <p:cNvSpPr txBox="1"/>
          <p:nvPr/>
        </p:nvSpPr>
        <p:spPr>
          <a:xfrm>
            <a:off x="13896097" y="4927219"/>
            <a:ext cx="3568943" cy="184404"/>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탭 아래에서 펼침</a:t>
            </a:r>
            <a:endParaRPr lang="ko-KR" altLang="en-US" sz="1100"/>
          </a:p>
        </p:txBody>
      </p:sp>
      <p:sp>
        <p:nvSpPr>
          <p:cNvPr id="5059" name="Oval 5058"/>
          <p:cNvSpPr/>
          <p:nvPr/>
        </p:nvSpPr>
        <p:spPr>
          <a:xfrm>
            <a:off x="13512049" y="5166487"/>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6</a:t>
            </a:r>
            <a:endParaRPr lang="ko-KR" altLang="en-US" sz="1064"/>
          </a:p>
        </p:txBody>
      </p:sp>
      <p:sp>
        <p:nvSpPr>
          <p:cNvPr id="5060" name="TextBox 5059"/>
          <p:cNvSpPr txBox="1"/>
          <p:nvPr/>
        </p:nvSpPr>
        <p:spPr>
          <a:xfrm>
            <a:off x="13896097" y="5148199"/>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구분 필터</a:t>
            </a:r>
            <a:endParaRPr lang="ko-KR" altLang="en-US" sz="1300"/>
          </a:p>
        </p:txBody>
      </p:sp>
      <p:sp>
        <p:nvSpPr>
          <p:cNvPr id="5061" name="TextBox 5060"/>
          <p:cNvSpPr txBox="1"/>
          <p:nvPr/>
        </p:nvSpPr>
        <p:spPr>
          <a:xfrm>
            <a:off x="13896097" y="5391150"/>
            <a:ext cx="3568943" cy="184404"/>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「즉시」만 골라 바로 실행할 조치 확인</a:t>
            </a:r>
            <a:endParaRPr lang="ko-KR" altLang="en-US" sz="1100"/>
          </a:p>
        </p:txBody>
      </p:sp>
      <p:sp>
        <p:nvSpPr>
          <p:cNvPr id="5062" name="Oval 5061"/>
          <p:cNvSpPr/>
          <p:nvPr/>
        </p:nvSpPr>
        <p:spPr>
          <a:xfrm>
            <a:off x="13512049" y="5630418"/>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7</a:t>
            </a:r>
            <a:endParaRPr lang="ko-KR" altLang="en-US" sz="1064"/>
          </a:p>
        </p:txBody>
      </p:sp>
      <p:sp>
        <p:nvSpPr>
          <p:cNvPr id="5063" name="TextBox 5062"/>
          <p:cNvSpPr txBox="1"/>
          <p:nvPr/>
        </p:nvSpPr>
        <p:spPr>
          <a:xfrm>
            <a:off x="13896097" y="5612130"/>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대상 위치 강조</a:t>
            </a:r>
            <a:endParaRPr lang="ko-KR" altLang="en-US" sz="1300"/>
          </a:p>
        </p:txBody>
      </p:sp>
      <p:sp>
        <p:nvSpPr>
          <p:cNvPr id="5064" name="TextBox 5063"/>
          <p:cNvSpPr txBox="1"/>
          <p:nvPr/>
        </p:nvSpPr>
        <p:spPr>
          <a:xfrm>
            <a:off x="13896097" y="5855081"/>
            <a:ext cx="3568943" cy="36880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펼친 항목의 대상 마을·시설을 하늘색 고리로 표시하고 그 범위로 이동</a:t>
            </a:r>
            <a:endParaRPr lang="ko-KR" altLang="en-US" sz="1100"/>
          </a:p>
        </p:txBody>
      </p:sp>
      <p:sp>
        <p:nvSpPr>
          <p:cNvPr id="5065" name="Oval 5064"/>
          <p:cNvSpPr/>
          <p:nvPr/>
        </p:nvSpPr>
        <p:spPr>
          <a:xfrm>
            <a:off x="13512049" y="6278753"/>
            <a:ext cx="256032" cy="256032"/>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064" b="1" dirty="0">
                <a:solidFill>
                  <a:srgbClr val="FFFFFF"/>
                </a:solidFill>
                <a:latin typeface="210 OmniGothic 040"/>
                <a:ea typeface="210 OmniGothic 040"/>
                <a:cs typeface="210 OmniGothic 040"/>
              </a:rPr>
              <a:t>8</a:t>
            </a:r>
            <a:endParaRPr lang="ko-KR" altLang="en-US" sz="1064"/>
          </a:p>
        </p:txBody>
      </p:sp>
      <p:sp>
        <p:nvSpPr>
          <p:cNvPr id="5066" name="TextBox 5065"/>
          <p:cNvSpPr txBox="1"/>
          <p:nvPr/>
        </p:nvSpPr>
        <p:spPr>
          <a:xfrm>
            <a:off x="13896097" y="6260465"/>
            <a:ext cx="3568943" cy="20637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00" b="1" dirty="0">
                <a:solidFill>
                  <a:srgbClr val="363A52"/>
                </a:solidFill>
                <a:latin typeface="210 OmniGothic 040"/>
                <a:ea typeface="210 OmniGothic 040"/>
                <a:cs typeface="210 OmniGothic 040"/>
              </a:rPr>
              <a:t>강조한 대상 안내</a:t>
            </a:r>
            <a:endParaRPr lang="ko-KR" altLang="en-US" sz="1300"/>
          </a:p>
        </p:txBody>
      </p:sp>
      <p:sp>
        <p:nvSpPr>
          <p:cNvPr id="5067" name="TextBox 5066"/>
          <p:cNvSpPr txBox="1"/>
          <p:nvPr/>
        </p:nvSpPr>
        <p:spPr>
          <a:xfrm>
            <a:off x="13896097" y="6503416"/>
            <a:ext cx="3568943" cy="184404"/>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00" b="0" dirty="0">
                <a:solidFill>
                  <a:srgbClr val="4A4F63"/>
                </a:solidFill>
                <a:latin typeface="210 OmniGothic 030"/>
                <a:ea typeface="210 OmniGothic 030"/>
                <a:cs typeface="210 OmniGothic 030"/>
              </a:rPr>
              <a:t>표시한 대상 이름을 아래에 잠깐 알림</a:t>
            </a:r>
            <a:endParaRPr lang="ko-KR" altLang="en-US" sz="1100"/>
          </a:p>
        </p:txBody>
      </p:sp>
      <p:sp>
        <p:nvSpPr>
          <p:cNvPr id="5068" name="Rounded Rectangle 5067"/>
          <p:cNvSpPr/>
          <p:nvPr/>
        </p:nvSpPr>
        <p:spPr>
          <a:xfrm>
            <a:off x="13512049"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69" name="TextBox 5068"/>
          <p:cNvSpPr txBox="1"/>
          <p:nvPr/>
        </p:nvSpPr>
        <p:spPr>
          <a:xfrm>
            <a:off x="14655049" y="8769096"/>
            <a:ext cx="2809991"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F-12 · F-22~F-28 대피 E1~E7 · UC-PROP-02</a:t>
            </a:r>
            <a:endParaRPr lang="ko-KR" altLang="en-US" sz="1200"/>
          </a:p>
        </p:txBody>
      </p:sp>
      <p:sp>
        <p:nvSpPr>
          <p:cNvPr id="5070"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18876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⑥ 근거 조회 (UC-PROP-03)</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5024" name="Rectangle 5023"/>
          <p:cNvSpPr/>
          <p:nvPr/>
        </p:nvSpPr>
        <p:spPr>
          <a:xfrm>
            <a:off x="822960" y="2432304"/>
            <a:ext cx="786384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근거 번호를 누르면 — 근거 창이 고정 창 옆에 열림(제안 목록과 나란히)</a:t>
            </a:r>
            <a:endParaRPr lang="ko-KR" altLang="en-US" sz="1250"/>
          </a:p>
        </p:txBody>
      </p:sp>
      <p:pic>
        <p:nvPicPr>
          <p:cNvPr id="5025" name="Picture 5024" descr="G_10_evidence_c24_76_910_700.jpg"/>
          <p:cNvPicPr>
            <a:picLocks noChangeAspect="1"/>
          </p:cNvPicPr>
          <p:nvPr/>
        </p:nvPicPr>
        <p:blipFill>
          <a:blip r:embed="rId6"/>
          <a:stretch>
            <a:fillRect/>
          </a:stretch>
        </p:blipFill>
        <p:spPr>
          <a:xfrm>
            <a:off x="822960" y="2743200"/>
            <a:ext cx="7863840" cy="5538416"/>
          </a:xfrm>
          <a:prstGeom prst="rect">
            <a:avLst/>
          </a:prstGeom>
          <a:ln w="9525">
            <a:solidFill>
              <a:srgbClr val="D5D8E0"/>
            </a:solidFill>
          </a:ln>
        </p:spPr>
      </p:pic>
      <p:sp>
        <p:nvSpPr>
          <p:cNvPr id="5026" name="Rounded Rectangle 5025"/>
          <p:cNvSpPr/>
          <p:nvPr/>
        </p:nvSpPr>
        <p:spPr>
          <a:xfrm>
            <a:off x="2580342" y="5973942"/>
            <a:ext cx="284021" cy="310648"/>
          </a:xfrm>
          <a:prstGeom prst="roundRect">
            <a:avLst>
              <a:gd name="adj" fmla="val 16097"/>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2409349" y="580295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4905766" y="3062724"/>
            <a:ext cx="3692277" cy="887567"/>
          </a:xfrm>
          <a:prstGeom prst="roundRect">
            <a:avLst>
              <a:gd name="adj" fmla="val 5151"/>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4734774" y="289173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ounded Rectangle 5029"/>
          <p:cNvSpPr/>
          <p:nvPr/>
        </p:nvSpPr>
        <p:spPr>
          <a:xfrm>
            <a:off x="4905766" y="3879285"/>
            <a:ext cx="3692277" cy="1269220"/>
          </a:xfrm>
          <a:prstGeom prst="roundRect">
            <a:avLst>
              <a:gd name="adj" fmla="val 3602"/>
            </a:avLst>
          </a:prstGeom>
          <a:noFill/>
          <a:ln w="28575">
            <a:solidFill>
              <a:srgbClr val="E8742A"/>
            </a:solidFill>
          </a:ln>
        </p:spPr>
        <p:txBody>
          <a:bodyPr wrap="square" lIns="0" tIns="0" rIns="0" bIns="0" rtlCol="0" anchor="ctr">
            <a:noAutofit/>
          </a:bodyPr>
          <a:lstStyle/>
          <a:p>
            <a:pPr algn="ctr"/>
            <a:endParaRPr/>
          </a:p>
        </p:txBody>
      </p:sp>
      <p:sp>
        <p:nvSpPr>
          <p:cNvPr id="5031" name="Oval 5030"/>
          <p:cNvSpPr/>
          <p:nvPr/>
        </p:nvSpPr>
        <p:spPr>
          <a:xfrm>
            <a:off x="4734774" y="370829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2" name="Rounded Rectangle 5031"/>
          <p:cNvSpPr/>
          <p:nvPr/>
        </p:nvSpPr>
        <p:spPr>
          <a:xfrm>
            <a:off x="8269644" y="2743200"/>
            <a:ext cx="337275" cy="328400"/>
          </a:xfrm>
          <a:prstGeom prst="roundRect">
            <a:avLst>
              <a:gd name="adj" fmla="val 13922"/>
            </a:avLst>
          </a:prstGeom>
          <a:noFill/>
          <a:ln w="28575">
            <a:solidFill>
              <a:srgbClr val="E8742A"/>
            </a:solidFill>
          </a:ln>
        </p:spPr>
        <p:txBody>
          <a:bodyPr wrap="square" lIns="0" tIns="0" rIns="0" bIns="0" rtlCol="0" anchor="ctr">
            <a:noAutofit/>
          </a:bodyPr>
          <a:lstStyle/>
          <a:p>
            <a:pPr algn="ctr"/>
            <a:endParaRPr/>
          </a:p>
        </p:txBody>
      </p:sp>
      <p:sp>
        <p:nvSpPr>
          <p:cNvPr id="5033" name="Oval 5032"/>
          <p:cNvSpPr/>
          <p:nvPr/>
        </p:nvSpPr>
        <p:spPr>
          <a:xfrm>
            <a:off x="7922172" y="275195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4" name="Rounded Rectangle 5033"/>
          <p:cNvSpPr/>
          <p:nvPr/>
        </p:nvSpPr>
        <p:spPr>
          <a:xfrm>
            <a:off x="858463" y="4571587"/>
            <a:ext cx="3967423" cy="3621272"/>
          </a:xfrm>
          <a:prstGeom prst="roundRect">
            <a:avLst>
              <a:gd name="adj" fmla="val 1262"/>
            </a:avLst>
          </a:prstGeom>
          <a:noFill/>
          <a:ln w="28575">
            <a:solidFill>
              <a:srgbClr val="E8742A"/>
            </a:solidFill>
          </a:ln>
        </p:spPr>
        <p:txBody>
          <a:bodyPr wrap="square" lIns="0" tIns="0" rIns="0" bIns="0" rtlCol="0" anchor="ctr">
            <a:noAutofit/>
          </a:bodyPr>
          <a:lstStyle/>
          <a:p>
            <a:pPr algn="ctr"/>
            <a:endParaRPr/>
          </a:p>
        </p:txBody>
      </p:sp>
      <p:sp>
        <p:nvSpPr>
          <p:cNvPr id="5035" name="Oval 5034"/>
          <p:cNvSpPr/>
          <p:nvPr/>
        </p:nvSpPr>
        <p:spPr>
          <a:xfrm>
            <a:off x="687470" y="440059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6" name="Oval 5035"/>
          <p:cNvSpPr/>
          <p:nvPr/>
        </p:nvSpPr>
        <p:spPr>
          <a:xfrm>
            <a:off x="9006840" y="252374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37" name="TextBox 5036"/>
          <p:cNvSpPr txBox="1"/>
          <p:nvPr/>
        </p:nvSpPr>
        <p:spPr>
          <a:xfrm>
            <a:off x="9445752" y="2505456"/>
            <a:ext cx="8019288" cy="23812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500" b="1" dirty="0">
                <a:solidFill>
                  <a:srgbClr val="363A52"/>
                </a:solidFill>
                <a:latin typeface="210 OmniGothic 040"/>
                <a:ea typeface="210 OmniGothic 040"/>
                <a:cs typeface="210 OmniGothic 040"/>
              </a:rPr>
              <a:t>근거 번호 [k]</a:t>
            </a:r>
            <a:endParaRPr lang="ko-KR" altLang="en-US" sz="1500"/>
          </a:p>
        </p:txBody>
      </p:sp>
      <p:sp>
        <p:nvSpPr>
          <p:cNvPr id="5038" name="TextBox 5037"/>
          <p:cNvSpPr txBox="1"/>
          <p:nvPr/>
        </p:nvSpPr>
        <p:spPr>
          <a:xfrm>
            <a:off x="9445752" y="2780157"/>
            <a:ext cx="8019288" cy="21793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4A4F63"/>
                </a:solidFill>
                <a:latin typeface="210 OmniGothic 030"/>
                <a:ea typeface="210 OmniGothic 030"/>
                <a:cs typeface="210 OmniGothic 030"/>
              </a:rPr>
              <a:t>제안 문장·근거 목록·AI 답변의 번호를 누르면 열림</a:t>
            </a:r>
            <a:endParaRPr lang="ko-KR" altLang="en-US" sz="1300"/>
          </a:p>
        </p:txBody>
      </p:sp>
      <p:sp>
        <p:nvSpPr>
          <p:cNvPr id="5039" name="Oval 5038"/>
          <p:cNvSpPr/>
          <p:nvPr/>
        </p:nvSpPr>
        <p:spPr>
          <a:xfrm>
            <a:off x="9006840" y="314439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40" name="TextBox 5039"/>
          <p:cNvSpPr txBox="1"/>
          <p:nvPr/>
        </p:nvSpPr>
        <p:spPr>
          <a:xfrm>
            <a:off x="9445752" y="3126105"/>
            <a:ext cx="8019288" cy="23812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500" b="1" dirty="0">
                <a:solidFill>
                  <a:srgbClr val="363A52"/>
                </a:solidFill>
                <a:latin typeface="210 OmniGothic 040"/>
                <a:ea typeface="210 OmniGothic 040"/>
                <a:cs typeface="210 OmniGothic 040"/>
              </a:rPr>
              <a:t>해당 제안 문장</a:t>
            </a:r>
            <a:endParaRPr lang="ko-KR" altLang="en-US" sz="1500"/>
          </a:p>
        </p:txBody>
      </p:sp>
      <p:sp>
        <p:nvSpPr>
          <p:cNvPr id="5041" name="TextBox 5040"/>
          <p:cNvSpPr txBox="1"/>
          <p:nvPr/>
        </p:nvSpPr>
        <p:spPr>
          <a:xfrm>
            <a:off x="9445752" y="3400806"/>
            <a:ext cx="8019288" cy="21793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4A4F63"/>
                </a:solidFill>
                <a:latin typeface="210 OmniGothic 030"/>
                <a:ea typeface="210 OmniGothic 030"/>
                <a:cs typeface="210 OmniGothic 030"/>
              </a:rPr>
              <a:t>어떤 문장의 근거인지 함께 표시(초록 띠)</a:t>
            </a:r>
            <a:endParaRPr lang="ko-KR" altLang="en-US" sz="1300"/>
          </a:p>
        </p:txBody>
      </p:sp>
      <p:sp>
        <p:nvSpPr>
          <p:cNvPr id="5042" name="Oval 5041"/>
          <p:cNvSpPr/>
          <p:nvPr/>
        </p:nvSpPr>
        <p:spPr>
          <a:xfrm>
            <a:off x="9006840" y="376504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43" name="TextBox 5042"/>
          <p:cNvSpPr txBox="1"/>
          <p:nvPr/>
        </p:nvSpPr>
        <p:spPr>
          <a:xfrm>
            <a:off x="9445752" y="3746754"/>
            <a:ext cx="8019288" cy="23812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500" b="1" dirty="0">
                <a:solidFill>
                  <a:srgbClr val="363A52"/>
                </a:solidFill>
                <a:latin typeface="210 OmniGothic 040"/>
                <a:ea typeface="210 OmniGothic 040"/>
                <a:cs typeface="210 OmniGothic 040"/>
              </a:rPr>
              <a:t>근거 항목</a:t>
            </a:r>
            <a:endParaRPr lang="ko-KR" altLang="en-US" sz="1500"/>
          </a:p>
        </p:txBody>
      </p:sp>
      <p:sp>
        <p:nvSpPr>
          <p:cNvPr id="5044" name="TextBox 5043"/>
          <p:cNvSpPr txBox="1"/>
          <p:nvPr/>
        </p:nvSpPr>
        <p:spPr>
          <a:xfrm>
            <a:off x="9445752" y="4021455"/>
            <a:ext cx="8019288" cy="21793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4A4F63"/>
                </a:solidFill>
                <a:latin typeface="210 OmniGothic 030"/>
                <a:ea typeface="210 OmniGothic 030"/>
                <a:cs typeface="210 OmniGothic 030"/>
              </a:rPr>
              <a:t>「산불 재난」 위기관리 표준매뉴얼 쪽수 · 항목명 · 요약, 누른 번호는 노란 강조</a:t>
            </a:r>
            <a:endParaRPr lang="ko-KR" altLang="en-US" sz="1300"/>
          </a:p>
        </p:txBody>
      </p:sp>
      <p:sp>
        <p:nvSpPr>
          <p:cNvPr id="5045" name="Oval 5044"/>
          <p:cNvSpPr/>
          <p:nvPr/>
        </p:nvSpPr>
        <p:spPr>
          <a:xfrm>
            <a:off x="9006840" y="438569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46" name="TextBox 5045"/>
          <p:cNvSpPr txBox="1"/>
          <p:nvPr/>
        </p:nvSpPr>
        <p:spPr>
          <a:xfrm>
            <a:off x="9445752" y="4367403"/>
            <a:ext cx="8019288" cy="23812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500" b="1" dirty="0">
                <a:solidFill>
                  <a:srgbClr val="363A52"/>
                </a:solidFill>
                <a:latin typeface="210 OmniGothic 040"/>
                <a:ea typeface="210 OmniGothic 040"/>
                <a:cs typeface="210 OmniGothic 040"/>
              </a:rPr>
              <a:t>닫기</a:t>
            </a:r>
            <a:endParaRPr lang="ko-KR" altLang="en-US" sz="1500"/>
          </a:p>
        </p:txBody>
      </p:sp>
      <p:sp>
        <p:nvSpPr>
          <p:cNvPr id="5047" name="TextBox 5046"/>
          <p:cNvSpPr txBox="1"/>
          <p:nvPr/>
        </p:nvSpPr>
        <p:spPr>
          <a:xfrm>
            <a:off x="9445752" y="4642104"/>
            <a:ext cx="8019288" cy="21793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4A4F63"/>
                </a:solidFill>
                <a:latin typeface="210 OmniGothic 030"/>
                <a:ea typeface="210 OmniGothic 030"/>
                <a:cs typeface="210 OmniGothic 030"/>
              </a:rPr>
              <a:t>근거 창을 닫으면 대응제안 탭으로 돌아감</a:t>
            </a:r>
            <a:endParaRPr lang="ko-KR" altLang="en-US" sz="1300"/>
          </a:p>
        </p:txBody>
      </p:sp>
      <p:sp>
        <p:nvSpPr>
          <p:cNvPr id="5048" name="Oval 5047"/>
          <p:cNvSpPr/>
          <p:nvPr/>
        </p:nvSpPr>
        <p:spPr>
          <a:xfrm>
            <a:off x="9006840" y="500634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49" name="TextBox 5048"/>
          <p:cNvSpPr txBox="1"/>
          <p:nvPr/>
        </p:nvSpPr>
        <p:spPr>
          <a:xfrm>
            <a:off x="9445752" y="4988052"/>
            <a:ext cx="8019288" cy="238125"/>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500" b="1" dirty="0">
                <a:solidFill>
                  <a:srgbClr val="363A52"/>
                </a:solidFill>
                <a:latin typeface="210 OmniGothic 040"/>
                <a:ea typeface="210 OmniGothic 040"/>
                <a:cs typeface="210 OmniGothic 040"/>
              </a:rPr>
              <a:t>제안 목록이 가려지지 않음</a:t>
            </a:r>
            <a:endParaRPr lang="ko-KR" altLang="en-US" sz="1500"/>
          </a:p>
        </p:txBody>
      </p:sp>
      <p:sp>
        <p:nvSpPr>
          <p:cNvPr id="5050" name="TextBox 5049"/>
          <p:cNvSpPr txBox="1"/>
          <p:nvPr/>
        </p:nvSpPr>
        <p:spPr>
          <a:xfrm>
            <a:off x="9445752" y="5262753"/>
            <a:ext cx="8019288" cy="21793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300" b="0" dirty="0">
                <a:solidFill>
                  <a:srgbClr val="4A4F63"/>
                </a:solidFill>
                <a:latin typeface="210 OmniGothic 030"/>
                <a:ea typeface="210 OmniGothic 030"/>
                <a:cs typeface="210 OmniGothic 030"/>
              </a:rPr>
              <a:t>근거 창이 고정 창 바로 옆(지도 위)에 열려 제안과 근거를 나란히 봄</a:t>
            </a:r>
            <a:endParaRPr lang="ko-KR" altLang="en-US" sz="1300"/>
          </a:p>
        </p:txBody>
      </p:sp>
      <p:sp>
        <p:nvSpPr>
          <p:cNvPr id="5051" name="Rounded Rectangle 5050"/>
          <p:cNvSpPr/>
          <p:nvPr/>
        </p:nvSpPr>
        <p:spPr>
          <a:xfrm>
            <a:off x="9006840" y="5709285"/>
            <a:ext cx="8458200" cy="2194560"/>
          </a:xfrm>
          <a:prstGeom prst="roundRect">
            <a:avLst>
              <a:gd name="adj" fmla="val 5000"/>
            </a:avLst>
          </a:prstGeom>
          <a:solidFill>
            <a:srgbClr val="F2F2F2"/>
          </a:solidFill>
          <a:ln>
            <a:noFill/>
          </a:ln>
        </p:spPr>
        <p:txBody>
          <a:bodyPr wrap="square" lIns="0" tIns="0" rIns="0" bIns="0" rtlCol="0" anchor="ctr">
            <a:noAutofit/>
          </a:bodyPr>
          <a:lstStyle/>
          <a:p>
            <a:pPr algn="ctr"/>
            <a:endParaRPr/>
          </a:p>
        </p:txBody>
      </p:sp>
      <p:sp>
        <p:nvSpPr>
          <p:cNvPr id="5052" name="TextBox 5051"/>
          <p:cNvSpPr txBox="1"/>
          <p:nvPr/>
        </p:nvSpPr>
        <p:spPr>
          <a:xfrm>
            <a:off x="9326880" y="5846445"/>
            <a:ext cx="781812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50" b="1" dirty="0">
                <a:solidFill>
                  <a:srgbClr val="363A52"/>
                </a:solidFill>
                <a:latin typeface="210 OmniGothic 040"/>
                <a:ea typeface="210 OmniGothic 040"/>
                <a:cs typeface="210 OmniGothic 040"/>
              </a:rPr>
              <a:t>근거 연결 원칙</a:t>
            </a:r>
            <a:endParaRPr lang="ko-KR" altLang="en-US" sz="1550"/>
          </a:p>
        </p:txBody>
      </p:sp>
      <p:sp>
        <p:nvSpPr>
          <p:cNvPr id="5053" name="TextBox 5052"/>
          <p:cNvSpPr txBox="1"/>
          <p:nvPr/>
        </p:nvSpPr>
        <p:spPr>
          <a:xfrm>
            <a:off x="9326880" y="6276213"/>
            <a:ext cx="7818120" cy="1554480"/>
          </a:xfrm>
          <a:prstGeom prst="rect">
            <a:avLst/>
          </a:prstGeom>
          <a:noFill/>
        </p:spPr>
        <p:txBody>
          <a:bodyPr wrap="square" lIns="0" tIns="0" rIns="0" bIns="0" rtlCol="0" anchor="t">
            <a:noAutofit/>
          </a:bodyPr>
          <a:lstStyle/>
          <a:p>
            <a:pPr marL="201168" indent="-201168" algn="l" latinLnBrk="0">
              <a:lnSpc>
                <a:spcPct val="130000"/>
              </a:lnSpc>
              <a:spcBef>
                <a:spcPts val="0"/>
              </a:spcBef>
              <a:spcAft>
                <a:spcPts val="400"/>
              </a:spcAft>
              <a:buClr>
                <a:srgbClr val="FAA95A"/>
              </a:buClr>
              <a:buFont typeface="Arial"/>
              <a:buChar char="•"/>
            </a:pPr>
            <a:r>
              <a:rPr lang="ko-KR" altLang="en-US" sz="1300" b="0" dirty="0">
                <a:solidFill>
                  <a:srgbClr val="2E3142"/>
                </a:solidFill>
                <a:latin typeface="210 OmniGothic 030"/>
                <a:ea typeface="210 OmniGothic 030"/>
                <a:cs typeface="210 OmniGothic 030"/>
              </a:rPr>
              <a:t>제안 문장마다 근거 번호를 붙이고, 근거가 없는 문장·수량은 제안서에 넣지 않는다.</a:t>
            </a:r>
            <a:endParaRPr lang="ko-KR" altLang="en-US" sz="1300"/>
          </a:p>
          <a:p>
            <a:pPr marL="201168" indent="-201168" algn="l" latinLnBrk="0">
              <a:lnSpc>
                <a:spcPct val="130000"/>
              </a:lnSpc>
              <a:spcBef>
                <a:spcPts val="0"/>
              </a:spcBef>
              <a:spcAft>
                <a:spcPts val="400"/>
              </a:spcAft>
              <a:buClr>
                <a:srgbClr val="FAA95A"/>
              </a:buClr>
              <a:buFont typeface="Arial"/>
              <a:buChar char="•"/>
            </a:pPr>
            <a:r>
              <a:rPr lang="ko-KR" altLang="en-US" sz="1300" b="0" dirty="0">
                <a:solidFill>
                  <a:srgbClr val="2E3142"/>
                </a:solidFill>
                <a:latin typeface="210 OmniGothic 030"/>
                <a:ea typeface="210 OmniGothic 030"/>
                <a:cs typeface="210 OmniGothic 030"/>
              </a:rPr>
              <a:t>프로토타입은 매뉴얼 쪽수별 요약을 보여 주고, 본 개발에서는 조항 단위로 검색한 원문 청크(KURE-v1 + FAISS)를 연결한다.</a:t>
            </a:r>
            <a:endParaRPr lang="ko-KR" altLang="en-US" sz="1300"/>
          </a:p>
          <a:p>
            <a:pPr marL="201168" indent="-201168" algn="l" latinLnBrk="0">
              <a:lnSpc>
                <a:spcPct val="130000"/>
              </a:lnSpc>
              <a:spcBef>
                <a:spcPts val="0"/>
              </a:spcBef>
              <a:spcAft>
                <a:spcPts val="400"/>
              </a:spcAft>
              <a:buClr>
                <a:srgbClr val="FAA95A"/>
              </a:buClr>
              <a:buFont typeface="Arial"/>
              <a:buChar char="•"/>
            </a:pPr>
            <a:r>
              <a:rPr lang="ko-KR" altLang="en-US" sz="1300" b="0" dirty="0">
                <a:solidFill>
                  <a:srgbClr val="2E3142"/>
                </a:solidFill>
                <a:latin typeface="210 OmniGothic 030"/>
                <a:ea typeface="210 OmniGothic 030"/>
                <a:cs typeface="210 OmniGothic 030"/>
              </a:rPr>
              <a:t>근거 창은 AI 요약을 보여 주며, 관련한 매뉴얼 원문 문서는 연결하여 열람할 수 있도록 한다.</a:t>
            </a:r>
            <a:endParaRPr lang="ko-KR" altLang="en-US" sz="1300"/>
          </a:p>
        </p:txBody>
      </p:sp>
      <p:sp>
        <p:nvSpPr>
          <p:cNvPr id="5054" name="Rounded Rectangle 5053"/>
          <p:cNvSpPr/>
          <p:nvPr/>
        </p:nvSpPr>
        <p:spPr>
          <a:xfrm>
            <a:off x="900684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5" name="TextBox 5054"/>
          <p:cNvSpPr txBox="1"/>
          <p:nvPr/>
        </p:nvSpPr>
        <p:spPr>
          <a:xfrm>
            <a:off x="10149840" y="8769096"/>
            <a:ext cx="73152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F-13 대응 근거 조회 · UC-PROP-03(«extend» PROP-01·02, QA-01) · QUR-001</a:t>
            </a:r>
            <a:endParaRPr lang="ko-KR" altLang="en-US" sz="1200"/>
          </a:p>
        </p:txBody>
      </p:sp>
      <p:sp>
        <p:nvSpPr>
          <p:cNvPr id="5056"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1769078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⑦ AI 어시스턴트 질의응답 (UC-QA-01)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35</a:t>
            </a:fld>
            <a:endParaRPr lang="en-US"/>
          </a:p>
        </p:txBody>
      </p:sp>
      <p:pic>
        <p:nvPicPr>
          <p:cNvPr id="5024" name="Picture 5023" descr="G_11_chat_qa_c1300_470_1920_1080.jpg"/>
          <p:cNvPicPr>
            <a:picLocks noChangeAspect="1"/>
          </p:cNvPicPr>
          <p:nvPr/>
        </p:nvPicPr>
        <p:blipFill>
          <a:blip r:embed="rId6"/>
          <a:stretch>
            <a:fillRect/>
          </a:stretch>
        </p:blipFill>
        <p:spPr>
          <a:xfrm>
            <a:off x="822960" y="2432304"/>
            <a:ext cx="6738079" cy="6629400"/>
          </a:xfrm>
          <a:prstGeom prst="rect">
            <a:avLst/>
          </a:prstGeom>
          <a:ln w="9525">
            <a:solidFill>
              <a:srgbClr val="D5D8E0"/>
            </a:solidFill>
          </a:ln>
        </p:spPr>
      </p:pic>
      <p:sp>
        <p:nvSpPr>
          <p:cNvPr id="5025" name="Rounded Rectangle 5024"/>
          <p:cNvSpPr/>
          <p:nvPr/>
        </p:nvSpPr>
        <p:spPr>
          <a:xfrm>
            <a:off x="2572687" y="7703220"/>
            <a:ext cx="4151526" cy="521658"/>
          </a:xfrm>
          <a:prstGeom prst="roundRect">
            <a:avLst>
              <a:gd name="adj" fmla="val 8764"/>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2401694" y="7532228"/>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2572687" y="3758184"/>
            <a:ext cx="4129790" cy="369508"/>
          </a:xfrm>
          <a:prstGeom prst="roundRect">
            <a:avLst>
              <a:gd name="adj" fmla="val 12373"/>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2225215" y="378749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2648762" y="4942782"/>
            <a:ext cx="3629868" cy="1260673"/>
          </a:xfrm>
          <a:prstGeom prst="roundRect">
            <a:avLst>
              <a:gd name="adj" fmla="val 3626"/>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2301290" y="541767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2648762" y="6551226"/>
            <a:ext cx="3629868" cy="1054183"/>
          </a:xfrm>
          <a:prstGeom prst="roundRect">
            <a:avLst>
              <a:gd name="adj" fmla="val 4337"/>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2301290" y="692287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2550951" y="8203142"/>
            <a:ext cx="847694" cy="347772"/>
          </a:xfrm>
          <a:prstGeom prst="roundRect">
            <a:avLst>
              <a:gd name="adj" fmla="val 13146"/>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2379958" y="841101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Rounded Rectangle 5034"/>
          <p:cNvSpPr/>
          <p:nvPr/>
        </p:nvSpPr>
        <p:spPr>
          <a:xfrm>
            <a:off x="3355173" y="8203142"/>
            <a:ext cx="2869117" cy="347772"/>
          </a:xfrm>
          <a:prstGeom prst="roundRect">
            <a:avLst>
              <a:gd name="adj" fmla="val 13146"/>
            </a:avLst>
          </a:prstGeom>
          <a:noFill/>
          <a:ln w="28575">
            <a:solidFill>
              <a:srgbClr val="E8742A"/>
            </a:solidFill>
          </a:ln>
        </p:spPr>
        <p:txBody>
          <a:bodyPr wrap="square" lIns="0" tIns="0" rIns="0" bIns="0" rtlCol="0" anchor="ctr">
            <a:noAutofit/>
          </a:bodyPr>
          <a:lstStyle/>
          <a:p>
            <a:pPr algn="ctr"/>
            <a:endParaRPr/>
          </a:p>
        </p:txBody>
      </p:sp>
      <p:sp>
        <p:nvSpPr>
          <p:cNvPr id="5036" name="Oval 5035"/>
          <p:cNvSpPr/>
          <p:nvPr/>
        </p:nvSpPr>
        <p:spPr>
          <a:xfrm>
            <a:off x="6084388" y="841101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7" name="Oval 5036"/>
          <p:cNvSpPr/>
          <p:nvPr/>
        </p:nvSpPr>
        <p:spPr>
          <a:xfrm>
            <a:off x="7926799" y="252374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1</a:t>
            </a:r>
            <a:endParaRPr lang="ko-KR" altLang="en-US" sz="1216"/>
          </a:p>
        </p:txBody>
      </p:sp>
      <p:sp>
        <p:nvSpPr>
          <p:cNvPr id="5038" name="TextBox 5037"/>
          <p:cNvSpPr txBox="1"/>
          <p:nvPr/>
        </p:nvSpPr>
        <p:spPr>
          <a:xfrm>
            <a:off x="8347423" y="2505456"/>
            <a:ext cx="9117617"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빠른 질문 6개</a:t>
            </a:r>
            <a:endParaRPr lang="ko-KR" altLang="en-US" sz="1450"/>
          </a:p>
        </p:txBody>
      </p:sp>
      <p:sp>
        <p:nvSpPr>
          <p:cNvPr id="5039" name="TextBox 5038"/>
          <p:cNvSpPr txBox="1"/>
          <p:nvPr/>
        </p:nvSpPr>
        <p:spPr>
          <a:xfrm>
            <a:off x="8347423" y="2772220"/>
            <a:ext cx="9117617"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대피 순서 이유 · 헬기 운용 가능 여부 · 격상 기준 · 대피소 수용 초과 시 대안 · 추가 투입 헬기 대수 · 현재 위험도</a:t>
            </a:r>
            <a:endParaRPr lang="ko-KR" altLang="en-US" sz="1250"/>
          </a:p>
        </p:txBody>
      </p:sp>
      <p:sp>
        <p:nvSpPr>
          <p:cNvPr id="5040" name="Oval 5039"/>
          <p:cNvSpPr/>
          <p:nvPr/>
        </p:nvSpPr>
        <p:spPr>
          <a:xfrm>
            <a:off x="7926799" y="3109786"/>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2</a:t>
            </a:r>
            <a:endParaRPr lang="ko-KR" altLang="en-US" sz="1216"/>
          </a:p>
        </p:txBody>
      </p:sp>
      <p:sp>
        <p:nvSpPr>
          <p:cNvPr id="5041" name="TextBox 5040"/>
          <p:cNvSpPr txBox="1"/>
          <p:nvPr/>
        </p:nvSpPr>
        <p:spPr>
          <a:xfrm>
            <a:off x="8347423" y="3091498"/>
            <a:ext cx="9117617"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항목 지정(「이 항목 질문」)</a:t>
            </a:r>
            <a:endParaRPr lang="ko-KR" altLang="en-US" sz="1450"/>
          </a:p>
        </p:txBody>
      </p:sp>
      <p:sp>
        <p:nvSpPr>
          <p:cNvPr id="5042" name="TextBox 5041"/>
          <p:cNvSpPr txBox="1"/>
          <p:nvPr/>
        </p:nvSpPr>
        <p:spPr>
          <a:xfrm>
            <a:off x="8347423" y="3358261"/>
            <a:ext cx="9117617"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대응제안 카드에서 누르면 그 항목의 제안·근거·상황값을 붙여 질문하고, 답도 그 항목 기준</a:t>
            </a:r>
            <a:endParaRPr lang="ko-KR" altLang="en-US" sz="1250"/>
          </a:p>
        </p:txBody>
      </p:sp>
      <p:sp>
        <p:nvSpPr>
          <p:cNvPr id="5043" name="Oval 5042"/>
          <p:cNvSpPr/>
          <p:nvPr/>
        </p:nvSpPr>
        <p:spPr>
          <a:xfrm>
            <a:off x="7926799" y="3695827"/>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3</a:t>
            </a:r>
            <a:endParaRPr lang="ko-KR" altLang="en-US" sz="1216"/>
          </a:p>
        </p:txBody>
      </p:sp>
      <p:sp>
        <p:nvSpPr>
          <p:cNvPr id="5044" name="TextBox 5043"/>
          <p:cNvSpPr txBox="1"/>
          <p:nvPr/>
        </p:nvSpPr>
        <p:spPr>
          <a:xfrm>
            <a:off x="8347423" y="3677539"/>
            <a:ext cx="9117617"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근거 번호가 붙은 답변</a:t>
            </a:r>
            <a:endParaRPr lang="ko-KR" altLang="en-US" sz="1450"/>
          </a:p>
        </p:txBody>
      </p:sp>
      <p:sp>
        <p:nvSpPr>
          <p:cNvPr id="5045" name="TextBox 5044"/>
          <p:cNvSpPr txBox="1"/>
          <p:nvPr/>
        </p:nvSpPr>
        <p:spPr>
          <a:xfrm>
            <a:off x="8347423" y="3944302"/>
            <a:ext cx="9117617"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현재 상황 값(시각·풍속 등)을 넣어 답하고 근거 [k]를 붙임. 답변은 상황·제안을 바꾸지 않음</a:t>
            </a:r>
            <a:endParaRPr lang="ko-KR" altLang="en-US" sz="1250"/>
          </a:p>
        </p:txBody>
      </p:sp>
      <p:sp>
        <p:nvSpPr>
          <p:cNvPr id="5046" name="Oval 5045"/>
          <p:cNvSpPr/>
          <p:nvPr/>
        </p:nvSpPr>
        <p:spPr>
          <a:xfrm>
            <a:off x="7926799" y="4281868"/>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4</a:t>
            </a:r>
            <a:endParaRPr lang="ko-KR" altLang="en-US" sz="1216"/>
          </a:p>
        </p:txBody>
      </p:sp>
      <p:sp>
        <p:nvSpPr>
          <p:cNvPr id="5047" name="TextBox 5046"/>
          <p:cNvSpPr txBox="1"/>
          <p:nvPr/>
        </p:nvSpPr>
        <p:spPr>
          <a:xfrm>
            <a:off x="8347423" y="4263580"/>
            <a:ext cx="9117617"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근거가 없으면 추측하지 않음</a:t>
            </a:r>
            <a:endParaRPr lang="ko-KR" altLang="en-US" sz="1450"/>
          </a:p>
        </p:txBody>
      </p:sp>
      <p:sp>
        <p:nvSpPr>
          <p:cNvPr id="5048" name="TextBox 5047"/>
          <p:cNvSpPr txBox="1"/>
          <p:nvPr/>
        </p:nvSpPr>
        <p:spPr>
          <a:xfrm>
            <a:off x="8347423" y="4530344"/>
            <a:ext cx="9117617"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「…근거가 부족하여 표시하지 않았습니다」, 이벤트 로그에 「근거 부족」</a:t>
            </a:r>
            <a:endParaRPr lang="ko-KR" altLang="en-US" sz="1250"/>
          </a:p>
        </p:txBody>
      </p:sp>
      <p:sp>
        <p:nvSpPr>
          <p:cNvPr id="5049" name="Oval 5048"/>
          <p:cNvSpPr/>
          <p:nvPr/>
        </p:nvSpPr>
        <p:spPr>
          <a:xfrm>
            <a:off x="7926799" y="4867910"/>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5</a:t>
            </a:r>
            <a:endParaRPr lang="ko-KR" altLang="en-US" sz="1216"/>
          </a:p>
        </p:txBody>
      </p:sp>
      <p:sp>
        <p:nvSpPr>
          <p:cNvPr id="5050" name="TextBox 5049"/>
          <p:cNvSpPr txBox="1"/>
          <p:nvPr/>
        </p:nvSpPr>
        <p:spPr>
          <a:xfrm>
            <a:off x="8347423" y="4849622"/>
            <a:ext cx="9117617"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「상황 정정」</a:t>
            </a:r>
            <a:endParaRPr lang="ko-KR" altLang="en-US" sz="1450"/>
          </a:p>
        </p:txBody>
      </p:sp>
      <p:sp>
        <p:nvSpPr>
          <p:cNvPr id="5051" name="TextBox 5050"/>
          <p:cNvSpPr txBox="1"/>
          <p:nvPr/>
        </p:nvSpPr>
        <p:spPr>
          <a:xfrm>
            <a:off x="8347423" y="5116386"/>
            <a:ext cx="9117617"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상황 변화 입력 모드로 전환(다음 쪽)</a:t>
            </a:r>
            <a:endParaRPr lang="ko-KR" altLang="en-US" sz="1250"/>
          </a:p>
        </p:txBody>
      </p:sp>
      <p:sp>
        <p:nvSpPr>
          <p:cNvPr id="5052" name="Oval 5051"/>
          <p:cNvSpPr/>
          <p:nvPr/>
        </p:nvSpPr>
        <p:spPr>
          <a:xfrm>
            <a:off x="7926799" y="5453952"/>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6</a:t>
            </a:r>
            <a:endParaRPr lang="ko-KR" altLang="en-US" sz="1216"/>
          </a:p>
        </p:txBody>
      </p:sp>
      <p:sp>
        <p:nvSpPr>
          <p:cNvPr id="5053" name="TextBox 5052"/>
          <p:cNvSpPr txBox="1"/>
          <p:nvPr/>
        </p:nvSpPr>
        <p:spPr>
          <a:xfrm>
            <a:off x="8347423" y="5435664"/>
            <a:ext cx="9117617"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자유 질문 입력</a:t>
            </a:r>
            <a:endParaRPr lang="ko-KR" altLang="en-US" sz="1450"/>
          </a:p>
        </p:txBody>
      </p:sp>
      <p:sp>
        <p:nvSpPr>
          <p:cNvPr id="5054" name="TextBox 5053"/>
          <p:cNvSpPr txBox="1"/>
          <p:nvPr/>
        </p:nvSpPr>
        <p:spPr>
          <a:xfrm>
            <a:off x="8347423" y="5702427"/>
            <a:ext cx="9117617"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질문을 직접 입력</a:t>
            </a:r>
            <a:endParaRPr lang="ko-KR" altLang="en-US" sz="1250"/>
          </a:p>
        </p:txBody>
      </p:sp>
      <p:sp>
        <p:nvSpPr>
          <p:cNvPr id="5055" name="Rounded Rectangle 5054"/>
          <p:cNvSpPr/>
          <p:nvPr/>
        </p:nvSpPr>
        <p:spPr>
          <a:xfrm>
            <a:off x="7926799" y="6076569"/>
            <a:ext cx="9538241" cy="868680"/>
          </a:xfrm>
          <a:prstGeom prst="roundRect">
            <a:avLst>
              <a:gd name="adj" fmla="val 10526"/>
            </a:avLst>
          </a:prstGeom>
          <a:solidFill>
            <a:srgbClr val="FDF1E6"/>
          </a:solidFill>
          <a:ln>
            <a:noFill/>
          </a:ln>
        </p:spPr>
        <p:txBody>
          <a:bodyPr wrap="square" lIns="0" tIns="0" rIns="0" bIns="0" rtlCol="0" anchor="ctr">
            <a:noAutofit/>
          </a:bodyPr>
          <a:lstStyle/>
          <a:p>
            <a:pPr algn="ctr"/>
            <a:endParaRPr/>
          </a:p>
        </p:txBody>
      </p:sp>
      <p:sp>
        <p:nvSpPr>
          <p:cNvPr id="5056" name="TextBox 5055"/>
          <p:cNvSpPr txBox="1"/>
          <p:nvPr/>
        </p:nvSpPr>
        <p:spPr>
          <a:xfrm>
            <a:off x="8155399" y="6076569"/>
            <a:ext cx="9081041" cy="868680"/>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50" b="0" dirty="0">
                <a:solidFill>
                  <a:srgbClr val="B5601C"/>
                </a:solidFill>
                <a:latin typeface="210 OmniGothic 030"/>
                <a:ea typeface="210 OmniGothic 030"/>
                <a:cs typeface="210 OmniGothic 030"/>
              </a:rPr>
              <a:t>프로토타입은 키워드 대본으로 답하고, 본 개발에서는 EXAONE 4.0 32B가 검색한 매뉴얼 근거로 답변을 작성한다.</a:t>
            </a:r>
            <a:endParaRPr lang="ko-KR" altLang="en-US" sz="1250"/>
          </a:p>
        </p:txBody>
      </p:sp>
      <p:sp>
        <p:nvSpPr>
          <p:cNvPr id="5057" name="Rounded Rectangle 5056"/>
          <p:cNvSpPr/>
          <p:nvPr/>
        </p:nvSpPr>
        <p:spPr>
          <a:xfrm>
            <a:off x="7926799"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8" name="TextBox 5057"/>
          <p:cNvSpPr txBox="1"/>
          <p:nvPr/>
        </p:nvSpPr>
        <p:spPr>
          <a:xfrm>
            <a:off x="9069799" y="8769096"/>
            <a:ext cx="8395241"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F-29 AI 질의응답 · UC-QA-01 · F-32(근거 부족 기록)</a:t>
            </a:r>
            <a:endParaRPr lang="ko-KR" altLang="en-US" sz="1200"/>
          </a:p>
        </p:txBody>
      </p:sp>
      <p:sp>
        <p:nvSpPr>
          <p:cNvPr id="5059"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690390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⑧ AI 상황 정정 → 제안서 새 버전 (UC-QA-02)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36</a:t>
            </a:fld>
            <a:endParaRPr lang="en-US"/>
          </a:p>
        </p:txBody>
      </p:sp>
      <p:sp>
        <p:nvSpPr>
          <p:cNvPr id="5024" name="Rectangle 5023"/>
          <p:cNvSpPr/>
          <p:nvPr/>
        </p:nvSpPr>
        <p:spPr>
          <a:xfrm>
            <a:off x="822960" y="2432304"/>
            <a:ext cx="667512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① 상황 변화 입력 → 정정 확인 창(변화 2건)</a:t>
            </a:r>
            <a:endParaRPr lang="ko-KR" altLang="en-US" sz="1250"/>
          </a:p>
        </p:txBody>
      </p:sp>
      <p:pic>
        <p:nvPicPr>
          <p:cNvPr id="5025" name="Picture 5024" descr="G_12_corr_confirm_c580_413_1340_668.jpg"/>
          <p:cNvPicPr>
            <a:picLocks noChangeAspect="1"/>
          </p:cNvPicPr>
          <p:nvPr/>
        </p:nvPicPr>
        <p:blipFill>
          <a:blip r:embed="rId6"/>
          <a:stretch>
            <a:fillRect/>
          </a:stretch>
        </p:blipFill>
        <p:spPr>
          <a:xfrm>
            <a:off x="822960" y="2743200"/>
            <a:ext cx="6675120" cy="2239678"/>
          </a:xfrm>
          <a:prstGeom prst="rect">
            <a:avLst/>
          </a:prstGeom>
          <a:ln w="9525">
            <a:solidFill>
              <a:srgbClr val="D5D8E0"/>
            </a:solidFill>
          </a:ln>
        </p:spPr>
      </p:pic>
      <p:sp>
        <p:nvSpPr>
          <p:cNvPr id="5026" name="Rounded Rectangle 5025"/>
          <p:cNvSpPr/>
          <p:nvPr/>
        </p:nvSpPr>
        <p:spPr>
          <a:xfrm>
            <a:off x="831743" y="3068173"/>
            <a:ext cx="6657554" cy="298624"/>
          </a:xfrm>
          <a:prstGeom prst="roundRect">
            <a:avLst>
              <a:gd name="adj" fmla="val 15310"/>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667512" y="306203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831743" y="3314098"/>
            <a:ext cx="6657554" cy="860739"/>
          </a:xfrm>
          <a:prstGeom prst="roundRect">
            <a:avLst>
              <a:gd name="adj" fmla="val 5311"/>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667512" y="358902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ounded Rectangle 5029"/>
          <p:cNvSpPr/>
          <p:nvPr/>
        </p:nvSpPr>
        <p:spPr>
          <a:xfrm>
            <a:off x="6154273" y="4596424"/>
            <a:ext cx="1282326" cy="316190"/>
          </a:xfrm>
          <a:prstGeom prst="roundRect">
            <a:avLst>
              <a:gd name="adj" fmla="val 14459"/>
            </a:avLst>
          </a:prstGeom>
          <a:noFill/>
          <a:ln w="28575">
            <a:solidFill>
              <a:srgbClr val="E8742A"/>
            </a:solidFill>
          </a:ln>
        </p:spPr>
        <p:txBody>
          <a:bodyPr wrap="square" lIns="0" tIns="0" rIns="0" bIns="0" rtlCol="0" anchor="ctr">
            <a:noAutofit/>
          </a:bodyPr>
          <a:lstStyle/>
          <a:p>
            <a:pPr algn="ctr"/>
            <a:endParaRPr/>
          </a:p>
        </p:txBody>
      </p:sp>
      <p:sp>
        <p:nvSpPr>
          <p:cNvPr id="5031" name="Oval 5030"/>
          <p:cNvSpPr/>
          <p:nvPr/>
        </p:nvSpPr>
        <p:spPr>
          <a:xfrm>
            <a:off x="5806801" y="459907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2" name="Rectangle 5031"/>
          <p:cNvSpPr/>
          <p:nvPr/>
        </p:nvSpPr>
        <p:spPr>
          <a:xfrm>
            <a:off x="822960" y="5257198"/>
            <a:ext cx="667512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② 저장 후 — 제안 변경사항 (v1.1 → v1.2, 바뀐 항목 2개)</a:t>
            </a:r>
            <a:endParaRPr lang="ko-KR" altLang="en-US" sz="1250"/>
          </a:p>
        </p:txBody>
      </p:sp>
      <p:pic>
        <p:nvPicPr>
          <p:cNvPr id="5033" name="Picture 5032" descr="G_13_corr_changes_c580_340_1340_725.jpg"/>
          <p:cNvPicPr>
            <a:picLocks noChangeAspect="1"/>
          </p:cNvPicPr>
          <p:nvPr/>
        </p:nvPicPr>
        <p:blipFill>
          <a:blip r:embed="rId7"/>
          <a:stretch>
            <a:fillRect/>
          </a:stretch>
        </p:blipFill>
        <p:spPr>
          <a:xfrm>
            <a:off x="822960" y="5568094"/>
            <a:ext cx="6675120" cy="3381475"/>
          </a:xfrm>
          <a:prstGeom prst="rect">
            <a:avLst/>
          </a:prstGeom>
          <a:ln w="9525">
            <a:solidFill>
              <a:srgbClr val="D5D8E0"/>
            </a:solidFill>
          </a:ln>
        </p:spPr>
      </p:pic>
      <p:sp>
        <p:nvSpPr>
          <p:cNvPr id="5034" name="Rounded Rectangle 5033"/>
          <p:cNvSpPr/>
          <p:nvPr/>
        </p:nvSpPr>
        <p:spPr>
          <a:xfrm>
            <a:off x="981055" y="7324705"/>
            <a:ext cx="3214597" cy="1616082"/>
          </a:xfrm>
          <a:prstGeom prst="roundRect">
            <a:avLst>
              <a:gd name="adj" fmla="val 2829"/>
            </a:avLst>
          </a:prstGeom>
          <a:noFill/>
          <a:ln w="28575">
            <a:solidFill>
              <a:srgbClr val="E8742A"/>
            </a:solidFill>
          </a:ln>
        </p:spPr>
        <p:txBody>
          <a:bodyPr wrap="square" lIns="0" tIns="0" rIns="0" bIns="0" rtlCol="0" anchor="ctr">
            <a:noAutofit/>
          </a:bodyPr>
          <a:lstStyle/>
          <a:p>
            <a:pPr algn="ctr"/>
            <a:endParaRPr/>
          </a:p>
        </p:txBody>
      </p:sp>
      <p:sp>
        <p:nvSpPr>
          <p:cNvPr id="5035" name="Oval 5034"/>
          <p:cNvSpPr/>
          <p:nvPr/>
        </p:nvSpPr>
        <p:spPr>
          <a:xfrm>
            <a:off x="667512" y="7977298"/>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6" name="Rounded Rectangle 5035"/>
          <p:cNvSpPr/>
          <p:nvPr/>
        </p:nvSpPr>
        <p:spPr>
          <a:xfrm>
            <a:off x="4160520" y="7324705"/>
            <a:ext cx="3214597" cy="1616082"/>
          </a:xfrm>
          <a:prstGeom prst="roundRect">
            <a:avLst>
              <a:gd name="adj" fmla="val 2829"/>
            </a:avLst>
          </a:prstGeom>
          <a:noFill/>
          <a:ln w="28575">
            <a:solidFill>
              <a:srgbClr val="E8742A"/>
            </a:solidFill>
          </a:ln>
        </p:spPr>
        <p:txBody>
          <a:bodyPr wrap="square" lIns="0" tIns="0" rIns="0" bIns="0" rtlCol="0" anchor="ctr">
            <a:noAutofit/>
          </a:bodyPr>
          <a:lstStyle/>
          <a:p>
            <a:pPr algn="ctr"/>
            <a:endParaRPr/>
          </a:p>
        </p:txBody>
      </p:sp>
      <p:sp>
        <p:nvSpPr>
          <p:cNvPr id="5037" name="Oval 5036"/>
          <p:cNvSpPr/>
          <p:nvPr/>
        </p:nvSpPr>
        <p:spPr>
          <a:xfrm>
            <a:off x="7342632" y="7977298"/>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8" name="Oval 5037"/>
          <p:cNvSpPr/>
          <p:nvPr/>
        </p:nvSpPr>
        <p:spPr>
          <a:xfrm>
            <a:off x="7863840" y="252374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1</a:t>
            </a:r>
            <a:endParaRPr lang="ko-KR" altLang="en-US" sz="1216"/>
          </a:p>
        </p:txBody>
      </p:sp>
      <p:sp>
        <p:nvSpPr>
          <p:cNvPr id="5039" name="TextBox 5038"/>
          <p:cNvSpPr txBox="1"/>
          <p:nvPr/>
        </p:nvSpPr>
        <p:spPr>
          <a:xfrm>
            <a:off x="8284464" y="2505456"/>
            <a:ext cx="9180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입력 문장</a:t>
            </a:r>
            <a:endParaRPr lang="ko-KR" altLang="en-US" sz="1450"/>
          </a:p>
        </p:txBody>
      </p:sp>
      <p:sp>
        <p:nvSpPr>
          <p:cNvPr id="5040" name="TextBox 5039"/>
          <p:cNvSpPr txBox="1"/>
          <p:nvPr/>
        </p:nvSpPr>
        <p:spPr>
          <a:xfrm>
            <a:off x="8284464" y="2772220"/>
            <a:ext cx="9180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「괴산리 주민 대피 완료했고 헬기 2대 추가 투입했어」 — 한 문장의 변화 2건을 모두 해석</a:t>
            </a:r>
            <a:endParaRPr lang="ko-KR" altLang="en-US" sz="1250"/>
          </a:p>
        </p:txBody>
      </p:sp>
      <p:sp>
        <p:nvSpPr>
          <p:cNvPr id="5041" name="Oval 5040"/>
          <p:cNvSpPr/>
          <p:nvPr/>
        </p:nvSpPr>
        <p:spPr>
          <a:xfrm>
            <a:off x="7863840" y="3109786"/>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2</a:t>
            </a:r>
            <a:endParaRPr lang="ko-KR" altLang="en-US" sz="1216"/>
          </a:p>
        </p:txBody>
      </p:sp>
      <p:sp>
        <p:nvSpPr>
          <p:cNvPr id="5042" name="TextBox 5041"/>
          <p:cNvSpPr txBox="1"/>
          <p:nvPr/>
        </p:nvSpPr>
        <p:spPr>
          <a:xfrm>
            <a:off x="8284464" y="3091498"/>
            <a:ext cx="9180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대상 · 항목 · 이전 → 변경</a:t>
            </a:r>
            <a:endParaRPr lang="ko-KR" altLang="en-US" sz="1450"/>
          </a:p>
        </p:txBody>
      </p:sp>
      <p:sp>
        <p:nvSpPr>
          <p:cNvPr id="5043" name="TextBox 5042"/>
          <p:cNvSpPr txBox="1"/>
          <p:nvPr/>
        </p:nvSpPr>
        <p:spPr>
          <a:xfrm>
            <a:off x="8284464" y="3358261"/>
            <a:ext cx="91805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괴산리 대피 완료 + 헬기 4대 → 6대(추가 2). 「추가」는 현재 투입 수에 더하고, 해석하지 못한 부분은 따로 안내. 확인 전에는 아무것도 저장하지 않음</a:t>
            </a:r>
            <a:endParaRPr lang="ko-KR" altLang="en-US" sz="1250"/>
          </a:p>
        </p:txBody>
      </p:sp>
      <p:sp>
        <p:nvSpPr>
          <p:cNvPr id="5044" name="Oval 5043"/>
          <p:cNvSpPr/>
          <p:nvPr/>
        </p:nvSpPr>
        <p:spPr>
          <a:xfrm>
            <a:off x="7863840" y="3905377"/>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3</a:t>
            </a:r>
            <a:endParaRPr lang="ko-KR" altLang="en-US" sz="1216"/>
          </a:p>
        </p:txBody>
      </p:sp>
      <p:sp>
        <p:nvSpPr>
          <p:cNvPr id="5045" name="TextBox 5044"/>
          <p:cNvSpPr txBox="1"/>
          <p:nvPr/>
        </p:nvSpPr>
        <p:spPr>
          <a:xfrm>
            <a:off x="8284464" y="3887089"/>
            <a:ext cx="9180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「확인 · 저장 후 재생성」</a:t>
            </a:r>
            <a:endParaRPr lang="ko-KR" altLang="en-US" sz="1450"/>
          </a:p>
        </p:txBody>
      </p:sp>
      <p:sp>
        <p:nvSpPr>
          <p:cNvPr id="5046" name="TextBox 5045"/>
          <p:cNvSpPr txBox="1"/>
          <p:nvPr/>
        </p:nvSpPr>
        <p:spPr>
          <a:xfrm>
            <a:off x="8284464" y="4153852"/>
            <a:ext cx="9180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상황 값 저장·이벤트 로그 기록, 예측(P1~P8)은 그대로 두고 규칙 판정·제안만 다시 생성</a:t>
            </a:r>
            <a:endParaRPr lang="ko-KR" altLang="en-US" sz="1250"/>
          </a:p>
        </p:txBody>
      </p:sp>
      <p:sp>
        <p:nvSpPr>
          <p:cNvPr id="5047" name="Oval 5046"/>
          <p:cNvSpPr/>
          <p:nvPr/>
        </p:nvSpPr>
        <p:spPr>
          <a:xfrm>
            <a:off x="7863840" y="4491418"/>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4</a:t>
            </a:r>
            <a:endParaRPr lang="ko-KR" altLang="en-US" sz="1216"/>
          </a:p>
        </p:txBody>
      </p:sp>
      <p:sp>
        <p:nvSpPr>
          <p:cNvPr id="5048" name="TextBox 5047"/>
          <p:cNvSpPr txBox="1"/>
          <p:nvPr/>
        </p:nvSpPr>
        <p:spPr>
          <a:xfrm>
            <a:off x="8284464" y="4473131"/>
            <a:ext cx="9180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이전 버전 문장</a:t>
            </a:r>
            <a:endParaRPr lang="ko-KR" altLang="en-US" sz="1450"/>
          </a:p>
        </p:txBody>
      </p:sp>
      <p:sp>
        <p:nvSpPr>
          <p:cNvPr id="5049" name="TextBox 5048"/>
          <p:cNvSpPr txBox="1"/>
          <p:nvPr/>
        </p:nvSpPr>
        <p:spPr>
          <a:xfrm>
            <a:off x="8284464" y="4739894"/>
            <a:ext cx="9180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v1.1 — 빠진 말은 빨간 취소선</a:t>
            </a:r>
            <a:endParaRPr lang="ko-KR" altLang="en-US" sz="1250"/>
          </a:p>
        </p:txBody>
      </p:sp>
      <p:sp>
        <p:nvSpPr>
          <p:cNvPr id="5050" name="Oval 5049"/>
          <p:cNvSpPr/>
          <p:nvPr/>
        </p:nvSpPr>
        <p:spPr>
          <a:xfrm>
            <a:off x="7863840" y="5077460"/>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5</a:t>
            </a:r>
            <a:endParaRPr lang="ko-KR" altLang="en-US" sz="1216"/>
          </a:p>
        </p:txBody>
      </p:sp>
      <p:sp>
        <p:nvSpPr>
          <p:cNvPr id="5051" name="TextBox 5050"/>
          <p:cNvSpPr txBox="1"/>
          <p:nvPr/>
        </p:nvSpPr>
        <p:spPr>
          <a:xfrm>
            <a:off x="8284464" y="5059172"/>
            <a:ext cx="9180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바뀐 문장</a:t>
            </a:r>
            <a:endParaRPr lang="ko-KR" altLang="en-US" sz="1450"/>
          </a:p>
        </p:txBody>
      </p:sp>
      <p:sp>
        <p:nvSpPr>
          <p:cNvPr id="5052" name="TextBox 5051"/>
          <p:cNvSpPr txBox="1"/>
          <p:nvPr/>
        </p:nvSpPr>
        <p:spPr>
          <a:xfrm>
            <a:off x="8284464" y="5325936"/>
            <a:ext cx="9180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v1.2 — 새로 생긴 말은 초록 형광. 괴산리를 대피명령 대상에서 빼고 완료 여부 재확인 지시</a:t>
            </a:r>
            <a:endParaRPr lang="ko-KR" altLang="en-US" sz="1250"/>
          </a:p>
        </p:txBody>
      </p:sp>
      <p:sp>
        <p:nvSpPr>
          <p:cNvPr id="5053" name="Rounded Rectangle 5052"/>
          <p:cNvSpPr/>
          <p:nvPr/>
        </p:nvSpPr>
        <p:spPr>
          <a:xfrm>
            <a:off x="7863840" y="5700078"/>
            <a:ext cx="9601200" cy="1325880"/>
          </a:xfrm>
          <a:prstGeom prst="roundRect">
            <a:avLst>
              <a:gd name="adj" fmla="val 6896"/>
            </a:avLst>
          </a:prstGeom>
          <a:solidFill>
            <a:srgbClr val="F2F2F2"/>
          </a:solidFill>
          <a:ln>
            <a:noFill/>
          </a:ln>
        </p:spPr>
        <p:txBody>
          <a:bodyPr wrap="square" lIns="0" tIns="0" rIns="0" bIns="0" rtlCol="0" anchor="ctr">
            <a:noAutofit/>
          </a:bodyPr>
          <a:lstStyle/>
          <a:p>
            <a:pPr algn="ctr"/>
            <a:endParaRPr/>
          </a:p>
        </p:txBody>
      </p:sp>
      <p:sp>
        <p:nvSpPr>
          <p:cNvPr id="5054" name="TextBox 5053"/>
          <p:cNvSpPr txBox="1"/>
          <p:nvPr/>
        </p:nvSpPr>
        <p:spPr>
          <a:xfrm>
            <a:off x="8138160" y="5773230"/>
            <a:ext cx="9052560" cy="1188720"/>
          </a:xfrm>
          <a:prstGeom prst="rect">
            <a:avLst/>
          </a:prstGeom>
          <a:noFill/>
        </p:spPr>
        <p:txBody>
          <a:bodyPr wrap="square" lIns="0" tIns="0" rIns="0" bIns="0" rtlCol="0" anchor="t">
            <a:noAutofit/>
          </a:bodyPr>
          <a:lstStyle/>
          <a:p>
            <a:pPr algn="l" latinLnBrk="0">
              <a:lnSpc>
                <a:spcPct val="122000"/>
              </a:lnSpc>
              <a:spcBef>
                <a:spcPts val="0"/>
              </a:spcBef>
              <a:spcAft>
                <a:spcPts val="300"/>
              </a:spcAft>
              <a:buNone/>
            </a:pPr>
            <a:r>
              <a:rPr lang="ko-KR" altLang="en-US" sz="1200" b="1" dirty="0">
                <a:solidFill>
                  <a:srgbClr val="363A52"/>
                </a:solidFill>
                <a:latin typeface="210 OmniGothic 040"/>
                <a:ea typeface="210 OmniGothic 040"/>
                <a:cs typeface="210 OmniGothic 040"/>
              </a:rPr>
              <a:t>버전 규칙  </a:t>
            </a:r>
            <a:r>
              <a:rPr lang="ko-KR" altLang="en-US" sz="1200" b="0" dirty="0">
                <a:solidFill>
                  <a:srgbClr val="2E3142"/>
                </a:solidFill>
                <a:latin typeface="210 OmniGothic 030"/>
                <a:ea typeface="210 OmniGothic 030"/>
                <a:cs typeface="210 OmniGothic 030"/>
              </a:rPr>
              <a:t>v(화선 버전).(대응 생성 순번) — 화선 v1 기준 첫 제안 v1.1, 상황 정정 후 v1.2, 새 실측 화선 v2 보고 후 재예측 v2.1</a:t>
            </a:r>
            <a:endParaRPr lang="ko-KR" altLang="en-US" sz="1200"/>
          </a:p>
          <a:p>
            <a:pPr algn="l" latinLnBrk="0">
              <a:lnSpc>
                <a:spcPct val="122000"/>
              </a:lnSpc>
              <a:spcBef>
                <a:spcPts val="0"/>
              </a:spcBef>
              <a:spcAft>
                <a:spcPts val="300"/>
              </a:spcAft>
              <a:buNone/>
            </a:pPr>
            <a:r>
              <a:rPr lang="ko-KR" altLang="en-US" sz="1200" b="1" dirty="0">
                <a:solidFill>
                  <a:srgbClr val="363A52"/>
                </a:solidFill>
                <a:latin typeface="210 OmniGothic 040"/>
                <a:ea typeface="210 OmniGothic 040"/>
                <a:cs typeface="210 OmniGothic 040"/>
              </a:rPr>
              <a:t>정정 가능 항목  </a:t>
            </a:r>
            <a:r>
              <a:rPr lang="ko-KR" altLang="en-US" sz="1200" b="0" dirty="0">
                <a:solidFill>
                  <a:srgbClr val="2E3142"/>
                </a:solidFill>
                <a:latin typeface="210 OmniGothic 030"/>
                <a:ea typeface="210 OmniGothic 030"/>
                <a:cs typeface="210 OmniGothic 030"/>
              </a:rPr>
              <a:t>대피 완료 · 부상/고립 · 헬기·소방차·진화인력 투입 수 · 예상 진화시간 · 대피명령 · 재난문자 · 공식 단계 · 위기경보</a:t>
            </a:r>
            <a:endParaRPr lang="ko-KR" altLang="en-US" sz="1200"/>
          </a:p>
        </p:txBody>
      </p:sp>
      <p:sp>
        <p:nvSpPr>
          <p:cNvPr id="5055" name="Rounded Rectangle 5054"/>
          <p:cNvSpPr/>
          <p:nvPr/>
        </p:nvSpPr>
        <p:spPr>
          <a:xfrm>
            <a:off x="786384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6" name="TextBox 5055"/>
          <p:cNvSpPr txBox="1"/>
          <p:nvPr/>
        </p:nvSpPr>
        <p:spPr>
          <a:xfrm>
            <a:off x="9006840" y="8769096"/>
            <a:ext cx="84582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F-30 AI 상황 정정 요청 · F-11 · UC-QA-02(«extend» QA-01)</a:t>
            </a:r>
            <a:endParaRPr lang="ko-KR" altLang="en-US" sz="1200"/>
          </a:p>
        </p:txBody>
      </p:sp>
      <p:sp>
        <p:nvSpPr>
          <p:cNvPr id="5057"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2016375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⑨ 제안서 버전 이력 · 변경사항 · 이벤트 로그 (UC-PROP-04)</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5024" name="Rectangle 5023"/>
          <p:cNvSpPr/>
          <p:nvPr/>
        </p:nvSpPr>
        <p:spPr>
          <a:xfrm>
            <a:off x="822960" y="2432304"/>
            <a:ext cx="566928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대응제안 탭 — 「변경」 태그</a:t>
            </a:r>
            <a:endParaRPr lang="ko-KR" altLang="en-US" sz="1250"/>
          </a:p>
        </p:txBody>
      </p:sp>
      <p:pic>
        <p:nvPicPr>
          <p:cNvPr id="5025" name="Picture 5024" descr="image.jpg"/>
          <p:cNvPicPr>
            <a:picLocks noChangeAspect="1"/>
          </p:cNvPicPr>
          <p:nvPr/>
        </p:nvPicPr>
        <p:blipFill>
          <a:blip r:embed="rId6"/>
          <a:stretch>
            <a:fillRect/>
          </a:stretch>
        </p:blipFill>
        <p:spPr>
          <a:xfrm>
            <a:off x="822960" y="2743200"/>
            <a:ext cx="5669280" cy="4102768"/>
          </a:xfrm>
          <a:prstGeom prst="rect">
            <a:avLst/>
          </a:prstGeom>
          <a:ln w="9525">
            <a:solidFill>
              <a:srgbClr val="D5D8E0"/>
            </a:solidFill>
          </a:ln>
        </p:spPr>
      </p:pic>
      <p:sp>
        <p:nvSpPr>
          <p:cNvPr id="5026" name="Rounded Rectangle 5025"/>
          <p:cNvSpPr/>
          <p:nvPr/>
        </p:nvSpPr>
        <p:spPr>
          <a:xfrm>
            <a:off x="872691" y="2743200"/>
            <a:ext cx="5557386" cy="372979"/>
          </a:xfrm>
          <a:prstGeom prst="roundRect">
            <a:avLst>
              <a:gd name="adj" fmla="val 12258"/>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6290174" y="258775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4751672" y="5851358"/>
            <a:ext cx="609199" cy="385412"/>
          </a:xfrm>
          <a:prstGeom prst="roundRect">
            <a:avLst>
              <a:gd name="adj" fmla="val 11862"/>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5220967" y="568036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Rectangle 5029"/>
          <p:cNvSpPr/>
          <p:nvPr/>
        </p:nvSpPr>
        <p:spPr>
          <a:xfrm>
            <a:off x="822960" y="6983128"/>
            <a:ext cx="566928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탭 아래 「제안서 버전 이력」</a:t>
            </a:r>
            <a:endParaRPr lang="ko-KR" altLang="en-US" sz="1250"/>
          </a:p>
        </p:txBody>
      </p:sp>
      <p:pic>
        <p:nvPicPr>
          <p:cNvPr id="5031" name="Picture 5030" descr="G_14c_history_open_c24_896_480_1052.jpg"/>
          <p:cNvPicPr>
            <a:picLocks noChangeAspect="1"/>
          </p:cNvPicPr>
          <p:nvPr/>
        </p:nvPicPr>
        <p:blipFill>
          <a:blip r:embed="rId7"/>
          <a:stretch>
            <a:fillRect/>
          </a:stretch>
        </p:blipFill>
        <p:spPr>
          <a:xfrm>
            <a:off x="822960" y="7294024"/>
            <a:ext cx="5669280" cy="1939491"/>
          </a:xfrm>
          <a:prstGeom prst="rect">
            <a:avLst/>
          </a:prstGeom>
          <a:ln w="9525">
            <a:solidFill>
              <a:srgbClr val="D5D8E0"/>
            </a:solidFill>
          </a:ln>
        </p:spPr>
      </p:pic>
      <p:sp>
        <p:nvSpPr>
          <p:cNvPr id="5032" name="Rounded Rectangle 5031"/>
          <p:cNvSpPr/>
          <p:nvPr/>
        </p:nvSpPr>
        <p:spPr>
          <a:xfrm>
            <a:off x="872691" y="7356188"/>
            <a:ext cx="5557386" cy="1877327"/>
          </a:xfrm>
          <a:prstGeom prst="roundRect">
            <a:avLst>
              <a:gd name="adj" fmla="val 2435"/>
            </a:avLst>
          </a:prstGeom>
          <a:noFill/>
          <a:ln w="28575">
            <a:solidFill>
              <a:srgbClr val="E8742A"/>
            </a:solidFill>
          </a:ln>
        </p:spPr>
        <p:txBody>
          <a:bodyPr wrap="square" lIns="0" tIns="0" rIns="0" bIns="0" rtlCol="0" anchor="ctr">
            <a:noAutofit/>
          </a:bodyPr>
          <a:lstStyle/>
          <a:p>
            <a:pPr algn="ctr"/>
            <a:endParaRPr/>
          </a:p>
        </p:txBody>
      </p:sp>
      <p:sp>
        <p:nvSpPr>
          <p:cNvPr id="5033" name="Oval 5032"/>
          <p:cNvSpPr/>
          <p:nvPr/>
        </p:nvSpPr>
        <p:spPr>
          <a:xfrm>
            <a:off x="6290174" y="718519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4" name="Rectangle 5033"/>
          <p:cNvSpPr/>
          <p:nvPr/>
        </p:nvSpPr>
        <p:spPr>
          <a:xfrm>
            <a:off x="6812280" y="2432304"/>
            <a:ext cx="576072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「변경」 태그 → 항목별 이전 → 이후(바뀐 말 강조)</a:t>
            </a:r>
            <a:endParaRPr lang="ko-KR" altLang="en-US" sz="1250"/>
          </a:p>
        </p:txBody>
      </p:sp>
      <p:pic>
        <p:nvPicPr>
          <p:cNvPr id="5035" name="Picture 5034" descr="G_14b_item_diff_c580_390_1340_689.jpg"/>
          <p:cNvPicPr>
            <a:picLocks noChangeAspect="1"/>
          </p:cNvPicPr>
          <p:nvPr/>
        </p:nvPicPr>
        <p:blipFill>
          <a:blip r:embed="rId8"/>
          <a:stretch>
            <a:fillRect/>
          </a:stretch>
        </p:blipFill>
        <p:spPr>
          <a:xfrm>
            <a:off x="6812280" y="2743200"/>
            <a:ext cx="5760720" cy="2266389"/>
          </a:xfrm>
          <a:prstGeom prst="rect">
            <a:avLst/>
          </a:prstGeom>
          <a:ln w="9525">
            <a:solidFill>
              <a:srgbClr val="D5D8E0"/>
            </a:solidFill>
          </a:ln>
        </p:spPr>
      </p:pic>
      <p:sp>
        <p:nvSpPr>
          <p:cNvPr id="5036" name="Rectangle 5035"/>
          <p:cNvSpPr/>
          <p:nvPr/>
        </p:nvSpPr>
        <p:spPr>
          <a:xfrm>
            <a:off x="6812280" y="5283909"/>
            <a:ext cx="576072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상단 「이벤트 로그」 — 추가 전용 기록</a:t>
            </a:r>
            <a:endParaRPr lang="ko-KR" altLang="en-US" sz="1250"/>
          </a:p>
        </p:txBody>
      </p:sp>
      <p:pic>
        <p:nvPicPr>
          <p:cNvPr id="5037" name="Picture 5036" descr="G_15_eventlog_c830_86_1390_400.jpg"/>
          <p:cNvPicPr>
            <a:picLocks noChangeAspect="1"/>
          </p:cNvPicPr>
          <p:nvPr/>
        </p:nvPicPr>
        <p:blipFill>
          <a:blip r:embed="rId9"/>
          <a:stretch>
            <a:fillRect/>
          </a:stretch>
        </p:blipFill>
        <p:spPr>
          <a:xfrm>
            <a:off x="6812280" y="5594805"/>
            <a:ext cx="5760720" cy="3230118"/>
          </a:xfrm>
          <a:prstGeom prst="rect">
            <a:avLst/>
          </a:prstGeom>
          <a:ln w="9525">
            <a:solidFill>
              <a:srgbClr val="D5D8E0"/>
            </a:solidFill>
          </a:ln>
        </p:spPr>
      </p:pic>
      <p:sp>
        <p:nvSpPr>
          <p:cNvPr id="5038" name="Oval 5037"/>
          <p:cNvSpPr/>
          <p:nvPr/>
        </p:nvSpPr>
        <p:spPr>
          <a:xfrm>
            <a:off x="12402236" y="573242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9" name="Oval 5038"/>
          <p:cNvSpPr/>
          <p:nvPr/>
        </p:nvSpPr>
        <p:spPr>
          <a:xfrm>
            <a:off x="12893040" y="252374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1</a:t>
            </a:r>
            <a:endParaRPr lang="ko-KR" altLang="en-US" sz="1216"/>
          </a:p>
        </p:txBody>
      </p:sp>
      <p:sp>
        <p:nvSpPr>
          <p:cNvPr id="5040" name="TextBox 5039"/>
          <p:cNvSpPr txBox="1"/>
          <p:nvPr/>
        </p:nvSpPr>
        <p:spPr>
          <a:xfrm>
            <a:off x="13313664" y="2505456"/>
            <a:ext cx="41513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현재 보는 버전</a:t>
            </a:r>
            <a:endParaRPr lang="ko-KR" altLang="en-US" sz="1450"/>
          </a:p>
        </p:txBody>
      </p:sp>
      <p:sp>
        <p:nvSpPr>
          <p:cNvPr id="5041" name="TextBox 5040"/>
          <p:cNvSpPr txBox="1"/>
          <p:nvPr/>
        </p:nvSpPr>
        <p:spPr>
          <a:xfrm>
            <a:off x="13313664" y="2772220"/>
            <a:ext cx="41513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버전·생성 시각·계기·기준 화선</a:t>
            </a:r>
            <a:endParaRPr lang="ko-KR" altLang="en-US" sz="1250"/>
          </a:p>
        </p:txBody>
      </p:sp>
      <p:sp>
        <p:nvSpPr>
          <p:cNvPr id="5042" name="Oval 5041"/>
          <p:cNvSpPr/>
          <p:nvPr/>
        </p:nvSpPr>
        <p:spPr>
          <a:xfrm>
            <a:off x="12893040" y="3137217"/>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2</a:t>
            </a:r>
            <a:endParaRPr lang="ko-KR" altLang="en-US" sz="1216"/>
          </a:p>
        </p:txBody>
      </p:sp>
      <p:sp>
        <p:nvSpPr>
          <p:cNvPr id="5043" name="TextBox 5042"/>
          <p:cNvSpPr txBox="1"/>
          <p:nvPr/>
        </p:nvSpPr>
        <p:spPr>
          <a:xfrm>
            <a:off x="13313664" y="3118930"/>
            <a:ext cx="41513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「변경」 태그</a:t>
            </a:r>
            <a:endParaRPr lang="ko-KR" altLang="en-US" sz="1450"/>
          </a:p>
        </p:txBody>
      </p:sp>
      <p:sp>
        <p:nvSpPr>
          <p:cNvPr id="5044" name="TextBox 5043"/>
          <p:cNvSpPr txBox="1"/>
          <p:nvPr/>
        </p:nvSpPr>
        <p:spPr>
          <a:xfrm>
            <a:off x="13313664" y="3385693"/>
            <a:ext cx="41513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직전 버전과 달라진 항목에 표시, 누르면 이전·이후 문장 팝업 — 빠진 말은 빨간 취소선, 새로 생긴 말은 초록 형광</a:t>
            </a:r>
            <a:endParaRPr lang="ko-KR" altLang="en-US" sz="1250"/>
          </a:p>
        </p:txBody>
      </p:sp>
      <p:sp>
        <p:nvSpPr>
          <p:cNvPr id="5045" name="Oval 5044"/>
          <p:cNvSpPr/>
          <p:nvPr/>
        </p:nvSpPr>
        <p:spPr>
          <a:xfrm>
            <a:off x="12893040" y="3960241"/>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3</a:t>
            </a:r>
            <a:endParaRPr lang="ko-KR" altLang="en-US" sz="1216"/>
          </a:p>
        </p:txBody>
      </p:sp>
      <p:sp>
        <p:nvSpPr>
          <p:cNvPr id="5046" name="TextBox 5045"/>
          <p:cNvSpPr txBox="1"/>
          <p:nvPr/>
        </p:nvSpPr>
        <p:spPr>
          <a:xfrm>
            <a:off x="13313664" y="3941953"/>
            <a:ext cx="41513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제안서 버전 이력</a:t>
            </a:r>
            <a:endParaRPr lang="ko-KR" altLang="en-US" sz="1450"/>
          </a:p>
        </p:txBody>
      </p:sp>
      <p:sp>
        <p:nvSpPr>
          <p:cNvPr id="5047" name="TextBox 5046"/>
          <p:cNvSpPr txBox="1"/>
          <p:nvPr/>
        </p:nvSpPr>
        <p:spPr>
          <a:xfrm>
            <a:off x="13313664" y="4208716"/>
            <a:ext cx="4151376" cy="6286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버전·생성 시각·계기(예측 갱신/상황 정정)·구분 건수·변경 건수, 「보기」로 이전 버전 열람, 「비교」로 직전 버전과 비교</a:t>
            </a:r>
            <a:endParaRPr lang="ko-KR" altLang="en-US" sz="1250"/>
          </a:p>
        </p:txBody>
      </p:sp>
      <p:sp>
        <p:nvSpPr>
          <p:cNvPr id="5048" name="Oval 5047"/>
          <p:cNvSpPr/>
          <p:nvPr/>
        </p:nvSpPr>
        <p:spPr>
          <a:xfrm>
            <a:off x="12893040" y="499281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4</a:t>
            </a:r>
            <a:endParaRPr lang="ko-KR" altLang="en-US" sz="1216"/>
          </a:p>
        </p:txBody>
      </p:sp>
      <p:sp>
        <p:nvSpPr>
          <p:cNvPr id="5049" name="TextBox 5048"/>
          <p:cNvSpPr txBox="1"/>
          <p:nvPr/>
        </p:nvSpPr>
        <p:spPr>
          <a:xfrm>
            <a:off x="13313664" y="4974526"/>
            <a:ext cx="41513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이벤트 로그</a:t>
            </a:r>
            <a:endParaRPr lang="ko-KR" altLang="en-US" sz="1450"/>
          </a:p>
        </p:txBody>
      </p:sp>
      <p:sp>
        <p:nvSpPr>
          <p:cNvPr id="5050" name="TextBox 5049"/>
          <p:cNvSpPr txBox="1"/>
          <p:nvPr/>
        </p:nvSpPr>
        <p:spPr>
          <a:xfrm>
            <a:off x="13313664" y="5241290"/>
            <a:ext cx="41513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시각·구분(시스템·입력·예측·제안·근거 부족·정정·종료·관리)·내용·사용자, 읽기 전용</a:t>
            </a:r>
            <a:endParaRPr lang="ko-KR" altLang="en-US" sz="1250"/>
          </a:p>
        </p:txBody>
      </p:sp>
      <p:sp>
        <p:nvSpPr>
          <p:cNvPr id="5051" name="Rounded Rectangle 5050"/>
          <p:cNvSpPr/>
          <p:nvPr/>
        </p:nvSpPr>
        <p:spPr>
          <a:xfrm>
            <a:off x="1289304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2" name="TextBox 5051"/>
          <p:cNvSpPr txBox="1"/>
          <p:nvPr/>
        </p:nvSpPr>
        <p:spPr>
          <a:xfrm>
            <a:off x="14036040" y="8769096"/>
            <a:ext cx="34290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F-14 제안 이력·변경사항 · F-32 이벤트 로그 · UC-PROP-04</a:t>
            </a:r>
            <a:endParaRPr lang="ko-KR" altLang="en-US" sz="1200"/>
          </a:p>
        </p:txBody>
      </p:sp>
      <p:sp>
        <p:nvSpPr>
          <p:cNvPr id="5053"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4270951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통합지휘권자 ⑩ 진화자원 현황 · 발화 종료 처리 (UC-SIT-03 · UC-SIT-01)</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5024" name="Rectangle 5023"/>
          <p:cNvSpPr/>
          <p:nvPr/>
        </p:nvSpPr>
        <p:spPr>
          <a:xfrm>
            <a:off x="822960" y="2432304"/>
            <a:ext cx="402336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상단 「진화자원」 → 떠 있는 창</a:t>
            </a:r>
            <a:endParaRPr lang="ko-KR" altLang="en-US" sz="1250"/>
          </a:p>
        </p:txBody>
      </p:sp>
      <p:pic>
        <p:nvPicPr>
          <p:cNvPr id="5025" name="Picture 5024" descr="image.jpg"/>
          <p:cNvPicPr>
            <a:picLocks noChangeAspect="1"/>
          </p:cNvPicPr>
          <p:nvPr/>
        </p:nvPicPr>
        <p:blipFill>
          <a:blip r:embed="rId6"/>
          <a:stretch>
            <a:fillRect/>
          </a:stretch>
        </p:blipFill>
        <p:spPr>
          <a:xfrm>
            <a:off x="822960" y="2743200"/>
            <a:ext cx="2189620" cy="6263640"/>
          </a:xfrm>
          <a:prstGeom prst="rect">
            <a:avLst/>
          </a:prstGeom>
          <a:ln w="9525">
            <a:solidFill>
              <a:srgbClr val="D5D8E0"/>
            </a:solidFill>
          </a:ln>
        </p:spPr>
      </p:pic>
      <p:sp>
        <p:nvSpPr>
          <p:cNvPr id="5026" name="Rounded Rectangle 5025"/>
          <p:cNvSpPr/>
          <p:nvPr/>
        </p:nvSpPr>
        <p:spPr>
          <a:xfrm>
            <a:off x="842866" y="2955527"/>
            <a:ext cx="2149809" cy="225597"/>
          </a:xfrm>
          <a:prstGeom prst="roundRect">
            <a:avLst>
              <a:gd name="adj" fmla="val 20266"/>
            </a:avLst>
          </a:prstGeom>
          <a:noFill/>
          <a:ln w="28575">
            <a:solidFill>
              <a:srgbClr val="E8742A"/>
            </a:solidFill>
          </a:ln>
        </p:spPr>
        <p:txBody>
          <a:bodyPr wrap="square" lIns="0" tIns="0" rIns="0" bIns="0" rtlCol="0" anchor="ctr">
            <a:noAutofit/>
          </a:bodyPr>
          <a:lstStyle/>
          <a:p>
            <a:pPr algn="ctr"/>
            <a:endParaRPr/>
          </a:p>
        </p:txBody>
      </p:sp>
      <p:sp>
        <p:nvSpPr>
          <p:cNvPr id="5027" name="Oval 5026"/>
          <p:cNvSpPr/>
          <p:nvPr/>
        </p:nvSpPr>
        <p:spPr>
          <a:xfrm>
            <a:off x="667512" y="291287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8" name="Rounded Rectangle 5027"/>
          <p:cNvSpPr/>
          <p:nvPr/>
        </p:nvSpPr>
        <p:spPr>
          <a:xfrm>
            <a:off x="842866" y="3154583"/>
            <a:ext cx="2149809" cy="703332"/>
          </a:xfrm>
          <a:prstGeom prst="roundRect">
            <a:avLst>
              <a:gd name="adj" fmla="val 6500"/>
            </a:avLst>
          </a:prstGeom>
          <a:noFill/>
          <a:ln w="28575">
            <a:solidFill>
              <a:srgbClr val="E8742A"/>
            </a:solidFill>
          </a:ln>
        </p:spPr>
        <p:txBody>
          <a:bodyPr wrap="square" lIns="0" tIns="0" rIns="0" bIns="0" rtlCol="0" anchor="ctr">
            <a:noAutofit/>
          </a:bodyPr>
          <a:lstStyle/>
          <a:p>
            <a:pPr algn="ctr"/>
            <a:endParaRPr/>
          </a:p>
        </p:txBody>
      </p:sp>
      <p:sp>
        <p:nvSpPr>
          <p:cNvPr id="5029" name="Oval 5028"/>
          <p:cNvSpPr/>
          <p:nvPr/>
        </p:nvSpPr>
        <p:spPr>
          <a:xfrm>
            <a:off x="2852771" y="298359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30" name="Oval 5029"/>
          <p:cNvSpPr/>
          <p:nvPr/>
        </p:nvSpPr>
        <p:spPr>
          <a:xfrm>
            <a:off x="2852771" y="366701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ectangle 5030"/>
          <p:cNvSpPr/>
          <p:nvPr/>
        </p:nvSpPr>
        <p:spPr>
          <a:xfrm>
            <a:off x="3378340" y="2432304"/>
            <a:ext cx="676656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「종료 처리」 → 확인 창</a:t>
            </a:r>
            <a:endParaRPr lang="ko-KR" altLang="en-US" sz="1250"/>
          </a:p>
        </p:txBody>
      </p:sp>
      <p:pic>
        <p:nvPicPr>
          <p:cNvPr id="5032" name="Picture 5031" descr="image.jpg"/>
          <p:cNvPicPr>
            <a:picLocks noChangeAspect="1"/>
          </p:cNvPicPr>
          <p:nvPr/>
        </p:nvPicPr>
        <p:blipFill>
          <a:blip r:embed="rId7"/>
          <a:stretch>
            <a:fillRect/>
          </a:stretch>
        </p:blipFill>
        <p:spPr>
          <a:xfrm>
            <a:off x="3378340" y="2743200"/>
            <a:ext cx="6766560" cy="2323779"/>
          </a:xfrm>
          <a:prstGeom prst="rect">
            <a:avLst/>
          </a:prstGeom>
          <a:ln w="9525">
            <a:solidFill>
              <a:srgbClr val="D5D8E0"/>
            </a:solidFill>
          </a:ln>
        </p:spPr>
      </p:pic>
      <p:sp>
        <p:nvSpPr>
          <p:cNvPr id="5033" name="Rounded Rectangle 5032"/>
          <p:cNvSpPr/>
          <p:nvPr/>
        </p:nvSpPr>
        <p:spPr>
          <a:xfrm>
            <a:off x="3431760" y="3019204"/>
            <a:ext cx="6659720" cy="516395"/>
          </a:xfrm>
          <a:prstGeom prst="roundRect">
            <a:avLst>
              <a:gd name="adj" fmla="val 8853"/>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3222892" y="312195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5" name="Rectangle 5034"/>
          <p:cNvSpPr/>
          <p:nvPr/>
        </p:nvSpPr>
        <p:spPr>
          <a:xfrm>
            <a:off x="3378340" y="5341299"/>
            <a:ext cx="676656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종료 후 — 「종료」 상태 · 조회 전용 · 비활성 이유 표시</a:t>
            </a:r>
            <a:endParaRPr lang="ko-KR" altLang="en-US" sz="1250"/>
          </a:p>
        </p:txBody>
      </p:sp>
      <p:pic>
        <p:nvPicPr>
          <p:cNvPr id="5036" name="Picture 5035" descr="G_34_ended_c24_76_480_200.jpg"/>
          <p:cNvPicPr>
            <a:picLocks noChangeAspect="1"/>
          </p:cNvPicPr>
          <p:nvPr/>
        </p:nvPicPr>
        <p:blipFill>
          <a:blip r:embed="rId8"/>
          <a:stretch>
            <a:fillRect/>
          </a:stretch>
        </p:blipFill>
        <p:spPr>
          <a:xfrm>
            <a:off x="3378340" y="5652195"/>
            <a:ext cx="6766560" cy="1840029"/>
          </a:xfrm>
          <a:prstGeom prst="rect">
            <a:avLst/>
          </a:prstGeom>
          <a:ln w="9525">
            <a:solidFill>
              <a:srgbClr val="D5D8E0"/>
            </a:solidFill>
          </a:ln>
        </p:spPr>
      </p:pic>
      <p:sp>
        <p:nvSpPr>
          <p:cNvPr id="5037" name="Rounded Rectangle 5036"/>
          <p:cNvSpPr/>
          <p:nvPr/>
        </p:nvSpPr>
        <p:spPr>
          <a:xfrm>
            <a:off x="4951268" y="5652195"/>
            <a:ext cx="771625" cy="489685"/>
          </a:xfrm>
          <a:prstGeom prst="roundRect">
            <a:avLst>
              <a:gd name="adj" fmla="val 9336"/>
            </a:avLst>
          </a:prstGeom>
          <a:noFill/>
          <a:ln w="28575">
            <a:solidFill>
              <a:srgbClr val="E8742A"/>
            </a:solidFill>
          </a:ln>
        </p:spPr>
        <p:txBody>
          <a:bodyPr wrap="square" lIns="0" tIns="0" rIns="0" bIns="0" rtlCol="0" anchor="ctr">
            <a:noAutofit/>
          </a:bodyPr>
          <a:lstStyle/>
          <a:p>
            <a:pPr algn="ctr"/>
            <a:endParaRPr/>
          </a:p>
        </p:txBody>
      </p:sp>
      <p:sp>
        <p:nvSpPr>
          <p:cNvPr id="5038" name="Oval 5037"/>
          <p:cNvSpPr/>
          <p:nvPr/>
        </p:nvSpPr>
        <p:spPr>
          <a:xfrm>
            <a:off x="5582990" y="549674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9" name="Rounded Rectangle 5038"/>
          <p:cNvSpPr/>
          <p:nvPr/>
        </p:nvSpPr>
        <p:spPr>
          <a:xfrm>
            <a:off x="3437696" y="7017378"/>
            <a:ext cx="1157438" cy="474846"/>
          </a:xfrm>
          <a:prstGeom prst="roundRect">
            <a:avLst>
              <a:gd name="adj" fmla="val 9628"/>
            </a:avLst>
          </a:prstGeom>
          <a:noFill/>
          <a:ln w="28575">
            <a:solidFill>
              <a:srgbClr val="E8742A"/>
            </a:solidFill>
          </a:ln>
        </p:spPr>
        <p:txBody>
          <a:bodyPr wrap="square" lIns="0" tIns="0" rIns="0" bIns="0" rtlCol="0" anchor="ctr">
            <a:noAutofit/>
          </a:bodyPr>
          <a:lstStyle/>
          <a:p>
            <a:pPr algn="ctr"/>
            <a:endParaRPr/>
          </a:p>
        </p:txBody>
      </p:sp>
      <p:sp>
        <p:nvSpPr>
          <p:cNvPr id="5040" name="Oval 5039"/>
          <p:cNvSpPr/>
          <p:nvPr/>
        </p:nvSpPr>
        <p:spPr>
          <a:xfrm>
            <a:off x="4455230" y="7336777"/>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pic>
        <p:nvPicPr>
          <p:cNvPr id="5041" name="Picture 5040" descr="G_34_ended_c1620_40_1920_76.jpg"/>
          <p:cNvPicPr>
            <a:picLocks noChangeAspect="1"/>
          </p:cNvPicPr>
          <p:nvPr/>
        </p:nvPicPr>
        <p:blipFill>
          <a:blip r:embed="rId9"/>
          <a:stretch>
            <a:fillRect/>
          </a:stretch>
        </p:blipFill>
        <p:spPr>
          <a:xfrm>
            <a:off x="3378340" y="7583665"/>
            <a:ext cx="6766560" cy="811987"/>
          </a:xfrm>
          <a:prstGeom prst="rect">
            <a:avLst/>
          </a:prstGeom>
          <a:ln w="9525">
            <a:solidFill>
              <a:srgbClr val="D5D8E0"/>
            </a:solidFill>
          </a:ln>
        </p:spPr>
      </p:pic>
      <p:sp>
        <p:nvSpPr>
          <p:cNvPr id="5042" name="Rounded Rectangle 5041"/>
          <p:cNvSpPr/>
          <p:nvPr/>
        </p:nvSpPr>
        <p:spPr>
          <a:xfrm>
            <a:off x="3491116" y="7583665"/>
            <a:ext cx="6631229" cy="789432"/>
          </a:xfrm>
          <a:prstGeom prst="roundRect">
            <a:avLst>
              <a:gd name="adj" fmla="val 5791"/>
            </a:avLst>
          </a:prstGeom>
          <a:noFill/>
          <a:ln w="28575">
            <a:solidFill>
              <a:srgbClr val="E8742A"/>
            </a:solidFill>
          </a:ln>
        </p:spPr>
        <p:txBody>
          <a:bodyPr wrap="square" lIns="0" tIns="0" rIns="0" bIns="0" rtlCol="0" anchor="ctr">
            <a:noAutofit/>
          </a:bodyPr>
          <a:lstStyle/>
          <a:p>
            <a:pPr algn="ctr"/>
            <a:endParaRPr/>
          </a:p>
        </p:txBody>
      </p:sp>
      <p:sp>
        <p:nvSpPr>
          <p:cNvPr id="5043" name="Oval 5042"/>
          <p:cNvSpPr/>
          <p:nvPr/>
        </p:nvSpPr>
        <p:spPr>
          <a:xfrm>
            <a:off x="3222892" y="782293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7</a:t>
            </a:r>
            <a:endParaRPr lang="ko-KR" altLang="en-US" sz="1292"/>
          </a:p>
        </p:txBody>
      </p:sp>
      <p:sp>
        <p:nvSpPr>
          <p:cNvPr id="5044" name="Oval 5043"/>
          <p:cNvSpPr/>
          <p:nvPr/>
        </p:nvSpPr>
        <p:spPr>
          <a:xfrm>
            <a:off x="10510660" y="252374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45" name="TextBox 5044"/>
          <p:cNvSpPr txBox="1"/>
          <p:nvPr/>
        </p:nvSpPr>
        <p:spPr>
          <a:xfrm>
            <a:off x="10912996" y="250545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대기·투입·정비 체크박스</a:t>
            </a:r>
            <a:endParaRPr lang="ko-KR" altLang="en-US" sz="1400"/>
          </a:p>
        </p:txBody>
      </p:sp>
      <p:sp>
        <p:nvSpPr>
          <p:cNvPr id="5046" name="TextBox 5045"/>
          <p:cNvSpPr txBox="1"/>
          <p:nvPr/>
        </p:nvSpPr>
        <p:spPr>
          <a:xfrm>
            <a:off x="10912996" y="276428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처음에는 셋 다 체크</a:t>
            </a:r>
            <a:endParaRPr lang="ko-KR" altLang="en-US" sz="1200"/>
          </a:p>
        </p:txBody>
      </p:sp>
      <p:sp>
        <p:nvSpPr>
          <p:cNvPr id="5047" name="Oval 5046"/>
          <p:cNvSpPr/>
          <p:nvPr/>
        </p:nvSpPr>
        <p:spPr>
          <a:xfrm>
            <a:off x="10510660" y="306603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8" name="TextBox 5047"/>
          <p:cNvSpPr txBox="1"/>
          <p:nvPr/>
        </p:nvSpPr>
        <p:spPr>
          <a:xfrm>
            <a:off x="10912996" y="304774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합계</a:t>
            </a:r>
            <a:endParaRPr lang="ko-KR" altLang="en-US" sz="1400"/>
          </a:p>
        </p:txBody>
      </p:sp>
      <p:sp>
        <p:nvSpPr>
          <p:cNvPr id="5049" name="TextBox 5048"/>
          <p:cNvSpPr txBox="1"/>
          <p:nvPr/>
        </p:nvSpPr>
        <p:spPr>
          <a:xfrm>
            <a:off x="10912996" y="330657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헬기·차량·인력, 체크한 상태만 열로 표시</a:t>
            </a:r>
            <a:endParaRPr lang="ko-KR" altLang="en-US" sz="1200"/>
          </a:p>
        </p:txBody>
      </p:sp>
      <p:sp>
        <p:nvSpPr>
          <p:cNvPr id="5050" name="Oval 5049"/>
          <p:cNvSpPr/>
          <p:nvPr/>
        </p:nvSpPr>
        <p:spPr>
          <a:xfrm>
            <a:off x="10510660" y="360832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51" name="TextBox 5050"/>
          <p:cNvSpPr txBox="1"/>
          <p:nvPr/>
        </p:nvSpPr>
        <p:spPr>
          <a:xfrm>
            <a:off x="10912996" y="359003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자원 목록</a:t>
            </a:r>
            <a:endParaRPr lang="ko-KR" altLang="en-US" sz="1400"/>
          </a:p>
        </p:txBody>
      </p:sp>
      <p:sp>
        <p:nvSpPr>
          <p:cNvPr id="5052" name="TextBox 5051"/>
          <p:cNvSpPr txBox="1"/>
          <p:nvPr/>
        </p:nvSpPr>
        <p:spPr>
          <a:xfrm>
            <a:off x="10912996" y="384886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구분·명칭(호출부호)·소속·수량·상태</a:t>
            </a:r>
            <a:endParaRPr lang="ko-KR" altLang="en-US" sz="1200"/>
          </a:p>
        </p:txBody>
      </p:sp>
      <p:sp>
        <p:nvSpPr>
          <p:cNvPr id="5053" name="Oval 5052"/>
          <p:cNvSpPr/>
          <p:nvPr/>
        </p:nvSpPr>
        <p:spPr>
          <a:xfrm>
            <a:off x="10510660" y="415061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54" name="TextBox 5053"/>
          <p:cNvSpPr txBox="1"/>
          <p:nvPr/>
        </p:nvSpPr>
        <p:spPr>
          <a:xfrm>
            <a:off x="10912996" y="413232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종료 확인</a:t>
            </a:r>
            <a:endParaRPr lang="ko-KR" altLang="en-US" sz="1400"/>
          </a:p>
        </p:txBody>
      </p:sp>
      <p:sp>
        <p:nvSpPr>
          <p:cNvPr id="5055" name="TextBox 5054"/>
          <p:cNvSpPr txBox="1"/>
          <p:nvPr/>
        </p:nvSpPr>
        <p:spPr>
          <a:xfrm>
            <a:off x="10912996" y="439115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종료하면 보고·예측·정정이 막힘을 알리고 종료 시각·처리자 표시</a:t>
            </a:r>
            <a:endParaRPr lang="ko-KR" altLang="en-US" sz="1200"/>
          </a:p>
        </p:txBody>
      </p:sp>
      <p:sp>
        <p:nvSpPr>
          <p:cNvPr id="5056" name="Oval 5055"/>
          <p:cNvSpPr/>
          <p:nvPr/>
        </p:nvSpPr>
        <p:spPr>
          <a:xfrm>
            <a:off x="10510660" y="469290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7" name="TextBox 5056"/>
          <p:cNvSpPr txBox="1"/>
          <p:nvPr/>
        </p:nvSpPr>
        <p:spPr>
          <a:xfrm>
            <a:off x="10912996" y="467461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「종료」 상태</a:t>
            </a:r>
            <a:endParaRPr lang="ko-KR" altLang="en-US" sz="1400"/>
          </a:p>
        </p:txBody>
      </p:sp>
      <p:sp>
        <p:nvSpPr>
          <p:cNvPr id="5058" name="TextBox 5057"/>
          <p:cNvSpPr txBox="1"/>
          <p:nvPr/>
        </p:nvSpPr>
        <p:spPr>
          <a:xfrm>
            <a:off x="10912996" y="493344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진행 중 목록에서 빠져 종료 목록으로</a:t>
            </a:r>
            <a:endParaRPr lang="ko-KR" altLang="en-US" sz="1200"/>
          </a:p>
        </p:txBody>
      </p:sp>
      <p:sp>
        <p:nvSpPr>
          <p:cNvPr id="5059" name="Oval 5058"/>
          <p:cNvSpPr/>
          <p:nvPr/>
        </p:nvSpPr>
        <p:spPr>
          <a:xfrm>
            <a:off x="10510660" y="523519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60" name="TextBox 5059"/>
          <p:cNvSpPr txBox="1"/>
          <p:nvPr/>
        </p:nvSpPr>
        <p:spPr>
          <a:xfrm>
            <a:off x="10912996" y="521690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「조회 전용」</a:t>
            </a:r>
            <a:endParaRPr lang="ko-KR" altLang="en-US" sz="1400"/>
          </a:p>
        </p:txBody>
      </p:sp>
      <p:sp>
        <p:nvSpPr>
          <p:cNvPr id="5061" name="TextBox 5060"/>
          <p:cNvSpPr txBox="1"/>
          <p:nvPr/>
        </p:nvSpPr>
        <p:spPr>
          <a:xfrm>
            <a:off x="10912996" y="547573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제안서·이력은 보기만</a:t>
            </a:r>
            <a:endParaRPr lang="ko-KR" altLang="en-US" sz="1200"/>
          </a:p>
        </p:txBody>
      </p:sp>
      <p:sp>
        <p:nvSpPr>
          <p:cNvPr id="5062" name="Oval 5061"/>
          <p:cNvSpPr/>
          <p:nvPr/>
        </p:nvSpPr>
        <p:spPr>
          <a:xfrm>
            <a:off x="10510660" y="577748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7</a:t>
            </a:r>
            <a:endParaRPr lang="ko-KR" altLang="en-US" sz="1140"/>
          </a:p>
        </p:txBody>
      </p:sp>
      <p:sp>
        <p:nvSpPr>
          <p:cNvPr id="5063" name="TextBox 5062"/>
          <p:cNvSpPr txBox="1"/>
          <p:nvPr/>
        </p:nvSpPr>
        <p:spPr>
          <a:xfrm>
            <a:off x="10912996" y="5759196"/>
            <a:ext cx="655204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예측 버튼 비활성 · 이유 표시</a:t>
            </a:r>
            <a:endParaRPr lang="ko-KR" altLang="en-US" sz="1400"/>
          </a:p>
        </p:txBody>
      </p:sp>
      <p:sp>
        <p:nvSpPr>
          <p:cNvPr id="5064" name="TextBox 5063"/>
          <p:cNvSpPr txBox="1"/>
          <p:nvPr/>
        </p:nvSpPr>
        <p:spPr>
          <a:xfrm>
            <a:off x="10912996" y="6018022"/>
            <a:ext cx="655204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버튼 옆에 「종료된 산불은 예측할 수 없습니다」, 상황 정정도 불가</a:t>
            </a:r>
            <a:endParaRPr lang="ko-KR" altLang="en-US" sz="1200"/>
          </a:p>
        </p:txBody>
      </p:sp>
      <p:sp>
        <p:nvSpPr>
          <p:cNvPr id="5065" name="Rounded Rectangle 5064"/>
          <p:cNvSpPr/>
          <p:nvPr/>
        </p:nvSpPr>
        <p:spPr>
          <a:xfrm>
            <a:off x="1051066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66" name="TextBox 5065"/>
          <p:cNvSpPr txBox="1"/>
          <p:nvPr/>
        </p:nvSpPr>
        <p:spPr>
          <a:xfrm>
            <a:off x="11653660" y="8769096"/>
            <a:ext cx="581138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F-08 · F-03 발화 종료 처리 · UC-SIT-03 · UC-SIT-01</a:t>
            </a:r>
            <a:endParaRPr lang="ko-KR" altLang="en-US" sz="1200"/>
          </a:p>
        </p:txBody>
      </p:sp>
      <p:sp>
        <p:nvSpPr>
          <p:cNvPr id="5067"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1199414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열람자 — 읽기 전용 통합 상황도 · 산불 위험도</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39</a:t>
            </a:fld>
            <a:endParaRPr lang="en-US"/>
          </a:p>
        </p:txBody>
      </p:sp>
      <p:pic>
        <p:nvPicPr>
          <p:cNvPr id="5024" name="Picture 5023" descr="G_40b_viewer_res.jpg"/>
          <p:cNvPicPr>
            <a:picLocks noChangeAspect="1"/>
          </p:cNvPicPr>
          <p:nvPr/>
        </p:nvPicPr>
        <p:blipFill>
          <a:blip r:embed="rId6"/>
          <a:stretch>
            <a:fillRect/>
          </a:stretch>
        </p:blipFill>
        <p:spPr>
          <a:xfrm>
            <a:off x="822960" y="2433733"/>
            <a:ext cx="11292840" cy="6352222"/>
          </a:xfrm>
          <a:prstGeom prst="rect">
            <a:avLst/>
          </a:prstGeom>
          <a:ln w="9525">
            <a:solidFill>
              <a:srgbClr val="D5D8E0"/>
            </a:solidFill>
          </a:ln>
        </p:spPr>
      </p:pic>
      <p:sp>
        <p:nvSpPr>
          <p:cNvPr id="5025" name="Rounded Rectangle 5024"/>
          <p:cNvSpPr/>
          <p:nvPr/>
        </p:nvSpPr>
        <p:spPr>
          <a:xfrm>
            <a:off x="999411" y="3068955"/>
            <a:ext cx="2605588" cy="211741"/>
          </a:xfrm>
          <a:prstGeom prst="roundRect">
            <a:avLst>
              <a:gd name="adj" fmla="val 21592"/>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3465095" y="289796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9933694" y="2680764"/>
            <a:ext cx="2152698" cy="188214"/>
          </a:xfrm>
          <a:prstGeom prst="roundRect">
            <a:avLst>
              <a:gd name="adj" fmla="val 24291"/>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9762701" y="272907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3693224" y="2927794"/>
            <a:ext cx="1964484" cy="5575840"/>
          </a:xfrm>
          <a:prstGeom prst="roundRect">
            <a:avLst>
              <a:gd name="adj" fmla="val 2327"/>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5517804" y="275680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10810065" y="2457260"/>
            <a:ext cx="1305735" cy="199977"/>
          </a:xfrm>
          <a:prstGeom prst="roundRect">
            <a:avLst>
              <a:gd name="adj" fmla="val 22862"/>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10639073" y="251733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10151316" y="2916031"/>
            <a:ext cx="1929193" cy="2417374"/>
          </a:xfrm>
          <a:prstGeom prst="roundRect">
            <a:avLst>
              <a:gd name="adj" fmla="val 2369"/>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9803844" y="396927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Oval 5034"/>
          <p:cNvSpPr/>
          <p:nvPr/>
        </p:nvSpPr>
        <p:spPr>
          <a:xfrm>
            <a:off x="12435840" y="252374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1</a:t>
            </a:r>
            <a:endParaRPr lang="ko-KR" altLang="en-US" sz="1216"/>
          </a:p>
        </p:txBody>
      </p:sp>
      <p:sp>
        <p:nvSpPr>
          <p:cNvPr id="5036" name="TextBox 5035"/>
          <p:cNvSpPr txBox="1"/>
          <p:nvPr/>
        </p:nvSpPr>
        <p:spPr>
          <a:xfrm>
            <a:off x="12856464" y="2505456"/>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산불현황 탭만</a:t>
            </a:r>
            <a:endParaRPr lang="ko-KR" altLang="en-US" sz="1450"/>
          </a:p>
        </p:txBody>
      </p:sp>
      <p:sp>
        <p:nvSpPr>
          <p:cNvPr id="5037" name="TextBox 5036"/>
          <p:cNvSpPr txBox="1"/>
          <p:nvPr/>
        </p:nvSpPr>
        <p:spPr>
          <a:xfrm>
            <a:off x="12856464" y="2772220"/>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발생·접수 정보(신고자 포함)와 실측 화선·예측 면적을 봄</a:t>
            </a:r>
            <a:endParaRPr lang="ko-KR" altLang="en-US" sz="1250"/>
          </a:p>
        </p:txBody>
      </p:sp>
      <p:sp>
        <p:nvSpPr>
          <p:cNvPr id="5038" name="Oval 5037"/>
          <p:cNvSpPr/>
          <p:nvPr/>
        </p:nvSpPr>
        <p:spPr>
          <a:xfrm>
            <a:off x="12435840" y="3128074"/>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2</a:t>
            </a:r>
            <a:endParaRPr lang="ko-KR" altLang="en-US" sz="1216"/>
          </a:p>
        </p:txBody>
      </p:sp>
      <p:sp>
        <p:nvSpPr>
          <p:cNvPr id="5039" name="TextBox 5038"/>
          <p:cNvSpPr txBox="1"/>
          <p:nvPr/>
        </p:nvSpPr>
        <p:spPr>
          <a:xfrm>
            <a:off x="12856464" y="3109786"/>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시간별 재생</a:t>
            </a:r>
            <a:endParaRPr lang="ko-KR" altLang="en-US" sz="1450"/>
          </a:p>
        </p:txBody>
      </p:sp>
      <p:sp>
        <p:nvSpPr>
          <p:cNvPr id="5040" name="TextBox 5039"/>
          <p:cNvSpPr txBox="1"/>
          <p:nvPr/>
        </p:nvSpPr>
        <p:spPr>
          <a:xfrm>
            <a:off x="12856464" y="3376549"/>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통합지휘권자가 실행한 예측 결과를 재생만 함(실행 버튼 없음)</a:t>
            </a:r>
            <a:endParaRPr lang="ko-KR" altLang="en-US" sz="1250"/>
          </a:p>
        </p:txBody>
      </p:sp>
      <p:sp>
        <p:nvSpPr>
          <p:cNvPr id="5041" name="Oval 5040"/>
          <p:cNvSpPr/>
          <p:nvPr/>
        </p:nvSpPr>
        <p:spPr>
          <a:xfrm>
            <a:off x="12435840" y="3732403"/>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3</a:t>
            </a:r>
            <a:endParaRPr lang="ko-KR" altLang="en-US" sz="1216"/>
          </a:p>
        </p:txBody>
      </p:sp>
      <p:sp>
        <p:nvSpPr>
          <p:cNvPr id="5042" name="TextBox 5041"/>
          <p:cNvSpPr txBox="1"/>
          <p:nvPr/>
        </p:nvSpPr>
        <p:spPr>
          <a:xfrm>
            <a:off x="12856464" y="3714115"/>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진화자원 현황</a:t>
            </a:r>
            <a:endParaRPr lang="ko-KR" altLang="en-US" sz="1450"/>
          </a:p>
        </p:txBody>
      </p:sp>
      <p:sp>
        <p:nvSpPr>
          <p:cNvPr id="5043" name="TextBox 5042"/>
          <p:cNvSpPr txBox="1"/>
          <p:nvPr/>
        </p:nvSpPr>
        <p:spPr>
          <a:xfrm>
            <a:off x="12856464" y="3980878"/>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대기·투입·정비 확인</a:t>
            </a:r>
            <a:endParaRPr lang="ko-KR" altLang="en-US" sz="1250"/>
          </a:p>
        </p:txBody>
      </p:sp>
      <p:sp>
        <p:nvSpPr>
          <p:cNvPr id="5044" name="Oval 5043"/>
          <p:cNvSpPr/>
          <p:nvPr/>
        </p:nvSpPr>
        <p:spPr>
          <a:xfrm>
            <a:off x="12435840" y="4336732"/>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4</a:t>
            </a:r>
            <a:endParaRPr lang="ko-KR" altLang="en-US" sz="1216"/>
          </a:p>
        </p:txBody>
      </p:sp>
      <p:sp>
        <p:nvSpPr>
          <p:cNvPr id="5045" name="TextBox 5044"/>
          <p:cNvSpPr txBox="1"/>
          <p:nvPr/>
        </p:nvSpPr>
        <p:spPr>
          <a:xfrm>
            <a:off x="12856464" y="4318444"/>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사용자 표시</a:t>
            </a:r>
            <a:endParaRPr lang="ko-KR" altLang="en-US" sz="1450"/>
          </a:p>
        </p:txBody>
      </p:sp>
      <p:sp>
        <p:nvSpPr>
          <p:cNvPr id="5046" name="TextBox 5045"/>
          <p:cNvSpPr txBox="1"/>
          <p:nvPr/>
        </p:nvSpPr>
        <p:spPr>
          <a:xfrm>
            <a:off x="12856464" y="4585208"/>
            <a:ext cx="4608576" cy="20955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view01 · 열람자(열람), 「이벤트 로그」 없음</a:t>
            </a:r>
            <a:endParaRPr lang="ko-KR" altLang="en-US" sz="1250"/>
          </a:p>
        </p:txBody>
      </p:sp>
      <p:sp>
        <p:nvSpPr>
          <p:cNvPr id="5047" name="Oval 5046"/>
          <p:cNvSpPr/>
          <p:nvPr/>
        </p:nvSpPr>
        <p:spPr>
          <a:xfrm>
            <a:off x="12435840" y="4941062"/>
            <a:ext cx="292608" cy="292608"/>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5</a:t>
            </a:r>
            <a:endParaRPr lang="ko-KR" altLang="en-US" sz="1216"/>
          </a:p>
        </p:txBody>
      </p:sp>
      <p:sp>
        <p:nvSpPr>
          <p:cNvPr id="5048" name="TextBox 5047"/>
          <p:cNvSpPr txBox="1"/>
          <p:nvPr/>
        </p:nvSpPr>
        <p:spPr>
          <a:xfrm>
            <a:off x="12856464" y="4922774"/>
            <a:ext cx="4608576" cy="23018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50" b="1" dirty="0">
                <a:solidFill>
                  <a:srgbClr val="363A52"/>
                </a:solidFill>
                <a:latin typeface="210 OmniGothic 040"/>
                <a:ea typeface="210 OmniGothic 040"/>
                <a:cs typeface="210 OmniGothic 040"/>
              </a:rPr>
              <a:t>산불 위험도</a:t>
            </a:r>
            <a:endParaRPr lang="ko-KR" altLang="en-US" sz="1450"/>
          </a:p>
        </p:txBody>
      </p:sp>
      <p:sp>
        <p:nvSpPr>
          <p:cNvPr id="5049" name="TextBox 5048"/>
          <p:cNvSpPr txBox="1"/>
          <p:nvPr/>
        </p:nvSpPr>
        <p:spPr>
          <a:xfrm>
            <a:off x="12856464" y="5189537"/>
            <a:ext cx="4608576" cy="419100"/>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50" b="0" dirty="0">
                <a:solidFill>
                  <a:srgbClr val="4A4F63"/>
                </a:solidFill>
                <a:latin typeface="210 OmniGothic 030"/>
                <a:ea typeface="210 OmniGothic 030"/>
                <a:cs typeface="210 OmniGothic 030"/>
              </a:rPr>
              <a:t>위험도 네모·상세 팝업·요소별 지표를 봄(계산·재예측은 통합지휘권자)</a:t>
            </a:r>
            <a:endParaRPr lang="ko-KR" altLang="en-US" sz="1250"/>
          </a:p>
        </p:txBody>
      </p:sp>
      <p:sp>
        <p:nvSpPr>
          <p:cNvPr id="5050" name="Rounded Rectangle 5049"/>
          <p:cNvSpPr/>
          <p:nvPr/>
        </p:nvSpPr>
        <p:spPr>
          <a:xfrm>
            <a:off x="12435840" y="5837237"/>
            <a:ext cx="5029200" cy="1554480"/>
          </a:xfrm>
          <a:prstGeom prst="roundRect">
            <a:avLst>
              <a:gd name="adj" fmla="val 5882"/>
            </a:avLst>
          </a:prstGeom>
          <a:solidFill>
            <a:srgbClr val="F2F2F2"/>
          </a:solidFill>
          <a:ln>
            <a:noFill/>
          </a:ln>
        </p:spPr>
        <p:txBody>
          <a:bodyPr wrap="square" lIns="0" tIns="0" rIns="0" bIns="0" rtlCol="0" anchor="ctr">
            <a:noAutofit/>
          </a:bodyPr>
          <a:lstStyle/>
          <a:p>
            <a:pPr algn="ctr"/>
            <a:endParaRPr/>
          </a:p>
        </p:txBody>
      </p:sp>
      <p:sp>
        <p:nvSpPr>
          <p:cNvPr id="5051" name="TextBox 5050"/>
          <p:cNvSpPr txBox="1"/>
          <p:nvPr/>
        </p:nvSpPr>
        <p:spPr>
          <a:xfrm>
            <a:off x="12664440" y="5946965"/>
            <a:ext cx="4572000"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450" b="1" dirty="0">
                <a:solidFill>
                  <a:srgbClr val="363A52"/>
                </a:solidFill>
                <a:latin typeface="210 OmniGothic 040"/>
                <a:ea typeface="210 OmniGothic 040"/>
                <a:cs typeface="210 OmniGothic 040"/>
              </a:rPr>
              <a:t>보이지 않는 것</a:t>
            </a:r>
            <a:endParaRPr lang="ko-KR" altLang="en-US" sz="1450"/>
          </a:p>
        </p:txBody>
      </p:sp>
      <p:sp>
        <p:nvSpPr>
          <p:cNvPr id="5052" name="TextBox 5051"/>
          <p:cNvSpPr txBox="1"/>
          <p:nvPr/>
        </p:nvSpPr>
        <p:spPr>
          <a:xfrm>
            <a:off x="12664440" y="6312725"/>
            <a:ext cx="4572000" cy="1005840"/>
          </a:xfrm>
          <a:prstGeom prst="rect">
            <a:avLst/>
          </a:prstGeom>
          <a:noFill/>
        </p:spPr>
        <p:txBody>
          <a:bodyPr wrap="square" lIns="0" tIns="0" rIns="0" bIns="0" rtlCol="0" anchor="t">
            <a:noAutofit/>
          </a:bodyPr>
          <a:lstStyle/>
          <a:p>
            <a:pPr marL="201168" indent="-201168" algn="l" latinLnBrk="0">
              <a:lnSpc>
                <a:spcPct val="125000"/>
              </a:lnSpc>
              <a:spcBef>
                <a:spcPts val="0"/>
              </a:spcBef>
              <a:spcAft>
                <a:spcPts val="0"/>
              </a:spcAft>
              <a:buClr>
                <a:srgbClr val="FAA95A"/>
              </a:buClr>
              <a:buFont typeface="Arial"/>
              <a:buChar char="—"/>
            </a:pPr>
            <a:r>
              <a:rPr lang="ko-KR" altLang="en-US" sz="1250" b="0" dirty="0">
                <a:solidFill>
                  <a:srgbClr val="2E3142"/>
                </a:solidFill>
                <a:latin typeface="210 OmniGothic 030"/>
                <a:ea typeface="210 OmniGothic 030"/>
                <a:cs typeface="210 OmniGothic 030"/>
              </a:rPr>
              <a:t>대응제안 탭 · 제안서 버전 이력</a:t>
            </a:r>
            <a:endParaRPr lang="ko-KR" altLang="en-US" sz="1250"/>
          </a:p>
          <a:p>
            <a:pPr marL="201168" indent="-201168" algn="l" latinLnBrk="0">
              <a:lnSpc>
                <a:spcPct val="125000"/>
              </a:lnSpc>
              <a:spcBef>
                <a:spcPts val="0"/>
              </a:spcBef>
              <a:spcAft>
                <a:spcPts val="0"/>
              </a:spcAft>
              <a:buClr>
                <a:srgbClr val="FAA95A"/>
              </a:buClr>
              <a:buFont typeface="Arial"/>
              <a:buChar char="—"/>
            </a:pPr>
            <a:r>
              <a:rPr lang="ko-KR" altLang="en-US" sz="1250" b="0" dirty="0">
                <a:solidFill>
                  <a:srgbClr val="2E3142"/>
                </a:solidFill>
                <a:latin typeface="210 OmniGothic 030"/>
                <a:ea typeface="210 OmniGothic 030"/>
                <a:cs typeface="210 OmniGothic 030"/>
              </a:rPr>
              <a:t>AI 어시스턴트 · 상황 정정</a:t>
            </a:r>
            <a:endParaRPr lang="ko-KR" altLang="en-US" sz="1250"/>
          </a:p>
          <a:p>
            <a:pPr marL="201168" indent="-201168" algn="l" latinLnBrk="0">
              <a:lnSpc>
                <a:spcPct val="125000"/>
              </a:lnSpc>
              <a:spcBef>
                <a:spcPts val="0"/>
              </a:spcBef>
              <a:spcAft>
                <a:spcPts val="0"/>
              </a:spcAft>
              <a:buClr>
                <a:srgbClr val="FAA95A"/>
              </a:buClr>
              <a:buFont typeface="Arial"/>
              <a:buChar char="—"/>
            </a:pPr>
            <a:r>
              <a:rPr lang="ko-KR" altLang="en-US" sz="1250" b="0" dirty="0">
                <a:solidFill>
                  <a:srgbClr val="2E3142"/>
                </a:solidFill>
                <a:latin typeface="210 OmniGothic 030"/>
                <a:ea typeface="210 OmniGothic 030"/>
                <a:cs typeface="210 OmniGothic 030"/>
              </a:rPr>
              <a:t>확산 예측 실행 · 종료 처리</a:t>
            </a:r>
            <a:endParaRPr lang="ko-KR" altLang="en-US" sz="1250"/>
          </a:p>
        </p:txBody>
      </p:sp>
      <p:sp>
        <p:nvSpPr>
          <p:cNvPr id="5053" name="Rounded Rectangle 5052"/>
          <p:cNvSpPr/>
          <p:nvPr/>
        </p:nvSpPr>
        <p:spPr>
          <a:xfrm>
            <a:off x="1243584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4" name="TextBox 5053"/>
          <p:cNvSpPr txBox="1"/>
          <p:nvPr/>
        </p:nvSpPr>
        <p:spPr>
          <a:xfrm>
            <a:off x="13578840" y="8769096"/>
            <a:ext cx="38862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F-04 · F-05 · F-08 · F-10 · UC-SIT-02 · UC-SIT-03 · UC-PRED-02 · SER-001(권한별 화면)</a:t>
            </a:r>
            <a:endParaRPr lang="ko-KR" altLang="en-US" sz="1200"/>
          </a:p>
        </p:txBody>
      </p:sp>
      <p:sp>
        <p:nvSpPr>
          <p:cNvPr id="5055"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1258058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전산 관리자 — 계정·권한 · 진화자원 데이터 관리 (UC-ADMIN-01·02)</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40</a:t>
            </a:fld>
            <a:endParaRPr lang="en-US"/>
          </a:p>
        </p:txBody>
      </p:sp>
      <p:pic>
        <p:nvPicPr>
          <p:cNvPr id="5024" name="Picture 5023" descr="image.jpg"/>
          <p:cNvPicPr>
            <a:picLocks noChangeAspect="1"/>
          </p:cNvPicPr>
          <p:nvPr/>
        </p:nvPicPr>
        <p:blipFill>
          <a:blip r:embed="rId6"/>
          <a:stretch>
            <a:fillRect/>
          </a:stretch>
        </p:blipFill>
        <p:spPr>
          <a:xfrm>
            <a:off x="822960" y="2432304"/>
            <a:ext cx="11292840" cy="4293632"/>
          </a:xfrm>
          <a:prstGeom prst="rect">
            <a:avLst/>
          </a:prstGeom>
          <a:ln w="9525">
            <a:solidFill>
              <a:srgbClr val="D5D8E0"/>
            </a:solidFill>
          </a:ln>
        </p:spPr>
      </p:pic>
      <p:sp>
        <p:nvSpPr>
          <p:cNvPr id="5025" name="Rounded Rectangle 5024"/>
          <p:cNvSpPr/>
          <p:nvPr/>
        </p:nvSpPr>
        <p:spPr>
          <a:xfrm>
            <a:off x="1022937" y="2785205"/>
            <a:ext cx="2523244" cy="176451"/>
          </a:xfrm>
          <a:prstGeom prst="roundRect">
            <a:avLst>
              <a:gd name="adj" fmla="val 25910"/>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3406278" y="261421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1022937" y="2961656"/>
            <a:ext cx="5346454" cy="1082230"/>
          </a:xfrm>
          <a:prstGeom prst="roundRect">
            <a:avLst>
              <a:gd name="adj" fmla="val 4224"/>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851945" y="279066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1022937" y="4055650"/>
            <a:ext cx="5346454" cy="364665"/>
          </a:xfrm>
          <a:prstGeom prst="roundRect">
            <a:avLst>
              <a:gd name="adj" fmla="val 12537"/>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851945" y="428041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6575250" y="2785205"/>
            <a:ext cx="4081891" cy="176451"/>
          </a:xfrm>
          <a:prstGeom prst="roundRect">
            <a:avLst>
              <a:gd name="adj" fmla="val 25910"/>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10517238" y="261421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6575250" y="2961656"/>
            <a:ext cx="5346454" cy="2934962"/>
          </a:xfrm>
          <a:prstGeom prst="roundRect">
            <a:avLst>
              <a:gd name="adj" fmla="val 1557"/>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11781801" y="2790663"/>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Rounded Rectangle 5034"/>
          <p:cNvSpPr/>
          <p:nvPr/>
        </p:nvSpPr>
        <p:spPr>
          <a:xfrm>
            <a:off x="6575250" y="5902500"/>
            <a:ext cx="5346454" cy="682276"/>
          </a:xfrm>
          <a:prstGeom prst="roundRect">
            <a:avLst>
              <a:gd name="adj" fmla="val 6701"/>
            </a:avLst>
          </a:prstGeom>
          <a:noFill/>
          <a:ln w="28575">
            <a:solidFill>
              <a:srgbClr val="E8742A"/>
            </a:solidFill>
          </a:ln>
        </p:spPr>
        <p:txBody>
          <a:bodyPr wrap="square" lIns="0" tIns="0" rIns="0" bIns="0" rtlCol="0" anchor="ctr">
            <a:noAutofit/>
          </a:bodyPr>
          <a:lstStyle/>
          <a:p>
            <a:pPr algn="ctr"/>
            <a:endParaRPr/>
          </a:p>
        </p:txBody>
      </p:sp>
      <p:sp>
        <p:nvSpPr>
          <p:cNvPr id="5036" name="Oval 5035"/>
          <p:cNvSpPr/>
          <p:nvPr/>
        </p:nvSpPr>
        <p:spPr>
          <a:xfrm>
            <a:off x="11781801" y="6444872"/>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6</a:t>
            </a:r>
            <a:endParaRPr lang="ko-KR" altLang="en-US" sz="1292"/>
          </a:p>
        </p:txBody>
      </p:sp>
      <p:sp>
        <p:nvSpPr>
          <p:cNvPr id="5037" name="Rectangle 5036"/>
          <p:cNvSpPr/>
          <p:nvPr/>
        </p:nvSpPr>
        <p:spPr>
          <a:xfrm>
            <a:off x="822960" y="6954536"/>
            <a:ext cx="367284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계정 발급 결과</a:t>
            </a:r>
            <a:endParaRPr lang="ko-KR" altLang="en-US" sz="1250"/>
          </a:p>
        </p:txBody>
      </p:sp>
      <p:pic>
        <p:nvPicPr>
          <p:cNvPr id="5038" name="Picture 5037" descr="image.jpg"/>
          <p:cNvPicPr>
            <a:picLocks noChangeAspect="1"/>
          </p:cNvPicPr>
          <p:nvPr/>
        </p:nvPicPr>
        <p:blipFill>
          <a:blip r:embed="rId7"/>
          <a:stretch>
            <a:fillRect/>
          </a:stretch>
        </p:blipFill>
        <p:spPr>
          <a:xfrm>
            <a:off x="822960" y="7265432"/>
            <a:ext cx="3672840" cy="1039027"/>
          </a:xfrm>
          <a:prstGeom prst="rect">
            <a:avLst/>
          </a:prstGeom>
          <a:ln w="9525">
            <a:solidFill>
              <a:srgbClr val="D5D8E0"/>
            </a:solidFill>
          </a:ln>
        </p:spPr>
      </p:pic>
      <p:sp>
        <p:nvSpPr>
          <p:cNvPr id="5039" name="Rectangle 5038"/>
          <p:cNvSpPr/>
          <p:nvPr/>
        </p:nvSpPr>
        <p:spPr>
          <a:xfrm>
            <a:off x="4632960" y="6954536"/>
            <a:ext cx="3672840" cy="310896"/>
          </a:xfrm>
          <a:prstGeom prst="rect">
            <a:avLst/>
          </a:prstGeom>
          <a:solidFill>
            <a:srgbClr val="D0342C"/>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회수·삭제·권한 변경 확인 창</a:t>
            </a:r>
            <a:endParaRPr lang="ko-KR" altLang="en-US" sz="1250"/>
          </a:p>
        </p:txBody>
      </p:sp>
      <p:pic>
        <p:nvPicPr>
          <p:cNvPr id="5040" name="Picture 5039" descr="G_53_admin_revoke_c580_467_1340_613.jpg"/>
          <p:cNvPicPr>
            <a:picLocks noChangeAspect="1"/>
          </p:cNvPicPr>
          <p:nvPr/>
        </p:nvPicPr>
        <p:blipFill>
          <a:blip r:embed="rId8"/>
          <a:stretch>
            <a:fillRect/>
          </a:stretch>
        </p:blipFill>
        <p:spPr>
          <a:xfrm>
            <a:off x="4632960" y="7265432"/>
            <a:ext cx="3672840" cy="705572"/>
          </a:xfrm>
          <a:prstGeom prst="rect">
            <a:avLst/>
          </a:prstGeom>
          <a:ln w="9525">
            <a:solidFill>
              <a:srgbClr val="D5D8E0"/>
            </a:solidFill>
          </a:ln>
        </p:spPr>
      </p:pic>
      <p:pic>
        <p:nvPicPr>
          <p:cNvPr id="5041" name="Picture 5040" descr="G_54_admin_lastcmd_c618_989_1301_1020.jpg"/>
          <p:cNvPicPr>
            <a:picLocks noChangeAspect="1"/>
          </p:cNvPicPr>
          <p:nvPr/>
        </p:nvPicPr>
        <p:blipFill>
          <a:blip r:embed="rId9"/>
          <a:stretch>
            <a:fillRect/>
          </a:stretch>
        </p:blipFill>
        <p:spPr>
          <a:xfrm>
            <a:off x="4632960" y="8044156"/>
            <a:ext cx="3672840" cy="166703"/>
          </a:xfrm>
          <a:prstGeom prst="rect">
            <a:avLst/>
          </a:prstGeom>
          <a:ln w="9525">
            <a:solidFill>
              <a:srgbClr val="D5D8E0"/>
            </a:solidFill>
          </a:ln>
        </p:spPr>
      </p:pic>
      <p:sp>
        <p:nvSpPr>
          <p:cNvPr id="5042" name="Rectangle 5041"/>
          <p:cNvSpPr/>
          <p:nvPr/>
        </p:nvSpPr>
        <p:spPr>
          <a:xfrm>
            <a:off x="8442960" y="6954536"/>
            <a:ext cx="3672840" cy="310896"/>
          </a:xfrm>
          <a:prstGeom prst="rect">
            <a:avLst/>
          </a:prstGeom>
          <a:solidFill>
            <a:srgbClr val="D0342C"/>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입력 검사 · 삭제 차단</a:t>
            </a:r>
            <a:endParaRPr lang="ko-KR" altLang="en-US" sz="1250"/>
          </a:p>
        </p:txBody>
      </p:sp>
      <p:pic>
        <p:nvPicPr>
          <p:cNvPr id="5043" name="Picture 5042" descr="image.jpg"/>
          <p:cNvPicPr>
            <a:picLocks noChangeAspect="1"/>
          </p:cNvPicPr>
          <p:nvPr/>
        </p:nvPicPr>
        <p:blipFill>
          <a:blip r:embed="rId10"/>
          <a:stretch>
            <a:fillRect/>
          </a:stretch>
        </p:blipFill>
        <p:spPr>
          <a:xfrm>
            <a:off x="8442960" y="7265432"/>
            <a:ext cx="3672840" cy="251620"/>
          </a:xfrm>
          <a:prstGeom prst="rect">
            <a:avLst/>
          </a:prstGeom>
          <a:ln w="9525">
            <a:solidFill>
              <a:srgbClr val="D5D8E0"/>
            </a:solidFill>
          </a:ln>
        </p:spPr>
      </p:pic>
      <p:pic>
        <p:nvPicPr>
          <p:cNvPr id="5044" name="Picture 5043" descr="image.jpg"/>
          <p:cNvPicPr>
            <a:picLocks noChangeAspect="1"/>
          </p:cNvPicPr>
          <p:nvPr/>
        </p:nvPicPr>
        <p:blipFill>
          <a:blip r:embed="rId11"/>
          <a:stretch>
            <a:fillRect/>
          </a:stretch>
        </p:blipFill>
        <p:spPr>
          <a:xfrm>
            <a:off x="8442960" y="7590204"/>
            <a:ext cx="2277161" cy="317176"/>
          </a:xfrm>
          <a:prstGeom prst="rect">
            <a:avLst/>
          </a:prstGeom>
          <a:ln w="9525">
            <a:solidFill>
              <a:srgbClr val="D5D8E0"/>
            </a:solidFill>
          </a:ln>
        </p:spPr>
      </p:pic>
      <p:sp>
        <p:nvSpPr>
          <p:cNvPr id="5045" name="Oval 5044"/>
          <p:cNvSpPr/>
          <p:nvPr/>
        </p:nvSpPr>
        <p:spPr>
          <a:xfrm>
            <a:off x="12435840" y="252374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46" name="TextBox 5045"/>
          <p:cNvSpPr txBox="1"/>
          <p:nvPr/>
        </p:nvSpPr>
        <p:spPr>
          <a:xfrm>
            <a:off x="12838176" y="2505456"/>
            <a:ext cx="462686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계정 현황</a:t>
            </a:r>
            <a:endParaRPr lang="ko-KR" altLang="en-US" sz="1400"/>
          </a:p>
        </p:txBody>
      </p:sp>
      <p:sp>
        <p:nvSpPr>
          <p:cNvPr id="5047" name="TextBox 5046"/>
          <p:cNvSpPr txBox="1"/>
          <p:nvPr/>
        </p:nvSpPr>
        <p:spPr>
          <a:xfrm>
            <a:off x="12838176" y="2764282"/>
            <a:ext cx="462686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발급·회수·잠금, 권한별 계정 수</a:t>
            </a:r>
            <a:endParaRPr lang="ko-KR" altLang="en-US" sz="1200"/>
          </a:p>
        </p:txBody>
      </p:sp>
      <p:sp>
        <p:nvSpPr>
          <p:cNvPr id="5048" name="Oval 5047"/>
          <p:cNvSpPr/>
          <p:nvPr/>
        </p:nvSpPr>
        <p:spPr>
          <a:xfrm>
            <a:off x="12435840" y="306603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9" name="TextBox 5048"/>
          <p:cNvSpPr txBox="1"/>
          <p:nvPr/>
        </p:nvSpPr>
        <p:spPr>
          <a:xfrm>
            <a:off x="12838176" y="3047746"/>
            <a:ext cx="462686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계정 표</a:t>
            </a:r>
            <a:endParaRPr lang="ko-KR" altLang="en-US" sz="1400"/>
          </a:p>
        </p:txBody>
      </p:sp>
      <p:sp>
        <p:nvSpPr>
          <p:cNvPr id="5050" name="TextBox 5049"/>
          <p:cNvSpPr txBox="1"/>
          <p:nvPr/>
        </p:nvSpPr>
        <p:spPr>
          <a:xfrm>
            <a:off x="12838176" y="3306572"/>
            <a:ext cx="4626864" cy="603504"/>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권한 변경(즉시 적용) · 회수 · 재발급(초기 비밀번호) · 삭제 · 잠금 해제. 회수·삭제·권한 변경은 확인 창을 거치고, 마지막 통합지휘권자 계정은 처리할 수 없음</a:t>
            </a:r>
            <a:endParaRPr lang="ko-KR" altLang="en-US" sz="1200"/>
          </a:p>
        </p:txBody>
      </p:sp>
      <p:sp>
        <p:nvSpPr>
          <p:cNvPr id="5051" name="Oval 5050"/>
          <p:cNvSpPr/>
          <p:nvPr/>
        </p:nvSpPr>
        <p:spPr>
          <a:xfrm>
            <a:off x="12435840" y="4010660"/>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52" name="TextBox 5051"/>
          <p:cNvSpPr txBox="1"/>
          <p:nvPr/>
        </p:nvSpPr>
        <p:spPr>
          <a:xfrm>
            <a:off x="12838176" y="3992372"/>
            <a:ext cx="462686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계정 발급</a:t>
            </a:r>
            <a:endParaRPr lang="ko-KR" altLang="en-US" sz="1400"/>
          </a:p>
        </p:txBody>
      </p:sp>
      <p:sp>
        <p:nvSpPr>
          <p:cNvPr id="5053" name="TextBox 5052"/>
          <p:cNvSpPr txBox="1"/>
          <p:nvPr/>
        </p:nvSpPr>
        <p:spPr>
          <a:xfrm>
            <a:off x="12838176" y="4251198"/>
            <a:ext cx="462686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이름·소속·권한(조작·열람·보고)만 입력</a:t>
            </a:r>
            <a:endParaRPr lang="ko-KR" altLang="en-US" sz="1200"/>
          </a:p>
        </p:txBody>
      </p:sp>
      <p:sp>
        <p:nvSpPr>
          <p:cNvPr id="5054" name="Oval 5053"/>
          <p:cNvSpPr/>
          <p:nvPr/>
        </p:nvSpPr>
        <p:spPr>
          <a:xfrm>
            <a:off x="12435840" y="4552950"/>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55" name="TextBox 5054"/>
          <p:cNvSpPr txBox="1"/>
          <p:nvPr/>
        </p:nvSpPr>
        <p:spPr>
          <a:xfrm>
            <a:off x="12838176" y="4534662"/>
            <a:ext cx="462686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진화자원 합계</a:t>
            </a:r>
            <a:endParaRPr lang="ko-KR" altLang="en-US" sz="1400"/>
          </a:p>
        </p:txBody>
      </p:sp>
      <p:sp>
        <p:nvSpPr>
          <p:cNvPr id="5056" name="TextBox 5055"/>
          <p:cNvSpPr txBox="1"/>
          <p:nvPr/>
        </p:nvSpPr>
        <p:spPr>
          <a:xfrm>
            <a:off x="12838176" y="4793488"/>
            <a:ext cx="462686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헬기·차량·인력 보유·투입·대기·정비</a:t>
            </a:r>
            <a:endParaRPr lang="ko-KR" altLang="en-US" sz="1200"/>
          </a:p>
        </p:txBody>
      </p:sp>
      <p:sp>
        <p:nvSpPr>
          <p:cNvPr id="5057" name="Oval 5056"/>
          <p:cNvSpPr/>
          <p:nvPr/>
        </p:nvSpPr>
        <p:spPr>
          <a:xfrm>
            <a:off x="12435840" y="5095240"/>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8" name="TextBox 5057"/>
          <p:cNvSpPr txBox="1"/>
          <p:nvPr/>
        </p:nvSpPr>
        <p:spPr>
          <a:xfrm>
            <a:off x="12838176" y="5076952"/>
            <a:ext cx="462686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진화자원 표</a:t>
            </a:r>
            <a:endParaRPr lang="ko-KR" altLang="en-US" sz="1400"/>
          </a:p>
        </p:txBody>
      </p:sp>
      <p:sp>
        <p:nvSpPr>
          <p:cNvPr id="5059" name="TextBox 5058"/>
          <p:cNvSpPr txBox="1"/>
          <p:nvPr/>
        </p:nvSpPr>
        <p:spPr>
          <a:xfrm>
            <a:off x="12838176" y="5335778"/>
            <a:ext cx="462686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구분·명칭(호출부호)·소속·수량·배치 위치·상태, 줄별 저장·삭제</a:t>
            </a:r>
            <a:endParaRPr lang="ko-KR" altLang="en-US" sz="1200"/>
          </a:p>
        </p:txBody>
      </p:sp>
      <p:sp>
        <p:nvSpPr>
          <p:cNvPr id="5060" name="Oval 5059"/>
          <p:cNvSpPr/>
          <p:nvPr/>
        </p:nvSpPr>
        <p:spPr>
          <a:xfrm>
            <a:off x="12435840" y="5637530"/>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61" name="TextBox 5060"/>
          <p:cNvSpPr txBox="1"/>
          <p:nvPr/>
        </p:nvSpPr>
        <p:spPr>
          <a:xfrm>
            <a:off x="12838176" y="5619242"/>
            <a:ext cx="4626864" cy="22225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400" b="1" dirty="0">
                <a:solidFill>
                  <a:srgbClr val="363A52"/>
                </a:solidFill>
                <a:latin typeface="210 OmniGothic 040"/>
                <a:ea typeface="210 OmniGothic 040"/>
                <a:cs typeface="210 OmniGothic 040"/>
              </a:rPr>
              <a:t>자원 등록</a:t>
            </a:r>
            <a:endParaRPr lang="ko-KR" altLang="en-US" sz="1400"/>
          </a:p>
        </p:txBody>
      </p:sp>
      <p:sp>
        <p:nvSpPr>
          <p:cNvPr id="5062" name="TextBox 5061"/>
          <p:cNvSpPr txBox="1"/>
          <p:nvPr/>
        </p:nvSpPr>
        <p:spPr>
          <a:xfrm>
            <a:off x="12838176" y="5878068"/>
            <a:ext cx="4626864" cy="201168"/>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200" b="0" dirty="0">
                <a:solidFill>
                  <a:srgbClr val="4A4F63"/>
                </a:solidFill>
                <a:latin typeface="210 OmniGothic 030"/>
                <a:ea typeface="210 OmniGothic 030"/>
                <a:cs typeface="210 OmniGothic 030"/>
              </a:rPr>
              <a:t>필수 값 누락 시 저장 차단, 투입 중 자원은 삭제 불가</a:t>
            </a:r>
            <a:endParaRPr lang="ko-KR" altLang="en-US" sz="1200"/>
          </a:p>
        </p:txBody>
      </p:sp>
      <p:sp>
        <p:nvSpPr>
          <p:cNvPr id="5063" name="Rounded Rectangle 5062"/>
          <p:cNvSpPr/>
          <p:nvPr/>
        </p:nvSpPr>
        <p:spPr>
          <a:xfrm>
            <a:off x="1243584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64" name="TextBox 5063"/>
          <p:cNvSpPr txBox="1"/>
          <p:nvPr/>
        </p:nvSpPr>
        <p:spPr>
          <a:xfrm>
            <a:off x="13578840" y="8769096"/>
            <a:ext cx="38862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F-01 · F-31 진화자원 데이터 관리 · UC-ADMIN-01 · UC-ADMIN-02</a:t>
            </a:r>
            <a:endParaRPr lang="ko-KR" altLang="en-US" sz="1200"/>
          </a:p>
        </p:txBody>
      </p:sp>
      <p:sp>
        <p:nvSpPr>
          <p:cNvPr id="5065"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23204638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개발자 전용 ① 외부 연동 실패 장면</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5024" name="Rectangle 5023"/>
          <p:cNvSpPr/>
          <p:nvPr/>
        </p:nvSpPr>
        <p:spPr>
          <a:xfrm>
            <a:off x="822960" y="2468880"/>
            <a:ext cx="5422392"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기상</a:t>
            </a:r>
            <a:endParaRPr lang="ko-KR" altLang="en-US" sz="1250"/>
          </a:p>
        </p:txBody>
      </p:sp>
      <p:sp>
        <p:nvSpPr>
          <p:cNvPr id="5025" name="Rectangle 5024"/>
          <p:cNvSpPr/>
          <p:nvPr/>
        </p:nvSpPr>
        <p:spPr>
          <a:xfrm>
            <a:off x="822960" y="2779776"/>
            <a:ext cx="5422392" cy="2194560"/>
          </a:xfrm>
          <a:prstGeom prst="rect">
            <a:avLst/>
          </a:prstGeom>
          <a:solidFill>
            <a:srgbClr val="F7F7F9"/>
          </a:solidFill>
          <a:ln w="12700">
            <a:solidFill>
              <a:srgbClr val="D5D8E0"/>
            </a:solidFill>
          </a:ln>
        </p:spPr>
        <p:txBody>
          <a:bodyPr wrap="square" lIns="0" tIns="0" rIns="0" bIns="0" rtlCol="0" anchor="ctr">
            <a:noAutofit/>
          </a:bodyPr>
          <a:lstStyle/>
          <a:p>
            <a:pPr algn="ctr"/>
            <a:endParaRPr/>
          </a:p>
        </p:txBody>
      </p:sp>
      <p:pic>
        <p:nvPicPr>
          <p:cNvPr id="5026" name="Picture 5025" descr="image.jpg"/>
          <p:cNvPicPr>
            <a:picLocks noChangeAspect="1"/>
          </p:cNvPicPr>
          <p:nvPr/>
        </p:nvPicPr>
        <p:blipFill>
          <a:blip r:embed="rId6"/>
          <a:stretch>
            <a:fillRect/>
          </a:stretch>
        </p:blipFill>
        <p:spPr>
          <a:xfrm>
            <a:off x="868680" y="3409429"/>
            <a:ext cx="5330952" cy="935255"/>
          </a:xfrm>
          <a:prstGeom prst="rect">
            <a:avLst/>
          </a:prstGeom>
        </p:spPr>
      </p:pic>
      <p:sp>
        <p:nvSpPr>
          <p:cNvPr id="5027" name="TextBox 5026"/>
          <p:cNvSpPr txBox="1"/>
          <p:nvPr/>
        </p:nvSpPr>
        <p:spPr>
          <a:xfrm>
            <a:off x="822960" y="5047488"/>
            <a:ext cx="5422392"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250" b="0" dirty="0">
                <a:solidFill>
                  <a:srgbClr val="2E3142"/>
                </a:solidFill>
                <a:latin typeface="210 OmniGothic 030"/>
                <a:ea typeface="210 OmniGothic 030"/>
                <a:cs typeface="210 OmniGothic 030"/>
              </a:rPr>
              <a:t>칸에 경고 + 마지막 수신값을 흐리게 함께 표시</a:t>
            </a:r>
            <a:endParaRPr lang="ko-KR" altLang="en-US" sz="1250"/>
          </a:p>
        </p:txBody>
      </p:sp>
      <p:sp>
        <p:nvSpPr>
          <p:cNvPr id="5028" name="Rectangle 5027"/>
          <p:cNvSpPr/>
          <p:nvPr/>
        </p:nvSpPr>
        <p:spPr>
          <a:xfrm>
            <a:off x="6428232" y="2468880"/>
            <a:ext cx="5422392" cy="310896"/>
          </a:xfrm>
          <a:prstGeom prst="rect">
            <a:avLst/>
          </a:prstGeom>
          <a:solidFill>
            <a:srgbClr val="D0342C"/>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확산 예측</a:t>
            </a:r>
            <a:endParaRPr lang="ko-KR" altLang="en-US" sz="1250"/>
          </a:p>
        </p:txBody>
      </p:sp>
      <p:sp>
        <p:nvSpPr>
          <p:cNvPr id="5029" name="Rectangle 5028"/>
          <p:cNvSpPr/>
          <p:nvPr/>
        </p:nvSpPr>
        <p:spPr>
          <a:xfrm>
            <a:off x="6428232" y="2779776"/>
            <a:ext cx="5422392" cy="2194560"/>
          </a:xfrm>
          <a:prstGeom prst="rect">
            <a:avLst/>
          </a:prstGeom>
          <a:solidFill>
            <a:srgbClr val="F7F7F9"/>
          </a:solidFill>
          <a:ln w="12700">
            <a:solidFill>
              <a:srgbClr val="D5D8E0"/>
            </a:solidFill>
          </a:ln>
        </p:spPr>
        <p:txBody>
          <a:bodyPr wrap="square" lIns="0" tIns="0" rIns="0" bIns="0" rtlCol="0" anchor="ctr">
            <a:noAutofit/>
          </a:bodyPr>
          <a:lstStyle/>
          <a:p>
            <a:pPr algn="ctr"/>
            <a:endParaRPr/>
          </a:p>
        </p:txBody>
      </p:sp>
      <p:pic>
        <p:nvPicPr>
          <p:cNvPr id="5030" name="Picture 5029" descr="image.jpg"/>
          <p:cNvPicPr>
            <a:picLocks noChangeAspect="1"/>
          </p:cNvPicPr>
          <p:nvPr/>
        </p:nvPicPr>
        <p:blipFill>
          <a:blip r:embed="rId7"/>
          <a:stretch>
            <a:fillRect/>
          </a:stretch>
        </p:blipFill>
        <p:spPr>
          <a:xfrm>
            <a:off x="6473952" y="3662866"/>
            <a:ext cx="5330952" cy="428380"/>
          </a:xfrm>
          <a:prstGeom prst="rect">
            <a:avLst/>
          </a:prstGeom>
        </p:spPr>
      </p:pic>
      <p:sp>
        <p:nvSpPr>
          <p:cNvPr id="5031" name="TextBox 5030"/>
          <p:cNvSpPr txBox="1"/>
          <p:nvPr/>
        </p:nvSpPr>
        <p:spPr>
          <a:xfrm>
            <a:off x="6428232" y="5047488"/>
            <a:ext cx="5422392"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250" b="0" dirty="0">
                <a:solidFill>
                  <a:srgbClr val="2E3142"/>
                </a:solidFill>
                <a:latin typeface="210 OmniGothic 030"/>
                <a:ea typeface="210 OmniGothic 030"/>
                <a:cs typeface="210 OmniGothic 030"/>
              </a:rPr>
              <a:t>상단 가운데 시스템 알림(약 4초) + 버튼 옆 경고, 이전 결과 유지</a:t>
            </a:r>
            <a:endParaRPr lang="ko-KR" altLang="en-US" sz="1250"/>
          </a:p>
        </p:txBody>
      </p:sp>
      <p:sp>
        <p:nvSpPr>
          <p:cNvPr id="5032" name="Rectangle 5031"/>
          <p:cNvSpPr/>
          <p:nvPr/>
        </p:nvSpPr>
        <p:spPr>
          <a:xfrm>
            <a:off x="12033504" y="2468880"/>
            <a:ext cx="5422392" cy="310896"/>
          </a:xfrm>
          <a:prstGeom prst="rect">
            <a:avLst/>
          </a:prstGeom>
          <a:solidFill>
            <a:srgbClr val="D0342C"/>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대응 제안</a:t>
            </a:r>
            <a:endParaRPr lang="ko-KR" altLang="en-US" sz="1250"/>
          </a:p>
        </p:txBody>
      </p:sp>
      <p:sp>
        <p:nvSpPr>
          <p:cNvPr id="5033" name="Rectangle 5032"/>
          <p:cNvSpPr/>
          <p:nvPr/>
        </p:nvSpPr>
        <p:spPr>
          <a:xfrm>
            <a:off x="12033504" y="2779776"/>
            <a:ext cx="5422392" cy="2194560"/>
          </a:xfrm>
          <a:prstGeom prst="rect">
            <a:avLst/>
          </a:prstGeom>
          <a:solidFill>
            <a:srgbClr val="F7F7F9"/>
          </a:solidFill>
          <a:ln w="12700">
            <a:solidFill>
              <a:srgbClr val="D5D8E0"/>
            </a:solidFill>
          </a:ln>
        </p:spPr>
        <p:txBody>
          <a:bodyPr wrap="square" lIns="0" tIns="0" rIns="0" bIns="0" rtlCol="0" anchor="ctr">
            <a:noAutofit/>
          </a:bodyPr>
          <a:lstStyle/>
          <a:p>
            <a:pPr algn="ctr"/>
            <a:endParaRPr/>
          </a:p>
        </p:txBody>
      </p:sp>
      <p:pic>
        <p:nvPicPr>
          <p:cNvPr id="5034" name="Picture 5033" descr="image.jpg"/>
          <p:cNvPicPr>
            <a:picLocks noChangeAspect="1"/>
          </p:cNvPicPr>
          <p:nvPr/>
        </p:nvPicPr>
        <p:blipFill>
          <a:blip r:embed="rId8"/>
          <a:stretch>
            <a:fillRect/>
          </a:stretch>
        </p:blipFill>
        <p:spPr>
          <a:xfrm>
            <a:off x="12079224" y="2941801"/>
            <a:ext cx="5330952" cy="1870509"/>
          </a:xfrm>
          <a:prstGeom prst="rect">
            <a:avLst/>
          </a:prstGeom>
        </p:spPr>
      </p:pic>
      <p:sp>
        <p:nvSpPr>
          <p:cNvPr id="5035" name="TextBox 5034"/>
          <p:cNvSpPr txBox="1"/>
          <p:nvPr/>
        </p:nvSpPr>
        <p:spPr>
          <a:xfrm>
            <a:off x="12033504" y="5047488"/>
            <a:ext cx="5422392"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250" b="0" dirty="0">
                <a:solidFill>
                  <a:srgbClr val="2E3142"/>
                </a:solidFill>
                <a:latin typeface="210 OmniGothic 030"/>
                <a:ea typeface="210 OmniGothic 030"/>
                <a:cs typeface="210 OmniGothic 030"/>
              </a:rPr>
              <a:t>제안 칸에 경고, 이전 제안서 유지</a:t>
            </a:r>
            <a:endParaRPr lang="ko-KR" altLang="en-US" sz="1250"/>
          </a:p>
        </p:txBody>
      </p:sp>
      <p:sp>
        <p:nvSpPr>
          <p:cNvPr id="5036" name="Rectangle 5035"/>
          <p:cNvSpPr/>
          <p:nvPr/>
        </p:nvSpPr>
        <p:spPr>
          <a:xfrm>
            <a:off x="822960" y="5650992"/>
            <a:ext cx="5422392"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위험도</a:t>
            </a:r>
            <a:endParaRPr lang="ko-KR" altLang="en-US" sz="1250"/>
          </a:p>
        </p:txBody>
      </p:sp>
      <p:sp>
        <p:nvSpPr>
          <p:cNvPr id="5037" name="Rectangle 5036"/>
          <p:cNvSpPr/>
          <p:nvPr/>
        </p:nvSpPr>
        <p:spPr>
          <a:xfrm>
            <a:off x="822960" y="5961888"/>
            <a:ext cx="5422392" cy="2194560"/>
          </a:xfrm>
          <a:prstGeom prst="rect">
            <a:avLst/>
          </a:prstGeom>
          <a:solidFill>
            <a:srgbClr val="F7F7F9"/>
          </a:solidFill>
          <a:ln w="12700">
            <a:solidFill>
              <a:srgbClr val="D5D8E0"/>
            </a:solidFill>
          </a:ln>
        </p:spPr>
        <p:txBody>
          <a:bodyPr wrap="square" lIns="0" tIns="0" rIns="0" bIns="0" rtlCol="0" anchor="ctr">
            <a:noAutofit/>
          </a:bodyPr>
          <a:lstStyle/>
          <a:p>
            <a:pPr algn="ctr"/>
            <a:endParaRPr/>
          </a:p>
        </p:txBody>
      </p:sp>
      <p:pic>
        <p:nvPicPr>
          <p:cNvPr id="5038" name="Picture 5037" descr="image.jpg"/>
          <p:cNvPicPr>
            <a:picLocks noChangeAspect="1"/>
          </p:cNvPicPr>
          <p:nvPr/>
        </p:nvPicPr>
        <p:blipFill>
          <a:blip r:embed="rId9"/>
          <a:stretch>
            <a:fillRect/>
          </a:stretch>
        </p:blipFill>
        <p:spPr>
          <a:xfrm>
            <a:off x="868680" y="6437224"/>
            <a:ext cx="5330952" cy="1243889"/>
          </a:xfrm>
          <a:prstGeom prst="rect">
            <a:avLst/>
          </a:prstGeom>
        </p:spPr>
      </p:pic>
      <p:sp>
        <p:nvSpPr>
          <p:cNvPr id="5039" name="TextBox 5038"/>
          <p:cNvSpPr txBox="1"/>
          <p:nvPr/>
        </p:nvSpPr>
        <p:spPr>
          <a:xfrm>
            <a:off x="822960" y="8229600"/>
            <a:ext cx="5422392"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250" b="0" dirty="0">
                <a:solidFill>
                  <a:srgbClr val="2E3142"/>
                </a:solidFill>
                <a:latin typeface="210 OmniGothic 030"/>
                <a:ea typeface="210 OmniGothic 030"/>
                <a:cs typeface="210 OmniGothic 030"/>
              </a:rPr>
              <a:t>위험도 네모에 경고 아이콘과 「—」</a:t>
            </a:r>
            <a:endParaRPr lang="ko-KR" altLang="en-US" sz="1250"/>
          </a:p>
        </p:txBody>
      </p:sp>
      <p:sp>
        <p:nvSpPr>
          <p:cNvPr id="5040" name="Rectangle 5039"/>
          <p:cNvSpPr/>
          <p:nvPr/>
        </p:nvSpPr>
        <p:spPr>
          <a:xfrm>
            <a:off x="6428232" y="5650992"/>
            <a:ext cx="5422392"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위험도 변수 일부</a:t>
            </a:r>
            <a:endParaRPr lang="ko-KR" altLang="en-US" sz="1250"/>
          </a:p>
        </p:txBody>
      </p:sp>
      <p:sp>
        <p:nvSpPr>
          <p:cNvPr id="5041" name="Rectangle 5040"/>
          <p:cNvSpPr/>
          <p:nvPr/>
        </p:nvSpPr>
        <p:spPr>
          <a:xfrm>
            <a:off x="6428232" y="5961888"/>
            <a:ext cx="5422392" cy="2194560"/>
          </a:xfrm>
          <a:prstGeom prst="rect">
            <a:avLst/>
          </a:prstGeom>
          <a:solidFill>
            <a:srgbClr val="F7F7F9"/>
          </a:solidFill>
          <a:ln w="12700">
            <a:solidFill>
              <a:srgbClr val="D5D8E0"/>
            </a:solidFill>
          </a:ln>
        </p:spPr>
        <p:txBody>
          <a:bodyPr wrap="square" lIns="0" tIns="0" rIns="0" bIns="0" rtlCol="0" anchor="ctr">
            <a:noAutofit/>
          </a:bodyPr>
          <a:lstStyle/>
          <a:p>
            <a:pPr algn="ctr"/>
            <a:endParaRPr/>
          </a:p>
        </p:txBody>
      </p:sp>
      <p:pic>
        <p:nvPicPr>
          <p:cNvPr id="5042" name="Picture 5041" descr="image.jpg"/>
          <p:cNvPicPr>
            <a:picLocks noChangeAspect="1"/>
          </p:cNvPicPr>
          <p:nvPr/>
        </p:nvPicPr>
        <p:blipFill>
          <a:blip r:embed="rId10"/>
          <a:stretch>
            <a:fillRect/>
          </a:stretch>
        </p:blipFill>
        <p:spPr>
          <a:xfrm>
            <a:off x="6473952" y="6376546"/>
            <a:ext cx="5330952" cy="1365244"/>
          </a:xfrm>
          <a:prstGeom prst="rect">
            <a:avLst/>
          </a:prstGeom>
        </p:spPr>
      </p:pic>
      <p:sp>
        <p:nvSpPr>
          <p:cNvPr id="5043" name="TextBox 5042"/>
          <p:cNvSpPr txBox="1"/>
          <p:nvPr/>
        </p:nvSpPr>
        <p:spPr>
          <a:xfrm>
            <a:off x="6428232" y="8229600"/>
            <a:ext cx="5422392"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250" b="0" dirty="0">
                <a:solidFill>
                  <a:srgbClr val="2E3142"/>
                </a:solidFill>
                <a:latin typeface="210 OmniGothic 030"/>
                <a:ea typeface="210 OmniGothic 030"/>
                <a:cs typeface="210 OmniGothic 030"/>
              </a:rPr>
              <a:t>못 가져온 변수는 「가져오지 못함」, 빼고 계산</a:t>
            </a:r>
            <a:endParaRPr lang="ko-KR" altLang="en-US" sz="1250"/>
          </a:p>
        </p:txBody>
      </p:sp>
      <p:sp>
        <p:nvSpPr>
          <p:cNvPr id="5044" name="Rectangle 5043"/>
          <p:cNvSpPr/>
          <p:nvPr/>
        </p:nvSpPr>
        <p:spPr>
          <a:xfrm>
            <a:off x="12033504" y="5650992"/>
            <a:ext cx="5422392"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진화자원 · AI 답변</a:t>
            </a:r>
            <a:endParaRPr lang="ko-KR" altLang="en-US" sz="1250"/>
          </a:p>
        </p:txBody>
      </p:sp>
      <p:sp>
        <p:nvSpPr>
          <p:cNvPr id="5045" name="Rectangle 5044"/>
          <p:cNvSpPr/>
          <p:nvPr/>
        </p:nvSpPr>
        <p:spPr>
          <a:xfrm>
            <a:off x="12033504" y="5961888"/>
            <a:ext cx="5422392" cy="2194560"/>
          </a:xfrm>
          <a:prstGeom prst="rect">
            <a:avLst/>
          </a:prstGeom>
          <a:solidFill>
            <a:srgbClr val="F7F7F9"/>
          </a:solidFill>
          <a:ln w="12700">
            <a:solidFill>
              <a:srgbClr val="D5D8E0"/>
            </a:solidFill>
          </a:ln>
        </p:spPr>
        <p:txBody>
          <a:bodyPr wrap="square" lIns="0" tIns="0" rIns="0" bIns="0" rtlCol="0" anchor="ctr">
            <a:noAutofit/>
          </a:bodyPr>
          <a:lstStyle/>
          <a:p>
            <a:pPr algn="ctr"/>
            <a:endParaRPr/>
          </a:p>
        </p:txBody>
      </p:sp>
      <p:pic>
        <p:nvPicPr>
          <p:cNvPr id="5046" name="Picture 5045" descr="image.jpg"/>
          <p:cNvPicPr>
            <a:picLocks noChangeAspect="1"/>
          </p:cNvPicPr>
          <p:nvPr/>
        </p:nvPicPr>
        <p:blipFill>
          <a:blip r:embed="rId11"/>
          <a:stretch>
            <a:fillRect/>
          </a:stretch>
        </p:blipFill>
        <p:spPr>
          <a:xfrm>
            <a:off x="12079224" y="6698039"/>
            <a:ext cx="5330952" cy="722258"/>
          </a:xfrm>
          <a:prstGeom prst="rect">
            <a:avLst/>
          </a:prstGeom>
        </p:spPr>
      </p:pic>
      <p:sp>
        <p:nvSpPr>
          <p:cNvPr id="5047" name="TextBox 5046"/>
          <p:cNvSpPr txBox="1"/>
          <p:nvPr/>
        </p:nvSpPr>
        <p:spPr>
          <a:xfrm>
            <a:off x="12033504" y="8229600"/>
            <a:ext cx="5422392"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250" b="0" dirty="0">
                <a:solidFill>
                  <a:srgbClr val="2E3142"/>
                </a:solidFill>
                <a:latin typeface="210 OmniGothic 030"/>
                <a:ea typeface="210 OmniGothic 030"/>
                <a:cs typeface="210 OmniGothic 030"/>
              </a:rPr>
              <a:t>진화자원 창·AI 답변 칸에 경고 + 시스템 알림</a:t>
            </a:r>
            <a:endParaRPr lang="ko-KR" altLang="en-US" sz="1250"/>
          </a:p>
        </p:txBody>
      </p:sp>
      <p:sp>
        <p:nvSpPr>
          <p:cNvPr id="5048" name="Rounded Rectangle 5047"/>
          <p:cNvSpPr/>
          <p:nvPr/>
        </p:nvSpPr>
        <p:spPr>
          <a:xfrm>
            <a:off x="822960" y="886968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49" name="TextBox 5048"/>
          <p:cNvSpPr txBox="1"/>
          <p:nvPr/>
        </p:nvSpPr>
        <p:spPr>
          <a:xfrm>
            <a:off x="1965960" y="8860536"/>
            <a:ext cx="1549908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실패 처리 원칙: 조회·생성 실패는 시스템 알림 + 그 칸에 「…정보를 가져오지 못했습니다」, 이전 결과는 지우지 않음</a:t>
            </a:r>
            <a:endParaRPr lang="ko-KR" altLang="en-US" sz="1200"/>
          </a:p>
        </p:txBody>
      </p:sp>
      <p:sp>
        <p:nvSpPr>
          <p:cNvPr id="5050"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346841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05. 프로토타입 구현</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개발자 전용 ② 병합 산불 장면</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42</a:t>
            </a:fld>
            <a:endParaRPr lang="en-US"/>
          </a:p>
        </p:txBody>
      </p:sp>
      <p:pic>
        <p:nvPicPr>
          <p:cNvPr id="5024" name="Picture 5023" descr="G_66b_merge_map.jpg"/>
          <p:cNvPicPr>
            <a:picLocks noChangeAspect="1"/>
          </p:cNvPicPr>
          <p:nvPr/>
        </p:nvPicPr>
        <p:blipFill>
          <a:blip r:embed="rId6"/>
          <a:stretch>
            <a:fillRect/>
          </a:stretch>
        </p:blipFill>
        <p:spPr>
          <a:xfrm>
            <a:off x="822960" y="2433733"/>
            <a:ext cx="11292840" cy="6352222"/>
          </a:xfrm>
          <a:prstGeom prst="rect">
            <a:avLst/>
          </a:prstGeom>
          <a:ln w="9525">
            <a:solidFill>
              <a:srgbClr val="D5D8E0"/>
            </a:solidFill>
          </a:ln>
        </p:spPr>
      </p:pic>
      <p:sp>
        <p:nvSpPr>
          <p:cNvPr id="5025" name="Rounded Rectangle 5024"/>
          <p:cNvSpPr/>
          <p:nvPr/>
        </p:nvSpPr>
        <p:spPr>
          <a:xfrm>
            <a:off x="5975318" y="4174712"/>
            <a:ext cx="2870263" cy="2723221"/>
          </a:xfrm>
          <a:prstGeom prst="roundRect">
            <a:avLst>
              <a:gd name="adj" fmla="val 1678"/>
            </a:avLst>
          </a:prstGeom>
          <a:noFill/>
          <a:ln w="28575">
            <a:solidFill>
              <a:srgbClr val="E8742A"/>
            </a:solidFill>
          </a:ln>
        </p:spPr>
        <p:txBody>
          <a:bodyPr wrap="square" lIns="0" tIns="0" rIns="0" bIns="0" rtlCol="0" anchor="ctr">
            <a:noAutofit/>
          </a:bodyPr>
          <a:lstStyle/>
          <a:p>
            <a:pPr algn="ctr"/>
            <a:endParaRPr/>
          </a:p>
        </p:txBody>
      </p:sp>
      <p:sp>
        <p:nvSpPr>
          <p:cNvPr id="5026" name="Oval 5025"/>
          <p:cNvSpPr/>
          <p:nvPr/>
        </p:nvSpPr>
        <p:spPr>
          <a:xfrm>
            <a:off x="5804325" y="4003719"/>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1</a:t>
            </a:r>
            <a:endParaRPr lang="ko-KR" altLang="en-US" sz="1292"/>
          </a:p>
        </p:txBody>
      </p:sp>
      <p:sp>
        <p:nvSpPr>
          <p:cNvPr id="5027" name="Rounded Rectangle 5026"/>
          <p:cNvSpPr/>
          <p:nvPr/>
        </p:nvSpPr>
        <p:spPr>
          <a:xfrm>
            <a:off x="6857571" y="5380458"/>
            <a:ext cx="1046940" cy="294084"/>
          </a:xfrm>
          <a:prstGeom prst="roundRect">
            <a:avLst>
              <a:gd name="adj" fmla="val 15546"/>
            </a:avLst>
          </a:prstGeom>
          <a:noFill/>
          <a:ln w="28575">
            <a:solidFill>
              <a:srgbClr val="E8742A"/>
            </a:solidFill>
          </a:ln>
        </p:spPr>
        <p:txBody>
          <a:bodyPr wrap="square" lIns="0" tIns="0" rIns="0" bIns="0" rtlCol="0" anchor="ctr">
            <a:noAutofit/>
          </a:bodyPr>
          <a:lstStyle/>
          <a:p>
            <a:pPr algn="ctr"/>
            <a:endParaRPr/>
          </a:p>
        </p:txBody>
      </p:sp>
      <p:sp>
        <p:nvSpPr>
          <p:cNvPr id="5028" name="Oval 5027"/>
          <p:cNvSpPr/>
          <p:nvPr/>
        </p:nvSpPr>
        <p:spPr>
          <a:xfrm>
            <a:off x="7764609" y="5209465"/>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2</a:t>
            </a:r>
            <a:endParaRPr lang="ko-KR" altLang="en-US" sz="1292"/>
          </a:p>
        </p:txBody>
      </p:sp>
      <p:sp>
        <p:nvSpPr>
          <p:cNvPr id="5029" name="Rounded Rectangle 5028"/>
          <p:cNvSpPr/>
          <p:nvPr/>
        </p:nvSpPr>
        <p:spPr>
          <a:xfrm>
            <a:off x="11657028" y="2916031"/>
            <a:ext cx="423481" cy="423482"/>
          </a:xfrm>
          <a:prstGeom prst="roundRect">
            <a:avLst>
              <a:gd name="adj" fmla="val 10796"/>
            </a:avLst>
          </a:prstGeom>
          <a:noFill/>
          <a:ln w="28575">
            <a:solidFill>
              <a:srgbClr val="E8742A"/>
            </a:solidFill>
          </a:ln>
        </p:spPr>
        <p:txBody>
          <a:bodyPr wrap="square" lIns="0" tIns="0" rIns="0" bIns="0" rtlCol="0" anchor="ctr">
            <a:noAutofit/>
          </a:bodyPr>
          <a:lstStyle/>
          <a:p>
            <a:pPr algn="ctr"/>
            <a:endParaRPr/>
          </a:p>
        </p:txBody>
      </p:sp>
      <p:sp>
        <p:nvSpPr>
          <p:cNvPr id="5030" name="Oval 5029"/>
          <p:cNvSpPr/>
          <p:nvPr/>
        </p:nvSpPr>
        <p:spPr>
          <a:xfrm>
            <a:off x="11309556" y="2972324"/>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3</a:t>
            </a:r>
            <a:endParaRPr lang="ko-KR" altLang="en-US" sz="1292"/>
          </a:p>
        </p:txBody>
      </p:sp>
      <p:sp>
        <p:nvSpPr>
          <p:cNvPr id="5031" name="Rounded Rectangle 5030"/>
          <p:cNvSpPr/>
          <p:nvPr/>
        </p:nvSpPr>
        <p:spPr>
          <a:xfrm>
            <a:off x="987647" y="4110014"/>
            <a:ext cx="2629114" cy="629341"/>
          </a:xfrm>
          <a:prstGeom prst="roundRect">
            <a:avLst>
              <a:gd name="adj" fmla="val 7264"/>
            </a:avLst>
          </a:prstGeom>
          <a:noFill/>
          <a:ln w="28575">
            <a:solidFill>
              <a:srgbClr val="E8742A"/>
            </a:solidFill>
          </a:ln>
        </p:spPr>
        <p:txBody>
          <a:bodyPr wrap="square" lIns="0" tIns="0" rIns="0" bIns="0" rtlCol="0" anchor="ctr">
            <a:noAutofit/>
          </a:bodyPr>
          <a:lstStyle/>
          <a:p>
            <a:pPr algn="ctr"/>
            <a:endParaRPr/>
          </a:p>
        </p:txBody>
      </p:sp>
      <p:sp>
        <p:nvSpPr>
          <p:cNvPr id="5032" name="Oval 5031"/>
          <p:cNvSpPr/>
          <p:nvPr/>
        </p:nvSpPr>
        <p:spPr>
          <a:xfrm>
            <a:off x="3476858" y="3939021"/>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4</a:t>
            </a:r>
            <a:endParaRPr lang="ko-KR" altLang="en-US" sz="1292"/>
          </a:p>
        </p:txBody>
      </p:sp>
      <p:sp>
        <p:nvSpPr>
          <p:cNvPr id="5033" name="Rounded Rectangle 5032"/>
          <p:cNvSpPr/>
          <p:nvPr/>
        </p:nvSpPr>
        <p:spPr>
          <a:xfrm>
            <a:off x="987647" y="5780413"/>
            <a:ext cx="2629114" cy="199977"/>
          </a:xfrm>
          <a:prstGeom prst="roundRect">
            <a:avLst>
              <a:gd name="adj" fmla="val 22862"/>
            </a:avLst>
          </a:prstGeom>
          <a:noFill/>
          <a:ln w="28575">
            <a:solidFill>
              <a:srgbClr val="E8742A"/>
            </a:solidFill>
          </a:ln>
        </p:spPr>
        <p:txBody>
          <a:bodyPr wrap="square" lIns="0" tIns="0" rIns="0" bIns="0" rtlCol="0" anchor="ctr">
            <a:noAutofit/>
          </a:bodyPr>
          <a:lstStyle/>
          <a:p>
            <a:pPr algn="ctr"/>
            <a:endParaRPr/>
          </a:p>
        </p:txBody>
      </p:sp>
      <p:sp>
        <p:nvSpPr>
          <p:cNvPr id="5034" name="Oval 5033"/>
          <p:cNvSpPr/>
          <p:nvPr/>
        </p:nvSpPr>
        <p:spPr>
          <a:xfrm>
            <a:off x="3476858" y="5609420"/>
            <a:ext cx="310896" cy="310896"/>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92" b="1" dirty="0">
                <a:solidFill>
                  <a:srgbClr val="FFFFFF"/>
                </a:solidFill>
                <a:latin typeface="210 OmniGothic 040"/>
                <a:ea typeface="210 OmniGothic 040"/>
                <a:cs typeface="210 OmniGothic 040"/>
              </a:rPr>
              <a:t>5</a:t>
            </a:r>
            <a:endParaRPr lang="ko-KR" altLang="en-US" sz="1292"/>
          </a:p>
        </p:txBody>
      </p:sp>
      <p:sp>
        <p:nvSpPr>
          <p:cNvPr id="5035" name="Rectangle 5034"/>
          <p:cNvSpPr/>
          <p:nvPr/>
        </p:nvSpPr>
        <p:spPr>
          <a:xfrm>
            <a:off x="12435840" y="2432304"/>
            <a:ext cx="5029200" cy="310896"/>
          </a:xfrm>
          <a:prstGeom prst="rect">
            <a:avLst/>
          </a:prstGeom>
          <a:solidFill>
            <a:srgbClr val="363A52"/>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산불 목록 — 1건만 표시</a:t>
            </a:r>
            <a:endParaRPr lang="ko-KR" altLang="en-US" sz="1250"/>
          </a:p>
        </p:txBody>
      </p:sp>
      <p:pic>
        <p:nvPicPr>
          <p:cNvPr id="5036" name="Picture 5035" descr="image.jpg"/>
          <p:cNvPicPr>
            <a:picLocks noChangeAspect="1"/>
          </p:cNvPicPr>
          <p:nvPr/>
        </p:nvPicPr>
        <p:blipFill>
          <a:blip r:embed="rId7"/>
          <a:stretch>
            <a:fillRect/>
          </a:stretch>
        </p:blipFill>
        <p:spPr>
          <a:xfrm>
            <a:off x="12435840" y="2743200"/>
            <a:ext cx="5029200" cy="1367589"/>
          </a:xfrm>
          <a:prstGeom prst="rect">
            <a:avLst/>
          </a:prstGeom>
          <a:ln w="9525">
            <a:solidFill>
              <a:srgbClr val="D5D8E0"/>
            </a:solidFill>
          </a:ln>
        </p:spPr>
      </p:pic>
      <p:sp>
        <p:nvSpPr>
          <p:cNvPr id="5037" name="Oval 5036"/>
          <p:cNvSpPr/>
          <p:nvPr/>
        </p:nvSpPr>
        <p:spPr>
          <a:xfrm>
            <a:off x="12435840" y="416966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1</a:t>
            </a:r>
            <a:endParaRPr lang="ko-KR" altLang="en-US" sz="1140"/>
          </a:p>
        </p:txBody>
      </p:sp>
      <p:sp>
        <p:nvSpPr>
          <p:cNvPr id="5038" name="TextBox 5037"/>
          <p:cNvSpPr txBox="1"/>
          <p:nvPr/>
        </p:nvSpPr>
        <p:spPr>
          <a:xfrm>
            <a:off x="12838176" y="4151376"/>
            <a:ext cx="4626864"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두 산불의 화선·예측을 함께 그림</a:t>
            </a:r>
            <a:endParaRPr lang="ko-KR" altLang="en-US" sz="1350"/>
          </a:p>
        </p:txBody>
      </p:sp>
      <p:sp>
        <p:nvSpPr>
          <p:cNvPr id="5039" name="TextBox 5038"/>
          <p:cNvSpPr txBox="1"/>
          <p:nvPr/>
        </p:nvSpPr>
        <p:spPr>
          <a:xfrm>
            <a:off x="12838176" y="4402264"/>
            <a:ext cx="4626864" cy="38557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안평면(먼저 신고)과 신안리 산불(시연용 가상)의 P5가 겹치면 하나의 산불로 봄</a:t>
            </a:r>
            <a:endParaRPr lang="ko-KR" altLang="en-US" sz="1150"/>
          </a:p>
        </p:txBody>
      </p:sp>
      <p:sp>
        <p:nvSpPr>
          <p:cNvPr id="5040" name="Oval 5039"/>
          <p:cNvSpPr/>
          <p:nvPr/>
        </p:nvSpPr>
        <p:spPr>
          <a:xfrm>
            <a:off x="12435840" y="4860988"/>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2</a:t>
            </a:r>
            <a:endParaRPr lang="ko-KR" altLang="en-US" sz="1140"/>
          </a:p>
        </p:txBody>
      </p:sp>
      <p:sp>
        <p:nvSpPr>
          <p:cNvPr id="5041" name="TextBox 5040"/>
          <p:cNvSpPr txBox="1"/>
          <p:nvPr/>
        </p:nvSpPr>
        <p:spPr>
          <a:xfrm>
            <a:off x="12838176" y="4842700"/>
            <a:ext cx="4626864"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P5 겹침 구역</a:t>
            </a:r>
            <a:endParaRPr lang="ko-KR" altLang="en-US" sz="1350"/>
          </a:p>
        </p:txBody>
      </p:sp>
      <p:sp>
        <p:nvSpPr>
          <p:cNvPr id="5042" name="TextBox 5041"/>
          <p:cNvSpPr txBox="1"/>
          <p:nvPr/>
        </p:nvSpPr>
        <p:spPr>
          <a:xfrm>
            <a:off x="12838176" y="5093589"/>
            <a:ext cx="4626864" cy="38557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보라색 면과 「P5 겹침 — 하나의 산불로 병합」 표시(위험구역 레이어와 함께 켜고 끔)</a:t>
            </a:r>
            <a:endParaRPr lang="ko-KR" altLang="en-US" sz="1150"/>
          </a:p>
        </p:txBody>
      </p:sp>
      <p:sp>
        <p:nvSpPr>
          <p:cNvPr id="5043" name="Oval 5042"/>
          <p:cNvSpPr/>
          <p:nvPr/>
        </p:nvSpPr>
        <p:spPr>
          <a:xfrm>
            <a:off x="12435840" y="5552313"/>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3</a:t>
            </a:r>
            <a:endParaRPr lang="ko-KR" altLang="en-US" sz="1140"/>
          </a:p>
        </p:txBody>
      </p:sp>
      <p:sp>
        <p:nvSpPr>
          <p:cNvPr id="5044" name="TextBox 5043"/>
          <p:cNvSpPr txBox="1"/>
          <p:nvPr/>
        </p:nvSpPr>
        <p:spPr>
          <a:xfrm>
            <a:off x="12838176" y="5534025"/>
            <a:ext cx="4626864"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위험도 1개</a:t>
            </a:r>
            <a:endParaRPr lang="ko-KR" altLang="en-US" sz="1350"/>
          </a:p>
        </p:txBody>
      </p:sp>
      <p:sp>
        <p:nvSpPr>
          <p:cNvPr id="5045" name="TextBox 5044"/>
          <p:cNvSpPr txBox="1"/>
          <p:nvPr/>
        </p:nvSpPr>
        <p:spPr>
          <a:xfrm>
            <a:off x="12838176" y="5784914"/>
            <a:ext cx="4626864"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병합한 범위로 한 번만 계산(3.17)</a:t>
            </a:r>
            <a:endParaRPr lang="ko-KR" altLang="en-US" sz="1150"/>
          </a:p>
        </p:txBody>
      </p:sp>
      <p:sp>
        <p:nvSpPr>
          <p:cNvPr id="5046" name="Oval 5045"/>
          <p:cNvSpPr/>
          <p:nvPr/>
        </p:nvSpPr>
        <p:spPr>
          <a:xfrm>
            <a:off x="12435840" y="6050851"/>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4</a:t>
            </a:r>
            <a:endParaRPr lang="ko-KR" altLang="en-US" sz="1140"/>
          </a:p>
        </p:txBody>
      </p:sp>
      <p:sp>
        <p:nvSpPr>
          <p:cNvPr id="5047" name="TextBox 5046"/>
          <p:cNvSpPr txBox="1"/>
          <p:nvPr/>
        </p:nvSpPr>
        <p:spPr>
          <a:xfrm>
            <a:off x="12838176" y="6032563"/>
            <a:ext cx="4626864"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병합된 산불 행</a:t>
            </a:r>
            <a:endParaRPr lang="ko-KR" altLang="en-US" sz="1350"/>
          </a:p>
        </p:txBody>
      </p:sp>
      <p:sp>
        <p:nvSpPr>
          <p:cNvPr id="5048" name="TextBox 5047"/>
          <p:cNvSpPr txBox="1"/>
          <p:nvPr/>
        </p:nvSpPr>
        <p:spPr>
          <a:xfrm>
            <a:off x="12838176" y="6283452"/>
            <a:ext cx="4626864" cy="385572"/>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산불현황 표에 병합된 산불의 주소·발생/신고 시각·신고자, 「발화점 보기」</a:t>
            </a:r>
            <a:endParaRPr lang="ko-KR" altLang="en-US" sz="1150"/>
          </a:p>
        </p:txBody>
      </p:sp>
      <p:sp>
        <p:nvSpPr>
          <p:cNvPr id="5049" name="Oval 5048"/>
          <p:cNvSpPr/>
          <p:nvPr/>
        </p:nvSpPr>
        <p:spPr>
          <a:xfrm>
            <a:off x="12435840" y="6742176"/>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5</a:t>
            </a:r>
            <a:endParaRPr lang="ko-KR" altLang="en-US" sz="1140"/>
          </a:p>
        </p:txBody>
      </p:sp>
      <p:sp>
        <p:nvSpPr>
          <p:cNvPr id="5050" name="TextBox 5049"/>
          <p:cNvSpPr txBox="1"/>
          <p:nvPr/>
        </p:nvSpPr>
        <p:spPr>
          <a:xfrm>
            <a:off x="12838176" y="6723888"/>
            <a:ext cx="4626864"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예측 면적 합산</a:t>
            </a:r>
            <a:endParaRPr lang="ko-KR" altLang="en-US" sz="1350"/>
          </a:p>
        </p:txBody>
      </p:sp>
      <p:sp>
        <p:nvSpPr>
          <p:cNvPr id="5051" name="TextBox 5050"/>
          <p:cNvSpPr txBox="1"/>
          <p:nvPr/>
        </p:nvSpPr>
        <p:spPr>
          <a:xfrm>
            <a:off x="12838176" y="6974776"/>
            <a:ext cx="4626864"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5h 3,056 ha · 8h 6,632 ha</a:t>
            </a:r>
            <a:endParaRPr lang="ko-KR" altLang="en-US" sz="1150"/>
          </a:p>
        </p:txBody>
      </p:sp>
      <p:sp>
        <p:nvSpPr>
          <p:cNvPr id="5052" name="Oval 5051"/>
          <p:cNvSpPr/>
          <p:nvPr/>
        </p:nvSpPr>
        <p:spPr>
          <a:xfrm>
            <a:off x="12435840" y="7240714"/>
            <a:ext cx="274320" cy="274320"/>
          </a:xfrm>
          <a:prstGeom prst="ellipse">
            <a:avLst/>
          </a:prstGeom>
          <a:solidFill>
            <a:srgbClr val="E8742A"/>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140" b="1" dirty="0">
                <a:solidFill>
                  <a:srgbClr val="FFFFFF"/>
                </a:solidFill>
                <a:latin typeface="210 OmniGothic 040"/>
                <a:ea typeface="210 OmniGothic 040"/>
                <a:cs typeface="210 OmniGothic 040"/>
              </a:rPr>
              <a:t>6</a:t>
            </a:r>
            <a:endParaRPr lang="ko-KR" altLang="en-US" sz="1140"/>
          </a:p>
        </p:txBody>
      </p:sp>
      <p:sp>
        <p:nvSpPr>
          <p:cNvPr id="5053" name="TextBox 5052"/>
          <p:cNvSpPr txBox="1"/>
          <p:nvPr/>
        </p:nvSpPr>
        <p:spPr>
          <a:xfrm>
            <a:off x="12838176" y="7222426"/>
            <a:ext cx="4626864" cy="214312"/>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1" dirty="0">
                <a:solidFill>
                  <a:srgbClr val="363A52"/>
                </a:solidFill>
                <a:latin typeface="210 OmniGothic 040"/>
                <a:ea typeface="210 OmniGothic 040"/>
                <a:cs typeface="210 OmniGothic 040"/>
              </a:rPr>
              <a:t>목록은 먼저 신고된 산불 이름 1건</a:t>
            </a:r>
            <a:endParaRPr lang="ko-KR" altLang="en-US" sz="1350"/>
          </a:p>
        </p:txBody>
      </p:sp>
      <p:sp>
        <p:nvSpPr>
          <p:cNvPr id="5054" name="TextBox 5053"/>
          <p:cNvSpPr txBox="1"/>
          <p:nvPr/>
        </p:nvSpPr>
        <p:spPr>
          <a:xfrm>
            <a:off x="12838176" y="7473315"/>
            <a:ext cx="4626864" cy="192786"/>
          </a:xfrm>
          <a:prstGeom prst="rect">
            <a:avLst/>
          </a:prstGeom>
          <a:noFill/>
        </p:spPr>
        <p:txBody>
          <a:bodyPr wrap="square" lIns="0" tIns="0" rIns="0" bIns="0" rtlCol="0" anchor="t">
            <a:noAutofit/>
          </a:bodyPr>
          <a:lstStyle/>
          <a:p>
            <a:pPr algn="l" latinLnBrk="0">
              <a:lnSpc>
                <a:spcPct val="122000"/>
              </a:lnSpc>
              <a:spcBef>
                <a:spcPts val="0"/>
              </a:spcBef>
              <a:spcAft>
                <a:spcPts val="0"/>
              </a:spcAft>
              <a:buNone/>
            </a:pPr>
            <a:r>
              <a:rPr lang="ko-KR" altLang="en-US" sz="1150" b="0" dirty="0">
                <a:solidFill>
                  <a:srgbClr val="4A4F63"/>
                </a:solidFill>
                <a:latin typeface="210 OmniGothic 030"/>
                <a:ea typeface="210 OmniGothic 030"/>
                <a:cs typeface="210 OmniGothic 030"/>
              </a:rPr>
              <a:t>목록에는 별도 「병합」 표시 없음</a:t>
            </a:r>
            <a:endParaRPr lang="ko-KR" altLang="en-US" sz="1150"/>
          </a:p>
        </p:txBody>
      </p:sp>
      <p:sp>
        <p:nvSpPr>
          <p:cNvPr id="5055" name="Rounded Rectangle 5054"/>
          <p:cNvSpPr/>
          <p:nvPr/>
        </p:nvSpPr>
        <p:spPr>
          <a:xfrm>
            <a:off x="12435840" y="8778240"/>
            <a:ext cx="1051560" cy="27432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100" b="1" dirty="0">
                <a:solidFill>
                  <a:srgbClr val="FFFFFF"/>
                </a:solidFill>
                <a:latin typeface="210 OmniGothic 040"/>
                <a:ea typeface="210 OmniGothic 040"/>
                <a:cs typeface="210 OmniGothic 040"/>
              </a:rPr>
              <a:t>관련 요구사항</a:t>
            </a:r>
            <a:endParaRPr lang="ko-KR" altLang="en-US" sz="1100"/>
          </a:p>
        </p:txBody>
      </p:sp>
      <p:sp>
        <p:nvSpPr>
          <p:cNvPr id="5056" name="TextBox 5055"/>
          <p:cNvSpPr txBox="1"/>
          <p:nvPr/>
        </p:nvSpPr>
        <p:spPr>
          <a:xfrm>
            <a:off x="13578840" y="8769096"/>
            <a:ext cx="388620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200" b="0" dirty="0">
                <a:solidFill>
                  <a:srgbClr val="6B7080"/>
                </a:solidFill>
                <a:latin typeface="210 OmniGothic 030"/>
                <a:ea typeface="210 OmniGothic 030"/>
                <a:cs typeface="210 OmniGothic 030"/>
              </a:rPr>
              <a:t>F-10 · 위험도 정의(P5 교집합이면 동일 산불) · UC-PRED-02</a:t>
            </a:r>
            <a:endParaRPr lang="ko-KR" altLang="en-US" sz="1200"/>
          </a:p>
        </p:txBody>
      </p:sp>
      <p:sp>
        <p:nvSpPr>
          <p:cNvPr id="5057" name="TextBox 3"/>
          <p:cNvSpPr txBox="1"/>
          <p:nvPr/>
        </p:nvSpPr>
        <p:spPr>
          <a:xfrm>
            <a:off x="822960" y="9387078"/>
            <a:ext cx="16642080" cy="292608"/>
          </a:xfrm>
          <a:prstGeom prst="rect">
            <a:avLst/>
          </a:prstGeom>
          <a:noFill/>
        </p:spPr>
        <p:txBody>
          <a:bodyPr wrap="square" lIns="0" tIns="0" rIns="0" bIns="0" rtlCol="0" anchor="t">
            <a:noAutofit/>
          </a:bodyPr>
          <a:lstStyle/>
          <a:p>
            <a:pPr algn="r" latinLnBrk="0">
              <a:lnSpc>
                <a:spcPct val="120000"/>
              </a:lnSpc>
              <a:spcBef>
                <a:spcPts val="0"/>
              </a:spcBef>
              <a:spcAft>
                <a:spcPts val="0"/>
              </a:spcAft>
              <a:buNone/>
            </a:pPr>
            <a:r>
              <a:rPr lang="ko-KR" altLang="en-US" sz="1250" b="1" dirty="0">
                <a:solidFill>
                  <a:srgbClr val="6B7080"/>
                </a:solidFill>
                <a:latin typeface="210 OmniGothic 030"/>
                <a:ea typeface="210 OmniGothic 030"/>
                <a:cs typeface="210 OmniGothic 030"/>
              </a:rPr>
              <a:t>※ 프로토타입 화면은 생성형 AI를 활용하여 제작하였습니다.</a:t>
            </a:r>
            <a:endParaRPr lang="ko-KR" altLang="en-US" sz="1250" b="1" dirty="0"/>
          </a:p>
        </p:txBody>
      </p:sp>
    </p:spTree>
    <p:extLst>
      <p:ext uri="{BB962C8B-B14F-4D97-AF65-F5344CB8AC3E}">
        <p14:creationId xmlns:p14="http://schemas.microsoft.com/office/powerpoint/2010/main" val="3169131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3" name="Picture 2">
            <a:extLst>
              <a:ext uri="{FF2B5EF4-FFF2-40B4-BE49-F238E27FC236}">
                <a16:creationId xmlns:a16="http://schemas.microsoft.com/office/drawing/2014/main" id="{F116F513-628E-CD59-0365-83BA34700620}"/>
              </a:ext>
            </a:extLst>
          </p:cNvPr>
          <p:cNvSpPr/>
          <p:nvPr/>
        </p:nvSpPr>
        <p:spPr>
          <a:xfrm>
            <a:off x="-12700" y="-12700"/>
            <a:ext cx="18300700" cy="10299700"/>
          </a:xfrm>
          <a:custGeom>
            <a:avLst/>
            <a:gdLst>
              <a:gd name="csX0" fmla="*/ 0 w 18281422"/>
              <a:gd name="csY0" fmla="*/ 10197723 h 10197722"/>
              <a:gd name="csX1" fmla="*/ 0 w 18281422"/>
              <a:gd name="csY1" fmla="*/ 0 h 10197722"/>
              <a:gd name="csX2" fmla="*/ 18281422 w 18281422"/>
              <a:gd name="csY2" fmla="*/ 0 h 10197722"/>
              <a:gd name="csX3" fmla="*/ 18281422 w 18281422"/>
              <a:gd name="csY3" fmla="*/ 10197723 h 10197722"/>
            </a:gdLst>
            <a:ahLst/>
            <a:cxnLst>
              <a:cxn ang="0">
                <a:pos x="csX0" y="csY0"/>
              </a:cxn>
              <a:cxn ang="0">
                <a:pos x="csX1" y="csY1"/>
              </a:cxn>
              <a:cxn ang="0">
                <a:pos x="csX2" y="csY2"/>
              </a:cxn>
              <a:cxn ang="0">
                <a:pos x="csX3" y="csY3"/>
              </a:cxn>
            </a:cxnLst>
            <a:rect l="l" t="t" r="r" b="b"/>
            <a:pathLst>
              <a:path w="18281422" h="10197722">
                <a:moveTo>
                  <a:pt x="0" y="10197723"/>
                </a:moveTo>
                <a:lnTo>
                  <a:pt x="0" y="0"/>
                </a:lnTo>
                <a:lnTo>
                  <a:pt x="18281422" y="0"/>
                </a:lnTo>
                <a:lnTo>
                  <a:pt x="18281422" y="10197723"/>
                </a:lnTo>
                <a:close/>
              </a:path>
            </a:pathLst>
          </a:custGeom>
          <a:solidFill>
            <a:srgbClr val="363A52"/>
          </a:solidFill>
          <a:ln w="16144" cap="flat">
            <a:noFill/>
            <a:prstDash val="solid"/>
            <a:miter/>
          </a:ln>
        </p:spPr>
        <p:txBody>
          <a:bodyPr/>
          <a:lstStyle/>
          <a:p>
            <a:endParaRPr lang="ko-KR" altLang="en-US"/>
          </a:p>
        </p:txBody>
      </p:sp>
      <p:sp>
        <p:nvSpPr>
          <p:cNvPr id="5084" name="TextBox 5083"/>
          <p:cNvSpPr txBox="1"/>
          <p:nvPr/>
        </p:nvSpPr>
        <p:spPr>
          <a:xfrm>
            <a:off x="914400" y="4572000"/>
            <a:ext cx="16459200" cy="1005840"/>
          </a:xfrm>
          <a:prstGeom prst="rect">
            <a:avLst/>
          </a:prstGeom>
          <a:noFill/>
        </p:spPr>
        <p:txBody>
          <a:bodyPr wrap="square" lIns="0" tIns="0" rIns="0" bIns="0" anchor="ctr">
            <a:spAutoFit/>
          </a:bodyPr>
          <a:lstStyle/>
          <a:p>
            <a:pPr algn="ctr"/>
            <a:r>
              <a:rPr sz="4800" b="0">
                <a:solidFill>
                  <a:srgbClr val="FAA95A"/>
                </a:solidFill>
                <a:latin typeface="210 OmniGothic 050"/>
                <a:ea typeface="210 OmniGothic 050"/>
                <a:cs typeface="210 OmniGothic 050"/>
              </a:rPr>
              <a:t>06. 프로토타입 검증</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9397135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검증 기준과 방법 — UI · UX</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44</a:t>
            </a:fld>
            <a:endParaRPr lang="en-US"/>
          </a:p>
        </p:txBody>
      </p:sp>
      <p:graphicFrame>
        <p:nvGraphicFramePr>
          <p:cNvPr id="5024" name="Table 5023"/>
          <p:cNvGraphicFramePr>
            <a:graphicFrameLocks noGrp="1"/>
          </p:cNvGraphicFramePr>
          <p:nvPr>
            <p:extLst>
              <p:ext uri="{D42A27DB-BD31-4B8C-83A1-F6EECF244321}">
                <p14:modId xmlns:p14="http://schemas.microsoft.com/office/powerpoint/2010/main" val="2557654948"/>
              </p:ext>
            </p:extLst>
          </p:nvPr>
        </p:nvGraphicFramePr>
        <p:xfrm>
          <a:off x="822960" y="2487168"/>
          <a:ext cx="16642080" cy="3566160"/>
        </p:xfrm>
        <a:graphic>
          <a:graphicData uri="http://schemas.openxmlformats.org/drawingml/2006/table">
            <a:tbl>
              <a:tblPr/>
              <a:tblGrid>
                <a:gridCol w="8229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gridCol w="3356610">
                  <a:extLst>
                    <a:ext uri="{9D8B030D-6E8A-4147-A177-3AD203B41FA5}">
                      <a16:colId xmlns:a16="http://schemas.microsoft.com/office/drawing/2014/main" val="20003"/>
                    </a:ext>
                  </a:extLst>
                </a:gridCol>
                <a:gridCol w="3246120">
                  <a:extLst>
                    <a:ext uri="{9D8B030D-6E8A-4147-A177-3AD203B41FA5}">
                      <a16:colId xmlns:a16="http://schemas.microsoft.com/office/drawing/2014/main" val="20004"/>
                    </a:ext>
                  </a:extLst>
                </a:gridCol>
                <a:gridCol w="2880360">
                  <a:extLst>
                    <a:ext uri="{9D8B030D-6E8A-4147-A177-3AD203B41FA5}">
                      <a16:colId xmlns:a16="http://schemas.microsoft.com/office/drawing/2014/main" val="20005"/>
                    </a:ext>
                  </a:extLst>
                </a:gridCol>
              </a:tblGrid>
              <a:tr h="457200">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구분</a:t>
                      </a:r>
                      <a:endParaRPr lang="ko-KR" altLang="en-US" sz="14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검증 항목</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기준</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방법</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개선 전 발견</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검증 후 결과</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621792">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UI</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9EAF0"/>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요구사항 반영</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기능 32개가 모두 화면에 있는가</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기능 목록과 화면을 하나씩 대조</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6B7080"/>
                          </a:solidFill>
                          <a:latin typeface="210 OmniGothic 030"/>
                          <a:ea typeface="210 OmniGothic 030"/>
                          <a:cs typeface="210 OmniGothic 030"/>
                        </a:rPr>
                        <a:t>32 / 32 반영 (구현 13 · 부분 구현 1 · 미구현 18)</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1" dirty="0">
                          <a:solidFill>
                            <a:srgbClr val="2E7D4F"/>
                          </a:solidFill>
                          <a:latin typeface="210 OmniGothic 030"/>
                          <a:ea typeface="210 OmniGothic 030"/>
                          <a:cs typeface="210 OmniGothic 030"/>
                        </a:rPr>
                        <a:t>통과</a:t>
                      </a:r>
                      <a:r>
                        <a:rPr lang="en-US" altLang="ko-KR" sz="1300" b="1" dirty="0">
                          <a:solidFill>
                            <a:srgbClr val="2E7D4F"/>
                          </a:solidFill>
                          <a:latin typeface="210 OmniGothic 030"/>
                          <a:ea typeface="210 OmniGothic 030"/>
                          <a:cs typeface="210 OmniGothic 030"/>
                        </a:rPr>
                        <a:t>(</a:t>
                      </a:r>
                      <a:r>
                        <a:rPr lang="ko-KR" altLang="en-US" sz="1300" b="1" dirty="0">
                          <a:solidFill>
                            <a:srgbClr val="2E7D4F"/>
                          </a:solidFill>
                          <a:latin typeface="210 OmniGothic 030"/>
                          <a:ea typeface="210 OmniGothic 030"/>
                          <a:cs typeface="210 OmniGothic 030"/>
                        </a:rPr>
                        <a:t> 32 / 32 + 신고자 정보 추가</a:t>
                      </a:r>
                      <a:r>
                        <a:rPr lang="en-US" altLang="ko-KR" sz="1300" b="1" dirty="0">
                          <a:solidFill>
                            <a:srgbClr val="2E7D4F"/>
                          </a:solidFill>
                          <a:latin typeface="210 OmniGothic 030"/>
                          <a:ea typeface="210 OmniGothic 030"/>
                          <a:cs typeface="210 OmniGothic 030"/>
                        </a:rPr>
                        <a:t>)</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1"/>
                  </a:ext>
                </a:extLst>
              </a:tr>
              <a:tr h="621792">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UI</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9EAF0"/>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권한별 화면 분리</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권한에 없는 메뉴·버튼이 보이지 않는가</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계정 4개로 로그인해 화면 요소 확인</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6B7080"/>
                          </a:solidFill>
                          <a:latin typeface="210 OmniGothic 030"/>
                          <a:ea typeface="210 OmniGothic 030"/>
                          <a:cs typeface="210 OmniGothic 030"/>
                        </a:rPr>
                        <a:t>4개 권한에서의 화면 모두 일치</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1" dirty="0">
                          <a:solidFill>
                            <a:srgbClr val="2E7D4F"/>
                          </a:solidFill>
                          <a:latin typeface="210 OmniGothic 030"/>
                          <a:ea typeface="210 OmniGothic 030"/>
                          <a:cs typeface="210 OmniGothic 030"/>
                        </a:rPr>
                        <a:t>통과</a:t>
                      </a:r>
                      <a:r>
                        <a:rPr lang="en-US" altLang="ko-KR" sz="1300" b="1" dirty="0">
                          <a:solidFill>
                            <a:srgbClr val="2E7D4F"/>
                          </a:solidFill>
                          <a:latin typeface="210 OmniGothic 030"/>
                          <a:ea typeface="210 OmniGothic 030"/>
                          <a:cs typeface="210 OmniGothic 030"/>
                        </a:rPr>
                        <a:t>(</a:t>
                      </a:r>
                      <a:r>
                        <a:rPr lang="ko-KR" altLang="en-US" sz="1300" b="1" dirty="0">
                          <a:solidFill>
                            <a:srgbClr val="2E7D4F"/>
                          </a:solidFill>
                          <a:latin typeface="210 OmniGothic 030"/>
                          <a:ea typeface="210 OmniGothic 030"/>
                          <a:cs typeface="210 OmniGothic 030"/>
                        </a:rPr>
                        <a:t>열람자 위험도 공개 반영</a:t>
                      </a:r>
                      <a:r>
                        <a:rPr lang="en-US" altLang="ko-KR" sz="1300" b="1" dirty="0">
                          <a:solidFill>
                            <a:srgbClr val="2E7D4F"/>
                          </a:solidFill>
                          <a:latin typeface="210 OmniGothic 030"/>
                          <a:ea typeface="210 OmniGothic 030"/>
                          <a:cs typeface="210 OmniGothic 030"/>
                        </a:rPr>
                        <a:t>)</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2"/>
                  </a:ext>
                </a:extLst>
              </a:tr>
              <a:tr h="621792">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UI</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9EAF0"/>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화면 배치</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가려지는 곳이 없고 지도 표시의 의미들을 알 수 있는가</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1920×1080 · 1366×768 · 1280×720</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6B7080"/>
                          </a:solidFill>
                          <a:latin typeface="210 OmniGothic 030"/>
                          <a:ea typeface="210 OmniGothic 030"/>
                          <a:cs typeface="210 OmniGothic 030"/>
                        </a:rPr>
                        <a:t>창 겹침·범례 없음·라벨 겹침 3건</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1" dirty="0">
                          <a:solidFill>
                            <a:srgbClr val="2E7D4F"/>
                          </a:solidFill>
                          <a:latin typeface="210 OmniGothic 030"/>
                          <a:ea typeface="210 OmniGothic 030"/>
                          <a:cs typeface="210 OmniGothic 030"/>
                        </a:rPr>
                        <a:t>통과</a:t>
                      </a:r>
                      <a:r>
                        <a:rPr lang="en-US" altLang="ko-KR" sz="1300" b="1" dirty="0">
                          <a:solidFill>
                            <a:srgbClr val="2E7D4F"/>
                          </a:solidFill>
                          <a:latin typeface="210 OmniGothic 030"/>
                          <a:ea typeface="210 OmniGothic 030"/>
                          <a:cs typeface="210 OmniGothic 030"/>
                        </a:rPr>
                        <a:t>(</a:t>
                      </a:r>
                      <a:r>
                        <a:rPr lang="ko-KR" altLang="en-US" sz="1300" b="1" dirty="0">
                          <a:solidFill>
                            <a:srgbClr val="2E7D4F"/>
                          </a:solidFill>
                          <a:latin typeface="210 OmniGothic 030"/>
                          <a:ea typeface="210 OmniGothic 030"/>
                          <a:cs typeface="210 OmniGothic 030"/>
                        </a:rPr>
                        <a:t>3건 모두 개선</a:t>
                      </a:r>
                      <a:r>
                        <a:rPr lang="en-US" altLang="ko-KR" sz="1300" b="1" dirty="0">
                          <a:solidFill>
                            <a:srgbClr val="2E7D4F"/>
                          </a:solidFill>
                          <a:latin typeface="210 OmniGothic 030"/>
                          <a:ea typeface="210 OmniGothic 030"/>
                          <a:cs typeface="210 OmniGothic 030"/>
                        </a:rPr>
                        <a:t>)</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3"/>
                  </a:ext>
                </a:extLst>
              </a:tr>
              <a:tr h="621792">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UX</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BE7DA"/>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유스케이스 시나리오</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UC 15개의 기본·대안·예외 흐름이 끝까지 되는가</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실제 클릭으로 수행</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6B7080"/>
                          </a:solidFill>
                          <a:latin typeface="210 OmniGothic 030"/>
                          <a:ea typeface="210 OmniGothic 030"/>
                          <a:cs typeface="210 OmniGothic 030"/>
                        </a:rPr>
                        <a:t>개선 필요 6 · 결함 2</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1" dirty="0">
                          <a:solidFill>
                            <a:srgbClr val="2E7D4F"/>
                          </a:solidFill>
                          <a:latin typeface="210 OmniGothic 030"/>
                          <a:ea typeface="210 OmniGothic 030"/>
                          <a:cs typeface="210 OmniGothic 030"/>
                        </a:rPr>
                        <a:t>통과</a:t>
                      </a:r>
                      <a:r>
                        <a:rPr lang="en-US" altLang="ko-KR" sz="1300" b="1" dirty="0">
                          <a:solidFill>
                            <a:srgbClr val="2E7D4F"/>
                          </a:solidFill>
                          <a:latin typeface="210 OmniGothic 030"/>
                          <a:ea typeface="210 OmniGothic 030"/>
                          <a:cs typeface="210 OmniGothic 030"/>
                        </a:rPr>
                        <a:t>(</a:t>
                      </a:r>
                      <a:r>
                        <a:rPr lang="ko-KR" altLang="en-US" sz="1300" b="1" dirty="0">
                          <a:solidFill>
                            <a:srgbClr val="2E7D4F"/>
                          </a:solidFill>
                          <a:latin typeface="210 OmniGothic 030"/>
                          <a:ea typeface="210 OmniGothic 030"/>
                          <a:cs typeface="210 OmniGothic 030"/>
                        </a:rPr>
                        <a:t>15개 모두 확인</a:t>
                      </a:r>
                      <a:r>
                        <a:rPr lang="en-US" altLang="ko-KR" sz="1300" b="1" dirty="0">
                          <a:solidFill>
                            <a:srgbClr val="2E7D4F"/>
                          </a:solidFill>
                          <a:latin typeface="210 OmniGothic 030"/>
                          <a:ea typeface="210 OmniGothic 030"/>
                          <a:cs typeface="210 OmniGothic 030"/>
                        </a:rPr>
                        <a:t>)</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4"/>
                  </a:ext>
                </a:extLst>
              </a:tr>
              <a:tr h="621792">
                <a:tc>
                  <a:txBody>
                    <a:bodyPr/>
                    <a:lstStyle/>
                    <a:p>
                      <a:pPr algn="ctr" latinLnBrk="0">
                        <a:lnSpc>
                          <a:spcPct val="110000"/>
                        </a:lnSpc>
                        <a:spcBef>
                          <a:spcPts val="0"/>
                        </a:spcBef>
                        <a:spcAft>
                          <a:spcPts val="0"/>
                        </a:spcAft>
                        <a:buNone/>
                      </a:pPr>
                      <a:r>
                        <a:rPr lang="ko-KR" altLang="en-US" sz="1300" b="1" dirty="0">
                          <a:solidFill>
                            <a:srgbClr val="2E3142"/>
                          </a:solidFill>
                          <a:latin typeface="210 OmniGothic 030"/>
                          <a:ea typeface="210 OmniGothic 030"/>
                          <a:cs typeface="210 OmniGothic 030"/>
                        </a:rPr>
                        <a:t>UX</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BE7DA"/>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사용 편의</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헷갈리거나 불편한 지점</a:t>
                      </a:r>
                      <a:endParaRPr lang="ko-KR" altLang="en-US" sz="13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가시성·일관성·오류 예방·피드백 관점 팀 자체 점검</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0" dirty="0">
                          <a:solidFill>
                            <a:srgbClr val="6B7080"/>
                          </a:solidFill>
                          <a:latin typeface="210 OmniGothic 030"/>
                          <a:ea typeface="210 OmniGothic 030"/>
                          <a:cs typeface="210 OmniGothic 030"/>
                        </a:rPr>
                        <a:t>개선 항목 11건</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00" b="1" dirty="0">
                          <a:solidFill>
                            <a:srgbClr val="2E7D4F"/>
                          </a:solidFill>
                          <a:latin typeface="210 OmniGothic 030"/>
                          <a:ea typeface="210 OmniGothic 030"/>
                          <a:cs typeface="210 OmniGothic 030"/>
                        </a:rPr>
                        <a:t>통과 </a:t>
                      </a:r>
                      <a:r>
                        <a:rPr lang="en-US" altLang="ko-KR" sz="1300" b="1" dirty="0">
                          <a:solidFill>
                            <a:srgbClr val="2E7D4F"/>
                          </a:solidFill>
                          <a:latin typeface="210 OmniGothic 030"/>
                          <a:ea typeface="210 OmniGothic 030"/>
                          <a:cs typeface="210 OmniGothic 030"/>
                        </a:rPr>
                        <a:t>(</a:t>
                      </a:r>
                      <a:r>
                        <a:rPr lang="ko-KR" altLang="en-US" sz="1300" b="1" dirty="0">
                          <a:solidFill>
                            <a:srgbClr val="2E7D4F"/>
                          </a:solidFill>
                          <a:latin typeface="210 OmniGothic 030"/>
                          <a:ea typeface="210 OmniGothic 030"/>
                          <a:cs typeface="210 OmniGothic 030"/>
                        </a:rPr>
                        <a:t>11건 모두 반영</a:t>
                      </a:r>
                      <a:r>
                        <a:rPr lang="en-US" altLang="ko-KR" sz="1300" b="1" dirty="0">
                          <a:solidFill>
                            <a:srgbClr val="2E7D4F"/>
                          </a:solidFill>
                          <a:latin typeface="210 OmniGothic 030"/>
                          <a:ea typeface="210 OmniGothic 030"/>
                          <a:cs typeface="210 OmniGothic 030"/>
                        </a:rPr>
                        <a:t>)</a:t>
                      </a:r>
                      <a:endParaRPr lang="ko-KR" altLang="en-US" sz="13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5"/>
                  </a:ext>
                </a:extLst>
              </a:tr>
            </a:tbl>
          </a:graphicData>
        </a:graphic>
      </p:graphicFrame>
      <p:sp>
        <p:nvSpPr>
          <p:cNvPr id="5025" name="Rounded Rectangle 5024"/>
          <p:cNvSpPr/>
          <p:nvPr/>
        </p:nvSpPr>
        <p:spPr>
          <a:xfrm>
            <a:off x="822960" y="6181344"/>
            <a:ext cx="16642080" cy="713232"/>
          </a:xfrm>
          <a:prstGeom prst="roundRect">
            <a:avLst>
              <a:gd name="adj" fmla="val 8695"/>
            </a:avLst>
          </a:prstGeom>
          <a:solidFill>
            <a:srgbClr val="F2F2F2"/>
          </a:solidFill>
          <a:ln>
            <a:noFill/>
          </a:ln>
        </p:spPr>
        <p:txBody>
          <a:bodyPr wrap="square" lIns="0" tIns="0" rIns="0" bIns="0" rtlCol="0" anchor="ctr">
            <a:noAutofit/>
          </a:bodyPr>
          <a:lstStyle/>
          <a:p>
            <a:pPr algn="ctr"/>
            <a:endParaRPr/>
          </a:p>
        </p:txBody>
      </p:sp>
      <p:sp>
        <p:nvSpPr>
          <p:cNvPr id="5026" name="TextBox 5025"/>
          <p:cNvSpPr txBox="1"/>
          <p:nvPr/>
        </p:nvSpPr>
        <p:spPr>
          <a:xfrm>
            <a:off x="1097280" y="6181344"/>
            <a:ext cx="16093440" cy="713232"/>
          </a:xfrm>
          <a:prstGeom prst="rect">
            <a:avLst/>
          </a:prstGeom>
          <a:noFill/>
        </p:spPr>
        <p:txBody>
          <a:bodyPr wrap="square" lIns="0" tIns="0" rIns="0" bIns="0" rtlCol="0" anchor="ctr">
            <a:noAutofit/>
          </a:bodyPr>
          <a:lstStyle/>
          <a:p>
            <a:pPr algn="l" latinLnBrk="0">
              <a:lnSpc>
                <a:spcPct val="125000"/>
              </a:lnSpc>
              <a:spcBef>
                <a:spcPts val="0"/>
              </a:spcBef>
              <a:spcAft>
                <a:spcPts val="0"/>
              </a:spcAft>
              <a:buNone/>
            </a:pPr>
            <a:r>
              <a:rPr lang="ko-KR" altLang="en-US" sz="1300" b="1" dirty="0">
                <a:solidFill>
                  <a:srgbClr val="363A52"/>
                </a:solidFill>
                <a:latin typeface="210 OmniGothic 040"/>
                <a:ea typeface="210 OmniGothic 040"/>
                <a:cs typeface="210 OmniGothic 040"/>
              </a:rPr>
              <a:t>수행 환경  </a:t>
            </a:r>
            <a:r>
              <a:rPr lang="ko-KR" altLang="en-US" sz="1300" b="0" dirty="0">
                <a:solidFill>
                  <a:srgbClr val="2E3142"/>
                </a:solidFill>
                <a:latin typeface="210 OmniGothic 030"/>
                <a:ea typeface="210 OmniGothic 030"/>
                <a:cs typeface="210 OmniGothic 030"/>
              </a:rPr>
              <a:t>Chrome(1920×1080), 시연 계정 4개(cmd01·rep01·view01·admin01)로 2026-10-11에 직접 조작하고, 검증 후 수정본(10/13)은 같은 방법으로 다시 확인. </a:t>
            </a:r>
            <a:br>
              <a:rPr lang="en-US" altLang="ko-KR" sz="1300" b="0" dirty="0">
                <a:solidFill>
                  <a:srgbClr val="2E3142"/>
                </a:solidFill>
                <a:latin typeface="210 OmniGothic 030"/>
                <a:ea typeface="210 OmniGothic 030"/>
                <a:cs typeface="210 OmniGothic 030"/>
              </a:rPr>
            </a:br>
            <a:r>
              <a:rPr lang="en-US" altLang="ko-KR" sz="1300" b="0" dirty="0">
                <a:solidFill>
                  <a:srgbClr val="2E3142"/>
                </a:solidFill>
                <a:latin typeface="210 OmniGothic 030"/>
                <a:ea typeface="210 OmniGothic 030"/>
                <a:cs typeface="210 OmniGothic 030"/>
              </a:rPr>
              <a:t>                </a:t>
            </a:r>
            <a:r>
              <a:rPr lang="ko-KR" altLang="en-US" sz="1300" b="0" dirty="0">
                <a:solidFill>
                  <a:srgbClr val="2E3142"/>
                </a:solidFill>
                <a:latin typeface="210 OmniGothic 030"/>
                <a:ea typeface="210 OmniGothic 030"/>
                <a:cs typeface="210 OmniGothic 030"/>
              </a:rPr>
              <a:t>UI 검증은 상용 에이전트</a:t>
            </a:r>
            <a:r>
              <a:rPr lang="en-US" altLang="ko-KR" sz="1300" b="0" dirty="0">
                <a:solidFill>
                  <a:srgbClr val="2E3142"/>
                </a:solidFill>
                <a:latin typeface="210 OmniGothic 030"/>
                <a:ea typeface="210 OmniGothic 030"/>
                <a:cs typeface="210 OmniGothic 030"/>
              </a:rPr>
              <a:t>(Claude)</a:t>
            </a:r>
            <a:r>
              <a:rPr lang="ko-KR" altLang="en-US" sz="1300" b="0" dirty="0">
                <a:solidFill>
                  <a:srgbClr val="2E3142"/>
                </a:solidFill>
                <a:latin typeface="210 OmniGothic 030"/>
                <a:ea typeface="210 OmniGothic 030"/>
                <a:cs typeface="210 OmniGothic 030"/>
              </a:rPr>
              <a:t>를 활용해 </a:t>
            </a:r>
            <a:r>
              <a:rPr lang="ko-KR" altLang="en-US" sz="1300" b="0" dirty="0" err="1">
                <a:solidFill>
                  <a:srgbClr val="2E3142"/>
                </a:solidFill>
                <a:latin typeface="210 OmniGothic 030"/>
                <a:ea typeface="210 OmniGothic 030"/>
                <a:cs typeface="210 OmniGothic 030"/>
              </a:rPr>
              <a:t>실험·검증을</a:t>
            </a:r>
            <a:r>
              <a:rPr lang="ko-KR" altLang="en-US" sz="1300" b="0" dirty="0">
                <a:solidFill>
                  <a:srgbClr val="2E3142"/>
                </a:solidFill>
                <a:latin typeface="210 OmniGothic 030"/>
                <a:ea typeface="210 OmniGothic 030"/>
                <a:cs typeface="210 OmniGothic 030"/>
              </a:rPr>
              <a:t> 진행하였음.</a:t>
            </a:r>
            <a:endParaRPr lang="ko-KR" altLang="en-US" sz="1300" dirty="0"/>
          </a:p>
        </p:txBody>
      </p:sp>
      <p:sp>
        <p:nvSpPr>
          <p:cNvPr id="5027" name="TextBox 5026"/>
          <p:cNvSpPr txBox="1"/>
          <p:nvPr/>
        </p:nvSpPr>
        <p:spPr>
          <a:xfrm>
            <a:off x="822960" y="7022592"/>
            <a:ext cx="16642080" cy="310896"/>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400" b="1" dirty="0">
                <a:solidFill>
                  <a:srgbClr val="363A52"/>
                </a:solidFill>
                <a:latin typeface="210 OmniGothic 040"/>
                <a:ea typeface="210 OmniGothic 040"/>
                <a:cs typeface="210 OmniGothic 040"/>
              </a:rPr>
              <a:t>AI 활용 범위  </a:t>
            </a:r>
            <a:r>
              <a:rPr lang="ko-KR" altLang="en-US" sz="1400" b="1" dirty="0">
                <a:solidFill>
                  <a:srgbClr val="B5601C"/>
                </a:solidFill>
                <a:latin typeface="210 OmniGothic 040"/>
                <a:ea typeface="210 OmniGothic 040"/>
                <a:cs typeface="210 OmniGothic 040"/>
              </a:rPr>
              <a:t>Claude Opus 5.5(Anthropic) — Claude Code 에이전트</a:t>
            </a:r>
            <a:endParaRPr lang="ko-KR" altLang="en-US" sz="1400"/>
          </a:p>
        </p:txBody>
      </p:sp>
      <p:graphicFrame>
        <p:nvGraphicFramePr>
          <p:cNvPr id="5028" name="Table 5027"/>
          <p:cNvGraphicFramePr>
            <a:graphicFrameLocks noGrp="1"/>
          </p:cNvGraphicFramePr>
          <p:nvPr/>
        </p:nvGraphicFramePr>
        <p:xfrm>
          <a:off x="822960" y="7388352"/>
          <a:ext cx="16642080" cy="1737360"/>
        </p:xfrm>
        <a:graphic>
          <a:graphicData uri="http://schemas.openxmlformats.org/drawingml/2006/table">
            <a:tbl>
              <a:tblPr/>
              <a:tblGrid>
                <a:gridCol w="1645920">
                  <a:extLst>
                    <a:ext uri="{9D8B030D-6E8A-4147-A177-3AD203B41FA5}">
                      <a16:colId xmlns:a16="http://schemas.microsoft.com/office/drawing/2014/main" val="20000"/>
                    </a:ext>
                  </a:extLst>
                </a:gridCol>
                <a:gridCol w="100584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310896">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단계</a:t>
                      </a:r>
                      <a:endParaRPr lang="ko-KR" altLang="en-US" sz="120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AI가 한 일 (Claude Opus 5.5 · Claude Code)</a:t>
                      </a:r>
                      <a:endParaRPr lang="ko-KR" altLang="en-US" sz="120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팀이 한 일</a:t>
                      </a:r>
                      <a:endParaRPr lang="ko-KR" altLang="en-US" sz="120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356616">
                <a:tc>
                  <a:txBody>
                    <a:bodyPr/>
                    <a:lstStyle/>
                    <a:p>
                      <a:pPr algn="ctr" latinLnBrk="0">
                        <a:lnSpc>
                          <a:spcPct val="105000"/>
                        </a:lnSpc>
                        <a:spcBef>
                          <a:spcPts val="0"/>
                        </a:spcBef>
                        <a:spcAft>
                          <a:spcPts val="0"/>
                        </a:spcAft>
                        <a:buNone/>
                      </a:pPr>
                      <a:r>
                        <a:rPr lang="ko-KR" altLang="en-US" sz="1150" b="1" dirty="0">
                          <a:solidFill>
                            <a:srgbClr val="2E3142"/>
                          </a:solidFill>
                          <a:latin typeface="210 OmniGothic 030"/>
                          <a:ea typeface="210 OmniGothic 030"/>
                          <a:cs typeface="210 OmniGothic 030"/>
                        </a:rPr>
                        <a:t>프로토타입 제작</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요구사항분석서를 바탕으로 화면 코드(HTML·JavaScript·MapLibre) 작성, 시나리오 데이터 구성</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기능·화면 구조·권한 결정, 화면 검토·수정 요청</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356616">
                <a:tc>
                  <a:txBody>
                    <a:bodyPr/>
                    <a:lstStyle/>
                    <a:p>
                      <a:pPr algn="ctr" latinLnBrk="0">
                        <a:lnSpc>
                          <a:spcPct val="105000"/>
                        </a:lnSpc>
                        <a:spcBef>
                          <a:spcPts val="0"/>
                        </a:spcBef>
                        <a:spcAft>
                          <a:spcPts val="0"/>
                        </a:spcAft>
                        <a:buNone/>
                      </a:pPr>
                      <a:r>
                        <a:rPr lang="ko-KR" altLang="en-US" sz="1150" b="1" dirty="0">
                          <a:solidFill>
                            <a:srgbClr val="2E3142"/>
                          </a:solidFill>
                          <a:latin typeface="210 OmniGothic 030"/>
                          <a:ea typeface="210 OmniGothic 030"/>
                          <a:cs typeface="210 OmniGothic 030"/>
                        </a:rPr>
                        <a:t>실험</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자동화 브라우저(Chrome)로 시연 계정 4개 로그인 → 실제 클릭 수행</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결과 화면 확인</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356616">
                <a:tc>
                  <a:txBody>
                    <a:bodyPr/>
                    <a:lstStyle/>
                    <a:p>
                      <a:pPr algn="ctr" latinLnBrk="0">
                        <a:lnSpc>
                          <a:spcPct val="105000"/>
                        </a:lnSpc>
                        <a:spcBef>
                          <a:spcPts val="0"/>
                        </a:spcBef>
                        <a:spcAft>
                          <a:spcPts val="0"/>
                        </a:spcAft>
                        <a:buNone/>
                      </a:pPr>
                      <a:r>
                        <a:rPr lang="ko-KR" altLang="en-US" sz="1150" b="1" dirty="0">
                          <a:solidFill>
                            <a:srgbClr val="2E3142"/>
                          </a:solidFill>
                          <a:latin typeface="210 OmniGothic 030"/>
                          <a:ea typeface="210 OmniGothic 030"/>
                          <a:cs typeface="210 OmniGothic 030"/>
                        </a:rPr>
                        <a:t>검증</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통과·개선 필요·결함 판정, 발견 사항과 개선 방향 정리, 개선 후 같은 시나리오로 재검증(10/13)</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반영할 개선 항목 선택·우선순위 결정</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r h="356616">
                <a:tc>
                  <a:txBody>
                    <a:bodyPr/>
                    <a:lstStyle/>
                    <a:p>
                      <a:pPr algn="ctr" latinLnBrk="0">
                        <a:lnSpc>
                          <a:spcPct val="105000"/>
                        </a:lnSpc>
                        <a:spcBef>
                          <a:spcPts val="0"/>
                        </a:spcBef>
                        <a:spcAft>
                          <a:spcPts val="0"/>
                        </a:spcAft>
                        <a:buNone/>
                      </a:pPr>
                      <a:r>
                        <a:rPr lang="ko-KR" altLang="en-US" sz="1150" b="1" dirty="0">
                          <a:solidFill>
                            <a:srgbClr val="2E3142"/>
                          </a:solidFill>
                          <a:latin typeface="210 OmniGothic 030"/>
                          <a:ea typeface="210 OmniGothic 030"/>
                          <a:cs typeface="210 OmniGothic 030"/>
                        </a:rPr>
                        <a:t>개선 반영</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결함 4건·개선 7건 프로토타입 코드 수정</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수정 범위 결정, 결과 확인</a:t>
                      </a:r>
                      <a:endParaRPr lang="ko-KR" altLang="en-US" sz="1150"/>
                    </a:p>
                  </a:txBody>
                  <a:tcPr marL="73152" marR="73152"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558928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dirty="0">
                <a:solidFill>
                  <a:srgbClr val="363A52"/>
                </a:solidFill>
                <a:latin typeface="210 OmniGothic 040"/>
                <a:ea typeface="210 OmniGothic 040"/>
                <a:cs typeface="210 OmniGothic 040"/>
              </a:rPr>
              <a:t>UI 검증 결과 ① 요구사항 반영</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5024" name="TextBox 5023"/>
          <p:cNvSpPr txBox="1"/>
          <p:nvPr/>
        </p:nvSpPr>
        <p:spPr>
          <a:xfrm>
            <a:off x="822960" y="2395728"/>
            <a:ext cx="859536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00" b="1" dirty="0">
                <a:solidFill>
                  <a:srgbClr val="363A52"/>
                </a:solidFill>
                <a:latin typeface="210 OmniGothic 040"/>
                <a:ea typeface="210 OmniGothic 040"/>
                <a:cs typeface="210 OmniGothic 040"/>
              </a:rPr>
              <a:t>기능 32개의 구현 상태</a:t>
            </a:r>
            <a:endParaRPr lang="ko-KR" altLang="en-US" sz="1500"/>
          </a:p>
        </p:txBody>
      </p:sp>
      <p:sp>
        <p:nvSpPr>
          <p:cNvPr id="5025" name="Rounded Rectangle 5024"/>
          <p:cNvSpPr/>
          <p:nvPr/>
        </p:nvSpPr>
        <p:spPr>
          <a:xfrm>
            <a:off x="822960"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F-01</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로그인·권한</a:t>
            </a:r>
            <a:endParaRPr lang="ko-KR" altLang="en-US" sz="1400"/>
          </a:p>
        </p:txBody>
      </p:sp>
      <p:sp>
        <p:nvSpPr>
          <p:cNvPr id="5026" name="Rounded Rectangle 5025"/>
          <p:cNvSpPr/>
          <p:nvPr/>
        </p:nvSpPr>
        <p:spPr>
          <a:xfrm>
            <a:off x="1901952"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F-02</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상황 보고</a:t>
            </a:r>
            <a:endParaRPr lang="ko-KR" altLang="en-US" sz="1400"/>
          </a:p>
        </p:txBody>
      </p:sp>
      <p:sp>
        <p:nvSpPr>
          <p:cNvPr id="5027" name="Rounded Rectangle 5026"/>
          <p:cNvSpPr/>
          <p:nvPr/>
        </p:nvSpPr>
        <p:spPr>
          <a:xfrm>
            <a:off x="2980944"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F-03</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종료 처리</a:t>
            </a:r>
            <a:endParaRPr lang="ko-KR" altLang="en-US" sz="1400"/>
          </a:p>
        </p:txBody>
      </p:sp>
      <p:sp>
        <p:nvSpPr>
          <p:cNvPr id="5028" name="Rounded Rectangle 5027"/>
          <p:cNvSpPr/>
          <p:nvPr/>
        </p:nvSpPr>
        <p:spPr>
          <a:xfrm>
            <a:off x="4059936"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F-04</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발생·접수 조회</a:t>
            </a:r>
            <a:endParaRPr lang="ko-KR" altLang="en-US" sz="1400"/>
          </a:p>
        </p:txBody>
      </p:sp>
      <p:sp>
        <p:nvSpPr>
          <p:cNvPr id="5029" name="Rounded Rectangle 5028"/>
          <p:cNvSpPr/>
          <p:nvPr/>
        </p:nvSpPr>
        <p:spPr>
          <a:xfrm>
            <a:off x="5138928"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F-05</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통합 상황도</a:t>
            </a:r>
            <a:endParaRPr lang="ko-KR" altLang="en-US" sz="1400"/>
          </a:p>
        </p:txBody>
      </p:sp>
      <p:sp>
        <p:nvSpPr>
          <p:cNvPr id="5030" name="Rounded Rectangle 5029"/>
          <p:cNvSpPr/>
          <p:nvPr/>
        </p:nvSpPr>
        <p:spPr>
          <a:xfrm>
            <a:off x="6217920"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F-06</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레이어</a:t>
            </a:r>
            <a:endParaRPr lang="ko-KR" altLang="en-US" sz="1400"/>
          </a:p>
        </p:txBody>
      </p:sp>
      <p:sp>
        <p:nvSpPr>
          <p:cNvPr id="5031" name="Rounded Rectangle 5030"/>
          <p:cNvSpPr/>
          <p:nvPr/>
        </p:nvSpPr>
        <p:spPr>
          <a:xfrm>
            <a:off x="7296912" y="2834640"/>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F-07</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주요 시설</a:t>
            </a:r>
            <a:endParaRPr lang="ko-KR" altLang="en-US" sz="1400"/>
          </a:p>
        </p:txBody>
      </p:sp>
      <p:sp>
        <p:nvSpPr>
          <p:cNvPr id="5032" name="Rounded Rectangle 5031"/>
          <p:cNvSpPr/>
          <p:nvPr/>
        </p:nvSpPr>
        <p:spPr>
          <a:xfrm>
            <a:off x="8375904" y="2834640"/>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F-08</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가용 현황</a:t>
            </a:r>
            <a:endParaRPr lang="ko-KR" altLang="en-US" sz="1400"/>
          </a:p>
        </p:txBody>
      </p:sp>
      <p:sp>
        <p:nvSpPr>
          <p:cNvPr id="5033" name="Rounded Rectangle 5032"/>
          <p:cNvSpPr/>
          <p:nvPr/>
        </p:nvSpPr>
        <p:spPr>
          <a:xfrm>
            <a:off x="822960" y="3575304"/>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F-09</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확산 예측</a:t>
            </a:r>
            <a:endParaRPr lang="ko-KR" altLang="en-US" sz="1400"/>
          </a:p>
        </p:txBody>
      </p:sp>
      <p:sp>
        <p:nvSpPr>
          <p:cNvPr id="5034" name="Rounded Rectangle 5033"/>
          <p:cNvSpPr/>
          <p:nvPr/>
        </p:nvSpPr>
        <p:spPr>
          <a:xfrm>
            <a:off x="1901952" y="3575304"/>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F-10</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위험도</a:t>
            </a:r>
            <a:endParaRPr lang="ko-KR" altLang="en-US" sz="1400"/>
          </a:p>
        </p:txBody>
      </p:sp>
      <p:sp>
        <p:nvSpPr>
          <p:cNvPr id="5035" name="Rounded Rectangle 5034"/>
          <p:cNvSpPr/>
          <p:nvPr/>
        </p:nvSpPr>
        <p:spPr>
          <a:xfrm>
            <a:off x="2980944" y="3575304"/>
            <a:ext cx="1024128" cy="676656"/>
          </a:xfrm>
          <a:prstGeom prst="roundRect">
            <a:avLst>
              <a:gd name="adj" fmla="val 9090"/>
            </a:avLst>
          </a:prstGeom>
          <a:solidFill>
            <a:srgbClr val="8A7FB0"/>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F-11</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제안 생성</a:t>
            </a:r>
            <a:endParaRPr lang="ko-KR" altLang="en-US" sz="1400"/>
          </a:p>
        </p:txBody>
      </p:sp>
      <p:sp>
        <p:nvSpPr>
          <p:cNvPr id="5036" name="Rounded Rectangle 5035"/>
          <p:cNvSpPr/>
          <p:nvPr/>
        </p:nvSpPr>
        <p:spPr>
          <a:xfrm>
            <a:off x="4059936" y="3575304"/>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F-12</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제안 분류</a:t>
            </a:r>
            <a:endParaRPr lang="ko-KR" altLang="en-US" sz="1400"/>
          </a:p>
        </p:txBody>
      </p:sp>
      <p:sp>
        <p:nvSpPr>
          <p:cNvPr id="5037" name="Rounded Rectangle 5036"/>
          <p:cNvSpPr/>
          <p:nvPr/>
        </p:nvSpPr>
        <p:spPr>
          <a:xfrm>
            <a:off x="5138928" y="3575304"/>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F-13</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근거 조회</a:t>
            </a:r>
            <a:endParaRPr lang="ko-KR" altLang="en-US" sz="1400"/>
          </a:p>
        </p:txBody>
      </p:sp>
      <p:sp>
        <p:nvSpPr>
          <p:cNvPr id="5038" name="Rounded Rectangle 5037"/>
          <p:cNvSpPr/>
          <p:nvPr/>
        </p:nvSpPr>
        <p:spPr>
          <a:xfrm>
            <a:off x="6217920" y="3575304"/>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F-14</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이력·변경</a:t>
            </a:r>
            <a:endParaRPr lang="ko-KR" altLang="en-US" sz="1400"/>
          </a:p>
        </p:txBody>
      </p:sp>
      <p:sp>
        <p:nvSpPr>
          <p:cNvPr id="5039" name="Rounded Rectangle 5038"/>
          <p:cNvSpPr/>
          <p:nvPr/>
        </p:nvSpPr>
        <p:spPr>
          <a:xfrm>
            <a:off x="7296912" y="3575304"/>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F-15</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S1 대응단계</a:t>
            </a:r>
            <a:endParaRPr lang="ko-KR" altLang="en-US" sz="1400"/>
          </a:p>
        </p:txBody>
      </p:sp>
      <p:sp>
        <p:nvSpPr>
          <p:cNvPr id="5040" name="Rounded Rectangle 5039"/>
          <p:cNvSpPr/>
          <p:nvPr/>
        </p:nvSpPr>
        <p:spPr>
          <a:xfrm>
            <a:off x="8375904" y="3575304"/>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F-16</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S2 우선지역</a:t>
            </a:r>
            <a:endParaRPr lang="ko-KR" altLang="en-US" sz="1400"/>
          </a:p>
        </p:txBody>
      </p:sp>
      <p:sp>
        <p:nvSpPr>
          <p:cNvPr id="5041" name="Rounded Rectangle 5040"/>
          <p:cNvSpPr/>
          <p:nvPr/>
        </p:nvSpPr>
        <p:spPr>
          <a:xfrm>
            <a:off x="822960"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F-17</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S3 자원 배분</a:t>
            </a:r>
            <a:endParaRPr lang="ko-KR" altLang="en-US" sz="1400"/>
          </a:p>
        </p:txBody>
      </p:sp>
      <p:sp>
        <p:nvSpPr>
          <p:cNvPr id="5042" name="Rounded Rectangle 5041"/>
          <p:cNvSpPr/>
          <p:nvPr/>
        </p:nvSpPr>
        <p:spPr>
          <a:xfrm>
            <a:off x="1901952"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F-18</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S4 시간대 전략</a:t>
            </a:r>
            <a:endParaRPr lang="ko-KR" altLang="en-US" sz="1400"/>
          </a:p>
        </p:txBody>
      </p:sp>
      <p:sp>
        <p:nvSpPr>
          <p:cNvPr id="5043" name="Rounded Rectangle 5042"/>
          <p:cNvSpPr/>
          <p:nvPr/>
        </p:nvSpPr>
        <p:spPr>
          <a:xfrm>
            <a:off x="2980944"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F-19</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S5 시설 보호</a:t>
            </a:r>
            <a:endParaRPr lang="ko-KR" altLang="en-US" sz="1400"/>
          </a:p>
        </p:txBody>
      </p:sp>
      <p:sp>
        <p:nvSpPr>
          <p:cNvPr id="5044" name="Rounded Rectangle 5043"/>
          <p:cNvSpPr/>
          <p:nvPr/>
        </p:nvSpPr>
        <p:spPr>
          <a:xfrm>
            <a:off x="4059936"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F-20</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S6 유관기관</a:t>
            </a:r>
            <a:endParaRPr lang="ko-KR" altLang="en-US" sz="1400"/>
          </a:p>
        </p:txBody>
      </p:sp>
      <p:sp>
        <p:nvSpPr>
          <p:cNvPr id="5045" name="Rounded Rectangle 5044"/>
          <p:cNvSpPr/>
          <p:nvPr/>
        </p:nvSpPr>
        <p:spPr>
          <a:xfrm>
            <a:off x="5138928"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F-21</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S7 인력 안전</a:t>
            </a:r>
            <a:endParaRPr lang="ko-KR" altLang="en-US" sz="1400"/>
          </a:p>
        </p:txBody>
      </p:sp>
      <p:sp>
        <p:nvSpPr>
          <p:cNvPr id="5046" name="Rounded Rectangle 5045"/>
          <p:cNvSpPr/>
          <p:nvPr/>
        </p:nvSpPr>
        <p:spPr>
          <a:xfrm>
            <a:off x="6217920"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F-22</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E1 위험구역</a:t>
            </a:r>
            <a:endParaRPr lang="ko-KR" altLang="en-US" sz="1400"/>
          </a:p>
        </p:txBody>
      </p:sp>
      <p:sp>
        <p:nvSpPr>
          <p:cNvPr id="5047" name="Rounded Rectangle 5046"/>
          <p:cNvSpPr/>
          <p:nvPr/>
        </p:nvSpPr>
        <p:spPr>
          <a:xfrm>
            <a:off x="7296912"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F-23</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E2 대피 순서</a:t>
            </a:r>
            <a:endParaRPr lang="ko-KR" altLang="en-US" sz="1400"/>
          </a:p>
        </p:txBody>
      </p:sp>
      <p:sp>
        <p:nvSpPr>
          <p:cNvPr id="5048" name="Rounded Rectangle 5047"/>
          <p:cNvSpPr/>
          <p:nvPr/>
        </p:nvSpPr>
        <p:spPr>
          <a:xfrm>
            <a:off x="8375904" y="4315968"/>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F-24</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E3 취약시설</a:t>
            </a:r>
            <a:endParaRPr lang="ko-KR" altLang="en-US" sz="1400"/>
          </a:p>
        </p:txBody>
      </p:sp>
      <p:sp>
        <p:nvSpPr>
          <p:cNvPr id="5049" name="Rounded Rectangle 5048"/>
          <p:cNvSpPr/>
          <p:nvPr/>
        </p:nvSpPr>
        <p:spPr>
          <a:xfrm>
            <a:off x="822960" y="5056632"/>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F-25</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E4 대피소</a:t>
            </a:r>
            <a:endParaRPr lang="ko-KR" altLang="en-US" sz="1400"/>
          </a:p>
        </p:txBody>
      </p:sp>
      <p:sp>
        <p:nvSpPr>
          <p:cNvPr id="5050" name="Rounded Rectangle 5049"/>
          <p:cNvSpPr/>
          <p:nvPr/>
        </p:nvSpPr>
        <p:spPr>
          <a:xfrm>
            <a:off x="1901952" y="5056632"/>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F-26</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E5 교통통제</a:t>
            </a:r>
            <a:endParaRPr lang="ko-KR" altLang="en-US" sz="1400"/>
          </a:p>
        </p:txBody>
      </p:sp>
      <p:sp>
        <p:nvSpPr>
          <p:cNvPr id="5051" name="Rounded Rectangle 5050"/>
          <p:cNvSpPr/>
          <p:nvPr/>
        </p:nvSpPr>
        <p:spPr>
          <a:xfrm>
            <a:off x="2980944" y="5056632"/>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F-27</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E6 재난문자</a:t>
            </a:r>
            <a:endParaRPr lang="ko-KR" altLang="en-US" sz="1400"/>
          </a:p>
        </p:txBody>
      </p:sp>
      <p:sp>
        <p:nvSpPr>
          <p:cNvPr id="5052" name="Rounded Rectangle 5051"/>
          <p:cNvSpPr/>
          <p:nvPr/>
        </p:nvSpPr>
        <p:spPr>
          <a:xfrm>
            <a:off x="4059936" y="5056632"/>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F-28</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E7 긴급구조</a:t>
            </a:r>
            <a:endParaRPr lang="ko-KR" altLang="en-US" sz="1400"/>
          </a:p>
        </p:txBody>
      </p:sp>
      <p:sp>
        <p:nvSpPr>
          <p:cNvPr id="5053" name="Rounded Rectangle 5052"/>
          <p:cNvSpPr/>
          <p:nvPr/>
        </p:nvSpPr>
        <p:spPr>
          <a:xfrm>
            <a:off x="5138928" y="5056632"/>
            <a:ext cx="1024128" cy="676656"/>
          </a:xfrm>
          <a:prstGeom prst="roundRect">
            <a:avLst>
              <a:gd name="adj" fmla="val 9090"/>
            </a:avLst>
          </a:prstGeom>
          <a:solidFill>
            <a:srgbClr val="FAA95A"/>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F-29</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AI 질의응답</a:t>
            </a:r>
            <a:endParaRPr lang="ko-KR" altLang="en-US" sz="1400"/>
          </a:p>
        </p:txBody>
      </p:sp>
      <p:sp>
        <p:nvSpPr>
          <p:cNvPr id="5054" name="Rounded Rectangle 5053"/>
          <p:cNvSpPr/>
          <p:nvPr/>
        </p:nvSpPr>
        <p:spPr>
          <a:xfrm>
            <a:off x="6217920" y="5056632"/>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F-30</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상황 정정</a:t>
            </a:r>
            <a:endParaRPr lang="ko-KR" altLang="en-US" sz="1400"/>
          </a:p>
        </p:txBody>
      </p:sp>
      <p:sp>
        <p:nvSpPr>
          <p:cNvPr id="5055" name="Rounded Rectangle 5054"/>
          <p:cNvSpPr/>
          <p:nvPr/>
        </p:nvSpPr>
        <p:spPr>
          <a:xfrm>
            <a:off x="7296912" y="5056632"/>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F-31</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자원 관리</a:t>
            </a:r>
            <a:endParaRPr lang="ko-KR" altLang="en-US" sz="1400"/>
          </a:p>
        </p:txBody>
      </p:sp>
      <p:sp>
        <p:nvSpPr>
          <p:cNvPr id="5056" name="Rounded Rectangle 5055"/>
          <p:cNvSpPr/>
          <p:nvPr/>
        </p:nvSpPr>
        <p:spPr>
          <a:xfrm>
            <a:off x="8375904" y="5056632"/>
            <a:ext cx="1024128" cy="676656"/>
          </a:xfrm>
          <a:prstGeom prst="roundRect">
            <a:avLst>
              <a:gd name="adj" fmla="val 9090"/>
            </a:avLst>
          </a:prstGeom>
          <a:solidFill>
            <a:srgbClr val="363A52"/>
          </a:solidFill>
          <a:ln>
            <a:noFill/>
          </a:ln>
        </p:spPr>
        <p:txBody>
          <a:bodyPr wrap="square" lIns="18288" tIns="18288" rIns="18288" bIns="18288" rtlCol="0" anchor="ctr">
            <a:noAutofit/>
          </a:bodyPr>
          <a:lstStyle/>
          <a:p>
            <a:pPr algn="ctr" latinLnBrk="0">
              <a:lnSpc>
                <a:spcPct val="100000"/>
              </a:lnSpc>
              <a:spcBef>
                <a:spcPts val="0"/>
              </a:spcBef>
              <a:spcAft>
                <a:spcPts val="0"/>
              </a:spcAft>
              <a:buNone/>
            </a:pPr>
            <a:r>
              <a:rPr lang="ko-KR" altLang="en-US" sz="1100" b="1" dirty="0">
                <a:solidFill>
                  <a:srgbClr val="FFFFFF"/>
                </a:solidFill>
                <a:latin typeface="210 OmniGothic 040"/>
                <a:ea typeface="210 OmniGothic 040"/>
                <a:cs typeface="210 OmniGothic 040"/>
              </a:rPr>
              <a:t>F-32</a:t>
            </a:r>
            <a:endParaRPr lang="ko-KR" altLang="en-US" sz="1400"/>
          </a:p>
          <a:p>
            <a:pPr algn="ctr" latinLnBrk="0">
              <a:lnSpc>
                <a:spcPct val="100000"/>
              </a:lnSpc>
              <a:spcBef>
                <a:spcPts val="0"/>
              </a:spcBef>
              <a:spcAft>
                <a:spcPts val="0"/>
              </a:spcAft>
              <a:buNone/>
            </a:pPr>
            <a:r>
              <a:rPr lang="ko-KR" altLang="en-US" sz="950" b="0" dirty="0">
                <a:solidFill>
                  <a:srgbClr val="FFFFFF"/>
                </a:solidFill>
                <a:latin typeface="210 OmniGothic 030"/>
                <a:ea typeface="210 OmniGothic 030"/>
                <a:cs typeface="210 OmniGothic 030"/>
              </a:rPr>
              <a:t>이벤트 로그</a:t>
            </a:r>
            <a:endParaRPr lang="ko-KR" altLang="en-US" sz="1400"/>
          </a:p>
        </p:txBody>
      </p:sp>
      <p:sp>
        <p:nvSpPr>
          <p:cNvPr id="5057" name="Rounded Rectangle 5056"/>
          <p:cNvSpPr/>
          <p:nvPr/>
        </p:nvSpPr>
        <p:spPr>
          <a:xfrm>
            <a:off x="822960" y="5961888"/>
            <a:ext cx="8540496" cy="3090672"/>
          </a:xfrm>
          <a:prstGeom prst="roundRect">
            <a:avLst>
              <a:gd name="adj" fmla="val 2366"/>
            </a:avLst>
          </a:prstGeom>
          <a:solidFill>
            <a:srgbClr val="F2F2F2"/>
          </a:solidFill>
          <a:ln>
            <a:noFill/>
          </a:ln>
        </p:spPr>
        <p:txBody>
          <a:bodyPr wrap="square" lIns="0" tIns="0" rIns="0" bIns="0" rtlCol="0" anchor="ctr">
            <a:noAutofit/>
          </a:bodyPr>
          <a:lstStyle/>
          <a:p>
            <a:pPr algn="ctr"/>
            <a:endParaRPr/>
          </a:p>
        </p:txBody>
      </p:sp>
      <p:sp>
        <p:nvSpPr>
          <p:cNvPr id="5058" name="TextBox 5057"/>
          <p:cNvSpPr txBox="1"/>
          <p:nvPr/>
        </p:nvSpPr>
        <p:spPr>
          <a:xfrm>
            <a:off x="1097280" y="6099048"/>
            <a:ext cx="804672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450" b="1" dirty="0">
                <a:solidFill>
                  <a:srgbClr val="363A52"/>
                </a:solidFill>
                <a:latin typeface="210 OmniGothic 040"/>
                <a:ea typeface="210 OmniGothic 040"/>
                <a:cs typeface="210 OmniGothic 040"/>
              </a:rPr>
              <a:t>구분 기준</a:t>
            </a:r>
            <a:endParaRPr lang="ko-KR" altLang="en-US" sz="1450"/>
          </a:p>
        </p:txBody>
      </p:sp>
      <p:sp>
        <p:nvSpPr>
          <p:cNvPr id="5059" name="Rounded Rectangle 5058"/>
          <p:cNvSpPr/>
          <p:nvPr/>
        </p:nvSpPr>
        <p:spPr>
          <a:xfrm>
            <a:off x="1097280" y="6601968"/>
            <a:ext cx="1600200" cy="365760"/>
          </a:xfrm>
          <a:prstGeom prst="roundRect">
            <a:avLst>
              <a:gd name="adj" fmla="val 50000"/>
            </a:avLst>
          </a:prstGeom>
          <a:solidFill>
            <a:srgbClr val="363A52"/>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구현 13</a:t>
            </a:r>
            <a:endParaRPr lang="ko-KR" altLang="en-US" sz="1300"/>
          </a:p>
        </p:txBody>
      </p:sp>
      <p:sp>
        <p:nvSpPr>
          <p:cNvPr id="5060" name="TextBox 5059"/>
          <p:cNvSpPr txBox="1"/>
          <p:nvPr/>
        </p:nvSpPr>
        <p:spPr>
          <a:xfrm>
            <a:off x="2880360" y="6492240"/>
            <a:ext cx="6309360" cy="585216"/>
          </a:xfrm>
          <a:prstGeom prst="rect">
            <a:avLst/>
          </a:prstGeom>
          <a:noFill/>
        </p:spPr>
        <p:txBody>
          <a:bodyPr wrap="square" lIns="0" tIns="0" rIns="0" bIns="0" rtlCol="0" anchor="ctr">
            <a:noAutofit/>
          </a:bodyPr>
          <a:lstStyle/>
          <a:p>
            <a:pPr algn="l" latinLnBrk="0">
              <a:lnSpc>
                <a:spcPct val="114999"/>
              </a:lnSpc>
              <a:spcBef>
                <a:spcPts val="0"/>
              </a:spcBef>
              <a:spcAft>
                <a:spcPts val="0"/>
              </a:spcAft>
              <a:buNone/>
            </a:pPr>
            <a:r>
              <a:rPr lang="ko-KR" altLang="en-US" sz="1350" b="0" dirty="0">
                <a:solidFill>
                  <a:srgbClr val="2E3142"/>
                </a:solidFill>
                <a:latin typeface="210 OmniGothic 030"/>
                <a:ea typeface="210 OmniGothic 030"/>
                <a:cs typeface="210 OmniGothic 030"/>
              </a:rPr>
              <a:t>실제로 계산·저장되어 화면에서 그대로 동작하는 기능</a:t>
            </a:r>
            <a:endParaRPr lang="ko-KR" altLang="en-US" sz="1350"/>
          </a:p>
        </p:txBody>
      </p:sp>
      <p:sp>
        <p:nvSpPr>
          <p:cNvPr id="5061" name="Rounded Rectangle 5060"/>
          <p:cNvSpPr/>
          <p:nvPr/>
        </p:nvSpPr>
        <p:spPr>
          <a:xfrm>
            <a:off x="1097280" y="7403592"/>
            <a:ext cx="1600200" cy="365760"/>
          </a:xfrm>
          <a:prstGeom prst="roundRect">
            <a:avLst>
              <a:gd name="adj" fmla="val 50000"/>
            </a:avLst>
          </a:prstGeom>
          <a:solidFill>
            <a:srgbClr val="8A7FB0"/>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부분 구현 1</a:t>
            </a:r>
            <a:endParaRPr lang="ko-KR" altLang="en-US" sz="1300"/>
          </a:p>
        </p:txBody>
      </p:sp>
      <p:sp>
        <p:nvSpPr>
          <p:cNvPr id="5062" name="TextBox 5061"/>
          <p:cNvSpPr txBox="1"/>
          <p:nvPr/>
        </p:nvSpPr>
        <p:spPr>
          <a:xfrm>
            <a:off x="2880360" y="7293864"/>
            <a:ext cx="6309360" cy="585216"/>
          </a:xfrm>
          <a:prstGeom prst="rect">
            <a:avLst/>
          </a:prstGeom>
          <a:noFill/>
        </p:spPr>
        <p:txBody>
          <a:bodyPr wrap="square" lIns="0" tIns="0" rIns="0" bIns="0" rtlCol="0" anchor="ctr">
            <a:noAutofit/>
          </a:bodyPr>
          <a:lstStyle/>
          <a:p>
            <a:pPr algn="l" latinLnBrk="0">
              <a:lnSpc>
                <a:spcPct val="114999"/>
              </a:lnSpc>
              <a:spcBef>
                <a:spcPts val="0"/>
              </a:spcBef>
              <a:spcAft>
                <a:spcPts val="0"/>
              </a:spcAft>
              <a:buNone/>
            </a:pPr>
            <a:r>
              <a:rPr lang="ko-KR" altLang="en-US" sz="1350" b="0" dirty="0">
                <a:solidFill>
                  <a:srgbClr val="2E3142"/>
                </a:solidFill>
                <a:latin typeface="210 OmniGothic 030"/>
                <a:ea typeface="210 OmniGothic 030"/>
                <a:cs typeface="210 OmniGothic 030"/>
              </a:rPr>
              <a:t>규칙 엔진 판정은 실제로 동작하고, 제안 문장은 템플릿으로 혼합된 기능</a:t>
            </a:r>
            <a:endParaRPr lang="ko-KR" altLang="en-US" sz="1350"/>
          </a:p>
        </p:txBody>
      </p:sp>
      <p:sp>
        <p:nvSpPr>
          <p:cNvPr id="5063" name="Rounded Rectangle 5062"/>
          <p:cNvSpPr/>
          <p:nvPr/>
        </p:nvSpPr>
        <p:spPr>
          <a:xfrm>
            <a:off x="1097280" y="8205216"/>
            <a:ext cx="1600200" cy="365760"/>
          </a:xfrm>
          <a:prstGeom prst="roundRect">
            <a:avLst>
              <a:gd name="adj" fmla="val 50000"/>
            </a:avLst>
          </a:prstGeom>
          <a:solidFill>
            <a:srgbClr val="FAA95A"/>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미구현 18</a:t>
            </a:r>
            <a:endParaRPr lang="ko-KR" altLang="en-US" sz="1300"/>
          </a:p>
        </p:txBody>
      </p:sp>
      <p:sp>
        <p:nvSpPr>
          <p:cNvPr id="5064" name="TextBox 5063"/>
          <p:cNvSpPr txBox="1"/>
          <p:nvPr/>
        </p:nvSpPr>
        <p:spPr>
          <a:xfrm>
            <a:off x="2880360" y="8095488"/>
            <a:ext cx="6309360" cy="585216"/>
          </a:xfrm>
          <a:prstGeom prst="rect">
            <a:avLst/>
          </a:prstGeom>
          <a:noFill/>
        </p:spPr>
        <p:txBody>
          <a:bodyPr wrap="square" lIns="0" tIns="0" rIns="0" bIns="0" rtlCol="0" anchor="ctr">
            <a:noAutofit/>
          </a:bodyPr>
          <a:lstStyle/>
          <a:p>
            <a:pPr algn="l" latinLnBrk="0">
              <a:lnSpc>
                <a:spcPct val="114999"/>
              </a:lnSpc>
              <a:spcBef>
                <a:spcPts val="0"/>
              </a:spcBef>
              <a:spcAft>
                <a:spcPts val="0"/>
              </a:spcAft>
              <a:buNone/>
            </a:pPr>
            <a:r>
              <a:rPr lang="ko-KR" altLang="en-US" sz="1350" b="0" dirty="0">
                <a:solidFill>
                  <a:srgbClr val="2E3142"/>
                </a:solidFill>
                <a:latin typeface="210 OmniGothic 030"/>
                <a:ea typeface="210 OmniGothic 030"/>
                <a:cs typeface="210 OmniGothic 030"/>
              </a:rPr>
              <a:t>예측 모델·위험도 변수 값·자원 수·AI 답변을 정해 둔 값·대본으로 연출된 기능</a:t>
            </a:r>
            <a:endParaRPr lang="ko-KR" altLang="en-US" sz="1350"/>
          </a:p>
        </p:txBody>
      </p:sp>
      <p:sp>
        <p:nvSpPr>
          <p:cNvPr id="5065" name="TextBox 5064"/>
          <p:cNvSpPr txBox="1"/>
          <p:nvPr/>
        </p:nvSpPr>
        <p:spPr>
          <a:xfrm>
            <a:off x="9646920" y="2395728"/>
            <a:ext cx="77724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00" b="1" dirty="0">
                <a:solidFill>
                  <a:srgbClr val="363A52"/>
                </a:solidFill>
                <a:latin typeface="210 OmniGothic 040"/>
                <a:ea typeface="210 OmniGothic 040"/>
                <a:cs typeface="210 OmniGothic 040"/>
              </a:rPr>
              <a:t>구현 상태별 세부 내용</a:t>
            </a:r>
            <a:endParaRPr lang="ko-KR" altLang="en-US" sz="1500"/>
          </a:p>
        </p:txBody>
      </p:sp>
      <p:graphicFrame>
        <p:nvGraphicFramePr>
          <p:cNvPr id="5066" name="Table 5065"/>
          <p:cNvGraphicFramePr>
            <a:graphicFrameLocks noGrp="1"/>
          </p:cNvGraphicFramePr>
          <p:nvPr/>
        </p:nvGraphicFramePr>
        <p:xfrm>
          <a:off x="9646920" y="2834640"/>
          <a:ext cx="7818120" cy="6217920"/>
        </p:xfrm>
        <a:graphic>
          <a:graphicData uri="http://schemas.openxmlformats.org/drawingml/2006/table">
            <a:tbl>
              <a:tblPr/>
              <a:tblGrid>
                <a:gridCol w="11887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84048">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구분</a:t>
                      </a:r>
                      <a:endParaRPr lang="ko-KR" altLang="en-US" sz="12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기능 (요구사항 ID)</a:t>
                      </a:r>
                      <a:endParaRPr lang="ko-KR" altLang="en-US" sz="12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프로토타입에서의 상태</a:t>
                      </a:r>
                      <a:endParaRPr lang="ko-KR" altLang="en-US" sz="12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486156">
                <a:tc rowSpan="5">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구현</a:t>
                      </a:r>
                      <a:endParaRPr lang="ko-KR" altLang="en-US" sz="1200"/>
                    </a:p>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13</a:t>
                      </a:r>
                      <a:endParaRPr lang="ko-KR" altLang="en-US" sz="12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F-01 · F-31 로그인·권한 · 자원 관리</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계정 발급·5회 잠금·권한별 첫 화면, 진화자원 등록·수정·삭제가 실제로 저장·적용</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F-02 ~ F-04 상황 보고 · 종료 · 발생 접수</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입력 검사, 실측 화선 버전·정정, 종료 후 보고·예측·정정 차단이 실제로 동작</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F-05 ~ F-07 통합 상황도 · 레이어 · 주요 시설</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SGIS 경계·OSM 시설·도로를 실제 지도에 표시, 레이어 켜고 끔</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F-12 ~ F-14 제안 분류 · 근거 조회 · 이력</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구분 필터, 근거 번호 → 근거 창, 버전 비교·변경 태그가 실제로 동작</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4"/>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F-30 · F-32 상황 정정 · 이벤트 로그</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정정 확인 후 저장 → 제안서 새 버전, 모든 조작을 로그에 기록(정정 해석은 정해 둔 규칙)</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5"/>
                  </a:ext>
                </a:extLst>
              </a:tr>
              <a:tr h="486156">
                <a:tc>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부분 구현</a:t>
                      </a:r>
                      <a:endParaRPr lang="ko-KR" altLang="en-US" sz="1200"/>
                    </a:p>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1</a:t>
                      </a:r>
                      <a:endParaRPr lang="ko-KR" altLang="en-US" sz="12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8A7FB0"/>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F-11 제안 생성</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대응단계·위험구역 등 판정은 규칙 엔진이 실제로 계산, 제안 문장은 템플릿</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6"/>
                  </a:ext>
                </a:extLst>
              </a:tr>
              <a:tr h="486156">
                <a:tc rowSpan="6">
                  <a:txBody>
                    <a:bodyPr/>
                    <a:lstStyle/>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미구현</a:t>
                      </a:r>
                      <a:endParaRPr lang="ko-KR" altLang="en-US" sz="1200"/>
                    </a:p>
                    <a:p>
                      <a:pPr algn="ctr" latinLnBrk="0">
                        <a:lnSpc>
                          <a:spcPct val="105000"/>
                        </a:lnSpc>
                        <a:spcBef>
                          <a:spcPts val="0"/>
                        </a:spcBef>
                        <a:spcAft>
                          <a:spcPts val="0"/>
                        </a:spcAft>
                        <a:buNone/>
                      </a:pPr>
                      <a:r>
                        <a:rPr lang="ko-KR" altLang="en-US" sz="1200" b="1" dirty="0">
                          <a:solidFill>
                            <a:srgbClr val="FFFFFF"/>
                          </a:solidFill>
                          <a:latin typeface="210 OmniGothic 040"/>
                          <a:ea typeface="210 OmniGothic 040"/>
                          <a:cs typeface="210 OmniGothic 040"/>
                        </a:rPr>
                        <a:t>18</a:t>
                      </a:r>
                      <a:endParaRPr lang="ko-KR" altLang="en-US" sz="12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AA95A"/>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F-09 확산 예측</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합성 타원 모델로 P1~P8 범위를 그려 보임(실제 확산 모델 아님)</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7"/>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AA95A"/>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F-10 위험도</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4요소 가중 계산은 동작하나 23개 변수 값은 시연값</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8"/>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AA95A"/>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F-08 가용 현황</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헬기·차량·인력 수가 가상값</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9"/>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AA95A"/>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F-15 ~ F-21 진화 S1~S7</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제안 문장을 정해 둔 대본(템플릿)으로 표시</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0"/>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AA95A"/>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F-22 ~ F-28 대피 E1~E7</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제안 문장을 정해 둔 대본(템플릿)으로 표시</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1"/>
                  </a:ext>
                </a:extLst>
              </a:tr>
              <a:tr h="486156">
                <a:tc vMerge="1">
                  <a:txBody>
                    <a:bodyPr/>
                    <a:lstStyle/>
                    <a:p>
                      <a:endParaRPr/>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AA95A"/>
                    </a:solidFill>
                  </a:tcPr>
                </a:tc>
                <a:tc>
                  <a:txBody>
                    <a:bodyPr/>
                    <a:lstStyle/>
                    <a:p>
                      <a:pPr algn="l" latinLnBrk="0">
                        <a:lnSpc>
                          <a:spcPct val="105000"/>
                        </a:lnSpc>
                        <a:spcBef>
                          <a:spcPts val="0"/>
                        </a:spcBef>
                        <a:spcAft>
                          <a:spcPts val="0"/>
                        </a:spcAft>
                        <a:buNone/>
                      </a:pPr>
                      <a:r>
                        <a:rPr lang="ko-KR" altLang="en-US" sz="1100" b="1" dirty="0">
                          <a:solidFill>
                            <a:srgbClr val="2E3142"/>
                          </a:solidFill>
                          <a:latin typeface="210 OmniGothic 030"/>
                          <a:ea typeface="210 OmniGothic 030"/>
                          <a:cs typeface="210 OmniGothic 030"/>
                        </a:rPr>
                        <a:t>F-29 AI 질의응답</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5000"/>
                        </a:lnSpc>
                        <a:spcBef>
                          <a:spcPts val="0"/>
                        </a:spcBef>
                        <a:spcAft>
                          <a:spcPts val="0"/>
                        </a:spcAft>
                        <a:buNone/>
                      </a:pPr>
                      <a:r>
                        <a:rPr lang="ko-KR" altLang="en-US" sz="1100" b="0" dirty="0">
                          <a:solidFill>
                            <a:srgbClr val="2E3142"/>
                          </a:solidFill>
                          <a:latin typeface="210 OmniGothic 030"/>
                          <a:ea typeface="210 OmniGothic 030"/>
                          <a:cs typeface="210 OmniGothic 030"/>
                        </a:rPr>
                        <a:t>키워드에 맞춰 정해 둔 답변(대본)을 표시</a:t>
                      </a:r>
                      <a:endParaRPr lang="ko-KR" altLang="en-US" sz="1100"/>
                    </a:p>
                  </a:txBody>
                  <a:tcPr marL="64008" marR="64008"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dirty="0">
                <a:solidFill>
                  <a:srgbClr val="363A52"/>
                </a:solidFill>
                <a:latin typeface="210 OmniGothic 040"/>
                <a:ea typeface="210 OmniGothic 040"/>
                <a:cs typeface="210 OmniGothic 040"/>
              </a:rPr>
              <a:t>UI 검증 결과 ② 권한별 화면 분리 · 화면 배치</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5024" name="TextBox 5023"/>
          <p:cNvSpPr txBox="1"/>
          <p:nvPr/>
        </p:nvSpPr>
        <p:spPr>
          <a:xfrm>
            <a:off x="822960" y="2395728"/>
            <a:ext cx="868680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00" b="1" dirty="0">
                <a:solidFill>
                  <a:srgbClr val="363A52"/>
                </a:solidFill>
                <a:latin typeface="210 OmniGothic 040"/>
                <a:ea typeface="210 OmniGothic 040"/>
                <a:cs typeface="210 OmniGothic 040"/>
              </a:rPr>
              <a:t>권한별 화면 분리</a:t>
            </a:r>
            <a:endParaRPr lang="ko-KR" altLang="en-US" sz="1500"/>
          </a:p>
        </p:txBody>
      </p:sp>
      <p:graphicFrame>
        <p:nvGraphicFramePr>
          <p:cNvPr id="5025" name="Table 5024"/>
          <p:cNvGraphicFramePr>
            <a:graphicFrameLocks noGrp="1"/>
          </p:cNvGraphicFramePr>
          <p:nvPr/>
        </p:nvGraphicFramePr>
        <p:xfrm>
          <a:off x="822960" y="2834640"/>
          <a:ext cx="8686800" cy="6080759"/>
        </p:xfrm>
        <a:graphic>
          <a:graphicData uri="http://schemas.openxmlformats.org/drawingml/2006/table">
            <a:tbl>
              <a:tblPr/>
              <a:tblGrid>
                <a:gridCol w="3017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20624">
                <a:tc>
                  <a:txBody>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화면 요소</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통합지휘권자</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상황 보고자</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열람자</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전산 관리자</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산불 목록(날개)</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발생·접수 정보 조회</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상황 입력 판</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통합 상황도·레이어</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4"/>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확산 예측 실행</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5"/>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시간별 재생</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6"/>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산불 위험도</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7"/>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대응제안 탭·버전 이력</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8"/>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AI 어시스턴트</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9"/>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이벤트 로그</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0"/>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진화자원 창</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1"/>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종료 처리</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2"/>
                  </a:ext>
                </a:extLst>
              </a:tr>
              <a:tr h="435395">
                <a:tc>
                  <a:txBody>
                    <a:bodyPr/>
                    <a:lstStyle/>
                    <a:p>
                      <a:pPr algn="l" latinLnBrk="0">
                        <a:lnSpc>
                          <a:spcPct val="110000"/>
                        </a:lnSpc>
                        <a:spcBef>
                          <a:spcPts val="0"/>
                        </a:spcBef>
                        <a:spcAft>
                          <a:spcPts val="0"/>
                        </a:spcAft>
                        <a:buNone/>
                      </a:pPr>
                      <a:r>
                        <a:rPr lang="ko-KR" altLang="en-US" sz="1300" b="0" dirty="0">
                          <a:solidFill>
                            <a:srgbClr val="2E3142"/>
                          </a:solidFill>
                          <a:latin typeface="210 OmniGothic 030"/>
                          <a:ea typeface="210 OmniGothic 030"/>
                          <a:cs typeface="210 OmniGothic 030"/>
                        </a:rPr>
                        <a:t>관리 화면</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B8BCC8"/>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00" b="0" dirty="0">
                          <a:solidFill>
                            <a:srgbClr val="363A52"/>
                          </a:solidFill>
                          <a:latin typeface="210 OmniGothic 030"/>
                          <a:ea typeface="210 OmniGothic 030"/>
                          <a:cs typeface="210 OmniGothic 030"/>
                        </a:rPr>
                        <a:t>●</a:t>
                      </a:r>
                      <a:endParaRPr lang="ko-KR" altLang="en-US" sz="1300"/>
                    </a:p>
                  </a:txBody>
                  <a:tcPr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3"/>
                  </a:ext>
                </a:extLst>
              </a:tr>
            </a:tbl>
          </a:graphicData>
        </a:graphic>
      </p:graphicFrame>
      <p:sp>
        <p:nvSpPr>
          <p:cNvPr id="5026" name="TextBox 5025"/>
          <p:cNvSpPr txBox="1"/>
          <p:nvPr/>
        </p:nvSpPr>
        <p:spPr>
          <a:xfrm>
            <a:off x="10012680" y="2395728"/>
            <a:ext cx="740664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500" b="1" dirty="0">
                <a:solidFill>
                  <a:srgbClr val="363A52"/>
                </a:solidFill>
                <a:latin typeface="210 OmniGothic 040"/>
                <a:ea typeface="210 OmniGothic 040"/>
                <a:cs typeface="210 OmniGothic 040"/>
              </a:rPr>
              <a:t>화면 배치</a:t>
            </a:r>
            <a:endParaRPr lang="ko-KR" altLang="en-US" sz="1500"/>
          </a:p>
        </p:txBody>
      </p:sp>
      <p:sp>
        <p:nvSpPr>
          <p:cNvPr id="5027" name="Rounded Rectangle 5026"/>
          <p:cNvSpPr/>
          <p:nvPr/>
        </p:nvSpPr>
        <p:spPr>
          <a:xfrm>
            <a:off x="10012680" y="2834640"/>
            <a:ext cx="7452360" cy="1917192"/>
          </a:xfrm>
          <a:prstGeom prst="roundRect">
            <a:avLst>
              <a:gd name="adj" fmla="val 3815"/>
            </a:avLst>
          </a:prstGeom>
          <a:solidFill>
            <a:srgbClr val="F2F2F2"/>
          </a:solidFill>
          <a:ln>
            <a:noFill/>
          </a:ln>
        </p:spPr>
        <p:txBody>
          <a:bodyPr wrap="square" lIns="0" tIns="0" rIns="0" bIns="0" rtlCol="0" anchor="ctr">
            <a:noAutofit/>
          </a:bodyPr>
          <a:lstStyle/>
          <a:p>
            <a:pPr algn="ctr"/>
            <a:endParaRPr/>
          </a:p>
        </p:txBody>
      </p:sp>
      <p:sp>
        <p:nvSpPr>
          <p:cNvPr id="5028" name="Oval 5027"/>
          <p:cNvSpPr/>
          <p:nvPr/>
        </p:nvSpPr>
        <p:spPr>
          <a:xfrm>
            <a:off x="10195560" y="3017520"/>
            <a:ext cx="329184" cy="329184"/>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368" b="1" dirty="0">
                <a:solidFill>
                  <a:srgbClr val="FFFFFF"/>
                </a:solidFill>
                <a:latin typeface="210 OmniGothic 040"/>
                <a:ea typeface="210 OmniGothic 040"/>
                <a:cs typeface="210 OmniGothic 040"/>
              </a:rPr>
              <a:t>1</a:t>
            </a:r>
            <a:endParaRPr lang="ko-KR" altLang="en-US" sz="1368"/>
          </a:p>
        </p:txBody>
      </p:sp>
      <p:sp>
        <p:nvSpPr>
          <p:cNvPr id="5029" name="TextBox 5028"/>
          <p:cNvSpPr txBox="1"/>
          <p:nvPr/>
        </p:nvSpPr>
        <p:spPr>
          <a:xfrm>
            <a:off x="10698480" y="2990088"/>
            <a:ext cx="658368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B5601C"/>
                </a:solidFill>
                <a:latin typeface="210 OmniGothic 040"/>
                <a:ea typeface="210 OmniGothic 040"/>
                <a:cs typeface="210 OmniGothic 040"/>
              </a:rPr>
              <a:t>발견</a:t>
            </a:r>
            <a:endParaRPr lang="ko-KR" altLang="en-US" sz="1250"/>
          </a:p>
        </p:txBody>
      </p:sp>
      <p:sp>
        <p:nvSpPr>
          <p:cNvPr id="5030" name="TextBox 5029"/>
          <p:cNvSpPr txBox="1"/>
          <p:nvPr/>
        </p:nvSpPr>
        <p:spPr>
          <a:xfrm>
            <a:off x="10698480" y="3310128"/>
            <a:ext cx="6583680" cy="56692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0" dirty="0">
                <a:solidFill>
                  <a:srgbClr val="2E3142"/>
                </a:solidFill>
                <a:latin typeface="210 OmniGothic 030"/>
                <a:ea typeface="210 OmniGothic 030"/>
                <a:cs typeface="210 OmniGothic 030"/>
              </a:rPr>
              <a:t>범례가 없어 분홍·파랑 선, 점선의 의미를 알 수 없음</a:t>
            </a:r>
            <a:endParaRPr lang="ko-KR" altLang="en-US" sz="1350"/>
          </a:p>
        </p:txBody>
      </p:sp>
      <p:sp>
        <p:nvSpPr>
          <p:cNvPr id="5031" name="TextBox 5030"/>
          <p:cNvSpPr txBox="1"/>
          <p:nvPr/>
        </p:nvSpPr>
        <p:spPr>
          <a:xfrm>
            <a:off x="10698480" y="3858768"/>
            <a:ext cx="658368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2E7D4F"/>
                </a:solidFill>
                <a:latin typeface="210 OmniGothic 040"/>
                <a:ea typeface="210 OmniGothic 040"/>
                <a:cs typeface="210 OmniGothic 040"/>
              </a:rPr>
              <a:t>검증 후 개선</a:t>
            </a:r>
            <a:endParaRPr lang="ko-KR" altLang="en-US" sz="1250"/>
          </a:p>
        </p:txBody>
      </p:sp>
      <p:sp>
        <p:nvSpPr>
          <p:cNvPr id="5032" name="TextBox 5031"/>
          <p:cNvSpPr txBox="1"/>
          <p:nvPr/>
        </p:nvSpPr>
        <p:spPr>
          <a:xfrm>
            <a:off x="10698480" y="4178808"/>
            <a:ext cx="6583680"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0" dirty="0">
                <a:solidFill>
                  <a:srgbClr val="2E7D4F"/>
                </a:solidFill>
                <a:latin typeface="210 OmniGothic 030"/>
                <a:ea typeface="210 OmniGothic 030"/>
                <a:cs typeface="210 OmniGothic 030"/>
              </a:rPr>
              <a:t>레이어 버튼에 지도 표시 색 견본, 마우스를 올리면 의미를 제시함.</a:t>
            </a:r>
            <a:endParaRPr lang="ko-KR" altLang="en-US" sz="1350"/>
          </a:p>
        </p:txBody>
      </p:sp>
      <p:sp>
        <p:nvSpPr>
          <p:cNvPr id="5033" name="Rounded Rectangle 5032"/>
          <p:cNvSpPr/>
          <p:nvPr/>
        </p:nvSpPr>
        <p:spPr>
          <a:xfrm>
            <a:off x="10012680" y="4916424"/>
            <a:ext cx="7452360" cy="1917192"/>
          </a:xfrm>
          <a:prstGeom prst="roundRect">
            <a:avLst>
              <a:gd name="adj" fmla="val 3815"/>
            </a:avLst>
          </a:prstGeom>
          <a:solidFill>
            <a:srgbClr val="F2F2F2"/>
          </a:solidFill>
          <a:ln>
            <a:noFill/>
          </a:ln>
        </p:spPr>
        <p:txBody>
          <a:bodyPr wrap="square" lIns="0" tIns="0" rIns="0" bIns="0" rtlCol="0" anchor="ctr">
            <a:noAutofit/>
          </a:bodyPr>
          <a:lstStyle/>
          <a:p>
            <a:pPr algn="ctr"/>
            <a:endParaRPr/>
          </a:p>
        </p:txBody>
      </p:sp>
      <p:sp>
        <p:nvSpPr>
          <p:cNvPr id="5034" name="Oval 5033"/>
          <p:cNvSpPr/>
          <p:nvPr/>
        </p:nvSpPr>
        <p:spPr>
          <a:xfrm>
            <a:off x="10195560" y="5099304"/>
            <a:ext cx="329184" cy="329184"/>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368" b="1" dirty="0">
                <a:solidFill>
                  <a:srgbClr val="FFFFFF"/>
                </a:solidFill>
                <a:latin typeface="210 OmniGothic 040"/>
                <a:ea typeface="210 OmniGothic 040"/>
                <a:cs typeface="210 OmniGothic 040"/>
              </a:rPr>
              <a:t>2</a:t>
            </a:r>
            <a:endParaRPr lang="ko-KR" altLang="en-US" sz="1368"/>
          </a:p>
        </p:txBody>
      </p:sp>
      <p:sp>
        <p:nvSpPr>
          <p:cNvPr id="5035" name="TextBox 5034"/>
          <p:cNvSpPr txBox="1"/>
          <p:nvPr/>
        </p:nvSpPr>
        <p:spPr>
          <a:xfrm>
            <a:off x="10698480" y="5071872"/>
            <a:ext cx="658368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B5601C"/>
                </a:solidFill>
                <a:latin typeface="210 OmniGothic 040"/>
                <a:ea typeface="210 OmniGothic 040"/>
                <a:cs typeface="210 OmniGothic 040"/>
              </a:rPr>
              <a:t>발견</a:t>
            </a:r>
            <a:endParaRPr lang="ko-KR" altLang="en-US" sz="1250"/>
          </a:p>
        </p:txBody>
      </p:sp>
      <p:sp>
        <p:nvSpPr>
          <p:cNvPr id="5036" name="TextBox 5035"/>
          <p:cNvSpPr txBox="1"/>
          <p:nvPr/>
        </p:nvSpPr>
        <p:spPr>
          <a:xfrm>
            <a:off x="10698480" y="5391912"/>
            <a:ext cx="6583680" cy="56692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0" dirty="0">
                <a:solidFill>
                  <a:srgbClr val="2E3142"/>
                </a:solidFill>
                <a:latin typeface="210 OmniGothic 030"/>
                <a:ea typeface="210 OmniGothic 030"/>
                <a:cs typeface="210 OmniGothic 030"/>
              </a:rPr>
              <a:t>의성읍·안평면 주변 라벨 겹침, 영문·한글 지명 병기로 복잡</a:t>
            </a:r>
            <a:endParaRPr lang="ko-KR" altLang="en-US" sz="1350"/>
          </a:p>
        </p:txBody>
      </p:sp>
      <p:sp>
        <p:nvSpPr>
          <p:cNvPr id="5037" name="TextBox 5036"/>
          <p:cNvSpPr txBox="1"/>
          <p:nvPr/>
        </p:nvSpPr>
        <p:spPr>
          <a:xfrm>
            <a:off x="10698480" y="5940552"/>
            <a:ext cx="658368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2E7D4F"/>
                </a:solidFill>
                <a:latin typeface="210 OmniGothic 040"/>
                <a:ea typeface="210 OmniGothic 040"/>
                <a:cs typeface="210 OmniGothic 040"/>
              </a:rPr>
              <a:t>검증 후 개선</a:t>
            </a:r>
            <a:endParaRPr lang="ko-KR" altLang="en-US" sz="1250"/>
          </a:p>
        </p:txBody>
      </p:sp>
      <p:sp>
        <p:nvSpPr>
          <p:cNvPr id="5038" name="TextBox 5037"/>
          <p:cNvSpPr txBox="1"/>
          <p:nvPr/>
        </p:nvSpPr>
        <p:spPr>
          <a:xfrm>
            <a:off x="10698480" y="6260592"/>
            <a:ext cx="6583680"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0" dirty="0">
                <a:solidFill>
                  <a:srgbClr val="2E7D4F"/>
                </a:solidFill>
                <a:latin typeface="210 OmniGothic 030"/>
                <a:ea typeface="210 OmniGothic 030"/>
                <a:cs typeface="210 OmniGothic 030"/>
              </a:rPr>
              <a:t>바탕지도 이름은 한글만 표기</a:t>
            </a:r>
            <a:endParaRPr lang="ko-KR" altLang="en-US" sz="1350"/>
          </a:p>
        </p:txBody>
      </p:sp>
      <p:sp>
        <p:nvSpPr>
          <p:cNvPr id="5039" name="Rounded Rectangle 5038"/>
          <p:cNvSpPr/>
          <p:nvPr/>
        </p:nvSpPr>
        <p:spPr>
          <a:xfrm>
            <a:off x="10012680" y="6998208"/>
            <a:ext cx="7452360" cy="1917192"/>
          </a:xfrm>
          <a:prstGeom prst="roundRect">
            <a:avLst>
              <a:gd name="adj" fmla="val 3815"/>
            </a:avLst>
          </a:prstGeom>
          <a:solidFill>
            <a:srgbClr val="F2F2F2"/>
          </a:solidFill>
          <a:ln>
            <a:noFill/>
          </a:ln>
        </p:spPr>
        <p:txBody>
          <a:bodyPr wrap="square" lIns="0" tIns="0" rIns="0" bIns="0" rtlCol="0" anchor="ctr">
            <a:noAutofit/>
          </a:bodyPr>
          <a:lstStyle/>
          <a:p>
            <a:pPr algn="ctr"/>
            <a:endParaRPr/>
          </a:p>
        </p:txBody>
      </p:sp>
      <p:sp>
        <p:nvSpPr>
          <p:cNvPr id="5040" name="Oval 5039"/>
          <p:cNvSpPr/>
          <p:nvPr/>
        </p:nvSpPr>
        <p:spPr>
          <a:xfrm>
            <a:off x="10195560" y="7181088"/>
            <a:ext cx="329184" cy="329184"/>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368" b="1" dirty="0">
                <a:solidFill>
                  <a:srgbClr val="FFFFFF"/>
                </a:solidFill>
                <a:latin typeface="210 OmniGothic 040"/>
                <a:ea typeface="210 OmniGothic 040"/>
                <a:cs typeface="210 OmniGothic 040"/>
              </a:rPr>
              <a:t>3</a:t>
            </a:r>
            <a:endParaRPr lang="ko-KR" altLang="en-US" sz="1368"/>
          </a:p>
        </p:txBody>
      </p:sp>
      <p:sp>
        <p:nvSpPr>
          <p:cNvPr id="5041" name="TextBox 5040"/>
          <p:cNvSpPr txBox="1"/>
          <p:nvPr/>
        </p:nvSpPr>
        <p:spPr>
          <a:xfrm>
            <a:off x="10698480" y="7153656"/>
            <a:ext cx="658368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B5601C"/>
                </a:solidFill>
                <a:latin typeface="210 OmniGothic 040"/>
                <a:ea typeface="210 OmniGothic 040"/>
                <a:cs typeface="210 OmniGothic 040"/>
              </a:rPr>
              <a:t>발견</a:t>
            </a:r>
            <a:endParaRPr lang="ko-KR" altLang="en-US" sz="1250"/>
          </a:p>
        </p:txBody>
      </p:sp>
      <p:sp>
        <p:nvSpPr>
          <p:cNvPr id="5042" name="TextBox 5041"/>
          <p:cNvSpPr txBox="1"/>
          <p:nvPr/>
        </p:nvSpPr>
        <p:spPr>
          <a:xfrm>
            <a:off x="10698480" y="7473696"/>
            <a:ext cx="6583680" cy="566928"/>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0" dirty="0">
                <a:solidFill>
                  <a:srgbClr val="2E3142"/>
                </a:solidFill>
                <a:latin typeface="210 OmniGothic 030"/>
                <a:ea typeface="210 OmniGothic 030"/>
                <a:cs typeface="210 OmniGothic 030"/>
              </a:rPr>
              <a:t>1366×768: 상단이 두 줄로 줄바꿈, 진화자원·위험도·AI 창이 서로 가림</a:t>
            </a:r>
            <a:endParaRPr lang="ko-KR" altLang="en-US" sz="1350"/>
          </a:p>
        </p:txBody>
      </p:sp>
      <p:sp>
        <p:nvSpPr>
          <p:cNvPr id="5043" name="TextBox 5042"/>
          <p:cNvSpPr txBox="1"/>
          <p:nvPr/>
        </p:nvSpPr>
        <p:spPr>
          <a:xfrm>
            <a:off x="10698480" y="8022336"/>
            <a:ext cx="6583680" cy="329184"/>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50" b="1" dirty="0">
                <a:solidFill>
                  <a:srgbClr val="2E7D4F"/>
                </a:solidFill>
                <a:latin typeface="210 OmniGothic 040"/>
                <a:ea typeface="210 OmniGothic 040"/>
                <a:cs typeface="210 OmniGothic 040"/>
              </a:rPr>
              <a:t>검증 후 개선</a:t>
            </a:r>
            <a:endParaRPr lang="ko-KR" altLang="en-US" sz="1250"/>
          </a:p>
        </p:txBody>
      </p:sp>
      <p:sp>
        <p:nvSpPr>
          <p:cNvPr id="5044" name="TextBox 5043"/>
          <p:cNvSpPr txBox="1"/>
          <p:nvPr/>
        </p:nvSpPr>
        <p:spPr>
          <a:xfrm>
            <a:off x="10698480" y="8342376"/>
            <a:ext cx="6583680" cy="548640"/>
          </a:xfrm>
          <a:prstGeom prst="rect">
            <a:avLst/>
          </a:prstGeom>
          <a:noFill/>
        </p:spPr>
        <p:txBody>
          <a:bodyPr wrap="square" lIns="0" tIns="0" rIns="0" bIns="0" rtlCol="0" anchor="t">
            <a:noAutofit/>
          </a:bodyPr>
          <a:lstStyle/>
          <a:p>
            <a:pPr algn="l" latinLnBrk="0">
              <a:lnSpc>
                <a:spcPct val="114999"/>
              </a:lnSpc>
              <a:spcBef>
                <a:spcPts val="0"/>
              </a:spcBef>
              <a:spcAft>
                <a:spcPts val="0"/>
              </a:spcAft>
              <a:buNone/>
            </a:pPr>
            <a:r>
              <a:rPr lang="ko-KR" altLang="en-US" sz="1350" b="0" dirty="0">
                <a:solidFill>
                  <a:srgbClr val="2E7D4F"/>
                </a:solidFill>
                <a:latin typeface="210 OmniGothic 030"/>
                <a:ea typeface="210 OmniGothic 030"/>
                <a:cs typeface="210 OmniGothic 030"/>
              </a:rPr>
              <a:t>떠 있는 창을 빈자리에 자동 배치(필요하면 높이 축소), 상단 한 줄 유지</a:t>
            </a:r>
            <a:endParaRPr lang="ko-KR" altLang="en-US" sz="135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816197"/>
            <a:ext cx="16642080" cy="400110"/>
          </a:xfrm>
          <a:prstGeom prst="rect">
            <a:avLst/>
          </a:prstGeom>
          <a:noFill/>
        </p:spPr>
        <p:txBody>
          <a:bodyPr wrap="square" lIns="0" tIns="0" rIns="0" bIns="0" anchor="ctr">
            <a:spAutoFit/>
          </a:bodyPr>
          <a:lstStyle/>
          <a:p>
            <a:pPr algn="ctr"/>
            <a:r>
              <a:rPr sz="2600" b="1" dirty="0">
                <a:solidFill>
                  <a:srgbClr val="363A52"/>
                </a:solidFill>
                <a:latin typeface="210 OmniGothic 040"/>
                <a:ea typeface="210 OmniGothic 040"/>
                <a:cs typeface="210 OmniGothic 040"/>
              </a:rPr>
              <a:t>UX </a:t>
            </a:r>
            <a:r>
              <a:rPr sz="2600" b="1" dirty="0" err="1">
                <a:solidFill>
                  <a:srgbClr val="363A52"/>
                </a:solidFill>
                <a:latin typeface="210 OmniGothic 040"/>
                <a:ea typeface="210 OmniGothic 040"/>
                <a:cs typeface="210 OmniGothic 040"/>
              </a:rPr>
              <a:t>검증</a:t>
            </a:r>
            <a:r>
              <a:rPr sz="2600" b="1" dirty="0">
                <a:solidFill>
                  <a:srgbClr val="363A52"/>
                </a:solidFill>
                <a:latin typeface="210 OmniGothic 040"/>
                <a:ea typeface="210 OmniGothic 040"/>
                <a:cs typeface="210 OmniGothic 040"/>
              </a:rPr>
              <a:t> ① </a:t>
            </a:r>
            <a:r>
              <a:rPr sz="2600" b="1" dirty="0" err="1">
                <a:solidFill>
                  <a:srgbClr val="363A52"/>
                </a:solidFill>
                <a:latin typeface="210 OmniGothic 040"/>
                <a:ea typeface="210 OmniGothic 040"/>
                <a:cs typeface="210 OmniGothic 040"/>
              </a:rPr>
              <a:t>유스케이스</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시나리오</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수행</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결과</a:t>
            </a:r>
            <a:endParaRPr sz="2600" b="1" dirty="0">
              <a:solidFill>
                <a:srgbClr val="363A52"/>
              </a:solidFill>
              <a:latin typeface="210 OmniGothic 040"/>
              <a:ea typeface="210 OmniGothic 040"/>
              <a:cs typeface="210 OmniGothic 040"/>
            </a:endParaRP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47</a:t>
            </a:fld>
            <a:endParaRPr lang="en-US"/>
          </a:p>
        </p:txBody>
      </p:sp>
      <p:graphicFrame>
        <p:nvGraphicFramePr>
          <p:cNvPr id="5024" name="Table 5023"/>
          <p:cNvGraphicFramePr>
            <a:graphicFrameLocks noGrp="1"/>
          </p:cNvGraphicFramePr>
          <p:nvPr>
            <p:extLst>
              <p:ext uri="{D42A27DB-BD31-4B8C-83A1-F6EECF244321}">
                <p14:modId xmlns:p14="http://schemas.microsoft.com/office/powerpoint/2010/main" val="678971475"/>
              </p:ext>
            </p:extLst>
          </p:nvPr>
        </p:nvGraphicFramePr>
        <p:xfrm>
          <a:off x="822959" y="2926080"/>
          <a:ext cx="16642078" cy="5870448"/>
        </p:xfrm>
        <a:graphic>
          <a:graphicData uri="http://schemas.openxmlformats.org/drawingml/2006/table">
            <a:tbl>
              <a:tblPr/>
              <a:tblGrid>
                <a:gridCol w="3087226">
                  <a:extLst>
                    <a:ext uri="{9D8B030D-6E8A-4147-A177-3AD203B41FA5}">
                      <a16:colId xmlns:a16="http://schemas.microsoft.com/office/drawing/2014/main" val="20000"/>
                    </a:ext>
                  </a:extLst>
                </a:gridCol>
                <a:gridCol w="4823791">
                  <a:extLst>
                    <a:ext uri="{9D8B030D-6E8A-4147-A177-3AD203B41FA5}">
                      <a16:colId xmlns:a16="http://schemas.microsoft.com/office/drawing/2014/main" val="20001"/>
                    </a:ext>
                  </a:extLst>
                </a:gridCol>
                <a:gridCol w="916520">
                  <a:extLst>
                    <a:ext uri="{9D8B030D-6E8A-4147-A177-3AD203B41FA5}">
                      <a16:colId xmlns:a16="http://schemas.microsoft.com/office/drawing/2014/main" val="20002"/>
                    </a:ext>
                  </a:extLst>
                </a:gridCol>
                <a:gridCol w="4196698">
                  <a:extLst>
                    <a:ext uri="{9D8B030D-6E8A-4147-A177-3AD203B41FA5}">
                      <a16:colId xmlns:a16="http://schemas.microsoft.com/office/drawing/2014/main" val="20004"/>
                    </a:ext>
                  </a:extLst>
                </a:gridCol>
                <a:gridCol w="3617843">
                  <a:extLst>
                    <a:ext uri="{9D8B030D-6E8A-4147-A177-3AD203B41FA5}">
                      <a16:colId xmlns:a16="http://schemas.microsoft.com/office/drawing/2014/main" val="20005"/>
                    </a:ext>
                  </a:extLst>
                </a:gridCol>
              </a:tblGrid>
              <a:tr h="384048">
                <a:tc>
                  <a:txBody>
                    <a:bodyPr/>
                    <a:lstStyle/>
                    <a:p>
                      <a:pPr algn="ctr" latinLnBrk="0">
                        <a:lnSpc>
                          <a:spcPct val="100000"/>
                        </a:lnSpc>
                        <a:spcBef>
                          <a:spcPts val="0"/>
                        </a:spcBef>
                        <a:spcAft>
                          <a:spcPts val="0"/>
                        </a:spcAft>
                        <a:buNone/>
                      </a:pPr>
                      <a:r>
                        <a:rPr lang="ko-KR" altLang="en-US" sz="1200" b="1" dirty="0">
                          <a:solidFill>
                            <a:srgbClr val="FFFFFF"/>
                          </a:solidFill>
                          <a:latin typeface="210 OmniGothic 040"/>
                          <a:ea typeface="210 OmniGothic 040"/>
                          <a:cs typeface="210 OmniGothic 040"/>
                        </a:rPr>
                        <a:t>유스케이스 (요구사항분석서)</a:t>
                      </a:r>
                      <a:endParaRPr lang="ko-KR" altLang="en-US" sz="120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0000"/>
                        </a:lnSpc>
                        <a:spcBef>
                          <a:spcPts val="0"/>
                        </a:spcBef>
                        <a:spcAft>
                          <a:spcPts val="0"/>
                        </a:spcAft>
                        <a:buNone/>
                      </a:pPr>
                      <a:r>
                        <a:rPr lang="ko-KR" altLang="en-US" sz="1200" b="1" dirty="0">
                          <a:solidFill>
                            <a:srgbClr val="FFFFFF"/>
                          </a:solidFill>
                          <a:latin typeface="210 OmniGothic 040"/>
                          <a:ea typeface="210 OmniGothic 040"/>
                          <a:cs typeface="210 OmniGothic 040"/>
                        </a:rPr>
                        <a:t>검증 시나리오 — 수행한 흐름 (기본 · 대안 · 예외)</a:t>
                      </a:r>
                      <a:endParaRPr lang="ko-KR" altLang="en-US" sz="120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0000"/>
                        </a:lnSpc>
                        <a:spcBef>
                          <a:spcPts val="0"/>
                        </a:spcBef>
                        <a:spcAft>
                          <a:spcPts val="0"/>
                        </a:spcAft>
                        <a:buNone/>
                      </a:pPr>
                      <a:r>
                        <a:rPr lang="ko-KR" altLang="en-US" sz="1200" b="1" dirty="0">
                          <a:solidFill>
                            <a:srgbClr val="FFFFFF"/>
                          </a:solidFill>
                          <a:latin typeface="210 OmniGothic 040"/>
                          <a:ea typeface="210 OmniGothic 040"/>
                          <a:cs typeface="210 OmniGothic 040"/>
                        </a:rPr>
                        <a:t>결과</a:t>
                      </a:r>
                      <a:endParaRPr lang="ko-KR" altLang="en-US" sz="120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0000"/>
                        </a:lnSpc>
                        <a:spcBef>
                          <a:spcPts val="0"/>
                        </a:spcBef>
                        <a:spcAft>
                          <a:spcPts val="0"/>
                        </a:spcAft>
                        <a:buNone/>
                      </a:pPr>
                      <a:r>
                        <a:rPr lang="ko-KR" altLang="en-US" sz="1200" b="1" dirty="0">
                          <a:solidFill>
                            <a:srgbClr val="FFFFFF"/>
                          </a:solidFill>
                          <a:latin typeface="210 OmniGothic 040"/>
                          <a:ea typeface="210 OmniGothic 040"/>
                          <a:cs typeface="210 OmniGothic 040"/>
                        </a:rPr>
                        <a:t>개선 전 발견 사항</a:t>
                      </a:r>
                      <a:endParaRPr lang="ko-KR" altLang="en-US" sz="120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round/>
                      <a:headEnd type="none" w="med" len="med"/>
                      <a:tailEnd type="none" w="med" len="med"/>
                    </a:lnB>
                    <a:solidFill>
                      <a:srgbClr val="363A52"/>
                    </a:solidFill>
                  </a:tcPr>
                </a:tc>
                <a:tc>
                  <a:txBody>
                    <a:bodyPr/>
                    <a:lstStyle/>
                    <a:p>
                      <a:pPr algn="ctr" latinLnBrk="0">
                        <a:lnSpc>
                          <a:spcPct val="100000"/>
                        </a:lnSpc>
                        <a:spcBef>
                          <a:spcPts val="0"/>
                        </a:spcBef>
                        <a:spcAft>
                          <a:spcPts val="0"/>
                        </a:spcAft>
                        <a:buNone/>
                      </a:pPr>
                      <a:r>
                        <a:rPr lang="ko-KR" altLang="en-US" sz="1200" b="1" dirty="0">
                          <a:solidFill>
                            <a:srgbClr val="FFFFFF"/>
                          </a:solidFill>
                          <a:latin typeface="210 OmniGothic 040"/>
                          <a:ea typeface="210 OmniGothic 040"/>
                          <a:cs typeface="210 OmniGothic 040"/>
                        </a:rPr>
                        <a:t>검증 후 개선</a:t>
                      </a:r>
                      <a:endParaRPr lang="ko-KR" altLang="en-US" sz="120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UC-AUTH-01 로그인</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성공 · 오류 문구 · 5회 잠금 · 회수 계정 · 새로고침 재진입</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UC-REPORT-01 산불 상황 보고</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새 산불(필수 값·지도 지정·접수 기록) · 화선 그리기 · 새 버전 · 정정 · GeoJSON 오류</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신고자 정보 칸 추가(규정 제6조①)</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UC-SIT-01 발화 종료 처리</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확인 창 · 종료 후 예측 버튼 비활성 · 정정 거부 · 조회 전용</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비활성 예측 버튼 옆에 이유 표시</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UC-SIT-02 발생·접수 정보 조회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목록 접수·진행 중 / 종료 전환 · 선택 시 지도 이동</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산불현황에 신고자 행</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4"/>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UC-SIT-03 통합 상황도 조회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레이어 켜기·끄기 · 시간별 재생 · 진화자원 필터 · 기상</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[개선 필요] 범례 없음, 라벨 겹침</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색 견본(범례), 한글 이름만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5"/>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UC-PRED-01 확산 예측 → 제안 생성</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예측 중 % · 다시 예측(새 화선) · 실패 시 이전 결과 유지</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[개선 필요] 「재예측 필요」가 표 맨 아래에만 표시</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버튼 옆에 표시·깜박임</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6"/>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UC-PRED-02 산불 위험도 확인</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네모 · 팝업 · 23개 변수 · 변수 결측 · 실패 · 예측 전/종료 숨김</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열람자도 열람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7"/>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UC-PROP-01 진화 제안 열람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S1~S7 발동 7 · 펼침 · 격상 배너 · 근거 부족 비표시</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[개선 필요] 카드와 지도 대상이 연동되지 않음</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펼치면 지도에 대상 강조</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8"/>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UC-PROP-02 대피 제안 열람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E1~E7 발동 5 · 구분 필터</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9"/>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UC-PROP-03 근거 조회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근거 번호 → 근거 창(문장·쪽·요약) · 닫기</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[개선 필요] 근거 창이 제안 목록을 덮어 나란히 볼 수 없음</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고정 창 옆에 열림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0"/>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UC-PROP-04 이력·변경사항 조회</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버전 3개 · 보기 · 비교 · 변경 태그 · 이벤트 로그</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[개선 필요] 바뀐 구절 강조 없음</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빠진 말·새로 생긴 말 강조</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1"/>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UC-QA-01 AI 질의응답</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빠른 질문 · 자유 질문 · 무관한 질문 거절 · 답변 실패</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[결함] 「이 항목 질문」(S4 야간 진화)에 대피 순서 답변</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지정 항목 기준으로 답변</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2"/>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UC-QA-02 AI 상황 정정 요청</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정정 확인 → v1.2 · 종료 산불 거부</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[결함] 「대피 완료 + 헬기 2대 투입」 중 헬기 누락, 안내 없음</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변화를 모두 해석·확인</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3"/>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UC-ADMIN-01 계정·권한 관리</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발급 · 필수 값 · 권한 변경 · 잠금 해제 · 회수 · 재발급 · 삭제</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[개선 필요] 회수·삭제·권한 변경이 확인 없이 즉시, 유일한 조작 계정도 삭제됨</a:t>
                      </a:r>
                      <a:endParaRPr lang="ko-KR" altLang="en-US" sz="105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round/>
                      <a:headEnd type="none" w="med" len="med"/>
                      <a:tailEnd type="none" w="med" len="me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확인 창, 마지막 통합지휘권자 보호</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4"/>
                  </a:ext>
                </a:extLst>
              </a:tr>
              <a:tr h="365760">
                <a:tc>
                  <a:txBody>
                    <a:bodyPr/>
                    <a:lstStyle/>
                    <a:p>
                      <a:pPr algn="l" latinLnBrk="0">
                        <a:lnSpc>
                          <a:spcPct val="100000"/>
                        </a:lnSpc>
                        <a:spcBef>
                          <a:spcPts val="0"/>
                        </a:spcBef>
                        <a:spcAft>
                          <a:spcPts val="0"/>
                        </a:spcAft>
                        <a:buNone/>
                      </a:pPr>
                      <a:r>
                        <a:rPr lang="ko-KR" altLang="en-US" sz="1050" b="1" dirty="0">
                          <a:solidFill>
                            <a:srgbClr val="B5601C"/>
                          </a:solidFill>
                          <a:latin typeface="210 OmniGothic 030"/>
                          <a:ea typeface="210 OmniGothic 030"/>
                          <a:cs typeface="210 OmniGothic 030"/>
                        </a:rPr>
                        <a:t>UC-ADMIN-02 진화자원 데이터 관리</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등록 필수 값 · 투입 중 삭제 차단 · 상태 변경</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0000"/>
                        </a:lnSpc>
                        <a:spcBef>
                          <a:spcPts val="0"/>
                        </a:spcBef>
                        <a:spcAft>
                          <a:spcPts val="0"/>
                        </a:spcAft>
                        <a:buNone/>
                      </a:pPr>
                      <a:r>
                        <a:rPr lang="ko-KR" altLang="en-US" sz="1050" b="1" dirty="0">
                          <a:solidFill>
                            <a:srgbClr val="2E7D4F"/>
                          </a:solidFill>
                          <a:latin typeface="210 OmniGothic 030"/>
                          <a:ea typeface="210 OmniGothic 030"/>
                          <a:cs typeface="210 OmniGothic 030"/>
                        </a:rPr>
                        <a:t>통과</a:t>
                      </a:r>
                      <a:endParaRPr lang="ko-KR" altLang="en-US" sz="105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0000"/>
                        </a:lnSpc>
                        <a:spcBef>
                          <a:spcPts val="0"/>
                        </a:spcBef>
                        <a:spcAft>
                          <a:spcPts val="0"/>
                        </a:spcAft>
                        <a:buNone/>
                      </a:pPr>
                      <a:r>
                        <a:rPr lang="ko-KR" altLang="en-US" sz="1050" b="0" dirty="0">
                          <a:solidFill>
                            <a:srgbClr val="2E3142"/>
                          </a:solidFill>
                          <a:latin typeface="210 OmniGothic 030"/>
                          <a:ea typeface="210 OmniGothic 030"/>
                          <a:cs typeface="210 OmniGothic 030"/>
                        </a:rPr>
                        <a:t>—</a:t>
                      </a:r>
                      <a:endParaRPr lang="ko-KR" altLang="en-US" sz="1050" dirty="0"/>
                    </a:p>
                  </a:txBody>
                  <a:tcPr marL="54864" marR="54864" marT="9144" marB="9144" anchor="ctr">
                    <a:lnL w="9525" cap="flat" cmpd="sng" algn="ctr">
                      <a:solidFill>
                        <a:srgbClr val="D5D8E0"/>
                      </a:solidFill>
                      <a:prstDash val="solid"/>
                      <a:round/>
                      <a:headEnd type="none" w="med" len="med"/>
                      <a:tailEnd type="none" w="med" len="med"/>
                    </a:lnL>
                    <a:lnR w="9525" cap="flat" cmpd="sng" algn="ctr">
                      <a:solidFill>
                        <a:srgbClr val="D5D8E0"/>
                      </a:solidFill>
                      <a:prstDash val="solid"/>
                    </a:lnR>
                    <a:lnT w="9525" cap="flat" cmpd="sng" algn="ctr">
                      <a:solidFill>
                        <a:srgbClr val="D5D8E0"/>
                      </a:solidFill>
                      <a:prstDash val="solid"/>
                      <a:round/>
                      <a:headEnd type="none" w="med" len="med"/>
                      <a:tailEnd type="none" w="med" len="med"/>
                    </a:lnT>
                    <a:lnB w="9525" cap="flat" cmpd="sng" algn="ctr">
                      <a:solidFill>
                        <a:srgbClr val="D5D8E0"/>
                      </a:solidFill>
                      <a:prstDash val="solid"/>
                    </a:lnB>
                    <a:solidFill>
                      <a:srgbClr val="FFFFFF"/>
                    </a:solidFill>
                  </a:tcPr>
                </a:tc>
                <a:tc>
                  <a:txBody>
                    <a:bodyPr/>
                    <a:lstStyle/>
                    <a:p>
                      <a:pPr algn="l" latinLnBrk="0">
                        <a:lnSpc>
                          <a:spcPct val="100000"/>
                        </a:lnSpc>
                        <a:spcBef>
                          <a:spcPts val="0"/>
                        </a:spcBef>
                        <a:spcAft>
                          <a:spcPts val="0"/>
                        </a:spcAft>
                        <a:buNone/>
                      </a:pPr>
                      <a:r>
                        <a:rPr lang="ko-KR" altLang="en-US" sz="1050" b="0" dirty="0">
                          <a:solidFill>
                            <a:srgbClr val="2E7D4F"/>
                          </a:solidFill>
                          <a:latin typeface="210 OmniGothic 030"/>
                          <a:ea typeface="210 OmniGothic 030"/>
                          <a:cs typeface="210 OmniGothic 030"/>
                        </a:rPr>
                        <a:t>—</a:t>
                      </a:r>
                      <a:endParaRPr lang="ko-KR" altLang="en-US" sz="1050" dirty="0"/>
                    </a:p>
                  </a:txBody>
                  <a:tcPr marL="54864" marR="54864" marT="9144" marB="9144"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15"/>
                  </a:ext>
                </a:extLst>
              </a:tr>
            </a:tbl>
          </a:graphicData>
        </a:graphic>
      </p:graphicFrame>
      <p:sp>
        <p:nvSpPr>
          <p:cNvPr id="5025" name="TextBox 5024"/>
          <p:cNvSpPr txBox="1"/>
          <p:nvPr/>
        </p:nvSpPr>
        <p:spPr>
          <a:xfrm>
            <a:off x="822960" y="8887968"/>
            <a:ext cx="16642080" cy="27432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150" b="1" dirty="0">
                <a:solidFill>
                  <a:srgbClr val="363A52"/>
                </a:solidFill>
                <a:latin typeface="210 OmniGothic 040"/>
                <a:ea typeface="210 OmniGothic 040"/>
                <a:cs typeface="210 OmniGothic 040"/>
              </a:rPr>
              <a:t>검증 후 15개 모두 통과</a:t>
            </a:r>
            <a:r>
              <a:rPr lang="ko-KR" altLang="en-US" sz="1150" b="0" dirty="0">
                <a:solidFill>
                  <a:srgbClr val="363A52"/>
                </a:solidFill>
                <a:latin typeface="210 OmniGothic 030"/>
                <a:ea typeface="210 OmniGothic 030"/>
                <a:cs typeface="210 OmniGothic 030"/>
              </a:rPr>
              <a:t>   (개선 전 10/11: 통과 7 · 개선 필요 6 · 결함 2 → 검증 후 8건 반영)</a:t>
            </a:r>
            <a:endParaRPr lang="ko-KR" altLang="en-US" sz="1150"/>
          </a:p>
        </p:txBody>
      </p:sp>
      <p:sp>
        <p:nvSpPr>
          <p:cNvPr id="5026" name="Rounded Rectangle 5025"/>
          <p:cNvSpPr/>
          <p:nvPr/>
        </p:nvSpPr>
        <p:spPr>
          <a:xfrm>
            <a:off x="822960" y="2377440"/>
            <a:ext cx="16642080" cy="438912"/>
          </a:xfrm>
          <a:prstGeom prst="roundRect">
            <a:avLst>
              <a:gd name="adj" fmla="val 20833"/>
            </a:avLst>
          </a:prstGeom>
          <a:solidFill>
            <a:srgbClr val="FDF1E6"/>
          </a:solidFill>
          <a:ln w="19050">
            <a:solidFill>
              <a:srgbClr val="E8742A"/>
            </a:solidFill>
          </a:ln>
        </p:spPr>
        <p:txBody>
          <a:bodyPr wrap="square" lIns="0" tIns="0" rIns="0" bIns="0" rtlCol="0" anchor="ctr">
            <a:noAutofit/>
          </a:bodyPr>
          <a:lstStyle/>
          <a:p>
            <a:pPr algn="ctr"/>
            <a:endParaRPr/>
          </a:p>
        </p:txBody>
      </p:sp>
      <p:sp>
        <p:nvSpPr>
          <p:cNvPr id="5027" name="Rounded Rectangle 5026"/>
          <p:cNvSpPr/>
          <p:nvPr/>
        </p:nvSpPr>
        <p:spPr>
          <a:xfrm>
            <a:off x="932688" y="2441448"/>
            <a:ext cx="3200400" cy="310896"/>
          </a:xfrm>
          <a:prstGeom prst="roundRect">
            <a:avLst>
              <a:gd name="adj" fmla="val 50000"/>
            </a:avLst>
          </a:prstGeom>
          <a:solidFill>
            <a:srgbClr val="E8742A"/>
          </a:solidFill>
          <a:ln>
            <a:noFill/>
          </a:ln>
        </p:spPr>
        <p:txBody>
          <a:bodyPr wrap="square" lIns="18288" tIns="0" rIns="18288" bIns="0" rtlCol="0" anchor="ctr">
            <a:noAutofit/>
          </a:bodyPr>
          <a:lstStyle/>
          <a:p>
            <a:pPr algn="ctr" latinLnBrk="0">
              <a:lnSpc>
                <a:spcPct val="110000"/>
              </a:lnSpc>
              <a:spcBef>
                <a:spcPts val="0"/>
              </a:spcBef>
              <a:spcAft>
                <a:spcPts val="0"/>
              </a:spcAft>
              <a:buNone/>
            </a:pPr>
            <a:r>
              <a:rPr lang="ko-KR" altLang="en-US" sz="1300" b="1" dirty="0">
                <a:solidFill>
                  <a:srgbClr val="FFFFFF"/>
                </a:solidFill>
                <a:latin typeface="210 OmniGothic 040"/>
                <a:ea typeface="210 OmniGothic 040"/>
                <a:cs typeface="210 OmniGothic 040"/>
              </a:rPr>
              <a:t>유스케이스 ↔ 검증 1:1 대응</a:t>
            </a:r>
            <a:endParaRPr lang="ko-KR" altLang="en-US" sz="1300"/>
          </a:p>
        </p:txBody>
      </p:sp>
      <p:sp>
        <p:nvSpPr>
          <p:cNvPr id="5028" name="TextBox 5027"/>
          <p:cNvSpPr txBox="1"/>
          <p:nvPr/>
        </p:nvSpPr>
        <p:spPr>
          <a:xfrm>
            <a:off x="4343400" y="2377440"/>
            <a:ext cx="12984480" cy="438912"/>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1" dirty="0">
                <a:solidFill>
                  <a:srgbClr val="363A52"/>
                </a:solidFill>
                <a:latin typeface="210 OmniGothic 040"/>
                <a:ea typeface="210 OmniGothic 040"/>
                <a:cs typeface="210 OmniGothic 040"/>
              </a:rPr>
              <a:t>요구사항분석서의 유스케이스 15개를 하나씩 그대로 검증 시나리오로 수행</a:t>
            </a:r>
            <a:r>
              <a:rPr lang="ko-KR" altLang="en-US" sz="1350" b="0" dirty="0">
                <a:solidFill>
                  <a:srgbClr val="2E3142"/>
                </a:solidFill>
                <a:latin typeface="210 OmniGothic 030"/>
                <a:ea typeface="210 OmniGothic 030"/>
                <a:cs typeface="210 OmniGothic 030"/>
              </a:rPr>
              <a:t>  —  기본·대안·예외 흐름까지 실제 클릭으로 확인</a:t>
            </a:r>
            <a:endParaRPr lang="ko-KR" altLang="en-US" sz="1350"/>
          </a:p>
        </p:txBody>
      </p:sp>
    </p:spTree>
    <p:extLst>
      <p:ext uri="{BB962C8B-B14F-4D97-AF65-F5344CB8AC3E}">
        <p14:creationId xmlns:p14="http://schemas.microsoft.com/office/powerpoint/2010/main" val="3301022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816197"/>
            <a:ext cx="16642080" cy="400110"/>
          </a:xfrm>
          <a:prstGeom prst="rect">
            <a:avLst/>
          </a:prstGeom>
          <a:noFill/>
        </p:spPr>
        <p:txBody>
          <a:bodyPr wrap="square" lIns="0" tIns="0" rIns="0" bIns="0" anchor="ctr">
            <a:spAutoFit/>
          </a:bodyPr>
          <a:lstStyle/>
          <a:p>
            <a:pPr algn="ctr"/>
            <a:r>
              <a:rPr sz="2600" b="1" dirty="0">
                <a:solidFill>
                  <a:srgbClr val="363A52"/>
                </a:solidFill>
                <a:latin typeface="210 OmniGothic 040"/>
                <a:ea typeface="210 OmniGothic 040"/>
                <a:cs typeface="210 OmniGothic 040"/>
              </a:rPr>
              <a:t>UX </a:t>
            </a:r>
            <a:r>
              <a:rPr sz="2600" b="1" dirty="0" err="1">
                <a:solidFill>
                  <a:srgbClr val="363A52"/>
                </a:solidFill>
                <a:latin typeface="210 OmniGothic 040"/>
                <a:ea typeface="210 OmniGothic 040"/>
                <a:cs typeface="210 OmniGothic 040"/>
              </a:rPr>
              <a:t>검증</a:t>
            </a:r>
            <a:r>
              <a:rPr sz="2600" b="1" dirty="0">
                <a:solidFill>
                  <a:srgbClr val="363A52"/>
                </a:solidFill>
                <a:latin typeface="210 OmniGothic 040"/>
                <a:ea typeface="210 OmniGothic 040"/>
                <a:cs typeface="210 OmniGothic 040"/>
              </a:rPr>
              <a:t> ② </a:t>
            </a:r>
            <a:r>
              <a:rPr sz="2600" b="1" dirty="0" err="1">
                <a:solidFill>
                  <a:srgbClr val="363A52"/>
                </a:solidFill>
                <a:latin typeface="210 OmniGothic 040"/>
                <a:ea typeface="210 OmniGothic 040"/>
                <a:cs typeface="210 OmniGothic 040"/>
              </a:rPr>
              <a:t>유스케이스</a:t>
            </a:r>
            <a:r>
              <a:rPr sz="2600" b="1" dirty="0">
                <a:solidFill>
                  <a:srgbClr val="363A52"/>
                </a:solidFill>
                <a:latin typeface="210 OmniGothic 040"/>
                <a:ea typeface="210 OmniGothic 040"/>
                <a:cs typeface="210 OmniGothic 040"/>
              </a:rPr>
              <a:t> 밖 </a:t>
            </a:r>
            <a:r>
              <a:rPr sz="2600" b="1" dirty="0" err="1">
                <a:solidFill>
                  <a:srgbClr val="363A52"/>
                </a:solidFill>
                <a:latin typeface="210 OmniGothic 040"/>
                <a:ea typeface="210 OmniGothic 040"/>
                <a:cs typeface="210 OmniGothic 040"/>
              </a:rPr>
              <a:t>추가</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시나리오</a:t>
            </a:r>
            <a:endParaRPr sz="2600" b="1" dirty="0">
              <a:solidFill>
                <a:srgbClr val="363A52"/>
              </a:solidFill>
              <a:latin typeface="210 OmniGothic 040"/>
              <a:ea typeface="210 OmniGothic 040"/>
              <a:cs typeface="210 OmniGothic 040"/>
            </a:endParaRP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48</a:t>
            </a:fld>
            <a:endParaRPr lang="en-US"/>
          </a:p>
        </p:txBody>
      </p:sp>
      <p:graphicFrame>
        <p:nvGraphicFramePr>
          <p:cNvPr id="5024" name="Table 5023"/>
          <p:cNvGraphicFramePr>
            <a:graphicFrameLocks noGrp="1"/>
          </p:cNvGraphicFramePr>
          <p:nvPr>
            <p:extLst>
              <p:ext uri="{D42A27DB-BD31-4B8C-83A1-F6EECF244321}">
                <p14:modId xmlns:p14="http://schemas.microsoft.com/office/powerpoint/2010/main" val="2919153789"/>
              </p:ext>
            </p:extLst>
          </p:nvPr>
        </p:nvGraphicFramePr>
        <p:xfrm>
          <a:off x="822960" y="2432304"/>
          <a:ext cx="10789920" cy="6336792"/>
        </p:xfrm>
        <a:graphic>
          <a:graphicData uri="http://schemas.openxmlformats.org/drawingml/2006/table">
            <a:tbl>
              <a:tblPr/>
              <a:tblGrid>
                <a:gridCol w="25146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411480">
                <a:tc>
                  <a:txBody>
                    <a:bodyPr/>
                    <a:lstStyle/>
                    <a:p>
                      <a:pPr algn="ctr" latinLnBrk="0">
                        <a:lnSpc>
                          <a:spcPct val="108000"/>
                        </a:lnSpc>
                        <a:spcBef>
                          <a:spcPts val="0"/>
                        </a:spcBef>
                        <a:spcAft>
                          <a:spcPts val="0"/>
                        </a:spcAft>
                        <a:buNone/>
                      </a:pPr>
                      <a:r>
                        <a:rPr lang="ko-KR" altLang="en-US" sz="1250" b="1" dirty="0">
                          <a:solidFill>
                            <a:srgbClr val="FFFFFF"/>
                          </a:solidFill>
                          <a:latin typeface="210 OmniGothic 040"/>
                          <a:ea typeface="210 OmniGothic 040"/>
                          <a:cs typeface="210 OmniGothic 040"/>
                        </a:rPr>
                        <a:t>시나리오</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8000"/>
                        </a:lnSpc>
                        <a:spcBef>
                          <a:spcPts val="0"/>
                        </a:spcBef>
                        <a:spcAft>
                          <a:spcPts val="0"/>
                        </a:spcAft>
                        <a:buNone/>
                      </a:pPr>
                      <a:r>
                        <a:rPr lang="ko-KR" altLang="en-US" sz="1250" b="1" dirty="0">
                          <a:solidFill>
                            <a:srgbClr val="FFFFFF"/>
                          </a:solidFill>
                          <a:latin typeface="210 OmniGothic 040"/>
                          <a:ea typeface="210 OmniGothic 040"/>
                          <a:cs typeface="210 OmniGothic 040"/>
                        </a:rPr>
                        <a:t>확인 내용</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8000"/>
                        </a:lnSpc>
                        <a:spcBef>
                          <a:spcPts val="0"/>
                        </a:spcBef>
                        <a:spcAft>
                          <a:spcPts val="0"/>
                        </a:spcAft>
                        <a:buNone/>
                      </a:pPr>
                      <a:r>
                        <a:rPr lang="ko-KR" altLang="en-US" sz="1250" b="1" dirty="0">
                          <a:solidFill>
                            <a:srgbClr val="FFFFFF"/>
                          </a:solidFill>
                          <a:latin typeface="210 OmniGothic 040"/>
                          <a:ea typeface="210 OmniGothic 040"/>
                          <a:cs typeface="210 OmniGothic 040"/>
                        </a:rPr>
                        <a:t>결과</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8000"/>
                        </a:lnSpc>
                        <a:spcBef>
                          <a:spcPts val="0"/>
                        </a:spcBef>
                        <a:spcAft>
                          <a:spcPts val="0"/>
                        </a:spcAft>
                        <a:buNone/>
                      </a:pPr>
                      <a:r>
                        <a:rPr lang="ko-KR" altLang="en-US" sz="1250" b="1" dirty="0">
                          <a:solidFill>
                            <a:srgbClr val="FFFFFF"/>
                          </a:solidFill>
                          <a:latin typeface="210 OmniGothic 040"/>
                          <a:ea typeface="210 OmniGothic 040"/>
                          <a:cs typeface="210 OmniGothic 040"/>
                        </a:rPr>
                        <a:t>개선 전 발견 사항</a:t>
                      </a:r>
                      <a:endParaRPr lang="ko-KR" altLang="en-US" sz="12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8000"/>
                        </a:lnSpc>
                        <a:spcBef>
                          <a:spcPts val="0"/>
                        </a:spcBef>
                        <a:spcAft>
                          <a:spcPts val="0"/>
                        </a:spcAft>
                        <a:buNone/>
                      </a:pPr>
                      <a:r>
                        <a:rPr lang="ko-KR" altLang="en-US" sz="1250" b="1" dirty="0">
                          <a:solidFill>
                            <a:srgbClr val="FFFFFF"/>
                          </a:solidFill>
                          <a:latin typeface="210 OmniGothic 040"/>
                          <a:ea typeface="210 OmniGothic 040"/>
                          <a:cs typeface="210 OmniGothic 040"/>
                        </a:rPr>
                        <a:t>검증 후 개선</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1시간 갱신 루프</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보고자 실측 화선 v2 → 지휘권자 「재예측 필요」 → 다시 예측 → 제안 v2.1</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1"/>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열람자 권한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제안·AI·이벤트 로그·종료 버튼이 보이지 않음, 재생만 가능</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위험도는 보이게 바꿈(요구 변경)</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2"/>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종료 산불 차단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종료 후 예측 버튼 비활성, 상황 정정 거부 문구</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비활성 이유 표시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3"/>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근거 없는 질문</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추측 없이 「근거 부족」 답변 + 이벤트 로그 기록</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4"/>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외부 연동 실패 7종</a:t>
                      </a:r>
                      <a:endParaRPr lang="ko-KR" altLang="en-US" sz="11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칸별 경고·시스템 알림·이전 결과 유지</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5"/>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같은 브라우저에서 역할 전환</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보고자 → 지휘권자로 바꿔도 이전 사용자의 입력 표식이 남지 않음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[문제] 「발화 위치(입력 중)」 표식이 지도에 남음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로그아웃 때 입력 상태 초기화</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6"/>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병합 산불</a:t>
                      </a:r>
                      <a:endParaRPr lang="ko-KR" altLang="en-US" sz="11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목록 1건 · 위험도 1개 · 화선 함께 표시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[개선 필요] 두 P5의 겹침이 보이지 않고, 두 번째 산불 정보를 볼 곳이 없음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겹침 구역 표시, 병합된 산불 행</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7"/>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작은 화면 1366×768</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떠 있는 창을 함께 열어도 서로 가리지 않음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2E7D4F"/>
                          </a:solidFill>
                          <a:latin typeface="210 OmniGothic 030"/>
                          <a:ea typeface="210 OmniGothic 030"/>
                          <a:cs typeface="210 OmniGothic 030"/>
                        </a:rPr>
                        <a:t>통과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[개선 필요] 상단 줄바꿈, 진화자원·위험도·AI 창 겹침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빈자리 자동 배치, 상단 한 줄</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8"/>
                  </a:ext>
                </a:extLst>
              </a:tr>
              <a:tr h="658368">
                <a:tc>
                  <a:txBody>
                    <a:bodyPr/>
                    <a:lstStyle/>
                    <a:p>
                      <a:pPr algn="l" latinLnBrk="0">
                        <a:lnSpc>
                          <a:spcPct val="108000"/>
                        </a:lnSpc>
                        <a:spcBef>
                          <a:spcPts val="0"/>
                        </a:spcBef>
                        <a:spcAft>
                          <a:spcPts val="0"/>
                        </a:spcAft>
                        <a:buNone/>
                      </a:pPr>
                      <a:r>
                        <a:rPr lang="ko-KR" altLang="en-US" sz="1150" b="1" dirty="0">
                          <a:solidFill>
                            <a:srgbClr val="2E3142"/>
                          </a:solidFill>
                          <a:latin typeface="210 OmniGothic 030"/>
                          <a:ea typeface="210 OmniGothic 030"/>
                          <a:cs typeface="210 OmniGothic 030"/>
                        </a:rPr>
                        <a:t>새로고침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08000"/>
                        </a:lnSpc>
                        <a:spcBef>
                          <a:spcPts val="0"/>
                        </a:spcBef>
                        <a:spcAft>
                          <a:spcPts val="0"/>
                        </a:spcAft>
                        <a:buNone/>
                      </a:pPr>
                      <a:r>
                        <a:rPr lang="ko-KR" altLang="en-US" sz="1150" b="0" dirty="0">
                          <a:solidFill>
                            <a:srgbClr val="2E3142"/>
                          </a:solidFill>
                          <a:latin typeface="210 OmniGothic 030"/>
                          <a:ea typeface="210 OmniGothic 030"/>
                          <a:cs typeface="210 OmniGothic 030"/>
                        </a:rPr>
                        <a:t>로그인은 유지, 예측·제안은 초기화</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8000"/>
                        </a:lnSpc>
                        <a:spcBef>
                          <a:spcPts val="0"/>
                        </a:spcBef>
                        <a:spcAft>
                          <a:spcPts val="0"/>
                        </a:spcAft>
                        <a:buNone/>
                      </a:pPr>
                      <a:r>
                        <a:rPr lang="ko-KR" altLang="en-US" sz="1150" b="1" dirty="0">
                          <a:solidFill>
                            <a:srgbClr val="B5601C"/>
                          </a:solidFill>
                          <a:latin typeface="210 OmniGothic 030"/>
                          <a:ea typeface="210 OmniGothic 030"/>
                          <a:cs typeface="210 OmniGothic 030"/>
                        </a:rPr>
                        <a:t>본 개발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8000"/>
                        </a:lnSpc>
                        <a:spcBef>
                          <a:spcPts val="0"/>
                        </a:spcBef>
                        <a:spcAft>
                          <a:spcPts val="0"/>
                        </a:spcAft>
                        <a:buNone/>
                      </a:pP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8000"/>
                        </a:lnSpc>
                        <a:spcBef>
                          <a:spcPts val="0"/>
                        </a:spcBef>
                        <a:spcAft>
                          <a:spcPts val="0"/>
                        </a:spcAft>
                        <a:buNone/>
                      </a:pPr>
                      <a:r>
                        <a:rPr lang="ko-KR" altLang="en-US" sz="1150" b="0" dirty="0">
                          <a:solidFill>
                            <a:srgbClr val="2E7D4F"/>
                          </a:solidFill>
                          <a:latin typeface="210 OmniGothic 030"/>
                          <a:ea typeface="210 OmniGothic 030"/>
                          <a:cs typeface="210 OmniGothic 030"/>
                        </a:rPr>
                        <a:t>서버가 없는 프로토타입 한계 — 본 개발에서 DB 저장</a:t>
                      </a:r>
                      <a:endParaRPr lang="ko-KR" altLang="en-US" sz="11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5025" name="Rectangle 5024"/>
          <p:cNvSpPr/>
          <p:nvPr/>
        </p:nvSpPr>
        <p:spPr>
          <a:xfrm>
            <a:off x="11841480" y="2432304"/>
            <a:ext cx="5623560" cy="310896"/>
          </a:xfrm>
          <a:prstGeom prst="rect">
            <a:avLst/>
          </a:prstGeom>
          <a:solidFill>
            <a:srgbClr val="D0342C"/>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발견 당시 — 역할 전환 후 남은 「발화 위치(입력 중)」 표식</a:t>
            </a:r>
            <a:endParaRPr lang="ko-KR" altLang="en-US" sz="1250"/>
          </a:p>
        </p:txBody>
      </p:sp>
      <p:pic>
        <p:nvPicPr>
          <p:cNvPr id="5026" name="Picture 5025" descr="image.jpg"/>
          <p:cNvPicPr>
            <a:picLocks noChangeAspect="1"/>
          </p:cNvPicPr>
          <p:nvPr/>
        </p:nvPicPr>
        <p:blipFill>
          <a:blip r:embed="rId6"/>
          <a:stretch>
            <a:fillRect/>
          </a:stretch>
        </p:blipFill>
        <p:spPr>
          <a:xfrm>
            <a:off x="11841480" y="2743200"/>
            <a:ext cx="5623560" cy="2939588"/>
          </a:xfrm>
          <a:prstGeom prst="rect">
            <a:avLst/>
          </a:prstGeom>
          <a:ln w="9525">
            <a:solidFill>
              <a:srgbClr val="D5D8E0"/>
            </a:solidFill>
          </a:ln>
        </p:spPr>
      </p:pic>
      <p:sp>
        <p:nvSpPr>
          <p:cNvPr id="5027" name="Rectangle 5026"/>
          <p:cNvSpPr/>
          <p:nvPr/>
        </p:nvSpPr>
        <p:spPr>
          <a:xfrm>
            <a:off x="11841480" y="4983480"/>
            <a:ext cx="5623560" cy="310896"/>
          </a:xfrm>
          <a:prstGeom prst="rect">
            <a:avLst/>
          </a:prstGeom>
          <a:solidFill>
            <a:srgbClr val="C0602A"/>
          </a:solidFill>
          <a:ln>
            <a:noFill/>
          </a:ln>
        </p:spPr>
        <p:txBody>
          <a:bodyPr wrap="square" lIns="109728" tIns="0" rIns="91440" bIns="0" rtlCol="0" anchor="ctr">
            <a:noAutofit/>
          </a:bodyPr>
          <a:lstStyle/>
          <a:p>
            <a:pPr algn="l" latinLnBrk="0">
              <a:lnSpc>
                <a:spcPct val="110000"/>
              </a:lnSpc>
              <a:spcBef>
                <a:spcPts val="0"/>
              </a:spcBef>
              <a:spcAft>
                <a:spcPts val="0"/>
              </a:spcAft>
              <a:buNone/>
            </a:pPr>
            <a:r>
              <a:rPr lang="ko-KR" altLang="en-US" sz="1250" b="1" dirty="0">
                <a:solidFill>
                  <a:srgbClr val="FFFFFF"/>
                </a:solidFill>
                <a:latin typeface="210 OmniGothic 040"/>
                <a:ea typeface="210 OmniGothic 040"/>
                <a:cs typeface="210 OmniGothic 040"/>
              </a:rPr>
              <a:t>발견 당시 — 1366×768에서 떠 있는 창 3개가 겹침</a:t>
            </a:r>
            <a:endParaRPr lang="ko-KR" altLang="en-US" sz="1250"/>
          </a:p>
        </p:txBody>
      </p:sp>
      <p:pic>
        <p:nvPicPr>
          <p:cNvPr id="5028" name="Picture 5027" descr="image.jpg"/>
          <p:cNvPicPr>
            <a:picLocks noChangeAspect="1"/>
          </p:cNvPicPr>
          <p:nvPr/>
        </p:nvPicPr>
        <p:blipFill>
          <a:blip r:embed="rId7"/>
          <a:stretch>
            <a:fillRect/>
          </a:stretch>
        </p:blipFill>
        <p:spPr>
          <a:xfrm>
            <a:off x="11841480" y="5294376"/>
            <a:ext cx="5623560" cy="3161709"/>
          </a:xfrm>
          <a:prstGeom prst="rect">
            <a:avLst/>
          </a:prstGeom>
          <a:ln w="9525">
            <a:solidFill>
              <a:srgbClr val="D5D8E0"/>
            </a:solidFill>
          </a:ln>
        </p:spPr>
      </p:pic>
    </p:spTree>
    <p:extLst>
      <p:ext uri="{BB962C8B-B14F-4D97-AF65-F5344CB8AC3E}">
        <p14:creationId xmlns:p14="http://schemas.microsoft.com/office/powerpoint/2010/main" val="787596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816197"/>
            <a:ext cx="16642080" cy="400110"/>
          </a:xfrm>
          <a:prstGeom prst="rect">
            <a:avLst/>
          </a:prstGeom>
          <a:noFill/>
        </p:spPr>
        <p:txBody>
          <a:bodyPr wrap="square" lIns="0" tIns="0" rIns="0" bIns="0" anchor="ctr">
            <a:spAutoFit/>
          </a:bodyPr>
          <a:lstStyle/>
          <a:p>
            <a:pPr algn="ctr"/>
            <a:r>
              <a:rPr sz="2600" b="1" dirty="0" err="1">
                <a:solidFill>
                  <a:srgbClr val="363A52"/>
                </a:solidFill>
                <a:latin typeface="210 OmniGothic 040"/>
                <a:ea typeface="210 OmniGothic 040"/>
                <a:cs typeface="210 OmniGothic 040"/>
              </a:rPr>
              <a:t>발견된</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문제와</a:t>
            </a:r>
            <a:r>
              <a:rPr sz="2600" b="1" dirty="0">
                <a:solidFill>
                  <a:srgbClr val="363A52"/>
                </a:solidFill>
                <a:latin typeface="210 OmniGothic 040"/>
                <a:ea typeface="210 OmniGothic 040"/>
                <a:cs typeface="210 OmniGothic 040"/>
              </a:rPr>
              <a:t> </a:t>
            </a:r>
            <a:r>
              <a:rPr sz="2600" b="1" dirty="0" err="1">
                <a:solidFill>
                  <a:srgbClr val="363A52"/>
                </a:solidFill>
                <a:latin typeface="210 OmniGothic 040"/>
                <a:ea typeface="210 OmniGothic 040"/>
                <a:cs typeface="210 OmniGothic 040"/>
              </a:rPr>
              <a:t>검증</a:t>
            </a:r>
            <a:r>
              <a:rPr sz="2600" b="1" dirty="0">
                <a:solidFill>
                  <a:srgbClr val="363A52"/>
                </a:solidFill>
                <a:latin typeface="210 OmniGothic 040"/>
                <a:ea typeface="210 OmniGothic 040"/>
                <a:cs typeface="210 OmniGothic 040"/>
              </a:rPr>
              <a:t> 후 </a:t>
            </a:r>
            <a:r>
              <a:rPr sz="2600" b="1" dirty="0" err="1">
                <a:solidFill>
                  <a:srgbClr val="363A52"/>
                </a:solidFill>
                <a:latin typeface="210 OmniGothic 040"/>
                <a:ea typeface="210 OmniGothic 040"/>
                <a:cs typeface="210 OmniGothic 040"/>
              </a:rPr>
              <a:t>개선</a:t>
            </a:r>
            <a:r>
              <a:rPr sz="2600" b="1" dirty="0">
                <a:solidFill>
                  <a:srgbClr val="363A52"/>
                </a:solidFill>
                <a:latin typeface="210 OmniGothic 040"/>
                <a:ea typeface="210 OmniGothic 040"/>
                <a:cs typeface="210 OmniGothic 040"/>
              </a:rPr>
              <a:t> 결</a:t>
            </a:r>
            <a:r>
              <a:rPr lang="ko-KR" altLang="en-US" sz="2600" b="1" dirty="0">
                <a:solidFill>
                  <a:srgbClr val="363A52"/>
                </a:solidFill>
                <a:latin typeface="210 OmniGothic 040"/>
                <a:ea typeface="210 OmniGothic 040"/>
                <a:cs typeface="210 OmniGothic 040"/>
              </a:rPr>
              <a:t>과</a:t>
            </a:r>
            <a:endParaRPr sz="2600" b="1" dirty="0">
              <a:solidFill>
                <a:srgbClr val="363A52"/>
              </a:solidFill>
              <a:latin typeface="210 OmniGothic 040"/>
              <a:ea typeface="210 OmniGothic 040"/>
              <a:cs typeface="210 OmniGothic 040"/>
            </a:endParaRP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49</a:t>
            </a:fld>
            <a:endParaRPr lang="en-US"/>
          </a:p>
        </p:txBody>
      </p:sp>
      <p:graphicFrame>
        <p:nvGraphicFramePr>
          <p:cNvPr id="5024" name="Table 5023"/>
          <p:cNvGraphicFramePr>
            <a:graphicFrameLocks noGrp="1"/>
          </p:cNvGraphicFramePr>
          <p:nvPr>
            <p:extLst>
              <p:ext uri="{D42A27DB-BD31-4B8C-83A1-F6EECF244321}">
                <p14:modId xmlns:p14="http://schemas.microsoft.com/office/powerpoint/2010/main" val="2928708925"/>
              </p:ext>
            </p:extLst>
          </p:nvPr>
        </p:nvGraphicFramePr>
        <p:xfrm>
          <a:off x="822960" y="2432304"/>
          <a:ext cx="16642080" cy="6144768"/>
        </p:xfrm>
        <a:graphic>
          <a:graphicData uri="http://schemas.openxmlformats.org/drawingml/2006/table">
            <a:tbl>
              <a:tblPr/>
              <a:tblGrid>
                <a:gridCol w="5943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gridCol w="475488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512064">
                <a:tc>
                  <a:txBody>
                    <a:bodyPr/>
                    <a:lstStyle/>
                    <a:p>
                      <a:pPr algn="ctr" latinLnBrk="0">
                        <a:lnSpc>
                          <a:spcPct val="105000"/>
                        </a:lnSpc>
                        <a:spcBef>
                          <a:spcPts val="0"/>
                        </a:spcBef>
                        <a:spcAft>
                          <a:spcPts val="0"/>
                        </a:spcAft>
                        <a:buNone/>
                      </a:pPr>
                      <a:r>
                        <a:rPr lang="ko-KR" altLang="en-US" sz="1250" b="1" dirty="0">
                          <a:solidFill>
                            <a:srgbClr val="FFFFFF"/>
                          </a:solidFill>
                          <a:latin typeface="210 OmniGothic 040"/>
                          <a:ea typeface="210 OmniGothic 040"/>
                          <a:cs typeface="210 OmniGothic 040"/>
                        </a:rPr>
                        <a:t>번호</a:t>
                      </a:r>
                      <a:endParaRPr lang="ko-KR" altLang="en-US" sz="12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50" b="1" dirty="0">
                          <a:solidFill>
                            <a:srgbClr val="FFFFFF"/>
                          </a:solidFill>
                          <a:latin typeface="210 OmniGothic 040"/>
                          <a:ea typeface="210 OmniGothic 040"/>
                        </a:rPr>
                        <a:t>초기</a:t>
                      </a:r>
                      <a:endParaRPr lang="ko-KR" altLang="en-US" sz="12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50" b="1" dirty="0">
                          <a:solidFill>
                            <a:srgbClr val="FFFFFF"/>
                          </a:solidFill>
                          <a:latin typeface="210 OmniGothic 040"/>
                          <a:ea typeface="210 OmniGothic 040"/>
                          <a:cs typeface="210 OmniGothic 040"/>
                        </a:rPr>
                        <a:t>내용</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50" b="1" dirty="0">
                          <a:solidFill>
                            <a:srgbClr val="FFFFFF"/>
                          </a:solidFill>
                          <a:latin typeface="210 OmniGothic 040"/>
                          <a:ea typeface="210 OmniGothic 040"/>
                          <a:cs typeface="210 OmniGothic 040"/>
                        </a:rPr>
                        <a:t>개선 방향</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50" b="1" dirty="0">
                          <a:solidFill>
                            <a:srgbClr val="FFFFFF"/>
                          </a:solidFill>
                          <a:latin typeface="210 OmniGothic 040"/>
                          <a:ea typeface="210 OmniGothic 040"/>
                          <a:cs typeface="210 OmniGothic 040"/>
                        </a:rPr>
                        <a:t>검증 후 개선 결과</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05000"/>
                        </a:lnSpc>
                        <a:spcBef>
                          <a:spcPts val="0"/>
                        </a:spcBef>
                        <a:spcAft>
                          <a:spcPts val="0"/>
                        </a:spcAft>
                        <a:buNone/>
                      </a:pPr>
                      <a:r>
                        <a:rPr lang="ko-KR" altLang="en-US" sz="1250" b="1" dirty="0">
                          <a:solidFill>
                            <a:srgbClr val="FFFFFF"/>
                          </a:solidFill>
                          <a:latin typeface="210 OmniGothic 040"/>
                          <a:ea typeface="210 OmniGothic 040"/>
                          <a:cs typeface="210 OmniGothic 040"/>
                        </a:rPr>
                        <a:t>상태</a:t>
                      </a:r>
                      <a:endParaRPr lang="ko-KR" altLang="en-US" sz="12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1</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D0342C"/>
                          </a:solidFill>
                          <a:latin typeface="210 OmniGothic 030"/>
                          <a:ea typeface="210 OmniGothic 030"/>
                          <a:cs typeface="210 OmniGothic 030"/>
                        </a:rPr>
                        <a:t>결함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BE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AI 정정에 변화를 두 개 이상 넣으면 첫 번째만 반영, 누락 안내 없음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확인 창에 모든 변화를 표시하고 못 읽은 부분 안내</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절 단위로 모두 해석·확인 카드에 전부 표시, 「추가」는 현재 값에 더함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1"/>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2</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D0342C"/>
                          </a:solidFill>
                          <a:latin typeface="210 OmniGothic 030"/>
                          <a:ea typeface="210 OmniGothic 030"/>
                          <a:cs typeface="210 OmniGothic 030"/>
                        </a:rPr>
                        <a:t>결함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BE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「이 항목 질문」이 항목과 무관한 답(대피 순서) 반환</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항목 맥락을 우선 매칭, 본 개발은 항목 제안·근거를 프롬프트에 포함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지정한 항목의 답을 먼저 고르고 S4 시간대 전략 답 추가</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2"/>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3</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D0342C"/>
                          </a:solidFill>
                          <a:latin typeface="210 OmniGothic 030"/>
                          <a:ea typeface="210 OmniGothic 030"/>
                          <a:cs typeface="210 OmniGothic 030"/>
                        </a:rPr>
                        <a:t>결함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BE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계정 회수·삭제·권한 변경이 확인 없이 즉시, 마지막 조작 계정도 삭제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확인 창 추가, 마지막 조작 권한 계정 삭제 차단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확인 창, 마지막 통합지휘권자 계정은 회수·삭제·권한 변경 차단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3"/>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4</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D0342C"/>
                          </a:solidFill>
                          <a:latin typeface="210 OmniGothic 030"/>
                          <a:ea typeface="210 OmniGothic 030"/>
                          <a:cs typeface="210 OmniGothic 030"/>
                        </a:rPr>
                        <a:t>결함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BE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역할 전환 시 보고자 입력 표식이 다른 계정 지도에 남음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로그아웃 때 입력 상태 초기화</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로그아웃하면 표식·그리던 화선·양식 상태 초기화</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4"/>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5</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범례 없음 · 지도 라벨 겹침 · 영문 병기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레이어 버튼에 색 견본, 한글 라벨만·겹침 우선순위</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색 견본(마우스를 올리면 의미 제시), 바탕지도 한글 이름만</a:t>
                      </a:r>
                      <a:endParaRPr lang="ko-KR" altLang="en-US" sz="11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5"/>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6</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「재예측 필요」가 표 맨 아래에만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「다시 예측」 버튼 옆에 강조 표시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버튼 옆에 「재예측 필요」와 화선 버전, 버튼 깜박임</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6"/>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7</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변경 비교에서 바뀐 구절이 강조되지 않음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추가·삭제 구절 색 표시</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빠진 말 빨간 취소선, 새로 생긴 말 초록 형광</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7"/>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8</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근거 창이 제안 목록을 덮음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근거 창을 지도 쪽에 나란히 열기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고정 창 옆(지도 위)에 열림</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8"/>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9</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1366×768에서 상단 줄바꿈·떠 있는 창 겹침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창 자동 배치·도킹, 상단 압축</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빈자리 자동 배치(필요하면 높이 축소), 상단 한 줄</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09"/>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10</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병합 산불의 겹침 근거·두 번째 산불 정보가 안 보임</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겹친 P5 구역 표시, 병합된 산불 정보 펼침</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P5 겹침 구역 보라색 표시, 산불현황에 병합된 산불 행</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10"/>
                  </a:ext>
                </a:extLst>
              </a:tr>
              <a:tr h="512064">
                <a:tc>
                  <a:txBody>
                    <a:bodyPr/>
                    <a:lstStyle/>
                    <a:p>
                      <a:pPr algn="ctr"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11</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B5601C"/>
                          </a:solidFill>
                          <a:latin typeface="210 OmniGothic 030"/>
                          <a:ea typeface="210 OmniGothic 030"/>
                          <a:cs typeface="210 OmniGothic 030"/>
                        </a:rPr>
                        <a:t>개선</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1DE"/>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제안 카드와 지도 대상이 연동되지 않음</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3142"/>
                          </a:solidFill>
                          <a:latin typeface="210 OmniGothic 030"/>
                          <a:ea typeface="210 OmniGothic 030"/>
                          <a:cs typeface="210 OmniGothic 030"/>
                        </a:rPr>
                        <a:t>카드를 펼치면 지도에 대상 강조</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05000"/>
                        </a:lnSpc>
                        <a:spcBef>
                          <a:spcPts val="0"/>
                        </a:spcBef>
                        <a:spcAft>
                          <a:spcPts val="0"/>
                        </a:spcAft>
                        <a:buNone/>
                      </a:pPr>
                      <a:r>
                        <a:rPr lang="ko-KR" altLang="en-US" sz="1150" b="0" dirty="0">
                          <a:solidFill>
                            <a:srgbClr val="2E7D4F"/>
                          </a:solidFill>
                          <a:latin typeface="210 OmniGothic 030"/>
                          <a:ea typeface="210 OmniGothic 030"/>
                          <a:cs typeface="210 OmniGothic 030"/>
                        </a:rPr>
                        <a:t>대상 마을·시설을 하늘색 고리로 표시하고 그 범위로 이동</a:t>
                      </a:r>
                      <a:endParaRPr lang="ko-KR" altLang="en-US" sz="115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05000"/>
                        </a:lnSpc>
                        <a:spcBef>
                          <a:spcPts val="0"/>
                        </a:spcBef>
                        <a:spcAft>
                          <a:spcPts val="0"/>
                        </a:spcAft>
                        <a:buNone/>
                      </a:pPr>
                      <a:r>
                        <a:rPr lang="ko-KR" altLang="en-US" sz="1150" b="1" dirty="0">
                          <a:solidFill>
                            <a:srgbClr val="2E7D4F"/>
                          </a:solidFill>
                          <a:latin typeface="210 OmniGothic 030"/>
                          <a:ea typeface="210 OmniGothic 030"/>
                          <a:cs typeface="210 OmniGothic 030"/>
                        </a:rPr>
                        <a:t>해결</a:t>
                      </a:r>
                      <a:endParaRPr lang="ko-KR" altLang="en-US" sz="1150" dirty="0"/>
                    </a:p>
                  </a:txBody>
                  <a:tcPr marL="64008" marR="64008" marT="18288" marB="18288"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E3F1E8"/>
                    </a:solidFill>
                  </a:tcPr>
                </a:tc>
                <a:extLst>
                  <a:ext uri="{0D108BD9-81ED-4DB2-BD59-A6C34878D82A}">
                    <a16:rowId xmlns:a16="http://schemas.microsoft.com/office/drawing/2014/main" val="10011"/>
                  </a:ext>
                </a:extLst>
              </a:tr>
            </a:tbl>
          </a:graphicData>
        </a:graphic>
      </p:graphicFrame>
      <p:sp>
        <p:nvSpPr>
          <p:cNvPr id="5025" name="TextBox 5024"/>
          <p:cNvSpPr txBox="1"/>
          <p:nvPr/>
        </p:nvSpPr>
        <p:spPr>
          <a:xfrm>
            <a:off x="822960" y="8686800"/>
            <a:ext cx="1664208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200" b="1" dirty="0">
                <a:solidFill>
                  <a:srgbClr val="363A52"/>
                </a:solidFill>
                <a:latin typeface="210 OmniGothic 040"/>
                <a:ea typeface="210 OmniGothic 040"/>
                <a:cs typeface="210 OmniGothic 040"/>
              </a:rPr>
              <a:t>검증 후  </a:t>
            </a:r>
            <a:r>
              <a:rPr lang="ko-KR" altLang="en-US" sz="1200" b="0" dirty="0">
                <a:solidFill>
                  <a:srgbClr val="6B7080"/>
                </a:solidFill>
                <a:latin typeface="210 OmniGothic 030"/>
                <a:ea typeface="210 OmniGothic 030"/>
                <a:cs typeface="210 OmniGothic 030"/>
              </a:rPr>
              <a:t>2026-10-13에 결함 4건·개선 7건을 모두 반영하고 같은 시나리오로 다시 확인했다. 새로고침 시 초기화는 서버가 없는 프로토타입의 한계로 본 개발(DB 저장)에서 해결한다.</a:t>
            </a:r>
            <a:endParaRPr lang="ko-KR" altLang="en-US" sz="1200"/>
          </a:p>
        </p:txBody>
      </p:sp>
    </p:spTree>
    <p:extLst>
      <p:ext uri="{BB962C8B-B14F-4D97-AF65-F5344CB8AC3E}">
        <p14:creationId xmlns:p14="http://schemas.microsoft.com/office/powerpoint/2010/main" val="24603987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프로토타입으로 구체화된 요구사항</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50</a:t>
            </a:fld>
            <a:endParaRPr lang="en-US"/>
          </a:p>
        </p:txBody>
      </p:sp>
      <p:graphicFrame>
        <p:nvGraphicFramePr>
          <p:cNvPr id="5024" name="Table 5023"/>
          <p:cNvGraphicFramePr>
            <a:graphicFrameLocks noGrp="1"/>
          </p:cNvGraphicFramePr>
          <p:nvPr>
            <p:extLst>
              <p:ext uri="{D42A27DB-BD31-4B8C-83A1-F6EECF244321}">
                <p14:modId xmlns:p14="http://schemas.microsoft.com/office/powerpoint/2010/main" val="2048755834"/>
              </p:ext>
            </p:extLst>
          </p:nvPr>
        </p:nvGraphicFramePr>
        <p:xfrm>
          <a:off x="822960" y="2432304"/>
          <a:ext cx="16642080" cy="5888736"/>
        </p:xfrm>
        <a:graphic>
          <a:graphicData uri="http://schemas.openxmlformats.org/drawingml/2006/table">
            <a:tbl>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9692640">
                  <a:extLst>
                    <a:ext uri="{9D8B030D-6E8A-4147-A177-3AD203B41FA5}">
                      <a16:colId xmlns:a16="http://schemas.microsoft.com/office/drawing/2014/main" val="20002"/>
                    </a:ext>
                  </a:extLst>
                </a:gridCol>
              </a:tblGrid>
              <a:tr h="457200">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요구사항</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요구사항분석서</a:t>
                      </a:r>
                      <a:endParaRPr lang="ko-KR" altLang="en-US" sz="14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프로토타입 검토 후</a:t>
                      </a:r>
                      <a:endParaRPr lang="ko-KR" altLang="en-US" sz="140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F-02 화선 버전</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실측 화선 v1, v2 …</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처음 받은 보고가 v1(보고에 화선이 없으면 발화점 자체), 이후 v2, v3 …, 정정 시 이전 버전 「정정됨」</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1"/>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F-11 제안서 버전</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버전 n</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v(화선 버전).(대응 생성 순번) — v1.1 → 정정 v1.2 → 새 화선 재예측 v2.1</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2"/>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F-10 위험도 표시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R(1.00~5.00)과 요인 점수, 위험도 탭</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지도 오른쪽 위 숫자 네모(구간 색 4단계), 예측 전·종료 시 숨김, 요소별 지표 팝업, 「R」 표기 삭제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3"/>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F-08 진화자원 필터</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「가용만 보기」</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대기·투입·정비 체크박스, 합계는 체크한 상태만</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4"/>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F-05·06 지도 레이어</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인구·시설·도로·기관</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읍면 경계·진화대 삭제, 유관기관은 시설 묶음, 의성군 테두리 상시 표시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5"/>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병합 산불</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「병합 계산」 표시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먼저 신고된 산불 하나로 목록 1건, 화선·예측 함께, 위험도 1개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6"/>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화면 구조</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탭·빨간 메뉴 여러 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왼쪽 1/4 고정 창(산불현황·대응제안), 이벤트 로그는 상단 버튼, 산불 목록은 왼쪽 날개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7"/>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실패 처리</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명시 없음</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시스템 알림 + 칸별 경고, 이전 결과 유지, 기상은 마지막 값 흐리게</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8"/>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신고자 정보(F-02·F-04)</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신고 내용만</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신고 기관명·신고자 성명·연락처 입력·표시 — 「산불진화기관의 임무와 역할에 관한 규정」 제6조제1항제1호</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09"/>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F-10 위험도 열람 권한</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통합지휘권자</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통합지휘권자·열람자(예측 실행·재예측은 통합지휘권자만)</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10"/>
                  </a:ext>
                </a:extLst>
              </a:tr>
              <a:tr h="493776">
                <a:tc>
                  <a:txBody>
                    <a:bodyPr/>
                    <a:lstStyle/>
                    <a:p>
                      <a:pPr algn="l" latinLnBrk="0">
                        <a:lnSpc>
                          <a:spcPct val="110000"/>
                        </a:lnSpc>
                        <a:spcBef>
                          <a:spcPts val="0"/>
                        </a:spcBef>
                        <a:spcAft>
                          <a:spcPts val="0"/>
                        </a:spcAft>
                        <a:buNone/>
                      </a:pPr>
                      <a:r>
                        <a:rPr lang="ko-KR" altLang="en-US" sz="1250" b="1" dirty="0">
                          <a:solidFill>
                            <a:srgbClr val="2E3142"/>
                          </a:solidFill>
                          <a:latin typeface="210 OmniGothic 030"/>
                          <a:ea typeface="210 OmniGothic 030"/>
                          <a:cs typeface="210 OmniGothic 030"/>
                        </a:rPr>
                        <a:t>비활성 기능 안내</a:t>
                      </a:r>
                      <a:endParaRPr lang="ko-KR" altLang="en-US" sz="12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4F5F8"/>
                    </a:solidFill>
                  </a:tcPr>
                </a:tc>
                <a:tc>
                  <a:txBody>
                    <a:bodyPr/>
                    <a:lstStyle/>
                    <a:p>
                      <a:pPr algn="l" latinLnBrk="0">
                        <a:lnSpc>
                          <a:spcPct val="110000"/>
                        </a:lnSpc>
                        <a:spcBef>
                          <a:spcPts val="0"/>
                        </a:spcBef>
                        <a:spcAft>
                          <a:spcPts val="0"/>
                        </a:spcAft>
                        <a:buNone/>
                      </a:pPr>
                      <a:r>
                        <a:rPr lang="ko-KR" altLang="en-US" sz="1250" b="0" dirty="0">
                          <a:solidFill>
                            <a:srgbClr val="6B7080"/>
                          </a:solidFill>
                          <a:latin typeface="210 OmniGothic 030"/>
                          <a:ea typeface="210 OmniGothic 030"/>
                          <a:cs typeface="210 OmniGothic 030"/>
                        </a:rPr>
                        <a:t>명시 없음</a:t>
                      </a:r>
                      <a:endParaRPr lang="ko-KR" altLang="en-US" sz="125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250" b="0" dirty="0">
                          <a:solidFill>
                            <a:srgbClr val="2E3142"/>
                          </a:solidFill>
                          <a:latin typeface="210 OmniGothic 030"/>
                          <a:ea typeface="210 OmniGothic 030"/>
                          <a:cs typeface="210 OmniGothic 030"/>
                        </a:rPr>
                        <a:t>비활성 버튼 옆에 이유를 작은 글씨로(예: 종료된 산불은 예측할 수 없습니다)</a:t>
                      </a:r>
                      <a:endParaRPr lang="ko-KR" altLang="en-US" sz="1250" dirty="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6EE"/>
                    </a:solidFill>
                  </a:tcPr>
                </a:tc>
                <a:extLst>
                  <a:ext uri="{0D108BD9-81ED-4DB2-BD59-A6C34878D82A}">
                    <a16:rowId xmlns:a16="http://schemas.microsoft.com/office/drawing/2014/main" val="10011"/>
                  </a:ext>
                </a:extLst>
              </a:tr>
            </a:tbl>
          </a:graphicData>
        </a:graphic>
      </p:graphicFrame>
      <p:sp>
        <p:nvSpPr>
          <p:cNvPr id="5025" name="Rounded Rectangle 5024"/>
          <p:cNvSpPr/>
          <p:nvPr/>
        </p:nvSpPr>
        <p:spPr>
          <a:xfrm>
            <a:off x="822960" y="8503920"/>
            <a:ext cx="16642080" cy="548640"/>
          </a:xfrm>
          <a:prstGeom prst="roundRect">
            <a:avLst>
              <a:gd name="adj" fmla="val 20000"/>
            </a:avLst>
          </a:prstGeom>
          <a:solidFill>
            <a:srgbClr val="363A52"/>
          </a:solidFill>
          <a:ln>
            <a:noFill/>
          </a:ln>
        </p:spPr>
        <p:txBody>
          <a:bodyPr wrap="square" lIns="0" tIns="0" rIns="0" bIns="0" rtlCol="0" anchor="ctr">
            <a:noAutofit/>
          </a:bodyPr>
          <a:lstStyle/>
          <a:p>
            <a:pPr algn="ctr"/>
            <a:endParaRPr/>
          </a:p>
        </p:txBody>
      </p:sp>
      <p:sp>
        <p:nvSpPr>
          <p:cNvPr id="5026" name="TextBox 5025"/>
          <p:cNvSpPr txBox="1"/>
          <p:nvPr/>
        </p:nvSpPr>
        <p:spPr>
          <a:xfrm>
            <a:off x="1143000" y="8503920"/>
            <a:ext cx="16093440" cy="548640"/>
          </a:xfrm>
          <a:prstGeom prst="rect">
            <a:avLst/>
          </a:prstGeom>
          <a:noFill/>
        </p:spPr>
        <p:txBody>
          <a:bodyPr wrap="square" lIns="0" tIns="0" rIns="0" bIns="0" rtlCol="0" anchor="ctr">
            <a:noAutofit/>
          </a:bodyPr>
          <a:lstStyle/>
          <a:p>
            <a:pPr algn="l" latinLnBrk="0">
              <a:lnSpc>
                <a:spcPct val="125000"/>
              </a:lnSpc>
              <a:spcBef>
                <a:spcPts val="0"/>
              </a:spcBef>
              <a:spcAft>
                <a:spcPts val="0"/>
              </a:spcAft>
              <a:buNone/>
            </a:pPr>
            <a:r>
              <a:rPr lang="ko-KR" altLang="en-US" sz="1350" b="1" dirty="0">
                <a:solidFill>
                  <a:srgbClr val="FAA95A"/>
                </a:solidFill>
                <a:latin typeface="210 OmniGothic 040"/>
                <a:ea typeface="210 OmniGothic 040"/>
                <a:cs typeface="210 OmniGothic 040"/>
              </a:rPr>
              <a:t>프로토타입의 목적 — </a:t>
            </a:r>
            <a:r>
              <a:rPr lang="ko-KR" altLang="en-US" sz="1350" b="0" dirty="0">
                <a:solidFill>
                  <a:srgbClr val="FFFFFF"/>
                </a:solidFill>
                <a:latin typeface="210 OmniGothic 030"/>
                <a:ea typeface="210 OmniGothic 030"/>
                <a:cs typeface="210 OmniGothic 030"/>
              </a:rPr>
              <a:t>문서만으로는 정하지 못한 「언제·어디에·어떤 형식으로 보이는가」를 화면에서 합의했다.</a:t>
            </a:r>
            <a:endParaRPr lang="ko-KR" altLang="en-US" sz="1350" dirty="0"/>
          </a:p>
        </p:txBody>
      </p:sp>
    </p:spTree>
    <p:extLst>
      <p:ext uri="{BB962C8B-B14F-4D97-AF65-F5344CB8AC3E}">
        <p14:creationId xmlns:p14="http://schemas.microsoft.com/office/powerpoint/2010/main" val="687732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 y="-12700"/>
            <a:ext cx="18313400" cy="1638300"/>
          </a:xfrm>
          <a:prstGeom prst="rect">
            <a:avLst/>
          </a:prstGeom>
        </p:spPr>
      </p:pic>
      <p:pic>
        <p:nvPicPr>
          <p:cNvPr id="5019"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28" y="1618343"/>
            <a:ext cx="18313400" cy="8699500"/>
          </a:xfrm>
          <a:prstGeom prst="rect">
            <a:avLst/>
          </a:prstGeom>
        </p:spPr>
      </p:pic>
      <p:pic>
        <p:nvPicPr>
          <p:cNvPr id="5020"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8800" y="9271000"/>
            <a:ext cx="17170400" cy="50800"/>
          </a:xfrm>
          <a:prstGeom prst="rect">
            <a:avLst/>
          </a:prstGeom>
        </p:spPr>
      </p:pic>
      <p:pic>
        <p:nvPicPr>
          <p:cNvPr id="5021"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78100" y="203200"/>
            <a:ext cx="1676400" cy="1409700"/>
          </a:xfrm>
          <a:prstGeom prst="rect">
            <a:avLst/>
          </a:prstGeom>
        </p:spPr>
      </p:pic>
      <p:sp>
        <p:nvSpPr>
          <p:cNvPr id="5022" name="Title"/>
          <p:cNvSpPr txBox="1"/>
          <p:nvPr/>
        </p:nvSpPr>
        <p:spPr>
          <a:xfrm>
            <a:off x="822960" y="384048"/>
            <a:ext cx="13258800" cy="877824"/>
          </a:xfrm>
          <a:prstGeom prst="rect">
            <a:avLst/>
          </a:prstGeom>
          <a:noFill/>
        </p:spPr>
        <p:txBody>
          <a:bodyPr wrap="square" lIns="0" tIns="0" rIns="0" bIns="0" anchor="ctr">
            <a:spAutoFit/>
          </a:bodyPr>
          <a:lstStyle/>
          <a:p>
            <a:pPr algn="l"/>
            <a:r>
              <a:rPr sz="4400" b="0">
                <a:solidFill>
                  <a:srgbClr val="FAA95A"/>
                </a:solidFill>
                <a:latin typeface="210 OmniGothic 050"/>
                <a:ea typeface="210 OmniGothic 050"/>
                <a:cs typeface="210 OmniGothic 050"/>
              </a:rPr>
              <a:t>06. 프로토타입 검증</a:t>
            </a:r>
          </a:p>
        </p:txBody>
      </p:sp>
      <p:sp>
        <p:nvSpPr>
          <p:cNvPr id="5023" name="Subtitle"/>
          <p:cNvSpPr txBox="1"/>
          <p:nvPr/>
        </p:nvSpPr>
        <p:spPr>
          <a:xfrm>
            <a:off x="822960" y="1764792"/>
            <a:ext cx="16642080" cy="502920"/>
          </a:xfrm>
          <a:prstGeom prst="rect">
            <a:avLst/>
          </a:prstGeom>
          <a:noFill/>
        </p:spPr>
        <p:txBody>
          <a:bodyPr wrap="square" lIns="0" tIns="0" rIns="0" bIns="0" anchor="ctr">
            <a:spAutoFit/>
          </a:bodyPr>
          <a:lstStyle/>
          <a:p>
            <a:pPr algn="ctr"/>
            <a:r>
              <a:rPr sz="2600" b="1">
                <a:solidFill>
                  <a:srgbClr val="363A52"/>
                </a:solidFill>
                <a:latin typeface="210 OmniGothic 040"/>
                <a:ea typeface="210 OmniGothic 040"/>
                <a:cs typeface="210 OmniGothic 040"/>
              </a:rPr>
              <a:t>MVP 범위와 개발 전환 계획</a:t>
            </a:r>
          </a:p>
        </p:txBody>
      </p:sp>
      <p:sp>
        <p:nvSpPr>
          <p:cNvPr id="2" name="슬라이드 번호 개체 틀 7">
            <a:extLst>
              <a:ext uri="{FF2B5EF4-FFF2-40B4-BE49-F238E27FC236}">
                <a16:creationId xmlns:a16="http://schemas.microsoft.com/office/drawing/2014/main" id="{E09251C7-0B50-AD17-B931-81798F0C3E36}"/>
              </a:ext>
            </a:extLst>
          </p:cNvPr>
          <p:cNvSpPr>
            <a:spLocks noGrp="1"/>
          </p:cNvSpPr>
          <p:nvPr>
            <p:ph type="sldNum" sz="quarter" idx="12"/>
          </p:nvPr>
        </p:nvSpPr>
        <p:spPr/>
        <p:txBody>
          <a:bodyPr/>
          <a:lstStyle/>
          <a:p>
            <a:fld id="{B6F15528-21DE-4FAA-801E-634DDDAF4B2B}" type="slidenum">
              <a:rPr lang="en-US" smtClean="0"/>
              <a:pPr/>
              <a:t>51</a:t>
            </a:fld>
            <a:endParaRPr lang="en-US"/>
          </a:p>
        </p:txBody>
      </p:sp>
      <p:sp>
        <p:nvSpPr>
          <p:cNvPr id="5024" name="Rounded Rectangle 5023"/>
          <p:cNvSpPr/>
          <p:nvPr/>
        </p:nvSpPr>
        <p:spPr>
          <a:xfrm>
            <a:off x="822960" y="2432304"/>
            <a:ext cx="6400800" cy="6629400"/>
          </a:xfrm>
          <a:prstGeom prst="roundRect">
            <a:avLst>
              <a:gd name="adj" fmla="val 1714"/>
            </a:avLst>
          </a:prstGeom>
          <a:solidFill>
            <a:srgbClr val="F2F2F2"/>
          </a:solidFill>
          <a:ln>
            <a:noFill/>
          </a:ln>
        </p:spPr>
        <p:txBody>
          <a:bodyPr wrap="square" lIns="0" tIns="0" rIns="0" bIns="0" rtlCol="0" anchor="ctr">
            <a:noAutofit/>
          </a:bodyPr>
          <a:lstStyle/>
          <a:p>
            <a:pPr algn="ctr"/>
            <a:endParaRPr/>
          </a:p>
        </p:txBody>
      </p:sp>
      <p:sp>
        <p:nvSpPr>
          <p:cNvPr id="5025" name="TextBox 5024"/>
          <p:cNvSpPr txBox="1"/>
          <p:nvPr/>
        </p:nvSpPr>
        <p:spPr>
          <a:xfrm>
            <a:off x="1097280" y="2578608"/>
            <a:ext cx="5852160" cy="36576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650" b="1" dirty="0">
                <a:solidFill>
                  <a:srgbClr val="363A52"/>
                </a:solidFill>
                <a:latin typeface="210 OmniGothic 040"/>
                <a:ea typeface="210 OmniGothic 040"/>
                <a:cs typeface="210 OmniGothic 040"/>
              </a:rPr>
              <a:t>MVP — 12주차까지 개발 완료</a:t>
            </a:r>
            <a:endParaRPr lang="ko-KR" altLang="en-US" sz="1650" dirty="0"/>
          </a:p>
        </p:txBody>
      </p:sp>
      <p:sp>
        <p:nvSpPr>
          <p:cNvPr id="5026" name="Oval 5025"/>
          <p:cNvSpPr/>
          <p:nvPr/>
        </p:nvSpPr>
        <p:spPr>
          <a:xfrm>
            <a:off x="1097280" y="30632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1</a:t>
            </a:r>
            <a:endParaRPr lang="ko-KR" altLang="en-US" sz="1216"/>
          </a:p>
        </p:txBody>
      </p:sp>
      <p:sp>
        <p:nvSpPr>
          <p:cNvPr id="5027" name="TextBox 5026"/>
          <p:cNvSpPr txBox="1"/>
          <p:nvPr/>
        </p:nvSpPr>
        <p:spPr>
          <a:xfrm>
            <a:off x="1508760" y="30540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상황 보고(발화 정보·신고자·실측 화선)</a:t>
            </a:r>
            <a:endParaRPr lang="ko-KR" altLang="en-US" sz="1350"/>
          </a:p>
        </p:txBody>
      </p:sp>
      <p:sp>
        <p:nvSpPr>
          <p:cNvPr id="5028" name="Oval 5027"/>
          <p:cNvSpPr/>
          <p:nvPr/>
        </p:nvSpPr>
        <p:spPr>
          <a:xfrm>
            <a:off x="1097280" y="35204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2</a:t>
            </a:r>
            <a:endParaRPr lang="ko-KR" altLang="en-US" sz="1216"/>
          </a:p>
        </p:txBody>
      </p:sp>
      <p:sp>
        <p:nvSpPr>
          <p:cNvPr id="5029" name="TextBox 5028"/>
          <p:cNvSpPr txBox="1"/>
          <p:nvPr/>
        </p:nvSpPr>
        <p:spPr>
          <a:xfrm>
            <a:off x="1508760" y="35112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확산 예측(ELMFIRE) · P1~P8</a:t>
            </a:r>
            <a:endParaRPr lang="ko-KR" altLang="en-US" sz="1350"/>
          </a:p>
        </p:txBody>
      </p:sp>
      <p:sp>
        <p:nvSpPr>
          <p:cNvPr id="5030" name="Oval 5029"/>
          <p:cNvSpPr/>
          <p:nvPr/>
        </p:nvSpPr>
        <p:spPr>
          <a:xfrm>
            <a:off x="1097280" y="39776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3</a:t>
            </a:r>
            <a:endParaRPr lang="ko-KR" altLang="en-US" sz="1216"/>
          </a:p>
        </p:txBody>
      </p:sp>
      <p:sp>
        <p:nvSpPr>
          <p:cNvPr id="5031" name="TextBox 5030"/>
          <p:cNvSpPr txBox="1"/>
          <p:nvPr/>
        </p:nvSpPr>
        <p:spPr>
          <a:xfrm>
            <a:off x="1508760" y="39684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위험도(P5 · 23개 변수)</a:t>
            </a:r>
            <a:endParaRPr lang="ko-KR" altLang="en-US" sz="1350"/>
          </a:p>
        </p:txBody>
      </p:sp>
      <p:sp>
        <p:nvSpPr>
          <p:cNvPr id="5032" name="Oval 5031"/>
          <p:cNvSpPr/>
          <p:nvPr/>
        </p:nvSpPr>
        <p:spPr>
          <a:xfrm>
            <a:off x="1097280" y="44348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4</a:t>
            </a:r>
            <a:endParaRPr lang="ko-KR" altLang="en-US" sz="1216"/>
          </a:p>
        </p:txBody>
      </p:sp>
      <p:sp>
        <p:nvSpPr>
          <p:cNvPr id="5033" name="TextBox 5032"/>
          <p:cNvSpPr txBox="1"/>
          <p:nvPr/>
        </p:nvSpPr>
        <p:spPr>
          <a:xfrm>
            <a:off x="1508760" y="44256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규칙 판정 → 근거 검색 → 제안서</a:t>
            </a:r>
            <a:endParaRPr lang="ko-KR" altLang="en-US" sz="1350"/>
          </a:p>
        </p:txBody>
      </p:sp>
      <p:sp>
        <p:nvSpPr>
          <p:cNvPr id="5034" name="Oval 5033"/>
          <p:cNvSpPr/>
          <p:nvPr/>
        </p:nvSpPr>
        <p:spPr>
          <a:xfrm>
            <a:off x="1097280" y="48920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5</a:t>
            </a:r>
            <a:endParaRPr lang="ko-KR" altLang="en-US" sz="1216"/>
          </a:p>
        </p:txBody>
      </p:sp>
      <p:sp>
        <p:nvSpPr>
          <p:cNvPr id="5035" name="TextBox 5034"/>
          <p:cNvSpPr txBox="1"/>
          <p:nvPr/>
        </p:nvSpPr>
        <p:spPr>
          <a:xfrm>
            <a:off x="1508760" y="48828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근거 조회 · AI 질의응답 · 상황 정정</a:t>
            </a:r>
            <a:endParaRPr lang="ko-KR" altLang="en-US" sz="1350"/>
          </a:p>
        </p:txBody>
      </p:sp>
      <p:sp>
        <p:nvSpPr>
          <p:cNvPr id="5036" name="Oval 5035"/>
          <p:cNvSpPr/>
          <p:nvPr/>
        </p:nvSpPr>
        <p:spPr>
          <a:xfrm>
            <a:off x="1097280" y="53492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6</a:t>
            </a:r>
            <a:endParaRPr lang="ko-KR" altLang="en-US" sz="1216"/>
          </a:p>
        </p:txBody>
      </p:sp>
      <p:sp>
        <p:nvSpPr>
          <p:cNvPr id="5037" name="TextBox 5036"/>
          <p:cNvSpPr txBox="1"/>
          <p:nvPr/>
        </p:nvSpPr>
        <p:spPr>
          <a:xfrm>
            <a:off x="1508760" y="53400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제안서 버전 이력 · 이벤트 로그 · 종료</a:t>
            </a:r>
            <a:endParaRPr lang="ko-KR" altLang="en-US" sz="1350"/>
          </a:p>
        </p:txBody>
      </p:sp>
      <p:sp>
        <p:nvSpPr>
          <p:cNvPr id="5038" name="Oval 5037"/>
          <p:cNvSpPr/>
          <p:nvPr/>
        </p:nvSpPr>
        <p:spPr>
          <a:xfrm>
            <a:off x="1097280" y="5806440"/>
            <a:ext cx="292608" cy="292608"/>
          </a:xfrm>
          <a:prstGeom prst="ellipse">
            <a:avLst/>
          </a:prstGeom>
          <a:solidFill>
            <a:srgbClr val="363A52"/>
          </a:solidFill>
          <a:ln w="15875">
            <a:solidFill>
              <a:srgbClr val="FFFFFF"/>
            </a:solidFill>
          </a:ln>
        </p:spPr>
        <p:txBody>
          <a:bodyPr wrap="square" lIns="0" tIns="0" rIns="0" bIns="0" rtlCol="0" anchor="ctr">
            <a:noAutofit/>
          </a:bodyPr>
          <a:lstStyle/>
          <a:p>
            <a:pPr algn="ctr" latinLnBrk="0">
              <a:lnSpc>
                <a:spcPct val="110000"/>
              </a:lnSpc>
              <a:spcBef>
                <a:spcPts val="0"/>
              </a:spcBef>
              <a:spcAft>
                <a:spcPts val="0"/>
              </a:spcAft>
              <a:buNone/>
            </a:pPr>
            <a:r>
              <a:rPr lang="ko-KR" altLang="en-US" sz="1216" b="1" dirty="0">
                <a:solidFill>
                  <a:srgbClr val="FFFFFF"/>
                </a:solidFill>
                <a:latin typeface="210 OmniGothic 040"/>
                <a:ea typeface="210 OmniGothic 040"/>
                <a:cs typeface="210 OmniGothic 040"/>
              </a:rPr>
              <a:t>7</a:t>
            </a:r>
            <a:endParaRPr lang="ko-KR" altLang="en-US" sz="1216"/>
          </a:p>
        </p:txBody>
      </p:sp>
      <p:sp>
        <p:nvSpPr>
          <p:cNvPr id="5039" name="TextBox 5038"/>
          <p:cNvSpPr txBox="1"/>
          <p:nvPr/>
        </p:nvSpPr>
        <p:spPr>
          <a:xfrm>
            <a:off x="1508760" y="5797296"/>
            <a:ext cx="5486400" cy="329184"/>
          </a:xfrm>
          <a:prstGeom prst="rect">
            <a:avLst/>
          </a:prstGeom>
          <a:noFill/>
        </p:spPr>
        <p:txBody>
          <a:bodyPr wrap="square" lIns="0" tIns="0" rIns="0" bIns="0" rtlCol="0" anchor="ctr">
            <a:noAutofit/>
          </a:bodyPr>
          <a:lstStyle/>
          <a:p>
            <a:pPr algn="l" latinLnBrk="0">
              <a:lnSpc>
                <a:spcPct val="120000"/>
              </a:lnSpc>
              <a:spcBef>
                <a:spcPts val="0"/>
              </a:spcBef>
              <a:spcAft>
                <a:spcPts val="0"/>
              </a:spcAft>
              <a:buNone/>
            </a:pPr>
            <a:r>
              <a:rPr lang="ko-KR" altLang="en-US" sz="1350" b="0" dirty="0">
                <a:solidFill>
                  <a:srgbClr val="2E3142"/>
                </a:solidFill>
                <a:latin typeface="210 OmniGothic 030"/>
                <a:ea typeface="210 OmniGothic 030"/>
                <a:cs typeface="210 OmniGothic 030"/>
              </a:rPr>
              <a:t>계정·권한 · 진화자원 데이터 관리</a:t>
            </a:r>
            <a:endParaRPr lang="ko-KR" altLang="en-US" sz="1350"/>
          </a:p>
        </p:txBody>
      </p:sp>
      <p:cxnSp>
        <p:nvCxnSpPr>
          <p:cNvPr id="5040" name="Connector 5039"/>
          <p:cNvCxnSpPr/>
          <p:nvPr/>
        </p:nvCxnSpPr>
        <p:spPr>
          <a:xfrm>
            <a:off x="1097280" y="6309360"/>
            <a:ext cx="5852160" cy="0"/>
          </a:xfrm>
          <a:prstGeom prst="line">
            <a:avLst/>
          </a:prstGeom>
          <a:ln w="12700">
            <a:solidFill>
              <a:srgbClr val="D5D8E0"/>
            </a:solidFill>
          </a:ln>
        </p:spPr>
      </p:cxnSp>
      <p:sp>
        <p:nvSpPr>
          <p:cNvPr id="5041" name="TextBox 5040"/>
          <p:cNvSpPr txBox="1"/>
          <p:nvPr/>
        </p:nvSpPr>
        <p:spPr>
          <a:xfrm>
            <a:off x="1097280" y="6400800"/>
            <a:ext cx="5852160" cy="320040"/>
          </a:xfrm>
          <a:prstGeom prst="rect">
            <a:avLst/>
          </a:prstGeom>
          <a:noFill/>
        </p:spPr>
        <p:txBody>
          <a:bodyPr wrap="square" lIns="0" tIns="0" rIns="0" bIns="0" rtlCol="0" anchor="t">
            <a:noAutofit/>
          </a:bodyPr>
          <a:lstStyle/>
          <a:p>
            <a:pPr algn="l" latinLnBrk="0">
              <a:lnSpc>
                <a:spcPct val="120000"/>
              </a:lnSpc>
              <a:spcBef>
                <a:spcPts val="0"/>
              </a:spcBef>
              <a:spcAft>
                <a:spcPts val="0"/>
              </a:spcAft>
              <a:buNone/>
            </a:pPr>
            <a:r>
              <a:rPr lang="ko-KR" altLang="en-US" sz="1400" b="1" dirty="0">
                <a:solidFill>
                  <a:srgbClr val="B5601C"/>
                </a:solidFill>
                <a:latin typeface="210 OmniGothic 040"/>
                <a:ea typeface="210 OmniGothic 040"/>
                <a:cs typeface="210 OmniGothic 040"/>
              </a:rPr>
              <a:t>이후 확장</a:t>
            </a:r>
            <a:endParaRPr lang="ko-KR" altLang="en-US" sz="1400"/>
          </a:p>
        </p:txBody>
      </p:sp>
      <p:sp>
        <p:nvSpPr>
          <p:cNvPr id="5042" name="TextBox 5041"/>
          <p:cNvSpPr txBox="1"/>
          <p:nvPr/>
        </p:nvSpPr>
        <p:spPr>
          <a:xfrm>
            <a:off x="1097280" y="6766560"/>
            <a:ext cx="5852160" cy="1188720"/>
          </a:xfrm>
          <a:prstGeom prst="rect">
            <a:avLst/>
          </a:prstGeom>
          <a:noFill/>
        </p:spPr>
        <p:txBody>
          <a:bodyPr wrap="square" lIns="0" tIns="0" rIns="0" bIns="0" rtlCol="0" anchor="t">
            <a:noAutofit/>
          </a:bodyPr>
          <a:lstStyle/>
          <a:p>
            <a:pPr marL="201168" indent="-201168" algn="l" latinLnBrk="0">
              <a:lnSpc>
                <a:spcPct val="125000"/>
              </a:lnSpc>
              <a:spcBef>
                <a:spcPts val="0"/>
              </a:spcBef>
              <a:spcAft>
                <a:spcPts val="0"/>
              </a:spcAft>
              <a:buClr>
                <a:srgbClr val="FAA95A"/>
              </a:buClr>
              <a:buFont typeface="Arial"/>
              <a:buChar char="•"/>
            </a:pPr>
            <a:r>
              <a:rPr lang="ko-KR" altLang="en-US" sz="1250" b="0" dirty="0">
                <a:solidFill>
                  <a:srgbClr val="2E3142"/>
                </a:solidFill>
                <a:latin typeface="210 OmniGothic 030"/>
                <a:ea typeface="210 OmniGothic 030"/>
                <a:cs typeface="210 OmniGothic 030"/>
              </a:rPr>
              <a:t>경상북도 다른 시·군 데이터로 확장</a:t>
            </a:r>
            <a:endParaRPr lang="ko-KR" altLang="en-US" sz="1250"/>
          </a:p>
          <a:p>
            <a:pPr marL="201168" indent="-201168" algn="l" latinLnBrk="0">
              <a:lnSpc>
                <a:spcPct val="125000"/>
              </a:lnSpc>
              <a:spcBef>
                <a:spcPts val="0"/>
              </a:spcBef>
              <a:spcAft>
                <a:spcPts val="0"/>
              </a:spcAft>
              <a:buClr>
                <a:srgbClr val="FAA95A"/>
              </a:buClr>
              <a:buFont typeface="Arial"/>
              <a:buChar char="•"/>
            </a:pPr>
            <a:r>
              <a:rPr lang="ko-KR" altLang="en-US" sz="1250" b="0" dirty="0">
                <a:solidFill>
                  <a:srgbClr val="2E3142"/>
                </a:solidFill>
                <a:latin typeface="210 OmniGothic 030"/>
                <a:ea typeface="210 OmniGothic 030"/>
                <a:cs typeface="210 OmniGothic 030"/>
              </a:rPr>
              <a:t>현업(산림청·지자체) 의견 반영 화면 개선</a:t>
            </a:r>
            <a:endParaRPr lang="ko-KR" altLang="en-US" sz="1250"/>
          </a:p>
          <a:p>
            <a:pPr marL="201168" indent="-201168" algn="l" latinLnBrk="0">
              <a:lnSpc>
                <a:spcPct val="125000"/>
              </a:lnSpc>
              <a:spcBef>
                <a:spcPts val="0"/>
              </a:spcBef>
              <a:spcAft>
                <a:spcPts val="0"/>
              </a:spcAft>
              <a:buClr>
                <a:srgbClr val="FAA95A"/>
              </a:buClr>
              <a:buFont typeface="Arial"/>
              <a:buChar char="•"/>
            </a:pPr>
            <a:r>
              <a:rPr lang="ko-KR" altLang="en-US" sz="1250" b="0" dirty="0">
                <a:solidFill>
                  <a:srgbClr val="2E3142"/>
                </a:solidFill>
                <a:latin typeface="210 OmniGothic 030"/>
                <a:ea typeface="210 OmniGothic 030"/>
                <a:cs typeface="210 OmniGothic 030"/>
              </a:rPr>
              <a:t>평가 결과로 하한·프롬프트 재조정</a:t>
            </a:r>
            <a:endParaRPr lang="ko-KR" altLang="en-US" sz="1250"/>
          </a:p>
        </p:txBody>
      </p:sp>
      <p:graphicFrame>
        <p:nvGraphicFramePr>
          <p:cNvPr id="5043" name="Table 5042"/>
          <p:cNvGraphicFramePr>
            <a:graphicFrameLocks noGrp="1"/>
          </p:cNvGraphicFramePr>
          <p:nvPr/>
        </p:nvGraphicFramePr>
        <p:xfrm>
          <a:off x="7498080" y="2432304"/>
          <a:ext cx="9052560" cy="6629400"/>
        </p:xfrm>
        <a:graphic>
          <a:graphicData uri="http://schemas.openxmlformats.org/drawingml/2006/table">
            <a:tbl>
              <a:tblPr/>
              <a:tblGrid>
                <a:gridCol w="32004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502920">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프로토타입 구현</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본 개발 구성요소</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tc>
                  <a:txBody>
                    <a:bodyPr/>
                    <a:lstStyle/>
                    <a:p>
                      <a:pPr algn="ctr" latinLnBrk="0">
                        <a:lnSpc>
                          <a:spcPct val="110000"/>
                        </a:lnSpc>
                        <a:spcBef>
                          <a:spcPts val="0"/>
                        </a:spcBef>
                        <a:spcAft>
                          <a:spcPts val="0"/>
                        </a:spcAft>
                        <a:buNone/>
                      </a:pPr>
                      <a:r>
                        <a:rPr lang="ko-KR" altLang="en-US" sz="1400" b="1" dirty="0">
                          <a:solidFill>
                            <a:srgbClr val="FFFFFF"/>
                          </a:solidFill>
                          <a:latin typeface="210 OmniGothic 040"/>
                          <a:ea typeface="210 OmniGothic 040"/>
                          <a:cs typeface="210 OmniGothic 040"/>
                        </a:rPr>
                        <a:t>스프린트</a:t>
                      </a:r>
                      <a:endParaRPr lang="ko-KR" altLang="en-US" sz="140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363A52"/>
                    </a:solidFill>
                  </a:tcPr>
                </a:tc>
                <a:extLst>
                  <a:ext uri="{0D108BD9-81ED-4DB2-BD59-A6C34878D82A}">
                    <a16:rowId xmlns:a16="http://schemas.microsoft.com/office/drawing/2014/main" val="10000"/>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합성 타원 확산 모델</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ELMFIRE(Docker) · 30 m 격자</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SP1~SP5</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1"/>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시나리오 고정 기상</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기상청 단기예보 API</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SP1~SP2</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2"/>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위험도 변수 시연값</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P5 폴리곤 × 격자 자료 23개 변수 계산</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SP3</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3"/>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규칙 판정(JavaScript)</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규칙 엔진(Python) + FastAPI</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SP2~SP4</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4"/>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문장 템플릿</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EXAONE 4.0 32B(vLLM) 제안 생성</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SP3~SP4</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5"/>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키워드 대본·정규식 정정</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EXAONE + KURE-v1·FAISS RAG</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SP2~SP4</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6"/>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쪽수별 요약 근거</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조항 단위 청킹·근거 색인</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SP1~SP2</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7"/>
                  </a:ext>
                </a:extLst>
              </a:tr>
              <a:tr h="765810">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세션 저장소 토큰</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l"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JWT · 서버 측 잠금·권한</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FFFFF"/>
                    </a:solidFill>
                  </a:tcPr>
                </a:tc>
                <a:tc>
                  <a:txBody>
                    <a:bodyPr/>
                    <a:lstStyle/>
                    <a:p>
                      <a:pPr algn="ctr" latinLnBrk="0">
                        <a:lnSpc>
                          <a:spcPct val="110000"/>
                        </a:lnSpc>
                        <a:spcBef>
                          <a:spcPts val="0"/>
                        </a:spcBef>
                        <a:spcAft>
                          <a:spcPts val="0"/>
                        </a:spcAft>
                        <a:buNone/>
                      </a:pPr>
                      <a:r>
                        <a:rPr lang="ko-KR" altLang="en-US" sz="1350" b="0" dirty="0">
                          <a:solidFill>
                            <a:srgbClr val="2E3142"/>
                          </a:solidFill>
                          <a:latin typeface="210 OmniGothic 030"/>
                          <a:ea typeface="210 OmniGothic 030"/>
                          <a:cs typeface="210 OmniGothic 030"/>
                        </a:rPr>
                        <a:t>SP3~SP4</a:t>
                      </a:r>
                      <a:endParaRPr lang="ko-KR" altLang="en-US" sz="1350"/>
                    </a:p>
                  </a:txBody>
                  <a:tcPr marL="64008" marR="64008" marT="27432" marB="27432" anchor="ctr">
                    <a:lnL w="9525" cap="flat" cmpd="sng" algn="ctr">
                      <a:solidFill>
                        <a:srgbClr val="D5D8E0"/>
                      </a:solidFill>
                      <a:prstDash val="solid"/>
                    </a:lnL>
                    <a:lnR w="9525" cap="flat" cmpd="sng" algn="ctr">
                      <a:solidFill>
                        <a:srgbClr val="D5D8E0"/>
                      </a:solidFill>
                      <a:prstDash val="solid"/>
                    </a:lnR>
                    <a:lnT w="9525" cap="flat" cmpd="sng" algn="ctr">
                      <a:solidFill>
                        <a:srgbClr val="D5D8E0"/>
                      </a:solidFill>
                      <a:prstDash val="solid"/>
                    </a:lnT>
                    <a:lnB w="9525" cap="flat" cmpd="sng" algn="ctr">
                      <a:solidFill>
                        <a:srgbClr val="D5D8E0"/>
                      </a:solidFill>
                      <a:prstDash val="solid"/>
                    </a:lnB>
                    <a:solidFill>
                      <a:srgbClr val="FDF1E6"/>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112360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44" name="Picture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100" y="-2260600"/>
            <a:ext cx="18326100" cy="11264900"/>
          </a:xfrm>
          <a:prstGeom prst="rect">
            <a:avLst/>
          </a:prstGeom>
        </p:spPr>
      </p:pic>
      <p:pic>
        <p:nvPicPr>
          <p:cNvPr id="5545" name="Picture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700" y="-12700"/>
            <a:ext cx="18313400" cy="215900"/>
          </a:xfrm>
          <a:prstGeom prst="rect">
            <a:avLst/>
          </a:prstGeom>
        </p:spPr>
      </p:pic>
      <p:pic>
        <p:nvPicPr>
          <p:cNvPr id="5546" name="Picture 4"/>
          <p:cNvPicPr>
            <a:picLocks noChangeAspect="1"/>
          </p:cNvPicPr>
          <p:nvPr/>
        </p:nvPicPr>
        <p:blipFill>
          <a:blip>
            <a:alphaModFix amt="15000"/>
            <a:extLst>
              <a:ext uri="{96DAC541-7B7A-43D3-8B79-37D633B846F1}">
                <asvg:svgBlip xmlns:asvg="http://schemas.microsoft.com/office/drawing/2016/SVG/main" r:embed="rId4"/>
              </a:ext>
            </a:extLst>
          </a:blip>
          <a:stretch>
            <a:fillRect/>
          </a:stretch>
        </p:blipFill>
        <p:spPr>
          <a:xfrm>
            <a:off x="14452600" y="7645400"/>
            <a:ext cx="8470900" cy="1358900"/>
          </a:xfrm>
          <a:prstGeom prst="rect">
            <a:avLst/>
          </a:prstGeom>
        </p:spPr>
      </p:pic>
      <p:pic>
        <p:nvPicPr>
          <p:cNvPr id="5547" name="Picture 5"/>
          <p:cNvPicPr>
            <a:picLocks noChangeAspect="1"/>
          </p:cNvPicPr>
          <p:nvPr/>
        </p:nvPicPr>
        <p:blipFill>
          <a:blip>
            <a:alphaModFix amt="15000"/>
            <a:extLst>
              <a:ext uri="{96DAC541-7B7A-43D3-8B79-37D633B846F1}">
                <asvg:svgBlip xmlns:asvg="http://schemas.microsoft.com/office/drawing/2016/SVG/main" r:embed="rId4"/>
              </a:ext>
            </a:extLst>
          </a:blip>
          <a:stretch>
            <a:fillRect/>
          </a:stretch>
        </p:blipFill>
        <p:spPr>
          <a:xfrm>
            <a:off x="7353300" y="7645400"/>
            <a:ext cx="8470900" cy="1358900"/>
          </a:xfrm>
          <a:prstGeom prst="rect">
            <a:avLst/>
          </a:prstGeom>
        </p:spPr>
      </p:pic>
      <p:pic>
        <p:nvPicPr>
          <p:cNvPr id="5548" name="Picture 6"/>
          <p:cNvPicPr>
            <a:picLocks noChangeAspect="1"/>
          </p:cNvPicPr>
          <p:nvPr/>
        </p:nvPicPr>
        <p:blipFill>
          <a:blip>
            <a:alphaModFix amt="15000"/>
            <a:extLst>
              <a:ext uri="{96DAC541-7B7A-43D3-8B79-37D633B846F1}">
                <asvg:svgBlip xmlns:asvg="http://schemas.microsoft.com/office/drawing/2016/SVG/main" r:embed="rId5"/>
              </a:ext>
            </a:extLst>
          </a:blip>
          <a:stretch>
            <a:fillRect/>
          </a:stretch>
        </p:blipFill>
        <p:spPr>
          <a:xfrm>
            <a:off x="165100" y="7645400"/>
            <a:ext cx="8470900" cy="1358900"/>
          </a:xfrm>
          <a:prstGeom prst="rect">
            <a:avLst/>
          </a:prstGeom>
        </p:spPr>
      </p:pic>
      <p:pic>
        <p:nvPicPr>
          <p:cNvPr id="5549" name="Picture 8"/>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700" y="8940800"/>
            <a:ext cx="18313400" cy="1358900"/>
          </a:xfrm>
          <a:prstGeom prst="rect">
            <a:avLst/>
          </a:prstGeom>
        </p:spPr>
      </p:pic>
      <p:sp>
        <p:nvSpPr>
          <p:cNvPr id="5537" name="TextBox 5536">
            <a:extLst>
              <a:ext uri="{FF2B5EF4-FFF2-40B4-BE49-F238E27FC236}">
                <a16:creationId xmlns:a16="http://schemas.microsoft.com/office/drawing/2014/main" id="{A6CB4B50-BA46-4E69-9C88-7DD194A5EA85}"/>
              </a:ext>
            </a:extLst>
          </p:cNvPr>
          <p:cNvSpPr>
            <a:spLocks noGrp="1"/>
          </p:cNvSpPr>
          <p:nvPr/>
        </p:nvSpPr>
        <p:spPr>
          <a:xfrm>
            <a:off x="2167128" y="3621024"/>
            <a:ext cx="13917168" cy="1234440"/>
          </a:xfrm>
          <a:prstGeom prst="rect">
            <a:avLst/>
          </a:prstGeom>
          <a:noFill/>
        </p:spPr>
        <p:txBody>
          <a:bodyPr wrap="square" lIns="0" tIns="0" rIns="0" bIns="0" anchor="ctr">
            <a:spAutoFit/>
          </a:bodyPr>
          <a:lstStyle/>
          <a:p>
            <a:pPr algn="ctr">
              <a:buNone/>
            </a:pPr>
            <a:r>
              <a:rPr sz="6800" b="0">
                <a:solidFill>
                  <a:srgbClr val="363A52"/>
                </a:solidFill>
                <a:latin typeface="210 OmniGothic 050"/>
                <a:ea typeface="210 OmniGothic 050"/>
                <a:cs typeface="210 OmniGothic 050"/>
              </a:rPr>
              <a:t>감사합니다</a:t>
            </a:r>
          </a:p>
        </p:txBody>
      </p:sp>
    </p:spTree>
    <p:extLst>
      <p:ext uri="{BB962C8B-B14F-4D97-AF65-F5344CB8AC3E}">
        <p14:creationId xmlns:p14="http://schemas.microsoft.com/office/powerpoint/2010/main" val="1620103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11301</Words>
  <Application>Microsoft Macintosh PowerPoint</Application>
  <DocSecurity>0</DocSecurity>
  <PresentationFormat>사용자 지정</PresentationFormat>
  <Paragraphs>2007</Paragraphs>
  <Slides>52</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52</vt:i4>
      </vt:variant>
    </vt:vector>
  </HeadingPairs>
  <TitlesOfParts>
    <vt:vector size="61" baseType="lpstr">
      <vt:lpstr>210 OmniGothic 040</vt:lpstr>
      <vt:lpstr>맑은 고딕</vt:lpstr>
      <vt:lpstr>맑은 고딕</vt:lpstr>
      <vt:lpstr>Arial</vt:lpstr>
      <vt:lpstr>210 OmniGothic 050</vt:lpstr>
      <vt:lpstr>210 OmniGothic 030</vt:lpstr>
      <vt:lpstr>Calibri</vt:lpstr>
      <vt:lpstr>Pretendard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황승준</cp:lastModifiedBy>
  <cp:revision>26</cp:revision>
  <dcterms:created xsi:type="dcterms:W3CDTF">2026-09-30T00:25:55Z</dcterms:created>
  <dcterms:modified xsi:type="dcterms:W3CDTF">2026-10-19T03:16:28Z</dcterms:modified>
</cp:coreProperties>
</file>