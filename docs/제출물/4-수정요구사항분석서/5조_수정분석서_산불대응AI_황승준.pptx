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29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8"/>
  </p:notesMasterIdLst>
  <p:sldIdLst>
    <p:sldId id="256" r:id="rId2"/>
    <p:sldId id="257" r:id="rId3"/>
    <p:sldId id="399" r:id="rId4"/>
    <p:sldId id="258" r:id="rId5"/>
    <p:sldId id="259" r:id="rId6"/>
    <p:sldId id="260" r:id="rId7"/>
    <p:sldId id="261" r:id="rId8"/>
    <p:sldId id="268" r:id="rId9"/>
    <p:sldId id="387" r:id="rId10"/>
    <p:sldId id="269" r:id="rId11"/>
    <p:sldId id="270" r:id="rId12"/>
    <p:sldId id="367" r:id="rId13"/>
    <p:sldId id="368" r:id="rId14"/>
    <p:sldId id="369" r:id="rId15"/>
    <p:sldId id="271" r:id="rId16"/>
    <p:sldId id="272" r:id="rId17"/>
    <p:sldId id="273" r:id="rId18"/>
    <p:sldId id="274" r:id="rId19"/>
    <p:sldId id="275" r:id="rId20"/>
    <p:sldId id="276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8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84" r:id="rId79"/>
    <p:sldId id="385" r:id="rId80"/>
    <p:sldId id="38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89" r:id="rId104"/>
    <p:sldId id="398" r:id="rId105"/>
    <p:sldId id="360" r:id="rId106"/>
    <p:sldId id="361" r:id="rId107"/>
    <p:sldId id="362" r:id="rId108"/>
    <p:sldId id="390" r:id="rId109"/>
    <p:sldId id="391" r:id="rId110"/>
    <p:sldId id="392" r:id="rId111"/>
    <p:sldId id="393" r:id="rId112"/>
    <p:sldId id="394" r:id="rId113"/>
    <p:sldId id="395" r:id="rId114"/>
    <p:sldId id="396" r:id="rId115"/>
    <p:sldId id="397" r:id="rId116"/>
    <p:sldId id="400" r:id="rId133"/>
    <p:sldId id="401" r:id="rId134"/>
    <p:sldId id="366" r:id="rId117"/>
  </p:sldIdLst>
  <p:sldSz cx="18288000" cy="10287000"/>
  <p:notesSz cx="6858000" cy="9144000"/>
  <p:embeddedFontLst>
    <p:embeddedFont>
      <p:font typeface="210 OmniGothic 030" panose="020B0600000101010101" charset="-127"/>
      <p:regular r:id="rId119"/>
    </p:embeddedFont>
    <p:embeddedFont>
      <p:font typeface="210 OmniGothic 040" panose="020B0600000101010101" charset="-127"/>
      <p:regular r:id="rId120"/>
    </p:embeddedFont>
    <p:embeddedFont>
      <p:font typeface="210 OmniGothic 050" panose="020B0600000101010101" charset="-127"/>
      <p:regular r:id="rId121"/>
    </p:embeddedFont>
    <p:embeddedFont>
      <p:font typeface="Pretendard Bold" panose="020B0600000101010101" charset="-127"/>
      <p:bold r:id="rId122"/>
    </p:embeddedFont>
    <p:embeddedFont>
      <p:font typeface="Consolas" panose="020B0609020204030204" pitchFamily="49" charset="0"/>
      <p:regular r:id="rId123"/>
      <p:bold r:id="rId124"/>
      <p:italic r:id="rId125"/>
      <p:boldItalic r:id="rId126"/>
    </p:embeddedFont>
    <p:embeddedFont>
      <p:font typeface="맑은 고딕" panose="020B0503020000020004" pitchFamily="50" charset="-127"/>
      <p:regular r:id="rId127"/>
      <p:bold r:id="rId128"/>
    </p:embeddedFont>
    <p:embeddedFont>
      <p:font typeface="맑은 고딕" panose="020B0503020000020004" pitchFamily="50" charset="-127"/>
      <p:regular r:id="rId127"/>
      <p:bold r:id="rId12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08" y="-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8.xml"/><Relationship Id="rId118" Type="http://schemas.openxmlformats.org/officeDocument/2006/relationships/notesMaster" Target="notesMasters/notesMaster1.xml"/><Relationship Id="rId119" Type="http://schemas.openxmlformats.org/officeDocument/2006/relationships/font" Target="fonts/font1.fntdata"/><Relationship Id="rId120" Type="http://schemas.openxmlformats.org/officeDocument/2006/relationships/font" Target="fonts/font2.fntdata"/><Relationship Id="rId121" Type="http://schemas.openxmlformats.org/officeDocument/2006/relationships/font" Target="fonts/font3.fntdata"/><Relationship Id="rId122" Type="http://schemas.openxmlformats.org/officeDocument/2006/relationships/font" Target="fonts/font4.fntdata"/><Relationship Id="rId123" Type="http://schemas.openxmlformats.org/officeDocument/2006/relationships/font" Target="fonts/font5.fntdata"/><Relationship Id="rId124" Type="http://schemas.openxmlformats.org/officeDocument/2006/relationships/font" Target="fonts/font6.fntdata"/><Relationship Id="rId125" Type="http://schemas.openxmlformats.org/officeDocument/2006/relationships/font" Target="fonts/font7.fntdata"/><Relationship Id="rId126" Type="http://schemas.openxmlformats.org/officeDocument/2006/relationships/font" Target="fonts/font8.fntdata"/><Relationship Id="rId127" Type="http://schemas.openxmlformats.org/officeDocument/2006/relationships/font" Target="fonts/font9.fntdata"/><Relationship Id="rId128" Type="http://schemas.openxmlformats.org/officeDocument/2006/relationships/font" Target="fonts/font10.fntdata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heme" Target="theme/theme1.xml"/><Relationship Id="rId132" Type="http://schemas.openxmlformats.org/officeDocument/2006/relationships/tableStyles" Target="tableStyles.xml"/><Relationship Id="rId133" Type="http://schemas.openxmlformats.org/officeDocument/2006/relationships/slide" Target="slides/slide116.xml"/><Relationship Id="rId134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781C-36E6-446A-BA4D-6F3546F8A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1B4D-E67A-490D-AAB5-1BA5399C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3DC7-E6FD-47B9-89A9-59DBDE8541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F7E13E-C63F-4D0B-BB23-D1F2A91FB568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85B6-844F-48F2-974F-A98ABADB67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A048-3FE8-43B4-90CB-F12249212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11C4-4173-4C47-8E47-A78C9E71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BD424-8DA9-4CC0-BB4F-8C0114EB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5BD7-E501-4B12-811C-861F4F366E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5EEC63-120E-4E59-8607-E1749C0E89F9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BAF2-CC93-4184-A58D-89C281A01E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54A-5FBD-4A6B-A81C-10F350E5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4822-7CB1-450C-86E5-16F89FD8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987BF-8FE6-46EE-8862-52C06F78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6285-D177-4913-92C3-1A76E73A74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24DE3DD-F0A3-4F64-AA99-B4E912018FCA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5AAA2-29DD-4D2C-9B78-6387F16C61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2DCE-617D-441B-B3CC-7262D607C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08A2-DD13-4BAB-AC7D-1ADC373F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EDC8-2845-4DDB-8AA5-C8AFBEC6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F8FE8-5E9C-4033-8908-90BC783F30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C934A-DFFC-4DDA-BF71-D7A96B102D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B98869-110A-41B2-8B60-C1668D7B64C0}" type="datetime1">
              <a:t>2026-10-08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F85C7-B146-46A9-8E4A-6B25F62F74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E51A1-2F49-4F53-A0EC-BE7853F43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15CC-ED16-4E2F-A7BE-A8398C1F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D049E-2DEB-44F9-934E-E1976BD9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89948-3C65-4FED-B98D-471CBDC50C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2E486-9414-4D64-B5AA-512425C08F5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651F4-1835-4738-A412-069ABDAC1C9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73699-FF0F-493F-B674-0318BEB0F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6E72D2-F99A-4934-9072-4110418249BD}" type="datetime1">
              <a:t>2026-10-08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2E9F4-04CB-45F5-894B-356B83572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A89A7-F12E-47C5-935F-EE6879C04E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76E5-EF73-494B-B47D-06423DCC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6BE7D-D259-42C5-9E0C-E81FEABF73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2C468B-20E3-407E-85A7-522E1433ED6A}" type="datetime1">
              <a:t>2026-10-08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B7044-008F-44C1-90F1-26C33D02A1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95A2A-E62D-4A7F-ADDC-E7E152F4B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02B01-E97B-4A20-B1B0-5191EE524C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1548AA-889C-443B-A93D-38FE1CFA7516}" type="datetime1">
              <a:t>2026-10-08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4D336-5E53-43AB-A7BE-60A3636B3C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D0046-39CA-4E80-B221-566489DFB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363A52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>
              <a:solidFill>
                <a:srgbClr val="363A5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EAD-069B-4CE6-B27C-FF2D07C7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826A-B34C-4658-BE34-A1E42CED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D345E-E058-4A19-9D36-4EF218572C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6B60E-DC45-44B6-832E-5033C3B671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EED5943-17CB-412C-A291-60B219F832C8}" type="datetime1">
              <a:t>2026-10-08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94005-A743-4FE7-B7E3-2C505CDBFD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9389-4A71-47FB-B6DD-DDFFD7A70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1991-0852-4FE1-8305-F94E461D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F6FEF-2EA1-4674-91B7-BA6161364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E5ADE-1D9B-4946-9DCA-55964FBA2C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2A1E9-16D8-4C5E-AEA6-7CE155D9D2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840CD2-5E56-44C1-A1EF-E4FA14BF99E8}" type="datetime1">
              <a:t>2026-10-08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EE1CF-8EFA-4D87-B592-27F4298CAE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762B3-ECAA-4354-83E0-1A9496DC2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F37C-CDA9-4EA8-A11C-9AAE27AE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96858-9A5F-4A0C-B53D-5243A8F7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CBD0-2095-4D01-B6BF-B7074F08A9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0541CA-56D6-49C1-9EA6-589A66A6D619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69DD-D5D7-4552-B6CC-14BE43C947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92DC-822C-4521-823E-EB1350FC2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48549-09FA-4275-BE61-ABAB710AB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9F079-B194-44DB-A842-58776470F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8989-763D-4784-B18E-2FDDDC82A7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B158F63-390B-4AA7-B117-B22D9F851814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10DB-454F-4708-93D5-584EE37425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67A04-0E12-4CF5-B83A-EF81D55C94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B83D8-1EDF-45EB-9387-03AF7B28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5533-203D-4067-B0DB-585AA2DAC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C50D-AF01-4040-8961-A75CE77E250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25D06-E58F-424F-8E85-775C648B2EFD}" type="datetime1">
              <a:t>2026-10-08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BE8BA-7177-4756-A186-AD5C39F7B75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DCEE-0A11-47EC-B9BE-7D88590759E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5.sv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29.svg"/><Relationship Id="rId7" Type="http://schemas.openxmlformats.org/officeDocument/2006/relationships/image" Target="../media/image3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3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5.svg"/><Relationship Id="rId6" Type="http://schemas.openxmlformats.org/officeDocument/2006/relationships/image" Target="../media/image14.sv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Relationship Id="rId5" Type="http://schemas.openxmlformats.org/officeDocument/2006/relationships/image" Target="../media/image15.sv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4.svg"/><Relationship Id="rId6" Type="http://schemas.openxmlformats.org/officeDocument/2006/relationships/image" Target="../media/image3.svg"/><Relationship Id="rId7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-2324100"/>
            <a:ext cx="18326100" cy="11264900"/>
          </a:xfrm>
          <a:prstGeom prst="rect">
            <a:avLst/>
          </a:prstGeom>
        </p:spPr>
      </p:pic>
      <p:pic>
        <p:nvPicPr>
          <p:cNvPr id="50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036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pic>
        <p:nvPicPr>
          <p:cNvPr id="5037" name="Picture 9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9000" y="3759200"/>
            <a:ext cx="304800" cy="304800"/>
          </a:xfrm>
          <a:prstGeom prst="rect">
            <a:avLst/>
          </a:prstGeom>
        </p:spPr>
      </p:pic>
      <p:pic>
        <p:nvPicPr>
          <p:cNvPr id="5038" name="Picture 10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0900" y="3098800"/>
            <a:ext cx="812800" cy="939800"/>
          </a:xfrm>
          <a:prstGeom prst="rect">
            <a:avLst/>
          </a:prstGeom>
        </p:spPr>
      </p:pic>
      <p:pic>
        <p:nvPicPr>
          <p:cNvPr id="5039" name="Picture 11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88700" y="2120900"/>
            <a:ext cx="190500" cy="190500"/>
          </a:xfrm>
          <a:prstGeom prst="rect">
            <a:avLst/>
          </a:prstGeom>
        </p:spPr>
      </p:pic>
      <p:pic>
        <p:nvPicPr>
          <p:cNvPr id="5040" name="Picture 12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014700" y="1917700"/>
            <a:ext cx="228600" cy="228600"/>
          </a:xfrm>
          <a:prstGeom prst="rect">
            <a:avLst/>
          </a:prstGeom>
        </p:spPr>
      </p:pic>
      <p:pic>
        <p:nvPicPr>
          <p:cNvPr id="5041" name="Picture 13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700000">
            <a:off x="13487400" y="1612900"/>
            <a:ext cx="266700" cy="266700"/>
          </a:xfrm>
          <a:prstGeom prst="rect">
            <a:avLst/>
          </a:prstGeom>
        </p:spPr>
      </p:pic>
      <p:pic>
        <p:nvPicPr>
          <p:cNvPr id="5042" name="그림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68800" y="393647"/>
            <a:ext cx="1016053" cy="1016053"/>
          </a:xfrm>
          <a:prstGeom prst="rect">
            <a:avLst/>
          </a:prstGeom>
        </p:spPr>
      </p:pic>
      <p:sp>
        <p:nvSpPr>
          <p:cNvPr id="5012" name="Text 2">
            <a:extLst>
              <a:ext uri="{FF2B5EF4-FFF2-40B4-BE49-F238E27FC236}">
                <a16:creationId xmlns:a16="http://schemas.microsoft.com/office/drawing/2014/main" id="{248666E2-7712-8001-9DD7-F072F760F5BA}"/>
              </a:ext>
            </a:extLst>
          </p:cNvPr>
          <p:cNvSpPr>
            <a:spLocks noGrp="1"/>
          </p:cNvSpPr>
          <p:nvPr/>
        </p:nvSpPr>
        <p:spPr>
          <a:xfrm>
            <a:off x="11430000" y="779727"/>
            <a:ext cx="5441320" cy="363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sz="2200" spc="10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WILDFIRE RESPONSE AI</a:t>
            </a:r>
            <a:endParaRPr sz="2200"/>
          </a:p>
        </p:txBody>
      </p:sp>
      <p:sp>
        <p:nvSpPr>
          <p:cNvPr id="5013" name="TextBox 5012">
            <a:extLst>
              <a:ext uri="{FF2B5EF4-FFF2-40B4-BE49-F238E27FC236}">
                <a16:creationId xmlns:a16="http://schemas.microsoft.com/office/drawing/2014/main" id="{2927E57B-BC3B-42D9-A81A-42142CF34D29}"/>
              </a:ext>
            </a:extLst>
          </p:cNvPr>
          <p:cNvSpPr>
            <a:spLocks noGrp="1"/>
          </p:cNvSpPr>
          <p:nvPr/>
        </p:nvSpPr>
        <p:spPr>
          <a:xfrm>
            <a:off x="1892807" y="205740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600" b="0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요구사항 분석서</a:t>
            </a:r>
          </a:p>
        </p:txBody>
      </p:sp>
      <p:sp>
        <p:nvSpPr>
          <p:cNvPr id="5014" name="TextBox 5013">
            <a:extLst>
              <a:ext uri="{FF2B5EF4-FFF2-40B4-BE49-F238E27FC236}">
                <a16:creationId xmlns:a16="http://schemas.microsoft.com/office/drawing/2014/main" id="{C94447D1-CE54-4CB5-8FE4-1C6431530A31}"/>
              </a:ext>
            </a:extLst>
          </p:cNvPr>
          <p:cNvSpPr>
            <a:spLocks noGrp="1"/>
          </p:cNvSpPr>
          <p:nvPr/>
        </p:nvSpPr>
        <p:spPr>
          <a:xfrm>
            <a:off x="1691640" y="2697480"/>
            <a:ext cx="9144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6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산불 대응 AI</a:t>
            </a:r>
          </a:p>
        </p:txBody>
      </p:sp>
      <p:sp>
        <p:nvSpPr>
          <p:cNvPr id="5015" name="TextBox 5014">
            <a:extLst>
              <a:ext uri="{FF2B5EF4-FFF2-40B4-BE49-F238E27FC236}">
                <a16:creationId xmlns:a16="http://schemas.microsoft.com/office/drawing/2014/main" id="{88ACEC01-A0EE-4AA8-808E-A5E3E4BB33BC}"/>
              </a:ext>
            </a:extLst>
          </p:cNvPr>
          <p:cNvSpPr>
            <a:spLocks noGrp="1"/>
          </p:cNvSpPr>
          <p:nvPr/>
        </p:nvSpPr>
        <p:spPr>
          <a:xfrm>
            <a:off x="1874519" y="422452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의사결정 지원 시스템</a:t>
            </a:r>
          </a:p>
        </p:txBody>
      </p:sp>
      <p:sp>
        <p:nvSpPr>
          <p:cNvPr id="5016" name="TextBox 5015">
            <a:extLst>
              <a:ext uri="{FF2B5EF4-FFF2-40B4-BE49-F238E27FC236}">
                <a16:creationId xmlns:a16="http://schemas.microsoft.com/office/drawing/2014/main" id="{0FAAB1E6-72C1-4F8E-B5B7-0B1870A7BEA7}"/>
              </a:ext>
            </a:extLst>
          </p:cNvPr>
          <p:cNvSpPr>
            <a:spLocks noGrp="1"/>
          </p:cNvSpPr>
          <p:nvPr/>
        </p:nvSpPr>
        <p:spPr>
          <a:xfrm>
            <a:off x="1874519" y="4754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확산 예측과 표준매뉴얼 근거 기반 진화·대피 대응 제안</a:t>
            </a:r>
          </a:p>
        </p:txBody>
      </p:sp>
      <p:sp>
        <p:nvSpPr>
          <p:cNvPr id="5017" name="TextBox 5016">
            <a:extLst>
              <a:ext uri="{FF2B5EF4-FFF2-40B4-BE49-F238E27FC236}">
                <a16:creationId xmlns:a16="http://schemas.microsoft.com/office/drawing/2014/main" id="{1E0F0DCB-F6A3-488C-A63A-C14C23862CA3}"/>
              </a:ext>
            </a:extLst>
          </p:cNvPr>
          <p:cNvSpPr>
            <a:spLocks noGrp="1"/>
          </p:cNvSpPr>
          <p:nvPr/>
        </p:nvSpPr>
        <p:spPr>
          <a:xfrm>
            <a:off x="1865376" y="5596128"/>
            <a:ext cx="8229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6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5조 산불조심하조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C3E6116A-3F88-490C-B3DF-8F3EB7963E23}"/>
              </a:ext>
            </a:extLst>
          </p:cNvPr>
          <p:cNvSpPr>
            <a:spLocks noGrp="1"/>
          </p:cNvSpPr>
          <p:nvPr/>
        </p:nvSpPr>
        <p:spPr>
          <a:xfrm>
            <a:off x="1865376" y="610819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황승준(팀장) 김지오 홍준서 임성민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96D0C81D-8A5C-46DE-8F0A-1FE0DBCF673D}"/>
              </a:ext>
            </a:extLst>
          </p:cNvPr>
          <p:cNvSpPr>
            <a:spLocks noGrp="1"/>
          </p:cNvSpPr>
          <p:nvPr/>
        </p:nvSpPr>
        <p:spPr>
          <a:xfrm>
            <a:off x="1865376" y="65105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세종대학교 컴퓨터공학과 · 2026학년도 2학기 캡스톤디자인 · 지도 교수 권기학 교수, 문현준 교수</a:t>
            </a:r>
          </a:p>
        </p:txBody>
      </p:sp>
      <p:sp>
        <p:nvSpPr>
          <p:cNvPr id="5020" name="TextBox 5019">
            <a:extLst>
              <a:ext uri="{FF2B5EF4-FFF2-40B4-BE49-F238E27FC236}">
                <a16:creationId xmlns:a16="http://schemas.microsoft.com/office/drawing/2014/main" id="{451E863D-3BBA-44E5-980D-3C117B9053DA}"/>
              </a:ext>
            </a:extLst>
          </p:cNvPr>
          <p:cNvSpPr>
            <a:spLocks noGrp="1"/>
          </p:cNvSpPr>
          <p:nvPr/>
        </p:nvSpPr>
        <p:spPr>
          <a:xfrm>
            <a:off x="128016" y="9756648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2026.10.0</a:t>
            </a:r>
            <a:r>
              <a:rPr lang="en-US" sz="1400" b="1" dirty="0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  <a:endParaRPr sz="1400" b="1" dirty="0">
              <a:solidFill>
                <a:srgbClr val="FFFFFF"/>
              </a:solidFill>
              <a:latin typeface="210 OmniGothic 040"/>
              <a:ea typeface="210 OmniGothic 040"/>
              <a:cs typeface="210 OmniGothic 040"/>
            </a:endParaRPr>
          </a:p>
        </p:txBody>
      </p:sp>
    </p:spTree>
    <p:extLst>
      <p:ext uri="{BB962C8B-B14F-4D97-AF65-F5344CB8AC3E}">
        <p14:creationId xmlns:p14="http://schemas.microsoft.com/office/powerpoint/2010/main" val="37681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4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4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4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17" name="TextBox 5016">
            <a:extLst>
              <a:ext uri="{FF2B5EF4-FFF2-40B4-BE49-F238E27FC236}">
                <a16:creationId xmlns:a16="http://schemas.microsoft.com/office/drawing/2014/main" id="{C85F8ABA-F59C-4AE4-B132-671B0E3B20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73152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목차</a:t>
            </a:r>
          </a:p>
        </p:txBody>
      </p:sp>
      <p:sp>
        <p:nvSpPr>
          <p:cNvPr id="5018" name="TextBox 5017">
            <a:extLst>
              <a:ext uri="{FF2B5EF4-FFF2-40B4-BE49-F238E27FC236}">
                <a16:creationId xmlns:a16="http://schemas.microsoft.com/office/drawing/2014/main" id="{FDD0ED70-7E54-4181-88A1-D292EBFC365D}"/>
              </a:ext>
            </a:extLst>
          </p:cNvPr>
          <p:cNvSpPr>
            <a:spLocks noGrp="1"/>
          </p:cNvSpPr>
          <p:nvPr/>
        </p:nvSpPr>
        <p:spPr>
          <a:xfrm>
            <a:off x="2194560" y="27889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245A6D84-18F9-4E89-8EC7-4E1987B84879}"/>
              </a:ext>
            </a:extLst>
          </p:cNvPr>
          <p:cNvSpPr>
            <a:spLocks noGrp="1"/>
          </p:cNvSpPr>
          <p:nvPr/>
        </p:nvSpPr>
        <p:spPr>
          <a:xfrm>
            <a:off x="324612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프로젝트 개요</a:t>
            </a:r>
          </a:p>
        </p:txBody>
      </p:sp>
      <p:sp>
        <p:nvSpPr>
          <p:cNvPr id="5020" name="Rectangle 5019">
            <a:extLst>
              <a:ext uri="{FF2B5EF4-FFF2-40B4-BE49-F238E27FC236}">
                <a16:creationId xmlns:a16="http://schemas.microsoft.com/office/drawing/2014/main" id="{CDF006FC-B684-4F46-88EF-201A38BB4E8B}"/>
              </a:ext>
            </a:extLst>
          </p:cNvPr>
          <p:cNvSpPr>
            <a:spLocks noGrp="1"/>
          </p:cNvSpPr>
          <p:nvPr/>
        </p:nvSpPr>
        <p:spPr>
          <a:xfrm>
            <a:off x="2194560" y="35387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1" name="TextBox 5020">
            <a:extLst>
              <a:ext uri="{FF2B5EF4-FFF2-40B4-BE49-F238E27FC236}">
                <a16:creationId xmlns:a16="http://schemas.microsoft.com/office/drawing/2014/main" id="{C6E3A1CE-9D43-4267-BC27-229F3F5E36E7}"/>
              </a:ext>
            </a:extLst>
          </p:cNvPr>
          <p:cNvSpPr>
            <a:spLocks noGrp="1"/>
          </p:cNvSpPr>
          <p:nvPr/>
        </p:nvSpPr>
        <p:spPr>
          <a:xfrm>
            <a:off x="9692640" y="27889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22" name="TextBox 5021">
            <a:extLst>
              <a:ext uri="{FF2B5EF4-FFF2-40B4-BE49-F238E27FC236}">
                <a16:creationId xmlns:a16="http://schemas.microsoft.com/office/drawing/2014/main" id="{AA3227B1-F90E-47FF-BD96-423FFD0BD493}"/>
              </a:ext>
            </a:extLst>
          </p:cNvPr>
          <p:cNvSpPr>
            <a:spLocks noGrp="1"/>
          </p:cNvSpPr>
          <p:nvPr/>
        </p:nvSpPr>
        <p:spPr>
          <a:xfrm>
            <a:off x="10744200" y="278892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 기술서</a:t>
            </a:r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B62EAA4F-3801-43F3-90E8-96D72CFF0C25}"/>
              </a:ext>
            </a:extLst>
          </p:cNvPr>
          <p:cNvSpPr>
            <a:spLocks noGrp="1"/>
          </p:cNvSpPr>
          <p:nvPr/>
        </p:nvSpPr>
        <p:spPr>
          <a:xfrm>
            <a:off x="9692640" y="3538727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4" name="TextBox 5023">
            <a:extLst>
              <a:ext uri="{FF2B5EF4-FFF2-40B4-BE49-F238E27FC236}">
                <a16:creationId xmlns:a16="http://schemas.microsoft.com/office/drawing/2014/main" id="{0DF4FA58-C28D-4EDF-A452-9A4537F51DDA}"/>
              </a:ext>
            </a:extLst>
          </p:cNvPr>
          <p:cNvSpPr>
            <a:spLocks noGrp="1"/>
          </p:cNvSpPr>
          <p:nvPr/>
        </p:nvSpPr>
        <p:spPr>
          <a:xfrm>
            <a:off x="219456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25" name="TextBox 5024">
            <a:extLst>
              <a:ext uri="{FF2B5EF4-FFF2-40B4-BE49-F238E27FC236}">
                <a16:creationId xmlns:a16="http://schemas.microsoft.com/office/drawing/2014/main" id="{2AA1F869-38D6-4CE6-B176-6F7A612B735A}"/>
              </a:ext>
            </a:extLst>
          </p:cNvPr>
          <p:cNvSpPr>
            <a:spLocks noGrp="1"/>
          </p:cNvSpPr>
          <p:nvPr/>
        </p:nvSpPr>
        <p:spPr>
          <a:xfrm>
            <a:off x="3246120" y="42062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유스케이스 다이어그램</a:t>
            </a:r>
          </a:p>
        </p:txBody>
      </p:sp>
      <p:sp>
        <p:nvSpPr>
          <p:cNvPr id="5026" name="Rectangle 5025">
            <a:extLst>
              <a:ext uri="{FF2B5EF4-FFF2-40B4-BE49-F238E27FC236}">
                <a16:creationId xmlns:a16="http://schemas.microsoft.com/office/drawing/2014/main" id="{989D7871-9DD0-44DE-ABFF-FA32F506493F}"/>
              </a:ext>
            </a:extLst>
          </p:cNvPr>
          <p:cNvSpPr>
            <a:spLocks noGrp="1"/>
          </p:cNvSpPr>
          <p:nvPr/>
        </p:nvSpPr>
        <p:spPr>
          <a:xfrm>
            <a:off x="2194560" y="49560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27" name="TextBox 5026">
            <a:extLst>
              <a:ext uri="{FF2B5EF4-FFF2-40B4-BE49-F238E27FC236}">
                <a16:creationId xmlns:a16="http://schemas.microsoft.com/office/drawing/2014/main" id="{9BBE15DC-E1CB-47C5-A443-C6855FFC53B6}"/>
              </a:ext>
            </a:extLst>
          </p:cNvPr>
          <p:cNvSpPr>
            <a:spLocks noGrp="1"/>
          </p:cNvSpPr>
          <p:nvPr/>
        </p:nvSpPr>
        <p:spPr>
          <a:xfrm>
            <a:off x="969264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id="5028" name="TextBox 5027">
            <a:extLst>
              <a:ext uri="{FF2B5EF4-FFF2-40B4-BE49-F238E27FC236}">
                <a16:creationId xmlns:a16="http://schemas.microsoft.com/office/drawing/2014/main" id="{26FFB58B-2A54-4805-813E-09D5DB113E5F}"/>
              </a:ext>
            </a:extLst>
          </p:cNvPr>
          <p:cNvSpPr>
            <a:spLocks noGrp="1"/>
          </p:cNvSpPr>
          <p:nvPr/>
        </p:nvSpPr>
        <p:spPr>
          <a:xfrm>
            <a:off x="10744200" y="420624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시퀀스 다이어그램</a:t>
            </a:r>
          </a:p>
        </p:txBody>
      </p:sp>
      <p:sp>
        <p:nvSpPr>
          <p:cNvPr id="5029" name="Rectangle 5028">
            <a:extLst>
              <a:ext uri="{FF2B5EF4-FFF2-40B4-BE49-F238E27FC236}">
                <a16:creationId xmlns:a16="http://schemas.microsoft.com/office/drawing/2014/main" id="{C20208A0-000B-4E30-BC65-FA509282BD46}"/>
              </a:ext>
            </a:extLst>
          </p:cNvPr>
          <p:cNvSpPr>
            <a:spLocks noGrp="1"/>
          </p:cNvSpPr>
          <p:nvPr/>
        </p:nvSpPr>
        <p:spPr>
          <a:xfrm>
            <a:off x="9692640" y="495604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0" name="TextBox 5029">
            <a:extLst>
              <a:ext uri="{FF2B5EF4-FFF2-40B4-BE49-F238E27FC236}">
                <a16:creationId xmlns:a16="http://schemas.microsoft.com/office/drawing/2014/main" id="{39735E4A-CBB8-459A-84E5-870B038163E5}"/>
              </a:ext>
            </a:extLst>
          </p:cNvPr>
          <p:cNvSpPr>
            <a:spLocks noGrp="1"/>
          </p:cNvSpPr>
          <p:nvPr/>
        </p:nvSpPr>
        <p:spPr>
          <a:xfrm>
            <a:off x="2194560" y="5623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id="5031" name="TextBox 5030">
            <a:extLst>
              <a:ext uri="{FF2B5EF4-FFF2-40B4-BE49-F238E27FC236}">
                <a16:creationId xmlns:a16="http://schemas.microsoft.com/office/drawing/2014/main" id="{15407737-5FA6-4D6F-BA3C-03DBE139E02C}"/>
              </a:ext>
            </a:extLst>
          </p:cNvPr>
          <p:cNvSpPr>
            <a:spLocks noGrp="1"/>
          </p:cNvSpPr>
          <p:nvPr/>
        </p:nvSpPr>
        <p:spPr>
          <a:xfrm>
            <a:off x="3246120" y="56235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클래스 다이어그램</a:t>
            </a:r>
          </a:p>
        </p:txBody>
      </p:sp>
      <p:sp>
        <p:nvSpPr>
          <p:cNvPr id="5032" name="Rectangle 5031">
            <a:extLst>
              <a:ext uri="{FF2B5EF4-FFF2-40B4-BE49-F238E27FC236}">
                <a16:creationId xmlns:a16="http://schemas.microsoft.com/office/drawing/2014/main" id="{2D881346-F3C5-4AB9-992E-0C221ED7992E}"/>
              </a:ext>
            </a:extLst>
          </p:cNvPr>
          <p:cNvSpPr>
            <a:spLocks noGrp="1"/>
          </p:cNvSpPr>
          <p:nvPr/>
        </p:nvSpPr>
        <p:spPr>
          <a:xfrm>
            <a:off x="2194560" y="63733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3" name="TextBox 5032">
            <a:extLst>
              <a:ext uri="{FF2B5EF4-FFF2-40B4-BE49-F238E27FC236}">
                <a16:creationId xmlns:a16="http://schemas.microsoft.com/office/drawing/2014/main" id="{23D4E630-B8AE-41C3-8DFB-A708F7ADF22A}"/>
              </a:ext>
            </a:extLst>
          </p:cNvPr>
          <p:cNvSpPr>
            <a:spLocks noGrp="1"/>
          </p:cNvSpPr>
          <p:nvPr/>
        </p:nvSpPr>
        <p:spPr>
          <a:xfrm>
            <a:off x="9692640" y="5623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sp>
        <p:nvSpPr>
          <p:cNvPr id="5034" name="TextBox 5033">
            <a:extLst>
              <a:ext uri="{FF2B5EF4-FFF2-40B4-BE49-F238E27FC236}">
                <a16:creationId xmlns:a16="http://schemas.microsoft.com/office/drawing/2014/main" id="{5D7A923B-E714-4E1C-8794-14F4661B18F9}"/>
              </a:ext>
            </a:extLst>
          </p:cNvPr>
          <p:cNvSpPr>
            <a:spLocks noGrp="1"/>
          </p:cNvSpPr>
          <p:nvPr/>
        </p:nvSpPr>
        <p:spPr>
          <a:xfrm>
            <a:off x="10744200" y="56235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관계형 데이터베이스</a:t>
            </a:r>
          </a:p>
        </p:txBody>
      </p:sp>
      <p:sp>
        <p:nvSpPr>
          <p:cNvPr id="5035" name="Rectangle 5034">
            <a:extLst>
              <a:ext uri="{FF2B5EF4-FFF2-40B4-BE49-F238E27FC236}">
                <a16:creationId xmlns:a16="http://schemas.microsoft.com/office/drawing/2014/main" id="{0FC688CC-7773-47C4-86AF-A84FEE07273D}"/>
              </a:ext>
            </a:extLst>
          </p:cNvPr>
          <p:cNvSpPr>
            <a:spLocks noGrp="1"/>
          </p:cNvSpPr>
          <p:nvPr/>
        </p:nvSpPr>
        <p:spPr>
          <a:xfrm>
            <a:off x="9692640" y="637336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36" name="TextBox 5035">
            <a:extLst>
              <a:ext uri="{FF2B5EF4-FFF2-40B4-BE49-F238E27FC236}">
                <a16:creationId xmlns:a16="http://schemas.microsoft.com/office/drawing/2014/main" id="{AE3A2696-B522-4DD1-B6E6-6E327E29B141}"/>
              </a:ext>
            </a:extLst>
          </p:cNvPr>
          <p:cNvSpPr>
            <a:spLocks noGrp="1"/>
          </p:cNvSpPr>
          <p:nvPr/>
        </p:nvSpPr>
        <p:spPr>
          <a:xfrm>
            <a:off x="2194560" y="70408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07</a:t>
            </a:r>
          </a:p>
        </p:txBody>
      </p:sp>
      <p:sp>
        <p:nvSpPr>
          <p:cNvPr id="5037" name="TextBox 5036">
            <a:extLst>
              <a:ext uri="{FF2B5EF4-FFF2-40B4-BE49-F238E27FC236}">
                <a16:creationId xmlns:a16="http://schemas.microsoft.com/office/drawing/2014/main" id="{E69B6571-2305-439C-B35F-D3D387F7AF3E}"/>
              </a:ext>
            </a:extLst>
          </p:cNvPr>
          <p:cNvSpPr>
            <a:spLocks noGrp="1"/>
          </p:cNvSpPr>
          <p:nvPr/>
        </p:nvSpPr>
        <p:spPr>
          <a:xfrm>
            <a:off x="3246120" y="704088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비기능 요구사항</a:t>
            </a:r>
          </a:p>
        </p:txBody>
      </p:sp>
      <p:sp>
        <p:nvSpPr>
          <p:cNvPr id="5038" name="Rectangle 5037">
            <a:extLst>
              <a:ext uri="{FF2B5EF4-FFF2-40B4-BE49-F238E27FC236}">
                <a16:creationId xmlns:a16="http://schemas.microsoft.com/office/drawing/2014/main" id="{CB46E9B7-A10E-401F-B788-1F5949E675E4}"/>
              </a:ext>
            </a:extLst>
          </p:cNvPr>
          <p:cNvSpPr>
            <a:spLocks noGrp="1"/>
          </p:cNvSpPr>
          <p:nvPr/>
        </p:nvSpPr>
        <p:spPr>
          <a:xfrm>
            <a:off x="2194560" y="779068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401" name="TextBox 5035 (08)"/>
          <p:cNvSpPr>
            <a:spLocks noGrp="1"/>
          </p:cNvSpPr>
          <p:nvPr/>
        </p:nvSpPr>
        <p:spPr>
          <a:xfrm>
            <a:off x="9692640" y="70408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400" b="0">
                <a:solidFill>
                  <a:srgbClr val="FAA95A"/>
                </a:solidFill>
                <a:latin typeface="Pretendard Bold"/>
                <a:ea typeface="Pretendard Bold"/>
                <a:cs typeface="Pretendard Bold"/>
              </a:rPr>
              <a:t>08</a:t>
            </a:r>
          </a:p>
        </p:txBody>
      </p:sp>
      <p:sp>
        <p:nvSpPr>
          <p:cNvPr id="9402" name="TextBox 5036 (08)"/>
          <p:cNvSpPr>
            <a:spLocks noGrp="1"/>
          </p:cNvSpPr>
          <p:nvPr/>
        </p:nvSpPr>
        <p:spPr>
          <a:xfrm>
            <a:off x="10744200" y="704088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요구사항 추적표</a:t>
            </a:r>
          </a:p>
        </p:txBody>
      </p:sp>
      <p:sp>
        <p:nvSpPr>
          <p:cNvPr id="9403" name="Rectangle 5037 (08)"/>
          <p:cNvSpPr>
            <a:spLocks noGrp="1"/>
          </p:cNvSpPr>
          <p:nvPr/>
        </p:nvSpPr>
        <p:spPr>
          <a:xfrm>
            <a:off x="9692640" y="7790688"/>
            <a:ext cx="6675120" cy="18288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76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주요 수정·보완 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526" name="Cap T1"/>
          <p:cNvSpPr txBox="1"/>
          <p:nvPr/>
        </p:nvSpPr>
        <p:spPr>
          <a:xfrm>
            <a:off x="822960" y="1792224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4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1. 교수 피드백 및 주요 수정·보완 사항</a:t>
            </a:r>
            <a:endParaRPr lang="ko-KR" sz="1400"/>
          </a:p>
        </p:txBody>
      </p:sp>
      <p:graphicFrame>
        <p:nvGraphicFramePr>
          <p:cNvPr id="5527" name="Table Fix1"/>
          <p:cNvGraphicFramePr>
            <a:graphicFrameLocks noGrp="1"/>
          </p:cNvGraphicFramePr>
          <p:nvPr/>
        </p:nvGraphicFramePr>
        <p:xfrm>
          <a:off x="822960" y="2103120"/>
          <a:ext cx="1664208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교수 피드백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기존안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수정·보완 내용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반영 위치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IoU 0.5는 매우 낮은 수치이며, 확산 예측 평가에 IoU 외 지표를 한두 가지 보완해야 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IoU ≥ 0.50 단일 지표, 근거 없이 정한 잠정 목표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국립산림과학원 설명서 표 10의 5종(IoU·정밀도·재현율·F1·F2)으로 확대, 미탐지를 중시하는 F2를 핵심 지표로 지정</a:t>
                      </a:r>
                      <a:endParaRPr lang="ko-KR" sz="1100"/>
                    </a:p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하한을 </a:t>
                      </a: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국립산림과학원 과정 기반 모형 성능(설명서 표 11)으로 설정: IoU ≥ 0.582, 정밀도 ≥ 0.599, 재현율 ≥ 0.956, F1 ≥ 0.699, F2 ≥ 0.805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103쪽, 9·102·107쪽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 Recall@5 0.8도 낮은 편이며, 실험 결과로 목표치를 갱신해야 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 Recall@5 ≥ 0.80, 제안 충실도 ≥ 0.90, 답변 관련성 ≥ 0.80 (근거 없는 잠정 목표)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성능을 RAGAS 4종(근거 충실도·질의 관련도·근거 순위 정밀도@K·필요 근거 확보율@K)으로 재정의</a:t>
                      </a:r>
                      <a:endParaRPr lang="ko-KR" sz="1100"/>
                    </a:p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 = 유사 RAG 연구 대표값의 하위 사분위(0.79·0.82·0.82·0.80), K는 3·5·7·10 비교로 선택, 1차 실행 결과로 재확인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104쪽,</a:t>
                      </a:r>
                      <a:endParaRPr lang="ko-KR" sz="1100"/>
                    </a:p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9·42·46·63·102·</a:t>
                      </a:r>
                      <a:endParaRPr lang="ko-KR" sz="1100"/>
                    </a:p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105~107쪽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EXAONE으로 채점하는 방식의 선정 근거가 부족함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「생성기와 분리한 EXAONE 채점 프롬프트로 자동 채점」으로만 기술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매뉴얼을 외부로 보내지 않도록 로컬 EXAONE 4.0 32B로 RAGAS를 채점하고, 로컬 모델 채점 선례를 근거로 제시</a:t>
                      </a:r>
                      <a:endParaRPr lang="ko-KR" sz="1100"/>
                    </a:p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자기 채점 편향은 한계로 밝히고, 채점 실패율·95% 신뢰구간을 함께 보고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104·107쪽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유스케이스·기능·비기능 요구사항과 검증 방법을 잇는 요구사항 추적 매트릭스를 갖추는 것이 바람직함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추적표 없음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>
                        <a:buFont typeface="Arial"/>
                        <a:buChar char="•"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「08. 요구사항 추적표」 신설: 기능 32개·비기능 23개를 유스케이스·구현 모듈·데이터·검증·테스트 결과·상태와 연결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108~115쪽, 목차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28" name="Cap T2"/>
          <p:cNvSpPr txBox="1"/>
          <p:nvPr/>
        </p:nvSpPr>
        <p:spPr>
          <a:xfrm>
            <a:off x="822960" y="4480560"/>
            <a:ext cx="16642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4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2. 교수 피드백 외 및 추가 주요 수정·보완 사항</a:t>
            </a:r>
            <a:endParaRPr lang="ko-KR" sz="1400"/>
          </a:p>
        </p:txBody>
      </p:sp>
      <p:graphicFrame>
        <p:nvGraphicFramePr>
          <p:cNvPr id="5529" name="Table Fix2"/>
          <p:cNvGraphicFramePr>
            <a:graphicFrameLocks noGrp="1"/>
          </p:cNvGraphicFramePr>
          <p:nvPr/>
        </p:nvGraphicFramePr>
        <p:xfrm>
          <a:off x="822960" y="4791456"/>
          <a:ext cx="1664208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"/>
                <a:gridCol w="1234440"/>
                <a:gridCol w="4526280"/>
                <a:gridCol w="2834640"/>
                <a:gridCol w="576072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수정 사유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기존안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수정·보완 내용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반영 위치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위험도의 정의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Hub 1~5 위험도는 LLM 학습용 중간 점수로, 국가 체계와 연결·검증되지 않음(산불 101건 분석: 대응단계와 상관 0.37)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지점 조건을 보는 「조건위험도」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해당 산불의 위험 정도를 나타내는 독립 지표로 정의, 산불위험지수·대응단계 등에 매핑하지 않음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12·18·24쪽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척도·표시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0~100 변환은 「위험도 0」·산불위험지수와의 혼동을 낳고, R이 2.25~3.20에 몰려 등급 이름은 대형산불도 「보통」으로 보이게 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 × (가중평균 − 1)로 0~100 변환, 등급 4개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R(1.00~5.00) 숫자와 4축 요인 점수만 표시, 등급 이름 없음, 종료 산불은 「종료」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12·24·43·54·72·106쪽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 변수 25 → 23개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경사도_down은 CSV 구간이 겹치고, 도로 접근성은 숫자 기준이 없어 등급을 정할 수 없음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CSV 25개 변수(기상 0.35·지형 0.30·연료 0.25·인프라 0.10)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두 변수를 빼고 가중치 합 0.94로 재조정(0.372·0.287·0.266·0.074)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54·106쪽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 범위·시점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 p.75상 화선 도달 5시간 이내가 전 주민 즉시 대피 기준임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「위험도」를 열 때 발화 지점 기준 계산, 산불별 최대 위험도 저장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P5(5시간 누적 예측 범위) 기준 R 1개를 계산해 새 값으로 교체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9·11·17·18·24·25·41·</a:t>
                      </a:r>
                      <a:endParaRPr lang="ko-KR" sz="1100"/>
                    </a:p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43·62·65~68·70·72쪽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인프라·사회 변수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Hub 인구는 발화지 읍면동 전체의 고정값이라 예측 범위를 반영하지 못함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Hub 인프라 값(인구·취약계층 수) 사용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P5와 겹친 SGIS 인구(65세 이상 + 0~14세)를 면적 비율로 합산, 소방서 거리는 예측마다 측정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24·43·105·106쪽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폴리곤과 여러 격자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화선·예측 범위가 여러 격자에 걸쳐 변수 값을 하나로 정할 수 없음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지점 한 격자의 값 사용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겹침 면적 비율로 가중(범주·각도는 등급으로 바꾼 뒤 평균, 인원은 합산)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24·106쪽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동시다발 산불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산불마다 판단이 필요하고, 범위가 겹친 산불을 따로 계산하면 겹친 구역 인원을 두 번 셈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처리 규칙 없음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산불마다 R 1개, P5가 겹치면 동일 산불로 보고 합집합 폴리곤으로 계산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18·24·43·54쪽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생성형 AI 표기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다이어그램을 생성형 AI로 그렸으나 표기가 없었음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표기 없음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그림 아래에 생성형 AI 활용 문구 추가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17쪽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6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참고문헌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인용·출처가 쪽마다 흩어져 있어 한곳에서 확인하기 어려웠음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참고문헌 쪽 없음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법령·매뉴얼·통계·데이터·모델·논문 42건을 감사합니다 앞 2쪽에 모아 정리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116·117쪽</a:t>
                      </a:r>
                      <a:endParaRPr lang="ko-KR" sz="1100"/>
                    </a:p>
                  </a:txBody>
                  <a:tcPr marL="64008" marR="6400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1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2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프로젝트 설명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024" name="Lead"/>
          <p:cNvSpPr txBox="1"/>
          <p:nvPr/>
        </p:nvSpPr>
        <p:spPr>
          <a:xfrm>
            <a:off x="822960" y="2487168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 발생 직후부터 진화·대피 판단이 이어지는 8시간 안팎의 대응 과정에서,</a:t>
            </a:r>
          </a:p>
          <a:p>
            <a:pPr algn="ctr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산불현장 통합지휘권자(시장·군수·구청장)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에게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판단 항목별 대응 제안서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를 </a:t>
            </a:r>
            <a:r>
              <a:rPr lang="ko-KR" altLang="en-US" sz="19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표준매뉴얼 근거</a:t>
            </a:r>
            <a:r>
              <a:rPr lang="ko-KR" altLang="en-US" sz="190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 함께 제공하는 웹 대시보드입니다.</a:t>
            </a:r>
          </a:p>
        </p:txBody>
      </p:sp>
      <p:sp>
        <p:nvSpPr>
          <p:cNvPr id="5025" name="Tech card 1"/>
          <p:cNvSpPr/>
          <p:nvPr/>
        </p:nvSpPr>
        <p:spPr>
          <a:xfrm>
            <a:off x="86868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116128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7" name="Picture 5026" descr="i39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884" y="4101084"/>
            <a:ext cx="393192" cy="393192"/>
          </a:xfrm>
          <a:prstGeom prst="rect">
            <a:avLst/>
          </a:prstGeom>
        </p:spPr>
      </p:pic>
      <p:sp>
        <p:nvSpPr>
          <p:cNvPr id="5028" name="TextBox 5027"/>
          <p:cNvSpPr txBox="1"/>
          <p:nvPr/>
        </p:nvSpPr>
        <p:spPr>
          <a:xfrm>
            <a:off x="211226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29" name="TextBox 5028"/>
          <p:cNvSpPr txBox="1"/>
          <p:nvPr/>
        </p:nvSpPr>
        <p:spPr>
          <a:xfrm>
            <a:off x="211226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물리 엔진</a:t>
            </a:r>
          </a:p>
        </p:txBody>
      </p:sp>
      <p:sp>
        <p:nvSpPr>
          <p:cNvPr id="5030" name="TextBox 5029"/>
          <p:cNvSpPr txBox="1"/>
          <p:nvPr/>
        </p:nvSpPr>
        <p:spPr>
          <a:xfrm>
            <a:off x="211226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</p:txBody>
      </p:sp>
      <p:sp>
        <p:nvSpPr>
          <p:cNvPr id="5031" name="TextBox 5030"/>
          <p:cNvSpPr txBox="1"/>
          <p:nvPr/>
        </p:nvSpPr>
        <p:spPr>
          <a:xfrm>
            <a:off x="119786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1시간 간격으로 8시간까지 확산 범위를 산출</a:t>
            </a:r>
          </a:p>
        </p:txBody>
      </p:sp>
      <p:sp>
        <p:nvSpPr>
          <p:cNvPr id="5032" name="Chevron 5031"/>
          <p:cNvSpPr/>
          <p:nvPr/>
        </p:nvSpPr>
        <p:spPr>
          <a:xfrm>
            <a:off x="493776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3" name="Tech card 2"/>
          <p:cNvSpPr/>
          <p:nvPr/>
        </p:nvSpPr>
        <p:spPr>
          <a:xfrm>
            <a:off x="525780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555040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5" name="Picture 5034" descr="i41_363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7004" y="4101084"/>
            <a:ext cx="393192" cy="393192"/>
          </a:xfrm>
          <a:prstGeom prst="rect">
            <a:avLst/>
          </a:prstGeom>
        </p:spPr>
      </p:pic>
      <p:sp>
        <p:nvSpPr>
          <p:cNvPr id="5036" name="TextBox 5035"/>
          <p:cNvSpPr txBox="1"/>
          <p:nvPr/>
        </p:nvSpPr>
        <p:spPr>
          <a:xfrm>
            <a:off x="650138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판정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650138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650138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Rule-Based</a:t>
            </a:r>
          </a:p>
        </p:txBody>
      </p:sp>
      <p:sp>
        <p:nvSpPr>
          <p:cNvPr id="5039" name="TextBox 5038"/>
          <p:cNvSpPr txBox="1"/>
          <p:nvPr/>
        </p:nvSpPr>
        <p:spPr>
          <a:xfrm>
            <a:off x="558698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 문서에 경계값·수치가 있는 값만 판정(대응단계·위험구역 등)</a:t>
            </a:r>
          </a:p>
        </p:txBody>
      </p:sp>
      <p:sp>
        <p:nvSpPr>
          <p:cNvPr id="5040" name="Chevron 5039"/>
          <p:cNvSpPr/>
          <p:nvPr/>
        </p:nvSpPr>
        <p:spPr>
          <a:xfrm>
            <a:off x="932688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1" name="Tech card 3"/>
          <p:cNvSpPr/>
          <p:nvPr/>
        </p:nvSpPr>
        <p:spPr>
          <a:xfrm>
            <a:off x="9646920" y="3611880"/>
            <a:ext cx="393192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Oval 5041"/>
          <p:cNvSpPr/>
          <p:nvPr/>
        </p:nvSpPr>
        <p:spPr>
          <a:xfrm>
            <a:off x="9939528" y="3904488"/>
            <a:ext cx="786384" cy="7863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3" name="Picture 50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2532" y="4077492"/>
            <a:ext cx="440375" cy="440375"/>
          </a:xfrm>
          <a:prstGeom prst="rect">
            <a:avLst/>
          </a:prstGeom>
        </p:spPr>
      </p:pic>
      <p:sp>
        <p:nvSpPr>
          <p:cNvPr id="5044" name="TextBox 5043"/>
          <p:cNvSpPr txBox="1"/>
          <p:nvPr/>
        </p:nvSpPr>
        <p:spPr>
          <a:xfrm>
            <a:off x="10890504" y="38770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제안서·답변 작성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10890504" y="4114800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LLM 에이전트 2개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890504" y="45262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EXAONE 4.0 32B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976104" y="5029200"/>
            <a:ext cx="3273552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 값과 검색 근거로 제안을 판단·작성, 조항 인용</a:t>
            </a:r>
          </a:p>
        </p:txBody>
      </p:sp>
      <p:sp>
        <p:nvSpPr>
          <p:cNvPr id="5048" name="Chevron 5047"/>
          <p:cNvSpPr/>
          <p:nvPr/>
        </p:nvSpPr>
        <p:spPr>
          <a:xfrm>
            <a:off x="13716000" y="4636008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9" name="Output A"/>
          <p:cNvSpPr/>
          <p:nvPr/>
        </p:nvSpPr>
        <p:spPr>
          <a:xfrm>
            <a:off x="14036040" y="361188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Rounded Rectangle 5049"/>
          <p:cNvSpPr/>
          <p:nvPr/>
        </p:nvSpPr>
        <p:spPr>
          <a:xfrm>
            <a:off x="14292072" y="381304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A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5316200" y="378561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대응 제안서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4292072" y="428853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</p:txBody>
      </p:sp>
      <p:sp>
        <p:nvSpPr>
          <p:cNvPr id="5053" name="Output B"/>
          <p:cNvSpPr/>
          <p:nvPr/>
        </p:nvSpPr>
        <p:spPr>
          <a:xfrm>
            <a:off x="14036040" y="4892040"/>
            <a:ext cx="3383280" cy="1097280"/>
          </a:xfrm>
          <a:prstGeom prst="roundRect">
            <a:avLst>
              <a:gd name="adj" fmla="val 150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4" name="Rounded Rectangle 5053"/>
          <p:cNvSpPr/>
          <p:nvPr/>
        </p:nvSpPr>
        <p:spPr>
          <a:xfrm>
            <a:off x="14292072" y="5093208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출력 B</a:t>
            </a:r>
          </a:p>
        </p:txBody>
      </p:sp>
      <p:sp>
        <p:nvSpPr>
          <p:cNvPr id="5055" name="TextBox 5054"/>
          <p:cNvSpPr txBox="1"/>
          <p:nvPr/>
        </p:nvSpPr>
        <p:spPr>
          <a:xfrm>
            <a:off x="15316200" y="5065776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 답변</a:t>
            </a:r>
          </a:p>
        </p:txBody>
      </p:sp>
      <p:sp>
        <p:nvSpPr>
          <p:cNvPr id="5056" name="TextBox 5055"/>
          <p:cNvSpPr txBox="1"/>
          <p:nvPr/>
        </p:nvSpPr>
        <p:spPr>
          <a:xfrm>
            <a:off x="14292072" y="5568696"/>
            <a:ext cx="287121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조항을 인용한 질의응답 · 상황 정정</a:t>
            </a:r>
          </a:p>
        </p:txBody>
      </p:sp>
      <p:sp>
        <p:nvSpPr>
          <p:cNvPr id="5057" name="Definition"/>
          <p:cNvSpPr/>
          <p:nvPr/>
        </p:nvSpPr>
        <p:spPr>
          <a:xfrm>
            <a:off x="868680" y="6355080"/>
            <a:ext cx="5212080" cy="2240280"/>
          </a:xfrm>
          <a:prstGeom prst="roundRect">
            <a:avLst>
              <a:gd name="adj" fmla="val 8979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Rounded Rectangle 5057"/>
          <p:cNvSpPr/>
          <p:nvPr/>
        </p:nvSpPr>
        <p:spPr>
          <a:xfrm>
            <a:off x="118872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정의</a:t>
            </a:r>
          </a:p>
        </p:txBody>
      </p:sp>
      <p:sp>
        <p:nvSpPr>
          <p:cNvPr id="5059" name="TextBox 5058"/>
          <p:cNvSpPr txBox="1"/>
          <p:nvPr/>
        </p:nvSpPr>
        <p:spPr>
          <a:xfrm>
            <a:off x="2075688" y="6620256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산불은 법령상 사회재난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188720" y="7251192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재난관리주관기관은 산림청, 현장 통합지휘와 주민대피 명령권자는 시장·군수·구청장</a:t>
            </a:r>
          </a:p>
        </p:txBody>
      </p:sp>
      <p:sp>
        <p:nvSpPr>
          <p:cNvPr id="5061" name="TextBox 5060"/>
          <p:cNvSpPr txBox="1"/>
          <p:nvPr/>
        </p:nvSpPr>
        <p:spPr>
          <a:xfrm>
            <a:off x="1188720" y="81381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>
                <a:solidFill>
                  <a:srgbClr val="A3A8B8"/>
                </a:solidFill>
                <a:latin typeface="210 OmniGothic 030"/>
                <a:ea typeface="210 OmniGothic 030"/>
                <a:cs typeface="210 OmniGothic 030"/>
              </a:rPr>
              <a:t>재난안전법 시행령 별표 1의3 · 산림재난방지법 제34조</a:t>
            </a:r>
          </a:p>
        </p:txBody>
      </p:sp>
      <p:sp>
        <p:nvSpPr>
          <p:cNvPr id="5062" name="Scope"/>
          <p:cNvSpPr/>
          <p:nvPr/>
        </p:nvSpPr>
        <p:spPr>
          <a:xfrm>
            <a:off x="6309360" y="6355080"/>
            <a:ext cx="1110996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3" name="Rounded Rectangle 5062"/>
          <p:cNvSpPr/>
          <p:nvPr/>
        </p:nvSpPr>
        <p:spPr>
          <a:xfrm>
            <a:off x="6629400" y="6647688"/>
            <a:ext cx="731520" cy="347472"/>
          </a:xfrm>
          <a:prstGeom prst="roundRect">
            <a:avLst>
              <a:gd name="adj" fmla="val 23684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범위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7516368" y="6620256"/>
            <a:ext cx="96469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본 과제가 다루는 산불</a:t>
            </a:r>
          </a:p>
        </p:txBody>
      </p:sp>
      <p:sp>
        <p:nvSpPr>
          <p:cNvPr id="5065" name="Rounded Rectangle 5064"/>
          <p:cNvSpPr/>
          <p:nvPr/>
        </p:nvSpPr>
        <p:spPr>
          <a:xfrm>
            <a:off x="66294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시간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79278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초기대응 ~ 확산대응 1·2단계</a:t>
            </a:r>
          </a:p>
        </p:txBody>
      </p:sp>
      <p:sp>
        <p:nvSpPr>
          <p:cNvPr id="5067" name="Rounded Rectangle 5066"/>
          <p:cNvSpPr/>
          <p:nvPr/>
        </p:nvSpPr>
        <p:spPr>
          <a:xfrm>
            <a:off x="12001500" y="7342632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지역</a:t>
            </a:r>
          </a:p>
        </p:txBody>
      </p:sp>
      <p:sp>
        <p:nvSpPr>
          <p:cNvPr id="5068" name="TextBox 5067"/>
          <p:cNvSpPr txBox="1"/>
          <p:nvPr/>
        </p:nvSpPr>
        <p:spPr>
          <a:xfrm>
            <a:off x="13299948" y="7287768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경상북도 우선 · 시연은 2025년 의성 산불</a:t>
            </a:r>
          </a:p>
        </p:txBody>
      </p:sp>
      <p:sp>
        <p:nvSpPr>
          <p:cNvPr id="5069" name="Rounded Rectangle 5068"/>
          <p:cNvSpPr/>
          <p:nvPr/>
        </p:nvSpPr>
        <p:spPr>
          <a:xfrm>
            <a:off x="66294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공간</a:t>
            </a:r>
          </a:p>
        </p:txBody>
      </p:sp>
      <p:sp>
        <p:nvSpPr>
          <p:cNvPr id="5070" name="TextBox 5069"/>
          <p:cNvSpPr txBox="1"/>
          <p:nvPr/>
        </p:nvSpPr>
        <p:spPr>
          <a:xfrm>
            <a:off x="79278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8시간 도달권 안의 마을·시설·도로·대피소</a:t>
            </a:r>
          </a:p>
        </p:txBody>
      </p:sp>
      <p:sp>
        <p:nvSpPr>
          <p:cNvPr id="5071" name="Rounded Rectangle 5070"/>
          <p:cNvSpPr/>
          <p:nvPr/>
        </p:nvSpPr>
        <p:spPr>
          <a:xfrm>
            <a:off x="12001500" y="7946136"/>
            <a:ext cx="1143000" cy="365760"/>
          </a:xfrm>
          <a:prstGeom prst="roundRect">
            <a:avLst>
              <a:gd name="adj" fmla="val 22499"/>
            </a:avLst>
          </a:prstGeom>
          <a:solidFill>
            <a:srgbClr val="FD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판단 범위</a:t>
            </a:r>
          </a:p>
        </p:txBody>
      </p:sp>
      <p:sp>
        <p:nvSpPr>
          <p:cNvPr id="5072" name="TextBox 5071"/>
          <p:cNvSpPr txBox="1"/>
          <p:nvPr/>
        </p:nvSpPr>
        <p:spPr>
          <a:xfrm>
            <a:off x="13299948" y="7891272"/>
            <a:ext cx="37993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7개 · 대피 7개 판단 항목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2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2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2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2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2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현재 문제점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029" name="TextBox 5028"/>
          <p:cNvSpPr txBox="1"/>
          <p:nvPr/>
        </p:nvSpPr>
        <p:spPr>
          <a:xfrm>
            <a:off x="868680" y="2468880"/>
            <a:ext cx="165506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대형 산불에서는 판단의 속도가 인명 피해를 좌우합니다</a:t>
            </a:r>
          </a:p>
        </p:txBody>
      </p:sp>
      <p:sp>
        <p:nvSpPr>
          <p:cNvPr id="5030" name="Stat 1"/>
          <p:cNvSpPr/>
          <p:nvPr/>
        </p:nvSpPr>
        <p:spPr>
          <a:xfrm>
            <a:off x="86868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1" name="TextBox 5030"/>
          <p:cNvSpPr txBox="1"/>
          <p:nvPr/>
        </p:nvSpPr>
        <p:spPr>
          <a:xfrm>
            <a:off x="119786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사망 30명 · 부상 43명</a:t>
            </a:r>
          </a:p>
        </p:txBody>
      </p:sp>
      <p:sp>
        <p:nvSpPr>
          <p:cNvPr id="5032" name="TextBox 5031"/>
          <p:cNvSpPr txBox="1"/>
          <p:nvPr/>
        </p:nvSpPr>
        <p:spPr>
          <a:xfrm>
            <a:off x="119786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2025년 3월 의성발 영남권 산불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2025.3.29 기준</a:t>
            </a:r>
          </a:p>
        </p:txBody>
      </p:sp>
      <p:sp>
        <p:nvSpPr>
          <p:cNvPr id="5033" name="Stat 2"/>
          <p:cNvSpPr/>
          <p:nvPr/>
        </p:nvSpPr>
        <p:spPr>
          <a:xfrm>
            <a:off x="644652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4" name="TextBox 5033"/>
          <p:cNvSpPr txBox="1"/>
          <p:nvPr/>
        </p:nvSpPr>
        <p:spPr>
          <a:xfrm>
            <a:off x="677570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28명 중 26명</a:t>
            </a:r>
          </a:p>
        </p:txBody>
      </p:sp>
      <p:sp>
        <p:nvSpPr>
          <p:cNvPr id="5035" name="TextBox 5034"/>
          <p:cNvSpPr txBox="1"/>
          <p:nvPr/>
        </p:nvSpPr>
        <p:spPr>
          <a:xfrm>
            <a:off x="677570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사망자 가운데 60대 이상 고령자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2025.3.28 기준</a:t>
            </a:r>
          </a:p>
        </p:txBody>
      </p:sp>
      <p:sp>
        <p:nvSpPr>
          <p:cNvPr id="5036" name="Stat 3"/>
          <p:cNvSpPr/>
          <p:nvPr/>
        </p:nvSpPr>
        <p:spPr>
          <a:xfrm>
            <a:off x="12024360" y="2944368"/>
            <a:ext cx="5394960" cy="1188720"/>
          </a:xfrm>
          <a:prstGeom prst="roundRect">
            <a:avLst>
              <a:gd name="adj" fmla="val 1384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7" name="TextBox 5036"/>
          <p:cNvSpPr txBox="1"/>
          <p:nvPr/>
        </p:nvSpPr>
        <p:spPr>
          <a:xfrm>
            <a:off x="12353544" y="3127248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>
                <a:solidFill>
                  <a:srgbClr val="E8893A"/>
                </a:solidFill>
                <a:latin typeface="Pretendard Bold"/>
                <a:ea typeface="Pretendard Bold"/>
                <a:cs typeface="Pretendard Bold"/>
              </a:rPr>
              <a:t>약 1조 818억 원</a:t>
            </a:r>
          </a:p>
        </p:txBody>
      </p:sp>
      <p:sp>
        <p:nvSpPr>
          <p:cNvPr id="5038" name="TextBox 5037"/>
          <p:cNvSpPr txBox="1"/>
          <p:nvPr/>
        </p:nvSpPr>
        <p:spPr>
          <a:xfrm>
            <a:off x="12353544" y="367588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영남권 산불 재산피해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피해 확정 집계</a:t>
            </a:r>
          </a:p>
        </p:txBody>
      </p:sp>
      <p:sp>
        <p:nvSpPr>
          <p:cNvPr id="5039" name="Problem 1"/>
          <p:cNvSpPr/>
          <p:nvPr/>
        </p:nvSpPr>
        <p:spPr>
          <a:xfrm>
            <a:off x="86868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3444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①</a:t>
            </a:r>
          </a:p>
        </p:txBody>
      </p:sp>
      <p:sp>
        <p:nvSpPr>
          <p:cNvPr id="5041" name="TextBox 5040"/>
          <p:cNvSpPr txBox="1"/>
          <p:nvPr/>
        </p:nvSpPr>
        <p:spPr>
          <a:xfrm>
            <a:off x="258775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기관별로 분산된 자원·상황정보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3444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공중진화와 지상진화, 산림청과 소방청이 따로 움직이는 이원화 체계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예측은 별도 시스템에서 산출되어 대응 판단 반영이 늦어짐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3444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YTN(2025.4.9)</a:t>
            </a:r>
          </a:p>
        </p:txBody>
      </p:sp>
      <p:sp>
        <p:nvSpPr>
          <p:cNvPr id="5044" name="Problem 2"/>
          <p:cNvSpPr/>
          <p:nvPr/>
        </p:nvSpPr>
        <p:spPr>
          <a:xfrm>
            <a:off x="9235440" y="4389120"/>
            <a:ext cx="8183880" cy="2286000"/>
          </a:xfrm>
          <a:prstGeom prst="roundRect">
            <a:avLst>
              <a:gd name="adj" fmla="val 88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9601200" y="47091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문제 ②</a:t>
            </a:r>
          </a:p>
        </p:txBody>
      </p:sp>
      <p:sp>
        <p:nvSpPr>
          <p:cNvPr id="5046" name="TextBox 5045"/>
          <p:cNvSpPr txBox="1"/>
          <p:nvPr/>
        </p:nvSpPr>
        <p:spPr>
          <a:xfrm>
            <a:off x="10954512" y="4690872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3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통합지휘권자의 전문성 한계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9601200" y="5413248"/>
            <a:ext cx="74523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현장 경험이 거의 없는 지자체장에게 지휘권이 주어짐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5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100쪽 넘는 표준매뉴얼에서 맞는 조항을 찾아 적용해야 함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9601200" y="6309360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6B7080"/>
                </a:solidFill>
                <a:latin typeface="210 OmniGothic 030"/>
                <a:ea typeface="210 OmniGothic 030"/>
                <a:cs typeface="210 OmniGothic 030"/>
              </a:rPr>
              <a:t>국회입법조사처 산불대응연구TF(2025.6) · 「산불 재난」 위기관리 표준매뉴얼</a:t>
            </a:r>
          </a:p>
        </p:txBody>
      </p:sp>
      <p:sp>
        <p:nvSpPr>
          <p:cNvPr id="5049" name="TextBox 5048"/>
          <p:cNvSpPr txBox="1"/>
          <p:nvPr/>
        </p:nvSpPr>
        <p:spPr>
          <a:xfrm>
            <a:off x="868680" y="6949440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비어 있는 것은</a:t>
            </a:r>
          </a:p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예측도 규칙도 아닙니다</a:t>
            </a:r>
          </a:p>
        </p:txBody>
      </p:sp>
      <p:sp>
        <p:nvSpPr>
          <p:cNvPr id="5050" name="Rounded Rectangle 5049"/>
          <p:cNvSpPr/>
          <p:nvPr/>
        </p:nvSpPr>
        <p:spPr>
          <a:xfrm>
            <a:off x="356616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1" name="TextBox 5050"/>
          <p:cNvSpPr txBox="1"/>
          <p:nvPr/>
        </p:nvSpPr>
        <p:spPr>
          <a:xfrm>
            <a:off x="384048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</a:t>
            </a:r>
          </a:p>
        </p:txBody>
      </p:sp>
      <p:sp>
        <p:nvSpPr>
          <p:cNvPr id="5052" name="Rounded Rectangle 5051"/>
          <p:cNvSpPr/>
          <p:nvPr/>
        </p:nvSpPr>
        <p:spPr>
          <a:xfrm>
            <a:off x="617220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5053" name="TextBox 5052"/>
          <p:cNvSpPr txBox="1"/>
          <p:nvPr/>
        </p:nvSpPr>
        <p:spPr>
          <a:xfrm>
            <a:off x="384048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산불확산예측시스템 등 국가 시스템</a:t>
            </a:r>
          </a:p>
        </p:txBody>
      </p:sp>
      <p:sp>
        <p:nvSpPr>
          <p:cNvPr id="5054" name="Chevron 5053"/>
          <p:cNvSpPr/>
          <p:nvPr/>
        </p:nvSpPr>
        <p:spPr>
          <a:xfrm>
            <a:off x="732434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5" name="Rounded Rectangle 5054"/>
          <p:cNvSpPr/>
          <p:nvPr/>
        </p:nvSpPr>
        <p:spPr>
          <a:xfrm>
            <a:off x="7589520" y="6949440"/>
            <a:ext cx="3657600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7863840" y="718718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규칙</a:t>
            </a:r>
          </a:p>
        </p:txBody>
      </p:sp>
      <p:sp>
        <p:nvSpPr>
          <p:cNvPr id="5057" name="Rounded Rectangle 5056"/>
          <p:cNvSpPr/>
          <p:nvPr/>
        </p:nvSpPr>
        <p:spPr>
          <a:xfrm>
            <a:off x="10195560" y="7187184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있음</a:t>
            </a:r>
          </a:p>
        </p:txBody>
      </p:sp>
      <p:sp>
        <p:nvSpPr>
          <p:cNvPr id="5058" name="TextBox 5057"/>
          <p:cNvSpPr txBox="1"/>
          <p:nvPr/>
        </p:nvSpPr>
        <p:spPr>
          <a:xfrm>
            <a:off x="7863840" y="76992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산림재난방지법 시행령 · 표준매뉴얼</a:t>
            </a:r>
          </a:p>
        </p:txBody>
      </p:sp>
      <p:sp>
        <p:nvSpPr>
          <p:cNvPr id="5059" name="Chevron 5058"/>
          <p:cNvSpPr/>
          <p:nvPr/>
        </p:nvSpPr>
        <p:spPr>
          <a:xfrm>
            <a:off x="11347704" y="7443216"/>
            <a:ext cx="164592" cy="292608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0" name="Gap"/>
          <p:cNvSpPr/>
          <p:nvPr/>
        </p:nvSpPr>
        <p:spPr>
          <a:xfrm>
            <a:off x="11612880" y="6949440"/>
            <a:ext cx="5806440" cy="1280160"/>
          </a:xfrm>
          <a:prstGeom prst="roundRect">
            <a:avLst>
              <a:gd name="adj" fmla="val 11428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1" name="TextBox 5060"/>
          <p:cNvSpPr txBox="1"/>
          <p:nvPr/>
        </p:nvSpPr>
        <p:spPr>
          <a:xfrm>
            <a:off x="11905488" y="71871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판단 항목별 대응안 + 근거</a:t>
            </a:r>
          </a:p>
        </p:txBody>
      </p:sp>
      <p:sp>
        <p:nvSpPr>
          <p:cNvPr id="5062" name="Rounded Rectangle 5061"/>
          <p:cNvSpPr/>
          <p:nvPr/>
        </p:nvSpPr>
        <p:spPr>
          <a:xfrm>
            <a:off x="15023592" y="7187184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비어 있음 → 본 과제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11905488" y="7699248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「지금 무엇을 결정해야 하는가」를 근거와 함께 제시하는 단계</a:t>
            </a:r>
          </a:p>
        </p:txBody>
      </p:sp>
      <p:sp>
        <p:nvSpPr>
          <p:cNvPr id="5064" name="TextBox 5063"/>
          <p:cNvSpPr txBox="1"/>
          <p:nvPr/>
        </p:nvSpPr>
        <p:spPr>
          <a:xfrm>
            <a:off x="868680" y="8595360"/>
            <a:ext cx="165506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출처: 중앙재난안전대책본부 집계(경향신문 2025.3.29, 매일신문 2025.6.29) · 경상북도 등 지자체 집계(한국경제 2025.3.28)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2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3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기능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034" name="Pillar 01"/>
          <p:cNvSpPr/>
          <p:nvPr/>
        </p:nvSpPr>
        <p:spPr>
          <a:xfrm>
            <a:off x="86868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5" name="Rounded Rectangle 5034"/>
          <p:cNvSpPr/>
          <p:nvPr/>
        </p:nvSpPr>
        <p:spPr>
          <a:xfrm>
            <a:off x="121615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5036" name="TextBox 5035"/>
          <p:cNvSpPr txBox="1"/>
          <p:nvPr/>
        </p:nvSpPr>
        <p:spPr>
          <a:xfrm>
            <a:off x="224028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정보 확인</a:t>
            </a:r>
          </a:p>
        </p:txBody>
      </p:sp>
      <p:sp>
        <p:nvSpPr>
          <p:cNvPr id="5037" name="TextBox 5036"/>
          <p:cNvSpPr txBox="1"/>
          <p:nvPr/>
        </p:nvSpPr>
        <p:spPr>
          <a:xfrm>
            <a:off x="224028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</a:t>
            </a:r>
          </a:p>
        </p:txBody>
      </p:sp>
      <p:sp>
        <p:nvSpPr>
          <p:cNvPr id="5038" name="Oval 5037"/>
          <p:cNvSpPr/>
          <p:nvPr/>
        </p:nvSpPr>
        <p:spPr>
          <a:xfrm>
            <a:off x="413308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9" name="Picture 5038" descr="i37_363A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2944368"/>
            <a:ext cx="365760" cy="365760"/>
          </a:xfrm>
          <a:prstGeom prst="rect">
            <a:avLst/>
          </a:prstGeom>
        </p:spPr>
      </p:pic>
      <p:sp>
        <p:nvSpPr>
          <p:cNvPr id="5040" name="TextBox 5039"/>
          <p:cNvSpPr txBox="1"/>
          <p:nvPr/>
        </p:nvSpPr>
        <p:spPr>
          <a:xfrm>
            <a:off x="121615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화선·확산 예측을 한 지도에 표시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마을·시설·기상·진화자원을 함께 확인</a:t>
            </a:r>
          </a:p>
        </p:txBody>
      </p:sp>
      <p:sp>
        <p:nvSpPr>
          <p:cNvPr id="5041" name="Chevron 5040"/>
          <p:cNvSpPr/>
          <p:nvPr/>
        </p:nvSpPr>
        <p:spPr>
          <a:xfrm>
            <a:off x="532638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Pillar 02"/>
          <p:cNvSpPr/>
          <p:nvPr/>
        </p:nvSpPr>
        <p:spPr>
          <a:xfrm>
            <a:off x="562356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3" name="Rounded Rectangle 5042"/>
          <p:cNvSpPr/>
          <p:nvPr/>
        </p:nvSpPr>
        <p:spPr>
          <a:xfrm>
            <a:off x="597103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5044" name="TextBox 5043"/>
          <p:cNvSpPr txBox="1"/>
          <p:nvPr/>
        </p:nvSpPr>
        <p:spPr>
          <a:xfrm>
            <a:off x="699516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대응안 검토</a:t>
            </a:r>
          </a:p>
        </p:txBody>
      </p:sp>
      <p:sp>
        <p:nvSpPr>
          <p:cNvPr id="5045" name="TextBox 5044"/>
          <p:cNvSpPr txBox="1"/>
          <p:nvPr/>
        </p:nvSpPr>
        <p:spPr>
          <a:xfrm>
            <a:off x="699516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대응 제안</a:t>
            </a:r>
          </a:p>
        </p:txBody>
      </p:sp>
      <p:sp>
        <p:nvSpPr>
          <p:cNvPr id="5046" name="Oval 5045"/>
          <p:cNvSpPr/>
          <p:nvPr/>
        </p:nvSpPr>
        <p:spPr>
          <a:xfrm>
            <a:off x="888796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7" name="Picture 5046" descr="i36_363A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2944368"/>
            <a:ext cx="365760" cy="365760"/>
          </a:xfrm>
          <a:prstGeom prst="rect">
            <a:avLst/>
          </a:prstGeom>
        </p:spPr>
      </p:pic>
      <p:sp>
        <p:nvSpPr>
          <p:cNvPr id="5048" name="TextBox 5047"/>
          <p:cNvSpPr txBox="1"/>
          <p:nvPr/>
        </p:nvSpPr>
        <p:spPr>
          <a:xfrm>
            <a:off x="597103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7 · 대피 7 판단 항목별 대응안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상황이 바뀌면 새 버전 자동 생성</a:t>
            </a:r>
          </a:p>
        </p:txBody>
      </p:sp>
      <p:sp>
        <p:nvSpPr>
          <p:cNvPr id="5049" name="Chevron 5048"/>
          <p:cNvSpPr/>
          <p:nvPr/>
        </p:nvSpPr>
        <p:spPr>
          <a:xfrm>
            <a:off x="1008126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Pillar 03"/>
          <p:cNvSpPr/>
          <p:nvPr/>
        </p:nvSpPr>
        <p:spPr>
          <a:xfrm>
            <a:off x="10378440" y="2487168"/>
            <a:ext cx="4343400" cy="2377440"/>
          </a:xfrm>
          <a:prstGeom prst="roundRect">
            <a:avLst>
              <a:gd name="adj" fmla="val 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1" name="Rounded Rectangle 5050"/>
          <p:cNvSpPr/>
          <p:nvPr/>
        </p:nvSpPr>
        <p:spPr>
          <a:xfrm>
            <a:off x="10725912" y="2852928"/>
            <a:ext cx="822960" cy="502920"/>
          </a:xfrm>
          <a:prstGeom prst="roundRect">
            <a:avLst>
              <a:gd name="adj" fmla="val 18181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50" b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5052" name="TextBox 5051"/>
          <p:cNvSpPr txBox="1"/>
          <p:nvPr/>
        </p:nvSpPr>
        <p:spPr>
          <a:xfrm>
            <a:off x="11750040" y="2770632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근거 확인</a:t>
            </a:r>
          </a:p>
        </p:txBody>
      </p:sp>
      <p:sp>
        <p:nvSpPr>
          <p:cNvPr id="5053" name="TextBox 5052"/>
          <p:cNvSpPr txBox="1"/>
          <p:nvPr/>
        </p:nvSpPr>
        <p:spPr>
          <a:xfrm>
            <a:off x="11750040" y="3017520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 기반 AI</a:t>
            </a:r>
          </a:p>
        </p:txBody>
      </p:sp>
      <p:sp>
        <p:nvSpPr>
          <p:cNvPr id="5054" name="Oval 5053"/>
          <p:cNvSpPr/>
          <p:nvPr/>
        </p:nvSpPr>
        <p:spPr>
          <a:xfrm>
            <a:off x="13642848" y="276148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55" name="Picture 5054" descr="i42_363A5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25728" y="2944368"/>
            <a:ext cx="365760" cy="365760"/>
          </a:xfrm>
          <a:prstGeom prst="rect">
            <a:avLst/>
          </a:prstGeom>
        </p:spPr>
      </p:pic>
      <p:sp>
        <p:nvSpPr>
          <p:cNvPr id="5056" name="TextBox 5055"/>
          <p:cNvSpPr txBox="1"/>
          <p:nvPr/>
        </p:nvSpPr>
        <p:spPr>
          <a:xfrm>
            <a:off x="10725912" y="3767328"/>
            <a:ext cx="3721608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문장마다 문서·쪽수·조항 근거 부기</a:t>
            </a:r>
          </a:p>
          <a:p>
            <a:pPr marL="201168" indent="-201168" algn="l" latinLnBrk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AA95A"/>
              </a:buClr>
              <a:buFont typeface="Arial"/>
              <a:buChar char="•"/>
            </a:pPr>
            <a:r>
              <a:rPr lang="ko-KR" altLang="en-US" sz="16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질의응답 · 대화 기반 상황 정정</a:t>
            </a:r>
          </a:p>
        </p:txBody>
      </p:sp>
      <p:sp>
        <p:nvSpPr>
          <p:cNvPr id="5057" name="Chevron 5056"/>
          <p:cNvSpPr/>
          <p:nvPr/>
        </p:nvSpPr>
        <p:spPr>
          <a:xfrm>
            <a:off x="14836140" y="3511296"/>
            <a:ext cx="182880" cy="329184"/>
          </a:xfrm>
          <a:prstGeom prst="chevron">
            <a:avLst>
              <a:gd name="adj" fmla="val 6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8" name="Final decision"/>
          <p:cNvSpPr/>
          <p:nvPr/>
        </p:nvSpPr>
        <p:spPr>
          <a:xfrm>
            <a:off x="15133320" y="2487168"/>
            <a:ext cx="2286000" cy="2377440"/>
          </a:xfrm>
          <a:prstGeom prst="roundRect">
            <a:avLst>
              <a:gd name="adj" fmla="val 8800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Oval 5058"/>
          <p:cNvSpPr/>
          <p:nvPr/>
        </p:nvSpPr>
        <p:spPr>
          <a:xfrm>
            <a:off x="15883128" y="2852928"/>
            <a:ext cx="786384" cy="786384"/>
          </a:xfrm>
          <a:prstGeom prst="ellipse">
            <a:avLst/>
          </a:prstGeom>
          <a:solidFill>
            <a:srgbClr val="4A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60" name="Picture 5059" descr="i34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79724" y="3049524"/>
            <a:ext cx="393192" cy="393192"/>
          </a:xfrm>
          <a:prstGeom prst="rect">
            <a:avLst/>
          </a:prstGeom>
        </p:spPr>
      </p:pic>
      <p:sp>
        <p:nvSpPr>
          <p:cNvPr id="5061" name="TextBox 5060"/>
          <p:cNvSpPr txBox="1"/>
          <p:nvPr/>
        </p:nvSpPr>
        <p:spPr>
          <a:xfrm>
            <a:off x="15316200" y="37307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최종 판단</a:t>
            </a:r>
          </a:p>
        </p:txBody>
      </p:sp>
      <p:sp>
        <p:nvSpPr>
          <p:cNvPr id="5062" name="TextBox 5061"/>
          <p:cNvSpPr txBox="1"/>
          <p:nvPr/>
        </p:nvSpPr>
        <p:spPr>
          <a:xfrm>
            <a:off x="15316200" y="399592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15316200" y="4407408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E6E9F1"/>
                </a:solidFill>
                <a:latin typeface="210 OmniGothic 040"/>
                <a:ea typeface="210 OmniGothic 040"/>
                <a:cs typeface="210 OmniGothic 040"/>
              </a:rPr>
              <a:t>AI는 초안, 결정은 사람</a:t>
            </a:r>
          </a:p>
        </p:txBody>
      </p:sp>
      <p:sp>
        <p:nvSpPr>
          <p:cNvPr id="5064" name="Roles strip"/>
          <p:cNvSpPr/>
          <p:nvPr/>
        </p:nvSpPr>
        <p:spPr>
          <a:xfrm>
            <a:off x="868680" y="5138928"/>
            <a:ext cx="16550640" cy="566928"/>
          </a:xfrm>
          <a:prstGeom prst="roundRect">
            <a:avLst>
              <a:gd name="adj" fmla="val 22580"/>
            </a:avLst>
          </a:prstGeom>
          <a:solidFill>
            <a:srgbClr val="FFFFFF"/>
          </a:solidFill>
          <a:ln w="15875">
            <a:solidFill>
              <a:srgbClr val="D9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Rounded Rectangle 5064"/>
          <p:cNvSpPr/>
          <p:nvPr/>
        </p:nvSpPr>
        <p:spPr>
          <a:xfrm>
            <a:off x="996696" y="5248656"/>
            <a:ext cx="1600200" cy="347472"/>
          </a:xfrm>
          <a:prstGeom prst="roundRect">
            <a:avLst>
              <a:gd name="adj" fmla="val 23684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권한별 화면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2880360" y="5138928"/>
            <a:ext cx="143560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산불 정보 입력</a:t>
            </a:r>
            <a:r>
              <a:rPr lang="ko-KR" altLang="en-US" sz="1450" b="0">
                <a:solidFill>
                  <a:srgbClr val="A3A8B8"/>
                </a:solidFill>
                <a:latin typeface="210 OmniGothic 040"/>
                <a:ea typeface="210 OmniGothic 040"/>
                <a:cs typeface="210 OmniGothic 040"/>
              </a:rPr>
              <a:t>      |      </a:t>
            </a: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진화자원 데이터 · 계정 관리</a:t>
            </a:r>
            <a:r>
              <a:rPr lang="ko-KR" altLang="en-US" sz="1450" b="0">
                <a:solidFill>
                  <a:srgbClr val="A3A8B8"/>
                </a:solidFill>
                <a:latin typeface="210 OmniGothic 040"/>
                <a:ea typeface="210 OmniGothic 040"/>
                <a:cs typeface="210 OmniGothic 040"/>
              </a:rPr>
              <a:t>      |      </a:t>
            </a:r>
            <a:r>
              <a:rPr lang="ko-KR" altLang="en-US"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열람자</a:t>
            </a:r>
            <a:r>
              <a:rPr lang="ko-KR" altLang="en-US" sz="14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 읽기 전용 열람</a:t>
            </a:r>
          </a:p>
        </p:txBody>
      </p:sp>
      <p:graphicFrame>
        <p:nvGraphicFramePr>
          <p:cNvPr id="5067" name="Differentiation"/>
          <p:cNvGraphicFramePr>
            <a:graphicFrameLocks noGrp="1"/>
          </p:cNvGraphicFramePr>
          <p:nvPr/>
        </p:nvGraphicFramePr>
        <p:xfrm>
          <a:off x="868680" y="5998464"/>
          <a:ext cx="16550640" cy="2697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차별점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기존 국가 시스템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범용 LLM 질의응답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통합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시스템·기관별 분산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(예측·시설·진화자원)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생성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발행 (수작업)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자동 · 근거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 · 규칙 판정 + 근거 인용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추적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불가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문서·쪽수·조항 + 요약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환각 방지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표기 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없음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값은 규칙 엔진이 산출 · 근거 없는 내용은 미출력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반영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다음 회차 발행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대화 문맥 한정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 시 새 버전 생성</a:t>
                      </a:r>
                    </a:p>
                  </a:txBody>
                  <a:tcPr marL="274320" marR="109728" marT="36576" marB="3657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3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3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3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3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프로젝트 개요</a:t>
            </a:r>
          </a:p>
        </p:txBody>
      </p:sp>
      <p:sp>
        <p:nvSpPr>
          <p:cNvPr id="503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목표 및 기대 효과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039" name="목표 ①"/>
          <p:cNvSpPr/>
          <p:nvPr/>
        </p:nvSpPr>
        <p:spPr>
          <a:xfrm>
            <a:off x="868680" y="248716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0" name="Rounded Rectangle 5039"/>
          <p:cNvSpPr/>
          <p:nvPr/>
        </p:nvSpPr>
        <p:spPr>
          <a:xfrm>
            <a:off x="1216152" y="280720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①</a:t>
            </a:r>
          </a:p>
        </p:txBody>
      </p:sp>
      <p:sp>
        <p:nvSpPr>
          <p:cNvPr id="5041" name="Rounded Rectangle 5040"/>
          <p:cNvSpPr/>
          <p:nvPr/>
        </p:nvSpPr>
        <p:spPr>
          <a:xfrm>
            <a:off x="4453128" y="287121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① 대응</a:t>
            </a:r>
          </a:p>
        </p:txBody>
      </p:sp>
      <p:sp>
        <p:nvSpPr>
          <p:cNvPr id="5042" name="TextBox 5041"/>
          <p:cNvSpPr txBox="1"/>
          <p:nvPr/>
        </p:nvSpPr>
        <p:spPr>
          <a:xfrm>
            <a:off x="1216152" y="341985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 인식</a:t>
            </a:r>
          </a:p>
        </p:txBody>
      </p:sp>
      <p:sp>
        <p:nvSpPr>
          <p:cNvPr id="5043" name="TextBox 5042"/>
          <p:cNvSpPr txBox="1"/>
          <p:nvPr/>
        </p:nvSpPr>
        <p:spPr>
          <a:xfrm>
            <a:off x="1216152" y="393192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위치·확산 예측·주변 시설·기상·진화자원을 하나의 지도에서 확인</a:t>
            </a:r>
          </a:p>
        </p:txBody>
      </p:sp>
      <p:sp>
        <p:nvSpPr>
          <p:cNvPr id="5044" name="목표 ②"/>
          <p:cNvSpPr/>
          <p:nvPr/>
        </p:nvSpPr>
        <p:spPr>
          <a:xfrm>
            <a:off x="868680" y="4910328"/>
            <a:ext cx="5303520" cy="2240280"/>
          </a:xfrm>
          <a:prstGeom prst="roundRect">
            <a:avLst>
              <a:gd name="adj" fmla="val 8979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5" name="Rounded Rectangle 5044"/>
          <p:cNvSpPr/>
          <p:nvPr/>
        </p:nvSpPr>
        <p:spPr>
          <a:xfrm>
            <a:off x="1216152" y="523036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목표 ②</a:t>
            </a:r>
          </a:p>
        </p:txBody>
      </p:sp>
      <p:sp>
        <p:nvSpPr>
          <p:cNvPr id="5046" name="Rounded Rectangle 5045"/>
          <p:cNvSpPr/>
          <p:nvPr/>
        </p:nvSpPr>
        <p:spPr>
          <a:xfrm>
            <a:off x="4453128" y="5294376"/>
            <a:ext cx="13716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문제 ② 대응</a:t>
            </a:r>
          </a:p>
        </p:txBody>
      </p:sp>
      <p:sp>
        <p:nvSpPr>
          <p:cNvPr id="5047" name="TextBox 5046"/>
          <p:cNvSpPr txBox="1"/>
          <p:nvPr/>
        </p:nvSpPr>
        <p:spPr>
          <a:xfrm>
            <a:off x="1216152" y="5843016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전문적 의사결정 지원</a:t>
            </a:r>
          </a:p>
        </p:txBody>
      </p:sp>
      <p:sp>
        <p:nvSpPr>
          <p:cNvPr id="5048" name="TextBox 5047"/>
          <p:cNvSpPr txBox="1"/>
          <p:nvPr/>
        </p:nvSpPr>
        <p:spPr>
          <a:xfrm>
            <a:off x="1216152" y="6355080"/>
            <a:ext cx="460857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예측과 현재 상황을 표준매뉴얼 판단 항목에 대입해 대응안을 근거와 함께 제안</a:t>
            </a:r>
          </a:p>
        </p:txBody>
      </p:sp>
      <p:sp>
        <p:nvSpPr>
          <p:cNvPr id="5049" name="Principle"/>
          <p:cNvSpPr/>
          <p:nvPr/>
        </p:nvSpPr>
        <p:spPr>
          <a:xfrm>
            <a:off x="868680" y="7333488"/>
            <a:ext cx="5303520" cy="1417320"/>
          </a:xfrm>
          <a:prstGeom prst="roundRect">
            <a:avLst>
              <a:gd name="adj" fmla="val 14193"/>
            </a:avLst>
          </a:prstGeom>
          <a:solidFill>
            <a:srgbClr val="36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0" name="TextBox 5049"/>
          <p:cNvSpPr txBox="1"/>
          <p:nvPr/>
        </p:nvSpPr>
        <p:spPr>
          <a:xfrm>
            <a:off x="1216152" y="7552944"/>
            <a:ext cx="460857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운영 원칙</a:t>
            </a:r>
          </a:p>
        </p:txBody>
      </p:sp>
      <p:sp>
        <p:nvSpPr>
          <p:cNvPr id="5051" name="TextBox 5050"/>
          <p:cNvSpPr txBox="1"/>
          <p:nvPr/>
        </p:nvSpPr>
        <p:spPr>
          <a:xfrm>
            <a:off x="1216152" y="7882128"/>
            <a:ext cx="4608576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AI는 근거 있는 초안을 제시하고, 최종 결정은 통합지휘권자이 내립니다</a:t>
            </a:r>
          </a:p>
        </p:txBody>
      </p:sp>
      <p:graphicFrame>
        <p:nvGraphicFramePr>
          <p:cNvPr id="5052" name="AsIs ToBe"/>
          <p:cNvGraphicFramePr>
            <a:graphicFrameLocks noGrp="1"/>
          </p:cNvGraphicFramePr>
          <p:nvPr/>
        </p:nvGraphicFramePr>
        <p:xfrm>
          <a:off x="6446520" y="2487168"/>
          <a:ext cx="10972800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As-Is (현행)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To-Be (본 서비스)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88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정보가 시스템·기관별로 분산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한 지도에서 확인, 보고·재예측 때마다 갱신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근거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100쪽 넘는 매뉴얼을 직접 찾아 확인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항목 14개별 제안과 근거를 자동 제시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대응안 작성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회차별 수작업 발행, 조항 표기 없음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갱신·상황 정정마다 새 버전 자동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활용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범용 LLM은 근거 없이 생성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조항을 인용해 답변, 판정 값은 규칙 엔진이 고정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보안·운용</a:t>
                      </a:r>
                    </a:p>
                  </a:txBody>
                  <a:tcPr marL="109728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>
                          <a:solidFill>
                            <a:srgbClr val="6B7080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상용 API는 자료 유출 우려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국내 공개 모델을 내부 서버에서 운용</a:t>
                      </a:r>
                    </a:p>
                  </a:txBody>
                  <a:tcPr marL="228600" marR="10972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53" name="TextBox 5052"/>
          <p:cNvSpPr txBox="1"/>
          <p:nvPr/>
        </p:nvSpPr>
        <p:spPr>
          <a:xfrm>
            <a:off x="6446520" y="605332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주체별 기대 효과</a:t>
            </a:r>
          </a:p>
        </p:txBody>
      </p:sp>
      <p:sp>
        <p:nvSpPr>
          <p:cNvPr id="5054" name="TextBox 5053"/>
          <p:cNvSpPr txBox="1"/>
          <p:nvPr/>
        </p:nvSpPr>
        <p:spPr>
          <a:xfrm>
            <a:off x="10104120" y="605332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측정한 수치가 아니라 시나리오 비교로 확인할 대상입니다</a:t>
            </a:r>
          </a:p>
        </p:txBody>
      </p:sp>
      <p:sp>
        <p:nvSpPr>
          <p:cNvPr id="5055" name="Effect 1"/>
          <p:cNvSpPr/>
          <p:nvPr/>
        </p:nvSpPr>
        <p:spPr>
          <a:xfrm>
            <a:off x="644652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6" name="TextBox 5055"/>
          <p:cNvSpPr txBox="1"/>
          <p:nvPr/>
        </p:nvSpPr>
        <p:spPr>
          <a:xfrm>
            <a:off x="672084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시장·군수·구청장</a:t>
            </a:r>
          </a:p>
        </p:txBody>
      </p:sp>
      <p:sp>
        <p:nvSpPr>
          <p:cNvPr id="5057" name="TextBox 5056"/>
          <p:cNvSpPr txBox="1"/>
          <p:nvPr/>
        </p:nvSpPr>
        <p:spPr>
          <a:xfrm>
            <a:off x="672084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근거와 함께 검토해 신속한 결정에 도움이 될 수 있음</a:t>
            </a:r>
          </a:p>
        </p:txBody>
      </p:sp>
      <p:sp>
        <p:nvSpPr>
          <p:cNvPr id="5058" name="Effect 2"/>
          <p:cNvSpPr/>
          <p:nvPr/>
        </p:nvSpPr>
        <p:spPr>
          <a:xfrm>
            <a:off x="12024360" y="651967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9" name="TextBox 5058"/>
          <p:cNvSpPr txBox="1"/>
          <p:nvPr/>
        </p:nvSpPr>
        <p:spPr>
          <a:xfrm>
            <a:off x="12298680" y="67025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지자체 실무자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상황 보고자·전산 관리자</a:t>
            </a:r>
          </a:p>
        </p:txBody>
      </p:sp>
      <p:sp>
        <p:nvSpPr>
          <p:cNvPr id="5060" name="TextBox 5059"/>
          <p:cNvSpPr txBox="1"/>
          <p:nvPr/>
        </p:nvSpPr>
        <p:spPr>
          <a:xfrm>
            <a:off x="12298680" y="70866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보고한 화선으로 재예측·제안이 이어져 보고 부담이 줄 수 있음</a:t>
            </a:r>
          </a:p>
        </p:txBody>
      </p:sp>
      <p:sp>
        <p:nvSpPr>
          <p:cNvPr id="5061" name="Effect 3"/>
          <p:cNvSpPr/>
          <p:nvPr/>
        </p:nvSpPr>
        <p:spPr>
          <a:xfrm>
            <a:off x="644652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2" name="TextBox 5061"/>
          <p:cNvSpPr txBox="1"/>
          <p:nvPr/>
        </p:nvSpPr>
        <p:spPr>
          <a:xfrm>
            <a:off x="672084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산림청·유관기관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소방·경찰·군 등</a:t>
            </a:r>
          </a:p>
        </p:txBody>
      </p:sp>
      <p:sp>
        <p:nvSpPr>
          <p:cNvPr id="5063" name="TextBox 5062"/>
          <p:cNvSpPr txBox="1"/>
          <p:nvPr/>
        </p:nvSpPr>
        <p:spPr>
          <a:xfrm>
            <a:off x="672084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같은 상황도를 보며 지원 여부를 판단할 수 있음</a:t>
            </a:r>
          </a:p>
        </p:txBody>
      </p:sp>
      <p:sp>
        <p:nvSpPr>
          <p:cNvPr id="5064" name="Effect 4"/>
          <p:cNvSpPr/>
          <p:nvPr/>
        </p:nvSpPr>
        <p:spPr>
          <a:xfrm>
            <a:off x="12024360" y="7708392"/>
            <a:ext cx="5394960" cy="1042416"/>
          </a:xfrm>
          <a:prstGeom prst="roundRect">
            <a:avLst>
              <a:gd name="adj" fmla="val 1403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5" name="TextBox 5064"/>
          <p:cNvSpPr txBox="1"/>
          <p:nvPr/>
        </p:nvSpPr>
        <p:spPr>
          <a:xfrm>
            <a:off x="12298680" y="78912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지역 주민</a:t>
            </a:r>
            <a:r>
              <a:rPr lang="ko-KR" altLang="en-US" sz="12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 간접 효과</a:t>
            </a:r>
          </a:p>
        </p:txBody>
      </p:sp>
      <p:sp>
        <p:nvSpPr>
          <p:cNvPr id="5066" name="TextBox 5065"/>
          <p:cNvSpPr txBox="1"/>
          <p:nvPr/>
        </p:nvSpPr>
        <p:spPr>
          <a:xfrm>
            <a:off x="12298680" y="8275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판단이 앞당겨지면 대피 지연 위험을 줄일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7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7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2" name="Title">
            <a:extLst>
              <a:ext uri="{FF2B5EF4-FFF2-40B4-BE49-F238E27FC236}">
                <a16:creationId xmlns:a16="http://schemas.microsoft.com/office/drawing/2014/main" id="{DEFA40C4-C8A5-41B8-8C2E-9F089E9B82B2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프로젝트</a:t>
            </a: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개요</a:t>
            </a:r>
            <a:endParaRPr sz="4400" b="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5073" name="Subtitle">
            <a:extLst>
              <a:ext uri="{FF2B5EF4-FFF2-40B4-BE49-F238E27FC236}">
                <a16:creationId xmlns:a16="http://schemas.microsoft.com/office/drawing/2014/main" id="{7F034385-646B-4F28-98D5-5C2C9CD07C3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구성도 — 물리 엔진 · 규칙 엔진 · LLM 에이전트 2개, 인터페이스 / 서버 / 데이터 3계층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  <p:sp>
        <p:nvSpPr>
          <p:cNvPr id="6002" name="직사각형 121">
            <a:extLst>
              <a:ext uri="{FF2B5EF4-FFF2-40B4-BE49-F238E27FC236}">
                <a16:creationId xmlns:a16="http://schemas.microsoft.com/office/drawing/2014/main" id="{0A0E4BE2-D4F8-3041-5A39-29E3672A534D}"/>
              </a:ext>
            </a:extLst>
          </p:cNvPr>
          <p:cNvSpPr/>
          <p:nvPr/>
        </p:nvSpPr>
        <p:spPr>
          <a:xfrm>
            <a:off x="2887998" y="7182958"/>
            <a:ext cx="12509297" cy="1623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3" name="직사각형 119">
            <a:extLst>
              <a:ext uri="{FF2B5EF4-FFF2-40B4-BE49-F238E27FC236}">
                <a16:creationId xmlns:a16="http://schemas.microsoft.com/office/drawing/2014/main" id="{D7352F98-9233-911B-FFAC-BFE6C6C9301D}"/>
              </a:ext>
            </a:extLst>
          </p:cNvPr>
          <p:cNvSpPr/>
          <p:nvPr/>
        </p:nvSpPr>
        <p:spPr>
          <a:xfrm>
            <a:off x="2887998" y="4399444"/>
            <a:ext cx="12509297" cy="26025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4" name="직사각형 117">
            <a:extLst>
              <a:ext uri="{FF2B5EF4-FFF2-40B4-BE49-F238E27FC236}">
                <a16:creationId xmlns:a16="http://schemas.microsoft.com/office/drawing/2014/main" id="{2541B13E-CB90-AF34-5C16-6698380B6599}"/>
              </a:ext>
            </a:extLst>
          </p:cNvPr>
          <p:cNvSpPr/>
          <p:nvPr/>
        </p:nvSpPr>
        <p:spPr>
          <a:xfrm>
            <a:off x="2887998" y="2377440"/>
            <a:ext cx="12509297" cy="1774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05" name="TextBox 2"/>
          <p:cNvSpPr txBox="1"/>
          <p:nvPr/>
        </p:nvSpPr>
        <p:spPr>
          <a:xfrm>
            <a:off x="2978704" y="261138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인터페이스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Client UI</a:t>
            </a:r>
          </a:p>
        </p:txBody>
      </p:sp>
      <p:sp>
        <p:nvSpPr>
          <p:cNvPr id="6006" name="Rectangle 3"/>
          <p:cNvSpPr/>
          <p:nvPr/>
        </p:nvSpPr>
        <p:spPr>
          <a:xfrm>
            <a:off x="4343354" y="2611380"/>
            <a:ext cx="1900763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7" name="TextBox 4"/>
          <p:cNvSpPr txBox="1"/>
          <p:nvPr/>
        </p:nvSpPr>
        <p:spPr>
          <a:xfrm>
            <a:off x="4343354" y="2611380"/>
            <a:ext cx="1900763" cy="555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사용자 (4 역할)</a:t>
            </a:r>
          </a:p>
        </p:txBody>
      </p:sp>
      <p:sp>
        <p:nvSpPr>
          <p:cNvPr id="6008" name="Rectangle 5"/>
          <p:cNvSpPr/>
          <p:nvPr/>
        </p:nvSpPr>
        <p:spPr>
          <a:xfrm>
            <a:off x="4343354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통합지휘권자</a:t>
            </a:r>
          </a:p>
        </p:txBody>
      </p:sp>
      <p:sp>
        <p:nvSpPr>
          <p:cNvPr id="6009" name="Rectangle 6"/>
          <p:cNvSpPr/>
          <p:nvPr/>
        </p:nvSpPr>
        <p:spPr>
          <a:xfrm>
            <a:off x="5293736" y="3166988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보고자</a:t>
            </a:r>
          </a:p>
        </p:txBody>
      </p:sp>
      <p:sp>
        <p:nvSpPr>
          <p:cNvPr id="6010" name="Rectangle 7"/>
          <p:cNvSpPr/>
          <p:nvPr/>
        </p:nvSpPr>
        <p:spPr>
          <a:xfrm>
            <a:off x="4343354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</a:t>
            </a:r>
          </a:p>
        </p:txBody>
      </p:sp>
      <p:sp>
        <p:nvSpPr>
          <p:cNvPr id="6011" name="Rectangle 8"/>
          <p:cNvSpPr/>
          <p:nvPr/>
        </p:nvSpPr>
        <p:spPr>
          <a:xfrm>
            <a:off x="5293736" y="3498403"/>
            <a:ext cx="950382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열람자</a:t>
            </a:r>
          </a:p>
        </p:txBody>
      </p:sp>
      <p:sp>
        <p:nvSpPr>
          <p:cNvPr id="6012" name="Rectangle 9"/>
          <p:cNvSpPr/>
          <p:nvPr/>
        </p:nvSpPr>
        <p:spPr>
          <a:xfrm>
            <a:off x="6634018" y="2611380"/>
            <a:ext cx="3177686" cy="1218438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3" name="TextBox 10"/>
          <p:cNvSpPr txBox="1"/>
          <p:nvPr/>
        </p:nvSpPr>
        <p:spPr>
          <a:xfrm>
            <a:off x="6634018" y="2611380"/>
            <a:ext cx="3177686" cy="8870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웹 대시보드</a:t>
            </a: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 React · MapLibre GL</a:t>
            </a:r>
          </a:p>
        </p:txBody>
      </p:sp>
      <p:sp>
        <p:nvSpPr>
          <p:cNvPr id="6014" name="Rectangle 11"/>
          <p:cNvSpPr/>
          <p:nvPr/>
        </p:nvSpPr>
        <p:spPr>
          <a:xfrm>
            <a:off x="6634018" y="3498403"/>
            <a:ext cx="77980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통합 상황도</a:t>
            </a:r>
          </a:p>
        </p:txBody>
      </p:sp>
      <p:sp>
        <p:nvSpPr>
          <p:cNvPr id="6015" name="Rectangle 12"/>
          <p:cNvSpPr/>
          <p:nvPr/>
        </p:nvSpPr>
        <p:spPr>
          <a:xfrm>
            <a:off x="7413818" y="3498403"/>
            <a:ext cx="74081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대응 제안서</a:t>
            </a:r>
          </a:p>
        </p:txBody>
      </p:sp>
      <p:sp>
        <p:nvSpPr>
          <p:cNvPr id="6016" name="Rectangle 13"/>
          <p:cNvSpPr/>
          <p:nvPr/>
        </p:nvSpPr>
        <p:spPr>
          <a:xfrm>
            <a:off x="8154628" y="3498403"/>
            <a:ext cx="643335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패널</a:t>
            </a:r>
          </a:p>
        </p:txBody>
      </p:sp>
      <p:sp>
        <p:nvSpPr>
          <p:cNvPr id="6017" name="Rectangle 14"/>
          <p:cNvSpPr/>
          <p:nvPr/>
        </p:nvSpPr>
        <p:spPr>
          <a:xfrm>
            <a:off x="8797964" y="3498403"/>
            <a:ext cx="1013740" cy="33141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어시스턴트 대화</a:t>
            </a:r>
          </a:p>
        </p:txBody>
      </p:sp>
      <p:cxnSp>
        <p:nvCxnSpPr>
          <p:cNvPr id="6018" name="Connector 15"/>
          <p:cNvCxnSpPr/>
          <p:nvPr/>
        </p:nvCxnSpPr>
        <p:spPr>
          <a:xfrm>
            <a:off x="6244118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19" name="Rectangle 16"/>
          <p:cNvSpPr/>
          <p:nvPr/>
        </p:nvSpPr>
        <p:spPr>
          <a:xfrm>
            <a:off x="10201604" y="2611380"/>
            <a:ext cx="4912742" cy="1218438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0" name="TextBox 17"/>
          <p:cNvSpPr txBox="1"/>
          <p:nvPr/>
        </p:nvSpPr>
        <p:spPr>
          <a:xfrm>
            <a:off x="10279584" y="2650370"/>
            <a:ext cx="475678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6021" name="Connector 25"/>
          <p:cNvCxnSpPr/>
          <p:nvPr/>
        </p:nvCxnSpPr>
        <p:spPr>
          <a:xfrm flipH="1">
            <a:off x="9811704" y="3220599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22" name="Oval 26"/>
          <p:cNvSpPr/>
          <p:nvPr/>
        </p:nvSpPr>
        <p:spPr>
          <a:xfrm>
            <a:off x="9899432" y="2869689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7</a:t>
            </a:r>
          </a:p>
        </p:txBody>
      </p:sp>
      <p:sp>
        <p:nvSpPr>
          <p:cNvPr id="6023" name="TextBox 27"/>
          <p:cNvSpPr txBox="1"/>
          <p:nvPr/>
        </p:nvSpPr>
        <p:spPr>
          <a:xfrm>
            <a:off x="2978704" y="4519454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서버</a:t>
            </a:r>
          </a:p>
          <a:p>
            <a:pPr algn="l">
              <a:lnSpc>
                <a:spcPts val="1160"/>
              </a:lnSpc>
              <a:spcBef>
                <a:spcPts val="200"/>
              </a:spcBef>
              <a:spcAft>
                <a:spcPts val="0"/>
              </a:spcAft>
            </a:pPr>
            <a:r>
              <a:rPr lang="ko-KR" altLang="en-US" sz="1000" b="0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Application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Server</a:t>
            </a:r>
          </a:p>
        </p:txBody>
      </p:sp>
      <p:sp>
        <p:nvSpPr>
          <p:cNvPr id="6024" name="Rectangle 28"/>
          <p:cNvSpPr/>
          <p:nvPr/>
        </p:nvSpPr>
        <p:spPr>
          <a:xfrm>
            <a:off x="6517048" y="4519454"/>
            <a:ext cx="1891016" cy="1364651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5" name="TextBox 29"/>
          <p:cNvSpPr txBox="1"/>
          <p:nvPr/>
        </p:nvSpPr>
        <p:spPr>
          <a:xfrm>
            <a:off x="6595028" y="4558444"/>
            <a:ext cx="1735056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① 산불 예측 모델 (물리 엔진)</a:t>
            </a:r>
          </a:p>
        </p:txBody>
      </p:sp>
      <p:sp>
        <p:nvSpPr>
          <p:cNvPr id="6026" name="Rectangle 30"/>
          <p:cNvSpPr/>
          <p:nvPr/>
        </p:nvSpPr>
        <p:spPr>
          <a:xfrm>
            <a:off x="8632256" y="4519454"/>
            <a:ext cx="4093952" cy="2397886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7" name="TextBox 31"/>
          <p:cNvSpPr txBox="1"/>
          <p:nvPr/>
        </p:nvSpPr>
        <p:spPr>
          <a:xfrm>
            <a:off x="8710236" y="4558444"/>
            <a:ext cx="3937992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맑은 고딕"/>
                <a:ea typeface="맑은 고딕"/>
                <a:cs typeface="Arial"/>
              </a:rPr>
              <a:t>② 대응 제안 생성 모델 (규칙 엔진 + LLM 에이전트 2개)</a:t>
            </a:r>
          </a:p>
        </p:txBody>
      </p:sp>
      <p:sp>
        <p:nvSpPr>
          <p:cNvPr id="6028" name="Rectangle 32"/>
          <p:cNvSpPr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9" name="TextBox 33"/>
          <p:cNvSpPr txBox="1"/>
          <p:nvPr/>
        </p:nvSpPr>
        <p:spPr>
          <a:xfrm>
            <a:off x="4343354" y="4841122"/>
            <a:ext cx="190076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API 서버 · 상황 구성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FastAPI</a:t>
            </a:r>
          </a:p>
        </p:txBody>
      </p:sp>
      <p:sp>
        <p:nvSpPr>
          <p:cNvPr id="6030" name="Rectangle 34"/>
          <p:cNvSpPr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1" name="TextBox 35"/>
          <p:cNvSpPr txBox="1"/>
          <p:nvPr/>
        </p:nvSpPr>
        <p:spPr>
          <a:xfrm>
            <a:off x="6634018" y="4841122"/>
            <a:ext cx="1657076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예측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ELMFIRE</a:t>
            </a:r>
          </a:p>
        </p:txBody>
      </p:sp>
      <p:sp>
        <p:nvSpPr>
          <p:cNvPr id="6032" name="Rectangle 36"/>
          <p:cNvSpPr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3" name="TextBox 37"/>
          <p:cNvSpPr txBox="1"/>
          <p:nvPr/>
        </p:nvSpPr>
        <p:spPr>
          <a:xfrm>
            <a:off x="8729731" y="4841122"/>
            <a:ext cx="141338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규칙 판정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Rule-Based</a:t>
            </a:r>
          </a:p>
        </p:txBody>
      </p:sp>
      <p:sp>
        <p:nvSpPr>
          <p:cNvPr id="6034" name="Rectangle 38"/>
          <p:cNvSpPr/>
          <p:nvPr/>
        </p:nvSpPr>
        <p:spPr>
          <a:xfrm>
            <a:off x="10533019" y="4841122"/>
            <a:ext cx="2095713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35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9989" y="5148168"/>
            <a:ext cx="311920" cy="311920"/>
          </a:xfrm>
          <a:prstGeom prst="rect">
            <a:avLst/>
          </a:prstGeom>
        </p:spPr>
      </p:pic>
      <p:sp>
        <p:nvSpPr>
          <p:cNvPr id="3" name="TextBox 40"/>
          <p:cNvSpPr txBox="1"/>
          <p:nvPr/>
        </p:nvSpPr>
        <p:spPr>
          <a:xfrm>
            <a:off x="10961909" y="4841122"/>
            <a:ext cx="1666823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상황판단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6036" name="Rectangle 41"/>
          <p:cNvSpPr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7" name="TextBox 42"/>
          <p:cNvSpPr txBox="1"/>
          <p:nvPr/>
        </p:nvSpPr>
        <p:spPr>
          <a:xfrm>
            <a:off x="13116108" y="4841122"/>
            <a:ext cx="1998238" cy="926013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 조립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REST API</a:t>
            </a:r>
          </a:p>
        </p:txBody>
      </p:sp>
      <p:sp>
        <p:nvSpPr>
          <p:cNvPr id="6038" name="Rectangle 43"/>
          <p:cNvSpPr/>
          <p:nvPr/>
        </p:nvSpPr>
        <p:spPr>
          <a:xfrm>
            <a:off x="13116108" y="5981580"/>
            <a:ext cx="1998238" cy="838285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39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3835" y="6127792"/>
            <a:ext cx="272930" cy="272930"/>
          </a:xfrm>
          <a:prstGeom prst="rect">
            <a:avLst/>
          </a:prstGeom>
        </p:spPr>
      </p:pic>
      <p:sp>
        <p:nvSpPr>
          <p:cNvPr id="4" name="TextBox 45"/>
          <p:cNvSpPr txBox="1"/>
          <p:nvPr/>
        </p:nvSpPr>
        <p:spPr>
          <a:xfrm>
            <a:off x="13515756" y="5981580"/>
            <a:ext cx="1579096" cy="5653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1" dirty="0">
                <a:solidFill>
                  <a:srgbClr val="2563EB"/>
                </a:solidFill>
                <a:latin typeface="Arial"/>
                <a:ea typeface="맑은 고딕"/>
                <a:cs typeface="Arial"/>
              </a:rPr>
              <a:t>어시스턴트 에이전트</a:t>
            </a:r>
          </a:p>
          <a:p>
            <a:pPr algn="ctr">
              <a:lnSpc>
                <a:spcPts val="1220"/>
              </a:lnSpc>
              <a:spcBef>
                <a:spcPts val="100"/>
              </a:spcBef>
              <a:spcAft>
                <a:spcPts val="0"/>
              </a:spcAft>
            </a:pPr>
            <a:r>
              <a:rPr lang="ko-KR" altLang="en-US" sz="10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EXAONE 4.0 32B</a:t>
            </a:r>
          </a:p>
        </p:txBody>
      </p:sp>
      <p:sp>
        <p:nvSpPr>
          <p:cNvPr id="6040" name="Rectangle 46"/>
          <p:cNvSpPr/>
          <p:nvPr/>
        </p:nvSpPr>
        <p:spPr>
          <a:xfrm>
            <a:off x="13116108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상황 정정</a:t>
            </a:r>
          </a:p>
        </p:txBody>
      </p:sp>
      <p:sp>
        <p:nvSpPr>
          <p:cNvPr id="6041" name="Rectangle 47"/>
          <p:cNvSpPr/>
          <p:nvPr/>
        </p:nvSpPr>
        <p:spPr>
          <a:xfrm>
            <a:off x="14115227" y="6546935"/>
            <a:ext cx="999119" cy="27293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질의응답</a:t>
            </a:r>
          </a:p>
        </p:txBody>
      </p:sp>
      <p:cxnSp>
        <p:nvCxnSpPr>
          <p:cNvPr id="6042" name="Connector 48"/>
          <p:cNvCxnSpPr/>
          <p:nvPr/>
        </p:nvCxnSpPr>
        <p:spPr>
          <a:xfrm>
            <a:off x="5293736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3" name="Oval 49"/>
          <p:cNvSpPr/>
          <p:nvPr/>
        </p:nvSpPr>
        <p:spPr>
          <a:xfrm>
            <a:off x="5186513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6044" name="TextBox 50"/>
          <p:cNvSpPr txBox="1"/>
          <p:nvPr/>
        </p:nvSpPr>
        <p:spPr>
          <a:xfrm>
            <a:off x="4318986" y="4178291"/>
            <a:ext cx="79929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 · 대화</a:t>
            </a:r>
          </a:p>
        </p:txBody>
      </p:sp>
      <p:cxnSp>
        <p:nvCxnSpPr>
          <p:cNvPr id="6045" name="Connector 51"/>
          <p:cNvCxnSpPr/>
          <p:nvPr/>
        </p:nvCxnSpPr>
        <p:spPr>
          <a:xfrm>
            <a:off x="6244118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6" name="Oval 52"/>
          <p:cNvSpPr/>
          <p:nvPr/>
        </p:nvSpPr>
        <p:spPr>
          <a:xfrm>
            <a:off x="6331845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cxnSp>
        <p:nvCxnSpPr>
          <p:cNvPr id="6047" name="Connector 53"/>
          <p:cNvCxnSpPr/>
          <p:nvPr/>
        </p:nvCxnSpPr>
        <p:spPr>
          <a:xfrm>
            <a:off x="8291093" y="5304128"/>
            <a:ext cx="438638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48" name="Oval 54"/>
          <p:cNvSpPr/>
          <p:nvPr/>
        </p:nvSpPr>
        <p:spPr>
          <a:xfrm>
            <a:off x="8403190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cxnSp>
        <p:nvCxnSpPr>
          <p:cNvPr id="6049" name="Connector 55"/>
          <p:cNvCxnSpPr/>
          <p:nvPr/>
        </p:nvCxnSpPr>
        <p:spPr>
          <a:xfrm>
            <a:off x="10143119" y="5304128"/>
            <a:ext cx="389900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0" name="Oval 56"/>
          <p:cNvSpPr/>
          <p:nvPr/>
        </p:nvSpPr>
        <p:spPr>
          <a:xfrm>
            <a:off x="10230847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cxnSp>
        <p:nvCxnSpPr>
          <p:cNvPr id="6051" name="Connector 57"/>
          <p:cNvCxnSpPr/>
          <p:nvPr/>
        </p:nvCxnSpPr>
        <p:spPr>
          <a:xfrm>
            <a:off x="12628733" y="5304128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2" name="Oval 58"/>
          <p:cNvSpPr/>
          <p:nvPr/>
        </p:nvSpPr>
        <p:spPr>
          <a:xfrm>
            <a:off x="12765198" y="49532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5</a:t>
            </a:r>
          </a:p>
        </p:txBody>
      </p:sp>
      <p:cxnSp>
        <p:nvCxnSpPr>
          <p:cNvPr id="6053" name="Connector 59"/>
          <p:cNvCxnSpPr/>
          <p:nvPr/>
        </p:nvCxnSpPr>
        <p:spPr>
          <a:xfrm flipV="1">
            <a:off x="14115227" y="3829818"/>
            <a:ext cx="0" cy="1072225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54" name="Oval 60"/>
          <p:cNvSpPr/>
          <p:nvPr/>
        </p:nvSpPr>
        <p:spPr>
          <a:xfrm>
            <a:off x="14008004" y="4219718"/>
            <a:ext cx="214445" cy="214445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</a:t>
            </a:r>
          </a:p>
        </p:txBody>
      </p:sp>
      <p:sp>
        <p:nvSpPr>
          <p:cNvPr id="6055" name="TextBox 61"/>
          <p:cNvSpPr txBox="1"/>
          <p:nvPr/>
        </p:nvSpPr>
        <p:spPr>
          <a:xfrm>
            <a:off x="14290682" y="4178291"/>
            <a:ext cx="58485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응답</a:t>
            </a:r>
          </a:p>
        </p:txBody>
      </p:sp>
      <p:cxnSp>
        <p:nvCxnSpPr>
          <p:cNvPr id="6056" name="Connector 62"/>
          <p:cNvCxnSpPr/>
          <p:nvPr/>
        </p:nvCxnSpPr>
        <p:spPr>
          <a:xfrm flipV="1">
            <a:off x="14614787" y="5767135"/>
            <a:ext cx="0" cy="214445"/>
          </a:xfrm>
          <a:prstGeom prst="line">
            <a:avLst/>
          </a:prstGeom>
          <a:ln w="12700">
            <a:solidFill>
              <a:srgbClr val="1F2937"/>
            </a:solidFill>
            <a:tailEnd type="triangle" w="med" len="med"/>
          </a:ln>
        </p:spPr>
      </p:cxnSp>
      <p:sp>
        <p:nvSpPr>
          <p:cNvPr id="6057" name="TextBox 63"/>
          <p:cNvSpPr txBox="1"/>
          <p:nvPr/>
        </p:nvSpPr>
        <p:spPr>
          <a:xfrm>
            <a:off x="14010441" y="5786630"/>
            <a:ext cx="536113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답변</a:t>
            </a:r>
          </a:p>
        </p:txBody>
      </p:sp>
      <p:sp>
        <p:nvSpPr>
          <p:cNvPr id="6058" name="Freeform 64"/>
          <p:cNvSpPr/>
          <p:nvPr/>
        </p:nvSpPr>
        <p:spPr>
          <a:xfrm>
            <a:off x="10143119" y="5601427"/>
            <a:ext cx="2972989" cy="1081973"/>
          </a:xfrm>
          <a:custGeom>
            <a:avLst/>
            <a:gdLst/>
            <a:ahLst/>
            <a:cxnLst/>
            <a:rect l="l" t="t" r="r" b="b"/>
            <a:pathLst>
              <a:path w="2788920" h="1014984">
                <a:moveTo>
                  <a:pt x="2788920" y="1014984"/>
                </a:moveTo>
                <a:lnTo>
                  <a:pt x="182880" y="1014984"/>
                </a:lnTo>
                <a:lnTo>
                  <a:pt x="18288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1F2937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9" name="TextBox 65"/>
          <p:cNvSpPr txBox="1"/>
          <p:nvPr/>
        </p:nvSpPr>
        <p:spPr>
          <a:xfrm>
            <a:off x="10455039" y="6478702"/>
            <a:ext cx="27293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확인된 정정 → 재판정 (상황 정정)</a:t>
            </a:r>
          </a:p>
        </p:txBody>
      </p:sp>
      <p:sp>
        <p:nvSpPr>
          <p:cNvPr id="6060" name="TextBox 66"/>
          <p:cNvSpPr txBox="1"/>
          <p:nvPr/>
        </p:nvSpPr>
        <p:spPr>
          <a:xfrm>
            <a:off x="2978704" y="7285850"/>
            <a:ext cx="1364651" cy="77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</a:t>
            </a:r>
            <a:r>
              <a:rPr lang="ko-KR" altLang="en-US" sz="10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Data </a:t>
            </a:r>
            <a:br>
              <a:rPr lang="en-US" altLang="ko-KR" sz="100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900" b="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 + 사전 구축</a:t>
            </a:r>
          </a:p>
        </p:txBody>
      </p:sp>
      <p:sp>
        <p:nvSpPr>
          <p:cNvPr id="6061" name="Rectangle 67"/>
          <p:cNvSpPr/>
          <p:nvPr/>
        </p:nvSpPr>
        <p:spPr>
          <a:xfrm>
            <a:off x="4343354" y="7285850"/>
            <a:ext cx="1608338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2" name="TextBox 68"/>
          <p:cNvSpPr txBox="1"/>
          <p:nvPr/>
        </p:nvSpPr>
        <p:spPr>
          <a:xfrm>
            <a:off x="4421334" y="7324840"/>
            <a:ext cx="174480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실시간 수집</a:t>
            </a:r>
          </a:p>
        </p:txBody>
      </p:sp>
      <p:sp>
        <p:nvSpPr>
          <p:cNvPr id="6063" name="Rectangle 69"/>
          <p:cNvSpPr/>
          <p:nvPr/>
        </p:nvSpPr>
        <p:spPr>
          <a:xfrm>
            <a:off x="6097905" y="7285850"/>
            <a:ext cx="8918966" cy="1393893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4" name="TextBox 70"/>
          <p:cNvSpPr txBox="1"/>
          <p:nvPr/>
        </p:nvSpPr>
        <p:spPr>
          <a:xfrm>
            <a:off x="6175885" y="7324840"/>
            <a:ext cx="8343863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사전 구축</a:t>
            </a:r>
          </a:p>
        </p:txBody>
      </p:sp>
      <p:sp>
        <p:nvSpPr>
          <p:cNvPr id="6065" name="TextBox 71"/>
          <p:cNvSpPr txBox="1"/>
          <p:nvPr/>
        </p:nvSpPr>
        <p:spPr>
          <a:xfrm>
            <a:off x="7121393" y="7324840"/>
            <a:ext cx="29242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(운영 전 1회 + 주기 갱신)</a:t>
            </a:r>
          </a:p>
        </p:txBody>
      </p:sp>
      <p:sp>
        <p:nvSpPr>
          <p:cNvPr id="6066" name="Rectangle 72"/>
          <p:cNvSpPr/>
          <p:nvPr/>
        </p:nvSpPr>
        <p:spPr>
          <a:xfrm>
            <a:off x="4421334" y="7539285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 캐시</a:t>
            </a:r>
          </a:p>
        </p:txBody>
      </p:sp>
      <p:sp>
        <p:nvSpPr>
          <p:cNvPr id="6067" name="Rectangle 73"/>
          <p:cNvSpPr/>
          <p:nvPr/>
        </p:nvSpPr>
        <p:spPr>
          <a:xfrm>
            <a:off x="4421334" y="8182620"/>
            <a:ext cx="145237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68" name="Picture 7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061" y="8260600"/>
            <a:ext cx="253435" cy="253435"/>
          </a:xfrm>
          <a:prstGeom prst="rect">
            <a:avLst/>
          </a:prstGeom>
        </p:spPr>
      </p:pic>
      <p:sp>
        <p:nvSpPr>
          <p:cNvPr id="5" name="TextBox 75"/>
          <p:cNvSpPr txBox="1"/>
          <p:nvPr/>
        </p:nvSpPr>
        <p:spPr>
          <a:xfrm>
            <a:off x="4811234" y="8182620"/>
            <a:ext cx="104298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기상청 API</a:t>
            </a:r>
          </a:p>
        </p:txBody>
      </p:sp>
      <p:cxnSp>
        <p:nvCxnSpPr>
          <p:cNvPr id="6069" name="Connector 76"/>
          <p:cNvCxnSpPr/>
          <p:nvPr/>
        </p:nvCxnSpPr>
        <p:spPr>
          <a:xfrm flipV="1">
            <a:off x="515239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70" name="Rectangle 77"/>
          <p:cNvSpPr/>
          <p:nvPr/>
        </p:nvSpPr>
        <p:spPr>
          <a:xfrm>
            <a:off x="6214875" y="7539285"/>
            <a:ext cx="2856019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공간 DB · 파라미터</a:t>
            </a:r>
          </a:p>
        </p:txBody>
      </p:sp>
      <p:sp>
        <p:nvSpPr>
          <p:cNvPr id="6071" name="Rectangle 78"/>
          <p:cNvSpPr/>
          <p:nvPr/>
        </p:nvSpPr>
        <p:spPr>
          <a:xfrm>
            <a:off x="6214875" y="8182620"/>
            <a:ext cx="141338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72" name="Picture 79" descr="v5_Picture_15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602" y="8260600"/>
            <a:ext cx="253435" cy="253435"/>
          </a:xfrm>
          <a:prstGeom prst="rect">
            <a:avLst/>
          </a:prstGeom>
        </p:spPr>
      </p:pic>
      <p:sp>
        <p:nvSpPr>
          <p:cNvPr id="6" name="TextBox 80"/>
          <p:cNvSpPr txBox="1"/>
          <p:nvPr/>
        </p:nvSpPr>
        <p:spPr>
          <a:xfrm>
            <a:off x="6604775" y="8182620"/>
            <a:ext cx="1003993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공공데이터포털</a:t>
            </a:r>
          </a:p>
        </p:txBody>
      </p:sp>
      <p:cxnSp>
        <p:nvCxnSpPr>
          <p:cNvPr id="6073" name="Connector 81"/>
          <p:cNvCxnSpPr/>
          <p:nvPr/>
        </p:nvCxnSpPr>
        <p:spPr>
          <a:xfrm flipV="1">
            <a:off x="6926443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74" name="TextBox 82"/>
          <p:cNvSpPr txBox="1"/>
          <p:nvPr/>
        </p:nvSpPr>
        <p:spPr>
          <a:xfrm>
            <a:off x="6984928" y="7987670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정합</a:t>
            </a:r>
          </a:p>
        </p:txBody>
      </p:sp>
      <p:sp>
        <p:nvSpPr>
          <p:cNvPr id="6075" name="Rectangle 83"/>
          <p:cNvSpPr/>
          <p:nvPr/>
        </p:nvSpPr>
        <p:spPr>
          <a:xfrm>
            <a:off x="9314581" y="7539285"/>
            <a:ext cx="1364651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진화자원 데이터</a:t>
            </a:r>
          </a:p>
        </p:txBody>
      </p:sp>
      <p:sp>
        <p:nvSpPr>
          <p:cNvPr id="6076" name="TextBox 84"/>
          <p:cNvSpPr txBox="1"/>
          <p:nvPr/>
        </p:nvSpPr>
        <p:spPr>
          <a:xfrm>
            <a:off x="9168369" y="7987670"/>
            <a:ext cx="1657076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전산 관리자 갱신</a:t>
            </a:r>
          </a:p>
        </p:txBody>
      </p:sp>
      <p:sp>
        <p:nvSpPr>
          <p:cNvPr id="6077" name="Rectangle 85"/>
          <p:cNvSpPr/>
          <p:nvPr/>
        </p:nvSpPr>
        <p:spPr>
          <a:xfrm>
            <a:off x="10922919" y="7539285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색인 (KURE-v1 · FAISS)</a:t>
            </a:r>
          </a:p>
        </p:txBody>
      </p:sp>
      <p:sp>
        <p:nvSpPr>
          <p:cNvPr id="6078" name="Rectangle 86"/>
          <p:cNvSpPr/>
          <p:nvPr/>
        </p:nvSpPr>
        <p:spPr>
          <a:xfrm>
            <a:off x="10922919" y="8182620"/>
            <a:ext cx="204697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79" name="Picture 8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647" y="8260600"/>
            <a:ext cx="253435" cy="253435"/>
          </a:xfrm>
          <a:prstGeom prst="rect">
            <a:avLst/>
          </a:prstGeom>
        </p:spPr>
      </p:pic>
      <p:sp>
        <p:nvSpPr>
          <p:cNvPr id="7" name="TextBox 88"/>
          <p:cNvSpPr txBox="1"/>
          <p:nvPr/>
        </p:nvSpPr>
        <p:spPr>
          <a:xfrm>
            <a:off x="11312820" y="8182620"/>
            <a:ext cx="1637581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법령 · 표준매뉴얼 · 예규</a:t>
            </a:r>
          </a:p>
        </p:txBody>
      </p:sp>
      <p:cxnSp>
        <p:nvCxnSpPr>
          <p:cNvPr id="6080" name="Connector 89"/>
          <p:cNvCxnSpPr/>
          <p:nvPr/>
        </p:nvCxnSpPr>
        <p:spPr>
          <a:xfrm flipV="1">
            <a:off x="11946407" y="7948680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081" name="TextBox 90"/>
          <p:cNvSpPr txBox="1"/>
          <p:nvPr/>
        </p:nvSpPr>
        <p:spPr>
          <a:xfrm>
            <a:off x="12024387" y="7987670"/>
            <a:ext cx="1169700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청킹 · 임베딩</a:t>
            </a:r>
          </a:p>
        </p:txBody>
      </p:sp>
      <p:sp>
        <p:nvSpPr>
          <p:cNvPr id="6082" name="Rectangle 91"/>
          <p:cNvSpPr/>
          <p:nvPr/>
        </p:nvSpPr>
        <p:spPr>
          <a:xfrm>
            <a:off x="13311058" y="7539285"/>
            <a:ext cx="1608338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이벤트 로그</a:t>
            </a:r>
          </a:p>
        </p:txBody>
      </p:sp>
      <p:cxnSp>
        <p:nvCxnSpPr>
          <p:cNvPr id="6083" name="Connector 92"/>
          <p:cNvCxnSpPr>
            <a:cxnSpLocks/>
          </p:cNvCxnSpPr>
          <p:nvPr/>
        </p:nvCxnSpPr>
        <p:spPr>
          <a:xfrm flipV="1">
            <a:off x="515239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4" name="TextBox 93"/>
          <p:cNvSpPr txBox="1"/>
          <p:nvPr/>
        </p:nvSpPr>
        <p:spPr>
          <a:xfrm>
            <a:off x="523037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기상(단기예보)</a:t>
            </a:r>
          </a:p>
        </p:txBody>
      </p:sp>
      <p:cxnSp>
        <p:nvCxnSpPr>
          <p:cNvPr id="6085" name="Connector 94"/>
          <p:cNvCxnSpPr>
            <a:cxnSpLocks/>
          </p:cNvCxnSpPr>
          <p:nvPr/>
        </p:nvCxnSpPr>
        <p:spPr>
          <a:xfrm flipV="1">
            <a:off x="7462556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6" name="TextBox 95"/>
          <p:cNvSpPr txBox="1"/>
          <p:nvPr/>
        </p:nvSpPr>
        <p:spPr>
          <a:xfrm>
            <a:off x="7540536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격자 · 연료 계수</a:t>
            </a:r>
          </a:p>
        </p:txBody>
      </p:sp>
      <p:cxnSp>
        <p:nvCxnSpPr>
          <p:cNvPr id="6087" name="Connector 96"/>
          <p:cNvCxnSpPr>
            <a:cxnSpLocks/>
          </p:cNvCxnSpPr>
          <p:nvPr/>
        </p:nvCxnSpPr>
        <p:spPr>
          <a:xfrm flipV="1">
            <a:off x="9996907" y="5828056"/>
            <a:ext cx="0" cy="1711228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88" name="TextBox 97"/>
          <p:cNvSpPr txBox="1"/>
          <p:nvPr/>
        </p:nvSpPr>
        <p:spPr>
          <a:xfrm>
            <a:off x="10074887" y="7071405"/>
            <a:ext cx="1803288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시설 · 행정경계 · 자원</a:t>
            </a:r>
          </a:p>
        </p:txBody>
      </p:sp>
      <p:cxnSp>
        <p:nvCxnSpPr>
          <p:cNvPr id="6089" name="Connector 98"/>
          <p:cNvCxnSpPr>
            <a:cxnSpLocks/>
          </p:cNvCxnSpPr>
          <p:nvPr/>
        </p:nvCxnSpPr>
        <p:spPr>
          <a:xfrm flipV="1">
            <a:off x="11946407" y="6934940"/>
            <a:ext cx="0" cy="604345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90" name="TextBox 99"/>
          <p:cNvSpPr txBox="1"/>
          <p:nvPr/>
        </p:nvSpPr>
        <p:spPr>
          <a:xfrm>
            <a:off x="12024387" y="7071405"/>
            <a:ext cx="1949501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근거 청크 → 에이전트 2개</a:t>
            </a:r>
          </a:p>
        </p:txBody>
      </p:sp>
      <p:cxnSp>
        <p:nvCxnSpPr>
          <p:cNvPr id="6091" name="Connector 100"/>
          <p:cNvCxnSpPr>
            <a:cxnSpLocks/>
          </p:cNvCxnSpPr>
          <p:nvPr/>
        </p:nvCxnSpPr>
        <p:spPr>
          <a:xfrm>
            <a:off x="13615667" y="6819865"/>
            <a:ext cx="0" cy="71942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092" name="TextBox 101"/>
          <p:cNvSpPr txBox="1"/>
          <p:nvPr/>
        </p:nvSpPr>
        <p:spPr>
          <a:xfrm>
            <a:off x="13693647" y="7071405"/>
            <a:ext cx="779800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정정 저장</a:t>
            </a:r>
          </a:p>
        </p:txBody>
      </p:sp>
      <p:sp>
        <p:nvSpPr>
          <p:cNvPr id="6093" name="Freeform 102"/>
          <p:cNvSpPr/>
          <p:nvPr/>
        </p:nvSpPr>
        <p:spPr>
          <a:xfrm>
            <a:off x="14919396" y="5365050"/>
            <a:ext cx="370405" cy="2324780"/>
          </a:xfrm>
          <a:custGeom>
            <a:avLst/>
            <a:gdLst/>
            <a:ahLst/>
            <a:cxnLst/>
            <a:rect l="l" t="t" r="r" b="b"/>
            <a:pathLst>
              <a:path w="347472" h="2180844">
                <a:moveTo>
                  <a:pt x="182880" y="0"/>
                </a:moveTo>
                <a:lnTo>
                  <a:pt x="347472" y="0"/>
                </a:lnTo>
                <a:lnTo>
                  <a:pt x="347472" y="2180844"/>
                </a:lnTo>
                <a:lnTo>
                  <a:pt x="0" y="2180844"/>
                </a:lnTo>
              </a:path>
            </a:pathLst>
          </a:custGeom>
          <a:noFill/>
          <a:ln w="12700">
            <a:solidFill>
              <a:srgbClr val="1F2937"/>
            </a:solidFill>
            <a:prstDash val="dash"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94" name="TextBox 103"/>
          <p:cNvSpPr txBox="1"/>
          <p:nvPr/>
        </p:nvSpPr>
        <p:spPr>
          <a:xfrm>
            <a:off x="14587981" y="7071405"/>
            <a:ext cx="643335" cy="1754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이력 기록</a:t>
            </a:r>
          </a:p>
        </p:txBody>
      </p:sp>
      <p:sp>
        <p:nvSpPr>
          <p:cNvPr id="6095" name="TextBox 104"/>
          <p:cNvSpPr txBox="1"/>
          <p:nvPr/>
        </p:nvSpPr>
        <p:spPr>
          <a:xfrm>
            <a:off x="4343354" y="8874151"/>
            <a:ext cx="4873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범례</a:t>
            </a:r>
          </a:p>
        </p:txBody>
      </p:sp>
      <p:cxnSp>
        <p:nvCxnSpPr>
          <p:cNvPr id="6096" name="Connector 105"/>
          <p:cNvCxnSpPr/>
          <p:nvPr/>
        </p:nvCxnSpPr>
        <p:spPr>
          <a:xfrm>
            <a:off x="4879467" y="8971626"/>
            <a:ext cx="48737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</p:cxnSp>
      <p:sp>
        <p:nvSpPr>
          <p:cNvPr id="6097" name="Oval 106"/>
          <p:cNvSpPr/>
          <p:nvPr/>
        </p:nvSpPr>
        <p:spPr>
          <a:xfrm>
            <a:off x="4976942" y="8874151"/>
            <a:ext cx="194950" cy="19495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n</a:t>
            </a:r>
          </a:p>
        </p:txBody>
      </p:sp>
      <p:sp>
        <p:nvSpPr>
          <p:cNvPr id="6098" name="TextBox 107"/>
          <p:cNvSpPr txBox="1"/>
          <p:nvPr/>
        </p:nvSpPr>
        <p:spPr>
          <a:xfrm>
            <a:off x="5444822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요청·응답</a:t>
            </a:r>
          </a:p>
        </p:txBody>
      </p:sp>
      <p:cxnSp>
        <p:nvCxnSpPr>
          <p:cNvPr id="6099" name="Connector 108"/>
          <p:cNvCxnSpPr/>
          <p:nvPr/>
        </p:nvCxnSpPr>
        <p:spPr>
          <a:xfrm>
            <a:off x="6341593" y="8971626"/>
            <a:ext cx="487375" cy="0"/>
          </a:xfrm>
          <a:prstGeom prst="line">
            <a:avLst/>
          </a:prstGeom>
          <a:ln w="12700">
            <a:solidFill>
              <a:srgbClr val="1F2937"/>
            </a:solidFill>
            <a:prstDash val="dash"/>
            <a:tailEnd type="triangle" w="med" len="med"/>
          </a:ln>
        </p:spPr>
      </p:cxnSp>
      <p:sp>
        <p:nvSpPr>
          <p:cNvPr id="6100" name="TextBox 109"/>
          <p:cNvSpPr txBox="1"/>
          <p:nvPr/>
        </p:nvSpPr>
        <p:spPr>
          <a:xfrm>
            <a:off x="6906948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데이터 조회</a:t>
            </a:r>
          </a:p>
        </p:txBody>
      </p:sp>
      <p:cxnSp>
        <p:nvCxnSpPr>
          <p:cNvPr id="6101" name="Connector 110"/>
          <p:cNvCxnSpPr/>
          <p:nvPr/>
        </p:nvCxnSpPr>
        <p:spPr>
          <a:xfrm>
            <a:off x="7852456" y="8971626"/>
            <a:ext cx="487375" cy="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102" name="TextBox 111"/>
          <p:cNvSpPr txBox="1"/>
          <p:nvPr/>
        </p:nvSpPr>
        <p:spPr>
          <a:xfrm>
            <a:off x="8417811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수집·구축</a:t>
            </a:r>
          </a:p>
        </p:txBody>
      </p:sp>
      <p:sp>
        <p:nvSpPr>
          <p:cNvPr id="6103" name="Rectangle 112"/>
          <p:cNvSpPr/>
          <p:nvPr/>
        </p:nvSpPr>
        <p:spPr>
          <a:xfrm>
            <a:off x="9265844" y="8893646"/>
            <a:ext cx="487375" cy="15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4" name="TextBox 113"/>
          <p:cNvSpPr txBox="1"/>
          <p:nvPr/>
        </p:nvSpPr>
        <p:spPr>
          <a:xfrm>
            <a:off x="9831199" y="8874151"/>
            <a:ext cx="877275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외부 원천</a:t>
            </a:r>
          </a:p>
        </p:txBody>
      </p:sp>
      <p:sp>
        <p:nvSpPr>
          <p:cNvPr id="6105" name="TextBox 114"/>
          <p:cNvSpPr txBox="1"/>
          <p:nvPr/>
        </p:nvSpPr>
        <p:spPr>
          <a:xfrm>
            <a:off x="10679232" y="8874151"/>
            <a:ext cx="175455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굵은 선 제안서 흐름</a:t>
            </a:r>
          </a:p>
        </p:txBody>
      </p:sp>
      <p:pic>
        <p:nvPicPr>
          <p:cNvPr id="6106" name="Picture 1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85456" y="8757181"/>
            <a:ext cx="428890" cy="428890"/>
          </a:xfrm>
          <a:prstGeom prst="rect">
            <a:avLst/>
          </a:prstGeom>
        </p:spPr>
      </p:pic>
      <p:sp>
        <p:nvSpPr>
          <p:cNvPr id="8" name="TextBox 116"/>
          <p:cNvSpPr txBox="1"/>
          <p:nvPr/>
        </p:nvSpPr>
        <p:spPr>
          <a:xfrm>
            <a:off x="12677470" y="8874151"/>
            <a:ext cx="1949501" cy="194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8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WILDFIRE RESPONSE AI</a:t>
            </a:r>
          </a:p>
        </p:txBody>
      </p:sp>
      <p:sp>
        <p:nvSpPr>
          <p:cNvPr id="6107" name="Rectangle 20">
            <a:extLst>
              <a:ext uri="{FF2B5EF4-FFF2-40B4-BE49-F238E27FC236}">
                <a16:creationId xmlns:a16="http://schemas.microsoft.com/office/drawing/2014/main" id="{DCF286CC-37EB-24FE-7005-F0CB3FAC0EE2}"/>
              </a:ext>
            </a:extLst>
          </p:cNvPr>
          <p:cNvSpPr/>
          <p:nvPr/>
        </p:nvSpPr>
        <p:spPr>
          <a:xfrm>
            <a:off x="10248717" y="3009403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8" name="Rectangle 20">
            <a:extLst>
              <a:ext uri="{FF2B5EF4-FFF2-40B4-BE49-F238E27FC236}">
                <a16:creationId xmlns:a16="http://schemas.microsoft.com/office/drawing/2014/main" id="{4E81619E-0F0F-A5CA-9994-A1C28F9CDC6A}"/>
              </a:ext>
            </a:extLst>
          </p:cNvPr>
          <p:cNvSpPr/>
          <p:nvPr/>
        </p:nvSpPr>
        <p:spPr>
          <a:xfrm>
            <a:off x="11886298" y="3003717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9" name="Rectangle 20">
            <a:extLst>
              <a:ext uri="{FF2B5EF4-FFF2-40B4-BE49-F238E27FC236}">
                <a16:creationId xmlns:a16="http://schemas.microsoft.com/office/drawing/2014/main" id="{DC64922A-3AE5-FDB9-59E6-DBD13F65A87E}"/>
              </a:ext>
            </a:extLst>
          </p:cNvPr>
          <p:cNvSpPr/>
          <p:nvPr/>
        </p:nvSpPr>
        <p:spPr>
          <a:xfrm>
            <a:off x="13519275" y="3004529"/>
            <a:ext cx="1544167" cy="74081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9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10" name="TextBox 19"/>
          <p:cNvSpPr txBox="1"/>
          <p:nvPr/>
        </p:nvSpPr>
        <p:spPr>
          <a:xfrm>
            <a:off x="10237345" y="3015631"/>
            <a:ext cx="1559601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확산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폴리곤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· 위험도</a:t>
            </a:r>
          </a:p>
        </p:txBody>
      </p:sp>
      <p:sp>
        <p:nvSpPr>
          <p:cNvPr id="6111" name="TextBox 21"/>
          <p:cNvSpPr txBox="1"/>
          <p:nvPr/>
        </p:nvSpPr>
        <p:spPr>
          <a:xfrm>
            <a:off x="11886298" y="3009403"/>
            <a:ext cx="1544167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A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대응 제안서</a:t>
            </a:r>
          </a:p>
        </p:txBody>
      </p:sp>
      <p:sp>
        <p:nvSpPr>
          <p:cNvPr id="6112" name="TextBox 24"/>
          <p:cNvSpPr txBox="1"/>
          <p:nvPr/>
        </p:nvSpPr>
        <p:spPr>
          <a:xfrm>
            <a:off x="13543644" y="3014548"/>
            <a:ext cx="1519798" cy="74081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출력 </a:t>
            </a:r>
            <a:r>
              <a:rPr lang="ko-KR" altLang="en-US" sz="1150" b="1" dirty="0" err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B</a:t>
            </a:r>
            <a:r>
              <a:rPr lang="ko-KR" altLang="en-US" sz="1150" b="1" dirty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  AI 답변</a:t>
            </a:r>
          </a:p>
        </p:txBody>
      </p:sp>
      <p:sp>
        <p:nvSpPr>
          <p:cNvPr id="6113" name="Rectangle AIHub"/>
          <p:cNvSpPr/>
          <p:nvPr/>
        </p:nvSpPr>
        <p:spPr>
          <a:xfrm>
            <a:off x="7725738" y="8186952"/>
            <a:ext cx="1345156" cy="409395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14" name="Picture AIHub" descr="aihub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3718" y="8321792"/>
            <a:ext cx="487375" cy="139714"/>
          </a:xfrm>
          <a:prstGeom prst="rect">
            <a:avLst/>
          </a:prstGeom>
        </p:spPr>
      </p:pic>
      <p:sp>
        <p:nvSpPr>
          <p:cNvPr id="9" name="TextBox AIHub"/>
          <p:cNvSpPr txBox="1"/>
          <p:nvPr/>
        </p:nvSpPr>
        <p:spPr>
          <a:xfrm>
            <a:off x="8310588" y="8186952"/>
            <a:ext cx="740810" cy="4093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50" b="1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소실 경계</a:t>
            </a:r>
          </a:p>
        </p:txBody>
      </p:sp>
      <p:cxnSp>
        <p:nvCxnSpPr>
          <p:cNvPr id="6115" name="Connector AIHub"/>
          <p:cNvCxnSpPr/>
          <p:nvPr/>
        </p:nvCxnSpPr>
        <p:spPr>
          <a:xfrm flipV="1">
            <a:off x="8398316" y="7953012"/>
            <a:ext cx="0" cy="233940"/>
          </a:xfrm>
          <a:prstGeom prst="line">
            <a:avLst/>
          </a:prstGeom>
          <a:ln w="12700">
            <a:solidFill>
              <a:srgbClr val="9CA3AF"/>
            </a:solidFill>
            <a:prstDash val="dash"/>
            <a:tailEnd type="triangle" w="med" len="med"/>
          </a:ln>
        </p:spPr>
      </p:cxnSp>
      <p:sp>
        <p:nvSpPr>
          <p:cNvPr id="6116" name="TextBox AIHub2"/>
          <p:cNvSpPr txBox="1"/>
          <p:nvPr/>
        </p:nvSpPr>
        <p:spPr>
          <a:xfrm>
            <a:off x="8456801" y="7992002"/>
            <a:ext cx="604345" cy="15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b="0">
                <a:solidFill>
                  <a:srgbClr val="1F2937"/>
                </a:solidFill>
                <a:latin typeface="Arial"/>
                <a:ea typeface="맑은 고딕"/>
                <a:cs typeface="Arial"/>
              </a:rPr>
              <a:t>IoU 보정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B222FD-1315-24B2-68EC-C9AFAD908B1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69"/>
          <a:stretch>
            <a:fillRect/>
          </a:stretch>
        </p:blipFill>
        <p:spPr>
          <a:xfrm>
            <a:off x="1847850" y="2197876"/>
            <a:ext cx="15009656" cy="808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4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DDF7-E2E6-8448-6EB4-0F8BF6CC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BC13C5-81A0-578C-DEB9-9D9E7C0EB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graphicFrame>
        <p:nvGraphicFramePr>
          <p:cNvPr id="950" name="표 949">
            <a:extLst>
              <a:ext uri="{FF2B5EF4-FFF2-40B4-BE49-F238E27FC236}">
                <a16:creationId xmlns:a16="http://schemas.microsoft.com/office/drawing/2014/main" id="{1A117E05-4164-5A7E-69A8-C6E558CCB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51191"/>
              </p:ext>
            </p:extLst>
          </p:nvPr>
        </p:nvGraphicFramePr>
        <p:xfrm>
          <a:off x="746764" y="2331720"/>
          <a:ext cx="16628595" cy="724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4528">
                  <a:extLst>
                    <a:ext uri="{9D8B030D-6E8A-4147-A177-3AD203B41FA5}">
                      <a16:colId xmlns:a16="http://schemas.microsoft.com/office/drawing/2014/main" val="1674909047"/>
                    </a:ext>
                  </a:extLst>
                </a:gridCol>
                <a:gridCol w="756371">
                  <a:extLst>
                    <a:ext uri="{9D8B030D-6E8A-4147-A177-3AD203B41FA5}">
                      <a16:colId xmlns:a16="http://schemas.microsoft.com/office/drawing/2014/main" val="599859663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2314067092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230032074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419676675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88012159"/>
                    </a:ext>
                  </a:extLst>
                </a:gridCol>
                <a:gridCol w="651606">
                  <a:extLst>
                    <a:ext uri="{9D8B030D-6E8A-4147-A177-3AD203B41FA5}">
                      <a16:colId xmlns:a16="http://schemas.microsoft.com/office/drawing/2014/main" val="1118859367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4214397482"/>
                    </a:ext>
                  </a:extLst>
                </a:gridCol>
                <a:gridCol w="772575">
                  <a:extLst>
                    <a:ext uri="{9D8B030D-6E8A-4147-A177-3AD203B41FA5}">
                      <a16:colId xmlns:a16="http://schemas.microsoft.com/office/drawing/2014/main" val="327376728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4097105941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1402595917"/>
                    </a:ext>
                  </a:extLst>
                </a:gridCol>
                <a:gridCol w="796407">
                  <a:extLst>
                    <a:ext uri="{9D8B030D-6E8A-4147-A177-3AD203B41FA5}">
                      <a16:colId xmlns:a16="http://schemas.microsoft.com/office/drawing/2014/main" val="78640459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2553558577"/>
                    </a:ext>
                  </a:extLst>
                </a:gridCol>
                <a:gridCol w="724006">
                  <a:extLst>
                    <a:ext uri="{9D8B030D-6E8A-4147-A177-3AD203B41FA5}">
                      <a16:colId xmlns:a16="http://schemas.microsoft.com/office/drawing/2014/main" val="340484870"/>
                    </a:ext>
                  </a:extLst>
                </a:gridCol>
                <a:gridCol w="868807">
                  <a:extLst>
                    <a:ext uri="{9D8B030D-6E8A-4147-A177-3AD203B41FA5}">
                      <a16:colId xmlns:a16="http://schemas.microsoft.com/office/drawing/2014/main" val="2480588412"/>
                    </a:ext>
                  </a:extLst>
                </a:gridCol>
                <a:gridCol w="868807">
                  <a:extLst>
                    <a:ext uri="{9D8B030D-6E8A-4147-A177-3AD203B41FA5}">
                      <a16:colId xmlns:a16="http://schemas.microsoft.com/office/drawing/2014/main" val="362389079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789345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 내용</a:t>
                      </a:r>
                      <a:endParaRPr lang="en-US" altLang="ko-KR" sz="1800" b="0" i="0" u="none" strike="noStrike" spc="-100" dirty="0">
                        <a:solidFill>
                          <a:srgbClr val="FFFFFF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9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10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11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12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13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14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15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u="none" strike="noStrike" spc="-100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</a:rPr>
                        <a:t>16</a:t>
                      </a: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210 OmniGothic 040" panose="020B0600000101010101" charset="-127"/>
                          <a:ea typeface="210 OmniGothic 040" panose="020B0600000101010101" charset="-127"/>
                        </a:rPr>
                        <a:t>담당</a:t>
                      </a:r>
                      <a:endParaRPr lang="ko-KR" altLang="en-US" sz="1800" b="0" dirty="0">
                        <a:solidFill>
                          <a:srgbClr val="FFFFFF"/>
                        </a:solidFill>
                        <a:latin typeface="210 OmniGothic 040" panose="020B0600000101010101" charset="-127"/>
                        <a:ea typeface="210 OmniGothic 04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972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과제계획서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2619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2. 수정 과제계획서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3. 요구사항분석서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4. 상세설계서·설계사양서·프로토타입 계획서 작성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5. 테스트 사양서 작성 및 1차 프로토타입 구현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6.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공간 격자 구축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(DEM·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임상도→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Anderson-13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연료 코드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30m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정합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5659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7.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PostGIS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스키마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기상청 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API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어댑터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기상 캐시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59505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8.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코퍼스 구축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조항 단위 </a:t>
                      </a:r>
                      <a:r>
                        <a:rPr lang="ko-KR" altLang="en-US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청킹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메타데이터 </a:t>
                      </a:r>
                      <a:r>
                        <a:rPr lang="ko-KR" altLang="en-US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태깅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952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9. ELMFIRE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실행 환경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(Docker)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구축 및 시범 실행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8924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10.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위험도 계산(P5 기준 23변수 가중평균·인구 겹침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  <a:r>
                        <a:rPr lang="en-US" altLang="ko-KR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8004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11.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근거 색인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검색(KURE-v1 + FAISS, 단계·항목 필터)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2846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12. EXAONE 4.0 32B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vLLM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서빙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프롬프트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인용 형식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7192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13.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규칙 엔진 판정(대응단계·위험구역 등 경계값이 있는 값)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9414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14.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FastAPI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서버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상황 구성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·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응답 조립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2004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15.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웹 대시보드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React·MapLibre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GL,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통합 상황도·위험도·대응 제안·AI 어시스턴트)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임성민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312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16.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확산 파라미터 보정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(fuel_models.csv, </a:t>
                      </a:r>
                      <a:r>
                        <a:rPr lang="en-US" altLang="ko-KR" sz="1100" b="0" i="0" u="none" strike="noStrike" spc="-100" dirty="0" err="1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IoU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베이지안 최적화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)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홍준서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715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17.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모듈 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차 통합 및 프로토타입 발표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135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18.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대응 제안 생성 파이프라인 완성(항목별 질문·근거 인용·충돌 검사·종합)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황승준</a:t>
                      </a:r>
                      <a:r>
                        <a:rPr lang="en-US" altLang="ko-KR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·</a:t>
                      </a:r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김지오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8338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19.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평가 파이프라인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(확산 5종·대응 제안 4종)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및 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hold-out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검증 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59817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20. RAG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유무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Ablation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 실험</a:t>
                      </a:r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,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최종 통합 및 경진대회 준비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7927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21. SW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프로그램 등록 및 최종보고서 작성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210 OmniGothic 030" panose="020B0600000101010101" charset="-127"/>
                        <a:ea typeface="210 OmniGothic 030" panose="020B0600000101010101" charset="-127"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8267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22. </a:t>
                      </a:r>
                      <a:r>
                        <a:rPr lang="ko-KR" altLang="en-US" sz="1100" b="0" i="0" u="none" strike="noStrike" spc="-100" dirty="0">
                          <a:solidFill>
                            <a:srgbClr val="363A52"/>
                          </a:solidFill>
                          <a:latin typeface="210 OmniGothic 030"/>
                          <a:ea typeface="210 OmniGothic 030"/>
                          <a:cs typeface="210 OmniGothic 030"/>
                        </a:rPr>
                        <a:t>주간 보고서 작성 및 제출 </a:t>
                      </a:r>
                      <a:endParaRPr lang="ko-KR" altLang="en-US" sz="1100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210 OmniGothic 030" panose="020B0600000101010101" charset="-127"/>
                          <a:ea typeface="210 OmniGothic 030" panose="020B0600000101010101" charset="-127"/>
                        </a:rPr>
                        <a:t>전원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64908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496E1E-A839-6AAA-E8BF-72E00D94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001" name="TextBox 9001"/>
          <p:cNvSpPr txBox="1"/>
          <p:nvPr/>
        </p:nvSpPr>
        <p:spPr>
          <a:xfrm>
            <a:off x="746764" y="9629140"/>
            <a:ext cx="16632937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</a:rPr>
              <a:t>※ 점선 화살표 = 계획, 실선 화살표 = 실제 수행(5주차까지 문서 작업 완료, 개발은 TOPCIT 이후 배치)</a:t>
            </a:r>
            <a:r>
              <a:rPr lang="ko-KR" altLang="en-US" sz="1100" dirty="0">
                <a:solidFill>
                  <a:srgbClr val="363A52"/>
                </a:solidFill>
                <a:latin typeface="210 OmniGothic 030"/>
                <a:ea typeface="210 OmniGothic 030"/>
              </a:rPr>
              <a:t> </a:t>
            </a:r>
            <a:br>
              <a:rPr lang="en-US" altLang="ko-KR" sz="1100" dirty="0">
                <a:solidFill>
                  <a:srgbClr val="363A52"/>
                </a:solidFill>
                <a:latin typeface="210 OmniGothic 030"/>
                <a:ea typeface="210 OmniGothic 030"/>
              </a:rPr>
            </a:br>
            <a:r>
              <a:rPr lang="ko-KR" altLang="en-US" sz="1100" dirty="0">
                <a:solidFill>
                  <a:srgbClr val="363A52"/>
                </a:solidFill>
                <a:latin typeface="210 OmniGothic 030"/>
                <a:ea typeface="210 OmniGothic 030"/>
              </a:rPr>
              <a:t>※ </a:t>
            </a:r>
            <a:r>
              <a:rPr lang="ko-KR" altLang="en-US" sz="1100" b="0" dirty="0">
                <a:solidFill>
                  <a:srgbClr val="363A52"/>
                </a:solidFill>
                <a:latin typeface="210 OmniGothic 030"/>
                <a:ea typeface="210 OmniGothic 030"/>
              </a:rPr>
              <a:t>주요 마일스톤: 6~8주차 1차 프로토타입(계획서·테스트 사양서·구현) · 8주차 TOPCIT(10/10) · 12주차 1차 통합·프로토타입 · 14주차 창의설계경진대회(12/4) · 16주차 최종보고서(12/18)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86D1F1F-7F50-2C1A-59EC-DB2714C7B1E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01.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프로젝트</a:t>
            </a:r>
            <a:r>
              <a:rPr sz="4400" b="0" dirty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 </a:t>
            </a:r>
            <a:r>
              <a:rPr sz="4400" b="0" dirty="0" err="1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개요</a:t>
            </a:r>
            <a:endParaRPr sz="4400" b="0" dirty="0">
              <a:solidFill>
                <a:srgbClr val="FAA95A"/>
              </a:solidFill>
              <a:latin typeface="210 OmniGothic 050"/>
              <a:ea typeface="210 OmniGothic 050"/>
              <a:cs typeface="210 OmniGothic 05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E75D791-51C2-D9C9-43FC-4986B50F31C9}"/>
              </a:ext>
            </a:extLst>
          </p:cNvPr>
          <p:cNvSpPr>
            <a:spLocks noGrp="1"/>
          </p:cNvSpPr>
          <p:nvPr/>
        </p:nvSpPr>
        <p:spPr>
          <a:xfrm>
            <a:off x="822960" y="1816197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lang="ko-KR" altLang="en-US"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개발 일정 및 진행 현황</a:t>
            </a:r>
            <a:endParaRPr sz="2600" b="1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cxnSp>
        <p:nvCxnSpPr>
          <p:cNvPr id="22" name="plan-arrow-1">
            <a:extLst>
              <a:ext uri="{FF2B5EF4-FFF2-40B4-BE49-F238E27FC236}">
                <a16:creationId xmlns:a16="http://schemas.microsoft.com/office/drawing/2014/main" id="{93BA42D3-27C7-7737-952A-AF311BC8CD1B}"/>
              </a:ext>
            </a:extLst>
          </p:cNvPr>
          <p:cNvCxnSpPr/>
          <p:nvPr/>
        </p:nvCxnSpPr>
        <p:spPr>
          <a:xfrm>
            <a:off x="5009392" y="2769108"/>
            <a:ext cx="680171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actual-arrow-1">
            <a:extLst>
              <a:ext uri="{FF2B5EF4-FFF2-40B4-BE49-F238E27FC236}">
                <a16:creationId xmlns:a16="http://schemas.microsoft.com/office/drawing/2014/main" id="{C2B3E5CC-DCF4-E094-0724-91A580DA5300}"/>
              </a:ext>
            </a:extLst>
          </p:cNvPr>
          <p:cNvCxnSpPr>
            <a:cxnSpLocks/>
          </p:cNvCxnSpPr>
          <p:nvPr/>
        </p:nvCxnSpPr>
        <p:spPr>
          <a:xfrm>
            <a:off x="4978912" y="2869082"/>
            <a:ext cx="752757" cy="0"/>
          </a:xfrm>
          <a:prstGeom prst="straightConnector1">
            <a:avLst/>
          </a:prstGeom>
          <a:ln w="28575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lan-arrow-2">
            <a:extLst>
              <a:ext uri="{FF2B5EF4-FFF2-40B4-BE49-F238E27FC236}">
                <a16:creationId xmlns:a16="http://schemas.microsoft.com/office/drawing/2014/main" id="{4886932C-8C45-72EE-EB91-C8B327FA5144}"/>
              </a:ext>
            </a:extLst>
          </p:cNvPr>
          <p:cNvCxnSpPr/>
          <p:nvPr/>
        </p:nvCxnSpPr>
        <p:spPr>
          <a:xfrm>
            <a:off x="5765763" y="3081528"/>
            <a:ext cx="57540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actual-arrow-2">
            <a:extLst>
              <a:ext uri="{FF2B5EF4-FFF2-40B4-BE49-F238E27FC236}">
                <a16:creationId xmlns:a16="http://schemas.microsoft.com/office/drawing/2014/main" id="{425633E6-7083-5BC9-9BF1-2963BABBD514}"/>
              </a:ext>
            </a:extLst>
          </p:cNvPr>
          <p:cNvCxnSpPr>
            <a:cxnSpLocks/>
          </p:cNvCxnSpPr>
          <p:nvPr/>
        </p:nvCxnSpPr>
        <p:spPr>
          <a:xfrm>
            <a:off x="5735283" y="3181503"/>
            <a:ext cx="631286" cy="0"/>
          </a:xfrm>
          <a:prstGeom prst="straightConnector1">
            <a:avLst/>
          </a:prstGeom>
          <a:ln w="28575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lan-arrow-3">
            <a:extLst>
              <a:ext uri="{FF2B5EF4-FFF2-40B4-BE49-F238E27FC236}">
                <a16:creationId xmlns:a16="http://schemas.microsoft.com/office/drawing/2014/main" id="{4DE96A2A-DEBE-4A35-C1DE-35D1DCC84F7C}"/>
              </a:ext>
            </a:extLst>
          </p:cNvPr>
          <p:cNvCxnSpPr/>
          <p:nvPr/>
        </p:nvCxnSpPr>
        <p:spPr>
          <a:xfrm>
            <a:off x="6417369" y="3393948"/>
            <a:ext cx="1227012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actual-arrow-3">
            <a:extLst>
              <a:ext uri="{FF2B5EF4-FFF2-40B4-BE49-F238E27FC236}">
                <a16:creationId xmlns:a16="http://schemas.microsoft.com/office/drawing/2014/main" id="{8B5AB5BB-AC9D-CC73-C606-F2D19E0931A2}"/>
              </a:ext>
            </a:extLst>
          </p:cNvPr>
          <p:cNvCxnSpPr>
            <a:cxnSpLocks/>
          </p:cNvCxnSpPr>
          <p:nvPr/>
        </p:nvCxnSpPr>
        <p:spPr>
          <a:xfrm>
            <a:off x="6366569" y="3493922"/>
            <a:ext cx="1320106" cy="0"/>
          </a:xfrm>
          <a:prstGeom prst="straightConnector1">
            <a:avLst/>
          </a:prstGeom>
          <a:ln w="28575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lan-arrow-4">
            <a:extLst>
              <a:ext uri="{FF2B5EF4-FFF2-40B4-BE49-F238E27FC236}">
                <a16:creationId xmlns:a16="http://schemas.microsoft.com/office/drawing/2014/main" id="{67D5A805-2E9A-5AB7-04D0-B3E020C6C55C}"/>
              </a:ext>
            </a:extLst>
          </p:cNvPr>
          <p:cNvCxnSpPr/>
          <p:nvPr/>
        </p:nvCxnSpPr>
        <p:spPr>
          <a:xfrm>
            <a:off x="7720581" y="3737610"/>
            <a:ext cx="57540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lan-arrow-5">
            <a:extLst>
              <a:ext uri="{FF2B5EF4-FFF2-40B4-BE49-F238E27FC236}">
                <a16:creationId xmlns:a16="http://schemas.microsoft.com/office/drawing/2014/main" id="{33796498-3DD9-DB6E-D5C3-968025EAD6C8}"/>
              </a:ext>
            </a:extLst>
          </p:cNvPr>
          <p:cNvCxnSpPr/>
          <p:nvPr/>
        </p:nvCxnSpPr>
        <p:spPr>
          <a:xfrm>
            <a:off x="8372187" y="4050030"/>
            <a:ext cx="12994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lan-arrow-6">
            <a:extLst>
              <a:ext uri="{FF2B5EF4-FFF2-40B4-BE49-F238E27FC236}">
                <a16:creationId xmlns:a16="http://schemas.microsoft.com/office/drawing/2014/main" id="{E1CEFBF0-9238-C6E3-2842-41CB72DEDB97}"/>
              </a:ext>
            </a:extLst>
          </p:cNvPr>
          <p:cNvCxnSpPr/>
          <p:nvPr/>
        </p:nvCxnSpPr>
        <p:spPr>
          <a:xfrm>
            <a:off x="9747800" y="4362450"/>
            <a:ext cx="1420380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lan-arrow-7">
            <a:extLst>
              <a:ext uri="{FF2B5EF4-FFF2-40B4-BE49-F238E27FC236}">
                <a16:creationId xmlns:a16="http://schemas.microsoft.com/office/drawing/2014/main" id="{21F5E4AD-FE6A-01A5-757F-771B7C02A687}"/>
              </a:ext>
            </a:extLst>
          </p:cNvPr>
          <p:cNvCxnSpPr/>
          <p:nvPr/>
        </p:nvCxnSpPr>
        <p:spPr>
          <a:xfrm>
            <a:off x="9747800" y="4674870"/>
            <a:ext cx="1420380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lan-arrow-8">
            <a:extLst>
              <a:ext uri="{FF2B5EF4-FFF2-40B4-BE49-F238E27FC236}">
                <a16:creationId xmlns:a16="http://schemas.microsoft.com/office/drawing/2014/main" id="{C9BC3C89-5043-6145-1696-F33A3F868FBA}"/>
              </a:ext>
            </a:extLst>
          </p:cNvPr>
          <p:cNvCxnSpPr/>
          <p:nvPr/>
        </p:nvCxnSpPr>
        <p:spPr>
          <a:xfrm>
            <a:off x="9747800" y="4987290"/>
            <a:ext cx="1420380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lan-arrow-9">
            <a:extLst>
              <a:ext uri="{FF2B5EF4-FFF2-40B4-BE49-F238E27FC236}">
                <a16:creationId xmlns:a16="http://schemas.microsoft.com/office/drawing/2014/main" id="{E6C96679-659E-B045-A8F7-5736307B65F8}"/>
              </a:ext>
            </a:extLst>
          </p:cNvPr>
          <p:cNvCxnSpPr/>
          <p:nvPr/>
        </p:nvCxnSpPr>
        <p:spPr>
          <a:xfrm>
            <a:off x="9747800" y="5299710"/>
            <a:ext cx="2144387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lan-arrow-10">
            <a:extLst>
              <a:ext uri="{FF2B5EF4-FFF2-40B4-BE49-F238E27FC236}">
                <a16:creationId xmlns:a16="http://schemas.microsoft.com/office/drawing/2014/main" id="{69B2629E-AC55-8759-F607-A19308EBF2F9}"/>
              </a:ext>
            </a:extLst>
          </p:cNvPr>
          <p:cNvCxnSpPr/>
          <p:nvPr/>
        </p:nvCxnSpPr>
        <p:spPr>
          <a:xfrm>
            <a:off x="10520374" y="5612130"/>
            <a:ext cx="13718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lan-arrow-11">
            <a:extLst>
              <a:ext uri="{FF2B5EF4-FFF2-40B4-BE49-F238E27FC236}">
                <a16:creationId xmlns:a16="http://schemas.microsoft.com/office/drawing/2014/main" id="{E8763066-E93E-73F8-58EA-981D3D58FBBC}"/>
              </a:ext>
            </a:extLst>
          </p:cNvPr>
          <p:cNvCxnSpPr/>
          <p:nvPr/>
        </p:nvCxnSpPr>
        <p:spPr>
          <a:xfrm>
            <a:off x="10520374" y="5924550"/>
            <a:ext cx="13718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lan-arrow-12">
            <a:extLst>
              <a:ext uri="{FF2B5EF4-FFF2-40B4-BE49-F238E27FC236}">
                <a16:creationId xmlns:a16="http://schemas.microsoft.com/office/drawing/2014/main" id="{77027A64-05E8-C114-0C3B-8629F06DA334}"/>
              </a:ext>
            </a:extLst>
          </p:cNvPr>
          <p:cNvCxnSpPr/>
          <p:nvPr/>
        </p:nvCxnSpPr>
        <p:spPr>
          <a:xfrm>
            <a:off x="10520374" y="6236970"/>
            <a:ext cx="13718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lan-arrow-13">
            <a:extLst>
              <a:ext uri="{FF2B5EF4-FFF2-40B4-BE49-F238E27FC236}">
                <a16:creationId xmlns:a16="http://schemas.microsoft.com/office/drawing/2014/main" id="{18A3894F-8591-C921-BF08-04CAEB6447B5}"/>
              </a:ext>
            </a:extLst>
          </p:cNvPr>
          <p:cNvCxnSpPr/>
          <p:nvPr/>
        </p:nvCxnSpPr>
        <p:spPr>
          <a:xfrm>
            <a:off x="11244380" y="6549390"/>
            <a:ext cx="14442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lan-arrow-14">
            <a:extLst>
              <a:ext uri="{FF2B5EF4-FFF2-40B4-BE49-F238E27FC236}">
                <a16:creationId xmlns:a16="http://schemas.microsoft.com/office/drawing/2014/main" id="{AC452BB4-893B-7876-F1FE-1595897FBF58}"/>
              </a:ext>
            </a:extLst>
          </p:cNvPr>
          <p:cNvCxnSpPr/>
          <p:nvPr/>
        </p:nvCxnSpPr>
        <p:spPr>
          <a:xfrm>
            <a:off x="11244380" y="6861810"/>
            <a:ext cx="14442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plan-arrow-15">
            <a:extLst>
              <a:ext uri="{FF2B5EF4-FFF2-40B4-BE49-F238E27FC236}">
                <a16:creationId xmlns:a16="http://schemas.microsoft.com/office/drawing/2014/main" id="{1021F9D4-AB93-D498-11F4-770BB9E8E67B}"/>
              </a:ext>
            </a:extLst>
          </p:cNvPr>
          <p:cNvCxnSpPr/>
          <p:nvPr/>
        </p:nvCxnSpPr>
        <p:spPr>
          <a:xfrm>
            <a:off x="10520374" y="7204710"/>
            <a:ext cx="289222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lan-arrow-16">
            <a:extLst>
              <a:ext uri="{FF2B5EF4-FFF2-40B4-BE49-F238E27FC236}">
                <a16:creationId xmlns:a16="http://schemas.microsoft.com/office/drawing/2014/main" id="{F18B322D-EDB1-86FE-71F0-E6EA23DE5EA1}"/>
              </a:ext>
            </a:extLst>
          </p:cNvPr>
          <p:cNvCxnSpPr/>
          <p:nvPr/>
        </p:nvCxnSpPr>
        <p:spPr>
          <a:xfrm>
            <a:off x="11968387" y="7547610"/>
            <a:ext cx="2168218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plan-arrow-17">
            <a:extLst>
              <a:ext uri="{FF2B5EF4-FFF2-40B4-BE49-F238E27FC236}">
                <a16:creationId xmlns:a16="http://schemas.microsoft.com/office/drawing/2014/main" id="{C6703A69-AB23-BC86-8386-DD945A32B7CA}"/>
              </a:ext>
            </a:extLst>
          </p:cNvPr>
          <p:cNvCxnSpPr/>
          <p:nvPr/>
        </p:nvCxnSpPr>
        <p:spPr>
          <a:xfrm>
            <a:off x="11968387" y="7860030"/>
            <a:ext cx="720206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plan-arrow-18">
            <a:extLst>
              <a:ext uri="{FF2B5EF4-FFF2-40B4-BE49-F238E27FC236}">
                <a16:creationId xmlns:a16="http://schemas.microsoft.com/office/drawing/2014/main" id="{10F5EE80-5092-7309-7580-4E2A74A2744A}"/>
              </a:ext>
            </a:extLst>
          </p:cNvPr>
          <p:cNvCxnSpPr/>
          <p:nvPr/>
        </p:nvCxnSpPr>
        <p:spPr>
          <a:xfrm>
            <a:off x="11968387" y="8172450"/>
            <a:ext cx="1444213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plan-arrow-19">
            <a:extLst>
              <a:ext uri="{FF2B5EF4-FFF2-40B4-BE49-F238E27FC236}">
                <a16:creationId xmlns:a16="http://schemas.microsoft.com/office/drawing/2014/main" id="{7037AA76-0320-59A7-B7F1-CFD4FF69FE3E}"/>
              </a:ext>
            </a:extLst>
          </p:cNvPr>
          <p:cNvCxnSpPr/>
          <p:nvPr/>
        </p:nvCxnSpPr>
        <p:spPr>
          <a:xfrm>
            <a:off x="12764793" y="8484870"/>
            <a:ext cx="1371812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plan-arrow-20">
            <a:extLst>
              <a:ext uri="{FF2B5EF4-FFF2-40B4-BE49-F238E27FC236}">
                <a16:creationId xmlns:a16="http://schemas.microsoft.com/office/drawing/2014/main" id="{10F2E02C-3EE2-6701-3246-E5E9E681642D}"/>
              </a:ext>
            </a:extLst>
          </p:cNvPr>
          <p:cNvCxnSpPr/>
          <p:nvPr/>
        </p:nvCxnSpPr>
        <p:spPr>
          <a:xfrm>
            <a:off x="12764793" y="8797290"/>
            <a:ext cx="1371812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plan-arrow-21">
            <a:extLst>
              <a:ext uri="{FF2B5EF4-FFF2-40B4-BE49-F238E27FC236}">
                <a16:creationId xmlns:a16="http://schemas.microsoft.com/office/drawing/2014/main" id="{EB17920D-490A-F3BD-3D84-46A4CD54DA34}"/>
              </a:ext>
            </a:extLst>
          </p:cNvPr>
          <p:cNvCxnSpPr/>
          <p:nvPr/>
        </p:nvCxnSpPr>
        <p:spPr>
          <a:xfrm>
            <a:off x="14212805" y="9109710"/>
            <a:ext cx="1661414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plan-arrow-22">
            <a:extLst>
              <a:ext uri="{FF2B5EF4-FFF2-40B4-BE49-F238E27FC236}">
                <a16:creationId xmlns:a16="http://schemas.microsoft.com/office/drawing/2014/main" id="{A41BE061-8619-4A7B-23DA-7D7DA3F3E895}"/>
              </a:ext>
            </a:extLst>
          </p:cNvPr>
          <p:cNvCxnSpPr/>
          <p:nvPr/>
        </p:nvCxnSpPr>
        <p:spPr>
          <a:xfrm>
            <a:off x="5009392" y="9390888"/>
            <a:ext cx="10864827" cy="0"/>
          </a:xfrm>
          <a:prstGeom prst="straightConnector1">
            <a:avLst/>
          </a:prstGeom>
          <a:ln w="22225" cap="rnd">
            <a:solidFill>
              <a:srgbClr val="00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ctual-arrow-22">
            <a:extLst>
              <a:ext uri="{FF2B5EF4-FFF2-40B4-BE49-F238E27FC236}">
                <a16:creationId xmlns:a16="http://schemas.microsoft.com/office/drawing/2014/main" id="{EB194E3A-0C0E-1FF7-FA7C-5EAC08144C46}"/>
              </a:ext>
            </a:extLst>
          </p:cNvPr>
          <p:cNvCxnSpPr>
            <a:cxnSpLocks/>
          </p:cNvCxnSpPr>
          <p:nvPr/>
        </p:nvCxnSpPr>
        <p:spPr>
          <a:xfrm>
            <a:off x="4971292" y="9490863"/>
            <a:ext cx="2715383" cy="0"/>
          </a:xfrm>
          <a:prstGeom prst="straightConnector1">
            <a:avLst/>
          </a:prstGeom>
          <a:ln w="31750">
            <a:solidFill>
              <a:srgbClr val="363A52"/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4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8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>
            <a:extLst>
              <a:ext uri="{FF2B5EF4-FFF2-40B4-BE49-F238E27FC236}">
                <a16:creationId xmlns:a16="http://schemas.microsoft.com/office/drawing/2014/main" id="{2ABF8791-8379-4FAC-BB1A-7EA32566828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>
            <a:extLst>
              <a:ext uri="{FF2B5EF4-FFF2-40B4-BE49-F238E27FC236}">
                <a16:creationId xmlns:a16="http://schemas.microsoft.com/office/drawing/2014/main" id="{E69BECA1-FED7-44C7-B939-6E122779D648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절차 기술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  <p:sp>
        <p:nvSpPr>
          <p:cNvPr id="5079" name="TextBox 5078">
            <a:extLst>
              <a:ext uri="{FF2B5EF4-FFF2-40B4-BE49-F238E27FC236}">
                <a16:creationId xmlns:a16="http://schemas.microsoft.com/office/drawing/2014/main" id="{8F487A9A-FEB6-4851-9D13-D156EE753887}"/>
              </a:ext>
            </a:extLst>
          </p:cNvPr>
          <p:cNvSpPr>
            <a:spLocks noGrp="1"/>
          </p:cNvSpPr>
          <p:nvPr/>
        </p:nvSpPr>
        <p:spPr>
          <a:xfrm>
            <a:off x="902969" y="2395728"/>
            <a:ext cx="16344900" cy="6789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본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「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」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위기관리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표준매뉴얼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연결해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산불현장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통합지휘권자에게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해야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할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진화·대피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조치를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제안하는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의사결정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웹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산불은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발생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건수가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줄어도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한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피해가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커지고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있으나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국가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제공할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뿐 그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행동으로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옮길지는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소수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인력이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119쪽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분량의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매뉴얼을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찾아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수작업으로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해결하기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①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현장에서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정보·실측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1시간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간격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②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규칙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엔진이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대응단계·위험구역·대피소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처럼 근거 문서에 경계값·수치가 있는 판정 값을 계산한 뒤, ③ 국내 LLM(EXAONE 4.0 32B)이 그 판정 값과 상황 데이터를 넘겨받아 진화 7개(S1~S7)·대피 7개(E1~E7) 항목의 대응을 판단해 제안 문장을 만들고 RAG로 검색한 매뉴얼 근거를 인용하며, ④ 통합지휘권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AI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이유와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묻거나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완료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변화를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알려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다시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받게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경계값이 있는 수치 판정은 규칙이 맡고 LLM은 그 값을 바꾸지 못하며, 제안 문장마다 근거를 붙여 근거 없는 판단을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않도록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사용자는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네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권한으로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나뉜다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초기대응·확산대응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1단계에서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통합지휘본부장이자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주민대피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명령권자인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시장·군수·구청장이다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(p.72, p.84).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 2단계로 격상되면 지휘권 인계를 안내한다(S6). 확산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위험도와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제안·근거를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검토하며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AI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어시스턴트에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질문하거나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처리를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열람자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유관기관·상급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본부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담당자로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상황도와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발생·접수 정보를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보기만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보고자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초기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위치·일시와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중인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폴리곤으로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전산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관리자는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평시에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계정·권한과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진화자원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데이터를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관리한다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로그인에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5회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연속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실패해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잠긴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계정은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전산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관리자만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잠금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해제하며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해제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시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실패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횟수를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0으로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초기화한다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측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참여자는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확산예측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(ELMFIRE), 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AI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(EXAONE + KURE-v1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검색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),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기상청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API·공공데이터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단기예보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위성영상·지도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타일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SGIS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경계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마을·시설·대피소·도로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)다.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확산예측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모듈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(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없으면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)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30 m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격자의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지형·연료와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기상으로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누적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P1~P8을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만들면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DB에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저장해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지도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표시·위험도 계산·규칙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판정·제안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생성에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함께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쓴다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로그인·로그아웃·입력·예측·제안·정정·종료·계정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및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자원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변경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이벤트는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이벤트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로그에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기록되고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화면에서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시각·구분·내용·사용자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기준으로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읽기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전용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열람한다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업무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절차는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다음과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1" dirty="0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보고자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화선을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입력하면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열람자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상황도에서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범위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주요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시설의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위치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진화자원을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확인한다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1" dirty="0" err="1">
                <a:solidFill>
                  <a:srgbClr val="FAA95A"/>
                </a:solidFill>
                <a:latin typeface="210 OmniGothic 030"/>
                <a:ea typeface="210 OmniGothic 030"/>
                <a:cs typeface="210 OmniGothic 030"/>
              </a:rPr>
              <a:t>통합지휘권자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저장한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뒤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곧바로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진화·대피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제안서를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만든다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즉시·대기·협의·요청으로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구분되며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모든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문장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번호가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붙는다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갱신되거나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확정되면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새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버전이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생기고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바뀐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항목이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표시되며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진화가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끝나면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처리를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종료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후에는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실행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상황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정정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재생성을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차단하고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기존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제안은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이력으로만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열람한다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19"/>
              </a:spcAft>
              <a:buNone/>
            </a:pP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이로써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예측과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사이의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수작업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공백을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줄이고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판단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근거를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조항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단위로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추적할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수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있는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투명한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의사결정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환경을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제공한다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시스템은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권고만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하며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,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대응단계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발령과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대피명령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같은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최종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결정은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통합지휘권자가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 </a:t>
            </a:r>
            <a:r>
              <a:rPr sz="1550" b="0" dirty="0" err="1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내린다</a:t>
            </a:r>
            <a:r>
              <a:rPr sz="1550" b="0" dirty="0">
                <a:solidFill>
                  <a:srgbClr val="363A52"/>
                </a:solidFill>
                <a:latin typeface="210 OmniGothic 030"/>
                <a:ea typeface="210 OmniGothic 030"/>
                <a:cs typeface="210 OmniGothic 03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60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3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64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65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66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>
            <a:extLst>
              <a:ext uri="{FF2B5EF4-FFF2-40B4-BE49-F238E27FC236}">
                <a16:creationId xmlns:a16="http://schemas.microsoft.com/office/drawing/2014/main" id="{8F63756B-60A2-4ECD-994A-D91036BD570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83" name="Subtitle">
            <a:extLst>
              <a:ext uri="{FF2B5EF4-FFF2-40B4-BE49-F238E27FC236}">
                <a16:creationId xmlns:a16="http://schemas.microsoft.com/office/drawing/2014/main" id="{2EB428F3-54C5-4E65-8A81-A3BE531CFD5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업무 절차 흐름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  <p:sp>
        <p:nvSpPr>
          <p:cNvPr id="5084" name="Rectangle 5083">
            <a:extLst>
              <a:ext uri="{FF2B5EF4-FFF2-40B4-BE49-F238E27FC236}">
                <a16:creationId xmlns:a16="http://schemas.microsoft.com/office/drawing/2014/main" id="{F51F9E07-BFEB-4E10-9F93-44F08461CDF4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6459200" cy="2031796"/>
          </a:xfrm>
          <a:prstGeom prst="rect">
            <a:avLst/>
          </a:prstGeom>
          <a:solidFill>
            <a:srgbClr val="FFF8F2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5" name="Rectangle 5084">
            <a:extLst>
              <a:ext uri="{FF2B5EF4-FFF2-40B4-BE49-F238E27FC236}">
                <a16:creationId xmlns:a16="http://schemas.microsoft.com/office/drawing/2014/main" id="{E8047996-2E3A-40BC-8776-8956BA0A1631}"/>
              </a:ext>
            </a:extLst>
          </p:cNvPr>
          <p:cNvSpPr>
            <a:spLocks noGrp="1"/>
          </p:cNvSpPr>
          <p:nvPr/>
        </p:nvSpPr>
        <p:spPr>
          <a:xfrm>
            <a:off x="822960" y="2446020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(권한별)</a:t>
            </a:r>
          </a:p>
        </p:txBody>
      </p:sp>
      <p:sp>
        <p:nvSpPr>
          <p:cNvPr id="5086" name="Rectangle 5085">
            <a:extLst>
              <a:ext uri="{FF2B5EF4-FFF2-40B4-BE49-F238E27FC236}">
                <a16:creationId xmlns:a16="http://schemas.microsoft.com/office/drawing/2014/main" id="{7DAB4E53-3F86-4F7F-8E6A-6271310CBBE3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6459200" cy="2031796"/>
          </a:xfrm>
          <a:prstGeom prst="rect">
            <a:avLst/>
          </a:prstGeom>
          <a:solidFill>
            <a:srgbClr val="F6F7FA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7" name="Rectangle 5086">
            <a:extLst>
              <a:ext uri="{FF2B5EF4-FFF2-40B4-BE49-F238E27FC236}">
                <a16:creationId xmlns:a16="http://schemas.microsoft.com/office/drawing/2014/main" id="{BC0DF840-4A43-4319-AB98-489DF71798C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</a:t>
            </a:r>
          </a:p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(웹 · API 서버)</a:t>
            </a:r>
          </a:p>
        </p:txBody>
      </p:sp>
      <p:sp>
        <p:nvSpPr>
          <p:cNvPr id="5088" name="Rectangle 5087">
            <a:extLst>
              <a:ext uri="{FF2B5EF4-FFF2-40B4-BE49-F238E27FC236}">
                <a16:creationId xmlns:a16="http://schemas.microsoft.com/office/drawing/2014/main" id="{9B0B8B72-3514-47C9-AC35-87F5171F7707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6459200" cy="2031796"/>
          </a:xfrm>
          <a:prstGeom prst="rect">
            <a:avLst/>
          </a:prstGeom>
          <a:solidFill>
            <a:srgbClr val="EEF1F7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89" name="Rectangle 5088">
            <a:extLst>
              <a:ext uri="{FF2B5EF4-FFF2-40B4-BE49-F238E27FC236}">
                <a16:creationId xmlns:a16="http://schemas.microsoft.com/office/drawing/2014/main" id="{920A4647-ECD5-4310-AC49-5D5E8B7AE256}"/>
              </a:ext>
            </a:extLst>
          </p:cNvPr>
          <p:cNvSpPr>
            <a:spLocks noGrp="1"/>
          </p:cNvSpPr>
          <p:nvPr/>
        </p:nvSpPr>
        <p:spPr>
          <a:xfrm>
            <a:off x="822960" y="6509613"/>
            <a:ext cx="1257300" cy="2031796"/>
          </a:xfrm>
          <a:prstGeom prst="rect">
            <a:avLst/>
          </a:prstGeom>
          <a:solidFill>
            <a:srgbClr val="FDEBD9"/>
          </a:solidFill>
          <a:ln w="10160">
            <a:solidFill>
              <a:srgbClr val="C3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외부 · AI 모듈</a:t>
            </a:r>
          </a:p>
        </p:txBody>
      </p:sp>
      <p:sp>
        <p:nvSpPr>
          <p:cNvPr id="5090" name="Rounded Rectangle 5089">
            <a:extLst>
              <a:ext uri="{FF2B5EF4-FFF2-40B4-BE49-F238E27FC236}">
                <a16:creationId xmlns:a16="http://schemas.microsoft.com/office/drawing/2014/main" id="{748E786E-A1BB-4201-9B2A-18E955EA00BE}"/>
              </a:ext>
            </a:extLst>
          </p:cNvPr>
          <p:cNvSpPr>
            <a:spLocks noGrp="1"/>
          </p:cNvSpPr>
          <p:nvPr/>
        </p:nvSpPr>
        <p:spPr>
          <a:xfrm>
            <a:off x="221742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1" name="TextBox 5090">
            <a:extLst>
              <a:ext uri="{FF2B5EF4-FFF2-40B4-BE49-F238E27FC236}">
                <a16:creationId xmlns:a16="http://schemas.microsoft.com/office/drawing/2014/main" id="{8BF51D12-3694-49E0-BFDA-6E1ED8296DBE}"/>
              </a:ext>
            </a:extLst>
          </p:cNvPr>
          <p:cNvSpPr>
            <a:spLocks noGrp="1"/>
          </p:cNvSpPr>
          <p:nvPr/>
        </p:nvSpPr>
        <p:spPr>
          <a:xfrm>
            <a:off x="227457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로그인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5회 실패 시 잠금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관리자 잠금 해제</a:t>
            </a:r>
          </a:p>
        </p:txBody>
      </p:sp>
      <p:sp>
        <p:nvSpPr>
          <p:cNvPr id="5092" name="Oval 5091">
            <a:extLst>
              <a:ext uri="{FF2B5EF4-FFF2-40B4-BE49-F238E27FC236}">
                <a16:creationId xmlns:a16="http://schemas.microsoft.com/office/drawing/2014/main" id="{0CC34AFF-8327-40CA-AE8B-B0B9D6F8D51E}"/>
              </a:ext>
            </a:extLst>
          </p:cNvPr>
          <p:cNvSpPr>
            <a:spLocks noGrp="1"/>
          </p:cNvSpPr>
          <p:nvPr/>
        </p:nvSpPr>
        <p:spPr>
          <a:xfrm>
            <a:off x="208940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093" name="Rounded Rectangle 5092">
            <a:extLst>
              <a:ext uri="{FF2B5EF4-FFF2-40B4-BE49-F238E27FC236}">
                <a16:creationId xmlns:a16="http://schemas.microsoft.com/office/drawing/2014/main" id="{1AC10288-D8E4-4B5A-9A98-CABE27411F69}"/>
              </a:ext>
            </a:extLst>
          </p:cNvPr>
          <p:cNvSpPr>
            <a:spLocks noGrp="1"/>
          </p:cNvSpPr>
          <p:nvPr/>
        </p:nvSpPr>
        <p:spPr>
          <a:xfrm>
            <a:off x="221742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4" name="TextBox 5093">
            <a:extLst>
              <a:ext uri="{FF2B5EF4-FFF2-40B4-BE49-F238E27FC236}">
                <a16:creationId xmlns:a16="http://schemas.microsoft.com/office/drawing/2014/main" id="{9F2E5775-9C08-4C2C-8398-136E965AC6A7}"/>
              </a:ext>
            </a:extLst>
          </p:cNvPr>
          <p:cNvSpPr>
            <a:spLocks noGrp="1"/>
          </p:cNvSpPr>
          <p:nvPr/>
        </p:nvSpPr>
        <p:spPr>
          <a:xfrm>
            <a:off x="227457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확인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 · 권한 적용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관리</a:t>
            </a:r>
          </a:p>
        </p:txBody>
      </p:sp>
      <p:sp>
        <p:nvSpPr>
          <p:cNvPr id="5095" name="Rounded Rectangle 5094">
            <a:extLst>
              <a:ext uri="{FF2B5EF4-FFF2-40B4-BE49-F238E27FC236}">
                <a16:creationId xmlns:a16="http://schemas.microsoft.com/office/drawing/2014/main" id="{8A2C5D3D-4991-46F5-A4D7-BC649C841535}"/>
              </a:ext>
            </a:extLst>
          </p:cNvPr>
          <p:cNvSpPr>
            <a:spLocks noGrp="1"/>
          </p:cNvSpPr>
          <p:nvPr/>
        </p:nvSpPr>
        <p:spPr>
          <a:xfrm>
            <a:off x="409765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6" name="TextBox 5095">
            <a:extLst>
              <a:ext uri="{FF2B5EF4-FFF2-40B4-BE49-F238E27FC236}">
                <a16:creationId xmlns:a16="http://schemas.microsoft.com/office/drawing/2014/main" id="{C548DDEE-8507-4864-B076-F77CD38A231D}"/>
              </a:ext>
            </a:extLst>
          </p:cNvPr>
          <p:cNvSpPr>
            <a:spLocks noGrp="1"/>
          </p:cNvSpPr>
          <p:nvPr/>
        </p:nvSpPr>
        <p:spPr>
          <a:xfrm>
            <a:off x="415480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정보 입력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상황 보고자발화점·일시·실측 화선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097" name="Oval 5096">
            <a:extLst>
              <a:ext uri="{FF2B5EF4-FFF2-40B4-BE49-F238E27FC236}">
                <a16:creationId xmlns:a16="http://schemas.microsoft.com/office/drawing/2014/main" id="{752BD9BA-8124-4FF0-BD9B-E07F9B117F1C}"/>
              </a:ext>
            </a:extLst>
          </p:cNvPr>
          <p:cNvSpPr>
            <a:spLocks noGrp="1"/>
          </p:cNvSpPr>
          <p:nvPr/>
        </p:nvSpPr>
        <p:spPr>
          <a:xfrm>
            <a:off x="396963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2</a:t>
            </a:r>
          </a:p>
        </p:txBody>
      </p:sp>
      <p:sp>
        <p:nvSpPr>
          <p:cNvPr id="5098" name="Rounded Rectangle 5097">
            <a:extLst>
              <a:ext uri="{FF2B5EF4-FFF2-40B4-BE49-F238E27FC236}">
                <a16:creationId xmlns:a16="http://schemas.microsoft.com/office/drawing/2014/main" id="{5B3D8B38-A29E-4970-9111-E40167CA7275}"/>
              </a:ext>
            </a:extLst>
          </p:cNvPr>
          <p:cNvSpPr>
            <a:spLocks noGrp="1"/>
          </p:cNvSpPr>
          <p:nvPr/>
        </p:nvSpPr>
        <p:spPr>
          <a:xfrm>
            <a:off x="409765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099" name="TextBox 5098">
            <a:extLst>
              <a:ext uri="{FF2B5EF4-FFF2-40B4-BE49-F238E27FC236}">
                <a16:creationId xmlns:a16="http://schemas.microsoft.com/office/drawing/2014/main" id="{BFAD2DB0-BA9C-41E5-BC87-03B678B71A5B}"/>
              </a:ext>
            </a:extLst>
          </p:cNvPr>
          <p:cNvSpPr>
            <a:spLocks noGrp="1"/>
          </p:cNvSpPr>
          <p:nvPr/>
        </p:nvSpPr>
        <p:spPr>
          <a:xfrm>
            <a:off x="4154805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여부 · 입력 검증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사건 수정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· 로그 기록</a:t>
            </a:r>
          </a:p>
        </p:txBody>
      </p:sp>
      <p:sp>
        <p:nvSpPr>
          <p:cNvPr id="5100" name="Rounded Rectangle 5099">
            <a:extLst>
              <a:ext uri="{FF2B5EF4-FFF2-40B4-BE49-F238E27FC236}">
                <a16:creationId xmlns:a16="http://schemas.microsoft.com/office/drawing/2014/main" id="{87991827-7ACD-4255-90A0-026EEB7EAA5A}"/>
              </a:ext>
            </a:extLst>
          </p:cNvPr>
          <p:cNvSpPr>
            <a:spLocks noGrp="1"/>
          </p:cNvSpPr>
          <p:nvPr/>
        </p:nvSpPr>
        <p:spPr>
          <a:xfrm>
            <a:off x="597789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1" name="TextBox 5100">
            <a:extLst>
              <a:ext uri="{FF2B5EF4-FFF2-40B4-BE49-F238E27FC236}">
                <a16:creationId xmlns:a16="http://schemas.microsoft.com/office/drawing/2014/main" id="{95FC87AB-5B94-4304-9AFC-30EDFEDC123A}"/>
              </a:ext>
            </a:extLst>
          </p:cNvPr>
          <p:cNvSpPr>
            <a:spLocks noGrp="1"/>
          </p:cNvSpPr>
          <p:nvPr/>
        </p:nvSpPr>
        <p:spPr>
          <a:xfrm>
            <a:off x="603504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확인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 상황도 · 접수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 · 위험도</a:t>
            </a:r>
          </a:p>
        </p:txBody>
      </p:sp>
      <p:sp>
        <p:nvSpPr>
          <p:cNvPr id="5102" name="Oval 5101">
            <a:extLst>
              <a:ext uri="{FF2B5EF4-FFF2-40B4-BE49-F238E27FC236}">
                <a16:creationId xmlns:a16="http://schemas.microsoft.com/office/drawing/2014/main" id="{478B2D84-274F-48E8-8360-CB1DE28F9E9C}"/>
              </a:ext>
            </a:extLst>
          </p:cNvPr>
          <p:cNvSpPr>
            <a:spLocks noGrp="1"/>
          </p:cNvSpPr>
          <p:nvPr/>
        </p:nvSpPr>
        <p:spPr>
          <a:xfrm>
            <a:off x="584987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3</a:t>
            </a:r>
          </a:p>
        </p:txBody>
      </p:sp>
      <p:sp>
        <p:nvSpPr>
          <p:cNvPr id="5103" name="Rounded Rectangle 5102">
            <a:extLst>
              <a:ext uri="{FF2B5EF4-FFF2-40B4-BE49-F238E27FC236}">
                <a16:creationId xmlns:a16="http://schemas.microsoft.com/office/drawing/2014/main" id="{293BE0A2-4395-4C3A-8AF5-9FB727EE767E}"/>
              </a:ext>
            </a:extLst>
          </p:cNvPr>
          <p:cNvSpPr>
            <a:spLocks noGrp="1"/>
          </p:cNvSpPr>
          <p:nvPr/>
        </p:nvSpPr>
        <p:spPr>
          <a:xfrm>
            <a:off x="597789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4" name="TextBox 5103">
            <a:extLst>
              <a:ext uri="{FF2B5EF4-FFF2-40B4-BE49-F238E27FC236}">
                <a16:creationId xmlns:a16="http://schemas.microsoft.com/office/drawing/2014/main" id="{B4C39432-011F-43E0-96A5-F12359D593CF}"/>
              </a:ext>
            </a:extLst>
          </p:cNvPr>
          <p:cNvSpPr>
            <a:spLocks noGrp="1"/>
          </p:cNvSpPr>
          <p:nvPr/>
        </p:nvSpPr>
        <p:spPr>
          <a:xfrm>
            <a:off x="6035040" y="5158349"/>
            <a:ext cx="1600200" cy="710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조회</a:t>
            </a:r>
            <a:endParaRPr sz="1250" b="1" dirty="0">
              <a:solidFill>
                <a:srgbClr val="2E314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시설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위치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자원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합계P5 </a:t>
            </a:r>
            <a:br>
              <a:rPr lang="en-US"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R(1~5)</a:t>
            </a:r>
            <a:b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endParaRPr sz="105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105" name="Rounded Rectangle 5104">
            <a:extLst>
              <a:ext uri="{FF2B5EF4-FFF2-40B4-BE49-F238E27FC236}">
                <a16:creationId xmlns:a16="http://schemas.microsoft.com/office/drawing/2014/main" id="{E7C61568-321E-4C0E-98AB-CA4A58ED0433}"/>
              </a:ext>
            </a:extLst>
          </p:cNvPr>
          <p:cNvSpPr>
            <a:spLocks noGrp="1"/>
          </p:cNvSpPr>
          <p:nvPr/>
        </p:nvSpPr>
        <p:spPr>
          <a:xfrm>
            <a:off x="597789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6" name="TextBox 5105">
            <a:extLst>
              <a:ext uri="{FF2B5EF4-FFF2-40B4-BE49-F238E27FC236}">
                <a16:creationId xmlns:a16="http://schemas.microsoft.com/office/drawing/2014/main" id="{13C03EED-751D-4A31-90AB-3A8F7DF730CE}"/>
              </a:ext>
            </a:extLst>
          </p:cNvPr>
          <p:cNvSpPr>
            <a:spLocks noGrp="1"/>
          </p:cNvSpPr>
          <p:nvPr/>
        </p:nvSpPr>
        <p:spPr>
          <a:xfrm>
            <a:off x="603504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· 기상청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위성영상 · 공공데이터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단기예보</a:t>
            </a:r>
          </a:p>
        </p:txBody>
      </p:sp>
      <p:sp>
        <p:nvSpPr>
          <p:cNvPr id="5107" name="Rounded Rectangle 5106">
            <a:extLst>
              <a:ext uri="{FF2B5EF4-FFF2-40B4-BE49-F238E27FC236}">
                <a16:creationId xmlns:a16="http://schemas.microsoft.com/office/drawing/2014/main" id="{065CC321-340F-45D3-B615-C36C6B023D35}"/>
              </a:ext>
            </a:extLst>
          </p:cNvPr>
          <p:cNvSpPr>
            <a:spLocks noGrp="1"/>
          </p:cNvSpPr>
          <p:nvPr/>
        </p:nvSpPr>
        <p:spPr>
          <a:xfrm>
            <a:off x="7858125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08" name="TextBox 5107">
            <a:extLst>
              <a:ext uri="{FF2B5EF4-FFF2-40B4-BE49-F238E27FC236}">
                <a16:creationId xmlns:a16="http://schemas.microsoft.com/office/drawing/2014/main" id="{EBAE2E83-81D0-49D5-8433-6915ABDF24C0}"/>
              </a:ext>
            </a:extLst>
          </p:cNvPr>
          <p:cNvSpPr>
            <a:spLocks noGrp="1"/>
          </p:cNvSpPr>
          <p:nvPr/>
        </p:nvSpPr>
        <p:spPr>
          <a:xfrm>
            <a:off x="7915275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09" name="Oval 5108">
            <a:extLst>
              <a:ext uri="{FF2B5EF4-FFF2-40B4-BE49-F238E27FC236}">
                <a16:creationId xmlns:a16="http://schemas.microsoft.com/office/drawing/2014/main" id="{41109E80-BAE6-48B7-9E10-EA59D308C7B1}"/>
              </a:ext>
            </a:extLst>
          </p:cNvPr>
          <p:cNvSpPr>
            <a:spLocks noGrp="1"/>
          </p:cNvSpPr>
          <p:nvPr/>
        </p:nvSpPr>
        <p:spPr>
          <a:xfrm>
            <a:off x="7730109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4</a:t>
            </a:r>
          </a:p>
        </p:txBody>
      </p:sp>
      <p:sp>
        <p:nvSpPr>
          <p:cNvPr id="5110" name="Rounded Rectangle 5109">
            <a:extLst>
              <a:ext uri="{FF2B5EF4-FFF2-40B4-BE49-F238E27FC236}">
                <a16:creationId xmlns:a16="http://schemas.microsoft.com/office/drawing/2014/main" id="{DFF4A30B-836E-4E15-88DD-497504673B2B}"/>
              </a:ext>
            </a:extLst>
          </p:cNvPr>
          <p:cNvSpPr>
            <a:spLocks noGrp="1"/>
          </p:cNvSpPr>
          <p:nvPr/>
        </p:nvSpPr>
        <p:spPr>
          <a:xfrm>
            <a:off x="7858125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1" name="TextBox 5110">
            <a:extLst>
              <a:ext uri="{FF2B5EF4-FFF2-40B4-BE49-F238E27FC236}">
                <a16:creationId xmlns:a16="http://schemas.microsoft.com/office/drawing/2014/main" id="{EAAD32BB-92B3-480E-B506-AB03D5110FB2}"/>
              </a:ext>
            </a:extLst>
          </p:cNvPr>
          <p:cNvSpPr>
            <a:spLocks noGrp="1"/>
          </p:cNvSpPr>
          <p:nvPr/>
        </p:nvSpPr>
        <p:spPr>
          <a:xfrm>
            <a:off x="7915275" y="5243180"/>
            <a:ext cx="1600200" cy="541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</a:t>
            </a:r>
            <a:r>
              <a:rPr sz="1250" b="1" dirty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250" b="1" dirty="0" err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</a:t>
            </a:r>
            <a:endParaRPr sz="1250" b="1" dirty="0">
              <a:solidFill>
                <a:srgbClr val="2E3142"/>
              </a:solidFill>
              <a:latin typeface="210 OmniGothic 040"/>
              <a:ea typeface="210 OmniGothic 040"/>
              <a:cs typeface="210 OmniGothic 04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P1~P8 ·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누적성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검증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· </a:t>
            </a:r>
            <a:br>
              <a:rPr lang="en-US"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P5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위험도</a:t>
            </a:r>
            <a:r>
              <a:rPr sz="1050" b="0" dirty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050" b="0" dirty="0" err="1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계산</a:t>
            </a:r>
            <a:endParaRPr sz="1050" b="0" dirty="0">
              <a:solidFill>
                <a:srgbClr val="6B7080"/>
              </a:solidFill>
              <a:latin typeface="210 OmniGothic 040"/>
              <a:ea typeface="210 OmniGothic 040"/>
              <a:cs typeface="210 OmniGothic 040"/>
            </a:endParaRPr>
          </a:p>
        </p:txBody>
      </p:sp>
      <p:sp>
        <p:nvSpPr>
          <p:cNvPr id="5112" name="Rounded Rectangle 5111">
            <a:extLst>
              <a:ext uri="{FF2B5EF4-FFF2-40B4-BE49-F238E27FC236}">
                <a16:creationId xmlns:a16="http://schemas.microsoft.com/office/drawing/2014/main" id="{1329F2AB-506B-4725-BD3F-236E22B37958}"/>
              </a:ext>
            </a:extLst>
          </p:cNvPr>
          <p:cNvSpPr>
            <a:spLocks noGrp="1"/>
          </p:cNvSpPr>
          <p:nvPr/>
        </p:nvSpPr>
        <p:spPr>
          <a:xfrm>
            <a:off x="7858125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3" name="TextBox 5112">
            <a:extLst>
              <a:ext uri="{FF2B5EF4-FFF2-40B4-BE49-F238E27FC236}">
                <a16:creationId xmlns:a16="http://schemas.microsoft.com/office/drawing/2014/main" id="{E6DC5BE2-06FB-4A8B-B375-11AD89B8F4CD}"/>
              </a:ext>
            </a:extLst>
          </p:cNvPr>
          <p:cNvSpPr>
            <a:spLocks noGrp="1"/>
          </p:cNvSpPr>
          <p:nvPr/>
        </p:nvSpPr>
        <p:spPr>
          <a:xfrm>
            <a:off x="7915275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ELMFIRE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실측 화선 → P1~P8</a:t>
            </a:r>
          </a:p>
        </p:txBody>
      </p:sp>
      <p:sp>
        <p:nvSpPr>
          <p:cNvPr id="5114" name="Rounded Rectangle 5113">
            <a:extLst>
              <a:ext uri="{FF2B5EF4-FFF2-40B4-BE49-F238E27FC236}">
                <a16:creationId xmlns:a16="http://schemas.microsoft.com/office/drawing/2014/main" id="{280CA83C-3A6A-437E-9C01-7F9DD4178C5B}"/>
              </a:ext>
            </a:extLst>
          </p:cNvPr>
          <p:cNvSpPr>
            <a:spLocks noGrp="1"/>
          </p:cNvSpPr>
          <p:nvPr/>
        </p:nvSpPr>
        <p:spPr>
          <a:xfrm>
            <a:off x="973836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5" name="TextBox 5114">
            <a:extLst>
              <a:ext uri="{FF2B5EF4-FFF2-40B4-BE49-F238E27FC236}">
                <a16:creationId xmlns:a16="http://schemas.microsoft.com/office/drawing/2014/main" id="{81B1A0A1-3B43-4202-991C-640C1AB3DD0E}"/>
              </a:ext>
            </a:extLst>
          </p:cNvPr>
          <p:cNvSpPr>
            <a:spLocks noGrp="1"/>
          </p:cNvSpPr>
          <p:nvPr/>
        </p:nvSpPr>
        <p:spPr>
          <a:xfrm>
            <a:off x="979551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판정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7 · 대피 7 발동</a:t>
            </a:r>
          </a:p>
        </p:txBody>
      </p:sp>
      <p:sp>
        <p:nvSpPr>
          <p:cNvPr id="5116" name="Oval 5115">
            <a:extLst>
              <a:ext uri="{FF2B5EF4-FFF2-40B4-BE49-F238E27FC236}">
                <a16:creationId xmlns:a16="http://schemas.microsoft.com/office/drawing/2014/main" id="{7234A965-DFDA-4319-B1C3-8174F506AF9D}"/>
              </a:ext>
            </a:extLst>
          </p:cNvPr>
          <p:cNvSpPr>
            <a:spLocks noGrp="1"/>
          </p:cNvSpPr>
          <p:nvPr/>
        </p:nvSpPr>
        <p:spPr>
          <a:xfrm>
            <a:off x="9610344" y="4709160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5</a:t>
            </a:r>
          </a:p>
        </p:txBody>
      </p:sp>
      <p:sp>
        <p:nvSpPr>
          <p:cNvPr id="5117" name="Rounded Rectangle 5116">
            <a:extLst>
              <a:ext uri="{FF2B5EF4-FFF2-40B4-BE49-F238E27FC236}">
                <a16:creationId xmlns:a16="http://schemas.microsoft.com/office/drawing/2014/main" id="{36BA8F14-5D74-404E-973C-CA526C0477CF}"/>
              </a:ext>
            </a:extLst>
          </p:cNvPr>
          <p:cNvSpPr>
            <a:spLocks noGrp="1"/>
          </p:cNvSpPr>
          <p:nvPr/>
        </p:nvSpPr>
        <p:spPr>
          <a:xfrm>
            <a:off x="973836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18" name="TextBox 5117">
            <a:extLst>
              <a:ext uri="{FF2B5EF4-FFF2-40B4-BE49-F238E27FC236}">
                <a16:creationId xmlns:a16="http://schemas.microsoft.com/office/drawing/2014/main" id="{EDEB9238-27EA-408E-85CD-6A5FC4AF0157}"/>
              </a:ext>
            </a:extLst>
          </p:cNvPr>
          <p:cNvSpPr>
            <a:spLocks noGrp="1"/>
          </p:cNvSpPr>
          <p:nvPr/>
        </p:nvSpPr>
        <p:spPr>
          <a:xfrm>
            <a:off x="979551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근거 검색 + 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근거 인용 제안 문장</a:t>
            </a:r>
          </a:p>
        </p:txBody>
      </p:sp>
      <p:sp>
        <p:nvSpPr>
          <p:cNvPr id="5119" name="Rounded Rectangle 5118">
            <a:extLst>
              <a:ext uri="{FF2B5EF4-FFF2-40B4-BE49-F238E27FC236}">
                <a16:creationId xmlns:a16="http://schemas.microsoft.com/office/drawing/2014/main" id="{8AC45B09-EB00-4D29-A9FD-1B0BFD30C099}"/>
              </a:ext>
            </a:extLst>
          </p:cNvPr>
          <p:cNvSpPr>
            <a:spLocks noGrp="1"/>
          </p:cNvSpPr>
          <p:nvPr/>
        </p:nvSpPr>
        <p:spPr>
          <a:xfrm>
            <a:off x="1161859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E394BE2A-61A9-442A-8DBF-50A86616F1FD}"/>
              </a:ext>
            </a:extLst>
          </p:cNvPr>
          <p:cNvSpPr>
            <a:spLocks noGrp="1"/>
          </p:cNvSpPr>
          <p:nvPr/>
        </p:nvSpPr>
        <p:spPr>
          <a:xfrm>
            <a:off x="1167574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변경 항목 · 이력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이벤트 로그</a:t>
            </a:r>
          </a:p>
        </p:txBody>
      </p:sp>
      <p:sp>
        <p:nvSpPr>
          <p:cNvPr id="5121" name="Rounded Rectangle 5120">
            <a:extLst>
              <a:ext uri="{FF2B5EF4-FFF2-40B4-BE49-F238E27FC236}">
                <a16:creationId xmlns:a16="http://schemas.microsoft.com/office/drawing/2014/main" id="{1F719A12-A6F5-4106-965A-9619264F5CBA}"/>
              </a:ext>
            </a:extLst>
          </p:cNvPr>
          <p:cNvSpPr>
            <a:spLocks noGrp="1"/>
          </p:cNvSpPr>
          <p:nvPr/>
        </p:nvSpPr>
        <p:spPr>
          <a:xfrm>
            <a:off x="1161859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2" name="TextBox 5121">
            <a:extLst>
              <a:ext uri="{FF2B5EF4-FFF2-40B4-BE49-F238E27FC236}">
                <a16:creationId xmlns:a16="http://schemas.microsoft.com/office/drawing/2014/main" id="{8AF262E3-1914-4774-B4F8-3B51CA063D55}"/>
              </a:ext>
            </a:extLst>
          </p:cNvPr>
          <p:cNvSpPr>
            <a:spLocks noGrp="1"/>
          </p:cNvSpPr>
          <p:nvPr/>
        </p:nvSpPr>
        <p:spPr>
          <a:xfrm>
            <a:off x="1167574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검토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진화 · 대피 열람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근거 · 이력·변경</a:t>
            </a:r>
          </a:p>
        </p:txBody>
      </p:sp>
      <p:sp>
        <p:nvSpPr>
          <p:cNvPr id="5123" name="Oval 5122">
            <a:extLst>
              <a:ext uri="{FF2B5EF4-FFF2-40B4-BE49-F238E27FC236}">
                <a16:creationId xmlns:a16="http://schemas.microsoft.com/office/drawing/2014/main" id="{EF43A692-B5EF-410E-BA9D-9A2104D9180D}"/>
              </a:ext>
            </a:extLst>
          </p:cNvPr>
          <p:cNvSpPr>
            <a:spLocks noGrp="1"/>
          </p:cNvSpPr>
          <p:nvPr/>
        </p:nvSpPr>
        <p:spPr>
          <a:xfrm>
            <a:off x="1149057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6</a:t>
            </a:r>
          </a:p>
        </p:txBody>
      </p:sp>
      <p:sp>
        <p:nvSpPr>
          <p:cNvPr id="5124" name="Rounded Rectangle 5123">
            <a:extLst>
              <a:ext uri="{FF2B5EF4-FFF2-40B4-BE49-F238E27FC236}">
                <a16:creationId xmlns:a16="http://schemas.microsoft.com/office/drawing/2014/main" id="{C37A7525-F26B-4F3F-89F8-55F6E1F85195}"/>
              </a:ext>
            </a:extLst>
          </p:cNvPr>
          <p:cNvSpPr>
            <a:spLocks noGrp="1"/>
          </p:cNvSpPr>
          <p:nvPr/>
        </p:nvSpPr>
        <p:spPr>
          <a:xfrm>
            <a:off x="13498830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5" name="TextBox 5124">
            <a:extLst>
              <a:ext uri="{FF2B5EF4-FFF2-40B4-BE49-F238E27FC236}">
                <a16:creationId xmlns:a16="http://schemas.microsoft.com/office/drawing/2014/main" id="{1D052B5D-FA0E-4432-9558-FF563A62D1D2}"/>
              </a:ext>
            </a:extLst>
          </p:cNvPr>
          <p:cNvSpPr>
            <a:spLocks noGrp="1"/>
          </p:cNvSpPr>
          <p:nvPr/>
        </p:nvSpPr>
        <p:spPr>
          <a:xfrm>
            <a:off x="13555980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질의 · 정정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질문 · 상황 변화 입력</a:t>
            </a:r>
            <a:b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</a:b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(통합지휘권자)</a:t>
            </a:r>
          </a:p>
        </p:txBody>
      </p:sp>
      <p:sp>
        <p:nvSpPr>
          <p:cNvPr id="5126" name="Oval 5125">
            <a:extLst>
              <a:ext uri="{FF2B5EF4-FFF2-40B4-BE49-F238E27FC236}">
                <a16:creationId xmlns:a16="http://schemas.microsoft.com/office/drawing/2014/main" id="{FB332E18-FE12-4BCB-984A-ACA34A4B119F}"/>
              </a:ext>
            </a:extLst>
          </p:cNvPr>
          <p:cNvSpPr>
            <a:spLocks noGrp="1"/>
          </p:cNvSpPr>
          <p:nvPr/>
        </p:nvSpPr>
        <p:spPr>
          <a:xfrm>
            <a:off x="13370814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7</a:t>
            </a:r>
          </a:p>
        </p:txBody>
      </p:sp>
      <p:sp>
        <p:nvSpPr>
          <p:cNvPr id="5127" name="Rounded Rectangle 5126">
            <a:extLst>
              <a:ext uri="{FF2B5EF4-FFF2-40B4-BE49-F238E27FC236}">
                <a16:creationId xmlns:a16="http://schemas.microsoft.com/office/drawing/2014/main" id="{651711E0-F081-44E3-A763-F07FD7857E85}"/>
              </a:ext>
            </a:extLst>
          </p:cNvPr>
          <p:cNvSpPr>
            <a:spLocks noGrp="1"/>
          </p:cNvSpPr>
          <p:nvPr/>
        </p:nvSpPr>
        <p:spPr>
          <a:xfrm>
            <a:off x="13498830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28" name="TextBox 5127">
            <a:extLst>
              <a:ext uri="{FF2B5EF4-FFF2-40B4-BE49-F238E27FC236}">
                <a16:creationId xmlns:a16="http://schemas.microsoft.com/office/drawing/2014/main" id="{E98EDEAB-41AA-4629-BF98-581729A3161E}"/>
              </a:ext>
            </a:extLst>
          </p:cNvPr>
          <p:cNvSpPr>
            <a:spLocks noGrp="1"/>
          </p:cNvSpPr>
          <p:nvPr/>
        </p:nvSpPr>
        <p:spPr>
          <a:xfrm>
            <a:off x="13555980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확인 ·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유지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재생성 · 로그</a:t>
            </a:r>
          </a:p>
        </p:txBody>
      </p:sp>
      <p:sp>
        <p:nvSpPr>
          <p:cNvPr id="5129" name="Rounded Rectangle 5128">
            <a:extLst>
              <a:ext uri="{FF2B5EF4-FFF2-40B4-BE49-F238E27FC236}">
                <a16:creationId xmlns:a16="http://schemas.microsoft.com/office/drawing/2014/main" id="{73AE9440-2F8A-4119-B6EB-B582AA18F7B6}"/>
              </a:ext>
            </a:extLst>
          </p:cNvPr>
          <p:cNvSpPr>
            <a:spLocks noGrp="1"/>
          </p:cNvSpPr>
          <p:nvPr/>
        </p:nvSpPr>
        <p:spPr>
          <a:xfrm>
            <a:off x="13498830" y="6871716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363A52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0" name="TextBox 5129">
            <a:extLst>
              <a:ext uri="{FF2B5EF4-FFF2-40B4-BE49-F238E27FC236}">
                <a16:creationId xmlns:a16="http://schemas.microsoft.com/office/drawing/2014/main" id="{F67307A7-4FF7-426B-9691-B84F43E429B3}"/>
              </a:ext>
            </a:extLst>
          </p:cNvPr>
          <p:cNvSpPr>
            <a:spLocks noGrp="1"/>
          </p:cNvSpPr>
          <p:nvPr/>
        </p:nvSpPr>
        <p:spPr>
          <a:xfrm>
            <a:off x="13555980" y="6952183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EXAONE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D8D8D8"/>
                </a:solidFill>
                <a:latin typeface="210 OmniGothic 040"/>
                <a:ea typeface="210 OmniGothic 040"/>
                <a:cs typeface="210 OmniGothic 040"/>
              </a:rPr>
              <a:t>답변 · 정정 해석</a:t>
            </a:r>
          </a:p>
        </p:txBody>
      </p:sp>
      <p:sp>
        <p:nvSpPr>
          <p:cNvPr id="5131" name="Rounded Rectangle 5130">
            <a:extLst>
              <a:ext uri="{FF2B5EF4-FFF2-40B4-BE49-F238E27FC236}">
                <a16:creationId xmlns:a16="http://schemas.microsoft.com/office/drawing/2014/main" id="{31B5B6B3-C0EC-495C-BB69-0D8AFC4958ED}"/>
              </a:ext>
            </a:extLst>
          </p:cNvPr>
          <p:cNvSpPr>
            <a:spLocks noGrp="1"/>
          </p:cNvSpPr>
          <p:nvPr/>
        </p:nvSpPr>
        <p:spPr>
          <a:xfrm>
            <a:off x="15379064" y="2808122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2" name="TextBox 5131">
            <a:extLst>
              <a:ext uri="{FF2B5EF4-FFF2-40B4-BE49-F238E27FC236}">
                <a16:creationId xmlns:a16="http://schemas.microsoft.com/office/drawing/2014/main" id="{8CED6BF5-8181-49D4-915D-BD2DD0F51046}"/>
              </a:ext>
            </a:extLst>
          </p:cNvPr>
          <p:cNvSpPr>
            <a:spLocks noGrp="1"/>
          </p:cNvSpPr>
          <p:nvPr/>
        </p:nvSpPr>
        <p:spPr>
          <a:xfrm>
            <a:off x="15436214" y="2888589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발화 종료 처리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5133" name="Oval 5132">
            <a:extLst>
              <a:ext uri="{FF2B5EF4-FFF2-40B4-BE49-F238E27FC236}">
                <a16:creationId xmlns:a16="http://schemas.microsoft.com/office/drawing/2014/main" id="{FC4E089B-C501-4D50-97DD-A609C3ED4009}"/>
              </a:ext>
            </a:extLst>
          </p:cNvPr>
          <p:cNvSpPr>
            <a:spLocks noGrp="1"/>
          </p:cNvSpPr>
          <p:nvPr/>
        </p:nvSpPr>
        <p:spPr>
          <a:xfrm>
            <a:off x="15251048" y="2677363"/>
            <a:ext cx="301752" cy="301752"/>
          </a:xfrm>
          <a:prstGeom prst="ellipse">
            <a:avLst/>
          </a:prstGeom>
          <a:solidFill>
            <a:srgbClr val="FAA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134" name="Rounded Rectangle 5133">
            <a:extLst>
              <a:ext uri="{FF2B5EF4-FFF2-40B4-BE49-F238E27FC236}">
                <a16:creationId xmlns:a16="http://schemas.microsoft.com/office/drawing/2014/main" id="{37DF55D4-8C75-4BEA-BB64-78F5F70F27B0}"/>
              </a:ext>
            </a:extLst>
          </p:cNvPr>
          <p:cNvSpPr>
            <a:spLocks noGrp="1"/>
          </p:cNvSpPr>
          <p:nvPr/>
        </p:nvSpPr>
        <p:spPr>
          <a:xfrm>
            <a:off x="15379064" y="4839919"/>
            <a:ext cx="17145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135" name="TextBox 5134">
            <a:extLst>
              <a:ext uri="{FF2B5EF4-FFF2-40B4-BE49-F238E27FC236}">
                <a16:creationId xmlns:a16="http://schemas.microsoft.com/office/drawing/2014/main" id="{89FE960B-EE2C-4F11-B133-182194DA928B}"/>
              </a:ext>
            </a:extLst>
          </p:cNvPr>
          <p:cNvSpPr>
            <a:spLocks noGrp="1"/>
          </p:cNvSpPr>
          <p:nvPr/>
        </p:nvSpPr>
        <p:spPr>
          <a:xfrm>
            <a:off x="15436214" y="4920386"/>
            <a:ext cx="1600200" cy="1186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· 처리자 저장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작업 차단</a:t>
            </a:r>
          </a:p>
          <a:p>
            <a:pPr algn="ctr">
              <a:lnSpc>
                <a:spcPct val="105000"/>
              </a:lnSpc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이력만 열람</a:t>
            </a:r>
          </a:p>
        </p:txBody>
      </p:sp>
      <p:sp>
        <p:nvSpPr>
          <p:cNvPr id="5136" name="Connector 5135">
            <a:extLst>
              <a:ext uri="{FF2B5EF4-FFF2-40B4-BE49-F238E27FC236}">
                <a16:creationId xmlns:a16="http://schemas.microsoft.com/office/drawing/2014/main" id="{8100A54E-0934-4E44-802D-6214EDED71C6}"/>
              </a:ext>
            </a:extLst>
          </p:cNvPr>
          <p:cNvSpPr>
            <a:spLocks noGrp="1"/>
          </p:cNvSpPr>
          <p:nvPr/>
        </p:nvSpPr>
        <p:spPr>
          <a:xfrm>
            <a:off x="307467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7" name="Connector 5136">
            <a:extLst>
              <a:ext uri="{FF2B5EF4-FFF2-40B4-BE49-F238E27FC236}">
                <a16:creationId xmlns:a16="http://schemas.microsoft.com/office/drawing/2014/main" id="{373DE3D0-7AC8-4317-B709-F393FF43A489}"/>
              </a:ext>
            </a:extLst>
          </p:cNvPr>
          <p:cNvSpPr>
            <a:spLocks noGrp="1"/>
          </p:cNvSpPr>
          <p:nvPr/>
        </p:nvSpPr>
        <p:spPr>
          <a:xfrm>
            <a:off x="3931920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8" name="Connector 5137">
            <a:extLst>
              <a:ext uri="{FF2B5EF4-FFF2-40B4-BE49-F238E27FC236}">
                <a16:creationId xmlns:a16="http://schemas.microsoft.com/office/drawing/2014/main" id="{CB39E090-543B-4786-AD97-ED5EC0C9CDEA}"/>
              </a:ext>
            </a:extLst>
          </p:cNvPr>
          <p:cNvSpPr>
            <a:spLocks noGrp="1"/>
          </p:cNvSpPr>
          <p:nvPr/>
        </p:nvSpPr>
        <p:spPr>
          <a:xfrm>
            <a:off x="495490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39" name="Connector 5138">
            <a:extLst>
              <a:ext uri="{FF2B5EF4-FFF2-40B4-BE49-F238E27FC236}">
                <a16:creationId xmlns:a16="http://schemas.microsoft.com/office/drawing/2014/main" id="{80092074-1C99-41D5-8875-903F1A256A74}"/>
              </a:ext>
            </a:extLst>
          </p:cNvPr>
          <p:cNvSpPr>
            <a:spLocks noGrp="1"/>
          </p:cNvSpPr>
          <p:nvPr/>
        </p:nvSpPr>
        <p:spPr>
          <a:xfrm>
            <a:off x="581215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0" name="Connector 5139">
            <a:extLst>
              <a:ext uri="{FF2B5EF4-FFF2-40B4-BE49-F238E27FC236}">
                <a16:creationId xmlns:a16="http://schemas.microsoft.com/office/drawing/2014/main" id="{D9EA285C-F56E-4040-96A3-593907C23B90}"/>
              </a:ext>
            </a:extLst>
          </p:cNvPr>
          <p:cNvSpPr>
            <a:spLocks noGrp="1"/>
          </p:cNvSpPr>
          <p:nvPr/>
        </p:nvSpPr>
        <p:spPr>
          <a:xfrm flipV="1">
            <a:off x="683514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1" name="Connector 5140">
            <a:extLst>
              <a:ext uri="{FF2B5EF4-FFF2-40B4-BE49-F238E27FC236}">
                <a16:creationId xmlns:a16="http://schemas.microsoft.com/office/drawing/2014/main" id="{E8293D22-2FF9-41CD-AE19-5AC86CDAF940}"/>
              </a:ext>
            </a:extLst>
          </p:cNvPr>
          <p:cNvSpPr>
            <a:spLocks noGrp="1"/>
          </p:cNvSpPr>
          <p:nvPr/>
        </p:nvSpPr>
        <p:spPr>
          <a:xfrm>
            <a:off x="683514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2" name="Connector 5141">
            <a:extLst>
              <a:ext uri="{FF2B5EF4-FFF2-40B4-BE49-F238E27FC236}">
                <a16:creationId xmlns:a16="http://schemas.microsoft.com/office/drawing/2014/main" id="{F07CC773-435C-4681-A03A-EE0DA7543FFB}"/>
              </a:ext>
            </a:extLst>
          </p:cNvPr>
          <p:cNvSpPr>
            <a:spLocks noGrp="1"/>
          </p:cNvSpPr>
          <p:nvPr/>
        </p:nvSpPr>
        <p:spPr>
          <a:xfrm>
            <a:off x="7692390" y="3461918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3" name="Connector 5142">
            <a:extLst>
              <a:ext uri="{FF2B5EF4-FFF2-40B4-BE49-F238E27FC236}">
                <a16:creationId xmlns:a16="http://schemas.microsoft.com/office/drawing/2014/main" id="{15CC2D92-C9CC-4AFD-85F7-D9F896A1B6C5}"/>
              </a:ext>
            </a:extLst>
          </p:cNvPr>
          <p:cNvSpPr>
            <a:spLocks noGrp="1"/>
          </p:cNvSpPr>
          <p:nvPr/>
        </p:nvSpPr>
        <p:spPr>
          <a:xfrm>
            <a:off x="8715375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4" name="Connector 5143">
            <a:extLst>
              <a:ext uri="{FF2B5EF4-FFF2-40B4-BE49-F238E27FC236}">
                <a16:creationId xmlns:a16="http://schemas.microsoft.com/office/drawing/2014/main" id="{F6950D8F-C214-42BD-A001-5381B83C1816}"/>
              </a:ext>
            </a:extLst>
          </p:cNvPr>
          <p:cNvSpPr>
            <a:spLocks noGrp="1"/>
          </p:cNvSpPr>
          <p:nvPr/>
        </p:nvSpPr>
        <p:spPr>
          <a:xfrm>
            <a:off x="8715375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5" name="Connector 5144">
            <a:extLst>
              <a:ext uri="{FF2B5EF4-FFF2-40B4-BE49-F238E27FC236}">
                <a16:creationId xmlns:a16="http://schemas.microsoft.com/office/drawing/2014/main" id="{C5C60447-9DD1-4619-9510-1046D3AB6025}"/>
              </a:ext>
            </a:extLst>
          </p:cNvPr>
          <p:cNvSpPr>
            <a:spLocks noGrp="1"/>
          </p:cNvSpPr>
          <p:nvPr/>
        </p:nvSpPr>
        <p:spPr>
          <a:xfrm>
            <a:off x="9572625" y="7525512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6" name="Connector 5145">
            <a:extLst>
              <a:ext uri="{FF2B5EF4-FFF2-40B4-BE49-F238E27FC236}">
                <a16:creationId xmlns:a16="http://schemas.microsoft.com/office/drawing/2014/main" id="{8E88DFBB-49A2-4503-BA2A-7D5B1C3DC781}"/>
              </a:ext>
            </a:extLst>
          </p:cNvPr>
          <p:cNvSpPr>
            <a:spLocks noGrp="1"/>
          </p:cNvSpPr>
          <p:nvPr/>
        </p:nvSpPr>
        <p:spPr>
          <a:xfrm>
            <a:off x="9572625" y="5493715"/>
            <a:ext cx="165735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7" name="Connector 5146">
            <a:extLst>
              <a:ext uri="{FF2B5EF4-FFF2-40B4-BE49-F238E27FC236}">
                <a16:creationId xmlns:a16="http://schemas.microsoft.com/office/drawing/2014/main" id="{65A9BA24-8303-44F3-BA67-9D173844C85D}"/>
              </a:ext>
            </a:extLst>
          </p:cNvPr>
          <p:cNvSpPr>
            <a:spLocks noGrp="1"/>
          </p:cNvSpPr>
          <p:nvPr/>
        </p:nvSpPr>
        <p:spPr>
          <a:xfrm>
            <a:off x="10595609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8" name="Connector 5147">
            <a:extLst>
              <a:ext uri="{FF2B5EF4-FFF2-40B4-BE49-F238E27FC236}">
                <a16:creationId xmlns:a16="http://schemas.microsoft.com/office/drawing/2014/main" id="{9B27632B-79F8-4FC7-AB1C-271722ECB8C7}"/>
              </a:ext>
            </a:extLst>
          </p:cNvPr>
          <p:cNvSpPr>
            <a:spLocks noGrp="1"/>
          </p:cNvSpPr>
          <p:nvPr/>
        </p:nvSpPr>
        <p:spPr>
          <a:xfrm flipV="1">
            <a:off x="11452859" y="5493715"/>
            <a:ext cx="165735" cy="2031797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49" name="Connector 5148">
            <a:extLst>
              <a:ext uri="{FF2B5EF4-FFF2-40B4-BE49-F238E27FC236}">
                <a16:creationId xmlns:a16="http://schemas.microsoft.com/office/drawing/2014/main" id="{8C5BC145-976D-48E9-B0E8-0011772C3625}"/>
              </a:ext>
            </a:extLst>
          </p:cNvPr>
          <p:cNvSpPr>
            <a:spLocks noGrp="1"/>
          </p:cNvSpPr>
          <p:nvPr/>
        </p:nvSpPr>
        <p:spPr>
          <a:xfrm flipV="1">
            <a:off x="1247584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0" name="Connector 5149">
            <a:extLst>
              <a:ext uri="{FF2B5EF4-FFF2-40B4-BE49-F238E27FC236}">
                <a16:creationId xmlns:a16="http://schemas.microsoft.com/office/drawing/2014/main" id="{60927617-E85C-405D-8783-492FB9CC04D7}"/>
              </a:ext>
            </a:extLst>
          </p:cNvPr>
          <p:cNvSpPr>
            <a:spLocks noGrp="1"/>
          </p:cNvSpPr>
          <p:nvPr/>
        </p:nvSpPr>
        <p:spPr>
          <a:xfrm>
            <a:off x="13333094" y="3461918"/>
            <a:ext cx="165736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1" name="Connector 5150">
            <a:extLst>
              <a:ext uri="{FF2B5EF4-FFF2-40B4-BE49-F238E27FC236}">
                <a16:creationId xmlns:a16="http://schemas.microsoft.com/office/drawing/2014/main" id="{67FFB246-BA03-4BC0-B4CA-6FB96863E354}"/>
              </a:ext>
            </a:extLst>
          </p:cNvPr>
          <p:cNvSpPr>
            <a:spLocks noGrp="1"/>
          </p:cNvSpPr>
          <p:nvPr/>
        </p:nvSpPr>
        <p:spPr>
          <a:xfrm>
            <a:off x="14356080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2" name="Connector 5151">
            <a:extLst>
              <a:ext uri="{FF2B5EF4-FFF2-40B4-BE49-F238E27FC236}">
                <a16:creationId xmlns:a16="http://schemas.microsoft.com/office/drawing/2014/main" id="{2DEC0E36-0679-4D40-9A2A-345BCD1D87E9}"/>
              </a:ext>
            </a:extLst>
          </p:cNvPr>
          <p:cNvSpPr>
            <a:spLocks noGrp="1"/>
          </p:cNvSpPr>
          <p:nvPr/>
        </p:nvSpPr>
        <p:spPr>
          <a:xfrm>
            <a:off x="14356080" y="6147511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3" name="Connector 5152">
            <a:extLst>
              <a:ext uri="{FF2B5EF4-FFF2-40B4-BE49-F238E27FC236}">
                <a16:creationId xmlns:a16="http://schemas.microsoft.com/office/drawing/2014/main" id="{5CEF7050-9C53-4D95-9626-C5D2818DFF01}"/>
              </a:ext>
            </a:extLst>
          </p:cNvPr>
          <p:cNvSpPr>
            <a:spLocks noGrp="1"/>
          </p:cNvSpPr>
          <p:nvPr/>
        </p:nvSpPr>
        <p:spPr>
          <a:xfrm>
            <a:off x="13898880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4" name="Connector 5153">
            <a:extLst>
              <a:ext uri="{FF2B5EF4-FFF2-40B4-BE49-F238E27FC236}">
                <a16:creationId xmlns:a16="http://schemas.microsoft.com/office/drawing/2014/main" id="{5545000E-904F-41E4-B807-F6B679BFD770}"/>
              </a:ext>
            </a:extLst>
          </p:cNvPr>
          <p:cNvSpPr>
            <a:spLocks noGrp="1"/>
          </p:cNvSpPr>
          <p:nvPr/>
        </p:nvSpPr>
        <p:spPr>
          <a:xfrm flipH="1">
            <a:off x="12933044" y="6308445"/>
            <a:ext cx="965836" cy="0"/>
          </a:xfrm>
          <a:prstGeom prst="line">
            <a:avLst/>
          </a:prstGeom>
          <a:ln w="16510">
            <a:solidFill>
              <a:srgbClr val="363A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5" name="Connector 5154">
            <a:extLst>
              <a:ext uri="{FF2B5EF4-FFF2-40B4-BE49-F238E27FC236}">
                <a16:creationId xmlns:a16="http://schemas.microsoft.com/office/drawing/2014/main" id="{CF0CF319-7A1C-4490-B9FD-6EFA274FFD33}"/>
              </a:ext>
            </a:extLst>
          </p:cNvPr>
          <p:cNvSpPr>
            <a:spLocks noGrp="1"/>
          </p:cNvSpPr>
          <p:nvPr/>
        </p:nvSpPr>
        <p:spPr>
          <a:xfrm flipV="1">
            <a:off x="12933044" y="6147511"/>
            <a:ext cx="0" cy="160934"/>
          </a:xfrm>
          <a:prstGeom prst="line">
            <a:avLst/>
          </a:prstGeom>
          <a:ln w="16510">
            <a:solidFill>
              <a:srgbClr val="363A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6" name="Connector 5155">
            <a:extLst>
              <a:ext uri="{FF2B5EF4-FFF2-40B4-BE49-F238E27FC236}">
                <a16:creationId xmlns:a16="http://schemas.microsoft.com/office/drawing/2014/main" id="{5FFA5488-D343-4C98-A9BC-8A141106D94C}"/>
              </a:ext>
            </a:extLst>
          </p:cNvPr>
          <p:cNvSpPr>
            <a:spLocks noGrp="1"/>
          </p:cNvSpPr>
          <p:nvPr/>
        </p:nvSpPr>
        <p:spPr>
          <a:xfrm>
            <a:off x="15213330" y="3461918"/>
            <a:ext cx="165734" cy="0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7" name="Connector 5156">
            <a:extLst>
              <a:ext uri="{FF2B5EF4-FFF2-40B4-BE49-F238E27FC236}">
                <a16:creationId xmlns:a16="http://schemas.microsoft.com/office/drawing/2014/main" id="{C1735012-3C70-4BA6-A98C-C75BF1833BC7}"/>
              </a:ext>
            </a:extLst>
          </p:cNvPr>
          <p:cNvSpPr>
            <a:spLocks noGrp="1"/>
          </p:cNvSpPr>
          <p:nvPr/>
        </p:nvSpPr>
        <p:spPr>
          <a:xfrm>
            <a:off x="16236314" y="4115714"/>
            <a:ext cx="0" cy="724205"/>
          </a:xfrm>
          <a:prstGeom prst="line">
            <a:avLst/>
          </a:prstGeom>
          <a:ln w="1651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8" name="TextBox 5157">
            <a:extLst>
              <a:ext uri="{FF2B5EF4-FFF2-40B4-BE49-F238E27FC236}">
                <a16:creationId xmlns:a16="http://schemas.microsoft.com/office/drawing/2014/main" id="{7D49C784-4E89-410B-99B4-C9370C79A160}"/>
              </a:ext>
            </a:extLst>
          </p:cNvPr>
          <p:cNvSpPr>
            <a:spLocks noGrp="1"/>
          </p:cNvSpPr>
          <p:nvPr/>
        </p:nvSpPr>
        <p:spPr>
          <a:xfrm>
            <a:off x="822960" y="8682228"/>
            <a:ext cx="16459200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정정 확정 시 예측은 유지하고 규칙 판정·제안 생성만 재실행해 새 버전을 만든다. 종료 사건은 발화 정보 수정·예측·정정·제안 재생성을 차단한다.</a:t>
            </a:r>
          </a:p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이벤트 로그는 로그인·로그아웃·입력·예측·제안·정정·종료·계정 및 자원 변경을 추가 전용으로 기록하고, 이력 탭에서 읽기 전용 열람한다.</a:t>
            </a:r>
          </a:p>
        </p:txBody>
      </p:sp>
    </p:spTree>
    <p:extLst>
      <p:ext uri="{BB962C8B-B14F-4D97-AF65-F5344CB8AC3E}">
        <p14:creationId xmlns:p14="http://schemas.microsoft.com/office/powerpoint/2010/main" val="2008633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7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7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(1/3) — 인증 · 상황 보고 · 상황 파악 · 확산 예측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079" name="Table 5078"/>
          <p:cNvGraphicFramePr>
            <a:graphicFrameLocks noGrp="1"/>
          </p:cNvGraphicFramePr>
          <p:nvPr/>
        </p:nvGraphicFramePr>
        <p:xfrm>
          <a:off x="822960" y="2446020"/>
          <a:ext cx="16459199" cy="66955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인증·권한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발급받은 계정으로 로그인해 권한에 맞는 화면에 진입하고, 전산 관리자가 계정을 발급·회수하며 조작(통합지휘권자)·열람(열람자)·보고(상황 보고자) 권한을 구분한다(전산 관리자 계정은 사전 발급)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통합지휘권자·열람자·상황 보고자 ·전산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UC-AUTH-01, 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49608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66568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보고(발화 정보·실측 화선)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산불의 발화 위치와 발생 날짜·시각, 신고 내용·접수 시각·접수 기관을 입력하고, 실측 화선(지금 타고 있는 범위를 그린 폴리곤)을 입력한다. 초기대응에서는 실측 화선을 생략할 수 있다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478790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파악 (6개)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9512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끝나면 산불을 종료 상태로 전환한다. 종료 후 보고·예측·정정을 막는다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831099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장소·신고 내용·접수 시각·진행 상태를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 ·상황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6356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발화점·실측 화선·1시간 간격 확산 예측(P1~P8, 시간 재생)·주변 대상을 지도에서 함께 확인한다. 위험구역(P5)·잠재 위험구역(P8)을 강조한다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3552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레이어 선택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인구·시설·도로·기관 등의 표시를 켜거나 끈다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4414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시설 지도 표시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마을·담수지·유관기관 등 우선순위 요소의 위치를 지도에 표시한다 (발화점 거리는 표시하지 않음)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2914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현황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헬기·인력·차량의 가용 현황을 확인한다. 기본은 「가용만 보기」 필터이며, 필터를 끄면 보유·투입·대기까지 모두 표시한다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통합지휘권자·열람자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206936"/>
                  </a:ext>
                </a:extLst>
              </a:tr>
              <a:tr h="342646">
                <a:tc gridSpan="5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499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실행할 때 최신 실측 화선(없으면 발화점) 기준으로 확산 예측을 실행하고, 그 결과로 진화·대피 대응 제안을 생성한다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660727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P5(5시간 누적 예측 범위) 기준 위험도 R(1.00~5.00)과 요인 점수를 산불별로 확인한다. 종료된 산불은 「종료」로 표시한다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8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8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9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1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2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83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(2/3) — 대응 제안 (공통 · 진화)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084" name="Table 5083"/>
          <p:cNvGraphicFramePr>
            <a:graphicFrameLocks noGrp="1"/>
          </p:cNvGraphicFramePr>
          <p:nvPr/>
        </p:nvGraphicFramePr>
        <p:xfrm>
          <a:off x="822960" y="2446020"/>
          <a:ext cx="16459199" cy="59527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공통 (4개)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생성·갱신·상세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상황에 맞는 제안을 생성하고, 판정 이유·대상·권한을 확인한다. 매뉴얼 근거가 없는 제안은 넣지 않는다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68351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분류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진화·대피, 그리고 즉시·대기·협의·요청별로 제안을 정리해 보여준다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1047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제안·답변에 연결된 매뉴얼의 문서·쪽수·조항·요약을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38159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생성 이력과 이전 제안에서 달라진 내용을 '변경' 태그와 팝업으로 확인한다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18445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진화 S1~S7 (7개)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84226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판단·격상 검토 (S1)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위험에 맞는 대응단계와 격상 필요성을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04537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우선지역·보호대상 선정 (S2)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인명·주요시설·재산 등의 보호 우선순위를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6286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투입·배분·재배치 (S3)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헬기·인력·차량을 우선 투입할 구역과 재배치 방향을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64989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방식·시간대 전략 (S4)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기상과 주야간에 맞는 지상·항공 진화 전략을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49144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보호 조치 (S5)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주택·국가유산·전력시설 등에 필요한 보호 조치를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3601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동원·협조 요청 (S6)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지원이 필요한 기관·자원과 지휘권 인계 필요성을 안내한다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11916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진화인력 안전·투입 관리 (S7)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인력 위치·퇴로·위험 조건에 따른 안전 확인과 철수를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5501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7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7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76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77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02. 시스템 기술서</a:t>
            </a:r>
          </a:p>
        </p:txBody>
      </p:sp>
      <p:sp>
        <p:nvSpPr>
          <p:cNvPr id="5078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목록 (3/3) — 대응 제안 (대피) · 질의응답 · 평시 관리 · 시스템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079" name="Table 5078"/>
          <p:cNvGraphicFramePr>
            <a:graphicFrameLocks noGrp="1"/>
          </p:cNvGraphicFramePr>
          <p:nvPr/>
        </p:nvGraphicFramePr>
        <p:xfrm>
          <a:off x="822960" y="2446020"/>
          <a:ext cx="16459199" cy="65879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번호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UC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— 대피 E1~E7 (7개)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설정 (E1)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위험구역과 잠재 위험구역에 포함되는 마을을 구분한다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7435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대상·순서·시점 결정 (E2)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위험도와 취약계층을 고려한 대피 대상·순서·시점을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01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취약시설·미대피 주민 조치 (E3)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 이송과 미대피 주민에 대한 추가 조치를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6447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 배정·분산 (E4)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주민에게 적합한 대피소를 배정하고 수용 초과 시 분산을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97465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경로·교통통제 (E5)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 경로와 진화차량 진입로의 충돌을 확인하고 통제를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1628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F-27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재난문자·방송 전파 제안 (E6)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단계에 맞는 안내 지역과 문자·방송 송출을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0023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인명구조·긴급구조 요청 (E7)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고립·부상·미대피 상황에 필요한 구조 대상과 요청 기관을 제안한다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943290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질의응답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39608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상황·대응 제안·근거를 질문하고 빠른 질문으로 필요한 답을 확인한다 (상황·제안은 바뀌지 않음). 상황 변화 입력은 바로 반영하지 않고 정정 확인 카드로 넘긴다(UC-QA-02)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1487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어시스턴트에 상황 변화(대피 완료·자원 투입 등)를 입력해 확인 후 저장하고, 대응 제안을 다시 생성한다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09346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 관리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17454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보유 헬기·차량·인력 등 진화자원 데이터를 등록·수정·삭제한다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19947"/>
                  </a:ext>
                </a:extLst>
              </a:tr>
              <a:tr h="359156">
                <a:tc gridSpan="5"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231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로그인·로그아웃·입력·예측·제안·정정·종료·계정 및 자원 변경·근거 부족 이벤트를 추가 전용으로 기록하고, 이력 탭에서 읽기 전용으로 열람한다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(열람: 통합지휘권자)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63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4" name="TextBox 5083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8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8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8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8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09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액터 정의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091" name="Table 5090"/>
          <p:cNvGraphicFramePr>
            <a:graphicFrameLocks noGrp="1"/>
          </p:cNvGraphicFramePr>
          <p:nvPr/>
        </p:nvGraphicFramePr>
        <p:xfrm>
          <a:off x="822960" y="2496312"/>
          <a:ext cx="16459200" cy="54851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사용하는 유스케이스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34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(주 액터)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현장의 지휘권을 가진 시장·군수·구청장. 예측을 돌리고, 제안을 검토하고, AI에 묻고 상황을 정정하고, 산불을 종료한다. 발화 정보를 직접 입력하지 않는다(상황 보고자 담당)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SIT-01, SIT-02, SIT-03, PRED-01, PRED-02, PROP-01~04, QA-01, 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유관기관·상급 본부 담당자. 통합지휘권자와 같은 발생·접수 정보와 통합 상황도를 보기만 한다.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SIT-02, 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01538"/>
                  </a:ext>
                </a:extLst>
              </a:tr>
              <a:tr h="13002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(입력 전담)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현장 상황을 시스템에 보고하는 단 하나의 역할을 맡은 사람. ① 산불 최초 보고: 발화 위치·발생 날짜·시각·신고 내용·접수 시각 ② 1시간마다 실측 화선(지금 타고 있는 범위를 그린 폴리곤) 보고, 초기대응에서는 생략 가능. 예측 실행·제안 열람·정정은 하지 않는다. 전용 화면(지도 + 상황 입력 판)을 쓰며, 계정 권한은 보고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REPORT-01, AUTH-01, 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3419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사람 (평시)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개발자가 아니라 전산 시스템을 관리하는 사람. 계정 발급·회수와 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AUTH-01, ADMIN-01, 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85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확산예측 모듈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화선(없으면 발화점)·기상·지형·연료로 1시간 간격 누적 확산 범위 P1~P8을 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393976"/>
                  </a:ext>
                </a:extLst>
              </a:tr>
              <a:tr h="83134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시스템이 넘겨준 규칙 엔진 판정 값과 확산 범위 안 마을·시설·자원 데이터, 검색한 표준매뉴얼 근거로 진화·대피를 판단해 제안 문장·답변을 쓰고(판정 값은 바꾸지 않음), 정정 입력을 해석.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PRED-01, QA-01, 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9371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풍향·풍속·습도 등 기상과 마을·시설·도로·지형 공간 데이터 제공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SIT-03, PRED-02 (PRED-01에서도 기상 사용)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680747"/>
                  </a:ext>
                </a:extLst>
              </a:tr>
            </a:tbl>
          </a:graphicData>
        </a:graphic>
      </p:graphicFrame>
      <p:sp>
        <p:nvSpPr>
          <p:cNvPr id="5092" name="TextBox 5091"/>
          <p:cNvSpPr txBox="1"/>
          <p:nvPr/>
        </p:nvSpPr>
        <p:spPr>
          <a:xfrm>
            <a:off x="822960" y="8210042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사람 액터 4 · 시스템 액터 3. 계정은 전산 관리자가 발급하며, 권한은 조작(통합지휘권자) · 열람(열람자) · 보고(상황 보고자) · 관리(전산 관리자)로 구분한다.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0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91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92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9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94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095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097" name="TextBox 5096"/>
          <p:cNvSpPr txBox="1"/>
          <p:nvPr/>
        </p:nvSpPr>
        <p:spPr>
          <a:xfrm>
            <a:off x="11932920" y="2377440"/>
            <a:ext cx="571500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</a:t>
            </a:r>
            <a:r>
              <a:rPr sz="2000" b="1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2000" b="1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흐름</a:t>
            </a:r>
            <a:endParaRPr sz="2000" b="1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①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평시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준비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전산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관리자가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발급하고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(ADMIN-01)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데이터를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등록한다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(ADMIN-02)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②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개시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보고자가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(AUTH-01)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발화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정보와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실측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화선을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보고하고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(REPORT-01),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통합지휘권자가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발생·접수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(SIT-02)와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(SIT-03)를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확인한다</a:t>
            </a:r>
            <a:endParaRPr sz="14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③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예측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→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제안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예측을 실행하면 P5 위험도와 제안서가 생성된다(PRED-01). 위험도를 확인하고(PRED-02) 진화·대피 제안을 열람하며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(PROP-01·02)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근거를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조회한다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(PROP-03 «extend»)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④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질의</a:t>
            </a: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 →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정정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어시스턴트에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묻고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(QA-01),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상황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변화를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정정하면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제안서가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다시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생성된다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(QA-02).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변경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내용은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이력에서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확인한다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(PROP-04 «extend»)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⑤ 1시간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갱신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새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실측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화선이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보고되면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(REPORT-01) 「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다시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예측」으로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새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버전을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만든다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(PRED-01) —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완료까지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반복</a:t>
            </a:r>
            <a:endParaRPr sz="1400" dirty="0">
              <a:solidFill>
                <a:srgbClr val="363A52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⑥ </a:t>
            </a:r>
            <a:r>
              <a:rPr sz="1600" b="1" dirty="0" err="1">
                <a:solidFill>
                  <a:srgbClr val="E87A1E"/>
                </a:solidFill>
                <a:latin typeface="210 OmniGothic 040"/>
                <a:ea typeface="210 OmniGothic 040"/>
                <a:cs typeface="210 OmniGothic 040"/>
              </a:rPr>
              <a:t>종료</a:t>
            </a:r>
            <a:endParaRPr sz="1600" b="1" dirty="0">
              <a:solidFill>
                <a:srgbClr val="E87A1E"/>
              </a:solidFill>
              <a:latin typeface="210 OmniGothic 040"/>
              <a:ea typeface="210 OmniGothic 040"/>
              <a:cs typeface="210 OmniGothic 040"/>
            </a:endParaRP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진화가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끝나면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산불을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종료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상태로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</a:t>
            </a:r>
            <a:r>
              <a:rPr sz="1400" dirty="0" err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바꾼다</a:t>
            </a:r>
            <a:r>
              <a:rPr sz="1400" dirty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(SIT-01)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B05F35-C8E7-CFCA-D990-2CD539463D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" t="2985" r="1143" b="401"/>
          <a:stretch>
            <a:fillRect/>
          </a:stretch>
        </p:blipFill>
        <p:spPr>
          <a:xfrm>
            <a:off x="640080" y="2391253"/>
            <a:ext cx="10849375" cy="6492240"/>
          </a:xfrm>
          <a:prstGeom prst="rect">
            <a:avLst/>
          </a:prstGeom>
        </p:spPr>
      </p:pic>
      <p:sp>
        <p:nvSpPr>
          <p:cNvPr id="5098" name="Note GenAI"/>
          <p:cNvSpPr txBox="1"/>
          <p:nvPr/>
        </p:nvSpPr>
        <p:spPr>
          <a:xfrm>
            <a:off x="640080" y="8961120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150" b="0" dirty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</a:t>
            </a:r>
            <a:r>
              <a:rPr lang="ko-KR" altLang="en-US" sz="1150" b="0" dirty="0" err="1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유스케이스</a:t>
            </a:r>
            <a:r>
              <a:rPr lang="ko-KR" altLang="en-US" sz="1150" b="0" dirty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 다이어그램 그림은 생성형 </a:t>
            </a:r>
            <a:r>
              <a:rPr lang="ko-KR" altLang="en-US" sz="1150" b="0" dirty="0" err="1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AI를</a:t>
            </a:r>
            <a:r>
              <a:rPr lang="ko-KR" altLang="en-US" sz="1150" b="0" dirty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 활용하여 제작하였습니다.</a:t>
            </a:r>
            <a:endParaRPr lang="ko-KR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09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09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09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09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0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식별자 목록 (1/2)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101" name="Table 5100"/>
          <p:cNvGraphicFramePr>
            <a:graphicFrameLocks noGrp="1"/>
          </p:cNvGraphicFramePr>
          <p:nvPr/>
        </p:nvGraphicFramePr>
        <p:xfrm>
          <a:off x="822960" y="2446020"/>
          <a:ext cx="16459200" cy="62415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식별자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액터(or 시스템)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인증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8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보고자, 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발급받은 아이디·비밀번호 입력 후 JWT 발급 및 권한별 첫 화면 이동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 — 상황 보고 (1개)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E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42028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위치·일시·신고 내용·접수 기관 입력 후 실측 화선을 폴리곤으로 제출 (1시간마다 새 버전, 초기대응에서는 생략 가능)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246393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파악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(3개)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EF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6197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끝난 산불을 종료 상태로 전환하고 보고·예측·정정 입력 차단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830364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목록에서 선택해 발생 장소·신고 내용·접수 시각·진행 상태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78148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발화점·실측 화선·확산 예측 P1~P8(시간 재생, P5·P8 강조) 위에 시설·레이어·진화자원 현황(가용만 보기 필터)을 겹쳐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780392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AF3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724006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 → 대응 제안 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확산예측 모듈,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실측 화선(없으면 발화점) 기준으로 P1~P8을 예측하고 P5 위험도를 계산한 뒤 진화 7·대피 7 제안서를 새 버전으로 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5390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기상청 API·공공데이터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 범위로 계산한 위험도 R(1.00~5.00)·요인 점수를 산불별로 확인, P5가 겹친 산불은 묶어 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61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0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1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2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4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05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식별자 목록 (2/2)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106" name="Table 5105"/>
          <p:cNvGraphicFramePr>
            <a:graphicFrameLocks noGrp="1"/>
          </p:cNvGraphicFramePr>
          <p:nvPr/>
        </p:nvGraphicFramePr>
        <p:xfrm>
          <a:off x="822960" y="2446020"/>
          <a:ext cx="16459200" cy="62415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식별자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액터(or 시스템)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(4개)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5E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 열람 (S1~S7)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7항목을 즉시·대기·협의·요청별로 나열하고, 항목을 클릭해 판정 이유·대상·권한을 펼쳐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 열람 (E1~E7)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7항목을 즉시·대기·협의·요청별로 나열하고, 항목을 클릭해 판정 이유·대상·권한을 펼쳐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76076"/>
                  </a:ext>
                </a:extLst>
              </a:tr>
              <a:tr h="8709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문장·AI 답변의 근거 번호 [k]를 눌러 표준매뉴얼 문서·쪽수·조항·요약 확인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UC-PROP-01, UC-PROP-02, 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03745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버전별 이력 조회 및 '변경' 태그 항목의 직전 버전 대비 변경 내용 팝업 확인, 이벤트 로그 읽기 전용 열람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UC-PROP-01, 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78524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질의응답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F7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3082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상황·제안·근거를 자연어나 빠른 질문으로 묻고 근거 번호가 붙은 답 확인 (상황·제안 불변)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087343"/>
                  </a:ext>
                </a:extLst>
              </a:tr>
              <a:tr h="6233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완료·자원 투입 등 상황 변화를 확인 후 저장하고, 예측은 유지한 채 제안서 재생성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Extend UC-QA-01 (상황 변화 입력 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04945"/>
                  </a:ext>
                </a:extLst>
              </a:tr>
              <a:tr h="375666">
                <a:tc gridSpan="5"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 —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관리</a:t>
                      </a:r>
                      <a:r>
                        <a:rPr sz="150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(2개)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DEC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27826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계정 발급·회수 및 조작·열람·보고 권한 지정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82166"/>
                  </a:ext>
                </a:extLst>
              </a:tr>
              <a:tr h="37566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보유 헬기·차량·인력 데이터 등록·수정·삭제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902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로그인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496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 전산 관리자에게 발급받은 계정으로 인증하고, 권한(조작·열람·보고·관리)에 맞는 첫 화면으로 들어간다. 회원가입은 없다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보고자, 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계정과 권한을 미리 발급해 두었다 (UC-ADMIN-01)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로그인 화면에서 사용자 구분(통합지휘권자·열람자·상황 보고자·전산 관리자)을 고르고 발급받은 아이디·비밀번호를 입력한 뒤 「로그인」을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계정의 잠금 여부를 먼저 확인하고, 계정 정보와 비밀번호를 대조해 인증하며, 선택한 구분이 계정 권한과 일치하는지와 계정이 회수되지 않았는지 확인한다.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계정에 지정된 권한을 담은 JWT(로그인 상태와 권한을 증명하는 서명된 토큰)를 발급해 세션에 적용한다.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권한별 첫 화면을 띄운다 — 통합지휘권자·열람자는 진행 중 산불의 통합 상황도, 상황 보고자는 상황 입력 화면(지도 + 상황 입력 판), 전산 관리자는 계정·진화자원 데이터 관리 화면.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유효한 토큰이 남아 있을 시 → 로그인 없이 권한별 첫 화면으로 바로 진입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「로그아웃」을 누를 시 → 세션 토큰을 폐기하고 로그인 화면으로 돌아감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아이디·비밀번호가 맞지 않거나 선택한 구분이 계정 권한과 다르면 시스템이 "아이디 또는 비밀번호가 올바르지 않습니다"를 표시하고 실패 횟수를 1 올린 뒤 다시 입력받는다.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회수된 계정이면 시스템이 로그인을 막고 전산 관리자에게 문의하라고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5회 연속 실패하면 시스템이 계정을 잠그고 "계정이 잠겼습니다. 전산 관리자에게 문의하세요"를 표시한다. 잠긴 계정은 전산 관리자가 잠금 해제한다(UC-ADMIN-01).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JWT가 발급되어 권한이 적용된 세션이 만들어지고, 권한에 맞는 첫 화면이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상황 보고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61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보고자가 산불을 처음 보고할 때 발화 위치·발생 날짜·시각·신고 내용·접수 시각·접수 기관을 입력해 산불 사건을 시작하고, 이후 1시간마다 실측 화선(지금 타고 있는 범위를 그린 폴리곤)을 보고한다. 이 실측 화선이 재예측·제안 재생성의 출발점이며, 초기대응처럼 아직 화선이 없으면 발화점에서 예측한다.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보고자가 '보고' 권한 계정으로 로그인한 상태 (UC-AUTH-01)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상황 보고자가 상황 입력 화면(지도 + 상황 입력 판)에서 「새 산불 보고」를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상황 보고자가 지도에 발화 지점을 찍고 발생 일시·신고 내용·접수 시각을 입력하고, 기관별 접수 기록(접수 기관·접수 시각·접수 경로)을 추가한다.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상황 보고자가 지금 타고 있는 범위를 실측 화선 폴리곤으로 그려 제출한다(초기대응에서 화선이 없으면 생략 가능).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입력값을 검증하고 산불을 '접수' 상태로 생성해 발화 정보를 저장한다. 실측 화선이 함께 제출되면 화선 버전 1을 저장하고, 실측 화선이 처음 저장되는 시점에 상태를 '진행 중'으로 바꾼다.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발생·접수 정보(UC-SIT-02)와 통합 상황도(UC-SIT-03)에 새 산불의 발화점과 실측 화선을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1시간 주기 보고 시 → 직전 실측 화선을 불러와 수정 후 새 버전(v2, v3…)으로 제출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잘못 보고한 실측 화선 정정 시 → 수정본을 다시 제출, 이전 버전은 '정정됨'으로 보존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5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입력한 산불 정보(발화 지점·시각·실측 화선)가 올바르지 않으면 시스템이 제출을 막고 잘못된 항목을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종료 처리된 산불에는 시스템이 보고를 받지 않는다(UC-SIT-01).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사건이 '접수' 또는 '진행 중'(실측 화선이 처음 저장되면 진행 중)으로 존재하고, 발화 정보와 최신 실측 화선(버전 포함)이 저장되어 상황판·예측의 입력으로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발생·접수 정보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 예측이 아닌 지금 상황 — 어디서 났고, 누가 언제 신고했고, 지금 어떤 상태인지 — 를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열람자, 상황 보고자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상태, 상황 보고자가 산불을 1건 이상 보고함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56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상단 「산불 현황」을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접수·진행 중인 산불 목록(발생 장소·발생 시각·진행 상태)을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사용자가 목록에서 산불을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발생 장소·신고 내용·접수 시각과 진행 상태(접수 / 진행 중, 최신 실측 화선 버전·입력 시각)를 표시하고, 지도를 해당 산불 위치로 이동해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목록 보기를 「종료」로 바꿀 시 → 종료 처리된 산불 목록 표시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상황 보고자일 시 → 「실측 화선 보고」 버튼으로 UC-REPORT-01(A1) 진행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접수·진행 중인 산불이 없으면 시스템이 "진행 중인 산불이 없습니다"를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산불의 발생·접수 정보와 진행 상태가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통합 상황도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61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한 장 위에 발화점·실측 화선·확산 폴리곤(예상 확산 범위 도형)과 마을·시설·진화자원을 겹쳐, "불이 어디까지 오고 그 안에 무엇이 있는지"를 본다.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통합지휘권자, 열람자 / 기상청 API·공공데이터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상태, 등록된 산불 1건 이상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2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통합 상황도를 연다(로그인 후 첫 화면 또는 UC-SIT-02에서 산불 선택).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공공데이터 기반 지도 위에 발화점과 상황 보고자가 입력한 실측 화선을 그린다. 예측 결과가 있으면 1시간 간격 확산 범위 P1~P8을 겹치고, 위험구역(P5, 5시간 내 도달 범위)과 잠재 위험구역(P8, 8시간 내)을 색을 달리해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마을·담수지·유관기관 등 주요 시설 위치를 아이콘으로 표시한다(발화점과의 거리는 표시하지 않음).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레이어 패널에서 인구·시설·도로·기관 레이어를 켜고 끄면 시스템이 즉시 지도에 반영한다.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사용자가 시간 재생(t = 1 … 8)을 누르면 시스템이 해당 시점의 확산 범위 P(t)를 채우고 도달한 마을을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사용자가 「진화자원」 패널을 열면 시스템이 진화자원 데이터(UC-ADMIN-02)를 바탕으로 헬기·인력·차량 현황을 표시한다. 기본은 「가용만 보기」 필터이며, 필터를 끄면 보유·투입·대기까지 모두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예측 전일 시 → 발화점·실측 화선·시설만 표시 (P1~P8 없음)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종료된 산불일 시 → 예측 범위(P1~P8) 없이 발화점과 보고된 실측 화선만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공공데이터·기상 데이터 호출에 실패하면 시스템이 마지막으로 받은 값과 수신 시각을 함께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화선·예측 범위(P1~P8), 주요 시설, 진화자원 현황(가용만 보기 필터)이 겹쳐진 상황도가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산불 위험도 확인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68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확인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해당 산불이 얼마나 위험한지(위험도 R, 1.00~5.00)를 확인해 예측과 함께 판단 재료로 쓴다. R은 확산 예측 1회마다 P5(5시간 누적 예측 범위) 안의 23개 변수를 가중평균한 독립 지표이며, 산불위험지수·대응단계 등 다른 체계에 매핑하지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기상청 API·공공데이터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확산 예측이 1회 이상 실행된 상태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확산 예측이 저장되면(UC-PRED-01) 시스템이 산불마다 P5 폴리곤을 꺼내고, 다른 산불의 P5와 겹치면 동일 산불로 묶어 합집합 폴리곤을 만든다.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P5와 겹친 격자의 기상·지형·연료 값을 겹침 면적 비율로 가중해 1~5 등급으로 바꾸고, 겹친 행정동의 65세 이상·0~14세 인구(SGIS)를 합산해 취약계층 수를, 최근 화선에서 가장 가까운 소방서까지 거리를 구한다.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23개 변수의 가중평균으로 R과 기상·지형·연료·인프라 요인 점수를 계산하고, 이전 예측의 값을 새 값으로 바꿔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통합지휘권자가 상황도의 「위험도」를 열면 시스템이 산불(폴리곤)마다 R을 소수 둘째 자리 숫자로 요인 점수와 함께 표시한다(등급 이름 없음).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예측 전일 시 → 위험도 대신 「예측 실행 후 표시」 안내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P5가 겹쳐 묶인 산불일 시 → 묶인 산불 모두에 같은 R과 「병합 계산」 표시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A3. 종료된 산불일 시 → 숫자 대신 「종료」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P5 폴리곤이나 필수 변수를 구하지 못하면 시스템이 "위험도 계산 실패"를 안내하고 다음 예측 때 다시 계산한다.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일부 변수만 결측이면 시스템이 결측 변수를 빼고 남은 가중치로 나눠 계산하고, 결측 목록을 함께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예측에 쓴 기상 값이 최신이 아니면 시스템이 기상 수신 시각을 함께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산불(폴리곤)마다 최신 예측의 P5 위험도 R과 요인 점수가 저장·표시된다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확산 예측 실행·갱신 → 대응 제안(진화, 대피) 생성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2089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441">
                <a:tc rowSpan="8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 → 대응 제안(진화, 대피) 생성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2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실측 화선(없으면 발화점)을 시작점으로 1시간 간격 누적 확산 범위 P1~P8을 예측하고, 그 결과로 진화 7항목·대피 7항목 대응 제안서를 새 버전으로 만든다. 재예측은 통합지휘권자가 버튼을 누를 때만 실행되며, 누른 시점의 최신 실측 화선·기상·자원 상태를 기준으로 한다(자동 실행 없음)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확산예측 모듈, AI 모델 (기상은 기상청 API)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상황 보고자가 발화 정보를 입력함(실측 화선은 없어도 됨) (UC-REPORT-01)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31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상황도에서 최신 실측 화선을 확인하고 「확산 예측 실행」을 누른다. 결과가 이미 있으면 버튼은 「다시 예측」으로 표시된다.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최신 실측 화선·발화 정보, 기상청 API의 풍향·풍속·습도, 진화자원 가용 현황을 모아 입력을 검증한다.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확산예측 모듈이 최신 실측 화선(없으면 발화점)을 기준으로 확산 범위를 예측하고, 시스템이 1시간 간격 누적 범위 P1~P8을 저장해 상황도에 그리며 위험구역(P5)·잠재 위험구역(P8)을 강조하고, P5 범위로 위험도 R을 계산해 저장한다(UC-PRED-02).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규칙 엔진이 근거 문서에 경계값·수치가 있는 값(대응단계·위험구역·대피소 배정 등)을 판정하고, 시스템이 그 판정 값과 P5·P8 안에 드는 마을·시설·대피소·도로 목록, 진화자원 가용 현황을 모아 AI 모델에 넘긴다.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AI 모델이 넘겨받은 판정 값(바꾸지 않음)과 데이터, 검색한 표준매뉴얼 근거로 진화 S1~S7(불을 끄는 데 필요한 7가지 제안)·대피 E1~E7(주민 대피에 필요한 7가지 제안)을 판단해 제안 문장을 쓰고, 문장 끝에 근거 번호 [k]를 붙인다. 매뉴얼 근거를 찾지 못한 제안은 제안서에 넣지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제안을 즉시·대기·협의·요청으로 분류해 새 버전(버전 n)으로 저장하고, 직전 버전과 달라진 항목에 '변경' 태그를 붙이며, 이벤트 로그에 "제안서 버전 n 생성"을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 시스템이 제안 생성 완료를 알리고 대응 제안 화면을 새 버전으로 갱신한다.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8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첫 실행 시 → '변경' 태그 없이 버전 1로 저장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기상·자원 조건만 바뀐 경우 → 「다시 예측」으로 새 버전 생성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86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예측 실행 중 다시 누르면 시스템이 버튼을 비활성화해 중복 실행을 막는다.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확산예측 모듈이 실패하면 시스템이 "예측에 실패했습니다"를 안내하고 직전 예측·제안서를 그대로 유지한다.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예측은 성공했으나 제안 생성에 실패하면 시스템이 새 예측을 확정하지 않고 직전 예측·제안서 묶음을 그대로 유지하며 실패를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새 예측(P1~P8)·P5 위험도와 새 버전의 대응 제안서가 저장·표시된다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진화 제안 열람 (S1~S7)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 열람 (S1~S7)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"불을 어떻게 끌 것인가" — 대응단계(S1)·보호대상(S2)·자원 배분(S3)·진화 전략(S4)·시설 보호(S5)·유관기관(S6)·인력 안전(S7) 7항목을 분류별로 항목 상세와 함께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「대응 제안」 탭에서 「진화」를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번호·생성 시각·기준 실측 화선 버전을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S1~S7 항목을 즉시·대기·협의·요청 분류로 묶어 나열하고, 항목마다 제안 문장을 보여주고, 항목을 클릭하면 판정 이유·대상·권한을 펼쳐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문장 끝 [k]를 누르면 근거 조회(UC-PROP-03)로, '변경' 태그를 누르면 변경 내용 조회(UC-PROP-04)로 넘어간다.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종료된 산불일 시 → 마지막 버전 제안서를 조회 전용으로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제안서가 없으면 시스템이 "확산 예측을 실행하면 제안이 생성됩니다"를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제안서가 항목 상세와 함께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대피 제안 열람 (E1~E7)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 열람 (E1~E7)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"주민을 어떻게 피신시킬 것인가" — 위험구역 마을(E1)·대피 순서·시점(E2)·취약시설(E3)·대피소(E4)·대피 경로(E5)·재난문자(E6)·인명구조(E7) 7항목을 분류별로 항목 상세와 함께 확인한다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 (UC-PRED-01)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「대응 제안」 탭에서 「대피」를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번호·생성 시각·기준 실측 화선 버전을 표시한다.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E1~E7 항목을 즉시·대기·협의·요청 분류로 묶어 나열하고, 항목마다 제안 문장을 보여주고, 항목을 클릭하면 판정 이유·대상·권한을 펼쳐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문장 끝 [k]를 누르면 근거 조회(UC-PROP-03)로, '변경' 태그를 누르면 변경 내용 조회(UC-PROP-04)로 넘어간다.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종료된 산불일 시 → 마지막 버전 제안서를 조회 전용으로 표시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제안서가 없으면 시스템이 "확산 예측을 실행하면 제안이 생성됩니다"를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제안서가 항목 상세와 함께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근거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3784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문장이나 AI 답변 끝의 [k]를 눌러, 그 문장이 표준매뉴얼의 어느 문서·쪽수·조항에 근거했는지 확인한다. «extend»: UC-PROP-01·02·QA-01에서 [k]를 누른 경우에만 동작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[k]가 붙은 제안 문장 또는 AI 답변이 화면에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61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제안 문장(또는 AI 답변) 끝의 [k]를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근거 창을 열고 맨 위에 해당 문장을 다시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그 문장에 연결된 근거 목록(문서명·쪽수·조항·요약 설명)을 나열하고, 누른 번호를 강조한다.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시스템은 표준매뉴얼 원문 파일 대신 해당 부분의 요약을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근거 청크를 불러오지 못하면 시스템이 "근거를 불러올 수 없습니다"를 안내하고 근거 창을 닫는다.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문장의 매뉴얼 근거(문서·쪽수·조항·요약)가 확인된다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AI 질의응답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63351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현재 상황·대응 제안·근거를 자연어나 빠른 질문으로 묻고 근거 번호가 붙은 답을 받는다.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등록된 산불 1건 이상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2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화면 우측 하단의 「AI 어시스턴트」를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빠른 질문 버튼(예: "대피 순서 이유", "헬기 운용 가능 여부", "격상 기준")을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통합지휘권자가 질문을 입력하거나 빠른 질문을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최신 실측 화선·P5·P8 안의 마을·시설 목록·최신 버전 제안과, 질문과 관련된 표준매뉴얼 근거를 검색해 AI 모델에 넘긴다.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AI 모델이 검색된 근거 범위 안에서 답을 쓰고 문장 끝에 [k]를 붙인다.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답을 대화 창에 표시한다. 상황 값과 제안서는 그대로다.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답의 [k]를 누를 시 → 근거 조회(UC-PROP-03)로 확장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61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질문과 관련된 매뉴얼 근거를 찾지 못하면 AI 모델이 근거를 찾지 못했다고 답하고 추측으로 답하지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입력이 질문이 아니라 상황 변화 보고로 판별되면 시스템이 바로 반영하지 않고 입력 내용을 정정 확인 카드로 넘긴다(UC-QA-02 «extend», 확인 전에는 저장하지 않음).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질문과 답이 대화 창에 남는다. 상황·제안은 바뀌지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AI 상황 정정 요청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8933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8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9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통합지휘권자가 현장에서 바뀐 사실(대피 완료·자원 투입 등)을 AI 어시스턴트에 말로 입력하면, 시스템이 변경안을 확인받아 저장하고, 예측은 그대로 둔 채 대응 제안만 다시 만들어 달라진 항목을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/ AI 모델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대응 제안서 버전이 1개 이상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26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통합지휘권자가 AI 어시스턴트의 「상황 정정」에서 상황 변화를 입력한다 — 예: "○○리 대피 완료".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AI 모델이 입력을 해석해 변경안(대상: ○○리 / 항목: 대피 상태 / 이전: 대피 중 → 이후: 대피 완료)으로 정리한다.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변경안을 확인 카드로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통합지휘권자가 「확인」을 누르면 시스템이 바뀐 상황 값을 저장하고 이벤트 로그에 "상황 정정: ○○리 대피 완료"를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기존 예측(P1~P8)은 그대로 두고, 규칙 엔진이 정정 값을 반영해 판정 값을 다시 계산하며, 시스템이 그 판정 값과 상황 데이터를 AI 모델에 다시 넘기고, AI 모델이 판단·제안 문장을 다시 써서 새 버전을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시스템이 대화 창에 "제안서 버전 n 생성"을 알리고, 대응 제안 화면에서 달라진 항목(예: E2 대피 대상에서 ○○리 제외)에 '변경' 태그를 붙인다.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「취소」를 누를 시 → 아무것도 저장하지 않음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83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입력한 대상(마을명 등)이 데이터에 없거나 해석할 수 없으면 시스템이 대상을 다시 입력해 달라고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E2. 제안 재생성에 실패하면 시스템이 저장된 상황 값은 유지하고 직전 버전을 그대로 보여주며 실패를 안내한다.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E3. 입력한 값이 가용 범위를 넘으면(예: 보유 수량보다 많은 투입) 시스템이 "가용 범위 초과, 기록 불가"로 거부하고 아무것도 저장하지 않는다.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3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정정된 상황 값과 새 버전의 대응 제안서가 저장된다. 예측 폴리곤은 바뀌지 않는다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제안 이력·변경사항 조회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3116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제안서가 버전별로 쌓인 이력을 보고, 직전 버전에서 무엇이 달라졌는지 확인한다. 변경은 서술형 비교가 아니라 새 문서 + '변경' 태그 + 팝업 방식이다.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제안서 버전이 2개 이상 있음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사용자가 대응 제안 화면에서 「이력」을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버전 목록(버전 번호·생성 시각·기준 실측 화선 버전·생성 계기[폴리곤 갱신에 따른 재예측 / AI 상황 정정])을 최신순으로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사용자가 이전 버전을 고르면 시스템이 그 버전의 제안서 전체를 "이전 버전" 표시와 함께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사용자가 최신 버전으로 돌아와 '변경' 태그가 붙은 항목을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팝업으로 직전 버전 대비 바뀐 내용(이전 문장 → 이후 문장)을 보여준다. 바뀌지 않은 항목에는 아무 표시도 하지 않는다.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 사용자가 「이벤트 로그」를 열면 시스템이 로그인·입력·예측·제안·정정·종료·관리·근거 부족 이벤트를 시각·구분·내용·사용자 기준으로 읽기 전용으로 보여준다.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버전이 하나뿐이면 시스템이 "비교할 이전 버전이 없습니다"를 안내한다.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선택한 버전과 변경 내용, 이벤트 로그가 표시된다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발화 종료 처리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2170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진화가 끝난 산불을 통합지휘권자가 종료 상태로 바꿔 사건을 닫는다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통합지휘권자로 로그인, 종료할 산불이 '진행 중' 상태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2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진화가 끝나면 통합지휘권자가 발생·접수 정보(UC-SIT-02) 화면에서 해당 산불을 고른다.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통합지휘권자가 「종료 처리」를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시스템이 "종료하면 상황 보고·예측 실행·상황 정정이 막힙니다" 확인 창을 띄우고, 통합지휘권자가 「확인」을 누른다.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산불 상태를 "종료"로 바꾸고 종료 시각을 저장하며 이벤트 로그에 "산불 종료"를 기록한다.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해당 산불을 진행 중 목록에서 빼 종료 목록으로 옮기고, 이후 상황 보고(UC-REPORT-01)·예측 실행·상황 정정을 비활성화한다.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확인 창에서 「취소」를 누를 시 → "진행 중" 상태 유지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이미 종료된 산불이면 시스템이 「종료 처리」 버튼을 표시하지 않는다.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"종료" 상태와 종료 시각이 저장되고, 제안서·이력은 조회만 가능하다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계정·권한 관리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56699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 관리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0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평시에 사용자 계정을 발급·회수하고, 조작(통합지휘권자)·열람(열람자)·보고(상황 보고자) 권한을 나눈다. 회원가입이 없으므로 모든 계정은 여기서만 생기며, 전산 관리자 계정(관리 권한)은 시스템 설치 시 사전 발급한다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관리자로 로그인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17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전산 관리자가 「계정 관리」 화면을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발급된 계정 목록(아이디·이름·소속·권한·상태)을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전산 관리자가 「계정 발급」을 누르고 이름·소속·권한을 입력한다.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아이디를 자동 생성해 중복을 검사하고 계정을 저장한 뒤 초기 비밀번호를 발급한다(시연용 프로토타입의 편의 방식).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계정을 거둘 때 전산 관리자가 대상 계정의 「회수」를 누르면 시스템이 계정을 비활성화하고, 이후 그 계정의 로그인을 막는다(UC-AUTH-01 E2).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A1. 기존 계정의 권한을 바꿀 시 → 저장 즉시 새 권한 적용(로그인 중인 세션 포함)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A2. 비밀번호를 잊은 계정 → 「재발급」으로 초기 비밀번호를 다시 발급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A3. 잠긴 계정 → 「잠금 해제」로 잠금을 풀고 실패 횟수를 0으로 초기화(UC-AUTH-01 E3)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A4. 더 쓰지 않는 계정 → 「삭제」(로그인 중인 자기 계정은 삭제 불가)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이름·소속·권한 중 빈 값이 있으면 시스템이 발급을 막고 빠진 칸을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계정·권한이 저장되어 로그인에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5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106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107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108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109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03. 유스케이스 다이어그램</a:t>
            </a:r>
          </a:p>
        </p:txBody>
      </p:sp>
      <p:sp>
        <p:nvSpPr>
          <p:cNvPr id="5110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시나리오 – 진화자원 데이터 관리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5111" name="Table 5110"/>
          <p:cNvGraphicFramePr>
            <a:graphicFrameLocks noGrp="1"/>
          </p:cNvGraphicFramePr>
          <p:nvPr/>
        </p:nvGraphicFramePr>
        <p:xfrm>
          <a:off x="1337310" y="2395728"/>
          <a:ext cx="15430500" cy="49375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543">
                <a:tc rowSpan="8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AA9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개요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관리자가 보유 헬기·차량·인력 데이터를 등록·수정·삭제한다.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액터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시작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관리자로 로그인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전산 관리자가 「진화자원 데이터 관리」 화면을 연다.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시스템이 자원 목록(구분[헬기·차량·인력]·소속·수량·호출부호[자원별 무전 식별명, 예: 산림 101호]·배치 위치[평소 대기 장소, 예: ○○ 산림항공관리소])을 보여준다.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전산 관리자가 새 자원을 등록하거나 기존 자원의 값을 고치거나 삭제한다.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 시스템이 필수 값(구분·명칭(호출부호)·소속·수량)을 검사하고 저장한다.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 시스템이 저장된 값을 이후 통합 상황도의 진화자원 현황과 다음 대응 제안 생성(S3·S6)의 입력으로 쓴다.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 흐름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E1. 필수 값이 빠지면 시스템이 저장을 막고 빠진 칸을 표시한다.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5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조건</a:t>
                      </a:r>
                    </a:p>
                  </a:txBody>
                  <a:tcPr marL="137160" marR="137160" marT="60350" marB="60350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550" b="0">
                          <a:solidFill>
                            <a:srgbClr val="363A5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데이터가 저장되어 재난 시 조회·제안에 쓰인다</a:t>
                      </a:r>
                    </a:p>
                  </a:txBody>
                  <a:tcPr marL="137160" marR="137160" marT="50292" marB="5029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0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01" name="TextBox 5200">
            <a:extLst>
              <a:ext uri="{FF2B5EF4-FFF2-40B4-BE49-F238E27FC236}">
                <a16:creationId xmlns:a16="http://schemas.microsoft.com/office/drawing/2014/main" id="{26DE0F2F-F061-4344-8C84-916560A5DAB2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3585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1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1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1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9E7D9B26-9723-4F99-9492-28D4B2296CC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2EBF6211-BB10-4DE6-BD7B-15C4D3B29B9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로그인  (UC-AUTH-01)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36</a:t>
            </a:fld>
            <a:endParaRPr/>
          </a:p>
        </p:txBody>
      </p:sp>
      <p:sp>
        <p:nvSpPr>
          <p:cNvPr id="6133" name="Rounded Rectangle 6134">
            <a:extLst>
              <a:ext uri="{FF2B5EF4-FFF2-40B4-BE49-F238E27FC236}">
                <a16:creationId xmlns:a16="http://schemas.microsoft.com/office/drawing/2014/main" id="{E4F25CE0-5658-465D-A181-6A58BB2D89BF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135" name="Connector 6136">
            <a:extLst>
              <a:ext uri="{FF2B5EF4-FFF2-40B4-BE49-F238E27FC236}">
                <a16:creationId xmlns:a16="http://schemas.microsoft.com/office/drawing/2014/main" id="{7FD432D8-E6F7-4F04-977F-5C1D40C3C6E2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37" name="Rounded Rectangle 6138">
            <a:extLst>
              <a:ext uri="{FF2B5EF4-FFF2-40B4-BE49-F238E27FC236}">
                <a16:creationId xmlns:a16="http://schemas.microsoft.com/office/drawing/2014/main" id="{384B60FC-5B3C-48E9-9FB2-9B56EBC9D907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139" name="Connector 6140">
            <a:extLst>
              <a:ext uri="{FF2B5EF4-FFF2-40B4-BE49-F238E27FC236}">
                <a16:creationId xmlns:a16="http://schemas.microsoft.com/office/drawing/2014/main" id="{4939E15C-2A4A-4CBD-B469-2CDBB72346F7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1" name="Rounded Rectangle 6142">
            <a:extLst>
              <a:ext uri="{FF2B5EF4-FFF2-40B4-BE49-F238E27FC236}">
                <a16:creationId xmlns:a16="http://schemas.microsoft.com/office/drawing/2014/main" id="{CE4DC66E-FE22-48C5-B5C0-3CD434F3EADF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</a:t>
            </a:r>
          </a:p>
        </p:txBody>
      </p:sp>
      <p:sp>
        <p:nvSpPr>
          <p:cNvPr id="6143" name="Connector 6144">
            <a:extLst>
              <a:ext uri="{FF2B5EF4-FFF2-40B4-BE49-F238E27FC236}">
                <a16:creationId xmlns:a16="http://schemas.microsoft.com/office/drawing/2014/main" id="{F5C5C1E0-1183-478D-A2DC-473074EF365F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5" name="Rounded Rectangle 6146">
            <a:extLst>
              <a:ext uri="{FF2B5EF4-FFF2-40B4-BE49-F238E27FC236}">
                <a16:creationId xmlns:a16="http://schemas.microsoft.com/office/drawing/2014/main" id="{DB0BAD14-8533-4255-84EC-B0693D2B9F78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</a:t>
            </a:r>
          </a:p>
        </p:txBody>
      </p:sp>
      <p:sp>
        <p:nvSpPr>
          <p:cNvPr id="6147" name="Connector 6148">
            <a:extLst>
              <a:ext uri="{FF2B5EF4-FFF2-40B4-BE49-F238E27FC236}">
                <a16:creationId xmlns:a16="http://schemas.microsoft.com/office/drawing/2014/main" id="{1AEF4D92-717A-4C4F-B6CB-D80CADE3BB44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9" name="Rounded Rectangle 6150">
            <a:extLst>
              <a:ext uri="{FF2B5EF4-FFF2-40B4-BE49-F238E27FC236}">
                <a16:creationId xmlns:a16="http://schemas.microsoft.com/office/drawing/2014/main" id="{2E223D5D-E624-403C-B3EF-6C9ABA45070C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151" name="Connector 6152">
            <a:extLst>
              <a:ext uri="{FF2B5EF4-FFF2-40B4-BE49-F238E27FC236}">
                <a16:creationId xmlns:a16="http://schemas.microsoft.com/office/drawing/2014/main" id="{1E13721B-6D30-4E66-8DA7-A961FFD7C08A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3" name="Rounded Rectangle 6154">
            <a:extLst>
              <a:ext uri="{FF2B5EF4-FFF2-40B4-BE49-F238E27FC236}">
                <a16:creationId xmlns:a16="http://schemas.microsoft.com/office/drawing/2014/main" id="{D5880B6E-8400-45F9-8B7A-B119C631EBE7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155" name="Connector 6156">
            <a:extLst>
              <a:ext uri="{FF2B5EF4-FFF2-40B4-BE49-F238E27FC236}">
                <a16:creationId xmlns:a16="http://schemas.microsoft.com/office/drawing/2014/main" id="{B39B4466-D74E-4BA4-963D-23F5BD2E1AFF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333568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9" name="Rectangle 6020">
            <a:extLst>
              <a:ext uri="{FF2B5EF4-FFF2-40B4-BE49-F238E27FC236}">
                <a16:creationId xmlns:a16="http://schemas.microsoft.com/office/drawing/2014/main" id="{208535EF-379C-49EC-950F-679CCF4FA6E7}"/>
              </a:ext>
            </a:extLst>
          </p:cNvPr>
          <p:cNvSpPr>
            <a:spLocks noGrp="1"/>
          </p:cNvSpPr>
          <p:nvPr/>
        </p:nvSpPr>
        <p:spPr>
          <a:xfrm>
            <a:off x="13011635" y="38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1" name="Rectangle 6022">
            <a:extLst>
              <a:ext uri="{FF2B5EF4-FFF2-40B4-BE49-F238E27FC236}">
                <a16:creationId xmlns:a16="http://schemas.microsoft.com/office/drawing/2014/main" id="{F2C06343-C6D7-48DE-A446-51DA9C5E02D5}"/>
              </a:ext>
            </a:extLst>
          </p:cNvPr>
          <p:cNvSpPr>
            <a:spLocks noGrp="1"/>
          </p:cNvSpPr>
          <p:nvPr/>
        </p:nvSpPr>
        <p:spPr>
          <a:xfrm>
            <a:off x="10325585" y="48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3" name="Rectangle 6024">
            <a:extLst>
              <a:ext uri="{FF2B5EF4-FFF2-40B4-BE49-F238E27FC236}">
                <a16:creationId xmlns:a16="http://schemas.microsoft.com/office/drawing/2014/main" id="{F1649544-784F-45E2-ABF9-07894EA33EA3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19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5" name="Rectangle 6026">
            <a:extLst>
              <a:ext uri="{FF2B5EF4-FFF2-40B4-BE49-F238E27FC236}">
                <a16:creationId xmlns:a16="http://schemas.microsoft.com/office/drawing/2014/main" id="{1AAD8C58-A6BB-4F1D-B67C-9D0594615727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24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7" name="Rectangle 6028">
            <a:extLst>
              <a:ext uri="{FF2B5EF4-FFF2-40B4-BE49-F238E27FC236}">
                <a16:creationId xmlns:a16="http://schemas.microsoft.com/office/drawing/2014/main" id="{38B2CB11-0CE4-4FEB-B5E0-6655FB1749BF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2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29" name="Rectangle 6030">
            <a:extLst>
              <a:ext uri="{FF2B5EF4-FFF2-40B4-BE49-F238E27FC236}">
                <a16:creationId xmlns:a16="http://schemas.microsoft.com/office/drawing/2014/main" id="{39A3E999-3788-4E37-B008-9AA91BE27E8B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2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1" name="Rectangle 6032">
            <a:extLst>
              <a:ext uri="{FF2B5EF4-FFF2-40B4-BE49-F238E27FC236}">
                <a16:creationId xmlns:a16="http://schemas.microsoft.com/office/drawing/2014/main" id="{9AAD028C-85B2-4822-A842-6A8F2E55A4EB}"/>
              </a:ext>
            </a:extLst>
          </p:cNvPr>
          <p:cNvSpPr>
            <a:spLocks noGrp="1"/>
          </p:cNvSpPr>
          <p:nvPr/>
        </p:nvSpPr>
        <p:spPr>
          <a:xfrm>
            <a:off x="13011635" y="6157274"/>
            <a:ext cx="140000" cy="5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3" name="Rectangle 6034">
            <a:extLst>
              <a:ext uri="{FF2B5EF4-FFF2-40B4-BE49-F238E27FC236}">
                <a16:creationId xmlns:a16="http://schemas.microsoft.com/office/drawing/2014/main" id="{A06E8B17-CE34-4602-B86B-3C0EACC416BF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3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5" name="Rectangle 6036">
            <a:extLst>
              <a:ext uri="{FF2B5EF4-FFF2-40B4-BE49-F238E27FC236}">
                <a16:creationId xmlns:a16="http://schemas.microsoft.com/office/drawing/2014/main" id="{DC61AFC1-7206-4F8B-ABCC-7EBA78220AD6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38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7" name="Rectangle 6038">
            <a:extLst>
              <a:ext uri="{FF2B5EF4-FFF2-40B4-BE49-F238E27FC236}">
                <a16:creationId xmlns:a16="http://schemas.microsoft.com/office/drawing/2014/main" id="{CAA588D4-B560-428C-B8CA-18B75DA07340}"/>
              </a:ext>
            </a:extLst>
          </p:cNvPr>
          <p:cNvSpPr>
            <a:spLocks noGrp="1"/>
          </p:cNvSpPr>
          <p:nvPr/>
        </p:nvSpPr>
        <p:spPr>
          <a:xfrm>
            <a:off x="10325585" y="76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39" name="Rectangle 6040">
            <a:extLst>
              <a:ext uri="{FF2B5EF4-FFF2-40B4-BE49-F238E27FC236}">
                <a16:creationId xmlns:a16="http://schemas.microsoft.com/office/drawing/2014/main" id="{CD5374D0-8E0B-411B-A220-44DCB6B364B9}"/>
              </a:ext>
            </a:extLst>
          </p:cNvPr>
          <p:cNvSpPr>
            <a:spLocks noGrp="1"/>
          </p:cNvSpPr>
          <p:nvPr/>
        </p:nvSpPr>
        <p:spPr>
          <a:xfrm>
            <a:off x="15697685" y="81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1" name="Rectangle 6042">
            <a:extLst>
              <a:ext uri="{FF2B5EF4-FFF2-40B4-BE49-F238E27FC236}">
                <a16:creationId xmlns:a16="http://schemas.microsoft.com/office/drawing/2014/main" id="{D88D903D-869B-404A-83FC-4E6D435D4C08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474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3" name="Rectangle 6044">
            <a:extLst>
              <a:ext uri="{FF2B5EF4-FFF2-40B4-BE49-F238E27FC236}">
                <a16:creationId xmlns:a16="http://schemas.microsoft.com/office/drawing/2014/main" id="{0B5E8DD9-E5F3-4383-B85D-2A7617B8126C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58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5" name="TextBox 6046">
            <a:extLst>
              <a:ext uri="{FF2B5EF4-FFF2-40B4-BE49-F238E27FC236}">
                <a16:creationId xmlns:a16="http://schemas.microsoft.com/office/drawing/2014/main" id="{06847C67-6012-4106-A0AD-E1C0D9B59200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아이디·비밀번호 입력, 사용자 구분 선택, 로그인</a:t>
            </a:r>
          </a:p>
        </p:txBody>
      </p:sp>
      <p:sp>
        <p:nvSpPr>
          <p:cNvPr id="6047" name="Connector 6048">
            <a:extLst>
              <a:ext uri="{FF2B5EF4-FFF2-40B4-BE49-F238E27FC236}">
                <a16:creationId xmlns:a16="http://schemas.microsoft.com/office/drawing/2014/main" id="{991E102E-D242-4404-9EF8-00B3D073792E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49" name="TextBox 6050">
            <a:extLst>
              <a:ext uri="{FF2B5EF4-FFF2-40B4-BE49-F238E27FC236}">
                <a16:creationId xmlns:a16="http://schemas.microsoft.com/office/drawing/2014/main" id="{D63E2E28-8844-49A6-807C-0C72E7DB2CEA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/auth/login (id, pw, 구분)</a:t>
            </a:r>
          </a:p>
        </p:txBody>
      </p:sp>
      <p:sp>
        <p:nvSpPr>
          <p:cNvPr id="6051" name="Connector 6052">
            <a:extLst>
              <a:ext uri="{FF2B5EF4-FFF2-40B4-BE49-F238E27FC236}">
                <a16:creationId xmlns:a16="http://schemas.microsoft.com/office/drawing/2014/main" id="{43B5FA80-D64D-41D9-85DA-0BB551E2FA8B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3" name="TextBox 6054">
            <a:extLst>
              <a:ext uri="{FF2B5EF4-FFF2-40B4-BE49-F238E27FC236}">
                <a16:creationId xmlns:a16="http://schemas.microsoft.com/office/drawing/2014/main" id="{EA2CDB94-D79C-4FF0-85C7-2DC9924A925A}"/>
              </a:ext>
            </a:extLst>
          </p:cNvPr>
          <p:cNvSpPr>
            <a:spLocks noGrp="1"/>
          </p:cNvSpPr>
          <p:nvPr/>
        </p:nvSpPr>
        <p:spPr>
          <a:xfrm>
            <a:off x="7709535" y="365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조회(login_id)</a:t>
            </a:r>
          </a:p>
        </p:txBody>
      </p:sp>
      <p:sp>
        <p:nvSpPr>
          <p:cNvPr id="6055" name="Connector 6056">
            <a:extLst>
              <a:ext uri="{FF2B5EF4-FFF2-40B4-BE49-F238E27FC236}">
                <a16:creationId xmlns:a16="http://schemas.microsoft.com/office/drawing/2014/main" id="{387E379A-0724-4590-A987-94F07BAF38B3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7" name="TextBox 6058">
            <a:extLst>
              <a:ext uri="{FF2B5EF4-FFF2-40B4-BE49-F238E27FC236}">
                <a16:creationId xmlns:a16="http://schemas.microsoft.com/office/drawing/2014/main" id="{17101698-5797-466B-9E18-DD0BD5064FCB}"/>
              </a:ext>
            </a:extLst>
          </p:cNvPr>
          <p:cNvSpPr>
            <a:spLocks noGrp="1"/>
          </p:cNvSpPr>
          <p:nvPr/>
        </p:nvSpPr>
        <p:spPr>
          <a:xfrm>
            <a:off x="7709535" y="390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해시·role·상태·잠금여부(발급/회수)</a:t>
            </a:r>
          </a:p>
        </p:txBody>
      </p:sp>
      <p:sp>
        <p:nvSpPr>
          <p:cNvPr id="6059" name="Connector 6060">
            <a:extLst>
              <a:ext uri="{FF2B5EF4-FFF2-40B4-BE49-F238E27FC236}">
                <a16:creationId xmlns:a16="http://schemas.microsoft.com/office/drawing/2014/main" id="{E9759DA3-64D3-466E-BAD0-B9104A2522FD}"/>
              </a:ext>
            </a:extLst>
          </p:cNvPr>
          <p:cNvSpPr>
            <a:spLocks noGrp="1"/>
          </p:cNvSpPr>
          <p:nvPr/>
        </p:nvSpPr>
        <p:spPr>
          <a:xfrm flipH="1">
            <a:off x="7779535" y="4132274"/>
            <a:ext cx="523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1" name="Connector 6062">
            <a:extLst>
              <a:ext uri="{FF2B5EF4-FFF2-40B4-BE49-F238E27FC236}">
                <a16:creationId xmlns:a16="http://schemas.microsoft.com/office/drawing/2014/main" id="{87F797A9-C2B8-4396-B4AD-21A2E8C5F176}"/>
              </a:ext>
            </a:extLst>
          </p:cNvPr>
          <p:cNvSpPr>
            <a:spLocks noGrp="1"/>
          </p:cNvSpPr>
          <p:nvPr/>
        </p:nvSpPr>
        <p:spPr>
          <a:xfrm>
            <a:off x="7779535" y="43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3" name="Connector 6064">
            <a:extLst>
              <a:ext uri="{FF2B5EF4-FFF2-40B4-BE49-F238E27FC236}">
                <a16:creationId xmlns:a16="http://schemas.microsoft.com/office/drawing/2014/main" id="{A7FD9FC9-97E4-4105-80A7-03386F6D07AD}"/>
              </a:ext>
            </a:extLst>
          </p:cNvPr>
          <p:cNvSpPr>
            <a:spLocks noGrp="1"/>
          </p:cNvSpPr>
          <p:nvPr/>
        </p:nvSpPr>
        <p:spPr>
          <a:xfrm>
            <a:off x="8145295" y="43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5" name="Connector 6066">
            <a:extLst>
              <a:ext uri="{FF2B5EF4-FFF2-40B4-BE49-F238E27FC236}">
                <a16:creationId xmlns:a16="http://schemas.microsoft.com/office/drawing/2014/main" id="{704FA401-4FFA-4E1E-9729-2515DF78CF86}"/>
              </a:ext>
            </a:extLst>
          </p:cNvPr>
          <p:cNvSpPr>
            <a:spLocks noGrp="1"/>
          </p:cNvSpPr>
          <p:nvPr/>
        </p:nvSpPr>
        <p:spPr>
          <a:xfrm flipH="1">
            <a:off x="7813825" y="45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7" name="TextBox 6068">
            <a:extLst>
              <a:ext uri="{FF2B5EF4-FFF2-40B4-BE49-F238E27FC236}">
                <a16:creationId xmlns:a16="http://schemas.microsoft.com/office/drawing/2014/main" id="{F80331F2-B242-4771-B1A6-93778892FAFC}"/>
              </a:ext>
            </a:extLst>
          </p:cNvPr>
          <p:cNvSpPr>
            <a:spLocks noGrp="1"/>
          </p:cNvSpPr>
          <p:nvPr/>
        </p:nvSpPr>
        <p:spPr>
          <a:xfrm>
            <a:off x="8236735" y="41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여부 우선 확인</a:t>
            </a:r>
          </a:p>
        </p:txBody>
      </p:sp>
      <p:sp>
        <p:nvSpPr>
          <p:cNvPr id="6069" name="TextBox 6070">
            <a:extLst>
              <a:ext uri="{FF2B5EF4-FFF2-40B4-BE49-F238E27FC236}">
                <a16:creationId xmlns:a16="http://schemas.microsoft.com/office/drawing/2014/main" id="{D3A1E60F-93A8-4F5D-97A6-B3D837AF0835}"/>
              </a:ext>
            </a:extLst>
          </p:cNvPr>
          <p:cNvSpPr>
            <a:spLocks noGrp="1"/>
          </p:cNvSpPr>
          <p:nvPr/>
        </p:nvSpPr>
        <p:spPr>
          <a:xfrm>
            <a:off x="7709535" y="46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verify_password() · 구분 일치 확인</a:t>
            </a:r>
          </a:p>
        </p:txBody>
      </p:sp>
      <p:sp>
        <p:nvSpPr>
          <p:cNvPr id="6071" name="Connector 6072">
            <a:extLst>
              <a:ext uri="{FF2B5EF4-FFF2-40B4-BE49-F238E27FC236}">
                <a16:creationId xmlns:a16="http://schemas.microsoft.com/office/drawing/2014/main" id="{A9F62429-7CC6-429C-A5E8-89669BC4F21D}"/>
              </a:ext>
            </a:extLst>
          </p:cNvPr>
          <p:cNvSpPr>
            <a:spLocks noGrp="1"/>
          </p:cNvSpPr>
          <p:nvPr/>
        </p:nvSpPr>
        <p:spPr>
          <a:xfrm>
            <a:off x="7779535" y="48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3" name="TextBox 6074">
            <a:extLst>
              <a:ext uri="{FF2B5EF4-FFF2-40B4-BE49-F238E27FC236}">
                <a16:creationId xmlns:a16="http://schemas.microsoft.com/office/drawing/2014/main" id="{7CDBE85B-EF71-49B6-94CD-80FE41986FC0}"/>
              </a:ext>
            </a:extLst>
          </p:cNvPr>
          <p:cNvSpPr>
            <a:spLocks noGrp="1"/>
          </p:cNvSpPr>
          <p:nvPr/>
        </p:nvSpPr>
        <p:spPr>
          <a:xfrm>
            <a:off x="7709535" y="48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검증 결과</a:t>
            </a:r>
          </a:p>
        </p:txBody>
      </p:sp>
      <p:sp>
        <p:nvSpPr>
          <p:cNvPr id="6075" name="Connector 6076">
            <a:extLst>
              <a:ext uri="{FF2B5EF4-FFF2-40B4-BE49-F238E27FC236}">
                <a16:creationId xmlns:a16="http://schemas.microsoft.com/office/drawing/2014/main" id="{70AABA50-1DD4-4019-AC27-68CB1AA6FE06}"/>
              </a:ext>
            </a:extLst>
          </p:cNvPr>
          <p:cNvSpPr>
            <a:spLocks noGrp="1"/>
          </p:cNvSpPr>
          <p:nvPr/>
        </p:nvSpPr>
        <p:spPr>
          <a:xfrm flipH="1">
            <a:off x="7779535" y="50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7" name="TextBox 6078">
            <a:extLst>
              <a:ext uri="{FF2B5EF4-FFF2-40B4-BE49-F238E27FC236}">
                <a16:creationId xmlns:a16="http://schemas.microsoft.com/office/drawing/2014/main" id="{650CF3A2-0F70-43AC-BD71-268374DC21E6}"/>
              </a:ext>
            </a:extLst>
          </p:cNvPr>
          <p:cNvSpPr>
            <a:spLocks noGrp="1"/>
          </p:cNvSpPr>
          <p:nvPr/>
        </p:nvSpPr>
        <p:spPr>
          <a:xfrm>
            <a:off x="5023485" y="532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423 「계정이 잠겼습니다」</a:t>
            </a:r>
          </a:p>
        </p:txBody>
      </p:sp>
      <p:sp>
        <p:nvSpPr>
          <p:cNvPr id="6079" name="Connector 6080">
            <a:extLst>
              <a:ext uri="{FF2B5EF4-FFF2-40B4-BE49-F238E27FC236}">
                <a16:creationId xmlns:a16="http://schemas.microsoft.com/office/drawing/2014/main" id="{A926DF52-0638-47E5-9C31-A5A8B4934976}"/>
              </a:ext>
            </a:extLst>
          </p:cNvPr>
          <p:cNvSpPr>
            <a:spLocks noGrp="1"/>
          </p:cNvSpPr>
          <p:nvPr/>
        </p:nvSpPr>
        <p:spPr>
          <a:xfrm flipH="1">
            <a:off x="5093485" y="554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1" name="TextBox 6082">
            <a:extLst>
              <a:ext uri="{FF2B5EF4-FFF2-40B4-BE49-F238E27FC236}">
                <a16:creationId xmlns:a16="http://schemas.microsoft.com/office/drawing/2014/main" id="{CB304B0F-ED1D-47C2-BC1A-CE14E88E51E0}"/>
              </a:ext>
            </a:extLst>
          </p:cNvPr>
          <p:cNvSpPr>
            <a:spLocks noGrp="1"/>
          </p:cNvSpPr>
          <p:nvPr/>
        </p:nvSpPr>
        <p:spPr>
          <a:xfrm>
            <a:off x="2337435" y="557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잠금 안내 표시(전산 관리자 문의)</a:t>
            </a:r>
          </a:p>
        </p:txBody>
      </p:sp>
      <p:sp>
        <p:nvSpPr>
          <p:cNvPr id="6083" name="Connector 6084">
            <a:extLst>
              <a:ext uri="{FF2B5EF4-FFF2-40B4-BE49-F238E27FC236}">
                <a16:creationId xmlns:a16="http://schemas.microsoft.com/office/drawing/2014/main" id="{8279E770-909D-4EEA-BD7B-2B0005A69BF4}"/>
              </a:ext>
            </a:extLst>
          </p:cNvPr>
          <p:cNvSpPr>
            <a:spLocks noGrp="1"/>
          </p:cNvSpPr>
          <p:nvPr/>
        </p:nvSpPr>
        <p:spPr>
          <a:xfrm flipH="1">
            <a:off x="2337435" y="579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5" name="TextBox 6086">
            <a:extLst>
              <a:ext uri="{FF2B5EF4-FFF2-40B4-BE49-F238E27FC236}">
                <a16:creationId xmlns:a16="http://schemas.microsoft.com/office/drawing/2014/main" id="{82BEBE7F-10D5-4BF6-8E2E-952AD12B0047}"/>
              </a:ext>
            </a:extLst>
          </p:cNvPr>
          <p:cNvSpPr>
            <a:spLocks noGrp="1"/>
          </p:cNvSpPr>
          <p:nvPr/>
        </p:nvSpPr>
        <p:spPr>
          <a:xfrm>
            <a:off x="7709535" y="5932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실패 횟수 +1(5회 도달 시 계정 잠금) · 상태 저장</a:t>
            </a:r>
          </a:p>
        </p:txBody>
      </p:sp>
      <p:sp>
        <p:nvSpPr>
          <p:cNvPr id="6087" name="Connector 6088">
            <a:extLst>
              <a:ext uri="{FF2B5EF4-FFF2-40B4-BE49-F238E27FC236}">
                <a16:creationId xmlns:a16="http://schemas.microsoft.com/office/drawing/2014/main" id="{8A825BA8-74C7-4A07-BC4C-D20CEACE233E}"/>
              </a:ext>
            </a:extLst>
          </p:cNvPr>
          <p:cNvSpPr>
            <a:spLocks noGrp="1"/>
          </p:cNvSpPr>
          <p:nvPr/>
        </p:nvSpPr>
        <p:spPr>
          <a:xfrm>
            <a:off x="7779535" y="6157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9" name="TextBox 6090">
            <a:extLst>
              <a:ext uri="{FF2B5EF4-FFF2-40B4-BE49-F238E27FC236}">
                <a16:creationId xmlns:a16="http://schemas.microsoft.com/office/drawing/2014/main" id="{E2A0D0F4-1D69-40E9-B903-337EFA3FE9E7}"/>
              </a:ext>
            </a:extLst>
          </p:cNvPr>
          <p:cNvSpPr>
            <a:spLocks noGrp="1"/>
          </p:cNvSpPr>
          <p:nvPr/>
        </p:nvSpPr>
        <p:spPr>
          <a:xfrm>
            <a:off x="5023485" y="618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401 「아이디 또는 비밀번호가 올바르지 않습니다」</a:t>
            </a:r>
          </a:p>
        </p:txBody>
      </p:sp>
      <p:sp>
        <p:nvSpPr>
          <p:cNvPr id="6091" name="Connector 6092">
            <a:extLst>
              <a:ext uri="{FF2B5EF4-FFF2-40B4-BE49-F238E27FC236}">
                <a16:creationId xmlns:a16="http://schemas.microsoft.com/office/drawing/2014/main" id="{BDC28DF2-AD58-49A6-87ED-FA172F25F010}"/>
              </a:ext>
            </a:extLst>
          </p:cNvPr>
          <p:cNvSpPr>
            <a:spLocks noGrp="1"/>
          </p:cNvSpPr>
          <p:nvPr/>
        </p:nvSpPr>
        <p:spPr>
          <a:xfrm flipH="1">
            <a:off x="5093485" y="640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3" name="TextBox 6094">
            <a:extLst>
              <a:ext uri="{FF2B5EF4-FFF2-40B4-BE49-F238E27FC236}">
                <a16:creationId xmlns:a16="http://schemas.microsoft.com/office/drawing/2014/main" id="{FE9A5C83-D266-4EC7-BB4D-12CF55569C46}"/>
              </a:ext>
            </a:extLst>
          </p:cNvPr>
          <p:cNvSpPr>
            <a:spLocks noGrp="1"/>
          </p:cNvSpPr>
          <p:nvPr/>
        </p:nvSpPr>
        <p:spPr>
          <a:xfrm>
            <a:off x="2337435" y="643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 메시지 표시</a:t>
            </a:r>
          </a:p>
        </p:txBody>
      </p:sp>
      <p:sp>
        <p:nvSpPr>
          <p:cNvPr id="6095" name="Connector 6096">
            <a:extLst>
              <a:ext uri="{FF2B5EF4-FFF2-40B4-BE49-F238E27FC236}">
                <a16:creationId xmlns:a16="http://schemas.microsoft.com/office/drawing/2014/main" id="{83611978-2472-4A50-AE29-136AA8B8559B}"/>
              </a:ext>
            </a:extLst>
          </p:cNvPr>
          <p:cNvSpPr>
            <a:spLocks noGrp="1"/>
          </p:cNvSpPr>
          <p:nvPr/>
        </p:nvSpPr>
        <p:spPr>
          <a:xfrm flipH="1">
            <a:off x="2337435" y="665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7" name="TextBox 6098">
            <a:extLst>
              <a:ext uri="{FF2B5EF4-FFF2-40B4-BE49-F238E27FC236}">
                <a16:creationId xmlns:a16="http://schemas.microsoft.com/office/drawing/2014/main" id="{0762E5C8-9F49-4F27-8FAE-8B3720ACF887}"/>
              </a:ext>
            </a:extLst>
          </p:cNvPr>
          <p:cNvSpPr>
            <a:spLocks noGrp="1"/>
          </p:cNvSpPr>
          <p:nvPr/>
        </p:nvSpPr>
        <p:spPr>
          <a:xfrm>
            <a:off x="5023485" y="679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403 「회수된 계정입니다」</a:t>
            </a:r>
          </a:p>
        </p:txBody>
      </p:sp>
      <p:sp>
        <p:nvSpPr>
          <p:cNvPr id="6099" name="Connector 6100">
            <a:extLst>
              <a:ext uri="{FF2B5EF4-FFF2-40B4-BE49-F238E27FC236}">
                <a16:creationId xmlns:a16="http://schemas.microsoft.com/office/drawing/2014/main" id="{25B1823F-D4DA-4FA4-A1FA-8D98F1146FAF}"/>
              </a:ext>
            </a:extLst>
          </p:cNvPr>
          <p:cNvSpPr>
            <a:spLocks noGrp="1"/>
          </p:cNvSpPr>
          <p:nvPr/>
        </p:nvSpPr>
        <p:spPr>
          <a:xfrm flipH="1">
            <a:off x="5093485" y="701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1" name="TextBox 6102">
            <a:extLst>
              <a:ext uri="{FF2B5EF4-FFF2-40B4-BE49-F238E27FC236}">
                <a16:creationId xmlns:a16="http://schemas.microsoft.com/office/drawing/2014/main" id="{62B29ECA-4433-4480-896C-F5667468FBA5}"/>
              </a:ext>
            </a:extLst>
          </p:cNvPr>
          <p:cNvSpPr>
            <a:spLocks noGrp="1"/>
          </p:cNvSpPr>
          <p:nvPr/>
        </p:nvSpPr>
        <p:spPr>
          <a:xfrm>
            <a:off x="2337435" y="704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 메시지 표시</a:t>
            </a:r>
          </a:p>
        </p:txBody>
      </p:sp>
      <p:sp>
        <p:nvSpPr>
          <p:cNvPr id="6103" name="Connector 6104">
            <a:extLst>
              <a:ext uri="{FF2B5EF4-FFF2-40B4-BE49-F238E27FC236}">
                <a16:creationId xmlns:a16="http://schemas.microsoft.com/office/drawing/2014/main" id="{1CA5BEF3-E9C2-46D4-A88F-342A719D72F3}"/>
              </a:ext>
            </a:extLst>
          </p:cNvPr>
          <p:cNvSpPr>
            <a:spLocks noGrp="1"/>
          </p:cNvSpPr>
          <p:nvPr/>
        </p:nvSpPr>
        <p:spPr>
          <a:xfrm flipH="1">
            <a:off x="2337435" y="726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5" name="TextBox 6106">
            <a:extLst>
              <a:ext uri="{FF2B5EF4-FFF2-40B4-BE49-F238E27FC236}">
                <a16:creationId xmlns:a16="http://schemas.microsoft.com/office/drawing/2014/main" id="{785F2866-12A0-42D1-A1BA-7CA3FEE9AD32}"/>
              </a:ext>
            </a:extLst>
          </p:cNvPr>
          <p:cNvSpPr>
            <a:spLocks noGrp="1"/>
          </p:cNvSpPr>
          <p:nvPr/>
        </p:nvSpPr>
        <p:spPr>
          <a:xfrm>
            <a:off x="7709535" y="74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create_token(role, 관할)</a:t>
            </a:r>
          </a:p>
        </p:txBody>
      </p:sp>
      <p:sp>
        <p:nvSpPr>
          <p:cNvPr id="6107" name="Connector 6108">
            <a:extLst>
              <a:ext uri="{FF2B5EF4-FFF2-40B4-BE49-F238E27FC236}">
                <a16:creationId xmlns:a16="http://schemas.microsoft.com/office/drawing/2014/main" id="{8DD7F5E8-F9B5-4725-B9C9-BD6C82C68ED2}"/>
              </a:ext>
            </a:extLst>
          </p:cNvPr>
          <p:cNvSpPr>
            <a:spLocks noGrp="1"/>
          </p:cNvSpPr>
          <p:nvPr/>
        </p:nvSpPr>
        <p:spPr>
          <a:xfrm>
            <a:off x="7779535" y="76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9" name="TextBox 6110">
            <a:extLst>
              <a:ext uri="{FF2B5EF4-FFF2-40B4-BE49-F238E27FC236}">
                <a16:creationId xmlns:a16="http://schemas.microsoft.com/office/drawing/2014/main" id="{6A050087-D0F0-4445-A502-9B76B66D78B9}"/>
              </a:ext>
            </a:extLst>
          </p:cNvPr>
          <p:cNvSpPr>
            <a:spLocks noGrp="1"/>
          </p:cNvSpPr>
          <p:nvPr/>
        </p:nvSpPr>
        <p:spPr>
          <a:xfrm>
            <a:off x="7709535" y="76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JWT</a:t>
            </a:r>
          </a:p>
        </p:txBody>
      </p:sp>
      <p:sp>
        <p:nvSpPr>
          <p:cNvPr id="6111" name="Connector 6112">
            <a:extLst>
              <a:ext uri="{FF2B5EF4-FFF2-40B4-BE49-F238E27FC236}">
                <a16:creationId xmlns:a16="http://schemas.microsoft.com/office/drawing/2014/main" id="{3AAB87DF-3948-4ACB-B6B1-3987AF055C51}"/>
              </a:ext>
            </a:extLst>
          </p:cNvPr>
          <p:cNvSpPr>
            <a:spLocks noGrp="1"/>
          </p:cNvSpPr>
          <p:nvPr/>
        </p:nvSpPr>
        <p:spPr>
          <a:xfrm flipH="1">
            <a:off x="7779535" y="78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3" name="TextBox 6114">
            <a:extLst>
              <a:ext uri="{FF2B5EF4-FFF2-40B4-BE49-F238E27FC236}">
                <a16:creationId xmlns:a16="http://schemas.microsoft.com/office/drawing/2014/main" id="{895EB2E9-8442-42EC-BB61-8FD5C1904408}"/>
              </a:ext>
            </a:extLst>
          </p:cNvPr>
          <p:cNvSpPr>
            <a:spLocks noGrp="1"/>
          </p:cNvSpPr>
          <p:nvPr/>
        </p:nvSpPr>
        <p:spPr>
          <a:xfrm>
            <a:off x="7709535" y="790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record(시스템, 로그인 · 실패횟수 초기화)</a:t>
            </a:r>
          </a:p>
        </p:txBody>
      </p:sp>
      <p:sp>
        <p:nvSpPr>
          <p:cNvPr id="6115" name="Connector 6116">
            <a:extLst>
              <a:ext uri="{FF2B5EF4-FFF2-40B4-BE49-F238E27FC236}">
                <a16:creationId xmlns:a16="http://schemas.microsoft.com/office/drawing/2014/main" id="{406E5AE8-E493-4F59-8387-C7C0C6E4CB4B}"/>
              </a:ext>
            </a:extLst>
          </p:cNvPr>
          <p:cNvSpPr>
            <a:spLocks noGrp="1"/>
          </p:cNvSpPr>
          <p:nvPr/>
        </p:nvSpPr>
        <p:spPr>
          <a:xfrm>
            <a:off x="7779535" y="8127274"/>
            <a:ext cx="791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7" name="TextBox 6118">
            <a:extLst>
              <a:ext uri="{FF2B5EF4-FFF2-40B4-BE49-F238E27FC236}">
                <a16:creationId xmlns:a16="http://schemas.microsoft.com/office/drawing/2014/main" id="{A485667E-71D8-48B4-BB9B-2DB2D22B6DE4}"/>
              </a:ext>
            </a:extLst>
          </p:cNvPr>
          <p:cNvSpPr>
            <a:spLocks noGrp="1"/>
          </p:cNvSpPr>
          <p:nvPr/>
        </p:nvSpPr>
        <p:spPr>
          <a:xfrm>
            <a:off x="5023485" y="81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200 token · role</a:t>
            </a:r>
          </a:p>
        </p:txBody>
      </p:sp>
      <p:sp>
        <p:nvSpPr>
          <p:cNvPr id="6119" name="Connector 6120">
            <a:extLst>
              <a:ext uri="{FF2B5EF4-FFF2-40B4-BE49-F238E27FC236}">
                <a16:creationId xmlns:a16="http://schemas.microsoft.com/office/drawing/2014/main" id="{F8EA3A96-0362-47B8-8A90-EAA0D7680E17}"/>
              </a:ext>
            </a:extLst>
          </p:cNvPr>
          <p:cNvSpPr>
            <a:spLocks noGrp="1"/>
          </p:cNvSpPr>
          <p:nvPr/>
        </p:nvSpPr>
        <p:spPr>
          <a:xfrm flipH="1">
            <a:off x="5093485" y="83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1" name="Connector 6122">
            <a:extLst>
              <a:ext uri="{FF2B5EF4-FFF2-40B4-BE49-F238E27FC236}">
                <a16:creationId xmlns:a16="http://schemas.microsoft.com/office/drawing/2014/main" id="{B0AF5286-CE25-40A9-84E6-3319488AB953}"/>
              </a:ext>
            </a:extLst>
          </p:cNvPr>
          <p:cNvSpPr>
            <a:spLocks noGrp="1"/>
          </p:cNvSpPr>
          <p:nvPr/>
        </p:nvSpPr>
        <p:spPr>
          <a:xfrm>
            <a:off x="5093485" y="877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3" name="Connector 6124">
            <a:extLst>
              <a:ext uri="{FF2B5EF4-FFF2-40B4-BE49-F238E27FC236}">
                <a16:creationId xmlns:a16="http://schemas.microsoft.com/office/drawing/2014/main" id="{2C83B7F9-13CC-43DB-B39E-A361C0E110EC}"/>
              </a:ext>
            </a:extLst>
          </p:cNvPr>
          <p:cNvSpPr>
            <a:spLocks noGrp="1"/>
          </p:cNvSpPr>
          <p:nvPr/>
        </p:nvSpPr>
        <p:spPr>
          <a:xfrm>
            <a:off x="5459245" y="877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5" name="Connector 6126">
            <a:extLst>
              <a:ext uri="{FF2B5EF4-FFF2-40B4-BE49-F238E27FC236}">
                <a16:creationId xmlns:a16="http://schemas.microsoft.com/office/drawing/2014/main" id="{A738EDF8-CD43-45E3-80AC-DBD8E47BC05B}"/>
              </a:ext>
            </a:extLst>
          </p:cNvPr>
          <p:cNvSpPr>
            <a:spLocks noGrp="1"/>
          </p:cNvSpPr>
          <p:nvPr/>
        </p:nvSpPr>
        <p:spPr>
          <a:xfrm flipH="1">
            <a:off x="5127775" y="895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7" name="TextBox 6128">
            <a:extLst>
              <a:ext uri="{FF2B5EF4-FFF2-40B4-BE49-F238E27FC236}">
                <a16:creationId xmlns:a16="http://schemas.microsoft.com/office/drawing/2014/main" id="{50AA0A3E-4324-409F-A391-337153F5A614}"/>
              </a:ext>
            </a:extLst>
          </p:cNvPr>
          <p:cNvSpPr>
            <a:spLocks noGrp="1"/>
          </p:cNvSpPr>
          <p:nvPr/>
        </p:nvSpPr>
        <p:spPr>
          <a:xfrm>
            <a:off x="5550685" y="854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권한별 첫 화면 구성(조작·열람·보고·관리)</a:t>
            </a:r>
          </a:p>
        </p:txBody>
      </p:sp>
      <p:sp>
        <p:nvSpPr>
          <p:cNvPr id="6129" name="TextBox 6130">
            <a:extLst>
              <a:ext uri="{FF2B5EF4-FFF2-40B4-BE49-F238E27FC236}">
                <a16:creationId xmlns:a16="http://schemas.microsoft.com/office/drawing/2014/main" id="{1AD0F896-7DDD-493B-B54A-4D55C9F6A094}"/>
              </a:ext>
            </a:extLst>
          </p:cNvPr>
          <p:cNvSpPr>
            <a:spLocks noGrp="1"/>
          </p:cNvSpPr>
          <p:nvPr/>
        </p:nvSpPr>
        <p:spPr>
          <a:xfrm>
            <a:off x="2337435" y="899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첫 화면 표시</a:t>
            </a:r>
          </a:p>
        </p:txBody>
      </p:sp>
      <p:sp>
        <p:nvSpPr>
          <p:cNvPr id="6131" name="Connector 6132">
            <a:extLst>
              <a:ext uri="{FF2B5EF4-FFF2-40B4-BE49-F238E27FC236}">
                <a16:creationId xmlns:a16="http://schemas.microsoft.com/office/drawing/2014/main" id="{A2643740-1C8B-4085-9E5A-C073759EEBD1}"/>
              </a:ext>
            </a:extLst>
          </p:cNvPr>
          <p:cNvSpPr>
            <a:spLocks noGrp="1"/>
          </p:cNvSpPr>
          <p:nvPr/>
        </p:nvSpPr>
        <p:spPr>
          <a:xfrm flipH="1">
            <a:off x="2337435" y="9217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1" name="Rectangle 6002">
            <a:extLst>
              <a:ext uri="{FF2B5EF4-FFF2-40B4-BE49-F238E27FC236}">
                <a16:creationId xmlns:a16="http://schemas.microsoft.com/office/drawing/2014/main" id="{28AE5B8E-13E6-47FE-977F-91092EEE7E80}"/>
              </a:ext>
            </a:extLst>
          </p:cNvPr>
          <p:cNvSpPr>
            <a:spLocks noGrp="1"/>
          </p:cNvSpPr>
          <p:nvPr/>
        </p:nvSpPr>
        <p:spPr>
          <a:xfrm>
            <a:off x="983665" y="5102274"/>
            <a:ext cx="16137790" cy="338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003" name="Rectangle 6004">
            <a:extLst>
              <a:ext uri="{FF2B5EF4-FFF2-40B4-BE49-F238E27FC236}">
                <a16:creationId xmlns:a16="http://schemas.microsoft.com/office/drawing/2014/main" id="{76BAE072-C9E6-4197-AB53-2367574E10F4}"/>
              </a:ext>
            </a:extLst>
          </p:cNvPr>
          <p:cNvSpPr>
            <a:spLocks noGrp="1"/>
          </p:cNvSpPr>
          <p:nvPr/>
        </p:nvSpPr>
        <p:spPr>
          <a:xfrm>
            <a:off x="983665" y="51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005" name="TextBox 6006">
            <a:extLst>
              <a:ext uri="{FF2B5EF4-FFF2-40B4-BE49-F238E27FC236}">
                <a16:creationId xmlns:a16="http://schemas.microsoft.com/office/drawing/2014/main" id="{860A29C0-2561-4126-9870-A228A319CB1E}"/>
              </a:ext>
            </a:extLst>
          </p:cNvPr>
          <p:cNvSpPr>
            <a:spLocks noGrp="1"/>
          </p:cNvSpPr>
          <p:nvPr/>
        </p:nvSpPr>
        <p:spPr>
          <a:xfrm>
            <a:off x="1792325" y="51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[잠긴 계정]</a:t>
            </a:r>
          </a:p>
        </p:txBody>
      </p:sp>
      <p:sp>
        <p:nvSpPr>
          <p:cNvPr id="6007" name="Connector 6008">
            <a:extLst>
              <a:ext uri="{FF2B5EF4-FFF2-40B4-BE49-F238E27FC236}">
                <a16:creationId xmlns:a16="http://schemas.microsoft.com/office/drawing/2014/main" id="{3841FB12-A202-4A2B-8E8D-6A93379C03C2}"/>
              </a:ext>
            </a:extLst>
          </p:cNvPr>
          <p:cNvSpPr>
            <a:spLocks noGrp="1"/>
          </p:cNvSpPr>
          <p:nvPr/>
        </p:nvSpPr>
        <p:spPr>
          <a:xfrm>
            <a:off x="983665" y="586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9" name="TextBox 6010">
            <a:extLst>
              <a:ext uri="{FF2B5EF4-FFF2-40B4-BE49-F238E27FC236}">
                <a16:creationId xmlns:a16="http://schemas.microsoft.com/office/drawing/2014/main" id="{B3A482AE-B30D-4252-87AA-6BEB75F594CD}"/>
              </a:ext>
            </a:extLst>
          </p:cNvPr>
          <p:cNvSpPr>
            <a:spLocks noGrp="1"/>
          </p:cNvSpPr>
          <p:nvPr/>
        </p:nvSpPr>
        <p:spPr>
          <a:xfrm>
            <a:off x="1097965" y="588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[불일치·구분 다름]</a:t>
            </a:r>
          </a:p>
        </p:txBody>
      </p:sp>
      <p:sp>
        <p:nvSpPr>
          <p:cNvPr id="6011" name="Connector 6012">
            <a:extLst>
              <a:ext uri="{FF2B5EF4-FFF2-40B4-BE49-F238E27FC236}">
                <a16:creationId xmlns:a16="http://schemas.microsoft.com/office/drawing/2014/main" id="{7AEDAA35-117B-4F80-AE64-7E4E148E4D64}"/>
              </a:ext>
            </a:extLst>
          </p:cNvPr>
          <p:cNvSpPr>
            <a:spLocks noGrp="1"/>
          </p:cNvSpPr>
          <p:nvPr/>
        </p:nvSpPr>
        <p:spPr>
          <a:xfrm>
            <a:off x="983665" y="672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3" name="TextBox 6014">
            <a:extLst>
              <a:ext uri="{FF2B5EF4-FFF2-40B4-BE49-F238E27FC236}">
                <a16:creationId xmlns:a16="http://schemas.microsoft.com/office/drawing/2014/main" id="{F6F62F03-9BB4-4EAF-B959-54EF57478CD9}"/>
              </a:ext>
            </a:extLst>
          </p:cNvPr>
          <p:cNvSpPr>
            <a:spLocks noGrp="1"/>
          </p:cNvSpPr>
          <p:nvPr/>
        </p:nvSpPr>
        <p:spPr>
          <a:xfrm>
            <a:off x="1097965" y="674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[회수 계정]</a:t>
            </a:r>
          </a:p>
        </p:txBody>
      </p:sp>
      <p:sp>
        <p:nvSpPr>
          <p:cNvPr id="6015" name="Connector 6016">
            <a:extLst>
              <a:ext uri="{FF2B5EF4-FFF2-40B4-BE49-F238E27FC236}">
                <a16:creationId xmlns:a16="http://schemas.microsoft.com/office/drawing/2014/main" id="{4EABAA72-2AB8-496E-AE8A-EE2F1A46F7E7}"/>
              </a:ext>
            </a:extLst>
          </p:cNvPr>
          <p:cNvSpPr>
            <a:spLocks noGrp="1"/>
          </p:cNvSpPr>
          <p:nvPr/>
        </p:nvSpPr>
        <p:spPr>
          <a:xfrm>
            <a:off x="983665" y="733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7" name="TextBox 6018">
            <a:extLst>
              <a:ext uri="{FF2B5EF4-FFF2-40B4-BE49-F238E27FC236}">
                <a16:creationId xmlns:a16="http://schemas.microsoft.com/office/drawing/2014/main" id="{D01096F7-85C6-4B9F-B3A4-0990C4CE1624}"/>
              </a:ext>
            </a:extLst>
          </p:cNvPr>
          <p:cNvSpPr>
            <a:spLocks noGrp="1"/>
          </p:cNvSpPr>
          <p:nvPr/>
        </p:nvSpPr>
        <p:spPr>
          <a:xfrm>
            <a:off x="1097965" y="735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[일치]</a:t>
            </a:r>
          </a:p>
        </p:txBody>
      </p:sp>
    </p:spTree>
    <p:extLst>
      <p:ext uri="{BB962C8B-B14F-4D97-AF65-F5344CB8AC3E}">
        <p14:creationId xmlns:p14="http://schemas.microsoft.com/office/powerpoint/2010/main" val="1010334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28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28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28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B55AAB97-9F77-4A65-B156-7C9CD7FB921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1D7D63DC-E4C0-4D3A-9514-41074AF5B3E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상황 보고  (UC-REPORT-01)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37</a:t>
            </a:fld>
            <a:endParaRPr/>
          </a:p>
        </p:txBody>
      </p:sp>
      <p:sp>
        <p:nvSpPr>
          <p:cNvPr id="6263" name="Rounded Rectangle 6264">
            <a:extLst>
              <a:ext uri="{FF2B5EF4-FFF2-40B4-BE49-F238E27FC236}">
                <a16:creationId xmlns:a16="http://schemas.microsoft.com/office/drawing/2014/main" id="{24729730-1F66-429B-B7DA-0F4C23F1B732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보고자</a:t>
            </a:r>
          </a:p>
        </p:txBody>
      </p:sp>
      <p:sp>
        <p:nvSpPr>
          <p:cNvPr id="6265" name="Connector 6266">
            <a:extLst>
              <a:ext uri="{FF2B5EF4-FFF2-40B4-BE49-F238E27FC236}">
                <a16:creationId xmlns:a16="http://schemas.microsoft.com/office/drawing/2014/main" id="{BF29DDF4-6183-497C-B4BE-E97835E3F76D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67" name="Rounded Rectangle 6268">
            <a:extLst>
              <a:ext uri="{FF2B5EF4-FFF2-40B4-BE49-F238E27FC236}">
                <a16:creationId xmlns:a16="http://schemas.microsoft.com/office/drawing/2014/main" id="{FE260A5D-BEF9-4F67-AA2C-BECA9A69BAF9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269" name="Connector 6270">
            <a:extLst>
              <a:ext uri="{FF2B5EF4-FFF2-40B4-BE49-F238E27FC236}">
                <a16:creationId xmlns:a16="http://schemas.microsoft.com/office/drawing/2014/main" id="{FE58AECB-9CF3-46EC-8F89-5BD491E874D8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1" name="Rounded Rectangle 6272">
            <a:extLst>
              <a:ext uri="{FF2B5EF4-FFF2-40B4-BE49-F238E27FC236}">
                <a16:creationId xmlns:a16="http://schemas.microsoft.com/office/drawing/2014/main" id="{D29019A4-A441-439A-A0EE-475F169661D5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273" name="Connector 6274">
            <a:extLst>
              <a:ext uri="{FF2B5EF4-FFF2-40B4-BE49-F238E27FC236}">
                <a16:creationId xmlns:a16="http://schemas.microsoft.com/office/drawing/2014/main" id="{1151F2F7-8CFE-4B53-BEC0-D53D4A8345A4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5" name="Rounded Rectangle 6276">
            <a:extLst>
              <a:ext uri="{FF2B5EF4-FFF2-40B4-BE49-F238E27FC236}">
                <a16:creationId xmlns:a16="http://schemas.microsoft.com/office/drawing/2014/main" id="{BB89D8B0-6B50-448D-83CB-6F9731FC4A0F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277" name="Connector 6278">
            <a:extLst>
              <a:ext uri="{FF2B5EF4-FFF2-40B4-BE49-F238E27FC236}">
                <a16:creationId xmlns:a16="http://schemas.microsoft.com/office/drawing/2014/main" id="{E3837A64-5D97-42A6-B7B6-BF26C7BE5FE5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9" name="Rounded Rectangle 6280">
            <a:extLst>
              <a:ext uri="{FF2B5EF4-FFF2-40B4-BE49-F238E27FC236}">
                <a16:creationId xmlns:a16="http://schemas.microsoft.com/office/drawing/2014/main" id="{76642A33-813D-43A9-8C46-4240EF991264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281" name="Connector 6282">
            <a:extLst>
              <a:ext uri="{FF2B5EF4-FFF2-40B4-BE49-F238E27FC236}">
                <a16:creationId xmlns:a16="http://schemas.microsoft.com/office/drawing/2014/main" id="{58F78B13-7B8D-49AA-9715-C173BF7F2C54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1" name="Rectangle 6172">
            <a:extLst>
              <a:ext uri="{FF2B5EF4-FFF2-40B4-BE49-F238E27FC236}">
                <a16:creationId xmlns:a16="http://schemas.microsoft.com/office/drawing/2014/main" id="{CFF8AE38-4FA8-4DC0-B14E-570BEB3FDB67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1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3" name="Rectangle 6174">
            <a:extLst>
              <a:ext uri="{FF2B5EF4-FFF2-40B4-BE49-F238E27FC236}">
                <a16:creationId xmlns:a16="http://schemas.microsoft.com/office/drawing/2014/main" id="{BC5B57A1-6720-48A0-8042-F5920DC565E3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05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5" name="Rectangle 6176">
            <a:extLst>
              <a:ext uri="{FF2B5EF4-FFF2-40B4-BE49-F238E27FC236}">
                <a16:creationId xmlns:a16="http://schemas.microsoft.com/office/drawing/2014/main" id="{625412C7-606F-4DAE-AD53-44946F16DB8D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1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7" name="Rectangle 6178">
            <a:extLst>
              <a:ext uri="{FF2B5EF4-FFF2-40B4-BE49-F238E27FC236}">
                <a16:creationId xmlns:a16="http://schemas.microsoft.com/office/drawing/2014/main" id="{D3CA8418-8117-4B8C-8358-F6461A425716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66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79" name="Rectangle 6180">
            <a:extLst>
              <a:ext uri="{FF2B5EF4-FFF2-40B4-BE49-F238E27FC236}">
                <a16:creationId xmlns:a16="http://schemas.microsoft.com/office/drawing/2014/main" id="{2435516E-7B49-4D1D-85CD-BA36B1AFDF46}"/>
              </a:ext>
            </a:extLst>
          </p:cNvPr>
          <p:cNvSpPr>
            <a:spLocks noGrp="1"/>
          </p:cNvSpPr>
          <p:nvPr/>
        </p:nvSpPr>
        <p:spPr>
          <a:xfrm>
            <a:off x="12205820" y="740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1" name="Rectangle 6182">
            <a:extLst>
              <a:ext uri="{FF2B5EF4-FFF2-40B4-BE49-F238E27FC236}">
                <a16:creationId xmlns:a16="http://schemas.microsoft.com/office/drawing/2014/main" id="{4E5475D1-648D-4494-8240-5D0BE0F529BC}"/>
              </a:ext>
            </a:extLst>
          </p:cNvPr>
          <p:cNvSpPr>
            <a:spLocks noGrp="1"/>
          </p:cNvSpPr>
          <p:nvPr/>
        </p:nvSpPr>
        <p:spPr>
          <a:xfrm>
            <a:off x="15429080" y="765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3" name="Rectangle 6184">
            <a:extLst>
              <a:ext uri="{FF2B5EF4-FFF2-40B4-BE49-F238E27FC236}">
                <a16:creationId xmlns:a16="http://schemas.microsoft.com/office/drawing/2014/main" id="{016712F4-A5E2-40FA-A74A-08621B86F5B8}"/>
              </a:ext>
            </a:extLst>
          </p:cNvPr>
          <p:cNvSpPr>
            <a:spLocks noGrp="1"/>
          </p:cNvSpPr>
          <p:nvPr/>
        </p:nvSpPr>
        <p:spPr>
          <a:xfrm>
            <a:off x="8982560" y="4827274"/>
            <a:ext cx="140000" cy="3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5" name="Rectangle 6186">
            <a:extLst>
              <a:ext uri="{FF2B5EF4-FFF2-40B4-BE49-F238E27FC236}">
                <a16:creationId xmlns:a16="http://schemas.microsoft.com/office/drawing/2014/main" id="{257B6DE4-A3CB-4C7D-96E3-4C99DEF23ECD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4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87" name="TextBox 6188">
            <a:extLst>
              <a:ext uri="{FF2B5EF4-FFF2-40B4-BE49-F238E27FC236}">
                <a16:creationId xmlns:a16="http://schemas.microsoft.com/office/drawing/2014/main" id="{8FCA8855-E909-4E31-9DF9-0177DCBCA931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선택 / 새 산불, 발화 위치 지도 지정</a:t>
            </a:r>
          </a:p>
        </p:txBody>
      </p:sp>
      <p:sp>
        <p:nvSpPr>
          <p:cNvPr id="6189" name="Connector 6190">
            <a:extLst>
              <a:ext uri="{FF2B5EF4-FFF2-40B4-BE49-F238E27FC236}">
                <a16:creationId xmlns:a16="http://schemas.microsoft.com/office/drawing/2014/main" id="{969C87CC-4ED9-46F4-8918-AD9AEDC9A2F2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1" name="TextBox 6192">
            <a:extLst>
              <a:ext uri="{FF2B5EF4-FFF2-40B4-BE49-F238E27FC236}">
                <a16:creationId xmlns:a16="http://schemas.microsoft.com/office/drawing/2014/main" id="{7264EC6F-5075-4A1E-B8C5-FC29BD2BFCC8}"/>
              </a:ext>
            </a:extLst>
          </p:cNvPr>
          <p:cNvSpPr>
            <a:spLocks noGrp="1"/>
          </p:cNvSpPr>
          <p:nvPr/>
        </p:nvSpPr>
        <p:spPr>
          <a:xfrm>
            <a:off x="260604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일시, 신고 내용, 접수 기관·경로 입력</a:t>
            </a:r>
          </a:p>
        </p:txBody>
      </p:sp>
      <p:sp>
        <p:nvSpPr>
          <p:cNvPr id="6193" name="Connector 6194">
            <a:extLst>
              <a:ext uri="{FF2B5EF4-FFF2-40B4-BE49-F238E27FC236}">
                <a16:creationId xmlns:a16="http://schemas.microsoft.com/office/drawing/2014/main" id="{C4DBBDCB-36B8-43E4-9234-28F7A4929CB7}"/>
              </a:ext>
            </a:extLst>
          </p:cNvPr>
          <p:cNvSpPr>
            <a:spLocks noGrp="1"/>
          </p:cNvSpPr>
          <p:nvPr/>
        </p:nvSpPr>
        <p:spPr>
          <a:xfrm>
            <a:off x="2606040" y="363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5" name="TextBox 6196">
            <a:extLst>
              <a:ext uri="{FF2B5EF4-FFF2-40B4-BE49-F238E27FC236}">
                <a16:creationId xmlns:a16="http://schemas.microsoft.com/office/drawing/2014/main" id="{E9BBA0AE-C2EE-4897-BC85-77E4064D431F}"/>
              </a:ext>
            </a:extLst>
          </p:cNvPr>
          <p:cNvSpPr>
            <a:spLocks noGrp="1"/>
          </p:cNvSpPr>
          <p:nvPr/>
        </p:nvSpPr>
        <p:spPr>
          <a:xfrm>
            <a:off x="2606040" y="36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화선: 지도에서 그리기 → 그리기 완료 (또는 GeoJSON)</a:t>
            </a:r>
          </a:p>
        </p:txBody>
      </p:sp>
      <p:sp>
        <p:nvSpPr>
          <p:cNvPr id="6197" name="Connector 6198">
            <a:extLst>
              <a:ext uri="{FF2B5EF4-FFF2-40B4-BE49-F238E27FC236}">
                <a16:creationId xmlns:a16="http://schemas.microsoft.com/office/drawing/2014/main" id="{718599F5-67F6-40C9-9758-B23BB2C2E777}"/>
              </a:ext>
            </a:extLst>
          </p:cNvPr>
          <p:cNvSpPr>
            <a:spLocks noGrp="1"/>
          </p:cNvSpPr>
          <p:nvPr/>
        </p:nvSpPr>
        <p:spPr>
          <a:xfrm>
            <a:off x="2606040" y="38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9" name="Connector 6200">
            <a:extLst>
              <a:ext uri="{FF2B5EF4-FFF2-40B4-BE49-F238E27FC236}">
                <a16:creationId xmlns:a16="http://schemas.microsoft.com/office/drawing/2014/main" id="{3E3822A3-C334-4C5E-95B5-904634AC4E54}"/>
              </a:ext>
            </a:extLst>
          </p:cNvPr>
          <p:cNvSpPr>
            <a:spLocks noGrp="1"/>
          </p:cNvSpPr>
          <p:nvPr/>
        </p:nvSpPr>
        <p:spPr>
          <a:xfrm>
            <a:off x="5899300" y="4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1" name="Connector 6202">
            <a:extLst>
              <a:ext uri="{FF2B5EF4-FFF2-40B4-BE49-F238E27FC236}">
                <a16:creationId xmlns:a16="http://schemas.microsoft.com/office/drawing/2014/main" id="{B3251355-0B6F-49AD-B92A-AF8E0D7324EB}"/>
              </a:ext>
            </a:extLst>
          </p:cNvPr>
          <p:cNvSpPr>
            <a:spLocks noGrp="1"/>
          </p:cNvSpPr>
          <p:nvPr/>
        </p:nvSpPr>
        <p:spPr>
          <a:xfrm>
            <a:off x="6265060" y="4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3" name="Connector 6204">
            <a:extLst>
              <a:ext uri="{FF2B5EF4-FFF2-40B4-BE49-F238E27FC236}">
                <a16:creationId xmlns:a16="http://schemas.microsoft.com/office/drawing/2014/main" id="{70788491-B8A6-4C09-9C03-F7E7549DEA1F}"/>
              </a:ext>
            </a:extLst>
          </p:cNvPr>
          <p:cNvSpPr>
            <a:spLocks noGrp="1"/>
          </p:cNvSpPr>
          <p:nvPr/>
        </p:nvSpPr>
        <p:spPr>
          <a:xfrm flipH="1">
            <a:off x="5933590" y="4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5" name="TextBox 6206">
            <a:extLst>
              <a:ext uri="{FF2B5EF4-FFF2-40B4-BE49-F238E27FC236}">
                <a16:creationId xmlns:a16="http://schemas.microsoft.com/office/drawing/2014/main" id="{7CBFCC56-791C-474D-B460-8C6217E41D25}"/>
              </a:ext>
            </a:extLst>
          </p:cNvPr>
          <p:cNvSpPr>
            <a:spLocks noGrp="1"/>
          </p:cNvSpPr>
          <p:nvPr/>
        </p:nvSpPr>
        <p:spPr>
          <a:xfrm>
            <a:off x="6356500" y="3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꼭짓점 수 · 면적(ha) 표시</a:t>
            </a:r>
          </a:p>
        </p:txBody>
      </p:sp>
      <p:sp>
        <p:nvSpPr>
          <p:cNvPr id="6207" name="TextBox 6208">
            <a:extLst>
              <a:ext uri="{FF2B5EF4-FFF2-40B4-BE49-F238E27FC236}">
                <a16:creationId xmlns:a16="http://schemas.microsoft.com/office/drawing/2014/main" id="{101BC2C0-10A0-421A-8A36-FF36D261E894}"/>
              </a:ext>
            </a:extLst>
          </p:cNvPr>
          <p:cNvSpPr>
            <a:spLocks noGrp="1"/>
          </p:cNvSpPr>
          <p:nvPr/>
        </p:nvSpPr>
        <p:spPr>
          <a:xfrm>
            <a:off x="2606040" y="4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「저장」</a:t>
            </a:r>
          </a:p>
        </p:txBody>
      </p:sp>
      <p:sp>
        <p:nvSpPr>
          <p:cNvPr id="6209" name="Connector 6210">
            <a:extLst>
              <a:ext uri="{FF2B5EF4-FFF2-40B4-BE49-F238E27FC236}">
                <a16:creationId xmlns:a16="http://schemas.microsoft.com/office/drawing/2014/main" id="{21247505-C96B-4F45-BC67-BDE6808D701A}"/>
              </a:ext>
            </a:extLst>
          </p:cNvPr>
          <p:cNvSpPr>
            <a:spLocks noGrp="1"/>
          </p:cNvSpPr>
          <p:nvPr/>
        </p:nvSpPr>
        <p:spPr>
          <a:xfrm>
            <a:off x="2606040" y="4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1" name="TextBox 6212">
            <a:extLst>
              <a:ext uri="{FF2B5EF4-FFF2-40B4-BE49-F238E27FC236}">
                <a16:creationId xmlns:a16="http://schemas.microsoft.com/office/drawing/2014/main" id="{92DB09D7-8583-488E-9433-673E52F2BDEA}"/>
              </a:ext>
            </a:extLst>
          </p:cNvPr>
          <p:cNvSpPr>
            <a:spLocks noGrp="1"/>
          </p:cNvSpPr>
          <p:nvPr/>
        </p:nvSpPr>
        <p:spPr>
          <a:xfrm>
            <a:off x="5829300" y="4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PUT /incidents/{id} (발화 정보 + 실측 화선 GeoJSON)</a:t>
            </a:r>
          </a:p>
        </p:txBody>
      </p:sp>
      <p:sp>
        <p:nvSpPr>
          <p:cNvPr id="6213" name="Connector 6214">
            <a:extLst>
              <a:ext uri="{FF2B5EF4-FFF2-40B4-BE49-F238E27FC236}">
                <a16:creationId xmlns:a16="http://schemas.microsoft.com/office/drawing/2014/main" id="{57A275E5-2243-41D5-A585-A262A4B256A7}"/>
              </a:ext>
            </a:extLst>
          </p:cNvPr>
          <p:cNvSpPr>
            <a:spLocks noGrp="1"/>
          </p:cNvSpPr>
          <p:nvPr/>
        </p:nvSpPr>
        <p:spPr>
          <a:xfrm>
            <a:off x="5899300" y="48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5" name="Connector 6216">
            <a:extLst>
              <a:ext uri="{FF2B5EF4-FFF2-40B4-BE49-F238E27FC236}">
                <a16:creationId xmlns:a16="http://schemas.microsoft.com/office/drawing/2014/main" id="{371629DF-6B75-4202-B40A-CD22FC97E17A}"/>
              </a:ext>
            </a:extLst>
          </p:cNvPr>
          <p:cNvSpPr>
            <a:spLocks noGrp="1"/>
          </p:cNvSpPr>
          <p:nvPr/>
        </p:nvSpPr>
        <p:spPr>
          <a:xfrm>
            <a:off x="9122560" y="507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7" name="Connector 6218">
            <a:extLst>
              <a:ext uri="{FF2B5EF4-FFF2-40B4-BE49-F238E27FC236}">
                <a16:creationId xmlns:a16="http://schemas.microsoft.com/office/drawing/2014/main" id="{05F743C5-29BA-499C-83A7-7EED56A9A44C}"/>
              </a:ext>
            </a:extLst>
          </p:cNvPr>
          <p:cNvSpPr>
            <a:spLocks noGrp="1"/>
          </p:cNvSpPr>
          <p:nvPr/>
        </p:nvSpPr>
        <p:spPr>
          <a:xfrm>
            <a:off x="9488320" y="507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9" name="Connector 6220">
            <a:extLst>
              <a:ext uri="{FF2B5EF4-FFF2-40B4-BE49-F238E27FC236}">
                <a16:creationId xmlns:a16="http://schemas.microsoft.com/office/drawing/2014/main" id="{AB446BCA-FD8C-4C52-B7ED-97C922D37A70}"/>
              </a:ext>
            </a:extLst>
          </p:cNvPr>
          <p:cNvSpPr>
            <a:spLocks noGrp="1"/>
          </p:cNvSpPr>
          <p:nvPr/>
        </p:nvSpPr>
        <p:spPr>
          <a:xfrm flipH="1">
            <a:off x="9156850" y="525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1" name="TextBox 6222">
            <a:extLst>
              <a:ext uri="{FF2B5EF4-FFF2-40B4-BE49-F238E27FC236}">
                <a16:creationId xmlns:a16="http://schemas.microsoft.com/office/drawing/2014/main" id="{3CC8B967-36F3-432D-8C45-DC39A3B37E4F}"/>
              </a:ext>
            </a:extLst>
          </p:cNvPr>
          <p:cNvSpPr>
            <a:spLocks noGrp="1"/>
          </p:cNvSpPr>
          <p:nvPr/>
        </p:nvSpPr>
        <p:spPr>
          <a:xfrm>
            <a:off x="9579760" y="485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종료 여부 확인</a:t>
            </a:r>
          </a:p>
        </p:txBody>
      </p:sp>
      <p:sp>
        <p:nvSpPr>
          <p:cNvPr id="6223" name="Connector 6224">
            <a:extLst>
              <a:ext uri="{FF2B5EF4-FFF2-40B4-BE49-F238E27FC236}">
                <a16:creationId xmlns:a16="http://schemas.microsoft.com/office/drawing/2014/main" id="{15794219-9F50-4AF9-BCA1-27A039BC17FA}"/>
              </a:ext>
            </a:extLst>
          </p:cNvPr>
          <p:cNvSpPr>
            <a:spLocks noGrp="1"/>
          </p:cNvSpPr>
          <p:nvPr/>
        </p:nvSpPr>
        <p:spPr>
          <a:xfrm>
            <a:off x="9122560" y="552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5" name="Connector 6226">
            <a:extLst>
              <a:ext uri="{FF2B5EF4-FFF2-40B4-BE49-F238E27FC236}">
                <a16:creationId xmlns:a16="http://schemas.microsoft.com/office/drawing/2014/main" id="{574FFC5D-343D-49A4-B899-62EDC6A5EA87}"/>
              </a:ext>
            </a:extLst>
          </p:cNvPr>
          <p:cNvSpPr>
            <a:spLocks noGrp="1"/>
          </p:cNvSpPr>
          <p:nvPr/>
        </p:nvSpPr>
        <p:spPr>
          <a:xfrm>
            <a:off x="9488320" y="552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7" name="Connector 6228">
            <a:extLst>
              <a:ext uri="{FF2B5EF4-FFF2-40B4-BE49-F238E27FC236}">
                <a16:creationId xmlns:a16="http://schemas.microsoft.com/office/drawing/2014/main" id="{CEED873B-7820-432F-A50E-C454DCE01408}"/>
              </a:ext>
            </a:extLst>
          </p:cNvPr>
          <p:cNvSpPr>
            <a:spLocks noGrp="1"/>
          </p:cNvSpPr>
          <p:nvPr/>
        </p:nvSpPr>
        <p:spPr>
          <a:xfrm flipH="1">
            <a:off x="9156850" y="570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9" name="TextBox 6230">
            <a:extLst>
              <a:ext uri="{FF2B5EF4-FFF2-40B4-BE49-F238E27FC236}">
                <a16:creationId xmlns:a16="http://schemas.microsoft.com/office/drawing/2014/main" id="{607272F2-96F4-4190-9980-D704119CE23F}"/>
              </a:ext>
            </a:extLst>
          </p:cNvPr>
          <p:cNvSpPr>
            <a:spLocks noGrp="1"/>
          </p:cNvSpPr>
          <p:nvPr/>
        </p:nvSpPr>
        <p:spPr>
          <a:xfrm>
            <a:off x="9579760" y="529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권한(보고)·필수 값·국내 좌표 범위·폴리곤 검사</a:t>
            </a:r>
          </a:p>
        </p:txBody>
      </p:sp>
      <p:sp>
        <p:nvSpPr>
          <p:cNvPr id="6231" name="TextBox 6232">
            <a:extLst>
              <a:ext uri="{FF2B5EF4-FFF2-40B4-BE49-F238E27FC236}">
                <a16:creationId xmlns:a16="http://schemas.microsoft.com/office/drawing/2014/main" id="{93CD0E42-46F7-403B-855D-39D952AB4EA4}"/>
              </a:ext>
            </a:extLst>
          </p:cNvPr>
          <p:cNvSpPr>
            <a:spLocks noGrp="1"/>
          </p:cNvSpPr>
          <p:nvPr/>
        </p:nvSpPr>
        <p:spPr>
          <a:xfrm>
            <a:off x="5829300" y="596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409 「종료된 산불은 수정할 수 없습니다」</a:t>
            </a:r>
          </a:p>
        </p:txBody>
      </p:sp>
      <p:sp>
        <p:nvSpPr>
          <p:cNvPr id="6233" name="Connector 6234">
            <a:extLst>
              <a:ext uri="{FF2B5EF4-FFF2-40B4-BE49-F238E27FC236}">
                <a16:creationId xmlns:a16="http://schemas.microsoft.com/office/drawing/2014/main" id="{8D3D731A-43B3-4017-AC4A-2A221289DFA9}"/>
              </a:ext>
            </a:extLst>
          </p:cNvPr>
          <p:cNvSpPr>
            <a:spLocks noGrp="1"/>
          </p:cNvSpPr>
          <p:nvPr/>
        </p:nvSpPr>
        <p:spPr>
          <a:xfrm flipH="1">
            <a:off x="5899300" y="618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5" name="TextBox 6236">
            <a:extLst>
              <a:ext uri="{FF2B5EF4-FFF2-40B4-BE49-F238E27FC236}">
                <a16:creationId xmlns:a16="http://schemas.microsoft.com/office/drawing/2014/main" id="{F95B6A73-FF15-4A64-AF5C-6F6EA9836E2C}"/>
              </a:ext>
            </a:extLst>
          </p:cNvPr>
          <p:cNvSpPr>
            <a:spLocks noGrp="1"/>
          </p:cNvSpPr>
          <p:nvPr/>
        </p:nvSpPr>
        <p:spPr>
          <a:xfrm>
            <a:off x="2606040" y="621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안내, 저장 안 함</a:t>
            </a:r>
          </a:p>
        </p:txBody>
      </p:sp>
      <p:sp>
        <p:nvSpPr>
          <p:cNvPr id="6237" name="Connector 6238">
            <a:extLst>
              <a:ext uri="{FF2B5EF4-FFF2-40B4-BE49-F238E27FC236}">
                <a16:creationId xmlns:a16="http://schemas.microsoft.com/office/drawing/2014/main" id="{CE3FAA7E-82F3-4DEC-AC67-B705A92A561E}"/>
              </a:ext>
            </a:extLst>
          </p:cNvPr>
          <p:cNvSpPr>
            <a:spLocks noGrp="1"/>
          </p:cNvSpPr>
          <p:nvPr/>
        </p:nvSpPr>
        <p:spPr>
          <a:xfrm flipH="1">
            <a:off x="2606040" y="643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9" name="TextBox 6240">
            <a:extLst>
              <a:ext uri="{FF2B5EF4-FFF2-40B4-BE49-F238E27FC236}">
                <a16:creationId xmlns:a16="http://schemas.microsoft.com/office/drawing/2014/main" id="{3C6B0FB9-FC53-4DCD-B5C2-80832CDFB751}"/>
              </a:ext>
            </a:extLst>
          </p:cNvPr>
          <p:cNvSpPr>
            <a:spLocks noGrp="1"/>
          </p:cNvSpPr>
          <p:nvPr/>
        </p:nvSpPr>
        <p:spPr>
          <a:xfrm>
            <a:off x="5829300" y="657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400 필요한 항목·이유</a:t>
            </a:r>
          </a:p>
        </p:txBody>
      </p:sp>
      <p:sp>
        <p:nvSpPr>
          <p:cNvPr id="6241" name="Connector 6242">
            <a:extLst>
              <a:ext uri="{FF2B5EF4-FFF2-40B4-BE49-F238E27FC236}">
                <a16:creationId xmlns:a16="http://schemas.microsoft.com/office/drawing/2014/main" id="{662947AA-04F8-4A2D-91A4-B643D3396806}"/>
              </a:ext>
            </a:extLst>
          </p:cNvPr>
          <p:cNvSpPr>
            <a:spLocks noGrp="1"/>
          </p:cNvSpPr>
          <p:nvPr/>
        </p:nvSpPr>
        <p:spPr>
          <a:xfrm flipH="1">
            <a:off x="5899300" y="679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3" name="TextBox 6244">
            <a:extLst>
              <a:ext uri="{FF2B5EF4-FFF2-40B4-BE49-F238E27FC236}">
                <a16:creationId xmlns:a16="http://schemas.microsoft.com/office/drawing/2014/main" id="{F0CEF786-0BCF-4EB9-816F-010642D8B29F}"/>
              </a:ext>
            </a:extLst>
          </p:cNvPr>
          <p:cNvSpPr>
            <a:spLocks noGrp="1"/>
          </p:cNvSpPr>
          <p:nvPr/>
        </p:nvSpPr>
        <p:spPr>
          <a:xfrm>
            <a:off x="2606040" y="682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안내, 저장 안 함</a:t>
            </a:r>
          </a:p>
        </p:txBody>
      </p:sp>
      <p:sp>
        <p:nvSpPr>
          <p:cNvPr id="6245" name="Connector 6246">
            <a:extLst>
              <a:ext uri="{FF2B5EF4-FFF2-40B4-BE49-F238E27FC236}">
                <a16:creationId xmlns:a16="http://schemas.microsoft.com/office/drawing/2014/main" id="{E937E8E7-FEF2-40C5-AB2C-00BA73A63FF6}"/>
              </a:ext>
            </a:extLst>
          </p:cNvPr>
          <p:cNvSpPr>
            <a:spLocks noGrp="1"/>
          </p:cNvSpPr>
          <p:nvPr/>
        </p:nvSpPr>
        <p:spPr>
          <a:xfrm flipH="1">
            <a:off x="2606040" y="704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7" name="TextBox 6248">
            <a:extLst>
              <a:ext uri="{FF2B5EF4-FFF2-40B4-BE49-F238E27FC236}">
                <a16:creationId xmlns:a16="http://schemas.microsoft.com/office/drawing/2014/main" id="{D8A81B2F-3B2D-4A2B-A615-B7B109C5DA10}"/>
              </a:ext>
            </a:extLst>
          </p:cNvPr>
          <p:cNvSpPr>
            <a:spLocks noGrp="1"/>
          </p:cNvSpPr>
          <p:nvPr/>
        </p:nvSpPr>
        <p:spPr>
          <a:xfrm>
            <a:off x="9052560" y="718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 저장(첫 실측 화선 저장 시 접수→진행 중)</a:t>
            </a:r>
          </a:p>
        </p:txBody>
      </p:sp>
      <p:sp>
        <p:nvSpPr>
          <p:cNvPr id="6249" name="Connector 6250">
            <a:extLst>
              <a:ext uri="{FF2B5EF4-FFF2-40B4-BE49-F238E27FC236}">
                <a16:creationId xmlns:a16="http://schemas.microsoft.com/office/drawing/2014/main" id="{CE7C641E-B48D-489B-8619-33CD4F7553C6}"/>
              </a:ext>
            </a:extLst>
          </p:cNvPr>
          <p:cNvSpPr>
            <a:spLocks noGrp="1"/>
          </p:cNvSpPr>
          <p:nvPr/>
        </p:nvSpPr>
        <p:spPr>
          <a:xfrm>
            <a:off x="9122560" y="740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1" name="TextBox 6252">
            <a:extLst>
              <a:ext uri="{FF2B5EF4-FFF2-40B4-BE49-F238E27FC236}">
                <a16:creationId xmlns:a16="http://schemas.microsoft.com/office/drawing/2014/main" id="{CCCC212D-03B6-471E-958B-73C4D4B642AB}"/>
              </a:ext>
            </a:extLst>
          </p:cNvPr>
          <p:cNvSpPr>
            <a:spLocks noGrp="1"/>
          </p:cNvSpPr>
          <p:nvPr/>
        </p:nvSpPr>
        <p:spPr>
          <a:xfrm>
            <a:off x="9052560" y="743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record(입력, 발화정보 갱신)</a:t>
            </a:r>
          </a:p>
        </p:txBody>
      </p:sp>
      <p:sp>
        <p:nvSpPr>
          <p:cNvPr id="6253" name="Connector 6254">
            <a:extLst>
              <a:ext uri="{FF2B5EF4-FFF2-40B4-BE49-F238E27FC236}">
                <a16:creationId xmlns:a16="http://schemas.microsoft.com/office/drawing/2014/main" id="{75900249-38A5-4355-83E6-DA76F06FB170}"/>
              </a:ext>
            </a:extLst>
          </p:cNvPr>
          <p:cNvSpPr>
            <a:spLocks noGrp="1"/>
          </p:cNvSpPr>
          <p:nvPr/>
        </p:nvSpPr>
        <p:spPr>
          <a:xfrm>
            <a:off x="9122560" y="765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5" name="TextBox 6256">
            <a:extLst>
              <a:ext uri="{FF2B5EF4-FFF2-40B4-BE49-F238E27FC236}">
                <a16:creationId xmlns:a16="http://schemas.microsoft.com/office/drawing/2014/main" id="{FE7B510F-49BD-4DA7-8123-901F42887EE2}"/>
              </a:ext>
            </a:extLst>
          </p:cNvPr>
          <p:cNvSpPr>
            <a:spLocks noGrp="1"/>
          </p:cNvSpPr>
          <p:nvPr/>
        </p:nvSpPr>
        <p:spPr>
          <a:xfrm>
            <a:off x="5829300" y="768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결과 · 면적 · 재예측 필요 여부</a:t>
            </a:r>
          </a:p>
        </p:txBody>
      </p:sp>
      <p:sp>
        <p:nvSpPr>
          <p:cNvPr id="6257" name="Connector 6258">
            <a:extLst>
              <a:ext uri="{FF2B5EF4-FFF2-40B4-BE49-F238E27FC236}">
                <a16:creationId xmlns:a16="http://schemas.microsoft.com/office/drawing/2014/main" id="{0D65D812-63C3-45C8-A62F-4150CD539FE9}"/>
              </a:ext>
            </a:extLst>
          </p:cNvPr>
          <p:cNvSpPr>
            <a:spLocks noGrp="1"/>
          </p:cNvSpPr>
          <p:nvPr/>
        </p:nvSpPr>
        <p:spPr>
          <a:xfrm flipH="1">
            <a:off x="5899300" y="790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9" name="TextBox 6260">
            <a:extLst>
              <a:ext uri="{FF2B5EF4-FFF2-40B4-BE49-F238E27FC236}">
                <a16:creationId xmlns:a16="http://schemas.microsoft.com/office/drawing/2014/main" id="{6CEF95B4-D4FA-4FC2-88C6-F8318B06347F}"/>
              </a:ext>
            </a:extLst>
          </p:cNvPr>
          <p:cNvSpPr>
            <a:spLocks noGrp="1"/>
          </p:cNvSpPr>
          <p:nvPr/>
        </p:nvSpPr>
        <p:spPr>
          <a:xfrm>
            <a:off x="2606040" y="793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갱신, 지도에 실측 화선 표시</a:t>
            </a:r>
          </a:p>
        </p:txBody>
      </p:sp>
      <p:sp>
        <p:nvSpPr>
          <p:cNvPr id="6261" name="Connector 6262">
            <a:extLst>
              <a:ext uri="{FF2B5EF4-FFF2-40B4-BE49-F238E27FC236}">
                <a16:creationId xmlns:a16="http://schemas.microsoft.com/office/drawing/2014/main" id="{B9E7819D-CD46-47B8-9BF3-5F36270F22BC}"/>
              </a:ext>
            </a:extLst>
          </p:cNvPr>
          <p:cNvSpPr>
            <a:spLocks noGrp="1"/>
          </p:cNvSpPr>
          <p:nvPr/>
        </p:nvSpPr>
        <p:spPr>
          <a:xfrm flipH="1">
            <a:off x="2606040" y="815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7" name="Rectangle 6158">
            <a:extLst>
              <a:ext uri="{FF2B5EF4-FFF2-40B4-BE49-F238E27FC236}">
                <a16:creationId xmlns:a16="http://schemas.microsoft.com/office/drawing/2014/main" id="{FDEDB191-3FB3-49E8-BFF1-56C132978790}"/>
              </a:ext>
            </a:extLst>
          </p:cNvPr>
          <p:cNvSpPr>
            <a:spLocks noGrp="1"/>
          </p:cNvSpPr>
          <p:nvPr/>
        </p:nvSpPr>
        <p:spPr>
          <a:xfrm>
            <a:off x="1252270" y="5727525"/>
            <a:ext cx="15600580" cy="2539749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59" name="Rectangle 6160">
            <a:extLst>
              <a:ext uri="{FF2B5EF4-FFF2-40B4-BE49-F238E27FC236}">
                <a16:creationId xmlns:a16="http://schemas.microsoft.com/office/drawing/2014/main" id="{648E7649-788C-43D5-91B5-BF14FDC47D91}"/>
              </a:ext>
            </a:extLst>
          </p:cNvPr>
          <p:cNvSpPr>
            <a:spLocks noGrp="1"/>
          </p:cNvSpPr>
          <p:nvPr/>
        </p:nvSpPr>
        <p:spPr>
          <a:xfrm>
            <a:off x="1252270" y="5727525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161" name="TextBox 6162">
            <a:extLst>
              <a:ext uri="{FF2B5EF4-FFF2-40B4-BE49-F238E27FC236}">
                <a16:creationId xmlns:a16="http://schemas.microsoft.com/office/drawing/2014/main" id="{3B3E2E6F-41E3-490D-AD84-D8D2E1DEF622}"/>
              </a:ext>
            </a:extLst>
          </p:cNvPr>
          <p:cNvSpPr>
            <a:spLocks noGrp="1"/>
          </p:cNvSpPr>
          <p:nvPr/>
        </p:nvSpPr>
        <p:spPr>
          <a:xfrm>
            <a:off x="2060930" y="5737583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[종료된 산불]</a:t>
            </a:r>
          </a:p>
        </p:txBody>
      </p:sp>
      <p:sp>
        <p:nvSpPr>
          <p:cNvPr id="6163" name="Connector 6164">
            <a:extLst>
              <a:ext uri="{FF2B5EF4-FFF2-40B4-BE49-F238E27FC236}">
                <a16:creationId xmlns:a16="http://schemas.microsoft.com/office/drawing/2014/main" id="{BA7F269F-63DA-43C9-8D42-4BF5E5272D62}"/>
              </a:ext>
            </a:extLst>
          </p:cNvPr>
          <p:cNvSpPr>
            <a:spLocks noGrp="1"/>
          </p:cNvSpPr>
          <p:nvPr/>
        </p:nvSpPr>
        <p:spPr>
          <a:xfrm>
            <a:off x="1252270" y="650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5" name="TextBox 6166">
            <a:extLst>
              <a:ext uri="{FF2B5EF4-FFF2-40B4-BE49-F238E27FC236}">
                <a16:creationId xmlns:a16="http://schemas.microsoft.com/office/drawing/2014/main" id="{59F86249-D1EF-44B8-BC1E-32A5A9EEBC34}"/>
              </a:ext>
            </a:extLst>
          </p:cNvPr>
          <p:cNvSpPr>
            <a:spLocks noGrp="1"/>
          </p:cNvSpPr>
          <p:nvPr/>
        </p:nvSpPr>
        <p:spPr>
          <a:xfrm>
            <a:off x="1366570" y="652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[검사 실패]</a:t>
            </a:r>
          </a:p>
        </p:txBody>
      </p:sp>
      <p:sp>
        <p:nvSpPr>
          <p:cNvPr id="6167" name="Connector 6168">
            <a:extLst>
              <a:ext uri="{FF2B5EF4-FFF2-40B4-BE49-F238E27FC236}">
                <a16:creationId xmlns:a16="http://schemas.microsoft.com/office/drawing/2014/main" id="{61EFB71D-A485-4A9D-8869-DF6E7C494D4C}"/>
              </a:ext>
            </a:extLst>
          </p:cNvPr>
          <p:cNvSpPr>
            <a:spLocks noGrp="1"/>
          </p:cNvSpPr>
          <p:nvPr/>
        </p:nvSpPr>
        <p:spPr>
          <a:xfrm>
            <a:off x="1252270" y="711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9" name="TextBox 6170">
            <a:extLst>
              <a:ext uri="{FF2B5EF4-FFF2-40B4-BE49-F238E27FC236}">
                <a16:creationId xmlns:a16="http://schemas.microsoft.com/office/drawing/2014/main" id="{837E1E94-3633-40B8-BA93-DE7FFF0B31E1}"/>
              </a:ext>
            </a:extLst>
          </p:cNvPr>
          <p:cNvSpPr>
            <a:spLocks noGrp="1"/>
          </p:cNvSpPr>
          <p:nvPr/>
        </p:nvSpPr>
        <p:spPr>
          <a:xfrm>
            <a:off x="1366570" y="713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[정상]</a:t>
            </a:r>
          </a:p>
        </p:txBody>
      </p:sp>
    </p:spTree>
    <p:extLst>
      <p:ext uri="{BB962C8B-B14F-4D97-AF65-F5344CB8AC3E}">
        <p14:creationId xmlns:p14="http://schemas.microsoft.com/office/powerpoint/2010/main" val="42108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91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91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91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FE9CE101-190E-47F6-B636-36D201793091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52A23C8F-6C3E-4CFC-A418-92962AD2D79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발화 종료 처리  (UC-SIT-01)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38</a:t>
            </a:fld>
            <a:endParaRPr/>
          </a:p>
        </p:txBody>
      </p:sp>
      <p:sp>
        <p:nvSpPr>
          <p:cNvPr id="6893" name="Rounded Rectangle 6894">
            <a:extLst>
              <a:ext uri="{FF2B5EF4-FFF2-40B4-BE49-F238E27FC236}">
                <a16:creationId xmlns:a16="http://schemas.microsoft.com/office/drawing/2014/main" id="{E221BCC3-D1AC-41EE-B25C-CAB287380AF1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895" name="Connector 6896">
            <a:extLst>
              <a:ext uri="{FF2B5EF4-FFF2-40B4-BE49-F238E27FC236}">
                <a16:creationId xmlns:a16="http://schemas.microsoft.com/office/drawing/2014/main" id="{5659AC18-7D8E-4C0C-BD99-58896D1F3A43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97" name="Rounded Rectangle 6898">
            <a:extLst>
              <a:ext uri="{FF2B5EF4-FFF2-40B4-BE49-F238E27FC236}">
                <a16:creationId xmlns:a16="http://schemas.microsoft.com/office/drawing/2014/main" id="{A581ED0F-C44E-402B-B896-0252B8DA5367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899" name="Connector 6900">
            <a:extLst>
              <a:ext uri="{FF2B5EF4-FFF2-40B4-BE49-F238E27FC236}">
                <a16:creationId xmlns:a16="http://schemas.microsoft.com/office/drawing/2014/main" id="{24FAF445-8052-4EE1-AF61-E7C9179B3843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1" name="Rounded Rectangle 6902">
            <a:extLst>
              <a:ext uri="{FF2B5EF4-FFF2-40B4-BE49-F238E27FC236}">
                <a16:creationId xmlns:a16="http://schemas.microsoft.com/office/drawing/2014/main" id="{F99DE912-2E58-4BCF-A238-0D9CA2A1AE70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903" name="Connector 6904">
            <a:extLst>
              <a:ext uri="{FF2B5EF4-FFF2-40B4-BE49-F238E27FC236}">
                <a16:creationId xmlns:a16="http://schemas.microsoft.com/office/drawing/2014/main" id="{2BF68B3C-D015-4595-8550-F3EDD4838421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5" name="Rounded Rectangle 6906">
            <a:extLst>
              <a:ext uri="{FF2B5EF4-FFF2-40B4-BE49-F238E27FC236}">
                <a16:creationId xmlns:a16="http://schemas.microsoft.com/office/drawing/2014/main" id="{020F65DB-3910-4F34-AF05-4EEB79CCD0A2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907" name="Connector 6908">
            <a:extLst>
              <a:ext uri="{FF2B5EF4-FFF2-40B4-BE49-F238E27FC236}">
                <a16:creationId xmlns:a16="http://schemas.microsoft.com/office/drawing/2014/main" id="{102A8A69-8022-442D-A147-AA03B7A95D33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09" name="Rounded Rectangle 6910">
            <a:extLst>
              <a:ext uri="{FF2B5EF4-FFF2-40B4-BE49-F238E27FC236}">
                <a16:creationId xmlns:a16="http://schemas.microsoft.com/office/drawing/2014/main" id="{A24D3054-D696-4263-958C-5A752A7C8B4B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911" name="Connector 6912">
            <a:extLst>
              <a:ext uri="{FF2B5EF4-FFF2-40B4-BE49-F238E27FC236}">
                <a16:creationId xmlns:a16="http://schemas.microsoft.com/office/drawing/2014/main" id="{1C0D12A7-63B5-4A3A-8064-5FA02FE74A1C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21" name="Rectangle 6822">
            <a:extLst>
              <a:ext uri="{FF2B5EF4-FFF2-40B4-BE49-F238E27FC236}">
                <a16:creationId xmlns:a16="http://schemas.microsoft.com/office/drawing/2014/main" id="{D515FB4C-E02C-437E-B8A5-EF888F6C0938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3" name="Rectangle 6824">
            <a:extLst>
              <a:ext uri="{FF2B5EF4-FFF2-40B4-BE49-F238E27FC236}">
                <a16:creationId xmlns:a16="http://schemas.microsoft.com/office/drawing/2014/main" id="{1B791FEA-9334-4B01-ABE7-19400A3329B7}"/>
              </a:ext>
            </a:extLst>
          </p:cNvPr>
          <p:cNvSpPr>
            <a:spLocks noGrp="1"/>
          </p:cNvSpPr>
          <p:nvPr/>
        </p:nvSpPr>
        <p:spPr>
          <a:xfrm>
            <a:off x="12205820" y="524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5" name="Rectangle 6826">
            <a:extLst>
              <a:ext uri="{FF2B5EF4-FFF2-40B4-BE49-F238E27FC236}">
                <a16:creationId xmlns:a16="http://schemas.microsoft.com/office/drawing/2014/main" id="{810F1CA5-22F9-4A96-A352-E474A64285A9}"/>
              </a:ext>
            </a:extLst>
          </p:cNvPr>
          <p:cNvSpPr>
            <a:spLocks noGrp="1"/>
          </p:cNvSpPr>
          <p:nvPr/>
        </p:nvSpPr>
        <p:spPr>
          <a:xfrm>
            <a:off x="15429080" y="549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7" name="Rectangle 6828">
            <a:extLst>
              <a:ext uri="{FF2B5EF4-FFF2-40B4-BE49-F238E27FC236}">
                <a16:creationId xmlns:a16="http://schemas.microsoft.com/office/drawing/2014/main" id="{A48A31E8-0D8A-47BE-8F41-6C8C06D5DA89}"/>
              </a:ext>
            </a:extLst>
          </p:cNvPr>
          <p:cNvSpPr>
            <a:spLocks noGrp="1"/>
          </p:cNvSpPr>
          <p:nvPr/>
        </p:nvSpPr>
        <p:spPr>
          <a:xfrm>
            <a:off x="8982560" y="4102274"/>
            <a:ext cx="140000" cy="1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29" name="Rectangle 6830">
            <a:extLst>
              <a:ext uri="{FF2B5EF4-FFF2-40B4-BE49-F238E27FC236}">
                <a16:creationId xmlns:a16="http://schemas.microsoft.com/office/drawing/2014/main" id="{F4CD9594-4464-44A5-A39F-7D7DBD298DF0}"/>
              </a:ext>
            </a:extLst>
          </p:cNvPr>
          <p:cNvSpPr>
            <a:spLocks noGrp="1"/>
          </p:cNvSpPr>
          <p:nvPr/>
        </p:nvSpPr>
        <p:spPr>
          <a:xfrm>
            <a:off x="5759300" y="5992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31" name="Rectangle 6832">
            <a:extLst>
              <a:ext uri="{FF2B5EF4-FFF2-40B4-BE49-F238E27FC236}">
                <a16:creationId xmlns:a16="http://schemas.microsoft.com/office/drawing/2014/main" id="{4F8F9015-1C3B-45CA-AB4D-B37299FFECCD}"/>
              </a:ext>
            </a:extLst>
          </p:cNvPr>
          <p:cNvSpPr>
            <a:spLocks noGrp="1"/>
          </p:cNvSpPr>
          <p:nvPr/>
        </p:nvSpPr>
        <p:spPr>
          <a:xfrm>
            <a:off x="5759300" y="6797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833" name="TextBox 6834">
            <a:extLst>
              <a:ext uri="{FF2B5EF4-FFF2-40B4-BE49-F238E27FC236}">
                <a16:creationId xmlns:a16="http://schemas.microsoft.com/office/drawing/2014/main" id="{993D5989-BF80-46C5-A3B3-C34EF4299AF9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「종료 처리」</a:t>
            </a:r>
          </a:p>
        </p:txBody>
      </p:sp>
      <p:sp>
        <p:nvSpPr>
          <p:cNvPr id="6835" name="Connector 6836">
            <a:extLst>
              <a:ext uri="{FF2B5EF4-FFF2-40B4-BE49-F238E27FC236}">
                <a16:creationId xmlns:a16="http://schemas.microsoft.com/office/drawing/2014/main" id="{E397E819-6F33-449B-923E-41A7F512DA61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37" name="TextBox 6838">
            <a:extLst>
              <a:ext uri="{FF2B5EF4-FFF2-40B4-BE49-F238E27FC236}">
                <a16:creationId xmlns:a16="http://schemas.microsoft.com/office/drawing/2014/main" id="{B7CCEBC3-CC49-4CD9-BDBF-D2490F09E390}"/>
              </a:ext>
            </a:extLst>
          </p:cNvPr>
          <p:cNvSpPr>
            <a:spLocks noGrp="1"/>
          </p:cNvSpPr>
          <p:nvPr/>
        </p:nvSpPr>
        <p:spPr>
          <a:xfrm>
            <a:off x="260604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확인 창(종료 시각 · 이후 변경 차단 안내)</a:t>
            </a:r>
          </a:p>
        </p:txBody>
      </p:sp>
      <p:sp>
        <p:nvSpPr>
          <p:cNvPr id="6839" name="Connector 6840">
            <a:extLst>
              <a:ext uri="{FF2B5EF4-FFF2-40B4-BE49-F238E27FC236}">
                <a16:creationId xmlns:a16="http://schemas.microsoft.com/office/drawing/2014/main" id="{50A7E1AE-ED28-4F70-AE49-C73C3468ADB6}"/>
              </a:ext>
            </a:extLst>
          </p:cNvPr>
          <p:cNvSpPr>
            <a:spLocks noGrp="1"/>
          </p:cNvSpPr>
          <p:nvPr/>
        </p:nvSpPr>
        <p:spPr>
          <a:xfrm flipH="1">
            <a:off x="2606040" y="3632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1" name="TextBox 6842">
            <a:extLst>
              <a:ext uri="{FF2B5EF4-FFF2-40B4-BE49-F238E27FC236}">
                <a16:creationId xmlns:a16="http://schemas.microsoft.com/office/drawing/2014/main" id="{E3D3DEB3-E0D7-4A60-A965-24722F02B1AC}"/>
              </a:ext>
            </a:extLst>
          </p:cNvPr>
          <p:cNvSpPr>
            <a:spLocks noGrp="1"/>
          </p:cNvSpPr>
          <p:nvPr/>
        </p:nvSpPr>
        <p:spPr>
          <a:xfrm>
            <a:off x="5829300" y="387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/incidents/{id}/close</a:t>
            </a:r>
          </a:p>
        </p:txBody>
      </p:sp>
      <p:sp>
        <p:nvSpPr>
          <p:cNvPr id="6843" name="Connector 6844">
            <a:extLst>
              <a:ext uri="{FF2B5EF4-FFF2-40B4-BE49-F238E27FC236}">
                <a16:creationId xmlns:a16="http://schemas.microsoft.com/office/drawing/2014/main" id="{632F323D-2BE2-4F36-AF3E-9808CD6857F6}"/>
              </a:ext>
            </a:extLst>
          </p:cNvPr>
          <p:cNvSpPr>
            <a:spLocks noGrp="1"/>
          </p:cNvSpPr>
          <p:nvPr/>
        </p:nvSpPr>
        <p:spPr>
          <a:xfrm>
            <a:off x="5829300" y="410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5" name="Connector 6846">
            <a:extLst>
              <a:ext uri="{FF2B5EF4-FFF2-40B4-BE49-F238E27FC236}">
                <a16:creationId xmlns:a16="http://schemas.microsoft.com/office/drawing/2014/main" id="{CAF4912D-E65E-4981-AC4B-30F253083282}"/>
              </a:ext>
            </a:extLst>
          </p:cNvPr>
          <p:cNvSpPr>
            <a:spLocks noGrp="1"/>
          </p:cNvSpPr>
          <p:nvPr/>
        </p:nvSpPr>
        <p:spPr>
          <a:xfrm>
            <a:off x="9122560" y="435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7" name="Connector 6848">
            <a:extLst>
              <a:ext uri="{FF2B5EF4-FFF2-40B4-BE49-F238E27FC236}">
                <a16:creationId xmlns:a16="http://schemas.microsoft.com/office/drawing/2014/main" id="{0891A1D2-F708-4056-B7B3-549EC5525BA8}"/>
              </a:ext>
            </a:extLst>
          </p:cNvPr>
          <p:cNvSpPr>
            <a:spLocks noGrp="1"/>
          </p:cNvSpPr>
          <p:nvPr/>
        </p:nvSpPr>
        <p:spPr>
          <a:xfrm>
            <a:off x="9488320" y="435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49" name="Connector 6850">
            <a:extLst>
              <a:ext uri="{FF2B5EF4-FFF2-40B4-BE49-F238E27FC236}">
                <a16:creationId xmlns:a16="http://schemas.microsoft.com/office/drawing/2014/main" id="{58710EB0-CEC5-43D2-B0C9-3DC4D7CD31D6}"/>
              </a:ext>
            </a:extLst>
          </p:cNvPr>
          <p:cNvSpPr>
            <a:spLocks noGrp="1"/>
          </p:cNvSpPr>
          <p:nvPr/>
        </p:nvSpPr>
        <p:spPr>
          <a:xfrm flipH="1">
            <a:off x="9156850" y="453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1" name="TextBox 6852">
            <a:extLst>
              <a:ext uri="{FF2B5EF4-FFF2-40B4-BE49-F238E27FC236}">
                <a16:creationId xmlns:a16="http://schemas.microsoft.com/office/drawing/2014/main" id="{DAEB9EB3-2063-49D3-A428-92ECF80C5880}"/>
              </a:ext>
            </a:extLst>
          </p:cNvPr>
          <p:cNvSpPr>
            <a:spLocks noGrp="1"/>
          </p:cNvSpPr>
          <p:nvPr/>
        </p:nvSpPr>
        <p:spPr>
          <a:xfrm>
            <a:off x="9579760" y="412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 · '진행 중' 상태 확인</a:t>
            </a:r>
          </a:p>
        </p:txBody>
      </p:sp>
      <p:sp>
        <p:nvSpPr>
          <p:cNvPr id="6853" name="Connector 6854">
            <a:extLst>
              <a:ext uri="{FF2B5EF4-FFF2-40B4-BE49-F238E27FC236}">
                <a16:creationId xmlns:a16="http://schemas.microsoft.com/office/drawing/2014/main" id="{1E728A6F-287B-4C40-99A4-B96F12F052C5}"/>
              </a:ext>
            </a:extLst>
          </p:cNvPr>
          <p:cNvSpPr>
            <a:spLocks noGrp="1"/>
          </p:cNvSpPr>
          <p:nvPr/>
        </p:nvSpPr>
        <p:spPr>
          <a:xfrm>
            <a:off x="9122560" y="4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5" name="Connector 6856">
            <a:extLst>
              <a:ext uri="{FF2B5EF4-FFF2-40B4-BE49-F238E27FC236}">
                <a16:creationId xmlns:a16="http://schemas.microsoft.com/office/drawing/2014/main" id="{C3DCEC5C-706B-469D-A8AD-8B62037524C8}"/>
              </a:ext>
            </a:extLst>
          </p:cNvPr>
          <p:cNvSpPr>
            <a:spLocks noGrp="1"/>
          </p:cNvSpPr>
          <p:nvPr/>
        </p:nvSpPr>
        <p:spPr>
          <a:xfrm>
            <a:off x="9488320" y="4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7" name="Connector 6858">
            <a:extLst>
              <a:ext uri="{FF2B5EF4-FFF2-40B4-BE49-F238E27FC236}">
                <a16:creationId xmlns:a16="http://schemas.microsoft.com/office/drawing/2014/main" id="{208EE78C-5D67-41AA-8B8F-D69C252AF89C}"/>
              </a:ext>
            </a:extLst>
          </p:cNvPr>
          <p:cNvSpPr>
            <a:spLocks noGrp="1"/>
          </p:cNvSpPr>
          <p:nvPr/>
        </p:nvSpPr>
        <p:spPr>
          <a:xfrm flipH="1">
            <a:off x="9156850" y="4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59" name="TextBox 6860">
            <a:extLst>
              <a:ext uri="{FF2B5EF4-FFF2-40B4-BE49-F238E27FC236}">
                <a16:creationId xmlns:a16="http://schemas.microsoft.com/office/drawing/2014/main" id="{613999A2-F308-49A1-A44A-1EA1553A43A6}"/>
              </a:ext>
            </a:extLst>
          </p:cNvPr>
          <p:cNvSpPr>
            <a:spLocks noGrp="1"/>
          </p:cNvSpPr>
          <p:nvPr/>
        </p:nvSpPr>
        <p:spPr>
          <a:xfrm>
            <a:off x="9579760" y="4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정보 구성(status=종료·ended_at·ended_by)</a:t>
            </a:r>
          </a:p>
        </p:txBody>
      </p:sp>
      <p:sp>
        <p:nvSpPr>
          <p:cNvPr id="6861" name="TextBox 6862">
            <a:extLst>
              <a:ext uri="{FF2B5EF4-FFF2-40B4-BE49-F238E27FC236}">
                <a16:creationId xmlns:a16="http://schemas.microsoft.com/office/drawing/2014/main" id="{12AD4C43-0045-4DFB-8A13-DA6864BACC00}"/>
              </a:ext>
            </a:extLst>
          </p:cNvPr>
          <p:cNvSpPr>
            <a:spLocks noGrp="1"/>
          </p:cNvSpPr>
          <p:nvPr/>
        </p:nvSpPr>
        <p:spPr>
          <a:xfrm>
            <a:off x="9052560" y="501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상태 저장</a:t>
            </a:r>
          </a:p>
        </p:txBody>
      </p:sp>
      <p:sp>
        <p:nvSpPr>
          <p:cNvPr id="6863" name="Connector 6864">
            <a:extLst>
              <a:ext uri="{FF2B5EF4-FFF2-40B4-BE49-F238E27FC236}">
                <a16:creationId xmlns:a16="http://schemas.microsoft.com/office/drawing/2014/main" id="{721F9637-CE91-4DC2-A0A5-B8F8B8FED7C5}"/>
              </a:ext>
            </a:extLst>
          </p:cNvPr>
          <p:cNvSpPr>
            <a:spLocks noGrp="1"/>
          </p:cNvSpPr>
          <p:nvPr/>
        </p:nvSpPr>
        <p:spPr>
          <a:xfrm>
            <a:off x="9122560" y="524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65" name="TextBox 6866">
            <a:extLst>
              <a:ext uri="{FF2B5EF4-FFF2-40B4-BE49-F238E27FC236}">
                <a16:creationId xmlns:a16="http://schemas.microsoft.com/office/drawing/2014/main" id="{DCD07CDC-F222-47A5-B646-73E16FC50DDB}"/>
              </a:ext>
            </a:extLst>
          </p:cNvPr>
          <p:cNvSpPr>
            <a:spLocks noGrp="1"/>
          </p:cNvSpPr>
          <p:nvPr/>
        </p:nvSpPr>
        <p:spPr>
          <a:xfrm>
            <a:off x="9052560" y="526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record(종료, 발화 종료 처리)</a:t>
            </a:r>
          </a:p>
        </p:txBody>
      </p:sp>
      <p:sp>
        <p:nvSpPr>
          <p:cNvPr id="6867" name="Connector 6868">
            <a:extLst>
              <a:ext uri="{FF2B5EF4-FFF2-40B4-BE49-F238E27FC236}">
                <a16:creationId xmlns:a16="http://schemas.microsoft.com/office/drawing/2014/main" id="{55197995-4F47-4185-87BF-0D152B356CA1}"/>
              </a:ext>
            </a:extLst>
          </p:cNvPr>
          <p:cNvSpPr>
            <a:spLocks noGrp="1"/>
          </p:cNvSpPr>
          <p:nvPr/>
        </p:nvSpPr>
        <p:spPr>
          <a:xfrm>
            <a:off x="9122560" y="549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69" name="TextBox 6870">
            <a:extLst>
              <a:ext uri="{FF2B5EF4-FFF2-40B4-BE49-F238E27FC236}">
                <a16:creationId xmlns:a16="http://schemas.microsoft.com/office/drawing/2014/main" id="{9E598764-1662-4E9A-9AE5-F8E465701BC2}"/>
              </a:ext>
            </a:extLst>
          </p:cNvPr>
          <p:cNvSpPr>
            <a:spLocks noGrp="1"/>
          </p:cNvSpPr>
          <p:nvPr/>
        </p:nvSpPr>
        <p:spPr>
          <a:xfrm>
            <a:off x="5829300" y="551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결과</a:t>
            </a:r>
          </a:p>
        </p:txBody>
      </p:sp>
      <p:sp>
        <p:nvSpPr>
          <p:cNvPr id="6871" name="Connector 6872">
            <a:extLst>
              <a:ext uri="{FF2B5EF4-FFF2-40B4-BE49-F238E27FC236}">
                <a16:creationId xmlns:a16="http://schemas.microsoft.com/office/drawing/2014/main" id="{009FD5EF-EEC0-446B-9542-04D143013A9C}"/>
              </a:ext>
            </a:extLst>
          </p:cNvPr>
          <p:cNvSpPr>
            <a:spLocks noGrp="1"/>
          </p:cNvSpPr>
          <p:nvPr/>
        </p:nvSpPr>
        <p:spPr>
          <a:xfrm flipH="1">
            <a:off x="5829300" y="5742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3" name="Connector 6874">
            <a:extLst>
              <a:ext uri="{FF2B5EF4-FFF2-40B4-BE49-F238E27FC236}">
                <a16:creationId xmlns:a16="http://schemas.microsoft.com/office/drawing/2014/main" id="{406D3E32-0A9C-4716-AA21-935FD34693F2}"/>
              </a:ext>
            </a:extLst>
          </p:cNvPr>
          <p:cNvSpPr>
            <a:spLocks noGrp="1"/>
          </p:cNvSpPr>
          <p:nvPr/>
        </p:nvSpPr>
        <p:spPr>
          <a:xfrm>
            <a:off x="5899300" y="599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5" name="Connector 6876">
            <a:extLst>
              <a:ext uri="{FF2B5EF4-FFF2-40B4-BE49-F238E27FC236}">
                <a16:creationId xmlns:a16="http://schemas.microsoft.com/office/drawing/2014/main" id="{7ADFD3A0-FA7A-412A-82B8-F48795C50B77}"/>
              </a:ext>
            </a:extLst>
          </p:cNvPr>
          <p:cNvSpPr>
            <a:spLocks noGrp="1"/>
          </p:cNvSpPr>
          <p:nvPr/>
        </p:nvSpPr>
        <p:spPr>
          <a:xfrm>
            <a:off x="6265060" y="599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7" name="Connector 6878">
            <a:extLst>
              <a:ext uri="{FF2B5EF4-FFF2-40B4-BE49-F238E27FC236}">
                <a16:creationId xmlns:a16="http://schemas.microsoft.com/office/drawing/2014/main" id="{776A38D2-76B1-4FEA-9DA7-1EBA365A2AA9}"/>
              </a:ext>
            </a:extLst>
          </p:cNvPr>
          <p:cNvSpPr>
            <a:spLocks noGrp="1"/>
          </p:cNvSpPr>
          <p:nvPr/>
        </p:nvSpPr>
        <p:spPr>
          <a:xfrm flipH="1">
            <a:off x="5933590" y="617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79" name="TextBox 6880">
            <a:extLst>
              <a:ext uri="{FF2B5EF4-FFF2-40B4-BE49-F238E27FC236}">
                <a16:creationId xmlns:a16="http://schemas.microsoft.com/office/drawing/2014/main" id="{7AA69F2B-F0D3-4C76-B068-D6A322C25F28}"/>
              </a:ext>
            </a:extLst>
          </p:cNvPr>
          <p:cNvSpPr>
            <a:spLocks noGrp="1"/>
          </p:cNvSpPr>
          <p:nvPr/>
        </p:nvSpPr>
        <p:spPr>
          <a:xfrm>
            <a:off x="6356500" y="576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재생 정지, 예측 실행·상황 정정·제안 재생성 잠금</a:t>
            </a:r>
          </a:p>
        </p:txBody>
      </p:sp>
      <p:sp>
        <p:nvSpPr>
          <p:cNvPr id="6881" name="TextBox 6882">
            <a:extLst>
              <a:ext uri="{FF2B5EF4-FFF2-40B4-BE49-F238E27FC236}">
                <a16:creationId xmlns:a16="http://schemas.microsoft.com/office/drawing/2014/main" id="{F8BCC218-8FCA-4B08-9117-BBB384C687EB}"/>
              </a:ext>
            </a:extLst>
          </p:cNvPr>
          <p:cNvSpPr>
            <a:spLocks noGrp="1"/>
          </p:cNvSpPr>
          <p:nvPr/>
        </p:nvSpPr>
        <p:spPr>
          <a:xfrm>
            <a:off x="2606040" y="621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종료 상태 표시(목록은 「종료」에서)</a:t>
            </a:r>
          </a:p>
        </p:txBody>
      </p:sp>
      <p:sp>
        <p:nvSpPr>
          <p:cNvPr id="6883" name="Connector 6884">
            <a:extLst>
              <a:ext uri="{FF2B5EF4-FFF2-40B4-BE49-F238E27FC236}">
                <a16:creationId xmlns:a16="http://schemas.microsoft.com/office/drawing/2014/main" id="{D309B781-DFA5-422E-8DDD-D43C277D1623}"/>
              </a:ext>
            </a:extLst>
          </p:cNvPr>
          <p:cNvSpPr>
            <a:spLocks noGrp="1"/>
          </p:cNvSpPr>
          <p:nvPr/>
        </p:nvSpPr>
        <p:spPr>
          <a:xfrm flipH="1">
            <a:off x="2606040" y="6437274"/>
            <a:ext cx="322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5" name="Connector 6886">
            <a:extLst>
              <a:ext uri="{FF2B5EF4-FFF2-40B4-BE49-F238E27FC236}">
                <a16:creationId xmlns:a16="http://schemas.microsoft.com/office/drawing/2014/main" id="{D5087C50-C5F5-4DFC-943F-58480B0FC254}"/>
              </a:ext>
            </a:extLst>
          </p:cNvPr>
          <p:cNvSpPr>
            <a:spLocks noGrp="1"/>
          </p:cNvSpPr>
          <p:nvPr/>
        </p:nvSpPr>
        <p:spPr>
          <a:xfrm>
            <a:off x="5899300" y="67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7" name="Connector 6888">
            <a:extLst>
              <a:ext uri="{FF2B5EF4-FFF2-40B4-BE49-F238E27FC236}">
                <a16:creationId xmlns:a16="http://schemas.microsoft.com/office/drawing/2014/main" id="{AF766487-FDE9-4AC7-8EA9-38B24403D06A}"/>
              </a:ext>
            </a:extLst>
          </p:cNvPr>
          <p:cNvSpPr>
            <a:spLocks noGrp="1"/>
          </p:cNvSpPr>
          <p:nvPr/>
        </p:nvSpPr>
        <p:spPr>
          <a:xfrm>
            <a:off x="6265060" y="67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89" name="Connector 6890">
            <a:extLst>
              <a:ext uri="{FF2B5EF4-FFF2-40B4-BE49-F238E27FC236}">
                <a16:creationId xmlns:a16="http://schemas.microsoft.com/office/drawing/2014/main" id="{2E8C3A50-CA21-4896-9863-3EE862D1E39B}"/>
              </a:ext>
            </a:extLst>
          </p:cNvPr>
          <p:cNvSpPr>
            <a:spLocks noGrp="1"/>
          </p:cNvSpPr>
          <p:nvPr/>
        </p:nvSpPr>
        <p:spPr>
          <a:xfrm flipH="1">
            <a:off x="5933590" y="69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91" name="TextBox 6892">
            <a:extLst>
              <a:ext uri="{FF2B5EF4-FFF2-40B4-BE49-F238E27FC236}">
                <a16:creationId xmlns:a16="http://schemas.microsoft.com/office/drawing/2014/main" id="{7C3C34DB-6826-4F22-B2F2-12929F08061B}"/>
              </a:ext>
            </a:extLst>
          </p:cNvPr>
          <p:cNvSpPr>
            <a:spLocks noGrp="1"/>
          </p:cNvSpPr>
          <p:nvPr/>
        </p:nvSpPr>
        <p:spPr>
          <a:xfrm>
            <a:off x="6356500" y="65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없음</a:t>
            </a:r>
          </a:p>
        </p:txBody>
      </p:sp>
      <p:sp>
        <p:nvSpPr>
          <p:cNvPr id="6811" name="Rectangle 6812">
            <a:extLst>
              <a:ext uri="{FF2B5EF4-FFF2-40B4-BE49-F238E27FC236}">
                <a16:creationId xmlns:a16="http://schemas.microsoft.com/office/drawing/2014/main" id="{665D2738-3A32-4C29-9BF5-449F2BE0DFA4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15600580" cy="3430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813" name="Rectangle 6814">
            <a:extLst>
              <a:ext uri="{FF2B5EF4-FFF2-40B4-BE49-F238E27FC236}">
                <a16:creationId xmlns:a16="http://schemas.microsoft.com/office/drawing/2014/main" id="{8EFFE717-F322-4CB4-8DE3-637EC6825BCB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815" name="TextBox 6816">
            <a:extLst>
              <a:ext uri="{FF2B5EF4-FFF2-40B4-BE49-F238E27FC236}">
                <a16:creationId xmlns:a16="http://schemas.microsoft.com/office/drawing/2014/main" id="{1D1C3AFF-CE55-439B-8BD5-E412492B979C}"/>
              </a:ext>
            </a:extLst>
          </p:cNvPr>
          <p:cNvSpPr>
            <a:spLocks noGrp="1"/>
          </p:cNvSpPr>
          <p:nvPr/>
        </p:nvSpPr>
        <p:spPr>
          <a:xfrm>
            <a:off x="2060930" y="3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[「종료 처리」]</a:t>
            </a:r>
          </a:p>
        </p:txBody>
      </p:sp>
      <p:sp>
        <p:nvSpPr>
          <p:cNvPr id="6817" name="Connector 6818">
            <a:extLst>
              <a:ext uri="{FF2B5EF4-FFF2-40B4-BE49-F238E27FC236}">
                <a16:creationId xmlns:a16="http://schemas.microsoft.com/office/drawing/2014/main" id="{62F1EECA-7EFE-4D30-9FB1-69CF834E6BBB}"/>
              </a:ext>
            </a:extLst>
          </p:cNvPr>
          <p:cNvSpPr>
            <a:spLocks noGrp="1"/>
          </p:cNvSpPr>
          <p:nvPr/>
        </p:nvSpPr>
        <p:spPr>
          <a:xfrm>
            <a:off x="1252270" y="6507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19" name="TextBox 6820">
            <a:extLst>
              <a:ext uri="{FF2B5EF4-FFF2-40B4-BE49-F238E27FC236}">
                <a16:creationId xmlns:a16="http://schemas.microsoft.com/office/drawing/2014/main" id="{5A5BFC2F-EF97-4C05-99BC-FBD104F93E36}"/>
              </a:ext>
            </a:extLst>
          </p:cNvPr>
          <p:cNvSpPr>
            <a:spLocks noGrp="1"/>
          </p:cNvSpPr>
          <p:nvPr/>
        </p:nvSpPr>
        <p:spPr>
          <a:xfrm>
            <a:off x="1366570" y="652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[「취소」]</a:t>
            </a:r>
          </a:p>
        </p:txBody>
      </p:sp>
    </p:spTree>
    <p:extLst>
      <p:ext uri="{BB962C8B-B14F-4D97-AF65-F5344CB8AC3E}">
        <p14:creationId xmlns:p14="http://schemas.microsoft.com/office/powerpoint/2010/main" val="231126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03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03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03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8F9B837-CE81-45C9-96A5-0E8E5A107966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C8543274-BF9A-4B99-AE13-DA28E384BB6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발생·접수 정보 조회  (UC-SIT-02)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39</a:t>
            </a:fld>
            <a:endParaRPr/>
          </a:p>
        </p:txBody>
      </p:sp>
      <p:sp>
        <p:nvSpPr>
          <p:cNvPr id="6021" name="Rounded Rectangle 6022">
            <a:extLst>
              <a:ext uri="{FF2B5EF4-FFF2-40B4-BE49-F238E27FC236}">
                <a16:creationId xmlns:a16="http://schemas.microsoft.com/office/drawing/2014/main" id="{D8624E2E-75F0-4610-99B8-EB8988753FE8}"/>
              </a:ext>
            </a:extLst>
          </p:cNvPr>
          <p:cNvSpPr>
            <a:spLocks noGrp="1"/>
          </p:cNvSpPr>
          <p:nvPr/>
        </p:nvSpPr>
        <p:spPr>
          <a:xfrm>
            <a:off x="1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023" name="Connector 6024">
            <a:extLst>
              <a:ext uri="{FF2B5EF4-FFF2-40B4-BE49-F238E27FC236}">
                <a16:creationId xmlns:a16="http://schemas.microsoft.com/office/drawing/2014/main" id="{E4FA52CB-B1C9-41E6-B6CA-03E8F7070EC8}"/>
              </a:ext>
            </a:extLst>
          </p:cNvPr>
          <p:cNvSpPr>
            <a:spLocks noGrp="1"/>
          </p:cNvSpPr>
          <p:nvPr/>
        </p:nvSpPr>
        <p:spPr>
          <a:xfrm>
            <a:off x="3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25" name="Rounded Rectangle 6026">
            <a:extLst>
              <a:ext uri="{FF2B5EF4-FFF2-40B4-BE49-F238E27FC236}">
                <a16:creationId xmlns:a16="http://schemas.microsoft.com/office/drawing/2014/main" id="{4656C1C0-3BDB-4113-8100-57AE5015D287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027" name="Connector 6028">
            <a:extLst>
              <a:ext uri="{FF2B5EF4-FFF2-40B4-BE49-F238E27FC236}">
                <a16:creationId xmlns:a16="http://schemas.microsoft.com/office/drawing/2014/main" id="{FD01763B-0EFA-4F32-800E-7A74425C4BBF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29" name="Rounded Rectangle 6030">
            <a:extLst>
              <a:ext uri="{FF2B5EF4-FFF2-40B4-BE49-F238E27FC236}">
                <a16:creationId xmlns:a16="http://schemas.microsoft.com/office/drawing/2014/main" id="{EACF3C5C-A3CC-429D-B4CE-6B18EBF7E5BE}"/>
              </a:ext>
            </a:extLst>
          </p:cNvPr>
          <p:cNvSpPr>
            <a:spLocks noGrp="1"/>
          </p:cNvSpPr>
          <p:nvPr/>
        </p:nvSpPr>
        <p:spPr>
          <a:xfrm>
            <a:off x="13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6031" name="Connector 6032">
            <a:extLst>
              <a:ext uri="{FF2B5EF4-FFF2-40B4-BE49-F238E27FC236}">
                <a16:creationId xmlns:a16="http://schemas.microsoft.com/office/drawing/2014/main" id="{BE20B21C-C1BF-4D93-9C34-687014886D39}"/>
              </a:ext>
            </a:extLst>
          </p:cNvPr>
          <p:cNvSpPr>
            <a:spLocks noGrp="1"/>
          </p:cNvSpPr>
          <p:nvPr/>
        </p:nvSpPr>
        <p:spPr>
          <a:xfrm>
            <a:off x="15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1" name="Rectangle 6002">
            <a:extLst>
              <a:ext uri="{FF2B5EF4-FFF2-40B4-BE49-F238E27FC236}">
                <a16:creationId xmlns:a16="http://schemas.microsoft.com/office/drawing/2014/main" id="{C5594C98-4A02-42AF-8462-50A8CA59282E}"/>
              </a:ext>
            </a:extLst>
          </p:cNvPr>
          <p:cNvSpPr>
            <a:spLocks noGrp="1"/>
          </p:cNvSpPr>
          <p:nvPr/>
        </p:nvSpPr>
        <p:spPr>
          <a:xfrm>
            <a:off x="14982560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03" name="Rectangle 6004">
            <a:extLst>
              <a:ext uri="{FF2B5EF4-FFF2-40B4-BE49-F238E27FC236}">
                <a16:creationId xmlns:a16="http://schemas.microsoft.com/office/drawing/2014/main" id="{36CEC6BA-DEC9-4E84-8AAA-68969BB7561B}"/>
              </a:ext>
            </a:extLst>
          </p:cNvPr>
          <p:cNvSpPr>
            <a:spLocks noGrp="1"/>
          </p:cNvSpPr>
          <p:nvPr/>
        </p:nvSpPr>
        <p:spPr>
          <a:xfrm>
            <a:off x="8982560" y="338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05" name="TextBox 6006">
            <a:extLst>
              <a:ext uri="{FF2B5EF4-FFF2-40B4-BE49-F238E27FC236}">
                <a16:creationId xmlns:a16="http://schemas.microsoft.com/office/drawing/2014/main" id="{F1BDF8DF-6F1F-4725-BA0E-125735919FBC}"/>
              </a:ext>
            </a:extLst>
          </p:cNvPr>
          <p:cNvSpPr>
            <a:spLocks noGrp="1"/>
          </p:cNvSpPr>
          <p:nvPr/>
        </p:nvSpPr>
        <p:spPr>
          <a:xfrm>
            <a:off x="3052560" y="315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산불현황 → 진행 중 산불 선택</a:t>
            </a:r>
          </a:p>
        </p:txBody>
      </p:sp>
      <p:sp>
        <p:nvSpPr>
          <p:cNvPr id="6007" name="Connector 6008">
            <a:extLst>
              <a:ext uri="{FF2B5EF4-FFF2-40B4-BE49-F238E27FC236}">
                <a16:creationId xmlns:a16="http://schemas.microsoft.com/office/drawing/2014/main" id="{6436E4B2-E3F5-442F-99B7-C627E68D6448}"/>
              </a:ext>
            </a:extLst>
          </p:cNvPr>
          <p:cNvSpPr>
            <a:spLocks noGrp="1"/>
          </p:cNvSpPr>
          <p:nvPr/>
        </p:nvSpPr>
        <p:spPr>
          <a:xfrm>
            <a:off x="3052560" y="3382274"/>
            <a:ext cx="593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09" name="TextBox 6010">
            <a:extLst>
              <a:ext uri="{FF2B5EF4-FFF2-40B4-BE49-F238E27FC236}">
                <a16:creationId xmlns:a16="http://schemas.microsoft.com/office/drawing/2014/main" id="{48DD872A-B935-4682-909D-08E2DD868F7D}"/>
              </a:ext>
            </a:extLst>
          </p:cNvPr>
          <p:cNvSpPr>
            <a:spLocks noGrp="1"/>
          </p:cNvSpPr>
          <p:nvPr/>
        </p:nvSpPr>
        <p:spPr>
          <a:xfrm>
            <a:off x="9052560" y="340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/incidents?status=진행,접수 · /incidents/{id}</a:t>
            </a:r>
          </a:p>
        </p:txBody>
      </p:sp>
      <p:sp>
        <p:nvSpPr>
          <p:cNvPr id="6011" name="Connector 6012">
            <a:extLst>
              <a:ext uri="{FF2B5EF4-FFF2-40B4-BE49-F238E27FC236}">
                <a16:creationId xmlns:a16="http://schemas.microsoft.com/office/drawing/2014/main" id="{C51547ED-D34C-4A01-ADBC-25EC47CDFA6A}"/>
              </a:ext>
            </a:extLst>
          </p:cNvPr>
          <p:cNvSpPr>
            <a:spLocks noGrp="1"/>
          </p:cNvSpPr>
          <p:nvPr/>
        </p:nvSpPr>
        <p:spPr>
          <a:xfrm>
            <a:off x="9122560" y="3632274"/>
            <a:ext cx="58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3" name="TextBox 6014">
            <a:extLst>
              <a:ext uri="{FF2B5EF4-FFF2-40B4-BE49-F238E27FC236}">
                <a16:creationId xmlns:a16="http://schemas.microsoft.com/office/drawing/2014/main" id="{0921A0A2-A138-45EA-8789-F9399C818314}"/>
              </a:ext>
            </a:extLst>
          </p:cNvPr>
          <p:cNvSpPr>
            <a:spLocks noGrp="1"/>
          </p:cNvSpPr>
          <p:nvPr/>
        </p:nvSpPr>
        <p:spPr>
          <a:xfrm>
            <a:off x="9052560" y="365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발생·접수 정보, 진행상태, 실측 화선</a:t>
            </a:r>
          </a:p>
        </p:txBody>
      </p:sp>
      <p:sp>
        <p:nvSpPr>
          <p:cNvPr id="6015" name="Connector 6016">
            <a:extLst>
              <a:ext uri="{FF2B5EF4-FFF2-40B4-BE49-F238E27FC236}">
                <a16:creationId xmlns:a16="http://schemas.microsoft.com/office/drawing/2014/main" id="{DEA0891B-B92F-4431-AF73-FBC46AB9D943}"/>
              </a:ext>
            </a:extLst>
          </p:cNvPr>
          <p:cNvSpPr>
            <a:spLocks noGrp="1"/>
          </p:cNvSpPr>
          <p:nvPr/>
        </p:nvSpPr>
        <p:spPr>
          <a:xfrm flipH="1">
            <a:off x="9122560" y="3882274"/>
            <a:ext cx="586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17" name="TextBox 6018">
            <a:extLst>
              <a:ext uri="{FF2B5EF4-FFF2-40B4-BE49-F238E27FC236}">
                <a16:creationId xmlns:a16="http://schemas.microsoft.com/office/drawing/2014/main" id="{B7030D48-88B2-4DE4-ADAF-CB1A78AE4221}"/>
              </a:ext>
            </a:extLst>
          </p:cNvPr>
          <p:cNvSpPr>
            <a:spLocks noGrp="1"/>
          </p:cNvSpPr>
          <p:nvPr/>
        </p:nvSpPr>
        <p:spPr>
          <a:xfrm>
            <a:off x="3052560" y="3907274"/>
            <a:ext cx="60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목록·상세 표시</a:t>
            </a:r>
          </a:p>
        </p:txBody>
      </p:sp>
      <p:sp>
        <p:nvSpPr>
          <p:cNvPr id="6019" name="Connector 6020">
            <a:extLst>
              <a:ext uri="{FF2B5EF4-FFF2-40B4-BE49-F238E27FC236}">
                <a16:creationId xmlns:a16="http://schemas.microsoft.com/office/drawing/2014/main" id="{4A64BD4C-D9DB-45C2-BAEF-E51F5DD6DC1E}"/>
              </a:ext>
            </a:extLst>
          </p:cNvPr>
          <p:cNvSpPr>
            <a:spLocks noGrp="1"/>
          </p:cNvSpPr>
          <p:nvPr/>
        </p:nvSpPr>
        <p:spPr>
          <a:xfrm flipH="1">
            <a:off x="3052560" y="4132274"/>
            <a:ext cx="593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11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133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13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13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00D54AAE-70DD-4925-AE3D-6746CC65C5E3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CBFF0D17-5648-473A-BBE3-439E8FBF51D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통합 상황도 조회  (UC-SIT-03)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40</a:t>
            </a:fld>
            <a:endParaRPr/>
          </a:p>
        </p:txBody>
      </p:sp>
      <p:sp>
        <p:nvSpPr>
          <p:cNvPr id="6109" name="Rounded Rectangle 6110">
            <a:extLst>
              <a:ext uri="{FF2B5EF4-FFF2-40B4-BE49-F238E27FC236}">
                <a16:creationId xmlns:a16="http://schemas.microsoft.com/office/drawing/2014/main" id="{F5894C08-7D00-4B7D-AA9A-667B497873FB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사용자</a:t>
            </a:r>
          </a:p>
        </p:txBody>
      </p:sp>
      <p:sp>
        <p:nvSpPr>
          <p:cNvPr id="6111" name="Connector 6112">
            <a:extLst>
              <a:ext uri="{FF2B5EF4-FFF2-40B4-BE49-F238E27FC236}">
                <a16:creationId xmlns:a16="http://schemas.microsoft.com/office/drawing/2014/main" id="{8B2999C3-9A2C-4BDA-A645-C49CE417ED43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3" name="Rounded Rectangle 6114">
            <a:extLst>
              <a:ext uri="{FF2B5EF4-FFF2-40B4-BE49-F238E27FC236}">
                <a16:creationId xmlns:a16="http://schemas.microsoft.com/office/drawing/2014/main" id="{1A2A65FE-71A0-4957-BF92-08D30327C3A2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115" name="Connector 6116">
            <a:extLst>
              <a:ext uri="{FF2B5EF4-FFF2-40B4-BE49-F238E27FC236}">
                <a16:creationId xmlns:a16="http://schemas.microsoft.com/office/drawing/2014/main" id="{6FCB2F31-768F-4085-8AF2-95A473E78E4A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17" name="Rounded Rectangle 6118">
            <a:extLst>
              <a:ext uri="{FF2B5EF4-FFF2-40B4-BE49-F238E27FC236}">
                <a16:creationId xmlns:a16="http://schemas.microsoft.com/office/drawing/2014/main" id="{0ECE3A31-8282-4518-B883-B356DF15ACF7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지도 타일 서버</a:t>
            </a:r>
          </a:p>
        </p:txBody>
      </p:sp>
      <p:sp>
        <p:nvSpPr>
          <p:cNvPr id="6119" name="Connector 6120">
            <a:extLst>
              <a:ext uri="{FF2B5EF4-FFF2-40B4-BE49-F238E27FC236}">
                <a16:creationId xmlns:a16="http://schemas.microsoft.com/office/drawing/2014/main" id="{E169D0D7-2E65-42DB-BEBD-8539594A7DD9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1" name="Rounded Rectangle 6122">
            <a:extLst>
              <a:ext uri="{FF2B5EF4-FFF2-40B4-BE49-F238E27FC236}">
                <a16:creationId xmlns:a16="http://schemas.microsoft.com/office/drawing/2014/main" id="{99810987-7E5D-444D-B4ED-2A4DE6E796A4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</a:t>
            </a:r>
          </a:p>
        </p:txBody>
      </p:sp>
      <p:sp>
        <p:nvSpPr>
          <p:cNvPr id="6123" name="Connector 6124">
            <a:extLst>
              <a:ext uri="{FF2B5EF4-FFF2-40B4-BE49-F238E27FC236}">
                <a16:creationId xmlns:a16="http://schemas.microsoft.com/office/drawing/2014/main" id="{D293B9B9-02ED-49C8-ACA1-7A71ADBFEE4A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5" name="Rounded Rectangle 6126">
            <a:extLst>
              <a:ext uri="{FF2B5EF4-FFF2-40B4-BE49-F238E27FC236}">
                <a16:creationId xmlns:a16="http://schemas.microsoft.com/office/drawing/2014/main" id="{33EEE503-7AAB-4BB6-ABC6-38B185928054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127" name="Connector 6128">
            <a:extLst>
              <a:ext uri="{FF2B5EF4-FFF2-40B4-BE49-F238E27FC236}">
                <a16:creationId xmlns:a16="http://schemas.microsoft.com/office/drawing/2014/main" id="{4FDD1FC3-6B17-49A9-B418-FDD4B7C3B818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39" name="Rectangle 6040">
            <a:extLst>
              <a:ext uri="{FF2B5EF4-FFF2-40B4-BE49-F238E27FC236}">
                <a16:creationId xmlns:a16="http://schemas.microsoft.com/office/drawing/2014/main" id="{3A0F9D5B-7FF7-4F51-8FCC-FE8520E0B79A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1" name="Rectangle 6042">
            <a:extLst>
              <a:ext uri="{FF2B5EF4-FFF2-40B4-BE49-F238E27FC236}">
                <a16:creationId xmlns:a16="http://schemas.microsoft.com/office/drawing/2014/main" id="{5BC3EDF2-1613-47C7-9F0E-494B10BA2158}"/>
              </a:ext>
            </a:extLst>
          </p:cNvPr>
          <p:cNvSpPr>
            <a:spLocks noGrp="1"/>
          </p:cNvSpPr>
          <p:nvPr/>
        </p:nvSpPr>
        <p:spPr>
          <a:xfrm>
            <a:off x="15429080" y="4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3" name="Rectangle 6044">
            <a:extLst>
              <a:ext uri="{FF2B5EF4-FFF2-40B4-BE49-F238E27FC236}">
                <a16:creationId xmlns:a16="http://schemas.microsoft.com/office/drawing/2014/main" id="{EB2CED27-487D-4DB7-812A-CB3E9F85EBCC}"/>
              </a:ext>
            </a:extLst>
          </p:cNvPr>
          <p:cNvSpPr>
            <a:spLocks noGrp="1"/>
          </p:cNvSpPr>
          <p:nvPr/>
        </p:nvSpPr>
        <p:spPr>
          <a:xfrm>
            <a:off x="12205820" y="413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5" name="Rectangle 6046">
            <a:extLst>
              <a:ext uri="{FF2B5EF4-FFF2-40B4-BE49-F238E27FC236}">
                <a16:creationId xmlns:a16="http://schemas.microsoft.com/office/drawing/2014/main" id="{058DD521-FD7B-4CA0-8A58-92267940BB7C}"/>
              </a:ext>
            </a:extLst>
          </p:cNvPr>
          <p:cNvSpPr>
            <a:spLocks noGrp="1"/>
          </p:cNvSpPr>
          <p:nvPr/>
        </p:nvSpPr>
        <p:spPr>
          <a:xfrm>
            <a:off x="12205820" y="58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7" name="Rectangle 6048">
            <a:extLst>
              <a:ext uri="{FF2B5EF4-FFF2-40B4-BE49-F238E27FC236}">
                <a16:creationId xmlns:a16="http://schemas.microsoft.com/office/drawing/2014/main" id="{B5C9931E-EB23-4A58-AF40-AB5E7BCC785D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374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049" name="TextBox 6050">
            <a:extLst>
              <a:ext uri="{FF2B5EF4-FFF2-40B4-BE49-F238E27FC236}">
                <a16:creationId xmlns:a16="http://schemas.microsoft.com/office/drawing/2014/main" id="{8342BE30-5260-4FEC-8A89-F369852AEFC6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진입(발화점·확산범위 확인)</a:t>
            </a:r>
          </a:p>
        </p:txBody>
      </p:sp>
      <p:sp>
        <p:nvSpPr>
          <p:cNvPr id="6051" name="Connector 6052">
            <a:extLst>
              <a:ext uri="{FF2B5EF4-FFF2-40B4-BE49-F238E27FC236}">
                <a16:creationId xmlns:a16="http://schemas.microsoft.com/office/drawing/2014/main" id="{2B7148A2-E0A0-4823-8224-7068B45E74B1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3" name="TextBox 6054">
            <a:extLst>
              <a:ext uri="{FF2B5EF4-FFF2-40B4-BE49-F238E27FC236}">
                <a16:creationId xmlns:a16="http://schemas.microsoft.com/office/drawing/2014/main" id="{963896AC-A72C-45C2-83A5-3E706EF59DE2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위성영상·라벨 타일 요청</a:t>
            </a:r>
          </a:p>
        </p:txBody>
      </p:sp>
      <p:sp>
        <p:nvSpPr>
          <p:cNvPr id="6055" name="Connector 6056">
            <a:extLst>
              <a:ext uri="{FF2B5EF4-FFF2-40B4-BE49-F238E27FC236}">
                <a16:creationId xmlns:a16="http://schemas.microsoft.com/office/drawing/2014/main" id="{9D8D60A1-8AFB-4B03-96D5-15F791721E7D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57" name="TextBox 6058">
            <a:extLst>
              <a:ext uri="{FF2B5EF4-FFF2-40B4-BE49-F238E27FC236}">
                <a16:creationId xmlns:a16="http://schemas.microsoft.com/office/drawing/2014/main" id="{C88B07F0-B4E8-4EE0-99B6-12A52EE45E1F}"/>
              </a:ext>
            </a:extLst>
          </p:cNvPr>
          <p:cNvSpPr>
            <a:spLocks noGrp="1"/>
          </p:cNvSpPr>
          <p:nvPr/>
        </p:nvSpPr>
        <p:spPr>
          <a:xfrm>
            <a:off x="5829300" y="36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타일</a:t>
            </a:r>
          </a:p>
        </p:txBody>
      </p:sp>
      <p:sp>
        <p:nvSpPr>
          <p:cNvPr id="6059" name="Connector 6060">
            <a:extLst>
              <a:ext uri="{FF2B5EF4-FFF2-40B4-BE49-F238E27FC236}">
                <a16:creationId xmlns:a16="http://schemas.microsoft.com/office/drawing/2014/main" id="{EA70CD7D-AF78-4DCD-8A59-BB4363B2C3D3}"/>
              </a:ext>
            </a:extLst>
          </p:cNvPr>
          <p:cNvSpPr>
            <a:spLocks noGrp="1"/>
          </p:cNvSpPr>
          <p:nvPr/>
        </p:nvSpPr>
        <p:spPr>
          <a:xfrm flipH="1">
            <a:off x="5899300" y="388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1" name="TextBox 6062">
            <a:extLst>
              <a:ext uri="{FF2B5EF4-FFF2-40B4-BE49-F238E27FC236}">
                <a16:creationId xmlns:a16="http://schemas.microsoft.com/office/drawing/2014/main" id="{D9CA07A0-8041-4312-94C5-158D2F6D9C6D}"/>
              </a:ext>
            </a:extLst>
          </p:cNvPr>
          <p:cNvSpPr>
            <a:spLocks noGrp="1"/>
          </p:cNvSpPr>
          <p:nvPr/>
        </p:nvSpPr>
        <p:spPr>
          <a:xfrm>
            <a:off x="5829300" y="390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/incidents/{id}/map?layers=…</a:t>
            </a:r>
          </a:p>
        </p:txBody>
      </p:sp>
      <p:sp>
        <p:nvSpPr>
          <p:cNvPr id="6063" name="Connector 6064">
            <a:extLst>
              <a:ext uri="{FF2B5EF4-FFF2-40B4-BE49-F238E27FC236}">
                <a16:creationId xmlns:a16="http://schemas.microsoft.com/office/drawing/2014/main" id="{313FFEC7-345C-4AD4-B1C9-F028D29B0ECA}"/>
              </a:ext>
            </a:extLst>
          </p:cNvPr>
          <p:cNvSpPr>
            <a:spLocks noGrp="1"/>
          </p:cNvSpPr>
          <p:nvPr/>
        </p:nvSpPr>
        <p:spPr>
          <a:xfrm>
            <a:off x="5899300" y="413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5" name="TextBox 6066">
            <a:extLst>
              <a:ext uri="{FF2B5EF4-FFF2-40B4-BE49-F238E27FC236}">
                <a16:creationId xmlns:a16="http://schemas.microsoft.com/office/drawing/2014/main" id="{6BCA34C2-8890-45D9-8187-944A8BF58B8B}"/>
              </a:ext>
            </a:extLst>
          </p:cNvPr>
          <p:cNvSpPr>
            <a:spLocks noGrp="1"/>
          </p:cNvSpPr>
          <p:nvPr/>
        </p:nvSpPr>
        <p:spPr>
          <a:xfrm>
            <a:off x="12275820" y="4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실측 화선·P1~P8·시설·기관·기상 캐시 조회</a:t>
            </a:r>
          </a:p>
        </p:txBody>
      </p:sp>
      <p:sp>
        <p:nvSpPr>
          <p:cNvPr id="6067" name="Connector 6068">
            <a:extLst>
              <a:ext uri="{FF2B5EF4-FFF2-40B4-BE49-F238E27FC236}">
                <a16:creationId xmlns:a16="http://schemas.microsoft.com/office/drawing/2014/main" id="{46BB25E7-3835-4D07-8B80-42D3216A8687}"/>
              </a:ext>
            </a:extLst>
          </p:cNvPr>
          <p:cNvSpPr>
            <a:spLocks noGrp="1"/>
          </p:cNvSpPr>
          <p:nvPr/>
        </p:nvSpPr>
        <p:spPr>
          <a:xfrm>
            <a:off x="12345820" y="438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69" name="TextBox 6070">
            <a:extLst>
              <a:ext uri="{FF2B5EF4-FFF2-40B4-BE49-F238E27FC236}">
                <a16:creationId xmlns:a16="http://schemas.microsoft.com/office/drawing/2014/main" id="{31EEBE86-FAF4-4B20-91BE-21968B557883}"/>
              </a:ext>
            </a:extLst>
          </p:cNvPr>
          <p:cNvSpPr>
            <a:spLocks noGrp="1"/>
          </p:cNvSpPr>
          <p:nvPr/>
        </p:nvSpPr>
        <p:spPr>
          <a:xfrm>
            <a:off x="12275820" y="4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공간 객체</a:t>
            </a:r>
          </a:p>
        </p:txBody>
      </p:sp>
      <p:sp>
        <p:nvSpPr>
          <p:cNvPr id="6071" name="Connector 6072">
            <a:extLst>
              <a:ext uri="{FF2B5EF4-FFF2-40B4-BE49-F238E27FC236}">
                <a16:creationId xmlns:a16="http://schemas.microsoft.com/office/drawing/2014/main" id="{3E614686-338D-46E1-832E-60132BC794E1}"/>
              </a:ext>
            </a:extLst>
          </p:cNvPr>
          <p:cNvSpPr>
            <a:spLocks noGrp="1"/>
          </p:cNvSpPr>
          <p:nvPr/>
        </p:nvSpPr>
        <p:spPr>
          <a:xfrm flipH="1">
            <a:off x="12345820" y="463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3" name="TextBox 6074">
            <a:extLst>
              <a:ext uri="{FF2B5EF4-FFF2-40B4-BE49-F238E27FC236}">
                <a16:creationId xmlns:a16="http://schemas.microsoft.com/office/drawing/2014/main" id="{EED385EA-C8D7-4FFB-A643-0475F7CC49D4}"/>
              </a:ext>
            </a:extLst>
          </p:cNvPr>
          <p:cNvSpPr>
            <a:spLocks noGrp="1"/>
          </p:cNvSpPr>
          <p:nvPr/>
        </p:nvSpPr>
        <p:spPr>
          <a:xfrm>
            <a:off x="5829300" y="465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GeoJSON</a:t>
            </a:r>
          </a:p>
        </p:txBody>
      </p:sp>
      <p:sp>
        <p:nvSpPr>
          <p:cNvPr id="6075" name="Connector 6076">
            <a:extLst>
              <a:ext uri="{FF2B5EF4-FFF2-40B4-BE49-F238E27FC236}">
                <a16:creationId xmlns:a16="http://schemas.microsoft.com/office/drawing/2014/main" id="{F0EAA0B5-2E6F-4AD0-BBB4-B89CEADC3765}"/>
              </a:ext>
            </a:extLst>
          </p:cNvPr>
          <p:cNvSpPr>
            <a:spLocks noGrp="1"/>
          </p:cNvSpPr>
          <p:nvPr/>
        </p:nvSpPr>
        <p:spPr>
          <a:xfrm flipH="1">
            <a:off x="5899300" y="4882274"/>
            <a:ext cx="630652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7" name="Connector 6078">
            <a:extLst>
              <a:ext uri="{FF2B5EF4-FFF2-40B4-BE49-F238E27FC236}">
                <a16:creationId xmlns:a16="http://schemas.microsoft.com/office/drawing/2014/main" id="{D2017C5E-C29B-4E8E-9845-1B6208CD1539}"/>
              </a:ext>
            </a:extLst>
          </p:cNvPr>
          <p:cNvSpPr>
            <a:spLocks noGrp="1"/>
          </p:cNvSpPr>
          <p:nvPr/>
        </p:nvSpPr>
        <p:spPr>
          <a:xfrm>
            <a:off x="5899300" y="513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79" name="Connector 6080">
            <a:extLst>
              <a:ext uri="{FF2B5EF4-FFF2-40B4-BE49-F238E27FC236}">
                <a16:creationId xmlns:a16="http://schemas.microsoft.com/office/drawing/2014/main" id="{F7E8E5B5-3B1D-45D7-9526-73FA48A6143B}"/>
              </a:ext>
            </a:extLst>
          </p:cNvPr>
          <p:cNvSpPr>
            <a:spLocks noGrp="1"/>
          </p:cNvSpPr>
          <p:nvPr/>
        </p:nvSpPr>
        <p:spPr>
          <a:xfrm>
            <a:off x="6265060" y="513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1" name="Connector 6082">
            <a:extLst>
              <a:ext uri="{FF2B5EF4-FFF2-40B4-BE49-F238E27FC236}">
                <a16:creationId xmlns:a16="http://schemas.microsoft.com/office/drawing/2014/main" id="{576DD64E-FB36-46AB-A707-90903C24FB9D}"/>
              </a:ext>
            </a:extLst>
          </p:cNvPr>
          <p:cNvSpPr>
            <a:spLocks noGrp="1"/>
          </p:cNvSpPr>
          <p:nvPr/>
        </p:nvSpPr>
        <p:spPr>
          <a:xfrm flipH="1">
            <a:off x="5933590" y="531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3" name="TextBox 6084">
            <a:extLst>
              <a:ext uri="{FF2B5EF4-FFF2-40B4-BE49-F238E27FC236}">
                <a16:creationId xmlns:a16="http://schemas.microsoft.com/office/drawing/2014/main" id="{D572C563-8E33-4645-8C2E-7482ADC7D00C}"/>
              </a:ext>
            </a:extLst>
          </p:cNvPr>
          <p:cNvSpPr>
            <a:spLocks noGrp="1"/>
          </p:cNvSpPr>
          <p:nvPr/>
        </p:nvSpPr>
        <p:spPr>
          <a:xfrm>
            <a:off x="6356500" y="490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위험구역(P5)·잠재(P8)·아이콘 렌더링, 마커 팝업(이름·종류)</a:t>
            </a:r>
          </a:p>
        </p:txBody>
      </p:sp>
      <p:sp>
        <p:nvSpPr>
          <p:cNvPr id="6085" name="TextBox 6086">
            <a:extLst>
              <a:ext uri="{FF2B5EF4-FFF2-40B4-BE49-F238E27FC236}">
                <a16:creationId xmlns:a16="http://schemas.microsoft.com/office/drawing/2014/main" id="{35720ED4-2FF2-4B8C-B27C-B98EAA3B0DC6}"/>
              </a:ext>
            </a:extLst>
          </p:cNvPr>
          <p:cNvSpPr>
            <a:spLocks noGrp="1"/>
          </p:cNvSpPr>
          <p:nvPr/>
        </p:nvSpPr>
        <p:spPr>
          <a:xfrm>
            <a:off x="2606040" y="5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레이어 켜기/끄기, 「진화자원」(가용만 보기 필터)</a:t>
            </a:r>
          </a:p>
        </p:txBody>
      </p:sp>
      <p:sp>
        <p:nvSpPr>
          <p:cNvPr id="6087" name="Connector 6088">
            <a:extLst>
              <a:ext uri="{FF2B5EF4-FFF2-40B4-BE49-F238E27FC236}">
                <a16:creationId xmlns:a16="http://schemas.microsoft.com/office/drawing/2014/main" id="{25AF09BF-61FD-4B18-857A-7DD9B80F2769}"/>
              </a:ext>
            </a:extLst>
          </p:cNvPr>
          <p:cNvSpPr>
            <a:spLocks noGrp="1"/>
          </p:cNvSpPr>
          <p:nvPr/>
        </p:nvSpPr>
        <p:spPr>
          <a:xfrm>
            <a:off x="2606040" y="5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89" name="TextBox 6090">
            <a:extLst>
              <a:ext uri="{FF2B5EF4-FFF2-40B4-BE49-F238E27FC236}">
                <a16:creationId xmlns:a16="http://schemas.microsoft.com/office/drawing/2014/main" id="{00AC25EC-D2D6-4B3B-B9F5-02D4167DD924}"/>
              </a:ext>
            </a:extLst>
          </p:cNvPr>
          <p:cNvSpPr>
            <a:spLocks noGrp="1"/>
          </p:cNvSpPr>
          <p:nvPr/>
        </p:nvSpPr>
        <p:spPr>
          <a:xfrm>
            <a:off x="5829300" y="56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/resources?incident={id}</a:t>
            </a:r>
          </a:p>
        </p:txBody>
      </p:sp>
      <p:sp>
        <p:nvSpPr>
          <p:cNvPr id="6091" name="Connector 6092">
            <a:extLst>
              <a:ext uri="{FF2B5EF4-FFF2-40B4-BE49-F238E27FC236}">
                <a16:creationId xmlns:a16="http://schemas.microsoft.com/office/drawing/2014/main" id="{D1588CD0-9B2E-4F0A-9284-D537421EA1F2}"/>
              </a:ext>
            </a:extLst>
          </p:cNvPr>
          <p:cNvSpPr>
            <a:spLocks noGrp="1"/>
          </p:cNvSpPr>
          <p:nvPr/>
        </p:nvSpPr>
        <p:spPr>
          <a:xfrm>
            <a:off x="5899300" y="58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3" name="TextBox 6094">
            <a:extLst>
              <a:ext uri="{FF2B5EF4-FFF2-40B4-BE49-F238E27FC236}">
                <a16:creationId xmlns:a16="http://schemas.microsoft.com/office/drawing/2014/main" id="{83A496B5-85AC-4F69-A197-FA75BF40C0EC}"/>
              </a:ext>
            </a:extLst>
          </p:cNvPr>
          <p:cNvSpPr>
            <a:spLocks noGrp="1"/>
          </p:cNvSpPr>
          <p:nvPr/>
        </p:nvSpPr>
        <p:spPr>
          <a:xfrm>
            <a:off x="5829300" y="585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가용 합계(필터 해제 시 보유·투입·대기 포함), 단위별 표</a:t>
            </a:r>
          </a:p>
        </p:txBody>
      </p:sp>
      <p:sp>
        <p:nvSpPr>
          <p:cNvPr id="6095" name="Connector 6096">
            <a:extLst>
              <a:ext uri="{FF2B5EF4-FFF2-40B4-BE49-F238E27FC236}">
                <a16:creationId xmlns:a16="http://schemas.microsoft.com/office/drawing/2014/main" id="{917F62FA-6ABC-4B15-8861-E3013BBDAFA0}"/>
              </a:ext>
            </a:extLst>
          </p:cNvPr>
          <p:cNvSpPr>
            <a:spLocks noGrp="1"/>
          </p:cNvSpPr>
          <p:nvPr/>
        </p:nvSpPr>
        <p:spPr>
          <a:xfrm flipH="1">
            <a:off x="5899300" y="6077274"/>
            <a:ext cx="630652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7" name="Connector 6098">
            <a:extLst>
              <a:ext uri="{FF2B5EF4-FFF2-40B4-BE49-F238E27FC236}">
                <a16:creationId xmlns:a16="http://schemas.microsoft.com/office/drawing/2014/main" id="{39791CF7-EF59-455A-ACCA-3CAEAC94AD51}"/>
              </a:ext>
            </a:extLst>
          </p:cNvPr>
          <p:cNvSpPr>
            <a:spLocks noGrp="1"/>
          </p:cNvSpPr>
          <p:nvPr/>
        </p:nvSpPr>
        <p:spPr>
          <a:xfrm>
            <a:off x="5899300" y="654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99" name="Connector 6100">
            <a:extLst>
              <a:ext uri="{FF2B5EF4-FFF2-40B4-BE49-F238E27FC236}">
                <a16:creationId xmlns:a16="http://schemas.microsoft.com/office/drawing/2014/main" id="{C475AEC6-F4FA-403A-ABD1-63A301DFC539}"/>
              </a:ext>
            </a:extLst>
          </p:cNvPr>
          <p:cNvSpPr>
            <a:spLocks noGrp="1"/>
          </p:cNvSpPr>
          <p:nvPr/>
        </p:nvSpPr>
        <p:spPr>
          <a:xfrm>
            <a:off x="6265060" y="654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1" name="Connector 6102">
            <a:extLst>
              <a:ext uri="{FF2B5EF4-FFF2-40B4-BE49-F238E27FC236}">
                <a16:creationId xmlns:a16="http://schemas.microsoft.com/office/drawing/2014/main" id="{CC094DC0-EC8D-4E30-B098-7E815BB891D3}"/>
              </a:ext>
            </a:extLst>
          </p:cNvPr>
          <p:cNvSpPr>
            <a:spLocks noGrp="1"/>
          </p:cNvSpPr>
          <p:nvPr/>
        </p:nvSpPr>
        <p:spPr>
          <a:xfrm flipH="1">
            <a:off x="5933590" y="672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03" name="TextBox 6104">
            <a:extLst>
              <a:ext uri="{FF2B5EF4-FFF2-40B4-BE49-F238E27FC236}">
                <a16:creationId xmlns:a16="http://schemas.microsoft.com/office/drawing/2014/main" id="{B2F3F198-22AC-469A-A58D-5F4F98E45FA3}"/>
              </a:ext>
            </a:extLst>
          </p:cNvPr>
          <p:cNvSpPr>
            <a:spLocks noGrp="1"/>
          </p:cNvSpPr>
          <p:nvPr/>
        </p:nvSpPr>
        <p:spPr>
          <a:xfrm>
            <a:off x="6356500" y="632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P(t) 채움, 도달 마을 빨간색, 야간 표시</a:t>
            </a:r>
          </a:p>
        </p:txBody>
      </p:sp>
      <p:sp>
        <p:nvSpPr>
          <p:cNvPr id="6105" name="TextBox 6106">
            <a:extLst>
              <a:ext uri="{FF2B5EF4-FFF2-40B4-BE49-F238E27FC236}">
                <a16:creationId xmlns:a16="http://schemas.microsoft.com/office/drawing/2014/main" id="{9DB5E56A-4095-494A-8C57-818E4B27C63D}"/>
              </a:ext>
            </a:extLst>
          </p:cNvPr>
          <p:cNvSpPr>
            <a:spLocks noGrp="1"/>
          </p:cNvSpPr>
          <p:nvPr/>
        </p:nvSpPr>
        <p:spPr>
          <a:xfrm>
            <a:off x="2606040" y="6897525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 상황도 표시</a:t>
            </a:r>
          </a:p>
        </p:txBody>
      </p:sp>
      <p:sp>
        <p:nvSpPr>
          <p:cNvPr id="6107" name="Connector 6108">
            <a:extLst>
              <a:ext uri="{FF2B5EF4-FFF2-40B4-BE49-F238E27FC236}">
                <a16:creationId xmlns:a16="http://schemas.microsoft.com/office/drawing/2014/main" id="{30AB96D0-94E0-453D-A140-4393A1CBD311}"/>
              </a:ext>
            </a:extLst>
          </p:cNvPr>
          <p:cNvSpPr>
            <a:spLocks noGrp="1"/>
          </p:cNvSpPr>
          <p:nvPr/>
        </p:nvSpPr>
        <p:spPr>
          <a:xfrm flipH="1">
            <a:off x="2606040" y="7122525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033" name="Rectangle 6034">
            <a:extLst>
              <a:ext uri="{FF2B5EF4-FFF2-40B4-BE49-F238E27FC236}">
                <a16:creationId xmlns:a16="http://schemas.microsoft.com/office/drawing/2014/main" id="{871D2EE0-1D41-46B8-BB1E-F8790BB7BDF2}"/>
              </a:ext>
            </a:extLst>
          </p:cNvPr>
          <p:cNvSpPr>
            <a:spLocks noGrp="1"/>
          </p:cNvSpPr>
          <p:nvPr/>
        </p:nvSpPr>
        <p:spPr>
          <a:xfrm>
            <a:off x="1252270" y="6102274"/>
            <a:ext cx="15600580" cy="735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035" name="Rectangle 6036">
            <a:extLst>
              <a:ext uri="{FF2B5EF4-FFF2-40B4-BE49-F238E27FC236}">
                <a16:creationId xmlns:a16="http://schemas.microsoft.com/office/drawing/2014/main" id="{C04C6C73-040D-4FCD-8697-B1C96D0A0B5F}"/>
              </a:ext>
            </a:extLst>
          </p:cNvPr>
          <p:cNvSpPr>
            <a:spLocks noGrp="1"/>
          </p:cNvSpPr>
          <p:nvPr/>
        </p:nvSpPr>
        <p:spPr>
          <a:xfrm>
            <a:off x="1252270" y="61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loop</a:t>
            </a:r>
          </a:p>
        </p:txBody>
      </p:sp>
      <p:sp>
        <p:nvSpPr>
          <p:cNvPr id="6037" name="TextBox 6038">
            <a:extLst>
              <a:ext uri="{FF2B5EF4-FFF2-40B4-BE49-F238E27FC236}">
                <a16:creationId xmlns:a16="http://schemas.microsoft.com/office/drawing/2014/main" id="{47E37931-D5B6-4A98-A4FA-F1FD0D320B9A}"/>
              </a:ext>
            </a:extLst>
          </p:cNvPr>
          <p:cNvSpPr>
            <a:spLocks noGrp="1"/>
          </p:cNvSpPr>
          <p:nvPr/>
        </p:nvSpPr>
        <p:spPr>
          <a:xfrm>
            <a:off x="2060930" y="61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[시간 재생 t = 1 … 8]</a:t>
            </a:r>
          </a:p>
        </p:txBody>
      </p:sp>
    </p:spTree>
    <p:extLst>
      <p:ext uri="{BB962C8B-B14F-4D97-AF65-F5344CB8AC3E}">
        <p14:creationId xmlns:p14="http://schemas.microsoft.com/office/powerpoint/2010/main" val="828376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69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69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69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D525F953-18B0-4281-B9E9-7405572A240B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098779CE-7424-4793-85DC-1558C8F046A9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실행 · 갱신 ① 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41</a:t>
            </a:fld>
            <a:endParaRPr/>
          </a:p>
        </p:txBody>
      </p:sp>
      <p:sp>
        <p:nvSpPr>
          <p:cNvPr id="6669" name="Rounded Rectangle 6670">
            <a:extLst>
              <a:ext uri="{FF2B5EF4-FFF2-40B4-BE49-F238E27FC236}">
                <a16:creationId xmlns:a16="http://schemas.microsoft.com/office/drawing/2014/main" id="{6D6B6C5F-E340-456A-B868-4588C3E3509E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671" name="Connector 6672">
            <a:extLst>
              <a:ext uri="{FF2B5EF4-FFF2-40B4-BE49-F238E27FC236}">
                <a16:creationId xmlns:a16="http://schemas.microsoft.com/office/drawing/2014/main" id="{A5DB74CB-8800-430C-B76C-CB466991D3AD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73" name="Rounded Rectangle 6674">
            <a:extLst>
              <a:ext uri="{FF2B5EF4-FFF2-40B4-BE49-F238E27FC236}">
                <a16:creationId xmlns:a16="http://schemas.microsoft.com/office/drawing/2014/main" id="{6AFC2293-4ADD-4084-AE8C-73A645148112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675" name="Connector 6676">
            <a:extLst>
              <a:ext uri="{FF2B5EF4-FFF2-40B4-BE49-F238E27FC236}">
                <a16:creationId xmlns:a16="http://schemas.microsoft.com/office/drawing/2014/main" id="{3B970D50-1981-401E-8A93-C943BCC3D7DD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77" name="Rounded Rectangle 6678">
            <a:extLst>
              <a:ext uri="{FF2B5EF4-FFF2-40B4-BE49-F238E27FC236}">
                <a16:creationId xmlns:a16="http://schemas.microsoft.com/office/drawing/2014/main" id="{F32F9F5F-ADFC-456D-817D-81F51466E8C9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6679" name="Connector 6680">
            <a:extLst>
              <a:ext uri="{FF2B5EF4-FFF2-40B4-BE49-F238E27FC236}">
                <a16:creationId xmlns:a16="http://schemas.microsoft.com/office/drawing/2014/main" id="{1A30B6AF-7C32-4543-8170-95E0FA6415FB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1" name="Rounded Rectangle 6682">
            <a:extLst>
              <a:ext uri="{FF2B5EF4-FFF2-40B4-BE49-F238E27FC236}">
                <a16:creationId xmlns:a16="http://schemas.microsoft.com/office/drawing/2014/main" id="{C0107186-0529-4841-91BE-A5C4099988AA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6683" name="Connector 6684">
            <a:extLst>
              <a:ext uri="{FF2B5EF4-FFF2-40B4-BE49-F238E27FC236}">
                <a16:creationId xmlns:a16="http://schemas.microsoft.com/office/drawing/2014/main" id="{C29D9A45-BE14-430F-BAEB-E32432AED3A5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5" name="Rounded Rectangle 6686">
            <a:extLst>
              <a:ext uri="{FF2B5EF4-FFF2-40B4-BE49-F238E27FC236}">
                <a16:creationId xmlns:a16="http://schemas.microsoft.com/office/drawing/2014/main" id="{30D66824-F919-4FAA-B573-85EA41F4E526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6687" name="Connector 6688">
            <a:extLst>
              <a:ext uri="{FF2B5EF4-FFF2-40B4-BE49-F238E27FC236}">
                <a16:creationId xmlns:a16="http://schemas.microsoft.com/office/drawing/2014/main" id="{579AA5AA-598A-4495-90AE-6EDB13F992D5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89" name="Rounded Rectangle 6690">
            <a:extLst>
              <a:ext uri="{FF2B5EF4-FFF2-40B4-BE49-F238E27FC236}">
                <a16:creationId xmlns:a16="http://schemas.microsoft.com/office/drawing/2014/main" id="{2A461915-329F-4913-BDE7-BB4C7D1B3378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691" name="Connector 6692">
            <a:extLst>
              <a:ext uri="{FF2B5EF4-FFF2-40B4-BE49-F238E27FC236}">
                <a16:creationId xmlns:a16="http://schemas.microsoft.com/office/drawing/2014/main" id="{FB83339E-97E2-4F87-B096-23732F2CC214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67" name="Rectangle 6568">
            <a:extLst>
              <a:ext uri="{FF2B5EF4-FFF2-40B4-BE49-F238E27FC236}">
                <a16:creationId xmlns:a16="http://schemas.microsoft.com/office/drawing/2014/main" id="{4712AC82-DC67-4ADC-B451-CAEAC2E336A9}"/>
              </a:ext>
            </a:extLst>
          </p:cNvPr>
          <p:cNvSpPr>
            <a:spLocks noGrp="1"/>
          </p:cNvSpPr>
          <p:nvPr/>
        </p:nvSpPr>
        <p:spPr>
          <a:xfrm>
            <a:off x="13011635" y="635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69" name="Rectangle 6570">
            <a:extLst>
              <a:ext uri="{FF2B5EF4-FFF2-40B4-BE49-F238E27FC236}">
                <a16:creationId xmlns:a16="http://schemas.microsoft.com/office/drawing/2014/main" id="{99D4EEE9-7DAE-445E-994E-015889B472ED}"/>
              </a:ext>
            </a:extLst>
          </p:cNvPr>
          <p:cNvSpPr>
            <a:spLocks noGrp="1"/>
          </p:cNvSpPr>
          <p:nvPr/>
        </p:nvSpPr>
        <p:spPr>
          <a:xfrm>
            <a:off x="15697685" y="660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1" name="Rectangle 6572">
            <a:extLst>
              <a:ext uri="{FF2B5EF4-FFF2-40B4-BE49-F238E27FC236}">
                <a16:creationId xmlns:a16="http://schemas.microsoft.com/office/drawing/2014/main" id="{584B3D87-4B37-40EB-B82A-29D8298027A6}"/>
              </a:ext>
            </a:extLst>
          </p:cNvPr>
          <p:cNvSpPr>
            <a:spLocks noGrp="1"/>
          </p:cNvSpPr>
          <p:nvPr/>
        </p:nvSpPr>
        <p:spPr>
          <a:xfrm>
            <a:off x="10325585" y="4327274"/>
            <a:ext cx="140000" cy="2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3" name="Rectangle 6574">
            <a:extLst>
              <a:ext uri="{FF2B5EF4-FFF2-40B4-BE49-F238E27FC236}">
                <a16:creationId xmlns:a16="http://schemas.microsoft.com/office/drawing/2014/main" id="{D325E8A1-3D3B-42C4-8827-CEE454CE151C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36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5" name="Rectangle 6576">
            <a:extLst>
              <a:ext uri="{FF2B5EF4-FFF2-40B4-BE49-F238E27FC236}">
                <a16:creationId xmlns:a16="http://schemas.microsoft.com/office/drawing/2014/main" id="{9FD14398-21BE-4574-AECA-7CE54B8630D1}"/>
              </a:ext>
            </a:extLst>
          </p:cNvPr>
          <p:cNvSpPr>
            <a:spLocks noGrp="1"/>
          </p:cNvSpPr>
          <p:nvPr/>
        </p:nvSpPr>
        <p:spPr>
          <a:xfrm>
            <a:off x="10325585" y="4327274"/>
            <a:ext cx="140000" cy="38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7" name="Rectangle 6578">
            <a:extLst>
              <a:ext uri="{FF2B5EF4-FFF2-40B4-BE49-F238E27FC236}">
                <a16:creationId xmlns:a16="http://schemas.microsoft.com/office/drawing/2014/main" id="{F3DFDC27-D518-455A-A41D-EB1E2A46CDB6}"/>
              </a:ext>
            </a:extLst>
          </p:cNvPr>
          <p:cNvSpPr>
            <a:spLocks noGrp="1"/>
          </p:cNvSpPr>
          <p:nvPr/>
        </p:nvSpPr>
        <p:spPr>
          <a:xfrm>
            <a:off x="7639535" y="3632274"/>
            <a:ext cx="14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79" name="Rectangle 6580">
            <a:extLst>
              <a:ext uri="{FF2B5EF4-FFF2-40B4-BE49-F238E27FC236}">
                <a16:creationId xmlns:a16="http://schemas.microsoft.com/office/drawing/2014/main" id="{7B4C89A1-FD3F-4339-937E-7A07D8E60B84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5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581" name="TextBox 6582">
            <a:extLst>
              <a:ext uri="{FF2B5EF4-FFF2-40B4-BE49-F238E27FC236}">
                <a16:creationId xmlns:a16="http://schemas.microsoft.com/office/drawing/2014/main" id="{BAEB077B-A657-42FE-BEF7-A3764A5E9B15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확산 예측 실행 / 다시 예측</a:t>
            </a:r>
          </a:p>
        </p:txBody>
      </p:sp>
      <p:sp>
        <p:nvSpPr>
          <p:cNvPr id="6583" name="Connector 6584">
            <a:extLst>
              <a:ext uri="{FF2B5EF4-FFF2-40B4-BE49-F238E27FC236}">
                <a16:creationId xmlns:a16="http://schemas.microsoft.com/office/drawing/2014/main" id="{9CC0CCFE-8C6E-411A-912D-0A344097C49D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85" name="TextBox 6586">
            <a:extLst>
              <a:ext uri="{FF2B5EF4-FFF2-40B4-BE49-F238E27FC236}">
                <a16:creationId xmlns:a16="http://schemas.microsoft.com/office/drawing/2014/main" id="{581545BC-1DA8-4B67-855C-8C823A9985E5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/incidents/{id}/predictions</a:t>
            </a:r>
          </a:p>
        </p:txBody>
      </p:sp>
      <p:sp>
        <p:nvSpPr>
          <p:cNvPr id="6587" name="Connector 6588">
            <a:extLst>
              <a:ext uri="{FF2B5EF4-FFF2-40B4-BE49-F238E27FC236}">
                <a16:creationId xmlns:a16="http://schemas.microsoft.com/office/drawing/2014/main" id="{EA442308-A6D2-4E77-A241-BE4C36842E29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89" name="Connector 6590">
            <a:extLst>
              <a:ext uri="{FF2B5EF4-FFF2-40B4-BE49-F238E27FC236}">
                <a16:creationId xmlns:a16="http://schemas.microsoft.com/office/drawing/2014/main" id="{90DD4085-EA74-4218-92C1-61514E0801BE}"/>
              </a:ext>
            </a:extLst>
          </p:cNvPr>
          <p:cNvSpPr>
            <a:spLocks noGrp="1"/>
          </p:cNvSpPr>
          <p:nvPr/>
        </p:nvSpPr>
        <p:spPr>
          <a:xfrm>
            <a:off x="7779535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1" name="Connector 6592">
            <a:extLst>
              <a:ext uri="{FF2B5EF4-FFF2-40B4-BE49-F238E27FC236}">
                <a16:creationId xmlns:a16="http://schemas.microsoft.com/office/drawing/2014/main" id="{B649FDD3-1D51-4049-ACB5-C6A85A272B02}"/>
              </a:ext>
            </a:extLst>
          </p:cNvPr>
          <p:cNvSpPr>
            <a:spLocks noGrp="1"/>
          </p:cNvSpPr>
          <p:nvPr/>
        </p:nvSpPr>
        <p:spPr>
          <a:xfrm>
            <a:off x="8145295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3" name="Connector 6594">
            <a:extLst>
              <a:ext uri="{FF2B5EF4-FFF2-40B4-BE49-F238E27FC236}">
                <a16:creationId xmlns:a16="http://schemas.microsoft.com/office/drawing/2014/main" id="{7670E1B2-A59A-457E-AC99-25E5407011A4}"/>
              </a:ext>
            </a:extLst>
          </p:cNvPr>
          <p:cNvSpPr>
            <a:spLocks noGrp="1"/>
          </p:cNvSpPr>
          <p:nvPr/>
        </p:nvSpPr>
        <p:spPr>
          <a:xfrm flipH="1">
            <a:off x="7813825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95" name="TextBox 6596">
            <a:extLst>
              <a:ext uri="{FF2B5EF4-FFF2-40B4-BE49-F238E27FC236}">
                <a16:creationId xmlns:a16="http://schemas.microsoft.com/office/drawing/2014/main" id="{2A8C08F3-664A-4491-A549-9FF3FC2564E1}"/>
              </a:ext>
            </a:extLst>
          </p:cNvPr>
          <p:cNvSpPr>
            <a:spLocks noGrp="1"/>
          </p:cNvSpPr>
          <p:nvPr/>
        </p:nvSpPr>
        <p:spPr>
          <a:xfrm>
            <a:off x="8236735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6597" name="TextBox 6598">
            <a:extLst>
              <a:ext uri="{FF2B5EF4-FFF2-40B4-BE49-F238E27FC236}">
                <a16:creationId xmlns:a16="http://schemas.microsoft.com/office/drawing/2014/main" id="{D5EDB18E-AC73-4D3D-BECD-DFCCD6E682C7}"/>
              </a:ext>
            </a:extLst>
          </p:cNvPr>
          <p:cNvSpPr>
            <a:spLocks noGrp="1"/>
          </p:cNvSpPr>
          <p:nvPr/>
        </p:nvSpPr>
        <p:spPr>
          <a:xfrm>
            <a:off x="7709535" y="41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execute(incident, perimeter?)</a:t>
            </a:r>
          </a:p>
        </p:txBody>
      </p:sp>
      <p:sp>
        <p:nvSpPr>
          <p:cNvPr id="6599" name="Connector 6600">
            <a:extLst>
              <a:ext uri="{FF2B5EF4-FFF2-40B4-BE49-F238E27FC236}">
                <a16:creationId xmlns:a16="http://schemas.microsoft.com/office/drawing/2014/main" id="{08886F07-A900-480D-8C02-D2F316968372}"/>
              </a:ext>
            </a:extLst>
          </p:cNvPr>
          <p:cNvSpPr>
            <a:spLocks noGrp="1"/>
          </p:cNvSpPr>
          <p:nvPr/>
        </p:nvSpPr>
        <p:spPr>
          <a:xfrm>
            <a:off x="7779535" y="432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1" name="Connector 6602">
            <a:extLst>
              <a:ext uri="{FF2B5EF4-FFF2-40B4-BE49-F238E27FC236}">
                <a16:creationId xmlns:a16="http://schemas.microsoft.com/office/drawing/2014/main" id="{D109D897-CD73-4A25-AB03-68F663E95E56}"/>
              </a:ext>
            </a:extLst>
          </p:cNvPr>
          <p:cNvSpPr>
            <a:spLocks noGrp="1"/>
          </p:cNvSpPr>
          <p:nvPr/>
        </p:nvSpPr>
        <p:spPr>
          <a:xfrm>
            <a:off x="10465585" y="457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3" name="Connector 6604">
            <a:extLst>
              <a:ext uri="{FF2B5EF4-FFF2-40B4-BE49-F238E27FC236}">
                <a16:creationId xmlns:a16="http://schemas.microsoft.com/office/drawing/2014/main" id="{A1DF0043-12AC-4B45-A6A3-403E0AC94867}"/>
              </a:ext>
            </a:extLst>
          </p:cNvPr>
          <p:cNvSpPr>
            <a:spLocks noGrp="1"/>
          </p:cNvSpPr>
          <p:nvPr/>
        </p:nvSpPr>
        <p:spPr>
          <a:xfrm>
            <a:off x="10831345" y="457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5" name="Connector 6606">
            <a:extLst>
              <a:ext uri="{FF2B5EF4-FFF2-40B4-BE49-F238E27FC236}">
                <a16:creationId xmlns:a16="http://schemas.microsoft.com/office/drawing/2014/main" id="{DEB68913-8D8D-467D-B676-4F2488B39AFE}"/>
              </a:ext>
            </a:extLst>
          </p:cNvPr>
          <p:cNvSpPr>
            <a:spLocks noGrp="1"/>
          </p:cNvSpPr>
          <p:nvPr/>
        </p:nvSpPr>
        <p:spPr>
          <a:xfrm flipH="1">
            <a:off x="10499875" y="475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07" name="TextBox 6608">
            <a:extLst>
              <a:ext uri="{FF2B5EF4-FFF2-40B4-BE49-F238E27FC236}">
                <a16:creationId xmlns:a16="http://schemas.microsoft.com/office/drawing/2014/main" id="{71F0D937-E01D-4D71-AE20-A2C0E219A646}"/>
              </a:ext>
            </a:extLst>
          </p:cNvPr>
          <p:cNvSpPr>
            <a:spLocks noGrp="1"/>
          </p:cNvSpPr>
          <p:nvPr/>
        </p:nvSpPr>
        <p:spPr>
          <a:xfrm>
            <a:off x="10922785" y="435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입력 검증(발화점·실측 화선·t0)</a:t>
            </a:r>
          </a:p>
        </p:txBody>
      </p:sp>
      <p:sp>
        <p:nvSpPr>
          <p:cNvPr id="6609" name="Connector 6610">
            <a:extLst>
              <a:ext uri="{FF2B5EF4-FFF2-40B4-BE49-F238E27FC236}">
                <a16:creationId xmlns:a16="http://schemas.microsoft.com/office/drawing/2014/main" id="{54102263-EBE7-4423-B3BA-0DD9EAE0F2BA}"/>
              </a:ext>
            </a:extLst>
          </p:cNvPr>
          <p:cNvSpPr>
            <a:spLocks noGrp="1"/>
          </p:cNvSpPr>
          <p:nvPr/>
        </p:nvSpPr>
        <p:spPr>
          <a:xfrm>
            <a:off x="10465585" y="502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1" name="Connector 6612">
            <a:extLst>
              <a:ext uri="{FF2B5EF4-FFF2-40B4-BE49-F238E27FC236}">
                <a16:creationId xmlns:a16="http://schemas.microsoft.com/office/drawing/2014/main" id="{DAC415E1-0AE6-4661-8783-8125F3100FBA}"/>
              </a:ext>
            </a:extLst>
          </p:cNvPr>
          <p:cNvSpPr>
            <a:spLocks noGrp="1"/>
          </p:cNvSpPr>
          <p:nvPr/>
        </p:nvSpPr>
        <p:spPr>
          <a:xfrm>
            <a:off x="10831345" y="502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3" name="Connector 6614">
            <a:extLst>
              <a:ext uri="{FF2B5EF4-FFF2-40B4-BE49-F238E27FC236}">
                <a16:creationId xmlns:a16="http://schemas.microsoft.com/office/drawing/2014/main" id="{2AD11973-B02E-423D-8C9D-A6BD6327FDE7}"/>
              </a:ext>
            </a:extLst>
          </p:cNvPr>
          <p:cNvSpPr>
            <a:spLocks noGrp="1"/>
          </p:cNvSpPr>
          <p:nvPr/>
        </p:nvSpPr>
        <p:spPr>
          <a:xfrm flipH="1">
            <a:off x="10499875" y="520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5" name="TextBox 6616">
            <a:extLst>
              <a:ext uri="{FF2B5EF4-FFF2-40B4-BE49-F238E27FC236}">
                <a16:creationId xmlns:a16="http://schemas.microsoft.com/office/drawing/2014/main" id="{0C854FBC-01CA-4526-9F79-1A3703CE6D40}"/>
              </a:ext>
            </a:extLst>
          </p:cNvPr>
          <p:cNvSpPr>
            <a:spLocks noGrp="1"/>
          </p:cNvSpPr>
          <p:nvPr/>
        </p:nvSpPr>
        <p:spPr>
          <a:xfrm>
            <a:off x="10922785" y="479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단기예보 조회(WeatherClient)</a:t>
            </a:r>
          </a:p>
        </p:txBody>
      </p:sp>
      <p:sp>
        <p:nvSpPr>
          <p:cNvPr id="6617" name="Connector 6618">
            <a:extLst>
              <a:ext uri="{FF2B5EF4-FFF2-40B4-BE49-F238E27FC236}">
                <a16:creationId xmlns:a16="http://schemas.microsoft.com/office/drawing/2014/main" id="{A7D21E3A-6AD1-4C32-8684-D277C56AA5D5}"/>
              </a:ext>
            </a:extLst>
          </p:cNvPr>
          <p:cNvSpPr>
            <a:spLocks noGrp="1"/>
          </p:cNvSpPr>
          <p:nvPr/>
        </p:nvSpPr>
        <p:spPr>
          <a:xfrm>
            <a:off x="10465585" y="546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19" name="Connector 6620">
            <a:extLst>
              <a:ext uri="{FF2B5EF4-FFF2-40B4-BE49-F238E27FC236}">
                <a16:creationId xmlns:a16="http://schemas.microsoft.com/office/drawing/2014/main" id="{A6BC149A-A00F-4C64-836C-58E3BE2CC179}"/>
              </a:ext>
            </a:extLst>
          </p:cNvPr>
          <p:cNvSpPr>
            <a:spLocks noGrp="1"/>
          </p:cNvSpPr>
          <p:nvPr/>
        </p:nvSpPr>
        <p:spPr>
          <a:xfrm>
            <a:off x="10831345" y="546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1" name="Connector 6622">
            <a:extLst>
              <a:ext uri="{FF2B5EF4-FFF2-40B4-BE49-F238E27FC236}">
                <a16:creationId xmlns:a16="http://schemas.microsoft.com/office/drawing/2014/main" id="{915EC0C6-5AB6-4414-BAFA-09E442090F21}"/>
              </a:ext>
            </a:extLst>
          </p:cNvPr>
          <p:cNvSpPr>
            <a:spLocks noGrp="1"/>
          </p:cNvSpPr>
          <p:nvPr/>
        </p:nvSpPr>
        <p:spPr>
          <a:xfrm flipH="1">
            <a:off x="10499875" y="564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3" name="TextBox 6624">
            <a:extLst>
              <a:ext uri="{FF2B5EF4-FFF2-40B4-BE49-F238E27FC236}">
                <a16:creationId xmlns:a16="http://schemas.microsoft.com/office/drawing/2014/main" id="{51D8236E-CC87-4D59-A919-84A1DA7637B8}"/>
              </a:ext>
            </a:extLst>
          </p:cNvPr>
          <p:cNvSpPr>
            <a:spLocks noGrp="1"/>
          </p:cNvSpPr>
          <p:nvPr/>
        </p:nvSpPr>
        <p:spPr>
          <a:xfrm>
            <a:off x="10922785" y="524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 실행(ElmfireAdapter, 초기 화선·격자·기상)</a:t>
            </a:r>
          </a:p>
        </p:txBody>
      </p:sp>
      <p:sp>
        <p:nvSpPr>
          <p:cNvPr id="6625" name="Connector 6626">
            <a:extLst>
              <a:ext uri="{FF2B5EF4-FFF2-40B4-BE49-F238E27FC236}">
                <a16:creationId xmlns:a16="http://schemas.microsoft.com/office/drawing/2014/main" id="{BCE6C0B8-9D04-42AB-AF02-1E5BC58603E3}"/>
              </a:ext>
            </a:extLst>
          </p:cNvPr>
          <p:cNvSpPr>
            <a:spLocks noGrp="1"/>
          </p:cNvSpPr>
          <p:nvPr/>
        </p:nvSpPr>
        <p:spPr>
          <a:xfrm>
            <a:off x="10465585" y="591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7" name="Connector 6628">
            <a:extLst>
              <a:ext uri="{FF2B5EF4-FFF2-40B4-BE49-F238E27FC236}">
                <a16:creationId xmlns:a16="http://schemas.microsoft.com/office/drawing/2014/main" id="{1E5EF611-A266-4C92-8548-435F7DD99C9D}"/>
              </a:ext>
            </a:extLst>
          </p:cNvPr>
          <p:cNvSpPr>
            <a:spLocks noGrp="1"/>
          </p:cNvSpPr>
          <p:nvPr/>
        </p:nvSpPr>
        <p:spPr>
          <a:xfrm>
            <a:off x="10831345" y="591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29" name="Connector 6630">
            <a:extLst>
              <a:ext uri="{FF2B5EF4-FFF2-40B4-BE49-F238E27FC236}">
                <a16:creationId xmlns:a16="http://schemas.microsoft.com/office/drawing/2014/main" id="{CB31FBB1-9A51-4AD8-941A-C8F00DBA3F58}"/>
              </a:ext>
            </a:extLst>
          </p:cNvPr>
          <p:cNvSpPr>
            <a:spLocks noGrp="1"/>
          </p:cNvSpPr>
          <p:nvPr/>
        </p:nvSpPr>
        <p:spPr>
          <a:xfrm flipH="1">
            <a:off x="10499875" y="609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31" name="TextBox 6632">
            <a:extLst>
              <a:ext uri="{FF2B5EF4-FFF2-40B4-BE49-F238E27FC236}">
                <a16:creationId xmlns:a16="http://schemas.microsoft.com/office/drawing/2014/main" id="{96D9974A-64AB-4266-9933-34B79B15B118}"/>
              </a:ext>
            </a:extLst>
          </p:cNvPr>
          <p:cNvSpPr>
            <a:spLocks noGrp="1"/>
          </p:cNvSpPr>
          <p:nvPr/>
        </p:nvSpPr>
        <p:spPr>
          <a:xfrm>
            <a:off x="10922785" y="568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P1~P8 폴리곤 변환·누적성 검증</a:t>
            </a:r>
          </a:p>
        </p:txBody>
      </p:sp>
      <p:sp>
        <p:nvSpPr>
          <p:cNvPr id="6633" name="TextBox 6634">
            <a:extLst>
              <a:ext uri="{FF2B5EF4-FFF2-40B4-BE49-F238E27FC236}">
                <a16:creationId xmlns:a16="http://schemas.microsoft.com/office/drawing/2014/main" id="{AF59B255-C798-4BA2-BDF0-FC27A42A008B}"/>
              </a:ext>
            </a:extLst>
          </p:cNvPr>
          <p:cNvSpPr>
            <a:spLocks noGrp="1"/>
          </p:cNvSpPr>
          <p:nvPr/>
        </p:nvSpPr>
        <p:spPr>
          <a:xfrm>
            <a:off x="10395585" y="613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실행·슬라이스 저장</a:t>
            </a:r>
          </a:p>
        </p:txBody>
      </p:sp>
      <p:sp>
        <p:nvSpPr>
          <p:cNvPr id="6635" name="Connector 6636">
            <a:extLst>
              <a:ext uri="{FF2B5EF4-FFF2-40B4-BE49-F238E27FC236}">
                <a16:creationId xmlns:a16="http://schemas.microsoft.com/office/drawing/2014/main" id="{40159A53-CA4D-4046-B512-6A1FA4C600E0}"/>
              </a:ext>
            </a:extLst>
          </p:cNvPr>
          <p:cNvSpPr>
            <a:spLocks noGrp="1"/>
          </p:cNvSpPr>
          <p:nvPr/>
        </p:nvSpPr>
        <p:spPr>
          <a:xfrm>
            <a:off x="10465585" y="635727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37" name="TextBox 6638">
            <a:extLst>
              <a:ext uri="{FF2B5EF4-FFF2-40B4-BE49-F238E27FC236}">
                <a16:creationId xmlns:a16="http://schemas.microsoft.com/office/drawing/2014/main" id="{8674BC35-5929-43E4-A235-0D14AA79CD46}"/>
              </a:ext>
            </a:extLst>
          </p:cNvPr>
          <p:cNvSpPr>
            <a:spLocks noGrp="1"/>
          </p:cNvSpPr>
          <p:nvPr/>
        </p:nvSpPr>
        <p:spPr>
          <a:xfrm>
            <a:off x="10395585" y="6382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record(예측, 확산 예측 갱신)</a:t>
            </a:r>
          </a:p>
        </p:txBody>
      </p:sp>
      <p:sp>
        <p:nvSpPr>
          <p:cNvPr id="6639" name="Connector 6640">
            <a:extLst>
              <a:ext uri="{FF2B5EF4-FFF2-40B4-BE49-F238E27FC236}">
                <a16:creationId xmlns:a16="http://schemas.microsoft.com/office/drawing/2014/main" id="{77899F89-A27E-4388-BBB7-CD20211ECF3B}"/>
              </a:ext>
            </a:extLst>
          </p:cNvPr>
          <p:cNvSpPr>
            <a:spLocks noGrp="1"/>
          </p:cNvSpPr>
          <p:nvPr/>
        </p:nvSpPr>
        <p:spPr>
          <a:xfrm>
            <a:off x="10465585" y="6607274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1" name="TextBox 6642">
            <a:extLst>
              <a:ext uri="{FF2B5EF4-FFF2-40B4-BE49-F238E27FC236}">
                <a16:creationId xmlns:a16="http://schemas.microsoft.com/office/drawing/2014/main" id="{627410F2-993F-406E-BB32-E91D7CE3F5BE}"/>
              </a:ext>
            </a:extLst>
          </p:cNvPr>
          <p:cNvSpPr>
            <a:spLocks noGrp="1"/>
          </p:cNvSpPr>
          <p:nvPr/>
        </p:nvSpPr>
        <p:spPr>
          <a:xfrm>
            <a:off x="7709535" y="685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오류, 이전 결과 유지</a:t>
            </a:r>
          </a:p>
        </p:txBody>
      </p:sp>
      <p:sp>
        <p:nvSpPr>
          <p:cNvPr id="6643" name="Connector 6644">
            <a:extLst>
              <a:ext uri="{FF2B5EF4-FFF2-40B4-BE49-F238E27FC236}">
                <a16:creationId xmlns:a16="http://schemas.microsoft.com/office/drawing/2014/main" id="{B0E14308-CA8F-46D1-82B9-C69BD755DDE5}"/>
              </a:ext>
            </a:extLst>
          </p:cNvPr>
          <p:cNvSpPr>
            <a:spLocks noGrp="1"/>
          </p:cNvSpPr>
          <p:nvPr/>
        </p:nvSpPr>
        <p:spPr>
          <a:xfrm flipH="1">
            <a:off x="7779535" y="707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5" name="TextBox 6646">
            <a:extLst>
              <a:ext uri="{FF2B5EF4-FFF2-40B4-BE49-F238E27FC236}">
                <a16:creationId xmlns:a16="http://schemas.microsoft.com/office/drawing/2014/main" id="{9903B5C3-EE49-413D-B501-A2857E607FA0}"/>
              </a:ext>
            </a:extLst>
          </p:cNvPr>
          <p:cNvSpPr>
            <a:spLocks noGrp="1"/>
          </p:cNvSpPr>
          <p:nvPr/>
        </p:nvSpPr>
        <p:spPr>
          <a:xfrm>
            <a:off x="5023485" y="7102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오류, 이전 결과 유지</a:t>
            </a:r>
          </a:p>
        </p:txBody>
      </p:sp>
      <p:sp>
        <p:nvSpPr>
          <p:cNvPr id="6647" name="Connector 6648">
            <a:extLst>
              <a:ext uri="{FF2B5EF4-FFF2-40B4-BE49-F238E27FC236}">
                <a16:creationId xmlns:a16="http://schemas.microsoft.com/office/drawing/2014/main" id="{30500C6C-1A31-466E-8872-24B7EC9A06C5}"/>
              </a:ext>
            </a:extLst>
          </p:cNvPr>
          <p:cNvSpPr>
            <a:spLocks noGrp="1"/>
          </p:cNvSpPr>
          <p:nvPr/>
        </p:nvSpPr>
        <p:spPr>
          <a:xfrm flipH="1">
            <a:off x="5093485" y="7327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49" name="Connector 6650">
            <a:extLst>
              <a:ext uri="{FF2B5EF4-FFF2-40B4-BE49-F238E27FC236}">
                <a16:creationId xmlns:a16="http://schemas.microsoft.com/office/drawing/2014/main" id="{CFDB327C-81A7-403E-9D69-4A576A9F4519}"/>
              </a:ext>
            </a:extLst>
          </p:cNvPr>
          <p:cNvSpPr>
            <a:spLocks noGrp="1"/>
          </p:cNvSpPr>
          <p:nvPr/>
        </p:nvSpPr>
        <p:spPr>
          <a:xfrm>
            <a:off x="10465585" y="768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1" name="Connector 6652">
            <a:extLst>
              <a:ext uri="{FF2B5EF4-FFF2-40B4-BE49-F238E27FC236}">
                <a16:creationId xmlns:a16="http://schemas.microsoft.com/office/drawing/2014/main" id="{7102981D-FCDB-4F44-B3A4-8D10221F3FDC}"/>
              </a:ext>
            </a:extLst>
          </p:cNvPr>
          <p:cNvSpPr>
            <a:spLocks noGrp="1"/>
          </p:cNvSpPr>
          <p:nvPr/>
        </p:nvSpPr>
        <p:spPr>
          <a:xfrm>
            <a:off x="10831345" y="768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3" name="Connector 6654">
            <a:extLst>
              <a:ext uri="{FF2B5EF4-FFF2-40B4-BE49-F238E27FC236}">
                <a16:creationId xmlns:a16="http://schemas.microsoft.com/office/drawing/2014/main" id="{479B8E56-94F7-477D-B225-96EF636BC6B8}"/>
              </a:ext>
            </a:extLst>
          </p:cNvPr>
          <p:cNvSpPr>
            <a:spLocks noGrp="1"/>
          </p:cNvSpPr>
          <p:nvPr/>
        </p:nvSpPr>
        <p:spPr>
          <a:xfrm flipH="1">
            <a:off x="10499875" y="786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55" name="TextBox 6656">
            <a:extLst>
              <a:ext uri="{FF2B5EF4-FFF2-40B4-BE49-F238E27FC236}">
                <a16:creationId xmlns:a16="http://schemas.microsoft.com/office/drawing/2014/main" id="{88D4858B-04F3-439C-91FB-67617914A0F0}"/>
              </a:ext>
            </a:extLst>
          </p:cNvPr>
          <p:cNvSpPr>
            <a:spLocks noGrp="1"/>
          </p:cNvSpPr>
          <p:nvPr/>
        </p:nvSpPr>
        <p:spPr>
          <a:xfrm>
            <a:off x="10922785" y="7462274"/>
            <a:ext cx="64008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계산 호출(→43쪽) · 대응 제안 생성 호출(→② 제안 생성)</a:t>
            </a:r>
          </a:p>
        </p:txBody>
      </p:sp>
      <p:sp>
        <p:nvSpPr>
          <p:cNvPr id="6657" name="TextBox 6658">
            <a:extLst>
              <a:ext uri="{FF2B5EF4-FFF2-40B4-BE49-F238E27FC236}">
                <a16:creationId xmlns:a16="http://schemas.microsoft.com/office/drawing/2014/main" id="{371E9F78-7E54-4059-A98A-F501DD1049EA}"/>
              </a:ext>
            </a:extLst>
          </p:cNvPr>
          <p:cNvSpPr>
            <a:spLocks noGrp="1"/>
          </p:cNvSpPr>
          <p:nvPr/>
        </p:nvSpPr>
        <p:spPr>
          <a:xfrm>
            <a:off x="7709535" y="7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P1~P8 새 버전 정보(GeoJSON)</a:t>
            </a:r>
          </a:p>
        </p:txBody>
      </p:sp>
      <p:sp>
        <p:nvSpPr>
          <p:cNvPr id="6659" name="Connector 6660">
            <a:extLst>
              <a:ext uri="{FF2B5EF4-FFF2-40B4-BE49-F238E27FC236}">
                <a16:creationId xmlns:a16="http://schemas.microsoft.com/office/drawing/2014/main" id="{30358059-FC27-49DF-9011-E6D76197A013}"/>
              </a:ext>
            </a:extLst>
          </p:cNvPr>
          <p:cNvSpPr>
            <a:spLocks noGrp="1"/>
          </p:cNvSpPr>
          <p:nvPr/>
        </p:nvSpPr>
        <p:spPr>
          <a:xfrm flipH="1">
            <a:off x="7779535" y="813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61" name="TextBox 6662">
            <a:extLst>
              <a:ext uri="{FF2B5EF4-FFF2-40B4-BE49-F238E27FC236}">
                <a16:creationId xmlns:a16="http://schemas.microsoft.com/office/drawing/2014/main" id="{6AB8792D-0CB8-4B66-810C-4B31872D9386}"/>
              </a:ext>
            </a:extLst>
          </p:cNvPr>
          <p:cNvSpPr>
            <a:spLocks noGrp="1"/>
          </p:cNvSpPr>
          <p:nvPr/>
        </p:nvSpPr>
        <p:spPr>
          <a:xfrm>
            <a:off x="5023485" y="8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예측 결과 전달</a:t>
            </a:r>
          </a:p>
        </p:txBody>
      </p:sp>
      <p:sp>
        <p:nvSpPr>
          <p:cNvPr id="6663" name="Connector 6664">
            <a:extLst>
              <a:ext uri="{FF2B5EF4-FFF2-40B4-BE49-F238E27FC236}">
                <a16:creationId xmlns:a16="http://schemas.microsoft.com/office/drawing/2014/main" id="{354A549D-FC7E-40F8-8E61-097B0A9F4171}"/>
              </a:ext>
            </a:extLst>
          </p:cNvPr>
          <p:cNvSpPr>
            <a:spLocks noGrp="1"/>
          </p:cNvSpPr>
          <p:nvPr/>
        </p:nvSpPr>
        <p:spPr>
          <a:xfrm flipH="1">
            <a:off x="5093485" y="838227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65" name="TextBox 6666">
            <a:extLst>
              <a:ext uri="{FF2B5EF4-FFF2-40B4-BE49-F238E27FC236}">
                <a16:creationId xmlns:a16="http://schemas.microsoft.com/office/drawing/2014/main" id="{7491537D-3592-4145-8CA0-57F5797AAA33}"/>
              </a:ext>
            </a:extLst>
          </p:cNvPr>
          <p:cNvSpPr>
            <a:spLocks noGrp="1"/>
          </p:cNvSpPr>
          <p:nvPr/>
        </p:nvSpPr>
        <p:spPr>
          <a:xfrm>
            <a:off x="2337435" y="8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진행단계·화선 갱신</a:t>
            </a:r>
          </a:p>
        </p:txBody>
      </p:sp>
      <p:sp>
        <p:nvSpPr>
          <p:cNvPr id="6667" name="Connector 6668">
            <a:extLst>
              <a:ext uri="{FF2B5EF4-FFF2-40B4-BE49-F238E27FC236}">
                <a16:creationId xmlns:a16="http://schemas.microsoft.com/office/drawing/2014/main" id="{625208B1-DAC6-4ABC-ABCE-6DB2CC36B0E8}"/>
              </a:ext>
            </a:extLst>
          </p:cNvPr>
          <p:cNvSpPr>
            <a:spLocks noGrp="1"/>
          </p:cNvSpPr>
          <p:nvPr/>
        </p:nvSpPr>
        <p:spPr>
          <a:xfrm flipH="1">
            <a:off x="2337435" y="86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57" name="Rectangle 6558">
            <a:extLst>
              <a:ext uri="{FF2B5EF4-FFF2-40B4-BE49-F238E27FC236}">
                <a16:creationId xmlns:a16="http://schemas.microsoft.com/office/drawing/2014/main" id="{720FB4B2-C72B-4727-8D62-78063B22B6D0}"/>
              </a:ext>
            </a:extLst>
          </p:cNvPr>
          <p:cNvSpPr>
            <a:spLocks noGrp="1"/>
          </p:cNvSpPr>
          <p:nvPr/>
        </p:nvSpPr>
        <p:spPr>
          <a:xfrm>
            <a:off x="983665" y="6632274"/>
            <a:ext cx="16137790" cy="211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559" name="Rectangle 6560">
            <a:extLst>
              <a:ext uri="{FF2B5EF4-FFF2-40B4-BE49-F238E27FC236}">
                <a16:creationId xmlns:a16="http://schemas.microsoft.com/office/drawing/2014/main" id="{A1BAFF88-3A1A-4E12-A953-8EC1C1DA62FF}"/>
              </a:ext>
            </a:extLst>
          </p:cNvPr>
          <p:cNvSpPr>
            <a:spLocks noGrp="1"/>
          </p:cNvSpPr>
          <p:nvPr/>
        </p:nvSpPr>
        <p:spPr>
          <a:xfrm>
            <a:off x="983665" y="663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561" name="TextBox 6562">
            <a:extLst>
              <a:ext uri="{FF2B5EF4-FFF2-40B4-BE49-F238E27FC236}">
                <a16:creationId xmlns:a16="http://schemas.microsoft.com/office/drawing/2014/main" id="{E664813A-7364-4922-BC13-465B710743F3}"/>
              </a:ext>
            </a:extLst>
          </p:cNvPr>
          <p:cNvSpPr>
            <a:spLocks noGrp="1"/>
          </p:cNvSpPr>
          <p:nvPr/>
        </p:nvSpPr>
        <p:spPr>
          <a:xfrm>
            <a:off x="1792325" y="664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[실행 실패]</a:t>
            </a:r>
          </a:p>
        </p:txBody>
      </p:sp>
      <p:sp>
        <p:nvSpPr>
          <p:cNvPr id="6563" name="Connector 6564">
            <a:extLst>
              <a:ext uri="{FF2B5EF4-FFF2-40B4-BE49-F238E27FC236}">
                <a16:creationId xmlns:a16="http://schemas.microsoft.com/office/drawing/2014/main" id="{78AD1645-73D1-47B9-AFE2-30701054FBD9}"/>
              </a:ext>
            </a:extLst>
          </p:cNvPr>
          <p:cNvSpPr>
            <a:spLocks noGrp="1"/>
          </p:cNvSpPr>
          <p:nvPr/>
        </p:nvSpPr>
        <p:spPr>
          <a:xfrm>
            <a:off x="983665" y="7397274"/>
            <a:ext cx="1613779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65" name="TextBox 6566">
            <a:extLst>
              <a:ext uri="{FF2B5EF4-FFF2-40B4-BE49-F238E27FC236}">
                <a16:creationId xmlns:a16="http://schemas.microsoft.com/office/drawing/2014/main" id="{65B2D241-7094-4D89-9A7E-CA301B6A941E}"/>
              </a:ext>
            </a:extLst>
          </p:cNvPr>
          <p:cNvSpPr>
            <a:spLocks noGrp="1"/>
          </p:cNvSpPr>
          <p:nvPr/>
        </p:nvSpPr>
        <p:spPr>
          <a:xfrm>
            <a:off x="1097965" y="741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[성공]</a:t>
            </a:r>
          </a:p>
        </p:txBody>
      </p:sp>
    </p:spTree>
    <p:extLst>
      <p:ext uri="{BB962C8B-B14F-4D97-AF65-F5344CB8AC3E}">
        <p14:creationId xmlns:p14="http://schemas.microsoft.com/office/powerpoint/2010/main" val="646353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81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81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81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49380BE2-71B0-4E4B-9BDC-96239E490B1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062B3605-3492-4B4D-8057-55F65B95172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→ 대응 제안(진화 · 대피) 생성 ②  (UC-PRED-01)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42</a:t>
            </a:fld>
            <a:endParaRPr/>
          </a:p>
        </p:txBody>
      </p:sp>
      <p:sp>
        <p:nvSpPr>
          <p:cNvPr id="6787" name="Rounded Rectangle 6788">
            <a:extLst>
              <a:ext uri="{FF2B5EF4-FFF2-40B4-BE49-F238E27FC236}">
                <a16:creationId xmlns:a16="http://schemas.microsoft.com/office/drawing/2014/main" id="{B5AB7A8E-1B4C-46CE-9AA1-97BD7DF0388A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오케스트레이터</a:t>
            </a:r>
          </a:p>
        </p:txBody>
      </p:sp>
      <p:sp>
        <p:nvSpPr>
          <p:cNvPr id="6789" name="Connector 6790">
            <a:extLst>
              <a:ext uri="{FF2B5EF4-FFF2-40B4-BE49-F238E27FC236}">
                <a16:creationId xmlns:a16="http://schemas.microsoft.com/office/drawing/2014/main" id="{CAE728A0-257F-49BA-8C0C-04E897B95964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1" name="Rounded Rectangle 6792">
            <a:extLst>
              <a:ext uri="{FF2B5EF4-FFF2-40B4-BE49-F238E27FC236}">
                <a16:creationId xmlns:a16="http://schemas.microsoft.com/office/drawing/2014/main" id="{EB406630-0F10-4099-9FBF-DDEF6D040B54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규칙 엔진</a:t>
            </a:r>
          </a:p>
        </p:txBody>
      </p:sp>
      <p:sp>
        <p:nvSpPr>
          <p:cNvPr id="6793" name="Connector 6794">
            <a:extLst>
              <a:ext uri="{FF2B5EF4-FFF2-40B4-BE49-F238E27FC236}">
                <a16:creationId xmlns:a16="http://schemas.microsoft.com/office/drawing/2014/main" id="{D9ECB8F4-12DA-4616-B746-40D04FAFE2DD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5" name="Rounded Rectangle 6796">
            <a:extLst>
              <a:ext uri="{FF2B5EF4-FFF2-40B4-BE49-F238E27FC236}">
                <a16:creationId xmlns:a16="http://schemas.microsoft.com/office/drawing/2014/main" id="{C8A88F59-FBA2-49CD-8956-E5BC6AD67164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검색</a:t>
            </a:r>
          </a:p>
        </p:txBody>
      </p:sp>
      <p:sp>
        <p:nvSpPr>
          <p:cNvPr id="6797" name="Connector 6798">
            <a:extLst>
              <a:ext uri="{FF2B5EF4-FFF2-40B4-BE49-F238E27FC236}">
                <a16:creationId xmlns:a16="http://schemas.microsoft.com/office/drawing/2014/main" id="{8FED8BF2-96B2-4079-BC86-CBD82BCB825C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99" name="Rounded Rectangle 6800">
            <a:extLst>
              <a:ext uri="{FF2B5EF4-FFF2-40B4-BE49-F238E27FC236}">
                <a16:creationId xmlns:a16="http://schemas.microsoft.com/office/drawing/2014/main" id="{2B3BF821-DDEB-479F-9A77-AAF6BD499B39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모델(EXAONE)</a:t>
            </a:r>
          </a:p>
        </p:txBody>
      </p:sp>
      <p:sp>
        <p:nvSpPr>
          <p:cNvPr id="6801" name="Connector 6802">
            <a:extLst>
              <a:ext uri="{FF2B5EF4-FFF2-40B4-BE49-F238E27FC236}">
                <a16:creationId xmlns:a16="http://schemas.microsoft.com/office/drawing/2014/main" id="{6A411674-2478-40A4-B500-E9C03E8FD414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03" name="Rounded Rectangle 6804">
            <a:extLst>
              <a:ext uri="{FF2B5EF4-FFF2-40B4-BE49-F238E27FC236}">
                <a16:creationId xmlns:a16="http://schemas.microsoft.com/office/drawing/2014/main" id="{EC9D1853-307F-4017-93A6-3870D14A7A0A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805" name="Connector 6806">
            <a:extLst>
              <a:ext uri="{FF2B5EF4-FFF2-40B4-BE49-F238E27FC236}">
                <a16:creationId xmlns:a16="http://schemas.microsoft.com/office/drawing/2014/main" id="{93A18DA5-6A1B-4C90-9883-0F54C343DA02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807" name="Rounded Rectangle 6808">
            <a:extLst>
              <a:ext uri="{FF2B5EF4-FFF2-40B4-BE49-F238E27FC236}">
                <a16:creationId xmlns:a16="http://schemas.microsoft.com/office/drawing/2014/main" id="{D895BA53-6738-4FD2-9FF7-7FD7B46ECD32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809" name="Connector 6810">
            <a:extLst>
              <a:ext uri="{FF2B5EF4-FFF2-40B4-BE49-F238E27FC236}">
                <a16:creationId xmlns:a16="http://schemas.microsoft.com/office/drawing/2014/main" id="{F69A7927-51DC-4590-98F5-528009967EE0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99" name="Rectangle 6700">
            <a:extLst>
              <a:ext uri="{FF2B5EF4-FFF2-40B4-BE49-F238E27FC236}">
                <a16:creationId xmlns:a16="http://schemas.microsoft.com/office/drawing/2014/main" id="{253CEDBD-F306-496B-AA7E-A8E647DF6BA5}"/>
              </a:ext>
            </a:extLst>
          </p:cNvPr>
          <p:cNvSpPr>
            <a:spLocks noGrp="1"/>
          </p:cNvSpPr>
          <p:nvPr/>
        </p:nvSpPr>
        <p:spPr>
          <a:xfrm>
            <a:off x="13011635" y="363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1" name="Rectangle 6702">
            <a:extLst>
              <a:ext uri="{FF2B5EF4-FFF2-40B4-BE49-F238E27FC236}">
                <a16:creationId xmlns:a16="http://schemas.microsoft.com/office/drawing/2014/main" id="{5F2BF7DF-ADB1-44C4-B8E0-E536F02E5177}"/>
              </a:ext>
            </a:extLst>
          </p:cNvPr>
          <p:cNvSpPr>
            <a:spLocks noGrp="1"/>
          </p:cNvSpPr>
          <p:nvPr/>
        </p:nvSpPr>
        <p:spPr>
          <a:xfrm>
            <a:off x="4953485" y="3382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3" name="Rectangle 6704">
            <a:extLst>
              <a:ext uri="{FF2B5EF4-FFF2-40B4-BE49-F238E27FC236}">
                <a16:creationId xmlns:a16="http://schemas.microsoft.com/office/drawing/2014/main" id="{2835EB11-7CC4-4266-B003-5DFD59A7FC52}"/>
              </a:ext>
            </a:extLst>
          </p:cNvPr>
          <p:cNvSpPr>
            <a:spLocks noGrp="1"/>
          </p:cNvSpPr>
          <p:nvPr/>
        </p:nvSpPr>
        <p:spPr>
          <a:xfrm>
            <a:off x="4953485" y="438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5" name="Rectangle 6706">
            <a:extLst>
              <a:ext uri="{FF2B5EF4-FFF2-40B4-BE49-F238E27FC236}">
                <a16:creationId xmlns:a16="http://schemas.microsoft.com/office/drawing/2014/main" id="{EDBDDB3D-5BDB-47EF-B1FA-5B8A0DCB5EE8}"/>
              </a:ext>
            </a:extLst>
          </p:cNvPr>
          <p:cNvSpPr>
            <a:spLocks noGrp="1"/>
          </p:cNvSpPr>
          <p:nvPr/>
        </p:nvSpPr>
        <p:spPr>
          <a:xfrm>
            <a:off x="10325585" y="51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7" name="Rectangle 6708">
            <a:extLst>
              <a:ext uri="{FF2B5EF4-FFF2-40B4-BE49-F238E27FC236}">
                <a16:creationId xmlns:a16="http://schemas.microsoft.com/office/drawing/2014/main" id="{D0532B89-BA6D-4660-84C9-CDA05959B0A3}"/>
              </a:ext>
            </a:extLst>
          </p:cNvPr>
          <p:cNvSpPr>
            <a:spLocks noGrp="1"/>
          </p:cNvSpPr>
          <p:nvPr/>
        </p:nvSpPr>
        <p:spPr>
          <a:xfrm>
            <a:off x="7639535" y="56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09" name="Rectangle 6710">
            <a:extLst>
              <a:ext uri="{FF2B5EF4-FFF2-40B4-BE49-F238E27FC236}">
                <a16:creationId xmlns:a16="http://schemas.microsoft.com/office/drawing/2014/main" id="{FFF8B38D-009C-4A18-A420-1A7ADA47E8BB}"/>
              </a:ext>
            </a:extLst>
          </p:cNvPr>
          <p:cNvSpPr>
            <a:spLocks noGrp="1"/>
          </p:cNvSpPr>
          <p:nvPr/>
        </p:nvSpPr>
        <p:spPr>
          <a:xfrm>
            <a:off x="10325585" y="6102274"/>
            <a:ext cx="140000" cy="1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1" name="Rectangle 6712">
            <a:extLst>
              <a:ext uri="{FF2B5EF4-FFF2-40B4-BE49-F238E27FC236}">
                <a16:creationId xmlns:a16="http://schemas.microsoft.com/office/drawing/2014/main" id="{BB907714-D982-417E-83A7-A20F6A26A8B2}"/>
              </a:ext>
            </a:extLst>
          </p:cNvPr>
          <p:cNvSpPr>
            <a:spLocks noGrp="1"/>
          </p:cNvSpPr>
          <p:nvPr/>
        </p:nvSpPr>
        <p:spPr>
          <a:xfrm>
            <a:off x="10325585" y="649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3" name="Rectangle 6714">
            <a:extLst>
              <a:ext uri="{FF2B5EF4-FFF2-40B4-BE49-F238E27FC236}">
                <a16:creationId xmlns:a16="http://schemas.microsoft.com/office/drawing/2014/main" id="{1FFBE4C7-18FC-447D-BCCF-89DBAC50E68E}"/>
              </a:ext>
            </a:extLst>
          </p:cNvPr>
          <p:cNvSpPr>
            <a:spLocks noGrp="1"/>
          </p:cNvSpPr>
          <p:nvPr/>
        </p:nvSpPr>
        <p:spPr>
          <a:xfrm>
            <a:off x="2267435" y="6997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5" name="Rectangle 6716">
            <a:extLst>
              <a:ext uri="{FF2B5EF4-FFF2-40B4-BE49-F238E27FC236}">
                <a16:creationId xmlns:a16="http://schemas.microsoft.com/office/drawing/2014/main" id="{25D811D6-C348-4729-A7FE-3E0F8E5E0E34}"/>
              </a:ext>
            </a:extLst>
          </p:cNvPr>
          <p:cNvSpPr>
            <a:spLocks noGrp="1"/>
          </p:cNvSpPr>
          <p:nvPr/>
        </p:nvSpPr>
        <p:spPr>
          <a:xfrm>
            <a:off x="15697685" y="769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7" name="Rectangle 6718">
            <a:extLst>
              <a:ext uri="{FF2B5EF4-FFF2-40B4-BE49-F238E27FC236}">
                <a16:creationId xmlns:a16="http://schemas.microsoft.com/office/drawing/2014/main" id="{800A600D-852B-412E-BA51-C0358EC35F89}"/>
              </a:ext>
            </a:extLst>
          </p:cNvPr>
          <p:cNvSpPr>
            <a:spLocks noGrp="1"/>
          </p:cNvSpPr>
          <p:nvPr/>
        </p:nvSpPr>
        <p:spPr>
          <a:xfrm>
            <a:off x="13011635" y="744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719" name="TextBox 6720">
            <a:extLst>
              <a:ext uri="{FF2B5EF4-FFF2-40B4-BE49-F238E27FC236}">
                <a16:creationId xmlns:a16="http://schemas.microsoft.com/office/drawing/2014/main" id="{54D67937-B5A3-49F8-9432-5494E4F31B4F}"/>
              </a:ext>
            </a:extLst>
          </p:cNvPr>
          <p:cNvSpPr>
            <a:spLocks noGrp="1"/>
          </p:cNvSpPr>
          <p:nvPr/>
        </p:nvSpPr>
        <p:spPr>
          <a:xfrm>
            <a:off x="2337435" y="3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evaluate(예측·현재 상황·정정 값)</a:t>
            </a:r>
          </a:p>
        </p:txBody>
      </p:sp>
      <p:sp>
        <p:nvSpPr>
          <p:cNvPr id="6721" name="Connector 6722">
            <a:extLst>
              <a:ext uri="{FF2B5EF4-FFF2-40B4-BE49-F238E27FC236}">
                <a16:creationId xmlns:a16="http://schemas.microsoft.com/office/drawing/2014/main" id="{FB82C988-4114-48C6-9953-D221C00B7213}"/>
              </a:ext>
            </a:extLst>
          </p:cNvPr>
          <p:cNvSpPr>
            <a:spLocks noGrp="1"/>
          </p:cNvSpPr>
          <p:nvPr/>
        </p:nvSpPr>
        <p:spPr>
          <a:xfrm>
            <a:off x="2337435" y="3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23" name="TextBox 6724">
            <a:extLst>
              <a:ext uri="{FF2B5EF4-FFF2-40B4-BE49-F238E27FC236}">
                <a16:creationId xmlns:a16="http://schemas.microsoft.com/office/drawing/2014/main" id="{ED57F3E6-A94F-43F9-81BF-4974E185215F}"/>
              </a:ext>
            </a:extLst>
          </p:cNvPr>
          <p:cNvSpPr>
            <a:spLocks noGrp="1"/>
          </p:cNvSpPr>
          <p:nvPr/>
        </p:nvSpPr>
        <p:spPr>
          <a:xfrm>
            <a:off x="5023485" y="340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공간 교차·도달 슬라이스</a:t>
            </a:r>
          </a:p>
        </p:txBody>
      </p:sp>
      <p:sp>
        <p:nvSpPr>
          <p:cNvPr id="6725" name="Connector 6726">
            <a:extLst>
              <a:ext uri="{FF2B5EF4-FFF2-40B4-BE49-F238E27FC236}">
                <a16:creationId xmlns:a16="http://schemas.microsoft.com/office/drawing/2014/main" id="{0409B77A-3D49-434F-9CFC-D936B9FD2605}"/>
              </a:ext>
            </a:extLst>
          </p:cNvPr>
          <p:cNvSpPr>
            <a:spLocks noGrp="1"/>
          </p:cNvSpPr>
          <p:nvPr/>
        </p:nvSpPr>
        <p:spPr>
          <a:xfrm>
            <a:off x="5093485" y="3632274"/>
            <a:ext cx="791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27" name="TextBox 6728">
            <a:extLst>
              <a:ext uri="{FF2B5EF4-FFF2-40B4-BE49-F238E27FC236}">
                <a16:creationId xmlns:a16="http://schemas.microsoft.com/office/drawing/2014/main" id="{984E2D0C-9E41-4A4C-97D3-B06865E5F739}"/>
              </a:ext>
            </a:extLst>
          </p:cNvPr>
          <p:cNvSpPr>
            <a:spLocks noGrp="1"/>
          </p:cNvSpPr>
          <p:nvPr/>
        </p:nvSpPr>
        <p:spPr>
          <a:xfrm>
            <a:off x="5023485" y="365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교차 결과</a:t>
            </a:r>
          </a:p>
        </p:txBody>
      </p:sp>
      <p:sp>
        <p:nvSpPr>
          <p:cNvPr id="6729" name="Connector 6730">
            <a:extLst>
              <a:ext uri="{FF2B5EF4-FFF2-40B4-BE49-F238E27FC236}">
                <a16:creationId xmlns:a16="http://schemas.microsoft.com/office/drawing/2014/main" id="{97629D69-D823-405C-A092-DC7F76382D2F}"/>
              </a:ext>
            </a:extLst>
          </p:cNvPr>
          <p:cNvSpPr>
            <a:spLocks noGrp="1"/>
          </p:cNvSpPr>
          <p:nvPr/>
        </p:nvSpPr>
        <p:spPr>
          <a:xfrm flipH="1">
            <a:off x="5093485" y="3882274"/>
            <a:ext cx="791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1" name="TextBox 6732">
            <a:extLst>
              <a:ext uri="{FF2B5EF4-FFF2-40B4-BE49-F238E27FC236}">
                <a16:creationId xmlns:a16="http://schemas.microsoft.com/office/drawing/2014/main" id="{E74076C8-9E09-4136-A8A6-CC31297958E7}"/>
              </a:ext>
            </a:extLst>
          </p:cNvPr>
          <p:cNvSpPr>
            <a:spLocks noGrp="1"/>
          </p:cNvSpPr>
          <p:nvPr/>
        </p:nvSpPr>
        <p:spPr>
          <a:xfrm>
            <a:off x="2337435" y="39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판정 값(단계·위험구역·배정 등)</a:t>
            </a:r>
          </a:p>
        </p:txBody>
      </p:sp>
      <p:sp>
        <p:nvSpPr>
          <p:cNvPr id="6733" name="Connector 6734">
            <a:extLst>
              <a:ext uri="{FF2B5EF4-FFF2-40B4-BE49-F238E27FC236}">
                <a16:creationId xmlns:a16="http://schemas.microsoft.com/office/drawing/2014/main" id="{FCDC8C96-1A7C-4607-985B-26CFB027E804}"/>
              </a:ext>
            </a:extLst>
          </p:cNvPr>
          <p:cNvSpPr>
            <a:spLocks noGrp="1"/>
          </p:cNvSpPr>
          <p:nvPr/>
        </p:nvSpPr>
        <p:spPr>
          <a:xfrm flipH="1">
            <a:off x="2337435" y="41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5" name="TextBox 6736">
            <a:extLst>
              <a:ext uri="{FF2B5EF4-FFF2-40B4-BE49-F238E27FC236}">
                <a16:creationId xmlns:a16="http://schemas.microsoft.com/office/drawing/2014/main" id="{408CEDF7-2787-4140-BA2D-DE129BD2C49B}"/>
              </a:ext>
            </a:extLst>
          </p:cNvPr>
          <p:cNvSpPr>
            <a:spLocks noGrp="1"/>
          </p:cNvSpPr>
          <p:nvPr/>
        </p:nvSpPr>
        <p:spPr>
          <a:xfrm>
            <a:off x="2337435" y="415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judge_fire() · judge_evac()</a:t>
            </a:r>
          </a:p>
        </p:txBody>
      </p:sp>
      <p:sp>
        <p:nvSpPr>
          <p:cNvPr id="6737" name="Connector 6738">
            <a:extLst>
              <a:ext uri="{FF2B5EF4-FFF2-40B4-BE49-F238E27FC236}">
                <a16:creationId xmlns:a16="http://schemas.microsoft.com/office/drawing/2014/main" id="{A9967304-9679-4D1D-85DE-8FB226075354}"/>
              </a:ext>
            </a:extLst>
          </p:cNvPr>
          <p:cNvSpPr>
            <a:spLocks noGrp="1"/>
          </p:cNvSpPr>
          <p:nvPr/>
        </p:nvSpPr>
        <p:spPr>
          <a:xfrm>
            <a:off x="2337435" y="4382274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39" name="TextBox 6740">
            <a:extLst>
              <a:ext uri="{FF2B5EF4-FFF2-40B4-BE49-F238E27FC236}">
                <a16:creationId xmlns:a16="http://schemas.microsoft.com/office/drawing/2014/main" id="{468EC29C-B9ED-4C08-84DC-DE487EB4E889}"/>
              </a:ext>
            </a:extLst>
          </p:cNvPr>
          <p:cNvSpPr>
            <a:spLocks noGrp="1"/>
          </p:cNvSpPr>
          <p:nvPr/>
        </p:nvSpPr>
        <p:spPr>
          <a:xfrm>
            <a:off x="2337435" y="440727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발동 항목(S1~S7 · E1~E7, 최대 14)</a:t>
            </a:r>
          </a:p>
        </p:txBody>
      </p:sp>
      <p:sp>
        <p:nvSpPr>
          <p:cNvPr id="6741" name="Connector 6742">
            <a:extLst>
              <a:ext uri="{FF2B5EF4-FFF2-40B4-BE49-F238E27FC236}">
                <a16:creationId xmlns:a16="http://schemas.microsoft.com/office/drawing/2014/main" id="{6EF45B16-AC8D-486A-B1FA-BB161E1C6061}"/>
              </a:ext>
            </a:extLst>
          </p:cNvPr>
          <p:cNvSpPr>
            <a:spLocks noGrp="1"/>
          </p:cNvSpPr>
          <p:nvPr/>
        </p:nvSpPr>
        <p:spPr>
          <a:xfrm flipH="1">
            <a:off x="2337435" y="4632274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43" name="TextBox 6744">
            <a:extLst>
              <a:ext uri="{FF2B5EF4-FFF2-40B4-BE49-F238E27FC236}">
                <a16:creationId xmlns:a16="http://schemas.microsoft.com/office/drawing/2014/main" id="{15597171-8C32-4F45-9BA6-FBB38EA55ED0}"/>
              </a:ext>
            </a:extLst>
          </p:cNvPr>
          <p:cNvSpPr>
            <a:spLocks noGrp="1"/>
          </p:cNvSpPr>
          <p:nvPr/>
        </p:nvSpPr>
        <p:spPr>
          <a:xfrm>
            <a:off x="2337435" y="487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특화 질문 작성(A1)</a:t>
            </a:r>
          </a:p>
        </p:txBody>
      </p:sp>
      <p:sp>
        <p:nvSpPr>
          <p:cNvPr id="6745" name="Connector 6746">
            <a:extLst>
              <a:ext uri="{FF2B5EF4-FFF2-40B4-BE49-F238E27FC236}">
                <a16:creationId xmlns:a16="http://schemas.microsoft.com/office/drawing/2014/main" id="{B6E37598-984D-42D8-B269-69AF0114FBAB}"/>
              </a:ext>
            </a:extLst>
          </p:cNvPr>
          <p:cNvSpPr>
            <a:spLocks noGrp="1"/>
          </p:cNvSpPr>
          <p:nvPr/>
        </p:nvSpPr>
        <p:spPr>
          <a:xfrm>
            <a:off x="2337435" y="5102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47" name="TextBox 6748">
            <a:extLst>
              <a:ext uri="{FF2B5EF4-FFF2-40B4-BE49-F238E27FC236}">
                <a16:creationId xmlns:a16="http://schemas.microsoft.com/office/drawing/2014/main" id="{15B7CFAF-C52F-419B-8394-04C59C440CC2}"/>
              </a:ext>
            </a:extLst>
          </p:cNvPr>
          <p:cNvSpPr>
            <a:spLocks noGrp="1"/>
          </p:cNvSpPr>
          <p:nvPr/>
        </p:nvSpPr>
        <p:spPr>
          <a:xfrm>
            <a:off x="2337435" y="512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 텍스트</a:t>
            </a:r>
          </a:p>
        </p:txBody>
      </p:sp>
      <p:sp>
        <p:nvSpPr>
          <p:cNvPr id="6749" name="Connector 6750">
            <a:extLst>
              <a:ext uri="{FF2B5EF4-FFF2-40B4-BE49-F238E27FC236}">
                <a16:creationId xmlns:a16="http://schemas.microsoft.com/office/drawing/2014/main" id="{10C6ED46-7705-4BA4-820C-30CBA2EA8265}"/>
              </a:ext>
            </a:extLst>
          </p:cNvPr>
          <p:cNvSpPr>
            <a:spLocks noGrp="1"/>
          </p:cNvSpPr>
          <p:nvPr/>
        </p:nvSpPr>
        <p:spPr>
          <a:xfrm flipH="1">
            <a:off x="2337435" y="5352274"/>
            <a:ext cx="798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1" name="TextBox 6752">
            <a:extLst>
              <a:ext uri="{FF2B5EF4-FFF2-40B4-BE49-F238E27FC236}">
                <a16:creationId xmlns:a16="http://schemas.microsoft.com/office/drawing/2014/main" id="{74F59FC8-4AE4-4A0E-8068-6451077F7524}"/>
              </a:ext>
            </a:extLst>
          </p:cNvPr>
          <p:cNvSpPr>
            <a:spLocks noGrp="1"/>
          </p:cNvSpPr>
          <p:nvPr/>
        </p:nvSpPr>
        <p:spPr>
          <a:xfrm>
            <a:off x="2337435" y="537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search(질문, 단계·항목 필터, k=K)</a:t>
            </a:r>
          </a:p>
        </p:txBody>
      </p:sp>
      <p:sp>
        <p:nvSpPr>
          <p:cNvPr id="6753" name="Connector 6754">
            <a:extLst>
              <a:ext uri="{FF2B5EF4-FFF2-40B4-BE49-F238E27FC236}">
                <a16:creationId xmlns:a16="http://schemas.microsoft.com/office/drawing/2014/main" id="{74DFA5A4-EDAE-4136-B369-0F80402C205D}"/>
              </a:ext>
            </a:extLst>
          </p:cNvPr>
          <p:cNvSpPr>
            <a:spLocks noGrp="1"/>
          </p:cNvSpPr>
          <p:nvPr/>
        </p:nvSpPr>
        <p:spPr>
          <a:xfrm>
            <a:off x="2337435" y="5602274"/>
            <a:ext cx="530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5" name="TextBox 6756">
            <a:extLst>
              <a:ext uri="{FF2B5EF4-FFF2-40B4-BE49-F238E27FC236}">
                <a16:creationId xmlns:a16="http://schemas.microsoft.com/office/drawing/2014/main" id="{FC40FCE7-1BBB-42A2-8060-12BD54BE1CAB}"/>
              </a:ext>
            </a:extLst>
          </p:cNvPr>
          <p:cNvSpPr>
            <a:spLocks noGrp="1"/>
          </p:cNvSpPr>
          <p:nvPr/>
        </p:nvSpPr>
        <p:spPr>
          <a:xfrm>
            <a:off x="2337435" y="5627274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청크 K개</a:t>
            </a:r>
          </a:p>
        </p:txBody>
      </p:sp>
      <p:sp>
        <p:nvSpPr>
          <p:cNvPr id="6757" name="Connector 6758">
            <a:extLst>
              <a:ext uri="{FF2B5EF4-FFF2-40B4-BE49-F238E27FC236}">
                <a16:creationId xmlns:a16="http://schemas.microsoft.com/office/drawing/2014/main" id="{ECFD2835-C990-4EA0-920C-662ED09C8C30}"/>
              </a:ext>
            </a:extLst>
          </p:cNvPr>
          <p:cNvSpPr>
            <a:spLocks noGrp="1"/>
          </p:cNvSpPr>
          <p:nvPr/>
        </p:nvSpPr>
        <p:spPr>
          <a:xfrm flipH="1">
            <a:off x="2337435" y="5852274"/>
            <a:ext cx="530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59" name="TextBox 6760">
            <a:extLst>
              <a:ext uri="{FF2B5EF4-FFF2-40B4-BE49-F238E27FC236}">
                <a16:creationId xmlns:a16="http://schemas.microsoft.com/office/drawing/2014/main" id="{1A72ECC4-63E6-4FAA-9E48-09D4E9473D28}"/>
              </a:ext>
            </a:extLst>
          </p:cNvPr>
          <p:cNvSpPr>
            <a:spLocks noGrp="1"/>
          </p:cNvSpPr>
          <p:nvPr/>
        </p:nvSpPr>
        <p:spPr>
          <a:xfrm>
            <a:off x="2337435" y="5877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인용 답변(A2)</a:t>
            </a:r>
          </a:p>
        </p:txBody>
      </p:sp>
      <p:sp>
        <p:nvSpPr>
          <p:cNvPr id="6761" name="Connector 6762">
            <a:extLst>
              <a:ext uri="{FF2B5EF4-FFF2-40B4-BE49-F238E27FC236}">
                <a16:creationId xmlns:a16="http://schemas.microsoft.com/office/drawing/2014/main" id="{DE5475BB-A32B-4ABE-A656-F8EC4A49628D}"/>
              </a:ext>
            </a:extLst>
          </p:cNvPr>
          <p:cNvSpPr>
            <a:spLocks noGrp="1"/>
          </p:cNvSpPr>
          <p:nvPr/>
        </p:nvSpPr>
        <p:spPr>
          <a:xfrm>
            <a:off x="2337435" y="6102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63" name="TextBox 6764">
            <a:extLst>
              <a:ext uri="{FF2B5EF4-FFF2-40B4-BE49-F238E27FC236}">
                <a16:creationId xmlns:a16="http://schemas.microsoft.com/office/drawing/2014/main" id="{6D345308-909C-4B8D-A44C-193781150B6B}"/>
              </a:ext>
            </a:extLst>
          </p:cNvPr>
          <p:cNvSpPr>
            <a:spLocks noGrp="1"/>
          </p:cNvSpPr>
          <p:nvPr/>
        </p:nvSpPr>
        <p:spPr>
          <a:xfrm>
            <a:off x="2337435" y="627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충돌 검사(A3) · 제안서 종합(A4)</a:t>
            </a:r>
          </a:p>
        </p:txBody>
      </p:sp>
      <p:sp>
        <p:nvSpPr>
          <p:cNvPr id="6765" name="Connector 6766">
            <a:extLst>
              <a:ext uri="{FF2B5EF4-FFF2-40B4-BE49-F238E27FC236}">
                <a16:creationId xmlns:a16="http://schemas.microsoft.com/office/drawing/2014/main" id="{B70F639D-A6FE-4B30-9462-A09638586157}"/>
              </a:ext>
            </a:extLst>
          </p:cNvPr>
          <p:cNvSpPr>
            <a:spLocks noGrp="1"/>
          </p:cNvSpPr>
          <p:nvPr/>
        </p:nvSpPr>
        <p:spPr>
          <a:xfrm>
            <a:off x="2337435" y="6497274"/>
            <a:ext cx="79881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67" name="TextBox 6768">
            <a:extLst>
              <a:ext uri="{FF2B5EF4-FFF2-40B4-BE49-F238E27FC236}">
                <a16:creationId xmlns:a16="http://schemas.microsoft.com/office/drawing/2014/main" id="{F33AAA96-CBD9-4872-BDC6-45344221CD20}"/>
              </a:ext>
            </a:extLst>
          </p:cNvPr>
          <p:cNvSpPr>
            <a:spLocks noGrp="1"/>
          </p:cNvSpPr>
          <p:nvPr/>
        </p:nvSpPr>
        <p:spPr>
          <a:xfrm>
            <a:off x="2337435" y="6522274"/>
            <a:ext cx="80581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문장 · 근거 번호</a:t>
            </a:r>
          </a:p>
        </p:txBody>
      </p:sp>
      <p:sp>
        <p:nvSpPr>
          <p:cNvPr id="6769" name="Connector 6770">
            <a:extLst>
              <a:ext uri="{FF2B5EF4-FFF2-40B4-BE49-F238E27FC236}">
                <a16:creationId xmlns:a16="http://schemas.microsoft.com/office/drawing/2014/main" id="{1C066385-AA6D-48E7-9FA0-8CE7C0DA2804}"/>
              </a:ext>
            </a:extLst>
          </p:cNvPr>
          <p:cNvSpPr>
            <a:spLocks noGrp="1"/>
          </p:cNvSpPr>
          <p:nvPr/>
        </p:nvSpPr>
        <p:spPr>
          <a:xfrm flipH="1">
            <a:off x="2337435" y="6747274"/>
            <a:ext cx="79881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1" name="Connector 6772">
            <a:extLst>
              <a:ext uri="{FF2B5EF4-FFF2-40B4-BE49-F238E27FC236}">
                <a16:creationId xmlns:a16="http://schemas.microsoft.com/office/drawing/2014/main" id="{31A25615-E56B-4074-9142-61D9161E35FC}"/>
              </a:ext>
            </a:extLst>
          </p:cNvPr>
          <p:cNvSpPr>
            <a:spLocks noGrp="1"/>
          </p:cNvSpPr>
          <p:nvPr/>
        </p:nvSpPr>
        <p:spPr>
          <a:xfrm>
            <a:off x="2407435" y="699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3" name="Connector 6774">
            <a:extLst>
              <a:ext uri="{FF2B5EF4-FFF2-40B4-BE49-F238E27FC236}">
                <a16:creationId xmlns:a16="http://schemas.microsoft.com/office/drawing/2014/main" id="{42CC2A1C-130C-42CC-B05B-6F8B98A28111}"/>
              </a:ext>
            </a:extLst>
          </p:cNvPr>
          <p:cNvSpPr>
            <a:spLocks noGrp="1"/>
          </p:cNvSpPr>
          <p:nvPr/>
        </p:nvSpPr>
        <p:spPr>
          <a:xfrm>
            <a:off x="2773195" y="699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5" name="Connector 6776">
            <a:extLst>
              <a:ext uri="{FF2B5EF4-FFF2-40B4-BE49-F238E27FC236}">
                <a16:creationId xmlns:a16="http://schemas.microsoft.com/office/drawing/2014/main" id="{DB805D3C-7B1F-4D4A-B367-C2896B104F44}"/>
              </a:ext>
            </a:extLst>
          </p:cNvPr>
          <p:cNvSpPr>
            <a:spLocks noGrp="1"/>
          </p:cNvSpPr>
          <p:nvPr/>
        </p:nvSpPr>
        <p:spPr>
          <a:xfrm flipH="1">
            <a:off x="2441725" y="717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77" name="TextBox 6778">
            <a:extLst>
              <a:ext uri="{FF2B5EF4-FFF2-40B4-BE49-F238E27FC236}">
                <a16:creationId xmlns:a16="http://schemas.microsoft.com/office/drawing/2014/main" id="{2BE39707-3098-464D-8E44-9A57D408F64A}"/>
              </a:ext>
            </a:extLst>
          </p:cNvPr>
          <p:cNvSpPr>
            <a:spLocks noGrp="1"/>
          </p:cNvSpPr>
          <p:nvPr/>
        </p:nvSpPr>
        <p:spPr>
          <a:xfrm>
            <a:off x="2864635" y="677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 번호 검증 · 직전 버전 비교</a:t>
            </a:r>
          </a:p>
        </p:txBody>
      </p:sp>
      <p:sp>
        <p:nvSpPr>
          <p:cNvPr id="6779" name="TextBox 6780">
            <a:extLst>
              <a:ext uri="{FF2B5EF4-FFF2-40B4-BE49-F238E27FC236}">
                <a16:creationId xmlns:a16="http://schemas.microsoft.com/office/drawing/2014/main" id="{FF260F2C-A254-4932-99F4-4A0E55604155}"/>
              </a:ext>
            </a:extLst>
          </p:cNvPr>
          <p:cNvSpPr>
            <a:spLocks noGrp="1"/>
          </p:cNvSpPr>
          <p:nvPr/>
        </p:nvSpPr>
        <p:spPr>
          <a:xfrm>
            <a:off x="2337435" y="7217274"/>
            <a:ext cx="107442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 저장(사유: 예측 갱신·상황 정정)</a:t>
            </a:r>
          </a:p>
        </p:txBody>
      </p:sp>
      <p:sp>
        <p:nvSpPr>
          <p:cNvPr id="6781" name="Connector 6782">
            <a:extLst>
              <a:ext uri="{FF2B5EF4-FFF2-40B4-BE49-F238E27FC236}">
                <a16:creationId xmlns:a16="http://schemas.microsoft.com/office/drawing/2014/main" id="{53ADC6E8-0DC7-4A65-A70C-AD66AEF2A8DD}"/>
              </a:ext>
            </a:extLst>
          </p:cNvPr>
          <p:cNvSpPr>
            <a:spLocks noGrp="1"/>
          </p:cNvSpPr>
          <p:nvPr/>
        </p:nvSpPr>
        <p:spPr>
          <a:xfrm>
            <a:off x="2337435" y="7442274"/>
            <a:ext cx="106742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783" name="TextBox 6784">
            <a:extLst>
              <a:ext uri="{FF2B5EF4-FFF2-40B4-BE49-F238E27FC236}">
                <a16:creationId xmlns:a16="http://schemas.microsoft.com/office/drawing/2014/main" id="{59F1016A-83EE-4130-8045-BF23AF064D46}"/>
              </a:ext>
            </a:extLst>
          </p:cNvPr>
          <p:cNvSpPr>
            <a:spLocks noGrp="1"/>
          </p:cNvSpPr>
          <p:nvPr/>
        </p:nvSpPr>
        <p:spPr>
          <a:xfrm>
            <a:off x="2337435" y="7467274"/>
            <a:ext cx="134302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record(제안, 새 버전 생성)</a:t>
            </a:r>
          </a:p>
        </p:txBody>
      </p:sp>
      <p:sp>
        <p:nvSpPr>
          <p:cNvPr id="6785" name="Connector 6786">
            <a:extLst>
              <a:ext uri="{FF2B5EF4-FFF2-40B4-BE49-F238E27FC236}">
                <a16:creationId xmlns:a16="http://schemas.microsoft.com/office/drawing/2014/main" id="{D029F13B-30C3-4699-B3C7-F1858E5227BD}"/>
              </a:ext>
            </a:extLst>
          </p:cNvPr>
          <p:cNvSpPr>
            <a:spLocks noGrp="1"/>
          </p:cNvSpPr>
          <p:nvPr/>
        </p:nvSpPr>
        <p:spPr>
          <a:xfrm>
            <a:off x="2337435" y="7692274"/>
            <a:ext cx="133602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693" name="Rectangle 6694">
            <a:extLst>
              <a:ext uri="{FF2B5EF4-FFF2-40B4-BE49-F238E27FC236}">
                <a16:creationId xmlns:a16="http://schemas.microsoft.com/office/drawing/2014/main" id="{8DB2DB03-56F9-4349-B963-39E09A2D7817}"/>
              </a:ext>
            </a:extLst>
          </p:cNvPr>
          <p:cNvSpPr>
            <a:spLocks noGrp="1"/>
          </p:cNvSpPr>
          <p:nvPr/>
        </p:nvSpPr>
        <p:spPr>
          <a:xfrm>
            <a:off x="983665" y="4657274"/>
            <a:ext cx="16137790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695" name="Rectangle 6696">
            <a:extLst>
              <a:ext uri="{FF2B5EF4-FFF2-40B4-BE49-F238E27FC236}">
                <a16:creationId xmlns:a16="http://schemas.microsoft.com/office/drawing/2014/main" id="{96D325B8-EAD0-4CAA-B7A2-335F35F1615F}"/>
              </a:ext>
            </a:extLst>
          </p:cNvPr>
          <p:cNvSpPr>
            <a:spLocks noGrp="1"/>
          </p:cNvSpPr>
          <p:nvPr/>
        </p:nvSpPr>
        <p:spPr>
          <a:xfrm>
            <a:off x="983665" y="4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loop</a:t>
            </a:r>
          </a:p>
        </p:txBody>
      </p:sp>
      <p:sp>
        <p:nvSpPr>
          <p:cNvPr id="6697" name="TextBox 6698">
            <a:extLst>
              <a:ext uri="{FF2B5EF4-FFF2-40B4-BE49-F238E27FC236}">
                <a16:creationId xmlns:a16="http://schemas.microsoft.com/office/drawing/2014/main" id="{119C1A04-DB9F-4604-993F-92A43C736485}"/>
              </a:ext>
            </a:extLst>
          </p:cNvPr>
          <p:cNvSpPr>
            <a:spLocks noGrp="1"/>
          </p:cNvSpPr>
          <p:nvPr/>
        </p:nvSpPr>
        <p:spPr>
          <a:xfrm>
            <a:off x="1792325" y="4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[발동 항목마다]</a:t>
            </a:r>
          </a:p>
        </p:txBody>
      </p:sp>
    </p:spTree>
    <p:extLst>
      <p:ext uri="{BB962C8B-B14F-4D97-AF65-F5344CB8AC3E}">
        <p14:creationId xmlns:p14="http://schemas.microsoft.com/office/powerpoint/2010/main" val="161709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701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702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702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06EBC92D-D876-4FF7-8EEC-BE45744A25B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202BBCE0-2380-4252-9F54-555C3A143891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산불 위험도 확인  (UC-PRED-02)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43</a:t>
            </a:fld>
            <a:endParaRPr/>
          </a:p>
        </p:txBody>
      </p:sp>
      <p:sp>
        <p:nvSpPr>
          <p:cNvPr id="6991" name="Rounded Rectangle 6992">
            <a:extLst>
              <a:ext uri="{FF2B5EF4-FFF2-40B4-BE49-F238E27FC236}">
                <a16:creationId xmlns:a16="http://schemas.microsoft.com/office/drawing/2014/main" id="{646CC377-B870-46BD-A2DE-3EA8FCD2D478}"/>
              </a:ext>
            </a:extLst>
          </p:cNvPr>
          <p:cNvSpPr>
            <a:spLocks noGrp="1"/>
          </p:cNvSpPr>
          <p:nvPr/>
        </p:nvSpPr>
        <p:spPr>
          <a:xfrm>
            <a:off x="11944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993" name="Connector 6994">
            <a:extLst>
              <a:ext uri="{FF2B5EF4-FFF2-40B4-BE49-F238E27FC236}">
                <a16:creationId xmlns:a16="http://schemas.microsoft.com/office/drawing/2014/main" id="{5547144E-0ED5-47BB-9A02-A400C5020B32}"/>
              </a:ext>
            </a:extLst>
          </p:cNvPr>
          <p:cNvSpPr>
            <a:spLocks noGrp="1"/>
          </p:cNvSpPr>
          <p:nvPr/>
        </p:nvSpPr>
        <p:spPr>
          <a:xfrm>
            <a:off x="23374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95" name="Rounded Rectangle 6996">
            <a:extLst>
              <a:ext uri="{FF2B5EF4-FFF2-40B4-BE49-F238E27FC236}">
                <a16:creationId xmlns:a16="http://schemas.microsoft.com/office/drawing/2014/main" id="{A81AC460-F4BF-453B-8123-5DCBFB95D808}"/>
              </a:ext>
            </a:extLst>
          </p:cNvPr>
          <p:cNvSpPr>
            <a:spLocks noGrp="1"/>
          </p:cNvSpPr>
          <p:nvPr/>
        </p:nvSpPr>
        <p:spPr>
          <a:xfrm>
            <a:off x="38804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997" name="Connector 6998">
            <a:extLst>
              <a:ext uri="{FF2B5EF4-FFF2-40B4-BE49-F238E27FC236}">
                <a16:creationId xmlns:a16="http://schemas.microsoft.com/office/drawing/2014/main" id="{3F86B687-C24D-4FE0-A776-F75984D40240}"/>
              </a:ext>
            </a:extLst>
          </p:cNvPr>
          <p:cNvSpPr>
            <a:spLocks noGrp="1"/>
          </p:cNvSpPr>
          <p:nvPr/>
        </p:nvSpPr>
        <p:spPr>
          <a:xfrm>
            <a:off x="50234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999" name="Rounded Rectangle 7000">
            <a:extLst>
              <a:ext uri="{FF2B5EF4-FFF2-40B4-BE49-F238E27FC236}">
                <a16:creationId xmlns:a16="http://schemas.microsoft.com/office/drawing/2014/main" id="{B62AD678-5E31-459C-8AC1-AF84860AECF6}"/>
              </a:ext>
            </a:extLst>
          </p:cNvPr>
          <p:cNvSpPr>
            <a:spLocks noGrp="1"/>
          </p:cNvSpPr>
          <p:nvPr/>
        </p:nvSpPr>
        <p:spPr>
          <a:xfrm>
            <a:off x="65665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7001" name="Connector 7002">
            <a:extLst>
              <a:ext uri="{FF2B5EF4-FFF2-40B4-BE49-F238E27FC236}">
                <a16:creationId xmlns:a16="http://schemas.microsoft.com/office/drawing/2014/main" id="{A82111BD-0BFF-4DD4-9149-7EA894BDCDE5}"/>
              </a:ext>
            </a:extLst>
          </p:cNvPr>
          <p:cNvSpPr>
            <a:spLocks noGrp="1"/>
          </p:cNvSpPr>
          <p:nvPr/>
        </p:nvSpPr>
        <p:spPr>
          <a:xfrm>
            <a:off x="77095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03" name="Rounded Rectangle 7004">
            <a:extLst>
              <a:ext uri="{FF2B5EF4-FFF2-40B4-BE49-F238E27FC236}">
                <a16:creationId xmlns:a16="http://schemas.microsoft.com/office/drawing/2014/main" id="{680A9134-2F21-4DB9-B2CF-3238507A4593}"/>
              </a:ext>
            </a:extLst>
          </p:cNvPr>
          <p:cNvSpPr>
            <a:spLocks noGrp="1"/>
          </p:cNvSpPr>
          <p:nvPr/>
        </p:nvSpPr>
        <p:spPr>
          <a:xfrm>
            <a:off x="92525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7005" name="Connector 7006">
            <a:extLst>
              <a:ext uri="{FF2B5EF4-FFF2-40B4-BE49-F238E27FC236}">
                <a16:creationId xmlns:a16="http://schemas.microsoft.com/office/drawing/2014/main" id="{DC979CC9-88F0-494B-8F59-531A69E8604A}"/>
              </a:ext>
            </a:extLst>
          </p:cNvPr>
          <p:cNvSpPr>
            <a:spLocks noGrp="1"/>
          </p:cNvSpPr>
          <p:nvPr/>
        </p:nvSpPr>
        <p:spPr>
          <a:xfrm>
            <a:off x="103955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07" name="Rounded Rectangle 7008">
            <a:extLst>
              <a:ext uri="{FF2B5EF4-FFF2-40B4-BE49-F238E27FC236}">
                <a16:creationId xmlns:a16="http://schemas.microsoft.com/office/drawing/2014/main" id="{08ADEC31-11E8-4847-8460-C8F5705E92C8}"/>
              </a:ext>
            </a:extLst>
          </p:cNvPr>
          <p:cNvSpPr>
            <a:spLocks noGrp="1"/>
          </p:cNvSpPr>
          <p:nvPr/>
        </p:nvSpPr>
        <p:spPr>
          <a:xfrm>
            <a:off x="1193863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</a:t>
            </a:r>
          </a:p>
        </p:txBody>
      </p:sp>
      <p:sp>
        <p:nvSpPr>
          <p:cNvPr id="7009" name="Connector 7010">
            <a:extLst>
              <a:ext uri="{FF2B5EF4-FFF2-40B4-BE49-F238E27FC236}">
                <a16:creationId xmlns:a16="http://schemas.microsoft.com/office/drawing/2014/main" id="{C8FB10F5-3B52-47C6-9C08-F0A94682E68B}"/>
              </a:ext>
            </a:extLst>
          </p:cNvPr>
          <p:cNvSpPr>
            <a:spLocks noGrp="1"/>
          </p:cNvSpPr>
          <p:nvPr/>
        </p:nvSpPr>
        <p:spPr>
          <a:xfrm>
            <a:off x="1308163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11" name="Rounded Rectangle 7012">
            <a:extLst>
              <a:ext uri="{FF2B5EF4-FFF2-40B4-BE49-F238E27FC236}">
                <a16:creationId xmlns:a16="http://schemas.microsoft.com/office/drawing/2014/main" id="{90C615C0-7399-40A2-A78E-5D4677124083}"/>
              </a:ext>
            </a:extLst>
          </p:cNvPr>
          <p:cNvSpPr>
            <a:spLocks noGrp="1"/>
          </p:cNvSpPr>
          <p:nvPr/>
        </p:nvSpPr>
        <p:spPr>
          <a:xfrm>
            <a:off x="14624685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DB(PostGIS)</a:t>
            </a:r>
          </a:p>
        </p:txBody>
      </p:sp>
      <p:sp>
        <p:nvSpPr>
          <p:cNvPr id="7013" name="Connector 7014">
            <a:extLst>
              <a:ext uri="{FF2B5EF4-FFF2-40B4-BE49-F238E27FC236}">
                <a16:creationId xmlns:a16="http://schemas.microsoft.com/office/drawing/2014/main" id="{F67BE906-9B3E-4EF5-A6DB-D8BBDD5A1819}"/>
              </a:ext>
            </a:extLst>
          </p:cNvPr>
          <p:cNvSpPr>
            <a:spLocks noGrp="1"/>
          </p:cNvSpPr>
          <p:nvPr/>
        </p:nvSpPr>
        <p:spPr>
          <a:xfrm>
            <a:off x="15767685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60" name="Act 9660"/>
          <p:cNvSpPr>
            <a:spLocks noGrp="1"/>
          </p:cNvSpPr>
          <p:nvPr/>
        </p:nvSpPr>
        <p:spPr>
          <a:xfrm>
            <a:off x="15697685" y="3547872"/>
            <a:ext cx="140000" cy="237743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9" name="Act 9659"/>
          <p:cNvSpPr>
            <a:spLocks noGrp="1"/>
          </p:cNvSpPr>
          <p:nvPr/>
        </p:nvSpPr>
        <p:spPr>
          <a:xfrm>
            <a:off x="15697685" y="4791456"/>
            <a:ext cx="140000" cy="237743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8" name="Act 9658"/>
          <p:cNvSpPr>
            <a:spLocks noGrp="1"/>
          </p:cNvSpPr>
          <p:nvPr/>
        </p:nvSpPr>
        <p:spPr>
          <a:xfrm>
            <a:off x="15697685" y="6510528"/>
            <a:ext cx="140000" cy="128015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7" name="Act 9657"/>
          <p:cNvSpPr>
            <a:spLocks noGrp="1"/>
          </p:cNvSpPr>
          <p:nvPr/>
        </p:nvSpPr>
        <p:spPr>
          <a:xfrm>
            <a:off x="10325585" y="3200400"/>
            <a:ext cx="140000" cy="3511296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6" name="Act 9656"/>
          <p:cNvSpPr>
            <a:spLocks noGrp="1"/>
          </p:cNvSpPr>
          <p:nvPr/>
        </p:nvSpPr>
        <p:spPr>
          <a:xfrm>
            <a:off x="13011635" y="3310128"/>
            <a:ext cx="14000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5" name="Act 9655"/>
          <p:cNvSpPr>
            <a:spLocks noGrp="1"/>
          </p:cNvSpPr>
          <p:nvPr/>
        </p:nvSpPr>
        <p:spPr>
          <a:xfrm>
            <a:off x="15697685" y="7845552"/>
            <a:ext cx="140000" cy="237743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4" name="Act 9654"/>
          <p:cNvSpPr>
            <a:spLocks noGrp="1"/>
          </p:cNvSpPr>
          <p:nvPr/>
        </p:nvSpPr>
        <p:spPr>
          <a:xfrm>
            <a:off x="4953485" y="7132320"/>
            <a:ext cx="140000" cy="1664207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3" name="Act 9653"/>
          <p:cNvSpPr>
            <a:spLocks noGrp="1"/>
          </p:cNvSpPr>
          <p:nvPr/>
        </p:nvSpPr>
        <p:spPr>
          <a:xfrm>
            <a:off x="7639535" y="7370064"/>
            <a:ext cx="140000" cy="1188719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52" name="Act 9652"/>
          <p:cNvSpPr>
            <a:spLocks noGrp="1"/>
          </p:cNvSpPr>
          <p:nvPr/>
        </p:nvSpPr>
        <p:spPr>
          <a:xfrm>
            <a:off x="13011635" y="7607808"/>
            <a:ext cx="140000" cy="71323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9601" name="Seq 9601"/>
          <p:cNvSpPr>
            <a:spLocks noGrp="1"/>
          </p:cNvSpPr>
          <p:nvPr/>
        </p:nvSpPr>
        <p:spPr>
          <a:xfrm>
            <a:off x="1005840" y="3017520"/>
            <a:ext cx="7863840" cy="24140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① 위험도 계산 — 확산 예측을 저장한 직후 PredictionService가 호출 (UC-PRED-01, 41쪽)</a:t>
            </a:r>
          </a:p>
        </p:txBody>
      </p:sp>
      <p:sp>
        <p:nvSpPr>
          <p:cNvPr id="9602" name="Seq 9602"/>
          <p:cNvSpPr>
            <a:spLocks noGrp="1"/>
          </p:cNvSpPr>
          <p:nvPr/>
        </p:nvSpPr>
        <p:spPr>
          <a:xfrm>
            <a:off x="10395585" y="3064128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compute(run_id)</a:t>
            </a:r>
          </a:p>
        </p:txBody>
      </p:sp>
      <p:sp>
        <p:nvSpPr>
          <p:cNvPr id="9603" name="Seq 9603"/>
          <p:cNvSpPr>
            <a:spLocks noGrp="1"/>
          </p:cNvSpPr>
          <p:nvPr/>
        </p:nvSpPr>
        <p:spPr>
          <a:xfrm>
            <a:off x="10465585" y="3310128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04" name="Seq 9604"/>
          <p:cNvSpPr>
            <a:spLocks noGrp="1"/>
          </p:cNvSpPr>
          <p:nvPr/>
        </p:nvSpPr>
        <p:spPr>
          <a:xfrm>
            <a:off x="13081635" y="3301872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P5 조회 · 다른 산불 P5 겹침 검사</a:t>
            </a:r>
          </a:p>
        </p:txBody>
      </p:sp>
      <p:sp>
        <p:nvSpPr>
          <p:cNvPr id="9605" name="Seq 9605"/>
          <p:cNvSpPr>
            <a:spLocks noGrp="1"/>
          </p:cNvSpPr>
          <p:nvPr/>
        </p:nvSpPr>
        <p:spPr>
          <a:xfrm>
            <a:off x="13151635" y="3547872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06" name="Seq 9606"/>
          <p:cNvSpPr>
            <a:spLocks noGrp="1"/>
          </p:cNvSpPr>
          <p:nvPr/>
        </p:nvSpPr>
        <p:spPr>
          <a:xfrm>
            <a:off x="13081635" y="3539615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P5 폴리곤 · 겹친 산불 목록</a:t>
            </a:r>
          </a:p>
        </p:txBody>
      </p:sp>
      <p:sp>
        <p:nvSpPr>
          <p:cNvPr id="9607" name="Seq 9607"/>
          <p:cNvSpPr>
            <a:spLocks noGrp="1"/>
          </p:cNvSpPr>
          <p:nvPr/>
        </p:nvSpPr>
        <p:spPr>
          <a:xfrm flipH="1">
            <a:off x="13151635" y="3785615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08" name="Seq 9608"/>
          <p:cNvSpPr>
            <a:spLocks noGrp="1"/>
          </p:cNvSpPr>
          <p:nvPr/>
        </p:nvSpPr>
        <p:spPr>
          <a:xfrm>
            <a:off x="983665" y="3904487"/>
            <a:ext cx="16137790" cy="621792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609" name="Seq 9609"/>
          <p:cNvSpPr>
            <a:spLocks noGrp="1"/>
          </p:cNvSpPr>
          <p:nvPr/>
        </p:nvSpPr>
        <p:spPr>
          <a:xfrm>
            <a:off x="983665" y="3904487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9610" name="Seq 9610"/>
          <p:cNvSpPr>
            <a:spLocks noGrp="1"/>
          </p:cNvSpPr>
          <p:nvPr/>
        </p:nvSpPr>
        <p:spPr>
          <a:xfrm>
            <a:off x="1792325" y="3914545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[P5가 겹치는 다른 산불 있음]</a:t>
            </a:r>
          </a:p>
        </p:txBody>
      </p:sp>
      <p:sp>
        <p:nvSpPr>
          <p:cNvPr id="9611" name="Seq 9611"/>
          <p:cNvSpPr>
            <a:spLocks noGrp="1"/>
          </p:cNvSpPr>
          <p:nvPr/>
        </p:nvSpPr>
        <p:spPr>
          <a:xfrm>
            <a:off x="13151635" y="426110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2" name="Seq 9612"/>
          <p:cNvSpPr>
            <a:spLocks noGrp="1"/>
          </p:cNvSpPr>
          <p:nvPr/>
        </p:nvSpPr>
        <p:spPr>
          <a:xfrm>
            <a:off x="13517395" y="426110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3" name="Seq 9613"/>
          <p:cNvSpPr>
            <a:spLocks noGrp="1"/>
          </p:cNvSpPr>
          <p:nvPr/>
        </p:nvSpPr>
        <p:spPr>
          <a:xfrm flipH="1">
            <a:off x="13185925" y="444135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4" name="Seq 9614"/>
          <p:cNvSpPr>
            <a:spLocks noGrp="1"/>
          </p:cNvSpPr>
          <p:nvPr/>
        </p:nvSpPr>
        <p:spPr>
          <a:xfrm>
            <a:off x="13608329" y="4015104"/>
            <a:ext cx="420624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동일 산불로 묶어 합집합 폴리곤으로 계산</a:t>
            </a:r>
          </a:p>
        </p:txBody>
      </p:sp>
      <p:sp>
        <p:nvSpPr>
          <p:cNvPr id="9615" name="Seq 9615"/>
          <p:cNvSpPr>
            <a:spLocks noGrp="1"/>
          </p:cNvSpPr>
          <p:nvPr/>
        </p:nvSpPr>
        <p:spPr>
          <a:xfrm>
            <a:off x="13081635" y="4545456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P5와 겹친 격자·인구·소방서 조회</a:t>
            </a:r>
          </a:p>
        </p:txBody>
      </p:sp>
      <p:sp>
        <p:nvSpPr>
          <p:cNvPr id="9616" name="Seq 9616"/>
          <p:cNvSpPr>
            <a:spLocks noGrp="1"/>
          </p:cNvSpPr>
          <p:nvPr/>
        </p:nvSpPr>
        <p:spPr>
          <a:xfrm>
            <a:off x="13151635" y="4791456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7" name="Seq 9617"/>
          <p:cNvSpPr>
            <a:spLocks noGrp="1"/>
          </p:cNvSpPr>
          <p:nvPr/>
        </p:nvSpPr>
        <p:spPr>
          <a:xfrm>
            <a:off x="13081635" y="4783200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겹침 비율 · 변수 값 · 인구 · 거리</a:t>
            </a:r>
          </a:p>
        </p:txBody>
      </p:sp>
      <p:sp>
        <p:nvSpPr>
          <p:cNvPr id="9618" name="Seq 9618"/>
          <p:cNvSpPr>
            <a:spLocks noGrp="1"/>
          </p:cNvSpPr>
          <p:nvPr/>
        </p:nvSpPr>
        <p:spPr>
          <a:xfrm flipH="1">
            <a:off x="13151635" y="5029200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19" name="Seq 9619"/>
          <p:cNvSpPr>
            <a:spLocks noGrp="1"/>
          </p:cNvSpPr>
          <p:nvPr/>
        </p:nvSpPr>
        <p:spPr>
          <a:xfrm>
            <a:off x="13151635" y="535838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0" name="Seq 9620"/>
          <p:cNvSpPr>
            <a:spLocks noGrp="1"/>
          </p:cNvSpPr>
          <p:nvPr/>
        </p:nvSpPr>
        <p:spPr>
          <a:xfrm>
            <a:off x="13517395" y="535838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1" name="Seq 9621"/>
          <p:cNvSpPr>
            <a:spLocks noGrp="1"/>
          </p:cNvSpPr>
          <p:nvPr/>
        </p:nvSpPr>
        <p:spPr>
          <a:xfrm flipH="1">
            <a:off x="13185925" y="553863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2" name="Seq 9622"/>
          <p:cNvSpPr>
            <a:spLocks noGrp="1"/>
          </p:cNvSpPr>
          <p:nvPr/>
        </p:nvSpPr>
        <p:spPr>
          <a:xfrm>
            <a:off x="13608329" y="5112384"/>
            <a:ext cx="420624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23개 변수 1~5 등급 → 가중평균 R(1.00~5.00) · 요인 점수</a:t>
            </a:r>
          </a:p>
        </p:txBody>
      </p:sp>
      <p:sp>
        <p:nvSpPr>
          <p:cNvPr id="9623" name="Seq 9623"/>
          <p:cNvSpPr>
            <a:spLocks noGrp="1"/>
          </p:cNvSpPr>
          <p:nvPr/>
        </p:nvSpPr>
        <p:spPr>
          <a:xfrm>
            <a:off x="983665" y="5641848"/>
            <a:ext cx="16137790" cy="62179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624" name="Seq 9624"/>
          <p:cNvSpPr>
            <a:spLocks noGrp="1"/>
          </p:cNvSpPr>
          <p:nvPr/>
        </p:nvSpPr>
        <p:spPr>
          <a:xfrm>
            <a:off x="983665" y="5641848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9625" name="Seq 9625"/>
          <p:cNvSpPr>
            <a:spLocks noGrp="1"/>
          </p:cNvSpPr>
          <p:nvPr/>
        </p:nvSpPr>
        <p:spPr>
          <a:xfrm>
            <a:off x="1792325" y="5651906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[일부 변수 결측]</a:t>
            </a:r>
          </a:p>
        </p:txBody>
      </p:sp>
      <p:sp>
        <p:nvSpPr>
          <p:cNvPr id="9626" name="Seq 9626"/>
          <p:cNvSpPr>
            <a:spLocks noGrp="1"/>
          </p:cNvSpPr>
          <p:nvPr/>
        </p:nvSpPr>
        <p:spPr>
          <a:xfrm>
            <a:off x="13151635" y="599846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7" name="Seq 9627"/>
          <p:cNvSpPr>
            <a:spLocks noGrp="1"/>
          </p:cNvSpPr>
          <p:nvPr/>
        </p:nvSpPr>
        <p:spPr>
          <a:xfrm>
            <a:off x="13517395" y="599846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8" name="Seq 9628"/>
          <p:cNvSpPr>
            <a:spLocks noGrp="1"/>
          </p:cNvSpPr>
          <p:nvPr/>
        </p:nvSpPr>
        <p:spPr>
          <a:xfrm flipH="1">
            <a:off x="13185925" y="617871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29" name="Seq 9629"/>
          <p:cNvSpPr>
            <a:spLocks noGrp="1"/>
          </p:cNvSpPr>
          <p:nvPr/>
        </p:nvSpPr>
        <p:spPr>
          <a:xfrm>
            <a:off x="13608329" y="5752464"/>
            <a:ext cx="420624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결측 변수 제외, 남은 가중치로 계산 · 목록 첨부</a:t>
            </a:r>
          </a:p>
        </p:txBody>
      </p:sp>
      <p:sp>
        <p:nvSpPr>
          <p:cNvPr id="9630" name="Seq 9630"/>
          <p:cNvSpPr>
            <a:spLocks noGrp="1"/>
          </p:cNvSpPr>
          <p:nvPr/>
        </p:nvSpPr>
        <p:spPr>
          <a:xfrm>
            <a:off x="13081635" y="6264528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저장 (run_id, 이전 값 대체)</a:t>
            </a:r>
          </a:p>
        </p:txBody>
      </p:sp>
      <p:sp>
        <p:nvSpPr>
          <p:cNvPr id="9631" name="Seq 9631"/>
          <p:cNvSpPr>
            <a:spLocks noGrp="1"/>
          </p:cNvSpPr>
          <p:nvPr/>
        </p:nvSpPr>
        <p:spPr>
          <a:xfrm>
            <a:off x="13151635" y="6510528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32" name="Seq 9632"/>
          <p:cNvSpPr>
            <a:spLocks noGrp="1"/>
          </p:cNvSpPr>
          <p:nvPr/>
        </p:nvSpPr>
        <p:spPr>
          <a:xfrm>
            <a:off x="10395585" y="6465696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완료</a:t>
            </a:r>
          </a:p>
        </p:txBody>
      </p:sp>
      <p:sp>
        <p:nvSpPr>
          <p:cNvPr id="9633" name="Seq 9633"/>
          <p:cNvSpPr>
            <a:spLocks noGrp="1"/>
          </p:cNvSpPr>
          <p:nvPr/>
        </p:nvSpPr>
        <p:spPr>
          <a:xfrm flipH="1">
            <a:off x="10465585" y="6711696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34" name="Seq 9634"/>
          <p:cNvSpPr>
            <a:spLocks noGrp="1"/>
          </p:cNvSpPr>
          <p:nvPr/>
        </p:nvSpPr>
        <p:spPr>
          <a:xfrm>
            <a:off x="983665" y="6867144"/>
            <a:ext cx="16137790" cy="0"/>
          </a:xfrm>
          <a:prstGeom prst="line">
            <a:avLst/>
          </a:prstGeom>
          <a:noFill/>
          <a:ln w="12700">
            <a:solidFill>
              <a:srgbClr val="FAA9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9635" name="Seq 9635"/>
          <p:cNvSpPr>
            <a:spLocks noGrp="1"/>
          </p:cNvSpPr>
          <p:nvPr/>
        </p:nvSpPr>
        <p:spPr>
          <a:xfrm>
            <a:off x="1005840" y="6912864"/>
            <a:ext cx="1188720" cy="24140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② 위험도 조회</a:t>
            </a:r>
          </a:p>
        </p:txBody>
      </p:sp>
      <p:sp>
        <p:nvSpPr>
          <p:cNvPr id="9636" name="Seq 9636"/>
          <p:cNvSpPr>
            <a:spLocks noGrp="1"/>
          </p:cNvSpPr>
          <p:nvPr/>
        </p:nvSpPr>
        <p:spPr>
          <a:xfrm>
            <a:off x="2337435" y="6886320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상황도의 「위험도」 열기</a:t>
            </a:r>
          </a:p>
        </p:txBody>
      </p:sp>
      <p:sp>
        <p:nvSpPr>
          <p:cNvPr id="9637" name="Seq 9637"/>
          <p:cNvSpPr>
            <a:spLocks noGrp="1"/>
          </p:cNvSpPr>
          <p:nvPr/>
        </p:nvSpPr>
        <p:spPr>
          <a:xfrm>
            <a:off x="2337435" y="7132320"/>
            <a:ext cx="261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38" name="Seq 9638"/>
          <p:cNvSpPr>
            <a:spLocks noGrp="1"/>
          </p:cNvSpPr>
          <p:nvPr/>
        </p:nvSpPr>
        <p:spPr>
          <a:xfrm>
            <a:off x="5023485" y="712406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/incidents/{id}/risk</a:t>
            </a:r>
          </a:p>
        </p:txBody>
      </p:sp>
      <p:sp>
        <p:nvSpPr>
          <p:cNvPr id="9639" name="Seq 9639"/>
          <p:cNvSpPr>
            <a:spLocks noGrp="1"/>
          </p:cNvSpPr>
          <p:nvPr/>
        </p:nvSpPr>
        <p:spPr>
          <a:xfrm>
            <a:off x="5093485" y="7370064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0" name="Seq 9640"/>
          <p:cNvSpPr>
            <a:spLocks noGrp="1"/>
          </p:cNvSpPr>
          <p:nvPr/>
        </p:nvSpPr>
        <p:spPr>
          <a:xfrm>
            <a:off x="7709535" y="7361808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get_latest(incident_id)</a:t>
            </a:r>
          </a:p>
        </p:txBody>
      </p:sp>
      <p:sp>
        <p:nvSpPr>
          <p:cNvPr id="9641" name="Seq 9641"/>
          <p:cNvSpPr>
            <a:spLocks noGrp="1"/>
          </p:cNvSpPr>
          <p:nvPr/>
        </p:nvSpPr>
        <p:spPr>
          <a:xfrm>
            <a:off x="7779535" y="7607808"/>
            <a:ext cx="52321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2" name="Seq 9642"/>
          <p:cNvSpPr>
            <a:spLocks noGrp="1"/>
          </p:cNvSpPr>
          <p:nvPr/>
        </p:nvSpPr>
        <p:spPr>
          <a:xfrm>
            <a:off x="13081635" y="7599552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위험도 조회</a:t>
            </a:r>
          </a:p>
        </p:txBody>
      </p:sp>
      <p:sp>
        <p:nvSpPr>
          <p:cNvPr id="9643" name="Seq 9643"/>
          <p:cNvSpPr>
            <a:spLocks noGrp="1"/>
          </p:cNvSpPr>
          <p:nvPr/>
        </p:nvSpPr>
        <p:spPr>
          <a:xfrm>
            <a:off x="13151635" y="7845552"/>
            <a:ext cx="254605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4" name="Seq 9644"/>
          <p:cNvSpPr>
            <a:spLocks noGrp="1"/>
          </p:cNvSpPr>
          <p:nvPr/>
        </p:nvSpPr>
        <p:spPr>
          <a:xfrm>
            <a:off x="13081635" y="7837296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 · 요인 점수 · 병합 산불</a:t>
            </a:r>
          </a:p>
        </p:txBody>
      </p:sp>
      <p:sp>
        <p:nvSpPr>
          <p:cNvPr id="9645" name="Seq 9645"/>
          <p:cNvSpPr>
            <a:spLocks noGrp="1"/>
          </p:cNvSpPr>
          <p:nvPr/>
        </p:nvSpPr>
        <p:spPr>
          <a:xfrm flipH="1">
            <a:off x="13151635" y="8083296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6" name="Seq 9646"/>
          <p:cNvSpPr>
            <a:spLocks noGrp="1"/>
          </p:cNvSpPr>
          <p:nvPr/>
        </p:nvSpPr>
        <p:spPr>
          <a:xfrm>
            <a:off x="7709535" y="8075040"/>
            <a:ext cx="53721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 · 요인 점수 (종료 사건은 「종료」)</a:t>
            </a:r>
          </a:p>
        </p:txBody>
      </p:sp>
      <p:sp>
        <p:nvSpPr>
          <p:cNvPr id="9647" name="Seq 9647"/>
          <p:cNvSpPr>
            <a:spLocks noGrp="1"/>
          </p:cNvSpPr>
          <p:nvPr/>
        </p:nvSpPr>
        <p:spPr>
          <a:xfrm flipH="1">
            <a:off x="7779535" y="8321040"/>
            <a:ext cx="52321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48" name="Seq 9648"/>
          <p:cNvSpPr>
            <a:spLocks noGrp="1"/>
          </p:cNvSpPr>
          <p:nvPr/>
        </p:nvSpPr>
        <p:spPr>
          <a:xfrm>
            <a:off x="5023485" y="8312784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위험도 결과 전달</a:t>
            </a:r>
          </a:p>
        </p:txBody>
      </p:sp>
      <p:sp>
        <p:nvSpPr>
          <p:cNvPr id="9649" name="Seq 9649"/>
          <p:cNvSpPr>
            <a:spLocks noGrp="1"/>
          </p:cNvSpPr>
          <p:nvPr/>
        </p:nvSpPr>
        <p:spPr>
          <a:xfrm flipH="1">
            <a:off x="5093485" y="8558784"/>
            <a:ext cx="254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650" name="Seq 9650"/>
          <p:cNvSpPr>
            <a:spLocks noGrp="1"/>
          </p:cNvSpPr>
          <p:nvPr/>
        </p:nvSpPr>
        <p:spPr>
          <a:xfrm>
            <a:off x="2337435" y="8550528"/>
            <a:ext cx="268605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산불(폴리곤)별 R · 요인 점수 표시</a:t>
            </a:r>
          </a:p>
        </p:txBody>
      </p:sp>
      <p:sp>
        <p:nvSpPr>
          <p:cNvPr id="9651" name="Seq 9651"/>
          <p:cNvSpPr>
            <a:spLocks noGrp="1"/>
          </p:cNvSpPr>
          <p:nvPr/>
        </p:nvSpPr>
        <p:spPr>
          <a:xfrm flipH="1">
            <a:off x="2337435" y="8796528"/>
            <a:ext cx="261605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848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24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24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24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0C70D4D-D7A9-478B-9C9E-E9BA25E1E2A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602307E7-6AAD-4F09-A94C-360B7EB9868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 제안 열람 · 근거 조회 · 이력·변경사항 조회  (UC-PROP-01)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44</a:t>
            </a:fld>
            <a:endParaRPr/>
          </a:p>
        </p:txBody>
      </p:sp>
      <p:sp>
        <p:nvSpPr>
          <p:cNvPr id="6227" name="Rounded Rectangle 6228">
            <a:extLst>
              <a:ext uri="{FF2B5EF4-FFF2-40B4-BE49-F238E27FC236}">
                <a16:creationId xmlns:a16="http://schemas.microsoft.com/office/drawing/2014/main" id="{373E0905-5405-4EB3-8E0B-E5AA6E230915}"/>
              </a:ext>
            </a:extLst>
          </p:cNvPr>
          <p:cNvSpPr>
            <a:spLocks noGrp="1"/>
          </p:cNvSpPr>
          <p:nvPr/>
        </p:nvSpPr>
        <p:spPr>
          <a:xfrm>
            <a:off x="186594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229" name="Connector 6230">
            <a:extLst>
              <a:ext uri="{FF2B5EF4-FFF2-40B4-BE49-F238E27FC236}">
                <a16:creationId xmlns:a16="http://schemas.microsoft.com/office/drawing/2014/main" id="{39C48468-E624-4412-9BE7-469D7AA5BB05}"/>
              </a:ext>
            </a:extLst>
          </p:cNvPr>
          <p:cNvSpPr>
            <a:spLocks noGrp="1"/>
          </p:cNvSpPr>
          <p:nvPr/>
        </p:nvSpPr>
        <p:spPr>
          <a:xfrm>
            <a:off x="300894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1" name="Rounded Rectangle 6232">
            <a:extLst>
              <a:ext uri="{FF2B5EF4-FFF2-40B4-BE49-F238E27FC236}">
                <a16:creationId xmlns:a16="http://schemas.microsoft.com/office/drawing/2014/main" id="{8E2F6393-5264-4444-B75C-74062173BE48}"/>
              </a:ext>
            </a:extLst>
          </p:cNvPr>
          <p:cNvSpPr>
            <a:spLocks noGrp="1"/>
          </p:cNvSpPr>
          <p:nvPr/>
        </p:nvSpPr>
        <p:spPr>
          <a:xfrm>
            <a:off x="589502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233" name="Connector 6234">
            <a:extLst>
              <a:ext uri="{FF2B5EF4-FFF2-40B4-BE49-F238E27FC236}">
                <a16:creationId xmlns:a16="http://schemas.microsoft.com/office/drawing/2014/main" id="{ADE265E8-42DC-401E-B5F1-ECFDD45BCDB4}"/>
              </a:ext>
            </a:extLst>
          </p:cNvPr>
          <p:cNvSpPr>
            <a:spLocks noGrp="1"/>
          </p:cNvSpPr>
          <p:nvPr/>
        </p:nvSpPr>
        <p:spPr>
          <a:xfrm>
            <a:off x="703802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5" name="Rounded Rectangle 6236">
            <a:extLst>
              <a:ext uri="{FF2B5EF4-FFF2-40B4-BE49-F238E27FC236}">
                <a16:creationId xmlns:a16="http://schemas.microsoft.com/office/drawing/2014/main" id="{9B58ED7A-C097-4C1C-80F4-C33A1F3A0E4B}"/>
              </a:ext>
            </a:extLst>
          </p:cNvPr>
          <p:cNvSpPr>
            <a:spLocks noGrp="1"/>
          </p:cNvSpPr>
          <p:nvPr/>
        </p:nvSpPr>
        <p:spPr>
          <a:xfrm>
            <a:off x="992409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6237" name="Connector 6238">
            <a:extLst>
              <a:ext uri="{FF2B5EF4-FFF2-40B4-BE49-F238E27FC236}">
                <a16:creationId xmlns:a16="http://schemas.microsoft.com/office/drawing/2014/main" id="{7F3F5CB9-9986-40F5-B1CB-CE7BCB669663}"/>
              </a:ext>
            </a:extLst>
          </p:cNvPr>
          <p:cNvSpPr>
            <a:spLocks noGrp="1"/>
          </p:cNvSpPr>
          <p:nvPr/>
        </p:nvSpPr>
        <p:spPr>
          <a:xfrm>
            <a:off x="1106709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39" name="Rounded Rectangle 6240">
            <a:extLst>
              <a:ext uri="{FF2B5EF4-FFF2-40B4-BE49-F238E27FC236}">
                <a16:creationId xmlns:a16="http://schemas.microsoft.com/office/drawing/2014/main" id="{4D640675-04A2-4F4B-B155-6A133470F7F3}"/>
              </a:ext>
            </a:extLst>
          </p:cNvPr>
          <p:cNvSpPr>
            <a:spLocks noGrp="1"/>
          </p:cNvSpPr>
          <p:nvPr/>
        </p:nvSpPr>
        <p:spPr>
          <a:xfrm>
            <a:off x="1395317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241" name="Connector 6242">
            <a:extLst>
              <a:ext uri="{FF2B5EF4-FFF2-40B4-BE49-F238E27FC236}">
                <a16:creationId xmlns:a16="http://schemas.microsoft.com/office/drawing/2014/main" id="{6A88A977-1DF8-4B49-BD38-ACE6BD3CEDF2}"/>
              </a:ext>
            </a:extLst>
          </p:cNvPr>
          <p:cNvSpPr>
            <a:spLocks noGrp="1"/>
          </p:cNvSpPr>
          <p:nvPr/>
        </p:nvSpPr>
        <p:spPr>
          <a:xfrm>
            <a:off x="1509617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41" name="Rectangle 6142">
            <a:extLst>
              <a:ext uri="{FF2B5EF4-FFF2-40B4-BE49-F238E27FC236}">
                <a16:creationId xmlns:a16="http://schemas.microsoft.com/office/drawing/2014/main" id="{1BB7D141-DBF9-412E-B95F-BF365A0D05FB}"/>
              </a:ext>
            </a:extLst>
          </p:cNvPr>
          <p:cNvSpPr>
            <a:spLocks noGrp="1"/>
          </p:cNvSpPr>
          <p:nvPr/>
        </p:nvSpPr>
        <p:spPr>
          <a:xfrm>
            <a:off x="15026173" y="388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3" name="Rectangle 6144">
            <a:extLst>
              <a:ext uri="{FF2B5EF4-FFF2-40B4-BE49-F238E27FC236}">
                <a16:creationId xmlns:a16="http://schemas.microsoft.com/office/drawing/2014/main" id="{0266B115-6D3B-4796-B21E-EAD93F5C53CD}"/>
              </a:ext>
            </a:extLst>
          </p:cNvPr>
          <p:cNvSpPr>
            <a:spLocks noGrp="1"/>
          </p:cNvSpPr>
          <p:nvPr/>
        </p:nvSpPr>
        <p:spPr>
          <a:xfrm>
            <a:off x="10997098" y="363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5" name="Rectangle 6146">
            <a:extLst>
              <a:ext uri="{FF2B5EF4-FFF2-40B4-BE49-F238E27FC236}">
                <a16:creationId xmlns:a16="http://schemas.microsoft.com/office/drawing/2014/main" id="{770A6D02-D6A5-4D0A-AF65-079D611512C3}"/>
              </a:ext>
            </a:extLst>
          </p:cNvPr>
          <p:cNvSpPr>
            <a:spLocks noGrp="1"/>
          </p:cNvSpPr>
          <p:nvPr/>
        </p:nvSpPr>
        <p:spPr>
          <a:xfrm>
            <a:off x="6968023" y="338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7" name="Rectangle 6148">
            <a:extLst>
              <a:ext uri="{FF2B5EF4-FFF2-40B4-BE49-F238E27FC236}">
                <a16:creationId xmlns:a16="http://schemas.microsoft.com/office/drawing/2014/main" id="{BCACA1B1-B674-498E-8772-2F1FF2FAB165}"/>
              </a:ext>
            </a:extLst>
          </p:cNvPr>
          <p:cNvSpPr>
            <a:spLocks noGrp="1"/>
          </p:cNvSpPr>
          <p:nvPr/>
        </p:nvSpPr>
        <p:spPr>
          <a:xfrm>
            <a:off x="15026173" y="53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49" name="Rectangle 6150">
            <a:extLst>
              <a:ext uri="{FF2B5EF4-FFF2-40B4-BE49-F238E27FC236}">
                <a16:creationId xmlns:a16="http://schemas.microsoft.com/office/drawing/2014/main" id="{B5F4A24C-CC32-4F3D-8D83-ACB98EEF7D97}"/>
              </a:ext>
            </a:extLst>
          </p:cNvPr>
          <p:cNvSpPr>
            <a:spLocks noGrp="1"/>
          </p:cNvSpPr>
          <p:nvPr/>
        </p:nvSpPr>
        <p:spPr>
          <a:xfrm>
            <a:off x="10997098" y="510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1" name="Rectangle 6152">
            <a:extLst>
              <a:ext uri="{FF2B5EF4-FFF2-40B4-BE49-F238E27FC236}">
                <a16:creationId xmlns:a16="http://schemas.microsoft.com/office/drawing/2014/main" id="{D88D5B87-6A4E-4889-AF57-AB122D070D76}"/>
              </a:ext>
            </a:extLst>
          </p:cNvPr>
          <p:cNvSpPr>
            <a:spLocks noGrp="1"/>
          </p:cNvSpPr>
          <p:nvPr/>
        </p:nvSpPr>
        <p:spPr>
          <a:xfrm>
            <a:off x="6968023" y="485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3" name="Rectangle 6154">
            <a:extLst>
              <a:ext uri="{FF2B5EF4-FFF2-40B4-BE49-F238E27FC236}">
                <a16:creationId xmlns:a16="http://schemas.microsoft.com/office/drawing/2014/main" id="{4628C2E5-2B4F-4B09-ADE1-6E30443B87B3}"/>
              </a:ext>
            </a:extLst>
          </p:cNvPr>
          <p:cNvSpPr>
            <a:spLocks noGrp="1"/>
          </p:cNvSpPr>
          <p:nvPr/>
        </p:nvSpPr>
        <p:spPr>
          <a:xfrm>
            <a:off x="10997098" y="671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5" name="Rectangle 6156">
            <a:extLst>
              <a:ext uri="{FF2B5EF4-FFF2-40B4-BE49-F238E27FC236}">
                <a16:creationId xmlns:a16="http://schemas.microsoft.com/office/drawing/2014/main" id="{ED237200-42C5-4AF7-B1B9-E108871D87AC}"/>
              </a:ext>
            </a:extLst>
          </p:cNvPr>
          <p:cNvSpPr>
            <a:spLocks noGrp="1"/>
          </p:cNvSpPr>
          <p:nvPr/>
        </p:nvSpPr>
        <p:spPr>
          <a:xfrm>
            <a:off x="10997098" y="746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7" name="Rectangle 6158">
            <a:extLst>
              <a:ext uri="{FF2B5EF4-FFF2-40B4-BE49-F238E27FC236}">
                <a16:creationId xmlns:a16="http://schemas.microsoft.com/office/drawing/2014/main" id="{5281C0F4-6CF3-4204-98B3-4275EE36668B}"/>
              </a:ext>
            </a:extLst>
          </p:cNvPr>
          <p:cNvSpPr>
            <a:spLocks noGrp="1"/>
          </p:cNvSpPr>
          <p:nvPr/>
        </p:nvSpPr>
        <p:spPr>
          <a:xfrm>
            <a:off x="6968023" y="6467274"/>
            <a:ext cx="140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159" name="TextBox 6160">
            <a:extLst>
              <a:ext uri="{FF2B5EF4-FFF2-40B4-BE49-F238E27FC236}">
                <a16:creationId xmlns:a16="http://schemas.microsoft.com/office/drawing/2014/main" id="{42AF9DA0-A909-474A-B325-B0620BBE523F}"/>
              </a:ext>
            </a:extLst>
          </p:cNvPr>
          <p:cNvSpPr>
            <a:spLocks noGrp="1"/>
          </p:cNvSpPr>
          <p:nvPr/>
        </p:nvSpPr>
        <p:spPr>
          <a:xfrm>
            <a:off x="3008948" y="3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대응제안 → 진화 탭, 구분 필터</a:t>
            </a:r>
          </a:p>
        </p:txBody>
      </p:sp>
      <p:sp>
        <p:nvSpPr>
          <p:cNvPr id="6161" name="Connector 6162">
            <a:extLst>
              <a:ext uri="{FF2B5EF4-FFF2-40B4-BE49-F238E27FC236}">
                <a16:creationId xmlns:a16="http://schemas.microsoft.com/office/drawing/2014/main" id="{8D318F79-2764-4305-8D74-C022268600A6}"/>
              </a:ext>
            </a:extLst>
          </p:cNvPr>
          <p:cNvSpPr>
            <a:spLocks noGrp="1"/>
          </p:cNvSpPr>
          <p:nvPr/>
        </p:nvSpPr>
        <p:spPr>
          <a:xfrm>
            <a:off x="3008948" y="338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3" name="TextBox 6164">
            <a:extLst>
              <a:ext uri="{FF2B5EF4-FFF2-40B4-BE49-F238E27FC236}">
                <a16:creationId xmlns:a16="http://schemas.microsoft.com/office/drawing/2014/main" id="{34B7604C-70D7-484F-ACD6-1580C98347A1}"/>
              </a:ext>
            </a:extLst>
          </p:cNvPr>
          <p:cNvSpPr>
            <a:spLocks noGrp="1"/>
          </p:cNvSpPr>
          <p:nvPr/>
        </p:nvSpPr>
        <p:spPr>
          <a:xfrm>
            <a:off x="7038023" y="34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/proposals/latest?axis=진화</a:t>
            </a:r>
          </a:p>
        </p:txBody>
      </p:sp>
      <p:sp>
        <p:nvSpPr>
          <p:cNvPr id="6165" name="Connector 6166">
            <a:extLst>
              <a:ext uri="{FF2B5EF4-FFF2-40B4-BE49-F238E27FC236}">
                <a16:creationId xmlns:a16="http://schemas.microsoft.com/office/drawing/2014/main" id="{06578213-1CF3-4001-BA8B-9515843AC0E5}"/>
              </a:ext>
            </a:extLst>
          </p:cNvPr>
          <p:cNvSpPr>
            <a:spLocks noGrp="1"/>
          </p:cNvSpPr>
          <p:nvPr/>
        </p:nvSpPr>
        <p:spPr>
          <a:xfrm>
            <a:off x="7108023" y="363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67" name="TextBox 6168">
            <a:extLst>
              <a:ext uri="{FF2B5EF4-FFF2-40B4-BE49-F238E27FC236}">
                <a16:creationId xmlns:a16="http://schemas.microsoft.com/office/drawing/2014/main" id="{546B089F-F4D1-41C2-A4B9-3BDE38BEEAE9}"/>
              </a:ext>
            </a:extLst>
          </p:cNvPr>
          <p:cNvSpPr>
            <a:spLocks noGrp="1"/>
          </p:cNvSpPr>
          <p:nvPr/>
        </p:nvSpPr>
        <p:spPr>
          <a:xfrm>
            <a:off x="11067098" y="36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버전·항목 조회</a:t>
            </a:r>
          </a:p>
        </p:txBody>
      </p:sp>
      <p:sp>
        <p:nvSpPr>
          <p:cNvPr id="6169" name="Connector 6170">
            <a:extLst>
              <a:ext uri="{FF2B5EF4-FFF2-40B4-BE49-F238E27FC236}">
                <a16:creationId xmlns:a16="http://schemas.microsoft.com/office/drawing/2014/main" id="{6CD63CFA-6231-4E39-B3FE-7A36BC55DFA5}"/>
              </a:ext>
            </a:extLst>
          </p:cNvPr>
          <p:cNvSpPr>
            <a:spLocks noGrp="1"/>
          </p:cNvSpPr>
          <p:nvPr/>
        </p:nvSpPr>
        <p:spPr>
          <a:xfrm>
            <a:off x="11137098" y="388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1" name="TextBox 6172">
            <a:extLst>
              <a:ext uri="{FF2B5EF4-FFF2-40B4-BE49-F238E27FC236}">
                <a16:creationId xmlns:a16="http://schemas.microsoft.com/office/drawing/2014/main" id="{A8D03E16-CD45-459A-AA40-31E7F7AD3680}"/>
              </a:ext>
            </a:extLst>
          </p:cNvPr>
          <p:cNvSpPr>
            <a:spLocks noGrp="1"/>
          </p:cNvSpPr>
          <p:nvPr/>
        </p:nvSpPr>
        <p:spPr>
          <a:xfrm>
            <a:off x="7038023" y="39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 번호·사유 · 항목(S1~S7) · 구분 배지</a:t>
            </a:r>
          </a:p>
        </p:txBody>
      </p:sp>
      <p:sp>
        <p:nvSpPr>
          <p:cNvPr id="6173" name="Connector 6174">
            <a:extLst>
              <a:ext uri="{FF2B5EF4-FFF2-40B4-BE49-F238E27FC236}">
                <a16:creationId xmlns:a16="http://schemas.microsoft.com/office/drawing/2014/main" id="{42C9BBB3-1B96-46E1-890F-9E7E194811ED}"/>
              </a:ext>
            </a:extLst>
          </p:cNvPr>
          <p:cNvSpPr>
            <a:spLocks noGrp="1"/>
          </p:cNvSpPr>
          <p:nvPr/>
        </p:nvSpPr>
        <p:spPr>
          <a:xfrm flipH="1">
            <a:off x="7108023" y="413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5" name="TextBox 6176">
            <a:extLst>
              <a:ext uri="{FF2B5EF4-FFF2-40B4-BE49-F238E27FC236}">
                <a16:creationId xmlns:a16="http://schemas.microsoft.com/office/drawing/2014/main" id="{689AEBC6-8D74-430E-A27D-9627C08A308C}"/>
              </a:ext>
            </a:extLst>
          </p:cNvPr>
          <p:cNvSpPr>
            <a:spLocks noGrp="1"/>
          </p:cNvSpPr>
          <p:nvPr/>
        </p:nvSpPr>
        <p:spPr>
          <a:xfrm>
            <a:off x="3008948" y="4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 제안 목록 표시</a:t>
            </a:r>
          </a:p>
        </p:txBody>
      </p:sp>
      <p:sp>
        <p:nvSpPr>
          <p:cNvPr id="6177" name="Connector 6178">
            <a:extLst>
              <a:ext uri="{FF2B5EF4-FFF2-40B4-BE49-F238E27FC236}">
                <a16:creationId xmlns:a16="http://schemas.microsoft.com/office/drawing/2014/main" id="{765389E7-FAD1-4C4A-A64D-9B7B671A5032}"/>
              </a:ext>
            </a:extLst>
          </p:cNvPr>
          <p:cNvSpPr>
            <a:spLocks noGrp="1"/>
          </p:cNvSpPr>
          <p:nvPr/>
        </p:nvSpPr>
        <p:spPr>
          <a:xfrm flipH="1">
            <a:off x="3008948" y="438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79" name="TextBox 6180">
            <a:extLst>
              <a:ext uri="{FF2B5EF4-FFF2-40B4-BE49-F238E27FC236}">
                <a16:creationId xmlns:a16="http://schemas.microsoft.com/office/drawing/2014/main" id="{B65D96F4-DFD3-4A37-9E52-C8CBCD0D92B5}"/>
              </a:ext>
            </a:extLst>
          </p:cNvPr>
          <p:cNvSpPr>
            <a:spLocks noGrp="1"/>
          </p:cNvSpPr>
          <p:nvPr/>
        </p:nvSpPr>
        <p:spPr>
          <a:xfrm>
            <a:off x="3008948" y="4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클릭해 펼침 → 근거 번호 [k] 클릭</a:t>
            </a:r>
          </a:p>
        </p:txBody>
      </p:sp>
      <p:sp>
        <p:nvSpPr>
          <p:cNvPr id="6181" name="Connector 6182">
            <a:extLst>
              <a:ext uri="{FF2B5EF4-FFF2-40B4-BE49-F238E27FC236}">
                <a16:creationId xmlns:a16="http://schemas.microsoft.com/office/drawing/2014/main" id="{73A167B0-6F38-4CE5-B35D-5B5B59AB0C6A}"/>
              </a:ext>
            </a:extLst>
          </p:cNvPr>
          <p:cNvSpPr>
            <a:spLocks noGrp="1"/>
          </p:cNvSpPr>
          <p:nvPr/>
        </p:nvSpPr>
        <p:spPr>
          <a:xfrm>
            <a:off x="3008948" y="485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83" name="TextBox 6184">
            <a:extLst>
              <a:ext uri="{FF2B5EF4-FFF2-40B4-BE49-F238E27FC236}">
                <a16:creationId xmlns:a16="http://schemas.microsoft.com/office/drawing/2014/main" id="{3C17BB41-DFDD-4223-B360-5F9999B647EC}"/>
              </a:ext>
            </a:extLst>
          </p:cNvPr>
          <p:cNvSpPr>
            <a:spLocks noGrp="1"/>
          </p:cNvSpPr>
          <p:nvPr/>
        </p:nvSpPr>
        <p:spPr>
          <a:xfrm>
            <a:off x="7038023" y="48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/items/{id}/citations/{k}</a:t>
            </a:r>
          </a:p>
        </p:txBody>
      </p:sp>
      <p:sp>
        <p:nvSpPr>
          <p:cNvPr id="6185" name="Connector 6186">
            <a:extLst>
              <a:ext uri="{FF2B5EF4-FFF2-40B4-BE49-F238E27FC236}">
                <a16:creationId xmlns:a16="http://schemas.microsoft.com/office/drawing/2014/main" id="{EE5C8AFF-FE37-490C-8490-2F62BE6D5FEF}"/>
              </a:ext>
            </a:extLst>
          </p:cNvPr>
          <p:cNvSpPr>
            <a:spLocks noGrp="1"/>
          </p:cNvSpPr>
          <p:nvPr/>
        </p:nvSpPr>
        <p:spPr>
          <a:xfrm>
            <a:off x="7108023" y="510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87" name="TextBox 6188">
            <a:extLst>
              <a:ext uri="{FF2B5EF4-FFF2-40B4-BE49-F238E27FC236}">
                <a16:creationId xmlns:a16="http://schemas.microsoft.com/office/drawing/2014/main" id="{EB2DA16A-0945-4961-AD6F-34028D82E401}"/>
              </a:ext>
            </a:extLst>
          </p:cNvPr>
          <p:cNvSpPr>
            <a:spLocks noGrp="1"/>
          </p:cNvSpPr>
          <p:nvPr/>
        </p:nvSpPr>
        <p:spPr>
          <a:xfrm>
            <a:off x="11067098" y="51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인용·청크 조회</a:t>
            </a:r>
          </a:p>
        </p:txBody>
      </p:sp>
      <p:sp>
        <p:nvSpPr>
          <p:cNvPr id="6189" name="Connector 6190">
            <a:extLst>
              <a:ext uri="{FF2B5EF4-FFF2-40B4-BE49-F238E27FC236}">
                <a16:creationId xmlns:a16="http://schemas.microsoft.com/office/drawing/2014/main" id="{44093475-C933-4497-A29B-1F55E6304747}"/>
              </a:ext>
            </a:extLst>
          </p:cNvPr>
          <p:cNvSpPr>
            <a:spLocks noGrp="1"/>
          </p:cNvSpPr>
          <p:nvPr/>
        </p:nvSpPr>
        <p:spPr>
          <a:xfrm>
            <a:off x="11137098" y="535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1" name="TextBox 6192">
            <a:extLst>
              <a:ext uri="{FF2B5EF4-FFF2-40B4-BE49-F238E27FC236}">
                <a16:creationId xmlns:a16="http://schemas.microsoft.com/office/drawing/2014/main" id="{A726EA89-125C-4619-A532-7A7FFFE4055D}"/>
              </a:ext>
            </a:extLst>
          </p:cNvPr>
          <p:cNvSpPr>
            <a:spLocks noGrp="1"/>
          </p:cNvSpPr>
          <p:nvPr/>
        </p:nvSpPr>
        <p:spPr>
          <a:xfrm>
            <a:off x="7038023" y="53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문서·쪽수·조항·요약</a:t>
            </a:r>
          </a:p>
        </p:txBody>
      </p:sp>
      <p:sp>
        <p:nvSpPr>
          <p:cNvPr id="6193" name="Connector 6194">
            <a:extLst>
              <a:ext uri="{FF2B5EF4-FFF2-40B4-BE49-F238E27FC236}">
                <a16:creationId xmlns:a16="http://schemas.microsoft.com/office/drawing/2014/main" id="{2B0A2007-668A-4343-A97F-5158A91858EF}"/>
              </a:ext>
            </a:extLst>
          </p:cNvPr>
          <p:cNvSpPr>
            <a:spLocks noGrp="1"/>
          </p:cNvSpPr>
          <p:nvPr/>
        </p:nvSpPr>
        <p:spPr>
          <a:xfrm flipH="1">
            <a:off x="7108023" y="560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5" name="TextBox 6196">
            <a:extLst>
              <a:ext uri="{FF2B5EF4-FFF2-40B4-BE49-F238E27FC236}">
                <a16:creationId xmlns:a16="http://schemas.microsoft.com/office/drawing/2014/main" id="{0B381B88-0312-4BE8-AA5F-225595F89169}"/>
              </a:ext>
            </a:extLst>
          </p:cNvPr>
          <p:cNvSpPr>
            <a:spLocks noGrp="1"/>
          </p:cNvSpPr>
          <p:nvPr/>
        </p:nvSpPr>
        <p:spPr>
          <a:xfrm>
            <a:off x="3008948" y="5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창 표시</a:t>
            </a:r>
          </a:p>
        </p:txBody>
      </p:sp>
      <p:sp>
        <p:nvSpPr>
          <p:cNvPr id="6197" name="Connector 6198">
            <a:extLst>
              <a:ext uri="{FF2B5EF4-FFF2-40B4-BE49-F238E27FC236}">
                <a16:creationId xmlns:a16="http://schemas.microsoft.com/office/drawing/2014/main" id="{89D16975-B221-4530-B53A-292D8C05CA3E}"/>
              </a:ext>
            </a:extLst>
          </p:cNvPr>
          <p:cNvSpPr>
            <a:spLocks noGrp="1"/>
          </p:cNvSpPr>
          <p:nvPr/>
        </p:nvSpPr>
        <p:spPr>
          <a:xfrm flipH="1">
            <a:off x="3008948" y="585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99" name="TextBox 6200">
            <a:extLst>
              <a:ext uri="{FF2B5EF4-FFF2-40B4-BE49-F238E27FC236}">
                <a16:creationId xmlns:a16="http://schemas.microsoft.com/office/drawing/2014/main" id="{8B0E0E2F-33C2-4965-9D23-3AFB9BA5EB18}"/>
              </a:ext>
            </a:extLst>
          </p:cNvPr>
          <p:cNvSpPr>
            <a:spLocks noGrp="1"/>
          </p:cNvSpPr>
          <p:nvPr/>
        </p:nvSpPr>
        <p:spPr>
          <a:xfrm>
            <a:off x="3008948" y="6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이력 탭(제안이력 메뉴)</a:t>
            </a:r>
          </a:p>
        </p:txBody>
      </p:sp>
      <p:sp>
        <p:nvSpPr>
          <p:cNvPr id="6201" name="Connector 6202">
            <a:extLst>
              <a:ext uri="{FF2B5EF4-FFF2-40B4-BE49-F238E27FC236}">
                <a16:creationId xmlns:a16="http://schemas.microsoft.com/office/drawing/2014/main" id="{CF822B57-9B47-4305-8C17-EF15AB769E79}"/>
              </a:ext>
            </a:extLst>
          </p:cNvPr>
          <p:cNvSpPr>
            <a:spLocks noGrp="1"/>
          </p:cNvSpPr>
          <p:nvPr/>
        </p:nvSpPr>
        <p:spPr>
          <a:xfrm>
            <a:off x="3008948" y="646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3" name="TextBox 6204">
            <a:extLst>
              <a:ext uri="{FF2B5EF4-FFF2-40B4-BE49-F238E27FC236}">
                <a16:creationId xmlns:a16="http://schemas.microsoft.com/office/drawing/2014/main" id="{02A720F3-E7CF-4BD8-93F5-00664EEC157E}"/>
              </a:ext>
            </a:extLst>
          </p:cNvPr>
          <p:cNvSpPr>
            <a:spLocks noGrp="1"/>
          </p:cNvSpPr>
          <p:nvPr/>
        </p:nvSpPr>
        <p:spPr>
          <a:xfrm>
            <a:off x="7038023" y="6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/incidents/{id}/versions · /events</a:t>
            </a:r>
          </a:p>
        </p:txBody>
      </p:sp>
      <p:sp>
        <p:nvSpPr>
          <p:cNvPr id="6205" name="Connector 6206">
            <a:extLst>
              <a:ext uri="{FF2B5EF4-FFF2-40B4-BE49-F238E27FC236}">
                <a16:creationId xmlns:a16="http://schemas.microsoft.com/office/drawing/2014/main" id="{C10360C6-1810-4FE1-AFAF-6791CE39C334}"/>
              </a:ext>
            </a:extLst>
          </p:cNvPr>
          <p:cNvSpPr>
            <a:spLocks noGrp="1"/>
          </p:cNvSpPr>
          <p:nvPr/>
        </p:nvSpPr>
        <p:spPr>
          <a:xfrm>
            <a:off x="7108023" y="671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07" name="TextBox 6208">
            <a:extLst>
              <a:ext uri="{FF2B5EF4-FFF2-40B4-BE49-F238E27FC236}">
                <a16:creationId xmlns:a16="http://schemas.microsoft.com/office/drawing/2014/main" id="{32C75C7E-C7A8-4E13-B7D5-200FA8AA8A55}"/>
              </a:ext>
            </a:extLst>
          </p:cNvPr>
          <p:cNvSpPr>
            <a:spLocks noGrp="1"/>
          </p:cNvSpPr>
          <p:nvPr/>
        </p:nvSpPr>
        <p:spPr>
          <a:xfrm>
            <a:off x="7038023" y="6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버전별 사유·건수·변경 수, 이벤트 로그</a:t>
            </a:r>
          </a:p>
        </p:txBody>
      </p:sp>
      <p:sp>
        <p:nvSpPr>
          <p:cNvPr id="6209" name="Connector 6210">
            <a:extLst>
              <a:ext uri="{FF2B5EF4-FFF2-40B4-BE49-F238E27FC236}">
                <a16:creationId xmlns:a16="http://schemas.microsoft.com/office/drawing/2014/main" id="{E7710F46-4454-4676-B9EF-9B2EABCD72BD}"/>
              </a:ext>
            </a:extLst>
          </p:cNvPr>
          <p:cNvSpPr>
            <a:spLocks noGrp="1"/>
          </p:cNvSpPr>
          <p:nvPr/>
        </p:nvSpPr>
        <p:spPr>
          <a:xfrm flipH="1">
            <a:off x="7108023" y="696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1" name="TextBox 6212">
            <a:extLst>
              <a:ext uri="{FF2B5EF4-FFF2-40B4-BE49-F238E27FC236}">
                <a16:creationId xmlns:a16="http://schemas.microsoft.com/office/drawing/2014/main" id="{8818BFCF-6CEE-47D9-942D-A40A519173D2}"/>
              </a:ext>
            </a:extLst>
          </p:cNvPr>
          <p:cNvSpPr>
            <a:spLocks noGrp="1"/>
          </p:cNvSpPr>
          <p:nvPr/>
        </p:nvSpPr>
        <p:spPr>
          <a:xfrm>
            <a:off x="3008948" y="69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'변경' 태그 클릭(선택 시)</a:t>
            </a:r>
          </a:p>
        </p:txBody>
      </p:sp>
      <p:sp>
        <p:nvSpPr>
          <p:cNvPr id="6213" name="Connector 6214">
            <a:extLst>
              <a:ext uri="{FF2B5EF4-FFF2-40B4-BE49-F238E27FC236}">
                <a16:creationId xmlns:a16="http://schemas.microsoft.com/office/drawing/2014/main" id="{28940A31-6966-484E-AEE2-1F2342F28C87}"/>
              </a:ext>
            </a:extLst>
          </p:cNvPr>
          <p:cNvSpPr>
            <a:spLocks noGrp="1"/>
          </p:cNvSpPr>
          <p:nvPr/>
        </p:nvSpPr>
        <p:spPr>
          <a:xfrm>
            <a:off x="3008948" y="721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5" name="TextBox 6216">
            <a:extLst>
              <a:ext uri="{FF2B5EF4-FFF2-40B4-BE49-F238E27FC236}">
                <a16:creationId xmlns:a16="http://schemas.microsoft.com/office/drawing/2014/main" id="{9D1E5C39-5200-4187-87D1-243172851B98}"/>
              </a:ext>
            </a:extLst>
          </p:cNvPr>
          <p:cNvSpPr>
            <a:spLocks noGrp="1"/>
          </p:cNvSpPr>
          <p:nvPr/>
        </p:nvSpPr>
        <p:spPr>
          <a:xfrm>
            <a:off x="7038023" y="7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/proposals/{id}/diff</a:t>
            </a:r>
          </a:p>
        </p:txBody>
      </p:sp>
      <p:sp>
        <p:nvSpPr>
          <p:cNvPr id="6217" name="Connector 6218">
            <a:extLst>
              <a:ext uri="{FF2B5EF4-FFF2-40B4-BE49-F238E27FC236}">
                <a16:creationId xmlns:a16="http://schemas.microsoft.com/office/drawing/2014/main" id="{7E2F18F9-7B71-4CDB-ADB2-2EDEB15070DA}"/>
              </a:ext>
            </a:extLst>
          </p:cNvPr>
          <p:cNvSpPr>
            <a:spLocks noGrp="1"/>
          </p:cNvSpPr>
          <p:nvPr/>
        </p:nvSpPr>
        <p:spPr>
          <a:xfrm>
            <a:off x="7108023" y="746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19" name="TextBox 6220">
            <a:extLst>
              <a:ext uri="{FF2B5EF4-FFF2-40B4-BE49-F238E27FC236}">
                <a16:creationId xmlns:a16="http://schemas.microsoft.com/office/drawing/2014/main" id="{7F9688A2-21F6-4ED1-92DA-10A75F94DE65}"/>
              </a:ext>
            </a:extLst>
          </p:cNvPr>
          <p:cNvSpPr>
            <a:spLocks noGrp="1"/>
          </p:cNvSpPr>
          <p:nvPr/>
        </p:nvSpPr>
        <p:spPr>
          <a:xfrm>
            <a:off x="7038023" y="7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직전 버전 대비 이전·이후 문장</a:t>
            </a:r>
          </a:p>
        </p:txBody>
      </p:sp>
      <p:sp>
        <p:nvSpPr>
          <p:cNvPr id="6221" name="Connector 6222">
            <a:extLst>
              <a:ext uri="{FF2B5EF4-FFF2-40B4-BE49-F238E27FC236}">
                <a16:creationId xmlns:a16="http://schemas.microsoft.com/office/drawing/2014/main" id="{A1D2AAAA-7F40-49B3-8004-55D2CCFABF91}"/>
              </a:ext>
            </a:extLst>
          </p:cNvPr>
          <p:cNvSpPr>
            <a:spLocks noGrp="1"/>
          </p:cNvSpPr>
          <p:nvPr/>
        </p:nvSpPr>
        <p:spPr>
          <a:xfrm flipH="1">
            <a:off x="7108023" y="771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23" name="TextBox 6224">
            <a:extLst>
              <a:ext uri="{FF2B5EF4-FFF2-40B4-BE49-F238E27FC236}">
                <a16:creationId xmlns:a16="http://schemas.microsoft.com/office/drawing/2014/main" id="{ACCD45F4-9F6A-4359-83C2-97BCFB8DED80}"/>
              </a:ext>
            </a:extLst>
          </p:cNvPr>
          <p:cNvSpPr>
            <a:spLocks noGrp="1"/>
          </p:cNvSpPr>
          <p:nvPr/>
        </p:nvSpPr>
        <p:spPr>
          <a:xfrm>
            <a:off x="3008948" y="7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내용 팝업 표시</a:t>
            </a:r>
          </a:p>
        </p:txBody>
      </p:sp>
      <p:sp>
        <p:nvSpPr>
          <p:cNvPr id="6225" name="Connector 6226">
            <a:extLst>
              <a:ext uri="{FF2B5EF4-FFF2-40B4-BE49-F238E27FC236}">
                <a16:creationId xmlns:a16="http://schemas.microsoft.com/office/drawing/2014/main" id="{088F177D-F7E6-49CB-AE6C-75870AC70735}"/>
              </a:ext>
            </a:extLst>
          </p:cNvPr>
          <p:cNvSpPr>
            <a:spLocks noGrp="1"/>
          </p:cNvSpPr>
          <p:nvPr/>
        </p:nvSpPr>
        <p:spPr>
          <a:xfrm flipH="1">
            <a:off x="3008948" y="7967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29" name="Rectangle 6130">
            <a:extLst>
              <a:ext uri="{FF2B5EF4-FFF2-40B4-BE49-F238E27FC236}">
                <a16:creationId xmlns:a16="http://schemas.microsoft.com/office/drawing/2014/main" id="{C18F7372-B7C8-4E6B-AEA5-5FC72B2E9230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14794765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31" name="Rectangle 6132">
            <a:extLst>
              <a:ext uri="{FF2B5EF4-FFF2-40B4-BE49-F238E27FC236}">
                <a16:creationId xmlns:a16="http://schemas.microsoft.com/office/drawing/2014/main" id="{4116ECFF-8F39-4273-82FB-1F448904B2F3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133" name="TextBox 6134">
            <a:extLst>
              <a:ext uri="{FF2B5EF4-FFF2-40B4-BE49-F238E27FC236}">
                <a16:creationId xmlns:a16="http://schemas.microsoft.com/office/drawing/2014/main" id="{2B88A92C-A868-49E0-A936-B343CE73818F}"/>
              </a:ext>
            </a:extLst>
          </p:cNvPr>
          <p:cNvSpPr>
            <a:spLocks noGrp="1"/>
          </p:cNvSpPr>
          <p:nvPr/>
        </p:nvSpPr>
        <p:spPr>
          <a:xfrm>
            <a:off x="2463838" y="441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[UC-PROP-03] 근거 조회 — 근거 번호 [k] 클릭</a:t>
            </a:r>
          </a:p>
        </p:txBody>
      </p:sp>
      <p:sp>
        <p:nvSpPr>
          <p:cNvPr id="6135" name="Rectangle 6136">
            <a:extLst>
              <a:ext uri="{FF2B5EF4-FFF2-40B4-BE49-F238E27FC236}">
                <a16:creationId xmlns:a16="http://schemas.microsoft.com/office/drawing/2014/main" id="{175074C7-81E1-4385-8A73-2B91338470CB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14794765" cy="209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137" name="Rectangle 6138">
            <a:extLst>
              <a:ext uri="{FF2B5EF4-FFF2-40B4-BE49-F238E27FC236}">
                <a16:creationId xmlns:a16="http://schemas.microsoft.com/office/drawing/2014/main" id="{27CF8064-7CB4-4767-84BB-00E47DF5C2EA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139" name="TextBox 6140">
            <a:extLst>
              <a:ext uri="{FF2B5EF4-FFF2-40B4-BE49-F238E27FC236}">
                <a16:creationId xmlns:a16="http://schemas.microsoft.com/office/drawing/2014/main" id="{C8F47EAD-3280-4562-9301-866158411E72}"/>
              </a:ext>
            </a:extLst>
          </p:cNvPr>
          <p:cNvSpPr>
            <a:spLocks noGrp="1"/>
          </p:cNvSpPr>
          <p:nvPr/>
        </p:nvSpPr>
        <p:spPr>
          <a:xfrm>
            <a:off x="2463838" y="599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[UC-PROP-04] 제안 이력·변경사항 조회</a:t>
            </a:r>
          </a:p>
        </p:txBody>
      </p:sp>
    </p:spTree>
    <p:extLst>
      <p:ext uri="{BB962C8B-B14F-4D97-AF65-F5344CB8AC3E}">
        <p14:creationId xmlns:p14="http://schemas.microsoft.com/office/powerpoint/2010/main" val="1671756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3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3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3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9B7B5B8B-1B81-4D28-BAD3-DD0F27C5226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D204784F-7DE1-46D9-9BBC-13651EE0868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대피 제안 열람 · 근거 조회 · 이력·변경사항 조회  (UC-PROP-02)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45</a:t>
            </a:fld>
            <a:endParaRPr/>
          </a:p>
        </p:txBody>
      </p:sp>
      <p:sp>
        <p:nvSpPr>
          <p:cNvPr id="6341" name="Rounded Rectangle 6342">
            <a:extLst>
              <a:ext uri="{FF2B5EF4-FFF2-40B4-BE49-F238E27FC236}">
                <a16:creationId xmlns:a16="http://schemas.microsoft.com/office/drawing/2014/main" id="{AE17461C-0CF9-4BA0-ADB7-835D8017B800}"/>
              </a:ext>
            </a:extLst>
          </p:cNvPr>
          <p:cNvSpPr>
            <a:spLocks noGrp="1"/>
          </p:cNvSpPr>
          <p:nvPr/>
        </p:nvSpPr>
        <p:spPr>
          <a:xfrm>
            <a:off x="186594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343" name="Connector 6344">
            <a:extLst>
              <a:ext uri="{FF2B5EF4-FFF2-40B4-BE49-F238E27FC236}">
                <a16:creationId xmlns:a16="http://schemas.microsoft.com/office/drawing/2014/main" id="{DA490454-2B85-434B-B1E7-D64F48E18261}"/>
              </a:ext>
            </a:extLst>
          </p:cNvPr>
          <p:cNvSpPr>
            <a:spLocks noGrp="1"/>
          </p:cNvSpPr>
          <p:nvPr/>
        </p:nvSpPr>
        <p:spPr>
          <a:xfrm>
            <a:off x="300894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5" name="Rounded Rectangle 6346">
            <a:extLst>
              <a:ext uri="{FF2B5EF4-FFF2-40B4-BE49-F238E27FC236}">
                <a16:creationId xmlns:a16="http://schemas.microsoft.com/office/drawing/2014/main" id="{47026461-FF95-4C2E-A495-F0F543B31FE6}"/>
              </a:ext>
            </a:extLst>
          </p:cNvPr>
          <p:cNvSpPr>
            <a:spLocks noGrp="1"/>
          </p:cNvSpPr>
          <p:nvPr/>
        </p:nvSpPr>
        <p:spPr>
          <a:xfrm>
            <a:off x="589502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347" name="Connector 6348">
            <a:extLst>
              <a:ext uri="{FF2B5EF4-FFF2-40B4-BE49-F238E27FC236}">
                <a16:creationId xmlns:a16="http://schemas.microsoft.com/office/drawing/2014/main" id="{FFD4047E-5842-4049-982E-38A03FA0B230}"/>
              </a:ext>
            </a:extLst>
          </p:cNvPr>
          <p:cNvSpPr>
            <a:spLocks noGrp="1"/>
          </p:cNvSpPr>
          <p:nvPr/>
        </p:nvSpPr>
        <p:spPr>
          <a:xfrm>
            <a:off x="703802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9" name="Rounded Rectangle 6350">
            <a:extLst>
              <a:ext uri="{FF2B5EF4-FFF2-40B4-BE49-F238E27FC236}">
                <a16:creationId xmlns:a16="http://schemas.microsoft.com/office/drawing/2014/main" id="{3A7C6047-F4D4-4FDC-97A6-5DA3440A479C}"/>
              </a:ext>
            </a:extLst>
          </p:cNvPr>
          <p:cNvSpPr>
            <a:spLocks noGrp="1"/>
          </p:cNvSpPr>
          <p:nvPr/>
        </p:nvSpPr>
        <p:spPr>
          <a:xfrm>
            <a:off x="9924098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6351" name="Connector 6352">
            <a:extLst>
              <a:ext uri="{FF2B5EF4-FFF2-40B4-BE49-F238E27FC236}">
                <a16:creationId xmlns:a16="http://schemas.microsoft.com/office/drawing/2014/main" id="{99D04BCC-A573-48D9-BA69-35B36460C112}"/>
              </a:ext>
            </a:extLst>
          </p:cNvPr>
          <p:cNvSpPr>
            <a:spLocks noGrp="1"/>
          </p:cNvSpPr>
          <p:nvPr/>
        </p:nvSpPr>
        <p:spPr>
          <a:xfrm>
            <a:off x="11067098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3" name="Rounded Rectangle 6354">
            <a:extLst>
              <a:ext uri="{FF2B5EF4-FFF2-40B4-BE49-F238E27FC236}">
                <a16:creationId xmlns:a16="http://schemas.microsoft.com/office/drawing/2014/main" id="{95A0E5F6-4A37-4963-843D-45CCFE289EA9}"/>
              </a:ext>
            </a:extLst>
          </p:cNvPr>
          <p:cNvSpPr>
            <a:spLocks noGrp="1"/>
          </p:cNvSpPr>
          <p:nvPr/>
        </p:nvSpPr>
        <p:spPr>
          <a:xfrm>
            <a:off x="13953173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355" name="Connector 6356">
            <a:extLst>
              <a:ext uri="{FF2B5EF4-FFF2-40B4-BE49-F238E27FC236}">
                <a16:creationId xmlns:a16="http://schemas.microsoft.com/office/drawing/2014/main" id="{43085E45-C664-4938-8D66-36907A03201C}"/>
              </a:ext>
            </a:extLst>
          </p:cNvPr>
          <p:cNvSpPr>
            <a:spLocks noGrp="1"/>
          </p:cNvSpPr>
          <p:nvPr/>
        </p:nvSpPr>
        <p:spPr>
          <a:xfrm>
            <a:off x="15096173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55" name="Rectangle 6256">
            <a:extLst>
              <a:ext uri="{FF2B5EF4-FFF2-40B4-BE49-F238E27FC236}">
                <a16:creationId xmlns:a16="http://schemas.microsoft.com/office/drawing/2014/main" id="{E852052D-24EA-4D67-96EB-5F326C7D374D}"/>
              </a:ext>
            </a:extLst>
          </p:cNvPr>
          <p:cNvSpPr>
            <a:spLocks noGrp="1"/>
          </p:cNvSpPr>
          <p:nvPr/>
        </p:nvSpPr>
        <p:spPr>
          <a:xfrm>
            <a:off x="15026173" y="388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57" name="Rectangle 6258">
            <a:extLst>
              <a:ext uri="{FF2B5EF4-FFF2-40B4-BE49-F238E27FC236}">
                <a16:creationId xmlns:a16="http://schemas.microsoft.com/office/drawing/2014/main" id="{162847C8-BEEE-4A63-B3EF-0C8F373EAC36}"/>
              </a:ext>
            </a:extLst>
          </p:cNvPr>
          <p:cNvSpPr>
            <a:spLocks noGrp="1"/>
          </p:cNvSpPr>
          <p:nvPr/>
        </p:nvSpPr>
        <p:spPr>
          <a:xfrm>
            <a:off x="10997098" y="363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59" name="Rectangle 6260">
            <a:extLst>
              <a:ext uri="{FF2B5EF4-FFF2-40B4-BE49-F238E27FC236}">
                <a16:creationId xmlns:a16="http://schemas.microsoft.com/office/drawing/2014/main" id="{1C2BDD40-FA81-4E69-9FEE-1303901653AA}"/>
              </a:ext>
            </a:extLst>
          </p:cNvPr>
          <p:cNvSpPr>
            <a:spLocks noGrp="1"/>
          </p:cNvSpPr>
          <p:nvPr/>
        </p:nvSpPr>
        <p:spPr>
          <a:xfrm>
            <a:off x="6968023" y="338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1" name="Rectangle 6262">
            <a:extLst>
              <a:ext uri="{FF2B5EF4-FFF2-40B4-BE49-F238E27FC236}">
                <a16:creationId xmlns:a16="http://schemas.microsoft.com/office/drawing/2014/main" id="{14AFD015-8DFA-4D6A-8EC3-9BE0A829E5CF}"/>
              </a:ext>
            </a:extLst>
          </p:cNvPr>
          <p:cNvSpPr>
            <a:spLocks noGrp="1"/>
          </p:cNvSpPr>
          <p:nvPr/>
        </p:nvSpPr>
        <p:spPr>
          <a:xfrm>
            <a:off x="15026173" y="53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3" name="Rectangle 6264">
            <a:extLst>
              <a:ext uri="{FF2B5EF4-FFF2-40B4-BE49-F238E27FC236}">
                <a16:creationId xmlns:a16="http://schemas.microsoft.com/office/drawing/2014/main" id="{97AE21B9-0A41-431D-9F85-B7F43E98138B}"/>
              </a:ext>
            </a:extLst>
          </p:cNvPr>
          <p:cNvSpPr>
            <a:spLocks noGrp="1"/>
          </p:cNvSpPr>
          <p:nvPr/>
        </p:nvSpPr>
        <p:spPr>
          <a:xfrm>
            <a:off x="10997098" y="5102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5" name="Rectangle 6266">
            <a:extLst>
              <a:ext uri="{FF2B5EF4-FFF2-40B4-BE49-F238E27FC236}">
                <a16:creationId xmlns:a16="http://schemas.microsoft.com/office/drawing/2014/main" id="{25943066-E90F-4564-BF99-A6AB733F7AD8}"/>
              </a:ext>
            </a:extLst>
          </p:cNvPr>
          <p:cNvSpPr>
            <a:spLocks noGrp="1"/>
          </p:cNvSpPr>
          <p:nvPr/>
        </p:nvSpPr>
        <p:spPr>
          <a:xfrm>
            <a:off x="6968023" y="4852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7" name="Rectangle 6268">
            <a:extLst>
              <a:ext uri="{FF2B5EF4-FFF2-40B4-BE49-F238E27FC236}">
                <a16:creationId xmlns:a16="http://schemas.microsoft.com/office/drawing/2014/main" id="{C0B51AD3-5D8B-4A70-A51E-5F2FBE601D72}"/>
              </a:ext>
            </a:extLst>
          </p:cNvPr>
          <p:cNvSpPr>
            <a:spLocks noGrp="1"/>
          </p:cNvSpPr>
          <p:nvPr/>
        </p:nvSpPr>
        <p:spPr>
          <a:xfrm>
            <a:off x="10997098" y="671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69" name="Rectangle 6270">
            <a:extLst>
              <a:ext uri="{FF2B5EF4-FFF2-40B4-BE49-F238E27FC236}">
                <a16:creationId xmlns:a16="http://schemas.microsoft.com/office/drawing/2014/main" id="{780A4E62-AB5F-435F-B315-9846AB1C8422}"/>
              </a:ext>
            </a:extLst>
          </p:cNvPr>
          <p:cNvSpPr>
            <a:spLocks noGrp="1"/>
          </p:cNvSpPr>
          <p:nvPr/>
        </p:nvSpPr>
        <p:spPr>
          <a:xfrm>
            <a:off x="10997098" y="746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71" name="Rectangle 6272">
            <a:extLst>
              <a:ext uri="{FF2B5EF4-FFF2-40B4-BE49-F238E27FC236}">
                <a16:creationId xmlns:a16="http://schemas.microsoft.com/office/drawing/2014/main" id="{475180E6-63BE-4E08-AE32-47C4BA67FA64}"/>
              </a:ext>
            </a:extLst>
          </p:cNvPr>
          <p:cNvSpPr>
            <a:spLocks noGrp="1"/>
          </p:cNvSpPr>
          <p:nvPr/>
        </p:nvSpPr>
        <p:spPr>
          <a:xfrm>
            <a:off x="6968023" y="6467274"/>
            <a:ext cx="14000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273" name="TextBox 6274">
            <a:extLst>
              <a:ext uri="{FF2B5EF4-FFF2-40B4-BE49-F238E27FC236}">
                <a16:creationId xmlns:a16="http://schemas.microsoft.com/office/drawing/2014/main" id="{BBB3E9F2-16AB-4CA4-8C6E-D67EE326BDBC}"/>
              </a:ext>
            </a:extLst>
          </p:cNvPr>
          <p:cNvSpPr>
            <a:spLocks noGrp="1"/>
          </p:cNvSpPr>
          <p:nvPr/>
        </p:nvSpPr>
        <p:spPr>
          <a:xfrm>
            <a:off x="3008948" y="3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대응제안 → 대피 탭, 구분 필터</a:t>
            </a:r>
          </a:p>
        </p:txBody>
      </p:sp>
      <p:sp>
        <p:nvSpPr>
          <p:cNvPr id="6275" name="Connector 6276">
            <a:extLst>
              <a:ext uri="{FF2B5EF4-FFF2-40B4-BE49-F238E27FC236}">
                <a16:creationId xmlns:a16="http://schemas.microsoft.com/office/drawing/2014/main" id="{1E96A605-F487-4F10-9E93-E7CBF43D4063}"/>
              </a:ext>
            </a:extLst>
          </p:cNvPr>
          <p:cNvSpPr>
            <a:spLocks noGrp="1"/>
          </p:cNvSpPr>
          <p:nvPr/>
        </p:nvSpPr>
        <p:spPr>
          <a:xfrm>
            <a:off x="3008948" y="338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77" name="TextBox 6278">
            <a:extLst>
              <a:ext uri="{FF2B5EF4-FFF2-40B4-BE49-F238E27FC236}">
                <a16:creationId xmlns:a16="http://schemas.microsoft.com/office/drawing/2014/main" id="{367122EA-5CA2-477B-A453-5BF07DF67605}"/>
              </a:ext>
            </a:extLst>
          </p:cNvPr>
          <p:cNvSpPr>
            <a:spLocks noGrp="1"/>
          </p:cNvSpPr>
          <p:nvPr/>
        </p:nvSpPr>
        <p:spPr>
          <a:xfrm>
            <a:off x="7038023" y="34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/proposals/latest?axis=대피</a:t>
            </a:r>
          </a:p>
        </p:txBody>
      </p:sp>
      <p:sp>
        <p:nvSpPr>
          <p:cNvPr id="6279" name="Connector 6280">
            <a:extLst>
              <a:ext uri="{FF2B5EF4-FFF2-40B4-BE49-F238E27FC236}">
                <a16:creationId xmlns:a16="http://schemas.microsoft.com/office/drawing/2014/main" id="{01F256A0-9E23-4071-9CB9-CE78F3465B12}"/>
              </a:ext>
            </a:extLst>
          </p:cNvPr>
          <p:cNvSpPr>
            <a:spLocks noGrp="1"/>
          </p:cNvSpPr>
          <p:nvPr/>
        </p:nvSpPr>
        <p:spPr>
          <a:xfrm>
            <a:off x="7108023" y="363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1" name="TextBox 6282">
            <a:extLst>
              <a:ext uri="{FF2B5EF4-FFF2-40B4-BE49-F238E27FC236}">
                <a16:creationId xmlns:a16="http://schemas.microsoft.com/office/drawing/2014/main" id="{9F5D6906-6A7C-4DD9-AF43-D7AC7EBC3713}"/>
              </a:ext>
            </a:extLst>
          </p:cNvPr>
          <p:cNvSpPr>
            <a:spLocks noGrp="1"/>
          </p:cNvSpPr>
          <p:nvPr/>
        </p:nvSpPr>
        <p:spPr>
          <a:xfrm>
            <a:off x="11067098" y="36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버전·항목 조회</a:t>
            </a:r>
          </a:p>
        </p:txBody>
      </p:sp>
      <p:sp>
        <p:nvSpPr>
          <p:cNvPr id="6283" name="Connector 6284">
            <a:extLst>
              <a:ext uri="{FF2B5EF4-FFF2-40B4-BE49-F238E27FC236}">
                <a16:creationId xmlns:a16="http://schemas.microsoft.com/office/drawing/2014/main" id="{19760F10-A6F1-495D-86E1-980891BD55E2}"/>
              </a:ext>
            </a:extLst>
          </p:cNvPr>
          <p:cNvSpPr>
            <a:spLocks noGrp="1"/>
          </p:cNvSpPr>
          <p:nvPr/>
        </p:nvSpPr>
        <p:spPr>
          <a:xfrm>
            <a:off x="11137098" y="388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5" name="TextBox 6286">
            <a:extLst>
              <a:ext uri="{FF2B5EF4-FFF2-40B4-BE49-F238E27FC236}">
                <a16:creationId xmlns:a16="http://schemas.microsoft.com/office/drawing/2014/main" id="{F363EA26-58B5-40C1-9190-1F531FFCDBF2}"/>
              </a:ext>
            </a:extLst>
          </p:cNvPr>
          <p:cNvSpPr>
            <a:spLocks noGrp="1"/>
          </p:cNvSpPr>
          <p:nvPr/>
        </p:nvSpPr>
        <p:spPr>
          <a:xfrm>
            <a:off x="7038023" y="390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 번호·사유 · 항목(E1~E7) · 구분 배지</a:t>
            </a:r>
          </a:p>
        </p:txBody>
      </p:sp>
      <p:sp>
        <p:nvSpPr>
          <p:cNvPr id="6287" name="Connector 6288">
            <a:extLst>
              <a:ext uri="{FF2B5EF4-FFF2-40B4-BE49-F238E27FC236}">
                <a16:creationId xmlns:a16="http://schemas.microsoft.com/office/drawing/2014/main" id="{14E2CD22-6AA9-421E-B1A7-32916CA07F1B}"/>
              </a:ext>
            </a:extLst>
          </p:cNvPr>
          <p:cNvSpPr>
            <a:spLocks noGrp="1"/>
          </p:cNvSpPr>
          <p:nvPr/>
        </p:nvSpPr>
        <p:spPr>
          <a:xfrm flipH="1">
            <a:off x="7108023" y="413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89" name="TextBox 6290">
            <a:extLst>
              <a:ext uri="{FF2B5EF4-FFF2-40B4-BE49-F238E27FC236}">
                <a16:creationId xmlns:a16="http://schemas.microsoft.com/office/drawing/2014/main" id="{A0D75CCA-C93F-406A-A96F-87EBC6FF2450}"/>
              </a:ext>
            </a:extLst>
          </p:cNvPr>
          <p:cNvSpPr>
            <a:spLocks noGrp="1"/>
          </p:cNvSpPr>
          <p:nvPr/>
        </p:nvSpPr>
        <p:spPr>
          <a:xfrm>
            <a:off x="3008948" y="415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대피 제안 목록 표시</a:t>
            </a:r>
          </a:p>
        </p:txBody>
      </p:sp>
      <p:sp>
        <p:nvSpPr>
          <p:cNvPr id="6291" name="Connector 6292">
            <a:extLst>
              <a:ext uri="{FF2B5EF4-FFF2-40B4-BE49-F238E27FC236}">
                <a16:creationId xmlns:a16="http://schemas.microsoft.com/office/drawing/2014/main" id="{BAD6286A-A68B-40CA-8BC8-889F2EDF5828}"/>
              </a:ext>
            </a:extLst>
          </p:cNvPr>
          <p:cNvSpPr>
            <a:spLocks noGrp="1"/>
          </p:cNvSpPr>
          <p:nvPr/>
        </p:nvSpPr>
        <p:spPr>
          <a:xfrm flipH="1">
            <a:off x="3008948" y="438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3" name="TextBox 6294">
            <a:extLst>
              <a:ext uri="{FF2B5EF4-FFF2-40B4-BE49-F238E27FC236}">
                <a16:creationId xmlns:a16="http://schemas.microsoft.com/office/drawing/2014/main" id="{F6AF547A-90E7-44DC-B5D3-CD817B6CD72D}"/>
              </a:ext>
            </a:extLst>
          </p:cNvPr>
          <p:cNvSpPr>
            <a:spLocks noGrp="1"/>
          </p:cNvSpPr>
          <p:nvPr/>
        </p:nvSpPr>
        <p:spPr>
          <a:xfrm>
            <a:off x="3008948" y="4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항목 클릭해 펼침 → 근거 번호 [k] 클릭</a:t>
            </a:r>
          </a:p>
        </p:txBody>
      </p:sp>
      <p:sp>
        <p:nvSpPr>
          <p:cNvPr id="6295" name="Connector 6296">
            <a:extLst>
              <a:ext uri="{FF2B5EF4-FFF2-40B4-BE49-F238E27FC236}">
                <a16:creationId xmlns:a16="http://schemas.microsoft.com/office/drawing/2014/main" id="{5D2544F2-DBD8-4F39-928F-3AFFE688E8E5}"/>
              </a:ext>
            </a:extLst>
          </p:cNvPr>
          <p:cNvSpPr>
            <a:spLocks noGrp="1"/>
          </p:cNvSpPr>
          <p:nvPr/>
        </p:nvSpPr>
        <p:spPr>
          <a:xfrm>
            <a:off x="3008948" y="4852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7" name="TextBox 6298">
            <a:extLst>
              <a:ext uri="{FF2B5EF4-FFF2-40B4-BE49-F238E27FC236}">
                <a16:creationId xmlns:a16="http://schemas.microsoft.com/office/drawing/2014/main" id="{3E2BA7F0-4E82-44D4-AA75-61F0485B5820}"/>
              </a:ext>
            </a:extLst>
          </p:cNvPr>
          <p:cNvSpPr>
            <a:spLocks noGrp="1"/>
          </p:cNvSpPr>
          <p:nvPr/>
        </p:nvSpPr>
        <p:spPr>
          <a:xfrm>
            <a:off x="7038023" y="48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/items/{id}/citations/{k}</a:t>
            </a:r>
          </a:p>
        </p:txBody>
      </p:sp>
      <p:sp>
        <p:nvSpPr>
          <p:cNvPr id="6299" name="Connector 6300">
            <a:extLst>
              <a:ext uri="{FF2B5EF4-FFF2-40B4-BE49-F238E27FC236}">
                <a16:creationId xmlns:a16="http://schemas.microsoft.com/office/drawing/2014/main" id="{B0E48994-0A53-46D4-BFD0-957B588B320D}"/>
              </a:ext>
            </a:extLst>
          </p:cNvPr>
          <p:cNvSpPr>
            <a:spLocks noGrp="1"/>
          </p:cNvSpPr>
          <p:nvPr/>
        </p:nvSpPr>
        <p:spPr>
          <a:xfrm>
            <a:off x="7108023" y="510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1" name="TextBox 6302">
            <a:extLst>
              <a:ext uri="{FF2B5EF4-FFF2-40B4-BE49-F238E27FC236}">
                <a16:creationId xmlns:a16="http://schemas.microsoft.com/office/drawing/2014/main" id="{29CE2534-D859-45B5-B022-87AF8716B877}"/>
              </a:ext>
            </a:extLst>
          </p:cNvPr>
          <p:cNvSpPr>
            <a:spLocks noGrp="1"/>
          </p:cNvSpPr>
          <p:nvPr/>
        </p:nvSpPr>
        <p:spPr>
          <a:xfrm>
            <a:off x="11067098" y="51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인용·청크 조회</a:t>
            </a:r>
          </a:p>
        </p:txBody>
      </p:sp>
      <p:sp>
        <p:nvSpPr>
          <p:cNvPr id="6303" name="Connector 6304">
            <a:extLst>
              <a:ext uri="{FF2B5EF4-FFF2-40B4-BE49-F238E27FC236}">
                <a16:creationId xmlns:a16="http://schemas.microsoft.com/office/drawing/2014/main" id="{7DE16998-3928-4C29-BB26-C473AF43500B}"/>
              </a:ext>
            </a:extLst>
          </p:cNvPr>
          <p:cNvSpPr>
            <a:spLocks noGrp="1"/>
          </p:cNvSpPr>
          <p:nvPr/>
        </p:nvSpPr>
        <p:spPr>
          <a:xfrm>
            <a:off x="11137098" y="5352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5" name="TextBox 6306">
            <a:extLst>
              <a:ext uri="{FF2B5EF4-FFF2-40B4-BE49-F238E27FC236}">
                <a16:creationId xmlns:a16="http://schemas.microsoft.com/office/drawing/2014/main" id="{F4F53284-6905-43E4-8E92-0CA8F7D2E962}"/>
              </a:ext>
            </a:extLst>
          </p:cNvPr>
          <p:cNvSpPr>
            <a:spLocks noGrp="1"/>
          </p:cNvSpPr>
          <p:nvPr/>
        </p:nvSpPr>
        <p:spPr>
          <a:xfrm>
            <a:off x="7038023" y="537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문서·쪽수·조항·요약</a:t>
            </a:r>
          </a:p>
        </p:txBody>
      </p:sp>
      <p:sp>
        <p:nvSpPr>
          <p:cNvPr id="6307" name="Connector 6308">
            <a:extLst>
              <a:ext uri="{FF2B5EF4-FFF2-40B4-BE49-F238E27FC236}">
                <a16:creationId xmlns:a16="http://schemas.microsoft.com/office/drawing/2014/main" id="{6334FEFD-F57E-461F-A4A1-97B684A2A973}"/>
              </a:ext>
            </a:extLst>
          </p:cNvPr>
          <p:cNvSpPr>
            <a:spLocks noGrp="1"/>
          </p:cNvSpPr>
          <p:nvPr/>
        </p:nvSpPr>
        <p:spPr>
          <a:xfrm flipH="1">
            <a:off x="7108023" y="5602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9" name="TextBox 6310">
            <a:extLst>
              <a:ext uri="{FF2B5EF4-FFF2-40B4-BE49-F238E27FC236}">
                <a16:creationId xmlns:a16="http://schemas.microsoft.com/office/drawing/2014/main" id="{6AF4B103-6632-4D2E-8023-0E733053EC3B}"/>
              </a:ext>
            </a:extLst>
          </p:cNvPr>
          <p:cNvSpPr>
            <a:spLocks noGrp="1"/>
          </p:cNvSpPr>
          <p:nvPr/>
        </p:nvSpPr>
        <p:spPr>
          <a:xfrm>
            <a:off x="3008948" y="5627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창 표시</a:t>
            </a:r>
          </a:p>
        </p:txBody>
      </p:sp>
      <p:sp>
        <p:nvSpPr>
          <p:cNvPr id="6311" name="Connector 6312">
            <a:extLst>
              <a:ext uri="{FF2B5EF4-FFF2-40B4-BE49-F238E27FC236}">
                <a16:creationId xmlns:a16="http://schemas.microsoft.com/office/drawing/2014/main" id="{ABF0A485-28B6-40EE-8314-1CA5C57A545C}"/>
              </a:ext>
            </a:extLst>
          </p:cNvPr>
          <p:cNvSpPr>
            <a:spLocks noGrp="1"/>
          </p:cNvSpPr>
          <p:nvPr/>
        </p:nvSpPr>
        <p:spPr>
          <a:xfrm flipH="1">
            <a:off x="3008948" y="5852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13" name="TextBox 6314">
            <a:extLst>
              <a:ext uri="{FF2B5EF4-FFF2-40B4-BE49-F238E27FC236}">
                <a16:creationId xmlns:a16="http://schemas.microsoft.com/office/drawing/2014/main" id="{99904F3C-28A9-43B0-BB37-17895DC168F5}"/>
              </a:ext>
            </a:extLst>
          </p:cNvPr>
          <p:cNvSpPr>
            <a:spLocks noGrp="1"/>
          </p:cNvSpPr>
          <p:nvPr/>
        </p:nvSpPr>
        <p:spPr>
          <a:xfrm>
            <a:off x="3008948" y="6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이력 탭(제안이력 메뉴)</a:t>
            </a:r>
          </a:p>
        </p:txBody>
      </p:sp>
      <p:sp>
        <p:nvSpPr>
          <p:cNvPr id="6315" name="Connector 6316">
            <a:extLst>
              <a:ext uri="{FF2B5EF4-FFF2-40B4-BE49-F238E27FC236}">
                <a16:creationId xmlns:a16="http://schemas.microsoft.com/office/drawing/2014/main" id="{5623CA9E-40A5-46E4-825A-A1C1F8022DB6}"/>
              </a:ext>
            </a:extLst>
          </p:cNvPr>
          <p:cNvSpPr>
            <a:spLocks noGrp="1"/>
          </p:cNvSpPr>
          <p:nvPr/>
        </p:nvSpPr>
        <p:spPr>
          <a:xfrm>
            <a:off x="3008948" y="646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17" name="TextBox 6318">
            <a:extLst>
              <a:ext uri="{FF2B5EF4-FFF2-40B4-BE49-F238E27FC236}">
                <a16:creationId xmlns:a16="http://schemas.microsoft.com/office/drawing/2014/main" id="{B468D403-6422-4121-A8AF-6D3812CBCDC9}"/>
              </a:ext>
            </a:extLst>
          </p:cNvPr>
          <p:cNvSpPr>
            <a:spLocks noGrp="1"/>
          </p:cNvSpPr>
          <p:nvPr/>
        </p:nvSpPr>
        <p:spPr>
          <a:xfrm>
            <a:off x="7038023" y="6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/incidents/{id}/versions · /events</a:t>
            </a:r>
          </a:p>
        </p:txBody>
      </p:sp>
      <p:sp>
        <p:nvSpPr>
          <p:cNvPr id="6319" name="Connector 6320">
            <a:extLst>
              <a:ext uri="{FF2B5EF4-FFF2-40B4-BE49-F238E27FC236}">
                <a16:creationId xmlns:a16="http://schemas.microsoft.com/office/drawing/2014/main" id="{7F5E4843-6FFA-4E39-8F41-C22838557A86}"/>
              </a:ext>
            </a:extLst>
          </p:cNvPr>
          <p:cNvSpPr>
            <a:spLocks noGrp="1"/>
          </p:cNvSpPr>
          <p:nvPr/>
        </p:nvSpPr>
        <p:spPr>
          <a:xfrm>
            <a:off x="7108023" y="671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1" name="TextBox 6322">
            <a:extLst>
              <a:ext uri="{FF2B5EF4-FFF2-40B4-BE49-F238E27FC236}">
                <a16:creationId xmlns:a16="http://schemas.microsoft.com/office/drawing/2014/main" id="{1D332C68-CA1E-478E-83B9-C9763F4F282F}"/>
              </a:ext>
            </a:extLst>
          </p:cNvPr>
          <p:cNvSpPr>
            <a:spLocks noGrp="1"/>
          </p:cNvSpPr>
          <p:nvPr/>
        </p:nvSpPr>
        <p:spPr>
          <a:xfrm>
            <a:off x="7038023" y="6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버전별 사유·건수·변경 수, 이벤트 로그</a:t>
            </a:r>
          </a:p>
        </p:txBody>
      </p:sp>
      <p:sp>
        <p:nvSpPr>
          <p:cNvPr id="6323" name="Connector 6324">
            <a:extLst>
              <a:ext uri="{FF2B5EF4-FFF2-40B4-BE49-F238E27FC236}">
                <a16:creationId xmlns:a16="http://schemas.microsoft.com/office/drawing/2014/main" id="{81334468-E866-4E21-B2B1-AB0C0E18C879}"/>
              </a:ext>
            </a:extLst>
          </p:cNvPr>
          <p:cNvSpPr>
            <a:spLocks noGrp="1"/>
          </p:cNvSpPr>
          <p:nvPr/>
        </p:nvSpPr>
        <p:spPr>
          <a:xfrm flipH="1">
            <a:off x="7108023" y="696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5" name="TextBox 6326">
            <a:extLst>
              <a:ext uri="{FF2B5EF4-FFF2-40B4-BE49-F238E27FC236}">
                <a16:creationId xmlns:a16="http://schemas.microsoft.com/office/drawing/2014/main" id="{FA9F5A9F-07E7-4649-BB4C-6B11547F8977}"/>
              </a:ext>
            </a:extLst>
          </p:cNvPr>
          <p:cNvSpPr>
            <a:spLocks noGrp="1"/>
          </p:cNvSpPr>
          <p:nvPr/>
        </p:nvSpPr>
        <p:spPr>
          <a:xfrm>
            <a:off x="3008948" y="69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'변경' 태그 클릭(선택 시)</a:t>
            </a:r>
          </a:p>
        </p:txBody>
      </p:sp>
      <p:sp>
        <p:nvSpPr>
          <p:cNvPr id="6327" name="Connector 6328">
            <a:extLst>
              <a:ext uri="{FF2B5EF4-FFF2-40B4-BE49-F238E27FC236}">
                <a16:creationId xmlns:a16="http://schemas.microsoft.com/office/drawing/2014/main" id="{1409F42C-D22F-4169-A8F1-598339DF1618}"/>
              </a:ext>
            </a:extLst>
          </p:cNvPr>
          <p:cNvSpPr>
            <a:spLocks noGrp="1"/>
          </p:cNvSpPr>
          <p:nvPr/>
        </p:nvSpPr>
        <p:spPr>
          <a:xfrm>
            <a:off x="3008948" y="7217274"/>
            <a:ext cx="395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29" name="TextBox 6330">
            <a:extLst>
              <a:ext uri="{FF2B5EF4-FFF2-40B4-BE49-F238E27FC236}">
                <a16:creationId xmlns:a16="http://schemas.microsoft.com/office/drawing/2014/main" id="{2CACD064-2553-4F53-A9A2-5F8BA4175123}"/>
              </a:ext>
            </a:extLst>
          </p:cNvPr>
          <p:cNvSpPr>
            <a:spLocks noGrp="1"/>
          </p:cNvSpPr>
          <p:nvPr/>
        </p:nvSpPr>
        <p:spPr>
          <a:xfrm>
            <a:off x="7038023" y="72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GET /proposals/{id}/diff</a:t>
            </a:r>
          </a:p>
        </p:txBody>
      </p:sp>
      <p:sp>
        <p:nvSpPr>
          <p:cNvPr id="6331" name="Connector 6332">
            <a:extLst>
              <a:ext uri="{FF2B5EF4-FFF2-40B4-BE49-F238E27FC236}">
                <a16:creationId xmlns:a16="http://schemas.microsoft.com/office/drawing/2014/main" id="{9F42B833-BF4A-4C75-851A-3447D0103C9D}"/>
              </a:ext>
            </a:extLst>
          </p:cNvPr>
          <p:cNvSpPr>
            <a:spLocks noGrp="1"/>
          </p:cNvSpPr>
          <p:nvPr/>
        </p:nvSpPr>
        <p:spPr>
          <a:xfrm>
            <a:off x="7108023" y="7467274"/>
            <a:ext cx="3889075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3" name="TextBox 6334">
            <a:extLst>
              <a:ext uri="{FF2B5EF4-FFF2-40B4-BE49-F238E27FC236}">
                <a16:creationId xmlns:a16="http://schemas.microsoft.com/office/drawing/2014/main" id="{5924273A-FC31-4E66-BE7B-B4749F443DD1}"/>
              </a:ext>
            </a:extLst>
          </p:cNvPr>
          <p:cNvSpPr>
            <a:spLocks noGrp="1"/>
          </p:cNvSpPr>
          <p:nvPr/>
        </p:nvSpPr>
        <p:spPr>
          <a:xfrm>
            <a:off x="7038023" y="749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직전 버전 대비 이전·이후 문장</a:t>
            </a:r>
          </a:p>
        </p:txBody>
      </p:sp>
      <p:sp>
        <p:nvSpPr>
          <p:cNvPr id="6335" name="Connector 6336">
            <a:extLst>
              <a:ext uri="{FF2B5EF4-FFF2-40B4-BE49-F238E27FC236}">
                <a16:creationId xmlns:a16="http://schemas.microsoft.com/office/drawing/2014/main" id="{90A59746-18D8-484D-84E4-0E4502CD144A}"/>
              </a:ext>
            </a:extLst>
          </p:cNvPr>
          <p:cNvSpPr>
            <a:spLocks noGrp="1"/>
          </p:cNvSpPr>
          <p:nvPr/>
        </p:nvSpPr>
        <p:spPr>
          <a:xfrm flipH="1">
            <a:off x="7108023" y="7717274"/>
            <a:ext cx="388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7" name="TextBox 6338">
            <a:extLst>
              <a:ext uri="{FF2B5EF4-FFF2-40B4-BE49-F238E27FC236}">
                <a16:creationId xmlns:a16="http://schemas.microsoft.com/office/drawing/2014/main" id="{A20E2BC9-FA97-4C8B-81F3-33585D672D6F}"/>
              </a:ext>
            </a:extLst>
          </p:cNvPr>
          <p:cNvSpPr>
            <a:spLocks noGrp="1"/>
          </p:cNvSpPr>
          <p:nvPr/>
        </p:nvSpPr>
        <p:spPr>
          <a:xfrm>
            <a:off x="3008948" y="7742274"/>
            <a:ext cx="4029075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 내용 팝업 표시</a:t>
            </a:r>
          </a:p>
        </p:txBody>
      </p:sp>
      <p:sp>
        <p:nvSpPr>
          <p:cNvPr id="6339" name="Connector 6340">
            <a:extLst>
              <a:ext uri="{FF2B5EF4-FFF2-40B4-BE49-F238E27FC236}">
                <a16:creationId xmlns:a16="http://schemas.microsoft.com/office/drawing/2014/main" id="{910655AE-5CC9-4659-BFA0-27446DA879E7}"/>
              </a:ext>
            </a:extLst>
          </p:cNvPr>
          <p:cNvSpPr>
            <a:spLocks noGrp="1"/>
          </p:cNvSpPr>
          <p:nvPr/>
        </p:nvSpPr>
        <p:spPr>
          <a:xfrm flipH="1">
            <a:off x="3008948" y="7967274"/>
            <a:ext cx="3959075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43" name="Rectangle 6244">
            <a:extLst>
              <a:ext uri="{FF2B5EF4-FFF2-40B4-BE49-F238E27FC236}">
                <a16:creationId xmlns:a16="http://schemas.microsoft.com/office/drawing/2014/main" id="{96C92F2E-47A6-4439-8C8D-6245D81EE31D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14794765" cy="155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45" name="Rectangle 6246">
            <a:extLst>
              <a:ext uri="{FF2B5EF4-FFF2-40B4-BE49-F238E27FC236}">
                <a16:creationId xmlns:a16="http://schemas.microsoft.com/office/drawing/2014/main" id="{935D3BDB-4119-4C68-AB34-821553F5F69D}"/>
              </a:ext>
            </a:extLst>
          </p:cNvPr>
          <p:cNvSpPr>
            <a:spLocks noGrp="1"/>
          </p:cNvSpPr>
          <p:nvPr/>
        </p:nvSpPr>
        <p:spPr>
          <a:xfrm>
            <a:off x="1655178" y="440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247" name="TextBox 6248">
            <a:extLst>
              <a:ext uri="{FF2B5EF4-FFF2-40B4-BE49-F238E27FC236}">
                <a16:creationId xmlns:a16="http://schemas.microsoft.com/office/drawing/2014/main" id="{DEDABD9D-8892-4E7C-9A4C-3806D36E0B92}"/>
              </a:ext>
            </a:extLst>
          </p:cNvPr>
          <p:cNvSpPr>
            <a:spLocks noGrp="1"/>
          </p:cNvSpPr>
          <p:nvPr/>
        </p:nvSpPr>
        <p:spPr>
          <a:xfrm>
            <a:off x="2463838" y="441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[UC-PROP-03] 근거 조회 — 근거 번호 [k] 클릭</a:t>
            </a:r>
          </a:p>
        </p:txBody>
      </p:sp>
      <p:sp>
        <p:nvSpPr>
          <p:cNvPr id="6249" name="Rectangle 6250">
            <a:extLst>
              <a:ext uri="{FF2B5EF4-FFF2-40B4-BE49-F238E27FC236}">
                <a16:creationId xmlns:a16="http://schemas.microsoft.com/office/drawing/2014/main" id="{3DF0248F-C91B-4CCB-826C-73B2199CD49C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14794765" cy="209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51" name="Rectangle 6252">
            <a:extLst>
              <a:ext uri="{FF2B5EF4-FFF2-40B4-BE49-F238E27FC236}">
                <a16:creationId xmlns:a16="http://schemas.microsoft.com/office/drawing/2014/main" id="{06030EA3-A859-4E87-9173-EA6ABCD3EB02}"/>
              </a:ext>
            </a:extLst>
          </p:cNvPr>
          <p:cNvSpPr>
            <a:spLocks noGrp="1"/>
          </p:cNvSpPr>
          <p:nvPr/>
        </p:nvSpPr>
        <p:spPr>
          <a:xfrm>
            <a:off x="1655178" y="598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opt</a:t>
            </a:r>
          </a:p>
        </p:txBody>
      </p:sp>
      <p:sp>
        <p:nvSpPr>
          <p:cNvPr id="6253" name="TextBox 6254">
            <a:extLst>
              <a:ext uri="{FF2B5EF4-FFF2-40B4-BE49-F238E27FC236}">
                <a16:creationId xmlns:a16="http://schemas.microsoft.com/office/drawing/2014/main" id="{D26542FF-B4E5-443D-94F5-A887068AADC2}"/>
              </a:ext>
            </a:extLst>
          </p:cNvPr>
          <p:cNvSpPr>
            <a:spLocks noGrp="1"/>
          </p:cNvSpPr>
          <p:nvPr/>
        </p:nvSpPr>
        <p:spPr>
          <a:xfrm>
            <a:off x="2463838" y="599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[UC-PROP-04] 제안 이력·변경사항 조회</a:t>
            </a:r>
          </a:p>
        </p:txBody>
      </p:sp>
    </p:spTree>
    <p:extLst>
      <p:ext uri="{BB962C8B-B14F-4D97-AF65-F5344CB8AC3E}">
        <p14:creationId xmlns:p14="http://schemas.microsoft.com/office/powerpoint/2010/main" val="737941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714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714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714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8E10CFEE-D72E-4FE0-BA50-1AE7B5532AE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D3DA0C87-3055-4B1E-9B11-1E3EF28EF2F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질의응답  (UC-QA-01)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46</a:t>
            </a:fld>
            <a:endParaRPr/>
          </a:p>
        </p:txBody>
      </p:sp>
      <p:sp>
        <p:nvSpPr>
          <p:cNvPr id="7113" name="Rounded Rectangle 7114">
            <a:extLst>
              <a:ext uri="{FF2B5EF4-FFF2-40B4-BE49-F238E27FC236}">
                <a16:creationId xmlns:a16="http://schemas.microsoft.com/office/drawing/2014/main" id="{C64F7592-1838-4CE4-82A0-FAAE5C8FBC7B}"/>
              </a:ext>
            </a:extLst>
          </p:cNvPr>
          <p:cNvSpPr>
            <a:spLocks noGrp="1"/>
          </p:cNvSpPr>
          <p:nvPr/>
        </p:nvSpPr>
        <p:spPr>
          <a:xfrm>
            <a:off x="5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7115" name="Connector 7116">
            <a:extLst>
              <a:ext uri="{FF2B5EF4-FFF2-40B4-BE49-F238E27FC236}">
                <a16:creationId xmlns:a16="http://schemas.microsoft.com/office/drawing/2014/main" id="{9E6EE0C3-E094-4F44-9058-3F65B2634765}"/>
              </a:ext>
            </a:extLst>
          </p:cNvPr>
          <p:cNvSpPr>
            <a:spLocks noGrp="1"/>
          </p:cNvSpPr>
          <p:nvPr/>
        </p:nvSpPr>
        <p:spPr>
          <a:xfrm>
            <a:off x="17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17" name="Rounded Rectangle 7118">
            <a:extLst>
              <a:ext uri="{FF2B5EF4-FFF2-40B4-BE49-F238E27FC236}">
                <a16:creationId xmlns:a16="http://schemas.microsoft.com/office/drawing/2014/main" id="{FEB220A8-2D5D-4DDE-9EAC-0FE01CAF9A3C}"/>
              </a:ext>
            </a:extLst>
          </p:cNvPr>
          <p:cNvSpPr>
            <a:spLocks noGrp="1"/>
          </p:cNvSpPr>
          <p:nvPr/>
        </p:nvSpPr>
        <p:spPr>
          <a:xfrm>
            <a:off x="30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7119" name="Connector 7120">
            <a:extLst>
              <a:ext uri="{FF2B5EF4-FFF2-40B4-BE49-F238E27FC236}">
                <a16:creationId xmlns:a16="http://schemas.microsoft.com/office/drawing/2014/main" id="{4A074B73-5264-4CD9-A5DA-846E6076F807}"/>
              </a:ext>
            </a:extLst>
          </p:cNvPr>
          <p:cNvSpPr>
            <a:spLocks noGrp="1"/>
          </p:cNvSpPr>
          <p:nvPr/>
        </p:nvSpPr>
        <p:spPr>
          <a:xfrm>
            <a:off x="41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1" name="Rounded Rectangle 7122">
            <a:extLst>
              <a:ext uri="{FF2B5EF4-FFF2-40B4-BE49-F238E27FC236}">
                <a16:creationId xmlns:a16="http://schemas.microsoft.com/office/drawing/2014/main" id="{3F05AD1F-528D-4D6A-968A-D3210A23B8BA}"/>
              </a:ext>
            </a:extLst>
          </p:cNvPr>
          <p:cNvSpPr>
            <a:spLocks noGrp="1"/>
          </p:cNvSpPr>
          <p:nvPr/>
        </p:nvSpPr>
        <p:spPr>
          <a:xfrm>
            <a:off x="54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7123" name="Connector 7124">
            <a:extLst>
              <a:ext uri="{FF2B5EF4-FFF2-40B4-BE49-F238E27FC236}">
                <a16:creationId xmlns:a16="http://schemas.microsoft.com/office/drawing/2014/main" id="{1C06790D-EE3A-4B69-ABB4-2486A8046C95}"/>
              </a:ext>
            </a:extLst>
          </p:cNvPr>
          <p:cNvSpPr>
            <a:spLocks noGrp="1"/>
          </p:cNvSpPr>
          <p:nvPr/>
        </p:nvSpPr>
        <p:spPr>
          <a:xfrm>
            <a:off x="66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5" name="Rounded Rectangle 7126">
            <a:extLst>
              <a:ext uri="{FF2B5EF4-FFF2-40B4-BE49-F238E27FC236}">
                <a16:creationId xmlns:a16="http://schemas.microsoft.com/office/drawing/2014/main" id="{DD5E517B-B738-4679-A82A-6EFF47BCEAE1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7127" name="Connector 7128">
            <a:extLst>
              <a:ext uri="{FF2B5EF4-FFF2-40B4-BE49-F238E27FC236}">
                <a16:creationId xmlns:a16="http://schemas.microsoft.com/office/drawing/2014/main" id="{DEBB879A-082E-44A0-9594-3F400583B602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29" name="Rounded Rectangle 7130">
            <a:extLst>
              <a:ext uri="{FF2B5EF4-FFF2-40B4-BE49-F238E27FC236}">
                <a16:creationId xmlns:a16="http://schemas.microsoft.com/office/drawing/2014/main" id="{61698330-6E53-4643-BF5B-43183985E9E3}"/>
              </a:ext>
            </a:extLst>
          </p:cNvPr>
          <p:cNvSpPr>
            <a:spLocks noGrp="1"/>
          </p:cNvSpPr>
          <p:nvPr/>
        </p:nvSpPr>
        <p:spPr>
          <a:xfrm>
            <a:off x="103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검색</a:t>
            </a:r>
          </a:p>
        </p:txBody>
      </p:sp>
      <p:sp>
        <p:nvSpPr>
          <p:cNvPr id="7131" name="Connector 7132">
            <a:extLst>
              <a:ext uri="{FF2B5EF4-FFF2-40B4-BE49-F238E27FC236}">
                <a16:creationId xmlns:a16="http://schemas.microsoft.com/office/drawing/2014/main" id="{D646ABA7-677F-4D67-9387-04E471E6DD90}"/>
              </a:ext>
            </a:extLst>
          </p:cNvPr>
          <p:cNvSpPr>
            <a:spLocks noGrp="1"/>
          </p:cNvSpPr>
          <p:nvPr/>
        </p:nvSpPr>
        <p:spPr>
          <a:xfrm>
            <a:off x="115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33" name="Rounded Rectangle 7134">
            <a:extLst>
              <a:ext uri="{FF2B5EF4-FFF2-40B4-BE49-F238E27FC236}">
                <a16:creationId xmlns:a16="http://schemas.microsoft.com/office/drawing/2014/main" id="{C183BA82-FC72-40CC-B25D-02E2249855D9}"/>
              </a:ext>
            </a:extLst>
          </p:cNvPr>
          <p:cNvSpPr>
            <a:spLocks noGrp="1"/>
          </p:cNvSpPr>
          <p:nvPr/>
        </p:nvSpPr>
        <p:spPr>
          <a:xfrm>
            <a:off x="128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모델(EXAONE)</a:t>
            </a:r>
          </a:p>
        </p:txBody>
      </p:sp>
      <p:sp>
        <p:nvSpPr>
          <p:cNvPr id="7135" name="Connector 7136">
            <a:extLst>
              <a:ext uri="{FF2B5EF4-FFF2-40B4-BE49-F238E27FC236}">
                <a16:creationId xmlns:a16="http://schemas.microsoft.com/office/drawing/2014/main" id="{4757BE01-6955-4442-BF83-BF87F37636BE}"/>
              </a:ext>
            </a:extLst>
          </p:cNvPr>
          <p:cNvSpPr>
            <a:spLocks noGrp="1"/>
          </p:cNvSpPr>
          <p:nvPr/>
        </p:nvSpPr>
        <p:spPr>
          <a:xfrm>
            <a:off x="139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37" name="Rounded Rectangle 7138">
            <a:extLst>
              <a:ext uri="{FF2B5EF4-FFF2-40B4-BE49-F238E27FC236}">
                <a16:creationId xmlns:a16="http://schemas.microsoft.com/office/drawing/2014/main" id="{E3FE86AF-881F-4543-A74C-C254CE1C2694}"/>
              </a:ext>
            </a:extLst>
          </p:cNvPr>
          <p:cNvSpPr>
            <a:spLocks noGrp="1"/>
          </p:cNvSpPr>
          <p:nvPr/>
        </p:nvSpPr>
        <p:spPr>
          <a:xfrm>
            <a:off x="152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7139" name="Connector 7140">
            <a:extLst>
              <a:ext uri="{FF2B5EF4-FFF2-40B4-BE49-F238E27FC236}">
                <a16:creationId xmlns:a16="http://schemas.microsoft.com/office/drawing/2014/main" id="{253A2534-F293-4E7F-B1C4-E27869B7C41C}"/>
              </a:ext>
            </a:extLst>
          </p:cNvPr>
          <p:cNvSpPr>
            <a:spLocks noGrp="1"/>
          </p:cNvSpPr>
          <p:nvPr/>
        </p:nvSpPr>
        <p:spPr>
          <a:xfrm>
            <a:off x="1640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25" name="Rectangle 7026">
            <a:extLst>
              <a:ext uri="{FF2B5EF4-FFF2-40B4-BE49-F238E27FC236}">
                <a16:creationId xmlns:a16="http://schemas.microsoft.com/office/drawing/2014/main" id="{65BC7D21-446C-4660-9135-72E5687E24B1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27" name="Rectangle 7028">
            <a:extLst>
              <a:ext uri="{FF2B5EF4-FFF2-40B4-BE49-F238E27FC236}">
                <a16:creationId xmlns:a16="http://schemas.microsoft.com/office/drawing/2014/main" id="{38AE7DE7-63A8-46AD-8BD3-AE5C24A2EBE9}"/>
              </a:ext>
            </a:extLst>
          </p:cNvPr>
          <p:cNvSpPr>
            <a:spLocks noGrp="1"/>
          </p:cNvSpPr>
          <p:nvPr/>
        </p:nvSpPr>
        <p:spPr>
          <a:xfrm>
            <a:off x="16332560" y="585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29" name="Rectangle 7030">
            <a:extLst>
              <a:ext uri="{FF2B5EF4-FFF2-40B4-BE49-F238E27FC236}">
                <a16:creationId xmlns:a16="http://schemas.microsoft.com/office/drawing/2014/main" id="{C788BF8F-15A3-4F38-90A1-6F0673D60EC0}"/>
              </a:ext>
            </a:extLst>
          </p:cNvPr>
          <p:cNvSpPr>
            <a:spLocks noGrp="1"/>
          </p:cNvSpPr>
          <p:nvPr/>
        </p:nvSpPr>
        <p:spPr>
          <a:xfrm>
            <a:off x="11432560" y="61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1" name="Rectangle 7032">
            <a:extLst>
              <a:ext uri="{FF2B5EF4-FFF2-40B4-BE49-F238E27FC236}">
                <a16:creationId xmlns:a16="http://schemas.microsoft.com/office/drawing/2014/main" id="{4741B4DD-452C-4DAE-8713-86B2D77DB215}"/>
              </a:ext>
            </a:extLst>
          </p:cNvPr>
          <p:cNvSpPr>
            <a:spLocks noGrp="1"/>
          </p:cNvSpPr>
          <p:nvPr/>
        </p:nvSpPr>
        <p:spPr>
          <a:xfrm>
            <a:off x="13882560" y="660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3" name="Rectangle 7034">
            <a:extLst>
              <a:ext uri="{FF2B5EF4-FFF2-40B4-BE49-F238E27FC236}">
                <a16:creationId xmlns:a16="http://schemas.microsoft.com/office/drawing/2014/main" id="{BBCDFC39-7FEB-44E3-BC32-E3F70CC6C38F}"/>
              </a:ext>
            </a:extLst>
          </p:cNvPr>
          <p:cNvSpPr>
            <a:spLocks noGrp="1"/>
          </p:cNvSpPr>
          <p:nvPr/>
        </p:nvSpPr>
        <p:spPr>
          <a:xfrm>
            <a:off x="16332560" y="710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5" name="Rectangle 7036">
            <a:extLst>
              <a:ext uri="{FF2B5EF4-FFF2-40B4-BE49-F238E27FC236}">
                <a16:creationId xmlns:a16="http://schemas.microsoft.com/office/drawing/2014/main" id="{EF23728C-BB9A-4229-AD7D-8015475559B1}"/>
              </a:ext>
            </a:extLst>
          </p:cNvPr>
          <p:cNvSpPr>
            <a:spLocks noGrp="1"/>
          </p:cNvSpPr>
          <p:nvPr/>
        </p:nvSpPr>
        <p:spPr>
          <a:xfrm>
            <a:off x="8982560" y="5602274"/>
            <a:ext cx="1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7" name="Rectangle 7038">
            <a:extLst>
              <a:ext uri="{FF2B5EF4-FFF2-40B4-BE49-F238E27FC236}">
                <a16:creationId xmlns:a16="http://schemas.microsoft.com/office/drawing/2014/main" id="{A75FD8A8-1698-4988-AE29-E484CFCA57A0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3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39" name="Rectangle 7040">
            <a:extLst>
              <a:ext uri="{FF2B5EF4-FFF2-40B4-BE49-F238E27FC236}">
                <a16:creationId xmlns:a16="http://schemas.microsoft.com/office/drawing/2014/main" id="{54D7638C-2C53-46DD-A81F-02FE8EA1458F}"/>
              </a:ext>
            </a:extLst>
          </p:cNvPr>
          <p:cNvSpPr>
            <a:spLocks noGrp="1"/>
          </p:cNvSpPr>
          <p:nvPr/>
        </p:nvSpPr>
        <p:spPr>
          <a:xfrm>
            <a:off x="4082560" y="3382274"/>
            <a:ext cx="140000" cy="46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7041" name="TextBox 7042">
            <a:extLst>
              <a:ext uri="{FF2B5EF4-FFF2-40B4-BE49-F238E27FC236}">
                <a16:creationId xmlns:a16="http://schemas.microsoft.com/office/drawing/2014/main" id="{7467D5CF-F4F8-4E2D-B33C-81F3C33B3C92}"/>
              </a:ext>
            </a:extLst>
          </p:cNvPr>
          <p:cNvSpPr>
            <a:spLocks noGrp="1"/>
          </p:cNvSpPr>
          <p:nvPr/>
        </p:nvSpPr>
        <p:spPr>
          <a:xfrm>
            <a:off x="1702560" y="315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 입력 또는 빠른 질문</a:t>
            </a:r>
          </a:p>
        </p:txBody>
      </p:sp>
      <p:sp>
        <p:nvSpPr>
          <p:cNvPr id="7043" name="Connector 7044">
            <a:extLst>
              <a:ext uri="{FF2B5EF4-FFF2-40B4-BE49-F238E27FC236}">
                <a16:creationId xmlns:a16="http://schemas.microsoft.com/office/drawing/2014/main" id="{4B769BA9-EB26-459C-928F-D5070755D76F}"/>
              </a:ext>
            </a:extLst>
          </p:cNvPr>
          <p:cNvSpPr>
            <a:spLocks noGrp="1"/>
          </p:cNvSpPr>
          <p:nvPr/>
        </p:nvSpPr>
        <p:spPr>
          <a:xfrm>
            <a:off x="1702560" y="338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45" name="TextBox 7046">
            <a:extLst>
              <a:ext uri="{FF2B5EF4-FFF2-40B4-BE49-F238E27FC236}">
                <a16:creationId xmlns:a16="http://schemas.microsoft.com/office/drawing/2014/main" id="{E8DB84A3-5275-42BD-B0BC-A5B380C704D1}"/>
              </a:ext>
            </a:extLst>
          </p:cNvPr>
          <p:cNvSpPr>
            <a:spLocks noGrp="1"/>
          </p:cNvSpPr>
          <p:nvPr/>
        </p:nvSpPr>
        <p:spPr>
          <a:xfrm>
            <a:off x="4152560" y="340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/chat (질문, 항목)</a:t>
            </a:r>
          </a:p>
        </p:txBody>
      </p:sp>
      <p:sp>
        <p:nvSpPr>
          <p:cNvPr id="7047" name="Connector 7048">
            <a:extLst>
              <a:ext uri="{FF2B5EF4-FFF2-40B4-BE49-F238E27FC236}">
                <a16:creationId xmlns:a16="http://schemas.microsoft.com/office/drawing/2014/main" id="{FB272A82-8F7A-4EB2-B5E3-980CB3996FF6}"/>
              </a:ext>
            </a:extLst>
          </p:cNvPr>
          <p:cNvSpPr>
            <a:spLocks noGrp="1"/>
          </p:cNvSpPr>
          <p:nvPr/>
        </p:nvSpPr>
        <p:spPr>
          <a:xfrm>
            <a:off x="4222560" y="363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49" name="Connector 7050">
            <a:extLst>
              <a:ext uri="{FF2B5EF4-FFF2-40B4-BE49-F238E27FC236}">
                <a16:creationId xmlns:a16="http://schemas.microsoft.com/office/drawing/2014/main" id="{CA5F5E6A-2F13-49AA-AF95-C24D8DDED6B2}"/>
              </a:ext>
            </a:extLst>
          </p:cNvPr>
          <p:cNvSpPr>
            <a:spLocks noGrp="1"/>
          </p:cNvSpPr>
          <p:nvPr/>
        </p:nvSpPr>
        <p:spPr>
          <a:xfrm>
            <a:off x="667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1" name="Connector 7052">
            <a:extLst>
              <a:ext uri="{FF2B5EF4-FFF2-40B4-BE49-F238E27FC236}">
                <a16:creationId xmlns:a16="http://schemas.microsoft.com/office/drawing/2014/main" id="{FB99DA0D-6824-4431-98D1-F1E1BF64137C}"/>
              </a:ext>
            </a:extLst>
          </p:cNvPr>
          <p:cNvSpPr>
            <a:spLocks noGrp="1"/>
          </p:cNvSpPr>
          <p:nvPr/>
        </p:nvSpPr>
        <p:spPr>
          <a:xfrm>
            <a:off x="703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3" name="Connector 7054">
            <a:extLst>
              <a:ext uri="{FF2B5EF4-FFF2-40B4-BE49-F238E27FC236}">
                <a16:creationId xmlns:a16="http://schemas.microsoft.com/office/drawing/2014/main" id="{730A208F-07D4-443A-B257-CE66FEDC5958}"/>
              </a:ext>
            </a:extLst>
          </p:cNvPr>
          <p:cNvSpPr>
            <a:spLocks noGrp="1"/>
          </p:cNvSpPr>
          <p:nvPr/>
        </p:nvSpPr>
        <p:spPr>
          <a:xfrm flipH="1">
            <a:off x="670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55" name="TextBox 7056">
            <a:extLst>
              <a:ext uri="{FF2B5EF4-FFF2-40B4-BE49-F238E27FC236}">
                <a16:creationId xmlns:a16="http://schemas.microsoft.com/office/drawing/2014/main" id="{39777D1A-C922-4953-B927-0D6CB8761962}"/>
              </a:ext>
            </a:extLst>
          </p:cNvPr>
          <p:cNvSpPr>
            <a:spLocks noGrp="1"/>
          </p:cNvSpPr>
          <p:nvPr/>
        </p:nvSpPr>
        <p:spPr>
          <a:xfrm>
            <a:off x="712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7057" name="TextBox 7058">
            <a:extLst>
              <a:ext uri="{FF2B5EF4-FFF2-40B4-BE49-F238E27FC236}">
                <a16:creationId xmlns:a16="http://schemas.microsoft.com/office/drawing/2014/main" id="{C9B6F66A-953E-425B-B8ED-694C54D21BAF}"/>
              </a:ext>
            </a:extLst>
          </p:cNvPr>
          <p:cNvSpPr>
            <a:spLocks noGrp="1"/>
          </p:cNvSpPr>
          <p:nvPr/>
        </p:nvSpPr>
        <p:spPr>
          <a:xfrm>
            <a:off x="6602560" y="410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classify(text)</a:t>
            </a:r>
          </a:p>
        </p:txBody>
      </p:sp>
      <p:sp>
        <p:nvSpPr>
          <p:cNvPr id="7059" name="Connector 7060">
            <a:extLst>
              <a:ext uri="{FF2B5EF4-FFF2-40B4-BE49-F238E27FC236}">
                <a16:creationId xmlns:a16="http://schemas.microsoft.com/office/drawing/2014/main" id="{FFEF923F-C765-4617-BC15-2062FEB1DBBF}"/>
              </a:ext>
            </a:extLst>
          </p:cNvPr>
          <p:cNvSpPr>
            <a:spLocks noGrp="1"/>
          </p:cNvSpPr>
          <p:nvPr/>
        </p:nvSpPr>
        <p:spPr>
          <a:xfrm>
            <a:off x="6672560" y="4327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1" name="TextBox 7062">
            <a:extLst>
              <a:ext uri="{FF2B5EF4-FFF2-40B4-BE49-F238E27FC236}">
                <a16:creationId xmlns:a16="http://schemas.microsoft.com/office/drawing/2014/main" id="{92933322-9186-4B7C-82A6-6A242E4974A4}"/>
              </a:ext>
            </a:extLst>
          </p:cNvPr>
          <p:cNvSpPr>
            <a:spLocks noGrp="1"/>
          </p:cNvSpPr>
          <p:nvPr/>
        </p:nvSpPr>
        <p:spPr>
          <a:xfrm>
            <a:off x="6602560" y="435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의도(질의 / 정정)</a:t>
            </a:r>
          </a:p>
        </p:txBody>
      </p:sp>
      <p:sp>
        <p:nvSpPr>
          <p:cNvPr id="7063" name="Connector 7064">
            <a:extLst>
              <a:ext uri="{FF2B5EF4-FFF2-40B4-BE49-F238E27FC236}">
                <a16:creationId xmlns:a16="http://schemas.microsoft.com/office/drawing/2014/main" id="{DC7DD1D2-E9B7-480C-80B5-D8C27597D20C}"/>
              </a:ext>
            </a:extLst>
          </p:cNvPr>
          <p:cNvSpPr>
            <a:spLocks noGrp="1"/>
          </p:cNvSpPr>
          <p:nvPr/>
        </p:nvSpPr>
        <p:spPr>
          <a:xfrm flipH="1">
            <a:off x="6672560" y="457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5" name="Connector 7066">
            <a:extLst>
              <a:ext uri="{FF2B5EF4-FFF2-40B4-BE49-F238E27FC236}">
                <a16:creationId xmlns:a16="http://schemas.microsoft.com/office/drawing/2014/main" id="{D146F3A1-06DB-4F88-ABBD-918F4BC294B6}"/>
              </a:ext>
            </a:extLst>
          </p:cNvPr>
          <p:cNvSpPr>
            <a:spLocks noGrp="1"/>
          </p:cNvSpPr>
          <p:nvPr/>
        </p:nvSpPr>
        <p:spPr>
          <a:xfrm>
            <a:off x="6672560" y="5047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7" name="Connector 7068">
            <a:extLst>
              <a:ext uri="{FF2B5EF4-FFF2-40B4-BE49-F238E27FC236}">
                <a16:creationId xmlns:a16="http://schemas.microsoft.com/office/drawing/2014/main" id="{CB05C938-60E0-4DF2-A805-9C297C0EC806}"/>
              </a:ext>
            </a:extLst>
          </p:cNvPr>
          <p:cNvSpPr>
            <a:spLocks noGrp="1"/>
          </p:cNvSpPr>
          <p:nvPr/>
        </p:nvSpPr>
        <p:spPr>
          <a:xfrm>
            <a:off x="7038320" y="5047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69" name="Connector 7070">
            <a:extLst>
              <a:ext uri="{FF2B5EF4-FFF2-40B4-BE49-F238E27FC236}">
                <a16:creationId xmlns:a16="http://schemas.microsoft.com/office/drawing/2014/main" id="{34890A0F-B5C8-43CB-BCE1-7552F6BA6621}"/>
              </a:ext>
            </a:extLst>
          </p:cNvPr>
          <p:cNvSpPr>
            <a:spLocks noGrp="1"/>
          </p:cNvSpPr>
          <p:nvPr/>
        </p:nvSpPr>
        <p:spPr>
          <a:xfrm flipH="1">
            <a:off x="6706850" y="5227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71" name="TextBox 7072">
            <a:extLst>
              <a:ext uri="{FF2B5EF4-FFF2-40B4-BE49-F238E27FC236}">
                <a16:creationId xmlns:a16="http://schemas.microsoft.com/office/drawing/2014/main" id="{16F23972-BADD-463A-AFE4-A2653C6806AE}"/>
              </a:ext>
            </a:extLst>
          </p:cNvPr>
          <p:cNvSpPr>
            <a:spLocks noGrp="1"/>
          </p:cNvSpPr>
          <p:nvPr/>
        </p:nvSpPr>
        <p:spPr>
          <a:xfrm>
            <a:off x="7129760" y="4822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입력 내용을 정정 확인 카드로 넘김(→ UC-QA-02)</a:t>
            </a:r>
          </a:p>
        </p:txBody>
      </p:sp>
      <p:sp>
        <p:nvSpPr>
          <p:cNvPr id="7073" name="TextBox 7074">
            <a:extLst>
              <a:ext uri="{FF2B5EF4-FFF2-40B4-BE49-F238E27FC236}">
                <a16:creationId xmlns:a16="http://schemas.microsoft.com/office/drawing/2014/main" id="{00017F49-54E9-47B7-835B-88FE2F4BBCEF}"/>
              </a:ext>
            </a:extLst>
          </p:cNvPr>
          <p:cNvSpPr>
            <a:spLocks noGrp="1"/>
          </p:cNvSpPr>
          <p:nvPr/>
        </p:nvSpPr>
        <p:spPr>
          <a:xfrm>
            <a:off x="6602560" y="53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answer(incident_id, question)</a:t>
            </a:r>
          </a:p>
        </p:txBody>
      </p:sp>
      <p:sp>
        <p:nvSpPr>
          <p:cNvPr id="7075" name="Connector 7076">
            <a:extLst>
              <a:ext uri="{FF2B5EF4-FFF2-40B4-BE49-F238E27FC236}">
                <a16:creationId xmlns:a16="http://schemas.microsoft.com/office/drawing/2014/main" id="{CAE7294E-59CD-4C42-B06A-8BE989228AF5}"/>
              </a:ext>
            </a:extLst>
          </p:cNvPr>
          <p:cNvSpPr>
            <a:spLocks noGrp="1"/>
          </p:cNvSpPr>
          <p:nvPr/>
        </p:nvSpPr>
        <p:spPr>
          <a:xfrm>
            <a:off x="6672560" y="560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77" name="TextBox 7078">
            <a:extLst>
              <a:ext uri="{FF2B5EF4-FFF2-40B4-BE49-F238E27FC236}">
                <a16:creationId xmlns:a16="http://schemas.microsoft.com/office/drawing/2014/main" id="{36608F86-BF4F-4E76-93A2-4836D0191E92}"/>
              </a:ext>
            </a:extLst>
          </p:cNvPr>
          <p:cNvSpPr>
            <a:spLocks noGrp="1"/>
          </p:cNvSpPr>
          <p:nvPr/>
        </p:nvSpPr>
        <p:spPr>
          <a:xfrm>
            <a:off x="9052560" y="562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최신 제안·상황 값 조회</a:t>
            </a:r>
          </a:p>
        </p:txBody>
      </p:sp>
      <p:sp>
        <p:nvSpPr>
          <p:cNvPr id="7079" name="Connector 7080">
            <a:extLst>
              <a:ext uri="{FF2B5EF4-FFF2-40B4-BE49-F238E27FC236}">
                <a16:creationId xmlns:a16="http://schemas.microsoft.com/office/drawing/2014/main" id="{66F3A9F3-78E2-46B2-9062-F8CA2942B9BC}"/>
              </a:ext>
            </a:extLst>
          </p:cNvPr>
          <p:cNvSpPr>
            <a:spLocks noGrp="1"/>
          </p:cNvSpPr>
          <p:nvPr/>
        </p:nvSpPr>
        <p:spPr>
          <a:xfrm>
            <a:off x="9122560" y="585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1" name="TextBox 7082">
            <a:extLst>
              <a:ext uri="{FF2B5EF4-FFF2-40B4-BE49-F238E27FC236}">
                <a16:creationId xmlns:a16="http://schemas.microsoft.com/office/drawing/2014/main" id="{EEEC28D4-642D-4949-A18D-D9C6C0C0056C}"/>
              </a:ext>
            </a:extLst>
          </p:cNvPr>
          <p:cNvSpPr>
            <a:spLocks noGrp="1"/>
          </p:cNvSpPr>
          <p:nvPr/>
        </p:nvSpPr>
        <p:spPr>
          <a:xfrm>
            <a:off x="9052560" y="58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search(질문, 단계·항목 필터, k=K)</a:t>
            </a:r>
          </a:p>
        </p:txBody>
      </p:sp>
      <p:sp>
        <p:nvSpPr>
          <p:cNvPr id="7083" name="Connector 7084">
            <a:extLst>
              <a:ext uri="{FF2B5EF4-FFF2-40B4-BE49-F238E27FC236}">
                <a16:creationId xmlns:a16="http://schemas.microsoft.com/office/drawing/2014/main" id="{99A777D8-62BE-4535-836D-76C5BC3C0955}"/>
              </a:ext>
            </a:extLst>
          </p:cNvPr>
          <p:cNvSpPr>
            <a:spLocks noGrp="1"/>
          </p:cNvSpPr>
          <p:nvPr/>
        </p:nvSpPr>
        <p:spPr>
          <a:xfrm>
            <a:off x="9122560" y="610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5" name="TextBox 7086">
            <a:extLst>
              <a:ext uri="{FF2B5EF4-FFF2-40B4-BE49-F238E27FC236}">
                <a16:creationId xmlns:a16="http://schemas.microsoft.com/office/drawing/2014/main" id="{7EAF9C54-B7C0-4A5C-83F8-1B3AB1A88679}"/>
              </a:ext>
            </a:extLst>
          </p:cNvPr>
          <p:cNvSpPr>
            <a:spLocks noGrp="1"/>
          </p:cNvSpPr>
          <p:nvPr/>
        </p:nvSpPr>
        <p:spPr>
          <a:xfrm>
            <a:off x="9052560" y="612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근거 청크(없으면 근거 부족 안내)</a:t>
            </a:r>
          </a:p>
        </p:txBody>
      </p:sp>
      <p:sp>
        <p:nvSpPr>
          <p:cNvPr id="7087" name="Connector 7088">
            <a:extLst>
              <a:ext uri="{FF2B5EF4-FFF2-40B4-BE49-F238E27FC236}">
                <a16:creationId xmlns:a16="http://schemas.microsoft.com/office/drawing/2014/main" id="{E3AA32C4-DEC4-4E2D-958E-D027B2EC6FEC}"/>
              </a:ext>
            </a:extLst>
          </p:cNvPr>
          <p:cNvSpPr>
            <a:spLocks noGrp="1"/>
          </p:cNvSpPr>
          <p:nvPr/>
        </p:nvSpPr>
        <p:spPr>
          <a:xfrm flipH="1">
            <a:off x="9122560" y="635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89" name="TextBox 7090">
            <a:extLst>
              <a:ext uri="{FF2B5EF4-FFF2-40B4-BE49-F238E27FC236}">
                <a16:creationId xmlns:a16="http://schemas.microsoft.com/office/drawing/2014/main" id="{46A99AA7-0212-467D-878A-E9A1287D0D59}"/>
              </a:ext>
            </a:extLst>
          </p:cNvPr>
          <p:cNvSpPr>
            <a:spLocks noGrp="1"/>
          </p:cNvSpPr>
          <p:nvPr/>
        </p:nvSpPr>
        <p:spPr>
          <a:xfrm>
            <a:off x="9052560" y="637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생성(근거 안에서만, 번호 표기)</a:t>
            </a:r>
          </a:p>
        </p:txBody>
      </p:sp>
      <p:sp>
        <p:nvSpPr>
          <p:cNvPr id="7091" name="Connector 7092">
            <a:extLst>
              <a:ext uri="{FF2B5EF4-FFF2-40B4-BE49-F238E27FC236}">
                <a16:creationId xmlns:a16="http://schemas.microsoft.com/office/drawing/2014/main" id="{E664A3D1-7FD7-4111-A6D7-2574193C2363}"/>
              </a:ext>
            </a:extLst>
          </p:cNvPr>
          <p:cNvSpPr>
            <a:spLocks noGrp="1"/>
          </p:cNvSpPr>
          <p:nvPr/>
        </p:nvSpPr>
        <p:spPr>
          <a:xfrm>
            <a:off x="9122560" y="6602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93" name="TextBox 7094">
            <a:extLst>
              <a:ext uri="{FF2B5EF4-FFF2-40B4-BE49-F238E27FC236}">
                <a16:creationId xmlns:a16="http://schemas.microsoft.com/office/drawing/2014/main" id="{5BB4DBD3-0731-488F-9C46-E12B6647F19D}"/>
              </a:ext>
            </a:extLst>
          </p:cNvPr>
          <p:cNvSpPr>
            <a:spLocks noGrp="1"/>
          </p:cNvSpPr>
          <p:nvPr/>
        </p:nvSpPr>
        <p:spPr>
          <a:xfrm>
            <a:off x="9052560" y="662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답변·인용 번호</a:t>
            </a:r>
          </a:p>
        </p:txBody>
      </p:sp>
      <p:sp>
        <p:nvSpPr>
          <p:cNvPr id="7095" name="Connector 7096">
            <a:extLst>
              <a:ext uri="{FF2B5EF4-FFF2-40B4-BE49-F238E27FC236}">
                <a16:creationId xmlns:a16="http://schemas.microsoft.com/office/drawing/2014/main" id="{D4E3A3E8-85D5-4DB7-B33A-F92338FCF19F}"/>
              </a:ext>
            </a:extLst>
          </p:cNvPr>
          <p:cNvSpPr>
            <a:spLocks noGrp="1"/>
          </p:cNvSpPr>
          <p:nvPr/>
        </p:nvSpPr>
        <p:spPr>
          <a:xfrm flipH="1">
            <a:off x="9122560" y="6852274"/>
            <a:ext cx="476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97" name="TextBox 7098">
            <a:extLst>
              <a:ext uri="{FF2B5EF4-FFF2-40B4-BE49-F238E27FC236}">
                <a16:creationId xmlns:a16="http://schemas.microsoft.com/office/drawing/2014/main" id="{61751653-4B37-4AFB-8951-EEDE1581220C}"/>
              </a:ext>
            </a:extLst>
          </p:cNvPr>
          <p:cNvSpPr>
            <a:spLocks noGrp="1"/>
          </p:cNvSpPr>
          <p:nvPr/>
        </p:nvSpPr>
        <p:spPr>
          <a:xfrm>
            <a:off x="9052560" y="687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질문·답변·인용 저장</a:t>
            </a:r>
          </a:p>
        </p:txBody>
      </p:sp>
      <p:sp>
        <p:nvSpPr>
          <p:cNvPr id="7099" name="Connector 7100">
            <a:extLst>
              <a:ext uri="{FF2B5EF4-FFF2-40B4-BE49-F238E27FC236}">
                <a16:creationId xmlns:a16="http://schemas.microsoft.com/office/drawing/2014/main" id="{6174FD77-91F8-4E93-8E79-E8D4D54DA799}"/>
              </a:ext>
            </a:extLst>
          </p:cNvPr>
          <p:cNvSpPr>
            <a:spLocks noGrp="1"/>
          </p:cNvSpPr>
          <p:nvPr/>
        </p:nvSpPr>
        <p:spPr>
          <a:xfrm>
            <a:off x="9122560" y="710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1" name="TextBox 7102">
            <a:extLst>
              <a:ext uri="{FF2B5EF4-FFF2-40B4-BE49-F238E27FC236}">
                <a16:creationId xmlns:a16="http://schemas.microsoft.com/office/drawing/2014/main" id="{C232C820-C395-40A6-8009-611FE6683487}"/>
              </a:ext>
            </a:extLst>
          </p:cNvPr>
          <p:cNvSpPr>
            <a:spLocks noGrp="1"/>
          </p:cNvSpPr>
          <p:nvPr/>
        </p:nvSpPr>
        <p:spPr>
          <a:xfrm>
            <a:off x="6602560" y="712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</a:t>
            </a:r>
          </a:p>
        </p:txBody>
      </p:sp>
      <p:sp>
        <p:nvSpPr>
          <p:cNvPr id="7103" name="Connector 7104">
            <a:extLst>
              <a:ext uri="{FF2B5EF4-FFF2-40B4-BE49-F238E27FC236}">
                <a16:creationId xmlns:a16="http://schemas.microsoft.com/office/drawing/2014/main" id="{D8C7ABA1-B07E-4D9F-8A5D-7E61DF25F3CE}"/>
              </a:ext>
            </a:extLst>
          </p:cNvPr>
          <p:cNvSpPr>
            <a:spLocks noGrp="1"/>
          </p:cNvSpPr>
          <p:nvPr/>
        </p:nvSpPr>
        <p:spPr>
          <a:xfrm flipH="1">
            <a:off x="6672560" y="735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5" name="TextBox 7106">
            <a:extLst>
              <a:ext uri="{FF2B5EF4-FFF2-40B4-BE49-F238E27FC236}">
                <a16:creationId xmlns:a16="http://schemas.microsoft.com/office/drawing/2014/main" id="{316F3AC9-F4A7-49EC-A6D4-CC1F08FCD5D1}"/>
              </a:ext>
            </a:extLst>
          </p:cNvPr>
          <p:cNvSpPr>
            <a:spLocks noGrp="1"/>
          </p:cNvSpPr>
          <p:nvPr/>
        </p:nvSpPr>
        <p:spPr>
          <a:xfrm>
            <a:off x="4152560" y="737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전달</a:t>
            </a:r>
          </a:p>
        </p:txBody>
      </p:sp>
      <p:sp>
        <p:nvSpPr>
          <p:cNvPr id="7107" name="Connector 7108">
            <a:extLst>
              <a:ext uri="{FF2B5EF4-FFF2-40B4-BE49-F238E27FC236}">
                <a16:creationId xmlns:a16="http://schemas.microsoft.com/office/drawing/2014/main" id="{542EA51F-FB37-4C32-B241-8D4D3AB3182B}"/>
              </a:ext>
            </a:extLst>
          </p:cNvPr>
          <p:cNvSpPr>
            <a:spLocks noGrp="1"/>
          </p:cNvSpPr>
          <p:nvPr/>
        </p:nvSpPr>
        <p:spPr>
          <a:xfrm flipH="1">
            <a:off x="4222560" y="760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109" name="TextBox 7110">
            <a:extLst>
              <a:ext uri="{FF2B5EF4-FFF2-40B4-BE49-F238E27FC236}">
                <a16:creationId xmlns:a16="http://schemas.microsoft.com/office/drawing/2014/main" id="{C917EF54-563B-4C65-91EC-A4CCB299E5BC}"/>
              </a:ext>
            </a:extLst>
          </p:cNvPr>
          <p:cNvSpPr>
            <a:spLocks noGrp="1"/>
          </p:cNvSpPr>
          <p:nvPr/>
        </p:nvSpPr>
        <p:spPr>
          <a:xfrm>
            <a:off x="1702560" y="777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답변 표시(근거 번호 클릭 가능)</a:t>
            </a:r>
          </a:p>
        </p:txBody>
      </p:sp>
      <p:sp>
        <p:nvSpPr>
          <p:cNvPr id="7111" name="Connector 7112">
            <a:extLst>
              <a:ext uri="{FF2B5EF4-FFF2-40B4-BE49-F238E27FC236}">
                <a16:creationId xmlns:a16="http://schemas.microsoft.com/office/drawing/2014/main" id="{E260F85B-21E1-445F-BB1E-FE5BD68D48FF}"/>
              </a:ext>
            </a:extLst>
          </p:cNvPr>
          <p:cNvSpPr>
            <a:spLocks noGrp="1"/>
          </p:cNvSpPr>
          <p:nvPr/>
        </p:nvSpPr>
        <p:spPr>
          <a:xfrm flipH="1">
            <a:off x="1702560" y="7997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15" name="Rectangle 7016">
            <a:extLst>
              <a:ext uri="{FF2B5EF4-FFF2-40B4-BE49-F238E27FC236}">
                <a16:creationId xmlns:a16="http://schemas.microsoft.com/office/drawing/2014/main" id="{273501A7-9464-4CD4-A4B1-723B001E9DA6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17407540" cy="3110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7017" name="Rectangle 7018">
            <a:extLst>
              <a:ext uri="{FF2B5EF4-FFF2-40B4-BE49-F238E27FC236}">
                <a16:creationId xmlns:a16="http://schemas.microsoft.com/office/drawing/2014/main" id="{AD4DCA01-57F1-433B-8F1B-7685EBEFA63C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7019" name="TextBox 7020">
            <a:extLst>
              <a:ext uri="{FF2B5EF4-FFF2-40B4-BE49-F238E27FC236}">
                <a16:creationId xmlns:a16="http://schemas.microsoft.com/office/drawing/2014/main" id="{481C4098-8234-4679-AE54-7AE6D951354D}"/>
              </a:ext>
            </a:extLst>
          </p:cNvPr>
          <p:cNvSpPr>
            <a:spLocks noGrp="1"/>
          </p:cNvSpPr>
          <p:nvPr/>
        </p:nvSpPr>
        <p:spPr>
          <a:xfrm>
            <a:off x="1157450" y="46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[상황변화 입력]</a:t>
            </a:r>
          </a:p>
        </p:txBody>
      </p:sp>
      <p:sp>
        <p:nvSpPr>
          <p:cNvPr id="7021" name="Connector 7022">
            <a:extLst>
              <a:ext uri="{FF2B5EF4-FFF2-40B4-BE49-F238E27FC236}">
                <a16:creationId xmlns:a16="http://schemas.microsoft.com/office/drawing/2014/main" id="{72D1FB2F-DECD-4F5A-8DBA-EA13F9650736}"/>
              </a:ext>
            </a:extLst>
          </p:cNvPr>
          <p:cNvSpPr>
            <a:spLocks noGrp="1"/>
          </p:cNvSpPr>
          <p:nvPr/>
        </p:nvSpPr>
        <p:spPr>
          <a:xfrm>
            <a:off x="348790" y="5297525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023" name="TextBox 7024">
            <a:extLst>
              <a:ext uri="{FF2B5EF4-FFF2-40B4-BE49-F238E27FC236}">
                <a16:creationId xmlns:a16="http://schemas.microsoft.com/office/drawing/2014/main" id="{4922DF1F-B5C0-413F-88A5-2CA61BC0728F}"/>
              </a:ext>
            </a:extLst>
          </p:cNvPr>
          <p:cNvSpPr>
            <a:spLocks noGrp="1"/>
          </p:cNvSpPr>
          <p:nvPr/>
        </p:nvSpPr>
        <p:spPr>
          <a:xfrm>
            <a:off x="463090" y="531764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[질의]</a:t>
            </a:r>
          </a:p>
        </p:txBody>
      </p:sp>
    </p:spTree>
    <p:extLst>
      <p:ext uri="{BB962C8B-B14F-4D97-AF65-F5344CB8AC3E}">
        <p14:creationId xmlns:p14="http://schemas.microsoft.com/office/powerpoint/2010/main" val="1779821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2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443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444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4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276F27F7-5A32-42F7-876C-4ECE8CA3120D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93F16AA1-9FFD-441A-A18A-121106DF84D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상황 정정 요청  (UC-QA-02)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47</a:t>
            </a:fld>
            <a:endParaRPr/>
          </a:p>
        </p:txBody>
      </p:sp>
      <p:sp>
        <p:nvSpPr>
          <p:cNvPr id="6411" name="Rounded Rectangle 6412">
            <a:extLst>
              <a:ext uri="{FF2B5EF4-FFF2-40B4-BE49-F238E27FC236}">
                <a16:creationId xmlns:a16="http://schemas.microsoft.com/office/drawing/2014/main" id="{D611EE69-40D4-4A84-9173-0E0656329414}"/>
              </a:ext>
            </a:extLst>
          </p:cNvPr>
          <p:cNvSpPr>
            <a:spLocks noGrp="1"/>
          </p:cNvSpPr>
          <p:nvPr/>
        </p:nvSpPr>
        <p:spPr>
          <a:xfrm>
            <a:off x="5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통합지휘권자</a:t>
            </a:r>
          </a:p>
        </p:txBody>
      </p:sp>
      <p:sp>
        <p:nvSpPr>
          <p:cNvPr id="6413" name="Connector 6414">
            <a:extLst>
              <a:ext uri="{FF2B5EF4-FFF2-40B4-BE49-F238E27FC236}">
                <a16:creationId xmlns:a16="http://schemas.microsoft.com/office/drawing/2014/main" id="{F348F900-F992-4472-9939-97039AC4BE68}"/>
              </a:ext>
            </a:extLst>
          </p:cNvPr>
          <p:cNvSpPr>
            <a:spLocks noGrp="1"/>
          </p:cNvSpPr>
          <p:nvPr/>
        </p:nvSpPr>
        <p:spPr>
          <a:xfrm>
            <a:off x="17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15" name="Rounded Rectangle 6416">
            <a:extLst>
              <a:ext uri="{FF2B5EF4-FFF2-40B4-BE49-F238E27FC236}">
                <a16:creationId xmlns:a16="http://schemas.microsoft.com/office/drawing/2014/main" id="{E1F389EE-84AC-4AAC-8F86-F1137463000E}"/>
              </a:ext>
            </a:extLst>
          </p:cNvPr>
          <p:cNvSpPr>
            <a:spLocks noGrp="1"/>
          </p:cNvSpPr>
          <p:nvPr/>
        </p:nvSpPr>
        <p:spPr>
          <a:xfrm>
            <a:off x="30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417" name="Connector 6418">
            <a:extLst>
              <a:ext uri="{FF2B5EF4-FFF2-40B4-BE49-F238E27FC236}">
                <a16:creationId xmlns:a16="http://schemas.microsoft.com/office/drawing/2014/main" id="{7702188E-16EE-4B61-9821-B085FF979610}"/>
              </a:ext>
            </a:extLst>
          </p:cNvPr>
          <p:cNvSpPr>
            <a:spLocks noGrp="1"/>
          </p:cNvSpPr>
          <p:nvPr/>
        </p:nvSpPr>
        <p:spPr>
          <a:xfrm>
            <a:off x="41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19" name="Rounded Rectangle 6420">
            <a:extLst>
              <a:ext uri="{FF2B5EF4-FFF2-40B4-BE49-F238E27FC236}">
                <a16:creationId xmlns:a16="http://schemas.microsoft.com/office/drawing/2014/main" id="{C3E13D7F-5AF0-41E2-BF1B-B4CEE556206C}"/>
              </a:ext>
            </a:extLst>
          </p:cNvPr>
          <p:cNvSpPr>
            <a:spLocks noGrp="1"/>
          </p:cNvSpPr>
          <p:nvPr/>
        </p:nvSpPr>
        <p:spPr>
          <a:xfrm>
            <a:off x="54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6421" name="Connector 6422">
            <a:extLst>
              <a:ext uri="{FF2B5EF4-FFF2-40B4-BE49-F238E27FC236}">
                <a16:creationId xmlns:a16="http://schemas.microsoft.com/office/drawing/2014/main" id="{048CD503-F3EA-48CB-8E2C-422AE65894F2}"/>
              </a:ext>
            </a:extLst>
          </p:cNvPr>
          <p:cNvSpPr>
            <a:spLocks noGrp="1"/>
          </p:cNvSpPr>
          <p:nvPr/>
        </p:nvSpPr>
        <p:spPr>
          <a:xfrm>
            <a:off x="66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3" name="Rounded Rectangle 6424">
            <a:extLst>
              <a:ext uri="{FF2B5EF4-FFF2-40B4-BE49-F238E27FC236}">
                <a16:creationId xmlns:a16="http://schemas.microsoft.com/office/drawing/2014/main" id="{D0A74736-4D0E-4DC6-BAB6-256FB76524E6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6425" name="Connector 6426">
            <a:extLst>
              <a:ext uri="{FF2B5EF4-FFF2-40B4-BE49-F238E27FC236}">
                <a16:creationId xmlns:a16="http://schemas.microsoft.com/office/drawing/2014/main" id="{9BB4E53B-5943-4ABC-A416-A672FB61DBC4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7" name="Rounded Rectangle 6428">
            <a:extLst>
              <a:ext uri="{FF2B5EF4-FFF2-40B4-BE49-F238E27FC236}">
                <a16:creationId xmlns:a16="http://schemas.microsoft.com/office/drawing/2014/main" id="{1C8442F1-C74A-4756-A737-AB97498CE953}"/>
              </a:ext>
            </a:extLst>
          </p:cNvPr>
          <p:cNvSpPr>
            <a:spLocks noGrp="1"/>
          </p:cNvSpPr>
          <p:nvPr/>
        </p:nvSpPr>
        <p:spPr>
          <a:xfrm>
            <a:off x="103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제안 오케스트레이터</a:t>
            </a:r>
          </a:p>
        </p:txBody>
      </p:sp>
      <p:sp>
        <p:nvSpPr>
          <p:cNvPr id="6429" name="Connector 6430">
            <a:extLst>
              <a:ext uri="{FF2B5EF4-FFF2-40B4-BE49-F238E27FC236}">
                <a16:creationId xmlns:a16="http://schemas.microsoft.com/office/drawing/2014/main" id="{F5197B58-9A76-4149-B172-337EC0FFB92C}"/>
              </a:ext>
            </a:extLst>
          </p:cNvPr>
          <p:cNvSpPr>
            <a:spLocks noGrp="1"/>
          </p:cNvSpPr>
          <p:nvPr/>
        </p:nvSpPr>
        <p:spPr>
          <a:xfrm>
            <a:off x="115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1" name="Rounded Rectangle 6432">
            <a:extLst>
              <a:ext uri="{FF2B5EF4-FFF2-40B4-BE49-F238E27FC236}">
                <a16:creationId xmlns:a16="http://schemas.microsoft.com/office/drawing/2014/main" id="{361BE5F2-1800-439F-8C93-5DEEA9562991}"/>
              </a:ext>
            </a:extLst>
          </p:cNvPr>
          <p:cNvSpPr>
            <a:spLocks noGrp="1"/>
          </p:cNvSpPr>
          <p:nvPr/>
        </p:nvSpPr>
        <p:spPr>
          <a:xfrm>
            <a:off x="128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433" name="Connector 6434">
            <a:extLst>
              <a:ext uri="{FF2B5EF4-FFF2-40B4-BE49-F238E27FC236}">
                <a16:creationId xmlns:a16="http://schemas.microsoft.com/office/drawing/2014/main" id="{FD19BA1D-9521-4945-8465-96A162E2A647}"/>
              </a:ext>
            </a:extLst>
          </p:cNvPr>
          <p:cNvSpPr>
            <a:spLocks noGrp="1"/>
          </p:cNvSpPr>
          <p:nvPr/>
        </p:nvSpPr>
        <p:spPr>
          <a:xfrm>
            <a:off x="1395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5" name="Rounded Rectangle 6436">
            <a:extLst>
              <a:ext uri="{FF2B5EF4-FFF2-40B4-BE49-F238E27FC236}">
                <a16:creationId xmlns:a16="http://schemas.microsoft.com/office/drawing/2014/main" id="{C8206868-FC99-4B6D-B295-79D42891843D}"/>
              </a:ext>
            </a:extLst>
          </p:cNvPr>
          <p:cNvSpPr>
            <a:spLocks noGrp="1"/>
          </p:cNvSpPr>
          <p:nvPr/>
        </p:nvSpPr>
        <p:spPr>
          <a:xfrm>
            <a:off x="1525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437" name="Connector 6438">
            <a:extLst>
              <a:ext uri="{FF2B5EF4-FFF2-40B4-BE49-F238E27FC236}">
                <a16:creationId xmlns:a16="http://schemas.microsoft.com/office/drawing/2014/main" id="{73CF2AE7-30FE-4EE1-97C9-FC6F34F544F5}"/>
              </a:ext>
            </a:extLst>
          </p:cNvPr>
          <p:cNvSpPr>
            <a:spLocks noGrp="1"/>
          </p:cNvSpPr>
          <p:nvPr/>
        </p:nvSpPr>
        <p:spPr>
          <a:xfrm>
            <a:off x="16402560" y="2908706"/>
            <a:ext cx="0" cy="6323819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3" name="Rectangle 6304">
            <a:extLst>
              <a:ext uri="{FF2B5EF4-FFF2-40B4-BE49-F238E27FC236}">
                <a16:creationId xmlns:a16="http://schemas.microsoft.com/office/drawing/2014/main" id="{215D94F2-32F7-4680-8DEE-B4BEE847E454}"/>
              </a:ext>
            </a:extLst>
          </p:cNvPr>
          <p:cNvSpPr>
            <a:spLocks noGrp="1"/>
          </p:cNvSpPr>
          <p:nvPr/>
        </p:nvSpPr>
        <p:spPr>
          <a:xfrm>
            <a:off x="13882560" y="45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5" name="Rectangle 6306">
            <a:extLst>
              <a:ext uri="{FF2B5EF4-FFF2-40B4-BE49-F238E27FC236}">
                <a16:creationId xmlns:a16="http://schemas.microsoft.com/office/drawing/2014/main" id="{A40BD6F0-BE02-4B3D-B4D6-E101199FAD11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7" name="Rectangle 6308">
            <a:extLst>
              <a:ext uri="{FF2B5EF4-FFF2-40B4-BE49-F238E27FC236}">
                <a16:creationId xmlns:a16="http://schemas.microsoft.com/office/drawing/2014/main" id="{E7D12355-99DF-4512-8454-693F199D413C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166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09" name="Rectangle 6310">
            <a:extLst>
              <a:ext uri="{FF2B5EF4-FFF2-40B4-BE49-F238E27FC236}">
                <a16:creationId xmlns:a16="http://schemas.microsoft.com/office/drawing/2014/main" id="{4E772755-7B9F-4ED9-80E4-D743765535A4}"/>
              </a:ext>
            </a:extLst>
          </p:cNvPr>
          <p:cNvSpPr>
            <a:spLocks noGrp="1"/>
          </p:cNvSpPr>
          <p:nvPr/>
        </p:nvSpPr>
        <p:spPr>
          <a:xfrm>
            <a:off x="8982560" y="4327274"/>
            <a:ext cx="140000" cy="1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1" name="Rectangle 6312">
            <a:extLst>
              <a:ext uri="{FF2B5EF4-FFF2-40B4-BE49-F238E27FC236}">
                <a16:creationId xmlns:a16="http://schemas.microsoft.com/office/drawing/2014/main" id="{958322EE-0B9F-4A33-87B5-C1C8B9A68388}"/>
              </a:ext>
            </a:extLst>
          </p:cNvPr>
          <p:cNvSpPr>
            <a:spLocks noGrp="1"/>
          </p:cNvSpPr>
          <p:nvPr/>
        </p:nvSpPr>
        <p:spPr>
          <a:xfrm>
            <a:off x="6532560" y="3632274"/>
            <a:ext cx="140000" cy="22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3" name="Rectangle 6314">
            <a:extLst>
              <a:ext uri="{FF2B5EF4-FFF2-40B4-BE49-F238E27FC236}">
                <a16:creationId xmlns:a16="http://schemas.microsoft.com/office/drawing/2014/main" id="{A3F0A392-F42A-4D33-8C3B-98D34E7760D3}"/>
              </a:ext>
            </a:extLst>
          </p:cNvPr>
          <p:cNvSpPr>
            <a:spLocks noGrp="1"/>
          </p:cNvSpPr>
          <p:nvPr/>
        </p:nvSpPr>
        <p:spPr>
          <a:xfrm>
            <a:off x="4082560" y="3382274"/>
            <a:ext cx="140000" cy="27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5" name="Rectangle 6316">
            <a:extLst>
              <a:ext uri="{FF2B5EF4-FFF2-40B4-BE49-F238E27FC236}">
                <a16:creationId xmlns:a16="http://schemas.microsoft.com/office/drawing/2014/main" id="{E492661C-F863-4972-9238-FE2B9642D49D}"/>
              </a:ext>
            </a:extLst>
          </p:cNvPr>
          <p:cNvSpPr>
            <a:spLocks noGrp="1"/>
          </p:cNvSpPr>
          <p:nvPr/>
        </p:nvSpPr>
        <p:spPr>
          <a:xfrm>
            <a:off x="13882560" y="727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7" name="Rectangle 6318">
            <a:extLst>
              <a:ext uri="{FF2B5EF4-FFF2-40B4-BE49-F238E27FC236}">
                <a16:creationId xmlns:a16="http://schemas.microsoft.com/office/drawing/2014/main" id="{BF60FAE4-497D-4936-9A42-C52A31D97236}"/>
              </a:ext>
            </a:extLst>
          </p:cNvPr>
          <p:cNvSpPr>
            <a:spLocks noGrp="1"/>
          </p:cNvSpPr>
          <p:nvPr/>
        </p:nvSpPr>
        <p:spPr>
          <a:xfrm>
            <a:off x="16332560" y="752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19" name="Rectangle 6320">
            <a:extLst>
              <a:ext uri="{FF2B5EF4-FFF2-40B4-BE49-F238E27FC236}">
                <a16:creationId xmlns:a16="http://schemas.microsoft.com/office/drawing/2014/main" id="{37429FB8-3514-42F4-85F2-83F24452DB51}"/>
              </a:ext>
            </a:extLst>
          </p:cNvPr>
          <p:cNvSpPr>
            <a:spLocks noGrp="1"/>
          </p:cNvSpPr>
          <p:nvPr/>
        </p:nvSpPr>
        <p:spPr>
          <a:xfrm>
            <a:off x="11432560" y="7772274"/>
            <a:ext cx="140000" cy="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1" name="Rectangle 6322">
            <a:extLst>
              <a:ext uri="{FF2B5EF4-FFF2-40B4-BE49-F238E27FC236}">
                <a16:creationId xmlns:a16="http://schemas.microsoft.com/office/drawing/2014/main" id="{AFE3D860-51D4-4327-9023-2EE201B1CBE8}"/>
              </a:ext>
            </a:extLst>
          </p:cNvPr>
          <p:cNvSpPr>
            <a:spLocks noGrp="1"/>
          </p:cNvSpPr>
          <p:nvPr/>
        </p:nvSpPr>
        <p:spPr>
          <a:xfrm>
            <a:off x="8982560" y="7022274"/>
            <a:ext cx="140000" cy="1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3" name="Rectangle 6324">
            <a:extLst>
              <a:ext uri="{FF2B5EF4-FFF2-40B4-BE49-F238E27FC236}">
                <a16:creationId xmlns:a16="http://schemas.microsoft.com/office/drawing/2014/main" id="{D812BD6A-1E44-4BE9-B276-329527C7B69E}"/>
              </a:ext>
            </a:extLst>
          </p:cNvPr>
          <p:cNvSpPr>
            <a:spLocks noGrp="1"/>
          </p:cNvSpPr>
          <p:nvPr/>
        </p:nvSpPr>
        <p:spPr>
          <a:xfrm>
            <a:off x="6532560" y="6772274"/>
            <a:ext cx="140000" cy="1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5" name="Rectangle 6326">
            <a:extLst>
              <a:ext uri="{FF2B5EF4-FFF2-40B4-BE49-F238E27FC236}">
                <a16:creationId xmlns:a16="http://schemas.microsoft.com/office/drawing/2014/main" id="{273E76FA-FEFC-4D0B-A21D-1A9B684CE430}"/>
              </a:ext>
            </a:extLst>
          </p:cNvPr>
          <p:cNvSpPr>
            <a:spLocks noGrp="1"/>
          </p:cNvSpPr>
          <p:nvPr/>
        </p:nvSpPr>
        <p:spPr>
          <a:xfrm>
            <a:off x="4082560" y="8882274"/>
            <a:ext cx="140000" cy="180251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327" name="TextBox 6328">
            <a:extLst>
              <a:ext uri="{FF2B5EF4-FFF2-40B4-BE49-F238E27FC236}">
                <a16:creationId xmlns:a16="http://schemas.microsoft.com/office/drawing/2014/main" id="{5FD10303-2EB9-46CA-A027-2C6C7D9809AA}"/>
              </a:ext>
            </a:extLst>
          </p:cNvPr>
          <p:cNvSpPr>
            <a:spLocks noGrp="1"/>
          </p:cNvSpPr>
          <p:nvPr/>
        </p:nvSpPr>
        <p:spPr>
          <a:xfrm>
            <a:off x="1702560" y="315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"박곡리 대피 완료" 입력</a:t>
            </a:r>
          </a:p>
        </p:txBody>
      </p:sp>
      <p:sp>
        <p:nvSpPr>
          <p:cNvPr id="6329" name="Connector 6330">
            <a:extLst>
              <a:ext uri="{FF2B5EF4-FFF2-40B4-BE49-F238E27FC236}">
                <a16:creationId xmlns:a16="http://schemas.microsoft.com/office/drawing/2014/main" id="{CC7E0592-9A05-40B8-80E1-B71C6CCE0354}"/>
              </a:ext>
            </a:extLst>
          </p:cNvPr>
          <p:cNvSpPr>
            <a:spLocks noGrp="1"/>
          </p:cNvSpPr>
          <p:nvPr/>
        </p:nvSpPr>
        <p:spPr>
          <a:xfrm>
            <a:off x="1702560" y="338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1" name="TextBox 6332">
            <a:extLst>
              <a:ext uri="{FF2B5EF4-FFF2-40B4-BE49-F238E27FC236}">
                <a16:creationId xmlns:a16="http://schemas.microsoft.com/office/drawing/2014/main" id="{F7A46C02-C155-4B71-940E-2CAB33618B13}"/>
              </a:ext>
            </a:extLst>
          </p:cNvPr>
          <p:cNvSpPr>
            <a:spLocks noGrp="1"/>
          </p:cNvSpPr>
          <p:nvPr/>
        </p:nvSpPr>
        <p:spPr>
          <a:xfrm>
            <a:off x="4152560" y="340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/chat</a:t>
            </a:r>
          </a:p>
        </p:txBody>
      </p:sp>
      <p:sp>
        <p:nvSpPr>
          <p:cNvPr id="6333" name="Connector 6334">
            <a:extLst>
              <a:ext uri="{FF2B5EF4-FFF2-40B4-BE49-F238E27FC236}">
                <a16:creationId xmlns:a16="http://schemas.microsoft.com/office/drawing/2014/main" id="{A994726F-E29F-4492-8FAE-92E8C62A957E}"/>
              </a:ext>
            </a:extLst>
          </p:cNvPr>
          <p:cNvSpPr>
            <a:spLocks noGrp="1"/>
          </p:cNvSpPr>
          <p:nvPr/>
        </p:nvSpPr>
        <p:spPr>
          <a:xfrm>
            <a:off x="4222560" y="363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5" name="Connector 6336">
            <a:extLst>
              <a:ext uri="{FF2B5EF4-FFF2-40B4-BE49-F238E27FC236}">
                <a16:creationId xmlns:a16="http://schemas.microsoft.com/office/drawing/2014/main" id="{161BD4AE-6F9A-48B3-890A-AEABC1EF23D5}"/>
              </a:ext>
            </a:extLst>
          </p:cNvPr>
          <p:cNvSpPr>
            <a:spLocks noGrp="1"/>
          </p:cNvSpPr>
          <p:nvPr/>
        </p:nvSpPr>
        <p:spPr>
          <a:xfrm>
            <a:off x="667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7" name="Connector 6338">
            <a:extLst>
              <a:ext uri="{FF2B5EF4-FFF2-40B4-BE49-F238E27FC236}">
                <a16:creationId xmlns:a16="http://schemas.microsoft.com/office/drawing/2014/main" id="{21837C04-5574-4FD4-B819-0F001ED8E8DD}"/>
              </a:ext>
            </a:extLst>
          </p:cNvPr>
          <p:cNvSpPr>
            <a:spLocks noGrp="1"/>
          </p:cNvSpPr>
          <p:nvPr/>
        </p:nvSpPr>
        <p:spPr>
          <a:xfrm>
            <a:off x="703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39" name="Connector 6340">
            <a:extLst>
              <a:ext uri="{FF2B5EF4-FFF2-40B4-BE49-F238E27FC236}">
                <a16:creationId xmlns:a16="http://schemas.microsoft.com/office/drawing/2014/main" id="{46DEE2EC-7316-40A7-87ED-1BA408390641}"/>
              </a:ext>
            </a:extLst>
          </p:cNvPr>
          <p:cNvSpPr>
            <a:spLocks noGrp="1"/>
          </p:cNvSpPr>
          <p:nvPr/>
        </p:nvSpPr>
        <p:spPr>
          <a:xfrm flipH="1">
            <a:off x="670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1" name="TextBox 6342">
            <a:extLst>
              <a:ext uri="{FF2B5EF4-FFF2-40B4-BE49-F238E27FC236}">
                <a16:creationId xmlns:a16="http://schemas.microsoft.com/office/drawing/2014/main" id="{0F44D870-3392-46DF-BA49-EED7CE50F2D2}"/>
              </a:ext>
            </a:extLst>
          </p:cNvPr>
          <p:cNvSpPr>
            <a:spLocks noGrp="1"/>
          </p:cNvSpPr>
          <p:nvPr/>
        </p:nvSpPr>
        <p:spPr>
          <a:xfrm>
            <a:off x="712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권한(조작) 확인</a:t>
            </a:r>
          </a:p>
        </p:txBody>
      </p:sp>
      <p:sp>
        <p:nvSpPr>
          <p:cNvPr id="6343" name="TextBox 6344">
            <a:extLst>
              <a:ext uri="{FF2B5EF4-FFF2-40B4-BE49-F238E27FC236}">
                <a16:creationId xmlns:a16="http://schemas.microsoft.com/office/drawing/2014/main" id="{B77E3187-3927-4938-8D41-7CCCDE7A4936}"/>
              </a:ext>
            </a:extLst>
          </p:cNvPr>
          <p:cNvSpPr>
            <a:spLocks noGrp="1"/>
          </p:cNvSpPr>
          <p:nvPr/>
        </p:nvSpPr>
        <p:spPr>
          <a:xfrm>
            <a:off x="6602560" y="410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propose_correction(incident_id, text)</a:t>
            </a:r>
          </a:p>
        </p:txBody>
      </p:sp>
      <p:sp>
        <p:nvSpPr>
          <p:cNvPr id="6345" name="Connector 6346">
            <a:extLst>
              <a:ext uri="{FF2B5EF4-FFF2-40B4-BE49-F238E27FC236}">
                <a16:creationId xmlns:a16="http://schemas.microsoft.com/office/drawing/2014/main" id="{0ACAF850-F71B-4651-93BE-2DA1B1C44C36}"/>
              </a:ext>
            </a:extLst>
          </p:cNvPr>
          <p:cNvSpPr>
            <a:spLocks noGrp="1"/>
          </p:cNvSpPr>
          <p:nvPr/>
        </p:nvSpPr>
        <p:spPr>
          <a:xfrm>
            <a:off x="6672560" y="4327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47" name="TextBox 6348">
            <a:extLst>
              <a:ext uri="{FF2B5EF4-FFF2-40B4-BE49-F238E27FC236}">
                <a16:creationId xmlns:a16="http://schemas.microsoft.com/office/drawing/2014/main" id="{8556A563-F501-4424-ADBF-FFE5B5288389}"/>
              </a:ext>
            </a:extLst>
          </p:cNvPr>
          <p:cNvSpPr>
            <a:spLocks noGrp="1"/>
          </p:cNvSpPr>
          <p:nvPr/>
        </p:nvSpPr>
        <p:spPr>
          <a:xfrm>
            <a:off x="9052560" y="4352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parse_correction 결과 확인 · 현재 값 조회·정정 가능 검사</a:t>
            </a:r>
          </a:p>
        </p:txBody>
      </p:sp>
      <p:sp>
        <p:nvSpPr>
          <p:cNvPr id="6349" name="Connector 6350">
            <a:extLst>
              <a:ext uri="{FF2B5EF4-FFF2-40B4-BE49-F238E27FC236}">
                <a16:creationId xmlns:a16="http://schemas.microsoft.com/office/drawing/2014/main" id="{1074C211-9FA0-4FCA-91F2-82ED574EB0E6}"/>
              </a:ext>
            </a:extLst>
          </p:cNvPr>
          <p:cNvSpPr>
            <a:spLocks noGrp="1"/>
          </p:cNvSpPr>
          <p:nvPr/>
        </p:nvSpPr>
        <p:spPr>
          <a:xfrm>
            <a:off x="9122560" y="4577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1" name="TextBox 6352">
            <a:extLst>
              <a:ext uri="{FF2B5EF4-FFF2-40B4-BE49-F238E27FC236}">
                <a16:creationId xmlns:a16="http://schemas.microsoft.com/office/drawing/2014/main" id="{5E71CF79-D28A-4D0A-ADF6-D4B083BC9FF4}"/>
              </a:ext>
            </a:extLst>
          </p:cNvPr>
          <p:cNvSpPr>
            <a:spLocks noGrp="1"/>
          </p:cNvSpPr>
          <p:nvPr/>
        </p:nvSpPr>
        <p:spPr>
          <a:xfrm>
            <a:off x="6602560" y="482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거부(대상 재입력 / 가용 범위 초과)</a:t>
            </a:r>
          </a:p>
        </p:txBody>
      </p:sp>
      <p:sp>
        <p:nvSpPr>
          <p:cNvPr id="6353" name="Connector 6354">
            <a:extLst>
              <a:ext uri="{FF2B5EF4-FFF2-40B4-BE49-F238E27FC236}">
                <a16:creationId xmlns:a16="http://schemas.microsoft.com/office/drawing/2014/main" id="{1BEABF86-FE00-4429-BFB7-CAD58AD7666C}"/>
              </a:ext>
            </a:extLst>
          </p:cNvPr>
          <p:cNvSpPr>
            <a:spLocks noGrp="1"/>
          </p:cNvSpPr>
          <p:nvPr/>
        </p:nvSpPr>
        <p:spPr>
          <a:xfrm flipH="1">
            <a:off x="6672560" y="504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5" name="TextBox 6356">
            <a:extLst>
              <a:ext uri="{FF2B5EF4-FFF2-40B4-BE49-F238E27FC236}">
                <a16:creationId xmlns:a16="http://schemas.microsoft.com/office/drawing/2014/main" id="{FBFA309D-EAA6-458A-A91E-8A55F3048E41}"/>
              </a:ext>
            </a:extLst>
          </p:cNvPr>
          <p:cNvSpPr>
            <a:spLocks noGrp="1"/>
          </p:cNvSpPr>
          <p:nvPr/>
        </p:nvSpPr>
        <p:spPr>
          <a:xfrm>
            <a:off x="4152560" y="507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거부 전달</a:t>
            </a:r>
          </a:p>
        </p:txBody>
      </p:sp>
      <p:sp>
        <p:nvSpPr>
          <p:cNvPr id="6357" name="Connector 6358">
            <a:extLst>
              <a:ext uri="{FF2B5EF4-FFF2-40B4-BE49-F238E27FC236}">
                <a16:creationId xmlns:a16="http://schemas.microsoft.com/office/drawing/2014/main" id="{408B5BA4-A4D1-4792-B151-829A8672358B}"/>
              </a:ext>
            </a:extLst>
          </p:cNvPr>
          <p:cNvSpPr>
            <a:spLocks noGrp="1"/>
          </p:cNvSpPr>
          <p:nvPr/>
        </p:nvSpPr>
        <p:spPr>
          <a:xfrm flipH="1">
            <a:off x="4222560" y="529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59" name="TextBox 6360">
            <a:extLst>
              <a:ext uri="{FF2B5EF4-FFF2-40B4-BE49-F238E27FC236}">
                <a16:creationId xmlns:a16="http://schemas.microsoft.com/office/drawing/2014/main" id="{77130B6B-1F1C-4C0D-941E-61150D78EC99}"/>
              </a:ext>
            </a:extLst>
          </p:cNvPr>
          <p:cNvSpPr>
            <a:spLocks noGrp="1"/>
          </p:cNvSpPr>
          <p:nvPr/>
        </p:nvSpPr>
        <p:spPr>
          <a:xfrm>
            <a:off x="6602560" y="543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변경안(항목 · 이전 → 변경)</a:t>
            </a:r>
          </a:p>
        </p:txBody>
      </p:sp>
      <p:sp>
        <p:nvSpPr>
          <p:cNvPr id="6361" name="Connector 6362">
            <a:extLst>
              <a:ext uri="{FF2B5EF4-FFF2-40B4-BE49-F238E27FC236}">
                <a16:creationId xmlns:a16="http://schemas.microsoft.com/office/drawing/2014/main" id="{265EB9F0-BA3D-45C6-839E-1D8B554FD33A}"/>
              </a:ext>
            </a:extLst>
          </p:cNvPr>
          <p:cNvSpPr>
            <a:spLocks noGrp="1"/>
          </p:cNvSpPr>
          <p:nvPr/>
        </p:nvSpPr>
        <p:spPr>
          <a:xfrm flipH="1">
            <a:off x="6672560" y="565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63" name="TextBox 6364">
            <a:extLst>
              <a:ext uri="{FF2B5EF4-FFF2-40B4-BE49-F238E27FC236}">
                <a16:creationId xmlns:a16="http://schemas.microsoft.com/office/drawing/2014/main" id="{94F1323B-80F1-4FB3-9E12-AE0FF83653A6}"/>
              </a:ext>
            </a:extLst>
          </p:cNvPr>
          <p:cNvSpPr>
            <a:spLocks noGrp="1"/>
          </p:cNvSpPr>
          <p:nvPr/>
        </p:nvSpPr>
        <p:spPr>
          <a:xfrm>
            <a:off x="4152560" y="568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변경안 전달</a:t>
            </a:r>
          </a:p>
        </p:txBody>
      </p:sp>
      <p:sp>
        <p:nvSpPr>
          <p:cNvPr id="6365" name="Connector 6366">
            <a:extLst>
              <a:ext uri="{FF2B5EF4-FFF2-40B4-BE49-F238E27FC236}">
                <a16:creationId xmlns:a16="http://schemas.microsoft.com/office/drawing/2014/main" id="{6CDF2AE4-1736-4DBC-A65B-4F66E8565CDD}"/>
              </a:ext>
            </a:extLst>
          </p:cNvPr>
          <p:cNvSpPr>
            <a:spLocks noGrp="1"/>
          </p:cNvSpPr>
          <p:nvPr/>
        </p:nvSpPr>
        <p:spPr>
          <a:xfrm flipH="1">
            <a:off x="4222560" y="5907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67" name="TextBox 6368">
            <a:extLst>
              <a:ext uri="{FF2B5EF4-FFF2-40B4-BE49-F238E27FC236}">
                <a16:creationId xmlns:a16="http://schemas.microsoft.com/office/drawing/2014/main" id="{1B1C8CDE-9851-44AE-9228-C926911FE940}"/>
              </a:ext>
            </a:extLst>
          </p:cNvPr>
          <p:cNvSpPr>
            <a:spLocks noGrp="1"/>
          </p:cNvSpPr>
          <p:nvPr/>
        </p:nvSpPr>
        <p:spPr>
          <a:xfrm>
            <a:off x="1702560" y="5932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「상황 정정 확인」 창</a:t>
            </a:r>
          </a:p>
        </p:txBody>
      </p:sp>
      <p:sp>
        <p:nvSpPr>
          <p:cNvPr id="6369" name="Connector 6370">
            <a:extLst>
              <a:ext uri="{FF2B5EF4-FFF2-40B4-BE49-F238E27FC236}">
                <a16:creationId xmlns:a16="http://schemas.microsoft.com/office/drawing/2014/main" id="{25C10DB0-A387-4138-96F7-600D996CD496}"/>
              </a:ext>
            </a:extLst>
          </p:cNvPr>
          <p:cNvSpPr>
            <a:spLocks noGrp="1"/>
          </p:cNvSpPr>
          <p:nvPr/>
        </p:nvSpPr>
        <p:spPr>
          <a:xfrm flipH="1">
            <a:off x="1702560" y="6157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1" name="TextBox 6372">
            <a:extLst>
              <a:ext uri="{FF2B5EF4-FFF2-40B4-BE49-F238E27FC236}">
                <a16:creationId xmlns:a16="http://schemas.microsoft.com/office/drawing/2014/main" id="{DA70E9D4-5D46-4B8F-8453-F08558824C4D}"/>
              </a:ext>
            </a:extLst>
          </p:cNvPr>
          <p:cNvSpPr>
            <a:spLocks noGrp="1"/>
          </p:cNvSpPr>
          <p:nvPr/>
        </p:nvSpPr>
        <p:spPr>
          <a:xfrm>
            <a:off x="4152560" y="65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/corrections/{id}/confirm</a:t>
            </a:r>
          </a:p>
        </p:txBody>
      </p:sp>
      <p:sp>
        <p:nvSpPr>
          <p:cNvPr id="6373" name="Connector 6374">
            <a:extLst>
              <a:ext uri="{FF2B5EF4-FFF2-40B4-BE49-F238E27FC236}">
                <a16:creationId xmlns:a16="http://schemas.microsoft.com/office/drawing/2014/main" id="{C1FA7D80-BCCF-45A4-8BC7-F3038F7EF313}"/>
              </a:ext>
            </a:extLst>
          </p:cNvPr>
          <p:cNvSpPr>
            <a:spLocks noGrp="1"/>
          </p:cNvSpPr>
          <p:nvPr/>
        </p:nvSpPr>
        <p:spPr>
          <a:xfrm>
            <a:off x="4152560" y="6772274"/>
            <a:ext cx="238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5" name="TextBox 6376">
            <a:extLst>
              <a:ext uri="{FF2B5EF4-FFF2-40B4-BE49-F238E27FC236}">
                <a16:creationId xmlns:a16="http://schemas.microsoft.com/office/drawing/2014/main" id="{99F54F75-F726-4D80-93B8-6876FEBFEBAC}"/>
              </a:ext>
            </a:extLst>
          </p:cNvPr>
          <p:cNvSpPr>
            <a:spLocks noGrp="1"/>
          </p:cNvSpPr>
          <p:nvPr/>
        </p:nvSpPr>
        <p:spPr>
          <a:xfrm>
            <a:off x="6602560" y="67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apply_correction(draft)</a:t>
            </a:r>
          </a:p>
        </p:txBody>
      </p:sp>
      <p:sp>
        <p:nvSpPr>
          <p:cNvPr id="6377" name="Connector 6378">
            <a:extLst>
              <a:ext uri="{FF2B5EF4-FFF2-40B4-BE49-F238E27FC236}">
                <a16:creationId xmlns:a16="http://schemas.microsoft.com/office/drawing/2014/main" id="{138F0EC8-F62A-4167-B555-B919E2A83CBD}"/>
              </a:ext>
            </a:extLst>
          </p:cNvPr>
          <p:cNvSpPr>
            <a:spLocks noGrp="1"/>
          </p:cNvSpPr>
          <p:nvPr/>
        </p:nvSpPr>
        <p:spPr>
          <a:xfrm>
            <a:off x="6672560" y="702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79" name="TextBox 6380">
            <a:extLst>
              <a:ext uri="{FF2B5EF4-FFF2-40B4-BE49-F238E27FC236}">
                <a16:creationId xmlns:a16="http://schemas.microsoft.com/office/drawing/2014/main" id="{454CE37E-7F2B-458C-91C4-5073F1401129}"/>
              </a:ext>
            </a:extLst>
          </p:cNvPr>
          <p:cNvSpPr>
            <a:spLocks noGrp="1"/>
          </p:cNvSpPr>
          <p:nvPr/>
        </p:nvSpPr>
        <p:spPr>
          <a:xfrm>
            <a:off x="9052560" y="7047274"/>
            <a:ext cx="490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상황 저장</a:t>
            </a:r>
          </a:p>
        </p:txBody>
      </p:sp>
      <p:sp>
        <p:nvSpPr>
          <p:cNvPr id="6381" name="Connector 6382">
            <a:extLst>
              <a:ext uri="{FF2B5EF4-FFF2-40B4-BE49-F238E27FC236}">
                <a16:creationId xmlns:a16="http://schemas.microsoft.com/office/drawing/2014/main" id="{3770A53C-852C-4DBB-A390-FE0C349D0C51}"/>
              </a:ext>
            </a:extLst>
          </p:cNvPr>
          <p:cNvSpPr>
            <a:spLocks noGrp="1"/>
          </p:cNvSpPr>
          <p:nvPr/>
        </p:nvSpPr>
        <p:spPr>
          <a:xfrm>
            <a:off x="9122560" y="7272274"/>
            <a:ext cx="476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83" name="TextBox 6384">
            <a:extLst>
              <a:ext uri="{FF2B5EF4-FFF2-40B4-BE49-F238E27FC236}">
                <a16:creationId xmlns:a16="http://schemas.microsoft.com/office/drawing/2014/main" id="{C3232741-B734-4D5A-AA29-255791FF2FCE}"/>
              </a:ext>
            </a:extLst>
          </p:cNvPr>
          <p:cNvSpPr>
            <a:spLocks noGrp="1"/>
          </p:cNvSpPr>
          <p:nvPr/>
        </p:nvSpPr>
        <p:spPr>
          <a:xfrm>
            <a:off x="9052560" y="7297274"/>
            <a:ext cx="73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record(정정, 상황 정정)</a:t>
            </a:r>
          </a:p>
        </p:txBody>
      </p:sp>
      <p:sp>
        <p:nvSpPr>
          <p:cNvPr id="6385" name="Connector 6386">
            <a:extLst>
              <a:ext uri="{FF2B5EF4-FFF2-40B4-BE49-F238E27FC236}">
                <a16:creationId xmlns:a16="http://schemas.microsoft.com/office/drawing/2014/main" id="{1FC2A50B-8AC6-4DFB-9EED-2C3C268C5BF0}"/>
              </a:ext>
            </a:extLst>
          </p:cNvPr>
          <p:cNvSpPr>
            <a:spLocks noGrp="1"/>
          </p:cNvSpPr>
          <p:nvPr/>
        </p:nvSpPr>
        <p:spPr>
          <a:xfrm>
            <a:off x="9122560" y="7522274"/>
            <a:ext cx="72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87" name="TextBox 6388">
            <a:extLst>
              <a:ext uri="{FF2B5EF4-FFF2-40B4-BE49-F238E27FC236}">
                <a16:creationId xmlns:a16="http://schemas.microsoft.com/office/drawing/2014/main" id="{2FF46D8A-4835-48BB-BF98-FA1F6D96057A}"/>
              </a:ext>
            </a:extLst>
          </p:cNvPr>
          <p:cNvSpPr>
            <a:spLocks noGrp="1"/>
          </p:cNvSpPr>
          <p:nvPr/>
        </p:nvSpPr>
        <p:spPr>
          <a:xfrm>
            <a:off x="9052560" y="75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generate(사유=상황정정)</a:t>
            </a:r>
          </a:p>
        </p:txBody>
      </p:sp>
      <p:sp>
        <p:nvSpPr>
          <p:cNvPr id="6389" name="Connector 6390">
            <a:extLst>
              <a:ext uri="{FF2B5EF4-FFF2-40B4-BE49-F238E27FC236}">
                <a16:creationId xmlns:a16="http://schemas.microsoft.com/office/drawing/2014/main" id="{91BCD39E-604B-45FA-8CE8-678D66F5A7B4}"/>
              </a:ext>
            </a:extLst>
          </p:cNvPr>
          <p:cNvSpPr>
            <a:spLocks noGrp="1"/>
          </p:cNvSpPr>
          <p:nvPr/>
        </p:nvSpPr>
        <p:spPr>
          <a:xfrm>
            <a:off x="9122560" y="7772274"/>
            <a:ext cx="231000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1" name="TextBox 6392">
            <a:extLst>
              <a:ext uri="{FF2B5EF4-FFF2-40B4-BE49-F238E27FC236}">
                <a16:creationId xmlns:a16="http://schemas.microsoft.com/office/drawing/2014/main" id="{5057BC79-9E12-4717-8E5D-EE096F303940}"/>
              </a:ext>
            </a:extLst>
          </p:cNvPr>
          <p:cNvSpPr>
            <a:spLocks noGrp="1"/>
          </p:cNvSpPr>
          <p:nvPr/>
        </p:nvSpPr>
        <p:spPr>
          <a:xfrm>
            <a:off x="9052560" y="77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새 버전·변경 항목(예측은 그대로)</a:t>
            </a:r>
          </a:p>
        </p:txBody>
      </p:sp>
      <p:sp>
        <p:nvSpPr>
          <p:cNvPr id="6393" name="Connector 6394">
            <a:extLst>
              <a:ext uri="{FF2B5EF4-FFF2-40B4-BE49-F238E27FC236}">
                <a16:creationId xmlns:a16="http://schemas.microsoft.com/office/drawing/2014/main" id="{A604819A-3836-434D-8CA9-ECD4737A4390}"/>
              </a:ext>
            </a:extLst>
          </p:cNvPr>
          <p:cNvSpPr>
            <a:spLocks noGrp="1"/>
          </p:cNvSpPr>
          <p:nvPr/>
        </p:nvSpPr>
        <p:spPr>
          <a:xfrm flipH="1">
            <a:off x="9122560" y="802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5" name="TextBox 6396">
            <a:extLst>
              <a:ext uri="{FF2B5EF4-FFF2-40B4-BE49-F238E27FC236}">
                <a16:creationId xmlns:a16="http://schemas.microsoft.com/office/drawing/2014/main" id="{CA7A03F0-5F2F-4861-82DE-2D0D47E1999D}"/>
              </a:ext>
            </a:extLst>
          </p:cNvPr>
          <p:cNvSpPr>
            <a:spLocks noGrp="1"/>
          </p:cNvSpPr>
          <p:nvPr/>
        </p:nvSpPr>
        <p:spPr>
          <a:xfrm>
            <a:off x="6602560" y="804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정정 결과 전달</a:t>
            </a:r>
          </a:p>
        </p:txBody>
      </p:sp>
      <p:sp>
        <p:nvSpPr>
          <p:cNvPr id="6397" name="Connector 6398">
            <a:extLst>
              <a:ext uri="{FF2B5EF4-FFF2-40B4-BE49-F238E27FC236}">
                <a16:creationId xmlns:a16="http://schemas.microsoft.com/office/drawing/2014/main" id="{A0D333F6-0243-4394-B313-BA0863157194}"/>
              </a:ext>
            </a:extLst>
          </p:cNvPr>
          <p:cNvSpPr>
            <a:spLocks noGrp="1"/>
          </p:cNvSpPr>
          <p:nvPr/>
        </p:nvSpPr>
        <p:spPr>
          <a:xfrm flipH="1">
            <a:off x="6672560" y="8272274"/>
            <a:ext cx="231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99" name="TextBox 6400">
            <a:extLst>
              <a:ext uri="{FF2B5EF4-FFF2-40B4-BE49-F238E27FC236}">
                <a16:creationId xmlns:a16="http://schemas.microsoft.com/office/drawing/2014/main" id="{A4E5AE4A-C45C-4079-915F-7FAEE6CE17B1}"/>
              </a:ext>
            </a:extLst>
          </p:cNvPr>
          <p:cNvSpPr>
            <a:spLocks noGrp="1"/>
          </p:cNvSpPr>
          <p:nvPr/>
        </p:nvSpPr>
        <p:spPr>
          <a:xfrm>
            <a:off x="4152560" y="8297274"/>
            <a:ext cx="245000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대화 답변 + 「제안 변경사항」 창</a:t>
            </a:r>
          </a:p>
        </p:txBody>
      </p:sp>
      <p:sp>
        <p:nvSpPr>
          <p:cNvPr id="6401" name="Connector 6402">
            <a:extLst>
              <a:ext uri="{FF2B5EF4-FFF2-40B4-BE49-F238E27FC236}">
                <a16:creationId xmlns:a16="http://schemas.microsoft.com/office/drawing/2014/main" id="{4A76B3CA-6BE0-4972-9F7F-0E5F143CDF21}"/>
              </a:ext>
            </a:extLst>
          </p:cNvPr>
          <p:cNvSpPr>
            <a:spLocks noGrp="1"/>
          </p:cNvSpPr>
          <p:nvPr/>
        </p:nvSpPr>
        <p:spPr>
          <a:xfrm flipH="1">
            <a:off x="4152560" y="8522274"/>
            <a:ext cx="238000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3" name="Connector 6404">
            <a:extLst>
              <a:ext uri="{FF2B5EF4-FFF2-40B4-BE49-F238E27FC236}">
                <a16:creationId xmlns:a16="http://schemas.microsoft.com/office/drawing/2014/main" id="{F2666BAD-3ABD-4169-A978-273A43F1399D}"/>
              </a:ext>
            </a:extLst>
          </p:cNvPr>
          <p:cNvSpPr>
            <a:spLocks noGrp="1"/>
          </p:cNvSpPr>
          <p:nvPr/>
        </p:nvSpPr>
        <p:spPr>
          <a:xfrm>
            <a:off x="4222560" y="8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5" name="Connector 6406">
            <a:extLst>
              <a:ext uri="{FF2B5EF4-FFF2-40B4-BE49-F238E27FC236}">
                <a16:creationId xmlns:a16="http://schemas.microsoft.com/office/drawing/2014/main" id="{880F2CF5-41F6-47E1-82FD-173F7ADBF197}"/>
              </a:ext>
            </a:extLst>
          </p:cNvPr>
          <p:cNvSpPr>
            <a:spLocks noGrp="1"/>
          </p:cNvSpPr>
          <p:nvPr/>
        </p:nvSpPr>
        <p:spPr>
          <a:xfrm>
            <a:off x="4588320" y="8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7" name="Connector 6408">
            <a:extLst>
              <a:ext uri="{FF2B5EF4-FFF2-40B4-BE49-F238E27FC236}">
                <a16:creationId xmlns:a16="http://schemas.microsoft.com/office/drawing/2014/main" id="{E2550915-DA8D-4863-A42E-C75A8F2FDB49}"/>
              </a:ext>
            </a:extLst>
          </p:cNvPr>
          <p:cNvSpPr>
            <a:spLocks noGrp="1"/>
          </p:cNvSpPr>
          <p:nvPr/>
        </p:nvSpPr>
        <p:spPr>
          <a:xfrm flipH="1">
            <a:off x="4256850" y="9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09" name="TextBox 6410">
            <a:extLst>
              <a:ext uri="{FF2B5EF4-FFF2-40B4-BE49-F238E27FC236}">
                <a16:creationId xmlns:a16="http://schemas.microsoft.com/office/drawing/2014/main" id="{18161E3A-D143-47AE-B873-1E40998BC397}"/>
              </a:ext>
            </a:extLst>
          </p:cNvPr>
          <p:cNvSpPr>
            <a:spLocks noGrp="1"/>
          </p:cNvSpPr>
          <p:nvPr/>
        </p:nvSpPr>
        <p:spPr>
          <a:xfrm>
            <a:off x="4679760" y="8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저장하지 않고 취소를 알림</a:t>
            </a:r>
          </a:p>
        </p:txBody>
      </p:sp>
      <p:sp>
        <p:nvSpPr>
          <p:cNvPr id="6283" name="Rectangle 6284">
            <a:extLst>
              <a:ext uri="{FF2B5EF4-FFF2-40B4-BE49-F238E27FC236}">
                <a16:creationId xmlns:a16="http://schemas.microsoft.com/office/drawing/2014/main" id="{84186C6E-4877-4B30-8F7F-FDE1DB8FCD54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17407540" cy="166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85" name="Rectangle 6286">
            <a:extLst>
              <a:ext uri="{FF2B5EF4-FFF2-40B4-BE49-F238E27FC236}">
                <a16:creationId xmlns:a16="http://schemas.microsoft.com/office/drawing/2014/main" id="{1CE22448-DCDB-4428-8F7B-A1E532DA4995}"/>
              </a:ext>
            </a:extLst>
          </p:cNvPr>
          <p:cNvSpPr>
            <a:spLocks noGrp="1"/>
          </p:cNvSpPr>
          <p:nvPr/>
        </p:nvSpPr>
        <p:spPr>
          <a:xfrm>
            <a:off x="348790" y="460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287" name="TextBox 6288">
            <a:extLst>
              <a:ext uri="{FF2B5EF4-FFF2-40B4-BE49-F238E27FC236}">
                <a16:creationId xmlns:a16="http://schemas.microsoft.com/office/drawing/2014/main" id="{BE54E116-BBB7-4CFF-BD1C-1E170C2DFC30}"/>
              </a:ext>
            </a:extLst>
          </p:cNvPr>
          <p:cNvSpPr>
            <a:spLocks noGrp="1"/>
          </p:cNvSpPr>
          <p:nvPr/>
        </p:nvSpPr>
        <p:spPr>
          <a:xfrm>
            <a:off x="1157450" y="461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[대상 없음·해석 불가 / 가용 범위 초과]</a:t>
            </a:r>
          </a:p>
        </p:txBody>
      </p:sp>
      <p:sp>
        <p:nvSpPr>
          <p:cNvPr id="6289" name="Connector 6290">
            <a:extLst>
              <a:ext uri="{FF2B5EF4-FFF2-40B4-BE49-F238E27FC236}">
                <a16:creationId xmlns:a16="http://schemas.microsoft.com/office/drawing/2014/main" id="{495112E4-C6C9-4ED3-A265-3705A39DE60A}"/>
              </a:ext>
            </a:extLst>
          </p:cNvPr>
          <p:cNvSpPr>
            <a:spLocks noGrp="1"/>
          </p:cNvSpPr>
          <p:nvPr/>
        </p:nvSpPr>
        <p:spPr>
          <a:xfrm>
            <a:off x="348790" y="5367274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291" name="TextBox 6292">
            <a:extLst>
              <a:ext uri="{FF2B5EF4-FFF2-40B4-BE49-F238E27FC236}">
                <a16:creationId xmlns:a16="http://schemas.microsoft.com/office/drawing/2014/main" id="{26EB593E-EC85-4B41-A02F-5E2909D313BF}"/>
              </a:ext>
            </a:extLst>
          </p:cNvPr>
          <p:cNvSpPr>
            <a:spLocks noGrp="1"/>
          </p:cNvSpPr>
          <p:nvPr/>
        </p:nvSpPr>
        <p:spPr>
          <a:xfrm>
            <a:off x="463090" y="5387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 범위]</a:t>
            </a:r>
          </a:p>
        </p:txBody>
      </p:sp>
      <p:sp>
        <p:nvSpPr>
          <p:cNvPr id="6293" name="Rectangle 6294">
            <a:extLst>
              <a:ext uri="{FF2B5EF4-FFF2-40B4-BE49-F238E27FC236}">
                <a16:creationId xmlns:a16="http://schemas.microsoft.com/office/drawing/2014/main" id="{F9482FB3-3BF7-4140-A531-C84488AB5618}"/>
              </a:ext>
            </a:extLst>
          </p:cNvPr>
          <p:cNvSpPr>
            <a:spLocks noGrp="1"/>
          </p:cNvSpPr>
          <p:nvPr/>
        </p:nvSpPr>
        <p:spPr>
          <a:xfrm>
            <a:off x="348790" y="6292274"/>
            <a:ext cx="17407540" cy="2880251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295" name="Rectangle 6296">
            <a:extLst>
              <a:ext uri="{FF2B5EF4-FFF2-40B4-BE49-F238E27FC236}">
                <a16:creationId xmlns:a16="http://schemas.microsoft.com/office/drawing/2014/main" id="{83155C95-94EE-4238-B460-7C436F8A1A06}"/>
              </a:ext>
            </a:extLst>
          </p:cNvPr>
          <p:cNvSpPr>
            <a:spLocks noGrp="1"/>
          </p:cNvSpPr>
          <p:nvPr/>
        </p:nvSpPr>
        <p:spPr>
          <a:xfrm>
            <a:off x="348790" y="6292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297" name="TextBox 6298">
            <a:extLst>
              <a:ext uri="{FF2B5EF4-FFF2-40B4-BE49-F238E27FC236}">
                <a16:creationId xmlns:a16="http://schemas.microsoft.com/office/drawing/2014/main" id="{C7DF0260-7002-43AA-9DA7-9FD96BA55923}"/>
              </a:ext>
            </a:extLst>
          </p:cNvPr>
          <p:cNvSpPr>
            <a:spLocks noGrp="1"/>
          </p:cNvSpPr>
          <p:nvPr/>
        </p:nvSpPr>
        <p:spPr>
          <a:xfrm>
            <a:off x="1157450" y="6302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[「확인 · 저장 후 재생성」]</a:t>
            </a:r>
          </a:p>
        </p:txBody>
      </p:sp>
      <p:sp>
        <p:nvSpPr>
          <p:cNvPr id="6299" name="Connector 6300">
            <a:extLst>
              <a:ext uri="{FF2B5EF4-FFF2-40B4-BE49-F238E27FC236}">
                <a16:creationId xmlns:a16="http://schemas.microsoft.com/office/drawing/2014/main" id="{6E39C784-D6EB-4802-9577-2AFC3492B761}"/>
              </a:ext>
            </a:extLst>
          </p:cNvPr>
          <p:cNvSpPr>
            <a:spLocks noGrp="1"/>
          </p:cNvSpPr>
          <p:nvPr/>
        </p:nvSpPr>
        <p:spPr>
          <a:xfrm>
            <a:off x="348790" y="8592274"/>
            <a:ext cx="1740754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301" name="TextBox 6302">
            <a:extLst>
              <a:ext uri="{FF2B5EF4-FFF2-40B4-BE49-F238E27FC236}">
                <a16:creationId xmlns:a16="http://schemas.microsoft.com/office/drawing/2014/main" id="{293D0647-0193-4960-8E6C-AAAE49DE4297}"/>
              </a:ext>
            </a:extLst>
          </p:cNvPr>
          <p:cNvSpPr>
            <a:spLocks noGrp="1"/>
          </p:cNvSpPr>
          <p:nvPr/>
        </p:nvSpPr>
        <p:spPr>
          <a:xfrm>
            <a:off x="463090" y="8612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[「취소」]</a:t>
            </a:r>
          </a:p>
        </p:txBody>
      </p:sp>
    </p:spTree>
    <p:extLst>
      <p:ext uri="{BB962C8B-B14F-4D97-AF65-F5344CB8AC3E}">
        <p14:creationId xmlns:p14="http://schemas.microsoft.com/office/powerpoint/2010/main" val="999068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5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5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56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E07AD8B5-5178-4C20-BE59-EAF92B6D99E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BFC94D47-5FF8-4232-B7AF-658B0F81D2E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계정·권한 관리  (UC-ADMIN-01)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48</a:t>
            </a:fld>
            <a:endParaRPr/>
          </a:p>
        </p:txBody>
      </p:sp>
      <p:sp>
        <p:nvSpPr>
          <p:cNvPr id="6537" name="Rounded Rectangle 6538">
            <a:extLst>
              <a:ext uri="{FF2B5EF4-FFF2-40B4-BE49-F238E27FC236}">
                <a16:creationId xmlns:a16="http://schemas.microsoft.com/office/drawing/2014/main" id="{26C0CE29-3376-4461-B88B-B41B7D662F30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</a:p>
        </p:txBody>
      </p:sp>
      <p:sp>
        <p:nvSpPr>
          <p:cNvPr id="6539" name="Connector 6540">
            <a:extLst>
              <a:ext uri="{FF2B5EF4-FFF2-40B4-BE49-F238E27FC236}">
                <a16:creationId xmlns:a16="http://schemas.microsoft.com/office/drawing/2014/main" id="{B77C25E8-555D-4E40-8D54-43042AB03950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1" name="Rounded Rectangle 6542">
            <a:extLst>
              <a:ext uri="{FF2B5EF4-FFF2-40B4-BE49-F238E27FC236}">
                <a16:creationId xmlns:a16="http://schemas.microsoft.com/office/drawing/2014/main" id="{D1961EB9-B039-417E-8898-DC414916CDC5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543" name="Connector 6544">
            <a:extLst>
              <a:ext uri="{FF2B5EF4-FFF2-40B4-BE49-F238E27FC236}">
                <a16:creationId xmlns:a16="http://schemas.microsoft.com/office/drawing/2014/main" id="{95898EE1-AE07-4C2C-B69D-603E90A45940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5" name="Rounded Rectangle 6546">
            <a:extLst>
              <a:ext uri="{FF2B5EF4-FFF2-40B4-BE49-F238E27FC236}">
                <a16:creationId xmlns:a16="http://schemas.microsoft.com/office/drawing/2014/main" id="{A9A6A298-D292-48BE-AF42-F4684D2B9062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6547" name="Connector 6548">
            <a:extLst>
              <a:ext uri="{FF2B5EF4-FFF2-40B4-BE49-F238E27FC236}">
                <a16:creationId xmlns:a16="http://schemas.microsoft.com/office/drawing/2014/main" id="{73CCD206-56B4-4095-B03E-DE25162D45BE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49" name="Rounded Rectangle 6550">
            <a:extLst>
              <a:ext uri="{FF2B5EF4-FFF2-40B4-BE49-F238E27FC236}">
                <a16:creationId xmlns:a16="http://schemas.microsoft.com/office/drawing/2014/main" id="{26DBA994-6F47-49EF-AB56-F8615DB9D9D3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551" name="Connector 6552">
            <a:extLst>
              <a:ext uri="{FF2B5EF4-FFF2-40B4-BE49-F238E27FC236}">
                <a16:creationId xmlns:a16="http://schemas.microsoft.com/office/drawing/2014/main" id="{E33D321F-9C0E-4337-9518-0265D9315DD5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53" name="Rounded Rectangle 6554">
            <a:extLst>
              <a:ext uri="{FF2B5EF4-FFF2-40B4-BE49-F238E27FC236}">
                <a16:creationId xmlns:a16="http://schemas.microsoft.com/office/drawing/2014/main" id="{30695409-BA58-4F45-BA39-9469751A56A0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555" name="Connector 6556">
            <a:extLst>
              <a:ext uri="{FF2B5EF4-FFF2-40B4-BE49-F238E27FC236}">
                <a16:creationId xmlns:a16="http://schemas.microsoft.com/office/drawing/2014/main" id="{19DE9649-B71E-43B9-A14B-C9225ACEDB8F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9" name="Rectangle 6440">
            <a:extLst>
              <a:ext uri="{FF2B5EF4-FFF2-40B4-BE49-F238E27FC236}">
                <a16:creationId xmlns:a16="http://schemas.microsoft.com/office/drawing/2014/main" id="{C5613DF2-73ED-4CD0-B26B-B4943055D6A9}"/>
              </a:ext>
            </a:extLst>
          </p:cNvPr>
          <p:cNvSpPr>
            <a:spLocks noGrp="1"/>
          </p:cNvSpPr>
          <p:nvPr/>
        </p:nvSpPr>
        <p:spPr>
          <a:xfrm>
            <a:off x="12205820" y="43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1" name="Rectangle 6442">
            <a:extLst>
              <a:ext uri="{FF2B5EF4-FFF2-40B4-BE49-F238E27FC236}">
                <a16:creationId xmlns:a16="http://schemas.microsoft.com/office/drawing/2014/main" id="{786E6100-AD1F-4D6C-8A37-5A9CC554D345}"/>
              </a:ext>
            </a:extLst>
          </p:cNvPr>
          <p:cNvSpPr>
            <a:spLocks noGrp="1"/>
          </p:cNvSpPr>
          <p:nvPr/>
        </p:nvSpPr>
        <p:spPr>
          <a:xfrm>
            <a:off x="15429080" y="45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3" name="Rectangle 6444">
            <a:extLst>
              <a:ext uri="{FF2B5EF4-FFF2-40B4-BE49-F238E27FC236}">
                <a16:creationId xmlns:a16="http://schemas.microsoft.com/office/drawing/2014/main" id="{0EE66BDF-739A-4B2B-8E82-27050B7AD9F6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11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5" name="Rectangle 6446">
            <a:extLst>
              <a:ext uri="{FF2B5EF4-FFF2-40B4-BE49-F238E27FC236}">
                <a16:creationId xmlns:a16="http://schemas.microsoft.com/office/drawing/2014/main" id="{E4153D2C-80AE-497E-A6E5-1479D6A114E3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169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7" name="Rectangle 6448">
            <a:extLst>
              <a:ext uri="{FF2B5EF4-FFF2-40B4-BE49-F238E27FC236}">
                <a16:creationId xmlns:a16="http://schemas.microsoft.com/office/drawing/2014/main" id="{7CC0B7A4-B23C-4B0E-ACDD-D22EAB97F171}"/>
              </a:ext>
            </a:extLst>
          </p:cNvPr>
          <p:cNvSpPr>
            <a:spLocks noGrp="1"/>
          </p:cNvSpPr>
          <p:nvPr/>
        </p:nvSpPr>
        <p:spPr>
          <a:xfrm>
            <a:off x="15429080" y="58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9" name="Rectangle 6450">
            <a:extLst>
              <a:ext uri="{FF2B5EF4-FFF2-40B4-BE49-F238E27FC236}">
                <a16:creationId xmlns:a16="http://schemas.microsoft.com/office/drawing/2014/main" id="{037EAACD-CD69-4B5B-9D3B-9703F16CB956}"/>
              </a:ext>
            </a:extLst>
          </p:cNvPr>
          <p:cNvSpPr>
            <a:spLocks noGrp="1"/>
          </p:cNvSpPr>
          <p:nvPr/>
        </p:nvSpPr>
        <p:spPr>
          <a:xfrm>
            <a:off x="8982560" y="5577274"/>
            <a:ext cx="140000" cy="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1" name="Rectangle 6452">
            <a:extLst>
              <a:ext uri="{FF2B5EF4-FFF2-40B4-BE49-F238E27FC236}">
                <a16:creationId xmlns:a16="http://schemas.microsoft.com/office/drawing/2014/main" id="{D7A17F21-6134-41A8-B758-8B266A6B9969}"/>
              </a:ext>
            </a:extLst>
          </p:cNvPr>
          <p:cNvSpPr>
            <a:spLocks noGrp="1"/>
          </p:cNvSpPr>
          <p:nvPr/>
        </p:nvSpPr>
        <p:spPr>
          <a:xfrm>
            <a:off x="5759300" y="5327274"/>
            <a:ext cx="140000" cy="1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3" name="Rectangle 6454">
            <a:extLst>
              <a:ext uri="{FF2B5EF4-FFF2-40B4-BE49-F238E27FC236}">
                <a16:creationId xmlns:a16="http://schemas.microsoft.com/office/drawing/2014/main" id="{5488D282-1F20-434B-923C-D994BA1CDD5D}"/>
              </a:ext>
            </a:extLst>
          </p:cNvPr>
          <p:cNvSpPr>
            <a:spLocks noGrp="1"/>
          </p:cNvSpPr>
          <p:nvPr/>
        </p:nvSpPr>
        <p:spPr>
          <a:xfrm>
            <a:off x="12205820" y="707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5" name="Rectangle 6456">
            <a:extLst>
              <a:ext uri="{FF2B5EF4-FFF2-40B4-BE49-F238E27FC236}">
                <a16:creationId xmlns:a16="http://schemas.microsoft.com/office/drawing/2014/main" id="{7A232900-7DA4-477F-AA19-76C1C10CEF83}"/>
              </a:ext>
            </a:extLst>
          </p:cNvPr>
          <p:cNvSpPr>
            <a:spLocks noGrp="1"/>
          </p:cNvSpPr>
          <p:nvPr/>
        </p:nvSpPr>
        <p:spPr>
          <a:xfrm>
            <a:off x="15429080" y="7327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7" name="Rectangle 6458">
            <a:extLst>
              <a:ext uri="{FF2B5EF4-FFF2-40B4-BE49-F238E27FC236}">
                <a16:creationId xmlns:a16="http://schemas.microsoft.com/office/drawing/2014/main" id="{1299A874-E541-4700-8E90-BD7A1CD73AF6}"/>
              </a:ext>
            </a:extLst>
          </p:cNvPr>
          <p:cNvSpPr>
            <a:spLocks noGrp="1"/>
          </p:cNvSpPr>
          <p:nvPr/>
        </p:nvSpPr>
        <p:spPr>
          <a:xfrm>
            <a:off x="8982560" y="6827274"/>
            <a:ext cx="140000" cy="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59" name="Rectangle 6460">
            <a:extLst>
              <a:ext uri="{FF2B5EF4-FFF2-40B4-BE49-F238E27FC236}">
                <a16:creationId xmlns:a16="http://schemas.microsoft.com/office/drawing/2014/main" id="{34390699-8264-4A88-978A-9B7B5A464611}"/>
              </a:ext>
            </a:extLst>
          </p:cNvPr>
          <p:cNvSpPr>
            <a:spLocks noGrp="1"/>
          </p:cNvSpPr>
          <p:nvPr/>
        </p:nvSpPr>
        <p:spPr>
          <a:xfrm>
            <a:off x="5759300" y="6577274"/>
            <a:ext cx="140000" cy="12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61" name="TextBox 6462">
            <a:extLst>
              <a:ext uri="{FF2B5EF4-FFF2-40B4-BE49-F238E27FC236}">
                <a16:creationId xmlns:a16="http://schemas.microsoft.com/office/drawing/2014/main" id="{6C4485F1-097B-4B05-A7D0-B4648E56CD71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발급(이름·소속·권한 입력)</a:t>
            </a:r>
          </a:p>
        </p:txBody>
      </p:sp>
      <p:sp>
        <p:nvSpPr>
          <p:cNvPr id="6463" name="Connector 6464">
            <a:extLst>
              <a:ext uri="{FF2B5EF4-FFF2-40B4-BE49-F238E27FC236}">
                <a16:creationId xmlns:a16="http://schemas.microsoft.com/office/drawing/2014/main" id="{5D1CBEA5-248C-4B4D-ABC0-94C0909FE464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5" name="TextBox 6466">
            <a:extLst>
              <a:ext uri="{FF2B5EF4-FFF2-40B4-BE49-F238E27FC236}">
                <a16:creationId xmlns:a16="http://schemas.microsoft.com/office/drawing/2014/main" id="{281ED4B0-2615-494B-8BD1-25F01AE3B8C4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/admin/users</a:t>
            </a:r>
          </a:p>
        </p:txBody>
      </p:sp>
      <p:sp>
        <p:nvSpPr>
          <p:cNvPr id="6467" name="Connector 6468">
            <a:extLst>
              <a:ext uri="{FF2B5EF4-FFF2-40B4-BE49-F238E27FC236}">
                <a16:creationId xmlns:a16="http://schemas.microsoft.com/office/drawing/2014/main" id="{677C33D9-2931-43AD-9E87-51452D24AB76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9" name="Connector 6470">
            <a:extLst>
              <a:ext uri="{FF2B5EF4-FFF2-40B4-BE49-F238E27FC236}">
                <a16:creationId xmlns:a16="http://schemas.microsoft.com/office/drawing/2014/main" id="{DCB84BAF-CA81-45C0-B362-41740FC4CE61}"/>
              </a:ext>
            </a:extLst>
          </p:cNvPr>
          <p:cNvSpPr>
            <a:spLocks noGrp="1"/>
          </p:cNvSpPr>
          <p:nvPr/>
        </p:nvSpPr>
        <p:spPr>
          <a:xfrm>
            <a:off x="9122560" y="3882274"/>
            <a:ext cx="365760" cy="0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1" name="Connector 6472">
            <a:extLst>
              <a:ext uri="{FF2B5EF4-FFF2-40B4-BE49-F238E27FC236}">
                <a16:creationId xmlns:a16="http://schemas.microsoft.com/office/drawing/2014/main" id="{40766D70-DAAC-4AE6-A9C9-34B542E4E950}"/>
              </a:ext>
            </a:extLst>
          </p:cNvPr>
          <p:cNvSpPr>
            <a:spLocks noGrp="1"/>
          </p:cNvSpPr>
          <p:nvPr/>
        </p:nvSpPr>
        <p:spPr>
          <a:xfrm>
            <a:off x="9488320" y="3882274"/>
            <a:ext cx="0" cy="180251"/>
          </a:xfrm>
          <a:prstGeom prst="line">
            <a:avLst/>
          </a:prstGeom>
          <a:ln w="13970">
            <a:solidFill>
              <a:srgbClr val="3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3" name="Connector 6474">
            <a:extLst>
              <a:ext uri="{FF2B5EF4-FFF2-40B4-BE49-F238E27FC236}">
                <a16:creationId xmlns:a16="http://schemas.microsoft.com/office/drawing/2014/main" id="{98B29BD7-BA42-4588-A0B4-1B8090822590}"/>
              </a:ext>
            </a:extLst>
          </p:cNvPr>
          <p:cNvSpPr>
            <a:spLocks noGrp="1"/>
          </p:cNvSpPr>
          <p:nvPr/>
        </p:nvSpPr>
        <p:spPr>
          <a:xfrm flipH="1">
            <a:off x="9156850" y="4062525"/>
            <a:ext cx="33147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5" name="TextBox 6476">
            <a:extLst>
              <a:ext uri="{FF2B5EF4-FFF2-40B4-BE49-F238E27FC236}">
                <a16:creationId xmlns:a16="http://schemas.microsoft.com/office/drawing/2014/main" id="{70DCACD3-1C67-4901-B726-1B188D4912CB}"/>
              </a:ext>
            </a:extLst>
          </p:cNvPr>
          <p:cNvSpPr>
            <a:spLocks noGrp="1"/>
          </p:cNvSpPr>
          <p:nvPr/>
        </p:nvSpPr>
        <p:spPr>
          <a:xfrm>
            <a:off x="9579760" y="3657274"/>
            <a:ext cx="4562951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권한(관리) · 빈 값 검사 · 아이디·초기 비밀번호 자동 생성</a:t>
            </a:r>
          </a:p>
        </p:txBody>
      </p:sp>
      <p:sp>
        <p:nvSpPr>
          <p:cNvPr id="6477" name="TextBox 6478">
            <a:extLst>
              <a:ext uri="{FF2B5EF4-FFF2-40B4-BE49-F238E27FC236}">
                <a16:creationId xmlns:a16="http://schemas.microsoft.com/office/drawing/2014/main" id="{47DF3263-8D2D-4244-8B84-883535EA4A61}"/>
              </a:ext>
            </a:extLst>
          </p:cNvPr>
          <p:cNvSpPr>
            <a:spLocks noGrp="1"/>
          </p:cNvSpPr>
          <p:nvPr/>
        </p:nvSpPr>
        <p:spPr>
          <a:xfrm>
            <a:off x="9052560" y="4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계정 저장(비밀번호 해시, 상태 = 발급)</a:t>
            </a:r>
          </a:p>
        </p:txBody>
      </p:sp>
      <p:sp>
        <p:nvSpPr>
          <p:cNvPr id="6479" name="Connector 6480">
            <a:extLst>
              <a:ext uri="{FF2B5EF4-FFF2-40B4-BE49-F238E27FC236}">
                <a16:creationId xmlns:a16="http://schemas.microsoft.com/office/drawing/2014/main" id="{0EF38AF5-864B-4E0D-B4B9-F3CEE20EA676}"/>
              </a:ext>
            </a:extLst>
          </p:cNvPr>
          <p:cNvSpPr>
            <a:spLocks noGrp="1"/>
          </p:cNvSpPr>
          <p:nvPr/>
        </p:nvSpPr>
        <p:spPr>
          <a:xfrm>
            <a:off x="9122560" y="43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1" name="TextBox 6482">
            <a:extLst>
              <a:ext uri="{FF2B5EF4-FFF2-40B4-BE49-F238E27FC236}">
                <a16:creationId xmlns:a16="http://schemas.microsoft.com/office/drawing/2014/main" id="{C5589508-E070-44CD-92B3-F71D8FAEBFC4}"/>
              </a:ext>
            </a:extLst>
          </p:cNvPr>
          <p:cNvSpPr>
            <a:spLocks noGrp="1"/>
          </p:cNvSpPr>
          <p:nvPr/>
        </p:nvSpPr>
        <p:spPr>
          <a:xfrm>
            <a:off x="9052560" y="435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계정 발급)</a:t>
            </a:r>
          </a:p>
        </p:txBody>
      </p:sp>
      <p:sp>
        <p:nvSpPr>
          <p:cNvPr id="6483" name="Connector 6484">
            <a:extLst>
              <a:ext uri="{FF2B5EF4-FFF2-40B4-BE49-F238E27FC236}">
                <a16:creationId xmlns:a16="http://schemas.microsoft.com/office/drawing/2014/main" id="{6F890B1D-FA53-4D5D-BDA4-BA00D1F0A3B4}"/>
              </a:ext>
            </a:extLst>
          </p:cNvPr>
          <p:cNvSpPr>
            <a:spLocks noGrp="1"/>
          </p:cNvSpPr>
          <p:nvPr/>
        </p:nvSpPr>
        <p:spPr>
          <a:xfrm>
            <a:off x="9122560" y="457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5" name="TextBox 6486">
            <a:extLst>
              <a:ext uri="{FF2B5EF4-FFF2-40B4-BE49-F238E27FC236}">
                <a16:creationId xmlns:a16="http://schemas.microsoft.com/office/drawing/2014/main" id="{62FB4C3A-0811-4DF6-B975-CADD64C33F2C}"/>
              </a:ext>
            </a:extLst>
          </p:cNvPr>
          <p:cNvSpPr>
            <a:spLocks noGrp="1"/>
          </p:cNvSpPr>
          <p:nvPr/>
        </p:nvSpPr>
        <p:spPr>
          <a:xfrm>
            <a:off x="5829300" y="4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발급 결과</a:t>
            </a:r>
          </a:p>
        </p:txBody>
      </p:sp>
      <p:sp>
        <p:nvSpPr>
          <p:cNvPr id="6487" name="Connector 6488">
            <a:extLst>
              <a:ext uri="{FF2B5EF4-FFF2-40B4-BE49-F238E27FC236}">
                <a16:creationId xmlns:a16="http://schemas.microsoft.com/office/drawing/2014/main" id="{6AAEE1D8-2EE6-4744-9D96-DBA1C9B628CE}"/>
              </a:ext>
            </a:extLst>
          </p:cNvPr>
          <p:cNvSpPr>
            <a:spLocks noGrp="1"/>
          </p:cNvSpPr>
          <p:nvPr/>
        </p:nvSpPr>
        <p:spPr>
          <a:xfrm flipH="1">
            <a:off x="5899300" y="482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9" name="TextBox 6490">
            <a:extLst>
              <a:ext uri="{FF2B5EF4-FFF2-40B4-BE49-F238E27FC236}">
                <a16:creationId xmlns:a16="http://schemas.microsoft.com/office/drawing/2014/main" id="{1DAF2233-10DA-436C-AA0B-7D9CCF9817FE}"/>
              </a:ext>
            </a:extLst>
          </p:cNvPr>
          <p:cNvSpPr>
            <a:spLocks noGrp="1"/>
          </p:cNvSpPr>
          <p:nvPr/>
        </p:nvSpPr>
        <p:spPr>
          <a:xfrm>
            <a:off x="2606040" y="4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발급 완료 표시</a:t>
            </a:r>
          </a:p>
        </p:txBody>
      </p:sp>
      <p:sp>
        <p:nvSpPr>
          <p:cNvPr id="6491" name="Connector 6492">
            <a:extLst>
              <a:ext uri="{FF2B5EF4-FFF2-40B4-BE49-F238E27FC236}">
                <a16:creationId xmlns:a16="http://schemas.microsoft.com/office/drawing/2014/main" id="{3FFCCF70-185F-46FF-9B2C-81A57B2FD20E}"/>
              </a:ext>
            </a:extLst>
          </p:cNvPr>
          <p:cNvSpPr>
            <a:spLocks noGrp="1"/>
          </p:cNvSpPr>
          <p:nvPr/>
        </p:nvSpPr>
        <p:spPr>
          <a:xfrm flipH="1">
            <a:off x="2606040" y="507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3" name="TextBox 6494">
            <a:extLst>
              <a:ext uri="{FF2B5EF4-FFF2-40B4-BE49-F238E27FC236}">
                <a16:creationId xmlns:a16="http://schemas.microsoft.com/office/drawing/2014/main" id="{F308E69C-D747-4DBA-A0A1-24A873C37DC7}"/>
              </a:ext>
            </a:extLst>
          </p:cNvPr>
          <p:cNvSpPr>
            <a:spLocks noGrp="1"/>
          </p:cNvSpPr>
          <p:nvPr/>
        </p:nvSpPr>
        <p:spPr>
          <a:xfrm>
            <a:off x="2606040" y="5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권한 변경 · 회수 / 재발급 · 삭제</a:t>
            </a:r>
          </a:p>
        </p:txBody>
      </p:sp>
      <p:sp>
        <p:nvSpPr>
          <p:cNvPr id="6495" name="Connector 6496">
            <a:extLst>
              <a:ext uri="{FF2B5EF4-FFF2-40B4-BE49-F238E27FC236}">
                <a16:creationId xmlns:a16="http://schemas.microsoft.com/office/drawing/2014/main" id="{DD4EEFCE-1884-49A3-849B-DDF25AB777D7}"/>
              </a:ext>
            </a:extLst>
          </p:cNvPr>
          <p:cNvSpPr>
            <a:spLocks noGrp="1"/>
          </p:cNvSpPr>
          <p:nvPr/>
        </p:nvSpPr>
        <p:spPr>
          <a:xfrm>
            <a:off x="2606040" y="532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7" name="TextBox 6498">
            <a:extLst>
              <a:ext uri="{FF2B5EF4-FFF2-40B4-BE49-F238E27FC236}">
                <a16:creationId xmlns:a16="http://schemas.microsoft.com/office/drawing/2014/main" id="{C7B97D65-ED8A-4FFD-9A81-6C1BD19307CA}"/>
              </a:ext>
            </a:extLst>
          </p:cNvPr>
          <p:cNvSpPr>
            <a:spLocks noGrp="1"/>
          </p:cNvSpPr>
          <p:nvPr/>
        </p:nvSpPr>
        <p:spPr>
          <a:xfrm>
            <a:off x="5829300" y="5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· DELETE /admin/users/{id}</a:t>
            </a:r>
          </a:p>
        </p:txBody>
      </p:sp>
      <p:sp>
        <p:nvSpPr>
          <p:cNvPr id="6499" name="Connector 6500">
            <a:extLst>
              <a:ext uri="{FF2B5EF4-FFF2-40B4-BE49-F238E27FC236}">
                <a16:creationId xmlns:a16="http://schemas.microsoft.com/office/drawing/2014/main" id="{86EE1386-DCAF-4262-95A0-A77D3D71CF26}"/>
              </a:ext>
            </a:extLst>
          </p:cNvPr>
          <p:cNvSpPr>
            <a:spLocks noGrp="1"/>
          </p:cNvSpPr>
          <p:nvPr/>
        </p:nvSpPr>
        <p:spPr>
          <a:xfrm>
            <a:off x="5899300" y="557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1" name="TextBox 6502">
            <a:extLst>
              <a:ext uri="{FF2B5EF4-FFF2-40B4-BE49-F238E27FC236}">
                <a16:creationId xmlns:a16="http://schemas.microsoft.com/office/drawing/2014/main" id="{CAF293A2-DE4C-47EE-BEC1-70BBD24DE7C8}"/>
              </a:ext>
            </a:extLst>
          </p:cNvPr>
          <p:cNvSpPr>
            <a:spLocks noGrp="1"/>
          </p:cNvSpPr>
          <p:nvPr/>
        </p:nvSpPr>
        <p:spPr>
          <a:xfrm>
            <a:off x="9052560" y="56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권한 변경·회수·삭제)</a:t>
            </a:r>
          </a:p>
        </p:txBody>
      </p:sp>
      <p:sp>
        <p:nvSpPr>
          <p:cNvPr id="6503" name="Connector 6504">
            <a:extLst>
              <a:ext uri="{FF2B5EF4-FFF2-40B4-BE49-F238E27FC236}">
                <a16:creationId xmlns:a16="http://schemas.microsoft.com/office/drawing/2014/main" id="{3D0186C3-BA09-4B92-97FE-5B9DB38BB5C9}"/>
              </a:ext>
            </a:extLst>
          </p:cNvPr>
          <p:cNvSpPr>
            <a:spLocks noGrp="1"/>
          </p:cNvSpPr>
          <p:nvPr/>
        </p:nvSpPr>
        <p:spPr>
          <a:xfrm>
            <a:off x="9122560" y="58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5" name="TextBox 6506">
            <a:extLst>
              <a:ext uri="{FF2B5EF4-FFF2-40B4-BE49-F238E27FC236}">
                <a16:creationId xmlns:a16="http://schemas.microsoft.com/office/drawing/2014/main" id="{A97E9E6C-E476-4CC2-BB6E-394C97081124}"/>
              </a:ext>
            </a:extLst>
          </p:cNvPr>
          <p:cNvSpPr>
            <a:spLocks noGrp="1"/>
          </p:cNvSpPr>
          <p:nvPr/>
        </p:nvSpPr>
        <p:spPr>
          <a:xfrm>
            <a:off x="5829300" y="5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반영 결과(즉시 적용, 자기 계정 삭제 거부)</a:t>
            </a:r>
          </a:p>
        </p:txBody>
      </p:sp>
      <p:sp>
        <p:nvSpPr>
          <p:cNvPr id="6507" name="Connector 6508">
            <a:extLst>
              <a:ext uri="{FF2B5EF4-FFF2-40B4-BE49-F238E27FC236}">
                <a16:creationId xmlns:a16="http://schemas.microsoft.com/office/drawing/2014/main" id="{13A4DAC5-8509-4C44-9650-BA8C5B2698C2}"/>
              </a:ext>
            </a:extLst>
          </p:cNvPr>
          <p:cNvSpPr>
            <a:spLocks noGrp="1"/>
          </p:cNvSpPr>
          <p:nvPr/>
        </p:nvSpPr>
        <p:spPr>
          <a:xfrm flipH="1">
            <a:off x="5899300" y="607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09" name="TextBox 6510">
            <a:extLst>
              <a:ext uri="{FF2B5EF4-FFF2-40B4-BE49-F238E27FC236}">
                <a16:creationId xmlns:a16="http://schemas.microsoft.com/office/drawing/2014/main" id="{C4F096C1-AA7F-4081-8522-CABB98D18F46}"/>
              </a:ext>
            </a:extLst>
          </p:cNvPr>
          <p:cNvSpPr>
            <a:spLocks noGrp="1"/>
          </p:cNvSpPr>
          <p:nvPr/>
        </p:nvSpPr>
        <p:spPr>
          <a:xfrm>
            <a:off x="2606040" y="61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511" name="Connector 6512">
            <a:extLst>
              <a:ext uri="{FF2B5EF4-FFF2-40B4-BE49-F238E27FC236}">
                <a16:creationId xmlns:a16="http://schemas.microsoft.com/office/drawing/2014/main" id="{16A338C2-CD61-4630-BF58-D80FCE64C555}"/>
              </a:ext>
            </a:extLst>
          </p:cNvPr>
          <p:cNvSpPr>
            <a:spLocks noGrp="1"/>
          </p:cNvSpPr>
          <p:nvPr/>
        </p:nvSpPr>
        <p:spPr>
          <a:xfrm flipH="1">
            <a:off x="2606040" y="632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13" name="TextBox 6514">
            <a:extLst>
              <a:ext uri="{FF2B5EF4-FFF2-40B4-BE49-F238E27FC236}">
                <a16:creationId xmlns:a16="http://schemas.microsoft.com/office/drawing/2014/main" id="{1CCD6469-81B4-436C-9271-6DDEDFCE1C7E}"/>
              </a:ext>
            </a:extLst>
          </p:cNvPr>
          <p:cNvSpPr>
            <a:spLocks noGrp="1"/>
          </p:cNvSpPr>
          <p:nvPr/>
        </p:nvSpPr>
        <p:spPr>
          <a:xfrm>
            <a:off x="2606040" y="6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잠긴 계정 「잠금 해제」</a:t>
            </a:r>
          </a:p>
        </p:txBody>
      </p:sp>
      <p:sp>
        <p:nvSpPr>
          <p:cNvPr id="6515" name="Connector 6516">
            <a:extLst>
              <a:ext uri="{FF2B5EF4-FFF2-40B4-BE49-F238E27FC236}">
                <a16:creationId xmlns:a16="http://schemas.microsoft.com/office/drawing/2014/main" id="{A01CB548-29DF-49F6-8E86-FB8B8FF5941C}"/>
              </a:ext>
            </a:extLst>
          </p:cNvPr>
          <p:cNvSpPr>
            <a:spLocks noGrp="1"/>
          </p:cNvSpPr>
          <p:nvPr/>
        </p:nvSpPr>
        <p:spPr>
          <a:xfrm>
            <a:off x="2606040" y="6577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17" name="TextBox 6518">
            <a:extLst>
              <a:ext uri="{FF2B5EF4-FFF2-40B4-BE49-F238E27FC236}">
                <a16:creationId xmlns:a16="http://schemas.microsoft.com/office/drawing/2014/main" id="{C5544A62-5FB8-4635-B60B-454225449DA9}"/>
              </a:ext>
            </a:extLst>
          </p:cNvPr>
          <p:cNvSpPr>
            <a:spLocks noGrp="1"/>
          </p:cNvSpPr>
          <p:nvPr/>
        </p:nvSpPr>
        <p:spPr>
          <a:xfrm>
            <a:off x="5829300" y="6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PATCH /admin/users/{id}/unlock</a:t>
            </a:r>
          </a:p>
        </p:txBody>
      </p:sp>
      <p:sp>
        <p:nvSpPr>
          <p:cNvPr id="6519" name="Connector 6520">
            <a:extLst>
              <a:ext uri="{FF2B5EF4-FFF2-40B4-BE49-F238E27FC236}">
                <a16:creationId xmlns:a16="http://schemas.microsoft.com/office/drawing/2014/main" id="{AC3A6F6E-FCD2-4D14-9D50-92BDDFCF96E9}"/>
              </a:ext>
            </a:extLst>
          </p:cNvPr>
          <p:cNvSpPr>
            <a:spLocks noGrp="1"/>
          </p:cNvSpPr>
          <p:nvPr/>
        </p:nvSpPr>
        <p:spPr>
          <a:xfrm>
            <a:off x="5899300" y="682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1" name="TextBox 6522">
            <a:extLst>
              <a:ext uri="{FF2B5EF4-FFF2-40B4-BE49-F238E27FC236}">
                <a16:creationId xmlns:a16="http://schemas.microsoft.com/office/drawing/2014/main" id="{8F8B6112-A7D6-4C01-8B57-D10DCF48524C}"/>
              </a:ext>
            </a:extLst>
          </p:cNvPr>
          <p:cNvSpPr>
            <a:spLocks noGrp="1"/>
          </p:cNvSpPr>
          <p:nvPr/>
        </p:nvSpPr>
        <p:spPr>
          <a:xfrm>
            <a:off x="9052560" y="68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locked = false, failed = 0 저장</a:t>
            </a:r>
          </a:p>
        </p:txBody>
      </p:sp>
      <p:sp>
        <p:nvSpPr>
          <p:cNvPr id="6523" name="Connector 6524">
            <a:extLst>
              <a:ext uri="{FF2B5EF4-FFF2-40B4-BE49-F238E27FC236}">
                <a16:creationId xmlns:a16="http://schemas.microsoft.com/office/drawing/2014/main" id="{EF1621C2-FE89-4E3E-B345-9569C28F2BCB}"/>
              </a:ext>
            </a:extLst>
          </p:cNvPr>
          <p:cNvSpPr>
            <a:spLocks noGrp="1"/>
          </p:cNvSpPr>
          <p:nvPr/>
        </p:nvSpPr>
        <p:spPr>
          <a:xfrm>
            <a:off x="9122560" y="7077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5" name="TextBox 6526">
            <a:extLst>
              <a:ext uri="{FF2B5EF4-FFF2-40B4-BE49-F238E27FC236}">
                <a16:creationId xmlns:a16="http://schemas.microsoft.com/office/drawing/2014/main" id="{FE61537D-BA47-4412-9C51-4204C5BDCF16}"/>
              </a:ext>
            </a:extLst>
          </p:cNvPr>
          <p:cNvSpPr>
            <a:spLocks noGrp="1"/>
          </p:cNvSpPr>
          <p:nvPr/>
        </p:nvSpPr>
        <p:spPr>
          <a:xfrm>
            <a:off x="9052560" y="7102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계정 잠금 해제)</a:t>
            </a:r>
          </a:p>
        </p:txBody>
      </p:sp>
      <p:sp>
        <p:nvSpPr>
          <p:cNvPr id="6527" name="Connector 6528">
            <a:extLst>
              <a:ext uri="{FF2B5EF4-FFF2-40B4-BE49-F238E27FC236}">
                <a16:creationId xmlns:a16="http://schemas.microsoft.com/office/drawing/2014/main" id="{87F1C7B2-CE41-4D3A-8CEE-2A96CC8461FF}"/>
              </a:ext>
            </a:extLst>
          </p:cNvPr>
          <p:cNvSpPr>
            <a:spLocks noGrp="1"/>
          </p:cNvSpPr>
          <p:nvPr/>
        </p:nvSpPr>
        <p:spPr>
          <a:xfrm>
            <a:off x="9122560" y="7327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29" name="TextBox 6530">
            <a:extLst>
              <a:ext uri="{FF2B5EF4-FFF2-40B4-BE49-F238E27FC236}">
                <a16:creationId xmlns:a16="http://schemas.microsoft.com/office/drawing/2014/main" id="{6DA75CCC-4AF8-49B7-ABF0-68C1A2F42B80}"/>
              </a:ext>
            </a:extLst>
          </p:cNvPr>
          <p:cNvSpPr>
            <a:spLocks noGrp="1"/>
          </p:cNvSpPr>
          <p:nvPr/>
        </p:nvSpPr>
        <p:spPr>
          <a:xfrm>
            <a:off x="5829300" y="735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해제 결과</a:t>
            </a:r>
          </a:p>
        </p:txBody>
      </p:sp>
      <p:sp>
        <p:nvSpPr>
          <p:cNvPr id="6531" name="Connector 6532">
            <a:extLst>
              <a:ext uri="{FF2B5EF4-FFF2-40B4-BE49-F238E27FC236}">
                <a16:creationId xmlns:a16="http://schemas.microsoft.com/office/drawing/2014/main" id="{096FBAAD-7E98-4A2E-99EE-788125F4335F}"/>
              </a:ext>
            </a:extLst>
          </p:cNvPr>
          <p:cNvSpPr>
            <a:spLocks noGrp="1"/>
          </p:cNvSpPr>
          <p:nvPr/>
        </p:nvSpPr>
        <p:spPr>
          <a:xfrm flipH="1">
            <a:off x="5899300" y="7577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533" name="TextBox 6534">
            <a:extLst>
              <a:ext uri="{FF2B5EF4-FFF2-40B4-BE49-F238E27FC236}">
                <a16:creationId xmlns:a16="http://schemas.microsoft.com/office/drawing/2014/main" id="{AB680ACF-2025-4A86-A9D7-57E933F2EEE2}"/>
              </a:ext>
            </a:extLst>
          </p:cNvPr>
          <p:cNvSpPr>
            <a:spLocks noGrp="1"/>
          </p:cNvSpPr>
          <p:nvPr/>
        </p:nvSpPr>
        <p:spPr>
          <a:xfrm>
            <a:off x="2606040" y="760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535" name="Connector 6536">
            <a:extLst>
              <a:ext uri="{FF2B5EF4-FFF2-40B4-BE49-F238E27FC236}">
                <a16:creationId xmlns:a16="http://schemas.microsoft.com/office/drawing/2014/main" id="{9654995D-615B-4C2A-A5D9-BD0107896F71}"/>
              </a:ext>
            </a:extLst>
          </p:cNvPr>
          <p:cNvSpPr>
            <a:spLocks noGrp="1"/>
          </p:cNvSpPr>
          <p:nvPr/>
        </p:nvSpPr>
        <p:spPr>
          <a:xfrm flipH="1">
            <a:off x="2606040" y="782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22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649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650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650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221" name="Title">
            <a:extLst>
              <a:ext uri="{FF2B5EF4-FFF2-40B4-BE49-F238E27FC236}">
                <a16:creationId xmlns:a16="http://schemas.microsoft.com/office/drawing/2014/main" id="{B906EC89-9F92-40F5-B140-86E9CDF7EAF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04. 시퀀스 다이어그램</a:t>
            </a:r>
          </a:p>
        </p:txBody>
      </p:sp>
      <p:sp>
        <p:nvSpPr>
          <p:cNvPr id="5222" name="Subtitle">
            <a:extLst>
              <a:ext uri="{FF2B5EF4-FFF2-40B4-BE49-F238E27FC236}">
                <a16:creationId xmlns:a16="http://schemas.microsoft.com/office/drawing/2014/main" id="{5383B657-38C9-4380-9DAD-B98ECC300835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진화자원 데이터 관리  (UC-ADMIN-02)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49</a:t>
            </a:fld>
            <a:endParaRPr/>
          </a:p>
        </p:txBody>
      </p:sp>
      <p:sp>
        <p:nvSpPr>
          <p:cNvPr id="6475" name="Rounded Rectangle 6476">
            <a:extLst>
              <a:ext uri="{FF2B5EF4-FFF2-40B4-BE49-F238E27FC236}">
                <a16:creationId xmlns:a16="http://schemas.microsoft.com/office/drawing/2014/main" id="{FD72618C-2FFD-4B92-A1DE-236D60A4DE15}"/>
              </a:ext>
            </a:extLst>
          </p:cNvPr>
          <p:cNvSpPr>
            <a:spLocks noGrp="1"/>
          </p:cNvSpPr>
          <p:nvPr/>
        </p:nvSpPr>
        <p:spPr>
          <a:xfrm>
            <a:off x="146304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전산 관리자</a:t>
            </a:r>
          </a:p>
        </p:txBody>
      </p:sp>
      <p:sp>
        <p:nvSpPr>
          <p:cNvPr id="6477" name="Connector 6478">
            <a:extLst>
              <a:ext uri="{FF2B5EF4-FFF2-40B4-BE49-F238E27FC236}">
                <a16:creationId xmlns:a16="http://schemas.microsoft.com/office/drawing/2014/main" id="{CFB860C9-8BC3-43E0-BDBF-489BFDF3D5B1}"/>
              </a:ext>
            </a:extLst>
          </p:cNvPr>
          <p:cNvSpPr>
            <a:spLocks noGrp="1"/>
          </p:cNvSpPr>
          <p:nvPr/>
        </p:nvSpPr>
        <p:spPr>
          <a:xfrm>
            <a:off x="260604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9" name="Rounded Rectangle 6480">
            <a:extLst>
              <a:ext uri="{FF2B5EF4-FFF2-40B4-BE49-F238E27FC236}">
                <a16:creationId xmlns:a16="http://schemas.microsoft.com/office/drawing/2014/main" id="{301F8E3C-6A4D-4671-8992-B34D34CB36BB}"/>
              </a:ext>
            </a:extLst>
          </p:cNvPr>
          <p:cNvSpPr>
            <a:spLocks noGrp="1"/>
          </p:cNvSpPr>
          <p:nvPr/>
        </p:nvSpPr>
        <p:spPr>
          <a:xfrm>
            <a:off x="468630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프론트엔드</a:t>
            </a:r>
          </a:p>
        </p:txBody>
      </p:sp>
      <p:sp>
        <p:nvSpPr>
          <p:cNvPr id="6481" name="Connector 6482">
            <a:extLst>
              <a:ext uri="{FF2B5EF4-FFF2-40B4-BE49-F238E27FC236}">
                <a16:creationId xmlns:a16="http://schemas.microsoft.com/office/drawing/2014/main" id="{42A0AA53-97B7-4152-8131-754174376FE3}"/>
              </a:ext>
            </a:extLst>
          </p:cNvPr>
          <p:cNvSpPr>
            <a:spLocks noGrp="1"/>
          </p:cNvSpPr>
          <p:nvPr/>
        </p:nvSpPr>
        <p:spPr>
          <a:xfrm>
            <a:off x="582930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3" name="Rounded Rectangle 6484">
            <a:extLst>
              <a:ext uri="{FF2B5EF4-FFF2-40B4-BE49-F238E27FC236}">
                <a16:creationId xmlns:a16="http://schemas.microsoft.com/office/drawing/2014/main" id="{628A7B1F-3877-4D5D-A50B-310F2663771E}"/>
              </a:ext>
            </a:extLst>
          </p:cNvPr>
          <p:cNvSpPr>
            <a:spLocks noGrp="1"/>
          </p:cNvSpPr>
          <p:nvPr/>
        </p:nvSpPr>
        <p:spPr>
          <a:xfrm>
            <a:off x="790956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6485" name="Connector 6486">
            <a:extLst>
              <a:ext uri="{FF2B5EF4-FFF2-40B4-BE49-F238E27FC236}">
                <a16:creationId xmlns:a16="http://schemas.microsoft.com/office/drawing/2014/main" id="{54349FFC-BCB5-4235-BA71-5FAA2FC8B9D6}"/>
              </a:ext>
            </a:extLst>
          </p:cNvPr>
          <p:cNvSpPr>
            <a:spLocks noGrp="1"/>
          </p:cNvSpPr>
          <p:nvPr/>
        </p:nvSpPr>
        <p:spPr>
          <a:xfrm>
            <a:off x="905256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87" name="Rounded Rectangle 6488">
            <a:extLst>
              <a:ext uri="{FF2B5EF4-FFF2-40B4-BE49-F238E27FC236}">
                <a16:creationId xmlns:a16="http://schemas.microsoft.com/office/drawing/2014/main" id="{BDB2BB12-7CFB-45AA-9896-D0776F6D6371}"/>
              </a:ext>
            </a:extLst>
          </p:cNvPr>
          <p:cNvSpPr>
            <a:spLocks noGrp="1"/>
          </p:cNvSpPr>
          <p:nvPr/>
        </p:nvSpPr>
        <p:spPr>
          <a:xfrm>
            <a:off x="1113282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DB</a:t>
            </a:r>
          </a:p>
        </p:txBody>
      </p:sp>
      <p:sp>
        <p:nvSpPr>
          <p:cNvPr id="6489" name="Connector 6490">
            <a:extLst>
              <a:ext uri="{FF2B5EF4-FFF2-40B4-BE49-F238E27FC236}">
                <a16:creationId xmlns:a16="http://schemas.microsoft.com/office/drawing/2014/main" id="{BCB1777C-FEAE-4FA8-B7B2-37E3065CDBFF}"/>
              </a:ext>
            </a:extLst>
          </p:cNvPr>
          <p:cNvSpPr>
            <a:spLocks noGrp="1"/>
          </p:cNvSpPr>
          <p:nvPr/>
        </p:nvSpPr>
        <p:spPr>
          <a:xfrm>
            <a:off x="1227582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91" name="Rounded Rectangle 6492">
            <a:extLst>
              <a:ext uri="{FF2B5EF4-FFF2-40B4-BE49-F238E27FC236}">
                <a16:creationId xmlns:a16="http://schemas.microsoft.com/office/drawing/2014/main" id="{013E5E6B-2D96-4F4F-A20D-54A5DC6923BB}"/>
              </a:ext>
            </a:extLst>
          </p:cNvPr>
          <p:cNvSpPr>
            <a:spLocks noGrp="1"/>
          </p:cNvSpPr>
          <p:nvPr/>
        </p:nvSpPr>
        <p:spPr>
          <a:xfrm>
            <a:off x="14356080" y="2446020"/>
            <a:ext cx="2286000" cy="462686"/>
          </a:xfrm>
          <a:prstGeom prst="roundRect">
            <a:avLst>
              <a:gd name="adj" fmla="val 10000"/>
            </a:avLst>
          </a:prstGeom>
          <a:solidFill>
            <a:srgbClr val="E6E9F1"/>
          </a:solidFill>
          <a:ln w="1270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r>
              <a:rPr sz="12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6493" name="Connector 6494">
            <a:extLst>
              <a:ext uri="{FF2B5EF4-FFF2-40B4-BE49-F238E27FC236}">
                <a16:creationId xmlns:a16="http://schemas.microsoft.com/office/drawing/2014/main" id="{C3CD3AD2-3EF2-47C5-9535-C70298CFA582}"/>
              </a:ext>
            </a:extLst>
          </p:cNvPr>
          <p:cNvSpPr>
            <a:spLocks noGrp="1"/>
          </p:cNvSpPr>
          <p:nvPr/>
        </p:nvSpPr>
        <p:spPr>
          <a:xfrm>
            <a:off x="15499080" y="2908706"/>
            <a:ext cx="0" cy="6145682"/>
          </a:xfrm>
          <a:prstGeom prst="line">
            <a:avLst/>
          </a:prstGeom>
          <a:ln w="11430">
            <a:solidFill>
              <a:srgbClr val="A3A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7" name="Rectangle 6438">
            <a:extLst>
              <a:ext uri="{FF2B5EF4-FFF2-40B4-BE49-F238E27FC236}">
                <a16:creationId xmlns:a16="http://schemas.microsoft.com/office/drawing/2014/main" id="{20028EEB-3231-412D-AEAF-DAEBA5A62B6A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4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39" name="Rectangle 6440">
            <a:extLst>
              <a:ext uri="{FF2B5EF4-FFF2-40B4-BE49-F238E27FC236}">
                <a16:creationId xmlns:a16="http://schemas.microsoft.com/office/drawing/2014/main" id="{B2C3581F-BB13-4748-9B83-5045249FE0C4}"/>
              </a:ext>
            </a:extLst>
          </p:cNvPr>
          <p:cNvSpPr>
            <a:spLocks noGrp="1"/>
          </p:cNvSpPr>
          <p:nvPr/>
        </p:nvSpPr>
        <p:spPr>
          <a:xfrm>
            <a:off x="12205820" y="446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1" name="Rectangle 6442">
            <a:extLst>
              <a:ext uri="{FF2B5EF4-FFF2-40B4-BE49-F238E27FC236}">
                <a16:creationId xmlns:a16="http://schemas.microsoft.com/office/drawing/2014/main" id="{C7DB75AD-5FD9-4307-AAB3-EA7CEC70F077}"/>
              </a:ext>
            </a:extLst>
          </p:cNvPr>
          <p:cNvSpPr>
            <a:spLocks noGrp="1"/>
          </p:cNvSpPr>
          <p:nvPr/>
        </p:nvSpPr>
        <p:spPr>
          <a:xfrm>
            <a:off x="15429080" y="4712274"/>
            <a:ext cx="140000" cy="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3" name="Rectangle 6444">
            <a:extLst>
              <a:ext uri="{FF2B5EF4-FFF2-40B4-BE49-F238E27FC236}">
                <a16:creationId xmlns:a16="http://schemas.microsoft.com/office/drawing/2014/main" id="{D476E228-CEB1-4001-A0D4-1719173AE6DE}"/>
              </a:ext>
            </a:extLst>
          </p:cNvPr>
          <p:cNvSpPr>
            <a:spLocks noGrp="1"/>
          </p:cNvSpPr>
          <p:nvPr/>
        </p:nvSpPr>
        <p:spPr>
          <a:xfrm>
            <a:off x="8982560" y="3632274"/>
            <a:ext cx="140000" cy="1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5" name="Rectangle 6446">
            <a:extLst>
              <a:ext uri="{FF2B5EF4-FFF2-40B4-BE49-F238E27FC236}">
                <a16:creationId xmlns:a16="http://schemas.microsoft.com/office/drawing/2014/main" id="{30F99EC2-BD6F-425E-985D-F7F0E2E263DE}"/>
              </a:ext>
            </a:extLst>
          </p:cNvPr>
          <p:cNvSpPr>
            <a:spLocks noGrp="1"/>
          </p:cNvSpPr>
          <p:nvPr/>
        </p:nvSpPr>
        <p:spPr>
          <a:xfrm>
            <a:off x="5759300" y="3382274"/>
            <a:ext cx="140000" cy="197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algn="ctr">
              <a:buNone/>
            </a:pPr>
            <a:endParaRPr/>
          </a:p>
        </p:txBody>
      </p:sp>
      <p:sp>
        <p:nvSpPr>
          <p:cNvPr id="6447" name="TextBox 6448">
            <a:extLst>
              <a:ext uri="{FF2B5EF4-FFF2-40B4-BE49-F238E27FC236}">
                <a16:creationId xmlns:a16="http://schemas.microsoft.com/office/drawing/2014/main" id="{6E274503-F3D2-4324-80A8-0467CCC7A1DE}"/>
              </a:ext>
            </a:extLst>
          </p:cNvPr>
          <p:cNvSpPr>
            <a:spLocks noGrp="1"/>
          </p:cNvSpPr>
          <p:nvPr/>
        </p:nvSpPr>
        <p:spPr>
          <a:xfrm>
            <a:off x="2606040" y="315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진화자원 등록·수정·삭제(구분·명칭·소속·수량·상태)</a:t>
            </a:r>
          </a:p>
        </p:txBody>
      </p:sp>
      <p:sp>
        <p:nvSpPr>
          <p:cNvPr id="6449" name="Connector 6450">
            <a:extLst>
              <a:ext uri="{FF2B5EF4-FFF2-40B4-BE49-F238E27FC236}">
                <a16:creationId xmlns:a16="http://schemas.microsoft.com/office/drawing/2014/main" id="{7DEBEE18-0DFE-49E1-9E49-6D314EE9CF33}"/>
              </a:ext>
            </a:extLst>
          </p:cNvPr>
          <p:cNvSpPr>
            <a:spLocks noGrp="1"/>
          </p:cNvSpPr>
          <p:nvPr/>
        </p:nvSpPr>
        <p:spPr>
          <a:xfrm>
            <a:off x="2606040" y="3382274"/>
            <a:ext cx="315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1" name="TextBox 6452">
            <a:extLst>
              <a:ext uri="{FF2B5EF4-FFF2-40B4-BE49-F238E27FC236}">
                <a16:creationId xmlns:a16="http://schemas.microsoft.com/office/drawing/2014/main" id="{B0CD9BC3-F7E0-4A0F-B8F5-7C8F28D8743B}"/>
              </a:ext>
            </a:extLst>
          </p:cNvPr>
          <p:cNvSpPr>
            <a:spLocks noGrp="1"/>
          </p:cNvSpPr>
          <p:nvPr/>
        </p:nvSpPr>
        <p:spPr>
          <a:xfrm>
            <a:off x="5829300" y="340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 · PUT · DELETE /admin/resources</a:t>
            </a:r>
          </a:p>
        </p:txBody>
      </p:sp>
      <p:sp>
        <p:nvSpPr>
          <p:cNvPr id="6453" name="Connector 6454">
            <a:extLst>
              <a:ext uri="{FF2B5EF4-FFF2-40B4-BE49-F238E27FC236}">
                <a16:creationId xmlns:a16="http://schemas.microsoft.com/office/drawing/2014/main" id="{C736E0D4-45F6-443F-944D-8FAB32DA2D14}"/>
              </a:ext>
            </a:extLst>
          </p:cNvPr>
          <p:cNvSpPr>
            <a:spLocks noGrp="1"/>
          </p:cNvSpPr>
          <p:nvPr/>
        </p:nvSpPr>
        <p:spPr>
          <a:xfrm>
            <a:off x="5899300" y="363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5" name="TextBox 6456">
            <a:extLst>
              <a:ext uri="{FF2B5EF4-FFF2-40B4-BE49-F238E27FC236}">
                <a16:creationId xmlns:a16="http://schemas.microsoft.com/office/drawing/2014/main" id="{D15DB852-24C7-4F37-BCF2-905437D5C842}"/>
              </a:ext>
            </a:extLst>
          </p:cNvPr>
          <p:cNvSpPr>
            <a:spLocks noGrp="1"/>
          </p:cNvSpPr>
          <p:nvPr/>
        </p:nvSpPr>
        <p:spPr>
          <a:xfrm>
            <a:off x="5829300" y="387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400 등록 거부</a:t>
            </a:r>
          </a:p>
        </p:txBody>
      </p:sp>
      <p:sp>
        <p:nvSpPr>
          <p:cNvPr id="6457" name="Connector 6458">
            <a:extLst>
              <a:ext uri="{FF2B5EF4-FFF2-40B4-BE49-F238E27FC236}">
                <a16:creationId xmlns:a16="http://schemas.microsoft.com/office/drawing/2014/main" id="{2319CAFD-4F41-4D11-B74F-364BE14E79F2}"/>
              </a:ext>
            </a:extLst>
          </p:cNvPr>
          <p:cNvSpPr>
            <a:spLocks noGrp="1"/>
          </p:cNvSpPr>
          <p:nvPr/>
        </p:nvSpPr>
        <p:spPr>
          <a:xfrm flipH="1">
            <a:off x="5899300" y="410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59" name="TextBox 6460">
            <a:extLst>
              <a:ext uri="{FF2B5EF4-FFF2-40B4-BE49-F238E27FC236}">
                <a16:creationId xmlns:a16="http://schemas.microsoft.com/office/drawing/2014/main" id="{FD7D2D83-214C-4BB2-B96D-7264FADA4AAD}"/>
              </a:ext>
            </a:extLst>
          </p:cNvPr>
          <p:cNvSpPr>
            <a:spLocks noGrp="1"/>
          </p:cNvSpPr>
          <p:nvPr/>
        </p:nvSpPr>
        <p:spPr>
          <a:xfrm>
            <a:off x="9052560" y="423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자원 저장</a:t>
            </a:r>
          </a:p>
        </p:txBody>
      </p:sp>
      <p:sp>
        <p:nvSpPr>
          <p:cNvPr id="6461" name="Connector 6462">
            <a:extLst>
              <a:ext uri="{FF2B5EF4-FFF2-40B4-BE49-F238E27FC236}">
                <a16:creationId xmlns:a16="http://schemas.microsoft.com/office/drawing/2014/main" id="{B59BBD2A-880B-423F-A904-18CDAAE365B0}"/>
              </a:ext>
            </a:extLst>
          </p:cNvPr>
          <p:cNvSpPr>
            <a:spLocks noGrp="1"/>
          </p:cNvSpPr>
          <p:nvPr/>
        </p:nvSpPr>
        <p:spPr>
          <a:xfrm>
            <a:off x="9122560" y="4462274"/>
            <a:ext cx="308326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3" name="TextBox 6464">
            <a:extLst>
              <a:ext uri="{FF2B5EF4-FFF2-40B4-BE49-F238E27FC236}">
                <a16:creationId xmlns:a16="http://schemas.microsoft.com/office/drawing/2014/main" id="{675EA4D7-30CC-4715-B800-E823BC2CFAE4}"/>
              </a:ext>
            </a:extLst>
          </p:cNvPr>
          <p:cNvSpPr>
            <a:spLocks noGrp="1"/>
          </p:cNvSpPr>
          <p:nvPr/>
        </p:nvSpPr>
        <p:spPr>
          <a:xfrm>
            <a:off x="9052560" y="4487274"/>
            <a:ext cx="644652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record(관리, 진화자원 변경)</a:t>
            </a:r>
          </a:p>
        </p:txBody>
      </p:sp>
      <p:sp>
        <p:nvSpPr>
          <p:cNvPr id="6465" name="Connector 6466">
            <a:extLst>
              <a:ext uri="{FF2B5EF4-FFF2-40B4-BE49-F238E27FC236}">
                <a16:creationId xmlns:a16="http://schemas.microsoft.com/office/drawing/2014/main" id="{89E59A94-8CD5-449F-ADBC-B2EBF6BF4E98}"/>
              </a:ext>
            </a:extLst>
          </p:cNvPr>
          <p:cNvSpPr>
            <a:spLocks noGrp="1"/>
          </p:cNvSpPr>
          <p:nvPr/>
        </p:nvSpPr>
        <p:spPr>
          <a:xfrm>
            <a:off x="9122560" y="4712274"/>
            <a:ext cx="6306520" cy="0"/>
          </a:xfrm>
          <a:prstGeom prst="line">
            <a:avLst/>
          </a:prstGeom>
          <a:ln w="13970">
            <a:solidFill>
              <a:srgbClr val="363A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67" name="TextBox 6468">
            <a:extLst>
              <a:ext uri="{FF2B5EF4-FFF2-40B4-BE49-F238E27FC236}">
                <a16:creationId xmlns:a16="http://schemas.microsoft.com/office/drawing/2014/main" id="{4B531A0D-7680-4441-8B71-D565409D6343}"/>
              </a:ext>
            </a:extLst>
          </p:cNvPr>
          <p:cNvSpPr>
            <a:spLocks noGrp="1"/>
          </p:cNvSpPr>
          <p:nvPr/>
        </p:nvSpPr>
        <p:spPr>
          <a:xfrm>
            <a:off x="5829300" y="4737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 결과 · 구분별 집계</a:t>
            </a:r>
          </a:p>
        </p:txBody>
      </p:sp>
      <p:sp>
        <p:nvSpPr>
          <p:cNvPr id="6469" name="Connector 6470">
            <a:extLst>
              <a:ext uri="{FF2B5EF4-FFF2-40B4-BE49-F238E27FC236}">
                <a16:creationId xmlns:a16="http://schemas.microsoft.com/office/drawing/2014/main" id="{8BCD7C78-8487-47DE-82EE-F1326785C1B0}"/>
              </a:ext>
            </a:extLst>
          </p:cNvPr>
          <p:cNvSpPr>
            <a:spLocks noGrp="1"/>
          </p:cNvSpPr>
          <p:nvPr/>
        </p:nvSpPr>
        <p:spPr>
          <a:xfrm flipH="1">
            <a:off x="5899300" y="4962274"/>
            <a:ext cx="308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71" name="TextBox 6472">
            <a:extLst>
              <a:ext uri="{FF2B5EF4-FFF2-40B4-BE49-F238E27FC236}">
                <a16:creationId xmlns:a16="http://schemas.microsoft.com/office/drawing/2014/main" id="{EEFE4FE7-AADF-4E89-A27B-E57C7E2E08B0}"/>
              </a:ext>
            </a:extLst>
          </p:cNvPr>
          <p:cNvSpPr>
            <a:spLocks noGrp="1"/>
          </p:cNvSpPr>
          <p:nvPr/>
        </p:nvSpPr>
        <p:spPr>
          <a:xfrm>
            <a:off x="2606040" y="5132274"/>
            <a:ext cx="3223260" cy="221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목록 갱신</a:t>
            </a:r>
          </a:p>
        </p:txBody>
      </p:sp>
      <p:sp>
        <p:nvSpPr>
          <p:cNvPr id="6473" name="Connector 6474">
            <a:extLst>
              <a:ext uri="{FF2B5EF4-FFF2-40B4-BE49-F238E27FC236}">
                <a16:creationId xmlns:a16="http://schemas.microsoft.com/office/drawing/2014/main" id="{AF315BEC-EEEC-4334-B8AA-CFD4BCCEF6A3}"/>
              </a:ext>
            </a:extLst>
          </p:cNvPr>
          <p:cNvSpPr>
            <a:spLocks noGrp="1"/>
          </p:cNvSpPr>
          <p:nvPr/>
        </p:nvSpPr>
        <p:spPr>
          <a:xfrm flipH="1">
            <a:off x="2606040" y="5357274"/>
            <a:ext cx="3153260" cy="0"/>
          </a:xfrm>
          <a:prstGeom prst="line">
            <a:avLst/>
          </a:prstGeom>
          <a:ln w="1397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27" name="Rectangle 6428">
            <a:extLst>
              <a:ext uri="{FF2B5EF4-FFF2-40B4-BE49-F238E27FC236}">
                <a16:creationId xmlns:a16="http://schemas.microsoft.com/office/drawing/2014/main" id="{3504DFCC-D512-44FF-9694-8E47EDCDC1D4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15600580" cy="1415000"/>
          </a:xfrm>
          <a:prstGeom prst="rect">
            <a:avLst/>
          </a:prstGeom>
          <a:noFill/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6429" name="Rectangle 6430">
            <a:extLst>
              <a:ext uri="{FF2B5EF4-FFF2-40B4-BE49-F238E27FC236}">
                <a16:creationId xmlns:a16="http://schemas.microsoft.com/office/drawing/2014/main" id="{019318EB-656F-42C5-8C85-0AD8AF74F00C}"/>
              </a:ext>
            </a:extLst>
          </p:cNvPr>
          <p:cNvSpPr>
            <a:spLocks noGrp="1"/>
          </p:cNvSpPr>
          <p:nvPr/>
        </p:nvSpPr>
        <p:spPr>
          <a:xfrm>
            <a:off x="1252270" y="3657274"/>
            <a:ext cx="708660" cy="241401"/>
          </a:xfrm>
          <a:prstGeom prst="rect">
            <a:avLst/>
          </a:prstGeom>
          <a:solidFill>
            <a:srgbClr val="FDEBD9"/>
          </a:solidFill>
          <a:ln w="12700">
            <a:solidFill>
              <a:srgbClr val="FAA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050" b="1">
                <a:solidFill>
                  <a:srgbClr val="B5601C"/>
                </a:solidFill>
                <a:latin typeface="210 OmniGothic 040"/>
                <a:ea typeface="210 OmniGothic 040"/>
                <a:cs typeface="210 OmniGothic 040"/>
              </a:rPr>
              <a:t>alt</a:t>
            </a:r>
          </a:p>
        </p:txBody>
      </p:sp>
      <p:sp>
        <p:nvSpPr>
          <p:cNvPr id="6431" name="TextBox 6432">
            <a:extLst>
              <a:ext uri="{FF2B5EF4-FFF2-40B4-BE49-F238E27FC236}">
                <a16:creationId xmlns:a16="http://schemas.microsoft.com/office/drawing/2014/main" id="{ACC1A4FB-1301-4739-8917-EBB515F04707}"/>
              </a:ext>
            </a:extLst>
          </p:cNvPr>
          <p:cNvSpPr>
            <a:spLocks noGrp="1"/>
          </p:cNvSpPr>
          <p:nvPr/>
        </p:nvSpPr>
        <p:spPr>
          <a:xfrm>
            <a:off x="2060930" y="3667332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[필수 값 누락]</a:t>
            </a:r>
          </a:p>
        </p:txBody>
      </p:sp>
      <p:sp>
        <p:nvSpPr>
          <p:cNvPr id="6433" name="Connector 6434">
            <a:extLst>
              <a:ext uri="{FF2B5EF4-FFF2-40B4-BE49-F238E27FC236}">
                <a16:creationId xmlns:a16="http://schemas.microsoft.com/office/drawing/2014/main" id="{3163CFC7-E938-4942-AB21-2469F2EE2013}"/>
              </a:ext>
            </a:extLst>
          </p:cNvPr>
          <p:cNvSpPr>
            <a:spLocks noGrp="1"/>
          </p:cNvSpPr>
          <p:nvPr/>
        </p:nvSpPr>
        <p:spPr>
          <a:xfrm>
            <a:off x="1252270" y="4172274"/>
            <a:ext cx="15600580" cy="0"/>
          </a:xfrm>
          <a:prstGeom prst="line">
            <a:avLst/>
          </a:prstGeom>
          <a:ln w="11430">
            <a:solidFill>
              <a:srgbClr val="FAA9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435" name="TextBox 6436">
            <a:extLst>
              <a:ext uri="{FF2B5EF4-FFF2-40B4-BE49-F238E27FC236}">
                <a16:creationId xmlns:a16="http://schemas.microsoft.com/office/drawing/2014/main" id="{CBC12AFF-6B88-4415-A442-60A4B3102B5F}"/>
              </a:ext>
            </a:extLst>
          </p:cNvPr>
          <p:cNvSpPr>
            <a:spLocks noGrp="1"/>
          </p:cNvSpPr>
          <p:nvPr/>
        </p:nvSpPr>
        <p:spPr>
          <a:xfrm>
            <a:off x="1366570" y="4192391"/>
            <a:ext cx="5715000" cy="24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[정상]</a:t>
            </a:r>
          </a:p>
        </p:txBody>
      </p:sp>
    </p:spTree>
    <p:extLst>
      <p:ext uri="{BB962C8B-B14F-4D97-AF65-F5344CB8AC3E}">
        <p14:creationId xmlns:p14="http://schemas.microsoft.com/office/powerpoint/2010/main" val="1999467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96AAE9C-A553-4295-8ACE-10CE6F0325BD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462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7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7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74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63" name="Title">
            <a:extLst>
              <a:ext uri="{FF2B5EF4-FFF2-40B4-BE49-F238E27FC236}">
                <a16:creationId xmlns:a16="http://schemas.microsoft.com/office/drawing/2014/main" id="{3D8FA11E-073E-4BD5-9973-BE6A24E254A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64" name="Subtitle">
            <a:extLst>
              <a:ext uri="{FF2B5EF4-FFF2-40B4-BE49-F238E27FC236}">
                <a16:creationId xmlns:a16="http://schemas.microsoft.com/office/drawing/2014/main" id="{FBD4E17B-3AB1-441F-87F6-D0F450A52C8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51</a:t>
            </a:fld>
            <a:endParaRPr/>
          </a:p>
        </p:txBody>
      </p:sp>
      <p:sp>
        <p:nvSpPr>
          <p:cNvPr id="5265" name="TextBox 5264">
            <a:extLst>
              <a:ext uri="{FF2B5EF4-FFF2-40B4-BE49-F238E27FC236}">
                <a16:creationId xmlns:a16="http://schemas.microsoft.com/office/drawing/2014/main" id="{9A542902-C498-40E7-9752-CE7DE6903F69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사용자(계정)</a:t>
            </a:r>
          </a:p>
        </p:txBody>
      </p:sp>
      <p:graphicFrame>
        <p:nvGraphicFramePr>
          <p:cNvPr id="5279" name="Table 5265"/>
          <p:cNvGraphicFramePr/>
          <p:nvPr/>
        </p:nvGraphicFramePr>
        <p:xfrm>
          <a:off x="822960" y="2727655"/>
          <a:ext cx="16459200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고유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 아이디 (UNIQUE, 예: cmd01)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password_hash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Private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bcrypt 해시 비밀번호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 (소속·직무 포함, 예: 열람자 1(유관기관))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RoleEnum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(COMMANDER 조작 · VIEWER 열람 · REPORTER 보고 · ADMIN 관리)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sigungu_code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관할 시·군·구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AccountEnum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상태 (발급 / 회수, 회수 시 로그인 차단)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failed_count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Private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연속 로그인 실패 횟수 (5회 잠금)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locked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잠금 여부 (5회 연속 실패 시 true, 관리자 해제 시 false)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issued_at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today()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발급일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8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8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8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68" name="Title">
            <a:extLst>
              <a:ext uri="{FF2B5EF4-FFF2-40B4-BE49-F238E27FC236}">
                <a16:creationId xmlns:a16="http://schemas.microsoft.com/office/drawing/2014/main" id="{6E374AB9-C6B4-4A76-8E37-30BD7BCA14A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69" name="Subtitle">
            <a:extLst>
              <a:ext uri="{FF2B5EF4-FFF2-40B4-BE49-F238E27FC236}">
                <a16:creationId xmlns:a16="http://schemas.microsoft.com/office/drawing/2014/main" id="{E07F9CDE-B7E9-46AF-8254-76EFB3B6A4C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52</a:t>
            </a:fld>
            <a:endParaRPr/>
          </a:p>
        </p:txBody>
      </p:sp>
      <p:sp>
        <p:nvSpPr>
          <p:cNvPr id="5270" name="TextBox 5269">
            <a:extLst>
              <a:ext uri="{FF2B5EF4-FFF2-40B4-BE49-F238E27FC236}">
                <a16:creationId xmlns:a16="http://schemas.microsoft.com/office/drawing/2014/main" id="{3FD0E250-DFA1-4A63-B547-286E0AA85807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산불 사건(발화·접수·진행상태)</a:t>
            </a:r>
          </a:p>
        </p:txBody>
      </p:sp>
      <p:graphicFrame>
        <p:nvGraphicFramePr>
          <p:cNvPr id="5287" name="Table 5270"/>
          <p:cNvGraphicFramePr/>
          <p:nvPr/>
        </p:nvGraphicFramePr>
        <p:xfrm>
          <a:off x="822960" y="2727655"/>
          <a:ext cx="16459200" cy="35267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식별자 (PK, 예: F-2025-0322-01)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산불명 (예: 의성 안평면 산불)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addr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장소(주소)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ignition_geom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위치 (EPSG:4326)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started_at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일시 (접수 단계에서는 NULL 가능)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 접수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report_text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신고 내용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입력한 상황 보고자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official_stage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공식 대응단계 (초기대응·확산대응1·확산대응2)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alert_level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관심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위기경보 수준 (관심·주의·경계·심각)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진행상태 (접수 / 진행 중 / 종료, 실측 화선이 처음 저장되면 접수 → 진행 중)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expected_hours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진화시간 (h, 상황 정정으로 입력)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ended_at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종료(진화 완료)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ended_by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 처리한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272" name="TextBox 5271">
            <a:extLst>
              <a:ext uri="{FF2B5EF4-FFF2-40B4-BE49-F238E27FC236}">
                <a16:creationId xmlns:a16="http://schemas.microsoft.com/office/drawing/2014/main" id="{3EBF10C8-EDDD-40C0-9DA1-71E2A2E31AD8}"/>
              </a:ext>
            </a:extLst>
          </p:cNvPr>
          <p:cNvSpPr>
            <a:spLocks noGrp="1"/>
          </p:cNvSpPr>
          <p:nvPr/>
        </p:nvSpPr>
        <p:spPr>
          <a:xfrm>
            <a:off x="822960" y="640068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FirePerimeter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실측 화선(관측 폴리곤)</a:t>
            </a:r>
          </a:p>
        </p:txBody>
      </p:sp>
      <p:graphicFrame>
        <p:nvGraphicFramePr>
          <p:cNvPr id="5289" name="Table 5272"/>
          <p:cNvGraphicFramePr/>
          <p:nvPr/>
        </p:nvGraphicFramePr>
        <p:xfrm>
          <a:off x="822960" y="6729868"/>
          <a:ext cx="16459200" cy="2351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observed_at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입력(관측)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version_no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 버전 (사건별 1, 2, 3 …, 21쪽 v1·v2)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8277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유효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 (유효 / 정정됨, 정정 시 이전 버전은 '정정됨'으로 보존)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069688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연소 범위 (EPSG:5179)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area_ha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면적 (ha)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방식 (지도 그리기 / GeoJSON)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reported_by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97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8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8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8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73" name="Title">
            <a:extLst>
              <a:ext uri="{FF2B5EF4-FFF2-40B4-BE49-F238E27FC236}">
                <a16:creationId xmlns:a16="http://schemas.microsoft.com/office/drawing/2014/main" id="{8E001DAD-562D-4D54-A524-02BE71E564C0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74" name="Subtitle">
            <a:extLst>
              <a:ext uri="{FF2B5EF4-FFF2-40B4-BE49-F238E27FC236}">
                <a16:creationId xmlns:a16="http://schemas.microsoft.com/office/drawing/2014/main" id="{8BE40406-AEF2-4845-8509-1BEB882DF2D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53</a:t>
            </a:fld>
            <a:endParaRPr/>
          </a:p>
        </p:txBody>
      </p:sp>
      <p:sp>
        <p:nvSpPr>
          <p:cNvPr id="5275" name="TextBox 5274">
            <a:extLst>
              <a:ext uri="{FF2B5EF4-FFF2-40B4-BE49-F238E27FC236}">
                <a16:creationId xmlns:a16="http://schemas.microsoft.com/office/drawing/2014/main" id="{8A2D9264-AA45-4D18-A697-828243F674F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IntakeRecord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기관별 접수 기록(상황 보고자가 산불 상황 보고 때 입력)</a:t>
            </a:r>
          </a:p>
        </p:txBody>
      </p:sp>
      <p:graphicFrame>
        <p:nvGraphicFramePr>
          <p:cNvPr id="5292" name="Table 5275"/>
          <p:cNvGraphicFramePr/>
          <p:nvPr/>
        </p:nvGraphicFramePr>
        <p:xfrm>
          <a:off x="822960" y="2727655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기록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org_name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기관명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received_at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channel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 경로 (119, 산림청 신고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77" name="TextBox 5276">
            <a:extLst>
              <a:ext uri="{FF2B5EF4-FFF2-40B4-BE49-F238E27FC236}">
                <a16:creationId xmlns:a16="http://schemas.microsoft.com/office/drawing/2014/main" id="{8FC2D193-FD79-4F29-8E96-244696EC0735}"/>
              </a:ext>
            </a:extLst>
          </p:cNvPr>
          <p:cNvSpPr>
            <a:spLocks noGrp="1"/>
          </p:cNvSpPr>
          <p:nvPr/>
        </p:nvSpPr>
        <p:spPr>
          <a:xfrm>
            <a:off x="822960" y="467898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WeatherSnapshot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기상 수집값(캐시)</a:t>
            </a:r>
          </a:p>
        </p:txBody>
      </p:sp>
      <p:graphicFrame>
        <p:nvGraphicFramePr>
          <p:cNvPr id="5294" name="Table 5277"/>
          <p:cNvGraphicFramePr/>
          <p:nvPr/>
        </p:nvGraphicFramePr>
        <p:xfrm>
          <a:off x="822960" y="5010912"/>
          <a:ext cx="1645920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기록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valid_at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예보·관측 기준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wind_speed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풍속 (m/s)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wind_dir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풍향 (°, 불어오는 방향)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humidity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상대습도 (%)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visibility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시정 (m)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5373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9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9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9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78" name="Title">
            <a:extLst>
              <a:ext uri="{FF2B5EF4-FFF2-40B4-BE49-F238E27FC236}">
                <a16:creationId xmlns:a16="http://schemas.microsoft.com/office/drawing/2014/main" id="{865E6CCB-2D3D-435E-A6F3-E0757DBD022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79" name="Subtitle">
            <a:extLst>
              <a:ext uri="{FF2B5EF4-FFF2-40B4-BE49-F238E27FC236}">
                <a16:creationId xmlns:a16="http://schemas.microsoft.com/office/drawing/2014/main" id="{6E5F1D0A-EADD-4166-8AA5-4E91A1AA3D5B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54</a:t>
            </a:fld>
            <a:endParaRPr/>
          </a:p>
        </p:txBody>
      </p:sp>
      <p:sp>
        <p:nvSpPr>
          <p:cNvPr id="5280" name="TextBox 5279">
            <a:extLst>
              <a:ext uri="{FF2B5EF4-FFF2-40B4-BE49-F238E27FC236}">
                <a16:creationId xmlns:a16="http://schemas.microsoft.com/office/drawing/2014/main" id="{9519C4CC-1EAC-4F66-B61B-A3793281404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RiskAssessment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산불 위험도</a:t>
            </a:r>
          </a:p>
        </p:txBody>
      </p:sp>
      <p:graphicFrame>
        <p:nvGraphicFramePr>
          <p:cNvPr id="5297" name="Table 5280"/>
          <p:cNvGraphicFramePr/>
          <p:nvPr/>
        </p:nvGraphicFramePr>
        <p:xfrm>
          <a:off x="822960" y="2727655"/>
          <a:ext cx="16459200" cy="3224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계산에 쓴 확산 예측 (FK → prediction_runs.id, 예측 1회마다 1개)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R 1.00~5.00 = Σ(가중치 × 변수 등급) ÷ Σ가중치 (P5 범위 23개 변수, 소수 둘째 자리)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merged_ids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P5가 겹쳐 합집합으로 함께 계산한 산불 ID 목록 (없으면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204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weather_score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요인 점수 1~5 (가중치 0.372)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terrain_score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지형 요인 점수 1~5 (가중치 0.287, 경사도_down 제외)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fuel_score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연료 요인 점수 1~5 (가중치 0.266)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infra_score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인프라 요인 점수 1~5 (가중치 0.074, 취약계층 수·소방서 거리)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missing_vars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결측 변수 목록 (남은 가중치로 나눠 계산)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computed_at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82" name="TextBox 5281">
            <a:extLst>
              <a:ext uri="{FF2B5EF4-FFF2-40B4-BE49-F238E27FC236}">
                <a16:creationId xmlns:a16="http://schemas.microsoft.com/office/drawing/2014/main" id="{BD6C9BF7-31AB-4758-9143-938B39E2FAF8}"/>
              </a:ext>
            </a:extLst>
          </p:cNvPr>
          <p:cNvSpPr>
            <a:spLocks noGrp="1"/>
          </p:cNvSpPr>
          <p:nvPr/>
        </p:nvSpPr>
        <p:spPr>
          <a:xfrm>
            <a:off x="822960" y="609838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진화자원(평시 진화자원 데이터 + 투입 상태)</a:t>
            </a:r>
          </a:p>
        </p:txBody>
      </p:sp>
      <p:graphicFrame>
        <p:nvGraphicFramePr>
          <p:cNvPr id="5299" name="Table 5282"/>
          <p:cNvGraphicFramePr/>
          <p:nvPr/>
        </p:nvGraphicFramePr>
        <p:xfrm>
          <a:off x="822960" y="6427567"/>
          <a:ext cx="16459200" cy="26870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자원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kind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KindEnum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(헬기 / 차량 / 인력)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명칭·호출부호 (예: KFS-H01, 산불전문진화대 1조)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org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소속 (산림항공본부·의성군·소방서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수량 (인력은 명, 헬기·차량은 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 (투입 / 대기 / 정비)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투입된 산불 (FK → incidents.id, 미투입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position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진화조 위치 (인력 투입 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최근 변경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4774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29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29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29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83" name="Title">
            <a:extLst>
              <a:ext uri="{FF2B5EF4-FFF2-40B4-BE49-F238E27FC236}">
                <a16:creationId xmlns:a16="http://schemas.microsoft.com/office/drawing/2014/main" id="{012CE8EB-6B04-4275-939B-B0B7B3210AC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84" name="Subtitle">
            <a:extLst>
              <a:ext uri="{FF2B5EF4-FFF2-40B4-BE49-F238E27FC236}">
                <a16:creationId xmlns:a16="http://schemas.microsoft.com/office/drawing/2014/main" id="{C4DF3329-7962-40A8-8355-E50A6E35DA1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55</a:t>
            </a:fld>
            <a:endParaRPr/>
          </a:p>
        </p:txBody>
      </p:sp>
      <p:sp>
        <p:nvSpPr>
          <p:cNvPr id="5285" name="TextBox 5284">
            <a:extLst>
              <a:ext uri="{FF2B5EF4-FFF2-40B4-BE49-F238E27FC236}">
                <a16:creationId xmlns:a16="http://schemas.microsoft.com/office/drawing/2014/main" id="{83E06D39-C759-416B-847A-A3E6A811F8B0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마을(행정리) — 정적 레이어</a:t>
            </a:r>
          </a:p>
        </p:txBody>
      </p:sp>
      <p:graphicFrame>
        <p:nvGraphicFramePr>
          <p:cNvPr id="5302" name="Table 5285"/>
          <p:cNvGraphicFramePr/>
          <p:nvPr/>
        </p:nvGraphicFramePr>
        <p:xfrm>
          <a:off x="822960" y="2727655"/>
          <a:ext cx="16459200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이름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emd_code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읍·면·동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Geometry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마을 경계(면) 또는 중심점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population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인구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households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가구 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elderly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고령자 수 (안전취약계층)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disabled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장애인 수 (안전취약계층)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87" name="TextBox 5286">
            <a:extLst>
              <a:ext uri="{FF2B5EF4-FFF2-40B4-BE49-F238E27FC236}">
                <a16:creationId xmlns:a16="http://schemas.microsoft.com/office/drawing/2014/main" id="{4059004F-88D2-4C7B-B6C8-8AF662980C81}"/>
              </a:ext>
            </a:extLst>
          </p:cNvPr>
          <p:cNvSpPr>
            <a:spLocks noGrp="1"/>
          </p:cNvSpPr>
          <p:nvPr/>
        </p:nvSpPr>
        <p:spPr>
          <a:xfrm>
            <a:off x="822960" y="558424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Facility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주요 시설 — 정적 레이어</a:t>
            </a:r>
          </a:p>
        </p:txBody>
      </p:sp>
      <p:graphicFrame>
        <p:nvGraphicFramePr>
          <p:cNvPr id="5304" name="Table 5287"/>
          <p:cNvGraphicFramePr/>
          <p:nvPr/>
        </p:nvGraphicFramePr>
        <p:xfrm>
          <a:off x="822960" y="5916168"/>
          <a:ext cx="1645920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type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FacilityEnum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대피소·취약시설·국가유산·담수지·송전시설·소방서·파출소 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grade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 등급 1~5 (표준매뉴얼 p.77 진화 우선순위)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capacity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수용 인원 (대피소·취약시설)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emd_code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읍·면·동 코드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Geometry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위치(점) 또는 선형(송전선)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6288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0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0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0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88" name="Title">
            <a:extLst>
              <a:ext uri="{FF2B5EF4-FFF2-40B4-BE49-F238E27FC236}">
                <a16:creationId xmlns:a16="http://schemas.microsoft.com/office/drawing/2014/main" id="{AC390B97-F99C-4CA3-AC71-8C7EA7F71E7A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89" name="Subtitle">
            <a:extLst>
              <a:ext uri="{FF2B5EF4-FFF2-40B4-BE49-F238E27FC236}">
                <a16:creationId xmlns:a16="http://schemas.microsoft.com/office/drawing/2014/main" id="{7B27C925-D9C9-4B24-88AC-E245F2690D5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56</a:t>
            </a:fld>
            <a:endParaRPr/>
          </a:p>
        </p:txBody>
      </p:sp>
      <p:sp>
        <p:nvSpPr>
          <p:cNvPr id="5290" name="TextBox 5289">
            <a:extLst>
              <a:ext uri="{FF2B5EF4-FFF2-40B4-BE49-F238E27FC236}">
                <a16:creationId xmlns:a16="http://schemas.microsoft.com/office/drawing/2014/main" id="{03E9786C-6BCD-4F93-AEB2-1FBE05EB5B8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PredictionRun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확산 예측 실행</a:t>
            </a:r>
          </a:p>
        </p:txBody>
      </p:sp>
      <p:graphicFrame>
        <p:nvGraphicFramePr>
          <p:cNvPr id="5307" name="Table 5290"/>
          <p:cNvGraphicFramePr/>
          <p:nvPr/>
        </p:nvGraphicFramePr>
        <p:xfrm>
          <a:off x="822960" y="2727655"/>
          <a:ext cx="16459200" cy="27157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실행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기준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perimeter_id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연소 범위 (FK → fire_perimeters.id, NULL이면 발화점)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wind_speed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풍속 (m/s, 기상청 예보)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wind_dir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 풍향 (°)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RunStatusEnum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RUNNING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실행 상태 (RUNNING·DONE·FAILED)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requested_by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실행한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92" name="TextBox 5291">
            <a:extLst>
              <a:ext uri="{FF2B5EF4-FFF2-40B4-BE49-F238E27FC236}">
                <a16:creationId xmlns:a16="http://schemas.microsoft.com/office/drawing/2014/main" id="{4324553E-98CB-4A4B-B5BE-8CBDD8FBB705}"/>
              </a:ext>
            </a:extLst>
          </p:cNvPr>
          <p:cNvSpPr>
            <a:spLocks noGrp="1"/>
          </p:cNvSpPr>
          <p:nvPr/>
        </p:nvSpPr>
        <p:spPr>
          <a:xfrm>
            <a:off x="822960" y="558424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SpreadSlice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시간별 확산 범위</a:t>
            </a:r>
          </a:p>
        </p:txBody>
      </p:sp>
      <p:graphicFrame>
        <p:nvGraphicFramePr>
          <p:cNvPr id="5309" name="Table 5292"/>
          <p:cNvGraphicFramePr/>
          <p:nvPr/>
        </p:nvGraphicFramePr>
        <p:xfrm>
          <a:off x="822960" y="5916168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슬라이스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실행 ID (FK → prediction_runs.id)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t_hours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경과 시간 1~8 (P1~P8)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누적 확산 범위 (EPSG:5179)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area_ha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면적 (ha)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656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0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0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0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93" name="Title">
            <a:extLst>
              <a:ext uri="{FF2B5EF4-FFF2-40B4-BE49-F238E27FC236}">
                <a16:creationId xmlns:a16="http://schemas.microsoft.com/office/drawing/2014/main" id="{312B3DFF-74A4-47D3-81AB-2C8081BEB2C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94" name="Subtitle">
            <a:extLst>
              <a:ext uri="{FF2B5EF4-FFF2-40B4-BE49-F238E27FC236}">
                <a16:creationId xmlns:a16="http://schemas.microsoft.com/office/drawing/2014/main" id="{983F874E-419F-4E6F-886D-448F1648C18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57</a:t>
            </a:fld>
            <a:endParaRPr/>
          </a:p>
        </p:txBody>
      </p:sp>
      <p:sp>
        <p:nvSpPr>
          <p:cNvPr id="5295" name="TextBox 5294">
            <a:extLst>
              <a:ext uri="{FF2B5EF4-FFF2-40B4-BE49-F238E27FC236}">
                <a16:creationId xmlns:a16="http://schemas.microsoft.com/office/drawing/2014/main" id="{55EF679F-69DE-42C4-9D56-C9A44111D88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SituationCorrection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상황 정정 기록</a:t>
            </a:r>
          </a:p>
        </p:txBody>
      </p:sp>
      <p:graphicFrame>
        <p:nvGraphicFramePr>
          <p:cNvPr id="5312" name="Table 5295"/>
          <p:cNvGraphicFramePr/>
          <p:nvPr/>
        </p:nvGraphicFramePr>
        <p:xfrm>
          <a:off x="822960" y="2727655"/>
          <a:ext cx="16459200" cy="2821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정정한 통합지휘권자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message_id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요청 발화 (FK → chat_messages.id)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target_type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VILLAGE(대피 완료·부상/고립) · RESOURCE(투입 수) · INCIDENT(예상 진화시간·단계·경보) · ORDER(대피명령·재난문자)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대상 식별자 (마을·자원 구분 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항목명 (예: 대피 상태)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before_value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이전 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after_value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변경 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confirmed_at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「확인 · 저장 후 재생성」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97" name="TextBox 5296">
            <a:extLst>
              <a:ext uri="{FF2B5EF4-FFF2-40B4-BE49-F238E27FC236}">
                <a16:creationId xmlns:a16="http://schemas.microsoft.com/office/drawing/2014/main" id="{DC15AC31-E71D-40BA-8B32-582534AADB4B}"/>
              </a:ext>
            </a:extLst>
          </p:cNvPr>
          <p:cNvSpPr>
            <a:spLocks noGrp="1"/>
          </p:cNvSpPr>
          <p:nvPr/>
        </p:nvSpPr>
        <p:spPr>
          <a:xfrm>
            <a:off x="822960" y="568985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대응 제안서(버전)</a:t>
            </a:r>
          </a:p>
        </p:txBody>
      </p:sp>
      <p:graphicFrame>
        <p:nvGraphicFramePr>
          <p:cNvPr id="5314" name="Table 5297"/>
          <p:cNvGraphicFramePr/>
          <p:nvPr/>
        </p:nvGraphicFramePr>
        <p:xfrm>
          <a:off x="822960" y="6021781"/>
          <a:ext cx="16459200" cy="2821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예측 (FK → prediction_runs.id)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version_no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버전 번호 (버전 1, 버전 2 …)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ReasonEnum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사유 (예측 갱신 /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 버전이면 정정 기록 (FK → situation_corrections.id)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official_stage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시점 공식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rec_stage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판정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stage_up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격상 검토 권고 여부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4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836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298" name="Title">
            <a:extLst>
              <a:ext uri="{FF2B5EF4-FFF2-40B4-BE49-F238E27FC236}">
                <a16:creationId xmlns:a16="http://schemas.microsoft.com/office/drawing/2014/main" id="{33433A92-AF84-4824-ACDB-8C9795E1F31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299" name="Subtitle">
            <a:extLst>
              <a:ext uri="{FF2B5EF4-FFF2-40B4-BE49-F238E27FC236}">
                <a16:creationId xmlns:a16="http://schemas.microsoft.com/office/drawing/2014/main" id="{D264E065-0EA1-4798-9A6C-5319D7AA95B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58</a:t>
            </a:fld>
            <a:endParaRPr/>
          </a:p>
        </p:txBody>
      </p:sp>
      <p:sp>
        <p:nvSpPr>
          <p:cNvPr id="5300" name="TextBox 5299">
            <a:extLst>
              <a:ext uri="{FF2B5EF4-FFF2-40B4-BE49-F238E27FC236}">
                <a16:creationId xmlns:a16="http://schemas.microsoft.com/office/drawing/2014/main" id="{11C36132-4757-48AC-98D7-0A568F057F74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ProposalItem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제안 항목(진화 S1~S7 · 대피 E1~E7)</a:t>
            </a:r>
          </a:p>
        </p:txBody>
      </p:sp>
      <p:graphicFrame>
        <p:nvGraphicFramePr>
          <p:cNvPr id="5317" name="Table 5300"/>
          <p:cNvGraphicFramePr/>
          <p:nvPr/>
        </p:nvGraphicFramePr>
        <p:xfrm>
          <a:off x="822960" y="2727655"/>
          <a:ext cx="16459200" cy="3385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제안서 ID (FK → proposals.id)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코드 (S1~S7, E1~E7)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axis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AxisEnum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대분류 (진화 / 대피)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categories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(즉시·대기·협의·요청)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finding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값 (규칙 엔진 결과)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 (문장 끝 근거 번호 [k] 포함)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targets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대상 (마을·시설·경로)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conflicts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충돌 내용과 해소 방법 (내부 검증용, 화면에 표시하지 않음)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authority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(직접·협의·요청)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changed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변경 여부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302" name="TextBox 5301">
            <a:extLst>
              <a:ext uri="{FF2B5EF4-FFF2-40B4-BE49-F238E27FC236}">
                <a16:creationId xmlns:a16="http://schemas.microsoft.com/office/drawing/2014/main" id="{867D62D8-EE87-4329-9210-B6DC318CC2E1}"/>
              </a:ext>
            </a:extLst>
          </p:cNvPr>
          <p:cNvSpPr>
            <a:spLocks noGrp="1"/>
          </p:cNvSpPr>
          <p:nvPr/>
        </p:nvSpPr>
        <p:spPr>
          <a:xfrm>
            <a:off x="822960" y="625413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EvidenceChunk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근거 청크(표준매뉴얼·법령)</a:t>
            </a:r>
          </a:p>
        </p:txBody>
      </p:sp>
      <p:graphicFrame>
        <p:nvGraphicFramePr>
          <p:cNvPr id="5319" name="Table 5302"/>
          <p:cNvGraphicFramePr/>
          <p:nvPr/>
        </p:nvGraphicFramePr>
        <p:xfrm>
          <a:off x="822960" y="6586057"/>
          <a:ext cx="16459200" cy="2257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chunk_id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 식별자 (PK, 예: SM-p073-t01-r02)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doc_name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쪽수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절·조항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tags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연결 항목 (S1~E7)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적용 대응단계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 본문 (약 400자)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9910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7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03" name="Title">
            <a:extLst>
              <a:ext uri="{FF2B5EF4-FFF2-40B4-BE49-F238E27FC236}">
                <a16:creationId xmlns:a16="http://schemas.microsoft.com/office/drawing/2014/main" id="{B243CB28-0DD4-43FB-8481-A029EA75011E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04" name="Subtitle">
            <a:extLst>
              <a:ext uri="{FF2B5EF4-FFF2-40B4-BE49-F238E27FC236}">
                <a16:creationId xmlns:a16="http://schemas.microsoft.com/office/drawing/2014/main" id="{102B24F1-C31D-42D3-8A05-BCC822F16BF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59</a:t>
            </a:fld>
            <a:endParaRPr/>
          </a:p>
        </p:txBody>
      </p:sp>
      <p:sp>
        <p:nvSpPr>
          <p:cNvPr id="5305" name="TextBox 5304">
            <a:extLst>
              <a:ext uri="{FF2B5EF4-FFF2-40B4-BE49-F238E27FC236}">
                <a16:creationId xmlns:a16="http://schemas.microsoft.com/office/drawing/2014/main" id="{F1752092-143E-4CE4-A955-1E189618FA55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근거 인용</a:t>
            </a:r>
          </a:p>
        </p:txBody>
      </p:sp>
      <p:graphicFrame>
        <p:nvGraphicFramePr>
          <p:cNvPr id="5322" name="Table 5305"/>
          <p:cNvGraphicFramePr/>
          <p:nvPr/>
        </p:nvGraphicFramePr>
        <p:xfrm>
          <a:off x="822960" y="2727655"/>
          <a:ext cx="1645920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항목 (FK → proposal_items.id)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message_id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답변 (FK → chat_messages.id)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문장 속 근거 번호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chunk_id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청크 (FK → evidence_chunks.chunk_id)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score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float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검색 유사도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07" name="TextBox 5306">
            <a:extLst>
              <a:ext uri="{FF2B5EF4-FFF2-40B4-BE49-F238E27FC236}">
                <a16:creationId xmlns:a16="http://schemas.microsoft.com/office/drawing/2014/main" id="{02E49276-E20C-4012-A6C4-A73BE08B0394}"/>
              </a:ext>
            </a:extLst>
          </p:cNvPr>
          <p:cNvSpPr>
            <a:spLocks noGrp="1"/>
          </p:cNvSpPr>
          <p:nvPr/>
        </p:nvSpPr>
        <p:spPr>
          <a:xfrm>
            <a:off x="822960" y="4980736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ChatMessage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AI 어시스턴트 메시지(질의·정정)</a:t>
            </a:r>
          </a:p>
        </p:txBody>
      </p:sp>
      <p:graphicFrame>
        <p:nvGraphicFramePr>
          <p:cNvPr id="5324" name="Table 5307"/>
          <p:cNvGraphicFramePr/>
          <p:nvPr/>
        </p:nvGraphicFramePr>
        <p:xfrm>
          <a:off x="822960" y="5312664"/>
          <a:ext cx="16459200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메시지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 ID (FK → incidents.id)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 시점 제안서 (FK → proposals.id)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item_code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대화 맥락 항목 (S1~E7)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sender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SenderEnum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발신자 (USER / AI)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의도 (QA 질의 / CORRECTION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질문·답변 내용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작성 일시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0324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6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17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18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19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08" name="Title">
            <a:extLst>
              <a:ext uri="{FF2B5EF4-FFF2-40B4-BE49-F238E27FC236}">
                <a16:creationId xmlns:a16="http://schemas.microsoft.com/office/drawing/2014/main" id="{0D35DE1D-BE4F-4EF2-969D-7B0585458B0C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09" name="Subtitle">
            <a:extLst>
              <a:ext uri="{FF2B5EF4-FFF2-40B4-BE49-F238E27FC236}">
                <a16:creationId xmlns:a16="http://schemas.microsoft.com/office/drawing/2014/main" id="{22E3B48D-00CF-4E24-8D90-A7431FA44C4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속성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60</a:t>
            </a:fld>
            <a:endParaRPr/>
          </a:p>
        </p:txBody>
      </p:sp>
      <p:sp>
        <p:nvSpPr>
          <p:cNvPr id="5310" name="TextBox 5309">
            <a:extLst>
              <a:ext uri="{FF2B5EF4-FFF2-40B4-BE49-F238E27FC236}">
                <a16:creationId xmlns:a16="http://schemas.microsoft.com/office/drawing/2014/main" id="{C7E96E94-7C23-4346-984D-4AF5B6D4C220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이벤트 로그(추가 전용, 이력 탭에서 열람)</a:t>
            </a:r>
          </a:p>
        </p:txBody>
      </p:sp>
      <p:graphicFrame>
        <p:nvGraphicFramePr>
          <p:cNvPr id="5324" name="Table 5310"/>
          <p:cNvGraphicFramePr/>
          <p:nvPr/>
        </p:nvGraphicFramePr>
        <p:xfrm>
          <a:off x="822960" y="2727655"/>
          <a:ext cx="16459200" cy="21122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속성명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자료형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크기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기본값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auto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 식별자 (PK)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사건 (FK → incidents.id, 로그인·관리 이벤트는 NULL)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NULLABLE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행위자 (FK → users.id)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 (시스템·입력·예측·제안·정정·종료·관리·근거 부족)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content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N/A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 (예: 대응 제안 버전 2 생성(상황 정정) · 변경 1건)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datetime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NOT NULL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now()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시각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63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3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3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3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13" name="Title">
            <a:extLst>
              <a:ext uri="{FF2B5EF4-FFF2-40B4-BE49-F238E27FC236}">
                <a16:creationId xmlns:a16="http://schemas.microsoft.com/office/drawing/2014/main" id="{78E9B050-A389-49A7-B4BD-6371A6F297EC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14" name="Subtitle">
            <a:extLst>
              <a:ext uri="{FF2B5EF4-FFF2-40B4-BE49-F238E27FC236}">
                <a16:creationId xmlns:a16="http://schemas.microsoft.com/office/drawing/2014/main" id="{03254974-3E2B-4754-9CB1-B57F142DE75F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61</a:t>
            </a:fld>
            <a:endParaRPr/>
          </a:p>
        </p:txBody>
      </p:sp>
      <p:sp>
        <p:nvSpPr>
          <p:cNvPr id="5315" name="TextBox 5314">
            <a:extLst>
              <a:ext uri="{FF2B5EF4-FFF2-40B4-BE49-F238E27FC236}">
                <a16:creationId xmlns:a16="http://schemas.microsoft.com/office/drawing/2014/main" id="{F45741F8-A8B9-4460-AE9A-2D559B4131F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38" name="Table 5315"/>
          <p:cNvGraphicFramePr/>
          <p:nvPr/>
        </p:nvGraphicFramePr>
        <p:xfrm>
          <a:off x="822960" y="2727655"/>
          <a:ext cx="16459200" cy="8947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login_id, password,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검증 후 JWT 발급 (권한 클레임 포함)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logout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세션 토큰 폐기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me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현재 사용자·권한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17" name="TextBox 5316">
            <a:extLst>
              <a:ext uri="{FF2B5EF4-FFF2-40B4-BE49-F238E27FC236}">
                <a16:creationId xmlns:a16="http://schemas.microsoft.com/office/drawing/2014/main" id="{FC2057A9-2240-40FD-8451-6FFD525C5175}"/>
              </a:ext>
            </a:extLst>
          </p:cNvPr>
          <p:cNvSpPr>
            <a:spLocks noGrp="1"/>
          </p:cNvSpPr>
          <p:nvPr/>
        </p:nvSpPr>
        <p:spPr>
          <a:xfrm>
            <a:off x="822960" y="376319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40" name="Table 5317"/>
          <p:cNvGraphicFramePr/>
          <p:nvPr/>
        </p:nvGraphicFramePr>
        <p:xfrm>
          <a:off x="822960" y="4095118"/>
          <a:ext cx="16459200" cy="8947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verify_password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plain, hashed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bool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bcrypt 해시 비교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create_token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JWT 생성 (role, sigungu_code, 만료 30분)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require_role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user, roles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검사, 불일치 시 403 (모든 Router가 호출)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19" name="TextBox 5318">
            <a:extLst>
              <a:ext uri="{FF2B5EF4-FFF2-40B4-BE49-F238E27FC236}">
                <a16:creationId xmlns:a16="http://schemas.microsoft.com/office/drawing/2014/main" id="{DD12E634-6788-4EA2-B09C-4CA1CAA10BC0}"/>
              </a:ext>
            </a:extLst>
          </p:cNvPr>
          <p:cNvSpPr>
            <a:spLocks noGrp="1"/>
          </p:cNvSpPr>
          <p:nvPr/>
        </p:nvSpPr>
        <p:spPr>
          <a:xfrm>
            <a:off x="822960" y="513065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2" name="Table 5319"/>
          <p:cNvGraphicFramePr/>
          <p:nvPr/>
        </p:nvGraphicFramePr>
        <p:xfrm>
          <a:off x="822960" y="5462582"/>
          <a:ext cx="16459200" cy="201311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list_users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-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list~User~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표와 발급·회수·권한별 집계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issue_user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name,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발급 (이름·소속·권한 입력, 아이디·초기 비밀번호는 시스템 생성)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set_role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user_id, role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 변경 (즉시 반영)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revoke_user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user_id, revoke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회수 / 재발급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unlock_user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잠금 해제 (locked=false, failed_count=0)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delete_user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user_id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계정 삭제 (로그인 중인 자기 계정 거부)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save_resource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등록·수정 (명칭 필수)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delete_resource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삭제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21" name="TextBox 5320">
            <a:extLst>
              <a:ext uri="{FF2B5EF4-FFF2-40B4-BE49-F238E27FC236}">
                <a16:creationId xmlns:a16="http://schemas.microsoft.com/office/drawing/2014/main" id="{9E21D98F-2308-4F4D-93F1-3953BC37F63F}"/>
              </a:ext>
            </a:extLst>
          </p:cNvPr>
          <p:cNvSpPr>
            <a:spLocks noGrp="1"/>
          </p:cNvSpPr>
          <p:nvPr/>
        </p:nvSpPr>
        <p:spPr>
          <a:xfrm>
            <a:off x="822960" y="7616515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4" name="Table 5321"/>
          <p:cNvGraphicFramePr/>
          <p:nvPr/>
        </p:nvGraphicFramePr>
        <p:xfrm>
          <a:off x="822960" y="7948443"/>
          <a:ext cx="16459200" cy="11183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list_incidents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list~Incident~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 중·접수 산불 목록 (종료 포함 선택)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발생·접수 정보·진행상태·실측 화선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save_incident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incident, geojson?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정보·실측 화선 저장 (상황 보고자)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close_incident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 (통합지휘권자)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4644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4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18" name="Title">
            <a:extLst>
              <a:ext uri="{FF2B5EF4-FFF2-40B4-BE49-F238E27FC236}">
                <a16:creationId xmlns:a16="http://schemas.microsoft.com/office/drawing/2014/main" id="{C76735AF-7106-4361-AE23-1E1BE7A87BBF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19" name="Subtitle">
            <a:extLst>
              <a:ext uri="{FF2B5EF4-FFF2-40B4-BE49-F238E27FC236}">
                <a16:creationId xmlns:a16="http://schemas.microsoft.com/office/drawing/2014/main" id="{F58C1D27-BFF4-4CE5-AF97-F87D8146BFF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62</a:t>
            </a:fld>
            <a:endParaRPr/>
          </a:p>
        </p:txBody>
      </p:sp>
      <p:sp>
        <p:nvSpPr>
          <p:cNvPr id="5320" name="TextBox 5319">
            <a:extLst>
              <a:ext uri="{FF2B5EF4-FFF2-40B4-BE49-F238E27FC236}">
                <a16:creationId xmlns:a16="http://schemas.microsoft.com/office/drawing/2014/main" id="{EEDAE72C-072E-4D4A-9D6D-97D9F4445BB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49" name="Table 5320"/>
          <p:cNvGraphicFramePr/>
          <p:nvPr/>
        </p:nvGraphicFramePr>
        <p:xfrm>
          <a:off x="822960" y="2727655"/>
          <a:ext cx="16459200" cy="662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get_layers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layers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GeoJSON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화선·P1~P8·마을·시설·기관 레이어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get_resources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ResourceSummary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합계(필터 해제 시 보유·투입·대기 포함), 단위별 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2" name="TextBox 5321">
            <a:extLst>
              <a:ext uri="{FF2B5EF4-FFF2-40B4-BE49-F238E27FC236}">
                <a16:creationId xmlns:a16="http://schemas.microsoft.com/office/drawing/2014/main" id="{1EC055EF-95E3-4D9A-897C-A03BA839F4A5}"/>
              </a:ext>
            </a:extLst>
          </p:cNvPr>
          <p:cNvSpPr>
            <a:spLocks noGrp="1"/>
          </p:cNvSpPr>
          <p:nvPr/>
        </p:nvSpPr>
        <p:spPr>
          <a:xfrm>
            <a:off x="822960" y="3530552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1" name="Table 5322"/>
          <p:cNvGraphicFramePr/>
          <p:nvPr/>
        </p:nvGraphicFramePr>
        <p:xfrm>
          <a:off x="822960" y="3862479"/>
          <a:ext cx="16459200" cy="8827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 → 제안 생성 (PredictionService에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get_slices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list~SpreadSlice~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P1~P8 확산 범위 GeoJSON (시간 재생)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get_risk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 (RiskService.get_latest에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4" name="TextBox 5323">
            <a:extLst>
              <a:ext uri="{FF2B5EF4-FFF2-40B4-BE49-F238E27FC236}">
                <a16:creationId xmlns:a16="http://schemas.microsoft.com/office/drawing/2014/main" id="{14FCA2B9-6459-4351-9C5C-840720B6610B}"/>
              </a:ext>
            </a:extLst>
          </p:cNvPr>
          <p:cNvSpPr>
            <a:spLocks noGrp="1"/>
          </p:cNvSpPr>
          <p:nvPr/>
        </p:nvSpPr>
        <p:spPr>
          <a:xfrm>
            <a:off x="822960" y="4886069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3" name="Table 5324"/>
          <p:cNvGraphicFramePr/>
          <p:nvPr/>
        </p:nvGraphicFramePr>
        <p:xfrm>
          <a:off x="822960" y="5217996"/>
          <a:ext cx="16459200" cy="662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compute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 폴리곤(겹치면 합집합)으로 23개 변수 가중평균 → R 1.00~5.00·요인 점수 저장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get_latest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RiskAssessment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산불의 최신 예측 위험도 조회 (종료 사건은 「종료」로 표시)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53"/>
                  </a:ext>
                </a:extLst>
              </a:tr>
            </a:tbl>
          </a:graphicData>
        </a:graphic>
      </p:graphicFrame>
      <p:sp>
        <p:nvSpPr>
          <p:cNvPr id="5326" name="TextBox 5325">
            <a:extLst>
              <a:ext uri="{FF2B5EF4-FFF2-40B4-BE49-F238E27FC236}">
                <a16:creationId xmlns:a16="http://schemas.microsoft.com/office/drawing/2014/main" id="{E1194710-6330-456F-B154-4F33D76515E6}"/>
              </a:ext>
            </a:extLst>
          </p:cNvPr>
          <p:cNvSpPr>
            <a:spLocks noGrp="1"/>
          </p:cNvSpPr>
          <p:nvPr/>
        </p:nvSpPr>
        <p:spPr>
          <a:xfrm>
            <a:off x="822960" y="602089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5" name="Table 5326"/>
          <p:cNvGraphicFramePr/>
          <p:nvPr/>
        </p:nvGraphicFramePr>
        <p:xfrm>
          <a:off x="822960" y="6352820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execute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incident, perimeter?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PredictionRun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 조회 → ELMFIRE 실행 → P1~P8 변환·저장 → RiskService.compute() → generate() 호출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8" name="TextBox 5327">
            <a:extLst>
              <a:ext uri="{FF2B5EF4-FFF2-40B4-BE49-F238E27FC236}">
                <a16:creationId xmlns:a16="http://schemas.microsoft.com/office/drawing/2014/main" id="{C2D32D75-11E9-4D63-9DCB-CD3D23117F28}"/>
              </a:ext>
            </a:extLst>
          </p:cNvPr>
          <p:cNvSpPr>
            <a:spLocks noGrp="1"/>
          </p:cNvSpPr>
          <p:nvPr/>
        </p:nvSpPr>
        <p:spPr>
          <a:xfrm>
            <a:off x="822960" y="6935024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ElmfireAdapter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7" name="Table 5328"/>
          <p:cNvGraphicFramePr/>
          <p:nvPr/>
        </p:nvGraphicFramePr>
        <p:xfrm>
          <a:off x="822960" y="7266951"/>
          <a:ext cx="16459200" cy="8827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prepare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ignition | perimeter, weather, grid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InputDeck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 연소 범위·30 m 격자·기상 입력 구성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execute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input_deck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Raster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Docker로 ELMFIRE 실행 → 도달 시각(TOA) 래스터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to_slices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raster, 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list~Polygon~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1시간 간격 누적 폴리곤 변환·누적성 검증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0" name="TextBox 5329">
            <a:extLst>
              <a:ext uri="{FF2B5EF4-FFF2-40B4-BE49-F238E27FC236}">
                <a16:creationId xmlns:a16="http://schemas.microsoft.com/office/drawing/2014/main" id="{F04EC801-10A2-406F-B423-BD77C87AB9E4}"/>
              </a:ext>
            </a:extLst>
          </p:cNvPr>
          <p:cNvSpPr>
            <a:spLocks noGrp="1"/>
          </p:cNvSpPr>
          <p:nvPr/>
        </p:nvSpPr>
        <p:spPr>
          <a:xfrm>
            <a:off x="822960" y="829054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WeatherClient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9" name="Table 5330"/>
          <p:cNvGraphicFramePr/>
          <p:nvPr/>
        </p:nvGraphicFramePr>
        <p:xfrm>
          <a:off x="822960" y="8622469"/>
          <a:ext cx="16459200" cy="4413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get_forecast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lat, lng, t0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WeatherSnapshot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 단기예보 조회·캐시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0549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23" name="Title">
            <a:extLst>
              <a:ext uri="{FF2B5EF4-FFF2-40B4-BE49-F238E27FC236}">
                <a16:creationId xmlns:a16="http://schemas.microsoft.com/office/drawing/2014/main" id="{26676A0F-B647-43D3-B3F7-EB6AAC5B50C8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24" name="Subtitle">
            <a:extLst>
              <a:ext uri="{FF2B5EF4-FFF2-40B4-BE49-F238E27FC236}">
                <a16:creationId xmlns:a16="http://schemas.microsoft.com/office/drawing/2014/main" id="{9E241E30-EA38-444B-BE08-A769A22B10ED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63</a:t>
            </a:fld>
            <a:endParaRPr/>
          </a:p>
        </p:txBody>
      </p:sp>
      <p:sp>
        <p:nvSpPr>
          <p:cNvPr id="5325" name="TextBox 5324">
            <a:extLst>
              <a:ext uri="{FF2B5EF4-FFF2-40B4-BE49-F238E27FC236}">
                <a16:creationId xmlns:a16="http://schemas.microsoft.com/office/drawing/2014/main" id="{DBF7DA51-E2A0-4AA9-8349-BEF36BE9044D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ProposalOrchestrator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48" name="Table 5325"/>
          <p:cNvGraphicFramePr/>
          <p:nvPr/>
        </p:nvGraphicFramePr>
        <p:xfrm>
          <a:off x="822960" y="2727655"/>
          <a:ext cx="16459200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generate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run_id, reason, correction_id?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판정 → AI 진화·대피 판단·문장 생성(근거 인용) → 새 버전 저장(사유 2종: 예측 갱신·상황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diff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prev_id, cur_id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list~ItemDiff~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바뀐 항목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7" name="TextBox 5326">
            <a:extLst>
              <a:ext uri="{FF2B5EF4-FFF2-40B4-BE49-F238E27FC236}">
                <a16:creationId xmlns:a16="http://schemas.microsoft.com/office/drawing/2014/main" id="{70FF250E-293C-472C-A8E0-768C87ABC195}"/>
              </a:ext>
            </a:extLst>
          </p:cNvPr>
          <p:cNvSpPr>
            <a:spLocks noGrp="1"/>
          </p:cNvSpPr>
          <p:nvPr/>
        </p:nvSpPr>
        <p:spPr>
          <a:xfrm>
            <a:off x="822960" y="3773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RuleEngine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0" name="Table 5327"/>
          <p:cNvGraphicFramePr/>
          <p:nvPr/>
        </p:nvGraphicFramePr>
        <p:xfrm>
          <a:off x="822960" y="4105656"/>
          <a:ext cx="16459200" cy="12454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evaluate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run, incident, corrections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RuleResult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문서에 경계값·수치가 있는 값만 판정: 대응단계·위험구역(P5/P8)·대피소 배정·도달 시각·면적 (정정 값 반영)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judge_fire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list~ItemDraft~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7항목 발동·판정 (S1~S7)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judge_evac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list~ItemDraft~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7항목 발동·판정 (E1~E7)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9" name="TextBox 5328">
            <a:extLst>
              <a:ext uri="{FF2B5EF4-FFF2-40B4-BE49-F238E27FC236}">
                <a16:creationId xmlns:a16="http://schemas.microsoft.com/office/drawing/2014/main" id="{5D072CBF-9104-47C5-BA63-C33FA34E28C7}"/>
              </a:ext>
            </a:extLst>
          </p:cNvPr>
          <p:cNvSpPr>
            <a:spLocks noGrp="1"/>
          </p:cNvSpPr>
          <p:nvPr/>
        </p:nvSpPr>
        <p:spPr>
          <a:xfrm>
            <a:off x="822960" y="5453481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Retriever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2" name="Table 5329"/>
          <p:cNvGraphicFramePr/>
          <p:nvPr/>
        </p:nvGraphicFramePr>
        <p:xfrm>
          <a:off x="822960" y="5785408"/>
          <a:ext cx="16459200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search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query, filters, 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list~EvidenceChunk~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KURE-v1 임베딩 + FAISS 검색, 단계·항목 필터, 상위 K개(K = 3·5·7·10 비교로 선택)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31" name="TextBox 5330">
            <a:extLst>
              <a:ext uri="{FF2B5EF4-FFF2-40B4-BE49-F238E27FC236}">
                <a16:creationId xmlns:a16="http://schemas.microsoft.com/office/drawing/2014/main" id="{0359592B-F668-43EF-9BDF-DD86B8868FB4}"/>
              </a:ext>
            </a:extLst>
          </p:cNvPr>
          <p:cNvSpPr>
            <a:spLocks noGrp="1"/>
          </p:cNvSpPr>
          <p:nvPr/>
        </p:nvSpPr>
        <p:spPr>
          <a:xfrm>
            <a:off x="822960" y="652973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LLMClient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&lt;External System&gt;</a:t>
            </a:r>
          </a:p>
        </p:txBody>
      </p:sp>
      <p:graphicFrame>
        <p:nvGraphicFramePr>
          <p:cNvPr id="5354" name="Table 5331"/>
          <p:cNvGraphicFramePr/>
          <p:nvPr/>
        </p:nvGraphicFramePr>
        <p:xfrm>
          <a:off x="822960" y="6861657"/>
          <a:ext cx="16459200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write_questions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item, 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list~str~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항목별 상황 특화 질문 작성 (A1)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question, chunks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청크만 인용한 답변 (A2)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check_conflicts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list~Conflict~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간 충돌 검사 (A3)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synthesize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answers, rules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 종합 (A4), temperature 0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parse_correction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변화 문장 → 대상·새 값 (JSON 스키마)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442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6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8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28" name="Title">
            <a:extLst>
              <a:ext uri="{FF2B5EF4-FFF2-40B4-BE49-F238E27FC236}">
                <a16:creationId xmlns:a16="http://schemas.microsoft.com/office/drawing/2014/main" id="{0A4D042F-972A-49BC-8DDF-5D5D8AC01B1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29" name="Subtitle">
            <a:extLst>
              <a:ext uri="{FF2B5EF4-FFF2-40B4-BE49-F238E27FC236}">
                <a16:creationId xmlns:a16="http://schemas.microsoft.com/office/drawing/2014/main" id="{B4CDD624-0C09-40C9-B723-63E452860702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오퍼레이션 정의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(설계)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64</a:t>
            </a:fld>
            <a:endParaRPr/>
          </a:p>
        </p:txBody>
      </p:sp>
      <p:sp>
        <p:nvSpPr>
          <p:cNvPr id="5330" name="TextBox 5329">
            <a:extLst>
              <a:ext uri="{FF2B5EF4-FFF2-40B4-BE49-F238E27FC236}">
                <a16:creationId xmlns:a16="http://schemas.microsoft.com/office/drawing/2014/main" id="{9326D644-0B9C-402F-8776-4D7FC006D9B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3" name="Table 5330"/>
          <p:cNvGraphicFramePr/>
          <p:nvPr/>
        </p:nvGraphicFramePr>
        <p:xfrm>
          <a:off x="822960" y="2727655"/>
          <a:ext cx="16459200" cy="15657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get_latest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axis, category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최신 버전 진화/대피·구분별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get_citation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item_id, 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EvidenceChunk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번호의 청크 조회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list_versions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list~Proposal~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버전 생성 이력 (사유·건수·변경 수)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get_diff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list~ItemDiff~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직전 버전 대비 이전·이후 문장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list_events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list~EventLog~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(이력 탭, 읽기 전용)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2" name="TextBox 5331">
            <a:extLst>
              <a:ext uri="{FF2B5EF4-FFF2-40B4-BE49-F238E27FC236}">
                <a16:creationId xmlns:a16="http://schemas.microsoft.com/office/drawing/2014/main" id="{D6D3B464-980E-4C5A-B8DD-D5567AB63A18}"/>
              </a:ext>
            </a:extLst>
          </p:cNvPr>
          <p:cNvSpPr>
            <a:spLocks noGrp="1"/>
          </p:cNvSpPr>
          <p:nvPr/>
        </p:nvSpPr>
        <p:spPr>
          <a:xfrm>
            <a:off x="822960" y="4695190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&lt;Router&gt;</a:t>
            </a:r>
          </a:p>
        </p:txBody>
      </p:sp>
      <p:graphicFrame>
        <p:nvGraphicFramePr>
          <p:cNvPr id="5355" name="Table 5332"/>
          <p:cNvGraphicFramePr/>
          <p:nvPr/>
        </p:nvGraphicFramePr>
        <p:xfrm>
          <a:off x="822960" y="5027117"/>
          <a:ext cx="16459200" cy="10438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ask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text, item_code?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ChatMessage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질문·상황 변화 입력 (AssistantService에 위임)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quick_questions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list~str~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빠른 질문 6개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confirm_correction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draft_id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「확인 · 저장 후 재생성」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4" name="TextBox 5333">
            <a:extLst>
              <a:ext uri="{FF2B5EF4-FFF2-40B4-BE49-F238E27FC236}">
                <a16:creationId xmlns:a16="http://schemas.microsoft.com/office/drawing/2014/main" id="{F2E57342-FCC1-4088-83C2-6AFFCA66D145}"/>
              </a:ext>
            </a:extLst>
          </p:cNvPr>
          <p:cNvSpPr>
            <a:spLocks noGrp="1"/>
          </p:cNvSpPr>
          <p:nvPr/>
        </p:nvSpPr>
        <p:spPr>
          <a:xfrm>
            <a:off x="822960" y="6211773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7" name="Table 5334"/>
          <p:cNvGraphicFramePr/>
          <p:nvPr/>
        </p:nvGraphicFramePr>
        <p:xfrm>
          <a:off x="822960" y="6543700"/>
          <a:ext cx="16459200" cy="13047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classify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IntentEnum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질의(QA) / 상황 정정(CORRECTION) 구분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answer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question, item_code?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ChatMessage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상황·제안 값 + 근거 검색 → 답변·인용 검증 → 저장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propose_correction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incident_id, text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CorrectionDraft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대상·현재 값·새 값 확인 카드 생성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apply_correction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draft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Proposal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 저장 → generate(reason = 상황 정정)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36" name="TextBox 5335">
            <a:extLst>
              <a:ext uri="{FF2B5EF4-FFF2-40B4-BE49-F238E27FC236}">
                <a16:creationId xmlns:a16="http://schemas.microsoft.com/office/drawing/2014/main" id="{3619A452-AE01-4C91-B907-19F0DA3EEC17}"/>
              </a:ext>
            </a:extLst>
          </p:cNvPr>
          <p:cNvSpPr>
            <a:spLocks noGrp="1"/>
          </p:cNvSpPr>
          <p:nvPr/>
        </p:nvSpPr>
        <p:spPr>
          <a:xfrm>
            <a:off x="822960" y="7989316"/>
            <a:ext cx="11430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 클래스</a:t>
            </a:r>
            <a:r>
              <a:rPr sz="12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  &lt;Service&gt;</a:t>
            </a:r>
          </a:p>
        </p:txBody>
      </p:sp>
      <p:graphicFrame>
        <p:nvGraphicFramePr>
          <p:cNvPr id="5359" name="Table 5336"/>
          <p:cNvGraphicFramePr/>
          <p:nvPr/>
        </p:nvGraphicFramePr>
        <p:xfrm>
          <a:off x="822960" y="8321243"/>
          <a:ext cx="16459200" cy="5219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오퍼레이션명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가시성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반환타입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record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Public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event_type, user?, incident?, detail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Consolas"/>
                          <a:ea typeface="Consolas"/>
                          <a:cs typeface="Consolas"/>
                        </a:rPr>
                        <a:t>void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 추가 (수정·삭제 없음)</a:t>
                      </a:r>
                    </a:p>
                  </a:txBody>
                  <a:tcPr marL="68580" marR="68580" marT="10058" marB="10058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797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3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33" name="Title">
            <a:extLst>
              <a:ext uri="{FF2B5EF4-FFF2-40B4-BE49-F238E27FC236}">
                <a16:creationId xmlns:a16="http://schemas.microsoft.com/office/drawing/2014/main" id="{48DF47AC-8313-402A-84C4-022D6C4F8CF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34" name="Subtitle">
            <a:extLst>
              <a:ext uri="{FF2B5EF4-FFF2-40B4-BE49-F238E27FC236}">
                <a16:creationId xmlns:a16="http://schemas.microsoft.com/office/drawing/2014/main" id="{74EA623E-1A74-44BC-B53C-8143E24C730A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관계 정보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65</a:t>
            </a:fld>
            <a:endParaRPr/>
          </a:p>
        </p:txBody>
      </p:sp>
      <p:graphicFrame>
        <p:nvGraphicFramePr>
          <p:cNvPr id="5347" name="Table 5334"/>
          <p:cNvGraphicFramePr/>
          <p:nvPr/>
        </p:nvGraphicFramePr>
        <p:xfrm>
          <a:off x="822960" y="2395728"/>
          <a:ext cx="16459200" cy="55991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클래스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다중성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비율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IntakeRecord · WeatherSnapshot · 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각 기록(N)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FirePerimeter(N) (관측 시각별)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 · 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PredictionRun(N), Proposal(N)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 · ChatMessage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Incident(1) — SituationCorrection(N), ChatMessage(N)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Incident(0..1) — Resource(N) (투입된 자원)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FirePerimeter(0..1) — PredictionRun(N) (초기 연소 범위)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SpreadSlice(8)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1:8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Proposal(N) (예측 갱신 버전 + 정정 버전)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PredictionRun(1) — RiskAssessment(0..1) (예측마다 P5 위험도 1개)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1:1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43044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SituationCorrection(1) — Proposal(0..1)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1:1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Proposal(1) — ProposalItem(≤14)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 · ChatMessage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 (Composition)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ProposalItem(1)·ChatMessage(1) — Citation(N)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EvidenceChunk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EvidenceChunk(1) — Citation(N)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 · ChatMessage · PredictionRun 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User(1) — 각 기록(N) (행위자)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1:N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Village, Facility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 (Association)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 ·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 교차(ST_Intersects)로만 연결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N:M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4274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46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47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48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38" name="Title">
            <a:extLst>
              <a:ext uri="{FF2B5EF4-FFF2-40B4-BE49-F238E27FC236}">
                <a16:creationId xmlns:a16="http://schemas.microsoft.com/office/drawing/2014/main" id="{F35D6DBB-AD86-4B77-96FF-B3D518B08666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39" name="Subtitle">
            <a:extLst>
              <a:ext uri="{FF2B5EF4-FFF2-40B4-BE49-F238E27FC236}">
                <a16:creationId xmlns:a16="http://schemas.microsoft.com/office/drawing/2014/main" id="{EC28B579-F116-4A6F-8CD7-F894AB570A7F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3. 관계 정보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66</a:t>
            </a:fld>
            <a:endParaRPr/>
          </a:p>
        </p:txBody>
      </p:sp>
      <p:graphicFrame>
        <p:nvGraphicFramePr>
          <p:cNvPr id="5352" name="Table 5339"/>
          <p:cNvGraphicFramePr/>
          <p:nvPr/>
        </p:nvGraphicFramePr>
        <p:xfrm>
          <a:off x="822960" y="2395728"/>
          <a:ext cx="16459200" cy="41038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클래스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SecurityService, User,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login() → verify_password() · create_token(), 로그인 성공 시 이벤트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SecurityService, EventLogger, User, Resource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require_role(ADMIN) 후 계정·자원 저장, 변경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EventLogger, Incident,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정보·실측 화선 저장, 종료 처리 후 이벤트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Village, Facility, Resource, FirePerimeter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저장소 조회 전용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ProposalOrchestrator, Proposal, EventLog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이력·이벤트 조회 (조회 전용)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PredictionService, RiskService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run() · get_risk() 위임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SpreadSlice, RiskAssessment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P5 폴리곤·예측 기상·격자·인구 레이어로 위험도 계산·저장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ElmfireAdapter, WeatherClient, RiskService, ProposalOrchestrator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저장 후 compute() · generate() 호출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RuleEngine, Retriever, LLMClient,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판정 → 검색 → 생성 순서 제어, 새 버전 기록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AssistantService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ask() · confirm_correction() 위임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AssistantService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의존 (Dependency)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Retriever, LLMClient, ProposalOrchestrator, EventLogger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답변 생성 / 정정 저장 → 제안 재생성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209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1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43" name="Title">
            <a:extLst>
              <a:ext uri="{FF2B5EF4-FFF2-40B4-BE49-F238E27FC236}">
                <a16:creationId xmlns:a16="http://schemas.microsoft.com/office/drawing/2014/main" id="{B04B9D32-5888-49CD-B95F-EF103F62D43B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44" name="Subtitle">
            <a:extLst>
              <a:ext uri="{FF2B5EF4-FFF2-40B4-BE49-F238E27FC236}">
                <a16:creationId xmlns:a16="http://schemas.microsoft.com/office/drawing/2014/main" id="{9C000285-7AF8-4316-BEE1-E0B6E0028D8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다이어그램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도메인 엔티티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67</a:t>
            </a:fld>
            <a:endParaRPr/>
          </a:p>
        </p:txBody>
      </p:sp>
      <p:sp>
        <p:nvSpPr>
          <p:cNvPr id="5345" name="Rectangle 5344">
            <a:extLst>
              <a:ext uri="{FF2B5EF4-FFF2-40B4-BE49-F238E27FC236}">
                <a16:creationId xmlns:a16="http://schemas.microsoft.com/office/drawing/2014/main" id="{FAFDCE27-0EF9-4195-80B6-252FFADEFC3F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46" name="Rectangle 5345">
            <a:extLst>
              <a:ext uri="{FF2B5EF4-FFF2-40B4-BE49-F238E27FC236}">
                <a16:creationId xmlns:a16="http://schemas.microsoft.com/office/drawing/2014/main" id="{7746029A-9349-4895-B8A5-BE7CB145F10A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IntakeRecord</a:t>
            </a:r>
          </a:p>
        </p:txBody>
      </p:sp>
      <p:sp>
        <p:nvSpPr>
          <p:cNvPr id="5347" name="TextBox 5346">
            <a:extLst>
              <a:ext uri="{FF2B5EF4-FFF2-40B4-BE49-F238E27FC236}">
                <a16:creationId xmlns:a16="http://schemas.microsoft.com/office/drawing/2014/main" id="{AE5922F9-E7EF-4ABF-BB10-5DC302A7D75B}"/>
              </a:ext>
            </a:extLst>
          </p:cNvPr>
          <p:cNvSpPr>
            <a:spLocks noGrp="1"/>
          </p:cNvSpPr>
          <p:nvPr/>
        </p:nvSpPr>
        <p:spPr>
          <a:xfrm>
            <a:off x="9029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incident_id: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org_name: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received_at: datetime</a:t>
            </a:r>
          </a:p>
        </p:txBody>
      </p:sp>
      <p:sp>
        <p:nvSpPr>
          <p:cNvPr id="5348" name="Rectangle 5347">
            <a:extLst>
              <a:ext uri="{FF2B5EF4-FFF2-40B4-BE49-F238E27FC236}">
                <a16:creationId xmlns:a16="http://schemas.microsoft.com/office/drawing/2014/main" id="{A957A3AB-5C11-4DD5-9B7F-FC62EDBB160F}"/>
              </a:ext>
            </a:extLst>
          </p:cNvPr>
          <p:cNvSpPr>
            <a:spLocks noGrp="1"/>
          </p:cNvSpPr>
          <p:nvPr/>
        </p:nvSpPr>
        <p:spPr>
          <a:xfrm>
            <a:off x="362331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49" name="Rectangle 5348">
            <a:extLst>
              <a:ext uri="{FF2B5EF4-FFF2-40B4-BE49-F238E27FC236}">
                <a16:creationId xmlns:a16="http://schemas.microsoft.com/office/drawing/2014/main" id="{23C4E5ED-6AC9-449E-B497-03E62DCF80D6}"/>
              </a:ext>
            </a:extLst>
          </p:cNvPr>
          <p:cNvSpPr>
            <a:spLocks noGrp="1"/>
          </p:cNvSpPr>
          <p:nvPr/>
        </p:nvSpPr>
        <p:spPr>
          <a:xfrm>
            <a:off x="362331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WeatherSnapshot</a:t>
            </a:r>
          </a:p>
        </p:txBody>
      </p:sp>
      <p:sp>
        <p:nvSpPr>
          <p:cNvPr id="5350" name="TextBox 5349">
            <a:extLst>
              <a:ext uri="{FF2B5EF4-FFF2-40B4-BE49-F238E27FC236}">
                <a16:creationId xmlns:a16="http://schemas.microsoft.com/office/drawing/2014/main" id="{06959BD4-E15C-4A19-A80F-2DE2E3A150E5}"/>
              </a:ext>
            </a:extLst>
          </p:cNvPr>
          <p:cNvSpPr>
            <a:spLocks noGrp="1"/>
          </p:cNvSpPr>
          <p:nvPr/>
        </p:nvSpPr>
        <p:spPr>
          <a:xfrm>
            <a:off x="37033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valid_at: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wind_speed: float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wind_dir: int</a:t>
            </a:r>
          </a:p>
        </p:txBody>
      </p:sp>
      <p:sp>
        <p:nvSpPr>
          <p:cNvPr id="5351" name="Rectangle 5350">
            <a:extLst>
              <a:ext uri="{FF2B5EF4-FFF2-40B4-BE49-F238E27FC236}">
                <a16:creationId xmlns:a16="http://schemas.microsoft.com/office/drawing/2014/main" id="{41E87433-AF87-4CFD-82E6-EEE8C68E4683}"/>
              </a:ext>
            </a:extLst>
          </p:cNvPr>
          <p:cNvSpPr>
            <a:spLocks noGrp="1"/>
          </p:cNvSpPr>
          <p:nvPr/>
        </p:nvSpPr>
        <p:spPr>
          <a:xfrm>
            <a:off x="64236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2" name="Rectangle 5351">
            <a:extLst>
              <a:ext uri="{FF2B5EF4-FFF2-40B4-BE49-F238E27FC236}">
                <a16:creationId xmlns:a16="http://schemas.microsoft.com/office/drawing/2014/main" id="{0C11050D-A72E-486C-BD65-BAC95C46930F}"/>
              </a:ext>
            </a:extLst>
          </p:cNvPr>
          <p:cNvSpPr>
            <a:spLocks noGrp="1"/>
          </p:cNvSpPr>
          <p:nvPr/>
        </p:nvSpPr>
        <p:spPr>
          <a:xfrm>
            <a:off x="64236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FirePerimeter</a:t>
            </a:r>
          </a:p>
        </p:txBody>
      </p:sp>
      <p:sp>
        <p:nvSpPr>
          <p:cNvPr id="5353" name="TextBox 5352">
            <a:extLst>
              <a:ext uri="{FF2B5EF4-FFF2-40B4-BE49-F238E27FC236}">
                <a16:creationId xmlns:a16="http://schemas.microsoft.com/office/drawing/2014/main" id="{2BC412F8-FAE5-4777-9CCD-CFD7A545547A}"/>
              </a:ext>
            </a:extLst>
          </p:cNvPr>
          <p:cNvSpPr>
            <a:spLocks noGrp="1"/>
          </p:cNvSpPr>
          <p:nvPr/>
        </p:nvSpPr>
        <p:spPr>
          <a:xfrm>
            <a:off x="65036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observed_at: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geom: Polygon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area_ha: float</a:t>
            </a:r>
          </a:p>
        </p:txBody>
      </p:sp>
      <p:sp>
        <p:nvSpPr>
          <p:cNvPr id="5354" name="Rectangle 5353">
            <a:extLst>
              <a:ext uri="{FF2B5EF4-FFF2-40B4-BE49-F238E27FC236}">
                <a16:creationId xmlns:a16="http://schemas.microsoft.com/office/drawing/2014/main" id="{1ED6D8F6-1D42-4F4E-B6D7-E2D6A1B76980}"/>
              </a:ext>
            </a:extLst>
          </p:cNvPr>
          <p:cNvSpPr>
            <a:spLocks noGrp="1"/>
          </p:cNvSpPr>
          <p:nvPr/>
        </p:nvSpPr>
        <p:spPr>
          <a:xfrm>
            <a:off x="922401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5" name="Rectangle 5354">
            <a:extLst>
              <a:ext uri="{FF2B5EF4-FFF2-40B4-BE49-F238E27FC236}">
                <a16:creationId xmlns:a16="http://schemas.microsoft.com/office/drawing/2014/main" id="{9F971391-ACB6-4F46-8A73-72042912D5A2}"/>
              </a:ext>
            </a:extLst>
          </p:cNvPr>
          <p:cNvSpPr>
            <a:spLocks noGrp="1"/>
          </p:cNvSpPr>
          <p:nvPr/>
        </p:nvSpPr>
        <p:spPr>
          <a:xfrm>
            <a:off x="922401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SpreadSlice</a:t>
            </a:r>
          </a:p>
        </p:txBody>
      </p:sp>
      <p:sp>
        <p:nvSpPr>
          <p:cNvPr id="5356" name="TextBox 5355">
            <a:extLst>
              <a:ext uri="{FF2B5EF4-FFF2-40B4-BE49-F238E27FC236}">
                <a16:creationId xmlns:a16="http://schemas.microsoft.com/office/drawing/2014/main" id="{1FA82CBB-EBB4-4C31-AB45-BE76E864157C}"/>
              </a:ext>
            </a:extLst>
          </p:cNvPr>
          <p:cNvSpPr>
            <a:spLocks noGrp="1"/>
          </p:cNvSpPr>
          <p:nvPr/>
        </p:nvSpPr>
        <p:spPr>
          <a:xfrm>
            <a:off x="93040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t_hours: 1~8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geom: Polygon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area_ha: float</a:t>
            </a:r>
          </a:p>
        </p:txBody>
      </p:sp>
      <p:sp>
        <p:nvSpPr>
          <p:cNvPr id="5357" name="Rectangle 5356">
            <a:extLst>
              <a:ext uri="{FF2B5EF4-FFF2-40B4-BE49-F238E27FC236}">
                <a16:creationId xmlns:a16="http://schemas.microsoft.com/office/drawing/2014/main" id="{A9D577CD-94AF-4E4F-9833-527A0375B66F}"/>
              </a:ext>
            </a:extLst>
          </p:cNvPr>
          <p:cNvSpPr>
            <a:spLocks noGrp="1"/>
          </p:cNvSpPr>
          <p:nvPr/>
        </p:nvSpPr>
        <p:spPr>
          <a:xfrm>
            <a:off x="12024360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58" name="Rectangle 5357">
            <a:extLst>
              <a:ext uri="{FF2B5EF4-FFF2-40B4-BE49-F238E27FC236}">
                <a16:creationId xmlns:a16="http://schemas.microsoft.com/office/drawing/2014/main" id="{D5E1EB17-676A-44FA-BBE5-D29F56B6D5BB}"/>
              </a:ext>
            </a:extLst>
          </p:cNvPr>
          <p:cNvSpPr>
            <a:spLocks noGrp="1"/>
          </p:cNvSpPr>
          <p:nvPr/>
        </p:nvSpPr>
        <p:spPr>
          <a:xfrm>
            <a:off x="12024360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</a:t>
            </a:r>
          </a:p>
        </p:txBody>
      </p:sp>
      <p:sp>
        <p:nvSpPr>
          <p:cNvPr id="5359" name="TextBox 5358">
            <a:extLst>
              <a:ext uri="{FF2B5EF4-FFF2-40B4-BE49-F238E27FC236}">
                <a16:creationId xmlns:a16="http://schemas.microsoft.com/office/drawing/2014/main" id="{3C4D5D6E-EACA-48F1-88F5-36AC897DADBD}"/>
              </a:ext>
            </a:extLst>
          </p:cNvPr>
          <p:cNvSpPr>
            <a:spLocks noGrp="1"/>
          </p:cNvSpPr>
          <p:nvPr/>
        </p:nvSpPr>
        <p:spPr>
          <a:xfrm>
            <a:off x="1210437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login_id: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role: RoleEnum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AccountEnum</a:t>
            </a:r>
          </a:p>
        </p:txBody>
      </p:sp>
      <p:sp>
        <p:nvSpPr>
          <p:cNvPr id="5360" name="Rectangle 5359">
            <a:extLst>
              <a:ext uri="{FF2B5EF4-FFF2-40B4-BE49-F238E27FC236}">
                <a16:creationId xmlns:a16="http://schemas.microsoft.com/office/drawing/2014/main" id="{21967CC4-BB32-4D48-BB83-70B89279A469}"/>
              </a:ext>
            </a:extLst>
          </p:cNvPr>
          <p:cNvSpPr>
            <a:spLocks noGrp="1"/>
          </p:cNvSpPr>
          <p:nvPr/>
        </p:nvSpPr>
        <p:spPr>
          <a:xfrm>
            <a:off x="14824709" y="2395728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1" name="Rectangle 5360">
            <a:extLst>
              <a:ext uri="{FF2B5EF4-FFF2-40B4-BE49-F238E27FC236}">
                <a16:creationId xmlns:a16="http://schemas.microsoft.com/office/drawing/2014/main" id="{A3B57EC9-D3A8-42CF-AF6F-323B054247EF}"/>
              </a:ext>
            </a:extLst>
          </p:cNvPr>
          <p:cNvSpPr>
            <a:spLocks noGrp="1"/>
          </p:cNvSpPr>
          <p:nvPr/>
        </p:nvSpPr>
        <p:spPr>
          <a:xfrm>
            <a:off x="14824709" y="2395728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</a:t>
            </a:r>
          </a:p>
        </p:txBody>
      </p:sp>
      <p:sp>
        <p:nvSpPr>
          <p:cNvPr id="5362" name="TextBox 5361">
            <a:extLst>
              <a:ext uri="{FF2B5EF4-FFF2-40B4-BE49-F238E27FC236}">
                <a16:creationId xmlns:a16="http://schemas.microsoft.com/office/drawing/2014/main" id="{E5FDB00E-B33C-4836-9DCB-9342A1F65579}"/>
              </a:ext>
            </a:extLst>
          </p:cNvPr>
          <p:cNvSpPr>
            <a:spLocks noGrp="1"/>
          </p:cNvSpPr>
          <p:nvPr/>
        </p:nvSpPr>
        <p:spPr>
          <a:xfrm>
            <a:off x="14904720" y="275783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category: EventEnum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content: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created_at: datetime</a:t>
            </a:r>
          </a:p>
        </p:txBody>
      </p:sp>
      <p:sp>
        <p:nvSpPr>
          <p:cNvPr id="5363" name="Rectangle 5362">
            <a:extLst>
              <a:ext uri="{FF2B5EF4-FFF2-40B4-BE49-F238E27FC236}">
                <a16:creationId xmlns:a16="http://schemas.microsoft.com/office/drawing/2014/main" id="{C213F052-2BBB-45AA-A744-AD2DA9689C1A}"/>
              </a:ext>
            </a:extLst>
          </p:cNvPr>
          <p:cNvSpPr>
            <a:spLocks noGrp="1"/>
          </p:cNvSpPr>
          <p:nvPr/>
        </p:nvSpPr>
        <p:spPr>
          <a:xfrm>
            <a:off x="8229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4" name="Rectangle 5363">
            <a:extLst>
              <a:ext uri="{FF2B5EF4-FFF2-40B4-BE49-F238E27FC236}">
                <a16:creationId xmlns:a16="http://schemas.microsoft.com/office/drawing/2014/main" id="{A326EC28-0DD8-4E79-BE7A-39C2E1B2BE50}"/>
              </a:ext>
            </a:extLst>
          </p:cNvPr>
          <p:cNvSpPr>
            <a:spLocks noGrp="1"/>
          </p:cNvSpPr>
          <p:nvPr/>
        </p:nvSpPr>
        <p:spPr>
          <a:xfrm>
            <a:off x="8229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RiskAssessment</a:t>
            </a:r>
          </a:p>
        </p:txBody>
      </p:sp>
      <p:sp>
        <p:nvSpPr>
          <p:cNvPr id="5365" name="TextBox 5364">
            <a:extLst>
              <a:ext uri="{FF2B5EF4-FFF2-40B4-BE49-F238E27FC236}">
                <a16:creationId xmlns:a16="http://schemas.microsoft.com/office/drawing/2014/main" id="{BCC79EDA-787F-4E2F-9BC6-4762471ED013}"/>
              </a:ext>
            </a:extLst>
          </p:cNvPr>
          <p:cNvSpPr>
            <a:spLocks noGrp="1"/>
          </p:cNvSpPr>
          <p:nvPr/>
        </p:nvSpPr>
        <p:spPr>
          <a:xfrm>
            <a:off x="9029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score: float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run_id: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weather·terrain·fuel·infra</a:t>
            </a:r>
          </a:p>
        </p:txBody>
      </p:sp>
      <p:sp>
        <p:nvSpPr>
          <p:cNvPr id="5366" name="Rectangle 5365">
            <a:extLst>
              <a:ext uri="{FF2B5EF4-FFF2-40B4-BE49-F238E27FC236}">
                <a16:creationId xmlns:a16="http://schemas.microsoft.com/office/drawing/2014/main" id="{B0CEEF4F-63E6-4309-BD4B-2707C9563E26}"/>
              </a:ext>
            </a:extLst>
          </p:cNvPr>
          <p:cNvSpPr>
            <a:spLocks noGrp="1"/>
          </p:cNvSpPr>
          <p:nvPr/>
        </p:nvSpPr>
        <p:spPr>
          <a:xfrm>
            <a:off x="362331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67" name="Rectangle 5366">
            <a:extLst>
              <a:ext uri="{FF2B5EF4-FFF2-40B4-BE49-F238E27FC236}">
                <a16:creationId xmlns:a16="http://schemas.microsoft.com/office/drawing/2014/main" id="{35BFFF48-34E8-4780-B106-D3AD3543181D}"/>
              </a:ext>
            </a:extLst>
          </p:cNvPr>
          <p:cNvSpPr>
            <a:spLocks noGrp="1"/>
          </p:cNvSpPr>
          <p:nvPr/>
        </p:nvSpPr>
        <p:spPr>
          <a:xfrm>
            <a:off x="362331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</a:t>
            </a:r>
          </a:p>
        </p:txBody>
      </p:sp>
      <p:sp>
        <p:nvSpPr>
          <p:cNvPr id="5368" name="TextBox 5367">
            <a:extLst>
              <a:ext uri="{FF2B5EF4-FFF2-40B4-BE49-F238E27FC236}">
                <a16:creationId xmlns:a16="http://schemas.microsoft.com/office/drawing/2014/main" id="{10817C30-C064-439E-9C26-447806C2DCEB}"/>
              </a:ext>
            </a:extLst>
          </p:cNvPr>
          <p:cNvSpPr>
            <a:spLocks noGrp="1"/>
          </p:cNvSpPr>
          <p:nvPr/>
        </p:nvSpPr>
        <p:spPr>
          <a:xfrm>
            <a:off x="37033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ignition_geom: Point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StatusEnum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ended_at: datetime</a:t>
            </a:r>
          </a:p>
        </p:txBody>
      </p:sp>
      <p:sp>
        <p:nvSpPr>
          <p:cNvPr id="5369" name="Rectangle 5368">
            <a:extLst>
              <a:ext uri="{FF2B5EF4-FFF2-40B4-BE49-F238E27FC236}">
                <a16:creationId xmlns:a16="http://schemas.microsoft.com/office/drawing/2014/main" id="{18C0B98A-4C83-4736-899E-7417B517254E}"/>
              </a:ext>
            </a:extLst>
          </p:cNvPr>
          <p:cNvSpPr>
            <a:spLocks noGrp="1"/>
          </p:cNvSpPr>
          <p:nvPr/>
        </p:nvSpPr>
        <p:spPr>
          <a:xfrm>
            <a:off x="64236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0" name="Rectangle 5369">
            <a:extLst>
              <a:ext uri="{FF2B5EF4-FFF2-40B4-BE49-F238E27FC236}">
                <a16:creationId xmlns:a16="http://schemas.microsoft.com/office/drawing/2014/main" id="{4729379E-5D21-48A7-B525-6F72F32425CD}"/>
              </a:ext>
            </a:extLst>
          </p:cNvPr>
          <p:cNvSpPr>
            <a:spLocks noGrp="1"/>
          </p:cNvSpPr>
          <p:nvPr/>
        </p:nvSpPr>
        <p:spPr>
          <a:xfrm>
            <a:off x="64236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PredictionRun</a:t>
            </a:r>
          </a:p>
        </p:txBody>
      </p:sp>
      <p:sp>
        <p:nvSpPr>
          <p:cNvPr id="5371" name="TextBox 5370">
            <a:extLst>
              <a:ext uri="{FF2B5EF4-FFF2-40B4-BE49-F238E27FC236}">
                <a16:creationId xmlns:a16="http://schemas.microsoft.com/office/drawing/2014/main" id="{9D65989E-2191-4CE3-873D-ABCA2B6BCB68}"/>
              </a:ext>
            </a:extLst>
          </p:cNvPr>
          <p:cNvSpPr>
            <a:spLocks noGrp="1"/>
          </p:cNvSpPr>
          <p:nvPr/>
        </p:nvSpPr>
        <p:spPr>
          <a:xfrm>
            <a:off x="65036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t0: datetime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perimeter_id: int?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RunStatusEnum</a:t>
            </a:r>
          </a:p>
        </p:txBody>
      </p:sp>
      <p:sp>
        <p:nvSpPr>
          <p:cNvPr id="5372" name="Rectangle 5371">
            <a:extLst>
              <a:ext uri="{FF2B5EF4-FFF2-40B4-BE49-F238E27FC236}">
                <a16:creationId xmlns:a16="http://schemas.microsoft.com/office/drawing/2014/main" id="{2E2BF3E5-AE59-41F3-B030-5440E0E7E72E}"/>
              </a:ext>
            </a:extLst>
          </p:cNvPr>
          <p:cNvSpPr>
            <a:spLocks noGrp="1"/>
          </p:cNvSpPr>
          <p:nvPr/>
        </p:nvSpPr>
        <p:spPr>
          <a:xfrm>
            <a:off x="922401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3" name="Rectangle 5372">
            <a:extLst>
              <a:ext uri="{FF2B5EF4-FFF2-40B4-BE49-F238E27FC236}">
                <a16:creationId xmlns:a16="http://schemas.microsoft.com/office/drawing/2014/main" id="{912D9B0D-0ADF-4C40-970E-99D1F9EDA126}"/>
              </a:ext>
            </a:extLst>
          </p:cNvPr>
          <p:cNvSpPr>
            <a:spLocks noGrp="1"/>
          </p:cNvSpPr>
          <p:nvPr/>
        </p:nvSpPr>
        <p:spPr>
          <a:xfrm>
            <a:off x="922401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ChatMessage</a:t>
            </a:r>
          </a:p>
        </p:txBody>
      </p:sp>
      <p:sp>
        <p:nvSpPr>
          <p:cNvPr id="5374" name="TextBox 5373">
            <a:extLst>
              <a:ext uri="{FF2B5EF4-FFF2-40B4-BE49-F238E27FC236}">
                <a16:creationId xmlns:a16="http://schemas.microsoft.com/office/drawing/2014/main" id="{4F3B5C3F-5ABB-49D7-B38E-69FA93FD93AE}"/>
              </a:ext>
            </a:extLst>
          </p:cNvPr>
          <p:cNvSpPr>
            <a:spLocks noGrp="1"/>
          </p:cNvSpPr>
          <p:nvPr/>
        </p:nvSpPr>
        <p:spPr>
          <a:xfrm>
            <a:off x="93040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sender: SenderEnum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intent: IntentEnum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content: text</a:t>
            </a:r>
          </a:p>
        </p:txBody>
      </p:sp>
      <p:sp>
        <p:nvSpPr>
          <p:cNvPr id="5375" name="Rectangle 5374">
            <a:extLst>
              <a:ext uri="{FF2B5EF4-FFF2-40B4-BE49-F238E27FC236}">
                <a16:creationId xmlns:a16="http://schemas.microsoft.com/office/drawing/2014/main" id="{A2F9B386-246D-4099-9DC1-BC44DB59E017}"/>
              </a:ext>
            </a:extLst>
          </p:cNvPr>
          <p:cNvSpPr>
            <a:spLocks noGrp="1"/>
          </p:cNvSpPr>
          <p:nvPr/>
        </p:nvSpPr>
        <p:spPr>
          <a:xfrm>
            <a:off x="12024360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6" name="Rectangle 5375">
            <a:extLst>
              <a:ext uri="{FF2B5EF4-FFF2-40B4-BE49-F238E27FC236}">
                <a16:creationId xmlns:a16="http://schemas.microsoft.com/office/drawing/2014/main" id="{0A92D555-C217-4448-9948-3B8DF4ABDC2C}"/>
              </a:ext>
            </a:extLst>
          </p:cNvPr>
          <p:cNvSpPr>
            <a:spLocks noGrp="1"/>
          </p:cNvSpPr>
          <p:nvPr/>
        </p:nvSpPr>
        <p:spPr>
          <a:xfrm>
            <a:off x="12024360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EvidenceChunk</a:t>
            </a:r>
          </a:p>
        </p:txBody>
      </p:sp>
      <p:sp>
        <p:nvSpPr>
          <p:cNvPr id="5377" name="TextBox 5376">
            <a:extLst>
              <a:ext uri="{FF2B5EF4-FFF2-40B4-BE49-F238E27FC236}">
                <a16:creationId xmlns:a16="http://schemas.microsoft.com/office/drawing/2014/main" id="{5978FCD8-15C9-4715-8029-CB5EC03C1098}"/>
              </a:ext>
            </a:extLst>
          </p:cNvPr>
          <p:cNvSpPr>
            <a:spLocks noGrp="1"/>
          </p:cNvSpPr>
          <p:nvPr/>
        </p:nvSpPr>
        <p:spPr>
          <a:xfrm>
            <a:off x="1210437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chunk_id: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doc_name: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page: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text: text</a:t>
            </a:r>
          </a:p>
        </p:txBody>
      </p:sp>
      <p:sp>
        <p:nvSpPr>
          <p:cNvPr id="5378" name="Rectangle 5377">
            <a:extLst>
              <a:ext uri="{FF2B5EF4-FFF2-40B4-BE49-F238E27FC236}">
                <a16:creationId xmlns:a16="http://schemas.microsoft.com/office/drawing/2014/main" id="{1DEF0C20-D3B7-4C69-9AF2-709F59D0F1E2}"/>
              </a:ext>
            </a:extLst>
          </p:cNvPr>
          <p:cNvSpPr>
            <a:spLocks noGrp="1"/>
          </p:cNvSpPr>
          <p:nvPr/>
        </p:nvSpPr>
        <p:spPr>
          <a:xfrm>
            <a:off x="14824709" y="4628692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79" name="Rectangle 5378">
            <a:extLst>
              <a:ext uri="{FF2B5EF4-FFF2-40B4-BE49-F238E27FC236}">
                <a16:creationId xmlns:a16="http://schemas.microsoft.com/office/drawing/2014/main" id="{4F6BB0FC-2EE1-465C-B08C-4EC2319E2944}"/>
              </a:ext>
            </a:extLst>
          </p:cNvPr>
          <p:cNvSpPr>
            <a:spLocks noGrp="1"/>
          </p:cNvSpPr>
          <p:nvPr/>
        </p:nvSpPr>
        <p:spPr>
          <a:xfrm>
            <a:off x="14824709" y="4628692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</a:t>
            </a:r>
          </a:p>
        </p:txBody>
      </p:sp>
      <p:sp>
        <p:nvSpPr>
          <p:cNvPr id="5380" name="TextBox 5379">
            <a:extLst>
              <a:ext uri="{FF2B5EF4-FFF2-40B4-BE49-F238E27FC236}">
                <a16:creationId xmlns:a16="http://schemas.microsoft.com/office/drawing/2014/main" id="{F815E1A6-D75F-44B0-A502-017A53722E26}"/>
              </a:ext>
            </a:extLst>
          </p:cNvPr>
          <p:cNvSpPr>
            <a:spLocks noGrp="1"/>
          </p:cNvSpPr>
          <p:nvPr/>
        </p:nvSpPr>
        <p:spPr>
          <a:xfrm>
            <a:off x="14904720" y="4990795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population: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elderly·disabled: int</a:t>
            </a:r>
          </a:p>
        </p:txBody>
      </p:sp>
      <p:sp>
        <p:nvSpPr>
          <p:cNvPr id="5381" name="Rectangle 5380">
            <a:extLst>
              <a:ext uri="{FF2B5EF4-FFF2-40B4-BE49-F238E27FC236}">
                <a16:creationId xmlns:a16="http://schemas.microsoft.com/office/drawing/2014/main" id="{85712BC9-CFE2-4B82-8446-D27AAF8A939E}"/>
              </a:ext>
            </a:extLst>
          </p:cNvPr>
          <p:cNvSpPr>
            <a:spLocks noGrp="1"/>
          </p:cNvSpPr>
          <p:nvPr/>
        </p:nvSpPr>
        <p:spPr>
          <a:xfrm>
            <a:off x="8229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2" name="Rectangle 5381">
            <a:extLst>
              <a:ext uri="{FF2B5EF4-FFF2-40B4-BE49-F238E27FC236}">
                <a16:creationId xmlns:a16="http://schemas.microsoft.com/office/drawing/2014/main" id="{C9410A1D-D1FD-4133-AC06-ABDB3AD020DE}"/>
              </a:ext>
            </a:extLst>
          </p:cNvPr>
          <p:cNvSpPr>
            <a:spLocks noGrp="1"/>
          </p:cNvSpPr>
          <p:nvPr/>
        </p:nvSpPr>
        <p:spPr>
          <a:xfrm>
            <a:off x="8229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</a:t>
            </a:r>
          </a:p>
        </p:txBody>
      </p:sp>
      <p:sp>
        <p:nvSpPr>
          <p:cNvPr id="5383" name="TextBox 5382">
            <a:extLst>
              <a:ext uri="{FF2B5EF4-FFF2-40B4-BE49-F238E27FC236}">
                <a16:creationId xmlns:a16="http://schemas.microsoft.com/office/drawing/2014/main" id="{70991126-10BA-4A65-97D4-91ACD6BA7344}"/>
              </a:ext>
            </a:extLst>
          </p:cNvPr>
          <p:cNvSpPr>
            <a:spLocks noGrp="1"/>
          </p:cNvSpPr>
          <p:nvPr/>
        </p:nvSpPr>
        <p:spPr>
          <a:xfrm>
            <a:off x="9029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kind: KindEnum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name: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qty: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status: ResStatusEnum</a:t>
            </a:r>
          </a:p>
        </p:txBody>
      </p:sp>
      <p:sp>
        <p:nvSpPr>
          <p:cNvPr id="5384" name="Rectangle 5383">
            <a:extLst>
              <a:ext uri="{FF2B5EF4-FFF2-40B4-BE49-F238E27FC236}">
                <a16:creationId xmlns:a16="http://schemas.microsoft.com/office/drawing/2014/main" id="{CB20426F-F5B9-4A90-A765-FEA6ABDDA8B1}"/>
              </a:ext>
            </a:extLst>
          </p:cNvPr>
          <p:cNvSpPr>
            <a:spLocks noGrp="1"/>
          </p:cNvSpPr>
          <p:nvPr/>
        </p:nvSpPr>
        <p:spPr>
          <a:xfrm>
            <a:off x="362331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5" name="Rectangle 5384">
            <a:extLst>
              <a:ext uri="{FF2B5EF4-FFF2-40B4-BE49-F238E27FC236}">
                <a16:creationId xmlns:a16="http://schemas.microsoft.com/office/drawing/2014/main" id="{20BB369A-4D11-4772-AA37-99BF96ACA171}"/>
              </a:ext>
            </a:extLst>
          </p:cNvPr>
          <p:cNvSpPr>
            <a:spLocks noGrp="1"/>
          </p:cNvSpPr>
          <p:nvPr/>
        </p:nvSpPr>
        <p:spPr>
          <a:xfrm>
            <a:off x="362331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SituationCorrection</a:t>
            </a:r>
          </a:p>
        </p:txBody>
      </p:sp>
      <p:sp>
        <p:nvSpPr>
          <p:cNvPr id="5386" name="TextBox 5385">
            <a:extLst>
              <a:ext uri="{FF2B5EF4-FFF2-40B4-BE49-F238E27FC236}">
                <a16:creationId xmlns:a16="http://schemas.microsoft.com/office/drawing/2014/main" id="{B717E236-76E9-4C92-9935-286051AD0B32}"/>
              </a:ext>
            </a:extLst>
          </p:cNvPr>
          <p:cNvSpPr>
            <a:spLocks noGrp="1"/>
          </p:cNvSpPr>
          <p:nvPr/>
        </p:nvSpPr>
        <p:spPr>
          <a:xfrm>
            <a:off x="37033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target_type: TargetEnum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before → after_value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confirmed_at: datetime</a:t>
            </a:r>
          </a:p>
        </p:txBody>
      </p:sp>
      <p:sp>
        <p:nvSpPr>
          <p:cNvPr id="5387" name="Rectangle 5386">
            <a:extLst>
              <a:ext uri="{FF2B5EF4-FFF2-40B4-BE49-F238E27FC236}">
                <a16:creationId xmlns:a16="http://schemas.microsoft.com/office/drawing/2014/main" id="{310D8038-EFF1-4515-820A-60C276DEB013}"/>
              </a:ext>
            </a:extLst>
          </p:cNvPr>
          <p:cNvSpPr>
            <a:spLocks noGrp="1"/>
          </p:cNvSpPr>
          <p:nvPr/>
        </p:nvSpPr>
        <p:spPr>
          <a:xfrm>
            <a:off x="64236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8" name="Rectangle 5387">
            <a:extLst>
              <a:ext uri="{FF2B5EF4-FFF2-40B4-BE49-F238E27FC236}">
                <a16:creationId xmlns:a16="http://schemas.microsoft.com/office/drawing/2014/main" id="{BBDB139A-1E51-4854-9A8A-E84BE037CF3B}"/>
              </a:ext>
            </a:extLst>
          </p:cNvPr>
          <p:cNvSpPr>
            <a:spLocks noGrp="1"/>
          </p:cNvSpPr>
          <p:nvPr/>
        </p:nvSpPr>
        <p:spPr>
          <a:xfrm>
            <a:off x="64236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</a:t>
            </a:r>
          </a:p>
        </p:txBody>
      </p:sp>
      <p:sp>
        <p:nvSpPr>
          <p:cNvPr id="5389" name="TextBox 5388">
            <a:extLst>
              <a:ext uri="{FF2B5EF4-FFF2-40B4-BE49-F238E27FC236}">
                <a16:creationId xmlns:a16="http://schemas.microsoft.com/office/drawing/2014/main" id="{D93D0E90-7EAD-41D9-AD14-9BD3BACCB277}"/>
              </a:ext>
            </a:extLst>
          </p:cNvPr>
          <p:cNvSpPr>
            <a:spLocks noGrp="1"/>
          </p:cNvSpPr>
          <p:nvPr/>
        </p:nvSpPr>
        <p:spPr>
          <a:xfrm>
            <a:off x="65036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version_no: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reason: ReasonEnum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correction_id: int?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stage_up: bool</a:t>
            </a:r>
          </a:p>
        </p:txBody>
      </p:sp>
      <p:sp>
        <p:nvSpPr>
          <p:cNvPr id="5390" name="Rectangle 5389">
            <a:extLst>
              <a:ext uri="{FF2B5EF4-FFF2-40B4-BE49-F238E27FC236}">
                <a16:creationId xmlns:a16="http://schemas.microsoft.com/office/drawing/2014/main" id="{83C0AB29-BCCE-47B5-963C-430278DD64D8}"/>
              </a:ext>
            </a:extLst>
          </p:cNvPr>
          <p:cNvSpPr>
            <a:spLocks noGrp="1"/>
          </p:cNvSpPr>
          <p:nvPr/>
        </p:nvSpPr>
        <p:spPr>
          <a:xfrm>
            <a:off x="922401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1" name="Rectangle 5390">
            <a:extLst>
              <a:ext uri="{FF2B5EF4-FFF2-40B4-BE49-F238E27FC236}">
                <a16:creationId xmlns:a16="http://schemas.microsoft.com/office/drawing/2014/main" id="{22933123-9B09-4FFA-9B26-2E9CC91E5D1E}"/>
              </a:ext>
            </a:extLst>
          </p:cNvPr>
          <p:cNvSpPr>
            <a:spLocks noGrp="1"/>
          </p:cNvSpPr>
          <p:nvPr/>
        </p:nvSpPr>
        <p:spPr>
          <a:xfrm>
            <a:off x="922401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ProposalItem</a:t>
            </a:r>
          </a:p>
        </p:txBody>
      </p:sp>
      <p:sp>
        <p:nvSpPr>
          <p:cNvPr id="5392" name="TextBox 5391">
            <a:extLst>
              <a:ext uri="{FF2B5EF4-FFF2-40B4-BE49-F238E27FC236}">
                <a16:creationId xmlns:a16="http://schemas.microsoft.com/office/drawing/2014/main" id="{0FF50B7A-9831-4F8B-9EC4-B21F81CCC549}"/>
              </a:ext>
            </a:extLst>
          </p:cNvPr>
          <p:cNvSpPr>
            <a:spLocks noGrp="1"/>
          </p:cNvSpPr>
          <p:nvPr/>
        </p:nvSpPr>
        <p:spPr>
          <a:xfrm>
            <a:off x="93040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item_code: S1~E7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categories: JSON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text: str</a:t>
            </a:r>
          </a:p>
        </p:txBody>
      </p:sp>
      <p:sp>
        <p:nvSpPr>
          <p:cNvPr id="5393" name="Rectangle 5392">
            <a:extLst>
              <a:ext uri="{FF2B5EF4-FFF2-40B4-BE49-F238E27FC236}">
                <a16:creationId xmlns:a16="http://schemas.microsoft.com/office/drawing/2014/main" id="{9679A6D0-4FF2-4D09-B13C-2C9D811EF156}"/>
              </a:ext>
            </a:extLst>
          </p:cNvPr>
          <p:cNvSpPr>
            <a:spLocks noGrp="1"/>
          </p:cNvSpPr>
          <p:nvPr/>
        </p:nvSpPr>
        <p:spPr>
          <a:xfrm>
            <a:off x="12024360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4" name="Rectangle 5393">
            <a:extLst>
              <a:ext uri="{FF2B5EF4-FFF2-40B4-BE49-F238E27FC236}">
                <a16:creationId xmlns:a16="http://schemas.microsoft.com/office/drawing/2014/main" id="{CA6B756E-D4EC-45B7-859F-78036C8E999E}"/>
              </a:ext>
            </a:extLst>
          </p:cNvPr>
          <p:cNvSpPr>
            <a:spLocks noGrp="1"/>
          </p:cNvSpPr>
          <p:nvPr/>
        </p:nvSpPr>
        <p:spPr>
          <a:xfrm>
            <a:off x="12024360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</a:t>
            </a:r>
          </a:p>
        </p:txBody>
      </p:sp>
      <p:sp>
        <p:nvSpPr>
          <p:cNvPr id="5395" name="TextBox 5394">
            <a:extLst>
              <a:ext uri="{FF2B5EF4-FFF2-40B4-BE49-F238E27FC236}">
                <a16:creationId xmlns:a16="http://schemas.microsoft.com/office/drawing/2014/main" id="{74424C2E-5AA7-4A7A-8770-522E7B7E6349}"/>
              </a:ext>
            </a:extLst>
          </p:cNvPr>
          <p:cNvSpPr>
            <a:spLocks noGrp="1"/>
          </p:cNvSpPr>
          <p:nvPr/>
        </p:nvSpPr>
        <p:spPr>
          <a:xfrm>
            <a:off x="1210437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k: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chunk_id: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item_id | message_id</a:t>
            </a:r>
          </a:p>
        </p:txBody>
      </p:sp>
      <p:sp>
        <p:nvSpPr>
          <p:cNvPr id="5396" name="Rectangle 5395">
            <a:extLst>
              <a:ext uri="{FF2B5EF4-FFF2-40B4-BE49-F238E27FC236}">
                <a16:creationId xmlns:a16="http://schemas.microsoft.com/office/drawing/2014/main" id="{ECAF4B5C-6211-4001-AD07-AE95D495DF37}"/>
              </a:ext>
            </a:extLst>
          </p:cNvPr>
          <p:cNvSpPr>
            <a:spLocks noGrp="1"/>
          </p:cNvSpPr>
          <p:nvPr/>
        </p:nvSpPr>
        <p:spPr>
          <a:xfrm>
            <a:off x="14824709" y="6861657"/>
            <a:ext cx="2228850" cy="155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7" name="Rectangle 5396">
            <a:extLst>
              <a:ext uri="{FF2B5EF4-FFF2-40B4-BE49-F238E27FC236}">
                <a16:creationId xmlns:a16="http://schemas.microsoft.com/office/drawing/2014/main" id="{E01D73A1-FA37-4F69-B19B-C0D8B877F6EF}"/>
              </a:ext>
            </a:extLst>
          </p:cNvPr>
          <p:cNvSpPr>
            <a:spLocks noGrp="1"/>
          </p:cNvSpPr>
          <p:nvPr/>
        </p:nvSpPr>
        <p:spPr>
          <a:xfrm>
            <a:off x="14824709" y="6861657"/>
            <a:ext cx="2228850" cy="321868"/>
          </a:xfrm>
          <a:prstGeom prst="rect">
            <a:avLst/>
          </a:prstGeom>
          <a:solidFill>
            <a:srgbClr val="E6E9F1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Facility</a:t>
            </a:r>
          </a:p>
        </p:txBody>
      </p:sp>
      <p:sp>
        <p:nvSpPr>
          <p:cNvPr id="5398" name="TextBox 5397">
            <a:extLst>
              <a:ext uri="{FF2B5EF4-FFF2-40B4-BE49-F238E27FC236}">
                <a16:creationId xmlns:a16="http://schemas.microsoft.com/office/drawing/2014/main" id="{A0CD1F89-D4DD-43D7-92BE-30B51DD26D65}"/>
              </a:ext>
            </a:extLst>
          </p:cNvPr>
          <p:cNvSpPr>
            <a:spLocks noGrp="1"/>
          </p:cNvSpPr>
          <p:nvPr/>
        </p:nvSpPr>
        <p:spPr>
          <a:xfrm>
            <a:off x="14904720" y="7223760"/>
            <a:ext cx="2114550" cy="1176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id: str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type: FacilityEnum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grade: int</a:t>
            </a:r>
          </a:p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+ capacity: int</a:t>
            </a:r>
          </a:p>
        </p:txBody>
      </p:sp>
      <p:sp>
        <p:nvSpPr>
          <p:cNvPr id="5399" name="Connector 5398">
            <a:extLst>
              <a:ext uri="{FF2B5EF4-FFF2-40B4-BE49-F238E27FC236}">
                <a16:creationId xmlns:a16="http://schemas.microsoft.com/office/drawing/2014/main" id="{5C765235-8E5F-467C-AB83-0B634CB2FE94}"/>
              </a:ext>
            </a:extLst>
          </p:cNvPr>
          <p:cNvSpPr>
            <a:spLocks noGrp="1"/>
          </p:cNvSpPr>
          <p:nvPr/>
        </p:nvSpPr>
        <p:spPr>
          <a:xfrm flipH="1" flipV="1">
            <a:off x="270891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0" name="TextBox 5399">
            <a:extLst>
              <a:ext uri="{FF2B5EF4-FFF2-40B4-BE49-F238E27FC236}">
                <a16:creationId xmlns:a16="http://schemas.microsoft.com/office/drawing/2014/main" id="{B01ED856-B38C-43FD-880C-2BF6FE1FA110}"/>
              </a:ext>
            </a:extLst>
          </p:cNvPr>
          <p:cNvSpPr>
            <a:spLocks noGrp="1"/>
          </p:cNvSpPr>
          <p:nvPr/>
        </p:nvSpPr>
        <p:spPr>
          <a:xfrm>
            <a:off x="343471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1" name="TextBox 5400">
            <a:extLst>
              <a:ext uri="{FF2B5EF4-FFF2-40B4-BE49-F238E27FC236}">
                <a16:creationId xmlns:a16="http://schemas.microsoft.com/office/drawing/2014/main" id="{062B8936-325A-4882-BFEB-A5464D7286CE}"/>
              </a:ext>
            </a:extLst>
          </p:cNvPr>
          <p:cNvSpPr>
            <a:spLocks noGrp="1"/>
          </p:cNvSpPr>
          <p:nvPr/>
        </p:nvSpPr>
        <p:spPr>
          <a:xfrm>
            <a:off x="2592324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2" name="Connector 5401">
            <a:extLst>
              <a:ext uri="{FF2B5EF4-FFF2-40B4-BE49-F238E27FC236}">
                <a16:creationId xmlns:a16="http://schemas.microsoft.com/office/drawing/2014/main" id="{7164B0A2-4BAC-419B-B136-A4BA4C5B0D9A}"/>
              </a:ext>
            </a:extLst>
          </p:cNvPr>
          <p:cNvSpPr>
            <a:spLocks noGrp="1"/>
          </p:cNvSpPr>
          <p:nvPr/>
        </p:nvSpPr>
        <p:spPr>
          <a:xfrm flipV="1">
            <a:off x="4737735" y="3954780"/>
            <a:ext cx="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3" name="TextBox 5402">
            <a:extLst>
              <a:ext uri="{FF2B5EF4-FFF2-40B4-BE49-F238E27FC236}">
                <a16:creationId xmlns:a16="http://schemas.microsoft.com/office/drawing/2014/main" id="{46AB9E19-267F-4F1E-A325-A7CBCCAA034C}"/>
              </a:ext>
            </a:extLst>
          </p:cNvPr>
          <p:cNvSpPr>
            <a:spLocks noGrp="1"/>
          </p:cNvSpPr>
          <p:nvPr/>
        </p:nvSpPr>
        <p:spPr>
          <a:xfrm>
            <a:off x="4806315" y="439734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4" name="TextBox 5403">
            <a:extLst>
              <a:ext uri="{FF2B5EF4-FFF2-40B4-BE49-F238E27FC236}">
                <a16:creationId xmlns:a16="http://schemas.microsoft.com/office/drawing/2014/main" id="{2FBE6C83-5C80-40C7-A626-5D806D4118DC}"/>
              </a:ext>
            </a:extLst>
          </p:cNvPr>
          <p:cNvSpPr>
            <a:spLocks noGrp="1"/>
          </p:cNvSpPr>
          <p:nvPr/>
        </p:nvSpPr>
        <p:spPr>
          <a:xfrm>
            <a:off x="4806315" y="398495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5" name="Connector 5404">
            <a:extLst>
              <a:ext uri="{FF2B5EF4-FFF2-40B4-BE49-F238E27FC236}">
                <a16:creationId xmlns:a16="http://schemas.microsoft.com/office/drawing/2014/main" id="{7FFB791F-3169-4FE1-807B-7EB50BF26A4B}"/>
              </a:ext>
            </a:extLst>
          </p:cNvPr>
          <p:cNvSpPr>
            <a:spLocks noGrp="1"/>
          </p:cNvSpPr>
          <p:nvPr/>
        </p:nvSpPr>
        <p:spPr>
          <a:xfrm flipV="1">
            <a:off x="550926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6" name="TextBox 5405">
            <a:extLst>
              <a:ext uri="{FF2B5EF4-FFF2-40B4-BE49-F238E27FC236}">
                <a16:creationId xmlns:a16="http://schemas.microsoft.com/office/drawing/2014/main" id="{0B79DC62-5091-4283-B75A-B9C22DC3CA1B}"/>
              </a:ext>
            </a:extLst>
          </p:cNvPr>
          <p:cNvSpPr>
            <a:spLocks noGrp="1"/>
          </p:cNvSpPr>
          <p:nvPr/>
        </p:nvSpPr>
        <p:spPr>
          <a:xfrm>
            <a:off x="575500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07" name="TextBox 5406">
            <a:extLst>
              <a:ext uri="{FF2B5EF4-FFF2-40B4-BE49-F238E27FC236}">
                <a16:creationId xmlns:a16="http://schemas.microsoft.com/office/drawing/2014/main" id="{86F0084C-C02D-401B-AE2F-21A69709F493}"/>
              </a:ext>
            </a:extLst>
          </p:cNvPr>
          <p:cNvSpPr>
            <a:spLocks noGrp="1"/>
          </p:cNvSpPr>
          <p:nvPr/>
        </p:nvSpPr>
        <p:spPr>
          <a:xfrm>
            <a:off x="6597396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08" name="Connector 5407">
            <a:extLst>
              <a:ext uri="{FF2B5EF4-FFF2-40B4-BE49-F238E27FC236}">
                <a16:creationId xmlns:a16="http://schemas.microsoft.com/office/drawing/2014/main" id="{5EAB9CFC-13CA-4A39-A65C-5D8D254C3BB1}"/>
              </a:ext>
            </a:extLst>
          </p:cNvPr>
          <p:cNvSpPr>
            <a:spLocks noGrp="1"/>
          </p:cNvSpPr>
          <p:nvPr/>
        </p:nvSpPr>
        <p:spPr>
          <a:xfrm flipH="1">
            <a:off x="3051810" y="5408218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09" name="TextBox 5408">
            <a:extLst>
              <a:ext uri="{FF2B5EF4-FFF2-40B4-BE49-F238E27FC236}">
                <a16:creationId xmlns:a16="http://schemas.microsoft.com/office/drawing/2014/main" id="{780ACDE7-9A5F-4E81-A738-A06A9E297233}"/>
              </a:ext>
            </a:extLst>
          </p:cNvPr>
          <p:cNvSpPr>
            <a:spLocks noGrp="1"/>
          </p:cNvSpPr>
          <p:nvPr/>
        </p:nvSpPr>
        <p:spPr>
          <a:xfrm>
            <a:off x="328041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0" name="TextBox 5409">
            <a:extLst>
              <a:ext uri="{FF2B5EF4-FFF2-40B4-BE49-F238E27FC236}">
                <a16:creationId xmlns:a16="http://schemas.microsoft.com/office/drawing/2014/main" id="{90C06E31-55BB-47D7-9333-D6B85B1666E8}"/>
              </a:ext>
            </a:extLst>
          </p:cNvPr>
          <p:cNvSpPr>
            <a:spLocks noGrp="1"/>
          </p:cNvSpPr>
          <p:nvPr/>
        </p:nvSpPr>
        <p:spPr>
          <a:xfrm>
            <a:off x="3120389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1" name="Connector 5410">
            <a:extLst>
              <a:ext uri="{FF2B5EF4-FFF2-40B4-BE49-F238E27FC236}">
                <a16:creationId xmlns:a16="http://schemas.microsoft.com/office/drawing/2014/main" id="{BAC7981E-01AE-48AF-8262-C8007315EC1E}"/>
              </a:ext>
            </a:extLst>
          </p:cNvPr>
          <p:cNvSpPr>
            <a:spLocks noGrp="1"/>
          </p:cNvSpPr>
          <p:nvPr/>
        </p:nvSpPr>
        <p:spPr>
          <a:xfrm>
            <a:off x="5852160" y="5408218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2" name="TextBox 5411">
            <a:extLst>
              <a:ext uri="{FF2B5EF4-FFF2-40B4-BE49-F238E27FC236}">
                <a16:creationId xmlns:a16="http://schemas.microsoft.com/office/drawing/2014/main" id="{A20E2617-FCDF-401C-988A-6905E4BD7669}"/>
              </a:ext>
            </a:extLst>
          </p:cNvPr>
          <p:cNvSpPr>
            <a:spLocks noGrp="1"/>
          </p:cNvSpPr>
          <p:nvPr/>
        </p:nvSpPr>
        <p:spPr>
          <a:xfrm>
            <a:off x="592074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3" name="TextBox 5412">
            <a:extLst>
              <a:ext uri="{FF2B5EF4-FFF2-40B4-BE49-F238E27FC236}">
                <a16:creationId xmlns:a16="http://schemas.microsoft.com/office/drawing/2014/main" id="{C5249757-6632-42D7-AC8C-7FFE0BC36AF7}"/>
              </a:ext>
            </a:extLst>
          </p:cNvPr>
          <p:cNvSpPr>
            <a:spLocks noGrp="1"/>
          </p:cNvSpPr>
          <p:nvPr/>
        </p:nvSpPr>
        <p:spPr>
          <a:xfrm>
            <a:off x="6080760" y="517687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4" name="Connector 5413">
            <a:extLst>
              <a:ext uri="{FF2B5EF4-FFF2-40B4-BE49-F238E27FC236}">
                <a16:creationId xmlns:a16="http://schemas.microsoft.com/office/drawing/2014/main" id="{B25EBC09-3582-48B0-BAF3-B133FABAA83E}"/>
              </a:ext>
            </a:extLst>
          </p:cNvPr>
          <p:cNvSpPr>
            <a:spLocks noGrp="1"/>
          </p:cNvSpPr>
          <p:nvPr/>
        </p:nvSpPr>
        <p:spPr>
          <a:xfrm flipH="1">
            <a:off x="2708910" y="6187744"/>
            <a:ext cx="125730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5" name="TextBox 5414">
            <a:extLst>
              <a:ext uri="{FF2B5EF4-FFF2-40B4-BE49-F238E27FC236}">
                <a16:creationId xmlns:a16="http://schemas.microsoft.com/office/drawing/2014/main" id="{040AC3BF-24F3-4166-BDC4-51D7FE9004EB}"/>
              </a:ext>
            </a:extLst>
          </p:cNvPr>
          <p:cNvSpPr>
            <a:spLocks noGrp="1"/>
          </p:cNvSpPr>
          <p:nvPr/>
        </p:nvSpPr>
        <p:spPr>
          <a:xfrm>
            <a:off x="343471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16" name="TextBox 5415">
            <a:extLst>
              <a:ext uri="{FF2B5EF4-FFF2-40B4-BE49-F238E27FC236}">
                <a16:creationId xmlns:a16="http://schemas.microsoft.com/office/drawing/2014/main" id="{EAA5087E-8E8E-4036-AD6E-4F35321F269E}"/>
              </a:ext>
            </a:extLst>
          </p:cNvPr>
          <p:cNvSpPr>
            <a:spLocks noGrp="1"/>
          </p:cNvSpPr>
          <p:nvPr/>
        </p:nvSpPr>
        <p:spPr>
          <a:xfrm>
            <a:off x="2592324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17" name="Connector 5416">
            <a:extLst>
              <a:ext uri="{FF2B5EF4-FFF2-40B4-BE49-F238E27FC236}">
                <a16:creationId xmlns:a16="http://schemas.microsoft.com/office/drawing/2014/main" id="{17AEFEF6-5F1A-4AAD-975B-3B47A7CB37BA}"/>
              </a:ext>
            </a:extLst>
          </p:cNvPr>
          <p:cNvSpPr>
            <a:spLocks noGrp="1"/>
          </p:cNvSpPr>
          <p:nvPr/>
        </p:nvSpPr>
        <p:spPr>
          <a:xfrm>
            <a:off x="473773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18" name="TextBox 5417">
            <a:extLst>
              <a:ext uri="{FF2B5EF4-FFF2-40B4-BE49-F238E27FC236}">
                <a16:creationId xmlns:a16="http://schemas.microsoft.com/office/drawing/2014/main" id="{93999403-5D79-4E82-A44D-14C062845BCC}"/>
              </a:ext>
            </a:extLst>
          </p:cNvPr>
          <p:cNvSpPr>
            <a:spLocks noGrp="1"/>
          </p:cNvSpPr>
          <p:nvPr/>
        </p:nvSpPr>
        <p:spPr>
          <a:xfrm>
            <a:off x="480631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19" name="TextBox 5418">
            <a:extLst>
              <a:ext uri="{FF2B5EF4-FFF2-40B4-BE49-F238E27FC236}">
                <a16:creationId xmlns:a16="http://schemas.microsoft.com/office/drawing/2014/main" id="{6D82D419-592B-4492-9E87-BACA9B2B6E8B}"/>
              </a:ext>
            </a:extLst>
          </p:cNvPr>
          <p:cNvSpPr>
            <a:spLocks noGrp="1"/>
          </p:cNvSpPr>
          <p:nvPr/>
        </p:nvSpPr>
        <p:spPr>
          <a:xfrm>
            <a:off x="480631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0" name="Connector 5419">
            <a:extLst>
              <a:ext uri="{FF2B5EF4-FFF2-40B4-BE49-F238E27FC236}">
                <a16:creationId xmlns:a16="http://schemas.microsoft.com/office/drawing/2014/main" id="{5A388EAC-53C1-4F5F-B1AD-C607C89616FF}"/>
              </a:ext>
            </a:extLst>
          </p:cNvPr>
          <p:cNvSpPr>
            <a:spLocks noGrp="1"/>
          </p:cNvSpPr>
          <p:nvPr/>
        </p:nvSpPr>
        <p:spPr>
          <a:xfrm>
            <a:off x="5509260" y="6187744"/>
            <a:ext cx="1257300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1" name="TextBox 5420">
            <a:extLst>
              <a:ext uri="{FF2B5EF4-FFF2-40B4-BE49-F238E27FC236}">
                <a16:creationId xmlns:a16="http://schemas.microsoft.com/office/drawing/2014/main" id="{7CFC66FA-48BA-440A-927C-B1480511E080}"/>
              </a:ext>
            </a:extLst>
          </p:cNvPr>
          <p:cNvSpPr>
            <a:spLocks noGrp="1"/>
          </p:cNvSpPr>
          <p:nvPr/>
        </p:nvSpPr>
        <p:spPr>
          <a:xfrm>
            <a:off x="575500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22" name="TextBox 5421">
            <a:extLst>
              <a:ext uri="{FF2B5EF4-FFF2-40B4-BE49-F238E27FC236}">
                <a16:creationId xmlns:a16="http://schemas.microsoft.com/office/drawing/2014/main" id="{B238A6E7-90F3-487E-A4B6-601133359A82}"/>
              </a:ext>
            </a:extLst>
          </p:cNvPr>
          <p:cNvSpPr>
            <a:spLocks noGrp="1"/>
          </p:cNvSpPr>
          <p:nvPr/>
        </p:nvSpPr>
        <p:spPr>
          <a:xfrm>
            <a:off x="6597396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3" name="Connector 5422">
            <a:extLst>
              <a:ext uri="{FF2B5EF4-FFF2-40B4-BE49-F238E27FC236}">
                <a16:creationId xmlns:a16="http://schemas.microsoft.com/office/drawing/2014/main" id="{E08F5A90-465F-4278-B407-02F85EB1731D}"/>
              </a:ext>
            </a:extLst>
          </p:cNvPr>
          <p:cNvSpPr>
            <a:spLocks noGrp="1"/>
          </p:cNvSpPr>
          <p:nvPr/>
        </p:nvSpPr>
        <p:spPr>
          <a:xfrm>
            <a:off x="7538085" y="3954780"/>
            <a:ext cx="0" cy="673912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4" name="TextBox 5423">
            <a:extLst>
              <a:ext uri="{FF2B5EF4-FFF2-40B4-BE49-F238E27FC236}">
                <a16:creationId xmlns:a16="http://schemas.microsoft.com/office/drawing/2014/main" id="{5A108BA8-8657-4E0B-BA7A-2081E672FC2C}"/>
              </a:ext>
            </a:extLst>
          </p:cNvPr>
          <p:cNvSpPr>
            <a:spLocks noGrp="1"/>
          </p:cNvSpPr>
          <p:nvPr/>
        </p:nvSpPr>
        <p:spPr>
          <a:xfrm>
            <a:off x="7606665" y="3984955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25" name="TextBox 5424">
            <a:extLst>
              <a:ext uri="{FF2B5EF4-FFF2-40B4-BE49-F238E27FC236}">
                <a16:creationId xmlns:a16="http://schemas.microsoft.com/office/drawing/2014/main" id="{20E35FC2-D397-4B6A-A73A-D19ED8E6A81D}"/>
              </a:ext>
            </a:extLst>
          </p:cNvPr>
          <p:cNvSpPr>
            <a:spLocks noGrp="1"/>
          </p:cNvSpPr>
          <p:nvPr/>
        </p:nvSpPr>
        <p:spPr>
          <a:xfrm>
            <a:off x="7606665" y="439734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26" name="Connector 5425">
            <a:extLst>
              <a:ext uri="{FF2B5EF4-FFF2-40B4-BE49-F238E27FC236}">
                <a16:creationId xmlns:a16="http://schemas.microsoft.com/office/drawing/2014/main" id="{AF935788-76B2-433F-8D44-4C1B2FE5611D}"/>
              </a:ext>
            </a:extLst>
          </p:cNvPr>
          <p:cNvSpPr>
            <a:spLocks noGrp="1"/>
          </p:cNvSpPr>
          <p:nvPr/>
        </p:nvSpPr>
        <p:spPr>
          <a:xfrm flipV="1">
            <a:off x="8309610" y="3954780"/>
            <a:ext cx="1257300" cy="673912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27" name="TextBox 5426">
            <a:extLst>
              <a:ext uri="{FF2B5EF4-FFF2-40B4-BE49-F238E27FC236}">
                <a16:creationId xmlns:a16="http://schemas.microsoft.com/office/drawing/2014/main" id="{C02AD347-D7AF-44DD-9E02-469B75482E19}"/>
              </a:ext>
            </a:extLst>
          </p:cNvPr>
          <p:cNvSpPr>
            <a:spLocks noGrp="1"/>
          </p:cNvSpPr>
          <p:nvPr/>
        </p:nvSpPr>
        <p:spPr>
          <a:xfrm>
            <a:off x="8555355" y="4477313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28" name="TextBox 5427">
            <a:extLst>
              <a:ext uri="{FF2B5EF4-FFF2-40B4-BE49-F238E27FC236}">
                <a16:creationId xmlns:a16="http://schemas.microsoft.com/office/drawing/2014/main" id="{4F1BC05D-D2F6-4785-9B76-82D3323FB737}"/>
              </a:ext>
            </a:extLst>
          </p:cNvPr>
          <p:cNvSpPr>
            <a:spLocks noGrp="1"/>
          </p:cNvSpPr>
          <p:nvPr/>
        </p:nvSpPr>
        <p:spPr>
          <a:xfrm>
            <a:off x="9397746" y="397550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8</a:t>
            </a:r>
          </a:p>
        </p:txBody>
      </p:sp>
      <p:sp>
        <p:nvSpPr>
          <p:cNvPr id="5429" name="Connector 5428">
            <a:extLst>
              <a:ext uri="{FF2B5EF4-FFF2-40B4-BE49-F238E27FC236}">
                <a16:creationId xmlns:a16="http://schemas.microsoft.com/office/drawing/2014/main" id="{823BDE1B-07F4-4512-A572-4EB080581C2E}"/>
              </a:ext>
            </a:extLst>
          </p:cNvPr>
          <p:cNvSpPr>
            <a:spLocks noGrp="1"/>
          </p:cNvSpPr>
          <p:nvPr/>
        </p:nvSpPr>
        <p:spPr>
          <a:xfrm>
            <a:off x="753808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0" name="TextBox 5429">
            <a:extLst>
              <a:ext uri="{FF2B5EF4-FFF2-40B4-BE49-F238E27FC236}">
                <a16:creationId xmlns:a16="http://schemas.microsoft.com/office/drawing/2014/main" id="{6D1A4039-923E-4EE9-BF59-B8C69A3AE83E}"/>
              </a:ext>
            </a:extLst>
          </p:cNvPr>
          <p:cNvSpPr>
            <a:spLocks noGrp="1"/>
          </p:cNvSpPr>
          <p:nvPr/>
        </p:nvSpPr>
        <p:spPr>
          <a:xfrm>
            <a:off x="760666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1" name="TextBox 5430">
            <a:extLst>
              <a:ext uri="{FF2B5EF4-FFF2-40B4-BE49-F238E27FC236}">
                <a16:creationId xmlns:a16="http://schemas.microsoft.com/office/drawing/2014/main" id="{A32FBB02-2A46-4DA9-BE6F-92931BA52CE6}"/>
              </a:ext>
            </a:extLst>
          </p:cNvPr>
          <p:cNvSpPr>
            <a:spLocks noGrp="1"/>
          </p:cNvSpPr>
          <p:nvPr/>
        </p:nvSpPr>
        <p:spPr>
          <a:xfrm>
            <a:off x="760666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32" name="Connector 5431">
            <a:extLst>
              <a:ext uri="{FF2B5EF4-FFF2-40B4-BE49-F238E27FC236}">
                <a16:creationId xmlns:a16="http://schemas.microsoft.com/office/drawing/2014/main" id="{C009756E-E00C-4479-93B0-F7850713D941}"/>
              </a:ext>
            </a:extLst>
          </p:cNvPr>
          <p:cNvSpPr>
            <a:spLocks noGrp="1"/>
          </p:cNvSpPr>
          <p:nvPr/>
        </p:nvSpPr>
        <p:spPr>
          <a:xfrm>
            <a:off x="5852160" y="7641183"/>
            <a:ext cx="571500" cy="0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3" name="TextBox 5432">
            <a:extLst>
              <a:ext uri="{FF2B5EF4-FFF2-40B4-BE49-F238E27FC236}">
                <a16:creationId xmlns:a16="http://schemas.microsoft.com/office/drawing/2014/main" id="{7650C0FF-6A87-4A6B-9920-6CD296E4D4FD}"/>
              </a:ext>
            </a:extLst>
          </p:cNvPr>
          <p:cNvSpPr>
            <a:spLocks noGrp="1"/>
          </p:cNvSpPr>
          <p:nvPr/>
        </p:nvSpPr>
        <p:spPr>
          <a:xfrm>
            <a:off x="592074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4" name="TextBox 5433">
            <a:extLst>
              <a:ext uri="{FF2B5EF4-FFF2-40B4-BE49-F238E27FC236}">
                <a16:creationId xmlns:a16="http://schemas.microsoft.com/office/drawing/2014/main" id="{E06C1806-86E0-43E6-88E4-D95E0A9F12DB}"/>
              </a:ext>
            </a:extLst>
          </p:cNvPr>
          <p:cNvSpPr>
            <a:spLocks noGrp="1"/>
          </p:cNvSpPr>
          <p:nvPr/>
        </p:nvSpPr>
        <p:spPr>
          <a:xfrm>
            <a:off x="608076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35" name="Connector 5434">
            <a:extLst>
              <a:ext uri="{FF2B5EF4-FFF2-40B4-BE49-F238E27FC236}">
                <a16:creationId xmlns:a16="http://schemas.microsoft.com/office/drawing/2014/main" id="{C2EC23DC-41B6-4D29-A9A2-DED1AA17302D}"/>
              </a:ext>
            </a:extLst>
          </p:cNvPr>
          <p:cNvSpPr>
            <a:spLocks noGrp="1"/>
          </p:cNvSpPr>
          <p:nvPr/>
        </p:nvSpPr>
        <p:spPr>
          <a:xfrm>
            <a:off x="8652510" y="7641183"/>
            <a:ext cx="571500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6" name="TextBox 5435">
            <a:extLst>
              <a:ext uri="{FF2B5EF4-FFF2-40B4-BE49-F238E27FC236}">
                <a16:creationId xmlns:a16="http://schemas.microsoft.com/office/drawing/2014/main" id="{B051FF04-B4FC-4EB7-82C2-A6B07BBC143D}"/>
              </a:ext>
            </a:extLst>
          </p:cNvPr>
          <p:cNvSpPr>
            <a:spLocks noGrp="1"/>
          </p:cNvSpPr>
          <p:nvPr/>
        </p:nvSpPr>
        <p:spPr>
          <a:xfrm>
            <a:off x="872109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37" name="TextBox 5436">
            <a:extLst>
              <a:ext uri="{FF2B5EF4-FFF2-40B4-BE49-F238E27FC236}">
                <a16:creationId xmlns:a16="http://schemas.microsoft.com/office/drawing/2014/main" id="{2B46C659-D8A7-42EC-902F-E4E6156B0141}"/>
              </a:ext>
            </a:extLst>
          </p:cNvPr>
          <p:cNvSpPr>
            <a:spLocks noGrp="1"/>
          </p:cNvSpPr>
          <p:nvPr/>
        </p:nvSpPr>
        <p:spPr>
          <a:xfrm>
            <a:off x="888111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≤14</a:t>
            </a:r>
          </a:p>
        </p:txBody>
      </p:sp>
      <p:sp>
        <p:nvSpPr>
          <p:cNvPr id="5438" name="Connector 5437">
            <a:extLst>
              <a:ext uri="{FF2B5EF4-FFF2-40B4-BE49-F238E27FC236}">
                <a16:creationId xmlns:a16="http://schemas.microsoft.com/office/drawing/2014/main" id="{AB31E3C0-D99D-4E75-B3C9-0C637FCD49A5}"/>
              </a:ext>
            </a:extLst>
          </p:cNvPr>
          <p:cNvSpPr>
            <a:spLocks noGrp="1"/>
          </p:cNvSpPr>
          <p:nvPr/>
        </p:nvSpPr>
        <p:spPr>
          <a:xfrm>
            <a:off x="11452859" y="7641183"/>
            <a:ext cx="571501" cy="0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39" name="TextBox 5438">
            <a:extLst>
              <a:ext uri="{FF2B5EF4-FFF2-40B4-BE49-F238E27FC236}">
                <a16:creationId xmlns:a16="http://schemas.microsoft.com/office/drawing/2014/main" id="{9405FF26-3773-4F88-9818-26C9AD7E497F}"/>
              </a:ext>
            </a:extLst>
          </p:cNvPr>
          <p:cNvSpPr>
            <a:spLocks noGrp="1"/>
          </p:cNvSpPr>
          <p:nvPr/>
        </p:nvSpPr>
        <p:spPr>
          <a:xfrm>
            <a:off x="1152144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0" name="TextBox 5439">
            <a:extLst>
              <a:ext uri="{FF2B5EF4-FFF2-40B4-BE49-F238E27FC236}">
                <a16:creationId xmlns:a16="http://schemas.microsoft.com/office/drawing/2014/main" id="{89B03DC2-6780-438C-A1D8-E3BC9E16BA4B}"/>
              </a:ext>
            </a:extLst>
          </p:cNvPr>
          <p:cNvSpPr>
            <a:spLocks noGrp="1"/>
          </p:cNvSpPr>
          <p:nvPr/>
        </p:nvSpPr>
        <p:spPr>
          <a:xfrm>
            <a:off x="11681460" y="740984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1" name="Connector 5440">
            <a:extLst>
              <a:ext uri="{FF2B5EF4-FFF2-40B4-BE49-F238E27FC236}">
                <a16:creationId xmlns:a16="http://schemas.microsoft.com/office/drawing/2014/main" id="{97DEBC45-6A78-44A1-9DB0-EDF8F36C79B1}"/>
              </a:ext>
            </a:extLst>
          </p:cNvPr>
          <p:cNvSpPr>
            <a:spLocks noGrp="1"/>
          </p:cNvSpPr>
          <p:nvPr/>
        </p:nvSpPr>
        <p:spPr>
          <a:xfrm>
            <a:off x="11109959" y="6187744"/>
            <a:ext cx="1257301" cy="673913"/>
          </a:xfrm>
          <a:prstGeom prst="line">
            <a:avLst/>
          </a:prstGeom>
          <a:ln w="13970">
            <a:solidFill>
              <a:srgbClr val="4A4F66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2" name="TextBox 5441">
            <a:extLst>
              <a:ext uri="{FF2B5EF4-FFF2-40B4-BE49-F238E27FC236}">
                <a16:creationId xmlns:a16="http://schemas.microsoft.com/office/drawing/2014/main" id="{AFB5C835-6EF7-4469-961A-44B9C47C9001}"/>
              </a:ext>
            </a:extLst>
          </p:cNvPr>
          <p:cNvSpPr>
            <a:spLocks noGrp="1"/>
          </p:cNvSpPr>
          <p:nvPr/>
        </p:nvSpPr>
        <p:spPr>
          <a:xfrm>
            <a:off x="11355705" y="623853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3" name="TextBox 5442">
            <a:extLst>
              <a:ext uri="{FF2B5EF4-FFF2-40B4-BE49-F238E27FC236}">
                <a16:creationId xmlns:a16="http://schemas.microsoft.com/office/drawing/2014/main" id="{B4724850-42EC-468A-AF72-E0A4B03C6906}"/>
              </a:ext>
            </a:extLst>
          </p:cNvPr>
          <p:cNvSpPr>
            <a:spLocks noGrp="1"/>
          </p:cNvSpPr>
          <p:nvPr/>
        </p:nvSpPr>
        <p:spPr>
          <a:xfrm>
            <a:off x="12198096" y="6639769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4" name="Connector 5443">
            <a:extLst>
              <a:ext uri="{FF2B5EF4-FFF2-40B4-BE49-F238E27FC236}">
                <a16:creationId xmlns:a16="http://schemas.microsoft.com/office/drawing/2014/main" id="{5F8CF536-4E54-4A2E-BC78-BEFE168B2BD0}"/>
              </a:ext>
            </a:extLst>
          </p:cNvPr>
          <p:cNvSpPr>
            <a:spLocks noGrp="1"/>
          </p:cNvSpPr>
          <p:nvPr/>
        </p:nvSpPr>
        <p:spPr>
          <a:xfrm>
            <a:off x="13138785" y="6187744"/>
            <a:ext cx="0" cy="673913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5" name="TextBox 5444">
            <a:extLst>
              <a:ext uri="{FF2B5EF4-FFF2-40B4-BE49-F238E27FC236}">
                <a16:creationId xmlns:a16="http://schemas.microsoft.com/office/drawing/2014/main" id="{EA6744EC-BAA3-49D9-83A0-E3ADE7014C8F}"/>
              </a:ext>
            </a:extLst>
          </p:cNvPr>
          <p:cNvSpPr>
            <a:spLocks noGrp="1"/>
          </p:cNvSpPr>
          <p:nvPr/>
        </p:nvSpPr>
        <p:spPr>
          <a:xfrm>
            <a:off x="13207365" y="621792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46" name="TextBox 5445">
            <a:extLst>
              <a:ext uri="{FF2B5EF4-FFF2-40B4-BE49-F238E27FC236}">
                <a16:creationId xmlns:a16="http://schemas.microsoft.com/office/drawing/2014/main" id="{31C31F68-4E3E-4B60-B33F-589D6432277A}"/>
              </a:ext>
            </a:extLst>
          </p:cNvPr>
          <p:cNvSpPr>
            <a:spLocks noGrp="1"/>
          </p:cNvSpPr>
          <p:nvPr/>
        </p:nvSpPr>
        <p:spPr>
          <a:xfrm>
            <a:off x="13207365" y="663031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47" name="Connector 5446">
            <a:extLst>
              <a:ext uri="{FF2B5EF4-FFF2-40B4-BE49-F238E27FC236}">
                <a16:creationId xmlns:a16="http://schemas.microsoft.com/office/drawing/2014/main" id="{D41F3EAF-1EFA-47DA-8361-6C2215AB4E6A}"/>
              </a:ext>
            </a:extLst>
          </p:cNvPr>
          <p:cNvSpPr>
            <a:spLocks noGrp="1"/>
          </p:cNvSpPr>
          <p:nvPr/>
        </p:nvSpPr>
        <p:spPr>
          <a:xfrm>
            <a:off x="14253210" y="3175254"/>
            <a:ext cx="571499" cy="0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48" name="TextBox 5447">
            <a:extLst>
              <a:ext uri="{FF2B5EF4-FFF2-40B4-BE49-F238E27FC236}">
                <a16:creationId xmlns:a16="http://schemas.microsoft.com/office/drawing/2014/main" id="{51F91A57-44D0-424B-8891-1EC22A934A93}"/>
              </a:ext>
            </a:extLst>
          </p:cNvPr>
          <p:cNvSpPr>
            <a:spLocks noGrp="1"/>
          </p:cNvSpPr>
          <p:nvPr/>
        </p:nvSpPr>
        <p:spPr>
          <a:xfrm>
            <a:off x="14321790" y="294391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0..1</a:t>
            </a:r>
          </a:p>
        </p:txBody>
      </p:sp>
      <p:sp>
        <p:nvSpPr>
          <p:cNvPr id="5449" name="TextBox 5448">
            <a:extLst>
              <a:ext uri="{FF2B5EF4-FFF2-40B4-BE49-F238E27FC236}">
                <a16:creationId xmlns:a16="http://schemas.microsoft.com/office/drawing/2014/main" id="{1E699747-128D-461E-8DB7-32989EF04B90}"/>
              </a:ext>
            </a:extLst>
          </p:cNvPr>
          <p:cNvSpPr>
            <a:spLocks noGrp="1"/>
          </p:cNvSpPr>
          <p:nvPr/>
        </p:nvSpPr>
        <p:spPr>
          <a:xfrm>
            <a:off x="14481810" y="2943910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50" name="Connector 5449">
            <a:extLst>
              <a:ext uri="{FF2B5EF4-FFF2-40B4-BE49-F238E27FC236}">
                <a16:creationId xmlns:a16="http://schemas.microsoft.com/office/drawing/2014/main" id="{BE32DC00-35DE-4E3D-833C-6F852386D9F5}"/>
              </a:ext>
            </a:extLst>
          </p:cNvPr>
          <p:cNvSpPr>
            <a:spLocks noGrp="1"/>
          </p:cNvSpPr>
          <p:nvPr/>
        </p:nvSpPr>
        <p:spPr>
          <a:xfrm flipH="1">
            <a:off x="11109959" y="3954780"/>
            <a:ext cx="1257301" cy="673912"/>
          </a:xfrm>
          <a:prstGeom prst="line">
            <a:avLst/>
          </a:prstGeom>
          <a:ln w="13970">
            <a:solidFill>
              <a:srgbClr val="4A4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1" name="TextBox 5450">
            <a:extLst>
              <a:ext uri="{FF2B5EF4-FFF2-40B4-BE49-F238E27FC236}">
                <a16:creationId xmlns:a16="http://schemas.microsoft.com/office/drawing/2014/main" id="{00A6E6C3-2138-4B28-936F-F744F68C67DB}"/>
              </a:ext>
            </a:extLst>
          </p:cNvPr>
          <p:cNvSpPr>
            <a:spLocks noGrp="1"/>
          </p:cNvSpPr>
          <p:nvPr/>
        </p:nvSpPr>
        <p:spPr>
          <a:xfrm>
            <a:off x="11835765" y="400557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1</a:t>
            </a:r>
          </a:p>
        </p:txBody>
      </p:sp>
      <p:sp>
        <p:nvSpPr>
          <p:cNvPr id="5452" name="TextBox 5451">
            <a:extLst>
              <a:ext uri="{FF2B5EF4-FFF2-40B4-BE49-F238E27FC236}">
                <a16:creationId xmlns:a16="http://schemas.microsoft.com/office/drawing/2014/main" id="{59CACC77-7567-42D8-AEE4-15F5C0EF8941}"/>
              </a:ext>
            </a:extLst>
          </p:cNvPr>
          <p:cNvSpPr>
            <a:spLocks noGrp="1"/>
          </p:cNvSpPr>
          <p:nvPr/>
        </p:nvSpPr>
        <p:spPr>
          <a:xfrm>
            <a:off x="10993373" y="4406804"/>
            <a:ext cx="51435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E8893A"/>
                </a:solidFill>
                <a:latin typeface="210 OmniGothic 040"/>
                <a:ea typeface="210 OmniGothic 040"/>
                <a:cs typeface="210 OmniGothic 040"/>
              </a:rPr>
              <a:t>N</a:t>
            </a:r>
          </a:p>
        </p:txBody>
      </p:sp>
      <p:sp>
        <p:nvSpPr>
          <p:cNvPr id="5453" name="TextBox 5452">
            <a:extLst>
              <a:ext uri="{FF2B5EF4-FFF2-40B4-BE49-F238E27FC236}">
                <a16:creationId xmlns:a16="http://schemas.microsoft.com/office/drawing/2014/main" id="{9BA01DD6-7E31-4045-B10C-FEDE8A2C6F18}"/>
              </a:ext>
            </a:extLst>
          </p:cNvPr>
          <p:cNvSpPr>
            <a:spLocks noGrp="1"/>
          </p:cNvSpPr>
          <p:nvPr/>
        </p:nvSpPr>
        <p:spPr>
          <a:xfrm>
            <a:off x="822960" y="8531352"/>
            <a:ext cx="1645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◆─ 합성(Composition)    ── 연관(Association)    숫자 = 다중성</a:t>
            </a:r>
          </a:p>
          <a:p>
            <a:pPr algn="l">
              <a:lnSpc>
                <a:spcPct val="110000"/>
              </a:lnSpc>
              <a:buNone/>
            </a:pPr>
            <a:r>
              <a:rPr sz="10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※ Village·Facility는 외래키 없이 SpreadSlice·FirePerimeter와 공간 교차(ST_Intersects)로 연결.  Incident는 ChatMessage도 합성으로 가지며(선 생략), User는 Incident·PredictionRun·SituationCorrection에도 행위자로 연결, RiskAssessment는 run_id로 PredictionRun을 가리킴(선 생략).</a:t>
            </a:r>
          </a:p>
        </p:txBody>
      </p:sp>
    </p:spTree>
    <p:extLst>
      <p:ext uri="{BB962C8B-B14F-4D97-AF65-F5344CB8AC3E}">
        <p14:creationId xmlns:p14="http://schemas.microsoft.com/office/powerpoint/2010/main" val="953173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2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3005"/>
          <a:stretch>
            <a:fillRect/>
          </a:stretch>
        </p:blipFill>
        <p:spPr>
          <a:xfrm>
            <a:off x="15443200" y="228600"/>
            <a:ext cx="1384300" cy="1397000"/>
          </a:xfrm>
          <a:prstGeom prst="rect">
            <a:avLst/>
          </a:prstGeom>
        </p:spPr>
      </p:pic>
      <p:sp>
        <p:nvSpPr>
          <p:cNvPr id="5348" name="Title">
            <a:extLst>
              <a:ext uri="{FF2B5EF4-FFF2-40B4-BE49-F238E27FC236}">
                <a16:creationId xmlns:a16="http://schemas.microsoft.com/office/drawing/2014/main" id="{6D832305-1961-41F9-B7A7-25F212DF969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05. 클래스 다이어그램</a:t>
            </a:r>
          </a:p>
        </p:txBody>
      </p:sp>
      <p:sp>
        <p:nvSpPr>
          <p:cNvPr id="5349" name="Subtitle">
            <a:extLst>
              <a:ext uri="{FF2B5EF4-FFF2-40B4-BE49-F238E27FC236}">
                <a16:creationId xmlns:a16="http://schemas.microsoft.com/office/drawing/2014/main" id="{4D99B63D-16E9-4B64-A349-5D6D371B83E3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4. 다이어그램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논리 컴포넌트 (의존 관계)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68</a:t>
            </a:fld>
            <a:endParaRPr/>
          </a:p>
        </p:txBody>
      </p:sp>
      <p:sp>
        <p:nvSpPr>
          <p:cNvPr id="5350" name="Connector 5349">
            <a:extLst>
              <a:ext uri="{FF2B5EF4-FFF2-40B4-BE49-F238E27FC236}">
                <a16:creationId xmlns:a16="http://schemas.microsoft.com/office/drawing/2014/main" id="{A49D85DD-9A3A-4EC0-90AC-962DCF07FCC9}"/>
              </a:ext>
            </a:extLst>
          </p:cNvPr>
          <p:cNvSpPr>
            <a:spLocks noGrp="1"/>
          </p:cNvSpPr>
          <p:nvPr/>
        </p:nvSpPr>
        <p:spPr>
          <a:xfrm>
            <a:off x="4023360" y="2677363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1" name="Connector 5350">
            <a:extLst>
              <a:ext uri="{FF2B5EF4-FFF2-40B4-BE49-F238E27FC236}">
                <a16:creationId xmlns:a16="http://schemas.microsoft.com/office/drawing/2014/main" id="{FCA29A9A-BC9D-4D37-9FAB-DC9512FF71A3}"/>
              </a:ext>
            </a:extLst>
          </p:cNvPr>
          <p:cNvSpPr>
            <a:spLocks noGrp="1"/>
          </p:cNvSpPr>
          <p:nvPr/>
        </p:nvSpPr>
        <p:spPr>
          <a:xfrm>
            <a:off x="4023360" y="3316071"/>
            <a:ext cx="1714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2" name="Connector 5351">
            <a:extLst>
              <a:ext uri="{FF2B5EF4-FFF2-40B4-BE49-F238E27FC236}">
                <a16:creationId xmlns:a16="http://schemas.microsoft.com/office/drawing/2014/main" id="{6D5CA3AF-E3A8-4185-8FD7-27504816914D}"/>
              </a:ext>
            </a:extLst>
          </p:cNvPr>
          <p:cNvSpPr>
            <a:spLocks noGrp="1"/>
          </p:cNvSpPr>
          <p:nvPr/>
        </p:nvSpPr>
        <p:spPr>
          <a:xfrm flipV="1">
            <a:off x="4194810" y="3019348"/>
            <a:ext cx="0" cy="296723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3" name="Connector 5352">
            <a:extLst>
              <a:ext uri="{FF2B5EF4-FFF2-40B4-BE49-F238E27FC236}">
                <a16:creationId xmlns:a16="http://schemas.microsoft.com/office/drawing/2014/main" id="{F55E0FEA-6809-438E-8897-EF629DD78732}"/>
              </a:ext>
            </a:extLst>
          </p:cNvPr>
          <p:cNvSpPr>
            <a:spLocks noGrp="1"/>
          </p:cNvSpPr>
          <p:nvPr/>
        </p:nvSpPr>
        <p:spPr>
          <a:xfrm>
            <a:off x="4194810" y="3019348"/>
            <a:ext cx="6286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4" name="Connector 5353">
            <a:extLst>
              <a:ext uri="{FF2B5EF4-FFF2-40B4-BE49-F238E27FC236}">
                <a16:creationId xmlns:a16="http://schemas.microsoft.com/office/drawing/2014/main" id="{E910BB8B-93EF-4B48-8258-3727894A7C50}"/>
              </a:ext>
            </a:extLst>
          </p:cNvPr>
          <p:cNvSpPr>
            <a:spLocks noGrp="1"/>
          </p:cNvSpPr>
          <p:nvPr/>
        </p:nvSpPr>
        <p:spPr>
          <a:xfrm>
            <a:off x="4023360" y="3597706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5" name="Connector 5354">
            <a:extLst>
              <a:ext uri="{FF2B5EF4-FFF2-40B4-BE49-F238E27FC236}">
                <a16:creationId xmlns:a16="http://schemas.microsoft.com/office/drawing/2014/main" id="{70EAB59E-1EAB-456A-A4F5-4628F23241FA}"/>
              </a:ext>
            </a:extLst>
          </p:cNvPr>
          <p:cNvSpPr>
            <a:spLocks noGrp="1"/>
          </p:cNvSpPr>
          <p:nvPr/>
        </p:nvSpPr>
        <p:spPr>
          <a:xfrm>
            <a:off x="4023360" y="4447641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6" name="Connector 5355">
            <a:extLst>
              <a:ext uri="{FF2B5EF4-FFF2-40B4-BE49-F238E27FC236}">
                <a16:creationId xmlns:a16="http://schemas.microsoft.com/office/drawing/2014/main" id="{A2C9D83A-2DE6-4647-8CB5-FD3F79A22D57}"/>
              </a:ext>
            </a:extLst>
          </p:cNvPr>
          <p:cNvSpPr>
            <a:spLocks noGrp="1"/>
          </p:cNvSpPr>
          <p:nvPr/>
        </p:nvSpPr>
        <p:spPr>
          <a:xfrm flipV="1">
            <a:off x="4366259" y="3849166"/>
            <a:ext cx="0" cy="598475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7" name="Connector 5356">
            <a:extLst>
              <a:ext uri="{FF2B5EF4-FFF2-40B4-BE49-F238E27FC236}">
                <a16:creationId xmlns:a16="http://schemas.microsoft.com/office/drawing/2014/main" id="{A4826872-ED17-443D-907A-E58FAD2C4B6E}"/>
              </a:ext>
            </a:extLst>
          </p:cNvPr>
          <p:cNvSpPr>
            <a:spLocks noGrp="1"/>
          </p:cNvSpPr>
          <p:nvPr/>
        </p:nvSpPr>
        <p:spPr>
          <a:xfrm>
            <a:off x="4366259" y="3849166"/>
            <a:ext cx="457201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8" name="Connector 5357">
            <a:extLst>
              <a:ext uri="{FF2B5EF4-FFF2-40B4-BE49-F238E27FC236}">
                <a16:creationId xmlns:a16="http://schemas.microsoft.com/office/drawing/2014/main" id="{BB438A80-41AF-4C28-A471-D041638B2186}"/>
              </a:ext>
            </a:extLst>
          </p:cNvPr>
          <p:cNvSpPr>
            <a:spLocks noGrp="1"/>
          </p:cNvSpPr>
          <p:nvPr/>
        </p:nvSpPr>
        <p:spPr>
          <a:xfrm>
            <a:off x="4023360" y="6082131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59" name="Connector 5358">
            <a:extLst>
              <a:ext uri="{FF2B5EF4-FFF2-40B4-BE49-F238E27FC236}">
                <a16:creationId xmlns:a16="http://schemas.microsoft.com/office/drawing/2014/main" id="{0E7C9F71-EF37-4548-9428-FD6DAB6027BD}"/>
              </a:ext>
            </a:extLst>
          </p:cNvPr>
          <p:cNvSpPr>
            <a:spLocks noGrp="1"/>
          </p:cNvSpPr>
          <p:nvPr/>
        </p:nvSpPr>
        <p:spPr>
          <a:xfrm>
            <a:off x="4023360" y="6308445"/>
            <a:ext cx="5143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0" name="Connector 5359">
            <a:extLst>
              <a:ext uri="{FF2B5EF4-FFF2-40B4-BE49-F238E27FC236}">
                <a16:creationId xmlns:a16="http://schemas.microsoft.com/office/drawing/2014/main" id="{0C96C05D-B4E3-406E-8382-35F5F6BC9BE1}"/>
              </a:ext>
            </a:extLst>
          </p:cNvPr>
          <p:cNvSpPr>
            <a:spLocks noGrp="1"/>
          </p:cNvSpPr>
          <p:nvPr/>
        </p:nvSpPr>
        <p:spPr>
          <a:xfrm flipV="1">
            <a:off x="4537710" y="4658868"/>
            <a:ext cx="0" cy="1649577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1" name="Connector 5360">
            <a:extLst>
              <a:ext uri="{FF2B5EF4-FFF2-40B4-BE49-F238E27FC236}">
                <a16:creationId xmlns:a16="http://schemas.microsoft.com/office/drawing/2014/main" id="{0433552C-5FA4-417B-A4C5-17AF4675037D}"/>
              </a:ext>
            </a:extLst>
          </p:cNvPr>
          <p:cNvSpPr>
            <a:spLocks noGrp="1"/>
          </p:cNvSpPr>
          <p:nvPr/>
        </p:nvSpPr>
        <p:spPr>
          <a:xfrm>
            <a:off x="4537710" y="4658868"/>
            <a:ext cx="2857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2" name="Connector 5361">
            <a:extLst>
              <a:ext uri="{FF2B5EF4-FFF2-40B4-BE49-F238E27FC236}">
                <a16:creationId xmlns:a16="http://schemas.microsoft.com/office/drawing/2014/main" id="{85BD1FD7-D5B0-4BC4-B6ED-C2802CCDF5B2}"/>
              </a:ext>
            </a:extLst>
          </p:cNvPr>
          <p:cNvSpPr>
            <a:spLocks noGrp="1"/>
          </p:cNvSpPr>
          <p:nvPr/>
        </p:nvSpPr>
        <p:spPr>
          <a:xfrm>
            <a:off x="4023360" y="6821424"/>
            <a:ext cx="54292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3" name="Connector 5362">
            <a:extLst>
              <a:ext uri="{FF2B5EF4-FFF2-40B4-BE49-F238E27FC236}">
                <a16:creationId xmlns:a16="http://schemas.microsoft.com/office/drawing/2014/main" id="{2B6C9F6E-D892-41AB-9650-B6D3848D1A7E}"/>
              </a:ext>
            </a:extLst>
          </p:cNvPr>
          <p:cNvSpPr>
            <a:spLocks noGrp="1"/>
          </p:cNvSpPr>
          <p:nvPr/>
        </p:nvSpPr>
        <p:spPr>
          <a:xfrm flipV="1">
            <a:off x="9452610" y="6449263"/>
            <a:ext cx="0" cy="372161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4" name="Connector 5363">
            <a:extLst>
              <a:ext uri="{FF2B5EF4-FFF2-40B4-BE49-F238E27FC236}">
                <a16:creationId xmlns:a16="http://schemas.microsoft.com/office/drawing/2014/main" id="{04ECE3E4-95BC-4410-BF7C-48E7E157D3E1}"/>
              </a:ext>
            </a:extLst>
          </p:cNvPr>
          <p:cNvSpPr>
            <a:spLocks noGrp="1"/>
          </p:cNvSpPr>
          <p:nvPr/>
        </p:nvSpPr>
        <p:spPr>
          <a:xfrm>
            <a:off x="4023360" y="7872526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6" name="Connector 5365">
            <a:extLst>
              <a:ext uri="{FF2B5EF4-FFF2-40B4-BE49-F238E27FC236}">
                <a16:creationId xmlns:a16="http://schemas.microsoft.com/office/drawing/2014/main" id="{8E317182-E39B-49C9-B774-4A46F0CFA887}"/>
              </a:ext>
            </a:extLst>
          </p:cNvPr>
          <p:cNvSpPr>
            <a:spLocks noGrp="1"/>
          </p:cNvSpPr>
          <p:nvPr/>
        </p:nvSpPr>
        <p:spPr>
          <a:xfrm>
            <a:off x="7966710" y="6082131"/>
            <a:ext cx="8001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7" name="Connector 5366">
            <a:extLst>
              <a:ext uri="{FF2B5EF4-FFF2-40B4-BE49-F238E27FC236}">
                <a16:creationId xmlns:a16="http://schemas.microsoft.com/office/drawing/2014/main" id="{EFCB6248-2987-449D-B308-F34D6515AFF0}"/>
              </a:ext>
            </a:extLst>
          </p:cNvPr>
          <p:cNvSpPr>
            <a:spLocks noGrp="1"/>
          </p:cNvSpPr>
          <p:nvPr/>
        </p:nvSpPr>
        <p:spPr>
          <a:xfrm>
            <a:off x="7966710" y="6333591"/>
            <a:ext cx="3429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8" name="Connector 5367">
            <a:extLst>
              <a:ext uri="{FF2B5EF4-FFF2-40B4-BE49-F238E27FC236}">
                <a16:creationId xmlns:a16="http://schemas.microsoft.com/office/drawing/2014/main" id="{CEDDA8B1-3361-410C-A09C-22517F3914A0}"/>
              </a:ext>
            </a:extLst>
          </p:cNvPr>
          <p:cNvSpPr>
            <a:spLocks noGrp="1"/>
          </p:cNvSpPr>
          <p:nvPr/>
        </p:nvSpPr>
        <p:spPr>
          <a:xfrm flipV="1">
            <a:off x="8309610" y="3595192"/>
            <a:ext cx="0" cy="2738399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69" name="Connector 5368">
            <a:extLst>
              <a:ext uri="{FF2B5EF4-FFF2-40B4-BE49-F238E27FC236}">
                <a16:creationId xmlns:a16="http://schemas.microsoft.com/office/drawing/2014/main" id="{65ADA4C5-F45A-466A-988F-D16345AB8BA2}"/>
              </a:ext>
            </a:extLst>
          </p:cNvPr>
          <p:cNvSpPr>
            <a:spLocks noGrp="1"/>
          </p:cNvSpPr>
          <p:nvPr/>
        </p:nvSpPr>
        <p:spPr>
          <a:xfrm>
            <a:off x="8309610" y="3595192"/>
            <a:ext cx="440054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0" name="Connector 5369">
            <a:extLst>
              <a:ext uri="{FF2B5EF4-FFF2-40B4-BE49-F238E27FC236}">
                <a16:creationId xmlns:a16="http://schemas.microsoft.com/office/drawing/2014/main" id="{FC758102-5C1D-4CAC-A53B-1C0260E97C0F}"/>
              </a:ext>
            </a:extLst>
          </p:cNvPr>
          <p:cNvSpPr>
            <a:spLocks noGrp="1"/>
          </p:cNvSpPr>
          <p:nvPr/>
        </p:nvSpPr>
        <p:spPr>
          <a:xfrm>
            <a:off x="12367260" y="3595192"/>
            <a:ext cx="0" cy="1063676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1" name="Connector 5370">
            <a:extLst>
              <a:ext uri="{FF2B5EF4-FFF2-40B4-BE49-F238E27FC236}">
                <a16:creationId xmlns:a16="http://schemas.microsoft.com/office/drawing/2014/main" id="{0755FDAE-1243-43F2-A367-188F5AA842A2}"/>
              </a:ext>
            </a:extLst>
          </p:cNvPr>
          <p:cNvSpPr>
            <a:spLocks noGrp="1"/>
          </p:cNvSpPr>
          <p:nvPr/>
        </p:nvSpPr>
        <p:spPr>
          <a:xfrm>
            <a:off x="12367260" y="4658868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2" name="Connector 5371">
            <a:extLst>
              <a:ext uri="{FF2B5EF4-FFF2-40B4-BE49-F238E27FC236}">
                <a16:creationId xmlns:a16="http://schemas.microsoft.com/office/drawing/2014/main" id="{040CC842-4F54-48AF-918C-0AFE1972C724}"/>
              </a:ext>
            </a:extLst>
          </p:cNvPr>
          <p:cNvSpPr>
            <a:spLocks noGrp="1"/>
          </p:cNvSpPr>
          <p:nvPr/>
        </p:nvSpPr>
        <p:spPr>
          <a:xfrm flipV="1">
            <a:off x="10338435" y="5357926"/>
            <a:ext cx="0" cy="422453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3" name="Connector 5372">
            <a:extLst>
              <a:ext uri="{FF2B5EF4-FFF2-40B4-BE49-F238E27FC236}">
                <a16:creationId xmlns:a16="http://schemas.microsoft.com/office/drawing/2014/main" id="{D4F38B26-90CE-45AD-A930-461B8AAED08D}"/>
              </a:ext>
            </a:extLst>
          </p:cNvPr>
          <p:cNvSpPr>
            <a:spLocks noGrp="1"/>
          </p:cNvSpPr>
          <p:nvPr/>
        </p:nvSpPr>
        <p:spPr>
          <a:xfrm>
            <a:off x="10338435" y="6449263"/>
            <a:ext cx="0" cy="452628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4" name="Connector 5373">
            <a:extLst>
              <a:ext uri="{FF2B5EF4-FFF2-40B4-BE49-F238E27FC236}">
                <a16:creationId xmlns:a16="http://schemas.microsoft.com/office/drawing/2014/main" id="{23BA874C-079E-42D6-B13C-D7242FC78A08}"/>
              </a:ext>
            </a:extLst>
          </p:cNvPr>
          <p:cNvSpPr>
            <a:spLocks noGrp="1"/>
          </p:cNvSpPr>
          <p:nvPr/>
        </p:nvSpPr>
        <p:spPr>
          <a:xfrm>
            <a:off x="11910060" y="6082131"/>
            <a:ext cx="8000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5" name="Connector 5374">
            <a:extLst>
              <a:ext uri="{FF2B5EF4-FFF2-40B4-BE49-F238E27FC236}">
                <a16:creationId xmlns:a16="http://schemas.microsoft.com/office/drawing/2014/main" id="{C40144C9-4FA2-4720-BF46-A089AE66F971}"/>
              </a:ext>
            </a:extLst>
          </p:cNvPr>
          <p:cNvSpPr>
            <a:spLocks noGrp="1"/>
          </p:cNvSpPr>
          <p:nvPr/>
        </p:nvSpPr>
        <p:spPr>
          <a:xfrm>
            <a:off x="7966710" y="7570774"/>
            <a:ext cx="3429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6" name="Connector 5375">
            <a:extLst>
              <a:ext uri="{FF2B5EF4-FFF2-40B4-BE49-F238E27FC236}">
                <a16:creationId xmlns:a16="http://schemas.microsoft.com/office/drawing/2014/main" id="{C8A16A5F-05EC-47D4-81F6-D31A32BBC62C}"/>
              </a:ext>
            </a:extLst>
          </p:cNvPr>
          <p:cNvSpPr>
            <a:spLocks noGrp="1"/>
          </p:cNvSpPr>
          <p:nvPr/>
        </p:nvSpPr>
        <p:spPr>
          <a:xfrm flipV="1">
            <a:off x="8309610" y="7236333"/>
            <a:ext cx="0" cy="334441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7" name="Connector 5376">
            <a:extLst>
              <a:ext uri="{FF2B5EF4-FFF2-40B4-BE49-F238E27FC236}">
                <a16:creationId xmlns:a16="http://schemas.microsoft.com/office/drawing/2014/main" id="{ACACFAC7-B873-4578-BD97-00CBDB2E350D}"/>
              </a:ext>
            </a:extLst>
          </p:cNvPr>
          <p:cNvSpPr>
            <a:spLocks noGrp="1"/>
          </p:cNvSpPr>
          <p:nvPr/>
        </p:nvSpPr>
        <p:spPr>
          <a:xfrm>
            <a:off x="8309610" y="7236333"/>
            <a:ext cx="4572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8" name="Connector 5377">
            <a:extLst>
              <a:ext uri="{FF2B5EF4-FFF2-40B4-BE49-F238E27FC236}">
                <a16:creationId xmlns:a16="http://schemas.microsoft.com/office/drawing/2014/main" id="{1CDC2DF4-A406-4382-8FE9-F2A1DBFF2413}"/>
              </a:ext>
            </a:extLst>
          </p:cNvPr>
          <p:cNvSpPr>
            <a:spLocks noGrp="1"/>
          </p:cNvSpPr>
          <p:nvPr/>
        </p:nvSpPr>
        <p:spPr>
          <a:xfrm>
            <a:off x="7966710" y="7822234"/>
            <a:ext cx="5715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79" name="Connector 5378">
            <a:extLst>
              <a:ext uri="{FF2B5EF4-FFF2-40B4-BE49-F238E27FC236}">
                <a16:creationId xmlns:a16="http://schemas.microsoft.com/office/drawing/2014/main" id="{00030A31-C884-4012-9124-943D3F75BD74}"/>
              </a:ext>
            </a:extLst>
          </p:cNvPr>
          <p:cNvSpPr>
            <a:spLocks noGrp="1"/>
          </p:cNvSpPr>
          <p:nvPr/>
        </p:nvSpPr>
        <p:spPr>
          <a:xfrm flipV="1">
            <a:off x="8538210" y="6298387"/>
            <a:ext cx="0" cy="1523847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0" name="Connector 5379">
            <a:extLst>
              <a:ext uri="{FF2B5EF4-FFF2-40B4-BE49-F238E27FC236}">
                <a16:creationId xmlns:a16="http://schemas.microsoft.com/office/drawing/2014/main" id="{194AAFF1-60AB-49FD-BA79-C46E12D641E7}"/>
              </a:ext>
            </a:extLst>
          </p:cNvPr>
          <p:cNvSpPr>
            <a:spLocks noGrp="1"/>
          </p:cNvSpPr>
          <p:nvPr/>
        </p:nvSpPr>
        <p:spPr>
          <a:xfrm>
            <a:off x="8538210" y="6298387"/>
            <a:ext cx="22860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1" name="Connector 5380">
            <a:extLst>
              <a:ext uri="{FF2B5EF4-FFF2-40B4-BE49-F238E27FC236}">
                <a16:creationId xmlns:a16="http://schemas.microsoft.com/office/drawing/2014/main" id="{F4BF95F3-4963-4443-822B-788156C36AF1}"/>
              </a:ext>
            </a:extLst>
          </p:cNvPr>
          <p:cNvSpPr>
            <a:spLocks noGrp="1"/>
          </p:cNvSpPr>
          <p:nvPr/>
        </p:nvSpPr>
        <p:spPr>
          <a:xfrm>
            <a:off x="7966710" y="8073694"/>
            <a:ext cx="44005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2" name="Connector 5381">
            <a:extLst>
              <a:ext uri="{FF2B5EF4-FFF2-40B4-BE49-F238E27FC236}">
                <a16:creationId xmlns:a16="http://schemas.microsoft.com/office/drawing/2014/main" id="{D0621D1C-E0BE-4776-934B-A73D1FC9A657}"/>
              </a:ext>
            </a:extLst>
          </p:cNvPr>
          <p:cNvSpPr>
            <a:spLocks noGrp="1"/>
          </p:cNvSpPr>
          <p:nvPr/>
        </p:nvSpPr>
        <p:spPr>
          <a:xfrm flipV="1">
            <a:off x="12367260" y="6529730"/>
            <a:ext cx="0" cy="1543964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3" name="Connector 5382">
            <a:extLst>
              <a:ext uri="{FF2B5EF4-FFF2-40B4-BE49-F238E27FC236}">
                <a16:creationId xmlns:a16="http://schemas.microsoft.com/office/drawing/2014/main" id="{326806A0-15A6-4E26-90D6-2344827D942E}"/>
              </a:ext>
            </a:extLst>
          </p:cNvPr>
          <p:cNvSpPr>
            <a:spLocks noGrp="1"/>
          </p:cNvSpPr>
          <p:nvPr/>
        </p:nvSpPr>
        <p:spPr>
          <a:xfrm>
            <a:off x="12367260" y="6529730"/>
            <a:ext cx="342899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384" name="Rectangle 5383">
            <a:extLst>
              <a:ext uri="{FF2B5EF4-FFF2-40B4-BE49-F238E27FC236}">
                <a16:creationId xmlns:a16="http://schemas.microsoft.com/office/drawing/2014/main" id="{4923ED50-EF74-4C82-B903-9EA03EC32E7A}"/>
              </a:ext>
            </a:extLst>
          </p:cNvPr>
          <p:cNvSpPr>
            <a:spLocks noGrp="1"/>
          </p:cNvSpPr>
          <p:nvPr/>
        </p:nvSpPr>
        <p:spPr>
          <a:xfrm>
            <a:off x="880109" y="2355494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5" name="Rectangle 5384">
            <a:extLst>
              <a:ext uri="{FF2B5EF4-FFF2-40B4-BE49-F238E27FC236}">
                <a16:creationId xmlns:a16="http://schemas.microsoft.com/office/drawing/2014/main" id="{318D8718-6FE6-42E2-BDE9-121BE36067CB}"/>
              </a:ext>
            </a:extLst>
          </p:cNvPr>
          <p:cNvSpPr>
            <a:spLocks noGrp="1"/>
          </p:cNvSpPr>
          <p:nvPr/>
        </p:nvSpPr>
        <p:spPr>
          <a:xfrm>
            <a:off x="880109" y="2355494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AuthRouter</a:t>
            </a:r>
          </a:p>
        </p:txBody>
      </p:sp>
      <p:sp>
        <p:nvSpPr>
          <p:cNvPr id="5386" name="TextBox 5385">
            <a:extLst>
              <a:ext uri="{FF2B5EF4-FFF2-40B4-BE49-F238E27FC236}">
                <a16:creationId xmlns:a16="http://schemas.microsoft.com/office/drawing/2014/main" id="{4E8B45D0-BFD1-4044-BBE2-40CFDDA2FAE6}"/>
              </a:ext>
            </a:extLst>
          </p:cNvPr>
          <p:cNvSpPr>
            <a:spLocks noGrp="1"/>
          </p:cNvSpPr>
          <p:nvPr/>
        </p:nvSpPr>
        <p:spPr>
          <a:xfrm>
            <a:off x="960119" y="2838297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login() · logout() · me()</a:t>
            </a:r>
          </a:p>
        </p:txBody>
      </p:sp>
      <p:sp>
        <p:nvSpPr>
          <p:cNvPr id="5387" name="Rectangle 5386">
            <a:extLst>
              <a:ext uri="{FF2B5EF4-FFF2-40B4-BE49-F238E27FC236}">
                <a16:creationId xmlns:a16="http://schemas.microsoft.com/office/drawing/2014/main" id="{B9465066-7514-40D3-B8B9-A31ECA315983}"/>
              </a:ext>
            </a:extLst>
          </p:cNvPr>
          <p:cNvSpPr>
            <a:spLocks noGrp="1"/>
          </p:cNvSpPr>
          <p:nvPr/>
        </p:nvSpPr>
        <p:spPr>
          <a:xfrm>
            <a:off x="880109" y="3094786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88" name="Rectangle 5387">
            <a:extLst>
              <a:ext uri="{FF2B5EF4-FFF2-40B4-BE49-F238E27FC236}">
                <a16:creationId xmlns:a16="http://schemas.microsoft.com/office/drawing/2014/main" id="{335A0EE6-6AF5-4C0F-A38E-78F97576ECE6}"/>
              </a:ext>
            </a:extLst>
          </p:cNvPr>
          <p:cNvSpPr>
            <a:spLocks noGrp="1"/>
          </p:cNvSpPr>
          <p:nvPr/>
        </p:nvSpPr>
        <p:spPr>
          <a:xfrm>
            <a:off x="880109" y="3094786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AdminRouter</a:t>
            </a:r>
          </a:p>
        </p:txBody>
      </p:sp>
      <p:sp>
        <p:nvSpPr>
          <p:cNvPr id="5389" name="TextBox 5388">
            <a:extLst>
              <a:ext uri="{FF2B5EF4-FFF2-40B4-BE49-F238E27FC236}">
                <a16:creationId xmlns:a16="http://schemas.microsoft.com/office/drawing/2014/main" id="{4524C558-6D3E-4FFE-A5B8-986CB0BA89B2}"/>
              </a:ext>
            </a:extLst>
          </p:cNvPr>
          <p:cNvSpPr>
            <a:spLocks noGrp="1"/>
          </p:cNvSpPr>
          <p:nvPr/>
        </p:nvSpPr>
        <p:spPr>
          <a:xfrm>
            <a:off x="960119" y="3577590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list_users() · issue_user() · set_role() · revoke_user() · unlock_user() · delete_user() · save_resource() · delete_resource()</a:t>
            </a:r>
          </a:p>
        </p:txBody>
      </p:sp>
      <p:sp>
        <p:nvSpPr>
          <p:cNvPr id="5390" name="Rectangle 5389">
            <a:extLst>
              <a:ext uri="{FF2B5EF4-FFF2-40B4-BE49-F238E27FC236}">
                <a16:creationId xmlns:a16="http://schemas.microsoft.com/office/drawing/2014/main" id="{21748770-0ACA-4410-BE26-81970A4F0376}"/>
              </a:ext>
            </a:extLst>
          </p:cNvPr>
          <p:cNvSpPr>
            <a:spLocks noGrp="1"/>
          </p:cNvSpPr>
          <p:nvPr/>
        </p:nvSpPr>
        <p:spPr>
          <a:xfrm>
            <a:off x="880109" y="4145889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1" name="Rectangle 5390">
            <a:extLst>
              <a:ext uri="{FF2B5EF4-FFF2-40B4-BE49-F238E27FC236}">
                <a16:creationId xmlns:a16="http://schemas.microsoft.com/office/drawing/2014/main" id="{F07ED19A-7877-4D7A-B92D-7E892BA389F8}"/>
              </a:ext>
            </a:extLst>
          </p:cNvPr>
          <p:cNvSpPr>
            <a:spLocks noGrp="1"/>
          </p:cNvSpPr>
          <p:nvPr/>
        </p:nvSpPr>
        <p:spPr>
          <a:xfrm>
            <a:off x="880109" y="4145889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IncidentRouter</a:t>
            </a:r>
          </a:p>
        </p:txBody>
      </p:sp>
      <p:sp>
        <p:nvSpPr>
          <p:cNvPr id="5392" name="TextBox 5391">
            <a:extLst>
              <a:ext uri="{FF2B5EF4-FFF2-40B4-BE49-F238E27FC236}">
                <a16:creationId xmlns:a16="http://schemas.microsoft.com/office/drawing/2014/main" id="{F55F3B6F-0006-48C9-A6A3-A1BCC9EA9318}"/>
              </a:ext>
            </a:extLst>
          </p:cNvPr>
          <p:cNvSpPr>
            <a:spLocks noGrp="1"/>
          </p:cNvSpPr>
          <p:nvPr/>
        </p:nvSpPr>
        <p:spPr>
          <a:xfrm>
            <a:off x="960119" y="4628692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list_incidents() · get_incident() · save_incident() · close_incident()</a:t>
            </a:r>
          </a:p>
        </p:txBody>
      </p:sp>
      <p:sp>
        <p:nvSpPr>
          <p:cNvPr id="5393" name="Rectangle 5392">
            <a:extLst>
              <a:ext uri="{FF2B5EF4-FFF2-40B4-BE49-F238E27FC236}">
                <a16:creationId xmlns:a16="http://schemas.microsoft.com/office/drawing/2014/main" id="{745DA1F9-2BE8-46B8-BAC8-97BBD51BBAF0}"/>
              </a:ext>
            </a:extLst>
          </p:cNvPr>
          <p:cNvSpPr>
            <a:spLocks noGrp="1"/>
          </p:cNvSpPr>
          <p:nvPr/>
        </p:nvSpPr>
        <p:spPr>
          <a:xfrm>
            <a:off x="880109" y="5041087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4" name="Rectangle 5393">
            <a:extLst>
              <a:ext uri="{FF2B5EF4-FFF2-40B4-BE49-F238E27FC236}">
                <a16:creationId xmlns:a16="http://schemas.microsoft.com/office/drawing/2014/main" id="{89C1A93C-9351-4A82-AE18-773B13A84E82}"/>
              </a:ext>
            </a:extLst>
          </p:cNvPr>
          <p:cNvSpPr>
            <a:spLocks noGrp="1"/>
          </p:cNvSpPr>
          <p:nvPr/>
        </p:nvSpPr>
        <p:spPr>
          <a:xfrm>
            <a:off x="880109" y="5041087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MapRouter</a:t>
            </a:r>
          </a:p>
        </p:txBody>
      </p:sp>
      <p:sp>
        <p:nvSpPr>
          <p:cNvPr id="5395" name="TextBox 5394">
            <a:extLst>
              <a:ext uri="{FF2B5EF4-FFF2-40B4-BE49-F238E27FC236}">
                <a16:creationId xmlns:a16="http://schemas.microsoft.com/office/drawing/2014/main" id="{6AC2F8F6-682E-433D-B757-721F76D54963}"/>
              </a:ext>
            </a:extLst>
          </p:cNvPr>
          <p:cNvSpPr>
            <a:spLocks noGrp="1"/>
          </p:cNvSpPr>
          <p:nvPr/>
        </p:nvSpPr>
        <p:spPr>
          <a:xfrm>
            <a:off x="960119" y="5523890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get_layers() · get_resources()</a:t>
            </a:r>
          </a:p>
        </p:txBody>
      </p:sp>
      <p:sp>
        <p:nvSpPr>
          <p:cNvPr id="5396" name="Rectangle 5395">
            <a:extLst>
              <a:ext uri="{FF2B5EF4-FFF2-40B4-BE49-F238E27FC236}">
                <a16:creationId xmlns:a16="http://schemas.microsoft.com/office/drawing/2014/main" id="{E4625F01-8B78-40BE-841F-6314E6EECE79}"/>
              </a:ext>
            </a:extLst>
          </p:cNvPr>
          <p:cNvSpPr>
            <a:spLocks noGrp="1"/>
          </p:cNvSpPr>
          <p:nvPr/>
        </p:nvSpPr>
        <p:spPr>
          <a:xfrm>
            <a:off x="880109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397" name="Rectangle 5396">
            <a:extLst>
              <a:ext uri="{FF2B5EF4-FFF2-40B4-BE49-F238E27FC236}">
                <a16:creationId xmlns:a16="http://schemas.microsoft.com/office/drawing/2014/main" id="{8449C2B8-E09A-4E51-A5FB-5FE580E3D880}"/>
              </a:ext>
            </a:extLst>
          </p:cNvPr>
          <p:cNvSpPr>
            <a:spLocks noGrp="1"/>
          </p:cNvSpPr>
          <p:nvPr/>
        </p:nvSpPr>
        <p:spPr>
          <a:xfrm>
            <a:off x="880109" y="5780379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PredictionRouter</a:t>
            </a:r>
          </a:p>
        </p:txBody>
      </p:sp>
      <p:sp>
        <p:nvSpPr>
          <p:cNvPr id="5398" name="TextBox 5397">
            <a:extLst>
              <a:ext uri="{FF2B5EF4-FFF2-40B4-BE49-F238E27FC236}">
                <a16:creationId xmlns:a16="http://schemas.microsoft.com/office/drawing/2014/main" id="{C1CAC511-98FD-4371-98FB-3846E833F75B}"/>
              </a:ext>
            </a:extLst>
          </p:cNvPr>
          <p:cNvSpPr>
            <a:spLocks noGrp="1"/>
          </p:cNvSpPr>
          <p:nvPr/>
        </p:nvSpPr>
        <p:spPr>
          <a:xfrm>
            <a:off x="960119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run() · get_slices() · get_risk()</a:t>
            </a:r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EA26ADC1-8B4B-4A5B-8F71-7A23A9FC062E}"/>
              </a:ext>
            </a:extLst>
          </p:cNvPr>
          <p:cNvSpPr>
            <a:spLocks noGrp="1"/>
          </p:cNvSpPr>
          <p:nvPr/>
        </p:nvSpPr>
        <p:spPr>
          <a:xfrm>
            <a:off x="880109" y="6519672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0" name="Rectangle 5399">
            <a:extLst>
              <a:ext uri="{FF2B5EF4-FFF2-40B4-BE49-F238E27FC236}">
                <a16:creationId xmlns:a16="http://schemas.microsoft.com/office/drawing/2014/main" id="{12D64E8F-4E8A-480D-AD1D-ECA709AF6054}"/>
              </a:ext>
            </a:extLst>
          </p:cNvPr>
          <p:cNvSpPr>
            <a:spLocks noGrp="1"/>
          </p:cNvSpPr>
          <p:nvPr/>
        </p:nvSpPr>
        <p:spPr>
          <a:xfrm>
            <a:off x="880109" y="6519672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ProposalRouter</a:t>
            </a:r>
          </a:p>
        </p:txBody>
      </p:sp>
      <p:sp>
        <p:nvSpPr>
          <p:cNvPr id="5401" name="TextBox 5400">
            <a:extLst>
              <a:ext uri="{FF2B5EF4-FFF2-40B4-BE49-F238E27FC236}">
                <a16:creationId xmlns:a16="http://schemas.microsoft.com/office/drawing/2014/main" id="{468C2E06-C918-4674-9260-CEBFABBFEB86}"/>
              </a:ext>
            </a:extLst>
          </p:cNvPr>
          <p:cNvSpPr>
            <a:spLocks noGrp="1"/>
          </p:cNvSpPr>
          <p:nvPr/>
        </p:nvSpPr>
        <p:spPr>
          <a:xfrm>
            <a:off x="960119" y="7002475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get_latest() · get_citation() · list_versions() · get_diff() · list_events()</a:t>
            </a:r>
          </a:p>
        </p:txBody>
      </p:sp>
      <p:sp>
        <p:nvSpPr>
          <p:cNvPr id="5402" name="Rectangle 5401">
            <a:extLst>
              <a:ext uri="{FF2B5EF4-FFF2-40B4-BE49-F238E27FC236}">
                <a16:creationId xmlns:a16="http://schemas.microsoft.com/office/drawing/2014/main" id="{F30A39C4-BCAC-46F5-83DC-D7FFF6F55A35}"/>
              </a:ext>
            </a:extLst>
          </p:cNvPr>
          <p:cNvSpPr>
            <a:spLocks noGrp="1"/>
          </p:cNvSpPr>
          <p:nvPr/>
        </p:nvSpPr>
        <p:spPr>
          <a:xfrm>
            <a:off x="880109" y="7570774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3" name="Rectangle 5402">
            <a:extLst>
              <a:ext uri="{FF2B5EF4-FFF2-40B4-BE49-F238E27FC236}">
                <a16:creationId xmlns:a16="http://schemas.microsoft.com/office/drawing/2014/main" id="{13E3FF36-5700-4473-B432-680AB5F183BC}"/>
              </a:ext>
            </a:extLst>
          </p:cNvPr>
          <p:cNvSpPr>
            <a:spLocks noGrp="1"/>
          </p:cNvSpPr>
          <p:nvPr/>
        </p:nvSpPr>
        <p:spPr>
          <a:xfrm>
            <a:off x="880109" y="7570774"/>
            <a:ext cx="3143250" cy="442569"/>
          </a:xfrm>
          <a:prstGeom prst="rect">
            <a:avLst/>
          </a:prstGeom>
          <a:solidFill>
            <a:srgbClr val="E6E9F5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&lt;Router&gt;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ChatRouter</a:t>
            </a:r>
          </a:p>
        </p:txBody>
      </p:sp>
      <p:sp>
        <p:nvSpPr>
          <p:cNvPr id="5404" name="TextBox 5403">
            <a:extLst>
              <a:ext uri="{FF2B5EF4-FFF2-40B4-BE49-F238E27FC236}">
                <a16:creationId xmlns:a16="http://schemas.microsoft.com/office/drawing/2014/main" id="{A924DB71-B2EF-4E0E-9E95-B66AAC9E0FB3}"/>
              </a:ext>
            </a:extLst>
          </p:cNvPr>
          <p:cNvSpPr>
            <a:spLocks noGrp="1"/>
          </p:cNvSpPr>
          <p:nvPr/>
        </p:nvSpPr>
        <p:spPr>
          <a:xfrm>
            <a:off x="960119" y="8053578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ask() · quick_questions() · confirm_correction()</a:t>
            </a:r>
          </a:p>
        </p:txBody>
      </p:sp>
      <p:sp>
        <p:nvSpPr>
          <p:cNvPr id="5405" name="Rectangle 5404">
            <a:extLst>
              <a:ext uri="{FF2B5EF4-FFF2-40B4-BE49-F238E27FC236}">
                <a16:creationId xmlns:a16="http://schemas.microsoft.com/office/drawing/2014/main" id="{A6D301A8-3D34-47D4-BFB6-FCB2C0A2C1F3}"/>
              </a:ext>
            </a:extLst>
          </p:cNvPr>
          <p:cNvSpPr>
            <a:spLocks noGrp="1"/>
          </p:cNvSpPr>
          <p:nvPr/>
        </p:nvSpPr>
        <p:spPr>
          <a:xfrm>
            <a:off x="4823460" y="2355494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6" name="Rectangle 5405">
            <a:extLst>
              <a:ext uri="{FF2B5EF4-FFF2-40B4-BE49-F238E27FC236}">
                <a16:creationId xmlns:a16="http://schemas.microsoft.com/office/drawing/2014/main" id="{CC712526-5AB3-4E9F-8958-0DB5D0C2E11E}"/>
              </a:ext>
            </a:extLst>
          </p:cNvPr>
          <p:cNvSpPr>
            <a:spLocks noGrp="1"/>
          </p:cNvSpPr>
          <p:nvPr/>
        </p:nvSpPr>
        <p:spPr>
          <a:xfrm>
            <a:off x="4823460" y="2355494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SecurityService</a:t>
            </a:r>
          </a:p>
        </p:txBody>
      </p:sp>
      <p:sp>
        <p:nvSpPr>
          <p:cNvPr id="5407" name="TextBox 5406">
            <a:extLst>
              <a:ext uri="{FF2B5EF4-FFF2-40B4-BE49-F238E27FC236}">
                <a16:creationId xmlns:a16="http://schemas.microsoft.com/office/drawing/2014/main" id="{616820E4-FD2C-41E1-85F4-839922F4EFE9}"/>
              </a:ext>
            </a:extLst>
          </p:cNvPr>
          <p:cNvSpPr>
            <a:spLocks noGrp="1"/>
          </p:cNvSpPr>
          <p:nvPr/>
        </p:nvSpPr>
        <p:spPr>
          <a:xfrm>
            <a:off x="4903470" y="2838297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verify_password() · create_token() · require_role()</a:t>
            </a:r>
          </a:p>
        </p:txBody>
      </p:sp>
      <p:sp>
        <p:nvSpPr>
          <p:cNvPr id="5408" name="Rectangle 5407">
            <a:extLst>
              <a:ext uri="{FF2B5EF4-FFF2-40B4-BE49-F238E27FC236}">
                <a16:creationId xmlns:a16="http://schemas.microsoft.com/office/drawing/2014/main" id="{FAFD2637-D244-4733-B4CA-BFF7C7972771}"/>
              </a:ext>
            </a:extLst>
          </p:cNvPr>
          <p:cNvSpPr>
            <a:spLocks noGrp="1"/>
          </p:cNvSpPr>
          <p:nvPr/>
        </p:nvSpPr>
        <p:spPr>
          <a:xfrm>
            <a:off x="4823460" y="3321100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09" name="Rectangle 5408">
            <a:extLst>
              <a:ext uri="{FF2B5EF4-FFF2-40B4-BE49-F238E27FC236}">
                <a16:creationId xmlns:a16="http://schemas.microsoft.com/office/drawing/2014/main" id="{52B7D702-295D-4C21-9643-05244128B2B3}"/>
              </a:ext>
            </a:extLst>
          </p:cNvPr>
          <p:cNvSpPr>
            <a:spLocks noGrp="1"/>
          </p:cNvSpPr>
          <p:nvPr/>
        </p:nvSpPr>
        <p:spPr>
          <a:xfrm>
            <a:off x="4823460" y="3321100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EventLogger</a:t>
            </a:r>
          </a:p>
        </p:txBody>
      </p:sp>
      <p:sp>
        <p:nvSpPr>
          <p:cNvPr id="5410" name="TextBox 5409">
            <a:extLst>
              <a:ext uri="{FF2B5EF4-FFF2-40B4-BE49-F238E27FC236}">
                <a16:creationId xmlns:a16="http://schemas.microsoft.com/office/drawing/2014/main" id="{0EDFCE7D-E2BA-43F3-822F-F44C4A30AE2B}"/>
              </a:ext>
            </a:extLst>
          </p:cNvPr>
          <p:cNvSpPr>
            <a:spLocks noGrp="1"/>
          </p:cNvSpPr>
          <p:nvPr/>
        </p:nvSpPr>
        <p:spPr>
          <a:xfrm>
            <a:off x="4903470" y="3803904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record()</a:t>
            </a:r>
          </a:p>
        </p:txBody>
      </p:sp>
      <p:sp>
        <p:nvSpPr>
          <p:cNvPr id="5411" name="Rectangle 5410">
            <a:extLst>
              <a:ext uri="{FF2B5EF4-FFF2-40B4-BE49-F238E27FC236}">
                <a16:creationId xmlns:a16="http://schemas.microsoft.com/office/drawing/2014/main" id="{F30B67A7-ABA0-4FA8-8367-33322D68E6F4}"/>
              </a:ext>
            </a:extLst>
          </p:cNvPr>
          <p:cNvSpPr>
            <a:spLocks noGrp="1"/>
          </p:cNvSpPr>
          <p:nvPr/>
        </p:nvSpPr>
        <p:spPr>
          <a:xfrm>
            <a:off x="4823460" y="4130802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2" name="Rectangle 5411">
            <a:extLst>
              <a:ext uri="{FF2B5EF4-FFF2-40B4-BE49-F238E27FC236}">
                <a16:creationId xmlns:a16="http://schemas.microsoft.com/office/drawing/2014/main" id="{14A0D5EC-B152-4CED-9573-165AB1E7B6B0}"/>
              </a:ext>
            </a:extLst>
          </p:cNvPr>
          <p:cNvSpPr>
            <a:spLocks noGrp="1"/>
          </p:cNvSpPr>
          <p:nvPr/>
        </p:nvSpPr>
        <p:spPr>
          <a:xfrm>
            <a:off x="4823460" y="4130802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RiskService</a:t>
            </a:r>
          </a:p>
        </p:txBody>
      </p:sp>
      <p:sp>
        <p:nvSpPr>
          <p:cNvPr id="5413" name="TextBox 5412">
            <a:extLst>
              <a:ext uri="{FF2B5EF4-FFF2-40B4-BE49-F238E27FC236}">
                <a16:creationId xmlns:a16="http://schemas.microsoft.com/office/drawing/2014/main" id="{DCAD39BE-6A5D-4BCD-8770-69B4DBDC75D1}"/>
              </a:ext>
            </a:extLst>
          </p:cNvPr>
          <p:cNvSpPr>
            <a:spLocks noGrp="1"/>
          </p:cNvSpPr>
          <p:nvPr/>
        </p:nvSpPr>
        <p:spPr>
          <a:xfrm>
            <a:off x="4903470" y="4613605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compute() · get_latest()</a:t>
            </a:r>
          </a:p>
        </p:txBody>
      </p:sp>
      <p:sp>
        <p:nvSpPr>
          <p:cNvPr id="5414" name="Rectangle 5413">
            <a:extLst>
              <a:ext uri="{FF2B5EF4-FFF2-40B4-BE49-F238E27FC236}">
                <a16:creationId xmlns:a16="http://schemas.microsoft.com/office/drawing/2014/main" id="{9A85CD1D-BAA6-4116-9F03-4BB4813D0BC0}"/>
              </a:ext>
            </a:extLst>
          </p:cNvPr>
          <p:cNvSpPr>
            <a:spLocks noGrp="1"/>
          </p:cNvSpPr>
          <p:nvPr/>
        </p:nvSpPr>
        <p:spPr>
          <a:xfrm>
            <a:off x="4823460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5" name="Rectangle 5414">
            <a:extLst>
              <a:ext uri="{FF2B5EF4-FFF2-40B4-BE49-F238E27FC236}">
                <a16:creationId xmlns:a16="http://schemas.microsoft.com/office/drawing/2014/main" id="{992C35B4-DC6E-4B2A-9478-71C682239415}"/>
              </a:ext>
            </a:extLst>
          </p:cNvPr>
          <p:cNvSpPr>
            <a:spLocks noGrp="1"/>
          </p:cNvSpPr>
          <p:nvPr/>
        </p:nvSpPr>
        <p:spPr>
          <a:xfrm>
            <a:off x="4823460" y="5780379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PredictionService</a:t>
            </a:r>
          </a:p>
        </p:txBody>
      </p:sp>
      <p:sp>
        <p:nvSpPr>
          <p:cNvPr id="5416" name="TextBox 5415">
            <a:extLst>
              <a:ext uri="{FF2B5EF4-FFF2-40B4-BE49-F238E27FC236}">
                <a16:creationId xmlns:a16="http://schemas.microsoft.com/office/drawing/2014/main" id="{4B51058C-60C3-4528-B0F0-48E5B17FE5D3}"/>
              </a:ext>
            </a:extLst>
          </p:cNvPr>
          <p:cNvSpPr>
            <a:spLocks noGrp="1"/>
          </p:cNvSpPr>
          <p:nvPr/>
        </p:nvSpPr>
        <p:spPr>
          <a:xfrm>
            <a:off x="4903470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5417" name="Rectangle 5416">
            <a:extLst>
              <a:ext uri="{FF2B5EF4-FFF2-40B4-BE49-F238E27FC236}">
                <a16:creationId xmlns:a16="http://schemas.microsoft.com/office/drawing/2014/main" id="{458031FA-A66A-4B71-92B6-8447BFCE3A3A}"/>
              </a:ext>
            </a:extLst>
          </p:cNvPr>
          <p:cNvSpPr>
            <a:spLocks noGrp="1"/>
          </p:cNvSpPr>
          <p:nvPr/>
        </p:nvSpPr>
        <p:spPr>
          <a:xfrm>
            <a:off x="4823460" y="7369606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18" name="Rectangle 5417">
            <a:extLst>
              <a:ext uri="{FF2B5EF4-FFF2-40B4-BE49-F238E27FC236}">
                <a16:creationId xmlns:a16="http://schemas.microsoft.com/office/drawing/2014/main" id="{4FF899C1-E2E6-4622-B28B-6B216512CECD}"/>
              </a:ext>
            </a:extLst>
          </p:cNvPr>
          <p:cNvSpPr>
            <a:spLocks noGrp="1"/>
          </p:cNvSpPr>
          <p:nvPr/>
        </p:nvSpPr>
        <p:spPr>
          <a:xfrm>
            <a:off x="4823460" y="7369606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AssistantService</a:t>
            </a:r>
          </a:p>
        </p:txBody>
      </p:sp>
      <p:sp>
        <p:nvSpPr>
          <p:cNvPr id="5419" name="TextBox 5418">
            <a:extLst>
              <a:ext uri="{FF2B5EF4-FFF2-40B4-BE49-F238E27FC236}">
                <a16:creationId xmlns:a16="http://schemas.microsoft.com/office/drawing/2014/main" id="{8C1B4515-B75C-49DC-8106-D04CA65E0BA7}"/>
              </a:ext>
            </a:extLst>
          </p:cNvPr>
          <p:cNvSpPr>
            <a:spLocks noGrp="1"/>
          </p:cNvSpPr>
          <p:nvPr/>
        </p:nvSpPr>
        <p:spPr>
          <a:xfrm>
            <a:off x="4903470" y="7852410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classify() · answer() · propose_correction() · apply_correction()</a:t>
            </a:r>
          </a:p>
        </p:txBody>
      </p:sp>
      <p:sp>
        <p:nvSpPr>
          <p:cNvPr id="5420" name="Rectangle 5419">
            <a:extLst>
              <a:ext uri="{FF2B5EF4-FFF2-40B4-BE49-F238E27FC236}">
                <a16:creationId xmlns:a16="http://schemas.microsoft.com/office/drawing/2014/main" id="{E1BF14AF-81A6-4C67-B541-FF75BD2334C8}"/>
              </a:ext>
            </a:extLst>
          </p:cNvPr>
          <p:cNvSpPr>
            <a:spLocks noGrp="1"/>
          </p:cNvSpPr>
          <p:nvPr/>
        </p:nvSpPr>
        <p:spPr>
          <a:xfrm>
            <a:off x="8766810" y="5780379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1" name="Rectangle 5420">
            <a:extLst>
              <a:ext uri="{FF2B5EF4-FFF2-40B4-BE49-F238E27FC236}">
                <a16:creationId xmlns:a16="http://schemas.microsoft.com/office/drawing/2014/main" id="{DB8D1A0B-EB64-4F02-9682-2DC11111CD00}"/>
              </a:ext>
            </a:extLst>
          </p:cNvPr>
          <p:cNvSpPr>
            <a:spLocks noGrp="1"/>
          </p:cNvSpPr>
          <p:nvPr/>
        </p:nvSpPr>
        <p:spPr>
          <a:xfrm>
            <a:off x="8766810" y="5780379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ProposalOrchestrator</a:t>
            </a:r>
          </a:p>
        </p:txBody>
      </p:sp>
      <p:sp>
        <p:nvSpPr>
          <p:cNvPr id="5422" name="TextBox 5421">
            <a:extLst>
              <a:ext uri="{FF2B5EF4-FFF2-40B4-BE49-F238E27FC236}">
                <a16:creationId xmlns:a16="http://schemas.microsoft.com/office/drawing/2014/main" id="{12A47231-C4F2-4BD1-BC69-7B5547840F3C}"/>
              </a:ext>
            </a:extLst>
          </p:cNvPr>
          <p:cNvSpPr>
            <a:spLocks noGrp="1"/>
          </p:cNvSpPr>
          <p:nvPr/>
        </p:nvSpPr>
        <p:spPr>
          <a:xfrm>
            <a:off x="8846820" y="6263182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generate() · diff()</a:t>
            </a:r>
          </a:p>
        </p:txBody>
      </p:sp>
      <p:sp>
        <p:nvSpPr>
          <p:cNvPr id="5423" name="Rectangle 5422">
            <a:extLst>
              <a:ext uri="{FF2B5EF4-FFF2-40B4-BE49-F238E27FC236}">
                <a16:creationId xmlns:a16="http://schemas.microsoft.com/office/drawing/2014/main" id="{0B5C9C4B-30FC-4FE5-A92C-2BC5EDBAD836}"/>
              </a:ext>
            </a:extLst>
          </p:cNvPr>
          <p:cNvSpPr>
            <a:spLocks noGrp="1"/>
          </p:cNvSpPr>
          <p:nvPr/>
        </p:nvSpPr>
        <p:spPr>
          <a:xfrm>
            <a:off x="8766810" y="4533138"/>
            <a:ext cx="3143250" cy="8247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4" name="Rectangle 5423">
            <a:extLst>
              <a:ext uri="{FF2B5EF4-FFF2-40B4-BE49-F238E27FC236}">
                <a16:creationId xmlns:a16="http://schemas.microsoft.com/office/drawing/2014/main" id="{B7CCA9C2-E4E6-4F8C-BC57-B43189C23B30}"/>
              </a:ext>
            </a:extLst>
          </p:cNvPr>
          <p:cNvSpPr>
            <a:spLocks noGrp="1"/>
          </p:cNvSpPr>
          <p:nvPr/>
        </p:nvSpPr>
        <p:spPr>
          <a:xfrm>
            <a:off x="8766810" y="4533138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RuleEngine</a:t>
            </a:r>
          </a:p>
        </p:txBody>
      </p:sp>
      <p:sp>
        <p:nvSpPr>
          <p:cNvPr id="5425" name="TextBox 5424">
            <a:extLst>
              <a:ext uri="{FF2B5EF4-FFF2-40B4-BE49-F238E27FC236}">
                <a16:creationId xmlns:a16="http://schemas.microsoft.com/office/drawing/2014/main" id="{6F0D5881-087E-470D-B035-E1113318C59A}"/>
              </a:ext>
            </a:extLst>
          </p:cNvPr>
          <p:cNvSpPr>
            <a:spLocks noGrp="1"/>
          </p:cNvSpPr>
          <p:nvPr/>
        </p:nvSpPr>
        <p:spPr>
          <a:xfrm>
            <a:off x="8846820" y="5015941"/>
            <a:ext cx="3028950" cy="321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evaluate() · judge_fire() · judge_evac()</a:t>
            </a:r>
          </a:p>
        </p:txBody>
      </p:sp>
      <p:sp>
        <p:nvSpPr>
          <p:cNvPr id="5426" name="Rectangle 5425">
            <a:extLst>
              <a:ext uri="{FF2B5EF4-FFF2-40B4-BE49-F238E27FC236}">
                <a16:creationId xmlns:a16="http://schemas.microsoft.com/office/drawing/2014/main" id="{F28EE246-7191-4A86-8F1A-9D0A9F50DF0A}"/>
              </a:ext>
            </a:extLst>
          </p:cNvPr>
          <p:cNvSpPr>
            <a:spLocks noGrp="1"/>
          </p:cNvSpPr>
          <p:nvPr/>
        </p:nvSpPr>
        <p:spPr>
          <a:xfrm>
            <a:off x="8766810" y="6901891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27" name="Rectangle 5426">
            <a:extLst>
              <a:ext uri="{FF2B5EF4-FFF2-40B4-BE49-F238E27FC236}">
                <a16:creationId xmlns:a16="http://schemas.microsoft.com/office/drawing/2014/main" id="{34D6D1CD-53CC-4F89-8870-C4567586D0B5}"/>
              </a:ext>
            </a:extLst>
          </p:cNvPr>
          <p:cNvSpPr>
            <a:spLocks noGrp="1"/>
          </p:cNvSpPr>
          <p:nvPr/>
        </p:nvSpPr>
        <p:spPr>
          <a:xfrm>
            <a:off x="8766810" y="6901891"/>
            <a:ext cx="3143250" cy="442569"/>
          </a:xfrm>
          <a:prstGeom prst="rect">
            <a:avLst/>
          </a:prstGeom>
          <a:solidFill>
            <a:srgbClr val="FDEBD9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&lt;Service&gt;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Retriever</a:t>
            </a:r>
          </a:p>
        </p:txBody>
      </p:sp>
      <p:sp>
        <p:nvSpPr>
          <p:cNvPr id="5428" name="TextBox 5427">
            <a:extLst>
              <a:ext uri="{FF2B5EF4-FFF2-40B4-BE49-F238E27FC236}">
                <a16:creationId xmlns:a16="http://schemas.microsoft.com/office/drawing/2014/main" id="{65728B94-84A7-454A-A42B-4E9B9367C61D}"/>
              </a:ext>
            </a:extLst>
          </p:cNvPr>
          <p:cNvSpPr>
            <a:spLocks noGrp="1"/>
          </p:cNvSpPr>
          <p:nvPr/>
        </p:nvSpPr>
        <p:spPr>
          <a:xfrm>
            <a:off x="8846820" y="7384694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search()</a:t>
            </a:r>
          </a:p>
        </p:txBody>
      </p:sp>
      <p:sp>
        <p:nvSpPr>
          <p:cNvPr id="5429" name="Rectangle 5428">
            <a:extLst>
              <a:ext uri="{FF2B5EF4-FFF2-40B4-BE49-F238E27FC236}">
                <a16:creationId xmlns:a16="http://schemas.microsoft.com/office/drawing/2014/main" id="{14D77822-8EC6-4872-BB64-B01E2462DCD1}"/>
              </a:ext>
            </a:extLst>
          </p:cNvPr>
          <p:cNvSpPr>
            <a:spLocks noGrp="1"/>
          </p:cNvSpPr>
          <p:nvPr/>
        </p:nvSpPr>
        <p:spPr>
          <a:xfrm>
            <a:off x="12710159" y="4130802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0" name="Rectangle 5429">
            <a:extLst>
              <a:ext uri="{FF2B5EF4-FFF2-40B4-BE49-F238E27FC236}">
                <a16:creationId xmlns:a16="http://schemas.microsoft.com/office/drawing/2014/main" id="{948B270D-445D-4B35-8604-9F46F71A98BC}"/>
              </a:ext>
            </a:extLst>
          </p:cNvPr>
          <p:cNvSpPr>
            <a:spLocks noGrp="1"/>
          </p:cNvSpPr>
          <p:nvPr/>
        </p:nvSpPr>
        <p:spPr>
          <a:xfrm>
            <a:off x="12710159" y="4130802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WeatherClient</a:t>
            </a:r>
          </a:p>
        </p:txBody>
      </p:sp>
      <p:sp>
        <p:nvSpPr>
          <p:cNvPr id="5431" name="TextBox 5430">
            <a:extLst>
              <a:ext uri="{FF2B5EF4-FFF2-40B4-BE49-F238E27FC236}">
                <a16:creationId xmlns:a16="http://schemas.microsoft.com/office/drawing/2014/main" id="{758B69A9-F8CF-43D3-8F45-AC5F2954CFD3}"/>
              </a:ext>
            </a:extLst>
          </p:cNvPr>
          <p:cNvSpPr>
            <a:spLocks noGrp="1"/>
          </p:cNvSpPr>
          <p:nvPr/>
        </p:nvSpPr>
        <p:spPr>
          <a:xfrm>
            <a:off x="12790169" y="4613605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get_forecast()</a:t>
            </a:r>
          </a:p>
        </p:txBody>
      </p:sp>
      <p:sp>
        <p:nvSpPr>
          <p:cNvPr id="5432" name="Rectangle 5431">
            <a:extLst>
              <a:ext uri="{FF2B5EF4-FFF2-40B4-BE49-F238E27FC236}">
                <a16:creationId xmlns:a16="http://schemas.microsoft.com/office/drawing/2014/main" id="{7496E850-52E0-4508-AD0F-95EB4C09FD77}"/>
              </a:ext>
            </a:extLst>
          </p:cNvPr>
          <p:cNvSpPr>
            <a:spLocks noGrp="1"/>
          </p:cNvSpPr>
          <p:nvPr/>
        </p:nvSpPr>
        <p:spPr>
          <a:xfrm>
            <a:off x="12710159" y="3260750"/>
            <a:ext cx="3143250" cy="668883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3" name="Rectangle 5432">
            <a:extLst>
              <a:ext uri="{FF2B5EF4-FFF2-40B4-BE49-F238E27FC236}">
                <a16:creationId xmlns:a16="http://schemas.microsoft.com/office/drawing/2014/main" id="{F4A6912C-66E7-48A9-BD45-D28C43FAC78F}"/>
              </a:ext>
            </a:extLst>
          </p:cNvPr>
          <p:cNvSpPr>
            <a:spLocks noGrp="1"/>
          </p:cNvSpPr>
          <p:nvPr/>
        </p:nvSpPr>
        <p:spPr>
          <a:xfrm>
            <a:off x="12710159" y="3260750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ElmfireAdapter</a:t>
            </a:r>
          </a:p>
        </p:txBody>
      </p:sp>
      <p:sp>
        <p:nvSpPr>
          <p:cNvPr id="5434" name="TextBox 5433">
            <a:extLst>
              <a:ext uri="{FF2B5EF4-FFF2-40B4-BE49-F238E27FC236}">
                <a16:creationId xmlns:a16="http://schemas.microsoft.com/office/drawing/2014/main" id="{5C9A840F-2CBC-45CC-A7B3-E48374895FF7}"/>
              </a:ext>
            </a:extLst>
          </p:cNvPr>
          <p:cNvSpPr>
            <a:spLocks noGrp="1"/>
          </p:cNvSpPr>
          <p:nvPr/>
        </p:nvSpPr>
        <p:spPr>
          <a:xfrm>
            <a:off x="12790169" y="3743553"/>
            <a:ext cx="3028950" cy="165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prepare() · execute() · to_slices()</a:t>
            </a:r>
          </a:p>
        </p:txBody>
      </p:sp>
      <p:sp>
        <p:nvSpPr>
          <p:cNvPr id="5435" name="Rectangle 5434">
            <a:extLst>
              <a:ext uri="{FF2B5EF4-FFF2-40B4-BE49-F238E27FC236}">
                <a16:creationId xmlns:a16="http://schemas.microsoft.com/office/drawing/2014/main" id="{0F6D4897-F00D-4D2E-AEB1-EB8EDE47CD53}"/>
              </a:ext>
            </a:extLst>
          </p:cNvPr>
          <p:cNvSpPr>
            <a:spLocks noGrp="1"/>
          </p:cNvSpPr>
          <p:nvPr/>
        </p:nvSpPr>
        <p:spPr>
          <a:xfrm>
            <a:off x="12710159" y="5730087"/>
            <a:ext cx="3143250" cy="98069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6" name="Rectangle 5435">
            <a:extLst>
              <a:ext uri="{FF2B5EF4-FFF2-40B4-BE49-F238E27FC236}">
                <a16:creationId xmlns:a16="http://schemas.microsoft.com/office/drawing/2014/main" id="{1F7AE753-F434-4F28-BC57-BB834BDDA902}"/>
              </a:ext>
            </a:extLst>
          </p:cNvPr>
          <p:cNvSpPr>
            <a:spLocks noGrp="1"/>
          </p:cNvSpPr>
          <p:nvPr/>
        </p:nvSpPr>
        <p:spPr>
          <a:xfrm>
            <a:off x="12710159" y="5730087"/>
            <a:ext cx="3143250" cy="442569"/>
          </a:xfrm>
          <a:prstGeom prst="rect">
            <a:avLst/>
          </a:prstGeom>
          <a:solidFill>
            <a:srgbClr val="E4E4E4"/>
          </a:solidFill>
          <a:ln w="1270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9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&lt;External System&gt;</a:t>
            </a:r>
          </a:p>
          <a:p>
            <a:pPr algn="ctr">
              <a:buNone/>
            </a:pPr>
            <a:r>
              <a:rPr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LLMClient</a:t>
            </a:r>
          </a:p>
        </p:txBody>
      </p:sp>
      <p:sp>
        <p:nvSpPr>
          <p:cNvPr id="5437" name="TextBox 5436">
            <a:extLst>
              <a:ext uri="{FF2B5EF4-FFF2-40B4-BE49-F238E27FC236}">
                <a16:creationId xmlns:a16="http://schemas.microsoft.com/office/drawing/2014/main" id="{9F695AF3-22FC-4C03-99DD-84D286B693AE}"/>
              </a:ext>
            </a:extLst>
          </p:cNvPr>
          <p:cNvSpPr>
            <a:spLocks noGrp="1"/>
          </p:cNvSpPr>
          <p:nvPr/>
        </p:nvSpPr>
        <p:spPr>
          <a:xfrm>
            <a:off x="12790169" y="6212890"/>
            <a:ext cx="3028950" cy="477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2E3142"/>
                </a:solidFill>
                <a:latin typeface="Consolas"/>
                <a:ea typeface="Consolas"/>
                <a:cs typeface="Consolas"/>
              </a:rPr>
              <a:t>write_questions() · answer() · check_conflicts() · synthesize() · parse_correction()</a:t>
            </a:r>
          </a:p>
        </p:txBody>
      </p:sp>
      <p:sp>
        <p:nvSpPr>
          <p:cNvPr id="5438" name="Rounded Rectangle 5437">
            <a:extLst>
              <a:ext uri="{FF2B5EF4-FFF2-40B4-BE49-F238E27FC236}">
                <a16:creationId xmlns:a16="http://schemas.microsoft.com/office/drawing/2014/main" id="{0872DBE1-EBDC-4CC6-B5B2-F570FCCB3D49}"/>
              </a:ext>
            </a:extLst>
          </p:cNvPr>
          <p:cNvSpPr>
            <a:spLocks noGrp="1"/>
          </p:cNvSpPr>
          <p:nvPr/>
        </p:nvSpPr>
        <p:spPr>
          <a:xfrm>
            <a:off x="12710159" y="7012533"/>
            <a:ext cx="4171950" cy="1719986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11430">
            <a:solidFill>
              <a:srgbClr val="B6B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39" name="Oval 5438">
            <a:extLst>
              <a:ext uri="{FF2B5EF4-FFF2-40B4-BE49-F238E27FC236}">
                <a16:creationId xmlns:a16="http://schemas.microsoft.com/office/drawing/2014/main" id="{0FB419C7-82AA-4122-8BF6-B7206EBC76D8}"/>
              </a:ext>
            </a:extLst>
          </p:cNvPr>
          <p:cNvSpPr>
            <a:spLocks noGrp="1"/>
          </p:cNvSpPr>
          <p:nvPr/>
        </p:nvSpPr>
        <p:spPr>
          <a:xfrm>
            <a:off x="12876123" y="7133234"/>
            <a:ext cx="422452" cy="422452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pic>
        <p:nvPicPr>
          <p:cNvPr id="5556" name="Picture 54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7512" y="7234623"/>
            <a:ext cx="219675" cy="219675"/>
          </a:xfrm>
          <a:prstGeom prst="rect">
            <a:avLst/>
          </a:prstGeom>
        </p:spPr>
      </p:pic>
      <p:sp>
        <p:nvSpPr>
          <p:cNvPr id="5441" name="TextBox 5440">
            <a:extLst>
              <a:ext uri="{FF2B5EF4-FFF2-40B4-BE49-F238E27FC236}">
                <a16:creationId xmlns:a16="http://schemas.microsoft.com/office/drawing/2014/main" id="{872B24DA-323E-46BF-BBC4-8D1F33F3BA40}"/>
              </a:ext>
            </a:extLst>
          </p:cNvPr>
          <p:cNvSpPr>
            <a:spLocks noGrp="1"/>
          </p:cNvSpPr>
          <p:nvPr/>
        </p:nvSpPr>
        <p:spPr>
          <a:xfrm>
            <a:off x="13418819" y="7093000"/>
            <a:ext cx="3371850" cy="1669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1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저장소</a:t>
            </a:r>
          </a:p>
          <a:p>
            <a:pPr algn="l">
              <a:lnSpc>
                <a:spcPct val="105000"/>
              </a:lnSpc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PostGIS: users · incidents · fire_perimeters · resources · prediction_runs · spread_slices · proposals · proposal_items · situation_corrections · chat_messages · event_logs</a:t>
            </a:r>
          </a:p>
          <a:p>
            <a:pPr algn="l">
              <a:lnSpc>
                <a:spcPct val="105000"/>
              </a:lnSpc>
              <a:spcBef>
                <a:spcPts val="345"/>
              </a:spcBef>
              <a:buNone/>
            </a:pPr>
            <a:r>
              <a:rPr sz="9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SQLite + FAISS: evidence_chunks</a:t>
            </a:r>
          </a:p>
        </p:txBody>
      </p:sp>
      <p:sp>
        <p:nvSpPr>
          <p:cNvPr id="5442" name="Rectangle 5441">
            <a:extLst>
              <a:ext uri="{FF2B5EF4-FFF2-40B4-BE49-F238E27FC236}">
                <a16:creationId xmlns:a16="http://schemas.microsoft.com/office/drawing/2014/main" id="{0652AD9E-A518-4EA3-9FB0-DA61EF905223}"/>
              </a:ext>
            </a:extLst>
          </p:cNvPr>
          <p:cNvSpPr>
            <a:spLocks noGrp="1"/>
          </p:cNvSpPr>
          <p:nvPr/>
        </p:nvSpPr>
        <p:spPr>
          <a:xfrm>
            <a:off x="880109" y="8953804"/>
            <a:ext cx="342900" cy="181051"/>
          </a:xfrm>
          <a:prstGeom prst="rect">
            <a:avLst/>
          </a:prstGeom>
          <a:solidFill>
            <a:srgbClr val="E6E9F5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3" name="TextBox 5442">
            <a:extLst>
              <a:ext uri="{FF2B5EF4-FFF2-40B4-BE49-F238E27FC236}">
                <a16:creationId xmlns:a16="http://schemas.microsoft.com/office/drawing/2014/main" id="{6AEB5342-FB93-47D6-BAA6-DE94EA486431}"/>
              </a:ext>
            </a:extLst>
          </p:cNvPr>
          <p:cNvSpPr>
            <a:spLocks noGrp="1"/>
          </p:cNvSpPr>
          <p:nvPr/>
        </p:nvSpPr>
        <p:spPr>
          <a:xfrm>
            <a:off x="12801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&lt;Router&gt; API 엔드포인트</a:t>
            </a:r>
          </a:p>
        </p:txBody>
      </p:sp>
      <p:sp>
        <p:nvSpPr>
          <p:cNvPr id="5444" name="Rectangle 5443">
            <a:extLst>
              <a:ext uri="{FF2B5EF4-FFF2-40B4-BE49-F238E27FC236}">
                <a16:creationId xmlns:a16="http://schemas.microsoft.com/office/drawing/2014/main" id="{C77B5A2F-4785-4031-9DC8-E92FEE824AFB}"/>
              </a:ext>
            </a:extLst>
          </p:cNvPr>
          <p:cNvSpPr>
            <a:spLocks noGrp="1"/>
          </p:cNvSpPr>
          <p:nvPr/>
        </p:nvSpPr>
        <p:spPr>
          <a:xfrm>
            <a:off x="3394710" y="8953804"/>
            <a:ext cx="342900" cy="181051"/>
          </a:xfrm>
          <a:prstGeom prst="rect">
            <a:avLst/>
          </a:prstGeom>
          <a:solidFill>
            <a:srgbClr val="FDEBD9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5" name="TextBox 5444">
            <a:extLst>
              <a:ext uri="{FF2B5EF4-FFF2-40B4-BE49-F238E27FC236}">
                <a16:creationId xmlns:a16="http://schemas.microsoft.com/office/drawing/2014/main" id="{BEB8CDFF-723C-4460-8CB4-B528962A4B8A}"/>
              </a:ext>
            </a:extLst>
          </p:cNvPr>
          <p:cNvSpPr>
            <a:spLocks noGrp="1"/>
          </p:cNvSpPr>
          <p:nvPr/>
        </p:nvSpPr>
        <p:spPr>
          <a:xfrm>
            <a:off x="37947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&lt;Service&gt; 내부 로직</a:t>
            </a:r>
          </a:p>
        </p:txBody>
      </p:sp>
      <p:sp>
        <p:nvSpPr>
          <p:cNvPr id="5446" name="Rectangle 5445">
            <a:extLst>
              <a:ext uri="{FF2B5EF4-FFF2-40B4-BE49-F238E27FC236}">
                <a16:creationId xmlns:a16="http://schemas.microsoft.com/office/drawing/2014/main" id="{73A24C36-6FB2-42C4-8B8D-432DC591364C}"/>
              </a:ext>
            </a:extLst>
          </p:cNvPr>
          <p:cNvSpPr>
            <a:spLocks noGrp="1"/>
          </p:cNvSpPr>
          <p:nvPr/>
        </p:nvSpPr>
        <p:spPr>
          <a:xfrm>
            <a:off x="5909310" y="8953804"/>
            <a:ext cx="342900" cy="181051"/>
          </a:xfrm>
          <a:prstGeom prst="rect">
            <a:avLst/>
          </a:prstGeom>
          <a:solidFill>
            <a:srgbClr val="E4E4E4"/>
          </a:solidFill>
          <a:ln w="8890">
            <a:solidFill>
              <a:srgbClr val="6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anchor="ctr"/>
          <a:lstStyle/>
          <a:p>
            <a:pPr algn="ctr">
              <a:buNone/>
            </a:pPr>
            <a:endParaRPr/>
          </a:p>
        </p:txBody>
      </p:sp>
      <p:sp>
        <p:nvSpPr>
          <p:cNvPr id="5447" name="TextBox 5446">
            <a:extLst>
              <a:ext uri="{FF2B5EF4-FFF2-40B4-BE49-F238E27FC236}">
                <a16:creationId xmlns:a16="http://schemas.microsoft.com/office/drawing/2014/main" id="{34734C53-3B97-4BEE-922B-593ACAF5203C}"/>
              </a:ext>
            </a:extLst>
          </p:cNvPr>
          <p:cNvSpPr>
            <a:spLocks noGrp="1"/>
          </p:cNvSpPr>
          <p:nvPr/>
        </p:nvSpPr>
        <p:spPr>
          <a:xfrm>
            <a:off x="6309360" y="8913571"/>
            <a:ext cx="2171700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&lt;External&gt; 외부 모델·API</a:t>
            </a:r>
          </a:p>
        </p:txBody>
      </p:sp>
      <p:sp>
        <p:nvSpPr>
          <p:cNvPr id="5448" name="TextBox 5447">
            <a:extLst>
              <a:ext uri="{FF2B5EF4-FFF2-40B4-BE49-F238E27FC236}">
                <a16:creationId xmlns:a16="http://schemas.microsoft.com/office/drawing/2014/main" id="{1D904795-3F92-4265-8563-C45240F0917E}"/>
              </a:ext>
            </a:extLst>
          </p:cNvPr>
          <p:cNvSpPr>
            <a:spLocks noGrp="1"/>
          </p:cNvSpPr>
          <p:nvPr/>
        </p:nvSpPr>
        <p:spPr>
          <a:xfrm>
            <a:off x="8481060" y="8853220"/>
            <a:ext cx="88011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┄▷ 의존(Dependency). Router → Service → External 계층, 모든 Router·Service는 저장소 접근</a:t>
            </a:r>
          </a:p>
          <a:p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모든 Router는 SecurityService.require_role()로 권한 검사, 상태 변경은 EventLogger.record()로 기록</a:t>
            </a:r>
          </a:p>
        </p:txBody>
      </p:sp>
      <p:sp>
        <p:nvSpPr>
          <p:cNvPr id="5449" name="Connector 5448">
            <a:extLst>
              <a:ext uri="{FF2B5EF4-FFF2-40B4-BE49-F238E27FC236}">
                <a16:creationId xmlns:a16="http://schemas.microsoft.com/office/drawing/2014/main" id="{7E2813FB-3CC3-40A4-9BD2-4F4CB9259819}"/>
              </a:ext>
            </a:extLst>
          </p:cNvPr>
          <p:cNvSpPr>
            <a:spLocks noGrp="1"/>
          </p:cNvSpPr>
          <p:nvPr/>
        </p:nvSpPr>
        <p:spPr>
          <a:xfrm>
            <a:off x="4023360" y="2700000"/>
            <a:ext cx="1714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1" name="Connector 5450">
            <a:extLst>
              <a:ext uri="{FF2B5EF4-FFF2-40B4-BE49-F238E27FC236}">
                <a16:creationId xmlns:a16="http://schemas.microsoft.com/office/drawing/2014/main" id="{10436E3F-3C7D-40F9-AE2E-226A92F1941A}"/>
              </a:ext>
            </a:extLst>
          </p:cNvPr>
          <p:cNvSpPr>
            <a:spLocks noGrp="1"/>
          </p:cNvSpPr>
          <p:nvPr/>
        </p:nvSpPr>
        <p:spPr>
          <a:xfrm>
            <a:off x="4194810" y="2700000"/>
            <a:ext cx="0" cy="842384"/>
          </a:xfrm>
          <a:prstGeom prst="line">
            <a:avLst/>
          </a:prstGeom>
          <a:ln w="12700">
            <a:solidFill>
              <a:srgbClr val="6B7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453" name="Connector 5452">
            <a:extLst>
              <a:ext uri="{FF2B5EF4-FFF2-40B4-BE49-F238E27FC236}">
                <a16:creationId xmlns:a16="http://schemas.microsoft.com/office/drawing/2014/main" id="{213AC4FC-3C8C-43D7-929D-D4F99549EB53}"/>
              </a:ext>
            </a:extLst>
          </p:cNvPr>
          <p:cNvSpPr>
            <a:spLocks noGrp="1"/>
          </p:cNvSpPr>
          <p:nvPr/>
        </p:nvSpPr>
        <p:spPr>
          <a:xfrm>
            <a:off x="4194810" y="3542384"/>
            <a:ext cx="628650" cy="0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701" name="Connector PS-RS">
            <a:extLst>
              <a:ext uri="{FF2B5EF4-FFF2-40B4-BE49-F238E27FC236}">
                <a16:creationId xmlns:a16="http://schemas.microsoft.com/office/drawing/2014/main" id="{8637A78C-9437-4F9F-8844-8E3E682E1537}"/>
              </a:ext>
            </a:extLst>
          </p:cNvPr>
          <p:cNvSpPr>
            <a:spLocks noGrp="1"/>
          </p:cNvSpPr>
          <p:nvPr/>
        </p:nvSpPr>
        <p:spPr>
          <a:xfrm flipV="1">
            <a:off x="6949440" y="4799685"/>
            <a:ext cx="0" cy="980694"/>
          </a:xfrm>
          <a:prstGeom prst="line">
            <a:avLst/>
          </a:prstGeom>
          <a:ln w="12700">
            <a:solidFill>
              <a:srgbClr val="6B70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06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>
            <a:spLocks noGrp="1"/>
          </p:cNvSpPr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/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58" name="TextBox 5257">
            <a:extLst>
              <a:ext uri="{FF2B5EF4-FFF2-40B4-BE49-F238E27FC236}">
                <a16:creationId xmlns:a16="http://schemas.microsoft.com/office/drawing/2014/main" id="{D96AAE9C-A553-4295-8ACE-10CE6F0325BD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0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61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62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63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53" name="Title">
            <a:extLst>
              <a:ext uri="{FF2B5EF4-FFF2-40B4-BE49-F238E27FC236}">
                <a16:creationId xmlns:a16="http://schemas.microsoft.com/office/drawing/2014/main" id="{9519AF0A-7520-4584-8D3A-5542F200D214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54" name="Subtitle">
            <a:extLst>
              <a:ext uri="{FF2B5EF4-FFF2-40B4-BE49-F238E27FC236}">
                <a16:creationId xmlns:a16="http://schemas.microsoft.com/office/drawing/2014/main" id="{AC91BECE-530E-4342-9C5C-6C06BF09700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1. 관계 정의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70</a:t>
            </a:fld>
            <a:endParaRPr/>
          </a:p>
        </p:txBody>
      </p:sp>
      <p:graphicFrame>
        <p:nvGraphicFramePr>
          <p:cNvPr id="5367" name="Table 5354"/>
          <p:cNvGraphicFramePr/>
          <p:nvPr/>
        </p:nvGraphicFramePr>
        <p:xfrm>
          <a:off x="822960" y="2395728"/>
          <a:ext cx="16459200" cy="567293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테이블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다중성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설명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intake_records, weather_snapshots, risk_assessments, 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사건별 기록. 사건은 삭제하지 않고 종료(status = 종료) 처리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prediction_runs, proposals, situation_corrections, chat_messages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사건별 예측·제안·정정·대화 이력 보존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perimeter_id → id (0..1 : 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예측의 초기 연소 범위. NULL이면 발화점에서 시작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spread_slices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spread_slices(8)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UNIQUE(run_id, t_hours), 누적성 P(t) ⊇ P(t−1)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proposals(N)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 버전 + 같은 예측의 상황 정정 버전. 제안 있는 예측은 삭제 제한(RESTRICT)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risk_assessments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prediction_runs(1) → risk_assessments(0..1)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예측마다 P5 위험도 1개(UNIQUE run_id). 화면은 산불별 최신 값만 표시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6767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situation_corrections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proposals.correction_id → id (0..1 : 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정정으로 생성된 버전은 정정 기록을 가리킴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proposals(1) → proposal_items(≤14)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UNIQUE(proposal_id, item_code). 제안서는 수정하지 않고 새 버전 추가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 / chat_messages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합성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item(1)·message(1) → citations(N)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item_id와 message_id 중 하나만 값을 가짐 (CHECK)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evidence_chunks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evidence_chunks(1) → citations(N)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인용된 청크는 삭제 제한(RESTRICT). 색인 재구축 시 chunk_id 유지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resources.incident_id → id (N : 0..1)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평시 진화자원 데이터(전산 관리자 관리). 투입 중 자원은 삭제 제한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prediction_runs, chat_messages, situation_corrections, event_logs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users(1) → *(N)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입력자·종료자·실행자·질문자·정정자 기록. 회수(status=회수) 또는 잠금(locked=true) 시 로그인 차단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25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event_logs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users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incident_id·user_id NULL 허용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로그인·관리 이벤트는 사건 없이 기록. 추가만 하고 수정·삭제 없음, 이력 탭에서 읽기 전용 조회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 연관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spread_slices, fire_perimeters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ST_Intersects(geom, slice.geom)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외래키 없이 공간 교차로 도달 슬라이스 계산 (GiST 인덱스)</a:t>
                      </a:r>
                    </a:p>
                  </a:txBody>
                  <a:tcPr marL="80010" marR="8001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520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7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7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77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58" name="Title">
            <a:extLst>
              <a:ext uri="{FF2B5EF4-FFF2-40B4-BE49-F238E27FC236}">
                <a16:creationId xmlns:a16="http://schemas.microsoft.com/office/drawing/2014/main" id="{46AF8834-4643-4975-BDFF-1D0ED9D4A5D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59" name="Subtitle">
            <a:extLst>
              <a:ext uri="{FF2B5EF4-FFF2-40B4-BE49-F238E27FC236}">
                <a16:creationId xmlns:a16="http://schemas.microsoft.com/office/drawing/2014/main" id="{3C276A98-F1CD-4E22-A8AA-FD0F26E3485B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71</a:t>
            </a:fld>
            <a:endParaRPr/>
          </a:p>
        </p:txBody>
      </p:sp>
      <p:sp>
        <p:nvSpPr>
          <p:cNvPr id="5360" name="TextBox 5359">
            <a:extLst>
              <a:ext uri="{FF2B5EF4-FFF2-40B4-BE49-F238E27FC236}">
                <a16:creationId xmlns:a16="http://schemas.microsoft.com/office/drawing/2014/main" id="{3518B8BA-AD45-49B2-A2D4-08CC45B7365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users</a:t>
            </a:r>
          </a:p>
        </p:txBody>
      </p:sp>
      <p:graphicFrame>
        <p:nvGraphicFramePr>
          <p:cNvPr id="5382" name="Table 5360"/>
          <p:cNvGraphicFramePr/>
          <p:nvPr/>
        </p:nvGraphicFramePr>
        <p:xfrm>
          <a:off x="822960" y="2717596"/>
          <a:ext cx="16459195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4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2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08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08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522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login_id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password_hash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role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sigungu_code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failed_count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locked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issued_at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cmd01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통합지휘권자 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COMMANDER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 1(유관기관)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열람자 2(상급 본부)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VIEWER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회수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2025-01-15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 1(현장)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(bcrypt 해시)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전산 관리자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37520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False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2025-01-02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62" name="TextBox 5361">
            <a:extLst>
              <a:ext uri="{FF2B5EF4-FFF2-40B4-BE49-F238E27FC236}">
                <a16:creationId xmlns:a16="http://schemas.microsoft.com/office/drawing/2014/main" id="{963A36C1-DEC9-4AED-A3B7-D51029E94CF9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incidents</a:t>
            </a:r>
          </a:p>
        </p:txBody>
      </p:sp>
      <p:graphicFrame>
        <p:nvGraphicFramePr>
          <p:cNvPr id="5384" name="Table 5362"/>
          <p:cNvGraphicFramePr/>
          <p:nvPr/>
        </p:nvGraphicFramePr>
        <p:xfrm>
          <a:off x="822960" y="5101437"/>
          <a:ext cx="16459197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1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8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3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8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16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14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928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000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addr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ignition_geom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started_at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report_text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official_stage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alert_level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expected_hours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ended_at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ended_by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안평면 산불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안평면 괴산리 산 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POINT(128.6023 36.3657)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11:24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11:25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야산 연기·불길 목격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진행 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사곡면 산불(가상)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사곡면(가상)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POINT(128.7520 36.3410)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인근 연기 신고(가상)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접수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점곡면 산불(가상)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 점곡면(가상)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POINT(128.7250 36.4330)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13:05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13:10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화재 신고(가상)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2025-03-21 18:40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 (cmd01)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4" name="TextBox 5363">
            <a:extLst>
              <a:ext uri="{FF2B5EF4-FFF2-40B4-BE49-F238E27FC236}">
                <a16:creationId xmlns:a16="http://schemas.microsoft.com/office/drawing/2014/main" id="{739CF8F7-6D35-4A6D-BB43-EE2F757C4E5A}"/>
              </a:ext>
            </a:extLst>
          </p:cNvPr>
          <p:cNvSpPr>
            <a:spLocks noGrp="1"/>
          </p:cNvSpPr>
          <p:nvPr/>
        </p:nvSpPr>
        <p:spPr>
          <a:xfrm>
            <a:off x="822960" y="655990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intake_records</a:t>
            </a:r>
          </a:p>
        </p:txBody>
      </p:sp>
      <p:graphicFrame>
        <p:nvGraphicFramePr>
          <p:cNvPr id="5386" name="Table 5364"/>
          <p:cNvGraphicFramePr/>
          <p:nvPr/>
        </p:nvGraphicFramePr>
        <p:xfrm>
          <a:off x="822960" y="6881774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7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7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org_name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received_at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channel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의성군(119 공동대응)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11:25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119 신고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경북도 산림재난상황실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남부지방산림청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산림청 중앙산림재난상황실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11:38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전파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66" name="TextBox 5365">
            <a:extLst>
              <a:ext uri="{FF2B5EF4-FFF2-40B4-BE49-F238E27FC236}">
                <a16:creationId xmlns:a16="http://schemas.microsoft.com/office/drawing/2014/main" id="{7092E521-CA15-4AFF-B9F8-5E55BF868920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1745641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8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8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8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63" name="Title">
            <a:extLst>
              <a:ext uri="{FF2B5EF4-FFF2-40B4-BE49-F238E27FC236}">
                <a16:creationId xmlns:a16="http://schemas.microsoft.com/office/drawing/2014/main" id="{9DA4DBF6-E24C-41D5-9053-5E3D4B123BF7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64" name="Subtitle">
            <a:extLst>
              <a:ext uri="{FF2B5EF4-FFF2-40B4-BE49-F238E27FC236}">
                <a16:creationId xmlns:a16="http://schemas.microsoft.com/office/drawing/2014/main" id="{D888F6C7-C94C-412D-8A0A-0753D172B9EE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72</a:t>
            </a:fld>
            <a:endParaRPr/>
          </a:p>
        </p:txBody>
      </p:sp>
      <p:sp>
        <p:nvSpPr>
          <p:cNvPr id="5365" name="TextBox 5364">
            <a:extLst>
              <a:ext uri="{FF2B5EF4-FFF2-40B4-BE49-F238E27FC236}">
                <a16:creationId xmlns:a16="http://schemas.microsoft.com/office/drawing/2014/main" id="{0C77F2B4-197A-4113-8574-4FA180E476F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fire_perimeters</a:t>
            </a:r>
          </a:p>
        </p:txBody>
      </p:sp>
      <p:graphicFrame>
        <p:nvGraphicFramePr>
          <p:cNvPr id="5387" name="Table 5365"/>
          <p:cNvGraphicFramePr/>
          <p:nvPr/>
        </p:nvGraphicFramePr>
        <p:xfrm>
          <a:off x="822960" y="2717596"/>
          <a:ext cx="16459198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2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591">
                  <a:extLst>
                    <a:ext uri="{9D8B030D-6E8A-4147-A177-3AD203B41FA5}">
                      <a16:colId xmlns:a16="http://schemas.microsoft.com/office/drawing/2014/main" val="415844491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011378120"/>
                    </a:ext>
                  </a:extLst>
                </a:gridCol>
                <a:gridCol w="172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7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5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observed_at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version_no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area_ha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source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reported_by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2025-03-22 11:55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유효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12.7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그리기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 (rep01)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67" name="TextBox 5366">
            <a:extLst>
              <a:ext uri="{FF2B5EF4-FFF2-40B4-BE49-F238E27FC236}">
                <a16:creationId xmlns:a16="http://schemas.microsoft.com/office/drawing/2014/main" id="{D2E38B95-8E28-47CB-BE29-73904C20995E}"/>
              </a:ext>
            </a:extLst>
          </p:cNvPr>
          <p:cNvSpPr>
            <a:spLocks noGrp="1"/>
          </p:cNvSpPr>
          <p:nvPr/>
        </p:nvSpPr>
        <p:spPr>
          <a:xfrm>
            <a:off x="822960" y="3572560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weather_snapshots</a:t>
            </a:r>
          </a:p>
        </p:txBody>
      </p:sp>
      <p:graphicFrame>
        <p:nvGraphicFramePr>
          <p:cNvPr id="5389" name="Table 5367"/>
          <p:cNvGraphicFramePr/>
          <p:nvPr/>
        </p:nvGraphicFramePr>
        <p:xfrm>
          <a:off x="822960" y="3894429"/>
          <a:ext cx="16459197" cy="12070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3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5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7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36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valid_at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wind_speed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wind_dir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humidity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visibility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6.4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7.8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69" name="TextBox 5368">
            <a:extLst>
              <a:ext uri="{FF2B5EF4-FFF2-40B4-BE49-F238E27FC236}">
                <a16:creationId xmlns:a16="http://schemas.microsoft.com/office/drawing/2014/main" id="{01233DBE-5379-4D17-A427-F1CC5B88BDBA}"/>
              </a:ext>
            </a:extLst>
          </p:cNvPr>
          <p:cNvSpPr>
            <a:spLocks noGrp="1"/>
          </p:cNvSpPr>
          <p:nvPr/>
        </p:nvSpPr>
        <p:spPr>
          <a:xfrm>
            <a:off x="822960" y="5352897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risk_assessments</a:t>
            </a:r>
          </a:p>
        </p:txBody>
      </p:sp>
      <p:graphicFrame>
        <p:nvGraphicFramePr>
          <p:cNvPr id="5391" name="Table 5369"/>
          <p:cNvGraphicFramePr/>
          <p:nvPr/>
        </p:nvGraphicFramePr>
        <p:xfrm>
          <a:off x="822960" y="5674766"/>
          <a:ext cx="16459193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50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50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87775394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score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weather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terrain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fuel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infra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merged_ids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3.81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4.2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1" name="TextBox 5370">
            <a:extLst>
              <a:ext uri="{FF2B5EF4-FFF2-40B4-BE49-F238E27FC236}">
                <a16:creationId xmlns:a16="http://schemas.microsoft.com/office/drawing/2014/main" id="{C94736DD-D10E-422E-870D-A837DF3C4F31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  <p:sp>
        <p:nvSpPr>
          <p:cNvPr id="5392" name="Note Risk"/>
          <p:cNvSpPr txBox="1"/>
          <p:nvPr/>
        </p:nvSpPr>
        <p:spPr>
          <a:xfrm>
            <a:off x="822960" y="6387998"/>
            <a:ext cx="1645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score = Σ(축 가중치 × 축 점수) ÷ 0.94 = (0.35 × 4.2 + 0.27 × 3.6 + 0.25 × 3.9 + 0.07 × 2.4) ÷ 0.94 = 3.81 (P5 기준, 축 점수는 시연용 가상값)</a:t>
            </a:r>
            <a:endParaRPr lang="ko-KR" sz="1150"/>
          </a:p>
        </p:txBody>
      </p:sp>
    </p:spTree>
    <p:extLst>
      <p:ext uri="{BB962C8B-B14F-4D97-AF65-F5344CB8AC3E}">
        <p14:creationId xmlns:p14="http://schemas.microsoft.com/office/powerpoint/2010/main" val="10454718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1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8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83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8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68" name="Title">
            <a:extLst>
              <a:ext uri="{FF2B5EF4-FFF2-40B4-BE49-F238E27FC236}">
                <a16:creationId xmlns:a16="http://schemas.microsoft.com/office/drawing/2014/main" id="{6FA6B3C9-307D-4FCB-9C38-A5A5F02E92F2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69" name="Subtitle">
            <a:extLst>
              <a:ext uri="{FF2B5EF4-FFF2-40B4-BE49-F238E27FC236}">
                <a16:creationId xmlns:a16="http://schemas.microsoft.com/office/drawing/2014/main" id="{ECA70DC1-5430-4EED-ABC6-E5FA2DFF1997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73</a:t>
            </a:fld>
            <a:endParaRPr/>
          </a:p>
        </p:txBody>
      </p:sp>
      <p:sp>
        <p:nvSpPr>
          <p:cNvPr id="5370" name="TextBox 5369">
            <a:extLst>
              <a:ext uri="{FF2B5EF4-FFF2-40B4-BE49-F238E27FC236}">
                <a16:creationId xmlns:a16="http://schemas.microsoft.com/office/drawing/2014/main" id="{78EFA3FD-873D-4198-B915-AA99E6AADDE8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resources</a:t>
            </a:r>
          </a:p>
        </p:txBody>
      </p:sp>
      <p:graphicFrame>
        <p:nvGraphicFramePr>
          <p:cNvPr id="5389" name="Table 5370"/>
          <p:cNvGraphicFramePr/>
          <p:nvPr/>
        </p:nvGraphicFramePr>
        <p:xfrm>
          <a:off x="822960" y="2717596"/>
          <a:ext cx="16459197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4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41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kind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org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KFS-H01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KFS-A01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헬기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KFS-M01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산림항공본부(안동)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인력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산불전문진화대 1조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차량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펌프 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의성소방서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투입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2" name="TextBox 5371">
            <a:extLst>
              <a:ext uri="{FF2B5EF4-FFF2-40B4-BE49-F238E27FC236}">
                <a16:creationId xmlns:a16="http://schemas.microsoft.com/office/drawing/2014/main" id="{982296C8-41DF-4CCD-BA19-6CDB368C630A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villages</a:t>
            </a:r>
          </a:p>
        </p:txBody>
      </p:sp>
      <p:graphicFrame>
        <p:nvGraphicFramePr>
          <p:cNvPr id="5391" name="Table 5372"/>
          <p:cNvGraphicFramePr/>
          <p:nvPr/>
        </p:nvGraphicFramePr>
        <p:xfrm>
          <a:off x="822960" y="5101437"/>
          <a:ext cx="16459195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2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8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54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emd_code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population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households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elderly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disabled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goesan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괴산리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bakgok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seoktap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석탑리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bangha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단촌면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143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hahwa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하화리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단촌면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131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4" name="TextBox 5373">
            <a:extLst>
              <a:ext uri="{FF2B5EF4-FFF2-40B4-BE49-F238E27FC236}">
                <a16:creationId xmlns:a16="http://schemas.microsoft.com/office/drawing/2014/main" id="{691CF24B-8595-44F6-8763-BCC78E0A75A1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7628813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73" name="Title">
            <a:extLst>
              <a:ext uri="{FF2B5EF4-FFF2-40B4-BE49-F238E27FC236}">
                <a16:creationId xmlns:a16="http://schemas.microsoft.com/office/drawing/2014/main" id="{C1C1D12B-DC76-4CE2-AFB5-C2AAD51A2E99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74" name="Subtitle">
            <a:extLst>
              <a:ext uri="{FF2B5EF4-FFF2-40B4-BE49-F238E27FC236}">
                <a16:creationId xmlns:a16="http://schemas.microsoft.com/office/drawing/2014/main" id="{DB6955E4-A9F3-45EC-AD56-1DE03B499514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74</a:t>
            </a:fld>
            <a:endParaRPr/>
          </a:p>
        </p:txBody>
      </p:sp>
      <p:sp>
        <p:nvSpPr>
          <p:cNvPr id="5375" name="TextBox 5374">
            <a:extLst>
              <a:ext uri="{FF2B5EF4-FFF2-40B4-BE49-F238E27FC236}">
                <a16:creationId xmlns:a16="http://schemas.microsoft.com/office/drawing/2014/main" id="{141F4283-ACE6-4C97-BB7B-39679E3E3296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facilities</a:t>
            </a:r>
          </a:p>
        </p:txBody>
      </p:sp>
      <p:graphicFrame>
        <p:nvGraphicFramePr>
          <p:cNvPr id="5397" name="Table 5375"/>
          <p:cNvGraphicFramePr/>
          <p:nvPr/>
        </p:nvGraphicFramePr>
        <p:xfrm>
          <a:off x="822960" y="2717596"/>
          <a:ext cx="16459198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1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type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grade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capacity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sh1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실내체육관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sh2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안평면사무소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care1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요양병원(가상)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temple1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운람사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국가유산·사찰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pl1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송전선(가상)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송전시설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77" name="TextBox 5376">
            <a:extLst>
              <a:ext uri="{FF2B5EF4-FFF2-40B4-BE49-F238E27FC236}">
                <a16:creationId xmlns:a16="http://schemas.microsoft.com/office/drawing/2014/main" id="{048E7031-CD05-4FBA-B443-DEBB30C15745}"/>
              </a:ext>
            </a:extLst>
          </p:cNvPr>
          <p:cNvSpPr>
            <a:spLocks noGrp="1"/>
          </p:cNvSpPr>
          <p:nvPr/>
        </p:nvSpPr>
        <p:spPr>
          <a:xfrm>
            <a:off x="822960" y="477956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prediction_runs</a:t>
            </a:r>
          </a:p>
        </p:txBody>
      </p:sp>
      <p:graphicFrame>
        <p:nvGraphicFramePr>
          <p:cNvPr id="5399" name="Table 5377"/>
          <p:cNvGraphicFramePr/>
          <p:nvPr/>
        </p:nvGraphicFramePr>
        <p:xfrm>
          <a:off x="822960" y="5101437"/>
          <a:ext cx="16459195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9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7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97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48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perimeter_id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wind_speed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wind_dir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status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requested_by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2025-03-22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5.6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DONE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 (cmd01)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9" name="TextBox 5378">
            <a:extLst>
              <a:ext uri="{FF2B5EF4-FFF2-40B4-BE49-F238E27FC236}">
                <a16:creationId xmlns:a16="http://schemas.microsoft.com/office/drawing/2014/main" id="{84790347-E97A-4EDE-B2B8-7A848F316528}"/>
              </a:ext>
            </a:extLst>
          </p:cNvPr>
          <p:cNvSpPr>
            <a:spLocks noGrp="1"/>
          </p:cNvSpPr>
          <p:nvPr/>
        </p:nvSpPr>
        <p:spPr>
          <a:xfrm>
            <a:off x="822960" y="5956401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spread_slices</a:t>
            </a:r>
          </a:p>
        </p:txBody>
      </p:sp>
      <p:graphicFrame>
        <p:nvGraphicFramePr>
          <p:cNvPr id="5401" name="Table 5379"/>
          <p:cNvGraphicFramePr/>
          <p:nvPr/>
        </p:nvGraphicFramePr>
        <p:xfrm>
          <a:off x="822960" y="6278270"/>
          <a:ext cx="16459200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t_hours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area_ha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1,593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4,077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1" name="TextBox 5380">
            <a:extLst>
              <a:ext uri="{FF2B5EF4-FFF2-40B4-BE49-F238E27FC236}">
                <a16:creationId xmlns:a16="http://schemas.microsoft.com/office/drawing/2014/main" id="{F40C3B7E-F614-4850-886F-4105D5407C55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136984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7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78" name="Title">
            <a:extLst>
              <a:ext uri="{FF2B5EF4-FFF2-40B4-BE49-F238E27FC236}">
                <a16:creationId xmlns:a16="http://schemas.microsoft.com/office/drawing/2014/main" id="{796FFB7F-65F6-4EC0-8FEB-1EB69EA532BE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79" name="Subtitle">
            <a:extLst>
              <a:ext uri="{FF2B5EF4-FFF2-40B4-BE49-F238E27FC236}">
                <a16:creationId xmlns:a16="http://schemas.microsoft.com/office/drawing/2014/main" id="{D7E2BF5F-82FB-4D36-A173-21CABE489866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75</a:t>
            </a:fld>
            <a:endParaRPr/>
          </a:p>
        </p:txBody>
      </p:sp>
      <p:sp>
        <p:nvSpPr>
          <p:cNvPr id="5380" name="TextBox 5379">
            <a:extLst>
              <a:ext uri="{FF2B5EF4-FFF2-40B4-BE49-F238E27FC236}">
                <a16:creationId xmlns:a16="http://schemas.microsoft.com/office/drawing/2014/main" id="{6BA37C85-A54E-49F5-B180-D0333A9E8324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situation_corrections</a:t>
            </a:r>
          </a:p>
        </p:txBody>
      </p:sp>
      <p:graphicFrame>
        <p:nvGraphicFramePr>
          <p:cNvPr id="5402" name="Table 5380"/>
          <p:cNvGraphicFramePr/>
          <p:nvPr/>
        </p:nvGraphicFramePr>
        <p:xfrm>
          <a:off x="822960" y="2717596"/>
          <a:ext cx="16459194" cy="603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4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37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165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message_id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target_type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target_id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before → after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confirmed_at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bakgok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상태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 →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82" name="TextBox 5381">
            <a:extLst>
              <a:ext uri="{FF2B5EF4-FFF2-40B4-BE49-F238E27FC236}">
                <a16:creationId xmlns:a16="http://schemas.microsoft.com/office/drawing/2014/main" id="{84C75AC3-DFCD-4307-993D-75839FF76F6A}"/>
              </a:ext>
            </a:extLst>
          </p:cNvPr>
          <p:cNvSpPr>
            <a:spLocks noGrp="1"/>
          </p:cNvSpPr>
          <p:nvPr/>
        </p:nvSpPr>
        <p:spPr>
          <a:xfrm>
            <a:off x="822960" y="3572560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proposals</a:t>
            </a:r>
          </a:p>
        </p:txBody>
      </p:sp>
      <p:graphicFrame>
        <p:nvGraphicFramePr>
          <p:cNvPr id="5404" name="Table 5382"/>
          <p:cNvGraphicFramePr/>
          <p:nvPr/>
        </p:nvGraphicFramePr>
        <p:xfrm>
          <a:off x="822960" y="3894429"/>
          <a:ext cx="16459195" cy="9052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5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3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9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1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version_no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reason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official_stage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rec_stage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stage_up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갱신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확산대응 2단계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초기대응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확산대응 2단계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True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84" name="TextBox 5383">
            <a:extLst>
              <a:ext uri="{FF2B5EF4-FFF2-40B4-BE49-F238E27FC236}">
                <a16:creationId xmlns:a16="http://schemas.microsoft.com/office/drawing/2014/main" id="{77B739C5-0294-443A-B204-BC7C7A7E79F6}"/>
              </a:ext>
            </a:extLst>
          </p:cNvPr>
          <p:cNvSpPr>
            <a:spLocks noGrp="1"/>
          </p:cNvSpPr>
          <p:nvPr/>
        </p:nvSpPr>
        <p:spPr>
          <a:xfrm>
            <a:off x="822960" y="505114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proposal_items</a:t>
            </a:r>
          </a:p>
        </p:txBody>
      </p:sp>
      <p:graphicFrame>
        <p:nvGraphicFramePr>
          <p:cNvPr id="5406" name="Table 5384"/>
          <p:cNvGraphicFramePr/>
          <p:nvPr/>
        </p:nvGraphicFramePr>
        <p:xfrm>
          <a:off x="822960" y="5373014"/>
          <a:ext cx="16459196" cy="1810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2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2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40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34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axis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categories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finding (요약)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authority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[협의]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피해면적(P5) 1,592.6 ha → 확산대응 2단계 기준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협의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괴산리·박곡리·석탑리·방하리 / 잠재 하화리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괴산리(13:00) → 박곡리(15:00) → 석탑리(16:00) → 방하리(17:00)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[요청]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대피로 A와 진화차량 진입로 겹침, 겹침 구간 P3 도달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요청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[즉시, 대기]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 제외 — 괴산리 → 석탑리 → 방하리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직접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86" name="TextBox 5385">
            <a:extLst>
              <a:ext uri="{FF2B5EF4-FFF2-40B4-BE49-F238E27FC236}">
                <a16:creationId xmlns:a16="http://schemas.microsoft.com/office/drawing/2014/main" id="{7ADF9869-6592-4496-A279-8BC45F75FBB3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14054698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9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0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1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83" name="Title">
            <a:extLst>
              <a:ext uri="{FF2B5EF4-FFF2-40B4-BE49-F238E27FC236}">
                <a16:creationId xmlns:a16="http://schemas.microsoft.com/office/drawing/2014/main" id="{D609E713-9E04-4B06-8E9A-A04A6AA00755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84" name="Subtitle">
            <a:extLst>
              <a:ext uri="{FF2B5EF4-FFF2-40B4-BE49-F238E27FC236}">
                <a16:creationId xmlns:a16="http://schemas.microsoft.com/office/drawing/2014/main" id="{9409818E-A667-4A51-B80F-EFAE4C1F040C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76</a:t>
            </a:fld>
            <a:endParaRPr/>
          </a:p>
        </p:txBody>
      </p:sp>
      <p:sp>
        <p:nvSpPr>
          <p:cNvPr id="5385" name="TextBox 5384">
            <a:extLst>
              <a:ext uri="{FF2B5EF4-FFF2-40B4-BE49-F238E27FC236}">
                <a16:creationId xmlns:a16="http://schemas.microsoft.com/office/drawing/2014/main" id="{33AAFC66-E0D7-4FD0-9B7B-A33F818D0991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evidence_chunks</a:t>
            </a:r>
          </a:p>
        </p:txBody>
      </p:sp>
      <p:graphicFrame>
        <p:nvGraphicFramePr>
          <p:cNvPr id="5407" name="Table 5385"/>
          <p:cNvGraphicFramePr/>
          <p:nvPr/>
        </p:nvGraphicFramePr>
        <p:xfrm>
          <a:off x="822960" y="2717596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9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chunk_id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doc_name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page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판단기준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p.74~76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위험구역과 주민대피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안전취약계층 우선 대피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SM-p119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p.119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주요 기능(경찰)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7" name="TextBox 5386">
            <a:extLst>
              <a:ext uri="{FF2B5EF4-FFF2-40B4-BE49-F238E27FC236}">
                <a16:creationId xmlns:a16="http://schemas.microsoft.com/office/drawing/2014/main" id="{51260ED9-D09C-448A-8664-1EC24BCC2854}"/>
              </a:ext>
            </a:extLst>
          </p:cNvPr>
          <p:cNvSpPr>
            <a:spLocks noGrp="1"/>
          </p:cNvSpPr>
          <p:nvPr/>
        </p:nvSpPr>
        <p:spPr>
          <a:xfrm>
            <a:off x="822960" y="4477816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citations</a:t>
            </a:r>
          </a:p>
        </p:txBody>
      </p:sp>
      <p:graphicFrame>
        <p:nvGraphicFramePr>
          <p:cNvPr id="5409" name="Table 5387"/>
          <p:cNvGraphicFramePr/>
          <p:nvPr/>
        </p:nvGraphicFramePr>
        <p:xfrm>
          <a:off x="822960" y="4799685"/>
          <a:ext cx="16459198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8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6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4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message_id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chunk_id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score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SM-p079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0.81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89" name="TextBox 5388">
            <a:extLst>
              <a:ext uri="{FF2B5EF4-FFF2-40B4-BE49-F238E27FC236}">
                <a16:creationId xmlns:a16="http://schemas.microsoft.com/office/drawing/2014/main" id="{7C46937A-101B-44BC-AFC4-25623E1CADAE}"/>
              </a:ext>
            </a:extLst>
          </p:cNvPr>
          <p:cNvSpPr>
            <a:spLocks noGrp="1"/>
          </p:cNvSpPr>
          <p:nvPr/>
        </p:nvSpPr>
        <p:spPr>
          <a:xfrm>
            <a:off x="822960" y="6559905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chat_messages</a:t>
            </a:r>
          </a:p>
        </p:txBody>
      </p:sp>
      <p:graphicFrame>
        <p:nvGraphicFramePr>
          <p:cNvPr id="5411" name="Table 5389"/>
          <p:cNvGraphicFramePr/>
          <p:nvPr/>
        </p:nvGraphicFramePr>
        <p:xfrm>
          <a:off x="822960" y="6881774"/>
          <a:ext cx="16459197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8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5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item_code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sender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박곡리를 석탑리보다 먼저 대피시키는 이유는?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박곡리는 화선 도달 순서가 빠르고 고령자가 많아 안전취약계층 우선 대피 원칙이 적용됩니다 [1].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CORRECTION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정정으로 판정 — 정정 확인 카드를 엽니다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91" name="TextBox 5390">
            <a:extLst>
              <a:ext uri="{FF2B5EF4-FFF2-40B4-BE49-F238E27FC236}">
                <a16:creationId xmlns:a16="http://schemas.microsoft.com/office/drawing/2014/main" id="{95A0D1FC-CDB6-42DE-9282-0129CC03856A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5891637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8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9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0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1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6300" y="317500"/>
            <a:ext cx="2120900" cy="1333500"/>
          </a:xfrm>
          <a:prstGeom prst="rect">
            <a:avLst/>
          </a:prstGeom>
        </p:spPr>
      </p:pic>
      <p:sp>
        <p:nvSpPr>
          <p:cNvPr id="5388" name="Title">
            <a:extLst>
              <a:ext uri="{FF2B5EF4-FFF2-40B4-BE49-F238E27FC236}">
                <a16:creationId xmlns:a16="http://schemas.microsoft.com/office/drawing/2014/main" id="{D7F8B37F-E1A3-45F7-8CC6-BA8D7F4817B1}"/>
              </a:ext>
            </a:extLst>
          </p:cNvPr>
          <p:cNvSpPr>
            <a:spLocks noGrp="1"/>
          </p:cNvSpPr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06. 관계형 데이터베이스</a:t>
            </a:r>
          </a:p>
        </p:txBody>
      </p:sp>
      <p:sp>
        <p:nvSpPr>
          <p:cNvPr id="5389" name="Subtitle">
            <a:extLst>
              <a:ext uri="{FF2B5EF4-FFF2-40B4-BE49-F238E27FC236}">
                <a16:creationId xmlns:a16="http://schemas.microsoft.com/office/drawing/2014/main" id="{71C267FF-18D0-4691-917D-8776EC4BCE90}"/>
              </a:ext>
            </a:extLst>
          </p:cNvPr>
          <p:cNvSpPr>
            <a:spLocks noGrp="1"/>
          </p:cNvSpPr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2. 정적 모델링 – </a:t>
            </a:r>
            <a:r>
              <a:rPr sz="2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예시 데이터 (의성 2025-03-22 시나리오)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/>
              <a:t>77</a:t>
            </a:fld>
            <a:endParaRPr/>
          </a:p>
        </p:txBody>
      </p:sp>
      <p:sp>
        <p:nvSpPr>
          <p:cNvPr id="5390" name="TextBox 5389">
            <a:extLst>
              <a:ext uri="{FF2B5EF4-FFF2-40B4-BE49-F238E27FC236}">
                <a16:creationId xmlns:a16="http://schemas.microsoft.com/office/drawing/2014/main" id="{B5892421-FA53-43F4-956A-4AC09925BFF9}"/>
              </a:ext>
            </a:extLst>
          </p:cNvPr>
          <p:cNvSpPr>
            <a:spLocks noGrp="1"/>
          </p:cNvSpPr>
          <p:nvPr/>
        </p:nvSpPr>
        <p:spPr>
          <a:xfrm>
            <a:off x="822960" y="2395728"/>
            <a:ext cx="91440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5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event_logs</a:t>
            </a:r>
          </a:p>
        </p:txBody>
      </p:sp>
      <p:graphicFrame>
        <p:nvGraphicFramePr>
          <p:cNvPr id="5406" name="Table 5390"/>
          <p:cNvGraphicFramePr/>
          <p:nvPr/>
        </p:nvGraphicFramePr>
        <p:xfrm>
          <a:off x="822960" y="2717596"/>
          <a:ext cx="16459198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9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user_id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category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created_at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content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E6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03-02 09:30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 계정 발급(REPORTER)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F-2025-0321-01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종료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03-21 18:40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 점곡면 산불 종료 처리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rep01 로그인(상황 보고자)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4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입력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11:55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정보 갱신 · 실측 화선 12.7 ha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5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NULL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cmd01 로그인(통합지휘권자)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갱신 — 5h 1,593 ha, 8h 4,077 ha, 주 방향 동북동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버전 1 생성(예측 갱신)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8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부족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S5 시설 보호 — 근거 없는 문장 미출력(송전선 보호 조치 수량)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28219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9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정정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박곡리 대피 완료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F-2025-0322-01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03-22 12:01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버전 2 생성(상황 정정) · 변경 1건</a:t>
                      </a:r>
                    </a:p>
                  </a:txBody>
                  <a:tcPr marL="57150" marR="57150" marT="20116" marB="20116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92" name="TextBox 5391">
            <a:extLst>
              <a:ext uri="{FF2B5EF4-FFF2-40B4-BE49-F238E27FC236}">
                <a16:creationId xmlns:a16="http://schemas.microsoft.com/office/drawing/2014/main" id="{C355EF3B-C77D-4F30-9673-13413AAF4A25}"/>
              </a:ext>
            </a:extLst>
          </p:cNvPr>
          <p:cNvSpPr>
            <a:spLocks noGrp="1"/>
          </p:cNvSpPr>
          <p:nvPr/>
        </p:nvSpPr>
        <p:spPr>
          <a:xfrm>
            <a:off x="822960" y="8883396"/>
            <a:ext cx="164592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좌표·발생 시각·접수 경로·마을 좌표는 실제(보도·OSM·SGIS), 실측 화선·사곡면·점곡면 산불·계정·인구·자원·수용 인원·위험도 요인 점수는 목업과 같은 시연용 가상값입니다.</a:t>
            </a:r>
          </a:p>
        </p:txBody>
      </p:sp>
    </p:spTree>
    <p:extLst>
      <p:ext uri="{BB962C8B-B14F-4D97-AF65-F5344CB8AC3E}">
        <p14:creationId xmlns:p14="http://schemas.microsoft.com/office/powerpoint/2010/main" val="2012611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90" name="TextBox 5389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39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39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39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요구사항 목록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graphicFrame>
        <p:nvGraphicFramePr>
          <p:cNvPr id="5397" name="Table 5396"/>
          <p:cNvGraphicFramePr>
            <a:graphicFrameLocks noGrp="1"/>
          </p:cNvGraphicFramePr>
          <p:nvPr/>
        </p:nvGraphicFramePr>
        <p:xfrm>
          <a:off x="822960" y="2395728"/>
          <a:ext cx="8058150" cy="40233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단말 환경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서버: 예측·AI 추론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 서버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응답 시간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 사용자 처리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 자료 보호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 보안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398" name="Table 5397"/>
          <p:cNvGraphicFramePr>
            <a:graphicFrameLocks noGrp="1"/>
          </p:cNvGraphicFramePr>
          <p:nvPr/>
        </p:nvGraphicFramePr>
        <p:xfrm>
          <a:off x="9166860" y="2395728"/>
          <a:ext cx="8058150" cy="38407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9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 근거 준수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시스템 고지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이용 조건 준수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81">
                <a:tc rowSpan="3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부기와 문체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일관성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81">
                <a:tc rowSpan="2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적재·갱신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81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 기반 배포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781">
                <a:tc rowSpan="2"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
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 테스트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 평가</a:t>
                      </a:r>
                    </a:p>
                  </a:txBody>
                  <a:tcPr marT="40233" marB="40233" anchor="ctr">
                    <a:lnL w="9525">
                      <a:solidFill>
                        <a:srgbClr val="C3C8D4"/>
                      </a:solidFill>
                    </a:lnL>
                    <a:lnR w="9525">
                      <a:solidFill>
                        <a:srgbClr val="C3C8D4"/>
                      </a:solidFill>
                    </a:lnR>
                    <a:lnT w="9525">
                      <a:solidFill>
                        <a:srgbClr val="C3C8D4"/>
                      </a:solidFill>
                    </a:lnT>
                    <a:lnB w="9525">
                      <a:solidFill>
                        <a:srgbClr val="C3C8D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39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39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0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0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graphicFrame>
        <p:nvGraphicFramePr>
          <p:cNvPr id="5402" name="Table 5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32612"/>
              </p:ext>
            </p:extLst>
          </p:nvPr>
        </p:nvGraphicFramePr>
        <p:xfrm>
          <a:off x="2880360" y="2546604"/>
          <a:ext cx="12344400" cy="59756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04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중심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화면에서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근거를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확인하는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지도 중심 단일 화면 구성</a:t>
                      </a:r>
                      <a:endParaRPr lang="ko-KR" altLang="en-US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통합지휘권자·열람자는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통합 상황도 열람과 지도 조작(이동·확대·레이어 선택·시간 재생)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데이터 변경(예측 실행·상황 정정·종료 처리)은 통합지휘권자만 가능</a:t>
                      </a:r>
                      <a:endParaRPr lang="ko-KR" sz="145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상황 보고자는 산불 정보 입력 화면 사용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전산 관리자는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계정·진화자원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관리 화면 사용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진화·대피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제안을 구분하여 표시하고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즉시·대기·협의·요청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상태를 구분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제안 상세에서 판정 </a:t>
                      </a:r>
                      <a:r>
                        <a:rPr lang="ko-KR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이유·대상·권한·근거를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확인 가능</a:t>
                      </a:r>
                      <a:endParaRPr lang="ko-KR" sz="14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lang="af-ZA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목업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(GitHub Pages),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프로토타입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094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5">
            <a:extLst>
              <a:ext uri="{FF2B5EF4-FFF2-40B4-BE49-F238E27FC236}">
                <a16:creationId xmlns:a16="http://schemas.microsoft.com/office/drawing/2014/main" id="{B4146096-AA7F-CC7C-5F4E-C430C2AD0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0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0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graphicFrame>
        <p:nvGraphicFramePr>
          <p:cNvPr id="5407" name="Table 5406"/>
          <p:cNvGraphicFramePr>
            <a:graphicFrameLocks noGrp="1"/>
          </p:cNvGraphicFramePr>
          <p:nvPr/>
        </p:nvGraphicFramePr>
        <p:xfrm>
          <a:off x="2880360" y="2546604"/>
          <a:ext cx="12344400" cy="57735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요소 간 통신 방식과 데이터 형식 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27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프론트엔드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↔API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서버: REST/HTTPS/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JSON·GeoJSON</a:t>
                      </a:r>
                      <a:endParaRPr lang="en-US" altLang="ko-KR" sz="1450" b="0" i="0" u="none" strike="noStrike" noProof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API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서버↔확산예측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모듈: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입력·출력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데이터 기반 연계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API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서버↔LLM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내부 HTTP 통신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기상청 및 공공데이터 API 연계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상황 보고자가 발화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위치·발생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시각·실측 화선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폴리곤을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입력 가능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API 명세서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ECR-001, 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0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0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0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1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1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인터페이스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graphicFrame>
        <p:nvGraphicFramePr>
          <p:cNvPr id="5412" name="Table 541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PC 웹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기준으로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호환성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지원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브라우저</a:t>
                      </a:r>
                      <a:endParaRPr lang="ko-KR" altLang="en-US"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 -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Chrome·Edge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최신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2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개 버전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(WebGL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지원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필수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)</a:t>
                      </a:r>
                      <a:endParaRPr lang="en-US" altLang="ko-KR"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해상도</a:t>
                      </a:r>
                      <a:endParaRPr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 -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1920×1080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,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1366×768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에서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기능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손실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  <a:endParaRPr/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설치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없이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웹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접속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별도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클라이언트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없음</a:t>
                      </a:r>
                      <a:r>
                        <a:rPr lang="en-US" altLang="ko-KR" sz="145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)</a:t>
                      </a:r>
                      <a:endParaRPr lang="en-US" altLang="ko-KR"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환경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1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1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1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1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1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  <p:graphicFrame>
        <p:nvGraphicFramePr>
          <p:cNvPr id="5417" name="Table 5416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: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예측·AI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LLM·임베딩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추론을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수행하는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하드웨어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NVIDIA RTX A6000 48GB 1장,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디스크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100GB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Linux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탑재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모델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ELMFIRE 1.1(Docker), EXAONE 4.0 32B 4비트(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vLLM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), KURE-v1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→ LLM 1개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단일 모델 위에 에이전트 2개(상황판단: A1~A4 단계, 어시스턴트: 질의응답·상황 정정 해석)를 역할 프롬프트로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순차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호출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PER-001, SER-002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1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1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2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2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graphicFrame>
        <p:nvGraphicFramePr>
          <p:cNvPr id="5422" name="Table 542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대시보드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API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게이트웨이를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맡는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AWS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인스턴스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React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대시보드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FastAPI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프록시·API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게이트웨이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GPU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서버와는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SSH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터널·내부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허용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AWS는 화면 배포와 요청 중계만 맡고, 추론·매뉴얼·상황 데이터는 내부 GPU 서버에 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아키텍처 설계</a:t>
                      </a:r>
                      <a:endParaRPr lang="en-US" altLang="ko-KR" sz="15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시스템 장비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  <p:graphicFrame>
        <p:nvGraphicFramePr>
          <p:cNvPr id="5427" name="Table 5426"/>
          <p:cNvGraphicFramePr>
            <a:graphicFrameLocks noGrp="1"/>
          </p:cNvGraphicFramePr>
          <p:nvPr/>
        </p:nvGraphicFramePr>
        <p:xfrm>
          <a:off x="2880360" y="2546604"/>
          <a:ext cx="12344400" cy="5501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장비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공간·운영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색인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PostgreSQL +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PostGIS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행정경계·마을·시설·도로</a:t>
                      </a:r>
                      <a:r>
                        <a:rPr 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5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화선·확산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슬라이스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사건·제안·정정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저장소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 - SQLite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청크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테이블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+ FAISS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인덱스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재구축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스크립트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인덱스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GiST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교차·거리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계산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ERD,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테이블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구조 설계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2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2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2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3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3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  <p:graphicFrame>
        <p:nvGraphicFramePr>
          <p:cNvPr id="5432" name="Table 543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예측과 대응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생성의 처리 범위와 순서(처리시간 목표는 두지 않음)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 범위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P1~P8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기준 최대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8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시간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제안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생성은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진화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S1~S7· </a:t>
                      </a:r>
                      <a:r>
                        <a:rPr lang="en-US" alt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E1~E7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 판정과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 기반으로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lang="en-US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+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생성은 통합지휘권자가 실행할 때마다 한 번에 완료(자동 주기 실행 없음)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처리시간 목표(타임 리밋)는 두지 않으며, 실제 처리시간은 구현 후 실측해 참고값으로 기록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상황 정정 시 확산 예측은 재실행하지 않고 규칙 판정과 제안 생성만 다시 실행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 결과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3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3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3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3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3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graphicFrame>
        <p:nvGraphicFramePr>
          <p:cNvPr id="5437" name="Table 543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응답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조회·조작에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응답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레이어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슬라이더는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수신한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이용해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갱신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사건·자원·제안·근거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응답시간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AI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질의응답은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중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  <a:endParaRPr err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3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3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3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4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4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성능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  <p:graphicFrame>
        <p:nvGraphicFramePr>
          <p:cNvPr id="5442" name="Table 544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처리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한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사건을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여러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역할의 사용자가 동시에 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사용하는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1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명과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다수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접속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병행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사건의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실행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재생성은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중복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실행되지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않도록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제어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4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4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4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4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4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  <p:graphicFrame>
        <p:nvGraphicFramePr>
          <p:cNvPr id="5447" name="Table 5446"/>
          <p:cNvGraphicFramePr>
            <a:graphicFrameLocks noGrp="1"/>
          </p:cNvGraphicFramePr>
          <p:nvPr/>
        </p:nvGraphicFramePr>
        <p:xfrm>
          <a:off x="2880360" y="2546604"/>
          <a:ext cx="12344400" cy="55019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발급 계정 기반 인증과 사용자 구분별 권한 통제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조작+열람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열람만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보고자: 발화 정보 및 실측 화선 보고</a:t>
                      </a:r>
                      <a:endParaRPr lang="ko-KR" altLang="en-US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: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 차단</a:t>
                      </a:r>
                      <a:endParaRPr lang="en-US" altLang="ko-KR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로그인 5회 연속 실패 시 계정 잠금, 전산 관리자만 잠금 해제</a:t>
                      </a:r>
                      <a:endParaRPr lang="en-US" altLang="ko-KR" i="0" u="none" strike="noStrike" noProof="0"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4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4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4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5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5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  <p:graphicFrame>
        <p:nvGraphicFramePr>
          <p:cNvPr id="5452" name="Table 545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등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열람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자료의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방지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LLM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추론을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GPU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서버에서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임베딩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로컬에서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LLM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매뉴얼·상황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전송하지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않음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접근은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필요한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범위로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LGR-001, ECR-001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5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5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5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5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보안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  <p:graphicFrame>
        <p:nvGraphicFramePr>
          <p:cNvPr id="5457" name="Table 545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전송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암호화와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비밀번호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HTTPS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적용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GPU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통신만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허용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비밀번호는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주요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시각과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함께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5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5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5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6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6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  <p:graphicFrame>
        <p:nvGraphicFramePr>
          <p:cNvPr id="5462" name="Table 546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판단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설명은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공식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위기관리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표준매뉴얼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산불진화기관의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임무와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역할에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활용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법령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규정의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반영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제안문과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문서를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연결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6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6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graphicFrame>
        <p:nvGraphicFramePr>
          <p:cNvPr id="5467" name="Table 546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의사결정 지원을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제공하며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권한을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대신하지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않음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형태로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최종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결정은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통합지휘권자가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시스템이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자동으로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법적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명령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않음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뒤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6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6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6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7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7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법적/규제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  <p:graphicFrame>
        <p:nvGraphicFramePr>
          <p:cNvPr id="5472" name="Table 547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/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조건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데이터셋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공공데이터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조건과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표기를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AI Hub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이용약관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2.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공공데이터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기상청·SGIS·공공데이터포털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표기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3. OpenStreetMap(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ODbL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)·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타일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라이선스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준수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7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7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7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7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7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  <p:graphicFrame>
        <p:nvGraphicFramePr>
          <p:cNvPr id="5477" name="Table 547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부기와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문장이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사용자가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추적할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수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있어야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함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제안·답변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문장에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문서·쪽수·조항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설명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매뉴얼에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기준이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없는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경우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을 만들지 않고, 근거가 없는 수량·문장은 출력하지 않은 채 「근거가 부족하여 표시하지 않았습니다」로 안내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문체는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일관된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격식체로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LGR-001, TER-002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7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7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7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8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8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graphicFrame>
        <p:nvGraphicFramePr>
          <p:cNvPr id="5482" name="Table 548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일관성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조건에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구조가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일관되게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유지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 문서에 경계값·수치가 있는 값(수치·구역·대응단계)의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엔진이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수행</a:t>
                      </a:r>
                      <a:endParaRPr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값을 넘겨받아 대응 제안을 판단·작성하고 검색 근거를 인용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구조와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S1~S7·E1~E7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항목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순서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고정</a:t>
                      </a:r>
                      <a:endParaRPr lang="en-US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단계별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입력·출력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저장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규칙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판정값을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임의로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재계산하지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않도록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8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8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8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8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8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품질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graphicFrame>
        <p:nvGraphicFramePr>
          <p:cNvPr id="5487" name="Table 5486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 상황에서 사용자가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짧은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시간에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핵심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대응을 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파악할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수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있는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항목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목록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제공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상세정보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조회</a:t>
                      </a:r>
                      <a:endParaRPr lang="ko-KR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탭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endParaRPr lang="ko-KR" sz="14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</a:t>
                      </a:r>
                      <a:r>
                        <a:rPr lang="ko-KR"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즉시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대기·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협의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요청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표시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판정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이유·대상·권한·근거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상세정보 제공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지도·상황정보</a:t>
                      </a:r>
                      <a:r>
                        <a:rPr 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통합 화면 구성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8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8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8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9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9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운영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graphicFrame>
        <p:nvGraphicFramePr>
          <p:cNvPr id="5492" name="Table 5491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시스템에서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발생한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주요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이벤트와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처리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오류를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내부적으로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기록하고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추적</a:t>
                      </a:r>
                      <a:endParaRPr sz="1450" b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 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로그아웃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발화정보 입력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 실행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 생성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정정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종료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자원 변경·근거 부족 이벤트 기록</a:t>
                      </a:r>
                      <a:endParaRPr lang="ko-KR" alt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이벤트 발생 시각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사용자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구분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 저장</a:t>
                      </a:r>
                      <a:endParaRPr lang="en-US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규칙 판정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답변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 등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AI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처리 단계의 실행 상태 및 오류 기록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모델 실행 실패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·LLM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형식 오류 발생 시 재시도 횟수와 오류 원인 기록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기상청 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응답 실패 시 마지막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수신값과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수신 시각 표시</a:t>
                      </a:r>
                      <a:endParaRPr lang="ko-KR" altLang="en-US" i="0" u="none" strike="noStrike" noProof="0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이벤트 로그는 이력 탭에서 시각·구분·내용·사용자 기준으로 읽기 전용 열람(UC-PROP-04)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 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9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9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9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49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49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운영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graphicFrame>
        <p:nvGraphicFramePr>
          <p:cNvPr id="5497" name="Table 5496"/>
          <p:cNvGraphicFramePr>
            <a:graphicFrameLocks noGrp="1"/>
          </p:cNvGraphicFramePr>
          <p:nvPr/>
        </p:nvGraphicFramePr>
        <p:xfrm>
          <a:off x="2880360" y="2546604"/>
          <a:ext cx="12344400" cy="5230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적재·갱신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레이어와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색인의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적재·재구축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체계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행정경계·마을·시설·도로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사전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배치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적재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전산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관리자가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등록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수정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삭제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기상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정보는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외부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API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통해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갱신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산불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정보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결과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제안·정정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기록은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이력으로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보존</a:t>
                      </a:r>
                      <a:endParaRPr lang="en-US" altLang="ko-KR" i="0" u="none" strike="noStrike" noProof="0" dirty="0" err="1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청크와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검색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인덱스는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재구축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가능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49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49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49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0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0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배포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graphicFrame>
        <p:nvGraphicFramePr>
          <p:cNvPr id="5502" name="Table 5501"/>
          <p:cNvGraphicFramePr>
            <a:graphicFrameLocks noGrp="1"/>
          </p:cNvGraphicFramePr>
          <p:nvPr/>
        </p:nvGraphicFramePr>
        <p:xfrm>
          <a:off x="2880360" y="2546604"/>
          <a:ext cx="12344400" cy="51800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기반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요소를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분리해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가능하게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ELMFIRE·API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서버·LLM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서버를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컨테이너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단위로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Git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소스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버전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모델·프롬프트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설정값을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버전으로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ECR-001, ECR-002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0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0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0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0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0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테스트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graphicFrame>
        <p:nvGraphicFramePr>
          <p:cNvPr id="5507" name="Table 5506"/>
          <p:cNvGraphicFramePr>
            <a:graphicFrameLocks noGrp="1"/>
          </p:cNvGraphicFramePr>
          <p:nvPr/>
        </p:nvGraphicFramePr>
        <p:xfrm>
          <a:off x="2880360" y="2546604"/>
          <a:ext cx="12344400" cy="56651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흐름과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출력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형식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6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en-US" sz="1400" b="0" i="0" u="none" strike="noStrike" noProof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1.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시연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시나리오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의성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2025-03-22)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기준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시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기본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대안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예외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흐름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  <a:cs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로그인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및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역할별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 보고자의 산불 상황 보고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→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대피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생성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흐름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  <a:endParaRPr lang="ko-KR" alt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후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예측은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유지되고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제안만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재생성되는지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</a:t>
                      </a:r>
                      <a:endParaRPr lang="ko-KR" alt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제안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번호와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실제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연결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일치</a:t>
                      </a:r>
                      <a:r>
                        <a:rPr lang="en-US" altLang="ko-KR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확인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평시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계정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관리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기능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단위</a:t>
                      </a:r>
                      <a:r>
                        <a:rPr 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0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테스트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en-US" sz="1450" b="0" dirty="0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0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0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0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1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</a:t>
            </a:r>
          </a:p>
        </p:txBody>
      </p:sp>
      <p:sp>
        <p:nvSpPr>
          <p:cNvPr id="551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테스트 요구사항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graphicFrame>
        <p:nvGraphicFramePr>
          <p:cNvPr id="5512" name="Table 5511"/>
          <p:cNvGraphicFramePr>
            <a:graphicFrameLocks noGrp="1"/>
          </p:cNvGraphicFramePr>
          <p:nvPr/>
        </p:nvGraphicFramePr>
        <p:xfrm>
          <a:off x="2880360" y="2546604"/>
          <a:ext cx="12344400" cy="56720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고유번호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명칭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모델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2">
                <a:tc rowSpan="2"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
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상세설명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성능과 대응 제안 성능(검색·생성)을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자동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지표로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세부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50" b="0" i="0" u="none" strike="noStrike" noProof="0" dirty="0">
                        <a:solidFill>
                          <a:srgbClr val="2E3142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1.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 예측은 보정에 쓰지 않은 hold-out 산불 사건, 대응 제안은 K 선택에 쓰지 않은 시험용 시나리오로 평가</a:t>
                      </a:r>
                      <a:endParaRPr lang="ko-KR" altLang="en-US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2.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확산 예측 성능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(IoU·정밀도·재현율·F1·F2)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측정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3.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 제안 검색 성능(근거 순위 정밀도@K·필요 근거 확보율@K) 측정, K = 3·5·7·10 비교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4.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대응 제안 생성 성능(제안 근거 충실도·제안 질의 관련도) 측정, 로컬 EXAONE으로 RAGAS 채점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5.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동일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질의에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대해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RAG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적용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/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미적용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비교</a:t>
                      </a:r>
                      <a:endParaRPr lang="ko-KR"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6.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출력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형식</a:t>
                      </a:r>
                      <a:r>
                        <a:rPr 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근거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번호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권한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표기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자동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검사</a:t>
                      </a:r>
                      <a:endParaRPr dirty="0">
                        <a:latin typeface="210 OmniGothic 040"/>
                        <a:ea typeface="210 OmniGothic 040"/>
                      </a:endParaRP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7. AI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상황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정정은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대상</a:t>
                      </a:r>
                      <a:r>
                        <a:rPr 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변경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내용을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올바르게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해석하는지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시나리오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기반으로</a:t>
                      </a:r>
                      <a:r>
                        <a:rPr lang="en-US" altLang="ko-KR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4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검증</a:t>
                      </a:r>
                    </a:p>
                    <a:p>
                      <a:pPr lvl="0" algn="l">
                        <a:lnSpc>
                          <a:spcPct val="110000"/>
                        </a:lnSpc>
                        <a:buNone/>
                      </a:pPr>
                      <a:endParaRPr lang="ko-KR" altLang="en-US" sz="1450" b="0" i="0" u="none" strike="noStrike" noProof="0" dirty="0">
                        <a:solidFill>
                          <a:srgbClr val="2E3142"/>
                        </a:solidFill>
                      </a:endParaRP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산출정보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보고서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QUR-001, LGR-001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  <a:r>
                        <a:rPr sz="14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1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출처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E6E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</a:t>
                      </a:r>
                      <a:r>
                        <a:rPr sz="14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sz="1450" b="0" dirty="0" err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T="40233" marB="40233" anchor="ctr">
                    <a:lnL w="9525">
                      <a:solidFill>
                        <a:srgbClr val="B6BCCB"/>
                      </a:solidFill>
                    </a:lnL>
                    <a:lnR w="9525">
                      <a:solidFill>
                        <a:srgbClr val="B6BCCB"/>
                      </a:solidFill>
                    </a:lnR>
                    <a:lnT w="9525">
                      <a:solidFill>
                        <a:srgbClr val="B6BCCB"/>
                      </a:solidFill>
                    </a:lnT>
                    <a:lnB w="9525">
                      <a:solidFill>
                        <a:srgbClr val="B6BCC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확산 예측 성능 지표 및 하한선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0822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9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지표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 근거 (하한이 뜻하는 것)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영역 일치도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IoU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범위와 실제로 탄 범위가 겹친 정도. 넓게 잡아도, 좁게 잡아도 깎임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0.582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국립산림과학원이 국내 산불 35건으로 검증한 과정 기반(물리) 모형의 일치도 58.2%. 같은 계열인 본 과제 모형이 이보다 낮으면 기존 물리 모형보다 못함. FARSITE 사례 0.535*~0.616*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적중률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정밀도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예측한 범위 중 실제로 탄 비율. 낮으면 불필요한 대피·진화 자원 분산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0.599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59.9%: 예측 범위의 약 40%는 실제로 타지 않은 과대예측이었다는 뜻. FARSITE 사례 0.550~0.553*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연소 영역 탐지율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재현율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실제로 탄 범위 중 예측이 잡아낸 비율. 낮으면 놓친 화선으로 인명 위험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0.956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95.6%: 실제로 탄 범위의 4% 남짓만 놓침. 물리 모형은 넓게 예측해 높게 나오므로 적중률과 함께 봄. FARSITE 사례 0.942*~0.998*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종합 점수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F1-Score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적중률과 탐지율을 같은 비중으로 합친 점수. 한쪽만 높으면 낮게 나옴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0.699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69.9%. FARSITE 사례 Sørensen(= F1) 0.69~0.70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탐지 중심 종합 점수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F2-Score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(핵심 지표)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탐지율에 적중률의 4배 비중을 둔 종합 점수. 놓친 범위를 더 크게 감점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0.805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같은 검증 80.5%로, 설명서도 미탐지가 인명 피해로 이어진다는 이유로 핵심 지표로 지정. FARSITE 사례 0.802*~0.826*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01" name="Card 9801"/>
          <p:cNvSpPr/>
          <p:nvPr/>
        </p:nvSpPr>
        <p:spPr>
          <a:xfrm>
            <a:off x="822960" y="6446520"/>
            <a:ext cx="5394959" cy="1783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2" name="Card 9802"/>
          <p:cNvSpPr/>
          <p:nvPr/>
        </p:nvSpPr>
        <p:spPr>
          <a:xfrm>
            <a:off x="1097280" y="66751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3" name="Card 9803"/>
          <p:cNvSpPr txBox="1"/>
          <p:nvPr/>
        </p:nvSpPr>
        <p:spPr>
          <a:xfrm>
            <a:off x="1097280" y="6793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하한 = 국내 물리 모형 검증치</a:t>
            </a:r>
          </a:p>
        </p:txBody>
      </p:sp>
      <p:sp>
        <p:nvSpPr>
          <p:cNvPr id="9804" name="Card 9804"/>
          <p:cNvSpPr txBox="1"/>
          <p:nvPr/>
        </p:nvSpPr>
        <p:spPr>
          <a:xfrm>
            <a:off x="1097280" y="7178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국립산림과학원이 국내 산불 35건(화선 335개)에서 과정 기반(물리) 확산모형을 실제 화선과 비교한 성능. 본 과제도 물리 모형(ELMFIRE)을 보정해 쓰므로 최소한 이 수준은 넘어야 함. 같은 검증의 AI 모형(일치도 67.1%, 탐지 중심 종합 점수 84.0%)은 목표 참고값</a:t>
            </a:r>
          </a:p>
        </p:txBody>
      </p:sp>
      <p:sp>
        <p:nvSpPr>
          <p:cNvPr id="9805" name="Card 9805"/>
          <p:cNvSpPr/>
          <p:nvPr/>
        </p:nvSpPr>
        <p:spPr>
          <a:xfrm>
            <a:off x="6446520" y="6446520"/>
            <a:ext cx="5394959" cy="1783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6" name="Card 9806"/>
          <p:cNvSpPr/>
          <p:nvPr/>
        </p:nvSpPr>
        <p:spPr>
          <a:xfrm>
            <a:off x="6720840" y="66751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07" name="Card 9807"/>
          <p:cNvSpPr txBox="1"/>
          <p:nvPr/>
        </p:nvSpPr>
        <p:spPr>
          <a:xfrm>
            <a:off x="6720840" y="6793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데이터·시점</a:t>
            </a:r>
          </a:p>
        </p:txBody>
      </p:sp>
      <p:sp>
        <p:nvSpPr>
          <p:cNvPr id="9808" name="Card 9808"/>
          <p:cNvSpPr txBox="1"/>
          <p:nvPr/>
        </p:nvSpPr>
        <p:spPr>
          <a:xfrm>
            <a:off x="6720840" y="7178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연료 파라미터는 일치도(IoU)로 보정하고, 성능은 보정에 쓰지 않은 hold-out 산불 사건의 평균으로 판정. 예측 최종 시점 P8(누적 8시간)을 AI Hub 실측 최종 소실 경계와 비교(설명서는 시점별 진화상황도 화선과 비교)</a:t>
            </a:r>
          </a:p>
        </p:txBody>
      </p:sp>
      <p:sp>
        <p:nvSpPr>
          <p:cNvPr id="9809" name="Card 9809"/>
          <p:cNvSpPr/>
          <p:nvPr/>
        </p:nvSpPr>
        <p:spPr>
          <a:xfrm>
            <a:off x="12070080" y="6446520"/>
            <a:ext cx="5394959" cy="1783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0" name="Card 9810"/>
          <p:cNvSpPr/>
          <p:nvPr/>
        </p:nvSpPr>
        <p:spPr>
          <a:xfrm>
            <a:off x="12344400" y="667512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1" name="Card 9811"/>
          <p:cNvSpPr txBox="1"/>
          <p:nvPr/>
        </p:nvSpPr>
        <p:spPr>
          <a:xfrm>
            <a:off x="12344400" y="6793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핵심 지표: 탐지 중심 종합 점수</a:t>
            </a:r>
          </a:p>
        </p:txBody>
      </p:sp>
      <p:sp>
        <p:nvSpPr>
          <p:cNvPr id="9812" name="Card 9812"/>
          <p:cNvSpPr txBox="1"/>
          <p:nvPr/>
        </p:nvSpPr>
        <p:spPr>
          <a:xfrm>
            <a:off x="12344400" y="7178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놓친 화선은 인명 피해로 이어지므로 탐지율에 4배 비중을 둔 F2를 핵심으로 봄. 탐지율은 넓게 예측하면 오르므로 적중률과 함께 판단</a:t>
            </a:r>
          </a:p>
        </p:txBody>
      </p:sp>
      <p:sp>
        <p:nvSpPr>
          <p:cNvPr id="9813" name="Note Ref"/>
          <p:cNvSpPr txBox="1"/>
          <p:nvPr/>
        </p:nvSpPr>
        <p:spPr>
          <a:xfrm>
            <a:off x="822960" y="8412480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* 논문의 일치·과대·과소 면적으로 환산한 값   검증치: 국립산림과학원(2026) 「AI 기반 산불확산예측 알고리즘 설명서」 연구자료 제1207호 p.45 표 11   FARSITE 사례: Price &amp; Germino(2022) Fire Ecology 18:23 표 2 · Jahdi 외(2015) NHESS 15:443 표 4 · Kuhnen 외(2026) Fire 9:311 표 3</a:t>
            </a:r>
            <a:endParaRPr lang="ko-KR" sz="10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대응 제안 성능 지표 및 하한선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33422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지표 (RAGAS)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의미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하한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설정 근거 (하한이 뜻하는 것)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근거 충실도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Faithfulness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(생성)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문장의 주장 중 검색한 매뉴얼 근거로 뒷받침되는 비율. 낮으면 근거 없는 내용(환각)을 덧붙인 것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0.79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재난·공공 분야 RAG 연구 11편 중 하위 25% 수준(중앙값 0.845): 제안 속 주장의 약 80% 이상이 매뉴얼로 뒷받침돼야 함. 예: 자연재해 대응 권고 0.87(Chernysheva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질의 관련도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Answer Relevancy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(생성)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제안이 항목 질문(지금 무엇을 해야 하나)에 맞게 답한 정도. 질문에서 벗어나거나 여러 항목을 뭉치면 낮음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10편 중 하위 25% 수준(중앙값 0.85): 제안만 보고 되짚은 질문이 원래 질문과 0.82 이상 비슷해야 함. 예: 자연재해 대응 권고 0.86(Chernysheva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순위 정밀도@K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Context Precision@K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(검색)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검색한 상위 K개 중 쓸모 있는 근거가 앞 순위에 놓인 정도. 낮으면 엉뚱한 조항이 위에 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0.82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7편 중 하위 25% 수준(중앙값 0.87): 쓸모 있는 근거가 대부분 상위에 와야 함. 예: 비상대응계획·법규 0.87(Ma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필요 근거 확보율@K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Context Recall@K</a:t>
                      </a:r>
                    </a:p>
                    <a:p>
                      <a:pPr algn="ctr"/>
                      <a:r>
                        <a:rPr lang="ko-KR"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(검색, K 선택 기준)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정답 제안에 필요한 매뉴얼 근거를 상위 K개 안에 가져온 비율. 낮으면 제안이 근거 부족으로 비거나 틀림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5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≥ 0.80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2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6편 중 하위 25% 수준(중앙값 0.90): 필요한 근거의 80% 이상을 가져와야 하며, 검색 청크 수 K를 고르는 문턱 조건. 예: 자연재해 대응 권고 0.91(Chernysheva 외, 2026)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13" name="Card 9813"/>
          <p:cNvSpPr/>
          <p:nvPr/>
        </p:nvSpPr>
        <p:spPr>
          <a:xfrm>
            <a:off x="822960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4" name="Card 9814"/>
          <p:cNvSpPr/>
          <p:nvPr/>
        </p:nvSpPr>
        <p:spPr>
          <a:xfrm>
            <a:off x="109728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5" name="Card 9815"/>
          <p:cNvSpPr txBox="1"/>
          <p:nvPr/>
        </p:nvSpPr>
        <p:spPr>
          <a:xfrm>
            <a:off x="109728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단위</a:t>
            </a:r>
          </a:p>
        </p:txBody>
      </p:sp>
      <p:sp>
        <p:nvSpPr>
          <p:cNvPr id="9816" name="Card 9816"/>
          <p:cNvSpPr txBox="1"/>
          <p:nvPr/>
        </p:nvSpPr>
        <p:spPr>
          <a:xfrm>
            <a:off x="109728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시나리오 시점 × 진화 S1~S7·대피 E1~E7 항목 1건 = 항목 질문 + 상위 K 청크 + 제안 문장 + 정답 답변</a:t>
            </a:r>
          </a:p>
        </p:txBody>
      </p:sp>
      <p:sp>
        <p:nvSpPr>
          <p:cNvPr id="9817" name="Card 9817"/>
          <p:cNvSpPr/>
          <p:nvPr/>
        </p:nvSpPr>
        <p:spPr>
          <a:xfrm>
            <a:off x="5040630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8" name="Card 9818"/>
          <p:cNvSpPr/>
          <p:nvPr/>
        </p:nvSpPr>
        <p:spPr>
          <a:xfrm>
            <a:off x="531495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19" name="Card 9819"/>
          <p:cNvSpPr txBox="1"/>
          <p:nvPr/>
        </p:nvSpPr>
        <p:spPr>
          <a:xfrm>
            <a:off x="531495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하한 = 유사 연구 하위 25%</a:t>
            </a:r>
          </a:p>
        </p:txBody>
      </p:sp>
      <p:sp>
        <p:nvSpPr>
          <p:cNvPr id="9820" name="Card 9820"/>
          <p:cNvSpPr txBox="1"/>
          <p:nvPr/>
        </p:nvSpPr>
        <p:spPr>
          <a:xfrm>
            <a:off x="531495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산불 분야 RAGAS 선례가 없어 가장 가까운 재난·공공 규정·한국어 공공 문서 RAG 연구값을 모음. 단순 벡터 검색·4비트 로컬 모델인 우리 구성을 고려해 논문 최고 구성의 중앙값 대신 하위 25%(넷 중 셋 수준)를 최소 기준으로, 중앙값은 목표로 둠</a:t>
            </a:r>
          </a:p>
        </p:txBody>
      </p:sp>
      <p:sp>
        <p:nvSpPr>
          <p:cNvPr id="9821" name="Card 9821"/>
          <p:cNvSpPr/>
          <p:nvPr/>
        </p:nvSpPr>
        <p:spPr>
          <a:xfrm>
            <a:off x="9258300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2" name="Card 9822"/>
          <p:cNvSpPr/>
          <p:nvPr/>
        </p:nvSpPr>
        <p:spPr>
          <a:xfrm>
            <a:off x="953262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3" name="Card 9823"/>
          <p:cNvSpPr txBox="1"/>
          <p:nvPr/>
        </p:nvSpPr>
        <p:spPr>
          <a:xfrm>
            <a:off x="953262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K 선택</a:t>
            </a:r>
          </a:p>
        </p:txBody>
      </p:sp>
      <p:sp>
        <p:nvSpPr>
          <p:cNvPr id="9824" name="Card 9824"/>
          <p:cNvSpPr txBox="1"/>
          <p:nvPr/>
        </p:nvSpPr>
        <p:spPr>
          <a:xfrm>
            <a:off x="953262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개발용 시나리오에서 K = 3·5·7·10 비교 → 확보율@K ≥ 0.80인 K 중 (충실도 + 관련도) ÷ 2가 가장 높은 K, 차이 0.01 이내면 작은 K. 하한 판정은 시험용 시나리오 평균</a:t>
            </a:r>
          </a:p>
        </p:txBody>
      </p:sp>
      <p:sp>
        <p:nvSpPr>
          <p:cNvPr id="9825" name="Card 9825"/>
          <p:cNvSpPr/>
          <p:nvPr/>
        </p:nvSpPr>
        <p:spPr>
          <a:xfrm>
            <a:off x="13475969" y="6263640"/>
            <a:ext cx="3989070" cy="23317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6" name="Card 9826"/>
          <p:cNvSpPr/>
          <p:nvPr/>
        </p:nvSpPr>
        <p:spPr>
          <a:xfrm>
            <a:off x="13750290" y="6492240"/>
            <a:ext cx="457200" cy="45720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827" name="Card 9827"/>
          <p:cNvSpPr txBox="1"/>
          <p:nvPr/>
        </p:nvSpPr>
        <p:spPr>
          <a:xfrm>
            <a:off x="13750290" y="6611112"/>
            <a:ext cx="34404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자동 채점 (LLM-as-a-Judge)</a:t>
            </a:r>
          </a:p>
        </p:txBody>
      </p:sp>
      <p:sp>
        <p:nvSpPr>
          <p:cNvPr id="9828" name="Card 9828"/>
          <p:cNvSpPr txBox="1"/>
          <p:nvPr/>
        </p:nvSpPr>
        <p:spPr>
          <a:xfrm>
            <a:off x="13750290" y="6995159"/>
            <a:ext cx="344042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로컬 EXAONE 4.0 32B가 RAGAS v0.4.3 한국어 프롬프트로 채점. 생성 2종은 정답 없이, 검색 2종은 팀이 매뉴얼 쪽수로 미리 쓴 정답 답변을 기준으로 청크·문장마다 판정해, 사람은 정답만 작성하고 채점은 자동. 채점 실패율·95% 신뢰구간 함께 보고</a:t>
            </a:r>
          </a:p>
        </p:txBody>
      </p:sp>
      <p:sp>
        <p:nvSpPr>
          <p:cNvPr id="9829" name="Note Ref"/>
          <p:cNvSpPr txBox="1"/>
          <p:nvPr/>
        </p:nvSpPr>
        <p:spPr>
          <a:xfrm>
            <a:off x="822960" y="8759952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근거 부족으로 비운 칸은 4개 지표 평균에서 빼고 건수만 따로 적음 · 참고: Es 외(2024) RAGAS, EACL 2024 System Demonstrations</a:t>
            </a:r>
            <a:endParaRPr lang="ko-KR" sz="105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1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1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데이터 셋 및 구조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  <p:graphicFrame>
        <p:nvGraphicFramePr>
          <p:cNvPr id="5522" name="Table 5521"/>
          <p:cNvGraphicFramePr>
            <a:graphicFrameLocks noGrp="1"/>
          </p:cNvGraphicFramePr>
          <p:nvPr/>
        </p:nvGraphicFramePr>
        <p:xfrm>
          <a:off x="822960" y="2496312"/>
          <a:ext cx="16459200" cy="43251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규모·형태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본 과제에서의 활용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학습·보정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Hub 산불 확산 위험 대응방안 추론 데이터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실제 산불 101건, 최종 소실 경계(시계열 없음)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 연료 파라미터 보정(IoU)·5개 지표 검증, 위험도 기준표(CSV) 23개 변수·구간·가중치 계승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입력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DEM·임상도·인프라, 기상청 단기예보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30 m 격자(GeoTIFF), 1시간 예보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입력, 위험도 계산(P5 범위 겹침 가중)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현장 입력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상황 보고자의 발화 위치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발생 일시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실측 화선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(GeoJSON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 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Polygon)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그리기·GeoJSON 폴리곤(입력 시각별)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 초기 연소 범위, 통합 상황도 표시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1" dirty="0">
                          <a:latin typeface="210 OmniGothic 040"/>
                          <a:ea typeface="210 OmniGothic 040"/>
                        </a:rPr>
                        <a:t>공간</a:t>
                      </a:r>
                      <a:r>
                        <a:rPr lang="en-US" altLang="ko-KR" sz="1250" b="1" dirty="0"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1" dirty="0">
                          <a:latin typeface="210 OmniGothic 040"/>
                          <a:ea typeface="210 OmniGothic 040"/>
                        </a:rPr>
                        <a:t>레이어</a:t>
                      </a:r>
                      <a:endParaRPr lang="ko-KR" sz="1250" b="1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SGIS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행정경계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·성·연령별 인구(행정동), 마을·시설·대피소·도로·유관기관(소방서 포함)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 err="1">
                          <a:latin typeface="210 OmniGothic 040"/>
                          <a:ea typeface="210 OmniGothic 040"/>
                        </a:rPr>
                        <a:t>PostGIS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 테이블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지도 표시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, 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도달 슬라이스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교차</a:t>
                      </a:r>
                      <a:r>
                        <a:rPr lang="en-US" sz="1250" dirty="0"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sz="1250" dirty="0">
                          <a:latin typeface="210 OmniGothic 040"/>
                          <a:ea typeface="210 OmniGothic 040"/>
                        </a:rPr>
                        <a:t>경로 계산, 위험도 취약계층 수·소방서 거리</a:t>
                      </a:r>
                      <a:endParaRPr sz="1250"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26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진화자원</a:t>
                      </a:r>
                      <a:endParaRPr sz="1250" b="1">
                        <a:solidFill>
                          <a:srgbClr val="2E3142"/>
                        </a:solidFill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헬기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차량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인력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소속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기관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관계형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데이터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또는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운영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DB,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보유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투입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대기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가용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</a:rPr>
                        <a:t>상태</a:t>
                      </a:r>
                      <a:endParaRPr>
                        <a:latin typeface="210 OmniGothic 040"/>
                        <a:ea typeface="210 OmniGothic 040"/>
                      </a:endParaRPr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통합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상황도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현황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표시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(가용만 보기 필터, 해제 시 보유·투입·대기 포함),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진화자원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투입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배분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·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재배치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(S3)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제안</a:t>
                      </a:r>
                      <a:r>
                        <a:rPr lang="en-US" altLang="ko-KR" sz="1250" b="0" i="0" u="none" strike="noStrike" noProof="0" dirty="0">
                          <a:solidFill>
                            <a:srgbClr val="2E3142"/>
                          </a:solidFill>
                        </a:rPr>
                        <a:t> </a:t>
                      </a:r>
                      <a:r>
                        <a:rPr lang="ko-KR" altLang="en-US" sz="1250" b="0" i="0" u="none" strike="noStrike" noProof="0" dirty="0">
                          <a:solidFill>
                            <a:srgbClr val="2E3142"/>
                          </a:solidFill>
                        </a:rPr>
                        <a:t>입력</a:t>
                      </a:r>
                      <a:endParaRPr/>
                    </a:p>
                  </a:txBody>
                  <a:tcPr marT="40233" marB="40233" anchor="ctr">
                    <a:lnL w="9524">
                      <a:solidFill>
                        <a:srgbClr val="D9DCE5"/>
                      </a:solidFill>
                    </a:lnL>
                    <a:lnR w="9524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09462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코퍼스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표준매뉴얼(2026.6) 본문, 예규 제733호, 통합규정·산림재난방지법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절·표 행·조문 단위 청크(약 400자)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검색(KURE-v1 + FAISS), 제안 문장 인용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4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27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평가 세트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평가: 시나리오 시점 × 진화 S1~S7·대피 E1~E7 항목 질문, 팀이 매뉴얼 쪽수로 쓴 정답 답변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 단위 1건(질문·상위 K 청크·제안 문장·정답 답변), 개발용·시험용 분리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 선택(개발용), 대응 제안 성능 4종 하한선 판정(시험용)</a:t>
                      </a:r>
                    </a:p>
                  </a:txBody>
                  <a:tcPr marT="40233" marB="40233" anchor="ctr">
                    <a:lnL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CE5"/>
                      </a:solidFill>
                    </a:lnR>
                    <a:lnT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01713"/>
                  </a:ext>
                </a:extLst>
              </a:tr>
            </a:tbl>
          </a:graphicData>
        </a:graphic>
      </p:graphicFrame>
      <p:sp>
        <p:nvSpPr>
          <p:cNvPr id="5523" name="Rounded Rectangle 5522"/>
          <p:cNvSpPr/>
          <p:nvPr/>
        </p:nvSpPr>
        <p:spPr>
          <a:xfrm>
            <a:off x="822960" y="7248633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4" name="TextBox 5523"/>
          <p:cNvSpPr txBox="1"/>
          <p:nvPr/>
        </p:nvSpPr>
        <p:spPr>
          <a:xfrm>
            <a:off x="1108710" y="7419625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사후 정보 누출 방지</a:t>
            </a:r>
          </a:p>
        </p:txBody>
      </p:sp>
      <p:sp>
        <p:nvSpPr>
          <p:cNvPr id="5525" name="TextBox 5524"/>
          <p:cNvSpPr txBox="1"/>
          <p:nvPr/>
        </p:nvSpPr>
        <p:spPr>
          <a:xfrm>
            <a:off x="1108710" y="7821961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화재 강도·화선 길이·영향 면적 등 사후 확정값 4개 변수는 예측 입력에서 제외</a:t>
            </a:r>
          </a:p>
        </p:txBody>
      </p:sp>
      <p:sp>
        <p:nvSpPr>
          <p:cNvPr id="5526" name="Rounded Rectangle 5525"/>
          <p:cNvSpPr/>
          <p:nvPr/>
        </p:nvSpPr>
        <p:spPr>
          <a:xfrm>
            <a:off x="6389370" y="7248633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27" name="TextBox 5526"/>
          <p:cNvSpPr txBox="1"/>
          <p:nvPr/>
        </p:nvSpPr>
        <p:spPr>
          <a:xfrm>
            <a:off x="6675120" y="7419625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라벨 신뢰도</a:t>
            </a:r>
          </a:p>
        </p:txBody>
      </p:sp>
      <p:sp>
        <p:nvSpPr>
          <p:cNvPr id="5528" name="TextBox 5527"/>
          <p:cNvSpPr txBox="1"/>
          <p:nvPr/>
        </p:nvSpPr>
        <p:spPr>
          <a:xfrm>
            <a:off x="6675120" y="7821961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AI Hub 위험도 라벨값·인프라 값은 쓰지 않고 CSV 기준표의 23개 변수 체계만 계승</a:t>
            </a:r>
          </a:p>
        </p:txBody>
      </p:sp>
      <p:sp>
        <p:nvSpPr>
          <p:cNvPr id="5529" name="Rounded Rectangle 5528"/>
          <p:cNvSpPr/>
          <p:nvPr/>
        </p:nvSpPr>
        <p:spPr>
          <a:xfrm>
            <a:off x="11955780" y="7248633"/>
            <a:ext cx="5257800" cy="1508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0" name="TextBox 5529"/>
          <p:cNvSpPr txBox="1"/>
          <p:nvPr/>
        </p:nvSpPr>
        <p:spPr>
          <a:xfrm>
            <a:off x="12241530" y="7419625"/>
            <a:ext cx="4686300" cy="35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AA95A"/>
                </a:solidFill>
                <a:latin typeface="210 OmniGothic 040"/>
                <a:ea typeface="210 OmniGothic 040"/>
                <a:cs typeface="210 OmniGothic 040"/>
              </a:rPr>
              <a:t>내부 자료</a:t>
            </a:r>
          </a:p>
        </p:txBody>
      </p:sp>
      <p:sp>
        <p:nvSpPr>
          <p:cNvPr id="5531" name="TextBox 5530"/>
          <p:cNvSpPr txBox="1"/>
          <p:nvPr/>
        </p:nvSpPr>
        <p:spPr>
          <a:xfrm>
            <a:off x="12241530" y="7821961"/>
            <a:ext cx="468630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표준매뉴얼은 정부 내부 열람 자료 — OCR 후 사람 검수, 로컬에서만 색인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모델 구성 및 처리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106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39026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항목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내용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ELMFIRE 1.1(Docker) — 실측 화선(없으면 발화점)에서 Rothermel 확산속도 + 레벨셋 전파, 도달 시각(TOA) 래스터 → 1시간 누적 폴리곤 P1~P8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파라미터 보정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fuel_models.csv 연료 파라미터를 AI Hub 실측 소실 경계와의 IoU로 베이지안 최적화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위험도 R = Σ(가중치 × 변수 등급) ÷ Σ가중치 (1.00~5.00) — 예측마다 P5 범위 23개 변수, 변수 등급은 겹침 면적 비율로 가중(인원은 합산), 기상 0.372 · 지형 0.287 · 연료 0.266 · 인프라 0.074 (Σ가중치 = 0.94)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규칙 엔진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예상 피해면적·도달 슬라이스·공간 교차·경로로 대응단계·위험구역·배정 판정 (GeoPandas·Shapely·PostGIS)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KURE-v1 임베딩 + FAISS IndexFlatIP, 단계·항목 메타데이터 필터, 상위 K개(K = 3·5·7·10 비교 후 선택)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LLM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EXAONE 4.0 32B 4비트(vLLM, RTX A6000 48GB), 단일 모델 위에 에이전트 2개 — 상황판단(A1 질문·A2 답변·A3 충돌 검사·A4 종합)·어시스턴트(질의응답·상황 정정 해석), temperature 0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출력 제약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수치 재계산 금지, 청크 밖 내용 금지, 문장 끝 근거 번호, 근거 없는 수량·문장은 출력하지 않고 「근거가 부족하여 표시하지 않았습니다」로 안내</a:t>
                      </a:r>
                    </a:p>
                  </a:txBody>
                  <a:tcPr marT="40233" marB="40233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6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8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9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30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07. 비기능 요구사항(AI)</a:t>
            </a:r>
          </a:p>
        </p:txBody>
      </p:sp>
      <p:sp>
        <p:nvSpPr>
          <p:cNvPr id="5531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방법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5532" name="Rounded Rectangle 5531"/>
          <p:cNvSpPr/>
          <p:nvPr/>
        </p:nvSpPr>
        <p:spPr>
          <a:xfrm>
            <a:off x="82296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3" name="Rectangle 5532"/>
          <p:cNvSpPr/>
          <p:nvPr/>
        </p:nvSpPr>
        <p:spPr>
          <a:xfrm>
            <a:off x="116586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4" name="TextBox 5533"/>
          <p:cNvSpPr txBox="1"/>
          <p:nvPr/>
        </p:nvSpPr>
        <p:spPr>
          <a:xfrm>
            <a:off x="116586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평가 데이터 분리</a:t>
            </a:r>
          </a:p>
        </p:txBody>
      </p:sp>
      <p:sp>
        <p:nvSpPr>
          <p:cNvPr id="5535" name="TextBox 5534"/>
          <p:cNvSpPr txBox="1"/>
          <p:nvPr/>
        </p:nvSpPr>
        <p:spPr>
          <a:xfrm>
            <a:off x="116586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 예측은 보정에 쓰지 않은 hold-out 산불 사건, 대응 제안은 K 선택(개발용)에 쓰지 않은 시험용 시나리오로 평가</a:t>
            </a:r>
          </a:p>
        </p:txBody>
      </p:sp>
      <p:sp>
        <p:nvSpPr>
          <p:cNvPr id="5536" name="Rounded Rectangle 5535"/>
          <p:cNvSpPr/>
          <p:nvPr/>
        </p:nvSpPr>
        <p:spPr>
          <a:xfrm>
            <a:off x="638937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7" name="Rectangle 5536"/>
          <p:cNvSpPr/>
          <p:nvPr/>
        </p:nvSpPr>
        <p:spPr>
          <a:xfrm>
            <a:off x="673227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38" name="TextBox 5537"/>
          <p:cNvSpPr txBox="1"/>
          <p:nvPr/>
        </p:nvSpPr>
        <p:spPr>
          <a:xfrm>
            <a:off x="673227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주요 지표</a:t>
            </a:r>
          </a:p>
        </p:txBody>
      </p:sp>
      <p:sp>
        <p:nvSpPr>
          <p:cNvPr id="5539" name="TextBox 5538"/>
          <p:cNvSpPr txBox="1"/>
          <p:nvPr/>
        </p:nvSpPr>
        <p:spPr>
          <a:xfrm>
            <a:off x="673227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 예측 5종(IoU·정밀도·재현율·F1·F2) · 대응 제안 4종(근거 충실도·질의 관련도·근거 순위 정밀도@K·필요 근거 확보율@K)</a:t>
            </a:r>
          </a:p>
        </p:txBody>
      </p:sp>
      <p:sp>
        <p:nvSpPr>
          <p:cNvPr id="5540" name="Rounded Rectangle 5539"/>
          <p:cNvSpPr/>
          <p:nvPr/>
        </p:nvSpPr>
        <p:spPr>
          <a:xfrm>
            <a:off x="11955780" y="2697480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1" name="Rectangle 5540"/>
          <p:cNvSpPr/>
          <p:nvPr/>
        </p:nvSpPr>
        <p:spPr>
          <a:xfrm>
            <a:off x="12298680" y="2999232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2" name="TextBox 5541"/>
          <p:cNvSpPr txBox="1"/>
          <p:nvPr/>
        </p:nvSpPr>
        <p:spPr>
          <a:xfrm>
            <a:off x="12298680" y="3150108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Ablation</a:t>
            </a:r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 실험</a:t>
            </a:r>
          </a:p>
        </p:txBody>
      </p:sp>
      <p:sp>
        <p:nvSpPr>
          <p:cNvPr id="5543" name="TextBox 5542"/>
          <p:cNvSpPr txBox="1"/>
          <p:nvPr/>
        </p:nvSpPr>
        <p:spPr>
          <a:xfrm>
            <a:off x="12298680" y="36530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같은 질의·사건에서 RAG 유무를 비교해 근거 검색의 효과 확인</a:t>
            </a:r>
          </a:p>
        </p:txBody>
      </p:sp>
      <p:sp>
        <p:nvSpPr>
          <p:cNvPr id="5544" name="Rounded Rectangle 5543"/>
          <p:cNvSpPr/>
          <p:nvPr/>
        </p:nvSpPr>
        <p:spPr>
          <a:xfrm>
            <a:off x="82296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5" name="Rectangle 5544"/>
          <p:cNvSpPr/>
          <p:nvPr/>
        </p:nvSpPr>
        <p:spPr>
          <a:xfrm>
            <a:off x="116586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6" name="TextBox 5545"/>
          <p:cNvSpPr txBox="1"/>
          <p:nvPr/>
        </p:nvSpPr>
        <p:spPr>
          <a:xfrm>
            <a:off x="116586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로컬 채점</a:t>
            </a:r>
          </a:p>
        </p:txBody>
      </p:sp>
      <p:sp>
        <p:nvSpPr>
          <p:cNvPr id="5547" name="TextBox 5546"/>
          <p:cNvSpPr txBox="1"/>
          <p:nvPr/>
        </p:nvSpPr>
        <p:spPr>
          <a:xfrm>
            <a:off x="116586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로컬 EXAONE 4.0 32B가 RAGAS 한국어 프롬프트로 자동 채점(</a:t>
            </a: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LLM-as-a-Judge). 정답 답변 기준과 채점 설정은 104쪽</a:t>
            </a:r>
          </a:p>
        </p:txBody>
      </p:sp>
      <p:sp>
        <p:nvSpPr>
          <p:cNvPr id="5548" name="Rounded Rectangle 5547"/>
          <p:cNvSpPr/>
          <p:nvPr/>
        </p:nvSpPr>
        <p:spPr>
          <a:xfrm>
            <a:off x="638937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49" name="Rectangle 5548"/>
          <p:cNvSpPr/>
          <p:nvPr/>
        </p:nvSpPr>
        <p:spPr>
          <a:xfrm>
            <a:off x="673227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5550" name="TextBox 5549"/>
          <p:cNvSpPr txBox="1"/>
          <p:nvPr/>
        </p:nvSpPr>
        <p:spPr>
          <a:xfrm>
            <a:off x="673227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형식 검증</a:t>
            </a:r>
          </a:p>
        </p:txBody>
      </p:sp>
      <p:sp>
        <p:nvSpPr>
          <p:cNvPr id="5551" name="TextBox 5550"/>
          <p:cNvSpPr txBox="1"/>
          <p:nvPr/>
        </p:nvSpPr>
        <p:spPr>
          <a:xfrm>
            <a:off x="673227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항목 순서, 근거 번호 ↔ 근거 목록 일치, 권한 표기를 코드 규칙으로 검사</a:t>
            </a:r>
          </a:p>
        </p:txBody>
      </p:sp>
      <p:sp>
        <p:nvSpPr>
          <p:cNvPr id="9101" name="Rounded Rectangle 5547 (확산 예측 평가 기준)"/>
          <p:cNvSpPr/>
          <p:nvPr/>
        </p:nvSpPr>
        <p:spPr>
          <a:xfrm>
            <a:off x="11955780" y="5161788"/>
            <a:ext cx="5257800" cy="211226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102" name="Rectangle 5548 (확산 예측 평가 기준)"/>
          <p:cNvSpPr/>
          <p:nvPr/>
        </p:nvSpPr>
        <p:spPr>
          <a:xfrm>
            <a:off x="12298680" y="5463540"/>
            <a:ext cx="571500" cy="50292"/>
          </a:xfrm>
          <a:prstGeom prst="rect">
            <a:avLst/>
          </a:prstGeom>
          <a:solidFill>
            <a:srgbClr val="FA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endParaRPr/>
          </a:p>
        </p:txBody>
      </p:sp>
      <p:sp>
        <p:nvSpPr>
          <p:cNvPr id="9103" name="TextBox 5549 (확산 예측 평가 기준)"/>
          <p:cNvSpPr txBox="1"/>
          <p:nvPr/>
        </p:nvSpPr>
        <p:spPr>
          <a:xfrm>
            <a:off x="12298680" y="5614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판정 기준</a:t>
            </a:r>
          </a:p>
        </p:txBody>
      </p:sp>
      <p:sp>
        <p:nvSpPr>
          <p:cNvPr id="9104" name="TextBox 5550 (확산 예측 평가 기준)"/>
          <p:cNvSpPr txBox="1"/>
          <p:nvPr/>
        </p:nvSpPr>
        <p:spPr>
          <a:xfrm>
            <a:off x="12298680" y="6117336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080"/>
                </a:solidFill>
                <a:latin typeface="210 OmniGothic 040"/>
                <a:ea typeface="210 OmniGothic 040"/>
                <a:cs typeface="210 OmniGothic 040"/>
              </a:rPr>
              <a:t>확산: P8 예측 영역과 실측 최종 소실 경계로 TP·FP·FN을 구해 hold-out 평균을 하한선과 대조(103쪽). 대응 제안: 고른 K에서 시험용 평균이 하한선 이상이면 통과(104쪽)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Picture 2">
            <a:extLst>
              <a:ext uri="{FF2B5EF4-FFF2-40B4-BE49-F238E27FC236}">
                <a16:creationId xmlns:a16="http://schemas.microsoft.com/office/drawing/2014/main" id="{F116F513-628E-CD59-0365-83BA34700620}"/>
              </a:ext>
            </a:extLst>
          </p:cNvPr>
          <p:cNvSpPr/>
          <p:nvPr/>
        </p:nvSpPr>
        <p:spPr>
          <a:xfrm>
            <a:off x="-12700" y="-12700"/>
            <a:ext cx="18300700" cy="10299700"/>
          </a:xfrm>
          <a:custGeom>
            <a:avLst/>
            <a:gdLst>
              <a:gd name="csX0" fmla="*/ 0 w 18281422"/>
              <a:gd name="csY0" fmla="*/ 10197723 h 10197722"/>
              <a:gd name="csX1" fmla="*/ 0 w 18281422"/>
              <a:gd name="csY1" fmla="*/ 0 h 10197722"/>
              <a:gd name="csX2" fmla="*/ 18281422 w 18281422"/>
              <a:gd name="csY2" fmla="*/ 0 h 10197722"/>
              <a:gd name="csX3" fmla="*/ 18281422 w 18281422"/>
              <a:gd name="csY3" fmla="*/ 10197723 h 10197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281422" h="10197722">
                <a:moveTo>
                  <a:pt x="0" y="10197723"/>
                </a:moveTo>
                <a:lnTo>
                  <a:pt x="0" y="0"/>
                </a:lnTo>
                <a:lnTo>
                  <a:pt x="18281422" y="0"/>
                </a:lnTo>
                <a:lnTo>
                  <a:pt x="18281422" y="10197723"/>
                </a:lnTo>
                <a:close/>
              </a:path>
            </a:pathLst>
          </a:custGeom>
          <a:solidFill>
            <a:srgbClr val="363A52"/>
          </a:solidFill>
          <a:ln w="1614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90" name="TextBox 5389"/>
          <p:cNvSpPr txBox="1"/>
          <p:nvPr/>
        </p:nvSpPr>
        <p:spPr>
          <a:xfrm>
            <a:off x="914400" y="4572000"/>
            <a:ext cx="1645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(1/4) — F-01 ~ F-08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로그인·계정·권한 관리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UC-AUTH-01 (36)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UC-ADMIN-01 (48)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AuthRouter, SecurityService, AdminRouter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users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상황 보고(발화 정보·실측 화선)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UC-REPORT-01 (37)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IncidentRouter(save_incident)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intake_records, fire_perimeters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발화 종료 처리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UC-SIT-01 (38)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IncidentRouter(close_incident)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발생·접수 정보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UC-SIT-02 (39)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IncidentRouter(list_incidents, get_incident)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incidents, intake_records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통합 상황도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(40)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MapRouter(get_layers), PredictionRouter(get_slices)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fire_perimeters, spread_slices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지도 레이어 선택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(40)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MapRouter(get_layers)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주요 시설 지도 표시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(40)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MapRouter(get_layers)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villages, facilities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가용 현황 확인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UC-SIT-03 (40)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MapRouter(get_resources)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목록(12~14쪽), 유스케이스·시퀀스 쪽은 16~49쪽, 구현 모듈은 클래스 다이어그램(61~64쪽), 데이터는 관계형 데이터베이스(70쪽),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(2/4) — F-09 ~ F-16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실행·갱신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PredictionRouter(run), PredictionService, ElmfireAdapter, WeatherClient, RiskService(compute)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prediction_runs, spread_slices, weather_snapshots, risk_assessments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산불 위험도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UC-PRED-02 (43)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PredictionRouter(get_risk), RiskService(get_latest)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risk_assessments, spread_slices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제안 생성·갱신·상세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ProposalOrchestrator(generate), RuleEngine, Retriever, LLMClient, ProposalRouter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proposals, 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ProposalRouter(get_latest)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 근거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UC-PROP-03 (44·45)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ProposalRouter(get_citation)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citations, evidence_chunks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제안 이력·변경사항 조회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UC-PROP-04 (44·45)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ProposalRouter(list_versions, get_diff), ProposalOrchestrator(diff)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proposals, proposal_items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대응단계 판단·격상 검토 (S1)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우선지역·보호대상 선정 (S2)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목록(12~14쪽), 유스케이스·시퀀스 쪽은 16~49쪽, 구현 모듈은 클래스 다이어그램(61~64쪽), 데이터는 관계형 데이터베이스(70쪽),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(3/4) — F-17 ~ F-24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111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투입·배분·재배치 (S3)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 방식·시간대 전략 (S4)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시설 보호 조치 (S5)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유관기관 동원·협조 요청 (S6)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진화인력 안전·투입 관리 (S7)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UC-PROP-01 (44)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RuleEngine(judge_fire),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위험구역 설정 (E1)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대상·순서·시점 결정 (E2)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취약시설·미대피 주민 조치 (E3)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목록(12~14쪽), 유스케이스·시퀀스 쪽은 16~49쪽, 구현 모듈은 클래스 다이어그램(61~64쪽), 데이터는 관계형 데이터베이스(70쪽),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기능 요구사항 추적표 (4/4) — F-25 ~ F-32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112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유스케이스 (시퀀스 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구현 모듈 (논리 컴포넌트)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(테이블)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대피소 배정·분산 (E4)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대피 경로·교통통제 (E5)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재난문자·방송 전파 제안 (E6)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인명구조·긴급구조 요청 (E7)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UC-PRED-01 (41·42)</a:t>
                      </a:r>
                    </a:p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UC-PROP-02 (45)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RuleEngine(judge_evac), ProposalOrchestrator,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proposal_items,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질의응답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UC-QA-01 (46)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ChatRouter(ask, quick_questions), AssistantService(answer), Retriever, LLMClient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chat_messages, citations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상황 정정 요청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UC-QA-02 (47)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ChatRouter(confirm_correction), AssistantService(propose_correction, apply_correction), ProposalOrchestrator, RuleEngine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situation_corrections, proposals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진화자원 데이터 관리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UC-ADMIN-02 (49)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AdminRouter(save_resource, delete_resource)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resources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 유스케이스 (36~49)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EventLogger(record), ProposalRouter(list_events)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event_logs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1" name="Note 9301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요구사항 ID·요구사항은 기능 목록(12~14쪽), 유스케이스·시퀀스 쪽은 16~49쪽, 구현 모듈은 클래스 다이어그램(61~64쪽), 데이터는 관계형 데이터베이스(70쪽), 검증은 TER-001(기능·통합 테스트)·TER-002(AI 모델 평가) 기준입니다.</a:t>
            </a:r>
          </a:p>
        </p:txBody>
      </p:sp>
      <p:sp>
        <p:nvSpPr>
          <p:cNvPr id="9302" name="Note 9302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비기능 요구사항 추적표 (1/3) — INR-001 ~ PER-002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기능 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반영 (쪽·구성)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UI/UX 화면 설계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F-04~F-08, F-12, F-13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설계서·UI 목업, 시퀀스 39~47쪽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외부 시스템 인터페이스 정의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F-02, F-09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API 명세서, 시스템 구성도 8쪽, 시퀀스 37·41쪽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INR-003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단말 환경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인터페이스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브라우저·해상도 기준 (82쪽)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호환성 시험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GPU 서버: 예측·AI 추론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F-29,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8쪽, 장비 요구사항 83쪽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서비스 서버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8쪽, 장비 요구사항 84쪽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ECR-003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데이터베이스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장비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F-02~F-05, F-14, 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관계형 데이터베이스 70~77쪽 (ERD·테이블)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예측·제안 갱신 시간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41·42·47쪽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응답 시간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F-05, F-12, F-13, 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40·44~46쪽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3" name="Note 9303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비기능 요구사항 ID·요구사항은 80~102쪽, 관련 기능 요구사항은 기능 요구사항 추적표(F-ID), 검증은 TER-001·TER-002 또는 구현 후 별도 시험(성능 측정·구성 점검·호환성 시험·사용성 점검) 기준입니다.</a:t>
            </a:r>
          </a:p>
        </p:txBody>
      </p:sp>
      <p:sp>
        <p:nvSpPr>
          <p:cNvPr id="9304" name="Note 9304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비기능 요구사항 추적표 (2/3) — PER-003 ~ QUR-001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52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기능 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반영 (쪽·구성)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PER-003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동시 사용자 처리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41·42·47쪽 (중복 실행 제어)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성능 측정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사용자 인증 및 접근 제어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시퀀스 36·48쪽, AuthRouter·SecurityService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내부 자료 보호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F-13, 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8쪽 (내부 GPU 서버 추론)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SER-003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통신·데이터 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보안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F-01, 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HTTPS·해시 저장, 이벤트 로그 60쪽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표준매뉴얼·법령 근거 준수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F-13, F-15~F-28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검색·인용 (시퀀스 42·44·45쪽)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시스템 고지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권고 형태 제안, 정정 확인 후 저장 (시퀀스 47쪽)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LGR-003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이용 조건 준수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법적/규제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F-06, F-07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셋 105쪽 (출처·라이선스)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문서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부기와 문체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F-11, F-13, F-29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근거 번호 [k]·인용 (시퀀스 44~46쪽)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03" name="Note 9303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비기능 요구사항 ID·요구사항은 80~102쪽, 관련 기능 요구사항은 기능 요구사항 추적표(F-ID), 검증은 TER-001·TER-002 또는 구현 후 별도 시험(성능 측정·구성 점검·호환성 시험·사용성 점검) 기준입니다.</a:t>
            </a:r>
          </a:p>
        </p:txBody>
      </p:sp>
      <p:sp>
        <p:nvSpPr>
          <p:cNvPr id="9304" name="Note 9304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08. 요구사항 추적표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비기능 요구사항 추적표 (3/3) — QUR-002 ~ TER-002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  <p:graphicFrame>
        <p:nvGraphicFramePr>
          <p:cNvPr id="5527" name="Table 5526"/>
          <p:cNvGraphicFramePr>
            <a:graphicFrameLocks noGrp="1"/>
          </p:cNvGraphicFramePr>
          <p:nvPr/>
        </p:nvGraphicFramePr>
        <p:xfrm>
          <a:off x="822960" y="2496312"/>
          <a:ext cx="16459200" cy="400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 ID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분류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관련 기능 요구사항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반영 (쪽·구성)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검증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결과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36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판단 일관성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F-15~F-28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RuleEngine, 고정 출력 구조 (시퀀스 42쪽)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QUR-003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품질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F-05, F-12, F-13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화면 설계서·UI 목업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사용성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이벤트 로그·오류 모니터링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EventLogger, event_logs (60쪽, 70쪽)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ORP-002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데이터 적재·갱신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운영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F-06~F-08, F-31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8쪽, 시퀀스 49쪽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DPR-001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컨테이너 기반 배포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배포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시스템 구성도 8쪽, 모델 구성 106쪽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구성 점검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기능·통합 테스트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전체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 사양서 (작성 예정)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TER-002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AI 모델 평가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테스트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F-09, F-11, F-13, F-15~F-30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확산 예측 성능 지표 103쪽, 대응 제안 성능 지표 104쪽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6B7080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미수행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E3142"/>
                          </a:solidFill>
                          <a:latin typeface="210 OmniGothic 040"/>
                          <a:ea typeface="210 OmniGothic 040"/>
                          <a:cs typeface="210 OmniGothic 040"/>
                        </a:rPr>
                        <a:t>설계 완료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D9DCE5"/>
                      </a:solidFill>
                    </a:lnL>
                    <a:lnR w="9525">
                      <a:solidFill>
                        <a:srgbClr val="D9DCE5"/>
                      </a:solidFill>
                    </a:lnR>
                    <a:lnT w="9525">
                      <a:solidFill>
                        <a:srgbClr val="D9DCE5"/>
                      </a:solidFill>
                    </a:lnT>
                    <a:lnB w="9525">
                      <a:solidFill>
                        <a:srgbClr val="D9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303" name="Note 9303"/>
          <p:cNvSpPr txBox="1"/>
          <p:nvPr/>
        </p:nvSpPr>
        <p:spPr>
          <a:xfrm>
            <a:off x="822960" y="8000000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비기능 요구사항 ID·요구사항은 80~102쪽, 관련 기능 요구사항은 기능 요구사항 추적표(F-ID), 검증은 TER-001·TER-002 또는 구현 후 별도 시험(성능 측정·구성 점검·호환성 시험·사용성 점검) 기준입니다.</a:t>
            </a:r>
          </a:p>
        </p:txBody>
      </p:sp>
      <p:sp>
        <p:nvSpPr>
          <p:cNvPr id="9304" name="Note 9304"/>
          <p:cNvSpPr txBox="1"/>
          <p:nvPr/>
        </p:nvSpPr>
        <p:spPr>
          <a:xfrm>
            <a:off x="822960" y="8329184"/>
            <a:ext cx="1645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테스트 케이스 ID는 테스트 사양서 작성 시 부여하며, 구현·시험이 진행되면 테스트 결과(미수행 → Pass/Fail)와 상태를 갱신합니다.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참고문헌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참고문헌 (1/2) — 법령·문서 · 피해 통계 · 데이터 · 모델과 도구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5527" name="Refs Left"/>
          <p:cNvSpPr txBox="1"/>
          <p:nvPr/>
        </p:nvSpPr>
        <p:spPr>
          <a:xfrm>
            <a:off x="82296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가. 법령·매뉴얼·공공 문서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 (2026.6. 일부개정). 「산불 재난」 위기관리 표준매뉴얼. (본문 p.50·72~79·84·119 인용)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 외 6개 부처 (2026.8.25. 개정). 산불진화기관의 임무와 역할에 관한 규정, 산림청예규 제733호.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 (2026.5.4. 시행). 산불관리통합규정, 산림청훈령 제1720호.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산림재난방지법 제34조(통합지휘) 및 같은 법 시행령(대응단계), 2026.2.1. 시행. 국가법령정보센터 law.go.kr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재난 및 안전관리 기본법 제3조(정의) 및 같은 법 시행령 별표 1의3(재난관리주관기관). 국가법령정보센터 law.go.kr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배재현·유제범 (2025.6.27.). 산불 대응 및 지휘체계의 현황과 개선과제, NARS 현안분석 제355호. 국회입법조사처 산불대응연구TF.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국립산림과학원 (2026.6.). AI 기반 산불확산예측 알고리즘 설명서, 연구자료 제1207호. (표 10·11)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국립산림과학원 국가산불위험예보시스템(산불확산예측) forestfire.nifos.go.kr · 산림청 국가산불정보시스템 fd.forest.go.kr</a:t>
            </a:r>
            <a:endParaRPr lang="ko-KR" sz="1200"/>
          </a:p>
          <a:p>
            <a:pPr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나. 피해 통계 (언론 보도)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경향신문 (2025.3.29.). 영남 산불 사망 30명·부상 43명, 피해 면적 482㎢…의성 재발화 진화 중. (중앙재난안전대책본부 집계)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한국경제 (2025.3.28.). [단독] '최악의 산불' 사망자 28명 중 26명, 거동 힘든 노인이었다. (경상북도 등 지자체 집계)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매일신문 (2025.6.29.). 인명 183명·재산 1조818억원…영남권 산불 피해 '역대 최악'. (중앙재난안전대책본부 피해 확정 집계)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YTN (2025.4.9.). '산불 예보' 적중했지만 '확산 예측 시스템' 역부족.</a:t>
            </a:r>
            <a:endParaRPr lang="ko-KR" sz="1200"/>
          </a:p>
        </p:txBody>
      </p:sp>
      <p:sp>
        <p:nvSpPr>
          <p:cNvPr id="5528" name="Refs Right"/>
          <p:cNvSpPr txBox="1"/>
          <p:nvPr/>
        </p:nvSpPr>
        <p:spPr>
          <a:xfrm>
            <a:off x="937260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다. 데이터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AI Hub. 산불 확산 위험 대응방안 추론 데이터(데이터셋 71921). aihub.or.kr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기상청. 단기예보 조회서비스(공공데이터포털 15084084). data.go.kr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국토지리정보원. 수치표고모델 DEM 30 m(공공데이터포털 15059920). data.go.kr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산림청. 임상도 1:5,000(공공데이터포털 15093362). data.go.kr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국가데이터처. SGIS 행정구역 통계(성·연령별 인구, 행정동) 및 경계, 2025.6.30. 기준. sgis.kostat.go.kr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OpenStreetMap contributors. OpenStreetMap(ODbL 라이선스). openstreetmap.org</a:t>
            </a:r>
            <a:endParaRPr lang="ko-KR" sz="1200"/>
          </a:p>
          <a:p>
            <a:pPr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라. 모델·도구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[19]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Lautenberger, C. (2013). Wildland fire modeling with an Eulerian level set method and automated calibration. Fire Safety Journal 62, 289–298. (ELMFIRE)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Rothermel, R. C. (1972). A mathematical model for predicting fire spread in wildland fuels. USDA Forest Service Research Paper INT-115.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Anderson, H. E. (1982). Aids to determining fuel models for estimating fire behavior. USDA Forest Service General Technical Report INT-122. (연료 모델 13종)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LG AI Research (2025). EXAONE 4.0: Unified Large Language Models Integrating Non-reasoning and Reasoning Modes. arXiv:2507.11407.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고려대학교 NLP&amp;AI 연구실. KURE-v1(한국어 검색 임베딩 모델). huggingface.co/nlpai-lab/KURE-v1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Johnson, J., Douze, M., Jégou, H. (2021). Billion-scale similarity search with GPUs. IEEE Transactions on Big Data 7(3), 535–547. (FAISS)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Kwon, W. 외 (2023). Efficient Memory Management for Large Language Model Serving with PagedAttention. SOSP 2023. (vLLM)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Es, S., James, J., Espinosa-Anke, L., Schockaert, S. (2024). RAGAs: Automated Evaluation of Retrieval Augmented Generation. EACL 2024 System Demonstrations. · RAGAS 공식 문서 v0.4.3 docs.ragas.io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오픈소스 도구 공식 문서: PostGIS, GeoPandas, Shapely, FastAPI, React, MapLibre GL JS, Docker, SQLite, JWT(RFC 7519), bcrypt.</a:t>
            </a:r>
            <a:endParaRPr lang="ko-KR" sz="12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1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1638300"/>
          </a:xfrm>
          <a:prstGeom prst="rect">
            <a:avLst/>
          </a:prstGeom>
        </p:spPr>
      </p:pic>
      <p:pic>
        <p:nvPicPr>
          <p:cNvPr id="5522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628" y="1618343"/>
            <a:ext cx="18313400" cy="8699500"/>
          </a:xfrm>
          <a:prstGeom prst="rect">
            <a:avLst/>
          </a:prstGeom>
        </p:spPr>
      </p:pic>
      <p:pic>
        <p:nvPicPr>
          <p:cNvPr id="5523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" y="9271000"/>
            <a:ext cx="17170400" cy="50800"/>
          </a:xfrm>
          <a:prstGeom prst="rect">
            <a:avLst/>
          </a:prstGeom>
        </p:spPr>
      </p:pic>
      <p:pic>
        <p:nvPicPr>
          <p:cNvPr id="552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8100" y="203200"/>
            <a:ext cx="1676400" cy="1409700"/>
          </a:xfrm>
          <a:prstGeom prst="rect">
            <a:avLst/>
          </a:prstGeom>
        </p:spPr>
      </p:pic>
      <p:sp>
        <p:nvSpPr>
          <p:cNvPr id="5525" name="Title"/>
          <p:cNvSpPr txBox="1"/>
          <p:nvPr/>
        </p:nvSpPr>
        <p:spPr>
          <a:xfrm>
            <a:off x="822960" y="384048"/>
            <a:ext cx="1325880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0">
                <a:solidFill>
                  <a:srgbClr val="FAA95A"/>
                </a:solidFill>
                <a:latin typeface="210 OmniGothic 050"/>
                <a:ea typeface="210 OmniGothic 050"/>
                <a:cs typeface="210 OmniGothic 050"/>
              </a:rPr>
              <a:t>참고문헌</a:t>
            </a:r>
          </a:p>
        </p:txBody>
      </p:sp>
      <p:sp>
        <p:nvSpPr>
          <p:cNvPr id="5526" name="Subtitle"/>
          <p:cNvSpPr txBox="1"/>
          <p:nvPr/>
        </p:nvSpPr>
        <p:spPr>
          <a:xfrm>
            <a:off x="822960" y="1764792"/>
            <a:ext cx="16642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참고문헌 (2/2) — 성능 지표 하한의 근거 연구</a:t>
            </a: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E09251C7-0B50-AD17-B931-81798F0C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5527" name="Refs Left"/>
          <p:cNvSpPr txBox="1"/>
          <p:nvPr/>
        </p:nvSpPr>
        <p:spPr>
          <a:xfrm>
            <a:off x="82296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마. 확산 예측 하한 — 유사 수준 검증 연구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Price, S. J., Germino, M. J. (2022). Modeling of fire spread in sagebrush steppe using FARSITE: an approach to improving input data and simulation accuracy. Fire Ecology 18, 23. doi:10.1186/s42408-022-00147-2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[29]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Jahdi, R., Salis, M., Darvishsefat, A. A. 외 (2015). Calibration of FARSITE simulator in northern Iranian forests. Natural Hazards and Earth System Sciences 15, 443–459. doi:10.5194/nhess-15-443-2015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Kuhnen, K., Andrade, M. S., Müller, M. M., Vacik, H. (2026). Comparative Analysis of Wildfire Spread Models Under Differing Environmental Conditions in Central Europe. Fire 9(7), 311. doi:10.3390/fire9070311</a:t>
            </a:r>
            <a:endParaRPr lang="ko-KR" sz="1200"/>
          </a:p>
          <a:p>
            <a:pPr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바. 대응 제안 하한 — 유사 RAG 연구 (1/2)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Liu, M.-L., Chen, J. Y. (2026). Disaster response report generation system. ISARC 2026, 2142–2149. doi:10.22260/ISARC2026/0273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Chernysheva, T. 외 (2026). Application of large language models for generating recommendations during natural hazards. Artificial Societies 21(2). doi:10.18254/S207751800037532-4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[33]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Ma, B. 외 (2026). A tailings dam safety question answering framework integrating a knowledge graph with retrieval augmented generation. Scientific Reports. doi:10.1038/s41598-026-68988-4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[34]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Zhao, L. 외 (2026). An augmented structured evidence retrieval framework for generating chemical accident emergency-response plans using a large language model. Research Square(심사 전). doi:10.21203/rs.3.rs-10417423/v1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[35]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Febrian, G. F., Figueredo, G. (2024). KemenkeuGPT: Leveraging a large language model on Indonesia's government financial data and regulations to enhance decision making. arXiv:2407.21459</a:t>
            </a:r>
            <a:endParaRPr lang="ko-KR" sz="1200"/>
          </a:p>
        </p:txBody>
      </p:sp>
      <p:sp>
        <p:nvSpPr>
          <p:cNvPr id="5528" name="Refs Right"/>
          <p:cNvSpPr txBox="1"/>
          <p:nvPr/>
        </p:nvSpPr>
        <p:spPr>
          <a:xfrm>
            <a:off x="9372600" y="2468880"/>
            <a:ext cx="8092440" cy="658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ko-KR" altLang="en-US" sz="1400" b="1">
                <a:solidFill>
                  <a:srgbClr val="363A52"/>
                </a:solidFill>
                <a:latin typeface="210 OmniGothic 040"/>
                <a:ea typeface="210 OmniGothic 040"/>
                <a:cs typeface="210 OmniGothic 040"/>
              </a:rPr>
              <a:t>바. 대응 제안 하한 — 유사 RAG 연구 (2/2)</a:t>
            </a:r>
            <a:endParaRPr lang="ko-KR" sz="14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[36]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Maharjan, A., Yadav, U. (2026). Chunking, retrieval, and re-ranking: An empirical evaluation of RAG architectures for policy document question answering. arXiv:2601.15457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[37]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Jeon, M. 외 (2026). LLM-guided planning for multi-hop reasoning over multimodal nuclear regulatory documents. arXiv:2606.29399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[38]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Vickneswaran, K. 외 (2026). WaterCopilot: An AI-driven virtual assistant for water management. arXiv:2601.08559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[39]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Domingos Júnior, J. 외 (2025). BR-TaxQA-R: A dataset for question answering with references for Brazilian personal income tax law, including case law. arXiv:2505.15916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[40]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이상훈·이찬명·임회정 (2026). 대학 규정집 기반 RAG 질의응답 시스템에 대한 탐색적 연구. 스마트미디어저널 15(2), 151–164.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[41]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손서영·김채원·박민서 (2025). DualRAG: 장애인 복지정보 제공을 위한 2단계 RAG 시스템 개발. 문화기술의 융합 11(6), 473–478.</a:t>
            </a:r>
            <a:endParaRPr lang="ko-KR" sz="1200"/>
          </a:p>
          <a:p>
            <a:pPr algn="l" marL="384048" indent="-384048">
              <a:lnSpc>
                <a:spcPct val="105000"/>
              </a:lnSpc>
              <a:spcAft>
                <a:spcPts val="350"/>
              </a:spcAft>
              <a:buNone/>
            </a:pPr>
            <a:r>
              <a:rPr lang="ko-KR" altLang="en-US" sz="1200" b="1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[42] </a:t>
            </a:r>
            <a:r>
              <a:rPr lang="ko-KR" altLang="en-US" sz="1200" b="0">
                <a:solidFill>
                  <a:srgbClr val="2E3142"/>
                </a:solidFill>
                <a:latin typeface="210 OmniGothic 040"/>
                <a:ea typeface="210 OmniGothic 040"/>
                <a:cs typeface="210 OmniGothic 040"/>
              </a:rPr>
              <a:t>민윤정·안재경·임종덕 (2025). LLM 기반 RAG 시스템 성능 평가 및 실증 분석: 리크루팅 상담서비스를 중심으로. 한국IT서비스학회지 24(4), 175–188.</a:t>
            </a:r>
            <a:endParaRPr lang="ko-KR" sz="1200"/>
          </a:p>
        </p:txBody>
      </p:sp>
      <p:sp>
        <p:nvSpPr>
          <p:cNvPr id="5529" name="Note Refs"/>
          <p:cNvSpPr txBox="1"/>
          <p:nvPr/>
        </p:nvSpPr>
        <p:spPr>
          <a:xfrm>
            <a:off x="822960" y="8796528"/>
            <a:ext cx="1664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1050" b="0">
                <a:solidFill>
                  <a:srgbClr val="7B8094"/>
                </a:solidFill>
                <a:latin typeface="210 OmniGothic 030"/>
                <a:ea typeface="210 OmniGothic 030"/>
                <a:cs typeface="210 OmniGothic 030"/>
              </a:rPr>
              <a:t>※ 바 항목 12편은 104쪽 하한(유사 연구 대표값의 하위 25%)을 계산한 문헌입니다. 웹 자료는 2026.9.16.~10.8. 확인.</a:t>
            </a:r>
            <a:endParaRPr lang="ko-KR" sz="105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4" name="Pictur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-2260600"/>
            <a:ext cx="18326100" cy="11264900"/>
          </a:xfrm>
          <a:prstGeom prst="rect">
            <a:avLst/>
          </a:prstGeom>
        </p:spPr>
      </p:pic>
      <p:pic>
        <p:nvPicPr>
          <p:cNvPr id="5545" name="Pictur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8313400" cy="215900"/>
          </a:xfrm>
          <a:prstGeom prst="rect">
            <a:avLst/>
          </a:prstGeom>
        </p:spPr>
      </p:pic>
      <p:pic>
        <p:nvPicPr>
          <p:cNvPr id="5546" name="Picture 4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52600" y="7645400"/>
            <a:ext cx="8470900" cy="1358900"/>
          </a:xfrm>
          <a:prstGeom prst="rect">
            <a:avLst/>
          </a:prstGeom>
        </p:spPr>
      </p:pic>
      <p:pic>
        <p:nvPicPr>
          <p:cNvPr id="5547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3300" y="7645400"/>
            <a:ext cx="8470900" cy="1358900"/>
          </a:xfrm>
          <a:prstGeom prst="rect">
            <a:avLst/>
          </a:prstGeom>
        </p:spPr>
      </p:pic>
      <p:pic>
        <p:nvPicPr>
          <p:cNvPr id="5548" name="Picture 6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" y="7645400"/>
            <a:ext cx="8470900" cy="1358900"/>
          </a:xfrm>
          <a:prstGeom prst="rect">
            <a:avLst/>
          </a:prstGeom>
        </p:spPr>
      </p:pic>
      <p:pic>
        <p:nvPicPr>
          <p:cNvPr id="5549" name="Picture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" y="8940800"/>
            <a:ext cx="18313400" cy="1358900"/>
          </a:xfrm>
          <a:prstGeom prst="rect">
            <a:avLst/>
          </a:prstGeom>
        </p:spPr>
      </p:pic>
      <p:sp>
        <p:nvSpPr>
          <p:cNvPr id="5537" name="TextBox 5536">
            <a:extLst>
              <a:ext uri="{FF2B5EF4-FFF2-40B4-BE49-F238E27FC236}">
                <a16:creationId xmlns:a16="http://schemas.microsoft.com/office/drawing/2014/main" id="{A6CB4B50-BA46-4E69-9C88-7DD194A5EA85}"/>
              </a:ext>
            </a:extLst>
          </p:cNvPr>
          <p:cNvSpPr>
            <a:spLocks noGrp="1"/>
          </p:cNvSpPr>
          <p:nvPr/>
        </p:nvSpPr>
        <p:spPr>
          <a:xfrm>
            <a:off x="2167128" y="3621024"/>
            <a:ext cx="13917168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800" b="0">
                <a:solidFill>
                  <a:srgbClr val="363A52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9357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25852</Words>
  <Application>Microsoft Office PowerPoint</Application>
  <DocSecurity>0</DocSecurity>
  <PresentationFormat>사용자 지정</PresentationFormat>
  <Paragraphs>5564</Paragraphs>
  <Slides>116</Slides>
  <Notes>82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116</vt:i4>
      </vt:variant>
    </vt:vector>
  </HeadingPairs>
  <TitlesOfParts>
    <vt:vector size="126" baseType="lpstr">
      <vt:lpstr>210 OmniGothic 040</vt:lpstr>
      <vt:lpstr>맑은 고딕</vt:lpstr>
      <vt:lpstr>Arial</vt:lpstr>
      <vt:lpstr>맑은 고딕</vt:lpstr>
      <vt:lpstr>210 OmniGothic 050</vt:lpstr>
      <vt:lpstr>Calibri</vt:lpstr>
      <vt:lpstr>210 OmniGothic 030</vt:lpstr>
      <vt:lpstr>Consolas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김지오</cp:lastModifiedBy>
  <cp:revision>13</cp:revision>
  <dcterms:created xsi:type="dcterms:W3CDTF">2026-09-30T00:25:55Z</dcterms:created>
  <dcterms:modified xsi:type="dcterms:W3CDTF">2026-10-07T15:59:28Z</dcterms:modified>
</cp:coreProperties>
</file>