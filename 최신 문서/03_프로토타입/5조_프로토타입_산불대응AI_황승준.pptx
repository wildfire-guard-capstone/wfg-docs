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2"/>
  </p:notesMasterIdLst>
  <p:sldIdLst>
    <p:sldId id="402" r:id="rId2"/>
    <p:sldId id="403" r:id="rId3"/>
    <p:sldId id="405" r:id="rId4"/>
    <p:sldId id="406" r:id="rId5"/>
    <p:sldId id="454" r:id="rId6"/>
    <p:sldId id="453" r:id="rId7"/>
    <p:sldId id="407" r:id="rId8"/>
    <p:sldId id="408" r:id="rId9"/>
    <p:sldId id="409" r:id="rId10"/>
    <p:sldId id="455" r:id="rId11"/>
    <p:sldId id="410" r:id="rId12"/>
    <p:sldId id="411" r:id="rId13"/>
    <p:sldId id="413" r:id="rId14"/>
    <p:sldId id="412" r:id="rId15"/>
    <p:sldId id="417" r:id="rId16"/>
    <p:sldId id="418" r:id="rId17"/>
    <p:sldId id="456" r:id="rId18"/>
    <p:sldId id="419" r:id="rId19"/>
    <p:sldId id="420" r:id="rId20"/>
    <p:sldId id="421" r:id="rId21"/>
    <p:sldId id="457" r:id="rId22"/>
    <p:sldId id="424" r:id="rId23"/>
    <p:sldId id="425" r:id="rId24"/>
    <p:sldId id="458" r:id="rId25"/>
    <p:sldId id="459" r:id="rId26"/>
    <p:sldId id="460" r:id="rId27"/>
    <p:sldId id="461" r:id="rId28"/>
    <p:sldId id="462" r:id="rId29"/>
    <p:sldId id="463" r:id="rId30"/>
    <p:sldId id="464" r:id="rId31"/>
    <p:sldId id="465" r:id="rId32"/>
    <p:sldId id="466" r:id="rId33"/>
    <p:sldId id="467" r:id="rId34"/>
    <p:sldId id="468" r:id="rId35"/>
    <p:sldId id="469" r:id="rId36"/>
    <p:sldId id="470" r:id="rId37"/>
    <p:sldId id="471" r:id="rId38"/>
    <p:sldId id="472" r:id="rId39"/>
    <p:sldId id="473" r:id="rId40"/>
    <p:sldId id="474" r:id="rId41"/>
    <p:sldId id="475" r:id="rId42"/>
    <p:sldId id="444" r:id="rId43"/>
    <p:sldId id="476" r:id="rId44"/>
    <p:sldId id="477" r:id="rId45"/>
    <p:sldId id="478" r:id="rId46"/>
    <p:sldId id="479" r:id="rId47"/>
    <p:sldId id="480" r:id="rId48"/>
    <p:sldId id="481" r:id="rId49"/>
    <p:sldId id="482" r:id="rId50"/>
    <p:sldId id="452" r:id="rId51"/>
  </p:sldIdLst>
  <p:sldSz cx="18288000" cy="10287000"/>
  <p:notesSz cx="6858000" cy="9144000"/>
  <p:embeddedFontLst>
    <p:embeddedFont>
      <p:font typeface="210 OmniGothic 030" panose="020B0600000101010101" charset="-127"/>
      <p:regular r:id="rId53"/>
    </p:embeddedFont>
    <p:embeddedFont>
      <p:font typeface="210 OmniGothic 040" panose="020B0600000101010101" charset="-127"/>
      <p:regular r:id="rId54"/>
    </p:embeddedFont>
    <p:embeddedFont>
      <p:font typeface="210 OmniGothic 050" panose="020B0600000101010101" charset="-127"/>
      <p:regular r:id="rId55"/>
    </p:embeddedFont>
    <p:embeddedFont>
      <p:font typeface="Pretendard Bold" panose="020B0600000101010101" charset="-127"/>
      <p:bold r:id="rId56"/>
    </p:embeddedFont>
    <p:embeddedFont>
      <p:font typeface="맑은 고딕" panose="020B0503020000020004" pitchFamily="50" charset="-127"/>
      <p:regular r:id="rId57"/>
      <p:bold r:id="rId58"/>
    </p:embeddedFont>
    <p:embeddedFont>
      <p:font typeface="맑은 고딕" panose="020B0503020000020004" pitchFamily="50" charset="-127"/>
      <p:regular r:id="rId57"/>
      <p:bold r:id="rId58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446" y="-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0781C-36E6-446A-BA4D-6F3546F8A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B1B4D-E67A-490D-AAB5-1BA5399C8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53DC7-E6FD-47B9-89A9-59DBDE8541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DF7E13E-C63F-4D0B-BB23-D1F2A91FB568}" type="datetime1">
              <a:t>2026-10-14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B85B6-844F-48F2-974F-A98ABADB67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FA048-3FE8-43B4-90CB-F122492121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11C4-4173-4C47-8E47-A78C9E71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BD424-8DA9-4CC0-BB4F-8C0114EB4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35BD7-E501-4B12-811C-861F4F366E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25EEC63-120E-4E59-8607-E1749C0E89F9}" type="datetime1">
              <a:t>2026-10-14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DBAF2-CC93-4184-A58D-89C281A01E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F54A-5FBD-4A6B-A81C-10F350E58A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F4822-7CB1-450C-86E5-16F89FD82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987BF-8FE6-46EE-8862-52C06F78A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96285-D177-4913-92C3-1A76E73A74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24DE3DD-F0A3-4F64-AA99-B4E912018FCA}" type="datetime1">
              <a:t>2026-10-14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5AAA2-29DD-4D2C-9B78-6387F16C61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92DCE-617D-441B-B3CC-7262D607C7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308A2-DD13-4BAB-AC7D-1ADC373F9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BEDC8-2845-4DDB-8AA5-C8AFBEC61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F8FE8-5E9C-4033-8908-90BC783F302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C934A-DFFC-4DDA-BF71-D7A96B102D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B98869-110A-41B2-8B60-C1668D7B64C0}" type="datetime1">
              <a:t>2026-10-14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F85C7-B146-46A9-8E4A-6B25F62F74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E51A1-2F49-4F53-A0EC-BE7853F439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15CC-ED16-4E2F-A7BE-A8398C1F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D049E-2DEB-44F9-934E-E1976BD9D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89948-3C65-4FED-B98D-471CBDC50C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12E486-9414-4D64-B5AA-512425C08F5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651F4-1835-4738-A412-069ABDAC1C9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873699-FF0F-493F-B674-0318BEB0F0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6E72D2-F99A-4934-9072-4110418249BD}" type="datetime1">
              <a:t>2026-10-14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2E9F4-04CB-45F5-894B-356B835723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A89A7-F12E-47C5-935F-EE6879C04E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76E5-EF73-494B-B47D-06423DCCD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6BE7D-D259-42C5-9E0C-E81FEABF734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2C468B-20E3-407E-85A7-522E1433ED6A}" type="datetime1">
              <a:t>2026-10-14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B7044-008F-44C1-90F1-26C33D02A1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95A2A-E62D-4A7F-ADDC-E7E152F4B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02B01-E97B-4A20-B1B0-5191EE524C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71548AA-889C-443B-A93D-38FE1CFA7516}" type="datetime1">
              <a:t>2026-10-14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4D336-5E53-43AB-A7BE-60A3636B3C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D0046-39CA-4E80-B221-566489DFB1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rgbClr val="363A52"/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>
              <a:solidFill>
                <a:srgbClr val="363A5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0EAD-069B-4CE6-B27C-FF2D07C7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4826A-B34C-4658-BE34-A1E42CED4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D345E-E058-4A19-9D36-4EF218572C5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6B60E-DC45-44B6-832E-5033C3B671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EED5943-17CB-412C-A291-60B219F832C8}" type="datetime1">
              <a:t>2026-10-14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94005-A743-4FE7-B7E3-2C505CDBFD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49389-4A71-47FB-B6DD-DDFFD7A701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01991-0852-4FE1-8305-F94E461D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F6FEF-2EA1-4674-91B7-BA6161364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E5ADE-1D9B-4946-9DCA-55964FBA2C4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2A1E9-16D8-4C5E-AEA6-7CE155D9D2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840CD2-5E56-44C1-A1EF-E4FA14BF99E8}" type="datetime1">
              <a:t>2026-10-14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EE1CF-8EFA-4D87-B592-27F4298CAE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762B3-ECAA-4354-83E0-1A9496DC23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2F37C-CDA9-4EA8-A11C-9AAE27AE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96858-9A5F-4A0C-B53D-5243A8F72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0CBD0-2095-4D01-B6BF-B7074F08A9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0541CA-56D6-49C1-9EA6-589A66A6D619}" type="datetime1">
              <a:t>2026-10-14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169DD-D5D7-4552-B6CC-14BE43C947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D92DC-822C-4521-823E-EB1350FC20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E48549-09FA-4275-BE61-ABAB710AB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9F079-B194-44DB-A842-58776470F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B8989-763D-4784-B18E-2FDDDC82A7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B158F63-390B-4AA7-B117-B22D9F851814}" type="datetime1">
              <a:t>2026-10-14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710DB-454F-4708-93D5-584EE37425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67A04-0E12-4CF5-B83A-EF81D55C94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7B83D8-1EDF-45EB-9387-03AF7B28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E5533-203D-4067-B0DB-585AA2DAC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CC50D-AF01-4040-8961-A75CE77E250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25D06-E58F-424F-8E85-775C648B2EFD}" type="datetime1">
              <a:t>2026-10-14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BE8BA-7177-4756-A186-AD5C39F7B75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1DCEE-0A11-47EC-B9BE-7D88590759E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b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3.svg"/><Relationship Id="rId7" Type="http://schemas.openxmlformats.org/officeDocument/2006/relationships/image" Target="../media/image20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5.sv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13.svg"/><Relationship Id="rId7" Type="http://schemas.openxmlformats.org/officeDocument/2006/relationships/image" Target="../media/image26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g"/><Relationship Id="rId11" Type="http://schemas.openxmlformats.org/officeDocument/2006/relationships/image" Target="../media/image30.jpg"/><Relationship Id="rId5" Type="http://schemas.openxmlformats.org/officeDocument/2006/relationships/image" Target="../media/image15.svg"/><Relationship Id="rId10" Type="http://schemas.openxmlformats.org/officeDocument/2006/relationships/image" Target="../media/image29.jpg"/><Relationship Id="rId4" Type="http://schemas.openxmlformats.org/officeDocument/2006/relationships/image" Target="../media/image14.svg"/><Relationship Id="rId9" Type="http://schemas.openxmlformats.org/officeDocument/2006/relationships/image" Target="../media/image28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13.svg"/><Relationship Id="rId7" Type="http://schemas.openxmlformats.org/officeDocument/2006/relationships/image" Target="../media/image32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13.svg"/><Relationship Id="rId7" Type="http://schemas.openxmlformats.org/officeDocument/2006/relationships/image" Target="../media/image35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37.jp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image" Target="../media/image13.svg"/><Relationship Id="rId7" Type="http://schemas.openxmlformats.org/officeDocument/2006/relationships/image" Target="../media/image39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42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44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46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48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52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g"/><Relationship Id="rId3" Type="http://schemas.openxmlformats.org/officeDocument/2006/relationships/image" Target="../media/image13.svg"/><Relationship Id="rId7" Type="http://schemas.openxmlformats.org/officeDocument/2006/relationships/image" Target="../media/image54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56.jp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g"/><Relationship Id="rId3" Type="http://schemas.openxmlformats.org/officeDocument/2006/relationships/image" Target="../media/image13.svg"/><Relationship Id="rId7" Type="http://schemas.openxmlformats.org/officeDocument/2006/relationships/image" Target="../media/image58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60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g"/><Relationship Id="rId3" Type="http://schemas.openxmlformats.org/officeDocument/2006/relationships/image" Target="../media/image13.svg"/><Relationship Id="rId7" Type="http://schemas.openxmlformats.org/officeDocument/2006/relationships/image" Target="../media/image63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jpg"/><Relationship Id="rId11" Type="http://schemas.openxmlformats.org/officeDocument/2006/relationships/image" Target="../media/image67.jpg"/><Relationship Id="rId5" Type="http://schemas.openxmlformats.org/officeDocument/2006/relationships/image" Target="../media/image15.svg"/><Relationship Id="rId10" Type="http://schemas.openxmlformats.org/officeDocument/2006/relationships/image" Target="../media/image66.jpg"/><Relationship Id="rId4" Type="http://schemas.openxmlformats.org/officeDocument/2006/relationships/image" Target="../media/image14.svg"/><Relationship Id="rId9" Type="http://schemas.openxmlformats.org/officeDocument/2006/relationships/image" Target="../media/image65.jp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g"/><Relationship Id="rId3" Type="http://schemas.openxmlformats.org/officeDocument/2006/relationships/image" Target="../media/image13.svg"/><Relationship Id="rId7" Type="http://schemas.openxmlformats.org/officeDocument/2006/relationships/image" Target="../media/image69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jpg"/><Relationship Id="rId11" Type="http://schemas.openxmlformats.org/officeDocument/2006/relationships/image" Target="../media/image73.jpg"/><Relationship Id="rId5" Type="http://schemas.openxmlformats.org/officeDocument/2006/relationships/image" Target="../media/image15.svg"/><Relationship Id="rId10" Type="http://schemas.openxmlformats.org/officeDocument/2006/relationships/image" Target="../media/image72.jpg"/><Relationship Id="rId4" Type="http://schemas.openxmlformats.org/officeDocument/2006/relationships/image" Target="../media/image14.svg"/><Relationship Id="rId9" Type="http://schemas.openxmlformats.org/officeDocument/2006/relationships/image" Target="../media/image71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75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77.jp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jp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7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2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8100" y="-2324100"/>
            <a:ext cx="18326100" cy="11264900"/>
          </a:xfrm>
          <a:prstGeom prst="rect">
            <a:avLst/>
          </a:prstGeom>
        </p:spPr>
      </p:pic>
      <p:pic>
        <p:nvPicPr>
          <p:cNvPr id="503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215900"/>
          </a:xfrm>
          <a:prstGeom prst="rect">
            <a:avLst/>
          </a:prstGeom>
        </p:spPr>
      </p:pic>
      <p:pic>
        <p:nvPicPr>
          <p:cNvPr id="5034" name="Picture 4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3300" y="7645400"/>
            <a:ext cx="8470900" cy="1358900"/>
          </a:xfrm>
          <a:prstGeom prst="rect">
            <a:avLst/>
          </a:prstGeom>
        </p:spPr>
      </p:pic>
      <p:pic>
        <p:nvPicPr>
          <p:cNvPr id="5035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100" y="7645400"/>
            <a:ext cx="8470900" cy="1358900"/>
          </a:xfrm>
          <a:prstGeom prst="rect">
            <a:avLst/>
          </a:prstGeom>
        </p:spPr>
      </p:pic>
      <p:pic>
        <p:nvPicPr>
          <p:cNvPr id="5036" name="Picture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8940800"/>
            <a:ext cx="18313400" cy="1358900"/>
          </a:xfrm>
          <a:prstGeom prst="rect">
            <a:avLst/>
          </a:prstGeom>
        </p:spPr>
      </p:pic>
      <p:pic>
        <p:nvPicPr>
          <p:cNvPr id="5037" name="Picture 9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49000" y="3759200"/>
            <a:ext cx="304800" cy="304800"/>
          </a:xfrm>
          <a:prstGeom prst="rect">
            <a:avLst/>
          </a:prstGeom>
        </p:spPr>
      </p:pic>
      <p:pic>
        <p:nvPicPr>
          <p:cNvPr id="5038" name="Picture 10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090900" y="3098800"/>
            <a:ext cx="812800" cy="939800"/>
          </a:xfrm>
          <a:prstGeom prst="rect">
            <a:avLst/>
          </a:prstGeom>
        </p:spPr>
      </p:pic>
      <p:pic>
        <p:nvPicPr>
          <p:cNvPr id="5039" name="Picture 11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88700" y="2120900"/>
            <a:ext cx="190500" cy="190500"/>
          </a:xfrm>
          <a:prstGeom prst="rect">
            <a:avLst/>
          </a:prstGeom>
        </p:spPr>
      </p:pic>
      <p:pic>
        <p:nvPicPr>
          <p:cNvPr id="5040" name="Picture 12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014700" y="1917700"/>
            <a:ext cx="228600" cy="228600"/>
          </a:xfrm>
          <a:prstGeom prst="rect">
            <a:avLst/>
          </a:prstGeom>
        </p:spPr>
      </p:pic>
      <p:pic>
        <p:nvPicPr>
          <p:cNvPr id="5041" name="Picture 13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3487400" y="1612900"/>
            <a:ext cx="266700" cy="266700"/>
          </a:xfrm>
          <a:prstGeom prst="rect">
            <a:avLst/>
          </a:prstGeom>
        </p:spPr>
      </p:pic>
      <p:pic>
        <p:nvPicPr>
          <p:cNvPr id="5042" name="그림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68800" y="393647"/>
            <a:ext cx="1016053" cy="1016053"/>
          </a:xfrm>
          <a:prstGeom prst="rect">
            <a:avLst/>
          </a:prstGeom>
        </p:spPr>
      </p:pic>
      <p:sp>
        <p:nvSpPr>
          <p:cNvPr id="5012" name="Text 2">
            <a:extLst>
              <a:ext uri="{FF2B5EF4-FFF2-40B4-BE49-F238E27FC236}">
                <a16:creationId xmlns:a16="http://schemas.microsoft.com/office/drawing/2014/main" id="{248666E2-7712-8001-9DD7-F072F760F5BA}"/>
              </a:ext>
            </a:extLst>
          </p:cNvPr>
          <p:cNvSpPr>
            <a:spLocks noGrp="1"/>
          </p:cNvSpPr>
          <p:nvPr/>
        </p:nvSpPr>
        <p:spPr>
          <a:xfrm>
            <a:off x="11430000" y="779727"/>
            <a:ext cx="5441320" cy="363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sz="2200" spc="10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WILDFIRE RESPONSE AI</a:t>
            </a:r>
            <a:endParaRPr sz="2200"/>
          </a:p>
        </p:txBody>
      </p:sp>
      <p:sp>
        <p:nvSpPr>
          <p:cNvPr id="5013" name="TextBox 5012">
            <a:extLst>
              <a:ext uri="{FF2B5EF4-FFF2-40B4-BE49-F238E27FC236}">
                <a16:creationId xmlns:a16="http://schemas.microsoft.com/office/drawing/2014/main" id="{2927E57B-BC3B-42D9-A81A-42142CF34D29}"/>
              </a:ext>
            </a:extLst>
          </p:cNvPr>
          <p:cNvSpPr>
            <a:spLocks noGrp="1"/>
          </p:cNvSpPr>
          <p:nvPr/>
        </p:nvSpPr>
        <p:spPr>
          <a:xfrm>
            <a:off x="1892807" y="205740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600" b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프로토타입 보고서</a:t>
            </a:r>
          </a:p>
        </p:txBody>
      </p:sp>
      <p:sp>
        <p:nvSpPr>
          <p:cNvPr id="5014" name="TextBox 5013">
            <a:extLst>
              <a:ext uri="{FF2B5EF4-FFF2-40B4-BE49-F238E27FC236}">
                <a16:creationId xmlns:a16="http://schemas.microsoft.com/office/drawing/2014/main" id="{C94447D1-CE54-4CB5-8FE4-1C6431530A31}"/>
              </a:ext>
            </a:extLst>
          </p:cNvPr>
          <p:cNvSpPr>
            <a:spLocks noGrp="1"/>
          </p:cNvSpPr>
          <p:nvPr/>
        </p:nvSpPr>
        <p:spPr>
          <a:xfrm>
            <a:off x="1691640" y="2697480"/>
            <a:ext cx="91440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600" b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산불 대응 AI</a:t>
            </a:r>
          </a:p>
        </p:txBody>
      </p:sp>
      <p:sp>
        <p:nvSpPr>
          <p:cNvPr id="5015" name="TextBox 5014">
            <a:extLst>
              <a:ext uri="{FF2B5EF4-FFF2-40B4-BE49-F238E27FC236}">
                <a16:creationId xmlns:a16="http://schemas.microsoft.com/office/drawing/2014/main" id="{88ACEC01-A0EE-4AA8-808E-A5E3E4BB33BC}"/>
              </a:ext>
            </a:extLst>
          </p:cNvPr>
          <p:cNvSpPr>
            <a:spLocks noGrp="1"/>
          </p:cNvSpPr>
          <p:nvPr/>
        </p:nvSpPr>
        <p:spPr>
          <a:xfrm>
            <a:off x="1874519" y="422452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의사결정 지원 시스템</a:t>
            </a:r>
          </a:p>
        </p:txBody>
      </p:sp>
      <p:sp>
        <p:nvSpPr>
          <p:cNvPr id="5016" name="TextBox 5015">
            <a:extLst>
              <a:ext uri="{FF2B5EF4-FFF2-40B4-BE49-F238E27FC236}">
                <a16:creationId xmlns:a16="http://schemas.microsoft.com/office/drawing/2014/main" id="{0FAAB1E6-72C1-4F8E-B5B7-0B1870A7BEA7}"/>
              </a:ext>
            </a:extLst>
          </p:cNvPr>
          <p:cNvSpPr>
            <a:spLocks noGrp="1"/>
          </p:cNvSpPr>
          <p:nvPr/>
        </p:nvSpPr>
        <p:spPr>
          <a:xfrm>
            <a:off x="1874519" y="47548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 확산 예측과 표준매뉴얼 근거 기반 진화·대피 대응 제안</a:t>
            </a:r>
          </a:p>
        </p:txBody>
      </p:sp>
      <p:sp>
        <p:nvSpPr>
          <p:cNvPr id="5017" name="TextBox 5016">
            <a:extLst>
              <a:ext uri="{FF2B5EF4-FFF2-40B4-BE49-F238E27FC236}">
                <a16:creationId xmlns:a16="http://schemas.microsoft.com/office/drawing/2014/main" id="{1E0F0DCB-F6A3-488C-A63A-C14C23862CA3}"/>
              </a:ext>
            </a:extLst>
          </p:cNvPr>
          <p:cNvSpPr>
            <a:spLocks noGrp="1"/>
          </p:cNvSpPr>
          <p:nvPr/>
        </p:nvSpPr>
        <p:spPr>
          <a:xfrm>
            <a:off x="1865376" y="5596128"/>
            <a:ext cx="82296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6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5조 산불조심하조</a:t>
            </a:r>
          </a:p>
        </p:txBody>
      </p:sp>
      <p:sp>
        <p:nvSpPr>
          <p:cNvPr id="5018" name="TextBox 5017">
            <a:extLst>
              <a:ext uri="{FF2B5EF4-FFF2-40B4-BE49-F238E27FC236}">
                <a16:creationId xmlns:a16="http://schemas.microsoft.com/office/drawing/2014/main" id="{C3E6116A-3F88-490C-B3DF-8F3EB7963E23}"/>
              </a:ext>
            </a:extLst>
          </p:cNvPr>
          <p:cNvSpPr>
            <a:spLocks noGrp="1"/>
          </p:cNvSpPr>
          <p:nvPr/>
        </p:nvSpPr>
        <p:spPr>
          <a:xfrm>
            <a:off x="1865376" y="6108192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황승준(팀장) 김지오 홍준서 임성민</a:t>
            </a:r>
          </a:p>
        </p:txBody>
      </p:sp>
      <p:sp>
        <p:nvSpPr>
          <p:cNvPr id="5019" name="TextBox 5018">
            <a:extLst>
              <a:ext uri="{FF2B5EF4-FFF2-40B4-BE49-F238E27FC236}">
                <a16:creationId xmlns:a16="http://schemas.microsoft.com/office/drawing/2014/main" id="{96D0C81D-8A5C-46DE-8F0A-1FE0DBCF673D}"/>
              </a:ext>
            </a:extLst>
          </p:cNvPr>
          <p:cNvSpPr>
            <a:spLocks noGrp="1"/>
          </p:cNvSpPr>
          <p:nvPr/>
        </p:nvSpPr>
        <p:spPr>
          <a:xfrm>
            <a:off x="1865376" y="651052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세종대학교 컴퓨터공학과 · 2026학년도 2학기 캡스톤디자인 · 지도 교수 권기학 교수, 문현준 교수</a:t>
            </a:r>
          </a:p>
        </p:txBody>
      </p:sp>
      <p:sp>
        <p:nvSpPr>
          <p:cNvPr id="5020" name="TextBox 5019">
            <a:extLst>
              <a:ext uri="{FF2B5EF4-FFF2-40B4-BE49-F238E27FC236}">
                <a16:creationId xmlns:a16="http://schemas.microsoft.com/office/drawing/2014/main" id="{451E863D-3BBA-44E5-980D-3C117B9053DA}"/>
              </a:ext>
            </a:extLst>
          </p:cNvPr>
          <p:cNvSpPr>
            <a:spLocks noGrp="1"/>
          </p:cNvSpPr>
          <p:nvPr/>
        </p:nvSpPr>
        <p:spPr>
          <a:xfrm>
            <a:off x="128016" y="9756648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2026.10.16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3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44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45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46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17" name="TextBox 5016">
            <a:extLst>
              <a:ext uri="{FF2B5EF4-FFF2-40B4-BE49-F238E27FC236}">
                <a16:creationId xmlns:a16="http://schemas.microsoft.com/office/drawing/2014/main" id="{C85F8ABA-F59C-4AE4-B132-671B0E3B209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73152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목차</a:t>
            </a:r>
          </a:p>
        </p:txBody>
      </p:sp>
      <p:sp>
        <p:nvSpPr>
          <p:cNvPr id="5018" name="TextBox 5017">
            <a:extLst>
              <a:ext uri="{FF2B5EF4-FFF2-40B4-BE49-F238E27FC236}">
                <a16:creationId xmlns:a16="http://schemas.microsoft.com/office/drawing/2014/main" id="{FDD0ED70-7E54-4181-88A1-D292EBFC365D}"/>
              </a:ext>
            </a:extLst>
          </p:cNvPr>
          <p:cNvSpPr>
            <a:spLocks noGrp="1"/>
          </p:cNvSpPr>
          <p:nvPr/>
        </p:nvSpPr>
        <p:spPr>
          <a:xfrm>
            <a:off x="2194560" y="347472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5019" name="TextBox 5018">
            <a:extLst>
              <a:ext uri="{FF2B5EF4-FFF2-40B4-BE49-F238E27FC236}">
                <a16:creationId xmlns:a16="http://schemas.microsoft.com/office/drawing/2014/main" id="{245A6D84-18F9-4E89-8EC7-4E1987B84879}"/>
              </a:ext>
            </a:extLst>
          </p:cNvPr>
          <p:cNvSpPr>
            <a:spLocks noGrp="1"/>
          </p:cNvSpPr>
          <p:nvPr/>
        </p:nvSpPr>
        <p:spPr>
          <a:xfrm>
            <a:off x="3246120" y="347472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프로젝트 개요 및 목표</a:t>
            </a:r>
          </a:p>
        </p:txBody>
      </p:sp>
      <p:sp>
        <p:nvSpPr>
          <p:cNvPr id="5020" name="Rectangle 5019">
            <a:extLst>
              <a:ext uri="{FF2B5EF4-FFF2-40B4-BE49-F238E27FC236}">
                <a16:creationId xmlns:a16="http://schemas.microsoft.com/office/drawing/2014/main" id="{CDF006FC-B684-4F46-88EF-201A38BB4E8B}"/>
              </a:ext>
            </a:extLst>
          </p:cNvPr>
          <p:cNvSpPr>
            <a:spLocks noGrp="1"/>
          </p:cNvSpPr>
          <p:nvPr/>
        </p:nvSpPr>
        <p:spPr>
          <a:xfrm>
            <a:off x="2194560" y="4224527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21" name="TextBox 5020">
            <a:extLst>
              <a:ext uri="{FF2B5EF4-FFF2-40B4-BE49-F238E27FC236}">
                <a16:creationId xmlns:a16="http://schemas.microsoft.com/office/drawing/2014/main" id="{C6E3A1CE-9D43-4267-BC27-229F3F5E36E7}"/>
              </a:ext>
            </a:extLst>
          </p:cNvPr>
          <p:cNvSpPr>
            <a:spLocks noGrp="1"/>
          </p:cNvSpPr>
          <p:nvPr/>
        </p:nvSpPr>
        <p:spPr>
          <a:xfrm>
            <a:off x="9692640" y="347472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5022" name="TextBox 5021">
            <a:extLst>
              <a:ext uri="{FF2B5EF4-FFF2-40B4-BE49-F238E27FC236}">
                <a16:creationId xmlns:a16="http://schemas.microsoft.com/office/drawing/2014/main" id="{AA3227B1-F90E-47FF-BD96-423FFD0BD493}"/>
              </a:ext>
            </a:extLst>
          </p:cNvPr>
          <p:cNvSpPr>
            <a:spLocks noGrp="1"/>
          </p:cNvSpPr>
          <p:nvPr/>
        </p:nvSpPr>
        <p:spPr>
          <a:xfrm>
            <a:off x="10744200" y="347472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역할별 주요 기능</a:t>
            </a:r>
          </a:p>
        </p:txBody>
      </p:sp>
      <p:sp>
        <p:nvSpPr>
          <p:cNvPr id="5023" name="Rectangle 5022">
            <a:extLst>
              <a:ext uri="{FF2B5EF4-FFF2-40B4-BE49-F238E27FC236}">
                <a16:creationId xmlns:a16="http://schemas.microsoft.com/office/drawing/2014/main" id="{B62EAA4F-3801-43F3-90E8-96D72CFF0C25}"/>
              </a:ext>
            </a:extLst>
          </p:cNvPr>
          <p:cNvSpPr>
            <a:spLocks noGrp="1"/>
          </p:cNvSpPr>
          <p:nvPr/>
        </p:nvSpPr>
        <p:spPr>
          <a:xfrm>
            <a:off x="9692640" y="4224527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24" name="TextBox 5023">
            <a:extLst>
              <a:ext uri="{FF2B5EF4-FFF2-40B4-BE49-F238E27FC236}">
                <a16:creationId xmlns:a16="http://schemas.microsoft.com/office/drawing/2014/main" id="{0DF4FA58-C28D-4EDF-A452-9A4537F51DDA}"/>
              </a:ext>
            </a:extLst>
          </p:cNvPr>
          <p:cNvSpPr>
            <a:spLocks noGrp="1"/>
          </p:cNvSpPr>
          <p:nvPr/>
        </p:nvSpPr>
        <p:spPr>
          <a:xfrm>
            <a:off x="2194560" y="48920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5025" name="TextBox 5024">
            <a:extLst>
              <a:ext uri="{FF2B5EF4-FFF2-40B4-BE49-F238E27FC236}">
                <a16:creationId xmlns:a16="http://schemas.microsoft.com/office/drawing/2014/main" id="{2AA1F869-38D6-4CE6-B176-6F7A612B735A}"/>
              </a:ext>
            </a:extLst>
          </p:cNvPr>
          <p:cNvSpPr>
            <a:spLocks noGrp="1"/>
          </p:cNvSpPr>
          <p:nvPr/>
        </p:nvSpPr>
        <p:spPr>
          <a:xfrm>
            <a:off x="3246120" y="489204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요구사항 분석</a:t>
            </a:r>
          </a:p>
        </p:txBody>
      </p:sp>
      <p:sp>
        <p:nvSpPr>
          <p:cNvPr id="5026" name="Rectangle 5025">
            <a:extLst>
              <a:ext uri="{FF2B5EF4-FFF2-40B4-BE49-F238E27FC236}">
                <a16:creationId xmlns:a16="http://schemas.microsoft.com/office/drawing/2014/main" id="{989D7871-9DD0-44DE-ABFF-FA32F506493F}"/>
              </a:ext>
            </a:extLst>
          </p:cNvPr>
          <p:cNvSpPr>
            <a:spLocks noGrp="1"/>
          </p:cNvSpPr>
          <p:nvPr/>
        </p:nvSpPr>
        <p:spPr>
          <a:xfrm>
            <a:off x="2194560" y="564184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27" name="TextBox 5026">
            <a:extLst>
              <a:ext uri="{FF2B5EF4-FFF2-40B4-BE49-F238E27FC236}">
                <a16:creationId xmlns:a16="http://schemas.microsoft.com/office/drawing/2014/main" id="{9BBE15DC-E1CB-47C5-A443-C6855FFC53B6}"/>
              </a:ext>
            </a:extLst>
          </p:cNvPr>
          <p:cNvSpPr>
            <a:spLocks noGrp="1"/>
          </p:cNvSpPr>
          <p:nvPr/>
        </p:nvSpPr>
        <p:spPr>
          <a:xfrm>
            <a:off x="9692640" y="48920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sp>
        <p:nvSpPr>
          <p:cNvPr id="5028" name="TextBox 5027">
            <a:extLst>
              <a:ext uri="{FF2B5EF4-FFF2-40B4-BE49-F238E27FC236}">
                <a16:creationId xmlns:a16="http://schemas.microsoft.com/office/drawing/2014/main" id="{26FFB58B-2A54-4805-813E-09D5DB113E5F}"/>
              </a:ext>
            </a:extLst>
          </p:cNvPr>
          <p:cNvSpPr>
            <a:spLocks noGrp="1"/>
          </p:cNvSpPr>
          <p:nvPr/>
        </p:nvSpPr>
        <p:spPr>
          <a:xfrm>
            <a:off x="10744200" y="489204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프로토타입 개발</a:t>
            </a:r>
          </a:p>
        </p:txBody>
      </p:sp>
      <p:sp>
        <p:nvSpPr>
          <p:cNvPr id="5029" name="Rectangle 5028">
            <a:extLst>
              <a:ext uri="{FF2B5EF4-FFF2-40B4-BE49-F238E27FC236}">
                <a16:creationId xmlns:a16="http://schemas.microsoft.com/office/drawing/2014/main" id="{C20208A0-000B-4E30-BC65-FA509282BD46}"/>
              </a:ext>
            </a:extLst>
          </p:cNvPr>
          <p:cNvSpPr>
            <a:spLocks noGrp="1"/>
          </p:cNvSpPr>
          <p:nvPr/>
        </p:nvSpPr>
        <p:spPr>
          <a:xfrm>
            <a:off x="9692640" y="564184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30" name="TextBox 5029">
            <a:extLst>
              <a:ext uri="{FF2B5EF4-FFF2-40B4-BE49-F238E27FC236}">
                <a16:creationId xmlns:a16="http://schemas.microsoft.com/office/drawing/2014/main" id="{39735E4A-CBB8-459A-84E5-870B038163E5}"/>
              </a:ext>
            </a:extLst>
          </p:cNvPr>
          <p:cNvSpPr>
            <a:spLocks noGrp="1"/>
          </p:cNvSpPr>
          <p:nvPr/>
        </p:nvSpPr>
        <p:spPr>
          <a:xfrm>
            <a:off x="2194560" y="63093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05</a:t>
            </a:r>
          </a:p>
        </p:txBody>
      </p:sp>
      <p:sp>
        <p:nvSpPr>
          <p:cNvPr id="5031" name="TextBox 5030">
            <a:extLst>
              <a:ext uri="{FF2B5EF4-FFF2-40B4-BE49-F238E27FC236}">
                <a16:creationId xmlns:a16="http://schemas.microsoft.com/office/drawing/2014/main" id="{15407737-5FA6-4D6F-BA3C-03DBE139E02C}"/>
              </a:ext>
            </a:extLst>
          </p:cNvPr>
          <p:cNvSpPr>
            <a:spLocks noGrp="1"/>
          </p:cNvSpPr>
          <p:nvPr/>
        </p:nvSpPr>
        <p:spPr>
          <a:xfrm>
            <a:off x="3246120" y="630936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프로토타입 구현</a:t>
            </a:r>
          </a:p>
        </p:txBody>
      </p:sp>
      <p:sp>
        <p:nvSpPr>
          <p:cNvPr id="5032" name="Rectangle 5031">
            <a:extLst>
              <a:ext uri="{FF2B5EF4-FFF2-40B4-BE49-F238E27FC236}">
                <a16:creationId xmlns:a16="http://schemas.microsoft.com/office/drawing/2014/main" id="{2D881346-F3C5-4AB9-992E-0C221ED7992E}"/>
              </a:ext>
            </a:extLst>
          </p:cNvPr>
          <p:cNvSpPr>
            <a:spLocks noGrp="1"/>
          </p:cNvSpPr>
          <p:nvPr/>
        </p:nvSpPr>
        <p:spPr>
          <a:xfrm>
            <a:off x="2194560" y="705916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33" name="TextBox 5032">
            <a:extLst>
              <a:ext uri="{FF2B5EF4-FFF2-40B4-BE49-F238E27FC236}">
                <a16:creationId xmlns:a16="http://schemas.microsoft.com/office/drawing/2014/main" id="{23D4E630-B8AE-41C3-8DFB-A708F7ADF22A}"/>
              </a:ext>
            </a:extLst>
          </p:cNvPr>
          <p:cNvSpPr>
            <a:spLocks noGrp="1"/>
          </p:cNvSpPr>
          <p:nvPr/>
        </p:nvSpPr>
        <p:spPr>
          <a:xfrm>
            <a:off x="9692640" y="63093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06</a:t>
            </a:r>
          </a:p>
        </p:txBody>
      </p:sp>
      <p:sp>
        <p:nvSpPr>
          <p:cNvPr id="5034" name="TextBox 5033">
            <a:extLst>
              <a:ext uri="{FF2B5EF4-FFF2-40B4-BE49-F238E27FC236}">
                <a16:creationId xmlns:a16="http://schemas.microsoft.com/office/drawing/2014/main" id="{5D7A923B-E714-4E1C-8794-14F4661B18F9}"/>
              </a:ext>
            </a:extLst>
          </p:cNvPr>
          <p:cNvSpPr>
            <a:spLocks noGrp="1"/>
          </p:cNvSpPr>
          <p:nvPr/>
        </p:nvSpPr>
        <p:spPr>
          <a:xfrm>
            <a:off x="10744200" y="630936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프로토타입 검증</a:t>
            </a:r>
          </a:p>
        </p:txBody>
      </p:sp>
      <p:sp>
        <p:nvSpPr>
          <p:cNvPr id="5035" name="Rectangle 5034">
            <a:extLst>
              <a:ext uri="{FF2B5EF4-FFF2-40B4-BE49-F238E27FC236}">
                <a16:creationId xmlns:a16="http://schemas.microsoft.com/office/drawing/2014/main" id="{0FC688CC-7773-47C4-86AF-A84FEE07273D}"/>
              </a:ext>
            </a:extLst>
          </p:cNvPr>
          <p:cNvSpPr>
            <a:spLocks noGrp="1"/>
          </p:cNvSpPr>
          <p:nvPr/>
        </p:nvSpPr>
        <p:spPr>
          <a:xfrm>
            <a:off x="9692640" y="705916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3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84" name="TextBox 5083"/>
          <p:cNvSpPr txBox="1"/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 및 목표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 및 목표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프로젝트 개요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024" name="Lead"/>
          <p:cNvSpPr txBox="1"/>
          <p:nvPr/>
        </p:nvSpPr>
        <p:spPr>
          <a:xfrm>
            <a:off x="822960" y="2487168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 발생 직후부터 진화·대피 판단이 이어지는 8시간 안팎의 대응 과정에서,</a:t>
            </a:r>
          </a:p>
          <a:p>
            <a:pPr algn="ctr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산불현장 통합지휘권자(시장·군수·구청장)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에게 </a:t>
            </a:r>
            <a:r>
              <a:rPr lang="ko-KR" altLang="en-US" sz="19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통합 상황도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와 </a:t>
            </a:r>
            <a:r>
              <a:rPr lang="ko-KR" altLang="en-US" sz="19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판단 항목별 대응 제안서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를 </a:t>
            </a:r>
            <a:r>
              <a:rPr lang="ko-KR" altLang="en-US" sz="19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표준매뉴얼 근거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와 함께 제공하는 웹 대시보드입니다.</a:t>
            </a:r>
          </a:p>
        </p:txBody>
      </p:sp>
      <p:sp>
        <p:nvSpPr>
          <p:cNvPr id="5025" name="Tech card 1"/>
          <p:cNvSpPr/>
          <p:nvPr/>
        </p:nvSpPr>
        <p:spPr>
          <a:xfrm>
            <a:off x="868680" y="3611880"/>
            <a:ext cx="393192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6" name="Oval 5025"/>
          <p:cNvSpPr/>
          <p:nvPr/>
        </p:nvSpPr>
        <p:spPr>
          <a:xfrm>
            <a:off x="1161288" y="3904488"/>
            <a:ext cx="786384" cy="7863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27" name="Picture 5026" descr="i39_363A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884" y="4101084"/>
            <a:ext cx="393192" cy="393192"/>
          </a:xfrm>
          <a:prstGeom prst="rect">
            <a:avLst/>
          </a:prstGeom>
        </p:spPr>
      </p:pic>
      <p:sp>
        <p:nvSpPr>
          <p:cNvPr id="5028" name="TextBox 5027"/>
          <p:cNvSpPr txBox="1"/>
          <p:nvPr/>
        </p:nvSpPr>
        <p:spPr>
          <a:xfrm>
            <a:off x="2112264" y="3877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확산 예측</a:t>
            </a:r>
          </a:p>
        </p:txBody>
      </p:sp>
      <p:sp>
        <p:nvSpPr>
          <p:cNvPr id="5029" name="TextBox 5028"/>
          <p:cNvSpPr txBox="1"/>
          <p:nvPr/>
        </p:nvSpPr>
        <p:spPr>
          <a:xfrm>
            <a:off x="2112264" y="411480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물리 엔진</a:t>
            </a:r>
          </a:p>
        </p:txBody>
      </p:sp>
      <p:sp>
        <p:nvSpPr>
          <p:cNvPr id="5030" name="TextBox 5029"/>
          <p:cNvSpPr txBox="1"/>
          <p:nvPr/>
        </p:nvSpPr>
        <p:spPr>
          <a:xfrm>
            <a:off x="2112264" y="45262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ELMFIRE</a:t>
            </a:r>
          </a:p>
        </p:txBody>
      </p:sp>
      <p:sp>
        <p:nvSpPr>
          <p:cNvPr id="5031" name="TextBox 5030"/>
          <p:cNvSpPr txBox="1"/>
          <p:nvPr/>
        </p:nvSpPr>
        <p:spPr>
          <a:xfrm>
            <a:off x="1197864" y="5029200"/>
            <a:ext cx="3273552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1시간 간격으로 8시간까지 확산 범위를 산출</a:t>
            </a:r>
          </a:p>
        </p:txBody>
      </p:sp>
      <p:sp>
        <p:nvSpPr>
          <p:cNvPr id="5032" name="Chevron 5031"/>
          <p:cNvSpPr/>
          <p:nvPr/>
        </p:nvSpPr>
        <p:spPr>
          <a:xfrm>
            <a:off x="4937760" y="4636008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3" name="Tech card 2"/>
          <p:cNvSpPr/>
          <p:nvPr/>
        </p:nvSpPr>
        <p:spPr>
          <a:xfrm>
            <a:off x="5257800" y="3611880"/>
            <a:ext cx="393192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4" name="Oval 5033"/>
          <p:cNvSpPr/>
          <p:nvPr/>
        </p:nvSpPr>
        <p:spPr>
          <a:xfrm>
            <a:off x="5550408" y="3904488"/>
            <a:ext cx="786384" cy="7863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35" name="Picture 5034" descr="i41_363A5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7004" y="4101084"/>
            <a:ext cx="393192" cy="393192"/>
          </a:xfrm>
          <a:prstGeom prst="rect">
            <a:avLst/>
          </a:prstGeom>
        </p:spPr>
      </p:pic>
      <p:sp>
        <p:nvSpPr>
          <p:cNvPr id="5036" name="TextBox 5035"/>
          <p:cNvSpPr txBox="1"/>
          <p:nvPr/>
        </p:nvSpPr>
        <p:spPr>
          <a:xfrm>
            <a:off x="6501384" y="3877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판정</a:t>
            </a:r>
          </a:p>
        </p:txBody>
      </p:sp>
      <p:sp>
        <p:nvSpPr>
          <p:cNvPr id="5037" name="TextBox 5036"/>
          <p:cNvSpPr txBox="1"/>
          <p:nvPr/>
        </p:nvSpPr>
        <p:spPr>
          <a:xfrm>
            <a:off x="6501384" y="411480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규칙 엔진</a:t>
            </a:r>
          </a:p>
        </p:txBody>
      </p:sp>
      <p:sp>
        <p:nvSpPr>
          <p:cNvPr id="5038" name="TextBox 5037"/>
          <p:cNvSpPr txBox="1"/>
          <p:nvPr/>
        </p:nvSpPr>
        <p:spPr>
          <a:xfrm>
            <a:off x="6501384" y="45262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Rule-Based</a:t>
            </a:r>
          </a:p>
        </p:txBody>
      </p:sp>
      <p:sp>
        <p:nvSpPr>
          <p:cNvPr id="5039" name="TextBox 5038"/>
          <p:cNvSpPr txBox="1"/>
          <p:nvPr/>
        </p:nvSpPr>
        <p:spPr>
          <a:xfrm>
            <a:off x="5586984" y="5029200"/>
            <a:ext cx="3273552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문서에 경계값·수치가 있는 값만 판정(대응단계·위험구역 등)</a:t>
            </a:r>
          </a:p>
        </p:txBody>
      </p:sp>
      <p:sp>
        <p:nvSpPr>
          <p:cNvPr id="5040" name="Chevron 5039"/>
          <p:cNvSpPr/>
          <p:nvPr/>
        </p:nvSpPr>
        <p:spPr>
          <a:xfrm>
            <a:off x="9326880" y="4636008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1" name="Tech card 3"/>
          <p:cNvSpPr/>
          <p:nvPr/>
        </p:nvSpPr>
        <p:spPr>
          <a:xfrm>
            <a:off x="9646920" y="3611880"/>
            <a:ext cx="393192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2" name="Oval 5041"/>
          <p:cNvSpPr/>
          <p:nvPr/>
        </p:nvSpPr>
        <p:spPr>
          <a:xfrm>
            <a:off x="9939528" y="3904488"/>
            <a:ext cx="786384" cy="7863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43" name="Picture 504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2532" y="4077492"/>
            <a:ext cx="440375" cy="440375"/>
          </a:xfrm>
          <a:prstGeom prst="rect">
            <a:avLst/>
          </a:prstGeom>
        </p:spPr>
      </p:pic>
      <p:sp>
        <p:nvSpPr>
          <p:cNvPr id="5044" name="TextBox 5043"/>
          <p:cNvSpPr txBox="1"/>
          <p:nvPr/>
        </p:nvSpPr>
        <p:spPr>
          <a:xfrm>
            <a:off x="10890504" y="3877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제안서·답변 작성</a:t>
            </a:r>
          </a:p>
        </p:txBody>
      </p:sp>
      <p:sp>
        <p:nvSpPr>
          <p:cNvPr id="5045" name="TextBox 5044"/>
          <p:cNvSpPr txBox="1"/>
          <p:nvPr/>
        </p:nvSpPr>
        <p:spPr>
          <a:xfrm>
            <a:off x="10890504" y="411480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LLM 에이전트 2개</a:t>
            </a:r>
          </a:p>
        </p:txBody>
      </p:sp>
      <p:sp>
        <p:nvSpPr>
          <p:cNvPr id="5046" name="TextBox 5045"/>
          <p:cNvSpPr txBox="1"/>
          <p:nvPr/>
        </p:nvSpPr>
        <p:spPr>
          <a:xfrm>
            <a:off x="10890504" y="45262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EXAONE 4.0 32B</a:t>
            </a:r>
          </a:p>
        </p:txBody>
      </p:sp>
      <p:sp>
        <p:nvSpPr>
          <p:cNvPr id="5047" name="TextBox 5046"/>
          <p:cNvSpPr txBox="1"/>
          <p:nvPr/>
        </p:nvSpPr>
        <p:spPr>
          <a:xfrm>
            <a:off x="9976104" y="5029200"/>
            <a:ext cx="3273552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판정 값과 검색 근거로 제안을 판단·작성, 조항 인용</a:t>
            </a:r>
          </a:p>
        </p:txBody>
      </p:sp>
      <p:sp>
        <p:nvSpPr>
          <p:cNvPr id="5048" name="Chevron 5047"/>
          <p:cNvSpPr/>
          <p:nvPr/>
        </p:nvSpPr>
        <p:spPr>
          <a:xfrm>
            <a:off x="13716000" y="4636008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9" name="Output A"/>
          <p:cNvSpPr/>
          <p:nvPr/>
        </p:nvSpPr>
        <p:spPr>
          <a:xfrm>
            <a:off x="14036040" y="3611880"/>
            <a:ext cx="3383280" cy="1097280"/>
          </a:xfrm>
          <a:prstGeom prst="roundRect">
            <a:avLst>
              <a:gd name="adj" fmla="val 15000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0" name="Rounded Rectangle 5049"/>
          <p:cNvSpPr/>
          <p:nvPr/>
        </p:nvSpPr>
        <p:spPr>
          <a:xfrm>
            <a:off x="14292072" y="3813048"/>
            <a:ext cx="868680" cy="329184"/>
          </a:xfrm>
          <a:prstGeom prst="roundRect">
            <a:avLst>
              <a:gd name="adj" fmla="val 25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출력 A</a:t>
            </a:r>
          </a:p>
        </p:txBody>
      </p:sp>
      <p:sp>
        <p:nvSpPr>
          <p:cNvPr id="5051" name="TextBox 5050"/>
          <p:cNvSpPr txBox="1"/>
          <p:nvPr/>
        </p:nvSpPr>
        <p:spPr>
          <a:xfrm>
            <a:off x="15316200" y="3785616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대응 제안서</a:t>
            </a:r>
          </a:p>
        </p:txBody>
      </p:sp>
      <p:sp>
        <p:nvSpPr>
          <p:cNvPr id="5052" name="TextBox 5051"/>
          <p:cNvSpPr txBox="1"/>
          <p:nvPr/>
        </p:nvSpPr>
        <p:spPr>
          <a:xfrm>
            <a:off x="14292072" y="4288536"/>
            <a:ext cx="28712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진화 7 · 대피 7 판단 항목별 대응안</a:t>
            </a:r>
          </a:p>
        </p:txBody>
      </p:sp>
      <p:sp>
        <p:nvSpPr>
          <p:cNvPr id="5053" name="Output B"/>
          <p:cNvSpPr/>
          <p:nvPr/>
        </p:nvSpPr>
        <p:spPr>
          <a:xfrm>
            <a:off x="14036040" y="4892040"/>
            <a:ext cx="3383280" cy="1097280"/>
          </a:xfrm>
          <a:prstGeom prst="roundRect">
            <a:avLst>
              <a:gd name="adj" fmla="val 15000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4" name="Rounded Rectangle 5053"/>
          <p:cNvSpPr/>
          <p:nvPr/>
        </p:nvSpPr>
        <p:spPr>
          <a:xfrm>
            <a:off x="14292072" y="5093208"/>
            <a:ext cx="868680" cy="329184"/>
          </a:xfrm>
          <a:prstGeom prst="roundRect">
            <a:avLst>
              <a:gd name="adj" fmla="val 25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출력 B</a:t>
            </a:r>
          </a:p>
        </p:txBody>
      </p:sp>
      <p:sp>
        <p:nvSpPr>
          <p:cNvPr id="5055" name="TextBox 5054"/>
          <p:cNvSpPr txBox="1"/>
          <p:nvPr/>
        </p:nvSpPr>
        <p:spPr>
          <a:xfrm>
            <a:off x="15316200" y="5065776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AI 답변</a:t>
            </a:r>
          </a:p>
        </p:txBody>
      </p:sp>
      <p:sp>
        <p:nvSpPr>
          <p:cNvPr id="5056" name="TextBox 5055"/>
          <p:cNvSpPr txBox="1"/>
          <p:nvPr/>
        </p:nvSpPr>
        <p:spPr>
          <a:xfrm>
            <a:off x="14292072" y="5568696"/>
            <a:ext cx="28712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조항을 인용한 질의응답 · 상황 정정</a:t>
            </a:r>
          </a:p>
        </p:txBody>
      </p:sp>
      <p:sp>
        <p:nvSpPr>
          <p:cNvPr id="5057" name="Definition"/>
          <p:cNvSpPr/>
          <p:nvPr/>
        </p:nvSpPr>
        <p:spPr>
          <a:xfrm>
            <a:off x="868680" y="6355080"/>
            <a:ext cx="5212080" cy="2240280"/>
          </a:xfrm>
          <a:prstGeom prst="roundRect">
            <a:avLst>
              <a:gd name="adj" fmla="val 8979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8" name="Rounded Rectangle 5057"/>
          <p:cNvSpPr/>
          <p:nvPr/>
        </p:nvSpPr>
        <p:spPr>
          <a:xfrm>
            <a:off x="1188720" y="6647688"/>
            <a:ext cx="731520" cy="347472"/>
          </a:xfrm>
          <a:prstGeom prst="roundRect">
            <a:avLst>
              <a:gd name="adj" fmla="val 23684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정의</a:t>
            </a:r>
          </a:p>
        </p:txBody>
      </p:sp>
      <p:sp>
        <p:nvSpPr>
          <p:cNvPr id="5059" name="TextBox 5058"/>
          <p:cNvSpPr txBox="1"/>
          <p:nvPr/>
        </p:nvSpPr>
        <p:spPr>
          <a:xfrm>
            <a:off x="2075688" y="6620256"/>
            <a:ext cx="37490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산불은 법령상 사회재난</a:t>
            </a:r>
          </a:p>
        </p:txBody>
      </p:sp>
      <p:sp>
        <p:nvSpPr>
          <p:cNvPr id="5060" name="TextBox 5059"/>
          <p:cNvSpPr txBox="1"/>
          <p:nvPr/>
        </p:nvSpPr>
        <p:spPr>
          <a:xfrm>
            <a:off x="1188720" y="7251192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재난관리주관기관은 산림청, 현장 통합지휘와 주민대피 명령권자는 시장·군수·구청장</a:t>
            </a:r>
          </a:p>
        </p:txBody>
      </p:sp>
      <p:sp>
        <p:nvSpPr>
          <p:cNvPr id="5061" name="TextBox 5060"/>
          <p:cNvSpPr txBox="1"/>
          <p:nvPr/>
        </p:nvSpPr>
        <p:spPr>
          <a:xfrm>
            <a:off x="1188720" y="81381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>
                <a:solidFill>
                  <a:srgbClr val="A3A8B8"/>
                </a:solidFill>
                <a:latin typeface="210 OmniGothic 030"/>
                <a:ea typeface="210 OmniGothic 030"/>
                <a:cs typeface="210 OmniGothic 030"/>
              </a:rPr>
              <a:t>재난안전법 시행령 별표 1의3 · 산림재난방지법 제34조</a:t>
            </a:r>
          </a:p>
        </p:txBody>
      </p:sp>
      <p:sp>
        <p:nvSpPr>
          <p:cNvPr id="5062" name="Scope"/>
          <p:cNvSpPr/>
          <p:nvPr/>
        </p:nvSpPr>
        <p:spPr>
          <a:xfrm>
            <a:off x="6309360" y="6355080"/>
            <a:ext cx="11109960" cy="2240280"/>
          </a:xfrm>
          <a:prstGeom prst="roundRect">
            <a:avLst>
              <a:gd name="adj" fmla="val 897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3" name="Rounded Rectangle 5062"/>
          <p:cNvSpPr/>
          <p:nvPr/>
        </p:nvSpPr>
        <p:spPr>
          <a:xfrm>
            <a:off x="6629400" y="6647688"/>
            <a:ext cx="731520" cy="347472"/>
          </a:xfrm>
          <a:prstGeom prst="roundRect">
            <a:avLst>
              <a:gd name="adj" fmla="val 23684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범위</a:t>
            </a:r>
          </a:p>
        </p:txBody>
      </p:sp>
      <p:sp>
        <p:nvSpPr>
          <p:cNvPr id="5064" name="TextBox 5063"/>
          <p:cNvSpPr txBox="1"/>
          <p:nvPr/>
        </p:nvSpPr>
        <p:spPr>
          <a:xfrm>
            <a:off x="7516368" y="6620256"/>
            <a:ext cx="96469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본 과제가 다루는 산불</a:t>
            </a:r>
          </a:p>
        </p:txBody>
      </p:sp>
      <p:sp>
        <p:nvSpPr>
          <p:cNvPr id="5065" name="Rounded Rectangle 5064"/>
          <p:cNvSpPr/>
          <p:nvPr/>
        </p:nvSpPr>
        <p:spPr>
          <a:xfrm>
            <a:off x="6629400" y="7342632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시간</a:t>
            </a:r>
          </a:p>
        </p:txBody>
      </p:sp>
      <p:sp>
        <p:nvSpPr>
          <p:cNvPr id="5066" name="TextBox 5065"/>
          <p:cNvSpPr txBox="1"/>
          <p:nvPr/>
        </p:nvSpPr>
        <p:spPr>
          <a:xfrm>
            <a:off x="7927848" y="7287768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초기대응 ~ 확산대응 1·2단계</a:t>
            </a:r>
          </a:p>
        </p:txBody>
      </p:sp>
      <p:sp>
        <p:nvSpPr>
          <p:cNvPr id="5067" name="Rounded Rectangle 5066"/>
          <p:cNvSpPr/>
          <p:nvPr/>
        </p:nvSpPr>
        <p:spPr>
          <a:xfrm>
            <a:off x="12001500" y="7342632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지역</a:t>
            </a:r>
          </a:p>
        </p:txBody>
      </p:sp>
      <p:sp>
        <p:nvSpPr>
          <p:cNvPr id="5068" name="TextBox 5067"/>
          <p:cNvSpPr txBox="1"/>
          <p:nvPr/>
        </p:nvSpPr>
        <p:spPr>
          <a:xfrm>
            <a:off x="13299948" y="7287768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경상북도 우선 · 시연은 2025년 의성 산불</a:t>
            </a:r>
          </a:p>
        </p:txBody>
      </p:sp>
      <p:sp>
        <p:nvSpPr>
          <p:cNvPr id="5069" name="Rounded Rectangle 5068"/>
          <p:cNvSpPr/>
          <p:nvPr/>
        </p:nvSpPr>
        <p:spPr>
          <a:xfrm>
            <a:off x="6629400" y="7946136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공간</a:t>
            </a:r>
          </a:p>
        </p:txBody>
      </p:sp>
      <p:sp>
        <p:nvSpPr>
          <p:cNvPr id="5070" name="TextBox 5069"/>
          <p:cNvSpPr txBox="1"/>
          <p:nvPr/>
        </p:nvSpPr>
        <p:spPr>
          <a:xfrm>
            <a:off x="7927848" y="7891272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8시간 도달권 안의 마을·시설·도로·대피소</a:t>
            </a:r>
          </a:p>
        </p:txBody>
      </p:sp>
      <p:sp>
        <p:nvSpPr>
          <p:cNvPr id="5071" name="Rounded Rectangle 5070"/>
          <p:cNvSpPr/>
          <p:nvPr/>
        </p:nvSpPr>
        <p:spPr>
          <a:xfrm>
            <a:off x="12001500" y="7946136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판단 범위</a:t>
            </a:r>
          </a:p>
        </p:txBody>
      </p:sp>
      <p:sp>
        <p:nvSpPr>
          <p:cNvPr id="5072" name="TextBox 5071"/>
          <p:cNvSpPr txBox="1"/>
          <p:nvPr/>
        </p:nvSpPr>
        <p:spPr>
          <a:xfrm>
            <a:off x="13299948" y="7891272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 7개 · 대피 7개 판단 항목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 및 목표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현재 문제점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000" name="TextBox 5028"/>
          <p:cNvSpPr txBox="1"/>
          <p:nvPr/>
        </p:nvSpPr>
        <p:spPr>
          <a:xfrm>
            <a:off x="868680" y="2468880"/>
            <a:ext cx="165506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대형 산불에서는 판단의 속도가 인명 피해를 좌우합니다</a:t>
            </a:r>
          </a:p>
        </p:txBody>
      </p:sp>
      <p:sp>
        <p:nvSpPr>
          <p:cNvPr id="7001" name="Stat 1"/>
          <p:cNvSpPr/>
          <p:nvPr/>
        </p:nvSpPr>
        <p:spPr>
          <a:xfrm>
            <a:off x="868680" y="2944368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2" name="TextBox 5030"/>
          <p:cNvSpPr txBox="1"/>
          <p:nvPr/>
        </p:nvSpPr>
        <p:spPr>
          <a:xfrm>
            <a:off x="1197864" y="3127248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>
                <a:solidFill>
                  <a:srgbClr val="E8893A"/>
                </a:solidFill>
                <a:latin typeface="Pretendard Bold"/>
                <a:ea typeface="Pretendard Bold"/>
                <a:cs typeface="Pretendard Bold"/>
              </a:rPr>
              <a:t>사망 30명 · 부상 43명</a:t>
            </a:r>
          </a:p>
        </p:txBody>
      </p:sp>
      <p:sp>
        <p:nvSpPr>
          <p:cNvPr id="7003" name="TextBox 5031"/>
          <p:cNvSpPr txBox="1"/>
          <p:nvPr/>
        </p:nvSpPr>
        <p:spPr>
          <a:xfrm>
            <a:off x="1197864" y="3675888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2025년 3월 의성발 영남권 산불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2025.3.29 기준</a:t>
            </a:r>
          </a:p>
        </p:txBody>
      </p:sp>
      <p:sp>
        <p:nvSpPr>
          <p:cNvPr id="7004" name="Stat 2"/>
          <p:cNvSpPr/>
          <p:nvPr/>
        </p:nvSpPr>
        <p:spPr>
          <a:xfrm>
            <a:off x="6446520" y="2944368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5" name="TextBox 5033"/>
          <p:cNvSpPr txBox="1"/>
          <p:nvPr/>
        </p:nvSpPr>
        <p:spPr>
          <a:xfrm>
            <a:off x="6775704" y="3127248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>
                <a:solidFill>
                  <a:srgbClr val="E8893A"/>
                </a:solidFill>
                <a:latin typeface="Pretendard Bold"/>
                <a:ea typeface="Pretendard Bold"/>
                <a:cs typeface="Pretendard Bold"/>
              </a:rPr>
              <a:t>28명 중 26명</a:t>
            </a:r>
          </a:p>
        </p:txBody>
      </p:sp>
      <p:sp>
        <p:nvSpPr>
          <p:cNvPr id="7006" name="TextBox 5034"/>
          <p:cNvSpPr txBox="1"/>
          <p:nvPr/>
        </p:nvSpPr>
        <p:spPr>
          <a:xfrm>
            <a:off x="6775704" y="3675888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사망자 가운데 60대 이상 고령자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2025.3.28 기준</a:t>
            </a:r>
          </a:p>
        </p:txBody>
      </p:sp>
      <p:sp>
        <p:nvSpPr>
          <p:cNvPr id="7007" name="Stat 3"/>
          <p:cNvSpPr/>
          <p:nvPr/>
        </p:nvSpPr>
        <p:spPr>
          <a:xfrm>
            <a:off x="12024360" y="2944368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8" name="TextBox 5036"/>
          <p:cNvSpPr txBox="1"/>
          <p:nvPr/>
        </p:nvSpPr>
        <p:spPr>
          <a:xfrm>
            <a:off x="12353544" y="3127248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>
                <a:solidFill>
                  <a:srgbClr val="E8893A"/>
                </a:solidFill>
                <a:latin typeface="Pretendard Bold"/>
                <a:ea typeface="Pretendard Bold"/>
                <a:cs typeface="Pretendard Bold"/>
              </a:rPr>
              <a:t>약 1조 818억 원</a:t>
            </a:r>
          </a:p>
        </p:txBody>
      </p:sp>
      <p:sp>
        <p:nvSpPr>
          <p:cNvPr id="7009" name="TextBox 5037"/>
          <p:cNvSpPr txBox="1"/>
          <p:nvPr/>
        </p:nvSpPr>
        <p:spPr>
          <a:xfrm>
            <a:off x="12353544" y="3675888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영남권 산불 재산피해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피해 확정 집계</a:t>
            </a:r>
          </a:p>
        </p:txBody>
      </p:sp>
      <p:sp>
        <p:nvSpPr>
          <p:cNvPr id="7010" name="Problem 1"/>
          <p:cNvSpPr/>
          <p:nvPr/>
        </p:nvSpPr>
        <p:spPr>
          <a:xfrm>
            <a:off x="868680" y="4389120"/>
            <a:ext cx="8183880" cy="2286000"/>
          </a:xfrm>
          <a:prstGeom prst="roundRect">
            <a:avLst>
              <a:gd name="adj" fmla="val 88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1" name="Rounded Rectangle 5039"/>
          <p:cNvSpPr/>
          <p:nvPr/>
        </p:nvSpPr>
        <p:spPr>
          <a:xfrm>
            <a:off x="1234440" y="470916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문제 ①</a:t>
            </a:r>
          </a:p>
        </p:txBody>
      </p:sp>
      <p:sp>
        <p:nvSpPr>
          <p:cNvPr id="7012" name="TextBox 5040"/>
          <p:cNvSpPr txBox="1"/>
          <p:nvPr/>
        </p:nvSpPr>
        <p:spPr>
          <a:xfrm>
            <a:off x="2587752" y="4690872"/>
            <a:ext cx="617220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기관별로 분산된 자원·상황정보</a:t>
            </a:r>
          </a:p>
        </p:txBody>
      </p:sp>
      <p:sp>
        <p:nvSpPr>
          <p:cNvPr id="7013" name="TextBox 5041"/>
          <p:cNvSpPr txBox="1"/>
          <p:nvPr/>
        </p:nvSpPr>
        <p:spPr>
          <a:xfrm>
            <a:off x="1234440" y="5413248"/>
            <a:ext cx="745236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공중진화와 지상진화, 산림청과 소방청이 따로 움직이는 이원화 체계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예측은 별도 시스템에서 산출되어 대응 판단 반영이 늦어짐</a:t>
            </a:r>
          </a:p>
        </p:txBody>
      </p:sp>
      <p:sp>
        <p:nvSpPr>
          <p:cNvPr id="7014" name="TextBox 5042"/>
          <p:cNvSpPr txBox="1"/>
          <p:nvPr/>
        </p:nvSpPr>
        <p:spPr>
          <a:xfrm>
            <a:off x="1234440" y="6309360"/>
            <a:ext cx="745236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국회입법조사처 산불대응연구TF(2025.6) · YTN(2025.4.9)</a:t>
            </a:r>
          </a:p>
        </p:txBody>
      </p:sp>
      <p:sp>
        <p:nvSpPr>
          <p:cNvPr id="7015" name="Problem 2"/>
          <p:cNvSpPr/>
          <p:nvPr/>
        </p:nvSpPr>
        <p:spPr>
          <a:xfrm>
            <a:off x="9235440" y="4389120"/>
            <a:ext cx="8183880" cy="2286000"/>
          </a:xfrm>
          <a:prstGeom prst="roundRect">
            <a:avLst>
              <a:gd name="adj" fmla="val 88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6" name="Rounded Rectangle 5044"/>
          <p:cNvSpPr/>
          <p:nvPr/>
        </p:nvSpPr>
        <p:spPr>
          <a:xfrm>
            <a:off x="9601200" y="470916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문제 ②</a:t>
            </a:r>
          </a:p>
        </p:txBody>
      </p:sp>
      <p:sp>
        <p:nvSpPr>
          <p:cNvPr id="7017" name="TextBox 5045"/>
          <p:cNvSpPr txBox="1"/>
          <p:nvPr/>
        </p:nvSpPr>
        <p:spPr>
          <a:xfrm>
            <a:off x="10954512" y="4690872"/>
            <a:ext cx="617220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통합지휘권자의 전문성 한계</a:t>
            </a:r>
          </a:p>
        </p:txBody>
      </p:sp>
      <p:sp>
        <p:nvSpPr>
          <p:cNvPr id="7018" name="TextBox 5046"/>
          <p:cNvSpPr txBox="1"/>
          <p:nvPr/>
        </p:nvSpPr>
        <p:spPr>
          <a:xfrm>
            <a:off x="9601200" y="5413248"/>
            <a:ext cx="745236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현장 경험이 거의 없는 지자체장에게 지휘권이 주어짐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100쪽 넘는 표준매뉴얼에서 맞는 조항을 찾아 적용해야 함</a:t>
            </a:r>
          </a:p>
        </p:txBody>
      </p:sp>
      <p:sp>
        <p:nvSpPr>
          <p:cNvPr id="7019" name="TextBox 5047"/>
          <p:cNvSpPr txBox="1"/>
          <p:nvPr/>
        </p:nvSpPr>
        <p:spPr>
          <a:xfrm>
            <a:off x="9601200" y="6309360"/>
            <a:ext cx="745236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국회입법조사처 산불대응연구TF(2025.6) · 「산불 재난」 위기관리 표준매뉴얼</a:t>
            </a:r>
          </a:p>
        </p:txBody>
      </p:sp>
      <p:sp>
        <p:nvSpPr>
          <p:cNvPr id="7020" name="TextBox 5048"/>
          <p:cNvSpPr txBox="1"/>
          <p:nvPr/>
        </p:nvSpPr>
        <p:spPr>
          <a:xfrm>
            <a:off x="868680" y="694944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비어 있는 것은</a:t>
            </a:r>
          </a:p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예측도 규칙도 아닙니다</a:t>
            </a:r>
          </a:p>
        </p:txBody>
      </p:sp>
      <p:sp>
        <p:nvSpPr>
          <p:cNvPr id="7021" name="Rounded Rectangle 5049"/>
          <p:cNvSpPr/>
          <p:nvPr/>
        </p:nvSpPr>
        <p:spPr>
          <a:xfrm>
            <a:off x="3566160" y="6949440"/>
            <a:ext cx="3657600" cy="128016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D9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2" name="TextBox 5050"/>
          <p:cNvSpPr txBox="1"/>
          <p:nvPr/>
        </p:nvSpPr>
        <p:spPr>
          <a:xfrm>
            <a:off x="3840480" y="7187184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</a:t>
            </a:r>
          </a:p>
        </p:txBody>
      </p:sp>
      <p:sp>
        <p:nvSpPr>
          <p:cNvPr id="7023" name="Rounded Rectangle 5051"/>
          <p:cNvSpPr/>
          <p:nvPr/>
        </p:nvSpPr>
        <p:spPr>
          <a:xfrm>
            <a:off x="6172200" y="7187184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E6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있음</a:t>
            </a:r>
          </a:p>
        </p:txBody>
      </p:sp>
      <p:sp>
        <p:nvSpPr>
          <p:cNvPr id="7024" name="TextBox 5052"/>
          <p:cNvSpPr txBox="1"/>
          <p:nvPr/>
        </p:nvSpPr>
        <p:spPr>
          <a:xfrm>
            <a:off x="3840480" y="769924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산불확산예측시스템 등 국가 시스템</a:t>
            </a:r>
          </a:p>
        </p:txBody>
      </p:sp>
      <p:sp>
        <p:nvSpPr>
          <p:cNvPr id="7025" name="Chevron 5053"/>
          <p:cNvSpPr/>
          <p:nvPr/>
        </p:nvSpPr>
        <p:spPr>
          <a:xfrm>
            <a:off x="7324344" y="7443216"/>
            <a:ext cx="164592" cy="292608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6" name="Rounded Rectangle 5054"/>
          <p:cNvSpPr/>
          <p:nvPr/>
        </p:nvSpPr>
        <p:spPr>
          <a:xfrm>
            <a:off x="7589520" y="6949440"/>
            <a:ext cx="3657600" cy="128016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D9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7" name="TextBox 5055"/>
          <p:cNvSpPr txBox="1"/>
          <p:nvPr/>
        </p:nvSpPr>
        <p:spPr>
          <a:xfrm>
            <a:off x="7863840" y="7187184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대응 규칙</a:t>
            </a:r>
          </a:p>
        </p:txBody>
      </p:sp>
      <p:sp>
        <p:nvSpPr>
          <p:cNvPr id="7028" name="Rounded Rectangle 5056"/>
          <p:cNvSpPr/>
          <p:nvPr/>
        </p:nvSpPr>
        <p:spPr>
          <a:xfrm>
            <a:off x="10195560" y="7187184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E6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있음</a:t>
            </a:r>
          </a:p>
        </p:txBody>
      </p:sp>
      <p:sp>
        <p:nvSpPr>
          <p:cNvPr id="7029" name="TextBox 5057"/>
          <p:cNvSpPr txBox="1"/>
          <p:nvPr/>
        </p:nvSpPr>
        <p:spPr>
          <a:xfrm>
            <a:off x="7863840" y="769924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산림재난방지법 시행령 · 표준매뉴얼</a:t>
            </a:r>
          </a:p>
        </p:txBody>
      </p:sp>
      <p:sp>
        <p:nvSpPr>
          <p:cNvPr id="7030" name="Chevron 5058"/>
          <p:cNvSpPr/>
          <p:nvPr/>
        </p:nvSpPr>
        <p:spPr>
          <a:xfrm>
            <a:off x="11347704" y="7443216"/>
            <a:ext cx="164592" cy="292608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1" name="Gap"/>
          <p:cNvSpPr/>
          <p:nvPr/>
        </p:nvSpPr>
        <p:spPr>
          <a:xfrm>
            <a:off x="11612880" y="6949440"/>
            <a:ext cx="5806440" cy="1280160"/>
          </a:xfrm>
          <a:prstGeom prst="roundRect">
            <a:avLst>
              <a:gd name="adj" fmla="val 11428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2" name="TextBox 5060"/>
          <p:cNvSpPr txBox="1"/>
          <p:nvPr/>
        </p:nvSpPr>
        <p:spPr>
          <a:xfrm>
            <a:off x="11905488" y="7187184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판단 항목별 대응안 + 근거</a:t>
            </a:r>
          </a:p>
        </p:txBody>
      </p:sp>
      <p:sp>
        <p:nvSpPr>
          <p:cNvPr id="7033" name="Rounded Rectangle 5061"/>
          <p:cNvSpPr/>
          <p:nvPr/>
        </p:nvSpPr>
        <p:spPr>
          <a:xfrm>
            <a:off x="15023592" y="7187184"/>
            <a:ext cx="2103120" cy="329184"/>
          </a:xfrm>
          <a:prstGeom prst="roundRect">
            <a:avLst>
              <a:gd name="adj" fmla="val 25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비어 있음 → 본 과제</a:t>
            </a:r>
          </a:p>
        </p:txBody>
      </p:sp>
      <p:sp>
        <p:nvSpPr>
          <p:cNvPr id="7034" name="TextBox 5062"/>
          <p:cNvSpPr txBox="1"/>
          <p:nvPr/>
        </p:nvSpPr>
        <p:spPr>
          <a:xfrm>
            <a:off x="11905488" y="7699248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「지금 무엇을 결정해야 하는가」를 근거와 함께 제시하는 단계</a:t>
            </a:r>
          </a:p>
        </p:txBody>
      </p:sp>
      <p:sp>
        <p:nvSpPr>
          <p:cNvPr id="7035" name="TextBox 5063"/>
          <p:cNvSpPr txBox="1"/>
          <p:nvPr/>
        </p:nvSpPr>
        <p:spPr>
          <a:xfrm>
            <a:off x="868680" y="8595360"/>
            <a:ext cx="165506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출처: 중앙재난안전대책본부 집계(경향신문 2025.3.29, 매일신문 2025.6.29) · 경상북도 등 지자체 집계(한국경제 2025.3.28)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 및 목표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차별점 — 기존 국가 시스템 · 범용 LLM과의 비교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7033" name="Differentiation"/>
          <p:cNvGraphicFramePr>
            <a:graphicFrameLocks noGrp="1"/>
          </p:cNvGraphicFramePr>
          <p:nvPr/>
        </p:nvGraphicFramePr>
        <p:xfrm>
          <a:off x="868680" y="2560320"/>
          <a:ext cx="16550640" cy="60693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차별점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기존 국가 시스템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범용 LLM 질의응답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본 과제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889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12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통합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시스템·기관별 분산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 (예측·시설·진화자원)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12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대응안 생성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회차별 발행 (수작업)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자동 · 근거 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자동 · 규칙 판정 + 근거 인용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812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추적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조항 표기 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불가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문서·쪽수·조항 + 요약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812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환각 방지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표기 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판정 값은 규칙 엔진이 산출 · 근거 없는 내용은 미출력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812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변화 반영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다음 회차 발행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대화 문맥 한정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20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갱신·상황 정정 시 새 버전 생성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3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3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3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36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37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 및 목표</a:t>
            </a:r>
          </a:p>
        </p:txBody>
      </p:sp>
      <p:sp>
        <p:nvSpPr>
          <p:cNvPr id="5038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목표 및 기대 효과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039" name="목표 ①"/>
          <p:cNvSpPr/>
          <p:nvPr/>
        </p:nvSpPr>
        <p:spPr>
          <a:xfrm>
            <a:off x="868680" y="2487168"/>
            <a:ext cx="5303520" cy="2240280"/>
          </a:xfrm>
          <a:prstGeom prst="roundRect">
            <a:avLst>
              <a:gd name="adj" fmla="val 897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0" name="Rounded Rectangle 5039"/>
          <p:cNvSpPr/>
          <p:nvPr/>
        </p:nvSpPr>
        <p:spPr>
          <a:xfrm>
            <a:off x="1216152" y="2807208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목표 ①</a:t>
            </a:r>
          </a:p>
        </p:txBody>
      </p:sp>
      <p:sp>
        <p:nvSpPr>
          <p:cNvPr id="5041" name="Rounded Rectangle 5040"/>
          <p:cNvSpPr/>
          <p:nvPr/>
        </p:nvSpPr>
        <p:spPr>
          <a:xfrm>
            <a:off x="4453128" y="2871216"/>
            <a:ext cx="13716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문제 ① 대응</a:t>
            </a:r>
          </a:p>
        </p:txBody>
      </p:sp>
      <p:sp>
        <p:nvSpPr>
          <p:cNvPr id="5042" name="TextBox 5041"/>
          <p:cNvSpPr txBox="1"/>
          <p:nvPr/>
        </p:nvSpPr>
        <p:spPr>
          <a:xfrm>
            <a:off x="1216152" y="3419856"/>
            <a:ext cx="460857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 상황 인식</a:t>
            </a:r>
          </a:p>
        </p:txBody>
      </p:sp>
      <p:sp>
        <p:nvSpPr>
          <p:cNvPr id="5043" name="TextBox 5042"/>
          <p:cNvSpPr txBox="1"/>
          <p:nvPr/>
        </p:nvSpPr>
        <p:spPr>
          <a:xfrm>
            <a:off x="1216152" y="3931920"/>
            <a:ext cx="460857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위치·확산 예측·주변 시설·기상·진화자원을 하나의 지도에서 확인</a:t>
            </a:r>
          </a:p>
        </p:txBody>
      </p:sp>
      <p:sp>
        <p:nvSpPr>
          <p:cNvPr id="5044" name="목표 ②"/>
          <p:cNvSpPr/>
          <p:nvPr/>
        </p:nvSpPr>
        <p:spPr>
          <a:xfrm>
            <a:off x="868680" y="4910328"/>
            <a:ext cx="5303520" cy="2240280"/>
          </a:xfrm>
          <a:prstGeom prst="roundRect">
            <a:avLst>
              <a:gd name="adj" fmla="val 897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5" name="Rounded Rectangle 5044"/>
          <p:cNvSpPr/>
          <p:nvPr/>
        </p:nvSpPr>
        <p:spPr>
          <a:xfrm>
            <a:off x="1216152" y="5230368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목표 ②</a:t>
            </a:r>
          </a:p>
        </p:txBody>
      </p:sp>
      <p:sp>
        <p:nvSpPr>
          <p:cNvPr id="5046" name="Rounded Rectangle 5045"/>
          <p:cNvSpPr/>
          <p:nvPr/>
        </p:nvSpPr>
        <p:spPr>
          <a:xfrm>
            <a:off x="4453128" y="5294376"/>
            <a:ext cx="13716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문제 ② 대응</a:t>
            </a:r>
          </a:p>
        </p:txBody>
      </p:sp>
      <p:sp>
        <p:nvSpPr>
          <p:cNvPr id="5047" name="TextBox 5046"/>
          <p:cNvSpPr txBox="1"/>
          <p:nvPr/>
        </p:nvSpPr>
        <p:spPr>
          <a:xfrm>
            <a:off x="1216152" y="5843016"/>
            <a:ext cx="460857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전문적 의사결정 지원</a:t>
            </a:r>
          </a:p>
        </p:txBody>
      </p:sp>
      <p:sp>
        <p:nvSpPr>
          <p:cNvPr id="5048" name="TextBox 5047"/>
          <p:cNvSpPr txBox="1"/>
          <p:nvPr/>
        </p:nvSpPr>
        <p:spPr>
          <a:xfrm>
            <a:off x="1216152" y="6355080"/>
            <a:ext cx="460857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예측과 현재 상황을 표준매뉴얼 판단 항목에 대입해 대응안을 근거와 함께 제안</a:t>
            </a:r>
          </a:p>
        </p:txBody>
      </p:sp>
      <p:sp>
        <p:nvSpPr>
          <p:cNvPr id="5049" name="Principle"/>
          <p:cNvSpPr/>
          <p:nvPr/>
        </p:nvSpPr>
        <p:spPr>
          <a:xfrm>
            <a:off x="868680" y="7333488"/>
            <a:ext cx="5303520" cy="1417320"/>
          </a:xfrm>
          <a:prstGeom prst="roundRect">
            <a:avLst>
              <a:gd name="adj" fmla="val 14193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0" name="TextBox 5049"/>
          <p:cNvSpPr txBox="1"/>
          <p:nvPr/>
        </p:nvSpPr>
        <p:spPr>
          <a:xfrm>
            <a:off x="1216152" y="7552944"/>
            <a:ext cx="4608576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운영 원칙</a:t>
            </a:r>
          </a:p>
        </p:txBody>
      </p:sp>
      <p:sp>
        <p:nvSpPr>
          <p:cNvPr id="5051" name="TextBox 5050"/>
          <p:cNvSpPr txBox="1"/>
          <p:nvPr/>
        </p:nvSpPr>
        <p:spPr>
          <a:xfrm>
            <a:off x="1216152" y="7882128"/>
            <a:ext cx="4608576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AI는 근거 있는 초안을 제시하고, 최종 결정은 통합지휘권자가 내립니다</a:t>
            </a:r>
          </a:p>
        </p:txBody>
      </p:sp>
      <p:graphicFrame>
        <p:nvGraphicFramePr>
          <p:cNvPr id="5052" name="AsIs ToBe"/>
          <p:cNvGraphicFramePr>
            <a:graphicFrameLocks noGrp="1"/>
          </p:cNvGraphicFramePr>
          <p:nvPr/>
        </p:nvGraphicFramePr>
        <p:xfrm>
          <a:off x="6446520" y="2487168"/>
          <a:ext cx="10972800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As-Is (현행)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To-Be (본 서비스)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889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파악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정보가 시스템·기관별로 분산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 한 지도에서 확인, 보고·재예측 때마다 갱신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 근거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100쪽 넘는 매뉴얼을 직접 찾아 확인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 항목 14개별 제안과 근거를 자동 제시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대응안 작성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회차별 수작업 발행, 조항 표기 없음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갱신·상황 정정마다 새 버전 자동 생성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활용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범용 LLM은 근거 없이 생성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조항을 인용해 답변, 판정 값은 규칙 엔진이 고정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보안·운용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상용 API는 자료 유출 우려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국내 공개 모델을 내부 서버에서 운용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53" name="TextBox 5052"/>
          <p:cNvSpPr txBox="1"/>
          <p:nvPr/>
        </p:nvSpPr>
        <p:spPr>
          <a:xfrm>
            <a:off x="6446520" y="6053328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주체별 기대 효과</a:t>
            </a:r>
          </a:p>
        </p:txBody>
      </p:sp>
      <p:sp>
        <p:nvSpPr>
          <p:cNvPr id="5054" name="TextBox 5053"/>
          <p:cNvSpPr txBox="1"/>
          <p:nvPr/>
        </p:nvSpPr>
        <p:spPr>
          <a:xfrm>
            <a:off x="10104120" y="6053328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측정한 수치가 아니라 시나리오 비교로 확인할 대상입니다</a:t>
            </a:r>
          </a:p>
        </p:txBody>
      </p:sp>
      <p:sp>
        <p:nvSpPr>
          <p:cNvPr id="5055" name="Effect 1"/>
          <p:cNvSpPr/>
          <p:nvPr/>
        </p:nvSpPr>
        <p:spPr>
          <a:xfrm>
            <a:off x="6446520" y="651967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6" name="TextBox 5055"/>
          <p:cNvSpPr txBox="1"/>
          <p:nvPr/>
        </p:nvSpPr>
        <p:spPr>
          <a:xfrm>
            <a:off x="6720840" y="67025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시장·군수·구청장</a:t>
            </a:r>
          </a:p>
        </p:txBody>
      </p:sp>
      <p:sp>
        <p:nvSpPr>
          <p:cNvPr id="5057" name="TextBox 5056"/>
          <p:cNvSpPr txBox="1"/>
          <p:nvPr/>
        </p:nvSpPr>
        <p:spPr>
          <a:xfrm>
            <a:off x="6720840" y="708660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근거와 함께 검토해 신속한 결정에 도움이 될 수 있음</a:t>
            </a:r>
          </a:p>
        </p:txBody>
      </p:sp>
      <p:sp>
        <p:nvSpPr>
          <p:cNvPr id="5058" name="Effect 2"/>
          <p:cNvSpPr/>
          <p:nvPr/>
        </p:nvSpPr>
        <p:spPr>
          <a:xfrm>
            <a:off x="12024360" y="651967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9" name="TextBox 5058"/>
          <p:cNvSpPr txBox="1"/>
          <p:nvPr/>
        </p:nvSpPr>
        <p:spPr>
          <a:xfrm>
            <a:off x="12298680" y="67025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지자체 실무자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상황 보고자·전산 관리자</a:t>
            </a:r>
          </a:p>
        </p:txBody>
      </p:sp>
      <p:sp>
        <p:nvSpPr>
          <p:cNvPr id="5060" name="TextBox 5059"/>
          <p:cNvSpPr txBox="1"/>
          <p:nvPr/>
        </p:nvSpPr>
        <p:spPr>
          <a:xfrm>
            <a:off x="12298680" y="708660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보고한 화선으로 재예측·제안이 이어져 보고 부담이 줄 수 있음</a:t>
            </a:r>
          </a:p>
        </p:txBody>
      </p:sp>
      <p:sp>
        <p:nvSpPr>
          <p:cNvPr id="5061" name="Effect 3"/>
          <p:cNvSpPr/>
          <p:nvPr/>
        </p:nvSpPr>
        <p:spPr>
          <a:xfrm>
            <a:off x="6446520" y="770839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2" name="TextBox 5061"/>
          <p:cNvSpPr txBox="1"/>
          <p:nvPr/>
        </p:nvSpPr>
        <p:spPr>
          <a:xfrm>
            <a:off x="6720840" y="789127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산림청·유관기관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소방·경찰·군 등</a:t>
            </a:r>
          </a:p>
        </p:txBody>
      </p:sp>
      <p:sp>
        <p:nvSpPr>
          <p:cNvPr id="5063" name="TextBox 5062"/>
          <p:cNvSpPr txBox="1"/>
          <p:nvPr/>
        </p:nvSpPr>
        <p:spPr>
          <a:xfrm>
            <a:off x="6720840" y="8275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같은 상황도를 보며 지원 여부를 판단할 수 있음</a:t>
            </a:r>
          </a:p>
        </p:txBody>
      </p:sp>
      <p:sp>
        <p:nvSpPr>
          <p:cNvPr id="5064" name="Effect 4"/>
          <p:cNvSpPr/>
          <p:nvPr/>
        </p:nvSpPr>
        <p:spPr>
          <a:xfrm>
            <a:off x="12024360" y="770839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5" name="TextBox 5064"/>
          <p:cNvSpPr txBox="1"/>
          <p:nvPr/>
        </p:nvSpPr>
        <p:spPr>
          <a:xfrm>
            <a:off x="12298680" y="789127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지역 주민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간접 효과</a:t>
            </a:r>
          </a:p>
        </p:txBody>
      </p:sp>
      <p:sp>
        <p:nvSpPr>
          <p:cNvPr id="5066" name="TextBox 5065"/>
          <p:cNvSpPr txBox="1"/>
          <p:nvPr/>
        </p:nvSpPr>
        <p:spPr>
          <a:xfrm>
            <a:off x="12298680" y="8275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대피 판단이 앞당겨지면 대피 지연 위험을 줄일 수 있음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 및 목표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업무 설명서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024" name="Rounded Rectangle 5023"/>
          <p:cNvSpPr/>
          <p:nvPr/>
        </p:nvSpPr>
        <p:spPr>
          <a:xfrm>
            <a:off x="822960" y="2487168"/>
            <a:ext cx="16642080" cy="6565392"/>
          </a:xfrm>
          <a:prstGeom prst="roundRect">
            <a:avLst>
              <a:gd name="adj" fmla="val 1671"/>
            </a:avLst>
          </a:prstGeom>
          <a:solidFill>
            <a:srgbClr val="FAFAFB"/>
          </a:solidFill>
          <a:ln w="12700">
            <a:solidFill>
              <a:srgbClr val="D5D8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5" name="TextBox 5024"/>
          <p:cNvSpPr txBox="1"/>
          <p:nvPr/>
        </p:nvSpPr>
        <p:spPr>
          <a:xfrm>
            <a:off x="1188720" y="2724912"/>
            <a:ext cx="15910560" cy="6217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 latinLnBrk="0">
              <a:lnSpc>
                <a:spcPct val="14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lang="ko-KR" altLang="en-US" sz="16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대응 AI 의사결정 지원 시스템</a:t>
            </a: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은 산불 발생 직후부터 진화·대피 판단이 이어지는 약 8시간의 대응 과정에서, 산불현장 </a:t>
            </a:r>
            <a:r>
              <a:rPr lang="ko-KR" altLang="en-US" sz="16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(시장·군수·구청장)에게 1시간 간격 확산 예측과 「산불 재난」 위기관리 표준매뉴얼 근거를 연결한 </a:t>
            </a:r>
            <a:r>
              <a:rPr lang="ko-KR" altLang="en-US" sz="16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진화·대피 대응 제안서</a:t>
            </a: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를 제공하는 웹 기반 의사결정 지원 시스템이다. 기존 국가 시스템은 확산 예측과 위험도를 보여 주는 데서 끝나, 그 결과를 어떤 대응 행동으로 옮길지는 담당자가 119쪽 분량의 매뉴얼을 찾아 가며 수작업으로 판단해 왔다.</a:t>
            </a:r>
            <a:endParaRPr lang="ko-KR" altLang="en-US" sz="1650"/>
          </a:p>
          <a:p>
            <a:pPr algn="just" latinLnBrk="0">
              <a:lnSpc>
                <a:spcPct val="14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사용자는 네 가지 권한으로 나뉜다. </a:t>
            </a:r>
            <a:r>
              <a:rPr lang="ko-KR" altLang="en-US" sz="16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상황 보고자</a:t>
            </a: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(보고)는 산불을 처음 보고하며 발화 위치·발생 일시·신고 내용·신고자 정보·기관별 접수 기록을 입력하고, 이후 1시간마다 지금 타고 있는 범위를 </a:t>
            </a:r>
            <a:r>
              <a:rPr lang="ko-KR" altLang="en-US" sz="16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실측 화선</a:t>
            </a: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 폴리곤으로 지도에 그려 보고한다. 처음 받은 보고가 화선 v1이 되고 새 보고는 v2, v3…으로 쌓이며, 잘못 보고한 화선은 정정해 이전 버전을 보존한다. </a:t>
            </a:r>
            <a:r>
              <a:rPr lang="ko-KR" altLang="en-US" sz="16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열람자</a:t>
            </a: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(열람)는 유관기관·상급 본부 담당자로 통합 상황도와 발생·접수 정보, 산불 위험도를 읽기 전용으로 본다. </a:t>
            </a:r>
            <a:r>
              <a:rPr lang="ko-KR" altLang="en-US" sz="16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전산 관리자</a:t>
            </a: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(관리)는 평시에 계정·권한과 진화자원 데이터를 관리한다.</a:t>
            </a:r>
            <a:endParaRPr lang="ko-KR" altLang="en-US" sz="1650"/>
          </a:p>
          <a:p>
            <a:pPr algn="just" latinLnBrk="0">
              <a:lnSpc>
                <a:spcPct val="14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lang="ko-KR" altLang="en-US" sz="16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(조작)는 통합 상황도에서 발화점·실측 화선·주변 마을과 시설·기상·진화자원을 확인하고 확산 예측을 실행한다. </a:t>
            </a:r>
            <a:r>
              <a:rPr lang="ko-KR" altLang="en-US" sz="16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확산예측 모듈</a:t>
            </a: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이 최신 실측 화선과 기상으로 1시간 간격 확산 범위(P1~P8)를 계산하면, 시스템은 5시간 범위(P5)를 기준으로 </a:t>
            </a:r>
            <a:r>
              <a:rPr lang="ko-KR" altLang="en-US" sz="16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위험도(1.00~5.00)</a:t>
            </a: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를 산출한다. 이어 규칙 엔진이 대응단계·위험구역·대피소 배정처럼 경계값이 있는 값을 판정하고, </a:t>
            </a:r>
            <a:r>
              <a:rPr lang="ko-KR" altLang="en-US" sz="16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AI 모델</a:t>
            </a: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이 그 판정 값과 검색한 매뉴얼 근거로 진화 7개·대피 7개 항목의 제안 문장을 근거 번호와 함께 작성한다. 근거가 없는 수량이나 문장은 넣지 않고 「근거가 부족하여 표시하지 않았습니다」로 알린다.</a:t>
            </a:r>
            <a:endParaRPr lang="ko-KR" altLang="en-US" sz="1650"/>
          </a:p>
          <a:p>
            <a:pPr algn="just" latinLnBrk="0">
              <a:lnSpc>
                <a:spcPct val="14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통합지휘권자는 제안마다 판정 이유·대상·근거를 펼쳐 보고, AI 어시스턴트에 제안 이유를 묻거나 대피 완료·자원 투입 같은 </a:t>
            </a:r>
            <a:r>
              <a:rPr lang="ko-KR" altLang="en-US" sz="16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상황 변화를 정정</a:t>
            </a: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한다. 정정은 확인 후 저장되어 제안서의 새 버전을 만들고, 바뀐 항목은 「변경」 태그와 버전 이력으로 비교한다. 진화가 끝나면 발화 종료 처리를 하며, 이후 보고·예측·정정은 막히고 제안서와 이력은 조회만 된다.</a:t>
            </a:r>
            <a:endParaRPr lang="ko-KR" altLang="en-US" sz="1650"/>
          </a:p>
          <a:p>
            <a:pPr algn="just" latinLnBrk="0">
              <a:lnSpc>
                <a:spcPct val="14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lang="ko-KR" altLang="en-US" sz="16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모든 로그인·입력·예측·제안·정정·종료·관리 이벤트는 추가 전용 이벤트 로그에 남는다. </a:t>
            </a:r>
            <a:r>
              <a:rPr lang="ko-KR" altLang="en-US" sz="16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시스템은 권고만 하며, 대응단계 발령과 대피명령 같은 최종 결정은 통합지휘권자가 내린다.</a:t>
            </a:r>
            <a:endParaRPr lang="ko-KR" altLang="en-US" sz="16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3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64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65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66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82" name="Title">
            <a:extLst>
              <a:ext uri="{FF2B5EF4-FFF2-40B4-BE49-F238E27FC236}">
                <a16:creationId xmlns:a16="http://schemas.microsoft.com/office/drawing/2014/main" id="{8F63756B-60A2-4ECD-994A-D91036BD570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 및 목표</a:t>
            </a:r>
          </a:p>
        </p:txBody>
      </p:sp>
      <p:sp>
        <p:nvSpPr>
          <p:cNvPr id="5083" name="Subtitle">
            <a:extLst>
              <a:ext uri="{FF2B5EF4-FFF2-40B4-BE49-F238E27FC236}">
                <a16:creationId xmlns:a16="http://schemas.microsoft.com/office/drawing/2014/main" id="{2EB428F3-54C5-4E65-8A81-A3BE531CFD57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업무 절차 흐름 (절차 기술)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9</a:t>
            </a:fld>
            <a:endParaRPr/>
          </a:p>
        </p:txBody>
      </p:sp>
      <p:sp>
        <p:nvSpPr>
          <p:cNvPr id="5084" name="Rectangle 5083">
            <a:extLst>
              <a:ext uri="{FF2B5EF4-FFF2-40B4-BE49-F238E27FC236}">
                <a16:creationId xmlns:a16="http://schemas.microsoft.com/office/drawing/2014/main" id="{F51F9E07-BFEB-4E10-9F93-44F08461CDF4}"/>
              </a:ext>
            </a:extLst>
          </p:cNvPr>
          <p:cNvSpPr>
            <a:spLocks noGrp="1"/>
          </p:cNvSpPr>
          <p:nvPr/>
        </p:nvSpPr>
        <p:spPr>
          <a:xfrm>
            <a:off x="822960" y="2446020"/>
            <a:ext cx="16459200" cy="2031796"/>
          </a:xfrm>
          <a:prstGeom prst="rect">
            <a:avLst/>
          </a:prstGeom>
          <a:solidFill>
            <a:srgbClr val="FFF8F2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85" name="Rectangle 5084">
            <a:extLst>
              <a:ext uri="{FF2B5EF4-FFF2-40B4-BE49-F238E27FC236}">
                <a16:creationId xmlns:a16="http://schemas.microsoft.com/office/drawing/2014/main" id="{E8047996-2E3A-40BC-8776-8956BA0A1631}"/>
              </a:ext>
            </a:extLst>
          </p:cNvPr>
          <p:cNvSpPr>
            <a:spLocks noGrp="1"/>
          </p:cNvSpPr>
          <p:nvPr/>
        </p:nvSpPr>
        <p:spPr>
          <a:xfrm>
            <a:off x="822960" y="2446020"/>
            <a:ext cx="1257300" cy="2031796"/>
          </a:xfrm>
          <a:prstGeom prst="rect">
            <a:avLst/>
          </a:prstGeom>
          <a:solidFill>
            <a:srgbClr val="FDEBD9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사용자</a:t>
            </a:r>
          </a:p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(권한별)</a:t>
            </a:r>
          </a:p>
        </p:txBody>
      </p:sp>
      <p:sp>
        <p:nvSpPr>
          <p:cNvPr id="5086" name="Rectangle 5085">
            <a:extLst>
              <a:ext uri="{FF2B5EF4-FFF2-40B4-BE49-F238E27FC236}">
                <a16:creationId xmlns:a16="http://schemas.microsoft.com/office/drawing/2014/main" id="{7DAB4E53-3F86-4F7F-8E6A-6271310CBBE3}"/>
              </a:ext>
            </a:extLst>
          </p:cNvPr>
          <p:cNvSpPr>
            <a:spLocks noGrp="1"/>
          </p:cNvSpPr>
          <p:nvPr/>
        </p:nvSpPr>
        <p:spPr>
          <a:xfrm>
            <a:off x="822960" y="4477816"/>
            <a:ext cx="16459200" cy="2031796"/>
          </a:xfrm>
          <a:prstGeom prst="rect">
            <a:avLst/>
          </a:prstGeom>
          <a:solidFill>
            <a:srgbClr val="F6F7FA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87" name="Rectangle 5086">
            <a:extLst>
              <a:ext uri="{FF2B5EF4-FFF2-40B4-BE49-F238E27FC236}">
                <a16:creationId xmlns:a16="http://schemas.microsoft.com/office/drawing/2014/main" id="{BC0DF840-4A43-4319-AB98-489DF71798C4}"/>
              </a:ext>
            </a:extLst>
          </p:cNvPr>
          <p:cNvSpPr>
            <a:spLocks noGrp="1"/>
          </p:cNvSpPr>
          <p:nvPr/>
        </p:nvSpPr>
        <p:spPr>
          <a:xfrm>
            <a:off x="822960" y="4477816"/>
            <a:ext cx="1257300" cy="2031796"/>
          </a:xfrm>
          <a:prstGeom prst="rect">
            <a:avLst/>
          </a:prstGeom>
          <a:solidFill>
            <a:srgbClr val="FDEBD9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</a:t>
            </a:r>
          </a:p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(웹 · API 서버)</a:t>
            </a:r>
          </a:p>
        </p:txBody>
      </p:sp>
      <p:sp>
        <p:nvSpPr>
          <p:cNvPr id="5088" name="Rectangle 5087">
            <a:extLst>
              <a:ext uri="{FF2B5EF4-FFF2-40B4-BE49-F238E27FC236}">
                <a16:creationId xmlns:a16="http://schemas.microsoft.com/office/drawing/2014/main" id="{9B0B8B72-3514-47C9-AC35-87F5171F7707}"/>
              </a:ext>
            </a:extLst>
          </p:cNvPr>
          <p:cNvSpPr>
            <a:spLocks noGrp="1"/>
          </p:cNvSpPr>
          <p:nvPr/>
        </p:nvSpPr>
        <p:spPr>
          <a:xfrm>
            <a:off x="822960" y="6509613"/>
            <a:ext cx="16459200" cy="2031796"/>
          </a:xfrm>
          <a:prstGeom prst="rect">
            <a:avLst/>
          </a:prstGeom>
          <a:solidFill>
            <a:srgbClr val="EEF1F7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89" name="Rectangle 5088">
            <a:extLst>
              <a:ext uri="{FF2B5EF4-FFF2-40B4-BE49-F238E27FC236}">
                <a16:creationId xmlns:a16="http://schemas.microsoft.com/office/drawing/2014/main" id="{920A4647-ECD5-4310-AC49-5D5E8B7AE256}"/>
              </a:ext>
            </a:extLst>
          </p:cNvPr>
          <p:cNvSpPr>
            <a:spLocks noGrp="1"/>
          </p:cNvSpPr>
          <p:nvPr/>
        </p:nvSpPr>
        <p:spPr>
          <a:xfrm>
            <a:off x="822960" y="6509613"/>
            <a:ext cx="1257300" cy="2031796"/>
          </a:xfrm>
          <a:prstGeom prst="rect">
            <a:avLst/>
          </a:prstGeom>
          <a:solidFill>
            <a:srgbClr val="FDEBD9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외부 · AI 모듈</a:t>
            </a:r>
          </a:p>
        </p:txBody>
      </p:sp>
      <p:sp>
        <p:nvSpPr>
          <p:cNvPr id="5090" name="Rounded Rectangle 5089">
            <a:extLst>
              <a:ext uri="{FF2B5EF4-FFF2-40B4-BE49-F238E27FC236}">
                <a16:creationId xmlns:a16="http://schemas.microsoft.com/office/drawing/2014/main" id="{748E786E-A1BB-4201-9B2A-18E955EA00BE}"/>
              </a:ext>
            </a:extLst>
          </p:cNvPr>
          <p:cNvSpPr>
            <a:spLocks noGrp="1"/>
          </p:cNvSpPr>
          <p:nvPr/>
        </p:nvSpPr>
        <p:spPr>
          <a:xfrm>
            <a:off x="2217420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1" name="TextBox 5090">
            <a:extLst>
              <a:ext uri="{FF2B5EF4-FFF2-40B4-BE49-F238E27FC236}">
                <a16:creationId xmlns:a16="http://schemas.microsoft.com/office/drawing/2014/main" id="{8BF51D12-3694-49E0-BFDA-6E1ED8296DBE}"/>
              </a:ext>
            </a:extLst>
          </p:cNvPr>
          <p:cNvSpPr>
            <a:spLocks noGrp="1"/>
          </p:cNvSpPr>
          <p:nvPr/>
        </p:nvSpPr>
        <p:spPr>
          <a:xfrm>
            <a:off x="2274570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로그인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5회 실패 시 잠금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관리자 잠금 해제</a:t>
            </a:r>
          </a:p>
        </p:txBody>
      </p:sp>
      <p:sp>
        <p:nvSpPr>
          <p:cNvPr id="5092" name="Oval 5091">
            <a:extLst>
              <a:ext uri="{FF2B5EF4-FFF2-40B4-BE49-F238E27FC236}">
                <a16:creationId xmlns:a16="http://schemas.microsoft.com/office/drawing/2014/main" id="{0CC34AFF-8327-40CA-AE8B-B0B9D6F8D51E}"/>
              </a:ext>
            </a:extLst>
          </p:cNvPr>
          <p:cNvSpPr>
            <a:spLocks noGrp="1"/>
          </p:cNvSpPr>
          <p:nvPr/>
        </p:nvSpPr>
        <p:spPr>
          <a:xfrm>
            <a:off x="2089404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093" name="Rounded Rectangle 5092">
            <a:extLst>
              <a:ext uri="{FF2B5EF4-FFF2-40B4-BE49-F238E27FC236}">
                <a16:creationId xmlns:a16="http://schemas.microsoft.com/office/drawing/2014/main" id="{1AC10288-D8E4-4B5A-9A98-CABE27411F69}"/>
              </a:ext>
            </a:extLst>
          </p:cNvPr>
          <p:cNvSpPr>
            <a:spLocks noGrp="1"/>
          </p:cNvSpPr>
          <p:nvPr/>
        </p:nvSpPr>
        <p:spPr>
          <a:xfrm>
            <a:off x="221742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4" name="TextBox 5093">
            <a:extLst>
              <a:ext uri="{FF2B5EF4-FFF2-40B4-BE49-F238E27FC236}">
                <a16:creationId xmlns:a16="http://schemas.microsoft.com/office/drawing/2014/main" id="{9F2E5775-9C08-4C2C-8398-136E965AC6A7}"/>
              </a:ext>
            </a:extLst>
          </p:cNvPr>
          <p:cNvSpPr>
            <a:spLocks noGrp="1"/>
          </p:cNvSpPr>
          <p:nvPr/>
        </p:nvSpPr>
        <p:spPr>
          <a:xfrm>
            <a:off x="2274570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잠금 여부 확인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JWT · 권한 적용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실패 횟수 관리</a:t>
            </a:r>
          </a:p>
        </p:txBody>
      </p:sp>
      <p:sp>
        <p:nvSpPr>
          <p:cNvPr id="5095" name="Rounded Rectangle 5094">
            <a:extLst>
              <a:ext uri="{FF2B5EF4-FFF2-40B4-BE49-F238E27FC236}">
                <a16:creationId xmlns:a16="http://schemas.microsoft.com/office/drawing/2014/main" id="{8A2C5D3D-4991-46F5-A4D7-BC649C841535}"/>
              </a:ext>
            </a:extLst>
          </p:cNvPr>
          <p:cNvSpPr>
            <a:spLocks noGrp="1"/>
          </p:cNvSpPr>
          <p:nvPr/>
        </p:nvSpPr>
        <p:spPr>
          <a:xfrm>
            <a:off x="4097655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6" name="TextBox 5095">
            <a:extLst>
              <a:ext uri="{FF2B5EF4-FFF2-40B4-BE49-F238E27FC236}">
                <a16:creationId xmlns:a16="http://schemas.microsoft.com/office/drawing/2014/main" id="{C548DDEE-8507-4864-B076-F77CD38A231D}"/>
              </a:ext>
            </a:extLst>
          </p:cNvPr>
          <p:cNvSpPr>
            <a:spLocks noGrp="1"/>
          </p:cNvSpPr>
          <p:nvPr/>
        </p:nvSpPr>
        <p:spPr>
          <a:xfrm>
            <a:off x="4154805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정보 입력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상황 보고자발화점·일시·실측 화선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endParaRPr sz="1050" b="0">
              <a:solidFill>
                <a:srgbClr val="6B7080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5097" name="Oval 5096">
            <a:extLst>
              <a:ext uri="{FF2B5EF4-FFF2-40B4-BE49-F238E27FC236}">
                <a16:creationId xmlns:a16="http://schemas.microsoft.com/office/drawing/2014/main" id="{752BD9BA-8124-4FF0-BD9B-E07F9B117F1C}"/>
              </a:ext>
            </a:extLst>
          </p:cNvPr>
          <p:cNvSpPr>
            <a:spLocks noGrp="1"/>
          </p:cNvSpPr>
          <p:nvPr/>
        </p:nvSpPr>
        <p:spPr>
          <a:xfrm>
            <a:off x="3969639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</a:p>
        </p:txBody>
      </p:sp>
      <p:sp>
        <p:nvSpPr>
          <p:cNvPr id="5098" name="Rounded Rectangle 5097">
            <a:extLst>
              <a:ext uri="{FF2B5EF4-FFF2-40B4-BE49-F238E27FC236}">
                <a16:creationId xmlns:a16="http://schemas.microsoft.com/office/drawing/2014/main" id="{5B3D8B38-A29E-4970-9111-E40167CA7275}"/>
              </a:ext>
            </a:extLst>
          </p:cNvPr>
          <p:cNvSpPr>
            <a:spLocks noGrp="1"/>
          </p:cNvSpPr>
          <p:nvPr/>
        </p:nvSpPr>
        <p:spPr>
          <a:xfrm>
            <a:off x="4097655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9" name="TextBox 5098">
            <a:extLst>
              <a:ext uri="{FF2B5EF4-FFF2-40B4-BE49-F238E27FC236}">
                <a16:creationId xmlns:a16="http://schemas.microsoft.com/office/drawing/2014/main" id="{BFAD2DB0-BA9C-41E5-BC87-03B678B71A5B}"/>
              </a:ext>
            </a:extLst>
          </p:cNvPr>
          <p:cNvSpPr>
            <a:spLocks noGrp="1"/>
          </p:cNvSpPr>
          <p:nvPr/>
        </p:nvSpPr>
        <p:spPr>
          <a:xfrm>
            <a:off x="4154805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여부 · 입력 검증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사건 수정 차단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 · 로그 기록</a:t>
            </a:r>
          </a:p>
        </p:txBody>
      </p:sp>
      <p:sp>
        <p:nvSpPr>
          <p:cNvPr id="5100" name="Rounded Rectangle 5099">
            <a:extLst>
              <a:ext uri="{FF2B5EF4-FFF2-40B4-BE49-F238E27FC236}">
                <a16:creationId xmlns:a16="http://schemas.microsoft.com/office/drawing/2014/main" id="{87991827-7ACD-4255-90A0-026EEB7EAA5A}"/>
              </a:ext>
            </a:extLst>
          </p:cNvPr>
          <p:cNvSpPr>
            <a:spLocks noGrp="1"/>
          </p:cNvSpPr>
          <p:nvPr/>
        </p:nvSpPr>
        <p:spPr>
          <a:xfrm>
            <a:off x="5977890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1" name="TextBox 5100">
            <a:extLst>
              <a:ext uri="{FF2B5EF4-FFF2-40B4-BE49-F238E27FC236}">
                <a16:creationId xmlns:a16="http://schemas.microsoft.com/office/drawing/2014/main" id="{95FC87AB-5B94-4304-9AFC-30EDFEDC123A}"/>
              </a:ext>
            </a:extLst>
          </p:cNvPr>
          <p:cNvSpPr>
            <a:spLocks noGrp="1"/>
          </p:cNvSpPr>
          <p:nvPr/>
        </p:nvSpPr>
        <p:spPr>
          <a:xfrm>
            <a:off x="6035040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확인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 상황도 · 접수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자원 · 위험도</a:t>
            </a:r>
          </a:p>
        </p:txBody>
      </p:sp>
      <p:sp>
        <p:nvSpPr>
          <p:cNvPr id="5102" name="Oval 5101">
            <a:extLst>
              <a:ext uri="{FF2B5EF4-FFF2-40B4-BE49-F238E27FC236}">
                <a16:creationId xmlns:a16="http://schemas.microsoft.com/office/drawing/2014/main" id="{478B2D84-274F-48E8-8360-CB1DE28F9E9C}"/>
              </a:ext>
            </a:extLst>
          </p:cNvPr>
          <p:cNvSpPr>
            <a:spLocks noGrp="1"/>
          </p:cNvSpPr>
          <p:nvPr/>
        </p:nvSpPr>
        <p:spPr>
          <a:xfrm>
            <a:off x="5849874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</a:p>
        </p:txBody>
      </p:sp>
      <p:sp>
        <p:nvSpPr>
          <p:cNvPr id="5103" name="Rounded Rectangle 5102">
            <a:extLst>
              <a:ext uri="{FF2B5EF4-FFF2-40B4-BE49-F238E27FC236}">
                <a16:creationId xmlns:a16="http://schemas.microsoft.com/office/drawing/2014/main" id="{293BE0A2-4395-4C3A-8AF5-9FB727EE767E}"/>
              </a:ext>
            </a:extLst>
          </p:cNvPr>
          <p:cNvSpPr>
            <a:spLocks noGrp="1"/>
          </p:cNvSpPr>
          <p:nvPr/>
        </p:nvSpPr>
        <p:spPr>
          <a:xfrm>
            <a:off x="597789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4" name="TextBox 5103">
            <a:extLst>
              <a:ext uri="{FF2B5EF4-FFF2-40B4-BE49-F238E27FC236}">
                <a16:creationId xmlns:a16="http://schemas.microsoft.com/office/drawing/2014/main" id="{B4C39432-011F-43E0-96A5-F12359D593CF}"/>
              </a:ext>
            </a:extLst>
          </p:cNvPr>
          <p:cNvSpPr>
            <a:spLocks noGrp="1"/>
          </p:cNvSpPr>
          <p:nvPr/>
        </p:nvSpPr>
        <p:spPr>
          <a:xfrm>
            <a:off x="6035040" y="5158349"/>
            <a:ext cx="1600200" cy="7109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지도</a:t>
            </a:r>
            <a:r>
              <a:rPr sz="1250" b="1" dirty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· </a:t>
            </a: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</a:t>
            </a:r>
            <a:r>
              <a:rPr sz="1250" b="1" dirty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조회</a:t>
            </a:r>
            <a:endParaRPr sz="1250" b="1" dirty="0">
              <a:solidFill>
                <a:srgbClr val="2E3142"/>
              </a:solidFill>
              <a:latin typeface="210 OmniGothic 040"/>
              <a:ea typeface="210 OmniGothic 040"/>
              <a:cs typeface="210 OmniGothic 040"/>
            </a:endParaRPr>
          </a:p>
          <a:p>
            <a:pPr algn="ctr">
              <a:lnSpc>
                <a:spcPct val="105000"/>
              </a:lnSpc>
              <a:buNone/>
            </a:pP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시설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위치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·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자원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합계P5 </a:t>
            </a:r>
            <a:br>
              <a:rPr lang="en-US"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위험도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(1.00~5.00)</a:t>
            </a:r>
            <a:b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endParaRPr sz="1050" b="0" dirty="0">
              <a:solidFill>
                <a:srgbClr val="6B7080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5105" name="Rounded Rectangle 5104">
            <a:extLst>
              <a:ext uri="{FF2B5EF4-FFF2-40B4-BE49-F238E27FC236}">
                <a16:creationId xmlns:a16="http://schemas.microsoft.com/office/drawing/2014/main" id="{E7C61568-321E-4C0E-98AB-CA4A58ED0433}"/>
              </a:ext>
            </a:extLst>
          </p:cNvPr>
          <p:cNvSpPr>
            <a:spLocks noGrp="1"/>
          </p:cNvSpPr>
          <p:nvPr/>
        </p:nvSpPr>
        <p:spPr>
          <a:xfrm>
            <a:off x="5977890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6" name="TextBox 5105">
            <a:extLst>
              <a:ext uri="{FF2B5EF4-FFF2-40B4-BE49-F238E27FC236}">
                <a16:creationId xmlns:a16="http://schemas.microsoft.com/office/drawing/2014/main" id="{13C03EED-751D-4A31-90AB-3A8F7DF730CE}"/>
              </a:ext>
            </a:extLst>
          </p:cNvPr>
          <p:cNvSpPr>
            <a:spLocks noGrp="1"/>
          </p:cNvSpPr>
          <p:nvPr/>
        </p:nvSpPr>
        <p:spPr>
          <a:xfrm>
            <a:off x="6035040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지도 타일 · 기상청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위성영상 · 공공데이터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단기예보</a:t>
            </a:r>
          </a:p>
        </p:txBody>
      </p:sp>
      <p:sp>
        <p:nvSpPr>
          <p:cNvPr id="5107" name="Rounded Rectangle 5106">
            <a:extLst>
              <a:ext uri="{FF2B5EF4-FFF2-40B4-BE49-F238E27FC236}">
                <a16:creationId xmlns:a16="http://schemas.microsoft.com/office/drawing/2014/main" id="{065CC321-340F-45D3-B615-C36C6B023D35}"/>
              </a:ext>
            </a:extLst>
          </p:cNvPr>
          <p:cNvSpPr>
            <a:spLocks noGrp="1"/>
          </p:cNvSpPr>
          <p:nvPr/>
        </p:nvSpPr>
        <p:spPr>
          <a:xfrm>
            <a:off x="7858125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8" name="TextBox 5107">
            <a:extLst>
              <a:ext uri="{FF2B5EF4-FFF2-40B4-BE49-F238E27FC236}">
                <a16:creationId xmlns:a16="http://schemas.microsoft.com/office/drawing/2014/main" id="{EBAE2E83-81D0-49D5-8433-6915ABDF24C0}"/>
              </a:ext>
            </a:extLst>
          </p:cNvPr>
          <p:cNvSpPr>
            <a:spLocks noGrp="1"/>
          </p:cNvSpPr>
          <p:nvPr/>
        </p:nvSpPr>
        <p:spPr>
          <a:xfrm>
            <a:off x="7915275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 실행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5109" name="Oval 5108">
            <a:extLst>
              <a:ext uri="{FF2B5EF4-FFF2-40B4-BE49-F238E27FC236}">
                <a16:creationId xmlns:a16="http://schemas.microsoft.com/office/drawing/2014/main" id="{41109E80-BAE6-48B7-9E10-EA59D308C7B1}"/>
              </a:ext>
            </a:extLst>
          </p:cNvPr>
          <p:cNvSpPr>
            <a:spLocks noGrp="1"/>
          </p:cNvSpPr>
          <p:nvPr/>
        </p:nvSpPr>
        <p:spPr>
          <a:xfrm>
            <a:off x="7730109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</a:p>
        </p:txBody>
      </p:sp>
      <p:sp>
        <p:nvSpPr>
          <p:cNvPr id="5110" name="Rounded Rectangle 5109">
            <a:extLst>
              <a:ext uri="{FF2B5EF4-FFF2-40B4-BE49-F238E27FC236}">
                <a16:creationId xmlns:a16="http://schemas.microsoft.com/office/drawing/2014/main" id="{DFF4A30B-836E-4E15-88DD-497504673B2B}"/>
              </a:ext>
            </a:extLst>
          </p:cNvPr>
          <p:cNvSpPr>
            <a:spLocks noGrp="1"/>
          </p:cNvSpPr>
          <p:nvPr/>
        </p:nvSpPr>
        <p:spPr>
          <a:xfrm>
            <a:off x="7858125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1" name="TextBox 5110">
            <a:extLst>
              <a:ext uri="{FF2B5EF4-FFF2-40B4-BE49-F238E27FC236}">
                <a16:creationId xmlns:a16="http://schemas.microsoft.com/office/drawing/2014/main" id="{EAAD32BB-92B3-480E-B506-AB03D5110FB2}"/>
              </a:ext>
            </a:extLst>
          </p:cNvPr>
          <p:cNvSpPr>
            <a:spLocks noGrp="1"/>
          </p:cNvSpPr>
          <p:nvPr/>
        </p:nvSpPr>
        <p:spPr>
          <a:xfrm>
            <a:off x="7915275" y="5243180"/>
            <a:ext cx="1600200" cy="541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</a:t>
            </a:r>
            <a:r>
              <a:rPr sz="1250" b="1" dirty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</a:t>
            </a:r>
            <a:endParaRPr sz="1250" b="1" dirty="0">
              <a:solidFill>
                <a:srgbClr val="2E3142"/>
              </a:solidFill>
              <a:latin typeface="210 OmniGothic 040"/>
              <a:ea typeface="210 OmniGothic 040"/>
              <a:cs typeface="210 OmniGothic 040"/>
            </a:endParaRPr>
          </a:p>
          <a:p>
            <a:pPr algn="ctr">
              <a:lnSpc>
                <a:spcPct val="105000"/>
              </a:lnSpc>
              <a:buNone/>
            </a:pP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P1~P8 ·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누적성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검증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· </a:t>
            </a:r>
            <a:br>
              <a:rPr lang="en-US"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P5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위험도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계산</a:t>
            </a:r>
            <a:endParaRPr sz="1050" b="0" dirty="0">
              <a:solidFill>
                <a:srgbClr val="6B7080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5112" name="Rounded Rectangle 5111">
            <a:extLst>
              <a:ext uri="{FF2B5EF4-FFF2-40B4-BE49-F238E27FC236}">
                <a16:creationId xmlns:a16="http://schemas.microsoft.com/office/drawing/2014/main" id="{1329F2AB-506B-4725-BD3F-236E22B37958}"/>
              </a:ext>
            </a:extLst>
          </p:cNvPr>
          <p:cNvSpPr>
            <a:spLocks noGrp="1"/>
          </p:cNvSpPr>
          <p:nvPr/>
        </p:nvSpPr>
        <p:spPr>
          <a:xfrm>
            <a:off x="7858125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363A52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3" name="TextBox 5112">
            <a:extLst>
              <a:ext uri="{FF2B5EF4-FFF2-40B4-BE49-F238E27FC236}">
                <a16:creationId xmlns:a16="http://schemas.microsoft.com/office/drawing/2014/main" id="{E6DC5BE2-06FB-4A8B-B375-11AD89B8F4CD}"/>
              </a:ext>
            </a:extLst>
          </p:cNvPr>
          <p:cNvSpPr>
            <a:spLocks noGrp="1"/>
          </p:cNvSpPr>
          <p:nvPr/>
        </p:nvSpPr>
        <p:spPr>
          <a:xfrm>
            <a:off x="7915275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ELMFIRE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D8D8D8"/>
                </a:solidFill>
                <a:latin typeface="210 OmniGothic 040"/>
                <a:ea typeface="210 OmniGothic 040"/>
                <a:cs typeface="210 OmniGothic 040"/>
              </a:rPr>
              <a:t>실측 화선 → P1~P8</a:t>
            </a:r>
          </a:p>
        </p:txBody>
      </p:sp>
      <p:sp>
        <p:nvSpPr>
          <p:cNvPr id="5114" name="Rounded Rectangle 5113">
            <a:extLst>
              <a:ext uri="{FF2B5EF4-FFF2-40B4-BE49-F238E27FC236}">
                <a16:creationId xmlns:a16="http://schemas.microsoft.com/office/drawing/2014/main" id="{280CA83C-3A6A-437E-9C01-7F9DD4178C5B}"/>
              </a:ext>
            </a:extLst>
          </p:cNvPr>
          <p:cNvSpPr>
            <a:spLocks noGrp="1"/>
          </p:cNvSpPr>
          <p:nvPr/>
        </p:nvSpPr>
        <p:spPr>
          <a:xfrm>
            <a:off x="973836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5" name="TextBox 5114">
            <a:extLst>
              <a:ext uri="{FF2B5EF4-FFF2-40B4-BE49-F238E27FC236}">
                <a16:creationId xmlns:a16="http://schemas.microsoft.com/office/drawing/2014/main" id="{81B1A0A1-3B43-4202-991C-640C1AB3DD0E}"/>
              </a:ext>
            </a:extLst>
          </p:cNvPr>
          <p:cNvSpPr>
            <a:spLocks noGrp="1"/>
          </p:cNvSpPr>
          <p:nvPr/>
        </p:nvSpPr>
        <p:spPr>
          <a:xfrm>
            <a:off x="9795510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규칙 판정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진화 7 · 대피 7 발동</a:t>
            </a:r>
          </a:p>
        </p:txBody>
      </p:sp>
      <p:sp>
        <p:nvSpPr>
          <p:cNvPr id="5116" name="Oval 5115">
            <a:extLst>
              <a:ext uri="{FF2B5EF4-FFF2-40B4-BE49-F238E27FC236}">
                <a16:creationId xmlns:a16="http://schemas.microsoft.com/office/drawing/2014/main" id="{7234A965-DFDA-4319-B1C3-8174F506AF9D}"/>
              </a:ext>
            </a:extLst>
          </p:cNvPr>
          <p:cNvSpPr>
            <a:spLocks noGrp="1"/>
          </p:cNvSpPr>
          <p:nvPr/>
        </p:nvSpPr>
        <p:spPr>
          <a:xfrm>
            <a:off x="9610344" y="4709160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</a:p>
        </p:txBody>
      </p:sp>
      <p:sp>
        <p:nvSpPr>
          <p:cNvPr id="5117" name="Rounded Rectangle 5116">
            <a:extLst>
              <a:ext uri="{FF2B5EF4-FFF2-40B4-BE49-F238E27FC236}">
                <a16:creationId xmlns:a16="http://schemas.microsoft.com/office/drawing/2014/main" id="{36BA8F14-5D74-404E-973C-CA526C0477CF}"/>
              </a:ext>
            </a:extLst>
          </p:cNvPr>
          <p:cNvSpPr>
            <a:spLocks noGrp="1"/>
          </p:cNvSpPr>
          <p:nvPr/>
        </p:nvSpPr>
        <p:spPr>
          <a:xfrm>
            <a:off x="9738360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363A52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8" name="TextBox 5117">
            <a:extLst>
              <a:ext uri="{FF2B5EF4-FFF2-40B4-BE49-F238E27FC236}">
                <a16:creationId xmlns:a16="http://schemas.microsoft.com/office/drawing/2014/main" id="{EDEB9238-27EA-408E-85CD-6A5FC4AF0157}"/>
              </a:ext>
            </a:extLst>
          </p:cNvPr>
          <p:cNvSpPr>
            <a:spLocks noGrp="1"/>
          </p:cNvSpPr>
          <p:nvPr/>
        </p:nvSpPr>
        <p:spPr>
          <a:xfrm>
            <a:off x="9795510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근거 검색 + EXAONE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D8D8D8"/>
                </a:solidFill>
                <a:latin typeface="210 OmniGothic 040"/>
                <a:ea typeface="210 OmniGothic 040"/>
                <a:cs typeface="210 OmniGothic 040"/>
              </a:rPr>
              <a:t>근거 인용 제안 문장</a:t>
            </a:r>
          </a:p>
        </p:txBody>
      </p:sp>
      <p:sp>
        <p:nvSpPr>
          <p:cNvPr id="5119" name="Rounded Rectangle 5118">
            <a:extLst>
              <a:ext uri="{FF2B5EF4-FFF2-40B4-BE49-F238E27FC236}">
                <a16:creationId xmlns:a16="http://schemas.microsoft.com/office/drawing/2014/main" id="{8AC45B09-EB00-4D29-A9FD-1B0BFD30C099}"/>
              </a:ext>
            </a:extLst>
          </p:cNvPr>
          <p:cNvSpPr>
            <a:spLocks noGrp="1"/>
          </p:cNvSpPr>
          <p:nvPr/>
        </p:nvSpPr>
        <p:spPr>
          <a:xfrm>
            <a:off x="11618594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0" name="TextBox 5119">
            <a:extLst>
              <a:ext uri="{FF2B5EF4-FFF2-40B4-BE49-F238E27FC236}">
                <a16:creationId xmlns:a16="http://schemas.microsoft.com/office/drawing/2014/main" id="{E394BE2A-61A9-442A-8DBF-50A86616F1FD}"/>
              </a:ext>
            </a:extLst>
          </p:cNvPr>
          <p:cNvSpPr>
            <a:spLocks noGrp="1"/>
          </p:cNvSpPr>
          <p:nvPr/>
        </p:nvSpPr>
        <p:spPr>
          <a:xfrm>
            <a:off x="11675744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새 버전 저장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변경 항목 · 이력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이벤트 로그</a:t>
            </a:r>
          </a:p>
        </p:txBody>
      </p:sp>
      <p:sp>
        <p:nvSpPr>
          <p:cNvPr id="5121" name="Rounded Rectangle 5120">
            <a:extLst>
              <a:ext uri="{FF2B5EF4-FFF2-40B4-BE49-F238E27FC236}">
                <a16:creationId xmlns:a16="http://schemas.microsoft.com/office/drawing/2014/main" id="{1F719A12-A6F5-4106-965A-9619264F5CBA}"/>
              </a:ext>
            </a:extLst>
          </p:cNvPr>
          <p:cNvSpPr>
            <a:spLocks noGrp="1"/>
          </p:cNvSpPr>
          <p:nvPr/>
        </p:nvSpPr>
        <p:spPr>
          <a:xfrm>
            <a:off x="11618594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2" name="TextBox 5121">
            <a:extLst>
              <a:ext uri="{FF2B5EF4-FFF2-40B4-BE49-F238E27FC236}">
                <a16:creationId xmlns:a16="http://schemas.microsoft.com/office/drawing/2014/main" id="{8AF262E3-1914-4774-B4F8-3B51CA063D55}"/>
              </a:ext>
            </a:extLst>
          </p:cNvPr>
          <p:cNvSpPr>
            <a:spLocks noGrp="1"/>
          </p:cNvSpPr>
          <p:nvPr/>
        </p:nvSpPr>
        <p:spPr>
          <a:xfrm>
            <a:off x="11675744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검토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진화 · 대피 열람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근거 · 이력·변경</a:t>
            </a:r>
          </a:p>
        </p:txBody>
      </p:sp>
      <p:sp>
        <p:nvSpPr>
          <p:cNvPr id="5123" name="Oval 5122">
            <a:extLst>
              <a:ext uri="{FF2B5EF4-FFF2-40B4-BE49-F238E27FC236}">
                <a16:creationId xmlns:a16="http://schemas.microsoft.com/office/drawing/2014/main" id="{EF43A692-B5EF-410E-BA9D-9A2104D9180D}"/>
              </a:ext>
            </a:extLst>
          </p:cNvPr>
          <p:cNvSpPr>
            <a:spLocks noGrp="1"/>
          </p:cNvSpPr>
          <p:nvPr/>
        </p:nvSpPr>
        <p:spPr>
          <a:xfrm>
            <a:off x="11490578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</a:p>
        </p:txBody>
      </p:sp>
      <p:sp>
        <p:nvSpPr>
          <p:cNvPr id="5124" name="Rounded Rectangle 5123">
            <a:extLst>
              <a:ext uri="{FF2B5EF4-FFF2-40B4-BE49-F238E27FC236}">
                <a16:creationId xmlns:a16="http://schemas.microsoft.com/office/drawing/2014/main" id="{C37A7525-F26B-4F3F-89F8-55F6E1F85195}"/>
              </a:ext>
            </a:extLst>
          </p:cNvPr>
          <p:cNvSpPr>
            <a:spLocks noGrp="1"/>
          </p:cNvSpPr>
          <p:nvPr/>
        </p:nvSpPr>
        <p:spPr>
          <a:xfrm>
            <a:off x="13498830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5" name="TextBox 5124">
            <a:extLst>
              <a:ext uri="{FF2B5EF4-FFF2-40B4-BE49-F238E27FC236}">
                <a16:creationId xmlns:a16="http://schemas.microsoft.com/office/drawing/2014/main" id="{1D052B5D-FA0E-4432-9558-FF563A62D1D2}"/>
              </a:ext>
            </a:extLst>
          </p:cNvPr>
          <p:cNvSpPr>
            <a:spLocks noGrp="1"/>
          </p:cNvSpPr>
          <p:nvPr/>
        </p:nvSpPr>
        <p:spPr>
          <a:xfrm>
            <a:off x="13555980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질의 · 정정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질문 · 상황 변화 입력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(통합지휘권자)</a:t>
            </a:r>
          </a:p>
        </p:txBody>
      </p:sp>
      <p:sp>
        <p:nvSpPr>
          <p:cNvPr id="5126" name="Oval 5125">
            <a:extLst>
              <a:ext uri="{FF2B5EF4-FFF2-40B4-BE49-F238E27FC236}">
                <a16:creationId xmlns:a16="http://schemas.microsoft.com/office/drawing/2014/main" id="{FB332E18-FE12-4BCB-984A-ACA34A4B119F}"/>
              </a:ext>
            </a:extLst>
          </p:cNvPr>
          <p:cNvSpPr>
            <a:spLocks noGrp="1"/>
          </p:cNvSpPr>
          <p:nvPr/>
        </p:nvSpPr>
        <p:spPr>
          <a:xfrm>
            <a:off x="13370814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</a:p>
        </p:txBody>
      </p:sp>
      <p:sp>
        <p:nvSpPr>
          <p:cNvPr id="5127" name="Rounded Rectangle 5126">
            <a:extLst>
              <a:ext uri="{FF2B5EF4-FFF2-40B4-BE49-F238E27FC236}">
                <a16:creationId xmlns:a16="http://schemas.microsoft.com/office/drawing/2014/main" id="{651711E0-F081-44E3-A763-F07FD7857E85}"/>
              </a:ext>
            </a:extLst>
          </p:cNvPr>
          <p:cNvSpPr>
            <a:spLocks noGrp="1"/>
          </p:cNvSpPr>
          <p:nvPr/>
        </p:nvSpPr>
        <p:spPr>
          <a:xfrm>
            <a:off x="1349883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8" name="TextBox 5127">
            <a:extLst>
              <a:ext uri="{FF2B5EF4-FFF2-40B4-BE49-F238E27FC236}">
                <a16:creationId xmlns:a16="http://schemas.microsoft.com/office/drawing/2014/main" id="{E98EDEAB-41AA-4629-BF98-581729A3161E}"/>
              </a:ext>
            </a:extLst>
          </p:cNvPr>
          <p:cNvSpPr>
            <a:spLocks noGrp="1"/>
          </p:cNvSpPr>
          <p:nvPr/>
        </p:nvSpPr>
        <p:spPr>
          <a:xfrm>
            <a:off x="13555980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정정 확인 · 저장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 유지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재생성 · 로그</a:t>
            </a:r>
          </a:p>
        </p:txBody>
      </p:sp>
      <p:sp>
        <p:nvSpPr>
          <p:cNvPr id="5129" name="Rounded Rectangle 5128">
            <a:extLst>
              <a:ext uri="{FF2B5EF4-FFF2-40B4-BE49-F238E27FC236}">
                <a16:creationId xmlns:a16="http://schemas.microsoft.com/office/drawing/2014/main" id="{73AE9440-2F8A-4119-B6EB-B582AA18F7B6}"/>
              </a:ext>
            </a:extLst>
          </p:cNvPr>
          <p:cNvSpPr>
            <a:spLocks noGrp="1"/>
          </p:cNvSpPr>
          <p:nvPr/>
        </p:nvSpPr>
        <p:spPr>
          <a:xfrm>
            <a:off x="13498830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363A52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30" name="TextBox 5129">
            <a:extLst>
              <a:ext uri="{FF2B5EF4-FFF2-40B4-BE49-F238E27FC236}">
                <a16:creationId xmlns:a16="http://schemas.microsoft.com/office/drawing/2014/main" id="{F67307A7-4FF7-426B-9691-B84F43E429B3}"/>
              </a:ext>
            </a:extLst>
          </p:cNvPr>
          <p:cNvSpPr>
            <a:spLocks noGrp="1"/>
          </p:cNvSpPr>
          <p:nvPr/>
        </p:nvSpPr>
        <p:spPr>
          <a:xfrm>
            <a:off x="13555980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EXAONE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D8D8D8"/>
                </a:solidFill>
                <a:latin typeface="210 OmniGothic 040"/>
                <a:ea typeface="210 OmniGothic 040"/>
                <a:cs typeface="210 OmniGothic 040"/>
              </a:rPr>
              <a:t>답변 · 정정 해석</a:t>
            </a:r>
          </a:p>
        </p:txBody>
      </p:sp>
      <p:sp>
        <p:nvSpPr>
          <p:cNvPr id="5131" name="Rounded Rectangle 5130">
            <a:extLst>
              <a:ext uri="{FF2B5EF4-FFF2-40B4-BE49-F238E27FC236}">
                <a16:creationId xmlns:a16="http://schemas.microsoft.com/office/drawing/2014/main" id="{31B5B6B3-C0EC-495C-BB69-0D8AFC4958ED}"/>
              </a:ext>
            </a:extLst>
          </p:cNvPr>
          <p:cNvSpPr>
            <a:spLocks noGrp="1"/>
          </p:cNvSpPr>
          <p:nvPr/>
        </p:nvSpPr>
        <p:spPr>
          <a:xfrm>
            <a:off x="15379064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32" name="TextBox 5131">
            <a:extLst>
              <a:ext uri="{FF2B5EF4-FFF2-40B4-BE49-F238E27FC236}">
                <a16:creationId xmlns:a16="http://schemas.microsoft.com/office/drawing/2014/main" id="{8CED6BF5-8181-49D4-915D-BD2DD0F51046}"/>
              </a:ext>
            </a:extLst>
          </p:cNvPr>
          <p:cNvSpPr>
            <a:spLocks noGrp="1"/>
          </p:cNvSpPr>
          <p:nvPr/>
        </p:nvSpPr>
        <p:spPr>
          <a:xfrm>
            <a:off x="15436214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발화 종료 처리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5133" name="Oval 5132">
            <a:extLst>
              <a:ext uri="{FF2B5EF4-FFF2-40B4-BE49-F238E27FC236}">
                <a16:creationId xmlns:a16="http://schemas.microsoft.com/office/drawing/2014/main" id="{FC4E089B-C501-4D50-97DD-A609C3ED4009}"/>
              </a:ext>
            </a:extLst>
          </p:cNvPr>
          <p:cNvSpPr>
            <a:spLocks noGrp="1"/>
          </p:cNvSpPr>
          <p:nvPr/>
        </p:nvSpPr>
        <p:spPr>
          <a:xfrm>
            <a:off x="15251048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8</a:t>
            </a:r>
          </a:p>
        </p:txBody>
      </p:sp>
      <p:sp>
        <p:nvSpPr>
          <p:cNvPr id="5134" name="Rounded Rectangle 5133">
            <a:extLst>
              <a:ext uri="{FF2B5EF4-FFF2-40B4-BE49-F238E27FC236}">
                <a16:creationId xmlns:a16="http://schemas.microsoft.com/office/drawing/2014/main" id="{37DF55D4-8C75-4BEA-BB64-78F5F70F27B0}"/>
              </a:ext>
            </a:extLst>
          </p:cNvPr>
          <p:cNvSpPr>
            <a:spLocks noGrp="1"/>
          </p:cNvSpPr>
          <p:nvPr/>
        </p:nvSpPr>
        <p:spPr>
          <a:xfrm>
            <a:off x="15379064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35" name="TextBox 5134">
            <a:extLst>
              <a:ext uri="{FF2B5EF4-FFF2-40B4-BE49-F238E27FC236}">
                <a16:creationId xmlns:a16="http://schemas.microsoft.com/office/drawing/2014/main" id="{89FE960B-EE2C-4F11-B133-182194DA928B}"/>
              </a:ext>
            </a:extLst>
          </p:cNvPr>
          <p:cNvSpPr>
            <a:spLocks noGrp="1"/>
          </p:cNvSpPr>
          <p:nvPr/>
        </p:nvSpPr>
        <p:spPr>
          <a:xfrm>
            <a:off x="15436214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· 처리자 저장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 작업 차단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이력만 열람</a:t>
            </a:r>
          </a:p>
        </p:txBody>
      </p:sp>
      <p:sp>
        <p:nvSpPr>
          <p:cNvPr id="5136" name="Connector 5135">
            <a:extLst>
              <a:ext uri="{FF2B5EF4-FFF2-40B4-BE49-F238E27FC236}">
                <a16:creationId xmlns:a16="http://schemas.microsoft.com/office/drawing/2014/main" id="{8100A54E-0934-4E44-802D-6214EDED71C6}"/>
              </a:ext>
            </a:extLst>
          </p:cNvPr>
          <p:cNvSpPr>
            <a:spLocks noGrp="1"/>
          </p:cNvSpPr>
          <p:nvPr/>
        </p:nvSpPr>
        <p:spPr>
          <a:xfrm>
            <a:off x="3074670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37" name="Connector 5136">
            <a:extLst>
              <a:ext uri="{FF2B5EF4-FFF2-40B4-BE49-F238E27FC236}">
                <a16:creationId xmlns:a16="http://schemas.microsoft.com/office/drawing/2014/main" id="{373DE3D0-7AC8-4317-B709-F393FF43A489}"/>
              </a:ext>
            </a:extLst>
          </p:cNvPr>
          <p:cNvSpPr>
            <a:spLocks noGrp="1"/>
          </p:cNvSpPr>
          <p:nvPr/>
        </p:nvSpPr>
        <p:spPr>
          <a:xfrm>
            <a:off x="3931920" y="5493715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38" name="Connector 5137">
            <a:extLst>
              <a:ext uri="{FF2B5EF4-FFF2-40B4-BE49-F238E27FC236}">
                <a16:creationId xmlns:a16="http://schemas.microsoft.com/office/drawing/2014/main" id="{CB39E090-543B-4786-AD97-ED5EC0C9CDEA}"/>
              </a:ext>
            </a:extLst>
          </p:cNvPr>
          <p:cNvSpPr>
            <a:spLocks noGrp="1"/>
          </p:cNvSpPr>
          <p:nvPr/>
        </p:nvSpPr>
        <p:spPr>
          <a:xfrm>
            <a:off x="4954905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39" name="Connector 5138">
            <a:extLst>
              <a:ext uri="{FF2B5EF4-FFF2-40B4-BE49-F238E27FC236}">
                <a16:creationId xmlns:a16="http://schemas.microsoft.com/office/drawing/2014/main" id="{80092074-1C99-41D5-8875-903F1A256A74}"/>
              </a:ext>
            </a:extLst>
          </p:cNvPr>
          <p:cNvSpPr>
            <a:spLocks noGrp="1"/>
          </p:cNvSpPr>
          <p:nvPr/>
        </p:nvSpPr>
        <p:spPr>
          <a:xfrm>
            <a:off x="5812155" y="5493715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0" name="Connector 5139">
            <a:extLst>
              <a:ext uri="{FF2B5EF4-FFF2-40B4-BE49-F238E27FC236}">
                <a16:creationId xmlns:a16="http://schemas.microsoft.com/office/drawing/2014/main" id="{D9EA285C-F56E-4040-96A3-593907C23B90}"/>
              </a:ext>
            </a:extLst>
          </p:cNvPr>
          <p:cNvSpPr>
            <a:spLocks noGrp="1"/>
          </p:cNvSpPr>
          <p:nvPr/>
        </p:nvSpPr>
        <p:spPr>
          <a:xfrm flipV="1">
            <a:off x="6835140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1" name="Connector 5140">
            <a:extLst>
              <a:ext uri="{FF2B5EF4-FFF2-40B4-BE49-F238E27FC236}">
                <a16:creationId xmlns:a16="http://schemas.microsoft.com/office/drawing/2014/main" id="{E8293D22-2FF9-41CD-AE19-5AC86CDAF940}"/>
              </a:ext>
            </a:extLst>
          </p:cNvPr>
          <p:cNvSpPr>
            <a:spLocks noGrp="1"/>
          </p:cNvSpPr>
          <p:nvPr/>
        </p:nvSpPr>
        <p:spPr>
          <a:xfrm>
            <a:off x="6835140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2" name="Connector 5141">
            <a:extLst>
              <a:ext uri="{FF2B5EF4-FFF2-40B4-BE49-F238E27FC236}">
                <a16:creationId xmlns:a16="http://schemas.microsoft.com/office/drawing/2014/main" id="{F07CC773-435C-4681-A03A-EE0DA7543FFB}"/>
              </a:ext>
            </a:extLst>
          </p:cNvPr>
          <p:cNvSpPr>
            <a:spLocks noGrp="1"/>
          </p:cNvSpPr>
          <p:nvPr/>
        </p:nvSpPr>
        <p:spPr>
          <a:xfrm>
            <a:off x="7692390" y="3461918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3" name="Connector 5142">
            <a:extLst>
              <a:ext uri="{FF2B5EF4-FFF2-40B4-BE49-F238E27FC236}">
                <a16:creationId xmlns:a16="http://schemas.microsoft.com/office/drawing/2014/main" id="{15CC2D92-C9CC-4AFD-85F7-D9F896A1B6C5}"/>
              </a:ext>
            </a:extLst>
          </p:cNvPr>
          <p:cNvSpPr>
            <a:spLocks noGrp="1"/>
          </p:cNvSpPr>
          <p:nvPr/>
        </p:nvSpPr>
        <p:spPr>
          <a:xfrm>
            <a:off x="8715375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4" name="Connector 5143">
            <a:extLst>
              <a:ext uri="{FF2B5EF4-FFF2-40B4-BE49-F238E27FC236}">
                <a16:creationId xmlns:a16="http://schemas.microsoft.com/office/drawing/2014/main" id="{F6950D8F-C214-42BD-A001-5381B83C1816}"/>
              </a:ext>
            </a:extLst>
          </p:cNvPr>
          <p:cNvSpPr>
            <a:spLocks noGrp="1"/>
          </p:cNvSpPr>
          <p:nvPr/>
        </p:nvSpPr>
        <p:spPr>
          <a:xfrm>
            <a:off x="8715375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5" name="Connector 5144">
            <a:extLst>
              <a:ext uri="{FF2B5EF4-FFF2-40B4-BE49-F238E27FC236}">
                <a16:creationId xmlns:a16="http://schemas.microsoft.com/office/drawing/2014/main" id="{C5C60447-9DD1-4619-9510-1046D3AB6025}"/>
              </a:ext>
            </a:extLst>
          </p:cNvPr>
          <p:cNvSpPr>
            <a:spLocks noGrp="1"/>
          </p:cNvSpPr>
          <p:nvPr/>
        </p:nvSpPr>
        <p:spPr>
          <a:xfrm>
            <a:off x="9572625" y="7525512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6" name="Connector 5145">
            <a:extLst>
              <a:ext uri="{FF2B5EF4-FFF2-40B4-BE49-F238E27FC236}">
                <a16:creationId xmlns:a16="http://schemas.microsoft.com/office/drawing/2014/main" id="{8E88DFBB-49A2-4503-BA2A-7D5B1C3DC781}"/>
              </a:ext>
            </a:extLst>
          </p:cNvPr>
          <p:cNvSpPr>
            <a:spLocks noGrp="1"/>
          </p:cNvSpPr>
          <p:nvPr/>
        </p:nvSpPr>
        <p:spPr>
          <a:xfrm>
            <a:off x="9572625" y="5493715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7" name="Connector 5146">
            <a:extLst>
              <a:ext uri="{FF2B5EF4-FFF2-40B4-BE49-F238E27FC236}">
                <a16:creationId xmlns:a16="http://schemas.microsoft.com/office/drawing/2014/main" id="{65A9BA24-8303-44F3-BA67-9D173844C85D}"/>
              </a:ext>
            </a:extLst>
          </p:cNvPr>
          <p:cNvSpPr>
            <a:spLocks noGrp="1"/>
          </p:cNvSpPr>
          <p:nvPr/>
        </p:nvSpPr>
        <p:spPr>
          <a:xfrm>
            <a:off x="10595609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8" name="Connector 5147">
            <a:extLst>
              <a:ext uri="{FF2B5EF4-FFF2-40B4-BE49-F238E27FC236}">
                <a16:creationId xmlns:a16="http://schemas.microsoft.com/office/drawing/2014/main" id="{9B27632B-79F8-4FC7-AB1C-271722ECB8C7}"/>
              </a:ext>
            </a:extLst>
          </p:cNvPr>
          <p:cNvSpPr>
            <a:spLocks noGrp="1"/>
          </p:cNvSpPr>
          <p:nvPr/>
        </p:nvSpPr>
        <p:spPr>
          <a:xfrm flipV="1">
            <a:off x="11452859" y="5493715"/>
            <a:ext cx="165735" cy="2031797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9" name="Connector 5148">
            <a:extLst>
              <a:ext uri="{FF2B5EF4-FFF2-40B4-BE49-F238E27FC236}">
                <a16:creationId xmlns:a16="http://schemas.microsoft.com/office/drawing/2014/main" id="{8C5BC145-976D-48E9-B0E8-0011772C3625}"/>
              </a:ext>
            </a:extLst>
          </p:cNvPr>
          <p:cNvSpPr>
            <a:spLocks noGrp="1"/>
          </p:cNvSpPr>
          <p:nvPr/>
        </p:nvSpPr>
        <p:spPr>
          <a:xfrm flipV="1">
            <a:off x="12475844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0" name="Connector 5149">
            <a:extLst>
              <a:ext uri="{FF2B5EF4-FFF2-40B4-BE49-F238E27FC236}">
                <a16:creationId xmlns:a16="http://schemas.microsoft.com/office/drawing/2014/main" id="{60927617-E85C-405D-8783-492FB9CC04D7}"/>
              </a:ext>
            </a:extLst>
          </p:cNvPr>
          <p:cNvSpPr>
            <a:spLocks noGrp="1"/>
          </p:cNvSpPr>
          <p:nvPr/>
        </p:nvSpPr>
        <p:spPr>
          <a:xfrm>
            <a:off x="13333094" y="3461918"/>
            <a:ext cx="165736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1" name="Connector 5150">
            <a:extLst>
              <a:ext uri="{FF2B5EF4-FFF2-40B4-BE49-F238E27FC236}">
                <a16:creationId xmlns:a16="http://schemas.microsoft.com/office/drawing/2014/main" id="{67FFB246-BA03-4BC0-B4CA-6FB96863E354}"/>
              </a:ext>
            </a:extLst>
          </p:cNvPr>
          <p:cNvSpPr>
            <a:spLocks noGrp="1"/>
          </p:cNvSpPr>
          <p:nvPr/>
        </p:nvSpPr>
        <p:spPr>
          <a:xfrm>
            <a:off x="14356080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2" name="Connector 5151">
            <a:extLst>
              <a:ext uri="{FF2B5EF4-FFF2-40B4-BE49-F238E27FC236}">
                <a16:creationId xmlns:a16="http://schemas.microsoft.com/office/drawing/2014/main" id="{2DEC0E36-0679-4D40-9A2A-345BCD1D87E9}"/>
              </a:ext>
            </a:extLst>
          </p:cNvPr>
          <p:cNvSpPr>
            <a:spLocks noGrp="1"/>
          </p:cNvSpPr>
          <p:nvPr/>
        </p:nvSpPr>
        <p:spPr>
          <a:xfrm>
            <a:off x="14356080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3" name="Connector 5152">
            <a:extLst>
              <a:ext uri="{FF2B5EF4-FFF2-40B4-BE49-F238E27FC236}">
                <a16:creationId xmlns:a16="http://schemas.microsoft.com/office/drawing/2014/main" id="{5CEF7050-9C53-4D95-9626-C5D2818DFF01}"/>
              </a:ext>
            </a:extLst>
          </p:cNvPr>
          <p:cNvSpPr>
            <a:spLocks noGrp="1"/>
          </p:cNvSpPr>
          <p:nvPr/>
        </p:nvSpPr>
        <p:spPr>
          <a:xfrm>
            <a:off x="13898880" y="6147511"/>
            <a:ext cx="0" cy="160934"/>
          </a:xfrm>
          <a:prstGeom prst="line">
            <a:avLst/>
          </a:prstGeom>
          <a:ln w="16510">
            <a:solidFill>
              <a:srgbClr val="363A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4" name="Connector 5153">
            <a:extLst>
              <a:ext uri="{FF2B5EF4-FFF2-40B4-BE49-F238E27FC236}">
                <a16:creationId xmlns:a16="http://schemas.microsoft.com/office/drawing/2014/main" id="{5545000E-904F-41E4-B807-F6B679BFD770}"/>
              </a:ext>
            </a:extLst>
          </p:cNvPr>
          <p:cNvSpPr>
            <a:spLocks noGrp="1"/>
          </p:cNvSpPr>
          <p:nvPr/>
        </p:nvSpPr>
        <p:spPr>
          <a:xfrm flipH="1">
            <a:off x="12933044" y="6308445"/>
            <a:ext cx="965836" cy="0"/>
          </a:xfrm>
          <a:prstGeom prst="line">
            <a:avLst/>
          </a:prstGeom>
          <a:ln w="16510">
            <a:solidFill>
              <a:srgbClr val="363A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5" name="Connector 5154">
            <a:extLst>
              <a:ext uri="{FF2B5EF4-FFF2-40B4-BE49-F238E27FC236}">
                <a16:creationId xmlns:a16="http://schemas.microsoft.com/office/drawing/2014/main" id="{CF0CF319-7A1C-4490-B9FD-6EFA274FFD33}"/>
              </a:ext>
            </a:extLst>
          </p:cNvPr>
          <p:cNvSpPr>
            <a:spLocks noGrp="1"/>
          </p:cNvSpPr>
          <p:nvPr/>
        </p:nvSpPr>
        <p:spPr>
          <a:xfrm flipV="1">
            <a:off x="12933044" y="6147511"/>
            <a:ext cx="0" cy="160934"/>
          </a:xfrm>
          <a:prstGeom prst="line">
            <a:avLst/>
          </a:prstGeom>
          <a:ln w="16510">
            <a:solidFill>
              <a:srgbClr val="363A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6" name="Connector 5155">
            <a:extLst>
              <a:ext uri="{FF2B5EF4-FFF2-40B4-BE49-F238E27FC236}">
                <a16:creationId xmlns:a16="http://schemas.microsoft.com/office/drawing/2014/main" id="{5FFA5488-D343-4C98-A9BC-8A141106D94C}"/>
              </a:ext>
            </a:extLst>
          </p:cNvPr>
          <p:cNvSpPr>
            <a:spLocks noGrp="1"/>
          </p:cNvSpPr>
          <p:nvPr/>
        </p:nvSpPr>
        <p:spPr>
          <a:xfrm>
            <a:off x="15213330" y="3461918"/>
            <a:ext cx="165734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7" name="Connector 5156">
            <a:extLst>
              <a:ext uri="{FF2B5EF4-FFF2-40B4-BE49-F238E27FC236}">
                <a16:creationId xmlns:a16="http://schemas.microsoft.com/office/drawing/2014/main" id="{C1735012-3C70-4BA6-A98C-C75BF1833BC7}"/>
              </a:ext>
            </a:extLst>
          </p:cNvPr>
          <p:cNvSpPr>
            <a:spLocks noGrp="1"/>
          </p:cNvSpPr>
          <p:nvPr/>
        </p:nvSpPr>
        <p:spPr>
          <a:xfrm>
            <a:off x="16236314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8" name="TextBox 5157">
            <a:extLst>
              <a:ext uri="{FF2B5EF4-FFF2-40B4-BE49-F238E27FC236}">
                <a16:creationId xmlns:a16="http://schemas.microsoft.com/office/drawing/2014/main" id="{7D49C784-4E89-410B-99B4-C9370C79A160}"/>
              </a:ext>
            </a:extLst>
          </p:cNvPr>
          <p:cNvSpPr>
            <a:spLocks noGrp="1"/>
          </p:cNvSpPr>
          <p:nvPr/>
        </p:nvSpPr>
        <p:spPr>
          <a:xfrm>
            <a:off x="822960" y="8682228"/>
            <a:ext cx="1645920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정정 확정 시 예측은 유지하고 규칙 판정·제안 생성만 재실행해 새 버전을 만든다. 종료 사건은 발화 정보 수정·예측·정정·제안 재생성을 차단한다.</a:t>
            </a:r>
          </a:p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이벤트 로그는 로그인·로그아웃·입력·예측·제안·정정·종료·계정 및 자원 변경을 추가 전용으로 기록하고, 상단 「이벤트 로그」 창에서 읽기 전용 열람한다.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3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64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66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82" name="Title">
            <a:extLst>
              <a:ext uri="{FF2B5EF4-FFF2-40B4-BE49-F238E27FC236}">
                <a16:creationId xmlns:a16="http://schemas.microsoft.com/office/drawing/2014/main" id="{8F63756B-60A2-4ECD-994A-D91036BD570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 및 목표</a:t>
            </a:r>
          </a:p>
        </p:txBody>
      </p:sp>
      <p:sp>
        <p:nvSpPr>
          <p:cNvPr id="5083" name="Subtitle">
            <a:extLst>
              <a:ext uri="{FF2B5EF4-FFF2-40B4-BE49-F238E27FC236}">
                <a16:creationId xmlns:a16="http://schemas.microsoft.com/office/drawing/2014/main" id="{2EB428F3-54C5-4E65-8A81-A3BE531CFD57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 구성도 — 물리 엔진 · 규칙 엔진 · LLM 에이전트 2개, 인터페이스 / 서버 / 데이터 3계층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10</a:t>
            </a:fld>
            <a:endParaRPr/>
          </a:p>
        </p:txBody>
      </p:sp>
      <p:sp>
        <p:nvSpPr>
          <p:cNvPr id="7000" name="직사각형 119">
            <a:extLst>
              <a:ext uri="{FF2B5EF4-FFF2-40B4-BE49-F238E27FC236}">
                <a16:creationId xmlns:a16="http://schemas.microsoft.com/office/drawing/2014/main" id="{D7352F98-9233-911B-FFAC-BFE6C6C9301D}"/>
              </a:ext>
            </a:extLst>
          </p:cNvPr>
          <p:cNvSpPr/>
          <p:nvPr/>
        </p:nvSpPr>
        <p:spPr>
          <a:xfrm>
            <a:off x="2887998" y="4399444"/>
            <a:ext cx="12509297" cy="26025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01" name="직사각형 117">
            <a:extLst>
              <a:ext uri="{FF2B5EF4-FFF2-40B4-BE49-F238E27FC236}">
                <a16:creationId xmlns:a16="http://schemas.microsoft.com/office/drawing/2014/main" id="{2541B13E-CB90-AF34-5C16-6698380B6599}"/>
              </a:ext>
            </a:extLst>
          </p:cNvPr>
          <p:cNvSpPr/>
          <p:nvPr/>
        </p:nvSpPr>
        <p:spPr>
          <a:xfrm>
            <a:off x="2887998" y="2377440"/>
            <a:ext cx="12509297" cy="17740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02" name="TextBox 2"/>
          <p:cNvSpPr txBox="1"/>
          <p:nvPr/>
        </p:nvSpPr>
        <p:spPr>
          <a:xfrm>
            <a:off x="2978704" y="2611380"/>
            <a:ext cx="1364651" cy="77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인터페이스</a:t>
            </a:r>
          </a:p>
          <a:p>
            <a:pPr algn="l">
              <a:lnSpc>
                <a:spcPts val="116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Client UI</a:t>
            </a:r>
          </a:p>
        </p:txBody>
      </p:sp>
      <p:sp>
        <p:nvSpPr>
          <p:cNvPr id="7003" name="Rectangle 3"/>
          <p:cNvSpPr/>
          <p:nvPr/>
        </p:nvSpPr>
        <p:spPr>
          <a:xfrm>
            <a:off x="4343354" y="2611380"/>
            <a:ext cx="1900763" cy="1218438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04" name="TextBox 4"/>
          <p:cNvSpPr txBox="1"/>
          <p:nvPr/>
        </p:nvSpPr>
        <p:spPr>
          <a:xfrm>
            <a:off x="4343354" y="2611380"/>
            <a:ext cx="1900763" cy="555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사용자 (4 역할)</a:t>
            </a:r>
          </a:p>
        </p:txBody>
      </p:sp>
      <p:sp>
        <p:nvSpPr>
          <p:cNvPr id="7005" name="Rectangle 5"/>
          <p:cNvSpPr/>
          <p:nvPr/>
        </p:nvSpPr>
        <p:spPr>
          <a:xfrm>
            <a:off x="4343354" y="3166988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통합지휘권자</a:t>
            </a:r>
          </a:p>
        </p:txBody>
      </p:sp>
      <p:sp>
        <p:nvSpPr>
          <p:cNvPr id="7006" name="Rectangle 6"/>
          <p:cNvSpPr/>
          <p:nvPr/>
        </p:nvSpPr>
        <p:spPr>
          <a:xfrm>
            <a:off x="5293736" y="3166988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상황 보고자</a:t>
            </a:r>
          </a:p>
        </p:txBody>
      </p:sp>
      <p:sp>
        <p:nvSpPr>
          <p:cNvPr id="7007" name="Rectangle 7"/>
          <p:cNvSpPr/>
          <p:nvPr/>
        </p:nvSpPr>
        <p:spPr>
          <a:xfrm>
            <a:off x="4343354" y="3498403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전산 관리자</a:t>
            </a:r>
          </a:p>
        </p:txBody>
      </p:sp>
      <p:sp>
        <p:nvSpPr>
          <p:cNvPr id="7008" name="Rectangle 8"/>
          <p:cNvSpPr/>
          <p:nvPr/>
        </p:nvSpPr>
        <p:spPr>
          <a:xfrm>
            <a:off x="5293736" y="3498403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열람자</a:t>
            </a:r>
          </a:p>
        </p:txBody>
      </p:sp>
      <p:sp>
        <p:nvSpPr>
          <p:cNvPr id="7009" name="Rectangle 9"/>
          <p:cNvSpPr/>
          <p:nvPr/>
        </p:nvSpPr>
        <p:spPr>
          <a:xfrm>
            <a:off x="6634018" y="2611380"/>
            <a:ext cx="3177686" cy="1218438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10" name="TextBox 10"/>
          <p:cNvSpPr txBox="1"/>
          <p:nvPr/>
        </p:nvSpPr>
        <p:spPr>
          <a:xfrm>
            <a:off x="6634018" y="2611380"/>
            <a:ext cx="3177686" cy="8870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웹 대시보드</a:t>
            </a: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  React · MapLibre GL</a:t>
            </a:r>
          </a:p>
        </p:txBody>
      </p:sp>
      <p:sp>
        <p:nvSpPr>
          <p:cNvPr id="7011" name="Rectangle 11"/>
          <p:cNvSpPr/>
          <p:nvPr/>
        </p:nvSpPr>
        <p:spPr>
          <a:xfrm>
            <a:off x="6634018" y="3498403"/>
            <a:ext cx="779800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통합 상황도</a:t>
            </a:r>
          </a:p>
        </p:txBody>
      </p:sp>
      <p:sp>
        <p:nvSpPr>
          <p:cNvPr id="7012" name="Rectangle 12"/>
          <p:cNvSpPr/>
          <p:nvPr/>
        </p:nvSpPr>
        <p:spPr>
          <a:xfrm>
            <a:off x="7413818" y="3498403"/>
            <a:ext cx="740810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대응 제안서</a:t>
            </a:r>
          </a:p>
        </p:txBody>
      </p:sp>
      <p:sp>
        <p:nvSpPr>
          <p:cNvPr id="7013" name="Rectangle 13"/>
          <p:cNvSpPr/>
          <p:nvPr/>
        </p:nvSpPr>
        <p:spPr>
          <a:xfrm>
            <a:off x="8154628" y="3498403"/>
            <a:ext cx="643335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근거 패널</a:t>
            </a:r>
          </a:p>
        </p:txBody>
      </p:sp>
      <p:sp>
        <p:nvSpPr>
          <p:cNvPr id="7014" name="Rectangle 14"/>
          <p:cNvSpPr/>
          <p:nvPr/>
        </p:nvSpPr>
        <p:spPr>
          <a:xfrm>
            <a:off x="8797964" y="3498403"/>
            <a:ext cx="1013740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어시스턴트 대화</a:t>
            </a:r>
          </a:p>
        </p:txBody>
      </p:sp>
      <p:cxnSp>
        <p:nvCxnSpPr>
          <p:cNvPr id="7015" name="Connector 15"/>
          <p:cNvCxnSpPr/>
          <p:nvPr/>
        </p:nvCxnSpPr>
        <p:spPr>
          <a:xfrm>
            <a:off x="6244118" y="3220599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7016" name="Rectangle 16"/>
          <p:cNvSpPr/>
          <p:nvPr/>
        </p:nvSpPr>
        <p:spPr>
          <a:xfrm>
            <a:off x="10201604" y="2611380"/>
            <a:ext cx="4912742" cy="1218438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17" name="TextBox 17"/>
          <p:cNvSpPr txBox="1"/>
          <p:nvPr/>
        </p:nvSpPr>
        <p:spPr>
          <a:xfrm>
            <a:off x="10279584" y="2650370"/>
            <a:ext cx="4756782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응답</a:t>
            </a:r>
          </a:p>
        </p:txBody>
      </p:sp>
      <p:cxnSp>
        <p:nvCxnSpPr>
          <p:cNvPr id="7018" name="Connector 25"/>
          <p:cNvCxnSpPr/>
          <p:nvPr/>
        </p:nvCxnSpPr>
        <p:spPr>
          <a:xfrm flipH="1">
            <a:off x="9811704" y="3220599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7019" name="Oval 26"/>
          <p:cNvSpPr/>
          <p:nvPr/>
        </p:nvSpPr>
        <p:spPr>
          <a:xfrm>
            <a:off x="9899432" y="2869689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7</a:t>
            </a:r>
          </a:p>
        </p:txBody>
      </p:sp>
      <p:sp>
        <p:nvSpPr>
          <p:cNvPr id="7020" name="TextBox 27"/>
          <p:cNvSpPr txBox="1"/>
          <p:nvPr/>
        </p:nvSpPr>
        <p:spPr>
          <a:xfrm>
            <a:off x="2978704" y="4519454"/>
            <a:ext cx="1364651" cy="77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서버</a:t>
            </a:r>
          </a:p>
          <a:p>
            <a:pPr algn="l">
              <a:lnSpc>
                <a:spcPts val="116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000" b="0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Application</a:t>
            </a:r>
            <a:r>
              <a:rPr lang="ko-KR" altLang="en-US" sz="100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Server</a:t>
            </a:r>
          </a:p>
        </p:txBody>
      </p:sp>
      <p:sp>
        <p:nvSpPr>
          <p:cNvPr id="7021" name="Rectangle 28"/>
          <p:cNvSpPr/>
          <p:nvPr/>
        </p:nvSpPr>
        <p:spPr>
          <a:xfrm>
            <a:off x="6517048" y="4519454"/>
            <a:ext cx="1891016" cy="1364651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22" name="TextBox 29"/>
          <p:cNvSpPr txBox="1"/>
          <p:nvPr/>
        </p:nvSpPr>
        <p:spPr>
          <a:xfrm>
            <a:off x="6595028" y="4558444"/>
            <a:ext cx="1735056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맑은 고딕"/>
                <a:ea typeface="맑은 고딕"/>
                <a:cs typeface="Arial"/>
              </a:rPr>
              <a:t>① 산불 예측 모델 (물리 엔진)</a:t>
            </a:r>
          </a:p>
        </p:txBody>
      </p:sp>
      <p:sp>
        <p:nvSpPr>
          <p:cNvPr id="7023" name="Rectangle 30"/>
          <p:cNvSpPr/>
          <p:nvPr/>
        </p:nvSpPr>
        <p:spPr>
          <a:xfrm>
            <a:off x="8632256" y="4519454"/>
            <a:ext cx="4093952" cy="2397886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24" name="TextBox 31"/>
          <p:cNvSpPr txBox="1"/>
          <p:nvPr/>
        </p:nvSpPr>
        <p:spPr>
          <a:xfrm>
            <a:off x="8710236" y="4558444"/>
            <a:ext cx="3937992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맑은 고딕"/>
                <a:ea typeface="맑은 고딕"/>
                <a:cs typeface="Arial"/>
              </a:rPr>
              <a:t>② 대응 제안 생성 모델 (규칙 엔진 + LLM 에이전트 2개)</a:t>
            </a:r>
          </a:p>
        </p:txBody>
      </p:sp>
      <p:sp>
        <p:nvSpPr>
          <p:cNvPr id="7025" name="Rectangle 32"/>
          <p:cNvSpPr/>
          <p:nvPr/>
        </p:nvSpPr>
        <p:spPr>
          <a:xfrm>
            <a:off x="4343354" y="4841122"/>
            <a:ext cx="1900763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26" name="TextBox 33"/>
          <p:cNvSpPr txBox="1"/>
          <p:nvPr/>
        </p:nvSpPr>
        <p:spPr>
          <a:xfrm>
            <a:off x="4343354" y="4841122"/>
            <a:ext cx="1900763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API 서버 · 상황 구성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FastAPI</a:t>
            </a:r>
          </a:p>
        </p:txBody>
      </p:sp>
      <p:sp>
        <p:nvSpPr>
          <p:cNvPr id="7027" name="Rectangle 34"/>
          <p:cNvSpPr/>
          <p:nvPr/>
        </p:nvSpPr>
        <p:spPr>
          <a:xfrm>
            <a:off x="6634018" y="4841122"/>
            <a:ext cx="1657076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28" name="TextBox 35"/>
          <p:cNvSpPr txBox="1"/>
          <p:nvPr/>
        </p:nvSpPr>
        <p:spPr>
          <a:xfrm>
            <a:off x="6634018" y="4841122"/>
            <a:ext cx="1657076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확산 예측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ELMFIRE</a:t>
            </a:r>
          </a:p>
        </p:txBody>
      </p:sp>
      <p:sp>
        <p:nvSpPr>
          <p:cNvPr id="7029" name="Rectangle 36"/>
          <p:cNvSpPr/>
          <p:nvPr/>
        </p:nvSpPr>
        <p:spPr>
          <a:xfrm>
            <a:off x="8729731" y="4841122"/>
            <a:ext cx="1413388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30" name="TextBox 37"/>
          <p:cNvSpPr txBox="1"/>
          <p:nvPr/>
        </p:nvSpPr>
        <p:spPr>
          <a:xfrm>
            <a:off x="8729731" y="4841122"/>
            <a:ext cx="1413388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규칙 판정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Rule-Based</a:t>
            </a:r>
          </a:p>
        </p:txBody>
      </p:sp>
      <p:sp>
        <p:nvSpPr>
          <p:cNvPr id="7031" name="Rectangle 38"/>
          <p:cNvSpPr/>
          <p:nvPr/>
        </p:nvSpPr>
        <p:spPr>
          <a:xfrm>
            <a:off x="10533019" y="4841122"/>
            <a:ext cx="2095713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032" name="Picture 3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9989" y="5148168"/>
            <a:ext cx="311920" cy="311920"/>
          </a:xfrm>
          <a:prstGeom prst="rect">
            <a:avLst/>
          </a:prstGeom>
        </p:spPr>
      </p:pic>
      <p:sp>
        <p:nvSpPr>
          <p:cNvPr id="7033" name="TextBox 40"/>
          <p:cNvSpPr txBox="1"/>
          <p:nvPr/>
        </p:nvSpPr>
        <p:spPr>
          <a:xfrm>
            <a:off x="10961909" y="4841122"/>
            <a:ext cx="1666823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dirty="0">
                <a:solidFill>
                  <a:srgbClr val="2563EB"/>
                </a:solidFill>
                <a:latin typeface="Arial"/>
                <a:ea typeface="맑은 고딕"/>
                <a:cs typeface="Arial"/>
              </a:rPr>
              <a:t>상황판단 에이전트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EXAONE 4.0 32B</a:t>
            </a:r>
          </a:p>
        </p:txBody>
      </p:sp>
      <p:sp>
        <p:nvSpPr>
          <p:cNvPr id="7034" name="Rectangle 41"/>
          <p:cNvSpPr/>
          <p:nvPr/>
        </p:nvSpPr>
        <p:spPr>
          <a:xfrm>
            <a:off x="13116108" y="4841122"/>
            <a:ext cx="1998238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35" name="TextBox 42"/>
          <p:cNvSpPr txBox="1"/>
          <p:nvPr/>
        </p:nvSpPr>
        <p:spPr>
          <a:xfrm>
            <a:off x="13116108" y="4841122"/>
            <a:ext cx="1998238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응답 조립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REST API</a:t>
            </a:r>
          </a:p>
        </p:txBody>
      </p:sp>
      <p:sp>
        <p:nvSpPr>
          <p:cNvPr id="7036" name="Rectangle 43"/>
          <p:cNvSpPr/>
          <p:nvPr/>
        </p:nvSpPr>
        <p:spPr>
          <a:xfrm>
            <a:off x="13116108" y="5981580"/>
            <a:ext cx="1998238" cy="838285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037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3835" y="6127792"/>
            <a:ext cx="272930" cy="272930"/>
          </a:xfrm>
          <a:prstGeom prst="rect">
            <a:avLst/>
          </a:prstGeom>
        </p:spPr>
      </p:pic>
      <p:sp>
        <p:nvSpPr>
          <p:cNvPr id="7038" name="TextBox 45"/>
          <p:cNvSpPr txBox="1"/>
          <p:nvPr/>
        </p:nvSpPr>
        <p:spPr>
          <a:xfrm>
            <a:off x="13515756" y="5981580"/>
            <a:ext cx="1579096" cy="56535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dirty="0">
                <a:solidFill>
                  <a:srgbClr val="2563EB"/>
                </a:solidFill>
                <a:latin typeface="Arial"/>
                <a:ea typeface="맑은 고딕"/>
                <a:cs typeface="Arial"/>
              </a:rPr>
              <a:t>어시스턴트 에이전트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EXAONE 4.0 32B</a:t>
            </a:r>
          </a:p>
        </p:txBody>
      </p:sp>
      <p:sp>
        <p:nvSpPr>
          <p:cNvPr id="7039" name="Rectangle 46"/>
          <p:cNvSpPr/>
          <p:nvPr/>
        </p:nvSpPr>
        <p:spPr>
          <a:xfrm>
            <a:off x="13116108" y="6546935"/>
            <a:ext cx="999119" cy="272930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상황 정정</a:t>
            </a:r>
          </a:p>
        </p:txBody>
      </p:sp>
      <p:sp>
        <p:nvSpPr>
          <p:cNvPr id="7040" name="Rectangle 47"/>
          <p:cNvSpPr/>
          <p:nvPr/>
        </p:nvSpPr>
        <p:spPr>
          <a:xfrm>
            <a:off x="14115227" y="6546935"/>
            <a:ext cx="999119" cy="272930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질의응답</a:t>
            </a:r>
          </a:p>
        </p:txBody>
      </p:sp>
      <p:cxnSp>
        <p:nvCxnSpPr>
          <p:cNvPr id="7041" name="Connector 48"/>
          <p:cNvCxnSpPr/>
          <p:nvPr/>
        </p:nvCxnSpPr>
        <p:spPr>
          <a:xfrm>
            <a:off x="5293736" y="3829818"/>
            <a:ext cx="0" cy="1072225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7042" name="Oval 49"/>
          <p:cNvSpPr/>
          <p:nvPr/>
        </p:nvSpPr>
        <p:spPr>
          <a:xfrm>
            <a:off x="5186513" y="42197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1</a:t>
            </a:r>
          </a:p>
        </p:txBody>
      </p:sp>
      <p:sp>
        <p:nvSpPr>
          <p:cNvPr id="7043" name="TextBox 50"/>
          <p:cNvSpPr txBox="1"/>
          <p:nvPr/>
        </p:nvSpPr>
        <p:spPr>
          <a:xfrm>
            <a:off x="4318986" y="4178291"/>
            <a:ext cx="799295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요청 · 대화</a:t>
            </a:r>
          </a:p>
        </p:txBody>
      </p:sp>
      <p:cxnSp>
        <p:nvCxnSpPr>
          <p:cNvPr id="7044" name="Connector 51"/>
          <p:cNvCxnSpPr/>
          <p:nvPr/>
        </p:nvCxnSpPr>
        <p:spPr>
          <a:xfrm>
            <a:off x="6244118" y="5304128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7045" name="Oval 52"/>
          <p:cNvSpPr/>
          <p:nvPr/>
        </p:nvSpPr>
        <p:spPr>
          <a:xfrm>
            <a:off x="6331845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cxnSp>
        <p:nvCxnSpPr>
          <p:cNvPr id="7046" name="Connector 53"/>
          <p:cNvCxnSpPr/>
          <p:nvPr/>
        </p:nvCxnSpPr>
        <p:spPr>
          <a:xfrm>
            <a:off x="8291093" y="5304128"/>
            <a:ext cx="438638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7047" name="Oval 54"/>
          <p:cNvSpPr/>
          <p:nvPr/>
        </p:nvSpPr>
        <p:spPr>
          <a:xfrm>
            <a:off x="8403190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cxnSp>
        <p:nvCxnSpPr>
          <p:cNvPr id="7048" name="Connector 55"/>
          <p:cNvCxnSpPr/>
          <p:nvPr/>
        </p:nvCxnSpPr>
        <p:spPr>
          <a:xfrm>
            <a:off x="10143119" y="5304128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7049" name="Oval 56"/>
          <p:cNvSpPr/>
          <p:nvPr/>
        </p:nvSpPr>
        <p:spPr>
          <a:xfrm>
            <a:off x="10230847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  <p:cxnSp>
        <p:nvCxnSpPr>
          <p:cNvPr id="7050" name="Connector 57"/>
          <p:cNvCxnSpPr/>
          <p:nvPr/>
        </p:nvCxnSpPr>
        <p:spPr>
          <a:xfrm>
            <a:off x="12628733" y="5304128"/>
            <a:ext cx="487375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7051" name="Oval 58"/>
          <p:cNvSpPr/>
          <p:nvPr/>
        </p:nvSpPr>
        <p:spPr>
          <a:xfrm>
            <a:off x="12765198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5</a:t>
            </a:r>
          </a:p>
        </p:txBody>
      </p:sp>
      <p:cxnSp>
        <p:nvCxnSpPr>
          <p:cNvPr id="7052" name="Connector 59"/>
          <p:cNvCxnSpPr/>
          <p:nvPr/>
        </p:nvCxnSpPr>
        <p:spPr>
          <a:xfrm flipV="1">
            <a:off x="14115227" y="3829818"/>
            <a:ext cx="0" cy="1072225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7053" name="Oval 60"/>
          <p:cNvSpPr/>
          <p:nvPr/>
        </p:nvSpPr>
        <p:spPr>
          <a:xfrm>
            <a:off x="14008004" y="42197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6</a:t>
            </a:r>
          </a:p>
        </p:txBody>
      </p:sp>
      <p:sp>
        <p:nvSpPr>
          <p:cNvPr id="7054" name="TextBox 61"/>
          <p:cNvSpPr txBox="1"/>
          <p:nvPr/>
        </p:nvSpPr>
        <p:spPr>
          <a:xfrm>
            <a:off x="14290682" y="4178291"/>
            <a:ext cx="584850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응답</a:t>
            </a:r>
          </a:p>
        </p:txBody>
      </p:sp>
      <p:cxnSp>
        <p:nvCxnSpPr>
          <p:cNvPr id="7055" name="Connector 62"/>
          <p:cNvCxnSpPr/>
          <p:nvPr/>
        </p:nvCxnSpPr>
        <p:spPr>
          <a:xfrm flipV="1">
            <a:off x="14614787" y="5767135"/>
            <a:ext cx="0" cy="214445"/>
          </a:xfrm>
          <a:prstGeom prst="line">
            <a:avLst/>
          </a:prstGeom>
          <a:ln w="12700">
            <a:solidFill>
              <a:srgbClr val="1F2937"/>
            </a:solidFill>
            <a:tailEnd type="triangle" w="med" len="med"/>
          </a:ln>
        </p:spPr>
      </p:cxnSp>
      <p:sp>
        <p:nvSpPr>
          <p:cNvPr id="7056" name="TextBox 63"/>
          <p:cNvSpPr txBox="1"/>
          <p:nvPr/>
        </p:nvSpPr>
        <p:spPr>
          <a:xfrm>
            <a:off x="14010441" y="5786630"/>
            <a:ext cx="536113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답변</a:t>
            </a:r>
          </a:p>
        </p:txBody>
      </p:sp>
      <p:sp>
        <p:nvSpPr>
          <p:cNvPr id="7057" name="Freeform 64"/>
          <p:cNvSpPr/>
          <p:nvPr/>
        </p:nvSpPr>
        <p:spPr>
          <a:xfrm>
            <a:off x="10143119" y="5601427"/>
            <a:ext cx="2972989" cy="1081973"/>
          </a:xfrm>
          <a:custGeom>
            <a:avLst/>
            <a:gdLst/>
            <a:ahLst/>
            <a:cxnLst/>
            <a:rect l="l" t="t" r="r" b="b"/>
            <a:pathLst>
              <a:path w="2788920" h="1014984">
                <a:moveTo>
                  <a:pt x="2788920" y="1014984"/>
                </a:moveTo>
                <a:lnTo>
                  <a:pt x="182880" y="1014984"/>
                </a:lnTo>
                <a:lnTo>
                  <a:pt x="18288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1F2937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58" name="TextBox 65"/>
          <p:cNvSpPr txBox="1"/>
          <p:nvPr/>
        </p:nvSpPr>
        <p:spPr>
          <a:xfrm>
            <a:off x="10455039" y="6478702"/>
            <a:ext cx="27293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확인된 정정 → 재판정 (상황 정정)</a:t>
            </a:r>
          </a:p>
        </p:txBody>
      </p:sp>
      <p:sp>
        <p:nvSpPr>
          <p:cNvPr id="7059" name="TextBox 66"/>
          <p:cNvSpPr txBox="1"/>
          <p:nvPr/>
        </p:nvSpPr>
        <p:spPr>
          <a:xfrm>
            <a:off x="2978704" y="7285850"/>
            <a:ext cx="1364651" cy="77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데이터 </a:t>
            </a:r>
            <a:r>
              <a:rPr lang="ko-KR" altLang="en-US" sz="100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Data </a:t>
            </a:r>
            <a:br>
              <a:rPr lang="en-US" altLang="ko-KR" sz="100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90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실시간 수집 + 사전 구축</a:t>
            </a:r>
          </a:p>
        </p:txBody>
      </p:sp>
      <p:sp>
        <p:nvSpPr>
          <p:cNvPr id="7060" name="Rectangle 67"/>
          <p:cNvSpPr/>
          <p:nvPr/>
        </p:nvSpPr>
        <p:spPr>
          <a:xfrm>
            <a:off x="4343354" y="7285850"/>
            <a:ext cx="1608338" cy="1393893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61" name="TextBox 68"/>
          <p:cNvSpPr txBox="1"/>
          <p:nvPr/>
        </p:nvSpPr>
        <p:spPr>
          <a:xfrm>
            <a:off x="4421334" y="7324840"/>
            <a:ext cx="1744803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실시간 수집</a:t>
            </a:r>
          </a:p>
        </p:txBody>
      </p:sp>
      <p:sp>
        <p:nvSpPr>
          <p:cNvPr id="7062" name="Rectangle 69"/>
          <p:cNvSpPr/>
          <p:nvPr/>
        </p:nvSpPr>
        <p:spPr>
          <a:xfrm>
            <a:off x="6097905" y="7285850"/>
            <a:ext cx="8918966" cy="1393893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63" name="TextBox 70"/>
          <p:cNvSpPr txBox="1"/>
          <p:nvPr/>
        </p:nvSpPr>
        <p:spPr>
          <a:xfrm>
            <a:off x="6175885" y="7324840"/>
            <a:ext cx="8343863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사전 구축</a:t>
            </a:r>
          </a:p>
        </p:txBody>
      </p:sp>
      <p:sp>
        <p:nvSpPr>
          <p:cNvPr id="7064" name="TextBox 71"/>
          <p:cNvSpPr txBox="1"/>
          <p:nvPr/>
        </p:nvSpPr>
        <p:spPr>
          <a:xfrm>
            <a:off x="7121393" y="7324840"/>
            <a:ext cx="2924251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(운영 전 1회 + 주기 갱신)</a:t>
            </a:r>
          </a:p>
        </p:txBody>
      </p:sp>
      <p:sp>
        <p:nvSpPr>
          <p:cNvPr id="7065" name="Rectangle 72"/>
          <p:cNvSpPr/>
          <p:nvPr/>
        </p:nvSpPr>
        <p:spPr>
          <a:xfrm>
            <a:off x="4421334" y="7539285"/>
            <a:ext cx="145237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기상 캐시</a:t>
            </a:r>
          </a:p>
        </p:txBody>
      </p:sp>
      <p:sp>
        <p:nvSpPr>
          <p:cNvPr id="7066" name="Rectangle 73"/>
          <p:cNvSpPr/>
          <p:nvPr/>
        </p:nvSpPr>
        <p:spPr>
          <a:xfrm>
            <a:off x="4421334" y="8182620"/>
            <a:ext cx="145237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067" name="Picture 7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9061" y="8260600"/>
            <a:ext cx="253435" cy="253435"/>
          </a:xfrm>
          <a:prstGeom prst="rect">
            <a:avLst/>
          </a:prstGeom>
        </p:spPr>
      </p:pic>
      <p:sp>
        <p:nvSpPr>
          <p:cNvPr id="7068" name="TextBox 75"/>
          <p:cNvSpPr txBox="1"/>
          <p:nvPr/>
        </p:nvSpPr>
        <p:spPr>
          <a:xfrm>
            <a:off x="4811234" y="8182620"/>
            <a:ext cx="1042983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기상청 API</a:t>
            </a:r>
          </a:p>
        </p:txBody>
      </p:sp>
      <p:cxnSp>
        <p:nvCxnSpPr>
          <p:cNvPr id="7069" name="Connector 76"/>
          <p:cNvCxnSpPr/>
          <p:nvPr/>
        </p:nvCxnSpPr>
        <p:spPr>
          <a:xfrm flipV="1">
            <a:off x="5152397" y="7948680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7070" name="Rectangle 77"/>
          <p:cNvSpPr/>
          <p:nvPr/>
        </p:nvSpPr>
        <p:spPr>
          <a:xfrm>
            <a:off x="6214875" y="7539285"/>
            <a:ext cx="2856019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공간 DB · 파라미터</a:t>
            </a:r>
          </a:p>
        </p:txBody>
      </p:sp>
      <p:sp>
        <p:nvSpPr>
          <p:cNvPr id="7071" name="Rectangle 78"/>
          <p:cNvSpPr/>
          <p:nvPr/>
        </p:nvSpPr>
        <p:spPr>
          <a:xfrm>
            <a:off x="6214875" y="8182620"/>
            <a:ext cx="141338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072" name="Picture 79" descr="v5_Picture_1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2602" y="8260600"/>
            <a:ext cx="253435" cy="253435"/>
          </a:xfrm>
          <a:prstGeom prst="rect">
            <a:avLst/>
          </a:prstGeom>
        </p:spPr>
      </p:pic>
      <p:sp>
        <p:nvSpPr>
          <p:cNvPr id="7073" name="TextBox 80"/>
          <p:cNvSpPr txBox="1"/>
          <p:nvPr/>
        </p:nvSpPr>
        <p:spPr>
          <a:xfrm>
            <a:off x="6604775" y="8182620"/>
            <a:ext cx="1003993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공공데이터포털</a:t>
            </a:r>
          </a:p>
        </p:txBody>
      </p:sp>
      <p:cxnSp>
        <p:nvCxnSpPr>
          <p:cNvPr id="7074" name="Connector 81"/>
          <p:cNvCxnSpPr/>
          <p:nvPr/>
        </p:nvCxnSpPr>
        <p:spPr>
          <a:xfrm flipV="1">
            <a:off x="6926443" y="7948680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7075" name="TextBox 82"/>
          <p:cNvSpPr txBox="1"/>
          <p:nvPr/>
        </p:nvSpPr>
        <p:spPr>
          <a:xfrm>
            <a:off x="6984928" y="7987670"/>
            <a:ext cx="604345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격자 정합</a:t>
            </a:r>
          </a:p>
        </p:txBody>
      </p:sp>
      <p:sp>
        <p:nvSpPr>
          <p:cNvPr id="7076" name="Rectangle 83"/>
          <p:cNvSpPr/>
          <p:nvPr/>
        </p:nvSpPr>
        <p:spPr>
          <a:xfrm>
            <a:off x="9314581" y="7539285"/>
            <a:ext cx="1364651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진화자원 데이터</a:t>
            </a:r>
          </a:p>
        </p:txBody>
      </p:sp>
      <p:sp>
        <p:nvSpPr>
          <p:cNvPr id="7077" name="TextBox 84"/>
          <p:cNvSpPr txBox="1"/>
          <p:nvPr/>
        </p:nvSpPr>
        <p:spPr>
          <a:xfrm>
            <a:off x="9168369" y="7987670"/>
            <a:ext cx="1657076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전산 관리자 갱신</a:t>
            </a:r>
          </a:p>
        </p:txBody>
      </p:sp>
      <p:sp>
        <p:nvSpPr>
          <p:cNvPr id="7078" name="Rectangle 85"/>
          <p:cNvSpPr/>
          <p:nvPr/>
        </p:nvSpPr>
        <p:spPr>
          <a:xfrm>
            <a:off x="10922919" y="7539285"/>
            <a:ext cx="2046976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근거 색인 (KURE-v1 · FAISS)</a:t>
            </a:r>
          </a:p>
        </p:txBody>
      </p:sp>
      <p:sp>
        <p:nvSpPr>
          <p:cNvPr id="7079" name="Rectangle 86"/>
          <p:cNvSpPr/>
          <p:nvPr/>
        </p:nvSpPr>
        <p:spPr>
          <a:xfrm>
            <a:off x="10922919" y="8182620"/>
            <a:ext cx="2046976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080" name="Picture 8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0647" y="8260600"/>
            <a:ext cx="253435" cy="253435"/>
          </a:xfrm>
          <a:prstGeom prst="rect">
            <a:avLst/>
          </a:prstGeom>
        </p:spPr>
      </p:pic>
      <p:sp>
        <p:nvSpPr>
          <p:cNvPr id="7081" name="TextBox 88"/>
          <p:cNvSpPr txBox="1"/>
          <p:nvPr/>
        </p:nvSpPr>
        <p:spPr>
          <a:xfrm>
            <a:off x="11312820" y="8182620"/>
            <a:ext cx="1637581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법령 · 표준매뉴얼 · 예규</a:t>
            </a:r>
          </a:p>
        </p:txBody>
      </p:sp>
      <p:cxnSp>
        <p:nvCxnSpPr>
          <p:cNvPr id="7082" name="Connector 89"/>
          <p:cNvCxnSpPr/>
          <p:nvPr/>
        </p:nvCxnSpPr>
        <p:spPr>
          <a:xfrm flipV="1">
            <a:off x="11946407" y="7948680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7083" name="TextBox 90"/>
          <p:cNvSpPr txBox="1"/>
          <p:nvPr/>
        </p:nvSpPr>
        <p:spPr>
          <a:xfrm>
            <a:off x="12024387" y="7987670"/>
            <a:ext cx="1169700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청킹 · 임베딩</a:t>
            </a:r>
          </a:p>
        </p:txBody>
      </p:sp>
      <p:sp>
        <p:nvSpPr>
          <p:cNvPr id="7084" name="Rectangle 91"/>
          <p:cNvSpPr/>
          <p:nvPr/>
        </p:nvSpPr>
        <p:spPr>
          <a:xfrm>
            <a:off x="13311058" y="7539285"/>
            <a:ext cx="160833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이벤트 로그</a:t>
            </a:r>
          </a:p>
        </p:txBody>
      </p:sp>
      <p:cxnSp>
        <p:nvCxnSpPr>
          <p:cNvPr id="7085" name="Connector 92"/>
          <p:cNvCxnSpPr>
            <a:cxnSpLocks/>
          </p:cNvCxnSpPr>
          <p:nvPr/>
        </p:nvCxnSpPr>
        <p:spPr>
          <a:xfrm flipV="1">
            <a:off x="5152397" y="5828056"/>
            <a:ext cx="0" cy="1711228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7086" name="TextBox 93"/>
          <p:cNvSpPr txBox="1"/>
          <p:nvPr/>
        </p:nvSpPr>
        <p:spPr>
          <a:xfrm>
            <a:off x="5230377" y="7071405"/>
            <a:ext cx="19495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기상(단기예보)</a:t>
            </a:r>
          </a:p>
        </p:txBody>
      </p:sp>
      <p:cxnSp>
        <p:nvCxnSpPr>
          <p:cNvPr id="7087" name="Connector 94"/>
          <p:cNvCxnSpPr>
            <a:cxnSpLocks/>
          </p:cNvCxnSpPr>
          <p:nvPr/>
        </p:nvCxnSpPr>
        <p:spPr>
          <a:xfrm flipV="1">
            <a:off x="7462556" y="5828056"/>
            <a:ext cx="0" cy="1711228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7088" name="TextBox 95"/>
          <p:cNvSpPr txBox="1"/>
          <p:nvPr/>
        </p:nvSpPr>
        <p:spPr>
          <a:xfrm>
            <a:off x="7540536" y="7071405"/>
            <a:ext cx="19495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격자 · 연료 계수</a:t>
            </a:r>
          </a:p>
        </p:txBody>
      </p:sp>
      <p:cxnSp>
        <p:nvCxnSpPr>
          <p:cNvPr id="7089" name="Connector 96"/>
          <p:cNvCxnSpPr>
            <a:cxnSpLocks/>
          </p:cNvCxnSpPr>
          <p:nvPr/>
        </p:nvCxnSpPr>
        <p:spPr>
          <a:xfrm flipV="1">
            <a:off x="9996907" y="5828056"/>
            <a:ext cx="0" cy="1711228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7090" name="TextBox 97"/>
          <p:cNvSpPr txBox="1"/>
          <p:nvPr/>
        </p:nvSpPr>
        <p:spPr>
          <a:xfrm>
            <a:off x="10074887" y="7071405"/>
            <a:ext cx="1803288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시설 · 행정경계 · 자원</a:t>
            </a:r>
          </a:p>
        </p:txBody>
      </p:sp>
      <p:cxnSp>
        <p:nvCxnSpPr>
          <p:cNvPr id="7091" name="Connector 98"/>
          <p:cNvCxnSpPr>
            <a:cxnSpLocks/>
          </p:cNvCxnSpPr>
          <p:nvPr/>
        </p:nvCxnSpPr>
        <p:spPr>
          <a:xfrm flipV="1">
            <a:off x="11946407" y="6934940"/>
            <a:ext cx="0" cy="604345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7092" name="TextBox 99"/>
          <p:cNvSpPr txBox="1"/>
          <p:nvPr/>
        </p:nvSpPr>
        <p:spPr>
          <a:xfrm>
            <a:off x="12024387" y="7071405"/>
            <a:ext cx="19495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근거 청크 → 에이전트 2개</a:t>
            </a:r>
          </a:p>
        </p:txBody>
      </p:sp>
      <p:cxnSp>
        <p:nvCxnSpPr>
          <p:cNvPr id="7093" name="Connector 100"/>
          <p:cNvCxnSpPr>
            <a:cxnSpLocks/>
          </p:cNvCxnSpPr>
          <p:nvPr/>
        </p:nvCxnSpPr>
        <p:spPr>
          <a:xfrm>
            <a:off x="13615667" y="6819865"/>
            <a:ext cx="0" cy="719420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7094" name="TextBox 101"/>
          <p:cNvSpPr txBox="1"/>
          <p:nvPr/>
        </p:nvSpPr>
        <p:spPr>
          <a:xfrm>
            <a:off x="13693647" y="7071405"/>
            <a:ext cx="779800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정정 저장</a:t>
            </a:r>
          </a:p>
        </p:txBody>
      </p:sp>
      <p:sp>
        <p:nvSpPr>
          <p:cNvPr id="7095" name="Freeform 102"/>
          <p:cNvSpPr/>
          <p:nvPr/>
        </p:nvSpPr>
        <p:spPr>
          <a:xfrm>
            <a:off x="14919396" y="5365050"/>
            <a:ext cx="370405" cy="2324780"/>
          </a:xfrm>
          <a:custGeom>
            <a:avLst/>
            <a:gdLst/>
            <a:ahLst/>
            <a:cxnLst/>
            <a:rect l="l" t="t" r="r" b="b"/>
            <a:pathLst>
              <a:path w="347472" h="2180844">
                <a:moveTo>
                  <a:pt x="182880" y="0"/>
                </a:moveTo>
                <a:lnTo>
                  <a:pt x="347472" y="0"/>
                </a:lnTo>
                <a:lnTo>
                  <a:pt x="347472" y="2180844"/>
                </a:lnTo>
                <a:lnTo>
                  <a:pt x="0" y="2180844"/>
                </a:lnTo>
              </a:path>
            </a:pathLst>
          </a:custGeom>
          <a:noFill/>
          <a:ln w="12700">
            <a:solidFill>
              <a:srgbClr val="1F2937"/>
            </a:solidFill>
            <a:prstDash val="dash"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96" name="TextBox 103"/>
          <p:cNvSpPr txBox="1"/>
          <p:nvPr/>
        </p:nvSpPr>
        <p:spPr>
          <a:xfrm>
            <a:off x="14587981" y="7071405"/>
            <a:ext cx="643335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이력 기록</a:t>
            </a:r>
          </a:p>
        </p:txBody>
      </p:sp>
      <p:sp>
        <p:nvSpPr>
          <p:cNvPr id="7097" name="TextBox 104"/>
          <p:cNvSpPr txBox="1"/>
          <p:nvPr/>
        </p:nvSpPr>
        <p:spPr>
          <a:xfrm>
            <a:off x="4343354" y="8874151"/>
            <a:ext cx="4873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범례</a:t>
            </a:r>
          </a:p>
        </p:txBody>
      </p:sp>
      <p:cxnSp>
        <p:nvCxnSpPr>
          <p:cNvPr id="7098" name="Connector 105"/>
          <p:cNvCxnSpPr/>
          <p:nvPr/>
        </p:nvCxnSpPr>
        <p:spPr>
          <a:xfrm>
            <a:off x="4879467" y="8971626"/>
            <a:ext cx="487375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7099" name="Oval 106"/>
          <p:cNvSpPr/>
          <p:nvPr/>
        </p:nvSpPr>
        <p:spPr>
          <a:xfrm>
            <a:off x="4976942" y="8874151"/>
            <a:ext cx="194950" cy="19495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8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n</a:t>
            </a:r>
          </a:p>
        </p:txBody>
      </p:sp>
      <p:sp>
        <p:nvSpPr>
          <p:cNvPr id="7100" name="TextBox 107"/>
          <p:cNvSpPr txBox="1"/>
          <p:nvPr/>
        </p:nvSpPr>
        <p:spPr>
          <a:xfrm>
            <a:off x="5444822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요청·응답</a:t>
            </a:r>
          </a:p>
        </p:txBody>
      </p:sp>
      <p:cxnSp>
        <p:nvCxnSpPr>
          <p:cNvPr id="7101" name="Connector 108"/>
          <p:cNvCxnSpPr/>
          <p:nvPr/>
        </p:nvCxnSpPr>
        <p:spPr>
          <a:xfrm>
            <a:off x="6341593" y="8971626"/>
            <a:ext cx="487375" cy="0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7102" name="TextBox 109"/>
          <p:cNvSpPr txBox="1"/>
          <p:nvPr/>
        </p:nvSpPr>
        <p:spPr>
          <a:xfrm>
            <a:off x="6906948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데이터 조회</a:t>
            </a:r>
          </a:p>
        </p:txBody>
      </p:sp>
      <p:cxnSp>
        <p:nvCxnSpPr>
          <p:cNvPr id="7103" name="Connector 110"/>
          <p:cNvCxnSpPr/>
          <p:nvPr/>
        </p:nvCxnSpPr>
        <p:spPr>
          <a:xfrm>
            <a:off x="7852456" y="8971626"/>
            <a:ext cx="487375" cy="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7104" name="TextBox 111"/>
          <p:cNvSpPr txBox="1"/>
          <p:nvPr/>
        </p:nvSpPr>
        <p:spPr>
          <a:xfrm>
            <a:off x="8417811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수집·구축</a:t>
            </a:r>
          </a:p>
        </p:txBody>
      </p:sp>
      <p:sp>
        <p:nvSpPr>
          <p:cNvPr id="7105" name="Rectangle 112"/>
          <p:cNvSpPr/>
          <p:nvPr/>
        </p:nvSpPr>
        <p:spPr>
          <a:xfrm>
            <a:off x="9265844" y="8893646"/>
            <a:ext cx="487375" cy="15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06" name="TextBox 113"/>
          <p:cNvSpPr txBox="1"/>
          <p:nvPr/>
        </p:nvSpPr>
        <p:spPr>
          <a:xfrm>
            <a:off x="9831199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외부 원천</a:t>
            </a:r>
          </a:p>
        </p:txBody>
      </p:sp>
      <p:sp>
        <p:nvSpPr>
          <p:cNvPr id="7107" name="TextBox 114"/>
          <p:cNvSpPr txBox="1"/>
          <p:nvPr/>
        </p:nvSpPr>
        <p:spPr>
          <a:xfrm>
            <a:off x="10679232" y="8874151"/>
            <a:ext cx="1754551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굵은 선 제안서 흐름</a:t>
            </a:r>
          </a:p>
        </p:txBody>
      </p:sp>
      <p:pic>
        <p:nvPicPr>
          <p:cNvPr id="7108" name="Picture 1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85456" y="8757181"/>
            <a:ext cx="428890" cy="428890"/>
          </a:xfrm>
          <a:prstGeom prst="rect">
            <a:avLst/>
          </a:prstGeom>
        </p:spPr>
      </p:pic>
      <p:sp>
        <p:nvSpPr>
          <p:cNvPr id="7109" name="TextBox 116"/>
          <p:cNvSpPr txBox="1"/>
          <p:nvPr/>
        </p:nvSpPr>
        <p:spPr>
          <a:xfrm>
            <a:off x="12677470" y="8874151"/>
            <a:ext cx="1949501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8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WILDFIRE RESPONSE AI</a:t>
            </a:r>
          </a:p>
        </p:txBody>
      </p:sp>
      <p:sp>
        <p:nvSpPr>
          <p:cNvPr id="7110" name="Rectangle 20">
            <a:extLst>
              <a:ext uri="{FF2B5EF4-FFF2-40B4-BE49-F238E27FC236}">
                <a16:creationId xmlns:a16="http://schemas.microsoft.com/office/drawing/2014/main" id="{DCF286CC-37EB-24FE-7005-F0CB3FAC0EE2}"/>
              </a:ext>
            </a:extLst>
          </p:cNvPr>
          <p:cNvSpPr/>
          <p:nvPr/>
        </p:nvSpPr>
        <p:spPr>
          <a:xfrm>
            <a:off x="10248717" y="3009403"/>
            <a:ext cx="1544167" cy="7408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11" name="Rectangle 20">
            <a:extLst>
              <a:ext uri="{FF2B5EF4-FFF2-40B4-BE49-F238E27FC236}">
                <a16:creationId xmlns:a16="http://schemas.microsoft.com/office/drawing/2014/main" id="{4E81619E-0F0F-A5CA-9994-A1C28F9CDC6A}"/>
              </a:ext>
            </a:extLst>
          </p:cNvPr>
          <p:cNvSpPr/>
          <p:nvPr/>
        </p:nvSpPr>
        <p:spPr>
          <a:xfrm>
            <a:off x="11886298" y="3003717"/>
            <a:ext cx="1544167" cy="7408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12" name="Rectangle 20">
            <a:extLst>
              <a:ext uri="{FF2B5EF4-FFF2-40B4-BE49-F238E27FC236}">
                <a16:creationId xmlns:a16="http://schemas.microsoft.com/office/drawing/2014/main" id="{DC64922A-3AE5-FDB9-59E6-DBD13F65A87E}"/>
              </a:ext>
            </a:extLst>
          </p:cNvPr>
          <p:cNvSpPr/>
          <p:nvPr/>
        </p:nvSpPr>
        <p:spPr>
          <a:xfrm>
            <a:off x="13519275" y="3004529"/>
            <a:ext cx="1544167" cy="7408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13" name="TextBox 19"/>
          <p:cNvSpPr txBox="1"/>
          <p:nvPr/>
        </p:nvSpPr>
        <p:spPr>
          <a:xfrm>
            <a:off x="10237345" y="3015631"/>
            <a:ext cx="1559601" cy="740810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확산 </a:t>
            </a:r>
            <a:r>
              <a:rPr lang="ko-KR" altLang="en-US" sz="1150" b="1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폴리곤</a:t>
            </a: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· 위험도</a:t>
            </a:r>
          </a:p>
        </p:txBody>
      </p:sp>
      <p:sp>
        <p:nvSpPr>
          <p:cNvPr id="7114" name="TextBox 21"/>
          <p:cNvSpPr txBox="1"/>
          <p:nvPr/>
        </p:nvSpPr>
        <p:spPr>
          <a:xfrm>
            <a:off x="11886298" y="3009403"/>
            <a:ext cx="1544167" cy="740810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출력 </a:t>
            </a:r>
            <a:r>
              <a:rPr lang="ko-KR" altLang="en-US" sz="1150" b="1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A</a:t>
            </a: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 대응 제안서</a:t>
            </a:r>
          </a:p>
        </p:txBody>
      </p:sp>
      <p:sp>
        <p:nvSpPr>
          <p:cNvPr id="7115" name="TextBox 24"/>
          <p:cNvSpPr txBox="1"/>
          <p:nvPr/>
        </p:nvSpPr>
        <p:spPr>
          <a:xfrm>
            <a:off x="13543644" y="3014548"/>
            <a:ext cx="1519798" cy="740810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출력 </a:t>
            </a:r>
            <a:r>
              <a:rPr lang="ko-KR" altLang="en-US" sz="1150" b="1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B</a:t>
            </a: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 AI 답변</a:t>
            </a:r>
          </a:p>
        </p:txBody>
      </p:sp>
      <p:sp>
        <p:nvSpPr>
          <p:cNvPr id="7116" name="Rectangle AIHub"/>
          <p:cNvSpPr/>
          <p:nvPr/>
        </p:nvSpPr>
        <p:spPr>
          <a:xfrm>
            <a:off x="7725738" y="8186952"/>
            <a:ext cx="1345156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117" name="Picture AIHub" descr="aihub_cr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3718" y="8321792"/>
            <a:ext cx="487375" cy="139714"/>
          </a:xfrm>
          <a:prstGeom prst="rect">
            <a:avLst/>
          </a:prstGeom>
        </p:spPr>
      </p:pic>
      <p:sp>
        <p:nvSpPr>
          <p:cNvPr id="7118" name="TextBox AIHub"/>
          <p:cNvSpPr txBox="1"/>
          <p:nvPr/>
        </p:nvSpPr>
        <p:spPr>
          <a:xfrm>
            <a:off x="8310588" y="8186952"/>
            <a:ext cx="740810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소실 경계</a:t>
            </a:r>
          </a:p>
        </p:txBody>
      </p:sp>
      <p:cxnSp>
        <p:nvCxnSpPr>
          <p:cNvPr id="7119" name="Connector AIHub"/>
          <p:cNvCxnSpPr/>
          <p:nvPr/>
        </p:nvCxnSpPr>
        <p:spPr>
          <a:xfrm flipV="1">
            <a:off x="8398316" y="7953012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7120" name="TextBox AIHub2"/>
          <p:cNvSpPr txBox="1"/>
          <p:nvPr/>
        </p:nvSpPr>
        <p:spPr>
          <a:xfrm>
            <a:off x="8456801" y="7992002"/>
            <a:ext cx="604345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IoU 보정</a:t>
            </a:r>
          </a:p>
        </p:txBody>
      </p:sp>
      <p:pic>
        <p:nvPicPr>
          <p:cNvPr id="7121" name="그림 12">
            <a:extLst>
              <a:ext uri="{FF2B5EF4-FFF2-40B4-BE49-F238E27FC236}">
                <a16:creationId xmlns:a16="http://schemas.microsoft.com/office/drawing/2014/main" id="{8DB222FD-1315-24B2-68EC-C9AFAD908B1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469"/>
          <a:stretch>
            <a:fillRect/>
          </a:stretch>
        </p:blipFill>
        <p:spPr>
          <a:xfrm>
            <a:off x="1847850" y="2197876"/>
            <a:ext cx="15009656" cy="80891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3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84" name="TextBox 5083"/>
          <p:cNvSpPr txBox="1"/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역할별 주요 기능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84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1625600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4" name="액터 칸 1">
            <a:extLst>
              <a:ext uri="{FF2B5EF4-FFF2-40B4-BE49-F238E27FC236}">
                <a16:creationId xmlns:a16="http://schemas.microsoft.com/office/drawing/2014/main" id="{F896148D-D052-54E9-8F35-DFCCFB51FBFA}"/>
              </a:ext>
            </a:extLst>
          </p:cNvPr>
          <p:cNvSpPr/>
          <p:nvPr/>
        </p:nvSpPr>
        <p:spPr>
          <a:xfrm>
            <a:off x="822960" y="2231136"/>
            <a:ext cx="4023360" cy="58155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4" name="액터 칸 2"/>
          <p:cNvSpPr/>
          <p:nvPr/>
        </p:nvSpPr>
        <p:spPr>
          <a:xfrm>
            <a:off x="5029200" y="2231136"/>
            <a:ext cx="4023360" cy="58155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5" name="액터 칸 3"/>
          <p:cNvSpPr/>
          <p:nvPr/>
        </p:nvSpPr>
        <p:spPr>
          <a:xfrm>
            <a:off x="9235440" y="2231136"/>
            <a:ext cx="4023360" cy="58155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6" name="액터 칸 4"/>
          <p:cNvSpPr/>
          <p:nvPr/>
        </p:nvSpPr>
        <p:spPr>
          <a:xfrm>
            <a:off x="13441680" y="2231136"/>
            <a:ext cx="4023360" cy="58155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역할별 주요 기능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816197"/>
            <a:ext cx="1664208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역할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정의와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역할별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주요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 </a:t>
            </a:r>
            <a:r>
              <a:rPr 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사람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액터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4 ·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액터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3</a:t>
            </a:r>
            <a:r>
              <a:rPr 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)</a:t>
            </a:r>
            <a:endParaRPr sz="2600" b="1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024" name="Oval 5023"/>
          <p:cNvSpPr/>
          <p:nvPr/>
        </p:nvSpPr>
        <p:spPr>
          <a:xfrm>
            <a:off x="1851660" y="2390140"/>
            <a:ext cx="1874519" cy="1874519"/>
          </a:xfrm>
          <a:prstGeom prst="ellipse">
            <a:avLst/>
          </a:prstGeom>
          <a:solidFill>
            <a:srgbClr val="FFFFFF"/>
          </a:solidFill>
          <a:ln w="76200">
            <a:solidFill>
              <a:srgbClr val="36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5" name="TextBox 5024"/>
          <p:cNvSpPr txBox="1"/>
          <p:nvPr/>
        </p:nvSpPr>
        <p:spPr>
          <a:xfrm>
            <a:off x="1851660" y="3091338"/>
            <a:ext cx="1874519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  <a:endParaRPr sz="2000" b="1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  <a:p>
            <a:pPr algn="ctr"/>
            <a:r>
              <a:rPr sz="120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조작</a:t>
            </a:r>
            <a:r>
              <a:rPr sz="120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20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권한</a:t>
            </a:r>
            <a:endParaRPr sz="1200" b="0" dirty="0">
              <a:solidFill>
                <a:srgbClr val="6B7080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5026" name="TextBox 5025"/>
          <p:cNvSpPr txBox="1"/>
          <p:nvPr/>
        </p:nvSpPr>
        <p:spPr>
          <a:xfrm>
            <a:off x="822960" y="43708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시장·군수·구청장 (주 액터)</a:t>
            </a:r>
          </a:p>
        </p:txBody>
      </p:sp>
      <p:sp>
        <p:nvSpPr>
          <p:cNvPr id="5027" name="TextBox 5026"/>
          <p:cNvSpPr txBox="1"/>
          <p:nvPr/>
        </p:nvSpPr>
        <p:spPr>
          <a:xfrm>
            <a:off x="822960" y="46634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화면 </a:t>
            </a:r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 상황도 + 대응 제안</a:t>
            </a:r>
          </a:p>
        </p:txBody>
      </p:sp>
      <p:sp>
        <p:nvSpPr>
          <p:cNvPr id="5028" name="Oval 5027"/>
          <p:cNvSpPr/>
          <p:nvPr/>
        </p:nvSpPr>
        <p:spPr>
          <a:xfrm>
            <a:off x="960120" y="5138927"/>
            <a:ext cx="256032" cy="256032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9" name="TextBox 5028"/>
          <p:cNvSpPr txBox="1"/>
          <p:nvPr/>
        </p:nvSpPr>
        <p:spPr>
          <a:xfrm>
            <a:off x="960120" y="513892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030" name="TextBox 5029"/>
          <p:cNvSpPr txBox="1"/>
          <p:nvPr/>
        </p:nvSpPr>
        <p:spPr>
          <a:xfrm>
            <a:off x="1325880" y="5120640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발생·접수 정보·통합 상황도 조회</a:t>
            </a:r>
          </a:p>
        </p:txBody>
      </p:sp>
      <p:sp>
        <p:nvSpPr>
          <p:cNvPr id="5031" name="TextBox 5030"/>
          <p:cNvSpPr txBox="1"/>
          <p:nvPr/>
        </p:nvSpPr>
        <p:spPr>
          <a:xfrm>
            <a:off x="1325880" y="5385816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산불 진행 상태, 확산 범위·시설·진화자원 현황</a:t>
            </a:r>
          </a:p>
        </p:txBody>
      </p:sp>
      <p:sp>
        <p:nvSpPr>
          <p:cNvPr id="5032" name="Oval 5031"/>
          <p:cNvSpPr/>
          <p:nvPr/>
        </p:nvSpPr>
        <p:spPr>
          <a:xfrm>
            <a:off x="960120" y="5705855"/>
            <a:ext cx="256032" cy="256032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3" name="TextBox 5032"/>
          <p:cNvSpPr txBox="1"/>
          <p:nvPr/>
        </p:nvSpPr>
        <p:spPr>
          <a:xfrm>
            <a:off x="960120" y="5705855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</a:p>
        </p:txBody>
      </p:sp>
      <p:sp>
        <p:nvSpPr>
          <p:cNvPr id="5034" name="TextBox 5033"/>
          <p:cNvSpPr txBox="1"/>
          <p:nvPr/>
        </p:nvSpPr>
        <p:spPr>
          <a:xfrm>
            <a:off x="1325880" y="5687568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 실행</a:t>
            </a:r>
          </a:p>
        </p:txBody>
      </p:sp>
      <p:sp>
        <p:nvSpPr>
          <p:cNvPr id="5035" name="TextBox 5034"/>
          <p:cNvSpPr txBox="1"/>
          <p:nvPr/>
        </p:nvSpPr>
        <p:spPr>
          <a:xfrm>
            <a:off x="1325880" y="5952744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1시간 간격 P1~P8 → 위험도 R·제안서 생성</a:t>
            </a:r>
          </a:p>
        </p:txBody>
      </p:sp>
      <p:sp>
        <p:nvSpPr>
          <p:cNvPr id="5036" name="Oval 5035"/>
          <p:cNvSpPr/>
          <p:nvPr/>
        </p:nvSpPr>
        <p:spPr>
          <a:xfrm>
            <a:off x="960120" y="6272783"/>
            <a:ext cx="256032" cy="256032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7" name="TextBox 5036"/>
          <p:cNvSpPr txBox="1"/>
          <p:nvPr/>
        </p:nvSpPr>
        <p:spPr>
          <a:xfrm>
            <a:off x="960120" y="627278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</a:p>
        </p:txBody>
      </p:sp>
      <p:sp>
        <p:nvSpPr>
          <p:cNvPr id="5038" name="TextBox 5037"/>
          <p:cNvSpPr txBox="1"/>
          <p:nvPr/>
        </p:nvSpPr>
        <p:spPr>
          <a:xfrm>
            <a:off x="1325880" y="6254496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대응 제안 검토</a:t>
            </a:r>
          </a:p>
        </p:txBody>
      </p:sp>
      <p:sp>
        <p:nvSpPr>
          <p:cNvPr id="5039" name="TextBox 5038"/>
          <p:cNvSpPr txBox="1"/>
          <p:nvPr/>
        </p:nvSpPr>
        <p:spPr>
          <a:xfrm>
            <a:off x="1325880" y="6519672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진화 S1~S7 · 대피 E1~E7, 근거 [k] 조회</a:t>
            </a:r>
          </a:p>
        </p:txBody>
      </p:sp>
      <p:sp>
        <p:nvSpPr>
          <p:cNvPr id="5040" name="Oval 5039"/>
          <p:cNvSpPr/>
          <p:nvPr/>
        </p:nvSpPr>
        <p:spPr>
          <a:xfrm>
            <a:off x="960120" y="6839711"/>
            <a:ext cx="256032" cy="256032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1" name="TextBox 5040"/>
          <p:cNvSpPr txBox="1"/>
          <p:nvPr/>
        </p:nvSpPr>
        <p:spPr>
          <a:xfrm>
            <a:off x="960120" y="683971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</a:p>
        </p:txBody>
      </p:sp>
      <p:sp>
        <p:nvSpPr>
          <p:cNvPr id="5042" name="TextBox 5041"/>
          <p:cNvSpPr txBox="1"/>
          <p:nvPr/>
        </p:nvSpPr>
        <p:spPr>
          <a:xfrm>
            <a:off x="1325880" y="6821423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질의·상황 정정</a:t>
            </a:r>
          </a:p>
        </p:txBody>
      </p:sp>
      <p:sp>
        <p:nvSpPr>
          <p:cNvPr id="5043" name="TextBox 5042"/>
          <p:cNvSpPr txBox="1"/>
          <p:nvPr/>
        </p:nvSpPr>
        <p:spPr>
          <a:xfrm>
            <a:off x="1325880" y="7086599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정정을 확정하면 제안서 새 버전</a:t>
            </a:r>
          </a:p>
        </p:txBody>
      </p:sp>
      <p:sp>
        <p:nvSpPr>
          <p:cNvPr id="5044" name="Oval 5043"/>
          <p:cNvSpPr/>
          <p:nvPr/>
        </p:nvSpPr>
        <p:spPr>
          <a:xfrm>
            <a:off x="960120" y="7406640"/>
            <a:ext cx="256032" cy="256032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5" name="TextBox 5044"/>
          <p:cNvSpPr txBox="1"/>
          <p:nvPr/>
        </p:nvSpPr>
        <p:spPr>
          <a:xfrm>
            <a:off x="960120" y="740664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</a:p>
        </p:txBody>
      </p:sp>
      <p:sp>
        <p:nvSpPr>
          <p:cNvPr id="5046" name="TextBox 5045"/>
          <p:cNvSpPr txBox="1"/>
          <p:nvPr/>
        </p:nvSpPr>
        <p:spPr>
          <a:xfrm>
            <a:off x="1325880" y="7388352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이력 열람·종료 처리</a:t>
            </a:r>
          </a:p>
        </p:txBody>
      </p:sp>
      <p:sp>
        <p:nvSpPr>
          <p:cNvPr id="5047" name="TextBox 5046"/>
          <p:cNvSpPr txBox="1"/>
          <p:nvPr/>
        </p:nvSpPr>
        <p:spPr>
          <a:xfrm>
            <a:off x="1325880" y="7653527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버전 이력·변경사항·이벤트 로그, 발화 종료</a:t>
            </a:r>
          </a:p>
        </p:txBody>
      </p:sp>
      <p:sp>
        <p:nvSpPr>
          <p:cNvPr id="5048" name="Oval 5047"/>
          <p:cNvSpPr/>
          <p:nvPr/>
        </p:nvSpPr>
        <p:spPr>
          <a:xfrm>
            <a:off x="6085332" y="2377440"/>
            <a:ext cx="1874519" cy="1874519"/>
          </a:xfrm>
          <a:prstGeom prst="ellipse">
            <a:avLst/>
          </a:prstGeom>
          <a:solidFill>
            <a:srgbClr val="FFFFFF"/>
          </a:solidFill>
          <a:ln w="76200">
            <a:solidFill>
              <a:srgbClr val="C06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9" name="TextBox 5048"/>
          <p:cNvSpPr txBox="1"/>
          <p:nvPr/>
        </p:nvSpPr>
        <p:spPr>
          <a:xfrm>
            <a:off x="6085332" y="3091338"/>
            <a:ext cx="1874519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상황</a:t>
            </a:r>
            <a:r>
              <a:rPr sz="2000" b="1" dirty="0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000" b="1" dirty="0" err="1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보고자</a:t>
            </a:r>
            <a:endParaRPr sz="2000" b="1" dirty="0">
              <a:solidFill>
                <a:srgbClr val="C0602A"/>
              </a:solidFill>
              <a:latin typeface="210 OmniGothic 040"/>
              <a:ea typeface="210 OmniGothic 040"/>
              <a:cs typeface="210 OmniGothic 040"/>
            </a:endParaRPr>
          </a:p>
          <a:p>
            <a:pPr algn="ctr"/>
            <a:r>
              <a:rPr sz="120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보고</a:t>
            </a:r>
            <a:r>
              <a:rPr sz="120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20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권한</a:t>
            </a:r>
            <a:endParaRPr sz="1200" b="0" dirty="0">
              <a:solidFill>
                <a:srgbClr val="6B7080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5050" name="TextBox 5049"/>
          <p:cNvSpPr txBox="1"/>
          <p:nvPr/>
        </p:nvSpPr>
        <p:spPr>
          <a:xfrm>
            <a:off x="5056632" y="43708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현장 상황 보고 전담</a:t>
            </a:r>
          </a:p>
        </p:txBody>
      </p:sp>
      <p:sp>
        <p:nvSpPr>
          <p:cNvPr id="5051" name="TextBox 5050"/>
          <p:cNvSpPr txBox="1"/>
          <p:nvPr/>
        </p:nvSpPr>
        <p:spPr>
          <a:xfrm>
            <a:off x="5056632" y="46634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화면 </a:t>
            </a:r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지도 + 상황 입력 판</a:t>
            </a:r>
          </a:p>
        </p:txBody>
      </p:sp>
      <p:sp>
        <p:nvSpPr>
          <p:cNvPr id="5052" name="Oval 5051"/>
          <p:cNvSpPr/>
          <p:nvPr/>
        </p:nvSpPr>
        <p:spPr>
          <a:xfrm>
            <a:off x="5193792" y="5138927"/>
            <a:ext cx="256032" cy="256032"/>
          </a:xfrm>
          <a:prstGeom prst="ellipse">
            <a:avLst/>
          </a:prstGeom>
          <a:solidFill>
            <a:srgbClr val="C06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53" name="TextBox 5052"/>
          <p:cNvSpPr txBox="1"/>
          <p:nvPr/>
        </p:nvSpPr>
        <p:spPr>
          <a:xfrm>
            <a:off x="5193792" y="513892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054" name="TextBox 5053"/>
          <p:cNvSpPr txBox="1"/>
          <p:nvPr/>
        </p:nvSpPr>
        <p:spPr>
          <a:xfrm>
            <a:off x="5559552" y="5120640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최초 보고</a:t>
            </a:r>
          </a:p>
        </p:txBody>
      </p:sp>
      <p:sp>
        <p:nvSpPr>
          <p:cNvPr id="5055" name="TextBox 5054"/>
          <p:cNvSpPr txBox="1"/>
          <p:nvPr/>
        </p:nvSpPr>
        <p:spPr>
          <a:xfrm>
            <a:off x="5559552" y="5385816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발화 위치·일시·신고 내용·신고자 정보·접수 기관</a:t>
            </a:r>
          </a:p>
        </p:txBody>
      </p:sp>
      <p:sp>
        <p:nvSpPr>
          <p:cNvPr id="5056" name="Oval 5055"/>
          <p:cNvSpPr/>
          <p:nvPr/>
        </p:nvSpPr>
        <p:spPr>
          <a:xfrm>
            <a:off x="5193792" y="5705855"/>
            <a:ext cx="256032" cy="256032"/>
          </a:xfrm>
          <a:prstGeom prst="ellipse">
            <a:avLst/>
          </a:prstGeom>
          <a:solidFill>
            <a:srgbClr val="C06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57" name="TextBox 5056"/>
          <p:cNvSpPr txBox="1"/>
          <p:nvPr/>
        </p:nvSpPr>
        <p:spPr>
          <a:xfrm>
            <a:off x="5193792" y="5705855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</a:p>
        </p:txBody>
      </p:sp>
      <p:sp>
        <p:nvSpPr>
          <p:cNvPr id="5058" name="TextBox 5057"/>
          <p:cNvSpPr txBox="1"/>
          <p:nvPr/>
        </p:nvSpPr>
        <p:spPr>
          <a:xfrm>
            <a:off x="5559552" y="5687568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실측 화선 보고</a:t>
            </a:r>
          </a:p>
        </p:txBody>
      </p:sp>
      <p:sp>
        <p:nvSpPr>
          <p:cNvPr id="5059" name="TextBox 5058"/>
          <p:cNvSpPr txBox="1"/>
          <p:nvPr/>
        </p:nvSpPr>
        <p:spPr>
          <a:xfrm>
            <a:off x="5559552" y="5952744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1시간마다 폴리곤, 초기대응에서는 생략 가능</a:t>
            </a:r>
          </a:p>
        </p:txBody>
      </p:sp>
      <p:sp>
        <p:nvSpPr>
          <p:cNvPr id="5060" name="Oval 5059"/>
          <p:cNvSpPr/>
          <p:nvPr/>
        </p:nvSpPr>
        <p:spPr>
          <a:xfrm>
            <a:off x="5193792" y="6272783"/>
            <a:ext cx="256032" cy="256032"/>
          </a:xfrm>
          <a:prstGeom prst="ellipse">
            <a:avLst/>
          </a:prstGeom>
          <a:solidFill>
            <a:srgbClr val="C06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1" name="TextBox 5060"/>
          <p:cNvSpPr txBox="1"/>
          <p:nvPr/>
        </p:nvSpPr>
        <p:spPr>
          <a:xfrm>
            <a:off x="5193792" y="627278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</a:p>
        </p:txBody>
      </p:sp>
      <p:sp>
        <p:nvSpPr>
          <p:cNvPr id="5062" name="TextBox 5061"/>
          <p:cNvSpPr txBox="1"/>
          <p:nvPr/>
        </p:nvSpPr>
        <p:spPr>
          <a:xfrm>
            <a:off x="5559552" y="6254496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발생·접수 정보 조회</a:t>
            </a:r>
          </a:p>
        </p:txBody>
      </p:sp>
      <p:sp>
        <p:nvSpPr>
          <p:cNvPr id="5063" name="TextBox 5062"/>
          <p:cNvSpPr txBox="1"/>
          <p:nvPr/>
        </p:nvSpPr>
        <p:spPr>
          <a:xfrm>
            <a:off x="5559552" y="6519672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보고한 산불의 진행 상태 확인</a:t>
            </a:r>
          </a:p>
        </p:txBody>
      </p:sp>
      <p:sp>
        <p:nvSpPr>
          <p:cNvPr id="5064" name="Oval 5063"/>
          <p:cNvSpPr/>
          <p:nvPr/>
        </p:nvSpPr>
        <p:spPr>
          <a:xfrm>
            <a:off x="10319004" y="2377440"/>
            <a:ext cx="1874519" cy="1874519"/>
          </a:xfrm>
          <a:prstGeom prst="ellipse">
            <a:avLst/>
          </a:prstGeom>
          <a:solidFill>
            <a:srgbClr val="FFFFFF"/>
          </a:solidFill>
          <a:ln w="76200">
            <a:solidFill>
              <a:srgbClr val="5B7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5" name="TextBox 5064"/>
          <p:cNvSpPr txBox="1"/>
          <p:nvPr/>
        </p:nvSpPr>
        <p:spPr>
          <a:xfrm>
            <a:off x="10325354" y="3080829"/>
            <a:ext cx="1874519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5B7FA6"/>
                </a:solidFill>
                <a:latin typeface="210 OmniGothic 040"/>
                <a:ea typeface="210 OmniGothic 040"/>
                <a:cs typeface="210 OmniGothic 040"/>
              </a:rPr>
              <a:t>열람자</a:t>
            </a:r>
          </a:p>
          <a:p>
            <a:pPr algn="ctr"/>
            <a:r>
              <a:rPr lang="ko-KR" altLang="en-US" sz="120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열람 권한</a:t>
            </a:r>
          </a:p>
        </p:txBody>
      </p:sp>
      <p:sp>
        <p:nvSpPr>
          <p:cNvPr id="5066" name="TextBox 5065"/>
          <p:cNvSpPr txBox="1"/>
          <p:nvPr/>
        </p:nvSpPr>
        <p:spPr>
          <a:xfrm>
            <a:off x="9290304" y="43708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유관기관·상급 본부 담당자</a:t>
            </a:r>
          </a:p>
        </p:txBody>
      </p:sp>
      <p:sp>
        <p:nvSpPr>
          <p:cNvPr id="5067" name="TextBox 5066"/>
          <p:cNvSpPr txBox="1"/>
          <p:nvPr/>
        </p:nvSpPr>
        <p:spPr>
          <a:xfrm>
            <a:off x="9290304" y="46634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5B7FA6"/>
                </a:solidFill>
                <a:latin typeface="210 OmniGothic 040"/>
                <a:ea typeface="210 OmniGothic 040"/>
                <a:cs typeface="210 OmniGothic 040"/>
              </a:rPr>
              <a:t>화면 </a:t>
            </a:r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 상황도 (읽기 전용)</a:t>
            </a:r>
          </a:p>
        </p:txBody>
      </p:sp>
      <p:sp>
        <p:nvSpPr>
          <p:cNvPr id="5068" name="Oval 5067"/>
          <p:cNvSpPr/>
          <p:nvPr/>
        </p:nvSpPr>
        <p:spPr>
          <a:xfrm>
            <a:off x="9427464" y="5138927"/>
            <a:ext cx="256032" cy="256032"/>
          </a:xfrm>
          <a:prstGeom prst="ellipse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9" name="TextBox 5068"/>
          <p:cNvSpPr txBox="1"/>
          <p:nvPr/>
        </p:nvSpPr>
        <p:spPr>
          <a:xfrm>
            <a:off x="9427464" y="513892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070" name="TextBox 5069"/>
          <p:cNvSpPr txBox="1"/>
          <p:nvPr/>
        </p:nvSpPr>
        <p:spPr>
          <a:xfrm>
            <a:off x="9793224" y="5120640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발생·접수 정보 조회</a:t>
            </a:r>
          </a:p>
        </p:txBody>
      </p:sp>
      <p:sp>
        <p:nvSpPr>
          <p:cNvPr id="5071" name="TextBox 5070"/>
          <p:cNvSpPr txBox="1"/>
          <p:nvPr/>
        </p:nvSpPr>
        <p:spPr>
          <a:xfrm>
            <a:off x="9793224" y="5385816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발생 장소·신고 내용·신고자·진행 상태</a:t>
            </a:r>
          </a:p>
        </p:txBody>
      </p:sp>
      <p:sp>
        <p:nvSpPr>
          <p:cNvPr id="5072" name="Oval 5071"/>
          <p:cNvSpPr/>
          <p:nvPr/>
        </p:nvSpPr>
        <p:spPr>
          <a:xfrm>
            <a:off x="9427464" y="5705855"/>
            <a:ext cx="256032" cy="256032"/>
          </a:xfrm>
          <a:prstGeom prst="ellipse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3" name="TextBox 5072"/>
          <p:cNvSpPr txBox="1"/>
          <p:nvPr/>
        </p:nvSpPr>
        <p:spPr>
          <a:xfrm>
            <a:off x="9427464" y="5705855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</a:p>
        </p:txBody>
      </p:sp>
      <p:sp>
        <p:nvSpPr>
          <p:cNvPr id="5074" name="TextBox 5073"/>
          <p:cNvSpPr txBox="1"/>
          <p:nvPr/>
        </p:nvSpPr>
        <p:spPr>
          <a:xfrm>
            <a:off x="9793224" y="5687568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 상황도 조회</a:t>
            </a:r>
          </a:p>
        </p:txBody>
      </p:sp>
      <p:sp>
        <p:nvSpPr>
          <p:cNvPr id="5075" name="TextBox 5074"/>
          <p:cNvSpPr txBox="1"/>
          <p:nvPr/>
        </p:nvSpPr>
        <p:spPr>
          <a:xfrm>
            <a:off x="9793224" y="5952744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확산 범위 P1~P8·시설·레이어</a:t>
            </a:r>
          </a:p>
        </p:txBody>
      </p:sp>
      <p:sp>
        <p:nvSpPr>
          <p:cNvPr id="5076" name="Oval 5075"/>
          <p:cNvSpPr/>
          <p:nvPr/>
        </p:nvSpPr>
        <p:spPr>
          <a:xfrm>
            <a:off x="9427464" y="6272783"/>
            <a:ext cx="256032" cy="256032"/>
          </a:xfrm>
          <a:prstGeom prst="ellipse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0" name="Oval 5075"/>
          <p:cNvSpPr/>
          <p:nvPr/>
        </p:nvSpPr>
        <p:spPr>
          <a:xfrm>
            <a:off x="9427464" y="6839711"/>
            <a:ext cx="256032" cy="256032"/>
          </a:xfrm>
          <a:prstGeom prst="ellipse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7" name="TextBox 5076"/>
          <p:cNvSpPr txBox="1"/>
          <p:nvPr/>
        </p:nvSpPr>
        <p:spPr>
          <a:xfrm>
            <a:off x="9427464" y="627278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</a:p>
        </p:txBody>
      </p:sp>
      <p:sp>
        <p:nvSpPr>
          <p:cNvPr id="5101" name="TextBox 5076"/>
          <p:cNvSpPr txBox="1"/>
          <p:nvPr/>
        </p:nvSpPr>
        <p:spPr>
          <a:xfrm>
            <a:off x="9427464" y="683971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</a:p>
        </p:txBody>
      </p:sp>
      <p:sp>
        <p:nvSpPr>
          <p:cNvPr id="5078" name="TextBox 5077"/>
          <p:cNvSpPr txBox="1"/>
          <p:nvPr/>
        </p:nvSpPr>
        <p:spPr>
          <a:xfrm>
            <a:off x="9793224" y="6254496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진화자원 현황</a:t>
            </a:r>
          </a:p>
        </p:txBody>
      </p:sp>
      <p:sp>
        <p:nvSpPr>
          <p:cNvPr id="5102" name="TextBox 5077"/>
          <p:cNvSpPr txBox="1"/>
          <p:nvPr/>
        </p:nvSpPr>
        <p:spPr>
          <a:xfrm>
            <a:off x="9793224" y="6821424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위험도 조회</a:t>
            </a:r>
          </a:p>
        </p:txBody>
      </p:sp>
      <p:sp>
        <p:nvSpPr>
          <p:cNvPr id="5079" name="TextBox 5078"/>
          <p:cNvSpPr txBox="1"/>
          <p:nvPr/>
        </p:nvSpPr>
        <p:spPr>
          <a:xfrm>
            <a:off x="9793224" y="6519672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헬기·인력·차량, 대기·투입·정비 상태 확인</a:t>
            </a:r>
          </a:p>
        </p:txBody>
      </p:sp>
      <p:sp>
        <p:nvSpPr>
          <p:cNvPr id="5103" name="TextBox 5078"/>
          <p:cNvSpPr txBox="1"/>
          <p:nvPr/>
        </p:nvSpPr>
        <p:spPr>
          <a:xfrm>
            <a:off x="9793224" y="7086600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위험도 R·요소별 지표 (읽기 전용)</a:t>
            </a:r>
          </a:p>
        </p:txBody>
      </p:sp>
      <p:sp>
        <p:nvSpPr>
          <p:cNvPr id="5080" name="Oval 5079"/>
          <p:cNvSpPr/>
          <p:nvPr/>
        </p:nvSpPr>
        <p:spPr>
          <a:xfrm>
            <a:off x="14552676" y="2377440"/>
            <a:ext cx="1874519" cy="1874519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A4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1" name="TextBox 5080"/>
          <p:cNvSpPr txBox="1"/>
          <p:nvPr/>
        </p:nvSpPr>
        <p:spPr>
          <a:xfrm>
            <a:off x="14552676" y="3091339"/>
            <a:ext cx="1874519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4A4F63"/>
                </a:solidFill>
                <a:latin typeface="210 OmniGothic 040"/>
                <a:ea typeface="210 OmniGothic 040"/>
                <a:cs typeface="210 OmniGothic 040"/>
              </a:rPr>
              <a:t>전산</a:t>
            </a:r>
            <a:r>
              <a:rPr sz="2000" b="1" dirty="0">
                <a:solidFill>
                  <a:srgbClr val="4A4F63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000" b="1" dirty="0" err="1">
                <a:solidFill>
                  <a:srgbClr val="4A4F63"/>
                </a:solidFill>
                <a:latin typeface="210 OmniGothic 040"/>
                <a:ea typeface="210 OmniGothic 040"/>
                <a:cs typeface="210 OmniGothic 040"/>
              </a:rPr>
              <a:t>관리자</a:t>
            </a:r>
            <a:endParaRPr sz="2000" b="1" dirty="0">
              <a:solidFill>
                <a:srgbClr val="4A4F63"/>
              </a:solidFill>
              <a:latin typeface="210 OmniGothic 040"/>
              <a:ea typeface="210 OmniGothic 040"/>
              <a:cs typeface="210 OmniGothic 040"/>
            </a:endParaRPr>
          </a:p>
          <a:p>
            <a:pPr algn="ctr"/>
            <a:r>
              <a:rPr sz="120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관리</a:t>
            </a:r>
            <a:r>
              <a:rPr sz="120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20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권한</a:t>
            </a:r>
            <a:endParaRPr sz="1200" b="0" dirty="0">
              <a:solidFill>
                <a:srgbClr val="6B7080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5082" name="TextBox 5081"/>
          <p:cNvSpPr txBox="1"/>
          <p:nvPr/>
        </p:nvSpPr>
        <p:spPr>
          <a:xfrm>
            <a:off x="13523976" y="43708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평시 전산 시스템 관리 (개발자 아님)</a:t>
            </a:r>
          </a:p>
        </p:txBody>
      </p:sp>
      <p:sp>
        <p:nvSpPr>
          <p:cNvPr id="5083" name="TextBox 5082"/>
          <p:cNvSpPr txBox="1"/>
          <p:nvPr/>
        </p:nvSpPr>
        <p:spPr>
          <a:xfrm>
            <a:off x="13523976" y="46634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4A4F63"/>
                </a:solidFill>
                <a:latin typeface="210 OmniGothic 040"/>
                <a:ea typeface="210 OmniGothic 040"/>
                <a:cs typeface="210 OmniGothic 040"/>
              </a:rPr>
              <a:t>화면 </a:t>
            </a:r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관리 화면</a:t>
            </a:r>
          </a:p>
        </p:txBody>
      </p:sp>
      <p:sp>
        <p:nvSpPr>
          <p:cNvPr id="5084" name="Oval 5083"/>
          <p:cNvSpPr/>
          <p:nvPr/>
        </p:nvSpPr>
        <p:spPr>
          <a:xfrm>
            <a:off x="13661136" y="5138927"/>
            <a:ext cx="256032" cy="256032"/>
          </a:xfrm>
          <a:prstGeom prst="ellipse">
            <a:avLst/>
          </a:prstGeom>
          <a:solidFill>
            <a:srgbClr val="4A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5" name="TextBox 5084"/>
          <p:cNvSpPr txBox="1"/>
          <p:nvPr/>
        </p:nvSpPr>
        <p:spPr>
          <a:xfrm>
            <a:off x="13661136" y="513892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086" name="TextBox 5085"/>
          <p:cNvSpPr txBox="1"/>
          <p:nvPr/>
        </p:nvSpPr>
        <p:spPr>
          <a:xfrm>
            <a:off x="14026896" y="5120640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계정·권한 관리</a:t>
            </a:r>
          </a:p>
        </p:txBody>
      </p:sp>
      <p:sp>
        <p:nvSpPr>
          <p:cNvPr id="5087" name="TextBox 5086"/>
          <p:cNvSpPr txBox="1"/>
          <p:nvPr/>
        </p:nvSpPr>
        <p:spPr>
          <a:xfrm>
            <a:off x="14026896" y="5385816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계정 발급·회수, 조작·열람·보고 권한 지정</a:t>
            </a:r>
          </a:p>
        </p:txBody>
      </p:sp>
      <p:sp>
        <p:nvSpPr>
          <p:cNvPr id="5088" name="Oval 5087"/>
          <p:cNvSpPr/>
          <p:nvPr/>
        </p:nvSpPr>
        <p:spPr>
          <a:xfrm>
            <a:off x="13661136" y="5705855"/>
            <a:ext cx="256032" cy="256032"/>
          </a:xfrm>
          <a:prstGeom prst="ellipse">
            <a:avLst/>
          </a:prstGeom>
          <a:solidFill>
            <a:srgbClr val="4A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9" name="TextBox 5088"/>
          <p:cNvSpPr txBox="1"/>
          <p:nvPr/>
        </p:nvSpPr>
        <p:spPr>
          <a:xfrm>
            <a:off x="13661136" y="5705855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</a:p>
        </p:txBody>
      </p:sp>
      <p:sp>
        <p:nvSpPr>
          <p:cNvPr id="5090" name="TextBox 5089"/>
          <p:cNvSpPr txBox="1"/>
          <p:nvPr/>
        </p:nvSpPr>
        <p:spPr>
          <a:xfrm>
            <a:off x="14026896" y="5687568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진화자원 데이터 관리</a:t>
            </a:r>
          </a:p>
        </p:txBody>
      </p:sp>
      <p:sp>
        <p:nvSpPr>
          <p:cNvPr id="5091" name="TextBox 5090"/>
          <p:cNvSpPr txBox="1"/>
          <p:nvPr/>
        </p:nvSpPr>
        <p:spPr>
          <a:xfrm>
            <a:off x="14026896" y="5952744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헬기·차량·인력 등록·수정·삭제</a:t>
            </a:r>
          </a:p>
        </p:txBody>
      </p:sp>
      <p:sp>
        <p:nvSpPr>
          <p:cNvPr id="5092" name="Rounded Rectangle 5091"/>
          <p:cNvSpPr/>
          <p:nvPr/>
        </p:nvSpPr>
        <p:spPr>
          <a:xfrm>
            <a:off x="822960" y="8257031"/>
            <a:ext cx="1554480" cy="457200"/>
          </a:xfrm>
          <a:prstGeom prst="roundRect">
            <a:avLst>
              <a:gd name="adj" fmla="val 6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3" name="TextBox 5092"/>
          <p:cNvSpPr txBox="1"/>
          <p:nvPr/>
        </p:nvSpPr>
        <p:spPr>
          <a:xfrm>
            <a:off x="822960" y="8257031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시스템 액터</a:t>
            </a:r>
          </a:p>
        </p:txBody>
      </p:sp>
      <p:sp>
        <p:nvSpPr>
          <p:cNvPr id="5094" name="Rounded Rectangle 5093"/>
          <p:cNvSpPr/>
          <p:nvPr/>
        </p:nvSpPr>
        <p:spPr>
          <a:xfrm>
            <a:off x="2606040" y="8211312"/>
            <a:ext cx="4831080" cy="54864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5" name="TextBox 5094"/>
          <p:cNvSpPr txBox="1"/>
          <p:nvPr/>
        </p:nvSpPr>
        <p:spPr>
          <a:xfrm>
            <a:off x="2788920" y="8211312"/>
            <a:ext cx="4465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확산예측 모듈  </a:t>
            </a: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실측 화선·기상·지형·연료 → 1시간 간격 P1~P8</a:t>
            </a:r>
          </a:p>
        </p:txBody>
      </p:sp>
      <p:sp>
        <p:nvSpPr>
          <p:cNvPr id="5096" name="Rounded Rectangle 5095"/>
          <p:cNvSpPr/>
          <p:nvPr/>
        </p:nvSpPr>
        <p:spPr>
          <a:xfrm>
            <a:off x="7620000" y="8211312"/>
            <a:ext cx="4831080" cy="54864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7" name="TextBox 5096"/>
          <p:cNvSpPr txBox="1"/>
          <p:nvPr/>
        </p:nvSpPr>
        <p:spPr>
          <a:xfrm>
            <a:off x="7802880" y="8211312"/>
            <a:ext cx="4465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모델  </a:t>
            </a: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규칙 판정 값은 바꾸지 않고, 근거로 제안·답변 작성·정정 해석</a:t>
            </a:r>
          </a:p>
        </p:txBody>
      </p:sp>
      <p:sp>
        <p:nvSpPr>
          <p:cNvPr id="5098" name="Rounded Rectangle 5097"/>
          <p:cNvSpPr/>
          <p:nvPr/>
        </p:nvSpPr>
        <p:spPr>
          <a:xfrm>
            <a:off x="12633960" y="8211312"/>
            <a:ext cx="4831080" cy="54864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9" name="TextBox 5098"/>
          <p:cNvSpPr txBox="1"/>
          <p:nvPr/>
        </p:nvSpPr>
        <p:spPr>
          <a:xfrm>
            <a:off x="12816840" y="8211312"/>
            <a:ext cx="4465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기상청 API·공공데이터  </a:t>
            </a: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기상, 마을·시설·도로·지형 공간 데이터</a:t>
            </a:r>
          </a:p>
        </p:txBody>
      </p:sp>
    </p:spTree>
    <p:extLst>
      <p:ext uri="{BB962C8B-B14F-4D97-AF65-F5344CB8AC3E}">
        <p14:creationId xmlns:p14="http://schemas.microsoft.com/office/powerpoint/2010/main" val="1172650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3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84" name="TextBox 5083"/>
          <p:cNvSpPr txBox="1"/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요구사항 분석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17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요구사항 분석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요구사항 — 역할별 필요 기능과 요구사항 ID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024" name="Rounded Rectangle 5023"/>
          <p:cNvSpPr/>
          <p:nvPr/>
        </p:nvSpPr>
        <p:spPr>
          <a:xfrm>
            <a:off x="822960" y="2423160"/>
            <a:ext cx="4343400" cy="6537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5" name="TextBox 5024"/>
          <p:cNvSpPr txBox="1"/>
          <p:nvPr/>
        </p:nvSpPr>
        <p:spPr>
          <a:xfrm>
            <a:off x="1005840" y="260604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4</a:t>
            </a:r>
          </a:p>
        </p:txBody>
      </p:sp>
      <p:sp>
        <p:nvSpPr>
          <p:cNvPr id="5026" name="TextBox 5025"/>
          <p:cNvSpPr txBox="1"/>
          <p:nvPr/>
        </p:nvSpPr>
        <p:spPr>
          <a:xfrm>
            <a:off x="1005840" y="32004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역할</a:t>
            </a:r>
          </a:p>
        </p:txBody>
      </p:sp>
      <p:sp>
        <p:nvSpPr>
          <p:cNvPr id="5027" name="TextBox 5026"/>
          <p:cNvSpPr txBox="1"/>
          <p:nvPr/>
        </p:nvSpPr>
        <p:spPr>
          <a:xfrm>
            <a:off x="2377440" y="260604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32</a:t>
            </a:r>
          </a:p>
        </p:txBody>
      </p:sp>
      <p:sp>
        <p:nvSpPr>
          <p:cNvPr id="5028" name="TextBox 5027"/>
          <p:cNvSpPr txBox="1"/>
          <p:nvPr/>
        </p:nvSpPr>
        <p:spPr>
          <a:xfrm>
            <a:off x="2377440" y="32004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기능 요구사항</a:t>
            </a:r>
          </a:p>
        </p:txBody>
      </p:sp>
      <p:sp>
        <p:nvSpPr>
          <p:cNvPr id="5029" name="TextBox 5028"/>
          <p:cNvSpPr txBox="1"/>
          <p:nvPr/>
        </p:nvSpPr>
        <p:spPr>
          <a:xfrm>
            <a:off x="3749039" y="260604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15</a:t>
            </a:r>
          </a:p>
        </p:txBody>
      </p:sp>
      <p:sp>
        <p:nvSpPr>
          <p:cNvPr id="5030" name="TextBox 5029"/>
          <p:cNvSpPr txBox="1"/>
          <p:nvPr/>
        </p:nvSpPr>
        <p:spPr>
          <a:xfrm>
            <a:off x="3749039" y="32004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유스케이스</a:t>
            </a:r>
          </a:p>
        </p:txBody>
      </p:sp>
      <p:sp>
        <p:nvSpPr>
          <p:cNvPr id="5031" name="Rectangle 5030"/>
          <p:cNvSpPr/>
          <p:nvPr/>
        </p:nvSpPr>
        <p:spPr>
          <a:xfrm>
            <a:off x="1097280" y="370332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2" name="TextBox 5031"/>
          <p:cNvSpPr txBox="1"/>
          <p:nvPr/>
        </p:nvSpPr>
        <p:spPr>
          <a:xfrm>
            <a:off x="1097280" y="38404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서비스 핵심 흐름 — 통합지휘권자</a:t>
            </a:r>
          </a:p>
        </p:txBody>
      </p:sp>
      <p:sp>
        <p:nvSpPr>
          <p:cNvPr id="5033" name="Oval 5032"/>
          <p:cNvSpPr/>
          <p:nvPr/>
        </p:nvSpPr>
        <p:spPr>
          <a:xfrm>
            <a:off x="1097280" y="4334256"/>
            <a:ext cx="256032" cy="256032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4" name="TextBox 5033"/>
          <p:cNvSpPr txBox="1"/>
          <p:nvPr/>
        </p:nvSpPr>
        <p:spPr>
          <a:xfrm>
            <a:off x="1097280" y="43342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035" name="TextBox 5034"/>
          <p:cNvSpPr txBox="1"/>
          <p:nvPr/>
        </p:nvSpPr>
        <p:spPr>
          <a:xfrm>
            <a:off x="1463040" y="43434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 실행  </a:t>
            </a:r>
            <a:r>
              <a:rPr sz="1100" b="0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F-09</a:t>
            </a:r>
          </a:p>
        </p:txBody>
      </p:sp>
      <p:sp>
        <p:nvSpPr>
          <p:cNvPr id="5036" name="Oval 5035"/>
          <p:cNvSpPr/>
          <p:nvPr/>
        </p:nvSpPr>
        <p:spPr>
          <a:xfrm>
            <a:off x="1097280" y="4791456"/>
            <a:ext cx="256032" cy="256032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7" name="TextBox 5036"/>
          <p:cNvSpPr txBox="1"/>
          <p:nvPr/>
        </p:nvSpPr>
        <p:spPr>
          <a:xfrm>
            <a:off x="1097280" y="47914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</a:p>
        </p:txBody>
      </p:sp>
      <p:sp>
        <p:nvSpPr>
          <p:cNvPr id="5038" name="TextBox 5037"/>
          <p:cNvSpPr txBox="1"/>
          <p:nvPr/>
        </p:nvSpPr>
        <p:spPr>
          <a:xfrm>
            <a:off x="1463040" y="48006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위험도 확인  </a:t>
            </a:r>
            <a:r>
              <a:rPr sz="1100" b="0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F-10</a:t>
            </a:r>
          </a:p>
        </p:txBody>
      </p:sp>
      <p:sp>
        <p:nvSpPr>
          <p:cNvPr id="5039" name="Oval 5038"/>
          <p:cNvSpPr/>
          <p:nvPr/>
        </p:nvSpPr>
        <p:spPr>
          <a:xfrm>
            <a:off x="1097280" y="5248656"/>
            <a:ext cx="256032" cy="256032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0" name="TextBox 5039"/>
          <p:cNvSpPr txBox="1"/>
          <p:nvPr/>
        </p:nvSpPr>
        <p:spPr>
          <a:xfrm>
            <a:off x="1097280" y="52486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</a:p>
        </p:txBody>
      </p:sp>
      <p:sp>
        <p:nvSpPr>
          <p:cNvPr id="5041" name="TextBox 5040"/>
          <p:cNvSpPr txBox="1"/>
          <p:nvPr/>
        </p:nvSpPr>
        <p:spPr>
          <a:xfrm>
            <a:off x="1463040" y="52578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진화·대피 대응 제안 검토  </a:t>
            </a:r>
            <a:r>
              <a:rPr sz="1100" b="0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F-11·12, F-15~28</a:t>
            </a:r>
          </a:p>
        </p:txBody>
      </p:sp>
      <p:sp>
        <p:nvSpPr>
          <p:cNvPr id="5042" name="Oval 5041"/>
          <p:cNvSpPr/>
          <p:nvPr/>
        </p:nvSpPr>
        <p:spPr>
          <a:xfrm>
            <a:off x="1097280" y="5705856"/>
            <a:ext cx="256032" cy="256032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3" name="TextBox 5042"/>
          <p:cNvSpPr txBox="1"/>
          <p:nvPr/>
        </p:nvSpPr>
        <p:spPr>
          <a:xfrm>
            <a:off x="1097280" y="57058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</a:p>
        </p:txBody>
      </p:sp>
      <p:sp>
        <p:nvSpPr>
          <p:cNvPr id="5044" name="TextBox 5043"/>
          <p:cNvSpPr txBox="1"/>
          <p:nvPr/>
        </p:nvSpPr>
        <p:spPr>
          <a:xfrm>
            <a:off x="1463040" y="57150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조회  </a:t>
            </a:r>
            <a:r>
              <a:rPr sz="1100" b="0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F-13</a:t>
            </a:r>
          </a:p>
        </p:txBody>
      </p:sp>
      <p:sp>
        <p:nvSpPr>
          <p:cNvPr id="5045" name="Oval 5044"/>
          <p:cNvSpPr/>
          <p:nvPr/>
        </p:nvSpPr>
        <p:spPr>
          <a:xfrm>
            <a:off x="1097280" y="6163056"/>
            <a:ext cx="256032" cy="256032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6" name="TextBox 5045"/>
          <p:cNvSpPr txBox="1"/>
          <p:nvPr/>
        </p:nvSpPr>
        <p:spPr>
          <a:xfrm>
            <a:off x="1097280" y="61630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</a:p>
        </p:txBody>
      </p:sp>
      <p:sp>
        <p:nvSpPr>
          <p:cNvPr id="5047" name="TextBox 5046"/>
          <p:cNvSpPr txBox="1"/>
          <p:nvPr/>
        </p:nvSpPr>
        <p:spPr>
          <a:xfrm>
            <a:off x="1463040" y="61722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질의응답 · 상황 정정  </a:t>
            </a:r>
            <a:r>
              <a:rPr sz="1100" b="0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F-29·30</a:t>
            </a:r>
          </a:p>
        </p:txBody>
      </p:sp>
      <p:sp>
        <p:nvSpPr>
          <p:cNvPr id="5048" name="Rectangle 5047"/>
          <p:cNvSpPr/>
          <p:nvPr/>
        </p:nvSpPr>
        <p:spPr>
          <a:xfrm>
            <a:off x="1097280" y="672084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9" name="TextBox 5048"/>
          <p:cNvSpPr txBox="1"/>
          <p:nvPr/>
        </p:nvSpPr>
        <p:spPr>
          <a:xfrm>
            <a:off x="1097280" y="68580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역할 사이의 흐름</a:t>
            </a:r>
          </a:p>
        </p:txBody>
      </p:sp>
      <p:sp>
        <p:nvSpPr>
          <p:cNvPr id="5050" name="TextBox 5049"/>
          <p:cNvSpPr txBox="1"/>
          <p:nvPr/>
        </p:nvSpPr>
        <p:spPr>
          <a:xfrm>
            <a:off x="1097280" y="7269480"/>
            <a:ext cx="3840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4A4F63"/>
                </a:solidFill>
                <a:latin typeface="210 OmniGothic 040"/>
                <a:ea typeface="210 OmniGothic 040"/>
                <a:cs typeface="210 OmniGothic 040"/>
              </a:rPr>
              <a:t>평시 </a:t>
            </a: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전산 관리자가 계정·진화자원 준비</a:t>
            </a:r>
          </a:p>
          <a:p>
            <a:pPr algn="l">
              <a:lnSpc>
                <a:spcPct val="135000"/>
              </a:lnSpc>
            </a:pPr>
            <a:r>
              <a:rPr sz="1150" b="1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발생 </a:t>
            </a: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상황 보고자가 발화 정보·실측 화선 보고</a:t>
            </a:r>
          </a:p>
          <a:p>
            <a:pPr algn="l">
              <a:lnSpc>
                <a:spcPct val="135000"/>
              </a:lnSpc>
            </a:pPr>
            <a:r>
              <a:rPr sz="11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대응 </a:t>
            </a: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통합지휘권자가 예측·제안·정정</a:t>
            </a:r>
          </a:p>
          <a:p>
            <a:pPr algn="l">
              <a:lnSpc>
                <a:spcPct val="135000"/>
              </a:lnSpc>
            </a:pPr>
            <a:r>
              <a:rPr sz="1150" b="1">
                <a:solidFill>
                  <a:srgbClr val="5B7FA6"/>
                </a:solidFill>
                <a:latin typeface="210 OmniGothic 040"/>
                <a:ea typeface="210 OmniGothic 040"/>
                <a:cs typeface="210 OmniGothic 040"/>
              </a:rPr>
              <a:t>공유 </a:t>
            </a: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열람자는 같은 상황도를 읽기 전용으로</a:t>
            </a:r>
          </a:p>
        </p:txBody>
      </p:sp>
      <p:graphicFrame>
        <p:nvGraphicFramePr>
          <p:cNvPr id="5051" name="Table 5050"/>
          <p:cNvGraphicFramePr>
            <a:graphicFrameLocks noGrp="1"/>
          </p:cNvGraphicFramePr>
          <p:nvPr/>
        </p:nvGraphicFramePr>
        <p:xfrm>
          <a:off x="5440680" y="2423160"/>
          <a:ext cx="12024360" cy="612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역할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필요 기능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 ID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공통 (4개 역할)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로그인·로그아웃, 권한별 첫 화면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UC-AUTH-01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602A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최초 보고(신고자 정보 포함), 실측 화선 보고 (새 버전·정정)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UC-REPORT-01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보고자·지휘권자·열람자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발생·접수 정보 조회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F-04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지휘권자·열람자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상황도, 레이어, 주요 시설, 가용 현황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F-05 ~ F-08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실행·갱신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F-09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지휘권자·열람자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조회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생성·분류 (진화 S1~S7 · 대피 E1~E7)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F-11, F-12, F-15 ~ F-28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</a:t>
                      </a:r>
                    </a:p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UC-PROP-01·02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근거 조회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F-13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UC-PROP-03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이력·변경사항, 이벤트 로그 열람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F-14, F-32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질의응답, AI 상황 정정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F-29, F-30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UC-QA-01·02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F-03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4A4F63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발급·회수, 권한 지정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4A4F63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 관리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F-31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 추가 전용 기록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052" name="TextBox 5051"/>
          <p:cNvSpPr txBox="1"/>
          <p:nvPr/>
        </p:nvSpPr>
        <p:spPr>
          <a:xfrm>
            <a:off x="5440680" y="8686800"/>
            <a:ext cx="120243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F7C99A"/>
                </a:solidFill>
                <a:latin typeface="210 OmniGothic 040"/>
                <a:ea typeface="210 OmniGothic 040"/>
                <a:cs typeface="210 OmniGothic 040"/>
              </a:rPr>
              <a:t>■ </a:t>
            </a:r>
            <a:r>
              <a:rPr sz="110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주황</a:t>
            </a:r>
            <a:r>
              <a:rPr lang="ko-KR" altLang="en-US" sz="110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색</a:t>
            </a:r>
            <a:r>
              <a:rPr sz="110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행 = </a:t>
            </a:r>
            <a:r>
              <a:rPr sz="110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서비스</a:t>
            </a:r>
            <a:r>
              <a:rPr sz="110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10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핵심</a:t>
            </a:r>
            <a:r>
              <a:rPr sz="110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10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흐름</a:t>
            </a:r>
            <a:r>
              <a:rPr sz="110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(</a:t>
            </a:r>
            <a:r>
              <a:rPr sz="110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왼쪽</a:t>
            </a:r>
            <a:r>
              <a:rPr sz="110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1~5</a:t>
            </a:r>
            <a:r>
              <a:rPr lang="ko-KR" altLang="en-US" sz="110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에 대응</a:t>
            </a:r>
            <a:r>
              <a:rPr sz="110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8256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요구사항 분석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성능 요구사항 ① 확산 예측 성능 지표 및 하한선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901608"/>
              </p:ext>
            </p:extLst>
          </p:nvPr>
        </p:nvGraphicFramePr>
        <p:xfrm>
          <a:off x="822960" y="2395728"/>
          <a:ext cx="16642080" cy="3264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5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  <a:endParaRPr sz="1200" b="1" dirty="0">
                        <a:solidFill>
                          <a:srgbClr val="FFFFFF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지표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의미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하한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설정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하한이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의미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하는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것)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영역 일치도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IoU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범위와 실제로 탄 범위가 겹친 정도. 넓게 잡아도, 좁게 잡아도 깎임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602A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0.582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국립산림과학원이 국내 산불 35건으로 검증한 과정 기반(물리) 모형의 일치도 58.2%. 같은 계열인 본 과제 모형이 이보다 낮으면 기존 물리 모형보다 못함. FARSITE 사례 0.535*~0.616*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적중률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정밀도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예측한 범위 중 실제로 탄 비율. 낮으면 불필요한 대피·진화 자원 분산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602A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0.599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같은</a:t>
                      </a:r>
                      <a:r>
                        <a:rPr sz="11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  <a:r>
                        <a:rPr sz="11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59.9%: </a:t>
                      </a:r>
                      <a:r>
                        <a:rPr sz="110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</a:t>
                      </a:r>
                      <a:r>
                        <a:rPr sz="11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범위의</a:t>
                      </a:r>
                      <a:r>
                        <a:rPr sz="11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약 40%는 </a:t>
                      </a:r>
                      <a:r>
                        <a:rPr sz="110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실제로</a:t>
                      </a:r>
                      <a:r>
                        <a:rPr sz="11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타지</a:t>
                      </a:r>
                      <a:r>
                        <a:rPr sz="11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않은</a:t>
                      </a:r>
                      <a:r>
                        <a:rPr lang="en-US" sz="11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</a:t>
                      </a:r>
                      <a:r>
                        <a:rPr sz="11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과대</a:t>
                      </a:r>
                      <a:r>
                        <a:rPr lang="en-US" sz="11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예측이었다는</a:t>
                      </a:r>
                      <a:r>
                        <a:rPr sz="11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의미</a:t>
                      </a:r>
                      <a:r>
                        <a:rPr sz="11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. FARSITE </a:t>
                      </a:r>
                      <a:r>
                        <a:rPr sz="110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사례</a:t>
                      </a:r>
                      <a:r>
                        <a:rPr sz="11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0.550~0.553*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연소 영역 탐지율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재현율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실제로 탄 범위 중 예측이 잡아낸 비율. 낮으면 놓친 화선으로 인명 위험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602A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0.956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같은 검증 95.6%: 실제로 탄 범위의 4% 남짓만 놓침. 물리 모형은 넓게 예측해 높게 나오므로 적중률과 함께 봄. FARSITE 사례 0.942*~0.998*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종합 점수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F1-Score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적중률과 탐지율을 같은 비중으로 합친 점수. 한쪽만 높으면 낮게 나옴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602A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0.699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같은 검증 69.9%. FARSITE 사례 Sørensen(= F1) 0.69~0.70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탐지 중심 종합 점수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F2-Score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(핵심 지표)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탐지율에 적중률의 4배 비중을 둔 종합 점수. 놓친 범위를 더 크게 감점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602A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0.805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같은 검증 80.5%로, 설명서도 미탐지가 인명 피해로 이어진다는 이유로 핵심 지표로 지정. FARSITE 사례 0.802*~0.826*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28" name="Rounded Rectangle 5527"/>
          <p:cNvSpPr/>
          <p:nvPr/>
        </p:nvSpPr>
        <p:spPr>
          <a:xfrm>
            <a:off x="822960" y="6080760"/>
            <a:ext cx="5364480" cy="2103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9" name="Rectangle 5528"/>
          <p:cNvSpPr/>
          <p:nvPr/>
        </p:nvSpPr>
        <p:spPr>
          <a:xfrm>
            <a:off x="1097280" y="630936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0" name="TextBox 5529"/>
          <p:cNvSpPr txBox="1"/>
          <p:nvPr/>
        </p:nvSpPr>
        <p:spPr>
          <a:xfrm>
            <a:off x="1097280" y="6446520"/>
            <a:ext cx="481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하한 = 국내 물리 모형 검증치</a:t>
            </a:r>
          </a:p>
        </p:txBody>
      </p:sp>
      <p:sp>
        <p:nvSpPr>
          <p:cNvPr id="5531" name="TextBox 5530"/>
          <p:cNvSpPr txBox="1"/>
          <p:nvPr/>
        </p:nvSpPr>
        <p:spPr>
          <a:xfrm>
            <a:off x="1097280" y="6830568"/>
            <a:ext cx="4815840" cy="118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국립산림과학원이 국내 산불 35건(화선 335개)에서 과정 기반(물리) 확산모형을 실제 화선과 비교한 성능. 본 과제도 물리 모형(ELMFIRE)을 보정해 쓰므로 최소한 이 수준은 넘어야 함. 같은 검증의 AI 모형(일치도 67.1%, 탐지 중심 종합 점수 84.0%)은 목표 참고값</a:t>
            </a:r>
          </a:p>
        </p:txBody>
      </p:sp>
      <p:sp>
        <p:nvSpPr>
          <p:cNvPr id="5532" name="Rounded Rectangle 5531"/>
          <p:cNvSpPr/>
          <p:nvPr/>
        </p:nvSpPr>
        <p:spPr>
          <a:xfrm>
            <a:off x="6461760" y="6080760"/>
            <a:ext cx="5364480" cy="2103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3" name="Rectangle 5532"/>
          <p:cNvSpPr/>
          <p:nvPr/>
        </p:nvSpPr>
        <p:spPr>
          <a:xfrm>
            <a:off x="6736080" y="630936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4" name="TextBox 5533"/>
          <p:cNvSpPr txBox="1"/>
          <p:nvPr/>
        </p:nvSpPr>
        <p:spPr>
          <a:xfrm>
            <a:off x="6736080" y="6446520"/>
            <a:ext cx="481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평가 데이터·시점</a:t>
            </a:r>
          </a:p>
        </p:txBody>
      </p:sp>
      <p:sp>
        <p:nvSpPr>
          <p:cNvPr id="5535" name="TextBox 5534"/>
          <p:cNvSpPr txBox="1"/>
          <p:nvPr/>
        </p:nvSpPr>
        <p:spPr>
          <a:xfrm>
            <a:off x="6736080" y="6830568"/>
            <a:ext cx="4815840" cy="118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연료 파라미터는 일치도(IoU)로 보정하고, 성능은 보정에 쓰지 않은 hold-out 산불 사건의 평균으로 판정. 예측 최종 시점 P8(누적 8시간)을 AI Hub 실측 최종 소실 경계와 비교(설명서는 시점별 진화상황도 화선과 비교)</a:t>
            </a:r>
          </a:p>
        </p:txBody>
      </p:sp>
      <p:sp>
        <p:nvSpPr>
          <p:cNvPr id="5536" name="Rounded Rectangle 5535"/>
          <p:cNvSpPr/>
          <p:nvPr/>
        </p:nvSpPr>
        <p:spPr>
          <a:xfrm>
            <a:off x="12100560" y="6080760"/>
            <a:ext cx="5364480" cy="2103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7" name="Rectangle 5536"/>
          <p:cNvSpPr/>
          <p:nvPr/>
        </p:nvSpPr>
        <p:spPr>
          <a:xfrm>
            <a:off x="12374880" y="630936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8" name="TextBox 5537"/>
          <p:cNvSpPr txBox="1"/>
          <p:nvPr/>
        </p:nvSpPr>
        <p:spPr>
          <a:xfrm>
            <a:off x="12374880" y="6446520"/>
            <a:ext cx="481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핵심 지표: 탐지 중심 종합 점수</a:t>
            </a:r>
          </a:p>
        </p:txBody>
      </p:sp>
      <p:sp>
        <p:nvSpPr>
          <p:cNvPr id="5539" name="TextBox 5538"/>
          <p:cNvSpPr txBox="1"/>
          <p:nvPr/>
        </p:nvSpPr>
        <p:spPr>
          <a:xfrm>
            <a:off x="12374880" y="6830568"/>
            <a:ext cx="4815840" cy="118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놓친 화선은 인명 피해로 이어지므로 탐지율에 4배 비중을 둔 F2를 핵심으로 봄. 탐지율은 넓게 예측하면 오르므로 적중률과 함께 판단</a:t>
            </a:r>
          </a:p>
        </p:txBody>
      </p:sp>
      <p:sp>
        <p:nvSpPr>
          <p:cNvPr id="5540" name="TextBox 5539"/>
          <p:cNvSpPr txBox="1"/>
          <p:nvPr/>
        </p:nvSpPr>
        <p:spPr>
          <a:xfrm>
            <a:off x="822960" y="8339327"/>
            <a:ext cx="16642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* </a:t>
            </a:r>
            <a:r>
              <a:rPr sz="9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논문의</a:t>
            </a:r>
            <a:r>
              <a:rPr sz="9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9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일치·과대·과소</a:t>
            </a:r>
            <a:r>
              <a:rPr sz="9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9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면적으로</a:t>
            </a:r>
            <a:r>
              <a:rPr sz="9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9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환산한</a:t>
            </a:r>
            <a:r>
              <a:rPr sz="9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값 </a:t>
            </a:r>
            <a:r>
              <a:rPr lang="en-US" sz="9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/</a:t>
            </a:r>
            <a:r>
              <a:rPr sz="9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</a:t>
            </a:r>
            <a:r>
              <a:rPr sz="9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검증치</a:t>
            </a:r>
            <a:r>
              <a:rPr sz="9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: </a:t>
            </a:r>
            <a:r>
              <a:rPr sz="950" b="1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국립산림과학원</a:t>
            </a:r>
            <a:r>
              <a:rPr sz="950" b="1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(2026) 「AI </a:t>
            </a:r>
            <a:r>
              <a:rPr sz="950" b="1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기반</a:t>
            </a:r>
            <a:r>
              <a:rPr sz="950" b="1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950" b="1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산불확산예측</a:t>
            </a:r>
            <a:r>
              <a:rPr sz="950" b="1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950" b="1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알고리즘</a:t>
            </a:r>
            <a:r>
              <a:rPr sz="950" b="1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950" b="1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설명서</a:t>
            </a:r>
            <a:r>
              <a:rPr sz="950" b="1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」 </a:t>
            </a:r>
            <a:r>
              <a:rPr sz="950" b="1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연구자료</a:t>
            </a:r>
            <a:r>
              <a:rPr sz="950" b="1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제1207호 p.45 표 11 </a:t>
            </a:r>
            <a:r>
              <a:rPr lang="en-US" sz="950" b="1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/</a:t>
            </a:r>
            <a:r>
              <a:rPr sz="9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FARSITE </a:t>
            </a:r>
            <a:r>
              <a:rPr sz="9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사례</a:t>
            </a:r>
            <a:r>
              <a:rPr sz="9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: Price &amp; Germino(2022) Fire Ecology 18:23 표 2 · </a:t>
            </a:r>
            <a:r>
              <a:rPr sz="9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Jahdi</a:t>
            </a:r>
            <a:r>
              <a:rPr sz="9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외(2015) NHESS 15:443 표 4 · Kuhnen 외(2026) Fire 9:311 표 3</a:t>
            </a:r>
          </a:p>
        </p:txBody>
      </p:sp>
    </p:spTree>
    <p:extLst>
      <p:ext uri="{BB962C8B-B14F-4D97-AF65-F5344CB8AC3E}">
        <p14:creationId xmlns:p14="http://schemas.microsoft.com/office/powerpoint/2010/main" val="3262230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요구사항 분석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성능 요구사항 ② 대응 제안 성능 지표 및 하한선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168465"/>
              </p:ext>
            </p:extLst>
          </p:nvPr>
        </p:nvGraphicFramePr>
        <p:xfrm>
          <a:off x="822960" y="2395728"/>
          <a:ext cx="16642080" cy="306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  <a:endParaRPr sz="1200" b="1" dirty="0">
                        <a:solidFill>
                          <a:srgbClr val="FFFFFF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지표 (RAGAS)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의미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하한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설정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하한이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의미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하는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것)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근거 충실도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Faithfulness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(생성)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문장의 주장 중 검색한 매뉴얼 근거로 뒷받침되는 비율. 낮으면 근거 없는 내용(환각)을 덧붙인 것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602A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0.79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재난·공공 분야 RAG 연구 11편 중 하위 25% 수준(중앙값 0.845): 제안 속 주장의 약 80% 이상이 매뉴얼로 뒷받침돼야 함. 예: 자연재해 대응 권고 0.87(Chernysheva 외, 2026)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질의 관련도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Answer Relevancy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(생성)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제안이 항목 질문(지금 무엇을 해야 하나)에 맞게 답한 정도. 질문에서 벗어나거나 여러 항목을 뭉치면 낮음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602A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0.82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10편 중 하위 25% 수준(중앙값 0.85): 제안만 보고 되짚은 질문이 원래 질문과 0.82 이상 비슷해야 함. 예: 자연재해 대응 권고 0.86(Chernysheva 외, 2026)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순위 정밀도@K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Context Precision@K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(검색)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검색한 상위 K개 중 쓸모 있는 근거가 앞 순위에 놓인 정도. 낮으면 엉뚱한 조항이 위에 옴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602A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0.82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7편 중 하위 25% 수준(중앙값 0.87): 쓸모 있는 근거가 대부분 상위에 와야 함. 예: 비상대응계획·법규 0.87(Ma 외, 2026)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필요 근거 확보율@K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Context Recall@K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(검색, K 선택 기준)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정답 제안에 필요한 매뉴얼 근거를 상위 K개 안에 가져온 비율. 낮으면 제안이 근거 부족으로 비거나 틀림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602A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0.80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6편 중 하위 25% 수준(중앙값 0.90): 필요한 근거의 80% 이상을 가져와야 하며, 검색 청크 수 K를 고르는 문턱 조건. 예: 자연재해 대응 권고 0.91(Chernysheva 외, 2026)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28" name="Rounded Rectangle 5527"/>
          <p:cNvSpPr/>
          <p:nvPr/>
        </p:nvSpPr>
        <p:spPr>
          <a:xfrm>
            <a:off x="822960" y="5989320"/>
            <a:ext cx="395478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9" name="Rectangle 5528"/>
          <p:cNvSpPr/>
          <p:nvPr/>
        </p:nvSpPr>
        <p:spPr>
          <a:xfrm>
            <a:off x="1097280" y="621792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0" name="TextBox 5529"/>
          <p:cNvSpPr txBox="1"/>
          <p:nvPr/>
        </p:nvSpPr>
        <p:spPr>
          <a:xfrm>
            <a:off x="1097280" y="6355080"/>
            <a:ext cx="34061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평가 단위</a:t>
            </a:r>
          </a:p>
        </p:txBody>
      </p:sp>
      <p:sp>
        <p:nvSpPr>
          <p:cNvPr id="5531" name="TextBox 5530"/>
          <p:cNvSpPr txBox="1"/>
          <p:nvPr/>
        </p:nvSpPr>
        <p:spPr>
          <a:xfrm>
            <a:off x="1097280" y="6739128"/>
            <a:ext cx="34061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시나리오 시점 × 진화 S1~S7·대피 E1~E7 항목 1건 = 항목 질문 + 상위 K 청크 + 제안 문장 + 정답 답변</a:t>
            </a:r>
          </a:p>
        </p:txBody>
      </p:sp>
      <p:sp>
        <p:nvSpPr>
          <p:cNvPr id="5532" name="Rounded Rectangle 5531"/>
          <p:cNvSpPr/>
          <p:nvPr/>
        </p:nvSpPr>
        <p:spPr>
          <a:xfrm>
            <a:off x="5052060" y="5989320"/>
            <a:ext cx="395478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3" name="Rectangle 5532"/>
          <p:cNvSpPr/>
          <p:nvPr/>
        </p:nvSpPr>
        <p:spPr>
          <a:xfrm>
            <a:off x="5326380" y="621792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4" name="TextBox 5533"/>
          <p:cNvSpPr txBox="1"/>
          <p:nvPr/>
        </p:nvSpPr>
        <p:spPr>
          <a:xfrm>
            <a:off x="5326380" y="6355080"/>
            <a:ext cx="34061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하한 = 유사 연구 하위 25%</a:t>
            </a:r>
          </a:p>
        </p:txBody>
      </p:sp>
      <p:sp>
        <p:nvSpPr>
          <p:cNvPr id="5535" name="TextBox 5534"/>
          <p:cNvSpPr txBox="1"/>
          <p:nvPr/>
        </p:nvSpPr>
        <p:spPr>
          <a:xfrm>
            <a:off x="5326380" y="6739128"/>
            <a:ext cx="34061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산불 분야 RAGAS 선례가 없어 가장 가까운 재난·공공 규정·한국어 공공 문서 RAG 연구값을 모음. 단순 벡터 검색·4비트 로컬 모델인 우리 구성을 고려해 논문 최고 구성의 중앙값 대신 하위 25%(넷 중 셋 수준)를 최소 기준으로, 중앙값은 목표로 둠</a:t>
            </a:r>
          </a:p>
        </p:txBody>
      </p:sp>
      <p:sp>
        <p:nvSpPr>
          <p:cNvPr id="5536" name="Rounded Rectangle 5535"/>
          <p:cNvSpPr/>
          <p:nvPr/>
        </p:nvSpPr>
        <p:spPr>
          <a:xfrm>
            <a:off x="9281160" y="5989320"/>
            <a:ext cx="395478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7" name="Rectangle 5536"/>
          <p:cNvSpPr/>
          <p:nvPr/>
        </p:nvSpPr>
        <p:spPr>
          <a:xfrm>
            <a:off x="9555480" y="621792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8" name="TextBox 5537"/>
          <p:cNvSpPr txBox="1"/>
          <p:nvPr/>
        </p:nvSpPr>
        <p:spPr>
          <a:xfrm>
            <a:off x="9555480" y="6355080"/>
            <a:ext cx="34061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K 선택</a:t>
            </a:r>
          </a:p>
        </p:txBody>
      </p:sp>
      <p:sp>
        <p:nvSpPr>
          <p:cNvPr id="5539" name="TextBox 5538"/>
          <p:cNvSpPr txBox="1"/>
          <p:nvPr/>
        </p:nvSpPr>
        <p:spPr>
          <a:xfrm>
            <a:off x="9555480" y="6739128"/>
            <a:ext cx="34061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개발용 시나리오에서 K = 3·5·7·10 비교 → 확보율@K ≥ 0.80인 K 중 (충실도 + 관련도) ÷ 2가 가장 높은 K, 차이 0.01 이내면 작은 K. 하한 판정은 시험용 시나리오 평균</a:t>
            </a:r>
          </a:p>
        </p:txBody>
      </p:sp>
      <p:sp>
        <p:nvSpPr>
          <p:cNvPr id="5540" name="Rounded Rectangle 5539"/>
          <p:cNvSpPr/>
          <p:nvPr/>
        </p:nvSpPr>
        <p:spPr>
          <a:xfrm>
            <a:off x="13510260" y="5989320"/>
            <a:ext cx="395478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1" name="Rectangle 5540"/>
          <p:cNvSpPr/>
          <p:nvPr/>
        </p:nvSpPr>
        <p:spPr>
          <a:xfrm>
            <a:off x="13784580" y="621792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2" name="TextBox 5541"/>
          <p:cNvSpPr txBox="1"/>
          <p:nvPr/>
        </p:nvSpPr>
        <p:spPr>
          <a:xfrm>
            <a:off x="13784580" y="6355080"/>
            <a:ext cx="34061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자동 채점 (LLM-as-a-Judge)</a:t>
            </a:r>
          </a:p>
        </p:txBody>
      </p:sp>
      <p:sp>
        <p:nvSpPr>
          <p:cNvPr id="5543" name="TextBox 5542"/>
          <p:cNvSpPr txBox="1"/>
          <p:nvPr/>
        </p:nvSpPr>
        <p:spPr>
          <a:xfrm>
            <a:off x="13784580" y="6739128"/>
            <a:ext cx="34061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로컬 EXAONE 4.0 32B가 RAGAS v0.4.3 한국어 프롬프트로 채점. 생성 2종은 정답 없이, 검색 2종은 팀이 매뉴얼 쪽수로 미리 쓴 정답 답변을 기준으로 청크·문장마다 판정해, 사람은 정답만 작성하고 채점은 자동. 채점 실패율·95% 신뢰구간 함께 보고</a:t>
            </a:r>
          </a:p>
        </p:txBody>
      </p:sp>
      <p:sp>
        <p:nvSpPr>
          <p:cNvPr id="5544" name="TextBox 5543"/>
          <p:cNvSpPr txBox="1"/>
          <p:nvPr/>
        </p:nvSpPr>
        <p:spPr>
          <a:xfrm>
            <a:off x="822960" y="8430768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근거 부족으로 비운 칸은 4개 지표 평균에서 빼고 건수만 따로 적음 · 참고: Es 외(2024) RAGAS, EACL 2024 System Demonstrations</a:t>
            </a:r>
          </a:p>
        </p:txBody>
      </p:sp>
    </p:spTree>
    <p:extLst>
      <p:ext uri="{BB962C8B-B14F-4D97-AF65-F5344CB8AC3E}">
        <p14:creationId xmlns:p14="http://schemas.microsoft.com/office/powerpoint/2010/main" val="4241379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요구사항 분석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성능 요구사항 ③ 평가 방법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527" name="Rounded Rectangle 5526"/>
          <p:cNvSpPr/>
          <p:nvPr/>
        </p:nvSpPr>
        <p:spPr>
          <a:xfrm>
            <a:off x="822960" y="2651760"/>
            <a:ext cx="53644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8" name="Oval 5527"/>
          <p:cNvSpPr/>
          <p:nvPr/>
        </p:nvSpPr>
        <p:spPr>
          <a:xfrm>
            <a:off x="1143000" y="2944368"/>
            <a:ext cx="502920" cy="502920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9" name="TextBox 5528"/>
          <p:cNvSpPr txBox="1"/>
          <p:nvPr/>
        </p:nvSpPr>
        <p:spPr>
          <a:xfrm>
            <a:off x="1143000" y="29443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530" name="TextBox 5529"/>
          <p:cNvSpPr txBox="1"/>
          <p:nvPr/>
        </p:nvSpPr>
        <p:spPr>
          <a:xfrm>
            <a:off x="1828800" y="3035808"/>
            <a:ext cx="408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평가 데이터 분리</a:t>
            </a:r>
          </a:p>
        </p:txBody>
      </p:sp>
      <p:sp>
        <p:nvSpPr>
          <p:cNvPr id="5531" name="TextBox 5530"/>
          <p:cNvSpPr txBox="1"/>
          <p:nvPr/>
        </p:nvSpPr>
        <p:spPr>
          <a:xfrm>
            <a:off x="1143000" y="3703320"/>
            <a:ext cx="472439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예측은 보정에 쓰지 않은 hold-out 산불 사건, 대응 제안은 K 선택(개발용)에 쓰지 않은 시험용 시나리오로 평가</a:t>
            </a:r>
          </a:p>
        </p:txBody>
      </p:sp>
      <p:sp>
        <p:nvSpPr>
          <p:cNvPr id="5532" name="Rounded Rectangle 5531"/>
          <p:cNvSpPr/>
          <p:nvPr/>
        </p:nvSpPr>
        <p:spPr>
          <a:xfrm>
            <a:off x="6461760" y="2651760"/>
            <a:ext cx="53644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3" name="Oval 5532"/>
          <p:cNvSpPr/>
          <p:nvPr/>
        </p:nvSpPr>
        <p:spPr>
          <a:xfrm>
            <a:off x="6781799" y="2944368"/>
            <a:ext cx="502920" cy="502920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4" name="TextBox 5533"/>
          <p:cNvSpPr txBox="1"/>
          <p:nvPr/>
        </p:nvSpPr>
        <p:spPr>
          <a:xfrm>
            <a:off x="6781799" y="29443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</a:p>
        </p:txBody>
      </p:sp>
      <p:sp>
        <p:nvSpPr>
          <p:cNvPr id="5535" name="TextBox 5534"/>
          <p:cNvSpPr txBox="1"/>
          <p:nvPr/>
        </p:nvSpPr>
        <p:spPr>
          <a:xfrm>
            <a:off x="7467599" y="3035808"/>
            <a:ext cx="408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주요 지표</a:t>
            </a:r>
          </a:p>
        </p:txBody>
      </p:sp>
      <p:sp>
        <p:nvSpPr>
          <p:cNvPr id="5536" name="TextBox 5535"/>
          <p:cNvSpPr txBox="1"/>
          <p:nvPr/>
        </p:nvSpPr>
        <p:spPr>
          <a:xfrm>
            <a:off x="6781799" y="3703320"/>
            <a:ext cx="472439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 5종(IoU·정밀도·재현율·F1·F2) · 대응 제안 4종(근거 충실도·질의 관련도·근거 순위 정밀도@K·필요 근거 확보율@K)</a:t>
            </a:r>
          </a:p>
        </p:txBody>
      </p:sp>
      <p:sp>
        <p:nvSpPr>
          <p:cNvPr id="5537" name="Rounded Rectangle 5536"/>
          <p:cNvSpPr/>
          <p:nvPr/>
        </p:nvSpPr>
        <p:spPr>
          <a:xfrm>
            <a:off x="12100560" y="2651760"/>
            <a:ext cx="53644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8" name="Oval 5537"/>
          <p:cNvSpPr/>
          <p:nvPr/>
        </p:nvSpPr>
        <p:spPr>
          <a:xfrm>
            <a:off x="12420599" y="2944368"/>
            <a:ext cx="502920" cy="502920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9" name="TextBox 5538"/>
          <p:cNvSpPr txBox="1"/>
          <p:nvPr/>
        </p:nvSpPr>
        <p:spPr>
          <a:xfrm>
            <a:off x="12420599" y="29443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</a:p>
        </p:txBody>
      </p:sp>
      <p:sp>
        <p:nvSpPr>
          <p:cNvPr id="5540" name="TextBox 5539"/>
          <p:cNvSpPr txBox="1"/>
          <p:nvPr/>
        </p:nvSpPr>
        <p:spPr>
          <a:xfrm>
            <a:off x="13106399" y="3035808"/>
            <a:ext cx="408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Ablation 실험</a:t>
            </a:r>
          </a:p>
        </p:txBody>
      </p:sp>
      <p:sp>
        <p:nvSpPr>
          <p:cNvPr id="5541" name="TextBox 5540"/>
          <p:cNvSpPr txBox="1"/>
          <p:nvPr/>
        </p:nvSpPr>
        <p:spPr>
          <a:xfrm>
            <a:off x="12420599" y="3703320"/>
            <a:ext cx="472439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같은 질의·사건에서 RAG 유무를 비교해 근거 검색의 효과 확인</a:t>
            </a:r>
          </a:p>
        </p:txBody>
      </p:sp>
      <p:sp>
        <p:nvSpPr>
          <p:cNvPr id="5542" name="Rounded Rectangle 5541"/>
          <p:cNvSpPr/>
          <p:nvPr/>
        </p:nvSpPr>
        <p:spPr>
          <a:xfrm>
            <a:off x="822960" y="5212080"/>
            <a:ext cx="53644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3" name="Oval 5542"/>
          <p:cNvSpPr/>
          <p:nvPr/>
        </p:nvSpPr>
        <p:spPr>
          <a:xfrm>
            <a:off x="1143000" y="5504688"/>
            <a:ext cx="502920" cy="502920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4" name="TextBox 5543"/>
          <p:cNvSpPr txBox="1"/>
          <p:nvPr/>
        </p:nvSpPr>
        <p:spPr>
          <a:xfrm>
            <a:off x="1143000" y="55046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</a:p>
        </p:txBody>
      </p:sp>
      <p:sp>
        <p:nvSpPr>
          <p:cNvPr id="5545" name="TextBox 5544"/>
          <p:cNvSpPr txBox="1"/>
          <p:nvPr/>
        </p:nvSpPr>
        <p:spPr>
          <a:xfrm>
            <a:off x="1828800" y="5596128"/>
            <a:ext cx="408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로컬 채점</a:t>
            </a:r>
          </a:p>
        </p:txBody>
      </p:sp>
      <p:sp>
        <p:nvSpPr>
          <p:cNvPr id="5546" name="TextBox 5545"/>
          <p:cNvSpPr txBox="1"/>
          <p:nvPr/>
        </p:nvSpPr>
        <p:spPr>
          <a:xfrm>
            <a:off x="1143000" y="6263640"/>
            <a:ext cx="472439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로컬 EXAONE 4.0 32B가 RAGAS 한국어 프롬프트로 자동 채점(LLM-as-a-Judge). 정답 답변 기준과 채점 설정은 104쪽</a:t>
            </a:r>
          </a:p>
        </p:txBody>
      </p:sp>
      <p:sp>
        <p:nvSpPr>
          <p:cNvPr id="5547" name="Rounded Rectangle 5546"/>
          <p:cNvSpPr/>
          <p:nvPr/>
        </p:nvSpPr>
        <p:spPr>
          <a:xfrm>
            <a:off x="6461760" y="5212080"/>
            <a:ext cx="53644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8" name="Oval 5547"/>
          <p:cNvSpPr/>
          <p:nvPr/>
        </p:nvSpPr>
        <p:spPr>
          <a:xfrm>
            <a:off x="6781799" y="5504688"/>
            <a:ext cx="502920" cy="502920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9" name="TextBox 5548"/>
          <p:cNvSpPr txBox="1"/>
          <p:nvPr/>
        </p:nvSpPr>
        <p:spPr>
          <a:xfrm>
            <a:off x="6781799" y="55046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</a:p>
        </p:txBody>
      </p:sp>
      <p:sp>
        <p:nvSpPr>
          <p:cNvPr id="5550" name="TextBox 5549"/>
          <p:cNvSpPr txBox="1"/>
          <p:nvPr/>
        </p:nvSpPr>
        <p:spPr>
          <a:xfrm>
            <a:off x="7467599" y="5596128"/>
            <a:ext cx="408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형식 검증</a:t>
            </a:r>
          </a:p>
        </p:txBody>
      </p:sp>
      <p:sp>
        <p:nvSpPr>
          <p:cNvPr id="5551" name="TextBox 5550"/>
          <p:cNvSpPr txBox="1"/>
          <p:nvPr/>
        </p:nvSpPr>
        <p:spPr>
          <a:xfrm>
            <a:off x="6781799" y="6263640"/>
            <a:ext cx="472439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항목 순서, 근거 번호 ↔ 근거 목록 일치, 권한 표기를 코드 규칙으로 검사</a:t>
            </a:r>
          </a:p>
        </p:txBody>
      </p:sp>
      <p:sp>
        <p:nvSpPr>
          <p:cNvPr id="5552" name="Rounded Rectangle 5551"/>
          <p:cNvSpPr/>
          <p:nvPr/>
        </p:nvSpPr>
        <p:spPr>
          <a:xfrm>
            <a:off x="12100560" y="5212080"/>
            <a:ext cx="53644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3" name="Oval 5552"/>
          <p:cNvSpPr/>
          <p:nvPr/>
        </p:nvSpPr>
        <p:spPr>
          <a:xfrm>
            <a:off x="12420599" y="5504688"/>
            <a:ext cx="502920" cy="502920"/>
          </a:xfrm>
          <a:prstGeom prst="ellipse">
            <a:avLst/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4" name="TextBox 5553"/>
          <p:cNvSpPr txBox="1"/>
          <p:nvPr/>
        </p:nvSpPr>
        <p:spPr>
          <a:xfrm>
            <a:off x="12420599" y="55046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</a:p>
        </p:txBody>
      </p:sp>
      <p:sp>
        <p:nvSpPr>
          <p:cNvPr id="5555" name="TextBox 5554"/>
          <p:cNvSpPr txBox="1"/>
          <p:nvPr/>
        </p:nvSpPr>
        <p:spPr>
          <a:xfrm>
            <a:off x="13106399" y="5596128"/>
            <a:ext cx="408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판정 기준</a:t>
            </a:r>
          </a:p>
        </p:txBody>
      </p:sp>
      <p:sp>
        <p:nvSpPr>
          <p:cNvPr id="5556" name="TextBox 5555"/>
          <p:cNvSpPr txBox="1"/>
          <p:nvPr/>
        </p:nvSpPr>
        <p:spPr>
          <a:xfrm>
            <a:off x="12420599" y="6263640"/>
            <a:ext cx="472439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확산: P8 예측 영역과 실측 최종 소실 경계로 TP·FP·FN을 구해 hold-out 평균을 하한선과 대조(103쪽). 대응 제안: 고른 K에서 시험용 평균이 하한선 이상이면 통과(104쪽)</a:t>
            </a:r>
          </a:p>
        </p:txBody>
      </p:sp>
      <p:sp>
        <p:nvSpPr>
          <p:cNvPr id="5557" name="TextBox 5556"/>
          <p:cNvSpPr txBox="1"/>
          <p:nvPr/>
        </p:nvSpPr>
        <p:spPr>
          <a:xfrm>
            <a:off x="822960" y="80010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출처: 수정 요구사항 분석서 107쪽 「평가 방법」 (본문의 103·104쪽은 분석서 쪽 번호 — 이 보고서의 AI 성능 요구사항 ①·②)</a:t>
            </a:r>
          </a:p>
        </p:txBody>
      </p:sp>
    </p:spTree>
    <p:extLst>
      <p:ext uri="{BB962C8B-B14F-4D97-AF65-F5344CB8AC3E}">
        <p14:creationId xmlns:p14="http://schemas.microsoft.com/office/powerpoint/2010/main" val="3112839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3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84" name="TextBox 5083"/>
          <p:cNvSpPr txBox="1"/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프로토타입 개발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20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프로토타입 개발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개발 방법론 — 애자일 적용과 로드맵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024" name="Rounded Rectangle 5023"/>
          <p:cNvSpPr/>
          <p:nvPr/>
        </p:nvSpPr>
        <p:spPr>
          <a:xfrm>
            <a:off x="822960" y="2432304"/>
            <a:ext cx="9692640" cy="2395728"/>
          </a:xfrm>
          <a:prstGeom prst="roundRect">
            <a:avLst>
              <a:gd name="adj" fmla="val 458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ko-KR"/>
          </a:p>
        </p:txBody>
      </p:sp>
      <p:sp>
        <p:nvSpPr>
          <p:cNvPr id="5025" name="TextBox 5024"/>
          <p:cNvSpPr txBox="1"/>
          <p:nvPr/>
        </p:nvSpPr>
        <p:spPr>
          <a:xfrm>
            <a:off x="1097280" y="2560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방법론 적용 구조</a:t>
            </a:r>
            <a:endParaRPr lang="ko-KR" altLang="en-US" sz="1650"/>
          </a:p>
        </p:txBody>
      </p:sp>
      <p:sp>
        <p:nvSpPr>
          <p:cNvPr id="5026" name="Rounded Rectangle 5025"/>
          <p:cNvSpPr/>
          <p:nvPr/>
        </p:nvSpPr>
        <p:spPr>
          <a:xfrm>
            <a:off x="1097280" y="303580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4A4F63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문서 절차</a:t>
            </a:r>
            <a:endParaRPr lang="ko-KR" altLang="en-US" sz="1250"/>
          </a:p>
        </p:txBody>
      </p:sp>
      <p:sp>
        <p:nvSpPr>
          <p:cNvPr id="5027" name="TextBox 5026"/>
          <p:cNvSpPr txBox="1"/>
          <p:nvPr/>
        </p:nvSpPr>
        <p:spPr>
          <a:xfrm>
            <a:off x="2560320" y="30632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500" b="1" dirty="0">
                <a:solidFill>
                  <a:srgbClr val="4A4F63"/>
                </a:solidFill>
                <a:latin typeface="210 OmniGothic 040"/>
                <a:ea typeface="210 OmniGothic 040"/>
              </a:rPr>
              <a:t>CBD</a:t>
            </a:r>
            <a:endParaRPr lang="ko-KR" altLang="en-US" sz="1500"/>
          </a:p>
        </p:txBody>
      </p:sp>
      <p:sp>
        <p:nvSpPr>
          <p:cNvPr id="5028" name="TextBox 5027"/>
          <p:cNvSpPr txBox="1"/>
          <p:nvPr/>
        </p:nvSpPr>
        <p:spPr>
          <a:xfrm>
            <a:off x="3977640" y="308152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계획 → 요구 분석 → 프로토타입 → 구현 → 검증 (수업 산출물 기준)</a:t>
            </a:r>
            <a:endParaRPr lang="ko-KR" altLang="en-US" sz="1350"/>
          </a:p>
        </p:txBody>
      </p:sp>
      <p:sp>
        <p:nvSpPr>
          <p:cNvPr id="5029" name="Rounded Rectangle 5028"/>
          <p:cNvSpPr/>
          <p:nvPr/>
        </p:nvSpPr>
        <p:spPr>
          <a:xfrm>
            <a:off x="1097280" y="3602736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C0602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운영 방식</a:t>
            </a:r>
            <a:endParaRPr lang="ko-KR" altLang="en-US" sz="1250"/>
          </a:p>
        </p:txBody>
      </p:sp>
      <p:sp>
        <p:nvSpPr>
          <p:cNvPr id="5030" name="TextBox 5029"/>
          <p:cNvSpPr txBox="1"/>
          <p:nvPr/>
        </p:nvSpPr>
        <p:spPr>
          <a:xfrm>
            <a:off x="2560320" y="363016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C0602A"/>
                </a:solidFill>
                <a:latin typeface="210 OmniGothic 040"/>
                <a:ea typeface="210 OmniGothic 040"/>
                <a:cs typeface="210 OmniGothic 040"/>
              </a:rPr>
              <a:t>애자일</a:t>
            </a:r>
            <a:endParaRPr lang="ko-KR" altLang="en-US" sz="1500"/>
          </a:p>
        </p:txBody>
      </p:sp>
      <p:sp>
        <p:nvSpPr>
          <p:cNvPr id="5031" name="TextBox 5030"/>
          <p:cNvSpPr txBox="1"/>
          <p:nvPr/>
        </p:nvSpPr>
        <p:spPr>
          <a:xfrm>
            <a:off x="3977640" y="364845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1주 스프린트 · 제품 백로그 · 주간 회의 · 주간 개발 보고서 = 스프린트 리뷰</a:t>
            </a:r>
            <a:endParaRPr lang="ko-KR" altLang="en-US" sz="1350"/>
          </a:p>
        </p:txBody>
      </p:sp>
      <p:sp>
        <p:nvSpPr>
          <p:cNvPr id="5032" name="Rounded Rectangle 5031"/>
          <p:cNvSpPr/>
          <p:nvPr/>
        </p:nvSpPr>
        <p:spPr>
          <a:xfrm>
            <a:off x="1097280" y="4169664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요구 검증</a:t>
            </a:r>
            <a:endParaRPr lang="ko-KR" altLang="en-US" sz="1250"/>
          </a:p>
        </p:txBody>
      </p:sp>
      <p:sp>
        <p:nvSpPr>
          <p:cNvPr id="5033" name="TextBox 5032"/>
          <p:cNvSpPr txBox="1"/>
          <p:nvPr/>
        </p:nvSpPr>
        <p:spPr>
          <a:xfrm>
            <a:off x="2560320" y="419709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프로토타입</a:t>
            </a:r>
            <a:endParaRPr lang="ko-KR" altLang="en-US" sz="1500"/>
          </a:p>
        </p:txBody>
      </p:sp>
      <p:sp>
        <p:nvSpPr>
          <p:cNvPr id="5034" name="TextBox 5033"/>
          <p:cNvSpPr txBox="1"/>
          <p:nvPr/>
        </p:nvSpPr>
        <p:spPr>
          <a:xfrm>
            <a:off x="3977640" y="421538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만들고 → 보여 주고 → 고치는 반복으로 요구사항을 화면에서 구체화</a:t>
            </a:r>
            <a:endParaRPr lang="ko-KR" altLang="en-US" sz="1350"/>
          </a:p>
        </p:txBody>
      </p:sp>
      <p:sp>
        <p:nvSpPr>
          <p:cNvPr id="5035" name="Rounded Rectangle 5034"/>
          <p:cNvSpPr/>
          <p:nvPr/>
        </p:nvSpPr>
        <p:spPr>
          <a:xfrm>
            <a:off x="10698480" y="2432304"/>
            <a:ext cx="6766560" cy="2395728"/>
          </a:xfrm>
          <a:prstGeom prst="roundRect">
            <a:avLst>
              <a:gd name="adj" fmla="val 4580"/>
            </a:avLst>
          </a:prstGeom>
          <a:solidFill>
            <a:srgbClr val="363A5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6" name="TextBox 5035"/>
          <p:cNvSpPr txBox="1"/>
          <p:nvPr/>
        </p:nvSpPr>
        <p:spPr>
          <a:xfrm>
            <a:off x="10972800" y="25603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왜 애자일인가</a:t>
            </a:r>
            <a:endParaRPr lang="ko-KR" altLang="en-US" sz="1650"/>
          </a:p>
        </p:txBody>
      </p:sp>
      <p:sp>
        <p:nvSpPr>
          <p:cNvPr id="5037" name="TextBox 5036"/>
          <p:cNvSpPr txBox="1"/>
          <p:nvPr/>
        </p:nvSpPr>
        <p:spPr>
          <a:xfrm>
            <a:off x="10972800" y="3017520"/>
            <a:ext cx="6263640" cy="1737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350" b="0" dirty="0">
                <a:solidFill>
                  <a:srgbClr val="E6E9F1"/>
                </a:solidFill>
                <a:latin typeface="210 OmniGothic 030"/>
                <a:ea typeface="210 OmniGothic 030"/>
                <a:cs typeface="210 OmniGothic 030"/>
              </a:rPr>
              <a:t>AI 성능(IoU·RAGAS)은 실험 전 알 수 없음 → 매주 측정하고 하한·파라미터 조정</a:t>
            </a:r>
            <a:endParaRPr lang="ko-KR" altLang="en-US" sz="1350"/>
          </a:p>
          <a:p>
            <a:pPr marL="201168" indent="-201168" algn="l" latinLnBrk="0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350" b="0" dirty="0">
                <a:solidFill>
                  <a:srgbClr val="E6E9F1"/>
                </a:solidFill>
                <a:latin typeface="210 OmniGothic 030"/>
                <a:ea typeface="210 OmniGothic 030"/>
                <a:cs typeface="210 OmniGothic 030"/>
              </a:rPr>
              <a:t>확산·규칙·RAG·대시보드 4개 모듈 병렬 개발 → 주 단위 통합으로 조기 확인</a:t>
            </a:r>
            <a:endParaRPr lang="ko-KR" altLang="en-US" sz="1350"/>
          </a:p>
          <a:p>
            <a:pPr marL="201168" indent="-201168" algn="l" latinLnBrk="0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350" b="0" dirty="0">
                <a:solidFill>
                  <a:srgbClr val="E6E9F1"/>
                </a:solidFill>
                <a:latin typeface="210 OmniGothic 030"/>
                <a:ea typeface="210 OmniGothic 030"/>
                <a:cs typeface="210 OmniGothic 030"/>
              </a:rPr>
              <a:t>교수·산림청·팀 회의 피드백을 다음 스프린트 백로그로 바로 반영</a:t>
            </a:r>
            <a:endParaRPr lang="ko-KR" altLang="en-US" sz="1350"/>
          </a:p>
        </p:txBody>
      </p:sp>
      <p:sp>
        <p:nvSpPr>
          <p:cNvPr id="5038" name="TextBox 5037"/>
          <p:cNvSpPr txBox="1"/>
          <p:nvPr/>
        </p:nvSpPr>
        <p:spPr>
          <a:xfrm>
            <a:off x="822960" y="50109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지금까지의 반복</a:t>
            </a:r>
            <a:r>
              <a:rPr lang="ko-KR" altLang="en-US" sz="16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  프로토타입 단계 · 6회 (9/26 ~ 10/13)</a:t>
            </a:r>
            <a:endParaRPr lang="ko-KR" altLang="en-US" sz="1600"/>
          </a:p>
        </p:txBody>
      </p:sp>
      <p:sp>
        <p:nvSpPr>
          <p:cNvPr id="5039" name="Pentagon 5038"/>
          <p:cNvSpPr/>
          <p:nvPr/>
        </p:nvSpPr>
        <p:spPr>
          <a:xfrm>
            <a:off x="822960" y="5449824"/>
            <a:ext cx="2641092" cy="713232"/>
          </a:xfrm>
          <a:prstGeom prst="homePlate">
            <a:avLst/>
          </a:prstGeom>
          <a:solidFill>
            <a:srgbClr val="FDF1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0" name="TextBox 5039"/>
          <p:cNvSpPr txBox="1"/>
          <p:nvPr/>
        </p:nvSpPr>
        <p:spPr>
          <a:xfrm>
            <a:off x="960120" y="5495544"/>
            <a:ext cx="227533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1차 · 9/26</a:t>
            </a:r>
            <a:endParaRPr lang="ko-KR" altLang="en-US" sz="1200"/>
          </a:p>
        </p:txBody>
      </p:sp>
      <p:sp>
        <p:nvSpPr>
          <p:cNvPr id="5041" name="TextBox 5040"/>
          <p:cNvSpPr txBox="1"/>
          <p:nvPr/>
        </p:nvSpPr>
        <p:spPr>
          <a:xfrm>
            <a:off x="960120" y="5779008"/>
            <a:ext cx="2275332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핵심 기능 화면 초안</a:t>
            </a:r>
            <a:endParaRPr lang="ko-KR" altLang="en-US" sz="1350"/>
          </a:p>
        </p:txBody>
      </p:sp>
      <p:sp>
        <p:nvSpPr>
          <p:cNvPr id="5042" name="Pentagon 5041"/>
          <p:cNvSpPr/>
          <p:nvPr/>
        </p:nvSpPr>
        <p:spPr>
          <a:xfrm>
            <a:off x="3619499" y="5449824"/>
            <a:ext cx="2641092" cy="713232"/>
          </a:xfrm>
          <a:prstGeom prst="homePlate">
            <a:avLst/>
          </a:prstGeom>
          <a:solidFill>
            <a:srgbClr val="FDF1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3" name="TextBox 5042"/>
          <p:cNvSpPr txBox="1"/>
          <p:nvPr/>
        </p:nvSpPr>
        <p:spPr>
          <a:xfrm>
            <a:off x="3756660" y="5495544"/>
            <a:ext cx="227533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2차 · 9/28</a:t>
            </a:r>
            <a:endParaRPr lang="ko-KR" altLang="en-US" sz="1200"/>
          </a:p>
        </p:txBody>
      </p:sp>
      <p:sp>
        <p:nvSpPr>
          <p:cNvPr id="5044" name="TextBox 5043"/>
          <p:cNvSpPr txBox="1"/>
          <p:nvPr/>
        </p:nvSpPr>
        <p:spPr>
          <a:xfrm>
            <a:off x="3756660" y="5779008"/>
            <a:ext cx="2275332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유스케이스 15개·권한 4종</a:t>
            </a:r>
            <a:endParaRPr lang="ko-KR" altLang="en-US" sz="1350"/>
          </a:p>
        </p:txBody>
      </p:sp>
      <p:sp>
        <p:nvSpPr>
          <p:cNvPr id="5045" name="Pentagon 5044"/>
          <p:cNvSpPr/>
          <p:nvPr/>
        </p:nvSpPr>
        <p:spPr>
          <a:xfrm>
            <a:off x="6416040" y="5449824"/>
            <a:ext cx="2641092" cy="713232"/>
          </a:xfrm>
          <a:prstGeom prst="homePlate">
            <a:avLst/>
          </a:prstGeom>
          <a:solidFill>
            <a:srgbClr val="FDF1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6" name="TextBox 5045"/>
          <p:cNvSpPr txBox="1"/>
          <p:nvPr/>
        </p:nvSpPr>
        <p:spPr>
          <a:xfrm>
            <a:off x="6553200" y="5495544"/>
            <a:ext cx="227533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3차 · 10/5</a:t>
            </a:r>
            <a:endParaRPr lang="ko-KR" altLang="en-US" sz="1200"/>
          </a:p>
        </p:txBody>
      </p:sp>
      <p:sp>
        <p:nvSpPr>
          <p:cNvPr id="5047" name="TextBox 5046"/>
          <p:cNvSpPr txBox="1"/>
          <p:nvPr/>
        </p:nvSpPr>
        <p:spPr>
          <a:xfrm>
            <a:off x="6553200" y="5779008"/>
            <a:ext cx="2275332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요구사항분석서와 정합</a:t>
            </a:r>
            <a:endParaRPr lang="ko-KR" altLang="en-US" sz="1350"/>
          </a:p>
        </p:txBody>
      </p:sp>
      <p:sp>
        <p:nvSpPr>
          <p:cNvPr id="5048" name="Pentagon 5047"/>
          <p:cNvSpPr/>
          <p:nvPr/>
        </p:nvSpPr>
        <p:spPr>
          <a:xfrm>
            <a:off x="9212580" y="5449824"/>
            <a:ext cx="2641092" cy="713232"/>
          </a:xfrm>
          <a:prstGeom prst="homePlate">
            <a:avLst/>
          </a:prstGeom>
          <a:solidFill>
            <a:srgbClr val="FDF1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9" name="TextBox 5048"/>
          <p:cNvSpPr txBox="1"/>
          <p:nvPr/>
        </p:nvSpPr>
        <p:spPr>
          <a:xfrm>
            <a:off x="9349740" y="5495544"/>
            <a:ext cx="227533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4차 · 10/8~9</a:t>
            </a:r>
            <a:endParaRPr lang="ko-KR" altLang="en-US" sz="1200"/>
          </a:p>
        </p:txBody>
      </p:sp>
      <p:sp>
        <p:nvSpPr>
          <p:cNvPr id="5050" name="TextBox 5049"/>
          <p:cNvSpPr txBox="1"/>
          <p:nvPr/>
        </p:nvSpPr>
        <p:spPr>
          <a:xfrm>
            <a:off x="9349740" y="5779008"/>
            <a:ext cx="2275332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위험도 재정의·실패 상태</a:t>
            </a:r>
            <a:endParaRPr lang="ko-KR" altLang="en-US" sz="1350"/>
          </a:p>
        </p:txBody>
      </p:sp>
      <p:sp>
        <p:nvSpPr>
          <p:cNvPr id="5051" name="Rounded Rectangle 5050"/>
          <p:cNvSpPr/>
          <p:nvPr/>
        </p:nvSpPr>
        <p:spPr>
          <a:xfrm>
            <a:off x="12009120" y="5449824"/>
            <a:ext cx="2641092" cy="713232"/>
          </a:xfrm>
          <a:prstGeom prst="homePlate">
            <a:avLst/>
          </a:prstGeom>
          <a:solidFill>
            <a:srgbClr val="FDF1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2" name="TextBox 5051"/>
          <p:cNvSpPr txBox="1"/>
          <p:nvPr/>
        </p:nvSpPr>
        <p:spPr>
          <a:xfrm>
            <a:off x="12146280" y="5495544"/>
            <a:ext cx="227533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5차 · 10/11</a:t>
            </a:r>
            <a:endParaRPr lang="ko-KR" altLang="en-US" sz="1200"/>
          </a:p>
        </p:txBody>
      </p:sp>
      <p:sp>
        <p:nvSpPr>
          <p:cNvPr id="5053" name="TextBox 5052"/>
          <p:cNvSpPr txBox="1"/>
          <p:nvPr/>
        </p:nvSpPr>
        <p:spPr>
          <a:xfrm>
            <a:off x="12146280" y="5779008"/>
            <a:ext cx="2275332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팀 회의 정정</a:t>
            </a:r>
            <a:endParaRPr lang="ko-KR" altLang="en-US" sz="1350" dirty="0"/>
          </a:p>
        </p:txBody>
      </p:sp>
      <p:sp>
        <p:nvSpPr>
          <p:cNvPr id="5054" name="TextBox 5053"/>
          <p:cNvSpPr txBox="1"/>
          <p:nvPr/>
        </p:nvSpPr>
        <p:spPr>
          <a:xfrm>
            <a:off x="822960" y="63825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애자일 로드맵</a:t>
            </a:r>
            <a:r>
              <a:rPr lang="ko-KR" altLang="en-US" sz="16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  1주 스프린트 5회(8~12주) · 매주 개발 보고서로 리뷰</a:t>
            </a:r>
            <a:endParaRPr lang="ko-KR" altLang="en-US" sz="1600"/>
          </a:p>
        </p:txBody>
      </p:sp>
      <p:sp>
        <p:nvSpPr>
          <p:cNvPr id="5055" name="Rounded Rectangle 5054"/>
          <p:cNvSpPr/>
          <p:nvPr/>
        </p:nvSpPr>
        <p:spPr>
          <a:xfrm>
            <a:off x="10030968" y="643737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개발 완료 11/20</a:t>
            </a:r>
            <a:endParaRPr lang="ko-KR" altLang="en-US" sz="1150"/>
          </a:p>
        </p:txBody>
      </p:sp>
      <p:sp>
        <p:nvSpPr>
          <p:cNvPr id="5056" name="Rectangle 5055"/>
          <p:cNvSpPr/>
          <p:nvPr/>
        </p:nvSpPr>
        <p:spPr>
          <a:xfrm>
            <a:off x="850392" y="6839712"/>
            <a:ext cx="1609344" cy="457200"/>
          </a:xfrm>
          <a:prstGeom prst="rect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7" name="TextBox 5056"/>
          <p:cNvSpPr txBox="1"/>
          <p:nvPr/>
        </p:nvSpPr>
        <p:spPr>
          <a:xfrm>
            <a:off x="850392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발표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7주</a:t>
            </a:r>
            <a:endParaRPr lang="ko-KR" altLang="en-US" sz="1400"/>
          </a:p>
        </p:txBody>
      </p:sp>
      <p:sp>
        <p:nvSpPr>
          <p:cNvPr id="5058" name="TextBox 5057"/>
          <p:cNvSpPr txBox="1"/>
          <p:nvPr/>
        </p:nvSpPr>
        <p:spPr>
          <a:xfrm>
            <a:off x="896112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10/12 ~</a:t>
            </a:r>
            <a:endParaRPr lang="ko-KR" altLang="en-US" sz="1050"/>
          </a:p>
        </p:txBody>
      </p:sp>
      <p:sp>
        <p:nvSpPr>
          <p:cNvPr id="5059" name="TextBox 5058"/>
          <p:cNvSpPr txBox="1"/>
          <p:nvPr/>
        </p:nvSpPr>
        <p:spPr>
          <a:xfrm>
            <a:off x="896112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프로토타입 발표(10/16)</a:t>
            </a:r>
            <a:endParaRPr lang="ko-KR" altLang="en-US" sz="1150"/>
          </a:p>
        </p:txBody>
      </p:sp>
      <p:sp>
        <p:nvSpPr>
          <p:cNvPr id="5060" name="Rectangle 5059"/>
          <p:cNvSpPr/>
          <p:nvPr/>
        </p:nvSpPr>
        <p:spPr>
          <a:xfrm>
            <a:off x="2514600" y="6839712"/>
            <a:ext cx="1609344" cy="457200"/>
          </a:xfrm>
          <a:prstGeom prst="rect">
            <a:avLst/>
          </a:prstGeom>
          <a:solidFill>
            <a:srgbClr val="6D72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61" name="TextBox 5060"/>
          <p:cNvSpPr txBox="1"/>
          <p:nvPr/>
        </p:nvSpPr>
        <p:spPr>
          <a:xfrm>
            <a:off x="2514600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SP1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8주</a:t>
            </a:r>
            <a:endParaRPr lang="ko-KR" altLang="en-US" sz="1400"/>
          </a:p>
        </p:txBody>
      </p:sp>
      <p:sp>
        <p:nvSpPr>
          <p:cNvPr id="5062" name="TextBox 5061"/>
          <p:cNvSpPr txBox="1"/>
          <p:nvPr/>
        </p:nvSpPr>
        <p:spPr>
          <a:xfrm>
            <a:off x="2560320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10/19 ~</a:t>
            </a:r>
            <a:endParaRPr lang="ko-KR" altLang="en-US" sz="1050"/>
          </a:p>
        </p:txBody>
      </p:sp>
      <p:sp>
        <p:nvSpPr>
          <p:cNvPr id="5063" name="TextBox 5062"/>
          <p:cNvSpPr txBox="1"/>
          <p:nvPr/>
        </p:nvSpPr>
        <p:spPr>
          <a:xfrm>
            <a:off x="2560320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수정 프로토타입(10/22)·격자·DB 스키마·근거 코퍼스</a:t>
            </a:r>
            <a:endParaRPr lang="ko-KR" altLang="en-US" sz="1150"/>
          </a:p>
        </p:txBody>
      </p:sp>
      <p:sp>
        <p:nvSpPr>
          <p:cNvPr id="5064" name="Rectangle 5063"/>
          <p:cNvSpPr/>
          <p:nvPr/>
        </p:nvSpPr>
        <p:spPr>
          <a:xfrm>
            <a:off x="4178808" y="6839712"/>
            <a:ext cx="1609344" cy="457200"/>
          </a:xfrm>
          <a:prstGeom prst="rect">
            <a:avLst/>
          </a:prstGeom>
          <a:solidFill>
            <a:srgbClr val="6D72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65" name="TextBox 5064"/>
          <p:cNvSpPr txBox="1"/>
          <p:nvPr/>
        </p:nvSpPr>
        <p:spPr>
          <a:xfrm>
            <a:off x="4178808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SP2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9주</a:t>
            </a:r>
            <a:endParaRPr lang="ko-KR" altLang="en-US" sz="1400"/>
          </a:p>
        </p:txBody>
      </p:sp>
      <p:sp>
        <p:nvSpPr>
          <p:cNvPr id="5066" name="TextBox 5065"/>
          <p:cNvSpPr txBox="1"/>
          <p:nvPr/>
        </p:nvSpPr>
        <p:spPr>
          <a:xfrm>
            <a:off x="4224528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10/26 ~</a:t>
            </a:r>
            <a:endParaRPr lang="ko-KR" altLang="en-US" sz="1050"/>
          </a:p>
        </p:txBody>
      </p:sp>
      <p:sp>
        <p:nvSpPr>
          <p:cNvPr id="5067" name="TextBox 5066"/>
          <p:cNvSpPr txBox="1"/>
          <p:nvPr/>
        </p:nvSpPr>
        <p:spPr>
          <a:xfrm>
            <a:off x="4224528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ELMFIRE 환경·근거 색인·규칙 엔진</a:t>
            </a:r>
            <a:endParaRPr lang="ko-KR" altLang="en-US" sz="1150"/>
          </a:p>
        </p:txBody>
      </p:sp>
      <p:sp>
        <p:nvSpPr>
          <p:cNvPr id="5068" name="Rectangle 5067"/>
          <p:cNvSpPr/>
          <p:nvPr/>
        </p:nvSpPr>
        <p:spPr>
          <a:xfrm>
            <a:off x="5843016" y="6839712"/>
            <a:ext cx="1609344" cy="457200"/>
          </a:xfrm>
          <a:prstGeom prst="rect">
            <a:avLst/>
          </a:prstGeom>
          <a:solidFill>
            <a:srgbClr val="6D72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69" name="TextBox 5068"/>
          <p:cNvSpPr txBox="1"/>
          <p:nvPr/>
        </p:nvSpPr>
        <p:spPr>
          <a:xfrm>
            <a:off x="5843016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SP3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10주</a:t>
            </a:r>
            <a:endParaRPr lang="ko-KR" altLang="en-US" sz="1400"/>
          </a:p>
        </p:txBody>
      </p:sp>
      <p:sp>
        <p:nvSpPr>
          <p:cNvPr id="5070" name="TextBox 5069"/>
          <p:cNvSpPr txBox="1"/>
          <p:nvPr/>
        </p:nvSpPr>
        <p:spPr>
          <a:xfrm>
            <a:off x="5888736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11/2 ~</a:t>
            </a:r>
            <a:endParaRPr lang="ko-KR" altLang="en-US" sz="1050"/>
          </a:p>
        </p:txBody>
      </p:sp>
      <p:sp>
        <p:nvSpPr>
          <p:cNvPr id="5071" name="TextBox 5070"/>
          <p:cNvSpPr txBox="1"/>
          <p:nvPr/>
        </p:nvSpPr>
        <p:spPr>
          <a:xfrm>
            <a:off x="5888736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위험도 계산·EXAONE 서빙·FastAPI 서버</a:t>
            </a:r>
            <a:endParaRPr lang="ko-KR" altLang="en-US" sz="1150"/>
          </a:p>
        </p:txBody>
      </p:sp>
      <p:sp>
        <p:nvSpPr>
          <p:cNvPr id="5072" name="Rectangle 5071"/>
          <p:cNvSpPr/>
          <p:nvPr/>
        </p:nvSpPr>
        <p:spPr>
          <a:xfrm>
            <a:off x="7507224" y="6839712"/>
            <a:ext cx="1609344" cy="457200"/>
          </a:xfrm>
          <a:prstGeom prst="rect">
            <a:avLst/>
          </a:prstGeom>
          <a:solidFill>
            <a:srgbClr val="6D72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73" name="TextBox 5072"/>
          <p:cNvSpPr txBox="1"/>
          <p:nvPr/>
        </p:nvSpPr>
        <p:spPr>
          <a:xfrm>
            <a:off x="7507224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SP4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11주</a:t>
            </a:r>
            <a:endParaRPr lang="ko-KR" altLang="en-US" sz="1400"/>
          </a:p>
        </p:txBody>
      </p:sp>
      <p:sp>
        <p:nvSpPr>
          <p:cNvPr id="5074" name="TextBox 5073"/>
          <p:cNvSpPr txBox="1"/>
          <p:nvPr/>
        </p:nvSpPr>
        <p:spPr>
          <a:xfrm>
            <a:off x="7552944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11/9 ~</a:t>
            </a:r>
            <a:endParaRPr lang="ko-KR" altLang="en-US" sz="1050"/>
          </a:p>
        </p:txBody>
      </p:sp>
      <p:sp>
        <p:nvSpPr>
          <p:cNvPr id="5075" name="TextBox 5074"/>
          <p:cNvSpPr txBox="1"/>
          <p:nvPr/>
        </p:nvSpPr>
        <p:spPr>
          <a:xfrm>
            <a:off x="7552944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모듈 1차 통합·제안 생성 파이프라인·확산 보정</a:t>
            </a:r>
            <a:endParaRPr lang="ko-KR" altLang="en-US" sz="1150"/>
          </a:p>
        </p:txBody>
      </p:sp>
      <p:sp>
        <p:nvSpPr>
          <p:cNvPr id="5076" name="Rectangle 5075"/>
          <p:cNvSpPr/>
          <p:nvPr/>
        </p:nvSpPr>
        <p:spPr>
          <a:xfrm>
            <a:off x="9171432" y="6839712"/>
            <a:ext cx="1609344" cy="457200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77" name="TextBox 5076"/>
          <p:cNvSpPr txBox="1"/>
          <p:nvPr/>
        </p:nvSpPr>
        <p:spPr>
          <a:xfrm>
            <a:off x="9171432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SP5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12주</a:t>
            </a:r>
            <a:endParaRPr lang="ko-KR" altLang="en-US" sz="1400"/>
          </a:p>
        </p:txBody>
      </p:sp>
      <p:sp>
        <p:nvSpPr>
          <p:cNvPr id="5078" name="TextBox 5077"/>
          <p:cNvSpPr txBox="1"/>
          <p:nvPr/>
        </p:nvSpPr>
        <p:spPr>
          <a:xfrm>
            <a:off x="9217152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11/16 ~</a:t>
            </a:r>
            <a:endParaRPr lang="ko-KR" altLang="en-US" sz="1050"/>
          </a:p>
        </p:txBody>
      </p:sp>
      <p:sp>
        <p:nvSpPr>
          <p:cNvPr id="5079" name="TextBox 5078"/>
          <p:cNvSpPr txBox="1"/>
          <p:nvPr/>
        </p:nvSpPr>
        <p:spPr>
          <a:xfrm>
            <a:off x="9217152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평가·Ablation 실험·최종 통합 → 개발 완료</a:t>
            </a:r>
            <a:endParaRPr lang="ko-KR" altLang="en-US" sz="1150"/>
          </a:p>
        </p:txBody>
      </p:sp>
      <p:sp>
        <p:nvSpPr>
          <p:cNvPr id="5080" name="Rectangle 5079"/>
          <p:cNvSpPr/>
          <p:nvPr/>
        </p:nvSpPr>
        <p:spPr>
          <a:xfrm>
            <a:off x="10835640" y="6839712"/>
            <a:ext cx="1609344" cy="457200"/>
          </a:xfrm>
          <a:prstGeom prst="rect">
            <a:avLst/>
          </a:prstGeom>
          <a:solidFill>
            <a:srgbClr val="C0602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81" name="TextBox 5080"/>
          <p:cNvSpPr txBox="1"/>
          <p:nvPr/>
        </p:nvSpPr>
        <p:spPr>
          <a:xfrm>
            <a:off x="10835640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준비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13주</a:t>
            </a:r>
            <a:endParaRPr lang="ko-KR" altLang="en-US" sz="1400"/>
          </a:p>
        </p:txBody>
      </p:sp>
      <p:sp>
        <p:nvSpPr>
          <p:cNvPr id="5082" name="TextBox 5081"/>
          <p:cNvSpPr txBox="1"/>
          <p:nvPr/>
        </p:nvSpPr>
        <p:spPr>
          <a:xfrm>
            <a:off x="10881360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11/23 ~</a:t>
            </a:r>
            <a:endParaRPr lang="ko-KR" altLang="en-US" sz="1050"/>
          </a:p>
        </p:txBody>
      </p:sp>
      <p:sp>
        <p:nvSpPr>
          <p:cNvPr id="5083" name="TextBox 5082"/>
          <p:cNvSpPr txBox="1"/>
          <p:nvPr/>
        </p:nvSpPr>
        <p:spPr>
          <a:xfrm>
            <a:off x="10881360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경진대회 준비(발표 자료·시연) — 개발 없음</a:t>
            </a:r>
            <a:endParaRPr lang="ko-KR" altLang="en-US" sz="1150"/>
          </a:p>
        </p:txBody>
      </p:sp>
      <p:sp>
        <p:nvSpPr>
          <p:cNvPr id="5084" name="Rectangle 5083"/>
          <p:cNvSpPr/>
          <p:nvPr/>
        </p:nvSpPr>
        <p:spPr>
          <a:xfrm>
            <a:off x="12499848" y="6839712"/>
            <a:ext cx="1609344" cy="457200"/>
          </a:xfrm>
          <a:prstGeom prst="rect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85" name="TextBox 5084"/>
          <p:cNvSpPr txBox="1"/>
          <p:nvPr/>
        </p:nvSpPr>
        <p:spPr>
          <a:xfrm>
            <a:off x="12499848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대회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14주</a:t>
            </a:r>
            <a:endParaRPr lang="ko-KR" altLang="en-US" sz="1400"/>
          </a:p>
        </p:txBody>
      </p:sp>
      <p:sp>
        <p:nvSpPr>
          <p:cNvPr id="5086" name="TextBox 5085"/>
          <p:cNvSpPr txBox="1"/>
          <p:nvPr/>
        </p:nvSpPr>
        <p:spPr>
          <a:xfrm>
            <a:off x="12545568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11/30 ~</a:t>
            </a:r>
            <a:endParaRPr lang="ko-KR" altLang="en-US" sz="1050"/>
          </a:p>
        </p:txBody>
      </p:sp>
      <p:sp>
        <p:nvSpPr>
          <p:cNvPr id="5087" name="TextBox 5086"/>
          <p:cNvSpPr txBox="1"/>
          <p:nvPr/>
        </p:nvSpPr>
        <p:spPr>
          <a:xfrm>
            <a:off x="12545568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창의설계 경진대회(12/4)</a:t>
            </a:r>
            <a:endParaRPr lang="ko-KR" altLang="en-US" sz="1150"/>
          </a:p>
        </p:txBody>
      </p:sp>
      <p:sp>
        <p:nvSpPr>
          <p:cNvPr id="5088" name="Rectangle 5087"/>
          <p:cNvSpPr/>
          <p:nvPr/>
        </p:nvSpPr>
        <p:spPr>
          <a:xfrm>
            <a:off x="14164056" y="6839712"/>
            <a:ext cx="1609344" cy="457200"/>
          </a:xfrm>
          <a:prstGeom prst="rect">
            <a:avLst/>
          </a:prstGeom>
          <a:solidFill>
            <a:srgbClr val="9AA0B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89" name="TextBox 5088"/>
          <p:cNvSpPr txBox="1"/>
          <p:nvPr/>
        </p:nvSpPr>
        <p:spPr>
          <a:xfrm>
            <a:off x="14164056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보완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15주</a:t>
            </a:r>
            <a:endParaRPr lang="ko-KR" altLang="en-US" sz="1400"/>
          </a:p>
        </p:txBody>
      </p:sp>
      <p:sp>
        <p:nvSpPr>
          <p:cNvPr id="5090" name="TextBox 5089"/>
          <p:cNvSpPr txBox="1"/>
          <p:nvPr/>
        </p:nvSpPr>
        <p:spPr>
          <a:xfrm>
            <a:off x="14209776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12/7 ~</a:t>
            </a:r>
            <a:endParaRPr lang="ko-KR" altLang="en-US" sz="1050"/>
          </a:p>
        </p:txBody>
      </p:sp>
      <p:sp>
        <p:nvSpPr>
          <p:cNvPr id="5091" name="TextBox 5090"/>
          <p:cNvSpPr txBox="1"/>
          <p:nvPr/>
        </p:nvSpPr>
        <p:spPr>
          <a:xfrm>
            <a:off x="14209776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문제점 보완·SW 등록(지재권)</a:t>
            </a:r>
            <a:endParaRPr lang="ko-KR" altLang="en-US" sz="1150"/>
          </a:p>
        </p:txBody>
      </p:sp>
      <p:sp>
        <p:nvSpPr>
          <p:cNvPr id="5092" name="Rectangle 5091"/>
          <p:cNvSpPr/>
          <p:nvPr/>
        </p:nvSpPr>
        <p:spPr>
          <a:xfrm>
            <a:off x="15828264" y="6839712"/>
            <a:ext cx="1609344" cy="457200"/>
          </a:xfrm>
          <a:prstGeom prst="rect">
            <a:avLst/>
          </a:prstGeom>
          <a:solidFill>
            <a:srgbClr val="9AA0B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93" name="TextBox 5092"/>
          <p:cNvSpPr txBox="1"/>
          <p:nvPr/>
        </p:nvSpPr>
        <p:spPr>
          <a:xfrm>
            <a:off x="15828264" y="683971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최종</a:t>
            </a:r>
            <a:r>
              <a:rPr lang="ko-KR" altLang="en-US" sz="110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  16주</a:t>
            </a:r>
            <a:endParaRPr lang="ko-KR" altLang="en-US" sz="1400"/>
          </a:p>
        </p:txBody>
      </p:sp>
      <p:sp>
        <p:nvSpPr>
          <p:cNvPr id="5094" name="TextBox 5093"/>
          <p:cNvSpPr txBox="1"/>
          <p:nvPr/>
        </p:nvSpPr>
        <p:spPr>
          <a:xfrm>
            <a:off x="15873984" y="7342632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12/14 ~</a:t>
            </a:r>
            <a:endParaRPr lang="ko-KR" altLang="en-US" sz="1050"/>
          </a:p>
        </p:txBody>
      </p:sp>
      <p:sp>
        <p:nvSpPr>
          <p:cNvPr id="5095" name="TextBox 5094"/>
          <p:cNvSpPr txBox="1"/>
          <p:nvPr/>
        </p:nvSpPr>
        <p:spPr>
          <a:xfrm>
            <a:off x="15873984" y="7589520"/>
            <a:ext cx="1517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최종보고서(12/18)</a:t>
            </a:r>
            <a:endParaRPr lang="ko-KR" altLang="en-US" sz="1150"/>
          </a:p>
        </p:txBody>
      </p:sp>
      <p:cxnSp>
        <p:nvCxnSpPr>
          <p:cNvPr id="5096" name="Connector 5095"/>
          <p:cNvCxnSpPr/>
          <p:nvPr/>
        </p:nvCxnSpPr>
        <p:spPr>
          <a:xfrm>
            <a:off x="10808208" y="6766560"/>
            <a:ext cx="0" cy="1719072"/>
          </a:xfrm>
          <a:prstGeom prst="line">
            <a:avLst/>
          </a:prstGeom>
          <a:ln w="25400">
            <a:solidFill>
              <a:srgbClr val="2E7D4F"/>
            </a:solidFill>
            <a:prstDash val="dash"/>
          </a:ln>
        </p:spPr>
      </p:cxnSp>
      <p:sp>
        <p:nvSpPr>
          <p:cNvPr id="5097" name="Rounded Rectangle 5096"/>
          <p:cNvSpPr/>
          <p:nvPr/>
        </p:nvSpPr>
        <p:spPr>
          <a:xfrm>
            <a:off x="822960" y="8613648"/>
            <a:ext cx="16642080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98" name="TextBox 5097"/>
          <p:cNvSpPr txBox="1"/>
          <p:nvPr/>
        </p:nvSpPr>
        <p:spPr>
          <a:xfrm>
            <a:off x="1051560" y="8613648"/>
            <a:ext cx="1627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스프린트 주기  </a:t>
            </a: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월: 백로그에서 이번 주 목표 선정 → 개발·모듈별 단위 시험 → 금: 주간 개발 보고서·면담(리뷰) → 회고, </a:t>
            </a:r>
            <a:r>
              <a:rPr lang="ko-KR" altLang="en-US" sz="1250" b="0" dirty="0" err="1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백로그</a:t>
            </a: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 갱신</a:t>
            </a:r>
            <a:endParaRPr lang="ko-KR" altLang="en-US" sz="1250" strike="sngStrik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F442C-D559-A8B0-9478-738734464D1C}"/>
              </a:ext>
            </a:extLst>
          </p:cNvPr>
          <p:cNvSpPr txBox="1"/>
          <p:nvPr/>
        </p:nvSpPr>
        <p:spPr>
          <a:xfrm>
            <a:off x="5669280" y="2596896"/>
            <a:ext cx="4663440" cy="3291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lang="ko-KR" altLang="en-US" sz="1100">
                <a:solidFill>
                  <a:srgbClr val="6B7080"/>
                </a:solidFill>
                <a:latin typeface="210 OmniGothic 030"/>
                <a:ea typeface="210 OmniGothic 030"/>
              </a:rPr>
              <a:t>※ CBD (Component Based Development)</a:t>
            </a:r>
          </a:p>
        </p:txBody>
      </p:sp>
      <p:sp>
        <p:nvSpPr>
          <p:cNvPr id="5099" name="Rounded Rectangle 5050"/>
          <p:cNvSpPr/>
          <p:nvPr/>
        </p:nvSpPr>
        <p:spPr>
          <a:xfrm>
            <a:off x="14805660" y="5449824"/>
            <a:ext cx="2641092" cy="713232"/>
          </a:xfrm>
          <a:prstGeom prst="roundRect">
            <a:avLst>
              <a:gd name="adj" fmla="val 12820"/>
            </a:avLst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100" name="TextBox 5051"/>
          <p:cNvSpPr txBox="1"/>
          <p:nvPr/>
        </p:nvSpPr>
        <p:spPr>
          <a:xfrm>
            <a:off x="14942819" y="5495544"/>
            <a:ext cx="227533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6차 · 10/13</a:t>
            </a:r>
            <a:endParaRPr lang="ko-KR" altLang="en-US" sz="1200"/>
          </a:p>
        </p:txBody>
      </p:sp>
      <p:sp>
        <p:nvSpPr>
          <p:cNvPr id="5101" name="TextBox 5052"/>
          <p:cNvSpPr txBox="1"/>
          <p:nvPr/>
        </p:nvSpPr>
        <p:spPr>
          <a:xfrm>
            <a:off x="14942819" y="5779008"/>
            <a:ext cx="2275332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검증 결과 반영·신고자 정보</a:t>
            </a:r>
            <a:endParaRPr lang="ko-KR" altLang="en-US" sz="1350"/>
          </a:p>
        </p:txBody>
      </p:sp>
    </p:spTree>
    <p:extLst>
      <p:ext uri="{BB962C8B-B14F-4D97-AF65-F5344CB8AC3E}">
        <p14:creationId xmlns:p14="http://schemas.microsoft.com/office/powerpoint/2010/main" val="2838665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프로토타입 개발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기술 스택 — 프로토타입과 본 개발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5024" name="Table 50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232297"/>
              </p:ext>
            </p:extLst>
          </p:nvPr>
        </p:nvGraphicFramePr>
        <p:xfrm>
          <a:off x="822960" y="2468880"/>
          <a:ext cx="11430000" cy="6035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  <a:endParaRPr lang="ko-KR" altLang="en-US" sz="14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프로토타입 (현재)</a:t>
                      </a:r>
                      <a:endParaRPr lang="ko-KR" altLang="en-US" sz="14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본 개발 (계획)</a:t>
                      </a:r>
                      <a:endParaRPr lang="ko-KR" altLang="en-US" sz="14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화면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HTML·CSS·JavaScript 정적 웹(빌드 없음)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React + MapLibre GL JS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지도·공간 자료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MapLibre GL JS, Esri 위성영상·OpenFreeMap 라벨, SGIS 경계·OSM 시설·도로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동일 + PostGIS 공간 레이어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서버·API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없음(브라우저 메모리, 정적 호스팅)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FastAPI(Python) REST API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확산 예측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합성 타원 모델(풍향·풍속 기반, 1시간 간격 P1~P8)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ELMFIRE(Docker), 30 m 격자(DEM·임상도)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판정·제안 생성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규칙 판정(JavaScript) + 문장 템플릿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규칙 엔진(Python) + EXAONE 4.0 32B(vLLM)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검색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표준매뉴얼 쪽수별 요약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KURE-v1 임베딩 + FAISS, 조항 단위 청킹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AI 어시스턴트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키워드 대본 답변 · 정규식 정정 해석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EXAONE + RAG 답변 · 정정 해석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데이터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시나리오 파일(2025-03-22 의성 산불)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PostgreSQL + PostGIS, 기상청 단기예보 API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인증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브라우저 세션 저장소 토큰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JWT, 서버 측 잠금·권한 검사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배포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GitHub Pages · 로컬 정적 서버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Docker 컨테이너, GPU 서버(예측·AI 추론)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025" name="Rounded Rectangle 5024"/>
          <p:cNvSpPr/>
          <p:nvPr/>
        </p:nvSpPr>
        <p:spPr>
          <a:xfrm>
            <a:off x="12573000" y="2468880"/>
            <a:ext cx="4892040" cy="6583680"/>
          </a:xfrm>
          <a:prstGeom prst="roundRect">
            <a:avLst>
              <a:gd name="adj" fmla="val 2616"/>
            </a:avLst>
          </a:prstGeom>
          <a:solidFill>
            <a:srgbClr val="363A5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6" name="TextBox 5025"/>
          <p:cNvSpPr txBox="1"/>
          <p:nvPr/>
        </p:nvSpPr>
        <p:spPr>
          <a:xfrm>
            <a:off x="12847320" y="263347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프로토타입 구현 원칙</a:t>
            </a:r>
            <a:endParaRPr lang="ko-KR" altLang="en-US" sz="1800"/>
          </a:p>
        </p:txBody>
      </p:sp>
      <p:sp>
        <p:nvSpPr>
          <p:cNvPr id="5027" name="TextBox 5026"/>
          <p:cNvSpPr txBox="1"/>
          <p:nvPr/>
        </p:nvSpPr>
        <p:spPr>
          <a:xfrm>
            <a:off x="12847320" y="3017520"/>
            <a:ext cx="438912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누구나 같은 화면을 열어 검토할 수 있게</a:t>
            </a:r>
            <a:endParaRPr lang="ko-KR" altLang="en-US" sz="1200"/>
          </a:p>
        </p:txBody>
      </p:sp>
      <p:sp>
        <p:nvSpPr>
          <p:cNvPr id="5028" name="Oval 5027"/>
          <p:cNvSpPr/>
          <p:nvPr/>
        </p:nvSpPr>
        <p:spPr>
          <a:xfrm>
            <a:off x="12847320" y="3520440"/>
            <a:ext cx="310896" cy="310896"/>
          </a:xfrm>
          <a:prstGeom prst="ellipse">
            <a:avLst/>
          </a:prstGeom>
          <a:solidFill>
            <a:srgbClr val="FAA95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9" name="TextBox 5028"/>
          <p:cNvSpPr txBox="1"/>
          <p:nvPr/>
        </p:nvSpPr>
        <p:spPr>
          <a:xfrm>
            <a:off x="13286232" y="3502152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설치 없이 열리는 정적 웹</a:t>
            </a:r>
            <a:endParaRPr lang="ko-KR" altLang="en-US" sz="1550"/>
          </a:p>
        </p:txBody>
      </p:sp>
      <p:sp>
        <p:nvSpPr>
          <p:cNvPr id="5030" name="TextBox 5029"/>
          <p:cNvSpPr txBox="1"/>
          <p:nvPr/>
        </p:nvSpPr>
        <p:spPr>
          <a:xfrm>
            <a:off x="13286232" y="3886200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DE0EA"/>
                </a:solidFill>
                <a:latin typeface="210 OmniGothic 030"/>
                <a:ea typeface="210 OmniGothic 030"/>
                <a:cs typeface="210 OmniGothic 030"/>
              </a:rPr>
              <a:t>빌드·서버 없이 정적 서버나 GitHub Pages 주소로 접속해 팀원 누구나 같은 화면을 검토</a:t>
            </a:r>
            <a:endParaRPr lang="ko-KR" altLang="en-US" sz="1300"/>
          </a:p>
        </p:txBody>
      </p:sp>
      <p:sp>
        <p:nvSpPr>
          <p:cNvPr id="5031" name="Oval 5030"/>
          <p:cNvSpPr/>
          <p:nvPr/>
        </p:nvSpPr>
        <p:spPr>
          <a:xfrm>
            <a:off x="12847320" y="4663440"/>
            <a:ext cx="310896" cy="310896"/>
          </a:xfrm>
          <a:prstGeom prst="ellipse">
            <a:avLst/>
          </a:prstGeom>
          <a:solidFill>
            <a:srgbClr val="FAA95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32" name="TextBox 5031"/>
          <p:cNvSpPr txBox="1"/>
          <p:nvPr/>
        </p:nvSpPr>
        <p:spPr>
          <a:xfrm>
            <a:off x="13286232" y="4645152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실제 동작과 연출 구분</a:t>
            </a:r>
            <a:endParaRPr lang="ko-KR" altLang="en-US" sz="1550"/>
          </a:p>
        </p:txBody>
      </p:sp>
      <p:sp>
        <p:nvSpPr>
          <p:cNvPr id="5033" name="TextBox 5032"/>
          <p:cNvSpPr txBox="1"/>
          <p:nvPr/>
        </p:nvSpPr>
        <p:spPr>
          <a:xfrm>
            <a:off x="13286232" y="5029200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DE0EA"/>
                </a:solidFill>
                <a:latin typeface="210 OmniGothic 030"/>
                <a:ea typeface="210 OmniGothic 030"/>
                <a:cs typeface="210 OmniGothic 030"/>
              </a:rPr>
              <a:t>판정·버전·이력·권한·입력 검사는 실제 계산, 확산 모델·AI 문장은 정해 둔 값으로 연출</a:t>
            </a:r>
            <a:endParaRPr lang="ko-KR" altLang="en-US" sz="1300"/>
          </a:p>
        </p:txBody>
      </p:sp>
      <p:sp>
        <p:nvSpPr>
          <p:cNvPr id="5034" name="Oval 5033"/>
          <p:cNvSpPr/>
          <p:nvPr/>
        </p:nvSpPr>
        <p:spPr>
          <a:xfrm>
            <a:off x="12847320" y="5806440"/>
            <a:ext cx="310896" cy="310896"/>
          </a:xfrm>
          <a:prstGeom prst="ellipse">
            <a:avLst/>
          </a:prstGeom>
          <a:solidFill>
            <a:srgbClr val="FAA95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5" name="TextBox 5034"/>
          <p:cNvSpPr txBox="1"/>
          <p:nvPr/>
        </p:nvSpPr>
        <p:spPr>
          <a:xfrm>
            <a:off x="13286232" y="5788152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실제 지역 자료 사용</a:t>
            </a:r>
            <a:endParaRPr lang="ko-KR" altLang="en-US" sz="1550"/>
          </a:p>
        </p:txBody>
      </p:sp>
      <p:sp>
        <p:nvSpPr>
          <p:cNvPr id="5036" name="TextBox 5035"/>
          <p:cNvSpPr txBox="1"/>
          <p:nvPr/>
        </p:nvSpPr>
        <p:spPr>
          <a:xfrm>
            <a:off x="13286232" y="6172200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DE0EA"/>
                </a:solidFill>
                <a:latin typeface="210 OmniGothic 030"/>
                <a:ea typeface="210 OmniGothic 030"/>
                <a:cs typeface="210 OmniGothic 030"/>
              </a:rPr>
              <a:t>2025-03-22 의성 산불 경과, SGIS 경계·OSM 시설·도로는 실제 자료, 인구·자원 수는 가상값</a:t>
            </a:r>
            <a:endParaRPr lang="ko-KR" altLang="en-US" sz="1300"/>
          </a:p>
        </p:txBody>
      </p:sp>
      <p:sp>
        <p:nvSpPr>
          <p:cNvPr id="5037" name="Oval 5036"/>
          <p:cNvSpPr/>
          <p:nvPr/>
        </p:nvSpPr>
        <p:spPr>
          <a:xfrm>
            <a:off x="12847320" y="6949440"/>
            <a:ext cx="310896" cy="310896"/>
          </a:xfrm>
          <a:prstGeom prst="ellipse">
            <a:avLst/>
          </a:prstGeom>
          <a:solidFill>
            <a:srgbClr val="FAA95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8" name="TextBox 5037"/>
          <p:cNvSpPr txBox="1"/>
          <p:nvPr/>
        </p:nvSpPr>
        <p:spPr>
          <a:xfrm>
            <a:off x="13286232" y="6931152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본 개발과 같은 지도 엔진</a:t>
            </a:r>
            <a:endParaRPr lang="ko-KR" altLang="en-US" sz="1550"/>
          </a:p>
        </p:txBody>
      </p:sp>
      <p:sp>
        <p:nvSpPr>
          <p:cNvPr id="5039" name="TextBox 5038"/>
          <p:cNvSpPr txBox="1"/>
          <p:nvPr/>
        </p:nvSpPr>
        <p:spPr>
          <a:xfrm>
            <a:off x="13286232" y="7315200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DDE0EA"/>
                </a:solidFill>
                <a:latin typeface="210 OmniGothic 030"/>
                <a:ea typeface="210 OmniGothic 030"/>
                <a:cs typeface="210 OmniGothic 030"/>
              </a:rPr>
              <a:t>MapLibre GL JS를 그대로 쓰므로 화면 배치와 레이어 구성을 React 화면으로 옮길 수 있음</a:t>
            </a:r>
            <a:endParaRPr lang="ko-KR" altLang="en-US" sz="1300"/>
          </a:p>
        </p:txBody>
      </p:sp>
      <p:cxnSp>
        <p:nvCxnSpPr>
          <p:cNvPr id="5040" name="Connector 5039"/>
          <p:cNvCxnSpPr/>
          <p:nvPr/>
        </p:nvCxnSpPr>
        <p:spPr>
          <a:xfrm>
            <a:off x="12847320" y="8229600"/>
            <a:ext cx="4343400" cy="0"/>
          </a:xfrm>
          <a:prstGeom prst="line">
            <a:avLst/>
          </a:prstGeom>
          <a:ln w="12700">
            <a:solidFill>
              <a:srgbClr val="6D7290"/>
            </a:solidFill>
          </a:ln>
        </p:spPr>
      </p:cxnSp>
    </p:spTree>
    <p:extLst>
      <p:ext uri="{BB962C8B-B14F-4D97-AF65-F5344CB8AC3E}">
        <p14:creationId xmlns:p14="http://schemas.microsoft.com/office/powerpoint/2010/main" val="2855100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프로토타입 개발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프로토타입 개발 절차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024" name="Rounded Rectangle 5023"/>
          <p:cNvSpPr/>
          <p:nvPr/>
        </p:nvSpPr>
        <p:spPr>
          <a:xfrm>
            <a:off x="822960" y="2487168"/>
            <a:ext cx="3794760" cy="2697480"/>
          </a:xfrm>
          <a:prstGeom prst="roundRect">
            <a:avLst>
              <a:gd name="adj" fmla="val 4067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5" name="Rectangle 5024"/>
          <p:cNvSpPr/>
          <p:nvPr/>
        </p:nvSpPr>
        <p:spPr>
          <a:xfrm>
            <a:off x="822960" y="2487168"/>
            <a:ext cx="3794760" cy="822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6" name="TextBox 5025"/>
          <p:cNvSpPr txBox="1"/>
          <p:nvPr/>
        </p:nvSpPr>
        <p:spPr>
          <a:xfrm>
            <a:off x="1078992" y="2743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STEP 01</a:t>
            </a:r>
            <a:endParaRPr lang="ko-KR" altLang="en-US" sz="1200"/>
          </a:p>
        </p:txBody>
      </p:sp>
      <p:sp>
        <p:nvSpPr>
          <p:cNvPr id="5027" name="TextBox 5026"/>
          <p:cNvSpPr txBox="1"/>
          <p:nvPr/>
        </p:nvSpPr>
        <p:spPr>
          <a:xfrm>
            <a:off x="1078992" y="3081528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요구사항 확인</a:t>
            </a:r>
            <a:endParaRPr lang="ko-KR" altLang="en-US" sz="1800"/>
          </a:p>
        </p:txBody>
      </p:sp>
      <p:sp>
        <p:nvSpPr>
          <p:cNvPr id="5028" name="TextBox 5027"/>
          <p:cNvSpPr txBox="1"/>
          <p:nvPr/>
        </p:nvSpPr>
        <p:spPr>
          <a:xfrm>
            <a:off x="1078992" y="3602736"/>
            <a:ext cx="333756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요구사항분석서의 기능 32개·유스케이스 15개·권한 4종을 화면 단위로 정리</a:t>
            </a:r>
            <a:endParaRPr lang="ko-KR" altLang="en-US" sz="1350"/>
          </a:p>
        </p:txBody>
      </p:sp>
      <p:sp>
        <p:nvSpPr>
          <p:cNvPr id="5029" name="Chevron 5028"/>
          <p:cNvSpPr/>
          <p:nvPr/>
        </p:nvSpPr>
        <p:spPr>
          <a:xfrm>
            <a:off x="4764024" y="3671316"/>
            <a:ext cx="182880" cy="329184"/>
          </a:xfrm>
          <a:prstGeom prst="chevron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0" name="Rounded Rectangle 5029"/>
          <p:cNvSpPr/>
          <p:nvPr/>
        </p:nvSpPr>
        <p:spPr>
          <a:xfrm>
            <a:off x="5102352" y="2487168"/>
            <a:ext cx="3794760" cy="2697480"/>
          </a:xfrm>
          <a:prstGeom prst="roundRect">
            <a:avLst>
              <a:gd name="adj" fmla="val 4067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1" name="Rectangle 5030"/>
          <p:cNvSpPr/>
          <p:nvPr/>
        </p:nvSpPr>
        <p:spPr>
          <a:xfrm>
            <a:off x="5102352" y="2487168"/>
            <a:ext cx="3794760" cy="822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2" name="TextBox 5031"/>
          <p:cNvSpPr txBox="1"/>
          <p:nvPr/>
        </p:nvSpPr>
        <p:spPr>
          <a:xfrm>
            <a:off x="5358384" y="2743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STEP 02</a:t>
            </a:r>
            <a:endParaRPr lang="ko-KR" altLang="en-US" sz="1200"/>
          </a:p>
        </p:txBody>
      </p:sp>
      <p:sp>
        <p:nvSpPr>
          <p:cNvPr id="5033" name="TextBox 5032"/>
          <p:cNvSpPr txBox="1"/>
          <p:nvPr/>
        </p:nvSpPr>
        <p:spPr>
          <a:xfrm>
            <a:off x="5358384" y="3081528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화면 구조 설계</a:t>
            </a:r>
            <a:endParaRPr lang="ko-KR" altLang="en-US" sz="1800"/>
          </a:p>
        </p:txBody>
      </p:sp>
      <p:sp>
        <p:nvSpPr>
          <p:cNvPr id="5034" name="TextBox 5033"/>
          <p:cNvSpPr txBox="1"/>
          <p:nvPr/>
        </p:nvSpPr>
        <p:spPr>
          <a:xfrm>
            <a:off x="5358384" y="3602736"/>
            <a:ext cx="333756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산림청 산불상황관제시스템 화면을 참고해 지도 중심 배치, 권한별 첫 화면 정의</a:t>
            </a:r>
            <a:endParaRPr lang="ko-KR" altLang="en-US" sz="1350"/>
          </a:p>
        </p:txBody>
      </p:sp>
      <p:sp>
        <p:nvSpPr>
          <p:cNvPr id="5035" name="Chevron 5034"/>
          <p:cNvSpPr/>
          <p:nvPr/>
        </p:nvSpPr>
        <p:spPr>
          <a:xfrm>
            <a:off x="9043416" y="3671316"/>
            <a:ext cx="182880" cy="329184"/>
          </a:xfrm>
          <a:prstGeom prst="chevron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6" name="Rounded Rectangle 5035"/>
          <p:cNvSpPr/>
          <p:nvPr/>
        </p:nvSpPr>
        <p:spPr>
          <a:xfrm>
            <a:off x="9381744" y="2487168"/>
            <a:ext cx="3794760" cy="2697480"/>
          </a:xfrm>
          <a:prstGeom prst="roundRect">
            <a:avLst>
              <a:gd name="adj" fmla="val 4067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7" name="Rectangle 5036"/>
          <p:cNvSpPr/>
          <p:nvPr/>
        </p:nvSpPr>
        <p:spPr>
          <a:xfrm>
            <a:off x="9381744" y="2487168"/>
            <a:ext cx="3794760" cy="822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8" name="TextBox 5037"/>
          <p:cNvSpPr txBox="1"/>
          <p:nvPr/>
        </p:nvSpPr>
        <p:spPr>
          <a:xfrm>
            <a:off x="9637776" y="2743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STEP 03</a:t>
            </a:r>
            <a:endParaRPr lang="ko-KR" altLang="en-US" sz="1200"/>
          </a:p>
        </p:txBody>
      </p:sp>
      <p:sp>
        <p:nvSpPr>
          <p:cNvPr id="5039" name="TextBox 5038"/>
          <p:cNvSpPr txBox="1"/>
          <p:nvPr/>
        </p:nvSpPr>
        <p:spPr>
          <a:xfrm>
            <a:off x="9637776" y="3081528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시나리오 데이터 구성</a:t>
            </a:r>
            <a:endParaRPr lang="ko-KR" altLang="en-US" sz="1800"/>
          </a:p>
        </p:txBody>
      </p:sp>
      <p:sp>
        <p:nvSpPr>
          <p:cNvPr id="5040" name="TextBox 5039"/>
          <p:cNvSpPr txBox="1"/>
          <p:nvPr/>
        </p:nvSpPr>
        <p:spPr>
          <a:xfrm>
            <a:off x="9637776" y="3602736"/>
            <a:ext cx="333756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2025-03-22 의성 산불 8시간, SGIS 경계·OSM 시설은 실제, 인구·자원 수 등은 가상값으로 구분</a:t>
            </a:r>
            <a:endParaRPr lang="ko-KR" altLang="en-US" sz="1350"/>
          </a:p>
        </p:txBody>
      </p:sp>
      <p:sp>
        <p:nvSpPr>
          <p:cNvPr id="5041" name="Chevron 5040"/>
          <p:cNvSpPr/>
          <p:nvPr/>
        </p:nvSpPr>
        <p:spPr>
          <a:xfrm>
            <a:off x="13322808" y="3671316"/>
            <a:ext cx="182880" cy="329184"/>
          </a:xfrm>
          <a:prstGeom prst="chevron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2" name="Rounded Rectangle 5041"/>
          <p:cNvSpPr/>
          <p:nvPr/>
        </p:nvSpPr>
        <p:spPr>
          <a:xfrm>
            <a:off x="13661136" y="2487168"/>
            <a:ext cx="3794760" cy="2697480"/>
          </a:xfrm>
          <a:prstGeom prst="roundRect">
            <a:avLst>
              <a:gd name="adj" fmla="val 4067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3" name="Rectangle 5042"/>
          <p:cNvSpPr/>
          <p:nvPr/>
        </p:nvSpPr>
        <p:spPr>
          <a:xfrm>
            <a:off x="13661136" y="2487168"/>
            <a:ext cx="3794760" cy="822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4" name="TextBox 5043"/>
          <p:cNvSpPr txBox="1"/>
          <p:nvPr/>
        </p:nvSpPr>
        <p:spPr>
          <a:xfrm>
            <a:off x="13917168" y="2743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STEP 04</a:t>
            </a:r>
            <a:endParaRPr lang="ko-KR" altLang="en-US" sz="1200"/>
          </a:p>
        </p:txBody>
      </p:sp>
      <p:sp>
        <p:nvSpPr>
          <p:cNvPr id="5045" name="TextBox 5044"/>
          <p:cNvSpPr txBox="1"/>
          <p:nvPr/>
        </p:nvSpPr>
        <p:spPr>
          <a:xfrm>
            <a:off x="13917168" y="3081528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화면 구현</a:t>
            </a:r>
            <a:endParaRPr lang="ko-KR" altLang="en-US" sz="1800"/>
          </a:p>
        </p:txBody>
      </p:sp>
      <p:sp>
        <p:nvSpPr>
          <p:cNvPr id="5046" name="TextBox 5045"/>
          <p:cNvSpPr txBox="1"/>
          <p:nvPr/>
        </p:nvSpPr>
        <p:spPr>
          <a:xfrm>
            <a:off x="13917168" y="3602736"/>
            <a:ext cx="333756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정적 웹 + MapLibre 지도. 판정·버전·이력은 실제 계산(동작), AI 문장은 템플릿(연출)</a:t>
            </a:r>
            <a:endParaRPr lang="ko-KR" altLang="en-US" sz="1350"/>
          </a:p>
        </p:txBody>
      </p:sp>
      <p:sp>
        <p:nvSpPr>
          <p:cNvPr id="5047" name="Rounded Rectangle 5046"/>
          <p:cNvSpPr/>
          <p:nvPr/>
        </p:nvSpPr>
        <p:spPr>
          <a:xfrm>
            <a:off x="822960" y="5568696"/>
            <a:ext cx="3794760" cy="2697480"/>
          </a:xfrm>
          <a:prstGeom prst="roundRect">
            <a:avLst>
              <a:gd name="adj" fmla="val 4067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8" name="Rectangle 5047"/>
          <p:cNvSpPr/>
          <p:nvPr/>
        </p:nvSpPr>
        <p:spPr>
          <a:xfrm>
            <a:off x="822960" y="5568696"/>
            <a:ext cx="3794760" cy="82296"/>
          </a:xfrm>
          <a:prstGeom prst="rect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9" name="TextBox 5048"/>
          <p:cNvSpPr txBox="1"/>
          <p:nvPr/>
        </p:nvSpPr>
        <p:spPr>
          <a:xfrm>
            <a:off x="1078992" y="582472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STEP 05</a:t>
            </a:r>
            <a:endParaRPr lang="ko-KR" altLang="en-US" sz="1200"/>
          </a:p>
        </p:txBody>
      </p:sp>
      <p:sp>
        <p:nvSpPr>
          <p:cNvPr id="5050" name="TextBox 5049"/>
          <p:cNvSpPr txBox="1"/>
          <p:nvPr/>
        </p:nvSpPr>
        <p:spPr>
          <a:xfrm>
            <a:off x="1078992" y="6163056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시나리오 연결</a:t>
            </a:r>
            <a:endParaRPr lang="ko-KR" altLang="en-US" sz="1800"/>
          </a:p>
        </p:txBody>
      </p:sp>
      <p:sp>
        <p:nvSpPr>
          <p:cNvPr id="5051" name="TextBox 5050"/>
          <p:cNvSpPr txBox="1"/>
          <p:nvPr/>
        </p:nvSpPr>
        <p:spPr>
          <a:xfrm>
            <a:off x="1078992" y="6684264"/>
            <a:ext cx="333756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보고 → 예측 → 위험도 → 제안 → 근거 → 질의·정정 → 이력 → 종료, 실패·병합 장면</a:t>
            </a:r>
            <a:endParaRPr lang="ko-KR" altLang="en-US" sz="1350"/>
          </a:p>
        </p:txBody>
      </p:sp>
      <p:sp>
        <p:nvSpPr>
          <p:cNvPr id="5052" name="Chevron 5051"/>
          <p:cNvSpPr/>
          <p:nvPr/>
        </p:nvSpPr>
        <p:spPr>
          <a:xfrm>
            <a:off x="4764024" y="6752844"/>
            <a:ext cx="182880" cy="329184"/>
          </a:xfrm>
          <a:prstGeom prst="chevron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3" name="Rounded Rectangle 5052"/>
          <p:cNvSpPr/>
          <p:nvPr/>
        </p:nvSpPr>
        <p:spPr>
          <a:xfrm>
            <a:off x="5102352" y="5568696"/>
            <a:ext cx="3794760" cy="2697480"/>
          </a:xfrm>
          <a:prstGeom prst="roundRect">
            <a:avLst>
              <a:gd name="adj" fmla="val 4067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4" name="Rectangle 5053"/>
          <p:cNvSpPr/>
          <p:nvPr/>
        </p:nvSpPr>
        <p:spPr>
          <a:xfrm>
            <a:off x="5102352" y="5568696"/>
            <a:ext cx="3794760" cy="82296"/>
          </a:xfrm>
          <a:prstGeom prst="rect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5" name="TextBox 5054"/>
          <p:cNvSpPr txBox="1"/>
          <p:nvPr/>
        </p:nvSpPr>
        <p:spPr>
          <a:xfrm>
            <a:off x="5358384" y="582472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STEP 06</a:t>
            </a:r>
            <a:endParaRPr lang="ko-KR" altLang="en-US" sz="1200"/>
          </a:p>
        </p:txBody>
      </p:sp>
      <p:sp>
        <p:nvSpPr>
          <p:cNvPr id="5056" name="TextBox 5055"/>
          <p:cNvSpPr txBox="1"/>
          <p:nvPr/>
        </p:nvSpPr>
        <p:spPr>
          <a:xfrm>
            <a:off x="5358384" y="6163056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팀 검토</a:t>
            </a:r>
            <a:endParaRPr lang="ko-KR" altLang="en-US" sz="1800"/>
          </a:p>
        </p:txBody>
      </p:sp>
      <p:sp>
        <p:nvSpPr>
          <p:cNvPr id="5057" name="TextBox 5056"/>
          <p:cNvSpPr txBox="1"/>
          <p:nvPr/>
        </p:nvSpPr>
        <p:spPr>
          <a:xfrm>
            <a:off x="5358384" y="6684264"/>
            <a:ext cx="333756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주간 회의에서 요구사항분석서와 화면을 대조, 정정 사항을 목록으로 정리</a:t>
            </a:r>
            <a:endParaRPr lang="ko-KR" altLang="en-US" sz="1350"/>
          </a:p>
        </p:txBody>
      </p:sp>
      <p:sp>
        <p:nvSpPr>
          <p:cNvPr id="5058" name="Chevron 5057"/>
          <p:cNvSpPr/>
          <p:nvPr/>
        </p:nvSpPr>
        <p:spPr>
          <a:xfrm>
            <a:off x="9043416" y="6752844"/>
            <a:ext cx="182880" cy="329184"/>
          </a:xfrm>
          <a:prstGeom prst="chevron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9" name="Rounded Rectangle 5058"/>
          <p:cNvSpPr/>
          <p:nvPr/>
        </p:nvSpPr>
        <p:spPr>
          <a:xfrm>
            <a:off x="9381744" y="5568696"/>
            <a:ext cx="3794760" cy="2697480"/>
          </a:xfrm>
          <a:prstGeom prst="roundRect">
            <a:avLst>
              <a:gd name="adj" fmla="val 4067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60" name="Rectangle 5059"/>
          <p:cNvSpPr/>
          <p:nvPr/>
        </p:nvSpPr>
        <p:spPr>
          <a:xfrm>
            <a:off x="9381744" y="5568696"/>
            <a:ext cx="3794760" cy="82296"/>
          </a:xfrm>
          <a:prstGeom prst="rect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61" name="TextBox 5060"/>
          <p:cNvSpPr txBox="1"/>
          <p:nvPr/>
        </p:nvSpPr>
        <p:spPr>
          <a:xfrm>
            <a:off x="9637776" y="582472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STEP 07</a:t>
            </a:r>
            <a:endParaRPr lang="ko-KR" altLang="en-US" sz="1200" dirty="0"/>
          </a:p>
        </p:txBody>
      </p:sp>
      <p:sp>
        <p:nvSpPr>
          <p:cNvPr id="5062" name="TextBox 5061"/>
          <p:cNvSpPr txBox="1"/>
          <p:nvPr/>
        </p:nvSpPr>
        <p:spPr>
          <a:xfrm>
            <a:off x="9637776" y="6163056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수정·보완 (반복)</a:t>
            </a:r>
            <a:endParaRPr lang="ko-KR" altLang="en-US" sz="1800"/>
          </a:p>
        </p:txBody>
      </p:sp>
      <p:sp>
        <p:nvSpPr>
          <p:cNvPr id="5063" name="TextBox 5062"/>
          <p:cNvSpPr txBox="1"/>
          <p:nvPr/>
        </p:nvSpPr>
        <p:spPr>
          <a:xfrm>
            <a:off x="9637776" y="6684264"/>
            <a:ext cx="333756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6회 반복(9/26 → 10/13)</a:t>
            </a:r>
            <a:endParaRPr lang="ko-KR" altLang="en-US" sz="1350" dirty="0"/>
          </a:p>
        </p:txBody>
      </p:sp>
      <p:sp>
        <p:nvSpPr>
          <p:cNvPr id="5064" name="Chevron 5063"/>
          <p:cNvSpPr/>
          <p:nvPr/>
        </p:nvSpPr>
        <p:spPr>
          <a:xfrm>
            <a:off x="13322808" y="6752844"/>
            <a:ext cx="182880" cy="329184"/>
          </a:xfrm>
          <a:prstGeom prst="chevron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65" name="Rounded Rectangle 5064"/>
          <p:cNvSpPr/>
          <p:nvPr/>
        </p:nvSpPr>
        <p:spPr>
          <a:xfrm>
            <a:off x="13661136" y="5568696"/>
            <a:ext cx="3794760" cy="2697480"/>
          </a:xfrm>
          <a:prstGeom prst="roundRect">
            <a:avLst>
              <a:gd name="adj" fmla="val 4067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66" name="Rectangle 5065"/>
          <p:cNvSpPr/>
          <p:nvPr/>
        </p:nvSpPr>
        <p:spPr>
          <a:xfrm>
            <a:off x="13661136" y="5568696"/>
            <a:ext cx="3794760" cy="82296"/>
          </a:xfrm>
          <a:prstGeom prst="rect">
            <a:avLst/>
          </a:prstGeom>
          <a:solidFill>
            <a:srgbClr val="FAA9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67" name="TextBox 5066"/>
          <p:cNvSpPr txBox="1"/>
          <p:nvPr/>
        </p:nvSpPr>
        <p:spPr>
          <a:xfrm>
            <a:off x="13917168" y="582472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STEP 08</a:t>
            </a:r>
            <a:endParaRPr lang="ko-KR" altLang="en-US" sz="1200"/>
          </a:p>
        </p:txBody>
      </p:sp>
      <p:sp>
        <p:nvSpPr>
          <p:cNvPr id="5068" name="TextBox 5067"/>
          <p:cNvSpPr txBox="1"/>
          <p:nvPr/>
        </p:nvSpPr>
        <p:spPr>
          <a:xfrm>
            <a:off x="13917168" y="6163056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검증·개발 연계</a:t>
            </a:r>
            <a:endParaRPr lang="ko-KR" altLang="en-US" sz="1800"/>
          </a:p>
        </p:txBody>
      </p:sp>
      <p:sp>
        <p:nvSpPr>
          <p:cNvPr id="5069" name="TextBox 5068"/>
          <p:cNvSpPr txBox="1"/>
          <p:nvPr/>
        </p:nvSpPr>
        <p:spPr>
          <a:xfrm>
            <a:off x="13917168" y="6684264"/>
            <a:ext cx="333756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유스케이스·추가 시나리오 점검(06장), </a:t>
            </a:r>
            <a:br>
              <a:rPr lang="en-US" altLang="ko-KR" sz="13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</a:br>
            <a:r>
              <a:rPr lang="ko-KR" altLang="en-US" sz="13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연출 부분을 실제 모듈로 바꿀 목록 작성</a:t>
            </a:r>
            <a:endParaRPr lang="ko-KR" altLang="en-US" sz="1350" dirty="0"/>
          </a:p>
        </p:txBody>
      </p:sp>
      <p:sp>
        <p:nvSpPr>
          <p:cNvPr id="5070" name="TextBox 5069"/>
          <p:cNvSpPr txBox="1"/>
          <p:nvPr/>
        </p:nvSpPr>
        <p:spPr>
          <a:xfrm>
            <a:off x="822960" y="879652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3668205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BC13C5-81A0-578C-DEB9-9D9E7C0EB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graphicFrame>
        <p:nvGraphicFramePr>
          <p:cNvPr id="950" name="표 949">
            <a:extLst>
              <a:ext uri="{FF2B5EF4-FFF2-40B4-BE49-F238E27FC236}">
                <a16:creationId xmlns:a16="http://schemas.microsoft.com/office/drawing/2014/main" id="{1A117E05-4164-5A7E-69A8-C6E558CCB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745308"/>
              </p:ext>
            </p:extLst>
          </p:nvPr>
        </p:nvGraphicFramePr>
        <p:xfrm>
          <a:off x="746764" y="2331720"/>
          <a:ext cx="16632936" cy="6931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67490904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59985966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31406709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23003207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41967667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8801215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11885936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21439748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73767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09710594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40259591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7864045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55355857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4048487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48058841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23890791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1789345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개발 내용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13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14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15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16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담당</a:t>
                      </a:r>
                      <a:endParaRPr lang="ko-KR" altLang="en-US" sz="14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4972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B5601C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애자일 스프린트 (1주, 주간 개발 보고서 = 리뷰)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발표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SP1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SP2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SP3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SP4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SP5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준비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602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대회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보완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0B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최종</a:t>
                      </a:r>
                      <a:endParaRPr lang="ko-KR" altLang="en-US" sz="105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0B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62619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1. 과제계획서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79563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2. 수정 과제계획서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1608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3. 요구사항분석서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27845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B5601C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수정 요구사항분석서 작성(교수 피드백 반영, 10/8)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5775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5. 상세설계서·설계사양서·프로토타입 계획서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9303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6. 테스트 사양서 작성 및 1차 프로토타입 구현·발표(10/16)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8742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B5601C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7. 수정 프로토타입 작성·제출(10/22)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24769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8. 공간 격자 구축(DEM·임상도 → Anderson-13 연료, 30 m)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홍준서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68176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9. PostGIS 스키마·기상청 API 어댑터·기상 캐시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5796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10. 근거 코퍼스 구축(조항 단위 청킹·메타데이터 태깅)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8211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11. ELMFIRE 실행 환경(Docker) 구축 및 시범 실행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홍준서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91447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12. 위험도 계산(P5 기준 23개 변수 가중평균·인구 겹침)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황승준·김지오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9242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13. 근거 색인·검색(KURE-v1 + FAISS, 단계·항목 필터)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67832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14. EXAONE 4.0 32B vLLM 서빙·프롬프트·인용 형식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53497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15. 규칙 엔진 판정(대응단계·위험구역 등 경계값이 있는 값)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32292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16. FastAPI 서버·상황 구성·응답 조립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6315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17. 웹 대시보드(React·MapLibre GL, 상황도·위험도·제안·AI)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임성민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59818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18. 확산 파라미터 보정(fuel_models.csv, IoU 베이지안 최적화)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홍준서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62483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19. 모듈 1차 통합 및 통합 프로토타입 시연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8069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20. 대응 제안 생성 파이프라인 완성(항목별 질문·근거 인용·종합)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황승준·김지오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523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21. 평가 파이프라인(확산 5종·대응 제안 4종) 및 hold-out 검증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31036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22. RAG 유무 Ablation 실험 및 최종 통합 — 개발 완료(11/20)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85357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23. 창의설계 경진대회 준비(발표 자료·시연)·참가(12/4)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4902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24. 문제점 보완·SW 프로그램 등록 및 최종보고서 작성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83982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25. 주간 보고서 </a:t>
                      </a:r>
                      <a:r>
                        <a:rPr lang="ko-KR" altLang="en-US" sz="1100" b="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작성·제출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전원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50983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26. [공모전] 예선 서류(참가신청서) 제출 9/30 · 통과 발표 10/7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5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10/7</a:t>
                      </a:r>
                      <a:endParaRPr lang="ko-KR" altLang="en-US" sz="95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김지오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96433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27. [공모전] 1차 교류회 주제 발표(NIA 본부, 10/20)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5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10/20</a:t>
                      </a:r>
                      <a:endParaRPr lang="ko-KR" altLang="en-US" sz="95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홍준서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2242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28. [공모전] 상세기획서 제출(프로토타입 포함, 11/3)</a:t>
                      </a:r>
                      <a:endParaRPr lang="ko-KR" altLang="en-US" sz="11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5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11/3</a:t>
                      </a:r>
                      <a:endParaRPr lang="ko-KR" altLang="en-US" sz="95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전원</a:t>
                      </a:r>
                      <a:endParaRPr lang="ko-KR" altLang="en-US" sz="1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049059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496E1E-A839-6AAA-E8BF-72E00D94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001" name="TextBox 9001"/>
          <p:cNvSpPr txBox="1"/>
          <p:nvPr/>
        </p:nvSpPr>
        <p:spPr>
          <a:xfrm>
            <a:off x="746764" y="9592056"/>
            <a:ext cx="16632937" cy="55861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※ 점선 화살표 = 계획, 실선 화살표 = 실제 수행. 문서·1차 프로토타입은 완료(발표 10/16). 개발은 8~12주 1주 스프린트 5회로 진행해 13주 경진대회 준비 전에 끝내고, 매주 개발 보고서를 제출한다.</a:t>
            </a:r>
            <a:endParaRPr lang="ko-KR" altLang="en-US" sz="1100" dirty="0"/>
          </a:p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※ 주요 마일스톤: 7주 프로토타입 발표(10/16) · 8주 수정 프로토타입(10/22) · 11주 모듈 1차 통합 · 12주 개발 완료(11/20) · 13주 경진대회 준비 · 14주 창의설계 경진대회(12/4) · 16주 최종보고서(12/18)</a:t>
            </a:r>
            <a:endParaRPr lang="ko-KR" altLang="en-US" sz="1100" dirty="0"/>
          </a:p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7A3E9D"/>
                </a:solidFill>
                <a:latin typeface="210 OmniGothic 030"/>
                <a:ea typeface="210 OmniGothic 030"/>
                <a:cs typeface="210 OmniGothic 030"/>
              </a:rPr>
              <a:t>※ </a:t>
            </a:r>
            <a:r>
              <a:rPr lang="ko-KR" alt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210 OmniGothic 030"/>
                <a:ea typeface="210 OmniGothic 030"/>
                <a:cs typeface="210 OmniGothic 030"/>
              </a:rPr>
              <a:t>[공모전] = 2026 AI·디지털 기반 사회문제 해결 챌린지 일정(캡스톤 과제와 별도 트랙)</a:t>
            </a:r>
            <a:endParaRPr lang="ko-KR" altLang="en-US" sz="11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186D1F1F-7F50-2C1A-59EC-DB2714C7B1E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프로토타입 개발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E75D791-51C2-D9C9-43FC-4986B50F31C9}"/>
              </a:ext>
            </a:extLst>
          </p:cNvPr>
          <p:cNvSpPr>
            <a:spLocks noGrp="1"/>
          </p:cNvSpPr>
          <p:nvPr/>
        </p:nvSpPr>
        <p:spPr>
          <a:xfrm>
            <a:off x="822960" y="1816197"/>
            <a:ext cx="1664208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lang="ko-KR" alt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개발 일정 및 진행 현황</a:t>
            </a:r>
            <a:endParaRPr sz="2600" b="1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cxnSp>
        <p:nvCxnSpPr>
          <p:cNvPr id="9002" name="Connector 9001"/>
          <p:cNvCxnSpPr>
            <a:cxnSpLocks/>
          </p:cNvCxnSpPr>
          <p:nvPr/>
        </p:nvCxnSpPr>
        <p:spPr>
          <a:xfrm>
            <a:off x="6237609" y="2931468"/>
            <a:ext cx="64008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03" name="Connector 9002"/>
          <p:cNvCxnSpPr>
            <a:cxnSpLocks/>
          </p:cNvCxnSpPr>
          <p:nvPr/>
        </p:nvCxnSpPr>
        <p:spPr>
          <a:xfrm>
            <a:off x="6235958" y="3029440"/>
            <a:ext cx="641731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04" name="Connector 9003"/>
          <p:cNvCxnSpPr>
            <a:cxnSpLocks/>
          </p:cNvCxnSpPr>
          <p:nvPr/>
        </p:nvCxnSpPr>
        <p:spPr>
          <a:xfrm>
            <a:off x="6877689" y="3160068"/>
            <a:ext cx="641604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05" name="Connector 9004"/>
          <p:cNvCxnSpPr>
            <a:cxnSpLocks/>
          </p:cNvCxnSpPr>
          <p:nvPr/>
        </p:nvCxnSpPr>
        <p:spPr>
          <a:xfrm>
            <a:off x="6881626" y="3258040"/>
            <a:ext cx="637667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06" name="Connector 9005"/>
          <p:cNvCxnSpPr>
            <a:cxnSpLocks/>
          </p:cNvCxnSpPr>
          <p:nvPr/>
        </p:nvCxnSpPr>
        <p:spPr>
          <a:xfrm>
            <a:off x="7525643" y="3382999"/>
            <a:ext cx="127228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07" name="Connector 9006"/>
          <p:cNvCxnSpPr>
            <a:cxnSpLocks/>
          </p:cNvCxnSpPr>
          <p:nvPr/>
        </p:nvCxnSpPr>
        <p:spPr>
          <a:xfrm>
            <a:off x="7519293" y="3486640"/>
            <a:ext cx="1278636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08" name="Connector 9007"/>
          <p:cNvCxnSpPr>
            <a:cxnSpLocks/>
          </p:cNvCxnSpPr>
          <p:nvPr/>
        </p:nvCxnSpPr>
        <p:spPr>
          <a:xfrm>
            <a:off x="8797929" y="3703447"/>
            <a:ext cx="635635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09" name="Connector 9008"/>
          <p:cNvCxnSpPr>
            <a:cxnSpLocks/>
          </p:cNvCxnSpPr>
          <p:nvPr/>
        </p:nvCxnSpPr>
        <p:spPr>
          <a:xfrm>
            <a:off x="8797929" y="3840312"/>
            <a:ext cx="1279521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0" name="Connector 9009"/>
          <p:cNvCxnSpPr>
            <a:cxnSpLocks/>
          </p:cNvCxnSpPr>
          <p:nvPr/>
        </p:nvCxnSpPr>
        <p:spPr>
          <a:xfrm>
            <a:off x="9433564" y="4077303"/>
            <a:ext cx="1282061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1" name="Connector 9010"/>
          <p:cNvCxnSpPr>
            <a:cxnSpLocks/>
          </p:cNvCxnSpPr>
          <p:nvPr/>
        </p:nvCxnSpPr>
        <p:spPr>
          <a:xfrm>
            <a:off x="8141974" y="4172440"/>
            <a:ext cx="1935476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12" name="Connector 9011"/>
          <p:cNvCxnSpPr>
            <a:cxnSpLocks/>
          </p:cNvCxnSpPr>
          <p:nvPr/>
        </p:nvCxnSpPr>
        <p:spPr>
          <a:xfrm>
            <a:off x="10077450" y="4325293"/>
            <a:ext cx="638175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3" name="Connector 9012"/>
          <p:cNvCxnSpPr>
            <a:cxnSpLocks/>
          </p:cNvCxnSpPr>
          <p:nvPr/>
        </p:nvCxnSpPr>
        <p:spPr>
          <a:xfrm>
            <a:off x="10071739" y="4576572"/>
            <a:ext cx="1288411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4" name="Connector 9013"/>
          <p:cNvCxnSpPr>
            <a:cxnSpLocks/>
          </p:cNvCxnSpPr>
          <p:nvPr/>
        </p:nvCxnSpPr>
        <p:spPr>
          <a:xfrm>
            <a:off x="10071739" y="4805172"/>
            <a:ext cx="128523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5" name="Connector 9014"/>
          <p:cNvCxnSpPr>
            <a:cxnSpLocks/>
          </p:cNvCxnSpPr>
          <p:nvPr/>
        </p:nvCxnSpPr>
        <p:spPr>
          <a:xfrm>
            <a:off x="10071739" y="5033772"/>
            <a:ext cx="1282061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6" name="Connector 9015"/>
          <p:cNvCxnSpPr>
            <a:cxnSpLocks/>
          </p:cNvCxnSpPr>
          <p:nvPr/>
        </p:nvCxnSpPr>
        <p:spPr>
          <a:xfrm>
            <a:off x="10714994" y="5262372"/>
            <a:ext cx="127380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7" name="Connector 9016"/>
          <p:cNvCxnSpPr>
            <a:cxnSpLocks/>
          </p:cNvCxnSpPr>
          <p:nvPr/>
        </p:nvCxnSpPr>
        <p:spPr>
          <a:xfrm>
            <a:off x="11355074" y="5490972"/>
            <a:ext cx="63372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8" name="Connector 9017"/>
          <p:cNvCxnSpPr>
            <a:cxnSpLocks/>
          </p:cNvCxnSpPr>
          <p:nvPr/>
        </p:nvCxnSpPr>
        <p:spPr>
          <a:xfrm>
            <a:off x="10714994" y="5719572"/>
            <a:ext cx="127380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19" name="Connector 9018"/>
          <p:cNvCxnSpPr>
            <a:cxnSpLocks/>
          </p:cNvCxnSpPr>
          <p:nvPr/>
        </p:nvCxnSpPr>
        <p:spPr>
          <a:xfrm>
            <a:off x="11355074" y="5948172"/>
            <a:ext cx="63372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0" name="Connector 9019"/>
          <p:cNvCxnSpPr>
            <a:cxnSpLocks/>
          </p:cNvCxnSpPr>
          <p:nvPr/>
        </p:nvCxnSpPr>
        <p:spPr>
          <a:xfrm>
            <a:off x="10714994" y="6176772"/>
            <a:ext cx="127380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1" name="Connector 9020"/>
          <p:cNvCxnSpPr>
            <a:cxnSpLocks/>
          </p:cNvCxnSpPr>
          <p:nvPr/>
        </p:nvCxnSpPr>
        <p:spPr>
          <a:xfrm>
            <a:off x="11355074" y="6405372"/>
            <a:ext cx="128016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2" name="Connector 9021"/>
          <p:cNvCxnSpPr>
            <a:cxnSpLocks/>
          </p:cNvCxnSpPr>
          <p:nvPr/>
        </p:nvCxnSpPr>
        <p:spPr>
          <a:xfrm>
            <a:off x="10074914" y="6633972"/>
            <a:ext cx="319913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3" name="Connector 9022"/>
          <p:cNvCxnSpPr>
            <a:cxnSpLocks/>
          </p:cNvCxnSpPr>
          <p:nvPr/>
        </p:nvCxnSpPr>
        <p:spPr>
          <a:xfrm>
            <a:off x="11995154" y="6862572"/>
            <a:ext cx="127889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4" name="Connector 9023"/>
          <p:cNvCxnSpPr>
            <a:cxnSpLocks/>
          </p:cNvCxnSpPr>
          <p:nvPr/>
        </p:nvCxnSpPr>
        <p:spPr>
          <a:xfrm>
            <a:off x="11995154" y="7091172"/>
            <a:ext cx="64008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5" name="Connector 9024"/>
          <p:cNvCxnSpPr>
            <a:cxnSpLocks/>
          </p:cNvCxnSpPr>
          <p:nvPr/>
        </p:nvCxnSpPr>
        <p:spPr>
          <a:xfrm>
            <a:off x="11995154" y="7319772"/>
            <a:ext cx="64008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6" name="Connector 9025"/>
          <p:cNvCxnSpPr>
            <a:cxnSpLocks/>
          </p:cNvCxnSpPr>
          <p:nvPr/>
        </p:nvCxnSpPr>
        <p:spPr>
          <a:xfrm>
            <a:off x="12635234" y="7548372"/>
            <a:ext cx="63881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7" name="Connector 9026"/>
          <p:cNvCxnSpPr>
            <a:cxnSpLocks/>
          </p:cNvCxnSpPr>
          <p:nvPr/>
        </p:nvCxnSpPr>
        <p:spPr>
          <a:xfrm>
            <a:off x="12635234" y="7776972"/>
            <a:ext cx="63881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8" name="Connector 9027"/>
          <p:cNvCxnSpPr>
            <a:cxnSpLocks/>
          </p:cNvCxnSpPr>
          <p:nvPr/>
        </p:nvCxnSpPr>
        <p:spPr>
          <a:xfrm>
            <a:off x="13275314" y="8005572"/>
            <a:ext cx="128016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29" name="Connector 9028"/>
          <p:cNvCxnSpPr>
            <a:cxnSpLocks/>
          </p:cNvCxnSpPr>
          <p:nvPr/>
        </p:nvCxnSpPr>
        <p:spPr>
          <a:xfrm>
            <a:off x="14555474" y="8234172"/>
            <a:ext cx="127507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30" name="Connector 9029"/>
          <p:cNvCxnSpPr>
            <a:cxnSpLocks/>
          </p:cNvCxnSpPr>
          <p:nvPr/>
        </p:nvCxnSpPr>
        <p:spPr>
          <a:xfrm>
            <a:off x="10077450" y="8462318"/>
            <a:ext cx="5753100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32" name="Connector 9031"/>
          <p:cNvCxnSpPr/>
          <p:nvPr/>
        </p:nvCxnSpPr>
        <p:spPr>
          <a:xfrm>
            <a:off x="9433564" y="2286000"/>
            <a:ext cx="0" cy="7050024"/>
          </a:xfrm>
          <a:prstGeom prst="line">
            <a:avLst/>
          </a:prstGeom>
          <a:ln w="25400">
            <a:solidFill>
              <a:srgbClr val="E8742A"/>
            </a:solidFill>
            <a:prstDash val="dash"/>
          </a:ln>
        </p:spPr>
      </p:cxnSp>
      <p:sp>
        <p:nvSpPr>
          <p:cNvPr id="9033" name="Rounded Rectangle 9032"/>
          <p:cNvSpPr/>
          <p:nvPr/>
        </p:nvSpPr>
        <p:spPr>
          <a:xfrm>
            <a:off x="8884924" y="931773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8742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현재 10/1</a:t>
            </a:r>
            <a:r>
              <a:rPr lang="en-US" altLang="ko-KR" sz="10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050"/>
          </a:p>
        </p:txBody>
      </p:sp>
      <p:cxnSp>
        <p:nvCxnSpPr>
          <p:cNvPr id="9034" name="Connector 9033"/>
          <p:cNvCxnSpPr/>
          <p:nvPr/>
        </p:nvCxnSpPr>
        <p:spPr>
          <a:xfrm>
            <a:off x="13274044" y="2286000"/>
            <a:ext cx="0" cy="7050024"/>
          </a:xfrm>
          <a:prstGeom prst="line">
            <a:avLst/>
          </a:prstGeom>
          <a:ln w="25400">
            <a:solidFill>
              <a:srgbClr val="2E7D4F"/>
            </a:solidFill>
            <a:prstDash val="dash"/>
          </a:ln>
        </p:spPr>
      </p:cxnSp>
      <p:sp>
        <p:nvSpPr>
          <p:cNvPr id="9035" name="Rounded Rectangle 9034"/>
          <p:cNvSpPr/>
          <p:nvPr/>
        </p:nvSpPr>
        <p:spPr>
          <a:xfrm>
            <a:off x="12542524" y="9317736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개발 완료 11/20</a:t>
            </a:r>
            <a:endParaRPr lang="ko-KR" altLang="en-US" sz="1050"/>
          </a:p>
        </p:txBody>
      </p:sp>
      <p:cxnSp>
        <p:nvCxnSpPr>
          <p:cNvPr id="9036" name="Connector 9035"/>
          <p:cNvCxnSpPr/>
          <p:nvPr/>
        </p:nvCxnSpPr>
        <p:spPr>
          <a:xfrm>
            <a:off x="8157976" y="8691372"/>
            <a:ext cx="630936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037" name="Connector 9036"/>
          <p:cNvCxnSpPr/>
          <p:nvPr/>
        </p:nvCxnSpPr>
        <p:spPr>
          <a:xfrm>
            <a:off x="9438136" y="8919972"/>
            <a:ext cx="63093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9038" name="Connector 9037"/>
          <p:cNvCxnSpPr/>
          <p:nvPr/>
        </p:nvCxnSpPr>
        <p:spPr>
          <a:xfrm>
            <a:off x="9438136" y="9148572"/>
            <a:ext cx="1911096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  <p:cxnSp>
        <p:nvCxnSpPr>
          <p:cNvPr id="8" name="Connector 9007">
            <a:extLst>
              <a:ext uri="{FF2B5EF4-FFF2-40B4-BE49-F238E27FC236}">
                <a16:creationId xmlns:a16="http://schemas.microsoft.com/office/drawing/2014/main" id="{E103FC65-FBC8-65D3-9064-8C5A4F5F6026}"/>
              </a:ext>
            </a:extLst>
          </p:cNvPr>
          <p:cNvCxnSpPr>
            <a:cxnSpLocks/>
          </p:cNvCxnSpPr>
          <p:nvPr/>
        </p:nvCxnSpPr>
        <p:spPr>
          <a:xfrm>
            <a:off x="8797929" y="3935222"/>
            <a:ext cx="1279521" cy="0"/>
          </a:xfrm>
          <a:prstGeom prst="line">
            <a:avLst/>
          </a:prstGeom>
          <a:ln w="31750">
            <a:solidFill>
              <a:srgbClr val="363A52"/>
            </a:solidFill>
            <a:tailEnd type="triangle" w="med" len="med"/>
          </a:ln>
        </p:spPr>
      </p:cxnSp>
      <p:cxnSp>
        <p:nvCxnSpPr>
          <p:cNvPr id="9" name="Connector 9008">
            <a:extLst>
              <a:ext uri="{FF2B5EF4-FFF2-40B4-BE49-F238E27FC236}">
                <a16:creationId xmlns:a16="http://schemas.microsoft.com/office/drawing/2014/main" id="{5B8D5239-BB4A-70C8-74D2-3D04EC4E85B2}"/>
              </a:ext>
            </a:extLst>
          </p:cNvPr>
          <p:cNvCxnSpPr>
            <a:cxnSpLocks/>
          </p:cNvCxnSpPr>
          <p:nvPr/>
        </p:nvCxnSpPr>
        <p:spPr>
          <a:xfrm>
            <a:off x="8797929" y="3605362"/>
            <a:ext cx="635635" cy="0"/>
          </a:xfrm>
          <a:prstGeom prst="line">
            <a:avLst/>
          </a:prstGeom>
          <a:ln w="22225">
            <a:solidFill>
              <a:srgbClr val="000000"/>
            </a:solidFill>
            <a:prstDash val="sysDot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28968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3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84" name="TextBox 5083"/>
          <p:cNvSpPr txBox="1"/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264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화면 구성 — 통합지휘권자 기준 (확산 예측 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5024" name="Picture 5023" descr="G_05_predicted_t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433733"/>
            <a:ext cx="11292840" cy="6352222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5" name="Rounded Rectangle 5024"/>
          <p:cNvSpPr/>
          <p:nvPr/>
        </p:nvSpPr>
        <p:spPr>
          <a:xfrm>
            <a:off x="822960" y="2433733"/>
            <a:ext cx="11292840" cy="247031"/>
          </a:xfrm>
          <a:prstGeom prst="roundRect">
            <a:avLst>
              <a:gd name="adj" fmla="val 18507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6" name="Oval 5025"/>
          <p:cNvSpPr/>
          <p:nvPr/>
        </p:nvSpPr>
        <p:spPr>
          <a:xfrm>
            <a:off x="667512" y="2278285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7" name="Rounded Rectangle 5026"/>
          <p:cNvSpPr/>
          <p:nvPr/>
        </p:nvSpPr>
        <p:spPr>
          <a:xfrm>
            <a:off x="822960" y="2669000"/>
            <a:ext cx="6463975" cy="211741"/>
          </a:xfrm>
          <a:prstGeom prst="roundRect">
            <a:avLst>
              <a:gd name="adj" fmla="val 2159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8" name="Oval 5027"/>
          <p:cNvSpPr/>
          <p:nvPr/>
        </p:nvSpPr>
        <p:spPr>
          <a:xfrm>
            <a:off x="7323511" y="2619423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29" name="Rounded Rectangle 5028"/>
          <p:cNvSpPr/>
          <p:nvPr/>
        </p:nvSpPr>
        <p:spPr>
          <a:xfrm>
            <a:off x="9280827" y="2680764"/>
            <a:ext cx="2799683" cy="188214"/>
          </a:xfrm>
          <a:prstGeom prst="roundRect">
            <a:avLst>
              <a:gd name="adj" fmla="val 24291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0" name="Oval 5029"/>
          <p:cNvSpPr/>
          <p:nvPr/>
        </p:nvSpPr>
        <p:spPr>
          <a:xfrm>
            <a:off x="9109834" y="272907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1" name="Rounded Rectangle 5030"/>
          <p:cNvSpPr/>
          <p:nvPr/>
        </p:nvSpPr>
        <p:spPr>
          <a:xfrm>
            <a:off x="822960" y="2916031"/>
            <a:ext cx="141161" cy="317611"/>
          </a:xfrm>
          <a:prstGeom prst="roundRect">
            <a:avLst>
              <a:gd name="adj" fmla="val 32388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2" name="Oval 5031"/>
          <p:cNvSpPr/>
          <p:nvPr/>
        </p:nvSpPr>
        <p:spPr>
          <a:xfrm>
            <a:off x="1000697" y="2919389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3" name="Rounded Rectangle 5032"/>
          <p:cNvSpPr/>
          <p:nvPr/>
        </p:nvSpPr>
        <p:spPr>
          <a:xfrm>
            <a:off x="952357" y="2868978"/>
            <a:ext cx="2699695" cy="5916978"/>
          </a:xfrm>
          <a:prstGeom prst="roundRect">
            <a:avLst>
              <a:gd name="adj" fmla="val 1693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4" name="Oval 5033"/>
          <p:cNvSpPr/>
          <p:nvPr/>
        </p:nvSpPr>
        <p:spPr>
          <a:xfrm>
            <a:off x="3512148" y="2697985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35" name="Rounded Rectangle 5034"/>
          <p:cNvSpPr/>
          <p:nvPr/>
        </p:nvSpPr>
        <p:spPr>
          <a:xfrm>
            <a:off x="6104715" y="4127659"/>
            <a:ext cx="2670286" cy="1905667"/>
          </a:xfrm>
          <a:prstGeom prst="roundRect">
            <a:avLst>
              <a:gd name="adj" fmla="val 2399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6" name="Oval 5035"/>
          <p:cNvSpPr/>
          <p:nvPr/>
        </p:nvSpPr>
        <p:spPr>
          <a:xfrm>
            <a:off x="8635098" y="3956666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292"/>
          </a:p>
        </p:txBody>
      </p:sp>
      <p:sp>
        <p:nvSpPr>
          <p:cNvPr id="5037" name="Rounded Rectangle 5036"/>
          <p:cNvSpPr/>
          <p:nvPr/>
        </p:nvSpPr>
        <p:spPr>
          <a:xfrm>
            <a:off x="11668792" y="2927794"/>
            <a:ext cx="399955" cy="399955"/>
          </a:xfrm>
          <a:prstGeom prst="roundRect">
            <a:avLst>
              <a:gd name="adj" fmla="val 11431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8" name="Oval 5037"/>
          <p:cNvSpPr/>
          <p:nvPr/>
        </p:nvSpPr>
        <p:spPr>
          <a:xfrm>
            <a:off x="11321320" y="297232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  <a:endParaRPr lang="ko-KR" altLang="en-US" sz="1292"/>
          </a:p>
        </p:txBody>
      </p:sp>
      <p:sp>
        <p:nvSpPr>
          <p:cNvPr id="5039" name="Rounded Rectangle 5038"/>
          <p:cNvSpPr/>
          <p:nvPr/>
        </p:nvSpPr>
        <p:spPr>
          <a:xfrm>
            <a:off x="11798189" y="6715601"/>
            <a:ext cx="317611" cy="1964484"/>
          </a:xfrm>
          <a:prstGeom prst="roundRect">
            <a:avLst>
              <a:gd name="adj" fmla="val 14394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0" name="Oval 5039"/>
          <p:cNvSpPr/>
          <p:nvPr/>
        </p:nvSpPr>
        <p:spPr>
          <a:xfrm>
            <a:off x="11450717" y="7542395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8</a:t>
            </a:r>
            <a:endParaRPr lang="ko-KR" altLang="en-US" sz="1292"/>
          </a:p>
        </p:txBody>
      </p:sp>
      <p:sp>
        <p:nvSpPr>
          <p:cNvPr id="5041" name="Rounded Rectangle 5040"/>
          <p:cNvSpPr/>
          <p:nvPr/>
        </p:nvSpPr>
        <p:spPr>
          <a:xfrm>
            <a:off x="10951226" y="8327184"/>
            <a:ext cx="741093" cy="211741"/>
          </a:xfrm>
          <a:prstGeom prst="roundRect">
            <a:avLst>
              <a:gd name="adj" fmla="val 2159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2" name="Oval 5041"/>
          <p:cNvSpPr/>
          <p:nvPr/>
        </p:nvSpPr>
        <p:spPr>
          <a:xfrm>
            <a:off x="10780233" y="8156191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9</a:t>
            </a:r>
            <a:endParaRPr lang="ko-KR" altLang="en-US" sz="1292"/>
          </a:p>
        </p:txBody>
      </p:sp>
      <p:sp>
        <p:nvSpPr>
          <p:cNvPr id="5043" name="Oval 5042"/>
          <p:cNvSpPr/>
          <p:nvPr/>
        </p:nvSpPr>
        <p:spPr>
          <a:xfrm>
            <a:off x="12435840" y="2478024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16"/>
          </a:p>
        </p:txBody>
      </p:sp>
      <p:sp>
        <p:nvSpPr>
          <p:cNvPr id="5044" name="TextBox 5043"/>
          <p:cNvSpPr txBox="1"/>
          <p:nvPr/>
        </p:nvSpPr>
        <p:spPr>
          <a:xfrm>
            <a:off x="12856464" y="2459736"/>
            <a:ext cx="4608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상단 1줄</a:t>
            </a:r>
            <a:endParaRPr lang="ko-KR" altLang="en-US" sz="1450"/>
          </a:p>
        </p:txBody>
      </p:sp>
      <p:sp>
        <p:nvSpPr>
          <p:cNvPr id="5045" name="TextBox 5044"/>
          <p:cNvSpPr txBox="1"/>
          <p:nvPr/>
        </p:nvSpPr>
        <p:spPr>
          <a:xfrm>
            <a:off x="12856464" y="2726500"/>
            <a:ext cx="4608576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시스템명·현재 시각, 「진화자원」, 빨간 「이벤트 로그」, 사용자(권한)</a:t>
            </a:r>
            <a:endParaRPr lang="ko-KR" altLang="en-US" sz="1250"/>
          </a:p>
        </p:txBody>
      </p:sp>
      <p:sp>
        <p:nvSpPr>
          <p:cNvPr id="5046" name="Oval 5045"/>
          <p:cNvSpPr/>
          <p:nvPr/>
        </p:nvSpPr>
        <p:spPr>
          <a:xfrm>
            <a:off x="12435840" y="3255328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16"/>
          </a:p>
        </p:txBody>
      </p:sp>
      <p:sp>
        <p:nvSpPr>
          <p:cNvPr id="5047" name="TextBox 5046"/>
          <p:cNvSpPr txBox="1"/>
          <p:nvPr/>
        </p:nvSpPr>
        <p:spPr>
          <a:xfrm>
            <a:off x="12856464" y="3237040"/>
            <a:ext cx="4608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레이어 묶음</a:t>
            </a:r>
            <a:endParaRPr lang="ko-KR" altLang="en-US" sz="1450"/>
          </a:p>
        </p:txBody>
      </p:sp>
      <p:sp>
        <p:nvSpPr>
          <p:cNvPr id="5048" name="TextBox 5047"/>
          <p:cNvSpPr txBox="1"/>
          <p:nvPr/>
        </p:nvSpPr>
        <p:spPr>
          <a:xfrm>
            <a:off x="12856464" y="3503803"/>
            <a:ext cx="4608576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예측·인구·시설·도로 묶음별로 켜고 끔, 버튼의 색 견본이 지도 범례</a:t>
            </a:r>
            <a:endParaRPr lang="ko-KR" altLang="en-US" sz="1250"/>
          </a:p>
        </p:txBody>
      </p:sp>
      <p:sp>
        <p:nvSpPr>
          <p:cNvPr id="5049" name="Oval 5048"/>
          <p:cNvSpPr/>
          <p:nvPr/>
        </p:nvSpPr>
        <p:spPr>
          <a:xfrm>
            <a:off x="12435840" y="4032631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16"/>
          </a:p>
        </p:txBody>
      </p:sp>
      <p:sp>
        <p:nvSpPr>
          <p:cNvPr id="5050" name="TextBox 5049"/>
          <p:cNvSpPr txBox="1"/>
          <p:nvPr/>
        </p:nvSpPr>
        <p:spPr>
          <a:xfrm>
            <a:off x="12856464" y="4014343"/>
            <a:ext cx="4608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 실행 · 시간별 재생</a:t>
            </a:r>
            <a:endParaRPr lang="ko-KR" altLang="en-US" sz="1450"/>
          </a:p>
        </p:txBody>
      </p:sp>
      <p:sp>
        <p:nvSpPr>
          <p:cNvPr id="5051" name="TextBox 5050"/>
          <p:cNvSpPr txBox="1"/>
          <p:nvPr/>
        </p:nvSpPr>
        <p:spPr>
          <a:xfrm>
            <a:off x="12856464" y="4281106"/>
            <a:ext cx="46085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예측 후 「다시 예측」과 재생 막대가 나타남</a:t>
            </a:r>
            <a:endParaRPr lang="ko-KR" altLang="en-US" sz="1250"/>
          </a:p>
        </p:txBody>
      </p:sp>
      <p:sp>
        <p:nvSpPr>
          <p:cNvPr id="5052" name="Oval 5051"/>
          <p:cNvSpPr/>
          <p:nvPr/>
        </p:nvSpPr>
        <p:spPr>
          <a:xfrm>
            <a:off x="12435840" y="4600384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16"/>
          </a:p>
        </p:txBody>
      </p:sp>
      <p:sp>
        <p:nvSpPr>
          <p:cNvPr id="5053" name="TextBox 5052"/>
          <p:cNvSpPr txBox="1"/>
          <p:nvPr/>
        </p:nvSpPr>
        <p:spPr>
          <a:xfrm>
            <a:off x="12856464" y="4582096"/>
            <a:ext cx="4608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「산불」 날개</a:t>
            </a:r>
            <a:endParaRPr lang="ko-KR" altLang="en-US" sz="1450"/>
          </a:p>
        </p:txBody>
      </p:sp>
      <p:sp>
        <p:nvSpPr>
          <p:cNvPr id="5054" name="TextBox 5053"/>
          <p:cNvSpPr txBox="1"/>
          <p:nvPr/>
        </p:nvSpPr>
        <p:spPr>
          <a:xfrm>
            <a:off x="12856464" y="4848860"/>
            <a:ext cx="46085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누르면 산불 목록이 고정 창 위로 펼쳐짐</a:t>
            </a:r>
            <a:endParaRPr lang="ko-KR" altLang="en-US" sz="1250"/>
          </a:p>
        </p:txBody>
      </p:sp>
      <p:sp>
        <p:nvSpPr>
          <p:cNvPr id="5055" name="Oval 5054"/>
          <p:cNvSpPr/>
          <p:nvPr/>
        </p:nvSpPr>
        <p:spPr>
          <a:xfrm>
            <a:off x="12435840" y="5168138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16"/>
          </a:p>
        </p:txBody>
      </p:sp>
      <p:sp>
        <p:nvSpPr>
          <p:cNvPr id="5056" name="TextBox 5055"/>
          <p:cNvSpPr txBox="1"/>
          <p:nvPr/>
        </p:nvSpPr>
        <p:spPr>
          <a:xfrm>
            <a:off x="12856464" y="5149850"/>
            <a:ext cx="4608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왼쪽 고정 창(화면 1/4)</a:t>
            </a:r>
            <a:endParaRPr lang="ko-KR" altLang="en-US" sz="1450"/>
          </a:p>
        </p:txBody>
      </p:sp>
      <p:sp>
        <p:nvSpPr>
          <p:cNvPr id="5057" name="TextBox 5056"/>
          <p:cNvSpPr txBox="1"/>
          <p:nvPr/>
        </p:nvSpPr>
        <p:spPr>
          <a:xfrm>
            <a:off x="12856464" y="5416613"/>
            <a:ext cx="46085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산불현황 · 대응제안 두 탭</a:t>
            </a:r>
            <a:endParaRPr lang="ko-KR" altLang="en-US" sz="1250"/>
          </a:p>
        </p:txBody>
      </p:sp>
      <p:sp>
        <p:nvSpPr>
          <p:cNvPr id="5058" name="Oval 5057"/>
          <p:cNvSpPr/>
          <p:nvPr/>
        </p:nvSpPr>
        <p:spPr>
          <a:xfrm>
            <a:off x="12435840" y="5735891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216"/>
          </a:p>
        </p:txBody>
      </p:sp>
      <p:sp>
        <p:nvSpPr>
          <p:cNvPr id="5059" name="TextBox 5058"/>
          <p:cNvSpPr txBox="1"/>
          <p:nvPr/>
        </p:nvSpPr>
        <p:spPr>
          <a:xfrm>
            <a:off x="12856464" y="5717603"/>
            <a:ext cx="4608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 상황도</a:t>
            </a:r>
            <a:endParaRPr lang="ko-KR" altLang="en-US" sz="1450"/>
          </a:p>
        </p:txBody>
      </p:sp>
      <p:sp>
        <p:nvSpPr>
          <p:cNvPr id="5060" name="TextBox 5059"/>
          <p:cNvSpPr txBox="1"/>
          <p:nvPr/>
        </p:nvSpPr>
        <p:spPr>
          <a:xfrm>
            <a:off x="12856464" y="5984367"/>
            <a:ext cx="4608576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실측 화선, 1시간 간격 확산 범위, 위험구역(P5)·잠재 위험구역(P8)</a:t>
            </a:r>
            <a:endParaRPr lang="ko-KR" altLang="en-US" sz="1250"/>
          </a:p>
        </p:txBody>
      </p:sp>
      <p:sp>
        <p:nvSpPr>
          <p:cNvPr id="5061" name="Oval 5060"/>
          <p:cNvSpPr/>
          <p:nvPr/>
        </p:nvSpPr>
        <p:spPr>
          <a:xfrm>
            <a:off x="12435840" y="6513195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  <a:endParaRPr lang="ko-KR" altLang="en-US" sz="1216"/>
          </a:p>
        </p:txBody>
      </p:sp>
      <p:sp>
        <p:nvSpPr>
          <p:cNvPr id="5062" name="TextBox 5061"/>
          <p:cNvSpPr txBox="1"/>
          <p:nvPr/>
        </p:nvSpPr>
        <p:spPr>
          <a:xfrm>
            <a:off x="12856464" y="6494907"/>
            <a:ext cx="4608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위험도</a:t>
            </a:r>
            <a:endParaRPr lang="ko-KR" altLang="en-US" sz="1450"/>
          </a:p>
        </p:txBody>
      </p:sp>
      <p:sp>
        <p:nvSpPr>
          <p:cNvPr id="5063" name="TextBox 5062"/>
          <p:cNvSpPr txBox="1"/>
          <p:nvPr/>
        </p:nvSpPr>
        <p:spPr>
          <a:xfrm>
            <a:off x="12856464" y="6761670"/>
            <a:ext cx="46085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숫자 하나(1.00~5.00), 구간 색, 열람자도 표시</a:t>
            </a:r>
            <a:endParaRPr lang="ko-KR" altLang="en-US" sz="1250"/>
          </a:p>
        </p:txBody>
      </p:sp>
      <p:sp>
        <p:nvSpPr>
          <p:cNvPr id="5064" name="Oval 5063"/>
          <p:cNvSpPr/>
          <p:nvPr/>
        </p:nvSpPr>
        <p:spPr>
          <a:xfrm>
            <a:off x="12435840" y="7080948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8</a:t>
            </a:r>
            <a:endParaRPr lang="ko-KR" altLang="en-US" sz="1216"/>
          </a:p>
        </p:txBody>
      </p:sp>
      <p:sp>
        <p:nvSpPr>
          <p:cNvPr id="5065" name="TextBox 5064"/>
          <p:cNvSpPr txBox="1"/>
          <p:nvPr/>
        </p:nvSpPr>
        <p:spPr>
          <a:xfrm>
            <a:off x="12856464" y="7062660"/>
            <a:ext cx="4608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지도 도구</a:t>
            </a:r>
            <a:endParaRPr lang="ko-KR" altLang="en-US" sz="1450"/>
          </a:p>
        </p:txBody>
      </p:sp>
      <p:sp>
        <p:nvSpPr>
          <p:cNvPr id="5066" name="TextBox 5065"/>
          <p:cNvSpPr txBox="1"/>
          <p:nvPr/>
        </p:nvSpPr>
        <p:spPr>
          <a:xfrm>
            <a:off x="12856464" y="7329424"/>
            <a:ext cx="46085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확대·축소·범위 맞춤·위성/일반·나침반</a:t>
            </a:r>
            <a:endParaRPr lang="ko-KR" altLang="en-US" sz="1250"/>
          </a:p>
        </p:txBody>
      </p:sp>
      <p:sp>
        <p:nvSpPr>
          <p:cNvPr id="5067" name="Oval 5066"/>
          <p:cNvSpPr/>
          <p:nvPr/>
        </p:nvSpPr>
        <p:spPr>
          <a:xfrm>
            <a:off x="12435840" y="7648702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9</a:t>
            </a:r>
            <a:endParaRPr lang="ko-KR" altLang="en-US" sz="1216"/>
          </a:p>
        </p:txBody>
      </p:sp>
      <p:sp>
        <p:nvSpPr>
          <p:cNvPr id="5068" name="TextBox 5067"/>
          <p:cNvSpPr txBox="1"/>
          <p:nvPr/>
        </p:nvSpPr>
        <p:spPr>
          <a:xfrm>
            <a:off x="12856464" y="7630414"/>
            <a:ext cx="4608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어시스턴트</a:t>
            </a:r>
            <a:endParaRPr lang="ko-KR" altLang="en-US" sz="1450"/>
          </a:p>
        </p:txBody>
      </p:sp>
      <p:sp>
        <p:nvSpPr>
          <p:cNvPr id="5069" name="TextBox 5068"/>
          <p:cNvSpPr txBox="1"/>
          <p:nvPr/>
        </p:nvSpPr>
        <p:spPr>
          <a:xfrm>
            <a:off x="12856464" y="7897177"/>
            <a:ext cx="46085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질의응답·상황 정정 창 열기</a:t>
            </a:r>
            <a:endParaRPr lang="ko-KR" altLang="en-US" sz="1250"/>
          </a:p>
        </p:txBody>
      </p:sp>
      <p:sp>
        <p:nvSpPr>
          <p:cNvPr id="5070" name="Rounded Rectangle 5069"/>
          <p:cNvSpPr/>
          <p:nvPr/>
        </p:nvSpPr>
        <p:spPr>
          <a:xfrm>
            <a:off x="822960" y="88696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71" name="TextBox 5070"/>
          <p:cNvSpPr txBox="1"/>
          <p:nvPr/>
        </p:nvSpPr>
        <p:spPr>
          <a:xfrm>
            <a:off x="1965960" y="8860536"/>
            <a:ext cx="154990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F-05 통합 상황도 · F-06 레이어 · F-07 주요 시설 · UC-SIT-03   |   권한별 첫 화면: 지휘권자·열람자 = 상황도, 보고자 = 상황 입력 판, 관리자 = 관리 화면</a:t>
            </a:r>
            <a:endParaRPr lang="ko-KR" altLang="en-US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38AC9-7E27-8FC1-B382-B165857D24EF}"/>
              </a:ext>
            </a:extLst>
          </p:cNvPr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3509880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로그인 · 권한별 첫 화면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024" name="Rectangle 5023"/>
          <p:cNvSpPr/>
          <p:nvPr/>
        </p:nvSpPr>
        <p:spPr>
          <a:xfrm>
            <a:off x="822960" y="2432304"/>
            <a:ext cx="649224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로그인 (발급 계정 · 회원가입 없음)</a:t>
            </a:r>
            <a:endParaRPr lang="ko-KR" altLang="en-US" sz="1250"/>
          </a:p>
        </p:txBody>
      </p:sp>
      <p:pic>
        <p:nvPicPr>
          <p:cNvPr id="5025" name="Picture 50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743200"/>
            <a:ext cx="6492240" cy="4185786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6" name="Rounded Rectangle 5025"/>
          <p:cNvSpPr/>
          <p:nvPr/>
        </p:nvSpPr>
        <p:spPr>
          <a:xfrm>
            <a:off x="4479116" y="5536572"/>
            <a:ext cx="2767744" cy="469833"/>
          </a:xfrm>
          <a:prstGeom prst="roundRect">
            <a:avLst>
              <a:gd name="adj" fmla="val 9731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7" name="Oval 5026"/>
          <p:cNvSpPr/>
          <p:nvPr/>
        </p:nvSpPr>
        <p:spPr>
          <a:xfrm>
            <a:off x="4131644" y="5616040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8" name="Rounded Rectangle 5027"/>
          <p:cNvSpPr/>
          <p:nvPr/>
        </p:nvSpPr>
        <p:spPr>
          <a:xfrm>
            <a:off x="4479116" y="4374802"/>
            <a:ext cx="2767744" cy="1093430"/>
          </a:xfrm>
          <a:prstGeom prst="roundRect">
            <a:avLst>
              <a:gd name="adj" fmla="val 4181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9" name="Oval 5028"/>
          <p:cNvSpPr/>
          <p:nvPr/>
        </p:nvSpPr>
        <p:spPr>
          <a:xfrm>
            <a:off x="4131644" y="4766069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30" name="Rounded Rectangle 5029"/>
          <p:cNvSpPr/>
          <p:nvPr/>
        </p:nvSpPr>
        <p:spPr>
          <a:xfrm>
            <a:off x="4479116" y="6228508"/>
            <a:ext cx="2767744" cy="495460"/>
          </a:xfrm>
          <a:prstGeom prst="roundRect">
            <a:avLst>
              <a:gd name="adj" fmla="val 9227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1" name="Oval 5030"/>
          <p:cNvSpPr/>
          <p:nvPr/>
        </p:nvSpPr>
        <p:spPr>
          <a:xfrm>
            <a:off x="4131644" y="6320790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pic>
        <p:nvPicPr>
          <p:cNvPr id="5032" name="Picture 503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7020426"/>
            <a:ext cx="6492240" cy="408771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3" name="Rounded Rectangle 5032"/>
          <p:cNvSpPr/>
          <p:nvPr/>
        </p:nvSpPr>
        <p:spPr>
          <a:xfrm>
            <a:off x="2145453" y="7056494"/>
            <a:ext cx="3847253" cy="348657"/>
          </a:xfrm>
          <a:prstGeom prst="roundRect">
            <a:avLst>
              <a:gd name="adj" fmla="val 13113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4" name="Oval 5033"/>
          <p:cNvSpPr/>
          <p:nvPr/>
        </p:nvSpPr>
        <p:spPr>
          <a:xfrm>
            <a:off x="1797981" y="7075375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5" name="Oval 5034"/>
          <p:cNvSpPr/>
          <p:nvPr/>
        </p:nvSpPr>
        <p:spPr>
          <a:xfrm>
            <a:off x="868680" y="7593789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064"/>
          </a:p>
        </p:txBody>
      </p:sp>
      <p:sp>
        <p:nvSpPr>
          <p:cNvPr id="5036" name="TextBox 5035"/>
          <p:cNvSpPr txBox="1"/>
          <p:nvPr/>
        </p:nvSpPr>
        <p:spPr>
          <a:xfrm>
            <a:off x="1216152" y="7575501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사용자 구분  </a:t>
            </a: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통합지휘권자·열람자·상황 보고자·전산 관리자</a:t>
            </a:r>
            <a:endParaRPr lang="ko-KR" altLang="en-US" sz="1250"/>
          </a:p>
        </p:txBody>
      </p:sp>
      <p:sp>
        <p:nvSpPr>
          <p:cNvPr id="5037" name="Oval 5036"/>
          <p:cNvSpPr/>
          <p:nvPr/>
        </p:nvSpPr>
        <p:spPr>
          <a:xfrm>
            <a:off x="868680" y="7941261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064"/>
          </a:p>
        </p:txBody>
      </p:sp>
      <p:sp>
        <p:nvSpPr>
          <p:cNvPr id="5038" name="TextBox 5037"/>
          <p:cNvSpPr txBox="1"/>
          <p:nvPr/>
        </p:nvSpPr>
        <p:spPr>
          <a:xfrm>
            <a:off x="1216152" y="7922973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아이디·비밀번호  </a:t>
            </a: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전산 관리자가 발급한 계정</a:t>
            </a:r>
            <a:endParaRPr lang="ko-KR" altLang="en-US" sz="1250"/>
          </a:p>
        </p:txBody>
      </p:sp>
      <p:sp>
        <p:nvSpPr>
          <p:cNvPr id="5039" name="Oval 5038"/>
          <p:cNvSpPr/>
          <p:nvPr/>
        </p:nvSpPr>
        <p:spPr>
          <a:xfrm>
            <a:off x="868680" y="8288733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064"/>
          </a:p>
        </p:txBody>
      </p:sp>
      <p:sp>
        <p:nvSpPr>
          <p:cNvPr id="5040" name="TextBox 5039"/>
          <p:cNvSpPr txBox="1"/>
          <p:nvPr/>
        </p:nvSpPr>
        <p:spPr>
          <a:xfrm>
            <a:off x="1216152" y="8270445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로그인  </a:t>
            </a: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권한 토큰 발급 → 권한별 첫 화면(새로고침해도 유지)</a:t>
            </a:r>
            <a:endParaRPr lang="ko-KR" altLang="en-US" sz="1250"/>
          </a:p>
        </p:txBody>
      </p:sp>
      <p:sp>
        <p:nvSpPr>
          <p:cNvPr id="5041" name="Oval 5040"/>
          <p:cNvSpPr/>
          <p:nvPr/>
        </p:nvSpPr>
        <p:spPr>
          <a:xfrm>
            <a:off x="868680" y="8636205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064"/>
          </a:p>
        </p:txBody>
      </p:sp>
      <p:sp>
        <p:nvSpPr>
          <p:cNvPr id="5042" name="TextBox 5041"/>
          <p:cNvSpPr txBox="1"/>
          <p:nvPr/>
        </p:nvSpPr>
        <p:spPr>
          <a:xfrm>
            <a:off x="1216152" y="8617917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오류 안내  </a:t>
            </a: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5회 연속 실패 시 잠금, 회수 계정 차단</a:t>
            </a:r>
            <a:endParaRPr lang="ko-KR" altLang="en-US" sz="1250"/>
          </a:p>
        </p:txBody>
      </p:sp>
      <p:sp>
        <p:nvSpPr>
          <p:cNvPr id="5043" name="Rectangle 5042"/>
          <p:cNvSpPr/>
          <p:nvPr/>
        </p:nvSpPr>
        <p:spPr>
          <a:xfrm>
            <a:off x="7635240" y="2432304"/>
            <a:ext cx="484632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통합지휘권자 · 조작 — 통합 상황도</a:t>
            </a:r>
            <a:endParaRPr lang="ko-KR" altLang="en-US" sz="1250"/>
          </a:p>
        </p:txBody>
      </p:sp>
      <p:pic>
        <p:nvPicPr>
          <p:cNvPr id="5044" name="Picture 5043" descr="G_02_cmd_mai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2743200"/>
            <a:ext cx="4846320" cy="2726055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45" name="Rectangle 5044"/>
          <p:cNvSpPr/>
          <p:nvPr/>
        </p:nvSpPr>
        <p:spPr>
          <a:xfrm>
            <a:off x="12618720" y="2432304"/>
            <a:ext cx="4846320" cy="310896"/>
          </a:xfrm>
          <a:prstGeom prst="rect">
            <a:avLst/>
          </a:prstGeom>
          <a:solidFill>
            <a:srgbClr val="C0602A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상황 보고자 · 보고 — 상황 입력 판</a:t>
            </a:r>
            <a:endParaRPr lang="ko-KR" altLang="en-US" sz="1250"/>
          </a:p>
        </p:txBody>
      </p:sp>
      <p:pic>
        <p:nvPicPr>
          <p:cNvPr id="5046" name="Picture 5045" descr="G_20_rep_main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18720" y="2743200"/>
            <a:ext cx="4846320" cy="2726055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47" name="Rectangle 5046"/>
          <p:cNvSpPr/>
          <p:nvPr/>
        </p:nvSpPr>
        <p:spPr>
          <a:xfrm>
            <a:off x="7635240" y="5559552"/>
            <a:ext cx="4846320" cy="310896"/>
          </a:xfrm>
          <a:prstGeom prst="rect">
            <a:avLst/>
          </a:prstGeom>
          <a:solidFill>
            <a:srgbClr val="5B7FA6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열람자 · 열람 — 읽기 전용 상황도</a:t>
            </a:r>
            <a:endParaRPr lang="ko-KR" altLang="en-US" sz="1250"/>
          </a:p>
        </p:txBody>
      </p:sp>
      <p:pic>
        <p:nvPicPr>
          <p:cNvPr id="5048" name="Picture 5047" descr="G_40_viewer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5870448"/>
            <a:ext cx="4846320" cy="2726055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49" name="Rectangle 5048"/>
          <p:cNvSpPr/>
          <p:nvPr/>
        </p:nvSpPr>
        <p:spPr>
          <a:xfrm>
            <a:off x="12618720" y="5559552"/>
            <a:ext cx="4846320" cy="310896"/>
          </a:xfrm>
          <a:prstGeom prst="rect">
            <a:avLst/>
          </a:prstGeom>
          <a:solidFill>
            <a:srgbClr val="4A4F63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전산 관리자 · 관리 — 관리 화면</a:t>
            </a:r>
            <a:endParaRPr lang="ko-KR" altLang="en-US" sz="1250"/>
          </a:p>
        </p:txBody>
      </p:sp>
      <p:pic>
        <p:nvPicPr>
          <p:cNvPr id="5050" name="Picture 504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18720" y="5870448"/>
            <a:ext cx="4846320" cy="2726055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51" name="Rounded Rectangle 5050"/>
          <p:cNvSpPr/>
          <p:nvPr/>
        </p:nvSpPr>
        <p:spPr>
          <a:xfrm>
            <a:off x="7635240" y="879652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52" name="TextBox 5051"/>
          <p:cNvSpPr txBox="1"/>
          <p:nvPr/>
        </p:nvSpPr>
        <p:spPr>
          <a:xfrm>
            <a:off x="8778240" y="8787384"/>
            <a:ext cx="8686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F-01 로그인·계정·권한 관리 · UC-AUTH-01 · SER-001</a:t>
            </a:r>
            <a:endParaRPr lang="ko-KR" altLang="en-US" sz="1200"/>
          </a:p>
        </p:txBody>
      </p:sp>
      <p:sp>
        <p:nvSpPr>
          <p:cNvPr id="5053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2697835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상황 보고자 ① 새 산불 보고 (UC-REPORT-01)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5024" name="Picture 5023" descr="G_24_rep_new_filled_c0_40_1500_108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432304"/>
            <a:ext cx="9495692" cy="658368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5" name="Rounded Rectangle 5024"/>
          <p:cNvSpPr/>
          <p:nvPr/>
        </p:nvSpPr>
        <p:spPr>
          <a:xfrm>
            <a:off x="1000213" y="2913419"/>
            <a:ext cx="1430684" cy="196244"/>
          </a:xfrm>
          <a:prstGeom prst="roundRect">
            <a:avLst>
              <a:gd name="adj" fmla="val 23297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6" name="Oval 5025"/>
          <p:cNvSpPr/>
          <p:nvPr/>
        </p:nvSpPr>
        <p:spPr>
          <a:xfrm>
            <a:off x="829220" y="2742426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7" name="Rounded Rectangle 5026"/>
          <p:cNvSpPr/>
          <p:nvPr/>
        </p:nvSpPr>
        <p:spPr>
          <a:xfrm>
            <a:off x="1000213" y="3267925"/>
            <a:ext cx="2829716" cy="759655"/>
          </a:xfrm>
          <a:prstGeom prst="roundRect">
            <a:avLst>
              <a:gd name="adj" fmla="val 6018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8" name="Oval 5027"/>
          <p:cNvSpPr/>
          <p:nvPr/>
        </p:nvSpPr>
        <p:spPr>
          <a:xfrm>
            <a:off x="3690026" y="309693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29" name="Rounded Rectangle 5028"/>
          <p:cNvSpPr/>
          <p:nvPr/>
        </p:nvSpPr>
        <p:spPr>
          <a:xfrm>
            <a:off x="1000213" y="4154190"/>
            <a:ext cx="2829716" cy="221566"/>
          </a:xfrm>
          <a:prstGeom prst="roundRect">
            <a:avLst>
              <a:gd name="adj" fmla="val 20634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0" name="Oval 5029"/>
          <p:cNvSpPr/>
          <p:nvPr/>
        </p:nvSpPr>
        <p:spPr>
          <a:xfrm>
            <a:off x="667512" y="4109525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1" name="Rounded Rectangle 5030"/>
          <p:cNvSpPr/>
          <p:nvPr/>
        </p:nvSpPr>
        <p:spPr>
          <a:xfrm>
            <a:off x="1000213" y="4331442"/>
            <a:ext cx="2829716" cy="822960"/>
          </a:xfrm>
          <a:prstGeom prst="roundRect">
            <a:avLst>
              <a:gd name="adj" fmla="val 5555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2" name="Oval 5031"/>
          <p:cNvSpPr/>
          <p:nvPr/>
        </p:nvSpPr>
        <p:spPr>
          <a:xfrm>
            <a:off x="3690026" y="4160450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3" name="Rounded Rectangle 5032"/>
          <p:cNvSpPr/>
          <p:nvPr/>
        </p:nvSpPr>
        <p:spPr>
          <a:xfrm>
            <a:off x="1000213" y="5129081"/>
            <a:ext cx="2829716" cy="784977"/>
          </a:xfrm>
          <a:prstGeom prst="roundRect">
            <a:avLst>
              <a:gd name="adj" fmla="val 5824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4" name="Oval 5033"/>
          <p:cNvSpPr/>
          <p:nvPr/>
        </p:nvSpPr>
        <p:spPr>
          <a:xfrm>
            <a:off x="3690026" y="4958088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35" name="Rounded Rectangle 5034"/>
          <p:cNvSpPr/>
          <p:nvPr/>
        </p:nvSpPr>
        <p:spPr>
          <a:xfrm>
            <a:off x="1000213" y="5888736"/>
            <a:ext cx="2829716" cy="759655"/>
          </a:xfrm>
          <a:prstGeom prst="roundRect">
            <a:avLst>
              <a:gd name="adj" fmla="val 6018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6" name="Oval 5035"/>
          <p:cNvSpPr/>
          <p:nvPr/>
        </p:nvSpPr>
        <p:spPr>
          <a:xfrm>
            <a:off x="3690026" y="5717743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292"/>
          </a:p>
        </p:txBody>
      </p:sp>
      <p:sp>
        <p:nvSpPr>
          <p:cNvPr id="5037" name="Rounded Rectangle 5036"/>
          <p:cNvSpPr/>
          <p:nvPr/>
        </p:nvSpPr>
        <p:spPr>
          <a:xfrm>
            <a:off x="1000213" y="7237124"/>
            <a:ext cx="2829716" cy="208905"/>
          </a:xfrm>
          <a:prstGeom prst="roundRect">
            <a:avLst>
              <a:gd name="adj" fmla="val 21885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8" name="Oval 5037"/>
          <p:cNvSpPr/>
          <p:nvPr/>
        </p:nvSpPr>
        <p:spPr>
          <a:xfrm>
            <a:off x="3690026" y="706613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  <a:endParaRPr lang="ko-KR" altLang="en-US" sz="1292"/>
          </a:p>
        </p:txBody>
      </p:sp>
      <p:sp>
        <p:nvSpPr>
          <p:cNvPr id="5039" name="Oval 5038"/>
          <p:cNvSpPr/>
          <p:nvPr/>
        </p:nvSpPr>
        <p:spPr>
          <a:xfrm>
            <a:off x="10638692" y="247802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140"/>
          </a:p>
        </p:txBody>
      </p:sp>
      <p:sp>
        <p:nvSpPr>
          <p:cNvPr id="5040" name="TextBox 5039"/>
          <p:cNvSpPr txBox="1"/>
          <p:nvPr/>
        </p:nvSpPr>
        <p:spPr>
          <a:xfrm>
            <a:off x="11041028" y="2459736"/>
            <a:ext cx="642401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「새 산불 보고」</a:t>
            </a:r>
            <a:endParaRPr lang="ko-KR" altLang="en-US" sz="1350"/>
          </a:p>
        </p:txBody>
      </p:sp>
      <p:sp>
        <p:nvSpPr>
          <p:cNvPr id="5041" name="TextBox 5040"/>
          <p:cNvSpPr txBox="1"/>
          <p:nvPr/>
        </p:nvSpPr>
        <p:spPr>
          <a:xfrm>
            <a:off x="11041028" y="2710624"/>
            <a:ext cx="642401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처음 보고할 때 새 양식을 엶</a:t>
            </a:r>
            <a:endParaRPr lang="ko-KR" altLang="en-US" sz="1150"/>
          </a:p>
        </p:txBody>
      </p:sp>
      <p:sp>
        <p:nvSpPr>
          <p:cNvPr id="5042" name="Oval 5041"/>
          <p:cNvSpPr/>
          <p:nvPr/>
        </p:nvSpPr>
        <p:spPr>
          <a:xfrm>
            <a:off x="10638692" y="2967418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140"/>
          </a:p>
        </p:txBody>
      </p:sp>
      <p:sp>
        <p:nvSpPr>
          <p:cNvPr id="5043" name="TextBox 5042"/>
          <p:cNvSpPr txBox="1"/>
          <p:nvPr/>
        </p:nvSpPr>
        <p:spPr>
          <a:xfrm>
            <a:off x="11041028" y="2949131"/>
            <a:ext cx="642401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산불명·주소·발화 위치</a:t>
            </a:r>
            <a:endParaRPr lang="ko-KR" altLang="en-US" sz="1350"/>
          </a:p>
        </p:txBody>
      </p:sp>
      <p:sp>
        <p:nvSpPr>
          <p:cNvPr id="5044" name="TextBox 5043"/>
          <p:cNvSpPr txBox="1"/>
          <p:nvPr/>
        </p:nvSpPr>
        <p:spPr>
          <a:xfrm>
            <a:off x="11041028" y="3200019"/>
            <a:ext cx="642401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경도·위도 직접 입력 또는 지도 지정</a:t>
            </a:r>
            <a:endParaRPr lang="ko-KR" altLang="en-US" sz="1150"/>
          </a:p>
        </p:txBody>
      </p:sp>
      <p:sp>
        <p:nvSpPr>
          <p:cNvPr id="5045" name="Oval 5044"/>
          <p:cNvSpPr/>
          <p:nvPr/>
        </p:nvSpPr>
        <p:spPr>
          <a:xfrm>
            <a:off x="10638692" y="3456813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140"/>
          </a:p>
        </p:txBody>
      </p:sp>
      <p:sp>
        <p:nvSpPr>
          <p:cNvPr id="5046" name="TextBox 5045"/>
          <p:cNvSpPr txBox="1"/>
          <p:nvPr/>
        </p:nvSpPr>
        <p:spPr>
          <a:xfrm>
            <a:off x="11041028" y="3438525"/>
            <a:ext cx="642401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지도에서 발화 위치 지정</a:t>
            </a:r>
            <a:endParaRPr lang="ko-KR" altLang="en-US" sz="1350"/>
          </a:p>
        </p:txBody>
      </p:sp>
      <p:sp>
        <p:nvSpPr>
          <p:cNvPr id="5047" name="TextBox 5046"/>
          <p:cNvSpPr txBox="1"/>
          <p:nvPr/>
        </p:nvSpPr>
        <p:spPr>
          <a:xfrm>
            <a:off x="11041028" y="3689414"/>
            <a:ext cx="642401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누른 뒤 지도를 찍으면 좌표가 채워지고 표식 표시</a:t>
            </a:r>
            <a:endParaRPr lang="ko-KR" altLang="en-US" sz="1150"/>
          </a:p>
        </p:txBody>
      </p:sp>
      <p:sp>
        <p:nvSpPr>
          <p:cNvPr id="5048" name="Oval 5047"/>
          <p:cNvSpPr/>
          <p:nvPr/>
        </p:nvSpPr>
        <p:spPr>
          <a:xfrm>
            <a:off x="10638692" y="3946208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140"/>
          </a:p>
        </p:txBody>
      </p:sp>
      <p:sp>
        <p:nvSpPr>
          <p:cNvPr id="5049" name="TextBox 5048"/>
          <p:cNvSpPr txBox="1"/>
          <p:nvPr/>
        </p:nvSpPr>
        <p:spPr>
          <a:xfrm>
            <a:off x="11041028" y="3927920"/>
            <a:ext cx="642401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발생 일시·신고 접수 일시·신고 내용</a:t>
            </a:r>
            <a:endParaRPr lang="ko-KR" altLang="en-US" sz="1350"/>
          </a:p>
        </p:txBody>
      </p:sp>
      <p:sp>
        <p:nvSpPr>
          <p:cNvPr id="5050" name="TextBox 5049"/>
          <p:cNvSpPr txBox="1"/>
          <p:nvPr/>
        </p:nvSpPr>
        <p:spPr>
          <a:xfrm>
            <a:off x="11041028" y="4178808"/>
            <a:ext cx="642401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신고 접수 일시는 필수, 발생 일시는 선택</a:t>
            </a:r>
            <a:endParaRPr lang="ko-KR" altLang="en-US" sz="1150"/>
          </a:p>
        </p:txBody>
      </p:sp>
      <p:sp>
        <p:nvSpPr>
          <p:cNvPr id="5051" name="Oval 5050"/>
          <p:cNvSpPr/>
          <p:nvPr/>
        </p:nvSpPr>
        <p:spPr>
          <a:xfrm>
            <a:off x="10638692" y="4435602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140"/>
          </a:p>
        </p:txBody>
      </p:sp>
      <p:sp>
        <p:nvSpPr>
          <p:cNvPr id="5052" name="TextBox 5051"/>
          <p:cNvSpPr txBox="1"/>
          <p:nvPr/>
        </p:nvSpPr>
        <p:spPr>
          <a:xfrm>
            <a:off x="11041028" y="4417314"/>
            <a:ext cx="642401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신고자 정보</a:t>
            </a:r>
            <a:endParaRPr lang="ko-KR" altLang="en-US" sz="1350"/>
          </a:p>
        </p:txBody>
      </p:sp>
      <p:sp>
        <p:nvSpPr>
          <p:cNvPr id="5053" name="TextBox 5052"/>
          <p:cNvSpPr txBox="1"/>
          <p:nvPr/>
        </p:nvSpPr>
        <p:spPr>
          <a:xfrm>
            <a:off x="11041028" y="4668202"/>
            <a:ext cx="6424012" cy="3855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신고 기관명·신고자 성명·연락처(선택, 연락처 형식 검사) — 「산불진화기관의 임무와 역할에 관한 규정」 제6조제1항제1호</a:t>
            </a:r>
            <a:endParaRPr lang="ko-KR" altLang="en-US" sz="1150"/>
          </a:p>
        </p:txBody>
      </p:sp>
      <p:sp>
        <p:nvSpPr>
          <p:cNvPr id="5054" name="Oval 5053"/>
          <p:cNvSpPr/>
          <p:nvPr/>
        </p:nvSpPr>
        <p:spPr>
          <a:xfrm>
            <a:off x="10638692" y="5117782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140"/>
          </a:p>
        </p:txBody>
      </p:sp>
      <p:sp>
        <p:nvSpPr>
          <p:cNvPr id="5055" name="TextBox 5054"/>
          <p:cNvSpPr txBox="1"/>
          <p:nvPr/>
        </p:nvSpPr>
        <p:spPr>
          <a:xfrm>
            <a:off x="11041028" y="5099494"/>
            <a:ext cx="642401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기관별 접수 기록</a:t>
            </a:r>
            <a:endParaRPr lang="ko-KR" altLang="en-US" sz="1350"/>
          </a:p>
        </p:txBody>
      </p:sp>
      <p:sp>
        <p:nvSpPr>
          <p:cNvPr id="5056" name="TextBox 5055"/>
          <p:cNvSpPr txBox="1"/>
          <p:nvPr/>
        </p:nvSpPr>
        <p:spPr>
          <a:xfrm>
            <a:off x="11041028" y="5350383"/>
            <a:ext cx="642401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접수 기관·시각·경로를 줄 단위로 추가·삭제</a:t>
            </a:r>
            <a:endParaRPr lang="ko-KR" altLang="en-US" sz="1150"/>
          </a:p>
        </p:txBody>
      </p:sp>
      <p:sp>
        <p:nvSpPr>
          <p:cNvPr id="5057" name="Oval 5056"/>
          <p:cNvSpPr/>
          <p:nvPr/>
        </p:nvSpPr>
        <p:spPr>
          <a:xfrm>
            <a:off x="10638692" y="5607177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  <a:endParaRPr lang="ko-KR" altLang="en-US" sz="1140"/>
          </a:p>
        </p:txBody>
      </p:sp>
      <p:sp>
        <p:nvSpPr>
          <p:cNvPr id="5058" name="TextBox 5057"/>
          <p:cNvSpPr txBox="1"/>
          <p:nvPr/>
        </p:nvSpPr>
        <p:spPr>
          <a:xfrm>
            <a:off x="11041028" y="5588889"/>
            <a:ext cx="642401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저장(제출)</a:t>
            </a:r>
            <a:endParaRPr lang="ko-KR" altLang="en-US" sz="1350"/>
          </a:p>
        </p:txBody>
      </p:sp>
      <p:sp>
        <p:nvSpPr>
          <p:cNvPr id="5059" name="TextBox 5058"/>
          <p:cNvSpPr txBox="1"/>
          <p:nvPr/>
        </p:nvSpPr>
        <p:spPr>
          <a:xfrm>
            <a:off x="11041028" y="5839778"/>
            <a:ext cx="642401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입력 검사 후 산불을 「접수」 상태로 생성, 이벤트 로그 기록</a:t>
            </a:r>
            <a:endParaRPr lang="ko-KR" altLang="en-US" sz="1150"/>
          </a:p>
        </p:txBody>
      </p:sp>
      <p:sp>
        <p:nvSpPr>
          <p:cNvPr id="5060" name="Rectangle 5059"/>
          <p:cNvSpPr/>
          <p:nvPr/>
        </p:nvSpPr>
        <p:spPr>
          <a:xfrm>
            <a:off x="10638692" y="6114860"/>
            <a:ext cx="6826348" cy="310896"/>
          </a:xfrm>
          <a:prstGeom prst="rect">
            <a:avLst/>
          </a:prstGeom>
          <a:solidFill>
            <a:srgbClr val="D0342C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필수 값이 빠지면</a:t>
            </a:r>
            <a:endParaRPr lang="ko-KR" altLang="en-US" sz="1250"/>
          </a:p>
        </p:txBody>
      </p:sp>
      <p:pic>
        <p:nvPicPr>
          <p:cNvPr id="5061" name="Picture 506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8692" y="6425756"/>
            <a:ext cx="3840480" cy="1162251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pic>
        <p:nvPicPr>
          <p:cNvPr id="5062" name="Picture 5061" descr="G_23_rep_invalid_c735_985_1185_102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8692" y="7642870"/>
            <a:ext cx="3840480" cy="332842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63" name="Rounded Rectangle 5062"/>
          <p:cNvSpPr/>
          <p:nvPr/>
        </p:nvSpPr>
        <p:spPr>
          <a:xfrm>
            <a:off x="10638692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64" name="TextBox 5063"/>
          <p:cNvSpPr txBox="1"/>
          <p:nvPr/>
        </p:nvSpPr>
        <p:spPr>
          <a:xfrm>
            <a:off x="11781692" y="8769096"/>
            <a:ext cx="56833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F-02 산불 상황 보고 · F-04 발생·접수 정보 · UC-REPORT-01</a:t>
            </a:r>
            <a:endParaRPr lang="ko-KR" altLang="en-US" sz="1200"/>
          </a:p>
        </p:txBody>
      </p:sp>
      <p:sp>
        <p:nvSpPr>
          <p:cNvPr id="5065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2393467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상황 보고자 ② 실측 화선 보고 — 1시간마다 (UC-REPORT-01 대안 흐름)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5024" name="Picture 5023" descr="G_21_rep_drawing_c0_40_1500_10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432304"/>
            <a:ext cx="7072312" cy="452628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5" name="Rounded Rectangle 5024"/>
          <p:cNvSpPr/>
          <p:nvPr/>
        </p:nvSpPr>
        <p:spPr>
          <a:xfrm>
            <a:off x="2001679" y="2790635"/>
            <a:ext cx="1065562" cy="146161"/>
          </a:xfrm>
          <a:prstGeom prst="roundRect">
            <a:avLst>
              <a:gd name="adj" fmla="val 31280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6" name="Oval 5025"/>
          <p:cNvSpPr/>
          <p:nvPr/>
        </p:nvSpPr>
        <p:spPr>
          <a:xfrm>
            <a:off x="2927337" y="261964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7" name="Rounded Rectangle 5026"/>
          <p:cNvSpPr/>
          <p:nvPr/>
        </p:nvSpPr>
        <p:spPr>
          <a:xfrm>
            <a:off x="954976" y="6194774"/>
            <a:ext cx="886396" cy="155591"/>
          </a:xfrm>
          <a:prstGeom prst="roundRect">
            <a:avLst>
              <a:gd name="adj" fmla="val 29384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8" name="Oval 5027"/>
          <p:cNvSpPr/>
          <p:nvPr/>
        </p:nvSpPr>
        <p:spPr>
          <a:xfrm>
            <a:off x="1701470" y="6023781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29" name="Rounded Rectangle 5028"/>
          <p:cNvSpPr/>
          <p:nvPr/>
        </p:nvSpPr>
        <p:spPr>
          <a:xfrm>
            <a:off x="4128087" y="4205097"/>
            <a:ext cx="3102388" cy="2206562"/>
          </a:xfrm>
          <a:prstGeom prst="roundRect">
            <a:avLst>
              <a:gd name="adj" fmla="val 207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0" name="Oval 5029"/>
          <p:cNvSpPr/>
          <p:nvPr/>
        </p:nvSpPr>
        <p:spPr>
          <a:xfrm>
            <a:off x="7090572" y="403410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1" name="Rounded Rectangle 5030"/>
          <p:cNvSpPr/>
          <p:nvPr/>
        </p:nvSpPr>
        <p:spPr>
          <a:xfrm>
            <a:off x="954976" y="6322076"/>
            <a:ext cx="2107549" cy="132017"/>
          </a:xfrm>
          <a:prstGeom prst="roundRect">
            <a:avLst>
              <a:gd name="adj" fmla="val 3463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2" name="Oval 5031"/>
          <p:cNvSpPr/>
          <p:nvPr/>
        </p:nvSpPr>
        <p:spPr>
          <a:xfrm>
            <a:off x="2922622" y="6314189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3" name="Rectangle 5032"/>
          <p:cNvSpPr/>
          <p:nvPr/>
        </p:nvSpPr>
        <p:spPr>
          <a:xfrm>
            <a:off x="8215312" y="2432304"/>
            <a:ext cx="9249728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그리기 완료 후 제출 방식 선택</a:t>
            </a:r>
            <a:endParaRPr lang="ko-KR" altLang="en-US" sz="1250"/>
          </a:p>
        </p:txBody>
      </p:sp>
      <p:pic>
        <p:nvPicPr>
          <p:cNvPr id="5034" name="Picture 5033" descr="G_21b_rep_drawn_c24_812_480_94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5312" y="2743200"/>
            <a:ext cx="9249728" cy="2697837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5" name="Rounded Rectangle 5034"/>
          <p:cNvSpPr/>
          <p:nvPr/>
        </p:nvSpPr>
        <p:spPr>
          <a:xfrm>
            <a:off x="8296450" y="4244252"/>
            <a:ext cx="9067167" cy="649104"/>
          </a:xfrm>
          <a:prstGeom prst="roundRect">
            <a:avLst>
              <a:gd name="adj" fmla="val 7043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6" name="Oval 5035"/>
          <p:cNvSpPr/>
          <p:nvPr/>
        </p:nvSpPr>
        <p:spPr>
          <a:xfrm>
            <a:off x="17223714" y="4073259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37" name="Rounded Rectangle 5036"/>
          <p:cNvSpPr/>
          <p:nvPr/>
        </p:nvSpPr>
        <p:spPr>
          <a:xfrm>
            <a:off x="8296450" y="4812218"/>
            <a:ext cx="9067167" cy="628819"/>
          </a:xfrm>
          <a:prstGeom prst="roundRect">
            <a:avLst>
              <a:gd name="adj" fmla="val 7270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8" name="Oval 5037"/>
          <p:cNvSpPr/>
          <p:nvPr/>
        </p:nvSpPr>
        <p:spPr>
          <a:xfrm>
            <a:off x="17223714" y="5285589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292"/>
          </a:p>
        </p:txBody>
      </p:sp>
      <p:sp>
        <p:nvSpPr>
          <p:cNvPr id="5039" name="Oval 5038"/>
          <p:cNvSpPr/>
          <p:nvPr/>
        </p:nvSpPr>
        <p:spPr>
          <a:xfrm>
            <a:off x="8215312" y="5651349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140"/>
          </a:p>
        </p:txBody>
      </p:sp>
      <p:sp>
        <p:nvSpPr>
          <p:cNvPr id="5040" name="TextBox 5039"/>
          <p:cNvSpPr txBox="1"/>
          <p:nvPr/>
        </p:nvSpPr>
        <p:spPr>
          <a:xfrm>
            <a:off x="8617649" y="5633061"/>
            <a:ext cx="8847392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「실측 화선 보고」</a:t>
            </a:r>
            <a:endParaRPr lang="ko-KR" altLang="en-US" sz="1400"/>
          </a:p>
        </p:txBody>
      </p:sp>
      <p:sp>
        <p:nvSpPr>
          <p:cNvPr id="5041" name="TextBox 5040"/>
          <p:cNvSpPr txBox="1"/>
          <p:nvPr/>
        </p:nvSpPr>
        <p:spPr>
          <a:xfrm>
            <a:off x="8617649" y="5891887"/>
            <a:ext cx="884739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직전 화선을 불러와 이어서 수정</a:t>
            </a:r>
            <a:endParaRPr lang="ko-KR" altLang="en-US" sz="1200"/>
          </a:p>
        </p:txBody>
      </p:sp>
      <p:sp>
        <p:nvSpPr>
          <p:cNvPr id="5042" name="Oval 5041"/>
          <p:cNvSpPr/>
          <p:nvPr/>
        </p:nvSpPr>
        <p:spPr>
          <a:xfrm>
            <a:off x="8215312" y="6166207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140"/>
          </a:p>
        </p:txBody>
      </p:sp>
      <p:sp>
        <p:nvSpPr>
          <p:cNvPr id="5043" name="TextBox 5042"/>
          <p:cNvSpPr txBox="1"/>
          <p:nvPr/>
        </p:nvSpPr>
        <p:spPr>
          <a:xfrm>
            <a:off x="8617649" y="6147919"/>
            <a:ext cx="8847392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지도에서 그리기 / GeoJSON</a:t>
            </a:r>
            <a:endParaRPr lang="ko-KR" altLang="en-US" sz="1400"/>
          </a:p>
        </p:txBody>
      </p:sp>
      <p:sp>
        <p:nvSpPr>
          <p:cNvPr id="5044" name="TextBox 5043"/>
          <p:cNvSpPr txBox="1"/>
          <p:nvPr/>
        </p:nvSpPr>
        <p:spPr>
          <a:xfrm>
            <a:off x="8617649" y="6406745"/>
            <a:ext cx="884739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꼭짓점을 차례로 찍고 「그리기 완료」</a:t>
            </a:r>
            <a:endParaRPr lang="ko-KR" altLang="en-US" sz="1200"/>
          </a:p>
        </p:txBody>
      </p:sp>
      <p:sp>
        <p:nvSpPr>
          <p:cNvPr id="5045" name="Oval 5044"/>
          <p:cNvSpPr/>
          <p:nvPr/>
        </p:nvSpPr>
        <p:spPr>
          <a:xfrm>
            <a:off x="8215312" y="6681065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140"/>
          </a:p>
        </p:txBody>
      </p:sp>
      <p:sp>
        <p:nvSpPr>
          <p:cNvPr id="5046" name="TextBox 5045"/>
          <p:cNvSpPr txBox="1"/>
          <p:nvPr/>
        </p:nvSpPr>
        <p:spPr>
          <a:xfrm>
            <a:off x="8617649" y="6662777"/>
            <a:ext cx="8847392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그리는 중 안내·미리보기</a:t>
            </a:r>
            <a:endParaRPr lang="ko-KR" altLang="en-US" sz="1400"/>
          </a:p>
        </p:txBody>
      </p:sp>
      <p:sp>
        <p:nvSpPr>
          <p:cNvPr id="5047" name="TextBox 5046"/>
          <p:cNvSpPr txBox="1"/>
          <p:nvPr/>
        </p:nvSpPr>
        <p:spPr>
          <a:xfrm>
            <a:off x="8617649" y="6921603"/>
            <a:ext cx="884739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주황 다각형, Esc로 취소</a:t>
            </a:r>
            <a:endParaRPr lang="ko-KR" altLang="en-US" sz="1200"/>
          </a:p>
        </p:txBody>
      </p:sp>
      <p:sp>
        <p:nvSpPr>
          <p:cNvPr id="5048" name="Oval 5047"/>
          <p:cNvSpPr/>
          <p:nvPr/>
        </p:nvSpPr>
        <p:spPr>
          <a:xfrm>
            <a:off x="8215312" y="7195923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140"/>
          </a:p>
        </p:txBody>
      </p:sp>
      <p:sp>
        <p:nvSpPr>
          <p:cNvPr id="5049" name="TextBox 5048"/>
          <p:cNvSpPr txBox="1"/>
          <p:nvPr/>
        </p:nvSpPr>
        <p:spPr>
          <a:xfrm>
            <a:off x="8617649" y="7177635"/>
            <a:ext cx="8847392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꼭짓점 수·면적(ha) 자동 계산</a:t>
            </a:r>
            <a:endParaRPr lang="ko-KR" altLang="en-US" sz="1400"/>
          </a:p>
        </p:txBody>
      </p:sp>
      <p:sp>
        <p:nvSpPr>
          <p:cNvPr id="5050" name="Oval 5049"/>
          <p:cNvSpPr/>
          <p:nvPr/>
        </p:nvSpPr>
        <p:spPr>
          <a:xfrm>
            <a:off x="8215312" y="7534251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140"/>
          </a:p>
        </p:txBody>
      </p:sp>
      <p:sp>
        <p:nvSpPr>
          <p:cNvPr id="5051" name="TextBox 5050"/>
          <p:cNvSpPr txBox="1"/>
          <p:nvPr/>
        </p:nvSpPr>
        <p:spPr>
          <a:xfrm>
            <a:off x="8617649" y="7515963"/>
            <a:ext cx="8847392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새 버전 또는 정정</a:t>
            </a:r>
            <a:endParaRPr lang="ko-KR" altLang="en-US" sz="1400"/>
          </a:p>
        </p:txBody>
      </p:sp>
      <p:sp>
        <p:nvSpPr>
          <p:cNvPr id="5052" name="TextBox 5051"/>
          <p:cNvSpPr txBox="1"/>
          <p:nvPr/>
        </p:nvSpPr>
        <p:spPr>
          <a:xfrm>
            <a:off x="8617649" y="7774789"/>
            <a:ext cx="884739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처음 받은 보고가 v1, 새 보고는 v2·v3…, 정정 시 이전 버전 「정정됨」 보존</a:t>
            </a:r>
            <a:endParaRPr lang="ko-KR" altLang="en-US" sz="1200"/>
          </a:p>
        </p:txBody>
      </p:sp>
      <p:sp>
        <p:nvSpPr>
          <p:cNvPr id="5053" name="Oval 5052"/>
          <p:cNvSpPr/>
          <p:nvPr/>
        </p:nvSpPr>
        <p:spPr>
          <a:xfrm>
            <a:off x="8215312" y="8049109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140"/>
          </a:p>
        </p:txBody>
      </p:sp>
      <p:sp>
        <p:nvSpPr>
          <p:cNvPr id="5054" name="TextBox 5053"/>
          <p:cNvSpPr txBox="1"/>
          <p:nvPr/>
        </p:nvSpPr>
        <p:spPr>
          <a:xfrm>
            <a:off x="8617649" y="8030821"/>
            <a:ext cx="8847392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저장 → 「진행 중」</a:t>
            </a:r>
            <a:endParaRPr lang="ko-KR" altLang="en-US" sz="1400"/>
          </a:p>
        </p:txBody>
      </p:sp>
      <p:sp>
        <p:nvSpPr>
          <p:cNvPr id="5055" name="TextBox 5054"/>
          <p:cNvSpPr txBox="1"/>
          <p:nvPr/>
        </p:nvSpPr>
        <p:spPr>
          <a:xfrm>
            <a:off x="8617649" y="8289647"/>
            <a:ext cx="884739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통합지휘권자 화면의 「다시 예측」 버튼 옆과 산불현황에 「재예측 필요」 표시</a:t>
            </a:r>
            <a:endParaRPr lang="ko-KR" altLang="en-US" sz="1200"/>
          </a:p>
        </p:txBody>
      </p:sp>
      <p:sp>
        <p:nvSpPr>
          <p:cNvPr id="5056" name="Rectangle 5055"/>
          <p:cNvSpPr/>
          <p:nvPr/>
        </p:nvSpPr>
        <p:spPr>
          <a:xfrm>
            <a:off x="822960" y="7050024"/>
            <a:ext cx="7072312" cy="310896"/>
          </a:xfrm>
          <a:prstGeom prst="rect">
            <a:avLst/>
          </a:prstGeom>
          <a:solidFill>
            <a:srgbClr val="C0602A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저장 후 — 통합지휘권자: 버튼 옆·산불현황에 「재예측 필요」</a:t>
            </a:r>
            <a:endParaRPr lang="ko-KR" altLang="en-US" sz="1250"/>
          </a:p>
        </p:txBody>
      </p:sp>
      <p:pic>
        <p:nvPicPr>
          <p:cNvPr id="5057" name="Picture 5056" descr="G_31_need_repredict_c1100_42_1580_7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7360920"/>
            <a:ext cx="5486400" cy="36576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pic>
        <p:nvPicPr>
          <p:cNvPr id="5058" name="Picture 5057" descr="G_31_need_repredict_c24_444_480_52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7781544"/>
            <a:ext cx="5486400" cy="950495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59" name="Rounded Rectangle 5058"/>
          <p:cNvSpPr/>
          <p:nvPr/>
        </p:nvSpPr>
        <p:spPr>
          <a:xfrm>
            <a:off x="8215312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60" name="TextBox 5059"/>
          <p:cNvSpPr txBox="1"/>
          <p:nvPr/>
        </p:nvSpPr>
        <p:spPr>
          <a:xfrm>
            <a:off x="9358312" y="8769096"/>
            <a:ext cx="81067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F-02 · UC-REPORT-01 · UC-PRED-01(재예측)</a:t>
            </a:r>
            <a:endParaRPr lang="ko-KR" altLang="en-US" sz="1200"/>
          </a:p>
        </p:txBody>
      </p:sp>
      <p:sp>
        <p:nvSpPr>
          <p:cNvPr id="5061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4020707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 ① 산불 목록 · 산불현황 (UC-SIT-02)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024" name="Rectangle 5023"/>
          <p:cNvSpPr/>
          <p:nvPr/>
        </p:nvSpPr>
        <p:spPr>
          <a:xfrm>
            <a:off x="822960" y="2432304"/>
            <a:ext cx="521208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「산불」 날개 → 산불 목록</a:t>
            </a:r>
            <a:endParaRPr lang="ko-KR" altLang="en-US" sz="1250"/>
          </a:p>
        </p:txBody>
      </p:sp>
      <p:pic>
        <p:nvPicPr>
          <p:cNvPr id="5025" name="Picture 50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743200"/>
            <a:ext cx="5212080" cy="2432304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6" name="Rounded Rectangle 5025"/>
          <p:cNvSpPr/>
          <p:nvPr/>
        </p:nvSpPr>
        <p:spPr>
          <a:xfrm>
            <a:off x="822960" y="2786634"/>
            <a:ext cx="282321" cy="629793"/>
          </a:xfrm>
          <a:prstGeom prst="roundRect">
            <a:avLst>
              <a:gd name="adj" fmla="val 16194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7" name="Oval 5026"/>
          <p:cNvSpPr/>
          <p:nvPr/>
        </p:nvSpPr>
        <p:spPr>
          <a:xfrm>
            <a:off x="1141857" y="294608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8" name="Rounded Rectangle 5027"/>
          <p:cNvSpPr/>
          <p:nvPr/>
        </p:nvSpPr>
        <p:spPr>
          <a:xfrm>
            <a:off x="1821942" y="2743200"/>
            <a:ext cx="1346454" cy="325755"/>
          </a:xfrm>
          <a:prstGeom prst="roundRect">
            <a:avLst>
              <a:gd name="adj" fmla="val 14035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9" name="Oval 5028"/>
          <p:cNvSpPr/>
          <p:nvPr/>
        </p:nvSpPr>
        <p:spPr>
          <a:xfrm>
            <a:off x="3028493" y="258775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30" name="Rounded Rectangle 5029"/>
          <p:cNvSpPr/>
          <p:nvPr/>
        </p:nvSpPr>
        <p:spPr>
          <a:xfrm>
            <a:off x="1126998" y="3405568"/>
            <a:ext cx="4842891" cy="586359"/>
          </a:xfrm>
          <a:prstGeom prst="roundRect">
            <a:avLst>
              <a:gd name="adj" fmla="val 7797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1" name="Oval 5030"/>
          <p:cNvSpPr/>
          <p:nvPr/>
        </p:nvSpPr>
        <p:spPr>
          <a:xfrm>
            <a:off x="5829986" y="385202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2" name="TextBox 5031"/>
          <p:cNvSpPr txBox="1"/>
          <p:nvPr/>
        </p:nvSpPr>
        <p:spPr>
          <a:xfrm>
            <a:off x="822960" y="5221224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접수·진행 중 / 종료 목록 전환</a:t>
            </a:r>
            <a:endParaRPr lang="ko-KR" altLang="en-US" sz="1200"/>
          </a:p>
        </p:txBody>
      </p:sp>
      <p:sp>
        <p:nvSpPr>
          <p:cNvPr id="5033" name="Rectangle 5032"/>
          <p:cNvSpPr/>
          <p:nvPr/>
        </p:nvSpPr>
        <p:spPr>
          <a:xfrm>
            <a:off x="822960" y="5586984"/>
            <a:ext cx="5212080" cy="310896"/>
          </a:xfrm>
          <a:prstGeom prst="rect">
            <a:avLst/>
          </a:prstGeom>
          <a:solidFill>
            <a:srgbClr val="C0602A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새 산불이 보고되면 목록에 「접수」로 추가</a:t>
            </a:r>
            <a:endParaRPr lang="ko-KR" altLang="en-US" sz="1250"/>
          </a:p>
        </p:txBody>
      </p:sp>
      <p:pic>
        <p:nvPicPr>
          <p:cNvPr id="5034" name="Picture 5033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897880"/>
            <a:ext cx="5212080" cy="196596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5" name="Rectangle 5034"/>
          <p:cNvSpPr/>
          <p:nvPr/>
        </p:nvSpPr>
        <p:spPr>
          <a:xfrm>
            <a:off x="6309360" y="2432304"/>
            <a:ext cx="6071616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산불현황 탭 — 한 표로 확인</a:t>
            </a:r>
            <a:endParaRPr lang="ko-KR" altLang="en-US" sz="1250"/>
          </a:p>
        </p:txBody>
      </p:sp>
      <p:pic>
        <p:nvPicPr>
          <p:cNvPr id="5036" name="Picture 5035" descr="G_02_cmd_main_c24_76_480_53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2743200"/>
            <a:ext cx="6073206" cy="612648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7" name="Rounded Rectangle 5036"/>
          <p:cNvSpPr/>
          <p:nvPr/>
        </p:nvSpPr>
        <p:spPr>
          <a:xfrm>
            <a:off x="6389271" y="3169390"/>
            <a:ext cx="2983329" cy="479464"/>
          </a:xfrm>
          <a:prstGeom prst="roundRect">
            <a:avLst>
              <a:gd name="adj" fmla="val 9535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8" name="Oval 5037"/>
          <p:cNvSpPr/>
          <p:nvPr/>
        </p:nvSpPr>
        <p:spPr>
          <a:xfrm>
            <a:off x="9249156" y="301851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140"/>
          </a:p>
        </p:txBody>
      </p:sp>
      <p:sp>
        <p:nvSpPr>
          <p:cNvPr id="5039" name="Rounded Rectangle 5038"/>
          <p:cNvSpPr/>
          <p:nvPr/>
        </p:nvSpPr>
        <p:spPr>
          <a:xfrm>
            <a:off x="6389271" y="3675490"/>
            <a:ext cx="5900067" cy="1571575"/>
          </a:xfrm>
          <a:prstGeom prst="roundRect">
            <a:avLst>
              <a:gd name="adj" fmla="val 2909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0" name="Oval 5039"/>
          <p:cNvSpPr/>
          <p:nvPr/>
        </p:nvSpPr>
        <p:spPr>
          <a:xfrm>
            <a:off x="6172200" y="4324118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140"/>
          </a:p>
        </p:txBody>
      </p:sp>
      <p:sp>
        <p:nvSpPr>
          <p:cNvPr id="5041" name="Rounded Rectangle 5040"/>
          <p:cNvSpPr/>
          <p:nvPr/>
        </p:nvSpPr>
        <p:spPr>
          <a:xfrm>
            <a:off x="6389271" y="5193792"/>
            <a:ext cx="5900067" cy="399553"/>
          </a:xfrm>
          <a:prstGeom prst="roundRect">
            <a:avLst>
              <a:gd name="adj" fmla="val 1144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2" name="Oval 5041"/>
          <p:cNvSpPr/>
          <p:nvPr/>
        </p:nvSpPr>
        <p:spPr>
          <a:xfrm>
            <a:off x="6172200" y="5256409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140"/>
          </a:p>
        </p:txBody>
      </p:sp>
      <p:sp>
        <p:nvSpPr>
          <p:cNvPr id="5043" name="Rounded Rectangle 5042"/>
          <p:cNvSpPr/>
          <p:nvPr/>
        </p:nvSpPr>
        <p:spPr>
          <a:xfrm>
            <a:off x="6389271" y="5553390"/>
            <a:ext cx="5900067" cy="1584894"/>
          </a:xfrm>
          <a:prstGeom prst="roundRect">
            <a:avLst>
              <a:gd name="adj" fmla="val 2884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4" name="Oval 5043"/>
          <p:cNvSpPr/>
          <p:nvPr/>
        </p:nvSpPr>
        <p:spPr>
          <a:xfrm>
            <a:off x="6172200" y="6208677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  <a:endParaRPr lang="ko-KR" altLang="en-US" sz="1140"/>
          </a:p>
        </p:txBody>
      </p:sp>
      <p:sp>
        <p:nvSpPr>
          <p:cNvPr id="5045" name="Rounded Rectangle 5044"/>
          <p:cNvSpPr/>
          <p:nvPr/>
        </p:nvSpPr>
        <p:spPr>
          <a:xfrm>
            <a:off x="6389271" y="7085010"/>
            <a:ext cx="5900067" cy="639285"/>
          </a:xfrm>
          <a:prstGeom prst="roundRect">
            <a:avLst>
              <a:gd name="adj" fmla="val 7151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6" name="Oval 5045"/>
          <p:cNvSpPr/>
          <p:nvPr/>
        </p:nvSpPr>
        <p:spPr>
          <a:xfrm>
            <a:off x="6172200" y="7267492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8</a:t>
            </a:r>
            <a:endParaRPr lang="ko-KR" altLang="en-US" sz="1140"/>
          </a:p>
        </p:txBody>
      </p:sp>
      <p:sp>
        <p:nvSpPr>
          <p:cNvPr id="5047" name="Rounded Rectangle 5046"/>
          <p:cNvSpPr/>
          <p:nvPr/>
        </p:nvSpPr>
        <p:spPr>
          <a:xfrm>
            <a:off x="6389271" y="7671021"/>
            <a:ext cx="5900067" cy="759151"/>
          </a:xfrm>
          <a:prstGeom prst="roundRect">
            <a:avLst>
              <a:gd name="adj" fmla="val 602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8" name="Oval 5047"/>
          <p:cNvSpPr/>
          <p:nvPr/>
        </p:nvSpPr>
        <p:spPr>
          <a:xfrm>
            <a:off x="6172200" y="7913436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9</a:t>
            </a:r>
            <a:endParaRPr lang="ko-KR" altLang="en-US" sz="1140"/>
          </a:p>
        </p:txBody>
      </p:sp>
      <p:sp>
        <p:nvSpPr>
          <p:cNvPr id="5049" name="Rounded Rectangle 5048"/>
          <p:cNvSpPr/>
          <p:nvPr/>
        </p:nvSpPr>
        <p:spPr>
          <a:xfrm>
            <a:off x="6362634" y="8430172"/>
            <a:ext cx="958927" cy="386235"/>
          </a:xfrm>
          <a:prstGeom prst="roundRect">
            <a:avLst>
              <a:gd name="adj" fmla="val 11837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0" name="Oval 5049"/>
          <p:cNvSpPr/>
          <p:nvPr/>
        </p:nvSpPr>
        <p:spPr>
          <a:xfrm>
            <a:off x="7358137" y="8486129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10</a:t>
            </a:r>
            <a:endParaRPr lang="ko-KR" altLang="en-US" sz="1140"/>
          </a:p>
        </p:txBody>
      </p:sp>
      <p:sp>
        <p:nvSpPr>
          <p:cNvPr id="5051" name="Rounded Rectangle 5050"/>
          <p:cNvSpPr/>
          <p:nvPr/>
        </p:nvSpPr>
        <p:spPr>
          <a:xfrm>
            <a:off x="11929739" y="2769837"/>
            <a:ext cx="399553" cy="372916"/>
          </a:xfrm>
          <a:prstGeom prst="roundRect">
            <a:avLst>
              <a:gd name="adj" fmla="val 12260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2" name="Oval 5051"/>
          <p:cNvSpPr/>
          <p:nvPr/>
        </p:nvSpPr>
        <p:spPr>
          <a:xfrm>
            <a:off x="11618843" y="2819135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11</a:t>
            </a:r>
            <a:endParaRPr lang="ko-KR" altLang="en-US" sz="1140"/>
          </a:p>
        </p:txBody>
      </p:sp>
      <p:sp>
        <p:nvSpPr>
          <p:cNvPr id="5053" name="Oval 5052"/>
          <p:cNvSpPr/>
          <p:nvPr/>
        </p:nvSpPr>
        <p:spPr>
          <a:xfrm>
            <a:off x="12573000" y="2478024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064"/>
          </a:p>
        </p:txBody>
      </p:sp>
      <p:sp>
        <p:nvSpPr>
          <p:cNvPr id="5054" name="TextBox 5053"/>
          <p:cNvSpPr txBox="1"/>
          <p:nvPr/>
        </p:nvSpPr>
        <p:spPr>
          <a:xfrm>
            <a:off x="12957048" y="2459736"/>
            <a:ext cx="450799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「산불」 날개</a:t>
            </a:r>
            <a:endParaRPr lang="ko-KR" altLang="en-US" sz="1350"/>
          </a:p>
        </p:txBody>
      </p:sp>
      <p:sp>
        <p:nvSpPr>
          <p:cNvPr id="5055" name="TextBox 5054"/>
          <p:cNvSpPr txBox="1"/>
          <p:nvPr/>
        </p:nvSpPr>
        <p:spPr>
          <a:xfrm>
            <a:off x="12957048" y="2710624"/>
            <a:ext cx="450799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화면 맨 왼쪽, 누르면 목록이 고정 창 위로 펼쳐짐</a:t>
            </a:r>
            <a:endParaRPr lang="ko-KR" altLang="en-US" sz="1150"/>
          </a:p>
        </p:txBody>
      </p:sp>
      <p:sp>
        <p:nvSpPr>
          <p:cNvPr id="5056" name="Oval 5055"/>
          <p:cNvSpPr/>
          <p:nvPr/>
        </p:nvSpPr>
        <p:spPr>
          <a:xfrm>
            <a:off x="12573000" y="2958274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064"/>
          </a:p>
        </p:txBody>
      </p:sp>
      <p:sp>
        <p:nvSpPr>
          <p:cNvPr id="5057" name="TextBox 5056"/>
          <p:cNvSpPr txBox="1"/>
          <p:nvPr/>
        </p:nvSpPr>
        <p:spPr>
          <a:xfrm>
            <a:off x="12957048" y="2939987"/>
            <a:ext cx="450799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목록 전환</a:t>
            </a:r>
            <a:endParaRPr lang="ko-KR" altLang="en-US" sz="1350"/>
          </a:p>
        </p:txBody>
      </p:sp>
      <p:sp>
        <p:nvSpPr>
          <p:cNvPr id="5058" name="TextBox 5057"/>
          <p:cNvSpPr txBox="1"/>
          <p:nvPr/>
        </p:nvSpPr>
        <p:spPr>
          <a:xfrm>
            <a:off x="12957048" y="3190875"/>
            <a:ext cx="450799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접수·진행 중 / 종료</a:t>
            </a:r>
            <a:endParaRPr lang="ko-KR" altLang="en-US" sz="1150"/>
          </a:p>
        </p:txBody>
      </p:sp>
      <p:sp>
        <p:nvSpPr>
          <p:cNvPr id="5059" name="Oval 5058"/>
          <p:cNvSpPr/>
          <p:nvPr/>
        </p:nvSpPr>
        <p:spPr>
          <a:xfrm>
            <a:off x="12573000" y="3438525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064"/>
          </a:p>
        </p:txBody>
      </p:sp>
      <p:sp>
        <p:nvSpPr>
          <p:cNvPr id="5060" name="TextBox 5059"/>
          <p:cNvSpPr txBox="1"/>
          <p:nvPr/>
        </p:nvSpPr>
        <p:spPr>
          <a:xfrm>
            <a:off x="12957048" y="3420237"/>
            <a:ext cx="450799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선택</a:t>
            </a:r>
            <a:endParaRPr lang="ko-KR" altLang="en-US" sz="1350"/>
          </a:p>
        </p:txBody>
      </p:sp>
      <p:sp>
        <p:nvSpPr>
          <p:cNvPr id="5061" name="TextBox 5060"/>
          <p:cNvSpPr txBox="1"/>
          <p:nvPr/>
        </p:nvSpPr>
        <p:spPr>
          <a:xfrm>
            <a:off x="12957048" y="3671126"/>
            <a:ext cx="450799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발생 장소·발생 시각·상태, 누르면 지도 이동</a:t>
            </a:r>
            <a:endParaRPr lang="ko-KR" altLang="en-US" sz="1150"/>
          </a:p>
        </p:txBody>
      </p:sp>
      <p:sp>
        <p:nvSpPr>
          <p:cNvPr id="5062" name="Oval 5061"/>
          <p:cNvSpPr/>
          <p:nvPr/>
        </p:nvSpPr>
        <p:spPr>
          <a:xfrm>
            <a:off x="12573000" y="3918776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064"/>
          </a:p>
        </p:txBody>
      </p:sp>
      <p:sp>
        <p:nvSpPr>
          <p:cNvPr id="5063" name="TextBox 5062"/>
          <p:cNvSpPr txBox="1"/>
          <p:nvPr/>
        </p:nvSpPr>
        <p:spPr>
          <a:xfrm>
            <a:off x="12957048" y="3900488"/>
            <a:ext cx="450799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산불현황 탭</a:t>
            </a:r>
            <a:endParaRPr lang="ko-KR" altLang="en-US" sz="1350"/>
          </a:p>
        </p:txBody>
      </p:sp>
      <p:sp>
        <p:nvSpPr>
          <p:cNvPr id="5064" name="TextBox 5063"/>
          <p:cNvSpPr txBox="1"/>
          <p:nvPr/>
        </p:nvSpPr>
        <p:spPr>
          <a:xfrm>
            <a:off x="12957048" y="4151376"/>
            <a:ext cx="450799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열람자는 이 탭만 보임</a:t>
            </a:r>
            <a:endParaRPr lang="ko-KR" altLang="en-US" sz="1150"/>
          </a:p>
        </p:txBody>
      </p:sp>
      <p:sp>
        <p:nvSpPr>
          <p:cNvPr id="5065" name="Oval 5064"/>
          <p:cNvSpPr/>
          <p:nvPr/>
        </p:nvSpPr>
        <p:spPr>
          <a:xfrm>
            <a:off x="12573000" y="4399026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064"/>
          </a:p>
        </p:txBody>
      </p:sp>
      <p:sp>
        <p:nvSpPr>
          <p:cNvPr id="5066" name="TextBox 5065"/>
          <p:cNvSpPr txBox="1"/>
          <p:nvPr/>
        </p:nvSpPr>
        <p:spPr>
          <a:xfrm>
            <a:off x="12957048" y="4380738"/>
            <a:ext cx="450799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발생·신고</a:t>
            </a:r>
            <a:endParaRPr lang="ko-KR" altLang="en-US" sz="1350"/>
          </a:p>
        </p:txBody>
      </p:sp>
      <p:sp>
        <p:nvSpPr>
          <p:cNvPr id="5067" name="TextBox 5066"/>
          <p:cNvSpPr txBox="1"/>
          <p:nvPr/>
        </p:nvSpPr>
        <p:spPr>
          <a:xfrm>
            <a:off x="12957048" y="4631627"/>
            <a:ext cx="450799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발생 장소·일시, 신고 접수 일시, 신고 내용</a:t>
            </a:r>
            <a:endParaRPr lang="ko-KR" altLang="en-US" sz="1150"/>
          </a:p>
        </p:txBody>
      </p:sp>
      <p:sp>
        <p:nvSpPr>
          <p:cNvPr id="5068" name="Oval 5067"/>
          <p:cNvSpPr/>
          <p:nvPr/>
        </p:nvSpPr>
        <p:spPr>
          <a:xfrm>
            <a:off x="12573000" y="4879277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064"/>
          </a:p>
        </p:txBody>
      </p:sp>
      <p:sp>
        <p:nvSpPr>
          <p:cNvPr id="5069" name="TextBox 5068"/>
          <p:cNvSpPr txBox="1"/>
          <p:nvPr/>
        </p:nvSpPr>
        <p:spPr>
          <a:xfrm>
            <a:off x="12957048" y="4860989"/>
            <a:ext cx="450799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신고자</a:t>
            </a:r>
            <a:endParaRPr lang="ko-KR" altLang="en-US" sz="1350"/>
          </a:p>
        </p:txBody>
      </p:sp>
      <p:sp>
        <p:nvSpPr>
          <p:cNvPr id="5070" name="TextBox 5069"/>
          <p:cNvSpPr txBox="1"/>
          <p:nvPr/>
        </p:nvSpPr>
        <p:spPr>
          <a:xfrm>
            <a:off x="12957048" y="5111877"/>
            <a:ext cx="450799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신고 기관명·성명·연락처, 모르면 「미확인」(규정 제6조제1항제1호)</a:t>
            </a:r>
            <a:endParaRPr lang="ko-KR" altLang="en-US" sz="1150"/>
          </a:p>
        </p:txBody>
      </p:sp>
      <p:sp>
        <p:nvSpPr>
          <p:cNvPr id="5071" name="Oval 5070"/>
          <p:cNvSpPr/>
          <p:nvPr/>
        </p:nvSpPr>
        <p:spPr>
          <a:xfrm>
            <a:off x="12573000" y="5359527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  <a:endParaRPr lang="ko-KR" altLang="en-US" sz="1064"/>
          </a:p>
        </p:txBody>
      </p:sp>
      <p:sp>
        <p:nvSpPr>
          <p:cNvPr id="5072" name="TextBox 5071"/>
          <p:cNvSpPr txBox="1"/>
          <p:nvPr/>
        </p:nvSpPr>
        <p:spPr>
          <a:xfrm>
            <a:off x="12957048" y="5341239"/>
            <a:ext cx="450799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기관별 접수 기록 · 진행상태</a:t>
            </a:r>
            <a:endParaRPr lang="ko-KR" altLang="en-US" sz="1350"/>
          </a:p>
        </p:txBody>
      </p:sp>
      <p:sp>
        <p:nvSpPr>
          <p:cNvPr id="5073" name="TextBox 5072"/>
          <p:cNvSpPr txBox="1"/>
          <p:nvPr/>
        </p:nvSpPr>
        <p:spPr>
          <a:xfrm>
            <a:off x="12957048" y="5592128"/>
            <a:ext cx="450799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기관·시각·경로, 진행상태·공식 단계</a:t>
            </a:r>
            <a:endParaRPr lang="ko-KR" altLang="en-US" sz="1150"/>
          </a:p>
        </p:txBody>
      </p:sp>
      <p:sp>
        <p:nvSpPr>
          <p:cNvPr id="5074" name="Oval 5073"/>
          <p:cNvSpPr/>
          <p:nvPr/>
        </p:nvSpPr>
        <p:spPr>
          <a:xfrm>
            <a:off x="12573000" y="5839778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8</a:t>
            </a:r>
            <a:endParaRPr lang="ko-KR" altLang="en-US" sz="1064"/>
          </a:p>
        </p:txBody>
      </p:sp>
      <p:sp>
        <p:nvSpPr>
          <p:cNvPr id="5075" name="TextBox 5074"/>
          <p:cNvSpPr txBox="1"/>
          <p:nvPr/>
        </p:nvSpPr>
        <p:spPr>
          <a:xfrm>
            <a:off x="12957048" y="5821490"/>
            <a:ext cx="450799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기상</a:t>
            </a:r>
            <a:endParaRPr lang="ko-KR" altLang="en-US" sz="1350"/>
          </a:p>
        </p:txBody>
      </p:sp>
      <p:sp>
        <p:nvSpPr>
          <p:cNvPr id="5076" name="TextBox 5075"/>
          <p:cNvSpPr txBox="1"/>
          <p:nvPr/>
        </p:nvSpPr>
        <p:spPr>
          <a:xfrm>
            <a:off x="12957048" y="6072378"/>
            <a:ext cx="450799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풍향·풍속·습도·기온·시정·특보 + 발표·수신 시각</a:t>
            </a:r>
            <a:endParaRPr lang="ko-KR" altLang="en-US" sz="1150"/>
          </a:p>
        </p:txBody>
      </p:sp>
      <p:sp>
        <p:nvSpPr>
          <p:cNvPr id="5077" name="Oval 5076"/>
          <p:cNvSpPr/>
          <p:nvPr/>
        </p:nvSpPr>
        <p:spPr>
          <a:xfrm>
            <a:off x="12573000" y="6320028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9</a:t>
            </a:r>
            <a:endParaRPr lang="ko-KR" altLang="en-US" sz="1064"/>
          </a:p>
        </p:txBody>
      </p:sp>
      <p:sp>
        <p:nvSpPr>
          <p:cNvPr id="5078" name="TextBox 5077"/>
          <p:cNvSpPr txBox="1"/>
          <p:nvPr/>
        </p:nvSpPr>
        <p:spPr>
          <a:xfrm>
            <a:off x="12957048" y="6301740"/>
            <a:ext cx="450799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실측 화선·예측</a:t>
            </a:r>
            <a:endParaRPr lang="ko-KR" altLang="en-US" sz="1350"/>
          </a:p>
        </p:txBody>
      </p:sp>
      <p:sp>
        <p:nvSpPr>
          <p:cNvPr id="5079" name="TextBox 5078"/>
          <p:cNvSpPr txBox="1"/>
          <p:nvPr/>
        </p:nvSpPr>
        <p:spPr>
          <a:xfrm>
            <a:off x="12957048" y="6552629"/>
            <a:ext cx="450799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최신 화선 버전·면적, 5h·8h 예측 면적과 기준 화선</a:t>
            </a:r>
            <a:endParaRPr lang="ko-KR" altLang="en-US" sz="1150"/>
          </a:p>
        </p:txBody>
      </p:sp>
      <p:sp>
        <p:nvSpPr>
          <p:cNvPr id="5080" name="Oval 5079"/>
          <p:cNvSpPr/>
          <p:nvPr/>
        </p:nvSpPr>
        <p:spPr>
          <a:xfrm>
            <a:off x="12573000" y="6800279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10</a:t>
            </a:r>
            <a:endParaRPr lang="ko-KR" altLang="en-US" sz="1064"/>
          </a:p>
        </p:txBody>
      </p:sp>
      <p:sp>
        <p:nvSpPr>
          <p:cNvPr id="5081" name="TextBox 5080"/>
          <p:cNvSpPr txBox="1"/>
          <p:nvPr/>
        </p:nvSpPr>
        <p:spPr>
          <a:xfrm>
            <a:off x="12957048" y="6781991"/>
            <a:ext cx="450799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종료 처리</a:t>
            </a:r>
            <a:endParaRPr lang="ko-KR" altLang="en-US" sz="1350"/>
          </a:p>
        </p:txBody>
      </p:sp>
      <p:sp>
        <p:nvSpPr>
          <p:cNvPr id="5082" name="TextBox 5081"/>
          <p:cNvSpPr txBox="1"/>
          <p:nvPr/>
        </p:nvSpPr>
        <p:spPr>
          <a:xfrm>
            <a:off x="12957048" y="7032879"/>
            <a:ext cx="4507992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「진행 중」 산불에만 표시</a:t>
            </a:r>
            <a:endParaRPr lang="ko-KR" altLang="en-US" sz="1150"/>
          </a:p>
        </p:txBody>
      </p:sp>
      <p:sp>
        <p:nvSpPr>
          <p:cNvPr id="5083" name="Oval 5082"/>
          <p:cNvSpPr/>
          <p:nvPr/>
        </p:nvSpPr>
        <p:spPr>
          <a:xfrm>
            <a:off x="12573000" y="7280529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11</a:t>
            </a:r>
            <a:endParaRPr lang="ko-KR" altLang="en-US" sz="1064"/>
          </a:p>
        </p:txBody>
      </p:sp>
      <p:sp>
        <p:nvSpPr>
          <p:cNvPr id="5084" name="TextBox 5083"/>
          <p:cNvSpPr txBox="1"/>
          <p:nvPr/>
        </p:nvSpPr>
        <p:spPr>
          <a:xfrm>
            <a:off x="12957048" y="7262241"/>
            <a:ext cx="4507992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발화점으로 이동</a:t>
            </a:r>
            <a:endParaRPr lang="ko-KR" altLang="en-US" sz="1350"/>
          </a:p>
        </p:txBody>
      </p:sp>
      <p:sp>
        <p:nvSpPr>
          <p:cNvPr id="5085" name="Rounded Rectangle 5084"/>
          <p:cNvSpPr/>
          <p:nvPr/>
        </p:nvSpPr>
        <p:spPr>
          <a:xfrm>
            <a:off x="12573000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86" name="TextBox 5085"/>
          <p:cNvSpPr txBox="1"/>
          <p:nvPr/>
        </p:nvSpPr>
        <p:spPr>
          <a:xfrm>
            <a:off x="13716000" y="8769096"/>
            <a:ext cx="3749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F-04 산불 발생·접수 정보 조회 · F-05 · UC-SIT-02 · UC-SIT-03</a:t>
            </a:r>
            <a:endParaRPr lang="ko-KR" altLang="en-US" sz="1200"/>
          </a:p>
        </p:txBody>
      </p:sp>
      <p:sp>
        <p:nvSpPr>
          <p:cNvPr id="5087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3384206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 ② 확산 예측 실행 · 시간별 재생 (UC-PRED-01)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5024" name="Picture 5023" descr="G_05_predicted_t5_c430_40_1920_108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432304"/>
            <a:ext cx="9432388" cy="658368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5" name="Rounded Rectangle 5024"/>
          <p:cNvSpPr/>
          <p:nvPr/>
        </p:nvSpPr>
        <p:spPr>
          <a:xfrm>
            <a:off x="7191404" y="2432304"/>
            <a:ext cx="734334" cy="221566"/>
          </a:xfrm>
          <a:prstGeom prst="roundRect">
            <a:avLst>
              <a:gd name="adj" fmla="val 20634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6" name="Oval 5025"/>
          <p:cNvSpPr/>
          <p:nvPr/>
        </p:nvSpPr>
        <p:spPr>
          <a:xfrm>
            <a:off x="7020412" y="2513967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7" name="Rounded Rectangle 5026"/>
          <p:cNvSpPr/>
          <p:nvPr/>
        </p:nvSpPr>
        <p:spPr>
          <a:xfrm>
            <a:off x="7894086" y="2432304"/>
            <a:ext cx="2342271" cy="227897"/>
          </a:xfrm>
          <a:prstGeom prst="roundRect">
            <a:avLst>
              <a:gd name="adj" fmla="val 20061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8" name="Oval 5027"/>
          <p:cNvSpPr/>
          <p:nvPr/>
        </p:nvSpPr>
        <p:spPr>
          <a:xfrm>
            <a:off x="7723093" y="2520297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29" name="Rounded Rectangle 5028"/>
          <p:cNvSpPr/>
          <p:nvPr/>
        </p:nvSpPr>
        <p:spPr>
          <a:xfrm>
            <a:off x="3899564" y="4052902"/>
            <a:ext cx="2709438" cy="1886478"/>
          </a:xfrm>
          <a:prstGeom prst="roundRect">
            <a:avLst>
              <a:gd name="adj" fmla="val 2423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0" name="Oval 5029"/>
          <p:cNvSpPr/>
          <p:nvPr/>
        </p:nvSpPr>
        <p:spPr>
          <a:xfrm>
            <a:off x="3728572" y="3881909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1" name="Oval 5030"/>
          <p:cNvSpPr/>
          <p:nvPr/>
        </p:nvSpPr>
        <p:spPr>
          <a:xfrm>
            <a:off x="7798496" y="2995645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2" name="Rounded Rectangle 5031"/>
          <p:cNvSpPr/>
          <p:nvPr/>
        </p:nvSpPr>
        <p:spPr>
          <a:xfrm>
            <a:off x="6241835" y="3989598"/>
            <a:ext cx="303862" cy="303862"/>
          </a:xfrm>
          <a:prstGeom prst="roundRect">
            <a:avLst>
              <a:gd name="adj" fmla="val 15046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3" name="Oval 5032"/>
          <p:cNvSpPr/>
          <p:nvPr/>
        </p:nvSpPr>
        <p:spPr>
          <a:xfrm>
            <a:off x="6582273" y="3986081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34" name="Rounded Rectangle 5033"/>
          <p:cNvSpPr/>
          <p:nvPr/>
        </p:nvSpPr>
        <p:spPr>
          <a:xfrm>
            <a:off x="9761572" y="2698183"/>
            <a:ext cx="455793" cy="455793"/>
          </a:xfrm>
          <a:prstGeom prst="roundRect">
            <a:avLst>
              <a:gd name="adj" fmla="val 10030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5" name="Oval 5034"/>
          <p:cNvSpPr/>
          <p:nvPr/>
        </p:nvSpPr>
        <p:spPr>
          <a:xfrm>
            <a:off x="9414100" y="277063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292"/>
          </a:p>
        </p:txBody>
      </p:sp>
      <p:sp>
        <p:nvSpPr>
          <p:cNvPr id="5036" name="Rectangle 5035"/>
          <p:cNvSpPr/>
          <p:nvPr/>
        </p:nvSpPr>
        <p:spPr>
          <a:xfrm>
            <a:off x="10575388" y="2432304"/>
            <a:ext cx="6889652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실행 중 — 진행률 표시</a:t>
            </a:r>
            <a:endParaRPr lang="ko-KR" altLang="en-US" sz="1250"/>
          </a:p>
        </p:txBody>
      </p:sp>
      <p:pic>
        <p:nvPicPr>
          <p:cNvPr id="5037" name="Picture 503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5388" y="2743200"/>
            <a:ext cx="6889652" cy="688965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8" name="Oval 5037"/>
          <p:cNvSpPr/>
          <p:nvPr/>
        </p:nvSpPr>
        <p:spPr>
          <a:xfrm>
            <a:off x="10575388" y="3669909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140"/>
          </a:p>
        </p:txBody>
      </p:sp>
      <p:sp>
        <p:nvSpPr>
          <p:cNvPr id="5039" name="TextBox 5038"/>
          <p:cNvSpPr txBox="1"/>
          <p:nvPr/>
        </p:nvSpPr>
        <p:spPr>
          <a:xfrm>
            <a:off x="10977724" y="3651621"/>
            <a:ext cx="6487316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 실행 → 「다시 예측」</a:t>
            </a:r>
            <a:endParaRPr lang="ko-KR" altLang="en-US" sz="1400"/>
          </a:p>
        </p:txBody>
      </p:sp>
      <p:sp>
        <p:nvSpPr>
          <p:cNvPr id="5040" name="TextBox 5039"/>
          <p:cNvSpPr txBox="1"/>
          <p:nvPr/>
        </p:nvSpPr>
        <p:spPr>
          <a:xfrm>
            <a:off x="10977724" y="3910447"/>
            <a:ext cx="6487316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통합지휘권자가 누를 때만 실행(자동 갱신 없음), 실패하면 이전 결과 유지. 새 실측 화선이 보고되면 버튼 옆에 「재예측 필요」</a:t>
            </a:r>
            <a:endParaRPr lang="ko-KR" altLang="en-US" sz="1250"/>
          </a:p>
        </p:txBody>
      </p:sp>
      <p:sp>
        <p:nvSpPr>
          <p:cNvPr id="5041" name="Oval 5040"/>
          <p:cNvSpPr/>
          <p:nvPr/>
        </p:nvSpPr>
        <p:spPr>
          <a:xfrm>
            <a:off x="10575388" y="4430131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140"/>
          </a:p>
        </p:txBody>
      </p:sp>
      <p:sp>
        <p:nvSpPr>
          <p:cNvPr id="5042" name="TextBox 5041"/>
          <p:cNvSpPr txBox="1"/>
          <p:nvPr/>
        </p:nvSpPr>
        <p:spPr>
          <a:xfrm>
            <a:off x="10977724" y="4411843"/>
            <a:ext cx="6487316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시간별 재생</a:t>
            </a:r>
            <a:endParaRPr lang="ko-KR" altLang="en-US" sz="1400"/>
          </a:p>
        </p:txBody>
      </p:sp>
      <p:sp>
        <p:nvSpPr>
          <p:cNvPr id="5043" name="TextBox 5042"/>
          <p:cNvSpPr txBox="1"/>
          <p:nvPr/>
        </p:nvSpPr>
        <p:spPr>
          <a:xfrm>
            <a:off x="10977724" y="4670669"/>
            <a:ext cx="648731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재생·처음으로·시간 막대·속도(1×·2×·4×), 재생 시각까지 범위를 채움</a:t>
            </a:r>
            <a:endParaRPr lang="ko-KR" altLang="en-US" sz="1250"/>
          </a:p>
        </p:txBody>
      </p:sp>
      <p:sp>
        <p:nvSpPr>
          <p:cNvPr id="5044" name="Oval 5043"/>
          <p:cNvSpPr/>
          <p:nvPr/>
        </p:nvSpPr>
        <p:spPr>
          <a:xfrm>
            <a:off x="10575388" y="4980803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140"/>
          </a:p>
        </p:txBody>
      </p:sp>
      <p:sp>
        <p:nvSpPr>
          <p:cNvPr id="5045" name="TextBox 5044"/>
          <p:cNvSpPr txBox="1"/>
          <p:nvPr/>
        </p:nvSpPr>
        <p:spPr>
          <a:xfrm>
            <a:off x="10977724" y="4962515"/>
            <a:ext cx="6487316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1시간 간격 확산 범위 P1~P8</a:t>
            </a:r>
            <a:endParaRPr lang="ko-KR" altLang="en-US" sz="1400"/>
          </a:p>
        </p:txBody>
      </p:sp>
      <p:sp>
        <p:nvSpPr>
          <p:cNvPr id="5046" name="TextBox 5045"/>
          <p:cNvSpPr txBox="1"/>
          <p:nvPr/>
        </p:nvSpPr>
        <p:spPr>
          <a:xfrm>
            <a:off x="10977724" y="5221341"/>
            <a:ext cx="648731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최신 실측 화선(없으면 발화점)과 기상으로 계산, 5h 1,593 ha</a:t>
            </a:r>
            <a:endParaRPr lang="ko-KR" altLang="en-US" sz="1250"/>
          </a:p>
        </p:txBody>
      </p:sp>
      <p:sp>
        <p:nvSpPr>
          <p:cNvPr id="5047" name="Oval 5046"/>
          <p:cNvSpPr/>
          <p:nvPr/>
        </p:nvSpPr>
        <p:spPr>
          <a:xfrm>
            <a:off x="10575388" y="5531475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140"/>
          </a:p>
        </p:txBody>
      </p:sp>
      <p:sp>
        <p:nvSpPr>
          <p:cNvPr id="5048" name="TextBox 5047"/>
          <p:cNvSpPr txBox="1"/>
          <p:nvPr/>
        </p:nvSpPr>
        <p:spPr>
          <a:xfrm>
            <a:off x="10977724" y="5513187"/>
            <a:ext cx="6487316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위험구역(P5) · 잠재 위험구역(P8)</a:t>
            </a:r>
            <a:endParaRPr lang="ko-KR" altLang="en-US" sz="1400"/>
          </a:p>
        </p:txBody>
      </p:sp>
      <p:sp>
        <p:nvSpPr>
          <p:cNvPr id="5049" name="TextBox 5048"/>
          <p:cNvSpPr txBox="1"/>
          <p:nvPr/>
        </p:nvSpPr>
        <p:spPr>
          <a:xfrm>
            <a:off x="10977724" y="5772013"/>
            <a:ext cx="648731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P5 붉은 면, P8 점선</a:t>
            </a:r>
            <a:endParaRPr lang="ko-KR" altLang="en-US" sz="1250"/>
          </a:p>
        </p:txBody>
      </p:sp>
      <p:sp>
        <p:nvSpPr>
          <p:cNvPr id="5050" name="Oval 5049"/>
          <p:cNvSpPr/>
          <p:nvPr/>
        </p:nvSpPr>
        <p:spPr>
          <a:xfrm>
            <a:off x="10575388" y="6082147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140"/>
          </a:p>
        </p:txBody>
      </p:sp>
      <p:sp>
        <p:nvSpPr>
          <p:cNvPr id="5051" name="TextBox 5050"/>
          <p:cNvSpPr txBox="1"/>
          <p:nvPr/>
        </p:nvSpPr>
        <p:spPr>
          <a:xfrm>
            <a:off x="10977724" y="6063859"/>
            <a:ext cx="6487316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범위에 든 마을</a:t>
            </a:r>
            <a:endParaRPr lang="ko-KR" altLang="en-US" sz="1400"/>
          </a:p>
        </p:txBody>
      </p:sp>
      <p:sp>
        <p:nvSpPr>
          <p:cNvPr id="5052" name="TextBox 5051"/>
          <p:cNvSpPr txBox="1"/>
          <p:nvPr/>
        </p:nvSpPr>
        <p:spPr>
          <a:xfrm>
            <a:off x="10977724" y="6322685"/>
            <a:ext cx="648731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재생 시각에 화선이 닿은 마을은 붉게</a:t>
            </a:r>
            <a:endParaRPr lang="ko-KR" altLang="en-US" sz="1250"/>
          </a:p>
        </p:txBody>
      </p:sp>
      <p:sp>
        <p:nvSpPr>
          <p:cNvPr id="5053" name="Oval 5052"/>
          <p:cNvSpPr/>
          <p:nvPr/>
        </p:nvSpPr>
        <p:spPr>
          <a:xfrm>
            <a:off x="10575388" y="6632819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140"/>
          </a:p>
        </p:txBody>
      </p:sp>
      <p:sp>
        <p:nvSpPr>
          <p:cNvPr id="5054" name="TextBox 5053"/>
          <p:cNvSpPr txBox="1"/>
          <p:nvPr/>
        </p:nvSpPr>
        <p:spPr>
          <a:xfrm>
            <a:off x="10977724" y="6614531"/>
            <a:ext cx="6487316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위험도 생성</a:t>
            </a:r>
            <a:endParaRPr lang="ko-KR" altLang="en-US" sz="1400"/>
          </a:p>
        </p:txBody>
      </p:sp>
      <p:sp>
        <p:nvSpPr>
          <p:cNvPr id="5055" name="TextBox 5054"/>
          <p:cNvSpPr txBox="1"/>
          <p:nvPr/>
        </p:nvSpPr>
        <p:spPr>
          <a:xfrm>
            <a:off x="10977724" y="6873357"/>
            <a:ext cx="648731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예측 1회마다 P5 기준 위험도 1개</a:t>
            </a:r>
            <a:endParaRPr lang="ko-KR" altLang="en-US" sz="1250"/>
          </a:p>
        </p:txBody>
      </p:sp>
      <p:sp>
        <p:nvSpPr>
          <p:cNvPr id="5056" name="Rounded Rectangle 5055"/>
          <p:cNvSpPr/>
          <p:nvPr/>
        </p:nvSpPr>
        <p:spPr>
          <a:xfrm>
            <a:off x="10575388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57" name="TextBox 5056"/>
          <p:cNvSpPr txBox="1"/>
          <p:nvPr/>
        </p:nvSpPr>
        <p:spPr>
          <a:xfrm>
            <a:off x="11718388" y="8769096"/>
            <a:ext cx="57466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F-09 확산 예측 실행·갱신 · F-05 · UC-PRED-01 · UC-SIT-03</a:t>
            </a:r>
            <a:endParaRPr lang="ko-KR" altLang="en-US" sz="1200"/>
          </a:p>
        </p:txBody>
      </p:sp>
      <p:sp>
        <p:nvSpPr>
          <p:cNvPr id="5058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7467114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 ③ 산불 위험도 — 열람자도 열람 (UC-PRED-02)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024" name="Rectangle 5023"/>
          <p:cNvSpPr/>
          <p:nvPr/>
        </p:nvSpPr>
        <p:spPr>
          <a:xfrm>
            <a:off x="822960" y="2432304"/>
            <a:ext cx="566928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지도 오른쪽 위 네모 → 상세 팝업</a:t>
            </a:r>
            <a:endParaRPr lang="ko-KR" altLang="en-US" sz="1250"/>
          </a:p>
        </p:txBody>
      </p:sp>
      <p:pic>
        <p:nvPicPr>
          <p:cNvPr id="5025" name="Picture 50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743200"/>
            <a:ext cx="5318185" cy="626364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6" name="Rounded Rectangle 5025"/>
          <p:cNvSpPr/>
          <p:nvPr/>
        </p:nvSpPr>
        <p:spPr>
          <a:xfrm>
            <a:off x="4988872" y="2831836"/>
            <a:ext cx="1063637" cy="1063637"/>
          </a:xfrm>
          <a:prstGeom prst="roundRect">
            <a:avLst>
              <a:gd name="adj" fmla="val 4298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7" name="Oval 5026"/>
          <p:cNvSpPr/>
          <p:nvPr/>
        </p:nvSpPr>
        <p:spPr>
          <a:xfrm>
            <a:off x="4641400" y="3208207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8" name="Rounded Rectangle 5027"/>
          <p:cNvSpPr/>
          <p:nvPr/>
        </p:nvSpPr>
        <p:spPr>
          <a:xfrm>
            <a:off x="1207051" y="3895473"/>
            <a:ext cx="4845457" cy="1226137"/>
          </a:xfrm>
          <a:prstGeom prst="roundRect">
            <a:avLst>
              <a:gd name="adj" fmla="val 3728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9" name="Oval 5028"/>
          <p:cNvSpPr/>
          <p:nvPr/>
        </p:nvSpPr>
        <p:spPr>
          <a:xfrm>
            <a:off x="859579" y="435309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30" name="Rounded Rectangle 5029"/>
          <p:cNvSpPr/>
          <p:nvPr/>
        </p:nvSpPr>
        <p:spPr>
          <a:xfrm>
            <a:off x="1207051" y="5047747"/>
            <a:ext cx="4845457" cy="2186365"/>
          </a:xfrm>
          <a:prstGeom prst="roundRect">
            <a:avLst>
              <a:gd name="adj" fmla="val 2091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1" name="Oval 5030"/>
          <p:cNvSpPr/>
          <p:nvPr/>
        </p:nvSpPr>
        <p:spPr>
          <a:xfrm>
            <a:off x="859579" y="5985481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2" name="Rounded Rectangle 5031"/>
          <p:cNvSpPr/>
          <p:nvPr/>
        </p:nvSpPr>
        <p:spPr>
          <a:xfrm>
            <a:off x="1207051" y="7145475"/>
            <a:ext cx="4845457" cy="1152273"/>
          </a:xfrm>
          <a:prstGeom prst="roundRect">
            <a:avLst>
              <a:gd name="adj" fmla="val 3967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3" name="Oval 5032"/>
          <p:cNvSpPr/>
          <p:nvPr/>
        </p:nvSpPr>
        <p:spPr>
          <a:xfrm>
            <a:off x="859579" y="756616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4" name="Rounded Rectangle 5033"/>
          <p:cNvSpPr/>
          <p:nvPr/>
        </p:nvSpPr>
        <p:spPr>
          <a:xfrm>
            <a:off x="1310460" y="8223885"/>
            <a:ext cx="4638639" cy="487500"/>
          </a:xfrm>
          <a:prstGeom prst="roundRect">
            <a:avLst>
              <a:gd name="adj" fmla="val 9378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5" name="Oval 5034"/>
          <p:cNvSpPr/>
          <p:nvPr/>
        </p:nvSpPr>
        <p:spPr>
          <a:xfrm>
            <a:off x="962988" y="8312187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36" name="Rectangle 5035"/>
          <p:cNvSpPr/>
          <p:nvPr/>
        </p:nvSpPr>
        <p:spPr>
          <a:xfrm>
            <a:off x="6766560" y="2432304"/>
            <a:ext cx="548640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「요소별 지표」 — 23개 변수 표</a:t>
            </a:r>
            <a:endParaRPr lang="ko-KR" altLang="en-US" sz="1250"/>
          </a:p>
        </p:txBody>
      </p:sp>
      <p:pic>
        <p:nvPicPr>
          <p:cNvPr id="5037" name="Picture 503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2743200"/>
            <a:ext cx="5669078" cy="626364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8" name="Rounded Rectangle 5037"/>
          <p:cNvSpPr/>
          <p:nvPr/>
        </p:nvSpPr>
        <p:spPr>
          <a:xfrm>
            <a:off x="6808041" y="2943692"/>
            <a:ext cx="5586116" cy="262713"/>
          </a:xfrm>
          <a:prstGeom prst="roundRect">
            <a:avLst>
              <a:gd name="adj" fmla="val 1740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9" name="Oval 5038"/>
          <p:cNvSpPr/>
          <p:nvPr/>
        </p:nvSpPr>
        <p:spPr>
          <a:xfrm>
            <a:off x="6637048" y="2772699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292"/>
          </a:p>
        </p:txBody>
      </p:sp>
      <p:sp>
        <p:nvSpPr>
          <p:cNvPr id="5040" name="Oval 5039"/>
          <p:cNvSpPr/>
          <p:nvPr/>
        </p:nvSpPr>
        <p:spPr>
          <a:xfrm>
            <a:off x="12573000" y="247802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140"/>
          </a:p>
        </p:txBody>
      </p:sp>
      <p:sp>
        <p:nvSpPr>
          <p:cNvPr id="5041" name="TextBox 5040"/>
          <p:cNvSpPr txBox="1"/>
          <p:nvPr/>
        </p:nvSpPr>
        <p:spPr>
          <a:xfrm>
            <a:off x="12975336" y="2459736"/>
            <a:ext cx="448970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위험도 네모</a:t>
            </a:r>
            <a:endParaRPr lang="ko-KR" altLang="en-US" sz="1400"/>
          </a:p>
        </p:txBody>
      </p:sp>
      <p:sp>
        <p:nvSpPr>
          <p:cNvPr id="5042" name="TextBox 5041"/>
          <p:cNvSpPr txBox="1"/>
          <p:nvPr/>
        </p:nvSpPr>
        <p:spPr>
          <a:xfrm>
            <a:off x="12975336" y="2718562"/>
            <a:ext cx="4489704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숫자 하나(1.00~5.00), 구간 색 — 4 이상 빨강·3 이상 주황·2 이상 노랑·그 아래 파랑</a:t>
            </a:r>
            <a:endParaRPr lang="ko-KR" altLang="en-US" sz="1250"/>
          </a:p>
        </p:txBody>
      </p:sp>
      <p:sp>
        <p:nvSpPr>
          <p:cNvPr id="5043" name="Oval 5042"/>
          <p:cNvSpPr/>
          <p:nvPr/>
        </p:nvSpPr>
        <p:spPr>
          <a:xfrm>
            <a:off x="12573000" y="3238246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140"/>
          </a:p>
        </p:txBody>
      </p:sp>
      <p:sp>
        <p:nvSpPr>
          <p:cNvPr id="5044" name="TextBox 5043"/>
          <p:cNvSpPr txBox="1"/>
          <p:nvPr/>
        </p:nvSpPr>
        <p:spPr>
          <a:xfrm>
            <a:off x="12975336" y="3219958"/>
            <a:ext cx="448970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위험도와 1~5 눈금</a:t>
            </a:r>
            <a:endParaRPr lang="ko-KR" altLang="en-US" sz="1400"/>
          </a:p>
        </p:txBody>
      </p:sp>
      <p:sp>
        <p:nvSpPr>
          <p:cNvPr id="5045" name="Oval 5044"/>
          <p:cNvSpPr/>
          <p:nvPr/>
        </p:nvSpPr>
        <p:spPr>
          <a:xfrm>
            <a:off x="12573000" y="3604006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140"/>
          </a:p>
        </p:txBody>
      </p:sp>
      <p:sp>
        <p:nvSpPr>
          <p:cNvPr id="5046" name="TextBox 5045"/>
          <p:cNvSpPr txBox="1"/>
          <p:nvPr/>
        </p:nvSpPr>
        <p:spPr>
          <a:xfrm>
            <a:off x="12975336" y="3585718"/>
            <a:ext cx="448970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4요소 점수·가중치</a:t>
            </a:r>
            <a:endParaRPr lang="ko-KR" altLang="en-US" sz="1400"/>
          </a:p>
        </p:txBody>
      </p:sp>
      <p:sp>
        <p:nvSpPr>
          <p:cNvPr id="5047" name="TextBox 5046"/>
          <p:cNvSpPr txBox="1"/>
          <p:nvPr/>
        </p:nvSpPr>
        <p:spPr>
          <a:xfrm>
            <a:off x="12975336" y="3844544"/>
            <a:ext cx="4489704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기상 0.372 · 지형 0.287 · 연료 0.266 · 인프라 0.074</a:t>
            </a:r>
            <a:endParaRPr lang="ko-KR" altLang="en-US" sz="1250"/>
          </a:p>
        </p:txBody>
      </p:sp>
      <p:sp>
        <p:nvSpPr>
          <p:cNvPr id="5048" name="Oval 5047"/>
          <p:cNvSpPr/>
          <p:nvPr/>
        </p:nvSpPr>
        <p:spPr>
          <a:xfrm>
            <a:off x="12573000" y="4154678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140"/>
          </a:p>
        </p:txBody>
      </p:sp>
      <p:sp>
        <p:nvSpPr>
          <p:cNvPr id="5049" name="TextBox 5048"/>
          <p:cNvSpPr txBox="1"/>
          <p:nvPr/>
        </p:nvSpPr>
        <p:spPr>
          <a:xfrm>
            <a:off x="12975336" y="4136390"/>
            <a:ext cx="448970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기준 화선·P5·계산 시각</a:t>
            </a:r>
            <a:endParaRPr lang="ko-KR" altLang="en-US" sz="1400"/>
          </a:p>
        </p:txBody>
      </p:sp>
      <p:sp>
        <p:nvSpPr>
          <p:cNvPr id="5050" name="TextBox 5049"/>
          <p:cNvSpPr txBox="1"/>
          <p:nvPr/>
        </p:nvSpPr>
        <p:spPr>
          <a:xfrm>
            <a:off x="12975336" y="4395216"/>
            <a:ext cx="4489704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어느 예측 결과로 계산했는지 표시</a:t>
            </a:r>
            <a:endParaRPr lang="ko-KR" altLang="en-US" sz="1250"/>
          </a:p>
        </p:txBody>
      </p:sp>
      <p:sp>
        <p:nvSpPr>
          <p:cNvPr id="5051" name="Oval 5050"/>
          <p:cNvSpPr/>
          <p:nvPr/>
        </p:nvSpPr>
        <p:spPr>
          <a:xfrm>
            <a:off x="12573000" y="4705350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140"/>
          </a:p>
        </p:txBody>
      </p:sp>
      <p:sp>
        <p:nvSpPr>
          <p:cNvPr id="5052" name="TextBox 5051"/>
          <p:cNvSpPr txBox="1"/>
          <p:nvPr/>
        </p:nvSpPr>
        <p:spPr>
          <a:xfrm>
            <a:off x="12975336" y="4687062"/>
            <a:ext cx="448970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「요소별 지표」</a:t>
            </a:r>
            <a:endParaRPr lang="ko-KR" altLang="en-US" sz="1400"/>
          </a:p>
        </p:txBody>
      </p:sp>
      <p:sp>
        <p:nvSpPr>
          <p:cNvPr id="5053" name="TextBox 5052"/>
          <p:cNvSpPr txBox="1"/>
          <p:nvPr/>
        </p:nvSpPr>
        <p:spPr>
          <a:xfrm>
            <a:off x="12975336" y="4945888"/>
            <a:ext cx="4489704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팝업으로 23개 변수 표를 엶</a:t>
            </a:r>
            <a:endParaRPr lang="ko-KR" altLang="en-US" sz="1250"/>
          </a:p>
        </p:txBody>
      </p:sp>
      <p:sp>
        <p:nvSpPr>
          <p:cNvPr id="5054" name="Oval 5053"/>
          <p:cNvSpPr/>
          <p:nvPr/>
        </p:nvSpPr>
        <p:spPr>
          <a:xfrm>
            <a:off x="12573000" y="5256022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140"/>
          </a:p>
        </p:txBody>
      </p:sp>
      <p:sp>
        <p:nvSpPr>
          <p:cNvPr id="5055" name="TextBox 5054"/>
          <p:cNvSpPr txBox="1"/>
          <p:nvPr/>
        </p:nvSpPr>
        <p:spPr>
          <a:xfrm>
            <a:off x="12975336" y="5237734"/>
            <a:ext cx="448970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변수명·값·단위·가중치·등급</a:t>
            </a:r>
            <a:endParaRPr lang="ko-KR" altLang="en-US" sz="1400"/>
          </a:p>
        </p:txBody>
      </p:sp>
      <p:sp>
        <p:nvSpPr>
          <p:cNvPr id="5056" name="TextBox 5055"/>
          <p:cNvSpPr txBox="1"/>
          <p:nvPr/>
        </p:nvSpPr>
        <p:spPr>
          <a:xfrm>
            <a:off x="12975336" y="5496560"/>
            <a:ext cx="4489704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가져오지 못한 변수는 빼고 계산하고 경고 표시</a:t>
            </a:r>
            <a:endParaRPr lang="ko-KR" altLang="en-US" sz="1250"/>
          </a:p>
        </p:txBody>
      </p:sp>
      <p:sp>
        <p:nvSpPr>
          <p:cNvPr id="5057" name="Rounded Rectangle 5056"/>
          <p:cNvSpPr/>
          <p:nvPr/>
        </p:nvSpPr>
        <p:spPr>
          <a:xfrm>
            <a:off x="12573000" y="5843270"/>
            <a:ext cx="4892040" cy="868680"/>
          </a:xfrm>
          <a:prstGeom prst="roundRect">
            <a:avLst>
              <a:gd name="adj" fmla="val 10526"/>
            </a:avLst>
          </a:prstGeom>
          <a:solidFill>
            <a:srgbClr val="FDF1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8" name="TextBox 5057"/>
          <p:cNvSpPr txBox="1"/>
          <p:nvPr/>
        </p:nvSpPr>
        <p:spPr>
          <a:xfrm>
            <a:off x="12755880" y="5888990"/>
            <a:ext cx="4526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B5601C"/>
                </a:solidFill>
                <a:latin typeface="210 OmniGothic 030"/>
                <a:ea typeface="210 OmniGothic 030"/>
                <a:cs typeface="210 OmniGothic 030"/>
              </a:rPr>
              <a:t>예측 전, 산불 미선택, 종료된 산불에서는 네모를 숨긴다. 열람자도 같은 네모·팝업을 본다.</a:t>
            </a:r>
            <a:endParaRPr lang="ko-KR" altLang="en-US" sz="1250"/>
          </a:p>
        </p:txBody>
      </p:sp>
      <p:sp>
        <p:nvSpPr>
          <p:cNvPr id="5059" name="Rounded Rectangle 5058"/>
          <p:cNvSpPr/>
          <p:nvPr/>
        </p:nvSpPr>
        <p:spPr>
          <a:xfrm>
            <a:off x="12573000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60" name="TextBox 5059"/>
          <p:cNvSpPr txBox="1"/>
          <p:nvPr/>
        </p:nvSpPr>
        <p:spPr>
          <a:xfrm>
            <a:off x="13716000" y="8769096"/>
            <a:ext cx="3749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F-10 산불 위험도 조회 · UC-PRED-02(통합지휘권자·열람자)</a:t>
            </a:r>
            <a:endParaRPr lang="ko-KR" altLang="en-US" sz="1200"/>
          </a:p>
        </p:txBody>
      </p:sp>
      <p:sp>
        <p:nvSpPr>
          <p:cNvPr id="5061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2989973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 ④ 진화 대응 제안 S1~S7 (UC-PROP-01)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024" name="Picture 502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432304"/>
            <a:ext cx="3802524" cy="662940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5" name="Rounded Rectangle 5024"/>
          <p:cNvSpPr/>
          <p:nvPr/>
        </p:nvSpPr>
        <p:spPr>
          <a:xfrm>
            <a:off x="872993" y="2448982"/>
            <a:ext cx="3694118" cy="216811"/>
          </a:xfrm>
          <a:prstGeom prst="roundRect">
            <a:avLst>
              <a:gd name="adj" fmla="val 21087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6" name="Oval 5025"/>
          <p:cNvSpPr/>
          <p:nvPr/>
        </p:nvSpPr>
        <p:spPr>
          <a:xfrm>
            <a:off x="702000" y="2277989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7" name="Rounded Rectangle 5026"/>
          <p:cNvSpPr/>
          <p:nvPr/>
        </p:nvSpPr>
        <p:spPr>
          <a:xfrm>
            <a:off x="872993" y="2640776"/>
            <a:ext cx="3694118" cy="600398"/>
          </a:xfrm>
          <a:prstGeom prst="roundRect">
            <a:avLst>
              <a:gd name="adj" fmla="val 7614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8" name="Oval 5027"/>
          <p:cNvSpPr/>
          <p:nvPr/>
        </p:nvSpPr>
        <p:spPr>
          <a:xfrm>
            <a:off x="4427208" y="2469783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29" name="Rounded Rectangle 5028"/>
          <p:cNvSpPr/>
          <p:nvPr/>
        </p:nvSpPr>
        <p:spPr>
          <a:xfrm>
            <a:off x="872993" y="3224496"/>
            <a:ext cx="3694118" cy="466977"/>
          </a:xfrm>
          <a:prstGeom prst="roundRect">
            <a:avLst>
              <a:gd name="adj" fmla="val 9790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0" name="Oval 5029"/>
          <p:cNvSpPr/>
          <p:nvPr/>
        </p:nvSpPr>
        <p:spPr>
          <a:xfrm>
            <a:off x="4427208" y="305350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1" name="Rounded Rectangle 5030"/>
          <p:cNvSpPr/>
          <p:nvPr/>
        </p:nvSpPr>
        <p:spPr>
          <a:xfrm>
            <a:off x="872993" y="3699812"/>
            <a:ext cx="3694118" cy="1384252"/>
          </a:xfrm>
          <a:prstGeom prst="roundRect">
            <a:avLst>
              <a:gd name="adj" fmla="val 330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2" name="Oval 5031"/>
          <p:cNvSpPr/>
          <p:nvPr/>
        </p:nvSpPr>
        <p:spPr>
          <a:xfrm>
            <a:off x="4427208" y="3528819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3" name="Rounded Rectangle 5032"/>
          <p:cNvSpPr/>
          <p:nvPr/>
        </p:nvSpPr>
        <p:spPr>
          <a:xfrm>
            <a:off x="906349" y="7185459"/>
            <a:ext cx="3652424" cy="1784518"/>
          </a:xfrm>
          <a:prstGeom prst="roundRect">
            <a:avLst>
              <a:gd name="adj" fmla="val 256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4" name="Oval 5033"/>
          <p:cNvSpPr/>
          <p:nvPr/>
        </p:nvSpPr>
        <p:spPr>
          <a:xfrm>
            <a:off x="4418870" y="7014466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35" name="Rounded Rectangle 5034"/>
          <p:cNvSpPr/>
          <p:nvPr/>
        </p:nvSpPr>
        <p:spPr>
          <a:xfrm>
            <a:off x="939704" y="7002004"/>
            <a:ext cx="3585713" cy="266844"/>
          </a:xfrm>
          <a:prstGeom prst="roundRect">
            <a:avLst>
              <a:gd name="adj" fmla="val 17133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6" name="Oval 5035"/>
          <p:cNvSpPr/>
          <p:nvPr/>
        </p:nvSpPr>
        <p:spPr>
          <a:xfrm>
            <a:off x="768711" y="6831011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292"/>
          </a:p>
        </p:txBody>
      </p:sp>
      <p:sp>
        <p:nvSpPr>
          <p:cNvPr id="5037" name="Rectangle 5036"/>
          <p:cNvSpPr/>
          <p:nvPr/>
        </p:nvSpPr>
        <p:spPr>
          <a:xfrm>
            <a:off x="4991244" y="2432304"/>
            <a:ext cx="12473796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제안 문장 예시 (S3 진화자원 투입·배분·재배치, 펼친 상태)</a:t>
            </a:r>
            <a:endParaRPr lang="ko-KR" altLang="en-US" sz="1250"/>
          </a:p>
        </p:txBody>
      </p:sp>
      <p:pic>
        <p:nvPicPr>
          <p:cNvPr id="5038" name="Picture 5037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244" y="2743200"/>
            <a:ext cx="9429750" cy="342900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9" name="Oval 5038"/>
          <p:cNvSpPr/>
          <p:nvPr/>
        </p:nvSpPr>
        <p:spPr>
          <a:xfrm>
            <a:off x="4991244" y="640994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140"/>
          </a:p>
        </p:txBody>
      </p:sp>
      <p:sp>
        <p:nvSpPr>
          <p:cNvPr id="5040" name="TextBox 5039"/>
          <p:cNvSpPr txBox="1"/>
          <p:nvPr/>
        </p:nvSpPr>
        <p:spPr>
          <a:xfrm>
            <a:off x="5393580" y="6391656"/>
            <a:ext cx="5697402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제안서 버전·기준</a:t>
            </a:r>
            <a:endParaRPr lang="ko-KR" altLang="en-US" sz="1400"/>
          </a:p>
        </p:txBody>
      </p:sp>
      <p:sp>
        <p:nvSpPr>
          <p:cNvPr id="5041" name="TextBox 5040"/>
          <p:cNvSpPr txBox="1"/>
          <p:nvPr/>
        </p:nvSpPr>
        <p:spPr>
          <a:xfrm>
            <a:off x="5393580" y="6650482"/>
            <a:ext cx="569740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v1.1 · 생성 시각·계기 · 기준 화선 · 공식 단계 · 판정 단계</a:t>
            </a:r>
            <a:endParaRPr lang="ko-KR" altLang="en-US" sz="1200"/>
          </a:p>
        </p:txBody>
      </p:sp>
      <p:sp>
        <p:nvSpPr>
          <p:cNvPr id="5042" name="Oval 5041"/>
          <p:cNvSpPr/>
          <p:nvPr/>
        </p:nvSpPr>
        <p:spPr>
          <a:xfrm>
            <a:off x="4991244" y="695223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140"/>
          </a:p>
        </p:txBody>
      </p:sp>
      <p:sp>
        <p:nvSpPr>
          <p:cNvPr id="5043" name="TextBox 5042"/>
          <p:cNvSpPr txBox="1"/>
          <p:nvPr/>
        </p:nvSpPr>
        <p:spPr>
          <a:xfrm>
            <a:off x="5393580" y="6933946"/>
            <a:ext cx="5697402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격상 검토 권고</a:t>
            </a:r>
            <a:endParaRPr lang="ko-KR" altLang="en-US" sz="1400"/>
          </a:p>
        </p:txBody>
      </p:sp>
      <p:sp>
        <p:nvSpPr>
          <p:cNvPr id="5044" name="TextBox 5043"/>
          <p:cNvSpPr txBox="1"/>
          <p:nvPr/>
        </p:nvSpPr>
        <p:spPr>
          <a:xfrm>
            <a:off x="5393580" y="7192772"/>
            <a:ext cx="569740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S1 판정이 공식 단계보다 높으면 상단 배너, 지휘권 인계 안내</a:t>
            </a:r>
            <a:endParaRPr lang="ko-KR" altLang="en-US" sz="1200"/>
          </a:p>
        </p:txBody>
      </p:sp>
      <p:sp>
        <p:nvSpPr>
          <p:cNvPr id="5045" name="Oval 5044"/>
          <p:cNvSpPr/>
          <p:nvPr/>
        </p:nvSpPr>
        <p:spPr>
          <a:xfrm>
            <a:off x="4991244" y="749452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140"/>
          </a:p>
        </p:txBody>
      </p:sp>
      <p:sp>
        <p:nvSpPr>
          <p:cNvPr id="5046" name="TextBox 5045"/>
          <p:cNvSpPr txBox="1"/>
          <p:nvPr/>
        </p:nvSpPr>
        <p:spPr>
          <a:xfrm>
            <a:off x="5393580" y="7476236"/>
            <a:ext cx="5697402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진화/대피 탭 · 구분 필터</a:t>
            </a:r>
            <a:endParaRPr lang="ko-KR" altLang="en-US" sz="1400"/>
          </a:p>
        </p:txBody>
      </p:sp>
      <p:sp>
        <p:nvSpPr>
          <p:cNvPr id="5047" name="TextBox 5046"/>
          <p:cNvSpPr txBox="1"/>
          <p:nvPr/>
        </p:nvSpPr>
        <p:spPr>
          <a:xfrm>
            <a:off x="5393580" y="7735062"/>
            <a:ext cx="569740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즉시·대기·협의·요청</a:t>
            </a:r>
            <a:endParaRPr lang="ko-KR" altLang="en-US" sz="1200"/>
          </a:p>
        </p:txBody>
      </p:sp>
      <p:sp>
        <p:nvSpPr>
          <p:cNvPr id="5048" name="Oval 5047"/>
          <p:cNvSpPr/>
          <p:nvPr/>
        </p:nvSpPr>
        <p:spPr>
          <a:xfrm>
            <a:off x="11365302" y="640994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140"/>
          </a:p>
        </p:txBody>
      </p:sp>
      <p:sp>
        <p:nvSpPr>
          <p:cNvPr id="5049" name="TextBox 5048"/>
          <p:cNvSpPr txBox="1"/>
          <p:nvPr/>
        </p:nvSpPr>
        <p:spPr>
          <a:xfrm>
            <a:off x="11767638" y="6391656"/>
            <a:ext cx="5697402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제안 카드</a:t>
            </a:r>
            <a:endParaRPr lang="ko-KR" altLang="en-US" sz="1400"/>
          </a:p>
        </p:txBody>
      </p:sp>
      <p:sp>
        <p:nvSpPr>
          <p:cNvPr id="5050" name="TextBox 5049"/>
          <p:cNvSpPr txBox="1"/>
          <p:nvPr/>
        </p:nvSpPr>
        <p:spPr>
          <a:xfrm>
            <a:off x="11767638" y="6650482"/>
            <a:ext cx="569740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항목명 + 구분 + 제안 문장, 문장 끝 근거 번호</a:t>
            </a:r>
            <a:endParaRPr lang="ko-KR" altLang="en-US" sz="1200"/>
          </a:p>
        </p:txBody>
      </p:sp>
      <p:sp>
        <p:nvSpPr>
          <p:cNvPr id="5051" name="Oval 5050"/>
          <p:cNvSpPr/>
          <p:nvPr/>
        </p:nvSpPr>
        <p:spPr>
          <a:xfrm>
            <a:off x="11365302" y="695223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140"/>
          </a:p>
        </p:txBody>
      </p:sp>
      <p:sp>
        <p:nvSpPr>
          <p:cNvPr id="5052" name="TextBox 5051"/>
          <p:cNvSpPr txBox="1"/>
          <p:nvPr/>
        </p:nvSpPr>
        <p:spPr>
          <a:xfrm>
            <a:off x="11767638" y="6933946"/>
            <a:ext cx="5697402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펼침 상세</a:t>
            </a:r>
            <a:endParaRPr lang="ko-KR" altLang="en-US" sz="1400"/>
          </a:p>
        </p:txBody>
      </p:sp>
      <p:sp>
        <p:nvSpPr>
          <p:cNvPr id="5053" name="TextBox 5052"/>
          <p:cNvSpPr txBox="1"/>
          <p:nvPr/>
        </p:nvSpPr>
        <p:spPr>
          <a:xfrm>
            <a:off x="11767638" y="7192772"/>
            <a:ext cx="569740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판정 이유·대상·권한·근거 목록·「이 항목 질문」, 펼치면 지도에 대상 위치 강조</a:t>
            </a:r>
            <a:endParaRPr lang="ko-KR" altLang="en-US" sz="1200"/>
          </a:p>
        </p:txBody>
      </p:sp>
      <p:sp>
        <p:nvSpPr>
          <p:cNvPr id="5054" name="Oval 5053"/>
          <p:cNvSpPr/>
          <p:nvPr/>
        </p:nvSpPr>
        <p:spPr>
          <a:xfrm>
            <a:off x="11365302" y="749452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140"/>
          </a:p>
        </p:txBody>
      </p:sp>
      <p:sp>
        <p:nvSpPr>
          <p:cNvPr id="5055" name="TextBox 5054"/>
          <p:cNvSpPr txBox="1"/>
          <p:nvPr/>
        </p:nvSpPr>
        <p:spPr>
          <a:xfrm>
            <a:off x="11767638" y="7476236"/>
            <a:ext cx="5697402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근거 없는 수량은 비표시</a:t>
            </a:r>
            <a:endParaRPr lang="ko-KR" altLang="en-US" sz="1400"/>
          </a:p>
        </p:txBody>
      </p:sp>
      <p:sp>
        <p:nvSpPr>
          <p:cNvPr id="5056" name="TextBox 5055"/>
          <p:cNvSpPr txBox="1"/>
          <p:nvPr/>
        </p:nvSpPr>
        <p:spPr>
          <a:xfrm>
            <a:off x="11767638" y="7735062"/>
            <a:ext cx="569740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「근거가 부족하여 표시하지 않았습니다」 + 이벤트 로그</a:t>
            </a:r>
            <a:endParaRPr lang="ko-KR" altLang="en-US" sz="1200"/>
          </a:p>
        </p:txBody>
      </p:sp>
      <p:sp>
        <p:nvSpPr>
          <p:cNvPr id="5057" name="Rounded Rectangle 5056"/>
          <p:cNvSpPr/>
          <p:nvPr/>
        </p:nvSpPr>
        <p:spPr>
          <a:xfrm>
            <a:off x="4991244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58" name="TextBox 5057"/>
          <p:cNvSpPr txBox="1"/>
          <p:nvPr/>
        </p:nvSpPr>
        <p:spPr>
          <a:xfrm>
            <a:off x="6134244" y="8769096"/>
            <a:ext cx="113307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F-11 대응 제안 · F-12 제안 분류 · F-15~F-21 진화 S1~S7 · UC-PRED-01 · UC-PROP-01</a:t>
            </a:r>
            <a:endParaRPr lang="ko-KR" altLang="en-US" sz="1200"/>
          </a:p>
        </p:txBody>
      </p:sp>
      <p:sp>
        <p:nvSpPr>
          <p:cNvPr id="5059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355836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 ⑤ 대피 대응 제안 E1~E7 · 카드와 지도 연동 (UC-PROP-02)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024" name="Rectangle 5023"/>
          <p:cNvSpPr/>
          <p:nvPr/>
        </p:nvSpPr>
        <p:spPr>
          <a:xfrm>
            <a:off x="822960" y="2432304"/>
            <a:ext cx="416052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대피 탭 (7항목 중 발동 5)</a:t>
            </a:r>
            <a:endParaRPr lang="ko-KR" altLang="en-US" sz="1250"/>
          </a:p>
        </p:txBody>
      </p:sp>
      <p:pic>
        <p:nvPicPr>
          <p:cNvPr id="5025" name="Picture 5024" descr="G_09_prop_evac_c24_230_480_92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743200"/>
            <a:ext cx="4139449" cy="626364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6" name="Rounded Rectangle 5025"/>
          <p:cNvSpPr/>
          <p:nvPr/>
        </p:nvSpPr>
        <p:spPr>
          <a:xfrm>
            <a:off x="2874529" y="2788589"/>
            <a:ext cx="2042491" cy="290488"/>
          </a:xfrm>
          <a:prstGeom prst="roundRect">
            <a:avLst>
              <a:gd name="adj" fmla="val 15739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7" name="Oval 5026"/>
          <p:cNvSpPr/>
          <p:nvPr/>
        </p:nvSpPr>
        <p:spPr>
          <a:xfrm>
            <a:off x="4777117" y="2617596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8" name="Rounded Rectangle 5027"/>
          <p:cNvSpPr/>
          <p:nvPr/>
        </p:nvSpPr>
        <p:spPr>
          <a:xfrm>
            <a:off x="877426" y="3278787"/>
            <a:ext cx="4021438" cy="880541"/>
          </a:xfrm>
          <a:prstGeom prst="roundRect">
            <a:avLst>
              <a:gd name="adj" fmla="val 519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9" name="Oval 5028"/>
          <p:cNvSpPr/>
          <p:nvPr/>
        </p:nvSpPr>
        <p:spPr>
          <a:xfrm>
            <a:off x="4758962" y="310779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30" name="Rounded Rectangle 5029"/>
          <p:cNvSpPr/>
          <p:nvPr/>
        </p:nvSpPr>
        <p:spPr>
          <a:xfrm>
            <a:off x="877426" y="4159327"/>
            <a:ext cx="4021438" cy="1234573"/>
          </a:xfrm>
          <a:prstGeom prst="roundRect">
            <a:avLst>
              <a:gd name="adj" fmla="val 3703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1" name="Oval 5030"/>
          <p:cNvSpPr/>
          <p:nvPr/>
        </p:nvSpPr>
        <p:spPr>
          <a:xfrm>
            <a:off x="4758962" y="3988335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2" name="Rounded Rectangle 5031"/>
          <p:cNvSpPr/>
          <p:nvPr/>
        </p:nvSpPr>
        <p:spPr>
          <a:xfrm>
            <a:off x="877426" y="8371398"/>
            <a:ext cx="4021438" cy="272332"/>
          </a:xfrm>
          <a:prstGeom prst="roundRect">
            <a:avLst>
              <a:gd name="adj" fmla="val 16788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3" name="Oval 5032"/>
          <p:cNvSpPr/>
          <p:nvPr/>
        </p:nvSpPr>
        <p:spPr>
          <a:xfrm>
            <a:off x="4758962" y="8200405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4" name="Rounded Rectangle 5033"/>
          <p:cNvSpPr/>
          <p:nvPr/>
        </p:nvSpPr>
        <p:spPr>
          <a:xfrm>
            <a:off x="877426" y="8661886"/>
            <a:ext cx="4021438" cy="326799"/>
          </a:xfrm>
          <a:prstGeom prst="roundRect">
            <a:avLst>
              <a:gd name="adj" fmla="val 13990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5" name="Oval 5034"/>
          <p:cNvSpPr/>
          <p:nvPr/>
        </p:nvSpPr>
        <p:spPr>
          <a:xfrm>
            <a:off x="4758962" y="8848781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36" name="Rounded Rectangle 5035"/>
          <p:cNvSpPr/>
          <p:nvPr/>
        </p:nvSpPr>
        <p:spPr>
          <a:xfrm>
            <a:off x="877426" y="3042765"/>
            <a:ext cx="1942636" cy="254177"/>
          </a:xfrm>
          <a:prstGeom prst="roundRect">
            <a:avLst>
              <a:gd name="adj" fmla="val 17987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7" name="Oval 5036"/>
          <p:cNvSpPr/>
          <p:nvPr/>
        </p:nvSpPr>
        <p:spPr>
          <a:xfrm>
            <a:off x="2680159" y="2871773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292"/>
          </a:p>
        </p:txBody>
      </p:sp>
      <p:sp>
        <p:nvSpPr>
          <p:cNvPr id="5038" name="Rectangle 5037"/>
          <p:cNvSpPr/>
          <p:nvPr/>
        </p:nvSpPr>
        <p:spPr>
          <a:xfrm>
            <a:off x="5236729" y="2432304"/>
            <a:ext cx="800100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카드를 펼치면 — 지도에 대상 위치 강조(E1 위험구역 마을 5곳)</a:t>
            </a:r>
            <a:endParaRPr lang="ko-KR" altLang="en-US" sz="1250"/>
          </a:p>
        </p:txBody>
      </p:sp>
      <p:pic>
        <p:nvPicPr>
          <p:cNvPr id="5039" name="Picture 5038" descr="G_09c_card_map_c480_76_1920_108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6729" y="2743200"/>
            <a:ext cx="8001000" cy="5578475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40" name="Rounded Rectangle 5039"/>
          <p:cNvSpPr/>
          <p:nvPr/>
        </p:nvSpPr>
        <p:spPr>
          <a:xfrm>
            <a:off x="10298473" y="4721225"/>
            <a:ext cx="322262" cy="322262"/>
          </a:xfrm>
          <a:prstGeom prst="roundRect">
            <a:avLst>
              <a:gd name="adj" fmla="val 14187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1" name="Oval 5040"/>
          <p:cNvSpPr/>
          <p:nvPr/>
        </p:nvSpPr>
        <p:spPr>
          <a:xfrm>
            <a:off x="10480832" y="455023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  <a:endParaRPr lang="ko-KR" altLang="en-US" sz="1292"/>
          </a:p>
        </p:txBody>
      </p:sp>
      <p:sp>
        <p:nvSpPr>
          <p:cNvPr id="5042" name="Rounded Rectangle 5041"/>
          <p:cNvSpPr/>
          <p:nvPr/>
        </p:nvSpPr>
        <p:spPr>
          <a:xfrm>
            <a:off x="6459104" y="7793831"/>
            <a:ext cx="2889250" cy="216694"/>
          </a:xfrm>
          <a:prstGeom prst="roundRect">
            <a:avLst>
              <a:gd name="adj" fmla="val 21098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3" name="Oval 5042"/>
          <p:cNvSpPr/>
          <p:nvPr/>
        </p:nvSpPr>
        <p:spPr>
          <a:xfrm>
            <a:off x="6288111" y="7622838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8</a:t>
            </a:r>
            <a:endParaRPr lang="ko-KR" altLang="en-US" sz="1292"/>
          </a:p>
        </p:txBody>
      </p:sp>
      <p:sp>
        <p:nvSpPr>
          <p:cNvPr id="5044" name="Oval 5043"/>
          <p:cNvSpPr/>
          <p:nvPr/>
        </p:nvSpPr>
        <p:spPr>
          <a:xfrm>
            <a:off x="13512049" y="2478024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064"/>
          </a:p>
        </p:txBody>
      </p:sp>
      <p:sp>
        <p:nvSpPr>
          <p:cNvPr id="5045" name="TextBox 5044"/>
          <p:cNvSpPr txBox="1"/>
          <p:nvPr/>
        </p:nvSpPr>
        <p:spPr>
          <a:xfrm>
            <a:off x="13896097" y="2459736"/>
            <a:ext cx="3568943" cy="2063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대피 탭</a:t>
            </a:r>
            <a:endParaRPr lang="ko-KR" altLang="en-US" sz="1300"/>
          </a:p>
        </p:txBody>
      </p:sp>
      <p:sp>
        <p:nvSpPr>
          <p:cNvPr id="5046" name="TextBox 5045"/>
          <p:cNvSpPr txBox="1"/>
          <p:nvPr/>
        </p:nvSpPr>
        <p:spPr>
          <a:xfrm>
            <a:off x="13896097" y="2702687"/>
            <a:ext cx="3568943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E1~E7 중 발동한 항목만 제안서에 포함</a:t>
            </a:r>
            <a:endParaRPr lang="ko-KR" altLang="en-US" sz="1100"/>
          </a:p>
        </p:txBody>
      </p:sp>
      <p:sp>
        <p:nvSpPr>
          <p:cNvPr id="5047" name="Oval 5046"/>
          <p:cNvSpPr/>
          <p:nvPr/>
        </p:nvSpPr>
        <p:spPr>
          <a:xfrm>
            <a:off x="13512049" y="2941955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064"/>
          </a:p>
        </p:txBody>
      </p:sp>
      <p:sp>
        <p:nvSpPr>
          <p:cNvPr id="5048" name="TextBox 5047"/>
          <p:cNvSpPr txBox="1"/>
          <p:nvPr/>
        </p:nvSpPr>
        <p:spPr>
          <a:xfrm>
            <a:off x="13896097" y="2923667"/>
            <a:ext cx="3568943" cy="2063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E1 위험구역 설정</a:t>
            </a:r>
            <a:endParaRPr lang="ko-KR" altLang="en-US" sz="1300"/>
          </a:p>
        </p:txBody>
      </p:sp>
      <p:sp>
        <p:nvSpPr>
          <p:cNvPr id="5049" name="TextBox 5048"/>
          <p:cNvSpPr txBox="1"/>
          <p:nvPr/>
        </p:nvSpPr>
        <p:spPr>
          <a:xfrm>
            <a:off x="13896097" y="3166618"/>
            <a:ext cx="3568943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도달 5시간 이내 마을 = 위험구역(즉시), 8시간 이내 = 잠재(대기)</a:t>
            </a:r>
            <a:endParaRPr lang="ko-KR" altLang="en-US" sz="1100"/>
          </a:p>
        </p:txBody>
      </p:sp>
      <p:sp>
        <p:nvSpPr>
          <p:cNvPr id="5050" name="Oval 5049"/>
          <p:cNvSpPr/>
          <p:nvPr/>
        </p:nvSpPr>
        <p:spPr>
          <a:xfrm>
            <a:off x="13512049" y="3590290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064"/>
          </a:p>
        </p:txBody>
      </p:sp>
      <p:sp>
        <p:nvSpPr>
          <p:cNvPr id="5051" name="TextBox 5050"/>
          <p:cNvSpPr txBox="1"/>
          <p:nvPr/>
        </p:nvSpPr>
        <p:spPr>
          <a:xfrm>
            <a:off x="13896097" y="3572002"/>
            <a:ext cx="3568943" cy="2063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E2 대피 대상·순서·시점</a:t>
            </a:r>
            <a:endParaRPr lang="ko-KR" altLang="en-US" sz="1300"/>
          </a:p>
        </p:txBody>
      </p:sp>
      <p:sp>
        <p:nvSpPr>
          <p:cNvPr id="5052" name="TextBox 5051"/>
          <p:cNvSpPr txBox="1"/>
          <p:nvPr/>
        </p:nvSpPr>
        <p:spPr>
          <a:xfrm>
            <a:off x="13896097" y="3814953"/>
            <a:ext cx="3568943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도달 시각·취약계층순,</a:t>
            </a:r>
            <a:endParaRPr lang="ko-KR" altLang="en-US" sz="1100"/>
          </a:p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야간 도달 마을은 일몰 전 사전대피</a:t>
            </a:r>
            <a:endParaRPr lang="ko-KR" altLang="en-US" sz="1100"/>
          </a:p>
        </p:txBody>
      </p:sp>
      <p:sp>
        <p:nvSpPr>
          <p:cNvPr id="5053" name="Oval 5052"/>
          <p:cNvSpPr/>
          <p:nvPr/>
        </p:nvSpPr>
        <p:spPr>
          <a:xfrm>
            <a:off x="13512049" y="4238625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064"/>
          </a:p>
        </p:txBody>
      </p:sp>
      <p:sp>
        <p:nvSpPr>
          <p:cNvPr id="5054" name="TextBox 5053"/>
          <p:cNvSpPr txBox="1"/>
          <p:nvPr/>
        </p:nvSpPr>
        <p:spPr>
          <a:xfrm>
            <a:off x="13896097" y="4220337"/>
            <a:ext cx="3568943" cy="2063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구분별 건수 · 발동 수</a:t>
            </a:r>
            <a:endParaRPr lang="ko-KR" altLang="en-US" sz="1300"/>
          </a:p>
        </p:txBody>
      </p:sp>
      <p:sp>
        <p:nvSpPr>
          <p:cNvPr id="5055" name="TextBox 5054"/>
          <p:cNvSpPr txBox="1"/>
          <p:nvPr/>
        </p:nvSpPr>
        <p:spPr>
          <a:xfrm>
            <a:off x="13896097" y="4463288"/>
            <a:ext cx="3568943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지금 보는 탭의 즉시·대기·협의·요청 건수</a:t>
            </a:r>
            <a:endParaRPr lang="ko-KR" altLang="en-US" sz="1100"/>
          </a:p>
        </p:txBody>
      </p:sp>
      <p:sp>
        <p:nvSpPr>
          <p:cNvPr id="5056" name="Oval 5055"/>
          <p:cNvSpPr/>
          <p:nvPr/>
        </p:nvSpPr>
        <p:spPr>
          <a:xfrm>
            <a:off x="13512049" y="4702556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064"/>
          </a:p>
        </p:txBody>
      </p:sp>
      <p:sp>
        <p:nvSpPr>
          <p:cNvPr id="5057" name="TextBox 5056"/>
          <p:cNvSpPr txBox="1"/>
          <p:nvPr/>
        </p:nvSpPr>
        <p:spPr>
          <a:xfrm>
            <a:off x="13896097" y="4684268"/>
            <a:ext cx="3568943" cy="2063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제안서 버전 이력</a:t>
            </a:r>
            <a:endParaRPr lang="ko-KR" altLang="en-US" sz="1300"/>
          </a:p>
        </p:txBody>
      </p:sp>
      <p:sp>
        <p:nvSpPr>
          <p:cNvPr id="5058" name="TextBox 5057"/>
          <p:cNvSpPr txBox="1"/>
          <p:nvPr/>
        </p:nvSpPr>
        <p:spPr>
          <a:xfrm>
            <a:off x="13896097" y="4927219"/>
            <a:ext cx="3568943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탭 아래에서 펼침</a:t>
            </a:r>
            <a:endParaRPr lang="ko-KR" altLang="en-US" sz="1100"/>
          </a:p>
        </p:txBody>
      </p:sp>
      <p:sp>
        <p:nvSpPr>
          <p:cNvPr id="5059" name="Oval 5058"/>
          <p:cNvSpPr/>
          <p:nvPr/>
        </p:nvSpPr>
        <p:spPr>
          <a:xfrm>
            <a:off x="13512049" y="5166487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064"/>
          </a:p>
        </p:txBody>
      </p:sp>
      <p:sp>
        <p:nvSpPr>
          <p:cNvPr id="5060" name="TextBox 5059"/>
          <p:cNvSpPr txBox="1"/>
          <p:nvPr/>
        </p:nvSpPr>
        <p:spPr>
          <a:xfrm>
            <a:off x="13896097" y="5148199"/>
            <a:ext cx="3568943" cy="2063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구분 필터</a:t>
            </a:r>
            <a:endParaRPr lang="ko-KR" altLang="en-US" sz="1300"/>
          </a:p>
        </p:txBody>
      </p:sp>
      <p:sp>
        <p:nvSpPr>
          <p:cNvPr id="5061" name="TextBox 5060"/>
          <p:cNvSpPr txBox="1"/>
          <p:nvPr/>
        </p:nvSpPr>
        <p:spPr>
          <a:xfrm>
            <a:off x="13896097" y="5391150"/>
            <a:ext cx="3568943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「즉시」만 골라 바로 실행할 조치 확인</a:t>
            </a:r>
            <a:endParaRPr lang="ko-KR" altLang="en-US" sz="1100"/>
          </a:p>
        </p:txBody>
      </p:sp>
      <p:sp>
        <p:nvSpPr>
          <p:cNvPr id="5062" name="Oval 5061"/>
          <p:cNvSpPr/>
          <p:nvPr/>
        </p:nvSpPr>
        <p:spPr>
          <a:xfrm>
            <a:off x="13512049" y="5630418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  <a:endParaRPr lang="ko-KR" altLang="en-US" sz="1064"/>
          </a:p>
        </p:txBody>
      </p:sp>
      <p:sp>
        <p:nvSpPr>
          <p:cNvPr id="5063" name="TextBox 5062"/>
          <p:cNvSpPr txBox="1"/>
          <p:nvPr/>
        </p:nvSpPr>
        <p:spPr>
          <a:xfrm>
            <a:off x="13896097" y="5612130"/>
            <a:ext cx="3568943" cy="2063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대상 위치 강조</a:t>
            </a:r>
            <a:endParaRPr lang="ko-KR" altLang="en-US" sz="1300"/>
          </a:p>
        </p:txBody>
      </p:sp>
      <p:sp>
        <p:nvSpPr>
          <p:cNvPr id="5064" name="TextBox 5063"/>
          <p:cNvSpPr txBox="1"/>
          <p:nvPr/>
        </p:nvSpPr>
        <p:spPr>
          <a:xfrm>
            <a:off x="13896097" y="5855081"/>
            <a:ext cx="3568943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펼친 항목의 대상 마을·시설을 하늘색 고리로 표시하고 그 범위로 이동</a:t>
            </a:r>
            <a:endParaRPr lang="ko-KR" altLang="en-US" sz="1100"/>
          </a:p>
        </p:txBody>
      </p:sp>
      <p:sp>
        <p:nvSpPr>
          <p:cNvPr id="5065" name="Oval 5064"/>
          <p:cNvSpPr/>
          <p:nvPr/>
        </p:nvSpPr>
        <p:spPr>
          <a:xfrm>
            <a:off x="13512049" y="6278753"/>
            <a:ext cx="256032" cy="256032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64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8</a:t>
            </a:r>
            <a:endParaRPr lang="ko-KR" altLang="en-US" sz="1064"/>
          </a:p>
        </p:txBody>
      </p:sp>
      <p:sp>
        <p:nvSpPr>
          <p:cNvPr id="5066" name="TextBox 5065"/>
          <p:cNvSpPr txBox="1"/>
          <p:nvPr/>
        </p:nvSpPr>
        <p:spPr>
          <a:xfrm>
            <a:off x="13896097" y="6260465"/>
            <a:ext cx="3568943" cy="2063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강조한 대상 안내</a:t>
            </a:r>
            <a:endParaRPr lang="ko-KR" altLang="en-US" sz="1300"/>
          </a:p>
        </p:txBody>
      </p:sp>
      <p:sp>
        <p:nvSpPr>
          <p:cNvPr id="5067" name="TextBox 5066"/>
          <p:cNvSpPr txBox="1"/>
          <p:nvPr/>
        </p:nvSpPr>
        <p:spPr>
          <a:xfrm>
            <a:off x="13896097" y="6503416"/>
            <a:ext cx="3568943" cy="1844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표시한 대상 이름을 아래에 잠깐 알림</a:t>
            </a:r>
            <a:endParaRPr lang="ko-KR" altLang="en-US" sz="1100"/>
          </a:p>
        </p:txBody>
      </p:sp>
      <p:sp>
        <p:nvSpPr>
          <p:cNvPr id="5068" name="Rounded Rectangle 5067"/>
          <p:cNvSpPr/>
          <p:nvPr/>
        </p:nvSpPr>
        <p:spPr>
          <a:xfrm>
            <a:off x="13512049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69" name="TextBox 5068"/>
          <p:cNvSpPr txBox="1"/>
          <p:nvPr/>
        </p:nvSpPr>
        <p:spPr>
          <a:xfrm>
            <a:off x="14655049" y="8769096"/>
            <a:ext cx="2809991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F-12 · F-22~F-28 대피 E1~E7 · UC-PROP-02</a:t>
            </a:r>
            <a:endParaRPr lang="ko-KR" altLang="en-US" sz="1200"/>
          </a:p>
        </p:txBody>
      </p:sp>
      <p:sp>
        <p:nvSpPr>
          <p:cNvPr id="5070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18876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 ⑥ 근거 조회 (UC-PROP-03)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024" name="Rectangle 5023"/>
          <p:cNvSpPr/>
          <p:nvPr/>
        </p:nvSpPr>
        <p:spPr>
          <a:xfrm>
            <a:off x="822960" y="2432304"/>
            <a:ext cx="786384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근거 번호를 누르면 — 근거 창이 고정 창 옆에 열림(제안 목록과 나란히)</a:t>
            </a:r>
            <a:endParaRPr lang="ko-KR" altLang="en-US" sz="1250"/>
          </a:p>
        </p:txBody>
      </p:sp>
      <p:pic>
        <p:nvPicPr>
          <p:cNvPr id="5025" name="Picture 5024" descr="G_10_evidence_c24_76_910_7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743200"/>
            <a:ext cx="7863840" cy="5538416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6" name="Rounded Rectangle 5025"/>
          <p:cNvSpPr/>
          <p:nvPr/>
        </p:nvSpPr>
        <p:spPr>
          <a:xfrm>
            <a:off x="2580342" y="5973942"/>
            <a:ext cx="284021" cy="310648"/>
          </a:xfrm>
          <a:prstGeom prst="roundRect">
            <a:avLst>
              <a:gd name="adj" fmla="val 16097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7" name="Oval 5026"/>
          <p:cNvSpPr/>
          <p:nvPr/>
        </p:nvSpPr>
        <p:spPr>
          <a:xfrm>
            <a:off x="2409349" y="5802950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8" name="Rounded Rectangle 5027"/>
          <p:cNvSpPr/>
          <p:nvPr/>
        </p:nvSpPr>
        <p:spPr>
          <a:xfrm>
            <a:off x="4905766" y="3062724"/>
            <a:ext cx="3692277" cy="887567"/>
          </a:xfrm>
          <a:prstGeom prst="roundRect">
            <a:avLst>
              <a:gd name="adj" fmla="val 5151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9" name="Oval 5028"/>
          <p:cNvSpPr/>
          <p:nvPr/>
        </p:nvSpPr>
        <p:spPr>
          <a:xfrm>
            <a:off x="4734774" y="2891731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30" name="Rounded Rectangle 5029"/>
          <p:cNvSpPr/>
          <p:nvPr/>
        </p:nvSpPr>
        <p:spPr>
          <a:xfrm>
            <a:off x="4905766" y="3879285"/>
            <a:ext cx="3692277" cy="1269220"/>
          </a:xfrm>
          <a:prstGeom prst="roundRect">
            <a:avLst>
              <a:gd name="adj" fmla="val 360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1" name="Oval 5030"/>
          <p:cNvSpPr/>
          <p:nvPr/>
        </p:nvSpPr>
        <p:spPr>
          <a:xfrm>
            <a:off x="4734774" y="370829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2" name="Rounded Rectangle 5031"/>
          <p:cNvSpPr/>
          <p:nvPr/>
        </p:nvSpPr>
        <p:spPr>
          <a:xfrm>
            <a:off x="8269644" y="2743200"/>
            <a:ext cx="337275" cy="328400"/>
          </a:xfrm>
          <a:prstGeom prst="roundRect">
            <a:avLst>
              <a:gd name="adj" fmla="val 1392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3" name="Oval 5032"/>
          <p:cNvSpPr/>
          <p:nvPr/>
        </p:nvSpPr>
        <p:spPr>
          <a:xfrm>
            <a:off x="7922172" y="275195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4" name="Rounded Rectangle 5033"/>
          <p:cNvSpPr/>
          <p:nvPr/>
        </p:nvSpPr>
        <p:spPr>
          <a:xfrm>
            <a:off x="858463" y="4571587"/>
            <a:ext cx="3967423" cy="3621272"/>
          </a:xfrm>
          <a:prstGeom prst="roundRect">
            <a:avLst>
              <a:gd name="adj" fmla="val 126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5" name="Oval 5034"/>
          <p:cNvSpPr/>
          <p:nvPr/>
        </p:nvSpPr>
        <p:spPr>
          <a:xfrm>
            <a:off x="687470" y="440059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36" name="Oval 5035"/>
          <p:cNvSpPr/>
          <p:nvPr/>
        </p:nvSpPr>
        <p:spPr>
          <a:xfrm>
            <a:off x="9006840" y="252374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37" name="TextBox 5036"/>
          <p:cNvSpPr txBox="1"/>
          <p:nvPr/>
        </p:nvSpPr>
        <p:spPr>
          <a:xfrm>
            <a:off x="9445752" y="2505456"/>
            <a:ext cx="8019288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근거 번호 [k]</a:t>
            </a:r>
            <a:endParaRPr lang="ko-KR" altLang="en-US" sz="1500"/>
          </a:p>
        </p:txBody>
      </p:sp>
      <p:sp>
        <p:nvSpPr>
          <p:cNvPr id="5038" name="TextBox 5037"/>
          <p:cNvSpPr txBox="1"/>
          <p:nvPr/>
        </p:nvSpPr>
        <p:spPr>
          <a:xfrm>
            <a:off x="9445752" y="2780157"/>
            <a:ext cx="8019288" cy="217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제안 문장·근거 목록·AI 답변의 번호를 누르면 열림</a:t>
            </a:r>
            <a:endParaRPr lang="ko-KR" altLang="en-US" sz="1300"/>
          </a:p>
        </p:txBody>
      </p:sp>
      <p:sp>
        <p:nvSpPr>
          <p:cNvPr id="5039" name="Oval 5038"/>
          <p:cNvSpPr/>
          <p:nvPr/>
        </p:nvSpPr>
        <p:spPr>
          <a:xfrm>
            <a:off x="9006840" y="3144393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40" name="TextBox 5039"/>
          <p:cNvSpPr txBox="1"/>
          <p:nvPr/>
        </p:nvSpPr>
        <p:spPr>
          <a:xfrm>
            <a:off x="9445752" y="3126105"/>
            <a:ext cx="8019288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해당 제안 문장</a:t>
            </a:r>
            <a:endParaRPr lang="ko-KR" altLang="en-US" sz="1500"/>
          </a:p>
        </p:txBody>
      </p:sp>
      <p:sp>
        <p:nvSpPr>
          <p:cNvPr id="5041" name="TextBox 5040"/>
          <p:cNvSpPr txBox="1"/>
          <p:nvPr/>
        </p:nvSpPr>
        <p:spPr>
          <a:xfrm>
            <a:off x="9445752" y="3400806"/>
            <a:ext cx="8019288" cy="217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어떤 문장의 근거인지 함께 표시(초록 띠)</a:t>
            </a:r>
            <a:endParaRPr lang="ko-KR" altLang="en-US" sz="1300"/>
          </a:p>
        </p:txBody>
      </p:sp>
      <p:sp>
        <p:nvSpPr>
          <p:cNvPr id="5042" name="Oval 5041"/>
          <p:cNvSpPr/>
          <p:nvPr/>
        </p:nvSpPr>
        <p:spPr>
          <a:xfrm>
            <a:off x="9006840" y="376504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43" name="TextBox 5042"/>
          <p:cNvSpPr txBox="1"/>
          <p:nvPr/>
        </p:nvSpPr>
        <p:spPr>
          <a:xfrm>
            <a:off x="9445752" y="3746754"/>
            <a:ext cx="8019288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근거 항목</a:t>
            </a:r>
            <a:endParaRPr lang="ko-KR" altLang="en-US" sz="1500"/>
          </a:p>
        </p:txBody>
      </p:sp>
      <p:sp>
        <p:nvSpPr>
          <p:cNvPr id="5044" name="TextBox 5043"/>
          <p:cNvSpPr txBox="1"/>
          <p:nvPr/>
        </p:nvSpPr>
        <p:spPr>
          <a:xfrm>
            <a:off x="9445752" y="4021455"/>
            <a:ext cx="8019288" cy="217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「산불 재난」 위기관리 표준매뉴얼 쪽수 · 항목명 · 요약, 누른 번호는 노란 강조</a:t>
            </a:r>
            <a:endParaRPr lang="ko-KR" altLang="en-US" sz="1300"/>
          </a:p>
        </p:txBody>
      </p:sp>
      <p:sp>
        <p:nvSpPr>
          <p:cNvPr id="5045" name="Oval 5044"/>
          <p:cNvSpPr/>
          <p:nvPr/>
        </p:nvSpPr>
        <p:spPr>
          <a:xfrm>
            <a:off x="9006840" y="4385691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46" name="TextBox 5045"/>
          <p:cNvSpPr txBox="1"/>
          <p:nvPr/>
        </p:nvSpPr>
        <p:spPr>
          <a:xfrm>
            <a:off x="9445752" y="4367403"/>
            <a:ext cx="8019288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닫기</a:t>
            </a:r>
            <a:endParaRPr lang="ko-KR" altLang="en-US" sz="1500"/>
          </a:p>
        </p:txBody>
      </p:sp>
      <p:sp>
        <p:nvSpPr>
          <p:cNvPr id="5047" name="TextBox 5046"/>
          <p:cNvSpPr txBox="1"/>
          <p:nvPr/>
        </p:nvSpPr>
        <p:spPr>
          <a:xfrm>
            <a:off x="9445752" y="4642104"/>
            <a:ext cx="8019288" cy="217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근거 창을 닫으면 대응제안 탭으로 돌아감</a:t>
            </a:r>
            <a:endParaRPr lang="ko-KR" altLang="en-US" sz="1300"/>
          </a:p>
        </p:txBody>
      </p:sp>
      <p:sp>
        <p:nvSpPr>
          <p:cNvPr id="5048" name="Oval 5047"/>
          <p:cNvSpPr/>
          <p:nvPr/>
        </p:nvSpPr>
        <p:spPr>
          <a:xfrm>
            <a:off x="9006840" y="5006340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49" name="TextBox 5048"/>
          <p:cNvSpPr txBox="1"/>
          <p:nvPr/>
        </p:nvSpPr>
        <p:spPr>
          <a:xfrm>
            <a:off x="9445752" y="4988052"/>
            <a:ext cx="8019288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제안 목록이 가려지지 않음</a:t>
            </a:r>
            <a:endParaRPr lang="ko-KR" altLang="en-US" sz="1500"/>
          </a:p>
        </p:txBody>
      </p:sp>
      <p:sp>
        <p:nvSpPr>
          <p:cNvPr id="5050" name="TextBox 5049"/>
          <p:cNvSpPr txBox="1"/>
          <p:nvPr/>
        </p:nvSpPr>
        <p:spPr>
          <a:xfrm>
            <a:off x="9445752" y="5262753"/>
            <a:ext cx="8019288" cy="217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근거 창이 고정 창 바로 옆(지도 위)에 열려 제안과 근거를 나란히 봄</a:t>
            </a:r>
            <a:endParaRPr lang="ko-KR" altLang="en-US" sz="1300"/>
          </a:p>
        </p:txBody>
      </p:sp>
      <p:sp>
        <p:nvSpPr>
          <p:cNvPr id="5051" name="Rounded Rectangle 5050"/>
          <p:cNvSpPr/>
          <p:nvPr/>
        </p:nvSpPr>
        <p:spPr>
          <a:xfrm>
            <a:off x="9006840" y="5709285"/>
            <a:ext cx="8458200" cy="21945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2" name="TextBox 5051"/>
          <p:cNvSpPr txBox="1"/>
          <p:nvPr/>
        </p:nvSpPr>
        <p:spPr>
          <a:xfrm>
            <a:off x="9326880" y="5846445"/>
            <a:ext cx="78181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근거 연결 원칙</a:t>
            </a:r>
            <a:endParaRPr lang="ko-KR" altLang="en-US" sz="1550"/>
          </a:p>
        </p:txBody>
      </p:sp>
      <p:sp>
        <p:nvSpPr>
          <p:cNvPr id="5053" name="TextBox 5052"/>
          <p:cNvSpPr txBox="1"/>
          <p:nvPr/>
        </p:nvSpPr>
        <p:spPr>
          <a:xfrm>
            <a:off x="9326880" y="6276213"/>
            <a:ext cx="7818120" cy="1554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30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제안 문장마다 근거 번호를 붙이고, 근거가 없는 문장·수량은 제안서에 넣지 않는다.</a:t>
            </a:r>
            <a:endParaRPr lang="ko-KR" altLang="en-US" sz="1300"/>
          </a:p>
          <a:p>
            <a:pPr marL="201168" indent="-201168" algn="l" latinLnBrk="0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30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프로토타입은 매뉴얼 쪽수별 요약을 보여 주고, 본 개발에서는 조항 단위로 검색한 원문 청크(KURE-v1 + FAISS)를 연결한다.</a:t>
            </a:r>
            <a:endParaRPr lang="ko-KR" altLang="en-US" sz="1300"/>
          </a:p>
          <a:p>
            <a:pPr marL="201168" indent="-201168" algn="l" latinLnBrk="0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30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근거 창은 AI 요약을 보여 주며, 관련한 매뉴얼 원문 문서는 연결하여 열람할 수 있도록 한다.</a:t>
            </a:r>
            <a:endParaRPr lang="ko-KR" altLang="en-US" sz="1300"/>
          </a:p>
        </p:txBody>
      </p:sp>
      <p:sp>
        <p:nvSpPr>
          <p:cNvPr id="5054" name="Rounded Rectangle 5053"/>
          <p:cNvSpPr/>
          <p:nvPr/>
        </p:nvSpPr>
        <p:spPr>
          <a:xfrm>
            <a:off x="9006840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55" name="TextBox 5054"/>
          <p:cNvSpPr txBox="1"/>
          <p:nvPr/>
        </p:nvSpPr>
        <p:spPr>
          <a:xfrm>
            <a:off x="10149840" y="876909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F-13 대응 근거 조회 · UC-PROP-03(«extend» PROP-01·02, QA-01) · QUR-001</a:t>
            </a:r>
            <a:endParaRPr lang="ko-KR" altLang="en-US" sz="1200"/>
          </a:p>
        </p:txBody>
      </p:sp>
      <p:sp>
        <p:nvSpPr>
          <p:cNvPr id="5056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17690788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 ⑦ AI 어시스턴트 질의응답 (UC-QA-01)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5024" name="Picture 5023" descr="G_11_chat_qa_c1300_470_1920_108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432304"/>
            <a:ext cx="6738079" cy="662940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5" name="Rounded Rectangle 5024"/>
          <p:cNvSpPr/>
          <p:nvPr/>
        </p:nvSpPr>
        <p:spPr>
          <a:xfrm>
            <a:off x="2572687" y="7703220"/>
            <a:ext cx="4151526" cy="521658"/>
          </a:xfrm>
          <a:prstGeom prst="roundRect">
            <a:avLst>
              <a:gd name="adj" fmla="val 8764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6" name="Oval 5025"/>
          <p:cNvSpPr/>
          <p:nvPr/>
        </p:nvSpPr>
        <p:spPr>
          <a:xfrm>
            <a:off x="2401694" y="7532228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7" name="Rounded Rectangle 5026"/>
          <p:cNvSpPr/>
          <p:nvPr/>
        </p:nvSpPr>
        <p:spPr>
          <a:xfrm>
            <a:off x="2572687" y="3758184"/>
            <a:ext cx="4129790" cy="369508"/>
          </a:xfrm>
          <a:prstGeom prst="roundRect">
            <a:avLst>
              <a:gd name="adj" fmla="val 12373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8" name="Oval 5027"/>
          <p:cNvSpPr/>
          <p:nvPr/>
        </p:nvSpPr>
        <p:spPr>
          <a:xfrm>
            <a:off x="2225215" y="3787490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29" name="Rounded Rectangle 5028"/>
          <p:cNvSpPr/>
          <p:nvPr/>
        </p:nvSpPr>
        <p:spPr>
          <a:xfrm>
            <a:off x="2648762" y="4942782"/>
            <a:ext cx="3629868" cy="1260673"/>
          </a:xfrm>
          <a:prstGeom prst="roundRect">
            <a:avLst>
              <a:gd name="adj" fmla="val 3626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0" name="Oval 5029"/>
          <p:cNvSpPr/>
          <p:nvPr/>
        </p:nvSpPr>
        <p:spPr>
          <a:xfrm>
            <a:off x="2301290" y="5417670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1" name="Rounded Rectangle 5030"/>
          <p:cNvSpPr/>
          <p:nvPr/>
        </p:nvSpPr>
        <p:spPr>
          <a:xfrm>
            <a:off x="2648762" y="6551226"/>
            <a:ext cx="3629868" cy="1054183"/>
          </a:xfrm>
          <a:prstGeom prst="roundRect">
            <a:avLst>
              <a:gd name="adj" fmla="val 4337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2" name="Oval 5031"/>
          <p:cNvSpPr/>
          <p:nvPr/>
        </p:nvSpPr>
        <p:spPr>
          <a:xfrm>
            <a:off x="2301290" y="6922870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3" name="Rounded Rectangle 5032"/>
          <p:cNvSpPr/>
          <p:nvPr/>
        </p:nvSpPr>
        <p:spPr>
          <a:xfrm>
            <a:off x="2550951" y="8203142"/>
            <a:ext cx="847694" cy="347772"/>
          </a:xfrm>
          <a:prstGeom prst="roundRect">
            <a:avLst>
              <a:gd name="adj" fmla="val 13146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4" name="Oval 5033"/>
          <p:cNvSpPr/>
          <p:nvPr/>
        </p:nvSpPr>
        <p:spPr>
          <a:xfrm>
            <a:off x="2379958" y="8411011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35" name="Rounded Rectangle 5034"/>
          <p:cNvSpPr/>
          <p:nvPr/>
        </p:nvSpPr>
        <p:spPr>
          <a:xfrm>
            <a:off x="3355173" y="8203142"/>
            <a:ext cx="2869117" cy="347772"/>
          </a:xfrm>
          <a:prstGeom prst="roundRect">
            <a:avLst>
              <a:gd name="adj" fmla="val 13146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6" name="Oval 5035"/>
          <p:cNvSpPr/>
          <p:nvPr/>
        </p:nvSpPr>
        <p:spPr>
          <a:xfrm>
            <a:off x="6084388" y="8411011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292"/>
          </a:p>
        </p:txBody>
      </p:sp>
      <p:sp>
        <p:nvSpPr>
          <p:cNvPr id="5037" name="Oval 5036"/>
          <p:cNvSpPr/>
          <p:nvPr/>
        </p:nvSpPr>
        <p:spPr>
          <a:xfrm>
            <a:off x="7926799" y="2523744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16"/>
          </a:p>
        </p:txBody>
      </p:sp>
      <p:sp>
        <p:nvSpPr>
          <p:cNvPr id="5038" name="TextBox 5037"/>
          <p:cNvSpPr txBox="1"/>
          <p:nvPr/>
        </p:nvSpPr>
        <p:spPr>
          <a:xfrm>
            <a:off x="8347423" y="2505456"/>
            <a:ext cx="9117617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빠른 질문 6개</a:t>
            </a:r>
            <a:endParaRPr lang="ko-KR" altLang="en-US" sz="1450"/>
          </a:p>
        </p:txBody>
      </p:sp>
      <p:sp>
        <p:nvSpPr>
          <p:cNvPr id="5039" name="TextBox 5038"/>
          <p:cNvSpPr txBox="1"/>
          <p:nvPr/>
        </p:nvSpPr>
        <p:spPr>
          <a:xfrm>
            <a:off x="8347423" y="2772220"/>
            <a:ext cx="9117617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대피 순서 이유 · 헬기 운용 가능 여부 · 격상 기준 · 대피소 수용 초과 시 대안 · 추가 투입 헬기 대수 · 현재 위험도</a:t>
            </a:r>
            <a:endParaRPr lang="ko-KR" altLang="en-US" sz="1250"/>
          </a:p>
        </p:txBody>
      </p:sp>
      <p:sp>
        <p:nvSpPr>
          <p:cNvPr id="5040" name="Oval 5039"/>
          <p:cNvSpPr/>
          <p:nvPr/>
        </p:nvSpPr>
        <p:spPr>
          <a:xfrm>
            <a:off x="7926799" y="3109786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16"/>
          </a:p>
        </p:txBody>
      </p:sp>
      <p:sp>
        <p:nvSpPr>
          <p:cNvPr id="5041" name="TextBox 5040"/>
          <p:cNvSpPr txBox="1"/>
          <p:nvPr/>
        </p:nvSpPr>
        <p:spPr>
          <a:xfrm>
            <a:off x="8347423" y="3091498"/>
            <a:ext cx="9117617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항목 지정(「이 항목 질문」)</a:t>
            </a:r>
            <a:endParaRPr lang="ko-KR" altLang="en-US" sz="1450"/>
          </a:p>
        </p:txBody>
      </p:sp>
      <p:sp>
        <p:nvSpPr>
          <p:cNvPr id="5042" name="TextBox 5041"/>
          <p:cNvSpPr txBox="1"/>
          <p:nvPr/>
        </p:nvSpPr>
        <p:spPr>
          <a:xfrm>
            <a:off x="8347423" y="3358261"/>
            <a:ext cx="9117617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대응제안 카드에서 누르면 그 항목의 제안·근거·상황값을 붙여 질문하고, 답도 그 항목 기준</a:t>
            </a:r>
            <a:endParaRPr lang="ko-KR" altLang="en-US" sz="1250"/>
          </a:p>
        </p:txBody>
      </p:sp>
      <p:sp>
        <p:nvSpPr>
          <p:cNvPr id="5043" name="Oval 5042"/>
          <p:cNvSpPr/>
          <p:nvPr/>
        </p:nvSpPr>
        <p:spPr>
          <a:xfrm>
            <a:off x="7926799" y="3695827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16"/>
          </a:p>
        </p:txBody>
      </p:sp>
      <p:sp>
        <p:nvSpPr>
          <p:cNvPr id="5044" name="TextBox 5043"/>
          <p:cNvSpPr txBox="1"/>
          <p:nvPr/>
        </p:nvSpPr>
        <p:spPr>
          <a:xfrm>
            <a:off x="8347423" y="3677539"/>
            <a:ext cx="9117617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근거 번호가 붙은 답변</a:t>
            </a:r>
            <a:endParaRPr lang="ko-KR" altLang="en-US" sz="1450"/>
          </a:p>
        </p:txBody>
      </p:sp>
      <p:sp>
        <p:nvSpPr>
          <p:cNvPr id="5045" name="TextBox 5044"/>
          <p:cNvSpPr txBox="1"/>
          <p:nvPr/>
        </p:nvSpPr>
        <p:spPr>
          <a:xfrm>
            <a:off x="8347423" y="3944302"/>
            <a:ext cx="9117617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현재 상황 값(시각·풍속 등)을 넣어 답하고 근거 [k]를 붙임. 답변은 상황·제안을 바꾸지 않음</a:t>
            </a:r>
            <a:endParaRPr lang="ko-KR" altLang="en-US" sz="1250"/>
          </a:p>
        </p:txBody>
      </p:sp>
      <p:sp>
        <p:nvSpPr>
          <p:cNvPr id="5046" name="Oval 5045"/>
          <p:cNvSpPr/>
          <p:nvPr/>
        </p:nvSpPr>
        <p:spPr>
          <a:xfrm>
            <a:off x="7926799" y="4281868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16"/>
          </a:p>
        </p:txBody>
      </p:sp>
      <p:sp>
        <p:nvSpPr>
          <p:cNvPr id="5047" name="TextBox 5046"/>
          <p:cNvSpPr txBox="1"/>
          <p:nvPr/>
        </p:nvSpPr>
        <p:spPr>
          <a:xfrm>
            <a:off x="8347423" y="4263580"/>
            <a:ext cx="9117617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근거가 없으면 추측하지 않음</a:t>
            </a:r>
            <a:endParaRPr lang="ko-KR" altLang="en-US" sz="1450"/>
          </a:p>
        </p:txBody>
      </p:sp>
      <p:sp>
        <p:nvSpPr>
          <p:cNvPr id="5048" name="TextBox 5047"/>
          <p:cNvSpPr txBox="1"/>
          <p:nvPr/>
        </p:nvSpPr>
        <p:spPr>
          <a:xfrm>
            <a:off x="8347423" y="4530344"/>
            <a:ext cx="9117617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「…근거가 부족하여 표시하지 않았습니다」, 이벤트 로그에 「근거 부족」</a:t>
            </a:r>
            <a:endParaRPr lang="ko-KR" altLang="en-US" sz="1250"/>
          </a:p>
        </p:txBody>
      </p:sp>
      <p:sp>
        <p:nvSpPr>
          <p:cNvPr id="5049" name="Oval 5048"/>
          <p:cNvSpPr/>
          <p:nvPr/>
        </p:nvSpPr>
        <p:spPr>
          <a:xfrm>
            <a:off x="7926799" y="4867910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16"/>
          </a:p>
        </p:txBody>
      </p:sp>
      <p:sp>
        <p:nvSpPr>
          <p:cNvPr id="5050" name="TextBox 5049"/>
          <p:cNvSpPr txBox="1"/>
          <p:nvPr/>
        </p:nvSpPr>
        <p:spPr>
          <a:xfrm>
            <a:off x="8347423" y="4849622"/>
            <a:ext cx="9117617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「상황 정정」</a:t>
            </a:r>
            <a:endParaRPr lang="ko-KR" altLang="en-US" sz="1450"/>
          </a:p>
        </p:txBody>
      </p:sp>
      <p:sp>
        <p:nvSpPr>
          <p:cNvPr id="5051" name="TextBox 5050"/>
          <p:cNvSpPr txBox="1"/>
          <p:nvPr/>
        </p:nvSpPr>
        <p:spPr>
          <a:xfrm>
            <a:off x="8347423" y="5116386"/>
            <a:ext cx="9117617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상황 변화 입력 모드로 전환(다음 쪽)</a:t>
            </a:r>
            <a:endParaRPr lang="ko-KR" altLang="en-US" sz="1250"/>
          </a:p>
        </p:txBody>
      </p:sp>
      <p:sp>
        <p:nvSpPr>
          <p:cNvPr id="5052" name="Oval 5051"/>
          <p:cNvSpPr/>
          <p:nvPr/>
        </p:nvSpPr>
        <p:spPr>
          <a:xfrm>
            <a:off x="7926799" y="5453952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216"/>
          </a:p>
        </p:txBody>
      </p:sp>
      <p:sp>
        <p:nvSpPr>
          <p:cNvPr id="5053" name="TextBox 5052"/>
          <p:cNvSpPr txBox="1"/>
          <p:nvPr/>
        </p:nvSpPr>
        <p:spPr>
          <a:xfrm>
            <a:off x="8347423" y="5435664"/>
            <a:ext cx="9117617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자유 질문 입력</a:t>
            </a:r>
            <a:endParaRPr lang="ko-KR" altLang="en-US" sz="1450"/>
          </a:p>
        </p:txBody>
      </p:sp>
      <p:sp>
        <p:nvSpPr>
          <p:cNvPr id="5054" name="TextBox 5053"/>
          <p:cNvSpPr txBox="1"/>
          <p:nvPr/>
        </p:nvSpPr>
        <p:spPr>
          <a:xfrm>
            <a:off x="8347423" y="5702427"/>
            <a:ext cx="9117617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질문을 직접 입력</a:t>
            </a:r>
            <a:endParaRPr lang="ko-KR" altLang="en-US" sz="1250"/>
          </a:p>
        </p:txBody>
      </p:sp>
      <p:sp>
        <p:nvSpPr>
          <p:cNvPr id="5055" name="Rounded Rectangle 5054"/>
          <p:cNvSpPr/>
          <p:nvPr/>
        </p:nvSpPr>
        <p:spPr>
          <a:xfrm>
            <a:off x="7926799" y="6076569"/>
            <a:ext cx="9538241" cy="868680"/>
          </a:xfrm>
          <a:prstGeom prst="roundRect">
            <a:avLst>
              <a:gd name="adj" fmla="val 10526"/>
            </a:avLst>
          </a:prstGeom>
          <a:solidFill>
            <a:srgbClr val="FDF1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6" name="TextBox 5055"/>
          <p:cNvSpPr txBox="1"/>
          <p:nvPr/>
        </p:nvSpPr>
        <p:spPr>
          <a:xfrm>
            <a:off x="8155399" y="6076569"/>
            <a:ext cx="9081041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B5601C"/>
                </a:solidFill>
                <a:latin typeface="210 OmniGothic 030"/>
                <a:ea typeface="210 OmniGothic 030"/>
                <a:cs typeface="210 OmniGothic 030"/>
              </a:rPr>
              <a:t>프로토타입은 키워드 대본으로 답하고, 본 개발에서는 EXAONE 4.0 32B가 검색한 매뉴얼 근거로 답변을 작성한다.</a:t>
            </a:r>
            <a:endParaRPr lang="ko-KR" altLang="en-US" sz="1250"/>
          </a:p>
        </p:txBody>
      </p:sp>
      <p:sp>
        <p:nvSpPr>
          <p:cNvPr id="5057" name="Rounded Rectangle 5056"/>
          <p:cNvSpPr/>
          <p:nvPr/>
        </p:nvSpPr>
        <p:spPr>
          <a:xfrm>
            <a:off x="7926799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58" name="TextBox 5057"/>
          <p:cNvSpPr txBox="1"/>
          <p:nvPr/>
        </p:nvSpPr>
        <p:spPr>
          <a:xfrm>
            <a:off x="9069799" y="8769096"/>
            <a:ext cx="8395241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F-29 AI 질의응답 · UC-QA-01 · F-32(근거 부족 기록)</a:t>
            </a:r>
            <a:endParaRPr lang="ko-KR" altLang="en-US" sz="1200"/>
          </a:p>
        </p:txBody>
      </p:sp>
      <p:sp>
        <p:nvSpPr>
          <p:cNvPr id="5059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690390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 ⑧ AI 상황 정정 → 제안서 새 버전 (UC-QA-02)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024" name="Rectangle 5023"/>
          <p:cNvSpPr/>
          <p:nvPr/>
        </p:nvSpPr>
        <p:spPr>
          <a:xfrm>
            <a:off x="822960" y="2432304"/>
            <a:ext cx="667512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① 상황 변화 입력 → 정정 확인 창(변화 2건)</a:t>
            </a:r>
            <a:endParaRPr lang="ko-KR" altLang="en-US" sz="1250"/>
          </a:p>
        </p:txBody>
      </p:sp>
      <p:pic>
        <p:nvPicPr>
          <p:cNvPr id="5025" name="Picture 5024" descr="G_12_corr_confirm_c580_413_1340_66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743200"/>
            <a:ext cx="6675120" cy="2239678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6" name="Rounded Rectangle 5025"/>
          <p:cNvSpPr/>
          <p:nvPr/>
        </p:nvSpPr>
        <p:spPr>
          <a:xfrm>
            <a:off x="831743" y="3068173"/>
            <a:ext cx="6657554" cy="298624"/>
          </a:xfrm>
          <a:prstGeom prst="roundRect">
            <a:avLst>
              <a:gd name="adj" fmla="val 15310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7" name="Oval 5026"/>
          <p:cNvSpPr/>
          <p:nvPr/>
        </p:nvSpPr>
        <p:spPr>
          <a:xfrm>
            <a:off x="667512" y="3062037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8" name="Rounded Rectangle 5027"/>
          <p:cNvSpPr/>
          <p:nvPr/>
        </p:nvSpPr>
        <p:spPr>
          <a:xfrm>
            <a:off x="831743" y="3314098"/>
            <a:ext cx="6657554" cy="860739"/>
          </a:xfrm>
          <a:prstGeom prst="roundRect">
            <a:avLst>
              <a:gd name="adj" fmla="val 5311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9" name="Oval 5028"/>
          <p:cNvSpPr/>
          <p:nvPr/>
        </p:nvSpPr>
        <p:spPr>
          <a:xfrm>
            <a:off x="667512" y="3589020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30" name="Rounded Rectangle 5029"/>
          <p:cNvSpPr/>
          <p:nvPr/>
        </p:nvSpPr>
        <p:spPr>
          <a:xfrm>
            <a:off x="6154273" y="4596424"/>
            <a:ext cx="1282326" cy="316190"/>
          </a:xfrm>
          <a:prstGeom prst="roundRect">
            <a:avLst>
              <a:gd name="adj" fmla="val 14459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1" name="Oval 5030"/>
          <p:cNvSpPr/>
          <p:nvPr/>
        </p:nvSpPr>
        <p:spPr>
          <a:xfrm>
            <a:off x="5806801" y="4599071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2" name="Rectangle 5031"/>
          <p:cNvSpPr/>
          <p:nvPr/>
        </p:nvSpPr>
        <p:spPr>
          <a:xfrm>
            <a:off x="822960" y="5257198"/>
            <a:ext cx="667512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② 저장 후 — 제안 변경사항 (v1.1 → v1.2, 바뀐 항목 2개)</a:t>
            </a:r>
            <a:endParaRPr lang="ko-KR" altLang="en-US" sz="1250"/>
          </a:p>
        </p:txBody>
      </p:sp>
      <p:pic>
        <p:nvPicPr>
          <p:cNvPr id="5033" name="Picture 5032" descr="G_13_corr_changes_c580_340_1340_72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568094"/>
            <a:ext cx="6675120" cy="3381475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4" name="Rounded Rectangle 5033"/>
          <p:cNvSpPr/>
          <p:nvPr/>
        </p:nvSpPr>
        <p:spPr>
          <a:xfrm>
            <a:off x="981055" y="7324705"/>
            <a:ext cx="3214597" cy="1616082"/>
          </a:xfrm>
          <a:prstGeom prst="roundRect">
            <a:avLst>
              <a:gd name="adj" fmla="val 2829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5" name="Oval 5034"/>
          <p:cNvSpPr/>
          <p:nvPr/>
        </p:nvSpPr>
        <p:spPr>
          <a:xfrm>
            <a:off x="667512" y="7977298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6" name="Rounded Rectangle 5035"/>
          <p:cNvSpPr/>
          <p:nvPr/>
        </p:nvSpPr>
        <p:spPr>
          <a:xfrm>
            <a:off x="4160520" y="7324705"/>
            <a:ext cx="3214597" cy="1616082"/>
          </a:xfrm>
          <a:prstGeom prst="roundRect">
            <a:avLst>
              <a:gd name="adj" fmla="val 2829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7" name="Oval 5036"/>
          <p:cNvSpPr/>
          <p:nvPr/>
        </p:nvSpPr>
        <p:spPr>
          <a:xfrm>
            <a:off x="7342632" y="7977298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38" name="Oval 5037"/>
          <p:cNvSpPr/>
          <p:nvPr/>
        </p:nvSpPr>
        <p:spPr>
          <a:xfrm>
            <a:off x="7863840" y="2523744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16"/>
          </a:p>
        </p:txBody>
      </p:sp>
      <p:sp>
        <p:nvSpPr>
          <p:cNvPr id="5039" name="TextBox 5038"/>
          <p:cNvSpPr txBox="1"/>
          <p:nvPr/>
        </p:nvSpPr>
        <p:spPr>
          <a:xfrm>
            <a:off x="8284464" y="2505456"/>
            <a:ext cx="9180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입력 문장</a:t>
            </a:r>
            <a:endParaRPr lang="ko-KR" altLang="en-US" sz="1450"/>
          </a:p>
        </p:txBody>
      </p:sp>
      <p:sp>
        <p:nvSpPr>
          <p:cNvPr id="5040" name="TextBox 5039"/>
          <p:cNvSpPr txBox="1"/>
          <p:nvPr/>
        </p:nvSpPr>
        <p:spPr>
          <a:xfrm>
            <a:off x="8284464" y="2772220"/>
            <a:ext cx="91805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「괴산리 주민 대피 완료했고 헬기 2대 추가 투입했어」 — 한 문장의 변화 2건을 모두 해석</a:t>
            </a:r>
            <a:endParaRPr lang="ko-KR" altLang="en-US" sz="1250"/>
          </a:p>
        </p:txBody>
      </p:sp>
      <p:sp>
        <p:nvSpPr>
          <p:cNvPr id="5041" name="Oval 5040"/>
          <p:cNvSpPr/>
          <p:nvPr/>
        </p:nvSpPr>
        <p:spPr>
          <a:xfrm>
            <a:off x="7863840" y="3109786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16"/>
          </a:p>
        </p:txBody>
      </p:sp>
      <p:sp>
        <p:nvSpPr>
          <p:cNvPr id="5042" name="TextBox 5041"/>
          <p:cNvSpPr txBox="1"/>
          <p:nvPr/>
        </p:nvSpPr>
        <p:spPr>
          <a:xfrm>
            <a:off x="8284464" y="3091498"/>
            <a:ext cx="9180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대상 · 항목 · 이전 → 변경</a:t>
            </a:r>
            <a:endParaRPr lang="ko-KR" altLang="en-US" sz="1450"/>
          </a:p>
        </p:txBody>
      </p:sp>
      <p:sp>
        <p:nvSpPr>
          <p:cNvPr id="5043" name="TextBox 5042"/>
          <p:cNvSpPr txBox="1"/>
          <p:nvPr/>
        </p:nvSpPr>
        <p:spPr>
          <a:xfrm>
            <a:off x="8284464" y="3358261"/>
            <a:ext cx="9180576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괴산리 대피 완료 + 헬기 4대 → 6대(추가 2). 「추가」는 현재 투입 수에 더하고, 해석하지 못한 부분은 따로 안내. 확인 전에는 아무것도 저장하지 않음</a:t>
            </a:r>
            <a:endParaRPr lang="ko-KR" altLang="en-US" sz="1250"/>
          </a:p>
        </p:txBody>
      </p:sp>
      <p:sp>
        <p:nvSpPr>
          <p:cNvPr id="5044" name="Oval 5043"/>
          <p:cNvSpPr/>
          <p:nvPr/>
        </p:nvSpPr>
        <p:spPr>
          <a:xfrm>
            <a:off x="7863840" y="3905377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16"/>
          </a:p>
        </p:txBody>
      </p:sp>
      <p:sp>
        <p:nvSpPr>
          <p:cNvPr id="5045" name="TextBox 5044"/>
          <p:cNvSpPr txBox="1"/>
          <p:nvPr/>
        </p:nvSpPr>
        <p:spPr>
          <a:xfrm>
            <a:off x="8284464" y="3887089"/>
            <a:ext cx="9180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「확인 · 저장 후 재생성」</a:t>
            </a:r>
            <a:endParaRPr lang="ko-KR" altLang="en-US" sz="1450"/>
          </a:p>
        </p:txBody>
      </p:sp>
      <p:sp>
        <p:nvSpPr>
          <p:cNvPr id="5046" name="TextBox 5045"/>
          <p:cNvSpPr txBox="1"/>
          <p:nvPr/>
        </p:nvSpPr>
        <p:spPr>
          <a:xfrm>
            <a:off x="8284464" y="4153852"/>
            <a:ext cx="91805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상황 값 저장·이벤트 로그 기록, 예측(P1~P8)은 그대로 두고 규칙 판정·제안만 다시 생성</a:t>
            </a:r>
            <a:endParaRPr lang="ko-KR" altLang="en-US" sz="1250"/>
          </a:p>
        </p:txBody>
      </p:sp>
      <p:sp>
        <p:nvSpPr>
          <p:cNvPr id="5047" name="Oval 5046"/>
          <p:cNvSpPr/>
          <p:nvPr/>
        </p:nvSpPr>
        <p:spPr>
          <a:xfrm>
            <a:off x="7863840" y="4491418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16"/>
          </a:p>
        </p:txBody>
      </p:sp>
      <p:sp>
        <p:nvSpPr>
          <p:cNvPr id="5048" name="TextBox 5047"/>
          <p:cNvSpPr txBox="1"/>
          <p:nvPr/>
        </p:nvSpPr>
        <p:spPr>
          <a:xfrm>
            <a:off x="8284464" y="4473131"/>
            <a:ext cx="9180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이전 버전 문장</a:t>
            </a:r>
            <a:endParaRPr lang="ko-KR" altLang="en-US" sz="1450"/>
          </a:p>
        </p:txBody>
      </p:sp>
      <p:sp>
        <p:nvSpPr>
          <p:cNvPr id="5049" name="TextBox 5048"/>
          <p:cNvSpPr txBox="1"/>
          <p:nvPr/>
        </p:nvSpPr>
        <p:spPr>
          <a:xfrm>
            <a:off x="8284464" y="4739894"/>
            <a:ext cx="91805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v1.1 — 빠진 말은 빨간 취소선</a:t>
            </a:r>
            <a:endParaRPr lang="ko-KR" altLang="en-US" sz="1250"/>
          </a:p>
        </p:txBody>
      </p:sp>
      <p:sp>
        <p:nvSpPr>
          <p:cNvPr id="5050" name="Oval 5049"/>
          <p:cNvSpPr/>
          <p:nvPr/>
        </p:nvSpPr>
        <p:spPr>
          <a:xfrm>
            <a:off x="7863840" y="5077460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16"/>
          </a:p>
        </p:txBody>
      </p:sp>
      <p:sp>
        <p:nvSpPr>
          <p:cNvPr id="5051" name="TextBox 5050"/>
          <p:cNvSpPr txBox="1"/>
          <p:nvPr/>
        </p:nvSpPr>
        <p:spPr>
          <a:xfrm>
            <a:off x="8284464" y="5059172"/>
            <a:ext cx="9180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바뀐 문장</a:t>
            </a:r>
            <a:endParaRPr lang="ko-KR" altLang="en-US" sz="1450"/>
          </a:p>
        </p:txBody>
      </p:sp>
      <p:sp>
        <p:nvSpPr>
          <p:cNvPr id="5052" name="TextBox 5051"/>
          <p:cNvSpPr txBox="1"/>
          <p:nvPr/>
        </p:nvSpPr>
        <p:spPr>
          <a:xfrm>
            <a:off x="8284464" y="5325936"/>
            <a:ext cx="91805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v1.2 — 새로 생긴 말은 초록 형광. 괴산리를 대피명령 대상에서 빼고 완료 여부 재확인 지시</a:t>
            </a:r>
            <a:endParaRPr lang="ko-KR" altLang="en-US" sz="1250"/>
          </a:p>
        </p:txBody>
      </p:sp>
      <p:sp>
        <p:nvSpPr>
          <p:cNvPr id="5053" name="Rounded Rectangle 5052"/>
          <p:cNvSpPr/>
          <p:nvPr/>
        </p:nvSpPr>
        <p:spPr>
          <a:xfrm>
            <a:off x="7863840" y="5700078"/>
            <a:ext cx="9601200" cy="132588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4" name="TextBox 5053"/>
          <p:cNvSpPr txBox="1"/>
          <p:nvPr/>
        </p:nvSpPr>
        <p:spPr>
          <a:xfrm>
            <a:off x="8138160" y="5773230"/>
            <a:ext cx="90525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버전 규칙  </a:t>
            </a:r>
            <a:r>
              <a:rPr lang="ko-KR" altLang="en-US" sz="120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v(화선 버전).(대응 생성 순번) — 화선 v1 기준 첫 제안 v1.1, 상황 정정 후 v1.2, 새 실측 화선 v2 보고 후 재예측 v2.1</a:t>
            </a:r>
            <a:endParaRPr lang="ko-KR" altLang="en-US" sz="1200"/>
          </a:p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정정 가능 항목  </a:t>
            </a:r>
            <a:r>
              <a:rPr lang="ko-KR" altLang="en-US" sz="120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대피 완료 · 부상/고립 · 헬기·소방차·진화인력 투입 수 · 예상 진화시간 · 대피명령 · 재난문자 · 공식 단계 · 위기경보</a:t>
            </a:r>
            <a:endParaRPr lang="ko-KR" altLang="en-US" sz="1200"/>
          </a:p>
        </p:txBody>
      </p:sp>
      <p:sp>
        <p:nvSpPr>
          <p:cNvPr id="5055" name="Rounded Rectangle 5054"/>
          <p:cNvSpPr/>
          <p:nvPr/>
        </p:nvSpPr>
        <p:spPr>
          <a:xfrm>
            <a:off x="7863840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56" name="TextBox 5055"/>
          <p:cNvSpPr txBox="1"/>
          <p:nvPr/>
        </p:nvSpPr>
        <p:spPr>
          <a:xfrm>
            <a:off x="9006840" y="8769096"/>
            <a:ext cx="8458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F-30 AI 상황 정정 요청 · F-11 · UC-QA-02(«extend» QA-01)</a:t>
            </a:r>
            <a:endParaRPr lang="ko-KR" altLang="en-US" sz="1200"/>
          </a:p>
        </p:txBody>
      </p:sp>
      <p:sp>
        <p:nvSpPr>
          <p:cNvPr id="5057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20163757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 ⑨ 제안서 버전 이력 · 변경사항 · 이벤트 로그 (UC-PROP-04)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024" name="Rectangle 5023"/>
          <p:cNvSpPr/>
          <p:nvPr/>
        </p:nvSpPr>
        <p:spPr>
          <a:xfrm>
            <a:off x="822960" y="2432304"/>
            <a:ext cx="566928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대응제안 탭 — 「변경」 태그</a:t>
            </a:r>
            <a:endParaRPr lang="ko-KR" altLang="en-US" sz="1250"/>
          </a:p>
        </p:txBody>
      </p:sp>
      <p:pic>
        <p:nvPicPr>
          <p:cNvPr id="5025" name="Picture 50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743200"/>
            <a:ext cx="5669280" cy="4102768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6" name="Rounded Rectangle 5025"/>
          <p:cNvSpPr/>
          <p:nvPr/>
        </p:nvSpPr>
        <p:spPr>
          <a:xfrm>
            <a:off x="872691" y="2743200"/>
            <a:ext cx="5557386" cy="372979"/>
          </a:xfrm>
          <a:prstGeom prst="roundRect">
            <a:avLst>
              <a:gd name="adj" fmla="val 12258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7" name="Oval 5026"/>
          <p:cNvSpPr/>
          <p:nvPr/>
        </p:nvSpPr>
        <p:spPr>
          <a:xfrm>
            <a:off x="6290174" y="258775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8" name="Rounded Rectangle 5027"/>
          <p:cNvSpPr/>
          <p:nvPr/>
        </p:nvSpPr>
        <p:spPr>
          <a:xfrm>
            <a:off x="4751672" y="5851358"/>
            <a:ext cx="609199" cy="385412"/>
          </a:xfrm>
          <a:prstGeom prst="roundRect">
            <a:avLst>
              <a:gd name="adj" fmla="val 1186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9" name="Oval 5028"/>
          <p:cNvSpPr/>
          <p:nvPr/>
        </p:nvSpPr>
        <p:spPr>
          <a:xfrm>
            <a:off x="5220967" y="5680365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30" name="Rectangle 5029"/>
          <p:cNvSpPr/>
          <p:nvPr/>
        </p:nvSpPr>
        <p:spPr>
          <a:xfrm>
            <a:off x="822960" y="6983128"/>
            <a:ext cx="566928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탭 아래 「제안서 버전 이력」</a:t>
            </a:r>
            <a:endParaRPr lang="ko-KR" altLang="en-US" sz="1250"/>
          </a:p>
        </p:txBody>
      </p:sp>
      <p:pic>
        <p:nvPicPr>
          <p:cNvPr id="5031" name="Picture 5030" descr="G_14c_history_open_c24_896_480_105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7294024"/>
            <a:ext cx="5669280" cy="1939491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2" name="Rounded Rectangle 5031"/>
          <p:cNvSpPr/>
          <p:nvPr/>
        </p:nvSpPr>
        <p:spPr>
          <a:xfrm>
            <a:off x="872691" y="7356188"/>
            <a:ext cx="5557386" cy="1877327"/>
          </a:xfrm>
          <a:prstGeom prst="roundRect">
            <a:avLst>
              <a:gd name="adj" fmla="val 2435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3" name="Oval 5032"/>
          <p:cNvSpPr/>
          <p:nvPr/>
        </p:nvSpPr>
        <p:spPr>
          <a:xfrm>
            <a:off x="6290174" y="7185195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4" name="Rectangle 5033"/>
          <p:cNvSpPr/>
          <p:nvPr/>
        </p:nvSpPr>
        <p:spPr>
          <a:xfrm>
            <a:off x="6812280" y="2432304"/>
            <a:ext cx="576072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「변경」 태그 → 항목별 이전 → 이후(바뀐 말 강조)</a:t>
            </a:r>
            <a:endParaRPr lang="ko-KR" altLang="en-US" sz="1250"/>
          </a:p>
        </p:txBody>
      </p:sp>
      <p:pic>
        <p:nvPicPr>
          <p:cNvPr id="5035" name="Picture 5034" descr="G_14b_item_diff_c580_390_1340_68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2743200"/>
            <a:ext cx="5760720" cy="2266389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6" name="Rectangle 5035"/>
          <p:cNvSpPr/>
          <p:nvPr/>
        </p:nvSpPr>
        <p:spPr>
          <a:xfrm>
            <a:off x="6812280" y="5283909"/>
            <a:ext cx="576072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상단 「이벤트 로그」 — 추가 전용 기록</a:t>
            </a:r>
            <a:endParaRPr lang="ko-KR" altLang="en-US" sz="1250"/>
          </a:p>
        </p:txBody>
      </p:sp>
      <p:pic>
        <p:nvPicPr>
          <p:cNvPr id="5037" name="Picture 5036" descr="G_15_eventlog_c830_86_1390_40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0" y="5594805"/>
            <a:ext cx="5760720" cy="3230118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8" name="Oval 5037"/>
          <p:cNvSpPr/>
          <p:nvPr/>
        </p:nvSpPr>
        <p:spPr>
          <a:xfrm>
            <a:off x="12402236" y="573242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9" name="Oval 5038"/>
          <p:cNvSpPr/>
          <p:nvPr/>
        </p:nvSpPr>
        <p:spPr>
          <a:xfrm>
            <a:off x="12893040" y="2523744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16"/>
          </a:p>
        </p:txBody>
      </p:sp>
      <p:sp>
        <p:nvSpPr>
          <p:cNvPr id="5040" name="TextBox 5039"/>
          <p:cNvSpPr txBox="1"/>
          <p:nvPr/>
        </p:nvSpPr>
        <p:spPr>
          <a:xfrm>
            <a:off x="13313664" y="2505456"/>
            <a:ext cx="41513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현재 보는 버전</a:t>
            </a:r>
            <a:endParaRPr lang="ko-KR" altLang="en-US" sz="1450"/>
          </a:p>
        </p:txBody>
      </p:sp>
      <p:sp>
        <p:nvSpPr>
          <p:cNvPr id="5041" name="TextBox 5040"/>
          <p:cNvSpPr txBox="1"/>
          <p:nvPr/>
        </p:nvSpPr>
        <p:spPr>
          <a:xfrm>
            <a:off x="13313664" y="2772220"/>
            <a:ext cx="41513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버전·생성 시각·계기·기준 화선</a:t>
            </a:r>
            <a:endParaRPr lang="ko-KR" altLang="en-US" sz="1250"/>
          </a:p>
        </p:txBody>
      </p:sp>
      <p:sp>
        <p:nvSpPr>
          <p:cNvPr id="5042" name="Oval 5041"/>
          <p:cNvSpPr/>
          <p:nvPr/>
        </p:nvSpPr>
        <p:spPr>
          <a:xfrm>
            <a:off x="12893040" y="3137217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16"/>
          </a:p>
        </p:txBody>
      </p:sp>
      <p:sp>
        <p:nvSpPr>
          <p:cNvPr id="5043" name="TextBox 5042"/>
          <p:cNvSpPr txBox="1"/>
          <p:nvPr/>
        </p:nvSpPr>
        <p:spPr>
          <a:xfrm>
            <a:off x="13313664" y="3118930"/>
            <a:ext cx="41513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「변경」 태그</a:t>
            </a:r>
            <a:endParaRPr lang="ko-KR" altLang="en-US" sz="1450"/>
          </a:p>
        </p:txBody>
      </p:sp>
      <p:sp>
        <p:nvSpPr>
          <p:cNvPr id="5044" name="TextBox 5043"/>
          <p:cNvSpPr txBox="1"/>
          <p:nvPr/>
        </p:nvSpPr>
        <p:spPr>
          <a:xfrm>
            <a:off x="13313664" y="3385693"/>
            <a:ext cx="4151376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직전 버전과 달라진 항목에 표시, 누르면 이전·이후 문장 팝업 — 빠진 말은 빨간 취소선, 새로 생긴 말은 초록 형광</a:t>
            </a:r>
            <a:endParaRPr lang="ko-KR" altLang="en-US" sz="1250"/>
          </a:p>
        </p:txBody>
      </p:sp>
      <p:sp>
        <p:nvSpPr>
          <p:cNvPr id="5045" name="Oval 5044"/>
          <p:cNvSpPr/>
          <p:nvPr/>
        </p:nvSpPr>
        <p:spPr>
          <a:xfrm>
            <a:off x="12893040" y="3960241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16"/>
          </a:p>
        </p:txBody>
      </p:sp>
      <p:sp>
        <p:nvSpPr>
          <p:cNvPr id="5046" name="TextBox 5045"/>
          <p:cNvSpPr txBox="1"/>
          <p:nvPr/>
        </p:nvSpPr>
        <p:spPr>
          <a:xfrm>
            <a:off x="13313664" y="3941953"/>
            <a:ext cx="41513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제안서 버전 이력</a:t>
            </a:r>
            <a:endParaRPr lang="ko-KR" altLang="en-US" sz="1450"/>
          </a:p>
        </p:txBody>
      </p:sp>
      <p:sp>
        <p:nvSpPr>
          <p:cNvPr id="5047" name="TextBox 5046"/>
          <p:cNvSpPr txBox="1"/>
          <p:nvPr/>
        </p:nvSpPr>
        <p:spPr>
          <a:xfrm>
            <a:off x="13313664" y="4208716"/>
            <a:ext cx="4151376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버전·생성 시각·계기(예측 갱신/상황 정정)·구분 건수·변경 건수, 「보기」로 이전 버전 열람, 「비교」로 직전 버전과 비교</a:t>
            </a:r>
            <a:endParaRPr lang="ko-KR" altLang="en-US" sz="1250"/>
          </a:p>
        </p:txBody>
      </p:sp>
      <p:sp>
        <p:nvSpPr>
          <p:cNvPr id="5048" name="Oval 5047"/>
          <p:cNvSpPr/>
          <p:nvPr/>
        </p:nvSpPr>
        <p:spPr>
          <a:xfrm>
            <a:off x="12893040" y="4992814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16"/>
          </a:p>
        </p:txBody>
      </p:sp>
      <p:sp>
        <p:nvSpPr>
          <p:cNvPr id="5049" name="TextBox 5048"/>
          <p:cNvSpPr txBox="1"/>
          <p:nvPr/>
        </p:nvSpPr>
        <p:spPr>
          <a:xfrm>
            <a:off x="13313664" y="4974526"/>
            <a:ext cx="41513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이벤트 로그</a:t>
            </a:r>
            <a:endParaRPr lang="ko-KR" altLang="en-US" sz="1450"/>
          </a:p>
        </p:txBody>
      </p:sp>
      <p:sp>
        <p:nvSpPr>
          <p:cNvPr id="5050" name="TextBox 5049"/>
          <p:cNvSpPr txBox="1"/>
          <p:nvPr/>
        </p:nvSpPr>
        <p:spPr>
          <a:xfrm>
            <a:off x="13313664" y="5241290"/>
            <a:ext cx="4151376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시각·구분(시스템·입력·예측·제안·근거 부족·정정·종료·관리)·내용·사용자, 읽기 전용</a:t>
            </a:r>
            <a:endParaRPr lang="ko-KR" altLang="en-US" sz="1250"/>
          </a:p>
        </p:txBody>
      </p:sp>
      <p:sp>
        <p:nvSpPr>
          <p:cNvPr id="5051" name="Rounded Rectangle 5050"/>
          <p:cNvSpPr/>
          <p:nvPr/>
        </p:nvSpPr>
        <p:spPr>
          <a:xfrm>
            <a:off x="12893040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52" name="TextBox 5051"/>
          <p:cNvSpPr txBox="1"/>
          <p:nvPr/>
        </p:nvSpPr>
        <p:spPr>
          <a:xfrm>
            <a:off x="14036040" y="8769096"/>
            <a:ext cx="3429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F-14 제안 이력·변경사항 · F-32 이벤트 로그 · UC-PROP-04</a:t>
            </a:r>
            <a:endParaRPr lang="ko-KR" altLang="en-US" sz="1200"/>
          </a:p>
        </p:txBody>
      </p:sp>
      <p:sp>
        <p:nvSpPr>
          <p:cNvPr id="5053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42709512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 ⑩ 진화자원 현황 · 발화 종료 처리 (UC-SIT-03 · UC-SIT-01)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024" name="Rectangle 5023"/>
          <p:cNvSpPr/>
          <p:nvPr/>
        </p:nvSpPr>
        <p:spPr>
          <a:xfrm>
            <a:off x="822960" y="2432304"/>
            <a:ext cx="402336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상단 「진화자원」 → 떠 있는 창</a:t>
            </a:r>
            <a:endParaRPr lang="ko-KR" altLang="en-US" sz="1250"/>
          </a:p>
        </p:txBody>
      </p:sp>
      <p:pic>
        <p:nvPicPr>
          <p:cNvPr id="5025" name="Picture 50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743200"/>
            <a:ext cx="2189620" cy="626364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6" name="Rounded Rectangle 5025"/>
          <p:cNvSpPr/>
          <p:nvPr/>
        </p:nvSpPr>
        <p:spPr>
          <a:xfrm>
            <a:off x="842866" y="2955527"/>
            <a:ext cx="2149809" cy="225597"/>
          </a:xfrm>
          <a:prstGeom prst="roundRect">
            <a:avLst>
              <a:gd name="adj" fmla="val 20266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7" name="Oval 5026"/>
          <p:cNvSpPr/>
          <p:nvPr/>
        </p:nvSpPr>
        <p:spPr>
          <a:xfrm>
            <a:off x="667512" y="2912877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8" name="Rounded Rectangle 5027"/>
          <p:cNvSpPr/>
          <p:nvPr/>
        </p:nvSpPr>
        <p:spPr>
          <a:xfrm>
            <a:off x="842866" y="3154583"/>
            <a:ext cx="2149809" cy="703332"/>
          </a:xfrm>
          <a:prstGeom prst="roundRect">
            <a:avLst>
              <a:gd name="adj" fmla="val 6500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9" name="Oval 5028"/>
          <p:cNvSpPr/>
          <p:nvPr/>
        </p:nvSpPr>
        <p:spPr>
          <a:xfrm>
            <a:off x="2852771" y="2983590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30" name="Oval 5029"/>
          <p:cNvSpPr/>
          <p:nvPr/>
        </p:nvSpPr>
        <p:spPr>
          <a:xfrm>
            <a:off x="2852771" y="3667017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1" name="Rectangle 5030"/>
          <p:cNvSpPr/>
          <p:nvPr/>
        </p:nvSpPr>
        <p:spPr>
          <a:xfrm>
            <a:off x="3378340" y="2432304"/>
            <a:ext cx="676656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「종료 처리」 → 확인 창</a:t>
            </a:r>
            <a:endParaRPr lang="ko-KR" altLang="en-US" sz="1250"/>
          </a:p>
        </p:txBody>
      </p:sp>
      <p:pic>
        <p:nvPicPr>
          <p:cNvPr id="5032" name="Picture 503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8340" y="2743200"/>
            <a:ext cx="6766560" cy="2323779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3" name="Rounded Rectangle 5032"/>
          <p:cNvSpPr/>
          <p:nvPr/>
        </p:nvSpPr>
        <p:spPr>
          <a:xfrm>
            <a:off x="3431760" y="3019204"/>
            <a:ext cx="6659720" cy="516395"/>
          </a:xfrm>
          <a:prstGeom prst="roundRect">
            <a:avLst>
              <a:gd name="adj" fmla="val 8853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4" name="Oval 5033"/>
          <p:cNvSpPr/>
          <p:nvPr/>
        </p:nvSpPr>
        <p:spPr>
          <a:xfrm>
            <a:off x="3222892" y="312195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5" name="Rectangle 5034"/>
          <p:cNvSpPr/>
          <p:nvPr/>
        </p:nvSpPr>
        <p:spPr>
          <a:xfrm>
            <a:off x="3378340" y="5341299"/>
            <a:ext cx="676656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종료 후 — 「종료」 상태 · 조회 전용 · 비활성 이유 표시</a:t>
            </a:r>
            <a:endParaRPr lang="ko-KR" altLang="en-US" sz="1250"/>
          </a:p>
        </p:txBody>
      </p:sp>
      <p:pic>
        <p:nvPicPr>
          <p:cNvPr id="5036" name="Picture 5035" descr="G_34_ended_c24_76_480_20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8340" y="5652195"/>
            <a:ext cx="6766560" cy="1840029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7" name="Rounded Rectangle 5036"/>
          <p:cNvSpPr/>
          <p:nvPr/>
        </p:nvSpPr>
        <p:spPr>
          <a:xfrm>
            <a:off x="4951268" y="5652195"/>
            <a:ext cx="771625" cy="489685"/>
          </a:xfrm>
          <a:prstGeom prst="roundRect">
            <a:avLst>
              <a:gd name="adj" fmla="val 9336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8" name="Oval 5037"/>
          <p:cNvSpPr/>
          <p:nvPr/>
        </p:nvSpPr>
        <p:spPr>
          <a:xfrm>
            <a:off x="5582990" y="5496747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39" name="Rounded Rectangle 5038"/>
          <p:cNvSpPr/>
          <p:nvPr/>
        </p:nvSpPr>
        <p:spPr>
          <a:xfrm>
            <a:off x="3437696" y="7017378"/>
            <a:ext cx="1157438" cy="474846"/>
          </a:xfrm>
          <a:prstGeom prst="roundRect">
            <a:avLst>
              <a:gd name="adj" fmla="val 9628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0" name="Oval 5039"/>
          <p:cNvSpPr/>
          <p:nvPr/>
        </p:nvSpPr>
        <p:spPr>
          <a:xfrm>
            <a:off x="4455230" y="7336777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292"/>
          </a:p>
        </p:txBody>
      </p:sp>
      <p:pic>
        <p:nvPicPr>
          <p:cNvPr id="5041" name="Picture 5040" descr="G_34_ended_c1620_40_1920_7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8340" y="7583665"/>
            <a:ext cx="6766560" cy="811987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42" name="Rounded Rectangle 5041"/>
          <p:cNvSpPr/>
          <p:nvPr/>
        </p:nvSpPr>
        <p:spPr>
          <a:xfrm>
            <a:off x="3491116" y="7583665"/>
            <a:ext cx="6631229" cy="789432"/>
          </a:xfrm>
          <a:prstGeom prst="roundRect">
            <a:avLst>
              <a:gd name="adj" fmla="val 5791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43" name="Oval 5042"/>
          <p:cNvSpPr/>
          <p:nvPr/>
        </p:nvSpPr>
        <p:spPr>
          <a:xfrm>
            <a:off x="3222892" y="7822933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  <a:endParaRPr lang="ko-KR" altLang="en-US" sz="1292"/>
          </a:p>
        </p:txBody>
      </p:sp>
      <p:sp>
        <p:nvSpPr>
          <p:cNvPr id="5044" name="Oval 5043"/>
          <p:cNvSpPr/>
          <p:nvPr/>
        </p:nvSpPr>
        <p:spPr>
          <a:xfrm>
            <a:off x="10510660" y="252374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140"/>
          </a:p>
        </p:txBody>
      </p:sp>
      <p:sp>
        <p:nvSpPr>
          <p:cNvPr id="5045" name="TextBox 5044"/>
          <p:cNvSpPr txBox="1"/>
          <p:nvPr/>
        </p:nvSpPr>
        <p:spPr>
          <a:xfrm>
            <a:off x="10912996" y="2505456"/>
            <a:ext cx="655204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대기·투입·정비 체크박스</a:t>
            </a:r>
            <a:endParaRPr lang="ko-KR" altLang="en-US" sz="1400"/>
          </a:p>
        </p:txBody>
      </p:sp>
      <p:sp>
        <p:nvSpPr>
          <p:cNvPr id="5046" name="TextBox 5045"/>
          <p:cNvSpPr txBox="1"/>
          <p:nvPr/>
        </p:nvSpPr>
        <p:spPr>
          <a:xfrm>
            <a:off x="10912996" y="2764282"/>
            <a:ext cx="655204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처음에는 셋 다 체크</a:t>
            </a:r>
            <a:endParaRPr lang="ko-KR" altLang="en-US" sz="1200"/>
          </a:p>
        </p:txBody>
      </p:sp>
      <p:sp>
        <p:nvSpPr>
          <p:cNvPr id="5047" name="Oval 5046"/>
          <p:cNvSpPr/>
          <p:nvPr/>
        </p:nvSpPr>
        <p:spPr>
          <a:xfrm>
            <a:off x="10510660" y="306603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140"/>
          </a:p>
        </p:txBody>
      </p:sp>
      <p:sp>
        <p:nvSpPr>
          <p:cNvPr id="5048" name="TextBox 5047"/>
          <p:cNvSpPr txBox="1"/>
          <p:nvPr/>
        </p:nvSpPr>
        <p:spPr>
          <a:xfrm>
            <a:off x="10912996" y="3047746"/>
            <a:ext cx="655204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합계</a:t>
            </a:r>
            <a:endParaRPr lang="ko-KR" altLang="en-US" sz="1400"/>
          </a:p>
        </p:txBody>
      </p:sp>
      <p:sp>
        <p:nvSpPr>
          <p:cNvPr id="5049" name="TextBox 5048"/>
          <p:cNvSpPr txBox="1"/>
          <p:nvPr/>
        </p:nvSpPr>
        <p:spPr>
          <a:xfrm>
            <a:off x="10912996" y="3306572"/>
            <a:ext cx="655204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헬기·차량·인력, 체크한 상태만 열로 표시</a:t>
            </a:r>
            <a:endParaRPr lang="ko-KR" altLang="en-US" sz="1200"/>
          </a:p>
        </p:txBody>
      </p:sp>
      <p:sp>
        <p:nvSpPr>
          <p:cNvPr id="5050" name="Oval 5049"/>
          <p:cNvSpPr/>
          <p:nvPr/>
        </p:nvSpPr>
        <p:spPr>
          <a:xfrm>
            <a:off x="10510660" y="360832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140"/>
          </a:p>
        </p:txBody>
      </p:sp>
      <p:sp>
        <p:nvSpPr>
          <p:cNvPr id="5051" name="TextBox 5050"/>
          <p:cNvSpPr txBox="1"/>
          <p:nvPr/>
        </p:nvSpPr>
        <p:spPr>
          <a:xfrm>
            <a:off x="10912996" y="3590036"/>
            <a:ext cx="655204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자원 목록</a:t>
            </a:r>
            <a:endParaRPr lang="ko-KR" altLang="en-US" sz="1400"/>
          </a:p>
        </p:txBody>
      </p:sp>
      <p:sp>
        <p:nvSpPr>
          <p:cNvPr id="5052" name="TextBox 5051"/>
          <p:cNvSpPr txBox="1"/>
          <p:nvPr/>
        </p:nvSpPr>
        <p:spPr>
          <a:xfrm>
            <a:off x="10912996" y="3848862"/>
            <a:ext cx="655204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구분·명칭(호출부호)·소속·수량·상태</a:t>
            </a:r>
            <a:endParaRPr lang="ko-KR" altLang="en-US" sz="1200"/>
          </a:p>
        </p:txBody>
      </p:sp>
      <p:sp>
        <p:nvSpPr>
          <p:cNvPr id="5053" name="Oval 5052"/>
          <p:cNvSpPr/>
          <p:nvPr/>
        </p:nvSpPr>
        <p:spPr>
          <a:xfrm>
            <a:off x="10510660" y="415061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140"/>
          </a:p>
        </p:txBody>
      </p:sp>
      <p:sp>
        <p:nvSpPr>
          <p:cNvPr id="5054" name="TextBox 5053"/>
          <p:cNvSpPr txBox="1"/>
          <p:nvPr/>
        </p:nvSpPr>
        <p:spPr>
          <a:xfrm>
            <a:off x="10912996" y="4132326"/>
            <a:ext cx="655204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종료 확인</a:t>
            </a:r>
            <a:endParaRPr lang="ko-KR" altLang="en-US" sz="1400"/>
          </a:p>
        </p:txBody>
      </p:sp>
      <p:sp>
        <p:nvSpPr>
          <p:cNvPr id="5055" name="TextBox 5054"/>
          <p:cNvSpPr txBox="1"/>
          <p:nvPr/>
        </p:nvSpPr>
        <p:spPr>
          <a:xfrm>
            <a:off x="10912996" y="4391152"/>
            <a:ext cx="655204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종료하면 보고·예측·정정이 막힘을 알리고 종료 시각·처리자 표시</a:t>
            </a:r>
            <a:endParaRPr lang="ko-KR" altLang="en-US" sz="1200"/>
          </a:p>
        </p:txBody>
      </p:sp>
      <p:sp>
        <p:nvSpPr>
          <p:cNvPr id="5056" name="Oval 5055"/>
          <p:cNvSpPr/>
          <p:nvPr/>
        </p:nvSpPr>
        <p:spPr>
          <a:xfrm>
            <a:off x="10510660" y="469290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140"/>
          </a:p>
        </p:txBody>
      </p:sp>
      <p:sp>
        <p:nvSpPr>
          <p:cNvPr id="5057" name="TextBox 5056"/>
          <p:cNvSpPr txBox="1"/>
          <p:nvPr/>
        </p:nvSpPr>
        <p:spPr>
          <a:xfrm>
            <a:off x="10912996" y="4674616"/>
            <a:ext cx="655204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「종료」 상태</a:t>
            </a:r>
            <a:endParaRPr lang="ko-KR" altLang="en-US" sz="1400"/>
          </a:p>
        </p:txBody>
      </p:sp>
      <p:sp>
        <p:nvSpPr>
          <p:cNvPr id="5058" name="TextBox 5057"/>
          <p:cNvSpPr txBox="1"/>
          <p:nvPr/>
        </p:nvSpPr>
        <p:spPr>
          <a:xfrm>
            <a:off x="10912996" y="4933442"/>
            <a:ext cx="655204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진행 중 목록에서 빠져 종료 목록으로</a:t>
            </a:r>
            <a:endParaRPr lang="ko-KR" altLang="en-US" sz="1200"/>
          </a:p>
        </p:txBody>
      </p:sp>
      <p:sp>
        <p:nvSpPr>
          <p:cNvPr id="5059" name="Oval 5058"/>
          <p:cNvSpPr/>
          <p:nvPr/>
        </p:nvSpPr>
        <p:spPr>
          <a:xfrm>
            <a:off x="10510660" y="523519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140"/>
          </a:p>
        </p:txBody>
      </p:sp>
      <p:sp>
        <p:nvSpPr>
          <p:cNvPr id="5060" name="TextBox 5059"/>
          <p:cNvSpPr txBox="1"/>
          <p:nvPr/>
        </p:nvSpPr>
        <p:spPr>
          <a:xfrm>
            <a:off x="10912996" y="5216906"/>
            <a:ext cx="655204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「조회 전용」</a:t>
            </a:r>
            <a:endParaRPr lang="ko-KR" altLang="en-US" sz="1400"/>
          </a:p>
        </p:txBody>
      </p:sp>
      <p:sp>
        <p:nvSpPr>
          <p:cNvPr id="5061" name="TextBox 5060"/>
          <p:cNvSpPr txBox="1"/>
          <p:nvPr/>
        </p:nvSpPr>
        <p:spPr>
          <a:xfrm>
            <a:off x="10912996" y="5475732"/>
            <a:ext cx="655204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제안서·이력은 보기만</a:t>
            </a:r>
            <a:endParaRPr lang="ko-KR" altLang="en-US" sz="1200"/>
          </a:p>
        </p:txBody>
      </p:sp>
      <p:sp>
        <p:nvSpPr>
          <p:cNvPr id="5062" name="Oval 5061"/>
          <p:cNvSpPr/>
          <p:nvPr/>
        </p:nvSpPr>
        <p:spPr>
          <a:xfrm>
            <a:off x="10510660" y="577748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  <a:endParaRPr lang="ko-KR" altLang="en-US" sz="1140"/>
          </a:p>
        </p:txBody>
      </p:sp>
      <p:sp>
        <p:nvSpPr>
          <p:cNvPr id="5063" name="TextBox 5062"/>
          <p:cNvSpPr txBox="1"/>
          <p:nvPr/>
        </p:nvSpPr>
        <p:spPr>
          <a:xfrm>
            <a:off x="10912996" y="5759196"/>
            <a:ext cx="655204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예측 버튼 비활성 · 이유 표시</a:t>
            </a:r>
            <a:endParaRPr lang="ko-KR" altLang="en-US" sz="1400"/>
          </a:p>
        </p:txBody>
      </p:sp>
      <p:sp>
        <p:nvSpPr>
          <p:cNvPr id="5064" name="TextBox 5063"/>
          <p:cNvSpPr txBox="1"/>
          <p:nvPr/>
        </p:nvSpPr>
        <p:spPr>
          <a:xfrm>
            <a:off x="10912996" y="6018022"/>
            <a:ext cx="655204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버튼 옆에 「종료된 산불은 예측할 수 없습니다」, 상황 정정도 불가</a:t>
            </a:r>
            <a:endParaRPr lang="ko-KR" altLang="en-US" sz="1200"/>
          </a:p>
        </p:txBody>
      </p:sp>
      <p:sp>
        <p:nvSpPr>
          <p:cNvPr id="5065" name="Rounded Rectangle 5064"/>
          <p:cNvSpPr/>
          <p:nvPr/>
        </p:nvSpPr>
        <p:spPr>
          <a:xfrm>
            <a:off x="10510660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66" name="TextBox 5065"/>
          <p:cNvSpPr txBox="1"/>
          <p:nvPr/>
        </p:nvSpPr>
        <p:spPr>
          <a:xfrm>
            <a:off x="11653660" y="8769096"/>
            <a:ext cx="58113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F-08 · F-03 발화 종료 처리 · UC-SIT-03 · UC-SIT-01</a:t>
            </a:r>
            <a:endParaRPr lang="ko-KR" altLang="en-US" sz="1200"/>
          </a:p>
        </p:txBody>
      </p:sp>
      <p:sp>
        <p:nvSpPr>
          <p:cNvPr id="5067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11994146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열람자 — 읽기 전용 통합 상황도 · 산불 위험도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5024" name="Picture 5023" descr="G_40b_viewer_re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433733"/>
            <a:ext cx="11292840" cy="6352222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5" name="Rounded Rectangle 5024"/>
          <p:cNvSpPr/>
          <p:nvPr/>
        </p:nvSpPr>
        <p:spPr>
          <a:xfrm>
            <a:off x="999411" y="3068955"/>
            <a:ext cx="2605588" cy="211741"/>
          </a:xfrm>
          <a:prstGeom prst="roundRect">
            <a:avLst>
              <a:gd name="adj" fmla="val 2159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6" name="Oval 5025"/>
          <p:cNvSpPr/>
          <p:nvPr/>
        </p:nvSpPr>
        <p:spPr>
          <a:xfrm>
            <a:off x="3465095" y="289796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7" name="Rounded Rectangle 5026"/>
          <p:cNvSpPr/>
          <p:nvPr/>
        </p:nvSpPr>
        <p:spPr>
          <a:xfrm>
            <a:off x="9933694" y="2680764"/>
            <a:ext cx="2152698" cy="188214"/>
          </a:xfrm>
          <a:prstGeom prst="roundRect">
            <a:avLst>
              <a:gd name="adj" fmla="val 24291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8" name="Oval 5027"/>
          <p:cNvSpPr/>
          <p:nvPr/>
        </p:nvSpPr>
        <p:spPr>
          <a:xfrm>
            <a:off x="9762701" y="272907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29" name="Rounded Rectangle 5028"/>
          <p:cNvSpPr/>
          <p:nvPr/>
        </p:nvSpPr>
        <p:spPr>
          <a:xfrm>
            <a:off x="3693224" y="2927794"/>
            <a:ext cx="1964484" cy="5575840"/>
          </a:xfrm>
          <a:prstGeom prst="roundRect">
            <a:avLst>
              <a:gd name="adj" fmla="val 2327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0" name="Oval 5029"/>
          <p:cNvSpPr/>
          <p:nvPr/>
        </p:nvSpPr>
        <p:spPr>
          <a:xfrm>
            <a:off x="5517804" y="275680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1" name="Rounded Rectangle 5030"/>
          <p:cNvSpPr/>
          <p:nvPr/>
        </p:nvSpPr>
        <p:spPr>
          <a:xfrm>
            <a:off x="10810065" y="2457260"/>
            <a:ext cx="1305735" cy="199977"/>
          </a:xfrm>
          <a:prstGeom prst="roundRect">
            <a:avLst>
              <a:gd name="adj" fmla="val 2286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2" name="Oval 5031"/>
          <p:cNvSpPr/>
          <p:nvPr/>
        </p:nvSpPr>
        <p:spPr>
          <a:xfrm>
            <a:off x="10639073" y="251733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3" name="Rounded Rectangle 5032"/>
          <p:cNvSpPr/>
          <p:nvPr/>
        </p:nvSpPr>
        <p:spPr>
          <a:xfrm>
            <a:off x="10151316" y="2916031"/>
            <a:ext cx="1929193" cy="2417374"/>
          </a:xfrm>
          <a:prstGeom prst="roundRect">
            <a:avLst>
              <a:gd name="adj" fmla="val 2369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4" name="Oval 5033"/>
          <p:cNvSpPr/>
          <p:nvPr/>
        </p:nvSpPr>
        <p:spPr>
          <a:xfrm>
            <a:off x="9803844" y="3969270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35" name="Oval 5034"/>
          <p:cNvSpPr/>
          <p:nvPr/>
        </p:nvSpPr>
        <p:spPr>
          <a:xfrm>
            <a:off x="12435840" y="2523744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16"/>
          </a:p>
        </p:txBody>
      </p:sp>
      <p:sp>
        <p:nvSpPr>
          <p:cNvPr id="5036" name="TextBox 5035"/>
          <p:cNvSpPr txBox="1"/>
          <p:nvPr/>
        </p:nvSpPr>
        <p:spPr>
          <a:xfrm>
            <a:off x="12856464" y="2505456"/>
            <a:ext cx="4608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산불현황 탭만</a:t>
            </a:r>
            <a:endParaRPr lang="ko-KR" altLang="en-US" sz="1450"/>
          </a:p>
        </p:txBody>
      </p:sp>
      <p:sp>
        <p:nvSpPr>
          <p:cNvPr id="5037" name="TextBox 5036"/>
          <p:cNvSpPr txBox="1"/>
          <p:nvPr/>
        </p:nvSpPr>
        <p:spPr>
          <a:xfrm>
            <a:off x="12856464" y="2772220"/>
            <a:ext cx="46085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발생·접수 정보(신고자 포함)와 실측 화선·예측 면적을 봄</a:t>
            </a:r>
            <a:endParaRPr lang="ko-KR" altLang="en-US" sz="1250"/>
          </a:p>
        </p:txBody>
      </p:sp>
      <p:sp>
        <p:nvSpPr>
          <p:cNvPr id="5038" name="Oval 5037"/>
          <p:cNvSpPr/>
          <p:nvPr/>
        </p:nvSpPr>
        <p:spPr>
          <a:xfrm>
            <a:off x="12435840" y="3128074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16"/>
          </a:p>
        </p:txBody>
      </p:sp>
      <p:sp>
        <p:nvSpPr>
          <p:cNvPr id="5039" name="TextBox 5038"/>
          <p:cNvSpPr txBox="1"/>
          <p:nvPr/>
        </p:nvSpPr>
        <p:spPr>
          <a:xfrm>
            <a:off x="12856464" y="3109786"/>
            <a:ext cx="4608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시간별 재생</a:t>
            </a:r>
            <a:endParaRPr lang="ko-KR" altLang="en-US" sz="1450"/>
          </a:p>
        </p:txBody>
      </p:sp>
      <p:sp>
        <p:nvSpPr>
          <p:cNvPr id="5040" name="TextBox 5039"/>
          <p:cNvSpPr txBox="1"/>
          <p:nvPr/>
        </p:nvSpPr>
        <p:spPr>
          <a:xfrm>
            <a:off x="12856464" y="3376549"/>
            <a:ext cx="46085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통합지휘권자가 실행한 예측 결과를 재생만 함(실행 버튼 없음)</a:t>
            </a:r>
            <a:endParaRPr lang="ko-KR" altLang="en-US" sz="1250"/>
          </a:p>
        </p:txBody>
      </p:sp>
      <p:sp>
        <p:nvSpPr>
          <p:cNvPr id="5041" name="Oval 5040"/>
          <p:cNvSpPr/>
          <p:nvPr/>
        </p:nvSpPr>
        <p:spPr>
          <a:xfrm>
            <a:off x="12435840" y="3732403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16"/>
          </a:p>
        </p:txBody>
      </p:sp>
      <p:sp>
        <p:nvSpPr>
          <p:cNvPr id="5042" name="TextBox 5041"/>
          <p:cNvSpPr txBox="1"/>
          <p:nvPr/>
        </p:nvSpPr>
        <p:spPr>
          <a:xfrm>
            <a:off x="12856464" y="3714115"/>
            <a:ext cx="4608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진화자원 현황</a:t>
            </a:r>
            <a:endParaRPr lang="ko-KR" altLang="en-US" sz="1450"/>
          </a:p>
        </p:txBody>
      </p:sp>
      <p:sp>
        <p:nvSpPr>
          <p:cNvPr id="5043" name="TextBox 5042"/>
          <p:cNvSpPr txBox="1"/>
          <p:nvPr/>
        </p:nvSpPr>
        <p:spPr>
          <a:xfrm>
            <a:off x="12856464" y="3980878"/>
            <a:ext cx="46085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대기·투입·정비 확인</a:t>
            </a:r>
            <a:endParaRPr lang="ko-KR" altLang="en-US" sz="1250"/>
          </a:p>
        </p:txBody>
      </p:sp>
      <p:sp>
        <p:nvSpPr>
          <p:cNvPr id="5044" name="Oval 5043"/>
          <p:cNvSpPr/>
          <p:nvPr/>
        </p:nvSpPr>
        <p:spPr>
          <a:xfrm>
            <a:off x="12435840" y="4336732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16"/>
          </a:p>
        </p:txBody>
      </p:sp>
      <p:sp>
        <p:nvSpPr>
          <p:cNvPr id="5045" name="TextBox 5044"/>
          <p:cNvSpPr txBox="1"/>
          <p:nvPr/>
        </p:nvSpPr>
        <p:spPr>
          <a:xfrm>
            <a:off x="12856464" y="4318444"/>
            <a:ext cx="4608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사용자 표시</a:t>
            </a:r>
            <a:endParaRPr lang="ko-KR" altLang="en-US" sz="1450"/>
          </a:p>
        </p:txBody>
      </p:sp>
      <p:sp>
        <p:nvSpPr>
          <p:cNvPr id="5046" name="TextBox 5045"/>
          <p:cNvSpPr txBox="1"/>
          <p:nvPr/>
        </p:nvSpPr>
        <p:spPr>
          <a:xfrm>
            <a:off x="12856464" y="4585208"/>
            <a:ext cx="460857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view01 · 열람자(열람), 「이벤트 로그」 없음</a:t>
            </a:r>
            <a:endParaRPr lang="ko-KR" altLang="en-US" sz="1250"/>
          </a:p>
        </p:txBody>
      </p:sp>
      <p:sp>
        <p:nvSpPr>
          <p:cNvPr id="5047" name="Oval 5046"/>
          <p:cNvSpPr/>
          <p:nvPr/>
        </p:nvSpPr>
        <p:spPr>
          <a:xfrm>
            <a:off x="12435840" y="4941062"/>
            <a:ext cx="292608" cy="292608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16"/>
          </a:p>
        </p:txBody>
      </p:sp>
      <p:sp>
        <p:nvSpPr>
          <p:cNvPr id="5048" name="TextBox 5047"/>
          <p:cNvSpPr txBox="1"/>
          <p:nvPr/>
        </p:nvSpPr>
        <p:spPr>
          <a:xfrm>
            <a:off x="12856464" y="4922774"/>
            <a:ext cx="4608576" cy="230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위험도</a:t>
            </a:r>
            <a:endParaRPr lang="ko-KR" altLang="en-US" sz="1450"/>
          </a:p>
        </p:txBody>
      </p:sp>
      <p:sp>
        <p:nvSpPr>
          <p:cNvPr id="5049" name="TextBox 5048"/>
          <p:cNvSpPr txBox="1"/>
          <p:nvPr/>
        </p:nvSpPr>
        <p:spPr>
          <a:xfrm>
            <a:off x="12856464" y="5189537"/>
            <a:ext cx="4608576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위험도 네모·상세 팝업·요소별 지표를 봄(계산·재예측은 통합지휘권자)</a:t>
            </a:r>
            <a:endParaRPr lang="ko-KR" altLang="en-US" sz="1250"/>
          </a:p>
        </p:txBody>
      </p:sp>
      <p:sp>
        <p:nvSpPr>
          <p:cNvPr id="5050" name="Rounded Rectangle 5049"/>
          <p:cNvSpPr/>
          <p:nvPr/>
        </p:nvSpPr>
        <p:spPr>
          <a:xfrm>
            <a:off x="12435840" y="5837237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51" name="TextBox 5050"/>
          <p:cNvSpPr txBox="1"/>
          <p:nvPr/>
        </p:nvSpPr>
        <p:spPr>
          <a:xfrm>
            <a:off x="12664440" y="5946965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보이지 않는 것</a:t>
            </a:r>
            <a:endParaRPr lang="ko-KR" altLang="en-US" sz="1450"/>
          </a:p>
        </p:txBody>
      </p:sp>
      <p:sp>
        <p:nvSpPr>
          <p:cNvPr id="5052" name="TextBox 5051"/>
          <p:cNvSpPr txBox="1"/>
          <p:nvPr/>
        </p:nvSpPr>
        <p:spPr>
          <a:xfrm>
            <a:off x="12664440" y="6312725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—"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대응제안 탭 · 제안서 버전 이력</a:t>
            </a:r>
            <a:endParaRPr lang="ko-KR" altLang="en-US" sz="1250"/>
          </a:p>
          <a:p>
            <a:pPr marL="201168" indent="-201168"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—"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AI 어시스턴트 · 상황 정정</a:t>
            </a:r>
            <a:endParaRPr lang="ko-KR" altLang="en-US" sz="1250"/>
          </a:p>
          <a:p>
            <a:pPr marL="201168" indent="-201168"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—"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확산 예측 실행 · 종료 처리</a:t>
            </a:r>
            <a:endParaRPr lang="ko-KR" altLang="en-US" sz="1250"/>
          </a:p>
        </p:txBody>
      </p:sp>
      <p:sp>
        <p:nvSpPr>
          <p:cNvPr id="5053" name="Rounded Rectangle 5052"/>
          <p:cNvSpPr/>
          <p:nvPr/>
        </p:nvSpPr>
        <p:spPr>
          <a:xfrm>
            <a:off x="12435840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54" name="TextBox 5053"/>
          <p:cNvSpPr txBox="1"/>
          <p:nvPr/>
        </p:nvSpPr>
        <p:spPr>
          <a:xfrm>
            <a:off x="13578840" y="8769096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F-04 · F-05 · F-08 · F-10 · UC-SIT-02 · UC-SIT-03 · UC-PRED-02 · SER-001(권한별 화면)</a:t>
            </a:r>
            <a:endParaRPr lang="ko-KR" altLang="en-US" sz="1200"/>
          </a:p>
        </p:txBody>
      </p:sp>
      <p:sp>
        <p:nvSpPr>
          <p:cNvPr id="5055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12580587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전산 관리자 — 계정·권한 · 진화자원 데이터 관리 (UC-ADMIN-01·02)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5024" name="Picture 502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432304"/>
            <a:ext cx="11292840" cy="4293632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5" name="Rounded Rectangle 5024"/>
          <p:cNvSpPr/>
          <p:nvPr/>
        </p:nvSpPr>
        <p:spPr>
          <a:xfrm>
            <a:off x="1022937" y="2785205"/>
            <a:ext cx="2523244" cy="176451"/>
          </a:xfrm>
          <a:prstGeom prst="roundRect">
            <a:avLst>
              <a:gd name="adj" fmla="val 25910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6" name="Oval 5025"/>
          <p:cNvSpPr/>
          <p:nvPr/>
        </p:nvSpPr>
        <p:spPr>
          <a:xfrm>
            <a:off x="3406278" y="261421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7" name="Rounded Rectangle 5026"/>
          <p:cNvSpPr/>
          <p:nvPr/>
        </p:nvSpPr>
        <p:spPr>
          <a:xfrm>
            <a:off x="1022937" y="2961656"/>
            <a:ext cx="5346454" cy="1082230"/>
          </a:xfrm>
          <a:prstGeom prst="roundRect">
            <a:avLst>
              <a:gd name="adj" fmla="val 4224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8" name="Oval 5027"/>
          <p:cNvSpPr/>
          <p:nvPr/>
        </p:nvSpPr>
        <p:spPr>
          <a:xfrm>
            <a:off x="851945" y="2790663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29" name="Rounded Rectangle 5028"/>
          <p:cNvSpPr/>
          <p:nvPr/>
        </p:nvSpPr>
        <p:spPr>
          <a:xfrm>
            <a:off x="1022937" y="4055650"/>
            <a:ext cx="5346454" cy="364665"/>
          </a:xfrm>
          <a:prstGeom prst="roundRect">
            <a:avLst>
              <a:gd name="adj" fmla="val 12537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0" name="Oval 5029"/>
          <p:cNvSpPr/>
          <p:nvPr/>
        </p:nvSpPr>
        <p:spPr>
          <a:xfrm>
            <a:off x="851945" y="4280411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1" name="Rounded Rectangle 5030"/>
          <p:cNvSpPr/>
          <p:nvPr/>
        </p:nvSpPr>
        <p:spPr>
          <a:xfrm>
            <a:off x="6575250" y="2785205"/>
            <a:ext cx="4081891" cy="176451"/>
          </a:xfrm>
          <a:prstGeom prst="roundRect">
            <a:avLst>
              <a:gd name="adj" fmla="val 25910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2" name="Oval 5031"/>
          <p:cNvSpPr/>
          <p:nvPr/>
        </p:nvSpPr>
        <p:spPr>
          <a:xfrm>
            <a:off x="10517238" y="261421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3" name="Rounded Rectangle 5032"/>
          <p:cNvSpPr/>
          <p:nvPr/>
        </p:nvSpPr>
        <p:spPr>
          <a:xfrm>
            <a:off x="6575250" y="2961656"/>
            <a:ext cx="5346454" cy="2934962"/>
          </a:xfrm>
          <a:prstGeom prst="roundRect">
            <a:avLst>
              <a:gd name="adj" fmla="val 1557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4" name="Oval 5033"/>
          <p:cNvSpPr/>
          <p:nvPr/>
        </p:nvSpPr>
        <p:spPr>
          <a:xfrm>
            <a:off x="11781801" y="2790663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35" name="Rounded Rectangle 5034"/>
          <p:cNvSpPr/>
          <p:nvPr/>
        </p:nvSpPr>
        <p:spPr>
          <a:xfrm>
            <a:off x="6575250" y="5902500"/>
            <a:ext cx="5346454" cy="682276"/>
          </a:xfrm>
          <a:prstGeom prst="roundRect">
            <a:avLst>
              <a:gd name="adj" fmla="val 6701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6" name="Oval 5035"/>
          <p:cNvSpPr/>
          <p:nvPr/>
        </p:nvSpPr>
        <p:spPr>
          <a:xfrm>
            <a:off x="11781801" y="6444872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292"/>
          </a:p>
        </p:txBody>
      </p:sp>
      <p:sp>
        <p:nvSpPr>
          <p:cNvPr id="5037" name="Rectangle 5036"/>
          <p:cNvSpPr/>
          <p:nvPr/>
        </p:nvSpPr>
        <p:spPr>
          <a:xfrm>
            <a:off x="822960" y="6954536"/>
            <a:ext cx="367284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계정 발급 결과</a:t>
            </a:r>
            <a:endParaRPr lang="ko-KR" altLang="en-US" sz="1250"/>
          </a:p>
        </p:txBody>
      </p:sp>
      <p:pic>
        <p:nvPicPr>
          <p:cNvPr id="5038" name="Picture 5037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7265432"/>
            <a:ext cx="3672840" cy="1039027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9" name="Rectangle 5038"/>
          <p:cNvSpPr/>
          <p:nvPr/>
        </p:nvSpPr>
        <p:spPr>
          <a:xfrm>
            <a:off x="4632960" y="6954536"/>
            <a:ext cx="3672840" cy="310896"/>
          </a:xfrm>
          <a:prstGeom prst="rect">
            <a:avLst/>
          </a:prstGeom>
          <a:solidFill>
            <a:srgbClr val="D0342C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회수·삭제·권한 변경 확인 창</a:t>
            </a:r>
            <a:endParaRPr lang="ko-KR" altLang="en-US" sz="1250"/>
          </a:p>
        </p:txBody>
      </p:sp>
      <p:pic>
        <p:nvPicPr>
          <p:cNvPr id="5040" name="Picture 5039" descr="G_53_admin_revoke_c580_467_1340_61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2960" y="7265432"/>
            <a:ext cx="3672840" cy="705572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pic>
        <p:nvPicPr>
          <p:cNvPr id="5041" name="Picture 5040" descr="G_54_admin_lastcmd_c618_989_1301_102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2960" y="8044156"/>
            <a:ext cx="3672840" cy="166703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42" name="Rectangle 5041"/>
          <p:cNvSpPr/>
          <p:nvPr/>
        </p:nvSpPr>
        <p:spPr>
          <a:xfrm>
            <a:off x="8442960" y="6954536"/>
            <a:ext cx="3672840" cy="310896"/>
          </a:xfrm>
          <a:prstGeom prst="rect">
            <a:avLst/>
          </a:prstGeom>
          <a:solidFill>
            <a:srgbClr val="D0342C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입력 검사 · 삭제 차단</a:t>
            </a:r>
            <a:endParaRPr lang="ko-KR" altLang="en-US" sz="1250"/>
          </a:p>
        </p:txBody>
      </p:sp>
      <p:pic>
        <p:nvPicPr>
          <p:cNvPr id="5043" name="Picture 504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2960" y="7265432"/>
            <a:ext cx="3672840" cy="251620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pic>
        <p:nvPicPr>
          <p:cNvPr id="5044" name="Picture 5043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2960" y="7590204"/>
            <a:ext cx="2277161" cy="317176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45" name="Oval 5044"/>
          <p:cNvSpPr/>
          <p:nvPr/>
        </p:nvSpPr>
        <p:spPr>
          <a:xfrm>
            <a:off x="12435840" y="252374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140"/>
          </a:p>
        </p:txBody>
      </p:sp>
      <p:sp>
        <p:nvSpPr>
          <p:cNvPr id="5046" name="TextBox 5045"/>
          <p:cNvSpPr txBox="1"/>
          <p:nvPr/>
        </p:nvSpPr>
        <p:spPr>
          <a:xfrm>
            <a:off x="12838176" y="2505456"/>
            <a:ext cx="462686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계정 현황</a:t>
            </a:r>
            <a:endParaRPr lang="ko-KR" altLang="en-US" sz="1400"/>
          </a:p>
        </p:txBody>
      </p:sp>
      <p:sp>
        <p:nvSpPr>
          <p:cNvPr id="5047" name="TextBox 5046"/>
          <p:cNvSpPr txBox="1"/>
          <p:nvPr/>
        </p:nvSpPr>
        <p:spPr>
          <a:xfrm>
            <a:off x="12838176" y="2764282"/>
            <a:ext cx="462686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발급·회수·잠금, 권한별 계정 수</a:t>
            </a:r>
            <a:endParaRPr lang="ko-KR" altLang="en-US" sz="1200"/>
          </a:p>
        </p:txBody>
      </p:sp>
      <p:sp>
        <p:nvSpPr>
          <p:cNvPr id="5048" name="Oval 5047"/>
          <p:cNvSpPr/>
          <p:nvPr/>
        </p:nvSpPr>
        <p:spPr>
          <a:xfrm>
            <a:off x="12435840" y="306603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140"/>
          </a:p>
        </p:txBody>
      </p:sp>
      <p:sp>
        <p:nvSpPr>
          <p:cNvPr id="5049" name="TextBox 5048"/>
          <p:cNvSpPr txBox="1"/>
          <p:nvPr/>
        </p:nvSpPr>
        <p:spPr>
          <a:xfrm>
            <a:off x="12838176" y="3047746"/>
            <a:ext cx="462686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계정 표</a:t>
            </a:r>
            <a:endParaRPr lang="ko-KR" altLang="en-US" sz="1400"/>
          </a:p>
        </p:txBody>
      </p:sp>
      <p:sp>
        <p:nvSpPr>
          <p:cNvPr id="5050" name="TextBox 5049"/>
          <p:cNvSpPr txBox="1"/>
          <p:nvPr/>
        </p:nvSpPr>
        <p:spPr>
          <a:xfrm>
            <a:off x="12838176" y="3306572"/>
            <a:ext cx="4626864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권한 변경(즉시 적용) · 회수 · 재발급(초기 비밀번호) · 삭제 · 잠금 해제. 회수·삭제·권한 변경은 확인 창을 거치고, 마지막 통합지휘권자 계정은 처리할 수 없음</a:t>
            </a:r>
            <a:endParaRPr lang="ko-KR" altLang="en-US" sz="1200"/>
          </a:p>
        </p:txBody>
      </p:sp>
      <p:sp>
        <p:nvSpPr>
          <p:cNvPr id="5051" name="Oval 5050"/>
          <p:cNvSpPr/>
          <p:nvPr/>
        </p:nvSpPr>
        <p:spPr>
          <a:xfrm>
            <a:off x="12435840" y="4010660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140"/>
          </a:p>
        </p:txBody>
      </p:sp>
      <p:sp>
        <p:nvSpPr>
          <p:cNvPr id="5052" name="TextBox 5051"/>
          <p:cNvSpPr txBox="1"/>
          <p:nvPr/>
        </p:nvSpPr>
        <p:spPr>
          <a:xfrm>
            <a:off x="12838176" y="3992372"/>
            <a:ext cx="462686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계정 발급</a:t>
            </a:r>
            <a:endParaRPr lang="ko-KR" altLang="en-US" sz="1400"/>
          </a:p>
        </p:txBody>
      </p:sp>
      <p:sp>
        <p:nvSpPr>
          <p:cNvPr id="5053" name="TextBox 5052"/>
          <p:cNvSpPr txBox="1"/>
          <p:nvPr/>
        </p:nvSpPr>
        <p:spPr>
          <a:xfrm>
            <a:off x="12838176" y="4251198"/>
            <a:ext cx="462686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이름·소속·권한(조작·열람·보고)만 입력</a:t>
            </a:r>
            <a:endParaRPr lang="ko-KR" altLang="en-US" sz="1200"/>
          </a:p>
        </p:txBody>
      </p:sp>
      <p:sp>
        <p:nvSpPr>
          <p:cNvPr id="5054" name="Oval 5053"/>
          <p:cNvSpPr/>
          <p:nvPr/>
        </p:nvSpPr>
        <p:spPr>
          <a:xfrm>
            <a:off x="12435840" y="4552950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140"/>
          </a:p>
        </p:txBody>
      </p:sp>
      <p:sp>
        <p:nvSpPr>
          <p:cNvPr id="5055" name="TextBox 5054"/>
          <p:cNvSpPr txBox="1"/>
          <p:nvPr/>
        </p:nvSpPr>
        <p:spPr>
          <a:xfrm>
            <a:off x="12838176" y="4534662"/>
            <a:ext cx="462686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진화자원 합계</a:t>
            </a:r>
            <a:endParaRPr lang="ko-KR" altLang="en-US" sz="1400"/>
          </a:p>
        </p:txBody>
      </p:sp>
      <p:sp>
        <p:nvSpPr>
          <p:cNvPr id="5056" name="TextBox 5055"/>
          <p:cNvSpPr txBox="1"/>
          <p:nvPr/>
        </p:nvSpPr>
        <p:spPr>
          <a:xfrm>
            <a:off x="12838176" y="4793488"/>
            <a:ext cx="462686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헬기·차량·인력 보유·투입·대기·정비</a:t>
            </a:r>
            <a:endParaRPr lang="ko-KR" altLang="en-US" sz="1200"/>
          </a:p>
        </p:txBody>
      </p:sp>
      <p:sp>
        <p:nvSpPr>
          <p:cNvPr id="5057" name="Oval 5056"/>
          <p:cNvSpPr/>
          <p:nvPr/>
        </p:nvSpPr>
        <p:spPr>
          <a:xfrm>
            <a:off x="12435840" y="5095240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140"/>
          </a:p>
        </p:txBody>
      </p:sp>
      <p:sp>
        <p:nvSpPr>
          <p:cNvPr id="5058" name="TextBox 5057"/>
          <p:cNvSpPr txBox="1"/>
          <p:nvPr/>
        </p:nvSpPr>
        <p:spPr>
          <a:xfrm>
            <a:off x="12838176" y="5076952"/>
            <a:ext cx="462686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진화자원 표</a:t>
            </a:r>
            <a:endParaRPr lang="ko-KR" altLang="en-US" sz="1400"/>
          </a:p>
        </p:txBody>
      </p:sp>
      <p:sp>
        <p:nvSpPr>
          <p:cNvPr id="5059" name="TextBox 5058"/>
          <p:cNvSpPr txBox="1"/>
          <p:nvPr/>
        </p:nvSpPr>
        <p:spPr>
          <a:xfrm>
            <a:off x="12838176" y="5335778"/>
            <a:ext cx="462686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구분·명칭(호출부호)·소속·수량·배치 위치·상태, 줄별 저장·삭제</a:t>
            </a:r>
            <a:endParaRPr lang="ko-KR" altLang="en-US" sz="1200"/>
          </a:p>
        </p:txBody>
      </p:sp>
      <p:sp>
        <p:nvSpPr>
          <p:cNvPr id="5060" name="Oval 5059"/>
          <p:cNvSpPr/>
          <p:nvPr/>
        </p:nvSpPr>
        <p:spPr>
          <a:xfrm>
            <a:off x="12435840" y="5637530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140"/>
          </a:p>
        </p:txBody>
      </p:sp>
      <p:sp>
        <p:nvSpPr>
          <p:cNvPr id="5061" name="TextBox 5060"/>
          <p:cNvSpPr txBox="1"/>
          <p:nvPr/>
        </p:nvSpPr>
        <p:spPr>
          <a:xfrm>
            <a:off x="12838176" y="5619242"/>
            <a:ext cx="4626864" cy="222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자원 등록</a:t>
            </a:r>
            <a:endParaRPr lang="ko-KR" altLang="en-US" sz="1400"/>
          </a:p>
        </p:txBody>
      </p:sp>
      <p:sp>
        <p:nvSpPr>
          <p:cNvPr id="5062" name="TextBox 5061"/>
          <p:cNvSpPr txBox="1"/>
          <p:nvPr/>
        </p:nvSpPr>
        <p:spPr>
          <a:xfrm>
            <a:off x="12838176" y="5878068"/>
            <a:ext cx="462686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필수 값 누락 시 저장 차단, 투입 중 자원은 삭제 불가</a:t>
            </a:r>
            <a:endParaRPr lang="ko-KR" altLang="en-US" sz="1200"/>
          </a:p>
        </p:txBody>
      </p:sp>
      <p:sp>
        <p:nvSpPr>
          <p:cNvPr id="5063" name="Rounded Rectangle 5062"/>
          <p:cNvSpPr/>
          <p:nvPr/>
        </p:nvSpPr>
        <p:spPr>
          <a:xfrm>
            <a:off x="12435840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64" name="TextBox 5063"/>
          <p:cNvSpPr txBox="1"/>
          <p:nvPr/>
        </p:nvSpPr>
        <p:spPr>
          <a:xfrm>
            <a:off x="13578840" y="8769096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F-01 · F-31 진화자원 데이터 관리 · UC-ADMIN-01 · UC-ADMIN-02</a:t>
            </a:r>
            <a:endParaRPr lang="ko-KR" altLang="en-US" sz="1200"/>
          </a:p>
        </p:txBody>
      </p:sp>
      <p:sp>
        <p:nvSpPr>
          <p:cNvPr id="5065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23204638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개발자 전용 ① 외부 연동 실패 장면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024" name="Rectangle 5023"/>
          <p:cNvSpPr/>
          <p:nvPr/>
        </p:nvSpPr>
        <p:spPr>
          <a:xfrm>
            <a:off x="822960" y="2468880"/>
            <a:ext cx="5422392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기상</a:t>
            </a:r>
            <a:endParaRPr lang="ko-KR" altLang="en-US" sz="1250"/>
          </a:p>
        </p:txBody>
      </p:sp>
      <p:sp>
        <p:nvSpPr>
          <p:cNvPr id="5025" name="Rectangle 5024"/>
          <p:cNvSpPr/>
          <p:nvPr/>
        </p:nvSpPr>
        <p:spPr>
          <a:xfrm>
            <a:off x="822960" y="2779776"/>
            <a:ext cx="5422392" cy="2194560"/>
          </a:xfrm>
          <a:prstGeom prst="rect">
            <a:avLst/>
          </a:prstGeom>
          <a:solidFill>
            <a:srgbClr val="F7F7F9"/>
          </a:solidFill>
          <a:ln w="12700">
            <a:solidFill>
              <a:srgbClr val="D5D8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5026" name="Picture 502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409429"/>
            <a:ext cx="5330952" cy="935255"/>
          </a:xfrm>
          <a:prstGeom prst="rect">
            <a:avLst/>
          </a:prstGeom>
        </p:spPr>
      </p:pic>
      <p:sp>
        <p:nvSpPr>
          <p:cNvPr id="5027" name="TextBox 5026"/>
          <p:cNvSpPr txBox="1"/>
          <p:nvPr/>
        </p:nvSpPr>
        <p:spPr>
          <a:xfrm>
            <a:off x="822960" y="5047488"/>
            <a:ext cx="5422392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칸에 경고 + 마지막 수신값을 흐리게 함께 표시</a:t>
            </a:r>
            <a:endParaRPr lang="ko-KR" altLang="en-US" sz="1250"/>
          </a:p>
        </p:txBody>
      </p:sp>
      <p:sp>
        <p:nvSpPr>
          <p:cNvPr id="5028" name="Rectangle 5027"/>
          <p:cNvSpPr/>
          <p:nvPr/>
        </p:nvSpPr>
        <p:spPr>
          <a:xfrm>
            <a:off x="6428232" y="2468880"/>
            <a:ext cx="5422392" cy="310896"/>
          </a:xfrm>
          <a:prstGeom prst="rect">
            <a:avLst/>
          </a:prstGeom>
          <a:solidFill>
            <a:srgbClr val="D0342C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확산 예측</a:t>
            </a:r>
            <a:endParaRPr lang="ko-KR" altLang="en-US" sz="1250"/>
          </a:p>
        </p:txBody>
      </p:sp>
      <p:sp>
        <p:nvSpPr>
          <p:cNvPr id="5029" name="Rectangle 5028"/>
          <p:cNvSpPr/>
          <p:nvPr/>
        </p:nvSpPr>
        <p:spPr>
          <a:xfrm>
            <a:off x="6428232" y="2779776"/>
            <a:ext cx="5422392" cy="2194560"/>
          </a:xfrm>
          <a:prstGeom prst="rect">
            <a:avLst/>
          </a:prstGeom>
          <a:solidFill>
            <a:srgbClr val="F7F7F9"/>
          </a:solidFill>
          <a:ln w="12700">
            <a:solidFill>
              <a:srgbClr val="D5D8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5030" name="Picture 5029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3662866"/>
            <a:ext cx="5330952" cy="428380"/>
          </a:xfrm>
          <a:prstGeom prst="rect">
            <a:avLst/>
          </a:prstGeom>
        </p:spPr>
      </p:pic>
      <p:sp>
        <p:nvSpPr>
          <p:cNvPr id="5031" name="TextBox 5030"/>
          <p:cNvSpPr txBox="1"/>
          <p:nvPr/>
        </p:nvSpPr>
        <p:spPr>
          <a:xfrm>
            <a:off x="6428232" y="5047488"/>
            <a:ext cx="5422392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상단 가운데 시스템 알림(약 4초) + 버튼 옆 경고, 이전 결과 유지</a:t>
            </a:r>
            <a:endParaRPr lang="ko-KR" altLang="en-US" sz="1250"/>
          </a:p>
        </p:txBody>
      </p:sp>
      <p:sp>
        <p:nvSpPr>
          <p:cNvPr id="5032" name="Rectangle 5031"/>
          <p:cNvSpPr/>
          <p:nvPr/>
        </p:nvSpPr>
        <p:spPr>
          <a:xfrm>
            <a:off x="12033504" y="2468880"/>
            <a:ext cx="5422392" cy="310896"/>
          </a:xfrm>
          <a:prstGeom prst="rect">
            <a:avLst/>
          </a:prstGeom>
          <a:solidFill>
            <a:srgbClr val="D0342C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대응 제안</a:t>
            </a:r>
            <a:endParaRPr lang="ko-KR" altLang="en-US" sz="1250"/>
          </a:p>
        </p:txBody>
      </p:sp>
      <p:sp>
        <p:nvSpPr>
          <p:cNvPr id="5033" name="Rectangle 5032"/>
          <p:cNvSpPr/>
          <p:nvPr/>
        </p:nvSpPr>
        <p:spPr>
          <a:xfrm>
            <a:off x="12033504" y="2779776"/>
            <a:ext cx="5422392" cy="2194560"/>
          </a:xfrm>
          <a:prstGeom prst="rect">
            <a:avLst/>
          </a:prstGeom>
          <a:solidFill>
            <a:srgbClr val="F7F7F9"/>
          </a:solidFill>
          <a:ln w="12700">
            <a:solidFill>
              <a:srgbClr val="D5D8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5034" name="Picture 503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79224" y="2941801"/>
            <a:ext cx="5330952" cy="1870509"/>
          </a:xfrm>
          <a:prstGeom prst="rect">
            <a:avLst/>
          </a:prstGeom>
        </p:spPr>
      </p:pic>
      <p:sp>
        <p:nvSpPr>
          <p:cNvPr id="5035" name="TextBox 5034"/>
          <p:cNvSpPr txBox="1"/>
          <p:nvPr/>
        </p:nvSpPr>
        <p:spPr>
          <a:xfrm>
            <a:off x="12033504" y="5047488"/>
            <a:ext cx="5422392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제안 칸에 경고, 이전 제안서 유지</a:t>
            </a:r>
            <a:endParaRPr lang="ko-KR" altLang="en-US" sz="1250"/>
          </a:p>
        </p:txBody>
      </p:sp>
      <p:sp>
        <p:nvSpPr>
          <p:cNvPr id="5036" name="Rectangle 5035"/>
          <p:cNvSpPr/>
          <p:nvPr/>
        </p:nvSpPr>
        <p:spPr>
          <a:xfrm>
            <a:off x="822960" y="5650992"/>
            <a:ext cx="5422392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위험도</a:t>
            </a:r>
            <a:endParaRPr lang="ko-KR" altLang="en-US" sz="1250"/>
          </a:p>
        </p:txBody>
      </p:sp>
      <p:sp>
        <p:nvSpPr>
          <p:cNvPr id="5037" name="Rectangle 5036"/>
          <p:cNvSpPr/>
          <p:nvPr/>
        </p:nvSpPr>
        <p:spPr>
          <a:xfrm>
            <a:off x="822960" y="5961888"/>
            <a:ext cx="5422392" cy="2194560"/>
          </a:xfrm>
          <a:prstGeom prst="rect">
            <a:avLst/>
          </a:prstGeom>
          <a:solidFill>
            <a:srgbClr val="F7F7F9"/>
          </a:solidFill>
          <a:ln w="12700">
            <a:solidFill>
              <a:srgbClr val="D5D8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5038" name="Picture 5037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6437224"/>
            <a:ext cx="5330952" cy="1243889"/>
          </a:xfrm>
          <a:prstGeom prst="rect">
            <a:avLst/>
          </a:prstGeom>
        </p:spPr>
      </p:pic>
      <p:sp>
        <p:nvSpPr>
          <p:cNvPr id="5039" name="TextBox 5038"/>
          <p:cNvSpPr txBox="1"/>
          <p:nvPr/>
        </p:nvSpPr>
        <p:spPr>
          <a:xfrm>
            <a:off x="822960" y="8229600"/>
            <a:ext cx="5422392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위험도 네모에 경고 아이콘과 「—」</a:t>
            </a:r>
            <a:endParaRPr lang="ko-KR" altLang="en-US" sz="1250"/>
          </a:p>
        </p:txBody>
      </p:sp>
      <p:sp>
        <p:nvSpPr>
          <p:cNvPr id="5040" name="Rectangle 5039"/>
          <p:cNvSpPr/>
          <p:nvPr/>
        </p:nvSpPr>
        <p:spPr>
          <a:xfrm>
            <a:off x="6428232" y="5650992"/>
            <a:ext cx="5422392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위험도 변수 일부</a:t>
            </a:r>
            <a:endParaRPr lang="ko-KR" altLang="en-US" sz="1250"/>
          </a:p>
        </p:txBody>
      </p:sp>
      <p:sp>
        <p:nvSpPr>
          <p:cNvPr id="5041" name="Rectangle 5040"/>
          <p:cNvSpPr/>
          <p:nvPr/>
        </p:nvSpPr>
        <p:spPr>
          <a:xfrm>
            <a:off x="6428232" y="5961888"/>
            <a:ext cx="5422392" cy="2194560"/>
          </a:xfrm>
          <a:prstGeom prst="rect">
            <a:avLst/>
          </a:prstGeom>
          <a:solidFill>
            <a:srgbClr val="F7F7F9"/>
          </a:solidFill>
          <a:ln w="12700">
            <a:solidFill>
              <a:srgbClr val="D5D8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5042" name="Picture 504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3952" y="6376546"/>
            <a:ext cx="5330952" cy="1365244"/>
          </a:xfrm>
          <a:prstGeom prst="rect">
            <a:avLst/>
          </a:prstGeom>
        </p:spPr>
      </p:pic>
      <p:sp>
        <p:nvSpPr>
          <p:cNvPr id="5043" name="TextBox 5042"/>
          <p:cNvSpPr txBox="1"/>
          <p:nvPr/>
        </p:nvSpPr>
        <p:spPr>
          <a:xfrm>
            <a:off x="6428232" y="8229600"/>
            <a:ext cx="5422392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못 가져온 변수는 「가져오지 못함」, 빼고 계산</a:t>
            </a:r>
            <a:endParaRPr lang="ko-KR" altLang="en-US" sz="1250"/>
          </a:p>
        </p:txBody>
      </p:sp>
      <p:sp>
        <p:nvSpPr>
          <p:cNvPr id="5044" name="Rectangle 5043"/>
          <p:cNvSpPr/>
          <p:nvPr/>
        </p:nvSpPr>
        <p:spPr>
          <a:xfrm>
            <a:off x="12033504" y="5650992"/>
            <a:ext cx="5422392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진화자원 · AI 답변</a:t>
            </a:r>
            <a:endParaRPr lang="ko-KR" altLang="en-US" sz="1250"/>
          </a:p>
        </p:txBody>
      </p:sp>
      <p:sp>
        <p:nvSpPr>
          <p:cNvPr id="5045" name="Rectangle 5044"/>
          <p:cNvSpPr/>
          <p:nvPr/>
        </p:nvSpPr>
        <p:spPr>
          <a:xfrm>
            <a:off x="12033504" y="5961888"/>
            <a:ext cx="5422392" cy="2194560"/>
          </a:xfrm>
          <a:prstGeom prst="rect">
            <a:avLst/>
          </a:prstGeom>
          <a:solidFill>
            <a:srgbClr val="F7F7F9"/>
          </a:solidFill>
          <a:ln w="12700">
            <a:solidFill>
              <a:srgbClr val="D5D8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5046" name="Picture 504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79224" y="6698039"/>
            <a:ext cx="5330952" cy="722258"/>
          </a:xfrm>
          <a:prstGeom prst="rect">
            <a:avLst/>
          </a:prstGeom>
        </p:spPr>
      </p:pic>
      <p:sp>
        <p:nvSpPr>
          <p:cNvPr id="5047" name="TextBox 5046"/>
          <p:cNvSpPr txBox="1"/>
          <p:nvPr/>
        </p:nvSpPr>
        <p:spPr>
          <a:xfrm>
            <a:off x="12033504" y="8229600"/>
            <a:ext cx="5422392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진화자원 창·AI 답변 칸에 경고 + 시스템 알림</a:t>
            </a:r>
            <a:endParaRPr lang="ko-KR" altLang="en-US" sz="1250"/>
          </a:p>
        </p:txBody>
      </p:sp>
      <p:sp>
        <p:nvSpPr>
          <p:cNvPr id="5048" name="Rounded Rectangle 5047"/>
          <p:cNvSpPr/>
          <p:nvPr/>
        </p:nvSpPr>
        <p:spPr>
          <a:xfrm>
            <a:off x="822960" y="88696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49" name="TextBox 5048"/>
          <p:cNvSpPr txBox="1"/>
          <p:nvPr/>
        </p:nvSpPr>
        <p:spPr>
          <a:xfrm>
            <a:off x="1965960" y="8860536"/>
            <a:ext cx="154990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실패 처리 원칙: 조회·생성 실패는 시스템 알림 + 그 칸에 「…정보를 가져오지 못했습니다」, 이전 결과는 지우지 않음</a:t>
            </a:r>
            <a:endParaRPr lang="ko-KR" altLang="en-US" sz="1200"/>
          </a:p>
        </p:txBody>
      </p:sp>
      <p:sp>
        <p:nvSpPr>
          <p:cNvPr id="5050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3468416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프로토타입 구현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개발자 전용 ② 병합 산불 장면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5024" name="Picture 5023" descr="G_66b_merge_ma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433733"/>
            <a:ext cx="11292840" cy="6352222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5" name="Rounded Rectangle 5024"/>
          <p:cNvSpPr/>
          <p:nvPr/>
        </p:nvSpPr>
        <p:spPr>
          <a:xfrm>
            <a:off x="5975318" y="4174712"/>
            <a:ext cx="2870263" cy="2723221"/>
          </a:xfrm>
          <a:prstGeom prst="roundRect">
            <a:avLst>
              <a:gd name="adj" fmla="val 1678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6" name="Oval 5025"/>
          <p:cNvSpPr/>
          <p:nvPr/>
        </p:nvSpPr>
        <p:spPr>
          <a:xfrm>
            <a:off x="5804325" y="4003719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92"/>
          </a:p>
        </p:txBody>
      </p:sp>
      <p:sp>
        <p:nvSpPr>
          <p:cNvPr id="5027" name="Rounded Rectangle 5026"/>
          <p:cNvSpPr/>
          <p:nvPr/>
        </p:nvSpPr>
        <p:spPr>
          <a:xfrm>
            <a:off x="6857571" y="5380458"/>
            <a:ext cx="1046940" cy="294084"/>
          </a:xfrm>
          <a:prstGeom prst="roundRect">
            <a:avLst>
              <a:gd name="adj" fmla="val 15546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8" name="Oval 5027"/>
          <p:cNvSpPr/>
          <p:nvPr/>
        </p:nvSpPr>
        <p:spPr>
          <a:xfrm>
            <a:off x="7764609" y="5209465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92"/>
          </a:p>
        </p:txBody>
      </p:sp>
      <p:sp>
        <p:nvSpPr>
          <p:cNvPr id="5029" name="Rounded Rectangle 5028"/>
          <p:cNvSpPr/>
          <p:nvPr/>
        </p:nvSpPr>
        <p:spPr>
          <a:xfrm>
            <a:off x="11657028" y="2916031"/>
            <a:ext cx="423481" cy="423482"/>
          </a:xfrm>
          <a:prstGeom prst="roundRect">
            <a:avLst>
              <a:gd name="adj" fmla="val 10796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0" name="Oval 5029"/>
          <p:cNvSpPr/>
          <p:nvPr/>
        </p:nvSpPr>
        <p:spPr>
          <a:xfrm>
            <a:off x="11309556" y="2972324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92"/>
          </a:p>
        </p:txBody>
      </p:sp>
      <p:sp>
        <p:nvSpPr>
          <p:cNvPr id="5031" name="Rounded Rectangle 5030"/>
          <p:cNvSpPr/>
          <p:nvPr/>
        </p:nvSpPr>
        <p:spPr>
          <a:xfrm>
            <a:off x="987647" y="4110014"/>
            <a:ext cx="2629114" cy="629341"/>
          </a:xfrm>
          <a:prstGeom prst="roundRect">
            <a:avLst>
              <a:gd name="adj" fmla="val 7264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2" name="Oval 5031"/>
          <p:cNvSpPr/>
          <p:nvPr/>
        </p:nvSpPr>
        <p:spPr>
          <a:xfrm>
            <a:off x="3476858" y="3939021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92"/>
          </a:p>
        </p:txBody>
      </p:sp>
      <p:sp>
        <p:nvSpPr>
          <p:cNvPr id="5033" name="Rounded Rectangle 5032"/>
          <p:cNvSpPr/>
          <p:nvPr/>
        </p:nvSpPr>
        <p:spPr>
          <a:xfrm>
            <a:off x="987647" y="5780413"/>
            <a:ext cx="2629114" cy="199977"/>
          </a:xfrm>
          <a:prstGeom prst="roundRect">
            <a:avLst>
              <a:gd name="adj" fmla="val 22862"/>
            </a:avLst>
          </a:prstGeom>
          <a:noFill/>
          <a:ln w="28575">
            <a:solidFill>
              <a:srgbClr val="E8742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34" name="Oval 5033"/>
          <p:cNvSpPr/>
          <p:nvPr/>
        </p:nvSpPr>
        <p:spPr>
          <a:xfrm>
            <a:off x="3476858" y="5609420"/>
            <a:ext cx="310896" cy="310896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92"/>
          </a:p>
        </p:txBody>
      </p:sp>
      <p:sp>
        <p:nvSpPr>
          <p:cNvPr id="5035" name="Rectangle 5034"/>
          <p:cNvSpPr/>
          <p:nvPr/>
        </p:nvSpPr>
        <p:spPr>
          <a:xfrm>
            <a:off x="12435840" y="2432304"/>
            <a:ext cx="5029200" cy="310896"/>
          </a:xfrm>
          <a:prstGeom prst="rect">
            <a:avLst/>
          </a:prstGeom>
          <a:solidFill>
            <a:srgbClr val="363A52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산불 목록 — 1건만 표시</a:t>
            </a:r>
            <a:endParaRPr lang="ko-KR" altLang="en-US" sz="1250"/>
          </a:p>
        </p:txBody>
      </p:sp>
      <p:pic>
        <p:nvPicPr>
          <p:cNvPr id="5036" name="Picture 5035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35840" y="2743200"/>
            <a:ext cx="5029200" cy="1367589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37" name="Oval 5036"/>
          <p:cNvSpPr/>
          <p:nvPr/>
        </p:nvSpPr>
        <p:spPr>
          <a:xfrm>
            <a:off x="12435840" y="416966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140"/>
          </a:p>
        </p:txBody>
      </p:sp>
      <p:sp>
        <p:nvSpPr>
          <p:cNvPr id="5038" name="TextBox 5037"/>
          <p:cNvSpPr txBox="1"/>
          <p:nvPr/>
        </p:nvSpPr>
        <p:spPr>
          <a:xfrm>
            <a:off x="12838176" y="4151376"/>
            <a:ext cx="4626864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두 산불의 화선·예측을 함께 그림</a:t>
            </a:r>
            <a:endParaRPr lang="ko-KR" altLang="en-US" sz="1350"/>
          </a:p>
        </p:txBody>
      </p:sp>
      <p:sp>
        <p:nvSpPr>
          <p:cNvPr id="5039" name="TextBox 5038"/>
          <p:cNvSpPr txBox="1"/>
          <p:nvPr/>
        </p:nvSpPr>
        <p:spPr>
          <a:xfrm>
            <a:off x="12838176" y="4402264"/>
            <a:ext cx="4626864" cy="3855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안평면(먼저 신고)과 신안리 산불(시연용 가상)의 P5가 겹치면 하나의 산불로 봄</a:t>
            </a:r>
            <a:endParaRPr lang="ko-KR" altLang="en-US" sz="1150"/>
          </a:p>
        </p:txBody>
      </p:sp>
      <p:sp>
        <p:nvSpPr>
          <p:cNvPr id="5040" name="Oval 5039"/>
          <p:cNvSpPr/>
          <p:nvPr/>
        </p:nvSpPr>
        <p:spPr>
          <a:xfrm>
            <a:off x="12435840" y="4860988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140"/>
          </a:p>
        </p:txBody>
      </p:sp>
      <p:sp>
        <p:nvSpPr>
          <p:cNvPr id="5041" name="TextBox 5040"/>
          <p:cNvSpPr txBox="1"/>
          <p:nvPr/>
        </p:nvSpPr>
        <p:spPr>
          <a:xfrm>
            <a:off x="12838176" y="4842700"/>
            <a:ext cx="4626864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P5 겹침 구역</a:t>
            </a:r>
            <a:endParaRPr lang="ko-KR" altLang="en-US" sz="1350"/>
          </a:p>
        </p:txBody>
      </p:sp>
      <p:sp>
        <p:nvSpPr>
          <p:cNvPr id="5042" name="TextBox 5041"/>
          <p:cNvSpPr txBox="1"/>
          <p:nvPr/>
        </p:nvSpPr>
        <p:spPr>
          <a:xfrm>
            <a:off x="12838176" y="5093589"/>
            <a:ext cx="4626864" cy="3855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보라색 면과 「P5 겹침 — 하나의 산불로 병합」 표시(위험구역 레이어와 함께 켜고 끔)</a:t>
            </a:r>
            <a:endParaRPr lang="ko-KR" altLang="en-US" sz="1150"/>
          </a:p>
        </p:txBody>
      </p:sp>
      <p:sp>
        <p:nvSpPr>
          <p:cNvPr id="5043" name="Oval 5042"/>
          <p:cNvSpPr/>
          <p:nvPr/>
        </p:nvSpPr>
        <p:spPr>
          <a:xfrm>
            <a:off x="12435840" y="5552313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140"/>
          </a:p>
        </p:txBody>
      </p:sp>
      <p:sp>
        <p:nvSpPr>
          <p:cNvPr id="5044" name="TextBox 5043"/>
          <p:cNvSpPr txBox="1"/>
          <p:nvPr/>
        </p:nvSpPr>
        <p:spPr>
          <a:xfrm>
            <a:off x="12838176" y="5534025"/>
            <a:ext cx="4626864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위험도 1개</a:t>
            </a:r>
            <a:endParaRPr lang="ko-KR" altLang="en-US" sz="1350"/>
          </a:p>
        </p:txBody>
      </p:sp>
      <p:sp>
        <p:nvSpPr>
          <p:cNvPr id="5045" name="TextBox 5044"/>
          <p:cNvSpPr txBox="1"/>
          <p:nvPr/>
        </p:nvSpPr>
        <p:spPr>
          <a:xfrm>
            <a:off x="12838176" y="5784914"/>
            <a:ext cx="4626864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병합한 범위로 한 번만 계산(3.17)</a:t>
            </a:r>
            <a:endParaRPr lang="ko-KR" altLang="en-US" sz="1150"/>
          </a:p>
        </p:txBody>
      </p:sp>
      <p:sp>
        <p:nvSpPr>
          <p:cNvPr id="5046" name="Oval 5045"/>
          <p:cNvSpPr/>
          <p:nvPr/>
        </p:nvSpPr>
        <p:spPr>
          <a:xfrm>
            <a:off x="12435840" y="6050851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140"/>
          </a:p>
        </p:txBody>
      </p:sp>
      <p:sp>
        <p:nvSpPr>
          <p:cNvPr id="5047" name="TextBox 5046"/>
          <p:cNvSpPr txBox="1"/>
          <p:nvPr/>
        </p:nvSpPr>
        <p:spPr>
          <a:xfrm>
            <a:off x="12838176" y="6032563"/>
            <a:ext cx="4626864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병합된 산불 행</a:t>
            </a:r>
            <a:endParaRPr lang="ko-KR" altLang="en-US" sz="1350"/>
          </a:p>
        </p:txBody>
      </p:sp>
      <p:sp>
        <p:nvSpPr>
          <p:cNvPr id="5048" name="TextBox 5047"/>
          <p:cNvSpPr txBox="1"/>
          <p:nvPr/>
        </p:nvSpPr>
        <p:spPr>
          <a:xfrm>
            <a:off x="12838176" y="6283452"/>
            <a:ext cx="4626864" cy="3855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산불현황 표에 병합된 산불의 주소·발생/신고 시각·신고자, 「발화점 보기」</a:t>
            </a:r>
            <a:endParaRPr lang="ko-KR" altLang="en-US" sz="1150"/>
          </a:p>
        </p:txBody>
      </p:sp>
      <p:sp>
        <p:nvSpPr>
          <p:cNvPr id="5049" name="Oval 5048"/>
          <p:cNvSpPr/>
          <p:nvPr/>
        </p:nvSpPr>
        <p:spPr>
          <a:xfrm>
            <a:off x="12435840" y="6742176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140"/>
          </a:p>
        </p:txBody>
      </p:sp>
      <p:sp>
        <p:nvSpPr>
          <p:cNvPr id="5050" name="TextBox 5049"/>
          <p:cNvSpPr txBox="1"/>
          <p:nvPr/>
        </p:nvSpPr>
        <p:spPr>
          <a:xfrm>
            <a:off x="12838176" y="6723888"/>
            <a:ext cx="4626864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예측 면적 합산</a:t>
            </a:r>
            <a:endParaRPr lang="ko-KR" altLang="en-US" sz="1350"/>
          </a:p>
        </p:txBody>
      </p:sp>
      <p:sp>
        <p:nvSpPr>
          <p:cNvPr id="5051" name="TextBox 5050"/>
          <p:cNvSpPr txBox="1"/>
          <p:nvPr/>
        </p:nvSpPr>
        <p:spPr>
          <a:xfrm>
            <a:off x="12838176" y="6974776"/>
            <a:ext cx="4626864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5h 3,056 ha · 8h 6,632 ha</a:t>
            </a:r>
            <a:endParaRPr lang="ko-KR" altLang="en-US" sz="1150"/>
          </a:p>
        </p:txBody>
      </p:sp>
      <p:sp>
        <p:nvSpPr>
          <p:cNvPr id="5052" name="Oval 5051"/>
          <p:cNvSpPr/>
          <p:nvPr/>
        </p:nvSpPr>
        <p:spPr>
          <a:xfrm>
            <a:off x="12435840" y="7240714"/>
            <a:ext cx="274320" cy="274320"/>
          </a:xfrm>
          <a:prstGeom prst="ellipse">
            <a:avLst/>
          </a:prstGeom>
          <a:solidFill>
            <a:srgbClr val="E874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140"/>
          </a:p>
        </p:txBody>
      </p:sp>
      <p:sp>
        <p:nvSpPr>
          <p:cNvPr id="5053" name="TextBox 5052"/>
          <p:cNvSpPr txBox="1"/>
          <p:nvPr/>
        </p:nvSpPr>
        <p:spPr>
          <a:xfrm>
            <a:off x="12838176" y="7222426"/>
            <a:ext cx="4626864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목록은 먼저 신고된 산불 이름 1건</a:t>
            </a:r>
            <a:endParaRPr lang="ko-KR" altLang="en-US" sz="1350"/>
          </a:p>
        </p:txBody>
      </p:sp>
      <p:sp>
        <p:nvSpPr>
          <p:cNvPr id="5054" name="TextBox 5053"/>
          <p:cNvSpPr txBox="1"/>
          <p:nvPr/>
        </p:nvSpPr>
        <p:spPr>
          <a:xfrm>
            <a:off x="12838176" y="7473315"/>
            <a:ext cx="4626864" cy="1927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4A4F63"/>
                </a:solidFill>
                <a:latin typeface="210 OmniGothic 030"/>
                <a:ea typeface="210 OmniGothic 030"/>
                <a:cs typeface="210 OmniGothic 030"/>
              </a:rPr>
              <a:t>목록에는 별도 「병합」 표시 없음</a:t>
            </a:r>
            <a:endParaRPr lang="ko-KR" altLang="en-US" sz="1150"/>
          </a:p>
        </p:txBody>
      </p:sp>
      <p:sp>
        <p:nvSpPr>
          <p:cNvPr id="5055" name="Rounded Rectangle 5054"/>
          <p:cNvSpPr/>
          <p:nvPr/>
        </p:nvSpPr>
        <p:spPr>
          <a:xfrm>
            <a:off x="12435840" y="8778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관련 요구사항</a:t>
            </a:r>
            <a:endParaRPr lang="ko-KR" altLang="en-US" sz="1100"/>
          </a:p>
        </p:txBody>
      </p:sp>
      <p:sp>
        <p:nvSpPr>
          <p:cNvPr id="5056" name="TextBox 5055"/>
          <p:cNvSpPr txBox="1"/>
          <p:nvPr/>
        </p:nvSpPr>
        <p:spPr>
          <a:xfrm>
            <a:off x="13578840" y="8769096"/>
            <a:ext cx="3886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F-10 · 위험도 정의(P5 교집합이면 동일 산불) · UC-PRED-02</a:t>
            </a:r>
            <a:endParaRPr lang="ko-KR" altLang="en-US" sz="1200"/>
          </a:p>
        </p:txBody>
      </p:sp>
      <p:sp>
        <p:nvSpPr>
          <p:cNvPr id="5057" name="TextBox 3"/>
          <p:cNvSpPr txBox="1"/>
          <p:nvPr/>
        </p:nvSpPr>
        <p:spPr>
          <a:xfrm>
            <a:off x="822960" y="9387078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프로토타입 화면은 생성형 AI를 활용하여 제작하였습니다.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31691314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3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84" name="TextBox 5083"/>
          <p:cNvSpPr txBox="1"/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프로토타입 검증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13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프로토타입 검증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검증 기준과 방법 — UI · UX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graphicFrame>
        <p:nvGraphicFramePr>
          <p:cNvPr id="5024" name="Table 50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654948"/>
              </p:ext>
            </p:extLst>
          </p:nvPr>
        </p:nvGraphicFramePr>
        <p:xfrm>
          <a:off x="822960" y="2487168"/>
          <a:ext cx="16642080" cy="50292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  <a:endParaRPr lang="ko-KR" altLang="en-US" sz="14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 항목</a:t>
                      </a:r>
                      <a:endParaRPr lang="ko-KR" altLang="en-US" sz="14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기준</a:t>
                      </a:r>
                      <a:endParaRPr lang="ko-KR" altLang="en-US" sz="14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방법</a:t>
                      </a:r>
                      <a:endParaRPr lang="ko-KR" altLang="en-US" sz="14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개선 전 발견</a:t>
                      </a:r>
                      <a:endParaRPr lang="ko-KR" altLang="en-US" sz="14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 후 결과</a:t>
                      </a:r>
                      <a:endParaRPr lang="ko-KR" altLang="en-US" sz="14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UI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9EA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요구사항 반영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기능 32개가 모두 화면에 있는가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기능 목록과 화면을 하나씩 대조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32 / 32 반영 (동작 13 · 혼합 1 · 연출 18)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r>
                        <a:rPr lang="en-US" altLang="ko-KR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</a:t>
                      </a:r>
                      <a:r>
                        <a:rPr lang="ko-KR" altLang="en-US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32 / 32 + 신고자 정보 추가</a:t>
                      </a:r>
                      <a:r>
                        <a:rPr lang="en-US" altLang="ko-KR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UI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9EA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권한별 화면 분리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권한에 없는 메뉴·버튼이 보이지 않는가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계정 4개로 로그인해 화면 요소 확인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4개 권한에서의 화면 모두 일치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r>
                        <a:rPr lang="en-US" altLang="ko-KR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</a:t>
                      </a:r>
                      <a:r>
                        <a:rPr lang="ko-KR" altLang="en-US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열람자 위험도 공개 반영</a:t>
                      </a:r>
                      <a:r>
                        <a:rPr lang="en-US" altLang="ko-KR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UI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9EA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화면 배치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가려지는 곳이 없고 지도 표시의 의미들을 알 수 있는가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1920×1080 · 1366×768 · 1280×720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창 겹침·범례 없음·라벨 겹침 3건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r>
                        <a:rPr lang="en-US" altLang="ko-KR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</a:t>
                      </a:r>
                      <a:r>
                        <a:rPr lang="ko-KR" altLang="en-US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3건 모두 개선</a:t>
                      </a:r>
                      <a:r>
                        <a:rPr lang="en-US" altLang="ko-KR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UX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BE7D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유스케이스 시나리오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 15개의 기본·대안·예외 흐름이 끝까지 되는가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실제 클릭으로 수행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개선 필요 6 · 결함 2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r>
                        <a:rPr lang="en-US" altLang="ko-KR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</a:t>
                      </a:r>
                      <a:r>
                        <a:rPr lang="ko-KR" altLang="en-US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15개 모두 확인</a:t>
                      </a:r>
                      <a:r>
                        <a:rPr lang="en-US" altLang="ko-KR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UX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BE7D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사용 편의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헷갈리거나 불편한 지점</a:t>
                      </a:r>
                      <a:endParaRPr lang="ko-KR" altLang="en-US" sz="13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가시성·일관성·오류 예방·피드백 관점 팀 자체 점검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개선 항목 11건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 </a:t>
                      </a:r>
                      <a:r>
                        <a:rPr lang="en-US" altLang="ko-KR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</a:t>
                      </a:r>
                      <a:r>
                        <a:rPr lang="ko-KR" altLang="en-US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11건 모두 반영</a:t>
                      </a:r>
                      <a:r>
                        <a:rPr lang="en-US" altLang="ko-KR" sz="130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</a:t>
                      </a:r>
                      <a:endParaRPr lang="ko-KR" altLang="en-US" sz="13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5" name="Rounded Rectangle 5024"/>
          <p:cNvSpPr/>
          <p:nvPr/>
        </p:nvSpPr>
        <p:spPr>
          <a:xfrm>
            <a:off x="822960" y="8001000"/>
            <a:ext cx="16642080" cy="105156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6" name="TextBox 5025"/>
          <p:cNvSpPr txBox="1"/>
          <p:nvPr/>
        </p:nvSpPr>
        <p:spPr>
          <a:xfrm>
            <a:off x="1097280" y="8001000"/>
            <a:ext cx="16093440" cy="10515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수행 환경  </a:t>
            </a:r>
            <a:r>
              <a:rPr lang="ko-KR" altLang="en-US" sz="130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Chrome(1920×1080), 시연 계정 4개(cmd01·rep01·view01·admin01)로 2026-10-11에 직접 조작하고, 검증 후 수정본(10/13)은 같은 방법으로 다시 확인. </a:t>
            </a:r>
            <a:br>
              <a:rPr lang="en-US" altLang="ko-KR" sz="130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</a:br>
            <a:r>
              <a:rPr lang="en-US" altLang="ko-KR" sz="130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                </a:t>
            </a:r>
            <a:r>
              <a:rPr lang="ko-KR" altLang="en-US" sz="130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UI 검증은 상용 에이전트</a:t>
            </a:r>
            <a:r>
              <a:rPr lang="en-US" altLang="ko-KR" sz="130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(Claude)</a:t>
            </a:r>
            <a:r>
              <a:rPr lang="ko-KR" altLang="en-US" sz="130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를 활용해 설계·실험·검증을 진행하였음.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7558928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프로토타입 검증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UI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검증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결과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—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요구사항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반영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·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권한별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화면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·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화면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배치</a:t>
            </a:r>
            <a:endParaRPr sz="2600" b="1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024" name="TextBox 5023"/>
          <p:cNvSpPr txBox="1"/>
          <p:nvPr/>
        </p:nvSpPr>
        <p:spPr>
          <a:xfrm>
            <a:off x="822960" y="2395728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① 요구사항 반영</a:t>
            </a:r>
            <a:endParaRPr lang="ko-KR" altLang="en-US" sz="1500"/>
          </a:p>
        </p:txBody>
      </p:sp>
      <p:sp>
        <p:nvSpPr>
          <p:cNvPr id="5025" name="Rounded Rectangle 5024"/>
          <p:cNvSpPr/>
          <p:nvPr/>
        </p:nvSpPr>
        <p:spPr>
          <a:xfrm>
            <a:off x="822960" y="2834640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F-01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로그인·권한</a:t>
            </a:r>
            <a:endParaRPr lang="ko-KR" altLang="en-US" sz="1400"/>
          </a:p>
        </p:txBody>
      </p:sp>
      <p:sp>
        <p:nvSpPr>
          <p:cNvPr id="5026" name="Rounded Rectangle 5025"/>
          <p:cNvSpPr/>
          <p:nvPr/>
        </p:nvSpPr>
        <p:spPr>
          <a:xfrm>
            <a:off x="1901952" y="2834640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F-02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상황 보고</a:t>
            </a:r>
            <a:endParaRPr lang="ko-KR" altLang="en-US" sz="1400"/>
          </a:p>
        </p:txBody>
      </p:sp>
      <p:sp>
        <p:nvSpPr>
          <p:cNvPr id="5027" name="Rounded Rectangle 5026"/>
          <p:cNvSpPr/>
          <p:nvPr/>
        </p:nvSpPr>
        <p:spPr>
          <a:xfrm>
            <a:off x="2980944" y="2834640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F-03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종료 처리</a:t>
            </a:r>
            <a:endParaRPr lang="ko-KR" altLang="en-US" sz="1400"/>
          </a:p>
        </p:txBody>
      </p:sp>
      <p:sp>
        <p:nvSpPr>
          <p:cNvPr id="5028" name="Rounded Rectangle 5027"/>
          <p:cNvSpPr/>
          <p:nvPr/>
        </p:nvSpPr>
        <p:spPr>
          <a:xfrm>
            <a:off x="4059936" y="2834640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F-04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발생·접수 조회</a:t>
            </a:r>
            <a:endParaRPr lang="ko-KR" altLang="en-US" sz="1400"/>
          </a:p>
        </p:txBody>
      </p:sp>
      <p:sp>
        <p:nvSpPr>
          <p:cNvPr id="5029" name="Rounded Rectangle 5028"/>
          <p:cNvSpPr/>
          <p:nvPr/>
        </p:nvSpPr>
        <p:spPr>
          <a:xfrm>
            <a:off x="5138928" y="2834640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F-05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통합 상황도</a:t>
            </a:r>
            <a:endParaRPr lang="ko-KR" altLang="en-US" sz="1400"/>
          </a:p>
        </p:txBody>
      </p:sp>
      <p:sp>
        <p:nvSpPr>
          <p:cNvPr id="5030" name="Rounded Rectangle 5029"/>
          <p:cNvSpPr/>
          <p:nvPr/>
        </p:nvSpPr>
        <p:spPr>
          <a:xfrm>
            <a:off x="6217920" y="2834640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F-06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레이어</a:t>
            </a:r>
            <a:endParaRPr lang="ko-KR" altLang="en-US" sz="1400"/>
          </a:p>
        </p:txBody>
      </p:sp>
      <p:sp>
        <p:nvSpPr>
          <p:cNvPr id="5031" name="Rounded Rectangle 5030"/>
          <p:cNvSpPr/>
          <p:nvPr/>
        </p:nvSpPr>
        <p:spPr>
          <a:xfrm>
            <a:off x="7296912" y="2834640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F-07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주요 시설</a:t>
            </a:r>
            <a:endParaRPr lang="ko-KR" altLang="en-US" sz="1400"/>
          </a:p>
        </p:txBody>
      </p:sp>
      <p:sp>
        <p:nvSpPr>
          <p:cNvPr id="5032" name="Rounded Rectangle 5031"/>
          <p:cNvSpPr/>
          <p:nvPr/>
        </p:nvSpPr>
        <p:spPr>
          <a:xfrm>
            <a:off x="8375904" y="2834640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F-08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가용 현황</a:t>
            </a:r>
            <a:endParaRPr lang="ko-KR" altLang="en-US" sz="1400"/>
          </a:p>
        </p:txBody>
      </p:sp>
      <p:sp>
        <p:nvSpPr>
          <p:cNvPr id="5033" name="Rounded Rectangle 5032"/>
          <p:cNvSpPr/>
          <p:nvPr/>
        </p:nvSpPr>
        <p:spPr>
          <a:xfrm>
            <a:off x="822960" y="3493008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F-09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확산 예측</a:t>
            </a:r>
            <a:endParaRPr lang="ko-KR" altLang="en-US" sz="1400"/>
          </a:p>
        </p:txBody>
      </p:sp>
      <p:sp>
        <p:nvSpPr>
          <p:cNvPr id="5034" name="Rounded Rectangle 5033"/>
          <p:cNvSpPr/>
          <p:nvPr/>
        </p:nvSpPr>
        <p:spPr>
          <a:xfrm>
            <a:off x="1901952" y="3493008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F-10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위험도</a:t>
            </a:r>
            <a:endParaRPr lang="ko-KR" altLang="en-US" sz="1400"/>
          </a:p>
        </p:txBody>
      </p:sp>
      <p:sp>
        <p:nvSpPr>
          <p:cNvPr id="5035" name="Rounded Rectangle 5034"/>
          <p:cNvSpPr/>
          <p:nvPr/>
        </p:nvSpPr>
        <p:spPr>
          <a:xfrm>
            <a:off x="2980944" y="3493008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8A7FB0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F-11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제안 생성</a:t>
            </a:r>
            <a:endParaRPr lang="ko-KR" altLang="en-US" sz="1400"/>
          </a:p>
        </p:txBody>
      </p:sp>
      <p:sp>
        <p:nvSpPr>
          <p:cNvPr id="5036" name="Rounded Rectangle 5035"/>
          <p:cNvSpPr/>
          <p:nvPr/>
        </p:nvSpPr>
        <p:spPr>
          <a:xfrm>
            <a:off x="4059936" y="3493008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F-12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제안 분류</a:t>
            </a:r>
            <a:endParaRPr lang="ko-KR" altLang="en-US" sz="1400"/>
          </a:p>
        </p:txBody>
      </p:sp>
      <p:sp>
        <p:nvSpPr>
          <p:cNvPr id="5037" name="Rounded Rectangle 5036"/>
          <p:cNvSpPr/>
          <p:nvPr/>
        </p:nvSpPr>
        <p:spPr>
          <a:xfrm>
            <a:off x="5138928" y="3493008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F-13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근거 조회</a:t>
            </a:r>
            <a:endParaRPr lang="ko-KR" altLang="en-US" sz="1400"/>
          </a:p>
        </p:txBody>
      </p:sp>
      <p:sp>
        <p:nvSpPr>
          <p:cNvPr id="5038" name="Rounded Rectangle 5037"/>
          <p:cNvSpPr/>
          <p:nvPr/>
        </p:nvSpPr>
        <p:spPr>
          <a:xfrm>
            <a:off x="6217920" y="3493008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F-14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이력·변경</a:t>
            </a:r>
            <a:endParaRPr lang="ko-KR" altLang="en-US" sz="1400"/>
          </a:p>
        </p:txBody>
      </p:sp>
      <p:sp>
        <p:nvSpPr>
          <p:cNvPr id="5039" name="Rounded Rectangle 5038"/>
          <p:cNvSpPr/>
          <p:nvPr/>
        </p:nvSpPr>
        <p:spPr>
          <a:xfrm>
            <a:off x="7296912" y="3493008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F-15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S1 대응단계</a:t>
            </a:r>
            <a:endParaRPr lang="ko-KR" altLang="en-US" sz="1400"/>
          </a:p>
        </p:txBody>
      </p:sp>
      <p:sp>
        <p:nvSpPr>
          <p:cNvPr id="5040" name="Rounded Rectangle 5039"/>
          <p:cNvSpPr/>
          <p:nvPr/>
        </p:nvSpPr>
        <p:spPr>
          <a:xfrm>
            <a:off x="8375904" y="3493008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F-16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S2 우선지역</a:t>
            </a:r>
            <a:endParaRPr lang="ko-KR" altLang="en-US" sz="1400"/>
          </a:p>
        </p:txBody>
      </p:sp>
      <p:sp>
        <p:nvSpPr>
          <p:cNvPr id="5041" name="Rounded Rectangle 5040"/>
          <p:cNvSpPr/>
          <p:nvPr/>
        </p:nvSpPr>
        <p:spPr>
          <a:xfrm>
            <a:off x="822960" y="4151376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F-17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S3 자원 배분</a:t>
            </a:r>
            <a:endParaRPr lang="ko-KR" altLang="en-US" sz="1400"/>
          </a:p>
        </p:txBody>
      </p:sp>
      <p:sp>
        <p:nvSpPr>
          <p:cNvPr id="5042" name="Rounded Rectangle 5041"/>
          <p:cNvSpPr/>
          <p:nvPr/>
        </p:nvSpPr>
        <p:spPr>
          <a:xfrm>
            <a:off x="1901952" y="4151376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F-18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S4 시간대 전략</a:t>
            </a:r>
            <a:endParaRPr lang="ko-KR" altLang="en-US" sz="1400"/>
          </a:p>
        </p:txBody>
      </p:sp>
      <p:sp>
        <p:nvSpPr>
          <p:cNvPr id="5043" name="Rounded Rectangle 5042"/>
          <p:cNvSpPr/>
          <p:nvPr/>
        </p:nvSpPr>
        <p:spPr>
          <a:xfrm>
            <a:off x="2980944" y="4151376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F-19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S5 시설 보호</a:t>
            </a:r>
            <a:endParaRPr lang="ko-KR" altLang="en-US" sz="1400"/>
          </a:p>
        </p:txBody>
      </p:sp>
      <p:sp>
        <p:nvSpPr>
          <p:cNvPr id="5044" name="Rounded Rectangle 5043"/>
          <p:cNvSpPr/>
          <p:nvPr/>
        </p:nvSpPr>
        <p:spPr>
          <a:xfrm>
            <a:off x="4059936" y="4151376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F-20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S6 유관기관</a:t>
            </a:r>
            <a:endParaRPr lang="ko-KR" altLang="en-US" sz="1400"/>
          </a:p>
        </p:txBody>
      </p:sp>
      <p:sp>
        <p:nvSpPr>
          <p:cNvPr id="5045" name="Rounded Rectangle 5044"/>
          <p:cNvSpPr/>
          <p:nvPr/>
        </p:nvSpPr>
        <p:spPr>
          <a:xfrm>
            <a:off x="5138928" y="4151376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F-21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S7 인력 안전</a:t>
            </a:r>
            <a:endParaRPr lang="ko-KR" altLang="en-US" sz="1400"/>
          </a:p>
        </p:txBody>
      </p:sp>
      <p:sp>
        <p:nvSpPr>
          <p:cNvPr id="5046" name="Rounded Rectangle 5045"/>
          <p:cNvSpPr/>
          <p:nvPr/>
        </p:nvSpPr>
        <p:spPr>
          <a:xfrm>
            <a:off x="6217920" y="4151376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F-22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E1 위험구역</a:t>
            </a:r>
            <a:endParaRPr lang="ko-KR" altLang="en-US" sz="1400"/>
          </a:p>
        </p:txBody>
      </p:sp>
      <p:sp>
        <p:nvSpPr>
          <p:cNvPr id="5047" name="Rounded Rectangle 5046"/>
          <p:cNvSpPr/>
          <p:nvPr/>
        </p:nvSpPr>
        <p:spPr>
          <a:xfrm>
            <a:off x="7296912" y="4151376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F-23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E2 대피 순서</a:t>
            </a:r>
            <a:endParaRPr lang="ko-KR" altLang="en-US" sz="1400"/>
          </a:p>
        </p:txBody>
      </p:sp>
      <p:sp>
        <p:nvSpPr>
          <p:cNvPr id="5048" name="Rounded Rectangle 5047"/>
          <p:cNvSpPr/>
          <p:nvPr/>
        </p:nvSpPr>
        <p:spPr>
          <a:xfrm>
            <a:off x="8375904" y="4151376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F-24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E3 취약시설</a:t>
            </a:r>
            <a:endParaRPr lang="ko-KR" altLang="en-US" sz="1400"/>
          </a:p>
        </p:txBody>
      </p:sp>
      <p:sp>
        <p:nvSpPr>
          <p:cNvPr id="5049" name="Rounded Rectangle 5048"/>
          <p:cNvSpPr/>
          <p:nvPr/>
        </p:nvSpPr>
        <p:spPr>
          <a:xfrm>
            <a:off x="822960" y="4809744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F-25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E4 대피소</a:t>
            </a:r>
            <a:endParaRPr lang="ko-KR" altLang="en-US" sz="1400"/>
          </a:p>
        </p:txBody>
      </p:sp>
      <p:sp>
        <p:nvSpPr>
          <p:cNvPr id="5050" name="Rounded Rectangle 5049"/>
          <p:cNvSpPr/>
          <p:nvPr/>
        </p:nvSpPr>
        <p:spPr>
          <a:xfrm>
            <a:off x="1901952" y="4809744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F-26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E5 교통통제</a:t>
            </a:r>
            <a:endParaRPr lang="ko-KR" altLang="en-US" sz="1400"/>
          </a:p>
        </p:txBody>
      </p:sp>
      <p:sp>
        <p:nvSpPr>
          <p:cNvPr id="5051" name="Rounded Rectangle 5050"/>
          <p:cNvSpPr/>
          <p:nvPr/>
        </p:nvSpPr>
        <p:spPr>
          <a:xfrm>
            <a:off x="2980944" y="4809744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F-27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E6 재난문자</a:t>
            </a:r>
            <a:endParaRPr lang="ko-KR" altLang="en-US" sz="1400"/>
          </a:p>
        </p:txBody>
      </p:sp>
      <p:sp>
        <p:nvSpPr>
          <p:cNvPr id="5052" name="Rounded Rectangle 5051"/>
          <p:cNvSpPr/>
          <p:nvPr/>
        </p:nvSpPr>
        <p:spPr>
          <a:xfrm>
            <a:off x="4059936" y="4809744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F-28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E7 긴급구조</a:t>
            </a:r>
            <a:endParaRPr lang="ko-KR" altLang="en-US" sz="1400"/>
          </a:p>
        </p:txBody>
      </p:sp>
      <p:sp>
        <p:nvSpPr>
          <p:cNvPr id="5053" name="Rounded Rectangle 5052"/>
          <p:cNvSpPr/>
          <p:nvPr/>
        </p:nvSpPr>
        <p:spPr>
          <a:xfrm>
            <a:off x="5138928" y="4809744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F-29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AI 질의응답</a:t>
            </a:r>
            <a:endParaRPr lang="ko-KR" altLang="en-US" sz="1400"/>
          </a:p>
        </p:txBody>
      </p:sp>
      <p:sp>
        <p:nvSpPr>
          <p:cNvPr id="5054" name="Rounded Rectangle 5053"/>
          <p:cNvSpPr/>
          <p:nvPr/>
        </p:nvSpPr>
        <p:spPr>
          <a:xfrm>
            <a:off x="6217920" y="4809744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F-30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상황 정정</a:t>
            </a:r>
            <a:endParaRPr lang="ko-KR" altLang="en-US" sz="1400"/>
          </a:p>
        </p:txBody>
      </p:sp>
      <p:sp>
        <p:nvSpPr>
          <p:cNvPr id="5055" name="Rounded Rectangle 5054"/>
          <p:cNvSpPr/>
          <p:nvPr/>
        </p:nvSpPr>
        <p:spPr>
          <a:xfrm>
            <a:off x="7296912" y="4809744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F-31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자원 관리</a:t>
            </a:r>
            <a:endParaRPr lang="ko-KR" altLang="en-US" sz="1400"/>
          </a:p>
        </p:txBody>
      </p:sp>
      <p:sp>
        <p:nvSpPr>
          <p:cNvPr id="5056" name="Rounded Rectangle 5055"/>
          <p:cNvSpPr/>
          <p:nvPr/>
        </p:nvSpPr>
        <p:spPr>
          <a:xfrm>
            <a:off x="8375904" y="4809744"/>
            <a:ext cx="1024128" cy="603504"/>
          </a:xfrm>
          <a:prstGeom prst="roundRect">
            <a:avLst>
              <a:gd name="adj" fmla="val 909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F-32</a:t>
            </a:r>
            <a:endParaRPr lang="ko-KR" altLang="en-US" sz="1400"/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이벤트 로그</a:t>
            </a:r>
            <a:endParaRPr lang="ko-KR" altLang="en-US" sz="1400"/>
          </a:p>
        </p:txBody>
      </p:sp>
      <p:sp>
        <p:nvSpPr>
          <p:cNvPr id="5057" name="Rounded Rectangle 5056"/>
          <p:cNvSpPr/>
          <p:nvPr/>
        </p:nvSpPr>
        <p:spPr>
          <a:xfrm>
            <a:off x="822960" y="551383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363A5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동작 13</a:t>
            </a:r>
            <a:endParaRPr lang="ko-KR" altLang="en-US" sz="1100"/>
          </a:p>
        </p:txBody>
      </p:sp>
      <p:sp>
        <p:nvSpPr>
          <p:cNvPr id="5058" name="TextBox 5057"/>
          <p:cNvSpPr txBox="1"/>
          <p:nvPr/>
        </p:nvSpPr>
        <p:spPr>
          <a:xfrm>
            <a:off x="2057400" y="5504688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실제로 계산·저장·동작</a:t>
            </a:r>
            <a:endParaRPr lang="ko-KR" altLang="en-US" sz="1200"/>
          </a:p>
        </p:txBody>
      </p:sp>
      <p:sp>
        <p:nvSpPr>
          <p:cNvPr id="5059" name="Rounded Rectangle 5058"/>
          <p:cNvSpPr/>
          <p:nvPr/>
        </p:nvSpPr>
        <p:spPr>
          <a:xfrm>
            <a:off x="822960" y="589788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8A7FB0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혼합 1</a:t>
            </a:r>
            <a:endParaRPr lang="ko-KR" altLang="en-US" sz="1100"/>
          </a:p>
        </p:txBody>
      </p:sp>
      <p:sp>
        <p:nvSpPr>
          <p:cNvPr id="5060" name="TextBox 5059"/>
          <p:cNvSpPr txBox="1"/>
          <p:nvPr/>
        </p:nvSpPr>
        <p:spPr>
          <a:xfrm>
            <a:off x="2057400" y="5888736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규칙 엔진은 동작, 제안 문장은 템플릿</a:t>
            </a:r>
            <a:endParaRPr lang="ko-KR" altLang="en-US" sz="1200"/>
          </a:p>
        </p:txBody>
      </p:sp>
      <p:sp>
        <p:nvSpPr>
          <p:cNvPr id="5061" name="Rounded Rectangle 5060"/>
          <p:cNvSpPr/>
          <p:nvPr/>
        </p:nvSpPr>
        <p:spPr>
          <a:xfrm>
            <a:off x="822960" y="628192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AA95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연출 18</a:t>
            </a:r>
            <a:endParaRPr lang="ko-KR" altLang="en-US" sz="1100"/>
          </a:p>
        </p:txBody>
      </p:sp>
      <p:sp>
        <p:nvSpPr>
          <p:cNvPr id="5062" name="TextBox 5061"/>
          <p:cNvSpPr txBox="1"/>
          <p:nvPr/>
        </p:nvSpPr>
        <p:spPr>
          <a:xfrm>
            <a:off x="2057400" y="627278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정해 둔 값·대본(예측 모델·위험도 변수 값·자원 수·AI 답변)</a:t>
            </a:r>
            <a:endParaRPr lang="ko-KR" altLang="en-US" sz="1200"/>
          </a:p>
        </p:txBody>
      </p:sp>
      <p:sp>
        <p:nvSpPr>
          <p:cNvPr id="5063" name="TextBox 5062"/>
          <p:cNvSpPr txBox="1"/>
          <p:nvPr/>
        </p:nvSpPr>
        <p:spPr>
          <a:xfrm>
            <a:off x="9646920" y="239572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② 권한별 화면 분리</a:t>
            </a:r>
            <a:endParaRPr lang="ko-KR" altLang="en-US" sz="1500"/>
          </a:p>
        </p:txBody>
      </p:sp>
      <p:graphicFrame>
        <p:nvGraphicFramePr>
          <p:cNvPr id="5064" name="Table 5063"/>
          <p:cNvGraphicFramePr>
            <a:graphicFrameLocks noGrp="1"/>
          </p:cNvGraphicFramePr>
          <p:nvPr/>
        </p:nvGraphicFramePr>
        <p:xfrm>
          <a:off x="9646920" y="2834640"/>
          <a:ext cx="7818120" cy="38404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 요소</a:t>
                      </a:r>
                      <a:endParaRPr lang="ko-KR" altLang="en-US" sz="120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  <a:endParaRPr lang="ko-KR" altLang="en-US" sz="120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</a:t>
                      </a:r>
                      <a:endParaRPr lang="ko-KR" altLang="en-US" sz="120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열람자</a:t>
                      </a:r>
                      <a:endParaRPr lang="ko-KR" altLang="en-US" sz="120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  <a:endParaRPr lang="ko-KR" altLang="en-US" sz="120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산불 목록(날개)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발생·접수 정보 조회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상황 입력 판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통합 상황도·레이어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확산 예측 실행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시간별 재생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산불 위험도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대응제안 탭·버전 이력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AI 어시스턴트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이벤트 로그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진화자원 창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종료 처리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관리 화면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B8BCC8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●</a:t>
                      </a:r>
                      <a:endParaRPr lang="ko-KR" altLang="en-US" sz="1150"/>
                    </a:p>
                  </a:txBody>
                  <a:tcPr marL="64008" marR="64008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065" name="TextBox 5064"/>
          <p:cNvSpPr txBox="1"/>
          <p:nvPr/>
        </p:nvSpPr>
        <p:spPr>
          <a:xfrm>
            <a:off x="822960" y="6839712"/>
            <a:ext cx="16459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③ 화면 배치</a:t>
            </a:r>
            <a:endParaRPr lang="ko-KR" altLang="en-US" sz="1500"/>
          </a:p>
        </p:txBody>
      </p:sp>
      <p:sp>
        <p:nvSpPr>
          <p:cNvPr id="5066" name="Rounded Rectangle 5065"/>
          <p:cNvSpPr/>
          <p:nvPr/>
        </p:nvSpPr>
        <p:spPr>
          <a:xfrm>
            <a:off x="822960" y="7251192"/>
            <a:ext cx="1664208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67" name="TextBox 5066"/>
          <p:cNvSpPr txBox="1"/>
          <p:nvPr/>
        </p:nvSpPr>
        <p:spPr>
          <a:xfrm>
            <a:off x="1051560" y="734263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발견</a:t>
            </a:r>
            <a:endParaRPr lang="ko-KR" altLang="en-US" sz="1300"/>
          </a:p>
        </p:txBody>
      </p:sp>
      <p:sp>
        <p:nvSpPr>
          <p:cNvPr id="5068" name="TextBox 5067"/>
          <p:cNvSpPr txBox="1"/>
          <p:nvPr/>
        </p:nvSpPr>
        <p:spPr>
          <a:xfrm>
            <a:off x="9098280" y="734263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2E7D4F"/>
                </a:solidFill>
                <a:latin typeface="210 OmniGothic 040"/>
                <a:ea typeface="210 OmniGothic 040"/>
                <a:cs typeface="210 OmniGothic 040"/>
              </a:rPr>
              <a:t>검증 후 개선</a:t>
            </a:r>
            <a:endParaRPr lang="ko-KR" altLang="en-US" sz="1300"/>
          </a:p>
        </p:txBody>
      </p:sp>
      <p:sp>
        <p:nvSpPr>
          <p:cNvPr id="5069" name="TextBox 5068"/>
          <p:cNvSpPr txBox="1"/>
          <p:nvPr/>
        </p:nvSpPr>
        <p:spPr>
          <a:xfrm>
            <a:off x="1051560" y="7708392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범례가 없어 분홍·파랑 선, 점선의 </a:t>
            </a:r>
            <a:r>
              <a:rPr lang="ko-KR" altLang="en-US" sz="125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의미를</a:t>
            </a: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 알 수 없음</a:t>
            </a:r>
            <a:endParaRPr lang="ko-KR" altLang="en-US" sz="1250" dirty="0"/>
          </a:p>
        </p:txBody>
      </p:sp>
      <p:sp>
        <p:nvSpPr>
          <p:cNvPr id="5070" name="TextBox 5069"/>
          <p:cNvSpPr txBox="1"/>
          <p:nvPr/>
        </p:nvSpPr>
        <p:spPr>
          <a:xfrm>
            <a:off x="8641080" y="7708392"/>
            <a:ext cx="3657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→</a:t>
            </a:r>
            <a:endParaRPr lang="ko-KR" altLang="en-US" sz="1300"/>
          </a:p>
        </p:txBody>
      </p:sp>
      <p:sp>
        <p:nvSpPr>
          <p:cNvPr id="5071" name="TextBox 5070"/>
          <p:cNvSpPr txBox="1"/>
          <p:nvPr/>
        </p:nvSpPr>
        <p:spPr>
          <a:xfrm>
            <a:off x="9098280" y="7699248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2E7D4F"/>
                </a:solidFill>
                <a:latin typeface="210 OmniGothic 030"/>
                <a:ea typeface="210 OmniGothic 030"/>
                <a:cs typeface="210 OmniGothic 030"/>
              </a:rPr>
              <a:t>레이어 버튼에 지도 표시 색 견본, 마우스를 올리면 의미를 제시함</a:t>
            </a:r>
            <a:r>
              <a:rPr lang="en-US" altLang="ko-KR" sz="1250" b="0" dirty="0">
                <a:solidFill>
                  <a:srgbClr val="2E7D4F"/>
                </a:solidFill>
                <a:latin typeface="210 OmniGothic 030"/>
                <a:ea typeface="210 OmniGothic 030"/>
                <a:cs typeface="210 OmniGothic 030"/>
              </a:rPr>
              <a:t>.</a:t>
            </a:r>
            <a:endParaRPr lang="ko-KR" altLang="en-US" sz="1250" dirty="0"/>
          </a:p>
        </p:txBody>
      </p:sp>
      <p:sp>
        <p:nvSpPr>
          <p:cNvPr id="5072" name="TextBox 5071"/>
          <p:cNvSpPr txBox="1"/>
          <p:nvPr/>
        </p:nvSpPr>
        <p:spPr>
          <a:xfrm>
            <a:off x="1051560" y="8147304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의성읍·안평면 주변 라벨 겹침, 영문·한글 지명 병기로 복잡</a:t>
            </a:r>
            <a:endParaRPr lang="ko-KR" altLang="en-US" sz="1250"/>
          </a:p>
        </p:txBody>
      </p:sp>
      <p:sp>
        <p:nvSpPr>
          <p:cNvPr id="5073" name="TextBox 5072"/>
          <p:cNvSpPr txBox="1"/>
          <p:nvPr/>
        </p:nvSpPr>
        <p:spPr>
          <a:xfrm>
            <a:off x="8641080" y="8147304"/>
            <a:ext cx="3657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→</a:t>
            </a:r>
            <a:endParaRPr lang="ko-KR" altLang="en-US" sz="1300"/>
          </a:p>
        </p:txBody>
      </p:sp>
      <p:sp>
        <p:nvSpPr>
          <p:cNvPr id="5074" name="TextBox 5073"/>
          <p:cNvSpPr txBox="1"/>
          <p:nvPr/>
        </p:nvSpPr>
        <p:spPr>
          <a:xfrm>
            <a:off x="9098280" y="8147304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2E7D4F"/>
                </a:solidFill>
                <a:latin typeface="210 OmniGothic 030"/>
                <a:ea typeface="210 OmniGothic 030"/>
                <a:cs typeface="210 OmniGothic 030"/>
              </a:rPr>
              <a:t>바탕지도 이름은 한글만 표기</a:t>
            </a:r>
            <a:endParaRPr lang="ko-KR" altLang="en-US" sz="1250" dirty="0"/>
          </a:p>
        </p:txBody>
      </p:sp>
      <p:sp>
        <p:nvSpPr>
          <p:cNvPr id="5075" name="TextBox 5074"/>
          <p:cNvSpPr txBox="1"/>
          <p:nvPr/>
        </p:nvSpPr>
        <p:spPr>
          <a:xfrm>
            <a:off x="1051560" y="8586216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1366×768: 상단이 두 줄로 줄바꿈, 진화자원·위험도·AI 창이 서로 가림</a:t>
            </a:r>
            <a:endParaRPr lang="ko-KR" altLang="en-US" sz="1250"/>
          </a:p>
        </p:txBody>
      </p:sp>
      <p:sp>
        <p:nvSpPr>
          <p:cNvPr id="5076" name="TextBox 5075"/>
          <p:cNvSpPr txBox="1"/>
          <p:nvPr/>
        </p:nvSpPr>
        <p:spPr>
          <a:xfrm>
            <a:off x="8641080" y="8586216"/>
            <a:ext cx="3657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→</a:t>
            </a:r>
            <a:endParaRPr lang="ko-KR" altLang="en-US" sz="1300"/>
          </a:p>
        </p:txBody>
      </p:sp>
      <p:sp>
        <p:nvSpPr>
          <p:cNvPr id="5077" name="TextBox 5076"/>
          <p:cNvSpPr txBox="1"/>
          <p:nvPr/>
        </p:nvSpPr>
        <p:spPr>
          <a:xfrm>
            <a:off x="9098280" y="8586216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dirty="0">
                <a:solidFill>
                  <a:srgbClr val="2E7D4F"/>
                </a:solidFill>
                <a:latin typeface="210 OmniGothic 030"/>
                <a:ea typeface="210 OmniGothic 030"/>
                <a:cs typeface="210 OmniGothic 030"/>
              </a:rPr>
              <a:t>떠 있는 창을 빈자리에 자동 배치(필요하면 높이 축소), 상단 한 줄 유지</a:t>
            </a:r>
            <a:endParaRPr lang="ko-KR" altLang="en-US" sz="1250"/>
          </a:p>
        </p:txBody>
      </p:sp>
      <p:sp>
        <p:nvSpPr>
          <p:cNvPr id="5078" name="참고 혼합·연출"/>
          <p:cNvSpPr txBox="1"/>
          <p:nvPr/>
        </p:nvSpPr>
        <p:spPr>
          <a:xfrm>
            <a:off x="6309360" y="6272784"/>
            <a:ext cx="3090671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※ 혼합 = 부분 구현, 연출 = 미구현</a:t>
            </a:r>
            <a:endParaRPr lang="ko-KR" alt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22783083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프로토타입 검증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816197"/>
            <a:ext cx="1664208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UX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검증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①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유스케이스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시나리오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수행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결과</a:t>
            </a:r>
            <a:endParaRPr sz="2600" b="1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graphicFrame>
        <p:nvGraphicFramePr>
          <p:cNvPr id="5024" name="Table 50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971475"/>
              </p:ext>
            </p:extLst>
          </p:nvPr>
        </p:nvGraphicFramePr>
        <p:xfrm>
          <a:off x="822959" y="2395728"/>
          <a:ext cx="16642078" cy="6144768"/>
        </p:xfrm>
        <a:graphic>
          <a:graphicData uri="http://schemas.openxmlformats.org/drawingml/2006/table">
            <a:tbl>
              <a:tblPr/>
              <a:tblGrid>
                <a:gridCol w="3087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3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6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178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</a:t>
                      </a:r>
                      <a:endParaRPr lang="ko-KR" altLang="en-US" sz="120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수행한 흐름 (기본 · 대안 · 예외)</a:t>
                      </a:r>
                      <a:endParaRPr lang="ko-KR" altLang="en-US" sz="120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결과</a:t>
                      </a:r>
                      <a:endParaRPr lang="ko-KR" altLang="en-US" sz="120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개선 전 발견 사항</a:t>
                      </a:r>
                      <a:endParaRPr lang="ko-KR" altLang="en-US" sz="120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 후 개선</a:t>
                      </a:r>
                      <a:endParaRPr lang="ko-KR" altLang="en-US" sz="120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UC-AUTH-01 로그인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성공 · 오류 문구 · 5회 잠금 · 회수 계정 · 새로고침 재진입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UC-REPORT-01 산불 상황 보고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새 산불(필수 값·지도 지정·접수 기록) · 화선 그리기 · 새 버전 · 정정 · GeoJSON 오류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신고자 정보 칸 추가(규정 제6조①)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UC-SIT-01 발화 종료 처리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확인 창 · 종료 후 예측 버튼 비활성 · 정정 거부 · 조회 전용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비활성 예측 버튼 옆에 이유 표시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UC-SIT-02 발생·접수 정보 조회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목록 접수·진행 중 / 종료 전환 · 선택 시 지도 이동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산불현황에 신고자 행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UC-SIT-03 통합 상황도 조회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레이어 켜기·끄기 · 시간별 재생 · 진화자원 필터 · 기상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[개선 필요] 범례 없음, 라벨 겹침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색 견본(범례), 한글 이름만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UC-PRED-01 확산 예측 → 제안 생성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예측 중 % · 다시 예측(새 화선) · 실패 시 이전 결과 유지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[개선 필요] 「재예측 필요」가 표 맨 아래에만 표시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버튼 옆에 표시·깜박임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UC-PRED-02 산불 위험도 확인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네모 · 팝업 · 23개 변수 · 변수 결측 · 실패 · 예측 전/종료 숨김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열람자도 열람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UC-PROP-01 진화 제안 열람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S1~S7 발동 7 · 펼침 · 격상 배너 · 근거 부족 비표시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[개선 필요] 카드와 지도 대상이 연동되지 않음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펼치면 지도에 대상 강조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UC-PROP-02 대피 제안 열람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E1~E7 발동 5 · 구분 필터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UC-PROP-03 근거 조회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번호 → 근거 창(문장·쪽·요약) · 닫기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[개선 필요] 근거 창이 제안 목록을 덮어 나란히 볼 수 없음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고정 창 옆에 열림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UC-PROP-04 이력·변경사항 조회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버전 3개 · 보기 · 비교 · 변경 태그 · 이벤트 로그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[개선 필요] 바뀐 구절 강조 없음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빠진 말·새로 생긴 말 강조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UC-QA-01 AI 질의응답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빠른 질문 · 자유 질문 · 무관한 질문 거절 · 답변 실패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[결함] 「이 항목 질문」(S4 야간 진화)에 대피 순서 답변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지정 항목 기준으로 답변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UC-QA-02 AI 상황 정정 요청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정정 확인 → v1.2 · 종료 산불 거부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[결함] 「대피 완료 + 헬기 2대 투입」 중 헬기 누락, 안내 없음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변화를 모두 해석·확인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UC-ADMIN-01 계정·권한 관리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발급 · 필수 값 · 권한 변경 · 잠금 해제 · 회수 · 재발급 · 삭제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[개선 필요] 회수·삭제·권한 변경이 확인 없이 즉시, 유일한 조작 계정도 삭제됨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확인 창, 마지막 통합지휘권자 보호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UC-ADMIN-02 진화자원 데이터 관리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등록 필수 값 · 투입 중 삭제 차단 · 상태 변경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05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050" dirty="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050" dirty="0"/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025" name="TextBox 5024"/>
          <p:cNvSpPr txBox="1"/>
          <p:nvPr/>
        </p:nvSpPr>
        <p:spPr>
          <a:xfrm>
            <a:off x="822960" y="8887968"/>
            <a:ext cx="166420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검증 후 15개 모두 통과</a:t>
            </a:r>
            <a:r>
              <a:rPr lang="ko-KR" altLang="en-US" sz="11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  (개선 전 10/11: 통과 7 · 개선 필요 6 · 결함 2 → 검증 후 8건 반영)</a:t>
            </a:r>
            <a:endParaRPr lang="ko-KR" altLang="en-US" sz="1150"/>
          </a:p>
        </p:txBody>
      </p:sp>
    </p:spTree>
    <p:extLst>
      <p:ext uri="{BB962C8B-B14F-4D97-AF65-F5344CB8AC3E}">
        <p14:creationId xmlns:p14="http://schemas.microsoft.com/office/powerpoint/2010/main" val="3301022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프로토타입 검증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816197"/>
            <a:ext cx="1664208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UX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검증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②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유스케이스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밖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추가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시나리오</a:t>
            </a:r>
            <a:endParaRPr sz="2600" b="1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graphicFrame>
        <p:nvGraphicFramePr>
          <p:cNvPr id="5024" name="Table 50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153789"/>
              </p:ext>
            </p:extLst>
          </p:nvPr>
        </p:nvGraphicFramePr>
        <p:xfrm>
          <a:off x="822960" y="2432304"/>
          <a:ext cx="10789920" cy="6336792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시나리오</a:t>
                      </a:r>
                      <a:endParaRPr lang="ko-KR" altLang="en-US" sz="12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확인 내용</a:t>
                      </a:r>
                      <a:endParaRPr lang="ko-KR" altLang="en-US" sz="12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결과</a:t>
                      </a:r>
                      <a:endParaRPr lang="ko-KR" altLang="en-US" sz="12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개선 전 발견 사항</a:t>
                      </a:r>
                      <a:endParaRPr lang="ko-KR" altLang="en-US" sz="125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 후 개선</a:t>
                      </a:r>
                      <a:endParaRPr lang="ko-KR" altLang="en-US" sz="12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1시간 갱신 루프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보고자 실측 화선 v2 → 지휘권자 「재예측 필요」 → 다시 예측 → 제안 v2.1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열람자 권한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제안·AI·이벤트 로그·종료 버튼이 보이지 않음, 재생만 가능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위험도는 보이게 바꿈(요구 변경)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종료 산불 차단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종료 후 예측 버튼 비활성, 상황 정정 거부 문구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비활성 이유 표시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없는 질문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추측 없이 「근거 부족」 답변 + 이벤트 로그 기록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외부 연동 실패 7종</a:t>
                      </a:r>
                      <a:endParaRPr lang="ko-KR" altLang="en-US" sz="115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칸별 경고·시스템 알림·이전 결과 유지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—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같은 브라우저에서 역할 전환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보고자 → 지휘권자로 바꿔도 이전 사용자의 입력 표식이 남지 않음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[문제] 「발화 위치(입력 중)」 표식이 지도에 남음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로그아웃 때 입력 상태 초기화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병합 산불</a:t>
                      </a:r>
                      <a:endParaRPr lang="ko-KR" altLang="en-US" sz="115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목록 1건 · 위험도 1개 · 화선 함께 표시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[개선 필요] 두 P5의 겹침이 보이지 않고, 두 번째 산불 정보를 볼 곳이 없음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겹침 구역 표시, 병합된 산불 행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작은 화면 1366×768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떠 있는 창을 함께 열어도 서로 가리지 않음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통과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[개선 필요] 상단 줄바꿈, 진화자원·위험도·AI 창 겹침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빈자리 자동 배치, 상단 한 줄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새로고침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로그인은 유지, 예측·제안은 초기화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B5601C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본 개발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서버가 없는 프로토타입 한계 — 본 개발에서 DB 저장</a:t>
                      </a:r>
                      <a:endParaRPr lang="ko-KR" altLang="en-US" sz="115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025" name="Rectangle 5024"/>
          <p:cNvSpPr/>
          <p:nvPr/>
        </p:nvSpPr>
        <p:spPr>
          <a:xfrm>
            <a:off x="11841480" y="2432304"/>
            <a:ext cx="5623560" cy="310896"/>
          </a:xfrm>
          <a:prstGeom prst="rect">
            <a:avLst/>
          </a:prstGeom>
          <a:solidFill>
            <a:srgbClr val="D0342C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발견 당시 — 역할 전환 후 남은 「발화 위치(입력 중)」 표식</a:t>
            </a:r>
            <a:endParaRPr lang="ko-KR" altLang="en-US" sz="1250"/>
          </a:p>
        </p:txBody>
      </p:sp>
      <p:pic>
        <p:nvPicPr>
          <p:cNvPr id="5026" name="Picture 502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1480" y="2743200"/>
            <a:ext cx="5623560" cy="2939588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  <p:sp>
        <p:nvSpPr>
          <p:cNvPr id="5027" name="Rectangle 5026"/>
          <p:cNvSpPr/>
          <p:nvPr/>
        </p:nvSpPr>
        <p:spPr>
          <a:xfrm>
            <a:off x="11841480" y="4983480"/>
            <a:ext cx="5623560" cy="310896"/>
          </a:xfrm>
          <a:prstGeom prst="rect">
            <a:avLst/>
          </a:prstGeom>
          <a:solidFill>
            <a:srgbClr val="C0602A"/>
          </a:solidFill>
          <a:ln>
            <a:noFill/>
          </a:ln>
        </p:spPr>
        <p:txBody>
          <a:bodyPr wrap="square" lIns="109728" tIns="0" rIns="9144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발견 당시 — 1366×768에서 떠 있는 창 3개가 겹침</a:t>
            </a:r>
            <a:endParaRPr lang="ko-KR" altLang="en-US" sz="1250"/>
          </a:p>
        </p:txBody>
      </p:sp>
      <p:pic>
        <p:nvPicPr>
          <p:cNvPr id="5028" name="Picture 5027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41480" y="5294376"/>
            <a:ext cx="5623560" cy="3161709"/>
          </a:xfrm>
          <a:prstGeom prst="rect">
            <a:avLst/>
          </a:prstGeom>
          <a:ln w="9525">
            <a:solidFill>
              <a:srgbClr val="D5D8E0"/>
            </a:solidFill>
          </a:ln>
        </p:spPr>
      </p:pic>
    </p:spTree>
    <p:extLst>
      <p:ext uri="{BB962C8B-B14F-4D97-AF65-F5344CB8AC3E}">
        <p14:creationId xmlns:p14="http://schemas.microsoft.com/office/powerpoint/2010/main" val="7875961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프로토타입 검증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816197"/>
            <a:ext cx="1664208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발견된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문제와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검증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후 </a:t>
            </a:r>
            <a:r>
              <a:rPr sz="26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개선</a:t>
            </a:r>
            <a:r>
              <a:rPr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결</a:t>
            </a:r>
            <a:r>
              <a:rPr lang="ko-KR" altLang="en-US" sz="26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과</a:t>
            </a:r>
            <a:endParaRPr sz="2600" b="1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graphicFrame>
        <p:nvGraphicFramePr>
          <p:cNvPr id="5024" name="Table 50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708925"/>
              </p:ext>
            </p:extLst>
          </p:nvPr>
        </p:nvGraphicFramePr>
        <p:xfrm>
          <a:off x="822960" y="2432304"/>
          <a:ext cx="16642080" cy="614476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번호</a:t>
                      </a:r>
                      <a:endParaRPr lang="ko-KR" altLang="en-US" sz="125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초기</a:t>
                      </a:r>
                      <a:endParaRPr lang="ko-KR" altLang="en-US" sz="125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  <a:endParaRPr lang="ko-KR" altLang="en-US" sz="12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개선 방향</a:t>
                      </a:r>
                      <a:endParaRPr lang="ko-KR" altLang="en-US" sz="12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 후 개선 결과</a:t>
                      </a:r>
                      <a:endParaRPr lang="ko-KR" altLang="en-US" sz="12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  <a:endParaRPr lang="ko-KR" altLang="en-US" sz="12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D0342C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결함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BE1D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AI 정정에 변화를 두 개 이상 넣으면 첫 번째만 반영, 누락 안내 없음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확인 창에 모든 변화를 표시하고 못 읽은 부분 안내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절 단위로 모두 해석·확인 카드에 전부 표시, 「추가」는 현재 값에 더함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해결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D0342C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결함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BE1D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「이 항목 질문」이 항목과 무관한 답(대피 순서) 반환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항목 맥락을 우선 매칭, 본 개발은 항목 제안·근거를 프롬프트에 포함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지정한 항목의 답을 먼저 고르고 S4 시간대 전략 답 추가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해결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3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D0342C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결함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BE1D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계정 회수·삭제·권한 변경이 확인 없이 즉시, 마지막 조작 계정도 삭제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확인 창 추가, 마지막 조작 권한 계정 삭제 차단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확인 창, 마지막 통합지휘권자 계정은 회수·삭제·권한 변경 차단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해결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4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D0342C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결함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BE1D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역할 전환 시 보고자 입력 표식이 다른 계정 지도에 남음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로그아웃 때 입력 상태 초기화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로그아웃하면 표식·그리던 화선·양식 상태 초기화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해결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5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B5601C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개선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범례 없음 · 지도 라벨 겹침 · 영문 병기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레이어 버튼에 색 견본, 한글 라벨만·겹침 우선순위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색 견본(마우스를 올리면 의미 제시), 바탕지도 한글 이름만</a:t>
                      </a:r>
                      <a:endParaRPr lang="ko-KR" altLang="en-US" sz="115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해결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6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B5601C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개선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「재예측 필요」가 표 맨 아래에만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「다시 예측」 버튼 옆에 강조 표시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버튼 옆에 「재예측 필요」와 화선 버전, 버튼 깜박임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해결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7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B5601C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개선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변경 비교에서 바뀐 구절이 강조되지 않음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추가·삭제 구절 색 표시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빠진 말 빨간 취소선, 새로 생긴 말 초록 형광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해결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8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B5601C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개선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창이 제안 목록을 덮음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창을 지도 쪽에 나란히 열기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고정 창 옆(지도 위)에 열림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해결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9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B5601C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개선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1366×768에서 상단 줄바꿈·떠 있는 창 겹침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창 자동 배치·도킹, 상단 압축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빈자리 자동 배치(필요하면 높이 축소), 상단 한 줄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해결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10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B5601C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개선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병합 산불의 겹침 근거·두 번째 산불 정보가 안 보임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겹친 P5 구역 표시, 병합된 산불 정보 펼침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P5 겹침 구역 보라색 표시, 산불현황에 병합된 산불 행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해결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11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B5601C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개선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제안 카드와 지도 대상이 연동되지 않음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카드를 펼치면 지도에 대상 강조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대상 마을·시설을 하늘색 고리로 표시하고 그 범위로 이동</a:t>
                      </a:r>
                      <a:endParaRPr lang="ko-KR" altLang="en-US" sz="115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dirty="0">
                          <a:solidFill>
                            <a:srgbClr val="2E7D4F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해결</a:t>
                      </a:r>
                      <a:endParaRPr lang="ko-KR" altLang="en-US" sz="115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025" name="TextBox 5024"/>
          <p:cNvSpPr txBox="1"/>
          <p:nvPr/>
        </p:nvSpPr>
        <p:spPr>
          <a:xfrm>
            <a:off x="822960" y="868680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검증 후  </a:t>
            </a:r>
            <a:r>
              <a:rPr lang="ko-KR" altLang="en-US" sz="1200" b="0" dirty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2026-10-13에 결함 4건·개선 7건을 모두 반영하고 같은 시나리오로 다시 확인했다. 새로고침 시 초기화는 서버가 없는 프로토타입의 한계로 본 개발(DB 저장)에서 해결한다.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4603987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프로토타입 검증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프로토타입으로 구체화된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graphicFrame>
        <p:nvGraphicFramePr>
          <p:cNvPr id="5024" name="Table 50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755834"/>
              </p:ext>
            </p:extLst>
          </p:nvPr>
        </p:nvGraphicFramePr>
        <p:xfrm>
          <a:off x="822960" y="2432304"/>
          <a:ext cx="16642080" cy="588873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2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endParaRPr lang="ko-KR" altLang="en-US" sz="14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요구사항분석서</a:t>
                      </a:r>
                      <a:endParaRPr lang="ko-KR" altLang="en-US" sz="14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프로토타입 검토 후</a:t>
                      </a:r>
                      <a:endParaRPr lang="ko-KR" altLang="en-US" sz="14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F-02 화선 버전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실측 화선 v1, v2 …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처음 받은 보고가 v1(보고에 화선이 없으면 발화점 자체), 이후 v2, v3 …, 정정 시 이전 버전 「정정됨」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F-11 제안서 버전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버전 n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v(화선 버전).(대응 생성 순번) — v1.1 → 정정 v1.2 → 새 화선 재예측 v2.1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F-10 위험도 표시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R(1.00~5.00)과 요인 점수, 위험도 탭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지도 오른쪽 위 숫자 네모(구간 색 4단계), 예측 전·종료 시 숨김, 요소별 지표 팝업, 「R」 표기 삭제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F-08 진화자원 필터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「가용만 보기」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대기·투입·정비 체크박스, 합계는 체크한 상태만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F-05·06 지도 레이어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인구·시설·도로·기관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읍면 경계·진화대 삭제, 유관기관은 시설 묶음, 의성군 테두리 상시 표시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병합 산불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「병합 계산」 표시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먼저 신고된 산불 하나로 목록 1건, 화선·예측 함께, 위험도 1개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화면 구조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탭·빨간 메뉴 여러 개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왼쪽 1/4 고정 창(산불현황·대응제안), 이벤트 로그는 상단 버튼, 산불 목록은 왼쪽 날개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실패 처리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명시 없음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시스템 알림 + 칸별 경고, 이전 결과 유지, 기상은 마지막 값 흐리게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신고자 정보(F-02·F-04)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신고 내용만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신고 기관명·신고자 성명·연락처 입력·표시 — 「산불진화기관의 임무와 역할에 관한 규정」 제6조제1항제1호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F-10 위험도 열람 권한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통합지휘권자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통합지휘권자·열람자(예측 실행·재예측은 통합지휘권자만)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비활성 기능 안내</a:t>
                      </a:r>
                      <a:endParaRPr lang="ko-KR" altLang="en-US" sz="12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명시 없음</a:t>
                      </a:r>
                      <a:endParaRPr lang="ko-KR" altLang="en-US" sz="125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비활성 버튼 옆에 이유를 작은 글씨로(예: 종료된 산불은 예측할 수 없습니다)</a:t>
                      </a:r>
                      <a:endParaRPr lang="ko-KR" altLang="en-US" sz="125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025" name="Rounded Rectangle 5024"/>
          <p:cNvSpPr/>
          <p:nvPr/>
        </p:nvSpPr>
        <p:spPr>
          <a:xfrm>
            <a:off x="822960" y="8503920"/>
            <a:ext cx="16642080" cy="548640"/>
          </a:xfrm>
          <a:prstGeom prst="roundRect">
            <a:avLst>
              <a:gd name="adj" fmla="val 20000"/>
            </a:avLst>
          </a:prstGeom>
          <a:solidFill>
            <a:srgbClr val="363A5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6" name="TextBox 5025"/>
          <p:cNvSpPr txBox="1"/>
          <p:nvPr/>
        </p:nvSpPr>
        <p:spPr>
          <a:xfrm>
            <a:off x="1143000" y="8503920"/>
            <a:ext cx="160934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프로토타입의 목적 — </a:t>
            </a:r>
            <a:r>
              <a:rPr lang="ko-KR" altLang="en-US" sz="1350" b="0" dirty="0">
                <a:solidFill>
                  <a:srgbClr val="FFFFFF"/>
                </a:solidFill>
                <a:latin typeface="210 OmniGothic 030"/>
                <a:ea typeface="210 OmniGothic 030"/>
                <a:cs typeface="210 OmniGothic 030"/>
              </a:rPr>
              <a:t>문서만으로는 정하지 못한 「언제·어디에·어떤 형식으로 보이는가」를 화면에서 합의했다.</a:t>
            </a:r>
            <a:endParaRPr lang="ko-KR" altLang="en-US" sz="1350" dirty="0"/>
          </a:p>
        </p:txBody>
      </p:sp>
    </p:spTree>
    <p:extLst>
      <p:ext uri="{BB962C8B-B14F-4D97-AF65-F5344CB8AC3E}">
        <p14:creationId xmlns:p14="http://schemas.microsoft.com/office/powerpoint/2010/main" val="6877321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프로토타입 검증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MVP 범위와 개발 전환 계획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024" name="Rounded Rectangle 5023"/>
          <p:cNvSpPr/>
          <p:nvPr/>
        </p:nvSpPr>
        <p:spPr>
          <a:xfrm>
            <a:off x="822960" y="2432304"/>
            <a:ext cx="6400800" cy="6629400"/>
          </a:xfrm>
          <a:prstGeom prst="roundRect">
            <a:avLst>
              <a:gd name="adj" fmla="val 1714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25" name="TextBox 5024"/>
          <p:cNvSpPr txBox="1"/>
          <p:nvPr/>
        </p:nvSpPr>
        <p:spPr>
          <a:xfrm>
            <a:off x="1097280" y="2578608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MVP — 12주차까지 개발 완료</a:t>
            </a:r>
            <a:endParaRPr lang="ko-KR" altLang="en-US" sz="1650" dirty="0"/>
          </a:p>
        </p:txBody>
      </p:sp>
      <p:sp>
        <p:nvSpPr>
          <p:cNvPr id="5026" name="Oval 5025"/>
          <p:cNvSpPr/>
          <p:nvPr/>
        </p:nvSpPr>
        <p:spPr>
          <a:xfrm>
            <a:off x="1097280" y="3063240"/>
            <a:ext cx="292608" cy="292608"/>
          </a:xfrm>
          <a:prstGeom prst="ellipse">
            <a:avLst/>
          </a:prstGeom>
          <a:solidFill>
            <a:srgbClr val="363A52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  <a:endParaRPr lang="ko-KR" altLang="en-US" sz="1216"/>
          </a:p>
        </p:txBody>
      </p:sp>
      <p:sp>
        <p:nvSpPr>
          <p:cNvPr id="5027" name="TextBox 5026"/>
          <p:cNvSpPr txBox="1"/>
          <p:nvPr/>
        </p:nvSpPr>
        <p:spPr>
          <a:xfrm>
            <a:off x="1508760" y="3054096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상황 보고(발화 정보·신고자·실측 화선)</a:t>
            </a:r>
            <a:endParaRPr lang="ko-KR" altLang="en-US" sz="1350"/>
          </a:p>
        </p:txBody>
      </p:sp>
      <p:sp>
        <p:nvSpPr>
          <p:cNvPr id="5028" name="Oval 5027"/>
          <p:cNvSpPr/>
          <p:nvPr/>
        </p:nvSpPr>
        <p:spPr>
          <a:xfrm>
            <a:off x="1097280" y="3520440"/>
            <a:ext cx="292608" cy="292608"/>
          </a:xfrm>
          <a:prstGeom prst="ellipse">
            <a:avLst/>
          </a:prstGeom>
          <a:solidFill>
            <a:srgbClr val="363A52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endParaRPr lang="ko-KR" altLang="en-US" sz="1216"/>
          </a:p>
        </p:txBody>
      </p:sp>
      <p:sp>
        <p:nvSpPr>
          <p:cNvPr id="5029" name="TextBox 5028"/>
          <p:cNvSpPr txBox="1"/>
          <p:nvPr/>
        </p:nvSpPr>
        <p:spPr>
          <a:xfrm>
            <a:off x="1508760" y="3511296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확산 예측(ELMFIRE) · P1~P8</a:t>
            </a:r>
            <a:endParaRPr lang="ko-KR" altLang="en-US" sz="1350"/>
          </a:p>
        </p:txBody>
      </p:sp>
      <p:sp>
        <p:nvSpPr>
          <p:cNvPr id="5030" name="Oval 5029"/>
          <p:cNvSpPr/>
          <p:nvPr/>
        </p:nvSpPr>
        <p:spPr>
          <a:xfrm>
            <a:off x="1097280" y="3977640"/>
            <a:ext cx="292608" cy="292608"/>
          </a:xfrm>
          <a:prstGeom prst="ellipse">
            <a:avLst/>
          </a:prstGeom>
          <a:solidFill>
            <a:srgbClr val="363A52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  <a:endParaRPr lang="ko-KR" altLang="en-US" sz="1216"/>
          </a:p>
        </p:txBody>
      </p:sp>
      <p:sp>
        <p:nvSpPr>
          <p:cNvPr id="5031" name="TextBox 5030"/>
          <p:cNvSpPr txBox="1"/>
          <p:nvPr/>
        </p:nvSpPr>
        <p:spPr>
          <a:xfrm>
            <a:off x="1508760" y="3968496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위험도(P5 · 23개 변수)</a:t>
            </a:r>
            <a:endParaRPr lang="ko-KR" altLang="en-US" sz="1350"/>
          </a:p>
        </p:txBody>
      </p:sp>
      <p:sp>
        <p:nvSpPr>
          <p:cNvPr id="5032" name="Oval 5031"/>
          <p:cNvSpPr/>
          <p:nvPr/>
        </p:nvSpPr>
        <p:spPr>
          <a:xfrm>
            <a:off x="1097280" y="4434840"/>
            <a:ext cx="292608" cy="292608"/>
          </a:xfrm>
          <a:prstGeom prst="ellipse">
            <a:avLst/>
          </a:prstGeom>
          <a:solidFill>
            <a:srgbClr val="363A52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  <a:endParaRPr lang="ko-KR" altLang="en-US" sz="1216"/>
          </a:p>
        </p:txBody>
      </p:sp>
      <p:sp>
        <p:nvSpPr>
          <p:cNvPr id="5033" name="TextBox 5032"/>
          <p:cNvSpPr txBox="1"/>
          <p:nvPr/>
        </p:nvSpPr>
        <p:spPr>
          <a:xfrm>
            <a:off x="1508760" y="4425696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규칙 판정 → 근거 검색 → 제안서</a:t>
            </a:r>
            <a:endParaRPr lang="ko-KR" altLang="en-US" sz="1350"/>
          </a:p>
        </p:txBody>
      </p:sp>
      <p:sp>
        <p:nvSpPr>
          <p:cNvPr id="5034" name="Oval 5033"/>
          <p:cNvSpPr/>
          <p:nvPr/>
        </p:nvSpPr>
        <p:spPr>
          <a:xfrm>
            <a:off x="1097280" y="4892040"/>
            <a:ext cx="292608" cy="292608"/>
          </a:xfrm>
          <a:prstGeom prst="ellipse">
            <a:avLst/>
          </a:prstGeom>
          <a:solidFill>
            <a:srgbClr val="363A52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  <a:endParaRPr lang="ko-KR" altLang="en-US" sz="1216"/>
          </a:p>
        </p:txBody>
      </p:sp>
      <p:sp>
        <p:nvSpPr>
          <p:cNvPr id="5035" name="TextBox 5034"/>
          <p:cNvSpPr txBox="1"/>
          <p:nvPr/>
        </p:nvSpPr>
        <p:spPr>
          <a:xfrm>
            <a:off x="1508760" y="4882896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근거 조회 · AI 질의응답 · 상황 정정</a:t>
            </a:r>
            <a:endParaRPr lang="ko-KR" altLang="en-US" sz="1350"/>
          </a:p>
        </p:txBody>
      </p:sp>
      <p:sp>
        <p:nvSpPr>
          <p:cNvPr id="5036" name="Oval 5035"/>
          <p:cNvSpPr/>
          <p:nvPr/>
        </p:nvSpPr>
        <p:spPr>
          <a:xfrm>
            <a:off x="1097280" y="5349240"/>
            <a:ext cx="292608" cy="292608"/>
          </a:xfrm>
          <a:prstGeom prst="ellipse">
            <a:avLst/>
          </a:prstGeom>
          <a:solidFill>
            <a:srgbClr val="363A52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  <a:endParaRPr lang="ko-KR" altLang="en-US" sz="1216"/>
          </a:p>
        </p:txBody>
      </p:sp>
      <p:sp>
        <p:nvSpPr>
          <p:cNvPr id="5037" name="TextBox 5036"/>
          <p:cNvSpPr txBox="1"/>
          <p:nvPr/>
        </p:nvSpPr>
        <p:spPr>
          <a:xfrm>
            <a:off x="1508760" y="5340096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제안서 버전 이력 · 이벤트 로그 · 종료</a:t>
            </a:r>
            <a:endParaRPr lang="ko-KR" altLang="en-US" sz="1350"/>
          </a:p>
        </p:txBody>
      </p:sp>
      <p:sp>
        <p:nvSpPr>
          <p:cNvPr id="5038" name="Oval 5037"/>
          <p:cNvSpPr/>
          <p:nvPr/>
        </p:nvSpPr>
        <p:spPr>
          <a:xfrm>
            <a:off x="1097280" y="5806440"/>
            <a:ext cx="292608" cy="292608"/>
          </a:xfrm>
          <a:prstGeom prst="ellipse">
            <a:avLst/>
          </a:prstGeom>
          <a:solidFill>
            <a:srgbClr val="363A52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16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  <a:endParaRPr lang="ko-KR" altLang="en-US" sz="1216"/>
          </a:p>
        </p:txBody>
      </p:sp>
      <p:sp>
        <p:nvSpPr>
          <p:cNvPr id="5039" name="TextBox 5038"/>
          <p:cNvSpPr txBox="1"/>
          <p:nvPr/>
        </p:nvSpPr>
        <p:spPr>
          <a:xfrm>
            <a:off x="1508760" y="5797296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계정·권한 · 진화자원 데이터 관리</a:t>
            </a:r>
            <a:endParaRPr lang="ko-KR" altLang="en-US" sz="1350"/>
          </a:p>
        </p:txBody>
      </p:sp>
      <p:cxnSp>
        <p:nvCxnSpPr>
          <p:cNvPr id="5040" name="Connector 5039"/>
          <p:cNvCxnSpPr/>
          <p:nvPr/>
        </p:nvCxnSpPr>
        <p:spPr>
          <a:xfrm>
            <a:off x="1097280" y="6309360"/>
            <a:ext cx="5852160" cy="0"/>
          </a:xfrm>
          <a:prstGeom prst="line">
            <a:avLst/>
          </a:prstGeom>
          <a:ln w="12700">
            <a:solidFill>
              <a:srgbClr val="D5D8E0"/>
            </a:solidFill>
          </a:ln>
        </p:spPr>
      </p:cxnSp>
      <p:sp>
        <p:nvSpPr>
          <p:cNvPr id="5041" name="TextBox 5040"/>
          <p:cNvSpPr txBox="1"/>
          <p:nvPr/>
        </p:nvSpPr>
        <p:spPr>
          <a:xfrm>
            <a:off x="1097280" y="640080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이후 확장</a:t>
            </a:r>
            <a:endParaRPr lang="ko-KR" altLang="en-US" sz="1400"/>
          </a:p>
        </p:txBody>
      </p:sp>
      <p:sp>
        <p:nvSpPr>
          <p:cNvPr id="5042" name="TextBox 5041"/>
          <p:cNvSpPr txBox="1"/>
          <p:nvPr/>
        </p:nvSpPr>
        <p:spPr>
          <a:xfrm>
            <a:off x="1097280" y="6766560"/>
            <a:ext cx="58521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경상북도 다른 시·군 데이터로 확장</a:t>
            </a:r>
            <a:endParaRPr lang="ko-KR" altLang="en-US" sz="1250"/>
          </a:p>
          <a:p>
            <a:pPr marL="201168" indent="-201168"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현업(산림청·지자체) 의견 반영 화면 개선</a:t>
            </a:r>
            <a:endParaRPr lang="ko-KR" altLang="en-US" sz="1250"/>
          </a:p>
          <a:p>
            <a:pPr marL="201168" indent="-201168"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250" b="0" dirty="0">
                <a:solidFill>
                  <a:srgbClr val="2E3142"/>
                </a:solidFill>
                <a:latin typeface="210 OmniGothic 030"/>
                <a:ea typeface="210 OmniGothic 030"/>
                <a:cs typeface="210 OmniGothic 030"/>
              </a:rPr>
              <a:t>평가 결과로 하한·프롬프트 재조정</a:t>
            </a:r>
            <a:endParaRPr lang="ko-KR" altLang="en-US" sz="1250"/>
          </a:p>
        </p:txBody>
      </p:sp>
      <p:graphicFrame>
        <p:nvGraphicFramePr>
          <p:cNvPr id="5043" name="Table 5042"/>
          <p:cNvGraphicFramePr>
            <a:graphicFrameLocks noGrp="1"/>
          </p:cNvGraphicFramePr>
          <p:nvPr/>
        </p:nvGraphicFramePr>
        <p:xfrm>
          <a:off x="7498080" y="2432304"/>
          <a:ext cx="9052560" cy="6629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프로토타입 구현</a:t>
                      </a:r>
                      <a:endParaRPr lang="ko-KR" altLang="en-US" sz="14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본 개발 구성요소</a:t>
                      </a:r>
                      <a:endParaRPr lang="ko-KR" altLang="en-US" sz="14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스프린트</a:t>
                      </a:r>
                      <a:endParaRPr lang="ko-KR" altLang="en-US" sz="140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합성 타원 확산 모델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ELMFIRE(Docker) · 30 m 격자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SP1~SP5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시나리오 고정 기상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기상청 단기예보 API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SP1~SP2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위험도 변수 시연값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P5 폴리곤 × 격자 자료 23개 변수 계산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SP3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규칙 판정(JavaScript)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규칙 엔진(Python) + FastAPI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SP2~SP4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문장 템플릿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EXAONE 4.0 32B(vLLM) 제안 생성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SP3~SP4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키워드 대본·정규식 정정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EXAONE + KURE-v1·FAISS RAG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SP2~SP4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쪽수별 요약 근거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조항 단위 청킹·근거 색인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SP1~SP2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세션 저장소 토큰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JWT · 서버 측 잠금·권한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dirty="0">
                          <a:solidFill>
                            <a:srgbClr val="2E314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SP3~SP4</a:t>
                      </a:r>
                      <a:endParaRPr lang="ko-KR" altLang="en-US" sz="135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5D8E0"/>
                      </a:solidFill>
                      <a:prstDash val="soli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</a:lnB>
                    <a:solidFill>
                      <a:srgbClr val="FD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2360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8100" y="-2260600"/>
            <a:ext cx="18326100" cy="11264900"/>
          </a:xfrm>
          <a:prstGeom prst="rect">
            <a:avLst/>
          </a:prstGeom>
        </p:spPr>
      </p:pic>
      <p:pic>
        <p:nvPicPr>
          <p:cNvPr id="5545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215900"/>
          </a:xfrm>
          <a:prstGeom prst="rect">
            <a:avLst/>
          </a:prstGeom>
        </p:spPr>
      </p:pic>
      <p:pic>
        <p:nvPicPr>
          <p:cNvPr id="5546" name="Picture 4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52600" y="7645400"/>
            <a:ext cx="8470900" cy="1358900"/>
          </a:xfrm>
          <a:prstGeom prst="rect">
            <a:avLst/>
          </a:prstGeom>
        </p:spPr>
      </p:pic>
      <p:pic>
        <p:nvPicPr>
          <p:cNvPr id="5547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3300" y="7645400"/>
            <a:ext cx="8470900" cy="1358900"/>
          </a:xfrm>
          <a:prstGeom prst="rect">
            <a:avLst/>
          </a:prstGeom>
        </p:spPr>
      </p:pic>
      <p:pic>
        <p:nvPicPr>
          <p:cNvPr id="5548" name="Picture 6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100" y="7645400"/>
            <a:ext cx="8470900" cy="1358900"/>
          </a:xfrm>
          <a:prstGeom prst="rect">
            <a:avLst/>
          </a:prstGeom>
        </p:spPr>
      </p:pic>
      <p:pic>
        <p:nvPicPr>
          <p:cNvPr id="5549" name="Picture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8940800"/>
            <a:ext cx="18313400" cy="1358900"/>
          </a:xfrm>
          <a:prstGeom prst="rect">
            <a:avLst/>
          </a:prstGeom>
        </p:spPr>
      </p:pic>
      <p:sp>
        <p:nvSpPr>
          <p:cNvPr id="5537" name="TextBox 5536">
            <a:extLst>
              <a:ext uri="{FF2B5EF4-FFF2-40B4-BE49-F238E27FC236}">
                <a16:creationId xmlns:a16="http://schemas.microsoft.com/office/drawing/2014/main" id="{A6CB4B50-BA46-4E69-9C88-7DD194A5EA85}"/>
              </a:ext>
            </a:extLst>
          </p:cNvPr>
          <p:cNvSpPr>
            <a:spLocks noGrp="1"/>
          </p:cNvSpPr>
          <p:nvPr/>
        </p:nvSpPr>
        <p:spPr>
          <a:xfrm>
            <a:off x="2167128" y="3621024"/>
            <a:ext cx="13917168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800" b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620103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10420</Words>
  <Application>Microsoft Office PowerPoint</Application>
  <DocSecurity>0</DocSecurity>
  <PresentationFormat>사용자 지정</PresentationFormat>
  <Paragraphs>1896</Paragraphs>
  <Slides>50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9" baseType="lpstr">
      <vt:lpstr>210 OmniGothic 040</vt:lpstr>
      <vt:lpstr>Calibri</vt:lpstr>
      <vt:lpstr>맑은 고딕</vt:lpstr>
      <vt:lpstr>210 OmniGothic 050</vt:lpstr>
      <vt:lpstr>210 OmniGothic 030</vt:lpstr>
      <vt:lpstr>Pretendard Bold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김지오</cp:lastModifiedBy>
  <cp:revision>25</cp:revision>
  <dcterms:created xsi:type="dcterms:W3CDTF">2026-09-30T00:25:55Z</dcterms:created>
  <dcterms:modified xsi:type="dcterms:W3CDTF">2026-10-14T01:34:22Z</dcterms:modified>
</cp:coreProperties>
</file>